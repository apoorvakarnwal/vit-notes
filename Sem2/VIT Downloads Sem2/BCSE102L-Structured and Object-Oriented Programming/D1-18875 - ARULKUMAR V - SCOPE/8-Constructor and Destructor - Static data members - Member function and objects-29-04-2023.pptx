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63" r:id="rId5"/>
    <p:sldId id="259" r:id="rId6"/>
    <p:sldId id="261" r:id="rId7"/>
    <p:sldId id="264" r:id="rId8"/>
    <p:sldId id="262" r:id="rId9"/>
    <p:sldId id="265" r:id="rId10"/>
    <p:sldId id="266" r:id="rId11"/>
    <p:sldId id="323" r:id="rId12"/>
    <p:sldId id="324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5" r:id="rId21"/>
    <p:sldId id="279" r:id="rId22"/>
    <p:sldId id="281" r:id="rId23"/>
    <p:sldId id="282" r:id="rId24"/>
    <p:sldId id="283" r:id="rId25"/>
    <p:sldId id="284" r:id="rId26"/>
    <p:sldId id="278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6" r:id="rId49"/>
    <p:sldId id="317" r:id="rId50"/>
    <p:sldId id="318" r:id="rId51"/>
    <p:sldId id="320" r:id="rId52"/>
    <p:sldId id="321" r:id="rId53"/>
    <p:sldId id="322" r:id="rId54"/>
  </p:sldIdLst>
  <p:sldSz cx="9144000" cy="6858000" type="screen4x3"/>
  <p:notesSz cx="6858000" cy="9144000"/>
  <p:defaultTextStyle>
    <a:defPPr>
      <a:defRPr lang="en-US"/>
    </a:defPPr>
    <a:lvl1pPr marL="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56" y="-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44F4D-C6E3-43B1-A79A-F94049E9D9A4}" type="datetimeFigureOut">
              <a:rPr lang="en-US" smtClean="0"/>
              <a:pPr/>
              <a:t>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A7DA-6EF9-4815-9994-9537720E18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9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961D-27FA-402F-9FFD-58C9C9B2C08E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67D7-52D1-4665-B458-0B3E0A3CAC41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CF74-896F-4EEA-A39D-68F7C227D696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6A8C-A386-4B15-8F9A-29533CAD1619}" type="datetime1">
              <a:rPr lang="en-US" smtClean="0"/>
              <a:t>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6" indent="0">
              <a:buNone/>
              <a:defRPr sz="2000" b="1"/>
            </a:lvl2pPr>
            <a:lvl3pPr marL="914293" indent="0">
              <a:buNone/>
              <a:defRPr sz="1800" b="1"/>
            </a:lvl3pPr>
            <a:lvl4pPr marL="1371440" indent="0">
              <a:buNone/>
              <a:defRPr sz="1600" b="1"/>
            </a:lvl4pPr>
            <a:lvl5pPr marL="1828586" indent="0">
              <a:buNone/>
              <a:defRPr sz="1600" b="1"/>
            </a:lvl5pPr>
            <a:lvl6pPr marL="2285733" indent="0">
              <a:buNone/>
              <a:defRPr sz="1600" b="1"/>
            </a:lvl6pPr>
            <a:lvl7pPr marL="2742879" indent="0">
              <a:buNone/>
              <a:defRPr sz="1600" b="1"/>
            </a:lvl7pPr>
            <a:lvl8pPr marL="3200026" indent="0">
              <a:buNone/>
              <a:defRPr sz="1600" b="1"/>
            </a:lvl8pPr>
            <a:lvl9pPr marL="365717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6" indent="0">
              <a:buNone/>
              <a:defRPr sz="2000" b="1"/>
            </a:lvl2pPr>
            <a:lvl3pPr marL="914293" indent="0">
              <a:buNone/>
              <a:defRPr sz="1800" b="1"/>
            </a:lvl3pPr>
            <a:lvl4pPr marL="1371440" indent="0">
              <a:buNone/>
              <a:defRPr sz="1600" b="1"/>
            </a:lvl4pPr>
            <a:lvl5pPr marL="1828586" indent="0">
              <a:buNone/>
              <a:defRPr sz="1600" b="1"/>
            </a:lvl5pPr>
            <a:lvl6pPr marL="2285733" indent="0">
              <a:buNone/>
              <a:defRPr sz="1600" b="1"/>
            </a:lvl6pPr>
            <a:lvl7pPr marL="2742879" indent="0">
              <a:buNone/>
              <a:defRPr sz="1600" b="1"/>
            </a:lvl7pPr>
            <a:lvl8pPr marL="3200026" indent="0">
              <a:buNone/>
              <a:defRPr sz="1600" b="1"/>
            </a:lvl8pPr>
            <a:lvl9pPr marL="365717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94D55-4098-44BA-8ABB-DE210F1BD3A0}" type="datetime1">
              <a:rPr lang="en-US" smtClean="0"/>
              <a:t>2/16/2023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ED7-57E0-4C8A-9218-37171221E31E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5F94-6999-4F42-A598-CC850F648A6C}" type="datetime1">
              <a:rPr lang="en-US" smtClean="0"/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6" indent="0">
              <a:buNone/>
              <a:defRPr sz="1200"/>
            </a:lvl2pPr>
            <a:lvl3pPr marL="914293" indent="0">
              <a:buNone/>
              <a:defRPr sz="1000"/>
            </a:lvl3pPr>
            <a:lvl4pPr marL="1371440" indent="0">
              <a:buNone/>
              <a:defRPr sz="900"/>
            </a:lvl4pPr>
            <a:lvl5pPr marL="1828586" indent="0">
              <a:buNone/>
              <a:defRPr sz="900"/>
            </a:lvl5pPr>
            <a:lvl6pPr marL="2285733" indent="0">
              <a:buNone/>
              <a:defRPr sz="900"/>
            </a:lvl6pPr>
            <a:lvl7pPr marL="2742879" indent="0">
              <a:buNone/>
              <a:defRPr sz="900"/>
            </a:lvl7pPr>
            <a:lvl8pPr marL="3200026" indent="0">
              <a:buNone/>
              <a:defRPr sz="900"/>
            </a:lvl8pPr>
            <a:lvl9pPr marL="3657172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C717-3F42-40AF-BF15-869F8ED703F3}" type="datetime1">
              <a:rPr lang="en-US" smtClean="0"/>
              <a:t>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6" indent="0">
              <a:buNone/>
              <a:defRPr sz="2800"/>
            </a:lvl2pPr>
            <a:lvl3pPr marL="914293" indent="0">
              <a:buNone/>
              <a:defRPr sz="2400"/>
            </a:lvl3pPr>
            <a:lvl4pPr marL="1371440" indent="0">
              <a:buNone/>
              <a:defRPr sz="2000"/>
            </a:lvl4pPr>
            <a:lvl5pPr marL="1828586" indent="0">
              <a:buNone/>
              <a:defRPr sz="2000"/>
            </a:lvl5pPr>
            <a:lvl6pPr marL="2285733" indent="0">
              <a:buNone/>
              <a:defRPr sz="2000"/>
            </a:lvl6pPr>
            <a:lvl7pPr marL="2742879" indent="0">
              <a:buNone/>
              <a:defRPr sz="2000"/>
            </a:lvl7pPr>
            <a:lvl8pPr marL="3200026" indent="0">
              <a:buNone/>
              <a:defRPr sz="2000"/>
            </a:lvl8pPr>
            <a:lvl9pPr marL="365717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6" indent="0">
              <a:buNone/>
              <a:defRPr sz="1200"/>
            </a:lvl2pPr>
            <a:lvl3pPr marL="914293" indent="0">
              <a:buNone/>
              <a:defRPr sz="1000"/>
            </a:lvl3pPr>
            <a:lvl4pPr marL="1371440" indent="0">
              <a:buNone/>
              <a:defRPr sz="900"/>
            </a:lvl4pPr>
            <a:lvl5pPr marL="1828586" indent="0">
              <a:buNone/>
              <a:defRPr sz="900"/>
            </a:lvl5pPr>
            <a:lvl6pPr marL="2285733" indent="0">
              <a:buNone/>
              <a:defRPr sz="900"/>
            </a:lvl6pPr>
            <a:lvl7pPr marL="2742879" indent="0">
              <a:buNone/>
              <a:defRPr sz="900"/>
            </a:lvl7pPr>
            <a:lvl8pPr marL="3200026" indent="0">
              <a:buNone/>
              <a:defRPr sz="900"/>
            </a:lvl8pPr>
            <a:lvl9pPr marL="3657172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96F9-4ACD-4858-BEFE-CF8671D75FA7}" type="datetime1">
              <a:rPr lang="en-US" smtClean="0"/>
              <a:t>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09BA-31CA-4CBF-BA2E-81051A393438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5E51-441C-404B-8B22-5D48CCDA8CBD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 - OOP / CSE/  Easwari Engineering College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4" rIns="91429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24B24-7C92-4945-854E-705E8C14FB39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9400" y="6508751"/>
            <a:ext cx="3657600" cy="273049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191CSC302T - OOP / CSE/  Easwari Engineering College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B21BA-783B-4C48-8EBE-B63F6E8358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29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0" indent="-342860" algn="l" defTabSz="91429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3" indent="-285717" algn="l" defTabSz="91429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7" indent="-228573" algn="l" defTabSz="91429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3" indent="-228573" algn="l" defTabSz="91429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9" indent="-228573" algn="l" defTabSz="91429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06" indent="-228573" algn="l" defTabSz="91429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53" indent="-228573" algn="l" defTabSz="91429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99" indent="-228573" algn="l" defTabSz="91429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46" indent="-228573" algn="l" defTabSz="91429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6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3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0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6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3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9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26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2" algn="l" defTabSz="91429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Object Oriented Programming</a:t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dirty="0" smtClean="0"/>
              <a:t>C++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Unit –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 INTRODUCTION TO C++</a:t>
            </a:r>
          </a:p>
          <a:p>
            <a:pPr marL="0" indent="0" algn="just">
              <a:buNone/>
            </a:pPr>
            <a:r>
              <a:rPr lang="en-US" sz="3000" b="1" u="sng" dirty="0">
                <a:solidFill>
                  <a:srgbClr val="FF0000"/>
                </a:solidFill>
              </a:rPr>
              <a:t>Object oriented programming concepts:</a:t>
            </a:r>
            <a:r>
              <a:rPr lang="en-US" sz="3000" dirty="0">
                <a:solidFill>
                  <a:srgbClr val="FF0000"/>
                </a:solidFill>
              </a:rPr>
              <a:t> Class-Object - Abstraction – Encapsulation-Polymorphism-inheritance- Data Hiding</a:t>
            </a:r>
            <a:r>
              <a:rPr lang="en-US" sz="3000" dirty="0"/>
              <a:t>, </a:t>
            </a:r>
            <a:r>
              <a:rPr lang="en-US" sz="3000" b="1" u="sng" dirty="0">
                <a:solidFill>
                  <a:schemeClr val="tx2"/>
                </a:solidFill>
              </a:rPr>
              <a:t>Introduction to C++:</a:t>
            </a:r>
            <a:r>
              <a:rPr lang="en-US" sz="3000" dirty="0">
                <a:solidFill>
                  <a:schemeClr val="tx2"/>
                </a:solidFill>
              </a:rPr>
              <a:t> Structure of C++ program, Data types, Operators and control statements, Input and output operators, Dynamic initialization, Reference variables,</a:t>
            </a:r>
            <a:r>
              <a:rPr lang="en-US" sz="3000" dirty="0"/>
              <a:t> </a:t>
            </a:r>
            <a:r>
              <a:rPr lang="en-US" sz="3000" b="1" u="sng" dirty="0"/>
              <a:t>Classes and Objects:</a:t>
            </a:r>
            <a:r>
              <a:rPr lang="en-US" sz="3000" dirty="0"/>
              <a:t> Class specification-Member function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Object Oriented Programming (OOP)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71601"/>
            <a:ext cx="8305800" cy="4573548"/>
          </a:xfrm>
          <a:prstGeom prst="rect">
            <a:avLst/>
          </a:prstGeom>
          <a:noFill/>
        </p:spPr>
        <p:txBody>
          <a:bodyPr wrap="square" lIns="91429" tIns="45714" rIns="91429" bIns="45714" rtlCol="0">
            <a:spAutoFit/>
          </a:bodyPr>
          <a:lstStyle/>
          <a:p>
            <a:pPr marL="342860" indent="-34286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/>
              <a:t>Object-Oriented Programming (OOP) is the term used to describe a </a:t>
            </a:r>
            <a:r>
              <a:rPr lang="en-US" sz="2800" dirty="0">
                <a:solidFill>
                  <a:srgbClr val="FF0000"/>
                </a:solidFill>
              </a:rPr>
              <a:t>programming approach based on objects and classes. </a:t>
            </a:r>
            <a:r>
              <a:rPr lang="en-US" sz="2800" dirty="0"/>
              <a:t>The object-oriented paradigm allows us to organize software as a collection of objects that consist of both data and behavior</a:t>
            </a:r>
            <a:r>
              <a:rPr lang="en-US" sz="2800" dirty="0" smtClean="0"/>
              <a:t>.</a:t>
            </a:r>
          </a:p>
          <a:p>
            <a:pPr marL="342860" indent="-342860" algn="just">
              <a:spcBef>
                <a:spcPct val="200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342860" indent="-34286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/>
              <a:t>OOP is all about </a:t>
            </a:r>
            <a:r>
              <a:rPr lang="en-US" sz="2800" dirty="0">
                <a:solidFill>
                  <a:srgbClr val="FF0000"/>
                </a:solidFill>
              </a:rPr>
              <a:t>creating objects that can interact with each other</a:t>
            </a:r>
            <a:r>
              <a:rPr lang="en-US" sz="2800" dirty="0"/>
              <a:t>, this makes it easier to develop programs in OOP as we can understand the relationship between them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1026" name="AutoShape 2" descr="https://media.geeksforgeeks.org/wp-content/cdn-uploads/20190717114649/Object-Oriented-Programming-Concepts.jpg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media.geeksforgeeks.org/wp-content/cdn-uploads/20190717114649/Object-Oriented-Programming-Concepts.jpg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562" y="0"/>
            <a:ext cx="7304809" cy="565506"/>
          </a:xfrm>
          <a:prstGeom prst="rect">
            <a:avLst/>
          </a:prstGeom>
        </p:spPr>
        <p:txBody>
          <a:bodyPr vert="horz" lIns="91429" tIns="45714" rIns="91429" bIns="45714" rtlCol="0" anchor="ctr">
            <a:normAutofit fontScale="90000"/>
          </a:bodyPr>
          <a:lstStyle/>
          <a:p>
            <a:pPr marL="11397" algn="l"/>
            <a:r>
              <a:rPr lang="en-US" sz="3600" b="1" dirty="0" smtClean="0"/>
              <a:t>Object Oriented Programming</a:t>
            </a:r>
            <a:endParaRPr lang="en-US" sz="3600" b="1" dirty="0"/>
          </a:p>
        </p:txBody>
      </p:sp>
      <p:sp>
        <p:nvSpPr>
          <p:cNvPr id="6" name="object 6"/>
          <p:cNvSpPr txBox="1"/>
          <p:nvPr/>
        </p:nvSpPr>
        <p:spPr>
          <a:xfrm>
            <a:off x="533401" y="533400"/>
            <a:ext cx="8458200" cy="4292543"/>
          </a:xfrm>
          <a:prstGeom prst="rect">
            <a:avLst/>
          </a:prstGeom>
        </p:spPr>
        <p:txBody>
          <a:bodyPr vert="horz" wrap="square" lIns="0" tIns="80349" rIns="0" bIns="0" rtlCol="0">
            <a:spAutoFit/>
          </a:bodyPr>
          <a:lstStyle/>
          <a:p>
            <a:pPr marL="282075" indent="-271248" algn="just">
              <a:spcBef>
                <a:spcPts val="633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Emphasis is on </a:t>
            </a:r>
            <a:r>
              <a:rPr lang="en-US" sz="2800" dirty="0" smtClean="0">
                <a:solidFill>
                  <a:srgbClr val="FF0000"/>
                </a:solidFill>
                <a:ea typeface="+mj-ea"/>
                <a:cs typeface="+mj-cs"/>
              </a:rPr>
              <a:t>data</a:t>
            </a:r>
            <a:r>
              <a:rPr lang="en-US" sz="2800" dirty="0" smtClean="0">
                <a:ea typeface="+mj-ea"/>
                <a:cs typeface="+mj-cs"/>
              </a:rPr>
              <a:t> rather than procedure.</a:t>
            </a:r>
          </a:p>
          <a:p>
            <a:pPr marL="282075" indent="-271248" algn="just">
              <a:spcBef>
                <a:spcPts val="552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Programs are divided into what are known as objects.</a:t>
            </a:r>
          </a:p>
          <a:p>
            <a:pPr marL="282075" indent="-271248" algn="just">
              <a:spcBef>
                <a:spcPts val="538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Data is </a:t>
            </a:r>
            <a:r>
              <a:rPr lang="en-US" sz="2800" dirty="0" smtClean="0">
                <a:solidFill>
                  <a:srgbClr val="FF0000"/>
                </a:solidFill>
                <a:ea typeface="+mj-ea"/>
                <a:cs typeface="+mj-cs"/>
              </a:rPr>
              <a:t>hidden</a:t>
            </a:r>
            <a:r>
              <a:rPr lang="en-US" sz="2800" dirty="0" smtClean="0">
                <a:ea typeface="+mj-ea"/>
                <a:cs typeface="+mj-cs"/>
              </a:rPr>
              <a:t> and cannot be accessed by external functions.</a:t>
            </a:r>
          </a:p>
          <a:p>
            <a:pPr marL="282075" indent="-271248" algn="just">
              <a:spcBef>
                <a:spcPts val="538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Objects may </a:t>
            </a:r>
            <a:r>
              <a:rPr lang="en-US" sz="2800" dirty="0" smtClean="0">
                <a:solidFill>
                  <a:srgbClr val="FF0000"/>
                </a:solidFill>
                <a:ea typeface="+mj-ea"/>
                <a:cs typeface="+mj-cs"/>
              </a:rPr>
              <a:t>communicate with each other through functions.</a:t>
            </a:r>
          </a:p>
          <a:p>
            <a:pPr marL="282075" indent="-271248" algn="just">
              <a:spcBef>
                <a:spcPts val="476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New data and functions can be easily added whenever necessary.</a:t>
            </a:r>
          </a:p>
          <a:p>
            <a:pPr marL="282075" indent="-271248" algn="just">
              <a:spcBef>
                <a:spcPts val="534"/>
              </a:spcBef>
              <a:buSzPct val="95833"/>
              <a:buFont typeface="Arial" pitchFamily="34" charset="0"/>
              <a:buChar char="•"/>
              <a:tabLst>
                <a:tab pos="282075" algn="l"/>
                <a:tab pos="282645" algn="l"/>
              </a:tabLst>
            </a:pPr>
            <a:r>
              <a:rPr lang="en-US" sz="2800" dirty="0" smtClean="0">
                <a:ea typeface="+mj-ea"/>
                <a:cs typeface="+mj-cs"/>
              </a:rPr>
              <a:t>Follows bottom-up approach in program design</a:t>
            </a:r>
            <a:endParaRPr lang="en-US" sz="2800" dirty="0">
              <a:ea typeface="+mj-ea"/>
              <a:cs typeface="+mj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2200" y="4953000"/>
            <a:ext cx="5029199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Basic OOP Concepts: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Object oriented programming we write programs using classes and objects </a:t>
            </a:r>
            <a:r>
              <a:rPr lang="en-US" dirty="0" smtClean="0"/>
              <a:t>utilizing features of </a:t>
            </a:r>
            <a:r>
              <a:rPr lang="en-US" dirty="0"/>
              <a:t>OOPs </a:t>
            </a:r>
            <a:r>
              <a:rPr lang="en-US" dirty="0" smtClean="0"/>
              <a:t>such as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abstraction</a:t>
            </a:r>
            <a:r>
              <a:rPr lang="en-US" dirty="0">
                <a:solidFill>
                  <a:srgbClr val="FF0000"/>
                </a:solidFill>
              </a:rPr>
              <a:t>, </a:t>
            </a:r>
            <a:r>
              <a:rPr lang="en-US" b="1" dirty="0">
                <a:solidFill>
                  <a:srgbClr val="FF0000"/>
                </a:solidFill>
              </a:rPr>
              <a:t>encapsulation</a:t>
            </a:r>
            <a:r>
              <a:rPr lang="en-US" dirty="0">
                <a:solidFill>
                  <a:srgbClr val="FF0000"/>
                </a:solidFill>
              </a:rPr>
              <a:t>, </a:t>
            </a:r>
            <a:r>
              <a:rPr lang="en-US" b="1" dirty="0" smtClean="0">
                <a:solidFill>
                  <a:srgbClr val="FF0000"/>
                </a:solidFill>
              </a:rPr>
              <a:t>inheritance     </a:t>
            </a:r>
            <a:r>
              <a:rPr lang="en-US" dirty="0" smtClean="0"/>
              <a:t>and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polymorphism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 descr="Object-Oriented-Programming-Concep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24538" y="3690938"/>
            <a:ext cx="2862262" cy="286226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Objects</a:t>
            </a:r>
            <a:endParaRPr lang="en-US" b="1" dirty="0"/>
          </a:p>
        </p:txBody>
      </p:sp>
      <p:sp>
        <p:nvSpPr>
          <p:cNvPr id="4" name="object 3"/>
          <p:cNvSpPr txBox="1">
            <a:spLocks noGrp="1"/>
          </p:cNvSpPr>
          <p:nvPr>
            <p:ph idx="1"/>
          </p:nvPr>
        </p:nvSpPr>
        <p:spPr>
          <a:xfrm>
            <a:off x="457200" y="1066800"/>
            <a:ext cx="8229600" cy="2362199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pPr marL="314325" marR="5080" indent="-302260" algn="just">
              <a:lnSpc>
                <a:spcPct val="99600"/>
              </a:lnSpc>
              <a:spcBef>
                <a:spcPct val="0"/>
              </a:spcBef>
              <a:buSzPct val="95833"/>
              <a:tabLst>
                <a:tab pos="314960" algn="l"/>
              </a:tabLst>
            </a:pPr>
            <a:r>
              <a:rPr lang="en-US" sz="2800" dirty="0" smtClean="0">
                <a:ea typeface="+mj-ea"/>
                <a:cs typeface="+mj-cs"/>
              </a:rPr>
              <a:t>Objects are the </a:t>
            </a:r>
            <a:r>
              <a:rPr lang="en-US" sz="2800" dirty="0" smtClean="0">
                <a:solidFill>
                  <a:srgbClr val="FF0000"/>
                </a:solidFill>
                <a:ea typeface="+mj-ea"/>
                <a:cs typeface="+mj-cs"/>
              </a:rPr>
              <a:t>basic runtime entities in an object oriented  system</a:t>
            </a:r>
            <a:r>
              <a:rPr lang="en-US" sz="2800" dirty="0" smtClean="0">
                <a:ea typeface="+mj-ea"/>
                <a:cs typeface="+mj-cs"/>
              </a:rPr>
              <a:t>. They may represent a person, a place, a bank account, a  table of data or any item that the program has to handle</a:t>
            </a:r>
            <a:endParaRPr lang="en-US" sz="2800" dirty="0"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81400" y="3048000"/>
            <a:ext cx="2362200" cy="341632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Objects : Student</a:t>
            </a:r>
          </a:p>
          <a:p>
            <a:endParaRPr lang="en-US" b="1" dirty="0" smtClean="0"/>
          </a:p>
          <a:p>
            <a:r>
              <a:rPr lang="en-US" b="1" dirty="0" smtClean="0"/>
              <a:t>Data</a:t>
            </a:r>
          </a:p>
          <a:p>
            <a:r>
              <a:rPr lang="en-US" b="1" dirty="0" smtClean="0"/>
              <a:t>          Name</a:t>
            </a:r>
          </a:p>
          <a:p>
            <a:r>
              <a:rPr lang="en-US" b="1" dirty="0" smtClean="0"/>
              <a:t>          </a:t>
            </a:r>
            <a:r>
              <a:rPr lang="en-US" b="1" dirty="0" err="1" smtClean="0"/>
              <a:t>DoB</a:t>
            </a:r>
            <a:endParaRPr lang="en-US" b="1" dirty="0" smtClean="0"/>
          </a:p>
          <a:p>
            <a:r>
              <a:rPr lang="en-US" b="1" dirty="0" smtClean="0"/>
              <a:t>          Marks</a:t>
            </a:r>
          </a:p>
          <a:p>
            <a:endParaRPr lang="en-US" b="1" dirty="0" smtClean="0"/>
          </a:p>
          <a:p>
            <a:r>
              <a:rPr lang="en-US" b="1" dirty="0" smtClean="0"/>
              <a:t>Methods</a:t>
            </a:r>
          </a:p>
          <a:p>
            <a:r>
              <a:rPr lang="en-US" b="1" dirty="0" smtClean="0"/>
              <a:t>          Total</a:t>
            </a:r>
          </a:p>
          <a:p>
            <a:r>
              <a:rPr lang="en-US" b="1" dirty="0" smtClean="0"/>
              <a:t>           </a:t>
            </a:r>
            <a:r>
              <a:rPr lang="en-US" b="1" dirty="0" err="1" smtClean="0"/>
              <a:t>Avg</a:t>
            </a:r>
            <a:endParaRPr lang="en-US" b="1" dirty="0" smtClean="0"/>
          </a:p>
          <a:p>
            <a:r>
              <a:rPr lang="en-US" b="1" dirty="0" smtClean="0"/>
              <a:t>           Display</a:t>
            </a:r>
          </a:p>
          <a:p>
            <a:r>
              <a:rPr lang="en-US" b="1" dirty="0" smtClean="0"/>
              <a:t>           ………….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Class</a:t>
            </a:r>
            <a:endParaRPr lang="en-US" b="1" dirty="0"/>
          </a:p>
        </p:txBody>
      </p:sp>
      <p:sp>
        <p:nvSpPr>
          <p:cNvPr id="4" name="object 3"/>
          <p:cNvSpPr txBox="1">
            <a:spLocks noGrp="1"/>
          </p:cNvSpPr>
          <p:nvPr>
            <p:ph idx="1"/>
          </p:nvPr>
        </p:nvSpPr>
        <p:spPr>
          <a:xfrm>
            <a:off x="457200" y="1066800"/>
            <a:ext cx="8229600" cy="2362199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pPr marL="314325" marR="5080" indent="-302260" algn="just">
              <a:lnSpc>
                <a:spcPct val="99600"/>
              </a:lnSpc>
              <a:spcBef>
                <a:spcPct val="0"/>
              </a:spcBef>
              <a:buSzPct val="95833"/>
              <a:tabLst>
                <a:tab pos="314960" algn="l"/>
              </a:tabLst>
            </a:pPr>
            <a:r>
              <a:rPr lang="en-US" sz="2800" spc="5" dirty="0" smtClean="0">
                <a:latin typeface="Caladea"/>
                <a:cs typeface="Caladea"/>
              </a:rPr>
              <a:t>Object </a:t>
            </a:r>
            <a:r>
              <a:rPr lang="en-US" sz="2800" spc="10" dirty="0" smtClean="0">
                <a:latin typeface="Caladea"/>
                <a:cs typeface="Caladea"/>
              </a:rPr>
              <a:t>contains data, and code </a:t>
            </a:r>
            <a:r>
              <a:rPr lang="en-US" sz="2800" spc="-5" dirty="0" smtClean="0">
                <a:latin typeface="Caladea"/>
                <a:cs typeface="Caladea"/>
              </a:rPr>
              <a:t>to </a:t>
            </a:r>
            <a:r>
              <a:rPr lang="en-US" sz="2800" spc="5" dirty="0" smtClean="0">
                <a:latin typeface="Caladea"/>
                <a:cs typeface="Caladea"/>
              </a:rPr>
              <a:t>manipulate </a:t>
            </a:r>
            <a:r>
              <a:rPr lang="en-US" sz="2800" dirty="0" smtClean="0">
                <a:latin typeface="Caladea"/>
                <a:cs typeface="Caladea"/>
              </a:rPr>
              <a:t>that </a:t>
            </a:r>
            <a:r>
              <a:rPr lang="en-US" sz="2800" spc="10" dirty="0" smtClean="0">
                <a:latin typeface="Caladea"/>
                <a:cs typeface="Caladea"/>
              </a:rPr>
              <a:t>data. The  </a:t>
            </a:r>
            <a:r>
              <a:rPr lang="en-US" sz="2800" dirty="0" smtClean="0">
                <a:latin typeface="Caladea"/>
                <a:cs typeface="Caladea"/>
              </a:rPr>
              <a:t>entire </a:t>
            </a:r>
            <a:r>
              <a:rPr lang="en-US" sz="2800" spc="10" dirty="0" smtClean="0">
                <a:latin typeface="Caladea"/>
                <a:cs typeface="Caladea"/>
              </a:rPr>
              <a:t>set </a:t>
            </a:r>
            <a:r>
              <a:rPr lang="en-US" sz="2800" spc="5" dirty="0" smtClean="0">
                <a:latin typeface="Caladea"/>
                <a:cs typeface="Caladea"/>
              </a:rPr>
              <a:t>of </a:t>
            </a:r>
            <a:r>
              <a:rPr lang="en-US" sz="2800" spc="10" dirty="0" smtClean="0">
                <a:latin typeface="Caladea"/>
                <a:cs typeface="Caladea"/>
              </a:rPr>
              <a:t>data and code </a:t>
            </a:r>
            <a:r>
              <a:rPr lang="en-US" sz="2800" spc="5" dirty="0" smtClean="0">
                <a:latin typeface="Caladea"/>
                <a:cs typeface="Caladea"/>
              </a:rPr>
              <a:t>of </a:t>
            </a:r>
            <a:r>
              <a:rPr lang="en-US" sz="2800" spc="10" dirty="0" smtClean="0">
                <a:latin typeface="Caladea"/>
                <a:cs typeface="Caladea"/>
              </a:rPr>
              <a:t>an </a:t>
            </a:r>
            <a:r>
              <a:rPr lang="en-US" sz="2800" spc="5" dirty="0" smtClean="0">
                <a:latin typeface="Caladea"/>
                <a:cs typeface="Caladea"/>
              </a:rPr>
              <a:t>object </a:t>
            </a:r>
            <a:r>
              <a:rPr lang="en-US" sz="2800" spc="10" dirty="0" smtClean="0">
                <a:latin typeface="Caladea"/>
                <a:cs typeface="Caladea"/>
              </a:rPr>
              <a:t>can be </a:t>
            </a:r>
            <a:r>
              <a:rPr lang="en-US" sz="2800" spc="5" dirty="0" smtClean="0">
                <a:latin typeface="Caladea"/>
                <a:cs typeface="Caladea"/>
              </a:rPr>
              <a:t>made </a:t>
            </a:r>
            <a:r>
              <a:rPr lang="en-US" sz="2800" spc="10" dirty="0" smtClean="0">
                <a:latin typeface="Caladea"/>
                <a:cs typeface="Caladea"/>
              </a:rPr>
              <a:t>a user-  defined</a:t>
            </a:r>
            <a:r>
              <a:rPr lang="en-US" sz="2800" spc="545" dirty="0" smtClean="0">
                <a:latin typeface="Caladea"/>
                <a:cs typeface="Caladea"/>
              </a:rPr>
              <a:t> </a:t>
            </a:r>
            <a:r>
              <a:rPr lang="en-US" sz="2800" spc="10" dirty="0" smtClean="0">
                <a:latin typeface="Caladea"/>
                <a:cs typeface="Caladea"/>
              </a:rPr>
              <a:t>data  type  </a:t>
            </a:r>
            <a:r>
              <a:rPr lang="en-US" sz="2800" spc="5" dirty="0" smtClean="0">
                <a:latin typeface="Caladea"/>
                <a:cs typeface="Caladea"/>
              </a:rPr>
              <a:t>with </a:t>
            </a:r>
            <a:r>
              <a:rPr lang="en-US" sz="2800" dirty="0" smtClean="0">
                <a:latin typeface="Caladea"/>
                <a:cs typeface="Caladea"/>
              </a:rPr>
              <a:t>the </a:t>
            </a:r>
            <a:r>
              <a:rPr lang="en-US" sz="2800" spc="10" dirty="0" smtClean="0">
                <a:latin typeface="Caladea"/>
                <a:cs typeface="Caladea"/>
              </a:rPr>
              <a:t>help  </a:t>
            </a:r>
            <a:r>
              <a:rPr lang="en-US" sz="2800" spc="5" dirty="0" smtClean="0">
                <a:latin typeface="Caladea"/>
                <a:cs typeface="Caladea"/>
              </a:rPr>
              <a:t>of </a:t>
            </a:r>
            <a:r>
              <a:rPr lang="en-US" sz="2800" spc="10" dirty="0" smtClean="0">
                <a:latin typeface="Caladea"/>
                <a:cs typeface="Caladea"/>
              </a:rPr>
              <a:t>a</a:t>
            </a:r>
            <a:r>
              <a:rPr lang="en-US" sz="2800" spc="105" dirty="0" smtClean="0">
                <a:latin typeface="Caladea"/>
                <a:cs typeface="Caladea"/>
              </a:rPr>
              <a:t> </a:t>
            </a:r>
            <a:r>
              <a:rPr lang="en-US" sz="2800" spc="10" dirty="0" smtClean="0">
                <a:latin typeface="Caladea"/>
                <a:cs typeface="Caladea"/>
              </a:rPr>
              <a:t>class</a:t>
            </a:r>
            <a:endParaRPr lang="en-US" sz="2800" dirty="0">
              <a:ea typeface="+mj-ea"/>
              <a:cs typeface="+mj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29000" y="3886200"/>
            <a:ext cx="2438400" cy="175432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Class : Fruit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10000" y="4495800"/>
            <a:ext cx="17526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Object : Mango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A Class is a 3-Compartment Box encapsulating Data and Functions</a:t>
            </a:r>
          </a:p>
          <a:p>
            <a:pPr marL="914346" lvl="1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Class name (or identifier): </a:t>
            </a:r>
            <a:r>
              <a:rPr lang="en-US" sz="2400" dirty="0"/>
              <a:t>identifies the class.</a:t>
            </a:r>
          </a:p>
          <a:p>
            <a:pPr marL="914346" lvl="1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Data	</a:t>
            </a:r>
            <a:r>
              <a:rPr lang="en-US" sz="2400" b="1" dirty="0" smtClean="0">
                <a:solidFill>
                  <a:schemeClr val="tx2"/>
                </a:solidFill>
              </a:rPr>
              <a:t>Members </a:t>
            </a:r>
            <a:r>
              <a:rPr lang="en-US" sz="2400" dirty="0" smtClean="0"/>
              <a:t>or Variables </a:t>
            </a:r>
            <a:r>
              <a:rPr lang="en-US" sz="2400" dirty="0"/>
              <a:t>(</a:t>
            </a:r>
            <a:r>
              <a:rPr lang="en-US" sz="2400" dirty="0" smtClean="0"/>
              <a:t>or attributes, states, fields</a:t>
            </a:r>
            <a:r>
              <a:rPr lang="en-US" sz="2400" dirty="0"/>
              <a:t>):  contains the static attributes </a:t>
            </a:r>
            <a:r>
              <a:rPr lang="en-US" sz="2400" dirty="0" smtClean="0"/>
              <a:t>of the </a:t>
            </a:r>
            <a:r>
              <a:rPr lang="en-US" sz="2400" dirty="0"/>
              <a:t>class.</a:t>
            </a:r>
          </a:p>
          <a:p>
            <a:pPr marL="914346" lvl="1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Member Functions </a:t>
            </a:r>
            <a:r>
              <a:rPr lang="en-US" sz="2400" dirty="0"/>
              <a:t>(or methods, behaviors, operations): </a:t>
            </a:r>
            <a:r>
              <a:rPr lang="en-US" sz="2400" dirty="0" smtClean="0"/>
              <a:t>contains the </a:t>
            </a:r>
            <a:r>
              <a:rPr lang="en-US" sz="2400" dirty="0"/>
              <a:t>dynamic	</a:t>
            </a:r>
            <a:r>
              <a:rPr lang="en-US" sz="2400" dirty="0" smtClean="0"/>
              <a:t>operations of the class</a:t>
            </a:r>
            <a:r>
              <a:rPr lang="en-US" sz="2400" dirty="0"/>
              <a:t>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152400"/>
            <a:ext cx="8229600" cy="11430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pPr marL="0" marR="0" lvl="0" indent="0" algn="l" defTabSz="9142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19400" y="4602480"/>
          <a:ext cx="2971800" cy="1645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71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 Name</a:t>
                      </a:r>
                      <a:endParaRPr lang="en-US" dirty="0"/>
                    </a:p>
                  </a:txBody>
                  <a:tcPr/>
                </a:tc>
              </a:tr>
              <a:tr h="11870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Data Members</a:t>
                      </a:r>
                    </a:p>
                    <a:p>
                      <a:pPr algn="ctr"/>
                      <a:r>
                        <a:rPr lang="en-US" dirty="0" smtClean="0"/>
                        <a:t>(Static Attributes)</a:t>
                      </a:r>
                      <a:endParaRPr lang="en-US" dirty="0"/>
                    </a:p>
                  </a:txBody>
                  <a:tcPr/>
                </a:tc>
              </a:tr>
              <a:tr h="11870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Member</a:t>
                      </a:r>
                      <a:r>
                        <a:rPr lang="en-US" b="1" baseline="0" dirty="0" smtClean="0"/>
                        <a:t> Functions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dirty="0" smtClean="0"/>
                        <a:t>(Dynamic</a:t>
                      </a:r>
                      <a:r>
                        <a:rPr lang="en-US" baseline="0" dirty="0" smtClean="0"/>
                        <a:t> Operations</a:t>
                      </a:r>
                      <a:r>
                        <a:rPr lang="en-US" dirty="0" smtClean="0"/>
                        <a:t>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The wrapping up of data and functions	</a:t>
            </a:r>
            <a:r>
              <a:rPr lang="en-US" sz="2400" dirty="0" smtClean="0">
                <a:solidFill>
                  <a:srgbClr val="FF0000"/>
                </a:solidFill>
              </a:rPr>
              <a:t>into a </a:t>
            </a:r>
            <a:r>
              <a:rPr lang="en-US" sz="2400" dirty="0">
                <a:solidFill>
                  <a:srgbClr val="FF0000"/>
                </a:solidFill>
              </a:rPr>
              <a:t>single unit</a:t>
            </a:r>
            <a:r>
              <a:rPr lang="en-US" sz="2400" dirty="0"/>
              <a:t> is known as encapsulation.</a:t>
            </a:r>
          </a:p>
          <a:p>
            <a:pPr algn="just"/>
            <a:r>
              <a:rPr lang="en-US" sz="2400" dirty="0"/>
              <a:t>The data is </a:t>
            </a:r>
            <a:r>
              <a:rPr lang="en-US" sz="2400" dirty="0" smtClean="0"/>
              <a:t>not accessible </a:t>
            </a:r>
            <a:r>
              <a:rPr lang="en-US" sz="2400" dirty="0"/>
              <a:t>to the outside </a:t>
            </a:r>
            <a:r>
              <a:rPr lang="en-US" sz="2400" dirty="0" smtClean="0"/>
              <a:t>world, only </a:t>
            </a:r>
            <a:r>
              <a:rPr lang="en-US" sz="2400" dirty="0"/>
              <a:t>those function which are wrapped in the can access it.</a:t>
            </a:r>
          </a:p>
          <a:p>
            <a:pPr algn="just"/>
            <a:r>
              <a:rPr lang="en-US" sz="2400" dirty="0"/>
              <a:t>These functions provide the interface between the object’s data and the program.</a:t>
            </a:r>
          </a:p>
          <a:p>
            <a:pPr algn="just"/>
            <a:r>
              <a:rPr lang="en-US" sz="2400" dirty="0"/>
              <a:t>This insulation of the data from direct access by the program is called </a:t>
            </a:r>
            <a:r>
              <a:rPr lang="en-US" sz="2400" b="1" dirty="0">
                <a:solidFill>
                  <a:srgbClr val="FF0000"/>
                </a:solidFill>
              </a:rPr>
              <a:t>data hiding or information hiding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-76200"/>
            <a:ext cx="8229600" cy="11430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pPr marL="0" marR="0" lvl="0" indent="0" algn="l" defTabSz="9142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Encapsulation</a:t>
            </a:r>
          </a:p>
        </p:txBody>
      </p:sp>
      <p:pic>
        <p:nvPicPr>
          <p:cNvPr id="45058" name="Picture 2" descr="Encapsulation in Java | Realtime Example, Advantage - Scientech Eas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962400"/>
            <a:ext cx="4181475" cy="2662979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Abstraction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Abstraction refers to the act of representing essential features without including the background details or explanations.</a:t>
            </a:r>
          </a:p>
          <a:p>
            <a:pPr algn="just"/>
            <a:r>
              <a:rPr lang="en-US" dirty="0"/>
              <a:t>Since classes use the concept of data abstraction, they are known as Abstract Data Types (ADT)</a:t>
            </a:r>
          </a:p>
          <a:p>
            <a:pPr algn="just"/>
            <a:endParaRPr lang="en-US" dirty="0"/>
          </a:p>
        </p:txBody>
      </p:sp>
      <p:pic>
        <p:nvPicPr>
          <p:cNvPr id="44034" name="Picture 2" descr="Abstrac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8153400" cy="5234516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6562" name="Picture 2" descr="Data Abstrac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09600"/>
            <a:ext cx="7658100" cy="5678059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7586" name="Picture 2" descr="Process Abstrac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97407"/>
            <a:ext cx="8686800" cy="6255793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Inheritance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Inheritance is the process by which objects of </a:t>
            </a:r>
            <a:r>
              <a:rPr lang="en-US" dirty="0">
                <a:solidFill>
                  <a:srgbClr val="FF0000"/>
                </a:solidFill>
              </a:rPr>
              <a:t>one class acquire the properties of objects of another class.</a:t>
            </a:r>
          </a:p>
          <a:p>
            <a:pPr algn="just"/>
            <a:r>
              <a:rPr lang="en-US" dirty="0"/>
              <a:t>In OOP, the concept of inheritance provides the idea of </a:t>
            </a:r>
            <a:r>
              <a:rPr lang="en-US" dirty="0">
                <a:solidFill>
                  <a:srgbClr val="FF0000"/>
                </a:solidFill>
              </a:rPr>
              <a:t>reusability</a:t>
            </a:r>
            <a:r>
              <a:rPr lang="en-US" dirty="0"/>
              <a:t>. This means we can add additional features to an existing class without modifying it.</a:t>
            </a:r>
          </a:p>
          <a:p>
            <a:pPr algn="just"/>
            <a:endParaRPr lang="en-US" dirty="0"/>
          </a:p>
        </p:txBody>
      </p:sp>
      <p:pic>
        <p:nvPicPr>
          <p:cNvPr id="43010" name="Picture 2" descr="https://media.geeksforgeeks.org/wp-content/uploads/inheritance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886200"/>
            <a:ext cx="5410200" cy="234901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Polymorphism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Polymorphism, </a:t>
            </a:r>
            <a:r>
              <a:rPr lang="en-US" dirty="0" smtClean="0"/>
              <a:t>(Greek term) - </a:t>
            </a:r>
            <a:r>
              <a:rPr lang="en-US" dirty="0">
                <a:solidFill>
                  <a:srgbClr val="FF0000"/>
                </a:solidFill>
              </a:rPr>
              <a:t>ability to take more than one form.</a:t>
            </a:r>
          </a:p>
          <a:p>
            <a:pPr algn="just"/>
            <a:r>
              <a:rPr lang="en-US" dirty="0"/>
              <a:t>An operation may exhibits different behaviors in different instances. The behavior depends upon the type of data used in the operation.</a:t>
            </a:r>
          </a:p>
          <a:p>
            <a:pPr algn="just"/>
            <a:r>
              <a:rPr lang="en-US" dirty="0"/>
              <a:t>For example consider the operation of addition for two numbers; the operation will generate a sum. If the operands are string then the operation would produce a third string by concatenation.</a:t>
            </a:r>
          </a:p>
          <a:p>
            <a:pPr algn="just"/>
            <a:r>
              <a:rPr lang="en-US" dirty="0"/>
              <a:t>The process of making an operator to exhibit different behavior in different instances is known </a:t>
            </a:r>
            <a:r>
              <a:rPr lang="en-US" dirty="0">
                <a:solidFill>
                  <a:srgbClr val="FF0000"/>
                </a:solidFill>
              </a:rPr>
              <a:t>operator overloading</a:t>
            </a:r>
          </a:p>
          <a:p>
            <a:pPr algn="just"/>
            <a:endParaRPr lang="en-US" dirty="0"/>
          </a:p>
        </p:txBody>
      </p:sp>
      <p:sp>
        <p:nvSpPr>
          <p:cNvPr id="4" name="object 27"/>
          <p:cNvSpPr/>
          <p:nvPr/>
        </p:nvSpPr>
        <p:spPr>
          <a:xfrm>
            <a:off x="2667000" y="4800600"/>
            <a:ext cx="624840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Benefits of OOP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4525963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200" dirty="0"/>
              <a:t>OOP offers several benefits to both the program designer &amp; the user</a:t>
            </a:r>
          </a:p>
          <a:p>
            <a:pPr algn="just"/>
            <a:r>
              <a:rPr lang="en-US" sz="2200" dirty="0"/>
              <a:t>Through inheritance, we can eliminate </a:t>
            </a:r>
            <a:r>
              <a:rPr lang="en-US" sz="2200" dirty="0">
                <a:solidFill>
                  <a:srgbClr val="FF0000"/>
                </a:solidFill>
              </a:rPr>
              <a:t>redundant code and extend the use of existing class</a:t>
            </a:r>
          </a:p>
          <a:p>
            <a:pPr algn="just"/>
            <a:r>
              <a:rPr lang="en-US" sz="2200" dirty="0"/>
              <a:t>We can build programs from the standard working module that communicate with one another, rather than having to start writing code from scratch. </a:t>
            </a:r>
            <a:r>
              <a:rPr lang="en-US" sz="2200" dirty="0">
                <a:solidFill>
                  <a:srgbClr val="FF0000"/>
                </a:solidFill>
              </a:rPr>
              <a:t>This leads to saving of development time &amp; higher productivity.</a:t>
            </a:r>
          </a:p>
          <a:p>
            <a:pPr algn="just"/>
            <a:r>
              <a:rPr lang="en-US" sz="2200" dirty="0"/>
              <a:t>The principle of data hiding helps the programmer to </a:t>
            </a:r>
            <a:r>
              <a:rPr lang="en-US" sz="2200" dirty="0">
                <a:solidFill>
                  <a:srgbClr val="FF0000"/>
                </a:solidFill>
              </a:rPr>
              <a:t>build &amp; secure programs that cannot be invaded by code in other parts of the program.</a:t>
            </a:r>
          </a:p>
          <a:p>
            <a:pPr algn="just"/>
            <a:r>
              <a:rPr lang="en-US" sz="2200" dirty="0"/>
              <a:t>It is possible to map objects in the problem domain to those in the program</a:t>
            </a:r>
          </a:p>
          <a:p>
            <a:pPr algn="just"/>
            <a:r>
              <a:rPr lang="en-US" sz="2200" dirty="0"/>
              <a:t>It is </a:t>
            </a:r>
            <a:r>
              <a:rPr lang="en-US" sz="2200" dirty="0">
                <a:solidFill>
                  <a:srgbClr val="FF0000"/>
                </a:solidFill>
              </a:rPr>
              <a:t>easy to partition the work in a project based on objects</a:t>
            </a:r>
          </a:p>
          <a:p>
            <a:pPr algn="just"/>
            <a:r>
              <a:rPr lang="en-US" sz="2200" dirty="0"/>
              <a:t>The data-centered design approach enables us to capture more details of a model in implementable form.</a:t>
            </a:r>
          </a:p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Object-oriented systems can be </a:t>
            </a:r>
            <a:r>
              <a:rPr lang="en-US" dirty="0">
                <a:solidFill>
                  <a:srgbClr val="FF0000"/>
                </a:solidFill>
              </a:rPr>
              <a:t>easily upgraded from small to large systems.</a:t>
            </a:r>
          </a:p>
          <a:p>
            <a:pPr algn="just"/>
            <a:r>
              <a:rPr lang="en-US" dirty="0"/>
              <a:t>Message passing techniques for communication between objects makes the interface descriptions with external systems much simpler.</a:t>
            </a:r>
          </a:p>
          <a:p>
            <a:pPr algn="just"/>
            <a:r>
              <a:rPr lang="en-US" dirty="0"/>
              <a:t>Software complexity can be easily managed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Applications of OOP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84237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/>
              <a:t>Real-business systems are often much more complex and </a:t>
            </a:r>
            <a:r>
              <a:rPr lang="en-US" sz="2400" dirty="0" smtClean="0"/>
              <a:t>contain many </a:t>
            </a:r>
            <a:r>
              <a:rPr lang="en-US" sz="2400" dirty="0"/>
              <a:t>more objects with complicated attributes and </a:t>
            </a:r>
            <a:r>
              <a:rPr lang="en-US" sz="2400" dirty="0" smtClean="0"/>
              <a:t>methods. OOP </a:t>
            </a:r>
            <a:r>
              <a:rPr lang="en-US" sz="2400" dirty="0"/>
              <a:t>is useful in these types of applications because it can </a:t>
            </a:r>
            <a:r>
              <a:rPr lang="en-US" sz="2400" dirty="0">
                <a:solidFill>
                  <a:srgbClr val="FF0000"/>
                </a:solidFill>
              </a:rPr>
              <a:t>simplify a complex problem</a:t>
            </a:r>
            <a:r>
              <a:rPr lang="en-US" sz="2400" dirty="0"/>
              <a:t>. </a:t>
            </a: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The </a:t>
            </a:r>
            <a:r>
              <a:rPr lang="en-US" sz="2400" dirty="0"/>
              <a:t>promising areas for application of OOP include:</a:t>
            </a:r>
          </a:p>
          <a:p>
            <a:r>
              <a:rPr lang="en-US" sz="2400" dirty="0"/>
              <a:t>Real-time systems</a:t>
            </a:r>
          </a:p>
          <a:p>
            <a:r>
              <a:rPr lang="en-US" sz="2400" dirty="0"/>
              <a:t>Simulation and modeling</a:t>
            </a:r>
          </a:p>
          <a:p>
            <a:r>
              <a:rPr lang="en-US" sz="2400" dirty="0"/>
              <a:t>Object-oriented databases</a:t>
            </a:r>
          </a:p>
          <a:p>
            <a:r>
              <a:rPr lang="en-US" sz="2400" dirty="0"/>
              <a:t>Hypertext, hypermedia and </a:t>
            </a:r>
            <a:r>
              <a:rPr lang="en-US" sz="2400" dirty="0" err="1"/>
              <a:t>expertext</a:t>
            </a:r>
            <a:endParaRPr lang="en-US" sz="2400" dirty="0"/>
          </a:p>
          <a:p>
            <a:r>
              <a:rPr lang="en-US" sz="2400" dirty="0"/>
              <a:t>Al and expert systems</a:t>
            </a:r>
          </a:p>
          <a:p>
            <a:r>
              <a:rPr lang="en-US" sz="2400" dirty="0"/>
              <a:t>Neural networks and parallel programming</a:t>
            </a:r>
          </a:p>
          <a:p>
            <a:r>
              <a:rPr lang="en-US" sz="2400" dirty="0"/>
              <a:t>Decision support and office automation systems</a:t>
            </a:r>
          </a:p>
          <a:p>
            <a:r>
              <a:rPr lang="en-US" sz="2400" dirty="0"/>
              <a:t>CIM/CAM/CAD </a:t>
            </a:r>
            <a:r>
              <a:rPr lang="en-US" sz="2400" dirty="0" smtClean="0"/>
              <a:t>systems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Introduction to C++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4525963"/>
          </a:xfrm>
        </p:spPr>
        <p:txBody>
          <a:bodyPr>
            <a:noAutofit/>
          </a:bodyPr>
          <a:lstStyle/>
          <a:p>
            <a:pPr lvl="0" algn="just"/>
            <a:r>
              <a:rPr lang="en-US" sz="2400" dirty="0" smtClean="0"/>
              <a:t>C++ is an object-oriented	programming language. </a:t>
            </a:r>
          </a:p>
          <a:p>
            <a:pPr lvl="0" algn="just"/>
            <a:r>
              <a:rPr lang="en-US" sz="2400" dirty="0" smtClean="0"/>
              <a:t>C++ was developed by </a:t>
            </a:r>
            <a:r>
              <a:rPr lang="en-US" sz="2400" dirty="0" smtClean="0">
                <a:solidFill>
                  <a:srgbClr val="FF0000"/>
                </a:solidFill>
              </a:rPr>
              <a:t>Bjarne Stroustrup </a:t>
            </a:r>
            <a:r>
              <a:rPr lang="en-US" sz="2400" dirty="0" smtClean="0"/>
              <a:t>at AT&amp;T Bell Laboratories in Murray Hill, New Jersey, USA. </a:t>
            </a:r>
          </a:p>
          <a:p>
            <a:pPr lvl="0" algn="just"/>
            <a:r>
              <a:rPr lang="en-US" sz="2400" dirty="0" smtClean="0"/>
              <a:t>C++ is an </a:t>
            </a:r>
            <a:r>
              <a:rPr lang="en-US" sz="2400" dirty="0" smtClean="0">
                <a:solidFill>
                  <a:srgbClr val="FF0000"/>
                </a:solidFill>
              </a:rPr>
              <a:t>extension of C with a major addition of the class construct feature. </a:t>
            </a:r>
          </a:p>
          <a:p>
            <a:pPr lvl="0" algn="just"/>
            <a:r>
              <a:rPr lang="en-US" sz="2400" dirty="0" smtClean="0"/>
              <a:t>Since the class was a major addition to the original C language Stroustrup called the new language 'C with Classes'. </a:t>
            </a:r>
          </a:p>
          <a:p>
            <a:pPr lvl="0" algn="just"/>
            <a:r>
              <a:rPr lang="en-US" sz="2400" dirty="0" smtClean="0"/>
              <a:t>However later in 1983 the name was changed to  C++. </a:t>
            </a:r>
          </a:p>
          <a:p>
            <a:pPr lvl="0" algn="just"/>
            <a:r>
              <a:rPr lang="en-US" sz="2400" dirty="0" smtClean="0"/>
              <a:t>The idea of C++ comes from the C increment  operator ++ thereby suggesting that </a:t>
            </a:r>
            <a:r>
              <a:rPr lang="en-US" sz="2400" dirty="0" smtClean="0">
                <a:solidFill>
                  <a:srgbClr val="FF0000"/>
                </a:solidFill>
              </a:rPr>
              <a:t>C++ is an  incremented version of C </a:t>
            </a:r>
          </a:p>
          <a:p>
            <a:pPr lvl="0" algn="just"/>
            <a:r>
              <a:rPr lang="en-US" sz="2400" dirty="0" smtClean="0"/>
              <a:t>C++ is a superset of C. </a:t>
            </a:r>
          </a:p>
          <a:p>
            <a:pPr lvl="0" algn="just"/>
            <a:r>
              <a:rPr lang="en-US" sz="2400" dirty="0" smtClean="0"/>
              <a:t>The three most important facilities that C++  adds on to C are </a:t>
            </a:r>
            <a:r>
              <a:rPr lang="en-US" sz="2400" dirty="0" smtClean="0">
                <a:solidFill>
                  <a:srgbClr val="FF0000"/>
                </a:solidFill>
              </a:rPr>
              <a:t>classes, function overloading,  and operator overloading</a:t>
            </a:r>
            <a:r>
              <a:rPr lang="en-US" sz="2400" dirty="0" smtClean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Simple C++ Program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iostream.h</a:t>
            </a:r>
            <a:r>
              <a:rPr lang="en-US" dirty="0" smtClean="0"/>
              <a:t>&gt; </a:t>
            </a:r>
          </a:p>
          <a:p>
            <a:pPr>
              <a:buNone/>
            </a:pPr>
            <a:r>
              <a:rPr lang="en-US" dirty="0" smtClean="0"/>
              <a:t>int main()</a:t>
            </a:r>
          </a:p>
          <a:p>
            <a:pPr>
              <a:buNone/>
            </a:pPr>
            <a:r>
              <a:rPr lang="en-US" dirty="0" smtClean="0"/>
              <a:t>{ 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&lt;&lt;"Hello C++ Programmer"; </a:t>
            </a:r>
          </a:p>
          <a:p>
            <a:pPr>
              <a:buNone/>
            </a:pPr>
            <a:r>
              <a:rPr lang="en-US" dirty="0" smtClean="0"/>
              <a:t>return 0; </a:t>
            </a:r>
          </a:p>
          <a:p>
            <a:pPr>
              <a:buNone/>
            </a:pPr>
            <a:r>
              <a:rPr lang="en-US" dirty="0" err="1" smtClean="0"/>
              <a:t>getch</a:t>
            </a:r>
            <a:r>
              <a:rPr lang="en-US" dirty="0" smtClean="0"/>
              <a:t>(); </a:t>
            </a:r>
          </a:p>
          <a:p>
            <a:pPr>
              <a:buNone/>
            </a:pPr>
            <a:r>
              <a:rPr lang="en-US" dirty="0" smtClean="0"/>
              <a:t>}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/>
              <a:t>Comments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 // - </a:t>
            </a:r>
            <a:r>
              <a:rPr lang="en-US" dirty="0" smtClean="0">
                <a:solidFill>
                  <a:srgbClr val="FF0000"/>
                </a:solidFill>
              </a:rPr>
              <a:t>(Single Line comment) 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 /* </a:t>
            </a:r>
          </a:p>
          <a:p>
            <a:pPr>
              <a:buNone/>
            </a:pPr>
            <a:r>
              <a:rPr lang="en-US" dirty="0" smtClean="0"/>
              <a:t>*/ -</a:t>
            </a:r>
            <a:r>
              <a:rPr lang="en-US" dirty="0" smtClean="0">
                <a:solidFill>
                  <a:srgbClr val="FF0000"/>
                </a:solidFill>
              </a:rPr>
              <a:t>( Multiline comment) 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for(j=0;j&lt;10;</a:t>
            </a:r>
            <a:r>
              <a:rPr lang="en-US" dirty="0" smtClean="0">
                <a:solidFill>
                  <a:srgbClr val="FF0000"/>
                </a:solidFill>
              </a:rPr>
              <a:t>/* hello */ </a:t>
            </a:r>
            <a:r>
              <a:rPr lang="en-US" dirty="0" smtClean="0"/>
              <a:t>j++) </a:t>
            </a:r>
            <a:r>
              <a:rPr lang="en-US" dirty="0" smtClean="0">
                <a:solidFill>
                  <a:srgbClr val="FF0000"/>
                </a:solidFill>
              </a:rPr>
              <a:t>//Multiline only allowed </a:t>
            </a:r>
          </a:p>
          <a:p>
            <a:pPr>
              <a:buNone/>
            </a:pPr>
            <a:r>
              <a:rPr lang="en-US" dirty="0" smtClean="0"/>
              <a:t>{ </a:t>
            </a:r>
          </a:p>
          <a:p>
            <a:pPr>
              <a:buNone/>
            </a:pPr>
            <a:r>
              <a:rPr lang="en-US" dirty="0" smtClean="0"/>
              <a:t>}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17105" cy="639762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/>
              <a:t>Structure of C++ program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0" y="1600200"/>
          <a:ext cx="4401696" cy="305181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4401696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HEADERS</a:t>
                      </a:r>
                    </a:p>
                  </a:txBody>
                  <a:tcPr marL="68598" marR="68598" anchor="ctr"/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CLASS</a:t>
                      </a:r>
                      <a:r>
                        <a:rPr lang="en-US" sz="2400" b="1" baseline="0" dirty="0" smtClean="0"/>
                        <a:t> DECLARATION</a:t>
                      </a:r>
                      <a:endParaRPr lang="en-US" sz="2400" b="1" dirty="0"/>
                    </a:p>
                  </a:txBody>
                  <a:tcPr marL="68598" marR="68598" anchor="ctr"/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MEMBER FUNCTION DEFINITIONS</a:t>
                      </a:r>
                      <a:endParaRPr lang="en-US" sz="2400" b="1" dirty="0"/>
                    </a:p>
                  </a:txBody>
                  <a:tcPr marL="68598" marR="68598" anchor="ctr"/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MAIN FUNCTION</a:t>
                      </a:r>
                      <a:endParaRPr lang="en-US" sz="2400" b="1" dirty="0"/>
                    </a:p>
                  </a:txBody>
                  <a:tcPr marL="68598" marR="68598" anchor="ctr"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7317105" cy="715962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b="1" dirty="0" smtClean="0"/>
              <a:t>Input operators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0612" y="1219200"/>
            <a:ext cx="7772400" cy="46482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</a:pPr>
            <a:r>
              <a:rPr lang="en-US" sz="2800" dirty="0" err="1" smtClean="0">
                <a:solidFill>
                  <a:srgbClr val="FF0000"/>
                </a:solidFill>
              </a:rPr>
              <a:t>cin</a:t>
            </a:r>
            <a:r>
              <a:rPr lang="en-US" sz="2800" dirty="0" smtClean="0">
                <a:solidFill>
                  <a:srgbClr val="FF0000"/>
                </a:solidFill>
              </a:rPr>
              <a:t> &gt;&gt; variable-name;</a:t>
            </a:r>
          </a:p>
          <a:p>
            <a:pPr algn="just" eaLnBrk="1" hangingPunct="1">
              <a:buFontTx/>
              <a:buNone/>
            </a:pPr>
            <a:r>
              <a:rPr lang="en-US" sz="2800" dirty="0" smtClean="0"/>
              <a:t>Meaning: read the value of the variable called    &lt;variable-name&gt;  from the user</a:t>
            </a:r>
          </a:p>
          <a:p>
            <a:pPr algn="just"/>
            <a:r>
              <a:rPr lang="en-US" sz="2800" dirty="0" smtClean="0"/>
              <a:t>The operator </a:t>
            </a:r>
            <a:r>
              <a:rPr lang="en-US" sz="2800" dirty="0" smtClean="0">
                <a:solidFill>
                  <a:srgbClr val="FF0000"/>
                </a:solidFill>
              </a:rPr>
              <a:t>&gt;&gt;</a:t>
            </a:r>
            <a:r>
              <a:rPr lang="en-US" sz="2800" dirty="0" smtClean="0"/>
              <a:t> is known as </a:t>
            </a:r>
            <a:r>
              <a:rPr lang="en-US" sz="2800" b="1" dirty="0" smtClean="0">
                <a:solidFill>
                  <a:schemeClr val="tx2"/>
                </a:solidFill>
              </a:rPr>
              <a:t>extraction or get from  operator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/>
              <a:t>It extracts the value from the keyboard and assigns it  to the variable on its right</a:t>
            </a:r>
          </a:p>
          <a:p>
            <a:pPr algn="just">
              <a:buNone/>
            </a:pPr>
            <a:endParaRPr lang="en-US" sz="2800" dirty="0" smtClean="0"/>
          </a:p>
          <a:p>
            <a:pPr eaLnBrk="1" hangingPunct="1">
              <a:buFontTx/>
              <a:buNone/>
            </a:pPr>
            <a:r>
              <a:rPr lang="en-US" sz="2800" dirty="0" smtClean="0"/>
              <a:t>Example:</a:t>
            </a:r>
          </a:p>
          <a:p>
            <a:pPr eaLnBrk="1" hangingPunct="1">
              <a:buFontTx/>
              <a:buNone/>
            </a:pPr>
            <a:r>
              <a:rPr lang="en-US" sz="2800" dirty="0" smtClean="0"/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cin</a:t>
            </a:r>
            <a:r>
              <a:rPr lang="en-US" sz="2800" dirty="0" smtClean="0">
                <a:solidFill>
                  <a:srgbClr val="FF0000"/>
                </a:solidFill>
              </a:rPr>
              <a:t> &gt;&gt; a; 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cin</a:t>
            </a:r>
            <a:r>
              <a:rPr lang="en-US" sz="2800" dirty="0" smtClean="0">
                <a:solidFill>
                  <a:srgbClr val="FF0000"/>
                </a:solidFill>
              </a:rPr>
              <a:t> &gt;&gt; b &gt;&gt; c;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cin</a:t>
            </a:r>
            <a:r>
              <a:rPr lang="en-US" sz="2800" dirty="0" smtClean="0">
                <a:solidFill>
                  <a:srgbClr val="FF0000"/>
                </a:solidFill>
              </a:rPr>
              <a:t> &gt;&gt; x;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</a:t>
            </a:r>
            <a:r>
              <a:rPr lang="en-US" sz="2800" dirty="0" err="1" smtClean="0">
                <a:solidFill>
                  <a:srgbClr val="FF0000"/>
                </a:solidFill>
              </a:rPr>
              <a:t>cin</a:t>
            </a:r>
            <a:r>
              <a:rPr lang="en-US" sz="2800" dirty="0" smtClean="0">
                <a:solidFill>
                  <a:srgbClr val="FF0000"/>
                </a:solidFill>
              </a:rPr>
              <a:t> &gt;&gt; my-character;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317105" cy="639762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b="1" dirty="0" smtClean="0"/>
              <a:t>Output operators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8229600" cy="4800600"/>
          </a:xfrm>
        </p:spPr>
        <p:txBody>
          <a:bodyPr>
            <a:noAutofit/>
          </a:bodyPr>
          <a:lstStyle/>
          <a:p>
            <a:pPr algn="just" eaLnBrk="1" hangingPunct="1">
              <a:buFontTx/>
              <a:buNone/>
            </a:pP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variable-name;</a:t>
            </a:r>
          </a:p>
          <a:p>
            <a:pPr algn="just" eaLnBrk="1" hangingPunct="1">
              <a:buFontTx/>
              <a:buNone/>
            </a:pPr>
            <a:r>
              <a:rPr lang="en-US" sz="2400" dirty="0" smtClean="0"/>
              <a:t>	</a:t>
            </a:r>
            <a:r>
              <a:rPr lang="en-US" sz="2400" u="sng" dirty="0" smtClean="0"/>
              <a:t>Meaning</a:t>
            </a:r>
            <a:r>
              <a:rPr lang="en-US" sz="2400" dirty="0" smtClean="0"/>
              <a:t>: print the value of variable &lt;variable-name&gt; to the user </a:t>
            </a:r>
          </a:p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&lt;&lt; </a:t>
            </a:r>
            <a:r>
              <a:rPr lang="en-US" sz="2400" dirty="0" smtClean="0"/>
              <a:t>: Is called the </a:t>
            </a:r>
            <a:r>
              <a:rPr lang="en-US" sz="2400" b="1" dirty="0" smtClean="0">
                <a:solidFill>
                  <a:schemeClr val="tx2"/>
                </a:solidFill>
              </a:rPr>
              <a:t>insertion</a:t>
            </a:r>
            <a:r>
              <a:rPr lang="en-US" sz="2400" dirty="0" smtClean="0"/>
              <a:t> or </a:t>
            </a:r>
            <a:r>
              <a:rPr lang="en-US" sz="2400" b="1" dirty="0" smtClean="0">
                <a:solidFill>
                  <a:schemeClr val="tx2"/>
                </a:solidFill>
              </a:rPr>
              <a:t>put to operator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It inserts the contents to the variable on its right to  the object on its left.</a:t>
            </a:r>
          </a:p>
          <a:p>
            <a:pPr algn="just" eaLnBrk="1" hangingPunct="1">
              <a:buFontTx/>
              <a:buNone/>
            </a:pP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“any message “;</a:t>
            </a:r>
          </a:p>
          <a:p>
            <a:pPr algn="just" eaLnBrk="1" hangingPunct="1">
              <a:buFontTx/>
              <a:buNone/>
            </a:pPr>
            <a:r>
              <a:rPr lang="en-US" sz="2400" dirty="0" smtClean="0"/>
              <a:t>	</a:t>
            </a:r>
            <a:r>
              <a:rPr lang="en-US" sz="2400" u="sng" dirty="0" smtClean="0"/>
              <a:t>Meaning</a:t>
            </a:r>
            <a:r>
              <a:rPr lang="en-US" sz="2400" dirty="0" smtClean="0"/>
              <a:t>: print the message within quotes to the user</a:t>
            </a:r>
          </a:p>
          <a:p>
            <a:pPr algn="just" eaLnBrk="1" hangingPunct="1">
              <a:buFontTx/>
              <a:buNone/>
            </a:pP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</a:t>
            </a:r>
            <a:r>
              <a:rPr lang="en-US" sz="2400" dirty="0" err="1" smtClean="0">
                <a:solidFill>
                  <a:srgbClr val="FF0000"/>
                </a:solidFill>
              </a:rPr>
              <a:t>endl</a:t>
            </a:r>
            <a:r>
              <a:rPr lang="en-US" sz="2400" dirty="0" smtClean="0">
                <a:solidFill>
                  <a:srgbClr val="FF0000"/>
                </a:solidFill>
              </a:rPr>
              <a:t>;</a:t>
            </a:r>
            <a:r>
              <a:rPr lang="en-US" sz="2400" dirty="0" smtClean="0"/>
              <a:t>   </a:t>
            </a:r>
            <a:r>
              <a:rPr lang="en-US" sz="2400" u="sng" dirty="0" smtClean="0"/>
              <a:t>Meaning</a:t>
            </a:r>
            <a:r>
              <a:rPr lang="en-US" sz="2400" dirty="0" smtClean="0"/>
              <a:t>: print a new line</a:t>
            </a:r>
          </a:p>
          <a:p>
            <a:pPr algn="just" eaLnBrk="1" hangingPunct="1">
              <a:buFontTx/>
              <a:buNone/>
            </a:pPr>
            <a:r>
              <a:rPr lang="en-US" sz="2400" dirty="0" smtClean="0"/>
              <a:t>Example:</a:t>
            </a:r>
          </a:p>
          <a:p>
            <a:pPr algn="just" eaLnBrk="1" hangingPunct="1">
              <a:buFontTx/>
              <a:buNone/>
            </a:pPr>
            <a:r>
              <a:rPr lang="en-US" sz="2400" dirty="0" smtClean="0"/>
              <a:t>	</a:t>
            </a: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a; </a:t>
            </a:r>
          </a:p>
          <a:p>
            <a:pPr algn="just" eaLnBrk="1" hangingPunct="1"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	</a:t>
            </a: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b &lt;&lt; c;</a:t>
            </a:r>
          </a:p>
          <a:p>
            <a:pPr algn="just" eaLnBrk="1" hangingPunct="1"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	</a:t>
            </a:r>
            <a:r>
              <a:rPr lang="en-US" sz="2400" dirty="0" err="1" smtClean="0">
                <a:solidFill>
                  <a:srgbClr val="FF0000"/>
                </a:solidFill>
              </a:rPr>
              <a:t>cout</a:t>
            </a:r>
            <a:r>
              <a:rPr lang="en-US" sz="2400" dirty="0" smtClean="0">
                <a:solidFill>
                  <a:srgbClr val="FF0000"/>
                </a:solidFill>
              </a:rPr>
              <a:t> &lt;&lt; “This is my character: “ &lt;&lt; my-character &lt;&lt; “ end ” &lt;&lt; </a:t>
            </a:r>
            <a:r>
              <a:rPr lang="en-US" sz="2400" dirty="0" err="1" smtClean="0">
                <a:solidFill>
                  <a:srgbClr val="FF0000"/>
                </a:solidFill>
              </a:rPr>
              <a:t>endl</a:t>
            </a:r>
            <a:r>
              <a:rPr lang="en-US" sz="2400" dirty="0" smtClean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C++ </a:t>
            </a:r>
            <a:r>
              <a:rPr lang="en-US" b="1" dirty="0" err="1" smtClean="0"/>
              <a:t>iostream</a:t>
            </a:r>
            <a:r>
              <a:rPr lang="en-US" b="1" dirty="0" smtClean="0"/>
              <a:t> File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953000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en-US" dirty="0" smtClean="0">
                <a:solidFill>
                  <a:schemeClr val="tx2"/>
                </a:solidFill>
              </a:rPr>
              <a:t>#include &lt;</a:t>
            </a:r>
            <a:r>
              <a:rPr lang="en-US" dirty="0" err="1" smtClean="0">
                <a:solidFill>
                  <a:schemeClr val="tx2"/>
                </a:solidFill>
              </a:rPr>
              <a:t>iostream</a:t>
            </a:r>
            <a:r>
              <a:rPr lang="en-US" dirty="0" smtClean="0">
                <a:solidFill>
                  <a:schemeClr val="tx2"/>
                </a:solidFill>
              </a:rPr>
              <a:t>&gt; </a:t>
            </a:r>
          </a:p>
          <a:p>
            <a:pPr lvl="0" algn="just"/>
            <a:r>
              <a:rPr lang="en-US" dirty="0" smtClean="0"/>
              <a:t>This directive causes the preprocessor to add the  contents of the </a:t>
            </a:r>
            <a:r>
              <a:rPr lang="en-US" dirty="0" err="1" smtClean="0">
                <a:solidFill>
                  <a:schemeClr val="tx2"/>
                </a:solidFill>
              </a:rPr>
              <a:t>iostream</a:t>
            </a:r>
            <a:r>
              <a:rPr lang="en-US" dirty="0" smtClean="0"/>
              <a:t> file to the program. </a:t>
            </a:r>
          </a:p>
          <a:p>
            <a:pPr lvl="0" algn="just"/>
            <a:r>
              <a:rPr lang="en-US" dirty="0" smtClean="0"/>
              <a:t>It contains declarations for the identifier </a:t>
            </a:r>
            <a:r>
              <a:rPr lang="en-US" dirty="0" err="1" smtClean="0">
                <a:solidFill>
                  <a:schemeClr val="tx2"/>
                </a:solidFill>
              </a:rPr>
              <a:t>cout</a:t>
            </a:r>
            <a:r>
              <a:rPr lang="en-US" dirty="0" smtClean="0"/>
              <a:t> and the  operator </a:t>
            </a:r>
            <a:r>
              <a:rPr lang="en-US" dirty="0" smtClean="0">
                <a:solidFill>
                  <a:schemeClr val="tx2"/>
                </a:solidFill>
              </a:rPr>
              <a:t>&lt;&lt;. </a:t>
            </a:r>
          </a:p>
          <a:p>
            <a:pPr lvl="0" algn="just"/>
            <a:r>
              <a:rPr lang="en-US" dirty="0" smtClean="0"/>
              <a:t>The header file </a:t>
            </a:r>
            <a:r>
              <a:rPr lang="en-US" dirty="0" err="1" smtClean="0">
                <a:solidFill>
                  <a:schemeClr val="tx2"/>
                </a:solidFill>
              </a:rPr>
              <a:t>iostream</a:t>
            </a:r>
            <a:r>
              <a:rPr lang="en-US" dirty="0" smtClean="0"/>
              <a:t> should be included at the  beginning of all programs that use input/output  statements. </a:t>
            </a:r>
          </a:p>
          <a:p>
            <a:pPr lvl="0" algn="just"/>
            <a:r>
              <a:rPr lang="en-US" dirty="0" smtClean="0"/>
              <a:t>The header files with .h extension are ”old style” files  which should be used with old compilers. </a:t>
            </a:r>
            <a:r>
              <a:rPr lang="en-US" dirty="0" smtClean="0">
                <a:solidFill>
                  <a:schemeClr val="tx2"/>
                </a:solidFill>
              </a:rPr>
              <a:t>&lt;</a:t>
            </a:r>
            <a:r>
              <a:rPr lang="en-US" dirty="0" err="1" smtClean="0">
                <a:solidFill>
                  <a:schemeClr val="tx2"/>
                </a:solidFill>
              </a:rPr>
              <a:t>iostream.h</a:t>
            </a:r>
            <a:r>
              <a:rPr lang="en-US" dirty="0" smtClean="0">
                <a:solidFill>
                  <a:schemeClr val="tx2"/>
                </a:solidFill>
              </a:rPr>
              <a:t>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Return type of main()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 smtClean="0"/>
              <a:t>In C++ </a:t>
            </a:r>
            <a:r>
              <a:rPr lang="en-US" dirty="0" smtClean="0">
                <a:solidFill>
                  <a:srgbClr val="FF0000"/>
                </a:solidFill>
              </a:rPr>
              <a:t>main() </a:t>
            </a:r>
            <a:r>
              <a:rPr lang="en-US" dirty="0" smtClean="0"/>
              <a:t>returns an integer type value to the  operating system. </a:t>
            </a:r>
          </a:p>
          <a:p>
            <a:pPr lvl="0"/>
            <a:r>
              <a:rPr lang="en-US" dirty="0" smtClean="0"/>
              <a:t>Therefore every </a:t>
            </a:r>
            <a:r>
              <a:rPr lang="en-US" dirty="0" smtClean="0">
                <a:solidFill>
                  <a:srgbClr val="FF0000"/>
                </a:solidFill>
              </a:rPr>
              <a:t>main() in C++ should end with a  return 0;</a:t>
            </a:r>
            <a:r>
              <a:rPr lang="en-US" dirty="0" smtClean="0"/>
              <a:t> statement otherwise a warning or an error  might occur. </a:t>
            </a:r>
          </a:p>
          <a:p>
            <a:pPr lvl="0"/>
            <a:r>
              <a:rPr lang="en-US" dirty="0" smtClean="0"/>
              <a:t>Since main() returns an integer type value, </a:t>
            </a:r>
            <a:r>
              <a:rPr lang="en-US" dirty="0" smtClean="0">
                <a:solidFill>
                  <a:srgbClr val="FF0000"/>
                </a:solidFill>
              </a:rPr>
              <a:t>return  type for main() is explicitly specified as int</a:t>
            </a:r>
            <a:r>
              <a:rPr lang="en-US" dirty="0" smtClean="0"/>
              <a:t>. </a:t>
            </a:r>
          </a:p>
          <a:p>
            <a:pPr lvl="0"/>
            <a:r>
              <a:rPr lang="en-US" dirty="0" smtClean="0"/>
              <a:t>Note that the </a:t>
            </a:r>
            <a:r>
              <a:rPr lang="en-US" dirty="0" smtClean="0">
                <a:solidFill>
                  <a:srgbClr val="FF0000"/>
                </a:solidFill>
              </a:rPr>
              <a:t>default return type for all functions in  C++ is int</a:t>
            </a:r>
            <a:r>
              <a:rPr lang="en-US" dirty="0" smtClean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317105" cy="639762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/>
              <a:t>Difference b/w C and C++</a:t>
            </a:r>
            <a:endParaRPr lang="en-US" b="1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ph/>
          </p:nvPr>
        </p:nvGraphicFramePr>
        <p:xfrm>
          <a:off x="1027777" y="990600"/>
          <a:ext cx="7660095" cy="509343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35919"/>
                <a:gridCol w="3524176"/>
              </a:tblGrid>
              <a:tr h="381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  Language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C++  Language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4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Procedural Programming Language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Object Oriented Programming Language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439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sng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Headerfile :</a:t>
                      </a: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   #include&lt;stdio.h&gt; 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#include&lt;iostream.h&gt;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381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“\n” is used to go to the next line 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we can use endl statement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674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Local variables declared only the start of a C program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It can be declared anywhere in a program, before they are used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381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Return type for a function is optional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Return type must be specified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381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 not permit data Hiding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They permit data hiding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381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Bydefault structure members are public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class members are private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  <a:tr h="9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We can call a main() function within a program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This is not allowed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98" marR="68598" horzOverflow="overflow"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2230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cs typeface="Times New Roman"/>
              </a:rPr>
              <a:t>Tokens(1/4)</a:t>
            </a:r>
            <a:endParaRPr sz="3600" b="1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288" y="1451305"/>
            <a:ext cx="8069580" cy="4211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  <a:tab pos="1002030" algn="l"/>
                <a:tab pos="2169160" algn="l"/>
                <a:tab pos="3574415" algn="l"/>
                <a:tab pos="4338320" algn="l"/>
                <a:tab pos="4748530" algn="l"/>
                <a:tab pos="5054600" algn="l"/>
                <a:tab pos="6259195" algn="l"/>
                <a:tab pos="6802755" algn="l"/>
                <a:tab pos="7804150" algn="l"/>
              </a:tabLst>
            </a:pPr>
            <a:r>
              <a:rPr sz="2800" dirty="0">
                <a:cs typeface="Times New Roman"/>
              </a:rPr>
              <a:t>The</a:t>
            </a:r>
            <a:r>
              <a:rPr sz="2800">
                <a:cs typeface="Times New Roman"/>
              </a:rPr>
              <a:t>	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s</a:t>
            </a:r>
            <a:r>
              <a:rPr sz="2800" spc="-20" smtClean="0">
                <a:solidFill>
                  <a:srgbClr val="FF0000"/>
                </a:solidFill>
                <a:cs typeface="Times New Roman"/>
              </a:rPr>
              <a:t>m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a</a:t>
            </a:r>
            <a:r>
              <a:rPr sz="2800" spc="5" smtClean="0">
                <a:solidFill>
                  <a:srgbClr val="FF0000"/>
                </a:solidFill>
                <a:cs typeface="Times New Roman"/>
              </a:rPr>
              <a:t>l</a:t>
            </a:r>
            <a:r>
              <a:rPr sz="2800" spc="-10" smtClean="0">
                <a:solidFill>
                  <a:srgbClr val="FF0000"/>
                </a:solidFill>
                <a:cs typeface="Times New Roman"/>
              </a:rPr>
              <a:t>l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est</a:t>
            </a:r>
            <a:r>
              <a:rPr lang="en-US" sz="2800" dirty="0" smtClean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individu</a:t>
            </a:r>
            <a:r>
              <a:rPr sz="2800" spc="-15" smtClean="0">
                <a:solidFill>
                  <a:srgbClr val="FF0000"/>
                </a:solidFill>
                <a:cs typeface="Times New Roman"/>
              </a:rPr>
              <a:t>a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l</a:t>
            </a:r>
            <a:r>
              <a:rPr lang="en-US" sz="2800" dirty="0" smtClean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mtClean="0">
                <a:solidFill>
                  <a:srgbClr val="FF0000"/>
                </a:solidFill>
                <a:cs typeface="Times New Roman"/>
              </a:rPr>
              <a:t>units</a:t>
            </a:r>
            <a:r>
              <a:rPr lang="en-US" sz="2800" dirty="0" smtClean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mtClean="0">
                <a:cs typeface="Times New Roman"/>
              </a:rPr>
              <a:t>in</a:t>
            </a:r>
            <a:r>
              <a:rPr lang="en-US" sz="2800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a</a:t>
            </a:r>
            <a:r>
              <a:rPr lang="en-US" sz="2800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program</a:t>
            </a:r>
            <a:r>
              <a:rPr lang="en-US" sz="2800" dirty="0" smtClean="0">
                <a:cs typeface="Times New Roman"/>
              </a:rPr>
              <a:t> </a:t>
            </a:r>
            <a:r>
              <a:rPr sz="2800" spc="-10" smtClean="0">
                <a:cs typeface="Times New Roman"/>
              </a:rPr>
              <a:t>a</a:t>
            </a:r>
            <a:r>
              <a:rPr sz="2800" smtClean="0">
                <a:cs typeface="Times New Roman"/>
              </a:rPr>
              <a:t>re</a:t>
            </a:r>
            <a:r>
              <a:rPr sz="2800">
                <a:cs typeface="Times New Roman"/>
              </a:rPr>
              <a:t>	</a:t>
            </a:r>
            <a:r>
              <a:rPr sz="2800" smtClean="0">
                <a:cs typeface="Times New Roman"/>
              </a:rPr>
              <a:t>known</a:t>
            </a:r>
            <a:r>
              <a:rPr lang="en-US" sz="2800" dirty="0" smtClean="0">
                <a:cs typeface="Times New Roman"/>
              </a:rPr>
              <a:t> </a:t>
            </a:r>
            <a:r>
              <a:rPr sz="2800" spc="-10" smtClean="0">
                <a:cs typeface="Times New Roman"/>
              </a:rPr>
              <a:t>as</a:t>
            </a:r>
            <a:r>
              <a:rPr lang="en-US" sz="2800" spc="-10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tokens</a:t>
            </a:r>
            <a:r>
              <a:rPr sz="2800" dirty="0">
                <a:cs typeface="Times New Roman"/>
              </a:rPr>
              <a:t>.</a:t>
            </a:r>
            <a:endParaRPr sz="2800"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endParaRPr sz="2800">
              <a:cs typeface="Times New Roman"/>
            </a:endParaRPr>
          </a:p>
          <a:p>
            <a:pPr marL="355600" indent="-343535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cs typeface="Times New Roman"/>
              </a:rPr>
              <a:t>C++ </a:t>
            </a:r>
            <a:r>
              <a:rPr sz="2800" spc="-5" dirty="0">
                <a:cs typeface="Times New Roman"/>
              </a:rPr>
              <a:t>has </a:t>
            </a:r>
            <a:r>
              <a:rPr sz="2800" dirty="0">
                <a:cs typeface="Times New Roman"/>
              </a:rPr>
              <a:t>the following</a:t>
            </a:r>
            <a:r>
              <a:rPr sz="2800" spc="-5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tokens: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9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spc="5" dirty="0">
                <a:cs typeface="Times New Roman"/>
              </a:rPr>
              <a:t>Keywords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Identifiers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Constants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Strings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operators</a:t>
            </a:r>
            <a:endParaRPr sz="280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27228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cs typeface="Times New Roman"/>
              </a:rPr>
              <a:t>Tokens(2/4)</a:t>
            </a:r>
            <a:endParaRPr sz="4400" b="1">
              <a:cs typeface="Times New Roman"/>
            </a:endParaRPr>
          </a:p>
        </p:txBody>
      </p:sp>
      <p:graphicFrame>
        <p:nvGraphicFramePr>
          <p:cNvPr id="8" name="object 2"/>
          <p:cNvGraphicFramePr>
            <a:graphicFrameLocks noGrp="1"/>
          </p:cNvGraphicFramePr>
          <p:nvPr/>
        </p:nvGraphicFramePr>
        <p:xfrm>
          <a:off x="838200" y="1219200"/>
          <a:ext cx="7086600" cy="5032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/>
                <a:gridCol w="1771650"/>
                <a:gridCol w="1771650"/>
                <a:gridCol w="1771650"/>
              </a:tblGrid>
              <a:tr h="264254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asm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D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double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D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new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D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switch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D6"/>
                    </a:solidFill>
                  </a:tcPr>
                </a:tc>
              </a:tr>
              <a:tr h="264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auto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template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enum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private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this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1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case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extern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protected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throw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catch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float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public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char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register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typedef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1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class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friend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return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const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goto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short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unsigned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continue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if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signed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virtual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default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inline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sizeof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void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delete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int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static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volatile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long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struct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5" dirty="0">
                          <a:latin typeface="Arial"/>
                          <a:cs typeface="Arial"/>
                        </a:rPr>
                        <a:t>while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64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bool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export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reinterpret_cast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typename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642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const_cast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static_cast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using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51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dynamic_cast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mutable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wchar_t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251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explicit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namespace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typeid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27228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cs typeface="Times New Roman"/>
              </a:rPr>
              <a:t>Tokens(3/4)</a:t>
            </a:r>
            <a:endParaRPr sz="4400" b="1"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80413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solidFill>
                  <a:srgbClr val="FF0000"/>
                </a:solidFill>
              </a:rPr>
              <a:t>Identifiers </a:t>
            </a:r>
            <a:r>
              <a:rPr sz="2800" spc="-5" dirty="0">
                <a:solidFill>
                  <a:srgbClr val="FF0000"/>
                </a:solidFill>
              </a:rPr>
              <a:t>and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constants:</a:t>
            </a:r>
          </a:p>
          <a:p>
            <a:pPr marL="757555" marR="5080" indent="-287020" algn="just">
              <a:lnSpc>
                <a:spcPct val="100000"/>
              </a:lnSpc>
              <a:spcBef>
                <a:spcPts val="540"/>
              </a:spcBef>
              <a:tabLst>
                <a:tab pos="757555" algn="l"/>
                <a:tab pos="2052955" algn="l"/>
                <a:tab pos="2729865" algn="l"/>
                <a:tab pos="3095625" algn="l"/>
                <a:tab pos="3585210" algn="l"/>
                <a:tab pos="4444365" algn="l"/>
                <a:tab pos="4826000" algn="l"/>
                <a:tab pos="6052820" algn="l"/>
                <a:tab pos="7312025" algn="l"/>
              </a:tabLst>
            </a:pPr>
            <a:r>
              <a:rPr sz="2800" b="0" spc="-5" smtClean="0">
                <a:cs typeface="Times New Roman"/>
              </a:rPr>
              <a:t>Identifiers</a:t>
            </a:r>
            <a:r>
              <a:rPr lang="en-US" sz="2800" spc="-5" dirty="0" smtClean="0">
                <a:cs typeface="Times New Roman"/>
              </a:rPr>
              <a:t> </a:t>
            </a:r>
            <a:r>
              <a:rPr sz="2800" b="0" spc="5" smtClean="0">
                <a:cs typeface="Times New Roman"/>
              </a:rPr>
              <a:t>r</a:t>
            </a:r>
            <a:r>
              <a:rPr sz="2800" b="0" smtClean="0">
                <a:cs typeface="Times New Roman"/>
              </a:rPr>
              <a:t>e</a:t>
            </a:r>
            <a:r>
              <a:rPr sz="2800" b="0" spc="-5" smtClean="0">
                <a:cs typeface="Times New Roman"/>
              </a:rPr>
              <a:t>fer</a:t>
            </a:r>
            <a:r>
              <a:rPr sz="2800" b="0">
                <a:cs typeface="Times New Roman"/>
              </a:rPr>
              <a:t>	</a:t>
            </a:r>
            <a:r>
              <a:rPr sz="2800" b="0" spc="-5" smtClean="0">
                <a:cs typeface="Times New Roman"/>
              </a:rPr>
              <a:t>to</a:t>
            </a:r>
            <a:r>
              <a:rPr lang="en-US" sz="280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the</a:t>
            </a:r>
            <a:r>
              <a:rPr lang="en-US" sz="2800" b="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n</a:t>
            </a:r>
            <a:r>
              <a:rPr sz="2800" b="0" spc="5" smtClean="0">
                <a:cs typeface="Times New Roman"/>
              </a:rPr>
              <a:t>a</a:t>
            </a:r>
            <a:r>
              <a:rPr sz="2800" b="0" spc="-25" smtClean="0">
                <a:cs typeface="Times New Roman"/>
              </a:rPr>
              <a:t>m</a:t>
            </a:r>
            <a:r>
              <a:rPr sz="2800" b="0" spc="-5" smtClean="0">
                <a:cs typeface="Times New Roman"/>
              </a:rPr>
              <a:t>es</a:t>
            </a:r>
            <a:r>
              <a:rPr lang="en-US" sz="2800" spc="-5" dirty="0" smtClean="0">
                <a:cs typeface="Times New Roman"/>
              </a:rPr>
              <a:t> </a:t>
            </a:r>
            <a:r>
              <a:rPr sz="2800" b="0" smtClean="0">
                <a:cs typeface="Times New Roman"/>
              </a:rPr>
              <a:t>o</a:t>
            </a:r>
            <a:r>
              <a:rPr sz="2800" b="0" spc="-5" smtClean="0">
                <a:cs typeface="Times New Roman"/>
              </a:rPr>
              <a:t>f</a:t>
            </a:r>
            <a:r>
              <a:rPr lang="en-US" sz="280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var</a:t>
            </a:r>
            <a:r>
              <a:rPr sz="2800" b="0" spc="10" smtClean="0">
                <a:cs typeface="Times New Roman"/>
              </a:rPr>
              <a:t>i</a:t>
            </a:r>
            <a:r>
              <a:rPr sz="2800" b="0" spc="-5" smtClean="0">
                <a:cs typeface="Times New Roman"/>
              </a:rPr>
              <a:t>ables,</a:t>
            </a:r>
            <a:r>
              <a:rPr lang="en-US" sz="2800" b="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functi</a:t>
            </a:r>
            <a:r>
              <a:rPr sz="2800" b="0" smtClean="0">
                <a:cs typeface="Times New Roman"/>
              </a:rPr>
              <a:t>o</a:t>
            </a:r>
            <a:r>
              <a:rPr sz="2800" b="0" spc="-5" smtClean="0">
                <a:cs typeface="Times New Roman"/>
              </a:rPr>
              <a:t>ns,</a:t>
            </a:r>
            <a:r>
              <a:rPr lang="en-US" sz="2800" b="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array</a:t>
            </a:r>
            <a:r>
              <a:rPr sz="2800" b="0" spc="-20" smtClean="0">
                <a:cs typeface="Times New Roman"/>
              </a:rPr>
              <a:t>s</a:t>
            </a:r>
            <a:r>
              <a:rPr sz="2800" b="0" spc="-5" smtClean="0">
                <a:cs typeface="Times New Roman"/>
              </a:rPr>
              <a:t>,</a:t>
            </a:r>
            <a:r>
              <a:rPr lang="en-US" sz="2800" b="0" spc="-5" dirty="0" smtClean="0">
                <a:cs typeface="Times New Roman"/>
              </a:rPr>
              <a:t> </a:t>
            </a:r>
            <a:r>
              <a:rPr sz="2800" b="0" spc="-5" smtClean="0">
                <a:cs typeface="Times New Roman"/>
              </a:rPr>
              <a:t>classes created</a:t>
            </a:r>
            <a:r>
              <a:rPr lang="en-US" sz="2800" b="0" spc="-5" dirty="0" smtClean="0">
                <a:cs typeface="Times New Roman"/>
              </a:rPr>
              <a:t> </a:t>
            </a:r>
            <a:r>
              <a:rPr sz="2800" b="0" smtClean="0">
                <a:cs typeface="Times New Roman"/>
              </a:rPr>
              <a:t>by </a:t>
            </a:r>
            <a:r>
              <a:rPr sz="2800" b="0" spc="-5" dirty="0">
                <a:cs typeface="Times New Roman"/>
              </a:rPr>
              <a:t>the </a:t>
            </a:r>
            <a:r>
              <a:rPr sz="2800" b="0" spc="-20" dirty="0">
                <a:cs typeface="Times New Roman"/>
              </a:rPr>
              <a:t>programmer.</a:t>
            </a:r>
            <a:endParaRPr sz="2800">
              <a:cs typeface="Times New Roman"/>
            </a:endParaRPr>
          </a:p>
          <a:p>
            <a:pPr marL="13970" algn="just">
              <a:lnSpc>
                <a:spcPct val="100000"/>
              </a:lnSpc>
              <a:buNone/>
            </a:pPr>
            <a:r>
              <a:rPr sz="2800" spc="-5" smtClean="0">
                <a:solidFill>
                  <a:srgbClr val="FF0000"/>
                </a:solidFill>
              </a:rPr>
              <a:t>Rules </a:t>
            </a:r>
            <a:r>
              <a:rPr sz="2800" dirty="0">
                <a:solidFill>
                  <a:srgbClr val="FF0000"/>
                </a:solidFill>
              </a:rPr>
              <a:t>for</a:t>
            </a:r>
            <a:r>
              <a:rPr sz="2800" spc="-7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identifiers</a:t>
            </a:r>
            <a:endParaRPr sz="2800">
              <a:solidFill>
                <a:srgbClr val="FF0000"/>
              </a:solidFill>
            </a:endParaRPr>
          </a:p>
          <a:p>
            <a:pPr marL="356870" indent="-342900" algn="just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2800" b="0" spc="-5" dirty="0">
                <a:cs typeface="Times New Roman"/>
              </a:rPr>
              <a:t>Only alphabetic characters, digits and underscores are</a:t>
            </a:r>
            <a:r>
              <a:rPr sz="2800" b="0" spc="95" dirty="0">
                <a:cs typeface="Times New Roman"/>
              </a:rPr>
              <a:t> </a:t>
            </a:r>
            <a:r>
              <a:rPr sz="2800" b="0" spc="-5" dirty="0">
                <a:cs typeface="Times New Roman"/>
              </a:rPr>
              <a:t>permitted.</a:t>
            </a:r>
            <a:endParaRPr sz="2800">
              <a:cs typeface="Times New Roman"/>
            </a:endParaRPr>
          </a:p>
          <a:p>
            <a:pPr marL="356870" indent="-342900" algn="just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2800" b="0" spc="-5" dirty="0">
                <a:cs typeface="Times New Roman"/>
              </a:rPr>
              <a:t>The </a:t>
            </a:r>
            <a:r>
              <a:rPr sz="2800" b="0" spc="-10" dirty="0">
                <a:cs typeface="Times New Roman"/>
              </a:rPr>
              <a:t>name </a:t>
            </a:r>
            <a:r>
              <a:rPr sz="2800" b="0" spc="-5" dirty="0">
                <a:cs typeface="Times New Roman"/>
              </a:rPr>
              <a:t>cannot start with</a:t>
            </a:r>
            <a:r>
              <a:rPr sz="2800" b="0" spc="50" dirty="0">
                <a:cs typeface="Times New Roman"/>
              </a:rPr>
              <a:t> </a:t>
            </a:r>
            <a:r>
              <a:rPr sz="2800" b="0" spc="-5" dirty="0">
                <a:cs typeface="Times New Roman"/>
              </a:rPr>
              <a:t>digit</a:t>
            </a:r>
            <a:endParaRPr sz="2800">
              <a:cs typeface="Times New Roman"/>
            </a:endParaRPr>
          </a:p>
          <a:p>
            <a:pPr marL="356870" indent="-342900" algn="just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2800" b="0" spc="-5" dirty="0">
                <a:cs typeface="Times New Roman"/>
              </a:rPr>
              <a:t>Uppercase and lowercase letters are</a:t>
            </a:r>
            <a:r>
              <a:rPr sz="2800" b="0" spc="40" dirty="0">
                <a:cs typeface="Times New Roman"/>
              </a:rPr>
              <a:t> </a:t>
            </a:r>
            <a:r>
              <a:rPr sz="2800" b="0" spc="-5" dirty="0">
                <a:cs typeface="Times New Roman"/>
              </a:rPr>
              <a:t>distinct.</a:t>
            </a:r>
            <a:endParaRPr sz="2800">
              <a:cs typeface="Times New Roman"/>
            </a:endParaRPr>
          </a:p>
          <a:p>
            <a:pPr marL="356870" indent="-342900" algn="just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2800" b="0" spc="-5" dirty="0">
                <a:cs typeface="Times New Roman"/>
              </a:rPr>
              <a:t>Keywords cannot </a:t>
            </a:r>
            <a:r>
              <a:rPr sz="2800" b="0" dirty="0">
                <a:cs typeface="Times New Roman"/>
              </a:rPr>
              <a:t>be</a:t>
            </a:r>
            <a:r>
              <a:rPr sz="2800" b="0" spc="-25" dirty="0">
                <a:cs typeface="Times New Roman"/>
              </a:rPr>
              <a:t> </a:t>
            </a:r>
            <a:r>
              <a:rPr sz="2800" b="0" spc="-5" dirty="0">
                <a:cs typeface="Times New Roman"/>
              </a:rPr>
              <a:t>used.</a:t>
            </a:r>
            <a:endParaRPr sz="280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272351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15" dirty="0">
                <a:cs typeface="Times New Roman"/>
              </a:rPr>
              <a:t>T</a:t>
            </a:r>
            <a:r>
              <a:rPr sz="4400" b="1" dirty="0">
                <a:cs typeface="Times New Roman"/>
              </a:rPr>
              <a:t>o</a:t>
            </a:r>
            <a:r>
              <a:rPr sz="4400" b="1" spc="10" dirty="0">
                <a:cs typeface="Times New Roman"/>
              </a:rPr>
              <a:t>k</a:t>
            </a:r>
            <a:r>
              <a:rPr sz="4400" b="1" dirty="0">
                <a:cs typeface="Times New Roman"/>
              </a:rPr>
              <a:t>ens(</a:t>
            </a:r>
            <a:r>
              <a:rPr sz="4400" b="1" spc="10" dirty="0">
                <a:cs typeface="Times New Roman"/>
              </a:rPr>
              <a:t>4</a:t>
            </a:r>
            <a:r>
              <a:rPr sz="4400" b="1" dirty="0">
                <a:cs typeface="Times New Roman"/>
              </a:rPr>
              <a:t>/4)</a:t>
            </a:r>
            <a:endParaRPr sz="4400" b="1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288" y="1378153"/>
            <a:ext cx="7544434" cy="18004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cs typeface="Times New Roman"/>
              </a:rPr>
              <a:t>Constants:</a:t>
            </a:r>
            <a:endParaRPr sz="2000">
              <a:cs typeface="Times New Roman"/>
            </a:endParaRPr>
          </a:p>
          <a:p>
            <a:pPr marL="756285" marR="5080" indent="-287020">
              <a:lnSpc>
                <a:spcPct val="80000"/>
              </a:lnSpc>
              <a:spcBef>
                <a:spcPts val="45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cs typeface="Times New Roman"/>
              </a:rPr>
              <a:t>Constants refer to fixed values that </a:t>
            </a:r>
            <a:r>
              <a:rPr sz="2000" spc="-50" dirty="0">
                <a:cs typeface="Times New Roman"/>
              </a:rPr>
              <a:t>don‟t </a:t>
            </a:r>
            <a:r>
              <a:rPr sz="2000" dirty="0">
                <a:cs typeface="Times New Roman"/>
              </a:rPr>
              <a:t>change during the execution of</a:t>
            </a:r>
            <a:r>
              <a:rPr sz="2000" spc="-9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  </a:t>
            </a:r>
            <a:r>
              <a:rPr sz="2000" spc="-5" dirty="0">
                <a:cs typeface="Times New Roman"/>
              </a:rPr>
              <a:t>program.</a:t>
            </a:r>
            <a:endParaRPr sz="2000">
              <a:cs typeface="Times New Roman"/>
            </a:endParaRPr>
          </a:p>
          <a:p>
            <a:pPr marL="756285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cs typeface="Times New Roman"/>
              </a:rPr>
              <a:t>C++ supports several kinds of literal</a:t>
            </a:r>
            <a:r>
              <a:rPr sz="2000" spc="-7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constants</a:t>
            </a:r>
            <a:endParaRPr sz="2000">
              <a:cs typeface="Times New Roman"/>
            </a:endParaRPr>
          </a:p>
          <a:p>
            <a:pPr marL="756285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cs typeface="Times New Roman"/>
              </a:rPr>
              <a:t>They include integers, characters, floating point </a:t>
            </a:r>
            <a:r>
              <a:rPr sz="2000" spc="-5" dirty="0">
                <a:cs typeface="Times New Roman"/>
              </a:rPr>
              <a:t>numbers </a:t>
            </a:r>
            <a:r>
              <a:rPr sz="2000" dirty="0">
                <a:cs typeface="Times New Roman"/>
              </a:rPr>
              <a:t>and</a:t>
            </a:r>
            <a:r>
              <a:rPr sz="2000" spc="-9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strings.</a:t>
            </a:r>
            <a:endParaRPr sz="200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3062427"/>
            <a:ext cx="1515745" cy="1978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dirty="0">
                <a:latin typeface="Times New Roman"/>
                <a:cs typeface="Times New Roman"/>
              </a:rPr>
              <a:t>Ex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mpl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s: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Times New Roman"/>
                <a:cs typeface="Times New Roman"/>
              </a:rPr>
              <a:t>123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12.34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037</a:t>
            </a:r>
            <a:endParaRPr sz="1800">
              <a:latin typeface="Times New Roman"/>
              <a:cs typeface="Times New Roman"/>
            </a:endParaRPr>
          </a:p>
          <a:p>
            <a:pPr marL="469900" marR="42354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0x2  </a:t>
            </a:r>
            <a:r>
              <a:rPr sz="1800" spc="-10" dirty="0">
                <a:latin typeface="Times New Roman"/>
                <a:cs typeface="Times New Roman"/>
              </a:rPr>
              <a:t>“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++</a:t>
            </a:r>
            <a:r>
              <a:rPr sz="1800" dirty="0">
                <a:latin typeface="Times New Roman"/>
                <a:cs typeface="Times New Roman"/>
              </a:rPr>
              <a:t>”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135" dirty="0">
                <a:latin typeface="Times New Roman"/>
                <a:cs typeface="Times New Roman"/>
              </a:rPr>
              <a:t>„a‟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6419" y="3369055"/>
            <a:ext cx="22199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i="1" dirty="0">
                <a:latin typeface="Times New Roman"/>
                <a:cs typeface="Times New Roman"/>
              </a:rPr>
              <a:t>decimal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i="1" dirty="0">
                <a:latin typeface="Times New Roman"/>
                <a:cs typeface="Times New Roman"/>
              </a:rPr>
              <a:t>floating point</a:t>
            </a:r>
            <a:r>
              <a:rPr sz="1800" i="1" spc="-1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i="1" dirty="0">
                <a:latin typeface="Times New Roman"/>
                <a:cs typeface="Times New Roman"/>
              </a:rPr>
              <a:t>octal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i="1" dirty="0">
                <a:latin typeface="Times New Roman"/>
                <a:cs typeface="Times New Roman"/>
              </a:rPr>
              <a:t>hexadecimal</a:t>
            </a:r>
            <a:r>
              <a:rPr sz="1800" i="1" spc="-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//</a:t>
            </a:r>
            <a:r>
              <a:rPr sz="1800" i="1" spc="-5" dirty="0">
                <a:latin typeface="Times New Roman"/>
                <a:cs typeface="Times New Roman"/>
              </a:rPr>
              <a:t>string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 </a:t>
            </a:r>
            <a:r>
              <a:rPr sz="1800" i="1" dirty="0">
                <a:latin typeface="Times New Roman"/>
                <a:cs typeface="Times New Roman"/>
              </a:rPr>
              <a:t>character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constant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288" y="5318505"/>
            <a:ext cx="73742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C++ </a:t>
            </a:r>
            <a:r>
              <a:rPr sz="2000" spc="-5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recognizes </a:t>
            </a:r>
            <a:r>
              <a:rPr sz="2000" spc="-5" dirty="0">
                <a:latin typeface="Times New Roman"/>
                <a:cs typeface="Times New Roman"/>
              </a:rPr>
              <a:t>all </a:t>
            </a:r>
            <a:r>
              <a:rPr sz="2000" dirty="0">
                <a:latin typeface="Times New Roman"/>
                <a:cs typeface="Times New Roman"/>
              </a:rPr>
              <a:t>the backslash character constants </a:t>
            </a:r>
            <a:r>
              <a:rPr sz="2000" spc="-5" dirty="0">
                <a:latin typeface="Times New Roman"/>
                <a:cs typeface="Times New Roman"/>
              </a:rPr>
              <a:t>available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5334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cs typeface="Times New Roman"/>
              </a:rPr>
              <a:t>Basic data</a:t>
            </a:r>
            <a:r>
              <a:rPr b="1" spc="-55" dirty="0">
                <a:cs typeface="Times New Roman"/>
              </a:rPr>
              <a:t> </a:t>
            </a:r>
            <a:r>
              <a:rPr b="1" dirty="0">
                <a:cs typeface="Times New Roman"/>
              </a:rPr>
              <a:t>types(1/3)</a:t>
            </a:r>
            <a:endParaRPr b="1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09600"/>
            <a:ext cx="3883660" cy="592020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b="1" spc="-5" dirty="0">
                <a:cs typeface="Times New Roman"/>
              </a:rPr>
              <a:t>C++ data</a:t>
            </a:r>
            <a:r>
              <a:rPr b="1" spc="-15" dirty="0">
                <a:cs typeface="Times New Roman"/>
              </a:rPr>
              <a:t> </a:t>
            </a:r>
            <a:r>
              <a:rPr b="1" spc="-5" dirty="0">
                <a:cs typeface="Times New Roman"/>
              </a:rPr>
              <a:t>types</a:t>
            </a:r>
            <a:endParaRPr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b="1" spc="-5" dirty="0">
                <a:solidFill>
                  <a:srgbClr val="FF0000"/>
                </a:solidFill>
                <a:cs typeface="Times New Roman"/>
              </a:rPr>
              <a:t>User defined data</a:t>
            </a:r>
            <a:r>
              <a:rPr b="1" spc="-45" dirty="0">
                <a:solidFill>
                  <a:srgbClr val="FF0000"/>
                </a:solidFill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cs typeface="Times New Roman"/>
              </a:rPr>
              <a:t>types</a:t>
            </a:r>
            <a:endParaRPr>
              <a:solidFill>
                <a:srgbClr val="FF0000"/>
              </a:solidFill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Structure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Union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Class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10" dirty="0">
                <a:cs typeface="Times New Roman"/>
              </a:rPr>
              <a:t>Enumerated</a:t>
            </a:r>
            <a:r>
              <a:rPr spc="35" dirty="0">
                <a:cs typeface="Times New Roman"/>
              </a:rPr>
              <a:t> </a:t>
            </a:r>
            <a:r>
              <a:rPr spc="-5" dirty="0">
                <a:cs typeface="Times New Roman"/>
              </a:rPr>
              <a:t>type</a:t>
            </a:r>
            <a:endParaRPr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b="1" spc="-5" dirty="0">
                <a:solidFill>
                  <a:srgbClr val="FF0000"/>
                </a:solidFill>
                <a:cs typeface="Times New Roman"/>
              </a:rPr>
              <a:t>Built-in</a:t>
            </a:r>
            <a:r>
              <a:rPr b="1" spc="15" dirty="0">
                <a:solidFill>
                  <a:srgbClr val="FF0000"/>
                </a:solidFill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cs typeface="Times New Roman"/>
              </a:rPr>
              <a:t>type</a:t>
            </a:r>
            <a:endParaRPr>
              <a:solidFill>
                <a:srgbClr val="FF0000"/>
              </a:solidFill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Integral</a:t>
            </a:r>
            <a:r>
              <a:rPr spc="5" dirty="0">
                <a:cs typeface="Times New Roman"/>
              </a:rPr>
              <a:t> </a:t>
            </a:r>
            <a:r>
              <a:rPr spc="-5" dirty="0">
                <a:cs typeface="Times New Roman"/>
              </a:rPr>
              <a:t>type</a:t>
            </a:r>
            <a:endParaRPr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380"/>
              </a:spcBef>
              <a:buFont typeface="Arial"/>
              <a:buChar char="–"/>
              <a:tabLst>
                <a:tab pos="1613535" algn="l"/>
              </a:tabLst>
            </a:pPr>
            <a:r>
              <a:rPr spc="-5" dirty="0">
                <a:cs typeface="Times New Roman"/>
              </a:rPr>
              <a:t>int</a:t>
            </a:r>
            <a:endParaRPr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1613535" algn="l"/>
              </a:tabLst>
            </a:pPr>
            <a:r>
              <a:rPr spc="-5" dirty="0">
                <a:cs typeface="Times New Roman"/>
              </a:rPr>
              <a:t>char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Floating</a:t>
            </a:r>
            <a:r>
              <a:rPr spc="-10" dirty="0">
                <a:cs typeface="Times New Roman"/>
              </a:rPr>
              <a:t> </a:t>
            </a:r>
            <a:r>
              <a:rPr spc="-5" dirty="0">
                <a:cs typeface="Times New Roman"/>
              </a:rPr>
              <a:t>type</a:t>
            </a:r>
            <a:endParaRPr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1613535" algn="l"/>
              </a:tabLst>
            </a:pPr>
            <a:r>
              <a:rPr spc="-5" dirty="0">
                <a:cs typeface="Times New Roman"/>
              </a:rPr>
              <a:t>float</a:t>
            </a:r>
            <a:endParaRPr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1613535" algn="l"/>
              </a:tabLst>
            </a:pPr>
            <a:r>
              <a:rPr spc="-5" dirty="0">
                <a:cs typeface="Times New Roman"/>
              </a:rPr>
              <a:t>double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void</a:t>
            </a:r>
            <a:endParaRPr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84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b="1" spc="-5" dirty="0">
                <a:solidFill>
                  <a:srgbClr val="FF0000"/>
                </a:solidFill>
                <a:cs typeface="Times New Roman"/>
              </a:rPr>
              <a:t>Derived</a:t>
            </a:r>
            <a:r>
              <a:rPr b="1" spc="-10" dirty="0">
                <a:solidFill>
                  <a:srgbClr val="FF0000"/>
                </a:solidFill>
                <a:cs typeface="Times New Roman"/>
              </a:rPr>
              <a:t> </a:t>
            </a:r>
            <a:r>
              <a:rPr b="1" spc="-5" dirty="0">
                <a:solidFill>
                  <a:srgbClr val="FF0000"/>
                </a:solidFill>
                <a:cs typeface="Times New Roman"/>
              </a:rPr>
              <a:t>type</a:t>
            </a:r>
            <a:endParaRPr>
              <a:solidFill>
                <a:srgbClr val="FF0000"/>
              </a:solidFill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Array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dirty="0">
                <a:cs typeface="Times New Roman"/>
              </a:rPr>
              <a:t>Function</a:t>
            </a:r>
            <a:endParaRPr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pc="-5" smtClean="0">
                <a:cs typeface="Times New Roman"/>
              </a:rPr>
              <a:t>Pointer</a:t>
            </a:r>
            <a:endParaRPr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274" y="152400"/>
            <a:ext cx="438632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b="1" spc="-25" dirty="0"/>
              <a:t>Data</a:t>
            </a:r>
            <a:r>
              <a:rPr b="1" spc="-75" dirty="0"/>
              <a:t> </a:t>
            </a:r>
            <a:r>
              <a:rPr b="1" spc="-25" dirty="0"/>
              <a:t>Types(2/3)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96823"/>
            <a:ext cx="7738745" cy="5218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cs typeface="Times New Roman"/>
              </a:rPr>
              <a:t>ANSI </a:t>
            </a:r>
            <a:r>
              <a:rPr sz="2000" spc="-10" dirty="0">
                <a:cs typeface="Times New Roman"/>
              </a:rPr>
              <a:t>C++ committee </a:t>
            </a:r>
            <a:r>
              <a:rPr sz="2000" spc="-5" dirty="0">
                <a:cs typeface="Times New Roman"/>
              </a:rPr>
              <a:t>has added two </a:t>
            </a:r>
            <a:r>
              <a:rPr sz="2000" spc="-10" dirty="0">
                <a:cs typeface="Times New Roman"/>
              </a:rPr>
              <a:t>more </a:t>
            </a:r>
            <a:r>
              <a:rPr sz="2000" spc="-5" dirty="0">
                <a:cs typeface="Times New Roman"/>
              </a:rPr>
              <a:t>data types,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bool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and</a:t>
            </a:r>
            <a:r>
              <a:rPr sz="2000" spc="150" dirty="0"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wchar_t</a:t>
            </a:r>
            <a:r>
              <a:rPr sz="2000" b="1" spc="-5" dirty="0">
                <a:cs typeface="Times New Roman"/>
              </a:rPr>
              <a:t>.</a:t>
            </a:r>
            <a:endParaRPr sz="2000"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0000"/>
                </a:solidFill>
                <a:cs typeface="Times New Roman"/>
              </a:rPr>
              <a:t>Bool data</a:t>
            </a:r>
            <a:r>
              <a:rPr sz="2000" b="1" spc="-1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type:</a:t>
            </a:r>
            <a:endParaRPr sz="2000">
              <a:solidFill>
                <a:srgbClr val="FF0000"/>
              </a:solidFill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cs typeface="Times New Roman"/>
              </a:rPr>
              <a:t>The variable of </a:t>
            </a:r>
            <a:r>
              <a:rPr sz="2000" dirty="0">
                <a:cs typeface="Times New Roman"/>
              </a:rPr>
              <a:t>type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bool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hold a boolean value,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true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or</a:t>
            </a:r>
            <a:r>
              <a:rPr sz="2000" spc="15" dirty="0"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false</a:t>
            </a:r>
            <a:r>
              <a:rPr sz="2000" b="1" spc="-5" dirty="0">
                <a:cs typeface="Times New Roman"/>
              </a:rPr>
              <a:t>.</a:t>
            </a:r>
            <a:endParaRPr sz="2000"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000" spc="-5" dirty="0">
                <a:cs typeface="Times New Roman"/>
              </a:rPr>
              <a:t>The bool </a:t>
            </a:r>
            <a:r>
              <a:rPr sz="2000" dirty="0">
                <a:cs typeface="Times New Roman"/>
              </a:rPr>
              <a:t>type </a:t>
            </a:r>
            <a:r>
              <a:rPr sz="2000" spc="-5" dirty="0">
                <a:cs typeface="Times New Roman"/>
              </a:rPr>
              <a:t>variables can be declared</a:t>
            </a:r>
            <a:r>
              <a:rPr sz="2000" spc="-4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as:</a:t>
            </a:r>
            <a:endParaRPr sz="2000">
              <a:cs typeface="Times New Roman"/>
            </a:endParaRPr>
          </a:p>
          <a:p>
            <a:pPr marL="355600" marR="6411595">
              <a:lnSpc>
                <a:spcPts val="2600"/>
              </a:lnSpc>
              <a:spcBef>
                <a:spcPts val="75"/>
              </a:spcBef>
            </a:pPr>
            <a:r>
              <a:rPr sz="2000" spc="-5" dirty="0">
                <a:cs typeface="BatangChe"/>
              </a:rPr>
              <a:t>bool</a:t>
            </a:r>
            <a:r>
              <a:rPr sz="2000" spc="-80" dirty="0">
                <a:cs typeface="BatangChe"/>
              </a:rPr>
              <a:t> </a:t>
            </a:r>
            <a:r>
              <a:rPr sz="2000" spc="-5" dirty="0">
                <a:cs typeface="BatangChe"/>
              </a:rPr>
              <a:t>b1;  b1=true;</a:t>
            </a:r>
            <a:endParaRPr sz="2000">
              <a:cs typeface="BatangChe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cs typeface="BatangChe"/>
              </a:rPr>
              <a:t>bool b2 =</a:t>
            </a:r>
            <a:r>
              <a:rPr sz="2000" spc="5" dirty="0">
                <a:cs typeface="BatangChe"/>
              </a:rPr>
              <a:t> </a:t>
            </a:r>
            <a:r>
              <a:rPr sz="2000" spc="-5" dirty="0">
                <a:cs typeface="BatangChe"/>
              </a:rPr>
              <a:t>false;</a:t>
            </a:r>
            <a:endParaRPr sz="2000">
              <a:cs typeface="BatangChe"/>
            </a:endParaRPr>
          </a:p>
          <a:p>
            <a:pPr marL="355600">
              <a:lnSpc>
                <a:spcPct val="100000"/>
              </a:lnSpc>
              <a:spcBef>
                <a:spcPts val="229"/>
              </a:spcBef>
            </a:pPr>
            <a:r>
              <a:rPr sz="2000" spc="-5" dirty="0">
                <a:cs typeface="BatangChe"/>
              </a:rPr>
              <a:t>cout &lt;&lt; “b1 = “ &lt;&lt; b1 &lt;&lt; endl &lt;&lt; “b2 = ”&lt;&lt;</a:t>
            </a:r>
            <a:r>
              <a:rPr sz="2000" spc="80" dirty="0">
                <a:cs typeface="BatangChe"/>
              </a:rPr>
              <a:t> </a:t>
            </a:r>
            <a:r>
              <a:rPr sz="2000" spc="-5" dirty="0">
                <a:cs typeface="BatangChe"/>
              </a:rPr>
              <a:t>b2;</a:t>
            </a:r>
            <a:endParaRPr sz="2000">
              <a:cs typeface="BatangChe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5" dirty="0">
                <a:cs typeface="Times New Roman"/>
              </a:rPr>
              <a:t>Will </a:t>
            </a:r>
            <a:r>
              <a:rPr sz="2000" spc="-5" dirty="0">
                <a:cs typeface="Times New Roman"/>
              </a:rPr>
              <a:t>display the following</a:t>
            </a:r>
            <a:r>
              <a:rPr sz="2000" spc="-4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output:</a:t>
            </a:r>
            <a:endParaRPr sz="2000"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50"/>
              </a:spcBef>
            </a:pPr>
            <a:r>
              <a:rPr sz="2000" spc="-5" dirty="0">
                <a:cs typeface="BatangChe"/>
              </a:rPr>
              <a:t>b1 =</a:t>
            </a:r>
            <a:r>
              <a:rPr sz="2000" spc="-95" dirty="0">
                <a:cs typeface="BatangChe"/>
              </a:rPr>
              <a:t> </a:t>
            </a:r>
            <a:r>
              <a:rPr sz="2000" spc="-5" dirty="0">
                <a:cs typeface="BatangChe"/>
              </a:rPr>
              <a:t>1</a:t>
            </a:r>
            <a:endParaRPr sz="2000">
              <a:cs typeface="BatangChe"/>
            </a:endParaRPr>
          </a:p>
          <a:p>
            <a:pPr marL="355600">
              <a:lnSpc>
                <a:spcPct val="100000"/>
              </a:lnSpc>
              <a:spcBef>
                <a:spcPts val="325"/>
              </a:spcBef>
            </a:pPr>
            <a:r>
              <a:rPr sz="2000" spc="-5" dirty="0">
                <a:cs typeface="BatangChe"/>
              </a:rPr>
              <a:t>b2 =</a:t>
            </a:r>
            <a:r>
              <a:rPr sz="2000" spc="-95" dirty="0">
                <a:cs typeface="BatangChe"/>
              </a:rPr>
              <a:t> </a:t>
            </a:r>
            <a:r>
              <a:rPr sz="2000" spc="-5" dirty="0">
                <a:cs typeface="BatangChe"/>
              </a:rPr>
              <a:t>0</a:t>
            </a:r>
            <a:endParaRPr sz="2000">
              <a:cs typeface="BatangCh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cs typeface="BatangChe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0000"/>
                </a:solidFill>
                <a:cs typeface="Times New Roman"/>
              </a:rPr>
              <a:t>The wchar_t data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type:</a:t>
            </a:r>
            <a:endParaRPr sz="2000">
              <a:solidFill>
                <a:srgbClr val="FF0000"/>
              </a:solidFill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cs typeface="Times New Roman"/>
              </a:rPr>
              <a:t>The character type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wchar_t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has been defined to hold </a:t>
            </a:r>
            <a:r>
              <a:rPr sz="2000" dirty="0">
                <a:cs typeface="Times New Roman"/>
              </a:rPr>
              <a:t>16-bit </a:t>
            </a:r>
            <a:r>
              <a:rPr sz="2000" spc="-5" dirty="0">
                <a:cs typeface="Times New Roman"/>
              </a:rPr>
              <a:t>wide</a:t>
            </a:r>
            <a:r>
              <a:rPr sz="2000" spc="8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characters.</a:t>
            </a:r>
            <a:endParaRPr sz="200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5965" y="1090774"/>
            <a:ext cx="8174635" cy="2930289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2800" b="1" spc="-60" dirty="0">
                <a:cs typeface="Times New Roman"/>
              </a:rPr>
              <a:t>Void</a:t>
            </a:r>
            <a:r>
              <a:rPr sz="2800" b="1" spc="-15" dirty="0">
                <a:cs typeface="Times New Roman"/>
              </a:rPr>
              <a:t> </a:t>
            </a:r>
            <a:r>
              <a:rPr sz="2800" b="1" dirty="0">
                <a:cs typeface="Times New Roman"/>
              </a:rPr>
              <a:t>type</a:t>
            </a:r>
            <a:endParaRPr sz="2800"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cs typeface="Times New Roman"/>
              </a:rPr>
              <a:t>The </a:t>
            </a:r>
            <a:r>
              <a:rPr sz="2800" spc="-5" dirty="0">
                <a:cs typeface="Times New Roman"/>
              </a:rPr>
              <a:t>type </a:t>
            </a:r>
            <a:r>
              <a:rPr sz="2800" b="1" dirty="0">
                <a:solidFill>
                  <a:srgbClr val="FF0000"/>
                </a:solidFill>
                <a:cs typeface="Times New Roman"/>
              </a:rPr>
              <a:t>void</a:t>
            </a:r>
            <a:r>
              <a:rPr sz="2800" b="1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was introduced in ANSI</a:t>
            </a:r>
            <a:r>
              <a:rPr sz="2800" spc="-229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C.</a:t>
            </a:r>
            <a:endParaRPr sz="2800"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cs typeface="Times New Roman"/>
              </a:rPr>
              <a:t>Two </a:t>
            </a:r>
            <a:r>
              <a:rPr sz="2800" dirty="0">
                <a:cs typeface="Times New Roman"/>
              </a:rPr>
              <a:t>uses of void</a:t>
            </a:r>
            <a:r>
              <a:rPr sz="2800" spc="-2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are: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spc="-75" dirty="0">
                <a:cs typeface="Times New Roman"/>
              </a:rPr>
              <a:t>To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specify the return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type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of a function </a:t>
            </a:r>
            <a:r>
              <a:rPr sz="2800" dirty="0">
                <a:cs typeface="Times New Roman"/>
              </a:rPr>
              <a:t>when it is not </a:t>
            </a:r>
            <a:r>
              <a:rPr sz="2800">
                <a:cs typeface="Times New Roman"/>
              </a:rPr>
              <a:t>returning</a:t>
            </a:r>
            <a:r>
              <a:rPr sz="2800" spc="-165">
                <a:cs typeface="Times New Roman"/>
              </a:rPr>
              <a:t> </a:t>
            </a:r>
            <a:r>
              <a:rPr sz="2800" smtClean="0">
                <a:cs typeface="Times New Roman"/>
              </a:rPr>
              <a:t>any</a:t>
            </a:r>
            <a:r>
              <a:rPr lang="en-US" sz="2800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value</a:t>
            </a:r>
            <a:r>
              <a:rPr sz="2800" dirty="0">
                <a:cs typeface="Times New Roman"/>
              </a:rPr>
              <a:t>,</a:t>
            </a:r>
            <a:r>
              <a:rPr sz="2800" spc="-3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and</a:t>
            </a:r>
            <a:endParaRPr sz="2800"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spc="-75" dirty="0">
                <a:cs typeface="Times New Roman"/>
              </a:rPr>
              <a:t>To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indicate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an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empty argument list </a:t>
            </a:r>
            <a:r>
              <a:rPr sz="2800" dirty="0">
                <a:cs typeface="Times New Roman"/>
              </a:rPr>
              <a:t>to a</a:t>
            </a:r>
            <a:r>
              <a:rPr sz="2800" spc="-1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function.</a:t>
            </a:r>
            <a:endParaRPr sz="2800">
              <a:cs typeface="Times New Roman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414274" y="152400"/>
            <a:ext cx="4386326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0" lvl="0" indent="0" algn="l" defTabSz="91429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2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</a:t>
            </a:r>
            <a:r>
              <a:rPr kumimoji="0" lang="en-US" sz="4400" b="1" i="0" u="none" strike="noStrike" kern="1200" cap="none" spc="-7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-2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Types(3/3)</a:t>
            </a:r>
            <a:endParaRPr kumimoji="0" lang="en-US" sz="4400" b="1" i="0" u="none" strike="noStrike" kern="1200" cap="none" spc="-2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5867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cs typeface="Times New Roman"/>
              </a:rPr>
              <a:t>Operators </a:t>
            </a:r>
            <a:r>
              <a:rPr b="1" spc="-10" dirty="0">
                <a:cs typeface="Times New Roman"/>
              </a:rPr>
              <a:t>in</a:t>
            </a:r>
            <a:r>
              <a:rPr b="1" spc="-5" dirty="0">
                <a:cs typeface="Times New Roman"/>
              </a:rPr>
              <a:t> C++(1/4)</a:t>
            </a:r>
            <a:endParaRPr b="1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3075"/>
            <a:ext cx="6774815" cy="15023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cs typeface="Times New Roman"/>
              </a:rPr>
              <a:t>All C operators are valid in</a:t>
            </a:r>
            <a:r>
              <a:rPr sz="240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cs typeface="Times New Roman"/>
              </a:rPr>
              <a:t>C++.</a:t>
            </a:r>
            <a:endParaRPr sz="2400">
              <a:solidFill>
                <a:srgbClr val="FF0000"/>
              </a:solidFill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400"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cs typeface="Times New Roman"/>
              </a:rPr>
              <a:t>C++ introduces </a:t>
            </a:r>
            <a:r>
              <a:rPr sz="2400" spc="-10" dirty="0">
                <a:cs typeface="Times New Roman"/>
              </a:rPr>
              <a:t>some </a:t>
            </a:r>
            <a:r>
              <a:rPr sz="2400" spc="-5" dirty="0">
                <a:cs typeface="Times New Roman"/>
              </a:rPr>
              <a:t>new operators which are as</a:t>
            </a:r>
            <a:r>
              <a:rPr sz="2400" spc="7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follows</a:t>
            </a:r>
            <a:endParaRPr sz="240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400" y="2770216"/>
            <a:ext cx="835661" cy="3706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" dirty="0">
                <a:cs typeface="Times New Roman"/>
              </a:rPr>
              <a:t>&lt;&lt;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cs typeface="Times New Roman"/>
              </a:rPr>
              <a:t>&gt;&gt;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cs typeface="Times New Roman"/>
              </a:rPr>
              <a:t>::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cs typeface="Times New Roman"/>
              </a:rPr>
              <a:t>::*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cs typeface="Times New Roman"/>
              </a:rPr>
              <a:t>-&gt;*</a:t>
            </a: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cs typeface="Times New Roman"/>
              </a:rPr>
              <a:t>.*  dele</a:t>
            </a:r>
            <a:r>
              <a:rPr sz="2400" spc="-10" dirty="0">
                <a:cs typeface="Times New Roman"/>
              </a:rPr>
              <a:t>t</a:t>
            </a:r>
            <a:r>
              <a:rPr sz="2400" dirty="0">
                <a:cs typeface="Times New Roman"/>
              </a:rPr>
              <a:t>e  endl  new  </a:t>
            </a:r>
            <a:r>
              <a:rPr sz="2400" spc="-5" dirty="0">
                <a:cs typeface="Times New Roman"/>
              </a:rPr>
              <a:t>setw</a:t>
            </a:r>
            <a:endParaRPr sz="2400" dirty="0"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2770216"/>
            <a:ext cx="3807206" cy="3706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90525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cs typeface="Times New Roman"/>
              </a:rPr>
              <a:t>insertion operator  extraction </a:t>
            </a:r>
            <a:r>
              <a:rPr sz="2400">
                <a:cs typeface="Times New Roman"/>
              </a:rPr>
              <a:t>operator  </a:t>
            </a:r>
            <a:endParaRPr lang="en-US" sz="2400" dirty="0" smtClean="0">
              <a:cs typeface="Times New Roman"/>
            </a:endParaRPr>
          </a:p>
          <a:p>
            <a:pPr marL="12700" marR="390525">
              <a:lnSpc>
                <a:spcPct val="100000"/>
              </a:lnSpc>
              <a:spcBef>
                <a:spcPts val="105"/>
              </a:spcBef>
            </a:pPr>
            <a:r>
              <a:rPr sz="2400" smtClean="0">
                <a:cs typeface="Times New Roman"/>
              </a:rPr>
              <a:t>scope </a:t>
            </a:r>
            <a:r>
              <a:rPr sz="2400" dirty="0">
                <a:cs typeface="Times New Roman"/>
              </a:rPr>
              <a:t>resolution</a:t>
            </a:r>
            <a:r>
              <a:rPr sz="2400" spc="-1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operator</a:t>
            </a:r>
            <a:endParaRPr sz="2400"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cs typeface="Times New Roman"/>
              </a:rPr>
              <a:t>pointer to </a:t>
            </a:r>
            <a:r>
              <a:rPr sz="2400" spc="-10" dirty="0">
                <a:cs typeface="Times New Roman"/>
              </a:rPr>
              <a:t>member</a:t>
            </a:r>
            <a:r>
              <a:rPr sz="2400" spc="-9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declarator  </a:t>
            </a:r>
            <a:r>
              <a:rPr sz="2400" spc="-5" dirty="0">
                <a:cs typeface="Times New Roman"/>
              </a:rPr>
              <a:t>pointer-to-member </a:t>
            </a:r>
            <a:r>
              <a:rPr sz="2400" dirty="0">
                <a:cs typeface="Times New Roman"/>
              </a:rPr>
              <a:t>operator  pointer to </a:t>
            </a:r>
            <a:r>
              <a:rPr sz="2400" spc="-10" dirty="0">
                <a:cs typeface="Times New Roman"/>
              </a:rPr>
              <a:t>member </a:t>
            </a:r>
            <a:r>
              <a:rPr sz="2400" dirty="0">
                <a:cs typeface="Times New Roman"/>
              </a:rPr>
              <a:t>operator  </a:t>
            </a:r>
            <a:r>
              <a:rPr sz="2400" spc="-10" dirty="0">
                <a:cs typeface="Times New Roman"/>
              </a:rPr>
              <a:t>memory </a:t>
            </a:r>
            <a:r>
              <a:rPr sz="2400" dirty="0">
                <a:cs typeface="Times New Roman"/>
              </a:rPr>
              <a:t>release </a:t>
            </a:r>
            <a:r>
              <a:rPr sz="2400">
                <a:cs typeface="Times New Roman"/>
              </a:rPr>
              <a:t>operator </a:t>
            </a:r>
            <a:endParaRPr lang="en-US" sz="2400" dirty="0" smtClean="0"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spc="-5" smtClean="0">
                <a:cs typeface="Times New Roman"/>
              </a:rPr>
              <a:t>line </a:t>
            </a:r>
            <a:r>
              <a:rPr sz="2400" dirty="0">
                <a:cs typeface="Times New Roman"/>
              </a:rPr>
              <a:t>feed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operator</a:t>
            </a:r>
            <a:endParaRPr sz="2400">
              <a:cs typeface="Times New Roman"/>
            </a:endParaRPr>
          </a:p>
          <a:p>
            <a:pPr marL="12700" marR="13779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cs typeface="Times New Roman"/>
              </a:rPr>
              <a:t>memory </a:t>
            </a:r>
            <a:r>
              <a:rPr sz="2400" spc="-5" dirty="0">
                <a:cs typeface="Times New Roman"/>
              </a:rPr>
              <a:t>allocation </a:t>
            </a:r>
            <a:r>
              <a:rPr sz="2400" dirty="0">
                <a:cs typeface="Times New Roman"/>
              </a:rPr>
              <a:t>operator  </a:t>
            </a:r>
            <a:r>
              <a:rPr sz="2400" spc="-5" dirty="0">
                <a:cs typeface="Times New Roman"/>
              </a:rPr>
              <a:t>field </a:t>
            </a:r>
            <a:r>
              <a:rPr sz="2400" dirty="0">
                <a:cs typeface="Times New Roman"/>
              </a:rPr>
              <a:t>width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operator</a:t>
            </a:r>
            <a:endParaRPr sz="2400"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838200"/>
            <a:ext cx="8074660" cy="1935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0000"/>
                </a:solidFill>
                <a:cs typeface="Times New Roman"/>
              </a:rPr>
              <a:t>Scope resolution operator( ::</a:t>
            </a:r>
            <a:r>
              <a:rPr sz="2000" b="1" spc="4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)</a:t>
            </a:r>
            <a:endParaRPr sz="2000">
              <a:solidFill>
                <a:srgbClr val="FF0000"/>
              </a:solidFill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smtClean="0">
                <a:cs typeface="Times New Roman"/>
              </a:rPr>
              <a:t>This</a:t>
            </a:r>
            <a:r>
              <a:rPr sz="2000" spc="-35" smtClean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operator</a:t>
            </a:r>
            <a:r>
              <a:rPr sz="2000" spc="-4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allows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to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access</a:t>
            </a:r>
            <a:r>
              <a:rPr sz="2000" spc="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global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version</a:t>
            </a:r>
            <a:r>
              <a:rPr sz="2000" spc="-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of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 variable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within</a:t>
            </a:r>
            <a:r>
              <a:rPr sz="2000" spc="-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inner</a:t>
            </a:r>
            <a:r>
              <a:rPr sz="2000" spc="-4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block.</a:t>
            </a:r>
            <a:endParaRPr sz="2000"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cs typeface="Times New Roman"/>
              </a:rPr>
              <a:t>This </a:t>
            </a:r>
            <a:r>
              <a:rPr sz="2000" dirty="0">
                <a:cs typeface="Times New Roman"/>
              </a:rPr>
              <a:t>operator is used</a:t>
            </a:r>
            <a:r>
              <a:rPr sz="2000" spc="-10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as:</a:t>
            </a:r>
            <a:endParaRPr sz="2000">
              <a:cs typeface="Times New Roman"/>
            </a:endParaRPr>
          </a:p>
          <a:p>
            <a:pPr marL="927100" algn="just">
              <a:lnSpc>
                <a:spcPct val="100000"/>
              </a:lnSpc>
              <a:spcBef>
                <a:spcPts val="335"/>
              </a:spcBef>
            </a:pPr>
            <a:r>
              <a:rPr sz="2000" b="1" dirty="0">
                <a:solidFill>
                  <a:srgbClr val="FF0000"/>
                </a:solidFill>
                <a:cs typeface="Times New Roman"/>
              </a:rPr>
              <a:t>::</a:t>
            </a:r>
            <a:r>
              <a:rPr sz="2000" b="1" spc="-3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variable-name</a:t>
            </a:r>
            <a:endParaRPr sz="2000">
              <a:solidFill>
                <a:srgbClr val="FF0000"/>
              </a:solidFill>
              <a:cs typeface="Times New Roman"/>
            </a:endParaRPr>
          </a:p>
          <a:p>
            <a:pPr marL="413384" algn="just">
              <a:lnSpc>
                <a:spcPct val="100000"/>
              </a:lnSpc>
            </a:pPr>
            <a:endParaRPr sz="2000">
              <a:cs typeface="Times New Roman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304800" y="152400"/>
            <a:ext cx="58674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0" lvl="0" indent="0" algn="l" defTabSz="914293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Operators (2/4)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5200" y="1752600"/>
            <a:ext cx="71628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3384" algn="just">
              <a:lnSpc>
                <a:spcPct val="100000"/>
              </a:lnSpc>
            </a:pPr>
            <a:r>
              <a:rPr lang="en-US" sz="2000" spc="-5" dirty="0" smtClean="0">
                <a:cs typeface="Times New Roman"/>
              </a:rPr>
              <a:t>#include&lt;</a:t>
            </a:r>
            <a:r>
              <a:rPr lang="en-US" sz="2000" spc="-5" dirty="0" err="1" smtClean="0">
                <a:cs typeface="Times New Roman"/>
              </a:rPr>
              <a:t>iostream</a:t>
            </a:r>
            <a:r>
              <a:rPr lang="en-US" sz="2000" spc="-5" dirty="0" smtClean="0">
                <a:cs typeface="Times New Roman"/>
              </a:rPr>
              <a:t>&gt;</a:t>
            </a:r>
            <a:endParaRPr lang="en-US" sz="2000" dirty="0" smtClean="0">
              <a:cs typeface="Times New Roman"/>
            </a:endParaRP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smtClean="0">
                <a:cs typeface="Times New Roman"/>
              </a:rPr>
              <a:t>Using </a:t>
            </a:r>
            <a:r>
              <a:rPr lang="en-US" sz="2000" spc="-5" dirty="0" smtClean="0">
                <a:cs typeface="Times New Roman"/>
              </a:rPr>
              <a:t>namespace</a:t>
            </a:r>
            <a:r>
              <a:rPr lang="en-US" sz="2000" spc="-20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std;</a:t>
            </a:r>
          </a:p>
          <a:p>
            <a:pPr marL="413384" marR="4030979" algn="just">
              <a:lnSpc>
                <a:spcPct val="120000"/>
              </a:lnSpc>
            </a:pPr>
            <a:r>
              <a:rPr lang="en-US" sz="2000" dirty="0" err="1" smtClean="0">
                <a:cs typeface="Times New Roman"/>
              </a:rPr>
              <a:t>int</a:t>
            </a:r>
            <a:r>
              <a:rPr lang="en-US" sz="2000" dirty="0" smtClean="0">
                <a:cs typeface="Times New Roman"/>
              </a:rPr>
              <a:t> x = </a:t>
            </a:r>
            <a:r>
              <a:rPr lang="en-US" sz="2000" spc="-15" dirty="0" smtClean="0">
                <a:cs typeface="Times New Roman"/>
              </a:rPr>
              <a:t>11; </a:t>
            </a:r>
            <a:r>
              <a:rPr lang="en-US" sz="2000" dirty="0" smtClean="0">
                <a:cs typeface="Times New Roman"/>
              </a:rPr>
              <a:t>// this x is</a:t>
            </a:r>
            <a:r>
              <a:rPr lang="en-US" sz="2000" spc="-155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global  </a:t>
            </a:r>
            <a:r>
              <a:rPr lang="en-US" sz="2000" dirty="0" err="1" smtClean="0">
                <a:cs typeface="Times New Roman"/>
              </a:rPr>
              <a:t>int</a:t>
            </a:r>
            <a:r>
              <a:rPr lang="en-US" sz="2000" spc="-35" dirty="0" smtClean="0">
                <a:cs typeface="Times New Roman"/>
              </a:rPr>
              <a:t> </a:t>
            </a:r>
            <a:r>
              <a:rPr lang="en-US" sz="2000" spc="-5" dirty="0" smtClean="0">
                <a:cs typeface="Times New Roman"/>
              </a:rPr>
              <a:t>main()</a:t>
            </a:r>
            <a:endParaRPr lang="en-US" sz="2000" dirty="0" smtClean="0">
              <a:cs typeface="Times New Roman"/>
            </a:endParaRPr>
          </a:p>
          <a:p>
            <a:pPr marL="413384" algn="just">
              <a:lnSpc>
                <a:spcPct val="100000"/>
              </a:lnSpc>
              <a:spcBef>
                <a:spcPts val="340"/>
              </a:spcBef>
            </a:pPr>
            <a:r>
              <a:rPr lang="en-US" sz="2000" dirty="0" smtClean="0">
                <a:cs typeface="Times New Roman"/>
              </a:rPr>
              <a:t>{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err="1" smtClean="0">
                <a:cs typeface="Times New Roman"/>
              </a:rPr>
              <a:t>int</a:t>
            </a:r>
            <a:r>
              <a:rPr lang="en-US" sz="2000" dirty="0" smtClean="0">
                <a:cs typeface="Times New Roman"/>
              </a:rPr>
              <a:t> x =</a:t>
            </a:r>
            <a:r>
              <a:rPr lang="en-US" sz="2000" spc="-50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22;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err="1" smtClean="0">
                <a:cs typeface="Times New Roman"/>
              </a:rPr>
              <a:t>cout</a:t>
            </a:r>
            <a:r>
              <a:rPr lang="en-US" sz="2000" dirty="0" smtClean="0">
                <a:cs typeface="Times New Roman"/>
              </a:rPr>
              <a:t> &lt;&lt; "In </a:t>
            </a:r>
            <a:r>
              <a:rPr lang="en-US" sz="2000" spc="-5" dirty="0" smtClean="0">
                <a:cs typeface="Times New Roman"/>
              </a:rPr>
              <a:t>main: </a:t>
            </a:r>
            <a:r>
              <a:rPr lang="en-US" sz="2000" dirty="0" smtClean="0">
                <a:cs typeface="Times New Roman"/>
              </a:rPr>
              <a:t>x = " &lt;&lt; x &lt;&lt;</a:t>
            </a:r>
            <a:r>
              <a:rPr lang="en-US" sz="2000" spc="-70" dirty="0" smtClean="0">
                <a:cs typeface="Times New Roman"/>
              </a:rPr>
              <a:t> </a:t>
            </a:r>
            <a:r>
              <a:rPr lang="en-US" sz="2000" dirty="0" err="1" smtClean="0">
                <a:cs typeface="Times New Roman"/>
              </a:rPr>
              <a:t>endl</a:t>
            </a:r>
            <a:r>
              <a:rPr lang="en-US" sz="2000" dirty="0" smtClean="0">
                <a:cs typeface="Times New Roman"/>
              </a:rPr>
              <a:t>;</a:t>
            </a:r>
          </a:p>
          <a:p>
            <a:pPr marL="413384" algn="just">
              <a:lnSpc>
                <a:spcPct val="100000"/>
              </a:lnSpc>
              <a:spcBef>
                <a:spcPts val="340"/>
              </a:spcBef>
            </a:pPr>
            <a:r>
              <a:rPr lang="en-US" sz="2000" dirty="0" smtClean="0">
                <a:cs typeface="Times New Roman"/>
              </a:rPr>
              <a:t>{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err="1" smtClean="0">
                <a:cs typeface="Times New Roman"/>
              </a:rPr>
              <a:t>int</a:t>
            </a:r>
            <a:r>
              <a:rPr lang="en-US" sz="2000" dirty="0" smtClean="0">
                <a:cs typeface="Times New Roman"/>
              </a:rPr>
              <a:t> x =</a:t>
            </a:r>
            <a:r>
              <a:rPr lang="en-US" sz="2000" spc="-50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33;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err="1" smtClean="0">
                <a:cs typeface="Times New Roman"/>
              </a:rPr>
              <a:t>cout</a:t>
            </a:r>
            <a:r>
              <a:rPr lang="en-US" sz="2000" dirty="0" smtClean="0">
                <a:cs typeface="Times New Roman"/>
              </a:rPr>
              <a:t> &lt;&lt; "In block inside </a:t>
            </a:r>
            <a:r>
              <a:rPr lang="en-US" sz="2000" spc="-5" dirty="0" smtClean="0">
                <a:cs typeface="Times New Roman"/>
              </a:rPr>
              <a:t>main: </a:t>
            </a:r>
            <a:r>
              <a:rPr lang="en-US" sz="2000" dirty="0" smtClean="0">
                <a:cs typeface="Times New Roman"/>
              </a:rPr>
              <a:t>x = " &lt;&lt; x &lt;&lt;</a:t>
            </a:r>
            <a:r>
              <a:rPr lang="en-US" sz="2000" spc="-120" dirty="0" smtClean="0">
                <a:cs typeface="Times New Roman"/>
              </a:rPr>
              <a:t> </a:t>
            </a:r>
            <a:r>
              <a:rPr lang="en-US" sz="2000" dirty="0" err="1" smtClean="0">
                <a:cs typeface="Times New Roman"/>
              </a:rPr>
              <a:t>endl</a:t>
            </a:r>
            <a:r>
              <a:rPr lang="en-US" sz="2000" dirty="0" smtClean="0">
                <a:cs typeface="Times New Roman"/>
              </a:rPr>
              <a:t>;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smtClean="0">
                <a:cs typeface="Times New Roman"/>
              </a:rPr>
              <a:t>}</a:t>
            </a:r>
          </a:p>
          <a:p>
            <a:pPr marL="413384" algn="just">
              <a:lnSpc>
                <a:spcPct val="100000"/>
              </a:lnSpc>
              <a:spcBef>
                <a:spcPts val="340"/>
              </a:spcBef>
            </a:pPr>
            <a:r>
              <a:rPr lang="en-US" sz="2000" dirty="0" smtClean="0">
                <a:cs typeface="Times New Roman"/>
              </a:rPr>
              <a:t>// access to the global</a:t>
            </a:r>
            <a:r>
              <a:rPr lang="en-US" sz="2000" spc="-100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x</a:t>
            </a: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err="1" smtClean="0">
                <a:solidFill>
                  <a:srgbClr val="FF0000"/>
                </a:solidFill>
                <a:cs typeface="Times New Roman"/>
              </a:rPr>
              <a:t>cout</a:t>
            </a:r>
            <a:r>
              <a:rPr lang="en-US" sz="2000" dirty="0" smtClean="0">
                <a:solidFill>
                  <a:srgbClr val="FF0000"/>
                </a:solidFill>
                <a:cs typeface="Times New Roman"/>
              </a:rPr>
              <a:t> &lt;&lt; "In </a:t>
            </a:r>
            <a:r>
              <a:rPr lang="en-US" sz="2000" spc="-5" dirty="0" smtClean="0">
                <a:solidFill>
                  <a:srgbClr val="FF0000"/>
                </a:solidFill>
                <a:cs typeface="Times New Roman"/>
              </a:rPr>
              <a:t>main: </a:t>
            </a:r>
            <a:r>
              <a:rPr lang="en-US" sz="2000" dirty="0" smtClean="0">
                <a:solidFill>
                  <a:srgbClr val="FF0000"/>
                </a:solidFill>
                <a:cs typeface="Times New Roman"/>
              </a:rPr>
              <a:t>::x = " &lt;&lt; ::x &lt;&lt;</a:t>
            </a:r>
            <a:r>
              <a:rPr lang="en-US" sz="2000" spc="-105" dirty="0" smtClean="0">
                <a:solidFill>
                  <a:srgbClr val="FF0000"/>
                </a:solidFill>
                <a:cs typeface="Times New Roman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cs typeface="Times New Roman"/>
              </a:rPr>
              <a:t>endl</a:t>
            </a:r>
            <a:r>
              <a:rPr lang="en-US" sz="2000" dirty="0" smtClean="0">
                <a:solidFill>
                  <a:srgbClr val="FF0000"/>
                </a:solidFill>
                <a:cs typeface="Times New Roman"/>
              </a:rPr>
              <a:t>;</a:t>
            </a:r>
            <a:endParaRPr lang="en-US" sz="2000" dirty="0" smtClean="0">
              <a:cs typeface="Times New Roman"/>
            </a:endParaRPr>
          </a:p>
          <a:p>
            <a:pPr marL="413384" algn="just">
              <a:lnSpc>
                <a:spcPct val="100000"/>
              </a:lnSpc>
              <a:spcBef>
                <a:spcPts val="335"/>
              </a:spcBef>
            </a:pPr>
            <a:r>
              <a:rPr lang="en-US" sz="2000" dirty="0" smtClean="0">
                <a:cs typeface="Times New Roman"/>
              </a:rPr>
              <a:t>return</a:t>
            </a:r>
            <a:r>
              <a:rPr lang="en-US" sz="2000" spc="-55" dirty="0" smtClean="0">
                <a:cs typeface="Times New Roman"/>
              </a:rPr>
              <a:t> </a:t>
            </a:r>
            <a:r>
              <a:rPr lang="en-US" sz="2000" dirty="0" smtClean="0">
                <a:cs typeface="Times New Roman"/>
              </a:rPr>
              <a:t>0;</a:t>
            </a:r>
          </a:p>
          <a:p>
            <a:pPr marL="413384" algn="just">
              <a:lnSpc>
                <a:spcPct val="100000"/>
              </a:lnSpc>
              <a:spcBef>
                <a:spcPts val="340"/>
              </a:spcBef>
            </a:pPr>
            <a:r>
              <a:rPr lang="en-US" sz="2000" dirty="0" smtClean="0">
                <a:cs typeface="Times New Roman"/>
              </a:rPr>
              <a:t>}</a:t>
            </a:r>
            <a:endParaRPr lang="en-US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999321"/>
            <a:ext cx="8382000" cy="540147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algn="just">
              <a:spcBef>
                <a:spcPts val="520"/>
              </a:spcBef>
            </a:pPr>
            <a:r>
              <a:rPr sz="2000" b="1" spc="-5" dirty="0">
                <a:cs typeface="Times New Roman"/>
              </a:rPr>
              <a:t>Memory </a:t>
            </a:r>
            <a:r>
              <a:rPr sz="2000" b="1" dirty="0">
                <a:cs typeface="Times New Roman"/>
              </a:rPr>
              <a:t>management</a:t>
            </a:r>
            <a:r>
              <a:rPr sz="2000" b="1" spc="-55" dirty="0">
                <a:cs typeface="Times New Roman"/>
              </a:rPr>
              <a:t> </a:t>
            </a:r>
            <a:r>
              <a:rPr sz="2000" b="1" dirty="0">
                <a:cs typeface="Times New Roman"/>
              </a:rPr>
              <a:t>operators</a:t>
            </a:r>
            <a:endParaRPr sz="2000">
              <a:cs typeface="Times New Roman"/>
            </a:endParaRPr>
          </a:p>
          <a:p>
            <a:pPr marL="355600" indent="-342900" algn="just">
              <a:spcBef>
                <a:spcPts val="3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FF0000"/>
                </a:solidFill>
                <a:cs typeface="Times New Roman"/>
              </a:rPr>
              <a:t>New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and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delete</a:t>
            </a:r>
            <a:r>
              <a:rPr sz="2000" b="1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operators</a:t>
            </a:r>
            <a:endParaRPr sz="2000">
              <a:cs typeface="Times New Roman"/>
            </a:endParaRPr>
          </a:p>
          <a:p>
            <a:pPr marL="756285" lvl="1" indent="-287020" algn="just">
              <a:spcBef>
                <a:spcPts val="3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cs typeface="Times New Roman"/>
              </a:rPr>
              <a:t>An object </a:t>
            </a:r>
            <a:r>
              <a:rPr sz="2000" spc="-10" dirty="0">
                <a:cs typeface="Times New Roman"/>
              </a:rPr>
              <a:t>can </a:t>
            </a:r>
            <a:r>
              <a:rPr sz="2000" dirty="0">
                <a:cs typeface="Times New Roman"/>
              </a:rPr>
              <a:t>be </a:t>
            </a:r>
            <a:r>
              <a:rPr sz="2000" spc="-5" dirty="0">
                <a:cs typeface="Times New Roman"/>
              </a:rPr>
              <a:t>created </a:t>
            </a:r>
            <a:r>
              <a:rPr sz="2000" dirty="0">
                <a:cs typeface="Times New Roman"/>
              </a:rPr>
              <a:t>by using </a:t>
            </a:r>
            <a:r>
              <a:rPr sz="2000" spc="-30" dirty="0">
                <a:cs typeface="Times New Roman"/>
              </a:rPr>
              <a:t>new, </a:t>
            </a:r>
            <a:r>
              <a:rPr sz="2000" spc="-5" dirty="0">
                <a:cs typeface="Times New Roman"/>
              </a:rPr>
              <a:t>and destroyed </a:t>
            </a:r>
            <a:r>
              <a:rPr sz="2000" dirty="0">
                <a:cs typeface="Times New Roman"/>
              </a:rPr>
              <a:t>by using</a:t>
            </a:r>
            <a:r>
              <a:rPr sz="2000" spc="-3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delete</a:t>
            </a:r>
            <a:endParaRPr sz="2000">
              <a:cs typeface="Times New Roman"/>
            </a:endParaRPr>
          </a:p>
          <a:p>
            <a:pPr marL="756285" marR="5080" lvl="1" indent="-287020" algn="just">
              <a:spcBef>
                <a:spcPts val="3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cs typeface="Times New Roman"/>
              </a:rPr>
              <a:t>A data object </a:t>
            </a:r>
            <a:r>
              <a:rPr sz="2000" spc="-10" dirty="0">
                <a:cs typeface="Times New Roman"/>
              </a:rPr>
              <a:t>created </a:t>
            </a:r>
            <a:r>
              <a:rPr sz="2000" dirty="0">
                <a:cs typeface="Times New Roman"/>
              </a:rPr>
              <a:t>inside a </a:t>
            </a:r>
            <a:r>
              <a:rPr sz="2000" spc="-5" dirty="0">
                <a:cs typeface="Times New Roman"/>
              </a:rPr>
              <a:t>block </a:t>
            </a:r>
            <a:r>
              <a:rPr sz="2000" dirty="0">
                <a:cs typeface="Times New Roman"/>
              </a:rPr>
              <a:t>with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new</a:t>
            </a:r>
            <a:r>
              <a:rPr sz="2000" spc="-5" dirty="0">
                <a:cs typeface="Times New Roman"/>
              </a:rPr>
              <a:t>, will remain in existence until </a:t>
            </a:r>
            <a:r>
              <a:rPr sz="2000" dirty="0">
                <a:cs typeface="Times New Roman"/>
              </a:rPr>
              <a:t>it </a:t>
            </a:r>
            <a:r>
              <a:rPr sz="2000" spc="-5" dirty="0">
                <a:cs typeface="Times New Roman"/>
              </a:rPr>
              <a:t>is </a:t>
            </a:r>
            <a:r>
              <a:rPr sz="2000" spc="-10" dirty="0">
                <a:cs typeface="Times New Roman"/>
              </a:rPr>
              <a:t>explicitly  </a:t>
            </a:r>
            <a:r>
              <a:rPr sz="2000" spc="-5" dirty="0">
                <a:cs typeface="Times New Roman"/>
              </a:rPr>
              <a:t>destroyed </a:t>
            </a:r>
            <a:r>
              <a:rPr sz="2000" dirty="0">
                <a:cs typeface="Times New Roman"/>
              </a:rPr>
              <a:t>by using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delete</a:t>
            </a:r>
            <a:r>
              <a:rPr sz="2000" b="1" spc="-5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.</a:t>
            </a:r>
            <a:endParaRPr sz="2000">
              <a:cs typeface="Times New Roman"/>
            </a:endParaRPr>
          </a:p>
          <a:p>
            <a:pPr marL="756285" lvl="1" indent="-287020" algn="just"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smtClean="0">
                <a:cs typeface="Times New Roman"/>
              </a:rPr>
              <a:t>The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new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operator </a:t>
            </a:r>
            <a:r>
              <a:rPr sz="2000" spc="-10" dirty="0">
                <a:cs typeface="Times New Roman"/>
              </a:rPr>
              <a:t>can </a:t>
            </a:r>
            <a:r>
              <a:rPr sz="2000" dirty="0">
                <a:cs typeface="Times New Roman"/>
              </a:rPr>
              <a:t>be </a:t>
            </a:r>
            <a:r>
              <a:rPr sz="2000" spc="-5" dirty="0">
                <a:cs typeface="Times New Roman"/>
              </a:rPr>
              <a:t>used </a:t>
            </a:r>
            <a:r>
              <a:rPr sz="2000" dirty="0">
                <a:cs typeface="Times New Roman"/>
              </a:rPr>
              <a:t>to </a:t>
            </a:r>
            <a:r>
              <a:rPr sz="2000" spc="-5" dirty="0">
                <a:cs typeface="Times New Roman"/>
              </a:rPr>
              <a:t>create objects </a:t>
            </a:r>
            <a:r>
              <a:rPr sz="2000" dirty="0">
                <a:cs typeface="Times New Roman"/>
              </a:rPr>
              <a:t>of </a:t>
            </a:r>
            <a:r>
              <a:rPr sz="2000" spc="-5" dirty="0">
                <a:cs typeface="Times New Roman"/>
              </a:rPr>
              <a:t>any type. </a:t>
            </a:r>
            <a:r>
              <a:rPr sz="2000" dirty="0">
                <a:cs typeface="Times New Roman"/>
              </a:rPr>
              <a:t>It takes the following </a:t>
            </a:r>
            <a:r>
              <a:rPr sz="2000" spc="-5" dirty="0">
                <a:cs typeface="Times New Roman"/>
              </a:rPr>
              <a:t>general</a:t>
            </a:r>
            <a:r>
              <a:rPr sz="2000" spc="-5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form:</a:t>
            </a:r>
            <a:endParaRPr sz="2000">
              <a:cs typeface="Times New Roman"/>
            </a:endParaRPr>
          </a:p>
          <a:p>
            <a:pPr marL="469900" algn="just">
              <a:spcBef>
                <a:spcPts val="360"/>
              </a:spcBef>
            </a:pPr>
            <a:r>
              <a:rPr lang="en-US" sz="2000" b="1" spc="-5" dirty="0" smtClean="0">
                <a:solidFill>
                  <a:srgbClr val="FF0000"/>
                </a:solidFill>
                <a:cs typeface="Times New Roman"/>
              </a:rPr>
              <a:t>                                    </a:t>
            </a:r>
            <a:r>
              <a:rPr sz="2000" b="1" spc="-5" smtClean="0">
                <a:solidFill>
                  <a:srgbClr val="FF0000"/>
                </a:solidFill>
                <a:cs typeface="Times New Roman"/>
              </a:rPr>
              <a:t>Pointer-variable 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= </a:t>
            </a:r>
            <a:r>
              <a:rPr sz="2000" b="1" spc="-5">
                <a:solidFill>
                  <a:srgbClr val="FF0000"/>
                </a:solidFill>
                <a:cs typeface="Times New Roman"/>
              </a:rPr>
              <a:t>new</a:t>
            </a:r>
            <a:r>
              <a:rPr sz="2000" b="1" spc="-45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smtClean="0">
                <a:solidFill>
                  <a:srgbClr val="FF0000"/>
                </a:solidFill>
                <a:cs typeface="Times New Roman"/>
              </a:rPr>
              <a:t>data-type;</a:t>
            </a:r>
            <a:endParaRPr lang="en-US" sz="2000" b="1" dirty="0" smtClean="0">
              <a:solidFill>
                <a:srgbClr val="FF0000"/>
              </a:solidFill>
              <a:cs typeface="Times New Roman"/>
            </a:endParaRPr>
          </a:p>
          <a:p>
            <a:pPr marL="469900" indent="-411163" algn="just">
              <a:spcBef>
                <a:spcPts val="360"/>
              </a:spcBef>
              <a:buFont typeface="Arial" pitchFamily="34" charset="0"/>
              <a:buChar char="•"/>
            </a:pPr>
            <a:r>
              <a:rPr sz="2000" smtClean="0">
                <a:cs typeface="Times New Roman"/>
              </a:rPr>
              <a:t>Pointer </a:t>
            </a:r>
            <a:r>
              <a:rPr sz="2000" spc="-5" dirty="0">
                <a:cs typeface="Times New Roman"/>
              </a:rPr>
              <a:t>variable is </a:t>
            </a:r>
            <a:r>
              <a:rPr sz="2000" dirty="0">
                <a:cs typeface="Times New Roman"/>
              </a:rPr>
              <a:t>a pointer of </a:t>
            </a:r>
            <a:r>
              <a:rPr sz="2000">
                <a:cs typeface="Times New Roman"/>
              </a:rPr>
              <a:t>type</a:t>
            </a:r>
            <a:r>
              <a:rPr sz="2000" spc="-105">
                <a:cs typeface="Times New Roman"/>
              </a:rPr>
              <a:t> </a:t>
            </a:r>
            <a:r>
              <a:rPr sz="2000" spc="-5" smtClean="0">
                <a:cs typeface="Times New Roman"/>
              </a:rPr>
              <a:t>data-type.</a:t>
            </a:r>
            <a:endParaRPr lang="en-US" sz="2000" spc="-5" dirty="0" smtClean="0">
              <a:cs typeface="Times New Roman"/>
            </a:endParaRPr>
          </a:p>
          <a:p>
            <a:pPr marL="469900" indent="-411163" algn="just">
              <a:spcBef>
                <a:spcPts val="360"/>
              </a:spcBef>
              <a:buFont typeface="Arial" pitchFamily="34" charset="0"/>
              <a:buChar char="•"/>
            </a:pPr>
            <a:r>
              <a:rPr sz="2000" spc="-5" smtClean="0">
                <a:cs typeface="Times New Roman"/>
              </a:rPr>
              <a:t>The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new</a:t>
            </a:r>
            <a:r>
              <a:rPr sz="2000" b="1" spc="-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operator allocates sufficient </a:t>
            </a:r>
            <a:r>
              <a:rPr sz="2000" spc="-10" dirty="0">
                <a:cs typeface="Times New Roman"/>
              </a:rPr>
              <a:t>memory </a:t>
            </a:r>
            <a:r>
              <a:rPr sz="2000" dirty="0">
                <a:cs typeface="Times New Roman"/>
              </a:rPr>
              <a:t>to </a:t>
            </a:r>
            <a:r>
              <a:rPr sz="2000" spc="-5" dirty="0">
                <a:cs typeface="Times New Roman"/>
              </a:rPr>
              <a:t>hold </a:t>
            </a:r>
            <a:r>
              <a:rPr sz="2000" dirty="0">
                <a:cs typeface="Times New Roman"/>
              </a:rPr>
              <a:t>a </a:t>
            </a:r>
            <a:r>
              <a:rPr sz="2000" spc="-5" dirty="0">
                <a:cs typeface="Times New Roman"/>
              </a:rPr>
              <a:t>data object </a:t>
            </a:r>
            <a:r>
              <a:rPr sz="2000" dirty="0">
                <a:cs typeface="Times New Roman"/>
              </a:rPr>
              <a:t>of type </a:t>
            </a:r>
            <a:r>
              <a:rPr sz="2000" spc="-5" dirty="0">
                <a:cs typeface="Times New Roman"/>
              </a:rPr>
              <a:t>data-type and returns address  </a:t>
            </a:r>
            <a:r>
              <a:rPr sz="2000" dirty="0">
                <a:cs typeface="Times New Roman"/>
              </a:rPr>
              <a:t>of </a:t>
            </a:r>
            <a:r>
              <a:rPr sz="2000" spc="-5" dirty="0">
                <a:cs typeface="Times New Roman"/>
              </a:rPr>
              <a:t>that</a:t>
            </a:r>
            <a:r>
              <a:rPr sz="2000" spc="-4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object.</a:t>
            </a:r>
            <a:endParaRPr sz="2000">
              <a:cs typeface="Times New Roman"/>
            </a:endParaRPr>
          </a:p>
          <a:p>
            <a:pPr marL="469900" algn="just">
              <a:spcBef>
                <a:spcPts val="5"/>
              </a:spcBef>
            </a:pPr>
            <a:r>
              <a:rPr sz="2000" b="1" spc="-5" smtClean="0">
                <a:cs typeface="Times New Roman"/>
              </a:rPr>
              <a:t>Examples</a:t>
            </a:r>
            <a:r>
              <a:rPr sz="2000" b="1" spc="-5" dirty="0">
                <a:cs typeface="Times New Roman"/>
              </a:rPr>
              <a:t>:</a:t>
            </a:r>
            <a:endParaRPr sz="2000">
              <a:cs typeface="Times New Roman"/>
            </a:endParaRPr>
          </a:p>
          <a:p>
            <a:pPr marL="469900" marR="5688330" algn="just">
              <a:spcBef>
                <a:spcPts val="95"/>
              </a:spcBef>
            </a:pPr>
            <a:r>
              <a:rPr sz="2000" dirty="0">
                <a:cs typeface="BatangChe"/>
              </a:rPr>
              <a:t>int *p = new int;  float q = new</a:t>
            </a:r>
            <a:r>
              <a:rPr sz="2000" spc="-95" dirty="0">
                <a:cs typeface="BatangChe"/>
              </a:rPr>
              <a:t> </a:t>
            </a:r>
            <a:r>
              <a:rPr sz="2000" dirty="0">
                <a:cs typeface="BatangChe"/>
              </a:rPr>
              <a:t>float;</a:t>
            </a:r>
            <a:endParaRPr sz="2000">
              <a:cs typeface="BatangChe"/>
            </a:endParaRPr>
          </a:p>
          <a:p>
            <a:pPr marL="413384" indent="-343535" algn="just">
              <a:spcBef>
                <a:spcPts val="265"/>
              </a:spcBef>
              <a:buFont typeface="Arial"/>
              <a:buChar char="•"/>
              <a:tabLst>
                <a:tab pos="413384" algn="l"/>
                <a:tab pos="414020" algn="l"/>
              </a:tabLst>
            </a:pPr>
            <a:r>
              <a:rPr sz="2000" spc="-5" dirty="0">
                <a:cs typeface="Times New Roman"/>
              </a:rPr>
              <a:t>Initialization using new</a:t>
            </a:r>
            <a:r>
              <a:rPr sz="2000" spc="-5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operator:</a:t>
            </a:r>
            <a:endParaRPr sz="2000">
              <a:cs typeface="Times New Roman"/>
            </a:endParaRPr>
          </a:p>
          <a:p>
            <a:pPr marL="413384" algn="just">
              <a:spcBef>
                <a:spcPts val="360"/>
              </a:spcBef>
            </a:pPr>
            <a:r>
              <a:rPr sz="2000" b="1" spc="-5" dirty="0">
                <a:solidFill>
                  <a:srgbClr val="FF0000"/>
                </a:solidFill>
                <a:cs typeface="Times New Roman"/>
              </a:rPr>
              <a:t>Pointer-variable 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=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new</a:t>
            </a:r>
            <a:r>
              <a:rPr sz="2000" b="1" spc="-4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data-type(value);</a:t>
            </a:r>
            <a:endParaRPr sz="2000">
              <a:solidFill>
                <a:srgbClr val="FF0000"/>
              </a:solidFill>
              <a:cs typeface="Times New Roman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04800" y="152400"/>
            <a:ext cx="58674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0" lvl="0" indent="0" algn="l" defTabSz="914293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Operators (3/4)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1314037"/>
            <a:ext cx="8036559" cy="4527521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2400" b="1" spc="-5" dirty="0">
                <a:cs typeface="Times New Roman"/>
              </a:rPr>
              <a:t>delete</a:t>
            </a:r>
            <a:r>
              <a:rPr sz="2400" b="1" spc="-10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operator:</a:t>
            </a:r>
            <a:endParaRPr sz="2400"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cs typeface="Times New Roman"/>
              </a:rPr>
              <a:t>When data object is no longer needed, it is destroyed to release </a:t>
            </a:r>
            <a:r>
              <a:rPr sz="2400">
                <a:cs typeface="Times New Roman"/>
              </a:rPr>
              <a:t>the</a:t>
            </a:r>
            <a:r>
              <a:rPr sz="2400" spc="-260">
                <a:cs typeface="Times New Roman"/>
              </a:rPr>
              <a:t> </a:t>
            </a:r>
            <a:r>
              <a:rPr sz="2400" spc="-10" smtClean="0">
                <a:cs typeface="Times New Roman"/>
              </a:rPr>
              <a:t>memory</a:t>
            </a:r>
            <a:r>
              <a:rPr lang="en-US" sz="2400" spc="-10" dirty="0" smtClean="0">
                <a:cs typeface="Times New Roman"/>
              </a:rPr>
              <a:t> </a:t>
            </a:r>
            <a:r>
              <a:rPr sz="2400" smtClean="0">
                <a:cs typeface="Times New Roman"/>
              </a:rPr>
              <a:t>space </a:t>
            </a:r>
            <a:r>
              <a:rPr sz="2400" dirty="0">
                <a:cs typeface="Times New Roman"/>
              </a:rPr>
              <a:t>for reuse as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:</a:t>
            </a:r>
            <a:endParaRPr sz="2400">
              <a:cs typeface="Times New Roman"/>
            </a:endParaRPr>
          </a:p>
          <a:p>
            <a:pPr marL="927100" algn="just">
              <a:lnSpc>
                <a:spcPct val="100000"/>
              </a:lnSpc>
              <a:spcBef>
                <a:spcPts val="480"/>
              </a:spcBef>
            </a:pPr>
            <a:r>
              <a:rPr sz="2400" b="1" spc="-5" dirty="0">
                <a:solidFill>
                  <a:srgbClr val="FF0000"/>
                </a:solidFill>
                <a:cs typeface="Times New Roman"/>
              </a:rPr>
              <a:t>delete</a:t>
            </a:r>
            <a:r>
              <a:rPr sz="2400" b="1" spc="-3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cs typeface="Times New Roman"/>
              </a:rPr>
              <a:t>pointer-variable;</a:t>
            </a:r>
            <a:endParaRPr sz="2400">
              <a:solidFill>
                <a:srgbClr val="FF0000"/>
              </a:solidFill>
              <a:cs typeface="Times New Roman"/>
            </a:endParaRPr>
          </a:p>
          <a:p>
            <a:pPr marL="355600" marR="175260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pointer-variable </a:t>
            </a:r>
            <a:r>
              <a:rPr sz="2400" dirty="0">
                <a:cs typeface="Times New Roman"/>
              </a:rPr>
              <a:t>is the pointer that points to a data object created</a:t>
            </a:r>
            <a:r>
              <a:rPr sz="2400" spc="-2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with  </a:t>
            </a:r>
            <a:r>
              <a:rPr sz="2400" spc="-30" dirty="0">
                <a:cs typeface="Times New Roman"/>
              </a:rPr>
              <a:t>new.</a:t>
            </a:r>
            <a:endParaRPr sz="2400"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400"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tabLst>
                <a:tab pos="354965" algn="l"/>
                <a:tab pos="355600" algn="l"/>
              </a:tabLst>
            </a:pPr>
            <a:r>
              <a:rPr sz="2400" spc="-5" dirty="0">
                <a:cs typeface="Times New Roman"/>
              </a:rPr>
              <a:t>Examples:</a:t>
            </a:r>
            <a:endParaRPr sz="2400">
              <a:cs typeface="Times New Roman"/>
            </a:endParaRPr>
          </a:p>
          <a:p>
            <a:pPr marL="355600" marR="6692900" indent="-342900" algn="just">
              <a:spcBef>
                <a:spcPts val="490"/>
              </a:spcBef>
              <a:tabLst>
                <a:tab pos="354013" algn="l"/>
                <a:tab pos="355600" algn="l"/>
                <a:tab pos="1712913" algn="l"/>
              </a:tabLst>
            </a:pPr>
            <a:r>
              <a:rPr lang="en-US" sz="2400" dirty="0" smtClean="0">
                <a:cs typeface="Times New Roman"/>
              </a:rPr>
              <a:t>delete p;</a:t>
            </a:r>
          </a:p>
          <a:p>
            <a:pPr marL="355600" marR="6692900" indent="-342900" algn="just">
              <a:spcBef>
                <a:spcPts val="490"/>
              </a:spcBef>
              <a:tabLst>
                <a:tab pos="354013" algn="l"/>
                <a:tab pos="355600" algn="l"/>
                <a:tab pos="1712913" algn="l"/>
              </a:tabLst>
            </a:pPr>
            <a:r>
              <a:rPr lang="en-US" sz="2400" dirty="0" smtClean="0">
                <a:cs typeface="Times New Roman"/>
              </a:rPr>
              <a:t>delete q;</a:t>
            </a:r>
          </a:p>
          <a:p>
            <a:pPr marL="355600" marR="6692900" indent="-342900" algn="just">
              <a:spcBef>
                <a:spcPts val="490"/>
              </a:spcBef>
              <a:tabLst>
                <a:tab pos="354013" algn="l"/>
                <a:tab pos="355600" algn="l"/>
                <a:tab pos="1712913" algn="l"/>
              </a:tabLst>
            </a:pPr>
            <a:endParaRPr sz="2400">
              <a:cs typeface="Times New Roman"/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04800" y="152400"/>
            <a:ext cx="58674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0" lvl="0" indent="0" algn="l" defTabSz="914293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Operators (4/4)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49483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b="1" spc="-5" smtClean="0">
                <a:cs typeface="Times New Roman"/>
              </a:rPr>
              <a:t>Ma</a:t>
            </a:r>
            <a:r>
              <a:rPr b="1" smtClean="0">
                <a:cs typeface="Times New Roman"/>
              </a:rPr>
              <a:t>n</a:t>
            </a:r>
            <a:r>
              <a:rPr b="1" spc="-5" smtClean="0">
                <a:cs typeface="Times New Roman"/>
              </a:rPr>
              <a:t>i</a:t>
            </a:r>
            <a:r>
              <a:rPr b="1" smtClean="0">
                <a:cs typeface="Times New Roman"/>
              </a:rPr>
              <a:t>p</a:t>
            </a:r>
            <a:r>
              <a:rPr b="1" spc="-5" smtClean="0">
                <a:cs typeface="Times New Roman"/>
              </a:rPr>
              <a:t>u</a:t>
            </a:r>
            <a:r>
              <a:rPr b="1" smtClean="0">
                <a:cs typeface="Times New Roman"/>
              </a:rPr>
              <a:t>l</a:t>
            </a:r>
            <a:r>
              <a:rPr b="1" spc="-5" smtClean="0">
                <a:cs typeface="Times New Roman"/>
              </a:rPr>
              <a:t>at</a:t>
            </a:r>
            <a:r>
              <a:rPr b="1" spc="5" smtClean="0">
                <a:cs typeface="Times New Roman"/>
              </a:rPr>
              <a:t>o</a:t>
            </a:r>
            <a:r>
              <a:rPr b="1" spc="-5" smtClean="0">
                <a:cs typeface="Times New Roman"/>
              </a:rPr>
              <a:t>rs</a:t>
            </a:r>
            <a:r>
              <a:rPr lang="en-US" b="1" spc="-5" dirty="0" smtClean="0">
                <a:cs typeface="Times New Roman"/>
              </a:rPr>
              <a:t> (1/2)</a:t>
            </a:r>
            <a:endParaRPr b="1" spc="-5" dirty="0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3979"/>
            <a:ext cx="8074025" cy="470385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z="2800" b="1" dirty="0">
                <a:cs typeface="Times New Roman"/>
              </a:rPr>
              <a:t>Manipulators:</a:t>
            </a:r>
            <a:endParaRPr sz="2800">
              <a:cs typeface="Times New Roman"/>
            </a:endParaRPr>
          </a:p>
          <a:p>
            <a:pPr marL="756285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Operators that are used </a:t>
            </a:r>
            <a:r>
              <a:rPr sz="2800" spc="-5" dirty="0">
                <a:cs typeface="Times New Roman"/>
              </a:rPr>
              <a:t>to format </a:t>
            </a:r>
            <a:r>
              <a:rPr sz="2800" dirty="0">
                <a:cs typeface="Times New Roman"/>
              </a:rPr>
              <a:t>the data</a:t>
            </a:r>
            <a:r>
              <a:rPr sz="2800" spc="-145" dirty="0">
                <a:cs typeface="Times New Roman"/>
              </a:rPr>
              <a:t> </a:t>
            </a:r>
            <a:r>
              <a:rPr sz="2800" spc="-20" dirty="0">
                <a:cs typeface="Times New Roman"/>
              </a:rPr>
              <a:t>display.</a:t>
            </a:r>
            <a:endParaRPr sz="2800">
              <a:cs typeface="Times New Roman"/>
            </a:endParaRPr>
          </a:p>
          <a:p>
            <a:pPr marL="756285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cs typeface="Times New Roman"/>
              </a:rPr>
              <a:t>Commonly </a:t>
            </a:r>
            <a:r>
              <a:rPr sz="2800" dirty="0">
                <a:cs typeface="Times New Roman"/>
              </a:rPr>
              <a:t>used </a:t>
            </a:r>
            <a:r>
              <a:rPr sz="2800" spc="-5" dirty="0">
                <a:cs typeface="Times New Roman"/>
              </a:rPr>
              <a:t>manipulators </a:t>
            </a:r>
            <a:r>
              <a:rPr sz="2800" dirty="0">
                <a:cs typeface="Times New Roman"/>
              </a:rPr>
              <a:t>are </a:t>
            </a:r>
            <a:r>
              <a:rPr sz="2800" b="1" dirty="0">
                <a:solidFill>
                  <a:srgbClr val="FF0000"/>
                </a:solidFill>
                <a:cs typeface="Times New Roman"/>
              </a:rPr>
              <a:t>endl</a:t>
            </a:r>
            <a:r>
              <a:rPr sz="2800" b="1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and</a:t>
            </a:r>
            <a:r>
              <a:rPr sz="2800" spc="-75" dirty="0"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cs typeface="Times New Roman"/>
              </a:rPr>
              <a:t>setw</a:t>
            </a:r>
            <a:r>
              <a:rPr sz="2800" dirty="0">
                <a:cs typeface="Times New Roman"/>
              </a:rPr>
              <a:t>.</a:t>
            </a:r>
            <a:endParaRPr sz="2800"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  <a:tab pos="4864100" algn="l"/>
              </a:tabLst>
            </a:pPr>
            <a:r>
              <a:rPr sz="2800" dirty="0">
                <a:cs typeface="Times New Roman"/>
              </a:rPr>
              <a:t>The  </a:t>
            </a:r>
            <a:r>
              <a:rPr sz="2800" b="1" spc="-5" dirty="0">
                <a:solidFill>
                  <a:srgbClr val="FF0000"/>
                </a:solidFill>
                <a:cs typeface="Times New Roman"/>
              </a:rPr>
              <a:t>endl</a:t>
            </a:r>
            <a:r>
              <a:rPr sz="2800" b="1" spc="-5" dirty="0">
                <a:cs typeface="Times New Roman"/>
              </a:rPr>
              <a:t>  </a:t>
            </a:r>
            <a:r>
              <a:rPr sz="2800" spc="-10" dirty="0">
                <a:cs typeface="Times New Roman"/>
              </a:rPr>
              <a:t>manipulator,  </a:t>
            </a:r>
            <a:r>
              <a:rPr sz="2800" spc="-5" dirty="0">
                <a:cs typeface="Times New Roman"/>
              </a:rPr>
              <a:t>when </a:t>
            </a:r>
            <a:r>
              <a:rPr sz="2800" spc="3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used </a:t>
            </a:r>
            <a:r>
              <a:rPr sz="2800" spc="10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in</a:t>
            </a:r>
            <a:r>
              <a:rPr sz="2800" spc="-10">
                <a:cs typeface="Times New Roman"/>
              </a:rPr>
              <a:t>	</a:t>
            </a:r>
            <a:r>
              <a:rPr sz="2800" spc="-10" smtClean="0">
                <a:cs typeface="Times New Roman"/>
              </a:rPr>
              <a:t>an</a:t>
            </a:r>
            <a:r>
              <a:rPr lang="en-US" sz="2800" spc="-10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output </a:t>
            </a:r>
            <a:r>
              <a:rPr sz="2800" spc="-5" dirty="0">
                <a:cs typeface="Times New Roman"/>
              </a:rPr>
              <a:t>statement, causes </a:t>
            </a:r>
            <a:r>
              <a:rPr sz="2800" dirty="0">
                <a:cs typeface="Times New Roman"/>
              </a:rPr>
              <a:t>a  linefeed </a:t>
            </a:r>
            <a:r>
              <a:rPr sz="2800" spc="-5" dirty="0">
                <a:cs typeface="Times New Roman"/>
              </a:rPr>
              <a:t>to </a:t>
            </a:r>
            <a:r>
              <a:rPr sz="2800" dirty="0">
                <a:cs typeface="Times New Roman"/>
              </a:rPr>
              <a:t>be</a:t>
            </a:r>
            <a:r>
              <a:rPr sz="2800" spc="-5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inserted.</a:t>
            </a:r>
            <a:endParaRPr sz="2800">
              <a:cs typeface="Times New Roman"/>
            </a:endParaRPr>
          </a:p>
          <a:p>
            <a:pPr marL="756285" indent="-287020" algn="just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It has </a:t>
            </a:r>
            <a:r>
              <a:rPr sz="2800" spc="-5" dirty="0">
                <a:cs typeface="Times New Roman"/>
              </a:rPr>
              <a:t>same effect as </a:t>
            </a:r>
            <a:r>
              <a:rPr sz="2800" dirty="0">
                <a:cs typeface="Times New Roman"/>
              </a:rPr>
              <a:t>using the newline character</a:t>
            </a:r>
            <a:r>
              <a:rPr sz="2800" spc="-15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“\n”.</a:t>
            </a:r>
            <a:endParaRPr sz="2800">
              <a:cs typeface="Times New Roman"/>
            </a:endParaRPr>
          </a:p>
          <a:p>
            <a:pPr marL="756285" indent="-287020" algn="just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800" dirty="0">
                <a:cs typeface="Times New Roman"/>
              </a:rPr>
              <a:t>The</a:t>
            </a:r>
            <a:r>
              <a:rPr sz="2800" spc="120" dirty="0"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cs typeface="Times New Roman"/>
              </a:rPr>
              <a:t>setw</a:t>
            </a:r>
            <a:r>
              <a:rPr sz="2800" b="1" spc="12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manipulator</a:t>
            </a:r>
            <a:r>
              <a:rPr sz="2800" spc="114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specifies</a:t>
            </a:r>
            <a:r>
              <a:rPr sz="2800" spc="12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the</a:t>
            </a:r>
            <a:r>
              <a:rPr sz="2800" spc="11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field</a:t>
            </a:r>
            <a:r>
              <a:rPr sz="2800" spc="11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width</a:t>
            </a:r>
            <a:r>
              <a:rPr sz="2800" spc="13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for</a:t>
            </a:r>
            <a:r>
              <a:rPr sz="2800" spc="13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the</a:t>
            </a:r>
            <a:r>
              <a:rPr sz="2800" spc="11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output</a:t>
            </a:r>
            <a:r>
              <a:rPr sz="2800" spc="125" dirty="0">
                <a:cs typeface="Times New Roman"/>
              </a:rPr>
              <a:t> </a:t>
            </a:r>
            <a:r>
              <a:rPr sz="2800" spc="-5">
                <a:cs typeface="Times New Roman"/>
              </a:rPr>
              <a:t>and</a:t>
            </a:r>
            <a:r>
              <a:rPr sz="2800" spc="114">
                <a:cs typeface="Times New Roman"/>
              </a:rPr>
              <a:t> </a:t>
            </a:r>
            <a:r>
              <a:rPr sz="2800" spc="-5" smtClean="0">
                <a:cs typeface="Times New Roman"/>
              </a:rPr>
              <a:t>print</a:t>
            </a:r>
            <a:r>
              <a:rPr lang="en-US" sz="2800" spc="-5" dirty="0" smtClean="0">
                <a:cs typeface="Times New Roman"/>
              </a:rPr>
              <a:t> </a:t>
            </a:r>
            <a:r>
              <a:rPr sz="2800" smtClean="0">
                <a:cs typeface="Times New Roman"/>
              </a:rPr>
              <a:t>the </a:t>
            </a:r>
            <a:r>
              <a:rPr sz="2800" dirty="0">
                <a:cs typeface="Times New Roman"/>
              </a:rPr>
              <a:t>result </a:t>
            </a:r>
            <a:r>
              <a:rPr sz="2800" spc="-5" dirty="0">
                <a:cs typeface="Times New Roman"/>
              </a:rPr>
              <a:t>in </a:t>
            </a:r>
            <a:r>
              <a:rPr sz="2800" dirty="0">
                <a:cs typeface="Times New Roman"/>
              </a:rPr>
              <a:t>right justified</a:t>
            </a:r>
            <a:r>
              <a:rPr sz="2800" spc="-14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form.</a:t>
            </a:r>
            <a:endParaRPr sz="280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4370" y="1370533"/>
            <a:ext cx="999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9191" y="1838451"/>
          <a:ext cx="8568690" cy="4727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4345"/>
                <a:gridCol w="4284345"/>
              </a:tblGrid>
              <a:tr h="5411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dirty="0">
                          <a:latin typeface="+mn-lt"/>
                          <a:cs typeface="Calibri"/>
                        </a:rPr>
                        <a:t>Use of</a:t>
                      </a:r>
                      <a:r>
                        <a:rPr sz="2000" b="1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+mn-lt"/>
                          <a:cs typeface="Calibri"/>
                        </a:rPr>
                        <a:t>endl</a:t>
                      </a:r>
                      <a:endParaRPr sz="2000">
                        <a:latin typeface="+mn-lt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dirty="0">
                          <a:latin typeface="+mn-lt"/>
                          <a:cs typeface="Calibri"/>
                        </a:rPr>
                        <a:t>Use of</a:t>
                      </a:r>
                      <a:r>
                        <a:rPr sz="2000" b="1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+mn-lt"/>
                          <a:cs typeface="Calibri"/>
                        </a:rPr>
                        <a:t>setw</a:t>
                      </a:r>
                      <a:endParaRPr sz="2000">
                        <a:latin typeface="+mn-lt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33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int</a:t>
                      </a:r>
                      <a:r>
                        <a:rPr sz="2000" spc="-10" dirty="0">
                          <a:latin typeface="+mn-lt"/>
                          <a:cs typeface="Times New Roman"/>
                        </a:rPr>
                        <a:t> main()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+mn-lt"/>
                          <a:cs typeface="Times New Roman"/>
                        </a:rPr>
                        <a:t>{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int</a:t>
                      </a:r>
                      <a:r>
                        <a:rPr sz="2000" spc="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m=1234,n=56,p=789;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cout&lt;&lt;“m = ”&lt;&lt; m &lt;&lt;</a:t>
                      </a:r>
                      <a:r>
                        <a:rPr sz="2000" spc="3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0170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&lt;&lt;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“n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= ” &lt;&lt; n &lt;&lt;</a:t>
                      </a:r>
                      <a:r>
                        <a:rPr sz="2000" spc="-5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01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&lt;&lt;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“p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= ” &lt;&lt; p &lt;&lt;</a:t>
                      </a:r>
                      <a:r>
                        <a:rPr sz="2000" spc="-6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return</a:t>
                      </a:r>
                      <a:r>
                        <a:rPr sz="2000" spc="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0;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+mn-lt"/>
                          <a:cs typeface="Times New Roman"/>
                        </a:rPr>
                        <a:t>}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1359535" marR="2218690" indent="-1268730">
                        <a:lnSpc>
                          <a:spcPct val="100000"/>
                        </a:lnSpc>
                        <a:tabLst>
                          <a:tab pos="1275715" algn="l"/>
                        </a:tabLst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output:	</a:t>
                      </a:r>
                      <a:r>
                        <a:rPr sz="2000" spc="-5">
                          <a:latin typeface="+mn-lt"/>
                          <a:cs typeface="Times New Roman"/>
                        </a:rPr>
                        <a:t>m </a:t>
                      </a:r>
                      <a:r>
                        <a:rPr sz="2000" spc="-5" smtClean="0">
                          <a:latin typeface="+mn-lt"/>
                          <a:cs typeface="Times New Roman"/>
                        </a:rPr>
                        <a:t>=234 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n =</a:t>
                      </a:r>
                      <a:r>
                        <a:rPr sz="2000" spc="-3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56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135953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p =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789</a:t>
                      </a:r>
                      <a:endParaRPr sz="2000">
                        <a:latin typeface="+mn-lt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int</a:t>
                      </a:r>
                      <a:r>
                        <a:rPr sz="2000" spc="-10" dirty="0">
                          <a:latin typeface="+mn-lt"/>
                          <a:cs typeface="Times New Roman"/>
                        </a:rPr>
                        <a:t> main()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+mn-lt"/>
                          <a:cs typeface="Times New Roman"/>
                        </a:rPr>
                        <a:t>{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44577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int</a:t>
                      </a:r>
                      <a:r>
                        <a:rPr sz="2000" spc="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m=1234,n=56,p=789;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44577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cout&lt;&lt;“m = ”&lt;&lt;setw(5)&lt;&lt; m &lt;&lt;</a:t>
                      </a:r>
                      <a:r>
                        <a:rPr sz="2000" spc="6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02969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&lt;&lt;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“n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= ” &lt;&lt; setw(5)&lt;&lt;n &lt;&lt;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029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&lt;&lt;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“p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= ” &lt;&lt;setw(5)&lt;&lt; p &lt;&lt;</a:t>
                      </a:r>
                      <a:r>
                        <a:rPr sz="2000" spc="-1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endl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2075" marR="129539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// setw(5) specifies a field width 5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for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printing the  values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return</a:t>
                      </a:r>
                      <a:r>
                        <a:rPr sz="2000" spc="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0;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+mn-lt"/>
                          <a:cs typeface="Times New Roman"/>
                        </a:rPr>
                        <a:t>}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R="1964055" algn="r">
                        <a:lnSpc>
                          <a:spcPct val="100000"/>
                        </a:lnSpc>
                        <a:tabLst>
                          <a:tab pos="1386205" algn="l"/>
                        </a:tabLst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output:	m </a:t>
                      </a:r>
                      <a:r>
                        <a:rPr sz="2000" spc="-5">
                          <a:latin typeface="+mn-lt"/>
                          <a:cs typeface="Times New Roman"/>
                        </a:rPr>
                        <a:t>=</a:t>
                      </a:r>
                      <a:r>
                        <a:rPr sz="2000" spc="36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smtClean="0">
                          <a:latin typeface="+mn-lt"/>
                          <a:cs typeface="Times New Roman"/>
                        </a:rPr>
                        <a:t>234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R="1938020" algn="r">
                        <a:lnSpc>
                          <a:spcPts val="1900"/>
                        </a:lnSpc>
                        <a:spcBef>
                          <a:spcPts val="5"/>
                        </a:spcBef>
                        <a:tabLst>
                          <a:tab pos="570230" algn="l"/>
                        </a:tabLst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n  =	56</a:t>
                      </a:r>
                      <a:endParaRPr sz="2000">
                        <a:latin typeface="+mn-lt"/>
                        <a:cs typeface="Times New Roman"/>
                      </a:endParaRPr>
                    </a:p>
                    <a:p>
                      <a:pPr marR="1937385" algn="r">
                        <a:lnSpc>
                          <a:spcPts val="1900"/>
                        </a:lnSpc>
                        <a:tabLst>
                          <a:tab pos="469265" algn="l"/>
                        </a:tabLst>
                      </a:pPr>
                      <a:r>
                        <a:rPr sz="2000" spc="-5" dirty="0">
                          <a:latin typeface="+mn-lt"/>
                          <a:cs typeface="Times New Roman"/>
                        </a:rPr>
                        <a:t>p </a:t>
                      </a:r>
                      <a:r>
                        <a:rPr sz="2000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Times New Roman"/>
                        </a:rPr>
                        <a:t>=	789</a:t>
                      </a:r>
                      <a:endParaRPr sz="2000">
                        <a:latin typeface="+mn-lt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2"/>
          <p:cNvSpPr txBox="1">
            <a:spLocks/>
          </p:cNvSpPr>
          <p:nvPr/>
        </p:nvSpPr>
        <p:spPr>
          <a:xfrm>
            <a:off x="457200" y="228600"/>
            <a:ext cx="49483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0" lvl="0" indent="0" algn="l" defTabSz="91429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Ma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n</a:t>
            </a: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i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p</a:t>
            </a: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u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l</a:t>
            </a: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at</a:t>
            </a:r>
            <a:r>
              <a:rPr kumimoji="0" lang="en-US" sz="4400" b="1" i="0" u="none" strike="noStrike" kern="1200" cap="none" spc="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o</a:t>
            </a:r>
            <a:r>
              <a:rPr kumimoji="0" lang="en-US" sz="4400" b="1" i="0" u="none" strike="noStrike" kern="1200" cap="none" spc="-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rs (2/2)</a:t>
            </a:r>
            <a:endParaRPr kumimoji="0" lang="en-US" sz="4400" b="1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algn="l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Control</a:t>
            </a:r>
            <a:r>
              <a:rPr b="1" spc="-55" dirty="0"/>
              <a:t> </a:t>
            </a:r>
            <a:r>
              <a:rPr b="1" spc="-10" dirty="0"/>
              <a:t>structures(1/5)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219200"/>
            <a:ext cx="5334000" cy="412420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800" dirty="0">
                <a:cs typeface="Times New Roman"/>
              </a:rPr>
              <a:t>Control</a:t>
            </a:r>
            <a:r>
              <a:rPr sz="2800" spc="-5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structures</a:t>
            </a:r>
            <a:endParaRPr sz="2800"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cs typeface="Times New Roman"/>
              </a:rPr>
              <a:t>Branching</a:t>
            </a:r>
            <a:r>
              <a:rPr sz="2800" spc="-5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structure</a:t>
            </a:r>
            <a:endParaRPr sz="2800">
              <a:solidFill>
                <a:srgbClr val="FF0000"/>
              </a:solidFill>
              <a:cs typeface="Times New Roman"/>
            </a:endParaRPr>
          </a:p>
          <a:p>
            <a:pPr marL="1155065" lvl="1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5700" algn="l"/>
              </a:tabLst>
            </a:pPr>
            <a:r>
              <a:rPr sz="2800" spc="-5" dirty="0">
                <a:cs typeface="Times New Roman"/>
              </a:rPr>
              <a:t>If-else</a:t>
            </a:r>
            <a:r>
              <a:rPr sz="2800" spc="-7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statement</a:t>
            </a:r>
            <a:endParaRPr sz="2800">
              <a:cs typeface="Times New Roman"/>
            </a:endParaRPr>
          </a:p>
          <a:p>
            <a:pPr marL="11550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5700" algn="l"/>
              </a:tabLst>
            </a:pPr>
            <a:r>
              <a:rPr sz="2800" spc="-5" dirty="0">
                <a:cs typeface="Times New Roman"/>
              </a:rPr>
              <a:t>Switch</a:t>
            </a:r>
            <a:r>
              <a:rPr sz="2800" spc="-6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statement</a:t>
            </a:r>
            <a:endParaRPr sz="2800"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65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cs typeface="Times New Roman"/>
              </a:rPr>
              <a:t>Loop</a:t>
            </a:r>
            <a:r>
              <a:rPr sz="2800" spc="-1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structure</a:t>
            </a:r>
            <a:endParaRPr sz="2800">
              <a:solidFill>
                <a:srgbClr val="FF0000"/>
              </a:solidFill>
              <a:cs typeface="Times New Roman"/>
            </a:endParaRPr>
          </a:p>
          <a:p>
            <a:pPr marL="1155065" lvl="1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5700" algn="l"/>
              </a:tabLst>
            </a:pPr>
            <a:r>
              <a:rPr sz="2800" spc="-5" dirty="0">
                <a:cs typeface="Times New Roman"/>
              </a:rPr>
              <a:t>for</a:t>
            </a:r>
            <a:r>
              <a:rPr sz="2800" spc="-1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loop</a:t>
            </a:r>
            <a:endParaRPr sz="2800">
              <a:cs typeface="Times New Roman"/>
            </a:endParaRPr>
          </a:p>
          <a:p>
            <a:pPr marL="11550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800" dirty="0">
                <a:cs typeface="Times New Roman"/>
              </a:rPr>
              <a:t>while</a:t>
            </a:r>
            <a:r>
              <a:rPr sz="2800" spc="-12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loop</a:t>
            </a:r>
            <a:endParaRPr sz="2800">
              <a:cs typeface="Times New Roman"/>
            </a:endParaRPr>
          </a:p>
          <a:p>
            <a:pPr marL="11550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800" dirty="0">
                <a:cs typeface="Times New Roman"/>
              </a:rPr>
              <a:t>do-while</a:t>
            </a:r>
            <a:r>
              <a:rPr sz="2800" spc="-13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loop</a:t>
            </a:r>
            <a:endParaRPr sz="280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algn="l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Control</a:t>
            </a:r>
            <a:r>
              <a:rPr b="1" spc="-55" dirty="0"/>
              <a:t> </a:t>
            </a:r>
            <a:r>
              <a:rPr b="1" spc="-10" dirty="0"/>
              <a:t>structures(2/5)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88" y="1313839"/>
            <a:ext cx="4884420" cy="12331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67030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If-else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statement	</a:t>
            </a:r>
            <a:r>
              <a:rPr sz="2200" spc="-5" dirty="0">
                <a:latin typeface="Times New Roman"/>
                <a:cs typeface="Times New Roman"/>
              </a:rPr>
              <a:t>Flow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chart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dirty="0">
                <a:latin typeface="Times New Roman"/>
                <a:cs typeface="Times New Roman"/>
              </a:rPr>
              <a:t>Syntax: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(condition)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793" y="2588767"/>
            <a:ext cx="159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1305" y="2991104"/>
            <a:ext cx="2209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if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statements;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3325520"/>
            <a:ext cx="2756535" cy="203771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else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else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statements;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125" y="4142549"/>
            <a:ext cx="2000250" cy="500380"/>
          </a:xfrm>
          <a:prstGeom prst="rect">
            <a:avLst/>
          </a:prstGeom>
          <a:ln w="25400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4195">
              <a:lnSpc>
                <a:spcPts val="1855"/>
              </a:lnSpc>
            </a:pPr>
            <a:r>
              <a:rPr sz="1800" spc="-5" dirty="0">
                <a:latin typeface="Calibri"/>
                <a:cs typeface="Calibri"/>
              </a:rPr>
              <a:t>else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  <a:p>
            <a:pPr marL="481330">
              <a:lnSpc>
                <a:spcPts val="2080"/>
              </a:lnSpc>
            </a:pPr>
            <a:r>
              <a:rPr sz="1800" spc="-10" dirty="0">
                <a:latin typeface="Calibri"/>
                <a:cs typeface="Calibri"/>
              </a:rPr>
              <a:t>statements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22901" y="2558288"/>
            <a:ext cx="2844165" cy="3656965"/>
            <a:chOff x="4922901" y="2558288"/>
            <a:chExt cx="2844165" cy="3656965"/>
          </a:xfrm>
        </p:grpSpPr>
        <p:sp>
          <p:nvSpPr>
            <p:cNvPr id="9" name="object 9"/>
            <p:cNvSpPr/>
            <p:nvPr/>
          </p:nvSpPr>
          <p:spPr>
            <a:xfrm>
              <a:off x="7000875" y="3064637"/>
              <a:ext cx="766445" cy="1078865"/>
            </a:xfrm>
            <a:custGeom>
              <a:avLst/>
              <a:gdLst/>
              <a:ahLst/>
              <a:cxnLst/>
              <a:rect l="l" t="t" r="r" b="b"/>
              <a:pathLst>
                <a:path w="766445" h="1078864">
                  <a:moveTo>
                    <a:pt x="669798" y="982726"/>
                  </a:moveTo>
                  <a:lnTo>
                    <a:pt x="663701" y="986282"/>
                  </a:lnTo>
                  <a:lnTo>
                    <a:pt x="662685" y="990092"/>
                  </a:lnTo>
                  <a:lnTo>
                    <a:pt x="714375" y="1078738"/>
                  </a:lnTo>
                  <a:lnTo>
                    <a:pt x="721706" y="1066164"/>
                  </a:lnTo>
                  <a:lnTo>
                    <a:pt x="708025" y="1066164"/>
                  </a:lnTo>
                  <a:lnTo>
                    <a:pt x="708025" y="1042742"/>
                  </a:lnTo>
                  <a:lnTo>
                    <a:pt x="673607" y="983742"/>
                  </a:lnTo>
                  <a:lnTo>
                    <a:pt x="669798" y="982726"/>
                  </a:lnTo>
                  <a:close/>
                </a:path>
                <a:path w="766445" h="1078864">
                  <a:moveTo>
                    <a:pt x="708025" y="1042742"/>
                  </a:moveTo>
                  <a:lnTo>
                    <a:pt x="708025" y="1066164"/>
                  </a:lnTo>
                  <a:lnTo>
                    <a:pt x="720725" y="1066164"/>
                  </a:lnTo>
                  <a:lnTo>
                    <a:pt x="720725" y="1062989"/>
                  </a:lnTo>
                  <a:lnTo>
                    <a:pt x="708914" y="1062989"/>
                  </a:lnTo>
                  <a:lnTo>
                    <a:pt x="714375" y="1053628"/>
                  </a:lnTo>
                  <a:lnTo>
                    <a:pt x="708025" y="1042742"/>
                  </a:lnTo>
                  <a:close/>
                </a:path>
                <a:path w="766445" h="1078864">
                  <a:moveTo>
                    <a:pt x="758951" y="982726"/>
                  </a:moveTo>
                  <a:lnTo>
                    <a:pt x="755142" y="983742"/>
                  </a:lnTo>
                  <a:lnTo>
                    <a:pt x="720725" y="1042742"/>
                  </a:lnTo>
                  <a:lnTo>
                    <a:pt x="720725" y="1066164"/>
                  </a:lnTo>
                  <a:lnTo>
                    <a:pt x="721706" y="1066164"/>
                  </a:lnTo>
                  <a:lnTo>
                    <a:pt x="766064" y="990092"/>
                  </a:lnTo>
                  <a:lnTo>
                    <a:pt x="765048" y="986282"/>
                  </a:lnTo>
                  <a:lnTo>
                    <a:pt x="758951" y="982726"/>
                  </a:lnTo>
                  <a:close/>
                </a:path>
                <a:path w="766445" h="1078864">
                  <a:moveTo>
                    <a:pt x="714375" y="1053628"/>
                  </a:moveTo>
                  <a:lnTo>
                    <a:pt x="708914" y="1062989"/>
                  </a:lnTo>
                  <a:lnTo>
                    <a:pt x="719835" y="1062989"/>
                  </a:lnTo>
                  <a:lnTo>
                    <a:pt x="714375" y="1053628"/>
                  </a:lnTo>
                  <a:close/>
                </a:path>
                <a:path w="766445" h="1078864">
                  <a:moveTo>
                    <a:pt x="720725" y="1042742"/>
                  </a:moveTo>
                  <a:lnTo>
                    <a:pt x="714375" y="1053628"/>
                  </a:lnTo>
                  <a:lnTo>
                    <a:pt x="719835" y="1062989"/>
                  </a:lnTo>
                  <a:lnTo>
                    <a:pt x="720725" y="1062989"/>
                  </a:lnTo>
                  <a:lnTo>
                    <a:pt x="720725" y="1042742"/>
                  </a:lnTo>
                  <a:close/>
                </a:path>
                <a:path w="766445" h="1078864">
                  <a:moveTo>
                    <a:pt x="708025" y="6350"/>
                  </a:moveTo>
                  <a:lnTo>
                    <a:pt x="708025" y="1042742"/>
                  </a:lnTo>
                  <a:lnTo>
                    <a:pt x="714375" y="1053628"/>
                  </a:lnTo>
                  <a:lnTo>
                    <a:pt x="720725" y="1042742"/>
                  </a:lnTo>
                  <a:lnTo>
                    <a:pt x="720725" y="12700"/>
                  </a:lnTo>
                  <a:lnTo>
                    <a:pt x="714375" y="12700"/>
                  </a:lnTo>
                  <a:lnTo>
                    <a:pt x="708025" y="6350"/>
                  </a:lnTo>
                  <a:close/>
                </a:path>
                <a:path w="766445" h="1078864">
                  <a:moveTo>
                    <a:pt x="71793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708025" y="12700"/>
                  </a:lnTo>
                  <a:lnTo>
                    <a:pt x="708025" y="6350"/>
                  </a:lnTo>
                  <a:lnTo>
                    <a:pt x="720725" y="6350"/>
                  </a:lnTo>
                  <a:lnTo>
                    <a:pt x="720725" y="2921"/>
                  </a:lnTo>
                  <a:lnTo>
                    <a:pt x="717930" y="0"/>
                  </a:lnTo>
                  <a:close/>
                </a:path>
                <a:path w="766445" h="1078864">
                  <a:moveTo>
                    <a:pt x="720725" y="6350"/>
                  </a:moveTo>
                  <a:lnTo>
                    <a:pt x="708025" y="6350"/>
                  </a:lnTo>
                  <a:lnTo>
                    <a:pt x="714375" y="12700"/>
                  </a:lnTo>
                  <a:lnTo>
                    <a:pt x="720725" y="12700"/>
                  </a:lnTo>
                  <a:lnTo>
                    <a:pt x="720725" y="63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57875" y="5428488"/>
              <a:ext cx="714375" cy="357505"/>
            </a:xfrm>
            <a:custGeom>
              <a:avLst/>
              <a:gdLst/>
              <a:ahLst/>
              <a:cxnLst/>
              <a:rect l="l" t="t" r="r" b="b"/>
              <a:pathLst>
                <a:path w="714375" h="357504">
                  <a:moveTo>
                    <a:pt x="0" y="178574"/>
                  </a:moveTo>
                  <a:lnTo>
                    <a:pt x="22344" y="116236"/>
                  </a:lnTo>
                  <a:lnTo>
                    <a:pt x="48763" y="88414"/>
                  </a:lnTo>
                  <a:lnTo>
                    <a:pt x="84003" y="63493"/>
                  </a:lnTo>
                  <a:lnTo>
                    <a:pt x="127056" y="41976"/>
                  </a:lnTo>
                  <a:lnTo>
                    <a:pt x="176915" y="24365"/>
                  </a:lnTo>
                  <a:lnTo>
                    <a:pt x="232572" y="11164"/>
                  </a:lnTo>
                  <a:lnTo>
                    <a:pt x="293020" y="2874"/>
                  </a:lnTo>
                  <a:lnTo>
                    <a:pt x="357250" y="0"/>
                  </a:lnTo>
                  <a:lnTo>
                    <a:pt x="421443" y="2874"/>
                  </a:lnTo>
                  <a:lnTo>
                    <a:pt x="481861" y="11164"/>
                  </a:lnTo>
                  <a:lnTo>
                    <a:pt x="537496" y="24365"/>
                  </a:lnTo>
                  <a:lnTo>
                    <a:pt x="587340" y="41976"/>
                  </a:lnTo>
                  <a:lnTo>
                    <a:pt x="630382" y="63493"/>
                  </a:lnTo>
                  <a:lnTo>
                    <a:pt x="665616" y="88414"/>
                  </a:lnTo>
                  <a:lnTo>
                    <a:pt x="692032" y="116236"/>
                  </a:lnTo>
                  <a:lnTo>
                    <a:pt x="714375" y="178574"/>
                  </a:lnTo>
                  <a:lnTo>
                    <a:pt x="708621" y="210679"/>
                  </a:lnTo>
                  <a:lnTo>
                    <a:pt x="692032" y="240895"/>
                  </a:lnTo>
                  <a:lnTo>
                    <a:pt x="665616" y="268718"/>
                  </a:lnTo>
                  <a:lnTo>
                    <a:pt x="630382" y="293645"/>
                  </a:lnTo>
                  <a:lnTo>
                    <a:pt x="587340" y="315171"/>
                  </a:lnTo>
                  <a:lnTo>
                    <a:pt x="537496" y="332791"/>
                  </a:lnTo>
                  <a:lnTo>
                    <a:pt x="481861" y="346001"/>
                  </a:lnTo>
                  <a:lnTo>
                    <a:pt x="421443" y="354297"/>
                  </a:lnTo>
                  <a:lnTo>
                    <a:pt x="357250" y="357174"/>
                  </a:lnTo>
                  <a:lnTo>
                    <a:pt x="293020" y="354297"/>
                  </a:lnTo>
                  <a:lnTo>
                    <a:pt x="232572" y="346001"/>
                  </a:lnTo>
                  <a:lnTo>
                    <a:pt x="176915" y="332791"/>
                  </a:lnTo>
                  <a:lnTo>
                    <a:pt x="127056" y="315171"/>
                  </a:lnTo>
                  <a:lnTo>
                    <a:pt x="84003" y="293645"/>
                  </a:lnTo>
                  <a:lnTo>
                    <a:pt x="48763" y="268718"/>
                  </a:lnTo>
                  <a:lnTo>
                    <a:pt x="22344" y="240895"/>
                  </a:lnTo>
                  <a:lnTo>
                    <a:pt x="0" y="17857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22901" y="3571874"/>
              <a:ext cx="2799080" cy="2643505"/>
            </a:xfrm>
            <a:custGeom>
              <a:avLst/>
              <a:gdLst/>
              <a:ahLst/>
              <a:cxnLst/>
              <a:rect l="l" t="t" r="r" b="b"/>
              <a:pathLst>
                <a:path w="2799079" h="2643504">
                  <a:moveTo>
                    <a:pt x="934974" y="2035187"/>
                  </a:moveTo>
                  <a:lnTo>
                    <a:pt x="924077" y="2028837"/>
                  </a:lnTo>
                  <a:lnTo>
                    <a:pt x="846328" y="1983486"/>
                  </a:lnTo>
                  <a:lnTo>
                    <a:pt x="842518" y="1984502"/>
                  </a:lnTo>
                  <a:lnTo>
                    <a:pt x="838962" y="1990598"/>
                  </a:lnTo>
                  <a:lnTo>
                    <a:pt x="839978" y="1994408"/>
                  </a:lnTo>
                  <a:lnTo>
                    <a:pt x="898931" y="2028837"/>
                  </a:lnTo>
                  <a:lnTo>
                    <a:pt x="12700" y="2028837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2038692"/>
                  </a:lnTo>
                  <a:lnTo>
                    <a:pt x="2794" y="2041537"/>
                  </a:lnTo>
                  <a:lnTo>
                    <a:pt x="898918" y="2041537"/>
                  </a:lnTo>
                  <a:lnTo>
                    <a:pt x="839978" y="2075916"/>
                  </a:lnTo>
                  <a:lnTo>
                    <a:pt x="838962" y="2079802"/>
                  </a:lnTo>
                  <a:lnTo>
                    <a:pt x="842518" y="2085860"/>
                  </a:lnTo>
                  <a:lnTo>
                    <a:pt x="846328" y="2086889"/>
                  </a:lnTo>
                  <a:lnTo>
                    <a:pt x="924077" y="2041537"/>
                  </a:lnTo>
                  <a:lnTo>
                    <a:pt x="934974" y="2035187"/>
                  </a:lnTo>
                  <a:close/>
                </a:path>
                <a:path w="2799079" h="2643504">
                  <a:moveTo>
                    <a:pt x="1343406" y="2554795"/>
                  </a:moveTo>
                  <a:lnTo>
                    <a:pt x="1342390" y="2550896"/>
                  </a:lnTo>
                  <a:lnTo>
                    <a:pt x="1336294" y="2547340"/>
                  </a:lnTo>
                  <a:lnTo>
                    <a:pt x="1332484" y="2548356"/>
                  </a:lnTo>
                  <a:lnTo>
                    <a:pt x="1297889" y="2607183"/>
                  </a:lnTo>
                  <a:lnTo>
                    <a:pt x="1299337" y="2214600"/>
                  </a:lnTo>
                  <a:lnTo>
                    <a:pt x="1286637" y="2214549"/>
                  </a:lnTo>
                  <a:lnTo>
                    <a:pt x="1285189" y="2607183"/>
                  </a:lnTo>
                  <a:lnTo>
                    <a:pt x="1285113" y="2630614"/>
                  </a:lnTo>
                  <a:lnTo>
                    <a:pt x="1285189" y="2607183"/>
                  </a:lnTo>
                  <a:lnTo>
                    <a:pt x="1252613" y="2550896"/>
                  </a:lnTo>
                  <a:lnTo>
                    <a:pt x="1250950" y="2548051"/>
                  </a:lnTo>
                  <a:lnTo>
                    <a:pt x="1247140" y="2547010"/>
                  </a:lnTo>
                  <a:lnTo>
                    <a:pt x="1241044" y="2550528"/>
                  </a:lnTo>
                  <a:lnTo>
                    <a:pt x="1240028" y="2554414"/>
                  </a:lnTo>
                  <a:lnTo>
                    <a:pt x="1241806" y="2557449"/>
                  </a:lnTo>
                  <a:lnTo>
                    <a:pt x="1291336" y="2643238"/>
                  </a:lnTo>
                  <a:lnTo>
                    <a:pt x="1298740" y="2630652"/>
                  </a:lnTo>
                  <a:lnTo>
                    <a:pt x="1343406" y="2554795"/>
                  </a:lnTo>
                  <a:close/>
                </a:path>
                <a:path w="2799079" h="2643504">
                  <a:moveTo>
                    <a:pt x="2798699" y="1070737"/>
                  </a:moveTo>
                  <a:lnTo>
                    <a:pt x="2785999" y="1070737"/>
                  </a:lnTo>
                  <a:lnTo>
                    <a:pt x="2785999" y="2028837"/>
                  </a:lnTo>
                  <a:lnTo>
                    <a:pt x="1685366" y="2028837"/>
                  </a:lnTo>
                  <a:lnTo>
                    <a:pt x="1744345" y="1994408"/>
                  </a:lnTo>
                  <a:lnTo>
                    <a:pt x="1745361" y="1990598"/>
                  </a:lnTo>
                  <a:lnTo>
                    <a:pt x="1741805" y="1984502"/>
                  </a:lnTo>
                  <a:lnTo>
                    <a:pt x="1737995" y="1983486"/>
                  </a:lnTo>
                  <a:lnTo>
                    <a:pt x="1649349" y="2035187"/>
                  </a:lnTo>
                  <a:lnTo>
                    <a:pt x="1737995" y="2086889"/>
                  </a:lnTo>
                  <a:lnTo>
                    <a:pt x="1741805" y="2085860"/>
                  </a:lnTo>
                  <a:lnTo>
                    <a:pt x="1745361" y="2079802"/>
                  </a:lnTo>
                  <a:lnTo>
                    <a:pt x="1744345" y="2075916"/>
                  </a:lnTo>
                  <a:lnTo>
                    <a:pt x="1685391" y="2041537"/>
                  </a:lnTo>
                  <a:lnTo>
                    <a:pt x="2795905" y="2041537"/>
                  </a:lnTo>
                  <a:lnTo>
                    <a:pt x="2798699" y="2038692"/>
                  </a:lnTo>
                  <a:lnTo>
                    <a:pt x="2798699" y="2035187"/>
                  </a:lnTo>
                  <a:lnTo>
                    <a:pt x="2798699" y="2028837"/>
                  </a:lnTo>
                  <a:lnTo>
                    <a:pt x="2798699" y="1070737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57876" y="2570988"/>
              <a:ext cx="1643380" cy="1000125"/>
            </a:xfrm>
            <a:custGeom>
              <a:avLst/>
              <a:gdLst/>
              <a:ahLst/>
              <a:cxnLst/>
              <a:rect l="l" t="t" r="r" b="b"/>
              <a:pathLst>
                <a:path w="1643379" h="1000125">
                  <a:moveTo>
                    <a:pt x="0" y="499999"/>
                  </a:moveTo>
                  <a:lnTo>
                    <a:pt x="821436" y="0"/>
                  </a:lnTo>
                  <a:lnTo>
                    <a:pt x="1642999" y="499999"/>
                  </a:lnTo>
                  <a:lnTo>
                    <a:pt x="821436" y="1000125"/>
                  </a:lnTo>
                  <a:lnTo>
                    <a:pt x="0" y="49999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50128" y="2769234"/>
            <a:ext cx="661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onditi  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8998" y="4142549"/>
            <a:ext cx="2000250" cy="500380"/>
          </a:xfrm>
          <a:custGeom>
            <a:avLst/>
            <a:gdLst/>
            <a:ahLst/>
            <a:cxnLst/>
            <a:rect l="l" t="t" r="r" b="b"/>
            <a:pathLst>
              <a:path w="2000250" h="500379">
                <a:moveTo>
                  <a:pt x="2000250" y="0"/>
                </a:moveTo>
                <a:lnTo>
                  <a:pt x="0" y="0"/>
                </a:lnTo>
                <a:lnTo>
                  <a:pt x="0" y="500062"/>
                </a:lnTo>
                <a:lnTo>
                  <a:pt x="2000250" y="500062"/>
                </a:lnTo>
                <a:lnTo>
                  <a:pt x="2000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28998" y="4142549"/>
            <a:ext cx="2000250" cy="500380"/>
          </a:xfrm>
          <a:prstGeom prst="rect">
            <a:avLst/>
          </a:prstGeom>
          <a:ln w="25400">
            <a:solidFill>
              <a:srgbClr val="385D89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5" dirty="0">
                <a:latin typeface="Calibri"/>
                <a:cs typeface="Calibri"/>
              </a:rPr>
              <a:t>block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77435" y="1999868"/>
            <a:ext cx="1348105" cy="2143125"/>
          </a:xfrm>
          <a:custGeom>
            <a:avLst/>
            <a:gdLst/>
            <a:ahLst/>
            <a:cxnLst/>
            <a:rect l="l" t="t" r="r" b="b"/>
            <a:pathLst>
              <a:path w="1348104" h="2143125">
                <a:moveTo>
                  <a:pt x="480441" y="1064768"/>
                </a:moveTo>
                <a:lnTo>
                  <a:pt x="48260" y="1064768"/>
                </a:lnTo>
                <a:lnTo>
                  <a:pt x="45466" y="1067689"/>
                </a:lnTo>
                <a:lnTo>
                  <a:pt x="45466" y="2106752"/>
                </a:lnTo>
                <a:lnTo>
                  <a:pt x="45466" y="2130171"/>
                </a:lnTo>
                <a:lnTo>
                  <a:pt x="45339" y="2106536"/>
                </a:lnTo>
                <a:lnTo>
                  <a:pt x="11049" y="2047748"/>
                </a:lnTo>
                <a:lnTo>
                  <a:pt x="7112" y="2046732"/>
                </a:lnTo>
                <a:lnTo>
                  <a:pt x="1016" y="2050288"/>
                </a:lnTo>
                <a:lnTo>
                  <a:pt x="0" y="2054098"/>
                </a:lnTo>
                <a:lnTo>
                  <a:pt x="51816" y="2142744"/>
                </a:lnTo>
                <a:lnTo>
                  <a:pt x="59143" y="2130171"/>
                </a:lnTo>
                <a:lnTo>
                  <a:pt x="103505" y="2054098"/>
                </a:lnTo>
                <a:lnTo>
                  <a:pt x="102489" y="2050288"/>
                </a:lnTo>
                <a:lnTo>
                  <a:pt x="96393" y="2046732"/>
                </a:lnTo>
                <a:lnTo>
                  <a:pt x="92456" y="2047748"/>
                </a:lnTo>
                <a:lnTo>
                  <a:pt x="58166" y="2106536"/>
                </a:lnTo>
                <a:lnTo>
                  <a:pt x="58039" y="2106752"/>
                </a:lnTo>
                <a:lnTo>
                  <a:pt x="58166" y="1077468"/>
                </a:lnTo>
                <a:lnTo>
                  <a:pt x="480441" y="1077468"/>
                </a:lnTo>
                <a:lnTo>
                  <a:pt x="480441" y="1071118"/>
                </a:lnTo>
                <a:lnTo>
                  <a:pt x="480441" y="1064768"/>
                </a:lnTo>
                <a:close/>
              </a:path>
              <a:path w="1348104" h="2143125">
                <a:moveTo>
                  <a:pt x="1347978" y="479425"/>
                </a:moveTo>
                <a:lnTo>
                  <a:pt x="1346708" y="475615"/>
                </a:lnTo>
                <a:lnTo>
                  <a:pt x="1343533" y="474091"/>
                </a:lnTo>
                <a:lnTo>
                  <a:pt x="1340485" y="472440"/>
                </a:lnTo>
                <a:lnTo>
                  <a:pt x="1336675" y="473710"/>
                </a:lnTo>
                <a:lnTo>
                  <a:pt x="1335024" y="476885"/>
                </a:lnTo>
                <a:lnTo>
                  <a:pt x="1305979" y="534593"/>
                </a:lnTo>
                <a:lnTo>
                  <a:pt x="1272540" y="0"/>
                </a:lnTo>
                <a:lnTo>
                  <a:pt x="1259840" y="762"/>
                </a:lnTo>
                <a:lnTo>
                  <a:pt x="1293279" y="535381"/>
                </a:lnTo>
                <a:lnTo>
                  <a:pt x="1257300" y="481711"/>
                </a:lnTo>
                <a:lnTo>
                  <a:pt x="1255268" y="478790"/>
                </a:lnTo>
                <a:lnTo>
                  <a:pt x="1251331" y="478028"/>
                </a:lnTo>
                <a:lnTo>
                  <a:pt x="1248410" y="479933"/>
                </a:lnTo>
                <a:lnTo>
                  <a:pt x="1245616" y="481965"/>
                </a:lnTo>
                <a:lnTo>
                  <a:pt x="1244727" y="485902"/>
                </a:lnTo>
                <a:lnTo>
                  <a:pt x="1246759" y="488823"/>
                </a:lnTo>
                <a:lnTo>
                  <a:pt x="1301877" y="571119"/>
                </a:lnTo>
                <a:lnTo>
                  <a:pt x="1308011" y="558927"/>
                </a:lnTo>
                <a:lnTo>
                  <a:pt x="1346454" y="482600"/>
                </a:lnTo>
                <a:lnTo>
                  <a:pt x="1347978" y="47942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51121" y="3376041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rue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6633" y="3161791"/>
            <a:ext cx="4895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alse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1552701"/>
            <a:ext cx="2256155" cy="4295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" dirty="0">
                <a:latin typeface="Times New Roman"/>
                <a:cs typeface="Times New Roman"/>
              </a:rPr>
              <a:t>Switch</a:t>
            </a:r>
            <a:r>
              <a:rPr sz="2300" b="1" spc="-7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statement: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Syntax: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10" dirty="0">
                <a:latin typeface="Calibri"/>
                <a:cs typeface="Calibri"/>
              </a:rPr>
              <a:t>switch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(expression)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69900" marR="784860" indent="40640">
              <a:lnSpc>
                <a:spcPct val="100000"/>
              </a:lnSpc>
              <a:spcBef>
                <a:spcPts val="10"/>
              </a:spcBef>
            </a:pPr>
            <a:r>
              <a:rPr sz="1500" b="1" spc="-5" dirty="0">
                <a:latin typeface="Calibri"/>
                <a:cs typeface="Calibri"/>
              </a:rPr>
              <a:t>case</a:t>
            </a:r>
            <a:r>
              <a:rPr sz="1500" b="1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const1:  </a:t>
            </a:r>
            <a:r>
              <a:rPr sz="1500" dirty="0">
                <a:latin typeface="Calibri"/>
                <a:cs typeface="Calibri"/>
              </a:rPr>
              <a:t>action1;  </a:t>
            </a:r>
            <a:r>
              <a:rPr sz="1500" b="1" spc="-5" dirty="0">
                <a:latin typeface="Calibri"/>
                <a:cs typeface="Calibri"/>
              </a:rPr>
              <a:t>break</a:t>
            </a:r>
            <a:r>
              <a:rPr sz="1500" spc="-5" dirty="0">
                <a:latin typeface="Calibri"/>
                <a:cs typeface="Calibri"/>
              </a:rPr>
              <a:t>;</a:t>
            </a:r>
            <a:endParaRPr sz="1500">
              <a:latin typeface="Calibri"/>
              <a:cs typeface="Calibri"/>
            </a:endParaRPr>
          </a:p>
          <a:p>
            <a:pPr marL="469900" marR="829310">
              <a:lnSpc>
                <a:spcPct val="100000"/>
              </a:lnSpc>
            </a:pPr>
            <a:r>
              <a:rPr sz="1500" b="1" spc="-5" dirty="0">
                <a:latin typeface="Calibri"/>
                <a:cs typeface="Calibri"/>
              </a:rPr>
              <a:t>case</a:t>
            </a:r>
            <a:r>
              <a:rPr sz="1500" b="1" spc="-9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const2:  </a:t>
            </a:r>
            <a:r>
              <a:rPr sz="1500" dirty="0">
                <a:latin typeface="Calibri"/>
                <a:cs typeface="Calibri"/>
              </a:rPr>
              <a:t>action2;  </a:t>
            </a:r>
            <a:r>
              <a:rPr sz="1500" b="1" spc="-5" dirty="0">
                <a:latin typeface="Calibri"/>
                <a:cs typeface="Calibri"/>
              </a:rPr>
              <a:t>break</a:t>
            </a:r>
            <a:r>
              <a:rPr sz="1500" spc="-5" dirty="0">
                <a:latin typeface="Calibri"/>
                <a:cs typeface="Calibri"/>
              </a:rPr>
              <a:t>;</a:t>
            </a:r>
            <a:endParaRPr sz="1500">
              <a:latin typeface="Calibri"/>
              <a:cs typeface="Calibri"/>
            </a:endParaRPr>
          </a:p>
          <a:p>
            <a:pPr marL="469900" marR="784860" indent="40640">
              <a:lnSpc>
                <a:spcPct val="100000"/>
              </a:lnSpc>
              <a:spcBef>
                <a:spcPts val="5"/>
              </a:spcBef>
            </a:pPr>
            <a:r>
              <a:rPr sz="1500" b="1" spc="-5" dirty="0">
                <a:latin typeface="Calibri"/>
                <a:cs typeface="Calibri"/>
              </a:rPr>
              <a:t>case</a:t>
            </a:r>
            <a:r>
              <a:rPr sz="1500" b="1" spc="-9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const3:  </a:t>
            </a:r>
            <a:r>
              <a:rPr sz="1500" dirty="0">
                <a:latin typeface="Calibri"/>
                <a:cs typeface="Calibri"/>
              </a:rPr>
              <a:t>action3;  </a:t>
            </a:r>
            <a:r>
              <a:rPr sz="1500" b="1" spc="-5" dirty="0">
                <a:latin typeface="Calibri"/>
                <a:cs typeface="Calibri"/>
              </a:rPr>
              <a:t>break</a:t>
            </a:r>
            <a:r>
              <a:rPr sz="1500" spc="-5" dirty="0">
                <a:latin typeface="Calibri"/>
                <a:cs typeface="Calibri"/>
              </a:rPr>
              <a:t>;</a:t>
            </a:r>
            <a:endParaRPr sz="15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...</a:t>
            </a:r>
            <a:endParaRPr sz="15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500" spc="-5" dirty="0">
                <a:latin typeface="Calibri"/>
                <a:cs typeface="Calibri"/>
              </a:rPr>
              <a:t>default:</a:t>
            </a:r>
            <a:endParaRPr sz="1500">
              <a:latin typeface="Calibri"/>
              <a:cs typeface="Calibri"/>
            </a:endParaRPr>
          </a:p>
          <a:p>
            <a:pPr marL="469900">
              <a:lnSpc>
                <a:spcPts val="1795"/>
              </a:lnSpc>
            </a:pPr>
            <a:r>
              <a:rPr sz="1500" dirty="0">
                <a:latin typeface="Calibri"/>
                <a:cs typeface="Calibri"/>
              </a:rPr>
              <a:t>actionN;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1823" y="2090724"/>
            <a:ext cx="4143375" cy="3657600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7145" marR="0" lvl="0" indent="0" algn="l" defTabSz="91429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1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Control</a:t>
            </a:r>
            <a:r>
              <a:rPr kumimoji="0" lang="en-US" sz="4400" b="1" i="0" u="none" strike="noStrike" kern="1200" cap="none" spc="-5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-1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structures(3/5)</a:t>
            </a:r>
            <a:endParaRPr kumimoji="0" lang="en-US" sz="4400" b="1" i="0" u="none" strike="noStrike" kern="1200" cap="none" spc="-1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7288" y="1451305"/>
            <a:ext cx="2557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Iterative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constructs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819" y="1879854"/>
            <a:ext cx="5668645" cy="2107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8780" marR="5080" indent="-287020">
              <a:lnSpc>
                <a:spcPct val="100000"/>
              </a:lnSpc>
              <a:spcBef>
                <a:spcPts val="105"/>
              </a:spcBef>
              <a:tabLst>
                <a:tab pos="398780" algn="l"/>
                <a:tab pos="1413510" algn="l"/>
                <a:tab pos="2512695" algn="l"/>
                <a:tab pos="3331210" algn="l"/>
                <a:tab pos="3881754" algn="l"/>
                <a:tab pos="4585970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rat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e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ruct	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eans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at	</a:t>
            </a:r>
            <a:r>
              <a:rPr sz="2000" spc="-15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	st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ents  </a:t>
            </a:r>
            <a:r>
              <a:rPr sz="2000" spc="-5" dirty="0">
                <a:latin typeface="Times New Roman"/>
                <a:cs typeface="Times New Roman"/>
              </a:rPr>
              <a:t>multiple times </a:t>
            </a:r>
            <a:r>
              <a:rPr sz="2000" dirty="0">
                <a:latin typeface="Times New Roman"/>
                <a:cs typeface="Times New Roman"/>
              </a:rPr>
              <a:t>until </a:t>
            </a:r>
            <a:r>
              <a:rPr sz="2000" spc="-5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condition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met.</a:t>
            </a:r>
            <a:endParaRPr sz="2000">
              <a:latin typeface="Times New Roman"/>
              <a:cs typeface="Times New Roman"/>
            </a:endParaRPr>
          </a:p>
          <a:p>
            <a:pPr marL="12700" marR="4015740">
              <a:lnSpc>
                <a:spcPct val="100000"/>
              </a:lnSpc>
              <a:spcBef>
                <a:spcPts val="785"/>
              </a:spcBef>
            </a:pPr>
            <a:r>
              <a:rPr sz="1800" b="1" dirty="0">
                <a:latin typeface="Calibri"/>
                <a:cs typeface="Calibri"/>
              </a:rPr>
              <a:t>while</a:t>
            </a:r>
            <a:r>
              <a:rPr sz="1800" b="1" spc="-1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statements  </a:t>
            </a:r>
            <a:r>
              <a:rPr sz="1800" b="1" spc="-15" dirty="0">
                <a:latin typeface="Calibri"/>
                <a:cs typeface="Calibri"/>
              </a:rPr>
              <a:t>Syntax: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while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(condition)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 </a:t>
            </a:r>
            <a:r>
              <a:rPr sz="1800" spc="-5" dirty="0">
                <a:latin typeface="Calibri"/>
                <a:cs typeface="Calibri"/>
              </a:rPr>
              <a:t>subtask;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7659" y="1879854"/>
            <a:ext cx="1902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5945" algn="l"/>
                <a:tab pos="987425" algn="l"/>
              </a:tabLst>
            </a:pPr>
            <a:r>
              <a:rPr sz="2000" dirty="0">
                <a:latin typeface="Times New Roman"/>
                <a:cs typeface="Times New Roman"/>
              </a:rPr>
              <a:t>will	be	</a:t>
            </a:r>
            <a:r>
              <a:rPr sz="2000" spc="-5" dirty="0">
                <a:latin typeface="Times New Roman"/>
                <a:cs typeface="Times New Roman"/>
              </a:rPr>
              <a:t>executed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4819" y="4236211"/>
            <a:ext cx="18802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do-while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Syntax: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Subtask;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 </a:t>
            </a:r>
            <a:r>
              <a:rPr sz="1800" spc="-5" dirty="0">
                <a:latin typeface="Calibri"/>
                <a:cs typeface="Calibri"/>
              </a:rPr>
              <a:t>while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(condition);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9675" y="2619375"/>
            <a:ext cx="2219325" cy="1866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2126" y="4643450"/>
            <a:ext cx="2085975" cy="1876425"/>
          </a:xfrm>
          <a:prstGeom prst="rect">
            <a:avLst/>
          </a:prstGeom>
        </p:spPr>
      </p:pic>
      <p:sp>
        <p:nvSpPr>
          <p:cNvPr id="10" name="object 2"/>
          <p:cNvSpPr txBox="1">
            <a:spLocks/>
          </p:cNvSpPr>
          <p:nvPr/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7145" marR="0" lvl="0" indent="0" algn="l" defTabSz="91429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1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Control</a:t>
            </a:r>
            <a:r>
              <a:rPr kumimoji="0" lang="en-US" sz="4400" b="1" i="0" u="none" strike="noStrike" kern="1200" cap="none" spc="-55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-1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structures(4/5)</a:t>
            </a:r>
            <a:endParaRPr kumimoji="0" lang="en-US" sz="4400" b="1" i="0" u="none" strike="noStrike" kern="1200" cap="none" spc="-1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1549650"/>
            <a:ext cx="6927215" cy="2369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175885">
              <a:lnSpc>
                <a:spcPct val="120100"/>
              </a:lnSpc>
              <a:spcBef>
                <a:spcPts val="95"/>
              </a:spcBef>
            </a:pP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statement  </a:t>
            </a:r>
            <a:r>
              <a:rPr sz="2400" b="1" spc="-5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(initilization_expression; </a:t>
            </a:r>
            <a:r>
              <a:rPr sz="2000" dirty="0">
                <a:latin typeface="Times New Roman"/>
                <a:cs typeface="Times New Roman"/>
              </a:rPr>
              <a:t>test_expression;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updation_expression)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subtask;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248" y="3124200"/>
            <a:ext cx="2219325" cy="2962275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457200" y="274638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7145" marR="0" lvl="0" indent="0" algn="l" defTabSz="91429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15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Control</a:t>
            </a:r>
            <a:r>
              <a:rPr kumimoji="0" lang="en-US" sz="4400" b="1" i="0" u="none" strike="noStrike" kern="1200" cap="none" spc="-55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-1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structures(2/5)</a:t>
            </a:r>
            <a:endParaRPr kumimoji="0" lang="en-US" sz="4400" b="1" i="0" u="none" strike="noStrike" kern="1200" cap="none" spc="-1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Dynamic Initialization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C++, a variable can be </a:t>
            </a:r>
            <a:r>
              <a:rPr lang="en-US" dirty="0" smtClean="0">
                <a:solidFill>
                  <a:srgbClr val="FF0000"/>
                </a:solidFill>
              </a:rPr>
              <a:t>initialized at runtime using expressions</a:t>
            </a:r>
            <a:r>
              <a:rPr lang="en-US" dirty="0" smtClean="0"/>
              <a:t> at the place of declarations.</a:t>
            </a:r>
          </a:p>
          <a:p>
            <a:pPr algn="ctr">
              <a:buNone/>
            </a:pPr>
            <a:r>
              <a:rPr lang="en-US" dirty="0" smtClean="0">
                <a:solidFill>
                  <a:srgbClr val="FF0000"/>
                </a:solidFill>
              </a:rPr>
              <a:t>   float area = 3.14*</a:t>
            </a:r>
            <a:r>
              <a:rPr lang="en-US" dirty="0" err="1" smtClean="0">
                <a:solidFill>
                  <a:srgbClr val="FF0000"/>
                </a:solidFill>
              </a:rPr>
              <a:t>rad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  <a:r>
              <a:rPr lang="en-US" dirty="0" err="1" smtClean="0">
                <a:solidFill>
                  <a:srgbClr val="FF0000"/>
                </a:solidFill>
              </a:rPr>
              <a:t>rad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Thus both declaration and initialization of a variable can be done by simultaneously at the place where the variable used for the first time.</a:t>
            </a:r>
          </a:p>
          <a:p>
            <a:pPr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Reference variable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 reference variable provides an alias (alternative name) for a previously declared variable</a:t>
            </a:r>
          </a:p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      </a:t>
            </a:r>
            <a:r>
              <a:rPr lang="en-US" dirty="0" err="1" smtClean="0">
                <a:solidFill>
                  <a:srgbClr val="FF0000"/>
                </a:solidFill>
              </a:rPr>
              <a:t>data_type</a:t>
            </a:r>
            <a:r>
              <a:rPr lang="en-US" dirty="0" smtClean="0">
                <a:solidFill>
                  <a:srgbClr val="FF0000"/>
                </a:solidFill>
              </a:rPr>
              <a:t> &amp;</a:t>
            </a:r>
            <a:r>
              <a:rPr lang="en-US" dirty="0" err="1" smtClean="0">
                <a:solidFill>
                  <a:srgbClr val="FF0000"/>
                </a:solidFill>
              </a:rPr>
              <a:t>reference_name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err="1" smtClean="0">
                <a:solidFill>
                  <a:srgbClr val="FF0000"/>
                </a:solidFill>
              </a:rPr>
              <a:t>variable_name</a:t>
            </a:r>
            <a:endParaRPr lang="en-US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 smtClean="0"/>
              <a:t>Ex:      float total = 100;</a:t>
            </a:r>
          </a:p>
          <a:p>
            <a:pPr algn="just">
              <a:buNone/>
            </a:pPr>
            <a:r>
              <a:rPr lang="en-US" dirty="0" smtClean="0"/>
              <a:t>           float  &amp; sum= total;</a:t>
            </a:r>
          </a:p>
          <a:p>
            <a:pPr algn="just"/>
            <a:r>
              <a:rPr lang="en-US" dirty="0" smtClean="0"/>
              <a:t>A reference variable must be initialized at the time of declaration. This establish correspondence between the reference and the data object which it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Classes and Objects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58200" cy="4525963"/>
          </a:xfrm>
        </p:spPr>
        <p:txBody>
          <a:bodyPr>
            <a:noAutofit/>
          </a:bodyPr>
          <a:lstStyle/>
          <a:p>
            <a:pPr marL="514350" lvl="0" indent="-514350" algn="just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dirty="0" smtClean="0">
                <a:solidFill>
                  <a:schemeClr val="accent1"/>
                </a:solidFill>
              </a:rPr>
              <a:t>object 	</a:t>
            </a:r>
            <a:r>
              <a:rPr lang="en-US" sz="2400" b="1" dirty="0" smtClean="0"/>
              <a:t>- An object is an instance of a class which   			               combines both data and functions together.</a:t>
            </a:r>
          </a:p>
          <a:p>
            <a:pPr marL="514350" lvl="0" indent="-514350" algn="just" defTabSz="914400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dirty="0" smtClean="0">
                <a:solidFill>
                  <a:schemeClr val="accent1"/>
                </a:solidFill>
              </a:rPr>
              <a:t>Method	</a:t>
            </a:r>
            <a:r>
              <a:rPr lang="en-US" sz="2400" b="1" dirty="0" smtClean="0"/>
              <a:t>- an action performed by an object (a verb)</a:t>
            </a:r>
          </a:p>
          <a:p>
            <a:pPr marL="514350" lvl="0" indent="-514350" algn="just" defTabSz="914400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dirty="0" smtClean="0">
                <a:solidFill>
                  <a:schemeClr val="accent1"/>
                </a:solidFill>
              </a:rPr>
              <a:t>Attribute	</a:t>
            </a:r>
            <a:r>
              <a:rPr lang="en-US" sz="2400" b="1" dirty="0" smtClean="0"/>
              <a:t>- description of objects in a class</a:t>
            </a:r>
          </a:p>
          <a:p>
            <a:pPr marL="514350" lvl="0" indent="-514350" algn="just" defTabSz="914400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dirty="0" smtClean="0">
                <a:solidFill>
                  <a:schemeClr val="accent1"/>
                </a:solidFill>
              </a:rPr>
              <a:t>class 	</a:t>
            </a:r>
            <a:r>
              <a:rPr lang="en-US" sz="2400" b="1" dirty="0" smtClean="0"/>
              <a:t>- a category of similar objects</a:t>
            </a:r>
          </a:p>
          <a:p>
            <a:pPr marL="514350" lvl="0" indent="-514350" algn="just" defTabSz="914400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dirty="0" smtClean="0"/>
              <a:t>	  	- does not hold any values of the object’s 	     			   attributes</a:t>
            </a:r>
          </a:p>
          <a:p>
            <a:pPr marL="55563" lvl="0" indent="-55563" algn="just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r>
              <a:rPr lang="en-US" sz="2400" b="1" i="1" dirty="0" smtClean="0"/>
              <a:t>By default all members declared inside a class are private to that class</a:t>
            </a:r>
          </a:p>
          <a:p>
            <a:pPr marL="514350" lvl="0" indent="-514350" algn="just" defTabSz="914400">
              <a:spcBef>
                <a:spcPts val="1800"/>
              </a:spcBef>
              <a:buClr>
                <a:schemeClr val="tx1"/>
              </a:buClr>
              <a:buSzPct val="80000"/>
              <a:defRPr/>
            </a:pPr>
            <a:endParaRPr lang="en-US" sz="2400" b="1" dirty="0" smtClean="0"/>
          </a:p>
          <a:p>
            <a:pPr marL="800100" lvl="1" indent="-342900" algn="just" defTabSz="91440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endParaRPr lang="en-US" sz="2400" b="1" dirty="0" smtClean="0">
              <a:cs typeface="Times New Roman" pitchFamily="18" charset="0"/>
            </a:endParaRPr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274638"/>
            <a:ext cx="7317105" cy="639762"/>
          </a:xfrm>
        </p:spPr>
        <p:txBody>
          <a:bodyPr>
            <a:noAutofit/>
          </a:bodyPr>
          <a:lstStyle/>
          <a:p>
            <a:pPr algn="l" rtl="0"/>
            <a:r>
              <a:rPr lang="en-US" b="1" dirty="0"/>
              <a:t>Classes in C++</a:t>
            </a:r>
          </a:p>
        </p:txBody>
      </p:sp>
      <p:sp>
        <p:nvSpPr>
          <p:cNvPr id="532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27777" y="1143000"/>
            <a:ext cx="7659023" cy="4876800"/>
          </a:xfrm>
        </p:spPr>
        <p:txBody>
          <a:bodyPr/>
          <a:lstStyle/>
          <a:p>
            <a:pPr algn="just" rtl="0"/>
            <a:r>
              <a:rPr lang="en-US" dirty="0"/>
              <a:t>A class definition begins with the keyword </a:t>
            </a:r>
            <a:r>
              <a:rPr lang="en-US" i="1" dirty="0">
                <a:solidFill>
                  <a:srgbClr val="FF0000"/>
                </a:solidFill>
              </a:rPr>
              <a:t>class</a:t>
            </a:r>
            <a:r>
              <a:rPr lang="en-US" dirty="0"/>
              <a:t>.</a:t>
            </a:r>
          </a:p>
          <a:p>
            <a:pPr algn="just" rtl="0"/>
            <a:r>
              <a:rPr lang="en-US" dirty="0"/>
              <a:t>The body of the class is contained within a set of braces, </a:t>
            </a:r>
            <a:r>
              <a:rPr lang="en-US" dirty="0">
                <a:solidFill>
                  <a:srgbClr val="FF0000"/>
                </a:solidFill>
              </a:rPr>
              <a:t>{    } ;</a:t>
            </a:r>
            <a:r>
              <a:rPr lang="en-US" dirty="0"/>
              <a:t>  </a:t>
            </a:r>
            <a:r>
              <a:rPr lang="en-US" sz="2400" dirty="0" smtClean="0"/>
              <a:t>(</a:t>
            </a:r>
            <a:r>
              <a:rPr lang="en-US" sz="2400" dirty="0"/>
              <a:t>notice the semi-colon).</a:t>
            </a:r>
            <a:endParaRPr lang="en-US" dirty="0"/>
          </a:p>
          <a:p>
            <a:pPr algn="just" rtl="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2514064" y="3962400"/>
            <a:ext cx="2133600" cy="1981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r>
              <a:rPr lang="en-US" b="1"/>
              <a:t>class </a:t>
            </a:r>
            <a:r>
              <a:rPr lang="en-US" b="1" u="sng"/>
              <a:t>class_name</a:t>
            </a:r>
          </a:p>
          <a:p>
            <a:pPr algn="l"/>
            <a:r>
              <a:rPr lang="en-US" b="1"/>
              <a:t>{</a:t>
            </a:r>
          </a:p>
          <a:p>
            <a:pPr algn="l"/>
            <a:r>
              <a:rPr lang="en-US" b="1"/>
              <a:t>	….</a:t>
            </a:r>
          </a:p>
          <a:p>
            <a:pPr algn="l"/>
            <a:r>
              <a:rPr lang="en-US" b="1"/>
              <a:t>….</a:t>
            </a:r>
          </a:p>
          <a:p>
            <a:pPr algn="l"/>
            <a:r>
              <a:rPr lang="en-US" b="1"/>
              <a:t>….</a:t>
            </a:r>
          </a:p>
          <a:p>
            <a:pPr algn="l"/>
            <a:r>
              <a:rPr lang="en-US" b="1"/>
              <a:t>};</a:t>
            </a: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H="1" flipV="1">
            <a:off x="2895600" y="5410200"/>
            <a:ext cx="1981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876800" y="5454650"/>
            <a:ext cx="3048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/>
            <a:r>
              <a:rPr lang="en-US" dirty="0"/>
              <a:t>Class body  (data member + 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methods</a:t>
            </a:r>
            <a:r>
              <a:rPr lang="en-US" dirty="0"/>
              <a:t>)</a:t>
            </a:r>
          </a:p>
        </p:txBody>
      </p:sp>
      <p:sp>
        <p:nvSpPr>
          <p:cNvPr id="53255" name="Line 7"/>
          <p:cNvSpPr>
            <a:spLocks noChangeShapeType="1"/>
          </p:cNvSpPr>
          <p:nvPr/>
        </p:nvSpPr>
        <p:spPr bwMode="auto">
          <a:xfrm flipH="1" flipV="1">
            <a:off x="4114800" y="44196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5334000" y="4355068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rtl="0"/>
            <a:r>
              <a:rPr lang="en-US" dirty="0"/>
              <a:t>Any valid identifier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04800"/>
            <a:ext cx="7317105" cy="639762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Class Example</a:t>
            </a:r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27777" y="1143000"/>
            <a:ext cx="7887623" cy="5181600"/>
          </a:xfrm>
        </p:spPr>
        <p:txBody>
          <a:bodyPr/>
          <a:lstStyle/>
          <a:p>
            <a:pPr algn="just" rtl="0"/>
            <a:r>
              <a:rPr lang="en-US" dirty="0"/>
              <a:t>This class example shows how we can encapsulate (gather) a circle information into one package (unit or class) </a:t>
            </a:r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5635625" y="2732782"/>
            <a:ext cx="30511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rtl="0"/>
            <a:r>
              <a:rPr lang="en-US" sz="1600" dirty="0"/>
              <a:t>No need for others classes to access and retrieve its value directly. </a:t>
            </a:r>
            <a:r>
              <a:rPr lang="en-US" sz="1600" dirty="0" smtClean="0"/>
              <a:t> The class </a:t>
            </a:r>
            <a:r>
              <a:rPr lang="en-US" sz="1600" dirty="0"/>
              <a:t>methods are responsible </a:t>
            </a:r>
            <a:r>
              <a:rPr lang="en-US" sz="1600" dirty="0" smtClean="0"/>
              <a:t>for that </a:t>
            </a:r>
            <a:r>
              <a:rPr lang="en-US" sz="1600" dirty="0"/>
              <a:t>only.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38200" y="3171825"/>
            <a:ext cx="4724400" cy="2847975"/>
            <a:chOff x="1256436" y="2590801"/>
            <a:chExt cx="4724400" cy="2847975"/>
          </a:xfrm>
        </p:grpSpPr>
        <p:sp>
          <p:nvSpPr>
            <p:cNvPr id="56324" name="Rectangle 4"/>
            <p:cNvSpPr>
              <a:spLocks noChangeArrowheads="1"/>
            </p:cNvSpPr>
            <p:nvPr/>
          </p:nvSpPr>
          <p:spPr bwMode="auto">
            <a:xfrm>
              <a:off x="1256436" y="2590801"/>
              <a:ext cx="4419600" cy="28479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class Circle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{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     private: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	double radius;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     public: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	void </a:t>
              </a:r>
              <a:r>
                <a:rPr lang="en-US" b="1" dirty="0" err="1">
                  <a:solidFill>
                    <a:schemeClr val="tx1"/>
                  </a:solidFill>
                </a:rPr>
                <a:t>setRadius</a:t>
              </a:r>
              <a:r>
                <a:rPr lang="en-US" b="1" dirty="0">
                  <a:solidFill>
                    <a:schemeClr val="tx1"/>
                  </a:solidFill>
                </a:rPr>
                <a:t>(double r);	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l" rtl="0"/>
              <a:r>
                <a:rPr lang="en-US" b="1" dirty="0" smtClean="0">
                  <a:solidFill>
                    <a:schemeClr val="tx1"/>
                  </a:solidFill>
                </a:rPr>
                <a:t>	double </a:t>
              </a:r>
              <a:r>
                <a:rPr lang="en-US" b="1" dirty="0" err="1">
                  <a:solidFill>
                    <a:schemeClr val="tx1"/>
                  </a:solidFill>
                </a:rPr>
                <a:t>getDiameter</a:t>
              </a:r>
              <a:r>
                <a:rPr lang="en-US" b="1" dirty="0">
                  <a:solidFill>
                    <a:schemeClr val="tx1"/>
                  </a:solidFill>
                </a:rPr>
                <a:t>();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	double </a:t>
              </a:r>
              <a:r>
                <a:rPr lang="en-US" b="1" dirty="0" err="1">
                  <a:solidFill>
                    <a:schemeClr val="tx1"/>
                  </a:solidFill>
                </a:rPr>
                <a:t>getArea</a:t>
              </a:r>
              <a:r>
                <a:rPr lang="en-US" b="1" dirty="0">
                  <a:solidFill>
                    <a:schemeClr val="tx1"/>
                  </a:solidFill>
                </a:rPr>
                <a:t>();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	double </a:t>
              </a:r>
              <a:r>
                <a:rPr lang="en-US" b="1" dirty="0" err="1">
                  <a:solidFill>
                    <a:schemeClr val="tx1"/>
                  </a:solidFill>
                </a:rPr>
                <a:t>getCircumference</a:t>
              </a:r>
              <a:r>
                <a:rPr lang="en-US" b="1" dirty="0">
                  <a:solidFill>
                    <a:schemeClr val="tx1"/>
                  </a:solidFill>
                </a:rPr>
                <a:t>();</a:t>
              </a:r>
            </a:p>
            <a:p>
              <a:pPr algn="l" rtl="0"/>
              <a:r>
                <a:rPr lang="en-US" b="1" dirty="0">
                  <a:solidFill>
                    <a:schemeClr val="tx1"/>
                  </a:solidFill>
                </a:rPr>
                <a:t>};</a:t>
              </a:r>
            </a:p>
          </p:txBody>
        </p:sp>
        <p:sp>
          <p:nvSpPr>
            <p:cNvPr id="56325" name="Line 5"/>
            <p:cNvSpPr>
              <a:spLocks noChangeShapeType="1"/>
            </p:cNvSpPr>
            <p:nvPr/>
          </p:nvSpPr>
          <p:spPr bwMode="auto">
            <a:xfrm flipV="1">
              <a:off x="3371538" y="2803524"/>
              <a:ext cx="2533099" cy="777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327" name="AutoShape 7"/>
            <p:cNvSpPr>
              <a:spLocks/>
            </p:cNvSpPr>
            <p:nvPr/>
          </p:nvSpPr>
          <p:spPr bwMode="auto">
            <a:xfrm>
              <a:off x="4990236" y="4175124"/>
              <a:ext cx="228600" cy="914400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28" name="Line 8"/>
            <p:cNvSpPr>
              <a:spLocks noChangeShapeType="1"/>
            </p:cNvSpPr>
            <p:nvPr/>
          </p:nvSpPr>
          <p:spPr bwMode="auto">
            <a:xfrm flipV="1">
              <a:off x="5218836" y="4327524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5964962" y="3906837"/>
            <a:ext cx="2987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5544221" y="4486870"/>
            <a:ext cx="337117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/>
            <a:r>
              <a:rPr lang="en-US" dirty="0"/>
              <a:t>They are accessible from outside</a:t>
            </a:r>
          </a:p>
          <a:p>
            <a:pPr algn="l" rtl="0"/>
            <a:r>
              <a:rPr lang="en-US" dirty="0"/>
              <a:t>the class, and they can access the</a:t>
            </a:r>
          </a:p>
          <a:p>
            <a:pPr algn="l" rtl="0"/>
            <a:r>
              <a:rPr lang="en-US" dirty="0"/>
              <a:t>member (radius)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457200" y="92075"/>
            <a:ext cx="5486400" cy="66929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rtl="0"/>
            <a:r>
              <a:rPr lang="en-US" b="1"/>
              <a:t>class Circle</a:t>
            </a:r>
          </a:p>
          <a:p>
            <a:pPr algn="l" rtl="0"/>
            <a:r>
              <a:rPr lang="en-US" b="1"/>
              <a:t>{</a:t>
            </a:r>
          </a:p>
          <a:p>
            <a:pPr algn="l" rtl="0"/>
            <a:r>
              <a:rPr lang="en-US" b="1"/>
              <a:t>     private:</a:t>
            </a:r>
          </a:p>
          <a:p>
            <a:pPr algn="l" rtl="0"/>
            <a:r>
              <a:rPr lang="en-US" b="1"/>
              <a:t>	double radius;</a:t>
            </a:r>
          </a:p>
          <a:p>
            <a:pPr algn="l" rtl="0"/>
            <a:r>
              <a:rPr lang="en-US" b="1"/>
              <a:t>     public:</a:t>
            </a:r>
          </a:p>
          <a:p>
            <a:pPr algn="l" rtl="0"/>
            <a:r>
              <a:rPr lang="en-US" b="1"/>
              <a:t>	Circle() { radius = 0.0;}</a:t>
            </a:r>
          </a:p>
          <a:p>
            <a:pPr algn="l" rtl="0"/>
            <a:r>
              <a:rPr lang="en-US" b="1"/>
              <a:t>	Circle(int r);</a:t>
            </a:r>
          </a:p>
          <a:p>
            <a:pPr algn="l" rtl="0"/>
            <a:r>
              <a:rPr lang="en-US" b="1"/>
              <a:t>	void setRadius(double r){radius = r;}</a:t>
            </a:r>
          </a:p>
          <a:p>
            <a:pPr algn="l" rtl="0"/>
            <a:r>
              <a:rPr lang="en-US" b="1"/>
              <a:t>	double getDiameter(){ return radius *2;}</a:t>
            </a:r>
          </a:p>
          <a:p>
            <a:pPr algn="l" rtl="0"/>
            <a:r>
              <a:rPr lang="en-US" b="1"/>
              <a:t>	double getArea();</a:t>
            </a:r>
          </a:p>
          <a:p>
            <a:pPr algn="l" rtl="0"/>
            <a:r>
              <a:rPr lang="en-US" b="1"/>
              <a:t>	double getCircumference();</a:t>
            </a:r>
          </a:p>
          <a:p>
            <a:pPr algn="l" rtl="0"/>
            <a:r>
              <a:rPr lang="en-US" b="1"/>
              <a:t>};</a:t>
            </a:r>
          </a:p>
          <a:p>
            <a:pPr algn="l" rtl="0"/>
            <a:r>
              <a:rPr lang="en-US" b="1"/>
              <a:t>Circle::Circle(int r)</a:t>
            </a:r>
          </a:p>
          <a:p>
            <a:pPr algn="l" rtl="0"/>
            <a:r>
              <a:rPr lang="en-US" b="1"/>
              <a:t>{</a:t>
            </a:r>
          </a:p>
          <a:p>
            <a:pPr algn="l" rtl="0"/>
            <a:r>
              <a:rPr lang="en-US" b="1"/>
              <a:t>     radius = r;</a:t>
            </a:r>
          </a:p>
          <a:p>
            <a:pPr algn="l" rtl="0"/>
            <a:r>
              <a:rPr lang="en-US" b="1"/>
              <a:t>}</a:t>
            </a:r>
          </a:p>
          <a:p>
            <a:pPr algn="l" rtl="0"/>
            <a:r>
              <a:rPr lang="en-US" b="1"/>
              <a:t>double Circle::getArea()</a:t>
            </a:r>
          </a:p>
          <a:p>
            <a:pPr algn="l" rtl="0"/>
            <a:r>
              <a:rPr lang="en-US" b="1"/>
              <a:t>{ </a:t>
            </a:r>
          </a:p>
          <a:p>
            <a:pPr algn="l" rtl="0"/>
            <a:r>
              <a:rPr lang="en-US" b="1"/>
              <a:t>     return radius * radius * (22.0/7);</a:t>
            </a:r>
          </a:p>
          <a:p>
            <a:pPr algn="l" rtl="0"/>
            <a:r>
              <a:rPr lang="en-US" b="1"/>
              <a:t>}</a:t>
            </a:r>
          </a:p>
          <a:p>
            <a:pPr algn="l" rtl="0"/>
            <a:r>
              <a:rPr lang="en-US" b="1"/>
              <a:t>double Circle:: getCircumference()</a:t>
            </a:r>
          </a:p>
          <a:p>
            <a:pPr algn="l" rtl="0"/>
            <a:r>
              <a:rPr lang="en-US" b="1"/>
              <a:t>{</a:t>
            </a:r>
          </a:p>
          <a:p>
            <a:pPr algn="l" rtl="0"/>
            <a:r>
              <a:rPr lang="en-US" b="1"/>
              <a:t>     return 2 * radius  * (22.0/7);</a:t>
            </a:r>
          </a:p>
          <a:p>
            <a:pPr algn="l" rtl="0"/>
            <a:r>
              <a:rPr lang="en-US" b="1"/>
              <a:t>}</a:t>
            </a:r>
          </a:p>
        </p:txBody>
      </p:sp>
      <p:sp>
        <p:nvSpPr>
          <p:cNvPr id="62468" name="Line 4"/>
          <p:cNvSpPr>
            <a:spLocks noChangeShapeType="1"/>
          </p:cNvSpPr>
          <p:nvPr/>
        </p:nvSpPr>
        <p:spPr bwMode="auto">
          <a:xfrm>
            <a:off x="2438400" y="3505200"/>
            <a:ext cx="3810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9" name="Line 5"/>
          <p:cNvSpPr>
            <a:spLocks noChangeShapeType="1"/>
          </p:cNvSpPr>
          <p:nvPr/>
        </p:nvSpPr>
        <p:spPr bwMode="auto">
          <a:xfrm flipV="1">
            <a:off x="3048001" y="4038600"/>
            <a:ext cx="3200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 flipV="1">
            <a:off x="4191000" y="4267200"/>
            <a:ext cx="1981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6400800" y="3810002"/>
            <a:ext cx="28882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/>
            <a:r>
              <a:rPr lang="en-US" sz="2400" b="1" dirty="0"/>
              <a:t>Defined outside class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058287" y="2362201"/>
            <a:ext cx="3029739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sz="2400" b="1" dirty="0" smtClean="0"/>
              <a:t>Scope resolution operator</a:t>
            </a:r>
          </a:p>
          <a:p>
            <a:pPr algn="ctr" rtl="0"/>
            <a:r>
              <a:rPr lang="en-US" sz="2400" b="1" dirty="0" smtClean="0"/>
              <a:t>::</a:t>
            </a:r>
            <a:endParaRPr lang="en-US" sz="2400" b="1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7317105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 smtClean="0"/>
              <a:t>REVIEW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777" y="1066800"/>
            <a:ext cx="7317105" cy="43434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What is an Object and what is a Class?  What is the difference between them?</a:t>
            </a:r>
          </a:p>
          <a:p>
            <a:pPr algn="just"/>
            <a:r>
              <a:rPr lang="en-US" dirty="0" smtClean="0"/>
              <a:t>What is an Attribute?</a:t>
            </a:r>
          </a:p>
          <a:p>
            <a:pPr algn="just"/>
            <a:r>
              <a:rPr lang="en-US" dirty="0" smtClean="0"/>
              <a:t>What is an Operation?</a:t>
            </a:r>
          </a:p>
          <a:p>
            <a:pPr algn="just"/>
            <a:r>
              <a:rPr lang="en-US" dirty="0" smtClean="0"/>
              <a:t>What is inheritance?  </a:t>
            </a:r>
          </a:p>
          <a:p>
            <a:pPr algn="just"/>
            <a:r>
              <a:rPr lang="en-US" dirty="0" smtClean="0"/>
              <a:t>What is polymorphism?</a:t>
            </a:r>
          </a:p>
          <a:p>
            <a:pPr algn="just"/>
            <a:r>
              <a:rPr lang="en-US" dirty="0" smtClean="0"/>
              <a:t>Describe the Basic concepts of OOPS?</a:t>
            </a:r>
          </a:p>
          <a:p>
            <a:pPr algn="just"/>
            <a:r>
              <a:rPr lang="en-US" dirty="0" smtClean="0"/>
              <a:t>State the use of #include directive in C++?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7317105" cy="7159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Exercises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612" y="1066800"/>
            <a:ext cx="7317105" cy="4343400"/>
          </a:xfrm>
        </p:spPr>
        <p:txBody>
          <a:bodyPr>
            <a:noAutofit/>
          </a:bodyPr>
          <a:lstStyle/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find the area of circle using input value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Arithmetic operations of two integer numbers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print the upper case letters to lower case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show of a numeric value of a variable using hex, </a:t>
            </a:r>
            <a:r>
              <a:rPr lang="en-US" sz="1800" dirty="0" err="1" smtClean="0"/>
              <a:t>oct</a:t>
            </a:r>
            <a:r>
              <a:rPr lang="en-US" sz="1800" dirty="0" smtClean="0"/>
              <a:t>, and </a:t>
            </a:r>
            <a:r>
              <a:rPr lang="en-US" sz="1800" dirty="0" err="1" smtClean="0"/>
              <a:t>dec</a:t>
            </a:r>
            <a:r>
              <a:rPr lang="en-US" sz="1800" dirty="0" smtClean="0"/>
              <a:t> manipulator functions.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check whether the given character upper, lower , </a:t>
            </a:r>
            <a:r>
              <a:rPr lang="en-US" sz="1800" dirty="0" err="1" smtClean="0"/>
              <a:t>numbr</a:t>
            </a:r>
            <a:r>
              <a:rPr lang="en-US" sz="1800" dirty="0" smtClean="0"/>
              <a:t> or not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find biggest of three given numbers ?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display the name of the day in a week .here given input range is 1 to 7. ?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display the even or odd numbers between 1 to 100 using while loop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print a word form of given number between 0 to 9 using Switch ? </a:t>
            </a:r>
          </a:p>
          <a:p>
            <a:pPr marL="38862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smtClean="0"/>
              <a:t>Write a program in C++ to find the smallest of 10 numbers ?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21BA-783B-4C48-8EBE-B63F6E8358A5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2635</Words>
  <Application>Microsoft Office PowerPoint</Application>
  <PresentationFormat>On-screen Show (4:3)</PresentationFormat>
  <Paragraphs>604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Object Oriented Programming  C++</vt:lpstr>
      <vt:lpstr>Unit – 1</vt:lpstr>
      <vt:lpstr>Object Oriented Programming (OOP)</vt:lpstr>
      <vt:lpstr>Object Oriented Programming</vt:lpstr>
      <vt:lpstr>Basic OOP Concepts:</vt:lpstr>
      <vt:lpstr>Objects</vt:lpstr>
      <vt:lpstr>Class</vt:lpstr>
      <vt:lpstr>PowerPoint Presentation</vt:lpstr>
      <vt:lpstr>PowerPoint Presentation</vt:lpstr>
      <vt:lpstr>Abstraction</vt:lpstr>
      <vt:lpstr>PowerPoint Presentation</vt:lpstr>
      <vt:lpstr>PowerPoint Presentation</vt:lpstr>
      <vt:lpstr>Inheritance</vt:lpstr>
      <vt:lpstr>Polymorphism</vt:lpstr>
      <vt:lpstr>Benefits of OOP</vt:lpstr>
      <vt:lpstr>PowerPoint Presentation</vt:lpstr>
      <vt:lpstr>Applications of OOP</vt:lpstr>
      <vt:lpstr>Introduction to C++</vt:lpstr>
      <vt:lpstr>Simple C++ Program</vt:lpstr>
      <vt:lpstr>Comments</vt:lpstr>
      <vt:lpstr>Structure of C++ program</vt:lpstr>
      <vt:lpstr>Input operators</vt:lpstr>
      <vt:lpstr>Output operators</vt:lpstr>
      <vt:lpstr>C++ iostream File</vt:lpstr>
      <vt:lpstr>Return type of main()</vt:lpstr>
      <vt:lpstr>Difference b/w C and C++</vt:lpstr>
      <vt:lpstr>Tokens(1/4)</vt:lpstr>
      <vt:lpstr>Tokens(2/4)</vt:lpstr>
      <vt:lpstr>Tokens(3/4)</vt:lpstr>
      <vt:lpstr>Tokens(4/4)</vt:lpstr>
      <vt:lpstr>Basic data types(1/3)</vt:lpstr>
      <vt:lpstr>Data Types(2/3)</vt:lpstr>
      <vt:lpstr>PowerPoint Presentation</vt:lpstr>
      <vt:lpstr>Operators in C++(1/4)</vt:lpstr>
      <vt:lpstr>PowerPoint Presentation</vt:lpstr>
      <vt:lpstr>PowerPoint Presentation</vt:lpstr>
      <vt:lpstr>PowerPoint Presentation</vt:lpstr>
      <vt:lpstr>Manipulators (1/2)</vt:lpstr>
      <vt:lpstr>PowerPoint Presentation</vt:lpstr>
      <vt:lpstr>Control structures(1/5)</vt:lpstr>
      <vt:lpstr>Control structures(2/5)</vt:lpstr>
      <vt:lpstr>PowerPoint Presentation</vt:lpstr>
      <vt:lpstr>PowerPoint Presentation</vt:lpstr>
      <vt:lpstr>PowerPoint Presentation</vt:lpstr>
      <vt:lpstr>Dynamic Initialization</vt:lpstr>
      <vt:lpstr>Reference variable</vt:lpstr>
      <vt:lpstr>Classes and Objects</vt:lpstr>
      <vt:lpstr>Classes in C++</vt:lpstr>
      <vt:lpstr>Class Example</vt:lpstr>
      <vt:lpstr>PowerPoint Presentation</vt:lpstr>
      <vt:lpstr>REVIEW</vt:lpstr>
      <vt:lpstr>Exercises</vt:lpstr>
      <vt:lpstr>Thank You!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HP</dc:creator>
  <cp:lastModifiedBy>Dr Arulkumar</cp:lastModifiedBy>
  <cp:revision>93</cp:revision>
  <dcterms:created xsi:type="dcterms:W3CDTF">2020-07-08T04:35:47Z</dcterms:created>
  <dcterms:modified xsi:type="dcterms:W3CDTF">2023-02-16T04:50:48Z</dcterms:modified>
</cp:coreProperties>
</file>