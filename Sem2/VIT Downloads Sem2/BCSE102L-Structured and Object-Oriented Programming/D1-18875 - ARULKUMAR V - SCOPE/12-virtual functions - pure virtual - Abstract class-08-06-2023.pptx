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268" r:id="rId3"/>
    <p:sldId id="314" r:id="rId4"/>
    <p:sldId id="315" r:id="rId5"/>
    <p:sldId id="316" r:id="rId6"/>
    <p:sldId id="317" r:id="rId7"/>
    <p:sldId id="318" r:id="rId8"/>
    <p:sldId id="325" r:id="rId9"/>
    <p:sldId id="326" r:id="rId10"/>
    <p:sldId id="319" r:id="rId11"/>
    <p:sldId id="320" r:id="rId12"/>
    <p:sldId id="321" r:id="rId13"/>
    <p:sldId id="322" r:id="rId14"/>
    <p:sldId id="260" r:id="rId15"/>
    <p:sldId id="330" r:id="rId16"/>
    <p:sldId id="331" r:id="rId17"/>
    <p:sldId id="332" r:id="rId18"/>
    <p:sldId id="333" r:id="rId19"/>
    <p:sldId id="335" r:id="rId20"/>
    <p:sldId id="281" r:id="rId21"/>
    <p:sldId id="278" r:id="rId22"/>
    <p:sldId id="344" r:id="rId23"/>
    <p:sldId id="334" r:id="rId24"/>
    <p:sldId id="284" r:id="rId25"/>
    <p:sldId id="346" r:id="rId26"/>
    <p:sldId id="347" r:id="rId27"/>
    <p:sldId id="285" r:id="rId28"/>
    <p:sldId id="299" r:id="rId29"/>
    <p:sldId id="300" r:id="rId30"/>
    <p:sldId id="337" r:id="rId31"/>
    <p:sldId id="338" r:id="rId32"/>
    <p:sldId id="327" r:id="rId33"/>
    <p:sldId id="345" r:id="rId34"/>
    <p:sldId id="328" r:id="rId35"/>
    <p:sldId id="329" r:id="rId36"/>
    <p:sldId id="341" r:id="rId37"/>
    <p:sldId id="339" r:id="rId38"/>
    <p:sldId id="340" r:id="rId39"/>
    <p:sldId id="342"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18" autoAdjust="0"/>
    <p:restoredTop sz="94660"/>
  </p:normalViewPr>
  <p:slideViewPr>
    <p:cSldViewPr>
      <p:cViewPr varScale="1">
        <p:scale>
          <a:sx n="75" d="100"/>
          <a:sy n="75" d="100"/>
        </p:scale>
        <p:origin x="143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C9AAA8-32B4-4098-9BC1-F1431A96BDB8}" type="datetimeFigureOut">
              <a:rPr lang="en-US" smtClean="0"/>
              <a:pPr/>
              <a:t>5/18/2023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46A2EB-9031-49D0-8BB5-9301EBD5891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F8D53B0-4BDF-4127-901B-F0679D4920AE}" type="datetime1">
              <a:rPr lang="en-US" smtClean="0"/>
              <a:t>5/18/2023</a:t>
            </a:fld>
            <a:endParaRPr lang="en-US"/>
          </a:p>
        </p:txBody>
      </p:sp>
      <p:sp>
        <p:nvSpPr>
          <p:cNvPr id="5" name="Footer Placeholder 4"/>
          <p:cNvSpPr>
            <a:spLocks noGrp="1"/>
          </p:cNvSpPr>
          <p:nvPr>
            <p:ph type="ftr" sz="quarter" idx="11"/>
          </p:nvPr>
        </p:nvSpPr>
        <p:spPr/>
        <p:txBody>
          <a:bodyPr/>
          <a:lstStyle/>
          <a:p>
            <a:r>
              <a:rPr lang="en-US"/>
              <a:t>191CSC302T-OBJECT ORIENTED PROGRAMMING</a:t>
            </a:r>
          </a:p>
        </p:txBody>
      </p:sp>
      <p:sp>
        <p:nvSpPr>
          <p:cNvPr id="6" name="Slide Number Placeholder 5"/>
          <p:cNvSpPr>
            <a:spLocks noGrp="1"/>
          </p:cNvSpPr>
          <p:nvPr>
            <p:ph type="sldNum" sz="quarter" idx="12"/>
          </p:nvPr>
        </p:nvSpPr>
        <p:spPr/>
        <p:txBody>
          <a:bodyPr/>
          <a:lstStyle/>
          <a:p>
            <a:fld id="{B213A9AB-441E-4373-A114-F8AB583AC96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422AAE-28AC-43FB-AC4E-3BDFC80D840D}" type="datetime1">
              <a:rPr lang="en-US" smtClean="0"/>
              <a:t>5/18/2023</a:t>
            </a:fld>
            <a:endParaRPr lang="en-US"/>
          </a:p>
        </p:txBody>
      </p:sp>
      <p:sp>
        <p:nvSpPr>
          <p:cNvPr id="5" name="Footer Placeholder 4"/>
          <p:cNvSpPr>
            <a:spLocks noGrp="1"/>
          </p:cNvSpPr>
          <p:nvPr>
            <p:ph type="ftr" sz="quarter" idx="11"/>
          </p:nvPr>
        </p:nvSpPr>
        <p:spPr/>
        <p:txBody>
          <a:bodyPr/>
          <a:lstStyle/>
          <a:p>
            <a:r>
              <a:rPr lang="en-US"/>
              <a:t>191CSC302T-OBJECT ORIENTED PROGRAMMING</a:t>
            </a:r>
          </a:p>
        </p:txBody>
      </p:sp>
      <p:sp>
        <p:nvSpPr>
          <p:cNvPr id="6" name="Slide Number Placeholder 5"/>
          <p:cNvSpPr>
            <a:spLocks noGrp="1"/>
          </p:cNvSpPr>
          <p:nvPr>
            <p:ph type="sldNum" sz="quarter" idx="12"/>
          </p:nvPr>
        </p:nvSpPr>
        <p:spPr/>
        <p:txBody>
          <a:bodyPr/>
          <a:lstStyle/>
          <a:p>
            <a:fld id="{B213A9AB-441E-4373-A114-F8AB583AC96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F2AFED-018A-494C-A3BB-006348FEA24F}" type="datetime1">
              <a:rPr lang="en-US" smtClean="0"/>
              <a:t>5/18/2023</a:t>
            </a:fld>
            <a:endParaRPr lang="en-US"/>
          </a:p>
        </p:txBody>
      </p:sp>
      <p:sp>
        <p:nvSpPr>
          <p:cNvPr id="5" name="Footer Placeholder 4"/>
          <p:cNvSpPr>
            <a:spLocks noGrp="1"/>
          </p:cNvSpPr>
          <p:nvPr>
            <p:ph type="ftr" sz="quarter" idx="11"/>
          </p:nvPr>
        </p:nvSpPr>
        <p:spPr/>
        <p:txBody>
          <a:bodyPr/>
          <a:lstStyle/>
          <a:p>
            <a:r>
              <a:rPr lang="en-US"/>
              <a:t>191CSC302T-OBJECT ORIENTED PROGRAMMING</a:t>
            </a:r>
          </a:p>
        </p:txBody>
      </p:sp>
      <p:sp>
        <p:nvSpPr>
          <p:cNvPr id="6" name="Slide Number Placeholder 5"/>
          <p:cNvSpPr>
            <a:spLocks noGrp="1"/>
          </p:cNvSpPr>
          <p:nvPr>
            <p:ph type="sldNum" sz="quarter" idx="12"/>
          </p:nvPr>
        </p:nvSpPr>
        <p:spPr/>
        <p:txBody>
          <a:bodyPr/>
          <a:lstStyle/>
          <a:p>
            <a:fld id="{B213A9AB-441E-4373-A114-F8AB583AC96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38C2250-41A7-491C-B426-1C8E2E493FA7}" type="datetime1">
              <a:rPr lang="en-US" smtClean="0"/>
              <a:t>5/18/2023</a:t>
            </a:fld>
            <a:endParaRPr lang="en-US"/>
          </a:p>
        </p:txBody>
      </p:sp>
      <p:sp>
        <p:nvSpPr>
          <p:cNvPr id="6" name="Footer Placeholder 5"/>
          <p:cNvSpPr>
            <a:spLocks noGrp="1"/>
          </p:cNvSpPr>
          <p:nvPr>
            <p:ph type="ftr" sz="quarter" idx="11"/>
          </p:nvPr>
        </p:nvSpPr>
        <p:spPr/>
        <p:txBody>
          <a:bodyPr/>
          <a:lstStyle/>
          <a:p>
            <a:r>
              <a:rPr lang="en-US"/>
              <a:t>191CSC302T-OBJECT ORIENTED PROGRAMMING</a:t>
            </a:r>
          </a:p>
        </p:txBody>
      </p:sp>
      <p:sp>
        <p:nvSpPr>
          <p:cNvPr id="7" name="Slide Number Placeholder 6"/>
          <p:cNvSpPr>
            <a:spLocks noGrp="1"/>
          </p:cNvSpPr>
          <p:nvPr>
            <p:ph type="sldNum" sz="quarter" idx="12"/>
          </p:nvPr>
        </p:nvSpPr>
        <p:spPr/>
        <p:txBody>
          <a:bodyPr/>
          <a:lstStyle/>
          <a:p>
            <a:fld id="{B213A9AB-441E-4373-A114-F8AB583AC96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E4C4D6-C500-46EB-8762-72546386852D}" type="datetime1">
              <a:rPr lang="en-US" smtClean="0"/>
              <a:t>5/18/2023</a:t>
            </a:fld>
            <a:endParaRPr lang="en-US"/>
          </a:p>
        </p:txBody>
      </p:sp>
      <p:sp>
        <p:nvSpPr>
          <p:cNvPr id="8" name="Footer Placeholder 7"/>
          <p:cNvSpPr>
            <a:spLocks noGrp="1"/>
          </p:cNvSpPr>
          <p:nvPr>
            <p:ph type="ftr" sz="quarter" idx="11"/>
          </p:nvPr>
        </p:nvSpPr>
        <p:spPr/>
        <p:txBody>
          <a:bodyPr/>
          <a:lstStyle/>
          <a:p>
            <a:r>
              <a:rPr lang="en-US"/>
              <a:t>191CSC302T-OBJECT ORIENTED PROGRAMMING</a:t>
            </a:r>
          </a:p>
        </p:txBody>
      </p:sp>
      <p:sp>
        <p:nvSpPr>
          <p:cNvPr id="9" name="Slide Number Placeholder 8"/>
          <p:cNvSpPr>
            <a:spLocks noGrp="1"/>
          </p:cNvSpPr>
          <p:nvPr>
            <p:ph type="sldNum" sz="quarter" idx="12"/>
          </p:nvPr>
        </p:nvSpPr>
        <p:spPr/>
        <p:txBody>
          <a:bodyPr/>
          <a:lstStyle/>
          <a:p>
            <a:fld id="{B213A9AB-441E-4373-A114-F8AB583AC96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3891DD8-C11F-48D3-A3E9-843E3FF9BDC6}" type="datetime1">
              <a:rPr lang="en-US" smtClean="0"/>
              <a:t>5/18/2023</a:t>
            </a:fld>
            <a:endParaRPr lang="en-US"/>
          </a:p>
        </p:txBody>
      </p:sp>
      <p:sp>
        <p:nvSpPr>
          <p:cNvPr id="4" name="Footer Placeholder 3"/>
          <p:cNvSpPr>
            <a:spLocks noGrp="1"/>
          </p:cNvSpPr>
          <p:nvPr>
            <p:ph type="ftr" sz="quarter" idx="11"/>
          </p:nvPr>
        </p:nvSpPr>
        <p:spPr/>
        <p:txBody>
          <a:bodyPr/>
          <a:lstStyle/>
          <a:p>
            <a:r>
              <a:rPr lang="en-US"/>
              <a:t>191CSC302T-OBJECT ORIENTED PROGRAMMING</a:t>
            </a:r>
          </a:p>
        </p:txBody>
      </p:sp>
      <p:sp>
        <p:nvSpPr>
          <p:cNvPr id="5" name="Slide Number Placeholder 4"/>
          <p:cNvSpPr>
            <a:spLocks noGrp="1"/>
          </p:cNvSpPr>
          <p:nvPr>
            <p:ph type="sldNum" sz="quarter" idx="12"/>
          </p:nvPr>
        </p:nvSpPr>
        <p:spPr/>
        <p:txBody>
          <a:bodyPr/>
          <a:lstStyle/>
          <a:p>
            <a:fld id="{B213A9AB-441E-4373-A114-F8AB583AC96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B9958C-6023-4ACA-B634-FC689470CF3F}" type="datetime1">
              <a:rPr lang="en-US" smtClean="0"/>
              <a:t>5/18/2023</a:t>
            </a:fld>
            <a:endParaRPr lang="en-US"/>
          </a:p>
        </p:txBody>
      </p:sp>
      <p:sp>
        <p:nvSpPr>
          <p:cNvPr id="3" name="Footer Placeholder 2"/>
          <p:cNvSpPr>
            <a:spLocks noGrp="1"/>
          </p:cNvSpPr>
          <p:nvPr>
            <p:ph type="ftr" sz="quarter" idx="11"/>
          </p:nvPr>
        </p:nvSpPr>
        <p:spPr/>
        <p:txBody>
          <a:bodyPr/>
          <a:lstStyle/>
          <a:p>
            <a:r>
              <a:rPr lang="en-US"/>
              <a:t>191CSC302T-OBJECT ORIENTED PROGRAMMING</a:t>
            </a:r>
          </a:p>
        </p:txBody>
      </p:sp>
      <p:sp>
        <p:nvSpPr>
          <p:cNvPr id="4" name="Slide Number Placeholder 3"/>
          <p:cNvSpPr>
            <a:spLocks noGrp="1"/>
          </p:cNvSpPr>
          <p:nvPr>
            <p:ph type="sldNum" sz="quarter" idx="12"/>
          </p:nvPr>
        </p:nvSpPr>
        <p:spPr/>
        <p:txBody>
          <a:bodyPr/>
          <a:lstStyle/>
          <a:p>
            <a:fld id="{B213A9AB-441E-4373-A114-F8AB583AC96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CB41EB-0CB6-4EE9-86E8-45EA519F6C7D}" type="datetime1">
              <a:rPr lang="en-US" smtClean="0"/>
              <a:t>5/18/2023</a:t>
            </a:fld>
            <a:endParaRPr lang="en-US"/>
          </a:p>
        </p:txBody>
      </p:sp>
      <p:sp>
        <p:nvSpPr>
          <p:cNvPr id="6" name="Footer Placeholder 5"/>
          <p:cNvSpPr>
            <a:spLocks noGrp="1"/>
          </p:cNvSpPr>
          <p:nvPr>
            <p:ph type="ftr" sz="quarter" idx="11"/>
          </p:nvPr>
        </p:nvSpPr>
        <p:spPr/>
        <p:txBody>
          <a:bodyPr/>
          <a:lstStyle/>
          <a:p>
            <a:r>
              <a:rPr lang="en-US"/>
              <a:t>191CSC302T-OBJECT ORIENTED PROGRAMMING</a:t>
            </a:r>
          </a:p>
        </p:txBody>
      </p:sp>
      <p:sp>
        <p:nvSpPr>
          <p:cNvPr id="7" name="Slide Number Placeholder 6"/>
          <p:cNvSpPr>
            <a:spLocks noGrp="1"/>
          </p:cNvSpPr>
          <p:nvPr>
            <p:ph type="sldNum" sz="quarter" idx="12"/>
          </p:nvPr>
        </p:nvSpPr>
        <p:spPr/>
        <p:txBody>
          <a:bodyPr/>
          <a:lstStyle/>
          <a:p>
            <a:fld id="{B213A9AB-441E-4373-A114-F8AB583AC96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036ACE-9D5E-4071-AB82-BB07CA5E82A9}" type="datetime1">
              <a:rPr lang="en-US" smtClean="0"/>
              <a:t>5/18/2023</a:t>
            </a:fld>
            <a:endParaRPr lang="en-US"/>
          </a:p>
        </p:txBody>
      </p:sp>
      <p:sp>
        <p:nvSpPr>
          <p:cNvPr id="6" name="Footer Placeholder 5"/>
          <p:cNvSpPr>
            <a:spLocks noGrp="1"/>
          </p:cNvSpPr>
          <p:nvPr>
            <p:ph type="ftr" sz="quarter" idx="11"/>
          </p:nvPr>
        </p:nvSpPr>
        <p:spPr/>
        <p:txBody>
          <a:bodyPr/>
          <a:lstStyle/>
          <a:p>
            <a:r>
              <a:rPr lang="en-US"/>
              <a:t>191CSC302T-OBJECT ORIENTED PROGRAMMING</a:t>
            </a:r>
          </a:p>
        </p:txBody>
      </p:sp>
      <p:sp>
        <p:nvSpPr>
          <p:cNvPr id="7" name="Slide Number Placeholder 6"/>
          <p:cNvSpPr>
            <a:spLocks noGrp="1"/>
          </p:cNvSpPr>
          <p:nvPr>
            <p:ph type="sldNum" sz="quarter" idx="12"/>
          </p:nvPr>
        </p:nvSpPr>
        <p:spPr/>
        <p:txBody>
          <a:bodyPr/>
          <a:lstStyle/>
          <a:p>
            <a:fld id="{B213A9AB-441E-4373-A114-F8AB583AC96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2D14A7-5923-43D8-9326-BD0212443362}" type="datetime1">
              <a:rPr lang="en-US" smtClean="0"/>
              <a:t>5/18/2023</a:t>
            </a:fld>
            <a:endParaRPr lang="en-US"/>
          </a:p>
        </p:txBody>
      </p:sp>
      <p:sp>
        <p:nvSpPr>
          <p:cNvPr id="5" name="Footer Placeholder 4"/>
          <p:cNvSpPr>
            <a:spLocks noGrp="1"/>
          </p:cNvSpPr>
          <p:nvPr>
            <p:ph type="ftr" sz="quarter" idx="11"/>
          </p:nvPr>
        </p:nvSpPr>
        <p:spPr/>
        <p:txBody>
          <a:bodyPr/>
          <a:lstStyle/>
          <a:p>
            <a:r>
              <a:rPr lang="en-US"/>
              <a:t>191CSC302T-OBJECT ORIENTED PROGRAMMING</a:t>
            </a:r>
          </a:p>
        </p:txBody>
      </p:sp>
      <p:sp>
        <p:nvSpPr>
          <p:cNvPr id="6" name="Slide Number Placeholder 5"/>
          <p:cNvSpPr>
            <a:spLocks noGrp="1"/>
          </p:cNvSpPr>
          <p:nvPr>
            <p:ph type="sldNum" sz="quarter" idx="12"/>
          </p:nvPr>
        </p:nvSpPr>
        <p:spPr/>
        <p:txBody>
          <a:bodyPr/>
          <a:lstStyle/>
          <a:p>
            <a:fld id="{B213A9AB-441E-4373-A114-F8AB583AC96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08822F-E563-4018-AF8F-9861D5AABA27}" type="datetime1">
              <a:rPr lang="en-US" smtClean="0"/>
              <a:t>5/18/2023</a:t>
            </a:fld>
            <a:endParaRPr lang="en-US"/>
          </a:p>
        </p:txBody>
      </p:sp>
      <p:sp>
        <p:nvSpPr>
          <p:cNvPr id="5" name="Footer Placeholder 4"/>
          <p:cNvSpPr>
            <a:spLocks noGrp="1"/>
          </p:cNvSpPr>
          <p:nvPr>
            <p:ph type="ftr" sz="quarter" idx="11"/>
          </p:nvPr>
        </p:nvSpPr>
        <p:spPr/>
        <p:txBody>
          <a:bodyPr/>
          <a:lstStyle/>
          <a:p>
            <a:r>
              <a:rPr lang="en-US"/>
              <a:t>191CSC302T-OBJECT ORIENTED PROGRAMMING</a:t>
            </a:r>
          </a:p>
        </p:txBody>
      </p:sp>
      <p:sp>
        <p:nvSpPr>
          <p:cNvPr id="6" name="Slide Number Placeholder 5"/>
          <p:cNvSpPr>
            <a:spLocks noGrp="1"/>
          </p:cNvSpPr>
          <p:nvPr>
            <p:ph type="sldNum" sz="quarter" idx="12"/>
          </p:nvPr>
        </p:nvSpPr>
        <p:spPr/>
        <p:txBody>
          <a:bodyPr/>
          <a:lstStyle/>
          <a:p>
            <a:fld id="{B213A9AB-441E-4373-A114-F8AB583AC96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7E6756-86AB-4BD7-AA34-BA55792D65BA}" type="datetime1">
              <a:rPr lang="en-US" smtClean="0"/>
              <a:t>5/18/2023</a:t>
            </a:fld>
            <a:endParaRPr lang="en-US"/>
          </a:p>
        </p:txBody>
      </p:sp>
      <p:sp>
        <p:nvSpPr>
          <p:cNvPr id="5" name="Footer Placeholder 4"/>
          <p:cNvSpPr>
            <a:spLocks noGrp="1"/>
          </p:cNvSpPr>
          <p:nvPr>
            <p:ph type="ftr" sz="quarter" idx="3"/>
          </p:nvPr>
        </p:nvSpPr>
        <p:spPr>
          <a:xfrm>
            <a:off x="2819400" y="6356350"/>
            <a:ext cx="32004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191CSC302T-OBJECT ORIENTED PROGRAMMING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13A9AB-441E-4373-A114-F8AB583AC96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b="1" dirty="0"/>
              <a:t>Module 7</a:t>
            </a:r>
            <a:br>
              <a:rPr lang="en-US" b="1" dirty="0"/>
            </a:br>
            <a:r>
              <a:rPr lang="en-US" b="1" dirty="0"/>
              <a:t>Polymorphism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pPr algn="l"/>
            <a:r>
              <a:rPr lang="en-US" b="1" dirty="0"/>
              <a:t>Polymorphism</a:t>
            </a:r>
          </a:p>
        </p:txBody>
      </p:sp>
      <p:sp>
        <p:nvSpPr>
          <p:cNvPr id="3" name="Content Placeholder 2"/>
          <p:cNvSpPr>
            <a:spLocks noGrp="1"/>
          </p:cNvSpPr>
          <p:nvPr>
            <p:ph idx="1"/>
          </p:nvPr>
        </p:nvSpPr>
        <p:spPr>
          <a:xfrm>
            <a:off x="457200" y="914400"/>
            <a:ext cx="8229600" cy="4525963"/>
          </a:xfrm>
        </p:spPr>
        <p:txBody>
          <a:bodyPr>
            <a:normAutofit fontScale="85000" lnSpcReduction="20000"/>
          </a:bodyPr>
          <a:lstStyle/>
          <a:p>
            <a:pPr algn="just"/>
            <a:r>
              <a:rPr lang="en-US" dirty="0"/>
              <a:t>Polymorphism, (Greek term) - </a:t>
            </a:r>
            <a:r>
              <a:rPr lang="en-US" dirty="0">
                <a:solidFill>
                  <a:srgbClr val="FF0000"/>
                </a:solidFill>
              </a:rPr>
              <a:t>ability to take more than one form.</a:t>
            </a:r>
          </a:p>
          <a:p>
            <a:pPr algn="just"/>
            <a:r>
              <a:rPr lang="en-US" dirty="0"/>
              <a:t>An operation may exhibits different behaviors in different instances. The behavior depends upon the type of data used in the operation.</a:t>
            </a:r>
          </a:p>
          <a:p>
            <a:pPr algn="just"/>
            <a:r>
              <a:rPr lang="en-US" dirty="0"/>
              <a:t>For example consider the operation of addition for two numbers; the operation will generate a sum. If the operands are string then the operation would produce a third string by concatenation.</a:t>
            </a:r>
          </a:p>
          <a:p>
            <a:pPr algn="just"/>
            <a:r>
              <a:rPr lang="en-US" dirty="0"/>
              <a:t>The process of making an operator to exhibit different behavior in different instances is known </a:t>
            </a:r>
            <a:r>
              <a:rPr lang="en-US" dirty="0">
                <a:solidFill>
                  <a:srgbClr val="FF0000"/>
                </a:solidFill>
              </a:rPr>
              <a:t>operator overloading</a:t>
            </a:r>
          </a:p>
          <a:p>
            <a:pPr algn="just"/>
            <a:endParaRPr lang="en-US" dirty="0"/>
          </a:p>
        </p:txBody>
      </p:sp>
      <p:sp>
        <p:nvSpPr>
          <p:cNvPr id="4" name="object 27"/>
          <p:cNvSpPr/>
          <p:nvPr/>
        </p:nvSpPr>
        <p:spPr>
          <a:xfrm>
            <a:off x="2667000" y="4800600"/>
            <a:ext cx="6248400" cy="19812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124388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5BBA0-BC15-A4C4-18F3-331DAF6750CA}"/>
              </a:ext>
            </a:extLst>
          </p:cNvPr>
          <p:cNvSpPr>
            <a:spLocks noGrp="1"/>
          </p:cNvSpPr>
          <p:nvPr>
            <p:ph type="title"/>
          </p:nvPr>
        </p:nvSpPr>
        <p:spPr/>
        <p:txBody>
          <a:bodyPr/>
          <a:lstStyle/>
          <a:p>
            <a:r>
              <a:rPr lang="en-IN" dirty="0"/>
              <a:t>Function overloading</a:t>
            </a:r>
          </a:p>
        </p:txBody>
      </p:sp>
      <p:sp>
        <p:nvSpPr>
          <p:cNvPr id="3" name="Content Placeholder 2">
            <a:extLst>
              <a:ext uri="{FF2B5EF4-FFF2-40B4-BE49-F238E27FC236}">
                <a16:creationId xmlns:a16="http://schemas.microsoft.com/office/drawing/2014/main" id="{E01BD62B-FE37-7517-5ED9-EF782DDA85F9}"/>
              </a:ext>
            </a:extLst>
          </p:cNvPr>
          <p:cNvSpPr>
            <a:spLocks noGrp="1"/>
          </p:cNvSpPr>
          <p:nvPr>
            <p:ph idx="1"/>
          </p:nvPr>
        </p:nvSpPr>
        <p:spPr/>
        <p:txBody>
          <a:bodyPr>
            <a:normAutofit/>
          </a:bodyPr>
          <a:lstStyle/>
          <a:p>
            <a:r>
              <a:rPr lang="en-US" sz="2800" dirty="0"/>
              <a:t>Function overloading is a feature of object-oriented programming where two or more functions can have the same name but different parameters.</a:t>
            </a:r>
          </a:p>
          <a:p>
            <a:r>
              <a:rPr lang="en-US" sz="2800" dirty="0"/>
              <a:t>In Function Overloading “Function” name should be the same and the arguments should be different.</a:t>
            </a:r>
          </a:p>
          <a:p>
            <a:r>
              <a:rPr lang="en-US" sz="2800" dirty="0"/>
              <a:t>Function overloading can be considered an example of a polymorphism feature in C++.</a:t>
            </a:r>
            <a:endParaRPr lang="en-IN" sz="2800" dirty="0"/>
          </a:p>
        </p:txBody>
      </p:sp>
    </p:spTree>
    <p:extLst>
      <p:ext uri="{BB962C8B-B14F-4D97-AF65-F5344CB8AC3E}">
        <p14:creationId xmlns:p14="http://schemas.microsoft.com/office/powerpoint/2010/main" val="3798586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8E7CF-71B7-2270-065D-44A6AE656483}"/>
              </a:ext>
            </a:extLst>
          </p:cNvPr>
          <p:cNvSpPr>
            <a:spLocks noGrp="1"/>
          </p:cNvSpPr>
          <p:nvPr>
            <p:ph type="title"/>
          </p:nvPr>
        </p:nvSpPr>
        <p:spPr>
          <a:xfrm>
            <a:off x="457200" y="274638"/>
            <a:ext cx="8229600" cy="63976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0D71C1A3-20E1-2668-24E6-23805EB129E0}"/>
              </a:ext>
            </a:extLst>
          </p:cNvPr>
          <p:cNvSpPr>
            <a:spLocks noGrp="1"/>
          </p:cNvSpPr>
          <p:nvPr>
            <p:ph idx="1"/>
          </p:nvPr>
        </p:nvSpPr>
        <p:spPr>
          <a:xfrm>
            <a:off x="457200" y="1371600"/>
            <a:ext cx="8458200" cy="5211762"/>
          </a:xfrm>
        </p:spPr>
        <p:txBody>
          <a:bodyPr>
            <a:normAutofit fontScale="25000" lnSpcReduction="20000"/>
          </a:bodyPr>
          <a:lstStyle/>
          <a:p>
            <a:r>
              <a:rPr lang="en-US" sz="11200" dirty="0"/>
              <a:t>The parameters should follow any one or more than one of the following conditions for Function overloading:</a:t>
            </a:r>
          </a:p>
          <a:p>
            <a:r>
              <a:rPr lang="en-US" sz="11200" dirty="0"/>
              <a:t>Parameters may have a different type</a:t>
            </a:r>
          </a:p>
          <a:p>
            <a:pPr marL="0" indent="0">
              <a:buNone/>
            </a:pPr>
            <a:r>
              <a:rPr lang="en-US" sz="11200" dirty="0"/>
              <a:t>	add(int a, int b)</a:t>
            </a:r>
            <a:br>
              <a:rPr lang="en-US" sz="11200" dirty="0"/>
            </a:br>
            <a:r>
              <a:rPr lang="en-US" sz="11200" dirty="0"/>
              <a:t>	add(double a, double b)</a:t>
            </a:r>
          </a:p>
          <a:p>
            <a:r>
              <a:rPr lang="en-US" sz="11200" dirty="0"/>
              <a:t>Parameters may have a different number </a:t>
            </a:r>
          </a:p>
          <a:p>
            <a:pPr marL="0" indent="0">
              <a:buNone/>
            </a:pPr>
            <a:r>
              <a:rPr lang="en-US" sz="11200" dirty="0"/>
              <a:t>	add(int a, int b)</a:t>
            </a:r>
          </a:p>
          <a:p>
            <a:pPr marL="0" indent="0">
              <a:buNone/>
            </a:pPr>
            <a:r>
              <a:rPr lang="en-US" sz="11200" dirty="0"/>
              <a:t>	add(int a, int b, int c)</a:t>
            </a:r>
          </a:p>
          <a:p>
            <a:r>
              <a:rPr lang="en-US" sz="11200" dirty="0"/>
              <a:t>Parameters may have a different sequence of parameters.</a:t>
            </a:r>
          </a:p>
          <a:p>
            <a:pPr marL="0" indent="0">
              <a:buNone/>
            </a:pPr>
            <a:r>
              <a:rPr lang="en-US" sz="11200" dirty="0"/>
              <a:t>	add(int a, double b)</a:t>
            </a:r>
          </a:p>
          <a:p>
            <a:pPr marL="0" indent="0">
              <a:buNone/>
            </a:pPr>
            <a:r>
              <a:rPr lang="en-US" sz="11200" dirty="0"/>
              <a:t>	add(double a, int b)</a:t>
            </a:r>
          </a:p>
          <a:p>
            <a:endParaRPr lang="en-US" sz="2400" dirty="0">
              <a:solidFill>
                <a:srgbClr val="273239"/>
              </a:solidFill>
              <a:latin typeface="Nunito" pitchFamily="2" charset="0"/>
            </a:endParaRPr>
          </a:p>
          <a:p>
            <a:endParaRPr lang="en-US" sz="2400" b="0" i="0" dirty="0">
              <a:solidFill>
                <a:srgbClr val="273239"/>
              </a:solidFill>
              <a:effectLst/>
              <a:latin typeface="Nunito" pitchFamily="2" charset="0"/>
            </a:endParaRPr>
          </a:p>
          <a:p>
            <a:pPr marL="0" indent="0">
              <a:buNone/>
            </a:pPr>
            <a:r>
              <a:rPr lang="en-IN" sz="2400" dirty="0"/>
              <a:t>	</a:t>
            </a:r>
          </a:p>
        </p:txBody>
      </p:sp>
    </p:spTree>
    <p:extLst>
      <p:ext uri="{BB962C8B-B14F-4D97-AF65-F5344CB8AC3E}">
        <p14:creationId xmlns:p14="http://schemas.microsoft.com/office/powerpoint/2010/main" val="12793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E459F9-D0D8-9409-69EA-593E2B31D31B}"/>
              </a:ext>
            </a:extLst>
          </p:cNvPr>
          <p:cNvSpPr>
            <a:spLocks noGrp="1"/>
          </p:cNvSpPr>
          <p:nvPr>
            <p:ph idx="1"/>
          </p:nvPr>
        </p:nvSpPr>
        <p:spPr>
          <a:xfrm>
            <a:off x="457200" y="304800"/>
            <a:ext cx="8229600" cy="6248400"/>
          </a:xfrm>
        </p:spPr>
        <p:txBody>
          <a:bodyPr>
            <a:normAutofit fontScale="62500" lnSpcReduction="20000"/>
          </a:bodyPr>
          <a:lstStyle/>
          <a:p>
            <a:pPr marL="0" indent="0">
              <a:buNone/>
            </a:pPr>
            <a:r>
              <a:rPr lang="en-IN" dirty="0"/>
              <a:t>#include &lt;iostream&gt;</a:t>
            </a:r>
          </a:p>
          <a:p>
            <a:pPr marL="0" indent="0">
              <a:buNone/>
            </a:pPr>
            <a:r>
              <a:rPr lang="en-IN" dirty="0"/>
              <a:t>using namespace std;</a:t>
            </a:r>
          </a:p>
          <a:p>
            <a:pPr marL="0" indent="0">
              <a:buNone/>
            </a:pPr>
            <a:r>
              <a:rPr lang="en-IN" dirty="0"/>
              <a:t>void add(int a, int b)</a:t>
            </a:r>
          </a:p>
          <a:p>
            <a:pPr marL="0" indent="0">
              <a:buNone/>
            </a:pPr>
            <a:r>
              <a:rPr lang="en-IN" dirty="0"/>
              <a:t>{</a:t>
            </a:r>
          </a:p>
          <a:p>
            <a:pPr marL="0" indent="0">
              <a:buNone/>
            </a:pPr>
            <a:r>
              <a:rPr lang="en-IN" dirty="0" err="1"/>
              <a:t>cout</a:t>
            </a:r>
            <a:r>
              <a:rPr lang="en-IN" dirty="0"/>
              <a:t> &lt;&lt; "sum = " &lt;&lt; (a + b);</a:t>
            </a:r>
          </a:p>
          <a:p>
            <a:pPr marL="0" indent="0">
              <a:buNone/>
            </a:pPr>
            <a:r>
              <a:rPr lang="en-IN" dirty="0"/>
              <a:t>}</a:t>
            </a:r>
          </a:p>
          <a:p>
            <a:pPr marL="0" indent="0">
              <a:buNone/>
            </a:pPr>
            <a:r>
              <a:rPr lang="en-IN" dirty="0"/>
              <a:t>void add(double a, double b)</a:t>
            </a:r>
          </a:p>
          <a:p>
            <a:pPr marL="0" indent="0">
              <a:buNone/>
            </a:pPr>
            <a:r>
              <a:rPr lang="en-IN" dirty="0"/>
              <a:t>{</a:t>
            </a:r>
          </a:p>
          <a:p>
            <a:pPr marL="0" indent="0">
              <a:buNone/>
            </a:pPr>
            <a:r>
              <a:rPr lang="en-IN" dirty="0" err="1"/>
              <a:t>cout</a:t>
            </a:r>
            <a:r>
              <a:rPr lang="en-IN" dirty="0"/>
              <a:t> &lt;&lt; </a:t>
            </a:r>
            <a:r>
              <a:rPr lang="en-IN" dirty="0" err="1"/>
              <a:t>endl</a:t>
            </a:r>
            <a:r>
              <a:rPr lang="en-IN" dirty="0"/>
              <a:t> &lt;&lt; "sum = " &lt;&lt; (a + b);</a:t>
            </a:r>
          </a:p>
          <a:p>
            <a:pPr marL="0" indent="0">
              <a:buNone/>
            </a:pPr>
            <a:r>
              <a:rPr lang="en-IN" dirty="0"/>
              <a:t>}</a:t>
            </a:r>
          </a:p>
          <a:p>
            <a:pPr marL="0" indent="0">
              <a:buNone/>
            </a:pPr>
            <a:r>
              <a:rPr lang="en-IN" dirty="0"/>
              <a:t>int main()</a:t>
            </a:r>
          </a:p>
          <a:p>
            <a:pPr marL="0" indent="0">
              <a:buNone/>
            </a:pPr>
            <a:r>
              <a:rPr lang="en-IN" dirty="0"/>
              <a:t>{</a:t>
            </a:r>
          </a:p>
          <a:p>
            <a:pPr marL="0" indent="0">
              <a:buNone/>
            </a:pPr>
            <a:r>
              <a:rPr lang="en-IN" dirty="0"/>
              <a:t>	add(10, 2);</a:t>
            </a:r>
          </a:p>
          <a:p>
            <a:pPr marL="0" indent="0">
              <a:buNone/>
            </a:pPr>
            <a:r>
              <a:rPr lang="en-IN" dirty="0"/>
              <a:t>	add(5.3, 6.2);</a:t>
            </a:r>
          </a:p>
          <a:p>
            <a:pPr marL="0" indent="0">
              <a:buNone/>
            </a:pPr>
            <a:r>
              <a:rPr lang="en-IN" dirty="0"/>
              <a:t>	return 0;</a:t>
            </a:r>
          </a:p>
          <a:p>
            <a:pPr marL="0" indent="0">
              <a:buNone/>
            </a:pPr>
            <a:r>
              <a:rPr lang="en-IN" dirty="0"/>
              <a:t>}</a:t>
            </a:r>
          </a:p>
          <a:p>
            <a:pPr marL="0" indent="0">
              <a:buNone/>
            </a:pPr>
            <a:r>
              <a:rPr lang="en-IN" dirty="0"/>
              <a:t>Output:</a:t>
            </a:r>
          </a:p>
          <a:p>
            <a:pPr marL="0" indent="0">
              <a:buNone/>
            </a:pPr>
            <a:r>
              <a:rPr lang="en-IN" dirty="0"/>
              <a:t>sum = 12</a:t>
            </a:r>
          </a:p>
          <a:p>
            <a:pPr marL="0" indent="0">
              <a:buNone/>
            </a:pPr>
            <a:r>
              <a:rPr lang="en-IN" dirty="0"/>
              <a:t>sum = 11.5</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57736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54D59-4596-8499-1F9C-CAEDBF7C9D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A43C568-7429-7E7A-8717-3D5857A8F8ED}"/>
              </a:ext>
            </a:extLst>
          </p:cNvPr>
          <p:cNvSpPr>
            <a:spLocks noGrp="1"/>
          </p:cNvSpPr>
          <p:nvPr>
            <p:ph idx="1"/>
          </p:nvPr>
        </p:nvSpPr>
        <p:spPr/>
        <p:txBody>
          <a:bodyPr>
            <a:normAutofit/>
          </a:bodyPr>
          <a:lstStyle/>
          <a:p>
            <a:r>
              <a:rPr lang="en-US" sz="2800" dirty="0"/>
              <a:t>Function overloading is possible only if the functions differ from each other by the types and the number of arguments in the argument list. </a:t>
            </a:r>
          </a:p>
          <a:p>
            <a:r>
              <a:rPr lang="en-US" sz="2800" dirty="0"/>
              <a:t>However, functions can not be overloaded if they differ in their return type.</a:t>
            </a:r>
          </a:p>
          <a:p>
            <a:pPr lvl="1"/>
            <a:r>
              <a:rPr lang="en-US" sz="2400" dirty="0"/>
              <a:t>Example: if there are two functions: int sum() and float sum(), these two will generate a compile-time error as function overloading is not possible here.</a:t>
            </a:r>
            <a:endParaRPr lang="en-IN" sz="2400" dirty="0"/>
          </a:p>
        </p:txBody>
      </p:sp>
    </p:spTree>
    <p:extLst>
      <p:ext uri="{BB962C8B-B14F-4D97-AF65-F5344CB8AC3E}">
        <p14:creationId xmlns:p14="http://schemas.microsoft.com/office/powerpoint/2010/main" val="324248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006FA5-84BD-1FEC-9493-63113DCE745D}"/>
              </a:ext>
            </a:extLst>
          </p:cNvPr>
          <p:cNvSpPr>
            <a:spLocks noGrp="1"/>
          </p:cNvSpPr>
          <p:nvPr>
            <p:ph idx="1"/>
          </p:nvPr>
        </p:nvSpPr>
        <p:spPr>
          <a:xfrm>
            <a:off x="457200" y="228600"/>
            <a:ext cx="8229600" cy="6400800"/>
          </a:xfrm>
        </p:spPr>
        <p:txBody>
          <a:bodyPr>
            <a:normAutofit fontScale="62500" lnSpcReduction="20000"/>
          </a:bodyPr>
          <a:lstStyle/>
          <a:p>
            <a:pPr marL="0" indent="0">
              <a:buNone/>
            </a:pPr>
            <a:r>
              <a:rPr lang="en-IN" dirty="0"/>
              <a:t>#include &lt;iostream&gt;</a:t>
            </a:r>
          </a:p>
          <a:p>
            <a:pPr marL="0" indent="0">
              <a:buNone/>
            </a:pPr>
            <a:r>
              <a:rPr lang="en-IN" dirty="0"/>
              <a:t>int fun() { return 10; }</a:t>
            </a:r>
          </a:p>
          <a:p>
            <a:pPr marL="0" indent="0">
              <a:buNone/>
            </a:pPr>
            <a:r>
              <a:rPr lang="en-IN" dirty="0"/>
              <a:t>char fun() { return 'a’; }  // compiler error as it is a new declaration of fun()</a:t>
            </a:r>
          </a:p>
          <a:p>
            <a:pPr marL="0" indent="0">
              <a:buNone/>
            </a:pPr>
            <a:r>
              <a:rPr lang="en-IN" dirty="0"/>
              <a:t>int main()</a:t>
            </a:r>
          </a:p>
          <a:p>
            <a:pPr marL="0" indent="0">
              <a:buNone/>
            </a:pPr>
            <a:r>
              <a:rPr lang="en-IN" dirty="0"/>
              <a:t>{</a:t>
            </a:r>
          </a:p>
          <a:p>
            <a:pPr marL="0" indent="0">
              <a:buNone/>
            </a:pPr>
            <a:r>
              <a:rPr lang="en-IN" dirty="0"/>
              <a:t>	char x = fun();</a:t>
            </a:r>
          </a:p>
          <a:p>
            <a:pPr marL="0" indent="0">
              <a:buNone/>
            </a:pPr>
            <a:r>
              <a:rPr lang="en-IN" dirty="0"/>
              <a:t>	</a:t>
            </a:r>
            <a:r>
              <a:rPr lang="en-IN" dirty="0" err="1"/>
              <a:t>getchar</a:t>
            </a:r>
            <a:r>
              <a:rPr lang="en-IN" dirty="0"/>
              <a:t>();</a:t>
            </a:r>
          </a:p>
          <a:p>
            <a:pPr marL="0" indent="0">
              <a:buNone/>
            </a:pPr>
            <a:r>
              <a:rPr lang="en-IN" dirty="0"/>
              <a:t>	return 0;</a:t>
            </a:r>
          </a:p>
          <a:p>
            <a:pPr marL="0" indent="0">
              <a:buNone/>
            </a:pPr>
            <a:r>
              <a:rPr lang="en-IN" dirty="0"/>
              <a:t>}</a:t>
            </a:r>
          </a:p>
          <a:p>
            <a:pPr marL="0" indent="0">
              <a:buNone/>
            </a:pPr>
            <a:endParaRPr lang="en-IN" dirty="0"/>
          </a:p>
          <a:p>
            <a:pPr marL="0" indent="0">
              <a:buNone/>
            </a:pPr>
            <a:r>
              <a:rPr lang="en-IN" dirty="0"/>
              <a:t>Output</a:t>
            </a:r>
          </a:p>
          <a:p>
            <a:pPr marL="0" indent="0">
              <a:buNone/>
            </a:pPr>
            <a:endParaRPr lang="en-IN" dirty="0"/>
          </a:p>
          <a:p>
            <a:pPr marL="0" indent="0">
              <a:buNone/>
            </a:pPr>
            <a:r>
              <a:rPr lang="en-IN" dirty="0"/>
              <a:t>prog.cpp: In function ‘char fun()’:</a:t>
            </a:r>
          </a:p>
          <a:p>
            <a:pPr marL="0" indent="0">
              <a:buNone/>
            </a:pPr>
            <a:r>
              <a:rPr lang="en-IN" dirty="0"/>
              <a:t>prog.cpp:6:10: error: ambiguating new declaration of ‘char fun()’</a:t>
            </a:r>
          </a:p>
          <a:p>
            <a:pPr marL="0" indent="0">
              <a:buNone/>
            </a:pPr>
            <a:r>
              <a:rPr lang="en-IN" dirty="0"/>
              <a:t>char fun() { return 'a'; }</a:t>
            </a:r>
          </a:p>
          <a:p>
            <a:pPr marL="0" indent="0">
              <a:buNone/>
            </a:pPr>
            <a:r>
              <a:rPr lang="en-IN" dirty="0"/>
              <a:t>         ^</a:t>
            </a:r>
          </a:p>
          <a:p>
            <a:pPr marL="0" indent="0">
              <a:buNone/>
            </a:pPr>
            <a:r>
              <a:rPr lang="en-IN" dirty="0"/>
              <a:t>prog.cpp:4:5: note: old declaration ‘int fun()’</a:t>
            </a:r>
          </a:p>
          <a:p>
            <a:pPr marL="0" indent="0">
              <a:buNone/>
            </a:pPr>
            <a:r>
              <a:rPr lang="en-IN" dirty="0"/>
              <a:t>int fun() { return 10; }</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4197386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AC106-AFAF-3A04-BC4A-E413844543CE}"/>
              </a:ext>
            </a:extLst>
          </p:cNvPr>
          <p:cNvSpPr>
            <a:spLocks noGrp="1"/>
          </p:cNvSpPr>
          <p:nvPr>
            <p:ph type="title"/>
          </p:nvPr>
        </p:nvSpPr>
        <p:spPr/>
        <p:txBody>
          <a:bodyPr>
            <a:normAutofit fontScale="90000"/>
          </a:bodyPr>
          <a:lstStyle/>
          <a:p>
            <a:r>
              <a:rPr lang="en-US" dirty="0"/>
              <a:t>Function Overriding</a:t>
            </a:r>
            <a:br>
              <a:rPr lang="en-US" dirty="0"/>
            </a:br>
            <a:endParaRPr lang="en-IN" dirty="0"/>
          </a:p>
        </p:txBody>
      </p:sp>
      <p:sp>
        <p:nvSpPr>
          <p:cNvPr id="3" name="Content Placeholder 2">
            <a:extLst>
              <a:ext uri="{FF2B5EF4-FFF2-40B4-BE49-F238E27FC236}">
                <a16:creationId xmlns:a16="http://schemas.microsoft.com/office/drawing/2014/main" id="{6022BA2C-B0B0-2941-A932-4E5AFC30CFCE}"/>
              </a:ext>
            </a:extLst>
          </p:cNvPr>
          <p:cNvSpPr>
            <a:spLocks noGrp="1"/>
          </p:cNvSpPr>
          <p:nvPr>
            <p:ph idx="1"/>
          </p:nvPr>
        </p:nvSpPr>
        <p:spPr/>
        <p:txBody>
          <a:bodyPr>
            <a:normAutofit fontScale="77500" lnSpcReduction="20000"/>
          </a:bodyPr>
          <a:lstStyle/>
          <a:p>
            <a:r>
              <a:rPr lang="en-US" dirty="0"/>
              <a:t>Function overriding is the mechanism using which a function defined in the base class is once again defined in the derived class. In this case, we say the function is overridden in the derived class.</a:t>
            </a:r>
          </a:p>
          <a:p>
            <a:r>
              <a:rPr lang="en-US" dirty="0"/>
              <a:t>We should remember that function overriding cannot be done within a class. </a:t>
            </a:r>
          </a:p>
          <a:p>
            <a:r>
              <a:rPr lang="en-US" dirty="0"/>
              <a:t>The function is overridden in the derived class only. </a:t>
            </a:r>
          </a:p>
          <a:p>
            <a:r>
              <a:rPr lang="en-US" dirty="0"/>
              <a:t>Hence inheritance should be present for function overriding.</a:t>
            </a:r>
          </a:p>
          <a:p>
            <a:r>
              <a:rPr lang="en-US" dirty="0"/>
              <a:t>The second thing is that the function from a base class that we are overriding should have the same signature or prototype i.e. it should have the same name, same return type and same argument list.</a:t>
            </a:r>
            <a:endParaRPr lang="en-IN" dirty="0"/>
          </a:p>
        </p:txBody>
      </p:sp>
    </p:spTree>
    <p:extLst>
      <p:ext uri="{BB962C8B-B14F-4D97-AF65-F5344CB8AC3E}">
        <p14:creationId xmlns:p14="http://schemas.microsoft.com/office/powerpoint/2010/main" val="4175080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A7AE3D-9C95-99FB-23F4-0716425C5AAA}"/>
              </a:ext>
            </a:extLst>
          </p:cNvPr>
          <p:cNvSpPr>
            <a:spLocks noGrp="1"/>
          </p:cNvSpPr>
          <p:nvPr>
            <p:ph idx="1"/>
          </p:nvPr>
        </p:nvSpPr>
        <p:spPr>
          <a:xfrm>
            <a:off x="457200" y="304800"/>
            <a:ext cx="4648200" cy="6400800"/>
          </a:xfrm>
        </p:spPr>
        <p:txBody>
          <a:bodyPr>
            <a:normAutofit fontScale="92500" lnSpcReduction="10000"/>
          </a:bodyPr>
          <a:lstStyle/>
          <a:p>
            <a:pPr marL="0" indent="0">
              <a:buNone/>
            </a:pPr>
            <a:r>
              <a:rPr lang="en-IN" sz="1600" dirty="0"/>
              <a:t>#include &lt;iostream&gt;</a:t>
            </a:r>
          </a:p>
          <a:p>
            <a:pPr marL="0" indent="0">
              <a:buNone/>
            </a:pPr>
            <a:r>
              <a:rPr lang="en-IN" sz="1600" dirty="0"/>
              <a:t>using namespace std;</a:t>
            </a:r>
          </a:p>
          <a:p>
            <a:pPr marL="0" indent="0">
              <a:buNone/>
            </a:pPr>
            <a:r>
              <a:rPr lang="en-IN" sz="1600" dirty="0"/>
              <a:t>class Base</a:t>
            </a:r>
          </a:p>
          <a:p>
            <a:pPr marL="0" indent="0">
              <a:buNone/>
            </a:pPr>
            <a:r>
              <a:rPr lang="en-IN" sz="1600" dirty="0"/>
              <a:t>{</a:t>
            </a:r>
          </a:p>
          <a:p>
            <a:pPr marL="0" indent="0">
              <a:buNone/>
            </a:pPr>
            <a:r>
              <a:rPr lang="en-IN" sz="1600" dirty="0"/>
              <a:t>   public:</a:t>
            </a:r>
          </a:p>
          <a:p>
            <a:pPr marL="0" indent="0">
              <a:buNone/>
            </a:pPr>
            <a:r>
              <a:rPr lang="en-IN" sz="1600" dirty="0"/>
              <a:t>   virtual void </a:t>
            </a:r>
            <a:r>
              <a:rPr lang="en-IN" sz="1600" dirty="0" err="1"/>
              <a:t>show_val</a:t>
            </a:r>
            <a:r>
              <a:rPr lang="en-IN" sz="1600" dirty="0"/>
              <a:t>()</a:t>
            </a:r>
          </a:p>
          <a:p>
            <a:pPr marL="0" indent="0">
              <a:buNone/>
            </a:pPr>
            <a:r>
              <a:rPr lang="en-IN" sz="1600" dirty="0"/>
              <a:t>   {</a:t>
            </a:r>
          </a:p>
          <a:p>
            <a:pPr marL="0" indent="0">
              <a:buNone/>
            </a:pPr>
            <a:r>
              <a:rPr lang="en-IN" sz="1600" dirty="0"/>
              <a:t>      </a:t>
            </a:r>
            <a:r>
              <a:rPr lang="en-IN" sz="1600" dirty="0" err="1"/>
              <a:t>cout</a:t>
            </a:r>
            <a:r>
              <a:rPr lang="en-IN" sz="1600" dirty="0"/>
              <a:t> &lt;&lt; "Class::Base"&lt;&lt;</a:t>
            </a:r>
            <a:r>
              <a:rPr lang="en-IN" sz="1600" dirty="0" err="1"/>
              <a:t>endl</a:t>
            </a:r>
            <a:r>
              <a:rPr lang="en-IN" sz="1600" dirty="0"/>
              <a:t>;</a:t>
            </a:r>
          </a:p>
          <a:p>
            <a:pPr marL="0" indent="0">
              <a:buNone/>
            </a:pPr>
            <a:r>
              <a:rPr lang="en-IN" sz="1600" dirty="0"/>
              <a:t>   }</a:t>
            </a:r>
          </a:p>
          <a:p>
            <a:pPr marL="0" indent="0">
              <a:buNone/>
            </a:pPr>
            <a:r>
              <a:rPr lang="en-IN" sz="1600" dirty="0"/>
              <a:t>};</a:t>
            </a:r>
          </a:p>
          <a:p>
            <a:pPr marL="0" indent="0">
              <a:buNone/>
            </a:pPr>
            <a:r>
              <a:rPr lang="en-IN" sz="1600" dirty="0"/>
              <a:t>class </a:t>
            </a:r>
            <a:r>
              <a:rPr lang="en-IN" sz="1600" dirty="0" err="1"/>
              <a:t>Derived:public</a:t>
            </a:r>
            <a:r>
              <a:rPr lang="en-IN" sz="1600" dirty="0"/>
              <a:t> Base</a:t>
            </a:r>
          </a:p>
          <a:p>
            <a:pPr marL="0" indent="0">
              <a:buNone/>
            </a:pPr>
            <a:r>
              <a:rPr lang="en-IN" sz="1600" dirty="0"/>
              <a:t>{</a:t>
            </a:r>
          </a:p>
          <a:p>
            <a:pPr marL="0" indent="0">
              <a:buNone/>
            </a:pPr>
            <a:r>
              <a:rPr lang="en-IN" sz="1600" dirty="0"/>
              <a:t>   public:</a:t>
            </a:r>
          </a:p>
          <a:p>
            <a:pPr marL="0" indent="0">
              <a:buNone/>
            </a:pPr>
            <a:r>
              <a:rPr lang="en-IN" sz="1600" dirty="0"/>
              <a:t>   void </a:t>
            </a:r>
            <a:r>
              <a:rPr lang="en-IN" sz="1600" dirty="0" err="1"/>
              <a:t>show_val</a:t>
            </a:r>
            <a:r>
              <a:rPr lang="en-IN" sz="1600" dirty="0"/>
              <a:t>() //function overridden from base</a:t>
            </a:r>
          </a:p>
          <a:p>
            <a:pPr marL="0" indent="0">
              <a:buNone/>
            </a:pPr>
            <a:r>
              <a:rPr lang="en-IN" sz="1600" dirty="0"/>
              <a:t>   {</a:t>
            </a:r>
          </a:p>
          <a:p>
            <a:pPr marL="0" indent="0">
              <a:buNone/>
            </a:pPr>
            <a:r>
              <a:rPr lang="en-IN" sz="1600" dirty="0"/>
              <a:t>      </a:t>
            </a:r>
            <a:r>
              <a:rPr lang="en-IN" sz="1600" dirty="0" err="1"/>
              <a:t>cout</a:t>
            </a:r>
            <a:r>
              <a:rPr lang="en-IN" sz="1600" dirty="0"/>
              <a:t> &lt;&lt; "Class::Derived"&lt;&lt;</a:t>
            </a:r>
            <a:r>
              <a:rPr lang="en-IN" sz="1600" dirty="0" err="1"/>
              <a:t>endl</a:t>
            </a:r>
            <a:r>
              <a:rPr lang="en-IN" sz="1600" dirty="0"/>
              <a:t>;</a:t>
            </a:r>
          </a:p>
          <a:p>
            <a:pPr marL="0" indent="0">
              <a:buNone/>
            </a:pPr>
            <a:r>
              <a:rPr lang="en-IN" sz="1600" dirty="0"/>
              <a:t>   }</a:t>
            </a:r>
          </a:p>
          <a:p>
            <a:pPr marL="0" indent="0">
              <a:buNone/>
            </a:pPr>
            <a:r>
              <a:rPr lang="en-IN" sz="1600" dirty="0"/>
              <a:t>};</a:t>
            </a:r>
          </a:p>
          <a:p>
            <a:pPr marL="0" indent="0">
              <a:buNone/>
            </a:pPr>
            <a:r>
              <a:rPr lang="en-IN" sz="1600" dirty="0"/>
              <a:t>int main()</a:t>
            </a:r>
          </a:p>
          <a:p>
            <a:pPr marL="0" indent="0">
              <a:buNone/>
            </a:pPr>
            <a:r>
              <a:rPr lang="en-IN" sz="1600" dirty="0"/>
              <a:t>{</a:t>
            </a:r>
          </a:p>
          <a:p>
            <a:pPr marL="0" indent="0">
              <a:buNone/>
            </a:pPr>
            <a:r>
              <a:rPr lang="en-IN" sz="1600" dirty="0"/>
              <a:t>   Base b;</a:t>
            </a:r>
          </a:p>
          <a:p>
            <a:pPr marL="0" indent="0">
              <a:buNone/>
            </a:pPr>
            <a:r>
              <a:rPr lang="en-IN" sz="1600" dirty="0"/>
              <a:t>   Derived d;</a:t>
            </a:r>
          </a:p>
          <a:p>
            <a:pPr marL="0" indent="0">
              <a:buNone/>
            </a:pPr>
            <a:r>
              <a:rPr lang="en-IN" sz="1600" dirty="0"/>
              <a:t>   </a:t>
            </a:r>
            <a:r>
              <a:rPr lang="en-IN" sz="1600" dirty="0" err="1"/>
              <a:t>b.show_val</a:t>
            </a:r>
            <a:r>
              <a:rPr lang="en-IN" sz="1600" dirty="0"/>
              <a:t>();</a:t>
            </a:r>
          </a:p>
          <a:p>
            <a:pPr marL="0" indent="0">
              <a:buNone/>
            </a:pPr>
            <a:r>
              <a:rPr lang="en-IN" sz="1600" dirty="0"/>
              <a:t>   </a:t>
            </a:r>
            <a:r>
              <a:rPr lang="en-IN" sz="1600" dirty="0" err="1"/>
              <a:t>d.show_val</a:t>
            </a:r>
            <a:r>
              <a:rPr lang="en-IN" sz="1600" dirty="0"/>
              <a:t>();</a:t>
            </a:r>
          </a:p>
          <a:p>
            <a:pPr marL="0" indent="0">
              <a:buNone/>
            </a:pPr>
            <a:r>
              <a:rPr lang="en-IN" sz="1600" dirty="0"/>
              <a:t>}</a:t>
            </a:r>
          </a:p>
        </p:txBody>
      </p:sp>
      <p:sp>
        <p:nvSpPr>
          <p:cNvPr id="4" name="TextBox 3">
            <a:extLst>
              <a:ext uri="{FF2B5EF4-FFF2-40B4-BE49-F238E27FC236}">
                <a16:creationId xmlns:a16="http://schemas.microsoft.com/office/drawing/2014/main" id="{42E8BD89-F4B3-0566-CB2D-61B6AD36FFCD}"/>
              </a:ext>
            </a:extLst>
          </p:cNvPr>
          <p:cNvSpPr txBox="1"/>
          <p:nvPr/>
        </p:nvSpPr>
        <p:spPr>
          <a:xfrm>
            <a:off x="5943600" y="4953000"/>
            <a:ext cx="1981200" cy="1200329"/>
          </a:xfrm>
          <a:prstGeom prst="rect">
            <a:avLst/>
          </a:prstGeom>
          <a:noFill/>
        </p:spPr>
        <p:txBody>
          <a:bodyPr wrap="square">
            <a:spAutoFit/>
          </a:bodyPr>
          <a:lstStyle/>
          <a:p>
            <a:r>
              <a:rPr lang="en-US" dirty="0"/>
              <a:t>Output:</a:t>
            </a:r>
          </a:p>
          <a:p>
            <a:endParaRPr lang="en-US" dirty="0"/>
          </a:p>
          <a:p>
            <a:r>
              <a:rPr lang="en-US" dirty="0"/>
              <a:t>Class::Base</a:t>
            </a:r>
          </a:p>
          <a:p>
            <a:r>
              <a:rPr lang="en-US" dirty="0"/>
              <a:t>Class::Derived</a:t>
            </a:r>
          </a:p>
        </p:txBody>
      </p:sp>
    </p:spTree>
    <p:extLst>
      <p:ext uri="{BB962C8B-B14F-4D97-AF65-F5344CB8AC3E}">
        <p14:creationId xmlns:p14="http://schemas.microsoft.com/office/powerpoint/2010/main" val="206490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7502-8344-908A-27E2-DA1628146D0E}"/>
              </a:ext>
            </a:extLst>
          </p:cNvPr>
          <p:cNvSpPr>
            <a:spLocks noGrp="1"/>
          </p:cNvSpPr>
          <p:nvPr>
            <p:ph type="title"/>
          </p:nvPr>
        </p:nvSpPr>
        <p:spPr/>
        <p:txBody>
          <a:bodyPr>
            <a:normAutofit fontScale="90000"/>
          </a:bodyPr>
          <a:lstStyle/>
          <a:p>
            <a:r>
              <a:rPr lang="en-IN" dirty="0"/>
              <a:t>Function Overloading vs Function Overriding</a:t>
            </a:r>
          </a:p>
        </p:txBody>
      </p:sp>
      <p:sp>
        <p:nvSpPr>
          <p:cNvPr id="3" name="Content Placeholder 2">
            <a:extLst>
              <a:ext uri="{FF2B5EF4-FFF2-40B4-BE49-F238E27FC236}">
                <a16:creationId xmlns:a16="http://schemas.microsoft.com/office/drawing/2014/main" id="{ACF1579A-F66E-5220-C57E-860B2C48EBF3}"/>
              </a:ext>
            </a:extLst>
          </p:cNvPr>
          <p:cNvSpPr>
            <a:spLocks noGrp="1"/>
          </p:cNvSpPr>
          <p:nvPr>
            <p:ph idx="1"/>
          </p:nvPr>
        </p:nvSpPr>
        <p:spPr/>
        <p:txBody>
          <a:bodyPr>
            <a:normAutofit fontScale="92500" lnSpcReduction="10000"/>
          </a:bodyPr>
          <a:lstStyle/>
          <a:p>
            <a:r>
              <a:rPr lang="en-US" dirty="0"/>
              <a:t>Function Overloading provides multiple definitions of the function by changing signature i.e. changing number of parameters, change datatype of parameters, return type doesn’t play any role.</a:t>
            </a:r>
          </a:p>
          <a:p>
            <a:r>
              <a:rPr lang="en-US" dirty="0"/>
              <a:t>It can be done in base as well as derived class</a:t>
            </a:r>
          </a:p>
          <a:p>
            <a:r>
              <a:rPr lang="en-US" dirty="0"/>
              <a:t>Example:  </a:t>
            </a:r>
          </a:p>
          <a:p>
            <a:pPr marL="0" indent="0">
              <a:buNone/>
            </a:pPr>
            <a:r>
              <a:rPr lang="en-US" dirty="0"/>
              <a:t>	void area(int a);</a:t>
            </a:r>
          </a:p>
          <a:p>
            <a:pPr marL="0" indent="0">
              <a:buNone/>
            </a:pPr>
            <a:r>
              <a:rPr lang="en-US" dirty="0"/>
              <a:t>	void area(int a, int b);</a:t>
            </a:r>
            <a:endParaRPr lang="en-IN" dirty="0"/>
          </a:p>
        </p:txBody>
      </p:sp>
    </p:spTree>
    <p:extLst>
      <p:ext uri="{BB962C8B-B14F-4D97-AF65-F5344CB8AC3E}">
        <p14:creationId xmlns:p14="http://schemas.microsoft.com/office/powerpoint/2010/main" val="2035253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6E80E-A5A3-9344-07AD-0EFA4ACEA98C}"/>
              </a:ext>
            </a:extLst>
          </p:cNvPr>
          <p:cNvSpPr>
            <a:spLocks noGrp="1"/>
          </p:cNvSpPr>
          <p:nvPr>
            <p:ph type="title"/>
          </p:nvPr>
        </p:nvSpPr>
        <p:spPr/>
        <p:txBody>
          <a:bodyPr>
            <a:noAutofit/>
          </a:bodyPr>
          <a:lstStyle/>
          <a:p>
            <a:r>
              <a:rPr lang="en-US" sz="3600" dirty="0"/>
              <a:t>Function Overriding (achieved at run time)</a:t>
            </a:r>
            <a:endParaRPr lang="en-IN" sz="3600" dirty="0"/>
          </a:p>
        </p:txBody>
      </p:sp>
      <p:sp>
        <p:nvSpPr>
          <p:cNvPr id="3" name="Content Placeholder 2">
            <a:extLst>
              <a:ext uri="{FF2B5EF4-FFF2-40B4-BE49-F238E27FC236}">
                <a16:creationId xmlns:a16="http://schemas.microsoft.com/office/drawing/2014/main" id="{F84CBE7D-0A7C-96E5-8028-4E77F9E210E1}"/>
              </a:ext>
            </a:extLst>
          </p:cNvPr>
          <p:cNvSpPr>
            <a:spLocks noGrp="1"/>
          </p:cNvSpPr>
          <p:nvPr>
            <p:ph idx="1"/>
          </p:nvPr>
        </p:nvSpPr>
        <p:spPr/>
        <p:txBody>
          <a:bodyPr>
            <a:normAutofit fontScale="55000" lnSpcReduction="20000"/>
          </a:bodyPr>
          <a:lstStyle/>
          <a:p>
            <a:r>
              <a:rPr lang="en-US" dirty="0"/>
              <a:t>It is the redefinition of base class function in its derived class with same signature i.e. return type and parameters. </a:t>
            </a:r>
          </a:p>
          <a:p>
            <a:r>
              <a:rPr lang="en-US" dirty="0"/>
              <a:t>It can only be done in derived class.</a:t>
            </a:r>
          </a:p>
          <a:p>
            <a:pPr marL="0" indent="0">
              <a:buNone/>
            </a:pPr>
            <a:r>
              <a:rPr lang="en-US" dirty="0"/>
              <a:t>Example:</a:t>
            </a:r>
          </a:p>
          <a:p>
            <a:pPr marL="0" indent="0">
              <a:buNone/>
            </a:pPr>
            <a:r>
              <a:rPr lang="en-US" dirty="0"/>
              <a:t>Class a</a:t>
            </a:r>
          </a:p>
          <a:p>
            <a:pPr marL="0" indent="0">
              <a:buNone/>
            </a:pPr>
            <a:r>
              <a:rPr lang="en-US" dirty="0"/>
              <a:t>{</a:t>
            </a:r>
          </a:p>
          <a:p>
            <a:pPr marL="0" indent="0">
              <a:buNone/>
            </a:pPr>
            <a:r>
              <a:rPr lang="en-US" dirty="0"/>
              <a:t>public: </a:t>
            </a:r>
          </a:p>
          <a:p>
            <a:pPr marL="0" indent="0">
              <a:buNone/>
            </a:pPr>
            <a:r>
              <a:rPr lang="en-US" dirty="0"/>
              <a:t>      virtual void display(){ </a:t>
            </a:r>
            <a:r>
              <a:rPr lang="en-US" dirty="0" err="1"/>
              <a:t>cout</a:t>
            </a:r>
            <a:r>
              <a:rPr lang="en-US" dirty="0"/>
              <a:t> &lt;&lt; "hello"; }</a:t>
            </a:r>
          </a:p>
          <a:p>
            <a:pPr marL="0" indent="0">
              <a:buNone/>
            </a:pPr>
            <a:r>
              <a:rPr lang="en-US" dirty="0"/>
              <a:t>};</a:t>
            </a:r>
          </a:p>
          <a:p>
            <a:pPr marL="0" indent="0">
              <a:buNone/>
            </a:pPr>
            <a:endParaRPr lang="en-US" dirty="0"/>
          </a:p>
          <a:p>
            <a:pPr marL="0" indent="0">
              <a:buNone/>
            </a:pPr>
            <a:r>
              <a:rPr lang="en-US" dirty="0"/>
              <a:t>Class b:public a</a:t>
            </a:r>
          </a:p>
          <a:p>
            <a:pPr marL="0" indent="0">
              <a:buNone/>
            </a:pPr>
            <a:r>
              <a:rPr lang="en-US" dirty="0"/>
              <a:t>{</a:t>
            </a:r>
          </a:p>
          <a:p>
            <a:pPr marL="0" indent="0">
              <a:buNone/>
            </a:pPr>
            <a:r>
              <a:rPr lang="en-US" dirty="0"/>
              <a:t>public: </a:t>
            </a:r>
          </a:p>
          <a:p>
            <a:pPr marL="0" indent="0">
              <a:buNone/>
            </a:pPr>
            <a:r>
              <a:rPr lang="en-US" dirty="0"/>
              <a:t>       void display(){ </a:t>
            </a:r>
            <a:r>
              <a:rPr lang="en-US" dirty="0" err="1"/>
              <a:t>cout</a:t>
            </a:r>
            <a:r>
              <a:rPr lang="en-US" dirty="0"/>
              <a:t> &lt;&lt; "bye";}</a:t>
            </a:r>
          </a:p>
          <a:p>
            <a:pPr marL="0" indent="0">
              <a:buNone/>
            </a:pPr>
            <a:r>
              <a:rPr lang="en-US" dirty="0"/>
              <a:t>};</a:t>
            </a:r>
            <a:endParaRPr lang="en-IN" dirty="0"/>
          </a:p>
        </p:txBody>
      </p:sp>
    </p:spTree>
    <p:extLst>
      <p:ext uri="{BB962C8B-B14F-4D97-AF65-F5344CB8AC3E}">
        <p14:creationId xmlns:p14="http://schemas.microsoft.com/office/powerpoint/2010/main" val="1248481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D9F703-AF61-0F0E-6DB8-8A0290AEBC43}"/>
              </a:ext>
            </a:extLst>
          </p:cNvPr>
          <p:cNvSpPr>
            <a:spLocks noGrp="1"/>
          </p:cNvSpPr>
          <p:nvPr>
            <p:ph idx="1"/>
          </p:nvPr>
        </p:nvSpPr>
        <p:spPr>
          <a:xfrm>
            <a:off x="457200" y="304800"/>
            <a:ext cx="8229600" cy="6400800"/>
          </a:xfrm>
        </p:spPr>
        <p:txBody>
          <a:bodyPr>
            <a:normAutofit fontScale="92500" lnSpcReduction="10000"/>
          </a:bodyPr>
          <a:lstStyle/>
          <a:p>
            <a:pPr marL="0" indent="0">
              <a:buNone/>
            </a:pPr>
            <a:r>
              <a:rPr lang="en-IN" sz="1400" dirty="0"/>
              <a:t>#include&lt;iostream&gt;</a:t>
            </a:r>
          </a:p>
          <a:p>
            <a:pPr marL="0" indent="0">
              <a:buNone/>
            </a:pPr>
            <a:r>
              <a:rPr lang="en-IN" sz="1400" dirty="0"/>
              <a:t>using namespace std;</a:t>
            </a:r>
          </a:p>
          <a:p>
            <a:pPr marL="0" indent="0">
              <a:buNone/>
            </a:pPr>
            <a:r>
              <a:rPr lang="en-IN" sz="1400" dirty="0"/>
              <a:t>class </a:t>
            </a:r>
            <a:r>
              <a:rPr lang="en-IN" sz="1400" dirty="0" err="1"/>
              <a:t>BaseClass</a:t>
            </a:r>
            <a:endParaRPr lang="en-IN" sz="1400" dirty="0"/>
          </a:p>
          <a:p>
            <a:pPr marL="0" indent="0">
              <a:buNone/>
            </a:pPr>
            <a:r>
              <a:rPr lang="en-IN" sz="1400" dirty="0"/>
              <a:t>{</a:t>
            </a:r>
          </a:p>
          <a:p>
            <a:pPr marL="0" indent="0">
              <a:buNone/>
            </a:pPr>
            <a:r>
              <a:rPr lang="en-IN" sz="1400" dirty="0"/>
              <a:t>public:</a:t>
            </a:r>
          </a:p>
          <a:p>
            <a:pPr marL="0" indent="0">
              <a:buNone/>
            </a:pPr>
            <a:r>
              <a:rPr lang="en-IN" sz="1400" dirty="0"/>
              <a:t>virtual void Display()</a:t>
            </a:r>
          </a:p>
          <a:p>
            <a:pPr marL="0" indent="0">
              <a:buNone/>
            </a:pPr>
            <a:r>
              <a:rPr lang="en-IN" sz="1400" dirty="0"/>
              <a:t>{</a:t>
            </a:r>
          </a:p>
          <a:p>
            <a:pPr marL="0" indent="0">
              <a:buNone/>
            </a:pPr>
            <a:r>
              <a:rPr lang="en-IN" sz="1400" dirty="0" err="1"/>
              <a:t>cout</a:t>
            </a:r>
            <a:r>
              <a:rPr lang="en-IN" sz="1400" dirty="0"/>
              <a:t> &lt;&lt; "\</a:t>
            </a:r>
            <a:r>
              <a:rPr lang="en-IN" sz="1400" dirty="0" err="1"/>
              <a:t>nThis</a:t>
            </a:r>
            <a:r>
              <a:rPr lang="en-IN" sz="1400" dirty="0"/>
              <a:t> is Display() method of </a:t>
            </a:r>
            <a:r>
              <a:rPr lang="en-IN" sz="1400" dirty="0" err="1"/>
              <a:t>BaseClass</a:t>
            </a:r>
            <a:r>
              <a:rPr lang="en-IN" sz="1400" dirty="0"/>
              <a:t>";</a:t>
            </a:r>
          </a:p>
          <a:p>
            <a:pPr marL="0" indent="0">
              <a:buNone/>
            </a:pPr>
            <a:r>
              <a:rPr lang="en-IN" sz="1400" dirty="0"/>
              <a:t>}</a:t>
            </a:r>
          </a:p>
          <a:p>
            <a:pPr marL="0" indent="0">
              <a:buNone/>
            </a:pPr>
            <a:r>
              <a:rPr lang="en-IN" sz="1400" dirty="0"/>
              <a:t>void Show()</a:t>
            </a:r>
          </a:p>
          <a:p>
            <a:pPr marL="0" indent="0">
              <a:buNone/>
            </a:pPr>
            <a:r>
              <a:rPr lang="en-IN" sz="1400" dirty="0"/>
              <a:t>{</a:t>
            </a:r>
          </a:p>
          <a:p>
            <a:pPr marL="0" indent="0">
              <a:buNone/>
            </a:pPr>
            <a:r>
              <a:rPr lang="en-IN" sz="1400" dirty="0" err="1"/>
              <a:t>cout</a:t>
            </a:r>
            <a:r>
              <a:rPr lang="en-IN" sz="1400" dirty="0"/>
              <a:t> &lt;&lt; "\</a:t>
            </a:r>
            <a:r>
              <a:rPr lang="en-IN" sz="1400" dirty="0" err="1"/>
              <a:t>nThis</a:t>
            </a:r>
            <a:r>
              <a:rPr lang="en-IN" sz="1400" dirty="0"/>
              <a:t> is Show() method of </a:t>
            </a:r>
            <a:r>
              <a:rPr lang="en-IN" sz="1400" dirty="0" err="1"/>
              <a:t>BaseClass</a:t>
            </a:r>
            <a:r>
              <a:rPr lang="en-IN" sz="1400" dirty="0"/>
              <a:t>";</a:t>
            </a:r>
          </a:p>
          <a:p>
            <a:pPr marL="0" indent="0">
              <a:buNone/>
            </a:pPr>
            <a:r>
              <a:rPr lang="en-IN" sz="1400" dirty="0"/>
              <a:t>}</a:t>
            </a:r>
          </a:p>
          <a:p>
            <a:pPr marL="0" indent="0">
              <a:buNone/>
            </a:pPr>
            <a:r>
              <a:rPr lang="en-IN" sz="1400" dirty="0"/>
              <a:t>};</a:t>
            </a:r>
          </a:p>
          <a:p>
            <a:pPr marL="0" indent="0">
              <a:buNone/>
            </a:pPr>
            <a:r>
              <a:rPr lang="en-IN" sz="1400" dirty="0"/>
              <a:t>class </a:t>
            </a:r>
            <a:r>
              <a:rPr lang="en-IN" sz="1400" dirty="0" err="1"/>
              <a:t>DerivedClass</a:t>
            </a:r>
            <a:r>
              <a:rPr lang="en-IN" sz="1400" dirty="0"/>
              <a:t> : public </a:t>
            </a:r>
            <a:r>
              <a:rPr lang="en-IN" sz="1400" dirty="0" err="1"/>
              <a:t>BaseClass</a:t>
            </a:r>
            <a:endParaRPr lang="en-IN" sz="1400" dirty="0"/>
          </a:p>
          <a:p>
            <a:pPr marL="0" indent="0">
              <a:buNone/>
            </a:pPr>
            <a:r>
              <a:rPr lang="en-IN" sz="1400" dirty="0"/>
              <a:t>{</a:t>
            </a:r>
          </a:p>
          <a:p>
            <a:pPr marL="0" indent="0">
              <a:buNone/>
            </a:pPr>
            <a:r>
              <a:rPr lang="en-IN" sz="1400" dirty="0"/>
              <a:t>public:</a:t>
            </a:r>
          </a:p>
          <a:p>
            <a:pPr marL="0" indent="0">
              <a:buNone/>
            </a:pPr>
            <a:r>
              <a:rPr lang="en-IN" sz="1400" dirty="0"/>
              <a:t>void Display() // Overriding method - new working of base class display method</a:t>
            </a:r>
          </a:p>
          <a:p>
            <a:pPr marL="0" indent="0">
              <a:buNone/>
            </a:pPr>
            <a:r>
              <a:rPr lang="en-IN" sz="1400" dirty="0"/>
              <a:t>{</a:t>
            </a:r>
          </a:p>
          <a:p>
            <a:pPr marL="0" indent="0">
              <a:buNone/>
            </a:pPr>
            <a:r>
              <a:rPr lang="en-IN" sz="1400" dirty="0" err="1"/>
              <a:t>cout</a:t>
            </a:r>
            <a:r>
              <a:rPr lang="en-IN" sz="1400" dirty="0"/>
              <a:t> &lt;&lt; "\</a:t>
            </a:r>
            <a:r>
              <a:rPr lang="en-IN" sz="1400" dirty="0" err="1"/>
              <a:t>nThis</a:t>
            </a:r>
            <a:r>
              <a:rPr lang="en-IN" sz="1400" dirty="0"/>
              <a:t> is Display() method of </a:t>
            </a:r>
            <a:r>
              <a:rPr lang="en-IN" sz="1400" dirty="0" err="1"/>
              <a:t>DerivedClass</a:t>
            </a:r>
            <a:r>
              <a:rPr lang="en-IN" sz="1400" dirty="0"/>
              <a:t>";</a:t>
            </a:r>
          </a:p>
          <a:p>
            <a:pPr marL="0" indent="0">
              <a:buNone/>
            </a:pPr>
            <a:r>
              <a:rPr lang="en-IN" sz="1400" dirty="0"/>
              <a:t>}</a:t>
            </a:r>
          </a:p>
          <a:p>
            <a:pPr marL="0" indent="0">
              <a:buNone/>
            </a:pPr>
            <a:r>
              <a:rPr lang="en-IN" sz="1400" dirty="0"/>
              <a:t>};</a:t>
            </a:r>
          </a:p>
          <a:p>
            <a:pPr marL="0" indent="0">
              <a:buNone/>
            </a:pPr>
            <a:r>
              <a:rPr lang="en-IN" sz="1400" dirty="0"/>
              <a:t>int main()</a:t>
            </a:r>
          </a:p>
          <a:p>
            <a:pPr marL="0" indent="0">
              <a:buNone/>
            </a:pPr>
            <a:r>
              <a:rPr lang="en-IN" sz="1400" dirty="0"/>
              <a:t>{</a:t>
            </a:r>
          </a:p>
          <a:p>
            <a:pPr marL="0" indent="0">
              <a:buNone/>
            </a:pPr>
            <a:r>
              <a:rPr lang="en-IN" sz="1400" dirty="0" err="1"/>
              <a:t>DerivedClass</a:t>
            </a:r>
            <a:r>
              <a:rPr lang="en-IN" sz="1400" dirty="0"/>
              <a:t> </a:t>
            </a:r>
            <a:r>
              <a:rPr lang="en-IN" sz="1400" dirty="0" err="1"/>
              <a:t>dr</a:t>
            </a:r>
            <a:r>
              <a:rPr lang="en-IN" sz="1400" dirty="0"/>
              <a:t>;</a:t>
            </a:r>
          </a:p>
          <a:p>
            <a:pPr marL="0" indent="0">
              <a:buNone/>
            </a:pPr>
            <a:r>
              <a:rPr lang="en-IN" sz="1400" dirty="0" err="1"/>
              <a:t>BaseClass</a:t>
            </a:r>
            <a:r>
              <a:rPr lang="en-IN" sz="1400" dirty="0"/>
              <a:t> &amp;bs = </a:t>
            </a:r>
            <a:r>
              <a:rPr lang="en-IN" sz="1400" dirty="0" err="1"/>
              <a:t>dr</a:t>
            </a:r>
            <a:r>
              <a:rPr lang="en-IN" sz="1400" dirty="0"/>
              <a:t>;</a:t>
            </a:r>
          </a:p>
          <a:p>
            <a:pPr marL="0" indent="0">
              <a:buNone/>
            </a:pPr>
            <a:r>
              <a:rPr lang="en-IN" sz="1400" dirty="0" err="1"/>
              <a:t>bs.Display</a:t>
            </a:r>
            <a:r>
              <a:rPr lang="en-IN" sz="1400" dirty="0"/>
              <a:t>();</a:t>
            </a:r>
          </a:p>
          <a:p>
            <a:pPr marL="0" indent="0">
              <a:buNone/>
            </a:pPr>
            <a:r>
              <a:rPr lang="en-IN" sz="1400" dirty="0" err="1"/>
              <a:t>dr.Show</a:t>
            </a:r>
            <a:r>
              <a:rPr lang="en-IN" sz="1400" dirty="0"/>
              <a:t>();</a:t>
            </a:r>
          </a:p>
          <a:p>
            <a:pPr marL="0" indent="0">
              <a:buNone/>
            </a:pPr>
            <a:r>
              <a:rPr lang="en-IN" sz="1400" dirty="0"/>
              <a:t>}</a:t>
            </a:r>
          </a:p>
          <a:p>
            <a:pPr marL="0" indent="0">
              <a:buNone/>
            </a:pPr>
            <a:endParaRPr lang="en-IN" sz="1400" dirty="0"/>
          </a:p>
        </p:txBody>
      </p:sp>
      <p:sp>
        <p:nvSpPr>
          <p:cNvPr id="5" name="TextBox 4">
            <a:extLst>
              <a:ext uri="{FF2B5EF4-FFF2-40B4-BE49-F238E27FC236}">
                <a16:creationId xmlns:a16="http://schemas.microsoft.com/office/drawing/2014/main" id="{A3F94435-1D08-4193-3F71-067E76A806E1}"/>
              </a:ext>
            </a:extLst>
          </p:cNvPr>
          <p:cNvSpPr txBox="1"/>
          <p:nvPr/>
        </p:nvSpPr>
        <p:spPr>
          <a:xfrm>
            <a:off x="3733800" y="5181600"/>
            <a:ext cx="4572000" cy="923330"/>
          </a:xfrm>
          <a:prstGeom prst="rect">
            <a:avLst/>
          </a:prstGeom>
          <a:noFill/>
        </p:spPr>
        <p:txBody>
          <a:bodyPr wrap="square">
            <a:spAutoFit/>
          </a:bodyPr>
          <a:lstStyle/>
          <a:p>
            <a:r>
              <a:rPr lang="en-US" dirty="0"/>
              <a:t>Output:</a:t>
            </a:r>
          </a:p>
          <a:p>
            <a:r>
              <a:rPr lang="en-US" dirty="0"/>
              <a:t>This is Display() method of </a:t>
            </a:r>
            <a:r>
              <a:rPr lang="en-US" dirty="0" err="1"/>
              <a:t>DerivedClass</a:t>
            </a:r>
            <a:endParaRPr lang="en-US" dirty="0"/>
          </a:p>
          <a:p>
            <a:r>
              <a:rPr lang="en-US" dirty="0"/>
              <a:t>This is Show() method of </a:t>
            </a:r>
            <a:r>
              <a:rPr lang="en-US" dirty="0" err="1"/>
              <a:t>BaseClass</a:t>
            </a:r>
            <a:endParaRPr lang="en-IN" dirty="0"/>
          </a:p>
        </p:txBody>
      </p:sp>
    </p:spTree>
    <p:extLst>
      <p:ext uri="{BB962C8B-B14F-4D97-AF65-F5344CB8AC3E}">
        <p14:creationId xmlns:p14="http://schemas.microsoft.com/office/powerpoint/2010/main" val="2665267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6112C1F-BC7F-67C2-E293-61EC94C56D10}"/>
              </a:ext>
            </a:extLst>
          </p:cNvPr>
          <p:cNvGraphicFramePr>
            <a:graphicFrameLocks noGrp="1"/>
          </p:cNvGraphicFramePr>
          <p:nvPr>
            <p:ph idx="1"/>
            <p:extLst>
              <p:ext uri="{D42A27DB-BD31-4B8C-83A1-F6EECF244321}">
                <p14:modId xmlns:p14="http://schemas.microsoft.com/office/powerpoint/2010/main" val="1235847521"/>
              </p:ext>
            </p:extLst>
          </p:nvPr>
        </p:nvGraphicFramePr>
        <p:xfrm>
          <a:off x="228600" y="228600"/>
          <a:ext cx="8763000" cy="6433362"/>
        </p:xfrm>
        <a:graphic>
          <a:graphicData uri="http://schemas.openxmlformats.org/drawingml/2006/table">
            <a:tbl>
              <a:tblPr/>
              <a:tblGrid>
                <a:gridCol w="4381500">
                  <a:extLst>
                    <a:ext uri="{9D8B030D-6E8A-4147-A177-3AD203B41FA5}">
                      <a16:colId xmlns:a16="http://schemas.microsoft.com/office/drawing/2014/main" val="4070659007"/>
                    </a:ext>
                  </a:extLst>
                </a:gridCol>
                <a:gridCol w="4381500">
                  <a:extLst>
                    <a:ext uri="{9D8B030D-6E8A-4147-A177-3AD203B41FA5}">
                      <a16:colId xmlns:a16="http://schemas.microsoft.com/office/drawing/2014/main" val="1077581785"/>
                    </a:ext>
                  </a:extLst>
                </a:gridCol>
              </a:tblGrid>
              <a:tr h="628105">
                <a:tc>
                  <a:txBody>
                    <a:bodyPr/>
                    <a:lstStyle/>
                    <a:p>
                      <a:pPr algn="l" fontAlgn="base"/>
                      <a:r>
                        <a:rPr lang="en-IN" sz="1800" b="1" dirty="0">
                          <a:effectLst/>
                        </a:rPr>
                        <a:t>Function Overloading</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l" fontAlgn="base"/>
                      <a:r>
                        <a:rPr lang="en-IN" sz="1800" b="1" dirty="0">
                          <a:effectLst/>
                        </a:rPr>
                        <a:t>Function Overriding</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7842231"/>
                  </a:ext>
                </a:extLst>
              </a:tr>
              <a:tr h="1200917">
                <a:tc>
                  <a:txBody>
                    <a:bodyPr/>
                    <a:lstStyle/>
                    <a:p>
                      <a:pPr algn="l" fontAlgn="ctr"/>
                      <a:r>
                        <a:rPr lang="en-US" sz="1800" b="0" dirty="0">
                          <a:effectLst/>
                        </a:rPr>
                        <a:t>Function Overloading provides multiple definitions of the function by changing signature.</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0" dirty="0">
                          <a:effectLst/>
                        </a:rPr>
                        <a:t>Function Overriding is the redefinition of base class function in its derived class with same signature.</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256730417"/>
                  </a:ext>
                </a:extLst>
              </a:tr>
              <a:tr h="628105">
                <a:tc>
                  <a:txBody>
                    <a:bodyPr/>
                    <a:lstStyle/>
                    <a:p>
                      <a:pPr algn="l" fontAlgn="ctr"/>
                      <a:r>
                        <a:rPr lang="en-US" sz="1800" b="0" dirty="0">
                          <a:effectLst/>
                        </a:rPr>
                        <a:t>An example of compile time polymorphism.</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0" dirty="0">
                          <a:effectLst/>
                        </a:rPr>
                        <a:t>An example of run time polymorphism.</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15241563"/>
                  </a:ext>
                </a:extLst>
              </a:tr>
              <a:tr h="628105">
                <a:tc>
                  <a:txBody>
                    <a:bodyPr/>
                    <a:lstStyle/>
                    <a:p>
                      <a:pPr algn="l" fontAlgn="ctr"/>
                      <a:r>
                        <a:rPr lang="en-US" sz="1800" b="0">
                          <a:effectLst/>
                        </a:rPr>
                        <a:t>Function signatures should be different.</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0">
                          <a:effectLst/>
                        </a:rPr>
                        <a:t>Function signatures should be the same.</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201433495"/>
                  </a:ext>
                </a:extLst>
              </a:tr>
              <a:tr h="628105">
                <a:tc>
                  <a:txBody>
                    <a:bodyPr/>
                    <a:lstStyle/>
                    <a:p>
                      <a:pPr algn="l" fontAlgn="ctr"/>
                      <a:r>
                        <a:rPr lang="en-US" sz="1800" b="0" dirty="0">
                          <a:effectLst/>
                        </a:rPr>
                        <a:t>Overloaded functions are in same scope.</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0">
                          <a:effectLst/>
                        </a:rPr>
                        <a:t>Overridden functions are in different scopes.</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83827741"/>
                  </a:ext>
                </a:extLst>
              </a:tr>
              <a:tr h="1200917">
                <a:tc>
                  <a:txBody>
                    <a:bodyPr/>
                    <a:lstStyle/>
                    <a:p>
                      <a:pPr algn="l" fontAlgn="ctr"/>
                      <a:r>
                        <a:rPr lang="en-US" sz="1800" b="0">
                          <a:effectLst/>
                        </a:rPr>
                        <a:t>Overloading is used when the same function has to behave differently depending upon parameters passed to them.</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0" dirty="0">
                          <a:effectLst/>
                        </a:rPr>
                        <a:t>Overriding is needed when derived class function has to do some different job than the base class function.</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7854920"/>
                  </a:ext>
                </a:extLst>
              </a:tr>
              <a:tr h="628105">
                <a:tc>
                  <a:txBody>
                    <a:bodyPr/>
                    <a:lstStyle/>
                    <a:p>
                      <a:pPr algn="l" fontAlgn="ctr"/>
                      <a:r>
                        <a:rPr lang="en-US" sz="1800" b="0">
                          <a:effectLst/>
                        </a:rPr>
                        <a:t>A function has the ability to load multiple times.</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0">
                          <a:effectLst/>
                        </a:rPr>
                        <a:t>A function can be overridden only a single time.</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52890606"/>
                  </a:ext>
                </a:extLst>
              </a:tr>
              <a:tr h="891003">
                <a:tc>
                  <a:txBody>
                    <a:bodyPr/>
                    <a:lstStyle/>
                    <a:p>
                      <a:pPr algn="l" fontAlgn="ctr"/>
                      <a:r>
                        <a:rPr lang="en-US" sz="1800" b="0">
                          <a:effectLst/>
                        </a:rPr>
                        <a:t>In function overloading, we don’t need inheritance.</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0" dirty="0">
                          <a:effectLst/>
                        </a:rPr>
                        <a:t>In function overriding, we need an inheritance concept.</a:t>
                      </a:r>
                    </a:p>
                  </a:txBody>
                  <a:tcPr marL="0" marR="0" marT="0" marB="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692907080"/>
                  </a:ext>
                </a:extLst>
              </a:tr>
            </a:tbl>
          </a:graphicData>
        </a:graphic>
      </p:graphicFrame>
    </p:spTree>
    <p:extLst>
      <p:ext uri="{BB962C8B-B14F-4D97-AF65-F5344CB8AC3E}">
        <p14:creationId xmlns:p14="http://schemas.microsoft.com/office/powerpoint/2010/main" val="1849591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OPERATOR OVERLOADING</a:t>
            </a:r>
          </a:p>
        </p:txBody>
      </p:sp>
    </p:spTree>
    <p:extLst>
      <p:ext uri="{BB962C8B-B14F-4D97-AF65-F5344CB8AC3E}">
        <p14:creationId xmlns:p14="http://schemas.microsoft.com/office/powerpoint/2010/main" val="402501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31275-9E9D-6108-DF4A-C02301B051B4}"/>
              </a:ext>
            </a:extLst>
          </p:cNvPr>
          <p:cNvSpPr>
            <a:spLocks noGrp="1"/>
          </p:cNvSpPr>
          <p:nvPr>
            <p:ph type="title"/>
          </p:nvPr>
        </p:nvSpPr>
        <p:spPr/>
        <p:txBody>
          <a:bodyPr/>
          <a:lstStyle/>
          <a:p>
            <a:r>
              <a:rPr lang="en-IN" dirty="0"/>
              <a:t>Operator Overloading in C++</a:t>
            </a:r>
          </a:p>
        </p:txBody>
      </p:sp>
      <p:sp>
        <p:nvSpPr>
          <p:cNvPr id="3" name="Content Placeholder 2">
            <a:extLst>
              <a:ext uri="{FF2B5EF4-FFF2-40B4-BE49-F238E27FC236}">
                <a16:creationId xmlns:a16="http://schemas.microsoft.com/office/drawing/2014/main" id="{9038F4E7-5E66-96E2-373F-E2D00F00189A}"/>
              </a:ext>
            </a:extLst>
          </p:cNvPr>
          <p:cNvSpPr>
            <a:spLocks noGrp="1"/>
          </p:cNvSpPr>
          <p:nvPr>
            <p:ph idx="1"/>
          </p:nvPr>
        </p:nvSpPr>
        <p:spPr/>
        <p:txBody>
          <a:bodyPr>
            <a:normAutofit fontScale="92500" lnSpcReduction="10000"/>
          </a:bodyPr>
          <a:lstStyle/>
          <a:p>
            <a:r>
              <a:rPr lang="en-US" dirty="0"/>
              <a:t>Operator overloading is a compile-time polymorphism. </a:t>
            </a:r>
          </a:p>
          <a:p>
            <a:r>
              <a:rPr lang="en-US" dirty="0"/>
              <a:t>It is an idea of giving special meaning to an existing operator in C++ without changing its original meaning.</a:t>
            </a:r>
          </a:p>
          <a:p>
            <a:r>
              <a:rPr lang="en-US" dirty="0"/>
              <a:t>In C++, we can make operators work for user-defined classes.</a:t>
            </a:r>
          </a:p>
          <a:p>
            <a:r>
              <a:rPr lang="en-US" dirty="0"/>
              <a:t>This means C++ has the ability to provide the operators with a special meaning for a data type, this ability is known as operator overloading.</a:t>
            </a:r>
            <a:endParaRPr lang="en-IN" dirty="0"/>
          </a:p>
        </p:txBody>
      </p:sp>
    </p:spTree>
    <p:extLst>
      <p:ext uri="{BB962C8B-B14F-4D97-AF65-F5344CB8AC3E}">
        <p14:creationId xmlns:p14="http://schemas.microsoft.com/office/powerpoint/2010/main" val="4209410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61412-88B1-6008-D7FF-F139E7AB6A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4CBB3F1-3E98-596D-7396-1F038B1895A9}"/>
              </a:ext>
            </a:extLst>
          </p:cNvPr>
          <p:cNvSpPr>
            <a:spLocks noGrp="1"/>
          </p:cNvSpPr>
          <p:nvPr>
            <p:ph idx="1"/>
          </p:nvPr>
        </p:nvSpPr>
        <p:spPr/>
        <p:txBody>
          <a:bodyPr>
            <a:normAutofit fontScale="77500" lnSpcReduction="20000"/>
          </a:bodyPr>
          <a:lstStyle/>
          <a:p>
            <a:r>
              <a:rPr lang="en-US" dirty="0"/>
              <a:t>For example, we can overload an operator ‘+’ in a class like String so that we can concatenate two strings by just using +. </a:t>
            </a:r>
          </a:p>
          <a:p>
            <a:r>
              <a:rPr lang="en-US" dirty="0"/>
              <a:t> Another example is classes, where arithmetic operators may be overloaded, which are Complex Numbers, Fractional Numbers, Big integers, etc.</a:t>
            </a:r>
          </a:p>
          <a:p>
            <a:endParaRPr lang="en-US" dirty="0"/>
          </a:p>
          <a:p>
            <a:pPr marL="0" indent="0">
              <a:buNone/>
            </a:pPr>
            <a:r>
              <a:rPr lang="en-US" dirty="0"/>
              <a:t>Example:</a:t>
            </a:r>
          </a:p>
          <a:p>
            <a:endParaRPr lang="en-US" dirty="0"/>
          </a:p>
          <a:p>
            <a:pPr marL="0" indent="0">
              <a:buNone/>
            </a:pPr>
            <a:r>
              <a:rPr lang="en-US" dirty="0"/>
              <a:t>int a;</a:t>
            </a:r>
          </a:p>
          <a:p>
            <a:pPr marL="0" indent="0">
              <a:buNone/>
            </a:pPr>
            <a:r>
              <a:rPr lang="en-US" dirty="0"/>
              <a:t>float b, sum;</a:t>
            </a:r>
          </a:p>
          <a:p>
            <a:pPr marL="0" indent="0">
              <a:buNone/>
            </a:pPr>
            <a:r>
              <a:rPr lang="en-US" dirty="0"/>
              <a:t>sum = a + b;</a:t>
            </a:r>
            <a:endParaRPr lang="en-IN" dirty="0"/>
          </a:p>
        </p:txBody>
      </p:sp>
    </p:spTree>
    <p:extLst>
      <p:ext uri="{BB962C8B-B14F-4D97-AF65-F5344CB8AC3E}">
        <p14:creationId xmlns:p14="http://schemas.microsoft.com/office/powerpoint/2010/main" val="733664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FB25E-147C-F5B7-641E-C0A1A0FAF18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4D77BD-0DF5-C0BB-AEE0-7AD0A050FF9D}"/>
              </a:ext>
            </a:extLst>
          </p:cNvPr>
          <p:cNvSpPr>
            <a:spLocks noGrp="1"/>
          </p:cNvSpPr>
          <p:nvPr>
            <p:ph idx="1"/>
          </p:nvPr>
        </p:nvSpPr>
        <p:spPr>
          <a:xfrm>
            <a:off x="457200" y="1600200"/>
            <a:ext cx="2895600" cy="4525963"/>
          </a:xfrm>
        </p:spPr>
        <p:txBody>
          <a:bodyPr>
            <a:normAutofit fontScale="70000" lnSpcReduction="20000"/>
          </a:bodyPr>
          <a:lstStyle/>
          <a:p>
            <a:pPr marL="0" indent="0">
              <a:buNone/>
            </a:pPr>
            <a:r>
              <a:rPr lang="en-US" dirty="0"/>
              <a:t>class A {</a:t>
            </a:r>
          </a:p>
          <a:p>
            <a:pPr marL="0" indent="0">
              <a:buNone/>
            </a:pPr>
            <a:r>
              <a:rPr lang="en-US" dirty="0"/>
              <a:t>    statements;</a:t>
            </a:r>
          </a:p>
          <a:p>
            <a:pPr marL="0" indent="0">
              <a:buNone/>
            </a:pPr>
            <a:r>
              <a:rPr lang="en-US" dirty="0"/>
              <a:t>};</a:t>
            </a:r>
          </a:p>
          <a:p>
            <a:pPr marL="0" indent="0">
              <a:buNone/>
            </a:pPr>
            <a:r>
              <a:rPr lang="en-US" dirty="0"/>
              <a:t>  </a:t>
            </a:r>
          </a:p>
          <a:p>
            <a:pPr marL="0" indent="0">
              <a:buNone/>
            </a:pPr>
            <a:r>
              <a:rPr lang="en-US" dirty="0"/>
              <a:t>int main()</a:t>
            </a:r>
          </a:p>
          <a:p>
            <a:pPr marL="0" indent="0">
              <a:buNone/>
            </a:pPr>
            <a:r>
              <a:rPr lang="en-US" dirty="0"/>
              <a:t>{</a:t>
            </a:r>
          </a:p>
          <a:p>
            <a:pPr marL="0" indent="0">
              <a:buNone/>
            </a:pPr>
            <a:r>
              <a:rPr lang="en-US" dirty="0"/>
              <a:t>    A a1, a2, a3;</a:t>
            </a:r>
          </a:p>
          <a:p>
            <a:pPr marL="0" indent="0">
              <a:buNone/>
            </a:pPr>
            <a:r>
              <a:rPr lang="en-US" dirty="0"/>
              <a:t>  </a:t>
            </a:r>
          </a:p>
          <a:p>
            <a:pPr marL="0" indent="0">
              <a:buNone/>
            </a:pPr>
            <a:r>
              <a:rPr lang="en-US" dirty="0"/>
              <a:t>    a3 = a1 + a2;</a:t>
            </a:r>
          </a:p>
          <a:p>
            <a:pPr marL="0" indent="0">
              <a:buNone/>
            </a:pPr>
            <a:r>
              <a:rPr lang="en-US" dirty="0"/>
              <a:t>  </a:t>
            </a:r>
          </a:p>
          <a:p>
            <a:pPr marL="0" indent="0">
              <a:buNone/>
            </a:pPr>
            <a:r>
              <a:rPr lang="en-US" dirty="0"/>
              <a:t>    return 0;</a:t>
            </a:r>
          </a:p>
          <a:p>
            <a:pPr marL="0" indent="0">
              <a:buNone/>
            </a:pPr>
            <a:r>
              <a:rPr lang="en-US" dirty="0"/>
              <a:t>}</a:t>
            </a:r>
          </a:p>
          <a:p>
            <a:pPr marL="0" indent="0">
              <a:buNone/>
            </a:pPr>
            <a:endParaRPr lang="en-IN" dirty="0"/>
          </a:p>
        </p:txBody>
      </p:sp>
      <p:sp>
        <p:nvSpPr>
          <p:cNvPr id="5" name="TextBox 4">
            <a:extLst>
              <a:ext uri="{FF2B5EF4-FFF2-40B4-BE49-F238E27FC236}">
                <a16:creationId xmlns:a16="http://schemas.microsoft.com/office/drawing/2014/main" id="{A3D7B844-41A6-F821-A85C-DCA76D746394}"/>
              </a:ext>
            </a:extLst>
          </p:cNvPr>
          <p:cNvSpPr txBox="1"/>
          <p:nvPr/>
        </p:nvSpPr>
        <p:spPr>
          <a:xfrm>
            <a:off x="3810000" y="1442621"/>
            <a:ext cx="4572000" cy="5262979"/>
          </a:xfrm>
          <a:prstGeom prst="rect">
            <a:avLst/>
          </a:prstGeom>
          <a:noFill/>
        </p:spPr>
        <p:txBody>
          <a:bodyPr wrap="square">
            <a:spAutoFit/>
          </a:bodyPr>
          <a:lstStyle/>
          <a:p>
            <a:r>
              <a:rPr lang="en-US" sz="2400" dirty="0"/>
              <a:t>In this example, we have 3 variables “a1”, “a2” and “a3” of type “class A”. Here we are trying to add two objects “a1” and “a2”, which are of user-defined type i.e. of type “class A” using the “+” operator. This is not allowed, because the addition operator “+” is predefined to operate only on built-in data types. But here, “class A” is a user-defined type, so the compiler generates an error. This is where the concept of “Operator overloading” comes in.</a:t>
            </a:r>
            <a:endParaRPr lang="en-IN" sz="2400" dirty="0"/>
          </a:p>
        </p:txBody>
      </p:sp>
    </p:spTree>
    <p:extLst>
      <p:ext uri="{BB962C8B-B14F-4D97-AF65-F5344CB8AC3E}">
        <p14:creationId xmlns:p14="http://schemas.microsoft.com/office/powerpoint/2010/main" val="4143208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7FE87-099B-D1E7-6C56-54C5AB342E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5E30FFF-D48D-1625-F4C1-7CCD2F01C0F0}"/>
              </a:ext>
            </a:extLst>
          </p:cNvPr>
          <p:cNvSpPr>
            <a:spLocks noGrp="1"/>
          </p:cNvSpPr>
          <p:nvPr>
            <p:ph idx="1"/>
          </p:nvPr>
        </p:nvSpPr>
        <p:spPr/>
        <p:txBody>
          <a:bodyPr>
            <a:normAutofit fontScale="92500" lnSpcReduction="10000"/>
          </a:bodyPr>
          <a:lstStyle/>
          <a:p>
            <a:r>
              <a:rPr lang="en-US" sz="3000" dirty="0"/>
              <a:t>Now, if the user wants to make the operator “+” add two class objects, the user has to redefine the meaning of the “+” operator such that it adds two class objects. </a:t>
            </a:r>
          </a:p>
          <a:p>
            <a:r>
              <a:rPr lang="en-US" sz="3000" dirty="0"/>
              <a:t>This is done by using the concept of “Operator overloading”.</a:t>
            </a:r>
          </a:p>
          <a:p>
            <a:r>
              <a:rPr lang="en-US" sz="3000" dirty="0"/>
              <a:t>Redefining the meaning of operators really does not change their original meaning; instead, they have been given additional meaning along with their existing ones.</a:t>
            </a:r>
            <a:endParaRPr lang="en-IN" sz="3000" dirty="0"/>
          </a:p>
        </p:txBody>
      </p:sp>
    </p:spTree>
    <p:extLst>
      <p:ext uri="{BB962C8B-B14F-4D97-AF65-F5344CB8AC3E}">
        <p14:creationId xmlns:p14="http://schemas.microsoft.com/office/powerpoint/2010/main" val="2866519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C2D74-9CE8-CB3B-6ED0-FC85FE3F287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3707CC-39BB-8B9B-A5FD-99DC5425056B}"/>
              </a:ext>
            </a:extLst>
          </p:cNvPr>
          <p:cNvSpPr>
            <a:spLocks noGrp="1"/>
          </p:cNvSpPr>
          <p:nvPr>
            <p:ph idx="1"/>
          </p:nvPr>
        </p:nvSpPr>
        <p:spPr/>
        <p:txBody>
          <a:bodyPr>
            <a:normAutofit fontScale="70000" lnSpcReduction="20000"/>
          </a:bodyPr>
          <a:lstStyle/>
          <a:p>
            <a:pPr marL="0" indent="0">
              <a:buNone/>
            </a:pPr>
            <a:r>
              <a:rPr lang="en-US" dirty="0"/>
              <a:t>Operators that can be overloaded</a:t>
            </a:r>
          </a:p>
          <a:p>
            <a:pPr marL="0" indent="0">
              <a:buNone/>
            </a:pPr>
            <a:r>
              <a:rPr lang="en-US" dirty="0"/>
              <a:t>We can overload:</a:t>
            </a:r>
          </a:p>
          <a:p>
            <a:pPr marL="0" indent="0">
              <a:buNone/>
            </a:pPr>
            <a:endParaRPr lang="en-US" dirty="0"/>
          </a:p>
          <a:p>
            <a:r>
              <a:rPr lang="en-US" dirty="0"/>
              <a:t>Unary operators</a:t>
            </a:r>
          </a:p>
          <a:p>
            <a:r>
              <a:rPr lang="en-US" dirty="0"/>
              <a:t>Binary operators</a:t>
            </a:r>
          </a:p>
          <a:p>
            <a:r>
              <a:rPr lang="en-US" dirty="0"/>
              <a:t>Special operators ( [ ], (), </a:t>
            </a:r>
            <a:r>
              <a:rPr lang="en-US" dirty="0" err="1"/>
              <a:t>etc</a:t>
            </a:r>
            <a:r>
              <a:rPr lang="en-US" dirty="0"/>
              <a:t>)</a:t>
            </a:r>
          </a:p>
          <a:p>
            <a:pPr marL="0" indent="0">
              <a:buNone/>
            </a:pPr>
            <a:endParaRPr lang="en-US" dirty="0"/>
          </a:p>
          <a:p>
            <a:pPr marL="0" indent="0">
              <a:buNone/>
            </a:pPr>
            <a:r>
              <a:rPr lang="en-US" dirty="0"/>
              <a:t>But, among them, there are some operators that cannot be overloaded. They are</a:t>
            </a:r>
          </a:p>
          <a:p>
            <a:pPr marL="0" indent="0">
              <a:buNone/>
            </a:pPr>
            <a:endParaRPr lang="en-US" dirty="0"/>
          </a:p>
          <a:p>
            <a:r>
              <a:rPr lang="en-US" dirty="0"/>
              <a:t>Scope resolution operator     ::</a:t>
            </a:r>
          </a:p>
          <a:p>
            <a:r>
              <a:rPr lang="en-US" dirty="0"/>
              <a:t>Member selection operator    ?:                         </a:t>
            </a:r>
          </a:p>
          <a:p>
            <a:r>
              <a:rPr lang="en-US" dirty="0"/>
              <a:t>Member selection through     .</a:t>
            </a:r>
            <a:endParaRPr lang="en-IN" dirty="0"/>
          </a:p>
        </p:txBody>
      </p:sp>
    </p:spTree>
    <p:extLst>
      <p:ext uri="{BB962C8B-B14F-4D97-AF65-F5344CB8AC3E}">
        <p14:creationId xmlns:p14="http://schemas.microsoft.com/office/powerpoint/2010/main" val="2558916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4540" y="0"/>
            <a:ext cx="6732270" cy="514350"/>
          </a:xfrm>
          <a:prstGeom prst="rect">
            <a:avLst/>
          </a:prstGeom>
        </p:spPr>
        <p:txBody>
          <a:bodyPr vert="horz" wrap="square" lIns="0" tIns="13335" rIns="0" bIns="0" rtlCol="0">
            <a:spAutoFit/>
          </a:bodyPr>
          <a:lstStyle/>
          <a:p>
            <a:pPr marL="12700">
              <a:lnSpc>
                <a:spcPct val="100000"/>
              </a:lnSpc>
              <a:spcBef>
                <a:spcPts val="105"/>
              </a:spcBef>
            </a:pPr>
            <a:r>
              <a:rPr sz="3200" dirty="0"/>
              <a:t>Restrictions on Operator</a:t>
            </a:r>
            <a:r>
              <a:rPr sz="3200" spc="-135" dirty="0"/>
              <a:t> </a:t>
            </a:r>
            <a:r>
              <a:rPr sz="3200" dirty="0"/>
              <a:t>Overloading</a:t>
            </a:r>
            <a:endParaRPr sz="3200"/>
          </a:p>
        </p:txBody>
      </p:sp>
      <p:sp>
        <p:nvSpPr>
          <p:cNvPr id="3" name="object 3"/>
          <p:cNvSpPr txBox="1"/>
          <p:nvPr/>
        </p:nvSpPr>
        <p:spPr>
          <a:xfrm>
            <a:off x="685800" y="633730"/>
            <a:ext cx="5878195" cy="413575"/>
          </a:xfrm>
          <a:prstGeom prst="rect">
            <a:avLst/>
          </a:prstGeom>
        </p:spPr>
        <p:txBody>
          <a:bodyPr vert="horz" wrap="square" lIns="0" tIns="13335" rIns="0" bIns="0" rtlCol="0">
            <a:spAutoFit/>
          </a:bodyPr>
          <a:lstStyle/>
          <a:p>
            <a:pPr marL="12700">
              <a:lnSpc>
                <a:spcPct val="100000"/>
              </a:lnSpc>
              <a:spcBef>
                <a:spcPts val="105"/>
              </a:spcBef>
            </a:pPr>
            <a:r>
              <a:rPr sz="2600" spc="5" dirty="0">
                <a:latin typeface="Arial"/>
                <a:cs typeface="Arial"/>
              </a:rPr>
              <a:t>C++ </a:t>
            </a:r>
            <a:r>
              <a:rPr sz="2600" dirty="0">
                <a:latin typeface="Arial"/>
                <a:cs typeface="Arial"/>
              </a:rPr>
              <a:t>operators that can be</a:t>
            </a:r>
            <a:r>
              <a:rPr sz="2600" spc="-10" dirty="0">
                <a:latin typeface="Arial"/>
                <a:cs typeface="Arial"/>
              </a:rPr>
              <a:t> </a:t>
            </a:r>
            <a:r>
              <a:rPr sz="2600" spc="-35" dirty="0">
                <a:latin typeface="Arial"/>
                <a:cs typeface="Arial"/>
              </a:rPr>
              <a:t>overloaded</a:t>
            </a:r>
            <a:endParaRPr sz="2600" dirty="0">
              <a:latin typeface="Arial"/>
              <a:cs typeface="Arial"/>
            </a:endParaRPr>
          </a:p>
        </p:txBody>
      </p:sp>
      <p:sp>
        <p:nvSpPr>
          <p:cNvPr id="4" name="object 4"/>
          <p:cNvSpPr txBox="1"/>
          <p:nvPr/>
        </p:nvSpPr>
        <p:spPr>
          <a:xfrm>
            <a:off x="612140" y="3941445"/>
            <a:ext cx="6403975" cy="422275"/>
          </a:xfrm>
          <a:prstGeom prst="rect">
            <a:avLst/>
          </a:prstGeom>
        </p:spPr>
        <p:txBody>
          <a:bodyPr vert="horz" wrap="square" lIns="0" tIns="12700" rIns="0" bIns="0" rtlCol="0">
            <a:spAutoFit/>
          </a:bodyPr>
          <a:lstStyle/>
          <a:p>
            <a:pPr marL="12700">
              <a:lnSpc>
                <a:spcPct val="100000"/>
              </a:lnSpc>
              <a:spcBef>
                <a:spcPts val="100"/>
              </a:spcBef>
            </a:pPr>
            <a:r>
              <a:rPr sz="2600" dirty="0">
                <a:latin typeface="Arial"/>
                <a:cs typeface="Arial"/>
              </a:rPr>
              <a:t>C++ Operators that cannot be</a:t>
            </a:r>
            <a:r>
              <a:rPr sz="2600" spc="-45" dirty="0">
                <a:latin typeface="Arial"/>
                <a:cs typeface="Arial"/>
              </a:rPr>
              <a:t> </a:t>
            </a:r>
            <a:r>
              <a:rPr sz="2600" spc="-35" dirty="0">
                <a:latin typeface="Arial"/>
                <a:cs typeface="Arial"/>
              </a:rPr>
              <a:t>overloaded</a:t>
            </a:r>
            <a:endParaRPr sz="2600" dirty="0">
              <a:latin typeface="Arial"/>
              <a:cs typeface="Arial"/>
            </a:endParaRPr>
          </a:p>
        </p:txBody>
      </p:sp>
      <p:graphicFrame>
        <p:nvGraphicFramePr>
          <p:cNvPr id="5" name="object 5"/>
          <p:cNvGraphicFramePr>
            <a:graphicFrameLocks noGrp="1"/>
          </p:cNvGraphicFramePr>
          <p:nvPr/>
        </p:nvGraphicFramePr>
        <p:xfrm>
          <a:off x="894802" y="4800542"/>
          <a:ext cx="7337424" cy="661118"/>
        </p:xfrm>
        <a:graphic>
          <a:graphicData uri="http://schemas.openxmlformats.org/drawingml/2006/table">
            <a:tbl>
              <a:tblPr firstRow="1" bandRow="1">
                <a:tableStyleId>{2D5ABB26-0587-4C30-8999-92F81FD0307C}</a:tableStyleId>
              </a:tblPr>
              <a:tblGrid>
                <a:gridCol w="1467485">
                  <a:extLst>
                    <a:ext uri="{9D8B030D-6E8A-4147-A177-3AD203B41FA5}">
                      <a16:colId xmlns:a16="http://schemas.microsoft.com/office/drawing/2014/main" val="20000"/>
                    </a:ext>
                  </a:extLst>
                </a:gridCol>
                <a:gridCol w="1467485">
                  <a:extLst>
                    <a:ext uri="{9D8B030D-6E8A-4147-A177-3AD203B41FA5}">
                      <a16:colId xmlns:a16="http://schemas.microsoft.com/office/drawing/2014/main" val="20001"/>
                    </a:ext>
                  </a:extLst>
                </a:gridCol>
                <a:gridCol w="1467484">
                  <a:extLst>
                    <a:ext uri="{9D8B030D-6E8A-4147-A177-3AD203B41FA5}">
                      <a16:colId xmlns:a16="http://schemas.microsoft.com/office/drawing/2014/main" val="20002"/>
                    </a:ext>
                  </a:extLst>
                </a:gridCol>
                <a:gridCol w="1467485">
                  <a:extLst>
                    <a:ext uri="{9D8B030D-6E8A-4147-A177-3AD203B41FA5}">
                      <a16:colId xmlns:a16="http://schemas.microsoft.com/office/drawing/2014/main" val="20003"/>
                    </a:ext>
                  </a:extLst>
                </a:gridCol>
                <a:gridCol w="1467485">
                  <a:extLst>
                    <a:ext uri="{9D8B030D-6E8A-4147-A177-3AD203B41FA5}">
                      <a16:colId xmlns:a16="http://schemas.microsoft.com/office/drawing/2014/main" val="20004"/>
                    </a:ext>
                  </a:extLst>
                </a:gridCol>
              </a:tblGrid>
              <a:tr h="353399">
                <a:tc gridSpan="5">
                  <a:txBody>
                    <a:bodyPr/>
                    <a:lstStyle/>
                    <a:p>
                      <a:pPr marL="46990">
                        <a:lnSpc>
                          <a:spcPct val="100000"/>
                        </a:lnSpc>
                        <a:spcBef>
                          <a:spcPts val="275"/>
                        </a:spcBef>
                      </a:pPr>
                      <a:r>
                        <a:rPr sz="1450" b="1" spc="25" dirty="0">
                          <a:latin typeface="Courier New"/>
                          <a:cs typeface="Courier New"/>
                        </a:rPr>
                        <a:t>Operators that cannot </a:t>
                      </a:r>
                      <a:r>
                        <a:rPr sz="1450" b="1" spc="30" dirty="0">
                          <a:latin typeface="Courier New"/>
                          <a:cs typeface="Courier New"/>
                        </a:rPr>
                        <a:t>be</a:t>
                      </a:r>
                      <a:r>
                        <a:rPr sz="1450" b="1" spc="-40" dirty="0">
                          <a:latin typeface="Courier New"/>
                          <a:cs typeface="Courier New"/>
                        </a:rPr>
                        <a:t> </a:t>
                      </a:r>
                      <a:r>
                        <a:rPr sz="1450" b="1" spc="25" dirty="0">
                          <a:latin typeface="Courier New"/>
                          <a:cs typeface="Courier New"/>
                        </a:rPr>
                        <a:t>overloaded</a:t>
                      </a:r>
                      <a:endParaRPr sz="14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99CC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07719">
                <a:tc>
                  <a:txBody>
                    <a:bodyPr/>
                    <a:lstStyle/>
                    <a:p>
                      <a:pPr marL="46990">
                        <a:lnSpc>
                          <a:spcPct val="100000"/>
                        </a:lnSpc>
                        <a:spcBef>
                          <a:spcPts val="310"/>
                        </a:spcBef>
                      </a:pPr>
                      <a:r>
                        <a:rPr sz="1450" b="1" dirty="0">
                          <a:latin typeface="Courier New"/>
                          <a:cs typeface="Courier New"/>
                        </a:rPr>
                        <a:t>.</a:t>
                      </a:r>
                      <a:endParaRPr sz="1450">
                        <a:latin typeface="Courier New"/>
                        <a:cs typeface="Courier New"/>
                      </a:endParaRPr>
                    </a:p>
                  </a:txBody>
                  <a:tcPr marL="0" marR="0" marT="3937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5085">
                        <a:lnSpc>
                          <a:spcPct val="100000"/>
                        </a:lnSpc>
                        <a:spcBef>
                          <a:spcPts val="310"/>
                        </a:spcBef>
                      </a:pPr>
                      <a:r>
                        <a:rPr sz="1450" b="1" spc="25" dirty="0">
                          <a:latin typeface="Courier New"/>
                          <a:cs typeface="Courier New"/>
                        </a:rPr>
                        <a:t>.*</a:t>
                      </a:r>
                      <a:endParaRPr sz="1450">
                        <a:latin typeface="Courier New"/>
                        <a:cs typeface="Courier New"/>
                      </a:endParaRPr>
                    </a:p>
                  </a:txBody>
                  <a:tcPr marL="0" marR="0" marT="3937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5085">
                        <a:lnSpc>
                          <a:spcPct val="100000"/>
                        </a:lnSpc>
                        <a:spcBef>
                          <a:spcPts val="310"/>
                        </a:spcBef>
                      </a:pPr>
                      <a:r>
                        <a:rPr sz="1450" b="1" spc="25" dirty="0">
                          <a:latin typeface="Courier New"/>
                          <a:cs typeface="Courier New"/>
                        </a:rPr>
                        <a:t>::</a:t>
                      </a:r>
                      <a:endParaRPr sz="1450">
                        <a:latin typeface="Courier New"/>
                        <a:cs typeface="Courier New"/>
                      </a:endParaRPr>
                    </a:p>
                  </a:txBody>
                  <a:tcPr marL="0" marR="0" marT="3937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5085">
                        <a:lnSpc>
                          <a:spcPct val="100000"/>
                        </a:lnSpc>
                        <a:spcBef>
                          <a:spcPts val="310"/>
                        </a:spcBef>
                      </a:pPr>
                      <a:r>
                        <a:rPr sz="1450" b="1" spc="25" dirty="0">
                          <a:latin typeface="Courier New"/>
                          <a:cs typeface="Courier New"/>
                        </a:rPr>
                        <a:t>?:</a:t>
                      </a:r>
                      <a:endParaRPr sz="1450">
                        <a:latin typeface="Courier New"/>
                        <a:cs typeface="Courier New"/>
                      </a:endParaRPr>
                    </a:p>
                  </a:txBody>
                  <a:tcPr marL="0" marR="0" marT="3937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5085">
                        <a:lnSpc>
                          <a:spcPct val="100000"/>
                        </a:lnSpc>
                        <a:spcBef>
                          <a:spcPts val="310"/>
                        </a:spcBef>
                      </a:pPr>
                      <a:r>
                        <a:rPr sz="1450" b="1" spc="25" dirty="0">
                          <a:latin typeface="Courier New"/>
                          <a:cs typeface="Courier New"/>
                        </a:rPr>
                        <a:t>sizeof</a:t>
                      </a:r>
                      <a:endParaRPr sz="1450">
                        <a:latin typeface="Courier New"/>
                        <a:cs typeface="Courier New"/>
                      </a:endParaRPr>
                    </a:p>
                  </a:txBody>
                  <a:tcPr marL="0" marR="0" marT="3937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bl>
          </a:graphicData>
        </a:graphic>
      </p:graphicFrame>
      <p:graphicFrame>
        <p:nvGraphicFramePr>
          <p:cNvPr id="6" name="object 6"/>
          <p:cNvGraphicFramePr>
            <a:graphicFrameLocks noGrp="1"/>
          </p:cNvGraphicFramePr>
          <p:nvPr/>
        </p:nvGraphicFramePr>
        <p:xfrm>
          <a:off x="720932" y="1219213"/>
          <a:ext cx="7139938" cy="2028609"/>
        </p:xfrm>
        <a:graphic>
          <a:graphicData uri="http://schemas.openxmlformats.org/drawingml/2006/table">
            <a:tbl>
              <a:tblPr firstRow="1" bandRow="1">
                <a:tableStyleId>{2D5ABB26-0587-4C30-8999-92F81FD0307C}</a:tableStyleId>
              </a:tblPr>
              <a:tblGrid>
                <a:gridCol w="995680">
                  <a:extLst>
                    <a:ext uri="{9D8B030D-6E8A-4147-A177-3AD203B41FA5}">
                      <a16:colId xmlns:a16="http://schemas.microsoft.com/office/drawing/2014/main" val="20000"/>
                    </a:ext>
                  </a:extLst>
                </a:gridCol>
                <a:gridCol w="995044">
                  <a:extLst>
                    <a:ext uri="{9D8B030D-6E8A-4147-A177-3AD203B41FA5}">
                      <a16:colId xmlns:a16="http://schemas.microsoft.com/office/drawing/2014/main" val="20001"/>
                    </a:ext>
                  </a:extLst>
                </a:gridCol>
                <a:gridCol w="829310">
                  <a:extLst>
                    <a:ext uri="{9D8B030D-6E8A-4147-A177-3AD203B41FA5}">
                      <a16:colId xmlns:a16="http://schemas.microsoft.com/office/drawing/2014/main" val="20002"/>
                    </a:ext>
                  </a:extLst>
                </a:gridCol>
                <a:gridCol w="829310">
                  <a:extLst>
                    <a:ext uri="{9D8B030D-6E8A-4147-A177-3AD203B41FA5}">
                      <a16:colId xmlns:a16="http://schemas.microsoft.com/office/drawing/2014/main" val="20003"/>
                    </a:ext>
                  </a:extLst>
                </a:gridCol>
                <a:gridCol w="837564">
                  <a:extLst>
                    <a:ext uri="{9D8B030D-6E8A-4147-A177-3AD203B41FA5}">
                      <a16:colId xmlns:a16="http://schemas.microsoft.com/office/drawing/2014/main" val="20004"/>
                    </a:ext>
                  </a:extLst>
                </a:gridCol>
                <a:gridCol w="829310">
                  <a:extLst>
                    <a:ext uri="{9D8B030D-6E8A-4147-A177-3AD203B41FA5}">
                      <a16:colId xmlns:a16="http://schemas.microsoft.com/office/drawing/2014/main" val="20005"/>
                    </a:ext>
                  </a:extLst>
                </a:gridCol>
                <a:gridCol w="828675">
                  <a:extLst>
                    <a:ext uri="{9D8B030D-6E8A-4147-A177-3AD203B41FA5}">
                      <a16:colId xmlns:a16="http://schemas.microsoft.com/office/drawing/2014/main" val="20006"/>
                    </a:ext>
                  </a:extLst>
                </a:gridCol>
                <a:gridCol w="995045">
                  <a:extLst>
                    <a:ext uri="{9D8B030D-6E8A-4147-A177-3AD203B41FA5}">
                      <a16:colId xmlns:a16="http://schemas.microsoft.com/office/drawing/2014/main" val="20007"/>
                    </a:ext>
                  </a:extLst>
                </a:gridCol>
              </a:tblGrid>
              <a:tr h="329041">
                <a:tc gridSpan="8">
                  <a:txBody>
                    <a:bodyPr/>
                    <a:lstStyle/>
                    <a:p>
                      <a:pPr marL="46355">
                        <a:lnSpc>
                          <a:spcPct val="100000"/>
                        </a:lnSpc>
                        <a:spcBef>
                          <a:spcPts val="260"/>
                        </a:spcBef>
                      </a:pPr>
                      <a:r>
                        <a:rPr sz="1350" b="1" spc="55" dirty="0">
                          <a:latin typeface="Courier New"/>
                          <a:cs typeface="Courier New"/>
                        </a:rPr>
                        <a:t>Operators </a:t>
                      </a:r>
                      <a:r>
                        <a:rPr sz="1350" b="1" spc="60" dirty="0">
                          <a:latin typeface="Courier New"/>
                          <a:cs typeface="Courier New"/>
                        </a:rPr>
                        <a:t>that can be</a:t>
                      </a:r>
                      <a:r>
                        <a:rPr sz="1350" b="1" spc="40" dirty="0">
                          <a:latin typeface="Courier New"/>
                          <a:cs typeface="Courier New"/>
                        </a:rPr>
                        <a:t> </a:t>
                      </a:r>
                      <a:r>
                        <a:rPr sz="1350" b="1" spc="55" dirty="0">
                          <a:latin typeface="Courier New"/>
                          <a:cs typeface="Courier New"/>
                        </a:rPr>
                        <a:t>overloaded</a:t>
                      </a:r>
                      <a:endParaRPr sz="1350">
                        <a:latin typeface="Courier New"/>
                        <a:cs typeface="Courier New"/>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99CC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84657">
                <a:tc>
                  <a:txBody>
                    <a:bodyPr/>
                    <a:lstStyle/>
                    <a:p>
                      <a:pPr marL="46355">
                        <a:lnSpc>
                          <a:spcPct val="100000"/>
                        </a:lnSpc>
                        <a:spcBef>
                          <a:spcPts val="290"/>
                        </a:spcBef>
                      </a:pPr>
                      <a:r>
                        <a:rPr sz="1350" b="1" dirty="0">
                          <a:latin typeface="Courier New"/>
                          <a:cs typeface="Courier New"/>
                        </a:rPr>
                        <a:t>+</a:t>
                      </a:r>
                      <a:endParaRPr sz="1350">
                        <a:latin typeface="Courier New"/>
                        <a:cs typeface="Courier New"/>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90"/>
                        </a:spcBef>
                      </a:pPr>
                      <a:r>
                        <a:rPr sz="1350" b="1" dirty="0">
                          <a:latin typeface="Courier New"/>
                          <a:cs typeface="Courier New"/>
                        </a:rPr>
                        <a:t>-</a:t>
                      </a:r>
                      <a:endParaRPr sz="1350">
                        <a:latin typeface="Courier New"/>
                        <a:cs typeface="Courier New"/>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90"/>
                        </a:spcBef>
                      </a:pPr>
                      <a:r>
                        <a:rPr sz="1350" b="1" dirty="0">
                          <a:latin typeface="Courier New"/>
                          <a:cs typeface="Courier New"/>
                        </a:rPr>
                        <a:t>*</a:t>
                      </a:r>
                      <a:endParaRPr sz="1350">
                        <a:latin typeface="Courier New"/>
                        <a:cs typeface="Courier New"/>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90"/>
                        </a:spcBef>
                      </a:pPr>
                      <a:r>
                        <a:rPr sz="1350" b="1" dirty="0">
                          <a:latin typeface="Courier New"/>
                          <a:cs typeface="Courier New"/>
                        </a:rPr>
                        <a:t>/</a:t>
                      </a:r>
                      <a:endParaRPr sz="1350">
                        <a:latin typeface="Courier New"/>
                        <a:cs typeface="Courier New"/>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90"/>
                        </a:spcBef>
                      </a:pPr>
                      <a:r>
                        <a:rPr sz="1350" b="1" dirty="0">
                          <a:latin typeface="Courier New"/>
                          <a:cs typeface="Courier New"/>
                        </a:rPr>
                        <a:t>%</a:t>
                      </a:r>
                      <a:endParaRPr sz="1350">
                        <a:latin typeface="Courier New"/>
                        <a:cs typeface="Courier New"/>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4450">
                        <a:lnSpc>
                          <a:spcPct val="100000"/>
                        </a:lnSpc>
                        <a:spcBef>
                          <a:spcPts val="290"/>
                        </a:spcBef>
                      </a:pPr>
                      <a:r>
                        <a:rPr sz="1350" b="1" dirty="0">
                          <a:latin typeface="Courier New"/>
                          <a:cs typeface="Courier New"/>
                        </a:rPr>
                        <a:t>^</a:t>
                      </a:r>
                      <a:endParaRPr sz="1350">
                        <a:latin typeface="Courier New"/>
                        <a:cs typeface="Courier New"/>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90"/>
                        </a:spcBef>
                      </a:pPr>
                      <a:r>
                        <a:rPr sz="1350" b="1" dirty="0">
                          <a:latin typeface="Courier New"/>
                          <a:cs typeface="Courier New"/>
                        </a:rPr>
                        <a:t>&amp;</a:t>
                      </a:r>
                      <a:endParaRPr sz="1350">
                        <a:latin typeface="Courier New"/>
                        <a:cs typeface="Courier New"/>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90"/>
                        </a:spcBef>
                      </a:pPr>
                      <a:r>
                        <a:rPr sz="1350" b="1" dirty="0">
                          <a:latin typeface="Courier New"/>
                          <a:cs typeface="Courier New"/>
                        </a:rPr>
                        <a:t>|</a:t>
                      </a:r>
                      <a:endParaRPr sz="1350">
                        <a:latin typeface="Courier New"/>
                        <a:cs typeface="Courier New"/>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82510">
                <a:tc>
                  <a:txBody>
                    <a:bodyPr/>
                    <a:lstStyle/>
                    <a:p>
                      <a:pPr marL="46355">
                        <a:lnSpc>
                          <a:spcPct val="100000"/>
                        </a:lnSpc>
                        <a:spcBef>
                          <a:spcPts val="275"/>
                        </a:spcBef>
                      </a:pPr>
                      <a:r>
                        <a:rPr sz="1350" b="1"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dirty="0">
                          <a:latin typeface="Courier New"/>
                          <a:cs typeface="Courier New"/>
                        </a:rPr>
                        <a:t>&lt;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dirty="0">
                          <a:latin typeface="Courier New"/>
                          <a:cs typeface="Courier New"/>
                        </a:rPr>
                        <a:t>&gt;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4450">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spc="60"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282510">
                <a:tc>
                  <a:txBody>
                    <a:bodyPr/>
                    <a:lstStyle/>
                    <a:p>
                      <a:pPr marL="46355">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&amp;=</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4450">
                        <a:lnSpc>
                          <a:spcPct val="100000"/>
                        </a:lnSpc>
                        <a:spcBef>
                          <a:spcPts val="275"/>
                        </a:spcBef>
                      </a:pPr>
                      <a:r>
                        <a:rPr sz="1350" b="1" spc="55" dirty="0">
                          <a:latin typeface="Courier New"/>
                          <a:cs typeface="Courier New"/>
                        </a:rPr>
                        <a:t>&lt;&lt;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&gt;&gt;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&gt;&gt;=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282725">
                <a:tc>
                  <a:txBody>
                    <a:bodyPr/>
                    <a:lstStyle/>
                    <a:p>
                      <a:pPr marL="46355">
                        <a:lnSpc>
                          <a:spcPct val="100000"/>
                        </a:lnSpc>
                        <a:spcBef>
                          <a:spcPts val="275"/>
                        </a:spcBef>
                      </a:pPr>
                      <a:r>
                        <a:rPr sz="1350" b="1" spc="55" dirty="0">
                          <a:latin typeface="Courier New"/>
                          <a:cs typeface="Courier New"/>
                        </a:rPr>
                        <a:t>&lt;&lt;=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&lt;=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&gt;=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44450">
                        <a:lnSpc>
                          <a:spcPct val="100000"/>
                        </a:lnSpc>
                        <a:spcBef>
                          <a:spcPts val="275"/>
                        </a:spcBef>
                      </a:pPr>
                      <a:r>
                        <a:rPr sz="1350" b="1" spc="55" dirty="0">
                          <a:latin typeface="Courier New"/>
                          <a:cs typeface="Courier New"/>
                        </a:rPr>
                        <a:t>&amp;&amp;</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82510">
                <a:tc>
                  <a:txBody>
                    <a:bodyPr/>
                    <a:lstStyle/>
                    <a:p>
                      <a:pPr marL="46355">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-&gt;*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spc="60" dirty="0">
                          <a:latin typeface="Courier New"/>
                          <a:cs typeface="Courier New"/>
                        </a:rPr>
                        <a:t>-&gt;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44450">
                        <a:lnSpc>
                          <a:spcPct val="100000"/>
                        </a:lnSpc>
                        <a:spcBef>
                          <a:spcPts val="275"/>
                        </a:spcBef>
                      </a:pPr>
                      <a:r>
                        <a:rPr sz="1350" b="1" spc="55" dirty="0">
                          <a:latin typeface="Courier New"/>
                          <a:cs typeface="Courier New"/>
                        </a:rPr>
                        <a:t>()</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new</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delete</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84656">
                <a:tc>
                  <a:txBody>
                    <a:bodyPr/>
                    <a:lstStyle/>
                    <a:p>
                      <a:pPr marL="46355">
                        <a:lnSpc>
                          <a:spcPct val="100000"/>
                        </a:lnSpc>
                        <a:spcBef>
                          <a:spcPts val="275"/>
                        </a:spcBef>
                      </a:pPr>
                      <a:r>
                        <a:rPr sz="1350" b="1" spc="55" dirty="0">
                          <a:latin typeface="Courier New"/>
                          <a:cs typeface="Courier New"/>
                        </a:rPr>
                        <a:t>new[]</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2700">
                      <a:solidFill>
                        <a:srgbClr val="000000"/>
                      </a:solidFill>
                      <a:prstDash val="solid"/>
                    </a:lnT>
                    <a:lnB w="19050">
                      <a:solidFill>
                        <a:srgbClr val="000000"/>
                      </a:solidFill>
                      <a:prstDash val="solid"/>
                    </a:lnB>
                  </a:tcPr>
                </a:tc>
                <a:tc>
                  <a:txBody>
                    <a:bodyPr/>
                    <a:lstStyle/>
                    <a:p>
                      <a:pPr marL="43815">
                        <a:lnSpc>
                          <a:spcPct val="100000"/>
                        </a:lnSpc>
                        <a:spcBef>
                          <a:spcPts val="275"/>
                        </a:spcBef>
                      </a:pPr>
                      <a:r>
                        <a:rPr sz="1350" b="1" spc="55" dirty="0">
                          <a:latin typeface="Courier New"/>
                          <a:cs typeface="Courier New"/>
                        </a:rPr>
                        <a:t>delete[]</a:t>
                      </a:r>
                      <a:endParaRPr sz="1350">
                        <a:latin typeface="Courier New"/>
                        <a:cs typeface="Courier New"/>
                      </a:endParaRPr>
                    </a:p>
                  </a:txBody>
                  <a:tcPr marL="0" marR="0" marT="34925" marB="0">
                    <a:lnL w="19050">
                      <a:solidFill>
                        <a:srgbClr val="000000"/>
                      </a:solidFill>
                      <a:prstDash val="solid"/>
                    </a:lnL>
                    <a:lnR w="19050">
                      <a:solidFill>
                        <a:srgbClr val="000000"/>
                      </a:solidFill>
                      <a:prstDash val="solid"/>
                    </a:lnR>
                    <a:lnT w="12700">
                      <a:solidFill>
                        <a:srgbClr val="000000"/>
                      </a:solidFill>
                      <a:prstDash val="solid"/>
                    </a:lnT>
                    <a:lnB w="1905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000000"/>
                      </a:solidFill>
                      <a:prstDash val="solid"/>
                    </a:lnL>
                    <a:lnR w="19050">
                      <a:solidFill>
                        <a:srgbClr val="000000"/>
                      </a:solidFill>
                      <a:prstDash val="solid"/>
                    </a:lnR>
                    <a:lnT w="12700">
                      <a:solidFill>
                        <a:srgbClr val="000000"/>
                      </a:solidFill>
                      <a:prstDash val="solid"/>
                    </a:lnT>
                    <a:lnB w="1905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000000"/>
                      </a:solidFill>
                      <a:prstDash val="solid"/>
                    </a:lnL>
                    <a:lnR w="19050">
                      <a:solidFill>
                        <a:srgbClr val="000000"/>
                      </a:solidFill>
                      <a:prstDash val="solid"/>
                    </a:lnR>
                    <a:lnT w="12700">
                      <a:solidFill>
                        <a:srgbClr val="000000"/>
                      </a:solidFill>
                      <a:prstDash val="solid"/>
                    </a:lnT>
                    <a:lnB w="1905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000000"/>
                      </a:solidFill>
                      <a:prstDash val="solid"/>
                    </a:lnL>
                    <a:lnR w="19050">
                      <a:solidFill>
                        <a:srgbClr val="000000"/>
                      </a:solidFill>
                      <a:prstDash val="solid"/>
                    </a:lnR>
                    <a:lnT w="12700">
                      <a:solidFill>
                        <a:srgbClr val="000000"/>
                      </a:solidFill>
                      <a:prstDash val="solid"/>
                    </a:lnT>
                    <a:lnB w="1905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000000"/>
                      </a:solidFill>
                      <a:prstDash val="solid"/>
                    </a:lnL>
                    <a:lnR w="19050">
                      <a:solidFill>
                        <a:srgbClr val="000000"/>
                      </a:solidFill>
                      <a:prstDash val="solid"/>
                    </a:lnR>
                    <a:lnT w="12700">
                      <a:solidFill>
                        <a:srgbClr val="000000"/>
                      </a:solidFill>
                      <a:prstDash val="solid"/>
                    </a:lnT>
                    <a:lnB w="1905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000000"/>
                      </a:solidFill>
                      <a:prstDash val="solid"/>
                    </a:lnL>
                    <a:lnR w="19050">
                      <a:solidFill>
                        <a:srgbClr val="000000"/>
                      </a:solidFill>
                      <a:prstDash val="solid"/>
                    </a:lnR>
                    <a:lnT w="12700">
                      <a:solidFill>
                        <a:srgbClr val="000000"/>
                      </a:solidFill>
                      <a:prstDash val="solid"/>
                    </a:lnT>
                    <a:lnB w="1905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000000"/>
                      </a:solidFill>
                      <a:prstDash val="solid"/>
                    </a:lnL>
                    <a:lnR w="1905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39167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3444" y="690498"/>
            <a:ext cx="3580129" cy="635000"/>
          </a:xfrm>
          <a:prstGeom prst="rect">
            <a:avLst/>
          </a:prstGeom>
        </p:spPr>
        <p:txBody>
          <a:bodyPr vert="horz" wrap="square" lIns="0" tIns="12065" rIns="0" bIns="0" rtlCol="0">
            <a:spAutoFit/>
          </a:bodyPr>
          <a:lstStyle/>
          <a:p>
            <a:pPr marL="12700">
              <a:lnSpc>
                <a:spcPct val="100000"/>
              </a:lnSpc>
              <a:spcBef>
                <a:spcPts val="95"/>
              </a:spcBef>
            </a:pPr>
            <a:r>
              <a:rPr spc="-5" dirty="0"/>
              <a:t>General</a:t>
            </a:r>
            <a:r>
              <a:rPr spc="-60" dirty="0"/>
              <a:t> </a:t>
            </a:r>
            <a:r>
              <a:rPr spc="-5" dirty="0"/>
              <a:t>Format</a:t>
            </a:r>
          </a:p>
        </p:txBody>
      </p:sp>
      <p:sp>
        <p:nvSpPr>
          <p:cNvPr id="10" name="object 10"/>
          <p:cNvSpPr txBox="1"/>
          <p:nvPr/>
        </p:nvSpPr>
        <p:spPr>
          <a:xfrm>
            <a:off x="287121" y="6331533"/>
            <a:ext cx="175895" cy="224790"/>
          </a:xfrm>
          <a:prstGeom prst="rect">
            <a:avLst/>
          </a:prstGeom>
        </p:spPr>
        <p:txBody>
          <a:bodyPr vert="horz" wrap="square" lIns="0" tIns="0" rIns="0" bIns="0" rtlCol="0">
            <a:spAutoFit/>
          </a:bodyPr>
          <a:lstStyle/>
          <a:p>
            <a:pPr marL="38100">
              <a:lnSpc>
                <a:spcPts val="1650"/>
              </a:lnSpc>
            </a:pPr>
            <a:fld id="{81D60167-4931-47E6-BA6A-407CBD079E47}" type="slidenum">
              <a:rPr sz="1400" dirty="0">
                <a:solidFill>
                  <a:srgbClr val="FFFFFF"/>
                </a:solidFill>
                <a:latin typeface="Arial"/>
                <a:cs typeface="Arial"/>
              </a:rPr>
              <a:pPr marL="38100">
                <a:lnSpc>
                  <a:spcPts val="1650"/>
                </a:lnSpc>
              </a:pPr>
              <a:t>21</a:t>
            </a:fld>
            <a:endParaRPr sz="1400">
              <a:latin typeface="Arial"/>
              <a:cs typeface="Arial"/>
            </a:endParaRPr>
          </a:p>
        </p:txBody>
      </p:sp>
      <p:sp>
        <p:nvSpPr>
          <p:cNvPr id="4" name="object 4"/>
          <p:cNvSpPr txBox="1"/>
          <p:nvPr/>
        </p:nvSpPr>
        <p:spPr>
          <a:xfrm>
            <a:off x="993444" y="1444497"/>
            <a:ext cx="6047740" cy="355225"/>
          </a:xfrm>
          <a:prstGeom prst="rect">
            <a:avLst/>
          </a:prstGeom>
        </p:spPr>
        <p:txBody>
          <a:bodyPr vert="horz" wrap="square" lIns="0" tIns="12700" rIns="0" bIns="0" rtlCol="0">
            <a:spAutoFit/>
          </a:bodyPr>
          <a:lstStyle/>
          <a:p>
            <a:pPr marL="286385" marR="188595" indent="-274320">
              <a:lnSpc>
                <a:spcPct val="89400"/>
              </a:lnSpc>
              <a:spcBef>
                <a:spcPts val="355"/>
              </a:spcBef>
            </a:pPr>
            <a:r>
              <a:rPr sz="2500" dirty="0">
                <a:ln w="0"/>
                <a:effectLst>
                  <a:outerShdw blurRad="38100" dist="19050" dir="2700000" algn="tl" rotWithShape="0">
                    <a:schemeClr val="dk1">
                      <a:alpha val="40000"/>
                    </a:schemeClr>
                  </a:outerShdw>
                </a:effectLst>
              </a:rPr>
              <a:t>returnType operator*(parameters);</a:t>
            </a:r>
          </a:p>
        </p:txBody>
      </p:sp>
      <p:sp>
        <p:nvSpPr>
          <p:cNvPr id="5" name="object 5"/>
          <p:cNvSpPr txBox="1"/>
          <p:nvPr/>
        </p:nvSpPr>
        <p:spPr>
          <a:xfrm>
            <a:off x="1267713" y="1867812"/>
            <a:ext cx="986790" cy="744855"/>
          </a:xfrm>
          <a:prstGeom prst="rect">
            <a:avLst/>
          </a:prstGeom>
        </p:spPr>
        <p:txBody>
          <a:bodyPr vert="horz" wrap="square" lIns="0" tIns="38735" rIns="0" bIns="0" rtlCol="0">
            <a:spAutoFit/>
          </a:bodyPr>
          <a:lstStyle/>
          <a:p>
            <a:pPr marL="133985" algn="ctr">
              <a:lnSpc>
                <a:spcPct val="100000"/>
              </a:lnSpc>
              <a:spcBef>
                <a:spcPts val="305"/>
              </a:spcBef>
            </a:pPr>
            <a:r>
              <a:rPr sz="2400" b="1" dirty="0">
                <a:latin typeface="Symbol"/>
                <a:cs typeface="Symbol"/>
              </a:rPr>
              <a:t></a:t>
            </a:r>
            <a:endParaRPr sz="2400" dirty="0">
              <a:latin typeface="Symbol"/>
              <a:cs typeface="Symbol"/>
            </a:endParaRPr>
          </a:p>
          <a:p>
            <a:pPr marL="12700">
              <a:lnSpc>
                <a:spcPct val="100000"/>
              </a:lnSpc>
              <a:spcBef>
                <a:spcPts val="175"/>
              </a:spcBef>
            </a:pPr>
            <a:r>
              <a:rPr sz="2000" i="1" dirty="0">
                <a:latin typeface="Arial"/>
                <a:cs typeface="Arial"/>
              </a:rPr>
              <a:t>any</a:t>
            </a:r>
            <a:r>
              <a:rPr sz="2000" i="1" spc="-85" dirty="0">
                <a:latin typeface="Arial"/>
                <a:cs typeface="Arial"/>
              </a:rPr>
              <a:t> </a:t>
            </a:r>
            <a:r>
              <a:rPr sz="2000" i="1" dirty="0">
                <a:latin typeface="Arial"/>
                <a:cs typeface="Arial"/>
              </a:rPr>
              <a:t>type</a:t>
            </a:r>
            <a:endParaRPr sz="2000" dirty="0">
              <a:latin typeface="Arial"/>
              <a:cs typeface="Arial"/>
            </a:endParaRPr>
          </a:p>
        </p:txBody>
      </p:sp>
      <p:sp>
        <p:nvSpPr>
          <p:cNvPr id="6" name="object 6"/>
          <p:cNvSpPr txBox="1"/>
          <p:nvPr/>
        </p:nvSpPr>
        <p:spPr>
          <a:xfrm>
            <a:off x="2362200" y="1867812"/>
            <a:ext cx="975994" cy="744855"/>
          </a:xfrm>
          <a:prstGeom prst="rect">
            <a:avLst/>
          </a:prstGeom>
        </p:spPr>
        <p:txBody>
          <a:bodyPr vert="horz" wrap="square" lIns="0" tIns="38735" rIns="0" bIns="0" rtlCol="0">
            <a:spAutoFit/>
          </a:bodyPr>
          <a:lstStyle/>
          <a:p>
            <a:pPr marL="66675" algn="ctr">
              <a:lnSpc>
                <a:spcPct val="100000"/>
              </a:lnSpc>
              <a:spcBef>
                <a:spcPts val="305"/>
              </a:spcBef>
            </a:pPr>
            <a:r>
              <a:rPr sz="2400" b="1" dirty="0">
                <a:latin typeface="Symbol"/>
                <a:cs typeface="Symbol"/>
              </a:rPr>
              <a:t></a:t>
            </a:r>
            <a:endParaRPr sz="2400" dirty="0">
              <a:latin typeface="Symbol"/>
              <a:cs typeface="Symbol"/>
            </a:endParaRPr>
          </a:p>
          <a:p>
            <a:pPr algn="ctr">
              <a:lnSpc>
                <a:spcPct val="100000"/>
              </a:lnSpc>
              <a:spcBef>
                <a:spcPts val="175"/>
              </a:spcBef>
            </a:pPr>
            <a:r>
              <a:rPr sz="2000" i="1" dirty="0">
                <a:latin typeface="Arial"/>
                <a:cs typeface="Arial"/>
              </a:rPr>
              <a:t>k</a:t>
            </a:r>
            <a:r>
              <a:rPr sz="2000" i="1" spc="5" dirty="0">
                <a:latin typeface="Arial"/>
                <a:cs typeface="Arial"/>
              </a:rPr>
              <a:t>e</a:t>
            </a:r>
            <a:r>
              <a:rPr sz="2000" i="1" dirty="0">
                <a:latin typeface="Arial"/>
                <a:cs typeface="Arial"/>
              </a:rPr>
              <a:t>y</a:t>
            </a:r>
            <a:r>
              <a:rPr sz="2000" i="1" spc="10" dirty="0">
                <a:latin typeface="Arial"/>
                <a:cs typeface="Arial"/>
              </a:rPr>
              <a:t>w</a:t>
            </a:r>
            <a:r>
              <a:rPr sz="2000" i="1" dirty="0">
                <a:latin typeface="Arial"/>
                <a:cs typeface="Arial"/>
              </a:rPr>
              <a:t>ord</a:t>
            </a:r>
            <a:endParaRPr sz="2000" dirty="0">
              <a:latin typeface="Arial"/>
              <a:cs typeface="Arial"/>
            </a:endParaRPr>
          </a:p>
        </p:txBody>
      </p:sp>
      <p:sp>
        <p:nvSpPr>
          <p:cNvPr id="7" name="object 7"/>
          <p:cNvSpPr txBox="1"/>
          <p:nvPr/>
        </p:nvSpPr>
        <p:spPr>
          <a:xfrm>
            <a:off x="3505200" y="1867812"/>
            <a:ext cx="1845310" cy="744855"/>
          </a:xfrm>
          <a:prstGeom prst="rect">
            <a:avLst/>
          </a:prstGeom>
        </p:spPr>
        <p:txBody>
          <a:bodyPr vert="horz" wrap="square" lIns="0" tIns="38735" rIns="0" bIns="0" rtlCol="0">
            <a:spAutoFit/>
          </a:bodyPr>
          <a:lstStyle/>
          <a:p>
            <a:pPr marL="118110">
              <a:lnSpc>
                <a:spcPct val="100000"/>
              </a:lnSpc>
              <a:spcBef>
                <a:spcPts val="305"/>
              </a:spcBef>
            </a:pPr>
            <a:r>
              <a:rPr sz="2400" b="1" dirty="0">
                <a:latin typeface="Symbol"/>
                <a:cs typeface="Symbol"/>
              </a:rPr>
              <a:t></a:t>
            </a:r>
            <a:endParaRPr sz="2400" dirty="0">
              <a:latin typeface="Symbol"/>
              <a:cs typeface="Symbol"/>
            </a:endParaRPr>
          </a:p>
          <a:p>
            <a:pPr marL="12700">
              <a:lnSpc>
                <a:spcPct val="100000"/>
              </a:lnSpc>
              <a:spcBef>
                <a:spcPts val="175"/>
              </a:spcBef>
            </a:pPr>
            <a:r>
              <a:rPr sz="2000" i="1" dirty="0">
                <a:latin typeface="Arial"/>
                <a:cs typeface="Arial"/>
              </a:rPr>
              <a:t>operator</a:t>
            </a:r>
            <a:r>
              <a:rPr sz="2000" i="1" spc="-110" dirty="0">
                <a:latin typeface="Arial"/>
                <a:cs typeface="Arial"/>
              </a:rPr>
              <a:t> </a:t>
            </a:r>
            <a:r>
              <a:rPr sz="2000" i="1" dirty="0">
                <a:latin typeface="Arial"/>
                <a:cs typeface="Arial"/>
              </a:rPr>
              <a:t>symbol</a:t>
            </a:r>
            <a:endParaRPr sz="2000" dirty="0">
              <a:latin typeface="Arial"/>
              <a:cs typeface="Arial"/>
            </a:endParaRPr>
          </a:p>
        </p:txBody>
      </p:sp>
      <p:sp>
        <p:nvSpPr>
          <p:cNvPr id="8" name="object 8"/>
          <p:cNvSpPr txBox="1"/>
          <p:nvPr/>
        </p:nvSpPr>
        <p:spPr>
          <a:xfrm>
            <a:off x="609600" y="3163646"/>
            <a:ext cx="8001000" cy="1484381"/>
          </a:xfrm>
          <a:prstGeom prst="rect">
            <a:avLst/>
          </a:prstGeom>
        </p:spPr>
        <p:txBody>
          <a:bodyPr vert="horz" wrap="square" lIns="0" tIns="12065" rIns="0" bIns="0" rtlCol="0">
            <a:spAutoFit/>
          </a:bodyPr>
          <a:lstStyle/>
          <a:p>
            <a:pPr marL="354965" marR="188595" indent="-342900">
              <a:lnSpc>
                <a:spcPct val="89400"/>
              </a:lnSpc>
              <a:spcBef>
                <a:spcPts val="355"/>
              </a:spcBef>
              <a:buClr>
                <a:srgbClr val="D24717"/>
              </a:buClr>
              <a:buSzPct val="83928"/>
              <a:buFont typeface="Arial" panose="020B0604020202020204" pitchFamily="34" charset="0"/>
              <a:buChar char="•"/>
              <a:tabLst>
                <a:tab pos="287020" algn="l"/>
              </a:tabLst>
            </a:pPr>
            <a:r>
              <a:rPr sz="2500" dirty="0">
                <a:ln w="0"/>
                <a:effectLst>
                  <a:outerShdw blurRad="38100" dist="19050" dir="2700000" algn="tl" rotWithShape="0">
                    <a:schemeClr val="dk1">
                      <a:alpha val="40000"/>
                    </a:schemeClr>
                  </a:outerShdw>
                </a:effectLst>
              </a:rPr>
              <a:t>Return type may be whatever the operator  returns</a:t>
            </a:r>
            <a:endParaRPr lang="en-IN" sz="2500" dirty="0">
              <a:ln w="0"/>
              <a:effectLst>
                <a:outerShdw blurRad="38100" dist="19050" dir="2700000" algn="tl" rotWithShape="0">
                  <a:schemeClr val="dk1">
                    <a:alpha val="40000"/>
                  </a:schemeClr>
                </a:outerShdw>
              </a:effectLst>
            </a:endParaRPr>
          </a:p>
          <a:p>
            <a:pPr marL="354965" marR="188595" indent="-342900">
              <a:lnSpc>
                <a:spcPct val="89400"/>
              </a:lnSpc>
              <a:spcBef>
                <a:spcPts val="355"/>
              </a:spcBef>
              <a:buClr>
                <a:srgbClr val="D24717"/>
              </a:buClr>
              <a:buSzPct val="83928"/>
              <a:buFont typeface="Arial" panose="020B0604020202020204" pitchFamily="34" charset="0"/>
              <a:buChar char="•"/>
              <a:tabLst>
                <a:tab pos="287020" algn="l"/>
              </a:tabLst>
            </a:pPr>
            <a:r>
              <a:rPr sz="2500" dirty="0">
                <a:ln w="0"/>
                <a:effectLst>
                  <a:outerShdw blurRad="38100" dist="19050" dir="2700000" algn="tl" rotWithShape="0">
                    <a:schemeClr val="dk1">
                      <a:alpha val="40000"/>
                    </a:schemeClr>
                  </a:outerShdw>
                </a:effectLst>
              </a:rPr>
              <a:t>Including a reference to the object of the operand</a:t>
            </a:r>
            <a:endParaRPr lang="en-IN" sz="2500" dirty="0">
              <a:ln w="0"/>
              <a:effectLst>
                <a:outerShdw blurRad="38100" dist="19050" dir="2700000" algn="tl" rotWithShape="0">
                  <a:schemeClr val="dk1">
                    <a:alpha val="40000"/>
                  </a:schemeClr>
                </a:outerShdw>
              </a:effectLst>
            </a:endParaRPr>
          </a:p>
          <a:p>
            <a:pPr marL="354965" marR="188595" indent="-342900">
              <a:lnSpc>
                <a:spcPct val="89400"/>
              </a:lnSpc>
              <a:spcBef>
                <a:spcPts val="355"/>
              </a:spcBef>
              <a:buClr>
                <a:srgbClr val="D24717"/>
              </a:buClr>
              <a:buSzPct val="83928"/>
              <a:buFont typeface="Arial" panose="020B0604020202020204" pitchFamily="34" charset="0"/>
              <a:buChar char="•"/>
              <a:tabLst>
                <a:tab pos="287020" algn="l"/>
              </a:tabLst>
            </a:pPr>
            <a:r>
              <a:rPr sz="2500" dirty="0">
                <a:ln w="0"/>
                <a:effectLst>
                  <a:outerShdw blurRad="38100" dist="19050" dir="2700000" algn="tl" rotWithShape="0">
                    <a:schemeClr val="dk1">
                      <a:alpha val="40000"/>
                    </a:schemeClr>
                  </a:outerShdw>
                </a:effectLst>
              </a:rPr>
              <a:t>Operator symbol may be any overloadable</a:t>
            </a:r>
            <a:r>
              <a:rPr lang="en-IN" sz="2500" dirty="0">
                <a:ln w="0"/>
                <a:effectLst>
                  <a:outerShdw blurRad="38100" dist="19050" dir="2700000" algn="tl" rotWithShape="0">
                    <a:schemeClr val="dk1">
                      <a:alpha val="40000"/>
                    </a:schemeClr>
                  </a:outerShdw>
                </a:effectLst>
              </a:rPr>
              <a:t> </a:t>
            </a:r>
            <a:r>
              <a:rPr sz="2500" dirty="0">
                <a:ln w="0"/>
                <a:effectLst>
                  <a:outerShdw blurRad="38100" dist="19050" dir="2700000" algn="tl" rotWithShape="0">
                    <a:schemeClr val="dk1">
                      <a:alpha val="40000"/>
                    </a:schemeClr>
                  </a:outerShdw>
                </a:effectLst>
              </a:rPr>
              <a:t>operator from the list.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0DF63-670A-8ADA-E5F2-C739D0B6B7DE}"/>
              </a:ext>
            </a:extLst>
          </p:cNvPr>
          <p:cNvSpPr>
            <a:spLocks noGrp="1"/>
          </p:cNvSpPr>
          <p:nvPr>
            <p:ph type="title"/>
          </p:nvPr>
        </p:nvSpPr>
        <p:spPr>
          <a:xfrm>
            <a:off x="457200" y="152400"/>
            <a:ext cx="8229600" cy="381000"/>
          </a:xfrm>
        </p:spPr>
        <p:txBody>
          <a:bodyPr>
            <a:normAutofit fontScale="90000"/>
          </a:bodyPr>
          <a:lstStyle/>
          <a:p>
            <a:r>
              <a:rPr lang="en-IN" dirty="0"/>
              <a:t>Example</a:t>
            </a:r>
          </a:p>
        </p:txBody>
      </p:sp>
      <p:sp>
        <p:nvSpPr>
          <p:cNvPr id="3" name="Content Placeholder 2">
            <a:extLst>
              <a:ext uri="{FF2B5EF4-FFF2-40B4-BE49-F238E27FC236}">
                <a16:creationId xmlns:a16="http://schemas.microsoft.com/office/drawing/2014/main" id="{7E2BCD68-02E8-8E9E-4E3C-0014CA3B9DFF}"/>
              </a:ext>
            </a:extLst>
          </p:cNvPr>
          <p:cNvSpPr>
            <a:spLocks noGrp="1"/>
          </p:cNvSpPr>
          <p:nvPr>
            <p:ph idx="1"/>
          </p:nvPr>
        </p:nvSpPr>
        <p:spPr>
          <a:xfrm>
            <a:off x="457200" y="609600"/>
            <a:ext cx="3657600" cy="5867400"/>
          </a:xfrm>
        </p:spPr>
        <p:txBody>
          <a:bodyPr>
            <a:normAutofit fontScale="77500" lnSpcReduction="20000"/>
          </a:bodyPr>
          <a:lstStyle/>
          <a:p>
            <a:pPr marL="0" indent="0">
              <a:buNone/>
            </a:pPr>
            <a:r>
              <a:rPr lang="en-IN" sz="1400" dirty="0"/>
              <a:t>//inside the class </a:t>
            </a:r>
          </a:p>
          <a:p>
            <a:pPr marL="0" indent="0">
              <a:buNone/>
            </a:pPr>
            <a:r>
              <a:rPr lang="en-IN" sz="1400" dirty="0"/>
              <a:t>#include&lt;iostream&gt;</a:t>
            </a:r>
          </a:p>
          <a:p>
            <a:pPr marL="0" indent="0">
              <a:buNone/>
            </a:pPr>
            <a:r>
              <a:rPr lang="en-IN" sz="1400" dirty="0"/>
              <a:t>Using namespace std;</a:t>
            </a:r>
          </a:p>
          <a:p>
            <a:pPr marL="0" indent="0">
              <a:buNone/>
            </a:pPr>
            <a:r>
              <a:rPr lang="en-IN" sz="1400" dirty="0"/>
              <a:t>class Marks{</a:t>
            </a:r>
          </a:p>
          <a:p>
            <a:pPr marL="0" indent="0">
              <a:buNone/>
            </a:pPr>
            <a:r>
              <a:rPr lang="en-IN" sz="1400" dirty="0"/>
              <a:t>int </a:t>
            </a:r>
            <a:r>
              <a:rPr lang="en-IN" sz="1400" dirty="0" err="1"/>
              <a:t>intmark,extmark</a:t>
            </a:r>
            <a:r>
              <a:rPr lang="en-IN" sz="1400" dirty="0"/>
              <a:t>;</a:t>
            </a:r>
          </a:p>
          <a:p>
            <a:pPr marL="0" indent="0">
              <a:buNone/>
            </a:pPr>
            <a:r>
              <a:rPr lang="en-IN" sz="1400" dirty="0"/>
              <a:t>public:</a:t>
            </a:r>
          </a:p>
          <a:p>
            <a:pPr marL="0" indent="0">
              <a:buNone/>
            </a:pPr>
            <a:r>
              <a:rPr lang="en-IN" sz="1400" dirty="0"/>
              <a:t>Marks() // default constructor for initializing the zero value</a:t>
            </a:r>
          </a:p>
          <a:p>
            <a:pPr marL="0" indent="0">
              <a:buNone/>
            </a:pPr>
            <a:r>
              <a:rPr lang="en-IN" sz="1400" dirty="0"/>
              <a:t>{ </a:t>
            </a:r>
          </a:p>
          <a:p>
            <a:pPr marL="0" indent="0">
              <a:buNone/>
            </a:pPr>
            <a:r>
              <a:rPr lang="en-IN" sz="1400" dirty="0" err="1"/>
              <a:t>intmark</a:t>
            </a:r>
            <a:r>
              <a:rPr lang="en-IN" sz="1400" dirty="0"/>
              <a:t> = 0;</a:t>
            </a:r>
          </a:p>
          <a:p>
            <a:pPr marL="0" indent="0">
              <a:buNone/>
            </a:pPr>
            <a:r>
              <a:rPr lang="en-IN" sz="1400" dirty="0" err="1"/>
              <a:t>extmark</a:t>
            </a:r>
            <a:r>
              <a:rPr lang="en-IN" sz="1400" dirty="0"/>
              <a:t> = 0;</a:t>
            </a:r>
          </a:p>
          <a:p>
            <a:pPr marL="0" indent="0">
              <a:buNone/>
            </a:pPr>
            <a:r>
              <a:rPr lang="en-IN" sz="1400" dirty="0"/>
              <a:t>}</a:t>
            </a:r>
          </a:p>
          <a:p>
            <a:pPr marL="0" indent="0">
              <a:buNone/>
            </a:pPr>
            <a:r>
              <a:rPr lang="en-IN" sz="1400" dirty="0"/>
              <a:t>Marks ( int </a:t>
            </a:r>
            <a:r>
              <a:rPr lang="en-IN" sz="1400" dirty="0" err="1"/>
              <a:t>im</a:t>
            </a:r>
            <a:r>
              <a:rPr lang="en-IN" sz="1400" dirty="0"/>
              <a:t>, int </a:t>
            </a:r>
            <a:r>
              <a:rPr lang="en-IN" sz="1400" dirty="0" err="1"/>
              <a:t>em</a:t>
            </a:r>
            <a:r>
              <a:rPr lang="en-IN" sz="1400" dirty="0"/>
              <a:t>) // constructor for taking the values and storing the value into class members</a:t>
            </a:r>
          </a:p>
          <a:p>
            <a:pPr marL="0" indent="0">
              <a:buNone/>
            </a:pPr>
            <a:r>
              <a:rPr lang="en-IN" sz="1400" dirty="0"/>
              <a:t>{</a:t>
            </a:r>
          </a:p>
          <a:p>
            <a:pPr marL="0" indent="0">
              <a:buNone/>
            </a:pPr>
            <a:r>
              <a:rPr lang="en-IN" sz="1400" dirty="0" err="1"/>
              <a:t>intmark</a:t>
            </a:r>
            <a:r>
              <a:rPr lang="en-IN" sz="1400" dirty="0"/>
              <a:t> =</a:t>
            </a:r>
            <a:r>
              <a:rPr lang="en-IN" sz="1400" dirty="0" err="1"/>
              <a:t>im</a:t>
            </a:r>
            <a:r>
              <a:rPr lang="en-IN" sz="1400" dirty="0"/>
              <a:t>;</a:t>
            </a:r>
          </a:p>
          <a:p>
            <a:pPr marL="0" indent="0">
              <a:buNone/>
            </a:pPr>
            <a:r>
              <a:rPr lang="en-IN" sz="1400" dirty="0" err="1"/>
              <a:t>extmark</a:t>
            </a:r>
            <a:r>
              <a:rPr lang="en-IN" sz="1400" dirty="0"/>
              <a:t> </a:t>
            </a:r>
            <a:r>
              <a:rPr lang="en-IN" sz="1400" dirty="0" err="1"/>
              <a:t>em</a:t>
            </a:r>
            <a:r>
              <a:rPr lang="en-IN" sz="1400" dirty="0"/>
              <a:t>;</a:t>
            </a:r>
          </a:p>
          <a:p>
            <a:pPr marL="0" indent="0">
              <a:buNone/>
            </a:pPr>
            <a:r>
              <a:rPr lang="en-IN" sz="1400" dirty="0"/>
              <a:t>}</a:t>
            </a:r>
          </a:p>
          <a:p>
            <a:pPr marL="0" indent="0">
              <a:buNone/>
            </a:pPr>
            <a:r>
              <a:rPr lang="en-IN" sz="1400" dirty="0"/>
              <a:t>void display(){</a:t>
            </a:r>
          </a:p>
          <a:p>
            <a:pPr marL="0" indent="0">
              <a:buNone/>
            </a:pPr>
            <a:r>
              <a:rPr lang="en-IN" sz="1400" dirty="0" err="1"/>
              <a:t>cout</a:t>
            </a:r>
            <a:r>
              <a:rPr lang="en-IN" sz="1400" dirty="0"/>
              <a:t> &lt;&lt; </a:t>
            </a:r>
            <a:r>
              <a:rPr lang="en-IN" sz="1400" dirty="0" err="1"/>
              <a:t>intmark</a:t>
            </a:r>
            <a:r>
              <a:rPr lang="en-IN" sz="1400" dirty="0"/>
              <a:t>&lt;&lt;</a:t>
            </a:r>
            <a:r>
              <a:rPr lang="en-IN" sz="1400" dirty="0" err="1"/>
              <a:t>endl</a:t>
            </a:r>
            <a:r>
              <a:rPr lang="en-IN" sz="1400" dirty="0"/>
              <a:t>&lt;&lt;</a:t>
            </a:r>
            <a:r>
              <a:rPr lang="en-IN" sz="1400" dirty="0" err="1"/>
              <a:t>extmark</a:t>
            </a:r>
            <a:r>
              <a:rPr lang="en-IN" sz="1400" dirty="0"/>
              <a:t>&lt;&lt;</a:t>
            </a:r>
            <a:r>
              <a:rPr lang="en-IN" sz="1400" dirty="0" err="1"/>
              <a:t>endl</a:t>
            </a:r>
            <a:r>
              <a:rPr lang="en-IN" sz="1400" dirty="0"/>
              <a:t>;</a:t>
            </a:r>
          </a:p>
          <a:p>
            <a:pPr marL="0" indent="0">
              <a:buNone/>
            </a:pPr>
            <a:r>
              <a:rPr lang="en-IN" sz="1400" dirty="0"/>
              <a:t>}</a:t>
            </a:r>
          </a:p>
          <a:p>
            <a:pPr marL="0" indent="0">
              <a:buNone/>
            </a:pPr>
            <a:r>
              <a:rPr lang="en-IN" sz="1400" dirty="0"/>
              <a:t>Marks operator+(Marks m) {</a:t>
            </a:r>
          </a:p>
          <a:p>
            <a:pPr marL="0" indent="0">
              <a:buNone/>
            </a:pPr>
            <a:r>
              <a:rPr lang="en-IN" sz="1400" dirty="0"/>
              <a:t>Marks temp;</a:t>
            </a:r>
          </a:p>
          <a:p>
            <a:pPr marL="0" indent="0">
              <a:buNone/>
            </a:pPr>
            <a:r>
              <a:rPr lang="en-IN" sz="1400" dirty="0" err="1"/>
              <a:t>temp.intmark</a:t>
            </a:r>
            <a:r>
              <a:rPr lang="en-IN" sz="1400" dirty="0"/>
              <a:t> = </a:t>
            </a:r>
            <a:r>
              <a:rPr lang="en-IN" sz="1400" dirty="0" err="1"/>
              <a:t>intmark</a:t>
            </a:r>
            <a:r>
              <a:rPr lang="en-IN" sz="1400" dirty="0"/>
              <a:t> + </a:t>
            </a:r>
            <a:r>
              <a:rPr lang="en-IN" sz="1400" dirty="0" err="1"/>
              <a:t>m.intmark</a:t>
            </a:r>
            <a:r>
              <a:rPr lang="en-IN" sz="1400" dirty="0"/>
              <a:t>; </a:t>
            </a:r>
          </a:p>
          <a:p>
            <a:pPr marL="0" indent="0">
              <a:buNone/>
            </a:pPr>
            <a:r>
              <a:rPr lang="en-IN" sz="1400" dirty="0" err="1"/>
              <a:t>temp.extmark</a:t>
            </a:r>
            <a:r>
              <a:rPr lang="en-IN" sz="1400" dirty="0"/>
              <a:t> = </a:t>
            </a:r>
            <a:r>
              <a:rPr lang="en-IN" sz="1400" dirty="0" err="1"/>
              <a:t>extmark</a:t>
            </a:r>
            <a:r>
              <a:rPr lang="en-IN" sz="1400" dirty="0"/>
              <a:t> + </a:t>
            </a:r>
            <a:r>
              <a:rPr lang="en-IN" sz="1400" dirty="0" err="1"/>
              <a:t>m.extmark</a:t>
            </a:r>
            <a:r>
              <a:rPr lang="en-IN" sz="1400" dirty="0"/>
              <a:t>;</a:t>
            </a:r>
          </a:p>
          <a:p>
            <a:pPr marL="0" indent="0">
              <a:buNone/>
            </a:pPr>
            <a:r>
              <a:rPr lang="en-IN" sz="1400" dirty="0"/>
              <a:t>return temp;}</a:t>
            </a:r>
          </a:p>
          <a:p>
            <a:pPr marL="0" indent="0">
              <a:buNone/>
            </a:pPr>
            <a:r>
              <a:rPr lang="en-IN" sz="1400" dirty="0"/>
              <a:t>};</a:t>
            </a:r>
          </a:p>
          <a:p>
            <a:pPr marL="0" indent="0">
              <a:buNone/>
            </a:pPr>
            <a:endParaRPr lang="en-IN" sz="1400" dirty="0"/>
          </a:p>
          <a:p>
            <a:pPr marL="0" indent="0">
              <a:buNone/>
            </a:pPr>
            <a:r>
              <a:rPr lang="en-IN" sz="1400" dirty="0"/>
              <a:t>Int main(){</a:t>
            </a:r>
          </a:p>
          <a:p>
            <a:pPr marL="0" indent="0">
              <a:buNone/>
            </a:pPr>
            <a:r>
              <a:rPr lang="en-IN" sz="1400" dirty="0"/>
              <a:t>Marks m1(10,20), m2 (30,40);</a:t>
            </a:r>
          </a:p>
          <a:p>
            <a:pPr marL="0" indent="0">
              <a:buNone/>
            </a:pPr>
            <a:r>
              <a:rPr lang="en-IN" sz="1400" dirty="0"/>
              <a:t>Marks m3 = m1 + m2;</a:t>
            </a:r>
          </a:p>
          <a:p>
            <a:pPr marL="0" indent="0">
              <a:buNone/>
            </a:pPr>
            <a:r>
              <a:rPr lang="en-IN" sz="1400" dirty="0"/>
              <a:t>m3.display();</a:t>
            </a:r>
          </a:p>
          <a:p>
            <a:pPr marL="0" indent="0">
              <a:buNone/>
            </a:pPr>
            <a:r>
              <a:rPr lang="en-IN" sz="1400" dirty="0"/>
              <a:t>return 0;</a:t>
            </a:r>
          </a:p>
        </p:txBody>
      </p:sp>
      <p:sp>
        <p:nvSpPr>
          <p:cNvPr id="5" name="TextBox 4">
            <a:extLst>
              <a:ext uri="{FF2B5EF4-FFF2-40B4-BE49-F238E27FC236}">
                <a16:creationId xmlns:a16="http://schemas.microsoft.com/office/drawing/2014/main" id="{A1854673-A47B-63BE-8436-A71A3D825F0F}"/>
              </a:ext>
            </a:extLst>
          </p:cNvPr>
          <p:cNvSpPr txBox="1"/>
          <p:nvPr/>
        </p:nvSpPr>
        <p:spPr>
          <a:xfrm>
            <a:off x="3886200" y="569922"/>
            <a:ext cx="4495800" cy="5678478"/>
          </a:xfrm>
          <a:prstGeom prst="rect">
            <a:avLst/>
          </a:prstGeom>
          <a:noFill/>
        </p:spPr>
        <p:txBody>
          <a:bodyPr wrap="square">
            <a:spAutoFit/>
          </a:bodyPr>
          <a:lstStyle/>
          <a:p>
            <a:r>
              <a:rPr lang="en-IN" sz="1100" dirty="0"/>
              <a:t>//outside the class definition requires scope resolution operator</a:t>
            </a:r>
          </a:p>
          <a:p>
            <a:pPr marL="0" indent="0">
              <a:buNone/>
            </a:pPr>
            <a:r>
              <a:rPr lang="en-IN" sz="1100" dirty="0"/>
              <a:t>#include&lt;iostream&gt;</a:t>
            </a:r>
          </a:p>
          <a:p>
            <a:pPr marL="0" indent="0">
              <a:buNone/>
            </a:pPr>
            <a:r>
              <a:rPr lang="en-IN" sz="1100" dirty="0"/>
              <a:t>Using namespace std;</a:t>
            </a:r>
          </a:p>
          <a:p>
            <a:pPr marL="0" indent="0">
              <a:buNone/>
            </a:pPr>
            <a:r>
              <a:rPr lang="en-IN" sz="1100" dirty="0"/>
              <a:t>class Marks{</a:t>
            </a:r>
          </a:p>
          <a:p>
            <a:pPr marL="0" indent="0">
              <a:buNone/>
            </a:pPr>
            <a:r>
              <a:rPr lang="en-IN" sz="1100" dirty="0"/>
              <a:t>int </a:t>
            </a:r>
            <a:r>
              <a:rPr lang="en-IN" sz="1100" dirty="0" err="1"/>
              <a:t>intmark,extmark</a:t>
            </a:r>
            <a:r>
              <a:rPr lang="en-IN" sz="1100" dirty="0"/>
              <a:t>;</a:t>
            </a:r>
          </a:p>
          <a:p>
            <a:pPr marL="0" indent="0">
              <a:buNone/>
            </a:pPr>
            <a:r>
              <a:rPr lang="en-IN" sz="1100" dirty="0"/>
              <a:t>public:</a:t>
            </a:r>
          </a:p>
          <a:p>
            <a:pPr marL="0" indent="0">
              <a:buNone/>
            </a:pPr>
            <a:r>
              <a:rPr lang="en-IN" sz="1100" dirty="0"/>
              <a:t>Marks() // default constructor for initializing the zero value</a:t>
            </a:r>
          </a:p>
          <a:p>
            <a:pPr marL="0" indent="0">
              <a:buNone/>
            </a:pPr>
            <a:r>
              <a:rPr lang="en-IN" sz="1100" dirty="0"/>
              <a:t>{ </a:t>
            </a:r>
          </a:p>
          <a:p>
            <a:pPr marL="0" indent="0">
              <a:buNone/>
            </a:pPr>
            <a:r>
              <a:rPr lang="en-IN" sz="1100" dirty="0" err="1"/>
              <a:t>intmark</a:t>
            </a:r>
            <a:r>
              <a:rPr lang="en-IN" sz="1100" dirty="0"/>
              <a:t> = 0;</a:t>
            </a:r>
          </a:p>
          <a:p>
            <a:pPr marL="0" indent="0">
              <a:buNone/>
            </a:pPr>
            <a:r>
              <a:rPr lang="en-IN" sz="1100" dirty="0" err="1"/>
              <a:t>extmark</a:t>
            </a:r>
            <a:r>
              <a:rPr lang="en-IN" sz="1100" dirty="0"/>
              <a:t> = 0;</a:t>
            </a:r>
          </a:p>
          <a:p>
            <a:pPr marL="0" indent="0">
              <a:buNone/>
            </a:pPr>
            <a:r>
              <a:rPr lang="en-IN" sz="1100" dirty="0"/>
              <a:t>}</a:t>
            </a:r>
          </a:p>
          <a:p>
            <a:pPr marL="0" indent="0">
              <a:buNone/>
            </a:pPr>
            <a:r>
              <a:rPr lang="en-IN" sz="1100" dirty="0"/>
              <a:t>Marks ( int </a:t>
            </a:r>
            <a:r>
              <a:rPr lang="en-IN" sz="1100" dirty="0" err="1"/>
              <a:t>im</a:t>
            </a:r>
            <a:r>
              <a:rPr lang="en-IN" sz="1100" dirty="0"/>
              <a:t>, int </a:t>
            </a:r>
            <a:r>
              <a:rPr lang="en-IN" sz="1100" dirty="0" err="1"/>
              <a:t>em</a:t>
            </a:r>
            <a:r>
              <a:rPr lang="en-IN" sz="1100" dirty="0"/>
              <a:t>) // constructor for taking the values and storing the value into class members</a:t>
            </a:r>
          </a:p>
          <a:p>
            <a:pPr marL="0" indent="0">
              <a:buNone/>
            </a:pPr>
            <a:r>
              <a:rPr lang="en-IN" sz="1100" dirty="0"/>
              <a:t>{</a:t>
            </a:r>
          </a:p>
          <a:p>
            <a:pPr marL="0" indent="0">
              <a:buNone/>
            </a:pPr>
            <a:r>
              <a:rPr lang="en-IN" sz="1100" dirty="0" err="1"/>
              <a:t>intmark</a:t>
            </a:r>
            <a:r>
              <a:rPr lang="en-IN" sz="1100" dirty="0"/>
              <a:t> =</a:t>
            </a:r>
            <a:r>
              <a:rPr lang="en-IN" sz="1100" dirty="0" err="1"/>
              <a:t>im</a:t>
            </a:r>
            <a:r>
              <a:rPr lang="en-IN" sz="1100" dirty="0"/>
              <a:t>;</a:t>
            </a:r>
          </a:p>
          <a:p>
            <a:pPr marL="0" indent="0">
              <a:buNone/>
            </a:pPr>
            <a:r>
              <a:rPr lang="en-IN" sz="1100" dirty="0" err="1"/>
              <a:t>extmark</a:t>
            </a:r>
            <a:r>
              <a:rPr lang="en-IN" sz="1100" dirty="0"/>
              <a:t> </a:t>
            </a:r>
            <a:r>
              <a:rPr lang="en-IN" sz="1100" dirty="0" err="1"/>
              <a:t>em</a:t>
            </a:r>
            <a:r>
              <a:rPr lang="en-IN" sz="1100" dirty="0"/>
              <a:t>;</a:t>
            </a:r>
          </a:p>
          <a:p>
            <a:pPr marL="0" indent="0">
              <a:buNone/>
            </a:pPr>
            <a:r>
              <a:rPr lang="en-IN" sz="1100" dirty="0"/>
              <a:t>}</a:t>
            </a:r>
          </a:p>
          <a:p>
            <a:pPr marL="0" indent="0">
              <a:buNone/>
            </a:pPr>
            <a:r>
              <a:rPr lang="en-IN" sz="1100" dirty="0"/>
              <a:t>void display(){</a:t>
            </a:r>
          </a:p>
          <a:p>
            <a:pPr marL="0" indent="0">
              <a:buNone/>
            </a:pPr>
            <a:r>
              <a:rPr lang="en-IN" sz="1100" dirty="0" err="1"/>
              <a:t>cout</a:t>
            </a:r>
            <a:r>
              <a:rPr lang="en-IN" sz="1100" dirty="0"/>
              <a:t> &lt;&lt; </a:t>
            </a:r>
            <a:r>
              <a:rPr lang="en-IN" sz="1100" dirty="0" err="1"/>
              <a:t>intmark</a:t>
            </a:r>
            <a:r>
              <a:rPr lang="en-IN" sz="1100" dirty="0"/>
              <a:t>&lt;&lt;</a:t>
            </a:r>
            <a:r>
              <a:rPr lang="en-IN" sz="1100" dirty="0" err="1"/>
              <a:t>endl</a:t>
            </a:r>
            <a:r>
              <a:rPr lang="en-IN" sz="1100" dirty="0"/>
              <a:t>&lt;&lt;</a:t>
            </a:r>
            <a:r>
              <a:rPr lang="en-IN" sz="1100" dirty="0" err="1"/>
              <a:t>extmark</a:t>
            </a:r>
            <a:r>
              <a:rPr lang="en-IN" sz="1100" dirty="0"/>
              <a:t>&lt;&lt;</a:t>
            </a:r>
            <a:r>
              <a:rPr lang="en-IN" sz="1100" dirty="0" err="1"/>
              <a:t>endl</a:t>
            </a:r>
            <a:r>
              <a:rPr lang="en-IN" sz="1100" dirty="0"/>
              <a:t>;</a:t>
            </a:r>
          </a:p>
          <a:p>
            <a:pPr marL="0" indent="0">
              <a:buNone/>
            </a:pPr>
            <a:r>
              <a:rPr lang="en-IN" sz="1100" dirty="0"/>
              <a:t>}</a:t>
            </a:r>
          </a:p>
          <a:p>
            <a:pPr marL="0" indent="0">
              <a:buNone/>
            </a:pPr>
            <a:r>
              <a:rPr lang="en-IN" sz="1100" dirty="0"/>
              <a:t>Marks operator+(Marks m)</a:t>
            </a:r>
          </a:p>
          <a:p>
            <a:pPr marL="0" indent="0">
              <a:buNone/>
            </a:pPr>
            <a:r>
              <a:rPr lang="en-IN" sz="1100" dirty="0"/>
              <a:t>};</a:t>
            </a:r>
          </a:p>
          <a:p>
            <a:r>
              <a:rPr lang="en-IN" sz="1100" dirty="0"/>
              <a:t>Mark Marks :: operator+(Marks m) {</a:t>
            </a:r>
          </a:p>
          <a:p>
            <a:r>
              <a:rPr lang="en-IN" sz="1100" dirty="0"/>
              <a:t>Marks temp;</a:t>
            </a:r>
          </a:p>
          <a:p>
            <a:r>
              <a:rPr lang="en-IN" sz="1100" dirty="0" err="1"/>
              <a:t>temp.intmark</a:t>
            </a:r>
            <a:r>
              <a:rPr lang="en-IN" sz="1100" dirty="0"/>
              <a:t> = </a:t>
            </a:r>
            <a:r>
              <a:rPr lang="en-IN" sz="1100" dirty="0" err="1"/>
              <a:t>intmark</a:t>
            </a:r>
            <a:r>
              <a:rPr lang="en-IN" sz="1100" dirty="0"/>
              <a:t> + </a:t>
            </a:r>
            <a:r>
              <a:rPr lang="en-IN" sz="1100" dirty="0" err="1"/>
              <a:t>m.intmark</a:t>
            </a:r>
            <a:r>
              <a:rPr lang="en-IN" sz="1100" dirty="0"/>
              <a:t>; </a:t>
            </a:r>
          </a:p>
          <a:p>
            <a:r>
              <a:rPr lang="en-IN" sz="1100" dirty="0" err="1"/>
              <a:t>temp.extmark</a:t>
            </a:r>
            <a:r>
              <a:rPr lang="en-IN" sz="1100" dirty="0"/>
              <a:t> = </a:t>
            </a:r>
            <a:r>
              <a:rPr lang="en-IN" sz="1100" dirty="0" err="1"/>
              <a:t>extmark</a:t>
            </a:r>
            <a:r>
              <a:rPr lang="en-IN" sz="1100" dirty="0"/>
              <a:t> + </a:t>
            </a:r>
            <a:r>
              <a:rPr lang="en-IN" sz="1100" dirty="0" err="1"/>
              <a:t>m.extmark</a:t>
            </a:r>
            <a:r>
              <a:rPr lang="en-IN" sz="1100" dirty="0"/>
              <a:t>;</a:t>
            </a:r>
          </a:p>
          <a:p>
            <a:r>
              <a:rPr lang="en-IN" sz="1100" dirty="0"/>
              <a:t>return temp;}</a:t>
            </a:r>
          </a:p>
          <a:p>
            <a:pPr marL="0" indent="0">
              <a:buNone/>
            </a:pPr>
            <a:endParaRPr lang="en-IN" sz="1100" dirty="0"/>
          </a:p>
          <a:p>
            <a:pPr marL="0" indent="0">
              <a:buNone/>
            </a:pPr>
            <a:r>
              <a:rPr lang="en-IN" sz="1100" dirty="0"/>
              <a:t>Int main(){</a:t>
            </a:r>
          </a:p>
          <a:p>
            <a:pPr marL="0" indent="0">
              <a:buNone/>
            </a:pPr>
            <a:r>
              <a:rPr lang="en-IN" sz="1100" dirty="0"/>
              <a:t>Marks m1(10,20), m2 (30,40);</a:t>
            </a:r>
          </a:p>
          <a:p>
            <a:pPr marL="0" indent="0">
              <a:buNone/>
            </a:pPr>
            <a:r>
              <a:rPr lang="en-IN" sz="1100" dirty="0"/>
              <a:t>Marks m3 = m1 + m2;</a:t>
            </a:r>
          </a:p>
          <a:p>
            <a:pPr marL="0" indent="0">
              <a:buNone/>
            </a:pPr>
            <a:r>
              <a:rPr lang="en-IN" sz="1100" dirty="0"/>
              <a:t>m3.display();</a:t>
            </a:r>
          </a:p>
          <a:p>
            <a:pPr marL="0" indent="0">
              <a:buNone/>
            </a:pPr>
            <a:r>
              <a:rPr lang="en-IN" sz="1100" dirty="0"/>
              <a:t>return 0;</a:t>
            </a:r>
          </a:p>
        </p:txBody>
      </p:sp>
    </p:spTree>
    <p:extLst>
      <p:ext uri="{BB962C8B-B14F-4D97-AF65-F5344CB8AC3E}">
        <p14:creationId xmlns:p14="http://schemas.microsoft.com/office/powerpoint/2010/main" val="748990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0DEF8-9275-FD62-8ED1-9CBE40C5ED4B}"/>
              </a:ext>
            </a:extLst>
          </p:cNvPr>
          <p:cNvSpPr>
            <a:spLocks noGrp="1"/>
          </p:cNvSpPr>
          <p:nvPr>
            <p:ph type="title"/>
          </p:nvPr>
        </p:nvSpPr>
        <p:spPr>
          <a:xfrm>
            <a:off x="5410200" y="274638"/>
            <a:ext cx="3276600" cy="715962"/>
          </a:xfrm>
        </p:spPr>
        <p:txBody>
          <a:bodyPr>
            <a:normAutofit fontScale="90000"/>
          </a:bodyPr>
          <a:lstStyle/>
          <a:p>
            <a:r>
              <a:rPr lang="en-IN" dirty="0"/>
              <a:t>Example</a:t>
            </a:r>
          </a:p>
        </p:txBody>
      </p:sp>
      <p:sp>
        <p:nvSpPr>
          <p:cNvPr id="3" name="Content Placeholder 2">
            <a:extLst>
              <a:ext uri="{FF2B5EF4-FFF2-40B4-BE49-F238E27FC236}">
                <a16:creationId xmlns:a16="http://schemas.microsoft.com/office/drawing/2014/main" id="{ED4881CF-8DC6-6D9F-6FD0-381C51B55CED}"/>
              </a:ext>
            </a:extLst>
          </p:cNvPr>
          <p:cNvSpPr>
            <a:spLocks noGrp="1"/>
          </p:cNvSpPr>
          <p:nvPr>
            <p:ph idx="1"/>
          </p:nvPr>
        </p:nvSpPr>
        <p:spPr>
          <a:xfrm>
            <a:off x="457200" y="76200"/>
            <a:ext cx="5257800" cy="6705600"/>
          </a:xfrm>
        </p:spPr>
        <p:txBody>
          <a:bodyPr>
            <a:normAutofit lnSpcReduction="10000"/>
          </a:bodyPr>
          <a:lstStyle/>
          <a:p>
            <a:pPr marL="0" indent="0">
              <a:buNone/>
            </a:pPr>
            <a:r>
              <a:rPr lang="en-IN" sz="1400" dirty="0"/>
              <a:t>#include &lt;iostream&gt;</a:t>
            </a:r>
          </a:p>
          <a:p>
            <a:pPr marL="0" indent="0">
              <a:buNone/>
            </a:pPr>
            <a:r>
              <a:rPr lang="en-IN" sz="1400" dirty="0"/>
              <a:t>using namespace std;</a:t>
            </a:r>
          </a:p>
          <a:p>
            <a:pPr marL="0" indent="0">
              <a:buNone/>
            </a:pPr>
            <a:r>
              <a:rPr lang="en-IN" sz="1400" dirty="0"/>
              <a:t>class Complex {</a:t>
            </a:r>
          </a:p>
          <a:p>
            <a:pPr marL="0" indent="0">
              <a:buNone/>
            </a:pPr>
            <a:r>
              <a:rPr lang="en-IN" sz="1400" dirty="0"/>
              <a:t>private:</a:t>
            </a:r>
          </a:p>
          <a:p>
            <a:pPr marL="0" indent="0">
              <a:buNone/>
            </a:pPr>
            <a:r>
              <a:rPr lang="en-IN" sz="1400" dirty="0"/>
              <a:t>    int real, </a:t>
            </a:r>
            <a:r>
              <a:rPr lang="en-IN" sz="1400" dirty="0" err="1"/>
              <a:t>imag</a:t>
            </a:r>
            <a:r>
              <a:rPr lang="en-IN" sz="1400" dirty="0"/>
              <a:t>;</a:t>
            </a:r>
          </a:p>
          <a:p>
            <a:pPr marL="0" indent="0">
              <a:buNone/>
            </a:pPr>
            <a:r>
              <a:rPr lang="en-IN" sz="1400" dirty="0"/>
              <a:t>public:</a:t>
            </a:r>
          </a:p>
          <a:p>
            <a:pPr marL="0" indent="0">
              <a:buNone/>
            </a:pPr>
            <a:r>
              <a:rPr lang="en-IN" sz="1400" dirty="0"/>
              <a:t>    Complex(int r = 0, int </a:t>
            </a:r>
            <a:r>
              <a:rPr lang="en-IN" sz="1400" dirty="0" err="1"/>
              <a:t>i</a:t>
            </a:r>
            <a:r>
              <a:rPr lang="en-IN" sz="1400" dirty="0"/>
              <a:t> = 0)</a:t>
            </a:r>
          </a:p>
          <a:p>
            <a:pPr marL="0" indent="0">
              <a:buNone/>
            </a:pPr>
            <a:r>
              <a:rPr lang="en-IN" sz="1400" dirty="0"/>
              <a:t>    {</a:t>
            </a:r>
          </a:p>
          <a:p>
            <a:pPr marL="0" indent="0">
              <a:buNone/>
            </a:pPr>
            <a:r>
              <a:rPr lang="en-IN" sz="1400" dirty="0"/>
              <a:t>        real = r;</a:t>
            </a:r>
          </a:p>
          <a:p>
            <a:pPr marL="0" indent="0">
              <a:buNone/>
            </a:pPr>
            <a:r>
              <a:rPr lang="en-IN" sz="1400" dirty="0"/>
              <a:t>        </a:t>
            </a:r>
            <a:r>
              <a:rPr lang="en-IN" sz="1400" dirty="0" err="1"/>
              <a:t>imag</a:t>
            </a:r>
            <a:r>
              <a:rPr lang="en-IN" sz="1400" dirty="0"/>
              <a:t> = </a:t>
            </a:r>
            <a:r>
              <a:rPr lang="en-IN" sz="1400" dirty="0" err="1"/>
              <a:t>i</a:t>
            </a:r>
            <a:r>
              <a:rPr lang="en-IN" sz="1400" dirty="0"/>
              <a:t>;</a:t>
            </a:r>
          </a:p>
          <a:p>
            <a:pPr marL="0" indent="0">
              <a:buNone/>
            </a:pPr>
            <a:r>
              <a:rPr lang="en-IN" sz="1400" dirty="0"/>
              <a:t>    }</a:t>
            </a:r>
          </a:p>
          <a:p>
            <a:pPr marL="0" indent="0">
              <a:buNone/>
            </a:pPr>
            <a:r>
              <a:rPr lang="en-IN" sz="1400" dirty="0"/>
              <a:t>// This is automatically called when '+' is used with between two Complex objects</a:t>
            </a:r>
          </a:p>
          <a:p>
            <a:pPr marL="0" indent="0">
              <a:buNone/>
            </a:pPr>
            <a:r>
              <a:rPr lang="en-IN" sz="1400" dirty="0"/>
              <a:t>    Complex operator+(Complex </a:t>
            </a:r>
            <a:r>
              <a:rPr lang="en-IN" sz="1400" dirty="0" err="1"/>
              <a:t>const</a:t>
            </a:r>
            <a:r>
              <a:rPr lang="en-IN" sz="1400" dirty="0"/>
              <a:t> &amp;</a:t>
            </a:r>
            <a:r>
              <a:rPr lang="en-IN" sz="1400" dirty="0" err="1"/>
              <a:t>obj</a:t>
            </a:r>
            <a:r>
              <a:rPr lang="en-IN" sz="1400" dirty="0"/>
              <a:t>)</a:t>
            </a:r>
          </a:p>
          <a:p>
            <a:pPr marL="0" indent="0">
              <a:buNone/>
            </a:pPr>
            <a:r>
              <a:rPr lang="en-IN" sz="1400" dirty="0"/>
              <a:t>    {</a:t>
            </a:r>
          </a:p>
          <a:p>
            <a:pPr marL="0" indent="0">
              <a:buNone/>
            </a:pPr>
            <a:r>
              <a:rPr lang="en-IN" sz="1400" dirty="0"/>
              <a:t>        Complex res;</a:t>
            </a:r>
          </a:p>
          <a:p>
            <a:pPr marL="0" indent="0">
              <a:buNone/>
            </a:pPr>
            <a:r>
              <a:rPr lang="en-IN" sz="1400" dirty="0"/>
              <a:t>        </a:t>
            </a:r>
            <a:r>
              <a:rPr lang="en-IN" sz="1400" dirty="0" err="1"/>
              <a:t>res.real</a:t>
            </a:r>
            <a:r>
              <a:rPr lang="en-IN" sz="1400" dirty="0"/>
              <a:t> = real + </a:t>
            </a:r>
            <a:r>
              <a:rPr lang="en-IN" sz="1400" dirty="0" err="1"/>
              <a:t>obj.real</a:t>
            </a:r>
            <a:r>
              <a:rPr lang="en-IN" sz="1400" dirty="0"/>
              <a:t>;</a:t>
            </a:r>
          </a:p>
          <a:p>
            <a:pPr marL="0" indent="0">
              <a:buNone/>
            </a:pPr>
            <a:r>
              <a:rPr lang="en-IN" sz="1400" dirty="0"/>
              <a:t>        </a:t>
            </a:r>
            <a:r>
              <a:rPr lang="en-IN" sz="1400" dirty="0" err="1"/>
              <a:t>res.imag</a:t>
            </a:r>
            <a:r>
              <a:rPr lang="en-IN" sz="1400" dirty="0"/>
              <a:t> = </a:t>
            </a:r>
            <a:r>
              <a:rPr lang="en-IN" sz="1400" dirty="0" err="1"/>
              <a:t>imag</a:t>
            </a:r>
            <a:r>
              <a:rPr lang="en-IN" sz="1400" dirty="0"/>
              <a:t> + </a:t>
            </a:r>
            <a:r>
              <a:rPr lang="en-IN" sz="1400" dirty="0" err="1"/>
              <a:t>obj.imag</a:t>
            </a:r>
            <a:r>
              <a:rPr lang="en-IN" sz="1400" dirty="0"/>
              <a:t>;</a:t>
            </a:r>
          </a:p>
          <a:p>
            <a:pPr marL="0" indent="0">
              <a:buNone/>
            </a:pPr>
            <a:r>
              <a:rPr lang="en-IN" sz="1400" dirty="0"/>
              <a:t>        return res;</a:t>
            </a:r>
          </a:p>
          <a:p>
            <a:pPr marL="0" indent="0">
              <a:buNone/>
            </a:pPr>
            <a:r>
              <a:rPr lang="en-IN" sz="1400" dirty="0"/>
              <a:t>    }</a:t>
            </a:r>
          </a:p>
          <a:p>
            <a:pPr marL="0" indent="0">
              <a:buNone/>
            </a:pPr>
            <a:r>
              <a:rPr lang="en-IN" sz="1400" dirty="0"/>
              <a:t>    void print() { </a:t>
            </a:r>
            <a:r>
              <a:rPr lang="en-IN" sz="1400" dirty="0" err="1"/>
              <a:t>cout</a:t>
            </a:r>
            <a:r>
              <a:rPr lang="en-IN" sz="1400" dirty="0"/>
              <a:t> &lt;&lt; real &lt;&lt; " + </a:t>
            </a:r>
            <a:r>
              <a:rPr lang="en-IN" sz="1400" dirty="0" err="1"/>
              <a:t>i</a:t>
            </a:r>
            <a:r>
              <a:rPr lang="en-IN" sz="1400" dirty="0"/>
              <a:t>" &lt;&lt; </a:t>
            </a:r>
            <a:r>
              <a:rPr lang="en-IN" sz="1400" dirty="0" err="1"/>
              <a:t>imag</a:t>
            </a:r>
            <a:r>
              <a:rPr lang="en-IN" sz="1400" dirty="0"/>
              <a:t> &lt;&lt; '\n'; }</a:t>
            </a:r>
          </a:p>
          <a:p>
            <a:pPr marL="0" indent="0">
              <a:buNone/>
            </a:pPr>
            <a:r>
              <a:rPr lang="en-IN" sz="1400" dirty="0"/>
              <a:t>};</a:t>
            </a:r>
          </a:p>
          <a:p>
            <a:pPr marL="0" indent="0">
              <a:buNone/>
            </a:pPr>
            <a:r>
              <a:rPr lang="en-IN" sz="1400" dirty="0"/>
              <a:t>int main()</a:t>
            </a:r>
          </a:p>
          <a:p>
            <a:pPr marL="0" indent="0">
              <a:buNone/>
            </a:pPr>
            <a:r>
              <a:rPr lang="en-IN" sz="1400" dirty="0"/>
              <a:t>{</a:t>
            </a:r>
          </a:p>
          <a:p>
            <a:pPr marL="0" indent="0">
              <a:buNone/>
            </a:pPr>
            <a:r>
              <a:rPr lang="en-IN" sz="1400" dirty="0"/>
              <a:t>    Complex c1(10, 5), c2(2, 4);</a:t>
            </a:r>
          </a:p>
          <a:p>
            <a:pPr marL="0" indent="0">
              <a:buNone/>
            </a:pPr>
            <a:r>
              <a:rPr lang="en-IN" sz="1400" dirty="0"/>
              <a:t>    Complex c3 = c1 + c2;</a:t>
            </a:r>
          </a:p>
          <a:p>
            <a:pPr marL="0" indent="0">
              <a:buNone/>
            </a:pPr>
            <a:r>
              <a:rPr lang="en-IN" sz="1400" dirty="0"/>
              <a:t>    c3.print();</a:t>
            </a:r>
          </a:p>
          <a:p>
            <a:pPr marL="0" indent="0">
              <a:buNone/>
            </a:pPr>
            <a:r>
              <a:rPr lang="en-IN" sz="1400" dirty="0"/>
              <a:t>}</a:t>
            </a:r>
          </a:p>
        </p:txBody>
      </p:sp>
      <p:sp>
        <p:nvSpPr>
          <p:cNvPr id="5" name="TextBox 4">
            <a:extLst>
              <a:ext uri="{FF2B5EF4-FFF2-40B4-BE49-F238E27FC236}">
                <a16:creationId xmlns:a16="http://schemas.microsoft.com/office/drawing/2014/main" id="{F0D47C28-9DF7-695C-3EC7-B58118CAF9A8}"/>
              </a:ext>
            </a:extLst>
          </p:cNvPr>
          <p:cNvSpPr txBox="1"/>
          <p:nvPr/>
        </p:nvSpPr>
        <p:spPr>
          <a:xfrm>
            <a:off x="6858000" y="5334000"/>
            <a:ext cx="1143000" cy="646331"/>
          </a:xfrm>
          <a:prstGeom prst="rect">
            <a:avLst/>
          </a:prstGeom>
          <a:noFill/>
        </p:spPr>
        <p:txBody>
          <a:bodyPr wrap="square">
            <a:spAutoFit/>
          </a:bodyPr>
          <a:lstStyle/>
          <a:p>
            <a:r>
              <a:rPr lang="en-IN" dirty="0"/>
              <a:t>Output</a:t>
            </a:r>
          </a:p>
          <a:p>
            <a:r>
              <a:rPr lang="en-IN" dirty="0"/>
              <a:t>12 + i9</a:t>
            </a:r>
          </a:p>
        </p:txBody>
      </p:sp>
    </p:spTree>
    <p:extLst>
      <p:ext uri="{BB962C8B-B14F-4D97-AF65-F5344CB8AC3E}">
        <p14:creationId xmlns:p14="http://schemas.microsoft.com/office/powerpoint/2010/main" val="1653859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53644" y="609600"/>
            <a:ext cx="5870956" cy="6168996"/>
          </a:xfrm>
          <a:prstGeom prst="rect">
            <a:avLst/>
          </a:prstGeom>
        </p:spPr>
        <p:txBody>
          <a:bodyPr vert="horz" wrap="square" lIns="0" tIns="13335" rIns="0" bIns="0" rtlCol="0">
            <a:spAutoFit/>
          </a:bodyPr>
          <a:lstStyle/>
          <a:p>
            <a:pPr marL="36000" marR="5080"/>
            <a:r>
              <a:rPr lang="en-US" sz="1600" dirty="0">
                <a:latin typeface="Arial"/>
                <a:cs typeface="Arial"/>
              </a:rPr>
              <a:t>#include &lt;iostream&gt;  </a:t>
            </a:r>
          </a:p>
          <a:p>
            <a:pPr marL="36000" marR="5080"/>
            <a:r>
              <a:rPr lang="en-US" sz="1600" dirty="0">
                <a:latin typeface="Arial"/>
                <a:cs typeface="Arial"/>
              </a:rPr>
              <a:t>using namespace std;  </a:t>
            </a:r>
          </a:p>
          <a:p>
            <a:pPr marL="36000" marR="5080"/>
            <a:r>
              <a:rPr lang="en-US" sz="1600" dirty="0">
                <a:latin typeface="Arial"/>
                <a:cs typeface="Arial"/>
              </a:rPr>
              <a:t>class temp</a:t>
            </a:r>
          </a:p>
          <a:p>
            <a:pPr marL="36000"/>
            <a:r>
              <a:rPr lang="en-US" sz="1600" dirty="0">
                <a:latin typeface="Arial"/>
                <a:cs typeface="Arial"/>
              </a:rPr>
              <a:t>{</a:t>
            </a:r>
            <a:endParaRPr lang="en-IN" sz="1600" dirty="0">
              <a:latin typeface="Arial"/>
              <a:cs typeface="Arial"/>
            </a:endParaRPr>
          </a:p>
          <a:p>
            <a:pPr marL="36000"/>
            <a:r>
              <a:rPr sz="1600" dirty="0">
                <a:latin typeface="Arial"/>
                <a:cs typeface="Arial"/>
              </a:rPr>
              <a:t>private:</a:t>
            </a:r>
          </a:p>
          <a:p>
            <a:pPr marL="36000"/>
            <a:r>
              <a:rPr sz="1600" dirty="0">
                <a:latin typeface="Arial"/>
                <a:cs typeface="Arial"/>
              </a:rPr>
              <a:t>int count;</a:t>
            </a:r>
          </a:p>
          <a:p>
            <a:pPr marL="36000"/>
            <a:r>
              <a:rPr sz="1600" dirty="0">
                <a:latin typeface="Arial"/>
                <a:cs typeface="Arial"/>
              </a:rPr>
              <a:t>public:</a:t>
            </a:r>
          </a:p>
          <a:p>
            <a:pPr marL="36000"/>
            <a:r>
              <a:rPr sz="1600" dirty="0">
                <a:latin typeface="Arial"/>
                <a:cs typeface="Arial"/>
              </a:rPr>
              <a:t>temp():count(5)</a:t>
            </a:r>
          </a:p>
          <a:p>
            <a:pPr marL="36000"/>
            <a:r>
              <a:rPr sz="1600" dirty="0">
                <a:latin typeface="Arial"/>
                <a:cs typeface="Arial"/>
              </a:rPr>
              <a:t>{ }</a:t>
            </a:r>
          </a:p>
          <a:p>
            <a:pPr marL="36000"/>
            <a:r>
              <a:rPr sz="1600" dirty="0">
                <a:latin typeface="Arial"/>
                <a:cs typeface="Arial"/>
              </a:rPr>
              <a:t>void operator ++()</a:t>
            </a:r>
          </a:p>
          <a:p>
            <a:pPr marL="36000"/>
            <a:r>
              <a:rPr sz="1600" dirty="0">
                <a:latin typeface="Arial"/>
                <a:cs typeface="Arial"/>
              </a:rPr>
              <a:t>{</a:t>
            </a:r>
          </a:p>
          <a:p>
            <a:pPr marL="36000"/>
            <a:r>
              <a:rPr sz="1600" dirty="0">
                <a:latin typeface="Arial"/>
                <a:cs typeface="Arial"/>
              </a:rPr>
              <a:t>count=count+1;</a:t>
            </a:r>
          </a:p>
          <a:p>
            <a:pPr marL="36000"/>
            <a:r>
              <a:rPr sz="1600" dirty="0">
                <a:latin typeface="Arial"/>
                <a:cs typeface="Arial"/>
              </a:rPr>
              <a:t>}</a:t>
            </a:r>
            <a:endParaRPr lang="en-IN" sz="1600" dirty="0">
              <a:latin typeface="Arial"/>
              <a:cs typeface="Arial"/>
            </a:endParaRPr>
          </a:p>
          <a:p>
            <a:pPr marL="36000"/>
            <a:r>
              <a:rPr sz="1600" dirty="0">
                <a:latin typeface="Arial"/>
                <a:cs typeface="Arial"/>
              </a:rPr>
              <a:t>void Display()</a:t>
            </a:r>
          </a:p>
          <a:p>
            <a:pPr marL="36000"/>
            <a:r>
              <a:rPr sz="1600" dirty="0">
                <a:latin typeface="Arial"/>
                <a:cs typeface="Arial"/>
              </a:rPr>
              <a:t>{</a:t>
            </a:r>
            <a:endParaRPr lang="en-IN" sz="1600" dirty="0">
              <a:latin typeface="Arial"/>
              <a:cs typeface="Arial"/>
            </a:endParaRPr>
          </a:p>
          <a:p>
            <a:pPr marL="36000"/>
            <a:r>
              <a:rPr sz="1600" dirty="0" err="1">
                <a:latin typeface="Arial"/>
                <a:cs typeface="Arial"/>
              </a:rPr>
              <a:t>cout</a:t>
            </a:r>
            <a:r>
              <a:rPr sz="1600" dirty="0">
                <a:latin typeface="Arial"/>
                <a:cs typeface="Arial"/>
              </a:rPr>
              <a:t>&lt;&lt;"Count:</a:t>
            </a:r>
            <a:r>
              <a:rPr lang="en-IN" sz="1600" dirty="0">
                <a:latin typeface="Arial"/>
                <a:cs typeface="Arial"/>
              </a:rPr>
              <a:t> </a:t>
            </a:r>
            <a:r>
              <a:rPr sz="1600" dirty="0">
                <a:latin typeface="Arial"/>
                <a:cs typeface="Arial"/>
              </a:rPr>
              <a:t>"&lt;&lt;count;</a:t>
            </a:r>
            <a:endParaRPr lang="en-IN" sz="1600" dirty="0">
              <a:latin typeface="Arial"/>
              <a:cs typeface="Arial"/>
            </a:endParaRPr>
          </a:p>
          <a:p>
            <a:pPr marL="36000"/>
            <a:r>
              <a:rPr sz="1600" dirty="0">
                <a:latin typeface="Arial"/>
                <a:cs typeface="Arial"/>
              </a:rPr>
              <a:t>}</a:t>
            </a:r>
            <a:endParaRPr lang="en-IN" sz="1600" dirty="0">
              <a:latin typeface="Arial"/>
              <a:cs typeface="Arial"/>
            </a:endParaRPr>
          </a:p>
          <a:p>
            <a:pPr marL="36000"/>
            <a:r>
              <a:rPr lang="en-IN" sz="1600" dirty="0">
                <a:latin typeface="Arial"/>
                <a:cs typeface="Arial"/>
              </a:rPr>
              <a:t>};</a:t>
            </a:r>
          </a:p>
          <a:p>
            <a:pPr marL="36000"/>
            <a:r>
              <a:rPr lang="en-US" sz="1600" dirty="0">
                <a:latin typeface="Arial"/>
                <a:cs typeface="Arial"/>
              </a:rPr>
              <a:t>int main()</a:t>
            </a:r>
          </a:p>
          <a:p>
            <a:pPr marL="36000"/>
            <a:r>
              <a:rPr lang="en-US" sz="1600" dirty="0">
                <a:latin typeface="Arial"/>
                <a:cs typeface="Arial"/>
              </a:rPr>
              <a:t>{</a:t>
            </a:r>
          </a:p>
          <a:p>
            <a:pPr marL="36000"/>
            <a:r>
              <a:rPr lang="en-US" sz="1600" dirty="0">
                <a:latin typeface="Arial"/>
                <a:cs typeface="Arial"/>
              </a:rPr>
              <a:t>temp t;</a:t>
            </a:r>
          </a:p>
          <a:p>
            <a:pPr marL="36000"/>
            <a:r>
              <a:rPr lang="en-US" sz="1600" dirty="0">
                <a:latin typeface="Arial"/>
                <a:cs typeface="Arial"/>
              </a:rPr>
              <a:t>++t;   // operator function void operator ++() is being called  </a:t>
            </a:r>
          </a:p>
          <a:p>
            <a:pPr marL="36000"/>
            <a:r>
              <a:rPr lang="en-US" sz="1600" dirty="0" err="1">
                <a:latin typeface="Arial"/>
                <a:cs typeface="Arial"/>
              </a:rPr>
              <a:t>t.Display</a:t>
            </a:r>
            <a:r>
              <a:rPr lang="en-US" sz="1600" dirty="0">
                <a:latin typeface="Arial"/>
                <a:cs typeface="Arial"/>
              </a:rPr>
              <a:t>();</a:t>
            </a:r>
          </a:p>
          <a:p>
            <a:pPr marL="36000"/>
            <a:r>
              <a:rPr lang="en-US" sz="1600" dirty="0">
                <a:latin typeface="Arial"/>
                <a:cs typeface="Arial"/>
              </a:rPr>
              <a:t>return 0;</a:t>
            </a:r>
          </a:p>
          <a:p>
            <a:pPr marL="36000"/>
            <a:r>
              <a:rPr lang="en-US" sz="1600" dirty="0">
                <a:latin typeface="Arial"/>
                <a:cs typeface="Arial"/>
              </a:rPr>
              <a:t>}</a:t>
            </a:r>
            <a:endParaRPr sz="1600" dirty="0">
              <a:latin typeface="Arial"/>
              <a:cs typeface="Arial"/>
            </a:endParaRPr>
          </a:p>
        </p:txBody>
      </p:sp>
      <p:sp>
        <p:nvSpPr>
          <p:cNvPr id="6" name="object 6"/>
          <p:cNvSpPr txBox="1"/>
          <p:nvPr/>
        </p:nvSpPr>
        <p:spPr>
          <a:xfrm>
            <a:off x="6516015" y="5839305"/>
            <a:ext cx="2094585" cy="595035"/>
          </a:xfrm>
          <a:prstGeom prst="rect">
            <a:avLst/>
          </a:prstGeom>
          <a:ln w="12192">
            <a:solidFill>
              <a:srgbClr val="000000"/>
            </a:solidFill>
          </a:ln>
        </p:spPr>
        <p:txBody>
          <a:bodyPr vert="horz" wrap="square" lIns="0" tIns="40640" rIns="0" bIns="0" rtlCol="0">
            <a:spAutoFit/>
          </a:bodyPr>
          <a:lstStyle/>
          <a:p>
            <a:pPr marL="92075">
              <a:lnSpc>
                <a:spcPct val="100000"/>
              </a:lnSpc>
              <a:spcBef>
                <a:spcPts val="320"/>
              </a:spcBef>
            </a:pPr>
            <a:r>
              <a:rPr sz="1800" spc="-5" dirty="0">
                <a:latin typeface="Arial"/>
                <a:cs typeface="Arial"/>
              </a:rPr>
              <a:t>Output</a:t>
            </a:r>
            <a:endParaRPr sz="1800">
              <a:latin typeface="Arial"/>
              <a:cs typeface="Arial"/>
            </a:endParaRPr>
          </a:p>
          <a:p>
            <a:pPr marL="92075">
              <a:lnSpc>
                <a:spcPct val="100000"/>
              </a:lnSpc>
            </a:pPr>
            <a:r>
              <a:rPr sz="1800" b="1" dirty="0">
                <a:latin typeface="Arial"/>
                <a:cs typeface="Arial"/>
              </a:rPr>
              <a:t>Count:</a:t>
            </a:r>
            <a:r>
              <a:rPr sz="1800" b="1" spc="-15" dirty="0">
                <a:latin typeface="Arial"/>
                <a:cs typeface="Arial"/>
              </a:rPr>
              <a:t> </a:t>
            </a:r>
            <a:r>
              <a:rPr sz="1800" b="1" spc="-5" dirty="0">
                <a:latin typeface="Arial"/>
                <a:cs typeface="Arial"/>
              </a:rPr>
              <a:t>6</a:t>
            </a:r>
            <a:endParaRPr sz="1800">
              <a:latin typeface="Arial"/>
              <a:cs typeface="Arial"/>
            </a:endParaRPr>
          </a:p>
        </p:txBody>
      </p:sp>
      <p:sp>
        <p:nvSpPr>
          <p:cNvPr id="8" name="object 8"/>
          <p:cNvSpPr txBox="1"/>
          <p:nvPr/>
        </p:nvSpPr>
        <p:spPr>
          <a:xfrm>
            <a:off x="262229" y="6314643"/>
            <a:ext cx="223520" cy="23939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FFFFFF"/>
                </a:solidFill>
                <a:latin typeface="Arial"/>
                <a:cs typeface="Arial"/>
              </a:rPr>
              <a:t>13</a:t>
            </a:r>
            <a:endParaRPr sz="1400">
              <a:latin typeface="Arial"/>
              <a:cs typeface="Arial"/>
            </a:endParaRPr>
          </a:p>
        </p:txBody>
      </p:sp>
      <p:sp>
        <p:nvSpPr>
          <p:cNvPr id="3" name="object 2">
            <a:extLst>
              <a:ext uri="{FF2B5EF4-FFF2-40B4-BE49-F238E27FC236}">
                <a16:creationId xmlns:a16="http://schemas.microsoft.com/office/drawing/2014/main" id="{46FAE854-159B-C1D8-A301-ADFFB9172194}"/>
              </a:ext>
            </a:extLst>
          </p:cNvPr>
          <p:cNvSpPr txBox="1">
            <a:spLocks noGrp="1"/>
          </p:cNvSpPr>
          <p:nvPr>
            <p:ph type="title"/>
          </p:nvPr>
        </p:nvSpPr>
        <p:spPr>
          <a:xfrm>
            <a:off x="2133600" y="76200"/>
            <a:ext cx="4114800" cy="443711"/>
          </a:xfrm>
          <a:prstGeom prst="rect">
            <a:avLst/>
          </a:prstGeom>
        </p:spPr>
        <p:txBody>
          <a:bodyPr vert="horz" wrap="square" lIns="0" tIns="12700" rIns="0" bIns="0" rtlCol="0">
            <a:spAutoFit/>
          </a:bodyPr>
          <a:lstStyle/>
          <a:p>
            <a:pPr marL="12700">
              <a:lnSpc>
                <a:spcPct val="100000"/>
              </a:lnSpc>
              <a:spcBef>
                <a:spcPts val="100"/>
              </a:spcBef>
            </a:pPr>
            <a:r>
              <a:rPr sz="2800" spc="-15" dirty="0">
                <a:solidFill>
                  <a:srgbClr val="000000"/>
                </a:solidFill>
                <a:latin typeface="Caladea"/>
                <a:cs typeface="Caladea"/>
              </a:rPr>
              <a:t>Overloading </a:t>
            </a:r>
            <a:r>
              <a:rPr sz="2800" spc="-5" dirty="0">
                <a:solidFill>
                  <a:srgbClr val="000000"/>
                </a:solidFill>
                <a:latin typeface="Caladea"/>
                <a:cs typeface="Caladea"/>
              </a:rPr>
              <a:t>Unary</a:t>
            </a:r>
            <a:r>
              <a:rPr sz="2800" spc="10" dirty="0">
                <a:solidFill>
                  <a:srgbClr val="000000"/>
                </a:solidFill>
                <a:latin typeface="Caladea"/>
                <a:cs typeface="Caladea"/>
              </a:rPr>
              <a:t> </a:t>
            </a:r>
            <a:r>
              <a:rPr sz="2800" spc="-20" dirty="0">
                <a:solidFill>
                  <a:srgbClr val="000000"/>
                </a:solidFill>
                <a:latin typeface="Caladea"/>
                <a:cs typeface="Caladea"/>
              </a:rPr>
              <a:t>Operator</a:t>
            </a:r>
            <a:endParaRPr sz="2800" dirty="0">
              <a:latin typeface="Caladea"/>
              <a:cs typeface="Calad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E2E3A-601C-5707-CFE0-4132A29072EE}"/>
              </a:ext>
            </a:extLst>
          </p:cNvPr>
          <p:cNvSpPr>
            <a:spLocks noGrp="1"/>
          </p:cNvSpPr>
          <p:nvPr>
            <p:ph type="title"/>
          </p:nvPr>
        </p:nvSpPr>
        <p:spPr>
          <a:xfrm>
            <a:off x="3429000" y="228600"/>
            <a:ext cx="5334000" cy="609600"/>
          </a:xfrm>
        </p:spPr>
        <p:txBody>
          <a:bodyPr>
            <a:normAutofit fontScale="90000"/>
          </a:bodyPr>
          <a:lstStyle/>
          <a:p>
            <a:r>
              <a:rPr lang="en-IN" dirty="0"/>
              <a:t>Example unary operator</a:t>
            </a:r>
          </a:p>
        </p:txBody>
      </p:sp>
      <p:sp>
        <p:nvSpPr>
          <p:cNvPr id="3" name="Content Placeholder 2">
            <a:extLst>
              <a:ext uri="{FF2B5EF4-FFF2-40B4-BE49-F238E27FC236}">
                <a16:creationId xmlns:a16="http://schemas.microsoft.com/office/drawing/2014/main" id="{193AFECF-6838-555B-0ED4-F2A116D4112B}"/>
              </a:ext>
            </a:extLst>
          </p:cNvPr>
          <p:cNvSpPr>
            <a:spLocks noGrp="1"/>
          </p:cNvSpPr>
          <p:nvPr>
            <p:ph idx="1"/>
          </p:nvPr>
        </p:nvSpPr>
        <p:spPr>
          <a:xfrm>
            <a:off x="457200" y="152400"/>
            <a:ext cx="5791200" cy="6477000"/>
          </a:xfrm>
        </p:spPr>
        <p:txBody>
          <a:bodyPr>
            <a:normAutofit fontScale="92500" lnSpcReduction="10000"/>
          </a:bodyPr>
          <a:lstStyle/>
          <a:p>
            <a:pPr marL="0" indent="0">
              <a:lnSpc>
                <a:spcPct val="120000"/>
              </a:lnSpc>
              <a:spcBef>
                <a:spcPts val="0"/>
              </a:spcBef>
              <a:buNone/>
            </a:pPr>
            <a:r>
              <a:rPr lang="en-IN" sz="1050" dirty="0"/>
              <a:t>#include &lt;iostream&gt;</a:t>
            </a:r>
          </a:p>
          <a:p>
            <a:pPr marL="0" indent="0">
              <a:lnSpc>
                <a:spcPct val="120000"/>
              </a:lnSpc>
              <a:spcBef>
                <a:spcPts val="0"/>
              </a:spcBef>
              <a:buNone/>
            </a:pPr>
            <a:r>
              <a:rPr lang="en-IN" sz="1050" dirty="0"/>
              <a:t>using namespace std;</a:t>
            </a:r>
          </a:p>
          <a:p>
            <a:pPr marL="0" indent="0">
              <a:lnSpc>
                <a:spcPct val="120000"/>
              </a:lnSpc>
              <a:spcBef>
                <a:spcPts val="0"/>
              </a:spcBef>
              <a:buNone/>
            </a:pPr>
            <a:r>
              <a:rPr lang="en-IN" sz="1050" dirty="0"/>
              <a:t>class Distance {</a:t>
            </a:r>
          </a:p>
          <a:p>
            <a:pPr marL="0" indent="0">
              <a:lnSpc>
                <a:spcPct val="120000"/>
              </a:lnSpc>
              <a:spcBef>
                <a:spcPts val="0"/>
              </a:spcBef>
              <a:buNone/>
            </a:pPr>
            <a:r>
              <a:rPr lang="en-IN" sz="1050" dirty="0"/>
              <a:t>   private:</a:t>
            </a:r>
          </a:p>
          <a:p>
            <a:pPr marL="0" indent="0">
              <a:lnSpc>
                <a:spcPct val="120000"/>
              </a:lnSpc>
              <a:spcBef>
                <a:spcPts val="0"/>
              </a:spcBef>
              <a:buNone/>
            </a:pPr>
            <a:r>
              <a:rPr lang="en-IN" sz="1050" dirty="0"/>
              <a:t>      int feet;             // 0 to infinite</a:t>
            </a:r>
          </a:p>
          <a:p>
            <a:pPr marL="0" indent="0">
              <a:lnSpc>
                <a:spcPct val="120000"/>
              </a:lnSpc>
              <a:spcBef>
                <a:spcPts val="0"/>
              </a:spcBef>
              <a:buNone/>
            </a:pPr>
            <a:r>
              <a:rPr lang="en-IN" sz="1050" dirty="0"/>
              <a:t>      int inches;           // 0 to 12</a:t>
            </a:r>
          </a:p>
          <a:p>
            <a:pPr marL="0" indent="0">
              <a:lnSpc>
                <a:spcPct val="120000"/>
              </a:lnSpc>
              <a:spcBef>
                <a:spcPts val="0"/>
              </a:spcBef>
              <a:buNone/>
            </a:pPr>
            <a:r>
              <a:rPr lang="en-IN" sz="1050" dirty="0"/>
              <a:t>     public:</a:t>
            </a:r>
          </a:p>
          <a:p>
            <a:pPr marL="0" indent="0">
              <a:lnSpc>
                <a:spcPct val="120000"/>
              </a:lnSpc>
              <a:spcBef>
                <a:spcPts val="0"/>
              </a:spcBef>
              <a:buNone/>
            </a:pPr>
            <a:r>
              <a:rPr lang="en-IN" sz="1050" dirty="0"/>
              <a:t>      // required constructors</a:t>
            </a:r>
          </a:p>
          <a:p>
            <a:pPr marL="0" indent="0">
              <a:lnSpc>
                <a:spcPct val="120000"/>
              </a:lnSpc>
              <a:spcBef>
                <a:spcPts val="0"/>
              </a:spcBef>
              <a:buNone/>
            </a:pPr>
            <a:r>
              <a:rPr lang="en-IN" sz="1050" dirty="0"/>
              <a:t>      Distance() {</a:t>
            </a:r>
          </a:p>
          <a:p>
            <a:pPr marL="0" indent="0">
              <a:lnSpc>
                <a:spcPct val="120000"/>
              </a:lnSpc>
              <a:spcBef>
                <a:spcPts val="0"/>
              </a:spcBef>
              <a:buNone/>
            </a:pPr>
            <a:r>
              <a:rPr lang="en-IN" sz="1050" dirty="0"/>
              <a:t>         feet = 0;</a:t>
            </a:r>
          </a:p>
          <a:p>
            <a:pPr marL="0" indent="0">
              <a:lnSpc>
                <a:spcPct val="120000"/>
              </a:lnSpc>
              <a:spcBef>
                <a:spcPts val="0"/>
              </a:spcBef>
              <a:buNone/>
            </a:pPr>
            <a:r>
              <a:rPr lang="en-IN" sz="1050" dirty="0"/>
              <a:t>         inches = 0;</a:t>
            </a:r>
          </a:p>
          <a:p>
            <a:pPr marL="0" indent="0">
              <a:lnSpc>
                <a:spcPct val="120000"/>
              </a:lnSpc>
              <a:spcBef>
                <a:spcPts val="0"/>
              </a:spcBef>
              <a:buNone/>
            </a:pPr>
            <a:r>
              <a:rPr lang="en-IN" sz="1050" dirty="0"/>
              <a:t>      }</a:t>
            </a:r>
          </a:p>
          <a:p>
            <a:pPr marL="0" indent="0">
              <a:lnSpc>
                <a:spcPct val="120000"/>
              </a:lnSpc>
              <a:spcBef>
                <a:spcPts val="0"/>
              </a:spcBef>
              <a:buNone/>
            </a:pPr>
            <a:r>
              <a:rPr lang="en-IN" sz="1050" dirty="0"/>
              <a:t>      Distance(int f, int </a:t>
            </a:r>
            <a:r>
              <a:rPr lang="en-IN" sz="1050" dirty="0" err="1"/>
              <a:t>i</a:t>
            </a:r>
            <a:r>
              <a:rPr lang="en-IN" sz="1050" dirty="0"/>
              <a:t>) {</a:t>
            </a:r>
          </a:p>
          <a:p>
            <a:pPr marL="0" indent="0">
              <a:lnSpc>
                <a:spcPct val="120000"/>
              </a:lnSpc>
              <a:spcBef>
                <a:spcPts val="0"/>
              </a:spcBef>
              <a:buNone/>
            </a:pPr>
            <a:r>
              <a:rPr lang="en-IN" sz="1050" dirty="0"/>
              <a:t>         feet = f;</a:t>
            </a:r>
          </a:p>
          <a:p>
            <a:pPr marL="0" indent="0">
              <a:lnSpc>
                <a:spcPct val="120000"/>
              </a:lnSpc>
              <a:spcBef>
                <a:spcPts val="0"/>
              </a:spcBef>
              <a:buNone/>
            </a:pPr>
            <a:r>
              <a:rPr lang="en-IN" sz="1050" dirty="0"/>
              <a:t>         inches = </a:t>
            </a:r>
            <a:r>
              <a:rPr lang="en-IN" sz="1050" dirty="0" err="1"/>
              <a:t>i</a:t>
            </a:r>
            <a:r>
              <a:rPr lang="en-IN" sz="1050" dirty="0"/>
              <a:t>;</a:t>
            </a:r>
          </a:p>
          <a:p>
            <a:pPr marL="0" indent="0">
              <a:lnSpc>
                <a:spcPct val="120000"/>
              </a:lnSpc>
              <a:spcBef>
                <a:spcPts val="0"/>
              </a:spcBef>
              <a:buNone/>
            </a:pPr>
            <a:r>
              <a:rPr lang="en-IN" sz="1050" dirty="0"/>
              <a:t>      }</a:t>
            </a:r>
          </a:p>
          <a:p>
            <a:pPr marL="0" indent="0">
              <a:lnSpc>
                <a:spcPct val="120000"/>
              </a:lnSpc>
              <a:spcBef>
                <a:spcPts val="0"/>
              </a:spcBef>
              <a:buNone/>
            </a:pPr>
            <a:r>
              <a:rPr lang="en-IN" sz="1050" dirty="0"/>
              <a:t>      // method to display distance</a:t>
            </a:r>
          </a:p>
          <a:p>
            <a:pPr marL="0" indent="0">
              <a:lnSpc>
                <a:spcPct val="120000"/>
              </a:lnSpc>
              <a:spcBef>
                <a:spcPts val="0"/>
              </a:spcBef>
              <a:buNone/>
            </a:pPr>
            <a:r>
              <a:rPr lang="en-IN" sz="1050" dirty="0"/>
              <a:t>      void </a:t>
            </a:r>
            <a:r>
              <a:rPr lang="en-IN" sz="1050" dirty="0" err="1"/>
              <a:t>displayDistance</a:t>
            </a:r>
            <a:r>
              <a:rPr lang="en-IN" sz="1050" dirty="0"/>
              <a:t>() {</a:t>
            </a:r>
          </a:p>
          <a:p>
            <a:pPr marL="0" indent="0">
              <a:lnSpc>
                <a:spcPct val="120000"/>
              </a:lnSpc>
              <a:spcBef>
                <a:spcPts val="0"/>
              </a:spcBef>
              <a:buNone/>
            </a:pPr>
            <a:r>
              <a:rPr lang="en-IN" sz="1050" dirty="0"/>
              <a:t>         </a:t>
            </a:r>
            <a:r>
              <a:rPr lang="en-IN" sz="1050" dirty="0" err="1"/>
              <a:t>cout</a:t>
            </a:r>
            <a:r>
              <a:rPr lang="en-IN" sz="1050" dirty="0"/>
              <a:t> &lt;&lt; "F: " &lt;&lt; feet &lt;&lt; " I:" &lt;&lt; inches &lt;&lt;</a:t>
            </a:r>
            <a:r>
              <a:rPr lang="en-IN" sz="1050" dirty="0" err="1"/>
              <a:t>endl</a:t>
            </a:r>
            <a:r>
              <a:rPr lang="en-IN" sz="1050" dirty="0"/>
              <a:t>;</a:t>
            </a:r>
          </a:p>
          <a:p>
            <a:pPr marL="0" indent="0">
              <a:lnSpc>
                <a:spcPct val="120000"/>
              </a:lnSpc>
              <a:spcBef>
                <a:spcPts val="0"/>
              </a:spcBef>
              <a:buNone/>
            </a:pPr>
            <a:r>
              <a:rPr lang="en-IN" sz="1050" dirty="0"/>
              <a:t>      }</a:t>
            </a:r>
          </a:p>
          <a:p>
            <a:pPr marL="0" indent="0">
              <a:lnSpc>
                <a:spcPct val="120000"/>
              </a:lnSpc>
              <a:spcBef>
                <a:spcPts val="0"/>
              </a:spcBef>
              <a:buNone/>
            </a:pPr>
            <a:r>
              <a:rPr lang="en-IN" sz="1050" dirty="0"/>
              <a:t>      // overloaded minus (-) operator</a:t>
            </a:r>
          </a:p>
          <a:p>
            <a:pPr marL="0" indent="0">
              <a:lnSpc>
                <a:spcPct val="120000"/>
              </a:lnSpc>
              <a:spcBef>
                <a:spcPts val="0"/>
              </a:spcBef>
              <a:buNone/>
            </a:pPr>
            <a:r>
              <a:rPr lang="en-IN" sz="1050" dirty="0"/>
              <a:t>      Distance operator- () {</a:t>
            </a:r>
          </a:p>
          <a:p>
            <a:pPr marL="0" indent="0">
              <a:lnSpc>
                <a:spcPct val="120000"/>
              </a:lnSpc>
              <a:spcBef>
                <a:spcPts val="0"/>
              </a:spcBef>
              <a:buNone/>
            </a:pPr>
            <a:r>
              <a:rPr lang="en-IN" sz="1050" dirty="0"/>
              <a:t>         feet = -feet;</a:t>
            </a:r>
          </a:p>
          <a:p>
            <a:pPr marL="0" indent="0">
              <a:lnSpc>
                <a:spcPct val="120000"/>
              </a:lnSpc>
              <a:spcBef>
                <a:spcPts val="0"/>
              </a:spcBef>
              <a:buNone/>
            </a:pPr>
            <a:r>
              <a:rPr lang="en-IN" sz="1050" dirty="0"/>
              <a:t>         inches = -inches;</a:t>
            </a:r>
          </a:p>
          <a:p>
            <a:pPr marL="0" indent="0">
              <a:lnSpc>
                <a:spcPct val="120000"/>
              </a:lnSpc>
              <a:spcBef>
                <a:spcPts val="0"/>
              </a:spcBef>
              <a:buNone/>
            </a:pPr>
            <a:r>
              <a:rPr lang="en-IN" sz="1050" dirty="0"/>
              <a:t>         return Distance(feet, inches);</a:t>
            </a:r>
          </a:p>
          <a:p>
            <a:pPr marL="0" indent="0">
              <a:lnSpc>
                <a:spcPct val="120000"/>
              </a:lnSpc>
              <a:spcBef>
                <a:spcPts val="0"/>
              </a:spcBef>
              <a:buNone/>
            </a:pPr>
            <a:r>
              <a:rPr lang="en-IN" sz="1050" dirty="0"/>
              <a:t>      }</a:t>
            </a:r>
          </a:p>
          <a:p>
            <a:pPr marL="0" indent="0">
              <a:lnSpc>
                <a:spcPct val="120000"/>
              </a:lnSpc>
              <a:spcBef>
                <a:spcPts val="0"/>
              </a:spcBef>
              <a:buNone/>
            </a:pPr>
            <a:r>
              <a:rPr lang="en-IN" sz="1050" dirty="0"/>
              <a:t>};</a:t>
            </a:r>
          </a:p>
          <a:p>
            <a:pPr marL="0" indent="0">
              <a:lnSpc>
                <a:spcPct val="120000"/>
              </a:lnSpc>
              <a:spcBef>
                <a:spcPts val="0"/>
              </a:spcBef>
              <a:buNone/>
            </a:pPr>
            <a:r>
              <a:rPr lang="en-IN" sz="1050" dirty="0"/>
              <a:t>int main() {</a:t>
            </a:r>
          </a:p>
          <a:p>
            <a:pPr marL="0" indent="0">
              <a:lnSpc>
                <a:spcPct val="120000"/>
              </a:lnSpc>
              <a:spcBef>
                <a:spcPts val="0"/>
              </a:spcBef>
              <a:buNone/>
            </a:pPr>
            <a:r>
              <a:rPr lang="en-IN" sz="1050" dirty="0"/>
              <a:t>   Distance D1(11, 10), D2(-5, 11);</a:t>
            </a:r>
          </a:p>
          <a:p>
            <a:pPr marL="0" indent="0">
              <a:lnSpc>
                <a:spcPct val="120000"/>
              </a:lnSpc>
              <a:spcBef>
                <a:spcPts val="0"/>
              </a:spcBef>
              <a:buNone/>
            </a:pPr>
            <a:r>
              <a:rPr lang="en-IN" sz="1050" dirty="0"/>
              <a:t> </a:t>
            </a:r>
          </a:p>
          <a:p>
            <a:pPr marL="0" indent="0">
              <a:lnSpc>
                <a:spcPct val="120000"/>
              </a:lnSpc>
              <a:spcBef>
                <a:spcPts val="0"/>
              </a:spcBef>
              <a:buNone/>
            </a:pPr>
            <a:r>
              <a:rPr lang="en-IN" sz="1050" dirty="0"/>
              <a:t>   -D1;                     // apply negation</a:t>
            </a:r>
          </a:p>
          <a:p>
            <a:pPr marL="0" indent="0">
              <a:lnSpc>
                <a:spcPct val="120000"/>
              </a:lnSpc>
              <a:spcBef>
                <a:spcPts val="0"/>
              </a:spcBef>
              <a:buNone/>
            </a:pPr>
            <a:r>
              <a:rPr lang="en-IN" sz="1050" dirty="0"/>
              <a:t>   D1.displayDistance();    // display D1</a:t>
            </a:r>
          </a:p>
          <a:p>
            <a:pPr marL="0" indent="0">
              <a:lnSpc>
                <a:spcPct val="120000"/>
              </a:lnSpc>
              <a:spcBef>
                <a:spcPts val="0"/>
              </a:spcBef>
              <a:buNone/>
            </a:pPr>
            <a:endParaRPr lang="en-IN" sz="1050" dirty="0"/>
          </a:p>
          <a:p>
            <a:pPr marL="0" indent="0">
              <a:lnSpc>
                <a:spcPct val="120000"/>
              </a:lnSpc>
              <a:spcBef>
                <a:spcPts val="0"/>
              </a:spcBef>
              <a:buNone/>
            </a:pPr>
            <a:r>
              <a:rPr lang="en-IN" sz="1050" dirty="0"/>
              <a:t>   -D2;                     // apply negation</a:t>
            </a:r>
          </a:p>
          <a:p>
            <a:pPr marL="0" indent="0">
              <a:lnSpc>
                <a:spcPct val="120000"/>
              </a:lnSpc>
              <a:spcBef>
                <a:spcPts val="0"/>
              </a:spcBef>
              <a:buNone/>
            </a:pPr>
            <a:r>
              <a:rPr lang="en-IN" sz="1050" dirty="0"/>
              <a:t>   D2.displayDistance();    // display D2</a:t>
            </a:r>
          </a:p>
          <a:p>
            <a:pPr marL="0" indent="0">
              <a:lnSpc>
                <a:spcPct val="120000"/>
              </a:lnSpc>
              <a:spcBef>
                <a:spcPts val="0"/>
              </a:spcBef>
              <a:buNone/>
            </a:pPr>
            <a:r>
              <a:rPr lang="en-IN" sz="1050" dirty="0"/>
              <a:t>   return 0;</a:t>
            </a:r>
          </a:p>
          <a:p>
            <a:pPr marL="0" indent="0">
              <a:lnSpc>
                <a:spcPct val="120000"/>
              </a:lnSpc>
              <a:spcBef>
                <a:spcPts val="0"/>
              </a:spcBef>
              <a:buNone/>
            </a:pPr>
            <a:r>
              <a:rPr lang="en-IN" sz="1050" dirty="0"/>
              <a:t>}</a:t>
            </a:r>
          </a:p>
        </p:txBody>
      </p:sp>
      <p:sp>
        <p:nvSpPr>
          <p:cNvPr id="6" name="TextBox 5">
            <a:extLst>
              <a:ext uri="{FF2B5EF4-FFF2-40B4-BE49-F238E27FC236}">
                <a16:creationId xmlns:a16="http://schemas.microsoft.com/office/drawing/2014/main" id="{07DF9B9A-89F4-74AA-A102-0D3CFB8E6B65}"/>
              </a:ext>
            </a:extLst>
          </p:cNvPr>
          <p:cNvSpPr txBox="1"/>
          <p:nvPr/>
        </p:nvSpPr>
        <p:spPr>
          <a:xfrm>
            <a:off x="6827520" y="4743271"/>
            <a:ext cx="2286000" cy="1200329"/>
          </a:xfrm>
          <a:prstGeom prst="rect">
            <a:avLst/>
          </a:prstGeom>
          <a:noFill/>
        </p:spPr>
        <p:txBody>
          <a:bodyPr wrap="square">
            <a:spAutoFit/>
          </a:bodyPr>
          <a:lstStyle/>
          <a:p>
            <a:r>
              <a:rPr lang="nn-NO" dirty="0"/>
              <a:t>Output:</a:t>
            </a:r>
          </a:p>
          <a:p>
            <a:endParaRPr lang="nn-NO" dirty="0"/>
          </a:p>
          <a:p>
            <a:r>
              <a:rPr lang="nn-NO" dirty="0"/>
              <a:t>F: -11 I:-10</a:t>
            </a:r>
          </a:p>
          <a:p>
            <a:r>
              <a:rPr lang="nn-NO" dirty="0"/>
              <a:t>F: 5 I:-11</a:t>
            </a:r>
            <a:endParaRPr lang="en-IN" dirty="0"/>
          </a:p>
        </p:txBody>
      </p:sp>
    </p:spTree>
    <p:extLst>
      <p:ext uri="{BB962C8B-B14F-4D97-AF65-F5344CB8AC3E}">
        <p14:creationId xmlns:p14="http://schemas.microsoft.com/office/powerpoint/2010/main" val="2091780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44B09-0893-E876-A22E-F07DEA81BEC7}"/>
              </a:ext>
            </a:extLst>
          </p:cNvPr>
          <p:cNvSpPr>
            <a:spLocks noGrp="1"/>
          </p:cNvSpPr>
          <p:nvPr>
            <p:ph type="title"/>
          </p:nvPr>
        </p:nvSpPr>
        <p:spPr>
          <a:xfrm>
            <a:off x="4876800" y="274638"/>
            <a:ext cx="3810000" cy="944562"/>
          </a:xfrm>
        </p:spPr>
        <p:txBody>
          <a:bodyPr>
            <a:normAutofit fontScale="90000"/>
          </a:bodyPr>
          <a:lstStyle/>
          <a:p>
            <a:r>
              <a:rPr lang="en-IN" sz="2800" dirty="0"/>
              <a:t>Binary operator overloading using Friend Function</a:t>
            </a:r>
          </a:p>
        </p:txBody>
      </p:sp>
      <p:sp>
        <p:nvSpPr>
          <p:cNvPr id="3" name="Content Placeholder 2">
            <a:extLst>
              <a:ext uri="{FF2B5EF4-FFF2-40B4-BE49-F238E27FC236}">
                <a16:creationId xmlns:a16="http://schemas.microsoft.com/office/drawing/2014/main" id="{EEBA55A4-81CE-58E1-59AC-635EED2428EF}"/>
              </a:ext>
            </a:extLst>
          </p:cNvPr>
          <p:cNvSpPr>
            <a:spLocks noGrp="1"/>
          </p:cNvSpPr>
          <p:nvPr>
            <p:ph idx="1"/>
          </p:nvPr>
        </p:nvSpPr>
        <p:spPr>
          <a:xfrm>
            <a:off x="457200" y="122237"/>
            <a:ext cx="4876800" cy="6583363"/>
          </a:xfrm>
        </p:spPr>
        <p:txBody>
          <a:bodyPr>
            <a:normAutofit lnSpcReduction="10000"/>
          </a:bodyPr>
          <a:lstStyle/>
          <a:p>
            <a:pPr marL="0" indent="0">
              <a:lnSpc>
                <a:spcPct val="120000"/>
              </a:lnSpc>
              <a:spcBef>
                <a:spcPts val="0"/>
              </a:spcBef>
              <a:buNone/>
            </a:pPr>
            <a:r>
              <a:rPr lang="en-US" sz="1000" dirty="0"/>
              <a:t>// C++ program to show binary  operator overloading using a Friend Function</a:t>
            </a:r>
          </a:p>
          <a:p>
            <a:pPr marL="0" indent="0">
              <a:lnSpc>
                <a:spcPct val="120000"/>
              </a:lnSpc>
              <a:spcBef>
                <a:spcPts val="0"/>
              </a:spcBef>
              <a:buNone/>
            </a:pPr>
            <a:r>
              <a:rPr lang="en-US" sz="1000" dirty="0"/>
              <a:t>#include &lt;iostream&gt;</a:t>
            </a:r>
          </a:p>
          <a:p>
            <a:pPr marL="0" indent="0">
              <a:lnSpc>
                <a:spcPct val="120000"/>
              </a:lnSpc>
              <a:spcBef>
                <a:spcPts val="0"/>
              </a:spcBef>
              <a:buNone/>
            </a:pPr>
            <a:r>
              <a:rPr lang="en-US" sz="1000" dirty="0"/>
              <a:t>using namespace std;</a:t>
            </a:r>
          </a:p>
          <a:p>
            <a:pPr marL="0" indent="0">
              <a:lnSpc>
                <a:spcPct val="120000"/>
              </a:lnSpc>
              <a:spcBef>
                <a:spcPts val="0"/>
              </a:spcBef>
              <a:buNone/>
            </a:pPr>
            <a:r>
              <a:rPr lang="en-US" sz="1000" dirty="0"/>
              <a:t>class Distance {</a:t>
            </a:r>
          </a:p>
          <a:p>
            <a:pPr marL="0" indent="0">
              <a:lnSpc>
                <a:spcPct val="120000"/>
              </a:lnSpc>
              <a:spcBef>
                <a:spcPts val="0"/>
              </a:spcBef>
              <a:buNone/>
            </a:pPr>
            <a:r>
              <a:rPr lang="en-US" sz="1000" dirty="0"/>
              <a:t>public:</a:t>
            </a:r>
          </a:p>
          <a:p>
            <a:pPr marL="0" indent="0">
              <a:lnSpc>
                <a:spcPct val="120000"/>
              </a:lnSpc>
              <a:spcBef>
                <a:spcPts val="0"/>
              </a:spcBef>
              <a:buNone/>
            </a:pPr>
            <a:r>
              <a:rPr lang="en-US" sz="1000" dirty="0"/>
              <a:t>	int feet, inch;</a:t>
            </a:r>
          </a:p>
          <a:p>
            <a:pPr marL="0" indent="0">
              <a:lnSpc>
                <a:spcPct val="120000"/>
              </a:lnSpc>
              <a:spcBef>
                <a:spcPts val="0"/>
              </a:spcBef>
              <a:buNone/>
            </a:pPr>
            <a:r>
              <a:rPr lang="en-US" sz="1000" dirty="0"/>
              <a:t>	Distance()</a:t>
            </a:r>
          </a:p>
          <a:p>
            <a:pPr marL="0" indent="0">
              <a:lnSpc>
                <a:spcPct val="120000"/>
              </a:lnSpc>
              <a:spcBef>
                <a:spcPts val="0"/>
              </a:spcBef>
              <a:buNone/>
            </a:pPr>
            <a:r>
              <a:rPr lang="en-US" sz="1000" dirty="0"/>
              <a:t>	{</a:t>
            </a:r>
          </a:p>
          <a:p>
            <a:pPr marL="0" indent="0">
              <a:lnSpc>
                <a:spcPct val="120000"/>
              </a:lnSpc>
              <a:spcBef>
                <a:spcPts val="0"/>
              </a:spcBef>
              <a:buNone/>
            </a:pPr>
            <a:r>
              <a:rPr lang="en-US" sz="1000" dirty="0"/>
              <a:t>	this-&gt;feet = 0;</a:t>
            </a:r>
          </a:p>
          <a:p>
            <a:pPr marL="0" indent="0">
              <a:lnSpc>
                <a:spcPct val="120000"/>
              </a:lnSpc>
              <a:spcBef>
                <a:spcPts val="0"/>
              </a:spcBef>
              <a:buNone/>
            </a:pPr>
            <a:r>
              <a:rPr lang="en-US" sz="1000" dirty="0"/>
              <a:t>	this-&gt;inch = 0;</a:t>
            </a:r>
          </a:p>
          <a:p>
            <a:pPr marL="0" indent="0">
              <a:lnSpc>
                <a:spcPct val="120000"/>
              </a:lnSpc>
              <a:spcBef>
                <a:spcPts val="0"/>
              </a:spcBef>
              <a:buNone/>
            </a:pPr>
            <a:r>
              <a:rPr lang="en-US" sz="1000" dirty="0"/>
              <a:t>	}</a:t>
            </a:r>
          </a:p>
          <a:p>
            <a:pPr marL="0" indent="0">
              <a:lnSpc>
                <a:spcPct val="120000"/>
              </a:lnSpc>
              <a:spcBef>
                <a:spcPts val="0"/>
              </a:spcBef>
              <a:buNone/>
            </a:pPr>
            <a:r>
              <a:rPr lang="en-US" sz="1000" dirty="0"/>
              <a:t>	Distance(int f, int </a:t>
            </a:r>
            <a:r>
              <a:rPr lang="en-US" sz="1000" dirty="0" err="1"/>
              <a:t>i</a:t>
            </a:r>
            <a:r>
              <a:rPr lang="en-US" sz="1000" dirty="0"/>
              <a:t>)</a:t>
            </a:r>
          </a:p>
          <a:p>
            <a:pPr marL="0" indent="0">
              <a:lnSpc>
                <a:spcPct val="120000"/>
              </a:lnSpc>
              <a:spcBef>
                <a:spcPts val="0"/>
              </a:spcBef>
              <a:buNone/>
            </a:pPr>
            <a:r>
              <a:rPr lang="en-US" sz="1000" dirty="0"/>
              <a:t>	{</a:t>
            </a:r>
          </a:p>
          <a:p>
            <a:pPr marL="0" indent="0">
              <a:lnSpc>
                <a:spcPct val="120000"/>
              </a:lnSpc>
              <a:spcBef>
                <a:spcPts val="0"/>
              </a:spcBef>
              <a:buNone/>
            </a:pPr>
            <a:r>
              <a:rPr lang="en-US" sz="1000" dirty="0"/>
              <a:t>	this-&gt;feet = f;</a:t>
            </a:r>
          </a:p>
          <a:p>
            <a:pPr marL="0" indent="0">
              <a:lnSpc>
                <a:spcPct val="120000"/>
              </a:lnSpc>
              <a:spcBef>
                <a:spcPts val="0"/>
              </a:spcBef>
              <a:buNone/>
            </a:pPr>
            <a:r>
              <a:rPr lang="en-US" sz="1000" dirty="0"/>
              <a:t>	this-&gt;inch = </a:t>
            </a:r>
            <a:r>
              <a:rPr lang="en-US" sz="1000" dirty="0" err="1"/>
              <a:t>i</a:t>
            </a:r>
            <a:r>
              <a:rPr lang="en-US" sz="1000" dirty="0"/>
              <a:t>;</a:t>
            </a:r>
          </a:p>
          <a:p>
            <a:pPr marL="0" indent="0">
              <a:lnSpc>
                <a:spcPct val="120000"/>
              </a:lnSpc>
              <a:spcBef>
                <a:spcPts val="0"/>
              </a:spcBef>
              <a:buNone/>
            </a:pPr>
            <a:r>
              <a:rPr lang="en-US" sz="1000" dirty="0"/>
              <a:t>	}</a:t>
            </a:r>
          </a:p>
          <a:p>
            <a:pPr marL="0" indent="0">
              <a:lnSpc>
                <a:spcPct val="120000"/>
              </a:lnSpc>
              <a:spcBef>
                <a:spcPts val="0"/>
              </a:spcBef>
              <a:buNone/>
            </a:pPr>
            <a:r>
              <a:rPr lang="en-US" sz="1000" dirty="0"/>
              <a:t>// Declaring friend function  using friend keyword</a:t>
            </a:r>
          </a:p>
          <a:p>
            <a:pPr marL="0" indent="0">
              <a:lnSpc>
                <a:spcPct val="120000"/>
              </a:lnSpc>
              <a:spcBef>
                <a:spcPts val="0"/>
              </a:spcBef>
              <a:buNone/>
            </a:pPr>
            <a:r>
              <a:rPr lang="en-US" sz="1000" dirty="0"/>
              <a:t>friend Distance operator + (Distance&amp;, Distance&amp;);</a:t>
            </a:r>
          </a:p>
          <a:p>
            <a:pPr marL="0" indent="0">
              <a:lnSpc>
                <a:spcPct val="120000"/>
              </a:lnSpc>
              <a:spcBef>
                <a:spcPts val="0"/>
              </a:spcBef>
              <a:buNone/>
            </a:pPr>
            <a:r>
              <a:rPr lang="en-US" sz="1000" dirty="0"/>
              <a:t>};</a:t>
            </a:r>
          </a:p>
          <a:p>
            <a:pPr marL="0" indent="0">
              <a:lnSpc>
                <a:spcPct val="120000"/>
              </a:lnSpc>
              <a:spcBef>
                <a:spcPts val="0"/>
              </a:spcBef>
              <a:buNone/>
            </a:pPr>
            <a:r>
              <a:rPr lang="en-US" sz="1000" dirty="0"/>
              <a:t>// Implementing friend function with two parameters Call by reference</a:t>
            </a:r>
          </a:p>
          <a:p>
            <a:pPr marL="0" indent="0">
              <a:lnSpc>
                <a:spcPct val="120000"/>
              </a:lnSpc>
              <a:spcBef>
                <a:spcPts val="0"/>
              </a:spcBef>
              <a:buNone/>
            </a:pPr>
            <a:r>
              <a:rPr lang="en-US" sz="1000" dirty="0"/>
              <a:t>Distance operator+(Distance&amp; d1, Distance&amp; d2)</a:t>
            </a:r>
          </a:p>
          <a:p>
            <a:pPr marL="0" indent="0">
              <a:lnSpc>
                <a:spcPct val="120000"/>
              </a:lnSpc>
              <a:spcBef>
                <a:spcPts val="0"/>
              </a:spcBef>
              <a:buNone/>
            </a:pPr>
            <a:r>
              <a:rPr lang="en-US" sz="1000" dirty="0"/>
              <a:t>{</a:t>
            </a:r>
          </a:p>
          <a:p>
            <a:pPr marL="0" indent="0">
              <a:lnSpc>
                <a:spcPct val="120000"/>
              </a:lnSpc>
              <a:spcBef>
                <a:spcPts val="0"/>
              </a:spcBef>
              <a:buNone/>
            </a:pPr>
            <a:r>
              <a:rPr lang="en-US" sz="1000" dirty="0"/>
              <a:t>	Distance d3;</a:t>
            </a:r>
          </a:p>
          <a:p>
            <a:pPr marL="0" indent="0">
              <a:lnSpc>
                <a:spcPct val="120000"/>
              </a:lnSpc>
              <a:spcBef>
                <a:spcPts val="0"/>
              </a:spcBef>
              <a:buNone/>
            </a:pPr>
            <a:r>
              <a:rPr lang="en-US" sz="1000" dirty="0"/>
              <a:t>	d3.feet = d1.feet + d2.feet;</a:t>
            </a:r>
          </a:p>
          <a:p>
            <a:pPr marL="0" indent="0">
              <a:lnSpc>
                <a:spcPct val="120000"/>
              </a:lnSpc>
              <a:spcBef>
                <a:spcPts val="0"/>
              </a:spcBef>
              <a:buNone/>
            </a:pPr>
            <a:r>
              <a:rPr lang="en-US" sz="1000" dirty="0"/>
              <a:t>	d3.inch = d1.inch + d2.inch;</a:t>
            </a:r>
          </a:p>
          <a:p>
            <a:pPr marL="0" indent="0">
              <a:lnSpc>
                <a:spcPct val="120000"/>
              </a:lnSpc>
              <a:spcBef>
                <a:spcPts val="0"/>
              </a:spcBef>
              <a:buNone/>
            </a:pPr>
            <a:r>
              <a:rPr lang="en-US" sz="1000" dirty="0"/>
              <a:t>	return d3;</a:t>
            </a:r>
          </a:p>
          <a:p>
            <a:pPr marL="0" indent="0">
              <a:lnSpc>
                <a:spcPct val="120000"/>
              </a:lnSpc>
              <a:spcBef>
                <a:spcPts val="0"/>
              </a:spcBef>
              <a:buNone/>
            </a:pPr>
            <a:r>
              <a:rPr lang="en-US" sz="1000" dirty="0"/>
              <a:t>}</a:t>
            </a:r>
          </a:p>
          <a:p>
            <a:pPr marL="0" indent="0">
              <a:lnSpc>
                <a:spcPct val="120000"/>
              </a:lnSpc>
              <a:spcBef>
                <a:spcPts val="0"/>
              </a:spcBef>
              <a:buNone/>
            </a:pPr>
            <a:r>
              <a:rPr lang="en-US" sz="1000" dirty="0"/>
              <a:t>int main()</a:t>
            </a:r>
          </a:p>
          <a:p>
            <a:pPr marL="0" indent="0">
              <a:lnSpc>
                <a:spcPct val="120000"/>
              </a:lnSpc>
              <a:spcBef>
                <a:spcPts val="0"/>
              </a:spcBef>
              <a:buNone/>
            </a:pPr>
            <a:r>
              <a:rPr lang="en-US" sz="1000" dirty="0"/>
              <a:t>{</a:t>
            </a:r>
          </a:p>
          <a:p>
            <a:pPr marL="0" indent="0">
              <a:lnSpc>
                <a:spcPct val="120000"/>
              </a:lnSpc>
              <a:spcBef>
                <a:spcPts val="0"/>
              </a:spcBef>
              <a:buNone/>
            </a:pPr>
            <a:r>
              <a:rPr lang="en-US" sz="1000" dirty="0"/>
              <a:t>	Distance d1(8, 9);</a:t>
            </a:r>
          </a:p>
          <a:p>
            <a:pPr marL="0" indent="0">
              <a:lnSpc>
                <a:spcPct val="120000"/>
              </a:lnSpc>
              <a:spcBef>
                <a:spcPts val="0"/>
              </a:spcBef>
              <a:buNone/>
            </a:pPr>
            <a:r>
              <a:rPr lang="en-US" sz="1000" dirty="0"/>
              <a:t>	Distance d2(10, 2);</a:t>
            </a:r>
          </a:p>
          <a:p>
            <a:pPr marL="0" indent="0">
              <a:lnSpc>
                <a:spcPct val="120000"/>
              </a:lnSpc>
              <a:spcBef>
                <a:spcPts val="0"/>
              </a:spcBef>
              <a:buNone/>
            </a:pPr>
            <a:r>
              <a:rPr lang="en-US" sz="1000" dirty="0"/>
              <a:t>	Distance d3;</a:t>
            </a:r>
          </a:p>
          <a:p>
            <a:pPr marL="0" indent="0">
              <a:lnSpc>
                <a:spcPct val="120000"/>
              </a:lnSpc>
              <a:spcBef>
                <a:spcPts val="0"/>
              </a:spcBef>
              <a:buNone/>
            </a:pPr>
            <a:r>
              <a:rPr lang="en-US" sz="1000" dirty="0"/>
              <a:t>	// Use overloaded operator</a:t>
            </a:r>
          </a:p>
          <a:p>
            <a:pPr marL="0" indent="0">
              <a:lnSpc>
                <a:spcPct val="120000"/>
              </a:lnSpc>
              <a:spcBef>
                <a:spcPts val="0"/>
              </a:spcBef>
              <a:buNone/>
            </a:pPr>
            <a:r>
              <a:rPr lang="en-US" sz="1000" dirty="0"/>
              <a:t>	d3 = d1 + d2;</a:t>
            </a:r>
          </a:p>
          <a:p>
            <a:pPr marL="0" indent="0">
              <a:lnSpc>
                <a:spcPct val="120000"/>
              </a:lnSpc>
              <a:spcBef>
                <a:spcPts val="0"/>
              </a:spcBef>
              <a:buNone/>
            </a:pPr>
            <a:r>
              <a:rPr lang="en-US" sz="1000" dirty="0"/>
              <a:t>	</a:t>
            </a:r>
            <a:r>
              <a:rPr lang="en-US" sz="1000" dirty="0" err="1"/>
              <a:t>cout</a:t>
            </a:r>
            <a:r>
              <a:rPr lang="en-US" sz="1000" dirty="0"/>
              <a:t> &lt;&lt; "\</a:t>
            </a:r>
            <a:r>
              <a:rPr lang="en-US" sz="1000" dirty="0" err="1"/>
              <a:t>nTotal</a:t>
            </a:r>
            <a:r>
              <a:rPr lang="en-US" sz="1000" dirty="0"/>
              <a:t> Feet &amp; Inches: " &lt;&lt; d3.feet &lt;&lt; "'" &lt;&lt; d3.inch;</a:t>
            </a:r>
          </a:p>
          <a:p>
            <a:pPr marL="0" indent="0">
              <a:lnSpc>
                <a:spcPct val="120000"/>
              </a:lnSpc>
              <a:spcBef>
                <a:spcPts val="0"/>
              </a:spcBef>
              <a:buNone/>
            </a:pPr>
            <a:r>
              <a:rPr lang="en-US" sz="1000" dirty="0"/>
              <a:t>	return 0;</a:t>
            </a:r>
          </a:p>
          <a:p>
            <a:pPr marL="0" indent="0">
              <a:lnSpc>
                <a:spcPct val="120000"/>
              </a:lnSpc>
              <a:spcBef>
                <a:spcPts val="0"/>
              </a:spcBef>
              <a:buNone/>
            </a:pPr>
            <a:r>
              <a:rPr lang="en-US" sz="1000" dirty="0"/>
              <a:t>}</a:t>
            </a:r>
          </a:p>
        </p:txBody>
      </p:sp>
      <p:sp>
        <p:nvSpPr>
          <p:cNvPr id="5" name="TextBox 4">
            <a:extLst>
              <a:ext uri="{FF2B5EF4-FFF2-40B4-BE49-F238E27FC236}">
                <a16:creationId xmlns:a16="http://schemas.microsoft.com/office/drawing/2014/main" id="{53FD96A9-842E-BD9F-7229-4E39588A9F10}"/>
              </a:ext>
            </a:extLst>
          </p:cNvPr>
          <p:cNvSpPr txBox="1"/>
          <p:nvPr/>
        </p:nvSpPr>
        <p:spPr>
          <a:xfrm>
            <a:off x="5486400" y="5562600"/>
            <a:ext cx="3352800" cy="646331"/>
          </a:xfrm>
          <a:prstGeom prst="rect">
            <a:avLst/>
          </a:prstGeom>
          <a:noFill/>
        </p:spPr>
        <p:txBody>
          <a:bodyPr wrap="square">
            <a:spAutoFit/>
          </a:bodyPr>
          <a:lstStyle/>
          <a:p>
            <a:r>
              <a:rPr lang="en-US" dirty="0"/>
              <a:t>Output</a:t>
            </a:r>
          </a:p>
          <a:p>
            <a:r>
              <a:rPr lang="en-US" dirty="0"/>
              <a:t>Total Feet &amp; Inches: 18'11</a:t>
            </a:r>
            <a:endParaRPr lang="en-IN" dirty="0"/>
          </a:p>
        </p:txBody>
      </p:sp>
    </p:spTree>
    <p:extLst>
      <p:ext uri="{BB962C8B-B14F-4D97-AF65-F5344CB8AC3E}">
        <p14:creationId xmlns:p14="http://schemas.microsoft.com/office/powerpoint/2010/main" val="1051515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172923"/>
            <a:ext cx="991869" cy="574675"/>
          </a:xfrm>
          <a:prstGeom prst="rect">
            <a:avLst/>
          </a:prstGeom>
        </p:spPr>
        <p:txBody>
          <a:bodyPr vert="horz" wrap="square" lIns="0" tIns="12700" rIns="0" bIns="0" rtlCol="0">
            <a:spAutoFit/>
          </a:bodyPr>
          <a:lstStyle/>
          <a:p>
            <a:pPr marL="12700">
              <a:lnSpc>
                <a:spcPct val="100000"/>
              </a:lnSpc>
              <a:spcBef>
                <a:spcPts val="100"/>
              </a:spcBef>
            </a:pPr>
            <a:r>
              <a:rPr sz="3600" dirty="0"/>
              <a:t>Note</a:t>
            </a:r>
            <a:endParaRPr sz="3600"/>
          </a:p>
        </p:txBody>
      </p:sp>
      <p:sp>
        <p:nvSpPr>
          <p:cNvPr id="3" name="object 3"/>
          <p:cNvSpPr txBox="1"/>
          <p:nvPr/>
        </p:nvSpPr>
        <p:spPr>
          <a:xfrm>
            <a:off x="383540" y="786130"/>
            <a:ext cx="8152130" cy="5697072"/>
          </a:xfrm>
          <a:prstGeom prst="rect">
            <a:avLst/>
          </a:prstGeom>
        </p:spPr>
        <p:txBody>
          <a:bodyPr vert="horz" wrap="square" lIns="0" tIns="13335" rIns="0" bIns="0" rtlCol="0">
            <a:spAutoFit/>
          </a:bodyPr>
          <a:lstStyle/>
          <a:p>
            <a:pPr marL="354965" marR="188595" indent="-342900">
              <a:lnSpc>
                <a:spcPct val="89400"/>
              </a:lnSpc>
              <a:spcBef>
                <a:spcPts val="355"/>
              </a:spcBef>
              <a:buClr>
                <a:srgbClr val="D24717"/>
              </a:buClr>
              <a:buSzPct val="83928"/>
              <a:buFont typeface="Arial" panose="020B0604020202020204" pitchFamily="34" charset="0"/>
              <a:buChar char="•"/>
              <a:tabLst>
                <a:tab pos="287020" algn="l"/>
              </a:tabLst>
            </a:pPr>
            <a:r>
              <a:rPr sz="2500" dirty="0">
                <a:ln w="0"/>
                <a:effectLst>
                  <a:outerShdw blurRad="38100" dist="19050" dir="2700000" algn="tl" rotWithShape="0">
                    <a:schemeClr val="dk1">
                      <a:alpha val="40000"/>
                    </a:schemeClr>
                  </a:outerShdw>
                </a:effectLst>
              </a:rPr>
              <a:t>Operator overloading cannot be used to change the</a:t>
            </a:r>
            <a:r>
              <a:rPr lang="en-IN" sz="2500" dirty="0">
                <a:ln w="0"/>
                <a:effectLst>
                  <a:outerShdw blurRad="38100" dist="19050" dir="2700000" algn="tl" rotWithShape="0">
                    <a:schemeClr val="dk1">
                      <a:alpha val="40000"/>
                    </a:schemeClr>
                  </a:outerShdw>
                </a:effectLst>
              </a:rPr>
              <a:t> </a:t>
            </a:r>
            <a:r>
              <a:rPr sz="2500" dirty="0">
                <a:ln w="0"/>
                <a:effectLst>
                  <a:outerShdw blurRad="38100" dist="19050" dir="2700000" algn="tl" rotWithShape="0">
                    <a:schemeClr val="dk1">
                      <a:alpha val="40000"/>
                    </a:schemeClr>
                  </a:outerShdw>
                </a:effectLst>
              </a:rPr>
              <a:t>way operator works on built-in types. Operator</a:t>
            </a:r>
            <a:r>
              <a:rPr lang="en-IN" sz="2500" dirty="0">
                <a:ln w="0"/>
                <a:effectLst>
                  <a:outerShdw blurRad="38100" dist="19050" dir="2700000" algn="tl" rotWithShape="0">
                    <a:schemeClr val="dk1">
                      <a:alpha val="40000"/>
                    </a:schemeClr>
                  </a:outerShdw>
                </a:effectLst>
              </a:rPr>
              <a:t> </a:t>
            </a:r>
            <a:r>
              <a:rPr sz="2500" dirty="0">
                <a:ln w="0"/>
                <a:effectLst>
                  <a:outerShdw blurRad="38100" dist="19050" dir="2700000" algn="tl" rotWithShape="0">
                    <a:schemeClr val="dk1">
                      <a:alpha val="40000"/>
                    </a:schemeClr>
                  </a:outerShdw>
                </a:effectLst>
              </a:rPr>
              <a:t>overloading only allows </a:t>
            </a:r>
            <a:r>
              <a:rPr lang="en-IN" sz="2500" dirty="0">
                <a:ln w="0"/>
                <a:effectLst>
                  <a:outerShdw blurRad="38100" dist="19050" dir="2700000" algn="tl" rotWithShape="0">
                    <a:schemeClr val="dk1">
                      <a:alpha val="40000"/>
                    </a:schemeClr>
                  </a:outerShdw>
                </a:effectLst>
              </a:rPr>
              <a:t>redefining</a:t>
            </a:r>
            <a:r>
              <a:rPr sz="2500" dirty="0">
                <a:ln w="0"/>
                <a:effectLst>
                  <a:outerShdw blurRad="38100" dist="19050" dir="2700000" algn="tl" rotWithShape="0">
                    <a:schemeClr val="dk1">
                      <a:alpha val="40000"/>
                    </a:schemeClr>
                  </a:outerShdw>
                </a:effectLst>
              </a:rPr>
              <a:t> the meaning of</a:t>
            </a:r>
            <a:r>
              <a:rPr lang="en-IN" sz="2500" dirty="0">
                <a:ln w="0"/>
                <a:effectLst>
                  <a:outerShdw blurRad="38100" dist="19050" dir="2700000" algn="tl" rotWithShape="0">
                    <a:schemeClr val="dk1">
                      <a:alpha val="40000"/>
                    </a:schemeClr>
                  </a:outerShdw>
                </a:effectLst>
              </a:rPr>
              <a:t> </a:t>
            </a:r>
            <a:r>
              <a:rPr sz="2500" dirty="0">
                <a:ln w="0"/>
                <a:effectLst>
                  <a:outerShdw blurRad="38100" dist="19050" dir="2700000" algn="tl" rotWithShape="0">
                    <a:schemeClr val="dk1">
                      <a:alpha val="40000"/>
                    </a:schemeClr>
                  </a:outerShdw>
                </a:effectLst>
              </a:rPr>
              <a:t>operator for user-defined types.</a:t>
            </a:r>
          </a:p>
          <a:p>
            <a:pPr marL="354965" marR="188595" indent="-342900">
              <a:lnSpc>
                <a:spcPct val="89400"/>
              </a:lnSpc>
              <a:spcBef>
                <a:spcPts val="355"/>
              </a:spcBef>
              <a:buClr>
                <a:srgbClr val="D24717"/>
              </a:buClr>
              <a:buSzPct val="83928"/>
              <a:buFont typeface="Arial" panose="020B0604020202020204" pitchFamily="34" charset="0"/>
              <a:buChar char="•"/>
              <a:tabLst>
                <a:tab pos="287020" algn="l"/>
              </a:tabLst>
            </a:pPr>
            <a:r>
              <a:rPr sz="2500" dirty="0">
                <a:ln w="0"/>
                <a:effectLst>
                  <a:outerShdw blurRad="38100" dist="19050" dir="2700000" algn="tl" rotWithShape="0">
                    <a:schemeClr val="dk1">
                      <a:alpha val="40000"/>
                    </a:schemeClr>
                  </a:outerShdw>
                </a:effectLst>
              </a:rPr>
              <a:t>There are two operators assignment operator(=) and  address operator(&amp;) which does not need to be  overloaded. Because these two operators are already</a:t>
            </a:r>
            <a:r>
              <a:rPr lang="en-IN" sz="2500" dirty="0">
                <a:ln w="0"/>
                <a:effectLst>
                  <a:outerShdw blurRad="38100" dist="19050" dir="2700000" algn="tl" rotWithShape="0">
                    <a:schemeClr val="dk1">
                      <a:alpha val="40000"/>
                    </a:schemeClr>
                  </a:outerShdw>
                </a:effectLst>
              </a:rPr>
              <a:t> </a:t>
            </a:r>
            <a:r>
              <a:rPr sz="2500" dirty="0">
                <a:ln w="0"/>
                <a:effectLst>
                  <a:outerShdw blurRad="38100" dist="19050" dir="2700000" algn="tl" rotWithShape="0">
                    <a:schemeClr val="dk1">
                      <a:alpha val="40000"/>
                    </a:schemeClr>
                  </a:outerShdw>
                </a:effectLst>
              </a:rPr>
              <a:t>overloaded in </a:t>
            </a:r>
            <a:r>
              <a:rPr lang="en-IN" sz="2500" dirty="0">
                <a:ln w="0"/>
                <a:effectLst>
                  <a:outerShdw blurRad="38100" dist="19050" dir="2700000" algn="tl" rotWithShape="0">
                    <a:schemeClr val="dk1">
                      <a:alpha val="40000"/>
                    </a:schemeClr>
                  </a:outerShdw>
                </a:effectLst>
              </a:rPr>
              <a:t>the </a:t>
            </a:r>
            <a:r>
              <a:rPr sz="2500" dirty="0">
                <a:ln w="0"/>
                <a:effectLst>
                  <a:outerShdw blurRad="38100" dist="19050" dir="2700000" algn="tl" rotWithShape="0">
                    <a:schemeClr val="dk1">
                      <a:alpha val="40000"/>
                    </a:schemeClr>
                  </a:outerShdw>
                </a:effectLst>
              </a:rPr>
              <a:t>C++ library. </a:t>
            </a:r>
            <a:endParaRPr lang="en-IN" sz="2500" dirty="0">
              <a:ln w="0"/>
              <a:effectLst>
                <a:outerShdw blurRad="38100" dist="19050" dir="2700000" algn="tl" rotWithShape="0">
                  <a:schemeClr val="dk1">
                    <a:alpha val="40000"/>
                  </a:schemeClr>
                </a:outerShdw>
              </a:effectLst>
            </a:endParaRPr>
          </a:p>
          <a:p>
            <a:pPr marL="354965" marR="188595" indent="-342900">
              <a:lnSpc>
                <a:spcPct val="89400"/>
              </a:lnSpc>
              <a:spcBef>
                <a:spcPts val="355"/>
              </a:spcBef>
              <a:buClr>
                <a:srgbClr val="D24717"/>
              </a:buClr>
              <a:buSzPct val="83928"/>
              <a:buFont typeface="Arial" panose="020B0604020202020204" pitchFamily="34" charset="0"/>
              <a:buChar char="•"/>
              <a:tabLst>
                <a:tab pos="287020" algn="l"/>
              </a:tabLst>
            </a:pPr>
            <a:r>
              <a:rPr sz="2500" dirty="0">
                <a:ln w="0"/>
                <a:effectLst>
                  <a:outerShdw blurRad="38100" dist="19050" dir="2700000" algn="tl" rotWithShape="0">
                    <a:schemeClr val="dk1">
                      <a:alpha val="40000"/>
                    </a:schemeClr>
                  </a:outerShdw>
                </a:effectLst>
              </a:rPr>
              <a:t>For example: If obj1 and  obj2 are two objects of </a:t>
            </a:r>
            <a:r>
              <a:rPr lang="en-IN" sz="2500" dirty="0">
                <a:ln w="0"/>
                <a:effectLst>
                  <a:outerShdw blurRad="38100" dist="19050" dir="2700000" algn="tl" rotWithShape="0">
                    <a:schemeClr val="dk1">
                      <a:alpha val="40000"/>
                    </a:schemeClr>
                  </a:outerShdw>
                </a:effectLst>
              </a:rPr>
              <a:t>the </a:t>
            </a:r>
            <a:r>
              <a:rPr sz="2500" dirty="0">
                <a:ln w="0"/>
                <a:effectLst>
                  <a:outerShdw blurRad="38100" dist="19050" dir="2700000" algn="tl" rotWithShape="0">
                    <a:schemeClr val="dk1">
                      <a:alpha val="40000"/>
                    </a:schemeClr>
                  </a:outerShdw>
                </a:effectLst>
              </a:rPr>
              <a:t>same class then, you can use</a:t>
            </a:r>
            <a:r>
              <a:rPr lang="en-IN" sz="2500" dirty="0">
                <a:ln w="0"/>
                <a:effectLst>
                  <a:outerShdw blurRad="38100" dist="19050" dir="2700000" algn="tl" rotWithShape="0">
                    <a:schemeClr val="dk1">
                      <a:alpha val="40000"/>
                    </a:schemeClr>
                  </a:outerShdw>
                </a:effectLst>
              </a:rPr>
              <a:t> </a:t>
            </a:r>
            <a:r>
              <a:rPr sz="2500" dirty="0">
                <a:ln w="0"/>
                <a:effectLst>
                  <a:outerShdw blurRad="38100" dist="19050" dir="2700000" algn="tl" rotWithShape="0">
                    <a:schemeClr val="dk1">
                      <a:alpha val="40000"/>
                    </a:schemeClr>
                  </a:outerShdw>
                </a:effectLst>
              </a:rPr>
              <a:t>code obj1=obj2; without overloading </a:t>
            </a:r>
            <a:r>
              <a:rPr lang="en-IN" sz="2500" dirty="0">
                <a:ln w="0"/>
                <a:effectLst>
                  <a:outerShdw blurRad="38100" dist="19050" dir="2700000" algn="tl" rotWithShape="0">
                    <a:schemeClr val="dk1">
                      <a:alpha val="40000"/>
                    </a:schemeClr>
                  </a:outerShdw>
                </a:effectLst>
              </a:rPr>
              <a:t>the </a:t>
            </a:r>
            <a:r>
              <a:rPr sz="2500" dirty="0">
                <a:ln w="0"/>
                <a:effectLst>
                  <a:outerShdw blurRad="38100" dist="19050" dir="2700000" algn="tl" rotWithShape="0">
                    <a:schemeClr val="dk1">
                      <a:alpha val="40000"/>
                    </a:schemeClr>
                  </a:outerShdw>
                </a:effectLst>
              </a:rPr>
              <a:t>= operator. This</a:t>
            </a:r>
            <a:r>
              <a:rPr lang="en-IN" sz="2500" dirty="0">
                <a:ln w="0"/>
                <a:effectLst>
                  <a:outerShdw blurRad="38100" dist="19050" dir="2700000" algn="tl" rotWithShape="0">
                    <a:schemeClr val="dk1">
                      <a:alpha val="40000"/>
                    </a:schemeClr>
                  </a:outerShdw>
                </a:effectLst>
              </a:rPr>
              <a:t> </a:t>
            </a:r>
            <a:r>
              <a:rPr sz="2500" dirty="0">
                <a:ln w="0"/>
                <a:effectLst>
                  <a:outerShdw blurRad="38100" dist="19050" dir="2700000" algn="tl" rotWithShape="0">
                    <a:schemeClr val="dk1">
                      <a:alpha val="40000"/>
                    </a:schemeClr>
                  </a:outerShdw>
                </a:effectLst>
              </a:rPr>
              <a:t>code will copy the contents object of obj2 to obj1.</a:t>
            </a:r>
          </a:p>
          <a:p>
            <a:pPr marL="354965" marR="188595" indent="-342900">
              <a:lnSpc>
                <a:spcPct val="89400"/>
              </a:lnSpc>
              <a:spcBef>
                <a:spcPts val="355"/>
              </a:spcBef>
              <a:buClr>
                <a:srgbClr val="D24717"/>
              </a:buClr>
              <a:buSzPct val="83928"/>
              <a:buFont typeface="Arial" panose="020B0604020202020204" pitchFamily="34" charset="0"/>
              <a:buChar char="•"/>
              <a:tabLst>
                <a:tab pos="287020" algn="l"/>
              </a:tabLst>
            </a:pPr>
            <a:r>
              <a:rPr sz="2500" dirty="0">
                <a:ln w="0"/>
                <a:effectLst>
                  <a:outerShdw blurRad="38100" dist="19050" dir="2700000" algn="tl" rotWithShape="0">
                    <a:schemeClr val="dk1">
                      <a:alpha val="40000"/>
                    </a:schemeClr>
                  </a:outerShdw>
                </a:effectLst>
              </a:rPr>
              <a:t>Similarly, you can use </a:t>
            </a:r>
            <a:r>
              <a:rPr lang="en-IN" sz="2500" dirty="0">
                <a:ln w="0"/>
                <a:effectLst>
                  <a:outerShdw blurRad="38100" dist="19050" dir="2700000" algn="tl" rotWithShape="0">
                    <a:schemeClr val="dk1">
                      <a:alpha val="40000"/>
                    </a:schemeClr>
                  </a:outerShdw>
                </a:effectLst>
              </a:rPr>
              <a:t>the </a:t>
            </a:r>
            <a:r>
              <a:rPr sz="2500" dirty="0">
                <a:ln w="0"/>
                <a:effectLst>
                  <a:outerShdw blurRad="38100" dist="19050" dir="2700000" algn="tl" rotWithShape="0">
                    <a:schemeClr val="dk1">
                      <a:alpha val="40000"/>
                    </a:schemeClr>
                  </a:outerShdw>
                </a:effectLst>
              </a:rPr>
              <a:t>address operator directly</a:t>
            </a:r>
            <a:r>
              <a:rPr lang="en-IN" sz="2500" dirty="0">
                <a:ln w="0"/>
                <a:effectLst>
                  <a:outerShdw blurRad="38100" dist="19050" dir="2700000" algn="tl" rotWithShape="0">
                    <a:schemeClr val="dk1">
                      <a:alpha val="40000"/>
                    </a:schemeClr>
                  </a:outerShdw>
                </a:effectLst>
              </a:rPr>
              <a:t> </a:t>
            </a:r>
            <a:r>
              <a:rPr sz="2500" dirty="0">
                <a:ln w="0"/>
                <a:effectLst>
                  <a:outerShdw blurRad="38100" dist="19050" dir="2700000" algn="tl" rotWithShape="0">
                    <a:schemeClr val="dk1">
                      <a:alpha val="40000"/>
                    </a:schemeClr>
                  </a:outerShdw>
                </a:effectLst>
              </a:rPr>
              <a:t>without overloading which will return the address of</a:t>
            </a:r>
            <a:r>
              <a:rPr lang="en-IN" sz="2500" dirty="0">
                <a:ln w="0"/>
                <a:effectLst>
                  <a:outerShdw blurRad="38100" dist="19050" dir="2700000" algn="tl" rotWithShape="0">
                    <a:schemeClr val="dk1">
                      <a:alpha val="40000"/>
                    </a:schemeClr>
                  </a:outerShdw>
                </a:effectLst>
              </a:rPr>
              <a:t> the object in memory.</a:t>
            </a:r>
          </a:p>
          <a:p>
            <a:pPr marL="354965" marR="188595" indent="-342900">
              <a:lnSpc>
                <a:spcPct val="89400"/>
              </a:lnSpc>
              <a:spcBef>
                <a:spcPts val="355"/>
              </a:spcBef>
              <a:buClr>
                <a:srgbClr val="D24717"/>
              </a:buClr>
              <a:buSzPct val="83928"/>
              <a:buFont typeface="Arial" panose="020B0604020202020204" pitchFamily="34" charset="0"/>
              <a:buChar char="•"/>
              <a:tabLst>
                <a:tab pos="287020" algn="l"/>
              </a:tabLst>
            </a:pPr>
            <a:r>
              <a:rPr lang="en-US" sz="2500" dirty="0">
                <a:ln w="0"/>
                <a:effectLst>
                  <a:outerShdw blurRad="38100" dist="19050" dir="2700000" algn="tl" rotWithShape="0">
                    <a:schemeClr val="dk1">
                      <a:alpha val="40000"/>
                    </a:schemeClr>
                  </a:outerShdw>
                </a:effectLst>
              </a:rPr>
              <a:t>Operator overloading cannot change the precedence</a:t>
            </a:r>
            <a:endParaRPr sz="2500" dirty="0">
              <a:ln w="0"/>
              <a:effectLst>
                <a:outerShdw blurRad="38100" dist="19050" dir="2700000" algn="tl" rotWithShape="0">
                  <a:schemeClr val="dk1">
                    <a:alpha val="40000"/>
                  </a:schemeClr>
                </a:outerShdw>
              </a:effectLst>
            </a:endParaRPr>
          </a:p>
        </p:txBody>
      </p:sp>
      <p:sp>
        <p:nvSpPr>
          <p:cNvPr id="7" name="object 7"/>
          <p:cNvSpPr txBox="1"/>
          <p:nvPr/>
        </p:nvSpPr>
        <p:spPr>
          <a:xfrm>
            <a:off x="262229" y="6314643"/>
            <a:ext cx="223520" cy="23939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FFFFFF"/>
                </a:solidFill>
                <a:latin typeface="Arial"/>
                <a:cs typeface="Arial"/>
              </a:rPr>
              <a:t>14</a:t>
            </a:r>
            <a:endParaRPr sz="1400">
              <a:latin typeface="Arial"/>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5" dirty="0"/>
              <a:t>Rules For</a:t>
            </a:r>
            <a:r>
              <a:rPr spc="10" dirty="0"/>
              <a:t> </a:t>
            </a:r>
            <a:r>
              <a:rPr spc="-5" dirty="0"/>
              <a:t>Overloading</a:t>
            </a:r>
          </a:p>
        </p:txBody>
      </p:sp>
      <p:sp>
        <p:nvSpPr>
          <p:cNvPr id="6" name="object 6"/>
          <p:cNvSpPr txBox="1"/>
          <p:nvPr/>
        </p:nvSpPr>
        <p:spPr>
          <a:xfrm>
            <a:off x="262229" y="6314643"/>
            <a:ext cx="223520" cy="23939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FFFFFF"/>
                </a:solidFill>
                <a:latin typeface="Arial"/>
                <a:cs typeface="Arial"/>
              </a:rPr>
              <a:t>28</a:t>
            </a:r>
            <a:endParaRPr sz="1400">
              <a:latin typeface="Arial"/>
              <a:cs typeface="Arial"/>
            </a:endParaRPr>
          </a:p>
        </p:txBody>
      </p:sp>
      <p:sp>
        <p:nvSpPr>
          <p:cNvPr id="7" name="object 7"/>
          <p:cNvSpPr txBox="1"/>
          <p:nvPr/>
        </p:nvSpPr>
        <p:spPr>
          <a:xfrm>
            <a:off x="695553" y="1129833"/>
            <a:ext cx="8121015" cy="5533053"/>
          </a:xfrm>
          <a:prstGeom prst="rect">
            <a:avLst/>
          </a:prstGeom>
        </p:spPr>
        <p:txBody>
          <a:bodyPr vert="horz" wrap="square" lIns="0" tIns="12700" rIns="0" bIns="0" rtlCol="0">
            <a:spAutoFit/>
          </a:bodyPr>
          <a:lstStyle/>
          <a:p>
            <a:pPr marL="380365" marR="281305" indent="-342900">
              <a:lnSpc>
                <a:spcPct val="125000"/>
              </a:lnSpc>
              <a:spcBef>
                <a:spcPts val="100"/>
              </a:spcBef>
              <a:buClr>
                <a:srgbClr val="9B2C1F"/>
              </a:buClr>
              <a:buSzPct val="84000"/>
              <a:buFont typeface="Arial" panose="020B0604020202020204" pitchFamily="34" charset="0"/>
              <a:buChar char="•"/>
              <a:tabLst>
                <a:tab pos="417195" algn="l"/>
                <a:tab pos="417830" algn="l"/>
              </a:tabLst>
            </a:pPr>
            <a:r>
              <a:rPr sz="2400" spc="-5" dirty="0">
                <a:latin typeface="Arial"/>
                <a:cs typeface="Arial"/>
              </a:rPr>
              <a:t>The following operators can be </a:t>
            </a:r>
            <a:r>
              <a:rPr lang="en-IN" sz="2400" spc="-5" dirty="0">
                <a:latin typeface="Arial"/>
                <a:cs typeface="Arial"/>
              </a:rPr>
              <a:t>overloaded</a:t>
            </a:r>
            <a:r>
              <a:rPr sz="2400" spc="-5" dirty="0">
                <a:latin typeface="Arial"/>
                <a:cs typeface="Arial"/>
              </a:rPr>
              <a:t> with the  use </a:t>
            </a:r>
            <a:r>
              <a:rPr sz="2400" dirty="0">
                <a:latin typeface="Arial"/>
                <a:cs typeface="Arial"/>
              </a:rPr>
              <a:t>of </a:t>
            </a:r>
            <a:r>
              <a:rPr sz="2400" spc="-5" dirty="0">
                <a:latin typeface="Arial"/>
                <a:cs typeface="Arial"/>
              </a:rPr>
              <a:t>member functions </a:t>
            </a:r>
            <a:r>
              <a:rPr sz="2400" dirty="0">
                <a:latin typeface="Arial"/>
                <a:cs typeface="Arial"/>
              </a:rPr>
              <a:t>and </a:t>
            </a:r>
            <a:r>
              <a:rPr sz="2400" spc="-5" dirty="0">
                <a:latin typeface="Arial"/>
                <a:cs typeface="Arial"/>
              </a:rPr>
              <a:t>not by the use </a:t>
            </a:r>
            <a:r>
              <a:rPr sz="2400" dirty="0">
                <a:latin typeface="Arial"/>
                <a:cs typeface="Arial"/>
              </a:rPr>
              <a:t>of </a:t>
            </a:r>
            <a:r>
              <a:rPr sz="2400" spc="-5" dirty="0">
                <a:latin typeface="Arial"/>
                <a:cs typeface="Arial"/>
              </a:rPr>
              <a:t>friend  functions:</a:t>
            </a:r>
            <a:endParaRPr sz="2400" dirty="0">
              <a:latin typeface="Arial"/>
              <a:cs typeface="Arial"/>
            </a:endParaRPr>
          </a:p>
          <a:p>
            <a:pPr marL="918210" lvl="1" indent="-342900">
              <a:lnSpc>
                <a:spcPct val="100000"/>
              </a:lnSpc>
              <a:spcBef>
                <a:spcPts val="1125"/>
              </a:spcBef>
              <a:buClr>
                <a:srgbClr val="E6B0AB"/>
              </a:buClr>
              <a:buSzPct val="84782"/>
              <a:buFont typeface="Arial" panose="020B0604020202020204" pitchFamily="34" charset="0"/>
              <a:buChar char="•"/>
              <a:tabLst>
                <a:tab pos="805180" algn="l"/>
              </a:tabLst>
            </a:pPr>
            <a:r>
              <a:rPr sz="2000" dirty="0">
                <a:latin typeface="Arial"/>
                <a:cs typeface="Arial"/>
              </a:rPr>
              <a:t>Assignment operator</a:t>
            </a:r>
            <a:r>
              <a:rPr sz="2000" spc="-95" dirty="0">
                <a:latin typeface="Arial"/>
                <a:cs typeface="Arial"/>
              </a:rPr>
              <a:t> </a:t>
            </a:r>
            <a:r>
              <a:rPr sz="2000" dirty="0">
                <a:latin typeface="Arial"/>
                <a:cs typeface="Arial"/>
              </a:rPr>
              <a:t>=</a:t>
            </a:r>
          </a:p>
          <a:p>
            <a:pPr marL="918210" lvl="1" indent="-342900">
              <a:lnSpc>
                <a:spcPct val="100000"/>
              </a:lnSpc>
              <a:spcBef>
                <a:spcPts val="1095"/>
              </a:spcBef>
              <a:buClr>
                <a:srgbClr val="E6B0AB"/>
              </a:buClr>
              <a:buSzPct val="84782"/>
              <a:buFont typeface="Arial" panose="020B0604020202020204" pitchFamily="34" charset="0"/>
              <a:buChar char="•"/>
              <a:tabLst>
                <a:tab pos="805180" algn="l"/>
              </a:tabLst>
            </a:pPr>
            <a:r>
              <a:rPr sz="2000" dirty="0">
                <a:latin typeface="Arial"/>
                <a:cs typeface="Arial"/>
              </a:rPr>
              <a:t>Function call operator(</a:t>
            </a:r>
            <a:r>
              <a:rPr sz="2000" spc="-175" dirty="0">
                <a:latin typeface="Arial"/>
                <a:cs typeface="Arial"/>
              </a:rPr>
              <a:t> </a:t>
            </a:r>
            <a:r>
              <a:rPr sz="2000" dirty="0">
                <a:latin typeface="Arial"/>
                <a:cs typeface="Arial"/>
              </a:rPr>
              <a:t>)</a:t>
            </a:r>
          </a:p>
          <a:p>
            <a:pPr marL="918210" lvl="1" indent="-342900">
              <a:lnSpc>
                <a:spcPct val="100000"/>
              </a:lnSpc>
              <a:spcBef>
                <a:spcPts val="1090"/>
              </a:spcBef>
              <a:buClr>
                <a:srgbClr val="E6B0AB"/>
              </a:buClr>
              <a:buSzPct val="84782"/>
              <a:buFont typeface="Arial" panose="020B0604020202020204" pitchFamily="34" charset="0"/>
              <a:buChar char="•"/>
              <a:tabLst>
                <a:tab pos="805180" algn="l"/>
              </a:tabLst>
            </a:pPr>
            <a:r>
              <a:rPr sz="2000" dirty="0">
                <a:latin typeface="Arial"/>
                <a:cs typeface="Arial"/>
              </a:rPr>
              <a:t>Subscripting operator [</a:t>
            </a:r>
            <a:r>
              <a:rPr sz="2000" spc="-175" dirty="0">
                <a:latin typeface="Arial"/>
                <a:cs typeface="Arial"/>
              </a:rPr>
              <a:t> </a:t>
            </a:r>
            <a:r>
              <a:rPr sz="2000" dirty="0">
                <a:latin typeface="Arial"/>
                <a:cs typeface="Arial"/>
              </a:rPr>
              <a:t>]</a:t>
            </a:r>
          </a:p>
          <a:p>
            <a:pPr marL="918210" lvl="1" indent="-342900">
              <a:lnSpc>
                <a:spcPct val="100000"/>
              </a:lnSpc>
              <a:spcBef>
                <a:spcPts val="1095"/>
              </a:spcBef>
              <a:buClr>
                <a:srgbClr val="E6B0AB"/>
              </a:buClr>
              <a:buSzPct val="84782"/>
              <a:buFont typeface="Arial" panose="020B0604020202020204" pitchFamily="34" charset="0"/>
              <a:buChar char="•"/>
              <a:tabLst>
                <a:tab pos="805180" algn="l"/>
              </a:tabLst>
            </a:pPr>
            <a:r>
              <a:rPr sz="2000" dirty="0">
                <a:latin typeface="Arial"/>
                <a:cs typeface="Arial"/>
              </a:rPr>
              <a:t>Class member access operator</a:t>
            </a:r>
            <a:r>
              <a:rPr sz="2000" spc="-130" dirty="0">
                <a:latin typeface="Arial"/>
                <a:cs typeface="Arial"/>
              </a:rPr>
              <a:t> </a:t>
            </a:r>
            <a:r>
              <a:rPr sz="2000" dirty="0">
                <a:latin typeface="Arial"/>
                <a:cs typeface="Arial"/>
              </a:rPr>
              <a:t>-&gt;</a:t>
            </a:r>
          </a:p>
          <a:p>
            <a:pPr marL="494665" marR="30480" indent="-457200">
              <a:lnSpc>
                <a:spcPct val="125000"/>
              </a:lnSpc>
              <a:spcBef>
                <a:spcPts val="345"/>
              </a:spcBef>
              <a:buClr>
                <a:srgbClr val="9B2C1F"/>
              </a:buClr>
              <a:buSzPct val="84615"/>
              <a:buFont typeface="Arial" panose="020B0604020202020204" pitchFamily="34" charset="0"/>
              <a:buChar char="•"/>
              <a:tabLst>
                <a:tab pos="417195" algn="l"/>
                <a:tab pos="417830" algn="l"/>
              </a:tabLst>
            </a:pPr>
            <a:r>
              <a:rPr sz="2400" dirty="0">
                <a:latin typeface="Arial"/>
                <a:cs typeface="Arial"/>
              </a:rPr>
              <a:t>Unary operators, </a:t>
            </a:r>
            <a:endParaRPr lang="en-IN" sz="2400" dirty="0">
              <a:latin typeface="Arial"/>
              <a:cs typeface="Arial"/>
            </a:endParaRPr>
          </a:p>
          <a:p>
            <a:pPr marL="951865" marR="30480" lvl="1" indent="-457200">
              <a:lnSpc>
                <a:spcPct val="125000"/>
              </a:lnSpc>
              <a:spcBef>
                <a:spcPts val="345"/>
              </a:spcBef>
              <a:buClr>
                <a:srgbClr val="9B2C1F"/>
              </a:buClr>
              <a:buSzPct val="84615"/>
              <a:buFont typeface="Arial" panose="020B0604020202020204" pitchFamily="34" charset="0"/>
              <a:buChar char="•"/>
              <a:tabLst>
                <a:tab pos="417195" algn="l"/>
                <a:tab pos="417830" algn="l"/>
              </a:tabLst>
            </a:pPr>
            <a:r>
              <a:rPr sz="2400" dirty="0">
                <a:latin typeface="Arial"/>
                <a:cs typeface="Arial"/>
              </a:rPr>
              <a:t>overloaded by means of a</a:t>
            </a:r>
            <a:r>
              <a:rPr sz="2400" spc="-30" dirty="0">
                <a:latin typeface="Arial"/>
                <a:cs typeface="Arial"/>
              </a:rPr>
              <a:t> </a:t>
            </a:r>
            <a:r>
              <a:rPr sz="2400" dirty="0">
                <a:latin typeface="Arial"/>
                <a:cs typeface="Arial"/>
              </a:rPr>
              <a:t>member</a:t>
            </a:r>
            <a:r>
              <a:rPr lang="en-IN" sz="2400" dirty="0">
                <a:latin typeface="Arial"/>
                <a:cs typeface="Arial"/>
              </a:rPr>
              <a:t> </a:t>
            </a:r>
            <a:r>
              <a:rPr sz="2400" dirty="0">
                <a:latin typeface="Arial"/>
                <a:cs typeface="Arial"/>
              </a:rPr>
              <a:t>function</a:t>
            </a:r>
            <a:r>
              <a:rPr lang="en-IN" sz="2400" dirty="0">
                <a:latin typeface="Arial"/>
                <a:cs typeface="Arial"/>
              </a:rPr>
              <a:t>, </a:t>
            </a:r>
            <a:r>
              <a:rPr sz="2400" spc="-5" dirty="0">
                <a:latin typeface="Arial"/>
                <a:cs typeface="Arial"/>
              </a:rPr>
              <a:t>take </a:t>
            </a:r>
            <a:r>
              <a:rPr sz="2400" dirty="0">
                <a:latin typeface="Arial"/>
                <a:cs typeface="Arial"/>
              </a:rPr>
              <a:t>no explicit arguments and return no</a:t>
            </a:r>
            <a:r>
              <a:rPr lang="en-IN" sz="2400" dirty="0">
                <a:latin typeface="Arial"/>
                <a:cs typeface="Arial"/>
              </a:rPr>
              <a:t> </a:t>
            </a:r>
            <a:r>
              <a:rPr sz="2400" dirty="0">
                <a:latin typeface="Arial"/>
                <a:cs typeface="Arial"/>
              </a:rPr>
              <a:t>explicit values, </a:t>
            </a:r>
            <a:endParaRPr lang="en-IN" sz="2400" dirty="0">
              <a:latin typeface="Arial"/>
              <a:cs typeface="Arial"/>
            </a:endParaRPr>
          </a:p>
          <a:p>
            <a:pPr marL="951865" marR="30480" lvl="1" indent="-457200">
              <a:lnSpc>
                <a:spcPct val="125000"/>
              </a:lnSpc>
              <a:spcBef>
                <a:spcPts val="345"/>
              </a:spcBef>
              <a:buClr>
                <a:srgbClr val="9B2C1F"/>
              </a:buClr>
              <a:buSzPct val="84615"/>
              <a:buFont typeface="Arial" panose="020B0604020202020204" pitchFamily="34" charset="0"/>
              <a:buChar char="•"/>
              <a:tabLst>
                <a:tab pos="417195" algn="l"/>
                <a:tab pos="417830" algn="l"/>
              </a:tabLst>
            </a:pPr>
            <a:r>
              <a:rPr sz="2400" dirty="0">
                <a:latin typeface="Arial"/>
                <a:cs typeface="Arial"/>
              </a:rPr>
              <a:t>overloaded by means of a</a:t>
            </a:r>
            <a:r>
              <a:rPr lang="en-US" sz="2400" dirty="0">
                <a:latin typeface="Arial"/>
                <a:cs typeface="Arial"/>
              </a:rPr>
              <a:t> friend function, </a:t>
            </a:r>
            <a:r>
              <a:rPr sz="2400" dirty="0">
                <a:latin typeface="Arial"/>
                <a:cs typeface="Arial"/>
              </a:rPr>
              <a:t>take one reference</a:t>
            </a:r>
            <a:r>
              <a:rPr sz="2400" spc="-140" dirty="0">
                <a:latin typeface="Arial"/>
                <a:cs typeface="Arial"/>
              </a:rPr>
              <a:t> </a:t>
            </a:r>
            <a:r>
              <a:rPr sz="2400" dirty="0">
                <a:latin typeface="Arial"/>
                <a:cs typeface="Arial"/>
              </a:rPr>
              <a:t>argument.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5" dirty="0"/>
              <a:t>Rules For</a:t>
            </a:r>
            <a:r>
              <a:rPr spc="10" dirty="0"/>
              <a:t> </a:t>
            </a:r>
            <a:r>
              <a:rPr spc="-5" dirty="0"/>
              <a:t>Overloading</a:t>
            </a:r>
          </a:p>
        </p:txBody>
      </p:sp>
      <p:sp>
        <p:nvSpPr>
          <p:cNvPr id="4" name="object 4"/>
          <p:cNvSpPr txBox="1"/>
          <p:nvPr/>
        </p:nvSpPr>
        <p:spPr>
          <a:xfrm>
            <a:off x="720953" y="1129833"/>
            <a:ext cx="7816215" cy="5370957"/>
          </a:xfrm>
          <a:prstGeom prst="rect">
            <a:avLst/>
          </a:prstGeom>
        </p:spPr>
        <p:txBody>
          <a:bodyPr vert="horz" wrap="square" lIns="0" tIns="12700" rIns="0" bIns="0" rtlCol="0">
            <a:spAutoFit/>
          </a:bodyPr>
          <a:lstStyle/>
          <a:p>
            <a:pPr marL="354965" marR="130175" indent="-342900">
              <a:lnSpc>
                <a:spcPct val="125099"/>
              </a:lnSpc>
              <a:spcBef>
                <a:spcPts val="100"/>
              </a:spcBef>
              <a:buClr>
                <a:srgbClr val="9B2C1F"/>
              </a:buClr>
              <a:buSzPct val="84000"/>
              <a:buFont typeface="Arial" panose="020B0604020202020204" pitchFamily="34" charset="0"/>
              <a:buChar char="•"/>
              <a:tabLst>
                <a:tab pos="391795" algn="l"/>
                <a:tab pos="392430" algn="l"/>
              </a:tabLst>
            </a:pPr>
            <a:r>
              <a:rPr sz="2500" spc="-5" dirty="0">
                <a:latin typeface="Arial"/>
                <a:cs typeface="Arial"/>
              </a:rPr>
              <a:t>Binary operators </a:t>
            </a:r>
            <a:endParaRPr lang="en-IN" sz="2500" spc="-5" dirty="0">
              <a:latin typeface="Arial"/>
              <a:cs typeface="Arial"/>
            </a:endParaRPr>
          </a:p>
          <a:p>
            <a:pPr marL="812165" marR="130175" lvl="1" indent="-342900">
              <a:lnSpc>
                <a:spcPct val="125099"/>
              </a:lnSpc>
              <a:spcBef>
                <a:spcPts val="100"/>
              </a:spcBef>
              <a:buClr>
                <a:srgbClr val="9B2C1F"/>
              </a:buClr>
              <a:buSzPct val="84000"/>
              <a:buFont typeface="Arial" panose="020B0604020202020204" pitchFamily="34" charset="0"/>
              <a:buChar char="•"/>
              <a:tabLst>
                <a:tab pos="391795" algn="l"/>
                <a:tab pos="392430" algn="l"/>
              </a:tabLst>
            </a:pPr>
            <a:r>
              <a:rPr sz="2500" spc="-5" dirty="0">
                <a:latin typeface="Arial"/>
                <a:cs typeface="Arial"/>
              </a:rPr>
              <a:t>overloaded through a member</a:t>
            </a:r>
            <a:r>
              <a:rPr lang="en-IN" sz="2500" spc="-5" dirty="0">
                <a:latin typeface="Arial"/>
                <a:cs typeface="Arial"/>
              </a:rPr>
              <a:t> </a:t>
            </a:r>
            <a:r>
              <a:rPr sz="2500" spc="-5" dirty="0">
                <a:latin typeface="Arial"/>
                <a:cs typeface="Arial"/>
              </a:rPr>
              <a:t>function</a:t>
            </a:r>
            <a:r>
              <a:rPr lang="en-IN" sz="2500" spc="-5" dirty="0">
                <a:latin typeface="Arial"/>
                <a:cs typeface="Arial"/>
              </a:rPr>
              <a:t>,</a:t>
            </a:r>
            <a:r>
              <a:rPr sz="2500" spc="-5" dirty="0">
                <a:latin typeface="Arial"/>
                <a:cs typeface="Arial"/>
              </a:rPr>
              <a:t> take one explicit argument and those which</a:t>
            </a:r>
            <a:r>
              <a:rPr lang="en-IN" sz="2500" spc="-5" dirty="0">
                <a:latin typeface="Arial"/>
                <a:cs typeface="Arial"/>
              </a:rPr>
              <a:t> </a:t>
            </a:r>
            <a:r>
              <a:rPr sz="2500" spc="-5" dirty="0">
                <a:latin typeface="Arial"/>
                <a:cs typeface="Arial"/>
              </a:rPr>
              <a:t>are</a:t>
            </a:r>
            <a:endParaRPr lang="en-IN" sz="2500" spc="-5" dirty="0">
              <a:latin typeface="Arial"/>
              <a:cs typeface="Arial"/>
            </a:endParaRPr>
          </a:p>
          <a:p>
            <a:pPr marL="812165" marR="130175" lvl="1" indent="-342900">
              <a:lnSpc>
                <a:spcPct val="125099"/>
              </a:lnSpc>
              <a:spcBef>
                <a:spcPts val="100"/>
              </a:spcBef>
              <a:buClr>
                <a:srgbClr val="9B2C1F"/>
              </a:buClr>
              <a:buSzPct val="84000"/>
              <a:buFont typeface="Arial" panose="020B0604020202020204" pitchFamily="34" charset="0"/>
              <a:buChar char="•"/>
              <a:tabLst>
                <a:tab pos="391795" algn="l"/>
                <a:tab pos="392430" algn="l"/>
              </a:tabLst>
            </a:pPr>
            <a:r>
              <a:rPr sz="2500" spc="-5" dirty="0">
                <a:latin typeface="Arial"/>
                <a:cs typeface="Arial"/>
              </a:rPr>
              <a:t>overloaded through a friend function</a:t>
            </a:r>
            <a:r>
              <a:rPr lang="en-IN" sz="2500" spc="-5" dirty="0">
                <a:latin typeface="Arial"/>
                <a:cs typeface="Arial"/>
              </a:rPr>
              <a:t>,</a:t>
            </a:r>
            <a:r>
              <a:rPr sz="2500" spc="-5" dirty="0">
                <a:latin typeface="Arial"/>
                <a:cs typeface="Arial"/>
              </a:rPr>
              <a:t> </a:t>
            </a:r>
            <a:r>
              <a:rPr lang="en-IN" sz="2500" spc="-5" dirty="0">
                <a:latin typeface="Arial"/>
                <a:cs typeface="Arial"/>
              </a:rPr>
              <a:t>takes</a:t>
            </a:r>
            <a:r>
              <a:rPr sz="2500" spc="-5" dirty="0">
                <a:latin typeface="Arial"/>
                <a:cs typeface="Arial"/>
              </a:rPr>
              <a:t> two</a:t>
            </a:r>
            <a:r>
              <a:rPr lang="en-IN" sz="2500" spc="-5" dirty="0">
                <a:latin typeface="Arial"/>
                <a:cs typeface="Arial"/>
              </a:rPr>
              <a:t> </a:t>
            </a:r>
            <a:r>
              <a:rPr sz="2500" spc="-5" dirty="0">
                <a:latin typeface="Arial"/>
                <a:cs typeface="Arial"/>
              </a:rPr>
              <a:t>explicit</a:t>
            </a:r>
            <a:r>
              <a:rPr sz="2500" spc="15" dirty="0">
                <a:latin typeface="Arial"/>
                <a:cs typeface="Arial"/>
              </a:rPr>
              <a:t> </a:t>
            </a:r>
            <a:r>
              <a:rPr sz="2500" spc="-5" dirty="0">
                <a:latin typeface="Arial"/>
                <a:cs typeface="Arial"/>
              </a:rPr>
              <a:t>arguments.</a:t>
            </a:r>
            <a:endParaRPr sz="2500" dirty="0">
              <a:latin typeface="Arial"/>
              <a:cs typeface="Arial"/>
            </a:endParaRPr>
          </a:p>
          <a:p>
            <a:pPr marL="354965" marR="215900" indent="-342900" algn="just">
              <a:lnSpc>
                <a:spcPct val="125000"/>
              </a:lnSpc>
              <a:spcBef>
                <a:spcPts val="400"/>
              </a:spcBef>
              <a:buClr>
                <a:srgbClr val="9B2C1F"/>
              </a:buClr>
              <a:buSzPct val="84000"/>
              <a:buFont typeface="Arial" panose="020B0604020202020204" pitchFamily="34" charset="0"/>
              <a:buChar char="•"/>
              <a:tabLst>
                <a:tab pos="392430" algn="l"/>
              </a:tabLst>
            </a:pPr>
            <a:r>
              <a:rPr sz="2500" spc="-5" dirty="0">
                <a:latin typeface="Arial"/>
                <a:cs typeface="Arial"/>
              </a:rPr>
              <a:t>When using binary operators overloaded through a  member function, the </a:t>
            </a:r>
            <a:r>
              <a:rPr lang="en-IN" sz="2500" spc="-5" dirty="0">
                <a:latin typeface="Arial"/>
                <a:cs typeface="Arial"/>
              </a:rPr>
              <a:t>left-hand</a:t>
            </a:r>
            <a:r>
              <a:rPr sz="2500" spc="-5" dirty="0">
                <a:latin typeface="Arial"/>
                <a:cs typeface="Arial"/>
              </a:rPr>
              <a:t> operand must be an</a:t>
            </a:r>
            <a:r>
              <a:rPr lang="en-IN" sz="2500" spc="-5" dirty="0">
                <a:latin typeface="Arial"/>
                <a:cs typeface="Arial"/>
              </a:rPr>
              <a:t> </a:t>
            </a:r>
            <a:r>
              <a:rPr sz="2500" spc="-5" dirty="0">
                <a:latin typeface="Arial"/>
                <a:cs typeface="Arial"/>
              </a:rPr>
              <a:t>object of the relevant</a:t>
            </a:r>
            <a:r>
              <a:rPr sz="2500" spc="20" dirty="0">
                <a:latin typeface="Arial"/>
                <a:cs typeface="Arial"/>
              </a:rPr>
              <a:t> </a:t>
            </a:r>
            <a:r>
              <a:rPr sz="2500" spc="-5" dirty="0">
                <a:latin typeface="Arial"/>
                <a:cs typeface="Arial"/>
              </a:rPr>
              <a:t>class.</a:t>
            </a:r>
            <a:endParaRPr sz="2500" dirty="0">
              <a:latin typeface="Arial"/>
              <a:cs typeface="Arial"/>
            </a:endParaRPr>
          </a:p>
          <a:p>
            <a:pPr marL="354965" marR="5080" indent="-342900">
              <a:lnSpc>
                <a:spcPct val="125000"/>
              </a:lnSpc>
              <a:spcBef>
                <a:spcPts val="405"/>
              </a:spcBef>
              <a:buClr>
                <a:srgbClr val="9B2C1F"/>
              </a:buClr>
              <a:buSzPct val="84000"/>
              <a:buFont typeface="Arial" panose="020B0604020202020204" pitchFamily="34" charset="0"/>
              <a:buChar char="•"/>
              <a:tabLst>
                <a:tab pos="391795" algn="l"/>
                <a:tab pos="392430" algn="l"/>
              </a:tabLst>
            </a:pPr>
            <a:r>
              <a:rPr sz="2500" spc="-5" dirty="0">
                <a:latin typeface="Arial"/>
                <a:cs typeface="Arial"/>
              </a:rPr>
              <a:t>Binary arithmetic operators such </a:t>
            </a:r>
            <a:r>
              <a:rPr sz="2500" dirty="0">
                <a:latin typeface="Arial"/>
                <a:cs typeface="Arial"/>
              </a:rPr>
              <a:t>as </a:t>
            </a:r>
            <a:r>
              <a:rPr sz="2500" spc="-5" dirty="0">
                <a:latin typeface="Arial"/>
                <a:cs typeface="Arial"/>
              </a:rPr>
              <a:t>+, -, * </a:t>
            </a:r>
            <a:r>
              <a:rPr sz="2500" dirty="0">
                <a:latin typeface="Arial"/>
                <a:cs typeface="Arial"/>
              </a:rPr>
              <a:t>and / must  </a:t>
            </a:r>
            <a:r>
              <a:rPr sz="2500" spc="-5" dirty="0">
                <a:latin typeface="Arial"/>
                <a:cs typeface="Arial"/>
              </a:rPr>
              <a:t>explicitly return a value. They must not attempt to</a:t>
            </a:r>
            <a:r>
              <a:rPr lang="en-IN" sz="2500" spc="-5" dirty="0">
                <a:latin typeface="Arial"/>
                <a:cs typeface="Arial"/>
              </a:rPr>
              <a:t> </a:t>
            </a:r>
            <a:r>
              <a:rPr sz="2500" spc="-5" dirty="0">
                <a:latin typeface="Arial"/>
                <a:cs typeface="Arial"/>
              </a:rPr>
              <a:t>change their own arguments.</a:t>
            </a:r>
            <a:endParaRPr sz="2500" dirty="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29E9E-D69A-E3B5-0582-06EFCAC8E421}"/>
              </a:ext>
            </a:extLst>
          </p:cNvPr>
          <p:cNvSpPr>
            <a:spLocks noGrp="1"/>
          </p:cNvSpPr>
          <p:nvPr>
            <p:ph type="title"/>
          </p:nvPr>
        </p:nvSpPr>
        <p:spPr/>
        <p:txBody>
          <a:bodyPr/>
          <a:lstStyle/>
          <a:p>
            <a:r>
              <a:rPr lang="en-IN" dirty="0"/>
              <a:t>Polymorphism</a:t>
            </a:r>
          </a:p>
        </p:txBody>
      </p:sp>
      <p:sp>
        <p:nvSpPr>
          <p:cNvPr id="3" name="Content Placeholder 2">
            <a:extLst>
              <a:ext uri="{FF2B5EF4-FFF2-40B4-BE49-F238E27FC236}">
                <a16:creationId xmlns:a16="http://schemas.microsoft.com/office/drawing/2014/main" id="{8F291112-4397-9F6C-D148-930898E5F011}"/>
              </a:ext>
            </a:extLst>
          </p:cNvPr>
          <p:cNvSpPr>
            <a:spLocks noGrp="1"/>
          </p:cNvSpPr>
          <p:nvPr>
            <p:ph idx="1"/>
          </p:nvPr>
        </p:nvSpPr>
        <p:spPr/>
        <p:txBody>
          <a:bodyPr>
            <a:normAutofit/>
          </a:bodyPr>
          <a:lstStyle/>
          <a:p>
            <a:pPr algn="l"/>
            <a:r>
              <a:rPr lang="en-US" b="0" i="0" dirty="0">
                <a:solidFill>
                  <a:srgbClr val="292929"/>
                </a:solidFill>
                <a:effectLst/>
                <a:latin typeface="source-serif-pro"/>
              </a:rPr>
              <a:t>Polymorphism is an important concept of the Object-oriented programming paradigm.</a:t>
            </a:r>
            <a:endParaRPr lang="en-US" i="1" dirty="0">
              <a:solidFill>
                <a:srgbClr val="292929"/>
              </a:solidFill>
              <a:latin typeface="source-serif-pro"/>
            </a:endParaRPr>
          </a:p>
          <a:p>
            <a:pPr algn="l"/>
            <a:r>
              <a:rPr lang="en-US" b="0" i="0" dirty="0">
                <a:solidFill>
                  <a:srgbClr val="292929"/>
                </a:solidFill>
                <a:effectLst/>
                <a:latin typeface="source-serif-pro"/>
              </a:rPr>
              <a:t>It can be classified in two ways on the basis of the time at which the procedure call is resolved.</a:t>
            </a:r>
          </a:p>
          <a:p>
            <a:pPr lvl="1">
              <a:buFont typeface="Arial" panose="020B0604020202020204" pitchFamily="34" charset="0"/>
              <a:buChar char="•"/>
            </a:pPr>
            <a:r>
              <a:rPr lang="en-US" b="0" i="0" dirty="0">
                <a:solidFill>
                  <a:srgbClr val="292929"/>
                </a:solidFill>
                <a:effectLst/>
                <a:latin typeface="source-serif-pro"/>
              </a:rPr>
              <a:t>Static Polymorphism</a:t>
            </a:r>
          </a:p>
          <a:p>
            <a:pPr lvl="1">
              <a:buFont typeface="Arial" panose="020B0604020202020204" pitchFamily="34" charset="0"/>
              <a:buChar char="•"/>
            </a:pPr>
            <a:r>
              <a:rPr lang="en-US" b="0" i="0" dirty="0">
                <a:solidFill>
                  <a:srgbClr val="292929"/>
                </a:solidFill>
                <a:effectLst/>
                <a:latin typeface="source-serif-pro"/>
              </a:rPr>
              <a:t>Dynamic Polymorphism</a:t>
            </a:r>
          </a:p>
          <a:p>
            <a:endParaRPr lang="en-IN" dirty="0"/>
          </a:p>
        </p:txBody>
      </p:sp>
    </p:spTree>
    <p:extLst>
      <p:ext uri="{BB962C8B-B14F-4D97-AF65-F5344CB8AC3E}">
        <p14:creationId xmlns:p14="http://schemas.microsoft.com/office/powerpoint/2010/main" val="3540299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9E828-C94E-4157-E650-24E483FAC915}"/>
              </a:ext>
            </a:extLst>
          </p:cNvPr>
          <p:cNvSpPr>
            <a:spLocks noGrp="1"/>
          </p:cNvSpPr>
          <p:nvPr>
            <p:ph type="title"/>
          </p:nvPr>
        </p:nvSpPr>
        <p:spPr/>
        <p:txBody>
          <a:bodyPr>
            <a:normAutofit/>
          </a:bodyPr>
          <a:lstStyle/>
          <a:p>
            <a:r>
              <a:rPr lang="en-IN" dirty="0">
                <a:solidFill>
                  <a:srgbClr val="292929"/>
                </a:solidFill>
                <a:latin typeface="source-serif-pro"/>
              </a:rPr>
              <a:t>Static &amp; Dynamic Polymorphism</a:t>
            </a:r>
            <a:endParaRPr lang="en-IN" dirty="0"/>
          </a:p>
        </p:txBody>
      </p:sp>
      <p:sp>
        <p:nvSpPr>
          <p:cNvPr id="3" name="Content Placeholder 2">
            <a:extLst>
              <a:ext uri="{FF2B5EF4-FFF2-40B4-BE49-F238E27FC236}">
                <a16:creationId xmlns:a16="http://schemas.microsoft.com/office/drawing/2014/main" id="{CA4B5663-81AD-A521-3BB1-E2B4F1A75655}"/>
              </a:ext>
            </a:extLst>
          </p:cNvPr>
          <p:cNvSpPr>
            <a:spLocks noGrp="1"/>
          </p:cNvSpPr>
          <p:nvPr>
            <p:ph idx="1"/>
          </p:nvPr>
        </p:nvSpPr>
        <p:spPr/>
        <p:txBody>
          <a:bodyPr>
            <a:normAutofit fontScale="85000" lnSpcReduction="20000"/>
          </a:bodyPr>
          <a:lstStyle/>
          <a:p>
            <a:r>
              <a:rPr lang="en-US" b="1" i="0" dirty="0">
                <a:solidFill>
                  <a:srgbClr val="292929"/>
                </a:solidFill>
                <a:effectLst/>
                <a:latin typeface="source-serif-pro"/>
              </a:rPr>
              <a:t>Static Polymorphism </a:t>
            </a:r>
            <a:r>
              <a:rPr lang="en-US" b="0" i="0" dirty="0">
                <a:solidFill>
                  <a:srgbClr val="292929"/>
                </a:solidFill>
                <a:effectLst/>
                <a:latin typeface="source-serif-pro"/>
              </a:rPr>
              <a:t>implies that the invocation (call) to a function is resolved at compile time. It can be </a:t>
            </a:r>
            <a:r>
              <a:rPr lang="en-US" dirty="0">
                <a:solidFill>
                  <a:srgbClr val="292929"/>
                </a:solidFill>
                <a:latin typeface="source-serif-pro"/>
              </a:rPr>
              <a:t>implemented using Overloading. </a:t>
            </a:r>
          </a:p>
          <a:p>
            <a:pPr lvl="1"/>
            <a:r>
              <a:rPr lang="en-US" dirty="0">
                <a:solidFill>
                  <a:srgbClr val="292929"/>
                </a:solidFill>
                <a:latin typeface="source-serif-pro"/>
              </a:rPr>
              <a:t>It is also called early binding or compile-time polymorphism</a:t>
            </a:r>
          </a:p>
          <a:p>
            <a:r>
              <a:rPr lang="en-US" b="1" i="0" dirty="0">
                <a:solidFill>
                  <a:srgbClr val="292929"/>
                </a:solidFill>
                <a:effectLst/>
                <a:latin typeface="source-serif-pro"/>
              </a:rPr>
              <a:t>Dynamic Polymorphism </a:t>
            </a:r>
            <a:r>
              <a:rPr lang="en-US" b="0" i="0" dirty="0">
                <a:solidFill>
                  <a:srgbClr val="292929"/>
                </a:solidFill>
                <a:effectLst/>
                <a:latin typeface="source-serif-pro"/>
              </a:rPr>
              <a:t>implies that the invocation (call) to a function is resolved at run time. </a:t>
            </a:r>
            <a:r>
              <a:rPr lang="en-US" b="0" i="0" dirty="0">
                <a:solidFill>
                  <a:srgbClr val="202124"/>
                </a:solidFill>
                <a:effectLst/>
                <a:latin typeface="Google Sans"/>
              </a:rPr>
              <a:t>In dynamic polymorphism, the compiler resolves the object at run time and then it decides which function call should be associated with that object. </a:t>
            </a:r>
          </a:p>
          <a:p>
            <a:pPr lvl="1"/>
            <a:r>
              <a:rPr lang="en-US" b="0" i="0" dirty="0">
                <a:solidFill>
                  <a:srgbClr val="202124"/>
                </a:solidFill>
                <a:effectLst/>
                <a:latin typeface="Google Sans"/>
              </a:rPr>
              <a:t>It is also called </a:t>
            </a:r>
            <a:r>
              <a:rPr lang="en-US" dirty="0">
                <a:solidFill>
                  <a:srgbClr val="202124"/>
                </a:solidFill>
                <a:latin typeface="Google Sans"/>
              </a:rPr>
              <a:t>late binding or </a:t>
            </a:r>
            <a:r>
              <a:rPr lang="en-US" b="0" i="0" dirty="0">
                <a:solidFill>
                  <a:srgbClr val="202124"/>
                </a:solidFill>
                <a:effectLst/>
                <a:latin typeface="Google Sans"/>
              </a:rPr>
              <a:t>run-time polymorphism. This type of polymorphism is </a:t>
            </a:r>
            <a:r>
              <a:rPr lang="en-US" b="0" i="0" dirty="0">
                <a:solidFill>
                  <a:srgbClr val="040C28"/>
                </a:solidFill>
                <a:effectLst/>
                <a:latin typeface="Google Sans"/>
              </a:rPr>
              <a:t>executed through virtual functions and function overriding</a:t>
            </a:r>
            <a:r>
              <a:rPr lang="en-US" b="0" i="0" dirty="0">
                <a:solidFill>
                  <a:srgbClr val="202124"/>
                </a:solidFill>
                <a:effectLst/>
                <a:latin typeface="Google Sans"/>
              </a:rPr>
              <a:t>.</a:t>
            </a:r>
          </a:p>
        </p:txBody>
      </p:sp>
    </p:spTree>
    <p:extLst>
      <p:ext uri="{BB962C8B-B14F-4D97-AF65-F5344CB8AC3E}">
        <p14:creationId xmlns:p14="http://schemas.microsoft.com/office/powerpoint/2010/main" val="1173857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5FB7A-0D13-41FF-64C2-517DD76E1731}"/>
              </a:ext>
            </a:extLst>
          </p:cNvPr>
          <p:cNvSpPr>
            <a:spLocks noGrp="1"/>
          </p:cNvSpPr>
          <p:nvPr>
            <p:ph type="title"/>
          </p:nvPr>
        </p:nvSpPr>
        <p:spPr/>
        <p:txBody>
          <a:bodyPr/>
          <a:lstStyle/>
          <a:p>
            <a:r>
              <a:rPr lang="en-IN" dirty="0"/>
              <a:t>Virtual Function</a:t>
            </a:r>
          </a:p>
        </p:txBody>
      </p:sp>
      <p:sp>
        <p:nvSpPr>
          <p:cNvPr id="3" name="Content Placeholder 2">
            <a:extLst>
              <a:ext uri="{FF2B5EF4-FFF2-40B4-BE49-F238E27FC236}">
                <a16:creationId xmlns:a16="http://schemas.microsoft.com/office/drawing/2014/main" id="{52B02F19-ED48-4C9F-E995-7B3CEF94B07C}"/>
              </a:ext>
            </a:extLst>
          </p:cNvPr>
          <p:cNvSpPr>
            <a:spLocks noGrp="1"/>
          </p:cNvSpPr>
          <p:nvPr>
            <p:ph idx="1"/>
          </p:nvPr>
        </p:nvSpPr>
        <p:spPr/>
        <p:txBody>
          <a:bodyPr/>
          <a:lstStyle/>
          <a:p>
            <a:r>
              <a:rPr lang="en-US" dirty="0"/>
              <a:t>For the overriding, the function should be bound dynamically to the function body, we make the base class function virtual using the “virtual” keyword. </a:t>
            </a:r>
          </a:p>
          <a:p>
            <a:r>
              <a:rPr lang="en-US" dirty="0"/>
              <a:t>This virtual function is a function that is overridden in the derived class and the compiler carries out late or dynamic binding for this function.</a:t>
            </a:r>
            <a:endParaRPr lang="en-IN" dirty="0"/>
          </a:p>
        </p:txBody>
      </p:sp>
    </p:spTree>
    <p:extLst>
      <p:ext uri="{BB962C8B-B14F-4D97-AF65-F5344CB8AC3E}">
        <p14:creationId xmlns:p14="http://schemas.microsoft.com/office/powerpoint/2010/main" val="2217614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FC05B-DC46-AFF2-AC93-92F089F1EE9E}"/>
              </a:ext>
            </a:extLst>
          </p:cNvPr>
          <p:cNvSpPr>
            <a:spLocks noGrp="1"/>
          </p:cNvSpPr>
          <p:nvPr>
            <p:ph type="title"/>
          </p:nvPr>
        </p:nvSpPr>
        <p:spPr>
          <a:xfrm>
            <a:off x="457200" y="274638"/>
            <a:ext cx="8229600" cy="411162"/>
          </a:xfrm>
        </p:spPr>
        <p:txBody>
          <a:bodyPr>
            <a:normAutofit fontScale="90000"/>
          </a:bodyPr>
          <a:lstStyle/>
          <a:p>
            <a:r>
              <a:rPr lang="en-IN" dirty="0"/>
              <a:t>Virtual Function: Early/Late binding</a:t>
            </a:r>
          </a:p>
        </p:txBody>
      </p:sp>
      <p:sp>
        <p:nvSpPr>
          <p:cNvPr id="3" name="Content Placeholder 2">
            <a:extLst>
              <a:ext uri="{FF2B5EF4-FFF2-40B4-BE49-F238E27FC236}">
                <a16:creationId xmlns:a16="http://schemas.microsoft.com/office/drawing/2014/main" id="{01030125-2558-CAC7-2715-3400846F069F}"/>
              </a:ext>
            </a:extLst>
          </p:cNvPr>
          <p:cNvSpPr>
            <a:spLocks noGrp="1"/>
          </p:cNvSpPr>
          <p:nvPr>
            <p:ph idx="1"/>
          </p:nvPr>
        </p:nvSpPr>
        <p:spPr>
          <a:xfrm>
            <a:off x="457200" y="838200"/>
            <a:ext cx="3962400" cy="4572000"/>
          </a:xfrm>
        </p:spPr>
        <p:txBody>
          <a:bodyPr>
            <a:normAutofit fontScale="92500" lnSpcReduction="10000"/>
          </a:bodyPr>
          <a:lstStyle/>
          <a:p>
            <a:pPr marL="0" indent="0">
              <a:buNone/>
            </a:pPr>
            <a:r>
              <a:rPr lang="en-IN" sz="1100" dirty="0"/>
              <a:t>//Early Binding</a:t>
            </a:r>
          </a:p>
          <a:p>
            <a:pPr marL="0" indent="0">
              <a:buNone/>
            </a:pPr>
            <a:r>
              <a:rPr lang="en-IN" sz="1100" dirty="0"/>
              <a:t>#include&lt;iostream&gt;</a:t>
            </a:r>
          </a:p>
          <a:p>
            <a:pPr marL="0" indent="0">
              <a:buNone/>
            </a:pPr>
            <a:r>
              <a:rPr lang="en-IN" sz="1100" dirty="0"/>
              <a:t>using namespace std;</a:t>
            </a:r>
          </a:p>
          <a:p>
            <a:pPr marL="0" indent="0">
              <a:buNone/>
            </a:pPr>
            <a:r>
              <a:rPr lang="en-IN" sz="1100" dirty="0"/>
              <a:t>class A {</a:t>
            </a:r>
          </a:p>
          <a:p>
            <a:pPr marL="0" indent="0">
              <a:buNone/>
            </a:pPr>
            <a:r>
              <a:rPr lang="en-IN" sz="1100" dirty="0"/>
              <a:t>public:</a:t>
            </a:r>
          </a:p>
          <a:p>
            <a:pPr marL="0" indent="0">
              <a:buNone/>
            </a:pPr>
            <a:r>
              <a:rPr lang="en-IN" sz="1100" dirty="0"/>
              <a:t>	void show(){</a:t>
            </a:r>
          </a:p>
          <a:p>
            <a:pPr marL="0" indent="0">
              <a:buNone/>
            </a:pPr>
            <a:r>
              <a:rPr lang="en-IN" sz="1100" dirty="0"/>
              <a:t>	</a:t>
            </a:r>
            <a:r>
              <a:rPr lang="en-IN" sz="1100" dirty="0" err="1"/>
              <a:t>cout</a:t>
            </a:r>
            <a:r>
              <a:rPr lang="en-IN" sz="1100" dirty="0"/>
              <a:t>&lt;&lt;"base class"&lt;&lt;</a:t>
            </a:r>
            <a:r>
              <a:rPr lang="en-IN" sz="1100" dirty="0" err="1"/>
              <a:t>endl</a:t>
            </a:r>
            <a:r>
              <a:rPr lang="en-IN" sz="1100" dirty="0"/>
              <a:t>;</a:t>
            </a:r>
          </a:p>
          <a:p>
            <a:pPr marL="0" indent="0">
              <a:buNone/>
            </a:pPr>
            <a:r>
              <a:rPr lang="en-IN" sz="1100" dirty="0"/>
              <a:t>	}</a:t>
            </a:r>
          </a:p>
          <a:p>
            <a:pPr marL="0" indent="0">
              <a:buNone/>
            </a:pPr>
            <a:r>
              <a:rPr lang="en-IN" sz="1100" dirty="0"/>
              <a:t>};</a:t>
            </a:r>
          </a:p>
          <a:p>
            <a:pPr marL="0" indent="0">
              <a:buNone/>
            </a:pPr>
            <a:r>
              <a:rPr lang="en-IN" sz="1100" dirty="0"/>
              <a:t>class B:public A{</a:t>
            </a:r>
          </a:p>
          <a:p>
            <a:pPr marL="0" indent="0">
              <a:buNone/>
            </a:pPr>
            <a:r>
              <a:rPr lang="en-IN" sz="1100" dirty="0"/>
              <a:t>public:</a:t>
            </a:r>
          </a:p>
          <a:p>
            <a:pPr marL="0" indent="0">
              <a:buNone/>
            </a:pPr>
            <a:r>
              <a:rPr lang="en-IN" sz="1100" dirty="0"/>
              <a:t>	void show(){</a:t>
            </a:r>
          </a:p>
          <a:p>
            <a:pPr marL="0" indent="0">
              <a:buNone/>
            </a:pPr>
            <a:r>
              <a:rPr lang="en-IN" sz="1100" dirty="0"/>
              <a:t>	</a:t>
            </a:r>
            <a:r>
              <a:rPr lang="en-IN" sz="1100" dirty="0" err="1"/>
              <a:t>cout</a:t>
            </a:r>
            <a:r>
              <a:rPr lang="en-IN" sz="1100" dirty="0"/>
              <a:t>&lt;&lt;"derived class"&lt;&lt;</a:t>
            </a:r>
            <a:r>
              <a:rPr lang="en-IN" sz="1100" dirty="0" err="1"/>
              <a:t>endl</a:t>
            </a:r>
            <a:r>
              <a:rPr lang="en-IN" sz="1100" dirty="0"/>
              <a:t>;</a:t>
            </a:r>
          </a:p>
          <a:p>
            <a:pPr marL="0" indent="0">
              <a:buNone/>
            </a:pPr>
            <a:r>
              <a:rPr lang="en-IN" sz="1100" dirty="0"/>
              <a:t>	}</a:t>
            </a:r>
          </a:p>
          <a:p>
            <a:pPr marL="0" indent="0">
              <a:buNone/>
            </a:pPr>
            <a:r>
              <a:rPr lang="en-IN" sz="1100" dirty="0"/>
              <a:t>};</a:t>
            </a:r>
          </a:p>
          <a:p>
            <a:pPr marL="0" indent="0">
              <a:buNone/>
            </a:pPr>
            <a:r>
              <a:rPr lang="en-IN" sz="1100" dirty="0"/>
              <a:t>int main(){</a:t>
            </a:r>
          </a:p>
          <a:p>
            <a:pPr marL="0" indent="0">
              <a:buNone/>
            </a:pPr>
            <a:r>
              <a:rPr lang="en-IN" sz="1100" dirty="0"/>
              <a:t>B </a:t>
            </a:r>
            <a:r>
              <a:rPr lang="en-IN" sz="1100" dirty="0" err="1"/>
              <a:t>b</a:t>
            </a:r>
            <a:r>
              <a:rPr lang="en-IN" sz="1100" dirty="0"/>
              <a:t>;</a:t>
            </a:r>
          </a:p>
          <a:p>
            <a:pPr marL="0" indent="0">
              <a:buNone/>
            </a:pPr>
            <a:r>
              <a:rPr lang="en-IN" sz="1100" dirty="0" err="1"/>
              <a:t>b.show</a:t>
            </a:r>
            <a:r>
              <a:rPr lang="en-IN" sz="1100" dirty="0"/>
              <a:t>();  // early binding (at compile time)</a:t>
            </a:r>
          </a:p>
          <a:p>
            <a:pPr marL="0" indent="0">
              <a:buNone/>
            </a:pPr>
            <a:r>
              <a:rPr lang="en-IN" sz="1100" dirty="0" err="1"/>
              <a:t>b.A</a:t>
            </a:r>
            <a:r>
              <a:rPr lang="en-IN" sz="1100" dirty="0"/>
              <a:t>::show(); // early binding</a:t>
            </a:r>
          </a:p>
          <a:p>
            <a:pPr marL="0" indent="0">
              <a:buNone/>
            </a:pPr>
            <a:r>
              <a:rPr lang="en-IN" sz="1100" dirty="0"/>
              <a:t>return 0;</a:t>
            </a:r>
          </a:p>
          <a:p>
            <a:pPr marL="0" indent="0">
              <a:buNone/>
            </a:pPr>
            <a:r>
              <a:rPr lang="en-IN" sz="1100" dirty="0"/>
              <a:t>}</a:t>
            </a:r>
          </a:p>
          <a:p>
            <a:pPr marL="0" indent="0">
              <a:buNone/>
            </a:pPr>
            <a:endParaRPr lang="en-IN" sz="1100" dirty="0"/>
          </a:p>
          <a:p>
            <a:pPr marL="0" indent="0">
              <a:buNone/>
            </a:pPr>
            <a:r>
              <a:rPr lang="en-IN" sz="1100" dirty="0"/>
              <a:t>Output:</a:t>
            </a:r>
          </a:p>
          <a:p>
            <a:pPr marL="0" indent="0">
              <a:buNone/>
            </a:pPr>
            <a:r>
              <a:rPr lang="en-IN" sz="1100" dirty="0"/>
              <a:t>derived class</a:t>
            </a:r>
          </a:p>
          <a:p>
            <a:pPr marL="0" indent="0">
              <a:buNone/>
            </a:pPr>
            <a:r>
              <a:rPr lang="en-IN" sz="1100" dirty="0"/>
              <a:t>base class</a:t>
            </a:r>
          </a:p>
        </p:txBody>
      </p:sp>
      <p:sp>
        <p:nvSpPr>
          <p:cNvPr id="4" name="Content Placeholder 2">
            <a:extLst>
              <a:ext uri="{FF2B5EF4-FFF2-40B4-BE49-F238E27FC236}">
                <a16:creationId xmlns:a16="http://schemas.microsoft.com/office/drawing/2014/main" id="{201762FC-9385-E076-5E42-5167C7594419}"/>
              </a:ext>
            </a:extLst>
          </p:cNvPr>
          <p:cNvSpPr txBox="1">
            <a:spLocks/>
          </p:cNvSpPr>
          <p:nvPr/>
        </p:nvSpPr>
        <p:spPr>
          <a:xfrm>
            <a:off x="4495800" y="838200"/>
            <a:ext cx="4114800" cy="434340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sz="1100" dirty="0"/>
              <a:t>// Late binding</a:t>
            </a:r>
          </a:p>
          <a:p>
            <a:pPr marL="0" indent="0">
              <a:buFont typeface="Arial" pitchFamily="34" charset="0"/>
              <a:buNone/>
            </a:pPr>
            <a:r>
              <a:rPr lang="en-IN" sz="1100" dirty="0"/>
              <a:t>#include&lt;iostream&gt;</a:t>
            </a:r>
          </a:p>
          <a:p>
            <a:pPr marL="0" indent="0">
              <a:buFont typeface="Arial" pitchFamily="34" charset="0"/>
              <a:buNone/>
            </a:pPr>
            <a:r>
              <a:rPr lang="en-IN" sz="1100" dirty="0"/>
              <a:t>using namespace std;</a:t>
            </a:r>
          </a:p>
          <a:p>
            <a:pPr marL="0" indent="0">
              <a:buFont typeface="Arial" pitchFamily="34" charset="0"/>
              <a:buNone/>
            </a:pPr>
            <a:r>
              <a:rPr lang="en-IN" sz="1100" dirty="0"/>
              <a:t>class A {</a:t>
            </a:r>
          </a:p>
          <a:p>
            <a:pPr marL="0" indent="0">
              <a:buFont typeface="Arial" pitchFamily="34" charset="0"/>
              <a:buNone/>
            </a:pPr>
            <a:r>
              <a:rPr lang="en-IN" sz="1100" dirty="0"/>
              <a:t>public:</a:t>
            </a:r>
          </a:p>
          <a:p>
            <a:pPr marL="0" indent="0">
              <a:buFont typeface="Arial" pitchFamily="34" charset="0"/>
              <a:buNone/>
            </a:pPr>
            <a:r>
              <a:rPr lang="en-IN" sz="1100" dirty="0"/>
              <a:t>	virtual void show(){</a:t>
            </a:r>
          </a:p>
          <a:p>
            <a:pPr marL="0" indent="0">
              <a:buFont typeface="Arial" pitchFamily="34" charset="0"/>
              <a:buNone/>
            </a:pPr>
            <a:r>
              <a:rPr lang="en-IN" sz="1100" dirty="0"/>
              <a:t>	</a:t>
            </a:r>
            <a:r>
              <a:rPr lang="en-IN" sz="1100" dirty="0" err="1"/>
              <a:t>cout</a:t>
            </a:r>
            <a:r>
              <a:rPr lang="en-IN" sz="1100" dirty="0"/>
              <a:t>&lt;&lt;"base class"&lt;&lt;</a:t>
            </a:r>
            <a:r>
              <a:rPr lang="en-IN" sz="1100" dirty="0" err="1"/>
              <a:t>endl</a:t>
            </a:r>
            <a:r>
              <a:rPr lang="en-IN" sz="1100" dirty="0"/>
              <a:t>;</a:t>
            </a:r>
          </a:p>
          <a:p>
            <a:pPr marL="0" indent="0">
              <a:buFont typeface="Arial" pitchFamily="34" charset="0"/>
              <a:buNone/>
            </a:pPr>
            <a:r>
              <a:rPr lang="en-IN" sz="1100" dirty="0"/>
              <a:t>	}</a:t>
            </a:r>
          </a:p>
          <a:p>
            <a:pPr marL="0" indent="0">
              <a:buFont typeface="Arial" pitchFamily="34" charset="0"/>
              <a:buNone/>
            </a:pPr>
            <a:r>
              <a:rPr lang="en-IN" sz="1100" dirty="0"/>
              <a:t>};</a:t>
            </a:r>
          </a:p>
          <a:p>
            <a:pPr marL="0" indent="0">
              <a:buFont typeface="Arial" pitchFamily="34" charset="0"/>
              <a:buNone/>
            </a:pPr>
            <a:r>
              <a:rPr lang="en-IN" sz="1100" dirty="0"/>
              <a:t>class B:public A{</a:t>
            </a:r>
          </a:p>
          <a:p>
            <a:pPr marL="0" indent="0">
              <a:buFont typeface="Arial" pitchFamily="34" charset="0"/>
              <a:buNone/>
            </a:pPr>
            <a:r>
              <a:rPr lang="en-IN" sz="1100" dirty="0"/>
              <a:t>public:</a:t>
            </a:r>
          </a:p>
          <a:p>
            <a:pPr marL="0" indent="0">
              <a:buFont typeface="Arial" pitchFamily="34" charset="0"/>
              <a:buNone/>
            </a:pPr>
            <a:r>
              <a:rPr lang="en-IN" sz="1100" dirty="0"/>
              <a:t>	void show(){</a:t>
            </a:r>
          </a:p>
          <a:p>
            <a:pPr marL="0" indent="0">
              <a:buFont typeface="Arial" pitchFamily="34" charset="0"/>
              <a:buNone/>
            </a:pPr>
            <a:r>
              <a:rPr lang="en-IN" sz="1100" dirty="0"/>
              <a:t>	</a:t>
            </a:r>
            <a:r>
              <a:rPr lang="en-IN" sz="1100" dirty="0" err="1"/>
              <a:t>cout</a:t>
            </a:r>
            <a:r>
              <a:rPr lang="en-IN" sz="1100" dirty="0"/>
              <a:t>&lt;&lt;"derived class"&lt;&lt;</a:t>
            </a:r>
            <a:r>
              <a:rPr lang="en-IN" sz="1100" dirty="0" err="1"/>
              <a:t>endl</a:t>
            </a:r>
            <a:r>
              <a:rPr lang="en-IN" sz="1100" dirty="0"/>
              <a:t>;</a:t>
            </a:r>
          </a:p>
          <a:p>
            <a:pPr marL="0" indent="0">
              <a:buFont typeface="Arial" pitchFamily="34" charset="0"/>
              <a:buNone/>
            </a:pPr>
            <a:r>
              <a:rPr lang="en-IN" sz="1100" dirty="0"/>
              <a:t>	}</a:t>
            </a:r>
          </a:p>
          <a:p>
            <a:pPr marL="0" indent="0">
              <a:buFont typeface="Arial" pitchFamily="34" charset="0"/>
              <a:buNone/>
            </a:pPr>
            <a:r>
              <a:rPr lang="en-IN" sz="1100" dirty="0"/>
              <a:t>};</a:t>
            </a:r>
          </a:p>
          <a:p>
            <a:pPr marL="0" indent="0">
              <a:buFont typeface="Arial" pitchFamily="34" charset="0"/>
              <a:buNone/>
            </a:pPr>
            <a:r>
              <a:rPr lang="en-US" sz="1100" dirty="0"/>
              <a:t>int main(){</a:t>
            </a:r>
          </a:p>
          <a:p>
            <a:pPr marL="0" indent="0">
              <a:buFont typeface="Arial" pitchFamily="34" charset="0"/>
              <a:buNone/>
            </a:pPr>
            <a:r>
              <a:rPr lang="en-US" sz="1100" dirty="0"/>
              <a:t>A *</a:t>
            </a:r>
            <a:r>
              <a:rPr lang="en-US" sz="1100" dirty="0" err="1"/>
              <a:t>bptr</a:t>
            </a:r>
            <a:r>
              <a:rPr lang="en-US" sz="1100" dirty="0"/>
              <a:t>;   // base class </a:t>
            </a:r>
            <a:r>
              <a:rPr lang="en-US" sz="1100" dirty="0" err="1"/>
              <a:t>ptr</a:t>
            </a:r>
            <a:endParaRPr lang="en-US" sz="1100" dirty="0"/>
          </a:p>
          <a:p>
            <a:pPr marL="0" indent="0">
              <a:buFont typeface="Arial" pitchFamily="34" charset="0"/>
              <a:buNone/>
            </a:pPr>
            <a:r>
              <a:rPr lang="en-US" sz="1100" dirty="0"/>
              <a:t>B </a:t>
            </a:r>
            <a:r>
              <a:rPr lang="en-US" sz="1100" dirty="0" err="1"/>
              <a:t>b</a:t>
            </a:r>
            <a:r>
              <a:rPr lang="en-US" sz="1100" dirty="0"/>
              <a:t>; // derived class object</a:t>
            </a:r>
          </a:p>
          <a:p>
            <a:pPr marL="0" indent="0">
              <a:buFont typeface="Arial" pitchFamily="34" charset="0"/>
              <a:buNone/>
            </a:pPr>
            <a:r>
              <a:rPr lang="en-US" sz="1100" dirty="0" err="1"/>
              <a:t>bptr</a:t>
            </a:r>
            <a:r>
              <a:rPr lang="en-US" sz="1100" dirty="0"/>
              <a:t>=&amp;b; // base class </a:t>
            </a:r>
            <a:r>
              <a:rPr lang="en-US" sz="1100" dirty="0" err="1"/>
              <a:t>ptr</a:t>
            </a:r>
            <a:r>
              <a:rPr lang="en-US" sz="1100" dirty="0"/>
              <a:t> referencing derived class object</a:t>
            </a:r>
          </a:p>
          <a:p>
            <a:pPr marL="0" indent="0">
              <a:buFont typeface="Arial" pitchFamily="34" charset="0"/>
              <a:buNone/>
            </a:pPr>
            <a:r>
              <a:rPr lang="en-US" sz="1100" dirty="0" err="1"/>
              <a:t>bptr</a:t>
            </a:r>
            <a:r>
              <a:rPr lang="en-US" sz="1100" dirty="0"/>
              <a:t>-&gt;show();  // late binding  </a:t>
            </a:r>
            <a:r>
              <a:rPr lang="en-IN" sz="1100" dirty="0"/>
              <a:t> (at run time)</a:t>
            </a:r>
            <a:endParaRPr lang="en-US" sz="1100" dirty="0"/>
          </a:p>
          <a:p>
            <a:pPr marL="0" indent="0">
              <a:buFont typeface="Arial" pitchFamily="34" charset="0"/>
              <a:buNone/>
            </a:pPr>
            <a:r>
              <a:rPr lang="en-US" sz="1100" dirty="0"/>
              <a:t>return 0;</a:t>
            </a:r>
            <a:endParaRPr lang="en-IN" sz="1100" dirty="0"/>
          </a:p>
          <a:p>
            <a:pPr marL="0" indent="0">
              <a:buFont typeface="Arial" pitchFamily="34" charset="0"/>
              <a:buNone/>
            </a:pPr>
            <a:r>
              <a:rPr lang="en-IN" sz="1100" dirty="0"/>
              <a:t>}</a:t>
            </a:r>
          </a:p>
          <a:p>
            <a:pPr marL="0" indent="0">
              <a:buFont typeface="Arial" pitchFamily="34" charset="0"/>
              <a:buNone/>
            </a:pPr>
            <a:endParaRPr lang="en-IN" sz="1100" dirty="0"/>
          </a:p>
          <a:p>
            <a:pPr marL="0" indent="0">
              <a:buFont typeface="Arial" pitchFamily="34" charset="0"/>
              <a:buNone/>
            </a:pPr>
            <a:r>
              <a:rPr lang="en-IN" sz="1100" dirty="0"/>
              <a:t>Output:</a:t>
            </a:r>
          </a:p>
          <a:p>
            <a:pPr marL="0" indent="0">
              <a:buFont typeface="Arial" pitchFamily="34" charset="0"/>
              <a:buNone/>
            </a:pPr>
            <a:r>
              <a:rPr lang="en-IN" sz="1100" dirty="0"/>
              <a:t>derived class</a:t>
            </a:r>
          </a:p>
        </p:txBody>
      </p:sp>
      <p:sp>
        <p:nvSpPr>
          <p:cNvPr id="5" name="TextBox 4">
            <a:extLst>
              <a:ext uri="{FF2B5EF4-FFF2-40B4-BE49-F238E27FC236}">
                <a16:creationId xmlns:a16="http://schemas.microsoft.com/office/drawing/2014/main" id="{59DFFC73-3CCE-7D0A-CE7D-48CC6B405C4B}"/>
              </a:ext>
            </a:extLst>
          </p:cNvPr>
          <p:cNvSpPr txBox="1"/>
          <p:nvPr/>
        </p:nvSpPr>
        <p:spPr>
          <a:xfrm>
            <a:off x="762000" y="5486400"/>
            <a:ext cx="7696200" cy="1200329"/>
          </a:xfrm>
          <a:prstGeom prst="rect">
            <a:avLst/>
          </a:prstGeom>
          <a:noFill/>
        </p:spPr>
        <p:txBody>
          <a:bodyPr wrap="square" rtlCol="0">
            <a:spAutoFit/>
          </a:bodyPr>
          <a:lstStyle/>
          <a:p>
            <a:pPr marL="285750" indent="-285750">
              <a:buFont typeface="Arial" panose="020B0604020202020204" pitchFamily="34" charset="0"/>
              <a:buChar char="•"/>
            </a:pPr>
            <a:r>
              <a:rPr lang="en-IN" dirty="0"/>
              <a:t>A virtual function is redefined in the derived class.</a:t>
            </a:r>
          </a:p>
          <a:p>
            <a:pPr marL="285750" indent="-285750">
              <a:buFont typeface="Arial" panose="020B0604020202020204" pitchFamily="34" charset="0"/>
              <a:buChar char="•"/>
            </a:pPr>
            <a:r>
              <a:rPr lang="en-IN" dirty="0"/>
              <a:t>When a virtual function is defined in the base class, then the pointer to base class is created. Now, on the basis of type of object assigned, the respective class function will be called.</a:t>
            </a:r>
          </a:p>
        </p:txBody>
      </p:sp>
    </p:spTree>
    <p:extLst>
      <p:ext uri="{BB962C8B-B14F-4D97-AF65-F5344CB8AC3E}">
        <p14:creationId xmlns:p14="http://schemas.microsoft.com/office/powerpoint/2010/main" val="4225617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0B067A-B355-CC3D-48E3-2CDBB812BA07}"/>
              </a:ext>
            </a:extLst>
          </p:cNvPr>
          <p:cNvSpPr txBox="1"/>
          <p:nvPr/>
        </p:nvSpPr>
        <p:spPr>
          <a:xfrm>
            <a:off x="457200" y="566678"/>
            <a:ext cx="8458200" cy="1754326"/>
          </a:xfrm>
          <a:prstGeom prst="rect">
            <a:avLst/>
          </a:prstGeom>
          <a:noFill/>
        </p:spPr>
        <p:txBody>
          <a:bodyPr wrap="square">
            <a:spAutoFit/>
          </a:bodyPr>
          <a:lstStyle/>
          <a:p>
            <a:r>
              <a:rPr lang="en-US" dirty="0"/>
              <a:t>So in this class definition of Base, we made the show() function as “virtual”. As the base class function is made virtual, when we assign the derived class object to the base class pointer and call the show() function, the binding happens at runtime.</a:t>
            </a:r>
          </a:p>
          <a:p>
            <a:endParaRPr lang="en-US" dirty="0"/>
          </a:p>
          <a:p>
            <a:r>
              <a:rPr lang="en-US" dirty="0"/>
              <a:t>Thus, as the base class pointer contains a derived class object, the show() function body in the derived class is bound to function show() and hence the output.</a:t>
            </a:r>
            <a:endParaRPr lang="en-IN" dirty="0"/>
          </a:p>
        </p:txBody>
      </p:sp>
    </p:spTree>
    <p:extLst>
      <p:ext uri="{BB962C8B-B14F-4D97-AF65-F5344CB8AC3E}">
        <p14:creationId xmlns:p14="http://schemas.microsoft.com/office/powerpoint/2010/main" val="3377223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6626E-91B3-DE3B-155F-2800D1A1352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48137F-5A2D-1F42-99C6-55E487529368}"/>
              </a:ext>
            </a:extLst>
          </p:cNvPr>
          <p:cNvSpPr>
            <a:spLocks noGrp="1"/>
          </p:cNvSpPr>
          <p:nvPr>
            <p:ph idx="1"/>
          </p:nvPr>
        </p:nvSpPr>
        <p:spPr/>
        <p:txBody>
          <a:bodyPr>
            <a:normAutofit lnSpcReduction="10000"/>
          </a:bodyPr>
          <a:lstStyle/>
          <a:p>
            <a:r>
              <a:rPr lang="en-US" dirty="0"/>
              <a:t>In C++, the overridden function in derived class can also be private. The compiler only checks the type of the object at compile time and binds the function at run time, hence it doesn’t make any difference even if the function is public or private.</a:t>
            </a:r>
          </a:p>
          <a:p>
            <a:r>
              <a:rPr lang="en-US" dirty="0"/>
              <a:t>Note that if a function is declared virtual in the base class, it will be virtual in all derived classes.</a:t>
            </a:r>
            <a:endParaRPr lang="en-IN" dirty="0"/>
          </a:p>
        </p:txBody>
      </p:sp>
    </p:spTree>
    <p:extLst>
      <p:ext uri="{BB962C8B-B14F-4D97-AF65-F5344CB8AC3E}">
        <p14:creationId xmlns:p14="http://schemas.microsoft.com/office/powerpoint/2010/main" val="18723896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5C453-934A-08FB-EB94-9B0FC91375C3}"/>
              </a:ext>
            </a:extLst>
          </p:cNvPr>
          <p:cNvSpPr>
            <a:spLocks noGrp="1"/>
          </p:cNvSpPr>
          <p:nvPr>
            <p:ph type="title"/>
          </p:nvPr>
        </p:nvSpPr>
        <p:spPr>
          <a:xfrm>
            <a:off x="457200" y="274638"/>
            <a:ext cx="8229600" cy="563562"/>
          </a:xfrm>
        </p:spPr>
        <p:txBody>
          <a:bodyPr>
            <a:normAutofit fontScale="90000"/>
          </a:bodyPr>
          <a:lstStyle/>
          <a:p>
            <a:r>
              <a:rPr lang="en-IN" dirty="0"/>
              <a:t>Pure Virtual Function</a:t>
            </a:r>
          </a:p>
        </p:txBody>
      </p:sp>
      <p:sp>
        <p:nvSpPr>
          <p:cNvPr id="6" name="Content Placeholder 2">
            <a:extLst>
              <a:ext uri="{FF2B5EF4-FFF2-40B4-BE49-F238E27FC236}">
                <a16:creationId xmlns:a16="http://schemas.microsoft.com/office/drawing/2014/main" id="{F8DAE164-2929-9DAC-A8F7-E4A01E5756F9}"/>
              </a:ext>
            </a:extLst>
          </p:cNvPr>
          <p:cNvSpPr txBox="1">
            <a:spLocks/>
          </p:cNvSpPr>
          <p:nvPr/>
        </p:nvSpPr>
        <p:spPr>
          <a:xfrm>
            <a:off x="381000" y="990600"/>
            <a:ext cx="5181600" cy="5592762"/>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dirty="0"/>
              <a:t>#include&lt;iostream&gt;</a:t>
            </a:r>
          </a:p>
          <a:p>
            <a:pPr marL="0" indent="0">
              <a:buFont typeface="Arial" pitchFamily="34" charset="0"/>
              <a:buNone/>
            </a:pPr>
            <a:r>
              <a:rPr lang="en-IN" dirty="0"/>
              <a:t>using namespace std;</a:t>
            </a:r>
          </a:p>
          <a:p>
            <a:pPr marL="0" indent="0">
              <a:buFont typeface="Arial" pitchFamily="34" charset="0"/>
              <a:buNone/>
            </a:pPr>
            <a:r>
              <a:rPr lang="en-IN" dirty="0"/>
              <a:t>class A {</a:t>
            </a:r>
          </a:p>
          <a:p>
            <a:pPr marL="0" indent="0">
              <a:buFont typeface="Arial" pitchFamily="34" charset="0"/>
              <a:buNone/>
            </a:pPr>
            <a:r>
              <a:rPr lang="en-IN" dirty="0"/>
              <a:t>public:</a:t>
            </a:r>
          </a:p>
          <a:p>
            <a:pPr marL="0" indent="0">
              <a:buFont typeface="Arial" pitchFamily="34" charset="0"/>
              <a:buNone/>
            </a:pPr>
            <a:r>
              <a:rPr lang="en-IN" dirty="0"/>
              <a:t>	virtual void show()=0;  // pure virtual function</a:t>
            </a:r>
          </a:p>
          <a:p>
            <a:pPr marL="0" indent="0">
              <a:buFont typeface="Arial" pitchFamily="34" charset="0"/>
              <a:buNone/>
            </a:pPr>
            <a:r>
              <a:rPr lang="en-IN" dirty="0"/>
              <a:t>};</a:t>
            </a:r>
          </a:p>
          <a:p>
            <a:pPr marL="0" indent="0">
              <a:buFont typeface="Arial" pitchFamily="34" charset="0"/>
              <a:buNone/>
            </a:pPr>
            <a:r>
              <a:rPr lang="en-IN" dirty="0"/>
              <a:t>class B:public A{</a:t>
            </a:r>
          </a:p>
          <a:p>
            <a:pPr marL="0" indent="0">
              <a:buFont typeface="Arial" pitchFamily="34" charset="0"/>
              <a:buNone/>
            </a:pPr>
            <a:r>
              <a:rPr lang="en-IN" dirty="0"/>
              <a:t>public:</a:t>
            </a:r>
          </a:p>
          <a:p>
            <a:pPr marL="0" indent="0">
              <a:buFont typeface="Arial" pitchFamily="34" charset="0"/>
              <a:buNone/>
            </a:pPr>
            <a:r>
              <a:rPr lang="en-IN" dirty="0"/>
              <a:t>	void show(){</a:t>
            </a:r>
          </a:p>
          <a:p>
            <a:pPr marL="0" indent="0">
              <a:buFont typeface="Arial" pitchFamily="34" charset="0"/>
              <a:buNone/>
            </a:pPr>
            <a:r>
              <a:rPr lang="en-IN" dirty="0"/>
              <a:t>	</a:t>
            </a:r>
            <a:r>
              <a:rPr lang="en-IN" dirty="0" err="1"/>
              <a:t>cout</a:t>
            </a:r>
            <a:r>
              <a:rPr lang="en-IN" dirty="0"/>
              <a:t>&lt;&lt;"derived class"&lt;&lt;</a:t>
            </a:r>
            <a:r>
              <a:rPr lang="en-IN" dirty="0" err="1"/>
              <a:t>endl</a:t>
            </a:r>
            <a:r>
              <a:rPr lang="en-IN" dirty="0"/>
              <a:t>;</a:t>
            </a:r>
          </a:p>
          <a:p>
            <a:pPr marL="0" indent="0">
              <a:buFont typeface="Arial" pitchFamily="34" charset="0"/>
              <a:buNone/>
            </a:pPr>
            <a:r>
              <a:rPr lang="en-IN" dirty="0"/>
              <a:t>	}</a:t>
            </a:r>
          </a:p>
          <a:p>
            <a:pPr marL="0" indent="0">
              <a:buFont typeface="Arial" pitchFamily="34" charset="0"/>
              <a:buNone/>
            </a:pPr>
            <a:r>
              <a:rPr lang="en-IN" dirty="0"/>
              <a:t>};</a:t>
            </a:r>
          </a:p>
          <a:p>
            <a:pPr marL="0" indent="0">
              <a:buFont typeface="Arial" pitchFamily="34" charset="0"/>
              <a:buNone/>
            </a:pPr>
            <a:r>
              <a:rPr lang="en-US" dirty="0"/>
              <a:t>int main(){</a:t>
            </a:r>
          </a:p>
          <a:p>
            <a:pPr marL="0" indent="0">
              <a:buFont typeface="Arial" pitchFamily="34" charset="0"/>
              <a:buNone/>
            </a:pPr>
            <a:r>
              <a:rPr lang="en-US" dirty="0"/>
              <a:t>A *</a:t>
            </a:r>
            <a:r>
              <a:rPr lang="en-US" dirty="0" err="1"/>
              <a:t>bptr</a:t>
            </a:r>
            <a:r>
              <a:rPr lang="en-US" dirty="0"/>
              <a:t>;</a:t>
            </a:r>
          </a:p>
          <a:p>
            <a:pPr marL="0" indent="0">
              <a:buFont typeface="Arial" pitchFamily="34" charset="0"/>
              <a:buNone/>
            </a:pPr>
            <a:r>
              <a:rPr lang="en-US" dirty="0"/>
              <a:t>B </a:t>
            </a:r>
            <a:r>
              <a:rPr lang="en-US" dirty="0" err="1"/>
              <a:t>b</a:t>
            </a:r>
            <a:r>
              <a:rPr lang="en-US" dirty="0"/>
              <a:t>;</a:t>
            </a:r>
          </a:p>
          <a:p>
            <a:pPr marL="0" indent="0">
              <a:buFont typeface="Arial" pitchFamily="34" charset="0"/>
              <a:buNone/>
            </a:pPr>
            <a:r>
              <a:rPr lang="en-US" dirty="0" err="1"/>
              <a:t>bptr</a:t>
            </a:r>
            <a:r>
              <a:rPr lang="en-US" dirty="0"/>
              <a:t>=&amp;b;</a:t>
            </a:r>
          </a:p>
          <a:p>
            <a:pPr marL="0" indent="0">
              <a:buFont typeface="Arial" pitchFamily="34" charset="0"/>
              <a:buNone/>
            </a:pPr>
            <a:r>
              <a:rPr lang="en-US" dirty="0" err="1"/>
              <a:t>bptr</a:t>
            </a:r>
            <a:r>
              <a:rPr lang="en-US" dirty="0"/>
              <a:t>-&gt;show();  // late binding  </a:t>
            </a:r>
            <a:r>
              <a:rPr lang="en-IN" dirty="0"/>
              <a:t> (at run time)</a:t>
            </a:r>
            <a:endParaRPr lang="en-US" dirty="0"/>
          </a:p>
          <a:p>
            <a:pPr marL="0" indent="0">
              <a:buFont typeface="Arial" pitchFamily="34" charset="0"/>
              <a:buNone/>
            </a:pPr>
            <a:r>
              <a:rPr lang="en-US" dirty="0"/>
              <a:t>return 0;</a:t>
            </a:r>
            <a:endParaRPr lang="en-IN" dirty="0"/>
          </a:p>
          <a:p>
            <a:pPr marL="0" indent="0">
              <a:buFont typeface="Arial" pitchFamily="34" charset="0"/>
              <a:buNone/>
            </a:pPr>
            <a:r>
              <a:rPr lang="en-IN" dirty="0"/>
              <a:t>}</a:t>
            </a:r>
          </a:p>
          <a:p>
            <a:pPr marL="0" indent="0">
              <a:buFont typeface="Arial" pitchFamily="34" charset="0"/>
              <a:buNone/>
            </a:pPr>
            <a:endParaRPr lang="en-IN" dirty="0"/>
          </a:p>
          <a:p>
            <a:pPr marL="0" indent="0">
              <a:buFont typeface="Arial" pitchFamily="34" charset="0"/>
              <a:buNone/>
            </a:pPr>
            <a:r>
              <a:rPr lang="en-IN" dirty="0"/>
              <a:t>Output:</a:t>
            </a:r>
          </a:p>
          <a:p>
            <a:pPr marL="0" indent="0">
              <a:buFont typeface="Arial" pitchFamily="34" charset="0"/>
              <a:buNone/>
            </a:pPr>
            <a:r>
              <a:rPr lang="en-IN" dirty="0"/>
              <a:t>derived class</a:t>
            </a:r>
          </a:p>
        </p:txBody>
      </p:sp>
    </p:spTree>
    <p:extLst>
      <p:ext uri="{BB962C8B-B14F-4D97-AF65-F5344CB8AC3E}">
        <p14:creationId xmlns:p14="http://schemas.microsoft.com/office/powerpoint/2010/main" val="15208968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C049B-FC2A-FA3F-260E-D90B33F53D0B}"/>
              </a:ext>
            </a:extLst>
          </p:cNvPr>
          <p:cNvSpPr>
            <a:spLocks noGrp="1"/>
          </p:cNvSpPr>
          <p:nvPr>
            <p:ph type="title"/>
          </p:nvPr>
        </p:nvSpPr>
        <p:spPr/>
        <p:txBody>
          <a:bodyPr>
            <a:normAutofit fontScale="90000"/>
          </a:bodyPr>
          <a:lstStyle/>
          <a:p>
            <a:r>
              <a:rPr lang="en-US" sz="4000" dirty="0"/>
              <a:t>Pure Virtual Functions and Abstract Classes</a:t>
            </a:r>
            <a:endParaRPr lang="en-IN" sz="4000" dirty="0"/>
          </a:p>
        </p:txBody>
      </p:sp>
      <p:sp>
        <p:nvSpPr>
          <p:cNvPr id="3" name="Content Placeholder 2">
            <a:extLst>
              <a:ext uri="{FF2B5EF4-FFF2-40B4-BE49-F238E27FC236}">
                <a16:creationId xmlns:a16="http://schemas.microsoft.com/office/drawing/2014/main" id="{A2E37B7D-8BC3-27C8-5A5C-1E05AF0967C7}"/>
              </a:ext>
            </a:extLst>
          </p:cNvPr>
          <p:cNvSpPr>
            <a:spLocks noGrp="1"/>
          </p:cNvSpPr>
          <p:nvPr>
            <p:ph idx="1"/>
          </p:nvPr>
        </p:nvSpPr>
        <p:spPr/>
        <p:txBody>
          <a:bodyPr>
            <a:normAutofit fontScale="85000" lnSpcReduction="10000"/>
          </a:bodyPr>
          <a:lstStyle/>
          <a:p>
            <a:r>
              <a:rPr lang="en-US" dirty="0"/>
              <a:t>Sometimes implementation of all functions cannot be provided in a base class because we don’t know the implementation. Such a class is called an abstract class.</a:t>
            </a:r>
          </a:p>
          <a:p>
            <a:r>
              <a:rPr lang="en-US" dirty="0"/>
              <a:t>For example, let Shape be a base class. We cannot provide an implementation of function draw() in the Shape class, but we know every derived class must have an implementation of draw().</a:t>
            </a:r>
          </a:p>
          <a:p>
            <a:r>
              <a:rPr lang="en-US" dirty="0"/>
              <a:t>We cannot create objects of abstract classes.</a:t>
            </a:r>
          </a:p>
          <a:p>
            <a:r>
              <a:rPr lang="en-US" dirty="0"/>
              <a:t>A pure virtual function is implemented by classes that are derived from an Abstract class.</a:t>
            </a:r>
            <a:endParaRPr lang="en-IN" dirty="0"/>
          </a:p>
        </p:txBody>
      </p:sp>
    </p:spTree>
    <p:extLst>
      <p:ext uri="{BB962C8B-B14F-4D97-AF65-F5344CB8AC3E}">
        <p14:creationId xmlns:p14="http://schemas.microsoft.com/office/powerpoint/2010/main" val="37612545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447E7-1FD8-F8BF-A3F2-9010579830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5E14C02-02D5-7FCB-38A5-56BBAC584859}"/>
              </a:ext>
            </a:extLst>
          </p:cNvPr>
          <p:cNvSpPr>
            <a:spLocks noGrp="1"/>
          </p:cNvSpPr>
          <p:nvPr>
            <p:ph idx="1"/>
          </p:nvPr>
        </p:nvSpPr>
        <p:spPr/>
        <p:txBody>
          <a:bodyPr>
            <a:normAutofit fontScale="92500"/>
          </a:bodyPr>
          <a:lstStyle/>
          <a:p>
            <a:r>
              <a:rPr lang="en-US" sz="2700" dirty="0"/>
              <a:t>A pure virtual function (or abstract function) in C++ is a virtual function for which we can have an implementation</a:t>
            </a:r>
          </a:p>
          <a:p>
            <a:r>
              <a:rPr lang="en-US" sz="2700" dirty="0"/>
              <a:t> But we must override that function in the derived class, otherwise the derived class will also become an abstract class.</a:t>
            </a:r>
          </a:p>
          <a:p>
            <a:r>
              <a:rPr lang="en-US" sz="2700" dirty="0"/>
              <a:t>A pure virtual function is declared by assigning 0 in the declaration.</a:t>
            </a:r>
          </a:p>
          <a:p>
            <a:r>
              <a:rPr lang="en-US" sz="2700" dirty="0"/>
              <a:t>A class is abstract if it has at least one pure virtual function. </a:t>
            </a:r>
          </a:p>
          <a:p>
            <a:r>
              <a:rPr lang="en-US" sz="2700" dirty="0"/>
              <a:t>We can have pointers and references of abstract class type. </a:t>
            </a:r>
          </a:p>
          <a:p>
            <a:r>
              <a:rPr lang="en-US" sz="2700" dirty="0"/>
              <a:t>An abstract class can have constructors</a:t>
            </a:r>
            <a:r>
              <a:rPr lang="en-US" sz="2700"/>
              <a:t>. </a:t>
            </a:r>
            <a:endParaRPr lang="en-US" sz="2700" dirty="0"/>
          </a:p>
        </p:txBody>
      </p:sp>
    </p:spTree>
    <p:extLst>
      <p:ext uri="{BB962C8B-B14F-4D97-AF65-F5344CB8AC3E}">
        <p14:creationId xmlns:p14="http://schemas.microsoft.com/office/powerpoint/2010/main" val="2548842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876FF-927F-7338-7E60-797889DA6F62}"/>
              </a:ext>
            </a:extLst>
          </p:cNvPr>
          <p:cNvSpPr>
            <a:spLocks noGrp="1"/>
          </p:cNvSpPr>
          <p:nvPr>
            <p:ph type="title"/>
          </p:nvPr>
        </p:nvSpPr>
        <p:spPr>
          <a:xfrm>
            <a:off x="304800" y="122238"/>
            <a:ext cx="8229600" cy="715962"/>
          </a:xfrm>
        </p:spPr>
        <p:txBody>
          <a:bodyPr>
            <a:normAutofit fontScale="90000"/>
          </a:bodyPr>
          <a:lstStyle/>
          <a:p>
            <a:r>
              <a:rPr lang="en-IN" dirty="0"/>
              <a:t>example</a:t>
            </a:r>
          </a:p>
        </p:txBody>
      </p:sp>
      <p:sp>
        <p:nvSpPr>
          <p:cNvPr id="3" name="Content Placeholder 2">
            <a:extLst>
              <a:ext uri="{FF2B5EF4-FFF2-40B4-BE49-F238E27FC236}">
                <a16:creationId xmlns:a16="http://schemas.microsoft.com/office/drawing/2014/main" id="{70B76E53-BAD8-2D63-92AF-AEDAE2A40B34}"/>
              </a:ext>
            </a:extLst>
          </p:cNvPr>
          <p:cNvSpPr>
            <a:spLocks noGrp="1"/>
          </p:cNvSpPr>
          <p:nvPr>
            <p:ph idx="1"/>
          </p:nvPr>
        </p:nvSpPr>
        <p:spPr>
          <a:xfrm>
            <a:off x="332509" y="990600"/>
            <a:ext cx="3553691" cy="5592762"/>
          </a:xfrm>
        </p:spPr>
        <p:txBody>
          <a:bodyPr>
            <a:normAutofit fontScale="92500" lnSpcReduction="20000"/>
          </a:bodyPr>
          <a:lstStyle/>
          <a:p>
            <a:pPr marL="0" indent="0">
              <a:lnSpc>
                <a:spcPct val="110000"/>
              </a:lnSpc>
              <a:spcBef>
                <a:spcPts val="0"/>
              </a:spcBef>
              <a:buNone/>
            </a:pPr>
            <a:r>
              <a:rPr lang="en-IN" sz="1600" dirty="0"/>
              <a:t>#include&lt;iostream&gt;</a:t>
            </a:r>
          </a:p>
          <a:p>
            <a:pPr marL="0" indent="0">
              <a:lnSpc>
                <a:spcPct val="110000"/>
              </a:lnSpc>
              <a:spcBef>
                <a:spcPts val="0"/>
              </a:spcBef>
              <a:buNone/>
            </a:pPr>
            <a:r>
              <a:rPr lang="en-IN" sz="1600" dirty="0"/>
              <a:t>using namespace std;</a:t>
            </a:r>
          </a:p>
          <a:p>
            <a:pPr marL="0" indent="0">
              <a:lnSpc>
                <a:spcPct val="110000"/>
              </a:lnSpc>
              <a:spcBef>
                <a:spcPts val="0"/>
              </a:spcBef>
              <a:buNone/>
            </a:pPr>
            <a:r>
              <a:rPr lang="en-IN" sz="1600" dirty="0"/>
              <a:t>class Base</a:t>
            </a:r>
          </a:p>
          <a:p>
            <a:pPr marL="0" indent="0">
              <a:lnSpc>
                <a:spcPct val="110000"/>
              </a:lnSpc>
              <a:spcBef>
                <a:spcPts val="0"/>
              </a:spcBef>
              <a:buNone/>
            </a:pPr>
            <a:r>
              <a:rPr lang="en-IN" sz="1600" dirty="0"/>
              <a:t>{</a:t>
            </a:r>
          </a:p>
          <a:p>
            <a:pPr marL="0" indent="0">
              <a:lnSpc>
                <a:spcPct val="110000"/>
              </a:lnSpc>
              <a:spcBef>
                <a:spcPts val="0"/>
              </a:spcBef>
              <a:buNone/>
            </a:pPr>
            <a:r>
              <a:rPr lang="en-IN" sz="1600" dirty="0"/>
              <a:t>   int x;</a:t>
            </a:r>
          </a:p>
          <a:p>
            <a:pPr marL="0" indent="0">
              <a:lnSpc>
                <a:spcPct val="110000"/>
              </a:lnSpc>
              <a:spcBef>
                <a:spcPts val="0"/>
              </a:spcBef>
              <a:buNone/>
            </a:pPr>
            <a:r>
              <a:rPr lang="en-IN" sz="1600" dirty="0"/>
              <a:t>public:</a:t>
            </a:r>
          </a:p>
          <a:p>
            <a:pPr marL="0" indent="0">
              <a:lnSpc>
                <a:spcPct val="110000"/>
              </a:lnSpc>
              <a:spcBef>
                <a:spcPts val="0"/>
              </a:spcBef>
              <a:buNone/>
            </a:pPr>
            <a:r>
              <a:rPr lang="en-IN" sz="1600" dirty="0"/>
              <a:t>    virtual void fun() = 0;</a:t>
            </a:r>
          </a:p>
          <a:p>
            <a:pPr marL="0" indent="0">
              <a:lnSpc>
                <a:spcPct val="110000"/>
              </a:lnSpc>
              <a:spcBef>
                <a:spcPts val="0"/>
              </a:spcBef>
              <a:buNone/>
            </a:pPr>
            <a:r>
              <a:rPr lang="en-IN" sz="1600" dirty="0"/>
              <a:t>    int </a:t>
            </a:r>
            <a:r>
              <a:rPr lang="en-IN" sz="1600" dirty="0" err="1"/>
              <a:t>getX</a:t>
            </a:r>
            <a:r>
              <a:rPr lang="en-IN" sz="1600" dirty="0"/>
              <a:t>() { return x; }</a:t>
            </a:r>
          </a:p>
          <a:p>
            <a:pPr marL="0" indent="0">
              <a:lnSpc>
                <a:spcPct val="110000"/>
              </a:lnSpc>
              <a:spcBef>
                <a:spcPts val="0"/>
              </a:spcBef>
              <a:buNone/>
            </a:pPr>
            <a:r>
              <a:rPr lang="en-IN" sz="1600" dirty="0"/>
              <a:t>};</a:t>
            </a:r>
          </a:p>
          <a:p>
            <a:pPr marL="0" indent="0">
              <a:lnSpc>
                <a:spcPct val="110000"/>
              </a:lnSpc>
              <a:spcBef>
                <a:spcPts val="0"/>
              </a:spcBef>
              <a:buNone/>
            </a:pPr>
            <a:r>
              <a:rPr lang="en-IN" sz="1600" dirty="0"/>
              <a:t>// This class inherits from</a:t>
            </a:r>
          </a:p>
          <a:p>
            <a:pPr marL="0" indent="0">
              <a:lnSpc>
                <a:spcPct val="110000"/>
              </a:lnSpc>
              <a:spcBef>
                <a:spcPts val="0"/>
              </a:spcBef>
              <a:buNone/>
            </a:pPr>
            <a:r>
              <a:rPr lang="en-IN" sz="1600" dirty="0"/>
              <a:t>//Base and implements fun()</a:t>
            </a:r>
          </a:p>
          <a:p>
            <a:pPr marL="0" indent="0">
              <a:lnSpc>
                <a:spcPct val="110000"/>
              </a:lnSpc>
              <a:spcBef>
                <a:spcPts val="0"/>
              </a:spcBef>
              <a:buNone/>
            </a:pPr>
            <a:r>
              <a:rPr lang="en-IN" sz="1600" dirty="0"/>
              <a:t>class Derived: public Base</a:t>
            </a:r>
          </a:p>
          <a:p>
            <a:pPr marL="0" indent="0">
              <a:lnSpc>
                <a:spcPct val="110000"/>
              </a:lnSpc>
              <a:spcBef>
                <a:spcPts val="0"/>
              </a:spcBef>
              <a:buNone/>
            </a:pPr>
            <a:r>
              <a:rPr lang="en-IN" sz="1600" dirty="0"/>
              <a:t>{</a:t>
            </a:r>
          </a:p>
          <a:p>
            <a:pPr marL="0" indent="0">
              <a:lnSpc>
                <a:spcPct val="110000"/>
              </a:lnSpc>
              <a:spcBef>
                <a:spcPts val="0"/>
              </a:spcBef>
              <a:buNone/>
            </a:pPr>
            <a:r>
              <a:rPr lang="en-IN" sz="1600" dirty="0"/>
              <a:t>    int y;</a:t>
            </a:r>
          </a:p>
          <a:p>
            <a:pPr marL="0" indent="0">
              <a:lnSpc>
                <a:spcPct val="110000"/>
              </a:lnSpc>
              <a:spcBef>
                <a:spcPts val="0"/>
              </a:spcBef>
              <a:buNone/>
            </a:pPr>
            <a:r>
              <a:rPr lang="en-IN" sz="1600" dirty="0"/>
              <a:t>public:</a:t>
            </a:r>
          </a:p>
          <a:p>
            <a:pPr marL="0" indent="0">
              <a:lnSpc>
                <a:spcPct val="110000"/>
              </a:lnSpc>
              <a:spcBef>
                <a:spcPts val="0"/>
              </a:spcBef>
              <a:buNone/>
            </a:pPr>
            <a:r>
              <a:rPr lang="en-IN" sz="1600" dirty="0"/>
              <a:t>    void fun() { </a:t>
            </a:r>
            <a:r>
              <a:rPr lang="en-IN" sz="1600" dirty="0" err="1"/>
              <a:t>cout</a:t>
            </a:r>
            <a:r>
              <a:rPr lang="en-IN" sz="1600" dirty="0"/>
              <a:t> &lt;&lt; "fun() called"; }</a:t>
            </a:r>
          </a:p>
          <a:p>
            <a:pPr marL="0" indent="0">
              <a:lnSpc>
                <a:spcPct val="110000"/>
              </a:lnSpc>
              <a:spcBef>
                <a:spcPts val="0"/>
              </a:spcBef>
              <a:buNone/>
            </a:pPr>
            <a:r>
              <a:rPr lang="en-IN" sz="1600" dirty="0"/>
              <a:t>};</a:t>
            </a:r>
          </a:p>
          <a:p>
            <a:pPr marL="0" indent="0">
              <a:lnSpc>
                <a:spcPct val="110000"/>
              </a:lnSpc>
              <a:spcBef>
                <a:spcPts val="0"/>
              </a:spcBef>
              <a:buNone/>
            </a:pPr>
            <a:r>
              <a:rPr lang="en-IN" sz="1600" dirty="0"/>
              <a:t>int main(void)</a:t>
            </a:r>
          </a:p>
          <a:p>
            <a:pPr marL="0" indent="0">
              <a:lnSpc>
                <a:spcPct val="110000"/>
              </a:lnSpc>
              <a:spcBef>
                <a:spcPts val="0"/>
              </a:spcBef>
              <a:buNone/>
            </a:pPr>
            <a:r>
              <a:rPr lang="en-IN" sz="1600" dirty="0"/>
              <a:t>{</a:t>
            </a:r>
          </a:p>
          <a:p>
            <a:pPr marL="0" indent="0">
              <a:lnSpc>
                <a:spcPct val="110000"/>
              </a:lnSpc>
              <a:spcBef>
                <a:spcPts val="0"/>
              </a:spcBef>
              <a:buNone/>
            </a:pPr>
            <a:r>
              <a:rPr lang="en-IN" sz="1600" dirty="0"/>
              <a:t>    Derived d;</a:t>
            </a:r>
          </a:p>
          <a:p>
            <a:pPr marL="0" indent="0">
              <a:lnSpc>
                <a:spcPct val="110000"/>
              </a:lnSpc>
              <a:spcBef>
                <a:spcPts val="0"/>
              </a:spcBef>
              <a:buNone/>
            </a:pPr>
            <a:r>
              <a:rPr lang="en-IN" sz="1600" dirty="0"/>
              <a:t>    </a:t>
            </a:r>
            <a:r>
              <a:rPr lang="en-IN" sz="1600" dirty="0" err="1"/>
              <a:t>d.fun</a:t>
            </a:r>
            <a:r>
              <a:rPr lang="en-IN" sz="1600" dirty="0"/>
              <a:t>();</a:t>
            </a:r>
          </a:p>
          <a:p>
            <a:pPr marL="0" indent="0">
              <a:lnSpc>
                <a:spcPct val="110000"/>
              </a:lnSpc>
              <a:spcBef>
                <a:spcPts val="0"/>
              </a:spcBef>
              <a:buNone/>
            </a:pPr>
            <a:r>
              <a:rPr lang="en-IN" sz="1600" dirty="0"/>
              <a:t>    return 0;</a:t>
            </a:r>
          </a:p>
          <a:p>
            <a:pPr marL="0" indent="0">
              <a:lnSpc>
                <a:spcPct val="110000"/>
              </a:lnSpc>
              <a:spcBef>
                <a:spcPts val="0"/>
              </a:spcBef>
              <a:buNone/>
            </a:pPr>
            <a:r>
              <a:rPr lang="en-IN" sz="1600" dirty="0"/>
              <a:t>}</a:t>
            </a:r>
          </a:p>
          <a:p>
            <a:pPr marL="0" indent="0">
              <a:lnSpc>
                <a:spcPct val="110000"/>
              </a:lnSpc>
              <a:spcBef>
                <a:spcPts val="0"/>
              </a:spcBef>
              <a:buNone/>
            </a:pPr>
            <a:endParaRPr lang="en-IN" sz="1600" dirty="0"/>
          </a:p>
          <a:p>
            <a:pPr marL="0" indent="0">
              <a:lnSpc>
                <a:spcPct val="110000"/>
              </a:lnSpc>
              <a:spcBef>
                <a:spcPts val="0"/>
              </a:spcBef>
              <a:buNone/>
            </a:pPr>
            <a:r>
              <a:rPr lang="en-IN" sz="1600" dirty="0"/>
              <a:t>Output: </a:t>
            </a:r>
          </a:p>
          <a:p>
            <a:pPr marL="0" indent="0">
              <a:lnSpc>
                <a:spcPct val="110000"/>
              </a:lnSpc>
              <a:spcBef>
                <a:spcPts val="0"/>
              </a:spcBef>
              <a:buNone/>
            </a:pPr>
            <a:r>
              <a:rPr lang="en-IN" sz="1600" dirty="0"/>
              <a:t>fun() called</a:t>
            </a:r>
          </a:p>
        </p:txBody>
      </p:sp>
    </p:spTree>
    <p:extLst>
      <p:ext uri="{BB962C8B-B14F-4D97-AF65-F5344CB8AC3E}">
        <p14:creationId xmlns:p14="http://schemas.microsoft.com/office/powerpoint/2010/main" val="3310195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999</TotalTime>
  <Words>3940</Words>
  <Application>Microsoft Office PowerPoint</Application>
  <PresentationFormat>On-screen Show (4:3)</PresentationFormat>
  <Paragraphs>633</Paragraphs>
  <Slides>39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Arial</vt:lpstr>
      <vt:lpstr>Caladea</vt:lpstr>
      <vt:lpstr>Calibri</vt:lpstr>
      <vt:lpstr>Courier New</vt:lpstr>
      <vt:lpstr>Google Sans</vt:lpstr>
      <vt:lpstr>Nunito</vt:lpstr>
      <vt:lpstr>source-serif-pro</vt:lpstr>
      <vt:lpstr>Symbol</vt:lpstr>
      <vt:lpstr>Times New Roman</vt:lpstr>
      <vt:lpstr>Office Theme</vt:lpstr>
      <vt:lpstr>Module 7 Polymorphism</vt:lpstr>
      <vt:lpstr>Polymorphism</vt:lpstr>
      <vt:lpstr>Function overloading</vt:lpstr>
      <vt:lpstr>PowerPoint Presentation</vt:lpstr>
      <vt:lpstr>PowerPoint Presentation</vt:lpstr>
      <vt:lpstr>PowerPoint Presentation</vt:lpstr>
      <vt:lpstr>PowerPoint Presentation</vt:lpstr>
      <vt:lpstr>Function Overriding </vt:lpstr>
      <vt:lpstr>PowerPoint Presentation</vt:lpstr>
      <vt:lpstr>Function Overloading vs Function Overriding</vt:lpstr>
      <vt:lpstr>Function Overriding (achieved at run time)</vt:lpstr>
      <vt:lpstr>PowerPoint Presentation</vt:lpstr>
      <vt:lpstr>PowerPoint Presentation</vt:lpstr>
      <vt:lpstr>OPERATOR OVERLOADING</vt:lpstr>
      <vt:lpstr>Operator Overloading in C++</vt:lpstr>
      <vt:lpstr>PowerPoint Presentation</vt:lpstr>
      <vt:lpstr>PowerPoint Presentation</vt:lpstr>
      <vt:lpstr>PowerPoint Presentation</vt:lpstr>
      <vt:lpstr>PowerPoint Presentation</vt:lpstr>
      <vt:lpstr>Restrictions on Operator Overloading</vt:lpstr>
      <vt:lpstr>General Format</vt:lpstr>
      <vt:lpstr>Example</vt:lpstr>
      <vt:lpstr>Example</vt:lpstr>
      <vt:lpstr>Overloading Unary Operator</vt:lpstr>
      <vt:lpstr>Example unary operator</vt:lpstr>
      <vt:lpstr>Binary operator overloading using Friend Function</vt:lpstr>
      <vt:lpstr>Note</vt:lpstr>
      <vt:lpstr>Rules For Overloading</vt:lpstr>
      <vt:lpstr>Rules For Overloading</vt:lpstr>
      <vt:lpstr>Polymorphism</vt:lpstr>
      <vt:lpstr>Static &amp; Dynamic Polymorphism</vt:lpstr>
      <vt:lpstr>Virtual Function</vt:lpstr>
      <vt:lpstr>Virtual Function: Early/Late binding</vt:lpstr>
      <vt:lpstr>PowerPoint Presentation</vt:lpstr>
      <vt:lpstr>PowerPoint Presentation</vt:lpstr>
      <vt:lpstr>Pure Virtual Function</vt:lpstr>
      <vt:lpstr>Pure Virtual Functions and Abstract Classes</vt:lpstr>
      <vt:lpstr>PowerPoint Presentation</vt:lpstr>
      <vt:lpstr>example</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191CSC302T</dc:title>
  <dc:creator>HP</dc:creator>
  <cp:lastModifiedBy>Dr. Mohammad Arif</cp:lastModifiedBy>
  <cp:revision>134</cp:revision>
  <dcterms:created xsi:type="dcterms:W3CDTF">2020-07-19T12:36:45Z</dcterms:created>
  <dcterms:modified xsi:type="dcterms:W3CDTF">2023-05-18T09:54:07Z</dcterms:modified>
</cp:coreProperties>
</file>