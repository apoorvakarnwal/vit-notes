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143"/>
  </p:notesMasterIdLst>
  <p:sldIdLst>
    <p:sldId id="260" r:id="rId2"/>
    <p:sldId id="462" r:id="rId3"/>
    <p:sldId id="463" r:id="rId4"/>
    <p:sldId id="339" r:id="rId5"/>
    <p:sldId id="341" r:id="rId6"/>
    <p:sldId id="274" r:id="rId7"/>
    <p:sldId id="279" r:id="rId8"/>
    <p:sldId id="283" r:id="rId9"/>
    <p:sldId id="284" r:id="rId10"/>
    <p:sldId id="280" r:id="rId11"/>
    <p:sldId id="285" r:id="rId12"/>
    <p:sldId id="281" r:id="rId13"/>
    <p:sldId id="282" r:id="rId14"/>
    <p:sldId id="286" r:id="rId15"/>
    <p:sldId id="287" r:id="rId16"/>
    <p:sldId id="288" r:id="rId17"/>
    <p:sldId id="289" r:id="rId18"/>
    <p:sldId id="290" r:id="rId19"/>
    <p:sldId id="291" r:id="rId20"/>
    <p:sldId id="292" r:id="rId21"/>
    <p:sldId id="293" r:id="rId22"/>
    <p:sldId id="294" r:id="rId23"/>
    <p:sldId id="295" r:id="rId24"/>
    <p:sldId id="296" r:id="rId25"/>
    <p:sldId id="297" r:id="rId26"/>
    <p:sldId id="298" r:id="rId27"/>
    <p:sldId id="299" r:id="rId28"/>
    <p:sldId id="300" r:id="rId29"/>
    <p:sldId id="301" r:id="rId30"/>
    <p:sldId id="302" r:id="rId31"/>
    <p:sldId id="303" r:id="rId32"/>
    <p:sldId id="304" r:id="rId33"/>
    <p:sldId id="305" r:id="rId34"/>
    <p:sldId id="306" r:id="rId35"/>
    <p:sldId id="307" r:id="rId36"/>
    <p:sldId id="309" r:id="rId37"/>
    <p:sldId id="308" r:id="rId38"/>
    <p:sldId id="310" r:id="rId39"/>
    <p:sldId id="311" r:id="rId40"/>
    <p:sldId id="312" r:id="rId41"/>
    <p:sldId id="353" r:id="rId42"/>
    <p:sldId id="349" r:id="rId43"/>
    <p:sldId id="351" r:id="rId44"/>
    <p:sldId id="331" r:id="rId45"/>
    <p:sldId id="333" r:id="rId46"/>
    <p:sldId id="336" r:id="rId47"/>
    <p:sldId id="334" r:id="rId48"/>
    <p:sldId id="338" r:id="rId49"/>
    <p:sldId id="466" r:id="rId50"/>
    <p:sldId id="340" r:id="rId51"/>
    <p:sldId id="467" r:id="rId52"/>
    <p:sldId id="342" r:id="rId53"/>
    <p:sldId id="343" r:id="rId54"/>
    <p:sldId id="344" r:id="rId55"/>
    <p:sldId id="352" r:id="rId56"/>
    <p:sldId id="330" r:id="rId57"/>
    <p:sldId id="502" r:id="rId58"/>
    <p:sldId id="503" r:id="rId59"/>
    <p:sldId id="504" r:id="rId60"/>
    <p:sldId id="373" r:id="rId61"/>
    <p:sldId id="505" r:id="rId62"/>
    <p:sldId id="506" r:id="rId63"/>
    <p:sldId id="374" r:id="rId64"/>
    <p:sldId id="345" r:id="rId65"/>
    <p:sldId id="350" r:id="rId66"/>
    <p:sldId id="376" r:id="rId67"/>
    <p:sldId id="354" r:id="rId68"/>
    <p:sldId id="507" r:id="rId69"/>
    <p:sldId id="508" r:id="rId70"/>
    <p:sldId id="378" r:id="rId71"/>
    <p:sldId id="509" r:id="rId72"/>
    <p:sldId id="511" r:id="rId73"/>
    <p:sldId id="377" r:id="rId74"/>
    <p:sldId id="348" r:id="rId75"/>
    <p:sldId id="512" r:id="rId76"/>
    <p:sldId id="513" r:id="rId77"/>
    <p:sldId id="514" r:id="rId78"/>
    <p:sldId id="515" r:id="rId79"/>
    <p:sldId id="516" r:id="rId80"/>
    <p:sldId id="517" r:id="rId81"/>
    <p:sldId id="347" r:id="rId82"/>
    <p:sldId id="518" r:id="rId83"/>
    <p:sldId id="369" r:id="rId84"/>
    <p:sldId id="370" r:id="rId85"/>
    <p:sldId id="371" r:id="rId86"/>
    <p:sldId id="521" r:id="rId87"/>
    <p:sldId id="522" r:id="rId88"/>
    <p:sldId id="523" r:id="rId89"/>
    <p:sldId id="524" r:id="rId90"/>
    <p:sldId id="525" r:id="rId91"/>
    <p:sldId id="526" r:id="rId92"/>
    <p:sldId id="527" r:id="rId93"/>
    <p:sldId id="356" r:id="rId94"/>
    <p:sldId id="358" r:id="rId95"/>
    <p:sldId id="528" r:id="rId96"/>
    <p:sldId id="529" r:id="rId97"/>
    <p:sldId id="326" r:id="rId98"/>
    <p:sldId id="327" r:id="rId99"/>
    <p:sldId id="328" r:id="rId100"/>
    <p:sldId id="329" r:id="rId101"/>
    <p:sldId id="530" r:id="rId102"/>
    <p:sldId id="531" r:id="rId103"/>
    <p:sldId id="332" r:id="rId104"/>
    <p:sldId id="532" r:id="rId105"/>
    <p:sldId id="484" r:id="rId106"/>
    <p:sldId id="485" r:id="rId107"/>
    <p:sldId id="500" r:id="rId108"/>
    <p:sldId id="535" r:id="rId109"/>
    <p:sldId id="471" r:id="rId110"/>
    <p:sldId id="486" r:id="rId111"/>
    <p:sldId id="469" r:id="rId112"/>
    <p:sldId id="488" r:id="rId113"/>
    <p:sldId id="470" r:id="rId114"/>
    <p:sldId id="487" r:id="rId115"/>
    <p:sldId id="474" r:id="rId116"/>
    <p:sldId id="490" r:id="rId117"/>
    <p:sldId id="498" r:id="rId118"/>
    <p:sldId id="476" r:id="rId119"/>
    <p:sldId id="489" r:id="rId120"/>
    <p:sldId id="491" r:id="rId121"/>
    <p:sldId id="537" r:id="rId122"/>
    <p:sldId id="483" r:id="rId123"/>
    <p:sldId id="538" r:id="rId124"/>
    <p:sldId id="479" r:id="rId125"/>
    <p:sldId id="480" r:id="rId126"/>
    <p:sldId id="481" r:id="rId127"/>
    <p:sldId id="482" r:id="rId128"/>
    <p:sldId id="539" r:id="rId129"/>
    <p:sldId id="477" r:id="rId130"/>
    <p:sldId id="478" r:id="rId131"/>
    <p:sldId id="540" r:id="rId132"/>
    <p:sldId id="541" r:id="rId133"/>
    <p:sldId id="542" r:id="rId134"/>
    <p:sldId id="543" r:id="rId135"/>
    <p:sldId id="499" r:id="rId136"/>
    <p:sldId id="494" r:id="rId137"/>
    <p:sldId id="495" r:id="rId138"/>
    <p:sldId id="496" r:id="rId139"/>
    <p:sldId id="497" r:id="rId140"/>
    <p:sldId id="492" r:id="rId141"/>
    <p:sldId id="493" r:id="rId1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81" d="100"/>
          <a:sy n="81" d="100"/>
        </p:scale>
        <p:origin x="-80" y="-17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19A1BF-7163-42F1-AD53-EDAACB81C612}"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F43DC8B6-FB1A-467B-B149-54B88872EF9E}">
      <dgm:prSet phldrT="[Text]"/>
      <dgm:spPr/>
      <dgm:t>
        <a:bodyPr/>
        <a:lstStyle/>
        <a:p>
          <a:pPr algn="ctr"/>
          <a:r>
            <a:rPr lang="en-US"/>
            <a:t>Program control statements/Constructs</a:t>
          </a:r>
        </a:p>
      </dgm:t>
    </dgm:pt>
    <dgm:pt modelId="{7837280F-62D4-4A35-9176-4B4F036FE9E2}" type="parTrans" cxnId="{D637F77B-E360-4604-820B-7EA14F32B51E}">
      <dgm:prSet/>
      <dgm:spPr/>
      <dgm:t>
        <a:bodyPr/>
        <a:lstStyle/>
        <a:p>
          <a:pPr algn="ctr"/>
          <a:endParaRPr lang="en-US"/>
        </a:p>
      </dgm:t>
    </dgm:pt>
    <dgm:pt modelId="{C58B8F5F-87FD-4BCB-A43C-6C631938F61A}" type="sibTrans" cxnId="{D637F77B-E360-4604-820B-7EA14F32B51E}">
      <dgm:prSet/>
      <dgm:spPr/>
      <dgm:t>
        <a:bodyPr/>
        <a:lstStyle/>
        <a:p>
          <a:pPr algn="ctr"/>
          <a:endParaRPr lang="en-US"/>
        </a:p>
      </dgm:t>
    </dgm:pt>
    <dgm:pt modelId="{A3386FEA-6EB0-435D-8F1A-0833CF0D8E7E}">
      <dgm:prSet phldrT="[Text]"/>
      <dgm:spPr/>
      <dgm:t>
        <a:bodyPr/>
        <a:lstStyle/>
        <a:p>
          <a:pPr algn="ctr"/>
          <a:r>
            <a:rPr lang="en-US"/>
            <a:t>Selection/ Branching</a:t>
          </a:r>
        </a:p>
      </dgm:t>
    </dgm:pt>
    <dgm:pt modelId="{9DB7079C-700E-4768-AC7B-44AB8052DB4C}" type="parTrans" cxnId="{62ADF159-02C0-4EE5-A6F9-85D48694AEE9}">
      <dgm:prSet/>
      <dgm:spPr/>
      <dgm:t>
        <a:bodyPr/>
        <a:lstStyle/>
        <a:p>
          <a:pPr algn="ctr"/>
          <a:endParaRPr lang="en-US"/>
        </a:p>
      </dgm:t>
    </dgm:pt>
    <dgm:pt modelId="{695AAE4B-2880-4350-A894-FF1109188D51}" type="sibTrans" cxnId="{62ADF159-02C0-4EE5-A6F9-85D48694AEE9}">
      <dgm:prSet/>
      <dgm:spPr/>
      <dgm:t>
        <a:bodyPr/>
        <a:lstStyle/>
        <a:p>
          <a:pPr algn="ctr"/>
          <a:endParaRPr lang="en-US"/>
        </a:p>
      </dgm:t>
    </dgm:pt>
    <dgm:pt modelId="{D1E78C26-D1B4-4474-8502-72F32A4FD326}">
      <dgm:prSet phldrT="[Text]"/>
      <dgm:spPr/>
      <dgm:t>
        <a:bodyPr/>
        <a:lstStyle/>
        <a:p>
          <a:pPr algn="ctr"/>
          <a:r>
            <a:rPr lang="en-US"/>
            <a:t>switch</a:t>
          </a:r>
        </a:p>
      </dgm:t>
    </dgm:pt>
    <dgm:pt modelId="{9884B7B5-72FA-4C62-AA8A-D04BD958384D}" type="parTrans" cxnId="{7F04F186-C77C-4A06-A332-0BECFB2FBA79}">
      <dgm:prSet/>
      <dgm:spPr/>
      <dgm:t>
        <a:bodyPr/>
        <a:lstStyle/>
        <a:p>
          <a:pPr algn="ctr"/>
          <a:endParaRPr lang="en-US"/>
        </a:p>
      </dgm:t>
    </dgm:pt>
    <dgm:pt modelId="{0AA4A8BF-39ED-4594-8088-596F89793891}" type="sibTrans" cxnId="{7F04F186-C77C-4A06-A332-0BECFB2FBA79}">
      <dgm:prSet/>
      <dgm:spPr/>
      <dgm:t>
        <a:bodyPr/>
        <a:lstStyle/>
        <a:p>
          <a:pPr algn="ctr"/>
          <a:endParaRPr lang="en-US"/>
        </a:p>
      </dgm:t>
    </dgm:pt>
    <dgm:pt modelId="{B02AE684-1FCB-4440-BC2E-49F207D80157}">
      <dgm:prSet phldrT="[Text]"/>
      <dgm:spPr/>
      <dgm:t>
        <a:bodyPr/>
        <a:lstStyle/>
        <a:p>
          <a:pPr algn="ctr"/>
          <a:r>
            <a:rPr lang="en-US"/>
            <a:t>Iteration/Looping</a:t>
          </a:r>
        </a:p>
      </dgm:t>
    </dgm:pt>
    <dgm:pt modelId="{58DA1D4C-E96E-4EAB-B96F-479A7D4843CB}" type="parTrans" cxnId="{C0D8D56C-6E35-47B2-9987-C17B72D17548}">
      <dgm:prSet/>
      <dgm:spPr/>
      <dgm:t>
        <a:bodyPr/>
        <a:lstStyle/>
        <a:p>
          <a:pPr algn="ctr"/>
          <a:endParaRPr lang="en-US"/>
        </a:p>
      </dgm:t>
    </dgm:pt>
    <dgm:pt modelId="{35CEADA4-AF3F-4C15-B946-BE143F4D207F}" type="sibTrans" cxnId="{C0D8D56C-6E35-47B2-9987-C17B72D17548}">
      <dgm:prSet/>
      <dgm:spPr/>
      <dgm:t>
        <a:bodyPr/>
        <a:lstStyle/>
        <a:p>
          <a:pPr algn="ctr"/>
          <a:endParaRPr lang="en-US"/>
        </a:p>
      </dgm:t>
    </dgm:pt>
    <dgm:pt modelId="{354D62E4-7A74-4A33-AB65-E9E6C90598A2}">
      <dgm:prSet phldrT="[Text]"/>
      <dgm:spPr/>
      <dgm:t>
        <a:bodyPr/>
        <a:lstStyle/>
        <a:p>
          <a:pPr algn="ctr"/>
          <a:r>
            <a:rPr lang="en-US"/>
            <a:t>else if ladder</a:t>
          </a:r>
        </a:p>
      </dgm:t>
    </dgm:pt>
    <dgm:pt modelId="{88AF6F9E-B55A-4C96-B6D8-63A6AB38A78C}" type="parTrans" cxnId="{E8AF26FD-B6DB-48D8-B845-C8228FCBAAE0}">
      <dgm:prSet/>
      <dgm:spPr/>
      <dgm:t>
        <a:bodyPr/>
        <a:lstStyle/>
        <a:p>
          <a:pPr algn="ctr"/>
          <a:endParaRPr lang="en-US"/>
        </a:p>
      </dgm:t>
    </dgm:pt>
    <dgm:pt modelId="{5BA8A5E4-D1F4-4F55-89CF-C7F3F4EB18EB}" type="sibTrans" cxnId="{E8AF26FD-B6DB-48D8-B845-C8228FCBAAE0}">
      <dgm:prSet/>
      <dgm:spPr/>
      <dgm:t>
        <a:bodyPr/>
        <a:lstStyle/>
        <a:p>
          <a:pPr algn="ctr"/>
          <a:endParaRPr lang="en-US"/>
        </a:p>
      </dgm:t>
    </dgm:pt>
    <dgm:pt modelId="{805155B4-A9A7-4F83-83E3-23DC540CCF5B}">
      <dgm:prSet phldrT="[Text]"/>
      <dgm:spPr/>
      <dgm:t>
        <a:bodyPr/>
        <a:lstStyle/>
        <a:p>
          <a:pPr algn="ctr"/>
          <a:r>
            <a:rPr lang="en-US"/>
            <a:t>if else</a:t>
          </a:r>
        </a:p>
      </dgm:t>
    </dgm:pt>
    <dgm:pt modelId="{B1201D17-66C0-43D2-B578-305E5B8BAC7E}" type="parTrans" cxnId="{79C25FAD-8F6A-4679-A942-30FD99EF7FD6}">
      <dgm:prSet/>
      <dgm:spPr/>
      <dgm:t>
        <a:bodyPr/>
        <a:lstStyle/>
        <a:p>
          <a:pPr algn="ctr"/>
          <a:endParaRPr lang="en-US"/>
        </a:p>
      </dgm:t>
    </dgm:pt>
    <dgm:pt modelId="{8A934010-7039-4DF9-BC97-82EF275FC42C}" type="sibTrans" cxnId="{79C25FAD-8F6A-4679-A942-30FD99EF7FD6}">
      <dgm:prSet/>
      <dgm:spPr/>
      <dgm:t>
        <a:bodyPr/>
        <a:lstStyle/>
        <a:p>
          <a:pPr algn="ctr"/>
          <a:endParaRPr lang="en-US"/>
        </a:p>
      </dgm:t>
    </dgm:pt>
    <dgm:pt modelId="{AFCD5F67-EDCC-43F5-962C-10BCD0B2681C}">
      <dgm:prSet phldrT="[Text]"/>
      <dgm:spPr/>
      <dgm:t>
        <a:bodyPr/>
        <a:lstStyle/>
        <a:p>
          <a:pPr algn="ctr"/>
          <a:r>
            <a:rPr lang="en-US"/>
            <a:t>if</a:t>
          </a:r>
        </a:p>
      </dgm:t>
    </dgm:pt>
    <dgm:pt modelId="{84C4F6A1-DF63-4965-A8A7-EC023C3B4711}" type="parTrans" cxnId="{6D27593F-2179-4B9F-A9E2-EF86056D849A}">
      <dgm:prSet/>
      <dgm:spPr/>
      <dgm:t>
        <a:bodyPr/>
        <a:lstStyle/>
        <a:p>
          <a:pPr algn="ctr"/>
          <a:endParaRPr lang="en-US"/>
        </a:p>
      </dgm:t>
    </dgm:pt>
    <dgm:pt modelId="{0310A155-9D5E-451E-BC83-00492BCFE20A}" type="sibTrans" cxnId="{6D27593F-2179-4B9F-A9E2-EF86056D849A}">
      <dgm:prSet/>
      <dgm:spPr/>
      <dgm:t>
        <a:bodyPr/>
        <a:lstStyle/>
        <a:p>
          <a:pPr algn="ctr"/>
          <a:endParaRPr lang="en-US"/>
        </a:p>
      </dgm:t>
    </dgm:pt>
    <dgm:pt modelId="{A44187FF-FAFC-45C7-840F-8B62FE55604A}">
      <dgm:prSet phldrT="[Text]"/>
      <dgm:spPr/>
      <dgm:t>
        <a:bodyPr/>
        <a:lstStyle/>
        <a:p>
          <a:pPr algn="ctr"/>
          <a:r>
            <a:rPr lang="en-US"/>
            <a:t>while</a:t>
          </a:r>
        </a:p>
      </dgm:t>
    </dgm:pt>
    <dgm:pt modelId="{0C1FBCAE-2CEC-4C89-B6A1-0D577513DBF7}" type="parTrans" cxnId="{85DC5303-C4CE-4F14-8FA3-551092B79576}">
      <dgm:prSet/>
      <dgm:spPr/>
      <dgm:t>
        <a:bodyPr/>
        <a:lstStyle/>
        <a:p>
          <a:pPr algn="ctr"/>
          <a:endParaRPr lang="en-US"/>
        </a:p>
      </dgm:t>
    </dgm:pt>
    <dgm:pt modelId="{40D66D90-8E19-47E1-B871-F289318E3899}" type="sibTrans" cxnId="{85DC5303-C4CE-4F14-8FA3-551092B79576}">
      <dgm:prSet/>
      <dgm:spPr/>
      <dgm:t>
        <a:bodyPr/>
        <a:lstStyle/>
        <a:p>
          <a:pPr algn="ctr"/>
          <a:endParaRPr lang="en-US"/>
        </a:p>
      </dgm:t>
    </dgm:pt>
    <dgm:pt modelId="{26ABCE47-54F9-49A9-AC40-B6E95933AC66}">
      <dgm:prSet phldrT="[Text]"/>
      <dgm:spPr/>
      <dgm:t>
        <a:bodyPr/>
        <a:lstStyle/>
        <a:p>
          <a:pPr algn="ctr"/>
          <a:r>
            <a:rPr lang="en-US"/>
            <a:t>for</a:t>
          </a:r>
        </a:p>
      </dgm:t>
    </dgm:pt>
    <dgm:pt modelId="{67650C7D-CC17-4561-BDB4-5A7767A7DE22}" type="parTrans" cxnId="{DFDE3B9F-9F5A-4ADC-BD96-9C95C57073DD}">
      <dgm:prSet/>
      <dgm:spPr/>
      <dgm:t>
        <a:bodyPr/>
        <a:lstStyle/>
        <a:p>
          <a:pPr algn="ctr"/>
          <a:endParaRPr lang="en-US"/>
        </a:p>
      </dgm:t>
    </dgm:pt>
    <dgm:pt modelId="{CE26816E-4557-45B1-B100-FE119053F675}" type="sibTrans" cxnId="{DFDE3B9F-9F5A-4ADC-BD96-9C95C57073DD}">
      <dgm:prSet/>
      <dgm:spPr/>
      <dgm:t>
        <a:bodyPr/>
        <a:lstStyle/>
        <a:p>
          <a:pPr algn="ctr"/>
          <a:endParaRPr lang="en-US"/>
        </a:p>
      </dgm:t>
    </dgm:pt>
    <dgm:pt modelId="{6352F799-B449-4873-AA24-AE2577FE131A}">
      <dgm:prSet phldrT="[Text]"/>
      <dgm:spPr/>
      <dgm:t>
        <a:bodyPr/>
        <a:lstStyle/>
        <a:p>
          <a:pPr algn="ctr"/>
          <a:r>
            <a:rPr lang="en-US"/>
            <a:t>do while</a:t>
          </a:r>
        </a:p>
      </dgm:t>
    </dgm:pt>
    <dgm:pt modelId="{82ED80C9-EF74-4336-9D3D-4B3BDB228E66}" type="sibTrans" cxnId="{873F6947-E42A-45D6-BB8B-2171FFEBB13D}">
      <dgm:prSet/>
      <dgm:spPr/>
      <dgm:t>
        <a:bodyPr/>
        <a:lstStyle/>
        <a:p>
          <a:pPr algn="ctr"/>
          <a:endParaRPr lang="en-US"/>
        </a:p>
      </dgm:t>
    </dgm:pt>
    <dgm:pt modelId="{7E09E749-B82D-42AD-8063-59FBD4692CD7}" type="parTrans" cxnId="{873F6947-E42A-45D6-BB8B-2171FFEBB13D}">
      <dgm:prSet/>
      <dgm:spPr/>
      <dgm:t>
        <a:bodyPr/>
        <a:lstStyle/>
        <a:p>
          <a:pPr algn="ctr"/>
          <a:endParaRPr lang="en-US"/>
        </a:p>
      </dgm:t>
    </dgm:pt>
    <dgm:pt modelId="{A731CAA0-2877-4EC0-9FDF-96D32C0BA686}" type="pres">
      <dgm:prSet presAssocID="{1B19A1BF-7163-42F1-AD53-EDAACB81C612}" presName="hierChild1" presStyleCnt="0">
        <dgm:presLayoutVars>
          <dgm:chPref val="1"/>
          <dgm:dir/>
          <dgm:animOne val="branch"/>
          <dgm:animLvl val="lvl"/>
          <dgm:resizeHandles/>
        </dgm:presLayoutVars>
      </dgm:prSet>
      <dgm:spPr/>
      <dgm:t>
        <a:bodyPr/>
        <a:lstStyle/>
        <a:p>
          <a:endParaRPr lang="en-US"/>
        </a:p>
      </dgm:t>
    </dgm:pt>
    <dgm:pt modelId="{3744E715-EE91-46CD-9B36-9B0BE83F44DB}" type="pres">
      <dgm:prSet presAssocID="{F43DC8B6-FB1A-467B-B149-54B88872EF9E}" presName="hierRoot1" presStyleCnt="0"/>
      <dgm:spPr/>
    </dgm:pt>
    <dgm:pt modelId="{0FE1C42F-09A6-4A84-B86D-76D939E30850}" type="pres">
      <dgm:prSet presAssocID="{F43DC8B6-FB1A-467B-B149-54B88872EF9E}" presName="composite" presStyleCnt="0"/>
      <dgm:spPr/>
    </dgm:pt>
    <dgm:pt modelId="{F0D0DC0C-D11B-4DE5-A0E4-196CE5B8C413}" type="pres">
      <dgm:prSet presAssocID="{F43DC8B6-FB1A-467B-B149-54B88872EF9E}" presName="background" presStyleLbl="node0" presStyleIdx="0" presStyleCnt="1"/>
      <dgm:spPr/>
    </dgm:pt>
    <dgm:pt modelId="{40898A89-C5AF-45DE-A30E-0E31946D5382}" type="pres">
      <dgm:prSet presAssocID="{F43DC8B6-FB1A-467B-B149-54B88872EF9E}" presName="text" presStyleLbl="fgAcc0" presStyleIdx="0" presStyleCnt="1" custScaleX="201954" custScaleY="44417" custLinFactNeighborX="-17187" custLinFactNeighborY="-50259">
        <dgm:presLayoutVars>
          <dgm:chPref val="3"/>
        </dgm:presLayoutVars>
      </dgm:prSet>
      <dgm:spPr/>
      <dgm:t>
        <a:bodyPr/>
        <a:lstStyle/>
        <a:p>
          <a:endParaRPr lang="en-US"/>
        </a:p>
      </dgm:t>
    </dgm:pt>
    <dgm:pt modelId="{2CFCB782-47A0-495B-8295-0E8625591D03}" type="pres">
      <dgm:prSet presAssocID="{F43DC8B6-FB1A-467B-B149-54B88872EF9E}" presName="hierChild2" presStyleCnt="0"/>
      <dgm:spPr/>
    </dgm:pt>
    <dgm:pt modelId="{B422DF22-5CE7-48F4-AC36-7C2E00C02E2D}" type="pres">
      <dgm:prSet presAssocID="{9DB7079C-700E-4768-AC7B-44AB8052DB4C}" presName="Name10" presStyleLbl="parChTrans1D2" presStyleIdx="0" presStyleCnt="2"/>
      <dgm:spPr/>
      <dgm:t>
        <a:bodyPr/>
        <a:lstStyle/>
        <a:p>
          <a:endParaRPr lang="en-US"/>
        </a:p>
      </dgm:t>
    </dgm:pt>
    <dgm:pt modelId="{DA894B9A-0A86-4999-AE76-6DB5771A8A11}" type="pres">
      <dgm:prSet presAssocID="{A3386FEA-6EB0-435D-8F1A-0833CF0D8E7E}" presName="hierRoot2" presStyleCnt="0"/>
      <dgm:spPr/>
    </dgm:pt>
    <dgm:pt modelId="{311CBE4B-255A-4638-B053-98BDDF155DF8}" type="pres">
      <dgm:prSet presAssocID="{A3386FEA-6EB0-435D-8F1A-0833CF0D8E7E}" presName="composite2" presStyleCnt="0"/>
      <dgm:spPr/>
    </dgm:pt>
    <dgm:pt modelId="{D6A6C8B9-9892-42CA-BADE-3808C5EA5208}" type="pres">
      <dgm:prSet presAssocID="{A3386FEA-6EB0-435D-8F1A-0833CF0D8E7E}" presName="background2" presStyleLbl="node2" presStyleIdx="0" presStyleCnt="2"/>
      <dgm:spPr/>
    </dgm:pt>
    <dgm:pt modelId="{AF4A43FA-B359-4085-B7F2-EEB959CF5265}" type="pres">
      <dgm:prSet presAssocID="{A3386FEA-6EB0-435D-8F1A-0833CF0D8E7E}" presName="text2" presStyleLbl="fgAcc2" presStyleIdx="0" presStyleCnt="2" custScaleY="64259" custLinFactNeighborX="9602" custLinFactNeighborY="-26692">
        <dgm:presLayoutVars>
          <dgm:chPref val="3"/>
        </dgm:presLayoutVars>
      </dgm:prSet>
      <dgm:spPr/>
      <dgm:t>
        <a:bodyPr/>
        <a:lstStyle/>
        <a:p>
          <a:endParaRPr lang="en-US"/>
        </a:p>
      </dgm:t>
    </dgm:pt>
    <dgm:pt modelId="{DD580B93-BC18-4266-A353-44E30EE9A62B}" type="pres">
      <dgm:prSet presAssocID="{A3386FEA-6EB0-435D-8F1A-0833CF0D8E7E}" presName="hierChild3" presStyleCnt="0"/>
      <dgm:spPr/>
    </dgm:pt>
    <dgm:pt modelId="{D8B4E6C5-DFA5-495D-ACD0-D708DB9C303C}" type="pres">
      <dgm:prSet presAssocID="{84C4F6A1-DF63-4965-A8A7-EC023C3B4711}" presName="Name17" presStyleLbl="parChTrans1D3" presStyleIdx="0" presStyleCnt="7"/>
      <dgm:spPr/>
      <dgm:t>
        <a:bodyPr/>
        <a:lstStyle/>
        <a:p>
          <a:endParaRPr lang="en-US"/>
        </a:p>
      </dgm:t>
    </dgm:pt>
    <dgm:pt modelId="{DD36907C-2126-4C3C-A261-CF47D6650FBA}" type="pres">
      <dgm:prSet presAssocID="{AFCD5F67-EDCC-43F5-962C-10BCD0B2681C}" presName="hierRoot3" presStyleCnt="0"/>
      <dgm:spPr/>
    </dgm:pt>
    <dgm:pt modelId="{30198C33-69B0-44F2-B361-2799D86A024B}" type="pres">
      <dgm:prSet presAssocID="{AFCD5F67-EDCC-43F5-962C-10BCD0B2681C}" presName="composite3" presStyleCnt="0"/>
      <dgm:spPr/>
    </dgm:pt>
    <dgm:pt modelId="{903B8644-74B6-4A8A-B358-6E4F8E580D35}" type="pres">
      <dgm:prSet presAssocID="{AFCD5F67-EDCC-43F5-962C-10BCD0B2681C}" presName="background3" presStyleLbl="node3" presStyleIdx="0" presStyleCnt="7"/>
      <dgm:spPr/>
    </dgm:pt>
    <dgm:pt modelId="{0B062C11-9277-4C54-84E7-FEA738741AF9}" type="pres">
      <dgm:prSet presAssocID="{AFCD5F67-EDCC-43F5-962C-10BCD0B2681C}" presName="text3" presStyleLbl="fgAcc3" presStyleIdx="0" presStyleCnt="7" custScaleX="50839" custScaleY="37415" custLinFactNeighborX="3626" custLinFactNeighborY="45786">
        <dgm:presLayoutVars>
          <dgm:chPref val="3"/>
        </dgm:presLayoutVars>
      </dgm:prSet>
      <dgm:spPr/>
      <dgm:t>
        <a:bodyPr/>
        <a:lstStyle/>
        <a:p>
          <a:endParaRPr lang="en-US"/>
        </a:p>
      </dgm:t>
    </dgm:pt>
    <dgm:pt modelId="{E64B14B9-46FC-498E-843B-BC79C34D2512}" type="pres">
      <dgm:prSet presAssocID="{AFCD5F67-EDCC-43F5-962C-10BCD0B2681C}" presName="hierChild4" presStyleCnt="0"/>
      <dgm:spPr/>
    </dgm:pt>
    <dgm:pt modelId="{498FC80E-AAB3-495E-B170-A460D27CCB2C}" type="pres">
      <dgm:prSet presAssocID="{B1201D17-66C0-43D2-B578-305E5B8BAC7E}" presName="Name17" presStyleLbl="parChTrans1D3" presStyleIdx="1" presStyleCnt="7"/>
      <dgm:spPr/>
      <dgm:t>
        <a:bodyPr/>
        <a:lstStyle/>
        <a:p>
          <a:endParaRPr lang="en-US"/>
        </a:p>
      </dgm:t>
    </dgm:pt>
    <dgm:pt modelId="{761BC206-5130-4DD3-9703-573DDC14EE86}" type="pres">
      <dgm:prSet presAssocID="{805155B4-A9A7-4F83-83E3-23DC540CCF5B}" presName="hierRoot3" presStyleCnt="0"/>
      <dgm:spPr/>
    </dgm:pt>
    <dgm:pt modelId="{22AE0C0B-3AC9-4979-8B36-0B3754F1BDC7}" type="pres">
      <dgm:prSet presAssocID="{805155B4-A9A7-4F83-83E3-23DC540CCF5B}" presName="composite3" presStyleCnt="0"/>
      <dgm:spPr/>
    </dgm:pt>
    <dgm:pt modelId="{CA28F502-37C2-4416-AAF4-E1A77171CD9A}" type="pres">
      <dgm:prSet presAssocID="{805155B4-A9A7-4F83-83E3-23DC540CCF5B}" presName="background3" presStyleLbl="node3" presStyleIdx="1" presStyleCnt="7"/>
      <dgm:spPr/>
    </dgm:pt>
    <dgm:pt modelId="{F7F2A751-CCC9-41B7-875D-0650FE3967DE}" type="pres">
      <dgm:prSet presAssocID="{805155B4-A9A7-4F83-83E3-23DC540CCF5B}" presName="text3" presStyleLbl="fgAcc3" presStyleIdx="1" presStyleCnt="7" custScaleX="50716" custScaleY="37407" custLinFactNeighborX="952" custLinFactNeighborY="45790">
        <dgm:presLayoutVars>
          <dgm:chPref val="3"/>
        </dgm:presLayoutVars>
      </dgm:prSet>
      <dgm:spPr/>
      <dgm:t>
        <a:bodyPr/>
        <a:lstStyle/>
        <a:p>
          <a:endParaRPr lang="en-US"/>
        </a:p>
      </dgm:t>
    </dgm:pt>
    <dgm:pt modelId="{9C08FEEE-0E8D-4BC2-81B4-EEA5C1F65613}" type="pres">
      <dgm:prSet presAssocID="{805155B4-A9A7-4F83-83E3-23DC540CCF5B}" presName="hierChild4" presStyleCnt="0"/>
      <dgm:spPr/>
    </dgm:pt>
    <dgm:pt modelId="{0803D259-047C-48A3-A375-6C5335EA255C}" type="pres">
      <dgm:prSet presAssocID="{88AF6F9E-B55A-4C96-B6D8-63A6AB38A78C}" presName="Name17" presStyleLbl="parChTrans1D3" presStyleIdx="2" presStyleCnt="7"/>
      <dgm:spPr/>
      <dgm:t>
        <a:bodyPr/>
        <a:lstStyle/>
        <a:p>
          <a:endParaRPr lang="en-US"/>
        </a:p>
      </dgm:t>
    </dgm:pt>
    <dgm:pt modelId="{74E427F0-24C5-4549-8A4A-76D84137D0CF}" type="pres">
      <dgm:prSet presAssocID="{354D62E4-7A74-4A33-AB65-E9E6C90598A2}" presName="hierRoot3" presStyleCnt="0"/>
      <dgm:spPr/>
    </dgm:pt>
    <dgm:pt modelId="{84CC8C48-F147-4850-B086-6BBEEAAF6D84}" type="pres">
      <dgm:prSet presAssocID="{354D62E4-7A74-4A33-AB65-E9E6C90598A2}" presName="composite3" presStyleCnt="0"/>
      <dgm:spPr/>
    </dgm:pt>
    <dgm:pt modelId="{2C8B8018-35E4-432B-9AC8-59C6B091D854}" type="pres">
      <dgm:prSet presAssocID="{354D62E4-7A74-4A33-AB65-E9E6C90598A2}" presName="background3" presStyleLbl="node3" presStyleIdx="2" presStyleCnt="7"/>
      <dgm:spPr/>
    </dgm:pt>
    <dgm:pt modelId="{004924C5-BD96-41EE-AEA7-EA7AB781FB7D}" type="pres">
      <dgm:prSet presAssocID="{354D62E4-7A74-4A33-AB65-E9E6C90598A2}" presName="text3" presStyleLbl="fgAcc3" presStyleIdx="2" presStyleCnt="7" custScaleX="63860" custScaleY="39781" custLinFactNeighborX="-789" custLinFactNeighborY="45789">
        <dgm:presLayoutVars>
          <dgm:chPref val="3"/>
        </dgm:presLayoutVars>
      </dgm:prSet>
      <dgm:spPr/>
      <dgm:t>
        <a:bodyPr/>
        <a:lstStyle/>
        <a:p>
          <a:endParaRPr lang="en-US"/>
        </a:p>
      </dgm:t>
    </dgm:pt>
    <dgm:pt modelId="{BFC02D3F-7D02-4525-B544-92534449D24A}" type="pres">
      <dgm:prSet presAssocID="{354D62E4-7A74-4A33-AB65-E9E6C90598A2}" presName="hierChild4" presStyleCnt="0"/>
      <dgm:spPr/>
    </dgm:pt>
    <dgm:pt modelId="{1C859DF2-97EB-47B5-81D4-99CB18FF0C16}" type="pres">
      <dgm:prSet presAssocID="{9884B7B5-72FA-4C62-AA8A-D04BD958384D}" presName="Name17" presStyleLbl="parChTrans1D3" presStyleIdx="3" presStyleCnt="7"/>
      <dgm:spPr/>
      <dgm:t>
        <a:bodyPr/>
        <a:lstStyle/>
        <a:p>
          <a:endParaRPr lang="en-US"/>
        </a:p>
      </dgm:t>
    </dgm:pt>
    <dgm:pt modelId="{BD9A5264-46B3-4410-AC4E-0225CE648559}" type="pres">
      <dgm:prSet presAssocID="{D1E78C26-D1B4-4474-8502-72F32A4FD326}" presName="hierRoot3" presStyleCnt="0"/>
      <dgm:spPr/>
    </dgm:pt>
    <dgm:pt modelId="{4EA70C67-26A0-48EE-BDB5-AA2C360B4288}" type="pres">
      <dgm:prSet presAssocID="{D1E78C26-D1B4-4474-8502-72F32A4FD326}" presName="composite3" presStyleCnt="0"/>
      <dgm:spPr/>
    </dgm:pt>
    <dgm:pt modelId="{219A1F32-4502-4642-9C82-0E932B6D9E55}" type="pres">
      <dgm:prSet presAssocID="{D1E78C26-D1B4-4474-8502-72F32A4FD326}" presName="background3" presStyleLbl="node3" presStyleIdx="3" presStyleCnt="7"/>
      <dgm:spPr/>
    </dgm:pt>
    <dgm:pt modelId="{72D614B9-E3C5-4710-83EC-B613975B9C27}" type="pres">
      <dgm:prSet presAssocID="{D1E78C26-D1B4-4474-8502-72F32A4FD326}" presName="text3" presStyleLbl="fgAcc3" presStyleIdx="3" presStyleCnt="7" custScaleX="68677" custScaleY="36848" custLinFactNeighborX="-2093" custLinFactNeighborY="45792">
        <dgm:presLayoutVars>
          <dgm:chPref val="3"/>
        </dgm:presLayoutVars>
      </dgm:prSet>
      <dgm:spPr/>
      <dgm:t>
        <a:bodyPr/>
        <a:lstStyle/>
        <a:p>
          <a:endParaRPr lang="en-US"/>
        </a:p>
      </dgm:t>
    </dgm:pt>
    <dgm:pt modelId="{05335833-8561-4790-87A9-5AD517D5847A}" type="pres">
      <dgm:prSet presAssocID="{D1E78C26-D1B4-4474-8502-72F32A4FD326}" presName="hierChild4" presStyleCnt="0"/>
      <dgm:spPr/>
    </dgm:pt>
    <dgm:pt modelId="{73829274-EC1B-4725-B715-F6F6382F7AB6}" type="pres">
      <dgm:prSet presAssocID="{58DA1D4C-E96E-4EAB-B96F-479A7D4843CB}" presName="Name10" presStyleLbl="parChTrans1D2" presStyleIdx="1" presStyleCnt="2"/>
      <dgm:spPr/>
      <dgm:t>
        <a:bodyPr/>
        <a:lstStyle/>
        <a:p>
          <a:endParaRPr lang="en-US"/>
        </a:p>
      </dgm:t>
    </dgm:pt>
    <dgm:pt modelId="{52E557CD-2834-44AA-8D3E-8DCBCDDC97CF}" type="pres">
      <dgm:prSet presAssocID="{B02AE684-1FCB-4440-BC2E-49F207D80157}" presName="hierRoot2" presStyleCnt="0"/>
      <dgm:spPr/>
    </dgm:pt>
    <dgm:pt modelId="{BB20E5CE-91CC-49BE-A01F-E7FB01253EA5}" type="pres">
      <dgm:prSet presAssocID="{B02AE684-1FCB-4440-BC2E-49F207D80157}" presName="composite2" presStyleCnt="0"/>
      <dgm:spPr/>
    </dgm:pt>
    <dgm:pt modelId="{D683CE26-EA31-440E-AA83-DD62800BD3DF}" type="pres">
      <dgm:prSet presAssocID="{B02AE684-1FCB-4440-BC2E-49F207D80157}" presName="background2" presStyleLbl="node2" presStyleIdx="1" presStyleCnt="2"/>
      <dgm:spPr/>
    </dgm:pt>
    <dgm:pt modelId="{366FC5FE-7D86-468D-BE38-7588B6ED3871}" type="pres">
      <dgm:prSet presAssocID="{B02AE684-1FCB-4440-BC2E-49F207D80157}" presName="text2" presStyleLbl="fgAcc2" presStyleIdx="1" presStyleCnt="2" custScaleY="62543" custLinFactNeighborX="-25723" custLinFactNeighborY="-26696">
        <dgm:presLayoutVars>
          <dgm:chPref val="3"/>
        </dgm:presLayoutVars>
      </dgm:prSet>
      <dgm:spPr/>
      <dgm:t>
        <a:bodyPr/>
        <a:lstStyle/>
        <a:p>
          <a:endParaRPr lang="en-US"/>
        </a:p>
      </dgm:t>
    </dgm:pt>
    <dgm:pt modelId="{F09A60C8-4C6F-4864-8830-23DB62741010}" type="pres">
      <dgm:prSet presAssocID="{B02AE684-1FCB-4440-BC2E-49F207D80157}" presName="hierChild3" presStyleCnt="0"/>
      <dgm:spPr/>
    </dgm:pt>
    <dgm:pt modelId="{3FF75BFC-C1F3-4187-9F65-F453EFA183FB}" type="pres">
      <dgm:prSet presAssocID="{67650C7D-CC17-4561-BDB4-5A7767A7DE22}" presName="Name17" presStyleLbl="parChTrans1D3" presStyleIdx="4" presStyleCnt="7"/>
      <dgm:spPr/>
      <dgm:t>
        <a:bodyPr/>
        <a:lstStyle/>
        <a:p>
          <a:endParaRPr lang="en-US"/>
        </a:p>
      </dgm:t>
    </dgm:pt>
    <dgm:pt modelId="{76DAB527-DB84-4B70-88C1-3E27F0DF557D}" type="pres">
      <dgm:prSet presAssocID="{26ABCE47-54F9-49A9-AC40-B6E95933AC66}" presName="hierRoot3" presStyleCnt="0"/>
      <dgm:spPr/>
    </dgm:pt>
    <dgm:pt modelId="{95EE90A5-FD00-4FD3-A349-F3A4A9E4B7BD}" type="pres">
      <dgm:prSet presAssocID="{26ABCE47-54F9-49A9-AC40-B6E95933AC66}" presName="composite3" presStyleCnt="0"/>
      <dgm:spPr/>
    </dgm:pt>
    <dgm:pt modelId="{E3A83FB4-C3D1-4A30-A677-82BCA9334124}" type="pres">
      <dgm:prSet presAssocID="{26ABCE47-54F9-49A9-AC40-B6E95933AC66}" presName="background3" presStyleLbl="node3" presStyleIdx="4" presStyleCnt="7"/>
      <dgm:spPr/>
    </dgm:pt>
    <dgm:pt modelId="{DC9C78CB-846F-48B6-BD71-0C41A3A24FFE}" type="pres">
      <dgm:prSet presAssocID="{26ABCE47-54F9-49A9-AC40-B6E95933AC66}" presName="text3" presStyleLbl="fgAcc3" presStyleIdx="4" presStyleCnt="7" custScaleX="43868" custScaleY="30202" custLinFactNeighborX="7689" custLinFactNeighborY="56169">
        <dgm:presLayoutVars>
          <dgm:chPref val="3"/>
        </dgm:presLayoutVars>
      </dgm:prSet>
      <dgm:spPr/>
      <dgm:t>
        <a:bodyPr/>
        <a:lstStyle/>
        <a:p>
          <a:endParaRPr lang="en-US"/>
        </a:p>
      </dgm:t>
    </dgm:pt>
    <dgm:pt modelId="{100791A2-C399-4668-9C54-27F1E8463315}" type="pres">
      <dgm:prSet presAssocID="{26ABCE47-54F9-49A9-AC40-B6E95933AC66}" presName="hierChild4" presStyleCnt="0"/>
      <dgm:spPr/>
    </dgm:pt>
    <dgm:pt modelId="{818CDBC8-AD16-4584-B8B7-463B234D2252}" type="pres">
      <dgm:prSet presAssocID="{0C1FBCAE-2CEC-4C89-B6A1-0D577513DBF7}" presName="Name17" presStyleLbl="parChTrans1D3" presStyleIdx="5" presStyleCnt="7"/>
      <dgm:spPr/>
      <dgm:t>
        <a:bodyPr/>
        <a:lstStyle/>
        <a:p>
          <a:endParaRPr lang="en-US"/>
        </a:p>
      </dgm:t>
    </dgm:pt>
    <dgm:pt modelId="{41CEA3F5-4638-46DC-ABE6-84A450697662}" type="pres">
      <dgm:prSet presAssocID="{A44187FF-FAFC-45C7-840F-8B62FE55604A}" presName="hierRoot3" presStyleCnt="0"/>
      <dgm:spPr/>
    </dgm:pt>
    <dgm:pt modelId="{9990FDE9-57EF-4035-890F-445C4230BEA5}" type="pres">
      <dgm:prSet presAssocID="{A44187FF-FAFC-45C7-840F-8B62FE55604A}" presName="composite3" presStyleCnt="0"/>
      <dgm:spPr/>
    </dgm:pt>
    <dgm:pt modelId="{0FADFF57-F81B-465A-990B-EE635E716D97}" type="pres">
      <dgm:prSet presAssocID="{A44187FF-FAFC-45C7-840F-8B62FE55604A}" presName="background3" presStyleLbl="node3" presStyleIdx="5" presStyleCnt="7"/>
      <dgm:spPr/>
    </dgm:pt>
    <dgm:pt modelId="{BAB72AC4-9CBA-456A-A5E9-76C97E561D6E}" type="pres">
      <dgm:prSet presAssocID="{A44187FF-FAFC-45C7-840F-8B62FE55604A}" presName="text3" presStyleLbl="fgAcc3" presStyleIdx="5" presStyleCnt="7" custScaleX="38606" custScaleY="30195" custLinFactNeighborX="831" custLinFactNeighborY="56172">
        <dgm:presLayoutVars>
          <dgm:chPref val="3"/>
        </dgm:presLayoutVars>
      </dgm:prSet>
      <dgm:spPr/>
      <dgm:t>
        <a:bodyPr/>
        <a:lstStyle/>
        <a:p>
          <a:endParaRPr lang="en-US"/>
        </a:p>
      </dgm:t>
    </dgm:pt>
    <dgm:pt modelId="{6B40F78D-A299-452D-B284-927E3EDE4895}" type="pres">
      <dgm:prSet presAssocID="{A44187FF-FAFC-45C7-840F-8B62FE55604A}" presName="hierChild4" presStyleCnt="0"/>
      <dgm:spPr/>
    </dgm:pt>
    <dgm:pt modelId="{C6D838DA-CB27-4A37-8C45-EAAF37398798}" type="pres">
      <dgm:prSet presAssocID="{7E09E749-B82D-42AD-8063-59FBD4692CD7}" presName="Name17" presStyleLbl="parChTrans1D3" presStyleIdx="6" presStyleCnt="7"/>
      <dgm:spPr/>
      <dgm:t>
        <a:bodyPr/>
        <a:lstStyle/>
        <a:p>
          <a:endParaRPr lang="en-US"/>
        </a:p>
      </dgm:t>
    </dgm:pt>
    <dgm:pt modelId="{7BB64E7A-2C01-4DC7-8E37-43FEFC89B83F}" type="pres">
      <dgm:prSet presAssocID="{6352F799-B449-4873-AA24-AE2577FE131A}" presName="hierRoot3" presStyleCnt="0"/>
      <dgm:spPr/>
    </dgm:pt>
    <dgm:pt modelId="{79457D17-E7D4-49BB-AB21-A7AB4BDC11A1}" type="pres">
      <dgm:prSet presAssocID="{6352F799-B449-4873-AA24-AE2577FE131A}" presName="composite3" presStyleCnt="0"/>
      <dgm:spPr/>
    </dgm:pt>
    <dgm:pt modelId="{3FFB33BE-038D-4268-8DCD-05E376E5DBE8}" type="pres">
      <dgm:prSet presAssocID="{6352F799-B449-4873-AA24-AE2577FE131A}" presName="background3" presStyleLbl="node3" presStyleIdx="6" presStyleCnt="7"/>
      <dgm:spPr/>
    </dgm:pt>
    <dgm:pt modelId="{373809D9-CE6B-4FA7-B689-56E7C91246AC}" type="pres">
      <dgm:prSet presAssocID="{6352F799-B449-4873-AA24-AE2577FE131A}" presName="text3" presStyleLbl="fgAcc3" presStyleIdx="6" presStyleCnt="7" custScaleX="54398" custScaleY="32394" custLinFactNeighborX="-4939" custLinFactNeighborY="56179">
        <dgm:presLayoutVars>
          <dgm:chPref val="3"/>
        </dgm:presLayoutVars>
      </dgm:prSet>
      <dgm:spPr/>
      <dgm:t>
        <a:bodyPr/>
        <a:lstStyle/>
        <a:p>
          <a:endParaRPr lang="en-US"/>
        </a:p>
      </dgm:t>
    </dgm:pt>
    <dgm:pt modelId="{0322E60F-9CDF-4FA4-8BA6-3FF284CFDC15}" type="pres">
      <dgm:prSet presAssocID="{6352F799-B449-4873-AA24-AE2577FE131A}" presName="hierChild4" presStyleCnt="0"/>
      <dgm:spPr/>
    </dgm:pt>
  </dgm:ptLst>
  <dgm:cxnLst>
    <dgm:cxn modelId="{5847E980-109F-463B-BCDE-E237ED3E4C72}" type="presOf" srcId="{AFCD5F67-EDCC-43F5-962C-10BCD0B2681C}" destId="{0B062C11-9277-4C54-84E7-FEA738741AF9}" srcOrd="0" destOrd="0" presId="urn:microsoft.com/office/officeart/2005/8/layout/hierarchy1"/>
    <dgm:cxn modelId="{85DC5303-C4CE-4F14-8FA3-551092B79576}" srcId="{B02AE684-1FCB-4440-BC2E-49F207D80157}" destId="{A44187FF-FAFC-45C7-840F-8B62FE55604A}" srcOrd="1" destOrd="0" parTransId="{0C1FBCAE-2CEC-4C89-B6A1-0D577513DBF7}" sibTransId="{40D66D90-8E19-47E1-B871-F289318E3899}"/>
    <dgm:cxn modelId="{6D27593F-2179-4B9F-A9E2-EF86056D849A}" srcId="{A3386FEA-6EB0-435D-8F1A-0833CF0D8E7E}" destId="{AFCD5F67-EDCC-43F5-962C-10BCD0B2681C}" srcOrd="0" destOrd="0" parTransId="{84C4F6A1-DF63-4965-A8A7-EC023C3B4711}" sibTransId="{0310A155-9D5E-451E-BC83-00492BCFE20A}"/>
    <dgm:cxn modelId="{9ACF8C55-8183-4286-AD58-644444954008}" type="presOf" srcId="{9884B7B5-72FA-4C62-AA8A-D04BD958384D}" destId="{1C859DF2-97EB-47B5-81D4-99CB18FF0C16}" srcOrd="0" destOrd="0" presId="urn:microsoft.com/office/officeart/2005/8/layout/hierarchy1"/>
    <dgm:cxn modelId="{4A98CAA0-E1EE-4F46-BB68-1A054345A6C2}" type="presOf" srcId="{6352F799-B449-4873-AA24-AE2577FE131A}" destId="{373809D9-CE6B-4FA7-B689-56E7C91246AC}" srcOrd="0" destOrd="0" presId="urn:microsoft.com/office/officeart/2005/8/layout/hierarchy1"/>
    <dgm:cxn modelId="{80DF5445-D06A-41C7-B7EA-F49710B97AC3}" type="presOf" srcId="{0C1FBCAE-2CEC-4C89-B6A1-0D577513DBF7}" destId="{818CDBC8-AD16-4584-B8B7-463B234D2252}" srcOrd="0" destOrd="0" presId="urn:microsoft.com/office/officeart/2005/8/layout/hierarchy1"/>
    <dgm:cxn modelId="{D054D998-FC2F-4266-A058-C63701E70AEF}" type="presOf" srcId="{805155B4-A9A7-4F83-83E3-23DC540CCF5B}" destId="{F7F2A751-CCC9-41B7-875D-0650FE3967DE}" srcOrd="0" destOrd="0" presId="urn:microsoft.com/office/officeart/2005/8/layout/hierarchy1"/>
    <dgm:cxn modelId="{7F04F186-C77C-4A06-A332-0BECFB2FBA79}" srcId="{A3386FEA-6EB0-435D-8F1A-0833CF0D8E7E}" destId="{D1E78C26-D1B4-4474-8502-72F32A4FD326}" srcOrd="3" destOrd="0" parTransId="{9884B7B5-72FA-4C62-AA8A-D04BD958384D}" sibTransId="{0AA4A8BF-39ED-4594-8088-596F89793891}"/>
    <dgm:cxn modelId="{A9964FE0-F12A-459F-B638-F804D8385059}" type="presOf" srcId="{D1E78C26-D1B4-4474-8502-72F32A4FD326}" destId="{72D614B9-E3C5-4710-83EC-B613975B9C27}" srcOrd="0" destOrd="0" presId="urn:microsoft.com/office/officeart/2005/8/layout/hierarchy1"/>
    <dgm:cxn modelId="{ACEB0722-6095-46C9-9AD5-80CD65AEBDF4}" type="presOf" srcId="{7E09E749-B82D-42AD-8063-59FBD4692CD7}" destId="{C6D838DA-CB27-4A37-8C45-EAAF37398798}" srcOrd="0" destOrd="0" presId="urn:microsoft.com/office/officeart/2005/8/layout/hierarchy1"/>
    <dgm:cxn modelId="{2B2C6461-0863-4A8E-98F5-F56A10794322}" type="presOf" srcId="{67650C7D-CC17-4561-BDB4-5A7767A7DE22}" destId="{3FF75BFC-C1F3-4187-9F65-F453EFA183FB}" srcOrd="0" destOrd="0" presId="urn:microsoft.com/office/officeart/2005/8/layout/hierarchy1"/>
    <dgm:cxn modelId="{43DE8D66-8F56-49D8-8F56-A185BC285350}" type="presOf" srcId="{84C4F6A1-DF63-4965-A8A7-EC023C3B4711}" destId="{D8B4E6C5-DFA5-495D-ACD0-D708DB9C303C}" srcOrd="0" destOrd="0" presId="urn:microsoft.com/office/officeart/2005/8/layout/hierarchy1"/>
    <dgm:cxn modelId="{2B7BC02B-34BB-46C5-B55E-B29C25AC990D}" type="presOf" srcId="{B02AE684-1FCB-4440-BC2E-49F207D80157}" destId="{366FC5FE-7D86-468D-BE38-7588B6ED3871}" srcOrd="0" destOrd="0" presId="urn:microsoft.com/office/officeart/2005/8/layout/hierarchy1"/>
    <dgm:cxn modelId="{79C25FAD-8F6A-4679-A942-30FD99EF7FD6}" srcId="{A3386FEA-6EB0-435D-8F1A-0833CF0D8E7E}" destId="{805155B4-A9A7-4F83-83E3-23DC540CCF5B}" srcOrd="1" destOrd="0" parTransId="{B1201D17-66C0-43D2-B578-305E5B8BAC7E}" sibTransId="{8A934010-7039-4DF9-BC97-82EF275FC42C}"/>
    <dgm:cxn modelId="{B28FFA0C-8DEF-4B4C-9A80-6F331593E021}" type="presOf" srcId="{26ABCE47-54F9-49A9-AC40-B6E95933AC66}" destId="{DC9C78CB-846F-48B6-BD71-0C41A3A24FFE}" srcOrd="0" destOrd="0" presId="urn:microsoft.com/office/officeart/2005/8/layout/hierarchy1"/>
    <dgm:cxn modelId="{DFDE3B9F-9F5A-4ADC-BD96-9C95C57073DD}" srcId="{B02AE684-1FCB-4440-BC2E-49F207D80157}" destId="{26ABCE47-54F9-49A9-AC40-B6E95933AC66}" srcOrd="0" destOrd="0" parTransId="{67650C7D-CC17-4561-BDB4-5A7767A7DE22}" sibTransId="{CE26816E-4557-45B1-B100-FE119053F675}"/>
    <dgm:cxn modelId="{2BCFB59A-6752-4EA5-8064-22EA8DA82A09}" type="presOf" srcId="{A3386FEA-6EB0-435D-8F1A-0833CF0D8E7E}" destId="{AF4A43FA-B359-4085-B7F2-EEB959CF5265}" srcOrd="0" destOrd="0" presId="urn:microsoft.com/office/officeart/2005/8/layout/hierarchy1"/>
    <dgm:cxn modelId="{AA65A401-1A71-42A4-8854-922574F3D8F2}" type="presOf" srcId="{9DB7079C-700E-4768-AC7B-44AB8052DB4C}" destId="{B422DF22-5CE7-48F4-AC36-7C2E00C02E2D}" srcOrd="0" destOrd="0" presId="urn:microsoft.com/office/officeart/2005/8/layout/hierarchy1"/>
    <dgm:cxn modelId="{D637F77B-E360-4604-820B-7EA14F32B51E}" srcId="{1B19A1BF-7163-42F1-AD53-EDAACB81C612}" destId="{F43DC8B6-FB1A-467B-B149-54B88872EF9E}" srcOrd="0" destOrd="0" parTransId="{7837280F-62D4-4A35-9176-4B4F036FE9E2}" sibTransId="{C58B8F5F-87FD-4BCB-A43C-6C631938F61A}"/>
    <dgm:cxn modelId="{82980544-5710-4975-BC8A-E1C4F6EFC301}" type="presOf" srcId="{A44187FF-FAFC-45C7-840F-8B62FE55604A}" destId="{BAB72AC4-9CBA-456A-A5E9-76C97E561D6E}" srcOrd="0" destOrd="0" presId="urn:microsoft.com/office/officeart/2005/8/layout/hierarchy1"/>
    <dgm:cxn modelId="{62ADF159-02C0-4EE5-A6F9-85D48694AEE9}" srcId="{F43DC8B6-FB1A-467B-B149-54B88872EF9E}" destId="{A3386FEA-6EB0-435D-8F1A-0833CF0D8E7E}" srcOrd="0" destOrd="0" parTransId="{9DB7079C-700E-4768-AC7B-44AB8052DB4C}" sibTransId="{695AAE4B-2880-4350-A894-FF1109188D51}"/>
    <dgm:cxn modelId="{C900643A-C7B2-4EE0-B00C-F30AE4DED2D0}" type="presOf" srcId="{354D62E4-7A74-4A33-AB65-E9E6C90598A2}" destId="{004924C5-BD96-41EE-AEA7-EA7AB781FB7D}" srcOrd="0" destOrd="0" presId="urn:microsoft.com/office/officeart/2005/8/layout/hierarchy1"/>
    <dgm:cxn modelId="{2B4E8006-29B2-44AD-8BA3-5F43388DD898}" type="presOf" srcId="{B1201D17-66C0-43D2-B578-305E5B8BAC7E}" destId="{498FC80E-AAB3-495E-B170-A460D27CCB2C}" srcOrd="0" destOrd="0" presId="urn:microsoft.com/office/officeart/2005/8/layout/hierarchy1"/>
    <dgm:cxn modelId="{514E9413-FDFD-4425-8CD3-2F2CBD1D22DC}" type="presOf" srcId="{88AF6F9E-B55A-4C96-B6D8-63A6AB38A78C}" destId="{0803D259-047C-48A3-A375-6C5335EA255C}" srcOrd="0" destOrd="0" presId="urn:microsoft.com/office/officeart/2005/8/layout/hierarchy1"/>
    <dgm:cxn modelId="{E8AF26FD-B6DB-48D8-B845-C8228FCBAAE0}" srcId="{A3386FEA-6EB0-435D-8F1A-0833CF0D8E7E}" destId="{354D62E4-7A74-4A33-AB65-E9E6C90598A2}" srcOrd="2" destOrd="0" parTransId="{88AF6F9E-B55A-4C96-B6D8-63A6AB38A78C}" sibTransId="{5BA8A5E4-D1F4-4F55-89CF-C7F3F4EB18EB}"/>
    <dgm:cxn modelId="{4C5809FA-3260-4989-B227-09D361BAE199}" type="presOf" srcId="{F43DC8B6-FB1A-467B-B149-54B88872EF9E}" destId="{40898A89-C5AF-45DE-A30E-0E31946D5382}" srcOrd="0" destOrd="0" presId="urn:microsoft.com/office/officeart/2005/8/layout/hierarchy1"/>
    <dgm:cxn modelId="{7CD8C0F3-0E7F-47FE-A521-8BD797EE160F}" type="presOf" srcId="{58DA1D4C-E96E-4EAB-B96F-479A7D4843CB}" destId="{73829274-EC1B-4725-B715-F6F6382F7AB6}" srcOrd="0" destOrd="0" presId="urn:microsoft.com/office/officeart/2005/8/layout/hierarchy1"/>
    <dgm:cxn modelId="{873F6947-E42A-45D6-BB8B-2171FFEBB13D}" srcId="{B02AE684-1FCB-4440-BC2E-49F207D80157}" destId="{6352F799-B449-4873-AA24-AE2577FE131A}" srcOrd="2" destOrd="0" parTransId="{7E09E749-B82D-42AD-8063-59FBD4692CD7}" sibTransId="{82ED80C9-EF74-4336-9D3D-4B3BDB228E66}"/>
    <dgm:cxn modelId="{03D63A21-8FF6-4DF4-B1DC-2F857D1424A0}" type="presOf" srcId="{1B19A1BF-7163-42F1-AD53-EDAACB81C612}" destId="{A731CAA0-2877-4EC0-9FDF-96D32C0BA686}" srcOrd="0" destOrd="0" presId="urn:microsoft.com/office/officeart/2005/8/layout/hierarchy1"/>
    <dgm:cxn modelId="{C0D8D56C-6E35-47B2-9987-C17B72D17548}" srcId="{F43DC8B6-FB1A-467B-B149-54B88872EF9E}" destId="{B02AE684-1FCB-4440-BC2E-49F207D80157}" srcOrd="1" destOrd="0" parTransId="{58DA1D4C-E96E-4EAB-B96F-479A7D4843CB}" sibTransId="{35CEADA4-AF3F-4C15-B946-BE143F4D207F}"/>
    <dgm:cxn modelId="{646040A3-9BFA-4F98-A68B-83480CB921C6}" type="presParOf" srcId="{A731CAA0-2877-4EC0-9FDF-96D32C0BA686}" destId="{3744E715-EE91-46CD-9B36-9B0BE83F44DB}" srcOrd="0" destOrd="0" presId="urn:microsoft.com/office/officeart/2005/8/layout/hierarchy1"/>
    <dgm:cxn modelId="{24DCA34F-FCF5-4E98-B4E7-91F5E9FE9D2D}" type="presParOf" srcId="{3744E715-EE91-46CD-9B36-9B0BE83F44DB}" destId="{0FE1C42F-09A6-4A84-B86D-76D939E30850}" srcOrd="0" destOrd="0" presId="urn:microsoft.com/office/officeart/2005/8/layout/hierarchy1"/>
    <dgm:cxn modelId="{BB427B40-AADF-4275-A438-39B3644C7FDF}" type="presParOf" srcId="{0FE1C42F-09A6-4A84-B86D-76D939E30850}" destId="{F0D0DC0C-D11B-4DE5-A0E4-196CE5B8C413}" srcOrd="0" destOrd="0" presId="urn:microsoft.com/office/officeart/2005/8/layout/hierarchy1"/>
    <dgm:cxn modelId="{2152B28C-F42A-4571-9F1C-CFCEE235D8DB}" type="presParOf" srcId="{0FE1C42F-09A6-4A84-B86D-76D939E30850}" destId="{40898A89-C5AF-45DE-A30E-0E31946D5382}" srcOrd="1" destOrd="0" presId="urn:microsoft.com/office/officeart/2005/8/layout/hierarchy1"/>
    <dgm:cxn modelId="{FA757BDF-2CA6-4C5C-B0FC-2C8BA1611F8D}" type="presParOf" srcId="{3744E715-EE91-46CD-9B36-9B0BE83F44DB}" destId="{2CFCB782-47A0-495B-8295-0E8625591D03}" srcOrd="1" destOrd="0" presId="urn:microsoft.com/office/officeart/2005/8/layout/hierarchy1"/>
    <dgm:cxn modelId="{390C25F7-C61A-48D1-A572-8B8D81ED0D9C}" type="presParOf" srcId="{2CFCB782-47A0-495B-8295-0E8625591D03}" destId="{B422DF22-5CE7-48F4-AC36-7C2E00C02E2D}" srcOrd="0" destOrd="0" presId="urn:microsoft.com/office/officeart/2005/8/layout/hierarchy1"/>
    <dgm:cxn modelId="{2F6547C5-0563-447B-83AB-C4CA643C8BBC}" type="presParOf" srcId="{2CFCB782-47A0-495B-8295-0E8625591D03}" destId="{DA894B9A-0A86-4999-AE76-6DB5771A8A11}" srcOrd="1" destOrd="0" presId="urn:microsoft.com/office/officeart/2005/8/layout/hierarchy1"/>
    <dgm:cxn modelId="{0CBE1E7E-FDCF-4DD6-B21A-7001D6F71E52}" type="presParOf" srcId="{DA894B9A-0A86-4999-AE76-6DB5771A8A11}" destId="{311CBE4B-255A-4638-B053-98BDDF155DF8}" srcOrd="0" destOrd="0" presId="urn:microsoft.com/office/officeart/2005/8/layout/hierarchy1"/>
    <dgm:cxn modelId="{62088E9F-2F99-4EC7-8E7F-2D68769A78A3}" type="presParOf" srcId="{311CBE4B-255A-4638-B053-98BDDF155DF8}" destId="{D6A6C8B9-9892-42CA-BADE-3808C5EA5208}" srcOrd="0" destOrd="0" presId="urn:microsoft.com/office/officeart/2005/8/layout/hierarchy1"/>
    <dgm:cxn modelId="{3C8D3D46-1C31-4337-8C4A-1A90D8A2DD08}" type="presParOf" srcId="{311CBE4B-255A-4638-B053-98BDDF155DF8}" destId="{AF4A43FA-B359-4085-B7F2-EEB959CF5265}" srcOrd="1" destOrd="0" presId="urn:microsoft.com/office/officeart/2005/8/layout/hierarchy1"/>
    <dgm:cxn modelId="{C0898E84-0491-4308-9675-1311C9F0CF96}" type="presParOf" srcId="{DA894B9A-0A86-4999-AE76-6DB5771A8A11}" destId="{DD580B93-BC18-4266-A353-44E30EE9A62B}" srcOrd="1" destOrd="0" presId="urn:microsoft.com/office/officeart/2005/8/layout/hierarchy1"/>
    <dgm:cxn modelId="{0DC5F8F3-BB29-415B-B66D-3A86C054CF7F}" type="presParOf" srcId="{DD580B93-BC18-4266-A353-44E30EE9A62B}" destId="{D8B4E6C5-DFA5-495D-ACD0-D708DB9C303C}" srcOrd="0" destOrd="0" presId="urn:microsoft.com/office/officeart/2005/8/layout/hierarchy1"/>
    <dgm:cxn modelId="{B940B887-62B4-48DE-8BC5-AE4C4F366ECE}" type="presParOf" srcId="{DD580B93-BC18-4266-A353-44E30EE9A62B}" destId="{DD36907C-2126-4C3C-A261-CF47D6650FBA}" srcOrd="1" destOrd="0" presId="urn:microsoft.com/office/officeart/2005/8/layout/hierarchy1"/>
    <dgm:cxn modelId="{19876859-F437-484F-947D-CAABBC7674FB}" type="presParOf" srcId="{DD36907C-2126-4C3C-A261-CF47D6650FBA}" destId="{30198C33-69B0-44F2-B361-2799D86A024B}" srcOrd="0" destOrd="0" presId="urn:microsoft.com/office/officeart/2005/8/layout/hierarchy1"/>
    <dgm:cxn modelId="{9084F7BA-96FD-4217-ABEA-3EE9CC874B11}" type="presParOf" srcId="{30198C33-69B0-44F2-B361-2799D86A024B}" destId="{903B8644-74B6-4A8A-B358-6E4F8E580D35}" srcOrd="0" destOrd="0" presId="urn:microsoft.com/office/officeart/2005/8/layout/hierarchy1"/>
    <dgm:cxn modelId="{5D852B26-805A-441D-A495-880750B9C898}" type="presParOf" srcId="{30198C33-69B0-44F2-B361-2799D86A024B}" destId="{0B062C11-9277-4C54-84E7-FEA738741AF9}" srcOrd="1" destOrd="0" presId="urn:microsoft.com/office/officeart/2005/8/layout/hierarchy1"/>
    <dgm:cxn modelId="{73B6E707-5953-4412-A648-74EEFB932E3D}" type="presParOf" srcId="{DD36907C-2126-4C3C-A261-CF47D6650FBA}" destId="{E64B14B9-46FC-498E-843B-BC79C34D2512}" srcOrd="1" destOrd="0" presId="urn:microsoft.com/office/officeart/2005/8/layout/hierarchy1"/>
    <dgm:cxn modelId="{7A64C0C6-BF4A-455C-B698-56F1764D7CED}" type="presParOf" srcId="{DD580B93-BC18-4266-A353-44E30EE9A62B}" destId="{498FC80E-AAB3-495E-B170-A460D27CCB2C}" srcOrd="2" destOrd="0" presId="urn:microsoft.com/office/officeart/2005/8/layout/hierarchy1"/>
    <dgm:cxn modelId="{C5BC6754-EE38-4624-AE73-A64E29929BE4}" type="presParOf" srcId="{DD580B93-BC18-4266-A353-44E30EE9A62B}" destId="{761BC206-5130-4DD3-9703-573DDC14EE86}" srcOrd="3" destOrd="0" presId="urn:microsoft.com/office/officeart/2005/8/layout/hierarchy1"/>
    <dgm:cxn modelId="{DEFBDC0F-8145-4E3A-8BC7-3E2506213824}" type="presParOf" srcId="{761BC206-5130-4DD3-9703-573DDC14EE86}" destId="{22AE0C0B-3AC9-4979-8B36-0B3754F1BDC7}" srcOrd="0" destOrd="0" presId="urn:microsoft.com/office/officeart/2005/8/layout/hierarchy1"/>
    <dgm:cxn modelId="{9B1BB4BD-151C-451E-95F0-0AE8629B9223}" type="presParOf" srcId="{22AE0C0B-3AC9-4979-8B36-0B3754F1BDC7}" destId="{CA28F502-37C2-4416-AAF4-E1A77171CD9A}" srcOrd="0" destOrd="0" presId="urn:microsoft.com/office/officeart/2005/8/layout/hierarchy1"/>
    <dgm:cxn modelId="{EC808833-98BE-40F2-961C-DDE6FA7EDF56}" type="presParOf" srcId="{22AE0C0B-3AC9-4979-8B36-0B3754F1BDC7}" destId="{F7F2A751-CCC9-41B7-875D-0650FE3967DE}" srcOrd="1" destOrd="0" presId="urn:microsoft.com/office/officeart/2005/8/layout/hierarchy1"/>
    <dgm:cxn modelId="{C0441D30-A64D-40A6-8C67-20D7F016F0B4}" type="presParOf" srcId="{761BC206-5130-4DD3-9703-573DDC14EE86}" destId="{9C08FEEE-0E8D-4BC2-81B4-EEA5C1F65613}" srcOrd="1" destOrd="0" presId="urn:microsoft.com/office/officeart/2005/8/layout/hierarchy1"/>
    <dgm:cxn modelId="{1BF9EE47-B8FA-4476-80B8-A98323B7C0AA}" type="presParOf" srcId="{DD580B93-BC18-4266-A353-44E30EE9A62B}" destId="{0803D259-047C-48A3-A375-6C5335EA255C}" srcOrd="4" destOrd="0" presId="urn:microsoft.com/office/officeart/2005/8/layout/hierarchy1"/>
    <dgm:cxn modelId="{74E002A9-ADDB-40F9-94A5-F5CDE5DD1A9D}" type="presParOf" srcId="{DD580B93-BC18-4266-A353-44E30EE9A62B}" destId="{74E427F0-24C5-4549-8A4A-76D84137D0CF}" srcOrd="5" destOrd="0" presId="urn:microsoft.com/office/officeart/2005/8/layout/hierarchy1"/>
    <dgm:cxn modelId="{821B43D2-CF17-44F5-9EDA-01E35A2CD224}" type="presParOf" srcId="{74E427F0-24C5-4549-8A4A-76D84137D0CF}" destId="{84CC8C48-F147-4850-B086-6BBEEAAF6D84}" srcOrd="0" destOrd="0" presId="urn:microsoft.com/office/officeart/2005/8/layout/hierarchy1"/>
    <dgm:cxn modelId="{C9554278-5F5D-42A8-852B-4B1FB3E74128}" type="presParOf" srcId="{84CC8C48-F147-4850-B086-6BBEEAAF6D84}" destId="{2C8B8018-35E4-432B-9AC8-59C6B091D854}" srcOrd="0" destOrd="0" presId="urn:microsoft.com/office/officeart/2005/8/layout/hierarchy1"/>
    <dgm:cxn modelId="{18492282-DAAD-4F4D-AA39-59957C6252D6}" type="presParOf" srcId="{84CC8C48-F147-4850-B086-6BBEEAAF6D84}" destId="{004924C5-BD96-41EE-AEA7-EA7AB781FB7D}" srcOrd="1" destOrd="0" presId="urn:microsoft.com/office/officeart/2005/8/layout/hierarchy1"/>
    <dgm:cxn modelId="{B2B706CD-0109-49F8-864B-36F7152BAA55}" type="presParOf" srcId="{74E427F0-24C5-4549-8A4A-76D84137D0CF}" destId="{BFC02D3F-7D02-4525-B544-92534449D24A}" srcOrd="1" destOrd="0" presId="urn:microsoft.com/office/officeart/2005/8/layout/hierarchy1"/>
    <dgm:cxn modelId="{327DABAC-96AF-4584-A0F2-1C701E7F2FFA}" type="presParOf" srcId="{DD580B93-BC18-4266-A353-44E30EE9A62B}" destId="{1C859DF2-97EB-47B5-81D4-99CB18FF0C16}" srcOrd="6" destOrd="0" presId="urn:microsoft.com/office/officeart/2005/8/layout/hierarchy1"/>
    <dgm:cxn modelId="{AB16F854-B8AE-43D8-B7F4-2F77586F8817}" type="presParOf" srcId="{DD580B93-BC18-4266-A353-44E30EE9A62B}" destId="{BD9A5264-46B3-4410-AC4E-0225CE648559}" srcOrd="7" destOrd="0" presId="urn:microsoft.com/office/officeart/2005/8/layout/hierarchy1"/>
    <dgm:cxn modelId="{DAFC5FD0-23ED-4FFD-A703-9B09D716E4E8}" type="presParOf" srcId="{BD9A5264-46B3-4410-AC4E-0225CE648559}" destId="{4EA70C67-26A0-48EE-BDB5-AA2C360B4288}" srcOrd="0" destOrd="0" presId="urn:microsoft.com/office/officeart/2005/8/layout/hierarchy1"/>
    <dgm:cxn modelId="{4A4CB997-6A42-4A7B-9FF7-0923D0E8EB51}" type="presParOf" srcId="{4EA70C67-26A0-48EE-BDB5-AA2C360B4288}" destId="{219A1F32-4502-4642-9C82-0E932B6D9E55}" srcOrd="0" destOrd="0" presId="urn:microsoft.com/office/officeart/2005/8/layout/hierarchy1"/>
    <dgm:cxn modelId="{8A8A76EF-472A-47C2-9484-A36B2528E86C}" type="presParOf" srcId="{4EA70C67-26A0-48EE-BDB5-AA2C360B4288}" destId="{72D614B9-E3C5-4710-83EC-B613975B9C27}" srcOrd="1" destOrd="0" presId="urn:microsoft.com/office/officeart/2005/8/layout/hierarchy1"/>
    <dgm:cxn modelId="{BA585871-9B2B-45DE-BA2A-66900911A7ED}" type="presParOf" srcId="{BD9A5264-46B3-4410-AC4E-0225CE648559}" destId="{05335833-8561-4790-87A9-5AD517D5847A}" srcOrd="1" destOrd="0" presId="urn:microsoft.com/office/officeart/2005/8/layout/hierarchy1"/>
    <dgm:cxn modelId="{EEF2FB00-B5FD-4523-BA5B-2F6E732C6CD3}" type="presParOf" srcId="{2CFCB782-47A0-495B-8295-0E8625591D03}" destId="{73829274-EC1B-4725-B715-F6F6382F7AB6}" srcOrd="2" destOrd="0" presId="urn:microsoft.com/office/officeart/2005/8/layout/hierarchy1"/>
    <dgm:cxn modelId="{19CA7CBA-F42D-4AFA-BCBF-A79F19794BF6}" type="presParOf" srcId="{2CFCB782-47A0-495B-8295-0E8625591D03}" destId="{52E557CD-2834-44AA-8D3E-8DCBCDDC97CF}" srcOrd="3" destOrd="0" presId="urn:microsoft.com/office/officeart/2005/8/layout/hierarchy1"/>
    <dgm:cxn modelId="{EC1E565A-DE66-410A-AA23-410789FE0C35}" type="presParOf" srcId="{52E557CD-2834-44AA-8D3E-8DCBCDDC97CF}" destId="{BB20E5CE-91CC-49BE-A01F-E7FB01253EA5}" srcOrd="0" destOrd="0" presId="urn:microsoft.com/office/officeart/2005/8/layout/hierarchy1"/>
    <dgm:cxn modelId="{BCC57ECA-64DF-48A3-AA90-A321F35FB387}" type="presParOf" srcId="{BB20E5CE-91CC-49BE-A01F-E7FB01253EA5}" destId="{D683CE26-EA31-440E-AA83-DD62800BD3DF}" srcOrd="0" destOrd="0" presId="urn:microsoft.com/office/officeart/2005/8/layout/hierarchy1"/>
    <dgm:cxn modelId="{16E0A565-B019-459F-A111-5802560AF171}" type="presParOf" srcId="{BB20E5CE-91CC-49BE-A01F-E7FB01253EA5}" destId="{366FC5FE-7D86-468D-BE38-7588B6ED3871}" srcOrd="1" destOrd="0" presId="urn:microsoft.com/office/officeart/2005/8/layout/hierarchy1"/>
    <dgm:cxn modelId="{72F24BE2-D0FA-476F-A57F-A261D421660E}" type="presParOf" srcId="{52E557CD-2834-44AA-8D3E-8DCBCDDC97CF}" destId="{F09A60C8-4C6F-4864-8830-23DB62741010}" srcOrd="1" destOrd="0" presId="urn:microsoft.com/office/officeart/2005/8/layout/hierarchy1"/>
    <dgm:cxn modelId="{C0061D61-ABC3-4693-876A-ADC1DF0EA403}" type="presParOf" srcId="{F09A60C8-4C6F-4864-8830-23DB62741010}" destId="{3FF75BFC-C1F3-4187-9F65-F453EFA183FB}" srcOrd="0" destOrd="0" presId="urn:microsoft.com/office/officeart/2005/8/layout/hierarchy1"/>
    <dgm:cxn modelId="{C663B6F1-4D30-45F6-8F4B-8C1095E96A0C}" type="presParOf" srcId="{F09A60C8-4C6F-4864-8830-23DB62741010}" destId="{76DAB527-DB84-4B70-88C1-3E27F0DF557D}" srcOrd="1" destOrd="0" presId="urn:microsoft.com/office/officeart/2005/8/layout/hierarchy1"/>
    <dgm:cxn modelId="{3A6DFCBB-732E-46D1-978D-4D5B5A5DA7D9}" type="presParOf" srcId="{76DAB527-DB84-4B70-88C1-3E27F0DF557D}" destId="{95EE90A5-FD00-4FD3-A349-F3A4A9E4B7BD}" srcOrd="0" destOrd="0" presId="urn:microsoft.com/office/officeart/2005/8/layout/hierarchy1"/>
    <dgm:cxn modelId="{1C65F0B7-0BB1-4CBD-A21D-52E10732CCCF}" type="presParOf" srcId="{95EE90A5-FD00-4FD3-A349-F3A4A9E4B7BD}" destId="{E3A83FB4-C3D1-4A30-A677-82BCA9334124}" srcOrd="0" destOrd="0" presId="urn:microsoft.com/office/officeart/2005/8/layout/hierarchy1"/>
    <dgm:cxn modelId="{EDDAD920-D9FF-497F-A136-479E6A3F7981}" type="presParOf" srcId="{95EE90A5-FD00-4FD3-A349-F3A4A9E4B7BD}" destId="{DC9C78CB-846F-48B6-BD71-0C41A3A24FFE}" srcOrd="1" destOrd="0" presId="urn:microsoft.com/office/officeart/2005/8/layout/hierarchy1"/>
    <dgm:cxn modelId="{2A5F23AD-F6B3-4A61-9BAC-19C355D6AD70}" type="presParOf" srcId="{76DAB527-DB84-4B70-88C1-3E27F0DF557D}" destId="{100791A2-C399-4668-9C54-27F1E8463315}" srcOrd="1" destOrd="0" presId="urn:microsoft.com/office/officeart/2005/8/layout/hierarchy1"/>
    <dgm:cxn modelId="{5917C6BD-001B-44D0-B9B8-2CC98779D398}" type="presParOf" srcId="{F09A60C8-4C6F-4864-8830-23DB62741010}" destId="{818CDBC8-AD16-4584-B8B7-463B234D2252}" srcOrd="2" destOrd="0" presId="urn:microsoft.com/office/officeart/2005/8/layout/hierarchy1"/>
    <dgm:cxn modelId="{414D3701-A0CF-4C44-BF6A-3DBC9B7F6681}" type="presParOf" srcId="{F09A60C8-4C6F-4864-8830-23DB62741010}" destId="{41CEA3F5-4638-46DC-ABE6-84A450697662}" srcOrd="3" destOrd="0" presId="urn:microsoft.com/office/officeart/2005/8/layout/hierarchy1"/>
    <dgm:cxn modelId="{9BE3F048-BC53-4AB1-A55B-CFA386D26754}" type="presParOf" srcId="{41CEA3F5-4638-46DC-ABE6-84A450697662}" destId="{9990FDE9-57EF-4035-890F-445C4230BEA5}" srcOrd="0" destOrd="0" presId="urn:microsoft.com/office/officeart/2005/8/layout/hierarchy1"/>
    <dgm:cxn modelId="{36A36303-D243-4301-B742-B25DF9E23233}" type="presParOf" srcId="{9990FDE9-57EF-4035-890F-445C4230BEA5}" destId="{0FADFF57-F81B-465A-990B-EE635E716D97}" srcOrd="0" destOrd="0" presId="urn:microsoft.com/office/officeart/2005/8/layout/hierarchy1"/>
    <dgm:cxn modelId="{D16D6436-2BB3-4444-9105-52CD39A3185F}" type="presParOf" srcId="{9990FDE9-57EF-4035-890F-445C4230BEA5}" destId="{BAB72AC4-9CBA-456A-A5E9-76C97E561D6E}" srcOrd="1" destOrd="0" presId="urn:microsoft.com/office/officeart/2005/8/layout/hierarchy1"/>
    <dgm:cxn modelId="{06415443-FF11-46A7-B995-CECC629754B8}" type="presParOf" srcId="{41CEA3F5-4638-46DC-ABE6-84A450697662}" destId="{6B40F78D-A299-452D-B284-927E3EDE4895}" srcOrd="1" destOrd="0" presId="urn:microsoft.com/office/officeart/2005/8/layout/hierarchy1"/>
    <dgm:cxn modelId="{9C49F90F-FBC8-4D52-BCCC-7F1222CC45BD}" type="presParOf" srcId="{F09A60C8-4C6F-4864-8830-23DB62741010}" destId="{C6D838DA-CB27-4A37-8C45-EAAF37398798}" srcOrd="4" destOrd="0" presId="urn:microsoft.com/office/officeart/2005/8/layout/hierarchy1"/>
    <dgm:cxn modelId="{F26EE5FE-EBE4-43BC-AD71-D8FA0B9C4B12}" type="presParOf" srcId="{F09A60C8-4C6F-4864-8830-23DB62741010}" destId="{7BB64E7A-2C01-4DC7-8E37-43FEFC89B83F}" srcOrd="5" destOrd="0" presId="urn:microsoft.com/office/officeart/2005/8/layout/hierarchy1"/>
    <dgm:cxn modelId="{93AE31DA-FA8E-4ED5-9941-04C09C54A5AC}" type="presParOf" srcId="{7BB64E7A-2C01-4DC7-8E37-43FEFC89B83F}" destId="{79457D17-E7D4-49BB-AB21-A7AB4BDC11A1}" srcOrd="0" destOrd="0" presId="urn:microsoft.com/office/officeart/2005/8/layout/hierarchy1"/>
    <dgm:cxn modelId="{EC7D5994-11AD-47D5-8148-1AEC7035515A}" type="presParOf" srcId="{79457D17-E7D4-49BB-AB21-A7AB4BDC11A1}" destId="{3FFB33BE-038D-4268-8DCD-05E376E5DBE8}" srcOrd="0" destOrd="0" presId="urn:microsoft.com/office/officeart/2005/8/layout/hierarchy1"/>
    <dgm:cxn modelId="{49996D38-0B5A-43B6-9332-66AB9E51C268}" type="presParOf" srcId="{79457D17-E7D4-49BB-AB21-A7AB4BDC11A1}" destId="{373809D9-CE6B-4FA7-B689-56E7C91246AC}" srcOrd="1" destOrd="0" presId="urn:microsoft.com/office/officeart/2005/8/layout/hierarchy1"/>
    <dgm:cxn modelId="{7F5F30BA-E4E2-442E-947D-E9FC4E5A35DD}" type="presParOf" srcId="{7BB64E7A-2C01-4DC7-8E37-43FEFC89B83F}" destId="{0322E60F-9CDF-4FA4-8BA6-3FF284CFDC15}"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2-02-25T03:28:31.277"/>
    </inkml:context>
    <inkml:brush xml:id="br0">
      <inkml:brushProperty name="width" value="0.05292" units="cm"/>
      <inkml:brushProperty name="height" value="0.05292" units="cm"/>
      <inkml:brushProperty name="color" value="#FF0000"/>
    </inkml:brush>
  </inkml:definitions>
  <inkml:trace contextRef="#ctx0" brushRef="#br0">27632 14957 0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896DDB-D463-41CC-944F-0722296662E0}" type="datetimeFigureOut">
              <a:rPr lang="en-IN" smtClean="0"/>
              <a:t>20-02-2023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6F5F5C-A0BA-4CD3-A499-04A9365CA17B}" type="slidenum">
              <a:rPr lang="en-IN" smtClean="0"/>
              <a:t>‹#›</a:t>
            </a:fld>
            <a:endParaRPr lang="en-IN"/>
          </a:p>
        </p:txBody>
      </p:sp>
    </p:spTree>
    <p:extLst>
      <p:ext uri="{BB962C8B-B14F-4D97-AF65-F5344CB8AC3E}">
        <p14:creationId xmlns:p14="http://schemas.microsoft.com/office/powerpoint/2010/main" val="3399503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CA948BE-1DA4-4F62-988F-A17DC74E9424}" type="slidenum">
              <a:rPr lang="en-IN" smtClean="0"/>
              <a:t>51</a:t>
            </a:fld>
            <a:endParaRPr lang="en-IN"/>
          </a:p>
        </p:txBody>
      </p:sp>
    </p:spTree>
    <p:extLst>
      <p:ext uri="{BB962C8B-B14F-4D97-AF65-F5344CB8AC3E}">
        <p14:creationId xmlns:p14="http://schemas.microsoft.com/office/powerpoint/2010/main" val="2851317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51BBBF5-7666-4B1F-B217-A57688AA83AF}" type="datetimeFigureOut">
              <a:rPr lang="en-IN" smtClean="0"/>
              <a:t>20-02-2023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EFCB90-446D-4DC2-BB07-54F78BA98FE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51BBBF5-7666-4B1F-B217-A57688AA83AF}" type="datetimeFigureOut">
              <a:rPr lang="en-IN" smtClean="0"/>
              <a:t>20-02-2023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EFCB90-446D-4DC2-BB07-54F78BA98FE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51BBBF5-7666-4B1F-B217-A57688AA83AF}" type="datetimeFigureOut">
              <a:rPr lang="en-IN" smtClean="0"/>
              <a:t>20-02-2023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EFCB90-446D-4DC2-BB07-54F78BA98FE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51BBBF5-7666-4B1F-B217-A57688AA83AF}" type="datetimeFigureOut">
              <a:rPr lang="en-IN" smtClean="0"/>
              <a:t>20-02-2023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DEFCB90-446D-4DC2-BB07-54F78BA98FE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51BBBF5-7666-4B1F-B217-A57688AA83AF}" type="datetimeFigureOut">
              <a:rPr lang="en-IN" smtClean="0"/>
              <a:t>20-02-2023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DEFCB90-446D-4DC2-BB07-54F78BA98FE9}"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51BBBF5-7666-4B1F-B217-A57688AA83AF}" type="datetimeFigureOut">
              <a:rPr lang="en-IN" smtClean="0"/>
              <a:t>20-02-2023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DEFCB90-446D-4DC2-BB07-54F78BA98FE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1BBBF5-7666-4B1F-B217-A57688AA83AF}" type="datetimeFigureOut">
              <a:rPr lang="en-IN" smtClean="0"/>
              <a:t>20-02-2023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DEFCB90-446D-4DC2-BB07-54F78BA98FE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406400"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51BBBF5-7666-4B1F-B217-A57688AA83AF}" type="datetimeFigureOut">
              <a:rPr lang="en-IN" smtClean="0"/>
              <a:t>20-02-2023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DEFCB90-446D-4DC2-BB07-54F78BA98FE9}" type="slidenum">
              <a:rPr lang="en-IN" smtClean="0"/>
              <a:t>‹#›</a:t>
            </a:fld>
            <a:endParaRPr lang="en-IN"/>
          </a:p>
        </p:txBody>
      </p:sp>
      <p:sp>
        <p:nvSpPr>
          <p:cNvPr id="9" name="Content Placeholder 8"/>
          <p:cNvSpPr>
            <a:spLocks noGrp="1"/>
          </p:cNvSpPr>
          <p:nvPr>
            <p:ph sz="quarter" idx="13"/>
          </p:nvPr>
        </p:nvSpPr>
        <p:spPr>
          <a:xfrm>
            <a:off x="406400" y="381000"/>
            <a:ext cx="103632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E51BBBF5-7666-4B1F-B217-A57688AA83AF}" type="datetimeFigureOut">
              <a:rPr lang="en-IN" smtClean="0"/>
              <a:t>20-02-2023</a:t>
            </a:fld>
            <a:endParaRPr lang="en-IN"/>
          </a:p>
        </p:txBody>
      </p:sp>
      <p:sp>
        <p:nvSpPr>
          <p:cNvPr id="9" name="Slide Number Placeholder 8"/>
          <p:cNvSpPr>
            <a:spLocks noGrp="1"/>
          </p:cNvSpPr>
          <p:nvPr>
            <p:ph type="sldNum" sz="quarter" idx="11"/>
          </p:nvPr>
        </p:nvSpPr>
        <p:spPr/>
        <p:txBody>
          <a:bodyPr/>
          <a:lstStyle/>
          <a:p>
            <a:fld id="{4DEFCB90-446D-4DC2-BB07-54F78BA98FE9}" type="slidenum">
              <a:rPr lang="en-IN" smtClean="0"/>
              <a:t>‹#›</a:t>
            </a:fld>
            <a:endParaRPr lang="en-IN"/>
          </a:p>
        </p:txBody>
      </p:sp>
      <p:sp>
        <p:nvSpPr>
          <p:cNvPr id="10" name="Footer Placeholder 9"/>
          <p:cNvSpPr>
            <a:spLocks noGrp="1"/>
          </p:cNvSpPr>
          <p:nvPr>
            <p:ph type="ftr" sz="quarter" idx="12"/>
          </p:nvPr>
        </p:nvSpPr>
        <p:spPr/>
        <p:txBody>
          <a:bodyPr/>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51BBBF5-7666-4B1F-B217-A57688AA83AF}" type="datetimeFigureOut">
              <a:rPr lang="en-IN" smtClean="0"/>
              <a:t>20-02-2023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EFCB90-446D-4DC2-BB07-54F78BA98FE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51BBBF5-7666-4B1F-B217-A57688AA83AF}" type="datetimeFigureOut">
              <a:rPr lang="en-IN" smtClean="0"/>
              <a:t>20-02-2023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EFCB90-446D-4DC2-BB07-54F78BA98FE9}"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Content Placeholder 2"/>
          <p:cNvSpPr>
            <a:spLocks noGrp="1"/>
          </p:cNvSpPr>
          <p:nvPr>
            <p:ph sz="half" idx="1"/>
          </p:nvPr>
        </p:nvSpPr>
        <p:spPr>
          <a:xfrm>
            <a:off x="914400" y="1981200"/>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197600" y="1981200"/>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914400" y="6248400"/>
            <a:ext cx="2540000" cy="457200"/>
          </a:xfrm>
        </p:spPr>
        <p:txBody>
          <a:bodyPr/>
          <a:lstStyle>
            <a:lvl1pPr>
              <a:defRPr/>
            </a:lvl1pPr>
          </a:lstStyle>
          <a:p>
            <a:endParaRPr lang="en-US" altLang="en-US"/>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endParaRPr lang="en-US" altLang="en-US"/>
          </a:p>
        </p:txBody>
      </p:sp>
      <p:sp>
        <p:nvSpPr>
          <p:cNvPr id="7" name="Slide Number Placeholder 6"/>
          <p:cNvSpPr>
            <a:spLocks noGrp="1"/>
          </p:cNvSpPr>
          <p:nvPr>
            <p:ph type="sldNum" sz="quarter" idx="12"/>
          </p:nvPr>
        </p:nvSpPr>
        <p:spPr>
          <a:xfrm>
            <a:off x="8737600" y="6248400"/>
            <a:ext cx="2540000" cy="457200"/>
          </a:xfrm>
        </p:spPr>
        <p:txBody>
          <a:bodyPr/>
          <a:lstStyle>
            <a:lvl1pPr>
              <a:defRPr/>
            </a:lvl1pPr>
          </a:lstStyle>
          <a:p>
            <a:fld id="{36A8EF4B-1041-48DD-838A-072E124FDCA8}" type="slidenum">
              <a:rPr lang="en-US" altLang="en-US"/>
              <a:pPr/>
              <a:t>‹#›</a:t>
            </a:fld>
            <a:endParaRPr lang="en-US" altLang="en-US"/>
          </a:p>
        </p:txBody>
      </p:sp>
    </p:spTree>
    <p:extLst>
      <p:ext uri="{BB962C8B-B14F-4D97-AF65-F5344CB8AC3E}">
        <p14:creationId xmlns:p14="http://schemas.microsoft.com/office/powerpoint/2010/main" val="2814000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160000" cy="114300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1127760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1277600" y="5486400"/>
            <a:ext cx="9144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4DEFCB90-446D-4DC2-BB07-54F78BA98FE9}" type="slidenum">
              <a:rPr lang="en-IN" smtClean="0"/>
              <a:t>‹#›</a:t>
            </a:fld>
            <a:endParaRPr lang="en-IN"/>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endParaRPr lang="en-IN"/>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fld id="{E51BBBF5-7666-4B1F-B217-A57688AA83AF}" type="datetimeFigureOut">
              <a:rPr lang="en-IN" smtClean="0"/>
              <a:t>20-02-2023</a:t>
            </a:fld>
            <a:endParaRPr lang="en-IN"/>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7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4517" y="2088107"/>
            <a:ext cx="10475742" cy="1146412"/>
          </a:xfrm>
        </p:spPr>
        <p:txBody>
          <a:bodyPr>
            <a:normAutofit/>
          </a:bodyPr>
          <a:lstStyle/>
          <a:p>
            <a:r>
              <a:rPr lang="en-US" sz="4400" b="1" dirty="0">
                <a:effectLst/>
                <a:latin typeface="Times New Roman" panose="02020603050405020304" pitchFamily="18" charset="0"/>
                <a:ea typeface="Times New Roman" panose="02020603050405020304" pitchFamily="18" charset="0"/>
                <a:cs typeface="Times New Roman" panose="02020603050405020304" pitchFamily="18" charset="0"/>
              </a:rPr>
              <a:t>PROGRAMMING USING C</a:t>
            </a:r>
            <a:endParaRPr lang="en-US"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081351"/>
      </p:ext>
    </p:extLst>
  </p:cSld>
  <p:clrMapOvr>
    <a:masterClrMapping/>
  </p:clrMapOvr>
  <mc:AlternateContent xmlns:mc="http://schemas.openxmlformats.org/markup-compatibility/2006" xmlns:p14="http://schemas.microsoft.com/office/powerpoint/2010/main">
    <mc:Choice Requires="p14">
      <p:transition spd="slow" p14:dur="2000" advTm="23912"/>
    </mc:Choice>
    <mc:Fallback xmlns="">
      <p:transition spd="slow" advTm="23912"/>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155715-5E31-4B97-B654-89A9F98B23B4}"/>
              </a:ext>
            </a:extLst>
          </p:cNvPr>
          <p:cNvSpPr>
            <a:spLocks noGrp="1"/>
          </p:cNvSpPr>
          <p:nvPr>
            <p:ph type="title"/>
          </p:nvPr>
        </p:nvSpPr>
        <p:spPr/>
        <p:txBody>
          <a:bodyPr/>
          <a:lstStyle/>
          <a:p>
            <a:pPr algn="ctr"/>
            <a:r>
              <a:rPr lang="en-IN" dirty="0"/>
              <a:t>Computers</a:t>
            </a:r>
          </a:p>
        </p:txBody>
      </p:sp>
      <p:sp>
        <p:nvSpPr>
          <p:cNvPr id="3" name="Content Placeholder 2">
            <a:extLst>
              <a:ext uri="{FF2B5EF4-FFF2-40B4-BE49-F238E27FC236}">
                <a16:creationId xmlns:a16="http://schemas.microsoft.com/office/drawing/2014/main" xmlns="" id="{F5DE6187-A0C1-4848-8DF4-270D0D9B91A1}"/>
              </a:ext>
            </a:extLst>
          </p:cNvPr>
          <p:cNvSpPr>
            <a:spLocks noGrp="1"/>
          </p:cNvSpPr>
          <p:nvPr>
            <p:ph idx="1"/>
          </p:nvPr>
        </p:nvSpPr>
        <p:spPr>
          <a:xfrm>
            <a:off x="491319" y="1744662"/>
            <a:ext cx="11300347" cy="4351338"/>
          </a:xfrm>
        </p:spPr>
        <p:txBody>
          <a:bodyPr>
            <a:normAutofit/>
          </a:bodyPr>
          <a:lstStyle/>
          <a:p>
            <a:pPr algn="just">
              <a:lnSpc>
                <a:spcPct val="150000"/>
              </a:lnSpc>
            </a:pPr>
            <a:r>
              <a:rPr lang="en-IN" dirty="0"/>
              <a:t>Computer is a fast electronic calculating machine that accepts digitized input information, processes it according to a list of internally stored instructions, and produces the resulting output information</a:t>
            </a:r>
          </a:p>
        </p:txBody>
      </p:sp>
    </p:spTree>
    <p:extLst>
      <p:ext uri="{BB962C8B-B14F-4D97-AF65-F5344CB8AC3E}">
        <p14:creationId xmlns:p14="http://schemas.microsoft.com/office/powerpoint/2010/main" val="1423452153"/>
      </p:ext>
    </p:extLst>
  </p:cSld>
  <p:clrMapOvr>
    <a:masterClrMapping/>
  </p:clrMapOvr>
  <mc:AlternateContent xmlns:mc="http://schemas.openxmlformats.org/markup-compatibility/2006" xmlns:p14="http://schemas.microsoft.com/office/powerpoint/2010/main">
    <mc:Choice Requires="p14">
      <p:transition spd="slow" p14:dur="2000" advTm="20345"/>
    </mc:Choice>
    <mc:Fallback xmlns="">
      <p:transition spd="slow" advTm="20345"/>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EE3979-ABC6-4F9F-8600-616F24C1A596}"/>
              </a:ext>
            </a:extLst>
          </p:cNvPr>
          <p:cNvSpPr>
            <a:spLocks noGrp="1"/>
          </p:cNvSpPr>
          <p:nvPr>
            <p:ph type="title"/>
          </p:nvPr>
        </p:nvSpPr>
        <p:spPr/>
        <p:txBody>
          <a:bodyPr/>
          <a:lstStyle/>
          <a:p>
            <a:pPr algn="ctr"/>
            <a:r>
              <a:rPr lang="en-IN" dirty="0"/>
              <a:t>Types of Computers</a:t>
            </a:r>
          </a:p>
        </p:txBody>
      </p:sp>
      <p:sp>
        <p:nvSpPr>
          <p:cNvPr id="3" name="Content Placeholder 2">
            <a:extLst>
              <a:ext uri="{FF2B5EF4-FFF2-40B4-BE49-F238E27FC236}">
                <a16:creationId xmlns:a16="http://schemas.microsoft.com/office/drawing/2014/main" xmlns="" id="{4235A7F4-B0B1-4082-B262-E5F741590425}"/>
              </a:ext>
            </a:extLst>
          </p:cNvPr>
          <p:cNvSpPr>
            <a:spLocks noGrp="1"/>
          </p:cNvSpPr>
          <p:nvPr>
            <p:ph idx="1"/>
          </p:nvPr>
        </p:nvSpPr>
        <p:spPr/>
        <p:txBody>
          <a:bodyPr>
            <a:normAutofit/>
          </a:bodyPr>
          <a:lstStyle/>
          <a:p>
            <a:pPr algn="just">
              <a:lnSpc>
                <a:spcPct val="150000"/>
              </a:lnSpc>
            </a:pPr>
            <a:r>
              <a:rPr lang="en-IN" dirty="0"/>
              <a:t>Desktop or Personal computers</a:t>
            </a:r>
          </a:p>
          <a:p>
            <a:pPr algn="just">
              <a:lnSpc>
                <a:spcPct val="150000"/>
              </a:lnSpc>
            </a:pPr>
            <a:r>
              <a:rPr lang="en-IN" dirty="0"/>
              <a:t>Workstations- high resolution graphics I/O capability and more computational power</a:t>
            </a:r>
          </a:p>
          <a:p>
            <a:pPr algn="just">
              <a:lnSpc>
                <a:spcPct val="150000"/>
              </a:lnSpc>
            </a:pPr>
            <a:r>
              <a:rPr lang="en-IN" dirty="0"/>
              <a:t>Mainframes – used for business data processing-more computational power and storage capacity</a:t>
            </a:r>
          </a:p>
          <a:p>
            <a:pPr algn="just">
              <a:lnSpc>
                <a:spcPct val="150000"/>
              </a:lnSpc>
            </a:pPr>
            <a:r>
              <a:rPr lang="en-IN" dirty="0"/>
              <a:t>Servers- capable of handling large volume of requests to access the data</a:t>
            </a:r>
          </a:p>
          <a:p>
            <a:pPr algn="just">
              <a:lnSpc>
                <a:spcPct val="150000"/>
              </a:lnSpc>
            </a:pPr>
            <a:r>
              <a:rPr lang="en-IN" dirty="0"/>
              <a:t>Super computers (</a:t>
            </a:r>
            <a:r>
              <a:rPr lang="en-IN" dirty="0" err="1"/>
              <a:t>Prathush</a:t>
            </a:r>
            <a:r>
              <a:rPr lang="en-IN" dirty="0"/>
              <a:t>, Mihir) </a:t>
            </a:r>
          </a:p>
          <a:p>
            <a:endParaRPr lang="en-IN" dirty="0"/>
          </a:p>
        </p:txBody>
      </p:sp>
    </p:spTree>
    <p:extLst>
      <p:ext uri="{BB962C8B-B14F-4D97-AF65-F5344CB8AC3E}">
        <p14:creationId xmlns:p14="http://schemas.microsoft.com/office/powerpoint/2010/main" val="3115207738"/>
      </p:ext>
    </p:extLst>
  </p:cSld>
  <p:clrMapOvr>
    <a:masterClrMapping/>
  </p:clrMapOvr>
  <mc:AlternateContent xmlns:mc="http://schemas.openxmlformats.org/markup-compatibility/2006" xmlns:p14="http://schemas.microsoft.com/office/powerpoint/2010/main">
    <mc:Choice Requires="p14">
      <p:transition spd="slow" p14:dur="2000" advTm="75749"/>
    </mc:Choice>
    <mc:Fallback xmlns="">
      <p:transition spd="slow" advTm="75749"/>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1432" y="365126"/>
            <a:ext cx="8753856" cy="760290"/>
          </a:xfrm>
        </p:spPr>
        <p:txBody>
          <a:bodyPr/>
          <a:lstStyle/>
          <a:p>
            <a:pPr algn="ctr"/>
            <a:r>
              <a:rPr lang="en-US" dirty="0"/>
              <a:t>Functional Units</a:t>
            </a:r>
          </a:p>
        </p:txBody>
      </p:sp>
      <p:sp>
        <p:nvSpPr>
          <p:cNvPr id="3" name="Content Placeholder 2"/>
          <p:cNvSpPr>
            <a:spLocks noGrp="1"/>
          </p:cNvSpPr>
          <p:nvPr>
            <p:ph idx="1"/>
          </p:nvPr>
        </p:nvSpPr>
        <p:spPr>
          <a:xfrm>
            <a:off x="1378634" y="1464653"/>
            <a:ext cx="7526216" cy="4705643"/>
          </a:xfrm>
        </p:spPr>
        <p:txBody>
          <a:bodyPr>
            <a:normAutofit/>
          </a:bodyPr>
          <a:lstStyle/>
          <a:p>
            <a:pPr>
              <a:spcBef>
                <a:spcPts val="600"/>
              </a:spcBef>
              <a:buFont typeface="Wingdings" panose="05000000000000000000" pitchFamily="2" charset="2"/>
              <a:buChar char="§"/>
            </a:pPr>
            <a:r>
              <a:rPr lang="en-US" sz="2400" dirty="0">
                <a:solidFill>
                  <a:srgbClr val="FF0000"/>
                </a:solidFill>
              </a:rPr>
              <a:t>Five functionally independent  </a:t>
            </a:r>
            <a:r>
              <a:rPr lang="en-US" sz="2400" dirty="0"/>
              <a:t>components</a:t>
            </a:r>
          </a:p>
          <a:p>
            <a:pPr marL="617537" lvl="1" indent="-342900">
              <a:spcBef>
                <a:spcPts val="1200"/>
              </a:spcBef>
              <a:buFont typeface="Wingdings" panose="05000000000000000000" pitchFamily="2" charset="2"/>
              <a:buChar char="§"/>
            </a:pPr>
            <a:r>
              <a:rPr lang="en-US" sz="2000" dirty="0"/>
              <a:t>Input Unit </a:t>
            </a:r>
          </a:p>
          <a:p>
            <a:pPr marL="617537" lvl="1" indent="-342900">
              <a:spcBef>
                <a:spcPts val="1200"/>
              </a:spcBef>
              <a:buFont typeface="Wingdings" panose="05000000000000000000" pitchFamily="2" charset="2"/>
              <a:buChar char="§"/>
            </a:pPr>
            <a:r>
              <a:rPr lang="en-US" sz="2000" dirty="0"/>
              <a:t>Output Unit</a:t>
            </a:r>
          </a:p>
          <a:p>
            <a:pPr marL="617537" lvl="1" indent="-342900">
              <a:lnSpc>
                <a:spcPct val="150000"/>
              </a:lnSpc>
              <a:spcBef>
                <a:spcPts val="600"/>
              </a:spcBef>
              <a:buFont typeface="Wingdings" panose="05000000000000000000" pitchFamily="2" charset="2"/>
              <a:buChar char="§"/>
            </a:pPr>
            <a:r>
              <a:rPr lang="en-US" sz="2000" dirty="0"/>
              <a:t>Memory Unit </a:t>
            </a:r>
          </a:p>
          <a:p>
            <a:pPr marL="617537" lvl="1" indent="-342900">
              <a:lnSpc>
                <a:spcPct val="150000"/>
              </a:lnSpc>
              <a:spcBef>
                <a:spcPts val="600"/>
              </a:spcBef>
              <a:buFont typeface="Wingdings" panose="05000000000000000000" pitchFamily="2" charset="2"/>
              <a:buChar char="§"/>
            </a:pPr>
            <a:r>
              <a:rPr lang="en-US" sz="2000" dirty="0"/>
              <a:t>Arithmetic and logic Unit</a:t>
            </a:r>
          </a:p>
          <a:p>
            <a:pPr marL="617537" lvl="1" indent="-342900">
              <a:lnSpc>
                <a:spcPct val="150000"/>
              </a:lnSpc>
              <a:spcBef>
                <a:spcPts val="600"/>
              </a:spcBef>
              <a:buFont typeface="Wingdings" panose="05000000000000000000" pitchFamily="2" charset="2"/>
              <a:buChar char="§"/>
            </a:pPr>
            <a:r>
              <a:rPr lang="en-US" sz="2000" dirty="0"/>
              <a:t>Control Unit</a:t>
            </a:r>
            <a:endParaRPr lang="en-US" dirty="0"/>
          </a:p>
        </p:txBody>
      </p:sp>
      <p:pic>
        <p:nvPicPr>
          <p:cNvPr id="4" name="Picture 3">
            <a:extLst>
              <a:ext uri="{FF2B5EF4-FFF2-40B4-BE49-F238E27FC236}">
                <a16:creationId xmlns:a16="http://schemas.microsoft.com/office/drawing/2014/main" xmlns="" id="{6AB5B6BA-DA44-4981-B811-58EA41C2AFD9}"/>
              </a:ext>
            </a:extLst>
          </p:cNvPr>
          <p:cNvPicPr>
            <a:picLocks noChangeAspect="1"/>
          </p:cNvPicPr>
          <p:nvPr/>
        </p:nvPicPr>
        <p:blipFill>
          <a:blip r:embed="rId2"/>
          <a:stretch>
            <a:fillRect/>
          </a:stretch>
        </p:blipFill>
        <p:spPr>
          <a:xfrm>
            <a:off x="6473371" y="1944913"/>
            <a:ext cx="5297715" cy="3788229"/>
          </a:xfrm>
          <a:prstGeom prst="rect">
            <a:avLst/>
          </a:prstGeom>
        </p:spPr>
      </p:pic>
    </p:spTree>
    <p:extLst>
      <p:ext uri="{BB962C8B-B14F-4D97-AF65-F5344CB8AC3E}">
        <p14:creationId xmlns:p14="http://schemas.microsoft.com/office/powerpoint/2010/main" val="2665691532"/>
      </p:ext>
    </p:extLst>
  </p:cSld>
  <p:clrMapOvr>
    <a:masterClrMapping/>
  </p:clrMapOvr>
  <mc:AlternateContent xmlns:mc="http://schemas.openxmlformats.org/markup-compatibility/2006" xmlns:p14="http://schemas.microsoft.com/office/powerpoint/2010/main">
    <mc:Choice Requires="p14">
      <p:transition spd="slow" p14:dur="2000" advTm="86190"/>
    </mc:Choice>
    <mc:Fallback xmlns="">
      <p:transition spd="slow" advTm="86190"/>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1432" y="365126"/>
            <a:ext cx="8753856" cy="912132"/>
          </a:xfrm>
        </p:spPr>
        <p:txBody>
          <a:bodyPr/>
          <a:lstStyle/>
          <a:p>
            <a:pPr algn="ctr"/>
            <a:r>
              <a:rPr lang="en-US" dirty="0"/>
              <a:t>Summary</a:t>
            </a:r>
          </a:p>
        </p:txBody>
      </p:sp>
      <p:sp>
        <p:nvSpPr>
          <p:cNvPr id="3" name="Content Placeholder 2"/>
          <p:cNvSpPr>
            <a:spLocks noGrp="1"/>
          </p:cNvSpPr>
          <p:nvPr>
            <p:ph idx="1"/>
          </p:nvPr>
        </p:nvSpPr>
        <p:spPr>
          <a:xfrm>
            <a:off x="409433" y="1563273"/>
            <a:ext cx="11327642" cy="4012807"/>
          </a:xfrm>
        </p:spPr>
        <p:txBody>
          <a:bodyPr>
            <a:normAutofit/>
          </a:bodyPr>
          <a:lstStyle/>
          <a:p>
            <a:pPr marL="169862" lvl="1" indent="0">
              <a:lnSpc>
                <a:spcPct val="120000"/>
              </a:lnSpc>
              <a:spcBef>
                <a:spcPts val="600"/>
              </a:spcBef>
              <a:buSzPct val="111000"/>
              <a:buNone/>
            </a:pPr>
            <a:r>
              <a:rPr lang="en-US" altLang="en-US" b="1" dirty="0"/>
              <a:t>Operations of a computer:</a:t>
            </a:r>
          </a:p>
          <a:p>
            <a:pPr marL="787082" lvl="2" indent="-342900" algn="just">
              <a:lnSpc>
                <a:spcPct val="120000"/>
              </a:lnSpc>
              <a:spcBef>
                <a:spcPts val="600"/>
              </a:spcBef>
              <a:buSzPct val="111000"/>
              <a:buFont typeface="Wingdings" panose="05000000000000000000" pitchFamily="2" charset="2"/>
              <a:buChar char="§"/>
            </a:pPr>
            <a:r>
              <a:rPr lang="en-US" altLang="en-US" sz="2100" dirty="0"/>
              <a:t>Accept information in the form of programs and data through an input unit and store it in the memory</a:t>
            </a:r>
          </a:p>
          <a:p>
            <a:pPr marL="787082" lvl="2" indent="-342900" algn="just">
              <a:lnSpc>
                <a:spcPct val="120000"/>
              </a:lnSpc>
              <a:spcBef>
                <a:spcPts val="600"/>
              </a:spcBef>
              <a:buSzPct val="111000"/>
              <a:buFont typeface="Wingdings" panose="05000000000000000000" pitchFamily="2" charset="2"/>
              <a:buChar char="§"/>
            </a:pPr>
            <a:r>
              <a:rPr lang="en-US" altLang="en-US" sz="2100" dirty="0"/>
              <a:t>Fetch the information stored in the memory, under program control, into an ALU, where the information is processed</a:t>
            </a:r>
          </a:p>
          <a:p>
            <a:pPr marL="787082" lvl="2" indent="-342900" algn="just">
              <a:lnSpc>
                <a:spcPct val="120000"/>
              </a:lnSpc>
              <a:spcBef>
                <a:spcPts val="600"/>
              </a:spcBef>
              <a:buSzPct val="111000"/>
              <a:buFont typeface="Wingdings" panose="05000000000000000000" pitchFamily="2" charset="2"/>
              <a:buChar char="§"/>
            </a:pPr>
            <a:r>
              <a:rPr lang="en-US" altLang="en-US" sz="2100" dirty="0"/>
              <a:t>Output the processed information through an output unit</a:t>
            </a:r>
          </a:p>
          <a:p>
            <a:pPr marL="787082" lvl="2" indent="-342900" algn="just">
              <a:lnSpc>
                <a:spcPct val="120000"/>
              </a:lnSpc>
              <a:spcBef>
                <a:spcPts val="600"/>
              </a:spcBef>
              <a:buSzPct val="111000"/>
              <a:buFont typeface="Wingdings" panose="05000000000000000000" pitchFamily="2" charset="2"/>
              <a:buChar char="§"/>
            </a:pPr>
            <a:r>
              <a:rPr lang="en-US" altLang="en-US" sz="2100" dirty="0"/>
              <a:t>Control all activities inside the machine through a control unit</a:t>
            </a:r>
          </a:p>
          <a:p>
            <a:pPr algn="just">
              <a:lnSpc>
                <a:spcPct val="100000"/>
              </a:lnSpc>
              <a:spcBef>
                <a:spcPts val="1800"/>
              </a:spcBef>
              <a:buFont typeface="Wingdings" panose="05000000000000000000" pitchFamily="2" charset="2"/>
              <a:buChar char="§"/>
            </a:pPr>
            <a:endParaRPr lang="en-US" altLang="en-US" sz="2400" dirty="0"/>
          </a:p>
          <a:p>
            <a:endParaRPr lang="en-US" dirty="0"/>
          </a:p>
        </p:txBody>
      </p:sp>
    </p:spTree>
    <p:extLst>
      <p:ext uri="{BB962C8B-B14F-4D97-AF65-F5344CB8AC3E}">
        <p14:creationId xmlns:p14="http://schemas.microsoft.com/office/powerpoint/2010/main" val="593294894"/>
      </p:ext>
    </p:extLst>
  </p:cSld>
  <p:clrMapOvr>
    <a:masterClrMapping/>
  </p:clrMapOvr>
  <mc:AlternateContent xmlns:mc="http://schemas.openxmlformats.org/markup-compatibility/2006" xmlns:p14="http://schemas.microsoft.com/office/powerpoint/2010/main">
    <mc:Choice Requires="p14">
      <p:transition spd="slow" p14:dur="2000" advTm="42405"/>
    </mc:Choice>
    <mc:Fallback xmlns="">
      <p:transition spd="slow" advTm="42405"/>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xmlns="" id="{4FADFA48-FBE7-453A-B90B-454FBC734EE4}"/>
              </a:ext>
            </a:extLst>
          </p:cNvPr>
          <p:cNvSpPr>
            <a:spLocks noGrp="1" noChangeArrowheads="1"/>
          </p:cNvSpPr>
          <p:nvPr>
            <p:ph type="ctrTitle"/>
          </p:nvPr>
        </p:nvSpPr>
        <p:spPr>
          <a:xfrm>
            <a:off x="146050" y="304800"/>
            <a:ext cx="6996113" cy="2544763"/>
          </a:xfrm>
        </p:spPr>
        <p:txBody>
          <a:bodyPr>
            <a:noAutofit/>
          </a:bodyPr>
          <a:lstStyle/>
          <a:p>
            <a:pPr algn="l"/>
            <a:endParaRPr lang="en-US" altLang="en-US" dirty="0">
              <a:latin typeface="Montserrat" panose="020B0604020202020204" charset="0"/>
              <a:cs typeface="Times New Roman" panose="02020603050405020304" pitchFamily="18" charset="0"/>
            </a:endParaRPr>
          </a:p>
        </p:txBody>
      </p:sp>
      <p:sp>
        <p:nvSpPr>
          <p:cNvPr id="28675" name="Subtitle 2">
            <a:extLst>
              <a:ext uri="{FF2B5EF4-FFF2-40B4-BE49-F238E27FC236}">
                <a16:creationId xmlns:a16="http://schemas.microsoft.com/office/drawing/2014/main" xmlns="" id="{2A27C791-B5D5-49E7-86DD-ED98DBB1E33C}"/>
              </a:ext>
            </a:extLst>
          </p:cNvPr>
          <p:cNvSpPr>
            <a:spLocks noGrp="1" noChangeArrowheads="1"/>
          </p:cNvSpPr>
          <p:nvPr>
            <p:ph type="subTitle" idx="1"/>
          </p:nvPr>
        </p:nvSpPr>
        <p:spPr>
          <a:xfrm>
            <a:off x="609600" y="3140076"/>
            <a:ext cx="10472382" cy="681298"/>
          </a:xfrm>
        </p:spPr>
        <p:txBody>
          <a:bodyPr>
            <a:normAutofit/>
          </a:bodyPr>
          <a:lstStyle/>
          <a:p>
            <a:pPr eaLnBrk="1" hangingPunct="1"/>
            <a:r>
              <a:rPr lang="en-US" altLang="en-US" sz="3600" dirty="0">
                <a:latin typeface="Times New Roman" panose="02020603050405020304" pitchFamily="18" charset="0"/>
                <a:cs typeface="Times New Roman" panose="02020603050405020304" pitchFamily="18" charset="0"/>
              </a:rPr>
              <a:t>Topic : </a:t>
            </a:r>
            <a:r>
              <a:rPr altLang="en-US" sz="3600" dirty="0">
                <a:latin typeface="Times New Roman" panose="02020603050405020304" pitchFamily="18" charset="0"/>
                <a:cs typeface="Times New Roman" panose="02020603050405020304" pitchFamily="18" charset="0"/>
              </a:rPr>
              <a:t>Algorithms , Pseudocode and Flowcharts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3A3288-BAE4-4D52-937E-4A46886BD144}"/>
              </a:ext>
            </a:extLst>
          </p:cNvPr>
          <p:cNvSpPr>
            <a:spLocks noGrp="1"/>
          </p:cNvSpPr>
          <p:nvPr>
            <p:ph type="title"/>
          </p:nvPr>
        </p:nvSpPr>
        <p:spPr>
          <a:xfrm>
            <a:off x="1169504" y="333512"/>
            <a:ext cx="8753475" cy="1455530"/>
          </a:xfrm>
        </p:spPr>
        <p:txBody>
          <a:bodyPr/>
          <a:lstStyle/>
          <a:p>
            <a:pPr algn="ctr"/>
            <a:r>
              <a:rPr lang="en-IN" sz="2800" b="1" i="0" u="none" strike="noStrike" baseline="0" dirty="0">
                <a:solidFill>
                  <a:srgbClr val="002060"/>
                </a:solidFill>
                <a:latin typeface="Montserrat" panose="020B0604020202020204" charset="0"/>
              </a:rPr>
              <a:t>What is an Algorithm?</a:t>
            </a:r>
            <a:endParaRPr lang="en-IN" sz="2800" dirty="0">
              <a:solidFill>
                <a:srgbClr val="002060"/>
              </a:solidFill>
              <a:latin typeface="Montserrat" panose="020B0604020202020204" charset="0"/>
            </a:endParaRPr>
          </a:p>
        </p:txBody>
      </p:sp>
      <p:sp>
        <p:nvSpPr>
          <p:cNvPr id="3" name="Content Placeholder 2">
            <a:extLst>
              <a:ext uri="{FF2B5EF4-FFF2-40B4-BE49-F238E27FC236}">
                <a16:creationId xmlns:a16="http://schemas.microsoft.com/office/drawing/2014/main" xmlns="" id="{27739768-E325-44DF-A32D-29D8627053D4}"/>
              </a:ext>
            </a:extLst>
          </p:cNvPr>
          <p:cNvSpPr>
            <a:spLocks noGrp="1"/>
          </p:cNvSpPr>
          <p:nvPr>
            <p:ph idx="1"/>
          </p:nvPr>
        </p:nvSpPr>
        <p:spPr>
          <a:xfrm>
            <a:off x="838200" y="1789042"/>
            <a:ext cx="9823450" cy="4412975"/>
          </a:xfrm>
        </p:spPr>
        <p:txBody>
          <a:bodyPr/>
          <a:lstStyle/>
          <a:p>
            <a:pPr algn="just">
              <a:lnSpc>
                <a:spcPct val="150000"/>
              </a:lnSpc>
            </a:pPr>
            <a:r>
              <a:rPr lang="en-US" b="0" i="0" u="none" strike="noStrike" baseline="0" dirty="0">
                <a:solidFill>
                  <a:srgbClr val="002060"/>
                </a:solidFill>
                <a:latin typeface="Montserrat" panose="020B0604020202020204" charset="0"/>
              </a:rPr>
              <a:t>An algorithm is a </a:t>
            </a:r>
            <a:r>
              <a:rPr lang="en-US" b="1" i="0" u="none" strike="noStrike" baseline="0" dirty="0">
                <a:solidFill>
                  <a:schemeClr val="accent2">
                    <a:lumMod val="75000"/>
                  </a:schemeClr>
                </a:solidFill>
                <a:latin typeface="Montserrat" panose="020B0604020202020204" charset="0"/>
              </a:rPr>
              <a:t>sequence of steps </a:t>
            </a:r>
            <a:r>
              <a:rPr lang="en-US" b="0" i="0" u="none" strike="noStrike" baseline="0" dirty="0">
                <a:solidFill>
                  <a:srgbClr val="002060"/>
                </a:solidFill>
                <a:latin typeface="Montserrat" panose="020B0604020202020204" charset="0"/>
              </a:rPr>
              <a:t>to solve a particular problem </a:t>
            </a:r>
            <a:endParaRPr lang="en-IN" b="0" i="0" u="none" strike="noStrike" baseline="0" dirty="0">
              <a:solidFill>
                <a:srgbClr val="002060"/>
              </a:solidFill>
              <a:latin typeface="Montserrat" panose="020B0604020202020204" charset="0"/>
            </a:endParaRPr>
          </a:p>
          <a:p>
            <a:pPr algn="just">
              <a:lnSpc>
                <a:spcPct val="150000"/>
              </a:lnSpc>
            </a:pPr>
            <a:r>
              <a:rPr lang="en-US" b="0" i="0" u="none" strike="noStrike" baseline="0" dirty="0">
                <a:solidFill>
                  <a:srgbClr val="002060"/>
                </a:solidFill>
                <a:latin typeface="Montserrat" panose="020B0604020202020204" charset="0"/>
              </a:rPr>
              <a:t> An algorithm is a collection of </a:t>
            </a:r>
            <a:r>
              <a:rPr lang="en-US" b="1" i="0" u="none" strike="noStrike" baseline="0" dirty="0">
                <a:solidFill>
                  <a:schemeClr val="accent2">
                    <a:lumMod val="75000"/>
                  </a:schemeClr>
                </a:solidFill>
                <a:latin typeface="Montserrat" panose="020B0604020202020204" charset="0"/>
              </a:rPr>
              <a:t>well-defined, unambiguous and effectively computable instructions</a:t>
            </a:r>
            <a:r>
              <a:rPr lang="en-US" b="0" i="0" u="none" strike="noStrike" baseline="0" dirty="0">
                <a:solidFill>
                  <a:srgbClr val="000000"/>
                </a:solidFill>
                <a:latin typeface="Montserrat" panose="020B0604020202020204" charset="0"/>
              </a:rPr>
              <a:t>, </a:t>
            </a:r>
            <a:r>
              <a:rPr lang="en-US" b="0" i="0" u="none" strike="noStrike" baseline="0" dirty="0">
                <a:solidFill>
                  <a:srgbClr val="002060"/>
                </a:solidFill>
                <a:latin typeface="Montserrat" panose="020B0604020202020204" charset="0"/>
              </a:rPr>
              <a:t>if executed it will return the proper output. </a:t>
            </a:r>
          </a:p>
          <a:p>
            <a:pPr algn="just">
              <a:lnSpc>
                <a:spcPct val="150000"/>
              </a:lnSpc>
            </a:pPr>
            <a:endParaRPr lang="en-US" dirty="0">
              <a:solidFill>
                <a:srgbClr val="000000"/>
              </a:solidFill>
              <a:latin typeface="Montserrat" panose="020B0604020202020204" charset="0"/>
            </a:endParaRPr>
          </a:p>
          <a:p>
            <a:pPr algn="just">
              <a:lnSpc>
                <a:spcPct val="150000"/>
              </a:lnSpc>
            </a:pPr>
            <a:endParaRPr lang="en-IN" dirty="0">
              <a:latin typeface="Montserrat" panose="020B0604020202020204" charset="0"/>
            </a:endParaRPr>
          </a:p>
        </p:txBody>
      </p:sp>
    </p:spTree>
    <p:extLst>
      <p:ext uri="{BB962C8B-B14F-4D97-AF65-F5344CB8AC3E}">
        <p14:creationId xmlns:p14="http://schemas.microsoft.com/office/powerpoint/2010/main" val="10114204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7739768-E325-44DF-A32D-29D8627053D4}"/>
              </a:ext>
            </a:extLst>
          </p:cNvPr>
          <p:cNvSpPr>
            <a:spLocks noGrp="1"/>
          </p:cNvSpPr>
          <p:nvPr>
            <p:ph idx="1"/>
          </p:nvPr>
        </p:nvSpPr>
        <p:spPr>
          <a:xfrm>
            <a:off x="838200" y="583097"/>
            <a:ext cx="9823450" cy="5539408"/>
          </a:xfrm>
        </p:spPr>
        <p:txBody>
          <a:bodyPr/>
          <a:lstStyle/>
          <a:p>
            <a:pPr marL="0" indent="0" algn="just">
              <a:lnSpc>
                <a:spcPct val="150000"/>
              </a:lnSpc>
              <a:buNone/>
            </a:pPr>
            <a:endParaRPr lang="en-US" sz="2400" dirty="0">
              <a:solidFill>
                <a:schemeClr val="accent2">
                  <a:lumMod val="75000"/>
                </a:schemeClr>
              </a:solidFill>
              <a:latin typeface="Montserrat" panose="020B0604020202020204" charset="0"/>
            </a:endParaRPr>
          </a:p>
          <a:p>
            <a:pPr algn="just">
              <a:lnSpc>
                <a:spcPct val="150000"/>
              </a:lnSpc>
            </a:pPr>
            <a:r>
              <a:rPr lang="en-US" sz="2400" b="0" i="0" u="none" strike="noStrike" baseline="0" dirty="0">
                <a:solidFill>
                  <a:srgbClr val="000000"/>
                </a:solidFill>
                <a:latin typeface="Montserrat" panose="020B0604020202020204" charset="0"/>
              </a:rPr>
              <a:t> </a:t>
            </a:r>
            <a:r>
              <a:rPr lang="en-US" sz="2400" b="1" dirty="0">
                <a:solidFill>
                  <a:schemeClr val="accent2">
                    <a:lumMod val="75000"/>
                  </a:schemeClr>
                </a:solidFill>
                <a:latin typeface="Montserrat" panose="020B0604020202020204" charset="0"/>
              </a:rPr>
              <a:t>W</a:t>
            </a:r>
            <a:r>
              <a:rPr lang="en-US" sz="2400" b="1" i="0" u="none" strike="noStrike" baseline="0" dirty="0">
                <a:solidFill>
                  <a:schemeClr val="accent2">
                    <a:lumMod val="75000"/>
                  </a:schemeClr>
                </a:solidFill>
                <a:latin typeface="Montserrat" panose="020B0604020202020204" charset="0"/>
              </a:rPr>
              <a:t>ell-defined-</a:t>
            </a:r>
            <a:r>
              <a:rPr lang="en-US" sz="2400" b="1" i="0" u="none" strike="noStrike" baseline="0" dirty="0">
                <a:solidFill>
                  <a:srgbClr val="000000"/>
                </a:solidFill>
                <a:latin typeface="Montserrat" panose="020B0604020202020204" charset="0"/>
              </a:rPr>
              <a:t> </a:t>
            </a:r>
            <a:r>
              <a:rPr lang="en-US" sz="2400" b="0" i="0" u="none" strike="noStrike" baseline="0" dirty="0">
                <a:solidFill>
                  <a:srgbClr val="002060"/>
                </a:solidFill>
                <a:latin typeface="Montserrat" panose="020B0604020202020204" charset="0"/>
              </a:rPr>
              <a:t>The instructions given in an algorithm should be simple and well specified. </a:t>
            </a:r>
          </a:p>
          <a:p>
            <a:pPr algn="just">
              <a:lnSpc>
                <a:spcPct val="150000"/>
              </a:lnSpc>
            </a:pPr>
            <a:r>
              <a:rPr lang="en-US" sz="2400" b="1" i="0" u="none" strike="noStrike" baseline="0" dirty="0">
                <a:solidFill>
                  <a:schemeClr val="accent2">
                    <a:lumMod val="75000"/>
                  </a:schemeClr>
                </a:solidFill>
                <a:latin typeface="Montserrat" panose="020B0604020202020204" charset="0"/>
              </a:rPr>
              <a:t>Unambiguous-</a:t>
            </a:r>
            <a:r>
              <a:rPr lang="en-US" sz="2400" b="1" i="0" u="none" strike="noStrike" baseline="0" dirty="0">
                <a:solidFill>
                  <a:srgbClr val="000000"/>
                </a:solidFill>
                <a:latin typeface="Montserrat" panose="020B0604020202020204" charset="0"/>
              </a:rPr>
              <a:t> </a:t>
            </a:r>
            <a:r>
              <a:rPr lang="en-US" sz="2400" b="0" i="0" u="none" strike="noStrike" baseline="0" dirty="0">
                <a:solidFill>
                  <a:srgbClr val="002060"/>
                </a:solidFill>
                <a:latin typeface="Montserrat" panose="020B0604020202020204" charset="0"/>
              </a:rPr>
              <a:t>The instructions should be clear , there should not be ambiguity </a:t>
            </a:r>
            <a:r>
              <a:rPr lang="en-US" sz="2400" b="0" i="0" u="none" strike="noStrike" baseline="0" dirty="0">
                <a:solidFill>
                  <a:srgbClr val="000000"/>
                </a:solidFill>
                <a:latin typeface="Montserrat" panose="020B0604020202020204" charset="0"/>
              </a:rPr>
              <a:t>. </a:t>
            </a:r>
          </a:p>
          <a:p>
            <a:pPr algn="just">
              <a:lnSpc>
                <a:spcPct val="150000"/>
              </a:lnSpc>
            </a:pPr>
            <a:r>
              <a:rPr lang="en-US" sz="2400" b="1" dirty="0">
                <a:solidFill>
                  <a:schemeClr val="accent2">
                    <a:lumMod val="75000"/>
                  </a:schemeClr>
                </a:solidFill>
                <a:latin typeface="Montserrat" panose="020B0604020202020204" charset="0"/>
              </a:rPr>
              <a:t>E</a:t>
            </a:r>
            <a:r>
              <a:rPr lang="en-US" sz="2400" b="1" i="0" u="none" strike="noStrike" baseline="0" dirty="0">
                <a:solidFill>
                  <a:schemeClr val="accent2">
                    <a:lumMod val="75000"/>
                  </a:schemeClr>
                </a:solidFill>
                <a:latin typeface="Montserrat" panose="020B0604020202020204" charset="0"/>
              </a:rPr>
              <a:t>ffectively computable- </a:t>
            </a:r>
            <a:r>
              <a:rPr lang="en-US" sz="2400" b="0" i="0" u="none" strike="noStrike" baseline="0" dirty="0">
                <a:solidFill>
                  <a:srgbClr val="002060"/>
                </a:solidFill>
                <a:latin typeface="Montserrat" panose="020B0604020202020204" charset="0"/>
              </a:rPr>
              <a:t>The instructions should be written step by step ,which helps computer to understand the control flow </a:t>
            </a:r>
            <a:endParaRPr lang="en-IN" sz="2400" dirty="0">
              <a:solidFill>
                <a:srgbClr val="002060"/>
              </a:solidFill>
              <a:latin typeface="Montserrat" panose="020B0604020202020204" charset="0"/>
            </a:endParaRPr>
          </a:p>
        </p:txBody>
      </p:sp>
    </p:spTree>
    <p:extLst>
      <p:ext uri="{BB962C8B-B14F-4D97-AF65-F5344CB8AC3E}">
        <p14:creationId xmlns:p14="http://schemas.microsoft.com/office/powerpoint/2010/main" val="18115556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7739768-E325-44DF-A32D-29D8627053D4}"/>
              </a:ext>
            </a:extLst>
          </p:cNvPr>
          <p:cNvSpPr>
            <a:spLocks noGrp="1"/>
          </p:cNvSpPr>
          <p:nvPr>
            <p:ph idx="1"/>
          </p:nvPr>
        </p:nvSpPr>
        <p:spPr>
          <a:xfrm>
            <a:off x="838200" y="318052"/>
            <a:ext cx="9823450" cy="6206435"/>
          </a:xfrm>
        </p:spPr>
        <p:txBody>
          <a:bodyPr/>
          <a:lstStyle/>
          <a:p>
            <a:pPr marL="0" indent="0" algn="just">
              <a:buNone/>
            </a:pPr>
            <a:r>
              <a:rPr lang="en-US" sz="3200" b="0" i="0" u="none" strike="noStrike" baseline="0" dirty="0">
                <a:solidFill>
                  <a:srgbClr val="002060"/>
                </a:solidFill>
                <a:latin typeface="Montserrat" panose="020B0604020202020204" charset="0"/>
              </a:rPr>
              <a:t>An algorithm has the following characteristics </a:t>
            </a:r>
            <a:r>
              <a:rPr lang="en-US" b="0" i="0" u="none" strike="noStrike" baseline="0" dirty="0">
                <a:solidFill>
                  <a:srgbClr val="002060"/>
                </a:solidFill>
                <a:latin typeface="Montserrat" panose="020B0604020202020204" charset="0"/>
              </a:rPr>
              <a:t>:</a:t>
            </a:r>
          </a:p>
          <a:p>
            <a:pPr marL="0" indent="0" algn="just">
              <a:buNone/>
            </a:pPr>
            <a:endParaRPr lang="en-IN" b="0" i="0" u="none" strike="noStrike" baseline="0" dirty="0">
              <a:solidFill>
                <a:srgbClr val="000000"/>
              </a:solidFill>
              <a:latin typeface="Montserrat" panose="020B0604020202020204" charset="0"/>
            </a:endParaRPr>
          </a:p>
          <a:p>
            <a:pPr marL="0" indent="0" algn="just">
              <a:lnSpc>
                <a:spcPct val="150000"/>
              </a:lnSpc>
              <a:buNone/>
            </a:pPr>
            <a:r>
              <a:rPr lang="en-US" sz="2400" b="1" i="0" u="none" strike="noStrike" baseline="0" dirty="0">
                <a:solidFill>
                  <a:schemeClr val="accent2">
                    <a:lumMod val="75000"/>
                  </a:schemeClr>
                </a:solidFill>
                <a:latin typeface="Montserrat" panose="020B0604020202020204" charset="0"/>
              </a:rPr>
              <a:t>Input</a:t>
            </a:r>
            <a:r>
              <a:rPr lang="en-US" sz="2400" b="0" i="0" u="none" strike="noStrike" baseline="0" dirty="0">
                <a:solidFill>
                  <a:schemeClr val="accent2">
                    <a:lumMod val="75000"/>
                  </a:schemeClr>
                </a:solidFill>
                <a:latin typeface="Montserrat" panose="020B0604020202020204" charset="0"/>
              </a:rPr>
              <a:t>: </a:t>
            </a:r>
            <a:r>
              <a:rPr lang="en-US" sz="2400" b="0" i="0" u="none" strike="noStrike" baseline="0" dirty="0">
                <a:solidFill>
                  <a:srgbClr val="002060"/>
                </a:solidFill>
                <a:latin typeface="Montserrat" panose="020B0604020202020204" charset="0"/>
              </a:rPr>
              <a:t>An algorithm may or may not require input </a:t>
            </a:r>
          </a:p>
          <a:p>
            <a:pPr marL="0" indent="0" algn="just">
              <a:lnSpc>
                <a:spcPct val="150000"/>
              </a:lnSpc>
              <a:buNone/>
            </a:pPr>
            <a:r>
              <a:rPr lang="en-US" sz="2400" b="1" i="0" u="none" strike="noStrike" baseline="0" dirty="0">
                <a:solidFill>
                  <a:schemeClr val="accent2">
                    <a:lumMod val="75000"/>
                  </a:schemeClr>
                </a:solidFill>
                <a:latin typeface="Montserrat" panose="020B0604020202020204" charset="0"/>
              </a:rPr>
              <a:t>Output: </a:t>
            </a:r>
            <a:r>
              <a:rPr lang="en-US" sz="2400" b="0" i="0" u="none" strike="noStrike" baseline="0" dirty="0">
                <a:solidFill>
                  <a:srgbClr val="002060"/>
                </a:solidFill>
                <a:latin typeface="Montserrat" panose="020B0604020202020204" charset="0"/>
              </a:rPr>
              <a:t>Each algorithm is expected to produce at least one result </a:t>
            </a:r>
          </a:p>
          <a:p>
            <a:pPr marL="0" indent="0" algn="just">
              <a:lnSpc>
                <a:spcPct val="150000"/>
              </a:lnSpc>
              <a:buNone/>
            </a:pPr>
            <a:r>
              <a:rPr lang="en-US" sz="2400" b="1" i="0" u="none" strike="noStrike" baseline="0" dirty="0">
                <a:solidFill>
                  <a:schemeClr val="accent2">
                    <a:lumMod val="75000"/>
                  </a:schemeClr>
                </a:solidFill>
                <a:latin typeface="Montserrat" panose="020B0604020202020204" charset="0"/>
              </a:rPr>
              <a:t>Definite</a:t>
            </a:r>
            <a:r>
              <a:rPr lang="en-US" sz="2400" b="0" i="0" u="none" strike="noStrike" baseline="0" dirty="0">
                <a:solidFill>
                  <a:schemeClr val="accent2">
                    <a:lumMod val="75000"/>
                  </a:schemeClr>
                </a:solidFill>
                <a:latin typeface="Montserrat" panose="020B0604020202020204" charset="0"/>
              </a:rPr>
              <a:t>: </a:t>
            </a:r>
            <a:r>
              <a:rPr lang="en-US" sz="2400" b="0" i="0" u="none" strike="noStrike" baseline="0" dirty="0">
                <a:solidFill>
                  <a:srgbClr val="002060"/>
                </a:solidFill>
                <a:latin typeface="Montserrat" panose="020B0604020202020204" charset="0"/>
              </a:rPr>
              <a:t>Each instruction must be clear and unambiguous </a:t>
            </a:r>
          </a:p>
          <a:p>
            <a:pPr marL="0" indent="0" algn="just">
              <a:lnSpc>
                <a:spcPct val="150000"/>
              </a:lnSpc>
              <a:buNone/>
            </a:pPr>
            <a:r>
              <a:rPr lang="en-US" sz="2400" b="1" i="0" u="none" strike="noStrike" baseline="0" dirty="0">
                <a:solidFill>
                  <a:schemeClr val="accent2">
                    <a:lumMod val="75000"/>
                  </a:schemeClr>
                </a:solidFill>
                <a:latin typeface="Montserrat" panose="020B0604020202020204" charset="0"/>
              </a:rPr>
              <a:t>Finite</a:t>
            </a:r>
            <a:r>
              <a:rPr lang="en-US" sz="2400" b="0" i="0" u="none" strike="noStrike" baseline="0" dirty="0">
                <a:solidFill>
                  <a:schemeClr val="accent2">
                    <a:lumMod val="75000"/>
                  </a:schemeClr>
                </a:solidFill>
                <a:latin typeface="Montserrat" panose="020B0604020202020204" charset="0"/>
              </a:rPr>
              <a:t>: </a:t>
            </a:r>
            <a:r>
              <a:rPr lang="en-US" sz="2400" b="0" i="0" u="none" strike="noStrike" baseline="0" dirty="0">
                <a:solidFill>
                  <a:srgbClr val="002060"/>
                </a:solidFill>
                <a:latin typeface="Montserrat" panose="020B0604020202020204" charset="0"/>
              </a:rPr>
              <a:t>If the instructions of an algorithm are executed, the algorithm should terminate after finite number of steps </a:t>
            </a:r>
          </a:p>
          <a:p>
            <a:pPr marL="0" indent="0" algn="just">
              <a:lnSpc>
                <a:spcPct val="150000"/>
              </a:lnSpc>
              <a:buNone/>
            </a:pPr>
            <a:endParaRPr lang="en-IN" dirty="0">
              <a:latin typeface="Montserrat" panose="020B0604020202020204" charset="0"/>
            </a:endParaRPr>
          </a:p>
        </p:txBody>
      </p:sp>
    </p:spTree>
    <p:extLst>
      <p:ext uri="{BB962C8B-B14F-4D97-AF65-F5344CB8AC3E}">
        <p14:creationId xmlns:p14="http://schemas.microsoft.com/office/powerpoint/2010/main" val="16728617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3FB78B-8565-442F-9CAB-C2B242D75641}"/>
              </a:ext>
            </a:extLst>
          </p:cNvPr>
          <p:cNvSpPr>
            <a:spLocks noGrp="1"/>
          </p:cNvSpPr>
          <p:nvPr>
            <p:ph type="title"/>
          </p:nvPr>
        </p:nvSpPr>
        <p:spPr>
          <a:xfrm>
            <a:off x="838200" y="365126"/>
            <a:ext cx="8753475" cy="920336"/>
          </a:xfrm>
        </p:spPr>
        <p:txBody>
          <a:bodyPr/>
          <a:lstStyle/>
          <a:p>
            <a:pPr algn="ctr"/>
            <a:r>
              <a:rPr lang="en-IN" sz="2800" b="0" i="0" u="none" strike="noStrike" baseline="0" dirty="0">
                <a:solidFill>
                  <a:srgbClr val="002060"/>
                </a:solidFill>
                <a:latin typeface="Montserrat" panose="020B0604020202020204" charset="0"/>
              </a:rPr>
              <a:t/>
            </a:r>
            <a:br>
              <a:rPr lang="en-IN" sz="2800" b="0" i="0" u="none" strike="noStrike" baseline="0" dirty="0">
                <a:solidFill>
                  <a:srgbClr val="002060"/>
                </a:solidFill>
                <a:latin typeface="Montserrat" panose="020B0604020202020204" charset="0"/>
              </a:rPr>
            </a:br>
            <a:r>
              <a:rPr lang="en-IN" sz="2800" b="0" i="0" u="none" strike="noStrike" baseline="0" dirty="0">
                <a:solidFill>
                  <a:srgbClr val="002060"/>
                </a:solidFill>
                <a:latin typeface="Montserrat" panose="020B0604020202020204" charset="0"/>
              </a:rPr>
              <a:t> </a:t>
            </a:r>
            <a:r>
              <a:rPr lang="en-IN" sz="2800" b="1" i="0" u="none" strike="noStrike" baseline="0" dirty="0">
                <a:solidFill>
                  <a:srgbClr val="002060"/>
                </a:solidFill>
                <a:latin typeface="Montserrat" panose="020B0604020202020204" charset="0"/>
              </a:rPr>
              <a:t>Building Blocks of Algorithm </a:t>
            </a:r>
            <a:endParaRPr lang="en-IN" sz="2800" dirty="0">
              <a:solidFill>
                <a:srgbClr val="002060"/>
              </a:solidFill>
              <a:latin typeface="Montserrat" panose="020B0604020202020204" charset="0"/>
            </a:endParaRPr>
          </a:p>
        </p:txBody>
      </p:sp>
      <p:sp>
        <p:nvSpPr>
          <p:cNvPr id="3" name="Content Placeholder 2">
            <a:extLst>
              <a:ext uri="{FF2B5EF4-FFF2-40B4-BE49-F238E27FC236}">
                <a16:creationId xmlns:a16="http://schemas.microsoft.com/office/drawing/2014/main" xmlns="" id="{F2CEBD3A-B278-435C-B5F5-EF54DF5E4A99}"/>
              </a:ext>
            </a:extLst>
          </p:cNvPr>
          <p:cNvSpPr>
            <a:spLocks noGrp="1"/>
          </p:cNvSpPr>
          <p:nvPr>
            <p:ph idx="1"/>
          </p:nvPr>
        </p:nvSpPr>
        <p:spPr/>
        <p:txBody>
          <a:bodyPr/>
          <a:lstStyle/>
          <a:p>
            <a:pPr algn="just">
              <a:lnSpc>
                <a:spcPct val="150000"/>
              </a:lnSpc>
            </a:pPr>
            <a:r>
              <a:rPr lang="en-US" sz="2400" b="0" i="0" u="none" strike="noStrike" baseline="0" dirty="0">
                <a:solidFill>
                  <a:srgbClr val="002060"/>
                </a:solidFill>
                <a:latin typeface="Montserrat" panose="020B0604020202020204" charset="0"/>
              </a:rPr>
              <a:t>Any algorithm can be constructed using three basic building blocks. </a:t>
            </a:r>
          </a:p>
          <a:p>
            <a:pPr algn="just">
              <a:lnSpc>
                <a:spcPct val="150000"/>
              </a:lnSpc>
            </a:pPr>
            <a:r>
              <a:rPr lang="en-US" sz="2400" b="0" i="0" u="none" strike="noStrike" baseline="0" dirty="0">
                <a:solidFill>
                  <a:srgbClr val="002060"/>
                </a:solidFill>
                <a:latin typeface="Montserrat" panose="020B0604020202020204" charset="0"/>
              </a:rPr>
              <a:t>These three building blocks are</a:t>
            </a:r>
          </a:p>
          <a:p>
            <a:pPr marL="0" indent="0" algn="just">
              <a:lnSpc>
                <a:spcPct val="150000"/>
              </a:lnSpc>
              <a:buNone/>
            </a:pPr>
            <a:r>
              <a:rPr lang="en-US" sz="2400" b="1" i="0" u="none" strike="noStrike" baseline="0" dirty="0">
                <a:solidFill>
                  <a:schemeClr val="accent2">
                    <a:lumMod val="75000"/>
                  </a:schemeClr>
                </a:solidFill>
                <a:latin typeface="Montserrat" panose="020B0604020202020204" charset="0"/>
              </a:rPr>
              <a:t>	Sequence (Action)</a:t>
            </a:r>
          </a:p>
          <a:p>
            <a:pPr marL="0" indent="0" algn="just">
              <a:lnSpc>
                <a:spcPct val="150000"/>
              </a:lnSpc>
              <a:buNone/>
            </a:pPr>
            <a:r>
              <a:rPr lang="en-US" sz="2400" b="1" i="0" u="none" strike="noStrike" baseline="0" dirty="0">
                <a:solidFill>
                  <a:schemeClr val="accent2">
                    <a:lumMod val="75000"/>
                  </a:schemeClr>
                </a:solidFill>
                <a:latin typeface="Montserrat" panose="020B0604020202020204" charset="0"/>
              </a:rPr>
              <a:t>	Selection (Decision)</a:t>
            </a:r>
          </a:p>
          <a:p>
            <a:pPr marL="0" indent="0" algn="just">
              <a:lnSpc>
                <a:spcPct val="150000"/>
              </a:lnSpc>
              <a:buNone/>
            </a:pPr>
            <a:r>
              <a:rPr lang="en-US" sz="2400" b="1" i="0" u="none" strike="noStrike" baseline="0" dirty="0">
                <a:solidFill>
                  <a:schemeClr val="accent2">
                    <a:lumMod val="75000"/>
                  </a:schemeClr>
                </a:solidFill>
                <a:latin typeface="Montserrat" panose="020B0604020202020204" charset="0"/>
              </a:rPr>
              <a:t>	Iteration (Repetition)</a:t>
            </a:r>
            <a:endParaRPr lang="en-IN" sz="2400" dirty="0">
              <a:solidFill>
                <a:schemeClr val="accent2">
                  <a:lumMod val="75000"/>
                </a:schemeClr>
              </a:solidFill>
              <a:latin typeface="Montserrat" panose="020B0604020202020204" charset="0"/>
            </a:endParaRPr>
          </a:p>
        </p:txBody>
      </p:sp>
    </p:spTree>
    <p:extLst>
      <p:ext uri="{BB962C8B-B14F-4D97-AF65-F5344CB8AC3E}">
        <p14:creationId xmlns:p14="http://schemas.microsoft.com/office/powerpoint/2010/main" val="5592844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A127326-5A8D-4D70-A5F6-63B78DF641B1}"/>
              </a:ext>
            </a:extLst>
          </p:cNvPr>
          <p:cNvSpPr>
            <a:spLocks noGrp="1"/>
          </p:cNvSpPr>
          <p:nvPr>
            <p:ph idx="1"/>
          </p:nvPr>
        </p:nvSpPr>
        <p:spPr>
          <a:xfrm>
            <a:off x="838200" y="225288"/>
            <a:ext cx="9823450" cy="6321286"/>
          </a:xfrm>
        </p:spPr>
        <p:txBody>
          <a:bodyPr>
            <a:normAutofit/>
          </a:bodyPr>
          <a:lstStyle/>
          <a:p>
            <a:pPr algn="just">
              <a:lnSpc>
                <a:spcPct val="150000"/>
              </a:lnSpc>
            </a:pPr>
            <a:r>
              <a:rPr lang="en-IN" sz="2200" b="1" i="0" u="none" strike="noStrike" baseline="0" dirty="0">
                <a:solidFill>
                  <a:schemeClr val="accent2">
                    <a:lumMod val="75000"/>
                  </a:schemeClr>
                </a:solidFill>
                <a:latin typeface="Montserrat" panose="020B0604020202020204" charset="0"/>
              </a:rPr>
              <a:t>Sequence </a:t>
            </a:r>
            <a:endParaRPr lang="en-IN" sz="2200" b="0" i="0" u="none" strike="noStrike" baseline="0" dirty="0">
              <a:solidFill>
                <a:schemeClr val="accent2">
                  <a:lumMod val="75000"/>
                </a:schemeClr>
              </a:solidFill>
              <a:latin typeface="Montserrat" panose="020B0604020202020204" charset="0"/>
            </a:endParaRPr>
          </a:p>
          <a:p>
            <a:pPr marL="0" indent="0" algn="just">
              <a:lnSpc>
                <a:spcPct val="150000"/>
              </a:lnSpc>
              <a:buNone/>
            </a:pPr>
            <a:r>
              <a:rPr lang="en-US" sz="2200" b="0" i="0" u="none" strike="noStrike" baseline="0" dirty="0">
                <a:solidFill>
                  <a:srgbClr val="002060"/>
                </a:solidFill>
                <a:latin typeface="Montserrat" panose="020B0604020202020204" charset="0"/>
              </a:rPr>
              <a:t>    This describes a sequence of actions that a program carries out one after another, unconditionally. Execute a list of statements </a:t>
            </a:r>
            <a:r>
              <a:rPr lang="en-US" sz="2200" b="1" i="0" u="none" strike="noStrike" baseline="0" dirty="0">
                <a:solidFill>
                  <a:schemeClr val="accent2">
                    <a:lumMod val="75000"/>
                  </a:schemeClr>
                </a:solidFill>
                <a:latin typeface="Montserrat" panose="020B0604020202020204" charset="0"/>
              </a:rPr>
              <a:t>in order</a:t>
            </a:r>
            <a:r>
              <a:rPr lang="en-US" sz="2200" b="0" i="0" u="none" strike="noStrike" baseline="0" dirty="0">
                <a:solidFill>
                  <a:schemeClr val="accent2">
                    <a:lumMod val="75000"/>
                  </a:schemeClr>
                </a:solidFill>
                <a:latin typeface="Montserrat" panose="020B0604020202020204" charset="0"/>
              </a:rPr>
              <a:t>. </a:t>
            </a:r>
          </a:p>
          <a:p>
            <a:pPr algn="just">
              <a:lnSpc>
                <a:spcPct val="150000"/>
              </a:lnSpc>
            </a:pPr>
            <a:r>
              <a:rPr lang="en-IN" sz="2200" b="1" i="0" u="none" strike="noStrike" baseline="0" dirty="0">
                <a:solidFill>
                  <a:schemeClr val="accent2">
                    <a:lumMod val="75000"/>
                  </a:schemeClr>
                </a:solidFill>
                <a:latin typeface="Montserrat" panose="020B0604020202020204" charset="0"/>
              </a:rPr>
              <a:t>Selection </a:t>
            </a:r>
            <a:endParaRPr lang="en-IN" sz="2200" b="0" i="0" u="none" strike="noStrike" baseline="0" dirty="0">
              <a:solidFill>
                <a:schemeClr val="accent2">
                  <a:lumMod val="75000"/>
                </a:schemeClr>
              </a:solidFill>
              <a:latin typeface="Montserrat" panose="020B0604020202020204" charset="0"/>
            </a:endParaRPr>
          </a:p>
          <a:p>
            <a:pPr marL="0" indent="0" algn="just">
              <a:lnSpc>
                <a:spcPct val="150000"/>
              </a:lnSpc>
              <a:buNone/>
            </a:pPr>
            <a:r>
              <a:rPr lang="en-US" sz="2200" b="0" i="0" u="none" strike="noStrike" baseline="0" dirty="0">
                <a:solidFill>
                  <a:srgbClr val="002060"/>
                </a:solidFill>
                <a:latin typeface="Montserrat" panose="020B0604020202020204" charset="0"/>
              </a:rPr>
              <a:t>Selection is the program construct that allows a program to </a:t>
            </a:r>
            <a:r>
              <a:rPr lang="en-US" sz="2200" b="1" i="0" u="none" strike="noStrike" baseline="0" dirty="0">
                <a:solidFill>
                  <a:schemeClr val="accent2">
                    <a:lumMod val="75000"/>
                  </a:schemeClr>
                </a:solidFill>
                <a:latin typeface="Montserrat" panose="020B0604020202020204" charset="0"/>
              </a:rPr>
              <a:t>choose between different actions</a:t>
            </a:r>
            <a:r>
              <a:rPr lang="en-US" sz="2200" b="0" i="0" u="none" strike="noStrike" baseline="0" dirty="0">
                <a:solidFill>
                  <a:srgbClr val="002060"/>
                </a:solidFill>
                <a:latin typeface="Montserrat" panose="020B0604020202020204" charset="0"/>
              </a:rPr>
              <a:t>. Choose at most one action from several alternative conditions. </a:t>
            </a:r>
          </a:p>
          <a:p>
            <a:pPr algn="just">
              <a:lnSpc>
                <a:spcPct val="150000"/>
              </a:lnSpc>
            </a:pPr>
            <a:r>
              <a:rPr lang="en-IN" sz="2200" b="1" i="0" u="none" strike="noStrike" baseline="0" dirty="0">
                <a:solidFill>
                  <a:schemeClr val="accent2">
                    <a:lumMod val="75000"/>
                  </a:schemeClr>
                </a:solidFill>
                <a:latin typeface="Montserrat" panose="020B0604020202020204" charset="0"/>
              </a:rPr>
              <a:t>Repetition </a:t>
            </a:r>
            <a:endParaRPr lang="en-IN" sz="2200" b="0" i="0" u="none" strike="noStrike" baseline="0" dirty="0">
              <a:solidFill>
                <a:schemeClr val="accent2">
                  <a:lumMod val="75000"/>
                </a:schemeClr>
              </a:solidFill>
              <a:latin typeface="Montserrat" panose="020B0604020202020204" charset="0"/>
            </a:endParaRPr>
          </a:p>
          <a:p>
            <a:pPr marL="0" indent="0" algn="just">
              <a:lnSpc>
                <a:spcPct val="150000"/>
              </a:lnSpc>
              <a:buNone/>
            </a:pPr>
            <a:r>
              <a:rPr lang="en-US" sz="2200" b="0" i="0" u="none" strike="noStrike" baseline="0" dirty="0">
                <a:solidFill>
                  <a:srgbClr val="002060"/>
                </a:solidFill>
                <a:latin typeface="Montserrat" panose="020B0604020202020204" charset="0"/>
              </a:rPr>
              <a:t>Repetition (loop) may be defined as a smaller program that can be </a:t>
            </a:r>
            <a:r>
              <a:rPr lang="en-US" sz="2200" b="1" i="0" u="none" strike="noStrike" baseline="0" dirty="0">
                <a:solidFill>
                  <a:schemeClr val="accent2">
                    <a:lumMod val="75000"/>
                  </a:schemeClr>
                </a:solidFill>
                <a:latin typeface="Montserrat" panose="020B0604020202020204" charset="0"/>
              </a:rPr>
              <a:t>executed several times </a:t>
            </a:r>
            <a:r>
              <a:rPr lang="en-US" sz="2200" b="0" i="0" u="none" strike="noStrike" baseline="0" dirty="0">
                <a:solidFill>
                  <a:srgbClr val="002060"/>
                </a:solidFill>
                <a:latin typeface="Montserrat" panose="020B0604020202020204" charset="0"/>
              </a:rPr>
              <a:t>in a main program. Repeat a block of statements while a condition is true. </a:t>
            </a:r>
            <a:r>
              <a:rPr lang="en-IN" sz="2200" b="0" i="0" u="none" strike="noStrike" baseline="0" dirty="0">
                <a:solidFill>
                  <a:srgbClr val="002060"/>
                </a:solidFill>
                <a:latin typeface="Montserrat" panose="020B0604020202020204" charset="0"/>
              </a:rPr>
              <a:t> </a:t>
            </a:r>
            <a:endParaRPr lang="en-IN" sz="2200" dirty="0">
              <a:solidFill>
                <a:srgbClr val="002060"/>
              </a:solidFill>
              <a:latin typeface="Montserrat" panose="020B0604020202020204" charset="0"/>
            </a:endParaRPr>
          </a:p>
        </p:txBody>
      </p:sp>
    </p:spTree>
    <p:extLst>
      <p:ext uri="{BB962C8B-B14F-4D97-AF65-F5344CB8AC3E}">
        <p14:creationId xmlns:p14="http://schemas.microsoft.com/office/powerpoint/2010/main" val="14628437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Diagram&#10;&#10;Description automatically generated">
            <a:extLst>
              <a:ext uri="{FF2B5EF4-FFF2-40B4-BE49-F238E27FC236}">
                <a16:creationId xmlns:a16="http://schemas.microsoft.com/office/drawing/2014/main" xmlns="" id="{756955C9-F52E-4E7D-8DA8-962F4A88FE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6036" y="715617"/>
            <a:ext cx="10904561" cy="5035826"/>
          </a:xfrm>
        </p:spPr>
      </p:pic>
      <p:sp>
        <p:nvSpPr>
          <p:cNvPr id="2" name="Rectangle 1">
            <a:extLst>
              <a:ext uri="{FF2B5EF4-FFF2-40B4-BE49-F238E27FC236}">
                <a16:creationId xmlns:a16="http://schemas.microsoft.com/office/drawing/2014/main" xmlns="" id="{F28F8496-F00C-4E26-978A-125309E2592A}"/>
              </a:ext>
            </a:extLst>
          </p:cNvPr>
          <p:cNvSpPr/>
          <p:nvPr/>
        </p:nvSpPr>
        <p:spPr>
          <a:xfrm>
            <a:off x="7195930" y="1948069"/>
            <a:ext cx="424070" cy="23853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200" dirty="0"/>
              <a:t>NO</a:t>
            </a:r>
          </a:p>
        </p:txBody>
      </p:sp>
      <p:sp>
        <p:nvSpPr>
          <p:cNvPr id="4" name="Rectangle 3">
            <a:extLst>
              <a:ext uri="{FF2B5EF4-FFF2-40B4-BE49-F238E27FC236}">
                <a16:creationId xmlns:a16="http://schemas.microsoft.com/office/drawing/2014/main" xmlns="" id="{A5A9ED5E-6B5B-435D-BE9E-386809B02B58}"/>
              </a:ext>
            </a:extLst>
          </p:cNvPr>
          <p:cNvSpPr/>
          <p:nvPr/>
        </p:nvSpPr>
        <p:spPr>
          <a:xfrm>
            <a:off x="8289234" y="2590799"/>
            <a:ext cx="424070" cy="23853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200" dirty="0"/>
              <a:t>YES</a:t>
            </a:r>
          </a:p>
        </p:txBody>
      </p:sp>
      <p:sp>
        <p:nvSpPr>
          <p:cNvPr id="5" name="Rectangle 4">
            <a:extLst>
              <a:ext uri="{FF2B5EF4-FFF2-40B4-BE49-F238E27FC236}">
                <a16:creationId xmlns:a16="http://schemas.microsoft.com/office/drawing/2014/main" xmlns="" id="{CCD5F1F6-907D-4B67-A771-CA737A2B7854}"/>
              </a:ext>
            </a:extLst>
          </p:cNvPr>
          <p:cNvSpPr/>
          <p:nvPr/>
        </p:nvSpPr>
        <p:spPr>
          <a:xfrm>
            <a:off x="5221355" y="1901685"/>
            <a:ext cx="424070" cy="23853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200" dirty="0"/>
              <a:t>YES</a:t>
            </a:r>
          </a:p>
        </p:txBody>
      </p:sp>
      <p:sp>
        <p:nvSpPr>
          <p:cNvPr id="7" name="Rectangle 6">
            <a:extLst>
              <a:ext uri="{FF2B5EF4-FFF2-40B4-BE49-F238E27FC236}">
                <a16:creationId xmlns:a16="http://schemas.microsoft.com/office/drawing/2014/main" xmlns="" id="{E076806E-A65F-4CA6-B050-92527D7A88C2}"/>
              </a:ext>
            </a:extLst>
          </p:cNvPr>
          <p:cNvSpPr/>
          <p:nvPr/>
        </p:nvSpPr>
        <p:spPr>
          <a:xfrm>
            <a:off x="3664226" y="1842052"/>
            <a:ext cx="424070" cy="2319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200" dirty="0"/>
              <a:t>NO</a:t>
            </a:r>
          </a:p>
        </p:txBody>
      </p:sp>
    </p:spTree>
    <p:extLst>
      <p:ext uri="{BB962C8B-B14F-4D97-AF65-F5344CB8AC3E}">
        <p14:creationId xmlns:p14="http://schemas.microsoft.com/office/powerpoint/2010/main" val="35185353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5113AC-2A93-4854-BA3C-BC65FA693231}"/>
              </a:ext>
            </a:extLst>
          </p:cNvPr>
          <p:cNvSpPr>
            <a:spLocks noGrp="1"/>
          </p:cNvSpPr>
          <p:nvPr>
            <p:ph type="title"/>
          </p:nvPr>
        </p:nvSpPr>
        <p:spPr>
          <a:xfrm>
            <a:off x="838200" y="106017"/>
            <a:ext cx="9127435" cy="1139687"/>
          </a:xfrm>
        </p:spPr>
        <p:txBody>
          <a:bodyPr>
            <a:normAutofit/>
          </a:bodyPr>
          <a:lstStyle/>
          <a:p>
            <a:pPr algn="ctr"/>
            <a:r>
              <a:rPr lang="en-IN" sz="3600" b="0" i="0" u="none" strike="noStrike" baseline="0" dirty="0">
                <a:solidFill>
                  <a:srgbClr val="FF0000"/>
                </a:solidFill>
                <a:latin typeface="Times New Roman" panose="02020603050405020304" pitchFamily="18" charset="0"/>
                <a:cs typeface="Times New Roman" panose="02020603050405020304" pitchFamily="18" charset="0"/>
              </a:rPr>
              <a:t>Advantages of Algorithm </a:t>
            </a:r>
            <a:endParaRPr lang="en-IN"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91BBEE17-F79F-4570-B674-4E76B86BB5BA}"/>
              </a:ext>
            </a:extLst>
          </p:cNvPr>
          <p:cNvSpPr>
            <a:spLocks noGrp="1"/>
          </p:cNvSpPr>
          <p:nvPr>
            <p:ph idx="1"/>
          </p:nvPr>
        </p:nvSpPr>
        <p:spPr>
          <a:xfrm>
            <a:off x="838200" y="1113183"/>
            <a:ext cx="9823450" cy="5063780"/>
          </a:xfrm>
        </p:spPr>
        <p:txBody>
          <a:bodyPr>
            <a:normAutofit lnSpcReduction="10000"/>
          </a:bodyPr>
          <a:lstStyle/>
          <a:p>
            <a:pPr algn="just">
              <a:lnSpc>
                <a:spcPct val="150000"/>
              </a:lnSpc>
            </a:pPr>
            <a:r>
              <a:rPr lang="en-US" sz="2600" b="0" i="0" u="none" strike="noStrike" baseline="0" dirty="0">
                <a:solidFill>
                  <a:srgbClr val="002060"/>
                </a:solidFill>
                <a:latin typeface="Montserrat" panose="020B0604020202020204" charset="0"/>
              </a:rPr>
              <a:t>It is a step-wise representation of a solution to a given problem, which makes it easy to understand. </a:t>
            </a:r>
          </a:p>
          <a:p>
            <a:pPr algn="just">
              <a:lnSpc>
                <a:spcPct val="150000"/>
              </a:lnSpc>
            </a:pPr>
            <a:r>
              <a:rPr lang="en-IN" sz="2600" b="0" i="0" u="none" strike="noStrike" baseline="0" dirty="0">
                <a:solidFill>
                  <a:srgbClr val="002060"/>
                </a:solidFill>
                <a:latin typeface="Montserrat" panose="020B0604020202020204" charset="0"/>
              </a:rPr>
              <a:t> </a:t>
            </a:r>
            <a:r>
              <a:rPr lang="en-IN" sz="2600" b="0" i="0" u="none" strike="noStrike" baseline="0" dirty="0">
                <a:solidFill>
                  <a:schemeClr val="accent2">
                    <a:lumMod val="75000"/>
                  </a:schemeClr>
                </a:solidFill>
                <a:latin typeface="Montserrat" panose="020B0604020202020204" charset="0"/>
              </a:rPr>
              <a:t>An algorithm uses a definite procedure. </a:t>
            </a:r>
          </a:p>
          <a:p>
            <a:pPr algn="just">
              <a:lnSpc>
                <a:spcPct val="150000"/>
              </a:lnSpc>
            </a:pPr>
            <a:r>
              <a:rPr lang="en-US" sz="2600" b="0" i="0" u="none" strike="noStrike" baseline="0" dirty="0">
                <a:solidFill>
                  <a:srgbClr val="002060"/>
                </a:solidFill>
                <a:latin typeface="Montserrat" panose="020B0604020202020204" charset="0"/>
              </a:rPr>
              <a:t> It is not dependent on any programming language, so it is easy to understand for anyone even without programming knowledge. </a:t>
            </a:r>
          </a:p>
          <a:p>
            <a:pPr algn="just">
              <a:lnSpc>
                <a:spcPct val="150000"/>
              </a:lnSpc>
            </a:pPr>
            <a:r>
              <a:rPr lang="en-US" sz="2600" b="0" i="0" u="none" strike="noStrike" baseline="0" dirty="0">
                <a:solidFill>
                  <a:srgbClr val="002060"/>
                </a:solidFill>
                <a:latin typeface="Montserrat" panose="020B0604020202020204" charset="0"/>
              </a:rPr>
              <a:t> </a:t>
            </a:r>
            <a:r>
              <a:rPr lang="en-US" sz="2600" b="0" i="0" u="none" strike="noStrike" baseline="0" dirty="0">
                <a:solidFill>
                  <a:schemeClr val="accent2">
                    <a:lumMod val="75000"/>
                  </a:schemeClr>
                </a:solidFill>
                <a:latin typeface="Montserrat" panose="020B0604020202020204" charset="0"/>
              </a:rPr>
              <a:t>Every step in an algorithm has its own logical sequence so it is easy to debug. </a:t>
            </a:r>
          </a:p>
          <a:p>
            <a:pPr algn="just">
              <a:lnSpc>
                <a:spcPct val="150000"/>
              </a:lnSpc>
            </a:pPr>
            <a:endParaRPr lang="en-IN" sz="2600" dirty="0">
              <a:solidFill>
                <a:srgbClr val="002060"/>
              </a:solidFill>
              <a:latin typeface="Montserrat" panose="020B0604020202020204" charset="0"/>
            </a:endParaRPr>
          </a:p>
        </p:txBody>
      </p:sp>
    </p:spTree>
    <p:extLst>
      <p:ext uri="{BB962C8B-B14F-4D97-AF65-F5344CB8AC3E}">
        <p14:creationId xmlns:p14="http://schemas.microsoft.com/office/powerpoint/2010/main" val="361963683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5113AC-2A93-4854-BA3C-BC65FA693231}"/>
              </a:ext>
            </a:extLst>
          </p:cNvPr>
          <p:cNvSpPr>
            <a:spLocks noGrp="1"/>
          </p:cNvSpPr>
          <p:nvPr>
            <p:ph type="title"/>
          </p:nvPr>
        </p:nvSpPr>
        <p:spPr>
          <a:xfrm>
            <a:off x="838200" y="106017"/>
            <a:ext cx="9127435" cy="1139687"/>
          </a:xfrm>
        </p:spPr>
        <p:txBody>
          <a:bodyPr/>
          <a:lstStyle/>
          <a:p>
            <a:pPr algn="ctr"/>
            <a:r>
              <a:rPr lang="en-IN" sz="3200" b="0" i="0" u="none" strike="noStrike" baseline="0" dirty="0">
                <a:solidFill>
                  <a:srgbClr val="002060"/>
                </a:solidFill>
                <a:latin typeface="Times New Roman" panose="02020603050405020304" pitchFamily="18" charset="0"/>
                <a:cs typeface="Times New Roman" panose="02020603050405020304" pitchFamily="18" charset="0"/>
              </a:rPr>
              <a:t>Examples </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91BBEE17-F79F-4570-B674-4E76B86BB5BA}"/>
              </a:ext>
            </a:extLst>
          </p:cNvPr>
          <p:cNvSpPr>
            <a:spLocks noGrp="1"/>
          </p:cNvSpPr>
          <p:nvPr>
            <p:ph idx="1"/>
          </p:nvPr>
        </p:nvSpPr>
        <p:spPr>
          <a:xfrm>
            <a:off x="838200" y="1113183"/>
            <a:ext cx="9823450" cy="5063780"/>
          </a:xfrm>
        </p:spPr>
        <p:txBody>
          <a:bodyPr>
            <a:normAutofit/>
          </a:bodyPr>
          <a:lstStyle/>
          <a:p>
            <a:pPr marL="0" indent="0" algn="just">
              <a:lnSpc>
                <a:spcPct val="150000"/>
              </a:lnSpc>
              <a:buNone/>
            </a:pPr>
            <a:r>
              <a:rPr lang="en-US" b="1" i="0" u="none" strike="noStrike" baseline="0" dirty="0">
                <a:solidFill>
                  <a:schemeClr val="accent2">
                    <a:lumMod val="75000"/>
                  </a:schemeClr>
                </a:solidFill>
                <a:latin typeface="Montserrat" panose="020B0604020202020204" charset="0"/>
              </a:rPr>
              <a:t>Algorithm for Addition of two numbers</a:t>
            </a:r>
          </a:p>
          <a:p>
            <a:pPr marL="0" indent="0" algn="just">
              <a:lnSpc>
                <a:spcPct val="150000"/>
              </a:lnSpc>
              <a:buNone/>
            </a:pPr>
            <a:r>
              <a:rPr lang="en-US" b="1" i="0" u="none" strike="noStrike" baseline="0" dirty="0">
                <a:solidFill>
                  <a:srgbClr val="002060"/>
                </a:solidFill>
                <a:latin typeface="Montserrat" panose="020B0604020202020204" charset="0"/>
              </a:rPr>
              <a:t>	</a:t>
            </a:r>
            <a:r>
              <a:rPr lang="en-US" i="0" u="none" strike="noStrike" baseline="0" dirty="0">
                <a:solidFill>
                  <a:schemeClr val="accent2">
                    <a:lumMod val="75000"/>
                  </a:schemeClr>
                </a:solidFill>
                <a:latin typeface="Montserrat" panose="020B0604020202020204" charset="0"/>
              </a:rPr>
              <a:t>Step 1</a:t>
            </a:r>
            <a:r>
              <a:rPr lang="en-US" i="0" u="none" strike="noStrike" baseline="0" dirty="0">
                <a:solidFill>
                  <a:srgbClr val="002060"/>
                </a:solidFill>
                <a:latin typeface="Montserrat" panose="020B0604020202020204" charset="0"/>
              </a:rPr>
              <a:t>:</a:t>
            </a:r>
            <a:r>
              <a:rPr lang="en-US" i="0" u="none" strike="noStrike" baseline="0" dirty="0">
                <a:solidFill>
                  <a:schemeClr val="accent2">
                    <a:lumMod val="75000"/>
                  </a:schemeClr>
                </a:solidFill>
                <a:latin typeface="Montserrat" panose="020B0604020202020204" charset="0"/>
              </a:rPr>
              <a:t> </a:t>
            </a:r>
            <a:r>
              <a:rPr lang="en-US" i="0" u="none" strike="noStrike" baseline="0" dirty="0">
                <a:solidFill>
                  <a:srgbClr val="002060"/>
                </a:solidFill>
                <a:latin typeface="Montserrat" panose="020B0604020202020204" charset="0"/>
              </a:rPr>
              <a:t>Start </a:t>
            </a:r>
          </a:p>
          <a:p>
            <a:pPr marL="0" indent="0" algn="just">
              <a:lnSpc>
                <a:spcPct val="150000"/>
              </a:lnSpc>
              <a:buNone/>
            </a:pPr>
            <a:r>
              <a:rPr lang="en-US" i="0" u="none" strike="noStrike" baseline="0" dirty="0">
                <a:solidFill>
                  <a:srgbClr val="002060"/>
                </a:solidFill>
                <a:latin typeface="Montserrat" panose="020B0604020202020204" charset="0"/>
              </a:rPr>
              <a:t>	</a:t>
            </a:r>
            <a:r>
              <a:rPr lang="en-US" i="0" u="none" strike="noStrike" baseline="0" dirty="0">
                <a:solidFill>
                  <a:schemeClr val="accent2">
                    <a:lumMod val="75000"/>
                  </a:schemeClr>
                </a:solidFill>
                <a:latin typeface="Montserrat" panose="020B0604020202020204" charset="0"/>
              </a:rPr>
              <a:t>Step 2</a:t>
            </a:r>
            <a:r>
              <a:rPr lang="en-US" i="0" u="none" strike="noStrike" baseline="0" dirty="0">
                <a:solidFill>
                  <a:srgbClr val="002060"/>
                </a:solidFill>
                <a:latin typeface="Montserrat" panose="020B0604020202020204" charset="0"/>
              </a:rPr>
              <a:t>: Get two numbers ‘a’ and ‘b’ as input</a:t>
            </a:r>
          </a:p>
          <a:p>
            <a:pPr marL="0" indent="0" algn="just">
              <a:lnSpc>
                <a:spcPct val="150000"/>
              </a:lnSpc>
              <a:buNone/>
            </a:pPr>
            <a:r>
              <a:rPr lang="en-US" i="0" u="none" strike="noStrike" baseline="0" dirty="0">
                <a:solidFill>
                  <a:srgbClr val="002060"/>
                </a:solidFill>
                <a:latin typeface="Montserrat" panose="020B0604020202020204" charset="0"/>
              </a:rPr>
              <a:t>	</a:t>
            </a:r>
            <a:r>
              <a:rPr lang="en-US" i="0" u="none" strike="noStrike" baseline="0" dirty="0">
                <a:solidFill>
                  <a:schemeClr val="accent2">
                    <a:lumMod val="75000"/>
                  </a:schemeClr>
                </a:solidFill>
                <a:latin typeface="Montserrat" panose="020B0604020202020204" charset="0"/>
              </a:rPr>
              <a:t>Step 3</a:t>
            </a:r>
            <a:r>
              <a:rPr lang="en-US" i="0" u="none" strike="noStrike" baseline="0" dirty="0">
                <a:solidFill>
                  <a:srgbClr val="002060"/>
                </a:solidFill>
                <a:latin typeface="Montserrat" panose="020B0604020202020204" charset="0"/>
              </a:rPr>
              <a:t>:</a:t>
            </a:r>
            <a:r>
              <a:rPr lang="en-US" i="0" u="none" strike="noStrike" baseline="0" dirty="0">
                <a:solidFill>
                  <a:schemeClr val="accent2">
                    <a:lumMod val="75000"/>
                  </a:schemeClr>
                </a:solidFill>
                <a:latin typeface="Montserrat" panose="020B0604020202020204" charset="0"/>
              </a:rPr>
              <a:t> </a:t>
            </a:r>
            <a:r>
              <a:rPr lang="en-US" i="0" u="none" strike="noStrike" baseline="0" dirty="0">
                <a:solidFill>
                  <a:srgbClr val="002060"/>
                </a:solidFill>
                <a:latin typeface="Montserrat" panose="020B0604020202020204" charset="0"/>
              </a:rPr>
              <a:t>Add the numbers ‘a’ &amp; ‘b’ and store it into 		    ‘c’</a:t>
            </a:r>
          </a:p>
          <a:p>
            <a:pPr marL="0" indent="0" algn="just">
              <a:lnSpc>
                <a:spcPct val="150000"/>
              </a:lnSpc>
              <a:buNone/>
            </a:pPr>
            <a:r>
              <a:rPr lang="en-US" i="0" u="none" strike="noStrike" baseline="0" dirty="0">
                <a:solidFill>
                  <a:srgbClr val="002060"/>
                </a:solidFill>
                <a:latin typeface="Montserrat" panose="020B0604020202020204" charset="0"/>
              </a:rPr>
              <a:t>	</a:t>
            </a:r>
            <a:r>
              <a:rPr lang="en-US" i="0" u="none" strike="noStrike" baseline="0" dirty="0">
                <a:solidFill>
                  <a:schemeClr val="accent2">
                    <a:lumMod val="75000"/>
                  </a:schemeClr>
                </a:solidFill>
                <a:latin typeface="Montserrat" panose="020B0604020202020204" charset="0"/>
              </a:rPr>
              <a:t> Step 4</a:t>
            </a:r>
            <a:r>
              <a:rPr lang="en-US" i="0" u="none" strike="noStrike" baseline="0" dirty="0">
                <a:solidFill>
                  <a:srgbClr val="002060"/>
                </a:solidFill>
                <a:latin typeface="Montserrat" panose="020B0604020202020204" charset="0"/>
              </a:rPr>
              <a:t>: Print ‘c’ </a:t>
            </a:r>
          </a:p>
          <a:p>
            <a:pPr marL="0" indent="0" algn="just">
              <a:lnSpc>
                <a:spcPct val="150000"/>
              </a:lnSpc>
              <a:buNone/>
            </a:pPr>
            <a:r>
              <a:rPr lang="en-US" dirty="0">
                <a:solidFill>
                  <a:srgbClr val="002060"/>
                </a:solidFill>
                <a:latin typeface="Montserrat" panose="020B0604020202020204" charset="0"/>
              </a:rPr>
              <a:t>	</a:t>
            </a:r>
            <a:r>
              <a:rPr lang="en-US" i="0" u="none" strike="noStrike" baseline="0" dirty="0">
                <a:solidFill>
                  <a:schemeClr val="accent2">
                    <a:lumMod val="75000"/>
                  </a:schemeClr>
                </a:solidFill>
                <a:latin typeface="Montserrat" panose="020B0604020202020204" charset="0"/>
              </a:rPr>
              <a:t>Step 5</a:t>
            </a:r>
            <a:r>
              <a:rPr lang="en-US" i="0" u="none" strike="noStrike" baseline="0" dirty="0">
                <a:solidFill>
                  <a:srgbClr val="002060"/>
                </a:solidFill>
                <a:latin typeface="Montserrat" panose="020B0604020202020204" charset="0"/>
              </a:rPr>
              <a:t>: Stop. </a:t>
            </a:r>
            <a:endParaRPr lang="en-IN" dirty="0">
              <a:solidFill>
                <a:srgbClr val="002060"/>
              </a:solidFill>
              <a:latin typeface="Montserrat" panose="020B0604020202020204" charset="0"/>
            </a:endParaRPr>
          </a:p>
        </p:txBody>
      </p:sp>
    </p:spTree>
    <p:extLst>
      <p:ext uri="{BB962C8B-B14F-4D97-AF65-F5344CB8AC3E}">
        <p14:creationId xmlns:p14="http://schemas.microsoft.com/office/powerpoint/2010/main" val="10449225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1BBEE17-F79F-4570-B674-4E76B86BB5BA}"/>
              </a:ext>
            </a:extLst>
          </p:cNvPr>
          <p:cNvSpPr>
            <a:spLocks noGrp="1"/>
          </p:cNvSpPr>
          <p:nvPr>
            <p:ph idx="1"/>
          </p:nvPr>
        </p:nvSpPr>
        <p:spPr>
          <a:xfrm>
            <a:off x="838200" y="1113183"/>
            <a:ext cx="9823450" cy="5063780"/>
          </a:xfrm>
        </p:spPr>
        <p:txBody>
          <a:bodyPr/>
          <a:lstStyle/>
          <a:p>
            <a:pPr marL="0" indent="0" algn="just">
              <a:buNone/>
            </a:pPr>
            <a:r>
              <a:rPr lang="en-US" b="1" i="0" u="none" strike="noStrike" baseline="0" dirty="0">
                <a:solidFill>
                  <a:schemeClr val="accent2">
                    <a:lumMod val="75000"/>
                  </a:schemeClr>
                </a:solidFill>
                <a:latin typeface="Montserrat" panose="020B0604020202020204" charset="0"/>
              </a:rPr>
              <a:t>Algorithm to find biggest among 2 numbers </a:t>
            </a:r>
          </a:p>
          <a:p>
            <a:pPr marL="0" indent="0" algn="just">
              <a:buNone/>
            </a:pPr>
            <a:endParaRPr lang="en-US" i="0" u="none" strike="noStrike" baseline="0" dirty="0">
              <a:solidFill>
                <a:srgbClr val="002060"/>
              </a:solidFill>
              <a:latin typeface="Montserrat" panose="020B0604020202020204" charset="0"/>
            </a:endParaRPr>
          </a:p>
          <a:p>
            <a:pPr marL="0" indent="0" algn="just">
              <a:buNone/>
            </a:pPr>
            <a:r>
              <a:rPr lang="en-US" i="0" u="none" strike="noStrike" baseline="0" dirty="0">
                <a:solidFill>
                  <a:schemeClr val="accent2">
                    <a:lumMod val="75000"/>
                  </a:schemeClr>
                </a:solidFill>
                <a:latin typeface="Montserrat" panose="020B0604020202020204" charset="0"/>
              </a:rPr>
              <a:t>Step 1 </a:t>
            </a:r>
            <a:r>
              <a:rPr lang="en-US" i="0" u="none" strike="noStrike" baseline="0" dirty="0">
                <a:solidFill>
                  <a:srgbClr val="002060"/>
                </a:solidFill>
                <a:latin typeface="Montserrat" panose="020B0604020202020204" charset="0"/>
              </a:rPr>
              <a:t>:Start</a:t>
            </a:r>
          </a:p>
          <a:p>
            <a:pPr marL="0" indent="0" algn="just">
              <a:buNone/>
            </a:pPr>
            <a:r>
              <a:rPr lang="en-US" i="0" u="none" strike="noStrike" baseline="0" dirty="0">
                <a:solidFill>
                  <a:schemeClr val="accent2">
                    <a:lumMod val="75000"/>
                  </a:schemeClr>
                </a:solidFill>
                <a:latin typeface="Montserrat" panose="020B0604020202020204" charset="0"/>
              </a:rPr>
              <a:t>Step 2</a:t>
            </a:r>
            <a:r>
              <a:rPr lang="en-US" i="0" u="none" strike="noStrike" baseline="0" dirty="0">
                <a:solidFill>
                  <a:srgbClr val="002060"/>
                </a:solidFill>
                <a:latin typeface="Montserrat" panose="020B0604020202020204" charset="0"/>
              </a:rPr>
              <a:t>: Get two numbers as input and store it into ‘a’ and ‘b’</a:t>
            </a:r>
          </a:p>
          <a:p>
            <a:pPr marL="0" indent="0" algn="just">
              <a:buNone/>
            </a:pPr>
            <a:r>
              <a:rPr lang="en-US" i="0" u="none" strike="noStrike" baseline="0" dirty="0">
                <a:solidFill>
                  <a:schemeClr val="accent2">
                    <a:lumMod val="75000"/>
                  </a:schemeClr>
                </a:solidFill>
                <a:latin typeface="Montserrat" panose="020B0604020202020204" charset="0"/>
              </a:rPr>
              <a:t>Step 3</a:t>
            </a:r>
            <a:r>
              <a:rPr lang="en-US" i="0" u="none" strike="noStrike" baseline="0" dirty="0">
                <a:solidFill>
                  <a:srgbClr val="002060"/>
                </a:solidFill>
                <a:latin typeface="Montserrat" panose="020B0604020202020204" charset="0"/>
              </a:rPr>
              <a:t>: If ‘a’ is greater than ‘b’ then</a:t>
            </a:r>
          </a:p>
          <a:p>
            <a:pPr marL="0" indent="0" algn="just">
              <a:buNone/>
            </a:pPr>
            <a:r>
              <a:rPr lang="en-US" i="0" u="none" strike="noStrike" baseline="0" dirty="0">
                <a:solidFill>
                  <a:schemeClr val="accent2">
                    <a:lumMod val="75000"/>
                  </a:schemeClr>
                </a:solidFill>
                <a:latin typeface="Montserrat" panose="020B0604020202020204" charset="0"/>
              </a:rPr>
              <a:t>Step 4</a:t>
            </a:r>
            <a:r>
              <a:rPr lang="en-US" i="0" u="none" strike="noStrike" baseline="0" dirty="0">
                <a:solidFill>
                  <a:srgbClr val="002060"/>
                </a:solidFill>
                <a:latin typeface="Montserrat" panose="020B0604020202020204" charset="0"/>
              </a:rPr>
              <a:t>: Print ‘a’ is big </a:t>
            </a:r>
          </a:p>
          <a:p>
            <a:pPr marL="0" indent="0" algn="just">
              <a:buNone/>
            </a:pPr>
            <a:r>
              <a:rPr lang="en-US" i="0" u="none" strike="noStrike" baseline="0" dirty="0">
                <a:solidFill>
                  <a:schemeClr val="accent2">
                    <a:lumMod val="75000"/>
                  </a:schemeClr>
                </a:solidFill>
                <a:latin typeface="Montserrat" panose="020B0604020202020204" charset="0"/>
              </a:rPr>
              <a:t>Step 5</a:t>
            </a:r>
            <a:r>
              <a:rPr lang="en-US" i="0" u="none" strike="noStrike" baseline="0" dirty="0">
                <a:solidFill>
                  <a:srgbClr val="002060"/>
                </a:solidFill>
                <a:latin typeface="Montserrat" panose="020B0604020202020204" charset="0"/>
              </a:rPr>
              <a:t>: else</a:t>
            </a:r>
          </a:p>
          <a:p>
            <a:pPr marL="0" indent="0" algn="just">
              <a:buNone/>
            </a:pPr>
            <a:r>
              <a:rPr lang="en-US" i="0" u="none" strike="noStrike" baseline="0" dirty="0">
                <a:solidFill>
                  <a:schemeClr val="accent2">
                    <a:lumMod val="75000"/>
                  </a:schemeClr>
                </a:solidFill>
                <a:latin typeface="Montserrat" panose="020B0604020202020204" charset="0"/>
              </a:rPr>
              <a:t>Step 6</a:t>
            </a:r>
            <a:r>
              <a:rPr lang="en-US" i="0" u="none" strike="noStrike" baseline="0" dirty="0">
                <a:solidFill>
                  <a:srgbClr val="002060"/>
                </a:solidFill>
                <a:latin typeface="Montserrat" panose="020B0604020202020204" charset="0"/>
              </a:rPr>
              <a:t>: Print ‘b’ is big </a:t>
            </a:r>
          </a:p>
          <a:p>
            <a:pPr marL="0" indent="0" algn="just">
              <a:buNone/>
            </a:pPr>
            <a:r>
              <a:rPr lang="en-IN" i="0" u="none" strike="noStrike" baseline="0" dirty="0">
                <a:solidFill>
                  <a:schemeClr val="accent2">
                    <a:lumMod val="75000"/>
                  </a:schemeClr>
                </a:solidFill>
                <a:latin typeface="Montserrat" panose="020B0604020202020204" charset="0"/>
              </a:rPr>
              <a:t>Step 7</a:t>
            </a:r>
            <a:r>
              <a:rPr lang="en-IN" i="0" u="none" strike="noStrike" baseline="0" dirty="0">
                <a:solidFill>
                  <a:srgbClr val="002060"/>
                </a:solidFill>
                <a:latin typeface="Montserrat" panose="020B0604020202020204" charset="0"/>
              </a:rPr>
              <a:t>: Stop </a:t>
            </a:r>
            <a:endParaRPr lang="en-IN" dirty="0">
              <a:solidFill>
                <a:srgbClr val="002060"/>
              </a:solidFill>
              <a:latin typeface="Montserrat" panose="020B0604020202020204" charset="0"/>
            </a:endParaRPr>
          </a:p>
        </p:txBody>
      </p:sp>
    </p:spTree>
    <p:extLst>
      <p:ext uri="{BB962C8B-B14F-4D97-AF65-F5344CB8AC3E}">
        <p14:creationId xmlns:p14="http://schemas.microsoft.com/office/powerpoint/2010/main" val="26926598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1BBEE17-F79F-4570-B674-4E76B86BB5BA}"/>
              </a:ext>
            </a:extLst>
          </p:cNvPr>
          <p:cNvSpPr>
            <a:spLocks noGrp="1"/>
          </p:cNvSpPr>
          <p:nvPr>
            <p:ph idx="1"/>
          </p:nvPr>
        </p:nvSpPr>
        <p:spPr>
          <a:xfrm>
            <a:off x="838200" y="834887"/>
            <a:ext cx="9823450" cy="5342076"/>
          </a:xfrm>
        </p:spPr>
        <p:txBody>
          <a:bodyPr>
            <a:normAutofit/>
          </a:bodyPr>
          <a:lstStyle/>
          <a:p>
            <a:pPr marL="0" indent="0" algn="just">
              <a:buNone/>
            </a:pPr>
            <a:r>
              <a:rPr lang="en-IN" b="1" i="0" u="none" strike="noStrike" baseline="0" dirty="0">
                <a:solidFill>
                  <a:schemeClr val="accent2">
                    <a:lumMod val="75000"/>
                  </a:schemeClr>
                </a:solidFill>
                <a:latin typeface="Montserrat" panose="020B0604020202020204" charset="0"/>
              </a:rPr>
              <a:t>Algorithm to calculate factorial </a:t>
            </a:r>
          </a:p>
          <a:p>
            <a:pPr marL="0" indent="0" algn="just">
              <a:buNone/>
            </a:pPr>
            <a:endParaRPr lang="en-US" b="1" i="0" u="none" strike="noStrike" baseline="0" dirty="0">
              <a:solidFill>
                <a:schemeClr val="accent2">
                  <a:lumMod val="75000"/>
                </a:schemeClr>
              </a:solidFill>
              <a:latin typeface="Montserrat" panose="020B0604020202020204" charset="0"/>
            </a:endParaRPr>
          </a:p>
          <a:p>
            <a:pPr marL="0" indent="0" algn="just">
              <a:buNone/>
            </a:pPr>
            <a:r>
              <a:rPr lang="en-US" i="0" u="none" strike="noStrike" baseline="0" dirty="0">
                <a:solidFill>
                  <a:schemeClr val="accent2">
                    <a:lumMod val="75000"/>
                  </a:schemeClr>
                </a:solidFill>
                <a:latin typeface="Montserrat" panose="020B0604020202020204" charset="0"/>
              </a:rPr>
              <a:t>Step 1</a:t>
            </a:r>
            <a:r>
              <a:rPr lang="en-US" i="0" u="none" strike="noStrike" baseline="0" dirty="0">
                <a:solidFill>
                  <a:srgbClr val="002060"/>
                </a:solidFill>
                <a:latin typeface="Montserrat" panose="020B0604020202020204" charset="0"/>
              </a:rPr>
              <a:t>: Start </a:t>
            </a:r>
          </a:p>
          <a:p>
            <a:pPr marL="0" indent="0" algn="just">
              <a:buNone/>
            </a:pPr>
            <a:r>
              <a:rPr lang="en-US" i="0" u="none" strike="noStrike" baseline="0" dirty="0">
                <a:solidFill>
                  <a:schemeClr val="accent2">
                    <a:lumMod val="75000"/>
                  </a:schemeClr>
                </a:solidFill>
                <a:latin typeface="Montserrat" panose="020B0604020202020204" charset="0"/>
              </a:rPr>
              <a:t>Step 2</a:t>
            </a:r>
            <a:r>
              <a:rPr lang="en-US" i="0" u="none" strike="noStrike" baseline="0" dirty="0">
                <a:solidFill>
                  <a:srgbClr val="002060"/>
                </a:solidFill>
                <a:latin typeface="Montserrat" panose="020B0604020202020204" charset="0"/>
              </a:rPr>
              <a:t>: Read the number num. </a:t>
            </a:r>
          </a:p>
          <a:p>
            <a:pPr marL="0" indent="0" algn="just">
              <a:buNone/>
            </a:pPr>
            <a:r>
              <a:rPr lang="en-US" i="0" u="none" strike="noStrike" baseline="0" dirty="0">
                <a:solidFill>
                  <a:schemeClr val="accent2">
                    <a:lumMod val="75000"/>
                  </a:schemeClr>
                </a:solidFill>
                <a:latin typeface="Montserrat" panose="020B0604020202020204" charset="0"/>
              </a:rPr>
              <a:t>Step 3</a:t>
            </a:r>
            <a:r>
              <a:rPr lang="en-US" i="0" u="none" strike="noStrike" baseline="0" dirty="0">
                <a:solidFill>
                  <a:srgbClr val="002060"/>
                </a:solidFill>
                <a:latin typeface="Montserrat" panose="020B0604020202020204" charset="0"/>
              </a:rPr>
              <a:t>: Initialize </a:t>
            </a:r>
            <a:r>
              <a:rPr lang="en-US" i="0" u="none" strike="noStrike" baseline="0" dirty="0" err="1">
                <a:solidFill>
                  <a:srgbClr val="002060"/>
                </a:solidFill>
                <a:latin typeface="Montserrat" panose="020B0604020202020204" charset="0"/>
              </a:rPr>
              <a:t>i</a:t>
            </a:r>
            <a:r>
              <a:rPr lang="en-US" i="0" u="none" strike="noStrike" baseline="0">
                <a:solidFill>
                  <a:srgbClr val="002060"/>
                </a:solidFill>
                <a:latin typeface="Montserrat" panose="020B0604020202020204" charset="0"/>
              </a:rPr>
              <a:t> </a:t>
            </a:r>
            <a:r>
              <a:rPr lang="en-US">
                <a:solidFill>
                  <a:srgbClr val="002060"/>
                </a:solidFill>
                <a:latin typeface="Montserrat" panose="020B0604020202020204" charset="0"/>
              </a:rPr>
              <a:t>= </a:t>
            </a:r>
            <a:r>
              <a:rPr lang="en-US" i="0" u="none" strike="noStrike" baseline="0">
                <a:solidFill>
                  <a:srgbClr val="002060"/>
                </a:solidFill>
                <a:latin typeface="Montserrat" panose="020B0604020202020204" charset="0"/>
              </a:rPr>
              <a:t>1 </a:t>
            </a:r>
            <a:r>
              <a:rPr lang="en-US" i="0" u="none" strike="noStrike" baseline="0" dirty="0">
                <a:solidFill>
                  <a:srgbClr val="002060"/>
                </a:solidFill>
                <a:latin typeface="Montserrat" panose="020B0604020202020204" charset="0"/>
              </a:rPr>
              <a:t>and </a:t>
            </a:r>
            <a:r>
              <a:rPr lang="en-US" i="0" u="none" strike="noStrike" baseline="0">
                <a:solidFill>
                  <a:srgbClr val="002060"/>
                </a:solidFill>
                <a:latin typeface="Montserrat" panose="020B0604020202020204" charset="0"/>
              </a:rPr>
              <a:t>fact = 1 </a:t>
            </a:r>
            <a:endParaRPr lang="en-US" i="0" u="none" strike="noStrike" baseline="0" dirty="0">
              <a:solidFill>
                <a:srgbClr val="002060"/>
              </a:solidFill>
              <a:latin typeface="Montserrat" panose="020B0604020202020204" charset="0"/>
            </a:endParaRPr>
          </a:p>
          <a:p>
            <a:pPr marL="0" indent="0" algn="just">
              <a:buNone/>
            </a:pPr>
            <a:r>
              <a:rPr lang="en-US" i="0" u="none" strike="noStrike" baseline="0" dirty="0">
                <a:solidFill>
                  <a:schemeClr val="accent2">
                    <a:lumMod val="75000"/>
                  </a:schemeClr>
                </a:solidFill>
                <a:latin typeface="Montserrat" panose="020B0604020202020204" charset="0"/>
              </a:rPr>
              <a:t>Step 4</a:t>
            </a:r>
            <a:r>
              <a:rPr lang="en-US" i="0" u="none" strike="noStrike" baseline="0" dirty="0">
                <a:solidFill>
                  <a:srgbClr val="002060"/>
                </a:solidFill>
                <a:latin typeface="Montserrat" panose="020B0604020202020204" charset="0"/>
              </a:rPr>
              <a:t>: Repeat step 4 through 6 until </a:t>
            </a:r>
            <a:r>
              <a:rPr lang="en-US" i="0" u="none" strike="noStrike" baseline="0" dirty="0" err="1">
                <a:solidFill>
                  <a:srgbClr val="002060"/>
                </a:solidFill>
                <a:latin typeface="Montserrat" panose="020B0604020202020204" charset="0"/>
              </a:rPr>
              <a:t>i</a:t>
            </a:r>
            <a:r>
              <a:rPr lang="en-US" i="0" u="none" strike="noStrike" baseline="0" dirty="0">
                <a:solidFill>
                  <a:srgbClr val="002060"/>
                </a:solidFill>
                <a:latin typeface="Montserrat" panose="020B0604020202020204" charset="0"/>
              </a:rPr>
              <a:t> is equal to num </a:t>
            </a:r>
          </a:p>
          <a:p>
            <a:pPr marL="0" indent="0" algn="just">
              <a:buNone/>
            </a:pPr>
            <a:r>
              <a:rPr lang="en-US" i="0" u="none" strike="noStrike" baseline="0" dirty="0">
                <a:solidFill>
                  <a:schemeClr val="accent2">
                    <a:lumMod val="75000"/>
                  </a:schemeClr>
                </a:solidFill>
                <a:latin typeface="Montserrat" panose="020B0604020202020204" charset="0"/>
              </a:rPr>
              <a:t>Step 5</a:t>
            </a:r>
            <a:r>
              <a:rPr lang="en-US" i="0" u="none" strike="noStrike" baseline="0" dirty="0">
                <a:solidFill>
                  <a:srgbClr val="002060"/>
                </a:solidFill>
                <a:latin typeface="Montserrat" panose="020B0604020202020204" charset="0"/>
              </a:rPr>
              <a:t>: fact&lt;--fact * </a:t>
            </a:r>
            <a:r>
              <a:rPr lang="en-US" i="0" u="none" strike="noStrike" baseline="0" dirty="0" err="1">
                <a:solidFill>
                  <a:srgbClr val="002060"/>
                </a:solidFill>
                <a:latin typeface="Montserrat" panose="020B0604020202020204" charset="0"/>
              </a:rPr>
              <a:t>i</a:t>
            </a:r>
            <a:endParaRPr lang="en-US" i="0" u="none" strike="noStrike" baseline="0" dirty="0">
              <a:solidFill>
                <a:srgbClr val="002060"/>
              </a:solidFill>
              <a:latin typeface="Montserrat" panose="020B0604020202020204" charset="0"/>
            </a:endParaRPr>
          </a:p>
          <a:p>
            <a:pPr marL="0" indent="0" algn="just">
              <a:buNone/>
            </a:pPr>
            <a:r>
              <a:rPr lang="en-US" i="0" u="none" strike="noStrike" baseline="0" dirty="0">
                <a:solidFill>
                  <a:schemeClr val="accent2">
                    <a:lumMod val="75000"/>
                  </a:schemeClr>
                </a:solidFill>
                <a:latin typeface="Montserrat" panose="020B0604020202020204" charset="0"/>
              </a:rPr>
              <a:t>Step 6</a:t>
            </a:r>
            <a:r>
              <a:rPr lang="en-US" i="0" u="none" strike="noStrike" baseline="0" dirty="0">
                <a:solidFill>
                  <a:srgbClr val="002060"/>
                </a:solidFill>
                <a:latin typeface="Montserrat" panose="020B0604020202020204" charset="0"/>
              </a:rPr>
              <a:t>: </a:t>
            </a:r>
            <a:r>
              <a:rPr lang="en-US" i="0" u="none" strike="noStrike" baseline="0" dirty="0" err="1">
                <a:solidFill>
                  <a:srgbClr val="002060"/>
                </a:solidFill>
                <a:latin typeface="Montserrat" panose="020B0604020202020204" charset="0"/>
              </a:rPr>
              <a:t>i</a:t>
            </a:r>
            <a:r>
              <a:rPr lang="en-US" i="0" u="none" strike="noStrike" baseline="0" dirty="0">
                <a:solidFill>
                  <a:srgbClr val="002060"/>
                </a:solidFill>
                <a:latin typeface="Montserrat" panose="020B0604020202020204" charset="0"/>
                <a:sym typeface="Wingdings" panose="05000000000000000000" pitchFamily="2" charset="2"/>
              </a:rPr>
              <a:t>-</a:t>
            </a:r>
            <a:r>
              <a:rPr lang="en-US" i="0" u="none" strike="noStrike" baseline="0" dirty="0">
                <a:solidFill>
                  <a:srgbClr val="002060"/>
                </a:solidFill>
                <a:latin typeface="Montserrat" panose="020B0604020202020204" charset="0"/>
              </a:rPr>
              <a:t>i+1 </a:t>
            </a:r>
          </a:p>
          <a:p>
            <a:pPr marL="0" indent="0" algn="just">
              <a:buNone/>
            </a:pPr>
            <a:r>
              <a:rPr lang="en-US" i="0" u="none" strike="noStrike" baseline="0" dirty="0">
                <a:solidFill>
                  <a:schemeClr val="accent2">
                    <a:lumMod val="75000"/>
                  </a:schemeClr>
                </a:solidFill>
                <a:latin typeface="Montserrat" panose="020B0604020202020204" charset="0"/>
              </a:rPr>
              <a:t>Step 7</a:t>
            </a:r>
            <a:r>
              <a:rPr lang="en-US" i="0" u="none" strike="noStrike" baseline="0" dirty="0">
                <a:solidFill>
                  <a:srgbClr val="002060"/>
                </a:solidFill>
                <a:latin typeface="Montserrat" panose="020B0604020202020204" charset="0"/>
              </a:rPr>
              <a:t>: Print fact</a:t>
            </a:r>
          </a:p>
          <a:p>
            <a:pPr marL="0" indent="0" algn="just">
              <a:buNone/>
            </a:pPr>
            <a:r>
              <a:rPr lang="en-US" i="0" u="none" strike="noStrike" baseline="0" dirty="0">
                <a:solidFill>
                  <a:schemeClr val="accent2">
                    <a:lumMod val="75000"/>
                  </a:schemeClr>
                </a:solidFill>
                <a:latin typeface="Montserrat" panose="020B0604020202020204" charset="0"/>
              </a:rPr>
              <a:t>Step 8</a:t>
            </a:r>
            <a:r>
              <a:rPr lang="en-US" i="0" u="none" strike="noStrike" baseline="0" dirty="0">
                <a:solidFill>
                  <a:srgbClr val="002060"/>
                </a:solidFill>
                <a:latin typeface="Montserrat" panose="020B0604020202020204" charset="0"/>
              </a:rPr>
              <a:t>: Stop </a:t>
            </a:r>
            <a:endParaRPr lang="en-IN" dirty="0">
              <a:solidFill>
                <a:srgbClr val="002060"/>
              </a:solidFill>
              <a:latin typeface="Montserrat" panose="020B0604020202020204" charset="0"/>
            </a:endParaRPr>
          </a:p>
        </p:txBody>
      </p:sp>
    </p:spTree>
    <p:extLst>
      <p:ext uri="{BB962C8B-B14F-4D97-AF65-F5344CB8AC3E}">
        <p14:creationId xmlns:p14="http://schemas.microsoft.com/office/powerpoint/2010/main" val="32550013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577149-9987-4FC8-AA34-52BB9539F62D}"/>
              </a:ext>
            </a:extLst>
          </p:cNvPr>
          <p:cNvSpPr>
            <a:spLocks noGrp="1"/>
          </p:cNvSpPr>
          <p:nvPr>
            <p:ph type="title"/>
          </p:nvPr>
        </p:nvSpPr>
        <p:spPr>
          <a:xfrm>
            <a:off x="1036983" y="2233681"/>
            <a:ext cx="10058647" cy="1325563"/>
          </a:xfrm>
        </p:spPr>
        <p:txBody>
          <a:bodyPr/>
          <a:lstStyle/>
          <a:p>
            <a:pPr algn="ctr"/>
            <a:r>
              <a:rPr lang="en-IN" sz="3400" b="0" i="0" u="none" strike="noStrike" baseline="0" dirty="0">
                <a:solidFill>
                  <a:srgbClr val="000000"/>
                </a:solidFill>
              </a:rPr>
              <a:t/>
            </a:r>
            <a:br>
              <a:rPr lang="en-IN" sz="3400" b="0" i="0" u="none" strike="noStrike" baseline="0" dirty="0">
                <a:solidFill>
                  <a:srgbClr val="000000"/>
                </a:solidFill>
              </a:rPr>
            </a:br>
            <a:r>
              <a:rPr lang="en-IN" b="0" i="0" u="none" strike="noStrike" baseline="0" dirty="0">
                <a:solidFill>
                  <a:srgbClr val="002060"/>
                </a:solidFill>
              </a:rPr>
              <a:t> Pseudo Code</a:t>
            </a:r>
            <a:endParaRPr lang="en-IN" dirty="0">
              <a:solidFill>
                <a:srgbClr val="002060"/>
              </a:solidFill>
            </a:endParaRPr>
          </a:p>
        </p:txBody>
      </p:sp>
    </p:spTree>
    <p:extLst>
      <p:ext uri="{BB962C8B-B14F-4D97-AF65-F5344CB8AC3E}">
        <p14:creationId xmlns:p14="http://schemas.microsoft.com/office/powerpoint/2010/main" val="24345644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9EE63D-EC84-4FA0-82AE-C750757E9C83}"/>
              </a:ext>
            </a:extLst>
          </p:cNvPr>
          <p:cNvSpPr>
            <a:spLocks noGrp="1"/>
          </p:cNvSpPr>
          <p:nvPr>
            <p:ph type="title"/>
          </p:nvPr>
        </p:nvSpPr>
        <p:spPr/>
        <p:txBody>
          <a:bodyPr/>
          <a:lstStyle/>
          <a:p>
            <a:pPr algn="ctr"/>
            <a:r>
              <a:rPr lang="en-IN" sz="4400" b="0" i="0" u="none" strike="noStrike" baseline="0" dirty="0">
                <a:solidFill>
                  <a:srgbClr val="000000"/>
                </a:solidFill>
              </a:rPr>
              <a:t> </a:t>
            </a:r>
            <a:r>
              <a:rPr lang="en-IN" sz="4400" b="0" i="0" u="none" strike="noStrike" baseline="0" dirty="0">
                <a:solidFill>
                  <a:srgbClr val="002060"/>
                </a:solidFill>
              </a:rPr>
              <a:t>Pseudo Code</a:t>
            </a:r>
            <a:endParaRPr lang="en-IN" dirty="0">
              <a:solidFill>
                <a:srgbClr val="002060"/>
              </a:solidFill>
            </a:endParaRPr>
          </a:p>
        </p:txBody>
      </p:sp>
      <p:sp>
        <p:nvSpPr>
          <p:cNvPr id="3" name="Content Placeholder 2">
            <a:extLst>
              <a:ext uri="{FF2B5EF4-FFF2-40B4-BE49-F238E27FC236}">
                <a16:creationId xmlns:a16="http://schemas.microsoft.com/office/drawing/2014/main" xmlns="" id="{F8DBDA73-3633-4236-A8FD-F732F61A4F46}"/>
              </a:ext>
            </a:extLst>
          </p:cNvPr>
          <p:cNvSpPr>
            <a:spLocks noGrp="1"/>
          </p:cNvSpPr>
          <p:nvPr>
            <p:ph idx="1"/>
          </p:nvPr>
        </p:nvSpPr>
        <p:spPr/>
        <p:txBody>
          <a:bodyPr/>
          <a:lstStyle/>
          <a:p>
            <a:pPr algn="just">
              <a:lnSpc>
                <a:spcPct val="150000"/>
              </a:lnSpc>
            </a:pPr>
            <a:endParaRPr lang="en-IN" sz="2400" b="0" i="0" u="none" strike="noStrike" baseline="0" dirty="0">
              <a:solidFill>
                <a:srgbClr val="000000"/>
              </a:solidFill>
              <a:latin typeface="Montserrat" panose="020B0604020202020204" charset="0"/>
            </a:endParaRPr>
          </a:p>
          <a:p>
            <a:pPr algn="just">
              <a:lnSpc>
                <a:spcPct val="150000"/>
              </a:lnSpc>
            </a:pPr>
            <a:r>
              <a:rPr lang="en-US" sz="2400" b="1" i="0" u="none" strike="noStrike" baseline="0" dirty="0">
                <a:solidFill>
                  <a:schemeClr val="accent2">
                    <a:lumMod val="75000"/>
                  </a:schemeClr>
                </a:solidFill>
                <a:latin typeface="Montserrat" panose="020B0604020202020204" charset="0"/>
              </a:rPr>
              <a:t>“Pseudo” </a:t>
            </a:r>
            <a:r>
              <a:rPr lang="en-US" sz="2400" b="0" i="0" u="none" strike="noStrike" baseline="0" dirty="0">
                <a:solidFill>
                  <a:srgbClr val="002060"/>
                </a:solidFill>
                <a:latin typeface="Montserrat" panose="020B0604020202020204" charset="0"/>
              </a:rPr>
              <a:t>means imitation or false and </a:t>
            </a:r>
            <a:r>
              <a:rPr lang="en-US" sz="2400" b="1" i="0" u="none" strike="noStrike" baseline="0" dirty="0">
                <a:solidFill>
                  <a:schemeClr val="accent2">
                    <a:lumMod val="75000"/>
                  </a:schemeClr>
                </a:solidFill>
                <a:latin typeface="Montserrat" panose="020B0604020202020204" charset="0"/>
              </a:rPr>
              <a:t>“code” </a:t>
            </a:r>
            <a:r>
              <a:rPr lang="en-US" sz="2400" b="0" i="0" u="none" strike="noStrike" baseline="0" dirty="0">
                <a:solidFill>
                  <a:srgbClr val="002060"/>
                </a:solidFill>
                <a:latin typeface="Montserrat" panose="020B0604020202020204" charset="0"/>
              </a:rPr>
              <a:t>refers to the instructions written in a programming language. </a:t>
            </a:r>
          </a:p>
          <a:p>
            <a:pPr algn="just">
              <a:lnSpc>
                <a:spcPct val="150000"/>
              </a:lnSpc>
            </a:pPr>
            <a:r>
              <a:rPr lang="en-US" sz="2400" b="0" i="0" u="none" strike="noStrike" baseline="0" dirty="0">
                <a:solidFill>
                  <a:schemeClr val="accent2">
                    <a:lumMod val="75000"/>
                  </a:schemeClr>
                </a:solidFill>
                <a:latin typeface="Montserrat" panose="020B0604020202020204" charset="0"/>
              </a:rPr>
              <a:t> </a:t>
            </a:r>
            <a:r>
              <a:rPr lang="en-US" sz="2400" b="1" i="0" u="none" strike="noStrike" baseline="0" dirty="0">
                <a:solidFill>
                  <a:schemeClr val="accent2">
                    <a:lumMod val="75000"/>
                  </a:schemeClr>
                </a:solidFill>
                <a:latin typeface="Montserrat" panose="020B0604020202020204" charset="0"/>
              </a:rPr>
              <a:t>Pseudocode </a:t>
            </a:r>
            <a:r>
              <a:rPr lang="en-US" sz="2400" b="0" i="0" u="none" strike="noStrike" baseline="0" dirty="0">
                <a:solidFill>
                  <a:srgbClr val="002060"/>
                </a:solidFill>
                <a:latin typeface="Montserrat" panose="020B0604020202020204" charset="0"/>
              </a:rPr>
              <a:t>is another </a:t>
            </a:r>
            <a:r>
              <a:rPr lang="en-US" sz="2400" dirty="0">
                <a:solidFill>
                  <a:srgbClr val="002060"/>
                </a:solidFill>
                <a:latin typeface="Montserrat" panose="020B0604020202020204" charset="0"/>
              </a:rPr>
              <a:t>high-level representation </a:t>
            </a:r>
            <a:r>
              <a:rPr lang="en-US" sz="2400" b="0" i="0" u="none" strike="noStrike" baseline="0" dirty="0">
                <a:solidFill>
                  <a:srgbClr val="002060"/>
                </a:solidFill>
                <a:latin typeface="Montserrat" panose="020B0604020202020204" charset="0"/>
              </a:rPr>
              <a:t>used for planning a program </a:t>
            </a:r>
          </a:p>
          <a:p>
            <a:pPr algn="just">
              <a:lnSpc>
                <a:spcPct val="150000"/>
              </a:lnSpc>
            </a:pPr>
            <a:r>
              <a:rPr lang="en-US" sz="2400" b="0" i="0" u="none" strike="noStrike" baseline="0" dirty="0">
                <a:solidFill>
                  <a:srgbClr val="002060"/>
                </a:solidFill>
                <a:latin typeface="Montserrat" panose="020B0604020202020204" charset="0"/>
              </a:rPr>
              <a:t> </a:t>
            </a:r>
            <a:r>
              <a:rPr lang="en-US" sz="2400" i="0" u="none" strike="noStrike" baseline="0" dirty="0">
                <a:solidFill>
                  <a:srgbClr val="002060"/>
                </a:solidFill>
                <a:latin typeface="Montserrat" panose="020B0604020202020204" charset="0"/>
              </a:rPr>
              <a:t>Pseudocode</a:t>
            </a:r>
            <a:r>
              <a:rPr lang="en-US" sz="2400" b="1" i="0" u="none" strike="noStrike" baseline="0" dirty="0">
                <a:solidFill>
                  <a:srgbClr val="002060"/>
                </a:solidFill>
                <a:latin typeface="Montserrat" panose="020B0604020202020204" charset="0"/>
              </a:rPr>
              <a:t> </a:t>
            </a:r>
            <a:r>
              <a:rPr lang="en-US" sz="2400" b="0" i="0" u="none" strike="noStrike" baseline="0" dirty="0">
                <a:solidFill>
                  <a:srgbClr val="002060"/>
                </a:solidFill>
                <a:latin typeface="Montserrat" panose="020B0604020202020204" charset="0"/>
              </a:rPr>
              <a:t>is also called </a:t>
            </a:r>
            <a:r>
              <a:rPr lang="en-US" sz="2400" b="0" i="0" u="none" strike="noStrike" baseline="0" dirty="0">
                <a:solidFill>
                  <a:schemeClr val="accent2">
                    <a:lumMod val="75000"/>
                  </a:schemeClr>
                </a:solidFill>
                <a:latin typeface="Montserrat" panose="020B0604020202020204" charset="0"/>
              </a:rPr>
              <a:t>Program Design Language(PDL) </a:t>
            </a:r>
          </a:p>
          <a:p>
            <a:pPr algn="just">
              <a:lnSpc>
                <a:spcPct val="150000"/>
              </a:lnSpc>
            </a:pPr>
            <a:endParaRPr lang="en-IN" sz="2400" dirty="0">
              <a:latin typeface="Montserrat" panose="020B0604020202020204" charset="0"/>
            </a:endParaRPr>
          </a:p>
        </p:txBody>
      </p:sp>
    </p:spTree>
    <p:extLst>
      <p:ext uri="{BB962C8B-B14F-4D97-AF65-F5344CB8AC3E}">
        <p14:creationId xmlns:p14="http://schemas.microsoft.com/office/powerpoint/2010/main" val="175587605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0E7643D5-283D-4FEA-890C-0596C26E0FAA}"/>
              </a:ext>
            </a:extLst>
          </p:cNvPr>
          <p:cNvSpPr>
            <a:spLocks noGrp="1"/>
          </p:cNvSpPr>
          <p:nvPr>
            <p:ph type="title"/>
          </p:nvPr>
        </p:nvSpPr>
        <p:spPr/>
        <p:txBody>
          <a:bodyPr/>
          <a:lstStyle/>
          <a:p>
            <a:pPr algn="ctr"/>
            <a:r>
              <a:rPr lang="en-US" b="0" i="0" u="none" strike="noStrike" baseline="0" dirty="0">
                <a:solidFill>
                  <a:srgbClr val="002060"/>
                </a:solidFill>
                <a:latin typeface="Times New Roman" panose="02020603050405020304" pitchFamily="18" charset="0"/>
                <a:cs typeface="Times New Roman" panose="02020603050405020304" pitchFamily="18" charset="0"/>
              </a:rPr>
              <a:t>Pseudo code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8F5FA5C8-5F6A-4B0D-B657-495CF7940D7B}"/>
              </a:ext>
            </a:extLst>
          </p:cNvPr>
          <p:cNvSpPr>
            <a:spLocks noGrp="1"/>
          </p:cNvSpPr>
          <p:nvPr>
            <p:ph idx="1"/>
          </p:nvPr>
        </p:nvSpPr>
        <p:spPr>
          <a:xfrm>
            <a:off x="838200" y="1838878"/>
            <a:ext cx="9823450" cy="4351338"/>
          </a:xfrm>
        </p:spPr>
        <p:txBody>
          <a:bodyPr/>
          <a:lstStyle/>
          <a:p>
            <a:pPr algn="just">
              <a:lnSpc>
                <a:spcPct val="150000"/>
              </a:lnSpc>
            </a:pPr>
            <a:r>
              <a:rPr lang="en-US" b="0" i="0" u="none" strike="noStrike" baseline="0" dirty="0">
                <a:solidFill>
                  <a:srgbClr val="002060"/>
                </a:solidFill>
                <a:latin typeface="Montserrat" panose="020B0604020202020204" charset="0"/>
              </a:rPr>
              <a:t>Pseudo code is a </a:t>
            </a:r>
            <a:r>
              <a:rPr lang="en-US" b="0" i="0" u="none" strike="noStrike" baseline="0" dirty="0">
                <a:solidFill>
                  <a:schemeClr val="accent2">
                    <a:lumMod val="75000"/>
                  </a:schemeClr>
                </a:solidFill>
                <a:latin typeface="Montserrat" panose="020B0604020202020204" charset="0"/>
              </a:rPr>
              <a:t>detailed yet readable description of what a computer program or algorithm must do</a:t>
            </a:r>
            <a:r>
              <a:rPr lang="en-US" b="0" i="0" u="none" strike="noStrike" baseline="0" dirty="0">
                <a:solidFill>
                  <a:srgbClr val="002060"/>
                </a:solidFill>
                <a:latin typeface="Montserrat" panose="020B0604020202020204" charset="0"/>
              </a:rPr>
              <a:t>, expressed in a formally-styled natural language rather than in a programming language. </a:t>
            </a:r>
          </a:p>
          <a:p>
            <a:pPr algn="just">
              <a:lnSpc>
                <a:spcPct val="150000"/>
              </a:lnSpc>
            </a:pPr>
            <a:r>
              <a:rPr lang="en-US" b="0" i="0" u="none" strike="noStrike" baseline="0" dirty="0">
                <a:solidFill>
                  <a:srgbClr val="002060"/>
                </a:solidFill>
                <a:latin typeface="Montserrat" panose="020B0604020202020204" charset="0"/>
              </a:rPr>
              <a:t>Pseudo code is sometimes </a:t>
            </a:r>
            <a:r>
              <a:rPr lang="en-US" b="0" i="0" u="none" strike="noStrike" baseline="0" dirty="0">
                <a:solidFill>
                  <a:schemeClr val="accent2">
                    <a:lumMod val="75000"/>
                  </a:schemeClr>
                </a:solidFill>
                <a:latin typeface="Montserrat" panose="020B0604020202020204" charset="0"/>
              </a:rPr>
              <a:t>used as a guideline in the process of developing a program </a:t>
            </a:r>
            <a:endParaRPr lang="en-IN" dirty="0">
              <a:solidFill>
                <a:schemeClr val="accent2">
                  <a:lumMod val="75000"/>
                </a:schemeClr>
              </a:solidFill>
              <a:latin typeface="Montserrat" panose="020B0604020202020204" charset="0"/>
            </a:endParaRPr>
          </a:p>
        </p:txBody>
      </p:sp>
    </p:spTree>
    <p:extLst>
      <p:ext uri="{BB962C8B-B14F-4D97-AF65-F5344CB8AC3E}">
        <p14:creationId xmlns:p14="http://schemas.microsoft.com/office/powerpoint/2010/main" val="347914003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46987EE-20B9-40AF-BEA2-9C526679CBEC}"/>
              </a:ext>
            </a:extLst>
          </p:cNvPr>
          <p:cNvSpPr>
            <a:spLocks noGrp="1"/>
          </p:cNvSpPr>
          <p:nvPr>
            <p:ph type="title"/>
          </p:nvPr>
        </p:nvSpPr>
        <p:spPr/>
        <p:txBody>
          <a:bodyPr/>
          <a:lstStyle/>
          <a:p>
            <a:pPr algn="ctr"/>
            <a:r>
              <a:rPr lang="en-IN" b="1" i="0" u="none" strike="noStrike" baseline="0" dirty="0">
                <a:solidFill>
                  <a:schemeClr val="accent2">
                    <a:lumMod val="75000"/>
                  </a:schemeClr>
                </a:solidFill>
                <a:latin typeface="Times New Roman" panose="02020603050405020304" pitchFamily="18" charset="0"/>
                <a:cs typeface="Times New Roman" panose="02020603050405020304" pitchFamily="18" charset="0"/>
              </a:rPr>
              <a:t>Guidelines to write Pseudocode</a:t>
            </a:r>
            <a:endParaRPr lang="en-IN"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ED256CC8-09F2-419A-93FE-5A1CD1531289}"/>
              </a:ext>
            </a:extLst>
          </p:cNvPr>
          <p:cNvSpPr>
            <a:spLocks noGrp="1"/>
          </p:cNvSpPr>
          <p:nvPr>
            <p:ph idx="1"/>
          </p:nvPr>
        </p:nvSpPr>
        <p:spPr/>
        <p:txBody>
          <a:bodyPr/>
          <a:lstStyle/>
          <a:p>
            <a:pPr algn="just">
              <a:lnSpc>
                <a:spcPct val="150000"/>
              </a:lnSpc>
            </a:pPr>
            <a:endParaRPr lang="en-IN" b="0" i="0" u="none" strike="noStrike" baseline="0" dirty="0">
              <a:solidFill>
                <a:srgbClr val="002060"/>
              </a:solidFill>
              <a:latin typeface="Montserrat" panose="020B0604020202020204" charset="0"/>
            </a:endParaRPr>
          </a:p>
          <a:p>
            <a:pPr algn="just">
              <a:lnSpc>
                <a:spcPct val="150000"/>
              </a:lnSpc>
            </a:pPr>
            <a:r>
              <a:rPr lang="en-US" b="0" i="0" u="none" strike="noStrike" baseline="0" dirty="0">
                <a:solidFill>
                  <a:srgbClr val="002060"/>
                </a:solidFill>
                <a:latin typeface="Montserrat" panose="020B0604020202020204" charset="0"/>
              </a:rPr>
              <a:t>Pseudocode is written using </a:t>
            </a:r>
            <a:r>
              <a:rPr lang="en-US" b="0" i="0" u="none" strike="noStrike" baseline="0" dirty="0">
                <a:solidFill>
                  <a:schemeClr val="accent2">
                    <a:lumMod val="75000"/>
                  </a:schemeClr>
                </a:solidFill>
                <a:latin typeface="Montserrat" panose="020B0604020202020204" charset="0"/>
              </a:rPr>
              <a:t>structured English</a:t>
            </a:r>
            <a:r>
              <a:rPr lang="en-US" b="0" i="0" u="none" strike="noStrike" baseline="0" dirty="0">
                <a:solidFill>
                  <a:srgbClr val="002060"/>
                </a:solidFill>
                <a:latin typeface="Montserrat" panose="020B0604020202020204" charset="0"/>
              </a:rPr>
              <a:t>. </a:t>
            </a:r>
          </a:p>
          <a:p>
            <a:pPr algn="just">
              <a:lnSpc>
                <a:spcPct val="150000"/>
              </a:lnSpc>
            </a:pPr>
            <a:r>
              <a:rPr lang="en-IN" b="0" i="0" u="none" strike="noStrike" baseline="0" dirty="0">
                <a:solidFill>
                  <a:srgbClr val="002060"/>
                </a:solidFill>
                <a:latin typeface="Montserrat" panose="020B0604020202020204" charset="0"/>
              </a:rPr>
              <a:t> Pseudocode should be </a:t>
            </a:r>
            <a:r>
              <a:rPr lang="en-IN" b="0" i="0" u="none" strike="noStrike" baseline="0" dirty="0">
                <a:solidFill>
                  <a:schemeClr val="accent2">
                    <a:lumMod val="75000"/>
                  </a:schemeClr>
                </a:solidFill>
                <a:latin typeface="Montserrat" panose="020B0604020202020204" charset="0"/>
              </a:rPr>
              <a:t>concise </a:t>
            </a:r>
          </a:p>
          <a:p>
            <a:pPr algn="just">
              <a:lnSpc>
                <a:spcPct val="150000"/>
              </a:lnSpc>
            </a:pPr>
            <a:r>
              <a:rPr lang="en-US" b="0" i="0" u="none" strike="noStrike" baseline="0" dirty="0">
                <a:solidFill>
                  <a:srgbClr val="002060"/>
                </a:solidFill>
                <a:latin typeface="Montserrat" panose="020B0604020202020204" charset="0"/>
              </a:rPr>
              <a:t> Keyword should be in </a:t>
            </a:r>
            <a:r>
              <a:rPr lang="en-US" b="0" i="0" u="none" strike="noStrike" baseline="0" dirty="0">
                <a:solidFill>
                  <a:schemeClr val="accent2">
                    <a:lumMod val="75000"/>
                  </a:schemeClr>
                </a:solidFill>
                <a:latin typeface="Montserrat" panose="020B0604020202020204" charset="0"/>
              </a:rPr>
              <a:t>capital letter </a:t>
            </a:r>
          </a:p>
          <a:p>
            <a:pPr algn="just">
              <a:lnSpc>
                <a:spcPct val="150000"/>
              </a:lnSpc>
            </a:pPr>
            <a:endParaRPr lang="en-IN" dirty="0">
              <a:solidFill>
                <a:srgbClr val="002060"/>
              </a:solidFill>
              <a:latin typeface="Montserrat" panose="020B0604020202020204" charset="0"/>
            </a:endParaRPr>
          </a:p>
        </p:txBody>
      </p:sp>
    </p:spTree>
    <p:extLst>
      <p:ext uri="{BB962C8B-B14F-4D97-AF65-F5344CB8AC3E}">
        <p14:creationId xmlns:p14="http://schemas.microsoft.com/office/powerpoint/2010/main" val="183120212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CA31F5C-C466-4643-BAC6-C602B5FB2E24}"/>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Examples</a:t>
            </a:r>
          </a:p>
        </p:txBody>
      </p:sp>
      <p:sp>
        <p:nvSpPr>
          <p:cNvPr id="3" name="Content Placeholder 2">
            <a:extLst>
              <a:ext uri="{FF2B5EF4-FFF2-40B4-BE49-F238E27FC236}">
                <a16:creationId xmlns:a16="http://schemas.microsoft.com/office/drawing/2014/main" xmlns="" id="{A72FABF3-3F2F-4F57-BDD4-E9D1BAD3DD0B}"/>
              </a:ext>
            </a:extLst>
          </p:cNvPr>
          <p:cNvSpPr>
            <a:spLocks noGrp="1"/>
          </p:cNvSpPr>
          <p:nvPr>
            <p:ph idx="1"/>
          </p:nvPr>
        </p:nvSpPr>
        <p:spPr/>
        <p:txBody>
          <a:bodyPr/>
          <a:lstStyle/>
          <a:p>
            <a:r>
              <a:rPr lang="en-US" sz="2600" b="1" i="0" u="none" strike="noStrike" baseline="0" dirty="0">
                <a:solidFill>
                  <a:schemeClr val="accent2">
                    <a:lumMod val="75000"/>
                  </a:schemeClr>
                </a:solidFill>
                <a:latin typeface="Montserrat" panose="020B0604020202020204" charset="0"/>
              </a:rPr>
              <a:t>Pseudocode to add two numbers:</a:t>
            </a:r>
          </a:p>
          <a:p>
            <a:pPr marL="0" indent="0">
              <a:buNone/>
            </a:pPr>
            <a:endParaRPr lang="en-US" sz="2600" b="1" i="0" u="none" strike="noStrike" baseline="0" dirty="0">
              <a:solidFill>
                <a:srgbClr val="002060"/>
              </a:solidFill>
              <a:latin typeface="Montserrat" panose="020B0604020202020204" charset="0"/>
            </a:endParaRPr>
          </a:p>
          <a:p>
            <a:pPr marL="0" indent="0">
              <a:buNone/>
            </a:pPr>
            <a:r>
              <a:rPr lang="en-IN" sz="2600" b="1" i="0" u="none" strike="noStrike" baseline="0" dirty="0">
                <a:solidFill>
                  <a:srgbClr val="002060"/>
                </a:solidFill>
                <a:latin typeface="Montserrat" panose="020B0604020202020204" charset="0"/>
              </a:rPr>
              <a:t>	START </a:t>
            </a:r>
            <a:endParaRPr lang="en-IN" sz="2600" b="0" i="0" u="none" strike="noStrike" baseline="0" dirty="0">
              <a:solidFill>
                <a:srgbClr val="002060"/>
              </a:solidFill>
              <a:latin typeface="Montserrat" panose="020B0604020202020204" charset="0"/>
            </a:endParaRPr>
          </a:p>
          <a:p>
            <a:pPr marL="0" indent="0">
              <a:buNone/>
            </a:pPr>
            <a:r>
              <a:rPr lang="en-IN" sz="2600" b="1" i="0" u="none" strike="noStrike" baseline="0" dirty="0">
                <a:solidFill>
                  <a:srgbClr val="002060"/>
                </a:solidFill>
                <a:latin typeface="Montserrat" panose="020B0604020202020204" charset="0"/>
              </a:rPr>
              <a:t>	READ a , b </a:t>
            </a:r>
            <a:endParaRPr lang="en-IN" sz="2600" b="0" i="0" u="none" strike="noStrike" baseline="0" dirty="0">
              <a:solidFill>
                <a:srgbClr val="002060"/>
              </a:solidFill>
              <a:latin typeface="Montserrat" panose="020B0604020202020204" charset="0"/>
            </a:endParaRPr>
          </a:p>
          <a:p>
            <a:pPr marL="0" indent="0">
              <a:buNone/>
            </a:pPr>
            <a:r>
              <a:rPr lang="en-US" sz="2600" b="1" i="0" u="none" strike="noStrike" baseline="0" dirty="0">
                <a:solidFill>
                  <a:srgbClr val="002060"/>
                </a:solidFill>
                <a:latin typeface="Montserrat" panose="020B0604020202020204" charset="0"/>
              </a:rPr>
              <a:t>	COMPUTE c=a </a:t>
            </a:r>
            <a:r>
              <a:rPr lang="en-US" sz="2600" b="1" dirty="0">
                <a:solidFill>
                  <a:srgbClr val="002060"/>
                </a:solidFill>
                <a:latin typeface="Montserrat" panose="020B0604020202020204" charset="0"/>
              </a:rPr>
              <a:t>+ </a:t>
            </a:r>
            <a:r>
              <a:rPr lang="en-US" sz="2600" b="1" i="0" u="none" strike="noStrike" baseline="0" dirty="0">
                <a:solidFill>
                  <a:srgbClr val="002060"/>
                </a:solidFill>
                <a:latin typeface="Montserrat" panose="020B0604020202020204" charset="0"/>
              </a:rPr>
              <a:t>b </a:t>
            </a:r>
            <a:endParaRPr lang="en-US" sz="2600" b="0" i="0" u="none" strike="noStrike" baseline="0" dirty="0">
              <a:solidFill>
                <a:srgbClr val="002060"/>
              </a:solidFill>
              <a:latin typeface="Montserrat" panose="020B0604020202020204" charset="0"/>
            </a:endParaRPr>
          </a:p>
          <a:p>
            <a:pPr marL="0" indent="0">
              <a:buNone/>
            </a:pPr>
            <a:r>
              <a:rPr lang="en-IN" sz="2600" b="1" i="0" u="none" strike="noStrike" baseline="0" dirty="0">
                <a:solidFill>
                  <a:srgbClr val="002060"/>
                </a:solidFill>
                <a:latin typeface="Montserrat" panose="020B0604020202020204" charset="0"/>
              </a:rPr>
              <a:t>	PRINT c </a:t>
            </a:r>
            <a:endParaRPr lang="en-IN" sz="2600" b="0" i="0" u="none" strike="noStrike" baseline="0" dirty="0">
              <a:solidFill>
                <a:srgbClr val="002060"/>
              </a:solidFill>
              <a:latin typeface="Montserrat" panose="020B0604020202020204" charset="0"/>
            </a:endParaRPr>
          </a:p>
          <a:p>
            <a:pPr marL="0" indent="0">
              <a:buNone/>
            </a:pPr>
            <a:r>
              <a:rPr lang="en-IN" sz="2600" b="1" i="0" u="none" strike="noStrike" baseline="0" dirty="0">
                <a:solidFill>
                  <a:srgbClr val="002060"/>
                </a:solidFill>
                <a:latin typeface="Montserrat" panose="020B0604020202020204" charset="0"/>
              </a:rPr>
              <a:t>	STOP</a:t>
            </a:r>
            <a:endParaRPr lang="en-IN" sz="2600" dirty="0">
              <a:solidFill>
                <a:srgbClr val="002060"/>
              </a:solidFill>
              <a:latin typeface="Montserrat" panose="020B0604020202020204" charset="0"/>
            </a:endParaRPr>
          </a:p>
        </p:txBody>
      </p:sp>
    </p:spTree>
    <p:extLst>
      <p:ext uri="{BB962C8B-B14F-4D97-AF65-F5344CB8AC3E}">
        <p14:creationId xmlns:p14="http://schemas.microsoft.com/office/powerpoint/2010/main" val="95298763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FEA6067-F0F3-4605-BB87-AA26C5918872}"/>
              </a:ext>
            </a:extLst>
          </p:cNvPr>
          <p:cNvSpPr>
            <a:spLocks noGrp="1"/>
          </p:cNvSpPr>
          <p:nvPr>
            <p:ph idx="1"/>
          </p:nvPr>
        </p:nvSpPr>
        <p:spPr>
          <a:xfrm>
            <a:off x="838200" y="1166191"/>
            <a:ext cx="9823450" cy="5010772"/>
          </a:xfrm>
        </p:spPr>
        <p:txBody>
          <a:bodyPr/>
          <a:lstStyle/>
          <a:p>
            <a:pPr marL="0" indent="0">
              <a:buNone/>
            </a:pPr>
            <a:r>
              <a:rPr lang="en-US" sz="2600" b="1" i="0" u="none" strike="noStrike" baseline="0" dirty="0">
                <a:solidFill>
                  <a:schemeClr val="accent2">
                    <a:lumMod val="75000"/>
                  </a:schemeClr>
                </a:solidFill>
                <a:latin typeface="Montserrat" panose="020B0604020202020204" charset="0"/>
              </a:rPr>
              <a:t>Pseudocode  to find biggest among 2 numbers</a:t>
            </a:r>
          </a:p>
          <a:p>
            <a:pPr marL="0" indent="0">
              <a:buNone/>
            </a:pPr>
            <a:endParaRPr lang="en-IN" sz="2600" b="1" i="0" u="none" strike="noStrike" baseline="0" dirty="0">
              <a:solidFill>
                <a:srgbClr val="002060"/>
              </a:solidFill>
              <a:latin typeface="Montserrat" panose="020B0604020202020204" charset="0"/>
            </a:endParaRPr>
          </a:p>
          <a:p>
            <a:pPr marL="0" indent="0">
              <a:buNone/>
            </a:pPr>
            <a:r>
              <a:rPr lang="en-IN" sz="2600" b="1" dirty="0">
                <a:solidFill>
                  <a:srgbClr val="002060"/>
                </a:solidFill>
                <a:latin typeface="Montserrat" panose="020B0604020202020204" charset="0"/>
              </a:rPr>
              <a:t>	</a:t>
            </a:r>
            <a:r>
              <a:rPr lang="en-IN" sz="2600" b="1" i="0" u="none" strike="noStrike" baseline="0" dirty="0">
                <a:solidFill>
                  <a:srgbClr val="002060"/>
                </a:solidFill>
                <a:latin typeface="Montserrat" panose="020B0604020202020204" charset="0"/>
              </a:rPr>
              <a:t>START </a:t>
            </a:r>
            <a:endParaRPr lang="en-IN" sz="2600" b="0" i="0" u="none" strike="noStrike" baseline="0" dirty="0">
              <a:solidFill>
                <a:srgbClr val="002060"/>
              </a:solidFill>
              <a:latin typeface="Montserrat" panose="020B0604020202020204" charset="0"/>
            </a:endParaRPr>
          </a:p>
          <a:p>
            <a:pPr marL="0" indent="0">
              <a:buNone/>
            </a:pPr>
            <a:r>
              <a:rPr lang="en-IN" sz="2600" b="1" i="0" u="none" strike="noStrike" baseline="0" dirty="0">
                <a:solidFill>
                  <a:srgbClr val="002060"/>
                </a:solidFill>
                <a:latin typeface="Montserrat" panose="020B0604020202020204" charset="0"/>
              </a:rPr>
              <a:t>	READ a and b </a:t>
            </a:r>
            <a:endParaRPr lang="en-IN" sz="2600" b="0" i="0" u="none" strike="noStrike" baseline="0" dirty="0">
              <a:solidFill>
                <a:srgbClr val="002060"/>
              </a:solidFill>
              <a:latin typeface="Montserrat" panose="020B0604020202020204" charset="0"/>
            </a:endParaRPr>
          </a:p>
          <a:p>
            <a:pPr marL="0" indent="0">
              <a:buNone/>
            </a:pPr>
            <a:r>
              <a:rPr lang="en-IN" sz="2600" b="1" i="0" u="none" strike="noStrike" baseline="0" dirty="0">
                <a:solidFill>
                  <a:srgbClr val="002060"/>
                </a:solidFill>
                <a:latin typeface="Montserrat" panose="020B0604020202020204" charset="0"/>
              </a:rPr>
              <a:t>	IF a&gt;b THEN </a:t>
            </a:r>
            <a:endParaRPr lang="en-IN" sz="2600" b="0" i="0" u="none" strike="noStrike" baseline="0" dirty="0">
              <a:solidFill>
                <a:srgbClr val="002060"/>
              </a:solidFill>
              <a:latin typeface="Montserrat" panose="020B0604020202020204" charset="0"/>
            </a:endParaRPr>
          </a:p>
          <a:p>
            <a:pPr marL="0" indent="0">
              <a:buNone/>
            </a:pPr>
            <a:r>
              <a:rPr lang="en-IN" sz="2600" b="1" i="0" u="none" strike="noStrike" baseline="0" dirty="0">
                <a:solidFill>
                  <a:srgbClr val="002060"/>
                </a:solidFill>
                <a:latin typeface="Montserrat" panose="020B0604020202020204" charset="0"/>
              </a:rPr>
              <a:t>	PRINT “A is big” </a:t>
            </a:r>
            <a:endParaRPr lang="en-IN" sz="2600" b="0" i="0" u="none" strike="noStrike" baseline="0" dirty="0">
              <a:solidFill>
                <a:srgbClr val="002060"/>
              </a:solidFill>
              <a:latin typeface="Montserrat" panose="020B0604020202020204" charset="0"/>
            </a:endParaRPr>
          </a:p>
          <a:p>
            <a:pPr marL="0" indent="0">
              <a:buNone/>
            </a:pPr>
            <a:r>
              <a:rPr lang="en-IN" sz="2600" b="1" i="0" u="none" strike="noStrike" baseline="0" dirty="0">
                <a:solidFill>
                  <a:srgbClr val="002060"/>
                </a:solidFill>
                <a:latin typeface="Montserrat" panose="020B0604020202020204" charset="0"/>
              </a:rPr>
              <a:t>	ELSE </a:t>
            </a:r>
            <a:endParaRPr lang="en-IN" sz="2600" b="0" i="0" u="none" strike="noStrike" baseline="0" dirty="0">
              <a:solidFill>
                <a:srgbClr val="002060"/>
              </a:solidFill>
              <a:latin typeface="Montserrat" panose="020B0604020202020204" charset="0"/>
            </a:endParaRPr>
          </a:p>
          <a:p>
            <a:pPr marL="0" indent="0">
              <a:buNone/>
            </a:pPr>
            <a:r>
              <a:rPr lang="en-IN" sz="2600" b="1" i="0" u="none" strike="noStrike" baseline="0" dirty="0">
                <a:solidFill>
                  <a:srgbClr val="002060"/>
                </a:solidFill>
                <a:latin typeface="Montserrat" panose="020B0604020202020204" charset="0"/>
              </a:rPr>
              <a:t>	PRINT “B is big” </a:t>
            </a:r>
            <a:endParaRPr lang="en-IN" sz="2600" b="0" i="0" u="none" strike="noStrike" baseline="0" dirty="0">
              <a:solidFill>
                <a:srgbClr val="002060"/>
              </a:solidFill>
              <a:latin typeface="Montserrat" panose="020B0604020202020204" charset="0"/>
            </a:endParaRPr>
          </a:p>
          <a:p>
            <a:pPr marL="0" indent="0">
              <a:buNone/>
            </a:pPr>
            <a:r>
              <a:rPr lang="en-IN" sz="2600" b="1" i="0" u="none" strike="noStrike" baseline="0" dirty="0">
                <a:solidFill>
                  <a:srgbClr val="002060"/>
                </a:solidFill>
                <a:latin typeface="Montserrat" panose="020B0604020202020204" charset="0"/>
              </a:rPr>
              <a:t>	ENDIF </a:t>
            </a:r>
            <a:endParaRPr lang="en-IN" sz="2600" b="0" i="0" u="none" strike="noStrike" baseline="0" dirty="0">
              <a:solidFill>
                <a:srgbClr val="002060"/>
              </a:solidFill>
              <a:latin typeface="Montserrat" panose="020B0604020202020204" charset="0"/>
            </a:endParaRPr>
          </a:p>
          <a:p>
            <a:pPr marL="0" indent="0">
              <a:buNone/>
            </a:pPr>
            <a:r>
              <a:rPr lang="en-IN" sz="2600" b="1" i="0" u="none" strike="noStrike" baseline="0" dirty="0">
                <a:solidFill>
                  <a:srgbClr val="002060"/>
                </a:solidFill>
                <a:latin typeface="Montserrat" panose="020B0604020202020204" charset="0"/>
              </a:rPr>
              <a:t>	STOP</a:t>
            </a:r>
            <a:endParaRPr lang="en-IN" sz="2600" dirty="0">
              <a:solidFill>
                <a:srgbClr val="002060"/>
              </a:solidFill>
              <a:latin typeface="Montserrat" panose="020B0604020202020204" charset="0"/>
            </a:endParaRPr>
          </a:p>
        </p:txBody>
      </p:sp>
    </p:spTree>
    <p:extLst>
      <p:ext uri="{BB962C8B-B14F-4D97-AF65-F5344CB8AC3E}">
        <p14:creationId xmlns:p14="http://schemas.microsoft.com/office/powerpoint/2010/main" val="380590703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67854B-8A9A-4EE0-B441-BFDA0A4F8DB8}"/>
              </a:ext>
            </a:extLst>
          </p:cNvPr>
          <p:cNvSpPr>
            <a:spLocks noGrp="1"/>
          </p:cNvSpPr>
          <p:nvPr>
            <p:ph type="title"/>
          </p:nvPr>
        </p:nvSpPr>
        <p:spPr>
          <a:xfrm>
            <a:off x="1262269" y="1968638"/>
            <a:ext cx="8753475" cy="1325563"/>
          </a:xfrm>
        </p:spPr>
        <p:txBody>
          <a:bodyPr/>
          <a:lstStyle/>
          <a:p>
            <a:pPr algn="ctr"/>
            <a:r>
              <a:rPr lang="en-IN" dirty="0">
                <a:latin typeface="Times New Roman" panose="02020603050405020304" pitchFamily="18" charset="0"/>
                <a:cs typeface="Times New Roman" panose="02020603050405020304" pitchFamily="18" charset="0"/>
              </a:rPr>
              <a:t>Flowcharts </a:t>
            </a:r>
          </a:p>
        </p:txBody>
      </p:sp>
    </p:spTree>
    <p:extLst>
      <p:ext uri="{BB962C8B-B14F-4D97-AF65-F5344CB8AC3E}">
        <p14:creationId xmlns:p14="http://schemas.microsoft.com/office/powerpoint/2010/main" val="223788228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715794F-69BE-4A19-905F-05F2CFD6AFB2}"/>
              </a:ext>
            </a:extLst>
          </p:cNvPr>
          <p:cNvSpPr>
            <a:spLocks noGrp="1"/>
          </p:cNvSpPr>
          <p:nvPr>
            <p:ph type="title"/>
          </p:nvPr>
        </p:nvSpPr>
        <p:spPr>
          <a:xfrm>
            <a:off x="1116495" y="287130"/>
            <a:ext cx="8753475" cy="787814"/>
          </a:xfrm>
        </p:spPr>
        <p:txBody>
          <a:bodyPr/>
          <a:lstStyle/>
          <a:p>
            <a:pPr algn="ctr"/>
            <a:r>
              <a:rPr lang="en-IN" dirty="0">
                <a:latin typeface="Times New Roman" panose="02020603050405020304" pitchFamily="18" charset="0"/>
                <a:cs typeface="Times New Roman" panose="02020603050405020304" pitchFamily="18" charset="0"/>
              </a:rPr>
              <a:t>Flowcharts</a:t>
            </a:r>
            <a:r>
              <a:rPr lang="en-IN" dirty="0"/>
              <a:t> </a:t>
            </a:r>
          </a:p>
        </p:txBody>
      </p:sp>
      <p:sp>
        <p:nvSpPr>
          <p:cNvPr id="3" name="Content Placeholder 2">
            <a:extLst>
              <a:ext uri="{FF2B5EF4-FFF2-40B4-BE49-F238E27FC236}">
                <a16:creationId xmlns:a16="http://schemas.microsoft.com/office/drawing/2014/main" xmlns="" id="{667D54E3-BBEA-45B1-8EAB-9DA1E71ADD06}"/>
              </a:ext>
            </a:extLst>
          </p:cNvPr>
          <p:cNvSpPr>
            <a:spLocks noGrp="1"/>
          </p:cNvSpPr>
          <p:nvPr>
            <p:ph idx="1"/>
          </p:nvPr>
        </p:nvSpPr>
        <p:spPr>
          <a:xfrm>
            <a:off x="838200" y="1074944"/>
            <a:ext cx="9823450" cy="5102019"/>
          </a:xfrm>
        </p:spPr>
        <p:txBody>
          <a:bodyPr/>
          <a:lstStyle/>
          <a:p>
            <a:pPr algn="just">
              <a:lnSpc>
                <a:spcPct val="150000"/>
              </a:lnSpc>
            </a:pPr>
            <a:r>
              <a:rPr lang="en-US" sz="2400" b="0" i="0" u="none" strike="noStrike" baseline="0" dirty="0">
                <a:solidFill>
                  <a:srgbClr val="002060"/>
                </a:solidFill>
                <a:latin typeface="Montserrat" panose="020B0604020202020204" charset="0"/>
              </a:rPr>
              <a:t>A flowchart is a </a:t>
            </a:r>
            <a:r>
              <a:rPr lang="en-US" sz="2400" b="1" i="0" u="none" strike="noStrike" baseline="0" dirty="0">
                <a:solidFill>
                  <a:schemeClr val="accent2">
                    <a:lumMod val="75000"/>
                  </a:schemeClr>
                </a:solidFill>
                <a:latin typeface="Montserrat" panose="020B0604020202020204" charset="0"/>
              </a:rPr>
              <a:t>visual representation </a:t>
            </a:r>
            <a:r>
              <a:rPr lang="en-US" sz="2400" b="0" i="0" u="none" strike="noStrike" baseline="0" dirty="0">
                <a:solidFill>
                  <a:srgbClr val="002060"/>
                </a:solidFill>
                <a:latin typeface="Montserrat" panose="020B0604020202020204" charset="0"/>
              </a:rPr>
              <a:t>of sequence of steps and decision needed to perform a process.</a:t>
            </a:r>
          </a:p>
          <a:p>
            <a:pPr algn="just">
              <a:lnSpc>
                <a:spcPct val="150000"/>
              </a:lnSpc>
            </a:pPr>
            <a:r>
              <a:rPr lang="en-US" sz="2400" b="0" i="0" u="none" strike="noStrike" baseline="0" dirty="0">
                <a:solidFill>
                  <a:srgbClr val="002060"/>
                </a:solidFill>
                <a:latin typeface="Montserrat" panose="020B0604020202020204" charset="0"/>
              </a:rPr>
              <a:t>Flow charts are </a:t>
            </a:r>
            <a:r>
              <a:rPr lang="en-US" sz="2400" b="0" i="0" u="none" strike="noStrike" baseline="0" dirty="0">
                <a:solidFill>
                  <a:schemeClr val="accent2">
                    <a:lumMod val="75000"/>
                  </a:schemeClr>
                </a:solidFill>
                <a:latin typeface="Montserrat" panose="020B0604020202020204" charset="0"/>
              </a:rPr>
              <a:t>easy-to-understand diagrams </a:t>
            </a:r>
            <a:r>
              <a:rPr lang="en-US" sz="2400" b="0" i="0" u="none" strike="noStrike" baseline="0" dirty="0">
                <a:solidFill>
                  <a:srgbClr val="002060"/>
                </a:solidFill>
                <a:latin typeface="Montserrat" panose="020B0604020202020204" charset="0"/>
              </a:rPr>
              <a:t>that show how the steps of a process fit together</a:t>
            </a:r>
          </a:p>
          <a:p>
            <a:pPr algn="just">
              <a:lnSpc>
                <a:spcPct val="150000"/>
              </a:lnSpc>
            </a:pPr>
            <a:r>
              <a:rPr lang="en-US" sz="2400" b="0" i="0" u="none" strike="noStrike" baseline="0" dirty="0">
                <a:solidFill>
                  <a:srgbClr val="002060"/>
                </a:solidFill>
                <a:latin typeface="Montserrat" panose="020B0604020202020204" charset="0"/>
              </a:rPr>
              <a:t>Flowchart can b</a:t>
            </a:r>
            <a:r>
              <a:rPr lang="en-US" sz="2400" dirty="0">
                <a:solidFill>
                  <a:srgbClr val="002060"/>
                </a:solidFill>
                <a:latin typeface="Montserrat" panose="020B0604020202020204" charset="0"/>
              </a:rPr>
              <a:t>e used to </a:t>
            </a:r>
            <a:r>
              <a:rPr lang="en-US" sz="2400" b="0" i="0" u="none" strike="noStrike" baseline="0" dirty="0">
                <a:solidFill>
                  <a:srgbClr val="002060"/>
                </a:solidFill>
                <a:latin typeface="Montserrat" panose="020B0604020202020204" charset="0"/>
              </a:rPr>
              <a:t> </a:t>
            </a:r>
            <a:endParaRPr lang="en-IN" sz="2400" dirty="0">
              <a:solidFill>
                <a:srgbClr val="002060"/>
              </a:solidFill>
              <a:latin typeface="Montserrat" panose="020B0604020202020204" charset="0"/>
            </a:endParaRPr>
          </a:p>
          <a:p>
            <a:pPr algn="just">
              <a:lnSpc>
                <a:spcPct val="100000"/>
              </a:lnSpc>
              <a:buFont typeface="Wingdings" panose="05000000000000000000" pitchFamily="2" charset="2"/>
              <a:buChar char="Ø"/>
            </a:pPr>
            <a:r>
              <a:rPr lang="en-US" sz="2000" b="0" i="0" u="none" strike="noStrike" baseline="0" dirty="0">
                <a:solidFill>
                  <a:srgbClr val="002060"/>
                </a:solidFill>
                <a:latin typeface="Montserrat" panose="020B0604020202020204" charset="0"/>
              </a:rPr>
              <a:t>	</a:t>
            </a:r>
            <a:r>
              <a:rPr lang="en-US" sz="2200" b="0" i="0" u="none" strike="noStrike" baseline="0" dirty="0">
                <a:solidFill>
                  <a:schemeClr val="accent2">
                    <a:lumMod val="75000"/>
                  </a:schemeClr>
                </a:solidFill>
                <a:latin typeface="Montserrat" panose="020B0604020202020204" charset="0"/>
              </a:rPr>
              <a:t>Demonstrate the way code is organized</a:t>
            </a:r>
            <a:r>
              <a:rPr lang="en-US" sz="2200" b="0" i="0" u="none" strike="noStrike" baseline="0" dirty="0">
                <a:solidFill>
                  <a:srgbClr val="002060"/>
                </a:solidFill>
                <a:latin typeface="Montserrat" panose="020B0604020202020204" charset="0"/>
              </a:rPr>
              <a:t>. </a:t>
            </a:r>
          </a:p>
          <a:p>
            <a:pPr algn="just">
              <a:lnSpc>
                <a:spcPct val="100000"/>
              </a:lnSpc>
              <a:buFont typeface="Wingdings" panose="05000000000000000000" pitchFamily="2" charset="2"/>
              <a:buChar char="Ø"/>
            </a:pPr>
            <a:r>
              <a:rPr lang="en-US" sz="2200" b="0" i="0" u="none" strike="noStrike" baseline="0" dirty="0">
                <a:solidFill>
                  <a:srgbClr val="002060"/>
                </a:solidFill>
                <a:latin typeface="Montserrat" panose="020B0604020202020204" charset="0"/>
              </a:rPr>
              <a:t>	Visualize the execution of code within a program. </a:t>
            </a:r>
          </a:p>
          <a:p>
            <a:pPr algn="just">
              <a:lnSpc>
                <a:spcPct val="100000"/>
              </a:lnSpc>
              <a:buFont typeface="Wingdings" panose="05000000000000000000" pitchFamily="2" charset="2"/>
              <a:buChar char="Ø"/>
            </a:pPr>
            <a:r>
              <a:rPr lang="en-US" sz="2200" b="0" i="0" u="none" strike="noStrike" baseline="0" dirty="0">
                <a:solidFill>
                  <a:srgbClr val="002060"/>
                </a:solidFill>
                <a:latin typeface="Montserrat" panose="020B0604020202020204" charset="0"/>
              </a:rPr>
              <a:t>	 </a:t>
            </a:r>
            <a:r>
              <a:rPr lang="en-US" sz="2200" b="0" i="0" u="none" strike="noStrike" baseline="0" dirty="0">
                <a:solidFill>
                  <a:schemeClr val="accent2">
                    <a:lumMod val="75000"/>
                  </a:schemeClr>
                </a:solidFill>
                <a:latin typeface="Montserrat" panose="020B0604020202020204" charset="0"/>
              </a:rPr>
              <a:t>Specify the method of solving a problem </a:t>
            </a:r>
          </a:p>
          <a:p>
            <a:pPr algn="just">
              <a:lnSpc>
                <a:spcPct val="100000"/>
              </a:lnSpc>
              <a:buFont typeface="Wingdings" panose="05000000000000000000" pitchFamily="2" charset="2"/>
              <a:buChar char="Ø"/>
            </a:pPr>
            <a:r>
              <a:rPr lang="en-US" sz="2200" b="0" i="0" u="none" strike="noStrike" baseline="0" dirty="0">
                <a:solidFill>
                  <a:srgbClr val="002060"/>
                </a:solidFill>
                <a:latin typeface="Montserrat" panose="020B0604020202020204" charset="0"/>
              </a:rPr>
              <a:t>	 Understand the flow of the process or an algorithm</a:t>
            </a:r>
          </a:p>
          <a:p>
            <a:pPr algn="just">
              <a:lnSpc>
                <a:spcPct val="150000"/>
              </a:lnSpc>
            </a:pPr>
            <a:endParaRPr lang="en-IN" sz="2400" dirty="0">
              <a:solidFill>
                <a:srgbClr val="002060"/>
              </a:solidFill>
              <a:latin typeface="Montserrat" panose="020B0604020202020204" charset="0"/>
            </a:endParaRPr>
          </a:p>
        </p:txBody>
      </p:sp>
    </p:spTree>
    <p:extLst>
      <p:ext uri="{BB962C8B-B14F-4D97-AF65-F5344CB8AC3E}">
        <p14:creationId xmlns:p14="http://schemas.microsoft.com/office/powerpoint/2010/main" val="290067026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AF3F71-84F7-4B6C-87A3-D50AEAAB031F}"/>
              </a:ext>
            </a:extLst>
          </p:cNvPr>
          <p:cNvSpPr>
            <a:spLocks noGrp="1"/>
          </p:cNvSpPr>
          <p:nvPr>
            <p:ph type="title"/>
          </p:nvPr>
        </p:nvSpPr>
        <p:spPr>
          <a:xfrm>
            <a:off x="1719262" y="2766218"/>
            <a:ext cx="8753475" cy="1325563"/>
          </a:xfrm>
        </p:spPr>
        <p:txBody>
          <a:bodyPr/>
          <a:lstStyle/>
          <a:p>
            <a:pPr algn="ctr"/>
            <a:r>
              <a:rPr lang="en-IN" dirty="0"/>
              <a:t>Symbols of Flowchart</a:t>
            </a:r>
          </a:p>
        </p:txBody>
      </p:sp>
    </p:spTree>
    <p:extLst>
      <p:ext uri="{BB962C8B-B14F-4D97-AF65-F5344CB8AC3E}">
        <p14:creationId xmlns:p14="http://schemas.microsoft.com/office/powerpoint/2010/main" val="325877344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olved: Flowchart symbols represent what aspect of a system? | Chegg.com">
            <a:extLst>
              <a:ext uri="{FF2B5EF4-FFF2-40B4-BE49-F238E27FC236}">
                <a16:creationId xmlns:a16="http://schemas.microsoft.com/office/drawing/2014/main" xmlns="" id="{25C62CDB-29F9-4184-860C-EF1D29BDAEF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58875" y="755374"/>
            <a:ext cx="8527982" cy="5116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344106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8E21E0D0-1CB5-4E28-B9B1-7A0463F86A5A}"/>
              </a:ext>
            </a:extLst>
          </p:cNvPr>
          <p:cNvSpPr>
            <a:spLocks noGrp="1"/>
          </p:cNvSpPr>
          <p:nvPr>
            <p:ph type="title"/>
          </p:nvPr>
        </p:nvSpPr>
        <p:spPr>
          <a:xfrm>
            <a:off x="838200" y="365126"/>
            <a:ext cx="8753475" cy="628788"/>
          </a:xfrm>
        </p:spPr>
        <p:txBody>
          <a:bodyPr/>
          <a:lstStyle/>
          <a:p>
            <a:r>
              <a:rPr lang="en-IN" sz="2800" dirty="0"/>
              <a:t>Flowchart to find sum of two numbers</a:t>
            </a:r>
          </a:p>
        </p:txBody>
      </p:sp>
      <p:sp>
        <p:nvSpPr>
          <p:cNvPr id="4" name="Content Placeholder 3">
            <a:extLst>
              <a:ext uri="{FF2B5EF4-FFF2-40B4-BE49-F238E27FC236}">
                <a16:creationId xmlns:a16="http://schemas.microsoft.com/office/drawing/2014/main" xmlns="" id="{F475BEDB-BBA4-4195-A98F-4ECA0F4AF283}"/>
              </a:ext>
            </a:extLst>
          </p:cNvPr>
          <p:cNvSpPr>
            <a:spLocks noGrp="1"/>
          </p:cNvSpPr>
          <p:nvPr>
            <p:ph idx="1"/>
          </p:nvPr>
        </p:nvSpPr>
        <p:spPr>
          <a:xfrm>
            <a:off x="838200" y="1152939"/>
            <a:ext cx="9823450" cy="5024024"/>
          </a:xfrm>
        </p:spPr>
        <p:txBody>
          <a:bodyPr/>
          <a:lstStyle/>
          <a:p>
            <a:endParaRPr lang="en-IN" dirty="0"/>
          </a:p>
        </p:txBody>
      </p:sp>
      <p:pic>
        <p:nvPicPr>
          <p:cNvPr id="1026" name="Picture 2" descr="flowchart of sum of two numbers">
            <a:extLst>
              <a:ext uri="{FF2B5EF4-FFF2-40B4-BE49-F238E27FC236}">
                <a16:creationId xmlns:a16="http://schemas.microsoft.com/office/drawing/2014/main" xmlns="" id="{318A39BF-B713-4D9D-B21E-FCDD7369A1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1062" y="1427094"/>
            <a:ext cx="2809875" cy="453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73718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lowchart: Connector 7">
            <a:extLst>
              <a:ext uri="{FF2B5EF4-FFF2-40B4-BE49-F238E27FC236}">
                <a16:creationId xmlns:a16="http://schemas.microsoft.com/office/drawing/2014/main" xmlns="" id="{49014B10-6974-4FD8-840A-6F3EBA32A423}"/>
              </a:ext>
            </a:extLst>
          </p:cNvPr>
          <p:cNvSpPr/>
          <p:nvPr/>
        </p:nvSpPr>
        <p:spPr>
          <a:xfrm>
            <a:off x="5340626" y="4997702"/>
            <a:ext cx="145774" cy="172278"/>
          </a:xfrm>
          <a:prstGeom prst="flowChartConnec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Content Placeholder 10" descr="Diagram&#10;&#10;Description automatically generated">
            <a:extLst>
              <a:ext uri="{FF2B5EF4-FFF2-40B4-BE49-F238E27FC236}">
                <a16:creationId xmlns:a16="http://schemas.microsoft.com/office/drawing/2014/main" xmlns="" id="{20A7D4DC-3485-4D28-AEBC-95DC22DCF4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37252" y="622852"/>
            <a:ext cx="8070574" cy="5502251"/>
          </a:xfrm>
        </p:spPr>
      </p:pic>
    </p:spTree>
    <p:extLst>
      <p:ext uri="{BB962C8B-B14F-4D97-AF65-F5344CB8AC3E}">
        <p14:creationId xmlns:p14="http://schemas.microsoft.com/office/powerpoint/2010/main" val="280792348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482FC1D5-9114-422B-AE9D-5897626DD7DB}"/>
              </a:ext>
            </a:extLst>
          </p:cNvPr>
          <p:cNvSpPr>
            <a:spLocks noGrp="1"/>
          </p:cNvSpPr>
          <p:nvPr>
            <p:ph type="title"/>
          </p:nvPr>
        </p:nvSpPr>
        <p:spPr>
          <a:xfrm>
            <a:off x="1328530" y="187739"/>
            <a:ext cx="8753475" cy="594140"/>
          </a:xfrm>
        </p:spPr>
        <p:txBody>
          <a:bodyPr/>
          <a:lstStyle/>
          <a:p>
            <a:pPr algn="ctr"/>
            <a:r>
              <a:rPr lang="en-IN" sz="2200" dirty="0">
                <a:solidFill>
                  <a:schemeClr val="accent2">
                    <a:lumMod val="75000"/>
                  </a:schemeClr>
                </a:solidFill>
              </a:rPr>
              <a:t>Flowchart for finding the factorial of a number</a:t>
            </a:r>
          </a:p>
        </p:txBody>
      </p:sp>
      <p:pic>
        <p:nvPicPr>
          <p:cNvPr id="4" name="Content Placeholder 3">
            <a:extLst>
              <a:ext uri="{FF2B5EF4-FFF2-40B4-BE49-F238E27FC236}">
                <a16:creationId xmlns:a16="http://schemas.microsoft.com/office/drawing/2014/main" xmlns="" id="{26E5967C-DE30-4AE2-A366-11E4BEABE3C8}"/>
              </a:ext>
            </a:extLst>
          </p:cNvPr>
          <p:cNvPicPr>
            <a:picLocks noGrp="1" noChangeAspect="1"/>
          </p:cNvPicPr>
          <p:nvPr>
            <p:ph idx="1"/>
          </p:nvPr>
        </p:nvPicPr>
        <p:blipFill>
          <a:blip r:embed="rId2"/>
          <a:stretch>
            <a:fillRect/>
          </a:stretch>
        </p:blipFill>
        <p:spPr>
          <a:xfrm>
            <a:off x="3273287" y="940904"/>
            <a:ext cx="4890051" cy="5249311"/>
          </a:xfrm>
          <a:prstGeom prst="rect">
            <a:avLst/>
          </a:prstGeom>
        </p:spPr>
      </p:pic>
    </p:spTree>
    <p:extLst>
      <p:ext uri="{BB962C8B-B14F-4D97-AF65-F5344CB8AC3E}">
        <p14:creationId xmlns:p14="http://schemas.microsoft.com/office/powerpoint/2010/main" val="8995249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37ECC2-9345-4BD3-ADE1-A2D82820C64A}"/>
              </a:ext>
            </a:extLst>
          </p:cNvPr>
          <p:cNvSpPr>
            <a:spLocks noGrp="1"/>
          </p:cNvSpPr>
          <p:nvPr>
            <p:ph type="title"/>
          </p:nvPr>
        </p:nvSpPr>
        <p:spPr>
          <a:xfrm>
            <a:off x="1421295" y="2366203"/>
            <a:ext cx="8753475" cy="1325563"/>
          </a:xfrm>
        </p:spPr>
        <p:txBody>
          <a:bodyPr/>
          <a:lstStyle/>
          <a:p>
            <a:r>
              <a:rPr lang="en-IN" dirty="0"/>
              <a:t/>
            </a:r>
            <a:br>
              <a:rPr lang="en-IN" dirty="0"/>
            </a:br>
            <a:r>
              <a:rPr lang="en-IN" dirty="0">
                <a:latin typeface="Times New Roman" panose="02020603050405020304" pitchFamily="18" charset="0"/>
                <a:cs typeface="Times New Roman" panose="02020603050405020304" pitchFamily="18" charset="0"/>
              </a:rPr>
              <a:t>Programs and Programming </a:t>
            </a:r>
          </a:p>
        </p:txBody>
      </p:sp>
    </p:spTree>
    <p:extLst>
      <p:ext uri="{BB962C8B-B14F-4D97-AF65-F5344CB8AC3E}">
        <p14:creationId xmlns:p14="http://schemas.microsoft.com/office/powerpoint/2010/main" val="253278265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D863B7-5B88-440A-93E9-7D4F151ED9D3}"/>
              </a:ext>
            </a:extLst>
          </p:cNvPr>
          <p:cNvSpPr>
            <a:spLocks noGrp="1"/>
          </p:cNvSpPr>
          <p:nvPr>
            <p:ph type="title"/>
          </p:nvPr>
        </p:nvSpPr>
        <p:spPr>
          <a:xfrm>
            <a:off x="838200" y="365126"/>
            <a:ext cx="8753475" cy="946840"/>
          </a:xfrm>
        </p:spPr>
        <p:txBody>
          <a:bodyPr/>
          <a:lstStyle/>
          <a:p>
            <a:pPr algn="ctr"/>
            <a:r>
              <a:rPr lang="en-IN" dirty="0"/>
              <a:t>  Programming</a:t>
            </a:r>
          </a:p>
        </p:txBody>
      </p:sp>
      <p:sp>
        <p:nvSpPr>
          <p:cNvPr id="3" name="Content Placeholder 2">
            <a:extLst>
              <a:ext uri="{FF2B5EF4-FFF2-40B4-BE49-F238E27FC236}">
                <a16:creationId xmlns:a16="http://schemas.microsoft.com/office/drawing/2014/main" xmlns="" id="{A49B4EFC-73E0-42A3-94D7-5FF10438C828}"/>
              </a:ext>
            </a:extLst>
          </p:cNvPr>
          <p:cNvSpPr>
            <a:spLocks noGrp="1"/>
          </p:cNvSpPr>
          <p:nvPr>
            <p:ph idx="1"/>
          </p:nvPr>
        </p:nvSpPr>
        <p:spPr>
          <a:xfrm>
            <a:off x="838200" y="1253331"/>
            <a:ext cx="9823450" cy="5081208"/>
          </a:xfrm>
        </p:spPr>
        <p:txBody>
          <a:bodyPr/>
          <a:lstStyle/>
          <a:p>
            <a:pPr algn="just">
              <a:lnSpc>
                <a:spcPct val="150000"/>
              </a:lnSpc>
            </a:pPr>
            <a:endParaRPr lang="en-US" i="0" u="none" strike="noStrike" baseline="0" dirty="0">
              <a:solidFill>
                <a:srgbClr val="002060"/>
              </a:solidFill>
              <a:latin typeface="Montserrat" panose="020B0604020202020204" charset="0"/>
            </a:endParaRPr>
          </a:p>
          <a:p>
            <a:pPr algn="just">
              <a:lnSpc>
                <a:spcPct val="150000"/>
              </a:lnSpc>
            </a:pPr>
            <a:r>
              <a:rPr lang="en-US" i="0" u="none" strike="noStrike" baseline="0" dirty="0">
                <a:solidFill>
                  <a:srgbClr val="002060"/>
                </a:solidFill>
                <a:latin typeface="Montserrat" panose="020B0604020202020204" charset="0"/>
              </a:rPr>
              <a:t>Programming</a:t>
            </a:r>
            <a:r>
              <a:rPr lang="en-US" b="1" i="0" u="none" strike="noStrike" baseline="0" dirty="0">
                <a:solidFill>
                  <a:srgbClr val="002060"/>
                </a:solidFill>
                <a:latin typeface="Montserrat" panose="020B0604020202020204" charset="0"/>
              </a:rPr>
              <a:t> </a:t>
            </a:r>
            <a:r>
              <a:rPr lang="en-US" b="0" i="0" u="none" strike="noStrike" baseline="0" dirty="0">
                <a:solidFill>
                  <a:schemeClr val="accent2">
                    <a:lumMod val="75000"/>
                  </a:schemeClr>
                </a:solidFill>
                <a:latin typeface="Montserrat" panose="020B0604020202020204" charset="0"/>
              </a:rPr>
              <a:t>is the process of taking an algorithm and encoding it into a notation</a:t>
            </a:r>
            <a:r>
              <a:rPr lang="en-US" b="0" i="0" u="none" strike="noStrike" baseline="0" dirty="0">
                <a:solidFill>
                  <a:srgbClr val="002060"/>
                </a:solidFill>
                <a:latin typeface="Montserrat" panose="020B0604020202020204" charset="0"/>
              </a:rPr>
              <a:t>, a programming language, so that it can be executed by a computer. </a:t>
            </a:r>
          </a:p>
        </p:txBody>
      </p:sp>
    </p:spTree>
    <p:extLst>
      <p:ext uri="{BB962C8B-B14F-4D97-AF65-F5344CB8AC3E}">
        <p14:creationId xmlns:p14="http://schemas.microsoft.com/office/powerpoint/2010/main" val="166211939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39791E-FE98-4CA3-92DE-1EA951B256F8}"/>
              </a:ext>
            </a:extLst>
          </p:cNvPr>
          <p:cNvSpPr>
            <a:spLocks noGrp="1"/>
          </p:cNvSpPr>
          <p:nvPr>
            <p:ph type="title"/>
          </p:nvPr>
        </p:nvSpPr>
        <p:spPr/>
        <p:txBody>
          <a:bodyPr/>
          <a:lstStyle/>
          <a:p>
            <a:pPr algn="ctr"/>
            <a:r>
              <a:rPr lang="en-IN" dirty="0"/>
              <a:t>Program </a:t>
            </a:r>
          </a:p>
        </p:txBody>
      </p:sp>
      <p:sp>
        <p:nvSpPr>
          <p:cNvPr id="3" name="Content Placeholder 2">
            <a:extLst>
              <a:ext uri="{FF2B5EF4-FFF2-40B4-BE49-F238E27FC236}">
                <a16:creationId xmlns:a16="http://schemas.microsoft.com/office/drawing/2014/main" xmlns="" id="{F4E7C786-CC1A-43F0-8D5B-46044482A7E5}"/>
              </a:ext>
            </a:extLst>
          </p:cNvPr>
          <p:cNvSpPr>
            <a:spLocks noGrp="1"/>
          </p:cNvSpPr>
          <p:nvPr>
            <p:ph idx="1"/>
          </p:nvPr>
        </p:nvSpPr>
        <p:spPr/>
        <p:txBody>
          <a:bodyPr/>
          <a:lstStyle/>
          <a:p>
            <a:pPr algn="just">
              <a:lnSpc>
                <a:spcPct val="150000"/>
              </a:lnSpc>
            </a:pPr>
            <a:r>
              <a:rPr lang="en-US" sz="3400" b="0" i="0" dirty="0">
                <a:solidFill>
                  <a:srgbClr val="002060"/>
                </a:solidFill>
                <a:effectLst/>
                <a:latin typeface="Montserrat" panose="020B0604020202020204" charset="0"/>
              </a:rPr>
              <a:t>A </a:t>
            </a:r>
            <a:r>
              <a:rPr lang="en-US" sz="3400" b="1" i="0" dirty="0">
                <a:solidFill>
                  <a:schemeClr val="accent2">
                    <a:lumMod val="75000"/>
                  </a:schemeClr>
                </a:solidFill>
                <a:effectLst/>
                <a:latin typeface="Montserrat" panose="020B0604020202020204" charset="0"/>
              </a:rPr>
              <a:t>computer program</a:t>
            </a:r>
            <a:r>
              <a:rPr lang="en-US" sz="3400" b="0" i="0" dirty="0">
                <a:solidFill>
                  <a:schemeClr val="accent2">
                    <a:lumMod val="75000"/>
                  </a:schemeClr>
                </a:solidFill>
                <a:effectLst/>
                <a:latin typeface="Montserrat" panose="020B0604020202020204" charset="0"/>
              </a:rPr>
              <a:t> </a:t>
            </a:r>
            <a:r>
              <a:rPr lang="en-US" sz="3400" b="0" i="0" dirty="0">
                <a:solidFill>
                  <a:srgbClr val="002060"/>
                </a:solidFill>
                <a:effectLst/>
                <a:latin typeface="Montserrat" panose="020B0604020202020204" charset="0"/>
              </a:rPr>
              <a:t>is a collection of instructions that can be executed by a </a:t>
            </a:r>
            <a:r>
              <a:rPr lang="en-US" sz="3400" i="0" dirty="0">
                <a:solidFill>
                  <a:srgbClr val="002060"/>
                </a:solidFill>
                <a:effectLst/>
                <a:latin typeface="Montserrat" panose="020B0604020202020204" charset="0"/>
              </a:rPr>
              <a:t>computer</a:t>
            </a:r>
            <a:r>
              <a:rPr lang="en-US" sz="3400" b="0" i="0" dirty="0">
                <a:solidFill>
                  <a:srgbClr val="002060"/>
                </a:solidFill>
                <a:effectLst/>
                <a:latin typeface="Montserrat" panose="020B0604020202020204" charset="0"/>
              </a:rPr>
              <a:t> to perform a specific task.</a:t>
            </a:r>
            <a:endParaRPr lang="en-IN" sz="3400" dirty="0">
              <a:solidFill>
                <a:srgbClr val="002060"/>
              </a:solidFill>
              <a:latin typeface="Montserrat" panose="020B0604020202020204" charset="0"/>
            </a:endParaRPr>
          </a:p>
        </p:txBody>
      </p:sp>
    </p:spTree>
    <p:extLst>
      <p:ext uri="{BB962C8B-B14F-4D97-AF65-F5344CB8AC3E}">
        <p14:creationId xmlns:p14="http://schemas.microsoft.com/office/powerpoint/2010/main" val="19941110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0A5288-9C0A-42B6-8046-07840277D108}"/>
              </a:ext>
            </a:extLst>
          </p:cNvPr>
          <p:cNvSpPr>
            <a:spLocks noGrp="1"/>
          </p:cNvSpPr>
          <p:nvPr>
            <p:ph type="title"/>
          </p:nvPr>
        </p:nvSpPr>
        <p:spPr>
          <a:xfrm>
            <a:off x="1368286" y="2419212"/>
            <a:ext cx="8753475" cy="1325563"/>
          </a:xfrm>
        </p:spPr>
        <p:txBody>
          <a:bodyPr/>
          <a:lstStyle/>
          <a:p>
            <a:pPr algn="ctr"/>
            <a:r>
              <a:rPr lang="en-IN" b="1" dirty="0">
                <a:solidFill>
                  <a:srgbClr val="002060"/>
                </a:solidFill>
                <a:latin typeface="Montserrat" panose="020B0604020202020204" charset="0"/>
              </a:rPr>
              <a:t>A</a:t>
            </a:r>
            <a:r>
              <a:rPr lang="en-IN" b="1" i="0" u="none" strike="noStrike" baseline="0" dirty="0">
                <a:solidFill>
                  <a:srgbClr val="002060"/>
                </a:solidFill>
                <a:latin typeface="Montserrat" panose="020B0604020202020204" charset="0"/>
              </a:rPr>
              <a:t>lgorithmic </a:t>
            </a:r>
            <a:r>
              <a:rPr lang="en-IN" b="1" dirty="0">
                <a:solidFill>
                  <a:srgbClr val="002060"/>
                </a:solidFill>
                <a:latin typeface="Montserrat" panose="020B0604020202020204" charset="0"/>
              </a:rPr>
              <a:t>P</a:t>
            </a:r>
            <a:r>
              <a:rPr lang="en-IN" b="1" i="0" u="none" strike="noStrike" baseline="0" dirty="0">
                <a:solidFill>
                  <a:srgbClr val="002060"/>
                </a:solidFill>
                <a:latin typeface="Montserrat" panose="020B0604020202020204" charset="0"/>
              </a:rPr>
              <a:t>roblem </a:t>
            </a:r>
            <a:r>
              <a:rPr lang="en-IN" b="1" dirty="0">
                <a:solidFill>
                  <a:srgbClr val="002060"/>
                </a:solidFill>
                <a:latin typeface="Montserrat" panose="020B0604020202020204" charset="0"/>
              </a:rPr>
              <a:t>S</a:t>
            </a:r>
            <a:r>
              <a:rPr lang="en-IN" b="1" i="0" u="none" strike="noStrike" baseline="0" dirty="0">
                <a:solidFill>
                  <a:srgbClr val="002060"/>
                </a:solidFill>
                <a:latin typeface="Montserrat" panose="020B0604020202020204" charset="0"/>
              </a:rPr>
              <a:t>olving</a:t>
            </a:r>
            <a:endParaRPr lang="en-IN" dirty="0">
              <a:solidFill>
                <a:srgbClr val="002060"/>
              </a:solidFill>
              <a:latin typeface="Montserrat" panose="020B0604020202020204" charset="0"/>
            </a:endParaRPr>
          </a:p>
        </p:txBody>
      </p:sp>
    </p:spTree>
    <p:extLst>
      <p:ext uri="{BB962C8B-B14F-4D97-AF65-F5344CB8AC3E}">
        <p14:creationId xmlns:p14="http://schemas.microsoft.com/office/powerpoint/2010/main" val="410281989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7E2CCE-A22C-4173-A9B3-CCEE422BAAFB}"/>
              </a:ext>
            </a:extLst>
          </p:cNvPr>
          <p:cNvSpPr>
            <a:spLocks noGrp="1"/>
          </p:cNvSpPr>
          <p:nvPr>
            <p:ph type="title"/>
          </p:nvPr>
        </p:nvSpPr>
        <p:spPr>
          <a:xfrm>
            <a:off x="1500809" y="351873"/>
            <a:ext cx="8753475" cy="1325563"/>
          </a:xfrm>
        </p:spPr>
        <p:txBody>
          <a:bodyPr/>
          <a:lstStyle/>
          <a:p>
            <a:pPr algn="ctr"/>
            <a:r>
              <a:rPr lang="en-IN" b="1" dirty="0">
                <a:solidFill>
                  <a:srgbClr val="002060"/>
                </a:solidFill>
                <a:latin typeface="Montserrat" panose="020B0604020202020204" charset="0"/>
              </a:rPr>
              <a:t>A</a:t>
            </a:r>
            <a:r>
              <a:rPr lang="en-IN" b="1" i="0" u="none" strike="noStrike" baseline="0" dirty="0">
                <a:solidFill>
                  <a:srgbClr val="002060"/>
                </a:solidFill>
                <a:latin typeface="Montserrat" panose="020B0604020202020204" charset="0"/>
              </a:rPr>
              <a:t>lgorithmic </a:t>
            </a:r>
            <a:r>
              <a:rPr lang="en-IN" b="1" dirty="0">
                <a:solidFill>
                  <a:srgbClr val="002060"/>
                </a:solidFill>
                <a:latin typeface="Montserrat" panose="020B0604020202020204" charset="0"/>
              </a:rPr>
              <a:t>P</a:t>
            </a:r>
            <a:r>
              <a:rPr lang="en-IN" b="1" i="0" u="none" strike="noStrike" baseline="0" dirty="0">
                <a:solidFill>
                  <a:srgbClr val="002060"/>
                </a:solidFill>
                <a:latin typeface="Montserrat" panose="020B0604020202020204" charset="0"/>
              </a:rPr>
              <a:t>roblem </a:t>
            </a:r>
            <a:r>
              <a:rPr lang="en-IN" b="1" dirty="0">
                <a:solidFill>
                  <a:srgbClr val="002060"/>
                </a:solidFill>
                <a:latin typeface="Montserrat" panose="020B0604020202020204" charset="0"/>
              </a:rPr>
              <a:t>S</a:t>
            </a:r>
            <a:r>
              <a:rPr lang="en-IN" b="1" i="0" u="none" strike="noStrike" baseline="0" dirty="0">
                <a:solidFill>
                  <a:srgbClr val="002060"/>
                </a:solidFill>
                <a:latin typeface="Montserrat" panose="020B0604020202020204" charset="0"/>
              </a:rPr>
              <a:t>olving</a:t>
            </a:r>
            <a:endParaRPr lang="en-IN" dirty="0"/>
          </a:p>
        </p:txBody>
      </p:sp>
      <p:sp>
        <p:nvSpPr>
          <p:cNvPr id="3" name="Content Placeholder 2">
            <a:extLst>
              <a:ext uri="{FF2B5EF4-FFF2-40B4-BE49-F238E27FC236}">
                <a16:creationId xmlns:a16="http://schemas.microsoft.com/office/drawing/2014/main" xmlns="" id="{D611E0C2-AB62-4A38-A795-C563CE2C6C06}"/>
              </a:ext>
            </a:extLst>
          </p:cNvPr>
          <p:cNvSpPr>
            <a:spLocks noGrp="1"/>
          </p:cNvSpPr>
          <p:nvPr>
            <p:ph idx="1"/>
          </p:nvPr>
        </p:nvSpPr>
        <p:spPr/>
        <p:txBody>
          <a:bodyPr/>
          <a:lstStyle/>
          <a:p>
            <a:pPr algn="just">
              <a:lnSpc>
                <a:spcPct val="150000"/>
              </a:lnSpc>
            </a:pPr>
            <a:r>
              <a:rPr lang="en-US" b="0" i="0" u="none" strike="noStrike" baseline="0" dirty="0">
                <a:solidFill>
                  <a:srgbClr val="002060"/>
                </a:solidFill>
                <a:latin typeface="Montserrat" panose="020B0604020202020204" charset="0"/>
              </a:rPr>
              <a:t>Algorithmic-problem solving means </a:t>
            </a:r>
            <a:r>
              <a:rPr lang="en-US" b="0" i="0" u="none" strike="noStrike" baseline="0" dirty="0">
                <a:solidFill>
                  <a:schemeClr val="accent2">
                    <a:lumMod val="75000"/>
                  </a:schemeClr>
                </a:solidFill>
                <a:latin typeface="Montserrat" panose="020B0604020202020204" charset="0"/>
              </a:rPr>
              <a:t>solving problems that require the formulation of an algorithm for their solution. </a:t>
            </a:r>
          </a:p>
          <a:p>
            <a:pPr algn="just">
              <a:lnSpc>
                <a:spcPct val="150000"/>
              </a:lnSpc>
            </a:pPr>
            <a:r>
              <a:rPr lang="en-US" b="0" i="0" u="none" strike="noStrike" baseline="0" dirty="0">
                <a:solidFill>
                  <a:srgbClr val="002060"/>
                </a:solidFill>
                <a:latin typeface="Montserrat" panose="020B0604020202020204" charset="0"/>
              </a:rPr>
              <a:t>The formulation of algorithms have always been an important element of problem-solving . </a:t>
            </a:r>
            <a:endParaRPr lang="en-IN" dirty="0">
              <a:solidFill>
                <a:srgbClr val="002060"/>
              </a:solidFill>
              <a:latin typeface="Montserrat" panose="020B0604020202020204" charset="0"/>
            </a:endParaRPr>
          </a:p>
        </p:txBody>
      </p:sp>
    </p:spTree>
    <p:extLst>
      <p:ext uri="{BB962C8B-B14F-4D97-AF65-F5344CB8AC3E}">
        <p14:creationId xmlns:p14="http://schemas.microsoft.com/office/powerpoint/2010/main" val="268132313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A31C62F-78D6-4341-B7B1-184D38B444F6}"/>
              </a:ext>
            </a:extLst>
          </p:cNvPr>
          <p:cNvSpPr>
            <a:spLocks noGrp="1"/>
          </p:cNvSpPr>
          <p:nvPr>
            <p:ph type="title"/>
          </p:nvPr>
        </p:nvSpPr>
        <p:spPr/>
        <p:txBody>
          <a:bodyPr/>
          <a:lstStyle/>
          <a:p>
            <a:pPr algn="ctr"/>
            <a:r>
              <a:rPr lang="en-IN" b="1" i="0" u="none" strike="noStrike" baseline="0" dirty="0">
                <a:solidFill>
                  <a:srgbClr val="002060"/>
                </a:solidFill>
                <a:latin typeface="Montserrat" panose="020B0604020202020204" charset="0"/>
              </a:rPr>
              <a:t>An algorithmic Development Process </a:t>
            </a:r>
            <a:endParaRPr lang="en-IN" dirty="0">
              <a:solidFill>
                <a:srgbClr val="002060"/>
              </a:solidFill>
              <a:latin typeface="Montserrat" panose="020B0604020202020204" charset="0"/>
            </a:endParaRPr>
          </a:p>
        </p:txBody>
      </p:sp>
      <p:sp>
        <p:nvSpPr>
          <p:cNvPr id="3" name="Content Placeholder 2">
            <a:extLst>
              <a:ext uri="{FF2B5EF4-FFF2-40B4-BE49-F238E27FC236}">
                <a16:creationId xmlns:a16="http://schemas.microsoft.com/office/drawing/2014/main" xmlns="" id="{35EBD0D3-7D08-414D-B5CF-786C921C09EA}"/>
              </a:ext>
            </a:extLst>
          </p:cNvPr>
          <p:cNvSpPr>
            <a:spLocks noGrp="1"/>
          </p:cNvSpPr>
          <p:nvPr>
            <p:ph idx="1"/>
          </p:nvPr>
        </p:nvSpPr>
        <p:spPr/>
        <p:txBody>
          <a:bodyPr>
            <a:normAutofit/>
          </a:bodyPr>
          <a:lstStyle/>
          <a:p>
            <a:pPr marL="0" indent="0" algn="just">
              <a:lnSpc>
                <a:spcPct val="150000"/>
              </a:lnSpc>
              <a:buNone/>
            </a:pPr>
            <a:r>
              <a:rPr lang="en-US" sz="2400" b="0" i="0" u="none" strike="noStrike" baseline="0" dirty="0">
                <a:solidFill>
                  <a:srgbClr val="002060"/>
                </a:solidFill>
                <a:latin typeface="Montserrat" panose="020B0604020202020204" charset="0"/>
              </a:rPr>
              <a:t>An algorithm development process consists of five major steps. </a:t>
            </a:r>
          </a:p>
          <a:p>
            <a:pPr algn="just">
              <a:lnSpc>
                <a:spcPct val="150000"/>
              </a:lnSpc>
            </a:pPr>
            <a:r>
              <a:rPr lang="en-US" sz="2400" b="0" i="0" u="none" strike="noStrike" baseline="0" dirty="0">
                <a:solidFill>
                  <a:schemeClr val="accent2">
                    <a:lumMod val="75000"/>
                  </a:schemeClr>
                </a:solidFill>
                <a:latin typeface="Montserrat" panose="020B0604020202020204" charset="0"/>
              </a:rPr>
              <a:t>Step 1</a:t>
            </a:r>
            <a:r>
              <a:rPr lang="en-US" sz="2400" b="0" i="0" u="none" strike="noStrike" baseline="0" dirty="0">
                <a:solidFill>
                  <a:srgbClr val="002060"/>
                </a:solidFill>
                <a:latin typeface="Montserrat" panose="020B0604020202020204" charset="0"/>
              </a:rPr>
              <a:t>: Obtain a description of the problem. </a:t>
            </a:r>
          </a:p>
          <a:p>
            <a:pPr algn="just">
              <a:lnSpc>
                <a:spcPct val="150000"/>
              </a:lnSpc>
            </a:pPr>
            <a:r>
              <a:rPr lang="en-US" sz="2400" b="0" i="0" u="none" strike="noStrike" baseline="0" dirty="0">
                <a:solidFill>
                  <a:schemeClr val="accent2">
                    <a:lumMod val="75000"/>
                  </a:schemeClr>
                </a:solidFill>
                <a:latin typeface="Montserrat" panose="020B0604020202020204" charset="0"/>
              </a:rPr>
              <a:t>Step 2</a:t>
            </a:r>
            <a:r>
              <a:rPr lang="en-US" sz="2400" b="0" i="0" u="none" strike="noStrike" baseline="0" dirty="0">
                <a:solidFill>
                  <a:srgbClr val="002060"/>
                </a:solidFill>
                <a:latin typeface="Montserrat" panose="020B0604020202020204" charset="0"/>
              </a:rPr>
              <a:t>: Analyze the problem. </a:t>
            </a:r>
          </a:p>
          <a:p>
            <a:pPr algn="just">
              <a:lnSpc>
                <a:spcPct val="150000"/>
              </a:lnSpc>
            </a:pPr>
            <a:r>
              <a:rPr lang="en-US" sz="2400" b="0" i="0" u="none" strike="noStrike" baseline="0" dirty="0">
                <a:solidFill>
                  <a:schemeClr val="accent2">
                    <a:lumMod val="75000"/>
                  </a:schemeClr>
                </a:solidFill>
                <a:latin typeface="Montserrat" panose="020B0604020202020204" charset="0"/>
              </a:rPr>
              <a:t>Step 3</a:t>
            </a:r>
            <a:r>
              <a:rPr lang="en-US" sz="2400" b="0" i="0" u="none" strike="noStrike" baseline="0" dirty="0">
                <a:solidFill>
                  <a:srgbClr val="002060"/>
                </a:solidFill>
                <a:latin typeface="Montserrat" panose="020B0604020202020204" charset="0"/>
              </a:rPr>
              <a:t>: Develop a high-level algorithm. </a:t>
            </a:r>
          </a:p>
          <a:p>
            <a:pPr algn="just">
              <a:lnSpc>
                <a:spcPct val="150000"/>
              </a:lnSpc>
            </a:pPr>
            <a:r>
              <a:rPr lang="en-US" sz="2400" b="0" i="0" u="none" strike="noStrike" baseline="0" dirty="0">
                <a:solidFill>
                  <a:schemeClr val="accent2">
                    <a:lumMod val="75000"/>
                  </a:schemeClr>
                </a:solidFill>
                <a:latin typeface="Montserrat" panose="020B0604020202020204" charset="0"/>
              </a:rPr>
              <a:t>Step 4</a:t>
            </a:r>
            <a:r>
              <a:rPr lang="en-US" sz="2400" b="0" i="0" u="none" strike="noStrike" baseline="0" dirty="0">
                <a:solidFill>
                  <a:srgbClr val="002060"/>
                </a:solidFill>
                <a:latin typeface="Montserrat" panose="020B0604020202020204" charset="0"/>
              </a:rPr>
              <a:t>: Refine the algorithm by adding more detail. </a:t>
            </a:r>
          </a:p>
          <a:p>
            <a:pPr algn="just">
              <a:lnSpc>
                <a:spcPct val="150000"/>
              </a:lnSpc>
            </a:pPr>
            <a:r>
              <a:rPr lang="en-US" sz="2400" b="0" i="0" u="none" strike="noStrike" baseline="0" dirty="0">
                <a:solidFill>
                  <a:schemeClr val="accent2">
                    <a:lumMod val="75000"/>
                  </a:schemeClr>
                </a:solidFill>
                <a:latin typeface="Montserrat" panose="020B0604020202020204" charset="0"/>
              </a:rPr>
              <a:t>Step 5</a:t>
            </a:r>
            <a:r>
              <a:rPr lang="en-US" sz="2400" b="0" i="0" u="none" strike="noStrike" baseline="0" dirty="0">
                <a:solidFill>
                  <a:srgbClr val="002060"/>
                </a:solidFill>
                <a:latin typeface="Montserrat" panose="020B0604020202020204" charset="0"/>
              </a:rPr>
              <a:t>: Review the algorithm. </a:t>
            </a:r>
            <a:endParaRPr lang="en-IN" sz="2400" dirty="0">
              <a:solidFill>
                <a:srgbClr val="002060"/>
              </a:solidFill>
              <a:latin typeface="Montserrat" panose="020B0604020202020204" charset="0"/>
            </a:endParaRPr>
          </a:p>
        </p:txBody>
      </p:sp>
    </p:spTree>
    <p:extLst>
      <p:ext uri="{BB962C8B-B14F-4D97-AF65-F5344CB8AC3E}">
        <p14:creationId xmlns:p14="http://schemas.microsoft.com/office/powerpoint/2010/main" val="90881018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B1A3C21-42D3-49F6-842C-547FFCF074C2}"/>
              </a:ext>
            </a:extLst>
          </p:cNvPr>
          <p:cNvSpPr>
            <a:spLocks noGrp="1"/>
          </p:cNvSpPr>
          <p:nvPr>
            <p:ph type="title"/>
          </p:nvPr>
        </p:nvSpPr>
        <p:spPr>
          <a:xfrm>
            <a:off x="122831" y="2766218"/>
            <a:ext cx="12069170" cy="1325563"/>
          </a:xfrm>
        </p:spPr>
        <p:txBody>
          <a:bodyPr>
            <a:normAutofit/>
          </a:bodyPr>
          <a:lstStyle/>
          <a:p>
            <a:r>
              <a:rPr lang="en-US" sz="4000" b="0" i="0" dirty="0">
                <a:solidFill>
                  <a:srgbClr val="002060"/>
                </a:solidFill>
                <a:effectLst/>
                <a:latin typeface="Montserrat" panose="020B0604020202020204" charset="0"/>
              </a:rPr>
              <a:t>Simple Strategies for Developing Algorithm</a:t>
            </a:r>
            <a:endParaRPr lang="en-IN" sz="4000" dirty="0">
              <a:solidFill>
                <a:srgbClr val="002060"/>
              </a:solidFill>
            </a:endParaRPr>
          </a:p>
        </p:txBody>
      </p:sp>
    </p:spTree>
    <p:extLst>
      <p:ext uri="{BB962C8B-B14F-4D97-AF65-F5344CB8AC3E}">
        <p14:creationId xmlns:p14="http://schemas.microsoft.com/office/powerpoint/2010/main" val="155982717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5E3E6F-85D0-4DB5-BA84-BE9C917E7CA0}"/>
              </a:ext>
            </a:extLst>
          </p:cNvPr>
          <p:cNvSpPr>
            <a:spLocks noGrp="1"/>
          </p:cNvSpPr>
          <p:nvPr>
            <p:ph type="title"/>
          </p:nvPr>
        </p:nvSpPr>
        <p:spPr>
          <a:xfrm>
            <a:off x="838200" y="92765"/>
            <a:ext cx="9591261" cy="1073427"/>
          </a:xfrm>
        </p:spPr>
        <p:txBody>
          <a:bodyPr>
            <a:normAutofit fontScale="90000"/>
          </a:bodyPr>
          <a:lstStyle/>
          <a:p>
            <a:r>
              <a:rPr lang="en-IN" b="1" i="0" dirty="0">
                <a:solidFill>
                  <a:srgbClr val="002060"/>
                </a:solidFill>
                <a:effectLst/>
                <a:latin typeface="Montserrat" panose="020B0604020202020204" charset="0"/>
              </a:rPr>
              <a:t/>
            </a:r>
            <a:br>
              <a:rPr lang="en-IN" b="1" i="0" dirty="0">
                <a:solidFill>
                  <a:srgbClr val="002060"/>
                </a:solidFill>
                <a:effectLst/>
                <a:latin typeface="Montserrat" panose="020B0604020202020204" charset="0"/>
              </a:rPr>
            </a:br>
            <a:r>
              <a:rPr lang="en-IN" b="1" i="0" dirty="0">
                <a:solidFill>
                  <a:srgbClr val="002060"/>
                </a:solidFill>
                <a:effectLst/>
                <a:latin typeface="Montserrat" panose="020B0604020202020204" charset="0"/>
              </a:rPr>
              <a:t>Iteration</a:t>
            </a:r>
            <a:r>
              <a:rPr lang="en-IN" dirty="0">
                <a:solidFill>
                  <a:srgbClr val="002060"/>
                </a:solidFill>
                <a:latin typeface="Montserrat" panose="020B0604020202020204" charset="0"/>
              </a:rPr>
              <a:t/>
            </a:r>
            <a:br>
              <a:rPr lang="en-IN" dirty="0">
                <a:solidFill>
                  <a:srgbClr val="002060"/>
                </a:solidFill>
                <a:latin typeface="Montserrat" panose="020B0604020202020204" charset="0"/>
              </a:rPr>
            </a:br>
            <a:endParaRPr lang="en-IN" dirty="0">
              <a:solidFill>
                <a:srgbClr val="002060"/>
              </a:solidFill>
              <a:latin typeface="Montserrat" panose="020B0604020202020204" charset="0"/>
            </a:endParaRPr>
          </a:p>
        </p:txBody>
      </p:sp>
      <p:sp>
        <p:nvSpPr>
          <p:cNvPr id="3" name="Content Placeholder 2">
            <a:extLst>
              <a:ext uri="{FF2B5EF4-FFF2-40B4-BE49-F238E27FC236}">
                <a16:creationId xmlns:a16="http://schemas.microsoft.com/office/drawing/2014/main" xmlns="" id="{961C401B-A579-4CBA-84C8-F00DA00E7B06}"/>
              </a:ext>
            </a:extLst>
          </p:cNvPr>
          <p:cNvSpPr>
            <a:spLocks noGrp="1"/>
          </p:cNvSpPr>
          <p:nvPr>
            <p:ph idx="1"/>
          </p:nvPr>
        </p:nvSpPr>
        <p:spPr>
          <a:xfrm>
            <a:off x="838200" y="1351722"/>
            <a:ext cx="9823450" cy="4825241"/>
          </a:xfrm>
        </p:spPr>
        <p:txBody>
          <a:bodyPr/>
          <a:lstStyle/>
          <a:p>
            <a:pPr algn="just">
              <a:lnSpc>
                <a:spcPct val="150000"/>
              </a:lnSpc>
            </a:pPr>
            <a:r>
              <a:rPr lang="en-US" b="0" i="0" dirty="0">
                <a:solidFill>
                  <a:srgbClr val="002060"/>
                </a:solidFill>
                <a:effectLst/>
                <a:latin typeface="Montserrat" panose="020B0604020202020204" charset="0"/>
              </a:rPr>
              <a:t>Iteration is a process wherein a set of instructions or structures are </a:t>
            </a:r>
            <a:r>
              <a:rPr lang="en-US" b="0" i="0" dirty="0">
                <a:solidFill>
                  <a:schemeClr val="accent2">
                    <a:lumMod val="75000"/>
                  </a:schemeClr>
                </a:solidFill>
                <a:effectLst/>
                <a:latin typeface="Montserrat" panose="020B0604020202020204" charset="0"/>
              </a:rPr>
              <a:t>repeated in a sequence, a specified number of times or until a condition is met</a:t>
            </a:r>
          </a:p>
          <a:p>
            <a:pPr algn="just">
              <a:lnSpc>
                <a:spcPct val="150000"/>
              </a:lnSpc>
            </a:pPr>
            <a:r>
              <a:rPr lang="en-US" b="0" i="0" dirty="0">
                <a:solidFill>
                  <a:srgbClr val="002060"/>
                </a:solidFill>
                <a:effectLst/>
                <a:latin typeface="Montserrat" panose="020B0604020202020204" charset="0"/>
              </a:rPr>
              <a:t>Once a problem is clear then the logic of the solution could be implemented using an iteration where it could run multiple times to achieve a specific outcome</a:t>
            </a:r>
            <a:endParaRPr lang="en-IN" dirty="0">
              <a:solidFill>
                <a:srgbClr val="002060"/>
              </a:solidFill>
              <a:latin typeface="Montserrat" panose="020B0604020202020204" charset="0"/>
            </a:endParaRPr>
          </a:p>
        </p:txBody>
      </p:sp>
    </p:spTree>
    <p:extLst>
      <p:ext uri="{BB962C8B-B14F-4D97-AF65-F5344CB8AC3E}">
        <p14:creationId xmlns:p14="http://schemas.microsoft.com/office/powerpoint/2010/main" val="374757513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F306574-D56F-4D32-9794-4E64BC827B05}"/>
              </a:ext>
            </a:extLst>
          </p:cNvPr>
          <p:cNvSpPr>
            <a:spLocks noGrp="1"/>
          </p:cNvSpPr>
          <p:nvPr>
            <p:ph idx="1"/>
          </p:nvPr>
        </p:nvSpPr>
        <p:spPr>
          <a:xfrm>
            <a:off x="838200" y="185530"/>
            <a:ext cx="9823450" cy="6486939"/>
          </a:xfrm>
        </p:spPr>
        <p:txBody>
          <a:bodyPr>
            <a:normAutofit/>
          </a:bodyPr>
          <a:lstStyle/>
          <a:p>
            <a:pPr marL="0" indent="0" algn="just">
              <a:lnSpc>
                <a:spcPct val="150000"/>
              </a:lnSpc>
              <a:buNone/>
            </a:pPr>
            <a:r>
              <a:rPr lang="en-US" sz="2100" b="0" i="0" dirty="0">
                <a:solidFill>
                  <a:schemeClr val="accent2">
                    <a:lumMod val="75000"/>
                  </a:schemeClr>
                </a:solidFill>
                <a:effectLst/>
                <a:latin typeface="Montserrat" panose="020B0604020202020204" charset="0"/>
              </a:rPr>
              <a:t>Example: </a:t>
            </a:r>
            <a:r>
              <a:rPr lang="en-US" sz="2100" dirty="0">
                <a:solidFill>
                  <a:schemeClr val="accent2">
                    <a:lumMod val="75000"/>
                  </a:schemeClr>
                </a:solidFill>
                <a:latin typeface="Montserrat" panose="020B0604020202020204" charset="0"/>
              </a:rPr>
              <a:t>To</a:t>
            </a:r>
            <a:r>
              <a:rPr lang="en-US" sz="2100" b="0" i="0" dirty="0">
                <a:solidFill>
                  <a:schemeClr val="accent2">
                    <a:lumMod val="75000"/>
                  </a:schemeClr>
                </a:solidFill>
                <a:effectLst/>
                <a:latin typeface="Montserrat" panose="020B0604020202020204" charset="0"/>
              </a:rPr>
              <a:t> Find the factorial of a number(An algorithm using Iteration)</a:t>
            </a:r>
          </a:p>
          <a:p>
            <a:pPr marL="0" indent="0" algn="just">
              <a:lnSpc>
                <a:spcPct val="150000"/>
              </a:lnSpc>
              <a:buNone/>
            </a:pPr>
            <a:endParaRPr lang="en-US" sz="2100" b="0" i="0" dirty="0">
              <a:solidFill>
                <a:srgbClr val="333333"/>
              </a:solidFill>
              <a:effectLst/>
              <a:latin typeface="Montserrat" panose="020B0604020202020204" charset="0"/>
            </a:endParaRPr>
          </a:p>
          <a:p>
            <a:pPr marL="0" indent="0" algn="just">
              <a:lnSpc>
                <a:spcPct val="150000"/>
              </a:lnSpc>
              <a:buNone/>
            </a:pPr>
            <a:r>
              <a:rPr lang="en-US" sz="2100" b="0" i="0" dirty="0">
                <a:solidFill>
                  <a:schemeClr val="accent2">
                    <a:lumMod val="75000"/>
                  </a:schemeClr>
                </a:solidFill>
                <a:effectLst/>
                <a:latin typeface="Montserrat" panose="020B0604020202020204" charset="0"/>
              </a:rPr>
              <a:t>Step 1: </a:t>
            </a:r>
            <a:r>
              <a:rPr lang="en-US" sz="2100" b="0" i="0" dirty="0">
                <a:solidFill>
                  <a:srgbClr val="000000"/>
                </a:solidFill>
                <a:effectLst/>
                <a:latin typeface="Montserrat" panose="020B0604020202020204" charset="0"/>
              </a:rPr>
              <a:t>Start</a:t>
            </a:r>
            <a:endParaRPr lang="en-US" sz="2100" b="0" i="0" dirty="0">
              <a:solidFill>
                <a:srgbClr val="333333"/>
              </a:solidFill>
              <a:effectLst/>
              <a:latin typeface="Montserrat" panose="020B0604020202020204" charset="0"/>
            </a:endParaRPr>
          </a:p>
          <a:p>
            <a:pPr marL="0" indent="0" algn="just">
              <a:lnSpc>
                <a:spcPct val="150000"/>
              </a:lnSpc>
              <a:buNone/>
            </a:pPr>
            <a:r>
              <a:rPr lang="en-US" sz="2100" b="0" i="0" dirty="0">
                <a:solidFill>
                  <a:schemeClr val="accent2">
                    <a:lumMod val="75000"/>
                  </a:schemeClr>
                </a:solidFill>
                <a:effectLst/>
                <a:latin typeface="Montserrat" panose="020B0604020202020204" charset="0"/>
              </a:rPr>
              <a:t>Step 2: </a:t>
            </a:r>
            <a:r>
              <a:rPr lang="en-US" sz="2100" b="0" i="0" dirty="0">
                <a:solidFill>
                  <a:srgbClr val="000000"/>
                </a:solidFill>
                <a:effectLst/>
                <a:latin typeface="Montserrat" panose="020B0604020202020204" charset="0"/>
              </a:rPr>
              <a:t>Get a number from the user and store it in variable </a:t>
            </a:r>
            <a:r>
              <a:rPr lang="en-US" sz="2100" b="0" i="0" dirty="0" err="1">
                <a:solidFill>
                  <a:srgbClr val="000000"/>
                </a:solidFill>
                <a:effectLst/>
                <a:latin typeface="Montserrat" panose="020B0604020202020204" charset="0"/>
              </a:rPr>
              <a:t>given_number</a:t>
            </a:r>
            <a:endParaRPr lang="en-US" sz="2100" b="0" i="0" dirty="0">
              <a:solidFill>
                <a:srgbClr val="333333"/>
              </a:solidFill>
              <a:effectLst/>
              <a:latin typeface="Montserrat" panose="020B0604020202020204" charset="0"/>
            </a:endParaRPr>
          </a:p>
          <a:p>
            <a:pPr marL="0" indent="0" algn="just">
              <a:lnSpc>
                <a:spcPct val="150000"/>
              </a:lnSpc>
              <a:buNone/>
            </a:pPr>
            <a:r>
              <a:rPr lang="en-US" sz="2100" b="0" i="0" dirty="0">
                <a:solidFill>
                  <a:schemeClr val="accent2">
                    <a:lumMod val="75000"/>
                  </a:schemeClr>
                </a:solidFill>
                <a:effectLst/>
                <a:latin typeface="Montserrat" panose="020B0604020202020204" charset="0"/>
              </a:rPr>
              <a:t>Step 3: </a:t>
            </a:r>
            <a:r>
              <a:rPr lang="en-US" sz="2100" b="0" i="0" dirty="0">
                <a:solidFill>
                  <a:srgbClr val="000000"/>
                </a:solidFill>
                <a:effectLst/>
                <a:latin typeface="Montserrat" panose="020B0604020202020204" charset="0"/>
              </a:rPr>
              <a:t>Initialize variables start and storage with 1.</a:t>
            </a:r>
            <a:endParaRPr lang="en-US" sz="2100" b="0" i="0" dirty="0">
              <a:solidFill>
                <a:srgbClr val="333333"/>
              </a:solidFill>
              <a:effectLst/>
              <a:latin typeface="Montserrat" panose="020B0604020202020204" charset="0"/>
            </a:endParaRPr>
          </a:p>
          <a:p>
            <a:pPr marL="0" indent="0" algn="just">
              <a:lnSpc>
                <a:spcPct val="150000"/>
              </a:lnSpc>
              <a:buNone/>
            </a:pPr>
            <a:r>
              <a:rPr lang="en-US" sz="2100" b="0" i="0" dirty="0">
                <a:solidFill>
                  <a:schemeClr val="accent2">
                    <a:lumMod val="75000"/>
                  </a:schemeClr>
                </a:solidFill>
                <a:effectLst/>
                <a:latin typeface="Montserrat" panose="020B0604020202020204" charset="0"/>
              </a:rPr>
              <a:t>Step 4: </a:t>
            </a:r>
            <a:r>
              <a:rPr lang="en-US" sz="2100" b="0" i="0" dirty="0">
                <a:solidFill>
                  <a:srgbClr val="000000"/>
                </a:solidFill>
                <a:effectLst/>
                <a:latin typeface="Montserrat" panose="020B0604020202020204" charset="0"/>
              </a:rPr>
              <a:t>Repeat Until start is less than or equal to the </a:t>
            </a:r>
            <a:r>
              <a:rPr lang="en-US" sz="2100" b="0" i="0" dirty="0" err="1">
                <a:solidFill>
                  <a:srgbClr val="000000"/>
                </a:solidFill>
                <a:effectLst/>
                <a:latin typeface="Montserrat" panose="020B0604020202020204" charset="0"/>
              </a:rPr>
              <a:t>given_number</a:t>
            </a:r>
            <a:endParaRPr lang="en-US" sz="2100" b="0" i="0" dirty="0">
              <a:solidFill>
                <a:srgbClr val="333333"/>
              </a:solidFill>
              <a:effectLst/>
              <a:latin typeface="Montserrat" panose="020B0604020202020204" charset="0"/>
            </a:endParaRPr>
          </a:p>
          <a:p>
            <a:pPr marL="0" indent="0" algn="just">
              <a:lnSpc>
                <a:spcPct val="150000"/>
              </a:lnSpc>
              <a:buNone/>
            </a:pPr>
            <a:r>
              <a:rPr lang="en-US" sz="2100" b="0" i="0" dirty="0">
                <a:solidFill>
                  <a:schemeClr val="accent2">
                    <a:lumMod val="75000"/>
                  </a:schemeClr>
                </a:solidFill>
                <a:effectLst/>
                <a:latin typeface="Montserrat" panose="020B0604020202020204" charset="0"/>
              </a:rPr>
              <a:t>Step 5: </a:t>
            </a:r>
            <a:r>
              <a:rPr lang="en-US" sz="2100" b="0" i="0" dirty="0">
                <a:solidFill>
                  <a:srgbClr val="000000"/>
                </a:solidFill>
                <a:effectLst/>
                <a:latin typeface="Montserrat" panose="020B0604020202020204" charset="0"/>
              </a:rPr>
              <a:t>Multiply start with storage and store the result in variable storage</a:t>
            </a:r>
            <a:endParaRPr lang="en-US" sz="2100" b="0" i="0" dirty="0">
              <a:solidFill>
                <a:srgbClr val="333333"/>
              </a:solidFill>
              <a:effectLst/>
              <a:latin typeface="Montserrat" panose="020B0604020202020204" charset="0"/>
            </a:endParaRPr>
          </a:p>
          <a:p>
            <a:pPr marL="0" indent="0" algn="just">
              <a:lnSpc>
                <a:spcPct val="150000"/>
              </a:lnSpc>
              <a:buNone/>
            </a:pPr>
            <a:r>
              <a:rPr lang="en-US" sz="2100" b="0" i="0" dirty="0">
                <a:solidFill>
                  <a:schemeClr val="accent2">
                    <a:lumMod val="75000"/>
                  </a:schemeClr>
                </a:solidFill>
                <a:effectLst/>
                <a:latin typeface="Montserrat" panose="020B0604020202020204" charset="0"/>
              </a:rPr>
              <a:t>Step 6: </a:t>
            </a:r>
            <a:r>
              <a:rPr lang="en-US" sz="2100" b="0" i="0" dirty="0">
                <a:solidFill>
                  <a:srgbClr val="000000"/>
                </a:solidFill>
                <a:effectLst/>
                <a:latin typeface="Montserrat" panose="020B0604020202020204" charset="0"/>
              </a:rPr>
              <a:t>Increase the value of start with 1 and go to step 4</a:t>
            </a:r>
            <a:endParaRPr lang="en-US" sz="2100" b="0" i="0" dirty="0">
              <a:solidFill>
                <a:srgbClr val="333333"/>
              </a:solidFill>
              <a:effectLst/>
              <a:latin typeface="Montserrat" panose="020B0604020202020204" charset="0"/>
            </a:endParaRPr>
          </a:p>
          <a:p>
            <a:pPr marL="0" indent="0" algn="just">
              <a:lnSpc>
                <a:spcPct val="150000"/>
              </a:lnSpc>
              <a:buNone/>
            </a:pPr>
            <a:r>
              <a:rPr lang="en-US" sz="2100" b="0" i="0" dirty="0">
                <a:solidFill>
                  <a:schemeClr val="accent2">
                    <a:lumMod val="75000"/>
                  </a:schemeClr>
                </a:solidFill>
                <a:effectLst/>
                <a:latin typeface="Montserrat" panose="020B0604020202020204" charset="0"/>
              </a:rPr>
              <a:t>Step 7: </a:t>
            </a:r>
            <a:r>
              <a:rPr lang="en-US" sz="2100" b="0" i="0" dirty="0">
                <a:solidFill>
                  <a:srgbClr val="000000"/>
                </a:solidFill>
                <a:effectLst/>
                <a:latin typeface="Montserrat" panose="020B0604020202020204" charset="0"/>
              </a:rPr>
              <a:t>Display the value of storage as the factorial of the given number.</a:t>
            </a:r>
            <a:endParaRPr lang="en-US" sz="2100" b="0" i="0" dirty="0">
              <a:solidFill>
                <a:srgbClr val="333333"/>
              </a:solidFill>
              <a:effectLst/>
              <a:latin typeface="Montserrat" panose="020B0604020202020204" charset="0"/>
            </a:endParaRPr>
          </a:p>
          <a:p>
            <a:pPr algn="just">
              <a:lnSpc>
                <a:spcPct val="150000"/>
              </a:lnSpc>
            </a:pPr>
            <a:endParaRPr lang="en-IN" sz="2100" dirty="0">
              <a:latin typeface="Montserrat" panose="020B0604020202020204" charset="0"/>
            </a:endParaRPr>
          </a:p>
        </p:txBody>
      </p:sp>
    </p:spTree>
    <p:extLst>
      <p:ext uri="{BB962C8B-B14F-4D97-AF65-F5344CB8AC3E}">
        <p14:creationId xmlns:p14="http://schemas.microsoft.com/office/powerpoint/2010/main" val="269385344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Recursion</a:t>
            </a:r>
          </a:p>
        </p:txBody>
      </p:sp>
      <p:sp>
        <p:nvSpPr>
          <p:cNvPr id="3" name="Content Placeholder 2"/>
          <p:cNvSpPr>
            <a:spLocks noGrp="1"/>
          </p:cNvSpPr>
          <p:nvPr>
            <p:ph idx="1"/>
          </p:nvPr>
        </p:nvSpPr>
        <p:spPr/>
        <p:txBody>
          <a:bodyPr/>
          <a:lstStyle/>
          <a:p>
            <a:pPr algn="just">
              <a:lnSpc>
                <a:spcPct val="150000"/>
              </a:lnSpc>
            </a:pPr>
            <a:r>
              <a:rPr lang="en-US" dirty="0"/>
              <a:t>A function that calls itself is known as recursion.  </a:t>
            </a:r>
          </a:p>
          <a:p>
            <a:pPr algn="just">
              <a:lnSpc>
                <a:spcPct val="150000"/>
              </a:lnSpc>
            </a:pPr>
            <a:r>
              <a:rPr lang="en-US" dirty="0"/>
              <a:t>Recursion is a process by which a function calls itself repeatedly until some specified condition has been satisfied. </a:t>
            </a:r>
          </a:p>
        </p:txBody>
      </p:sp>
    </p:spTree>
    <p:extLst>
      <p:ext uri="{BB962C8B-B14F-4D97-AF65-F5344CB8AC3E}">
        <p14:creationId xmlns:p14="http://schemas.microsoft.com/office/powerpoint/2010/main" val="580511908"/>
      </p:ext>
    </p:extLst>
  </p:cSld>
  <p:clrMapOvr>
    <a:masterClrMapping/>
  </p:clrMapOvr>
  <mc:AlternateContent xmlns:mc="http://schemas.openxmlformats.org/markup-compatibility/2006" xmlns:p14="http://schemas.microsoft.com/office/powerpoint/2010/main">
    <mc:Choice Requires="p14">
      <p:transition spd="slow" p14:dur="2000" advTm="21090"/>
    </mc:Choice>
    <mc:Fallback xmlns="">
      <p:transition spd="slow" advTm="21090"/>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3501" y="718041"/>
            <a:ext cx="9823450" cy="5430967"/>
          </a:xfrm>
        </p:spPr>
        <p:txBody>
          <a:bodyPr>
            <a:normAutofit/>
          </a:bodyPr>
          <a:lstStyle/>
          <a:p>
            <a:pPr marL="0" indent="0">
              <a:buNone/>
            </a:pPr>
            <a:r>
              <a:rPr lang="en-US" b="1" dirty="0"/>
              <a:t>Algorithm for factorial of n numbers using recursion: </a:t>
            </a:r>
          </a:p>
          <a:p>
            <a:pPr marL="0" indent="0">
              <a:buNone/>
            </a:pPr>
            <a:r>
              <a:rPr lang="en-US" b="1" dirty="0"/>
              <a:t>Main function: </a:t>
            </a:r>
          </a:p>
          <a:p>
            <a:r>
              <a:rPr lang="en-US" dirty="0"/>
              <a:t>Step1: Start </a:t>
            </a:r>
          </a:p>
          <a:p>
            <a:r>
              <a:rPr lang="en-US" dirty="0"/>
              <a:t>Step2: Get n </a:t>
            </a:r>
          </a:p>
          <a:p>
            <a:r>
              <a:rPr lang="en-US" dirty="0"/>
              <a:t>Step3: call factorial(n) </a:t>
            </a:r>
          </a:p>
          <a:p>
            <a:r>
              <a:rPr lang="en-US" dirty="0"/>
              <a:t>Step4: print fact </a:t>
            </a:r>
          </a:p>
          <a:p>
            <a:r>
              <a:rPr lang="en-US" dirty="0"/>
              <a:t>Step5: Stop </a:t>
            </a:r>
          </a:p>
          <a:p>
            <a:pPr marL="0" indent="0">
              <a:buNone/>
            </a:pPr>
            <a:r>
              <a:rPr lang="en-US" b="1" dirty="0"/>
              <a:t>Sub function factorial(n): </a:t>
            </a:r>
          </a:p>
          <a:p>
            <a:r>
              <a:rPr lang="en-US" dirty="0"/>
              <a:t>Step1: if(n==1) then fact=1 return fact </a:t>
            </a:r>
          </a:p>
          <a:p>
            <a:r>
              <a:rPr lang="en-US" dirty="0"/>
              <a:t>Step2: else fact=n*factorial(n-1) and return fact</a:t>
            </a:r>
          </a:p>
        </p:txBody>
      </p:sp>
    </p:spTree>
    <p:extLst>
      <p:ext uri="{BB962C8B-B14F-4D97-AF65-F5344CB8AC3E}">
        <p14:creationId xmlns:p14="http://schemas.microsoft.com/office/powerpoint/2010/main" val="3220353310"/>
      </p:ext>
    </p:extLst>
  </p:cSld>
  <p:clrMapOvr>
    <a:masterClrMapping/>
  </p:clrMapOvr>
  <mc:AlternateContent xmlns:mc="http://schemas.openxmlformats.org/markup-compatibility/2006" xmlns:p14="http://schemas.microsoft.com/office/powerpoint/2010/main">
    <mc:Choice Requires="p14">
      <p:transition spd="slow" p14:dur="2000" advTm="123995"/>
    </mc:Choice>
    <mc:Fallback xmlns="">
      <p:transition spd="slow" advTm="123995"/>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15075E-3C8D-4880-99D7-1174AEA3D53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5AE8D627-86B3-4CEC-B203-14FE26F3E8B8}"/>
              </a:ext>
            </a:extLst>
          </p:cNvPr>
          <p:cNvSpPr>
            <a:spLocks noGrp="1"/>
          </p:cNvSpPr>
          <p:nvPr>
            <p:ph idx="1"/>
          </p:nvPr>
        </p:nvSpPr>
        <p:spPr/>
        <p:txBody>
          <a:bodyPr/>
          <a:lstStyle/>
          <a:p>
            <a:pPr marL="0" indent="0" algn="ctr">
              <a:buNone/>
            </a:pPr>
            <a:endParaRPr lang="en-US" sz="2800" dirty="0">
              <a:latin typeface="Times New Roman" panose="02020603050405020304" pitchFamily="18" charset="0"/>
              <a:cs typeface="Times New Roman" panose="02020603050405020304" pitchFamily="18" charset="0"/>
            </a:endParaRPr>
          </a:p>
          <a:p>
            <a:pPr marL="0" indent="0" algn="ctr">
              <a:buNone/>
            </a:pPr>
            <a:endParaRPr lang="en-US" dirty="0">
              <a:latin typeface="Times New Roman" panose="02020603050405020304" pitchFamily="18" charset="0"/>
              <a:cs typeface="Times New Roman" panose="02020603050405020304" pitchFamily="18" charset="0"/>
            </a:endParaRPr>
          </a:p>
          <a:p>
            <a:pPr marL="0" indent="0" algn="ctr">
              <a:buNone/>
            </a:pPr>
            <a:r>
              <a:rPr lang="en-US" sz="4000" dirty="0">
                <a:latin typeface="Times New Roman" panose="02020603050405020304" pitchFamily="18" charset="0"/>
                <a:cs typeface="Times New Roman" panose="02020603050405020304" pitchFamily="18" charset="0"/>
              </a:rPr>
              <a:t>Introduction to C Programming</a:t>
            </a:r>
            <a:endParaRPr lang="en-IN" sz="4000" dirty="0"/>
          </a:p>
        </p:txBody>
      </p:sp>
    </p:spTree>
    <p:extLst>
      <p:ext uri="{BB962C8B-B14F-4D97-AF65-F5344CB8AC3E}">
        <p14:creationId xmlns:p14="http://schemas.microsoft.com/office/powerpoint/2010/main" val="702915861"/>
      </p:ext>
    </p:extLst>
  </p:cSld>
  <p:clrMapOvr>
    <a:masterClrMapping/>
  </p:clrMapOvr>
  <mc:AlternateContent xmlns:mc="http://schemas.openxmlformats.org/markup-compatibility/2006" xmlns:p14="http://schemas.microsoft.com/office/powerpoint/2010/main">
    <mc:Choice Requires="p14">
      <p:transition spd="slow" p14:dur="2000" advTm="18610"/>
    </mc:Choice>
    <mc:Fallback xmlns="">
      <p:transition spd="slow" advTm="18610"/>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xmlns="" id="{28AAB65B-E117-4BBD-886A-338CA8ED0477}"/>
              </a:ext>
            </a:extLst>
          </p:cNvPr>
          <p:cNvSpPr txBox="1"/>
          <p:nvPr/>
        </p:nvSpPr>
        <p:spPr>
          <a:xfrm>
            <a:off x="1263304" y="1445744"/>
            <a:ext cx="10398813" cy="4401205"/>
          </a:xfrm>
          <a:prstGeom prst="rect">
            <a:avLst/>
          </a:prstGeom>
          <a:noFill/>
        </p:spPr>
        <p:txBody>
          <a:bodyPr wrap="square" lIns="91440" tIns="45720" rIns="91440" bIns="45720" rtlCol="0" anchor="t">
            <a:spAutoFit/>
          </a:bodyPr>
          <a:lstStyle/>
          <a:p>
            <a:r>
              <a:rPr lang="en-IN" sz="2800" dirty="0">
                <a:solidFill>
                  <a:srgbClr val="333333"/>
                </a:solidFill>
                <a:latin typeface="Montserrat"/>
              </a:rPr>
              <a:t>                ALGOL 1960      International Group</a:t>
            </a:r>
          </a:p>
          <a:p>
            <a:pPr marL="457200" indent="-457200">
              <a:buFont typeface="Arial" panose="020B0604020202020204" pitchFamily="34" charset="0"/>
              <a:buChar char="•"/>
            </a:pPr>
            <a:endParaRPr lang="en-IN" sz="2800" dirty="0">
              <a:solidFill>
                <a:srgbClr val="333333"/>
              </a:solidFill>
              <a:latin typeface="Montserrat"/>
            </a:endParaRPr>
          </a:p>
          <a:p>
            <a:r>
              <a:rPr lang="en-IN" sz="2800" dirty="0">
                <a:solidFill>
                  <a:srgbClr val="333333"/>
                </a:solidFill>
                <a:latin typeface="Montserrat"/>
              </a:rPr>
              <a:t>                       BCPL 1967 Martin Richards</a:t>
            </a:r>
          </a:p>
          <a:p>
            <a:endParaRPr lang="en-IN" sz="2800" dirty="0">
              <a:solidFill>
                <a:srgbClr val="333333"/>
              </a:solidFill>
              <a:latin typeface="Montserrat"/>
            </a:endParaRPr>
          </a:p>
          <a:p>
            <a:r>
              <a:rPr lang="en-IN" sz="2800" dirty="0">
                <a:solidFill>
                  <a:srgbClr val="333333"/>
                </a:solidFill>
                <a:latin typeface="Montserrat"/>
              </a:rPr>
              <a:t>                        B 1970       Ken Thompson</a:t>
            </a:r>
            <a:endParaRPr lang="en-IN" dirty="0"/>
          </a:p>
          <a:p>
            <a:endParaRPr lang="en-IN" sz="2800" dirty="0">
              <a:solidFill>
                <a:srgbClr val="333333"/>
              </a:solidFill>
              <a:latin typeface="Montserrat"/>
            </a:endParaRPr>
          </a:p>
          <a:p>
            <a:r>
              <a:rPr lang="en-IN" sz="2800" dirty="0">
                <a:solidFill>
                  <a:srgbClr val="333333"/>
                </a:solidFill>
                <a:latin typeface="Montserrat"/>
              </a:rPr>
              <a:t>                         C 1972      Dennis Ritchie</a:t>
            </a:r>
          </a:p>
          <a:p>
            <a:r>
              <a:rPr lang="en-IN" sz="2800" dirty="0">
                <a:solidFill>
                  <a:srgbClr val="333333"/>
                </a:solidFill>
                <a:latin typeface="Montserrat"/>
              </a:rPr>
              <a:t>    </a:t>
            </a:r>
          </a:p>
          <a:p>
            <a:endParaRPr lang="en-IN" sz="2800" dirty="0">
              <a:solidFill>
                <a:srgbClr val="333333"/>
              </a:solidFill>
              <a:latin typeface="Montserrat"/>
            </a:endParaRPr>
          </a:p>
          <a:p>
            <a:endParaRPr lang="en-IN" sz="2800" dirty="0">
              <a:solidFill>
                <a:srgbClr val="333333"/>
              </a:solidFill>
              <a:latin typeface="Montserrat"/>
            </a:endParaRPr>
          </a:p>
        </p:txBody>
      </p:sp>
      <p:sp>
        <p:nvSpPr>
          <p:cNvPr id="15" name="TextBox 14">
            <a:extLst>
              <a:ext uri="{FF2B5EF4-FFF2-40B4-BE49-F238E27FC236}">
                <a16:creationId xmlns:a16="http://schemas.microsoft.com/office/drawing/2014/main" xmlns="" id="{6842F316-10E3-439B-9704-52F63B3FD01C}"/>
              </a:ext>
            </a:extLst>
          </p:cNvPr>
          <p:cNvSpPr txBox="1"/>
          <p:nvPr/>
        </p:nvSpPr>
        <p:spPr>
          <a:xfrm>
            <a:off x="1970225" y="458173"/>
            <a:ext cx="8251549" cy="769441"/>
          </a:xfrm>
          <a:prstGeom prst="rect">
            <a:avLst/>
          </a:prstGeom>
          <a:noFill/>
        </p:spPr>
        <p:txBody>
          <a:bodyPr wrap="square" lIns="91440" tIns="45720" rIns="91440" bIns="45720" rtlCol="0" anchor="t">
            <a:spAutoFit/>
          </a:bodyPr>
          <a:lstStyle/>
          <a:p>
            <a:pPr algn="ctr"/>
            <a:r>
              <a:rPr lang="en-IN" sz="4400" dirty="0">
                <a:solidFill>
                  <a:srgbClr val="333333"/>
                </a:solidFill>
                <a:latin typeface="Montserrat"/>
              </a:rPr>
              <a:t>History of C</a:t>
            </a:r>
            <a:endParaRPr lang="en-US" dirty="0"/>
          </a:p>
        </p:txBody>
      </p:sp>
      <p:sp>
        <p:nvSpPr>
          <p:cNvPr id="5" name="Arrow: Down 4">
            <a:extLst>
              <a:ext uri="{FF2B5EF4-FFF2-40B4-BE49-F238E27FC236}">
                <a16:creationId xmlns:a16="http://schemas.microsoft.com/office/drawing/2014/main" xmlns="" id="{023B3859-0AED-4E33-9172-B71C2DA1E019}"/>
              </a:ext>
            </a:extLst>
          </p:cNvPr>
          <p:cNvSpPr/>
          <p:nvPr/>
        </p:nvSpPr>
        <p:spPr>
          <a:xfrm>
            <a:off x="3976278" y="1994387"/>
            <a:ext cx="387685" cy="34757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Down 5">
            <a:extLst>
              <a:ext uri="{FF2B5EF4-FFF2-40B4-BE49-F238E27FC236}">
                <a16:creationId xmlns:a16="http://schemas.microsoft.com/office/drawing/2014/main" xmlns="" id="{DD22BB90-08C0-4F59-A975-FC1AB0A019DF}"/>
              </a:ext>
            </a:extLst>
          </p:cNvPr>
          <p:cNvSpPr/>
          <p:nvPr/>
        </p:nvSpPr>
        <p:spPr>
          <a:xfrm>
            <a:off x="3969593" y="2832796"/>
            <a:ext cx="334211" cy="37431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Down 6">
            <a:extLst>
              <a:ext uri="{FF2B5EF4-FFF2-40B4-BE49-F238E27FC236}">
                <a16:creationId xmlns:a16="http://schemas.microsoft.com/office/drawing/2014/main" xmlns="" id="{825C8C13-EAFF-4CD0-9F01-092C747C857F}"/>
              </a:ext>
            </a:extLst>
          </p:cNvPr>
          <p:cNvSpPr/>
          <p:nvPr/>
        </p:nvSpPr>
        <p:spPr>
          <a:xfrm>
            <a:off x="4009699" y="3646346"/>
            <a:ext cx="320842" cy="3876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Down 10">
            <a:extLst>
              <a:ext uri="{FF2B5EF4-FFF2-40B4-BE49-F238E27FC236}">
                <a16:creationId xmlns:a16="http://schemas.microsoft.com/office/drawing/2014/main" xmlns="" id="{6D2F8993-21E8-4F9F-992C-702822B47DD4}"/>
              </a:ext>
            </a:extLst>
          </p:cNvPr>
          <p:cNvSpPr/>
          <p:nvPr/>
        </p:nvSpPr>
        <p:spPr>
          <a:xfrm>
            <a:off x="4032032" y="4520995"/>
            <a:ext cx="320842" cy="3876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lowchart: Connector 1">
            <a:extLst>
              <a:ext uri="{FF2B5EF4-FFF2-40B4-BE49-F238E27FC236}">
                <a16:creationId xmlns:a16="http://schemas.microsoft.com/office/drawing/2014/main" xmlns="" id="{C73E642F-35AA-445B-A84F-52D85C8EF2FB}"/>
              </a:ext>
            </a:extLst>
          </p:cNvPr>
          <p:cNvSpPr/>
          <p:nvPr/>
        </p:nvSpPr>
        <p:spPr>
          <a:xfrm>
            <a:off x="3976278" y="5109810"/>
            <a:ext cx="457200" cy="457200"/>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a:t>
            </a:r>
          </a:p>
        </p:txBody>
      </p:sp>
    </p:spTree>
    <p:extLst>
      <p:ext uri="{BB962C8B-B14F-4D97-AF65-F5344CB8AC3E}">
        <p14:creationId xmlns:p14="http://schemas.microsoft.com/office/powerpoint/2010/main" val="625717795"/>
      </p:ext>
    </p:extLst>
  </p:cSld>
  <p:clrMapOvr>
    <a:masterClrMapping/>
  </p:clrMapOvr>
  <mc:AlternateContent xmlns:mc="http://schemas.openxmlformats.org/markup-compatibility/2006" xmlns:p14="http://schemas.microsoft.com/office/powerpoint/2010/main">
    <mc:Choice Requires="p14">
      <p:transition spd="slow" p14:dur="2000" advTm="77786"/>
    </mc:Choice>
    <mc:Fallback xmlns="">
      <p:transition spd="slow" advTm="77786"/>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824465-93F0-43FE-B296-EBE3FEF59589}"/>
              </a:ext>
            </a:extLst>
          </p:cNvPr>
          <p:cNvSpPr>
            <a:spLocks noGrp="1"/>
          </p:cNvSpPr>
          <p:nvPr>
            <p:ph type="title"/>
          </p:nvPr>
        </p:nvSpPr>
        <p:spPr>
          <a:xfrm>
            <a:off x="1551432" y="365125"/>
            <a:ext cx="8753856" cy="830629"/>
          </a:xfrm>
        </p:spPr>
        <p:txBody>
          <a:bodyPr>
            <a:normAutofit fontScale="90000"/>
          </a:bodyPr>
          <a:lstStyle/>
          <a:p>
            <a:pPr algn="ctr"/>
            <a:r>
              <a:rPr lang="en-IN" sz="4400" dirty="0">
                <a:solidFill>
                  <a:srgbClr val="333333"/>
                </a:solidFill>
                <a:latin typeface="Montserrat"/>
              </a:rPr>
              <a:t>History of C --- contd..</a:t>
            </a:r>
            <a:r>
              <a:rPr lang="en-US" dirty="0"/>
              <a:t/>
            </a:r>
            <a:br>
              <a:rPr lang="en-US" dirty="0"/>
            </a:br>
            <a:endParaRPr lang="en-IN" dirty="0"/>
          </a:p>
        </p:txBody>
      </p:sp>
      <p:sp>
        <p:nvSpPr>
          <p:cNvPr id="3" name="Content Placeholder 2">
            <a:extLst>
              <a:ext uri="{FF2B5EF4-FFF2-40B4-BE49-F238E27FC236}">
                <a16:creationId xmlns:a16="http://schemas.microsoft.com/office/drawing/2014/main" xmlns="" id="{F28B8C9F-B40B-4AC0-B172-BC8D5DCE0E2F}"/>
              </a:ext>
            </a:extLst>
          </p:cNvPr>
          <p:cNvSpPr>
            <a:spLocks noGrp="1"/>
          </p:cNvSpPr>
          <p:nvPr>
            <p:ph idx="1"/>
          </p:nvPr>
        </p:nvSpPr>
        <p:spPr>
          <a:xfrm>
            <a:off x="1551432" y="970671"/>
            <a:ext cx="9823704" cy="5627077"/>
          </a:xfrm>
        </p:spPr>
        <p:style>
          <a:lnRef idx="2">
            <a:schemeClr val="accent6"/>
          </a:lnRef>
          <a:fillRef idx="1">
            <a:schemeClr val="lt1"/>
          </a:fillRef>
          <a:effectRef idx="0">
            <a:schemeClr val="accent6"/>
          </a:effectRef>
          <a:fontRef idx="minor">
            <a:schemeClr val="dk1"/>
          </a:fontRef>
        </p:style>
        <p:txBody>
          <a:bodyPr>
            <a:normAutofit/>
          </a:bodyPr>
          <a:lstStyle/>
          <a:p>
            <a:pPr marL="0" indent="0">
              <a:buNone/>
            </a:pPr>
            <a:r>
              <a:rPr lang="en-IN" sz="2800" dirty="0">
                <a:solidFill>
                  <a:srgbClr val="333333"/>
                </a:solidFill>
                <a:latin typeface="Montserrat"/>
              </a:rPr>
              <a:t>                   </a:t>
            </a:r>
          </a:p>
          <a:p>
            <a:pPr marL="0" indent="0">
              <a:buNone/>
            </a:pPr>
            <a:endParaRPr lang="en-IN" sz="2800" dirty="0">
              <a:solidFill>
                <a:srgbClr val="333333"/>
              </a:solidFill>
              <a:latin typeface="Montserrat"/>
            </a:endParaRPr>
          </a:p>
          <a:p>
            <a:pPr marL="0" indent="0">
              <a:buNone/>
            </a:pPr>
            <a:endParaRPr lang="en-IN" dirty="0"/>
          </a:p>
          <a:p>
            <a:pPr marL="0" indent="0">
              <a:buNone/>
            </a:pPr>
            <a:r>
              <a:rPr lang="en-IN" sz="2800" dirty="0">
                <a:solidFill>
                  <a:srgbClr val="333333"/>
                </a:solidFill>
                <a:latin typeface="Montserrat"/>
              </a:rPr>
              <a:t>                     K&amp;R C 1978   Kernighan &amp; Ritchie</a:t>
            </a:r>
          </a:p>
          <a:p>
            <a:pPr marL="0" indent="0">
              <a:buNone/>
            </a:pPr>
            <a:r>
              <a:rPr lang="en-IN" sz="2800" dirty="0">
                <a:solidFill>
                  <a:srgbClr val="333333"/>
                </a:solidFill>
                <a:latin typeface="Montserrat"/>
              </a:rPr>
              <a:t>        </a:t>
            </a:r>
          </a:p>
          <a:p>
            <a:pPr marL="0" indent="0">
              <a:buNone/>
            </a:pPr>
            <a:r>
              <a:rPr lang="en-IN" sz="2800" dirty="0">
                <a:ea typeface="+mn-lt"/>
                <a:cs typeface="+mn-lt"/>
              </a:rPr>
              <a:t>                        ANSI C 1989   ANSI committee</a:t>
            </a:r>
          </a:p>
          <a:p>
            <a:pPr marL="0" indent="0">
              <a:buNone/>
            </a:pPr>
            <a:r>
              <a:rPr lang="en-IN" dirty="0">
                <a:ea typeface="+mn-lt"/>
                <a:cs typeface="+mn-lt"/>
              </a:rPr>
              <a:t>                        (</a:t>
            </a:r>
            <a:r>
              <a:rPr lang="en-IN" sz="2800" dirty="0">
                <a:solidFill>
                  <a:srgbClr val="333333"/>
                </a:solidFill>
                <a:latin typeface="Montserrat"/>
              </a:rPr>
              <a:t>American National Standards Institute)</a:t>
            </a:r>
          </a:p>
          <a:p>
            <a:pPr marL="0" indent="0">
              <a:buNone/>
            </a:pPr>
            <a:r>
              <a:rPr lang="en-IN" sz="2800" dirty="0">
                <a:ea typeface="+mn-lt"/>
                <a:cs typeface="+mn-lt"/>
              </a:rPr>
              <a:t>  </a:t>
            </a:r>
          </a:p>
          <a:p>
            <a:pPr marL="0" indent="0">
              <a:buNone/>
            </a:pPr>
            <a:r>
              <a:rPr lang="en-IN" sz="2800" dirty="0">
                <a:ea typeface="+mn-lt"/>
                <a:cs typeface="+mn-lt"/>
              </a:rPr>
              <a:t>                         ANSI/ISO C 1990   ISO committee</a:t>
            </a:r>
          </a:p>
          <a:p>
            <a:pPr marL="0" indent="0">
              <a:buNone/>
            </a:pPr>
            <a:r>
              <a:rPr lang="en-IN" dirty="0">
                <a:ea typeface="+mn-lt"/>
                <a:cs typeface="+mn-lt"/>
              </a:rPr>
              <a:t>                         (International Standards Organization)</a:t>
            </a:r>
            <a:endParaRPr lang="en-IN" dirty="0"/>
          </a:p>
        </p:txBody>
      </p:sp>
      <p:sp>
        <p:nvSpPr>
          <p:cNvPr id="5" name="Arrow: Down 4">
            <a:extLst>
              <a:ext uri="{FF2B5EF4-FFF2-40B4-BE49-F238E27FC236}">
                <a16:creationId xmlns:a16="http://schemas.microsoft.com/office/drawing/2014/main" xmlns="" id="{1BE9E953-7519-4EE6-912A-8F8B74620836}"/>
              </a:ext>
            </a:extLst>
          </p:cNvPr>
          <p:cNvSpPr/>
          <p:nvPr/>
        </p:nvSpPr>
        <p:spPr>
          <a:xfrm>
            <a:off x="4710238" y="2971556"/>
            <a:ext cx="320842" cy="3876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Down 6">
            <a:extLst>
              <a:ext uri="{FF2B5EF4-FFF2-40B4-BE49-F238E27FC236}">
                <a16:creationId xmlns:a16="http://schemas.microsoft.com/office/drawing/2014/main" xmlns="" id="{05CE728C-D355-4F3C-A565-CF7783BE02F9}"/>
              </a:ext>
            </a:extLst>
          </p:cNvPr>
          <p:cNvSpPr/>
          <p:nvPr/>
        </p:nvSpPr>
        <p:spPr>
          <a:xfrm>
            <a:off x="4710238" y="4590810"/>
            <a:ext cx="320842" cy="3876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 name="Flowchart: Connector 7">
            <a:extLst>
              <a:ext uri="{FF2B5EF4-FFF2-40B4-BE49-F238E27FC236}">
                <a16:creationId xmlns:a16="http://schemas.microsoft.com/office/drawing/2014/main" xmlns="" id="{003ED7F4-A4E6-4CA9-8776-D688B9CDD4A6}"/>
              </a:ext>
            </a:extLst>
          </p:cNvPr>
          <p:cNvSpPr/>
          <p:nvPr/>
        </p:nvSpPr>
        <p:spPr>
          <a:xfrm>
            <a:off x="4710238" y="1195754"/>
            <a:ext cx="457200" cy="457200"/>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a:t>
            </a:r>
          </a:p>
        </p:txBody>
      </p:sp>
      <p:sp>
        <p:nvSpPr>
          <p:cNvPr id="10" name="Arrow: Down 9">
            <a:extLst>
              <a:ext uri="{FF2B5EF4-FFF2-40B4-BE49-F238E27FC236}">
                <a16:creationId xmlns:a16="http://schemas.microsoft.com/office/drawing/2014/main" xmlns="" id="{3BCD5504-CE7A-497D-9BCD-194010F592A9}"/>
              </a:ext>
            </a:extLst>
          </p:cNvPr>
          <p:cNvSpPr/>
          <p:nvPr/>
        </p:nvSpPr>
        <p:spPr>
          <a:xfrm flipH="1">
            <a:off x="4710238" y="1883091"/>
            <a:ext cx="389020" cy="3876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4868575"/>
      </p:ext>
    </p:extLst>
  </p:cSld>
  <p:clrMapOvr>
    <a:masterClrMapping/>
  </p:clrMapOvr>
  <mc:AlternateContent xmlns:mc="http://schemas.openxmlformats.org/markup-compatibility/2006" xmlns:p14="http://schemas.microsoft.com/office/powerpoint/2010/main">
    <mc:Choice Requires="p14">
      <p:transition spd="slow" p14:dur="2000" advTm="35256"/>
    </mc:Choice>
    <mc:Fallback xmlns="">
      <p:transition spd="slow" advTm="35256"/>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285C74-4D44-445B-A12A-004365F96D79}"/>
              </a:ext>
            </a:extLst>
          </p:cNvPr>
          <p:cNvSpPr>
            <a:spLocks noGrp="1"/>
          </p:cNvSpPr>
          <p:nvPr>
            <p:ph type="title"/>
          </p:nvPr>
        </p:nvSpPr>
        <p:spPr/>
        <p:txBody>
          <a:bodyPr/>
          <a:lstStyle/>
          <a:p>
            <a:pPr algn="ctr"/>
            <a:r>
              <a:rPr lang="en-IN" dirty="0"/>
              <a:t>WHY LEARN C?</a:t>
            </a:r>
          </a:p>
        </p:txBody>
      </p:sp>
      <p:sp>
        <p:nvSpPr>
          <p:cNvPr id="3" name="Content Placeholder 2">
            <a:extLst>
              <a:ext uri="{FF2B5EF4-FFF2-40B4-BE49-F238E27FC236}">
                <a16:creationId xmlns:a16="http://schemas.microsoft.com/office/drawing/2014/main" xmlns="" id="{E02778B8-282E-4C73-B97D-9871BB706AC0}"/>
              </a:ext>
            </a:extLst>
          </p:cNvPr>
          <p:cNvSpPr>
            <a:spLocks noGrp="1"/>
          </p:cNvSpPr>
          <p:nvPr>
            <p:ph idx="1"/>
          </p:nvPr>
        </p:nvSpPr>
        <p:spPr/>
        <p:txBody>
          <a:bodyPr/>
          <a:lstStyle/>
          <a:p>
            <a:pPr algn="just">
              <a:defRPr/>
            </a:pPr>
            <a:r>
              <a:rPr lang="en-US" sz="3200" b="1" dirty="0">
                <a:latin typeface="Times New Roman" panose="02020603050405020304" pitchFamily="18" charset="0"/>
                <a:cs typeface="Times New Roman" panose="02020603050405020304" pitchFamily="18" charset="0"/>
              </a:rPr>
              <a:t>C is easy to learn</a:t>
            </a:r>
            <a:endParaRPr lang="en-IN" sz="3200" dirty="0">
              <a:latin typeface="Times New Roman" panose="02020603050405020304" pitchFamily="18" charset="0"/>
              <a:cs typeface="Times New Roman" panose="02020603050405020304" pitchFamily="18" charset="0"/>
            </a:endParaRPr>
          </a:p>
          <a:p>
            <a:pPr algn="just">
              <a:defRPr/>
            </a:pPr>
            <a:r>
              <a:rPr lang="en-US" sz="3200" b="1" dirty="0">
                <a:latin typeface="Times New Roman" panose="02020603050405020304" pitchFamily="18" charset="0"/>
                <a:cs typeface="Times New Roman" panose="02020603050405020304" pitchFamily="18" charset="0"/>
              </a:rPr>
              <a:t>C is portable</a:t>
            </a:r>
          </a:p>
          <a:p>
            <a:pPr algn="just">
              <a:defRPr/>
            </a:pPr>
            <a:r>
              <a:rPr lang="en-US" sz="3200" b="1" dirty="0">
                <a:latin typeface="Times New Roman" panose="02020603050405020304" pitchFamily="18" charset="0"/>
                <a:cs typeface="Times New Roman" panose="02020603050405020304" pitchFamily="18" charset="0"/>
              </a:rPr>
              <a:t>C is middle level language</a:t>
            </a:r>
          </a:p>
          <a:p>
            <a:endParaRPr lang="en-IN" dirty="0"/>
          </a:p>
        </p:txBody>
      </p:sp>
    </p:spTree>
    <p:extLst>
      <p:ext uri="{BB962C8B-B14F-4D97-AF65-F5344CB8AC3E}">
        <p14:creationId xmlns:p14="http://schemas.microsoft.com/office/powerpoint/2010/main" val="3113465774"/>
      </p:ext>
    </p:extLst>
  </p:cSld>
  <p:clrMapOvr>
    <a:masterClrMapping/>
  </p:clrMapOvr>
  <mc:AlternateContent xmlns:mc="http://schemas.openxmlformats.org/markup-compatibility/2006" xmlns:p14="http://schemas.microsoft.com/office/powerpoint/2010/main">
    <mc:Choice Requires="p14">
      <p:transition spd="slow" p14:dur="2000" advTm="51688"/>
    </mc:Choice>
    <mc:Fallback xmlns="">
      <p:transition spd="slow" advTm="51688"/>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2A4DFC-DFC1-4986-9889-62485D8B064A}"/>
              </a:ext>
            </a:extLst>
          </p:cNvPr>
          <p:cNvSpPr>
            <a:spLocks noGrp="1"/>
          </p:cNvSpPr>
          <p:nvPr>
            <p:ph type="title"/>
          </p:nvPr>
        </p:nvSpPr>
        <p:spPr>
          <a:xfrm>
            <a:off x="1551431" y="365125"/>
            <a:ext cx="9953383" cy="1031413"/>
          </a:xfrm>
        </p:spPr>
        <p:txBody>
          <a:bodyPr/>
          <a:lstStyle/>
          <a:p>
            <a:pPr algn="ctr"/>
            <a:r>
              <a:rPr lang="en-IN" dirty="0"/>
              <a:t>DEVELOPING PROGRAMS IN C</a:t>
            </a:r>
          </a:p>
        </p:txBody>
      </p:sp>
      <p:pic>
        <p:nvPicPr>
          <p:cNvPr id="4" name="Content Placeholder 3">
            <a:extLst>
              <a:ext uri="{FF2B5EF4-FFF2-40B4-BE49-F238E27FC236}">
                <a16:creationId xmlns:a16="http://schemas.microsoft.com/office/drawing/2014/main" xmlns="" id="{95A2592F-214C-4A4C-AEBA-6A8FFCAD55AC}"/>
              </a:ext>
            </a:extLst>
          </p:cNvPr>
          <p:cNvPicPr>
            <a:picLocks noGrp="1" noChangeAspect="1"/>
          </p:cNvPicPr>
          <p:nvPr>
            <p:ph idx="1"/>
          </p:nvPr>
        </p:nvPicPr>
        <p:blipFill>
          <a:blip r:embed="rId2"/>
          <a:stretch>
            <a:fillRect/>
          </a:stretch>
        </p:blipFill>
        <p:spPr>
          <a:xfrm>
            <a:off x="1928553" y="1396538"/>
            <a:ext cx="10169513" cy="5096337"/>
          </a:xfrm>
          <a:prstGeom prst="rect">
            <a:avLst/>
          </a:prstGeom>
        </p:spPr>
      </p:pic>
    </p:spTree>
    <p:extLst>
      <p:ext uri="{BB962C8B-B14F-4D97-AF65-F5344CB8AC3E}">
        <p14:creationId xmlns:p14="http://schemas.microsoft.com/office/powerpoint/2010/main" val="830944770"/>
      </p:ext>
    </p:extLst>
  </p:cSld>
  <p:clrMapOvr>
    <a:masterClrMapping/>
  </p:clrMapOvr>
  <mc:AlternateContent xmlns:mc="http://schemas.openxmlformats.org/markup-compatibility/2006" xmlns:p14="http://schemas.microsoft.com/office/powerpoint/2010/main">
    <mc:Choice Requires="p14">
      <p:transition spd="slow" p14:dur="2000" advTm="67708"/>
    </mc:Choice>
    <mc:Fallback xmlns="">
      <p:transition spd="slow" advTm="67708"/>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551CF4C-B670-4C65-A422-BB54B750F037}"/>
              </a:ext>
            </a:extLst>
          </p:cNvPr>
          <p:cNvSpPr>
            <a:spLocks noGrp="1"/>
          </p:cNvSpPr>
          <p:nvPr>
            <p:ph type="title"/>
          </p:nvPr>
        </p:nvSpPr>
        <p:spPr>
          <a:xfrm>
            <a:off x="1551432" y="365126"/>
            <a:ext cx="10019884" cy="748780"/>
          </a:xfrm>
        </p:spPr>
        <p:txBody>
          <a:bodyPr/>
          <a:lstStyle/>
          <a:p>
            <a:pPr algn="ctr"/>
            <a:r>
              <a:rPr lang="en-US" dirty="0"/>
              <a:t>STRUCTURE : C PROGRAM</a:t>
            </a:r>
            <a:endParaRPr lang="en-IN" dirty="0"/>
          </a:p>
        </p:txBody>
      </p:sp>
      <p:pic>
        <p:nvPicPr>
          <p:cNvPr id="4" name="Content Placeholder 3">
            <a:extLst>
              <a:ext uri="{FF2B5EF4-FFF2-40B4-BE49-F238E27FC236}">
                <a16:creationId xmlns:a16="http://schemas.microsoft.com/office/drawing/2014/main" xmlns="" id="{9F781842-A7D2-4E73-AB09-BED9D137909F}"/>
              </a:ext>
            </a:extLst>
          </p:cNvPr>
          <p:cNvPicPr>
            <a:picLocks noGrp="1" noChangeAspect="1"/>
          </p:cNvPicPr>
          <p:nvPr>
            <p:ph idx="1"/>
          </p:nvPr>
        </p:nvPicPr>
        <p:blipFill>
          <a:blip r:embed="rId2"/>
          <a:stretch>
            <a:fillRect/>
          </a:stretch>
        </p:blipFill>
        <p:spPr>
          <a:xfrm>
            <a:off x="1795549" y="1113906"/>
            <a:ext cx="9775767" cy="5079683"/>
          </a:xfrm>
          <a:prstGeom prst="rect">
            <a:avLst/>
          </a:prstGeom>
        </p:spPr>
      </p:pic>
    </p:spTree>
    <p:extLst>
      <p:ext uri="{BB962C8B-B14F-4D97-AF65-F5344CB8AC3E}">
        <p14:creationId xmlns:p14="http://schemas.microsoft.com/office/powerpoint/2010/main" val="3334314611"/>
      </p:ext>
    </p:extLst>
  </p:cSld>
  <p:clrMapOvr>
    <a:masterClrMapping/>
  </p:clrMapOvr>
  <mc:AlternateContent xmlns:mc="http://schemas.openxmlformats.org/markup-compatibility/2006" xmlns:p14="http://schemas.microsoft.com/office/powerpoint/2010/main">
    <mc:Choice Requires="p14">
      <p:transition spd="slow" p14:dur="2000" advTm="52056"/>
    </mc:Choice>
    <mc:Fallback xmlns="">
      <p:transition spd="slow" advTm="52056"/>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60C9DF-8ED2-4871-9B87-0A5F296B121A}"/>
              </a:ext>
            </a:extLst>
          </p:cNvPr>
          <p:cNvSpPr>
            <a:spLocks noGrp="1"/>
          </p:cNvSpPr>
          <p:nvPr>
            <p:ph type="title"/>
          </p:nvPr>
        </p:nvSpPr>
        <p:spPr>
          <a:xfrm>
            <a:off x="1551431" y="365125"/>
            <a:ext cx="10252641" cy="732155"/>
          </a:xfrm>
        </p:spPr>
        <p:txBody>
          <a:bodyPr>
            <a:normAutofit/>
          </a:bodyPr>
          <a:lstStyle/>
          <a:p>
            <a:pPr algn="ctr"/>
            <a:r>
              <a:rPr lang="en-US" sz="4000" dirty="0"/>
              <a:t>ILLUSTRATED VERSION OF A PROGRAM </a:t>
            </a:r>
            <a:endParaRPr lang="en-IN" sz="4000" dirty="0"/>
          </a:p>
        </p:txBody>
      </p:sp>
      <p:pic>
        <p:nvPicPr>
          <p:cNvPr id="4" name="Content Placeholder 3">
            <a:extLst>
              <a:ext uri="{FF2B5EF4-FFF2-40B4-BE49-F238E27FC236}">
                <a16:creationId xmlns:a16="http://schemas.microsoft.com/office/drawing/2014/main" xmlns="" id="{0ACE6888-531F-46B9-AB8F-C9A5D2C83632}"/>
              </a:ext>
            </a:extLst>
          </p:cNvPr>
          <p:cNvPicPr>
            <a:picLocks noGrp="1" noChangeAspect="1"/>
          </p:cNvPicPr>
          <p:nvPr>
            <p:ph idx="1"/>
          </p:nvPr>
        </p:nvPicPr>
        <p:blipFill>
          <a:blip r:embed="rId2"/>
          <a:stretch>
            <a:fillRect/>
          </a:stretch>
        </p:blipFill>
        <p:spPr>
          <a:xfrm>
            <a:off x="277524" y="1136356"/>
            <a:ext cx="10252640" cy="5395595"/>
          </a:xfrm>
          <a:prstGeom prst="rect">
            <a:avLst/>
          </a:prstGeom>
        </p:spPr>
      </p:pic>
    </p:spTree>
    <p:extLst>
      <p:ext uri="{BB962C8B-B14F-4D97-AF65-F5344CB8AC3E}">
        <p14:creationId xmlns:p14="http://schemas.microsoft.com/office/powerpoint/2010/main" val="621286989"/>
      </p:ext>
    </p:extLst>
  </p:cSld>
  <p:clrMapOvr>
    <a:masterClrMapping/>
  </p:clrMapOvr>
  <mc:AlternateContent xmlns:mc="http://schemas.openxmlformats.org/markup-compatibility/2006" xmlns:p14="http://schemas.microsoft.com/office/powerpoint/2010/main">
    <mc:Choice Requires="p14">
      <p:transition spd="slow" p14:dur="2000" advTm="143975"/>
    </mc:Choice>
    <mc:Fallback xmlns="">
      <p:transition spd="slow" advTm="143975"/>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DDE611-D195-4EFE-BA92-B1E37DEA6640}"/>
              </a:ext>
            </a:extLst>
          </p:cNvPr>
          <p:cNvSpPr>
            <a:spLocks noGrp="1"/>
          </p:cNvSpPr>
          <p:nvPr>
            <p:ph type="title"/>
          </p:nvPr>
        </p:nvSpPr>
        <p:spPr>
          <a:xfrm>
            <a:off x="1551432" y="365125"/>
            <a:ext cx="10086386" cy="1325563"/>
          </a:xfrm>
        </p:spPr>
        <p:txBody>
          <a:bodyPr/>
          <a:lstStyle/>
          <a:p>
            <a:pPr algn="ctr"/>
            <a:r>
              <a:rPr lang="en-US" dirty="0"/>
              <a:t>VARIABLES</a:t>
            </a:r>
            <a:endParaRPr lang="en-IN" dirty="0"/>
          </a:p>
        </p:txBody>
      </p:sp>
      <p:sp>
        <p:nvSpPr>
          <p:cNvPr id="3" name="Content Placeholder 2">
            <a:extLst>
              <a:ext uri="{FF2B5EF4-FFF2-40B4-BE49-F238E27FC236}">
                <a16:creationId xmlns:a16="http://schemas.microsoft.com/office/drawing/2014/main" xmlns="" id="{47E6E078-EF16-4A54-89E6-100F5E1037F8}"/>
              </a:ext>
            </a:extLst>
          </p:cNvPr>
          <p:cNvSpPr>
            <a:spLocks noGrp="1"/>
          </p:cNvSpPr>
          <p:nvPr>
            <p:ph idx="1"/>
          </p:nvPr>
        </p:nvSpPr>
        <p:spPr>
          <a:xfrm>
            <a:off x="1551431" y="1562793"/>
            <a:ext cx="10236015" cy="4614170"/>
          </a:xfrm>
        </p:spPr>
        <p:txBody>
          <a:bodyPr>
            <a:normAutofit lnSpcReduction="10000"/>
          </a:bodyPr>
          <a:lstStyle/>
          <a:p>
            <a:pPr algn="just" eaLnBrk="1" hangingPunct="1">
              <a:defRPr/>
            </a:pPr>
            <a:r>
              <a:rPr lang="en-IN" sz="3200" b="1" dirty="0">
                <a:latin typeface="Times New Roman" panose="02020603050405020304" pitchFamily="18" charset="0"/>
                <a:cs typeface="Times New Roman" panose="02020603050405020304" pitchFamily="18" charset="0"/>
              </a:rPr>
              <a:t>A variable is a container(storage area) to hold data.</a:t>
            </a:r>
          </a:p>
          <a:p>
            <a:pPr algn="just" eaLnBrk="1" hangingPunct="1">
              <a:defRPr/>
            </a:pPr>
            <a:r>
              <a:rPr lang="en-IN" sz="3200" b="1" dirty="0">
                <a:latin typeface="Times New Roman" panose="02020603050405020304" pitchFamily="18" charset="0"/>
                <a:cs typeface="Times New Roman" panose="02020603050405020304" pitchFamily="18" charset="0"/>
              </a:rPr>
              <a:t>All variables have three important attributes</a:t>
            </a:r>
            <a:r>
              <a:rPr lang="en-IN" sz="3200" dirty="0">
                <a:latin typeface="Times New Roman" panose="02020603050405020304" pitchFamily="18" charset="0"/>
                <a:cs typeface="Times New Roman" panose="02020603050405020304" pitchFamily="18" charset="0"/>
              </a:rPr>
              <a:t>:</a:t>
            </a:r>
          </a:p>
          <a:p>
            <a:pPr lvl="1" algn="just" eaLnBrk="1" hangingPunct="1">
              <a:buFont typeface="Wingdings" panose="05000000000000000000" pitchFamily="2" charset="2"/>
              <a:buChar char="Ø"/>
              <a:defRPr/>
            </a:pPr>
            <a:r>
              <a:rPr lang="en-IN" sz="3200" b="1" dirty="0">
                <a:latin typeface="Times New Roman" panose="02020603050405020304" pitchFamily="18" charset="0"/>
                <a:cs typeface="Times New Roman" panose="02020603050405020304" pitchFamily="18" charset="0"/>
              </a:rPr>
              <a:t>data type </a:t>
            </a:r>
          </a:p>
          <a:p>
            <a:pPr lvl="1" algn="just" eaLnBrk="1" hangingPunct="1">
              <a:buFont typeface="Wingdings" panose="05000000000000000000" pitchFamily="2" charset="2"/>
              <a:buChar char="Ø"/>
              <a:defRPr/>
            </a:pPr>
            <a:r>
              <a:rPr lang="en-IN" sz="3200" b="1" dirty="0">
                <a:latin typeface="Times New Roman" panose="02020603050405020304" pitchFamily="18" charset="0"/>
                <a:cs typeface="Times New Roman" panose="02020603050405020304" pitchFamily="18" charset="0"/>
              </a:rPr>
              <a:t>name</a:t>
            </a:r>
            <a:endParaRPr lang="en-IN" sz="3200" dirty="0">
              <a:latin typeface="Times New Roman" panose="02020603050405020304" pitchFamily="18" charset="0"/>
              <a:cs typeface="Times New Roman" panose="02020603050405020304" pitchFamily="18" charset="0"/>
            </a:endParaRPr>
          </a:p>
          <a:p>
            <a:pPr lvl="1" algn="just" eaLnBrk="1" hangingPunct="1">
              <a:buFont typeface="Wingdings" panose="05000000000000000000" pitchFamily="2" charset="2"/>
              <a:buChar char="Ø"/>
              <a:defRPr/>
            </a:pPr>
            <a:r>
              <a:rPr lang="en-IN" sz="3200" b="1" dirty="0">
                <a:latin typeface="Times New Roman" panose="02020603050405020304" pitchFamily="18" charset="0"/>
                <a:cs typeface="Times New Roman" panose="02020603050405020304" pitchFamily="18" charset="0"/>
              </a:rPr>
              <a:t>value</a:t>
            </a:r>
            <a:r>
              <a:rPr lang="en-IN" sz="3200" dirty="0">
                <a:latin typeface="Times New Roman" panose="02020603050405020304" pitchFamily="18" charset="0"/>
                <a:cs typeface="Times New Roman" panose="02020603050405020304" pitchFamily="18" charset="0"/>
              </a:rPr>
              <a:t> </a:t>
            </a:r>
          </a:p>
          <a:p>
            <a:pPr marL="457200" lvl="1" indent="0" algn="just" eaLnBrk="1" hangingPunct="1">
              <a:buNone/>
              <a:defRPr/>
            </a:pPr>
            <a:r>
              <a:rPr lang="en-IN" sz="3200" dirty="0" err="1">
                <a:latin typeface="Times New Roman" panose="02020603050405020304" pitchFamily="18" charset="0"/>
                <a:cs typeface="Times New Roman" panose="02020603050405020304" pitchFamily="18" charset="0"/>
              </a:rPr>
              <a:t>Eg</a:t>
            </a:r>
            <a:r>
              <a:rPr lang="en-IN" sz="3200" dirty="0">
                <a:latin typeface="Times New Roman" panose="02020603050405020304" pitchFamily="18" charset="0"/>
                <a:cs typeface="Times New Roman" panose="02020603050405020304" pitchFamily="18" charset="0"/>
              </a:rPr>
              <a:t>: int a = 10;</a:t>
            </a:r>
          </a:p>
          <a:p>
            <a:pPr marL="457200" lvl="1" indent="0" algn="just" eaLnBrk="1" hangingPunct="1">
              <a:buNone/>
              <a:defRPr/>
            </a:pPr>
            <a:r>
              <a:rPr lang="en-IN" sz="3200" dirty="0">
                <a:latin typeface="Times New Roman" panose="02020603050405020304" pitchFamily="18" charset="0"/>
                <a:cs typeface="Times New Roman" panose="02020603050405020304" pitchFamily="18" charset="0"/>
              </a:rPr>
              <a:t>       float b = 2.5;</a:t>
            </a:r>
          </a:p>
          <a:p>
            <a:pPr marL="457200" lvl="1" indent="0" algn="just" eaLnBrk="1" hangingPunct="1">
              <a:buNone/>
              <a:defRPr/>
            </a:pPr>
            <a:r>
              <a:rPr lang="en-IN" sz="3200" dirty="0">
                <a:latin typeface="Times New Roman" panose="02020603050405020304" pitchFamily="18" charset="0"/>
                <a:cs typeface="Times New Roman" panose="02020603050405020304" pitchFamily="18" charset="0"/>
              </a:rPr>
              <a:t>       char c = ‘f’;</a:t>
            </a:r>
            <a:endParaRPr lang="en-IN" dirty="0"/>
          </a:p>
        </p:txBody>
      </p:sp>
    </p:spTree>
    <p:extLst>
      <p:ext uri="{BB962C8B-B14F-4D97-AF65-F5344CB8AC3E}">
        <p14:creationId xmlns:p14="http://schemas.microsoft.com/office/powerpoint/2010/main" val="2673882752"/>
      </p:ext>
    </p:extLst>
  </p:cSld>
  <p:clrMapOvr>
    <a:masterClrMapping/>
  </p:clrMapOvr>
  <mc:AlternateContent xmlns:mc="http://schemas.openxmlformats.org/markup-compatibility/2006" xmlns:p14="http://schemas.microsoft.com/office/powerpoint/2010/main">
    <mc:Choice Requires="p14">
      <p:transition spd="slow" p14:dur="2000" advTm="66843"/>
    </mc:Choice>
    <mc:Fallback xmlns="">
      <p:transition spd="slow" advTm="66843"/>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268171-DC0F-4ECB-85B1-807D1A8A33D2}"/>
              </a:ext>
            </a:extLst>
          </p:cNvPr>
          <p:cNvSpPr>
            <a:spLocks noGrp="1"/>
          </p:cNvSpPr>
          <p:nvPr>
            <p:ph type="title"/>
          </p:nvPr>
        </p:nvSpPr>
        <p:spPr/>
        <p:txBody>
          <a:bodyPr/>
          <a:lstStyle/>
          <a:p>
            <a:pPr algn="ctr"/>
            <a:r>
              <a:rPr lang="en-US" dirty="0"/>
              <a:t>CLASSIFICATION :DATA TYPE</a:t>
            </a:r>
            <a:endParaRPr lang="en-IN" dirty="0"/>
          </a:p>
        </p:txBody>
      </p:sp>
      <p:pic>
        <p:nvPicPr>
          <p:cNvPr id="4" name="Picture 2">
            <a:extLst>
              <a:ext uri="{FF2B5EF4-FFF2-40B4-BE49-F238E27FC236}">
                <a16:creationId xmlns:a16="http://schemas.microsoft.com/office/drawing/2014/main" xmlns="" id="{8225EA45-3996-462B-9283-2988748CC65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55863" y="1406226"/>
            <a:ext cx="10202764" cy="3076821"/>
          </a:xfrm>
        </p:spPr>
      </p:pic>
      <p:pic>
        <p:nvPicPr>
          <p:cNvPr id="5" name="Picture 4">
            <a:extLst>
              <a:ext uri="{FF2B5EF4-FFF2-40B4-BE49-F238E27FC236}">
                <a16:creationId xmlns:a16="http://schemas.microsoft.com/office/drawing/2014/main" xmlns="" id="{C46C54E4-AF07-4B2D-8278-DAF8BDAFFA22}"/>
              </a:ext>
            </a:extLst>
          </p:cNvPr>
          <p:cNvPicPr>
            <a:picLocks noChangeAspect="1"/>
          </p:cNvPicPr>
          <p:nvPr/>
        </p:nvPicPr>
        <p:blipFill>
          <a:blip r:embed="rId3"/>
          <a:stretch>
            <a:fillRect/>
          </a:stretch>
        </p:blipFill>
        <p:spPr>
          <a:xfrm>
            <a:off x="1986741" y="4769513"/>
            <a:ext cx="9426633" cy="1286367"/>
          </a:xfrm>
          <a:prstGeom prst="rect">
            <a:avLst/>
          </a:prstGeom>
        </p:spPr>
      </p:pic>
    </p:spTree>
    <p:extLst>
      <p:ext uri="{BB962C8B-B14F-4D97-AF65-F5344CB8AC3E}">
        <p14:creationId xmlns:p14="http://schemas.microsoft.com/office/powerpoint/2010/main" val="1463696280"/>
      </p:ext>
    </p:extLst>
  </p:cSld>
  <p:clrMapOvr>
    <a:masterClrMapping/>
  </p:clrMapOvr>
  <mc:AlternateContent xmlns:mc="http://schemas.openxmlformats.org/markup-compatibility/2006" xmlns:p14="http://schemas.microsoft.com/office/powerpoint/2010/main">
    <mc:Choice Requires="p14">
      <p:transition spd="slow" p14:dur="2000" advTm="41694"/>
    </mc:Choice>
    <mc:Fallback xmlns="">
      <p:transition spd="slow" advTm="41694"/>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7F4468-75ED-4C86-85D2-B3149FB61C7F}"/>
              </a:ext>
            </a:extLst>
          </p:cNvPr>
          <p:cNvSpPr>
            <a:spLocks noGrp="1"/>
          </p:cNvSpPr>
          <p:nvPr>
            <p:ph type="title"/>
          </p:nvPr>
        </p:nvSpPr>
        <p:spPr>
          <a:xfrm>
            <a:off x="1551431" y="365126"/>
            <a:ext cx="10236015" cy="715530"/>
          </a:xfrm>
        </p:spPr>
        <p:txBody>
          <a:bodyPr/>
          <a:lstStyle/>
          <a:p>
            <a:r>
              <a:rPr lang="en-US" dirty="0"/>
              <a:t>BASIC DATA TYPES:SIZE </a:t>
            </a:r>
            <a:endParaRPr lang="en-IN" dirty="0"/>
          </a:p>
        </p:txBody>
      </p:sp>
      <p:sp>
        <p:nvSpPr>
          <p:cNvPr id="7" name="Content Placeholder 6">
            <a:extLst>
              <a:ext uri="{FF2B5EF4-FFF2-40B4-BE49-F238E27FC236}">
                <a16:creationId xmlns:a16="http://schemas.microsoft.com/office/drawing/2014/main" xmlns="" id="{27FE4C18-554E-4E57-8BFC-684EE9BFCE06}"/>
              </a:ext>
            </a:extLst>
          </p:cNvPr>
          <p:cNvSpPr>
            <a:spLocks noGrp="1"/>
          </p:cNvSpPr>
          <p:nvPr>
            <p:ph idx="1"/>
          </p:nvPr>
        </p:nvSpPr>
        <p:spPr/>
        <p:txBody>
          <a:bodyPr/>
          <a:lstStyle/>
          <a:p>
            <a:endParaRPr lang="en-IN" dirty="0"/>
          </a:p>
        </p:txBody>
      </p:sp>
      <p:pic>
        <p:nvPicPr>
          <p:cNvPr id="1026" name="Picture 2" descr="https://qph.cf2.quoracdn.net/main-qimg-ee97a3256e8c782a546b4603bb6041e7-lq"/>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3853" y="1178047"/>
            <a:ext cx="7011132" cy="5264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6498028"/>
      </p:ext>
    </p:extLst>
  </p:cSld>
  <p:clrMapOvr>
    <a:masterClrMapping/>
  </p:clrMapOvr>
  <mc:AlternateContent xmlns:mc="http://schemas.openxmlformats.org/markup-compatibility/2006" xmlns:p14="http://schemas.microsoft.com/office/powerpoint/2010/main">
    <mc:Choice Requires="p14">
      <p:transition spd="slow" p14:dur="2000" advTm="40625"/>
    </mc:Choice>
    <mc:Fallback xmlns="">
      <p:transition spd="slow" advTm="40625"/>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5C4DE23-1E44-4089-BC38-E370276F8F7E}"/>
              </a:ext>
            </a:extLst>
          </p:cNvPr>
          <p:cNvSpPr>
            <a:spLocks noGrp="1"/>
          </p:cNvSpPr>
          <p:nvPr>
            <p:ph type="title"/>
          </p:nvPr>
        </p:nvSpPr>
        <p:spPr>
          <a:xfrm>
            <a:off x="1551431" y="365125"/>
            <a:ext cx="10069761" cy="700069"/>
          </a:xfrm>
        </p:spPr>
        <p:txBody>
          <a:bodyPr/>
          <a:lstStyle/>
          <a:p>
            <a:pPr algn="ctr"/>
            <a:r>
              <a:rPr lang="en-US" dirty="0"/>
              <a:t>PROGRAM STATEMENTS</a:t>
            </a:r>
            <a:endParaRPr lang="en-IN" dirty="0"/>
          </a:p>
        </p:txBody>
      </p:sp>
      <p:sp>
        <p:nvSpPr>
          <p:cNvPr id="3" name="Content Placeholder 2">
            <a:extLst>
              <a:ext uri="{FF2B5EF4-FFF2-40B4-BE49-F238E27FC236}">
                <a16:creationId xmlns:a16="http://schemas.microsoft.com/office/drawing/2014/main" xmlns="" id="{C890109C-4F47-4C37-A2C5-7F04BD3A964B}"/>
              </a:ext>
            </a:extLst>
          </p:cNvPr>
          <p:cNvSpPr>
            <a:spLocks noGrp="1"/>
          </p:cNvSpPr>
          <p:nvPr>
            <p:ph idx="1"/>
          </p:nvPr>
        </p:nvSpPr>
        <p:spPr>
          <a:xfrm>
            <a:off x="1551432" y="1065194"/>
            <a:ext cx="9823704" cy="5111769"/>
          </a:xfrm>
        </p:spPr>
        <p:txBody>
          <a:bodyPr/>
          <a:lstStyle/>
          <a:p>
            <a:pPr algn="just"/>
            <a:r>
              <a:rPr lang="en-IN" dirty="0">
                <a:latin typeface="Times New Roman" panose="02020603050405020304" pitchFamily="18" charset="0"/>
                <a:cs typeface="Times New Roman" panose="02020603050405020304" pitchFamily="18" charset="0"/>
              </a:rPr>
              <a:t>A statement is a syntactic construction that performs an action when a program is executed.</a:t>
            </a:r>
          </a:p>
          <a:p>
            <a:pPr algn="just"/>
            <a:r>
              <a:rPr lang="en-IN" dirty="0">
                <a:latin typeface="Times New Roman" panose="02020603050405020304" pitchFamily="18" charset="0"/>
                <a:cs typeface="Times New Roman" panose="02020603050405020304" pitchFamily="18" charset="0"/>
              </a:rPr>
              <a:t>All C program statements are terminated with a semi-colon (;).</a:t>
            </a:r>
          </a:p>
          <a:p>
            <a:pPr algn="just"/>
            <a:endParaRPr lang="en-IN" sz="2800" dirty="0"/>
          </a:p>
          <a:p>
            <a:endParaRPr lang="en-IN" dirty="0"/>
          </a:p>
        </p:txBody>
      </p:sp>
      <p:pic>
        <p:nvPicPr>
          <p:cNvPr id="4" name="Picture 3">
            <a:extLst>
              <a:ext uri="{FF2B5EF4-FFF2-40B4-BE49-F238E27FC236}">
                <a16:creationId xmlns:a16="http://schemas.microsoft.com/office/drawing/2014/main" xmlns="" id="{4DBB297E-A5A9-4B4A-8171-04D5EF2D7096}"/>
              </a:ext>
            </a:extLst>
          </p:cNvPr>
          <p:cNvPicPr>
            <a:picLocks noChangeAspect="1"/>
          </p:cNvPicPr>
          <p:nvPr/>
        </p:nvPicPr>
        <p:blipFill>
          <a:blip r:embed="rId3"/>
          <a:stretch>
            <a:fillRect/>
          </a:stretch>
        </p:blipFill>
        <p:spPr>
          <a:xfrm>
            <a:off x="1799844" y="2439645"/>
            <a:ext cx="9326879" cy="3737318"/>
          </a:xfrm>
          <a:prstGeom prst="rect">
            <a:avLst/>
          </a:prstGeom>
        </p:spPr>
      </p:pic>
    </p:spTree>
    <p:extLst>
      <p:ext uri="{BB962C8B-B14F-4D97-AF65-F5344CB8AC3E}">
        <p14:creationId xmlns:p14="http://schemas.microsoft.com/office/powerpoint/2010/main" val="821656182"/>
      </p:ext>
    </p:extLst>
  </p:cSld>
  <p:clrMapOvr>
    <a:masterClrMapping/>
  </p:clrMapOvr>
  <mc:AlternateContent xmlns:mc="http://schemas.openxmlformats.org/markup-compatibility/2006" xmlns:p14="http://schemas.microsoft.com/office/powerpoint/2010/main">
    <mc:Choice Requires="p14">
      <p:transition spd="slow" p14:dur="2000" advTm="40939"/>
    </mc:Choice>
    <mc:Fallback xmlns="">
      <p:transition spd="slow" advTm="40939"/>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1DA20E-7973-47AA-AC2C-EA88EA345D40}"/>
              </a:ext>
            </a:extLst>
          </p:cNvPr>
          <p:cNvSpPr>
            <a:spLocks noGrp="1"/>
          </p:cNvSpPr>
          <p:nvPr>
            <p:ph type="title"/>
          </p:nvPr>
        </p:nvSpPr>
        <p:spPr>
          <a:xfrm>
            <a:off x="1551432" y="365125"/>
            <a:ext cx="8753856" cy="782031"/>
          </a:xfrm>
        </p:spPr>
        <p:txBody>
          <a:bodyPr/>
          <a:lstStyle/>
          <a:p>
            <a:pPr algn="ctr"/>
            <a:r>
              <a:rPr lang="en-US" dirty="0"/>
              <a:t>KEY WORDS</a:t>
            </a:r>
            <a:endParaRPr lang="en-IN" dirty="0"/>
          </a:p>
        </p:txBody>
      </p:sp>
      <p:sp>
        <p:nvSpPr>
          <p:cNvPr id="3" name="Content Placeholder 2">
            <a:extLst>
              <a:ext uri="{FF2B5EF4-FFF2-40B4-BE49-F238E27FC236}">
                <a16:creationId xmlns:a16="http://schemas.microsoft.com/office/drawing/2014/main" xmlns="" id="{26A12F35-2030-41D7-930C-FFD7923FC1E1}"/>
              </a:ext>
            </a:extLst>
          </p:cNvPr>
          <p:cNvSpPr>
            <a:spLocks noGrp="1"/>
          </p:cNvSpPr>
          <p:nvPr>
            <p:ph idx="1"/>
          </p:nvPr>
        </p:nvSpPr>
        <p:spPr>
          <a:xfrm>
            <a:off x="1551432" y="1496291"/>
            <a:ext cx="9823704" cy="4680672"/>
          </a:xfrm>
        </p:spPr>
        <p:txBody>
          <a:bodyPr/>
          <a:lstStyle/>
          <a:p>
            <a:pPr algn="just"/>
            <a:r>
              <a:rPr lang="en-IN" altLang="en-US" sz="3200" dirty="0">
                <a:latin typeface="Times New Roman" panose="02020603050405020304" pitchFamily="18" charset="0"/>
                <a:cs typeface="Times New Roman" panose="02020603050405020304" pitchFamily="18" charset="0"/>
              </a:rPr>
              <a:t>Keywords are system defined identifiers.</a:t>
            </a:r>
          </a:p>
          <a:p>
            <a:pPr algn="just"/>
            <a:r>
              <a:rPr lang="en-IN" altLang="en-US" sz="3200" dirty="0">
                <a:latin typeface="Times New Roman" panose="02020603050405020304" pitchFamily="18" charset="0"/>
                <a:cs typeface="Times New Roman" panose="02020603050405020304" pitchFamily="18" charset="0"/>
              </a:rPr>
              <a:t>Keywords are reserved words.</a:t>
            </a:r>
          </a:p>
          <a:p>
            <a:pPr algn="just"/>
            <a:r>
              <a:rPr lang="en-IN" altLang="en-US" sz="3200" dirty="0">
                <a:latin typeface="Times New Roman" panose="02020603050405020304" pitchFamily="18" charset="0"/>
                <a:cs typeface="Times New Roman" panose="02020603050405020304" pitchFamily="18" charset="0"/>
              </a:rPr>
              <a:t>They have specific meaning in the language and cannot be used by the programmer as a variable or constant name.</a:t>
            </a:r>
          </a:p>
          <a:p>
            <a:pPr algn="just"/>
            <a:r>
              <a:rPr lang="en-IN" altLang="en-US" sz="3200" dirty="0">
                <a:latin typeface="Times New Roman" panose="02020603050405020304" pitchFamily="18" charset="0"/>
                <a:cs typeface="Times New Roman" panose="02020603050405020304" pitchFamily="18" charset="0"/>
              </a:rPr>
              <a:t>C is case sensitive.</a:t>
            </a:r>
          </a:p>
          <a:p>
            <a:pPr algn="just"/>
            <a:r>
              <a:rPr lang="en-IN" altLang="en-US" sz="3200" dirty="0">
                <a:latin typeface="Times New Roman" panose="02020603050405020304" pitchFamily="18" charset="0"/>
                <a:cs typeface="Times New Roman" panose="02020603050405020304" pitchFamily="18" charset="0"/>
              </a:rPr>
              <a:t>32 Keywords.</a:t>
            </a:r>
            <a:endParaRPr lang="en-US" altLang="en-US" sz="3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201442792"/>
      </p:ext>
    </p:extLst>
  </p:cSld>
  <p:clrMapOvr>
    <a:masterClrMapping/>
  </p:clrMapOvr>
  <mc:AlternateContent xmlns:mc="http://schemas.openxmlformats.org/markup-compatibility/2006" xmlns:p14="http://schemas.microsoft.com/office/powerpoint/2010/main">
    <mc:Choice Requires="p14">
      <p:transition spd="slow" p14:dur="2000" advTm="28668"/>
    </mc:Choice>
    <mc:Fallback xmlns="">
      <p:transition spd="slow" advTm="28668"/>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586748-F169-489B-B525-94E0CB4F537D}"/>
              </a:ext>
            </a:extLst>
          </p:cNvPr>
          <p:cNvSpPr>
            <a:spLocks noGrp="1"/>
          </p:cNvSpPr>
          <p:nvPr>
            <p:ph type="title"/>
          </p:nvPr>
        </p:nvSpPr>
        <p:spPr>
          <a:xfrm>
            <a:off x="1551432" y="365126"/>
            <a:ext cx="8753856" cy="765406"/>
          </a:xfrm>
        </p:spPr>
        <p:txBody>
          <a:bodyPr/>
          <a:lstStyle/>
          <a:p>
            <a:pPr algn="ctr"/>
            <a:r>
              <a:rPr lang="en-US" dirty="0"/>
              <a:t>KEY WORDS</a:t>
            </a:r>
            <a:endParaRPr lang="en-IN" dirty="0"/>
          </a:p>
        </p:txBody>
      </p:sp>
      <p:pic>
        <p:nvPicPr>
          <p:cNvPr id="5" name="Content Placeholder 4">
            <a:extLst>
              <a:ext uri="{FF2B5EF4-FFF2-40B4-BE49-F238E27FC236}">
                <a16:creationId xmlns:a16="http://schemas.microsoft.com/office/drawing/2014/main" xmlns="" id="{C0D6F02F-51BA-40E5-84FF-D53804D0DA12}"/>
              </a:ext>
            </a:extLst>
          </p:cNvPr>
          <p:cNvPicPr>
            <a:picLocks noGrp="1" noChangeAspect="1"/>
          </p:cNvPicPr>
          <p:nvPr>
            <p:ph idx="1"/>
          </p:nvPr>
        </p:nvPicPr>
        <p:blipFill>
          <a:blip r:embed="rId2"/>
          <a:stretch>
            <a:fillRect/>
          </a:stretch>
        </p:blipFill>
        <p:spPr>
          <a:xfrm>
            <a:off x="2313353" y="1200870"/>
            <a:ext cx="6713417" cy="5112933"/>
          </a:xfrm>
        </p:spPr>
      </p:pic>
    </p:spTree>
    <p:extLst>
      <p:ext uri="{BB962C8B-B14F-4D97-AF65-F5344CB8AC3E}">
        <p14:creationId xmlns:p14="http://schemas.microsoft.com/office/powerpoint/2010/main" val="690542358"/>
      </p:ext>
    </p:extLst>
  </p:cSld>
  <p:clrMapOvr>
    <a:masterClrMapping/>
  </p:clrMapOvr>
  <mc:AlternateContent xmlns:mc="http://schemas.openxmlformats.org/markup-compatibility/2006" xmlns:p14="http://schemas.microsoft.com/office/powerpoint/2010/main">
    <mc:Choice Requires="p14">
      <p:transition spd="slow" p14:dur="2000" advTm="39705"/>
    </mc:Choice>
    <mc:Fallback xmlns="">
      <p:transition spd="slow" advTm="39705"/>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092F33-C38E-47E6-8F52-3F0B8ED91406}"/>
              </a:ext>
            </a:extLst>
          </p:cNvPr>
          <p:cNvSpPr>
            <a:spLocks noGrp="1"/>
          </p:cNvSpPr>
          <p:nvPr>
            <p:ph type="title"/>
          </p:nvPr>
        </p:nvSpPr>
        <p:spPr/>
        <p:txBody>
          <a:bodyPr/>
          <a:lstStyle/>
          <a:p>
            <a:pPr algn="ctr"/>
            <a:r>
              <a:rPr lang="en-US" dirty="0"/>
              <a:t>CONSTANT</a:t>
            </a:r>
            <a:endParaRPr lang="en-IN" dirty="0"/>
          </a:p>
        </p:txBody>
      </p:sp>
      <p:sp>
        <p:nvSpPr>
          <p:cNvPr id="3" name="Content Placeholder 2">
            <a:extLst>
              <a:ext uri="{FF2B5EF4-FFF2-40B4-BE49-F238E27FC236}">
                <a16:creationId xmlns:a16="http://schemas.microsoft.com/office/drawing/2014/main" xmlns="" id="{9397152B-2415-454C-9089-BB5754E6AC63}"/>
              </a:ext>
            </a:extLst>
          </p:cNvPr>
          <p:cNvSpPr>
            <a:spLocks noGrp="1"/>
          </p:cNvSpPr>
          <p:nvPr>
            <p:ph idx="1"/>
          </p:nvPr>
        </p:nvSpPr>
        <p:spPr/>
        <p:txBody>
          <a:bodyPr>
            <a:normAutofit/>
          </a:bodyPr>
          <a:lstStyle/>
          <a:p>
            <a:pPr algn="just">
              <a:lnSpc>
                <a:spcPct val="80000"/>
              </a:lnSpc>
            </a:pPr>
            <a:r>
              <a:rPr lang="en-US" altLang="en-US" sz="3200" dirty="0">
                <a:latin typeface="Times New Roman" panose="02020603050405020304" pitchFamily="18" charset="0"/>
                <a:cs typeface="Times New Roman" panose="02020603050405020304" pitchFamily="18" charset="0"/>
              </a:rPr>
              <a:t>A constant is a value or an identifier whose value cannot be altered in a program. For example: 1, 2.5</a:t>
            </a:r>
          </a:p>
          <a:p>
            <a:pPr algn="just">
              <a:lnSpc>
                <a:spcPct val="80000"/>
              </a:lnSpc>
            </a:pPr>
            <a:r>
              <a:rPr lang="en-US" altLang="en-US" sz="3200" dirty="0">
                <a:latin typeface="Times New Roman" panose="02020603050405020304" pitchFamily="18" charset="0"/>
                <a:cs typeface="Times New Roman" panose="02020603050405020304" pitchFamily="18" charset="0"/>
              </a:rPr>
              <a:t>An identifier also can be defined as a constant.</a:t>
            </a:r>
            <a:r>
              <a:rPr lang="en-IN" altLang="en-US" sz="3200" dirty="0">
                <a:latin typeface="Times New Roman" panose="02020603050405020304" pitchFamily="18" charset="0"/>
                <a:cs typeface="Times New Roman" panose="02020603050405020304" pitchFamily="18" charset="0"/>
              </a:rPr>
              <a:t> </a:t>
            </a:r>
            <a:r>
              <a:rPr lang="en-IN" altLang="en-US" sz="3200" dirty="0" err="1">
                <a:latin typeface="Times New Roman" panose="02020603050405020304" pitchFamily="18" charset="0"/>
                <a:cs typeface="Times New Roman" panose="02020603050405020304" pitchFamily="18" charset="0"/>
              </a:rPr>
              <a:t>eg.</a:t>
            </a:r>
            <a:r>
              <a:rPr lang="en-IN" altLang="en-US" sz="3200" dirty="0">
                <a:latin typeface="Times New Roman" panose="02020603050405020304" pitchFamily="18" charset="0"/>
                <a:cs typeface="Times New Roman" panose="02020603050405020304" pitchFamily="18" charset="0"/>
              </a:rPr>
              <a:t> </a:t>
            </a:r>
            <a:r>
              <a:rPr lang="en-IN" altLang="en-US" sz="3200" dirty="0" err="1">
                <a:latin typeface="Times New Roman" panose="02020603050405020304" pitchFamily="18" charset="0"/>
                <a:cs typeface="Times New Roman" panose="02020603050405020304" pitchFamily="18" charset="0"/>
              </a:rPr>
              <a:t>const</a:t>
            </a:r>
            <a:r>
              <a:rPr lang="en-IN" altLang="en-US" sz="3200" dirty="0">
                <a:latin typeface="Times New Roman" panose="02020603050405020304" pitchFamily="18" charset="0"/>
                <a:cs typeface="Times New Roman" panose="02020603050405020304" pitchFamily="18" charset="0"/>
              </a:rPr>
              <a:t> double PI = 3.14</a:t>
            </a:r>
          </a:p>
          <a:p>
            <a:pPr algn="just">
              <a:lnSpc>
                <a:spcPct val="80000"/>
              </a:lnSpc>
            </a:pPr>
            <a:r>
              <a:rPr lang="en-IN" altLang="en-US" sz="3200" dirty="0">
                <a:latin typeface="Times New Roman" panose="02020603050405020304" pitchFamily="18" charset="0"/>
                <a:cs typeface="Times New Roman" panose="02020603050405020304" pitchFamily="18" charset="0"/>
              </a:rPr>
              <a:t>Here, value of PI is a constant. </a:t>
            </a:r>
          </a:p>
          <a:p>
            <a:endParaRPr lang="en-IN" dirty="0"/>
          </a:p>
        </p:txBody>
      </p:sp>
    </p:spTree>
    <p:extLst>
      <p:ext uri="{BB962C8B-B14F-4D97-AF65-F5344CB8AC3E}">
        <p14:creationId xmlns:p14="http://schemas.microsoft.com/office/powerpoint/2010/main" val="3675646672"/>
      </p:ext>
    </p:extLst>
  </p:cSld>
  <p:clrMapOvr>
    <a:masterClrMapping/>
  </p:clrMapOvr>
  <mc:AlternateContent xmlns:mc="http://schemas.openxmlformats.org/markup-compatibility/2006" xmlns:p14="http://schemas.microsoft.com/office/powerpoint/2010/main">
    <mc:Choice Requires="p14">
      <p:transition spd="slow" p14:dur="2000" advTm="32286"/>
    </mc:Choice>
    <mc:Fallback xmlns="">
      <p:transition spd="slow" advTm="32286"/>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4BFA9-7503-4032-8B5F-7AE6D2ABE638}"/>
              </a:ext>
            </a:extLst>
          </p:cNvPr>
          <p:cNvSpPr>
            <a:spLocks noGrp="1"/>
          </p:cNvSpPr>
          <p:nvPr>
            <p:ph type="title"/>
          </p:nvPr>
        </p:nvSpPr>
        <p:spPr/>
        <p:txBody>
          <a:bodyPr/>
          <a:lstStyle/>
          <a:p>
            <a:pPr algn="ctr"/>
            <a:r>
              <a:rPr lang="en-US" dirty="0"/>
              <a:t>TYPES OF CONSTANTS</a:t>
            </a:r>
            <a:endParaRPr lang="en-IN" dirty="0"/>
          </a:p>
        </p:txBody>
      </p:sp>
      <p:sp>
        <p:nvSpPr>
          <p:cNvPr id="3" name="Content Placeholder 2">
            <a:extLst>
              <a:ext uri="{FF2B5EF4-FFF2-40B4-BE49-F238E27FC236}">
                <a16:creationId xmlns:a16="http://schemas.microsoft.com/office/drawing/2014/main" xmlns="" id="{528D392A-AE98-4B53-A5B3-6BBC92C034E4}"/>
              </a:ext>
            </a:extLst>
          </p:cNvPr>
          <p:cNvSpPr>
            <a:spLocks noGrp="1"/>
          </p:cNvSpPr>
          <p:nvPr>
            <p:ph idx="1"/>
          </p:nvPr>
        </p:nvSpPr>
        <p:spPr/>
        <p:txBody>
          <a:bodyPr/>
          <a:lstStyle/>
          <a:p>
            <a:r>
              <a:rPr lang="en-IN" sz="3200" dirty="0">
                <a:latin typeface="Times New Roman" panose="02020603050405020304" pitchFamily="18" charset="0"/>
                <a:cs typeface="Times New Roman" panose="02020603050405020304" pitchFamily="18" charset="0"/>
              </a:rPr>
              <a:t>Integer constant </a:t>
            </a:r>
            <a:r>
              <a:rPr lang="en-IN" sz="3200" dirty="0" err="1">
                <a:latin typeface="Times New Roman" panose="02020603050405020304" pitchFamily="18" charset="0"/>
                <a:cs typeface="Times New Roman" panose="02020603050405020304" pitchFamily="18" charset="0"/>
              </a:rPr>
              <a:t>eg</a:t>
            </a:r>
            <a:r>
              <a:rPr lang="en-IN" sz="3200" dirty="0">
                <a:latin typeface="Times New Roman" panose="02020603050405020304" pitchFamily="18" charset="0"/>
                <a:cs typeface="Times New Roman" panose="02020603050405020304" pitchFamily="18" charset="0"/>
              </a:rPr>
              <a:t>:  1</a:t>
            </a:r>
          </a:p>
          <a:p>
            <a:r>
              <a:rPr lang="en-IN" sz="3200" dirty="0">
                <a:latin typeface="Times New Roman" panose="02020603050405020304" pitchFamily="18" charset="0"/>
                <a:cs typeface="Times New Roman" panose="02020603050405020304" pitchFamily="18" charset="0"/>
              </a:rPr>
              <a:t>Floating-point constant </a:t>
            </a:r>
            <a:r>
              <a:rPr lang="en-IN" sz="3200" dirty="0" err="1">
                <a:latin typeface="Times New Roman" panose="02020603050405020304" pitchFamily="18" charset="0"/>
                <a:cs typeface="Times New Roman" panose="02020603050405020304" pitchFamily="18" charset="0"/>
              </a:rPr>
              <a:t>eg</a:t>
            </a:r>
            <a:r>
              <a:rPr lang="en-IN" sz="3200" dirty="0">
                <a:latin typeface="Times New Roman" panose="02020603050405020304" pitchFamily="18" charset="0"/>
                <a:cs typeface="Times New Roman" panose="02020603050405020304" pitchFamily="18" charset="0"/>
              </a:rPr>
              <a:t>: 2.5</a:t>
            </a:r>
          </a:p>
          <a:p>
            <a:r>
              <a:rPr lang="en-IN" sz="3200" dirty="0">
                <a:latin typeface="Times New Roman" panose="02020603050405020304" pitchFamily="18" charset="0"/>
                <a:cs typeface="Times New Roman" panose="02020603050405020304" pitchFamily="18" charset="0"/>
              </a:rPr>
              <a:t>Character constant </a:t>
            </a:r>
            <a:r>
              <a:rPr lang="en-IN" sz="3200" dirty="0" err="1">
                <a:latin typeface="Times New Roman" panose="02020603050405020304" pitchFamily="18" charset="0"/>
                <a:cs typeface="Times New Roman" panose="02020603050405020304" pitchFamily="18" charset="0"/>
              </a:rPr>
              <a:t>eg</a:t>
            </a:r>
            <a:r>
              <a:rPr lang="en-IN" sz="3200" dirty="0">
                <a:latin typeface="Times New Roman" panose="02020603050405020304" pitchFamily="18" charset="0"/>
                <a:cs typeface="Times New Roman" panose="02020603050405020304" pitchFamily="18" charset="0"/>
              </a:rPr>
              <a:t>: ’a’</a:t>
            </a:r>
          </a:p>
          <a:p>
            <a:r>
              <a:rPr lang="en-IN" sz="3200" dirty="0">
                <a:latin typeface="Times New Roman" panose="02020603050405020304" pitchFamily="18" charset="0"/>
                <a:cs typeface="Times New Roman" panose="02020603050405020304" pitchFamily="18" charset="0"/>
              </a:rPr>
              <a:t>String constant </a:t>
            </a:r>
            <a:r>
              <a:rPr lang="en-IN" sz="3200" dirty="0" err="1">
                <a:latin typeface="Times New Roman" panose="02020603050405020304" pitchFamily="18" charset="0"/>
                <a:cs typeface="Times New Roman" panose="02020603050405020304" pitchFamily="18" charset="0"/>
              </a:rPr>
              <a:t>eg</a:t>
            </a:r>
            <a:r>
              <a:rPr lang="en-IN" sz="3200" dirty="0">
                <a:latin typeface="Times New Roman" panose="02020603050405020304" pitchFamily="18" charset="0"/>
                <a:cs typeface="Times New Roman" panose="02020603050405020304" pitchFamily="18" charset="0"/>
              </a:rPr>
              <a:t>: ”good”</a:t>
            </a:r>
          </a:p>
          <a:p>
            <a:endParaRPr lang="en-IN" dirty="0"/>
          </a:p>
        </p:txBody>
      </p:sp>
    </p:spTree>
    <p:extLst>
      <p:ext uri="{BB962C8B-B14F-4D97-AF65-F5344CB8AC3E}">
        <p14:creationId xmlns:p14="http://schemas.microsoft.com/office/powerpoint/2010/main" val="3497849684"/>
      </p:ext>
    </p:extLst>
  </p:cSld>
  <p:clrMapOvr>
    <a:masterClrMapping/>
  </p:clrMapOvr>
  <mc:AlternateContent xmlns:mc="http://schemas.openxmlformats.org/markup-compatibility/2006" xmlns:p14="http://schemas.microsoft.com/office/powerpoint/2010/main">
    <mc:Choice Requires="p14">
      <p:transition spd="slow" p14:dur="2000" advTm="49249"/>
    </mc:Choice>
    <mc:Fallback xmlns="">
      <p:transition spd="slow" advTm="49249"/>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94117F-DD15-4803-9ADA-7DC51C5AD1D5}"/>
              </a:ext>
            </a:extLst>
          </p:cNvPr>
          <p:cNvSpPr>
            <a:spLocks noGrp="1"/>
          </p:cNvSpPr>
          <p:nvPr>
            <p:ph type="title"/>
          </p:nvPr>
        </p:nvSpPr>
        <p:spPr>
          <a:xfrm>
            <a:off x="1551431" y="365125"/>
            <a:ext cx="9823703" cy="1325563"/>
          </a:xfrm>
        </p:spPr>
        <p:txBody>
          <a:bodyPr>
            <a:normAutofit/>
          </a:bodyPr>
          <a:lstStyle/>
          <a:p>
            <a:pPr algn="ctr"/>
            <a:r>
              <a:rPr lang="en-US" dirty="0"/>
              <a:t>Operators and Expressions</a:t>
            </a:r>
            <a:endParaRPr lang="en-IN" dirty="0">
              <a:solidFill>
                <a:schemeClr val="tx1"/>
              </a:solidFill>
            </a:endParaRPr>
          </a:p>
        </p:txBody>
      </p:sp>
      <p:sp>
        <p:nvSpPr>
          <p:cNvPr id="3" name="Content Placeholder 2">
            <a:extLst>
              <a:ext uri="{FF2B5EF4-FFF2-40B4-BE49-F238E27FC236}">
                <a16:creationId xmlns:a16="http://schemas.microsoft.com/office/drawing/2014/main" xmlns="" id="{4A26E575-0B17-4243-9C26-25D42EEBC594}"/>
              </a:ext>
            </a:extLst>
          </p:cNvPr>
          <p:cNvSpPr>
            <a:spLocks noGrp="1"/>
          </p:cNvSpPr>
          <p:nvPr>
            <p:ph idx="1"/>
          </p:nvPr>
        </p:nvSpPr>
        <p:spPr>
          <a:xfrm>
            <a:off x="1551432" y="1690688"/>
            <a:ext cx="9823704" cy="4486275"/>
          </a:xfrm>
        </p:spPr>
        <p:txBody>
          <a:bodyPr>
            <a:normAutofit/>
          </a:bodyPr>
          <a:lstStyle/>
          <a:p>
            <a:pPr marL="342900" marR="0" lvl="0" indent="-342900" algn="just" defTabSz="914400" rtl="0" eaLnBrk="0" fontAlgn="base" latinLnBrk="0" hangingPunct="0">
              <a:lnSpc>
                <a:spcPct val="100000"/>
              </a:lnSpc>
              <a:spcBef>
                <a:spcPct val="20000"/>
              </a:spcBef>
              <a:spcAft>
                <a:spcPct val="0"/>
              </a:spcAft>
              <a:buClrTx/>
              <a:buSzTx/>
              <a:buFont typeface="Arial" charset="0"/>
              <a:buNone/>
              <a:tabLst/>
              <a:defRPr/>
            </a:pPr>
            <a:r>
              <a:rPr lang="en-US" b="1" dirty="0">
                <a:latin typeface="Times New Roman" pitchFamily="18" charset="0"/>
                <a:cs typeface="Times New Roman" pitchFamily="18" charset="0"/>
              </a:rPr>
              <a:t>Operator:  </a:t>
            </a:r>
            <a:r>
              <a:rPr lang="en-US" dirty="0">
                <a:latin typeface="Times New Roman" pitchFamily="18" charset="0"/>
                <a:cs typeface="Times New Roman" pitchFamily="18" charset="0"/>
              </a:rPr>
              <a:t>An operator is a symbol or letter used to indicate a specific operation on variables in a program. </a:t>
            </a:r>
          </a:p>
          <a:p>
            <a:pPr marL="342900" marR="0" lvl="0" indent="-342900" algn="just" defTabSz="914400" rtl="0" eaLnBrk="0" fontAlgn="base" latinLnBrk="0" hangingPunct="0">
              <a:lnSpc>
                <a:spcPct val="100000"/>
              </a:lnSpc>
              <a:spcBef>
                <a:spcPct val="20000"/>
              </a:spcBef>
              <a:spcAft>
                <a:spcPct val="0"/>
              </a:spcAft>
              <a:buClrTx/>
              <a:buSzTx/>
              <a:buFont typeface="Arial" charset="0"/>
              <a:buNone/>
              <a:tabLst/>
              <a:defRPr/>
            </a:pPr>
            <a:r>
              <a:rPr lang="en-US" dirty="0">
                <a:latin typeface="Times New Roman" pitchFamily="18" charset="0"/>
                <a:cs typeface="Times New Roman" pitchFamily="18" charset="0"/>
              </a:rPr>
              <a:t>Example: the symbol `+' is an add operator that adds two data items called operands.</a:t>
            </a:r>
          </a:p>
          <a:p>
            <a:pPr marL="342900" marR="0" lvl="0" indent="-342900" algn="just" defTabSz="914400" rtl="0" eaLnBrk="0" fontAlgn="base" latinLnBrk="0" hangingPunct="0">
              <a:lnSpc>
                <a:spcPct val="100000"/>
              </a:lnSpc>
              <a:spcBef>
                <a:spcPct val="20000"/>
              </a:spcBef>
              <a:spcAft>
                <a:spcPct val="0"/>
              </a:spcAft>
              <a:buClrTx/>
              <a:buSzTx/>
              <a:buFont typeface="Arial" charset="0"/>
              <a:buNone/>
              <a:tabLst/>
              <a:defRPr/>
            </a:pPr>
            <a:endParaRPr lang="en-US" dirty="0">
              <a:latin typeface="Times New Roman" pitchFamily="18" charset="0"/>
              <a:cs typeface="Times New Roman" pitchFamily="18" charset="0"/>
            </a:endParaRPr>
          </a:p>
          <a:p>
            <a:pPr marL="342900" marR="0" lvl="0" indent="-342900" algn="just" defTabSz="914400" rtl="0" eaLnBrk="0" fontAlgn="base" latinLnBrk="0" hangingPunct="0">
              <a:lnSpc>
                <a:spcPct val="100000"/>
              </a:lnSpc>
              <a:spcBef>
                <a:spcPct val="20000"/>
              </a:spcBef>
              <a:spcAft>
                <a:spcPct val="0"/>
              </a:spcAft>
              <a:buClrTx/>
              <a:buSzTx/>
              <a:buFont typeface="Arial" charset="0"/>
              <a:buNone/>
              <a:tabLst/>
              <a:defRPr/>
            </a:pPr>
            <a:r>
              <a:rPr lang="en-US" b="1" dirty="0">
                <a:latin typeface="Times New Roman" pitchFamily="18" charset="0"/>
                <a:cs typeface="Times New Roman" pitchFamily="18" charset="0"/>
              </a:rPr>
              <a:t>Expression: </a:t>
            </a:r>
            <a:r>
              <a:rPr lang="en-US" dirty="0">
                <a:latin typeface="Times New Roman" pitchFamily="18" charset="0"/>
                <a:cs typeface="Times New Roman" pitchFamily="18" charset="0"/>
              </a:rPr>
              <a:t>An expression is a combination of operands (i.e., constants, variables, numbers) connected by operators and parentheses. </a:t>
            </a:r>
          </a:p>
          <a:p>
            <a:pPr marL="342900" marR="0" lvl="0" indent="-342900" algn="just" defTabSz="914400" rtl="0" eaLnBrk="0" fontAlgn="base" latinLnBrk="0" hangingPunct="0">
              <a:lnSpc>
                <a:spcPct val="100000"/>
              </a:lnSpc>
              <a:spcBef>
                <a:spcPct val="20000"/>
              </a:spcBef>
              <a:spcAft>
                <a:spcPct val="0"/>
              </a:spcAft>
              <a:buClrTx/>
              <a:buSzTx/>
              <a:buFont typeface="Arial" charset="0"/>
              <a:buNone/>
              <a:tabLst/>
              <a:defRPr/>
            </a:pPr>
            <a:r>
              <a:rPr lang="en-US" dirty="0">
                <a:latin typeface="Times New Roman" pitchFamily="18" charset="0"/>
                <a:cs typeface="Times New Roman" pitchFamily="18" charset="0"/>
              </a:rPr>
              <a:t>Example: In the expression given below, A and B are operands and `+' is an operator.</a:t>
            </a:r>
          </a:p>
          <a:p>
            <a:pPr marL="0" marR="0" lvl="0" indent="0" algn="just" defTabSz="914400" rtl="0" eaLnBrk="0" fontAlgn="base" latinLnBrk="0" hangingPunct="0">
              <a:lnSpc>
                <a:spcPct val="100000"/>
              </a:lnSpc>
              <a:spcBef>
                <a:spcPct val="20000"/>
              </a:spcBef>
              <a:spcAft>
                <a:spcPct val="0"/>
              </a:spcAft>
              <a:buClrTx/>
              <a:buSzTx/>
              <a:buFont typeface="Arial" charset="0"/>
              <a:buNone/>
              <a:tabLst/>
              <a:defRPr/>
            </a:pPr>
            <a:r>
              <a:rPr lang="en-US" dirty="0">
                <a:latin typeface="Times New Roman" pitchFamily="18" charset="0"/>
                <a:cs typeface="Times New Roman" pitchFamily="18" charset="0"/>
              </a:rPr>
              <a:t>                              A + B</a:t>
            </a:r>
          </a:p>
          <a:p>
            <a:pPr marL="342900" marR="0" lvl="0" indent="-342900" algn="just" defTabSz="914400" rtl="0" eaLnBrk="0" fontAlgn="base" latinLnBrk="0" hangingPunct="0">
              <a:lnSpc>
                <a:spcPct val="100000"/>
              </a:lnSpc>
              <a:spcBef>
                <a:spcPct val="20000"/>
              </a:spcBef>
              <a:spcAft>
                <a:spcPct val="0"/>
              </a:spcAft>
              <a:buClrTx/>
              <a:buSzTx/>
              <a:buFont typeface="Arial" charset="0"/>
              <a:buNone/>
              <a:tabLst/>
              <a:defRPr/>
            </a:pPr>
            <a:endParaRPr lang="en-US" dirty="0">
              <a:latin typeface="Times New Roman" pitchFamily="18" charset="0"/>
              <a:cs typeface="Times New Roman" pitchFamily="18" charset="0"/>
            </a:endParaRPr>
          </a:p>
          <a:p>
            <a:endParaRPr lang="en-IN" sz="5400" dirty="0"/>
          </a:p>
        </p:txBody>
      </p:sp>
    </p:spTree>
    <p:extLst>
      <p:ext uri="{BB962C8B-B14F-4D97-AF65-F5344CB8AC3E}">
        <p14:creationId xmlns:p14="http://schemas.microsoft.com/office/powerpoint/2010/main" val="2193566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285C74-4D44-445B-A12A-004365F96D79}"/>
              </a:ext>
            </a:extLst>
          </p:cNvPr>
          <p:cNvSpPr>
            <a:spLocks noGrp="1"/>
          </p:cNvSpPr>
          <p:nvPr>
            <p:ph type="title"/>
          </p:nvPr>
        </p:nvSpPr>
        <p:spPr>
          <a:xfrm>
            <a:off x="1551432" y="365125"/>
            <a:ext cx="9985248" cy="1325563"/>
          </a:xfrm>
        </p:spPr>
        <p:txBody>
          <a:bodyPr/>
          <a:lstStyle/>
          <a:p>
            <a:pPr algn="ctr"/>
            <a:r>
              <a:rPr lang="en-US" dirty="0"/>
              <a:t>Operators and Expressions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xmlns="" id="{E02778B8-282E-4C73-B97D-9871BB706AC0}"/>
              </a:ext>
            </a:extLst>
          </p:cNvPr>
          <p:cNvSpPr>
            <a:spLocks noGrp="1"/>
          </p:cNvSpPr>
          <p:nvPr>
            <p:ph idx="1"/>
          </p:nvPr>
        </p:nvSpPr>
        <p:spPr/>
        <p:txBody>
          <a:bodyPr/>
          <a:lstStyle/>
          <a:p>
            <a:pPr algn="just" eaLnBrk="0" fontAlgn="base" hangingPunct="0">
              <a:lnSpc>
                <a:spcPct val="100000"/>
              </a:lnSpc>
              <a:spcBef>
                <a:spcPct val="20000"/>
              </a:spcBef>
              <a:spcAft>
                <a:spcPct val="0"/>
              </a:spcAft>
              <a:defRPr/>
            </a:pPr>
            <a:r>
              <a:rPr lang="en-US" dirty="0">
                <a:latin typeface="Times New Roman" pitchFamily="18" charset="0"/>
                <a:cs typeface="Times New Roman" pitchFamily="18" charset="0"/>
              </a:rPr>
              <a:t>An expression that involves arithmetic operators is known as an arithmetic expression. The computed result of an arithmetic expression is always a numerical value. </a:t>
            </a: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endParaRPr lang="en-US" dirty="0">
              <a:latin typeface="Times New Roman" pitchFamily="18" charset="0"/>
              <a:cs typeface="Times New Roman" pitchFamily="18" charset="0"/>
            </a:endParaRPr>
          </a:p>
          <a:p>
            <a:pPr marL="342900" marR="0" lvl="0" indent="-342900" algn="l" defTabSz="914400" rtl="0" eaLnBrk="0" fontAlgn="base" latinLnBrk="0" hangingPunct="0">
              <a:lnSpc>
                <a:spcPct val="100000"/>
              </a:lnSpc>
              <a:spcBef>
                <a:spcPct val="20000"/>
              </a:spcBef>
              <a:spcAft>
                <a:spcPct val="0"/>
              </a:spcAft>
              <a:buClrTx/>
              <a:buSzTx/>
              <a:buFont typeface="Arial" pitchFamily="34" charset="0"/>
              <a:buChar char="•"/>
              <a:tabLst/>
              <a:defRPr/>
            </a:pPr>
            <a:r>
              <a:rPr lang="en-US" dirty="0">
                <a:latin typeface="Times New Roman" pitchFamily="18" charset="0"/>
                <a:cs typeface="Times New Roman" pitchFamily="18" charset="0"/>
              </a:rPr>
              <a:t>An expression which involves relational and/or logical operators is called a </a:t>
            </a:r>
            <a:r>
              <a:rPr lang="en-US" dirty="0" err="1">
                <a:latin typeface="Times New Roman" pitchFamily="18" charset="0"/>
                <a:cs typeface="Times New Roman" pitchFamily="18" charset="0"/>
              </a:rPr>
              <a:t>boolean</a:t>
            </a:r>
            <a:r>
              <a:rPr lang="en-US" dirty="0">
                <a:latin typeface="Times New Roman" pitchFamily="18" charset="0"/>
                <a:cs typeface="Times New Roman" pitchFamily="18" charset="0"/>
              </a:rPr>
              <a:t> expression or logical expression.  The computed result of such an expression is a logical value, i.e., either 1 (True) or 0 (False).</a:t>
            </a:r>
          </a:p>
          <a:p>
            <a:endParaRPr lang="en-IN" dirty="0"/>
          </a:p>
        </p:txBody>
      </p:sp>
    </p:spTree>
    <p:extLst>
      <p:ext uri="{BB962C8B-B14F-4D97-AF65-F5344CB8AC3E}">
        <p14:creationId xmlns:p14="http://schemas.microsoft.com/office/powerpoint/2010/main" val="40234365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2A4DFC-DFC1-4986-9889-62485D8B064A}"/>
              </a:ext>
            </a:extLst>
          </p:cNvPr>
          <p:cNvSpPr>
            <a:spLocks noGrp="1"/>
          </p:cNvSpPr>
          <p:nvPr>
            <p:ph type="title"/>
          </p:nvPr>
        </p:nvSpPr>
        <p:spPr>
          <a:xfrm>
            <a:off x="1551431" y="365125"/>
            <a:ext cx="9953383" cy="1031413"/>
          </a:xfrm>
        </p:spPr>
        <p:txBody>
          <a:bodyPr>
            <a:normAutofit/>
          </a:bodyPr>
          <a:lstStyle/>
          <a:p>
            <a:pPr algn="ctr"/>
            <a:r>
              <a:rPr lang="en-US" sz="4400" dirty="0"/>
              <a:t>Rules for Formation of an Expression </a:t>
            </a:r>
            <a:endParaRPr lang="en-IN" dirty="0"/>
          </a:p>
        </p:txBody>
      </p:sp>
      <p:sp>
        <p:nvSpPr>
          <p:cNvPr id="6" name="Content Placeholder 5">
            <a:extLst>
              <a:ext uri="{FF2B5EF4-FFF2-40B4-BE49-F238E27FC236}">
                <a16:creationId xmlns:a16="http://schemas.microsoft.com/office/drawing/2014/main" xmlns="" id="{348490FC-3FC1-4578-ADB7-666ED854074E}"/>
              </a:ext>
            </a:extLst>
          </p:cNvPr>
          <p:cNvSpPr>
            <a:spLocks noGrp="1"/>
          </p:cNvSpPr>
          <p:nvPr>
            <p:ph idx="1"/>
          </p:nvPr>
        </p:nvSpPr>
        <p:spPr/>
        <p:txBody>
          <a:bodyPr/>
          <a:lstStyle/>
          <a:p>
            <a:pPr marL="514350" indent="-514350">
              <a:buFont typeface="Calibri" pitchFamily="34" charset="0"/>
              <a:buAutoNum type="arabicPeriod"/>
            </a:pPr>
            <a:r>
              <a:rPr lang="en-US" sz="2800" dirty="0">
                <a:latin typeface="Times New Roman" pitchFamily="18" charset="0"/>
                <a:cs typeface="Times New Roman" pitchFamily="18" charset="0"/>
              </a:rPr>
              <a:t>A signed or unsigned constant or variable is an expression.</a:t>
            </a:r>
          </a:p>
          <a:p>
            <a:pPr marL="514350" indent="-514350">
              <a:buFont typeface="Calibri" pitchFamily="34" charset="0"/>
              <a:buAutoNum type="arabicPeriod"/>
            </a:pPr>
            <a:r>
              <a:rPr lang="en-US" sz="2800" dirty="0">
                <a:latin typeface="Times New Roman" pitchFamily="18" charset="0"/>
                <a:cs typeface="Times New Roman" pitchFamily="18" charset="0"/>
              </a:rPr>
              <a:t>An expression connected by an operator to a variable or a constant is an expression.</a:t>
            </a:r>
          </a:p>
          <a:p>
            <a:pPr marL="514350" indent="-514350">
              <a:buFont typeface="Calibri" pitchFamily="34" charset="0"/>
              <a:buAutoNum type="arabicPeriod"/>
            </a:pPr>
            <a:r>
              <a:rPr lang="en-US" sz="2800" dirty="0">
                <a:latin typeface="Times New Roman" pitchFamily="18" charset="0"/>
                <a:cs typeface="Times New Roman" pitchFamily="18" charset="0"/>
              </a:rPr>
              <a:t>Two expressions connected by an operator also form an expression.</a:t>
            </a:r>
          </a:p>
          <a:p>
            <a:pPr marL="514350" indent="-514350">
              <a:buFont typeface="Calibri" pitchFamily="34" charset="0"/>
              <a:buAutoNum type="arabicPeriod"/>
            </a:pPr>
            <a:r>
              <a:rPr lang="en-US" sz="2800" dirty="0">
                <a:latin typeface="Times New Roman" pitchFamily="18" charset="0"/>
                <a:cs typeface="Times New Roman" pitchFamily="18" charset="0"/>
              </a:rPr>
              <a:t>Two operators should not occur in continuation.</a:t>
            </a:r>
          </a:p>
          <a:p>
            <a:endParaRPr lang="en-IN" dirty="0"/>
          </a:p>
        </p:txBody>
      </p:sp>
    </p:spTree>
    <p:extLst>
      <p:ext uri="{BB962C8B-B14F-4D97-AF65-F5344CB8AC3E}">
        <p14:creationId xmlns:p14="http://schemas.microsoft.com/office/powerpoint/2010/main" val="6941081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551CF4C-B670-4C65-A422-BB54B750F037}"/>
              </a:ext>
            </a:extLst>
          </p:cNvPr>
          <p:cNvSpPr>
            <a:spLocks noGrp="1"/>
          </p:cNvSpPr>
          <p:nvPr>
            <p:ph type="title"/>
          </p:nvPr>
        </p:nvSpPr>
        <p:spPr>
          <a:xfrm>
            <a:off x="1551432" y="365126"/>
            <a:ext cx="10019884" cy="748780"/>
          </a:xfrm>
        </p:spPr>
        <p:txBody>
          <a:bodyPr/>
          <a:lstStyle/>
          <a:p>
            <a:pPr algn="ctr"/>
            <a:r>
              <a:rPr lang="en-US" dirty="0"/>
              <a:t>Types of Operators</a:t>
            </a:r>
            <a:endParaRPr lang="en-IN" dirty="0"/>
          </a:p>
        </p:txBody>
      </p:sp>
      <p:sp>
        <p:nvSpPr>
          <p:cNvPr id="4" name="Content Placeholder 3">
            <a:extLst>
              <a:ext uri="{FF2B5EF4-FFF2-40B4-BE49-F238E27FC236}">
                <a16:creationId xmlns:a16="http://schemas.microsoft.com/office/drawing/2014/main" xmlns="" id="{BB7E1867-FEC3-45D1-AFFB-165C4750C670}"/>
              </a:ext>
            </a:extLst>
          </p:cNvPr>
          <p:cNvSpPr>
            <a:spLocks noGrp="1"/>
          </p:cNvSpPr>
          <p:nvPr>
            <p:ph idx="1"/>
          </p:nvPr>
        </p:nvSpPr>
        <p:spPr/>
        <p:txBody>
          <a:bodyPr/>
          <a:lstStyle/>
          <a:p>
            <a:endParaRPr lang="en-IN"/>
          </a:p>
        </p:txBody>
      </p:sp>
      <p:pic>
        <p:nvPicPr>
          <p:cNvPr id="1026" name="Picture 2" descr="Operators in C – Advance Computing">
            <a:extLst>
              <a:ext uri="{FF2B5EF4-FFF2-40B4-BE49-F238E27FC236}">
                <a16:creationId xmlns:a16="http://schemas.microsoft.com/office/drawing/2014/main" xmlns="" id="{3C31B954-0202-4617-8342-373FF6051C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7976" y="1437437"/>
            <a:ext cx="8408024" cy="4601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93848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A3DAF2-D7E1-44FA-A350-462672C17E6E}"/>
              </a:ext>
            </a:extLst>
          </p:cNvPr>
          <p:cNvSpPr>
            <a:spLocks noGrp="1"/>
          </p:cNvSpPr>
          <p:nvPr>
            <p:ph type="title"/>
          </p:nvPr>
        </p:nvSpPr>
        <p:spPr/>
        <p:txBody>
          <a:bodyPr/>
          <a:lstStyle/>
          <a:p>
            <a:r>
              <a:rPr lang="en-IN" dirty="0"/>
              <a:t>Special Operators</a:t>
            </a:r>
          </a:p>
        </p:txBody>
      </p:sp>
      <p:sp>
        <p:nvSpPr>
          <p:cNvPr id="3" name="Content Placeholder 2">
            <a:extLst>
              <a:ext uri="{FF2B5EF4-FFF2-40B4-BE49-F238E27FC236}">
                <a16:creationId xmlns:a16="http://schemas.microsoft.com/office/drawing/2014/main" xmlns="" id="{50F8E98A-0B21-44A2-AA18-2B7D48D2C438}"/>
              </a:ext>
            </a:extLst>
          </p:cNvPr>
          <p:cNvSpPr>
            <a:spLocks noGrp="1"/>
          </p:cNvSpPr>
          <p:nvPr>
            <p:ph idx="1"/>
          </p:nvPr>
        </p:nvSpPr>
        <p:spPr/>
        <p:txBody>
          <a:bodyPr/>
          <a:lstStyle/>
          <a:p>
            <a:pPr marL="609600" indent="-609600">
              <a:buFontTx/>
              <a:buAutoNum type="arabicPeriod"/>
            </a:pPr>
            <a:r>
              <a:rPr lang="en-US" altLang="en-US" dirty="0"/>
              <a:t>Comma operator ( , )</a:t>
            </a:r>
          </a:p>
          <a:p>
            <a:pPr marL="609600" indent="-609600">
              <a:buFontTx/>
              <a:buAutoNum type="arabicPeriod"/>
            </a:pPr>
            <a:r>
              <a:rPr lang="en-US" altLang="en-US" dirty="0" err="1"/>
              <a:t>sizeof</a:t>
            </a:r>
            <a:r>
              <a:rPr lang="en-US" altLang="en-US" dirty="0"/>
              <a:t> operator – </a:t>
            </a:r>
            <a:r>
              <a:rPr lang="en-US" altLang="en-US" dirty="0" err="1"/>
              <a:t>sizeof</a:t>
            </a:r>
            <a:r>
              <a:rPr lang="en-US" altLang="en-US" dirty="0"/>
              <a:t>( )</a:t>
            </a:r>
          </a:p>
          <a:p>
            <a:pPr marL="609600" indent="-609600">
              <a:buFontTx/>
              <a:buAutoNum type="arabicPeriod"/>
            </a:pPr>
            <a:r>
              <a:rPr lang="en-US" altLang="en-US" dirty="0"/>
              <a:t>Pointer operators – ( &amp; and *)</a:t>
            </a:r>
          </a:p>
          <a:p>
            <a:pPr marL="609600" indent="-609600">
              <a:buFontTx/>
              <a:buAutoNum type="arabicPeriod"/>
            </a:pPr>
            <a:r>
              <a:rPr lang="en-US" altLang="en-US" dirty="0"/>
              <a:t>Member selection operators – ( . and -&gt;)</a:t>
            </a:r>
          </a:p>
        </p:txBody>
      </p:sp>
    </p:spTree>
    <p:extLst>
      <p:ext uri="{BB962C8B-B14F-4D97-AF65-F5344CB8AC3E}">
        <p14:creationId xmlns:p14="http://schemas.microsoft.com/office/powerpoint/2010/main" val="26221897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DDE611-D195-4EFE-BA92-B1E37DEA6640}"/>
              </a:ext>
            </a:extLst>
          </p:cNvPr>
          <p:cNvSpPr>
            <a:spLocks noGrp="1"/>
          </p:cNvSpPr>
          <p:nvPr>
            <p:ph type="title"/>
          </p:nvPr>
        </p:nvSpPr>
        <p:spPr>
          <a:xfrm>
            <a:off x="1551432" y="365125"/>
            <a:ext cx="10086386" cy="1325563"/>
          </a:xfrm>
        </p:spPr>
        <p:txBody>
          <a:bodyPr/>
          <a:lstStyle/>
          <a:p>
            <a:pPr algn="ctr"/>
            <a:r>
              <a:rPr lang="en-US" dirty="0"/>
              <a:t>Arithmetic Operators</a:t>
            </a:r>
            <a:endParaRPr lang="en-IN" dirty="0"/>
          </a:p>
        </p:txBody>
      </p:sp>
      <p:graphicFrame>
        <p:nvGraphicFramePr>
          <p:cNvPr id="5" name="Content Placeholder 3">
            <a:extLst>
              <a:ext uri="{FF2B5EF4-FFF2-40B4-BE49-F238E27FC236}">
                <a16:creationId xmlns:a16="http://schemas.microsoft.com/office/drawing/2014/main" xmlns="" id="{162225D5-795E-4048-9871-0E9737AEEE3B}"/>
              </a:ext>
            </a:extLst>
          </p:cNvPr>
          <p:cNvGraphicFramePr>
            <a:graphicFrameLocks/>
          </p:cNvGraphicFramePr>
          <p:nvPr/>
        </p:nvGraphicFramePr>
        <p:xfrm>
          <a:off x="3349749" y="1798320"/>
          <a:ext cx="6860875" cy="3805072"/>
        </p:xfrm>
        <a:graphic>
          <a:graphicData uri="http://schemas.openxmlformats.org/drawingml/2006/table">
            <a:tbl>
              <a:tblPr firstRow="1" firstCol="1" bandRow="1">
                <a:tableStyleId>{5C22544A-7EE6-4342-B048-85BDC9FD1C3A}</a:tableStyleId>
              </a:tblPr>
              <a:tblGrid>
                <a:gridCol w="1665629">
                  <a:extLst>
                    <a:ext uri="{9D8B030D-6E8A-4147-A177-3AD203B41FA5}">
                      <a16:colId xmlns:a16="http://schemas.microsoft.com/office/drawing/2014/main" xmlns="" val="86537049"/>
                    </a:ext>
                  </a:extLst>
                </a:gridCol>
                <a:gridCol w="1985103">
                  <a:extLst>
                    <a:ext uri="{9D8B030D-6E8A-4147-A177-3AD203B41FA5}">
                      <a16:colId xmlns:a16="http://schemas.microsoft.com/office/drawing/2014/main" xmlns="" val="2280360318"/>
                    </a:ext>
                  </a:extLst>
                </a:gridCol>
                <a:gridCol w="1635088">
                  <a:extLst>
                    <a:ext uri="{9D8B030D-6E8A-4147-A177-3AD203B41FA5}">
                      <a16:colId xmlns:a16="http://schemas.microsoft.com/office/drawing/2014/main" xmlns="" val="1619246813"/>
                    </a:ext>
                  </a:extLst>
                </a:gridCol>
                <a:gridCol w="1575055">
                  <a:extLst>
                    <a:ext uri="{9D8B030D-6E8A-4147-A177-3AD203B41FA5}">
                      <a16:colId xmlns:a16="http://schemas.microsoft.com/office/drawing/2014/main" xmlns="" val="3868978268"/>
                    </a:ext>
                  </a:extLst>
                </a:gridCol>
              </a:tblGrid>
              <a:tr h="586253">
                <a:tc>
                  <a:txBody>
                    <a:bodyPr/>
                    <a:lstStyle/>
                    <a:p>
                      <a:pPr algn="ctr">
                        <a:spcAft>
                          <a:spcPts val="0"/>
                        </a:spcAft>
                      </a:pPr>
                      <a:r>
                        <a:rPr lang="en-US" sz="2400" dirty="0">
                          <a:effectLst/>
                          <a:latin typeface="Times New Roman" panose="02020603050405020304" pitchFamily="18" charset="0"/>
                          <a:cs typeface="Times New Roman" panose="02020603050405020304" pitchFamily="18" charset="0"/>
                        </a:rPr>
                        <a:t>Operator</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US" sz="2400" dirty="0">
                          <a:effectLst/>
                          <a:latin typeface="Times New Roman" panose="02020603050405020304" pitchFamily="18" charset="0"/>
                          <a:cs typeface="Times New Roman" panose="02020603050405020304" pitchFamily="18" charset="0"/>
                        </a:rPr>
                        <a:t>Meaning</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Example 1</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Example 2</a:t>
                      </a:r>
                    </a:p>
                  </a:txBody>
                  <a:tcPr marL="68580" marR="68580" marT="0" marB="0" anchor="ctr"/>
                </a:tc>
                <a:extLst>
                  <a:ext uri="{0D108BD9-81ED-4DB2-BD59-A6C34878D82A}">
                    <a16:rowId xmlns:a16="http://schemas.microsoft.com/office/drawing/2014/main" xmlns="" val="166428563"/>
                  </a:ext>
                </a:extLst>
              </a:tr>
              <a:tr h="521151">
                <a:tc>
                  <a:txBody>
                    <a:bodyPr/>
                    <a:lstStyle/>
                    <a:p>
                      <a:pPr algn="ctr">
                        <a:spcAft>
                          <a:spcPts val="0"/>
                        </a:spcAft>
                      </a:pPr>
                      <a:r>
                        <a:rPr lang="en-US" sz="2400" dirty="0">
                          <a:solidFill>
                            <a:schemeClr val="tx1"/>
                          </a:solidFill>
                          <a:effectLst/>
                          <a:latin typeface="Times New Roman" panose="02020603050405020304" pitchFamily="18" charset="0"/>
                          <a:cs typeface="Times New Roman" panose="02020603050405020304" pitchFamily="18" charset="0"/>
                        </a:rPr>
                        <a:t>+</a:t>
                      </a:r>
                      <a:endParaRPr lang="en-IN"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l">
                        <a:spcAft>
                          <a:spcPts val="0"/>
                        </a:spcAft>
                      </a:pPr>
                      <a:r>
                        <a:rPr lang="en-US" sz="2400" dirty="0">
                          <a:solidFill>
                            <a:schemeClr val="tx1"/>
                          </a:solidFill>
                          <a:effectLst/>
                          <a:latin typeface="Times New Roman" panose="02020603050405020304" pitchFamily="18" charset="0"/>
                          <a:cs typeface="Times New Roman" panose="02020603050405020304" pitchFamily="18" charset="0"/>
                        </a:rPr>
                        <a:t>Addition</a:t>
                      </a:r>
                      <a:endParaRPr lang="en-IN"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l">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2+2=4</a:t>
                      </a:r>
                    </a:p>
                  </a:txBody>
                  <a:tcPr marL="68580" marR="68580" marT="0" marB="0" anchor="ctr">
                    <a:solidFill>
                      <a:schemeClr val="accent1">
                        <a:lumMod val="20000"/>
                        <a:lumOff val="80000"/>
                      </a:schemeClr>
                    </a:solidFill>
                  </a:tcPr>
                </a:tc>
                <a:tc>
                  <a:txBody>
                    <a:bodyPr/>
                    <a:lstStyle/>
                    <a:p>
                      <a:pPr algn="l">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12+4.9 = 16.9</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3857746136"/>
                  </a:ext>
                </a:extLst>
              </a:tr>
              <a:tr h="641667">
                <a:tc>
                  <a:txBody>
                    <a:bodyPr/>
                    <a:lstStyle/>
                    <a:p>
                      <a:pPr algn="ctr">
                        <a:spcAft>
                          <a:spcPts val="0"/>
                        </a:spcAft>
                      </a:pPr>
                      <a:r>
                        <a:rPr lang="en-US" sz="2400" dirty="0">
                          <a:solidFill>
                            <a:schemeClr val="tx1"/>
                          </a:solidFill>
                          <a:effectLst/>
                          <a:latin typeface="Times New Roman" panose="02020603050405020304" pitchFamily="18" charset="0"/>
                          <a:cs typeface="Times New Roman" panose="02020603050405020304" pitchFamily="18" charset="0"/>
                        </a:rPr>
                        <a:t>-</a:t>
                      </a:r>
                      <a:endParaRPr lang="en-IN"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l">
                        <a:spcAft>
                          <a:spcPts val="0"/>
                        </a:spcAft>
                      </a:pPr>
                      <a:r>
                        <a:rPr lang="en-US" sz="2400" dirty="0">
                          <a:solidFill>
                            <a:schemeClr val="tx1"/>
                          </a:solidFill>
                          <a:effectLst/>
                          <a:latin typeface="Times New Roman" panose="02020603050405020304" pitchFamily="18" charset="0"/>
                          <a:cs typeface="Times New Roman" panose="02020603050405020304" pitchFamily="18" charset="0"/>
                        </a:rPr>
                        <a:t>Subtraction</a:t>
                      </a:r>
                      <a:endParaRPr lang="en-IN"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l">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5-3=2</a:t>
                      </a:r>
                    </a:p>
                  </a:txBody>
                  <a:tcPr marL="68580" marR="68580" marT="0" marB="0" anchor="ctr">
                    <a:solidFill>
                      <a:schemeClr val="accent1">
                        <a:lumMod val="20000"/>
                        <a:lumOff val="80000"/>
                      </a:schemeClr>
                    </a:solidFill>
                  </a:tcPr>
                </a:tc>
                <a:tc>
                  <a:txBody>
                    <a:bodyPr/>
                    <a:lstStyle/>
                    <a:p>
                      <a:pPr algn="l">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3.98-4=-0.02</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2043060811"/>
                  </a:ext>
                </a:extLst>
              </a:tr>
              <a:tr h="641667">
                <a:tc>
                  <a:txBody>
                    <a:bodyPr/>
                    <a:lstStyle/>
                    <a:p>
                      <a:pPr algn="ctr">
                        <a:spcAft>
                          <a:spcPts val="0"/>
                        </a:spcAft>
                      </a:pPr>
                      <a:r>
                        <a:rPr lang="en-US" sz="2400" dirty="0">
                          <a:solidFill>
                            <a:schemeClr val="tx1"/>
                          </a:solidFill>
                          <a:effectLst/>
                          <a:latin typeface="Times New Roman" panose="02020603050405020304" pitchFamily="18" charset="0"/>
                          <a:cs typeface="Times New Roman" panose="02020603050405020304" pitchFamily="18" charset="0"/>
                        </a:rPr>
                        <a:t>*</a:t>
                      </a:r>
                      <a:endParaRPr lang="en-IN"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l">
                        <a:spcAft>
                          <a:spcPts val="0"/>
                        </a:spcAft>
                      </a:pPr>
                      <a:r>
                        <a:rPr lang="en-US" sz="2400" dirty="0">
                          <a:solidFill>
                            <a:schemeClr val="tx1"/>
                          </a:solidFill>
                          <a:effectLst/>
                          <a:latin typeface="Times New Roman" panose="02020603050405020304" pitchFamily="18" charset="0"/>
                          <a:cs typeface="Times New Roman" panose="02020603050405020304" pitchFamily="18" charset="0"/>
                        </a:rPr>
                        <a:t>Multiplication</a:t>
                      </a:r>
                      <a:endParaRPr lang="en-IN"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l">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2*5=10</a:t>
                      </a:r>
                    </a:p>
                  </a:txBody>
                  <a:tcPr marL="68580" marR="68580" marT="0" marB="0" anchor="ctr">
                    <a:solidFill>
                      <a:schemeClr val="accent1">
                        <a:lumMod val="20000"/>
                        <a:lumOff val="80000"/>
                      </a:schemeClr>
                    </a:solidFill>
                  </a:tcPr>
                </a:tc>
                <a:tc>
                  <a:txBody>
                    <a:bodyPr/>
                    <a:lstStyle/>
                    <a:p>
                      <a:pPr algn="l">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2*3.4=6.8</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2086290602"/>
                  </a:ext>
                </a:extLst>
              </a:tr>
              <a:tr h="521151">
                <a:tc>
                  <a:txBody>
                    <a:bodyPr/>
                    <a:lstStyle/>
                    <a:p>
                      <a:pPr algn="ctr">
                        <a:spcAft>
                          <a:spcPts val="0"/>
                        </a:spcAft>
                      </a:pPr>
                      <a:r>
                        <a:rPr lang="en-US" sz="2400" dirty="0">
                          <a:solidFill>
                            <a:schemeClr val="tx1"/>
                          </a:solidFill>
                          <a:effectLst/>
                          <a:latin typeface="Times New Roman" panose="02020603050405020304" pitchFamily="18" charset="0"/>
                          <a:cs typeface="Times New Roman" panose="02020603050405020304" pitchFamily="18" charset="0"/>
                        </a:rPr>
                        <a:t>/</a:t>
                      </a:r>
                      <a:endParaRPr lang="en-IN"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l">
                        <a:spcAft>
                          <a:spcPts val="0"/>
                        </a:spcAft>
                      </a:pPr>
                      <a:r>
                        <a:rPr lang="en-US" sz="2400" dirty="0">
                          <a:solidFill>
                            <a:schemeClr val="tx1"/>
                          </a:solidFill>
                          <a:effectLst/>
                          <a:latin typeface="Times New Roman" panose="02020603050405020304" pitchFamily="18" charset="0"/>
                          <a:cs typeface="Times New Roman" panose="02020603050405020304" pitchFamily="18" charset="0"/>
                        </a:rPr>
                        <a:t>Division</a:t>
                      </a:r>
                      <a:endParaRPr lang="en-IN"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l">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11/3=3</a:t>
                      </a:r>
                    </a:p>
                  </a:txBody>
                  <a:tcPr marL="68580" marR="68580" marT="0" marB="0" anchor="ctr">
                    <a:solidFill>
                      <a:schemeClr val="accent1">
                        <a:lumMod val="20000"/>
                        <a:lumOff val="80000"/>
                      </a:schemeClr>
                    </a:solidFill>
                  </a:tcPr>
                </a:tc>
                <a:tc>
                  <a:txBody>
                    <a:bodyPr/>
                    <a:lstStyle/>
                    <a:p>
                      <a:pPr algn="l">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9/2.0=4.5</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840645046"/>
                  </a:ext>
                </a:extLst>
              </a:tr>
              <a:tr h="893183">
                <a:tc>
                  <a:txBody>
                    <a:bodyPr/>
                    <a:lstStyle/>
                    <a:p>
                      <a:pPr algn="ctr">
                        <a:spcAft>
                          <a:spcPts val="0"/>
                        </a:spcAft>
                      </a:pPr>
                      <a:r>
                        <a:rPr lang="en-US" sz="2400" dirty="0">
                          <a:solidFill>
                            <a:schemeClr val="tx1"/>
                          </a:solidFill>
                          <a:effectLst/>
                          <a:latin typeface="Times New Roman" panose="02020603050405020304" pitchFamily="18" charset="0"/>
                          <a:cs typeface="Times New Roman" panose="02020603050405020304" pitchFamily="18" charset="0"/>
                        </a:rPr>
                        <a:t>%</a:t>
                      </a:r>
                      <a:endParaRPr lang="en-IN"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l">
                        <a:spcAft>
                          <a:spcPts val="0"/>
                        </a:spcAft>
                      </a:pPr>
                      <a:r>
                        <a:rPr lang="en-US" sz="2400" dirty="0">
                          <a:solidFill>
                            <a:schemeClr val="tx1"/>
                          </a:solidFill>
                          <a:effectLst/>
                          <a:latin typeface="Times New Roman" panose="02020603050405020304" pitchFamily="18" charset="0"/>
                          <a:cs typeface="Times New Roman" panose="02020603050405020304" pitchFamily="18" charset="0"/>
                        </a:rPr>
                        <a:t>Modulo division</a:t>
                      </a:r>
                      <a:endParaRPr lang="en-IN"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l">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11%3=2</a:t>
                      </a:r>
                    </a:p>
                  </a:txBody>
                  <a:tcPr marL="68580" marR="68580" marT="0" marB="0" anchor="ctr">
                    <a:solidFill>
                      <a:schemeClr val="accent1">
                        <a:lumMod val="20000"/>
                        <a:lumOff val="80000"/>
                      </a:schemeClr>
                    </a:solidFill>
                  </a:tcPr>
                </a:tc>
                <a:tc>
                  <a:txBody>
                    <a:bodyPr/>
                    <a:lstStyle/>
                    <a:p>
                      <a:pPr algn="l">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13%2.5 (Error)</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4050610446"/>
                  </a:ext>
                </a:extLst>
              </a:tr>
            </a:tbl>
          </a:graphicData>
        </a:graphic>
      </p:graphicFrame>
      <p:sp>
        <p:nvSpPr>
          <p:cNvPr id="6" name="Left Brace 5">
            <a:extLst>
              <a:ext uri="{FF2B5EF4-FFF2-40B4-BE49-F238E27FC236}">
                <a16:creationId xmlns:a16="http://schemas.microsoft.com/office/drawing/2014/main" xmlns="" id="{6B0AECAF-7C72-4AEF-8F33-2C16B6A10568}"/>
              </a:ext>
            </a:extLst>
          </p:cNvPr>
          <p:cNvSpPr/>
          <p:nvPr/>
        </p:nvSpPr>
        <p:spPr>
          <a:xfrm>
            <a:off x="2595370" y="2413654"/>
            <a:ext cx="690942" cy="3189738"/>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7" name="Left Brace 6">
            <a:extLst>
              <a:ext uri="{FF2B5EF4-FFF2-40B4-BE49-F238E27FC236}">
                <a16:creationId xmlns:a16="http://schemas.microsoft.com/office/drawing/2014/main" xmlns="" id="{2F57F7AE-A55D-4E2D-9C1B-5B452DEE936F}"/>
              </a:ext>
            </a:extLst>
          </p:cNvPr>
          <p:cNvSpPr/>
          <p:nvPr/>
        </p:nvSpPr>
        <p:spPr>
          <a:xfrm>
            <a:off x="1868422" y="2430780"/>
            <a:ext cx="886968" cy="2308860"/>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9" name="TextBox 8">
            <a:extLst>
              <a:ext uri="{FF2B5EF4-FFF2-40B4-BE49-F238E27FC236}">
                <a16:creationId xmlns:a16="http://schemas.microsoft.com/office/drawing/2014/main" xmlns="" id="{30D40A8A-628F-4598-A76D-B4B1F0044E4B}"/>
              </a:ext>
            </a:extLst>
          </p:cNvPr>
          <p:cNvSpPr txBox="1"/>
          <p:nvPr/>
        </p:nvSpPr>
        <p:spPr>
          <a:xfrm rot="16200000">
            <a:off x="2738883" y="3749159"/>
            <a:ext cx="914400" cy="369332"/>
          </a:xfrm>
          <a:prstGeom prst="rect">
            <a:avLst/>
          </a:prstGeom>
          <a:noFill/>
        </p:spPr>
        <p:txBody>
          <a:bodyPr wrap="square" rtlCol="0">
            <a:spAutoFit/>
          </a:bodyPr>
          <a:lstStyle/>
          <a:p>
            <a:r>
              <a:rPr lang="en-IN" dirty="0"/>
              <a:t>int</a:t>
            </a:r>
          </a:p>
        </p:txBody>
      </p:sp>
      <p:sp>
        <p:nvSpPr>
          <p:cNvPr id="12" name="TextBox 11">
            <a:extLst>
              <a:ext uri="{FF2B5EF4-FFF2-40B4-BE49-F238E27FC236}">
                <a16:creationId xmlns:a16="http://schemas.microsoft.com/office/drawing/2014/main" xmlns="" id="{7B67193F-25AB-4796-BA0F-F15FC550F12B}"/>
              </a:ext>
            </a:extLst>
          </p:cNvPr>
          <p:cNvSpPr txBox="1"/>
          <p:nvPr/>
        </p:nvSpPr>
        <p:spPr>
          <a:xfrm rot="16200000">
            <a:off x="1753739" y="2995612"/>
            <a:ext cx="1493520" cy="382905"/>
          </a:xfrm>
          <a:prstGeom prst="rect">
            <a:avLst/>
          </a:prstGeom>
          <a:noFill/>
        </p:spPr>
        <p:txBody>
          <a:bodyPr wrap="square" rtlCol="0">
            <a:spAutoFit/>
          </a:bodyPr>
          <a:lstStyle/>
          <a:p>
            <a:r>
              <a:rPr lang="en-IN" dirty="0"/>
              <a:t>float</a:t>
            </a:r>
          </a:p>
        </p:txBody>
      </p:sp>
    </p:spTree>
    <p:extLst>
      <p:ext uri="{BB962C8B-B14F-4D97-AF65-F5344CB8AC3E}">
        <p14:creationId xmlns:p14="http://schemas.microsoft.com/office/powerpoint/2010/main" val="29383138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xmlns="" id="{32B707D1-154A-470D-B30F-9BF3D9630498}"/>
              </a:ext>
            </a:extLst>
          </p:cNvPr>
          <p:cNvGrpSpPr>
            <a:grpSpLocks/>
          </p:cNvGrpSpPr>
          <p:nvPr/>
        </p:nvGrpSpPr>
        <p:grpSpPr bwMode="auto">
          <a:xfrm>
            <a:off x="1953661" y="3279775"/>
            <a:ext cx="7954962" cy="2835275"/>
            <a:chOff x="567" y="2066"/>
            <a:chExt cx="5011" cy="1786"/>
          </a:xfrm>
        </p:grpSpPr>
        <p:sp>
          <p:nvSpPr>
            <p:cNvPr id="3" name="Text Box 5">
              <a:extLst>
                <a:ext uri="{FF2B5EF4-FFF2-40B4-BE49-F238E27FC236}">
                  <a16:creationId xmlns:a16="http://schemas.microsoft.com/office/drawing/2014/main" xmlns="" id="{2644CF72-4FCA-4B4D-AC4B-FC2D27DD6DAD}"/>
                </a:ext>
              </a:extLst>
            </p:cNvPr>
            <p:cNvSpPr txBox="1">
              <a:spLocks noChangeArrowheads="1"/>
            </p:cNvSpPr>
            <p:nvPr/>
          </p:nvSpPr>
          <p:spPr bwMode="auto">
            <a:xfrm>
              <a:off x="567" y="2066"/>
              <a:ext cx="5011" cy="1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lg" len="lg"/>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2000" b="1" dirty="0" err="1">
                  <a:latin typeface="Courier New" panose="02070309020205020404" pitchFamily="49" charset="0"/>
                </a:rPr>
                <a:t>int</a:t>
              </a:r>
              <a:r>
                <a:rPr lang="en-US" altLang="en-US" sz="2000" b="1" dirty="0">
                  <a:latin typeface="Courier New" panose="02070309020205020404" pitchFamily="49" charset="0"/>
                </a:rPr>
                <a:t> x = 1;     x is declared an integer</a:t>
              </a:r>
            </a:p>
            <a:p>
              <a:pPr eaLnBrk="0" hangingPunct="0">
                <a:spcBef>
                  <a:spcPct val="50000"/>
                </a:spcBef>
              </a:pPr>
              <a:r>
                <a:rPr lang="en-US" altLang="en-US" sz="2000" b="1" dirty="0">
                  <a:latin typeface="Courier New" panose="02070309020205020404" pitchFamily="49" charset="0"/>
                </a:rPr>
                <a:t>x = x + 4.3    integer + floating point ??</a:t>
              </a:r>
            </a:p>
            <a:p>
              <a:pPr eaLnBrk="0" hangingPunct="0">
                <a:spcBef>
                  <a:spcPct val="50000"/>
                </a:spcBef>
              </a:pPr>
              <a:r>
                <a:rPr lang="en-US" altLang="en-US" sz="2000" b="1" dirty="0">
                  <a:latin typeface="Courier New" panose="02070309020205020404" pitchFamily="49" charset="0"/>
                </a:rPr>
                <a:t>               x is converted to floating point</a:t>
              </a:r>
            </a:p>
            <a:p>
              <a:pPr eaLnBrk="0" hangingPunct="0">
                <a:spcBef>
                  <a:spcPct val="50000"/>
                </a:spcBef>
              </a:pPr>
              <a:r>
                <a:rPr lang="en-US" altLang="en-US" sz="2000" b="1" dirty="0">
                  <a:latin typeface="Courier New" panose="02070309020205020404" pitchFamily="49" charset="0"/>
                </a:rPr>
                <a:t>               floating point addition</a:t>
              </a:r>
            </a:p>
            <a:p>
              <a:pPr eaLnBrk="0" hangingPunct="0">
                <a:spcBef>
                  <a:spcPct val="50000"/>
                </a:spcBef>
              </a:pPr>
              <a:r>
                <a:rPr lang="en-US" altLang="en-US" sz="2000" b="1" dirty="0">
                  <a:latin typeface="Courier New" panose="02070309020205020404" pitchFamily="49" charset="0"/>
                </a:rPr>
                <a:t>               result is converted (truncated)</a:t>
              </a:r>
              <a:br>
                <a:rPr lang="en-US" altLang="en-US" sz="2000" b="1" dirty="0">
                  <a:latin typeface="Courier New" panose="02070309020205020404" pitchFamily="49" charset="0"/>
                </a:rPr>
              </a:br>
              <a:r>
                <a:rPr lang="en-US" altLang="en-US" sz="2000" b="1" dirty="0">
                  <a:latin typeface="Courier New" panose="02070309020205020404" pitchFamily="49" charset="0"/>
                </a:rPr>
                <a:t>               back to integer for assignment</a:t>
              </a:r>
              <a:br>
                <a:rPr lang="en-US" altLang="en-US" sz="2000" b="1" dirty="0">
                  <a:latin typeface="Courier New" panose="02070309020205020404" pitchFamily="49" charset="0"/>
                </a:rPr>
              </a:br>
              <a:r>
                <a:rPr lang="en-US" altLang="en-US" sz="2000" b="1" dirty="0">
                  <a:latin typeface="Courier New" panose="02070309020205020404" pitchFamily="49" charset="0"/>
                </a:rPr>
                <a:t>               (result is x = 5)</a:t>
              </a:r>
            </a:p>
          </p:txBody>
        </p:sp>
        <p:sp>
          <p:nvSpPr>
            <p:cNvPr id="4" name="AutoShape 6">
              <a:extLst>
                <a:ext uri="{FF2B5EF4-FFF2-40B4-BE49-F238E27FC236}">
                  <a16:creationId xmlns:a16="http://schemas.microsoft.com/office/drawing/2014/main" xmlns="" id="{CCC741D2-2B92-4CC2-9C1E-A6D167E7DE69}"/>
                </a:ext>
              </a:extLst>
            </p:cNvPr>
            <p:cNvSpPr>
              <a:spLocks/>
            </p:cNvSpPr>
            <p:nvPr/>
          </p:nvSpPr>
          <p:spPr bwMode="auto">
            <a:xfrm rot="-5400000">
              <a:off x="1002" y="2655"/>
              <a:ext cx="128" cy="210"/>
            </a:xfrm>
            <a:prstGeom prst="leftBrace">
              <a:avLst>
                <a:gd name="adj1" fmla="val 13672"/>
                <a:gd name="adj2" fmla="val 50000"/>
              </a:avLst>
            </a:prstGeom>
            <a:noFill/>
            <a:ln w="12700">
              <a:solidFill>
                <a:schemeClr val="tx1"/>
              </a:solidFill>
              <a:round/>
              <a:headEnd type="none" w="lg" len="lg"/>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 name="AutoShape 7">
              <a:extLst>
                <a:ext uri="{FF2B5EF4-FFF2-40B4-BE49-F238E27FC236}">
                  <a16:creationId xmlns:a16="http://schemas.microsoft.com/office/drawing/2014/main" xmlns="" id="{63246B2E-E580-4DDC-8341-E37559368436}"/>
                </a:ext>
              </a:extLst>
            </p:cNvPr>
            <p:cNvSpPr>
              <a:spLocks/>
            </p:cNvSpPr>
            <p:nvPr/>
          </p:nvSpPr>
          <p:spPr bwMode="auto">
            <a:xfrm rot="-5400000">
              <a:off x="1242" y="2625"/>
              <a:ext cx="174" cy="795"/>
            </a:xfrm>
            <a:prstGeom prst="leftBrace">
              <a:avLst>
                <a:gd name="adj1" fmla="val 38075"/>
                <a:gd name="adj2" fmla="val 50000"/>
              </a:avLst>
            </a:prstGeom>
            <a:noFill/>
            <a:ln w="12700">
              <a:solidFill>
                <a:schemeClr val="tx1"/>
              </a:solidFill>
              <a:round/>
              <a:headEnd type="none" w="lg" len="lg"/>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 name="AutoShape 8">
              <a:extLst>
                <a:ext uri="{FF2B5EF4-FFF2-40B4-BE49-F238E27FC236}">
                  <a16:creationId xmlns:a16="http://schemas.microsoft.com/office/drawing/2014/main" xmlns="" id="{17DDF005-7E7A-4E74-BECD-134945786F9C}"/>
                </a:ext>
              </a:extLst>
            </p:cNvPr>
            <p:cNvSpPr>
              <a:spLocks/>
            </p:cNvSpPr>
            <p:nvPr/>
          </p:nvSpPr>
          <p:spPr bwMode="auto">
            <a:xfrm rot="-5400000">
              <a:off x="1092" y="2764"/>
              <a:ext cx="183" cy="1133"/>
            </a:xfrm>
            <a:prstGeom prst="leftBrace">
              <a:avLst>
                <a:gd name="adj1" fmla="val 51594"/>
                <a:gd name="adj2" fmla="val 50000"/>
              </a:avLst>
            </a:prstGeom>
            <a:noFill/>
            <a:ln w="12700">
              <a:solidFill>
                <a:schemeClr val="tx1"/>
              </a:solidFill>
              <a:round/>
              <a:headEnd type="none" w="lg" len="lg"/>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sp>
        <p:nvSpPr>
          <p:cNvPr id="7" name="Title 6">
            <a:extLst>
              <a:ext uri="{FF2B5EF4-FFF2-40B4-BE49-F238E27FC236}">
                <a16:creationId xmlns:a16="http://schemas.microsoft.com/office/drawing/2014/main" xmlns="" id="{7F62FBA7-6CDF-4ECA-B89D-64E9B7F1577F}"/>
              </a:ext>
            </a:extLst>
          </p:cNvPr>
          <p:cNvSpPr>
            <a:spLocks noGrp="1"/>
          </p:cNvSpPr>
          <p:nvPr>
            <p:ph type="title"/>
          </p:nvPr>
        </p:nvSpPr>
        <p:spPr/>
        <p:txBody>
          <a:bodyPr>
            <a:normAutofit fontScale="90000"/>
          </a:bodyPr>
          <a:lstStyle/>
          <a:p>
            <a:r>
              <a:rPr lang="en-US" altLang="en-US" dirty="0">
                <a:latin typeface="Montserrat" panose="020B0604020202020204" charset="0"/>
              </a:rPr>
              <a:t>Variable implicit type conversion in expressions</a:t>
            </a:r>
            <a:endParaRPr lang="en-IN" dirty="0"/>
          </a:p>
        </p:txBody>
      </p:sp>
      <p:sp>
        <p:nvSpPr>
          <p:cNvPr id="8" name="Content Placeholder 7">
            <a:extLst>
              <a:ext uri="{FF2B5EF4-FFF2-40B4-BE49-F238E27FC236}">
                <a16:creationId xmlns:a16="http://schemas.microsoft.com/office/drawing/2014/main" xmlns="" id="{03887E78-F892-46EC-816D-DA3AB4DF33E2}"/>
              </a:ext>
            </a:extLst>
          </p:cNvPr>
          <p:cNvSpPr>
            <a:spLocks noGrp="1"/>
          </p:cNvSpPr>
          <p:nvPr>
            <p:ph idx="1"/>
          </p:nvPr>
        </p:nvSpPr>
        <p:spPr/>
        <p:txBody>
          <a:bodyPr/>
          <a:lstStyle/>
          <a:p>
            <a:r>
              <a:rPr lang="en-US" altLang="en-US" dirty="0"/>
              <a:t>When executing expressions of mixed types, C automatically converts integer to floating point and back again as needed.</a:t>
            </a:r>
          </a:p>
        </p:txBody>
      </p:sp>
    </p:spTree>
    <p:custDataLst>
      <p:tags r:id="rId1"/>
    </p:custDataLst>
    <p:extLst>
      <p:ext uri="{BB962C8B-B14F-4D97-AF65-F5344CB8AC3E}">
        <p14:creationId xmlns:p14="http://schemas.microsoft.com/office/powerpoint/2010/main" val="698445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447800" y="594360"/>
            <a:ext cx="10363200" cy="1143000"/>
          </a:xfrm>
        </p:spPr>
        <p:txBody>
          <a:bodyPr/>
          <a:lstStyle/>
          <a:p>
            <a:r>
              <a:rPr lang="en-US" altLang="en-US" dirty="0"/>
              <a:t>Promotion Hierarchy</a:t>
            </a:r>
          </a:p>
        </p:txBody>
      </p:sp>
      <p:pic>
        <p:nvPicPr>
          <p:cNvPr id="3" name="Content Placeholder 2"/>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1651155" y="2094479"/>
            <a:ext cx="5224608" cy="2858521"/>
          </a:xfrm>
        </p:spPr>
      </p:pic>
      <p:sp>
        <p:nvSpPr>
          <p:cNvPr id="10244" name="Rectangle 4"/>
          <p:cNvSpPr>
            <a:spLocks noGrp="1" noChangeArrowheads="1"/>
          </p:cNvSpPr>
          <p:nvPr>
            <p:ph type="body" sz="half" idx="2"/>
          </p:nvPr>
        </p:nvSpPr>
        <p:spPr>
          <a:xfrm>
            <a:off x="6766559" y="1896359"/>
            <a:ext cx="5532121" cy="4114800"/>
          </a:xfrm>
        </p:spPr>
        <p:txBody>
          <a:bodyPr/>
          <a:lstStyle/>
          <a:p>
            <a:r>
              <a:rPr lang="en-US" altLang="en-US" sz="2800" dirty="0"/>
              <a:t>Operands of the lower type can be implicitly converted to the higher type (in C)</a:t>
            </a:r>
          </a:p>
          <a:p>
            <a:r>
              <a:rPr lang="en-US" altLang="en-US" sz="2800" dirty="0"/>
              <a:t>Occurs when an operator expects the higher type (adding together two floats when one is an </a:t>
            </a:r>
            <a:r>
              <a:rPr lang="en-US" altLang="en-US" sz="2800" dirty="0" err="1"/>
              <a:t>int</a:t>
            </a:r>
            <a:r>
              <a:rPr lang="en-US" altLang="en-US" sz="2800" dirty="0"/>
              <a:t>)</a:t>
            </a:r>
          </a:p>
        </p:txBody>
      </p:sp>
    </p:spTree>
    <p:extLst>
      <p:ext uri="{BB962C8B-B14F-4D97-AF65-F5344CB8AC3E}">
        <p14:creationId xmlns:p14="http://schemas.microsoft.com/office/powerpoint/2010/main" val="23529928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C56F6D-995A-433C-A86E-AD9675B3C312}"/>
              </a:ext>
            </a:extLst>
          </p:cNvPr>
          <p:cNvSpPr>
            <a:spLocks noGrp="1"/>
          </p:cNvSpPr>
          <p:nvPr>
            <p:ph type="title"/>
          </p:nvPr>
        </p:nvSpPr>
        <p:spPr/>
        <p:txBody>
          <a:bodyPr/>
          <a:lstStyle/>
          <a:p>
            <a:pPr algn="ctr"/>
            <a:r>
              <a:rPr lang="en-US" dirty="0"/>
              <a:t>Relational Operator</a:t>
            </a:r>
            <a:endParaRPr lang="en-IN" dirty="0"/>
          </a:p>
        </p:txBody>
      </p:sp>
      <p:sp>
        <p:nvSpPr>
          <p:cNvPr id="3" name="Content Placeholder 2">
            <a:extLst>
              <a:ext uri="{FF2B5EF4-FFF2-40B4-BE49-F238E27FC236}">
                <a16:creationId xmlns:a16="http://schemas.microsoft.com/office/drawing/2014/main" xmlns="" id="{94360F5A-E7E2-4B69-B9D6-1AB355587066}"/>
              </a:ext>
            </a:extLst>
          </p:cNvPr>
          <p:cNvSpPr>
            <a:spLocks noGrp="1"/>
          </p:cNvSpPr>
          <p:nvPr>
            <p:ph sz="half" idx="1"/>
          </p:nvPr>
        </p:nvSpPr>
        <p:spPr>
          <a:xfrm>
            <a:off x="1203959" y="1825625"/>
            <a:ext cx="4489703" cy="4351338"/>
          </a:xfrm>
        </p:spPr>
        <p:txBody>
          <a:bodyPr>
            <a:normAutofit fontScale="85000" lnSpcReduction="10000"/>
          </a:bodyPr>
          <a:lstStyle/>
          <a:p>
            <a:pPr algn="just">
              <a:defRPr/>
            </a:pPr>
            <a:r>
              <a:rPr lang="en-US" sz="3200" dirty="0">
                <a:latin typeface="Times New Roman" pitchFamily="18" charset="0"/>
                <a:cs typeface="Times New Roman" pitchFamily="18" charset="0"/>
              </a:rPr>
              <a:t>Used to compare two values and the result of such operation is always logical, i.e., either true or false. </a:t>
            </a:r>
          </a:p>
          <a:p>
            <a:pPr marL="0" indent="0" algn="just">
              <a:buNone/>
              <a:defRPr/>
            </a:pPr>
            <a:endParaRPr lang="en-US" sz="3200" dirty="0">
              <a:latin typeface="Times New Roman" pitchFamily="18" charset="0"/>
              <a:cs typeface="Times New Roman" pitchFamily="18" charset="0"/>
            </a:endParaRPr>
          </a:p>
          <a:p>
            <a:pPr algn="just">
              <a:defRPr/>
            </a:pPr>
            <a:r>
              <a:rPr lang="en-US" sz="3200" dirty="0">
                <a:latin typeface="Times New Roman" pitchFamily="18" charset="0"/>
                <a:cs typeface="Times New Roman" pitchFamily="18" charset="0"/>
              </a:rPr>
              <a:t>Relational operators evaluate to 1, representing the </a:t>
            </a:r>
            <a:r>
              <a:rPr lang="en-US" sz="3200" i="1" dirty="0">
                <a:latin typeface="Times New Roman" pitchFamily="18" charset="0"/>
                <a:cs typeface="Times New Roman" pitchFamily="18" charset="0"/>
              </a:rPr>
              <a:t>true outcome, or </a:t>
            </a:r>
            <a:r>
              <a:rPr lang="en-US" sz="3200" dirty="0">
                <a:latin typeface="Times New Roman" pitchFamily="18" charset="0"/>
                <a:cs typeface="Times New Roman" pitchFamily="18" charset="0"/>
              </a:rPr>
              <a:t>0, representing the </a:t>
            </a:r>
            <a:r>
              <a:rPr lang="en-US" sz="3200" i="1" dirty="0">
                <a:latin typeface="Times New Roman" pitchFamily="18" charset="0"/>
                <a:cs typeface="Times New Roman" pitchFamily="18" charset="0"/>
              </a:rPr>
              <a:t>false outcome</a:t>
            </a:r>
            <a:endParaRPr lang="en-US" sz="3200" dirty="0">
              <a:latin typeface="Times New Roman" pitchFamily="18" charset="0"/>
              <a:cs typeface="Times New Roman" pitchFamily="18" charset="0"/>
            </a:endParaRPr>
          </a:p>
        </p:txBody>
      </p:sp>
      <p:sp>
        <p:nvSpPr>
          <p:cNvPr id="7" name="Content Placeholder 6">
            <a:extLst>
              <a:ext uri="{FF2B5EF4-FFF2-40B4-BE49-F238E27FC236}">
                <a16:creationId xmlns:a16="http://schemas.microsoft.com/office/drawing/2014/main" xmlns="" id="{3E38C395-2C0F-444E-AB21-4A6CFA366245}"/>
              </a:ext>
            </a:extLst>
          </p:cNvPr>
          <p:cNvSpPr>
            <a:spLocks noGrp="1"/>
          </p:cNvSpPr>
          <p:nvPr>
            <p:ph sz="half" idx="2"/>
          </p:nvPr>
        </p:nvSpPr>
        <p:spPr/>
        <p:txBody>
          <a:bodyPr>
            <a:normAutofit fontScale="85000" lnSpcReduction="10000"/>
          </a:bodyPr>
          <a:lstStyle/>
          <a:p>
            <a:endParaRPr lang="en-IN"/>
          </a:p>
        </p:txBody>
      </p:sp>
      <p:graphicFrame>
        <p:nvGraphicFramePr>
          <p:cNvPr id="6" name="Content Placeholder 3">
            <a:extLst>
              <a:ext uri="{FF2B5EF4-FFF2-40B4-BE49-F238E27FC236}">
                <a16:creationId xmlns:a16="http://schemas.microsoft.com/office/drawing/2014/main" xmlns="" id="{95441D03-DE96-4E62-AF14-1E0D0D3821E8}"/>
              </a:ext>
            </a:extLst>
          </p:cNvPr>
          <p:cNvGraphicFramePr>
            <a:graphicFrameLocks/>
          </p:cNvGraphicFramePr>
          <p:nvPr/>
        </p:nvGraphicFramePr>
        <p:xfrm>
          <a:off x="5836921" y="1287787"/>
          <a:ext cx="5989319" cy="3782314"/>
        </p:xfrm>
        <a:graphic>
          <a:graphicData uri="http://schemas.openxmlformats.org/drawingml/2006/table">
            <a:tbl>
              <a:tblPr firstRow="1" firstCol="1" bandRow="1">
                <a:tableStyleId>{5C22544A-7EE6-4342-B048-85BDC9FD1C3A}</a:tableStyleId>
              </a:tblPr>
              <a:tblGrid>
                <a:gridCol w="1180376">
                  <a:extLst>
                    <a:ext uri="{9D8B030D-6E8A-4147-A177-3AD203B41FA5}">
                      <a16:colId xmlns:a16="http://schemas.microsoft.com/office/drawing/2014/main" xmlns="" val="86537049"/>
                    </a:ext>
                  </a:extLst>
                </a:gridCol>
                <a:gridCol w="2438390">
                  <a:extLst>
                    <a:ext uri="{9D8B030D-6E8A-4147-A177-3AD203B41FA5}">
                      <a16:colId xmlns:a16="http://schemas.microsoft.com/office/drawing/2014/main" xmlns="" val="2280360318"/>
                    </a:ext>
                  </a:extLst>
                </a:gridCol>
                <a:gridCol w="1164298">
                  <a:extLst>
                    <a:ext uri="{9D8B030D-6E8A-4147-A177-3AD203B41FA5}">
                      <a16:colId xmlns:a16="http://schemas.microsoft.com/office/drawing/2014/main" xmlns="" val="1619246813"/>
                    </a:ext>
                  </a:extLst>
                </a:gridCol>
                <a:gridCol w="1206255">
                  <a:extLst>
                    <a:ext uri="{9D8B030D-6E8A-4147-A177-3AD203B41FA5}">
                      <a16:colId xmlns:a16="http://schemas.microsoft.com/office/drawing/2014/main" xmlns="" val="487390452"/>
                    </a:ext>
                  </a:extLst>
                </a:gridCol>
              </a:tblGrid>
              <a:tr h="587839">
                <a:tc>
                  <a:txBody>
                    <a:bodyPr/>
                    <a:lstStyle/>
                    <a:p>
                      <a:pPr algn="ctr">
                        <a:spcAft>
                          <a:spcPts val="0"/>
                        </a:spcAft>
                      </a:pPr>
                      <a:r>
                        <a:rPr lang="en-US" sz="2000" dirty="0">
                          <a:effectLst/>
                          <a:latin typeface="Times New Roman" panose="02020603050405020304" pitchFamily="18" charset="0"/>
                          <a:cs typeface="Times New Roman" panose="02020603050405020304" pitchFamily="18" charset="0"/>
                        </a:rPr>
                        <a:t>Operator</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US" sz="2000" dirty="0">
                          <a:effectLst/>
                          <a:latin typeface="Times New Roman" panose="02020603050405020304" pitchFamily="18" charset="0"/>
                          <a:cs typeface="Times New Roman" panose="02020603050405020304" pitchFamily="18" charset="0"/>
                        </a:rPr>
                        <a:t>Meaning</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Aft>
                          <a:spcPts val="0"/>
                        </a:spcAft>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Example</a:t>
                      </a:r>
                    </a:p>
                  </a:txBody>
                  <a:tcPr marL="68580" marR="68580" marT="0" marB="0" anchor="ctr"/>
                </a:tc>
                <a:tc>
                  <a:txBody>
                    <a:bodyPr/>
                    <a:lstStyle/>
                    <a:p>
                      <a:pPr algn="ctr">
                        <a:spcAft>
                          <a:spcPts val="0"/>
                        </a:spcAft>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Return Value</a:t>
                      </a:r>
                    </a:p>
                  </a:txBody>
                  <a:tcPr marL="68580" marR="68580" marT="0" marB="0" anchor="ctr"/>
                </a:tc>
                <a:extLst>
                  <a:ext uri="{0D108BD9-81ED-4DB2-BD59-A6C34878D82A}">
                    <a16:rowId xmlns:a16="http://schemas.microsoft.com/office/drawing/2014/main" xmlns="" val="166428563"/>
                  </a:ext>
                </a:extLst>
              </a:tr>
              <a:tr h="398467">
                <a:tc>
                  <a:txBody>
                    <a:bodyPr/>
                    <a:lstStyle/>
                    <a:p>
                      <a:pPr algn="ctr">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&gt;</a:t>
                      </a:r>
                    </a:p>
                  </a:txBody>
                  <a:tcPr marL="68580" marR="68580" marT="0" marB="0" anchor="ctr">
                    <a:solidFill>
                      <a:schemeClr val="accent1">
                        <a:lumMod val="20000"/>
                        <a:lumOff val="80000"/>
                      </a:schemeClr>
                    </a:solidFill>
                  </a:tcPr>
                </a:tc>
                <a:tc>
                  <a:txBody>
                    <a:bodyPr/>
                    <a:lstStyle/>
                    <a:p>
                      <a:pPr algn="l">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Greater than</a:t>
                      </a:r>
                    </a:p>
                  </a:txBody>
                  <a:tcPr marL="68580" marR="68580" marT="0" marB="0" anchor="ctr">
                    <a:solidFill>
                      <a:schemeClr val="accent1">
                        <a:lumMod val="20000"/>
                        <a:lumOff val="80000"/>
                      </a:schemeClr>
                    </a:solidFill>
                  </a:tcPr>
                </a:tc>
                <a:tc>
                  <a:txBody>
                    <a:bodyPr/>
                    <a:lstStyle/>
                    <a:p>
                      <a:pPr algn="ctr">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5&gt;4</a:t>
                      </a:r>
                    </a:p>
                  </a:txBody>
                  <a:tcPr marL="68580" marR="68580" marT="0" marB="0" anchor="ctr">
                    <a:solidFill>
                      <a:schemeClr val="accent1">
                        <a:lumMod val="20000"/>
                        <a:lumOff val="80000"/>
                      </a:schemeClr>
                    </a:solidFill>
                  </a:tcPr>
                </a:tc>
                <a:tc>
                  <a:txBody>
                    <a:bodyPr/>
                    <a:lstStyle/>
                    <a:p>
                      <a:pPr algn="ctr">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3857746136"/>
                  </a:ext>
                </a:extLst>
              </a:tr>
              <a:tr h="398467">
                <a:tc>
                  <a:txBody>
                    <a:bodyPr/>
                    <a:lstStyle/>
                    <a:p>
                      <a:pPr algn="ctr">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&lt;</a:t>
                      </a:r>
                    </a:p>
                  </a:txBody>
                  <a:tcPr marL="68580" marR="68580" marT="0" marB="0"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Lesser than</a:t>
                      </a:r>
                    </a:p>
                  </a:txBody>
                  <a:tcPr marL="68580" marR="68580" marT="0" marB="0" anchor="ctr">
                    <a:solidFill>
                      <a:schemeClr val="accent1">
                        <a:lumMod val="20000"/>
                        <a:lumOff val="80000"/>
                      </a:schemeClr>
                    </a:solidFill>
                  </a:tcPr>
                </a:tc>
                <a:tc>
                  <a:txBody>
                    <a:bodyPr/>
                    <a:lstStyle/>
                    <a:p>
                      <a:pPr algn="ctr">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5&lt;4</a:t>
                      </a:r>
                    </a:p>
                  </a:txBody>
                  <a:tcPr marL="68580" marR="68580" marT="0" marB="0" anchor="ctr">
                    <a:solidFill>
                      <a:schemeClr val="accent1">
                        <a:lumMod val="20000"/>
                        <a:lumOff val="80000"/>
                      </a:schemeClr>
                    </a:solidFill>
                  </a:tcPr>
                </a:tc>
                <a:tc>
                  <a:txBody>
                    <a:bodyPr/>
                    <a:lstStyle/>
                    <a:p>
                      <a:pPr algn="ctr">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2043060811"/>
                  </a:ext>
                </a:extLst>
              </a:tr>
              <a:tr h="508590">
                <a:tc>
                  <a:txBody>
                    <a:bodyPr/>
                    <a:lstStyle/>
                    <a:p>
                      <a:pPr algn="ctr">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&gt;=</a:t>
                      </a:r>
                    </a:p>
                  </a:txBody>
                  <a:tcPr marL="68580" marR="68580" marT="0" marB="0"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Greater than or equal to</a:t>
                      </a:r>
                    </a:p>
                  </a:txBody>
                  <a:tcPr marL="68580" marR="68580" marT="0" marB="0" anchor="ctr">
                    <a:solidFill>
                      <a:schemeClr val="accent1">
                        <a:lumMod val="20000"/>
                        <a:lumOff val="80000"/>
                      </a:schemeClr>
                    </a:solidFill>
                  </a:tcPr>
                </a:tc>
                <a:tc>
                  <a:txBody>
                    <a:bodyPr/>
                    <a:lstStyle/>
                    <a:p>
                      <a:pPr algn="ctr">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5&gt;=4</a:t>
                      </a:r>
                    </a:p>
                  </a:txBody>
                  <a:tcPr marL="68580" marR="68580" marT="0" marB="0" anchor="ctr">
                    <a:solidFill>
                      <a:schemeClr val="accent1">
                        <a:lumMod val="20000"/>
                        <a:lumOff val="80000"/>
                      </a:schemeClr>
                    </a:solidFill>
                  </a:tcPr>
                </a:tc>
                <a:tc>
                  <a:txBody>
                    <a:bodyPr/>
                    <a:lstStyle/>
                    <a:p>
                      <a:pPr algn="ctr">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2086290602"/>
                  </a:ext>
                </a:extLst>
              </a:tr>
              <a:tr h="508590">
                <a:tc>
                  <a:txBody>
                    <a:bodyPr/>
                    <a:lstStyle/>
                    <a:p>
                      <a:pPr algn="ctr">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&lt;=</a:t>
                      </a:r>
                    </a:p>
                  </a:txBody>
                  <a:tcPr marL="68580" marR="68580" marT="0" marB="0"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Lesser than or equal to</a:t>
                      </a:r>
                    </a:p>
                  </a:txBody>
                  <a:tcPr marL="68580" marR="68580" marT="0" marB="0" anchor="ctr">
                    <a:solidFill>
                      <a:schemeClr val="accent1">
                        <a:lumMod val="20000"/>
                        <a:lumOff val="80000"/>
                      </a:schemeClr>
                    </a:solidFill>
                  </a:tcPr>
                </a:tc>
                <a:tc>
                  <a:txBody>
                    <a:bodyPr/>
                    <a:lstStyle/>
                    <a:p>
                      <a:pPr algn="ctr">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5&lt;=4</a:t>
                      </a:r>
                    </a:p>
                  </a:txBody>
                  <a:tcPr marL="68580" marR="68580" marT="0" marB="0" anchor="ctr">
                    <a:solidFill>
                      <a:schemeClr val="accent1">
                        <a:lumMod val="20000"/>
                        <a:lumOff val="80000"/>
                      </a:schemeClr>
                    </a:solidFill>
                  </a:tcPr>
                </a:tc>
                <a:tc>
                  <a:txBody>
                    <a:bodyPr/>
                    <a:lstStyle/>
                    <a:p>
                      <a:pPr algn="ctr">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840645046"/>
                  </a:ext>
                </a:extLst>
              </a:tr>
              <a:tr h="473662">
                <a:tc>
                  <a:txBody>
                    <a:bodyPr/>
                    <a:lstStyle/>
                    <a:p>
                      <a:pPr algn="ctr">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p>
                  </a:txBody>
                  <a:tcPr marL="68580" marR="68580" marT="0" marB="0" anchor="ctr">
                    <a:solidFill>
                      <a:schemeClr val="accent1">
                        <a:lumMod val="20000"/>
                        <a:lumOff val="80000"/>
                      </a:schemeClr>
                    </a:solidFill>
                  </a:tcPr>
                </a:tc>
                <a:tc>
                  <a:txBody>
                    <a:bodyPr/>
                    <a:lstStyle/>
                    <a:p>
                      <a:pPr algn="l">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Not equal to</a:t>
                      </a:r>
                    </a:p>
                  </a:txBody>
                  <a:tcPr marL="68580" marR="68580" marT="0" marB="0" anchor="ctr">
                    <a:solidFill>
                      <a:schemeClr val="accent1">
                        <a:lumMod val="20000"/>
                        <a:lumOff val="80000"/>
                      </a:schemeClr>
                    </a:solidFill>
                  </a:tcPr>
                </a:tc>
                <a:tc>
                  <a:txBody>
                    <a:bodyPr/>
                    <a:lstStyle/>
                    <a:p>
                      <a:pPr algn="ctr">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5!=4</a:t>
                      </a:r>
                    </a:p>
                  </a:txBody>
                  <a:tcPr marL="68580" marR="68580" marT="0" marB="0" anchor="ctr">
                    <a:solidFill>
                      <a:schemeClr val="accent1">
                        <a:lumMod val="20000"/>
                        <a:lumOff val="80000"/>
                      </a:schemeClr>
                    </a:solidFill>
                  </a:tcPr>
                </a:tc>
                <a:tc>
                  <a:txBody>
                    <a:bodyPr/>
                    <a:lstStyle/>
                    <a:p>
                      <a:pPr algn="ctr">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4050610446"/>
                  </a:ext>
                </a:extLst>
              </a:tr>
              <a:tr h="682918">
                <a:tc>
                  <a:txBody>
                    <a:bodyPr/>
                    <a:lstStyle/>
                    <a:p>
                      <a:pPr algn="ctr">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p>
                  </a:txBody>
                  <a:tcPr marL="68580" marR="68580" marT="0" marB="0" anchor="ctr">
                    <a:solidFill>
                      <a:schemeClr val="accent1">
                        <a:lumMod val="20000"/>
                        <a:lumOff val="80000"/>
                      </a:schemeClr>
                    </a:solidFill>
                  </a:tcPr>
                </a:tc>
                <a:tc>
                  <a:txBody>
                    <a:bodyPr/>
                    <a:lstStyle/>
                    <a:p>
                      <a:pPr algn="l">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Equal to</a:t>
                      </a:r>
                    </a:p>
                  </a:txBody>
                  <a:tcPr marL="68580" marR="68580" marT="0" marB="0" anchor="ctr">
                    <a:solidFill>
                      <a:schemeClr val="accent1">
                        <a:lumMod val="20000"/>
                        <a:lumOff val="80000"/>
                      </a:schemeClr>
                    </a:solidFill>
                  </a:tcPr>
                </a:tc>
                <a:tc>
                  <a:txBody>
                    <a:bodyPr/>
                    <a:lstStyle/>
                    <a:p>
                      <a:pPr algn="ctr">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 =4</a:t>
                      </a:r>
                    </a:p>
                  </a:txBody>
                  <a:tcPr marL="68580" marR="68580" marT="0" marB="0" anchor="ctr">
                    <a:solidFill>
                      <a:schemeClr val="accent1">
                        <a:lumMod val="20000"/>
                        <a:lumOff val="80000"/>
                      </a:schemeClr>
                    </a:solidFill>
                  </a:tcPr>
                </a:tc>
                <a:tc>
                  <a:txBody>
                    <a:bodyPr/>
                    <a:lstStyle/>
                    <a:p>
                      <a:pPr algn="ctr">
                        <a:spcAft>
                          <a:spcPts val="0"/>
                        </a:spcAft>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1998518185"/>
                  </a:ext>
                </a:extLst>
              </a:tr>
            </a:tbl>
          </a:graphicData>
        </a:graphic>
      </p:graphicFrame>
    </p:spTree>
    <p:extLst>
      <p:ext uri="{BB962C8B-B14F-4D97-AF65-F5344CB8AC3E}">
        <p14:creationId xmlns:p14="http://schemas.microsoft.com/office/powerpoint/2010/main" val="42350880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01F2B8-F748-4528-A021-95BD28ECA36E}"/>
              </a:ext>
            </a:extLst>
          </p:cNvPr>
          <p:cNvSpPr>
            <a:spLocks noGrp="1"/>
          </p:cNvSpPr>
          <p:nvPr>
            <p:ph type="title"/>
          </p:nvPr>
        </p:nvSpPr>
        <p:spPr/>
        <p:txBody>
          <a:bodyPr/>
          <a:lstStyle/>
          <a:p>
            <a:pPr algn="ctr"/>
            <a:r>
              <a:rPr lang="en-IN" dirty="0"/>
              <a:t>Logical Operators</a:t>
            </a:r>
          </a:p>
        </p:txBody>
      </p:sp>
      <p:sp>
        <p:nvSpPr>
          <p:cNvPr id="3" name="Content Placeholder 2">
            <a:extLst>
              <a:ext uri="{FF2B5EF4-FFF2-40B4-BE49-F238E27FC236}">
                <a16:creationId xmlns:a16="http://schemas.microsoft.com/office/drawing/2014/main" xmlns="" id="{36DA928E-A3DE-4BAF-B921-6CF797C85298}"/>
              </a:ext>
            </a:extLst>
          </p:cNvPr>
          <p:cNvSpPr>
            <a:spLocks noGrp="1"/>
          </p:cNvSpPr>
          <p:nvPr>
            <p:ph idx="1"/>
          </p:nvPr>
        </p:nvSpPr>
        <p:spPr/>
        <p:txBody>
          <a:bodyPr/>
          <a:lstStyle/>
          <a:p>
            <a:pPr algn="just"/>
            <a:r>
              <a:rPr lang="en-IN" sz="2800" dirty="0">
                <a:latin typeface="Times New Roman" panose="02020603050405020304" pitchFamily="18" charset="0"/>
                <a:cs typeface="Times New Roman" panose="02020603050405020304" pitchFamily="18" charset="0"/>
              </a:rPr>
              <a:t>C provides three logical operators for forming logical expressions. </a:t>
            </a:r>
          </a:p>
          <a:p>
            <a:pPr algn="just"/>
            <a:r>
              <a:rPr lang="en-IN" sz="2800" dirty="0">
                <a:latin typeface="Times New Roman" panose="02020603050405020304" pitchFamily="18" charset="0"/>
                <a:cs typeface="Times New Roman" panose="02020603050405020304" pitchFamily="18" charset="0"/>
              </a:rPr>
              <a:t>Like the relational operators, logical operators evaluate to 1 or 0.</a:t>
            </a:r>
          </a:p>
          <a:p>
            <a:endParaRPr lang="en-IN" dirty="0"/>
          </a:p>
        </p:txBody>
      </p:sp>
      <p:graphicFrame>
        <p:nvGraphicFramePr>
          <p:cNvPr id="5" name="Content Placeholder 3">
            <a:extLst>
              <a:ext uri="{FF2B5EF4-FFF2-40B4-BE49-F238E27FC236}">
                <a16:creationId xmlns:a16="http://schemas.microsoft.com/office/drawing/2014/main" xmlns="" id="{31079D55-801B-455E-8133-B33C818C7032}"/>
              </a:ext>
            </a:extLst>
          </p:cNvPr>
          <p:cNvGraphicFramePr>
            <a:graphicFrameLocks/>
          </p:cNvGraphicFramePr>
          <p:nvPr/>
        </p:nvGraphicFramePr>
        <p:xfrm>
          <a:off x="1818132" y="3444240"/>
          <a:ext cx="7821168" cy="2219100"/>
        </p:xfrm>
        <a:graphic>
          <a:graphicData uri="http://schemas.openxmlformats.org/drawingml/2006/table">
            <a:tbl>
              <a:tblPr firstRow="1" firstCol="1" bandRow="1">
                <a:tableStyleId>{5C22544A-7EE6-4342-B048-85BDC9FD1C3A}</a:tableStyleId>
              </a:tblPr>
              <a:tblGrid>
                <a:gridCol w="1396638">
                  <a:extLst>
                    <a:ext uri="{9D8B030D-6E8A-4147-A177-3AD203B41FA5}">
                      <a16:colId xmlns:a16="http://schemas.microsoft.com/office/drawing/2014/main" xmlns="" val="86537049"/>
                    </a:ext>
                  </a:extLst>
                </a:gridCol>
                <a:gridCol w="2301639">
                  <a:extLst>
                    <a:ext uri="{9D8B030D-6E8A-4147-A177-3AD203B41FA5}">
                      <a16:colId xmlns:a16="http://schemas.microsoft.com/office/drawing/2014/main" xmlns="" val="2280360318"/>
                    </a:ext>
                  </a:extLst>
                </a:gridCol>
                <a:gridCol w="2547701">
                  <a:extLst>
                    <a:ext uri="{9D8B030D-6E8A-4147-A177-3AD203B41FA5}">
                      <a16:colId xmlns:a16="http://schemas.microsoft.com/office/drawing/2014/main" xmlns="" val="1619246813"/>
                    </a:ext>
                  </a:extLst>
                </a:gridCol>
                <a:gridCol w="1575190">
                  <a:extLst>
                    <a:ext uri="{9D8B030D-6E8A-4147-A177-3AD203B41FA5}">
                      <a16:colId xmlns:a16="http://schemas.microsoft.com/office/drawing/2014/main" xmlns="" val="487390452"/>
                    </a:ext>
                  </a:extLst>
                </a:gridCol>
              </a:tblGrid>
              <a:tr h="663480">
                <a:tc>
                  <a:txBody>
                    <a:bodyPr/>
                    <a:lstStyle/>
                    <a:p>
                      <a:pPr algn="ctr">
                        <a:spcAft>
                          <a:spcPts val="0"/>
                        </a:spcAft>
                      </a:pPr>
                      <a:r>
                        <a:rPr lang="en-US" sz="2400" dirty="0">
                          <a:effectLst/>
                        </a:rPr>
                        <a:t>Operator</a:t>
                      </a:r>
                      <a:endParaRPr lang="en-IN" sz="2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400" dirty="0">
                          <a:effectLst/>
                        </a:rPr>
                        <a:t>Meaning</a:t>
                      </a:r>
                      <a:endParaRPr lang="en-IN" sz="2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IN" sz="2400" dirty="0">
                          <a:effectLst/>
                          <a:latin typeface="Times New Roman" panose="02020603050405020304" pitchFamily="18" charset="0"/>
                          <a:ea typeface="Times New Roman" panose="02020603050405020304" pitchFamily="18" charset="0"/>
                        </a:rPr>
                        <a:t>Example</a:t>
                      </a:r>
                    </a:p>
                  </a:txBody>
                  <a:tcPr marL="68580" marR="68580" marT="0" marB="0" anchor="ctr"/>
                </a:tc>
                <a:tc>
                  <a:txBody>
                    <a:bodyPr/>
                    <a:lstStyle/>
                    <a:p>
                      <a:pPr algn="ctr">
                        <a:spcAft>
                          <a:spcPts val="0"/>
                        </a:spcAft>
                      </a:pPr>
                      <a:r>
                        <a:rPr lang="en-IN" sz="2400" dirty="0">
                          <a:effectLst/>
                          <a:latin typeface="Times New Roman" panose="02020603050405020304" pitchFamily="18" charset="0"/>
                          <a:ea typeface="Times New Roman" panose="02020603050405020304" pitchFamily="18" charset="0"/>
                        </a:rPr>
                        <a:t>Return Value</a:t>
                      </a:r>
                    </a:p>
                  </a:txBody>
                  <a:tcPr marL="68580" marR="68580" marT="0" marB="0" anchor="ctr"/>
                </a:tc>
                <a:extLst>
                  <a:ext uri="{0D108BD9-81ED-4DB2-BD59-A6C34878D82A}">
                    <a16:rowId xmlns:a16="http://schemas.microsoft.com/office/drawing/2014/main" xmlns="" val="166428563"/>
                  </a:ext>
                </a:extLst>
              </a:tr>
              <a:tr h="495860">
                <a:tc>
                  <a:txBody>
                    <a:bodyPr/>
                    <a:lstStyle/>
                    <a:p>
                      <a:pPr algn="ctr">
                        <a:spcAft>
                          <a:spcPts val="0"/>
                        </a:spcAft>
                      </a:pPr>
                      <a:r>
                        <a:rPr lang="en-IN" sz="2400" b="0" dirty="0">
                          <a:solidFill>
                            <a:schemeClr val="tx1"/>
                          </a:solidFill>
                          <a:effectLst/>
                          <a:latin typeface="Times New Roman" panose="02020603050405020304" pitchFamily="18" charset="0"/>
                          <a:ea typeface="Times New Roman" panose="02020603050405020304" pitchFamily="18" charset="0"/>
                        </a:rPr>
                        <a:t>&amp;&amp;</a:t>
                      </a:r>
                    </a:p>
                  </a:txBody>
                  <a:tcPr marL="68580" marR="68580" marT="0" marB="0" anchor="ctr">
                    <a:solidFill>
                      <a:schemeClr val="accent1">
                        <a:lumMod val="20000"/>
                        <a:lumOff val="80000"/>
                      </a:schemeClr>
                    </a:solidFill>
                  </a:tcPr>
                </a:tc>
                <a:tc>
                  <a:txBody>
                    <a:bodyPr/>
                    <a:lstStyle/>
                    <a:p>
                      <a:pPr algn="l">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Logical AND</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5&gt;4 &amp;&amp; 6&lt;9</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1</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3857746136"/>
                  </a:ext>
                </a:extLst>
              </a:tr>
              <a:tr h="495860">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a:t>
                      </a:r>
                    </a:p>
                  </a:txBody>
                  <a:tcPr marL="68580" marR="68580" marT="0" marB="0"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solidFill>
                            <a:schemeClr val="tx1"/>
                          </a:solidFill>
                          <a:effectLst/>
                          <a:latin typeface="Times New Roman" panose="02020603050405020304" pitchFamily="18" charset="0"/>
                          <a:ea typeface="Times New Roman" panose="02020603050405020304" pitchFamily="18" charset="0"/>
                        </a:rPr>
                        <a:t>Logical OR</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5&lt;4 || 6&lt;9</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1</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2043060811"/>
                  </a:ext>
                </a:extLst>
              </a:tr>
              <a:tr h="495860">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a:t>
                      </a:r>
                    </a:p>
                  </a:txBody>
                  <a:tcPr marL="68580" marR="68580" marT="0" marB="0"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solidFill>
                            <a:schemeClr val="tx1"/>
                          </a:solidFill>
                          <a:effectLst/>
                          <a:latin typeface="Times New Roman" panose="02020603050405020304" pitchFamily="18" charset="0"/>
                          <a:ea typeface="Times New Roman" panose="02020603050405020304" pitchFamily="18" charset="0"/>
                        </a:rPr>
                        <a:t>Logical NOT</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 (5&gt;=5)</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0</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2086290602"/>
                  </a:ext>
                </a:extLst>
              </a:tr>
            </a:tbl>
          </a:graphicData>
        </a:graphic>
      </p:graphicFrame>
    </p:spTree>
    <p:extLst>
      <p:ext uri="{BB962C8B-B14F-4D97-AF65-F5344CB8AC3E}">
        <p14:creationId xmlns:p14="http://schemas.microsoft.com/office/powerpoint/2010/main" val="21635567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E77ABB-A83E-4C6E-9450-DDDD4C7E2951}"/>
              </a:ext>
            </a:extLst>
          </p:cNvPr>
          <p:cNvSpPr>
            <a:spLocks noGrp="1"/>
          </p:cNvSpPr>
          <p:nvPr>
            <p:ph type="title"/>
          </p:nvPr>
        </p:nvSpPr>
        <p:spPr/>
        <p:txBody>
          <a:bodyPr/>
          <a:lstStyle/>
          <a:p>
            <a:r>
              <a:rPr lang="en-IN" dirty="0"/>
              <a:t>Bitwise – and , or, </a:t>
            </a:r>
            <a:r>
              <a:rPr lang="en-IN" dirty="0" err="1"/>
              <a:t>xor</a:t>
            </a:r>
            <a:r>
              <a:rPr lang="en-IN" dirty="0"/>
              <a:t>, not</a:t>
            </a:r>
          </a:p>
        </p:txBody>
      </p:sp>
      <p:sp>
        <p:nvSpPr>
          <p:cNvPr id="3" name="Content Placeholder 2">
            <a:extLst>
              <a:ext uri="{FF2B5EF4-FFF2-40B4-BE49-F238E27FC236}">
                <a16:creationId xmlns:a16="http://schemas.microsoft.com/office/drawing/2014/main" xmlns="" id="{23863275-AAAC-4C4D-A368-9B2E844C674D}"/>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xmlns="" id="{A2D73E8A-C671-447F-8D87-67233ABD55AF}"/>
              </a:ext>
            </a:extLst>
          </p:cNvPr>
          <p:cNvPicPr>
            <a:picLocks noChangeAspect="1" noChangeArrowheads="1"/>
          </p:cNvPicPr>
          <p:nvPr/>
        </p:nvPicPr>
        <p:blipFill>
          <a:blip r:embed="rId2"/>
          <a:srcRect/>
          <a:stretch>
            <a:fillRect/>
          </a:stretch>
        </p:blipFill>
        <p:spPr bwMode="auto">
          <a:xfrm>
            <a:off x="1949767" y="1573824"/>
            <a:ext cx="8355521" cy="4854939"/>
          </a:xfrm>
          <a:prstGeom prst="rect">
            <a:avLst/>
          </a:prstGeom>
          <a:noFill/>
          <a:ln w="9525">
            <a:noFill/>
            <a:miter lim="800000"/>
            <a:headEnd/>
            <a:tailEnd/>
          </a:ln>
        </p:spPr>
      </p:pic>
    </p:spTree>
    <p:extLst>
      <p:ext uri="{BB962C8B-B14F-4D97-AF65-F5344CB8AC3E}">
        <p14:creationId xmlns:p14="http://schemas.microsoft.com/office/powerpoint/2010/main" val="28278819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B23C9B-18C4-466C-B14F-80D43BB08B7A}"/>
              </a:ext>
            </a:extLst>
          </p:cNvPr>
          <p:cNvSpPr>
            <a:spLocks noGrp="1"/>
          </p:cNvSpPr>
          <p:nvPr>
            <p:ph type="title"/>
          </p:nvPr>
        </p:nvSpPr>
        <p:spPr/>
        <p:txBody>
          <a:bodyPr/>
          <a:lstStyle/>
          <a:p>
            <a:pPr algn="ctr"/>
            <a:r>
              <a:rPr lang="en-IN" dirty="0"/>
              <a:t>Bitwise Operators</a:t>
            </a:r>
          </a:p>
        </p:txBody>
      </p:sp>
      <p:sp>
        <p:nvSpPr>
          <p:cNvPr id="3" name="Content Placeholder 2">
            <a:extLst>
              <a:ext uri="{FF2B5EF4-FFF2-40B4-BE49-F238E27FC236}">
                <a16:creationId xmlns:a16="http://schemas.microsoft.com/office/drawing/2014/main" xmlns="" id="{17374E9E-BE2D-4CB7-81C7-DAEFBBF19B53}"/>
              </a:ext>
            </a:extLst>
          </p:cNvPr>
          <p:cNvSpPr>
            <a:spLocks noGrp="1"/>
          </p:cNvSpPr>
          <p:nvPr>
            <p:ph idx="1"/>
          </p:nvPr>
        </p:nvSpPr>
        <p:spPr>
          <a:xfrm>
            <a:off x="1551432" y="1493520"/>
            <a:ext cx="9823704" cy="4683443"/>
          </a:xfrm>
        </p:spPr>
        <p:txBody>
          <a:bodyPr/>
          <a:lstStyle/>
          <a:p>
            <a:pPr algn="just"/>
            <a:r>
              <a:rPr lang="en-US" sz="2800" dirty="0"/>
              <a:t>Bitwise operators are used for the manipulation of integer data items at bit level. </a:t>
            </a:r>
          </a:p>
        </p:txBody>
      </p:sp>
      <p:graphicFrame>
        <p:nvGraphicFramePr>
          <p:cNvPr id="5" name="Content Placeholder 3">
            <a:extLst>
              <a:ext uri="{FF2B5EF4-FFF2-40B4-BE49-F238E27FC236}">
                <a16:creationId xmlns:a16="http://schemas.microsoft.com/office/drawing/2014/main" xmlns="" id="{59E3149B-A5CA-46BC-93CD-C27C23C0CCA5}"/>
              </a:ext>
            </a:extLst>
          </p:cNvPr>
          <p:cNvGraphicFramePr>
            <a:graphicFrameLocks/>
          </p:cNvGraphicFramePr>
          <p:nvPr/>
        </p:nvGraphicFramePr>
        <p:xfrm>
          <a:off x="1722120" y="2290086"/>
          <a:ext cx="10302240" cy="2818264"/>
        </p:xfrm>
        <a:graphic>
          <a:graphicData uri="http://schemas.openxmlformats.org/drawingml/2006/table">
            <a:tbl>
              <a:tblPr firstRow="1" firstCol="1" bandRow="1">
                <a:tableStyleId>{5C22544A-7EE6-4342-B048-85BDC9FD1C3A}</a:tableStyleId>
              </a:tblPr>
              <a:tblGrid>
                <a:gridCol w="1666741">
                  <a:extLst>
                    <a:ext uri="{9D8B030D-6E8A-4147-A177-3AD203B41FA5}">
                      <a16:colId xmlns:a16="http://schemas.microsoft.com/office/drawing/2014/main" xmlns="" val="86537049"/>
                    </a:ext>
                  </a:extLst>
                </a:gridCol>
                <a:gridCol w="2493779">
                  <a:extLst>
                    <a:ext uri="{9D8B030D-6E8A-4147-A177-3AD203B41FA5}">
                      <a16:colId xmlns:a16="http://schemas.microsoft.com/office/drawing/2014/main" xmlns="" val="2280360318"/>
                    </a:ext>
                  </a:extLst>
                </a:gridCol>
                <a:gridCol w="1417320">
                  <a:extLst>
                    <a:ext uri="{9D8B030D-6E8A-4147-A177-3AD203B41FA5}">
                      <a16:colId xmlns:a16="http://schemas.microsoft.com/office/drawing/2014/main" xmlns="" val="1619246813"/>
                    </a:ext>
                  </a:extLst>
                </a:gridCol>
                <a:gridCol w="1310640">
                  <a:extLst>
                    <a:ext uri="{9D8B030D-6E8A-4147-A177-3AD203B41FA5}">
                      <a16:colId xmlns:a16="http://schemas.microsoft.com/office/drawing/2014/main" xmlns="" val="991587923"/>
                    </a:ext>
                  </a:extLst>
                </a:gridCol>
                <a:gridCol w="3413760">
                  <a:extLst>
                    <a:ext uri="{9D8B030D-6E8A-4147-A177-3AD203B41FA5}">
                      <a16:colId xmlns:a16="http://schemas.microsoft.com/office/drawing/2014/main" xmlns="" val="1125820100"/>
                    </a:ext>
                  </a:extLst>
                </a:gridCol>
              </a:tblGrid>
              <a:tr h="517754">
                <a:tc>
                  <a:txBody>
                    <a:bodyPr/>
                    <a:lstStyle/>
                    <a:p>
                      <a:pPr algn="ctr">
                        <a:spcAft>
                          <a:spcPts val="0"/>
                        </a:spcAft>
                      </a:pPr>
                      <a:r>
                        <a:rPr lang="en-US" sz="2400" dirty="0">
                          <a:effectLst/>
                        </a:rPr>
                        <a:t>Operator</a:t>
                      </a:r>
                      <a:endParaRPr lang="en-IN" sz="2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400" dirty="0">
                          <a:effectLst/>
                        </a:rPr>
                        <a:t>Meaning</a:t>
                      </a:r>
                      <a:endParaRPr lang="en-IN" sz="2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IN" sz="2400" dirty="0">
                          <a:effectLst/>
                          <a:latin typeface="Times New Roman" panose="02020603050405020304" pitchFamily="18" charset="0"/>
                          <a:ea typeface="Times New Roman" panose="02020603050405020304" pitchFamily="18" charset="0"/>
                        </a:rPr>
                        <a:t>Example</a:t>
                      </a:r>
                    </a:p>
                  </a:txBody>
                  <a:tcPr marL="68580" marR="68580" marT="0" marB="0" anchor="ctr"/>
                </a:tc>
                <a:tc>
                  <a:txBody>
                    <a:bodyPr/>
                    <a:lstStyle/>
                    <a:p>
                      <a:pPr algn="ctr">
                        <a:spcAft>
                          <a:spcPts val="0"/>
                        </a:spcAft>
                      </a:pPr>
                      <a:r>
                        <a:rPr lang="en-IN" sz="2400" dirty="0">
                          <a:effectLst/>
                          <a:latin typeface="Times New Roman" panose="02020603050405020304" pitchFamily="18" charset="0"/>
                          <a:ea typeface="Times New Roman" panose="02020603050405020304" pitchFamily="18" charset="0"/>
                        </a:rPr>
                        <a:t>Answer</a:t>
                      </a:r>
                    </a:p>
                  </a:txBody>
                  <a:tcPr marL="68580" marR="68580" marT="0" marB="0" anchor="ctr"/>
                </a:tc>
                <a:tc>
                  <a:txBody>
                    <a:bodyPr/>
                    <a:lstStyle/>
                    <a:p>
                      <a:pPr algn="ctr">
                        <a:spcAft>
                          <a:spcPts val="0"/>
                        </a:spcAft>
                      </a:pPr>
                      <a:r>
                        <a:rPr lang="en-IN" sz="2400" dirty="0">
                          <a:effectLst/>
                          <a:latin typeface="Times New Roman" panose="02020603050405020304" pitchFamily="18" charset="0"/>
                          <a:ea typeface="Times New Roman" panose="02020603050405020304" pitchFamily="18" charset="0"/>
                        </a:rPr>
                        <a:t>Explanation</a:t>
                      </a:r>
                    </a:p>
                  </a:txBody>
                  <a:tcPr marL="68580" marR="68580" marT="0" marB="0" anchor="ctr"/>
                </a:tc>
                <a:extLst>
                  <a:ext uri="{0D108BD9-81ED-4DB2-BD59-A6C34878D82A}">
                    <a16:rowId xmlns:a16="http://schemas.microsoft.com/office/drawing/2014/main" xmlns="" val="166428563"/>
                  </a:ext>
                </a:extLst>
              </a:tr>
              <a:tr h="386950">
                <a:tc>
                  <a:txBody>
                    <a:bodyPr/>
                    <a:lstStyle/>
                    <a:p>
                      <a:pPr algn="ctr">
                        <a:spcAft>
                          <a:spcPts val="0"/>
                        </a:spcAft>
                      </a:pPr>
                      <a:r>
                        <a:rPr lang="en-IN" sz="2400" b="0" dirty="0">
                          <a:solidFill>
                            <a:schemeClr val="tx1"/>
                          </a:solidFill>
                          <a:effectLst/>
                          <a:latin typeface="Times New Roman" panose="02020603050405020304" pitchFamily="18" charset="0"/>
                          <a:ea typeface="Times New Roman" panose="02020603050405020304" pitchFamily="18" charset="0"/>
                        </a:rPr>
                        <a:t>&amp;</a:t>
                      </a:r>
                    </a:p>
                  </a:txBody>
                  <a:tcPr marL="68580" marR="68580" marT="0" marB="0" anchor="ctr">
                    <a:solidFill>
                      <a:schemeClr val="accent1">
                        <a:lumMod val="20000"/>
                        <a:lumOff val="80000"/>
                      </a:schemeClr>
                    </a:solidFill>
                  </a:tcPr>
                </a:tc>
                <a:tc>
                  <a:txBody>
                    <a:bodyPr/>
                    <a:lstStyle/>
                    <a:p>
                      <a:pPr algn="l">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Bitwise AND</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8&amp;4</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0</a:t>
                      </a:r>
                    </a:p>
                  </a:txBody>
                  <a:tcPr marL="68580" marR="68580" marT="0" marB="0" anchor="ctr">
                    <a:solidFill>
                      <a:schemeClr val="accent1">
                        <a:lumMod val="20000"/>
                        <a:lumOff val="80000"/>
                      </a:schemeClr>
                    </a:solidFill>
                  </a:tcPr>
                </a:tc>
                <a:tc>
                  <a:txBody>
                    <a:bodyPr/>
                    <a:lstStyle/>
                    <a:p>
                      <a:pPr algn="l">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1000 &amp; 0100 = 0000</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3857746136"/>
                  </a:ext>
                </a:extLst>
              </a:tr>
              <a:tr h="386950">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a:t>
                      </a:r>
                    </a:p>
                  </a:txBody>
                  <a:tcPr marL="68580" marR="68580" marT="0" marB="0"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solidFill>
                            <a:schemeClr val="tx1"/>
                          </a:solidFill>
                          <a:effectLst/>
                          <a:latin typeface="Times New Roman" panose="02020603050405020304" pitchFamily="18" charset="0"/>
                          <a:ea typeface="Times New Roman" panose="02020603050405020304" pitchFamily="18" charset="0"/>
                        </a:rPr>
                        <a:t>Bitwise OR</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8|4</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12</a:t>
                      </a:r>
                    </a:p>
                  </a:txBody>
                  <a:tcPr marL="68580" marR="68580" marT="0" marB="0"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solidFill>
                            <a:schemeClr val="tx1"/>
                          </a:solidFill>
                          <a:effectLst/>
                          <a:latin typeface="Times New Roman" panose="02020603050405020304" pitchFamily="18" charset="0"/>
                          <a:ea typeface="Times New Roman" panose="02020603050405020304" pitchFamily="18" charset="0"/>
                        </a:rPr>
                        <a:t>1000 | 0100 = 1100</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2043060811"/>
                  </a:ext>
                </a:extLst>
              </a:tr>
              <a:tr h="386950">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a:t>
                      </a:r>
                    </a:p>
                  </a:txBody>
                  <a:tcPr marL="68580" marR="68580" marT="0" marB="0"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solidFill>
                            <a:schemeClr val="tx1"/>
                          </a:solidFill>
                          <a:effectLst/>
                          <a:latin typeface="Times New Roman" panose="02020603050405020304" pitchFamily="18" charset="0"/>
                          <a:ea typeface="Times New Roman" panose="02020603050405020304" pitchFamily="18" charset="0"/>
                        </a:rPr>
                        <a:t>Bitwise XOR</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8^2</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10</a:t>
                      </a:r>
                    </a:p>
                  </a:txBody>
                  <a:tcPr marL="68580" marR="68580" marT="0" marB="0"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solidFill>
                            <a:schemeClr val="tx1"/>
                          </a:solidFill>
                          <a:effectLst/>
                          <a:latin typeface="Times New Roman" panose="02020603050405020304" pitchFamily="18" charset="0"/>
                          <a:ea typeface="Times New Roman" panose="02020603050405020304" pitchFamily="18" charset="0"/>
                        </a:rPr>
                        <a:t>1000 ^ 0010 = 1010</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3079659600"/>
                  </a:ext>
                </a:extLst>
              </a:tr>
              <a:tr h="386950">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a:t>
                      </a:r>
                    </a:p>
                  </a:txBody>
                  <a:tcPr marL="68580" marR="68580" marT="0" marB="0"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solidFill>
                            <a:schemeClr val="tx1"/>
                          </a:solidFill>
                          <a:effectLst/>
                          <a:latin typeface="Times New Roman" panose="02020603050405020304" pitchFamily="18" charset="0"/>
                          <a:ea typeface="Times New Roman" panose="02020603050405020304" pitchFamily="18" charset="0"/>
                        </a:rPr>
                        <a:t>One’s complement</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~8</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7</a:t>
                      </a:r>
                    </a:p>
                  </a:txBody>
                  <a:tcPr marL="68580" marR="68580" marT="0" marB="0" anchor="ctr">
                    <a:solidFill>
                      <a:schemeClr val="accent1">
                        <a:lumMod val="20000"/>
                        <a:lumOff val="80000"/>
                      </a:schemeClr>
                    </a:solidFill>
                  </a:tcPr>
                </a:tc>
                <a:tc>
                  <a:txBody>
                    <a:bodyPr/>
                    <a:lstStyle/>
                    <a:p>
                      <a:pPr algn="l">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1000 = 0111</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2086290602"/>
                  </a:ext>
                </a:extLst>
              </a:tr>
              <a:tr h="386950">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&gt;&gt;</a:t>
                      </a:r>
                    </a:p>
                  </a:txBody>
                  <a:tcPr marL="68580" marR="68580" marT="0" marB="0"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solidFill>
                            <a:schemeClr val="tx1"/>
                          </a:solidFill>
                          <a:effectLst/>
                          <a:latin typeface="Times New Roman" panose="02020603050405020304" pitchFamily="18" charset="0"/>
                          <a:ea typeface="Times New Roman" panose="02020603050405020304" pitchFamily="18" charset="0"/>
                        </a:rPr>
                        <a:t>Right Shift</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8&gt;&gt;2</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2</a:t>
                      </a:r>
                    </a:p>
                  </a:txBody>
                  <a:tcPr marL="68580" marR="68580" marT="0" marB="0" anchor="ctr">
                    <a:solidFill>
                      <a:schemeClr val="accent1">
                        <a:lumMod val="20000"/>
                        <a:lumOff val="80000"/>
                      </a:schemeClr>
                    </a:solidFill>
                  </a:tcPr>
                </a:tc>
                <a:tc>
                  <a:txBody>
                    <a:bodyPr/>
                    <a:lstStyle/>
                    <a:p>
                      <a:pPr algn="l">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1000 &gt;&gt;2 =0010</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1529686687"/>
                  </a:ext>
                </a:extLst>
              </a:tr>
              <a:tr h="283706">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&lt;&lt;</a:t>
                      </a:r>
                    </a:p>
                  </a:txBody>
                  <a:tcPr marL="68580" marR="68580" marT="0" marB="0"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solidFill>
                            <a:schemeClr val="tx1"/>
                          </a:solidFill>
                          <a:effectLst/>
                          <a:latin typeface="Times New Roman" panose="02020603050405020304" pitchFamily="18" charset="0"/>
                          <a:ea typeface="Times New Roman" panose="02020603050405020304" pitchFamily="18" charset="0"/>
                        </a:rPr>
                        <a:t>Left Shift</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2&lt;&lt;3</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16</a:t>
                      </a:r>
                    </a:p>
                  </a:txBody>
                  <a:tcPr marL="68580" marR="68580" marT="0" marB="0" anchor="ctr">
                    <a:solidFill>
                      <a:schemeClr val="accent1">
                        <a:lumMod val="20000"/>
                        <a:lumOff val="80000"/>
                      </a:schemeClr>
                    </a:solidFill>
                  </a:tcPr>
                </a:tc>
                <a:tc>
                  <a:txBody>
                    <a:bodyPr/>
                    <a:lstStyle/>
                    <a:p>
                      <a:pPr algn="l">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0010&lt;&lt;3 = 10000</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1817020616"/>
                  </a:ext>
                </a:extLst>
              </a:tr>
            </a:tbl>
          </a:graphicData>
        </a:graphic>
      </p:graphicFrame>
      <p:sp>
        <p:nvSpPr>
          <p:cNvPr id="6" name="TextBox 5">
            <a:extLst>
              <a:ext uri="{FF2B5EF4-FFF2-40B4-BE49-F238E27FC236}">
                <a16:creationId xmlns:a16="http://schemas.microsoft.com/office/drawing/2014/main" xmlns="" id="{CAB728C7-9377-4FB3-91FD-16492EF5AB37}"/>
              </a:ext>
            </a:extLst>
          </p:cNvPr>
          <p:cNvSpPr txBox="1"/>
          <p:nvPr/>
        </p:nvSpPr>
        <p:spPr>
          <a:xfrm>
            <a:off x="2144864" y="5438298"/>
            <a:ext cx="7566991" cy="1200329"/>
          </a:xfrm>
          <a:prstGeom prst="rect">
            <a:avLst/>
          </a:prstGeom>
          <a:noFill/>
        </p:spPr>
        <p:txBody>
          <a:bodyPr wrap="square" rtlCol="0">
            <a:spAutoFit/>
          </a:bodyPr>
          <a:lstStyle/>
          <a:p>
            <a:r>
              <a:rPr lang="en-IN" dirty="0"/>
              <a:t>&gt;&gt; - n=y/2^s</a:t>
            </a:r>
          </a:p>
          <a:p>
            <a:r>
              <a:rPr lang="en-IN" dirty="0"/>
              <a:t>&lt;&lt; - n=y*2^s</a:t>
            </a:r>
          </a:p>
          <a:p>
            <a:r>
              <a:rPr lang="en-IN" dirty="0"/>
              <a:t>one’s complement operator is a unary operator</a:t>
            </a:r>
          </a:p>
          <a:p>
            <a:r>
              <a:rPr lang="en-US" dirty="0"/>
              <a:t>For any integer n, bitwise one’s complement of n will be -(n+1)</a:t>
            </a:r>
            <a:endParaRPr lang="en-IN" dirty="0"/>
          </a:p>
        </p:txBody>
      </p:sp>
    </p:spTree>
    <p:extLst>
      <p:ext uri="{BB962C8B-B14F-4D97-AF65-F5344CB8AC3E}">
        <p14:creationId xmlns:p14="http://schemas.microsoft.com/office/powerpoint/2010/main" val="29764636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D871E75-908D-45EF-A711-1703117B2AFC}"/>
              </a:ext>
            </a:extLst>
          </p:cNvPr>
          <p:cNvSpPr>
            <a:spLocks noGrp="1"/>
          </p:cNvSpPr>
          <p:nvPr>
            <p:ph type="title"/>
          </p:nvPr>
        </p:nvSpPr>
        <p:spPr/>
        <p:txBody>
          <a:bodyPr/>
          <a:lstStyle/>
          <a:p>
            <a:r>
              <a:rPr lang="en-IN" dirty="0"/>
              <a:t>Right Shift - Example</a:t>
            </a:r>
          </a:p>
        </p:txBody>
      </p:sp>
      <p:sp>
        <p:nvSpPr>
          <p:cNvPr id="3" name="Content Placeholder 2">
            <a:extLst>
              <a:ext uri="{FF2B5EF4-FFF2-40B4-BE49-F238E27FC236}">
                <a16:creationId xmlns:a16="http://schemas.microsoft.com/office/drawing/2014/main" xmlns="" id="{FCE4914F-365F-4CF2-A2E8-8D76DAD0DAE8}"/>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xmlns="" id="{66BBCAE8-0179-47B8-98DE-01A7D6926D18}"/>
              </a:ext>
            </a:extLst>
          </p:cNvPr>
          <p:cNvPicPr>
            <a:picLocks noChangeAspect="1"/>
          </p:cNvPicPr>
          <p:nvPr/>
        </p:nvPicPr>
        <p:blipFill>
          <a:blip r:embed="rId2"/>
          <a:stretch>
            <a:fillRect/>
          </a:stretch>
        </p:blipFill>
        <p:spPr>
          <a:xfrm>
            <a:off x="2053113" y="1996440"/>
            <a:ext cx="8085773" cy="3368040"/>
          </a:xfrm>
          <a:prstGeom prst="rect">
            <a:avLst/>
          </a:prstGeom>
        </p:spPr>
      </p:pic>
    </p:spTree>
    <p:extLst>
      <p:ext uri="{BB962C8B-B14F-4D97-AF65-F5344CB8AC3E}">
        <p14:creationId xmlns:p14="http://schemas.microsoft.com/office/powerpoint/2010/main" val="4155071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D871E75-908D-45EF-A711-1703117B2AFC}"/>
              </a:ext>
            </a:extLst>
          </p:cNvPr>
          <p:cNvSpPr>
            <a:spLocks noGrp="1"/>
          </p:cNvSpPr>
          <p:nvPr>
            <p:ph type="title"/>
          </p:nvPr>
        </p:nvSpPr>
        <p:spPr/>
        <p:txBody>
          <a:bodyPr/>
          <a:lstStyle/>
          <a:p>
            <a:r>
              <a:rPr lang="en-IN" dirty="0"/>
              <a:t>Left Shift - Example</a:t>
            </a:r>
          </a:p>
        </p:txBody>
      </p:sp>
      <p:sp>
        <p:nvSpPr>
          <p:cNvPr id="3" name="Content Placeholder 2">
            <a:extLst>
              <a:ext uri="{FF2B5EF4-FFF2-40B4-BE49-F238E27FC236}">
                <a16:creationId xmlns:a16="http://schemas.microsoft.com/office/drawing/2014/main" xmlns="" id="{FCE4914F-365F-4CF2-A2E8-8D76DAD0DAE8}"/>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xmlns="" id="{0A98681C-C57A-426D-A219-FDDC6C797BE9}"/>
              </a:ext>
            </a:extLst>
          </p:cNvPr>
          <p:cNvPicPr>
            <a:picLocks noChangeAspect="1"/>
          </p:cNvPicPr>
          <p:nvPr/>
        </p:nvPicPr>
        <p:blipFill>
          <a:blip r:embed="rId2"/>
          <a:stretch>
            <a:fillRect/>
          </a:stretch>
        </p:blipFill>
        <p:spPr>
          <a:xfrm>
            <a:off x="2060992" y="2183130"/>
            <a:ext cx="8579576" cy="3139194"/>
          </a:xfrm>
          <a:prstGeom prst="rect">
            <a:avLst/>
          </a:prstGeom>
        </p:spPr>
      </p:pic>
    </p:spTree>
    <p:extLst>
      <p:ext uri="{BB962C8B-B14F-4D97-AF65-F5344CB8AC3E}">
        <p14:creationId xmlns:p14="http://schemas.microsoft.com/office/powerpoint/2010/main" val="9937448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34649D-27B7-42A0-BAA1-986F7FF56281}"/>
              </a:ext>
            </a:extLst>
          </p:cNvPr>
          <p:cNvSpPr>
            <a:spLocks noGrp="1"/>
          </p:cNvSpPr>
          <p:nvPr>
            <p:ph type="title"/>
          </p:nvPr>
        </p:nvSpPr>
        <p:spPr/>
        <p:txBody>
          <a:bodyPr/>
          <a:lstStyle/>
          <a:p>
            <a:r>
              <a:rPr lang="en-IN" dirty="0" err="1"/>
              <a:t>Lvalue</a:t>
            </a:r>
            <a:r>
              <a:rPr lang="en-IN" dirty="0"/>
              <a:t> and </a:t>
            </a:r>
            <a:r>
              <a:rPr lang="en-IN" dirty="0" err="1"/>
              <a:t>Rvalue</a:t>
            </a:r>
            <a:endParaRPr lang="en-IN" dirty="0"/>
          </a:p>
        </p:txBody>
      </p:sp>
      <p:sp>
        <p:nvSpPr>
          <p:cNvPr id="3" name="Content Placeholder 2">
            <a:extLst>
              <a:ext uri="{FF2B5EF4-FFF2-40B4-BE49-F238E27FC236}">
                <a16:creationId xmlns:a16="http://schemas.microsoft.com/office/drawing/2014/main" xmlns="" id="{D1D286A3-213C-41C8-964A-C719D0469BC8}"/>
              </a:ext>
            </a:extLst>
          </p:cNvPr>
          <p:cNvSpPr>
            <a:spLocks noGrp="1"/>
          </p:cNvSpPr>
          <p:nvPr>
            <p:ph idx="1"/>
          </p:nvPr>
        </p:nvSpPr>
        <p:spPr/>
        <p:txBody>
          <a:bodyPr/>
          <a:lstStyle/>
          <a:p>
            <a:r>
              <a:rPr lang="en-IN" dirty="0" err="1"/>
              <a:t>Lvalue</a:t>
            </a:r>
            <a:r>
              <a:rPr lang="en-IN" dirty="0"/>
              <a:t> </a:t>
            </a:r>
          </a:p>
          <a:p>
            <a:pPr lvl="1"/>
            <a:r>
              <a:rPr lang="en-IN" dirty="0"/>
              <a:t>Refers to a location in memory</a:t>
            </a:r>
          </a:p>
          <a:p>
            <a:pPr lvl="1"/>
            <a:r>
              <a:rPr lang="en-IN" dirty="0"/>
              <a:t>It can appear both on the left and right side of an assignment statement</a:t>
            </a:r>
          </a:p>
          <a:p>
            <a:r>
              <a:rPr lang="en-IN" dirty="0" err="1"/>
              <a:t>Rvalue</a:t>
            </a:r>
            <a:r>
              <a:rPr lang="en-IN" dirty="0"/>
              <a:t> </a:t>
            </a:r>
          </a:p>
          <a:p>
            <a:pPr lvl="1"/>
            <a:r>
              <a:rPr lang="en-IN" dirty="0"/>
              <a:t>Refers to a data value</a:t>
            </a:r>
          </a:p>
          <a:p>
            <a:pPr lvl="1"/>
            <a:r>
              <a:rPr lang="en-IN" dirty="0"/>
              <a:t>It can appear on the right side of an assignment statement and not on the left side. </a:t>
            </a:r>
          </a:p>
        </p:txBody>
      </p:sp>
    </p:spTree>
    <p:extLst>
      <p:ext uri="{BB962C8B-B14F-4D97-AF65-F5344CB8AC3E}">
        <p14:creationId xmlns:p14="http://schemas.microsoft.com/office/powerpoint/2010/main" val="37503797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3F9BB6-734D-4BC2-BDE4-06E5668E824A}"/>
              </a:ext>
            </a:extLst>
          </p:cNvPr>
          <p:cNvSpPr>
            <a:spLocks noGrp="1"/>
          </p:cNvSpPr>
          <p:nvPr>
            <p:ph type="title"/>
          </p:nvPr>
        </p:nvSpPr>
        <p:spPr/>
        <p:txBody>
          <a:bodyPr/>
          <a:lstStyle/>
          <a:p>
            <a:r>
              <a:rPr lang="en-IN" dirty="0"/>
              <a:t>Assignment Operators</a:t>
            </a:r>
          </a:p>
        </p:txBody>
      </p:sp>
      <p:graphicFrame>
        <p:nvGraphicFramePr>
          <p:cNvPr id="4" name="Content Placeholder 3">
            <a:extLst>
              <a:ext uri="{FF2B5EF4-FFF2-40B4-BE49-F238E27FC236}">
                <a16:creationId xmlns:a16="http://schemas.microsoft.com/office/drawing/2014/main" xmlns="" id="{83770791-3CDE-4EBC-B6CC-598AA1919470}"/>
              </a:ext>
            </a:extLst>
          </p:cNvPr>
          <p:cNvGraphicFramePr>
            <a:graphicFrameLocks noGrp="1"/>
          </p:cNvGraphicFramePr>
          <p:nvPr>
            <p:ph idx="1"/>
          </p:nvPr>
        </p:nvGraphicFramePr>
        <p:xfrm>
          <a:off x="1219200" y="1504787"/>
          <a:ext cx="6375225" cy="4754880"/>
        </p:xfrm>
        <a:graphic>
          <a:graphicData uri="http://schemas.openxmlformats.org/drawingml/2006/table">
            <a:tbl>
              <a:tblPr firstRow="1" firstCol="1" bandRow="1">
                <a:tableStyleId>{5C22544A-7EE6-4342-B048-85BDC9FD1C3A}</a:tableStyleId>
              </a:tblPr>
              <a:tblGrid>
                <a:gridCol w="1478280">
                  <a:extLst>
                    <a:ext uri="{9D8B030D-6E8A-4147-A177-3AD203B41FA5}">
                      <a16:colId xmlns:a16="http://schemas.microsoft.com/office/drawing/2014/main" xmlns="" val="86537049"/>
                    </a:ext>
                  </a:extLst>
                </a:gridCol>
                <a:gridCol w="1709333">
                  <a:extLst>
                    <a:ext uri="{9D8B030D-6E8A-4147-A177-3AD203B41FA5}">
                      <a16:colId xmlns:a16="http://schemas.microsoft.com/office/drawing/2014/main" xmlns="" val="2280360318"/>
                    </a:ext>
                  </a:extLst>
                </a:gridCol>
                <a:gridCol w="1593806">
                  <a:extLst>
                    <a:ext uri="{9D8B030D-6E8A-4147-A177-3AD203B41FA5}">
                      <a16:colId xmlns:a16="http://schemas.microsoft.com/office/drawing/2014/main" xmlns="" val="1619246813"/>
                    </a:ext>
                  </a:extLst>
                </a:gridCol>
                <a:gridCol w="1593806">
                  <a:extLst>
                    <a:ext uri="{9D8B030D-6E8A-4147-A177-3AD203B41FA5}">
                      <a16:colId xmlns:a16="http://schemas.microsoft.com/office/drawing/2014/main" xmlns="" val="3310661694"/>
                    </a:ext>
                  </a:extLst>
                </a:gridCol>
              </a:tblGrid>
              <a:tr h="300355">
                <a:tc>
                  <a:txBody>
                    <a:bodyPr/>
                    <a:lstStyle/>
                    <a:p>
                      <a:pPr algn="ctr">
                        <a:spcAft>
                          <a:spcPts val="0"/>
                        </a:spcAft>
                      </a:pPr>
                      <a:r>
                        <a:rPr lang="en-US" sz="2400" dirty="0">
                          <a:effectLst/>
                        </a:rPr>
                        <a:t>Operator</a:t>
                      </a:r>
                      <a:endParaRPr lang="en-IN" sz="2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400" dirty="0">
                          <a:effectLst/>
                          <a:latin typeface="Times New Roman" panose="02020603050405020304" pitchFamily="18" charset="0"/>
                          <a:ea typeface="Times New Roman" panose="02020603050405020304" pitchFamily="18" charset="0"/>
                        </a:rPr>
                        <a:t>Category</a:t>
                      </a:r>
                      <a:endParaRPr lang="en-IN" sz="2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IN" sz="2400" dirty="0">
                          <a:effectLst/>
                          <a:latin typeface="Times New Roman" panose="02020603050405020304" pitchFamily="18" charset="0"/>
                          <a:ea typeface="Times New Roman" panose="02020603050405020304" pitchFamily="18" charset="0"/>
                        </a:rPr>
                        <a:t>Example</a:t>
                      </a:r>
                    </a:p>
                  </a:txBody>
                  <a:tcPr marL="68580" marR="68580" marT="0" marB="0" anchor="ctr"/>
                </a:tc>
                <a:tc>
                  <a:txBody>
                    <a:bodyPr/>
                    <a:lstStyle/>
                    <a:p>
                      <a:pPr algn="ctr">
                        <a:spcAft>
                          <a:spcPts val="0"/>
                        </a:spcAft>
                      </a:pPr>
                      <a:r>
                        <a:rPr lang="en-IN" sz="2400" dirty="0">
                          <a:effectLst/>
                          <a:latin typeface="Times New Roman" panose="02020603050405020304" pitchFamily="18" charset="0"/>
                          <a:ea typeface="Times New Roman" panose="02020603050405020304" pitchFamily="18" charset="0"/>
                        </a:rPr>
                        <a:t>Meaning</a:t>
                      </a:r>
                    </a:p>
                  </a:txBody>
                  <a:tcPr marL="68580" marR="68580" marT="0" marB="0" anchor="ctr"/>
                </a:tc>
                <a:extLst>
                  <a:ext uri="{0D108BD9-81ED-4DB2-BD59-A6C34878D82A}">
                    <a16:rowId xmlns:a16="http://schemas.microsoft.com/office/drawing/2014/main" xmlns="" val="166428563"/>
                  </a:ext>
                </a:extLst>
              </a:tr>
              <a:tr h="280508">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a:t>
                      </a:r>
                    </a:p>
                  </a:txBody>
                  <a:tcPr marL="68580" marR="68580" marT="0" marB="0" anchor="ctr">
                    <a:solidFill>
                      <a:schemeClr val="accent1">
                        <a:lumMod val="20000"/>
                        <a:lumOff val="80000"/>
                      </a:schemeClr>
                    </a:solidFill>
                  </a:tcPr>
                </a:tc>
                <a:tc>
                  <a:txBody>
                    <a:bodyPr/>
                    <a:lstStyle/>
                    <a:p>
                      <a:pPr algn="l">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Simple Assignment</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x=5</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x=5</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3857746136"/>
                  </a:ext>
                </a:extLst>
              </a:tr>
              <a:tr h="280508">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a:t>
                      </a:r>
                    </a:p>
                  </a:txBody>
                  <a:tcPr marL="68580" marR="68580" marT="0" marB="0" anchor="ctr">
                    <a:solidFill>
                      <a:schemeClr val="accent1">
                        <a:lumMod val="20000"/>
                        <a:lumOff val="80000"/>
                      </a:schemeClr>
                    </a:solidFill>
                  </a:tcPr>
                </a:tc>
                <a:tc rowSpan="10">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solidFill>
                            <a:schemeClr val="tx1"/>
                          </a:solidFill>
                          <a:effectLst/>
                          <a:latin typeface="Times New Roman" panose="02020603050405020304" pitchFamily="18" charset="0"/>
                          <a:ea typeface="Times New Roman" panose="02020603050405020304" pitchFamily="18" charset="0"/>
                        </a:rPr>
                        <a:t>Compound Assignment</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x+=5</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x=x+5</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2043060811"/>
                  </a:ext>
                </a:extLst>
              </a:tr>
              <a:tr h="280508">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a:t>
                      </a:r>
                    </a:p>
                  </a:txBody>
                  <a:tcPr marL="68580" marR="68580" marT="0" marB="0" anchor="ctr">
                    <a:solidFill>
                      <a:schemeClr val="accent1">
                        <a:lumMod val="20000"/>
                        <a:lumOff val="80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24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x-=5</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x=x-5</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3079659600"/>
                  </a:ext>
                </a:extLst>
              </a:tr>
              <a:tr h="280508">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a:t>
                      </a:r>
                    </a:p>
                  </a:txBody>
                  <a:tcPr marL="68580" marR="68580" marT="0" marB="0" anchor="ctr">
                    <a:solidFill>
                      <a:schemeClr val="accent1">
                        <a:lumMod val="20000"/>
                        <a:lumOff val="80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24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x*=5</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x=x*5</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2086290602"/>
                  </a:ext>
                </a:extLst>
              </a:tr>
              <a:tr h="280508">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a:t>
                      </a:r>
                    </a:p>
                  </a:txBody>
                  <a:tcPr marL="68580" marR="68580" marT="0" marB="0" anchor="ctr">
                    <a:solidFill>
                      <a:schemeClr val="accent1">
                        <a:lumMod val="20000"/>
                        <a:lumOff val="80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24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x/=5</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x=x/5</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1529686687"/>
                  </a:ext>
                </a:extLst>
              </a:tr>
              <a:tr h="280508">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a:t>
                      </a:r>
                    </a:p>
                  </a:txBody>
                  <a:tcPr marL="68580" marR="68580" marT="0" marB="0" anchor="ctr">
                    <a:solidFill>
                      <a:schemeClr val="accent1">
                        <a:lumMod val="20000"/>
                        <a:lumOff val="80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24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x%=5</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x=x%5</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1817020616"/>
                  </a:ext>
                </a:extLst>
              </a:tr>
              <a:tr h="280508">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&amp;=</a:t>
                      </a:r>
                    </a:p>
                  </a:txBody>
                  <a:tcPr marL="68580" marR="68580" marT="0" marB="0" anchor="ctr">
                    <a:solidFill>
                      <a:schemeClr val="accent1">
                        <a:lumMod val="20000"/>
                        <a:lumOff val="80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24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x&amp;=5</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x=x&amp;5</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317723105"/>
                  </a:ext>
                </a:extLst>
              </a:tr>
              <a:tr h="280508">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a:t>
                      </a:r>
                    </a:p>
                  </a:txBody>
                  <a:tcPr marL="68580" marR="68580" marT="0" marB="0" anchor="ctr">
                    <a:solidFill>
                      <a:schemeClr val="accent1">
                        <a:lumMod val="20000"/>
                        <a:lumOff val="80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24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x^=5</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x=x^5</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2493533279"/>
                  </a:ext>
                </a:extLst>
              </a:tr>
              <a:tr h="280508">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a:t>
                      </a:r>
                    </a:p>
                  </a:txBody>
                  <a:tcPr marL="68580" marR="68580" marT="0" marB="0" anchor="ctr">
                    <a:solidFill>
                      <a:schemeClr val="accent1">
                        <a:lumMod val="20000"/>
                        <a:lumOff val="80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24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x|=5</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x=x|5</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3514616433"/>
                  </a:ext>
                </a:extLst>
              </a:tr>
              <a:tr h="280508">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&gt;&gt;=</a:t>
                      </a:r>
                    </a:p>
                  </a:txBody>
                  <a:tcPr marL="68580" marR="68580" marT="0" marB="0" anchor="ctr">
                    <a:solidFill>
                      <a:schemeClr val="accent1">
                        <a:lumMod val="20000"/>
                        <a:lumOff val="80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24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x&gt;&gt;=2</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x=x&gt;&gt;2</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3583093965"/>
                  </a:ext>
                </a:extLst>
              </a:tr>
              <a:tr h="280508">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&lt;&lt;=</a:t>
                      </a:r>
                    </a:p>
                  </a:txBody>
                  <a:tcPr marL="68580" marR="68580" marT="0" marB="0" anchor="ctr">
                    <a:solidFill>
                      <a:schemeClr val="accent1">
                        <a:lumMod val="20000"/>
                        <a:lumOff val="80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24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x&lt;&lt;=2</a:t>
                      </a:r>
                    </a:p>
                  </a:txBody>
                  <a:tcPr marL="68580" marR="68580" marT="0" marB="0" anchor="ctr">
                    <a:solidFill>
                      <a:schemeClr val="accent1">
                        <a:lumMod val="20000"/>
                        <a:lumOff val="80000"/>
                      </a:schemeClr>
                    </a:solidFill>
                  </a:tcPr>
                </a:tc>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x=x&lt;&lt;2</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2338053742"/>
                  </a:ext>
                </a:extLst>
              </a:tr>
            </a:tbl>
          </a:graphicData>
        </a:graphic>
      </p:graphicFrame>
    </p:spTree>
    <p:extLst>
      <p:ext uri="{BB962C8B-B14F-4D97-AF65-F5344CB8AC3E}">
        <p14:creationId xmlns:p14="http://schemas.microsoft.com/office/powerpoint/2010/main" val="36050812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7F4468-75ED-4C86-85D2-B3149FB61C7F}"/>
              </a:ext>
            </a:extLst>
          </p:cNvPr>
          <p:cNvSpPr>
            <a:spLocks noGrp="1"/>
          </p:cNvSpPr>
          <p:nvPr>
            <p:ph type="title"/>
          </p:nvPr>
        </p:nvSpPr>
        <p:spPr>
          <a:xfrm>
            <a:off x="1551431" y="365126"/>
            <a:ext cx="10236015" cy="715530"/>
          </a:xfrm>
        </p:spPr>
        <p:txBody>
          <a:bodyPr>
            <a:normAutofit fontScale="90000"/>
          </a:bodyPr>
          <a:lstStyle/>
          <a:p>
            <a:r>
              <a:rPr lang="en-US" dirty="0">
                <a:latin typeface="Montserrat" panose="020B0604020202020204" charset="0"/>
              </a:rPr>
              <a:t>Unary Operators</a:t>
            </a:r>
            <a:endParaRPr lang="en-IN" dirty="0">
              <a:latin typeface="Montserrat" panose="020B0604020202020204" charset="0"/>
            </a:endParaRPr>
          </a:p>
        </p:txBody>
      </p:sp>
      <p:sp>
        <p:nvSpPr>
          <p:cNvPr id="9" name="Content Placeholder 8">
            <a:extLst>
              <a:ext uri="{FF2B5EF4-FFF2-40B4-BE49-F238E27FC236}">
                <a16:creationId xmlns:a16="http://schemas.microsoft.com/office/drawing/2014/main" xmlns="" id="{5A08DC5F-9FE9-4965-B23E-69E3DD1A4F96}"/>
              </a:ext>
            </a:extLst>
          </p:cNvPr>
          <p:cNvSpPr>
            <a:spLocks noGrp="1"/>
          </p:cNvSpPr>
          <p:nvPr>
            <p:ph idx="1"/>
          </p:nvPr>
        </p:nvSpPr>
        <p:spPr>
          <a:xfrm>
            <a:off x="1551432" y="1080656"/>
            <a:ext cx="9089137" cy="5412218"/>
          </a:xfrm>
        </p:spPr>
        <p:txBody>
          <a:bodyPr>
            <a:normAutofit lnSpcReduction="10000"/>
          </a:bodyPr>
          <a:lstStyle/>
          <a:p>
            <a:pPr>
              <a:defRPr/>
            </a:pPr>
            <a:endParaRPr lang="en-US" sz="2800" dirty="0">
              <a:latin typeface="Times New Roman" pitchFamily="18" charset="0"/>
              <a:cs typeface="Times New Roman" pitchFamily="18" charset="0"/>
            </a:endParaRPr>
          </a:p>
          <a:p>
            <a:pPr>
              <a:defRPr/>
            </a:pPr>
            <a:endParaRPr lang="en-US" sz="2800" dirty="0">
              <a:latin typeface="Times New Roman" pitchFamily="18" charset="0"/>
              <a:cs typeface="Times New Roman" pitchFamily="18" charset="0"/>
            </a:endParaRPr>
          </a:p>
          <a:p>
            <a:pPr>
              <a:defRPr/>
            </a:pPr>
            <a:endParaRPr lang="en-US" sz="2800" dirty="0">
              <a:latin typeface="Times New Roman" pitchFamily="18" charset="0"/>
              <a:cs typeface="Times New Roman" pitchFamily="18" charset="0"/>
            </a:endParaRPr>
          </a:p>
          <a:p>
            <a:pPr>
              <a:defRPr/>
            </a:pPr>
            <a:endParaRPr lang="en-US" sz="2800" dirty="0">
              <a:latin typeface="Times New Roman" pitchFamily="18" charset="0"/>
              <a:cs typeface="Times New Roman" pitchFamily="18" charset="0"/>
            </a:endParaRPr>
          </a:p>
          <a:p>
            <a:pPr>
              <a:defRPr/>
            </a:pPr>
            <a:endParaRPr lang="en-US" sz="2800" dirty="0">
              <a:latin typeface="Times New Roman" pitchFamily="18" charset="0"/>
              <a:cs typeface="Times New Roman" pitchFamily="18" charset="0"/>
            </a:endParaRPr>
          </a:p>
          <a:p>
            <a:pPr>
              <a:defRPr/>
            </a:pPr>
            <a:endParaRPr lang="en-US" sz="2800" dirty="0">
              <a:latin typeface="Times New Roman" pitchFamily="18" charset="0"/>
              <a:cs typeface="Times New Roman" pitchFamily="18" charset="0"/>
            </a:endParaRPr>
          </a:p>
          <a:p>
            <a:pPr>
              <a:defRPr/>
            </a:pPr>
            <a:endParaRPr lang="en-US" sz="2800">
              <a:latin typeface="Times New Roman" pitchFamily="18" charset="0"/>
              <a:cs typeface="Times New Roman" pitchFamily="18" charset="0"/>
            </a:endParaRPr>
          </a:p>
          <a:p>
            <a:pPr>
              <a:defRPr/>
            </a:pPr>
            <a:r>
              <a:rPr lang="en-US" sz="2800">
                <a:latin typeface="Times New Roman" pitchFamily="18" charset="0"/>
                <a:cs typeface="Times New Roman" pitchFamily="18" charset="0"/>
              </a:rPr>
              <a:t>A </a:t>
            </a:r>
            <a:r>
              <a:rPr lang="en-US" sz="2800" dirty="0">
                <a:latin typeface="Times New Roman" pitchFamily="18" charset="0"/>
                <a:cs typeface="Times New Roman" pitchFamily="18" charset="0"/>
              </a:rPr>
              <a:t>unary operator requires only one operand or data item. </a:t>
            </a:r>
          </a:p>
          <a:p>
            <a:pPr>
              <a:defRPr/>
            </a:pPr>
            <a:r>
              <a:rPr lang="en-US" sz="2800" b="1" i="1" dirty="0">
                <a:latin typeface="Times New Roman" panose="02020603050405020304" pitchFamily="18" charset="0"/>
                <a:cs typeface="Times New Roman" panose="02020603050405020304" pitchFamily="18" charset="0"/>
              </a:rPr>
              <a:t>Unary increment and decrement operators :</a:t>
            </a:r>
            <a:r>
              <a:rPr lang="en-US" sz="2800" i="1" dirty="0">
                <a:latin typeface="Times New Roman" panose="02020603050405020304" pitchFamily="18" charset="0"/>
                <a:cs typeface="Times New Roman" panose="02020603050405020304" pitchFamily="18" charset="0"/>
              </a:rPr>
              <a:t>The unary </a:t>
            </a:r>
            <a:r>
              <a:rPr lang="en-US" sz="2800" dirty="0">
                <a:latin typeface="Times New Roman" panose="02020603050405020304" pitchFamily="18" charset="0"/>
                <a:cs typeface="Times New Roman" panose="02020603050405020304" pitchFamily="18" charset="0"/>
              </a:rPr>
              <a:t>‘++’ and ‘--’ operators increment or decrement the value in a variable by 1.</a:t>
            </a:r>
          </a:p>
          <a:p>
            <a:endParaRPr lang="en-IN" dirty="0"/>
          </a:p>
        </p:txBody>
      </p:sp>
      <p:graphicFrame>
        <p:nvGraphicFramePr>
          <p:cNvPr id="4" name="Content Placeholder 3">
            <a:extLst>
              <a:ext uri="{FF2B5EF4-FFF2-40B4-BE49-F238E27FC236}">
                <a16:creationId xmlns:a16="http://schemas.microsoft.com/office/drawing/2014/main" xmlns="" id="{095050AD-A44B-4F45-807C-9D6052A9E8F3}"/>
              </a:ext>
            </a:extLst>
          </p:cNvPr>
          <p:cNvGraphicFramePr>
            <a:graphicFrameLocks/>
          </p:cNvGraphicFramePr>
          <p:nvPr/>
        </p:nvGraphicFramePr>
        <p:xfrm>
          <a:off x="2885942" y="1252293"/>
          <a:ext cx="7566992" cy="2970645"/>
        </p:xfrm>
        <a:graphic>
          <a:graphicData uri="http://schemas.openxmlformats.org/drawingml/2006/table">
            <a:tbl>
              <a:tblPr firstRow="1" firstCol="1" bandRow="1">
                <a:tableStyleId>{5C22544A-7EE6-4342-B048-85BDC9FD1C3A}</a:tableStyleId>
              </a:tblPr>
              <a:tblGrid>
                <a:gridCol w="1860736">
                  <a:extLst>
                    <a:ext uri="{9D8B030D-6E8A-4147-A177-3AD203B41FA5}">
                      <a16:colId xmlns:a16="http://schemas.microsoft.com/office/drawing/2014/main" xmlns="" val="86537049"/>
                    </a:ext>
                  </a:extLst>
                </a:gridCol>
                <a:gridCol w="2853128">
                  <a:extLst>
                    <a:ext uri="{9D8B030D-6E8A-4147-A177-3AD203B41FA5}">
                      <a16:colId xmlns:a16="http://schemas.microsoft.com/office/drawing/2014/main" xmlns="" val="2280360318"/>
                    </a:ext>
                  </a:extLst>
                </a:gridCol>
                <a:gridCol w="2853128">
                  <a:extLst>
                    <a:ext uri="{9D8B030D-6E8A-4147-A177-3AD203B41FA5}">
                      <a16:colId xmlns:a16="http://schemas.microsoft.com/office/drawing/2014/main" xmlns="" val="1619246813"/>
                    </a:ext>
                  </a:extLst>
                </a:gridCol>
              </a:tblGrid>
              <a:tr h="594129">
                <a:tc>
                  <a:txBody>
                    <a:bodyPr/>
                    <a:lstStyle/>
                    <a:p>
                      <a:pPr algn="ctr">
                        <a:spcAft>
                          <a:spcPts val="0"/>
                        </a:spcAft>
                      </a:pPr>
                      <a:r>
                        <a:rPr lang="en-US" sz="2400" dirty="0">
                          <a:effectLst/>
                        </a:rPr>
                        <a:t>Operator</a:t>
                      </a:r>
                      <a:endParaRPr lang="en-IN" sz="2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400" dirty="0">
                          <a:effectLst/>
                        </a:rPr>
                        <a:t>Meaning</a:t>
                      </a:r>
                      <a:endParaRPr lang="en-IN" sz="2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IN" sz="2400" dirty="0">
                          <a:effectLst/>
                          <a:latin typeface="Times New Roman" panose="02020603050405020304" pitchFamily="18" charset="0"/>
                          <a:ea typeface="Times New Roman" panose="02020603050405020304" pitchFamily="18" charset="0"/>
                        </a:rPr>
                        <a:t>Example</a:t>
                      </a:r>
                    </a:p>
                  </a:txBody>
                  <a:tcPr marL="68580" marR="68580" marT="0" marB="0" anchor="ctr"/>
                </a:tc>
                <a:extLst>
                  <a:ext uri="{0D108BD9-81ED-4DB2-BD59-A6C34878D82A}">
                    <a16:rowId xmlns:a16="http://schemas.microsoft.com/office/drawing/2014/main" xmlns="" val="166428563"/>
                  </a:ext>
                </a:extLst>
              </a:tr>
              <a:tr h="594129">
                <a:tc>
                  <a:txBody>
                    <a:bodyPr/>
                    <a:lstStyle/>
                    <a:p>
                      <a:pPr algn="ctr">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a:t>
                      </a:r>
                    </a:p>
                  </a:txBody>
                  <a:tcPr marL="68580" marR="68580" marT="0" marB="0" anchor="ctr">
                    <a:solidFill>
                      <a:schemeClr val="accent1">
                        <a:lumMod val="20000"/>
                        <a:lumOff val="80000"/>
                      </a:schemeClr>
                    </a:solidFill>
                  </a:tcPr>
                </a:tc>
                <a:tc>
                  <a:txBody>
                    <a:bodyPr/>
                    <a:lstStyle/>
                    <a:p>
                      <a:pPr algn="l">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Plus</a:t>
                      </a:r>
                    </a:p>
                  </a:txBody>
                  <a:tcPr marL="68580" marR="68580" marT="0" marB="0" anchor="ctr">
                    <a:solidFill>
                      <a:schemeClr val="accent1">
                        <a:lumMod val="20000"/>
                        <a:lumOff val="80000"/>
                      </a:schemeClr>
                    </a:solidFill>
                  </a:tcPr>
                </a:tc>
                <a:tc>
                  <a:txBody>
                    <a:bodyPr/>
                    <a:lstStyle/>
                    <a:p>
                      <a:pPr algn="l">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a=+10</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3588258951"/>
                  </a:ext>
                </a:extLst>
              </a:tr>
              <a:tr h="594129">
                <a:tc>
                  <a:txBody>
                    <a:bodyPr/>
                    <a:lstStyle/>
                    <a:p>
                      <a:pPr algn="ctr">
                        <a:spcAft>
                          <a:spcPts val="0"/>
                        </a:spcAft>
                      </a:pPr>
                      <a:r>
                        <a:rPr lang="en-US" sz="2400" dirty="0">
                          <a:solidFill>
                            <a:schemeClr val="tx1"/>
                          </a:solidFill>
                          <a:effectLst/>
                        </a:rPr>
                        <a:t>-</a:t>
                      </a:r>
                      <a:endParaRPr lang="en-IN" sz="24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l">
                        <a:spcAft>
                          <a:spcPts val="0"/>
                        </a:spcAft>
                      </a:pPr>
                      <a:r>
                        <a:rPr lang="en-US" sz="2400" dirty="0">
                          <a:solidFill>
                            <a:schemeClr val="tx1"/>
                          </a:solidFill>
                          <a:effectLst/>
                        </a:rPr>
                        <a:t>Minus</a:t>
                      </a:r>
                      <a:endParaRPr lang="en-IN" sz="24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l">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a=-10</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2043060811"/>
                  </a:ext>
                </a:extLst>
              </a:tr>
              <a:tr h="594129">
                <a:tc>
                  <a:txBody>
                    <a:bodyPr/>
                    <a:lstStyle/>
                    <a:p>
                      <a:pPr algn="ctr">
                        <a:spcAft>
                          <a:spcPts val="0"/>
                        </a:spcAft>
                      </a:pPr>
                      <a:r>
                        <a:rPr lang="en-US" sz="2400" dirty="0">
                          <a:solidFill>
                            <a:schemeClr val="tx1"/>
                          </a:solidFill>
                          <a:effectLst/>
                          <a:latin typeface="Times New Roman" panose="02020603050405020304" pitchFamily="18" charset="0"/>
                          <a:ea typeface="Times New Roman" panose="02020603050405020304" pitchFamily="18" charset="0"/>
                        </a:rPr>
                        <a:t>++</a:t>
                      </a:r>
                      <a:endParaRPr lang="en-IN" sz="24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l">
                        <a:spcAft>
                          <a:spcPts val="0"/>
                        </a:spcAft>
                      </a:pPr>
                      <a:r>
                        <a:rPr lang="en-US" sz="2400" dirty="0">
                          <a:solidFill>
                            <a:schemeClr val="tx1"/>
                          </a:solidFill>
                          <a:effectLst/>
                        </a:rPr>
                        <a:t>Increment</a:t>
                      </a:r>
                      <a:endParaRPr lang="en-IN" sz="24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l">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x=++y</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2086290602"/>
                  </a:ext>
                </a:extLst>
              </a:tr>
              <a:tr h="594129">
                <a:tc>
                  <a:txBody>
                    <a:bodyPr/>
                    <a:lstStyle/>
                    <a:p>
                      <a:pPr algn="ctr">
                        <a:spcAft>
                          <a:spcPts val="0"/>
                        </a:spcAft>
                      </a:pPr>
                      <a:r>
                        <a:rPr lang="en-US" sz="2400" dirty="0">
                          <a:solidFill>
                            <a:schemeClr val="tx1"/>
                          </a:solidFill>
                          <a:effectLst/>
                          <a:latin typeface="Times New Roman" panose="02020603050405020304" pitchFamily="18" charset="0"/>
                          <a:ea typeface="Times New Roman" panose="02020603050405020304" pitchFamily="18" charset="0"/>
                        </a:rPr>
                        <a:t>--</a:t>
                      </a:r>
                      <a:endParaRPr lang="en-IN" sz="24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l">
                        <a:spcAft>
                          <a:spcPts val="0"/>
                        </a:spcAft>
                      </a:pPr>
                      <a:r>
                        <a:rPr lang="en-US" sz="2400" dirty="0">
                          <a:solidFill>
                            <a:schemeClr val="tx1"/>
                          </a:solidFill>
                          <a:effectLst/>
                        </a:rPr>
                        <a:t>Decrement</a:t>
                      </a:r>
                      <a:endParaRPr lang="en-IN" sz="24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l">
                        <a:spcAft>
                          <a:spcPts val="0"/>
                        </a:spcAft>
                      </a:pPr>
                      <a:r>
                        <a:rPr lang="en-IN" sz="2400" dirty="0">
                          <a:solidFill>
                            <a:schemeClr val="tx1"/>
                          </a:solidFill>
                          <a:effectLst/>
                          <a:latin typeface="Times New Roman" panose="02020603050405020304" pitchFamily="18" charset="0"/>
                          <a:ea typeface="Times New Roman" panose="02020603050405020304" pitchFamily="18" charset="0"/>
                        </a:rPr>
                        <a:t>x=--y</a:t>
                      </a:r>
                    </a:p>
                  </a:txBody>
                  <a:tcPr marL="68580" marR="68580" marT="0" marB="0" anchor="ctr">
                    <a:solidFill>
                      <a:schemeClr val="accent1">
                        <a:lumMod val="20000"/>
                        <a:lumOff val="80000"/>
                      </a:schemeClr>
                    </a:solidFill>
                  </a:tcPr>
                </a:tc>
                <a:extLst>
                  <a:ext uri="{0D108BD9-81ED-4DB2-BD59-A6C34878D82A}">
                    <a16:rowId xmlns:a16="http://schemas.microsoft.com/office/drawing/2014/main" xmlns="" val="840645046"/>
                  </a:ext>
                </a:extLst>
              </a:tr>
            </a:tbl>
          </a:graphicData>
        </a:graphic>
      </p:graphicFrame>
    </p:spTree>
    <p:extLst>
      <p:ext uri="{BB962C8B-B14F-4D97-AF65-F5344CB8AC3E}">
        <p14:creationId xmlns:p14="http://schemas.microsoft.com/office/powerpoint/2010/main" val="13959361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34649D-27B7-42A0-BAA1-986F7FF56281}"/>
              </a:ext>
            </a:extLst>
          </p:cNvPr>
          <p:cNvSpPr>
            <a:spLocks noGrp="1"/>
          </p:cNvSpPr>
          <p:nvPr>
            <p:ph type="title"/>
          </p:nvPr>
        </p:nvSpPr>
        <p:spPr/>
        <p:txBody>
          <a:bodyPr/>
          <a:lstStyle/>
          <a:p>
            <a:r>
              <a:rPr lang="en-IN" dirty="0"/>
              <a:t>Increment and Decrement operators</a:t>
            </a:r>
          </a:p>
        </p:txBody>
      </p:sp>
      <p:sp>
        <p:nvSpPr>
          <p:cNvPr id="3" name="Content Placeholder 2">
            <a:extLst>
              <a:ext uri="{FF2B5EF4-FFF2-40B4-BE49-F238E27FC236}">
                <a16:creationId xmlns:a16="http://schemas.microsoft.com/office/drawing/2014/main" xmlns="" id="{D1D286A3-213C-41C8-964A-C719D0469BC8}"/>
              </a:ext>
            </a:extLst>
          </p:cNvPr>
          <p:cNvSpPr>
            <a:spLocks noGrp="1"/>
          </p:cNvSpPr>
          <p:nvPr>
            <p:ph idx="1"/>
          </p:nvPr>
        </p:nvSpPr>
        <p:spPr/>
        <p:txBody>
          <a:bodyPr>
            <a:normAutofit/>
          </a:bodyPr>
          <a:lstStyle/>
          <a:p>
            <a:r>
              <a:rPr lang="en-IN" dirty="0"/>
              <a:t>They require </a:t>
            </a:r>
            <a:r>
              <a:rPr lang="en-IN" dirty="0" err="1"/>
              <a:t>Lvalue</a:t>
            </a:r>
            <a:r>
              <a:rPr lang="en-IN" dirty="0"/>
              <a:t> to perform the operation and they don’t work on </a:t>
            </a:r>
            <a:r>
              <a:rPr lang="en-IN" dirty="0" err="1"/>
              <a:t>Rvalue</a:t>
            </a:r>
            <a:r>
              <a:rPr lang="en-IN" dirty="0"/>
              <a:t>.</a:t>
            </a:r>
          </a:p>
          <a:p>
            <a:pPr marL="0" indent="0">
              <a:buNone/>
            </a:pPr>
            <a:endParaRPr lang="en-IN" dirty="0"/>
          </a:p>
          <a:p>
            <a:r>
              <a:rPr lang="en-IN" dirty="0" err="1"/>
              <a:t>Lvalue</a:t>
            </a:r>
            <a:r>
              <a:rPr lang="en-IN" dirty="0"/>
              <a:t> </a:t>
            </a:r>
          </a:p>
          <a:p>
            <a:pPr lvl="1"/>
            <a:r>
              <a:rPr lang="en-IN" dirty="0"/>
              <a:t>Refers to a location in memory</a:t>
            </a:r>
          </a:p>
          <a:p>
            <a:pPr lvl="1"/>
            <a:r>
              <a:rPr lang="en-IN" dirty="0"/>
              <a:t>It can appear both on the left and right side of an assignment statement</a:t>
            </a:r>
          </a:p>
          <a:p>
            <a:r>
              <a:rPr lang="en-IN" dirty="0" err="1"/>
              <a:t>Rvalue</a:t>
            </a:r>
            <a:r>
              <a:rPr lang="en-IN" dirty="0"/>
              <a:t> </a:t>
            </a:r>
          </a:p>
          <a:p>
            <a:pPr lvl="1"/>
            <a:r>
              <a:rPr lang="en-IN" dirty="0"/>
              <a:t>Refers to a data value</a:t>
            </a:r>
          </a:p>
          <a:p>
            <a:pPr lvl="1"/>
            <a:r>
              <a:rPr lang="en-IN" dirty="0"/>
              <a:t>It can appear on the right side of an assignment statement and not on the left side. </a:t>
            </a:r>
          </a:p>
        </p:txBody>
      </p:sp>
    </p:spTree>
    <p:extLst>
      <p:ext uri="{BB962C8B-B14F-4D97-AF65-F5344CB8AC3E}">
        <p14:creationId xmlns:p14="http://schemas.microsoft.com/office/powerpoint/2010/main" val="9199342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9D2187-42AD-4B01-85DA-2CA08D507A12}"/>
              </a:ext>
            </a:extLst>
          </p:cNvPr>
          <p:cNvSpPr>
            <a:spLocks noGrp="1"/>
          </p:cNvSpPr>
          <p:nvPr>
            <p:ph type="title"/>
          </p:nvPr>
        </p:nvSpPr>
        <p:spPr>
          <a:xfrm>
            <a:off x="1551431" y="331874"/>
            <a:ext cx="9823703" cy="1325563"/>
          </a:xfrm>
        </p:spPr>
        <p:txBody>
          <a:bodyPr/>
          <a:lstStyle/>
          <a:p>
            <a:r>
              <a:rPr lang="en-IN" dirty="0"/>
              <a:t>Post increment and decrement operators</a:t>
            </a:r>
          </a:p>
        </p:txBody>
      </p:sp>
      <p:pic>
        <p:nvPicPr>
          <p:cNvPr id="4" name="Picture 2">
            <a:extLst>
              <a:ext uri="{FF2B5EF4-FFF2-40B4-BE49-F238E27FC236}">
                <a16:creationId xmlns:a16="http://schemas.microsoft.com/office/drawing/2014/main" xmlns="" id="{13F7412E-D910-4981-B875-157D4439FFA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04603" y="1967362"/>
            <a:ext cx="2034888" cy="1607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xmlns="" id="{370B8978-5705-4256-9AE4-531B3300239B}"/>
              </a:ext>
            </a:extLst>
          </p:cNvPr>
          <p:cNvPicPr>
            <a:picLocks noChangeAspect="1"/>
          </p:cNvPicPr>
          <p:nvPr/>
        </p:nvPicPr>
        <p:blipFill>
          <a:blip r:embed="rId3"/>
          <a:stretch>
            <a:fillRect/>
          </a:stretch>
        </p:blipFill>
        <p:spPr>
          <a:xfrm>
            <a:off x="2081705" y="4049630"/>
            <a:ext cx="2157786" cy="1607111"/>
          </a:xfrm>
          <a:prstGeom prst="rect">
            <a:avLst/>
          </a:prstGeom>
        </p:spPr>
      </p:pic>
      <p:sp>
        <p:nvSpPr>
          <p:cNvPr id="6" name="TextBox 5">
            <a:extLst>
              <a:ext uri="{FF2B5EF4-FFF2-40B4-BE49-F238E27FC236}">
                <a16:creationId xmlns:a16="http://schemas.microsoft.com/office/drawing/2014/main" xmlns="" id="{C4F62BAE-233B-421F-A702-487E0B54D886}"/>
              </a:ext>
            </a:extLst>
          </p:cNvPr>
          <p:cNvSpPr txBox="1"/>
          <p:nvPr/>
        </p:nvSpPr>
        <p:spPr>
          <a:xfrm>
            <a:off x="5214503" y="1967362"/>
            <a:ext cx="5331577" cy="1323439"/>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First action :  Store the value of a in the variable x</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Second Action : Increment value of a by 1 and store the result in the variable a</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0EB273B9-9F57-4295-9155-834837FE6A8A}"/>
              </a:ext>
            </a:extLst>
          </p:cNvPr>
          <p:cNvSpPr txBox="1"/>
          <p:nvPr/>
        </p:nvSpPr>
        <p:spPr>
          <a:xfrm>
            <a:off x="5336771" y="3875252"/>
            <a:ext cx="5209309" cy="1323439"/>
          </a:xfrm>
          <a:prstGeom prst="rect">
            <a:avLst/>
          </a:prstGeom>
          <a:noFill/>
        </p:spPr>
        <p:txBody>
          <a:bodyPr wrap="square" rtlCol="0">
            <a:spAutoFit/>
          </a:bodyPr>
          <a:lstStyle/>
          <a:p>
            <a:pPr marL="342900" indent="-3429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First Action : </a:t>
            </a:r>
            <a:r>
              <a:rPr lang="en-IN" sz="2000" dirty="0">
                <a:latin typeface="Times New Roman" panose="02020603050405020304" pitchFamily="18" charset="0"/>
                <a:cs typeface="Times New Roman" panose="02020603050405020304" pitchFamily="18" charset="0"/>
              </a:rPr>
              <a:t>Put value of b in the variable y</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Second Action : Decrement value of b by 1 and put result in the variable b</a:t>
            </a:r>
            <a:endParaRPr lang="en-IN" sz="2000" dirty="0">
              <a:latin typeface="Times New Roman" panose="02020603050405020304" pitchFamily="18" charset="0"/>
              <a:cs typeface="Times New Roman" panose="02020603050405020304" pitchFamily="18" charset="0"/>
            </a:endParaRPr>
          </a:p>
        </p:txBody>
      </p:sp>
      <p:pic>
        <p:nvPicPr>
          <p:cNvPr id="8" name="Picture 2">
            <a:extLst>
              <a:ext uri="{FF2B5EF4-FFF2-40B4-BE49-F238E27FC236}">
                <a16:creationId xmlns:a16="http://schemas.microsoft.com/office/drawing/2014/main" xmlns="" id="{7B4CF89B-6662-4B55-A012-858A4F7098E9}"/>
              </a:ext>
            </a:extLst>
          </p:cNvPr>
          <p:cNvPicPr>
            <a:picLocks noChangeAspect="1" noChangeArrowheads="1"/>
          </p:cNvPicPr>
          <p:nvPr/>
        </p:nvPicPr>
        <p:blipFill>
          <a:blip r:embed="rId4"/>
          <a:srcRect/>
          <a:stretch>
            <a:fillRect/>
          </a:stretch>
        </p:blipFill>
        <p:spPr bwMode="auto">
          <a:xfrm>
            <a:off x="1888003" y="1962946"/>
            <a:ext cx="3009900" cy="1781175"/>
          </a:xfrm>
          <a:prstGeom prst="rect">
            <a:avLst/>
          </a:prstGeom>
          <a:noFill/>
          <a:ln w="9525">
            <a:noFill/>
            <a:miter lim="800000"/>
            <a:headEnd/>
            <a:tailEnd/>
          </a:ln>
          <a:effectLst/>
        </p:spPr>
      </p:pic>
      <p:pic>
        <p:nvPicPr>
          <p:cNvPr id="10" name="Picture 3">
            <a:extLst>
              <a:ext uri="{FF2B5EF4-FFF2-40B4-BE49-F238E27FC236}">
                <a16:creationId xmlns:a16="http://schemas.microsoft.com/office/drawing/2014/main" xmlns="" id="{A4CC9D1D-1977-48AC-ADE8-984C123ADBBE}"/>
              </a:ext>
            </a:extLst>
          </p:cNvPr>
          <p:cNvPicPr>
            <a:picLocks noChangeAspect="1" noChangeArrowheads="1"/>
          </p:cNvPicPr>
          <p:nvPr/>
        </p:nvPicPr>
        <p:blipFill>
          <a:blip r:embed="rId5"/>
          <a:srcRect/>
          <a:stretch>
            <a:fillRect/>
          </a:stretch>
        </p:blipFill>
        <p:spPr bwMode="auto">
          <a:xfrm>
            <a:off x="1888003" y="4049630"/>
            <a:ext cx="2975000" cy="2143140"/>
          </a:xfrm>
          <a:prstGeom prst="rect">
            <a:avLst/>
          </a:prstGeom>
          <a:noFill/>
          <a:ln w="9525">
            <a:noFill/>
            <a:miter lim="800000"/>
            <a:headEnd/>
            <a:tailEnd/>
          </a:ln>
          <a:effectLst/>
        </p:spPr>
      </p:pic>
    </p:spTree>
    <p:extLst>
      <p:ext uri="{BB962C8B-B14F-4D97-AF65-F5344CB8AC3E}">
        <p14:creationId xmlns:p14="http://schemas.microsoft.com/office/powerpoint/2010/main" val="83368509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9D2187-42AD-4B01-85DA-2CA08D507A12}"/>
              </a:ext>
            </a:extLst>
          </p:cNvPr>
          <p:cNvSpPr>
            <a:spLocks noGrp="1"/>
          </p:cNvSpPr>
          <p:nvPr>
            <p:ph type="title"/>
          </p:nvPr>
        </p:nvSpPr>
        <p:spPr>
          <a:xfrm>
            <a:off x="1551431" y="365125"/>
            <a:ext cx="9823703" cy="1325563"/>
          </a:xfrm>
        </p:spPr>
        <p:txBody>
          <a:bodyPr/>
          <a:lstStyle/>
          <a:p>
            <a:r>
              <a:rPr lang="en-IN" dirty="0"/>
              <a:t>Pre increment and decrement operators</a:t>
            </a:r>
          </a:p>
        </p:txBody>
      </p:sp>
      <p:pic>
        <p:nvPicPr>
          <p:cNvPr id="4" name="Picture 2">
            <a:extLst>
              <a:ext uri="{FF2B5EF4-FFF2-40B4-BE49-F238E27FC236}">
                <a16:creationId xmlns:a16="http://schemas.microsoft.com/office/drawing/2014/main" xmlns="" id="{13F7412E-D910-4981-B875-157D4439FFA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04603" y="1967362"/>
            <a:ext cx="2034888" cy="1607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xmlns="" id="{370B8978-5705-4256-9AE4-531B3300239B}"/>
              </a:ext>
            </a:extLst>
          </p:cNvPr>
          <p:cNvPicPr>
            <a:picLocks noChangeAspect="1"/>
          </p:cNvPicPr>
          <p:nvPr/>
        </p:nvPicPr>
        <p:blipFill>
          <a:blip r:embed="rId3"/>
          <a:stretch>
            <a:fillRect/>
          </a:stretch>
        </p:blipFill>
        <p:spPr>
          <a:xfrm>
            <a:off x="2081705" y="4049630"/>
            <a:ext cx="2157786" cy="1607111"/>
          </a:xfrm>
          <a:prstGeom prst="rect">
            <a:avLst/>
          </a:prstGeom>
        </p:spPr>
      </p:pic>
      <p:sp>
        <p:nvSpPr>
          <p:cNvPr id="6" name="TextBox 5">
            <a:extLst>
              <a:ext uri="{FF2B5EF4-FFF2-40B4-BE49-F238E27FC236}">
                <a16:creationId xmlns:a16="http://schemas.microsoft.com/office/drawing/2014/main" xmlns="" id="{C4F62BAE-233B-421F-A702-487E0B54D886}"/>
              </a:ext>
            </a:extLst>
          </p:cNvPr>
          <p:cNvSpPr txBox="1"/>
          <p:nvPr/>
        </p:nvSpPr>
        <p:spPr>
          <a:xfrm>
            <a:off x="4954385" y="1967362"/>
            <a:ext cx="5774575" cy="1015663"/>
          </a:xfrm>
          <a:prstGeom prst="rect">
            <a:avLst/>
          </a:prstGeom>
          <a:noFill/>
        </p:spPr>
        <p:txBody>
          <a:bodyPr wrap="square" rtlCol="0">
            <a:spAutoFit/>
          </a:bodyPr>
          <a:lstStyle/>
          <a:p>
            <a:pPr lvl="1" eaLnBrk="1" fontAlgn="auto" hangingPunct="1">
              <a:spcAft>
                <a:spcPts val="0"/>
              </a:spcAft>
              <a:buFont typeface="Wingdings" panose="05000000000000000000" pitchFamily="2" charset="2"/>
              <a:buChar char="Ø"/>
              <a:defRPr/>
            </a:pPr>
            <a:r>
              <a:rPr lang="en-IN" sz="2000" dirty="0">
                <a:latin typeface="Times New Roman" panose="02020603050405020304" pitchFamily="18" charset="0"/>
                <a:cs typeface="Times New Roman" panose="02020603050405020304" pitchFamily="18" charset="0"/>
              </a:rPr>
              <a:t>First action: increment value of a by 1 and store result in the variable a.</a:t>
            </a:r>
          </a:p>
          <a:p>
            <a:pPr lvl="1" eaLnBrk="1" fontAlgn="auto" hangingPunct="1">
              <a:spcAft>
                <a:spcPts val="0"/>
              </a:spcAft>
              <a:buFont typeface="Wingdings" panose="05000000000000000000" pitchFamily="2" charset="2"/>
              <a:buChar char="Ø"/>
              <a:defRPr/>
            </a:pPr>
            <a:r>
              <a:rPr lang="en-IN" sz="2000" dirty="0">
                <a:latin typeface="Times New Roman" panose="02020603050405020304" pitchFamily="18" charset="0"/>
                <a:cs typeface="Times New Roman" panose="02020603050405020304" pitchFamily="18" charset="0"/>
              </a:rPr>
              <a:t>Second action: store value of a in the variable x.</a:t>
            </a:r>
          </a:p>
        </p:txBody>
      </p:sp>
      <p:sp>
        <p:nvSpPr>
          <p:cNvPr id="7" name="TextBox 6">
            <a:extLst>
              <a:ext uri="{FF2B5EF4-FFF2-40B4-BE49-F238E27FC236}">
                <a16:creationId xmlns:a16="http://schemas.microsoft.com/office/drawing/2014/main" xmlns="" id="{0EB273B9-9F57-4295-9155-834837FE6A8A}"/>
              </a:ext>
            </a:extLst>
          </p:cNvPr>
          <p:cNvSpPr txBox="1"/>
          <p:nvPr/>
        </p:nvSpPr>
        <p:spPr>
          <a:xfrm>
            <a:off x="4954385" y="3875252"/>
            <a:ext cx="5774575" cy="1631216"/>
          </a:xfrm>
          <a:prstGeom prst="rect">
            <a:avLst/>
          </a:prstGeom>
          <a:noFill/>
        </p:spPr>
        <p:txBody>
          <a:bodyPr wrap="square" rtlCol="0">
            <a:spAutoFit/>
          </a:bodyPr>
          <a:lstStyle/>
          <a:p>
            <a:pPr lvl="1" eaLnBrk="1" fontAlgn="auto" hangingPunct="1">
              <a:spcAft>
                <a:spcPts val="0"/>
              </a:spcAft>
              <a:buFont typeface="Wingdings" panose="05000000000000000000" pitchFamily="2" charset="2"/>
              <a:buChar char="Ø"/>
              <a:defRPr/>
            </a:pPr>
            <a:endParaRPr lang="en-IN" sz="2000" dirty="0">
              <a:latin typeface="Times New Roman" panose="02020603050405020304" pitchFamily="18" charset="0"/>
              <a:cs typeface="Times New Roman" panose="02020603050405020304" pitchFamily="18" charset="0"/>
            </a:endParaRPr>
          </a:p>
          <a:p>
            <a:pPr lvl="1" eaLnBrk="1" fontAlgn="auto" hangingPunct="1">
              <a:spcAft>
                <a:spcPts val="0"/>
              </a:spcAft>
              <a:buFont typeface="Wingdings" panose="05000000000000000000" pitchFamily="2" charset="2"/>
              <a:buChar char="Ø"/>
              <a:defRPr/>
            </a:pPr>
            <a:r>
              <a:rPr lang="en-IN" sz="2000" dirty="0">
                <a:latin typeface="Times New Roman" panose="02020603050405020304" pitchFamily="18" charset="0"/>
                <a:cs typeface="Times New Roman" panose="02020603050405020304" pitchFamily="18" charset="0"/>
              </a:rPr>
              <a:t>First action: decrement value of  b by 1 and store result in the variable b.</a:t>
            </a:r>
          </a:p>
          <a:p>
            <a:pPr lvl="1" eaLnBrk="1" fontAlgn="auto" hangingPunct="1">
              <a:spcAft>
                <a:spcPts val="0"/>
              </a:spcAft>
              <a:buFont typeface="Wingdings" panose="05000000000000000000" pitchFamily="2" charset="2"/>
              <a:buChar char="Ø"/>
              <a:defRPr/>
            </a:pPr>
            <a:r>
              <a:rPr lang="en-IN" sz="2000" dirty="0">
                <a:latin typeface="Times New Roman" panose="02020603050405020304" pitchFamily="18" charset="0"/>
                <a:cs typeface="Times New Roman" panose="02020603050405020304" pitchFamily="18" charset="0"/>
              </a:rPr>
              <a:t>Second action: store value of  b in the variable y.</a:t>
            </a:r>
            <a:endParaRPr lang="en-US" sz="2000" b="1" dirty="0">
              <a:latin typeface="Times New Roman" panose="02020603050405020304" pitchFamily="18" charset="0"/>
              <a:cs typeface="Times New Roman" panose="02020603050405020304" pitchFamily="18" charset="0"/>
            </a:endParaRPr>
          </a:p>
        </p:txBody>
      </p:sp>
      <p:pic>
        <p:nvPicPr>
          <p:cNvPr id="8" name="Picture 2">
            <a:extLst>
              <a:ext uri="{FF2B5EF4-FFF2-40B4-BE49-F238E27FC236}">
                <a16:creationId xmlns:a16="http://schemas.microsoft.com/office/drawing/2014/main" xmlns="" id="{38CBCE46-EF83-436A-AE51-8A171DC2B4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2859" y="1892849"/>
            <a:ext cx="2851526"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a:extLst>
              <a:ext uri="{FF2B5EF4-FFF2-40B4-BE49-F238E27FC236}">
                <a16:creationId xmlns:a16="http://schemas.microsoft.com/office/drawing/2014/main" xmlns="" id="{CD929F61-A4FE-4FD5-94BC-F5A4EA5872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81705" y="4018953"/>
            <a:ext cx="2872680" cy="166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29701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1DA20E-7973-47AA-AC2C-EA88EA345D40}"/>
              </a:ext>
            </a:extLst>
          </p:cNvPr>
          <p:cNvSpPr>
            <a:spLocks noGrp="1"/>
          </p:cNvSpPr>
          <p:nvPr>
            <p:ph type="title"/>
          </p:nvPr>
        </p:nvSpPr>
        <p:spPr>
          <a:xfrm>
            <a:off x="838200" y="365125"/>
            <a:ext cx="9939528" cy="1325563"/>
          </a:xfrm>
        </p:spPr>
        <p:txBody>
          <a:bodyPr>
            <a:normAutofit fontScale="90000"/>
          </a:bodyPr>
          <a:lstStyle/>
          <a:p>
            <a:r>
              <a:rPr lang="en-US" sz="4400" dirty="0"/>
              <a:t>pre- and post-increment - Example</a:t>
            </a:r>
            <a:br>
              <a:rPr lang="en-US" sz="4400" dirty="0"/>
            </a:br>
            <a:endParaRPr lang="en-IN" dirty="0"/>
          </a:p>
        </p:txBody>
      </p:sp>
      <p:sp>
        <p:nvSpPr>
          <p:cNvPr id="3" name="Content Placeholder 2">
            <a:extLst>
              <a:ext uri="{FF2B5EF4-FFF2-40B4-BE49-F238E27FC236}">
                <a16:creationId xmlns:a16="http://schemas.microsoft.com/office/drawing/2014/main" xmlns="" id="{26A12F35-2030-41D7-930C-FFD7923FC1E1}"/>
              </a:ext>
            </a:extLst>
          </p:cNvPr>
          <p:cNvSpPr>
            <a:spLocks noGrp="1"/>
          </p:cNvSpPr>
          <p:nvPr>
            <p:ph sz="half" idx="1"/>
          </p:nvPr>
        </p:nvSpPr>
        <p:spPr/>
        <p:txBody>
          <a:bodyPr/>
          <a:lstStyle/>
          <a:p>
            <a:pPr algn="just"/>
            <a:endParaRPr lang="en-IN" altLang="en-US" sz="3200" dirty="0">
              <a:latin typeface="Times New Roman" panose="02020603050405020304" pitchFamily="18" charset="0"/>
              <a:cs typeface="Times New Roman" panose="02020603050405020304" pitchFamily="18" charset="0"/>
            </a:endParaRPr>
          </a:p>
          <a:p>
            <a:endParaRPr lang="en-IN" dirty="0"/>
          </a:p>
        </p:txBody>
      </p:sp>
      <p:sp>
        <p:nvSpPr>
          <p:cNvPr id="4" name="Content Placeholder 3">
            <a:extLst>
              <a:ext uri="{FF2B5EF4-FFF2-40B4-BE49-F238E27FC236}">
                <a16:creationId xmlns:a16="http://schemas.microsoft.com/office/drawing/2014/main" xmlns="" id="{B451171F-A316-42F9-9FC2-5E5647F549BA}"/>
              </a:ext>
            </a:extLst>
          </p:cNvPr>
          <p:cNvSpPr>
            <a:spLocks noGrp="1"/>
          </p:cNvSpPr>
          <p:nvPr>
            <p:ph sz="half" idx="2"/>
          </p:nvPr>
        </p:nvSpPr>
        <p:spPr>
          <a:xfrm>
            <a:off x="7467600" y="1690688"/>
            <a:ext cx="4489704" cy="4351338"/>
          </a:xfrm>
        </p:spPr>
        <p:txBody>
          <a:bodyPr/>
          <a:lstStyle/>
          <a:p>
            <a:pPr marL="0" indent="0">
              <a:buNone/>
            </a:pPr>
            <a:r>
              <a:rPr lang="en-IN" dirty="0"/>
              <a:t>Output</a:t>
            </a:r>
          </a:p>
          <a:p>
            <a:pPr marL="0" indent="0">
              <a:buNone/>
            </a:pPr>
            <a:r>
              <a:rPr lang="en-IN" dirty="0"/>
              <a:t>x=13   y=13</a:t>
            </a:r>
          </a:p>
        </p:txBody>
      </p:sp>
      <p:sp>
        <p:nvSpPr>
          <p:cNvPr id="5" name="TextBox 4">
            <a:extLst>
              <a:ext uri="{FF2B5EF4-FFF2-40B4-BE49-F238E27FC236}">
                <a16:creationId xmlns:a16="http://schemas.microsoft.com/office/drawing/2014/main" xmlns="" id="{B719D638-CA32-4A39-90CC-4A9F3B7CA800}"/>
              </a:ext>
            </a:extLst>
          </p:cNvPr>
          <p:cNvSpPr txBox="1"/>
          <p:nvPr/>
        </p:nvSpPr>
        <p:spPr>
          <a:xfrm>
            <a:off x="1832957" y="1638914"/>
            <a:ext cx="5238403" cy="5016758"/>
          </a:xfrm>
          <a:prstGeom prst="rect">
            <a:avLst/>
          </a:prstGeom>
          <a:noFill/>
        </p:spPr>
        <p:txBody>
          <a:bodyPr wrap="square">
            <a:spAutoFit/>
          </a:bodyPr>
          <a:lstStyle/>
          <a:p>
            <a:r>
              <a:rPr lang="es-ES" sz="3200" dirty="0">
                <a:latin typeface="Calibri" pitchFamily="34" charset="0"/>
              </a:rPr>
              <a:t>#</a:t>
            </a:r>
            <a:r>
              <a:rPr lang="es-ES" sz="3200" dirty="0" err="1">
                <a:latin typeface="Calibri" pitchFamily="34" charset="0"/>
              </a:rPr>
              <a:t>include</a:t>
            </a:r>
            <a:r>
              <a:rPr lang="es-ES" sz="3200" dirty="0">
                <a:latin typeface="Calibri" pitchFamily="34" charset="0"/>
              </a:rPr>
              <a:t>&lt;</a:t>
            </a:r>
            <a:r>
              <a:rPr lang="es-ES" sz="3200" dirty="0" err="1">
                <a:latin typeface="Calibri" pitchFamily="34" charset="0"/>
              </a:rPr>
              <a:t>stdio.h</a:t>
            </a:r>
            <a:r>
              <a:rPr lang="es-ES" sz="3200" dirty="0">
                <a:latin typeface="Calibri" pitchFamily="34" charset="0"/>
              </a:rPr>
              <a:t>&gt;</a:t>
            </a:r>
          </a:p>
          <a:p>
            <a:r>
              <a:rPr lang="es-ES" sz="3200" dirty="0" err="1">
                <a:latin typeface="Calibri" pitchFamily="34" charset="0"/>
              </a:rPr>
              <a:t>void</a:t>
            </a:r>
            <a:r>
              <a:rPr lang="es-ES" sz="3200" dirty="0">
                <a:latin typeface="Calibri" pitchFamily="34" charset="0"/>
              </a:rPr>
              <a:t> </a:t>
            </a:r>
            <a:r>
              <a:rPr lang="es-ES" sz="3200" dirty="0" err="1">
                <a:latin typeface="Calibri" pitchFamily="34" charset="0"/>
              </a:rPr>
              <a:t>main</a:t>
            </a:r>
            <a:r>
              <a:rPr lang="es-ES" sz="3200" dirty="0">
                <a:latin typeface="Calibri" pitchFamily="34" charset="0"/>
              </a:rPr>
              <a:t>()</a:t>
            </a:r>
          </a:p>
          <a:p>
            <a:r>
              <a:rPr lang="es-ES" sz="3200" dirty="0">
                <a:latin typeface="Calibri" pitchFamily="34" charset="0"/>
              </a:rPr>
              <a:t>{</a:t>
            </a:r>
          </a:p>
          <a:p>
            <a:r>
              <a:rPr lang="es-ES" sz="3200" dirty="0">
                <a:latin typeface="Calibri" pitchFamily="34" charset="0"/>
              </a:rPr>
              <a:t> </a:t>
            </a:r>
            <a:r>
              <a:rPr lang="es-ES" sz="3200" dirty="0" err="1">
                <a:latin typeface="Calibri" pitchFamily="34" charset="0"/>
              </a:rPr>
              <a:t>int</a:t>
            </a:r>
            <a:r>
              <a:rPr lang="es-ES" sz="3200" dirty="0">
                <a:latin typeface="Calibri" pitchFamily="34" charset="0"/>
              </a:rPr>
              <a:t> </a:t>
            </a:r>
            <a:r>
              <a:rPr lang="es-ES" sz="3200" dirty="0" err="1">
                <a:latin typeface="Calibri" pitchFamily="34" charset="0"/>
              </a:rPr>
              <a:t>x,y</a:t>
            </a:r>
            <a:r>
              <a:rPr lang="es-ES" sz="3200" dirty="0">
                <a:latin typeface="Calibri" pitchFamily="34" charset="0"/>
              </a:rPr>
              <a:t>;</a:t>
            </a:r>
          </a:p>
          <a:p>
            <a:r>
              <a:rPr lang="es-ES" sz="3200" dirty="0">
                <a:latin typeface="Calibri" pitchFamily="34" charset="0"/>
              </a:rPr>
              <a:t> x=10;</a:t>
            </a:r>
          </a:p>
          <a:p>
            <a:r>
              <a:rPr lang="es-ES" sz="3200" dirty="0">
                <a:latin typeface="Calibri" pitchFamily="34" charset="0"/>
              </a:rPr>
              <a:t> y=12;</a:t>
            </a:r>
          </a:p>
          <a:p>
            <a:r>
              <a:rPr lang="es-ES" sz="3200" dirty="0">
                <a:latin typeface="Calibri" pitchFamily="34" charset="0"/>
              </a:rPr>
              <a:t> x=y++;</a:t>
            </a:r>
          </a:p>
          <a:p>
            <a:r>
              <a:rPr lang="es-ES" sz="3200" dirty="0">
                <a:latin typeface="Calibri" pitchFamily="34" charset="0"/>
              </a:rPr>
              <a:t> ++x;</a:t>
            </a:r>
          </a:p>
          <a:p>
            <a:r>
              <a:rPr lang="es-ES" sz="3200" dirty="0">
                <a:latin typeface="Calibri" pitchFamily="34" charset="0"/>
              </a:rPr>
              <a:t> </a:t>
            </a:r>
            <a:r>
              <a:rPr lang="es-ES" sz="3200" dirty="0" err="1">
                <a:latin typeface="Calibri" pitchFamily="34" charset="0"/>
              </a:rPr>
              <a:t>printf</a:t>
            </a:r>
            <a:r>
              <a:rPr lang="es-ES" sz="3200" dirty="0">
                <a:latin typeface="Calibri" pitchFamily="34" charset="0"/>
              </a:rPr>
              <a:t>("x=%d\t y=%d",</a:t>
            </a:r>
            <a:r>
              <a:rPr lang="es-ES" sz="3200" dirty="0" err="1">
                <a:latin typeface="Calibri" pitchFamily="34" charset="0"/>
              </a:rPr>
              <a:t>x,y</a:t>
            </a:r>
            <a:r>
              <a:rPr lang="es-ES" sz="3200" dirty="0">
                <a:latin typeface="Calibri" pitchFamily="34" charset="0"/>
              </a:rPr>
              <a:t>);</a:t>
            </a:r>
          </a:p>
          <a:p>
            <a:r>
              <a:rPr lang="es-ES" sz="3200" dirty="0">
                <a:latin typeface="Calibri" pitchFamily="34" charset="0"/>
              </a:rPr>
              <a:t>}</a:t>
            </a:r>
          </a:p>
        </p:txBody>
      </p:sp>
    </p:spTree>
    <p:extLst>
      <p:ext uri="{BB962C8B-B14F-4D97-AF65-F5344CB8AC3E}">
        <p14:creationId xmlns:p14="http://schemas.microsoft.com/office/powerpoint/2010/main" val="15031008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29F1E9-E59A-4A79-A9E5-2CBAF6542142}"/>
              </a:ext>
            </a:extLst>
          </p:cNvPr>
          <p:cNvSpPr>
            <a:spLocks noGrp="1"/>
          </p:cNvSpPr>
          <p:nvPr>
            <p:ph type="title"/>
          </p:nvPr>
        </p:nvSpPr>
        <p:spPr/>
        <p:txBody>
          <a:bodyPr/>
          <a:lstStyle/>
          <a:p>
            <a:pPr algn="ctr"/>
            <a:r>
              <a:rPr lang="en-IN" dirty="0"/>
              <a:t>Comma Operator</a:t>
            </a:r>
          </a:p>
        </p:txBody>
      </p:sp>
      <p:sp>
        <p:nvSpPr>
          <p:cNvPr id="3" name="Content Placeholder 2">
            <a:extLst>
              <a:ext uri="{FF2B5EF4-FFF2-40B4-BE49-F238E27FC236}">
                <a16:creationId xmlns:a16="http://schemas.microsoft.com/office/drawing/2014/main" xmlns="" id="{097C0950-13B7-423F-82F9-0A83BBF96A56}"/>
              </a:ext>
            </a:extLst>
          </p:cNvPr>
          <p:cNvSpPr>
            <a:spLocks noGrp="1"/>
          </p:cNvSpPr>
          <p:nvPr>
            <p:ph idx="1"/>
          </p:nvPr>
        </p:nvSpPr>
        <p:spPr>
          <a:xfrm>
            <a:off x="1551431" y="1396538"/>
            <a:ext cx="9147049" cy="5096337"/>
          </a:xfrm>
        </p:spPr>
        <p:txBody>
          <a:bodyPr>
            <a:normAutofit fontScale="77500" lnSpcReduction="20000"/>
          </a:bodyPr>
          <a:lstStyle/>
          <a:p>
            <a:pPr algn="just">
              <a:defRPr/>
            </a:pPr>
            <a:r>
              <a:rPr lang="en-US" sz="2800" dirty="0">
                <a:latin typeface="Times New Roman" panose="02020603050405020304" pitchFamily="18" charset="0"/>
                <a:cs typeface="Times New Roman" panose="02020603050405020304" pitchFamily="18" charset="0"/>
              </a:rPr>
              <a:t>The comma operator is used to </a:t>
            </a:r>
            <a:r>
              <a:rPr lang="en-US" dirty="0">
                <a:latin typeface="Times New Roman" panose="02020603050405020304" pitchFamily="18" charset="0"/>
                <a:cs typeface="Times New Roman" panose="02020603050405020304" pitchFamily="18" charset="0"/>
              </a:rPr>
              <a:t>b</a:t>
            </a:r>
            <a:r>
              <a:rPr lang="en-US" sz="2800" dirty="0">
                <a:latin typeface="Times New Roman" panose="02020603050405020304" pitchFamily="18" charset="0"/>
                <a:cs typeface="Times New Roman" panose="02020603050405020304" pitchFamily="18" charset="0"/>
              </a:rPr>
              <a:t>ring together a number of expressions which are performed in a sequence from left to right. For example, the following statement </a:t>
            </a:r>
          </a:p>
          <a:p>
            <a:pPr marL="0" indent="0" algn="just">
              <a:buFont typeface="Arial" pitchFamily="34" charset="0"/>
              <a:buNone/>
              <a:defRPr/>
            </a:pPr>
            <a:r>
              <a:rPr lang="en-US" sz="2800" dirty="0">
                <a:latin typeface="Times New Roman" panose="02020603050405020304" pitchFamily="18" charset="0"/>
                <a:cs typeface="Times New Roman" panose="02020603050405020304" pitchFamily="18" charset="0"/>
              </a:rPr>
              <a:t>	a = (x = 5,  x + 2);</a:t>
            </a:r>
          </a:p>
          <a:p>
            <a:pPr marL="0" indent="0" algn="just">
              <a:buFont typeface="Arial" pitchFamily="34" charset="0"/>
              <a:buNone/>
              <a:defRPr/>
            </a:pPr>
            <a:r>
              <a:rPr lang="en-US" sz="2800" dirty="0">
                <a:latin typeface="Times New Roman" panose="02020603050405020304" pitchFamily="18" charset="0"/>
                <a:cs typeface="Times New Roman" panose="02020603050405020304" pitchFamily="18" charset="0"/>
              </a:rPr>
              <a:t>      executes in the following order:</a:t>
            </a:r>
          </a:p>
          <a:p>
            <a:pPr marL="0" indent="0" algn="just">
              <a:buFont typeface="Arial" pitchFamily="34" charset="0"/>
              <a:buNone/>
              <a:defRPr/>
            </a:pP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value 5 is assigned to variable x.</a:t>
            </a:r>
          </a:p>
          <a:p>
            <a:pPr marL="0" indent="0" algn="just">
              <a:buFont typeface="Arial" pitchFamily="34" charset="0"/>
              <a:buNone/>
              <a:defRPr/>
            </a:pPr>
            <a:r>
              <a:rPr lang="en-US" sz="2800" dirty="0">
                <a:latin typeface="Times New Roman" panose="02020603050405020304" pitchFamily="18" charset="0"/>
                <a:cs typeface="Times New Roman" panose="02020603050405020304" pitchFamily="18" charset="0"/>
              </a:rPr>
              <a:t>         (ii)  x is incremented by 2.</a:t>
            </a:r>
          </a:p>
          <a:p>
            <a:pPr marL="0" indent="0" algn="just">
              <a:buFont typeface="Arial" pitchFamily="34" charset="0"/>
              <a:buNone/>
              <a:defRPr/>
            </a:pPr>
            <a:r>
              <a:rPr lang="en-US" sz="2800" dirty="0">
                <a:latin typeface="Times New Roman" panose="02020603050405020304" pitchFamily="18" charset="0"/>
                <a:cs typeface="Times New Roman" panose="02020603050405020304" pitchFamily="18" charset="0"/>
              </a:rPr>
              <a:t>         (iii) the value of expression x + 2 (i.e. 7) is assigned to the variable a.</a:t>
            </a:r>
          </a:p>
          <a:p>
            <a:pPr marL="0" indent="0" algn="just">
              <a:buFont typeface="Arial" pitchFamily="34" charset="0"/>
              <a:buNone/>
              <a:defRPr/>
            </a:pPr>
            <a:r>
              <a:rPr lang="en-US" sz="2800" dirty="0">
                <a:latin typeface="Times New Roman" panose="02020603050405020304" pitchFamily="18" charset="0"/>
                <a:cs typeface="Times New Roman" panose="02020603050405020304" pitchFamily="18" charset="0"/>
              </a:rPr>
              <a:t> </a:t>
            </a:r>
          </a:p>
          <a:p>
            <a:pPr marL="0" indent="0" algn="just">
              <a:buFont typeface="Arial" pitchFamily="34" charset="0"/>
              <a:buNone/>
              <a:defRPr/>
            </a:pPr>
            <a:r>
              <a:rPr lang="en-US" sz="2800" dirty="0">
                <a:solidFill>
                  <a:srgbClr val="FF0000"/>
                </a:solidFill>
                <a:latin typeface="Times New Roman" panose="02020603050405020304" pitchFamily="18" charset="0"/>
                <a:cs typeface="Times New Roman" panose="02020603050405020304" pitchFamily="18" charset="0"/>
              </a:rPr>
              <a:t>The following points may be noted regarding comma operators.</a:t>
            </a:r>
          </a:p>
          <a:p>
            <a:pPr marL="514350" indent="-514350" algn="just">
              <a:buFont typeface="+mj-lt"/>
              <a:buAutoNum type="arabicPeriod"/>
              <a:defRPr/>
            </a:pPr>
            <a:r>
              <a:rPr lang="en-US" sz="2800" dirty="0">
                <a:latin typeface="Times New Roman" panose="02020603050405020304" pitchFamily="18" charset="0"/>
                <a:cs typeface="Times New Roman" panose="02020603050405020304" pitchFamily="18" charset="0"/>
              </a:rPr>
              <a:t>A list of expressions, separated by comma, is always evaluated from left to right.</a:t>
            </a:r>
          </a:p>
          <a:p>
            <a:pPr marL="514350" indent="-514350" algn="just">
              <a:buFont typeface="+mj-lt"/>
              <a:buAutoNum type="arabicPeriod"/>
              <a:defRPr/>
            </a:pPr>
            <a:endParaRPr lang="en-US" sz="2800" dirty="0">
              <a:latin typeface="Times New Roman" panose="02020603050405020304" pitchFamily="18" charset="0"/>
              <a:cs typeface="Times New Roman" panose="02020603050405020304" pitchFamily="18" charset="0"/>
            </a:endParaRPr>
          </a:p>
          <a:p>
            <a:pPr marL="514350" indent="-514350" algn="just">
              <a:spcBef>
                <a:spcPts val="0"/>
              </a:spcBef>
              <a:buFont typeface="+mj-lt"/>
              <a:buAutoNum type="arabicPeriod"/>
              <a:defRPr/>
            </a:pPr>
            <a:r>
              <a:rPr lang="en-US" sz="2800" dirty="0">
                <a:latin typeface="Times New Roman" panose="02020603050405020304" pitchFamily="18" charset="0"/>
                <a:cs typeface="Times New Roman" panose="02020603050405020304" pitchFamily="18" charset="0"/>
              </a:rPr>
              <a:t>The comma operator has the lowest precedence among all C operators.</a:t>
            </a:r>
          </a:p>
          <a:p>
            <a:endParaRPr lang="en-IN" dirty="0"/>
          </a:p>
        </p:txBody>
      </p:sp>
    </p:spTree>
    <p:extLst>
      <p:ext uri="{BB962C8B-B14F-4D97-AF65-F5344CB8AC3E}">
        <p14:creationId xmlns:p14="http://schemas.microsoft.com/office/powerpoint/2010/main" val="196212407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8A309C-83CB-4674-8DAE-CE8B987973C8}"/>
              </a:ext>
            </a:extLst>
          </p:cNvPr>
          <p:cNvSpPr>
            <a:spLocks noGrp="1"/>
          </p:cNvSpPr>
          <p:nvPr>
            <p:ph type="title"/>
          </p:nvPr>
        </p:nvSpPr>
        <p:spPr/>
        <p:txBody>
          <a:bodyPr/>
          <a:lstStyle/>
          <a:p>
            <a:pPr algn="ctr"/>
            <a:r>
              <a:rPr lang="en-US" dirty="0"/>
              <a:t>Size of Operator</a:t>
            </a:r>
            <a:endParaRPr lang="en-IN" dirty="0"/>
          </a:p>
        </p:txBody>
      </p:sp>
      <p:sp>
        <p:nvSpPr>
          <p:cNvPr id="3" name="Content Placeholder 2">
            <a:extLst>
              <a:ext uri="{FF2B5EF4-FFF2-40B4-BE49-F238E27FC236}">
                <a16:creationId xmlns:a16="http://schemas.microsoft.com/office/drawing/2014/main" xmlns="" id="{8035E68E-7266-4C12-98E1-B46729442E74}"/>
              </a:ext>
            </a:extLst>
          </p:cNvPr>
          <p:cNvSpPr>
            <a:spLocks noGrp="1"/>
          </p:cNvSpPr>
          <p:nvPr>
            <p:ph idx="1"/>
          </p:nvPr>
        </p:nvSpPr>
        <p:spPr/>
        <p:txBody>
          <a:bodyPr/>
          <a:lstStyle/>
          <a:p>
            <a:pPr algn="just"/>
            <a:r>
              <a:rPr lang="en-IN" dirty="0" err="1"/>
              <a:t>s</a:t>
            </a:r>
            <a:r>
              <a:rPr lang="en-IN" sz="2800" dirty="0" err="1"/>
              <a:t>izeof</a:t>
            </a:r>
            <a:r>
              <a:rPr lang="en-IN" dirty="0"/>
              <a:t> - </a:t>
            </a:r>
            <a:r>
              <a:rPr lang="en-IN" sz="2800" dirty="0"/>
              <a:t> calculates the size of any data item or type. </a:t>
            </a:r>
          </a:p>
          <a:p>
            <a:pPr algn="just"/>
            <a:r>
              <a:rPr lang="en-IN" sz="2800" dirty="0"/>
              <a:t>It takes a single operand that may be a type name (e.g., int) or an expression (e.g.,100) and returns the size of the specified entity in bytes .</a:t>
            </a:r>
          </a:p>
          <a:p>
            <a:pPr algn="just"/>
            <a:r>
              <a:rPr lang="en-IN" sz="2800" dirty="0"/>
              <a:t>The outcome is totally machine-dependent.</a:t>
            </a:r>
          </a:p>
          <a:p>
            <a:pPr algn="just"/>
            <a:r>
              <a:rPr lang="en-IN" dirty="0"/>
              <a:t>If </a:t>
            </a:r>
            <a:r>
              <a:rPr lang="en-IN" dirty="0" err="1"/>
              <a:t>sizeof</a:t>
            </a:r>
            <a:r>
              <a:rPr lang="en-IN" dirty="0"/>
              <a:t>() holds an expression, it doesn’t get evaluated.</a:t>
            </a:r>
            <a:endParaRPr lang="en-IN" sz="2800" dirty="0"/>
          </a:p>
          <a:p>
            <a:pPr algn="just"/>
            <a:r>
              <a:rPr lang="en-IN" dirty="0" err="1"/>
              <a:t>sizeof</a:t>
            </a:r>
            <a:r>
              <a:rPr lang="en-IN" dirty="0"/>
              <a:t> is the only operator which is also a keyword.</a:t>
            </a:r>
            <a:endParaRPr lang="en-IN" sz="2800" dirty="0"/>
          </a:p>
          <a:p>
            <a:endParaRPr lang="en-IN" dirty="0"/>
          </a:p>
        </p:txBody>
      </p:sp>
    </p:spTree>
    <p:extLst>
      <p:ext uri="{BB962C8B-B14F-4D97-AF65-F5344CB8AC3E}">
        <p14:creationId xmlns:p14="http://schemas.microsoft.com/office/powerpoint/2010/main" val="153458755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27F8A3-880B-4608-9F1A-77E58B34D2CD}"/>
              </a:ext>
            </a:extLst>
          </p:cNvPr>
          <p:cNvSpPr>
            <a:spLocks noGrp="1"/>
          </p:cNvSpPr>
          <p:nvPr>
            <p:ph type="title"/>
          </p:nvPr>
        </p:nvSpPr>
        <p:spPr/>
        <p:txBody>
          <a:bodyPr/>
          <a:lstStyle/>
          <a:p>
            <a:pPr algn="ctr"/>
            <a:r>
              <a:rPr lang="en-US" dirty="0"/>
              <a:t>Size of Operator - </a:t>
            </a:r>
            <a:r>
              <a:rPr lang="en-IN" dirty="0"/>
              <a:t>Example</a:t>
            </a:r>
          </a:p>
        </p:txBody>
      </p:sp>
      <p:pic>
        <p:nvPicPr>
          <p:cNvPr id="4" name="Content Placeholder 3">
            <a:extLst>
              <a:ext uri="{FF2B5EF4-FFF2-40B4-BE49-F238E27FC236}">
                <a16:creationId xmlns:a16="http://schemas.microsoft.com/office/drawing/2014/main" xmlns="" id="{962B4C5F-7BF5-44A6-B301-852FA6D59E64}"/>
              </a:ext>
            </a:extLst>
          </p:cNvPr>
          <p:cNvPicPr>
            <a:picLocks noGrp="1" noChangeAspect="1"/>
          </p:cNvPicPr>
          <p:nvPr>
            <p:ph idx="1"/>
          </p:nvPr>
        </p:nvPicPr>
        <p:blipFill>
          <a:blip r:embed="rId2"/>
          <a:stretch>
            <a:fillRect/>
          </a:stretch>
        </p:blipFill>
        <p:spPr>
          <a:xfrm>
            <a:off x="329644" y="1889977"/>
            <a:ext cx="5766356" cy="4206023"/>
          </a:xfrm>
          <a:prstGeom prst="rect">
            <a:avLst/>
          </a:prstGeom>
        </p:spPr>
      </p:pic>
      <p:pic>
        <p:nvPicPr>
          <p:cNvPr id="5" name="Picture 3">
            <a:extLst>
              <a:ext uri="{FF2B5EF4-FFF2-40B4-BE49-F238E27FC236}">
                <a16:creationId xmlns:a16="http://schemas.microsoft.com/office/drawing/2014/main" xmlns="" id="{4E28643C-3910-40E5-A64A-17DFAA8710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6258" y="1889977"/>
            <a:ext cx="3973484" cy="378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5609477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092F33-C38E-47E6-8F52-3F0B8ED91406}"/>
              </a:ext>
            </a:extLst>
          </p:cNvPr>
          <p:cNvSpPr>
            <a:spLocks noGrp="1"/>
          </p:cNvSpPr>
          <p:nvPr>
            <p:ph type="title"/>
          </p:nvPr>
        </p:nvSpPr>
        <p:spPr>
          <a:xfrm>
            <a:off x="1551432" y="365125"/>
            <a:ext cx="10269266" cy="1325563"/>
          </a:xfrm>
        </p:spPr>
        <p:txBody>
          <a:bodyPr>
            <a:normAutofit/>
          </a:bodyPr>
          <a:lstStyle/>
          <a:p>
            <a:pPr algn="ctr"/>
            <a:r>
              <a:rPr lang="en-US" sz="4000" dirty="0"/>
              <a:t>Ternary Operator</a:t>
            </a:r>
            <a:endParaRPr lang="en-IN" sz="4000" dirty="0"/>
          </a:p>
        </p:txBody>
      </p:sp>
      <p:sp>
        <p:nvSpPr>
          <p:cNvPr id="3" name="Content Placeholder 2">
            <a:extLst>
              <a:ext uri="{FF2B5EF4-FFF2-40B4-BE49-F238E27FC236}">
                <a16:creationId xmlns:a16="http://schemas.microsoft.com/office/drawing/2014/main" xmlns="" id="{9397152B-2415-454C-9089-BB5754E6AC63}"/>
              </a:ext>
            </a:extLst>
          </p:cNvPr>
          <p:cNvSpPr>
            <a:spLocks noGrp="1"/>
          </p:cNvSpPr>
          <p:nvPr>
            <p:ph idx="1"/>
          </p:nvPr>
        </p:nvSpPr>
        <p:spPr/>
        <p:txBody>
          <a:bodyPr>
            <a:normAutofit fontScale="70000" lnSpcReduction="20000"/>
          </a:bodyPr>
          <a:lstStyle/>
          <a:p>
            <a:pPr>
              <a:defRPr/>
            </a:pPr>
            <a:r>
              <a:rPr lang="en-IN" sz="3200" dirty="0">
                <a:latin typeface="Times New Roman" pitchFamily="18" charset="0"/>
                <a:cs typeface="Times New Roman" pitchFamily="18" charset="0"/>
              </a:rPr>
              <a:t>The operator  using  three operands or three variables is known as Ternary Operator</a:t>
            </a:r>
          </a:p>
          <a:p>
            <a:pPr>
              <a:defRPr/>
            </a:pPr>
            <a:r>
              <a:rPr lang="en-US" sz="3200" b="1" dirty="0">
                <a:latin typeface="Times New Roman" pitchFamily="18" charset="0"/>
                <a:cs typeface="Times New Roman" pitchFamily="18" charset="0"/>
              </a:rPr>
              <a:t>Conditional Operator  (</a:t>
            </a:r>
            <a:r>
              <a:rPr lang="en-IN" sz="3200" b="1" dirty="0">
                <a:latin typeface="Times New Roman" pitchFamily="18" charset="0"/>
                <a:cs typeface="Times New Roman" pitchFamily="18" charset="0"/>
              </a:rPr>
              <a:t>? :</a:t>
            </a:r>
            <a:r>
              <a:rPr lang="en-US" sz="3200" b="1" dirty="0">
                <a:latin typeface="Times New Roman" pitchFamily="18" charset="0"/>
                <a:cs typeface="Times New Roman" pitchFamily="18" charset="0"/>
              </a:rPr>
              <a:t>) is a Ternary Operator</a:t>
            </a:r>
          </a:p>
          <a:p>
            <a:pPr>
              <a:buFont typeface="Arial" pitchFamily="34" charset="0"/>
              <a:buNone/>
              <a:defRPr/>
            </a:pPr>
            <a:r>
              <a:rPr lang="en-US" sz="3200" b="1" dirty="0">
                <a:latin typeface="Times New Roman" pitchFamily="18" charset="0"/>
                <a:cs typeface="Times New Roman" pitchFamily="18" charset="0"/>
              </a:rPr>
              <a:t>Syntax </a:t>
            </a:r>
          </a:p>
          <a:p>
            <a:pPr>
              <a:buFont typeface="Arial" pitchFamily="34" charset="0"/>
              <a:buNone/>
              <a:defRPr/>
            </a:pPr>
            <a:r>
              <a:rPr lang="en-US" sz="3200" dirty="0">
                <a:latin typeface="Times New Roman" pitchFamily="18" charset="0"/>
                <a:cs typeface="Times New Roman" pitchFamily="18" charset="0"/>
              </a:rPr>
              <a:t>       </a:t>
            </a:r>
            <a:r>
              <a:rPr lang="en-IN" sz="3200" dirty="0">
                <a:latin typeface="Times New Roman" pitchFamily="18" charset="0"/>
                <a:cs typeface="Times New Roman" pitchFamily="18" charset="0"/>
              </a:rPr>
              <a:t>expression-1 ? expression-2 : expression-3</a:t>
            </a:r>
          </a:p>
          <a:p>
            <a:pPr>
              <a:buFont typeface="Arial" pitchFamily="34" charset="0"/>
              <a:buNone/>
              <a:defRPr/>
            </a:pPr>
            <a:endParaRPr lang="en-IN" sz="3200" dirty="0">
              <a:latin typeface="Times New Roman" pitchFamily="18" charset="0"/>
              <a:cs typeface="Times New Roman" pitchFamily="18" charset="0"/>
            </a:endParaRPr>
          </a:p>
          <a:p>
            <a:pPr marL="0" indent="0">
              <a:buFont typeface="Arial" pitchFamily="34" charset="0"/>
              <a:buNone/>
              <a:defRPr/>
            </a:pPr>
            <a:r>
              <a:rPr lang="en-IN" sz="3200" dirty="0">
                <a:latin typeface="Times New Roman" pitchFamily="18" charset="0"/>
                <a:cs typeface="Times New Roman" pitchFamily="18" charset="0"/>
              </a:rPr>
              <a:t>In the above syntax, expression-1 is condition and expression-2 and expression-3 will be either value or variable or statement or any mathematical expression</a:t>
            </a:r>
          </a:p>
          <a:p>
            <a:pPr marL="0" indent="0">
              <a:buFont typeface="Arial" pitchFamily="34" charset="0"/>
              <a:buNone/>
              <a:defRPr/>
            </a:pPr>
            <a:endParaRPr lang="en-US" sz="3200" dirty="0">
              <a:latin typeface="Times New Roman" pitchFamily="18" charset="0"/>
              <a:cs typeface="Times New Roman" pitchFamily="18" charset="0"/>
            </a:endParaRPr>
          </a:p>
          <a:p>
            <a:pPr marL="0" indent="0">
              <a:buFont typeface="Arial" pitchFamily="34" charset="0"/>
              <a:buNone/>
              <a:defRPr/>
            </a:pPr>
            <a:r>
              <a:rPr lang="en-US" sz="3200" b="1" dirty="0">
                <a:latin typeface="Times New Roman" pitchFamily="18" charset="0"/>
                <a:cs typeface="Times New Roman" pitchFamily="18" charset="0"/>
              </a:rPr>
              <a:t>Example:</a:t>
            </a:r>
          </a:p>
          <a:p>
            <a:pPr marL="0" indent="0">
              <a:buFont typeface="Arial" pitchFamily="34" charset="0"/>
              <a:buNone/>
              <a:defRPr/>
            </a:pPr>
            <a:endParaRPr lang="en-US" sz="3200" b="1" dirty="0">
              <a:latin typeface="Times New Roman" pitchFamily="18" charset="0"/>
              <a:cs typeface="Times New Roman" pitchFamily="18" charset="0"/>
            </a:endParaRPr>
          </a:p>
          <a:p>
            <a:pPr marL="0" indent="0">
              <a:buFont typeface="Arial" pitchFamily="34" charset="0"/>
              <a:buNone/>
              <a:defRPr/>
            </a:pPr>
            <a:r>
              <a:rPr lang="en-US" sz="3200" dirty="0">
                <a:latin typeface="Times New Roman" pitchFamily="18" charset="0"/>
                <a:cs typeface="Times New Roman" pitchFamily="18" charset="0"/>
              </a:rPr>
              <a:t>int a=30, b = 20;</a:t>
            </a:r>
          </a:p>
          <a:p>
            <a:pPr marL="0" indent="0">
              <a:buFont typeface="Arial" pitchFamily="34" charset="0"/>
              <a:buNone/>
              <a:defRPr/>
            </a:pPr>
            <a:r>
              <a:rPr lang="en-IN" sz="3200" dirty="0">
                <a:latin typeface="Times New Roman" pitchFamily="18" charset="0"/>
                <a:cs typeface="Times New Roman" pitchFamily="18" charset="0"/>
              </a:rPr>
              <a:t>a&gt;b ? </a:t>
            </a:r>
            <a:r>
              <a:rPr lang="en-IN" sz="3200" dirty="0" err="1">
                <a:latin typeface="Times New Roman" pitchFamily="18" charset="0"/>
                <a:cs typeface="Times New Roman" pitchFamily="18" charset="0"/>
              </a:rPr>
              <a:t>printf</a:t>
            </a:r>
            <a:r>
              <a:rPr lang="en-IN" sz="3200" dirty="0">
                <a:latin typeface="Times New Roman" pitchFamily="18" charset="0"/>
                <a:cs typeface="Times New Roman" pitchFamily="18" charset="0"/>
              </a:rPr>
              <a:t> (“a is greater") : </a:t>
            </a:r>
            <a:r>
              <a:rPr lang="en-IN" sz="3200" dirty="0" err="1">
                <a:latin typeface="Times New Roman" pitchFamily="18" charset="0"/>
                <a:cs typeface="Times New Roman" pitchFamily="18" charset="0"/>
              </a:rPr>
              <a:t>printf</a:t>
            </a:r>
            <a:r>
              <a:rPr lang="en-IN" sz="3200" dirty="0">
                <a:latin typeface="Times New Roman" pitchFamily="18" charset="0"/>
                <a:cs typeface="Times New Roman" pitchFamily="18" charset="0"/>
              </a:rPr>
              <a:t> (“b  is greater");</a:t>
            </a:r>
          </a:p>
          <a:p>
            <a:pPr marL="0" indent="0">
              <a:buFont typeface="Arial" pitchFamily="34" charset="0"/>
              <a:buNone/>
              <a:defRPr/>
            </a:pPr>
            <a:r>
              <a:rPr lang="en-US" sz="3200" b="1" dirty="0">
                <a:latin typeface="Times New Roman" pitchFamily="18" charset="0"/>
                <a:cs typeface="Times New Roman" pitchFamily="18" charset="0"/>
              </a:rPr>
              <a:t>Answer:</a:t>
            </a:r>
          </a:p>
          <a:p>
            <a:pPr marL="0" indent="0">
              <a:buFont typeface="Arial" pitchFamily="34" charset="0"/>
              <a:buNone/>
              <a:defRPr/>
            </a:pPr>
            <a:r>
              <a:rPr lang="en-US" sz="3200" dirty="0">
                <a:latin typeface="Times New Roman" pitchFamily="18" charset="0"/>
                <a:cs typeface="Times New Roman" pitchFamily="18" charset="0"/>
              </a:rPr>
              <a:t>a is greater</a:t>
            </a:r>
          </a:p>
          <a:p>
            <a:endParaRPr lang="en-IN" dirty="0"/>
          </a:p>
        </p:txBody>
      </p:sp>
      <p:pic>
        <p:nvPicPr>
          <p:cNvPr id="4" name="Picture 2" descr="Image result for ternary operator in c">
            <a:extLst>
              <a:ext uri="{FF2B5EF4-FFF2-40B4-BE49-F238E27FC236}">
                <a16:creationId xmlns:a16="http://schemas.microsoft.com/office/drawing/2014/main" xmlns="" id="{B501EE7D-0268-4E34-AA0B-9B0848CE9D96}"/>
              </a:ext>
            </a:extLst>
          </p:cNvPr>
          <p:cNvPicPr>
            <a:picLocks noChangeAspect="1" noChangeArrowheads="1"/>
          </p:cNvPicPr>
          <p:nvPr/>
        </p:nvPicPr>
        <p:blipFill>
          <a:blip r:embed="rId2"/>
          <a:srcRect/>
          <a:stretch>
            <a:fillRect/>
          </a:stretch>
        </p:blipFill>
        <p:spPr bwMode="auto">
          <a:xfrm>
            <a:off x="5640742" y="4175760"/>
            <a:ext cx="5307225" cy="2538238"/>
          </a:xfrm>
          <a:prstGeom prst="rect">
            <a:avLst/>
          </a:prstGeom>
          <a:noFill/>
          <a:ln w="9525">
            <a:noFill/>
            <a:miter lim="800000"/>
            <a:headEnd/>
            <a:tailEnd/>
          </a:ln>
        </p:spPr>
      </p:pic>
    </p:spTree>
    <p:extLst>
      <p:ext uri="{BB962C8B-B14F-4D97-AF65-F5344CB8AC3E}">
        <p14:creationId xmlns:p14="http://schemas.microsoft.com/office/powerpoint/2010/main" val="156129841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CFAC9B-988A-4AE1-BE43-0922FB08B7C2}"/>
              </a:ext>
            </a:extLst>
          </p:cNvPr>
          <p:cNvSpPr>
            <a:spLocks noGrp="1"/>
          </p:cNvSpPr>
          <p:nvPr>
            <p:ph type="title"/>
          </p:nvPr>
        </p:nvSpPr>
        <p:spPr/>
        <p:txBody>
          <a:bodyPr/>
          <a:lstStyle/>
          <a:p>
            <a:pPr algn="ctr"/>
            <a:r>
              <a:rPr lang="en-US" dirty="0"/>
              <a:t>Ternary Operator - Example</a:t>
            </a:r>
            <a:endParaRPr lang="en-IN" dirty="0"/>
          </a:p>
        </p:txBody>
      </p:sp>
      <p:sp>
        <p:nvSpPr>
          <p:cNvPr id="3" name="Content Placeholder 2">
            <a:extLst>
              <a:ext uri="{FF2B5EF4-FFF2-40B4-BE49-F238E27FC236}">
                <a16:creationId xmlns:a16="http://schemas.microsoft.com/office/drawing/2014/main" xmlns="" id="{A2581FD6-D222-4750-9223-6B6206246957}"/>
              </a:ext>
            </a:extLst>
          </p:cNvPr>
          <p:cNvSpPr>
            <a:spLocks noGrp="1"/>
          </p:cNvSpPr>
          <p:nvPr>
            <p:ph idx="1"/>
          </p:nvPr>
        </p:nvSpPr>
        <p:spPr>
          <a:xfrm>
            <a:off x="1551432" y="1858962"/>
            <a:ext cx="5314881" cy="3693940"/>
          </a:xfrm>
        </p:spPr>
        <p:txBody>
          <a:bodyPr>
            <a:normAutofit fontScale="92500" lnSpcReduction="20000"/>
          </a:bodyPr>
          <a:lstStyle/>
          <a:p>
            <a:pPr marL="0" indent="0">
              <a:buNone/>
            </a:pPr>
            <a:r>
              <a:rPr lang="en-IN" sz="2700" dirty="0">
                <a:latin typeface="Times New Roman" panose="02020603050405020304" pitchFamily="18" charset="0"/>
                <a:cs typeface="Times New Roman" panose="02020603050405020304" pitchFamily="18" charset="0"/>
              </a:rPr>
              <a:t>#include&lt;</a:t>
            </a:r>
            <a:r>
              <a:rPr lang="en-IN" sz="2700" dirty="0" err="1">
                <a:latin typeface="Times New Roman" panose="02020603050405020304" pitchFamily="18" charset="0"/>
                <a:cs typeface="Times New Roman" panose="02020603050405020304" pitchFamily="18" charset="0"/>
              </a:rPr>
              <a:t>stdio.h</a:t>
            </a:r>
            <a:r>
              <a:rPr lang="en-IN" sz="2700" dirty="0">
                <a:latin typeface="Times New Roman" panose="02020603050405020304" pitchFamily="18" charset="0"/>
                <a:cs typeface="Times New Roman" panose="02020603050405020304" pitchFamily="18" charset="0"/>
              </a:rPr>
              <a:t>&gt;</a:t>
            </a:r>
          </a:p>
          <a:p>
            <a:pPr marL="0" indent="0">
              <a:buNone/>
            </a:pPr>
            <a:r>
              <a:rPr lang="en-IN" sz="2700" dirty="0">
                <a:latin typeface="Times New Roman" panose="02020603050405020304" pitchFamily="18" charset="0"/>
                <a:cs typeface="Times New Roman" panose="02020603050405020304" pitchFamily="18" charset="0"/>
              </a:rPr>
              <a:t>void main()</a:t>
            </a:r>
          </a:p>
          <a:p>
            <a:pPr marL="0" indent="0">
              <a:buNone/>
            </a:pPr>
            <a:r>
              <a:rPr lang="en-IN" sz="2700" dirty="0">
                <a:latin typeface="Times New Roman" panose="02020603050405020304" pitchFamily="18" charset="0"/>
                <a:cs typeface="Times New Roman" panose="02020603050405020304" pitchFamily="18" charset="0"/>
              </a:rPr>
              <a:t>{</a:t>
            </a:r>
          </a:p>
          <a:p>
            <a:pPr marL="0" indent="0">
              <a:buNone/>
            </a:pPr>
            <a:r>
              <a:rPr lang="en-IN" sz="2700" dirty="0">
                <a:latin typeface="Times New Roman" panose="02020603050405020304" pitchFamily="18" charset="0"/>
                <a:cs typeface="Times New Roman" panose="02020603050405020304" pitchFamily="18" charset="0"/>
              </a:rPr>
              <a:t>   int n;</a:t>
            </a:r>
          </a:p>
          <a:p>
            <a:pPr marL="0" indent="0">
              <a:buNone/>
            </a:pPr>
            <a:r>
              <a:rPr lang="en-IN" sz="2700" dirty="0">
                <a:latin typeface="Times New Roman" panose="02020603050405020304" pitchFamily="18" charset="0"/>
                <a:cs typeface="Times New Roman" panose="02020603050405020304" pitchFamily="18" charset="0"/>
              </a:rPr>
              <a:t>   </a:t>
            </a:r>
            <a:r>
              <a:rPr lang="en-IN" sz="2700" dirty="0" err="1">
                <a:latin typeface="Times New Roman" panose="02020603050405020304" pitchFamily="18" charset="0"/>
                <a:cs typeface="Times New Roman" panose="02020603050405020304" pitchFamily="18" charset="0"/>
              </a:rPr>
              <a:t>printf</a:t>
            </a:r>
            <a:r>
              <a:rPr lang="en-IN" sz="2700" dirty="0">
                <a:latin typeface="Times New Roman" panose="02020603050405020304" pitchFamily="18" charset="0"/>
                <a:cs typeface="Times New Roman" panose="02020603050405020304" pitchFamily="18" charset="0"/>
              </a:rPr>
              <a:t>("Enter an integer:");</a:t>
            </a:r>
          </a:p>
          <a:p>
            <a:pPr marL="0" indent="0">
              <a:buNone/>
            </a:pPr>
            <a:r>
              <a:rPr lang="en-IN" sz="2700" dirty="0">
                <a:latin typeface="Times New Roman" panose="02020603050405020304" pitchFamily="18" charset="0"/>
                <a:cs typeface="Times New Roman" panose="02020603050405020304" pitchFamily="18" charset="0"/>
              </a:rPr>
              <a:t>   </a:t>
            </a:r>
            <a:r>
              <a:rPr lang="en-IN" sz="2700" dirty="0" err="1">
                <a:latin typeface="Times New Roman" panose="02020603050405020304" pitchFamily="18" charset="0"/>
                <a:cs typeface="Times New Roman" panose="02020603050405020304" pitchFamily="18" charset="0"/>
              </a:rPr>
              <a:t>scanf</a:t>
            </a:r>
            <a:r>
              <a:rPr lang="en-IN" sz="2700" dirty="0">
                <a:latin typeface="Times New Roman" panose="02020603050405020304" pitchFamily="18" charset="0"/>
                <a:cs typeface="Times New Roman" panose="02020603050405020304" pitchFamily="18" charset="0"/>
              </a:rPr>
              <a:t>("%</a:t>
            </a:r>
            <a:r>
              <a:rPr lang="en-IN" sz="2700" dirty="0" err="1">
                <a:latin typeface="Times New Roman" panose="02020603050405020304" pitchFamily="18" charset="0"/>
                <a:cs typeface="Times New Roman" panose="02020603050405020304" pitchFamily="18" charset="0"/>
              </a:rPr>
              <a:t>d",&amp;n</a:t>
            </a:r>
            <a:r>
              <a:rPr lang="en-IN" sz="2700" dirty="0">
                <a:latin typeface="Times New Roman" panose="02020603050405020304" pitchFamily="18" charset="0"/>
                <a:cs typeface="Times New Roman" panose="02020603050405020304" pitchFamily="18" charset="0"/>
              </a:rPr>
              <a:t>);</a:t>
            </a:r>
          </a:p>
          <a:p>
            <a:pPr marL="0" indent="0">
              <a:buNone/>
            </a:pPr>
            <a:r>
              <a:rPr lang="en-IN" sz="2700" dirty="0">
                <a:latin typeface="Times New Roman" panose="02020603050405020304" pitchFamily="18" charset="0"/>
                <a:cs typeface="Times New Roman" panose="02020603050405020304" pitchFamily="18" charset="0"/>
              </a:rPr>
              <a:t>   (n% 2 == 0) ? </a:t>
            </a:r>
            <a:r>
              <a:rPr lang="en-IN" sz="2700" dirty="0" err="1">
                <a:latin typeface="Times New Roman" panose="02020603050405020304" pitchFamily="18" charset="0"/>
                <a:cs typeface="Times New Roman" panose="02020603050405020304" pitchFamily="18" charset="0"/>
              </a:rPr>
              <a:t>printf</a:t>
            </a:r>
            <a:r>
              <a:rPr lang="en-IN" sz="2700" dirty="0">
                <a:latin typeface="Times New Roman" panose="02020603050405020304" pitchFamily="18" charset="0"/>
                <a:cs typeface="Times New Roman" panose="02020603050405020304" pitchFamily="18" charset="0"/>
              </a:rPr>
              <a:t>("\</a:t>
            </a:r>
            <a:r>
              <a:rPr lang="en-IN" sz="2700" dirty="0" err="1">
                <a:latin typeface="Times New Roman" panose="02020603050405020304" pitchFamily="18" charset="0"/>
                <a:cs typeface="Times New Roman" panose="02020603050405020304" pitchFamily="18" charset="0"/>
              </a:rPr>
              <a:t>n%d</a:t>
            </a:r>
            <a:r>
              <a:rPr lang="en-IN" sz="2700" dirty="0">
                <a:latin typeface="Times New Roman" panose="02020603050405020304" pitchFamily="18" charset="0"/>
                <a:cs typeface="Times New Roman" panose="02020603050405020304" pitchFamily="18" charset="0"/>
              </a:rPr>
              <a:t> is a Even number\</a:t>
            </a:r>
            <a:r>
              <a:rPr lang="en-IN" sz="2700" dirty="0" err="1">
                <a:latin typeface="Times New Roman" panose="02020603050405020304" pitchFamily="18" charset="0"/>
                <a:cs typeface="Times New Roman" panose="02020603050405020304" pitchFamily="18" charset="0"/>
              </a:rPr>
              <a:t>n",n</a:t>
            </a:r>
            <a:r>
              <a:rPr lang="en-IN" sz="2700" dirty="0">
                <a:latin typeface="Times New Roman" panose="02020603050405020304" pitchFamily="18" charset="0"/>
                <a:cs typeface="Times New Roman" panose="02020603050405020304" pitchFamily="18" charset="0"/>
              </a:rPr>
              <a:t>) : </a:t>
            </a:r>
            <a:r>
              <a:rPr lang="en-IN" sz="2700" dirty="0" err="1">
                <a:latin typeface="Times New Roman" panose="02020603050405020304" pitchFamily="18" charset="0"/>
                <a:cs typeface="Times New Roman" panose="02020603050405020304" pitchFamily="18" charset="0"/>
              </a:rPr>
              <a:t>printf</a:t>
            </a:r>
            <a:r>
              <a:rPr lang="en-IN" sz="2700" dirty="0">
                <a:latin typeface="Times New Roman" panose="02020603050405020304" pitchFamily="18" charset="0"/>
                <a:cs typeface="Times New Roman" panose="02020603050405020304" pitchFamily="18" charset="0"/>
              </a:rPr>
              <a:t>("\</a:t>
            </a:r>
            <a:r>
              <a:rPr lang="en-IN" sz="2700" dirty="0" err="1">
                <a:latin typeface="Times New Roman" panose="02020603050405020304" pitchFamily="18" charset="0"/>
                <a:cs typeface="Times New Roman" panose="02020603050405020304" pitchFamily="18" charset="0"/>
              </a:rPr>
              <a:t>n%d</a:t>
            </a:r>
            <a:r>
              <a:rPr lang="en-IN" sz="2700" dirty="0">
                <a:latin typeface="Times New Roman" panose="02020603050405020304" pitchFamily="18" charset="0"/>
                <a:cs typeface="Times New Roman" panose="02020603050405020304" pitchFamily="18" charset="0"/>
              </a:rPr>
              <a:t> is a Odd number\</a:t>
            </a:r>
            <a:r>
              <a:rPr lang="en-IN" sz="2700" dirty="0" err="1">
                <a:latin typeface="Times New Roman" panose="02020603050405020304" pitchFamily="18" charset="0"/>
                <a:cs typeface="Times New Roman" panose="02020603050405020304" pitchFamily="18" charset="0"/>
              </a:rPr>
              <a:t>n",n</a:t>
            </a:r>
            <a:r>
              <a:rPr lang="en-IN" sz="2700" dirty="0">
                <a:latin typeface="Times New Roman" panose="02020603050405020304" pitchFamily="18" charset="0"/>
                <a:cs typeface="Times New Roman" panose="02020603050405020304" pitchFamily="18" charset="0"/>
              </a:rPr>
              <a:t>);</a:t>
            </a:r>
          </a:p>
          <a:p>
            <a:pPr marL="0" indent="0">
              <a:buNone/>
            </a:pPr>
            <a:r>
              <a:rPr lang="en-IN" sz="2700" dirty="0">
                <a:latin typeface="Times New Roman" panose="02020603050405020304" pitchFamily="18" charset="0"/>
                <a:cs typeface="Times New Roman" panose="02020603050405020304" pitchFamily="18" charset="0"/>
              </a:rPr>
              <a:t>}</a:t>
            </a:r>
            <a:endParaRPr lang="en-IN" dirty="0"/>
          </a:p>
        </p:txBody>
      </p:sp>
      <p:sp>
        <p:nvSpPr>
          <p:cNvPr id="4" name="TextBox 7">
            <a:extLst>
              <a:ext uri="{FF2B5EF4-FFF2-40B4-BE49-F238E27FC236}">
                <a16:creationId xmlns:a16="http://schemas.microsoft.com/office/drawing/2014/main" xmlns="" id="{0E9F7966-38C4-4352-9ECE-84335BA2BFF3}"/>
              </a:ext>
            </a:extLst>
          </p:cNvPr>
          <p:cNvSpPr txBox="1">
            <a:spLocks noChangeArrowheads="1"/>
          </p:cNvSpPr>
          <p:nvPr/>
        </p:nvSpPr>
        <p:spPr bwMode="auto">
          <a:xfrm>
            <a:off x="7099069" y="1858962"/>
            <a:ext cx="3767051" cy="3693940"/>
          </a:xfrm>
          <a:prstGeom prst="rect">
            <a:avLst/>
          </a:prstGeom>
          <a:noFill/>
          <a:ln w="9525">
            <a:noFill/>
            <a:miter lim="800000"/>
            <a:headEnd/>
            <a:tailEnd/>
          </a:ln>
        </p:spPr>
        <p:txBody>
          <a:bodyPr wrap="square">
            <a:spAutoFit/>
          </a:bodyPr>
          <a:lstStyle/>
          <a:p>
            <a:r>
              <a:rPr lang="en-US" b="1" dirty="0"/>
              <a:t>Case 1</a:t>
            </a:r>
          </a:p>
          <a:p>
            <a:r>
              <a:rPr lang="en-US" dirty="0"/>
              <a:t>n=5</a:t>
            </a:r>
          </a:p>
          <a:p>
            <a:r>
              <a:rPr lang="en-US" dirty="0"/>
              <a:t>n% 2 != 0 hence expression 3 will get executed</a:t>
            </a:r>
          </a:p>
          <a:p>
            <a:r>
              <a:rPr lang="en-US" dirty="0"/>
              <a:t>Output: </a:t>
            </a:r>
            <a:r>
              <a:rPr lang="en-IN" dirty="0"/>
              <a:t>5 is a Odd number</a:t>
            </a:r>
          </a:p>
          <a:p>
            <a:endParaRPr lang="en-US" dirty="0"/>
          </a:p>
          <a:p>
            <a:r>
              <a:rPr lang="en-US" b="1" dirty="0"/>
              <a:t>Case 2</a:t>
            </a:r>
          </a:p>
          <a:p>
            <a:r>
              <a:rPr lang="en-US" dirty="0"/>
              <a:t>n=6</a:t>
            </a:r>
          </a:p>
          <a:p>
            <a:r>
              <a:rPr lang="en-US" dirty="0"/>
              <a:t>n% 2 == 0 hence expression 2 will get executed</a:t>
            </a:r>
          </a:p>
          <a:p>
            <a:r>
              <a:rPr lang="en-US" dirty="0"/>
              <a:t>Output: </a:t>
            </a:r>
            <a:r>
              <a:rPr lang="en-IN" dirty="0"/>
              <a:t>6 is a Even number</a:t>
            </a:r>
            <a:endParaRPr lang="en-US" dirty="0"/>
          </a:p>
          <a:p>
            <a:endParaRPr lang="en-US" dirty="0"/>
          </a:p>
          <a:p>
            <a:endParaRPr lang="en-IN" dirty="0"/>
          </a:p>
        </p:txBody>
      </p:sp>
    </p:spTree>
    <p:extLst>
      <p:ext uri="{BB962C8B-B14F-4D97-AF65-F5344CB8AC3E}">
        <p14:creationId xmlns:p14="http://schemas.microsoft.com/office/powerpoint/2010/main" val="210437904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5E7A15-DDB7-495F-A648-DA05E8B60F80}"/>
              </a:ext>
            </a:extLst>
          </p:cNvPr>
          <p:cNvSpPr>
            <a:spLocks noGrp="1"/>
          </p:cNvSpPr>
          <p:nvPr>
            <p:ph type="title"/>
          </p:nvPr>
        </p:nvSpPr>
        <p:spPr/>
        <p:txBody>
          <a:bodyPr/>
          <a:lstStyle/>
          <a:p>
            <a:r>
              <a:rPr lang="en-IN" dirty="0"/>
              <a:t>Ternary operator - Nested</a:t>
            </a:r>
          </a:p>
        </p:txBody>
      </p:sp>
      <p:sp>
        <p:nvSpPr>
          <p:cNvPr id="3" name="Content Placeholder 2">
            <a:extLst>
              <a:ext uri="{FF2B5EF4-FFF2-40B4-BE49-F238E27FC236}">
                <a16:creationId xmlns:a16="http://schemas.microsoft.com/office/drawing/2014/main" xmlns="" id="{B363E75B-206F-4F1D-BD20-C537BB103FBD}"/>
              </a:ext>
            </a:extLst>
          </p:cNvPr>
          <p:cNvSpPr>
            <a:spLocks noGrp="1"/>
          </p:cNvSpPr>
          <p:nvPr>
            <p:ph idx="1"/>
          </p:nvPr>
        </p:nvSpPr>
        <p:spPr/>
        <p:txBody>
          <a:bodyPr>
            <a:normAutofit/>
          </a:bodyPr>
          <a:lstStyle/>
          <a:p>
            <a:pPr marL="0" indent="0">
              <a:buNone/>
            </a:pPr>
            <a:r>
              <a:rPr lang="pt-BR" dirty="0"/>
              <a:t>#include&lt;stdio.h&gt;</a:t>
            </a:r>
          </a:p>
          <a:p>
            <a:pPr marL="0" indent="0">
              <a:buNone/>
            </a:pPr>
            <a:r>
              <a:rPr lang="pt-BR" dirty="0"/>
              <a:t>int main()</a:t>
            </a:r>
          </a:p>
          <a:p>
            <a:pPr marL="0" indent="0">
              <a:buNone/>
            </a:pPr>
            <a:r>
              <a:rPr lang="pt-BR" dirty="0"/>
              <a:t>{</a:t>
            </a:r>
          </a:p>
          <a:p>
            <a:pPr marL="0" indent="0">
              <a:buNone/>
            </a:pPr>
            <a:r>
              <a:rPr lang="pt-BR" dirty="0"/>
              <a:t>    int k, num=30;</a:t>
            </a:r>
          </a:p>
          <a:p>
            <a:pPr marL="0" indent="0">
              <a:buNone/>
            </a:pPr>
            <a:r>
              <a:rPr lang="pt-BR" dirty="0"/>
              <a:t>    k = (num&gt;5 ? (num &lt;=10 ? 100 : 200): 500);</a:t>
            </a:r>
          </a:p>
          <a:p>
            <a:pPr marL="0" indent="0">
              <a:buNone/>
            </a:pPr>
            <a:r>
              <a:rPr lang="pt-BR" dirty="0"/>
              <a:t>    printf("%d\n", k);</a:t>
            </a:r>
          </a:p>
          <a:p>
            <a:pPr marL="0" indent="0">
              <a:buNone/>
            </a:pPr>
            <a:r>
              <a:rPr lang="pt-BR" dirty="0"/>
              <a:t>    return 0;</a:t>
            </a:r>
          </a:p>
          <a:p>
            <a:pPr marL="0" indent="0">
              <a:buNone/>
            </a:pPr>
            <a:r>
              <a:rPr lang="pt-BR"/>
              <a:t>}</a:t>
            </a:r>
          </a:p>
          <a:p>
            <a:pPr marL="0" indent="0">
              <a:buNone/>
            </a:pPr>
            <a:endParaRPr lang="pt-BR" dirty="0"/>
          </a:p>
          <a:p>
            <a:pPr marL="0" indent="0">
              <a:buNone/>
            </a:pPr>
            <a:r>
              <a:rPr lang="pt-BR" dirty="0"/>
              <a:t>Output:</a:t>
            </a:r>
          </a:p>
          <a:p>
            <a:pPr marL="0" indent="0">
              <a:buNone/>
            </a:pPr>
            <a:r>
              <a:rPr lang="pt-BR" dirty="0"/>
              <a:t>200</a:t>
            </a:r>
          </a:p>
          <a:p>
            <a:pPr marL="0" indent="0">
              <a:buNone/>
            </a:pPr>
            <a:endParaRPr lang="pt-BR" dirty="0"/>
          </a:p>
          <a:p>
            <a:pPr marL="0" indent="0">
              <a:buNone/>
            </a:pPr>
            <a:endParaRPr lang="pt-BR" dirty="0"/>
          </a:p>
          <a:p>
            <a:pPr marL="0" indent="0">
              <a:buNone/>
            </a:pPr>
            <a:endParaRPr lang="en-IN" dirty="0"/>
          </a:p>
        </p:txBody>
      </p:sp>
    </p:spTree>
    <p:extLst>
      <p:ext uri="{BB962C8B-B14F-4D97-AF65-F5344CB8AC3E}">
        <p14:creationId xmlns:p14="http://schemas.microsoft.com/office/powerpoint/2010/main" val="27997770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B6E4E5-4394-4464-B90B-D5E48A25F98C}"/>
              </a:ext>
            </a:extLst>
          </p:cNvPr>
          <p:cNvSpPr>
            <a:spLocks noGrp="1"/>
          </p:cNvSpPr>
          <p:nvPr>
            <p:ph type="title"/>
          </p:nvPr>
        </p:nvSpPr>
        <p:spPr>
          <a:xfrm>
            <a:off x="1551431" y="365125"/>
            <a:ext cx="10119637" cy="981537"/>
          </a:xfrm>
        </p:spPr>
        <p:txBody>
          <a:bodyPr>
            <a:normAutofit fontScale="90000"/>
          </a:bodyPr>
          <a:lstStyle/>
          <a:p>
            <a:pPr algn="ctr"/>
            <a:r>
              <a:rPr lang="en-US" sz="4400" dirty="0"/>
              <a:t>Expression Evaluation—</a:t>
            </a:r>
            <a:br>
              <a:rPr lang="en-US" sz="4400" dirty="0"/>
            </a:br>
            <a:r>
              <a:rPr lang="en-US" sz="4400" dirty="0"/>
              <a:t>Precedence and Associativity</a:t>
            </a:r>
            <a:endParaRPr lang="en-IN" dirty="0"/>
          </a:p>
        </p:txBody>
      </p:sp>
      <p:pic>
        <p:nvPicPr>
          <p:cNvPr id="4" name="Picture 2">
            <a:extLst>
              <a:ext uri="{FF2B5EF4-FFF2-40B4-BE49-F238E27FC236}">
                <a16:creationId xmlns:a16="http://schemas.microsoft.com/office/drawing/2014/main" xmlns="" id="{4753BE27-CEB5-43D4-849E-779ECB39BF04}"/>
              </a:ext>
            </a:extLst>
          </p:cNvPr>
          <p:cNvPicPr>
            <a:picLocks noGrp="1" noChangeAspect="1" noChangeArrowheads="1"/>
          </p:cNvPicPr>
          <p:nvPr>
            <p:ph idx="1"/>
          </p:nvPr>
        </p:nvPicPr>
        <p:blipFill>
          <a:blip r:embed="rId2"/>
          <a:srcRect/>
          <a:stretch>
            <a:fillRect/>
          </a:stretch>
        </p:blipFill>
        <p:spPr bwMode="auto">
          <a:xfrm>
            <a:off x="1551431" y="1346662"/>
            <a:ext cx="8894618" cy="5179463"/>
          </a:xfrm>
          <a:prstGeom prst="rect">
            <a:avLst/>
          </a:prstGeom>
          <a:noFill/>
          <a:ln w="9525">
            <a:noFill/>
            <a:miter lim="800000"/>
            <a:headEnd/>
            <a:tailEnd/>
          </a:ln>
        </p:spPr>
      </p:pic>
    </p:spTree>
    <p:extLst>
      <p:ext uri="{BB962C8B-B14F-4D97-AF65-F5344CB8AC3E}">
        <p14:creationId xmlns:p14="http://schemas.microsoft.com/office/powerpoint/2010/main" val="182003943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6DF380-EBF1-46C8-90C6-EE04D41E2A7A}"/>
              </a:ext>
            </a:extLst>
          </p:cNvPr>
          <p:cNvSpPr>
            <a:spLocks noGrp="1"/>
          </p:cNvSpPr>
          <p:nvPr>
            <p:ph type="title"/>
          </p:nvPr>
        </p:nvSpPr>
        <p:spPr>
          <a:xfrm>
            <a:off x="1551431" y="365125"/>
            <a:ext cx="9823703" cy="1325563"/>
          </a:xfrm>
        </p:spPr>
        <p:txBody>
          <a:bodyPr/>
          <a:lstStyle/>
          <a:p>
            <a:r>
              <a:rPr lang="en-US" dirty="0"/>
              <a:t>Example: operator precedence</a:t>
            </a:r>
            <a:endParaRPr lang="en-IN" dirty="0"/>
          </a:p>
        </p:txBody>
      </p:sp>
      <p:sp>
        <p:nvSpPr>
          <p:cNvPr id="3" name="Content Placeholder 2">
            <a:extLst>
              <a:ext uri="{FF2B5EF4-FFF2-40B4-BE49-F238E27FC236}">
                <a16:creationId xmlns:a16="http://schemas.microsoft.com/office/drawing/2014/main" xmlns="" id="{4D4F7F82-71CC-4FB7-AA5C-1DAEBC3038C7}"/>
              </a:ext>
            </a:extLst>
          </p:cNvPr>
          <p:cNvSpPr>
            <a:spLocks noGrp="1"/>
          </p:cNvSpPr>
          <p:nvPr>
            <p:ph idx="1"/>
          </p:nvPr>
        </p:nvSpPr>
        <p:spPr>
          <a:xfrm>
            <a:off x="1551432" y="1546166"/>
            <a:ext cx="9823704" cy="4788131"/>
          </a:xfrm>
        </p:spPr>
        <p:txBody>
          <a:bodyPr>
            <a:normAutofit fontScale="85000" lnSpcReduction="20000"/>
          </a:bodyPr>
          <a:lstStyle/>
          <a:p>
            <a:pPr>
              <a:buFont typeface="Wingdings 2" pitchFamily="18" charset="2"/>
              <a:buNone/>
            </a:pPr>
            <a:r>
              <a:rPr lang="en-US" sz="2800" dirty="0">
                <a:latin typeface="Times New Roman" panose="02020603050405020304" pitchFamily="18" charset="0"/>
                <a:cs typeface="Times New Roman" panose="02020603050405020304" pitchFamily="18" charset="0"/>
              </a:rPr>
              <a:t>#include&lt;stdio.h&gt;</a:t>
            </a:r>
          </a:p>
          <a:p>
            <a:pPr>
              <a:buFont typeface="Wingdings 2" pitchFamily="18" charset="2"/>
              <a:buNone/>
            </a:pPr>
            <a:r>
              <a:rPr lang="en-US" sz="2800" dirty="0">
                <a:latin typeface="Times New Roman" panose="02020603050405020304" pitchFamily="18" charset="0"/>
                <a:cs typeface="Times New Roman" panose="02020603050405020304" pitchFamily="18" charset="0"/>
              </a:rPr>
              <a:t>int main() {</a:t>
            </a:r>
          </a:p>
          <a:p>
            <a:pPr>
              <a:buFont typeface="Wingdings 2" pitchFamily="18" charset="2"/>
              <a:buNone/>
            </a:pPr>
            <a:r>
              <a:rPr lang="en-US" sz="2800" dirty="0">
                <a:latin typeface="Times New Roman" panose="02020603050405020304" pitchFamily="18" charset="0"/>
                <a:cs typeface="Times New Roman" panose="02020603050405020304" pitchFamily="18" charset="0"/>
              </a:rPr>
              <a:t>  int num1 = 10, num2 = 20;</a:t>
            </a:r>
          </a:p>
          <a:p>
            <a:pPr>
              <a:buFont typeface="Wingdings 2" pitchFamily="18" charset="2"/>
              <a:buNone/>
            </a:pPr>
            <a:r>
              <a:rPr lang="en-US" sz="2800" dirty="0">
                <a:latin typeface="Times New Roman" panose="02020603050405020304" pitchFamily="18" charset="0"/>
                <a:cs typeface="Times New Roman" panose="02020603050405020304" pitchFamily="18" charset="0"/>
              </a:rPr>
              <a:t>  int result;</a:t>
            </a:r>
          </a:p>
          <a:p>
            <a:pPr>
              <a:buFont typeface="Wingdings 2" pitchFamily="18" charset="2"/>
              <a:buNone/>
            </a:pPr>
            <a:r>
              <a:rPr lang="en-US" sz="2800" dirty="0">
                <a:latin typeface="Times New Roman" panose="02020603050405020304" pitchFamily="18" charset="0"/>
                <a:cs typeface="Times New Roman" panose="02020603050405020304" pitchFamily="18" charset="0"/>
              </a:rPr>
              <a:t>  result = num1 * 2 + num2;</a:t>
            </a:r>
          </a:p>
          <a:p>
            <a:pPr>
              <a:buFont typeface="Wingdings 2" pitchFamily="18" charset="2"/>
              <a:buNone/>
            </a:pP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printf</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nResult</a:t>
            </a:r>
            <a:r>
              <a:rPr lang="en-US" sz="2800" dirty="0">
                <a:latin typeface="Times New Roman" panose="02020603050405020304" pitchFamily="18" charset="0"/>
                <a:cs typeface="Times New Roman" panose="02020603050405020304" pitchFamily="18" charset="0"/>
              </a:rPr>
              <a:t> is : %d", result);</a:t>
            </a:r>
          </a:p>
          <a:p>
            <a:pPr>
              <a:buFont typeface="Wingdings 2" pitchFamily="18" charset="2"/>
              <a:buNone/>
            </a:pPr>
            <a:r>
              <a:rPr lang="en-US" sz="2800" dirty="0">
                <a:latin typeface="Times New Roman" panose="02020603050405020304" pitchFamily="18" charset="0"/>
                <a:cs typeface="Times New Roman" panose="02020603050405020304" pitchFamily="18" charset="0"/>
              </a:rPr>
              <a:t>  return (0);</a:t>
            </a:r>
          </a:p>
          <a:p>
            <a:pPr>
              <a:buFont typeface="Wingdings 2" pitchFamily="18" charset="2"/>
              <a:buNone/>
            </a:pPr>
            <a:r>
              <a:rPr lang="en-US" sz="2800" dirty="0">
                <a:latin typeface="Times New Roman" panose="02020603050405020304" pitchFamily="18" charset="0"/>
                <a:cs typeface="Times New Roman" panose="02020603050405020304" pitchFamily="18" charset="0"/>
              </a:rPr>
              <a:t>}</a:t>
            </a:r>
          </a:p>
          <a:p>
            <a:pPr>
              <a:buFont typeface="Wingdings 2" pitchFamily="18" charset="2"/>
              <a:buNone/>
            </a:pPr>
            <a:r>
              <a:rPr lang="en-US" sz="2800" dirty="0">
                <a:latin typeface="Times New Roman" panose="02020603050405020304" pitchFamily="18" charset="0"/>
                <a:cs typeface="Times New Roman" panose="02020603050405020304" pitchFamily="18" charset="0"/>
              </a:rPr>
              <a:t>Explanation :</a:t>
            </a:r>
          </a:p>
          <a:p>
            <a:pPr>
              <a:buFont typeface="Wingdings 2" pitchFamily="18" charset="2"/>
              <a:buNone/>
            </a:pPr>
            <a:r>
              <a:rPr lang="pt-BR" sz="2800" i="1" dirty="0">
                <a:latin typeface="Times New Roman" panose="02020603050405020304" pitchFamily="18" charset="0"/>
                <a:cs typeface="Times New Roman" panose="02020603050405020304" pitchFamily="18" charset="0"/>
              </a:rPr>
              <a:t>Step 1</a:t>
            </a:r>
            <a:r>
              <a:rPr lang="pt-BR" sz="2800" dirty="0">
                <a:latin typeface="Times New Roman" panose="02020603050405020304" pitchFamily="18" charset="0"/>
                <a:cs typeface="Times New Roman" panose="02020603050405020304" pitchFamily="18" charset="0"/>
              </a:rPr>
              <a:t> : result = num1 * 2 + num2;</a:t>
            </a:r>
          </a:p>
          <a:p>
            <a:pPr>
              <a:buFont typeface="Wingdings 2" pitchFamily="18" charset="2"/>
              <a:buNone/>
            </a:pPr>
            <a:r>
              <a:rPr lang="pt-BR" sz="2800" i="1" dirty="0">
                <a:latin typeface="Times New Roman" panose="02020603050405020304" pitchFamily="18" charset="0"/>
                <a:cs typeface="Times New Roman" panose="02020603050405020304" pitchFamily="18" charset="0"/>
              </a:rPr>
              <a:t>Step 2 </a:t>
            </a:r>
            <a:r>
              <a:rPr lang="pt-BR" sz="2800" dirty="0">
                <a:latin typeface="Times New Roman" panose="02020603050405020304" pitchFamily="18" charset="0"/>
                <a:cs typeface="Times New Roman" panose="02020603050405020304" pitchFamily="18" charset="0"/>
              </a:rPr>
              <a:t>: result = 10 * 2 + 20;</a:t>
            </a:r>
          </a:p>
          <a:p>
            <a:pPr>
              <a:buFont typeface="Wingdings 2" pitchFamily="18" charset="2"/>
              <a:buNone/>
            </a:pPr>
            <a:r>
              <a:rPr lang="pt-BR" sz="2800" i="1" dirty="0">
                <a:latin typeface="Times New Roman" panose="02020603050405020304" pitchFamily="18" charset="0"/>
                <a:cs typeface="Times New Roman" panose="02020603050405020304" pitchFamily="18" charset="0"/>
              </a:rPr>
              <a:t>Step 3</a:t>
            </a:r>
            <a:r>
              <a:rPr lang="pt-BR" sz="2800" dirty="0">
                <a:latin typeface="Times New Roman" panose="02020603050405020304" pitchFamily="18" charset="0"/>
                <a:cs typeface="Times New Roman" panose="02020603050405020304" pitchFamily="18" charset="0"/>
              </a:rPr>
              <a:t> : result = 20 + 20;</a:t>
            </a:r>
          </a:p>
          <a:p>
            <a:pPr>
              <a:buFont typeface="Wingdings 2" pitchFamily="18" charset="2"/>
              <a:buNone/>
            </a:pPr>
            <a:r>
              <a:rPr lang="pt-BR" sz="2800" i="1" dirty="0">
                <a:latin typeface="Times New Roman" panose="02020603050405020304" pitchFamily="18" charset="0"/>
                <a:cs typeface="Times New Roman" panose="02020603050405020304" pitchFamily="18" charset="0"/>
              </a:rPr>
              <a:t>Step 4 </a:t>
            </a:r>
            <a:r>
              <a:rPr lang="pt-BR" sz="2800" dirty="0">
                <a:latin typeface="Times New Roman" panose="02020603050405020304" pitchFamily="18" charset="0"/>
                <a:cs typeface="Times New Roman" panose="02020603050405020304" pitchFamily="18" charset="0"/>
              </a:rPr>
              <a:t>: result = 40;</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388120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2CF453-B752-41EB-8A1A-96210A8EA9D7}"/>
              </a:ext>
            </a:extLst>
          </p:cNvPr>
          <p:cNvSpPr>
            <a:spLocks noGrp="1"/>
          </p:cNvSpPr>
          <p:nvPr>
            <p:ph type="title"/>
          </p:nvPr>
        </p:nvSpPr>
        <p:spPr>
          <a:xfrm>
            <a:off x="1551432" y="365126"/>
            <a:ext cx="9654124" cy="948286"/>
          </a:xfrm>
        </p:spPr>
        <p:txBody>
          <a:bodyPr>
            <a:normAutofit/>
          </a:bodyPr>
          <a:lstStyle/>
          <a:p>
            <a:r>
              <a:rPr lang="en-US" dirty="0"/>
              <a:t>Example: operator associativity</a:t>
            </a:r>
            <a:endParaRPr lang="en-IN" dirty="0"/>
          </a:p>
        </p:txBody>
      </p:sp>
      <p:sp>
        <p:nvSpPr>
          <p:cNvPr id="3" name="Content Placeholder 2">
            <a:extLst>
              <a:ext uri="{FF2B5EF4-FFF2-40B4-BE49-F238E27FC236}">
                <a16:creationId xmlns:a16="http://schemas.microsoft.com/office/drawing/2014/main" xmlns="" id="{5B26D709-1BB3-404F-972E-2238F6D50EF6}"/>
              </a:ext>
            </a:extLst>
          </p:cNvPr>
          <p:cNvSpPr>
            <a:spLocks noGrp="1"/>
          </p:cNvSpPr>
          <p:nvPr>
            <p:ph idx="1"/>
          </p:nvPr>
        </p:nvSpPr>
        <p:spPr>
          <a:xfrm>
            <a:off x="1551432" y="1546167"/>
            <a:ext cx="9823704" cy="4946708"/>
          </a:xfrm>
        </p:spPr>
        <p:txBody>
          <a:bodyPr>
            <a:normAutofit fontScale="92500" lnSpcReduction="10000"/>
          </a:bodyPr>
          <a:lstStyle/>
          <a:p>
            <a:pPr>
              <a:buFont typeface="Wingdings 2" pitchFamily="18" charset="2"/>
              <a:buNone/>
              <a:defRPr/>
            </a:pPr>
            <a:r>
              <a:rPr lang="en-US" dirty="0">
                <a:latin typeface="Times New Roman" panose="02020603050405020304" pitchFamily="18" charset="0"/>
                <a:cs typeface="Times New Roman" panose="02020603050405020304" pitchFamily="18" charset="0"/>
              </a:rPr>
              <a:t>#include&lt;stdio.h&gt;</a:t>
            </a:r>
          </a:p>
          <a:p>
            <a:pPr>
              <a:buFont typeface="Wingdings 2" pitchFamily="18" charset="2"/>
              <a:buNone/>
              <a:defRPr/>
            </a:pPr>
            <a:r>
              <a:rPr lang="en-US" dirty="0">
                <a:latin typeface="Times New Roman" panose="02020603050405020304" pitchFamily="18" charset="0"/>
                <a:cs typeface="Times New Roman" panose="02020603050405020304" pitchFamily="18" charset="0"/>
              </a:rPr>
              <a:t>int main() {</a:t>
            </a:r>
          </a:p>
          <a:p>
            <a:pPr>
              <a:buFont typeface="Wingdings 2" pitchFamily="18" charset="2"/>
              <a:buNone/>
              <a:defRPr/>
            </a:pPr>
            <a:r>
              <a:rPr lang="en-US" dirty="0">
                <a:latin typeface="Times New Roman" panose="02020603050405020304" pitchFamily="18" charset="0"/>
                <a:cs typeface="Times New Roman" panose="02020603050405020304" pitchFamily="18" charset="0"/>
              </a:rPr>
              <a:t>  int num1 = 10, num2 = 20;</a:t>
            </a:r>
          </a:p>
          <a:p>
            <a:pPr>
              <a:buFont typeface="Wingdings 2" pitchFamily="18" charset="2"/>
              <a:buNone/>
              <a:defRPr/>
            </a:pPr>
            <a:r>
              <a:rPr lang="en-US" dirty="0">
                <a:latin typeface="Times New Roman" panose="02020603050405020304" pitchFamily="18" charset="0"/>
                <a:cs typeface="Times New Roman" panose="02020603050405020304" pitchFamily="18" charset="0"/>
              </a:rPr>
              <a:t>  int result;</a:t>
            </a:r>
          </a:p>
          <a:p>
            <a:pPr>
              <a:buFont typeface="Wingdings 2" pitchFamily="18" charset="2"/>
              <a:buNone/>
              <a:defRPr/>
            </a:pPr>
            <a:r>
              <a:rPr lang="en-US" dirty="0">
                <a:latin typeface="Times New Roman" panose="02020603050405020304" pitchFamily="18" charset="0"/>
                <a:cs typeface="Times New Roman" panose="02020603050405020304" pitchFamily="18" charset="0"/>
              </a:rPr>
              <a:t>  </a:t>
            </a:r>
            <a:r>
              <a:rPr lang="pt-BR" dirty="0">
                <a:latin typeface="Times New Roman" panose="02020603050405020304" pitchFamily="18" charset="0"/>
                <a:cs typeface="Times New Roman" panose="02020603050405020304" pitchFamily="18" charset="0"/>
              </a:rPr>
              <a:t>result = num1 * 2 + num2 * 2 ;</a:t>
            </a:r>
            <a:endParaRPr lang="en-US" dirty="0">
              <a:latin typeface="Times New Roman" panose="02020603050405020304" pitchFamily="18" charset="0"/>
              <a:cs typeface="Times New Roman" panose="02020603050405020304" pitchFamily="18" charset="0"/>
            </a:endParaRPr>
          </a:p>
          <a:p>
            <a:pPr>
              <a:buFont typeface="Wingdings 2" pitchFamily="18" charset="2"/>
              <a:buNone/>
              <a:defRPr/>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printf</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nResult</a:t>
            </a:r>
            <a:r>
              <a:rPr lang="en-US" dirty="0">
                <a:latin typeface="Times New Roman" panose="02020603050405020304" pitchFamily="18" charset="0"/>
                <a:cs typeface="Times New Roman" panose="02020603050405020304" pitchFamily="18" charset="0"/>
              </a:rPr>
              <a:t> is : %d", result);</a:t>
            </a:r>
          </a:p>
          <a:p>
            <a:pPr>
              <a:buFont typeface="Wingdings 2" pitchFamily="18" charset="2"/>
              <a:buNone/>
              <a:defRPr/>
            </a:pPr>
            <a:r>
              <a:rPr lang="en-US" dirty="0">
                <a:latin typeface="Times New Roman" panose="02020603050405020304" pitchFamily="18" charset="0"/>
                <a:cs typeface="Times New Roman" panose="02020603050405020304" pitchFamily="18" charset="0"/>
              </a:rPr>
              <a:t>  return (0);</a:t>
            </a:r>
          </a:p>
          <a:p>
            <a:pPr>
              <a:buFont typeface="Wingdings 2" pitchFamily="18" charset="2"/>
              <a:buNone/>
              <a:defRPr/>
            </a:pPr>
            <a:r>
              <a:rPr lang="en-US" dirty="0">
                <a:latin typeface="Times New Roman" panose="02020603050405020304" pitchFamily="18" charset="0"/>
                <a:cs typeface="Times New Roman" panose="02020603050405020304" pitchFamily="18" charset="0"/>
              </a:rPr>
              <a:t>}</a:t>
            </a:r>
          </a:p>
          <a:p>
            <a:pPr>
              <a:defRPr/>
            </a:pPr>
            <a:r>
              <a:rPr lang="en-US" dirty="0">
                <a:latin typeface="Times New Roman" panose="02020603050405020304" pitchFamily="18" charset="0"/>
                <a:cs typeface="Times New Roman" panose="02020603050405020304" pitchFamily="18" charset="0"/>
              </a:rPr>
              <a:t>Explanation :</a:t>
            </a:r>
          </a:p>
          <a:p>
            <a:pPr>
              <a:buFont typeface="Wingdings 2" pitchFamily="18" charset="2"/>
              <a:buNone/>
              <a:defRPr/>
            </a:pPr>
            <a:r>
              <a:rPr lang="en-US" dirty="0">
                <a:latin typeface="Times New Roman" panose="02020603050405020304" pitchFamily="18" charset="0"/>
                <a:cs typeface="Times New Roman" panose="02020603050405020304" pitchFamily="18" charset="0"/>
              </a:rPr>
              <a:t>result = num1 * 2 + num2 * 2 ;</a:t>
            </a:r>
          </a:p>
          <a:p>
            <a:pPr>
              <a:buFont typeface="Wingdings 2" pitchFamily="18" charset="2"/>
              <a:buNone/>
              <a:defRPr/>
            </a:pPr>
            <a:r>
              <a:rPr lang="en-US" dirty="0">
                <a:latin typeface="Times New Roman" panose="02020603050405020304" pitchFamily="18" charset="0"/>
                <a:cs typeface="Times New Roman" panose="02020603050405020304" pitchFamily="18" charset="0"/>
              </a:rPr>
              <a:t>result = 10 * 2 + 20 * 2 ;</a:t>
            </a:r>
          </a:p>
          <a:p>
            <a:pPr>
              <a:buFont typeface="Wingdings 2" pitchFamily="18" charset="2"/>
              <a:buNone/>
              <a:defRPr/>
            </a:pPr>
            <a:r>
              <a:rPr lang="en-US" dirty="0">
                <a:latin typeface="Times New Roman" panose="02020603050405020304" pitchFamily="18" charset="0"/>
                <a:cs typeface="Times New Roman" panose="02020603050405020304" pitchFamily="18" charset="0"/>
              </a:rPr>
              <a:t>result = 20 + 20 * 2 ;</a:t>
            </a:r>
          </a:p>
          <a:p>
            <a:pPr>
              <a:buFont typeface="Wingdings 2" pitchFamily="18" charset="2"/>
              <a:buNone/>
              <a:defRPr/>
            </a:pPr>
            <a:r>
              <a:rPr lang="en-US" dirty="0">
                <a:latin typeface="Times New Roman" panose="02020603050405020304" pitchFamily="18" charset="0"/>
                <a:cs typeface="Times New Roman" panose="02020603050405020304" pitchFamily="18" charset="0"/>
              </a:rPr>
              <a:t>result = 20 + 40 ;</a:t>
            </a:r>
          </a:p>
          <a:p>
            <a:pPr>
              <a:buFont typeface="Wingdings 2" pitchFamily="18" charset="2"/>
              <a:buNone/>
              <a:defRPr/>
            </a:pPr>
            <a:r>
              <a:rPr lang="en-US" dirty="0">
                <a:latin typeface="Times New Roman" panose="02020603050405020304" pitchFamily="18" charset="0"/>
                <a:cs typeface="Times New Roman" panose="02020603050405020304" pitchFamily="18" charset="0"/>
              </a:rPr>
              <a:t>result = 60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017207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CFAC9B-988A-4AE1-BE43-0922FB08B7C2}"/>
              </a:ext>
            </a:extLst>
          </p:cNvPr>
          <p:cNvSpPr>
            <a:spLocks noGrp="1"/>
          </p:cNvSpPr>
          <p:nvPr>
            <p:ph type="title"/>
          </p:nvPr>
        </p:nvSpPr>
        <p:spPr/>
        <p:txBody>
          <a:bodyPr/>
          <a:lstStyle/>
          <a:p>
            <a:pPr algn="ctr"/>
            <a:r>
              <a:rPr lang="en-US" sz="4400" dirty="0">
                <a:latin typeface="Times New Roman" panose="02020603050405020304" pitchFamily="18" charset="0"/>
                <a:cs typeface="Times New Roman" panose="02020603050405020304" pitchFamily="18" charset="0"/>
              </a:rPr>
              <a:t>Data Input and Output</a:t>
            </a:r>
            <a:endParaRPr lang="en-IN" dirty="0"/>
          </a:p>
        </p:txBody>
      </p:sp>
      <p:sp>
        <p:nvSpPr>
          <p:cNvPr id="3" name="Content Placeholder 2">
            <a:extLst>
              <a:ext uri="{FF2B5EF4-FFF2-40B4-BE49-F238E27FC236}">
                <a16:creationId xmlns:a16="http://schemas.microsoft.com/office/drawing/2014/main" xmlns="" id="{A2581FD6-D222-4750-9223-6B6206246957}"/>
              </a:ext>
            </a:extLst>
          </p:cNvPr>
          <p:cNvSpPr>
            <a:spLocks noGrp="1"/>
          </p:cNvSpPr>
          <p:nvPr>
            <p:ph idx="1"/>
          </p:nvPr>
        </p:nvSpPr>
        <p:spPr/>
        <p:txBody>
          <a:bodyPr/>
          <a:lstStyle/>
          <a:p>
            <a:r>
              <a:rPr lang="en-US" altLang="en-US" sz="2400" dirty="0">
                <a:latin typeface="Times New Roman" panose="02020603050405020304" pitchFamily="18" charset="0"/>
                <a:cs typeface="Times New Roman" panose="02020603050405020304" pitchFamily="18" charset="0"/>
              </a:rPr>
              <a:t>The I/O library functions are listed in the “header” file &lt;</a:t>
            </a:r>
            <a:r>
              <a:rPr lang="en-US" altLang="en-US" sz="2400" dirty="0" err="1">
                <a:latin typeface="Times New Roman" panose="02020603050405020304" pitchFamily="18" charset="0"/>
                <a:cs typeface="Times New Roman" panose="02020603050405020304" pitchFamily="18" charset="0"/>
              </a:rPr>
              <a:t>stdio.h</a:t>
            </a:r>
            <a:r>
              <a:rPr lang="en-US" altLang="en-US" sz="2400" dirty="0">
                <a:latin typeface="Times New Roman" panose="02020603050405020304" pitchFamily="18" charset="0"/>
                <a:cs typeface="Times New Roman" panose="02020603050405020304" pitchFamily="18" charset="0"/>
              </a:rPr>
              <a:t>&gt;.  </a:t>
            </a:r>
          </a:p>
          <a:p>
            <a:r>
              <a:rPr lang="en-IN" dirty="0">
                <a:latin typeface="Times New Roman" panose="02020603050405020304" pitchFamily="18" charset="0"/>
                <a:cs typeface="Times New Roman" panose="02020603050405020304" pitchFamily="18" charset="0"/>
              </a:rPr>
              <a:t>Types:</a:t>
            </a:r>
          </a:p>
          <a:p>
            <a:pPr lvl="1"/>
            <a:r>
              <a:rPr lang="en-IN" dirty="0">
                <a:latin typeface="Times New Roman" panose="02020603050405020304" pitchFamily="18" charset="0"/>
                <a:cs typeface="Times New Roman" panose="02020603050405020304" pitchFamily="18" charset="0"/>
              </a:rPr>
              <a:t>Unformatted Input/output functions</a:t>
            </a:r>
          </a:p>
          <a:p>
            <a:pPr lvl="1"/>
            <a:r>
              <a:rPr lang="en-IN" dirty="0">
                <a:latin typeface="Times New Roman" panose="02020603050405020304" pitchFamily="18" charset="0"/>
                <a:cs typeface="Times New Roman" panose="02020603050405020304" pitchFamily="18" charset="0"/>
              </a:rPr>
              <a:t>Formatted Input/output functions</a:t>
            </a:r>
            <a:endParaRPr lang="en-IN" dirty="0"/>
          </a:p>
          <a:p>
            <a:endParaRPr lang="en-IN" dirty="0"/>
          </a:p>
        </p:txBody>
      </p:sp>
    </p:spTree>
    <p:extLst>
      <p:ext uri="{BB962C8B-B14F-4D97-AF65-F5344CB8AC3E}">
        <p14:creationId xmlns:p14="http://schemas.microsoft.com/office/powerpoint/2010/main" val="311919537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1AC0D02-8B2C-4756-A725-3B5B0D084442}"/>
              </a:ext>
            </a:extLst>
          </p:cNvPr>
          <p:cNvSpPr>
            <a:spLocks noGrp="1"/>
          </p:cNvSpPr>
          <p:nvPr>
            <p:ph type="title"/>
          </p:nvPr>
        </p:nvSpPr>
        <p:spPr>
          <a:xfrm>
            <a:off x="1551431" y="899652"/>
            <a:ext cx="9823703" cy="309716"/>
          </a:xfrm>
        </p:spPr>
        <p:txBody>
          <a:bodyPr>
            <a:normAutofit fontScale="90000"/>
          </a:bodyPr>
          <a:lstStyle/>
          <a:p>
            <a:r>
              <a:rPr lang="en-IN" dirty="0"/>
              <a:t>Unformatted Input/output functions</a:t>
            </a:r>
            <a:br>
              <a:rPr lang="en-IN" dirty="0"/>
            </a:br>
            <a:endParaRPr lang="en-IN" dirty="0"/>
          </a:p>
        </p:txBody>
      </p:sp>
      <p:sp>
        <p:nvSpPr>
          <p:cNvPr id="3" name="Content Placeholder 2">
            <a:extLst>
              <a:ext uri="{FF2B5EF4-FFF2-40B4-BE49-F238E27FC236}">
                <a16:creationId xmlns:a16="http://schemas.microsoft.com/office/drawing/2014/main" xmlns="" id="{38E36228-6B28-46CA-A92D-CB0A05E7E15D}"/>
              </a:ext>
            </a:extLst>
          </p:cNvPr>
          <p:cNvSpPr>
            <a:spLocks noGrp="1"/>
          </p:cNvSpPr>
          <p:nvPr>
            <p:ph idx="1"/>
          </p:nvPr>
        </p:nvSpPr>
        <p:spPr>
          <a:xfrm>
            <a:off x="1551432" y="1533832"/>
            <a:ext cx="9823704" cy="4643131"/>
          </a:xfrm>
        </p:spPr>
        <p:txBody>
          <a:bodyPr/>
          <a:lstStyle/>
          <a:p>
            <a:r>
              <a:rPr lang="en-IN" dirty="0">
                <a:latin typeface="Times New Roman" panose="02020603050405020304" pitchFamily="18" charset="0"/>
                <a:cs typeface="Times New Roman" panose="02020603050405020304" pitchFamily="18" charset="0"/>
              </a:rPr>
              <a:t>Input functions</a:t>
            </a:r>
          </a:p>
          <a:p>
            <a:pPr lvl="1"/>
            <a:r>
              <a:rPr lang="en-IN" dirty="0">
                <a:latin typeface="Times New Roman" panose="02020603050405020304" pitchFamily="18" charset="0"/>
                <a:cs typeface="Times New Roman" panose="02020603050405020304" pitchFamily="18" charset="0"/>
              </a:rPr>
              <a:t>gets()</a:t>
            </a:r>
          </a:p>
          <a:p>
            <a:pPr lvl="1"/>
            <a:r>
              <a:rPr lang="en-IN" dirty="0" err="1">
                <a:latin typeface="Times New Roman" panose="02020603050405020304" pitchFamily="18" charset="0"/>
                <a:cs typeface="Times New Roman" panose="02020603050405020304" pitchFamily="18" charset="0"/>
              </a:rPr>
              <a:t>getchar</a:t>
            </a:r>
            <a:r>
              <a:rPr lang="en-IN" dirty="0">
                <a:latin typeface="Times New Roman" panose="02020603050405020304" pitchFamily="18" charset="0"/>
                <a:cs typeface="Times New Roman" panose="02020603050405020304" pitchFamily="18" charset="0"/>
              </a:rPr>
              <a:t>()</a:t>
            </a:r>
          </a:p>
          <a:p>
            <a:pPr lvl="1"/>
            <a:r>
              <a:rPr lang="en-IN" dirty="0" err="1">
                <a:latin typeface="Times New Roman" panose="02020603050405020304" pitchFamily="18" charset="0"/>
                <a:cs typeface="Times New Roman" panose="02020603050405020304" pitchFamily="18" charset="0"/>
              </a:rPr>
              <a:t>getch</a:t>
            </a:r>
            <a:r>
              <a:rPr lang="en-IN" dirty="0">
                <a:latin typeface="Times New Roman" panose="02020603050405020304" pitchFamily="18" charset="0"/>
                <a:cs typeface="Times New Roman" panose="02020603050405020304" pitchFamily="18" charset="0"/>
              </a:rPr>
              <a:t>()</a:t>
            </a:r>
          </a:p>
          <a:p>
            <a:pPr lvl="1"/>
            <a:r>
              <a:rPr lang="en-IN" dirty="0" err="1">
                <a:latin typeface="Times New Roman" panose="02020603050405020304" pitchFamily="18" charset="0"/>
                <a:cs typeface="Times New Roman" panose="02020603050405020304" pitchFamily="18" charset="0"/>
              </a:rPr>
              <a:t>getche</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Output functions</a:t>
            </a:r>
          </a:p>
          <a:p>
            <a:pPr lvl="1"/>
            <a:r>
              <a:rPr lang="en-IN" dirty="0">
                <a:latin typeface="Times New Roman" panose="02020603050405020304" pitchFamily="18" charset="0"/>
                <a:cs typeface="Times New Roman" panose="02020603050405020304" pitchFamily="18" charset="0"/>
              </a:rPr>
              <a:t>puts()</a:t>
            </a:r>
          </a:p>
          <a:p>
            <a:pPr lvl="1"/>
            <a:r>
              <a:rPr lang="en-IN" dirty="0" err="1">
                <a:latin typeface="Times New Roman" panose="02020603050405020304" pitchFamily="18" charset="0"/>
                <a:cs typeface="Times New Roman" panose="02020603050405020304" pitchFamily="18" charset="0"/>
              </a:rPr>
              <a:t>putchar</a:t>
            </a:r>
            <a:r>
              <a:rPr lang="en-IN" dirty="0">
                <a:latin typeface="Times New Roman" panose="02020603050405020304" pitchFamily="18" charset="0"/>
                <a:cs typeface="Times New Roman" panose="02020603050405020304" pitchFamily="18" charset="0"/>
              </a:rPr>
              <a:t>()</a:t>
            </a:r>
          </a:p>
          <a:p>
            <a:pPr lvl="1"/>
            <a:r>
              <a:rPr lang="en-IN" dirty="0" err="1">
                <a:latin typeface="Times New Roman" panose="02020603050405020304" pitchFamily="18" charset="0"/>
                <a:cs typeface="Times New Roman" panose="02020603050405020304" pitchFamily="18" charset="0"/>
              </a:rPr>
              <a:t>putch</a:t>
            </a:r>
            <a:r>
              <a:rPr lang="en-IN" dirty="0">
                <a:latin typeface="Times New Roman" panose="02020603050405020304" pitchFamily="18" charset="0"/>
                <a:cs typeface="Times New Roman" panose="02020603050405020304" pitchFamily="18" charset="0"/>
              </a:rPr>
              <a:t>()</a:t>
            </a:r>
          </a:p>
          <a:p>
            <a:pPr lvl="1"/>
            <a:r>
              <a:rPr lang="en-IN" dirty="0">
                <a:latin typeface="Times New Roman" panose="02020603050405020304" pitchFamily="18" charset="0"/>
                <a:cs typeface="Times New Roman" panose="02020603050405020304" pitchFamily="18" charset="0"/>
              </a:rPr>
              <a:t>puts()</a:t>
            </a:r>
          </a:p>
        </p:txBody>
      </p:sp>
    </p:spTree>
    <p:extLst>
      <p:ext uri="{BB962C8B-B14F-4D97-AF65-F5344CB8AC3E}">
        <p14:creationId xmlns:p14="http://schemas.microsoft.com/office/powerpoint/2010/main" val="12988880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C56F6D-995A-433C-A86E-AD9675B3C312}"/>
              </a:ext>
            </a:extLst>
          </p:cNvPr>
          <p:cNvSpPr>
            <a:spLocks noGrp="1"/>
          </p:cNvSpPr>
          <p:nvPr>
            <p:ph type="title"/>
          </p:nvPr>
        </p:nvSpPr>
        <p:spPr/>
        <p:txBody>
          <a:bodyPr/>
          <a:lstStyle/>
          <a:p>
            <a:pPr algn="ctr"/>
            <a:r>
              <a:rPr lang="en-IN" dirty="0" err="1"/>
              <a:t>getchar</a:t>
            </a:r>
            <a:r>
              <a:rPr lang="en-IN" dirty="0"/>
              <a:t>()</a:t>
            </a:r>
          </a:p>
        </p:txBody>
      </p:sp>
      <p:sp>
        <p:nvSpPr>
          <p:cNvPr id="3" name="Content Placeholder 2">
            <a:extLst>
              <a:ext uri="{FF2B5EF4-FFF2-40B4-BE49-F238E27FC236}">
                <a16:creationId xmlns:a16="http://schemas.microsoft.com/office/drawing/2014/main" xmlns="" id="{94360F5A-E7E2-4B69-B9D6-1AB355587066}"/>
              </a:ext>
            </a:extLst>
          </p:cNvPr>
          <p:cNvSpPr>
            <a:spLocks noGrp="1"/>
          </p:cNvSpPr>
          <p:nvPr>
            <p:ph sz="half" idx="1"/>
          </p:nvPr>
        </p:nvSpPr>
        <p:spPr>
          <a:xfrm>
            <a:off x="1252024" y="1825625"/>
            <a:ext cx="5809958" cy="4351338"/>
          </a:xfrm>
        </p:spPr>
        <p:txBody>
          <a:bodyPr>
            <a:normAutofit fontScale="77500" lnSpcReduction="20000"/>
          </a:bodyPr>
          <a:lstStyle/>
          <a:p>
            <a:pPr algn="just"/>
            <a:r>
              <a:rPr lang="en-US" dirty="0"/>
              <a:t>Reads a single character from the input data stream; but does not return the character to the program until the ‘\n’ ( or ) enter key is pressed.</a:t>
            </a:r>
          </a:p>
          <a:p>
            <a:pPr algn="just"/>
            <a:r>
              <a:rPr lang="en-US" dirty="0">
                <a:solidFill>
                  <a:srgbClr val="FF0000"/>
                </a:solidFill>
                <a:latin typeface="Times New Roman" panose="02020603050405020304" pitchFamily="18" charset="0"/>
                <a:cs typeface="Times New Roman" panose="02020603050405020304" pitchFamily="18" charset="0"/>
              </a:rPr>
              <a:t>Syntax:-</a:t>
            </a:r>
          </a:p>
          <a:p>
            <a:pPr marL="0" indent="0" algn="just">
              <a:buNone/>
            </a:pPr>
            <a:r>
              <a:rPr lang="en-US" dirty="0">
                <a:latin typeface="Times New Roman" panose="02020603050405020304" pitchFamily="18" charset="0"/>
                <a:cs typeface="Times New Roman" panose="02020603050405020304" pitchFamily="18" charset="0"/>
              </a:rPr>
              <a:t>        variable = </a:t>
            </a:r>
            <a:r>
              <a:rPr lang="en-US" dirty="0" err="1">
                <a:latin typeface="Times New Roman" panose="02020603050405020304" pitchFamily="18" charset="0"/>
                <a:cs typeface="Times New Roman" panose="02020603050405020304" pitchFamily="18" charset="0"/>
              </a:rPr>
              <a:t>getchar</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lgn="just"/>
            <a:r>
              <a:rPr lang="en-US" dirty="0">
                <a:solidFill>
                  <a:srgbClr val="FF0000"/>
                </a:solidFill>
                <a:latin typeface="Times New Roman" panose="02020603050405020304" pitchFamily="18" charset="0"/>
                <a:cs typeface="Times New Roman" panose="02020603050405020304" pitchFamily="18" charset="0"/>
              </a:rPr>
              <a:t>Example:- </a:t>
            </a:r>
          </a:p>
          <a:p>
            <a:pPr marL="0" indent="0" algn="just">
              <a:buNone/>
            </a:pPr>
            <a:r>
              <a:rPr lang="en-US" dirty="0">
                <a:latin typeface="Times New Roman" panose="02020603050405020304" pitchFamily="18" charset="0"/>
                <a:cs typeface="Times New Roman" panose="02020603050405020304" pitchFamily="18" charset="0"/>
              </a:rPr>
              <a:t>       char c; </a:t>
            </a:r>
          </a:p>
          <a:p>
            <a:pPr marL="0" indent="0" algn="just">
              <a:buNone/>
            </a:pPr>
            <a:r>
              <a:rPr lang="en-US" dirty="0">
                <a:latin typeface="Times New Roman" panose="02020603050405020304" pitchFamily="18" charset="0"/>
                <a:cs typeface="Times New Roman" panose="02020603050405020304" pitchFamily="18" charset="0"/>
              </a:rPr>
              <a:t>       c = </a:t>
            </a:r>
            <a:r>
              <a:rPr lang="en-US" dirty="0" err="1">
                <a:latin typeface="Times New Roman" panose="02020603050405020304" pitchFamily="18" charset="0"/>
                <a:cs typeface="Times New Roman" panose="02020603050405020304" pitchFamily="18" charset="0"/>
              </a:rPr>
              <a:t>getchar</a:t>
            </a:r>
            <a:r>
              <a:rPr lang="en-US" dirty="0">
                <a:latin typeface="Times New Roman" panose="02020603050405020304" pitchFamily="18" charset="0"/>
                <a:cs typeface="Times New Roman" panose="02020603050405020304" pitchFamily="18" charset="0"/>
              </a:rPr>
              <a:t>(); </a:t>
            </a:r>
          </a:p>
        </p:txBody>
      </p:sp>
      <p:sp>
        <p:nvSpPr>
          <p:cNvPr id="4" name="Content Placeholder 3">
            <a:extLst>
              <a:ext uri="{FF2B5EF4-FFF2-40B4-BE49-F238E27FC236}">
                <a16:creationId xmlns:a16="http://schemas.microsoft.com/office/drawing/2014/main" xmlns="" id="{8FAF14E6-D164-40AA-9FEA-CA2BA845EC2B}"/>
              </a:ext>
            </a:extLst>
          </p:cNvPr>
          <p:cNvSpPr>
            <a:spLocks noGrp="1"/>
          </p:cNvSpPr>
          <p:nvPr>
            <p:ph sz="half" idx="2"/>
          </p:nvPr>
        </p:nvSpPr>
        <p:spPr>
          <a:xfrm>
            <a:off x="7367954" y="1825625"/>
            <a:ext cx="4489704" cy="4351338"/>
          </a:xfrm>
        </p:spPr>
        <p:txBody>
          <a:bodyPr>
            <a:normAutofit fontScale="77500" lnSpcReduction="20000"/>
          </a:bodyPr>
          <a:lstStyle/>
          <a:p>
            <a:pPr marL="0" indent="0">
              <a:buNone/>
            </a:pPr>
            <a:r>
              <a:rPr lang="en-IN" b="1" dirty="0">
                <a:latin typeface="Times New Roman" panose="02020603050405020304" pitchFamily="18" charset="0"/>
                <a:cs typeface="Times New Roman" panose="02020603050405020304" pitchFamily="18" charset="0"/>
              </a:rPr>
              <a:t>Program</a:t>
            </a:r>
          </a:p>
          <a:p>
            <a:pPr marL="0" indent="0">
              <a:buNone/>
            </a:pPr>
            <a:r>
              <a:rPr lang="en-IN" dirty="0">
                <a:latin typeface="Times New Roman" panose="02020603050405020304" pitchFamily="18" charset="0"/>
                <a:cs typeface="Times New Roman" panose="02020603050405020304" pitchFamily="18" charset="0"/>
              </a:rPr>
              <a:t>#include&lt;</a:t>
            </a:r>
            <a:r>
              <a:rPr lang="en-IN" dirty="0" err="1">
                <a:latin typeface="Times New Roman" panose="02020603050405020304" pitchFamily="18" charset="0"/>
                <a:cs typeface="Times New Roman" panose="02020603050405020304" pitchFamily="18" charset="0"/>
              </a:rPr>
              <a:t>stdio.h</a:t>
            </a:r>
            <a:r>
              <a:rPr lang="en-IN" dirty="0">
                <a:latin typeface="Times New Roman" panose="02020603050405020304" pitchFamily="18" charset="0"/>
                <a:cs typeface="Times New Roman" panose="02020603050405020304" pitchFamily="18" charset="0"/>
              </a:rPr>
              <a:t>&gt;</a:t>
            </a:r>
          </a:p>
          <a:p>
            <a:pPr marL="0" indent="0">
              <a:buNone/>
            </a:pPr>
            <a:r>
              <a:rPr lang="en-IN" dirty="0">
                <a:latin typeface="Times New Roman" panose="02020603050405020304" pitchFamily="18" charset="0"/>
                <a:cs typeface="Times New Roman" panose="02020603050405020304" pitchFamily="18" charset="0"/>
              </a:rPr>
              <a:t>void main()</a:t>
            </a:r>
          </a:p>
          <a:p>
            <a:pPr marL="0" indent="0">
              <a:buNone/>
            </a:pP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char c;</a:t>
            </a:r>
          </a:p>
          <a:p>
            <a:pPr marL="0" indent="0">
              <a:buNone/>
            </a:pP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(“Enter a character”);</a:t>
            </a:r>
          </a:p>
          <a:p>
            <a:pPr marL="0" indent="0">
              <a:buNone/>
            </a:pPr>
            <a:r>
              <a:rPr lang="en-IN" dirty="0">
                <a:latin typeface="Times New Roman" panose="02020603050405020304" pitchFamily="18" charset="0"/>
                <a:cs typeface="Times New Roman" panose="02020603050405020304" pitchFamily="18" charset="0"/>
              </a:rPr>
              <a:t>c=</a:t>
            </a:r>
            <a:r>
              <a:rPr lang="en-IN" dirty="0" err="1">
                <a:latin typeface="Times New Roman" panose="02020603050405020304" pitchFamily="18" charset="0"/>
                <a:cs typeface="Times New Roman" panose="02020603050405020304" pitchFamily="18" charset="0"/>
              </a:rPr>
              <a:t>getchar</a:t>
            </a:r>
            <a:r>
              <a:rPr lang="en-IN" dirty="0">
                <a:latin typeface="Times New Roman" panose="02020603050405020304" pitchFamily="18" charset="0"/>
                <a:cs typeface="Times New Roman" panose="02020603050405020304" pitchFamily="18" charset="0"/>
              </a:rPr>
              <a:t>();</a:t>
            </a:r>
          </a:p>
          <a:p>
            <a:pPr marL="0" indent="0">
              <a:buNone/>
            </a:pP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(“c = %c ”,c);</a:t>
            </a:r>
          </a:p>
          <a:p>
            <a:pPr marL="0" indent="0">
              <a:buNone/>
            </a:pPr>
            <a:r>
              <a:rPr lang="en-IN" dirty="0">
                <a:latin typeface="Times New Roman" panose="02020603050405020304" pitchFamily="18" charset="0"/>
                <a:cs typeface="Times New Roman" panose="02020603050405020304" pitchFamily="18" charset="0"/>
              </a:rPr>
              <a:t>}</a:t>
            </a:r>
          </a:p>
          <a:p>
            <a:pPr marL="0" indent="0">
              <a:buNone/>
            </a:pPr>
            <a:r>
              <a:rPr lang="en-IN" dirty="0">
                <a:solidFill>
                  <a:srgbClr val="FF0000"/>
                </a:solidFill>
                <a:latin typeface="Times New Roman" panose="02020603050405020304" pitchFamily="18" charset="0"/>
                <a:cs typeface="Times New Roman" panose="02020603050405020304" pitchFamily="18" charset="0"/>
              </a:rPr>
              <a:t>Output</a:t>
            </a:r>
          </a:p>
          <a:p>
            <a:pPr marL="0" indent="0">
              <a:buNone/>
            </a:pPr>
            <a:r>
              <a:rPr lang="en-IN" dirty="0">
                <a:latin typeface="Times New Roman" panose="02020603050405020304" pitchFamily="18" charset="0"/>
                <a:cs typeface="Times New Roman" panose="02020603050405020304" pitchFamily="18" charset="0"/>
              </a:rPr>
              <a:t>Enter a character k</a:t>
            </a:r>
          </a:p>
          <a:p>
            <a:pPr marL="0" indent="0">
              <a:buNone/>
            </a:pPr>
            <a:r>
              <a:rPr lang="en-IN" dirty="0">
                <a:latin typeface="Times New Roman" panose="02020603050405020304" pitchFamily="18" charset="0"/>
                <a:cs typeface="Times New Roman" panose="02020603050405020304" pitchFamily="18" charset="0"/>
              </a:rPr>
              <a:t>c = k</a:t>
            </a:r>
          </a:p>
          <a:p>
            <a:pPr marL="0" indent="0">
              <a:buNone/>
            </a:pPr>
            <a:endParaRPr lang="en-IN" dirty="0"/>
          </a:p>
        </p:txBody>
      </p:sp>
    </p:spTree>
    <p:extLst>
      <p:ext uri="{BB962C8B-B14F-4D97-AF65-F5344CB8AC3E}">
        <p14:creationId xmlns:p14="http://schemas.microsoft.com/office/powerpoint/2010/main" val="10720466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BFA19D-6545-4DF5-84FB-65A4E0B85976}"/>
              </a:ext>
            </a:extLst>
          </p:cNvPr>
          <p:cNvSpPr>
            <a:spLocks noGrp="1"/>
          </p:cNvSpPr>
          <p:nvPr>
            <p:ph type="title"/>
          </p:nvPr>
        </p:nvSpPr>
        <p:spPr/>
        <p:txBody>
          <a:bodyPr/>
          <a:lstStyle/>
          <a:p>
            <a:pPr algn="ctr"/>
            <a:r>
              <a:rPr lang="en-IN" dirty="0" err="1"/>
              <a:t>getch</a:t>
            </a:r>
            <a:r>
              <a:rPr lang="en-IN" dirty="0"/>
              <a:t>() and </a:t>
            </a:r>
            <a:r>
              <a:rPr lang="en-IN" dirty="0" err="1"/>
              <a:t>getche</a:t>
            </a:r>
            <a:r>
              <a:rPr lang="en-IN" dirty="0"/>
              <a:t>()</a:t>
            </a:r>
          </a:p>
        </p:txBody>
      </p:sp>
      <p:sp>
        <p:nvSpPr>
          <p:cNvPr id="3" name="Content Placeholder 2">
            <a:extLst>
              <a:ext uri="{FF2B5EF4-FFF2-40B4-BE49-F238E27FC236}">
                <a16:creationId xmlns:a16="http://schemas.microsoft.com/office/drawing/2014/main" xmlns="" id="{46FF315A-C025-47DE-A0F1-9046C1B07A3A}"/>
              </a:ext>
            </a:extLst>
          </p:cNvPr>
          <p:cNvSpPr>
            <a:spLocks noGrp="1"/>
          </p:cNvSpPr>
          <p:nvPr>
            <p:ph idx="1"/>
          </p:nvPr>
        </p:nvSpPr>
        <p:spPr>
          <a:xfrm>
            <a:off x="1551431" y="1825625"/>
            <a:ext cx="10076461" cy="4351338"/>
          </a:xfrm>
        </p:spPr>
        <p:txBody>
          <a:bodyPr>
            <a:normAutofit/>
          </a:bodyPr>
          <a:lstStyle/>
          <a:p>
            <a:pPr algn="just"/>
            <a:r>
              <a:rPr lang="en-US" dirty="0">
                <a:latin typeface="Times New Roman" panose="02020603050405020304" pitchFamily="18" charset="0"/>
                <a:cs typeface="Times New Roman" panose="02020603050405020304" pitchFamily="18" charset="0"/>
              </a:rPr>
              <a:t>These functions read any alphanumeric character from the standard input device</a:t>
            </a:r>
          </a:p>
          <a:p>
            <a:pPr algn="just"/>
            <a:r>
              <a:rPr lang="en-US" dirty="0">
                <a:latin typeface="Times New Roman" panose="02020603050405020304" pitchFamily="18" charset="0"/>
                <a:cs typeface="Times New Roman" panose="02020603050405020304" pitchFamily="18" charset="0"/>
              </a:rPr>
              <a:t>The character entered is not displayed by the </a:t>
            </a:r>
            <a:r>
              <a:rPr lang="en-US" dirty="0" err="1">
                <a:latin typeface="Times New Roman" panose="02020603050405020304" pitchFamily="18" charset="0"/>
                <a:cs typeface="Times New Roman" panose="02020603050405020304" pitchFamily="18" charset="0"/>
              </a:rPr>
              <a:t>getch</a:t>
            </a:r>
            <a:r>
              <a:rPr lang="en-US" dirty="0">
                <a:latin typeface="Times New Roman" panose="02020603050405020304" pitchFamily="18" charset="0"/>
                <a:cs typeface="Times New Roman" panose="02020603050405020304" pitchFamily="18" charset="0"/>
              </a:rPr>
              <a:t>() function until enter is pressed</a:t>
            </a:r>
          </a:p>
          <a:p>
            <a:pPr algn="just"/>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getche</a:t>
            </a:r>
            <a:r>
              <a:rPr lang="en-US" dirty="0">
                <a:latin typeface="Times New Roman" panose="02020603050405020304" pitchFamily="18" charset="0"/>
                <a:cs typeface="Times New Roman" panose="02020603050405020304" pitchFamily="18" charset="0"/>
              </a:rPr>
              <a:t>() accepts and displays the character.</a:t>
            </a:r>
          </a:p>
          <a:p>
            <a:pPr algn="just"/>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getch</a:t>
            </a:r>
            <a:r>
              <a:rPr lang="en-US" dirty="0">
                <a:latin typeface="Times New Roman" panose="02020603050405020304" pitchFamily="18" charset="0"/>
                <a:cs typeface="Times New Roman" panose="02020603050405020304" pitchFamily="18" charset="0"/>
              </a:rPr>
              <a:t>() accepts but does not display the character.</a:t>
            </a:r>
          </a:p>
          <a:p>
            <a:pPr algn="just"/>
            <a:r>
              <a:rPr lang="en-US" dirty="0">
                <a:solidFill>
                  <a:srgbClr val="FF0000"/>
                </a:solidFill>
                <a:latin typeface="Times New Roman" panose="02020603050405020304" pitchFamily="18" charset="0"/>
                <a:cs typeface="Times New Roman" panose="02020603050405020304" pitchFamily="18" charset="0"/>
              </a:rPr>
              <a:t>Syntax:</a:t>
            </a:r>
          </a:p>
          <a:p>
            <a:pPr marL="0" indent="0" algn="just">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getche</a:t>
            </a:r>
            <a:r>
              <a:rPr lang="en-US" dirty="0">
                <a:latin typeface="Times New Roman" panose="02020603050405020304" pitchFamily="18" charset="0"/>
                <a:cs typeface="Times New Roman" panose="02020603050405020304" pitchFamily="18" charset="0"/>
              </a:rPr>
              <a:t>();</a:t>
            </a:r>
          </a:p>
          <a:p>
            <a:pPr marL="0" indent="0" algn="just">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getch</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89332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E9885C-271D-466D-81D3-F724EBB25AFB}"/>
              </a:ext>
            </a:extLst>
          </p:cNvPr>
          <p:cNvSpPr>
            <a:spLocks noGrp="1"/>
          </p:cNvSpPr>
          <p:nvPr>
            <p:ph type="title"/>
          </p:nvPr>
        </p:nvSpPr>
        <p:spPr/>
        <p:txBody>
          <a:bodyPr/>
          <a:lstStyle/>
          <a:p>
            <a:pPr algn="ctr"/>
            <a:r>
              <a:rPr lang="en-IN" dirty="0" err="1"/>
              <a:t>getch</a:t>
            </a:r>
            <a:r>
              <a:rPr lang="en-IN" dirty="0"/>
              <a:t>() and </a:t>
            </a:r>
            <a:r>
              <a:rPr lang="en-IN" dirty="0" err="1"/>
              <a:t>getche</a:t>
            </a:r>
            <a:r>
              <a:rPr lang="en-IN" dirty="0"/>
              <a:t>() - Program</a:t>
            </a:r>
          </a:p>
        </p:txBody>
      </p:sp>
      <p:sp>
        <p:nvSpPr>
          <p:cNvPr id="3" name="Content Placeholder 2">
            <a:extLst>
              <a:ext uri="{FF2B5EF4-FFF2-40B4-BE49-F238E27FC236}">
                <a16:creationId xmlns:a16="http://schemas.microsoft.com/office/drawing/2014/main" xmlns="" id="{17196407-BA34-4748-9635-E5295A6E41E4}"/>
              </a:ext>
            </a:extLst>
          </p:cNvPr>
          <p:cNvSpPr>
            <a:spLocks noGrp="1"/>
          </p:cNvSpPr>
          <p:nvPr>
            <p:ph idx="1"/>
          </p:nvPr>
        </p:nvSpPr>
        <p:spPr/>
        <p:txBody>
          <a:bodyPr>
            <a:normAutofit/>
          </a:bodyPr>
          <a:lstStyle/>
          <a:p>
            <a:pPr marL="0" indent="0">
              <a:buNone/>
            </a:pPr>
            <a:r>
              <a:rPr lang="en-IN" dirty="0">
                <a:latin typeface="Times New Roman" panose="02020603050405020304" pitchFamily="18" charset="0"/>
                <a:cs typeface="Times New Roman" panose="02020603050405020304" pitchFamily="18" charset="0"/>
              </a:rPr>
              <a:t>#include&lt;stdio.h&gt;</a:t>
            </a:r>
          </a:p>
          <a:p>
            <a:pPr marL="0" indent="0">
              <a:buNone/>
            </a:pPr>
            <a:r>
              <a:rPr lang="en-IN" dirty="0">
                <a:latin typeface="Times New Roman" panose="02020603050405020304" pitchFamily="18" charset="0"/>
                <a:cs typeface="Times New Roman" panose="02020603050405020304" pitchFamily="18" charset="0"/>
              </a:rPr>
              <a:t>void main()</a:t>
            </a:r>
          </a:p>
          <a:p>
            <a:pPr marL="0" indent="0">
              <a:buNone/>
            </a:pP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(“Enter two alphabets:”);</a:t>
            </a:r>
          </a:p>
          <a:p>
            <a:pPr marL="0" inden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getche</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getch</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a:t>
            </a:r>
          </a:p>
          <a:p>
            <a:pPr marL="0" indent="0">
              <a:buNone/>
            </a:pPr>
            <a:endParaRPr lang="en-IN" dirty="0">
              <a:solidFill>
                <a:srgbClr val="FF0000"/>
              </a:solidFill>
              <a:latin typeface="Times New Roman" panose="02020603050405020304" pitchFamily="18" charset="0"/>
              <a:cs typeface="Times New Roman" panose="02020603050405020304" pitchFamily="18" charset="0"/>
            </a:endParaRPr>
          </a:p>
          <a:p>
            <a:pPr marL="0" indent="0">
              <a:buNone/>
            </a:pPr>
            <a:r>
              <a:rPr lang="en-IN" dirty="0">
                <a:solidFill>
                  <a:srgbClr val="FF0000"/>
                </a:solidFill>
                <a:latin typeface="Times New Roman" panose="02020603050405020304" pitchFamily="18" charset="0"/>
                <a:cs typeface="Times New Roman" panose="02020603050405020304" pitchFamily="18" charset="0"/>
              </a:rPr>
              <a:t>Output</a:t>
            </a:r>
          </a:p>
          <a:p>
            <a:pPr marL="0" indent="0">
              <a:buNone/>
            </a:pPr>
            <a:r>
              <a:rPr lang="en-IN" dirty="0">
                <a:latin typeface="Times New Roman" panose="02020603050405020304" pitchFamily="18" charset="0"/>
                <a:cs typeface="Times New Roman" panose="02020603050405020304" pitchFamily="18" charset="0"/>
              </a:rPr>
              <a:t>Enter two alphabets a b</a:t>
            </a:r>
          </a:p>
          <a:p>
            <a:pPr marL="0" indent="0">
              <a:buNone/>
            </a:pPr>
            <a:r>
              <a:rPr lang="en-IN" dirty="0">
                <a:latin typeface="Times New Roman" panose="02020603050405020304" pitchFamily="18" charset="0"/>
                <a:cs typeface="Times New Roman" panose="02020603050405020304" pitchFamily="18" charset="0"/>
              </a:rPr>
              <a:t>a</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557814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5D990F-331A-4A0A-81CC-AE70AB677357}"/>
              </a:ext>
            </a:extLst>
          </p:cNvPr>
          <p:cNvSpPr>
            <a:spLocks noGrp="1"/>
          </p:cNvSpPr>
          <p:nvPr>
            <p:ph type="title"/>
          </p:nvPr>
        </p:nvSpPr>
        <p:spPr/>
        <p:txBody>
          <a:bodyPr/>
          <a:lstStyle/>
          <a:p>
            <a:r>
              <a:rPr lang="en-IN" dirty="0"/>
              <a:t>	           </a:t>
            </a:r>
            <a:r>
              <a:rPr lang="en-IN" dirty="0" err="1"/>
              <a:t>putchar</a:t>
            </a:r>
            <a:r>
              <a:rPr lang="en-IN" dirty="0"/>
              <a:t>()</a:t>
            </a:r>
          </a:p>
        </p:txBody>
      </p:sp>
      <p:sp>
        <p:nvSpPr>
          <p:cNvPr id="3" name="Content Placeholder 2">
            <a:extLst>
              <a:ext uri="{FF2B5EF4-FFF2-40B4-BE49-F238E27FC236}">
                <a16:creationId xmlns:a16="http://schemas.microsoft.com/office/drawing/2014/main" xmlns="" id="{5FFF7911-DB85-4A1C-AFB7-587FA6C3C5E3}"/>
              </a:ext>
            </a:extLst>
          </p:cNvPr>
          <p:cNvSpPr>
            <a:spLocks noGrp="1"/>
          </p:cNvSpPr>
          <p:nvPr>
            <p:ph sz="half" idx="1"/>
          </p:nvPr>
        </p:nvSpPr>
        <p:spPr>
          <a:xfrm>
            <a:off x="1237956" y="1825625"/>
            <a:ext cx="6049109" cy="4351338"/>
          </a:xfrm>
        </p:spPr>
        <p:txBody>
          <a:bodyPr>
            <a:normAutofit fontScale="77500" lnSpcReduction="20000"/>
          </a:bodyPr>
          <a:lstStyle/>
          <a:p>
            <a:pPr algn="just"/>
            <a:r>
              <a:rPr lang="en-US" dirty="0">
                <a:latin typeface="Times New Roman" panose="02020603050405020304" pitchFamily="18" charset="0"/>
                <a:cs typeface="Times New Roman" panose="02020603050405020304" pitchFamily="18" charset="0"/>
              </a:rPr>
              <a:t>This function prints one character on the screen at a time which is read by standard input.</a:t>
            </a:r>
          </a:p>
          <a:p>
            <a:r>
              <a:rPr lang="en-US" dirty="0">
                <a:solidFill>
                  <a:srgbClr val="FF0000"/>
                </a:solidFill>
                <a:latin typeface="Times New Roman" panose="02020603050405020304" pitchFamily="18" charset="0"/>
                <a:cs typeface="Times New Roman" panose="02020603050405020304" pitchFamily="18" charset="0"/>
              </a:rPr>
              <a:t>Syntax:</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putchar</a:t>
            </a:r>
            <a:r>
              <a:rPr lang="en-US" dirty="0">
                <a:latin typeface="Times New Roman" panose="02020603050405020304" pitchFamily="18" charset="0"/>
                <a:cs typeface="Times New Roman" panose="02020603050405020304" pitchFamily="18" charset="0"/>
              </a:rPr>
              <a:t>( variable name);</a:t>
            </a:r>
            <a:endParaRPr lang="en-IN" dirty="0">
              <a:latin typeface="Times New Roman" panose="02020603050405020304" pitchFamily="18" charset="0"/>
              <a:cs typeface="Times New Roman" panose="02020603050405020304" pitchFamily="18" charset="0"/>
            </a:endParaRPr>
          </a:p>
          <a:p>
            <a:r>
              <a:rPr lang="en-US" dirty="0">
                <a:solidFill>
                  <a:srgbClr val="FF0000"/>
                </a:solidFill>
                <a:latin typeface="Times New Roman" panose="02020603050405020304" pitchFamily="18" charset="0"/>
                <a:cs typeface="Times New Roman" panose="02020603050405020304" pitchFamily="18" charset="0"/>
              </a:rPr>
              <a:t>Example: </a:t>
            </a:r>
          </a:p>
          <a:p>
            <a:pPr marL="0" indent="0">
              <a:buNone/>
            </a:pPr>
            <a:r>
              <a:rPr lang="en-US" dirty="0">
                <a:latin typeface="Times New Roman" panose="02020603050405020304" pitchFamily="18" charset="0"/>
                <a:cs typeface="Times New Roman" panose="02020603050405020304" pitchFamily="18" charset="0"/>
              </a:rPr>
              <a:t>       char c= ‘c’;</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putchar</a:t>
            </a:r>
            <a:r>
              <a:rPr lang="en-US" dirty="0">
                <a:latin typeface="Times New Roman" panose="02020603050405020304" pitchFamily="18" charset="0"/>
                <a:cs typeface="Times New Roman" panose="02020603050405020304" pitchFamily="18" charset="0"/>
              </a:rPr>
              <a:t>(c);</a:t>
            </a:r>
          </a:p>
        </p:txBody>
      </p:sp>
      <p:sp>
        <p:nvSpPr>
          <p:cNvPr id="4" name="Content Placeholder 3">
            <a:extLst>
              <a:ext uri="{FF2B5EF4-FFF2-40B4-BE49-F238E27FC236}">
                <a16:creationId xmlns:a16="http://schemas.microsoft.com/office/drawing/2014/main" xmlns="" id="{846F1C20-5D04-4E5B-AC6E-5BFC5FD67CB0}"/>
              </a:ext>
            </a:extLst>
          </p:cNvPr>
          <p:cNvSpPr>
            <a:spLocks noGrp="1"/>
          </p:cNvSpPr>
          <p:nvPr>
            <p:ph sz="half" idx="2"/>
          </p:nvPr>
        </p:nvSpPr>
        <p:spPr>
          <a:xfrm>
            <a:off x="7582486" y="1825625"/>
            <a:ext cx="4318782" cy="4351338"/>
          </a:xfrm>
        </p:spPr>
        <p:txBody>
          <a:bodyPr>
            <a:normAutofit fontScale="77500" lnSpcReduction="20000"/>
          </a:bodyPr>
          <a:lstStyle/>
          <a:p>
            <a:pPr marL="0" indent="0">
              <a:buNone/>
            </a:pPr>
            <a:r>
              <a:rPr lang="en-IN" dirty="0">
                <a:latin typeface="Times New Roman" panose="02020603050405020304" pitchFamily="18" charset="0"/>
                <a:cs typeface="Times New Roman" panose="02020603050405020304" pitchFamily="18" charset="0"/>
              </a:rPr>
              <a:t>#include&lt;</a:t>
            </a:r>
            <a:r>
              <a:rPr lang="en-IN" dirty="0" err="1">
                <a:latin typeface="Times New Roman" panose="02020603050405020304" pitchFamily="18" charset="0"/>
                <a:cs typeface="Times New Roman" panose="02020603050405020304" pitchFamily="18" charset="0"/>
              </a:rPr>
              <a:t>stdio.h</a:t>
            </a:r>
            <a:r>
              <a:rPr lang="en-IN" dirty="0">
                <a:latin typeface="Times New Roman" panose="02020603050405020304" pitchFamily="18" charset="0"/>
                <a:cs typeface="Times New Roman" panose="02020603050405020304" pitchFamily="18" charset="0"/>
              </a:rPr>
              <a:t>&gt;</a:t>
            </a:r>
          </a:p>
          <a:p>
            <a:pPr marL="0" indent="0">
              <a:buNone/>
            </a:pPr>
            <a:r>
              <a:rPr lang="en-IN" dirty="0">
                <a:latin typeface="Times New Roman" panose="02020603050405020304" pitchFamily="18" charset="0"/>
                <a:cs typeface="Times New Roman" panose="02020603050405020304" pitchFamily="18" charset="0"/>
              </a:rPr>
              <a:t>void main()</a:t>
            </a:r>
          </a:p>
          <a:p>
            <a:pPr marL="0" indent="0">
              <a:buNone/>
            </a:pP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char </a:t>
            </a:r>
            <a:r>
              <a:rPr lang="en-IN" dirty="0" err="1">
                <a:latin typeface="Times New Roman" panose="02020603050405020304" pitchFamily="18" charset="0"/>
                <a:cs typeface="Times New Roman" panose="02020603050405020304" pitchFamily="18" charset="0"/>
              </a:rPr>
              <a:t>ch</a:t>
            </a:r>
            <a:r>
              <a:rPr lang="en-IN" dirty="0">
                <a:latin typeface="Times New Roman" panose="02020603050405020304" pitchFamily="18" charset="0"/>
                <a:cs typeface="Times New Roman" panose="02020603050405020304" pitchFamily="18" charset="0"/>
              </a:rPr>
              <a:t>;</a:t>
            </a:r>
          </a:p>
          <a:p>
            <a:pPr marL="0" indent="0">
              <a:buNone/>
            </a:pP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(“Enter a character: ”);</a:t>
            </a:r>
          </a:p>
          <a:p>
            <a:pPr marL="0" indent="0">
              <a:buNone/>
            </a:pPr>
            <a:r>
              <a:rPr lang="en-IN" dirty="0" err="1">
                <a:latin typeface="Times New Roman" panose="02020603050405020304" pitchFamily="18" charset="0"/>
                <a:cs typeface="Times New Roman" panose="02020603050405020304" pitchFamily="18" charset="0"/>
              </a:rPr>
              <a:t>scanf</a:t>
            </a:r>
            <a:r>
              <a:rPr lang="en-IN" dirty="0">
                <a:latin typeface="Times New Roman" panose="02020603050405020304" pitchFamily="18" charset="0"/>
                <a:cs typeface="Times New Roman" panose="02020603050405020304" pitchFamily="18" charset="0"/>
              </a:rPr>
              <a:t>(“%c”, </a:t>
            </a:r>
            <a:r>
              <a:rPr lang="en-IN" dirty="0" err="1">
                <a:latin typeface="Times New Roman" panose="02020603050405020304" pitchFamily="18" charset="0"/>
                <a:cs typeface="Times New Roman" panose="02020603050405020304" pitchFamily="18" charset="0"/>
              </a:rPr>
              <a:t>ch</a:t>
            </a:r>
            <a:r>
              <a:rPr lang="en-IN" dirty="0">
                <a:latin typeface="Times New Roman" panose="02020603050405020304" pitchFamily="18" charset="0"/>
                <a:cs typeface="Times New Roman" panose="02020603050405020304" pitchFamily="18" charset="0"/>
              </a:rPr>
              <a:t>);</a:t>
            </a:r>
          </a:p>
          <a:p>
            <a:pPr marL="0" indent="0">
              <a:buNone/>
            </a:pPr>
            <a:r>
              <a:rPr lang="en-IN" dirty="0" err="1">
                <a:latin typeface="Times New Roman" panose="02020603050405020304" pitchFamily="18" charset="0"/>
                <a:cs typeface="Times New Roman" panose="02020603050405020304" pitchFamily="18" charset="0"/>
              </a:rPr>
              <a:t>putchar</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ch</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a:t>
            </a:r>
          </a:p>
          <a:p>
            <a:pPr marL="0" indent="0">
              <a:buNone/>
            </a:pPr>
            <a:endParaRPr lang="en-IN" dirty="0">
              <a:solidFill>
                <a:srgbClr val="FF0000"/>
              </a:solidFill>
              <a:latin typeface="Times New Roman" panose="02020603050405020304" pitchFamily="18" charset="0"/>
              <a:cs typeface="Times New Roman" panose="02020603050405020304" pitchFamily="18" charset="0"/>
            </a:endParaRPr>
          </a:p>
          <a:p>
            <a:pPr marL="0" indent="0">
              <a:buNone/>
            </a:pPr>
            <a:r>
              <a:rPr lang="en-IN" dirty="0">
                <a:solidFill>
                  <a:srgbClr val="FF0000"/>
                </a:solidFill>
                <a:latin typeface="Times New Roman" panose="02020603050405020304" pitchFamily="18" charset="0"/>
                <a:cs typeface="Times New Roman" panose="02020603050405020304" pitchFamily="18" charset="0"/>
              </a:rPr>
              <a:t>Output</a:t>
            </a:r>
          </a:p>
          <a:p>
            <a:pPr marL="0" indent="0">
              <a:buNone/>
            </a:pPr>
            <a:r>
              <a:rPr lang="en-IN" dirty="0">
                <a:latin typeface="Times New Roman" panose="02020603050405020304" pitchFamily="18" charset="0"/>
                <a:cs typeface="Times New Roman" panose="02020603050405020304" pitchFamily="18" charset="0"/>
              </a:rPr>
              <a:t>Enter a character: r</a:t>
            </a:r>
          </a:p>
          <a:p>
            <a:pPr marL="0" indent="0">
              <a:buNone/>
            </a:pPr>
            <a:r>
              <a:rPr lang="en-IN" dirty="0">
                <a:latin typeface="Times New Roman" panose="02020603050405020304" pitchFamily="18" charset="0"/>
                <a:cs typeface="Times New Roman" panose="02020603050405020304" pitchFamily="18" charset="0"/>
              </a:rPr>
              <a:t>r</a:t>
            </a:r>
          </a:p>
        </p:txBody>
      </p:sp>
    </p:spTree>
    <p:extLst>
      <p:ext uri="{BB962C8B-B14F-4D97-AF65-F5344CB8AC3E}">
        <p14:creationId xmlns:p14="http://schemas.microsoft.com/office/powerpoint/2010/main" val="274947791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EB93E9-95E3-4745-932B-9F907F6B3DFB}"/>
              </a:ext>
            </a:extLst>
          </p:cNvPr>
          <p:cNvSpPr>
            <a:spLocks noGrp="1"/>
          </p:cNvSpPr>
          <p:nvPr>
            <p:ph type="title"/>
          </p:nvPr>
        </p:nvSpPr>
        <p:spPr/>
        <p:txBody>
          <a:bodyPr/>
          <a:lstStyle/>
          <a:p>
            <a:pPr algn="ctr"/>
            <a:r>
              <a:rPr lang="en-US" dirty="0" err="1"/>
              <a:t>putch</a:t>
            </a:r>
            <a:r>
              <a:rPr lang="en-US" dirty="0"/>
              <a:t>() </a:t>
            </a:r>
            <a:endParaRPr lang="en-IN" dirty="0"/>
          </a:p>
        </p:txBody>
      </p:sp>
      <p:sp>
        <p:nvSpPr>
          <p:cNvPr id="3" name="Content Placeholder 2">
            <a:extLst>
              <a:ext uri="{FF2B5EF4-FFF2-40B4-BE49-F238E27FC236}">
                <a16:creationId xmlns:a16="http://schemas.microsoft.com/office/drawing/2014/main" xmlns="" id="{6612FF1E-9F6C-4C74-830B-0212E1668344}"/>
              </a:ext>
            </a:extLst>
          </p:cNvPr>
          <p:cNvSpPr>
            <a:spLocks noGrp="1"/>
          </p:cNvSpPr>
          <p:nvPr>
            <p:ph sz="half" idx="1"/>
          </p:nvPr>
        </p:nvSpPr>
        <p:spPr>
          <a:xfrm>
            <a:off x="1336430" y="1825625"/>
            <a:ext cx="3991473" cy="4351338"/>
          </a:xfrm>
        </p:spPr>
        <p:txBody>
          <a:bodyPr>
            <a:normAutofit/>
          </a:bodyPr>
          <a:lstStyle/>
          <a:p>
            <a:r>
              <a:rPr lang="en-US" sz="2600" dirty="0">
                <a:latin typeface="Times New Roman" panose="02020603050405020304" pitchFamily="18" charset="0"/>
                <a:cs typeface="Times New Roman" panose="02020603050405020304" pitchFamily="18" charset="0"/>
              </a:rPr>
              <a:t>This function prints any alphanumeric character taken by the standard input device</a:t>
            </a:r>
          </a:p>
          <a:p>
            <a:r>
              <a:rPr lang="en-US" sz="2400" dirty="0">
                <a:solidFill>
                  <a:srgbClr val="FF0000"/>
                </a:solidFill>
                <a:latin typeface="Times New Roman" panose="02020603050405020304" pitchFamily="18" charset="0"/>
                <a:cs typeface="Times New Roman" panose="02020603050405020304" pitchFamily="18" charset="0"/>
              </a:rPr>
              <a:t>Syntax:</a:t>
            </a:r>
          </a:p>
          <a:p>
            <a:pPr marL="0" indent="0">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putch</a:t>
            </a:r>
            <a:r>
              <a:rPr lang="en-US" sz="2400" dirty="0">
                <a:latin typeface="Times New Roman" panose="02020603050405020304" pitchFamily="18" charset="0"/>
                <a:cs typeface="Times New Roman" panose="02020603050405020304" pitchFamily="18" charset="0"/>
              </a:rPr>
              <a:t>( variable name);</a:t>
            </a:r>
            <a:endParaRPr lang="en-IN" sz="2400" dirty="0">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Example: </a:t>
            </a:r>
          </a:p>
          <a:p>
            <a:pPr marL="0" indent="0">
              <a:buNone/>
            </a:pPr>
            <a:r>
              <a:rPr lang="en-US" sz="2400" dirty="0">
                <a:latin typeface="Times New Roman" panose="02020603050405020304" pitchFamily="18" charset="0"/>
                <a:cs typeface="Times New Roman" panose="02020603050405020304" pitchFamily="18" charset="0"/>
              </a:rPr>
              <a:t>       char c= ‘c’;</a:t>
            </a:r>
          </a:p>
          <a:p>
            <a:pPr marL="0" indent="0">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putch</a:t>
            </a:r>
            <a:r>
              <a:rPr lang="en-US" sz="2400" dirty="0">
                <a:latin typeface="Times New Roman" panose="02020603050405020304" pitchFamily="18" charset="0"/>
                <a:cs typeface="Times New Roman" panose="02020603050405020304" pitchFamily="18" charset="0"/>
              </a:rPr>
              <a:t>(c);</a:t>
            </a:r>
          </a:p>
          <a:p>
            <a:endParaRPr lang="en-IN" sz="26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xmlns="" id="{DBD344F9-DBFA-48B1-90B3-5A2969B633F4}"/>
              </a:ext>
            </a:extLst>
          </p:cNvPr>
          <p:cNvSpPr>
            <a:spLocks noGrp="1"/>
          </p:cNvSpPr>
          <p:nvPr>
            <p:ph sz="half" idx="2"/>
          </p:nvPr>
        </p:nvSpPr>
        <p:spPr/>
        <p:txBody>
          <a:bodyPr>
            <a:normAutofit/>
          </a:bodyPr>
          <a:lstStyle/>
          <a:p>
            <a:pPr marL="0" indent="0">
              <a:buNone/>
            </a:pPr>
            <a:r>
              <a:rPr lang="en-US" sz="1600" dirty="0"/>
              <a:t>Program</a:t>
            </a:r>
          </a:p>
          <a:p>
            <a:pPr marL="0" indent="0">
              <a:buNone/>
            </a:pPr>
            <a:r>
              <a:rPr lang="en-US" sz="1600" dirty="0"/>
              <a:t>#include&lt;</a:t>
            </a:r>
            <a:r>
              <a:rPr lang="en-US" sz="1600" dirty="0" err="1"/>
              <a:t>stdio.h</a:t>
            </a:r>
            <a:r>
              <a:rPr lang="en-US" sz="1600" dirty="0"/>
              <a:t>&gt;</a:t>
            </a:r>
          </a:p>
          <a:p>
            <a:pPr marL="0" indent="0">
              <a:buNone/>
            </a:pPr>
            <a:r>
              <a:rPr lang="en-US" sz="1600" dirty="0"/>
              <a:t>void main()</a:t>
            </a:r>
          </a:p>
          <a:p>
            <a:pPr marL="0" indent="0">
              <a:buNone/>
            </a:pPr>
            <a:r>
              <a:rPr lang="en-US" sz="1600" dirty="0"/>
              <a:t>{</a:t>
            </a:r>
          </a:p>
          <a:p>
            <a:pPr marL="0" indent="0">
              <a:buNone/>
            </a:pPr>
            <a:r>
              <a:rPr lang="en-US" sz="1600" dirty="0"/>
              <a:t>char </a:t>
            </a:r>
            <a:r>
              <a:rPr lang="en-US" sz="1600" dirty="0" err="1"/>
              <a:t>ch</a:t>
            </a:r>
            <a:r>
              <a:rPr lang="en-US" sz="1600" dirty="0"/>
              <a:t>;</a:t>
            </a:r>
          </a:p>
          <a:p>
            <a:pPr marL="0" indent="0">
              <a:buNone/>
            </a:pPr>
            <a:r>
              <a:rPr lang="en-US" sz="1600" dirty="0" err="1"/>
              <a:t>printf</a:t>
            </a:r>
            <a:r>
              <a:rPr lang="en-US" sz="1600" dirty="0"/>
              <a:t>(“Press any key to continue”);</a:t>
            </a:r>
          </a:p>
          <a:p>
            <a:pPr marL="0" indent="0">
              <a:buNone/>
            </a:pPr>
            <a:r>
              <a:rPr lang="en-US" sz="1600" dirty="0" err="1"/>
              <a:t>ch</a:t>
            </a:r>
            <a:r>
              <a:rPr lang="en-US" sz="1600" dirty="0"/>
              <a:t> = </a:t>
            </a:r>
            <a:r>
              <a:rPr lang="en-US" sz="1600" dirty="0" err="1"/>
              <a:t>getch</a:t>
            </a:r>
            <a:r>
              <a:rPr lang="en-US" sz="1600" dirty="0"/>
              <a:t>();</a:t>
            </a:r>
          </a:p>
          <a:p>
            <a:pPr marL="0" indent="0">
              <a:buNone/>
            </a:pPr>
            <a:r>
              <a:rPr lang="en-US" sz="1600" dirty="0" err="1"/>
              <a:t>printf</a:t>
            </a:r>
            <a:r>
              <a:rPr lang="en-US" sz="1600" dirty="0"/>
              <a:t>(“ you pressed:”);</a:t>
            </a:r>
          </a:p>
          <a:p>
            <a:pPr marL="0" indent="0">
              <a:buNone/>
            </a:pPr>
            <a:r>
              <a:rPr lang="en-US" sz="1600" dirty="0" err="1"/>
              <a:t>putch</a:t>
            </a:r>
            <a:r>
              <a:rPr lang="en-US" sz="1600" dirty="0"/>
              <a:t>(</a:t>
            </a:r>
            <a:r>
              <a:rPr lang="en-US" sz="1600" dirty="0" err="1"/>
              <a:t>ch</a:t>
            </a:r>
            <a:r>
              <a:rPr lang="en-US" sz="1600" dirty="0"/>
              <a:t>);</a:t>
            </a:r>
          </a:p>
          <a:p>
            <a:pPr marL="0" indent="0">
              <a:buNone/>
            </a:pPr>
            <a:r>
              <a:rPr lang="en-US" sz="1600" dirty="0"/>
              <a:t>}</a:t>
            </a:r>
          </a:p>
          <a:p>
            <a:pPr marL="0" indent="0">
              <a:buNone/>
            </a:pPr>
            <a:endParaRPr lang="en-US" sz="1600" dirty="0"/>
          </a:p>
          <a:p>
            <a:pPr marL="0" indent="0">
              <a:buNone/>
            </a:pPr>
            <a:r>
              <a:rPr lang="en-US" sz="1600" dirty="0">
                <a:solidFill>
                  <a:srgbClr val="FF0000"/>
                </a:solidFill>
              </a:rPr>
              <a:t>Output:</a:t>
            </a:r>
          </a:p>
          <a:p>
            <a:pPr marL="0" indent="0">
              <a:buNone/>
            </a:pPr>
            <a:r>
              <a:rPr lang="en-US" sz="1600" dirty="0"/>
              <a:t>Press any key to continue</a:t>
            </a:r>
          </a:p>
          <a:p>
            <a:pPr marL="0" indent="0">
              <a:buNone/>
            </a:pPr>
            <a:r>
              <a:rPr lang="en-US" sz="1600" dirty="0"/>
              <a:t>You pressed : e</a:t>
            </a:r>
            <a:endParaRPr lang="en-IN" sz="1600" dirty="0"/>
          </a:p>
        </p:txBody>
      </p:sp>
    </p:spTree>
    <p:extLst>
      <p:ext uri="{BB962C8B-B14F-4D97-AF65-F5344CB8AC3E}">
        <p14:creationId xmlns:p14="http://schemas.microsoft.com/office/powerpoint/2010/main" val="117247152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31A5DE-646A-44C9-B76D-82DA0B839F61}"/>
              </a:ext>
            </a:extLst>
          </p:cNvPr>
          <p:cNvSpPr>
            <a:spLocks noGrp="1"/>
          </p:cNvSpPr>
          <p:nvPr>
            <p:ph type="title"/>
          </p:nvPr>
        </p:nvSpPr>
        <p:spPr/>
        <p:txBody>
          <a:bodyPr/>
          <a:lstStyle/>
          <a:p>
            <a:pPr algn="ctr"/>
            <a:r>
              <a:rPr lang="en-IN" dirty="0"/>
              <a:t>gets()</a:t>
            </a:r>
          </a:p>
        </p:txBody>
      </p:sp>
      <p:sp>
        <p:nvSpPr>
          <p:cNvPr id="3" name="Content Placeholder 2">
            <a:extLst>
              <a:ext uri="{FF2B5EF4-FFF2-40B4-BE49-F238E27FC236}">
                <a16:creationId xmlns:a16="http://schemas.microsoft.com/office/drawing/2014/main" xmlns="" id="{89894D18-1FB4-436B-845D-79EB6C54CEC6}"/>
              </a:ext>
            </a:extLst>
          </p:cNvPr>
          <p:cNvSpPr>
            <a:spLocks noGrp="1"/>
          </p:cNvSpPr>
          <p:nvPr>
            <p:ph sz="half" idx="1"/>
          </p:nvPr>
        </p:nvSpPr>
        <p:spPr>
          <a:xfrm>
            <a:off x="1280160" y="1825625"/>
            <a:ext cx="5134708" cy="4351338"/>
          </a:xfrm>
        </p:spPr>
        <p:txBody>
          <a:bodyPr>
            <a:normAutofit fontScale="70000" lnSpcReduction="20000"/>
          </a:bodyPr>
          <a:lstStyle/>
          <a:p>
            <a:pPr marL="0" indent="0">
              <a:buNone/>
            </a:pPr>
            <a:r>
              <a:rPr lang="en-US" dirty="0">
                <a:solidFill>
                  <a:srgbClr val="FF0000"/>
                </a:solidFill>
              </a:rPr>
              <a:t>String I/O</a:t>
            </a:r>
          </a:p>
          <a:p>
            <a:pPr marL="0" indent="0">
              <a:buNone/>
            </a:pPr>
            <a:r>
              <a:rPr lang="en-US" dirty="0"/>
              <a:t>      This function is used for accepting any string( stream of characters) until enter key is pressed </a:t>
            </a:r>
          </a:p>
          <a:p>
            <a:pPr marL="0" indent="0">
              <a:buNone/>
            </a:pPr>
            <a:endParaRPr lang="en-US" dirty="0"/>
          </a:p>
          <a:p>
            <a:pPr marL="0" indent="0">
              <a:buNone/>
            </a:pPr>
            <a:r>
              <a:rPr lang="en-US" dirty="0">
                <a:solidFill>
                  <a:srgbClr val="FF0000"/>
                </a:solidFill>
              </a:rPr>
              <a:t>Syntax</a:t>
            </a:r>
          </a:p>
          <a:p>
            <a:pPr marL="0" indent="0">
              <a:buNone/>
            </a:pPr>
            <a:r>
              <a:rPr lang="en-US" dirty="0"/>
              <a:t>    	char str[length of string in number];</a:t>
            </a:r>
          </a:p>
          <a:p>
            <a:pPr marL="0" indent="0">
              <a:buNone/>
            </a:pPr>
            <a:r>
              <a:rPr lang="en-US" dirty="0"/>
              <a:t>    	gets(str);</a:t>
            </a:r>
          </a:p>
          <a:p>
            <a:pPr marL="0" indent="0">
              <a:buNone/>
            </a:pPr>
            <a:r>
              <a:rPr lang="en-US" dirty="0">
                <a:solidFill>
                  <a:srgbClr val="FF0000"/>
                </a:solidFill>
              </a:rPr>
              <a:t>Example:</a:t>
            </a:r>
          </a:p>
          <a:p>
            <a:pPr marL="0" indent="0">
              <a:buNone/>
            </a:pPr>
            <a:r>
              <a:rPr lang="en-US" dirty="0"/>
              <a:t>	char name[15];</a:t>
            </a:r>
          </a:p>
          <a:p>
            <a:pPr marL="0" indent="0">
              <a:buNone/>
            </a:pPr>
            <a:r>
              <a:rPr lang="en-US" dirty="0"/>
              <a:t>	gets(name);</a:t>
            </a:r>
            <a:endParaRPr lang="en-IN" dirty="0"/>
          </a:p>
        </p:txBody>
      </p:sp>
      <p:sp>
        <p:nvSpPr>
          <p:cNvPr id="4" name="Content Placeholder 3">
            <a:extLst>
              <a:ext uri="{FF2B5EF4-FFF2-40B4-BE49-F238E27FC236}">
                <a16:creationId xmlns:a16="http://schemas.microsoft.com/office/drawing/2014/main" xmlns="" id="{C8873277-DA40-4744-86BD-D60AD2963311}"/>
              </a:ext>
            </a:extLst>
          </p:cNvPr>
          <p:cNvSpPr>
            <a:spLocks noGrp="1"/>
          </p:cNvSpPr>
          <p:nvPr>
            <p:ph sz="half" idx="2"/>
          </p:nvPr>
        </p:nvSpPr>
        <p:spPr>
          <a:xfrm>
            <a:off x="6678637" y="1825625"/>
            <a:ext cx="4489704" cy="4351338"/>
          </a:xfrm>
        </p:spPr>
        <p:txBody>
          <a:bodyPr>
            <a:normAutofit fontScale="70000" lnSpcReduction="20000"/>
          </a:bodyPr>
          <a:lstStyle/>
          <a:p>
            <a:pPr marL="0" indent="0">
              <a:buNone/>
            </a:pPr>
            <a:r>
              <a:rPr lang="en-US" b="1" dirty="0">
                <a:latin typeface="Times New Roman" panose="02020603050405020304" pitchFamily="18" charset="0"/>
                <a:cs typeface="Times New Roman" panose="02020603050405020304" pitchFamily="18" charset="0"/>
              </a:rPr>
              <a:t>Program</a:t>
            </a:r>
          </a:p>
          <a:p>
            <a:pPr marL="0" indent="0">
              <a:buNone/>
            </a:pPr>
            <a:r>
              <a:rPr lang="en-US" dirty="0">
                <a:latin typeface="Times New Roman" panose="02020603050405020304" pitchFamily="18" charset="0"/>
                <a:cs typeface="Times New Roman" panose="02020603050405020304" pitchFamily="18" charset="0"/>
              </a:rPr>
              <a:t>#include&lt;</a:t>
            </a:r>
            <a:r>
              <a:rPr lang="en-US" dirty="0" err="1">
                <a:latin typeface="Times New Roman" panose="02020603050405020304" pitchFamily="18" charset="0"/>
                <a:cs typeface="Times New Roman" panose="02020603050405020304" pitchFamily="18" charset="0"/>
              </a:rPr>
              <a:t>stdio.h</a:t>
            </a:r>
            <a:r>
              <a:rPr lang="en-US" dirty="0">
                <a:latin typeface="Times New Roman" panose="02020603050405020304" pitchFamily="18" charset="0"/>
                <a:cs typeface="Times New Roman" panose="02020603050405020304" pitchFamily="18" charset="0"/>
              </a:rPr>
              <a:t>&gt;</a:t>
            </a:r>
          </a:p>
          <a:p>
            <a:pPr marL="0" indent="0">
              <a:buNone/>
            </a:pPr>
            <a:r>
              <a:rPr lang="en-US" dirty="0">
                <a:latin typeface="Times New Roman" panose="02020603050405020304" pitchFamily="18" charset="0"/>
                <a:cs typeface="Times New Roman" panose="02020603050405020304" pitchFamily="18" charset="0"/>
              </a:rPr>
              <a:t>void main()</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char </a:t>
            </a:r>
            <a:r>
              <a:rPr lang="en-US" dirty="0" err="1">
                <a:latin typeface="Times New Roman" panose="02020603050405020304" pitchFamily="18" charset="0"/>
                <a:cs typeface="Times New Roman" panose="02020603050405020304" pitchFamily="18" charset="0"/>
              </a:rPr>
              <a:t>ch</a:t>
            </a:r>
            <a:r>
              <a:rPr lang="en-US" dirty="0">
                <a:latin typeface="Times New Roman" panose="02020603050405020304" pitchFamily="18" charset="0"/>
                <a:cs typeface="Times New Roman" panose="02020603050405020304" pitchFamily="18" charset="0"/>
              </a:rPr>
              <a:t>[30];</a:t>
            </a:r>
          </a:p>
          <a:p>
            <a:pPr marL="0" indent="0">
              <a:buNone/>
            </a:pPr>
            <a:r>
              <a:rPr lang="en-US" dirty="0" err="1">
                <a:latin typeface="Times New Roman" panose="02020603050405020304" pitchFamily="18" charset="0"/>
                <a:cs typeface="Times New Roman" panose="02020603050405020304" pitchFamily="18" charset="0"/>
              </a:rPr>
              <a:t>printf</a:t>
            </a:r>
            <a:r>
              <a:rPr lang="en-US" dirty="0">
                <a:latin typeface="Times New Roman" panose="02020603050405020304" pitchFamily="18" charset="0"/>
                <a:cs typeface="Times New Roman" panose="02020603050405020304" pitchFamily="18" charset="0"/>
              </a:rPr>
              <a:t>(“Enter the string:”);</a:t>
            </a:r>
          </a:p>
          <a:p>
            <a:pPr marL="0" indent="0">
              <a:buNone/>
            </a:pPr>
            <a:r>
              <a:rPr lang="en-US" dirty="0">
                <a:latin typeface="Times New Roman" panose="02020603050405020304" pitchFamily="18" charset="0"/>
                <a:cs typeface="Times New Roman" panose="02020603050405020304" pitchFamily="18" charset="0"/>
              </a:rPr>
              <a:t>gets(</a:t>
            </a:r>
            <a:r>
              <a:rPr lang="en-US" dirty="0" err="1">
                <a:latin typeface="Times New Roman" panose="02020603050405020304" pitchFamily="18" charset="0"/>
                <a:cs typeface="Times New Roman" panose="02020603050405020304" pitchFamily="18" charset="0"/>
              </a:rPr>
              <a:t>ch</a:t>
            </a:r>
            <a:r>
              <a:rPr lang="en-US" dirty="0">
                <a:latin typeface="Times New Roman" panose="02020603050405020304" pitchFamily="18" charset="0"/>
                <a:cs typeface="Times New Roman" panose="02020603050405020304" pitchFamily="18" charset="0"/>
              </a:rPr>
              <a:t>);</a:t>
            </a:r>
          </a:p>
          <a:p>
            <a:pPr marL="0" indent="0">
              <a:buNone/>
            </a:pPr>
            <a:r>
              <a:rPr lang="en-US" dirty="0" err="1">
                <a:latin typeface="Times New Roman" panose="02020603050405020304" pitchFamily="18" charset="0"/>
                <a:cs typeface="Times New Roman" panose="02020603050405020304" pitchFamily="18" charset="0"/>
              </a:rPr>
              <a:t>printf</a:t>
            </a:r>
            <a:r>
              <a:rPr lang="en-US" dirty="0">
                <a:latin typeface="Times New Roman" panose="02020603050405020304" pitchFamily="18" charset="0"/>
                <a:cs typeface="Times New Roman" panose="02020603050405020304" pitchFamily="18" charset="0"/>
              </a:rPr>
              <a:t>(“Entered string: %s”, </a:t>
            </a:r>
            <a:r>
              <a:rPr lang="en-US" dirty="0" err="1">
                <a:latin typeface="Times New Roman" panose="02020603050405020304" pitchFamily="18" charset="0"/>
                <a:cs typeface="Times New Roman" panose="02020603050405020304" pitchFamily="18" charset="0"/>
              </a:rPr>
              <a:t>ch</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a:t>
            </a:r>
          </a:p>
          <a:p>
            <a:pPr marL="0" indent="0">
              <a:buNone/>
            </a:pP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r>
              <a:rPr lang="en-US" dirty="0">
                <a:solidFill>
                  <a:srgbClr val="FF0000"/>
                </a:solidFill>
                <a:latin typeface="Times New Roman" panose="02020603050405020304" pitchFamily="18" charset="0"/>
                <a:cs typeface="Times New Roman" panose="02020603050405020304" pitchFamily="18" charset="0"/>
              </a:rPr>
              <a:t>Output:</a:t>
            </a:r>
          </a:p>
          <a:p>
            <a:pPr marL="0" indent="0">
              <a:buNone/>
            </a:pPr>
            <a:r>
              <a:rPr lang="en-US" dirty="0">
                <a:latin typeface="Times New Roman" panose="02020603050405020304" pitchFamily="18" charset="0"/>
                <a:cs typeface="Times New Roman" panose="02020603050405020304" pitchFamily="18" charset="0"/>
              </a:rPr>
              <a:t>Enter the string: Use of data!</a:t>
            </a:r>
          </a:p>
          <a:p>
            <a:pPr marL="0" indent="0">
              <a:buNone/>
            </a:pPr>
            <a:r>
              <a:rPr lang="en-US" dirty="0">
                <a:latin typeface="Times New Roman" panose="02020603050405020304" pitchFamily="18" charset="0"/>
                <a:cs typeface="Times New Roman" panose="02020603050405020304" pitchFamily="18" charset="0"/>
              </a:rPr>
              <a:t>Entered string: Use of data!</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099967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9B1487-A27F-4832-B01C-B2BAB006BA34}"/>
              </a:ext>
            </a:extLst>
          </p:cNvPr>
          <p:cNvSpPr>
            <a:spLocks noGrp="1"/>
          </p:cNvSpPr>
          <p:nvPr>
            <p:ph type="title"/>
          </p:nvPr>
        </p:nvSpPr>
        <p:spPr/>
        <p:txBody>
          <a:bodyPr>
            <a:normAutofit fontScale="90000"/>
          </a:bodyPr>
          <a:lstStyle/>
          <a:p>
            <a:pPr algn="ctr"/>
            <a:r>
              <a:rPr lang="en-US" dirty="0"/>
              <a:t>puts()</a:t>
            </a:r>
            <a:br>
              <a:rPr lang="en-US" dirty="0"/>
            </a:br>
            <a:endParaRPr lang="en-IN" dirty="0"/>
          </a:p>
        </p:txBody>
      </p:sp>
      <p:sp>
        <p:nvSpPr>
          <p:cNvPr id="3" name="Content Placeholder 2">
            <a:extLst>
              <a:ext uri="{FF2B5EF4-FFF2-40B4-BE49-F238E27FC236}">
                <a16:creationId xmlns:a16="http://schemas.microsoft.com/office/drawing/2014/main" xmlns="" id="{B44833CE-0F17-4134-856A-80FEEE674290}"/>
              </a:ext>
            </a:extLst>
          </p:cNvPr>
          <p:cNvSpPr>
            <a:spLocks noGrp="1"/>
          </p:cNvSpPr>
          <p:nvPr>
            <p:ph sz="half" idx="1"/>
          </p:nvPr>
        </p:nvSpPr>
        <p:spPr>
          <a:xfrm>
            <a:off x="1420836" y="1825625"/>
            <a:ext cx="5627078" cy="4351338"/>
          </a:xfrm>
        </p:spPr>
        <p:txBody>
          <a:bodyPr>
            <a:normAutofit/>
          </a:bodyPr>
          <a:lstStyle/>
          <a:p>
            <a:r>
              <a:rPr lang="en-US" dirty="0">
                <a:latin typeface="Times New Roman" panose="02020603050405020304" pitchFamily="18" charset="0"/>
                <a:cs typeface="Times New Roman" panose="02020603050405020304" pitchFamily="18" charset="0"/>
              </a:rPr>
              <a:t>This function prints the string or character array. </a:t>
            </a:r>
          </a:p>
          <a:p>
            <a:r>
              <a:rPr lang="en-US" dirty="0">
                <a:latin typeface="Times New Roman" panose="02020603050405020304" pitchFamily="18" charset="0"/>
                <a:cs typeface="Times New Roman" panose="02020603050405020304" pitchFamily="18" charset="0"/>
              </a:rPr>
              <a:t>It is opposite to gets()</a:t>
            </a:r>
          </a:p>
          <a:p>
            <a:r>
              <a:rPr lang="en-US" dirty="0">
                <a:solidFill>
                  <a:srgbClr val="FF0000"/>
                </a:solidFill>
                <a:latin typeface="Times New Roman" panose="02020603050405020304" pitchFamily="18" charset="0"/>
                <a:cs typeface="Times New Roman" panose="02020603050405020304" pitchFamily="18" charset="0"/>
              </a:rPr>
              <a:t>Syntax</a:t>
            </a:r>
          </a:p>
          <a:p>
            <a:pPr marL="0" indent="0">
              <a:buNone/>
            </a:pPr>
            <a:r>
              <a:rPr lang="en-US" dirty="0">
                <a:latin typeface="Times New Roman" panose="02020603050405020304" pitchFamily="18" charset="0"/>
                <a:cs typeface="Times New Roman" panose="02020603050405020304" pitchFamily="18" charset="0"/>
              </a:rPr>
              <a:t>    char str[length of string in number];</a:t>
            </a:r>
          </a:p>
          <a:p>
            <a:pPr marL="0" indent="0">
              <a:buNone/>
            </a:pPr>
            <a:r>
              <a:rPr lang="en-US" dirty="0">
                <a:latin typeface="Times New Roman" panose="02020603050405020304" pitchFamily="18" charset="0"/>
                <a:cs typeface="Times New Roman" panose="02020603050405020304" pitchFamily="18" charset="0"/>
              </a:rPr>
              <a:t>    gets(str);</a:t>
            </a:r>
          </a:p>
          <a:p>
            <a:pPr marL="0" indent="0">
              <a:buNone/>
            </a:pPr>
            <a:r>
              <a:rPr lang="en-US" dirty="0">
                <a:latin typeface="Times New Roman" panose="02020603050405020304" pitchFamily="18" charset="0"/>
                <a:cs typeface="Times New Roman" panose="02020603050405020304" pitchFamily="18" charset="0"/>
              </a:rPr>
              <a:t>    puts(str);</a:t>
            </a:r>
            <a:endParaRPr lang="en-IN"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xmlns="" id="{369CF591-2FED-4080-A9D6-C634F4D63C18}"/>
              </a:ext>
            </a:extLst>
          </p:cNvPr>
          <p:cNvSpPr>
            <a:spLocks noGrp="1"/>
          </p:cNvSpPr>
          <p:nvPr>
            <p:ph sz="half" idx="2"/>
          </p:nvPr>
        </p:nvSpPr>
        <p:spPr>
          <a:xfrm>
            <a:off x="8159262" y="1825625"/>
            <a:ext cx="3742006" cy="4351338"/>
          </a:xfrm>
        </p:spPr>
        <p:txBody>
          <a:bodyPr>
            <a:normAutofit/>
          </a:bodyPr>
          <a:lstStyle/>
          <a:p>
            <a:pPr marL="0" indent="0">
              <a:buNone/>
            </a:pPr>
            <a:r>
              <a:rPr lang="en-US" sz="1600" b="1" dirty="0">
                <a:latin typeface="Times New Roman" panose="02020603050405020304" pitchFamily="18" charset="0"/>
                <a:cs typeface="Times New Roman" panose="02020603050405020304" pitchFamily="18" charset="0"/>
              </a:rPr>
              <a:t>Program</a:t>
            </a:r>
          </a:p>
          <a:p>
            <a:pPr marL="0" indent="0">
              <a:buNone/>
            </a:pPr>
            <a:r>
              <a:rPr lang="en-US" sz="1600" dirty="0">
                <a:latin typeface="Times New Roman" panose="02020603050405020304" pitchFamily="18" charset="0"/>
                <a:cs typeface="Times New Roman" panose="02020603050405020304" pitchFamily="18" charset="0"/>
              </a:rPr>
              <a:t>#include&lt;</a:t>
            </a:r>
            <a:r>
              <a:rPr lang="en-US" sz="1600" dirty="0" err="1">
                <a:latin typeface="Times New Roman" panose="02020603050405020304" pitchFamily="18" charset="0"/>
                <a:cs typeface="Times New Roman" panose="02020603050405020304" pitchFamily="18" charset="0"/>
              </a:rPr>
              <a:t>stdio.h</a:t>
            </a:r>
            <a:r>
              <a:rPr lang="en-US" sz="1600" dirty="0">
                <a:latin typeface="Times New Roman" panose="02020603050405020304" pitchFamily="18" charset="0"/>
                <a:cs typeface="Times New Roman" panose="02020603050405020304" pitchFamily="18" charset="0"/>
              </a:rPr>
              <a:t>&gt;</a:t>
            </a:r>
          </a:p>
          <a:p>
            <a:pPr marL="0" indent="0">
              <a:buNone/>
            </a:pPr>
            <a:r>
              <a:rPr lang="en-US" sz="1600" dirty="0">
                <a:latin typeface="Times New Roman" panose="02020603050405020304" pitchFamily="18" charset="0"/>
                <a:cs typeface="Times New Roman" panose="02020603050405020304" pitchFamily="18" charset="0"/>
              </a:rPr>
              <a:t>void main()</a:t>
            </a:r>
          </a:p>
          <a:p>
            <a:pPr marL="0" indent="0">
              <a:buNone/>
            </a:pPr>
            <a:r>
              <a:rPr lang="en-US" sz="1600" dirty="0">
                <a:latin typeface="Times New Roman" panose="02020603050405020304" pitchFamily="18" charset="0"/>
                <a:cs typeface="Times New Roman" panose="02020603050405020304" pitchFamily="18" charset="0"/>
              </a:rPr>
              <a:t>{</a:t>
            </a:r>
          </a:p>
          <a:p>
            <a:pPr marL="0" indent="0">
              <a:buNone/>
            </a:pPr>
            <a:r>
              <a:rPr lang="en-US" sz="1600" dirty="0">
                <a:latin typeface="Times New Roman" panose="02020603050405020304" pitchFamily="18" charset="0"/>
                <a:cs typeface="Times New Roman" panose="02020603050405020304" pitchFamily="18" charset="0"/>
              </a:rPr>
              <a:t>char </a:t>
            </a:r>
            <a:r>
              <a:rPr lang="en-US" sz="1600" dirty="0" err="1">
                <a:latin typeface="Times New Roman" panose="02020603050405020304" pitchFamily="18" charset="0"/>
                <a:cs typeface="Times New Roman" panose="02020603050405020304" pitchFamily="18" charset="0"/>
              </a:rPr>
              <a:t>ch</a:t>
            </a:r>
            <a:r>
              <a:rPr lang="en-US" sz="1600" dirty="0">
                <a:latin typeface="Times New Roman" panose="02020603050405020304" pitchFamily="18" charset="0"/>
                <a:cs typeface="Times New Roman" panose="02020603050405020304" pitchFamily="18" charset="0"/>
              </a:rPr>
              <a:t>[30];</a:t>
            </a:r>
          </a:p>
          <a:p>
            <a:pPr marL="0" indent="0">
              <a:buNone/>
            </a:pPr>
            <a:r>
              <a:rPr lang="en-US" sz="1600" dirty="0" err="1">
                <a:latin typeface="Times New Roman" panose="02020603050405020304" pitchFamily="18" charset="0"/>
                <a:cs typeface="Times New Roman" panose="02020603050405020304" pitchFamily="18" charset="0"/>
              </a:rPr>
              <a:t>printf</a:t>
            </a:r>
            <a:r>
              <a:rPr lang="en-US" sz="1600" dirty="0">
                <a:latin typeface="Times New Roman" panose="02020603050405020304" pitchFamily="18" charset="0"/>
                <a:cs typeface="Times New Roman" panose="02020603050405020304" pitchFamily="18" charset="0"/>
              </a:rPr>
              <a:t>(“Enter the string:”);</a:t>
            </a:r>
          </a:p>
          <a:p>
            <a:pPr marL="0" indent="0">
              <a:buNone/>
            </a:pPr>
            <a:r>
              <a:rPr lang="en-US" sz="1600" dirty="0">
                <a:latin typeface="Times New Roman" panose="02020603050405020304" pitchFamily="18" charset="0"/>
                <a:cs typeface="Times New Roman" panose="02020603050405020304" pitchFamily="18" charset="0"/>
              </a:rPr>
              <a:t>gets(</a:t>
            </a:r>
            <a:r>
              <a:rPr lang="en-US" sz="1600" dirty="0" err="1">
                <a:latin typeface="Times New Roman" panose="02020603050405020304" pitchFamily="18" charset="0"/>
                <a:cs typeface="Times New Roman" panose="02020603050405020304" pitchFamily="18" charset="0"/>
              </a:rPr>
              <a:t>ch</a:t>
            </a:r>
            <a:r>
              <a:rPr lang="en-US" sz="1600" dirty="0">
                <a:latin typeface="Times New Roman" panose="02020603050405020304" pitchFamily="18" charset="0"/>
                <a:cs typeface="Times New Roman" panose="02020603050405020304" pitchFamily="18" charset="0"/>
              </a:rPr>
              <a:t>);</a:t>
            </a:r>
          </a:p>
          <a:p>
            <a:pPr marL="0" indent="0">
              <a:buNone/>
            </a:pPr>
            <a:r>
              <a:rPr lang="en-US" sz="1600" dirty="0">
                <a:latin typeface="Times New Roman" panose="02020603050405020304" pitchFamily="18" charset="0"/>
                <a:cs typeface="Times New Roman" panose="02020603050405020304" pitchFamily="18" charset="0"/>
              </a:rPr>
              <a:t>puts(“Entered string:”);</a:t>
            </a:r>
          </a:p>
          <a:p>
            <a:pPr marL="0" indent="0">
              <a:buNone/>
            </a:pPr>
            <a:r>
              <a:rPr lang="en-US" sz="1600" dirty="0">
                <a:latin typeface="Times New Roman" panose="02020603050405020304" pitchFamily="18" charset="0"/>
                <a:cs typeface="Times New Roman" panose="02020603050405020304" pitchFamily="18" charset="0"/>
              </a:rPr>
              <a:t>puts(</a:t>
            </a:r>
            <a:r>
              <a:rPr lang="en-US" sz="1600" dirty="0" err="1">
                <a:latin typeface="Times New Roman" panose="02020603050405020304" pitchFamily="18" charset="0"/>
                <a:cs typeface="Times New Roman" panose="02020603050405020304" pitchFamily="18" charset="0"/>
              </a:rPr>
              <a:t>ch</a:t>
            </a:r>
            <a:r>
              <a:rPr lang="en-US" sz="1600" dirty="0">
                <a:latin typeface="Times New Roman" panose="02020603050405020304" pitchFamily="18" charset="0"/>
                <a:cs typeface="Times New Roman" panose="02020603050405020304" pitchFamily="18" charset="0"/>
              </a:rPr>
              <a:t>);</a:t>
            </a:r>
          </a:p>
          <a:p>
            <a:pPr marL="0" indent="0">
              <a:buNone/>
            </a:pPr>
            <a:r>
              <a:rPr lang="en-US" sz="1600" dirty="0">
                <a:latin typeface="Times New Roman" panose="02020603050405020304" pitchFamily="18" charset="0"/>
                <a:cs typeface="Times New Roman" panose="02020603050405020304" pitchFamily="18" charset="0"/>
              </a:rPr>
              <a:t>}</a:t>
            </a:r>
          </a:p>
          <a:p>
            <a:pPr marL="0" indent="0">
              <a:buNone/>
            </a:pPr>
            <a:r>
              <a:rPr lang="en-US" sz="1600" dirty="0">
                <a:latin typeface="Times New Roman" panose="02020603050405020304" pitchFamily="18" charset="0"/>
                <a:cs typeface="Times New Roman" panose="02020603050405020304" pitchFamily="18" charset="0"/>
              </a:rPr>
              <a:t>                                                                                                                                                                                                                                                                                                                                                                                                                                                                                                                                                                                                                                                                                                           </a:t>
            </a:r>
          </a:p>
          <a:p>
            <a:pPr marL="0" indent="0">
              <a:buNone/>
            </a:pPr>
            <a:r>
              <a:rPr lang="en-US" sz="1600" dirty="0">
                <a:solidFill>
                  <a:srgbClr val="FF0000"/>
                </a:solidFill>
                <a:latin typeface="Times New Roman" panose="02020603050405020304" pitchFamily="18" charset="0"/>
                <a:cs typeface="Times New Roman" panose="02020603050405020304" pitchFamily="18" charset="0"/>
              </a:rPr>
              <a:t>Output:</a:t>
            </a:r>
          </a:p>
          <a:p>
            <a:pPr marL="0" indent="0">
              <a:buNone/>
            </a:pPr>
            <a:r>
              <a:rPr lang="en-US" sz="1600" dirty="0">
                <a:latin typeface="Times New Roman" panose="02020603050405020304" pitchFamily="18" charset="0"/>
                <a:cs typeface="Times New Roman" panose="02020603050405020304" pitchFamily="18" charset="0"/>
              </a:rPr>
              <a:t>Enter the string: puts is in use</a:t>
            </a:r>
          </a:p>
          <a:p>
            <a:pPr marL="0" indent="0">
              <a:buNone/>
            </a:pPr>
            <a:r>
              <a:rPr lang="en-US" sz="1600" dirty="0">
                <a:latin typeface="Times New Roman" panose="02020603050405020304" pitchFamily="18" charset="0"/>
                <a:cs typeface="Times New Roman" panose="02020603050405020304" pitchFamily="18" charset="0"/>
              </a:rPr>
              <a:t>Entered string: puts is in use</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532213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Formatted Input and Output Functions</a:t>
            </a:r>
          </a:p>
        </p:txBody>
      </p:sp>
      <p:sp>
        <p:nvSpPr>
          <p:cNvPr id="3" name="Content Placeholder 2"/>
          <p:cNvSpPr>
            <a:spLocks noGrp="1"/>
          </p:cNvSpPr>
          <p:nvPr>
            <p:ph idx="1"/>
          </p:nvPr>
        </p:nvSpPr>
        <p:spPr/>
        <p:txBody>
          <a:bodyPr/>
          <a:lstStyle/>
          <a:p>
            <a:r>
              <a:rPr lang="en-IN" dirty="0" err="1"/>
              <a:t>scanf</a:t>
            </a:r>
            <a:r>
              <a:rPr lang="en-IN" dirty="0"/>
              <a:t>() - input function</a:t>
            </a:r>
          </a:p>
          <a:p>
            <a:r>
              <a:rPr lang="en-IN" dirty="0" err="1"/>
              <a:t>printf</a:t>
            </a:r>
            <a:r>
              <a:rPr lang="en-IN" dirty="0"/>
              <a:t>() - output function</a:t>
            </a:r>
          </a:p>
        </p:txBody>
      </p:sp>
    </p:spTree>
    <p:extLst>
      <p:ext uri="{BB962C8B-B14F-4D97-AF65-F5344CB8AC3E}">
        <p14:creationId xmlns:p14="http://schemas.microsoft.com/office/powerpoint/2010/main" val="235707199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8336C5-269F-43DE-90A3-A169B3A4B3EA}"/>
              </a:ext>
            </a:extLst>
          </p:cNvPr>
          <p:cNvSpPr>
            <a:spLocks noGrp="1"/>
          </p:cNvSpPr>
          <p:nvPr>
            <p:ph type="title"/>
          </p:nvPr>
        </p:nvSpPr>
        <p:spPr/>
        <p:txBody>
          <a:bodyPr/>
          <a:lstStyle/>
          <a:p>
            <a:r>
              <a:rPr lang="en-IN" dirty="0" err="1"/>
              <a:t>printf</a:t>
            </a:r>
            <a:r>
              <a:rPr lang="en-IN" dirty="0"/>
              <a:t>()</a:t>
            </a:r>
          </a:p>
        </p:txBody>
      </p:sp>
      <p:sp>
        <p:nvSpPr>
          <p:cNvPr id="3" name="Content Placeholder 2">
            <a:extLst>
              <a:ext uri="{FF2B5EF4-FFF2-40B4-BE49-F238E27FC236}">
                <a16:creationId xmlns:a16="http://schemas.microsoft.com/office/drawing/2014/main" xmlns="" id="{6CFC1FCD-76E1-47D9-BFAB-127E04B691A6}"/>
              </a:ext>
            </a:extLst>
          </p:cNvPr>
          <p:cNvSpPr>
            <a:spLocks noGrp="1"/>
          </p:cNvSpPr>
          <p:nvPr>
            <p:ph idx="1"/>
          </p:nvPr>
        </p:nvSpPr>
        <p:spPr>
          <a:xfrm>
            <a:off x="1551432" y="1851383"/>
            <a:ext cx="9802368" cy="4351338"/>
          </a:xfrm>
        </p:spPr>
        <p:txBody>
          <a:bodyPr/>
          <a:lstStyle/>
          <a:p>
            <a:r>
              <a:rPr lang="en-US" dirty="0"/>
              <a:t>Output function</a:t>
            </a:r>
          </a:p>
          <a:p>
            <a:endParaRPr lang="en-US" dirty="0"/>
          </a:p>
          <a:p>
            <a:r>
              <a:rPr lang="en-US" dirty="0"/>
              <a:t>General form: </a:t>
            </a:r>
          </a:p>
          <a:p>
            <a:pPr lvl="1"/>
            <a:r>
              <a:rPr lang="en-US" dirty="0" err="1"/>
              <a:t>printf</a:t>
            </a:r>
            <a:r>
              <a:rPr lang="en-US" dirty="0"/>
              <a:t>(“</a:t>
            </a:r>
            <a:r>
              <a:rPr lang="en-US" dirty="0" err="1"/>
              <a:t>control_string</a:t>
            </a:r>
            <a:r>
              <a:rPr lang="en-US" dirty="0"/>
              <a:t> or format specifier”,variable1,variable2, variable3,...); </a:t>
            </a:r>
          </a:p>
          <a:p>
            <a:pPr lvl="1"/>
            <a:r>
              <a:rPr lang="en-US" dirty="0"/>
              <a:t>Example: </a:t>
            </a:r>
            <a:r>
              <a:rPr lang="en-US" dirty="0" err="1"/>
              <a:t>printf</a:t>
            </a:r>
            <a:r>
              <a:rPr lang="en-US" dirty="0"/>
              <a:t>(“The numbers are %d and %d”,number1,number2);</a:t>
            </a:r>
          </a:p>
          <a:p>
            <a:endParaRPr lang="en-IN" dirty="0"/>
          </a:p>
        </p:txBody>
      </p:sp>
    </p:spTree>
    <p:extLst>
      <p:ext uri="{BB962C8B-B14F-4D97-AF65-F5344CB8AC3E}">
        <p14:creationId xmlns:p14="http://schemas.microsoft.com/office/powerpoint/2010/main" val="225649694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Format </a:t>
            </a:r>
            <a:r>
              <a:rPr lang="en-IN" dirty="0" err="1"/>
              <a:t>Specifiers</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287887" y="1315244"/>
            <a:ext cx="7113651" cy="4861719"/>
          </a:xfrm>
          <a:prstGeom prst="rect">
            <a:avLst/>
          </a:prstGeom>
        </p:spPr>
      </p:pic>
    </p:spTree>
    <p:extLst>
      <p:ext uri="{BB962C8B-B14F-4D97-AF65-F5344CB8AC3E}">
        <p14:creationId xmlns:p14="http://schemas.microsoft.com/office/powerpoint/2010/main" val="197910889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Parts of conversion </a:t>
            </a:r>
            <a:r>
              <a:rPr lang="en-US" dirty="0" err="1"/>
              <a:t>specifier</a:t>
            </a:r>
            <a:r>
              <a:rPr lang="en-US" dirty="0"/>
              <a:t> field for </a:t>
            </a:r>
            <a:r>
              <a:rPr lang="en-US" dirty="0" err="1"/>
              <a:t>printf</a:t>
            </a:r>
            <a:r>
              <a:rPr lang="en-US" dirty="0"/>
              <a:t>()</a:t>
            </a:r>
            <a:endParaRPr lang="en-IN" dirty="0"/>
          </a:p>
        </p:txBody>
      </p:sp>
      <p:sp>
        <p:nvSpPr>
          <p:cNvPr id="5" name="Content Placeholder 4"/>
          <p:cNvSpPr>
            <a:spLocks noGrp="1"/>
          </p:cNvSpPr>
          <p:nvPr>
            <p:ph sz="half" idx="1"/>
          </p:nvPr>
        </p:nvSpPr>
        <p:spPr>
          <a:xfrm>
            <a:off x="1285460" y="1948069"/>
            <a:ext cx="4886740" cy="4228893"/>
          </a:xfrm>
        </p:spPr>
        <p:txBody>
          <a:bodyPr>
            <a:normAutofit fontScale="92500" lnSpcReduction="20000"/>
          </a:bodyPr>
          <a:lstStyle/>
          <a:p>
            <a:endParaRPr lang="en-IN" dirty="0"/>
          </a:p>
          <a:p>
            <a:endParaRPr lang="en-IN" dirty="0"/>
          </a:p>
          <a:p>
            <a:endParaRPr lang="en-IN" dirty="0"/>
          </a:p>
          <a:p>
            <a:endParaRPr lang="en-US" dirty="0"/>
          </a:p>
          <a:p>
            <a:r>
              <a:rPr lang="en-US" dirty="0"/>
              <a:t>The percent sign and conversion code are required</a:t>
            </a:r>
          </a:p>
          <a:p>
            <a:r>
              <a:rPr lang="en-US" dirty="0"/>
              <a:t>Other modifiers such as width and precision are optional. </a:t>
            </a:r>
          </a:p>
          <a:p>
            <a:r>
              <a:rPr lang="en-US" b="1" dirty="0"/>
              <a:t>width</a:t>
            </a:r>
            <a:r>
              <a:rPr lang="en-US" dirty="0"/>
              <a:t> specifies the total number of characters used to display the value</a:t>
            </a:r>
          </a:p>
        </p:txBody>
      </p:sp>
      <p:sp>
        <p:nvSpPr>
          <p:cNvPr id="6" name="Content Placeholder 5"/>
          <p:cNvSpPr>
            <a:spLocks noGrp="1"/>
          </p:cNvSpPr>
          <p:nvPr>
            <p:ph sz="half" idx="2"/>
          </p:nvPr>
        </p:nvSpPr>
        <p:spPr>
          <a:xfrm>
            <a:off x="6172200" y="1825625"/>
            <a:ext cx="5383696" cy="4351338"/>
          </a:xfrm>
        </p:spPr>
        <p:txBody>
          <a:bodyPr>
            <a:normAutofit fontScale="92500" lnSpcReduction="20000"/>
          </a:bodyPr>
          <a:lstStyle/>
          <a:p>
            <a:r>
              <a:rPr lang="en-US" b="1" dirty="0"/>
              <a:t>precision</a:t>
            </a:r>
            <a:r>
              <a:rPr lang="en-US" dirty="0"/>
              <a:t> indicates the number of characters used after the decimal point. The precision option is only used with floats or strings.</a:t>
            </a:r>
          </a:p>
          <a:p>
            <a:r>
              <a:rPr lang="en-US" dirty="0"/>
              <a:t>Default precision value is 6</a:t>
            </a:r>
            <a:endParaRPr lang="en-IN" dirty="0"/>
          </a:p>
        </p:txBody>
      </p:sp>
      <p:pic>
        <p:nvPicPr>
          <p:cNvPr id="4" name="Picture 3"/>
          <p:cNvPicPr>
            <a:picLocks noChangeAspect="1"/>
          </p:cNvPicPr>
          <p:nvPr/>
        </p:nvPicPr>
        <p:blipFill>
          <a:blip r:embed="rId2"/>
          <a:stretch>
            <a:fillRect/>
          </a:stretch>
        </p:blipFill>
        <p:spPr>
          <a:xfrm>
            <a:off x="1288966" y="1825625"/>
            <a:ext cx="4579879" cy="1363827"/>
          </a:xfrm>
          <a:prstGeom prst="rect">
            <a:avLst/>
          </a:prstGeom>
        </p:spPr>
      </p:pic>
    </p:spTree>
    <p:extLst>
      <p:ext uri="{BB962C8B-B14F-4D97-AF65-F5344CB8AC3E}">
        <p14:creationId xmlns:p14="http://schemas.microsoft.com/office/powerpoint/2010/main" val="128599652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Examples</a:t>
            </a:r>
          </a:p>
        </p:txBody>
      </p:sp>
      <p:sp>
        <p:nvSpPr>
          <p:cNvPr id="3" name="Content Placeholder 2"/>
          <p:cNvSpPr>
            <a:spLocks noGrp="1"/>
          </p:cNvSpPr>
          <p:nvPr>
            <p:ph sz="half" idx="1"/>
          </p:nvPr>
        </p:nvSpPr>
        <p:spPr>
          <a:xfrm>
            <a:off x="1309352" y="1825625"/>
            <a:ext cx="5714300" cy="4351338"/>
          </a:xfrm>
        </p:spPr>
        <p:txBody>
          <a:bodyPr>
            <a:normAutofit/>
          </a:bodyPr>
          <a:lstStyle/>
          <a:p>
            <a:pPr marL="0" indent="0">
              <a:buNone/>
            </a:pPr>
            <a:r>
              <a:rPr lang="en-IN" dirty="0" err="1"/>
              <a:t>printf</a:t>
            </a:r>
            <a:r>
              <a:rPr lang="en-IN" dirty="0"/>
              <a:t>(“number=%3d\n”, 10); </a:t>
            </a:r>
            <a:r>
              <a:rPr lang="en-IN" dirty="0" err="1"/>
              <a:t>printf</a:t>
            </a:r>
            <a:r>
              <a:rPr lang="en-IN" dirty="0"/>
              <a:t>(“number=%2d\n”, 10); </a:t>
            </a:r>
            <a:r>
              <a:rPr lang="en-IN" dirty="0" err="1"/>
              <a:t>printf</a:t>
            </a:r>
            <a:r>
              <a:rPr lang="en-IN" dirty="0"/>
              <a:t>(“number=%1d\n”, 10); </a:t>
            </a:r>
            <a:r>
              <a:rPr lang="en-IN" dirty="0" err="1"/>
              <a:t>printf</a:t>
            </a:r>
            <a:r>
              <a:rPr lang="en-IN" dirty="0"/>
              <a:t>(“number=%7.2f\n”, 5.4321); </a:t>
            </a:r>
            <a:r>
              <a:rPr lang="en-IN" dirty="0" err="1"/>
              <a:t>printf</a:t>
            </a:r>
            <a:r>
              <a:rPr lang="en-IN" dirty="0"/>
              <a:t>(“number=%.2f\n”, 5.4391); </a:t>
            </a:r>
            <a:r>
              <a:rPr lang="en-IN" dirty="0" err="1"/>
              <a:t>printf</a:t>
            </a:r>
            <a:r>
              <a:rPr lang="en-IN" dirty="0"/>
              <a:t>(“number=%.9f\n”, 5.4321); </a:t>
            </a:r>
            <a:r>
              <a:rPr lang="en-IN" dirty="0" err="1"/>
              <a:t>printf</a:t>
            </a:r>
            <a:r>
              <a:rPr lang="en-IN" dirty="0"/>
              <a:t>(“number=%f\n”, 5.4321);</a:t>
            </a:r>
          </a:p>
        </p:txBody>
      </p:sp>
      <p:pic>
        <p:nvPicPr>
          <p:cNvPr id="5" name="Content Placeholder 4"/>
          <p:cNvPicPr>
            <a:picLocks noGrp="1" noChangeAspect="1"/>
          </p:cNvPicPr>
          <p:nvPr>
            <p:ph sz="half" idx="2"/>
          </p:nvPr>
        </p:nvPicPr>
        <p:blipFill>
          <a:blip r:embed="rId2"/>
          <a:stretch>
            <a:fillRect/>
          </a:stretch>
        </p:blipFill>
        <p:spPr>
          <a:xfrm>
            <a:off x="6445562" y="1800104"/>
            <a:ext cx="4392233" cy="2790148"/>
          </a:xfrm>
          <a:prstGeom prst="rect">
            <a:avLst/>
          </a:prstGeom>
        </p:spPr>
      </p:pic>
    </p:spTree>
    <p:extLst>
      <p:ext uri="{BB962C8B-B14F-4D97-AF65-F5344CB8AC3E}">
        <p14:creationId xmlns:p14="http://schemas.microsoft.com/office/powerpoint/2010/main" val="112524089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Flag characters used in </a:t>
            </a:r>
            <a:r>
              <a:rPr lang="en-US" dirty="0" err="1"/>
              <a:t>printf</a:t>
            </a:r>
            <a:r>
              <a:rPr lang="en-US" dirty="0"/>
              <a:t>() </a:t>
            </a:r>
            <a:endParaRPr lang="en-IN" dirty="0"/>
          </a:p>
        </p:txBody>
      </p:sp>
      <p:graphicFrame>
        <p:nvGraphicFramePr>
          <p:cNvPr id="7" name="Content Placeholder 6"/>
          <p:cNvGraphicFramePr>
            <a:graphicFrameLocks noGrp="1"/>
          </p:cNvGraphicFramePr>
          <p:nvPr>
            <p:ph idx="1"/>
          </p:nvPr>
        </p:nvGraphicFramePr>
        <p:xfrm>
          <a:off x="2267754" y="2121835"/>
          <a:ext cx="7146701" cy="3158502"/>
        </p:xfrm>
        <a:graphic>
          <a:graphicData uri="http://schemas.openxmlformats.org/drawingml/2006/table">
            <a:tbl>
              <a:tblPr firstRow="1" bandRow="1">
                <a:tableStyleId>{5C22544A-7EE6-4342-B048-85BDC9FD1C3A}</a:tableStyleId>
              </a:tblPr>
              <a:tblGrid>
                <a:gridCol w="1198410">
                  <a:extLst>
                    <a:ext uri="{9D8B030D-6E8A-4147-A177-3AD203B41FA5}">
                      <a16:colId xmlns:a16="http://schemas.microsoft.com/office/drawing/2014/main" xmlns="" val="20000"/>
                    </a:ext>
                  </a:extLst>
                </a:gridCol>
                <a:gridCol w="5948291">
                  <a:extLst>
                    <a:ext uri="{9D8B030D-6E8A-4147-A177-3AD203B41FA5}">
                      <a16:colId xmlns:a16="http://schemas.microsoft.com/office/drawing/2014/main" xmlns="" val="20001"/>
                    </a:ext>
                  </a:extLst>
                </a:gridCol>
              </a:tblGrid>
              <a:tr h="526417">
                <a:tc>
                  <a:txBody>
                    <a:bodyPr/>
                    <a:lstStyle/>
                    <a:p>
                      <a:pPr algn="ctr"/>
                      <a:r>
                        <a:rPr lang="en-IN" sz="2400" dirty="0"/>
                        <a:t>Flag</a:t>
                      </a:r>
                    </a:p>
                  </a:txBody>
                  <a:tcPr anchor="ctr"/>
                </a:tc>
                <a:tc>
                  <a:txBody>
                    <a:bodyPr/>
                    <a:lstStyle/>
                    <a:p>
                      <a:pPr algn="ctr"/>
                      <a:r>
                        <a:rPr lang="en-IN" sz="2400" dirty="0"/>
                        <a:t>Meaning</a:t>
                      </a:r>
                    </a:p>
                  </a:txBody>
                  <a:tcPr anchor="ctr"/>
                </a:tc>
                <a:extLst>
                  <a:ext uri="{0D108BD9-81ED-4DB2-BD59-A6C34878D82A}">
                    <a16:rowId xmlns:a16="http://schemas.microsoft.com/office/drawing/2014/main" xmlns="" val="10000"/>
                  </a:ext>
                </a:extLst>
              </a:tr>
              <a:tr h="526417">
                <a:tc>
                  <a:txBody>
                    <a:bodyPr/>
                    <a:lstStyle/>
                    <a:p>
                      <a:pPr algn="l"/>
                      <a:r>
                        <a:rPr lang="en-IN" sz="2400" dirty="0"/>
                        <a:t>-</a:t>
                      </a:r>
                    </a:p>
                  </a:txBody>
                  <a:tcPr anchor="ctr"/>
                </a:tc>
                <a:tc>
                  <a:txBody>
                    <a:bodyPr/>
                    <a:lstStyle/>
                    <a:p>
                      <a:pPr algn="l"/>
                      <a:r>
                        <a:rPr lang="en-IN" sz="2400" dirty="0"/>
                        <a:t>Left justify the display</a:t>
                      </a:r>
                    </a:p>
                  </a:txBody>
                  <a:tcPr anchor="ctr"/>
                </a:tc>
                <a:extLst>
                  <a:ext uri="{0D108BD9-81ED-4DB2-BD59-A6C34878D82A}">
                    <a16:rowId xmlns:a16="http://schemas.microsoft.com/office/drawing/2014/main" xmlns="" val="10001"/>
                  </a:ext>
                </a:extLst>
              </a:tr>
              <a:tr h="526417">
                <a:tc>
                  <a:txBody>
                    <a:bodyPr/>
                    <a:lstStyle/>
                    <a:p>
                      <a:pPr algn="l"/>
                      <a:r>
                        <a:rPr lang="en-IN" sz="2400" dirty="0"/>
                        <a:t>+</a:t>
                      </a:r>
                    </a:p>
                  </a:txBody>
                  <a:tcPr anchor="ctr"/>
                </a:tc>
                <a:tc>
                  <a:txBody>
                    <a:bodyPr/>
                    <a:lstStyle/>
                    <a:p>
                      <a:pPr algn="l"/>
                      <a:r>
                        <a:rPr lang="en-US" sz="2400" dirty="0"/>
                        <a:t>Display positive or negative sign of value</a:t>
                      </a:r>
                      <a:endParaRPr lang="en-IN" sz="2400" dirty="0"/>
                    </a:p>
                  </a:txBody>
                  <a:tcPr anchor="ctr"/>
                </a:tc>
                <a:extLst>
                  <a:ext uri="{0D108BD9-81ED-4DB2-BD59-A6C34878D82A}">
                    <a16:rowId xmlns:a16="http://schemas.microsoft.com/office/drawing/2014/main" xmlns="" val="10002"/>
                  </a:ext>
                </a:extLst>
              </a:tr>
              <a:tr h="526417">
                <a:tc>
                  <a:txBody>
                    <a:bodyPr/>
                    <a:lstStyle/>
                    <a:p>
                      <a:pPr algn="l"/>
                      <a:r>
                        <a:rPr lang="en-IN" sz="2400" dirty="0"/>
                        <a:t>Space</a:t>
                      </a:r>
                    </a:p>
                  </a:txBody>
                  <a:tcPr anchor="ctr"/>
                </a:tc>
                <a:tc>
                  <a:txBody>
                    <a:bodyPr/>
                    <a:lstStyle/>
                    <a:p>
                      <a:pPr algn="l"/>
                      <a:r>
                        <a:rPr lang="en-US" sz="2400" dirty="0"/>
                        <a:t>Display space if there is no sign</a:t>
                      </a:r>
                      <a:endParaRPr lang="en-IN" sz="2400" dirty="0"/>
                    </a:p>
                  </a:txBody>
                  <a:tcPr anchor="ctr"/>
                </a:tc>
                <a:extLst>
                  <a:ext uri="{0D108BD9-81ED-4DB2-BD59-A6C34878D82A}">
                    <a16:rowId xmlns:a16="http://schemas.microsoft.com/office/drawing/2014/main" xmlns="" val="10003"/>
                  </a:ext>
                </a:extLst>
              </a:tr>
              <a:tr h="526417">
                <a:tc>
                  <a:txBody>
                    <a:bodyPr/>
                    <a:lstStyle/>
                    <a:p>
                      <a:pPr algn="l"/>
                      <a:r>
                        <a:rPr lang="en-IN" sz="2400" dirty="0"/>
                        <a:t>0</a:t>
                      </a:r>
                    </a:p>
                  </a:txBody>
                  <a:tcPr anchor="ctr"/>
                </a:tc>
                <a:tc>
                  <a:txBody>
                    <a:bodyPr/>
                    <a:lstStyle/>
                    <a:p>
                      <a:pPr algn="l"/>
                      <a:r>
                        <a:rPr lang="en-IN" sz="2400" dirty="0"/>
                        <a:t>Pad with leading zeros</a:t>
                      </a:r>
                    </a:p>
                  </a:txBody>
                  <a:tcPr anchor="ctr"/>
                </a:tc>
                <a:extLst>
                  <a:ext uri="{0D108BD9-81ED-4DB2-BD59-A6C34878D82A}">
                    <a16:rowId xmlns:a16="http://schemas.microsoft.com/office/drawing/2014/main" xmlns="" val="10004"/>
                  </a:ext>
                </a:extLst>
              </a:tr>
              <a:tr h="526417">
                <a:tc>
                  <a:txBody>
                    <a:bodyPr/>
                    <a:lstStyle/>
                    <a:p>
                      <a:pPr algn="l"/>
                      <a:r>
                        <a:rPr lang="en-IN" sz="2400" dirty="0"/>
                        <a:t>#</a:t>
                      </a:r>
                    </a:p>
                  </a:txBody>
                  <a:tcPr anchor="ctr"/>
                </a:tc>
                <a:tc>
                  <a:txBody>
                    <a:bodyPr/>
                    <a:lstStyle/>
                    <a:p>
                      <a:pPr algn="l"/>
                      <a:r>
                        <a:rPr lang="en-US" sz="2400" dirty="0"/>
                        <a:t>Use alternate form of specifier</a:t>
                      </a:r>
                      <a:endParaRPr lang="en-IN" sz="2400" dirty="0"/>
                    </a:p>
                  </a:txBody>
                  <a:tcPr anchor="ct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44406709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Example</a:t>
            </a:r>
          </a:p>
        </p:txBody>
      </p:sp>
      <p:sp>
        <p:nvSpPr>
          <p:cNvPr id="5" name="Content Placeholder 4"/>
          <p:cNvSpPr>
            <a:spLocks noGrp="1"/>
          </p:cNvSpPr>
          <p:nvPr>
            <p:ph sz="half" idx="1"/>
          </p:nvPr>
        </p:nvSpPr>
        <p:spPr>
          <a:xfrm>
            <a:off x="1669773" y="1825625"/>
            <a:ext cx="6493565" cy="4351338"/>
          </a:xfrm>
        </p:spPr>
        <p:txBody>
          <a:bodyPr/>
          <a:lstStyle/>
          <a:p>
            <a:pPr marL="0" indent="0">
              <a:buNone/>
            </a:pPr>
            <a:endParaRPr lang="en-IN" dirty="0"/>
          </a:p>
          <a:p>
            <a:pPr marL="0" indent="0">
              <a:buNone/>
            </a:pPr>
            <a:r>
              <a:rPr lang="en-IN" dirty="0" err="1"/>
              <a:t>printf</a:t>
            </a:r>
            <a:r>
              <a:rPr lang="en-IN" dirty="0"/>
              <a:t>(“number=%06.1f\n”, 5.5); </a:t>
            </a:r>
            <a:r>
              <a:rPr lang="en-IN" dirty="0" err="1"/>
              <a:t>printf</a:t>
            </a:r>
            <a:r>
              <a:rPr lang="en-IN" dirty="0"/>
              <a:t>(“%-+6.1f=number\n”, 5.5); </a:t>
            </a:r>
          </a:p>
        </p:txBody>
      </p:sp>
      <p:pic>
        <p:nvPicPr>
          <p:cNvPr id="8" name="Content Placeholder 7"/>
          <p:cNvPicPr>
            <a:picLocks noGrp="1" noChangeAspect="1"/>
          </p:cNvPicPr>
          <p:nvPr>
            <p:ph sz="half" idx="2"/>
          </p:nvPr>
        </p:nvPicPr>
        <p:blipFill>
          <a:blip r:embed="rId2"/>
          <a:stretch>
            <a:fillRect/>
          </a:stretch>
        </p:blipFill>
        <p:spPr>
          <a:xfrm>
            <a:off x="2607625" y="3788254"/>
            <a:ext cx="3189735" cy="1016390"/>
          </a:xfrm>
          <a:prstGeom prst="rect">
            <a:avLst/>
          </a:prstGeom>
        </p:spPr>
      </p:pic>
    </p:spTree>
    <p:extLst>
      <p:ext uri="{BB962C8B-B14F-4D97-AF65-F5344CB8AC3E}">
        <p14:creationId xmlns:p14="http://schemas.microsoft.com/office/powerpoint/2010/main" val="139372157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with strings</a:t>
            </a:r>
          </a:p>
        </p:txBody>
      </p:sp>
      <p:sp>
        <p:nvSpPr>
          <p:cNvPr id="3" name="Content Placeholder 2"/>
          <p:cNvSpPr>
            <a:spLocks noGrp="1"/>
          </p:cNvSpPr>
          <p:nvPr>
            <p:ph sz="half" idx="1"/>
          </p:nvPr>
        </p:nvSpPr>
        <p:spPr>
          <a:xfrm>
            <a:off x="1338470" y="1825625"/>
            <a:ext cx="4479234" cy="4351338"/>
          </a:xfrm>
        </p:spPr>
        <p:txBody>
          <a:bodyPr>
            <a:normAutofit fontScale="92500" lnSpcReduction="20000"/>
          </a:bodyPr>
          <a:lstStyle/>
          <a:p>
            <a:pPr marL="0" indent="0">
              <a:buNone/>
            </a:pPr>
            <a:r>
              <a:rPr lang="en-IN" dirty="0"/>
              <a:t>#include&lt;</a:t>
            </a:r>
            <a:r>
              <a:rPr lang="en-IN" dirty="0" err="1"/>
              <a:t>stdio.h</a:t>
            </a:r>
            <a:r>
              <a:rPr lang="en-IN" dirty="0"/>
              <a:t>&gt;</a:t>
            </a:r>
          </a:p>
          <a:p>
            <a:pPr marL="0" indent="0">
              <a:buNone/>
            </a:pPr>
            <a:r>
              <a:rPr lang="en-IN" dirty="0" err="1"/>
              <a:t>int</a:t>
            </a:r>
            <a:r>
              <a:rPr lang="en-IN" dirty="0"/>
              <a:t> main() </a:t>
            </a:r>
          </a:p>
          <a:p>
            <a:pPr marL="0" indent="0">
              <a:buNone/>
            </a:pPr>
            <a:r>
              <a:rPr lang="en-IN" dirty="0"/>
              <a:t>{ </a:t>
            </a:r>
          </a:p>
          <a:p>
            <a:pPr marL="0" indent="0">
              <a:buNone/>
            </a:pPr>
            <a:r>
              <a:rPr lang="en-IN" dirty="0" err="1"/>
              <a:t>printf</a:t>
            </a:r>
            <a:r>
              <a:rPr lang="en-IN" dirty="0"/>
              <a:t>(“%</a:t>
            </a:r>
            <a:r>
              <a:rPr lang="en-IN" dirty="0" err="1"/>
              <a:t>s”,“hello</a:t>
            </a:r>
            <a:r>
              <a:rPr lang="en-IN" dirty="0"/>
              <a:t>”);</a:t>
            </a:r>
          </a:p>
          <a:p>
            <a:pPr marL="0" indent="0">
              <a:buNone/>
            </a:pPr>
            <a:r>
              <a:rPr lang="en-IN" dirty="0" err="1"/>
              <a:t>printf</a:t>
            </a:r>
            <a:r>
              <a:rPr lang="en-IN" dirty="0"/>
              <a:t>(“\n%3s”,“hello”);</a:t>
            </a:r>
          </a:p>
          <a:p>
            <a:pPr marL="0" indent="0">
              <a:buNone/>
            </a:pPr>
            <a:r>
              <a:rPr lang="en-IN" dirty="0" err="1"/>
              <a:t>printf</a:t>
            </a:r>
            <a:r>
              <a:rPr lang="en-IN" dirty="0"/>
              <a:t>(“\n%10s”,“hello”);</a:t>
            </a:r>
          </a:p>
          <a:p>
            <a:pPr marL="0" indent="0">
              <a:buNone/>
            </a:pPr>
            <a:r>
              <a:rPr lang="en-IN" dirty="0" err="1"/>
              <a:t>printf</a:t>
            </a:r>
            <a:r>
              <a:rPr lang="en-IN" dirty="0"/>
              <a:t>(“\n%-10s”,“hello”);</a:t>
            </a:r>
          </a:p>
          <a:p>
            <a:pPr marL="0" indent="0">
              <a:buNone/>
            </a:pPr>
            <a:r>
              <a:rPr lang="en-IN" dirty="0" err="1"/>
              <a:t>printf</a:t>
            </a:r>
            <a:r>
              <a:rPr lang="en-IN" dirty="0"/>
              <a:t>(“\n%10.3s”,“hello”); </a:t>
            </a:r>
          </a:p>
          <a:p>
            <a:pPr marL="0" indent="0">
              <a:buNone/>
            </a:pPr>
            <a:r>
              <a:rPr lang="en-IN" dirty="0"/>
              <a:t>return 0; </a:t>
            </a:r>
          </a:p>
          <a:p>
            <a:pPr marL="0" indent="0">
              <a:buNone/>
            </a:pPr>
            <a:r>
              <a:rPr lang="en-IN" dirty="0"/>
              <a:t>}</a:t>
            </a:r>
          </a:p>
        </p:txBody>
      </p:sp>
      <p:pic>
        <p:nvPicPr>
          <p:cNvPr id="5" name="Content Placeholder 4"/>
          <p:cNvPicPr>
            <a:picLocks noGrp="1" noChangeAspect="1"/>
          </p:cNvPicPr>
          <p:nvPr>
            <p:ph sz="half" idx="2"/>
          </p:nvPr>
        </p:nvPicPr>
        <p:blipFill>
          <a:blip r:embed="rId2"/>
          <a:stretch>
            <a:fillRect/>
          </a:stretch>
        </p:blipFill>
        <p:spPr>
          <a:xfrm>
            <a:off x="6731000" y="3390106"/>
            <a:ext cx="3200400" cy="882650"/>
          </a:xfrm>
          <a:prstGeom prst="rect">
            <a:avLst/>
          </a:prstGeom>
        </p:spPr>
      </p:pic>
    </p:spTree>
    <p:extLst>
      <p:ext uri="{BB962C8B-B14F-4D97-AF65-F5344CB8AC3E}">
        <p14:creationId xmlns:p14="http://schemas.microsoft.com/office/powerpoint/2010/main" val="208800780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Size modifiers used in </a:t>
            </a:r>
            <a:r>
              <a:rPr lang="en-US" dirty="0" err="1"/>
              <a:t>printf</a:t>
            </a:r>
            <a:r>
              <a:rPr lang="en-US" dirty="0"/>
              <a:t>()</a:t>
            </a:r>
            <a:endParaRPr lang="en-IN" dirty="0"/>
          </a:p>
        </p:txBody>
      </p:sp>
      <p:sp>
        <p:nvSpPr>
          <p:cNvPr id="6" name="Content Placeholder 5"/>
          <p:cNvSpPr>
            <a:spLocks noGrp="1"/>
          </p:cNvSpPr>
          <p:nvPr>
            <p:ph idx="1"/>
          </p:nvPr>
        </p:nvSpPr>
        <p:spPr/>
        <p:txBody>
          <a:bodyPr/>
          <a:lstStyle/>
          <a:p>
            <a:endParaRPr lang="en-IN"/>
          </a:p>
        </p:txBody>
      </p:sp>
      <p:pic>
        <p:nvPicPr>
          <p:cNvPr id="7" name="Picture 6"/>
          <p:cNvPicPr>
            <a:picLocks noChangeAspect="1"/>
          </p:cNvPicPr>
          <p:nvPr/>
        </p:nvPicPr>
        <p:blipFill>
          <a:blip r:embed="rId2"/>
          <a:stretch>
            <a:fillRect/>
          </a:stretch>
        </p:blipFill>
        <p:spPr>
          <a:xfrm>
            <a:off x="2307196" y="2553035"/>
            <a:ext cx="7269612" cy="2701545"/>
          </a:xfrm>
          <a:prstGeom prst="rect">
            <a:avLst/>
          </a:prstGeom>
        </p:spPr>
      </p:pic>
    </p:spTree>
    <p:extLst>
      <p:ext uri="{BB962C8B-B14F-4D97-AF65-F5344CB8AC3E}">
        <p14:creationId xmlns:p14="http://schemas.microsoft.com/office/powerpoint/2010/main" val="210599701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scanf</a:t>
            </a:r>
            <a:r>
              <a:rPr lang="en-IN" dirty="0"/>
              <a:t>()</a:t>
            </a:r>
          </a:p>
        </p:txBody>
      </p:sp>
      <p:sp>
        <p:nvSpPr>
          <p:cNvPr id="3" name="Content Placeholder 2"/>
          <p:cNvSpPr>
            <a:spLocks noGrp="1"/>
          </p:cNvSpPr>
          <p:nvPr>
            <p:ph idx="1"/>
          </p:nvPr>
        </p:nvSpPr>
        <p:spPr>
          <a:xfrm>
            <a:off x="1551431" y="1825625"/>
            <a:ext cx="10441785" cy="4351338"/>
          </a:xfrm>
        </p:spPr>
        <p:txBody>
          <a:bodyPr>
            <a:normAutofit/>
          </a:bodyPr>
          <a:lstStyle/>
          <a:p>
            <a:r>
              <a:rPr lang="pt-BR" dirty="0"/>
              <a:t>General form:</a:t>
            </a:r>
          </a:p>
          <a:p>
            <a:pPr lvl="1"/>
            <a:r>
              <a:rPr lang="pt-BR" dirty="0"/>
              <a:t>scanf(“control_string”,variable1_address, variable2_address,...);</a:t>
            </a:r>
          </a:p>
          <a:p>
            <a:r>
              <a:rPr lang="en-US" dirty="0" err="1"/>
              <a:t>scanf</a:t>
            </a:r>
            <a:r>
              <a:rPr lang="en-US" dirty="0"/>
              <a:t>() returns the number of input fields successfully scanned, converted, and stored</a:t>
            </a:r>
          </a:p>
          <a:p>
            <a:r>
              <a:rPr lang="en-US" dirty="0"/>
              <a:t>Example:</a:t>
            </a:r>
          </a:p>
          <a:p>
            <a:pPr lvl="1"/>
            <a:r>
              <a:rPr lang="en-US" dirty="0" err="1"/>
              <a:t>scanf</a:t>
            </a:r>
            <a:r>
              <a:rPr lang="en-US" dirty="0"/>
              <a:t>(“%d%d’,&amp;num1,&amp;num2);</a:t>
            </a:r>
          </a:p>
        </p:txBody>
      </p:sp>
    </p:spTree>
    <p:extLst>
      <p:ext uri="{BB962C8B-B14F-4D97-AF65-F5344CB8AC3E}">
        <p14:creationId xmlns:p14="http://schemas.microsoft.com/office/powerpoint/2010/main" val="271054668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714722-810D-41BA-B711-BF54FAA5D808}"/>
              </a:ext>
            </a:extLst>
          </p:cNvPr>
          <p:cNvSpPr>
            <a:spLocks noGrp="1"/>
          </p:cNvSpPr>
          <p:nvPr>
            <p:ph type="title"/>
          </p:nvPr>
        </p:nvSpPr>
        <p:spPr/>
        <p:txBody>
          <a:bodyPr/>
          <a:lstStyle/>
          <a:p>
            <a:pPr algn="ctr"/>
            <a:r>
              <a:rPr lang="en-IN" dirty="0" smtClean="0">
                <a:solidFill>
                  <a:srgbClr val="FF0000"/>
                </a:solidFill>
              </a:rPr>
              <a:t>Controls</a:t>
            </a:r>
            <a:endParaRPr lang="en-IN" dirty="0">
              <a:solidFill>
                <a:srgbClr val="FF0000"/>
              </a:solidFill>
            </a:endParaRPr>
          </a:p>
        </p:txBody>
      </p:sp>
      <p:sp>
        <p:nvSpPr>
          <p:cNvPr id="3" name="Content Placeholder 2">
            <a:extLst>
              <a:ext uri="{FF2B5EF4-FFF2-40B4-BE49-F238E27FC236}">
                <a16:creationId xmlns:a16="http://schemas.microsoft.com/office/drawing/2014/main" xmlns="" id="{B4082E30-B5F6-47D2-88A1-01F6A9FEEC4B}"/>
              </a:ext>
            </a:extLst>
          </p:cNvPr>
          <p:cNvSpPr>
            <a:spLocks noGrp="1"/>
          </p:cNvSpPr>
          <p:nvPr>
            <p:ph idx="1"/>
          </p:nvPr>
        </p:nvSpPr>
        <p:spPr/>
        <p:txBody>
          <a:bodyPr/>
          <a:lstStyle/>
          <a:p>
            <a:r>
              <a:rPr lang="en-US" altLang="en-US" dirty="0"/>
              <a:t>Also called as control constructs</a:t>
            </a:r>
          </a:p>
          <a:p>
            <a:r>
              <a:rPr lang="en-US" altLang="en-US" dirty="0"/>
              <a:t>Need</a:t>
            </a:r>
          </a:p>
          <a:p>
            <a:pPr lvl="1"/>
            <a:r>
              <a:rPr lang="en-US" altLang="en-US" dirty="0"/>
              <a:t>Select between optional sections of a program</a:t>
            </a:r>
          </a:p>
          <a:p>
            <a:pPr lvl="1"/>
            <a:r>
              <a:rPr lang="en-US" altLang="en-US" dirty="0"/>
              <a:t>Repeat certain sections of a program.</a:t>
            </a:r>
          </a:p>
          <a:p>
            <a:r>
              <a:rPr lang="en-IN" dirty="0"/>
              <a:t>True and False representation</a:t>
            </a:r>
          </a:p>
          <a:p>
            <a:pPr lvl="1"/>
            <a:r>
              <a:rPr lang="en-IN" dirty="0"/>
              <a:t>False: value 0 is considered as false</a:t>
            </a:r>
          </a:p>
          <a:p>
            <a:pPr lvl="1"/>
            <a:r>
              <a:rPr lang="en-IN" dirty="0"/>
              <a:t>True: Any value other than 0 is considered as true</a:t>
            </a:r>
          </a:p>
          <a:p>
            <a:pPr>
              <a:buFontTx/>
              <a:buAutoNum type="arabicPeriod"/>
            </a:pPr>
            <a:endParaRPr lang="en-US" altLang="en-US" dirty="0"/>
          </a:p>
          <a:p>
            <a:endParaRPr lang="en-IN" dirty="0"/>
          </a:p>
        </p:txBody>
      </p:sp>
    </p:spTree>
    <p:extLst>
      <p:ext uri="{BB962C8B-B14F-4D97-AF65-F5344CB8AC3E}">
        <p14:creationId xmlns:p14="http://schemas.microsoft.com/office/powerpoint/2010/main" val="223689490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F3AE7D-313B-4792-A96B-DF4EF7ED2C62}"/>
              </a:ext>
            </a:extLst>
          </p:cNvPr>
          <p:cNvSpPr>
            <a:spLocks noGrp="1"/>
          </p:cNvSpPr>
          <p:nvPr>
            <p:ph type="title"/>
          </p:nvPr>
        </p:nvSpPr>
        <p:spPr/>
        <p:txBody>
          <a:bodyPr/>
          <a:lstStyle/>
          <a:p>
            <a:pPr algn="ctr"/>
            <a:r>
              <a:rPr lang="en-IN" dirty="0"/>
              <a:t>Types</a:t>
            </a:r>
          </a:p>
        </p:txBody>
      </p:sp>
      <p:sp>
        <p:nvSpPr>
          <p:cNvPr id="3" name="Content Placeholder 2">
            <a:extLst>
              <a:ext uri="{FF2B5EF4-FFF2-40B4-BE49-F238E27FC236}">
                <a16:creationId xmlns:a16="http://schemas.microsoft.com/office/drawing/2014/main" xmlns="" id="{B892981E-BF0D-423E-838A-23E47F675ECB}"/>
              </a:ext>
            </a:extLst>
          </p:cNvPr>
          <p:cNvSpPr>
            <a:spLocks noGrp="1"/>
          </p:cNvSpPr>
          <p:nvPr>
            <p:ph idx="1"/>
          </p:nvPr>
        </p:nvSpPr>
        <p:spPr/>
        <p:txBody>
          <a:bodyPr/>
          <a:lstStyle/>
          <a:p>
            <a:endParaRPr lang="en-IN"/>
          </a:p>
        </p:txBody>
      </p:sp>
      <p:graphicFrame>
        <p:nvGraphicFramePr>
          <p:cNvPr id="5" name="Diagram 4">
            <a:extLst>
              <a:ext uri="{FF2B5EF4-FFF2-40B4-BE49-F238E27FC236}">
                <a16:creationId xmlns:a16="http://schemas.microsoft.com/office/drawing/2014/main" xmlns="" id="{68438203-3391-45C4-BA2E-4BFB30B5BE04}"/>
              </a:ext>
            </a:extLst>
          </p:cNvPr>
          <p:cNvGraphicFramePr/>
          <p:nvPr/>
        </p:nvGraphicFramePr>
        <p:xfrm>
          <a:off x="1137410" y="1126779"/>
          <a:ext cx="8454646" cy="50501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7633537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155715-5E31-4B97-B654-89A9F98B23B4}"/>
              </a:ext>
            </a:extLst>
          </p:cNvPr>
          <p:cNvSpPr>
            <a:spLocks noGrp="1"/>
          </p:cNvSpPr>
          <p:nvPr>
            <p:ph type="title"/>
          </p:nvPr>
        </p:nvSpPr>
        <p:spPr>
          <a:xfrm>
            <a:off x="1551432" y="351874"/>
            <a:ext cx="8753856" cy="763764"/>
          </a:xfrm>
        </p:spPr>
        <p:txBody>
          <a:bodyPr>
            <a:normAutofit/>
          </a:bodyPr>
          <a:lstStyle/>
          <a:p>
            <a:r>
              <a:rPr lang="en-IN" sz="4000" dirty="0"/>
              <a:t>if statement</a:t>
            </a:r>
          </a:p>
        </p:txBody>
      </p:sp>
      <p:sp>
        <p:nvSpPr>
          <p:cNvPr id="3" name="Content Placeholder 2">
            <a:extLst>
              <a:ext uri="{FF2B5EF4-FFF2-40B4-BE49-F238E27FC236}">
                <a16:creationId xmlns:a16="http://schemas.microsoft.com/office/drawing/2014/main" xmlns="" id="{F5DE6187-A0C1-4848-8DF4-270D0D9B91A1}"/>
              </a:ext>
            </a:extLst>
          </p:cNvPr>
          <p:cNvSpPr>
            <a:spLocks noGrp="1"/>
          </p:cNvSpPr>
          <p:nvPr>
            <p:ph idx="1"/>
          </p:nvPr>
        </p:nvSpPr>
        <p:spPr>
          <a:xfrm>
            <a:off x="92766" y="1275644"/>
            <a:ext cx="9960712" cy="4901319"/>
          </a:xfrm>
        </p:spPr>
        <p:txBody>
          <a:bodyPr>
            <a:normAutofit fontScale="85000" lnSpcReduction="20000"/>
          </a:bodyPr>
          <a:lstStyle/>
          <a:p>
            <a:pPr algn="just"/>
            <a:endParaRPr lang="en-US" sz="2400" dirty="0">
              <a:effectLst/>
              <a:latin typeface="Montserrat" panose="020B0604020202020204" charset="0"/>
              <a:ea typeface="Times New Roman" panose="02020603050405020304" pitchFamily="18" charset="0"/>
              <a:cs typeface="Times New Roman" panose="02020603050405020304" pitchFamily="18" charset="0"/>
            </a:endParaRPr>
          </a:p>
          <a:p>
            <a:pPr algn="just"/>
            <a:endParaRPr lang="en-US" sz="2400" dirty="0">
              <a:latin typeface="Montserrat" panose="020B0604020202020204" charset="0"/>
              <a:ea typeface="Times New Roman" panose="02020603050405020304" pitchFamily="18" charset="0"/>
              <a:cs typeface="Times New Roman" panose="02020603050405020304" pitchFamily="18" charset="0"/>
            </a:endParaRPr>
          </a:p>
          <a:p>
            <a:pPr algn="just"/>
            <a:endParaRPr lang="en-US" sz="2400" dirty="0">
              <a:effectLst/>
              <a:latin typeface="Montserrat" panose="020B0604020202020204" charset="0"/>
              <a:ea typeface="Times New Roman" panose="02020603050405020304" pitchFamily="18" charset="0"/>
              <a:cs typeface="Times New Roman" panose="02020603050405020304" pitchFamily="18" charset="0"/>
            </a:endParaRPr>
          </a:p>
          <a:p>
            <a:pPr algn="just"/>
            <a:endParaRPr lang="en-US" sz="2400" dirty="0">
              <a:latin typeface="Montserrat" panose="020B0604020202020204" charset="0"/>
              <a:ea typeface="Times New Roman" panose="02020603050405020304" pitchFamily="18" charset="0"/>
              <a:cs typeface="Times New Roman" panose="02020603050405020304" pitchFamily="18" charset="0"/>
            </a:endParaRPr>
          </a:p>
          <a:p>
            <a:pPr algn="just"/>
            <a:endParaRPr lang="en-US" sz="2400" dirty="0">
              <a:effectLst/>
              <a:latin typeface="Montserrat" panose="020B0604020202020204" charset="0"/>
              <a:ea typeface="Times New Roman" panose="02020603050405020304" pitchFamily="18" charset="0"/>
              <a:cs typeface="Times New Roman" panose="02020603050405020304" pitchFamily="18" charset="0"/>
            </a:endParaRPr>
          </a:p>
          <a:p>
            <a:pPr algn="just"/>
            <a:endParaRPr lang="en-US" sz="2400" dirty="0">
              <a:effectLst/>
              <a:latin typeface="Montserrat" panose="020B0604020202020204" charset="0"/>
              <a:ea typeface="Times New Roman" panose="02020603050405020304" pitchFamily="18" charset="0"/>
              <a:cs typeface="Times New Roman" panose="02020603050405020304" pitchFamily="18" charset="0"/>
            </a:endParaRPr>
          </a:p>
          <a:p>
            <a:pPr algn="just"/>
            <a:endParaRPr lang="en-US" sz="2400" dirty="0">
              <a:effectLst/>
              <a:latin typeface="Montserrat" panose="020B0604020202020204" charset="0"/>
              <a:ea typeface="Times New Roman" panose="02020603050405020304" pitchFamily="18" charset="0"/>
              <a:cs typeface="Times New Roman" panose="02020603050405020304" pitchFamily="18" charset="0"/>
            </a:endParaRPr>
          </a:p>
          <a:p>
            <a:pPr algn="just"/>
            <a:r>
              <a:rPr lang="en-US" sz="2400" dirty="0">
                <a:effectLst/>
                <a:latin typeface="Montserrat" panose="020B0604020202020204" charset="0"/>
                <a:ea typeface="Times New Roman" panose="02020603050405020304" pitchFamily="18" charset="0"/>
                <a:cs typeface="Times New Roman" panose="02020603050405020304" pitchFamily="18" charset="0"/>
              </a:rPr>
              <a:t>One – way decision / branching</a:t>
            </a:r>
          </a:p>
          <a:p>
            <a:pPr algn="just"/>
            <a:r>
              <a:rPr lang="en-US" sz="2400" dirty="0">
                <a:effectLst/>
                <a:latin typeface="Montserrat" panose="020B0604020202020204" charset="0"/>
                <a:ea typeface="Times New Roman" panose="02020603050405020304" pitchFamily="18" charset="0"/>
              </a:rPr>
              <a:t>The ‘</a:t>
            </a:r>
            <a:r>
              <a:rPr lang="en-US" sz="2400" dirty="0">
                <a:solidFill>
                  <a:srgbClr val="FF0000"/>
                </a:solidFill>
                <a:effectLst/>
                <a:latin typeface="Montserrat" panose="020B0604020202020204" charset="0"/>
                <a:ea typeface="Times New Roman" panose="02020603050405020304" pitchFamily="18" charset="0"/>
              </a:rPr>
              <a:t>statements</a:t>
            </a:r>
            <a:r>
              <a:rPr lang="en-US" sz="2400" dirty="0">
                <a:effectLst/>
                <a:latin typeface="Montserrat" panose="020B0604020202020204" charset="0"/>
                <a:ea typeface="Times New Roman" panose="02020603050405020304" pitchFamily="18" charset="0"/>
              </a:rPr>
              <a:t>’</a:t>
            </a:r>
            <a:r>
              <a:rPr lang="en-US" sz="2400" dirty="0">
                <a:solidFill>
                  <a:srgbClr val="FF0000"/>
                </a:solidFill>
                <a:effectLst/>
                <a:latin typeface="Montserrat" panose="020B0604020202020204" charset="0"/>
                <a:ea typeface="Times New Roman" panose="02020603050405020304" pitchFamily="18" charset="0"/>
              </a:rPr>
              <a:t> </a:t>
            </a:r>
            <a:r>
              <a:rPr lang="en-US" sz="2400" dirty="0">
                <a:effectLst/>
                <a:latin typeface="Montserrat" panose="020B0604020202020204" charset="0"/>
                <a:ea typeface="Times New Roman" panose="02020603050405020304" pitchFamily="18" charset="0"/>
              </a:rPr>
              <a:t>can be any valid C language statement</a:t>
            </a:r>
          </a:p>
          <a:p>
            <a:pPr algn="just"/>
            <a:r>
              <a:rPr lang="en-US" sz="2400" dirty="0">
                <a:effectLst/>
                <a:latin typeface="Montserrat" panose="020B0604020202020204" charset="0"/>
                <a:ea typeface="Times New Roman" panose="02020603050405020304" pitchFamily="18" charset="0"/>
              </a:rPr>
              <a:t>‘</a:t>
            </a:r>
            <a:r>
              <a:rPr lang="en-US" sz="2400" dirty="0">
                <a:solidFill>
                  <a:srgbClr val="FF0000"/>
                </a:solidFill>
                <a:effectLst/>
                <a:latin typeface="Montserrat" panose="020B0604020202020204" charset="0"/>
                <a:ea typeface="Times New Roman" panose="02020603050405020304" pitchFamily="18" charset="0"/>
              </a:rPr>
              <a:t>condition</a:t>
            </a:r>
            <a:r>
              <a:rPr lang="en-US" sz="2400" dirty="0">
                <a:effectLst/>
                <a:latin typeface="Montserrat" panose="020B0604020202020204" charset="0"/>
                <a:ea typeface="Times New Roman" panose="02020603050405020304" pitchFamily="18" charset="0"/>
              </a:rPr>
              <a:t>’ is any </a:t>
            </a:r>
            <a:r>
              <a:rPr lang="en-US" sz="2400" dirty="0">
                <a:latin typeface="Montserrat" panose="020B0604020202020204" charset="0"/>
              </a:rPr>
              <a:t>valid</a:t>
            </a:r>
            <a:r>
              <a:rPr lang="en-US" sz="2400" dirty="0">
                <a:effectLst/>
                <a:latin typeface="Montserrat" panose="020B0604020202020204" charset="0"/>
                <a:ea typeface="Times New Roman" panose="02020603050405020304" pitchFamily="18" charset="0"/>
              </a:rPr>
              <a:t> C’ language expression, often </a:t>
            </a:r>
            <a:r>
              <a:rPr lang="en-US" sz="2400" dirty="0">
                <a:solidFill>
                  <a:schemeClr val="accent6">
                    <a:lumMod val="50000"/>
                  </a:schemeClr>
                </a:solidFill>
                <a:effectLst/>
                <a:latin typeface="Montserrat" panose="020B0604020202020204" charset="0"/>
                <a:ea typeface="Times New Roman" panose="02020603050405020304" pitchFamily="18" charset="0"/>
              </a:rPr>
              <a:t>logical operators</a:t>
            </a:r>
            <a:r>
              <a:rPr lang="en-US" sz="2400" dirty="0">
                <a:effectLst/>
                <a:latin typeface="Montserrat" panose="020B0604020202020204" charset="0"/>
                <a:ea typeface="Times New Roman" panose="02020603050405020304" pitchFamily="18" charset="0"/>
              </a:rPr>
              <a:t> are used in the condition statement</a:t>
            </a:r>
          </a:p>
          <a:p>
            <a:pPr algn="just"/>
            <a:r>
              <a:rPr lang="en-US" sz="2400" dirty="0">
                <a:latin typeface="Montserrat" panose="020B0604020202020204" charset="0"/>
                <a:ea typeface="Times New Roman" panose="02020603050405020304" pitchFamily="18" charset="0"/>
              </a:rPr>
              <a:t>I</a:t>
            </a:r>
            <a:r>
              <a:rPr lang="en-US" sz="2400" dirty="0">
                <a:effectLst/>
                <a:latin typeface="Montserrat" panose="020B0604020202020204" charset="0"/>
                <a:ea typeface="Times New Roman" panose="02020603050405020304" pitchFamily="18" charset="0"/>
              </a:rPr>
              <a:t>f the condition is true then perform </a:t>
            </a:r>
          </a:p>
          <a:p>
            <a:pPr marL="0" indent="0" algn="just">
              <a:buNone/>
            </a:pPr>
            <a:r>
              <a:rPr lang="en-US" sz="2400" dirty="0">
                <a:effectLst/>
                <a:latin typeface="Montserrat" panose="020B0604020202020204" charset="0"/>
                <a:ea typeface="Times New Roman" panose="02020603050405020304" pitchFamily="18" charset="0"/>
              </a:rPr>
              <a:t>the following statement or if the condition </a:t>
            </a:r>
          </a:p>
          <a:p>
            <a:pPr marL="0" indent="0" algn="just">
              <a:buNone/>
            </a:pPr>
            <a:r>
              <a:rPr lang="en-US" sz="2400" dirty="0">
                <a:effectLst/>
                <a:latin typeface="Montserrat" panose="020B0604020202020204" charset="0"/>
                <a:ea typeface="Times New Roman" panose="02020603050405020304" pitchFamily="18" charset="0"/>
              </a:rPr>
              <a:t>is false the computer skips the statement </a:t>
            </a:r>
          </a:p>
          <a:p>
            <a:pPr marL="0" indent="0" algn="just">
              <a:buNone/>
            </a:pPr>
            <a:r>
              <a:rPr lang="en-US" sz="2400" dirty="0">
                <a:effectLst/>
                <a:latin typeface="Montserrat" panose="020B0604020202020204" charset="0"/>
                <a:ea typeface="Times New Roman" panose="02020603050405020304" pitchFamily="18" charset="0"/>
              </a:rPr>
              <a:t>and moves on to the next instruction </a:t>
            </a:r>
          </a:p>
          <a:p>
            <a:pPr marL="0" indent="0" algn="just">
              <a:buNone/>
            </a:pPr>
            <a:r>
              <a:rPr lang="en-US" sz="2400" dirty="0">
                <a:effectLst/>
                <a:latin typeface="Montserrat" panose="020B0604020202020204" charset="0"/>
                <a:ea typeface="Times New Roman" panose="02020603050405020304" pitchFamily="18" charset="0"/>
              </a:rPr>
              <a:t>in the program</a:t>
            </a:r>
          </a:p>
          <a:p>
            <a:pPr marL="514350" indent="-285750"/>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grpSp>
        <p:nvGrpSpPr>
          <p:cNvPr id="36" name="Group 35">
            <a:extLst>
              <a:ext uri="{FF2B5EF4-FFF2-40B4-BE49-F238E27FC236}">
                <a16:creationId xmlns:a16="http://schemas.microsoft.com/office/drawing/2014/main" xmlns="" id="{3405CC30-405F-4DFD-A91A-67A6D38FADCA}"/>
              </a:ext>
            </a:extLst>
          </p:cNvPr>
          <p:cNvGrpSpPr/>
          <p:nvPr/>
        </p:nvGrpSpPr>
        <p:grpSpPr>
          <a:xfrm>
            <a:off x="7018565" y="2202244"/>
            <a:ext cx="979002" cy="1291986"/>
            <a:chOff x="8030203" y="2137004"/>
            <a:chExt cx="979002" cy="1291986"/>
          </a:xfrm>
        </p:grpSpPr>
        <p:sp>
          <p:nvSpPr>
            <p:cNvPr id="19" name="Line 10">
              <a:extLst>
                <a:ext uri="{FF2B5EF4-FFF2-40B4-BE49-F238E27FC236}">
                  <a16:creationId xmlns:a16="http://schemas.microsoft.com/office/drawing/2014/main" xmlns="" id="{0744D2CA-7AF7-485C-8C35-EA03A5F85858}"/>
                </a:ext>
              </a:extLst>
            </p:cNvPr>
            <p:cNvSpPr>
              <a:spLocks noChangeShapeType="1"/>
            </p:cNvSpPr>
            <p:nvPr/>
          </p:nvSpPr>
          <p:spPr bwMode="auto">
            <a:xfrm flipH="1">
              <a:off x="8030203" y="2137004"/>
              <a:ext cx="2" cy="129198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Text Box 18">
              <a:extLst>
                <a:ext uri="{FF2B5EF4-FFF2-40B4-BE49-F238E27FC236}">
                  <a16:creationId xmlns:a16="http://schemas.microsoft.com/office/drawing/2014/main" xmlns="" id="{962FCF85-EC5B-40B8-AFC3-8CFD34D3E3D2}"/>
                </a:ext>
              </a:extLst>
            </p:cNvPr>
            <p:cNvSpPr txBox="1">
              <a:spLocks noChangeArrowheads="1"/>
            </p:cNvSpPr>
            <p:nvPr/>
          </p:nvSpPr>
          <p:spPr bwMode="auto">
            <a:xfrm>
              <a:off x="8030205" y="2152653"/>
              <a:ext cx="979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en-US" sz="1400" b="1" dirty="0">
                  <a:latin typeface="Times New Roman" panose="02020603050405020304" pitchFamily="18" charset="0"/>
                </a:rPr>
                <a:t>False</a:t>
              </a:r>
            </a:p>
          </p:txBody>
        </p:sp>
      </p:grpSp>
      <p:grpSp>
        <p:nvGrpSpPr>
          <p:cNvPr id="35" name="Group 34">
            <a:extLst>
              <a:ext uri="{FF2B5EF4-FFF2-40B4-BE49-F238E27FC236}">
                <a16:creationId xmlns:a16="http://schemas.microsoft.com/office/drawing/2014/main" xmlns="" id="{6C700C75-1B61-4ED6-B797-5FC3FD7BD10C}"/>
              </a:ext>
            </a:extLst>
          </p:cNvPr>
          <p:cNvGrpSpPr/>
          <p:nvPr/>
        </p:nvGrpSpPr>
        <p:grpSpPr>
          <a:xfrm>
            <a:off x="7867037" y="1483447"/>
            <a:ext cx="1827475" cy="473513"/>
            <a:chOff x="8878675" y="1418217"/>
            <a:chExt cx="1827475" cy="473513"/>
          </a:xfrm>
        </p:grpSpPr>
        <p:sp>
          <p:nvSpPr>
            <p:cNvPr id="29" name="Line 14">
              <a:extLst>
                <a:ext uri="{FF2B5EF4-FFF2-40B4-BE49-F238E27FC236}">
                  <a16:creationId xmlns:a16="http://schemas.microsoft.com/office/drawing/2014/main" xmlns="" id="{76ABE937-81F3-44FC-AB34-42DFA1F0FF2E}"/>
                </a:ext>
              </a:extLst>
            </p:cNvPr>
            <p:cNvSpPr>
              <a:spLocks noChangeShapeType="1"/>
            </p:cNvSpPr>
            <p:nvPr/>
          </p:nvSpPr>
          <p:spPr bwMode="auto">
            <a:xfrm>
              <a:off x="8878675" y="1418217"/>
              <a:ext cx="18274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15">
              <a:extLst>
                <a:ext uri="{FF2B5EF4-FFF2-40B4-BE49-F238E27FC236}">
                  <a16:creationId xmlns:a16="http://schemas.microsoft.com/office/drawing/2014/main" xmlns="" id="{4CEB6E41-4234-49C3-B309-377E576D8D53}"/>
                </a:ext>
              </a:extLst>
            </p:cNvPr>
            <p:cNvSpPr>
              <a:spLocks noChangeShapeType="1"/>
            </p:cNvSpPr>
            <p:nvPr/>
          </p:nvSpPr>
          <p:spPr bwMode="auto">
            <a:xfrm>
              <a:off x="10706150" y="1418217"/>
              <a:ext cx="0" cy="47351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4" name="TextBox 33">
            <a:extLst>
              <a:ext uri="{FF2B5EF4-FFF2-40B4-BE49-F238E27FC236}">
                <a16:creationId xmlns:a16="http://schemas.microsoft.com/office/drawing/2014/main" xmlns="" id="{1600EA46-C39F-49C5-B845-4A10653F0E55}"/>
              </a:ext>
            </a:extLst>
          </p:cNvPr>
          <p:cNvSpPr txBox="1"/>
          <p:nvPr/>
        </p:nvSpPr>
        <p:spPr>
          <a:xfrm>
            <a:off x="6096000" y="3426055"/>
            <a:ext cx="2023273" cy="369332"/>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rest of the code</a:t>
            </a:r>
          </a:p>
        </p:txBody>
      </p:sp>
      <p:sp>
        <p:nvSpPr>
          <p:cNvPr id="58" name="Text Box 17">
            <a:extLst>
              <a:ext uri="{FF2B5EF4-FFF2-40B4-BE49-F238E27FC236}">
                <a16:creationId xmlns:a16="http://schemas.microsoft.com/office/drawing/2014/main" xmlns="" id="{757125BC-141A-458C-A5C5-11A47A7B86BF}"/>
              </a:ext>
            </a:extLst>
          </p:cNvPr>
          <p:cNvSpPr txBox="1">
            <a:spLocks noChangeArrowheads="1"/>
          </p:cNvSpPr>
          <p:nvPr/>
        </p:nvSpPr>
        <p:spPr bwMode="auto">
          <a:xfrm>
            <a:off x="7997567" y="1153326"/>
            <a:ext cx="104427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en-US" sz="1400" b="1" dirty="0">
                <a:latin typeface="Times New Roman" panose="02020603050405020304" pitchFamily="18" charset="0"/>
              </a:rPr>
              <a:t>True</a:t>
            </a:r>
          </a:p>
        </p:txBody>
      </p:sp>
      <p:sp>
        <p:nvSpPr>
          <p:cNvPr id="28" name="AutoShape 4">
            <a:extLst>
              <a:ext uri="{FF2B5EF4-FFF2-40B4-BE49-F238E27FC236}">
                <a16:creationId xmlns:a16="http://schemas.microsoft.com/office/drawing/2014/main" xmlns="" id="{602EF93F-E4A7-4BE5-8867-6413C52117FA}"/>
              </a:ext>
            </a:extLst>
          </p:cNvPr>
          <p:cNvSpPr>
            <a:spLocks noChangeArrowheads="1"/>
          </p:cNvSpPr>
          <p:nvPr/>
        </p:nvSpPr>
        <p:spPr bwMode="auto">
          <a:xfrm>
            <a:off x="6183348" y="790354"/>
            <a:ext cx="1696941" cy="1391606"/>
          </a:xfrm>
          <a:prstGeom prst="diamond">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dirty="0">
                <a:latin typeface="Times New Roman" panose="02020603050405020304" pitchFamily="18" charset="0"/>
              </a:rPr>
              <a:t>Test Condition</a:t>
            </a:r>
          </a:p>
        </p:txBody>
      </p:sp>
      <p:sp>
        <p:nvSpPr>
          <p:cNvPr id="33" name="Rectangle 5">
            <a:extLst>
              <a:ext uri="{FF2B5EF4-FFF2-40B4-BE49-F238E27FC236}">
                <a16:creationId xmlns:a16="http://schemas.microsoft.com/office/drawing/2014/main" xmlns="" id="{9D4E0ECE-3949-49E7-B016-395754E7C4C2}"/>
              </a:ext>
            </a:extLst>
          </p:cNvPr>
          <p:cNvSpPr>
            <a:spLocks noChangeArrowheads="1"/>
          </p:cNvSpPr>
          <p:nvPr/>
        </p:nvSpPr>
        <p:spPr bwMode="auto">
          <a:xfrm>
            <a:off x="8682873" y="1960215"/>
            <a:ext cx="2023276" cy="48403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dirty="0">
                <a:latin typeface="Times New Roman" panose="02020603050405020304" pitchFamily="18" charset="0"/>
              </a:rPr>
              <a:t>statement(s)</a:t>
            </a:r>
          </a:p>
        </p:txBody>
      </p:sp>
      <p:sp>
        <p:nvSpPr>
          <p:cNvPr id="42" name="Line 9">
            <a:extLst>
              <a:ext uri="{FF2B5EF4-FFF2-40B4-BE49-F238E27FC236}">
                <a16:creationId xmlns:a16="http://schemas.microsoft.com/office/drawing/2014/main" xmlns="" id="{CB1B8570-5FE6-4EF0-9425-16AA760F5678}"/>
              </a:ext>
            </a:extLst>
          </p:cNvPr>
          <p:cNvSpPr>
            <a:spLocks noChangeShapeType="1"/>
          </p:cNvSpPr>
          <p:nvPr/>
        </p:nvSpPr>
        <p:spPr bwMode="auto">
          <a:xfrm>
            <a:off x="7018565" y="454869"/>
            <a:ext cx="0" cy="3630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59" name="Group 58">
            <a:extLst>
              <a:ext uri="{FF2B5EF4-FFF2-40B4-BE49-F238E27FC236}">
                <a16:creationId xmlns:a16="http://schemas.microsoft.com/office/drawing/2014/main" xmlns="" id="{8B2AC26F-9B6C-4FC3-9404-135497D2124B}"/>
              </a:ext>
            </a:extLst>
          </p:cNvPr>
          <p:cNvGrpSpPr/>
          <p:nvPr/>
        </p:nvGrpSpPr>
        <p:grpSpPr>
          <a:xfrm>
            <a:off x="7018566" y="2445390"/>
            <a:ext cx="2675946" cy="731163"/>
            <a:chOff x="8030204" y="2382277"/>
            <a:chExt cx="2675945" cy="1080048"/>
          </a:xfrm>
        </p:grpSpPr>
        <p:cxnSp>
          <p:nvCxnSpPr>
            <p:cNvPr id="60" name="Straight Connector 59">
              <a:extLst>
                <a:ext uri="{FF2B5EF4-FFF2-40B4-BE49-F238E27FC236}">
                  <a16:creationId xmlns:a16="http://schemas.microsoft.com/office/drawing/2014/main" xmlns="" id="{0F82540E-F7F1-48E2-812B-51E90625F84A}"/>
                </a:ext>
              </a:extLst>
            </p:cNvPr>
            <p:cNvCxnSpPr/>
            <p:nvPr/>
          </p:nvCxnSpPr>
          <p:spPr>
            <a:xfrm>
              <a:off x="10706149" y="2382277"/>
              <a:ext cx="0" cy="10800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xmlns="" id="{F91C7D31-9FC8-47DE-A240-5FEF08B47121}"/>
                </a:ext>
              </a:extLst>
            </p:cNvPr>
            <p:cNvCxnSpPr/>
            <p:nvPr/>
          </p:nvCxnSpPr>
          <p:spPr>
            <a:xfrm flipH="1">
              <a:off x="8030204" y="3462325"/>
              <a:ext cx="267594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64" name="Text Box 18">
            <a:extLst>
              <a:ext uri="{FF2B5EF4-FFF2-40B4-BE49-F238E27FC236}">
                <a16:creationId xmlns:a16="http://schemas.microsoft.com/office/drawing/2014/main" xmlns="" id="{6ACDB96A-F31C-4B37-9D47-860015324539}"/>
              </a:ext>
            </a:extLst>
          </p:cNvPr>
          <p:cNvSpPr txBox="1">
            <a:spLocks noChangeArrowheads="1"/>
          </p:cNvSpPr>
          <p:nvPr/>
        </p:nvSpPr>
        <p:spPr bwMode="auto">
          <a:xfrm>
            <a:off x="7018567" y="2215776"/>
            <a:ext cx="979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en-US" sz="1400" b="1" dirty="0">
                <a:latin typeface="Times New Roman" panose="02020603050405020304" pitchFamily="18" charset="0"/>
              </a:rPr>
              <a:t>False</a:t>
            </a:r>
          </a:p>
        </p:txBody>
      </p:sp>
      <p:sp>
        <p:nvSpPr>
          <p:cNvPr id="4" name="Rectangle: Rounded Corners 3">
            <a:extLst>
              <a:ext uri="{FF2B5EF4-FFF2-40B4-BE49-F238E27FC236}">
                <a16:creationId xmlns:a16="http://schemas.microsoft.com/office/drawing/2014/main" xmlns="" id="{A1ED7D52-42CE-40FD-8E70-9F119745F5DB}"/>
              </a:ext>
            </a:extLst>
          </p:cNvPr>
          <p:cNvSpPr/>
          <p:nvPr/>
        </p:nvSpPr>
        <p:spPr>
          <a:xfrm>
            <a:off x="2271921" y="1357127"/>
            <a:ext cx="3212864" cy="16776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latin typeface="Montserrat" panose="020B0604020202020204" charset="0"/>
                <a:ea typeface="Times New Roman" panose="02020603050405020304" pitchFamily="18" charset="0"/>
                <a:cs typeface="Times New Roman" panose="02020603050405020304" pitchFamily="18" charset="0"/>
              </a:rPr>
              <a:t>Syntax:</a:t>
            </a:r>
          </a:p>
          <a:p>
            <a:r>
              <a:rPr lang="en-US" sz="1600" dirty="0">
                <a:latin typeface="Montserrat" panose="020B0604020202020204" charset="0"/>
                <a:ea typeface="Times New Roman" panose="02020603050405020304" pitchFamily="18" charset="0"/>
                <a:cs typeface="Times New Roman" panose="02020603050405020304" pitchFamily="18" charset="0"/>
              </a:rPr>
              <a:t>if(condition)</a:t>
            </a:r>
            <a:endParaRPr lang="en-US" dirty="0">
              <a:latin typeface="Montserrat" panose="020B0604020202020204" charset="0"/>
              <a:ea typeface="Times New Roman" panose="02020603050405020304" pitchFamily="18" charset="0"/>
              <a:cs typeface="Times New Roman" panose="02020603050405020304" pitchFamily="18" charset="0"/>
            </a:endParaRPr>
          </a:p>
          <a:p>
            <a:r>
              <a:rPr lang="en-US" dirty="0">
                <a:latin typeface="Montserrat" panose="020B0604020202020204" charset="0"/>
                <a:ea typeface="Times New Roman" panose="02020603050405020304" pitchFamily="18" charset="0"/>
                <a:cs typeface="Times New Roman" panose="02020603050405020304" pitchFamily="18" charset="0"/>
              </a:rPr>
              <a:t>{</a:t>
            </a:r>
          </a:p>
          <a:p>
            <a:r>
              <a:rPr lang="en-US" dirty="0">
                <a:latin typeface="Montserrat" panose="020B0604020202020204" charset="0"/>
                <a:ea typeface="Times New Roman" panose="02020603050405020304" pitchFamily="18" charset="0"/>
                <a:cs typeface="Times New Roman" panose="02020603050405020304" pitchFamily="18" charset="0"/>
              </a:rPr>
              <a:t>	statement(s);</a:t>
            </a:r>
          </a:p>
          <a:p>
            <a:r>
              <a:rPr lang="en-US" dirty="0">
                <a:latin typeface="Montserrat" panose="020B0604020202020204" charset="0"/>
                <a:ea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92256842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5B017F-B2AC-44CF-8553-2C00728EE50A}"/>
              </a:ext>
            </a:extLst>
          </p:cNvPr>
          <p:cNvSpPr>
            <a:spLocks noGrp="1"/>
          </p:cNvSpPr>
          <p:nvPr>
            <p:ph type="title"/>
          </p:nvPr>
        </p:nvSpPr>
        <p:spPr/>
        <p:txBody>
          <a:bodyPr/>
          <a:lstStyle/>
          <a:p>
            <a:pPr algn="ctr"/>
            <a:r>
              <a:rPr lang="en-IN" dirty="0"/>
              <a:t>if statement - Example </a:t>
            </a:r>
          </a:p>
        </p:txBody>
      </p:sp>
      <p:sp>
        <p:nvSpPr>
          <p:cNvPr id="3" name="Content Placeholder 2">
            <a:extLst>
              <a:ext uri="{FF2B5EF4-FFF2-40B4-BE49-F238E27FC236}">
                <a16:creationId xmlns:a16="http://schemas.microsoft.com/office/drawing/2014/main" xmlns="" id="{EF5B266F-5CD1-4B69-9566-2D85AE6448D0}"/>
              </a:ext>
            </a:extLst>
          </p:cNvPr>
          <p:cNvSpPr>
            <a:spLocks noGrp="1"/>
          </p:cNvSpPr>
          <p:nvPr>
            <p:ph sz="half" idx="1"/>
          </p:nvPr>
        </p:nvSpPr>
        <p:spPr>
          <a:xfrm>
            <a:off x="1438656" y="1808382"/>
            <a:ext cx="6073492" cy="4351338"/>
          </a:xfrm>
        </p:spPr>
        <p:txBody>
          <a:bodyPr>
            <a:normAutofit/>
          </a:bodyPr>
          <a:lstStyle/>
          <a:p>
            <a:pPr marL="0" indent="0" algn="just">
              <a:buNone/>
            </a:pPr>
            <a:r>
              <a:rPr lang="en-IN" sz="2000" b="0" dirty="0">
                <a:effectLst/>
                <a:latin typeface="Montserrat" panose="020B0604020202020204" charset="0"/>
                <a:ea typeface="Times New Roman" panose="02020603050405020304" pitchFamily="18" charset="0"/>
                <a:cs typeface="Times New Roman" panose="02020603050405020304" pitchFamily="18" charset="0"/>
              </a:rPr>
              <a:t>#include&lt;</a:t>
            </a:r>
            <a:r>
              <a:rPr lang="en-IN" sz="2000" b="0" dirty="0" err="1">
                <a:effectLst/>
                <a:latin typeface="Montserrat" panose="020B0604020202020204" charset="0"/>
                <a:ea typeface="Times New Roman" panose="02020603050405020304" pitchFamily="18" charset="0"/>
                <a:cs typeface="Times New Roman" panose="02020603050405020304" pitchFamily="18" charset="0"/>
              </a:rPr>
              <a:t>stdio.h</a:t>
            </a:r>
            <a:r>
              <a:rPr lang="en-IN" sz="2000" b="0" dirty="0">
                <a:effectLst/>
                <a:latin typeface="Montserrat" panose="020B0604020202020204" charset="0"/>
                <a:ea typeface="Times New Roman" panose="02020603050405020304" pitchFamily="18" charset="0"/>
                <a:cs typeface="Times New Roman" panose="02020603050405020304" pitchFamily="18" charset="0"/>
              </a:rPr>
              <a:t>&gt;</a:t>
            </a:r>
          </a:p>
          <a:p>
            <a:pPr marL="0" indent="0" algn="just">
              <a:buNone/>
            </a:pPr>
            <a:r>
              <a:rPr lang="en-IN" sz="2000" b="0" dirty="0">
                <a:effectLst/>
                <a:latin typeface="Montserrat" panose="020B0604020202020204" charset="0"/>
                <a:ea typeface="Times New Roman" panose="02020603050405020304" pitchFamily="18" charset="0"/>
                <a:cs typeface="Times New Roman" panose="02020603050405020304" pitchFamily="18" charset="0"/>
              </a:rPr>
              <a:t>void main()</a:t>
            </a:r>
          </a:p>
          <a:p>
            <a:pPr marL="0" indent="0" algn="just">
              <a:buNone/>
            </a:pPr>
            <a:r>
              <a:rPr lang="en-IN" sz="2000" b="0" dirty="0">
                <a:effectLst/>
                <a:latin typeface="Montserrat" panose="020B0604020202020204" charset="0"/>
                <a:ea typeface="Times New Roman" panose="02020603050405020304" pitchFamily="18" charset="0"/>
                <a:cs typeface="Times New Roman" panose="02020603050405020304" pitchFamily="18" charset="0"/>
              </a:rPr>
              <a:t>{</a:t>
            </a:r>
          </a:p>
          <a:p>
            <a:pPr marL="0" indent="0" algn="just">
              <a:buNone/>
            </a:pPr>
            <a:r>
              <a:rPr lang="en-IN" sz="2000" b="0" dirty="0">
                <a:effectLst/>
                <a:latin typeface="Montserrat" panose="020B0604020202020204" charset="0"/>
                <a:ea typeface="Times New Roman" panose="02020603050405020304" pitchFamily="18" charset="0"/>
                <a:cs typeface="Times New Roman" panose="02020603050405020304" pitchFamily="18" charset="0"/>
              </a:rPr>
              <a:t>    int number;</a:t>
            </a:r>
          </a:p>
          <a:p>
            <a:pPr marL="0" indent="0" algn="just">
              <a:buNone/>
            </a:pPr>
            <a:r>
              <a:rPr lang="en-IN" sz="2000" b="0" dirty="0">
                <a:effectLst/>
                <a:latin typeface="Montserrat" panose="020B0604020202020204" charset="0"/>
                <a:ea typeface="Times New Roman" panose="02020603050405020304" pitchFamily="18" charset="0"/>
                <a:cs typeface="Times New Roman" panose="02020603050405020304" pitchFamily="18" charset="0"/>
              </a:rPr>
              <a:t>    </a:t>
            </a:r>
            <a:r>
              <a:rPr lang="en-IN" sz="2000" b="0" dirty="0" err="1">
                <a:effectLst/>
                <a:latin typeface="Montserrat" panose="020B0604020202020204" charset="0"/>
                <a:ea typeface="Times New Roman" panose="02020603050405020304" pitchFamily="18" charset="0"/>
                <a:cs typeface="Times New Roman" panose="02020603050405020304" pitchFamily="18" charset="0"/>
              </a:rPr>
              <a:t>printf</a:t>
            </a:r>
            <a:r>
              <a:rPr lang="en-IN" sz="2000" b="0" dirty="0">
                <a:effectLst/>
                <a:latin typeface="Montserrat" panose="020B0604020202020204" charset="0"/>
                <a:ea typeface="Times New Roman" panose="02020603050405020304" pitchFamily="18" charset="0"/>
                <a:cs typeface="Times New Roman" panose="02020603050405020304" pitchFamily="18" charset="0"/>
              </a:rPr>
              <a:t>("Enter a number</a:t>
            </a:r>
            <a:r>
              <a:rPr lang="en-IN" sz="2000" dirty="0">
                <a:latin typeface="Montserrat" panose="020B0604020202020204" charset="0"/>
                <a:ea typeface="Times New Roman" panose="02020603050405020304" pitchFamily="18" charset="0"/>
                <a:cs typeface="Times New Roman" panose="02020603050405020304" pitchFamily="18" charset="0"/>
              </a:rPr>
              <a:t>:</a:t>
            </a:r>
            <a:r>
              <a:rPr lang="en-IN" sz="2000" b="0" dirty="0">
                <a:effectLst/>
                <a:latin typeface="Montserrat" panose="020B0604020202020204" charset="0"/>
                <a:ea typeface="Times New Roman" panose="02020603050405020304" pitchFamily="18" charset="0"/>
                <a:cs typeface="Times New Roman" panose="02020603050405020304" pitchFamily="18" charset="0"/>
              </a:rPr>
              <a:t>");</a:t>
            </a:r>
          </a:p>
          <a:p>
            <a:pPr marL="0" indent="0" algn="just">
              <a:buNone/>
            </a:pPr>
            <a:r>
              <a:rPr lang="en-IN" sz="2000" b="0" dirty="0">
                <a:effectLst/>
                <a:latin typeface="Montserrat" panose="020B0604020202020204" charset="0"/>
                <a:ea typeface="Times New Roman" panose="02020603050405020304" pitchFamily="18" charset="0"/>
                <a:cs typeface="Times New Roman" panose="02020603050405020304" pitchFamily="18" charset="0"/>
              </a:rPr>
              <a:t>    </a:t>
            </a:r>
            <a:r>
              <a:rPr lang="en-IN" sz="2000" b="0" dirty="0" err="1">
                <a:effectLst/>
                <a:latin typeface="Montserrat" panose="020B0604020202020204" charset="0"/>
                <a:ea typeface="Times New Roman" panose="02020603050405020304" pitchFamily="18" charset="0"/>
                <a:cs typeface="Times New Roman" panose="02020603050405020304" pitchFamily="18" charset="0"/>
              </a:rPr>
              <a:t>scanf</a:t>
            </a:r>
            <a:r>
              <a:rPr lang="en-IN" sz="2000" b="0" dirty="0">
                <a:effectLst/>
                <a:latin typeface="Montserrat" panose="020B0604020202020204" charset="0"/>
                <a:ea typeface="Times New Roman" panose="02020603050405020304" pitchFamily="18" charset="0"/>
                <a:cs typeface="Times New Roman" panose="02020603050405020304" pitchFamily="18" charset="0"/>
              </a:rPr>
              <a:t>("%d", &amp;number);</a:t>
            </a:r>
          </a:p>
          <a:p>
            <a:pPr marL="0" indent="0" algn="just">
              <a:buNone/>
            </a:pPr>
            <a:r>
              <a:rPr lang="en-IN" sz="2000" b="0" dirty="0">
                <a:effectLst/>
                <a:latin typeface="Montserrat" panose="020B0604020202020204" charset="0"/>
                <a:ea typeface="Times New Roman" panose="02020603050405020304" pitchFamily="18" charset="0"/>
                <a:cs typeface="Times New Roman" panose="02020603050405020304" pitchFamily="18" charset="0"/>
              </a:rPr>
              <a:t>    if(number&lt;0)</a:t>
            </a:r>
          </a:p>
          <a:p>
            <a:pPr marL="0" indent="0" algn="just">
              <a:buNone/>
            </a:pPr>
            <a:r>
              <a:rPr lang="en-IN" sz="2000" b="0" dirty="0">
                <a:effectLst/>
                <a:latin typeface="Montserrat" panose="020B0604020202020204" charset="0"/>
                <a:ea typeface="Times New Roman" panose="02020603050405020304" pitchFamily="18" charset="0"/>
                <a:cs typeface="Times New Roman" panose="02020603050405020304" pitchFamily="18" charset="0"/>
              </a:rPr>
              <a:t>    	number= -number;</a:t>
            </a:r>
          </a:p>
          <a:p>
            <a:pPr marL="0" indent="0" algn="just">
              <a:buNone/>
            </a:pPr>
            <a:r>
              <a:rPr lang="en-IN" sz="2000" b="0" dirty="0">
                <a:effectLst/>
                <a:latin typeface="Montserrat" panose="020B0604020202020204" charset="0"/>
                <a:ea typeface="Times New Roman" panose="02020603050405020304" pitchFamily="18" charset="0"/>
                <a:cs typeface="Times New Roman" panose="02020603050405020304" pitchFamily="18" charset="0"/>
              </a:rPr>
              <a:t>    </a:t>
            </a:r>
            <a:r>
              <a:rPr lang="en-IN" sz="2000" b="0" dirty="0" err="1">
                <a:effectLst/>
                <a:latin typeface="Montserrat" panose="020B0604020202020204" charset="0"/>
                <a:ea typeface="Times New Roman" panose="02020603050405020304" pitchFamily="18" charset="0"/>
                <a:cs typeface="Times New Roman" panose="02020603050405020304" pitchFamily="18" charset="0"/>
              </a:rPr>
              <a:t>printf</a:t>
            </a:r>
            <a:r>
              <a:rPr lang="en-IN" sz="2000" b="0" dirty="0">
                <a:effectLst/>
                <a:latin typeface="Montserrat" panose="020B0604020202020204" charset="0"/>
                <a:ea typeface="Times New Roman" panose="02020603050405020304" pitchFamily="18" charset="0"/>
                <a:cs typeface="Times New Roman" panose="02020603050405020304" pitchFamily="18" charset="0"/>
              </a:rPr>
              <a:t>("The absolute value is %</a:t>
            </a:r>
            <a:r>
              <a:rPr lang="en-IN" sz="2000" b="0" dirty="0" err="1">
                <a:effectLst/>
                <a:latin typeface="Montserrat" panose="020B0604020202020204" charset="0"/>
                <a:ea typeface="Times New Roman" panose="02020603050405020304" pitchFamily="18" charset="0"/>
                <a:cs typeface="Times New Roman" panose="02020603050405020304" pitchFamily="18" charset="0"/>
              </a:rPr>
              <a:t>d",number</a:t>
            </a:r>
            <a:r>
              <a:rPr lang="en-IN" sz="2000" b="0" dirty="0">
                <a:effectLst/>
                <a:latin typeface="Montserrat" panose="020B0604020202020204" charset="0"/>
                <a:ea typeface="Times New Roman" panose="02020603050405020304" pitchFamily="18" charset="0"/>
                <a:cs typeface="Times New Roman" panose="02020603050405020304" pitchFamily="18" charset="0"/>
              </a:rPr>
              <a:t>);</a:t>
            </a:r>
          </a:p>
          <a:p>
            <a:pPr marL="0" indent="0" algn="just">
              <a:buNone/>
            </a:pPr>
            <a:r>
              <a:rPr lang="en-IN" sz="2000" b="0" dirty="0">
                <a:effectLst/>
                <a:latin typeface="Montserrat" panose="020B0604020202020204" charset="0"/>
                <a:ea typeface="Times New Roman" panose="02020603050405020304" pitchFamily="18" charset="0"/>
                <a:cs typeface="Times New Roman" panose="02020603050405020304" pitchFamily="18" charset="0"/>
              </a:rPr>
              <a:t>}</a:t>
            </a:r>
          </a:p>
          <a:p>
            <a:endParaRPr lang="en-IN" dirty="0"/>
          </a:p>
        </p:txBody>
      </p:sp>
      <p:sp>
        <p:nvSpPr>
          <p:cNvPr id="4" name="Content Placeholder 3">
            <a:extLst>
              <a:ext uri="{FF2B5EF4-FFF2-40B4-BE49-F238E27FC236}">
                <a16:creationId xmlns:a16="http://schemas.microsoft.com/office/drawing/2014/main" xmlns="" id="{FEBDCFCA-81EC-4C44-8ECC-11ED6EF916C9}"/>
              </a:ext>
            </a:extLst>
          </p:cNvPr>
          <p:cNvSpPr>
            <a:spLocks noGrp="1"/>
          </p:cNvSpPr>
          <p:nvPr>
            <p:ph sz="half" idx="2"/>
          </p:nvPr>
        </p:nvSpPr>
        <p:spPr>
          <a:xfrm>
            <a:off x="7244861" y="1825625"/>
            <a:ext cx="4600135" cy="4351338"/>
          </a:xfrm>
        </p:spPr>
        <p:txBody>
          <a:bodyPr>
            <a:normAutofit/>
          </a:bodyPr>
          <a:lstStyle/>
          <a:p>
            <a:pPr marL="0" indent="0">
              <a:buNone/>
            </a:pPr>
            <a:r>
              <a:rPr lang="en-IN" sz="1800" dirty="0"/>
              <a:t>Output</a:t>
            </a:r>
          </a:p>
          <a:p>
            <a:r>
              <a:rPr lang="en-IN" sz="1800" dirty="0"/>
              <a:t>Case 1:</a:t>
            </a:r>
          </a:p>
          <a:p>
            <a:pPr marL="0" indent="0">
              <a:buNone/>
            </a:pPr>
            <a:r>
              <a:rPr lang="en-IN" sz="1800" dirty="0"/>
              <a:t>Enter a number: -10</a:t>
            </a:r>
          </a:p>
          <a:p>
            <a:pPr marL="0" indent="0">
              <a:buNone/>
            </a:pPr>
            <a:r>
              <a:rPr lang="en-IN" sz="1800" dirty="0"/>
              <a:t>The absolute value is 10 </a:t>
            </a:r>
          </a:p>
          <a:p>
            <a:r>
              <a:rPr lang="en-IN" sz="1800" dirty="0"/>
              <a:t>Case 2:</a:t>
            </a:r>
          </a:p>
          <a:p>
            <a:pPr marL="0" indent="0">
              <a:buNone/>
            </a:pPr>
            <a:r>
              <a:rPr lang="en-IN" sz="1800" dirty="0"/>
              <a:t>Enter a number: 9</a:t>
            </a:r>
          </a:p>
          <a:p>
            <a:pPr marL="0" indent="0">
              <a:buNone/>
            </a:pPr>
            <a:r>
              <a:rPr lang="en-IN" sz="1800" dirty="0"/>
              <a:t>The absolute value is 9</a:t>
            </a:r>
          </a:p>
        </p:txBody>
      </p:sp>
    </p:spTree>
    <p:extLst>
      <p:ext uri="{BB962C8B-B14F-4D97-AF65-F5344CB8AC3E}">
        <p14:creationId xmlns:p14="http://schemas.microsoft.com/office/powerpoint/2010/main" val="370998648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53749D-6FB1-46B9-93D5-5232C460FB7E}"/>
              </a:ext>
            </a:extLst>
          </p:cNvPr>
          <p:cNvSpPr>
            <a:spLocks noGrp="1"/>
          </p:cNvSpPr>
          <p:nvPr>
            <p:ph type="title"/>
          </p:nvPr>
        </p:nvSpPr>
        <p:spPr/>
        <p:txBody>
          <a:bodyPr/>
          <a:lstStyle/>
          <a:p>
            <a:pPr algn="ctr"/>
            <a:r>
              <a:rPr lang="en-IN" sz="4400" dirty="0"/>
              <a:t>if-else </a:t>
            </a:r>
            <a:r>
              <a:rPr lang="en-IN" dirty="0"/>
              <a:t>statement</a:t>
            </a:r>
          </a:p>
        </p:txBody>
      </p:sp>
      <p:sp>
        <p:nvSpPr>
          <p:cNvPr id="3" name="Content Placeholder 2">
            <a:extLst>
              <a:ext uri="{FF2B5EF4-FFF2-40B4-BE49-F238E27FC236}">
                <a16:creationId xmlns:a16="http://schemas.microsoft.com/office/drawing/2014/main" xmlns="" id="{429FEF30-358D-431A-A115-C475CAF2E67F}"/>
              </a:ext>
            </a:extLst>
          </p:cNvPr>
          <p:cNvSpPr>
            <a:spLocks noGrp="1"/>
          </p:cNvSpPr>
          <p:nvPr>
            <p:ph sz="half" idx="1"/>
          </p:nvPr>
        </p:nvSpPr>
        <p:spPr>
          <a:xfrm>
            <a:off x="1232454" y="1825625"/>
            <a:ext cx="5159118" cy="4351338"/>
          </a:xfrm>
        </p:spPr>
        <p:txBody>
          <a:bodyPr>
            <a:normAutofit fontScale="92500" lnSpcReduction="10000"/>
          </a:bodyPr>
          <a:lstStyle/>
          <a:p>
            <a:pPr algn="just"/>
            <a:endParaRPr lang="en-US" sz="2800" dirty="0">
              <a:effectLst/>
              <a:latin typeface="Montserrat" panose="020B0604020202020204" charset="0"/>
              <a:ea typeface="Times New Roman" panose="02020603050405020304" pitchFamily="18" charset="0"/>
              <a:cs typeface="Times New Roman" panose="02020603050405020304" pitchFamily="18" charset="0"/>
            </a:endParaRPr>
          </a:p>
          <a:p>
            <a:pPr algn="just"/>
            <a:endParaRPr lang="en-US" dirty="0">
              <a:latin typeface="Montserrat" panose="020B0604020202020204" charset="0"/>
              <a:ea typeface="Times New Roman" panose="02020603050405020304" pitchFamily="18" charset="0"/>
              <a:cs typeface="Times New Roman" panose="02020603050405020304" pitchFamily="18" charset="0"/>
            </a:endParaRPr>
          </a:p>
          <a:p>
            <a:pPr algn="just"/>
            <a:endParaRPr lang="en-US" sz="2800" dirty="0">
              <a:effectLst/>
              <a:latin typeface="Montserrat" panose="020B0604020202020204" charset="0"/>
              <a:ea typeface="Times New Roman" panose="02020603050405020304" pitchFamily="18" charset="0"/>
              <a:cs typeface="Times New Roman" panose="02020603050405020304" pitchFamily="18" charset="0"/>
            </a:endParaRPr>
          </a:p>
          <a:p>
            <a:pPr algn="just"/>
            <a:endParaRPr lang="en-US" dirty="0">
              <a:latin typeface="Montserrat" panose="020B0604020202020204" charset="0"/>
              <a:ea typeface="Times New Roman" panose="02020603050405020304" pitchFamily="18" charset="0"/>
              <a:cs typeface="Times New Roman" panose="02020603050405020304" pitchFamily="18" charset="0"/>
            </a:endParaRPr>
          </a:p>
          <a:p>
            <a:pPr algn="just"/>
            <a:endParaRPr lang="en-US" sz="2800" dirty="0">
              <a:effectLst/>
              <a:latin typeface="Montserrat" panose="020B0604020202020204" charset="0"/>
              <a:ea typeface="Times New Roman" panose="02020603050405020304" pitchFamily="18" charset="0"/>
              <a:cs typeface="Times New Roman" panose="02020603050405020304" pitchFamily="18" charset="0"/>
            </a:endParaRPr>
          </a:p>
          <a:p>
            <a:pPr algn="just"/>
            <a:endParaRPr lang="en-US" dirty="0">
              <a:latin typeface="Montserrat" panose="020B0604020202020204" charset="0"/>
              <a:ea typeface="Times New Roman" panose="02020603050405020304" pitchFamily="18" charset="0"/>
              <a:cs typeface="Times New Roman" panose="02020603050405020304" pitchFamily="18" charset="0"/>
            </a:endParaRPr>
          </a:p>
          <a:p>
            <a:pPr algn="just"/>
            <a:r>
              <a:rPr lang="en-US" sz="2200" dirty="0">
                <a:effectLst/>
                <a:latin typeface="Montserrat" panose="020B0604020202020204" charset="0"/>
                <a:ea typeface="Times New Roman" panose="02020603050405020304" pitchFamily="18" charset="0"/>
                <a:cs typeface="Times New Roman" panose="02020603050405020304" pitchFamily="18" charset="0"/>
              </a:rPr>
              <a:t>Two-way decision / branching</a:t>
            </a:r>
          </a:p>
          <a:p>
            <a:r>
              <a:rPr lang="en-US" sz="2200" dirty="0">
                <a:effectLst/>
                <a:latin typeface="Montserrat" panose="020B0604020202020204" charset="0"/>
                <a:ea typeface="Times New Roman" panose="02020603050405020304" pitchFamily="18" charset="0"/>
              </a:rPr>
              <a:t>If the result of the condition is true, then program statement(s)_1 is executed, otherwise program statement(s)_2 will be executed</a:t>
            </a:r>
          </a:p>
          <a:p>
            <a:endParaRPr lang="en-IN" dirty="0"/>
          </a:p>
        </p:txBody>
      </p:sp>
      <p:grpSp>
        <p:nvGrpSpPr>
          <p:cNvPr id="2062" name="Group 2061">
            <a:extLst>
              <a:ext uri="{FF2B5EF4-FFF2-40B4-BE49-F238E27FC236}">
                <a16:creationId xmlns:a16="http://schemas.microsoft.com/office/drawing/2014/main" xmlns="" id="{50637CC9-2C65-49F0-BE58-FD6C9CCE133A}"/>
              </a:ext>
            </a:extLst>
          </p:cNvPr>
          <p:cNvGrpSpPr/>
          <p:nvPr/>
        </p:nvGrpSpPr>
        <p:grpSpPr>
          <a:xfrm>
            <a:off x="6463284" y="1014653"/>
            <a:ext cx="5469728" cy="3435500"/>
            <a:chOff x="5036257" y="376387"/>
            <a:chExt cx="6681531" cy="2997316"/>
          </a:xfrm>
        </p:grpSpPr>
        <p:sp>
          <p:nvSpPr>
            <p:cNvPr id="32" name="AutoShape 4">
              <a:extLst>
                <a:ext uri="{FF2B5EF4-FFF2-40B4-BE49-F238E27FC236}">
                  <a16:creationId xmlns:a16="http://schemas.microsoft.com/office/drawing/2014/main" xmlns="" id="{1B45139C-F63F-4133-9A55-0DC7719BBE91}"/>
                </a:ext>
              </a:extLst>
            </p:cNvPr>
            <p:cNvSpPr>
              <a:spLocks noChangeArrowheads="1"/>
            </p:cNvSpPr>
            <p:nvPr/>
          </p:nvSpPr>
          <p:spPr bwMode="auto">
            <a:xfrm>
              <a:off x="7181734" y="738150"/>
              <a:ext cx="1696941" cy="1391606"/>
            </a:xfrm>
            <a:prstGeom prst="diamond">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dirty="0">
                  <a:latin typeface="Times New Roman" panose="02020603050405020304" pitchFamily="18" charset="0"/>
                </a:rPr>
                <a:t>Test Condition</a:t>
              </a:r>
            </a:p>
          </p:txBody>
        </p:sp>
        <p:sp>
          <p:nvSpPr>
            <p:cNvPr id="33" name="Rectangle 5">
              <a:extLst>
                <a:ext uri="{FF2B5EF4-FFF2-40B4-BE49-F238E27FC236}">
                  <a16:creationId xmlns:a16="http://schemas.microsoft.com/office/drawing/2014/main" xmlns="" id="{40C65201-C04A-4A11-8026-01E5EBA5BE7B}"/>
                </a:ext>
              </a:extLst>
            </p:cNvPr>
            <p:cNvSpPr>
              <a:spLocks noChangeArrowheads="1"/>
            </p:cNvSpPr>
            <p:nvPr/>
          </p:nvSpPr>
          <p:spPr bwMode="auto">
            <a:xfrm>
              <a:off x="9694512" y="1882870"/>
              <a:ext cx="2023276" cy="48403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dirty="0">
                  <a:latin typeface="Times New Roman" panose="02020603050405020304" pitchFamily="18" charset="0"/>
                </a:rPr>
                <a:t>statement(s)</a:t>
              </a:r>
            </a:p>
          </p:txBody>
        </p:sp>
        <p:sp>
          <p:nvSpPr>
            <p:cNvPr id="34" name="Line 9">
              <a:extLst>
                <a:ext uri="{FF2B5EF4-FFF2-40B4-BE49-F238E27FC236}">
                  <a16:creationId xmlns:a16="http://schemas.microsoft.com/office/drawing/2014/main" xmlns="" id="{72546DBE-D0A0-41E2-AF3F-1D2E350974DA}"/>
                </a:ext>
              </a:extLst>
            </p:cNvPr>
            <p:cNvSpPr>
              <a:spLocks noChangeShapeType="1"/>
            </p:cNvSpPr>
            <p:nvPr/>
          </p:nvSpPr>
          <p:spPr bwMode="auto">
            <a:xfrm>
              <a:off x="8030203" y="376387"/>
              <a:ext cx="0" cy="3630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42" name="Group 41">
              <a:extLst>
                <a:ext uri="{FF2B5EF4-FFF2-40B4-BE49-F238E27FC236}">
                  <a16:creationId xmlns:a16="http://schemas.microsoft.com/office/drawing/2014/main" xmlns="" id="{520B523C-FEF8-4CBE-90BB-D01BB95E272A}"/>
                </a:ext>
              </a:extLst>
            </p:cNvPr>
            <p:cNvGrpSpPr/>
            <p:nvPr/>
          </p:nvGrpSpPr>
          <p:grpSpPr>
            <a:xfrm>
              <a:off x="8878675" y="1418217"/>
              <a:ext cx="1827475" cy="473513"/>
              <a:chOff x="8878675" y="1418217"/>
              <a:chExt cx="1827475" cy="473513"/>
            </a:xfrm>
          </p:grpSpPr>
          <p:sp>
            <p:nvSpPr>
              <p:cNvPr id="43" name="Line 14">
                <a:extLst>
                  <a:ext uri="{FF2B5EF4-FFF2-40B4-BE49-F238E27FC236}">
                    <a16:creationId xmlns:a16="http://schemas.microsoft.com/office/drawing/2014/main" xmlns="" id="{0CA25056-B618-45FF-A169-0CF710823F2B}"/>
                  </a:ext>
                </a:extLst>
              </p:cNvPr>
              <p:cNvSpPr>
                <a:spLocks noChangeShapeType="1"/>
              </p:cNvSpPr>
              <p:nvPr/>
            </p:nvSpPr>
            <p:spPr bwMode="auto">
              <a:xfrm>
                <a:off x="8878675" y="1418217"/>
                <a:ext cx="18274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 name="Line 15">
                <a:extLst>
                  <a:ext uri="{FF2B5EF4-FFF2-40B4-BE49-F238E27FC236}">
                    <a16:creationId xmlns:a16="http://schemas.microsoft.com/office/drawing/2014/main" xmlns="" id="{487159A4-6913-4F89-B27E-4695E6E71A82}"/>
                  </a:ext>
                </a:extLst>
              </p:cNvPr>
              <p:cNvSpPr>
                <a:spLocks noChangeShapeType="1"/>
              </p:cNvSpPr>
              <p:nvPr/>
            </p:nvSpPr>
            <p:spPr bwMode="auto">
              <a:xfrm>
                <a:off x="10706150" y="1418217"/>
                <a:ext cx="0" cy="47351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5" name="Rectangle 5">
              <a:extLst>
                <a:ext uri="{FF2B5EF4-FFF2-40B4-BE49-F238E27FC236}">
                  <a16:creationId xmlns:a16="http://schemas.microsoft.com/office/drawing/2014/main" xmlns="" id="{1B78BAC5-9EAA-4970-93CE-72824D6A2C52}"/>
                </a:ext>
              </a:extLst>
            </p:cNvPr>
            <p:cNvSpPr>
              <a:spLocks noChangeArrowheads="1"/>
            </p:cNvSpPr>
            <p:nvPr/>
          </p:nvSpPr>
          <p:spPr bwMode="auto">
            <a:xfrm>
              <a:off x="5036257" y="1891730"/>
              <a:ext cx="2023276" cy="48403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dirty="0">
                  <a:latin typeface="Times New Roman" panose="02020603050405020304" pitchFamily="18" charset="0"/>
                </a:rPr>
                <a:t>statement(s)</a:t>
              </a:r>
            </a:p>
          </p:txBody>
        </p:sp>
        <p:grpSp>
          <p:nvGrpSpPr>
            <p:cNvPr id="2053" name="Group 2052">
              <a:extLst>
                <a:ext uri="{FF2B5EF4-FFF2-40B4-BE49-F238E27FC236}">
                  <a16:creationId xmlns:a16="http://schemas.microsoft.com/office/drawing/2014/main" xmlns="" id="{A24391EA-C8C5-4AD6-95D8-DA89B3D2A3F2}"/>
                </a:ext>
              </a:extLst>
            </p:cNvPr>
            <p:cNvGrpSpPr/>
            <p:nvPr/>
          </p:nvGrpSpPr>
          <p:grpSpPr>
            <a:xfrm>
              <a:off x="6004095" y="1433953"/>
              <a:ext cx="1212069" cy="462170"/>
              <a:chOff x="6004095" y="1433953"/>
              <a:chExt cx="1212069" cy="462170"/>
            </a:xfrm>
          </p:grpSpPr>
          <p:cxnSp>
            <p:nvCxnSpPr>
              <p:cNvPr id="2048" name="Straight Connector 2047">
                <a:extLst>
                  <a:ext uri="{FF2B5EF4-FFF2-40B4-BE49-F238E27FC236}">
                    <a16:creationId xmlns:a16="http://schemas.microsoft.com/office/drawing/2014/main" xmlns="" id="{F654F71A-F31E-4EA2-B909-539DEAE45526}"/>
                  </a:ext>
                </a:extLst>
              </p:cNvPr>
              <p:cNvCxnSpPr>
                <a:cxnSpLocks/>
              </p:cNvCxnSpPr>
              <p:nvPr/>
            </p:nvCxnSpPr>
            <p:spPr>
              <a:xfrm flipH="1">
                <a:off x="6004095" y="1433953"/>
                <a:ext cx="1212069" cy="0"/>
              </a:xfrm>
              <a:prstGeom prst="line">
                <a:avLst/>
              </a:prstGeom>
            </p:spPr>
            <p:style>
              <a:lnRef idx="1">
                <a:schemeClr val="dk1"/>
              </a:lnRef>
              <a:fillRef idx="0">
                <a:schemeClr val="dk1"/>
              </a:fillRef>
              <a:effectRef idx="0">
                <a:schemeClr val="dk1"/>
              </a:effectRef>
              <a:fontRef idx="minor">
                <a:schemeClr val="tx1"/>
              </a:fontRef>
            </p:style>
          </p:cxnSp>
          <p:cxnSp>
            <p:nvCxnSpPr>
              <p:cNvPr id="2051" name="Straight Arrow Connector 2050">
                <a:extLst>
                  <a:ext uri="{FF2B5EF4-FFF2-40B4-BE49-F238E27FC236}">
                    <a16:creationId xmlns:a16="http://schemas.microsoft.com/office/drawing/2014/main" xmlns="" id="{0703D31D-610B-4D4F-A4B9-842C6A64AB48}"/>
                  </a:ext>
                </a:extLst>
              </p:cNvPr>
              <p:cNvCxnSpPr/>
              <p:nvPr/>
            </p:nvCxnSpPr>
            <p:spPr>
              <a:xfrm>
                <a:off x="6004095" y="1447206"/>
                <a:ext cx="0" cy="44891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060" name="Oval 2059">
              <a:extLst>
                <a:ext uri="{FF2B5EF4-FFF2-40B4-BE49-F238E27FC236}">
                  <a16:creationId xmlns:a16="http://schemas.microsoft.com/office/drawing/2014/main" xmlns="" id="{9DE0066D-E525-470D-9F52-54A6746B5F36}"/>
                </a:ext>
              </a:extLst>
            </p:cNvPr>
            <p:cNvSpPr/>
            <p:nvPr/>
          </p:nvSpPr>
          <p:spPr>
            <a:xfrm>
              <a:off x="8030203" y="2822438"/>
              <a:ext cx="652654" cy="5512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Text Box 17">
              <a:extLst>
                <a:ext uri="{FF2B5EF4-FFF2-40B4-BE49-F238E27FC236}">
                  <a16:creationId xmlns:a16="http://schemas.microsoft.com/office/drawing/2014/main" xmlns="" id="{19CC5E2E-3422-4339-AD95-F8390D743954}"/>
                </a:ext>
              </a:extLst>
            </p:cNvPr>
            <p:cNvSpPr txBox="1">
              <a:spLocks noChangeArrowheads="1"/>
            </p:cNvSpPr>
            <p:nvPr/>
          </p:nvSpPr>
          <p:spPr bwMode="auto">
            <a:xfrm>
              <a:off x="9012041" y="1081817"/>
              <a:ext cx="104427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en-US" sz="1400" b="1" dirty="0">
                  <a:latin typeface="Times New Roman" panose="02020603050405020304" pitchFamily="18" charset="0"/>
                </a:rPr>
                <a:t>True</a:t>
              </a:r>
            </a:p>
          </p:txBody>
        </p:sp>
        <p:sp>
          <p:nvSpPr>
            <p:cNvPr id="60" name="Text Box 17">
              <a:extLst>
                <a:ext uri="{FF2B5EF4-FFF2-40B4-BE49-F238E27FC236}">
                  <a16:creationId xmlns:a16="http://schemas.microsoft.com/office/drawing/2014/main" xmlns="" id="{4C4F4F14-B3BE-488B-BA63-3926FB766798}"/>
                </a:ext>
              </a:extLst>
            </p:cNvPr>
            <p:cNvSpPr txBox="1">
              <a:spLocks noChangeArrowheads="1"/>
            </p:cNvSpPr>
            <p:nvPr/>
          </p:nvSpPr>
          <p:spPr bwMode="auto">
            <a:xfrm>
              <a:off x="6174319" y="1114417"/>
              <a:ext cx="104427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en-US" sz="1400" b="1" dirty="0">
                  <a:latin typeface="Times New Roman" panose="02020603050405020304" pitchFamily="18" charset="0"/>
                </a:rPr>
                <a:t>False</a:t>
              </a:r>
            </a:p>
          </p:txBody>
        </p:sp>
        <p:grpSp>
          <p:nvGrpSpPr>
            <p:cNvPr id="61" name="Group 60">
              <a:extLst>
                <a:ext uri="{FF2B5EF4-FFF2-40B4-BE49-F238E27FC236}">
                  <a16:creationId xmlns:a16="http://schemas.microsoft.com/office/drawing/2014/main" xmlns="" id="{0D2D3414-4310-4562-BA35-22155C5A8581}"/>
                </a:ext>
              </a:extLst>
            </p:cNvPr>
            <p:cNvGrpSpPr/>
            <p:nvPr/>
          </p:nvGrpSpPr>
          <p:grpSpPr>
            <a:xfrm>
              <a:off x="8682857" y="2366907"/>
              <a:ext cx="2104392" cy="731163"/>
              <a:chOff x="8030204" y="2382277"/>
              <a:chExt cx="2675945" cy="1080048"/>
            </a:xfrm>
          </p:grpSpPr>
          <p:cxnSp>
            <p:nvCxnSpPr>
              <p:cNvPr id="62" name="Straight Connector 61">
                <a:extLst>
                  <a:ext uri="{FF2B5EF4-FFF2-40B4-BE49-F238E27FC236}">
                    <a16:creationId xmlns:a16="http://schemas.microsoft.com/office/drawing/2014/main" xmlns="" id="{D4EA4503-8344-45E2-866D-95366EAD059C}"/>
                  </a:ext>
                </a:extLst>
              </p:cNvPr>
              <p:cNvCxnSpPr/>
              <p:nvPr/>
            </p:nvCxnSpPr>
            <p:spPr>
              <a:xfrm>
                <a:off x="10706149" y="2382277"/>
                <a:ext cx="0" cy="1080048"/>
              </a:xfrm>
              <a:prstGeom prst="line">
                <a:avLst/>
              </a:prstGeom>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xmlns="" id="{0F731BB6-130D-4328-89F2-34BCBF53466F}"/>
                  </a:ext>
                </a:extLst>
              </p:cNvPr>
              <p:cNvCxnSpPr/>
              <p:nvPr/>
            </p:nvCxnSpPr>
            <p:spPr>
              <a:xfrm flipH="1">
                <a:off x="8030204" y="3462325"/>
                <a:ext cx="267594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061" name="Group 2060">
              <a:extLst>
                <a:ext uri="{FF2B5EF4-FFF2-40B4-BE49-F238E27FC236}">
                  <a16:creationId xmlns:a16="http://schemas.microsoft.com/office/drawing/2014/main" xmlns="" id="{A04F0498-AF9C-423A-AF30-7A835A1C405E}"/>
                </a:ext>
              </a:extLst>
            </p:cNvPr>
            <p:cNvGrpSpPr/>
            <p:nvPr/>
          </p:nvGrpSpPr>
          <p:grpSpPr>
            <a:xfrm>
              <a:off x="6047895" y="2375767"/>
              <a:ext cx="1982308" cy="722304"/>
              <a:chOff x="6047895" y="2375767"/>
              <a:chExt cx="1982308" cy="722304"/>
            </a:xfrm>
          </p:grpSpPr>
          <p:cxnSp>
            <p:nvCxnSpPr>
              <p:cNvPr id="2055" name="Straight Connector 2054">
                <a:extLst>
                  <a:ext uri="{FF2B5EF4-FFF2-40B4-BE49-F238E27FC236}">
                    <a16:creationId xmlns:a16="http://schemas.microsoft.com/office/drawing/2014/main" xmlns="" id="{95B2D98A-BA4D-4BD3-8E1A-F3C26C7D9887}"/>
                  </a:ext>
                </a:extLst>
              </p:cNvPr>
              <p:cNvCxnSpPr>
                <a:cxnSpLocks/>
              </p:cNvCxnSpPr>
              <p:nvPr/>
            </p:nvCxnSpPr>
            <p:spPr>
              <a:xfrm>
                <a:off x="6047895" y="2375767"/>
                <a:ext cx="0" cy="722304"/>
              </a:xfrm>
              <a:prstGeom prst="line">
                <a:avLst/>
              </a:prstGeom>
            </p:spPr>
            <p:style>
              <a:lnRef idx="1">
                <a:schemeClr val="dk1"/>
              </a:lnRef>
              <a:fillRef idx="0">
                <a:schemeClr val="dk1"/>
              </a:fillRef>
              <a:effectRef idx="0">
                <a:schemeClr val="dk1"/>
              </a:effectRef>
              <a:fontRef idx="minor">
                <a:schemeClr val="tx1"/>
              </a:fontRef>
            </p:style>
          </p:cxnSp>
          <p:cxnSp>
            <p:nvCxnSpPr>
              <p:cNvPr id="64" name="Straight Arrow Connector 63">
                <a:extLst>
                  <a:ext uri="{FF2B5EF4-FFF2-40B4-BE49-F238E27FC236}">
                    <a16:creationId xmlns:a16="http://schemas.microsoft.com/office/drawing/2014/main" xmlns="" id="{9775C223-001E-402C-9476-5F735C5A3AC5}"/>
                  </a:ext>
                </a:extLst>
              </p:cNvPr>
              <p:cNvCxnSpPr>
                <a:cxnSpLocks/>
              </p:cNvCxnSpPr>
              <p:nvPr/>
            </p:nvCxnSpPr>
            <p:spPr>
              <a:xfrm>
                <a:off x="6047895" y="3098070"/>
                <a:ext cx="19823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sp>
        <p:nvSpPr>
          <p:cNvPr id="4" name="Rectangle: Rounded Corners 3">
            <a:extLst>
              <a:ext uri="{FF2B5EF4-FFF2-40B4-BE49-F238E27FC236}">
                <a16:creationId xmlns:a16="http://schemas.microsoft.com/office/drawing/2014/main" xmlns="" id="{D3BFA7F4-F018-4760-B277-2BBF35C83153}"/>
              </a:ext>
            </a:extLst>
          </p:cNvPr>
          <p:cNvSpPr/>
          <p:nvPr/>
        </p:nvSpPr>
        <p:spPr>
          <a:xfrm>
            <a:off x="2290624" y="1307567"/>
            <a:ext cx="2970489" cy="31451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Syntax:</a:t>
            </a:r>
          </a:p>
          <a:p>
            <a:r>
              <a:rPr lang="en-IN" dirty="0"/>
              <a:t>if ( condition)</a:t>
            </a:r>
          </a:p>
          <a:p>
            <a:r>
              <a:rPr lang="en-IN" dirty="0"/>
              <a:t>{		statement(s)_1;</a:t>
            </a:r>
          </a:p>
          <a:p>
            <a:r>
              <a:rPr lang="en-IN" dirty="0"/>
              <a:t>}</a:t>
            </a:r>
          </a:p>
          <a:p>
            <a:r>
              <a:rPr lang="en-IN" dirty="0"/>
              <a:t>else</a:t>
            </a:r>
          </a:p>
          <a:p>
            <a:r>
              <a:rPr lang="en-IN" dirty="0"/>
              <a:t>{</a:t>
            </a:r>
          </a:p>
          <a:p>
            <a:r>
              <a:rPr lang="en-IN" dirty="0"/>
              <a:t>	statement(s)_2;</a:t>
            </a:r>
          </a:p>
          <a:p>
            <a:r>
              <a:rPr lang="en-IN" dirty="0"/>
              <a:t>}</a:t>
            </a:r>
          </a:p>
        </p:txBody>
      </p:sp>
    </p:spTree>
    <p:extLst>
      <p:ext uri="{BB962C8B-B14F-4D97-AF65-F5344CB8AC3E}">
        <p14:creationId xmlns:p14="http://schemas.microsoft.com/office/powerpoint/2010/main" val="18874102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52178C60-E522-46C7-BA8E-C822343DC89B}"/>
              </a:ext>
            </a:extLst>
          </p:cNvPr>
          <p:cNvSpPr>
            <a:spLocks noGrp="1"/>
          </p:cNvSpPr>
          <p:nvPr>
            <p:ph type="title"/>
          </p:nvPr>
        </p:nvSpPr>
        <p:spPr/>
        <p:txBody>
          <a:bodyPr/>
          <a:lstStyle/>
          <a:p>
            <a:pPr algn="ctr"/>
            <a:r>
              <a:rPr lang="en-IN" dirty="0"/>
              <a:t>if else statement - Example </a:t>
            </a:r>
          </a:p>
        </p:txBody>
      </p:sp>
      <p:sp>
        <p:nvSpPr>
          <p:cNvPr id="6" name="Content Placeholder 5">
            <a:extLst>
              <a:ext uri="{FF2B5EF4-FFF2-40B4-BE49-F238E27FC236}">
                <a16:creationId xmlns:a16="http://schemas.microsoft.com/office/drawing/2014/main" xmlns="" id="{D9FA00D3-2669-4F08-A94B-95C8B0C5F5C1}"/>
              </a:ext>
            </a:extLst>
          </p:cNvPr>
          <p:cNvSpPr>
            <a:spLocks noGrp="1"/>
          </p:cNvSpPr>
          <p:nvPr>
            <p:ph sz="half" idx="1"/>
          </p:nvPr>
        </p:nvSpPr>
        <p:spPr>
          <a:xfrm>
            <a:off x="1438656" y="1822450"/>
            <a:ext cx="6467386" cy="4351338"/>
          </a:xfrm>
        </p:spPr>
        <p:txBody>
          <a:bodyPr>
            <a:normAutofit fontScale="77500" lnSpcReduction="20000"/>
          </a:bodyPr>
          <a:lstStyle/>
          <a:p>
            <a:pPr marL="0" indent="0" algn="just">
              <a:buNone/>
            </a:pPr>
            <a:r>
              <a:rPr lang="en-US" dirty="0">
                <a:latin typeface="Montserrat" panose="020B0604020202020204" charset="0"/>
                <a:ea typeface="Times New Roman" panose="02020603050405020304" pitchFamily="18" charset="0"/>
                <a:cs typeface="Times New Roman" panose="02020603050405020304" pitchFamily="18" charset="0"/>
              </a:rPr>
              <a:t>#include &lt;</a:t>
            </a:r>
            <a:r>
              <a:rPr lang="en-US" dirty="0" err="1">
                <a:latin typeface="Montserrat" panose="020B0604020202020204" charset="0"/>
                <a:ea typeface="Times New Roman" panose="02020603050405020304" pitchFamily="18" charset="0"/>
                <a:cs typeface="Times New Roman" panose="02020603050405020304" pitchFamily="18" charset="0"/>
              </a:rPr>
              <a:t>stdio.h</a:t>
            </a:r>
            <a:r>
              <a:rPr lang="en-US" dirty="0">
                <a:latin typeface="Montserrat" panose="020B0604020202020204" charset="0"/>
                <a:ea typeface="Times New Roman" panose="02020603050405020304" pitchFamily="18" charset="0"/>
                <a:cs typeface="Times New Roman" panose="02020603050405020304" pitchFamily="18" charset="0"/>
              </a:rPr>
              <a:t>&gt;</a:t>
            </a:r>
          </a:p>
          <a:p>
            <a:pPr marL="0" indent="0" algn="just">
              <a:buNone/>
            </a:pPr>
            <a:r>
              <a:rPr lang="en-US" dirty="0">
                <a:latin typeface="Montserrat" panose="020B0604020202020204" charset="0"/>
                <a:ea typeface="Times New Roman" panose="02020603050405020304" pitchFamily="18" charset="0"/>
                <a:cs typeface="Times New Roman" panose="02020603050405020304" pitchFamily="18" charset="0"/>
              </a:rPr>
              <a:t>void main()</a:t>
            </a:r>
          </a:p>
          <a:p>
            <a:pPr marL="0" indent="0" algn="just">
              <a:buNone/>
            </a:pPr>
            <a:r>
              <a:rPr lang="en-US" dirty="0">
                <a:latin typeface="Montserrat" panose="020B0604020202020204" charset="0"/>
                <a:ea typeface="Times New Roman" panose="02020603050405020304" pitchFamily="18" charset="0"/>
                <a:cs typeface="Times New Roman" panose="02020603050405020304" pitchFamily="18" charset="0"/>
              </a:rPr>
              <a:t>{</a:t>
            </a:r>
          </a:p>
          <a:p>
            <a:pPr marL="0" indent="0" algn="just">
              <a:buNone/>
            </a:pPr>
            <a:r>
              <a:rPr lang="en-US" dirty="0">
                <a:latin typeface="Montserrat" panose="020B0604020202020204" charset="0"/>
                <a:ea typeface="Times New Roman" panose="02020603050405020304" pitchFamily="18" charset="0"/>
                <a:cs typeface="Times New Roman" panose="02020603050405020304" pitchFamily="18" charset="0"/>
              </a:rPr>
              <a:t>	int number;</a:t>
            </a:r>
          </a:p>
          <a:p>
            <a:pPr marL="0" indent="0" algn="just">
              <a:buNone/>
            </a:pPr>
            <a:r>
              <a:rPr lang="en-US" dirty="0">
                <a:latin typeface="Montserrat" panose="020B0604020202020204" charset="0"/>
                <a:ea typeface="Times New Roman" panose="02020603050405020304" pitchFamily="18" charset="0"/>
                <a:cs typeface="Times New Roman" panose="02020603050405020304" pitchFamily="18" charset="0"/>
              </a:rPr>
              <a:t>	</a:t>
            </a:r>
            <a:r>
              <a:rPr lang="en-US" dirty="0" err="1">
                <a:latin typeface="Montserrat" panose="020B0604020202020204" charset="0"/>
                <a:ea typeface="Times New Roman" panose="02020603050405020304" pitchFamily="18" charset="0"/>
                <a:cs typeface="Times New Roman" panose="02020603050405020304" pitchFamily="18" charset="0"/>
              </a:rPr>
              <a:t>printf</a:t>
            </a:r>
            <a:r>
              <a:rPr lang="en-US" dirty="0">
                <a:latin typeface="Montserrat" panose="020B0604020202020204" charset="0"/>
                <a:ea typeface="Times New Roman" panose="02020603050405020304" pitchFamily="18" charset="0"/>
                <a:cs typeface="Times New Roman" panose="02020603050405020304" pitchFamily="18" charset="0"/>
              </a:rPr>
              <a:t>("Type a non zero number:");</a:t>
            </a:r>
          </a:p>
          <a:p>
            <a:pPr marL="0" indent="0" algn="just">
              <a:buNone/>
            </a:pPr>
            <a:r>
              <a:rPr lang="en-US" dirty="0">
                <a:latin typeface="Montserrat" panose="020B0604020202020204" charset="0"/>
                <a:ea typeface="Times New Roman" panose="02020603050405020304" pitchFamily="18" charset="0"/>
                <a:cs typeface="Times New Roman" panose="02020603050405020304" pitchFamily="18" charset="0"/>
              </a:rPr>
              <a:t>	</a:t>
            </a:r>
            <a:r>
              <a:rPr lang="en-US" dirty="0" err="1">
                <a:latin typeface="Montserrat" panose="020B0604020202020204" charset="0"/>
                <a:ea typeface="Times New Roman" panose="02020603050405020304" pitchFamily="18" charset="0"/>
                <a:cs typeface="Times New Roman" panose="02020603050405020304" pitchFamily="18" charset="0"/>
              </a:rPr>
              <a:t>scanf</a:t>
            </a:r>
            <a:r>
              <a:rPr lang="en-US" dirty="0">
                <a:latin typeface="Montserrat" panose="020B0604020202020204" charset="0"/>
                <a:ea typeface="Times New Roman" panose="02020603050405020304" pitchFamily="18" charset="0"/>
                <a:cs typeface="Times New Roman" panose="02020603050405020304" pitchFamily="18" charset="0"/>
              </a:rPr>
              <a:t>("%</a:t>
            </a:r>
            <a:r>
              <a:rPr lang="en-US" dirty="0" err="1">
                <a:latin typeface="Montserrat" panose="020B0604020202020204" charset="0"/>
                <a:ea typeface="Times New Roman" panose="02020603050405020304" pitchFamily="18" charset="0"/>
                <a:cs typeface="Times New Roman" panose="02020603050405020304" pitchFamily="18" charset="0"/>
              </a:rPr>
              <a:t>d",&amp;number</a:t>
            </a:r>
            <a:r>
              <a:rPr lang="en-US" dirty="0">
                <a:latin typeface="Montserrat" panose="020B0604020202020204" charset="0"/>
                <a:ea typeface="Times New Roman" panose="02020603050405020304" pitchFamily="18" charset="0"/>
                <a:cs typeface="Times New Roman" panose="02020603050405020304" pitchFamily="18" charset="0"/>
              </a:rPr>
              <a:t>);</a:t>
            </a:r>
          </a:p>
          <a:p>
            <a:pPr marL="0" indent="0" algn="just">
              <a:buNone/>
            </a:pPr>
            <a:r>
              <a:rPr lang="en-US" dirty="0">
                <a:latin typeface="Montserrat" panose="020B0604020202020204" charset="0"/>
                <a:ea typeface="Times New Roman" panose="02020603050405020304" pitchFamily="18" charset="0"/>
                <a:cs typeface="Times New Roman" panose="02020603050405020304" pitchFamily="18" charset="0"/>
              </a:rPr>
              <a:t>	if(number&gt;0)</a:t>
            </a:r>
          </a:p>
          <a:p>
            <a:pPr marL="0" indent="0" algn="just">
              <a:buNone/>
            </a:pPr>
            <a:r>
              <a:rPr lang="en-US" dirty="0">
                <a:latin typeface="Montserrat" panose="020B0604020202020204" charset="0"/>
                <a:ea typeface="Times New Roman" panose="02020603050405020304" pitchFamily="18" charset="0"/>
                <a:cs typeface="Times New Roman" panose="02020603050405020304" pitchFamily="18" charset="0"/>
              </a:rPr>
              <a:t>		</a:t>
            </a:r>
            <a:r>
              <a:rPr lang="en-US" dirty="0" err="1">
                <a:latin typeface="Montserrat" panose="020B0604020202020204" charset="0"/>
                <a:ea typeface="Times New Roman" panose="02020603050405020304" pitchFamily="18" charset="0"/>
                <a:cs typeface="Times New Roman" panose="02020603050405020304" pitchFamily="18" charset="0"/>
              </a:rPr>
              <a:t>printf</a:t>
            </a:r>
            <a:r>
              <a:rPr lang="en-US" dirty="0">
                <a:latin typeface="Montserrat" panose="020B0604020202020204" charset="0"/>
                <a:ea typeface="Times New Roman" panose="02020603050405020304" pitchFamily="18" charset="0"/>
                <a:cs typeface="Times New Roman" panose="02020603050405020304" pitchFamily="18" charset="0"/>
              </a:rPr>
              <a:t>("\</a:t>
            </a:r>
            <a:r>
              <a:rPr lang="en-US" dirty="0" err="1">
                <a:latin typeface="Montserrat" panose="020B0604020202020204" charset="0"/>
                <a:ea typeface="Times New Roman" panose="02020603050405020304" pitchFamily="18" charset="0"/>
                <a:cs typeface="Times New Roman" panose="02020603050405020304" pitchFamily="18" charset="0"/>
              </a:rPr>
              <a:t>nThe</a:t>
            </a:r>
            <a:r>
              <a:rPr lang="en-US" dirty="0">
                <a:latin typeface="Montserrat" panose="020B0604020202020204" charset="0"/>
                <a:ea typeface="Times New Roman" panose="02020603050405020304" pitchFamily="18" charset="0"/>
                <a:cs typeface="Times New Roman" panose="02020603050405020304" pitchFamily="18" charset="0"/>
              </a:rPr>
              <a:t> number is positive");</a:t>
            </a:r>
          </a:p>
          <a:p>
            <a:pPr marL="0" indent="0" algn="just">
              <a:buNone/>
            </a:pPr>
            <a:r>
              <a:rPr lang="en-US" dirty="0">
                <a:latin typeface="Montserrat" panose="020B0604020202020204" charset="0"/>
                <a:ea typeface="Times New Roman" panose="02020603050405020304" pitchFamily="18" charset="0"/>
                <a:cs typeface="Times New Roman" panose="02020603050405020304" pitchFamily="18" charset="0"/>
              </a:rPr>
              <a:t>	else</a:t>
            </a:r>
          </a:p>
          <a:p>
            <a:pPr marL="0" indent="0" algn="just">
              <a:buNone/>
            </a:pPr>
            <a:r>
              <a:rPr lang="en-US" dirty="0">
                <a:latin typeface="Montserrat" panose="020B0604020202020204" charset="0"/>
                <a:ea typeface="Times New Roman" panose="02020603050405020304" pitchFamily="18" charset="0"/>
                <a:cs typeface="Times New Roman" panose="02020603050405020304" pitchFamily="18" charset="0"/>
              </a:rPr>
              <a:t>		</a:t>
            </a:r>
            <a:r>
              <a:rPr lang="en-US" dirty="0" err="1">
                <a:latin typeface="Montserrat" panose="020B0604020202020204" charset="0"/>
                <a:ea typeface="Times New Roman" panose="02020603050405020304" pitchFamily="18" charset="0"/>
                <a:cs typeface="Times New Roman" panose="02020603050405020304" pitchFamily="18" charset="0"/>
              </a:rPr>
              <a:t>printf</a:t>
            </a:r>
            <a:r>
              <a:rPr lang="en-US" dirty="0">
                <a:latin typeface="Montserrat" panose="020B0604020202020204" charset="0"/>
                <a:ea typeface="Times New Roman" panose="02020603050405020304" pitchFamily="18" charset="0"/>
                <a:cs typeface="Times New Roman" panose="02020603050405020304" pitchFamily="18" charset="0"/>
              </a:rPr>
              <a:t>("\</a:t>
            </a:r>
            <a:r>
              <a:rPr lang="en-US" dirty="0" err="1">
                <a:latin typeface="Montserrat" panose="020B0604020202020204" charset="0"/>
                <a:ea typeface="Times New Roman" panose="02020603050405020304" pitchFamily="18" charset="0"/>
                <a:cs typeface="Times New Roman" panose="02020603050405020304" pitchFamily="18" charset="0"/>
              </a:rPr>
              <a:t>nThe</a:t>
            </a:r>
            <a:r>
              <a:rPr lang="en-US" dirty="0">
                <a:latin typeface="Montserrat" panose="020B0604020202020204" charset="0"/>
                <a:ea typeface="Times New Roman" panose="02020603050405020304" pitchFamily="18" charset="0"/>
                <a:cs typeface="Times New Roman" panose="02020603050405020304" pitchFamily="18" charset="0"/>
              </a:rPr>
              <a:t> number is negative");</a:t>
            </a:r>
          </a:p>
          <a:p>
            <a:pPr marL="0" indent="0" algn="just">
              <a:buNone/>
            </a:pPr>
            <a:r>
              <a:rPr lang="en-US" dirty="0">
                <a:latin typeface="Montserrat" panose="020B0604020202020204" charset="0"/>
                <a:ea typeface="Times New Roman" panose="02020603050405020304" pitchFamily="18" charset="0"/>
                <a:cs typeface="Times New Roman" panose="02020603050405020304" pitchFamily="18" charset="0"/>
              </a:rPr>
              <a:t>}</a:t>
            </a:r>
          </a:p>
        </p:txBody>
      </p:sp>
      <p:sp>
        <p:nvSpPr>
          <p:cNvPr id="7" name="Content Placeholder 6">
            <a:extLst>
              <a:ext uri="{FF2B5EF4-FFF2-40B4-BE49-F238E27FC236}">
                <a16:creationId xmlns:a16="http://schemas.microsoft.com/office/drawing/2014/main" xmlns="" id="{41E8D888-3222-43A8-B16D-BB9AE144D54F}"/>
              </a:ext>
            </a:extLst>
          </p:cNvPr>
          <p:cNvSpPr>
            <a:spLocks noGrp="1"/>
          </p:cNvSpPr>
          <p:nvPr>
            <p:ph sz="half" idx="2"/>
          </p:nvPr>
        </p:nvSpPr>
        <p:spPr>
          <a:xfrm>
            <a:off x="7906042" y="1825625"/>
            <a:ext cx="3951615" cy="4351338"/>
          </a:xfrm>
        </p:spPr>
        <p:txBody>
          <a:bodyPr>
            <a:normAutofit fontScale="77500" lnSpcReduction="20000"/>
          </a:bodyPr>
          <a:lstStyle/>
          <a:p>
            <a:pPr marL="0" indent="0">
              <a:buNone/>
            </a:pPr>
            <a:r>
              <a:rPr lang="en-IN" dirty="0"/>
              <a:t>Output</a:t>
            </a:r>
          </a:p>
          <a:p>
            <a:r>
              <a:rPr lang="en-IN" dirty="0"/>
              <a:t>Case 1:</a:t>
            </a:r>
          </a:p>
          <a:p>
            <a:pPr marL="0" indent="0">
              <a:buNone/>
            </a:pPr>
            <a:r>
              <a:rPr lang="en-US" dirty="0">
                <a:latin typeface="Montserrat" panose="020B0604020202020204" charset="0"/>
                <a:ea typeface="Times New Roman" panose="02020603050405020304" pitchFamily="18" charset="0"/>
                <a:cs typeface="Times New Roman" panose="02020603050405020304" pitchFamily="18" charset="0"/>
              </a:rPr>
              <a:t>Type a non zero number: 60</a:t>
            </a:r>
          </a:p>
          <a:p>
            <a:pPr marL="0" indent="0">
              <a:buNone/>
            </a:pPr>
            <a:r>
              <a:rPr lang="en-US" dirty="0">
                <a:latin typeface="Montserrat" panose="020B0604020202020204" charset="0"/>
                <a:ea typeface="Times New Roman" panose="02020603050405020304" pitchFamily="18" charset="0"/>
                <a:cs typeface="Times New Roman" panose="02020603050405020304" pitchFamily="18" charset="0"/>
              </a:rPr>
              <a:t>The number is positive</a:t>
            </a:r>
          </a:p>
          <a:p>
            <a:pPr marL="0" indent="0">
              <a:buNone/>
            </a:pPr>
            <a:endParaRPr lang="en-US" b="1" dirty="0">
              <a:latin typeface="Montserrat" panose="020B0604020202020204" charset="0"/>
              <a:cs typeface="Times New Roman" panose="02020603050405020304" pitchFamily="18" charset="0"/>
            </a:endParaRPr>
          </a:p>
          <a:p>
            <a:r>
              <a:rPr lang="en-US" dirty="0">
                <a:latin typeface="Montserrat" panose="020B0604020202020204" charset="0"/>
                <a:cs typeface="Times New Roman" panose="02020603050405020304" pitchFamily="18" charset="0"/>
              </a:rPr>
              <a:t>Case 2:</a:t>
            </a:r>
          </a:p>
          <a:p>
            <a:pPr marL="0" indent="0">
              <a:buNone/>
            </a:pPr>
            <a:r>
              <a:rPr lang="en-US" dirty="0">
                <a:latin typeface="Montserrat" panose="020B0604020202020204" charset="0"/>
                <a:ea typeface="Times New Roman" panose="02020603050405020304" pitchFamily="18" charset="0"/>
                <a:cs typeface="Times New Roman" panose="02020603050405020304" pitchFamily="18" charset="0"/>
              </a:rPr>
              <a:t>Type a non zero number: -13</a:t>
            </a:r>
          </a:p>
          <a:p>
            <a:pPr marL="0" indent="0">
              <a:buNone/>
            </a:pPr>
            <a:r>
              <a:rPr lang="en-US" dirty="0">
                <a:latin typeface="Montserrat" panose="020B0604020202020204" charset="0"/>
                <a:ea typeface="Times New Roman" panose="02020603050405020304" pitchFamily="18" charset="0"/>
                <a:cs typeface="Times New Roman" panose="02020603050405020304" pitchFamily="18" charset="0"/>
              </a:rPr>
              <a:t>The number is negative</a:t>
            </a:r>
          </a:p>
          <a:p>
            <a:pPr marL="0" indent="0">
              <a:buNone/>
            </a:pPr>
            <a:endParaRPr lang="en-US" dirty="0">
              <a:latin typeface="Montserrat" panose="020B060402020202020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60266553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E0AB19-FA96-4347-813E-53358935E75B}"/>
              </a:ext>
            </a:extLst>
          </p:cNvPr>
          <p:cNvSpPr>
            <a:spLocks noGrp="1"/>
          </p:cNvSpPr>
          <p:nvPr>
            <p:ph type="title"/>
          </p:nvPr>
        </p:nvSpPr>
        <p:spPr>
          <a:xfrm>
            <a:off x="1551432" y="365126"/>
            <a:ext cx="8913368" cy="865364"/>
          </a:xfrm>
        </p:spPr>
        <p:txBody>
          <a:bodyPr>
            <a:normAutofit/>
          </a:bodyPr>
          <a:lstStyle/>
          <a:p>
            <a:pPr algn="ctr"/>
            <a:r>
              <a:rPr lang="en-US" sz="4000" dirty="0">
                <a:effectLst/>
                <a:latin typeface="Montserrat" panose="020B0604020202020204" charset="0"/>
              </a:rPr>
              <a:t>Nested if-else Statement</a:t>
            </a:r>
            <a:endParaRPr lang="en-IN" sz="4000" dirty="0"/>
          </a:p>
        </p:txBody>
      </p:sp>
      <p:sp>
        <p:nvSpPr>
          <p:cNvPr id="3" name="Content Placeholder 2">
            <a:extLst>
              <a:ext uri="{FF2B5EF4-FFF2-40B4-BE49-F238E27FC236}">
                <a16:creationId xmlns:a16="http://schemas.microsoft.com/office/drawing/2014/main" xmlns="" id="{F480870C-85A8-40B2-9ABF-E01F486DB039}"/>
              </a:ext>
            </a:extLst>
          </p:cNvPr>
          <p:cNvSpPr>
            <a:spLocks noGrp="1"/>
          </p:cNvSpPr>
          <p:nvPr>
            <p:ph sz="half" idx="1"/>
          </p:nvPr>
        </p:nvSpPr>
        <p:spPr>
          <a:xfrm>
            <a:off x="571035" y="1099414"/>
            <a:ext cx="9273631" cy="5239543"/>
          </a:xfrm>
        </p:spPr>
        <p:txBody>
          <a:bodyPr>
            <a:normAutofit/>
          </a:bodyPr>
          <a:lstStyle/>
          <a:p>
            <a:pPr algn="just"/>
            <a:r>
              <a:rPr lang="en-US" altLang="en-US" dirty="0">
                <a:latin typeface="Arial Narrow" panose="020B0606020202030204" pitchFamily="34" charset="0"/>
              </a:rPr>
              <a:t>We can write an entire if…else statement in another if…else statement called nesting</a:t>
            </a:r>
            <a:endParaRPr lang="en-US" b="1" dirty="0">
              <a:latin typeface="Montserrat" panose="020B0604020202020204" charset="0"/>
              <a:ea typeface="Times New Roman" panose="02020603050405020304" pitchFamily="18" charset="0"/>
              <a:cs typeface="Times New Roman" panose="02020603050405020304" pitchFamily="18" charset="0"/>
            </a:endParaRPr>
          </a:p>
          <a:p>
            <a:pPr marL="0" indent="0">
              <a:buNone/>
            </a:pPr>
            <a:endParaRPr lang="en-IN" dirty="0">
              <a:latin typeface="Montserrat" panose="020B0604020202020204" charset="0"/>
              <a:ea typeface="Times New Roman" panose="02020603050405020304" pitchFamily="18" charset="0"/>
              <a:cs typeface="Times New Roman" panose="02020603050405020304" pitchFamily="18" charset="0"/>
            </a:endParaRPr>
          </a:p>
          <a:p>
            <a:endParaRPr lang="en-IN" dirty="0"/>
          </a:p>
          <a:p>
            <a:endParaRPr lang="en-IN" dirty="0"/>
          </a:p>
        </p:txBody>
      </p:sp>
      <p:sp>
        <p:nvSpPr>
          <p:cNvPr id="4" name="Content Placeholder 3">
            <a:extLst>
              <a:ext uri="{FF2B5EF4-FFF2-40B4-BE49-F238E27FC236}">
                <a16:creationId xmlns:a16="http://schemas.microsoft.com/office/drawing/2014/main" xmlns="" id="{56089065-2CB2-4DBB-8A1E-5EE4325C0B0A}"/>
              </a:ext>
            </a:extLst>
          </p:cNvPr>
          <p:cNvSpPr>
            <a:spLocks noGrp="1"/>
          </p:cNvSpPr>
          <p:nvPr>
            <p:ph sz="half" idx="2"/>
          </p:nvPr>
        </p:nvSpPr>
        <p:spPr>
          <a:xfrm>
            <a:off x="5960532" y="1253330"/>
            <a:ext cx="4504267" cy="4662047"/>
          </a:xfrm>
        </p:spPr>
        <p:txBody>
          <a:bodyPr>
            <a:normAutofit/>
          </a:bodyPr>
          <a:lstStyle/>
          <a:p>
            <a:pPr marL="0" indent="0" algn="just">
              <a:buNone/>
            </a:pPr>
            <a:r>
              <a:rPr lang="en-US" sz="4800" b="1" dirty="0">
                <a:effectLst/>
                <a:latin typeface="Montserrat" panose="020B0604020202020204" charset="0"/>
                <a:ea typeface="Times New Roman" panose="02020603050405020304" pitchFamily="18" charset="0"/>
                <a:cs typeface="Times New Roman" panose="02020603050405020304" pitchFamily="18" charset="0"/>
              </a:rPr>
              <a:t>   </a:t>
            </a:r>
            <a:endParaRPr lang="en-IN" dirty="0"/>
          </a:p>
        </p:txBody>
      </p:sp>
      <p:pic>
        <p:nvPicPr>
          <p:cNvPr id="6" name="Picture 5">
            <a:extLst>
              <a:ext uri="{FF2B5EF4-FFF2-40B4-BE49-F238E27FC236}">
                <a16:creationId xmlns:a16="http://schemas.microsoft.com/office/drawing/2014/main" xmlns="" id="{D1480CF9-1AEA-4C31-BF23-D3D8185BB923}"/>
              </a:ext>
            </a:extLst>
          </p:cNvPr>
          <p:cNvPicPr>
            <a:picLocks noChangeAspect="1"/>
          </p:cNvPicPr>
          <p:nvPr/>
        </p:nvPicPr>
        <p:blipFill>
          <a:blip r:embed="rId2"/>
          <a:stretch>
            <a:fillRect/>
          </a:stretch>
        </p:blipFill>
        <p:spPr>
          <a:xfrm>
            <a:off x="4801244" y="2016454"/>
            <a:ext cx="6419530" cy="4408473"/>
          </a:xfrm>
          <a:prstGeom prst="rect">
            <a:avLst/>
          </a:prstGeom>
        </p:spPr>
      </p:pic>
      <p:sp>
        <p:nvSpPr>
          <p:cNvPr id="5" name="Rectangle: Rounded Corners 4">
            <a:extLst>
              <a:ext uri="{FF2B5EF4-FFF2-40B4-BE49-F238E27FC236}">
                <a16:creationId xmlns:a16="http://schemas.microsoft.com/office/drawing/2014/main" xmlns="" id="{8ED1A691-CFCA-4346-9762-ED2F281CAB65}"/>
              </a:ext>
            </a:extLst>
          </p:cNvPr>
          <p:cNvSpPr/>
          <p:nvPr/>
        </p:nvSpPr>
        <p:spPr>
          <a:xfrm>
            <a:off x="586884" y="2120346"/>
            <a:ext cx="3933005" cy="45146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b="1" dirty="0">
              <a:latin typeface="Montserrat" panose="020B0604020202020204" charset="0"/>
              <a:ea typeface="Times New Roman" panose="02020603050405020304" pitchFamily="18" charset="0"/>
              <a:cs typeface="Times New Roman" panose="02020603050405020304" pitchFamily="18" charset="0"/>
            </a:endParaRPr>
          </a:p>
          <a:p>
            <a:pPr algn="just"/>
            <a:r>
              <a:rPr lang="en-US" sz="1400" b="1" dirty="0">
                <a:latin typeface="Montserrat" panose="020B0604020202020204" charset="0"/>
                <a:ea typeface="Times New Roman" panose="02020603050405020304" pitchFamily="18" charset="0"/>
                <a:cs typeface="Times New Roman" panose="02020603050405020304" pitchFamily="18" charset="0"/>
              </a:rPr>
              <a:t>Syntax: </a:t>
            </a:r>
            <a:endParaRPr lang="en-IN" sz="1400" dirty="0">
              <a:latin typeface="Montserrat" panose="020B0604020202020204" charset="0"/>
              <a:ea typeface="Times New Roman" panose="02020603050405020304" pitchFamily="18" charset="0"/>
              <a:cs typeface="Times New Roman" panose="02020603050405020304" pitchFamily="18" charset="0"/>
            </a:endParaRPr>
          </a:p>
          <a:p>
            <a:pPr indent="0">
              <a:buNone/>
            </a:pPr>
            <a:r>
              <a:rPr lang="en-US" sz="1400" dirty="0">
                <a:latin typeface="Montserrat" panose="020B0604020202020204" charset="0"/>
                <a:ea typeface="Times New Roman" panose="02020603050405020304" pitchFamily="18" charset="0"/>
                <a:cs typeface="Times New Roman" panose="02020603050405020304" pitchFamily="18" charset="0"/>
              </a:rPr>
              <a:t>if (condition1)</a:t>
            </a:r>
            <a:br>
              <a:rPr lang="en-US" sz="1400" dirty="0">
                <a:latin typeface="Montserrat" panose="020B0604020202020204" charset="0"/>
                <a:ea typeface="Times New Roman" panose="02020603050405020304" pitchFamily="18" charset="0"/>
                <a:cs typeface="Times New Roman" panose="02020603050405020304" pitchFamily="18" charset="0"/>
              </a:rPr>
            </a:br>
            <a:r>
              <a:rPr lang="en-US" sz="1400" dirty="0">
                <a:latin typeface="Montserrat" panose="020B0604020202020204" charset="0"/>
                <a:ea typeface="Times New Roman" panose="02020603050405020304" pitchFamily="18" charset="0"/>
                <a:cs typeface="Times New Roman" panose="02020603050405020304" pitchFamily="18" charset="0"/>
              </a:rPr>
              <a:t>{</a:t>
            </a:r>
          </a:p>
          <a:p>
            <a:pPr indent="0">
              <a:buNone/>
            </a:pPr>
            <a:r>
              <a:rPr lang="en-US" sz="1400" dirty="0">
                <a:latin typeface="Montserrat" panose="020B0604020202020204" charset="0"/>
                <a:ea typeface="Times New Roman" panose="02020603050405020304" pitchFamily="18" charset="0"/>
                <a:cs typeface="Times New Roman" panose="02020603050405020304" pitchFamily="18" charset="0"/>
              </a:rPr>
              <a:t>	statement(s);</a:t>
            </a:r>
            <a:endParaRPr lang="en-IN" sz="1400" dirty="0">
              <a:latin typeface="Montserrat" panose="020B0604020202020204" charset="0"/>
              <a:ea typeface="Times New Roman" panose="02020603050405020304" pitchFamily="18" charset="0"/>
              <a:cs typeface="Times New Roman" panose="02020603050405020304" pitchFamily="18" charset="0"/>
            </a:endParaRPr>
          </a:p>
          <a:p>
            <a:pPr indent="0">
              <a:buNone/>
            </a:pPr>
            <a:r>
              <a:rPr lang="en-US" sz="1400" dirty="0">
                <a:latin typeface="Montserrat" panose="020B0604020202020204" charset="0"/>
                <a:ea typeface="Times New Roman" panose="02020603050405020304" pitchFamily="18" charset="0"/>
                <a:cs typeface="Times New Roman" panose="02020603050405020304" pitchFamily="18" charset="0"/>
              </a:rPr>
              <a:t>   	if (condition2) {</a:t>
            </a:r>
            <a:br>
              <a:rPr lang="en-US" sz="1400" dirty="0">
                <a:latin typeface="Montserrat" panose="020B0604020202020204" charset="0"/>
                <a:ea typeface="Times New Roman" panose="02020603050405020304" pitchFamily="18" charset="0"/>
                <a:cs typeface="Times New Roman" panose="02020603050405020304" pitchFamily="18" charset="0"/>
              </a:rPr>
            </a:br>
            <a:r>
              <a:rPr lang="en-US" sz="1400" dirty="0">
                <a:latin typeface="Montserrat" panose="020B0604020202020204" charset="0"/>
                <a:ea typeface="Times New Roman" panose="02020603050405020304" pitchFamily="18" charset="0"/>
                <a:cs typeface="Times New Roman" panose="02020603050405020304" pitchFamily="18" charset="0"/>
              </a:rPr>
              <a:t>       		statement(s);</a:t>
            </a:r>
            <a:br>
              <a:rPr lang="en-US" sz="1400" dirty="0">
                <a:latin typeface="Montserrat" panose="020B0604020202020204" charset="0"/>
                <a:ea typeface="Times New Roman" panose="02020603050405020304" pitchFamily="18" charset="0"/>
                <a:cs typeface="Times New Roman" panose="02020603050405020304" pitchFamily="18" charset="0"/>
              </a:rPr>
            </a:br>
            <a:r>
              <a:rPr lang="en-US" sz="1400" dirty="0">
                <a:latin typeface="Montserrat" panose="020B0604020202020204" charset="0"/>
                <a:ea typeface="Times New Roman" panose="02020603050405020304" pitchFamily="18" charset="0"/>
                <a:cs typeface="Times New Roman" panose="02020603050405020304" pitchFamily="18" charset="0"/>
              </a:rPr>
              <a:t>   	}</a:t>
            </a:r>
          </a:p>
          <a:p>
            <a:pPr indent="0">
              <a:buNone/>
            </a:pPr>
            <a:r>
              <a:rPr lang="en-US" sz="1400" dirty="0">
                <a:latin typeface="Montserrat" panose="020B0604020202020204" charset="0"/>
                <a:ea typeface="Times New Roman" panose="02020603050405020304" pitchFamily="18" charset="0"/>
                <a:cs typeface="Times New Roman" panose="02020603050405020304" pitchFamily="18" charset="0"/>
              </a:rPr>
              <a:t>   	else    {</a:t>
            </a:r>
            <a:br>
              <a:rPr lang="en-US" sz="1400" dirty="0">
                <a:latin typeface="Montserrat" panose="020B0604020202020204" charset="0"/>
                <a:ea typeface="Times New Roman" panose="02020603050405020304" pitchFamily="18" charset="0"/>
                <a:cs typeface="Times New Roman" panose="02020603050405020304" pitchFamily="18" charset="0"/>
              </a:rPr>
            </a:br>
            <a:r>
              <a:rPr lang="en-US" sz="1400" dirty="0">
                <a:latin typeface="Montserrat" panose="020B0604020202020204" charset="0"/>
                <a:ea typeface="Times New Roman" panose="02020603050405020304" pitchFamily="18" charset="0"/>
                <a:cs typeface="Times New Roman" panose="02020603050405020304" pitchFamily="18" charset="0"/>
              </a:rPr>
              <a:t>       		statement(s);</a:t>
            </a:r>
            <a:br>
              <a:rPr lang="en-US" sz="1400" dirty="0">
                <a:latin typeface="Montserrat" panose="020B0604020202020204" charset="0"/>
                <a:ea typeface="Times New Roman" panose="02020603050405020304" pitchFamily="18" charset="0"/>
                <a:cs typeface="Times New Roman" panose="02020603050405020304" pitchFamily="18" charset="0"/>
              </a:rPr>
            </a:br>
            <a:r>
              <a:rPr lang="en-US" sz="1400" dirty="0">
                <a:latin typeface="Montserrat" panose="020B0604020202020204" charset="0"/>
                <a:ea typeface="Times New Roman" panose="02020603050405020304" pitchFamily="18" charset="0"/>
                <a:cs typeface="Times New Roman" panose="02020603050405020304" pitchFamily="18" charset="0"/>
              </a:rPr>
              <a:t>   	}</a:t>
            </a:r>
          </a:p>
          <a:p>
            <a:pPr indent="0">
              <a:buNone/>
            </a:pPr>
            <a:r>
              <a:rPr lang="en-US" sz="1400" dirty="0">
                <a:latin typeface="Montserrat" panose="020B0604020202020204" charset="0"/>
                <a:ea typeface="Times New Roman" panose="02020603050405020304" pitchFamily="18" charset="0"/>
                <a:cs typeface="Times New Roman" panose="02020603050405020304" pitchFamily="18" charset="0"/>
              </a:rPr>
              <a:t>}</a:t>
            </a:r>
            <a:endParaRPr lang="en-IN" sz="1400" dirty="0">
              <a:latin typeface="Montserrat" panose="020B0604020202020204" charset="0"/>
              <a:ea typeface="Times New Roman" panose="02020603050405020304" pitchFamily="18" charset="0"/>
              <a:cs typeface="Times New Roman" panose="02020603050405020304" pitchFamily="18" charset="0"/>
            </a:endParaRPr>
          </a:p>
          <a:p>
            <a:r>
              <a:rPr lang="en-US" sz="1400" dirty="0">
                <a:latin typeface="Montserrat" panose="020B0604020202020204" charset="0"/>
                <a:ea typeface="Times New Roman" panose="02020603050405020304" pitchFamily="18" charset="0"/>
                <a:cs typeface="Times New Roman" panose="02020603050405020304" pitchFamily="18" charset="0"/>
              </a:rPr>
              <a:t>    else </a:t>
            </a:r>
            <a:br>
              <a:rPr lang="en-US" sz="1400" dirty="0">
                <a:latin typeface="Montserrat" panose="020B0604020202020204" charset="0"/>
                <a:ea typeface="Times New Roman" panose="02020603050405020304" pitchFamily="18" charset="0"/>
                <a:cs typeface="Times New Roman" panose="02020603050405020304" pitchFamily="18" charset="0"/>
              </a:rPr>
            </a:br>
            <a:r>
              <a:rPr lang="en-US" sz="1400" dirty="0">
                <a:latin typeface="Montserrat" panose="020B0604020202020204" charset="0"/>
                <a:ea typeface="Times New Roman" panose="02020603050405020304" pitchFamily="18" charset="0"/>
                <a:cs typeface="Times New Roman" panose="02020603050405020304" pitchFamily="18" charset="0"/>
              </a:rPr>
              <a:t>    {</a:t>
            </a:r>
          </a:p>
          <a:p>
            <a:r>
              <a:rPr lang="en-US" sz="1400" dirty="0">
                <a:latin typeface="Montserrat" panose="020B0604020202020204" charset="0"/>
                <a:ea typeface="Times New Roman" panose="02020603050405020304" pitchFamily="18" charset="0"/>
                <a:cs typeface="Times New Roman" panose="02020603050405020304" pitchFamily="18" charset="0"/>
              </a:rPr>
              <a:t>	statement(s);</a:t>
            </a:r>
          </a:p>
          <a:p>
            <a:pPr indent="0">
              <a:buNone/>
            </a:pPr>
            <a:r>
              <a:rPr lang="en-US" sz="1400" dirty="0">
                <a:latin typeface="Montserrat" panose="020B0604020202020204" charset="0"/>
                <a:ea typeface="Times New Roman" panose="02020603050405020304" pitchFamily="18" charset="0"/>
                <a:cs typeface="Times New Roman" panose="02020603050405020304" pitchFamily="18" charset="0"/>
              </a:rPr>
              <a:t>        	if (condition2)  {</a:t>
            </a:r>
            <a:br>
              <a:rPr lang="en-US" sz="1400" dirty="0">
                <a:latin typeface="Montserrat" panose="020B0604020202020204" charset="0"/>
                <a:ea typeface="Times New Roman" panose="02020603050405020304" pitchFamily="18" charset="0"/>
                <a:cs typeface="Times New Roman" panose="02020603050405020304" pitchFamily="18" charset="0"/>
              </a:rPr>
            </a:br>
            <a:r>
              <a:rPr lang="en-US" sz="1400" dirty="0">
                <a:latin typeface="Montserrat" panose="020B0604020202020204" charset="0"/>
                <a:ea typeface="Times New Roman" panose="02020603050405020304" pitchFamily="18" charset="0"/>
                <a:cs typeface="Times New Roman" panose="02020603050405020304" pitchFamily="18" charset="0"/>
              </a:rPr>
              <a:t>       		statement(s);</a:t>
            </a:r>
            <a:br>
              <a:rPr lang="en-US" sz="1400" dirty="0">
                <a:latin typeface="Montserrat" panose="020B0604020202020204" charset="0"/>
                <a:ea typeface="Times New Roman" panose="02020603050405020304" pitchFamily="18" charset="0"/>
                <a:cs typeface="Times New Roman" panose="02020603050405020304" pitchFamily="18" charset="0"/>
              </a:rPr>
            </a:br>
            <a:r>
              <a:rPr lang="en-US" sz="1400" dirty="0">
                <a:latin typeface="Montserrat" panose="020B0604020202020204" charset="0"/>
                <a:ea typeface="Times New Roman" panose="02020603050405020304" pitchFamily="18" charset="0"/>
                <a:cs typeface="Times New Roman" panose="02020603050405020304" pitchFamily="18" charset="0"/>
              </a:rPr>
              <a:t>   	}</a:t>
            </a:r>
          </a:p>
          <a:p>
            <a:pPr indent="0">
              <a:buNone/>
            </a:pPr>
            <a:r>
              <a:rPr lang="en-US" sz="1400" dirty="0">
                <a:latin typeface="Montserrat" panose="020B0604020202020204" charset="0"/>
                <a:ea typeface="Times New Roman" panose="02020603050405020304" pitchFamily="18" charset="0"/>
                <a:cs typeface="Times New Roman" panose="02020603050405020304" pitchFamily="18" charset="0"/>
              </a:rPr>
              <a:t>             else    {</a:t>
            </a:r>
            <a:br>
              <a:rPr lang="en-US" sz="1400" dirty="0">
                <a:latin typeface="Montserrat" panose="020B0604020202020204" charset="0"/>
                <a:ea typeface="Times New Roman" panose="02020603050405020304" pitchFamily="18" charset="0"/>
                <a:cs typeface="Times New Roman" panose="02020603050405020304" pitchFamily="18" charset="0"/>
              </a:rPr>
            </a:br>
            <a:r>
              <a:rPr lang="en-US" sz="1400" dirty="0">
                <a:latin typeface="Montserrat" panose="020B0604020202020204" charset="0"/>
                <a:ea typeface="Times New Roman" panose="02020603050405020304" pitchFamily="18" charset="0"/>
                <a:cs typeface="Times New Roman" panose="02020603050405020304" pitchFamily="18" charset="0"/>
              </a:rPr>
              <a:t>       		statement(s);</a:t>
            </a:r>
            <a:br>
              <a:rPr lang="en-US" sz="1400" dirty="0">
                <a:latin typeface="Montserrat" panose="020B0604020202020204" charset="0"/>
                <a:ea typeface="Times New Roman" panose="02020603050405020304" pitchFamily="18" charset="0"/>
                <a:cs typeface="Times New Roman" panose="02020603050405020304" pitchFamily="18" charset="0"/>
              </a:rPr>
            </a:br>
            <a:r>
              <a:rPr lang="en-US" sz="1400" dirty="0">
                <a:latin typeface="Montserrat" panose="020B0604020202020204" charset="0"/>
                <a:ea typeface="Times New Roman" panose="02020603050405020304" pitchFamily="18" charset="0"/>
                <a:cs typeface="Times New Roman" panose="02020603050405020304" pitchFamily="18" charset="0"/>
              </a:rPr>
              <a:t>   	}</a:t>
            </a:r>
          </a:p>
          <a:p>
            <a:r>
              <a:rPr lang="en-US" sz="1400" dirty="0">
                <a:latin typeface="Montserrat" panose="020B0604020202020204" charset="0"/>
                <a:ea typeface="Times New Roman" panose="02020603050405020304" pitchFamily="18" charset="0"/>
                <a:cs typeface="Times New Roman" panose="02020603050405020304" pitchFamily="18" charset="0"/>
              </a:rPr>
              <a:t>    }</a:t>
            </a:r>
          </a:p>
          <a:p>
            <a:pPr algn="ctr"/>
            <a:endParaRPr lang="en-IN" sz="1400" dirty="0"/>
          </a:p>
        </p:txBody>
      </p:sp>
    </p:spTree>
    <p:extLst>
      <p:ext uri="{BB962C8B-B14F-4D97-AF65-F5344CB8AC3E}">
        <p14:creationId xmlns:p14="http://schemas.microsoft.com/office/powerpoint/2010/main" val="309850303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B04E6F-614D-479A-8A96-99A04F622D97}"/>
              </a:ext>
            </a:extLst>
          </p:cNvPr>
          <p:cNvSpPr>
            <a:spLocks noGrp="1"/>
          </p:cNvSpPr>
          <p:nvPr>
            <p:ph type="title"/>
          </p:nvPr>
        </p:nvSpPr>
        <p:spPr>
          <a:xfrm>
            <a:off x="1551432" y="365126"/>
            <a:ext cx="10057472" cy="787814"/>
          </a:xfrm>
        </p:spPr>
        <p:txBody>
          <a:bodyPr>
            <a:normAutofit fontScale="90000"/>
          </a:bodyPr>
          <a:lstStyle/>
          <a:p>
            <a:pPr algn="ctr"/>
            <a:r>
              <a:rPr lang="en-US" dirty="0">
                <a:latin typeface="Montserrat" panose="020B0604020202020204" charset="0"/>
              </a:rPr>
              <a:t>Nested if-else Statement - Example</a:t>
            </a:r>
            <a:endParaRPr lang="en-IN" dirty="0"/>
          </a:p>
        </p:txBody>
      </p:sp>
      <p:sp>
        <p:nvSpPr>
          <p:cNvPr id="3" name="Content Placeholder 2">
            <a:extLst>
              <a:ext uri="{FF2B5EF4-FFF2-40B4-BE49-F238E27FC236}">
                <a16:creationId xmlns:a16="http://schemas.microsoft.com/office/drawing/2014/main" xmlns="" id="{6C59A3B0-B249-470A-A1D0-8FB6A52CDFA2}"/>
              </a:ext>
            </a:extLst>
          </p:cNvPr>
          <p:cNvSpPr>
            <a:spLocks noGrp="1"/>
          </p:cNvSpPr>
          <p:nvPr>
            <p:ph sz="half" idx="1"/>
          </p:nvPr>
        </p:nvSpPr>
        <p:spPr>
          <a:xfrm>
            <a:off x="1551432" y="1152940"/>
            <a:ext cx="4620768" cy="5339935"/>
          </a:xfrm>
        </p:spPr>
        <p:txBody>
          <a:bodyPr>
            <a:noAutofit/>
          </a:bodyPr>
          <a:lstStyle/>
          <a:p>
            <a:pPr marL="0" indent="0" algn="just">
              <a:lnSpc>
                <a:spcPct val="100000"/>
              </a:lnSpc>
              <a:buNone/>
            </a:pPr>
            <a:r>
              <a:rPr lang="en-US" sz="1600" dirty="0">
                <a:latin typeface="Montserrat" panose="020B0604020202020204" charset="0"/>
                <a:ea typeface="Times New Roman" panose="02020603050405020304" pitchFamily="18" charset="0"/>
                <a:cs typeface="Times New Roman" panose="02020603050405020304" pitchFamily="18" charset="0"/>
              </a:rPr>
              <a:t>#include&lt;</a:t>
            </a:r>
            <a:r>
              <a:rPr lang="en-US" sz="1600" dirty="0" err="1">
                <a:latin typeface="Montserrat" panose="020B0604020202020204" charset="0"/>
                <a:ea typeface="Times New Roman" panose="02020603050405020304" pitchFamily="18" charset="0"/>
                <a:cs typeface="Times New Roman" panose="02020603050405020304" pitchFamily="18" charset="0"/>
              </a:rPr>
              <a:t>stdio.h</a:t>
            </a:r>
            <a:r>
              <a:rPr lang="en-US" sz="1600" dirty="0">
                <a:latin typeface="Montserrat" panose="020B0604020202020204" charset="0"/>
                <a:ea typeface="Times New Roman" panose="02020603050405020304" pitchFamily="18" charset="0"/>
                <a:cs typeface="Times New Roman" panose="02020603050405020304" pitchFamily="18" charset="0"/>
              </a:rPr>
              <a:t>&gt;</a:t>
            </a:r>
          </a:p>
          <a:p>
            <a:pPr marL="0" indent="0" algn="just">
              <a:lnSpc>
                <a:spcPct val="100000"/>
              </a:lnSpc>
              <a:buNone/>
            </a:pPr>
            <a:r>
              <a:rPr lang="en-US" sz="1600" dirty="0">
                <a:latin typeface="Montserrat" panose="020B0604020202020204" charset="0"/>
                <a:ea typeface="Times New Roman" panose="02020603050405020304" pitchFamily="18" charset="0"/>
                <a:cs typeface="Times New Roman" panose="02020603050405020304" pitchFamily="18" charset="0"/>
              </a:rPr>
              <a:t>void main()</a:t>
            </a:r>
          </a:p>
          <a:p>
            <a:pPr marL="0" indent="0" algn="just">
              <a:lnSpc>
                <a:spcPct val="100000"/>
              </a:lnSpc>
              <a:buNone/>
            </a:pPr>
            <a:r>
              <a:rPr lang="en-US" sz="1600" dirty="0">
                <a:latin typeface="Montserrat" panose="020B0604020202020204" charset="0"/>
                <a:ea typeface="Times New Roman" panose="02020603050405020304" pitchFamily="18" charset="0"/>
                <a:cs typeface="Times New Roman" panose="02020603050405020304" pitchFamily="18" charset="0"/>
              </a:rPr>
              <a:t>{</a:t>
            </a:r>
          </a:p>
          <a:p>
            <a:pPr marL="0" indent="0" algn="just">
              <a:lnSpc>
                <a:spcPct val="100000"/>
              </a:lnSpc>
              <a:buNone/>
            </a:pPr>
            <a:r>
              <a:rPr lang="en-US" sz="1600" dirty="0">
                <a:latin typeface="Montserrat" panose="020B0604020202020204" charset="0"/>
                <a:ea typeface="Times New Roman" panose="02020603050405020304" pitchFamily="18" charset="0"/>
                <a:cs typeface="Times New Roman" panose="02020603050405020304" pitchFamily="18" charset="0"/>
              </a:rPr>
              <a:t>    int </a:t>
            </a:r>
            <a:r>
              <a:rPr lang="en-US" sz="1600" dirty="0" err="1">
                <a:latin typeface="Montserrat" panose="020B0604020202020204" charset="0"/>
                <a:ea typeface="Times New Roman" panose="02020603050405020304" pitchFamily="18" charset="0"/>
                <a:cs typeface="Times New Roman" panose="02020603050405020304" pitchFamily="18" charset="0"/>
              </a:rPr>
              <a:t>a,b,c,big</a:t>
            </a:r>
            <a:r>
              <a:rPr lang="en-US" sz="1600" dirty="0">
                <a:latin typeface="Montserrat" panose="020B0604020202020204" charset="0"/>
                <a:ea typeface="Times New Roman" panose="02020603050405020304" pitchFamily="18" charset="0"/>
                <a:cs typeface="Times New Roman" panose="02020603050405020304" pitchFamily="18" charset="0"/>
              </a:rPr>
              <a:t>;</a:t>
            </a:r>
          </a:p>
          <a:p>
            <a:pPr marL="0" indent="0" algn="just">
              <a:lnSpc>
                <a:spcPct val="100000"/>
              </a:lnSpc>
              <a:buNone/>
            </a:pPr>
            <a:r>
              <a:rPr lang="en-US" sz="1600" dirty="0">
                <a:latin typeface="Montserrat" panose="020B0604020202020204" charset="0"/>
                <a:ea typeface="Times New Roman" panose="02020603050405020304" pitchFamily="18" charset="0"/>
                <a:cs typeface="Times New Roman" panose="02020603050405020304" pitchFamily="18" charset="0"/>
              </a:rPr>
              <a:t>    </a:t>
            </a:r>
            <a:r>
              <a:rPr lang="en-US" sz="1600" dirty="0" err="1">
                <a:latin typeface="Montserrat" panose="020B0604020202020204" charset="0"/>
                <a:ea typeface="Times New Roman" panose="02020603050405020304" pitchFamily="18" charset="0"/>
                <a:cs typeface="Times New Roman" panose="02020603050405020304" pitchFamily="18" charset="0"/>
              </a:rPr>
              <a:t>printf</a:t>
            </a:r>
            <a:r>
              <a:rPr lang="en-US" sz="1600" dirty="0">
                <a:latin typeface="Montserrat" panose="020B0604020202020204" charset="0"/>
                <a:ea typeface="Times New Roman" panose="02020603050405020304" pitchFamily="18" charset="0"/>
                <a:cs typeface="Times New Roman" panose="02020603050405020304" pitchFamily="18" charset="0"/>
              </a:rPr>
              <a:t>("Enter three different numbers:");</a:t>
            </a:r>
          </a:p>
          <a:p>
            <a:pPr marL="0" indent="0" algn="just">
              <a:lnSpc>
                <a:spcPct val="100000"/>
              </a:lnSpc>
              <a:buNone/>
            </a:pPr>
            <a:r>
              <a:rPr lang="en-US" sz="1600" dirty="0">
                <a:latin typeface="Montserrat" panose="020B0604020202020204" charset="0"/>
                <a:ea typeface="Times New Roman" panose="02020603050405020304" pitchFamily="18" charset="0"/>
                <a:cs typeface="Times New Roman" panose="02020603050405020304" pitchFamily="18" charset="0"/>
              </a:rPr>
              <a:t>    </a:t>
            </a:r>
            <a:r>
              <a:rPr lang="en-US" sz="1600" dirty="0" err="1">
                <a:latin typeface="Montserrat" panose="020B0604020202020204" charset="0"/>
                <a:ea typeface="Times New Roman" panose="02020603050405020304" pitchFamily="18" charset="0"/>
                <a:cs typeface="Times New Roman" panose="02020603050405020304" pitchFamily="18" charset="0"/>
              </a:rPr>
              <a:t>scanf</a:t>
            </a:r>
            <a:r>
              <a:rPr lang="en-US" sz="1600" dirty="0">
                <a:latin typeface="Montserrat" panose="020B0604020202020204" charset="0"/>
                <a:ea typeface="Times New Roman" panose="02020603050405020304" pitchFamily="18" charset="0"/>
                <a:cs typeface="Times New Roman" panose="02020603050405020304" pitchFamily="18" charset="0"/>
              </a:rPr>
              <a:t>("%</a:t>
            </a:r>
            <a:r>
              <a:rPr lang="en-US" sz="1600" dirty="0" err="1">
                <a:latin typeface="Montserrat" panose="020B0604020202020204" charset="0"/>
                <a:ea typeface="Times New Roman" panose="02020603050405020304" pitchFamily="18" charset="0"/>
                <a:cs typeface="Times New Roman" panose="02020603050405020304" pitchFamily="18" charset="0"/>
              </a:rPr>
              <a:t>d%d%d</a:t>
            </a:r>
            <a:r>
              <a:rPr lang="en-US" sz="1600" dirty="0">
                <a:latin typeface="Montserrat" panose="020B0604020202020204" charset="0"/>
                <a:ea typeface="Times New Roman" panose="02020603050405020304" pitchFamily="18" charset="0"/>
                <a:cs typeface="Times New Roman" panose="02020603050405020304" pitchFamily="18" charset="0"/>
              </a:rPr>
              <a:t>",&amp;</a:t>
            </a:r>
            <a:r>
              <a:rPr lang="en-US" sz="1600" dirty="0" err="1">
                <a:latin typeface="Montserrat" panose="020B0604020202020204" charset="0"/>
                <a:ea typeface="Times New Roman" panose="02020603050405020304" pitchFamily="18" charset="0"/>
                <a:cs typeface="Times New Roman" panose="02020603050405020304" pitchFamily="18" charset="0"/>
              </a:rPr>
              <a:t>a,&amp;b,&amp;c</a:t>
            </a:r>
            <a:r>
              <a:rPr lang="en-US" sz="1600" dirty="0">
                <a:latin typeface="Montserrat" panose="020B0604020202020204" charset="0"/>
                <a:ea typeface="Times New Roman" panose="02020603050405020304" pitchFamily="18" charset="0"/>
                <a:cs typeface="Times New Roman" panose="02020603050405020304" pitchFamily="18" charset="0"/>
              </a:rPr>
              <a:t>);</a:t>
            </a:r>
          </a:p>
          <a:p>
            <a:pPr marL="0" indent="0" algn="just">
              <a:lnSpc>
                <a:spcPct val="100000"/>
              </a:lnSpc>
              <a:buNone/>
            </a:pPr>
            <a:r>
              <a:rPr lang="en-US" sz="1600" dirty="0">
                <a:latin typeface="Montserrat" panose="020B0604020202020204" charset="0"/>
                <a:ea typeface="Times New Roman" panose="02020603050405020304" pitchFamily="18" charset="0"/>
                <a:cs typeface="Times New Roman" panose="02020603050405020304" pitchFamily="18" charset="0"/>
              </a:rPr>
              <a:t>    if (a&gt;b)</a:t>
            </a:r>
          </a:p>
          <a:p>
            <a:pPr marL="0" indent="0" algn="just">
              <a:lnSpc>
                <a:spcPct val="100000"/>
              </a:lnSpc>
              <a:buNone/>
            </a:pPr>
            <a:r>
              <a:rPr lang="en-US" sz="1600" dirty="0">
                <a:latin typeface="Montserrat" panose="020B0604020202020204" charset="0"/>
                <a:ea typeface="Times New Roman" panose="02020603050405020304" pitchFamily="18" charset="0"/>
                <a:cs typeface="Times New Roman" panose="02020603050405020304" pitchFamily="18" charset="0"/>
              </a:rPr>
              <a:t>        if(a&gt;c)</a:t>
            </a:r>
          </a:p>
          <a:p>
            <a:pPr marL="0" indent="0" algn="just">
              <a:lnSpc>
                <a:spcPct val="100000"/>
              </a:lnSpc>
              <a:buNone/>
            </a:pPr>
            <a:r>
              <a:rPr lang="en-US" sz="1600" dirty="0">
                <a:latin typeface="Montserrat" panose="020B0604020202020204" charset="0"/>
                <a:ea typeface="Times New Roman" panose="02020603050405020304" pitchFamily="18" charset="0"/>
                <a:cs typeface="Times New Roman" panose="02020603050405020304" pitchFamily="18" charset="0"/>
              </a:rPr>
              <a:t>            big = a;</a:t>
            </a:r>
          </a:p>
          <a:p>
            <a:pPr marL="0" indent="0" algn="just">
              <a:lnSpc>
                <a:spcPct val="100000"/>
              </a:lnSpc>
              <a:buNone/>
            </a:pPr>
            <a:r>
              <a:rPr lang="en-US" sz="1600" dirty="0">
                <a:latin typeface="Montserrat" panose="020B0604020202020204" charset="0"/>
                <a:ea typeface="Times New Roman" panose="02020603050405020304" pitchFamily="18" charset="0"/>
                <a:cs typeface="Times New Roman" panose="02020603050405020304" pitchFamily="18" charset="0"/>
              </a:rPr>
              <a:t>        else</a:t>
            </a:r>
          </a:p>
          <a:p>
            <a:pPr marL="0" indent="0" algn="just">
              <a:lnSpc>
                <a:spcPct val="100000"/>
              </a:lnSpc>
              <a:buNone/>
            </a:pPr>
            <a:r>
              <a:rPr lang="en-US" sz="1600" dirty="0">
                <a:latin typeface="Montserrat" panose="020B0604020202020204" charset="0"/>
                <a:ea typeface="Times New Roman" panose="02020603050405020304" pitchFamily="18" charset="0"/>
                <a:cs typeface="Times New Roman" panose="02020603050405020304" pitchFamily="18" charset="0"/>
              </a:rPr>
              <a:t>            big = c;</a:t>
            </a:r>
          </a:p>
          <a:p>
            <a:pPr marL="0" indent="0" algn="just">
              <a:lnSpc>
                <a:spcPct val="100000"/>
              </a:lnSpc>
              <a:buNone/>
            </a:pPr>
            <a:r>
              <a:rPr lang="en-US" sz="1600" dirty="0">
                <a:latin typeface="Montserrat" panose="020B0604020202020204" charset="0"/>
                <a:ea typeface="Times New Roman" panose="02020603050405020304" pitchFamily="18" charset="0"/>
                <a:cs typeface="Times New Roman" panose="02020603050405020304" pitchFamily="18" charset="0"/>
              </a:rPr>
              <a:t>    else</a:t>
            </a:r>
          </a:p>
          <a:p>
            <a:pPr marL="0" indent="0" algn="just">
              <a:lnSpc>
                <a:spcPct val="100000"/>
              </a:lnSpc>
              <a:buNone/>
            </a:pPr>
            <a:r>
              <a:rPr lang="en-US" sz="1600" dirty="0">
                <a:latin typeface="Montserrat" panose="020B0604020202020204" charset="0"/>
                <a:ea typeface="Times New Roman" panose="02020603050405020304" pitchFamily="18" charset="0"/>
                <a:cs typeface="Times New Roman" panose="02020603050405020304" pitchFamily="18" charset="0"/>
              </a:rPr>
              <a:t>        if (b&gt;c)</a:t>
            </a:r>
          </a:p>
          <a:p>
            <a:pPr marL="0" indent="0" algn="just">
              <a:lnSpc>
                <a:spcPct val="100000"/>
              </a:lnSpc>
              <a:buNone/>
            </a:pPr>
            <a:r>
              <a:rPr lang="en-US" sz="1600" dirty="0">
                <a:latin typeface="Montserrat" panose="020B0604020202020204" charset="0"/>
                <a:ea typeface="Times New Roman" panose="02020603050405020304" pitchFamily="18" charset="0"/>
                <a:cs typeface="Times New Roman" panose="02020603050405020304" pitchFamily="18" charset="0"/>
              </a:rPr>
              <a:t>            big = b;</a:t>
            </a:r>
          </a:p>
          <a:p>
            <a:pPr marL="0" indent="0" algn="just">
              <a:lnSpc>
                <a:spcPct val="100000"/>
              </a:lnSpc>
              <a:buNone/>
            </a:pPr>
            <a:r>
              <a:rPr lang="en-US" sz="1600" dirty="0">
                <a:latin typeface="Montserrat" panose="020B0604020202020204" charset="0"/>
                <a:ea typeface="Times New Roman" panose="02020603050405020304" pitchFamily="18" charset="0"/>
                <a:cs typeface="Times New Roman" panose="02020603050405020304" pitchFamily="18" charset="0"/>
              </a:rPr>
              <a:t>        else</a:t>
            </a:r>
          </a:p>
          <a:p>
            <a:pPr marL="0" indent="0" algn="just">
              <a:lnSpc>
                <a:spcPct val="100000"/>
              </a:lnSpc>
              <a:buNone/>
            </a:pPr>
            <a:r>
              <a:rPr lang="en-US" sz="1600" dirty="0">
                <a:latin typeface="Montserrat" panose="020B0604020202020204" charset="0"/>
                <a:ea typeface="Times New Roman" panose="02020603050405020304" pitchFamily="18" charset="0"/>
                <a:cs typeface="Times New Roman" panose="02020603050405020304" pitchFamily="18" charset="0"/>
              </a:rPr>
              <a:t>            big = c;</a:t>
            </a:r>
          </a:p>
          <a:p>
            <a:pPr marL="0" indent="0" algn="just">
              <a:lnSpc>
                <a:spcPct val="100000"/>
              </a:lnSpc>
              <a:buNone/>
            </a:pPr>
            <a:r>
              <a:rPr lang="en-US" sz="1600" dirty="0">
                <a:latin typeface="Montserrat" panose="020B0604020202020204" charset="0"/>
                <a:ea typeface="Times New Roman" panose="02020603050405020304" pitchFamily="18" charset="0"/>
                <a:cs typeface="Times New Roman" panose="02020603050405020304" pitchFamily="18" charset="0"/>
              </a:rPr>
              <a:t>    </a:t>
            </a:r>
            <a:r>
              <a:rPr lang="en-US" sz="1600" dirty="0" err="1">
                <a:latin typeface="Montserrat" panose="020B0604020202020204" charset="0"/>
                <a:ea typeface="Times New Roman" panose="02020603050405020304" pitchFamily="18" charset="0"/>
                <a:cs typeface="Times New Roman" panose="02020603050405020304" pitchFamily="18" charset="0"/>
              </a:rPr>
              <a:t>printf</a:t>
            </a:r>
            <a:r>
              <a:rPr lang="en-US" sz="1600" dirty="0">
                <a:latin typeface="Montserrat" panose="020B0604020202020204" charset="0"/>
                <a:ea typeface="Times New Roman" panose="02020603050405020304" pitchFamily="18" charset="0"/>
                <a:cs typeface="Times New Roman" panose="02020603050405020304" pitchFamily="18" charset="0"/>
              </a:rPr>
              <a:t>("Largest of %d %d %d is %d",</a:t>
            </a:r>
            <a:r>
              <a:rPr lang="en-US" sz="1600" dirty="0" err="1">
                <a:latin typeface="Montserrat" panose="020B0604020202020204" charset="0"/>
                <a:ea typeface="Times New Roman" panose="02020603050405020304" pitchFamily="18" charset="0"/>
                <a:cs typeface="Times New Roman" panose="02020603050405020304" pitchFamily="18" charset="0"/>
              </a:rPr>
              <a:t>a,b,c,big</a:t>
            </a:r>
            <a:r>
              <a:rPr lang="en-US" sz="1600" dirty="0">
                <a:latin typeface="Montserrat" panose="020B0604020202020204" charset="0"/>
                <a:ea typeface="Times New Roman" panose="02020603050405020304" pitchFamily="18" charset="0"/>
                <a:cs typeface="Times New Roman" panose="02020603050405020304" pitchFamily="18" charset="0"/>
              </a:rPr>
              <a:t>);</a:t>
            </a:r>
          </a:p>
          <a:p>
            <a:pPr marL="0" indent="0" algn="just">
              <a:lnSpc>
                <a:spcPct val="100000"/>
              </a:lnSpc>
              <a:buNone/>
            </a:pPr>
            <a:r>
              <a:rPr lang="en-US" sz="1600" dirty="0">
                <a:latin typeface="Montserrat" panose="020B0604020202020204" charset="0"/>
                <a:ea typeface="Times New Roman" panose="02020603050405020304" pitchFamily="18" charset="0"/>
                <a:cs typeface="Times New Roman" panose="02020603050405020304" pitchFamily="18" charset="0"/>
              </a:rPr>
              <a:t>}</a:t>
            </a:r>
            <a:endParaRPr lang="en-IN" sz="1600" dirty="0">
              <a:latin typeface="Montserrat" panose="020B0604020202020204" charset="0"/>
              <a:ea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xmlns="" id="{5E0F9C39-C88B-4020-B8A3-5E4D42E9466A}"/>
              </a:ext>
            </a:extLst>
          </p:cNvPr>
          <p:cNvSpPr>
            <a:spLocks noGrp="1"/>
          </p:cNvSpPr>
          <p:nvPr>
            <p:ph sz="half" idx="2"/>
          </p:nvPr>
        </p:nvSpPr>
        <p:spPr/>
        <p:txBody>
          <a:bodyPr>
            <a:normAutofit/>
          </a:bodyPr>
          <a:lstStyle/>
          <a:p>
            <a:pPr marL="0" indent="0">
              <a:buNone/>
            </a:pPr>
            <a:r>
              <a:rPr lang="en-IN" dirty="0"/>
              <a:t>Output:</a:t>
            </a:r>
          </a:p>
          <a:p>
            <a:pPr marL="0" indent="0">
              <a:buNone/>
            </a:pPr>
            <a:r>
              <a:rPr lang="en-US" sz="2000" dirty="0"/>
              <a:t>Enter three different numbers:56 78 40</a:t>
            </a:r>
          </a:p>
          <a:p>
            <a:pPr marL="0" indent="0">
              <a:buNone/>
            </a:pPr>
            <a:r>
              <a:rPr lang="en-US" sz="2000" dirty="0"/>
              <a:t>Largest of 56 78 40 is 78</a:t>
            </a:r>
            <a:endParaRPr lang="en-IN" sz="2000" dirty="0"/>
          </a:p>
        </p:txBody>
      </p:sp>
    </p:spTree>
    <p:extLst>
      <p:ext uri="{BB962C8B-B14F-4D97-AF65-F5344CB8AC3E}">
        <p14:creationId xmlns:p14="http://schemas.microsoft.com/office/powerpoint/2010/main" val="272197437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E5AA82-BECD-4665-B2FD-D0AE0A98C4BF}"/>
              </a:ext>
            </a:extLst>
          </p:cNvPr>
          <p:cNvSpPr>
            <a:spLocks noGrp="1"/>
          </p:cNvSpPr>
          <p:nvPr>
            <p:ph type="title"/>
          </p:nvPr>
        </p:nvSpPr>
        <p:spPr/>
        <p:txBody>
          <a:bodyPr>
            <a:normAutofit fontScale="90000"/>
          </a:bodyPr>
          <a:lstStyle/>
          <a:p>
            <a:pPr algn="ctr"/>
            <a:r>
              <a:rPr lang="en-US" sz="4000" dirty="0">
                <a:effectLst/>
                <a:latin typeface="Montserrat" panose="020B0604020202020204" charset="0"/>
              </a:rPr>
              <a:t>The else if ladder</a:t>
            </a:r>
            <a:r>
              <a:rPr lang="en-IN" sz="4400" b="1" dirty="0">
                <a:effectLst/>
                <a:latin typeface="Times New Roman" panose="02020603050405020304" pitchFamily="18" charset="0"/>
              </a:rPr>
              <a:t/>
            </a:r>
            <a:br>
              <a:rPr lang="en-IN" sz="4400" b="1" dirty="0">
                <a:effectLst/>
                <a:latin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xmlns="" id="{86406B13-FB6E-4ECF-93F6-82185F9502E1}"/>
              </a:ext>
            </a:extLst>
          </p:cNvPr>
          <p:cNvSpPr>
            <a:spLocks noGrp="1"/>
          </p:cNvSpPr>
          <p:nvPr>
            <p:ph idx="1"/>
          </p:nvPr>
        </p:nvSpPr>
        <p:spPr>
          <a:xfrm>
            <a:off x="1551432" y="990732"/>
            <a:ext cx="9823704" cy="5186231"/>
          </a:xfrm>
        </p:spPr>
        <p:txBody>
          <a:bodyPr>
            <a:normAutofit/>
          </a:bodyPr>
          <a:lstStyle/>
          <a:p>
            <a:r>
              <a:rPr lang="en-IN" sz="1800" dirty="0"/>
              <a:t>Multiway decision or </a:t>
            </a:r>
          </a:p>
          <a:p>
            <a:pPr marL="0" indent="0">
              <a:buNone/>
            </a:pPr>
            <a:r>
              <a:rPr lang="en-IN" sz="1800" dirty="0"/>
              <a:t>branching statement</a:t>
            </a:r>
            <a:endParaRPr lang="en-US" sz="1800" dirty="0">
              <a:effectLst/>
              <a:latin typeface="Montserrat" panose="020B0604020202020204" charset="0"/>
              <a:ea typeface="Times New Roman" panose="02020603050405020304" pitchFamily="18" charset="0"/>
            </a:endParaRPr>
          </a:p>
          <a:p>
            <a:endParaRPr lang="en-IN" sz="1800" dirty="0"/>
          </a:p>
        </p:txBody>
      </p:sp>
      <p:pic>
        <p:nvPicPr>
          <p:cNvPr id="2050" name="Picture 2" descr="Decision Making Statements In Python">
            <a:extLst>
              <a:ext uri="{FF2B5EF4-FFF2-40B4-BE49-F238E27FC236}">
                <a16:creationId xmlns:a16="http://schemas.microsoft.com/office/drawing/2014/main" xmlns="" id="{FF99611C-F229-4F67-A459-DD38691C95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3833" y="990732"/>
            <a:ext cx="5706584" cy="487653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xmlns="" id="{000A2C14-ACFB-4A62-BBBF-5B8FC25DD268}"/>
              </a:ext>
            </a:extLst>
          </p:cNvPr>
          <p:cNvSpPr/>
          <p:nvPr/>
        </p:nvSpPr>
        <p:spPr>
          <a:xfrm>
            <a:off x="1692526" y="1775157"/>
            <a:ext cx="3941307" cy="46578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latin typeface="Montserrat" panose="020B0604020202020204" charset="0"/>
                <a:ea typeface="Times New Roman" panose="02020603050405020304" pitchFamily="18" charset="0"/>
              </a:rPr>
              <a:t>Syntax</a:t>
            </a:r>
          </a:p>
          <a:p>
            <a:r>
              <a:rPr lang="en-US" sz="1400" dirty="0">
                <a:latin typeface="Montserrat" panose="020B0604020202020204" charset="0"/>
                <a:ea typeface="Times New Roman" panose="02020603050405020304" pitchFamily="18" charset="0"/>
              </a:rPr>
              <a:t>if (condition_1) </a:t>
            </a:r>
          </a:p>
          <a:p>
            <a:r>
              <a:rPr lang="en-US" sz="1400" dirty="0">
                <a:latin typeface="Montserrat" panose="020B0604020202020204" charset="0"/>
                <a:ea typeface="Times New Roman" panose="02020603050405020304" pitchFamily="18" charset="0"/>
              </a:rPr>
              <a:t>{</a:t>
            </a:r>
            <a:br>
              <a:rPr lang="en-US" sz="1400" dirty="0">
                <a:latin typeface="Montserrat" panose="020B0604020202020204" charset="0"/>
                <a:ea typeface="Times New Roman" panose="02020603050405020304" pitchFamily="18" charset="0"/>
              </a:rPr>
            </a:br>
            <a:r>
              <a:rPr lang="en-US" sz="1400" dirty="0">
                <a:latin typeface="Montserrat" panose="020B0604020202020204" charset="0"/>
                <a:ea typeface="Times New Roman" panose="02020603050405020304" pitchFamily="18" charset="0"/>
              </a:rPr>
              <a:t>   statement(s)_1; </a:t>
            </a:r>
          </a:p>
          <a:p>
            <a:r>
              <a:rPr lang="en-US" sz="1400" dirty="0">
                <a:latin typeface="Montserrat" panose="020B0604020202020204" charset="0"/>
                <a:ea typeface="Times New Roman" panose="02020603050405020304" pitchFamily="18" charset="0"/>
              </a:rPr>
              <a:t>}</a:t>
            </a:r>
            <a:br>
              <a:rPr lang="en-US" sz="1400" dirty="0">
                <a:latin typeface="Montserrat" panose="020B0604020202020204" charset="0"/>
                <a:ea typeface="Times New Roman" panose="02020603050405020304" pitchFamily="18" charset="0"/>
              </a:rPr>
            </a:br>
            <a:r>
              <a:rPr lang="en-US" sz="1400" dirty="0">
                <a:latin typeface="Montserrat" panose="020B0604020202020204" charset="0"/>
                <a:ea typeface="Times New Roman" panose="02020603050405020304" pitchFamily="18" charset="0"/>
              </a:rPr>
              <a:t>else if (condition_2) </a:t>
            </a:r>
          </a:p>
          <a:p>
            <a:r>
              <a:rPr lang="en-US" sz="1400" dirty="0">
                <a:latin typeface="Montserrat" panose="020B0604020202020204" charset="0"/>
                <a:ea typeface="Times New Roman" panose="02020603050405020304" pitchFamily="18" charset="0"/>
              </a:rPr>
              <a:t>{</a:t>
            </a:r>
            <a:br>
              <a:rPr lang="en-US" sz="1400" dirty="0">
                <a:latin typeface="Montserrat" panose="020B0604020202020204" charset="0"/>
                <a:ea typeface="Times New Roman" panose="02020603050405020304" pitchFamily="18" charset="0"/>
              </a:rPr>
            </a:br>
            <a:r>
              <a:rPr lang="en-US" sz="1400" dirty="0">
                <a:latin typeface="Montserrat" panose="020B0604020202020204" charset="0"/>
                <a:ea typeface="Times New Roman" panose="02020603050405020304" pitchFamily="18" charset="0"/>
              </a:rPr>
              <a:t>   statement(s)_2;</a:t>
            </a:r>
          </a:p>
          <a:p>
            <a:r>
              <a:rPr lang="en-US" sz="1400" dirty="0">
                <a:latin typeface="Montserrat" panose="020B0604020202020204" charset="0"/>
                <a:ea typeface="Times New Roman" panose="02020603050405020304" pitchFamily="18" charset="0"/>
              </a:rPr>
              <a:t>}</a:t>
            </a:r>
            <a:br>
              <a:rPr lang="en-US" sz="1400" dirty="0">
                <a:latin typeface="Montserrat" panose="020B0604020202020204" charset="0"/>
                <a:ea typeface="Times New Roman" panose="02020603050405020304" pitchFamily="18" charset="0"/>
              </a:rPr>
            </a:br>
            <a:r>
              <a:rPr lang="en-US" sz="1400" dirty="0">
                <a:latin typeface="Montserrat" panose="020B0604020202020204" charset="0"/>
                <a:ea typeface="Times New Roman" panose="02020603050405020304" pitchFamily="18" charset="0"/>
              </a:rPr>
              <a:t>	.</a:t>
            </a:r>
          </a:p>
          <a:p>
            <a:r>
              <a:rPr lang="en-US" sz="1400" dirty="0">
                <a:latin typeface="Montserrat" panose="020B0604020202020204" charset="0"/>
                <a:ea typeface="Times New Roman" panose="02020603050405020304" pitchFamily="18" charset="0"/>
              </a:rPr>
              <a:t>	.	</a:t>
            </a:r>
          </a:p>
          <a:p>
            <a:r>
              <a:rPr lang="en-US" sz="1400" dirty="0">
                <a:latin typeface="Montserrat" panose="020B0604020202020204" charset="0"/>
                <a:ea typeface="Times New Roman" panose="02020603050405020304" pitchFamily="18" charset="0"/>
              </a:rPr>
              <a:t>	.	</a:t>
            </a:r>
            <a:br>
              <a:rPr lang="en-US" sz="1400" dirty="0">
                <a:latin typeface="Montserrat" panose="020B0604020202020204" charset="0"/>
                <a:ea typeface="Times New Roman" panose="02020603050405020304" pitchFamily="18" charset="0"/>
              </a:rPr>
            </a:br>
            <a:r>
              <a:rPr lang="en-US" sz="1400" dirty="0">
                <a:latin typeface="Montserrat" panose="020B0604020202020204" charset="0"/>
                <a:ea typeface="Times New Roman" panose="02020603050405020304" pitchFamily="18" charset="0"/>
              </a:rPr>
              <a:t>else if (</a:t>
            </a:r>
            <a:r>
              <a:rPr lang="en-US" sz="1400" dirty="0" err="1">
                <a:latin typeface="Montserrat" panose="020B0604020202020204" charset="0"/>
                <a:ea typeface="Times New Roman" panose="02020603050405020304" pitchFamily="18" charset="0"/>
              </a:rPr>
              <a:t>condition_n</a:t>
            </a:r>
            <a:r>
              <a:rPr lang="en-US" sz="1400" dirty="0">
                <a:latin typeface="Montserrat" panose="020B0604020202020204" charset="0"/>
                <a:ea typeface="Times New Roman" panose="02020603050405020304" pitchFamily="18" charset="0"/>
              </a:rPr>
              <a:t>) </a:t>
            </a:r>
          </a:p>
          <a:p>
            <a:r>
              <a:rPr lang="en-US" sz="1400" dirty="0">
                <a:latin typeface="Montserrat" panose="020B0604020202020204" charset="0"/>
                <a:ea typeface="Times New Roman" panose="02020603050405020304" pitchFamily="18" charset="0"/>
              </a:rPr>
              <a:t>{</a:t>
            </a:r>
            <a:br>
              <a:rPr lang="en-US" sz="1400" dirty="0">
                <a:latin typeface="Montserrat" panose="020B0604020202020204" charset="0"/>
                <a:ea typeface="Times New Roman" panose="02020603050405020304" pitchFamily="18" charset="0"/>
              </a:rPr>
            </a:br>
            <a:r>
              <a:rPr lang="en-US" sz="1400" dirty="0">
                <a:latin typeface="Montserrat" panose="020B0604020202020204" charset="0"/>
                <a:ea typeface="Times New Roman" panose="02020603050405020304" pitchFamily="18" charset="0"/>
              </a:rPr>
              <a:t>   statement(s)_n;</a:t>
            </a:r>
          </a:p>
          <a:p>
            <a:r>
              <a:rPr lang="en-US" sz="1400" dirty="0">
                <a:latin typeface="Montserrat" panose="020B0604020202020204" charset="0"/>
                <a:ea typeface="Times New Roman" panose="02020603050405020304" pitchFamily="18" charset="0"/>
              </a:rPr>
              <a:t>}</a:t>
            </a:r>
            <a:br>
              <a:rPr lang="en-US" sz="1400" dirty="0">
                <a:latin typeface="Montserrat" panose="020B0604020202020204" charset="0"/>
                <a:ea typeface="Times New Roman" panose="02020603050405020304" pitchFamily="18" charset="0"/>
              </a:rPr>
            </a:br>
            <a:r>
              <a:rPr lang="en-US" sz="1400" dirty="0">
                <a:latin typeface="Montserrat" panose="020B0604020202020204" charset="0"/>
                <a:ea typeface="Times New Roman" panose="02020603050405020304" pitchFamily="18" charset="0"/>
              </a:rPr>
              <a:t>else</a:t>
            </a:r>
          </a:p>
          <a:p>
            <a:r>
              <a:rPr lang="en-US" sz="1400" dirty="0">
                <a:latin typeface="Montserrat" panose="020B0604020202020204" charset="0"/>
                <a:ea typeface="Times New Roman" panose="02020603050405020304" pitchFamily="18" charset="0"/>
              </a:rPr>
              <a:t>{</a:t>
            </a:r>
            <a:br>
              <a:rPr lang="en-US" sz="1400" dirty="0">
                <a:latin typeface="Montserrat" panose="020B0604020202020204" charset="0"/>
                <a:ea typeface="Times New Roman" panose="02020603050405020304" pitchFamily="18" charset="0"/>
              </a:rPr>
            </a:br>
            <a:r>
              <a:rPr lang="en-US" sz="1400" dirty="0">
                <a:latin typeface="Montserrat" panose="020B0604020202020204" charset="0"/>
                <a:ea typeface="Times New Roman" panose="02020603050405020304" pitchFamily="18" charset="0"/>
              </a:rPr>
              <a:t>   statement(s)_default;</a:t>
            </a:r>
          </a:p>
          <a:p>
            <a:r>
              <a:rPr lang="en-US" sz="1400" dirty="0">
                <a:latin typeface="Montserrat" panose="020B0604020202020204" charset="0"/>
                <a:ea typeface="Times New Roman" panose="02020603050405020304" pitchFamily="18" charset="0"/>
              </a:rPr>
              <a:t>}</a:t>
            </a:r>
            <a:endParaRPr lang="en-IN" sz="1400" dirty="0">
              <a:latin typeface="Montserrat" panose="020B0604020202020204" charset="0"/>
              <a:ea typeface="Times New Roman" panose="02020603050405020304" pitchFamily="18" charset="0"/>
            </a:endParaRPr>
          </a:p>
        </p:txBody>
      </p:sp>
    </p:spTree>
    <p:extLst>
      <p:ext uri="{BB962C8B-B14F-4D97-AF65-F5344CB8AC3E}">
        <p14:creationId xmlns:p14="http://schemas.microsoft.com/office/powerpoint/2010/main" val="171124321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D47021-9158-4120-87A3-EB3A5D11C73A}"/>
              </a:ext>
            </a:extLst>
          </p:cNvPr>
          <p:cNvSpPr>
            <a:spLocks noGrp="1"/>
          </p:cNvSpPr>
          <p:nvPr>
            <p:ph type="title"/>
          </p:nvPr>
        </p:nvSpPr>
        <p:spPr/>
        <p:txBody>
          <a:bodyPr/>
          <a:lstStyle/>
          <a:p>
            <a:pPr algn="ctr"/>
            <a:r>
              <a:rPr lang="en-US" dirty="0">
                <a:latin typeface="Montserrat" panose="020B0604020202020204" charset="0"/>
              </a:rPr>
              <a:t>The else if ladder - Example</a:t>
            </a:r>
            <a:endParaRPr lang="en-IN" dirty="0"/>
          </a:p>
        </p:txBody>
      </p:sp>
      <p:sp>
        <p:nvSpPr>
          <p:cNvPr id="3" name="Content Placeholder 2">
            <a:extLst>
              <a:ext uri="{FF2B5EF4-FFF2-40B4-BE49-F238E27FC236}">
                <a16:creationId xmlns:a16="http://schemas.microsoft.com/office/drawing/2014/main" xmlns="" id="{0D4E6705-8C35-4A7B-B846-38A5FD0ACE89}"/>
              </a:ext>
            </a:extLst>
          </p:cNvPr>
          <p:cNvSpPr>
            <a:spLocks noGrp="1"/>
          </p:cNvSpPr>
          <p:nvPr>
            <p:ph sz="half" idx="1"/>
          </p:nvPr>
        </p:nvSpPr>
        <p:spPr>
          <a:xfrm>
            <a:off x="1438656" y="1825625"/>
            <a:ext cx="4489704" cy="4667250"/>
          </a:xfrm>
        </p:spPr>
        <p:txBody>
          <a:bodyPr>
            <a:normAutofit fontScale="47500" lnSpcReduction="20000"/>
          </a:bodyPr>
          <a:lstStyle/>
          <a:p>
            <a:pPr marL="0" indent="0">
              <a:buNone/>
            </a:pPr>
            <a:r>
              <a:rPr lang="en-US" sz="3200" dirty="0">
                <a:latin typeface="Montserrat" panose="020B0604020202020204" charset="0"/>
                <a:ea typeface="Times New Roman" panose="02020603050405020304" pitchFamily="18" charset="0"/>
              </a:rPr>
              <a:t>#include &lt;</a:t>
            </a:r>
            <a:r>
              <a:rPr lang="en-US" sz="3200" dirty="0" err="1">
                <a:latin typeface="Montserrat" panose="020B0604020202020204" charset="0"/>
                <a:ea typeface="Times New Roman" panose="02020603050405020304" pitchFamily="18" charset="0"/>
              </a:rPr>
              <a:t>stdio.h</a:t>
            </a:r>
            <a:r>
              <a:rPr lang="en-US" sz="3200" dirty="0">
                <a:latin typeface="Montserrat" panose="020B0604020202020204" charset="0"/>
                <a:ea typeface="Times New Roman" panose="02020603050405020304" pitchFamily="18" charset="0"/>
              </a:rPr>
              <a:t>&gt;</a:t>
            </a:r>
          </a:p>
          <a:p>
            <a:pPr marL="0" indent="0">
              <a:buNone/>
            </a:pPr>
            <a:r>
              <a:rPr lang="en-US" sz="3200" dirty="0">
                <a:latin typeface="Montserrat" panose="020B0604020202020204" charset="0"/>
                <a:ea typeface="Times New Roman" panose="02020603050405020304" pitchFamily="18" charset="0"/>
              </a:rPr>
              <a:t>void main()</a:t>
            </a:r>
          </a:p>
          <a:p>
            <a:pPr marL="0" indent="0">
              <a:buNone/>
            </a:pPr>
            <a:r>
              <a:rPr lang="en-US" sz="3200" dirty="0">
                <a:latin typeface="Montserrat" panose="020B0604020202020204" charset="0"/>
                <a:ea typeface="Times New Roman" panose="02020603050405020304" pitchFamily="18" charset="0"/>
              </a:rPr>
              <a:t>{</a:t>
            </a:r>
          </a:p>
          <a:p>
            <a:pPr marL="0" indent="0">
              <a:buNone/>
            </a:pPr>
            <a:r>
              <a:rPr lang="en-US" sz="3200" dirty="0">
                <a:latin typeface="Montserrat" panose="020B0604020202020204" charset="0"/>
                <a:ea typeface="Times New Roman" panose="02020603050405020304" pitchFamily="18" charset="0"/>
              </a:rPr>
              <a:t>   int marks;</a:t>
            </a:r>
          </a:p>
          <a:p>
            <a:pPr marL="0" indent="0">
              <a:buNone/>
            </a:pPr>
            <a:r>
              <a:rPr lang="en-US" sz="3200" dirty="0">
                <a:latin typeface="Montserrat" panose="020B0604020202020204" charset="0"/>
                <a:ea typeface="Times New Roman" panose="02020603050405020304" pitchFamily="18" charset="0"/>
              </a:rPr>
              <a:t>   </a:t>
            </a:r>
            <a:r>
              <a:rPr lang="en-US" sz="3200" dirty="0" err="1">
                <a:latin typeface="Montserrat" panose="020B0604020202020204" charset="0"/>
                <a:ea typeface="Times New Roman" panose="02020603050405020304" pitchFamily="18" charset="0"/>
              </a:rPr>
              <a:t>printf</a:t>
            </a:r>
            <a:r>
              <a:rPr lang="en-US" sz="3200" dirty="0">
                <a:latin typeface="Montserrat" panose="020B0604020202020204" charset="0"/>
                <a:ea typeface="Times New Roman" panose="02020603050405020304" pitchFamily="18" charset="0"/>
              </a:rPr>
              <a:t> ("Enter marks:");</a:t>
            </a:r>
          </a:p>
          <a:p>
            <a:pPr marL="0" indent="0">
              <a:buNone/>
            </a:pPr>
            <a:r>
              <a:rPr lang="en-US" sz="3200" dirty="0">
                <a:latin typeface="Montserrat" panose="020B0604020202020204" charset="0"/>
                <a:ea typeface="Times New Roman" panose="02020603050405020304" pitchFamily="18" charset="0"/>
              </a:rPr>
              <a:t>   </a:t>
            </a:r>
            <a:r>
              <a:rPr lang="en-US" sz="3200" dirty="0" err="1">
                <a:latin typeface="Montserrat" panose="020B0604020202020204" charset="0"/>
                <a:ea typeface="Times New Roman" panose="02020603050405020304" pitchFamily="18" charset="0"/>
              </a:rPr>
              <a:t>scanf</a:t>
            </a:r>
            <a:r>
              <a:rPr lang="en-US" sz="3200" dirty="0">
                <a:latin typeface="Montserrat" panose="020B0604020202020204" charset="0"/>
                <a:ea typeface="Times New Roman" panose="02020603050405020304" pitchFamily="18" charset="0"/>
              </a:rPr>
              <a:t> ("%d", &amp;marks);</a:t>
            </a:r>
          </a:p>
          <a:p>
            <a:pPr marL="0" indent="0">
              <a:buNone/>
            </a:pPr>
            <a:r>
              <a:rPr lang="en-US" sz="3200" dirty="0">
                <a:latin typeface="Montserrat" panose="020B0604020202020204" charset="0"/>
                <a:ea typeface="Times New Roman" panose="02020603050405020304" pitchFamily="18" charset="0"/>
              </a:rPr>
              <a:t>   if (marks &lt;= 100 &amp;&amp; marks &gt;= 70)</a:t>
            </a:r>
          </a:p>
          <a:p>
            <a:pPr marL="0" indent="0">
              <a:buNone/>
            </a:pPr>
            <a:r>
              <a:rPr lang="en-US" sz="3200" dirty="0">
                <a:latin typeface="Montserrat" panose="020B0604020202020204" charset="0"/>
                <a:ea typeface="Times New Roman" panose="02020603050405020304" pitchFamily="18" charset="0"/>
              </a:rPr>
              <a:t>         </a:t>
            </a:r>
            <a:r>
              <a:rPr lang="en-US" sz="3200" dirty="0" err="1">
                <a:latin typeface="Montserrat" panose="020B0604020202020204" charset="0"/>
                <a:ea typeface="Times New Roman" panose="02020603050405020304" pitchFamily="18" charset="0"/>
              </a:rPr>
              <a:t>printf</a:t>
            </a:r>
            <a:r>
              <a:rPr lang="en-US" sz="3200" dirty="0">
                <a:latin typeface="Montserrat" panose="020B0604020202020204" charset="0"/>
                <a:ea typeface="Times New Roman" panose="02020603050405020304" pitchFamily="18" charset="0"/>
              </a:rPr>
              <a:t> ("\</a:t>
            </a:r>
            <a:r>
              <a:rPr lang="en-US" sz="3200" dirty="0" err="1">
                <a:latin typeface="Montserrat" panose="020B0604020202020204" charset="0"/>
                <a:ea typeface="Times New Roman" panose="02020603050405020304" pitchFamily="18" charset="0"/>
              </a:rPr>
              <a:t>nDistinction</a:t>
            </a:r>
            <a:r>
              <a:rPr lang="en-US" sz="3200" dirty="0">
                <a:latin typeface="Montserrat" panose="020B0604020202020204" charset="0"/>
                <a:ea typeface="Times New Roman" panose="02020603050405020304" pitchFamily="18" charset="0"/>
              </a:rPr>
              <a:t>");</a:t>
            </a:r>
          </a:p>
          <a:p>
            <a:pPr marL="0" indent="0">
              <a:buNone/>
            </a:pPr>
            <a:r>
              <a:rPr lang="en-US" sz="3200" dirty="0">
                <a:latin typeface="Montserrat" panose="020B0604020202020204" charset="0"/>
                <a:ea typeface="Times New Roman" panose="02020603050405020304" pitchFamily="18" charset="0"/>
              </a:rPr>
              <a:t>   else if (marks &gt;= 60)</a:t>
            </a:r>
          </a:p>
          <a:p>
            <a:pPr marL="0" indent="0">
              <a:buNone/>
            </a:pPr>
            <a:r>
              <a:rPr lang="en-US" sz="3200" dirty="0">
                <a:latin typeface="Montserrat" panose="020B0604020202020204" charset="0"/>
                <a:ea typeface="Times New Roman" panose="02020603050405020304" pitchFamily="18" charset="0"/>
              </a:rPr>
              <a:t>        </a:t>
            </a:r>
            <a:r>
              <a:rPr lang="en-US" sz="3200" dirty="0" err="1">
                <a:latin typeface="Montserrat" panose="020B0604020202020204" charset="0"/>
                <a:ea typeface="Times New Roman" panose="02020603050405020304" pitchFamily="18" charset="0"/>
              </a:rPr>
              <a:t>printf</a:t>
            </a:r>
            <a:r>
              <a:rPr lang="en-US" sz="3200" dirty="0">
                <a:latin typeface="Montserrat" panose="020B0604020202020204" charset="0"/>
                <a:ea typeface="Times New Roman" panose="02020603050405020304" pitchFamily="18" charset="0"/>
              </a:rPr>
              <a:t>("\</a:t>
            </a:r>
            <a:r>
              <a:rPr lang="en-US" sz="3200" dirty="0" err="1">
                <a:latin typeface="Montserrat" panose="020B0604020202020204" charset="0"/>
                <a:ea typeface="Times New Roman" panose="02020603050405020304" pitchFamily="18" charset="0"/>
              </a:rPr>
              <a:t>nFirst</a:t>
            </a:r>
            <a:r>
              <a:rPr lang="en-US" sz="3200" dirty="0">
                <a:latin typeface="Montserrat" panose="020B0604020202020204" charset="0"/>
                <a:ea typeface="Times New Roman" panose="02020603050405020304" pitchFamily="18" charset="0"/>
              </a:rPr>
              <a:t> class");</a:t>
            </a:r>
          </a:p>
          <a:p>
            <a:pPr marL="0" indent="0">
              <a:buNone/>
            </a:pPr>
            <a:r>
              <a:rPr lang="en-US" sz="3200" dirty="0">
                <a:latin typeface="Montserrat" panose="020B0604020202020204" charset="0"/>
                <a:ea typeface="Times New Roman" panose="02020603050405020304" pitchFamily="18" charset="0"/>
              </a:rPr>
              <a:t>   else if (marks &gt;= 50)</a:t>
            </a:r>
          </a:p>
          <a:p>
            <a:pPr marL="0" indent="0">
              <a:buNone/>
            </a:pPr>
            <a:r>
              <a:rPr lang="en-US" sz="3200" dirty="0">
                <a:latin typeface="Montserrat" panose="020B0604020202020204" charset="0"/>
                <a:ea typeface="Times New Roman" panose="02020603050405020304" pitchFamily="18" charset="0"/>
              </a:rPr>
              <a:t>         </a:t>
            </a:r>
            <a:r>
              <a:rPr lang="en-US" sz="3200" dirty="0" err="1">
                <a:latin typeface="Montserrat" panose="020B0604020202020204" charset="0"/>
                <a:ea typeface="Times New Roman" panose="02020603050405020304" pitchFamily="18" charset="0"/>
              </a:rPr>
              <a:t>printf</a:t>
            </a:r>
            <a:r>
              <a:rPr lang="en-US" sz="3200" dirty="0">
                <a:latin typeface="Montserrat" panose="020B0604020202020204" charset="0"/>
                <a:ea typeface="Times New Roman" panose="02020603050405020304" pitchFamily="18" charset="0"/>
              </a:rPr>
              <a:t> ("\</a:t>
            </a:r>
            <a:r>
              <a:rPr lang="en-US" sz="3200" dirty="0" err="1">
                <a:latin typeface="Montserrat" panose="020B0604020202020204" charset="0"/>
                <a:ea typeface="Times New Roman" panose="02020603050405020304" pitchFamily="18" charset="0"/>
              </a:rPr>
              <a:t>nSecond</a:t>
            </a:r>
            <a:r>
              <a:rPr lang="en-US" sz="3200" dirty="0">
                <a:latin typeface="Montserrat" panose="020B0604020202020204" charset="0"/>
                <a:ea typeface="Times New Roman" panose="02020603050405020304" pitchFamily="18" charset="0"/>
              </a:rPr>
              <a:t> class");</a:t>
            </a:r>
          </a:p>
          <a:p>
            <a:pPr marL="0" indent="0">
              <a:buNone/>
            </a:pPr>
            <a:r>
              <a:rPr lang="en-US" sz="3200" dirty="0">
                <a:latin typeface="Montserrat" panose="020B0604020202020204" charset="0"/>
                <a:ea typeface="Times New Roman" panose="02020603050405020304" pitchFamily="18" charset="0"/>
              </a:rPr>
              <a:t>   else if (marks &gt;= 35)</a:t>
            </a:r>
          </a:p>
          <a:p>
            <a:pPr marL="0" indent="0">
              <a:buNone/>
            </a:pPr>
            <a:r>
              <a:rPr lang="en-US" sz="3200" dirty="0">
                <a:latin typeface="Montserrat" panose="020B0604020202020204" charset="0"/>
                <a:ea typeface="Times New Roman" panose="02020603050405020304" pitchFamily="18" charset="0"/>
              </a:rPr>
              <a:t>         </a:t>
            </a:r>
            <a:r>
              <a:rPr lang="en-US" sz="3200" dirty="0" err="1">
                <a:latin typeface="Montserrat" panose="020B0604020202020204" charset="0"/>
                <a:ea typeface="Times New Roman" panose="02020603050405020304" pitchFamily="18" charset="0"/>
              </a:rPr>
              <a:t>printf</a:t>
            </a:r>
            <a:r>
              <a:rPr lang="en-US" sz="3200" dirty="0">
                <a:latin typeface="Montserrat" panose="020B0604020202020204" charset="0"/>
                <a:ea typeface="Times New Roman" panose="02020603050405020304" pitchFamily="18" charset="0"/>
              </a:rPr>
              <a:t> ("\</a:t>
            </a:r>
            <a:r>
              <a:rPr lang="en-US" sz="3200" dirty="0" err="1">
                <a:latin typeface="Montserrat" panose="020B0604020202020204" charset="0"/>
                <a:ea typeface="Times New Roman" panose="02020603050405020304" pitchFamily="18" charset="0"/>
              </a:rPr>
              <a:t>nPass</a:t>
            </a:r>
            <a:r>
              <a:rPr lang="en-US" sz="3200" dirty="0">
                <a:latin typeface="Montserrat" panose="020B0604020202020204" charset="0"/>
                <a:ea typeface="Times New Roman" panose="02020603050405020304" pitchFamily="18" charset="0"/>
              </a:rPr>
              <a:t> class");</a:t>
            </a:r>
          </a:p>
          <a:p>
            <a:pPr marL="0" indent="0">
              <a:buNone/>
            </a:pPr>
            <a:r>
              <a:rPr lang="en-US" sz="3200" dirty="0">
                <a:latin typeface="Montserrat" panose="020B0604020202020204" charset="0"/>
                <a:ea typeface="Times New Roman" panose="02020603050405020304" pitchFamily="18" charset="0"/>
              </a:rPr>
              <a:t>   else</a:t>
            </a:r>
          </a:p>
          <a:p>
            <a:pPr marL="0" indent="0">
              <a:buNone/>
            </a:pPr>
            <a:r>
              <a:rPr lang="en-US" sz="3200" dirty="0">
                <a:latin typeface="Montserrat" panose="020B0604020202020204" charset="0"/>
                <a:ea typeface="Times New Roman" panose="02020603050405020304" pitchFamily="18" charset="0"/>
              </a:rPr>
              <a:t>         </a:t>
            </a:r>
            <a:r>
              <a:rPr lang="en-US" sz="3200" dirty="0" err="1">
                <a:latin typeface="Montserrat" panose="020B0604020202020204" charset="0"/>
                <a:ea typeface="Times New Roman" panose="02020603050405020304" pitchFamily="18" charset="0"/>
              </a:rPr>
              <a:t>printf</a:t>
            </a:r>
            <a:r>
              <a:rPr lang="en-US" sz="3200" dirty="0">
                <a:latin typeface="Montserrat" panose="020B0604020202020204" charset="0"/>
                <a:ea typeface="Times New Roman" panose="02020603050405020304" pitchFamily="18" charset="0"/>
              </a:rPr>
              <a:t> ("Fail");</a:t>
            </a:r>
          </a:p>
          <a:p>
            <a:pPr marL="0" indent="0">
              <a:buNone/>
            </a:pPr>
            <a:r>
              <a:rPr lang="en-US" sz="3200" dirty="0">
                <a:latin typeface="Montserrat" panose="020B0604020202020204" charset="0"/>
                <a:ea typeface="Times New Roman" panose="02020603050405020304" pitchFamily="18" charset="0"/>
              </a:rPr>
              <a:t>}</a:t>
            </a:r>
          </a:p>
        </p:txBody>
      </p:sp>
      <p:sp>
        <p:nvSpPr>
          <p:cNvPr id="4" name="Content Placeholder 3">
            <a:extLst>
              <a:ext uri="{FF2B5EF4-FFF2-40B4-BE49-F238E27FC236}">
                <a16:creationId xmlns:a16="http://schemas.microsoft.com/office/drawing/2014/main" xmlns="" id="{0A5048BC-0FF8-47BD-91E1-3723C2891078}"/>
              </a:ext>
            </a:extLst>
          </p:cNvPr>
          <p:cNvSpPr>
            <a:spLocks noGrp="1"/>
          </p:cNvSpPr>
          <p:nvPr>
            <p:ph sz="half" idx="2"/>
          </p:nvPr>
        </p:nvSpPr>
        <p:spPr/>
        <p:txBody>
          <a:bodyPr>
            <a:normAutofit fontScale="47500" lnSpcReduction="20000"/>
          </a:bodyPr>
          <a:lstStyle/>
          <a:p>
            <a:pPr marL="0" indent="0">
              <a:buNone/>
            </a:pPr>
            <a:r>
              <a:rPr lang="en-IN" dirty="0"/>
              <a:t>Output</a:t>
            </a:r>
          </a:p>
          <a:p>
            <a:pPr marL="0" indent="0">
              <a:buNone/>
            </a:pPr>
            <a:r>
              <a:rPr lang="en-IN" dirty="0"/>
              <a:t>Case 1:</a:t>
            </a:r>
          </a:p>
          <a:p>
            <a:pPr marL="0" indent="0">
              <a:buNone/>
            </a:pPr>
            <a:r>
              <a:rPr lang="en-IN" dirty="0"/>
              <a:t>Enter marks: 85</a:t>
            </a:r>
          </a:p>
          <a:p>
            <a:pPr marL="0" indent="0">
              <a:buNone/>
            </a:pPr>
            <a:r>
              <a:rPr lang="en-IN" dirty="0"/>
              <a:t>Distinction</a:t>
            </a:r>
          </a:p>
          <a:p>
            <a:pPr marL="0" indent="0">
              <a:buNone/>
            </a:pPr>
            <a:endParaRPr lang="en-IN" dirty="0"/>
          </a:p>
          <a:p>
            <a:pPr marL="0" indent="0">
              <a:buNone/>
            </a:pPr>
            <a:r>
              <a:rPr lang="en-IN" dirty="0"/>
              <a:t>Case 2:</a:t>
            </a:r>
          </a:p>
          <a:p>
            <a:pPr marL="0" indent="0">
              <a:buNone/>
            </a:pPr>
            <a:r>
              <a:rPr lang="en-IN" dirty="0"/>
              <a:t>Enter marks: 55</a:t>
            </a:r>
          </a:p>
          <a:p>
            <a:pPr marL="0" indent="0">
              <a:buNone/>
            </a:pPr>
            <a:r>
              <a:rPr lang="en-IN" dirty="0"/>
              <a:t>Second class</a:t>
            </a:r>
          </a:p>
          <a:p>
            <a:pPr marL="0" indent="0">
              <a:buNone/>
            </a:pPr>
            <a:endParaRPr lang="en-IN" dirty="0"/>
          </a:p>
          <a:p>
            <a:pPr marL="0" indent="0">
              <a:buNone/>
            </a:pPr>
            <a:r>
              <a:rPr lang="en-IN" dirty="0"/>
              <a:t>Case 3:</a:t>
            </a:r>
          </a:p>
          <a:p>
            <a:pPr marL="0" indent="0">
              <a:buNone/>
            </a:pPr>
            <a:r>
              <a:rPr lang="en-IN" dirty="0"/>
              <a:t>Enter marks: 20</a:t>
            </a:r>
          </a:p>
          <a:p>
            <a:pPr marL="0" indent="0">
              <a:buNone/>
            </a:pPr>
            <a:r>
              <a:rPr lang="en-IN" dirty="0"/>
              <a:t>Fail</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184557940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03EC29-A685-4F3A-8F7B-8FD0C0E276F3}"/>
              </a:ext>
            </a:extLst>
          </p:cNvPr>
          <p:cNvSpPr>
            <a:spLocks noGrp="1"/>
          </p:cNvSpPr>
          <p:nvPr>
            <p:ph type="title"/>
          </p:nvPr>
        </p:nvSpPr>
        <p:spPr>
          <a:xfrm>
            <a:off x="1551432" y="365126"/>
            <a:ext cx="8753856" cy="1045986"/>
          </a:xfrm>
        </p:spPr>
        <p:txBody>
          <a:bodyPr/>
          <a:lstStyle/>
          <a:p>
            <a:r>
              <a:rPr lang="en-US" sz="4000" dirty="0">
                <a:effectLst/>
                <a:latin typeface="Montserrat" panose="020B0604020202020204" charset="0"/>
                <a:ea typeface="Times New Roman" panose="02020603050405020304" pitchFamily="18" charset="0"/>
              </a:rPr>
              <a:t>Switch Statement</a:t>
            </a:r>
            <a:endParaRPr lang="en-IN" sz="4000" dirty="0">
              <a:latin typeface="Montserrat" panose="020B0604020202020204" charset="0"/>
            </a:endParaRPr>
          </a:p>
        </p:txBody>
      </p:sp>
      <p:sp>
        <p:nvSpPr>
          <p:cNvPr id="3" name="Content Placeholder 2">
            <a:extLst>
              <a:ext uri="{FF2B5EF4-FFF2-40B4-BE49-F238E27FC236}">
                <a16:creationId xmlns:a16="http://schemas.microsoft.com/office/drawing/2014/main" xmlns="" id="{64E0631C-3CBF-430C-BE7A-0EC8AF6D7E65}"/>
              </a:ext>
            </a:extLst>
          </p:cNvPr>
          <p:cNvSpPr>
            <a:spLocks noGrp="1"/>
          </p:cNvSpPr>
          <p:nvPr>
            <p:ph idx="1"/>
          </p:nvPr>
        </p:nvSpPr>
        <p:spPr>
          <a:xfrm>
            <a:off x="1551432" y="1411112"/>
            <a:ext cx="9823704" cy="4888088"/>
          </a:xfrm>
        </p:spPr>
        <p:txBody>
          <a:bodyPr>
            <a:noAutofit/>
          </a:bodyPr>
          <a:lstStyle/>
          <a:p>
            <a:r>
              <a:rPr lang="en-IN" sz="2000" dirty="0"/>
              <a:t>Multiway decision or branching statement</a:t>
            </a:r>
          </a:p>
        </p:txBody>
      </p:sp>
      <p:pic>
        <p:nvPicPr>
          <p:cNvPr id="4" name="Picture 2" descr="switch...case in C Programming">
            <a:extLst>
              <a:ext uri="{FF2B5EF4-FFF2-40B4-BE49-F238E27FC236}">
                <a16:creationId xmlns:a16="http://schemas.microsoft.com/office/drawing/2014/main" xmlns="" id="{FC0B22AC-A5B3-45F2-BB3A-B443E66C1A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4012" y="984956"/>
            <a:ext cx="3396556" cy="488808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xmlns="" id="{9FA5BF23-0E0E-4B9C-9FED-4AA1F65FBABE}"/>
              </a:ext>
            </a:extLst>
          </p:cNvPr>
          <p:cNvSpPr/>
          <p:nvPr/>
        </p:nvSpPr>
        <p:spPr>
          <a:xfrm>
            <a:off x="1311966" y="2068275"/>
            <a:ext cx="4038437" cy="40144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latin typeface="Montserrat" panose="020B0604020202020204" charset="0"/>
                <a:ea typeface="Times New Roman" panose="02020603050405020304" pitchFamily="18" charset="0"/>
              </a:rPr>
              <a:t>Syntax</a:t>
            </a:r>
          </a:p>
          <a:p>
            <a:pPr indent="0">
              <a:buNone/>
            </a:pPr>
            <a:r>
              <a:rPr lang="en-US" dirty="0">
                <a:latin typeface="Montserrat" panose="020B0604020202020204" charset="0"/>
                <a:ea typeface="Times New Roman" panose="02020603050405020304" pitchFamily="18" charset="0"/>
                <a:cs typeface="Times New Roman" panose="02020603050405020304" pitchFamily="18" charset="0"/>
              </a:rPr>
              <a:t>switch (expression)</a:t>
            </a:r>
            <a:br>
              <a:rPr lang="en-US" dirty="0">
                <a:latin typeface="Montserrat" panose="020B0604020202020204" charset="0"/>
                <a:ea typeface="Times New Roman" panose="02020603050405020304" pitchFamily="18" charset="0"/>
                <a:cs typeface="Times New Roman" panose="02020603050405020304" pitchFamily="18" charset="0"/>
              </a:rPr>
            </a:br>
            <a:r>
              <a:rPr lang="en-US" dirty="0">
                <a:latin typeface="Montserrat" panose="020B0604020202020204" charset="0"/>
                <a:ea typeface="Times New Roman" panose="02020603050405020304" pitchFamily="18" charset="0"/>
                <a:cs typeface="Times New Roman" panose="02020603050405020304" pitchFamily="18" charset="0"/>
              </a:rPr>
              <a:t>{</a:t>
            </a:r>
            <a:br>
              <a:rPr lang="en-US" dirty="0">
                <a:latin typeface="Montserrat" panose="020B0604020202020204" charset="0"/>
                <a:ea typeface="Times New Roman" panose="02020603050405020304" pitchFamily="18" charset="0"/>
                <a:cs typeface="Times New Roman" panose="02020603050405020304" pitchFamily="18" charset="0"/>
              </a:rPr>
            </a:br>
            <a:r>
              <a:rPr lang="en-US" dirty="0">
                <a:latin typeface="Montserrat" panose="020B0604020202020204" charset="0"/>
                <a:ea typeface="Times New Roman" panose="02020603050405020304" pitchFamily="18" charset="0"/>
                <a:cs typeface="Times New Roman" panose="02020603050405020304" pitchFamily="18" charset="0"/>
              </a:rPr>
              <a:t>case label-1: statement(s); break;</a:t>
            </a:r>
            <a:br>
              <a:rPr lang="en-US" dirty="0">
                <a:latin typeface="Montserrat" panose="020B0604020202020204" charset="0"/>
                <a:ea typeface="Times New Roman" panose="02020603050405020304" pitchFamily="18" charset="0"/>
                <a:cs typeface="Times New Roman" panose="02020603050405020304" pitchFamily="18" charset="0"/>
              </a:rPr>
            </a:br>
            <a:r>
              <a:rPr lang="en-US" dirty="0">
                <a:latin typeface="Montserrat" panose="020B0604020202020204" charset="0"/>
                <a:ea typeface="Times New Roman" panose="02020603050405020304" pitchFamily="18" charset="0"/>
                <a:cs typeface="Times New Roman" panose="02020603050405020304" pitchFamily="18" charset="0"/>
              </a:rPr>
              <a:t>case label-2: statement(s); break;</a:t>
            </a:r>
            <a:br>
              <a:rPr lang="en-US" dirty="0">
                <a:latin typeface="Montserrat" panose="020B0604020202020204" charset="0"/>
                <a:ea typeface="Times New Roman" panose="02020603050405020304" pitchFamily="18" charset="0"/>
                <a:cs typeface="Times New Roman" panose="02020603050405020304" pitchFamily="18" charset="0"/>
              </a:rPr>
            </a:br>
            <a:r>
              <a:rPr lang="en-US" dirty="0">
                <a:latin typeface="Montserrat" panose="020B0604020202020204" charset="0"/>
                <a:ea typeface="Times New Roman" panose="02020603050405020304" pitchFamily="18" charset="0"/>
                <a:cs typeface="Times New Roman" panose="02020603050405020304" pitchFamily="18" charset="0"/>
              </a:rPr>
              <a:t>case label-n: statement(s); break;</a:t>
            </a:r>
            <a:br>
              <a:rPr lang="en-US" dirty="0">
                <a:latin typeface="Montserrat" panose="020B0604020202020204" charset="0"/>
                <a:ea typeface="Times New Roman" panose="02020603050405020304" pitchFamily="18" charset="0"/>
                <a:cs typeface="Times New Roman" panose="02020603050405020304" pitchFamily="18" charset="0"/>
              </a:rPr>
            </a:br>
            <a:r>
              <a:rPr lang="en-US" dirty="0">
                <a:latin typeface="Montserrat" panose="020B0604020202020204" charset="0"/>
                <a:ea typeface="Times New Roman" panose="02020603050405020304" pitchFamily="18" charset="0"/>
                <a:cs typeface="Times New Roman" panose="02020603050405020304" pitchFamily="18" charset="0"/>
              </a:rPr>
              <a:t>………………</a:t>
            </a:r>
            <a:br>
              <a:rPr lang="en-US" dirty="0">
                <a:latin typeface="Montserrat" panose="020B0604020202020204" charset="0"/>
                <a:ea typeface="Times New Roman" panose="02020603050405020304" pitchFamily="18" charset="0"/>
                <a:cs typeface="Times New Roman" panose="02020603050405020304" pitchFamily="18" charset="0"/>
              </a:rPr>
            </a:br>
            <a:r>
              <a:rPr lang="en-US" dirty="0">
                <a:latin typeface="Montserrat" panose="020B0604020202020204" charset="0"/>
                <a:ea typeface="Times New Roman" panose="02020603050405020304" pitchFamily="18" charset="0"/>
                <a:cs typeface="Times New Roman" panose="02020603050405020304" pitchFamily="18" charset="0"/>
              </a:rPr>
              <a:t>default: statement(s);</a:t>
            </a:r>
            <a:br>
              <a:rPr lang="en-US" dirty="0">
                <a:latin typeface="Montserrat" panose="020B0604020202020204" charset="0"/>
                <a:ea typeface="Times New Roman" panose="02020603050405020304" pitchFamily="18" charset="0"/>
                <a:cs typeface="Times New Roman" panose="02020603050405020304" pitchFamily="18" charset="0"/>
              </a:rPr>
            </a:br>
            <a:r>
              <a:rPr lang="en-US" dirty="0">
                <a:latin typeface="Montserrat" panose="020B0604020202020204" charset="0"/>
                <a:ea typeface="Times New Roman" panose="02020603050405020304" pitchFamily="18" charset="0"/>
                <a:cs typeface="Times New Roman" panose="02020603050405020304" pitchFamily="18" charset="0"/>
              </a:rPr>
              <a:t>}</a:t>
            </a:r>
          </a:p>
          <a:p>
            <a:pPr algn="ctr"/>
            <a:endParaRPr lang="en-IN" dirty="0"/>
          </a:p>
        </p:txBody>
      </p:sp>
    </p:spTree>
    <p:extLst>
      <p:ext uri="{BB962C8B-B14F-4D97-AF65-F5344CB8AC3E}">
        <p14:creationId xmlns:p14="http://schemas.microsoft.com/office/powerpoint/2010/main" val="27944411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84E4BD-11CC-49B8-BF04-4D5DA35C4974}"/>
              </a:ext>
            </a:extLst>
          </p:cNvPr>
          <p:cNvSpPr>
            <a:spLocks noGrp="1"/>
          </p:cNvSpPr>
          <p:nvPr>
            <p:ph type="title"/>
          </p:nvPr>
        </p:nvSpPr>
        <p:spPr/>
        <p:txBody>
          <a:bodyPr/>
          <a:lstStyle/>
          <a:p>
            <a:r>
              <a:rPr lang="en-US" sz="2000" dirty="0">
                <a:latin typeface="Times New Roman" panose="02020603050405020304" pitchFamily="18" charset="0"/>
                <a:ea typeface="Times New Roman" panose="02020603050405020304" pitchFamily="18" charset="0"/>
              </a:rPr>
              <a:t> </a:t>
            </a:r>
            <a:r>
              <a:rPr lang="en-US" dirty="0">
                <a:latin typeface="Montserrat" panose="020B0604020202020204" charset="0"/>
                <a:ea typeface="Times New Roman" panose="02020603050405020304" pitchFamily="18" charset="0"/>
              </a:rPr>
              <a:t>Switch Statement </a:t>
            </a:r>
            <a:r>
              <a:rPr lang="en-US" dirty="0" err="1">
                <a:latin typeface="Montserrat" panose="020B0604020202020204" charset="0"/>
                <a:ea typeface="Times New Roman" panose="02020603050405020304" pitchFamily="18" charset="0"/>
              </a:rPr>
              <a:t>Contd</a:t>
            </a:r>
            <a:r>
              <a:rPr lang="en-US" dirty="0">
                <a:latin typeface="Montserrat" panose="020B0604020202020204" charset="0"/>
                <a:ea typeface="Times New Roman" panose="02020603050405020304" pitchFamily="18" charset="0"/>
              </a:rPr>
              <a:t>…</a:t>
            </a:r>
            <a:endParaRPr lang="en-IN" dirty="0"/>
          </a:p>
        </p:txBody>
      </p:sp>
      <p:sp>
        <p:nvSpPr>
          <p:cNvPr id="3" name="Content Placeholder 2">
            <a:extLst>
              <a:ext uri="{FF2B5EF4-FFF2-40B4-BE49-F238E27FC236}">
                <a16:creationId xmlns:a16="http://schemas.microsoft.com/office/drawing/2014/main" xmlns="" id="{BC1F4F73-B3F2-4561-9B76-68298D595829}"/>
              </a:ext>
            </a:extLst>
          </p:cNvPr>
          <p:cNvSpPr>
            <a:spLocks noGrp="1"/>
          </p:cNvSpPr>
          <p:nvPr>
            <p:ph idx="1"/>
          </p:nvPr>
        </p:nvSpPr>
        <p:spPr/>
        <p:txBody>
          <a:bodyPr>
            <a:normAutofit/>
          </a:bodyPr>
          <a:lstStyle/>
          <a:p>
            <a:r>
              <a:rPr lang="en-US" sz="2500" dirty="0">
                <a:latin typeface="Montserrat" panose="020B0604020202020204" charset="0"/>
                <a:ea typeface="Times New Roman" panose="02020603050405020304" pitchFamily="18" charset="0"/>
              </a:rPr>
              <a:t>Allows a program to select one statement block for execution, out of a set of alternatives.</a:t>
            </a:r>
          </a:p>
          <a:p>
            <a:r>
              <a:rPr lang="en-US" sz="2500" dirty="0">
                <a:latin typeface="Montserrat" panose="020B0604020202020204" charset="0"/>
              </a:rPr>
              <a:t>It checks for equality among the expression and the case value.</a:t>
            </a:r>
          </a:p>
          <a:p>
            <a:pPr algn="just">
              <a:buClr>
                <a:schemeClr val="tx1"/>
              </a:buClr>
            </a:pPr>
            <a:r>
              <a:rPr lang="en-US" altLang="en-US" sz="2500" dirty="0">
                <a:latin typeface="Montserrat" panose="020B0604020202020204" charset="0"/>
              </a:rPr>
              <a:t>A switch may occur within another switch, but it is rarely done. Such statements are called as nested switch statements.</a:t>
            </a:r>
          </a:p>
          <a:p>
            <a:pPr algn="just">
              <a:buClr>
                <a:schemeClr val="tx1"/>
              </a:buClr>
            </a:pPr>
            <a:r>
              <a:rPr lang="en-US" altLang="en-US" sz="2500" dirty="0">
                <a:latin typeface="Montserrat" panose="020B0604020202020204" charset="0"/>
              </a:rPr>
              <a:t>The switch statement is very useful while writing menu driven programs.</a:t>
            </a:r>
          </a:p>
          <a:p>
            <a:endParaRPr lang="en-US" sz="2600" dirty="0">
              <a:latin typeface="Montserrat" panose="020B0604020202020204" charset="0"/>
            </a:endParaRPr>
          </a:p>
          <a:p>
            <a:endParaRPr lang="en-IN" dirty="0"/>
          </a:p>
        </p:txBody>
      </p:sp>
    </p:spTree>
    <p:extLst>
      <p:ext uri="{BB962C8B-B14F-4D97-AF65-F5344CB8AC3E}">
        <p14:creationId xmlns:p14="http://schemas.microsoft.com/office/powerpoint/2010/main" val="113284169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1886D6-2E8D-432F-92D6-DB0229C7BE1A}"/>
              </a:ext>
            </a:extLst>
          </p:cNvPr>
          <p:cNvSpPr>
            <a:spLocks noGrp="1"/>
          </p:cNvSpPr>
          <p:nvPr>
            <p:ph type="title"/>
          </p:nvPr>
        </p:nvSpPr>
        <p:spPr/>
        <p:txBody>
          <a:bodyPr/>
          <a:lstStyle/>
          <a:p>
            <a:r>
              <a:rPr lang="en-IN" dirty="0"/>
              <a:t>switch statement - Rules</a:t>
            </a:r>
          </a:p>
        </p:txBody>
      </p:sp>
      <p:sp>
        <p:nvSpPr>
          <p:cNvPr id="3" name="Content Placeholder 2">
            <a:extLst>
              <a:ext uri="{FF2B5EF4-FFF2-40B4-BE49-F238E27FC236}">
                <a16:creationId xmlns:a16="http://schemas.microsoft.com/office/drawing/2014/main" xmlns="" id="{E6A73A50-7EA8-4DA5-AC51-B4D2E8B765DD}"/>
              </a:ext>
            </a:extLst>
          </p:cNvPr>
          <p:cNvSpPr>
            <a:spLocks noGrp="1"/>
          </p:cNvSpPr>
          <p:nvPr>
            <p:ph idx="1"/>
          </p:nvPr>
        </p:nvSpPr>
        <p:spPr/>
        <p:txBody>
          <a:bodyPr>
            <a:noAutofit/>
          </a:bodyPr>
          <a:lstStyle/>
          <a:p>
            <a:pPr algn="just">
              <a:buClr>
                <a:schemeClr val="tx1"/>
              </a:buClr>
            </a:pPr>
            <a:r>
              <a:rPr lang="en-US" altLang="en-US" sz="1800" dirty="0">
                <a:latin typeface="Montserrat" panose="020B0604020202020204" charset="0"/>
              </a:rPr>
              <a:t>The result of the expression in the switch statement must be an integer or character constant.</a:t>
            </a:r>
          </a:p>
          <a:p>
            <a:pPr algn="just">
              <a:buClr>
                <a:schemeClr val="tx1"/>
              </a:buClr>
            </a:pPr>
            <a:r>
              <a:rPr lang="en-US" altLang="en-US" sz="1800" dirty="0">
                <a:latin typeface="Montserrat" panose="020B0604020202020204" charset="0"/>
              </a:rPr>
              <a:t>No real numbers are used in an expression.</a:t>
            </a:r>
          </a:p>
          <a:p>
            <a:pPr algn="just">
              <a:buClr>
                <a:schemeClr val="tx1"/>
              </a:buClr>
            </a:pPr>
            <a:r>
              <a:rPr lang="en-US" altLang="en-US" sz="1800" dirty="0">
                <a:latin typeface="Montserrat" panose="020B0604020202020204" charset="0"/>
              </a:rPr>
              <a:t>The default is optional and can be placed anywhere, but usually placed at end.</a:t>
            </a:r>
          </a:p>
          <a:p>
            <a:pPr algn="just">
              <a:buClr>
                <a:schemeClr val="tx1"/>
              </a:buClr>
            </a:pPr>
            <a:r>
              <a:rPr lang="en-US" altLang="en-US" sz="1800" dirty="0">
                <a:latin typeface="Montserrat" panose="020B0604020202020204" charset="0"/>
              </a:rPr>
              <a:t>The case keyword must be terminated with colon (:);</a:t>
            </a:r>
          </a:p>
          <a:p>
            <a:pPr algn="just">
              <a:buClr>
                <a:schemeClr val="tx1"/>
              </a:buClr>
            </a:pPr>
            <a:r>
              <a:rPr lang="en-IN" sz="1800" dirty="0">
                <a:latin typeface="Montserrat" panose="020B0604020202020204" charset="0"/>
              </a:rPr>
              <a:t>Case value specified in switch must be unique. i.e., </a:t>
            </a:r>
            <a:r>
              <a:rPr lang="en-US" altLang="en-US" sz="1800" dirty="0">
                <a:latin typeface="Montserrat" panose="020B0604020202020204" charset="0"/>
              </a:rPr>
              <a:t>No two case constant can be identical.</a:t>
            </a:r>
          </a:p>
          <a:p>
            <a:r>
              <a:rPr lang="en-US" altLang="en-US" sz="1800" dirty="0">
                <a:latin typeface="Montserrat" panose="020B0604020202020204" charset="0"/>
              </a:rPr>
              <a:t>The values of switch expression is compared with case constant in the order specified </a:t>
            </a:r>
            <a:r>
              <a:rPr lang="en-US" altLang="en-US" sz="1800" dirty="0" err="1">
                <a:latin typeface="Montserrat" panose="020B0604020202020204" charset="0"/>
              </a:rPr>
              <a:t>i.e</a:t>
            </a:r>
            <a:r>
              <a:rPr lang="en-US" altLang="en-US" sz="1800" dirty="0">
                <a:latin typeface="Montserrat" panose="020B0604020202020204" charset="0"/>
              </a:rPr>
              <a:t> from top to bottom.</a:t>
            </a:r>
            <a:r>
              <a:rPr lang="en-IN" sz="1800" dirty="0">
                <a:latin typeface="Montserrat" panose="020B0604020202020204" charset="0"/>
              </a:rPr>
              <a:t> </a:t>
            </a:r>
          </a:p>
          <a:p>
            <a:r>
              <a:rPr lang="en-IN" sz="1800" dirty="0">
                <a:latin typeface="Montserrat" panose="020B0604020202020204" charset="0"/>
              </a:rPr>
              <a:t>To denote the end of a particular case statement, break statement must be used.</a:t>
            </a:r>
          </a:p>
          <a:p>
            <a:pPr lvl="1"/>
            <a:r>
              <a:rPr lang="en-US" sz="1400" dirty="0">
                <a:latin typeface="Montserrat" panose="020B0604020202020204" charset="0"/>
              </a:rPr>
              <a:t>Without break statement, the control flows from one case to the consecutive case</a:t>
            </a:r>
          </a:p>
          <a:p>
            <a:pPr lvl="1"/>
            <a:r>
              <a:rPr lang="en-US" sz="1400" dirty="0">
                <a:latin typeface="Montserrat" panose="020B0604020202020204" charset="0"/>
              </a:rPr>
              <a:t>With break the control will go to the next statement after current switch block</a:t>
            </a:r>
            <a:endParaRPr lang="en-US" altLang="en-US" sz="1400" dirty="0">
              <a:latin typeface="Montserrat" panose="020B0604020202020204" charset="0"/>
            </a:endParaRPr>
          </a:p>
          <a:p>
            <a:pPr algn="just">
              <a:buClr>
                <a:schemeClr val="tx1"/>
              </a:buClr>
            </a:pPr>
            <a:r>
              <a:rPr lang="en-US" altLang="en-US" sz="1800" dirty="0">
                <a:latin typeface="Montserrat" panose="020B0604020202020204" charset="0"/>
              </a:rPr>
              <a:t>For compound statements there is no need to enclose within pair of braces.</a:t>
            </a:r>
          </a:p>
        </p:txBody>
      </p:sp>
    </p:spTree>
    <p:extLst>
      <p:ext uri="{BB962C8B-B14F-4D97-AF65-F5344CB8AC3E}">
        <p14:creationId xmlns:p14="http://schemas.microsoft.com/office/powerpoint/2010/main" val="75877781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674681-5DBB-498C-811D-E036AFC1B183}"/>
              </a:ext>
            </a:extLst>
          </p:cNvPr>
          <p:cNvSpPr>
            <a:spLocks noGrp="1"/>
          </p:cNvSpPr>
          <p:nvPr>
            <p:ph type="title"/>
          </p:nvPr>
        </p:nvSpPr>
        <p:spPr/>
        <p:txBody>
          <a:bodyPr>
            <a:normAutofit/>
          </a:bodyPr>
          <a:lstStyle/>
          <a:p>
            <a:pPr algn="ctr"/>
            <a:r>
              <a:rPr lang="en-US" sz="4000" dirty="0">
                <a:effectLst/>
                <a:latin typeface="Montserrat" panose="020B0604020202020204" charset="0"/>
                <a:ea typeface="Times New Roman" panose="02020603050405020304" pitchFamily="18" charset="0"/>
              </a:rPr>
              <a:t>Switch Statement- Example</a:t>
            </a:r>
            <a:endParaRPr lang="en-IN" sz="4000" dirty="0"/>
          </a:p>
        </p:txBody>
      </p:sp>
      <p:sp>
        <p:nvSpPr>
          <p:cNvPr id="3" name="Content Placeholder 2">
            <a:extLst>
              <a:ext uri="{FF2B5EF4-FFF2-40B4-BE49-F238E27FC236}">
                <a16:creationId xmlns:a16="http://schemas.microsoft.com/office/drawing/2014/main" xmlns="" id="{E16D7C25-11F8-4EBB-828F-BADB8E3859A8}"/>
              </a:ext>
            </a:extLst>
          </p:cNvPr>
          <p:cNvSpPr>
            <a:spLocks noGrp="1"/>
          </p:cNvSpPr>
          <p:nvPr>
            <p:ph sz="half" idx="1"/>
          </p:nvPr>
        </p:nvSpPr>
        <p:spPr>
          <a:xfrm>
            <a:off x="1738490" y="1427867"/>
            <a:ext cx="3657148" cy="4532665"/>
          </a:xfrm>
        </p:spPr>
        <p:txBody>
          <a:bodyPr>
            <a:noAutofit/>
          </a:bodyPr>
          <a:lstStyle/>
          <a:p>
            <a:pPr marL="0" indent="0">
              <a:buNone/>
            </a:pPr>
            <a:r>
              <a:rPr lang="en-US" sz="1600" dirty="0">
                <a:effectLst/>
                <a:latin typeface="Montserrat" panose="020B0604020202020204" charset="0"/>
                <a:ea typeface="Times New Roman" panose="02020603050405020304" pitchFamily="18" charset="0"/>
                <a:cs typeface="Times New Roman" panose="02020603050405020304" pitchFamily="18" charset="0"/>
              </a:rPr>
              <a:t>#include &lt;</a:t>
            </a:r>
            <a:r>
              <a:rPr lang="en-US" sz="1600" dirty="0" err="1">
                <a:effectLst/>
                <a:latin typeface="Montserrat" panose="020B0604020202020204" charset="0"/>
                <a:ea typeface="Times New Roman" panose="02020603050405020304" pitchFamily="18" charset="0"/>
                <a:cs typeface="Times New Roman" panose="02020603050405020304" pitchFamily="18" charset="0"/>
              </a:rPr>
              <a:t>stdio.h</a:t>
            </a:r>
            <a:r>
              <a:rPr lang="en-US" sz="1600" dirty="0">
                <a:effectLst/>
                <a:latin typeface="Montserrat" panose="020B0604020202020204" charset="0"/>
                <a:ea typeface="Times New Roman" panose="02020603050405020304" pitchFamily="18" charset="0"/>
                <a:cs typeface="Times New Roman" panose="02020603050405020304" pitchFamily="18" charset="0"/>
              </a:rPr>
              <a:t>&gt; </a:t>
            </a:r>
            <a:endParaRPr lang="en-IN" sz="16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600" dirty="0">
                <a:effectLst/>
                <a:latin typeface="Montserrat" panose="020B0604020202020204" charset="0"/>
                <a:ea typeface="Times New Roman" panose="02020603050405020304" pitchFamily="18" charset="0"/>
                <a:cs typeface="Times New Roman" panose="02020603050405020304" pitchFamily="18" charset="0"/>
              </a:rPr>
              <a:t>void main () </a:t>
            </a:r>
            <a:endParaRPr lang="en-IN" sz="16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600" dirty="0">
                <a:effectLst/>
                <a:latin typeface="Montserrat" panose="020B0604020202020204" charset="0"/>
                <a:ea typeface="Times New Roman" panose="02020603050405020304" pitchFamily="18" charset="0"/>
                <a:cs typeface="Times New Roman" panose="02020603050405020304" pitchFamily="18" charset="0"/>
              </a:rPr>
              <a:t>{   </a:t>
            </a:r>
            <a:endParaRPr lang="en-IN" sz="16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600" dirty="0">
                <a:effectLst/>
                <a:latin typeface="Montserrat" panose="020B0604020202020204" charset="0"/>
                <a:ea typeface="Times New Roman" panose="02020603050405020304" pitchFamily="18" charset="0"/>
                <a:cs typeface="Times New Roman" panose="02020603050405020304" pitchFamily="18" charset="0"/>
              </a:rPr>
              <a:t>   int num1, num2, result;                                                                             </a:t>
            </a:r>
            <a:endParaRPr lang="en-IN" sz="16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600" dirty="0">
                <a:effectLst/>
                <a:latin typeface="Montserrat" panose="020B0604020202020204" charset="0"/>
                <a:ea typeface="Times New Roman" panose="02020603050405020304" pitchFamily="18" charset="0"/>
                <a:cs typeface="Times New Roman" panose="02020603050405020304" pitchFamily="18" charset="0"/>
              </a:rPr>
              <a:t>   char operator;</a:t>
            </a:r>
            <a:endParaRPr lang="en-IN" sz="16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600" dirty="0">
                <a:effectLst/>
                <a:latin typeface="Montserrat" panose="020B0604020202020204" charset="0"/>
                <a:ea typeface="Times New Roman" panose="02020603050405020304" pitchFamily="18" charset="0"/>
                <a:cs typeface="Times New Roman" panose="02020603050405020304" pitchFamily="18" charset="0"/>
              </a:rPr>
              <a:t>   </a:t>
            </a:r>
            <a:r>
              <a:rPr lang="en-US" sz="1600" dirty="0" err="1">
                <a:effectLst/>
                <a:latin typeface="Montserrat" panose="020B0604020202020204" charset="0"/>
                <a:ea typeface="Times New Roman" panose="02020603050405020304" pitchFamily="18" charset="0"/>
                <a:cs typeface="Times New Roman" panose="02020603050405020304" pitchFamily="18" charset="0"/>
              </a:rPr>
              <a:t>printf</a:t>
            </a:r>
            <a:r>
              <a:rPr lang="en-US" sz="1600" dirty="0">
                <a:effectLst/>
                <a:latin typeface="Montserrat" panose="020B0604020202020204" charset="0"/>
                <a:ea typeface="Times New Roman" panose="02020603050405020304" pitchFamily="18" charset="0"/>
                <a:cs typeface="Times New Roman" panose="02020603050405020304" pitchFamily="18" charset="0"/>
              </a:rPr>
              <a:t> ("Enter two numbers"); </a:t>
            </a:r>
            <a:endParaRPr lang="en-IN" sz="16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600" dirty="0">
                <a:effectLst/>
                <a:latin typeface="Montserrat" panose="020B0604020202020204" charset="0"/>
                <a:ea typeface="Times New Roman" panose="02020603050405020304" pitchFamily="18" charset="0"/>
                <a:cs typeface="Times New Roman" panose="02020603050405020304" pitchFamily="18" charset="0"/>
              </a:rPr>
              <a:t>   </a:t>
            </a:r>
            <a:r>
              <a:rPr lang="de-DE" sz="1600" dirty="0">
                <a:effectLst/>
                <a:latin typeface="Montserrat" panose="020B0604020202020204" charset="0"/>
                <a:ea typeface="Times New Roman" panose="02020603050405020304" pitchFamily="18" charset="0"/>
                <a:cs typeface="Times New Roman" panose="02020603050405020304" pitchFamily="18" charset="0"/>
              </a:rPr>
              <a:t>scanf ("%d %d", &amp;num1, &amp;num2); </a:t>
            </a:r>
            <a:endParaRPr lang="en-IN" sz="16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de-DE" sz="1600" dirty="0">
                <a:effectLst/>
                <a:latin typeface="Montserrat" panose="020B0604020202020204" charset="0"/>
                <a:ea typeface="Times New Roman" panose="02020603050405020304" pitchFamily="18" charset="0"/>
                <a:cs typeface="Times New Roman" panose="02020603050405020304" pitchFamily="18" charset="0"/>
              </a:rPr>
              <a:t>   </a:t>
            </a:r>
            <a:r>
              <a:rPr lang="en-US" sz="1600" dirty="0" err="1">
                <a:effectLst/>
                <a:latin typeface="Montserrat" panose="020B0604020202020204" charset="0"/>
                <a:ea typeface="Times New Roman" panose="02020603050405020304" pitchFamily="18" charset="0"/>
                <a:cs typeface="Times New Roman" panose="02020603050405020304" pitchFamily="18" charset="0"/>
              </a:rPr>
              <a:t>printf</a:t>
            </a:r>
            <a:r>
              <a:rPr lang="en-US" sz="1600" dirty="0">
                <a:effectLst/>
                <a:latin typeface="Montserrat" panose="020B0604020202020204" charset="0"/>
                <a:ea typeface="Times New Roman" panose="02020603050405020304" pitchFamily="18" charset="0"/>
                <a:cs typeface="Times New Roman" panose="02020603050405020304" pitchFamily="18" charset="0"/>
              </a:rPr>
              <a:t> ("Enter an operator") ;</a:t>
            </a:r>
            <a:endParaRPr lang="en-IN" sz="16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600" dirty="0">
                <a:effectLst/>
                <a:latin typeface="Montserrat" panose="020B0604020202020204" charset="0"/>
                <a:ea typeface="Times New Roman" panose="02020603050405020304" pitchFamily="18" charset="0"/>
                <a:cs typeface="Times New Roman" panose="02020603050405020304" pitchFamily="18" charset="0"/>
              </a:rPr>
              <a:t>   </a:t>
            </a:r>
            <a:r>
              <a:rPr lang="en-US" sz="1600" dirty="0" err="1">
                <a:effectLst/>
                <a:latin typeface="Montserrat" panose="020B0604020202020204" charset="0"/>
                <a:ea typeface="Times New Roman" panose="02020603050405020304" pitchFamily="18" charset="0"/>
                <a:cs typeface="Times New Roman" panose="02020603050405020304" pitchFamily="18" charset="0"/>
              </a:rPr>
              <a:t>scanf</a:t>
            </a:r>
            <a:r>
              <a:rPr lang="en-US" sz="1600" dirty="0">
                <a:effectLst/>
                <a:latin typeface="Montserrat" panose="020B0604020202020204" charset="0"/>
                <a:ea typeface="Times New Roman" panose="02020603050405020304" pitchFamily="18" charset="0"/>
                <a:cs typeface="Times New Roman" panose="02020603050405020304" pitchFamily="18" charset="0"/>
              </a:rPr>
              <a:t> ("%c", &amp;operator) </a:t>
            </a:r>
            <a:endParaRPr lang="en-IN" sz="16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600" dirty="0">
                <a:effectLst/>
                <a:latin typeface="Montserrat" panose="020B0604020202020204" charset="0"/>
                <a:ea typeface="Times New Roman" panose="02020603050405020304" pitchFamily="18" charset="0"/>
                <a:cs typeface="Times New Roman" panose="02020603050405020304" pitchFamily="18" charset="0"/>
              </a:rPr>
              <a:t>   switch (operator) </a:t>
            </a:r>
            <a:endParaRPr lang="en-IN" sz="16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600" dirty="0">
                <a:effectLst/>
                <a:latin typeface="Montserrat" panose="020B0604020202020204" charset="0"/>
                <a:ea typeface="Times New Roman" panose="02020603050405020304" pitchFamily="18" charset="0"/>
                <a:cs typeface="Times New Roman" panose="02020603050405020304" pitchFamily="18" charset="0"/>
              </a:rPr>
              <a:t>   { </a:t>
            </a:r>
            <a:endParaRPr lang="en-IN" sz="16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600" dirty="0">
                <a:effectLst/>
                <a:latin typeface="Montserrat" panose="020B0604020202020204" charset="0"/>
                <a:ea typeface="Times New Roman" panose="02020603050405020304" pitchFamily="18" charset="0"/>
                <a:cs typeface="Times New Roman" panose="02020603050405020304" pitchFamily="18" charset="0"/>
              </a:rPr>
              <a:t>       case '+': </a:t>
            </a:r>
            <a:endParaRPr lang="en-IN" sz="16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600" dirty="0">
                <a:effectLst/>
                <a:latin typeface="Montserrat" panose="020B0604020202020204" charset="0"/>
                <a:ea typeface="Times New Roman" panose="02020603050405020304" pitchFamily="18" charset="0"/>
                <a:cs typeface="Times New Roman" panose="02020603050405020304" pitchFamily="18" charset="0"/>
              </a:rPr>
              <a:t>          result = num1 + num2;</a:t>
            </a:r>
            <a:endParaRPr lang="en-IN" sz="16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600" dirty="0">
                <a:effectLst/>
                <a:latin typeface="Montserrat" panose="020B0604020202020204" charset="0"/>
                <a:ea typeface="Times New Roman" panose="02020603050405020304" pitchFamily="18" charset="0"/>
                <a:cs typeface="Times New Roman" panose="02020603050405020304" pitchFamily="18" charset="0"/>
              </a:rPr>
              <a:t>          break; </a:t>
            </a:r>
            <a:endParaRPr lang="en-IN" sz="16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600" dirty="0">
                <a:effectLst/>
                <a:latin typeface="Montserrat" panose="020B0604020202020204" charset="0"/>
                <a:ea typeface="Times New Roman" panose="02020603050405020304" pitchFamily="18" charset="0"/>
                <a:cs typeface="Times New Roman" panose="02020603050405020304" pitchFamily="18" charset="0"/>
              </a:rPr>
              <a:t>       case '-': </a:t>
            </a:r>
            <a:endParaRPr lang="en-IN" sz="16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600" dirty="0">
                <a:effectLst/>
                <a:latin typeface="Montserrat" panose="020B0604020202020204" charset="0"/>
                <a:ea typeface="Times New Roman" panose="02020603050405020304" pitchFamily="18" charset="0"/>
                <a:cs typeface="Times New Roman" panose="02020603050405020304" pitchFamily="18" charset="0"/>
              </a:rPr>
              <a:t>          result = num1 - num2; </a:t>
            </a:r>
            <a:endParaRPr lang="en-IN" sz="16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600" dirty="0">
                <a:effectLst/>
                <a:latin typeface="Montserrat" panose="020B0604020202020204" charset="0"/>
                <a:ea typeface="Times New Roman" panose="02020603050405020304" pitchFamily="18" charset="0"/>
                <a:cs typeface="Times New Roman" panose="02020603050405020304" pitchFamily="18" charset="0"/>
              </a:rPr>
              <a:t>          break;</a:t>
            </a:r>
            <a:endParaRPr lang="en-IN" sz="1600" dirty="0">
              <a:effectLst/>
              <a:latin typeface="Montserrat" panose="020B0604020202020204" charset="0"/>
              <a:ea typeface="Times New Roman" panose="02020603050405020304" pitchFamily="18" charset="0"/>
              <a:cs typeface="Times New Roman" panose="02020603050405020304" pitchFamily="18" charset="0"/>
            </a:endParaRPr>
          </a:p>
          <a:p>
            <a:endParaRPr lang="en-IN" sz="1000" dirty="0"/>
          </a:p>
        </p:txBody>
      </p:sp>
      <p:sp>
        <p:nvSpPr>
          <p:cNvPr id="4" name="Content Placeholder 3">
            <a:extLst>
              <a:ext uri="{FF2B5EF4-FFF2-40B4-BE49-F238E27FC236}">
                <a16:creationId xmlns:a16="http://schemas.microsoft.com/office/drawing/2014/main" xmlns="" id="{25A66BC5-A17A-4D40-8DE6-6B6A2CAB39E5}"/>
              </a:ext>
            </a:extLst>
          </p:cNvPr>
          <p:cNvSpPr>
            <a:spLocks noGrp="1"/>
          </p:cNvSpPr>
          <p:nvPr>
            <p:ph sz="half" idx="2"/>
          </p:nvPr>
        </p:nvSpPr>
        <p:spPr>
          <a:xfrm>
            <a:off x="6096000" y="1385357"/>
            <a:ext cx="4489704" cy="5331531"/>
          </a:xfrm>
        </p:spPr>
        <p:txBody>
          <a:bodyPr>
            <a:noAutofit/>
          </a:bodyPr>
          <a:lstStyle/>
          <a:p>
            <a:pPr marL="0" indent="0">
              <a:buNone/>
            </a:pPr>
            <a:r>
              <a:rPr lang="en-US" sz="1400" dirty="0">
                <a:effectLst/>
                <a:latin typeface="Montserrat" panose="020B0604020202020204" charset="0"/>
                <a:ea typeface="Times New Roman" panose="02020603050405020304" pitchFamily="18" charset="0"/>
                <a:cs typeface="Times New Roman" panose="02020603050405020304" pitchFamily="18" charset="0"/>
              </a:rPr>
              <a:t> case '*':</a:t>
            </a:r>
            <a:endParaRPr lang="en-IN" sz="14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400" dirty="0">
                <a:effectLst/>
                <a:latin typeface="Montserrat" panose="020B0604020202020204" charset="0"/>
                <a:ea typeface="Times New Roman" panose="02020603050405020304" pitchFamily="18" charset="0"/>
                <a:cs typeface="Times New Roman" panose="02020603050405020304" pitchFamily="18" charset="0"/>
              </a:rPr>
              <a:t>          result = num1 * num2;</a:t>
            </a:r>
            <a:endParaRPr lang="en-IN" sz="14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400" dirty="0">
                <a:effectLst/>
                <a:latin typeface="Montserrat" panose="020B0604020202020204" charset="0"/>
                <a:ea typeface="Times New Roman" panose="02020603050405020304" pitchFamily="18" charset="0"/>
                <a:cs typeface="Times New Roman" panose="02020603050405020304" pitchFamily="18" charset="0"/>
              </a:rPr>
              <a:t>          break;</a:t>
            </a:r>
            <a:endParaRPr lang="en-IN" sz="14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400" dirty="0">
                <a:effectLst/>
                <a:latin typeface="Montserrat" panose="020B0604020202020204" charset="0"/>
                <a:ea typeface="Times New Roman" panose="02020603050405020304" pitchFamily="18" charset="0"/>
                <a:cs typeface="Times New Roman" panose="02020603050405020304" pitchFamily="18" charset="0"/>
              </a:rPr>
              <a:t> case '/': </a:t>
            </a:r>
            <a:endParaRPr lang="en-IN" sz="14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400" dirty="0">
                <a:effectLst/>
                <a:latin typeface="Montserrat" panose="020B0604020202020204" charset="0"/>
                <a:ea typeface="Times New Roman" panose="02020603050405020304" pitchFamily="18" charset="0"/>
                <a:cs typeface="Times New Roman" panose="02020603050405020304" pitchFamily="18" charset="0"/>
              </a:rPr>
              <a:t>          if (num2 != 0) </a:t>
            </a:r>
            <a:endParaRPr lang="en-IN" sz="14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400" dirty="0">
                <a:effectLst/>
                <a:latin typeface="Montserrat" panose="020B0604020202020204" charset="0"/>
                <a:ea typeface="Times New Roman" panose="02020603050405020304" pitchFamily="18" charset="0"/>
                <a:cs typeface="Times New Roman" panose="02020603050405020304" pitchFamily="18" charset="0"/>
              </a:rPr>
              <a:t>             result = num1 / num2;</a:t>
            </a:r>
            <a:endParaRPr lang="en-IN" sz="14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400" dirty="0">
                <a:effectLst/>
                <a:latin typeface="Montserrat" panose="020B0604020202020204" charset="0"/>
                <a:ea typeface="Times New Roman" panose="02020603050405020304" pitchFamily="18" charset="0"/>
                <a:cs typeface="Times New Roman" panose="02020603050405020304" pitchFamily="18" charset="0"/>
              </a:rPr>
              <a:t>          else </a:t>
            </a:r>
            <a:endParaRPr lang="en-IN" sz="14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400" dirty="0">
                <a:effectLst/>
                <a:latin typeface="Montserrat" panose="020B0604020202020204" charset="0"/>
                <a:ea typeface="Times New Roman" panose="02020603050405020304" pitchFamily="18" charset="0"/>
                <a:cs typeface="Times New Roman" panose="02020603050405020304" pitchFamily="18" charset="0"/>
              </a:rPr>
              <a:t>          {         </a:t>
            </a:r>
            <a:endParaRPr lang="en-IN" sz="14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400" dirty="0">
                <a:effectLst/>
                <a:latin typeface="Montserrat" panose="020B0604020202020204" charset="0"/>
                <a:ea typeface="Times New Roman" panose="02020603050405020304" pitchFamily="18" charset="0"/>
                <a:cs typeface="Times New Roman" panose="02020603050405020304" pitchFamily="18" charset="0"/>
              </a:rPr>
              <a:t>             </a:t>
            </a:r>
            <a:r>
              <a:rPr lang="en-US" sz="1400" dirty="0" err="1">
                <a:effectLst/>
                <a:latin typeface="Montserrat" panose="020B0604020202020204" charset="0"/>
                <a:ea typeface="Times New Roman" panose="02020603050405020304" pitchFamily="18" charset="0"/>
                <a:cs typeface="Times New Roman" panose="02020603050405020304" pitchFamily="18" charset="0"/>
              </a:rPr>
              <a:t>printf</a:t>
            </a:r>
            <a:r>
              <a:rPr lang="en-US" sz="1400" dirty="0">
                <a:effectLst/>
                <a:latin typeface="Montserrat" panose="020B0604020202020204" charset="0"/>
                <a:ea typeface="Times New Roman" panose="02020603050405020304" pitchFamily="18" charset="0"/>
                <a:cs typeface="Times New Roman" panose="02020603050405020304" pitchFamily="18" charset="0"/>
              </a:rPr>
              <a:t> ("warning : division by zero \n");</a:t>
            </a:r>
            <a:endParaRPr lang="en-IN" sz="14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400" dirty="0">
                <a:effectLst/>
                <a:latin typeface="Montserrat" panose="020B0604020202020204" charset="0"/>
                <a:ea typeface="Times New Roman" panose="02020603050405020304" pitchFamily="18" charset="0"/>
                <a:cs typeface="Times New Roman" panose="02020603050405020304" pitchFamily="18" charset="0"/>
              </a:rPr>
              <a:t>             result = 0;</a:t>
            </a:r>
            <a:endParaRPr lang="en-IN" sz="14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400" dirty="0">
                <a:effectLst/>
                <a:latin typeface="Montserrat" panose="020B0604020202020204" charset="0"/>
                <a:ea typeface="Times New Roman" panose="02020603050405020304" pitchFamily="18" charset="0"/>
                <a:cs typeface="Times New Roman" panose="02020603050405020304" pitchFamily="18" charset="0"/>
              </a:rPr>
              <a:t>          } </a:t>
            </a:r>
            <a:endParaRPr lang="en-IN" sz="14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400" dirty="0">
                <a:effectLst/>
                <a:latin typeface="Montserrat" panose="020B0604020202020204" charset="0"/>
                <a:ea typeface="Times New Roman" panose="02020603050405020304" pitchFamily="18" charset="0"/>
                <a:cs typeface="Times New Roman" panose="02020603050405020304" pitchFamily="18" charset="0"/>
              </a:rPr>
              <a:t>          break; </a:t>
            </a:r>
            <a:endParaRPr lang="en-IN" sz="14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400" dirty="0">
                <a:effectLst/>
                <a:latin typeface="Montserrat" panose="020B0604020202020204" charset="0"/>
                <a:ea typeface="Times New Roman" panose="02020603050405020304" pitchFamily="18" charset="0"/>
                <a:cs typeface="Times New Roman" panose="02020603050405020304" pitchFamily="18" charset="0"/>
              </a:rPr>
              <a:t>default: </a:t>
            </a:r>
            <a:endParaRPr lang="en-IN" sz="14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400" dirty="0">
                <a:effectLst/>
                <a:latin typeface="Montserrat" panose="020B0604020202020204" charset="0"/>
                <a:ea typeface="Times New Roman" panose="02020603050405020304" pitchFamily="18" charset="0"/>
                <a:cs typeface="Times New Roman" panose="02020603050405020304" pitchFamily="18" charset="0"/>
              </a:rPr>
              <a:t>          </a:t>
            </a:r>
            <a:r>
              <a:rPr lang="en-US" sz="1400" dirty="0" err="1">
                <a:effectLst/>
                <a:latin typeface="Montserrat" panose="020B0604020202020204" charset="0"/>
                <a:ea typeface="Times New Roman" panose="02020603050405020304" pitchFamily="18" charset="0"/>
                <a:cs typeface="Times New Roman" panose="02020603050405020304" pitchFamily="18" charset="0"/>
              </a:rPr>
              <a:t>printf</a:t>
            </a:r>
            <a:r>
              <a:rPr lang="en-US" sz="1400" dirty="0">
                <a:effectLst/>
                <a:latin typeface="Montserrat" panose="020B0604020202020204" charset="0"/>
                <a:ea typeface="Times New Roman" panose="02020603050405020304" pitchFamily="18" charset="0"/>
                <a:cs typeface="Times New Roman" panose="02020603050405020304" pitchFamily="18" charset="0"/>
              </a:rPr>
              <a:t> ("\n unknown operator");</a:t>
            </a:r>
            <a:endParaRPr lang="en-IN" sz="14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400" dirty="0">
                <a:effectLst/>
                <a:latin typeface="Montserrat" panose="020B0604020202020204" charset="0"/>
                <a:ea typeface="Times New Roman" panose="02020603050405020304" pitchFamily="18" charset="0"/>
                <a:cs typeface="Times New Roman" panose="02020603050405020304" pitchFamily="18" charset="0"/>
              </a:rPr>
              <a:t>          result = 0; </a:t>
            </a:r>
            <a:endParaRPr lang="en-IN" sz="1400" dirty="0">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400" dirty="0">
                <a:effectLst/>
                <a:latin typeface="Montserrat" panose="020B0604020202020204" charset="0"/>
                <a:ea typeface="Times New Roman" panose="02020603050405020304" pitchFamily="18" charset="0"/>
                <a:cs typeface="Times New Roman" panose="02020603050405020304" pitchFamily="18" charset="0"/>
              </a:rPr>
              <a:t>} </a:t>
            </a:r>
            <a:endParaRPr lang="en-IN" sz="14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400" dirty="0">
                <a:effectLst/>
                <a:latin typeface="Montserrat" panose="020B0604020202020204" charset="0"/>
                <a:ea typeface="Times New Roman" panose="02020603050405020304" pitchFamily="18" charset="0"/>
                <a:cs typeface="Times New Roman" panose="02020603050405020304" pitchFamily="18" charset="0"/>
              </a:rPr>
              <a:t>   </a:t>
            </a:r>
            <a:r>
              <a:rPr lang="en-US" sz="1400" dirty="0" err="1">
                <a:effectLst/>
                <a:latin typeface="Montserrat" panose="020B0604020202020204" charset="0"/>
                <a:ea typeface="Times New Roman" panose="02020603050405020304" pitchFamily="18" charset="0"/>
                <a:cs typeface="Times New Roman" panose="02020603050405020304" pitchFamily="18" charset="0"/>
              </a:rPr>
              <a:t>printf</a:t>
            </a:r>
            <a:r>
              <a:rPr lang="en-US" sz="1400" dirty="0">
                <a:effectLst/>
                <a:latin typeface="Montserrat" panose="020B0604020202020204" charset="0"/>
                <a:ea typeface="Times New Roman" panose="02020603050405020304" pitchFamily="18" charset="0"/>
                <a:cs typeface="Times New Roman" panose="02020603050405020304" pitchFamily="18" charset="0"/>
              </a:rPr>
              <a:t> ("%d", result) ;</a:t>
            </a:r>
            <a:endParaRPr lang="en-IN" sz="1400"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1400" dirty="0">
                <a:effectLst/>
                <a:latin typeface="Montserrat" panose="020B0604020202020204" charset="0"/>
                <a:ea typeface="Times New Roman" panose="02020603050405020304" pitchFamily="18" charset="0"/>
                <a:cs typeface="Times New Roman" panose="02020603050405020304" pitchFamily="18" charset="0"/>
              </a:rPr>
              <a:t>   }</a:t>
            </a:r>
            <a:endParaRPr lang="en-IN" sz="1400" dirty="0"/>
          </a:p>
        </p:txBody>
      </p:sp>
    </p:spTree>
    <p:extLst>
      <p:ext uri="{BB962C8B-B14F-4D97-AF65-F5344CB8AC3E}">
        <p14:creationId xmlns:p14="http://schemas.microsoft.com/office/powerpoint/2010/main" val="12592504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674681-5DBB-498C-811D-E036AFC1B183}"/>
              </a:ext>
            </a:extLst>
          </p:cNvPr>
          <p:cNvSpPr>
            <a:spLocks noGrp="1"/>
          </p:cNvSpPr>
          <p:nvPr>
            <p:ph type="title"/>
          </p:nvPr>
        </p:nvSpPr>
        <p:spPr/>
        <p:txBody>
          <a:bodyPr>
            <a:normAutofit/>
          </a:bodyPr>
          <a:lstStyle/>
          <a:p>
            <a:pPr algn="ctr"/>
            <a:r>
              <a:rPr lang="en-US" sz="4000" dirty="0">
                <a:effectLst/>
                <a:latin typeface="Montserrat" panose="020B0604020202020204" charset="0"/>
                <a:ea typeface="Times New Roman" panose="02020603050405020304" pitchFamily="18" charset="0"/>
              </a:rPr>
              <a:t>Switch Statement- Example</a:t>
            </a:r>
            <a:endParaRPr lang="en-IN" sz="4000" dirty="0"/>
          </a:p>
        </p:txBody>
      </p:sp>
      <p:sp>
        <p:nvSpPr>
          <p:cNvPr id="3" name="Content Placeholder 2">
            <a:extLst>
              <a:ext uri="{FF2B5EF4-FFF2-40B4-BE49-F238E27FC236}">
                <a16:creationId xmlns:a16="http://schemas.microsoft.com/office/drawing/2014/main" xmlns="" id="{E16D7C25-11F8-4EBB-828F-BADB8E3859A8}"/>
              </a:ext>
            </a:extLst>
          </p:cNvPr>
          <p:cNvSpPr>
            <a:spLocks noGrp="1"/>
          </p:cNvSpPr>
          <p:nvPr>
            <p:ph sz="half" idx="1"/>
          </p:nvPr>
        </p:nvSpPr>
        <p:spPr>
          <a:xfrm>
            <a:off x="1738490" y="1427867"/>
            <a:ext cx="3657148" cy="4532665"/>
          </a:xfrm>
        </p:spPr>
        <p:txBody>
          <a:bodyPr>
            <a:noAutofit/>
          </a:bodyPr>
          <a:lstStyle/>
          <a:p>
            <a:pPr marL="0" indent="0">
              <a:buNone/>
            </a:pPr>
            <a:r>
              <a:rPr lang="en-US" sz="1800" dirty="0">
                <a:latin typeface="Montserrat" panose="020B0604020202020204" charset="0"/>
                <a:ea typeface="Times New Roman" panose="02020603050405020304" pitchFamily="18" charset="0"/>
                <a:cs typeface="Times New Roman" panose="02020603050405020304" pitchFamily="18" charset="0"/>
              </a:rPr>
              <a:t>#include &lt;</a:t>
            </a:r>
            <a:r>
              <a:rPr lang="en-US" sz="1800" dirty="0" err="1">
                <a:latin typeface="Montserrat" panose="020B0604020202020204" charset="0"/>
                <a:ea typeface="Times New Roman" panose="02020603050405020304" pitchFamily="18" charset="0"/>
                <a:cs typeface="Times New Roman" panose="02020603050405020304" pitchFamily="18" charset="0"/>
              </a:rPr>
              <a:t>stdio.h</a:t>
            </a:r>
            <a:r>
              <a:rPr lang="en-US" sz="1800" dirty="0">
                <a:latin typeface="Montserrat" panose="020B0604020202020204" charset="0"/>
                <a:ea typeface="Times New Roman" panose="02020603050405020304" pitchFamily="18" charset="0"/>
                <a:cs typeface="Times New Roman" panose="02020603050405020304" pitchFamily="18" charset="0"/>
              </a:rPr>
              <a:t>&gt;</a:t>
            </a:r>
          </a:p>
          <a:p>
            <a:pPr marL="0" indent="0">
              <a:buNone/>
            </a:pPr>
            <a:r>
              <a:rPr lang="en-US" sz="1800" dirty="0">
                <a:latin typeface="Montserrat" panose="020B0604020202020204" charset="0"/>
                <a:ea typeface="Times New Roman" panose="02020603050405020304" pitchFamily="18" charset="0"/>
                <a:cs typeface="Times New Roman" panose="02020603050405020304" pitchFamily="18" charset="0"/>
              </a:rPr>
              <a:t>void main ()</a:t>
            </a:r>
          </a:p>
          <a:p>
            <a:pPr marL="0" indent="0">
              <a:buNone/>
            </a:pPr>
            <a:r>
              <a:rPr lang="en-US" sz="1800" dirty="0">
                <a:latin typeface="Montserrat" panose="020B0604020202020204" charset="0"/>
                <a:ea typeface="Times New Roman" panose="02020603050405020304" pitchFamily="18" charset="0"/>
                <a:cs typeface="Times New Roman" panose="02020603050405020304" pitchFamily="18" charset="0"/>
              </a:rPr>
              <a:t>{</a:t>
            </a:r>
          </a:p>
          <a:p>
            <a:pPr marL="0" indent="0">
              <a:buNone/>
            </a:pPr>
            <a:r>
              <a:rPr lang="en-US" sz="1800" dirty="0">
                <a:latin typeface="Montserrat" panose="020B0604020202020204" charset="0"/>
                <a:ea typeface="Times New Roman" panose="02020603050405020304" pitchFamily="18" charset="0"/>
                <a:cs typeface="Times New Roman" panose="02020603050405020304" pitchFamily="18" charset="0"/>
              </a:rPr>
              <a:t>   int number;</a:t>
            </a:r>
          </a:p>
          <a:p>
            <a:pPr marL="0" indent="0">
              <a:buNone/>
            </a:pPr>
            <a:r>
              <a:rPr lang="en-US" sz="1800" dirty="0">
                <a:latin typeface="Montserrat" panose="020B0604020202020204" charset="0"/>
                <a:ea typeface="Times New Roman" panose="02020603050405020304" pitchFamily="18" charset="0"/>
                <a:cs typeface="Times New Roman" panose="02020603050405020304" pitchFamily="18" charset="0"/>
              </a:rPr>
              <a:t>   </a:t>
            </a:r>
            <a:r>
              <a:rPr lang="en-US" sz="1800" dirty="0" err="1">
                <a:latin typeface="Montserrat" panose="020B0604020202020204" charset="0"/>
                <a:ea typeface="Times New Roman" panose="02020603050405020304" pitchFamily="18" charset="0"/>
                <a:cs typeface="Times New Roman" panose="02020603050405020304" pitchFamily="18" charset="0"/>
              </a:rPr>
              <a:t>printf</a:t>
            </a:r>
            <a:r>
              <a:rPr lang="en-US" sz="1800" dirty="0">
                <a:latin typeface="Montserrat" panose="020B0604020202020204" charset="0"/>
                <a:ea typeface="Times New Roman" panose="02020603050405020304" pitchFamily="18" charset="0"/>
                <a:cs typeface="Times New Roman" panose="02020603050405020304" pitchFamily="18" charset="0"/>
              </a:rPr>
              <a:t> ("Enter a number");</a:t>
            </a:r>
          </a:p>
          <a:p>
            <a:pPr marL="0" indent="0">
              <a:buNone/>
            </a:pPr>
            <a:r>
              <a:rPr lang="en-US" sz="1800" dirty="0">
                <a:latin typeface="Montserrat" panose="020B0604020202020204" charset="0"/>
                <a:ea typeface="Times New Roman" panose="02020603050405020304" pitchFamily="18" charset="0"/>
                <a:cs typeface="Times New Roman" panose="02020603050405020304" pitchFamily="18" charset="0"/>
              </a:rPr>
              <a:t>   </a:t>
            </a:r>
            <a:r>
              <a:rPr lang="en-US" sz="1800" dirty="0" err="1">
                <a:latin typeface="Montserrat" panose="020B0604020202020204" charset="0"/>
                <a:ea typeface="Times New Roman" panose="02020603050405020304" pitchFamily="18" charset="0"/>
                <a:cs typeface="Times New Roman" panose="02020603050405020304" pitchFamily="18" charset="0"/>
              </a:rPr>
              <a:t>scanf</a:t>
            </a:r>
            <a:r>
              <a:rPr lang="en-US" sz="1800" dirty="0">
                <a:latin typeface="Montserrat" panose="020B0604020202020204" charset="0"/>
                <a:ea typeface="Times New Roman" panose="02020603050405020304" pitchFamily="18" charset="0"/>
                <a:cs typeface="Times New Roman" panose="02020603050405020304" pitchFamily="18" charset="0"/>
              </a:rPr>
              <a:t> ("%</a:t>
            </a:r>
            <a:r>
              <a:rPr lang="en-US" sz="1800" dirty="0" err="1">
                <a:latin typeface="Montserrat" panose="020B0604020202020204" charset="0"/>
                <a:ea typeface="Times New Roman" panose="02020603050405020304" pitchFamily="18" charset="0"/>
                <a:cs typeface="Times New Roman" panose="02020603050405020304" pitchFamily="18" charset="0"/>
              </a:rPr>
              <a:t>d",&amp;number</a:t>
            </a:r>
            <a:r>
              <a:rPr lang="en-US" sz="1800" dirty="0">
                <a:latin typeface="Montserrat" panose="020B0604020202020204" charset="0"/>
                <a:ea typeface="Times New Roman" panose="02020603050405020304" pitchFamily="18" charset="0"/>
                <a:cs typeface="Times New Roman" panose="02020603050405020304" pitchFamily="18" charset="0"/>
              </a:rPr>
              <a:t>);</a:t>
            </a:r>
          </a:p>
          <a:p>
            <a:pPr marL="0" indent="0">
              <a:buNone/>
            </a:pPr>
            <a:r>
              <a:rPr lang="en-US" sz="1800" dirty="0">
                <a:latin typeface="Montserrat" panose="020B0604020202020204" charset="0"/>
                <a:ea typeface="Times New Roman" panose="02020603050405020304" pitchFamily="18" charset="0"/>
                <a:cs typeface="Times New Roman" panose="02020603050405020304" pitchFamily="18" charset="0"/>
              </a:rPr>
              <a:t>   switch(number%2)</a:t>
            </a:r>
          </a:p>
          <a:p>
            <a:pPr marL="0" indent="0">
              <a:buNone/>
            </a:pPr>
            <a:r>
              <a:rPr lang="en-US" sz="1800" dirty="0">
                <a:latin typeface="Montserrat" panose="020B0604020202020204" charset="0"/>
                <a:ea typeface="Times New Roman" panose="02020603050405020304" pitchFamily="18" charset="0"/>
                <a:cs typeface="Times New Roman" panose="02020603050405020304" pitchFamily="18" charset="0"/>
              </a:rPr>
              <a:t>    {</a:t>
            </a:r>
          </a:p>
          <a:p>
            <a:pPr marL="0" indent="0">
              <a:buNone/>
            </a:pPr>
            <a:r>
              <a:rPr lang="en-US" sz="1800" dirty="0">
                <a:latin typeface="Montserrat" panose="020B0604020202020204" charset="0"/>
                <a:ea typeface="Times New Roman" panose="02020603050405020304" pitchFamily="18" charset="0"/>
                <a:cs typeface="Times New Roman" panose="02020603050405020304" pitchFamily="18" charset="0"/>
              </a:rPr>
              <a:t>    case 0:</a:t>
            </a:r>
          </a:p>
          <a:p>
            <a:pPr marL="0" indent="0">
              <a:buNone/>
            </a:pPr>
            <a:r>
              <a:rPr lang="en-US" sz="1800" dirty="0">
                <a:latin typeface="Montserrat" panose="020B0604020202020204" charset="0"/>
                <a:ea typeface="Times New Roman" panose="02020603050405020304" pitchFamily="18" charset="0"/>
                <a:cs typeface="Times New Roman" panose="02020603050405020304" pitchFamily="18" charset="0"/>
              </a:rPr>
              <a:t>        </a:t>
            </a:r>
            <a:r>
              <a:rPr lang="en-US" sz="1800" dirty="0" err="1">
                <a:latin typeface="Montserrat" panose="020B0604020202020204" charset="0"/>
                <a:ea typeface="Times New Roman" panose="02020603050405020304" pitchFamily="18" charset="0"/>
                <a:cs typeface="Times New Roman" panose="02020603050405020304" pitchFamily="18" charset="0"/>
              </a:rPr>
              <a:t>printf</a:t>
            </a:r>
            <a:r>
              <a:rPr lang="en-US" sz="1800" dirty="0">
                <a:latin typeface="Montserrat" panose="020B0604020202020204" charset="0"/>
                <a:ea typeface="Times New Roman" panose="02020603050405020304" pitchFamily="18" charset="0"/>
                <a:cs typeface="Times New Roman" panose="02020603050405020304" pitchFamily="18" charset="0"/>
              </a:rPr>
              <a:t>("Even");</a:t>
            </a:r>
          </a:p>
          <a:p>
            <a:pPr marL="0" indent="0">
              <a:buNone/>
            </a:pPr>
            <a:r>
              <a:rPr lang="en-US" sz="1800" dirty="0">
                <a:latin typeface="Montserrat" panose="020B0604020202020204" charset="0"/>
                <a:ea typeface="Times New Roman" panose="02020603050405020304" pitchFamily="18" charset="0"/>
                <a:cs typeface="Times New Roman" panose="02020603050405020304" pitchFamily="18" charset="0"/>
              </a:rPr>
              <a:t>        break;</a:t>
            </a:r>
          </a:p>
          <a:p>
            <a:pPr marL="0" indent="0">
              <a:buNone/>
            </a:pPr>
            <a:r>
              <a:rPr lang="en-US" sz="1800" dirty="0">
                <a:latin typeface="Montserrat" panose="020B0604020202020204" charset="0"/>
                <a:ea typeface="Times New Roman" panose="02020603050405020304" pitchFamily="18" charset="0"/>
                <a:cs typeface="Times New Roman" panose="02020603050405020304" pitchFamily="18" charset="0"/>
              </a:rPr>
              <a:t>    case 1:</a:t>
            </a:r>
          </a:p>
          <a:p>
            <a:pPr marL="0" indent="0">
              <a:buNone/>
            </a:pPr>
            <a:r>
              <a:rPr lang="en-US" sz="1800" dirty="0">
                <a:latin typeface="Montserrat" panose="020B0604020202020204" charset="0"/>
                <a:ea typeface="Times New Roman" panose="02020603050405020304" pitchFamily="18" charset="0"/>
                <a:cs typeface="Times New Roman" panose="02020603050405020304" pitchFamily="18" charset="0"/>
              </a:rPr>
              <a:t>        </a:t>
            </a:r>
            <a:r>
              <a:rPr lang="en-US" sz="1800" dirty="0" err="1">
                <a:latin typeface="Montserrat" panose="020B0604020202020204" charset="0"/>
                <a:ea typeface="Times New Roman" panose="02020603050405020304" pitchFamily="18" charset="0"/>
                <a:cs typeface="Times New Roman" panose="02020603050405020304" pitchFamily="18" charset="0"/>
              </a:rPr>
              <a:t>printf</a:t>
            </a:r>
            <a:r>
              <a:rPr lang="en-US" sz="1800" dirty="0">
                <a:latin typeface="Montserrat" panose="020B0604020202020204" charset="0"/>
                <a:ea typeface="Times New Roman" panose="02020603050405020304" pitchFamily="18" charset="0"/>
                <a:cs typeface="Times New Roman" panose="02020603050405020304" pitchFamily="18" charset="0"/>
              </a:rPr>
              <a:t>("Odd");</a:t>
            </a:r>
          </a:p>
          <a:p>
            <a:pPr marL="0" indent="0">
              <a:buNone/>
            </a:pPr>
            <a:r>
              <a:rPr lang="en-US" sz="1800" dirty="0">
                <a:latin typeface="Montserrat" panose="020B0604020202020204" charset="0"/>
                <a:ea typeface="Times New Roman" panose="02020603050405020304" pitchFamily="18" charset="0"/>
                <a:cs typeface="Times New Roman" panose="02020603050405020304" pitchFamily="18" charset="0"/>
              </a:rPr>
              <a:t>        break;</a:t>
            </a:r>
          </a:p>
          <a:p>
            <a:pPr marL="0" indent="0">
              <a:buNone/>
            </a:pPr>
            <a:r>
              <a:rPr lang="en-US" sz="1800" dirty="0">
                <a:latin typeface="Montserrat" panose="020B0604020202020204" charset="0"/>
                <a:ea typeface="Times New Roman" panose="02020603050405020304" pitchFamily="18" charset="0"/>
                <a:cs typeface="Times New Roman" panose="02020603050405020304" pitchFamily="18" charset="0"/>
              </a:rPr>
              <a:t>   }</a:t>
            </a:r>
          </a:p>
          <a:p>
            <a:pPr marL="0" indent="0">
              <a:buNone/>
            </a:pPr>
            <a:r>
              <a:rPr lang="en-US" sz="1800" dirty="0">
                <a:latin typeface="Montserrat" panose="020B0604020202020204" charset="0"/>
                <a:ea typeface="Times New Roman" panose="02020603050405020304" pitchFamily="18" charset="0"/>
                <a:cs typeface="Times New Roman" panose="02020603050405020304" pitchFamily="18" charset="0"/>
              </a:rPr>
              <a:t>}</a:t>
            </a:r>
          </a:p>
        </p:txBody>
      </p:sp>
      <p:sp>
        <p:nvSpPr>
          <p:cNvPr id="4" name="Content Placeholder 3">
            <a:extLst>
              <a:ext uri="{FF2B5EF4-FFF2-40B4-BE49-F238E27FC236}">
                <a16:creationId xmlns:a16="http://schemas.microsoft.com/office/drawing/2014/main" xmlns="" id="{25A66BC5-A17A-4D40-8DE6-6B6A2CAB39E5}"/>
              </a:ext>
            </a:extLst>
          </p:cNvPr>
          <p:cNvSpPr>
            <a:spLocks noGrp="1"/>
          </p:cNvSpPr>
          <p:nvPr>
            <p:ph sz="half" idx="2"/>
          </p:nvPr>
        </p:nvSpPr>
        <p:spPr>
          <a:xfrm>
            <a:off x="6096000" y="1385357"/>
            <a:ext cx="4489704" cy="5331531"/>
          </a:xfrm>
        </p:spPr>
        <p:txBody>
          <a:bodyPr>
            <a:noAutofit/>
          </a:bodyPr>
          <a:lstStyle/>
          <a:p>
            <a:pPr marL="0" indent="0">
              <a:buNone/>
            </a:pPr>
            <a:endParaRPr lang="en-IN" sz="1100" dirty="0"/>
          </a:p>
        </p:txBody>
      </p:sp>
    </p:spTree>
    <p:extLst>
      <p:ext uri="{BB962C8B-B14F-4D97-AF65-F5344CB8AC3E}">
        <p14:creationId xmlns:p14="http://schemas.microsoft.com/office/powerpoint/2010/main" val="33943069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BEF65E05-0CE8-4D59-988F-88A260F13536}"/>
              </a:ext>
            </a:extLst>
          </p:cNvPr>
          <p:cNvSpPr>
            <a:spLocks noGrp="1"/>
          </p:cNvSpPr>
          <p:nvPr>
            <p:ph type="title"/>
          </p:nvPr>
        </p:nvSpPr>
        <p:spPr/>
        <p:txBody>
          <a:bodyPr/>
          <a:lstStyle/>
          <a:p>
            <a:r>
              <a:rPr lang="en-IN" dirty="0"/>
              <a:t>Difference between nested if else and switch statements </a:t>
            </a:r>
          </a:p>
        </p:txBody>
      </p:sp>
      <p:graphicFrame>
        <p:nvGraphicFramePr>
          <p:cNvPr id="5" name="Content Placeholder 5">
            <a:extLst>
              <a:ext uri="{FF2B5EF4-FFF2-40B4-BE49-F238E27FC236}">
                <a16:creationId xmlns:a16="http://schemas.microsoft.com/office/drawing/2014/main" xmlns="" id="{9D706C84-991E-4083-9BF5-5CEC432018C5}"/>
              </a:ext>
            </a:extLst>
          </p:cNvPr>
          <p:cNvGraphicFramePr>
            <a:graphicFrameLocks/>
          </p:cNvGraphicFramePr>
          <p:nvPr/>
        </p:nvGraphicFramePr>
        <p:xfrm>
          <a:off x="1551432" y="2067475"/>
          <a:ext cx="8962203" cy="3867637"/>
        </p:xfrm>
        <a:graphic>
          <a:graphicData uri="http://schemas.openxmlformats.org/drawingml/2006/table">
            <a:tbl>
              <a:tblPr firstRow="1" bandRow="1">
                <a:tableStyleId>{5C22544A-7EE6-4342-B048-85BDC9FD1C3A}</a:tableStyleId>
              </a:tblPr>
              <a:tblGrid>
                <a:gridCol w="4750314">
                  <a:extLst>
                    <a:ext uri="{9D8B030D-6E8A-4147-A177-3AD203B41FA5}">
                      <a16:colId xmlns:a16="http://schemas.microsoft.com/office/drawing/2014/main" xmlns="" val="20000"/>
                    </a:ext>
                  </a:extLst>
                </a:gridCol>
                <a:gridCol w="4211889">
                  <a:extLst>
                    <a:ext uri="{9D8B030D-6E8A-4147-A177-3AD203B41FA5}">
                      <a16:colId xmlns:a16="http://schemas.microsoft.com/office/drawing/2014/main" xmlns="" val="20001"/>
                    </a:ext>
                  </a:extLst>
                </a:gridCol>
              </a:tblGrid>
              <a:tr h="351702">
                <a:tc>
                  <a:txBody>
                    <a:bodyPr/>
                    <a:lstStyle/>
                    <a:p>
                      <a:pPr algn="ctr"/>
                      <a:r>
                        <a:rPr lang="en-IN" dirty="0"/>
                        <a:t>Nested if else</a:t>
                      </a:r>
                    </a:p>
                  </a:txBody>
                  <a:tcPr/>
                </a:tc>
                <a:tc>
                  <a:txBody>
                    <a:bodyPr/>
                    <a:lstStyle/>
                    <a:p>
                      <a:pPr algn="ctr"/>
                      <a:r>
                        <a:rPr lang="en-IN" dirty="0"/>
                        <a:t>switch</a:t>
                      </a:r>
                    </a:p>
                  </a:txBody>
                  <a:tcPr/>
                </a:tc>
                <a:extLst>
                  <a:ext uri="{0D108BD9-81ED-4DB2-BD59-A6C34878D82A}">
                    <a16:rowId xmlns:a16="http://schemas.microsoft.com/office/drawing/2014/main" xmlns="" val="10000"/>
                  </a:ext>
                </a:extLst>
              </a:tr>
              <a:tr h="1127375">
                <a:tc>
                  <a:txBody>
                    <a:bodyPr/>
                    <a:lstStyle/>
                    <a:p>
                      <a:pPr algn="l"/>
                      <a:r>
                        <a:rPr lang="en-US" sz="1800" b="0" i="0" kern="1200" dirty="0">
                          <a:solidFill>
                            <a:schemeClr val="dk1"/>
                          </a:solidFill>
                          <a:effectLst/>
                          <a:latin typeface="+mn-lt"/>
                          <a:ea typeface="+mn-ea"/>
                          <a:cs typeface="+mn-cs"/>
                        </a:rPr>
                        <a:t>if-else statement can check any condition like equal to, less than, greater than or equal to, not equal to, </a:t>
                      </a:r>
                      <a:r>
                        <a:rPr lang="en-US" sz="1800" b="0" i="0" kern="1200" dirty="0" err="1">
                          <a:solidFill>
                            <a:schemeClr val="dk1"/>
                          </a:solidFill>
                          <a:effectLst/>
                          <a:latin typeface="+mn-lt"/>
                          <a:ea typeface="+mn-ea"/>
                          <a:cs typeface="+mn-cs"/>
                        </a:rPr>
                        <a:t>etc</a:t>
                      </a:r>
                      <a:r>
                        <a:rPr lang="en-US" sz="1800" b="0" i="0" kern="1200" baseline="0" dirty="0">
                          <a:solidFill>
                            <a:schemeClr val="dk1"/>
                          </a:solidFill>
                          <a:effectLst/>
                          <a:latin typeface="+mn-lt"/>
                          <a:ea typeface="+mn-ea"/>
                          <a:cs typeface="+mn-cs"/>
                        </a:rPr>
                        <a:t> ..</a:t>
                      </a:r>
                      <a:endParaRPr lang="en-IN" dirty="0"/>
                    </a:p>
                  </a:txBody>
                  <a:tcPr anchor="ctr"/>
                </a:tc>
                <a:tc>
                  <a:txBody>
                    <a:bodyPr/>
                    <a:lstStyle/>
                    <a:p>
                      <a:pPr algn="l"/>
                      <a:r>
                        <a:rPr lang="en-US" sz="1800" b="0" i="0" kern="1200" dirty="0">
                          <a:solidFill>
                            <a:schemeClr val="dk1"/>
                          </a:solidFill>
                          <a:effectLst/>
                          <a:latin typeface="+mn-lt"/>
                          <a:ea typeface="+mn-ea"/>
                          <a:cs typeface="+mn-cs"/>
                        </a:rPr>
                        <a:t>switch statement can check only for equality</a:t>
                      </a:r>
                      <a:endParaRPr lang="en-IN" dirty="0"/>
                    </a:p>
                  </a:txBody>
                  <a:tcPr anchor="ctr"/>
                </a:tc>
                <a:extLst>
                  <a:ext uri="{0D108BD9-81ED-4DB2-BD59-A6C34878D82A}">
                    <a16:rowId xmlns:a16="http://schemas.microsoft.com/office/drawing/2014/main" xmlns="" val="10001"/>
                  </a:ext>
                </a:extLst>
              </a:tr>
              <a:tr h="867211">
                <a:tc>
                  <a:txBody>
                    <a:bodyPr/>
                    <a:lstStyle/>
                    <a:p>
                      <a:pPr algn="l"/>
                      <a:r>
                        <a:rPr lang="en-US" sz="1800" b="0" i="0" kern="1200" dirty="0">
                          <a:solidFill>
                            <a:schemeClr val="dk1"/>
                          </a:solidFill>
                          <a:effectLst/>
                          <a:latin typeface="+mn-lt"/>
                          <a:ea typeface="+mn-ea"/>
                          <a:cs typeface="+mn-cs"/>
                        </a:rPr>
                        <a:t>Expression in if-else can result to a value of any data type</a:t>
                      </a:r>
                      <a:endParaRPr lang="en-IN" dirty="0"/>
                    </a:p>
                  </a:txBody>
                  <a:tcPr anchor="ctr"/>
                </a:tc>
                <a:tc>
                  <a:txBody>
                    <a:bodyPr/>
                    <a:lstStyle/>
                    <a:p>
                      <a:pPr algn="l"/>
                      <a:r>
                        <a:rPr lang="en-US" sz="1800" b="0" i="0" kern="1200" dirty="0">
                          <a:solidFill>
                            <a:schemeClr val="dk1"/>
                          </a:solidFill>
                          <a:effectLst/>
                          <a:latin typeface="+mn-lt"/>
                          <a:ea typeface="+mn-ea"/>
                          <a:cs typeface="+mn-cs"/>
                        </a:rPr>
                        <a:t>Expression in switch should result to either </a:t>
                      </a:r>
                      <a:r>
                        <a:rPr lang="en-US" sz="1800" b="0" i="0" kern="1200" dirty="0" err="1">
                          <a:solidFill>
                            <a:schemeClr val="dk1"/>
                          </a:solidFill>
                          <a:effectLst/>
                          <a:latin typeface="+mn-lt"/>
                          <a:ea typeface="+mn-ea"/>
                          <a:cs typeface="+mn-cs"/>
                        </a:rPr>
                        <a:t>int</a:t>
                      </a:r>
                      <a:r>
                        <a:rPr lang="en-US" sz="1800" b="0" i="0" kern="1200" dirty="0">
                          <a:solidFill>
                            <a:schemeClr val="dk1"/>
                          </a:solidFill>
                          <a:effectLst/>
                          <a:latin typeface="+mn-lt"/>
                          <a:ea typeface="+mn-ea"/>
                          <a:cs typeface="+mn-cs"/>
                        </a:rPr>
                        <a:t> data type or char data</a:t>
                      </a:r>
                      <a:r>
                        <a:rPr lang="en-US" sz="1800" b="0" i="0" kern="1200" baseline="0" dirty="0">
                          <a:solidFill>
                            <a:schemeClr val="dk1"/>
                          </a:solidFill>
                          <a:effectLst/>
                          <a:latin typeface="+mn-lt"/>
                          <a:ea typeface="+mn-ea"/>
                          <a:cs typeface="+mn-cs"/>
                        </a:rPr>
                        <a:t> type value</a:t>
                      </a:r>
                      <a:endParaRPr lang="en-IN" dirty="0"/>
                    </a:p>
                  </a:txBody>
                  <a:tcPr anchor="ctr"/>
                </a:tc>
                <a:extLst>
                  <a:ext uri="{0D108BD9-81ED-4DB2-BD59-A6C34878D82A}">
                    <a16:rowId xmlns:a16="http://schemas.microsoft.com/office/drawing/2014/main" xmlns="" val="10002"/>
                  </a:ext>
                </a:extLst>
              </a:tr>
              <a:tr h="607047">
                <a:tc>
                  <a:txBody>
                    <a:bodyPr/>
                    <a:lstStyle/>
                    <a:p>
                      <a:pPr algn="l"/>
                      <a:r>
                        <a:rPr lang="en-IN" dirty="0"/>
                        <a:t>More than one</a:t>
                      </a:r>
                      <a:r>
                        <a:rPr lang="en-IN" baseline="0" dirty="0"/>
                        <a:t> similar condition can be specified in if-else</a:t>
                      </a:r>
                      <a:endParaRPr lang="en-IN" dirty="0"/>
                    </a:p>
                  </a:txBody>
                  <a:tcPr anchor="ctr"/>
                </a:tc>
                <a:tc>
                  <a:txBody>
                    <a:bodyPr/>
                    <a:lstStyle/>
                    <a:p>
                      <a:pPr algn="l"/>
                      <a:r>
                        <a:rPr lang="en-IN" dirty="0"/>
                        <a:t>Case value specified in switch</a:t>
                      </a:r>
                      <a:r>
                        <a:rPr lang="en-IN" baseline="0" dirty="0"/>
                        <a:t> must be unique</a:t>
                      </a:r>
                      <a:endParaRPr lang="en-IN" dirty="0"/>
                    </a:p>
                  </a:txBody>
                  <a:tcPr anchor="ctr"/>
                </a:tc>
                <a:extLst>
                  <a:ext uri="{0D108BD9-81ED-4DB2-BD59-A6C34878D82A}">
                    <a16:rowId xmlns:a16="http://schemas.microsoft.com/office/drawing/2014/main" xmlns="" val="10003"/>
                  </a:ext>
                </a:extLst>
              </a:tr>
              <a:tr h="867211">
                <a:tc>
                  <a:txBody>
                    <a:bodyPr/>
                    <a:lstStyle/>
                    <a:p>
                      <a:pPr algn="l"/>
                      <a:r>
                        <a:rPr lang="en-IN" dirty="0"/>
                        <a:t>else</a:t>
                      </a:r>
                      <a:r>
                        <a:rPr lang="en-IN" baseline="0" dirty="0"/>
                        <a:t> statement at the end can be used to denote any condition other than specified previously.</a:t>
                      </a:r>
                      <a:endParaRPr lang="en-IN" dirty="0"/>
                    </a:p>
                  </a:txBody>
                  <a:tcPr anchor="ctr"/>
                </a:tc>
                <a:tc>
                  <a:txBody>
                    <a:bodyPr/>
                    <a:lstStyle/>
                    <a:p>
                      <a:pPr algn="l"/>
                      <a:r>
                        <a:rPr lang="en-IN" dirty="0"/>
                        <a:t>default case can</a:t>
                      </a:r>
                      <a:r>
                        <a:rPr lang="en-IN" baseline="0" dirty="0"/>
                        <a:t> be used to denote any value other than specified previously</a:t>
                      </a:r>
                      <a:endParaRPr lang="en-IN" dirty="0"/>
                    </a:p>
                  </a:txBody>
                  <a:tcPr anchor="ct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312052935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36128" y="371061"/>
            <a:ext cx="6610130" cy="4174436"/>
          </a:xfrm>
        </p:spPr>
        <p:txBody>
          <a:bodyPr>
            <a:noAutofit/>
          </a:bodyPr>
          <a:lstStyle/>
          <a:p>
            <a:r>
              <a:rPr lang="en-US" sz="3200" b="1" dirty="0">
                <a:latin typeface="Montserrat" panose="020B0604020202020204" charset="0"/>
                <a:ea typeface="Times New Roman" panose="02020603050405020304" pitchFamily="18" charset="0"/>
              </a:rPr>
              <a:t/>
            </a:r>
            <a:br>
              <a:rPr lang="en-US" sz="3200" b="1" dirty="0">
                <a:latin typeface="Montserrat" panose="020B0604020202020204" charset="0"/>
                <a:ea typeface="Times New Roman" panose="02020603050405020304" pitchFamily="18" charset="0"/>
              </a:rPr>
            </a:br>
            <a:r>
              <a:rPr lang="en-US" sz="3200" b="1" dirty="0">
                <a:latin typeface="Montserrat" panose="020B0604020202020204" charset="0"/>
                <a:ea typeface="Times New Roman" panose="02020603050405020304" pitchFamily="18" charset="0"/>
              </a:rPr>
              <a:t>Structured Programming:</a:t>
            </a:r>
            <a:br>
              <a:rPr lang="en-US" sz="3200" b="1" dirty="0">
                <a:latin typeface="Montserrat" panose="020B0604020202020204" charset="0"/>
                <a:ea typeface="Times New Roman" panose="02020603050405020304" pitchFamily="18" charset="0"/>
              </a:rPr>
            </a:br>
            <a:r>
              <a:rPr lang="en-US" sz="3200" dirty="0"/>
              <a:t>Control Statements –Looping control statements, break, continue, </a:t>
            </a:r>
            <a:r>
              <a:rPr lang="en-US" sz="3200" dirty="0" err="1"/>
              <a:t>goto</a:t>
            </a:r>
            <a:r>
              <a:rPr lang="en-US" sz="3200" dirty="0"/>
              <a:t> statements</a:t>
            </a:r>
          </a:p>
        </p:txBody>
      </p:sp>
    </p:spTree>
    <p:extLst>
      <p:ext uri="{BB962C8B-B14F-4D97-AF65-F5344CB8AC3E}">
        <p14:creationId xmlns:p14="http://schemas.microsoft.com/office/powerpoint/2010/main" val="118894698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B6C1986-398D-4469-8C76-EC558FDC8DFC}"/>
              </a:ext>
            </a:extLst>
          </p:cNvPr>
          <p:cNvSpPr>
            <a:spLocks noGrp="1"/>
          </p:cNvSpPr>
          <p:nvPr>
            <p:ph type="title"/>
          </p:nvPr>
        </p:nvSpPr>
        <p:spPr/>
        <p:txBody>
          <a:bodyPr/>
          <a:lstStyle/>
          <a:p>
            <a:r>
              <a:rPr lang="en-IN" dirty="0"/>
              <a:t>Looping / Iteration</a:t>
            </a:r>
          </a:p>
        </p:txBody>
      </p:sp>
      <p:sp>
        <p:nvSpPr>
          <p:cNvPr id="3" name="Content Placeholder 2">
            <a:extLst>
              <a:ext uri="{FF2B5EF4-FFF2-40B4-BE49-F238E27FC236}">
                <a16:creationId xmlns:a16="http://schemas.microsoft.com/office/drawing/2014/main" xmlns="" id="{7FA5F18A-F4D2-48A6-8A1B-7F65C8A2CBFD}"/>
              </a:ext>
            </a:extLst>
          </p:cNvPr>
          <p:cNvSpPr>
            <a:spLocks noGrp="1"/>
          </p:cNvSpPr>
          <p:nvPr>
            <p:ph idx="1"/>
          </p:nvPr>
        </p:nvSpPr>
        <p:spPr/>
        <p:txBody>
          <a:bodyPr>
            <a:normAutofit/>
          </a:bodyPr>
          <a:lstStyle/>
          <a:p>
            <a:pPr>
              <a:lnSpc>
                <a:spcPct val="80000"/>
              </a:lnSpc>
              <a:buClr>
                <a:schemeClr val="tx1"/>
              </a:buClr>
            </a:pPr>
            <a:r>
              <a:rPr lang="en-US" altLang="en-US" dirty="0">
                <a:latin typeface="+mj-lt"/>
              </a:rPr>
              <a:t>Loop - A segment of the program that is executed repeatedly</a:t>
            </a:r>
          </a:p>
          <a:p>
            <a:pPr>
              <a:lnSpc>
                <a:spcPct val="80000"/>
              </a:lnSpc>
              <a:buClr>
                <a:schemeClr val="tx1"/>
              </a:buClr>
            </a:pPr>
            <a:r>
              <a:rPr lang="en-US" altLang="en-US" dirty="0">
                <a:latin typeface="+mj-lt"/>
              </a:rPr>
              <a:t>Some portion of the program needs to be specified several number of times or until a particular condition is satisfied.</a:t>
            </a:r>
          </a:p>
          <a:p>
            <a:pPr>
              <a:lnSpc>
                <a:spcPct val="80000"/>
              </a:lnSpc>
              <a:buClr>
                <a:schemeClr val="tx1"/>
              </a:buClr>
            </a:pPr>
            <a:r>
              <a:rPr lang="en-US" altLang="en-US" dirty="0">
                <a:latin typeface="+mj-lt"/>
              </a:rPr>
              <a:t>Types of looping statements in C</a:t>
            </a:r>
          </a:p>
          <a:p>
            <a:pPr lvl="1">
              <a:lnSpc>
                <a:spcPct val="80000"/>
              </a:lnSpc>
              <a:buClr>
                <a:schemeClr val="tx1"/>
              </a:buClr>
            </a:pPr>
            <a:r>
              <a:rPr lang="en-US" altLang="en-US" sz="2800" dirty="0">
                <a:latin typeface="+mj-lt"/>
              </a:rPr>
              <a:t>while loop</a:t>
            </a:r>
          </a:p>
          <a:p>
            <a:pPr lvl="1">
              <a:lnSpc>
                <a:spcPct val="80000"/>
              </a:lnSpc>
              <a:buClr>
                <a:schemeClr val="tx1"/>
              </a:buClr>
            </a:pPr>
            <a:r>
              <a:rPr lang="en-US" altLang="en-US" sz="2800" dirty="0">
                <a:latin typeface="+mj-lt"/>
              </a:rPr>
              <a:t>do…while loop</a:t>
            </a:r>
          </a:p>
          <a:p>
            <a:pPr lvl="1">
              <a:lnSpc>
                <a:spcPct val="80000"/>
              </a:lnSpc>
              <a:buClr>
                <a:schemeClr val="tx1"/>
              </a:buClr>
            </a:pPr>
            <a:r>
              <a:rPr lang="en-US" altLang="en-US" sz="2800" dirty="0">
                <a:latin typeface="+mj-lt"/>
              </a:rPr>
              <a:t>for loop</a:t>
            </a:r>
            <a:r>
              <a:rPr lang="en-US" altLang="en-US" dirty="0">
                <a:latin typeface="+mj-lt"/>
              </a:rPr>
              <a:t> </a:t>
            </a:r>
          </a:p>
          <a:p>
            <a:endParaRPr lang="en-IN" dirty="0">
              <a:latin typeface="+mj-lt"/>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xmlns="" id="{816240E6-AEB4-43C6-B4CE-8CA3340D55DE}"/>
                  </a:ext>
                </a:extLst>
              </p14:cNvPr>
              <p14:cNvContentPartPr/>
              <p14:nvPr/>
            </p14:nvContentPartPr>
            <p14:xfrm>
              <a:off x="9947520" y="5384520"/>
              <a:ext cx="360" cy="360"/>
            </p14:xfrm>
          </p:contentPart>
        </mc:Choice>
        <mc:Fallback xmlns="">
          <p:pic>
            <p:nvPicPr>
              <p:cNvPr id="4" name="Ink 3">
                <a:extLst>
                  <a:ext uri="{FF2B5EF4-FFF2-40B4-BE49-F238E27FC236}">
                    <a16:creationId xmlns:a16="http://schemas.microsoft.com/office/drawing/2014/main" id="{816240E6-AEB4-43C6-B4CE-8CA3340D55DE}"/>
                  </a:ext>
                </a:extLst>
              </p:cNvPr>
              <p:cNvPicPr/>
              <p:nvPr/>
            </p:nvPicPr>
            <p:blipFill>
              <a:blip r:embed="rId3"/>
              <a:stretch>
                <a:fillRect/>
              </a:stretch>
            </p:blipFill>
            <p:spPr>
              <a:xfrm>
                <a:off x="9938160" y="5375160"/>
                <a:ext cx="19080" cy="19080"/>
              </a:xfrm>
              <a:prstGeom prst="rect">
                <a:avLst/>
              </a:prstGeom>
            </p:spPr>
          </p:pic>
        </mc:Fallback>
      </mc:AlternateContent>
    </p:spTree>
    <p:extLst>
      <p:ext uri="{BB962C8B-B14F-4D97-AF65-F5344CB8AC3E}">
        <p14:creationId xmlns:p14="http://schemas.microsoft.com/office/powerpoint/2010/main" val="69800068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9F4CBB-FFFD-41D9-99D9-8BA8A9B9A019}"/>
              </a:ext>
            </a:extLst>
          </p:cNvPr>
          <p:cNvSpPr>
            <a:spLocks noGrp="1"/>
          </p:cNvSpPr>
          <p:nvPr>
            <p:ph type="title"/>
          </p:nvPr>
        </p:nvSpPr>
        <p:spPr/>
        <p:txBody>
          <a:bodyPr/>
          <a:lstStyle/>
          <a:p>
            <a:r>
              <a:rPr lang="en-IN" dirty="0"/>
              <a:t>Looping / Iteration – </a:t>
            </a:r>
            <a:r>
              <a:rPr lang="en-IN" dirty="0" err="1"/>
              <a:t>contd</a:t>
            </a:r>
            <a:r>
              <a:rPr lang="en-IN" dirty="0"/>
              <a:t>…</a:t>
            </a:r>
          </a:p>
        </p:txBody>
      </p:sp>
      <p:sp>
        <p:nvSpPr>
          <p:cNvPr id="3" name="Content Placeholder 2">
            <a:extLst>
              <a:ext uri="{FF2B5EF4-FFF2-40B4-BE49-F238E27FC236}">
                <a16:creationId xmlns:a16="http://schemas.microsoft.com/office/drawing/2014/main" xmlns="" id="{7D349CFF-3109-4BA7-A38C-0EF2E4428ED6}"/>
              </a:ext>
            </a:extLst>
          </p:cNvPr>
          <p:cNvSpPr>
            <a:spLocks noGrp="1"/>
          </p:cNvSpPr>
          <p:nvPr>
            <p:ph sz="half" idx="1"/>
          </p:nvPr>
        </p:nvSpPr>
        <p:spPr/>
        <p:txBody>
          <a:bodyPr>
            <a:normAutofit/>
          </a:bodyPr>
          <a:lstStyle/>
          <a:p>
            <a:pPr>
              <a:lnSpc>
                <a:spcPct val="105000"/>
              </a:lnSpc>
              <a:buNone/>
            </a:pPr>
            <a:r>
              <a:rPr lang="en-US" altLang="en-US" sz="2200" b="1" dirty="0">
                <a:latin typeface="+mj-lt"/>
              </a:rPr>
              <a:t>Two parts:</a:t>
            </a:r>
          </a:p>
          <a:p>
            <a:pPr>
              <a:lnSpc>
                <a:spcPct val="105000"/>
              </a:lnSpc>
              <a:buNone/>
            </a:pPr>
            <a:r>
              <a:rPr lang="en-US" altLang="en-US" sz="2200" b="1" i="1" dirty="0">
                <a:latin typeface="+mj-lt"/>
              </a:rPr>
              <a:t>Control expressions:</a:t>
            </a:r>
            <a:r>
              <a:rPr lang="en-US" altLang="en-US" sz="2200" i="1" dirty="0">
                <a:latin typeface="+mj-lt"/>
              </a:rPr>
              <a:t> O</a:t>
            </a:r>
            <a:r>
              <a:rPr lang="en-US" altLang="en-US" sz="2200" dirty="0">
                <a:latin typeface="+mj-lt"/>
              </a:rPr>
              <a:t>ne or more </a:t>
            </a:r>
            <a:r>
              <a:rPr lang="en-US" altLang="en-US" sz="2200" i="1" dirty="0">
                <a:latin typeface="+mj-lt"/>
              </a:rPr>
              <a:t>control expressions</a:t>
            </a:r>
            <a:r>
              <a:rPr lang="en-US" altLang="en-US" sz="2200" dirty="0">
                <a:latin typeface="+mj-lt"/>
              </a:rPr>
              <a:t> which control the execution of the loop </a:t>
            </a:r>
          </a:p>
          <a:p>
            <a:pPr>
              <a:lnSpc>
                <a:spcPct val="105000"/>
              </a:lnSpc>
              <a:buNone/>
            </a:pPr>
            <a:r>
              <a:rPr lang="en-US" altLang="en-US" sz="2200" b="1" i="1" dirty="0">
                <a:latin typeface="+mj-lt"/>
              </a:rPr>
              <a:t>Body :</a:t>
            </a:r>
            <a:r>
              <a:rPr lang="en-US" altLang="en-US" sz="2200" dirty="0">
                <a:latin typeface="+mj-lt"/>
              </a:rPr>
              <a:t> which is the statement or set of statements which is executed over and over </a:t>
            </a:r>
          </a:p>
          <a:p>
            <a:endParaRPr lang="en-IN" sz="2200" dirty="0"/>
          </a:p>
        </p:txBody>
      </p:sp>
      <p:sp>
        <p:nvSpPr>
          <p:cNvPr id="4" name="Content Placeholder 3">
            <a:extLst>
              <a:ext uri="{FF2B5EF4-FFF2-40B4-BE49-F238E27FC236}">
                <a16:creationId xmlns:a16="http://schemas.microsoft.com/office/drawing/2014/main" xmlns="" id="{6005473D-793F-4994-A52E-D555C01CCB69}"/>
              </a:ext>
            </a:extLst>
          </p:cNvPr>
          <p:cNvSpPr>
            <a:spLocks noGrp="1"/>
          </p:cNvSpPr>
          <p:nvPr>
            <p:ph sz="half" idx="2"/>
          </p:nvPr>
        </p:nvSpPr>
        <p:spPr/>
        <p:txBody>
          <a:bodyPr>
            <a:normAutofit/>
          </a:bodyPr>
          <a:lstStyle/>
          <a:p>
            <a:pPr>
              <a:buFontTx/>
              <a:buNone/>
            </a:pPr>
            <a:r>
              <a:rPr lang="en-US" altLang="en-US" sz="2200" b="1" dirty="0">
                <a:latin typeface="+mj-lt"/>
              </a:rPr>
              <a:t>Steps</a:t>
            </a:r>
          </a:p>
          <a:p>
            <a:r>
              <a:rPr lang="en-US" altLang="en-US" sz="2200" dirty="0">
                <a:latin typeface="+mj-lt"/>
              </a:rPr>
              <a:t>Initialization of a condition variable</a:t>
            </a:r>
          </a:p>
          <a:p>
            <a:r>
              <a:rPr lang="en-US" altLang="en-US" sz="2200" dirty="0">
                <a:latin typeface="+mj-lt"/>
              </a:rPr>
              <a:t>Test the control statement</a:t>
            </a:r>
          </a:p>
          <a:p>
            <a:r>
              <a:rPr lang="en-US" altLang="en-US" sz="2200" dirty="0">
                <a:latin typeface="+mj-lt"/>
              </a:rPr>
              <a:t>Executing the body of the loop depending on the condition</a:t>
            </a:r>
          </a:p>
          <a:p>
            <a:r>
              <a:rPr lang="en-US" altLang="en-US" sz="2200" dirty="0">
                <a:latin typeface="+mj-lt"/>
              </a:rPr>
              <a:t>Updating the condition variable</a:t>
            </a:r>
          </a:p>
          <a:p>
            <a:endParaRPr lang="en-IN" dirty="0"/>
          </a:p>
        </p:txBody>
      </p:sp>
    </p:spTree>
    <p:extLst>
      <p:ext uri="{BB962C8B-B14F-4D97-AF65-F5344CB8AC3E}">
        <p14:creationId xmlns:p14="http://schemas.microsoft.com/office/powerpoint/2010/main" val="350494524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6BAB789-A6FE-4C03-A790-E977F4C99EB0}"/>
              </a:ext>
            </a:extLst>
          </p:cNvPr>
          <p:cNvSpPr>
            <a:spLocks noGrp="1"/>
          </p:cNvSpPr>
          <p:nvPr>
            <p:ph type="title"/>
          </p:nvPr>
        </p:nvSpPr>
        <p:spPr/>
        <p:txBody>
          <a:bodyPr>
            <a:normAutofit/>
          </a:bodyPr>
          <a:lstStyle/>
          <a:p>
            <a:pPr algn="ctr"/>
            <a:r>
              <a:rPr lang="en-US" sz="1800" dirty="0">
                <a:effectLst/>
                <a:latin typeface="Times New Roman" panose="02020603050405020304" pitchFamily="18" charset="0"/>
                <a:ea typeface="Times New Roman" panose="02020603050405020304" pitchFamily="18" charset="0"/>
              </a:rPr>
              <a:t>                    </a:t>
            </a:r>
            <a:r>
              <a:rPr lang="en-US" dirty="0">
                <a:effectLst/>
                <a:latin typeface="Montserrat" panose="020B0604020202020204" charset="0"/>
                <a:ea typeface="Times New Roman" panose="02020603050405020304" pitchFamily="18" charset="0"/>
              </a:rPr>
              <a:t>while </a:t>
            </a:r>
            <a:r>
              <a:rPr lang="en-US" dirty="0">
                <a:latin typeface="Montserrat" panose="020B0604020202020204" charset="0"/>
                <a:ea typeface="Times New Roman" panose="02020603050405020304" pitchFamily="18" charset="0"/>
              </a:rPr>
              <a:t>s</a:t>
            </a:r>
            <a:r>
              <a:rPr lang="en-US" dirty="0">
                <a:effectLst/>
                <a:latin typeface="Montserrat" panose="020B0604020202020204" charset="0"/>
                <a:ea typeface="Times New Roman" panose="02020603050405020304" pitchFamily="18" charset="0"/>
              </a:rPr>
              <a:t>tatement</a:t>
            </a:r>
            <a:endParaRPr lang="en-IN" dirty="0">
              <a:latin typeface="Montserrat" panose="020B0604020202020204" charset="0"/>
            </a:endParaRPr>
          </a:p>
        </p:txBody>
      </p:sp>
      <p:sp>
        <p:nvSpPr>
          <p:cNvPr id="3" name="Content Placeholder 2">
            <a:extLst>
              <a:ext uri="{FF2B5EF4-FFF2-40B4-BE49-F238E27FC236}">
                <a16:creationId xmlns:a16="http://schemas.microsoft.com/office/drawing/2014/main" xmlns="" id="{767A0D01-D0AA-47AE-BDD9-6F463BD131F2}"/>
              </a:ext>
            </a:extLst>
          </p:cNvPr>
          <p:cNvSpPr>
            <a:spLocks noGrp="1"/>
          </p:cNvSpPr>
          <p:nvPr>
            <p:ph sz="half" idx="1"/>
          </p:nvPr>
        </p:nvSpPr>
        <p:spPr>
          <a:xfrm>
            <a:off x="553940" y="2030088"/>
            <a:ext cx="4876800" cy="4590288"/>
          </a:xfrm>
        </p:spPr>
        <p:txBody>
          <a:bodyPr>
            <a:normAutofit/>
          </a:bodyPr>
          <a:lstStyle/>
          <a:p>
            <a:endParaRPr lang="en-US" altLang="en-US" sz="2000" dirty="0">
              <a:latin typeface="Montserrat" panose="020B0604020202020204" charset="0"/>
            </a:endParaRPr>
          </a:p>
          <a:p>
            <a:endParaRPr lang="en-US" altLang="en-US" sz="2000" dirty="0">
              <a:latin typeface="Montserrat" panose="020B0604020202020204" charset="0"/>
            </a:endParaRPr>
          </a:p>
          <a:p>
            <a:endParaRPr lang="en-US" altLang="en-US" sz="2000" dirty="0">
              <a:latin typeface="Montserrat" panose="020B0604020202020204" charset="0"/>
            </a:endParaRPr>
          </a:p>
          <a:p>
            <a:endParaRPr lang="en-US" altLang="en-US" sz="2000" dirty="0">
              <a:latin typeface="Montserrat" panose="020B0604020202020204" charset="0"/>
            </a:endParaRPr>
          </a:p>
          <a:p>
            <a:r>
              <a:rPr lang="en-US" altLang="en-US" sz="2000" dirty="0">
                <a:latin typeface="Montserrat" panose="020B0604020202020204" charset="0"/>
              </a:rPr>
              <a:t>Entry controlled loop statement </a:t>
            </a:r>
          </a:p>
          <a:p>
            <a:r>
              <a:rPr lang="en-US" sz="2000" dirty="0">
                <a:effectLst/>
                <a:latin typeface="Montserrat" panose="020B0604020202020204" charset="0"/>
                <a:ea typeface="Times New Roman" panose="02020603050405020304" pitchFamily="18" charset="0"/>
              </a:rPr>
              <a:t>Expression or condition is evaluated, and the body of the loop is executed until the expression or condition </a:t>
            </a:r>
            <a:r>
              <a:rPr lang="en-US" sz="2000" dirty="0">
                <a:latin typeface="Montserrat" panose="020B0604020202020204" charset="0"/>
                <a:ea typeface="Times New Roman" panose="02020603050405020304" pitchFamily="18" charset="0"/>
              </a:rPr>
              <a:t>become</a:t>
            </a:r>
            <a:r>
              <a:rPr lang="en-US" sz="2000" dirty="0">
                <a:effectLst/>
                <a:latin typeface="Montserrat" panose="020B0604020202020204" charset="0"/>
                <a:ea typeface="Times New Roman" panose="02020603050405020304" pitchFamily="18" charset="0"/>
              </a:rPr>
              <a:t>s false. </a:t>
            </a:r>
          </a:p>
          <a:p>
            <a:r>
              <a:rPr lang="en-US" sz="2000" dirty="0">
                <a:latin typeface="Montserrat" panose="020B0604020202020204" charset="0"/>
                <a:ea typeface="Times New Roman" panose="02020603050405020304" pitchFamily="18" charset="0"/>
              </a:rPr>
              <a:t>When the expression or condition becomes false, t</a:t>
            </a:r>
            <a:r>
              <a:rPr lang="en-US" sz="2000" dirty="0">
                <a:effectLst/>
                <a:latin typeface="Montserrat" panose="020B0604020202020204" charset="0"/>
                <a:ea typeface="Times New Roman" panose="02020603050405020304" pitchFamily="18" charset="0"/>
              </a:rPr>
              <a:t>he control is transferred out of the loop.</a:t>
            </a:r>
            <a:endParaRPr lang="en-IN" sz="2000" dirty="0">
              <a:latin typeface="Montserrat" panose="020B0604020202020204" charset="0"/>
            </a:endParaRPr>
          </a:p>
        </p:txBody>
      </p:sp>
      <p:grpSp>
        <p:nvGrpSpPr>
          <p:cNvPr id="56" name="Group 55">
            <a:extLst>
              <a:ext uri="{FF2B5EF4-FFF2-40B4-BE49-F238E27FC236}">
                <a16:creationId xmlns:a16="http://schemas.microsoft.com/office/drawing/2014/main" xmlns="" id="{F982EA56-A33C-4E11-9FB2-4022EB475BBA}"/>
              </a:ext>
            </a:extLst>
          </p:cNvPr>
          <p:cNvGrpSpPr/>
          <p:nvPr/>
        </p:nvGrpSpPr>
        <p:grpSpPr>
          <a:xfrm>
            <a:off x="5724939" y="1470991"/>
            <a:ext cx="5221357" cy="5021884"/>
            <a:chOff x="3733799" y="215347"/>
            <a:chExt cx="6096000" cy="6324600"/>
          </a:xfrm>
        </p:grpSpPr>
        <p:sp>
          <p:nvSpPr>
            <p:cNvPr id="57" name="AutoShape 4">
              <a:extLst>
                <a:ext uri="{FF2B5EF4-FFF2-40B4-BE49-F238E27FC236}">
                  <a16:creationId xmlns:a16="http://schemas.microsoft.com/office/drawing/2014/main" xmlns="" id="{FED74B3D-87D6-49C7-9635-3F1C15CFC648}"/>
                </a:ext>
              </a:extLst>
            </p:cNvPr>
            <p:cNvSpPr>
              <a:spLocks noChangeArrowheads="1"/>
            </p:cNvSpPr>
            <p:nvPr/>
          </p:nvSpPr>
          <p:spPr bwMode="auto">
            <a:xfrm>
              <a:off x="4876798" y="2286000"/>
              <a:ext cx="1981200" cy="1752600"/>
            </a:xfrm>
            <a:prstGeom prst="diamond">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dirty="0">
                  <a:latin typeface="Times New Roman" panose="02020603050405020304" pitchFamily="18" charset="0"/>
                </a:rPr>
                <a:t>Test Condition</a:t>
              </a:r>
            </a:p>
          </p:txBody>
        </p:sp>
        <p:sp>
          <p:nvSpPr>
            <p:cNvPr id="58" name="AutoShape 7">
              <a:extLst>
                <a:ext uri="{FF2B5EF4-FFF2-40B4-BE49-F238E27FC236}">
                  <a16:creationId xmlns:a16="http://schemas.microsoft.com/office/drawing/2014/main" xmlns="" id="{D0CFDC80-B9AB-45F7-8E12-17218EF94C0E}"/>
                </a:ext>
              </a:extLst>
            </p:cNvPr>
            <p:cNvSpPr>
              <a:spLocks noChangeArrowheads="1"/>
            </p:cNvSpPr>
            <p:nvPr/>
          </p:nvSpPr>
          <p:spPr bwMode="auto">
            <a:xfrm>
              <a:off x="8229599" y="3810000"/>
              <a:ext cx="1600200" cy="6858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a:latin typeface="Times New Roman" panose="02020603050405020304" pitchFamily="18" charset="0"/>
                </a:rPr>
                <a:t>Stop</a:t>
              </a:r>
            </a:p>
          </p:txBody>
        </p:sp>
        <p:sp>
          <p:nvSpPr>
            <p:cNvPr id="59" name="Line 14">
              <a:extLst>
                <a:ext uri="{FF2B5EF4-FFF2-40B4-BE49-F238E27FC236}">
                  <a16:creationId xmlns:a16="http://schemas.microsoft.com/office/drawing/2014/main" xmlns="" id="{2B9C6BF6-4F2C-4615-8246-A3A810144A6F}"/>
                </a:ext>
              </a:extLst>
            </p:cNvPr>
            <p:cNvSpPr>
              <a:spLocks noChangeShapeType="1"/>
            </p:cNvSpPr>
            <p:nvPr/>
          </p:nvSpPr>
          <p:spPr bwMode="auto">
            <a:xfrm>
              <a:off x="6857999" y="3124200"/>
              <a:ext cx="213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 name="Line 15">
              <a:extLst>
                <a:ext uri="{FF2B5EF4-FFF2-40B4-BE49-F238E27FC236}">
                  <a16:creationId xmlns:a16="http://schemas.microsoft.com/office/drawing/2014/main" xmlns="" id="{E333E095-B8D9-4913-8FA5-93EBCAB958D6}"/>
                </a:ext>
              </a:extLst>
            </p:cNvPr>
            <p:cNvSpPr>
              <a:spLocks noChangeShapeType="1"/>
            </p:cNvSpPr>
            <p:nvPr/>
          </p:nvSpPr>
          <p:spPr bwMode="auto">
            <a:xfrm>
              <a:off x="8991599" y="31242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 name="Text Box 17">
              <a:extLst>
                <a:ext uri="{FF2B5EF4-FFF2-40B4-BE49-F238E27FC236}">
                  <a16:creationId xmlns:a16="http://schemas.microsoft.com/office/drawing/2014/main" xmlns="" id="{D42BA603-F3B6-4F3D-A027-9A79F64C2419}"/>
                </a:ext>
              </a:extLst>
            </p:cNvPr>
            <p:cNvSpPr txBox="1">
              <a:spLocks noChangeArrowheads="1"/>
            </p:cNvSpPr>
            <p:nvPr/>
          </p:nvSpPr>
          <p:spPr bwMode="auto">
            <a:xfrm>
              <a:off x="7010398" y="2713045"/>
              <a:ext cx="1219201" cy="417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en-US" sz="1400" b="1" dirty="0">
                  <a:latin typeface="Times New Roman" panose="02020603050405020304" pitchFamily="18" charset="0"/>
                </a:rPr>
                <a:t>False</a:t>
              </a:r>
            </a:p>
          </p:txBody>
        </p:sp>
        <p:sp>
          <p:nvSpPr>
            <p:cNvPr id="62" name="AutoShape 2">
              <a:extLst>
                <a:ext uri="{FF2B5EF4-FFF2-40B4-BE49-F238E27FC236}">
                  <a16:creationId xmlns:a16="http://schemas.microsoft.com/office/drawing/2014/main" xmlns="" id="{66FCB9D5-8384-4C84-99AF-EC8F7AF6AE5D}"/>
                </a:ext>
              </a:extLst>
            </p:cNvPr>
            <p:cNvSpPr>
              <a:spLocks noChangeArrowheads="1"/>
            </p:cNvSpPr>
            <p:nvPr/>
          </p:nvSpPr>
          <p:spPr bwMode="auto">
            <a:xfrm>
              <a:off x="5029199" y="215347"/>
              <a:ext cx="1600200" cy="6858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dirty="0">
                  <a:latin typeface="Times New Roman" panose="02020603050405020304" pitchFamily="18" charset="0"/>
                </a:rPr>
                <a:t>Start</a:t>
              </a:r>
            </a:p>
          </p:txBody>
        </p:sp>
        <p:sp>
          <p:nvSpPr>
            <p:cNvPr id="63" name="Rectangle 3">
              <a:extLst>
                <a:ext uri="{FF2B5EF4-FFF2-40B4-BE49-F238E27FC236}">
                  <a16:creationId xmlns:a16="http://schemas.microsoft.com/office/drawing/2014/main" xmlns="" id="{9910585E-63A4-48A8-916B-393429FB5CA5}"/>
                </a:ext>
              </a:extLst>
            </p:cNvPr>
            <p:cNvSpPr>
              <a:spLocks noChangeArrowheads="1"/>
            </p:cNvSpPr>
            <p:nvPr/>
          </p:nvSpPr>
          <p:spPr bwMode="auto">
            <a:xfrm>
              <a:off x="5029199" y="1205947"/>
              <a:ext cx="1600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dirty="0">
                  <a:latin typeface="Times New Roman" panose="02020603050405020304" pitchFamily="18" charset="0"/>
                </a:rPr>
                <a:t>Initialize</a:t>
              </a:r>
            </a:p>
          </p:txBody>
        </p:sp>
        <p:sp>
          <p:nvSpPr>
            <p:cNvPr id="64" name="Line 8">
              <a:extLst>
                <a:ext uri="{FF2B5EF4-FFF2-40B4-BE49-F238E27FC236}">
                  <a16:creationId xmlns:a16="http://schemas.microsoft.com/office/drawing/2014/main" xmlns="" id="{8116E1F2-8523-4236-AA69-D79C0A24CBAC}"/>
                </a:ext>
              </a:extLst>
            </p:cNvPr>
            <p:cNvSpPr>
              <a:spLocks noChangeShapeType="1"/>
            </p:cNvSpPr>
            <p:nvPr/>
          </p:nvSpPr>
          <p:spPr bwMode="auto">
            <a:xfrm>
              <a:off x="5867399" y="901147"/>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 name="Line 9">
              <a:extLst>
                <a:ext uri="{FF2B5EF4-FFF2-40B4-BE49-F238E27FC236}">
                  <a16:creationId xmlns:a16="http://schemas.microsoft.com/office/drawing/2014/main" xmlns="" id="{9F09341B-48EC-40A4-AF24-6FD07FC4CBAD}"/>
                </a:ext>
              </a:extLst>
            </p:cNvPr>
            <p:cNvSpPr>
              <a:spLocks noChangeShapeType="1"/>
            </p:cNvSpPr>
            <p:nvPr/>
          </p:nvSpPr>
          <p:spPr bwMode="auto">
            <a:xfrm>
              <a:off x="5867399" y="1815547"/>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 name="Line 12">
              <a:extLst>
                <a:ext uri="{FF2B5EF4-FFF2-40B4-BE49-F238E27FC236}">
                  <a16:creationId xmlns:a16="http://schemas.microsoft.com/office/drawing/2014/main" xmlns="" id="{D7F31457-7913-401D-A3CF-78C0783FCD55}"/>
                </a:ext>
              </a:extLst>
            </p:cNvPr>
            <p:cNvSpPr>
              <a:spLocks noChangeShapeType="1"/>
            </p:cNvSpPr>
            <p:nvPr/>
          </p:nvSpPr>
          <p:spPr bwMode="auto">
            <a:xfrm flipH="1">
              <a:off x="3733800" y="6539947"/>
              <a:ext cx="213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 name="Line 13">
              <a:extLst>
                <a:ext uri="{FF2B5EF4-FFF2-40B4-BE49-F238E27FC236}">
                  <a16:creationId xmlns:a16="http://schemas.microsoft.com/office/drawing/2014/main" xmlns="" id="{93E927A9-08D8-4DC1-9C60-A31F30336E3D}"/>
                </a:ext>
              </a:extLst>
            </p:cNvPr>
            <p:cNvSpPr>
              <a:spLocks noChangeShapeType="1"/>
            </p:cNvSpPr>
            <p:nvPr/>
          </p:nvSpPr>
          <p:spPr bwMode="auto">
            <a:xfrm>
              <a:off x="3733799" y="2044147"/>
              <a:ext cx="213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 name="Rectangle 5">
              <a:extLst>
                <a:ext uri="{FF2B5EF4-FFF2-40B4-BE49-F238E27FC236}">
                  <a16:creationId xmlns:a16="http://schemas.microsoft.com/office/drawing/2014/main" xmlns="" id="{02E98351-B151-45EA-9C44-1CF889760FA8}"/>
                </a:ext>
              </a:extLst>
            </p:cNvPr>
            <p:cNvSpPr>
              <a:spLocks noChangeArrowheads="1"/>
            </p:cNvSpPr>
            <p:nvPr/>
          </p:nvSpPr>
          <p:spPr bwMode="auto">
            <a:xfrm>
              <a:off x="4724399" y="4482547"/>
              <a:ext cx="2362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a:latin typeface="Times New Roman" panose="02020603050405020304" pitchFamily="18" charset="0"/>
                </a:rPr>
                <a:t>Body of Loop</a:t>
              </a:r>
            </a:p>
          </p:txBody>
        </p:sp>
        <p:sp>
          <p:nvSpPr>
            <p:cNvPr id="69" name="Rectangle 6">
              <a:extLst>
                <a:ext uri="{FF2B5EF4-FFF2-40B4-BE49-F238E27FC236}">
                  <a16:creationId xmlns:a16="http://schemas.microsoft.com/office/drawing/2014/main" xmlns="" id="{6B6CE608-42F1-438C-9B13-C7768CD27BED}"/>
                </a:ext>
              </a:extLst>
            </p:cNvPr>
            <p:cNvSpPr>
              <a:spLocks noChangeArrowheads="1"/>
            </p:cNvSpPr>
            <p:nvPr/>
          </p:nvSpPr>
          <p:spPr bwMode="auto">
            <a:xfrm>
              <a:off x="3848105" y="5645256"/>
              <a:ext cx="4162133"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dirty="0" err="1">
                  <a:latin typeface="Times New Roman" panose="02020603050405020304" pitchFamily="18" charset="0"/>
                </a:rPr>
                <a:t>updation</a:t>
              </a:r>
              <a:r>
                <a:rPr lang="en-US" altLang="en-US" sz="1600" dirty="0">
                  <a:latin typeface="Times New Roman" panose="02020603050405020304" pitchFamily="18" charset="0"/>
                </a:rPr>
                <a:t> of the control variable</a:t>
              </a:r>
            </a:p>
          </p:txBody>
        </p:sp>
        <p:sp>
          <p:nvSpPr>
            <p:cNvPr id="70" name="Line 10">
              <a:extLst>
                <a:ext uri="{FF2B5EF4-FFF2-40B4-BE49-F238E27FC236}">
                  <a16:creationId xmlns:a16="http://schemas.microsoft.com/office/drawing/2014/main" xmlns="" id="{3B6FAC64-B059-4452-9E35-D0FB5DF4E526}"/>
                </a:ext>
              </a:extLst>
            </p:cNvPr>
            <p:cNvSpPr>
              <a:spLocks noChangeShapeType="1"/>
            </p:cNvSpPr>
            <p:nvPr/>
          </p:nvSpPr>
          <p:spPr bwMode="auto">
            <a:xfrm>
              <a:off x="5867399" y="4025347"/>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 name="Line 11">
              <a:extLst>
                <a:ext uri="{FF2B5EF4-FFF2-40B4-BE49-F238E27FC236}">
                  <a16:creationId xmlns:a16="http://schemas.microsoft.com/office/drawing/2014/main" xmlns="" id="{1C961F28-1EA9-4D21-9D55-2108DAA47066}"/>
                </a:ext>
              </a:extLst>
            </p:cNvPr>
            <p:cNvSpPr>
              <a:spLocks noChangeShapeType="1"/>
            </p:cNvSpPr>
            <p:nvPr/>
          </p:nvSpPr>
          <p:spPr bwMode="auto">
            <a:xfrm>
              <a:off x="5867399" y="5092147"/>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 name="Text Box 18">
              <a:extLst>
                <a:ext uri="{FF2B5EF4-FFF2-40B4-BE49-F238E27FC236}">
                  <a16:creationId xmlns:a16="http://schemas.microsoft.com/office/drawing/2014/main" xmlns="" id="{F95C1331-68DA-4572-A936-241FF23C8A83}"/>
                </a:ext>
              </a:extLst>
            </p:cNvPr>
            <p:cNvSpPr txBox="1">
              <a:spLocks noChangeArrowheads="1"/>
            </p:cNvSpPr>
            <p:nvPr/>
          </p:nvSpPr>
          <p:spPr bwMode="auto">
            <a:xfrm>
              <a:off x="5867398" y="4025345"/>
              <a:ext cx="1142996" cy="417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en-US" sz="1400" b="1" dirty="0">
                  <a:latin typeface="Times New Roman" panose="02020603050405020304" pitchFamily="18" charset="0"/>
                </a:rPr>
                <a:t>True</a:t>
              </a:r>
            </a:p>
          </p:txBody>
        </p:sp>
        <p:sp>
          <p:nvSpPr>
            <p:cNvPr id="73" name="Line 19">
              <a:extLst>
                <a:ext uri="{FF2B5EF4-FFF2-40B4-BE49-F238E27FC236}">
                  <a16:creationId xmlns:a16="http://schemas.microsoft.com/office/drawing/2014/main" xmlns="" id="{8D204555-0BC2-4320-8F67-1FA06ED0CB1F}"/>
                </a:ext>
              </a:extLst>
            </p:cNvPr>
            <p:cNvSpPr>
              <a:spLocks noChangeShapeType="1"/>
            </p:cNvSpPr>
            <p:nvPr/>
          </p:nvSpPr>
          <p:spPr bwMode="auto">
            <a:xfrm>
              <a:off x="3733799" y="2044147"/>
              <a:ext cx="0" cy="449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 name="Line 20">
              <a:extLst>
                <a:ext uri="{FF2B5EF4-FFF2-40B4-BE49-F238E27FC236}">
                  <a16:creationId xmlns:a16="http://schemas.microsoft.com/office/drawing/2014/main" xmlns="" id="{A6211310-9D39-43FB-B8E3-5F92BD0A63F7}"/>
                </a:ext>
              </a:extLst>
            </p:cNvPr>
            <p:cNvSpPr>
              <a:spLocks noChangeShapeType="1"/>
            </p:cNvSpPr>
            <p:nvPr/>
          </p:nvSpPr>
          <p:spPr bwMode="auto">
            <a:xfrm flipV="1">
              <a:off x="5867399" y="6235147"/>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 name="Rectangle: Rounded Corners 3">
            <a:extLst>
              <a:ext uri="{FF2B5EF4-FFF2-40B4-BE49-F238E27FC236}">
                <a16:creationId xmlns:a16="http://schemas.microsoft.com/office/drawing/2014/main" xmlns="" id="{0F30E7AC-5B4A-445F-AD09-B8F744CFCA2C}"/>
              </a:ext>
            </a:extLst>
          </p:cNvPr>
          <p:cNvSpPr/>
          <p:nvPr/>
        </p:nvSpPr>
        <p:spPr>
          <a:xfrm>
            <a:off x="1108213" y="1470991"/>
            <a:ext cx="3768255" cy="18553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b="1" dirty="0"/>
              <a:t>Syntax</a:t>
            </a:r>
          </a:p>
          <a:p>
            <a:r>
              <a:rPr lang="en-US" dirty="0">
                <a:latin typeface="Montserrat" panose="020B0604020202020204" charset="0"/>
                <a:ea typeface="Times New Roman" panose="02020603050405020304" pitchFamily="18" charset="0"/>
                <a:cs typeface="Times New Roman" panose="02020603050405020304" pitchFamily="18" charset="0"/>
              </a:rPr>
              <a:t>while (expression/condition) </a:t>
            </a:r>
            <a:br>
              <a:rPr lang="en-US" dirty="0">
                <a:latin typeface="Montserrat" panose="020B0604020202020204" charset="0"/>
                <a:ea typeface="Times New Roman" panose="02020603050405020304" pitchFamily="18" charset="0"/>
                <a:cs typeface="Times New Roman" panose="02020603050405020304" pitchFamily="18" charset="0"/>
              </a:rPr>
            </a:br>
            <a:r>
              <a:rPr lang="en-US" dirty="0">
                <a:latin typeface="Montserrat" panose="020B0604020202020204" charset="0"/>
                <a:ea typeface="Times New Roman" panose="02020603050405020304" pitchFamily="18" charset="0"/>
                <a:cs typeface="Times New Roman" panose="02020603050405020304" pitchFamily="18" charset="0"/>
              </a:rPr>
              <a:t>{ </a:t>
            </a:r>
            <a:br>
              <a:rPr lang="en-US" dirty="0">
                <a:latin typeface="Montserrat" panose="020B0604020202020204" charset="0"/>
                <a:ea typeface="Times New Roman" panose="02020603050405020304" pitchFamily="18" charset="0"/>
                <a:cs typeface="Times New Roman" panose="02020603050405020304" pitchFamily="18" charset="0"/>
              </a:rPr>
            </a:br>
            <a:r>
              <a:rPr lang="en-US" dirty="0">
                <a:latin typeface="Montserrat" panose="020B0604020202020204" charset="0"/>
                <a:ea typeface="Times New Roman" panose="02020603050405020304" pitchFamily="18" charset="0"/>
                <a:cs typeface="Times New Roman" panose="02020603050405020304" pitchFamily="18" charset="0"/>
              </a:rPr>
              <a:t>	body of the loop;</a:t>
            </a:r>
            <a:br>
              <a:rPr lang="en-US" dirty="0">
                <a:latin typeface="Montserrat" panose="020B0604020202020204" charset="0"/>
                <a:ea typeface="Times New Roman" panose="02020603050405020304" pitchFamily="18" charset="0"/>
                <a:cs typeface="Times New Roman" panose="02020603050405020304" pitchFamily="18" charset="0"/>
              </a:rPr>
            </a:br>
            <a:r>
              <a:rPr lang="en-US" dirty="0">
                <a:latin typeface="Montserrat" panose="020B0604020202020204" charset="0"/>
                <a:ea typeface="Times New Roman" panose="02020603050405020304" pitchFamily="18" charset="0"/>
                <a:cs typeface="Times New Roman" panose="02020603050405020304" pitchFamily="18" charset="0"/>
              </a:rPr>
              <a:t>} </a:t>
            </a:r>
            <a:endParaRPr lang="en-IN" dirty="0">
              <a:latin typeface="Montserrat" panose="020B0604020202020204" charset="0"/>
              <a:ea typeface="Times New Roman" panose="02020603050405020304" pitchFamily="18" charset="0"/>
              <a:cs typeface="Times New Roman" panose="02020603050405020304" pitchFamily="18" charset="0"/>
            </a:endParaRPr>
          </a:p>
          <a:p>
            <a:pPr algn="ctr"/>
            <a:endParaRPr lang="en-IN" dirty="0"/>
          </a:p>
        </p:txBody>
      </p:sp>
    </p:spTree>
    <p:extLst>
      <p:ext uri="{BB962C8B-B14F-4D97-AF65-F5344CB8AC3E}">
        <p14:creationId xmlns:p14="http://schemas.microsoft.com/office/powerpoint/2010/main" val="238623165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E23F53-1F98-41BC-86FA-69D8F2005FB7}"/>
              </a:ext>
            </a:extLst>
          </p:cNvPr>
          <p:cNvSpPr>
            <a:spLocks noGrp="1"/>
          </p:cNvSpPr>
          <p:nvPr>
            <p:ph type="title"/>
          </p:nvPr>
        </p:nvSpPr>
        <p:spPr/>
        <p:txBody>
          <a:bodyPr>
            <a:normAutofit/>
          </a:bodyPr>
          <a:lstStyle/>
          <a:p>
            <a:pPr algn="ctr"/>
            <a:r>
              <a:rPr lang="en-US" sz="4000" dirty="0">
                <a:latin typeface="Montserrat" panose="020B0604020202020204" charset="0"/>
                <a:ea typeface="Times New Roman" panose="02020603050405020304" pitchFamily="18" charset="0"/>
              </a:rPr>
              <a:t>w</a:t>
            </a:r>
            <a:r>
              <a:rPr lang="en-US" sz="4000" dirty="0">
                <a:effectLst/>
                <a:latin typeface="Montserrat" panose="020B0604020202020204" charset="0"/>
                <a:ea typeface="Times New Roman" panose="02020603050405020304" pitchFamily="18" charset="0"/>
              </a:rPr>
              <a:t>hile Statement - Example</a:t>
            </a:r>
            <a:endParaRPr lang="en-IN" sz="4000" dirty="0"/>
          </a:p>
        </p:txBody>
      </p:sp>
      <p:sp>
        <p:nvSpPr>
          <p:cNvPr id="3" name="Content Placeholder 2">
            <a:extLst>
              <a:ext uri="{FF2B5EF4-FFF2-40B4-BE49-F238E27FC236}">
                <a16:creationId xmlns:a16="http://schemas.microsoft.com/office/drawing/2014/main" xmlns="" id="{D2F47992-3EB4-4CD4-A59B-A435DDAB04A6}"/>
              </a:ext>
            </a:extLst>
          </p:cNvPr>
          <p:cNvSpPr>
            <a:spLocks noGrp="1"/>
          </p:cNvSpPr>
          <p:nvPr>
            <p:ph sz="half" idx="1"/>
          </p:nvPr>
        </p:nvSpPr>
        <p:spPr>
          <a:xfrm>
            <a:off x="838200" y="1825625"/>
            <a:ext cx="5914292" cy="4351338"/>
          </a:xfrm>
        </p:spPr>
        <p:txBody>
          <a:bodyPr>
            <a:normAutofit fontScale="92500" lnSpcReduction="20000"/>
          </a:bodyPr>
          <a:lstStyle/>
          <a:p>
            <a:pPr marL="0" indent="0" algn="just">
              <a:buNone/>
            </a:pPr>
            <a:r>
              <a:rPr lang="en-US" sz="2000" b="1" dirty="0">
                <a:effectLst/>
                <a:latin typeface="Montserrat" panose="020B0604020202020204" charset="0"/>
                <a:ea typeface="Times New Roman" panose="02020603050405020304" pitchFamily="18" charset="0"/>
                <a:cs typeface="Times New Roman" panose="02020603050405020304" pitchFamily="18" charset="0"/>
              </a:rPr>
              <a:t>Program for generating ‘N’ Natural numbers using while loop:  </a:t>
            </a:r>
            <a:endParaRPr lang="en-IN" sz="2000" b="1" dirty="0">
              <a:effectLst/>
              <a:latin typeface="Montserrat" panose="020B0604020202020204" charset="0"/>
              <a:ea typeface="Times New Roman" panose="02020603050405020304" pitchFamily="18" charset="0"/>
              <a:cs typeface="Times New Roman" panose="02020603050405020304" pitchFamily="18" charset="0"/>
            </a:endParaRPr>
          </a:p>
          <a:p>
            <a:pPr marL="0" indent="0">
              <a:buNone/>
            </a:pPr>
            <a:r>
              <a:rPr lang="en-US" sz="2000" dirty="0">
                <a:latin typeface="Montserrat" panose="020B0604020202020204" charset="0"/>
                <a:ea typeface="Times New Roman" panose="02020603050405020304" pitchFamily="18" charset="0"/>
                <a:cs typeface="Times New Roman" panose="02020603050405020304" pitchFamily="18" charset="0"/>
              </a:rPr>
              <a:t>#include&lt;</a:t>
            </a:r>
            <a:r>
              <a:rPr lang="en-US" sz="2000" dirty="0" err="1">
                <a:latin typeface="Montserrat" panose="020B0604020202020204" charset="0"/>
                <a:ea typeface="Times New Roman" panose="02020603050405020304" pitchFamily="18" charset="0"/>
                <a:cs typeface="Times New Roman" panose="02020603050405020304" pitchFamily="18" charset="0"/>
              </a:rPr>
              <a:t>stdio.h</a:t>
            </a:r>
            <a:r>
              <a:rPr lang="en-US" sz="2000" dirty="0">
                <a:latin typeface="Montserrat" panose="020B0604020202020204" charset="0"/>
                <a:ea typeface="Times New Roman" panose="02020603050405020304" pitchFamily="18" charset="0"/>
                <a:cs typeface="Times New Roman" panose="02020603050405020304" pitchFamily="18" charset="0"/>
              </a:rPr>
              <a:t>&gt;</a:t>
            </a:r>
          </a:p>
          <a:p>
            <a:pPr marL="0" indent="0">
              <a:buNone/>
            </a:pPr>
            <a:r>
              <a:rPr lang="en-US" sz="2000" dirty="0">
                <a:latin typeface="Montserrat" panose="020B0604020202020204" charset="0"/>
                <a:ea typeface="Times New Roman" panose="02020603050405020304" pitchFamily="18" charset="0"/>
                <a:cs typeface="Times New Roman" panose="02020603050405020304" pitchFamily="18" charset="0"/>
              </a:rPr>
              <a:t>void main()</a:t>
            </a:r>
          </a:p>
          <a:p>
            <a:pPr marL="0" indent="0">
              <a:buNone/>
            </a:pPr>
            <a:r>
              <a:rPr lang="en-US" sz="2000" dirty="0">
                <a:latin typeface="Montserrat" panose="020B0604020202020204" charset="0"/>
                <a:ea typeface="Times New Roman" panose="02020603050405020304" pitchFamily="18" charset="0"/>
                <a:cs typeface="Times New Roman" panose="02020603050405020304" pitchFamily="18" charset="0"/>
              </a:rPr>
              <a:t>{</a:t>
            </a:r>
          </a:p>
          <a:p>
            <a:pPr marL="0" indent="0">
              <a:buNone/>
            </a:pPr>
            <a:r>
              <a:rPr lang="en-US" sz="2000" dirty="0">
                <a:latin typeface="Montserrat" panose="020B0604020202020204" charset="0"/>
                <a:ea typeface="Times New Roman" panose="02020603050405020304" pitchFamily="18" charset="0"/>
                <a:cs typeface="Times New Roman" panose="02020603050405020304" pitchFamily="18" charset="0"/>
              </a:rPr>
              <a:t>    int n, </a:t>
            </a:r>
            <a:r>
              <a:rPr lang="en-US" sz="2000" dirty="0" err="1">
                <a:latin typeface="Montserrat" panose="020B0604020202020204" charset="0"/>
                <a:ea typeface="Times New Roman" panose="02020603050405020304" pitchFamily="18" charset="0"/>
                <a:cs typeface="Times New Roman" panose="02020603050405020304" pitchFamily="18" charset="0"/>
              </a:rPr>
              <a:t>i</a:t>
            </a:r>
            <a:r>
              <a:rPr lang="en-US" sz="2000" dirty="0">
                <a:latin typeface="Montserrat" panose="020B0604020202020204" charset="0"/>
                <a:ea typeface="Times New Roman" panose="02020603050405020304" pitchFamily="18" charset="0"/>
                <a:cs typeface="Times New Roman" panose="02020603050405020304" pitchFamily="18" charset="0"/>
              </a:rPr>
              <a:t>=0;</a:t>
            </a:r>
          </a:p>
          <a:p>
            <a:pPr marL="0" indent="0">
              <a:buNone/>
            </a:pPr>
            <a:r>
              <a:rPr lang="en-US" sz="2000" dirty="0">
                <a:latin typeface="Montserrat" panose="020B0604020202020204" charset="0"/>
                <a:ea typeface="Times New Roman" panose="02020603050405020304" pitchFamily="18" charset="0"/>
                <a:cs typeface="Times New Roman" panose="02020603050405020304" pitchFamily="18" charset="0"/>
              </a:rPr>
              <a:t>    </a:t>
            </a:r>
            <a:r>
              <a:rPr lang="en-US" sz="2000" dirty="0" err="1">
                <a:latin typeface="Montserrat" panose="020B0604020202020204" charset="0"/>
                <a:ea typeface="Times New Roman" panose="02020603050405020304" pitchFamily="18" charset="0"/>
                <a:cs typeface="Times New Roman" panose="02020603050405020304" pitchFamily="18" charset="0"/>
              </a:rPr>
              <a:t>printf</a:t>
            </a:r>
            <a:r>
              <a:rPr lang="en-US" sz="2000" dirty="0">
                <a:latin typeface="Montserrat" panose="020B0604020202020204" charset="0"/>
                <a:ea typeface="Times New Roman" panose="02020603050405020304" pitchFamily="18" charset="0"/>
                <a:cs typeface="Times New Roman" panose="02020603050405020304" pitchFamily="18" charset="0"/>
              </a:rPr>
              <a:t>("Enter the upper limit number:");</a:t>
            </a:r>
          </a:p>
          <a:p>
            <a:pPr marL="0" indent="0">
              <a:buNone/>
            </a:pPr>
            <a:r>
              <a:rPr lang="en-US" sz="2000" dirty="0">
                <a:latin typeface="Montserrat" panose="020B0604020202020204" charset="0"/>
                <a:ea typeface="Times New Roman" panose="02020603050405020304" pitchFamily="18" charset="0"/>
                <a:cs typeface="Times New Roman" panose="02020603050405020304" pitchFamily="18" charset="0"/>
              </a:rPr>
              <a:t>    </a:t>
            </a:r>
            <a:r>
              <a:rPr lang="en-US" sz="2000" dirty="0" err="1">
                <a:latin typeface="Montserrat" panose="020B0604020202020204" charset="0"/>
                <a:ea typeface="Times New Roman" panose="02020603050405020304" pitchFamily="18" charset="0"/>
                <a:cs typeface="Times New Roman" panose="02020603050405020304" pitchFamily="18" charset="0"/>
              </a:rPr>
              <a:t>scanf</a:t>
            </a:r>
            <a:r>
              <a:rPr lang="en-US" sz="2000" dirty="0">
                <a:latin typeface="Montserrat" panose="020B0604020202020204" charset="0"/>
                <a:ea typeface="Times New Roman" panose="02020603050405020304" pitchFamily="18" charset="0"/>
                <a:cs typeface="Times New Roman" panose="02020603050405020304" pitchFamily="18" charset="0"/>
              </a:rPr>
              <a:t>("%</a:t>
            </a:r>
            <a:r>
              <a:rPr lang="en-US" sz="2000" dirty="0" err="1">
                <a:latin typeface="Montserrat" panose="020B0604020202020204" charset="0"/>
                <a:ea typeface="Times New Roman" panose="02020603050405020304" pitchFamily="18" charset="0"/>
                <a:cs typeface="Times New Roman" panose="02020603050405020304" pitchFamily="18" charset="0"/>
              </a:rPr>
              <a:t>d",&amp;n</a:t>
            </a:r>
            <a:r>
              <a:rPr lang="en-US" sz="2000" dirty="0">
                <a:latin typeface="Montserrat" panose="020B0604020202020204" charset="0"/>
                <a:ea typeface="Times New Roman" panose="02020603050405020304" pitchFamily="18" charset="0"/>
                <a:cs typeface="Times New Roman" panose="02020603050405020304" pitchFamily="18" charset="0"/>
              </a:rPr>
              <a:t>);</a:t>
            </a:r>
          </a:p>
          <a:p>
            <a:pPr marL="0" indent="0">
              <a:buNone/>
            </a:pPr>
            <a:r>
              <a:rPr lang="en-US" sz="2000" dirty="0">
                <a:latin typeface="Montserrat" panose="020B0604020202020204" charset="0"/>
                <a:ea typeface="Times New Roman" panose="02020603050405020304" pitchFamily="18" charset="0"/>
                <a:cs typeface="Times New Roman" panose="02020603050405020304" pitchFamily="18" charset="0"/>
              </a:rPr>
              <a:t>    while(</a:t>
            </a:r>
            <a:r>
              <a:rPr lang="en-US" sz="2000" dirty="0" err="1">
                <a:latin typeface="Montserrat" panose="020B0604020202020204" charset="0"/>
                <a:ea typeface="Times New Roman" panose="02020603050405020304" pitchFamily="18" charset="0"/>
                <a:cs typeface="Times New Roman" panose="02020603050405020304" pitchFamily="18" charset="0"/>
              </a:rPr>
              <a:t>i</a:t>
            </a:r>
            <a:r>
              <a:rPr lang="en-US" sz="2000" dirty="0">
                <a:latin typeface="Montserrat" panose="020B0604020202020204" charset="0"/>
                <a:ea typeface="Times New Roman" panose="02020603050405020304" pitchFamily="18" charset="0"/>
                <a:cs typeface="Times New Roman" panose="02020603050405020304" pitchFamily="18" charset="0"/>
              </a:rPr>
              <a:t> &lt;= n)</a:t>
            </a:r>
          </a:p>
          <a:p>
            <a:pPr marL="0" indent="0">
              <a:buNone/>
            </a:pPr>
            <a:r>
              <a:rPr lang="en-US" sz="2000" dirty="0">
                <a:latin typeface="Montserrat" panose="020B0604020202020204" charset="0"/>
                <a:ea typeface="Times New Roman" panose="02020603050405020304" pitchFamily="18" charset="0"/>
                <a:cs typeface="Times New Roman" panose="02020603050405020304" pitchFamily="18" charset="0"/>
              </a:rPr>
              <a:t>    {</a:t>
            </a:r>
          </a:p>
          <a:p>
            <a:pPr marL="0" indent="0">
              <a:buNone/>
            </a:pPr>
            <a:r>
              <a:rPr lang="en-US" sz="2000" dirty="0">
                <a:latin typeface="Montserrat" panose="020B0604020202020204" charset="0"/>
                <a:ea typeface="Times New Roman" panose="02020603050405020304" pitchFamily="18" charset="0"/>
                <a:cs typeface="Times New Roman" panose="02020603050405020304" pitchFamily="18" charset="0"/>
              </a:rPr>
              <a:t>        </a:t>
            </a:r>
            <a:r>
              <a:rPr lang="en-US" sz="2000" dirty="0" err="1">
                <a:latin typeface="Montserrat" panose="020B0604020202020204" charset="0"/>
                <a:ea typeface="Times New Roman" panose="02020603050405020304" pitchFamily="18" charset="0"/>
                <a:cs typeface="Times New Roman" panose="02020603050405020304" pitchFamily="18" charset="0"/>
              </a:rPr>
              <a:t>printf</a:t>
            </a:r>
            <a:r>
              <a:rPr lang="en-US" sz="2000" dirty="0">
                <a:latin typeface="Montserrat" panose="020B0604020202020204" charset="0"/>
                <a:ea typeface="Times New Roman" panose="02020603050405020304" pitchFamily="18" charset="0"/>
                <a:cs typeface="Times New Roman" panose="02020603050405020304" pitchFamily="18" charset="0"/>
              </a:rPr>
              <a:t>(“\</a:t>
            </a:r>
            <a:r>
              <a:rPr lang="en-US" sz="2000" dirty="0" err="1">
                <a:latin typeface="Montserrat" panose="020B0604020202020204" charset="0"/>
                <a:ea typeface="Times New Roman" panose="02020603050405020304" pitchFamily="18" charset="0"/>
                <a:cs typeface="Times New Roman" panose="02020603050405020304" pitchFamily="18" charset="0"/>
              </a:rPr>
              <a:t>n%d</a:t>
            </a:r>
            <a:r>
              <a:rPr lang="en-US" sz="2000" dirty="0">
                <a:latin typeface="Montserrat" panose="020B0604020202020204" charset="0"/>
                <a:ea typeface="Times New Roman" panose="02020603050405020304" pitchFamily="18" charset="0"/>
                <a:cs typeface="Times New Roman" panose="02020603050405020304" pitchFamily="18" charset="0"/>
              </a:rPr>
              <a:t>",</a:t>
            </a:r>
            <a:r>
              <a:rPr lang="en-US" sz="2000" dirty="0" err="1">
                <a:latin typeface="Montserrat" panose="020B0604020202020204" charset="0"/>
                <a:ea typeface="Times New Roman" panose="02020603050405020304" pitchFamily="18" charset="0"/>
                <a:cs typeface="Times New Roman" panose="02020603050405020304" pitchFamily="18" charset="0"/>
              </a:rPr>
              <a:t>i</a:t>
            </a:r>
            <a:r>
              <a:rPr lang="en-US" sz="2000" dirty="0">
                <a:latin typeface="Montserrat" panose="020B0604020202020204" charset="0"/>
                <a:ea typeface="Times New Roman" panose="02020603050405020304" pitchFamily="18" charset="0"/>
                <a:cs typeface="Times New Roman" panose="02020603050405020304" pitchFamily="18" charset="0"/>
              </a:rPr>
              <a:t>);</a:t>
            </a:r>
          </a:p>
          <a:p>
            <a:pPr marL="0" indent="0">
              <a:buNone/>
            </a:pPr>
            <a:r>
              <a:rPr lang="en-US" sz="2000" dirty="0">
                <a:latin typeface="Montserrat" panose="020B0604020202020204" charset="0"/>
                <a:ea typeface="Times New Roman" panose="02020603050405020304" pitchFamily="18" charset="0"/>
                <a:cs typeface="Times New Roman" panose="02020603050405020304" pitchFamily="18" charset="0"/>
              </a:rPr>
              <a:t>        </a:t>
            </a:r>
            <a:r>
              <a:rPr lang="en-US" sz="2000" dirty="0" err="1">
                <a:latin typeface="Montserrat" panose="020B0604020202020204" charset="0"/>
                <a:ea typeface="Times New Roman" panose="02020603050405020304" pitchFamily="18" charset="0"/>
                <a:cs typeface="Times New Roman" panose="02020603050405020304" pitchFamily="18" charset="0"/>
              </a:rPr>
              <a:t>i</a:t>
            </a:r>
            <a:r>
              <a:rPr lang="en-US" sz="2000" dirty="0">
                <a:latin typeface="Montserrat" panose="020B0604020202020204" charset="0"/>
                <a:ea typeface="Times New Roman" panose="02020603050405020304" pitchFamily="18" charset="0"/>
                <a:cs typeface="Times New Roman" panose="02020603050405020304" pitchFamily="18" charset="0"/>
              </a:rPr>
              <a:t>++;</a:t>
            </a:r>
          </a:p>
          <a:p>
            <a:pPr marL="0" indent="0">
              <a:buNone/>
            </a:pPr>
            <a:r>
              <a:rPr lang="en-US" sz="2000" dirty="0">
                <a:latin typeface="Montserrat" panose="020B0604020202020204" charset="0"/>
                <a:ea typeface="Times New Roman" panose="02020603050405020304" pitchFamily="18" charset="0"/>
                <a:cs typeface="Times New Roman" panose="02020603050405020304" pitchFamily="18" charset="0"/>
              </a:rPr>
              <a:t>    }</a:t>
            </a:r>
          </a:p>
          <a:p>
            <a:pPr marL="0" indent="0">
              <a:buNone/>
            </a:pPr>
            <a:r>
              <a:rPr lang="en-US" sz="2000" dirty="0">
                <a:latin typeface="Montserrat" panose="020B0604020202020204" charset="0"/>
                <a:ea typeface="Times New Roman" panose="02020603050405020304" pitchFamily="18" charset="0"/>
                <a:cs typeface="Times New Roman" panose="02020603050405020304" pitchFamily="18" charset="0"/>
              </a:rPr>
              <a:t>}</a:t>
            </a:r>
            <a:endParaRPr lang="en-IN" sz="2000" dirty="0">
              <a:effectLst/>
              <a:latin typeface="Montserrat" panose="020B0604020202020204" charset="0"/>
              <a:ea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xmlns="" id="{067A6BA5-333E-49BC-8BAC-186F0D588E67}"/>
              </a:ext>
            </a:extLst>
          </p:cNvPr>
          <p:cNvSpPr>
            <a:spLocks noGrp="1"/>
          </p:cNvSpPr>
          <p:nvPr>
            <p:ph sz="half" idx="2"/>
          </p:nvPr>
        </p:nvSpPr>
        <p:spPr>
          <a:xfrm>
            <a:off x="7146388" y="1825625"/>
            <a:ext cx="3515516" cy="4351338"/>
          </a:xfrm>
        </p:spPr>
        <p:txBody>
          <a:bodyPr>
            <a:normAutofit fontScale="92500" lnSpcReduction="20000"/>
          </a:bodyPr>
          <a:lstStyle/>
          <a:p>
            <a:pPr marL="0" indent="0">
              <a:buNone/>
            </a:pPr>
            <a:r>
              <a:rPr lang="en-US" b="1" dirty="0"/>
              <a:t>Output:</a:t>
            </a:r>
          </a:p>
          <a:p>
            <a:pPr marL="0" indent="0">
              <a:buNone/>
            </a:pPr>
            <a:r>
              <a:rPr lang="en-US" dirty="0"/>
              <a:t>Enter the upper limit number:6</a:t>
            </a:r>
          </a:p>
          <a:p>
            <a:pPr marL="0" indent="0">
              <a:buNone/>
            </a:pPr>
            <a:endParaRPr lang="en-US" dirty="0"/>
          </a:p>
          <a:p>
            <a:pPr marL="0" indent="0">
              <a:buNone/>
            </a:pPr>
            <a:r>
              <a:rPr lang="en-US" dirty="0"/>
              <a:t>0</a:t>
            </a:r>
          </a:p>
          <a:p>
            <a:pPr marL="0" indent="0">
              <a:buNone/>
            </a:pPr>
            <a:r>
              <a:rPr lang="en-US" dirty="0"/>
              <a:t>1</a:t>
            </a:r>
          </a:p>
          <a:p>
            <a:pPr marL="0" indent="0">
              <a:buNone/>
            </a:pPr>
            <a:r>
              <a:rPr lang="en-US" dirty="0"/>
              <a:t>2</a:t>
            </a:r>
          </a:p>
          <a:p>
            <a:pPr marL="0" indent="0">
              <a:buNone/>
            </a:pPr>
            <a:r>
              <a:rPr lang="en-US" dirty="0"/>
              <a:t>3</a:t>
            </a:r>
          </a:p>
          <a:p>
            <a:pPr marL="0" indent="0">
              <a:buNone/>
            </a:pPr>
            <a:r>
              <a:rPr lang="en-US" dirty="0"/>
              <a:t>4</a:t>
            </a:r>
          </a:p>
          <a:p>
            <a:pPr marL="0" indent="0">
              <a:buNone/>
            </a:pPr>
            <a:r>
              <a:rPr lang="en-US" dirty="0"/>
              <a:t>5</a:t>
            </a:r>
          </a:p>
          <a:p>
            <a:pPr marL="0" indent="0">
              <a:buNone/>
            </a:pPr>
            <a:r>
              <a:rPr lang="en-US" dirty="0"/>
              <a:t>6</a:t>
            </a:r>
          </a:p>
          <a:p>
            <a:pPr marL="0" indent="0">
              <a:buNone/>
            </a:pPr>
            <a:endParaRPr lang="en-IN" dirty="0"/>
          </a:p>
        </p:txBody>
      </p:sp>
    </p:spTree>
    <p:extLst>
      <p:ext uri="{BB962C8B-B14F-4D97-AF65-F5344CB8AC3E}">
        <p14:creationId xmlns:p14="http://schemas.microsoft.com/office/powerpoint/2010/main" val="158917029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D5D7D4-4563-4C43-86AE-89238E67B71F}"/>
              </a:ext>
            </a:extLst>
          </p:cNvPr>
          <p:cNvSpPr>
            <a:spLocks noGrp="1"/>
          </p:cNvSpPr>
          <p:nvPr>
            <p:ph type="title"/>
          </p:nvPr>
        </p:nvSpPr>
        <p:spPr/>
        <p:txBody>
          <a:bodyPr>
            <a:normAutofit/>
          </a:bodyPr>
          <a:lstStyle/>
          <a:p>
            <a:pPr algn="ctr"/>
            <a:r>
              <a:rPr lang="en-US" sz="4000" dirty="0">
                <a:latin typeface="Montserrat" panose="020B0604020202020204" charset="0"/>
                <a:ea typeface="Times New Roman" panose="02020603050405020304" pitchFamily="18" charset="0"/>
              </a:rPr>
              <a:t>d</a:t>
            </a:r>
            <a:r>
              <a:rPr lang="en-US" sz="4000" dirty="0">
                <a:effectLst/>
                <a:latin typeface="Montserrat" panose="020B0604020202020204" charset="0"/>
                <a:ea typeface="Times New Roman" panose="02020603050405020304" pitchFamily="18" charset="0"/>
              </a:rPr>
              <a:t>o-while statement</a:t>
            </a:r>
            <a:endParaRPr lang="en-IN" sz="4000" dirty="0">
              <a:latin typeface="Montserrat" panose="020B0604020202020204" charset="0"/>
            </a:endParaRPr>
          </a:p>
        </p:txBody>
      </p:sp>
      <p:sp>
        <p:nvSpPr>
          <p:cNvPr id="3" name="Content Placeholder 2">
            <a:extLst>
              <a:ext uri="{FF2B5EF4-FFF2-40B4-BE49-F238E27FC236}">
                <a16:creationId xmlns:a16="http://schemas.microsoft.com/office/drawing/2014/main" xmlns="" id="{9B49562D-3E79-4643-9351-368E056C7652}"/>
              </a:ext>
            </a:extLst>
          </p:cNvPr>
          <p:cNvSpPr>
            <a:spLocks noGrp="1"/>
          </p:cNvSpPr>
          <p:nvPr>
            <p:ph sz="half" idx="1"/>
          </p:nvPr>
        </p:nvSpPr>
        <p:spPr>
          <a:xfrm>
            <a:off x="838199" y="1364566"/>
            <a:ext cx="5717345" cy="5008099"/>
          </a:xfrm>
        </p:spPr>
        <p:txBody>
          <a:bodyPr>
            <a:normAutofit fontScale="92500" lnSpcReduction="20000"/>
          </a:bodyPr>
          <a:lstStyle/>
          <a:p>
            <a:pPr marL="0" indent="0">
              <a:buNone/>
            </a:pPr>
            <a:r>
              <a:rPr lang="en-US" sz="2000" dirty="0">
                <a:effectLst/>
                <a:latin typeface="Montserrat" panose="020B0604020202020204" charset="0"/>
                <a:ea typeface="Times New Roman" panose="02020603050405020304" pitchFamily="18" charset="0"/>
                <a:cs typeface="Times New Roman" panose="02020603050405020304" pitchFamily="18" charset="0"/>
              </a:rPr>
              <a:t> </a:t>
            </a:r>
          </a:p>
          <a:p>
            <a:pPr marL="0" indent="0">
              <a:buNone/>
            </a:pPr>
            <a:endParaRPr lang="en-IN" sz="2000" dirty="0">
              <a:effectLst/>
              <a:latin typeface="Montserrat" panose="020B0604020202020204" charset="0"/>
              <a:ea typeface="Times New Roman" panose="02020603050405020304" pitchFamily="18" charset="0"/>
              <a:cs typeface="Times New Roman" panose="02020603050405020304" pitchFamily="18" charset="0"/>
            </a:endParaRPr>
          </a:p>
          <a:p>
            <a:endParaRPr lang="en-US" altLang="en-US" sz="2000" dirty="0">
              <a:latin typeface="+mj-lt"/>
            </a:endParaRPr>
          </a:p>
          <a:p>
            <a:endParaRPr lang="en-US" altLang="en-US" sz="2000" dirty="0">
              <a:latin typeface="+mj-lt"/>
            </a:endParaRPr>
          </a:p>
          <a:p>
            <a:endParaRPr lang="en-US" altLang="en-US" sz="2000" dirty="0">
              <a:latin typeface="+mj-lt"/>
            </a:endParaRPr>
          </a:p>
          <a:p>
            <a:endParaRPr lang="en-US" altLang="en-US" sz="2000" dirty="0">
              <a:latin typeface="+mj-lt"/>
            </a:endParaRPr>
          </a:p>
          <a:p>
            <a:r>
              <a:rPr lang="en-US" altLang="en-US" sz="2000" dirty="0">
                <a:latin typeface="+mj-lt"/>
              </a:rPr>
              <a:t>Exit controlled loop statement</a:t>
            </a:r>
          </a:p>
          <a:p>
            <a:pPr algn="just"/>
            <a:r>
              <a:rPr lang="en-US" sz="2000" dirty="0">
                <a:latin typeface="+mj-lt"/>
                <a:ea typeface="Times New Roman" panose="02020603050405020304" pitchFamily="18" charset="0"/>
                <a:cs typeface="Times New Roman" panose="02020603050405020304" pitchFamily="18" charset="0"/>
              </a:rPr>
              <a:t>T</a:t>
            </a:r>
            <a:r>
              <a:rPr lang="en-US" sz="2000" dirty="0">
                <a:effectLst/>
                <a:latin typeface="+mj-lt"/>
                <a:ea typeface="Times New Roman" panose="02020603050405020304" pitchFamily="18" charset="0"/>
                <a:cs typeface="Times New Roman" panose="02020603050405020304" pitchFamily="18" charset="0"/>
              </a:rPr>
              <a:t>he </a:t>
            </a:r>
            <a:r>
              <a:rPr lang="en-US" sz="2000" dirty="0">
                <a:latin typeface="+mj-lt"/>
                <a:ea typeface="Times New Roman" panose="02020603050405020304" pitchFamily="18" charset="0"/>
                <a:cs typeface="Times New Roman" panose="02020603050405020304" pitchFamily="18" charset="0"/>
              </a:rPr>
              <a:t>statements in the body of the loop</a:t>
            </a:r>
            <a:r>
              <a:rPr lang="en-US" sz="2000" dirty="0">
                <a:effectLst/>
                <a:latin typeface="+mj-lt"/>
                <a:ea typeface="Times New Roman" panose="02020603050405020304" pitchFamily="18" charset="0"/>
                <a:cs typeface="Times New Roman" panose="02020603050405020304" pitchFamily="18" charset="0"/>
              </a:rPr>
              <a:t> is executed  first, then expression or condition is evaluated</a:t>
            </a:r>
          </a:p>
          <a:p>
            <a:pPr algn="just"/>
            <a:r>
              <a:rPr lang="en-US" sz="2000" dirty="0">
                <a:effectLst/>
                <a:latin typeface="+mj-lt"/>
                <a:ea typeface="Times New Roman" panose="02020603050405020304" pitchFamily="18" charset="0"/>
                <a:cs typeface="Times New Roman" panose="02020603050405020304" pitchFamily="18" charset="0"/>
              </a:rPr>
              <a:t> If the condition or expression is true, then the body of the loop is executed again, and this process continues till the condition or expression becomes false</a:t>
            </a:r>
          </a:p>
          <a:p>
            <a:pPr algn="just"/>
            <a:r>
              <a:rPr lang="en-US" sz="2000" dirty="0">
                <a:effectLst/>
                <a:latin typeface="+mj-lt"/>
                <a:ea typeface="Times New Roman" panose="02020603050405020304" pitchFamily="18" charset="0"/>
                <a:cs typeface="Times New Roman" panose="02020603050405020304" pitchFamily="18" charset="0"/>
              </a:rPr>
              <a:t>When the expression becomes false</a:t>
            </a:r>
            <a:r>
              <a:rPr lang="en-US" sz="2000" dirty="0">
                <a:latin typeface="+mj-lt"/>
                <a:ea typeface="Times New Roman" panose="02020603050405020304" pitchFamily="18" charset="0"/>
                <a:cs typeface="Times New Roman" panose="02020603050405020304" pitchFamily="18" charset="0"/>
              </a:rPr>
              <a:t>,</a:t>
            </a:r>
            <a:r>
              <a:rPr lang="en-US" sz="2000" dirty="0">
                <a:effectLst/>
                <a:latin typeface="+mj-lt"/>
                <a:ea typeface="Times New Roman" panose="02020603050405020304" pitchFamily="18" charset="0"/>
                <a:cs typeface="Times New Roman" panose="02020603050405020304" pitchFamily="18" charset="0"/>
              </a:rPr>
              <a:t> the loop terminates, and t</a:t>
            </a:r>
            <a:r>
              <a:rPr lang="en-US" sz="2000" dirty="0">
                <a:latin typeface="+mj-lt"/>
                <a:ea typeface="Times New Roman" panose="02020603050405020304" pitchFamily="18" charset="0"/>
              </a:rPr>
              <a:t>he control is transferred out of the loop</a:t>
            </a:r>
          </a:p>
          <a:p>
            <a:pPr algn="just"/>
            <a:r>
              <a:rPr lang="en-US" sz="2000" dirty="0">
                <a:effectLst/>
                <a:latin typeface="+mj-lt"/>
                <a:ea typeface="Times New Roman" panose="02020603050405020304" pitchFamily="18" charset="0"/>
                <a:cs typeface="Times New Roman" panose="02020603050405020304" pitchFamily="18" charset="0"/>
              </a:rPr>
              <a:t>Note: </a:t>
            </a:r>
            <a:r>
              <a:rPr lang="en-US" altLang="en-US" sz="2000" dirty="0">
                <a:latin typeface="+mj-lt"/>
              </a:rPr>
              <a:t>do while ends in a ; (semicolon)</a:t>
            </a:r>
            <a:endParaRPr lang="en-IN" sz="2000" dirty="0">
              <a:effectLst/>
              <a:latin typeface="+mj-lt"/>
              <a:ea typeface="Times New Roman" panose="02020603050405020304" pitchFamily="18" charset="0"/>
              <a:cs typeface="Times New Roman" panose="02020603050405020304" pitchFamily="18" charset="0"/>
            </a:endParaRPr>
          </a:p>
        </p:txBody>
      </p:sp>
      <p:grpSp>
        <p:nvGrpSpPr>
          <p:cNvPr id="5" name="Group 4">
            <a:extLst>
              <a:ext uri="{FF2B5EF4-FFF2-40B4-BE49-F238E27FC236}">
                <a16:creationId xmlns:a16="http://schemas.microsoft.com/office/drawing/2014/main" xmlns="" id="{794E071E-A993-47F3-9421-2592AD88B1DC}"/>
              </a:ext>
            </a:extLst>
          </p:cNvPr>
          <p:cNvGrpSpPr/>
          <p:nvPr/>
        </p:nvGrpSpPr>
        <p:grpSpPr>
          <a:xfrm>
            <a:off x="7129668" y="598280"/>
            <a:ext cx="3882887" cy="5894595"/>
            <a:chOff x="3733800" y="228600"/>
            <a:chExt cx="4191000" cy="6629400"/>
          </a:xfrm>
        </p:grpSpPr>
        <p:sp>
          <p:nvSpPr>
            <p:cNvPr id="6" name="AutoShape 2">
              <a:extLst>
                <a:ext uri="{FF2B5EF4-FFF2-40B4-BE49-F238E27FC236}">
                  <a16:creationId xmlns:a16="http://schemas.microsoft.com/office/drawing/2014/main" xmlns="" id="{2101ABA0-C479-4768-B146-10A29A680F67}"/>
                </a:ext>
              </a:extLst>
            </p:cNvPr>
            <p:cNvSpPr>
              <a:spLocks noChangeArrowheads="1"/>
            </p:cNvSpPr>
            <p:nvPr/>
          </p:nvSpPr>
          <p:spPr bwMode="auto">
            <a:xfrm>
              <a:off x="5029200" y="228600"/>
              <a:ext cx="1600200" cy="6858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a:latin typeface="Times New Roman" panose="02020603050405020304" pitchFamily="18" charset="0"/>
                </a:rPr>
                <a:t>Start</a:t>
              </a:r>
            </a:p>
          </p:txBody>
        </p:sp>
        <p:sp>
          <p:nvSpPr>
            <p:cNvPr id="7" name="Rectangle 3">
              <a:extLst>
                <a:ext uri="{FF2B5EF4-FFF2-40B4-BE49-F238E27FC236}">
                  <a16:creationId xmlns:a16="http://schemas.microsoft.com/office/drawing/2014/main" xmlns="" id="{584B9FE1-108E-44C4-A8F2-03974E98E236}"/>
                </a:ext>
              </a:extLst>
            </p:cNvPr>
            <p:cNvSpPr>
              <a:spLocks noChangeArrowheads="1"/>
            </p:cNvSpPr>
            <p:nvPr/>
          </p:nvSpPr>
          <p:spPr bwMode="auto">
            <a:xfrm>
              <a:off x="5029200" y="1219200"/>
              <a:ext cx="1600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a:latin typeface="Times New Roman" panose="02020603050405020304" pitchFamily="18" charset="0"/>
                </a:rPr>
                <a:t>Initialize</a:t>
              </a:r>
            </a:p>
          </p:txBody>
        </p:sp>
        <p:sp>
          <p:nvSpPr>
            <p:cNvPr id="8" name="AutoShape 4">
              <a:extLst>
                <a:ext uri="{FF2B5EF4-FFF2-40B4-BE49-F238E27FC236}">
                  <a16:creationId xmlns:a16="http://schemas.microsoft.com/office/drawing/2014/main" xmlns="" id="{1CABE67A-830A-43CC-B0C6-DD2955D8FDC8}"/>
                </a:ext>
              </a:extLst>
            </p:cNvPr>
            <p:cNvSpPr>
              <a:spLocks noChangeArrowheads="1"/>
            </p:cNvSpPr>
            <p:nvPr/>
          </p:nvSpPr>
          <p:spPr bwMode="auto">
            <a:xfrm>
              <a:off x="4876800" y="4343400"/>
              <a:ext cx="1981200" cy="1752600"/>
            </a:xfrm>
            <a:prstGeom prst="diamond">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a:latin typeface="Times New Roman" panose="02020603050405020304" pitchFamily="18" charset="0"/>
                </a:rPr>
                <a:t>Test Condition</a:t>
              </a:r>
            </a:p>
          </p:txBody>
        </p:sp>
        <p:sp>
          <p:nvSpPr>
            <p:cNvPr id="9" name="Rectangle 5">
              <a:extLst>
                <a:ext uri="{FF2B5EF4-FFF2-40B4-BE49-F238E27FC236}">
                  <a16:creationId xmlns:a16="http://schemas.microsoft.com/office/drawing/2014/main" xmlns="" id="{E8FC8CAC-FF8F-472D-882C-CF0CCBA50043}"/>
                </a:ext>
              </a:extLst>
            </p:cNvPr>
            <p:cNvSpPr>
              <a:spLocks noChangeArrowheads="1"/>
            </p:cNvSpPr>
            <p:nvPr/>
          </p:nvSpPr>
          <p:spPr bwMode="auto">
            <a:xfrm>
              <a:off x="4800600" y="2286000"/>
              <a:ext cx="2362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a:latin typeface="Times New Roman" panose="02020603050405020304" pitchFamily="18" charset="0"/>
                </a:rPr>
                <a:t>Body of Loop</a:t>
              </a:r>
            </a:p>
          </p:txBody>
        </p:sp>
        <p:sp>
          <p:nvSpPr>
            <p:cNvPr id="10" name="Rectangle 6">
              <a:extLst>
                <a:ext uri="{FF2B5EF4-FFF2-40B4-BE49-F238E27FC236}">
                  <a16:creationId xmlns:a16="http://schemas.microsoft.com/office/drawing/2014/main" xmlns="" id="{18630B7D-D7CF-4744-8FA2-ED4C7C93A820}"/>
                </a:ext>
              </a:extLst>
            </p:cNvPr>
            <p:cNvSpPr>
              <a:spLocks noChangeArrowheads="1"/>
            </p:cNvSpPr>
            <p:nvPr/>
          </p:nvSpPr>
          <p:spPr bwMode="auto">
            <a:xfrm>
              <a:off x="4267200" y="3276600"/>
              <a:ext cx="3505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dirty="0" err="1">
                  <a:latin typeface="Times New Roman" panose="02020603050405020304" pitchFamily="18" charset="0"/>
                </a:rPr>
                <a:t>updation</a:t>
              </a:r>
              <a:r>
                <a:rPr lang="en-US" altLang="en-US" sz="1600" dirty="0">
                  <a:latin typeface="Times New Roman" panose="02020603050405020304" pitchFamily="18" charset="0"/>
                </a:rPr>
                <a:t> of the control variable</a:t>
              </a:r>
            </a:p>
          </p:txBody>
        </p:sp>
        <p:sp>
          <p:nvSpPr>
            <p:cNvPr id="11" name="AutoShape 7">
              <a:extLst>
                <a:ext uri="{FF2B5EF4-FFF2-40B4-BE49-F238E27FC236}">
                  <a16:creationId xmlns:a16="http://schemas.microsoft.com/office/drawing/2014/main" xmlns="" id="{BD67BB22-2DD4-4B39-96B2-3E8422F0463F}"/>
                </a:ext>
              </a:extLst>
            </p:cNvPr>
            <p:cNvSpPr>
              <a:spLocks noChangeArrowheads="1"/>
            </p:cNvSpPr>
            <p:nvPr/>
          </p:nvSpPr>
          <p:spPr bwMode="auto">
            <a:xfrm>
              <a:off x="5181600" y="6400800"/>
              <a:ext cx="1295400"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a:latin typeface="Times New Roman" panose="02020603050405020304" pitchFamily="18" charset="0"/>
                </a:rPr>
                <a:t>Stop</a:t>
              </a:r>
            </a:p>
          </p:txBody>
        </p:sp>
        <p:sp>
          <p:nvSpPr>
            <p:cNvPr id="12" name="Line 8">
              <a:extLst>
                <a:ext uri="{FF2B5EF4-FFF2-40B4-BE49-F238E27FC236}">
                  <a16:creationId xmlns:a16="http://schemas.microsoft.com/office/drawing/2014/main" xmlns="" id="{22C69BF9-0C5A-413D-82AF-99CD46342B50}"/>
                </a:ext>
              </a:extLst>
            </p:cNvPr>
            <p:cNvSpPr>
              <a:spLocks noChangeShapeType="1"/>
            </p:cNvSpPr>
            <p:nvPr/>
          </p:nvSpPr>
          <p:spPr bwMode="auto">
            <a:xfrm>
              <a:off x="5867400" y="9144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9">
              <a:extLst>
                <a:ext uri="{FF2B5EF4-FFF2-40B4-BE49-F238E27FC236}">
                  <a16:creationId xmlns:a16="http://schemas.microsoft.com/office/drawing/2014/main" xmlns="" id="{3BEDBB9F-A5F9-4F61-AC17-699C99BEB1BD}"/>
                </a:ext>
              </a:extLst>
            </p:cNvPr>
            <p:cNvSpPr>
              <a:spLocks noChangeShapeType="1"/>
            </p:cNvSpPr>
            <p:nvPr/>
          </p:nvSpPr>
          <p:spPr bwMode="auto">
            <a:xfrm>
              <a:off x="5867400" y="182880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10">
              <a:extLst>
                <a:ext uri="{FF2B5EF4-FFF2-40B4-BE49-F238E27FC236}">
                  <a16:creationId xmlns:a16="http://schemas.microsoft.com/office/drawing/2014/main" xmlns="" id="{BF4AE2D5-AD23-4ABF-996B-CFEB595A97ED}"/>
                </a:ext>
              </a:extLst>
            </p:cNvPr>
            <p:cNvSpPr>
              <a:spLocks noChangeShapeType="1"/>
            </p:cNvSpPr>
            <p:nvPr/>
          </p:nvSpPr>
          <p:spPr bwMode="auto">
            <a:xfrm>
              <a:off x="5867400" y="2895600"/>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1">
              <a:extLst>
                <a:ext uri="{FF2B5EF4-FFF2-40B4-BE49-F238E27FC236}">
                  <a16:creationId xmlns:a16="http://schemas.microsoft.com/office/drawing/2014/main" xmlns="" id="{6EF08DC8-0584-40C9-B0B4-1E3B7309EC71}"/>
                </a:ext>
              </a:extLst>
            </p:cNvPr>
            <p:cNvSpPr>
              <a:spLocks noChangeShapeType="1"/>
            </p:cNvSpPr>
            <p:nvPr/>
          </p:nvSpPr>
          <p:spPr bwMode="auto">
            <a:xfrm>
              <a:off x="5867400" y="388620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2">
              <a:extLst>
                <a:ext uri="{FF2B5EF4-FFF2-40B4-BE49-F238E27FC236}">
                  <a16:creationId xmlns:a16="http://schemas.microsoft.com/office/drawing/2014/main" xmlns="" id="{F35D878D-49C1-4E26-ABFD-FC052770FC68}"/>
                </a:ext>
              </a:extLst>
            </p:cNvPr>
            <p:cNvSpPr>
              <a:spLocks noChangeShapeType="1"/>
            </p:cNvSpPr>
            <p:nvPr/>
          </p:nvSpPr>
          <p:spPr bwMode="auto">
            <a:xfrm flipH="1">
              <a:off x="3733800" y="5181600"/>
              <a:ext cx="1143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13">
              <a:extLst>
                <a:ext uri="{FF2B5EF4-FFF2-40B4-BE49-F238E27FC236}">
                  <a16:creationId xmlns:a16="http://schemas.microsoft.com/office/drawing/2014/main" xmlns="" id="{6050CDE0-5965-412E-9A68-EB192A157219}"/>
                </a:ext>
              </a:extLst>
            </p:cNvPr>
            <p:cNvSpPr>
              <a:spLocks noChangeShapeType="1"/>
            </p:cNvSpPr>
            <p:nvPr/>
          </p:nvSpPr>
          <p:spPr bwMode="auto">
            <a:xfrm>
              <a:off x="3733800" y="2057400"/>
              <a:ext cx="213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14">
              <a:extLst>
                <a:ext uri="{FF2B5EF4-FFF2-40B4-BE49-F238E27FC236}">
                  <a16:creationId xmlns:a16="http://schemas.microsoft.com/office/drawing/2014/main" xmlns="" id="{26F2D4BA-60DC-454E-84AA-885F8E980E41}"/>
                </a:ext>
              </a:extLst>
            </p:cNvPr>
            <p:cNvSpPr>
              <a:spLocks noChangeShapeType="1"/>
            </p:cNvSpPr>
            <p:nvPr/>
          </p:nvSpPr>
          <p:spPr bwMode="auto">
            <a:xfrm>
              <a:off x="5867400" y="60960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Text Box 15">
              <a:extLst>
                <a:ext uri="{FF2B5EF4-FFF2-40B4-BE49-F238E27FC236}">
                  <a16:creationId xmlns:a16="http://schemas.microsoft.com/office/drawing/2014/main" xmlns="" id="{6912294F-35AC-4B3F-8ADC-B8F0D8CEBB08}"/>
                </a:ext>
              </a:extLst>
            </p:cNvPr>
            <p:cNvSpPr txBox="1">
              <a:spLocks noChangeArrowheads="1"/>
            </p:cNvSpPr>
            <p:nvPr/>
          </p:nvSpPr>
          <p:spPr bwMode="auto">
            <a:xfrm>
              <a:off x="6858000" y="2667000"/>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sz="2400">
                <a:latin typeface="Times New Roman" panose="02020603050405020304" pitchFamily="18" charset="0"/>
              </a:endParaRPr>
            </a:p>
          </p:txBody>
        </p:sp>
        <p:sp>
          <p:nvSpPr>
            <p:cNvPr id="20" name="Text Box 16">
              <a:extLst>
                <a:ext uri="{FF2B5EF4-FFF2-40B4-BE49-F238E27FC236}">
                  <a16:creationId xmlns:a16="http://schemas.microsoft.com/office/drawing/2014/main" xmlns="" id="{8CEE8041-2B84-4189-A3DD-0C753F359F52}"/>
                </a:ext>
              </a:extLst>
            </p:cNvPr>
            <p:cNvSpPr txBox="1">
              <a:spLocks noChangeArrowheads="1"/>
            </p:cNvSpPr>
            <p:nvPr/>
          </p:nvSpPr>
          <p:spPr bwMode="auto">
            <a:xfrm>
              <a:off x="5867398" y="6019800"/>
              <a:ext cx="981898" cy="346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en-US" sz="1400" b="1" dirty="0">
                  <a:latin typeface="Times New Roman" panose="02020603050405020304" pitchFamily="18" charset="0"/>
                </a:rPr>
                <a:t>False</a:t>
              </a:r>
            </a:p>
          </p:txBody>
        </p:sp>
        <p:sp>
          <p:nvSpPr>
            <p:cNvPr id="21" name="Text Box 17">
              <a:extLst>
                <a:ext uri="{FF2B5EF4-FFF2-40B4-BE49-F238E27FC236}">
                  <a16:creationId xmlns:a16="http://schemas.microsoft.com/office/drawing/2014/main" xmlns="" id="{C7CB8C0D-FFF7-4404-ABE8-C46137A64C4C}"/>
                </a:ext>
              </a:extLst>
            </p:cNvPr>
            <p:cNvSpPr txBox="1">
              <a:spLocks noChangeArrowheads="1"/>
            </p:cNvSpPr>
            <p:nvPr/>
          </p:nvSpPr>
          <p:spPr bwMode="auto">
            <a:xfrm>
              <a:off x="4267200" y="4876800"/>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400" b="1">
                  <a:latin typeface="Times New Roman" panose="02020603050405020304" pitchFamily="18" charset="0"/>
                </a:rPr>
                <a:t>True</a:t>
              </a:r>
            </a:p>
          </p:txBody>
        </p:sp>
        <p:sp>
          <p:nvSpPr>
            <p:cNvPr id="22" name="Line 18">
              <a:extLst>
                <a:ext uri="{FF2B5EF4-FFF2-40B4-BE49-F238E27FC236}">
                  <a16:creationId xmlns:a16="http://schemas.microsoft.com/office/drawing/2014/main" xmlns="" id="{CFEAA8BB-F40E-4288-A81F-8F188824C60B}"/>
                </a:ext>
              </a:extLst>
            </p:cNvPr>
            <p:cNvSpPr>
              <a:spLocks noChangeShapeType="1"/>
            </p:cNvSpPr>
            <p:nvPr/>
          </p:nvSpPr>
          <p:spPr bwMode="auto">
            <a:xfrm>
              <a:off x="3733800" y="2057400"/>
              <a:ext cx="0" cy="3124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 name="Rectangle: Rounded Corners 3">
            <a:extLst>
              <a:ext uri="{FF2B5EF4-FFF2-40B4-BE49-F238E27FC236}">
                <a16:creationId xmlns:a16="http://schemas.microsoft.com/office/drawing/2014/main" xmlns="" id="{2272EBEA-4562-4432-88B1-D53955B7DB4F}"/>
              </a:ext>
            </a:extLst>
          </p:cNvPr>
          <p:cNvSpPr/>
          <p:nvPr/>
        </p:nvSpPr>
        <p:spPr>
          <a:xfrm>
            <a:off x="1893073" y="1241942"/>
            <a:ext cx="3792099" cy="172772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Syntax</a:t>
            </a:r>
          </a:p>
          <a:p>
            <a:r>
              <a:rPr lang="en-US" dirty="0">
                <a:latin typeface="Montserrat" panose="020B0604020202020204" charset="0"/>
                <a:ea typeface="Times New Roman" panose="02020603050405020304" pitchFamily="18" charset="0"/>
                <a:cs typeface="Times New Roman" panose="02020603050405020304" pitchFamily="18" charset="0"/>
              </a:rPr>
              <a:t>do </a:t>
            </a:r>
            <a:br>
              <a:rPr lang="en-US" dirty="0">
                <a:latin typeface="Montserrat" panose="020B0604020202020204" charset="0"/>
                <a:ea typeface="Times New Roman" panose="02020603050405020304" pitchFamily="18" charset="0"/>
                <a:cs typeface="Times New Roman" panose="02020603050405020304" pitchFamily="18" charset="0"/>
              </a:rPr>
            </a:br>
            <a:r>
              <a:rPr lang="en-US" dirty="0">
                <a:latin typeface="Montserrat" panose="020B0604020202020204" charset="0"/>
                <a:ea typeface="Times New Roman" panose="02020603050405020304" pitchFamily="18" charset="0"/>
                <a:cs typeface="Times New Roman" panose="02020603050405020304" pitchFamily="18" charset="0"/>
              </a:rPr>
              <a:t>{ </a:t>
            </a:r>
            <a:br>
              <a:rPr lang="en-US" dirty="0">
                <a:latin typeface="Montserrat" panose="020B0604020202020204" charset="0"/>
                <a:ea typeface="Times New Roman" panose="02020603050405020304" pitchFamily="18" charset="0"/>
                <a:cs typeface="Times New Roman" panose="02020603050405020304" pitchFamily="18" charset="0"/>
              </a:rPr>
            </a:br>
            <a:r>
              <a:rPr lang="en-US" dirty="0">
                <a:latin typeface="Montserrat" panose="020B0604020202020204" charset="0"/>
                <a:ea typeface="Times New Roman" panose="02020603050405020304" pitchFamily="18" charset="0"/>
                <a:cs typeface="Times New Roman" panose="02020603050405020304" pitchFamily="18" charset="0"/>
              </a:rPr>
              <a:t>	body of the loop; </a:t>
            </a:r>
            <a:br>
              <a:rPr lang="en-US" dirty="0">
                <a:latin typeface="Montserrat" panose="020B0604020202020204" charset="0"/>
                <a:ea typeface="Times New Roman" panose="02020603050405020304" pitchFamily="18" charset="0"/>
                <a:cs typeface="Times New Roman" panose="02020603050405020304" pitchFamily="18" charset="0"/>
              </a:rPr>
            </a:br>
            <a:r>
              <a:rPr lang="en-US" dirty="0">
                <a:latin typeface="Montserrat" panose="020B0604020202020204" charset="0"/>
                <a:ea typeface="Times New Roman" panose="02020603050405020304" pitchFamily="18" charset="0"/>
                <a:cs typeface="Times New Roman" panose="02020603050405020304" pitchFamily="18" charset="0"/>
              </a:rPr>
              <a:t>} </a:t>
            </a:r>
            <a:br>
              <a:rPr lang="en-US" dirty="0">
                <a:latin typeface="Montserrat" panose="020B0604020202020204" charset="0"/>
                <a:ea typeface="Times New Roman" panose="02020603050405020304" pitchFamily="18" charset="0"/>
                <a:cs typeface="Times New Roman" panose="02020603050405020304" pitchFamily="18" charset="0"/>
              </a:rPr>
            </a:br>
            <a:r>
              <a:rPr lang="en-US" dirty="0">
                <a:latin typeface="Montserrat" panose="020B0604020202020204" charset="0"/>
                <a:ea typeface="Times New Roman" panose="02020603050405020304" pitchFamily="18" charset="0"/>
                <a:cs typeface="Times New Roman" panose="02020603050405020304" pitchFamily="18" charset="0"/>
              </a:rPr>
              <a:t>while(expression/condition);</a:t>
            </a:r>
            <a:endParaRPr lang="en-IN" dirty="0"/>
          </a:p>
        </p:txBody>
      </p:sp>
    </p:spTree>
    <p:extLst>
      <p:ext uri="{BB962C8B-B14F-4D97-AF65-F5344CB8AC3E}">
        <p14:creationId xmlns:p14="http://schemas.microsoft.com/office/powerpoint/2010/main" val="16187102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CFFA90F-99C7-4E41-9B5A-391BB60829FE}"/>
              </a:ext>
            </a:extLst>
          </p:cNvPr>
          <p:cNvSpPr>
            <a:spLocks noGrp="1"/>
          </p:cNvSpPr>
          <p:nvPr>
            <p:ph type="title"/>
          </p:nvPr>
        </p:nvSpPr>
        <p:spPr/>
        <p:txBody>
          <a:bodyPr>
            <a:normAutofit/>
          </a:bodyPr>
          <a:lstStyle/>
          <a:p>
            <a:pPr algn="ctr"/>
            <a:r>
              <a:rPr lang="en-US" sz="4000" dirty="0">
                <a:latin typeface="Montserrat" panose="020B0604020202020204" charset="0"/>
                <a:ea typeface="Times New Roman" panose="02020603050405020304" pitchFamily="18" charset="0"/>
              </a:rPr>
              <a:t>d</a:t>
            </a:r>
            <a:r>
              <a:rPr lang="en-US" sz="4000" dirty="0">
                <a:effectLst/>
                <a:latin typeface="Montserrat" panose="020B0604020202020204" charset="0"/>
                <a:ea typeface="Times New Roman" panose="02020603050405020304" pitchFamily="18" charset="0"/>
              </a:rPr>
              <a:t>o-while statement - Example</a:t>
            </a:r>
            <a:endParaRPr lang="en-IN" sz="4000" dirty="0"/>
          </a:p>
        </p:txBody>
      </p:sp>
      <p:sp>
        <p:nvSpPr>
          <p:cNvPr id="3" name="Content Placeholder 2">
            <a:extLst>
              <a:ext uri="{FF2B5EF4-FFF2-40B4-BE49-F238E27FC236}">
                <a16:creationId xmlns:a16="http://schemas.microsoft.com/office/drawing/2014/main" xmlns="" id="{B7FAAF7B-4C15-4151-B6CE-889BFE8682DA}"/>
              </a:ext>
            </a:extLst>
          </p:cNvPr>
          <p:cNvSpPr>
            <a:spLocks noGrp="1"/>
          </p:cNvSpPr>
          <p:nvPr>
            <p:ph sz="half" idx="1"/>
          </p:nvPr>
        </p:nvSpPr>
        <p:spPr>
          <a:xfrm>
            <a:off x="838200" y="1431729"/>
            <a:ext cx="4831080" cy="5061145"/>
          </a:xfrm>
        </p:spPr>
        <p:txBody>
          <a:bodyPr>
            <a:normAutofit fontScale="25000" lnSpcReduction="20000"/>
          </a:bodyPr>
          <a:lstStyle/>
          <a:p>
            <a:pPr marL="0" indent="0">
              <a:buNone/>
            </a:pPr>
            <a:r>
              <a:rPr lang="en-US" sz="6400" dirty="0">
                <a:effectLst/>
                <a:latin typeface="Montserrat" panose="020B0604020202020204" charset="0"/>
                <a:ea typeface="Times New Roman" panose="02020603050405020304" pitchFamily="18" charset="0"/>
                <a:cs typeface="Times New Roman" panose="02020603050405020304" pitchFamily="18" charset="0"/>
              </a:rPr>
              <a:t>/* Program to illustrate the do-while loop*/ </a:t>
            </a:r>
          </a:p>
          <a:p>
            <a:pPr marL="0" indent="0">
              <a:lnSpc>
                <a:spcPct val="170000"/>
              </a:lnSpc>
              <a:spcBef>
                <a:spcPts val="0"/>
              </a:spcBef>
              <a:buNone/>
            </a:pPr>
            <a:r>
              <a:rPr lang="en-US" sz="2200" dirty="0">
                <a:effectLst/>
                <a:latin typeface="Montserrat" panose="020B0604020202020204" charset="0"/>
                <a:ea typeface="Times New Roman" panose="02020603050405020304" pitchFamily="18" charset="0"/>
                <a:cs typeface="Times New Roman" panose="02020603050405020304" pitchFamily="18" charset="0"/>
              </a:rPr>
              <a:t/>
            </a:r>
            <a:br>
              <a:rPr lang="en-US" sz="2200" dirty="0">
                <a:effectLst/>
                <a:latin typeface="Montserrat" panose="020B0604020202020204" charset="0"/>
                <a:ea typeface="Times New Roman" panose="02020603050405020304" pitchFamily="18" charset="0"/>
                <a:cs typeface="Times New Roman" panose="02020603050405020304" pitchFamily="18" charset="0"/>
              </a:rPr>
            </a:br>
            <a:r>
              <a:rPr lang="en-US" sz="5600" dirty="0">
                <a:latin typeface="Montserrat" panose="020B0604020202020204" charset="0"/>
                <a:ea typeface="Times New Roman" panose="02020603050405020304" pitchFamily="18" charset="0"/>
                <a:cs typeface="Times New Roman" panose="02020603050405020304" pitchFamily="18" charset="0"/>
              </a:rPr>
              <a:t>#include&lt;</a:t>
            </a:r>
            <a:r>
              <a:rPr lang="en-US" sz="5600" dirty="0" err="1">
                <a:latin typeface="Montserrat" panose="020B0604020202020204" charset="0"/>
                <a:ea typeface="Times New Roman" panose="02020603050405020304" pitchFamily="18" charset="0"/>
                <a:cs typeface="Times New Roman" panose="02020603050405020304" pitchFamily="18" charset="0"/>
              </a:rPr>
              <a:t>stdio.h</a:t>
            </a:r>
            <a:r>
              <a:rPr lang="en-US" sz="5600" dirty="0">
                <a:latin typeface="Montserrat" panose="020B0604020202020204" charset="0"/>
                <a:ea typeface="Times New Roman" panose="02020603050405020304" pitchFamily="18" charset="0"/>
                <a:cs typeface="Times New Roman" panose="02020603050405020304" pitchFamily="18" charset="0"/>
              </a:rPr>
              <a:t>&gt;</a:t>
            </a:r>
          </a:p>
          <a:p>
            <a:pPr marL="0" indent="0">
              <a:lnSpc>
                <a:spcPct val="170000"/>
              </a:lnSpc>
              <a:spcBef>
                <a:spcPts val="0"/>
              </a:spcBef>
              <a:buNone/>
            </a:pPr>
            <a:r>
              <a:rPr lang="en-US" sz="5600" dirty="0">
                <a:latin typeface="Montserrat" panose="020B0604020202020204" charset="0"/>
                <a:ea typeface="Times New Roman" panose="02020603050405020304" pitchFamily="18" charset="0"/>
                <a:cs typeface="Times New Roman" panose="02020603050405020304" pitchFamily="18" charset="0"/>
              </a:rPr>
              <a:t>void main()</a:t>
            </a:r>
          </a:p>
          <a:p>
            <a:pPr marL="0" indent="0">
              <a:lnSpc>
                <a:spcPct val="170000"/>
              </a:lnSpc>
              <a:spcBef>
                <a:spcPts val="0"/>
              </a:spcBef>
              <a:buNone/>
            </a:pPr>
            <a:r>
              <a:rPr lang="en-US" sz="5600" dirty="0">
                <a:latin typeface="Montserrat" panose="020B0604020202020204" charset="0"/>
                <a:ea typeface="Times New Roman" panose="02020603050405020304" pitchFamily="18" charset="0"/>
                <a:cs typeface="Times New Roman" panose="02020603050405020304" pitchFamily="18" charset="0"/>
              </a:rPr>
              <a:t>{</a:t>
            </a:r>
          </a:p>
          <a:p>
            <a:pPr marL="0" indent="0">
              <a:lnSpc>
                <a:spcPct val="170000"/>
              </a:lnSpc>
              <a:spcBef>
                <a:spcPts val="0"/>
              </a:spcBef>
              <a:buNone/>
            </a:pPr>
            <a:r>
              <a:rPr lang="en-US" sz="5600" dirty="0">
                <a:latin typeface="Montserrat" panose="020B0604020202020204" charset="0"/>
                <a:ea typeface="Times New Roman" panose="02020603050405020304" pitchFamily="18" charset="0"/>
                <a:cs typeface="Times New Roman" panose="02020603050405020304" pitchFamily="18" charset="0"/>
              </a:rPr>
              <a:t>    char </a:t>
            </a:r>
            <a:r>
              <a:rPr lang="en-US" sz="5600" dirty="0" err="1">
                <a:latin typeface="Montserrat" panose="020B0604020202020204" charset="0"/>
                <a:ea typeface="Times New Roman" panose="02020603050405020304" pitchFamily="18" charset="0"/>
                <a:cs typeface="Times New Roman" panose="02020603050405020304" pitchFamily="18" charset="0"/>
              </a:rPr>
              <a:t>inchar</a:t>
            </a:r>
            <a:r>
              <a:rPr lang="en-US" sz="5600" dirty="0">
                <a:latin typeface="Montserrat" panose="020B0604020202020204" charset="0"/>
                <a:ea typeface="Times New Roman" panose="02020603050405020304" pitchFamily="18" charset="0"/>
                <a:cs typeface="Times New Roman" panose="02020603050405020304" pitchFamily="18" charset="0"/>
              </a:rPr>
              <a:t>;</a:t>
            </a:r>
          </a:p>
          <a:p>
            <a:pPr marL="0" indent="0">
              <a:lnSpc>
                <a:spcPct val="170000"/>
              </a:lnSpc>
              <a:spcBef>
                <a:spcPts val="0"/>
              </a:spcBef>
              <a:buNone/>
            </a:pPr>
            <a:r>
              <a:rPr lang="en-US" sz="5600" dirty="0">
                <a:latin typeface="Montserrat" panose="020B0604020202020204" charset="0"/>
                <a:ea typeface="Times New Roman" panose="02020603050405020304" pitchFamily="18" charset="0"/>
                <a:cs typeface="Times New Roman" panose="02020603050405020304" pitchFamily="18" charset="0"/>
              </a:rPr>
              <a:t>    do</a:t>
            </a:r>
          </a:p>
          <a:p>
            <a:pPr marL="0" indent="0">
              <a:lnSpc>
                <a:spcPct val="170000"/>
              </a:lnSpc>
              <a:spcBef>
                <a:spcPts val="0"/>
              </a:spcBef>
              <a:buNone/>
            </a:pPr>
            <a:r>
              <a:rPr lang="en-US" sz="5600" dirty="0">
                <a:latin typeface="Montserrat" panose="020B0604020202020204" charset="0"/>
                <a:ea typeface="Times New Roman" panose="02020603050405020304" pitchFamily="18" charset="0"/>
                <a:cs typeface="Times New Roman" panose="02020603050405020304" pitchFamily="18" charset="0"/>
              </a:rPr>
              <a:t>    {</a:t>
            </a:r>
          </a:p>
          <a:p>
            <a:pPr marL="0" indent="0">
              <a:lnSpc>
                <a:spcPct val="170000"/>
              </a:lnSpc>
              <a:spcBef>
                <a:spcPts val="0"/>
              </a:spcBef>
              <a:buNone/>
            </a:pPr>
            <a:r>
              <a:rPr lang="en-US" sz="5600" dirty="0">
                <a:latin typeface="Montserrat" panose="020B0604020202020204" charset="0"/>
                <a:ea typeface="Times New Roman" panose="02020603050405020304" pitchFamily="18" charset="0"/>
                <a:cs typeface="Times New Roman" panose="02020603050405020304" pitchFamily="18" charset="0"/>
              </a:rPr>
              <a:t>        </a:t>
            </a:r>
            <a:r>
              <a:rPr lang="en-US" sz="5600" dirty="0" err="1">
                <a:latin typeface="Montserrat" panose="020B0604020202020204" charset="0"/>
                <a:ea typeface="Times New Roman" panose="02020603050405020304" pitchFamily="18" charset="0"/>
                <a:cs typeface="Times New Roman" panose="02020603050405020304" pitchFamily="18" charset="0"/>
              </a:rPr>
              <a:t>printf</a:t>
            </a:r>
            <a:r>
              <a:rPr lang="en-US" sz="5600" dirty="0">
                <a:latin typeface="Montserrat" panose="020B0604020202020204" charset="0"/>
                <a:ea typeface="Times New Roman" panose="02020603050405020304" pitchFamily="18" charset="0"/>
                <a:cs typeface="Times New Roman" panose="02020603050405020304" pitchFamily="18" charset="0"/>
              </a:rPr>
              <a:t>("Input y or n\n");</a:t>
            </a:r>
          </a:p>
          <a:p>
            <a:pPr marL="0" indent="0">
              <a:lnSpc>
                <a:spcPct val="170000"/>
              </a:lnSpc>
              <a:spcBef>
                <a:spcPts val="0"/>
              </a:spcBef>
              <a:buNone/>
            </a:pPr>
            <a:r>
              <a:rPr lang="en-US" sz="5600" dirty="0">
                <a:latin typeface="Montserrat" panose="020B0604020202020204" charset="0"/>
                <a:ea typeface="Times New Roman" panose="02020603050405020304" pitchFamily="18" charset="0"/>
                <a:cs typeface="Times New Roman" panose="02020603050405020304" pitchFamily="18" charset="0"/>
              </a:rPr>
              <a:t>        </a:t>
            </a:r>
            <a:r>
              <a:rPr lang="en-US" sz="5600" dirty="0" err="1">
                <a:latin typeface="Montserrat" panose="020B0604020202020204" charset="0"/>
                <a:ea typeface="Times New Roman" panose="02020603050405020304" pitchFamily="18" charset="0"/>
                <a:cs typeface="Times New Roman" panose="02020603050405020304" pitchFamily="18" charset="0"/>
              </a:rPr>
              <a:t>scanf</a:t>
            </a:r>
            <a:r>
              <a:rPr lang="en-US" sz="5600" dirty="0">
                <a:latin typeface="Montserrat" panose="020B0604020202020204" charset="0"/>
                <a:ea typeface="Times New Roman" panose="02020603050405020304" pitchFamily="18" charset="0"/>
                <a:cs typeface="Times New Roman" panose="02020603050405020304" pitchFamily="18" charset="0"/>
              </a:rPr>
              <a:t>(" %c",&amp;</a:t>
            </a:r>
            <a:r>
              <a:rPr lang="en-US" sz="5600" dirty="0" err="1">
                <a:latin typeface="Montserrat" panose="020B0604020202020204" charset="0"/>
                <a:ea typeface="Times New Roman" panose="02020603050405020304" pitchFamily="18" charset="0"/>
                <a:cs typeface="Times New Roman" panose="02020603050405020304" pitchFamily="18" charset="0"/>
              </a:rPr>
              <a:t>inchar</a:t>
            </a:r>
            <a:r>
              <a:rPr lang="en-US" sz="5600" dirty="0">
                <a:latin typeface="Montserrat" panose="020B0604020202020204" charset="0"/>
                <a:ea typeface="Times New Roman" panose="02020603050405020304" pitchFamily="18" charset="0"/>
                <a:cs typeface="Times New Roman" panose="02020603050405020304" pitchFamily="18" charset="0"/>
              </a:rPr>
              <a:t>);</a:t>
            </a:r>
          </a:p>
          <a:p>
            <a:pPr marL="0" indent="0">
              <a:lnSpc>
                <a:spcPct val="170000"/>
              </a:lnSpc>
              <a:spcBef>
                <a:spcPts val="0"/>
              </a:spcBef>
              <a:buNone/>
            </a:pPr>
            <a:r>
              <a:rPr lang="en-US" sz="5600" dirty="0">
                <a:latin typeface="Montserrat" panose="020B0604020202020204" charset="0"/>
                <a:ea typeface="Times New Roman" panose="02020603050405020304" pitchFamily="18" charset="0"/>
                <a:cs typeface="Times New Roman" panose="02020603050405020304" pitchFamily="18" charset="0"/>
              </a:rPr>
              <a:t>    }while(</a:t>
            </a:r>
            <a:r>
              <a:rPr lang="en-US" sz="5600" dirty="0" err="1">
                <a:latin typeface="Montserrat" panose="020B0604020202020204" charset="0"/>
                <a:ea typeface="Times New Roman" panose="02020603050405020304" pitchFamily="18" charset="0"/>
                <a:cs typeface="Times New Roman" panose="02020603050405020304" pitchFamily="18" charset="0"/>
              </a:rPr>
              <a:t>inchar</a:t>
            </a:r>
            <a:r>
              <a:rPr lang="en-US" sz="5600" dirty="0">
                <a:latin typeface="Montserrat" panose="020B0604020202020204" charset="0"/>
                <a:ea typeface="Times New Roman" panose="02020603050405020304" pitchFamily="18" charset="0"/>
                <a:cs typeface="Times New Roman" panose="02020603050405020304" pitchFamily="18" charset="0"/>
              </a:rPr>
              <a:t>!='y' &amp;&amp; </a:t>
            </a:r>
            <a:r>
              <a:rPr lang="en-US" sz="5600" dirty="0" err="1">
                <a:latin typeface="Montserrat" panose="020B0604020202020204" charset="0"/>
                <a:ea typeface="Times New Roman" panose="02020603050405020304" pitchFamily="18" charset="0"/>
                <a:cs typeface="Times New Roman" panose="02020603050405020304" pitchFamily="18" charset="0"/>
              </a:rPr>
              <a:t>inchar</a:t>
            </a:r>
            <a:r>
              <a:rPr lang="en-US" sz="5600" dirty="0">
                <a:latin typeface="Montserrat" panose="020B0604020202020204" charset="0"/>
                <a:ea typeface="Times New Roman" panose="02020603050405020304" pitchFamily="18" charset="0"/>
                <a:cs typeface="Times New Roman" panose="02020603050405020304" pitchFamily="18" charset="0"/>
              </a:rPr>
              <a:t> != 'n');</a:t>
            </a:r>
          </a:p>
          <a:p>
            <a:pPr marL="0" indent="0">
              <a:lnSpc>
                <a:spcPct val="170000"/>
              </a:lnSpc>
              <a:spcBef>
                <a:spcPts val="0"/>
              </a:spcBef>
              <a:buNone/>
            </a:pPr>
            <a:r>
              <a:rPr lang="en-US" sz="5600" dirty="0">
                <a:latin typeface="Montserrat" panose="020B0604020202020204" charset="0"/>
                <a:ea typeface="Times New Roman" panose="02020603050405020304" pitchFamily="18" charset="0"/>
                <a:cs typeface="Times New Roman" panose="02020603050405020304" pitchFamily="18" charset="0"/>
              </a:rPr>
              <a:t>    if(</a:t>
            </a:r>
            <a:r>
              <a:rPr lang="en-US" sz="5600" dirty="0" err="1">
                <a:latin typeface="Montserrat" panose="020B0604020202020204" charset="0"/>
                <a:ea typeface="Times New Roman" panose="02020603050405020304" pitchFamily="18" charset="0"/>
                <a:cs typeface="Times New Roman" panose="02020603050405020304" pitchFamily="18" charset="0"/>
              </a:rPr>
              <a:t>inchar</a:t>
            </a:r>
            <a:r>
              <a:rPr lang="en-US" sz="5600" dirty="0">
                <a:latin typeface="Montserrat" panose="020B0604020202020204" charset="0"/>
                <a:ea typeface="Times New Roman" panose="02020603050405020304" pitchFamily="18" charset="0"/>
                <a:cs typeface="Times New Roman" panose="02020603050405020304" pitchFamily="18" charset="0"/>
              </a:rPr>
              <a:t>=='y')</a:t>
            </a:r>
          </a:p>
          <a:p>
            <a:pPr marL="0" indent="0">
              <a:lnSpc>
                <a:spcPct val="170000"/>
              </a:lnSpc>
              <a:spcBef>
                <a:spcPts val="0"/>
              </a:spcBef>
              <a:buNone/>
            </a:pPr>
            <a:r>
              <a:rPr lang="en-US" sz="5600" dirty="0">
                <a:latin typeface="Montserrat" panose="020B0604020202020204" charset="0"/>
                <a:ea typeface="Times New Roman" panose="02020603050405020304" pitchFamily="18" charset="0"/>
                <a:cs typeface="Times New Roman" panose="02020603050405020304" pitchFamily="18" charset="0"/>
              </a:rPr>
              <a:t>        </a:t>
            </a:r>
            <a:r>
              <a:rPr lang="en-US" sz="5600" dirty="0" err="1">
                <a:latin typeface="Montserrat" panose="020B0604020202020204" charset="0"/>
                <a:ea typeface="Times New Roman" panose="02020603050405020304" pitchFamily="18" charset="0"/>
                <a:cs typeface="Times New Roman" panose="02020603050405020304" pitchFamily="18" charset="0"/>
              </a:rPr>
              <a:t>printf</a:t>
            </a:r>
            <a:r>
              <a:rPr lang="en-US" sz="5600" dirty="0">
                <a:latin typeface="Montserrat" panose="020B0604020202020204" charset="0"/>
                <a:ea typeface="Times New Roman" panose="02020603050405020304" pitchFamily="18" charset="0"/>
                <a:cs typeface="Times New Roman" panose="02020603050405020304" pitchFamily="18" charset="0"/>
              </a:rPr>
              <a:t>("you pressed y\n");</a:t>
            </a:r>
          </a:p>
          <a:p>
            <a:pPr marL="0" indent="0">
              <a:lnSpc>
                <a:spcPct val="170000"/>
              </a:lnSpc>
              <a:spcBef>
                <a:spcPts val="0"/>
              </a:spcBef>
              <a:buNone/>
            </a:pPr>
            <a:r>
              <a:rPr lang="en-US" sz="5600" dirty="0">
                <a:latin typeface="Montserrat" panose="020B0604020202020204" charset="0"/>
                <a:ea typeface="Times New Roman" panose="02020603050405020304" pitchFamily="18" charset="0"/>
                <a:cs typeface="Times New Roman" panose="02020603050405020304" pitchFamily="18" charset="0"/>
              </a:rPr>
              <a:t>    else</a:t>
            </a:r>
          </a:p>
          <a:p>
            <a:pPr marL="0" indent="0">
              <a:lnSpc>
                <a:spcPct val="170000"/>
              </a:lnSpc>
              <a:spcBef>
                <a:spcPts val="0"/>
              </a:spcBef>
              <a:buNone/>
            </a:pPr>
            <a:r>
              <a:rPr lang="en-US" sz="5600" dirty="0">
                <a:latin typeface="Montserrat" panose="020B0604020202020204" charset="0"/>
                <a:ea typeface="Times New Roman" panose="02020603050405020304" pitchFamily="18" charset="0"/>
                <a:cs typeface="Times New Roman" panose="02020603050405020304" pitchFamily="18" charset="0"/>
              </a:rPr>
              <a:t>        </a:t>
            </a:r>
            <a:r>
              <a:rPr lang="en-US" sz="5600" dirty="0" err="1">
                <a:latin typeface="Montserrat" panose="020B0604020202020204" charset="0"/>
                <a:ea typeface="Times New Roman" panose="02020603050405020304" pitchFamily="18" charset="0"/>
                <a:cs typeface="Times New Roman" panose="02020603050405020304" pitchFamily="18" charset="0"/>
              </a:rPr>
              <a:t>printf</a:t>
            </a:r>
            <a:r>
              <a:rPr lang="en-US" sz="5600" dirty="0">
                <a:latin typeface="Montserrat" panose="020B0604020202020204" charset="0"/>
                <a:ea typeface="Times New Roman" panose="02020603050405020304" pitchFamily="18" charset="0"/>
                <a:cs typeface="Times New Roman" panose="02020603050405020304" pitchFamily="18" charset="0"/>
              </a:rPr>
              <a:t>("You pressed n\n");</a:t>
            </a:r>
          </a:p>
          <a:p>
            <a:pPr marL="0" indent="0">
              <a:lnSpc>
                <a:spcPct val="170000"/>
              </a:lnSpc>
              <a:spcBef>
                <a:spcPts val="0"/>
              </a:spcBef>
              <a:buNone/>
            </a:pPr>
            <a:r>
              <a:rPr lang="en-US" sz="5600" dirty="0">
                <a:latin typeface="Montserrat" panose="020B0604020202020204" charset="0"/>
                <a:ea typeface="Times New Roman" panose="02020603050405020304" pitchFamily="18" charset="0"/>
                <a:cs typeface="Times New Roman" panose="02020603050405020304" pitchFamily="18" charset="0"/>
              </a:rPr>
              <a:t>}</a:t>
            </a:r>
            <a:endParaRPr lang="en-IN" sz="5600" dirty="0">
              <a:effectLst/>
              <a:latin typeface="Montserrat" panose="020B0604020202020204" charset="0"/>
              <a:ea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xmlns="" id="{E9FA96F0-EDEA-431A-8B48-FAF4A6A7984D}"/>
              </a:ext>
            </a:extLst>
          </p:cNvPr>
          <p:cNvSpPr>
            <a:spLocks noGrp="1"/>
          </p:cNvSpPr>
          <p:nvPr>
            <p:ph sz="half" idx="2"/>
          </p:nvPr>
        </p:nvSpPr>
        <p:spPr/>
        <p:txBody>
          <a:bodyPr>
            <a:normAutofit fontScale="25000" lnSpcReduction="20000"/>
          </a:bodyPr>
          <a:lstStyle/>
          <a:p>
            <a:pPr marL="0" indent="0">
              <a:buNone/>
            </a:pPr>
            <a:r>
              <a:rPr lang="en-IN" sz="8000" b="1" dirty="0"/>
              <a:t>Output:</a:t>
            </a:r>
          </a:p>
          <a:p>
            <a:pPr marL="0" indent="0">
              <a:buNone/>
            </a:pPr>
            <a:r>
              <a:rPr lang="en-US" sz="8000" dirty="0"/>
              <a:t>Input y or n</a:t>
            </a:r>
          </a:p>
          <a:p>
            <a:pPr marL="0" indent="0">
              <a:buNone/>
            </a:pPr>
            <a:r>
              <a:rPr lang="en-US" sz="8000" dirty="0"/>
              <a:t>a</a:t>
            </a:r>
          </a:p>
          <a:p>
            <a:pPr marL="0" indent="0">
              <a:buNone/>
            </a:pPr>
            <a:r>
              <a:rPr lang="en-US" sz="8000" dirty="0"/>
              <a:t>Input y or n</a:t>
            </a:r>
          </a:p>
          <a:p>
            <a:pPr marL="0" indent="0">
              <a:buNone/>
            </a:pPr>
            <a:r>
              <a:rPr lang="en-US" sz="8000" dirty="0"/>
              <a:t>b</a:t>
            </a:r>
          </a:p>
          <a:p>
            <a:pPr marL="0" indent="0">
              <a:buNone/>
            </a:pPr>
            <a:r>
              <a:rPr lang="en-US" sz="8000" dirty="0"/>
              <a:t>Input y or n</a:t>
            </a:r>
          </a:p>
          <a:p>
            <a:pPr marL="0" indent="0">
              <a:buNone/>
            </a:pPr>
            <a:r>
              <a:rPr lang="en-US" sz="8000" dirty="0"/>
              <a:t>r</a:t>
            </a:r>
          </a:p>
          <a:p>
            <a:pPr marL="0" indent="0">
              <a:buNone/>
            </a:pPr>
            <a:r>
              <a:rPr lang="en-US" sz="8000" dirty="0"/>
              <a:t>Input y or n</a:t>
            </a:r>
          </a:p>
          <a:p>
            <a:pPr marL="0" indent="0">
              <a:buNone/>
            </a:pPr>
            <a:r>
              <a:rPr lang="en-US" sz="8000" dirty="0"/>
              <a:t>y</a:t>
            </a:r>
          </a:p>
          <a:p>
            <a:pPr marL="0" indent="0">
              <a:buNone/>
            </a:pPr>
            <a:r>
              <a:rPr lang="en-US" sz="8000" dirty="0"/>
              <a:t>you pressed y</a:t>
            </a:r>
          </a:p>
        </p:txBody>
      </p:sp>
    </p:spTree>
    <p:extLst>
      <p:ext uri="{BB962C8B-B14F-4D97-AF65-F5344CB8AC3E}">
        <p14:creationId xmlns:p14="http://schemas.microsoft.com/office/powerpoint/2010/main" val="394688867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4F2BB7-6902-4E8E-9E2C-E514D28965AA}"/>
              </a:ext>
            </a:extLst>
          </p:cNvPr>
          <p:cNvSpPr>
            <a:spLocks noGrp="1"/>
          </p:cNvSpPr>
          <p:nvPr>
            <p:ph type="title"/>
          </p:nvPr>
        </p:nvSpPr>
        <p:spPr/>
        <p:txBody>
          <a:bodyPr/>
          <a:lstStyle/>
          <a:p>
            <a:r>
              <a:rPr lang="en-IN" dirty="0"/>
              <a:t>while and do…while statement</a:t>
            </a:r>
          </a:p>
        </p:txBody>
      </p:sp>
      <p:graphicFrame>
        <p:nvGraphicFramePr>
          <p:cNvPr id="4" name="Table 4">
            <a:extLst>
              <a:ext uri="{FF2B5EF4-FFF2-40B4-BE49-F238E27FC236}">
                <a16:creationId xmlns:a16="http://schemas.microsoft.com/office/drawing/2014/main" xmlns="" id="{25E649BC-CA94-4A0E-9E14-9BB2049477DB}"/>
              </a:ext>
            </a:extLst>
          </p:cNvPr>
          <p:cNvGraphicFramePr>
            <a:graphicFrameLocks noGrp="1"/>
          </p:cNvGraphicFramePr>
          <p:nvPr>
            <p:ph idx="1"/>
          </p:nvPr>
        </p:nvGraphicFramePr>
        <p:xfrm>
          <a:off x="1198527" y="1843778"/>
          <a:ext cx="9509230" cy="3292233"/>
        </p:xfrm>
        <a:graphic>
          <a:graphicData uri="http://schemas.openxmlformats.org/drawingml/2006/table">
            <a:tbl>
              <a:tblPr firstRow="1" bandRow="1">
                <a:tableStyleId>{5C22544A-7EE6-4342-B048-85BDC9FD1C3A}</a:tableStyleId>
              </a:tblPr>
              <a:tblGrid>
                <a:gridCol w="4751899">
                  <a:extLst>
                    <a:ext uri="{9D8B030D-6E8A-4147-A177-3AD203B41FA5}">
                      <a16:colId xmlns:a16="http://schemas.microsoft.com/office/drawing/2014/main" xmlns="" val="1250212237"/>
                    </a:ext>
                  </a:extLst>
                </a:gridCol>
                <a:gridCol w="4757331">
                  <a:extLst>
                    <a:ext uri="{9D8B030D-6E8A-4147-A177-3AD203B41FA5}">
                      <a16:colId xmlns:a16="http://schemas.microsoft.com/office/drawing/2014/main" xmlns="" val="4186679031"/>
                    </a:ext>
                  </a:extLst>
                </a:gridCol>
              </a:tblGrid>
              <a:tr h="792611">
                <a:tc>
                  <a:txBody>
                    <a:bodyPr/>
                    <a:lstStyle/>
                    <a:p>
                      <a:pPr algn="ctr"/>
                      <a:r>
                        <a:rPr lang="en-IN" dirty="0"/>
                        <a:t>while</a:t>
                      </a:r>
                    </a:p>
                  </a:txBody>
                  <a:tcPr anchor="ctr"/>
                </a:tc>
                <a:tc>
                  <a:txBody>
                    <a:bodyPr/>
                    <a:lstStyle/>
                    <a:p>
                      <a:pPr algn="ctr"/>
                      <a:r>
                        <a:rPr lang="en-IN" dirty="0"/>
                        <a:t>do…while</a:t>
                      </a:r>
                    </a:p>
                  </a:txBody>
                  <a:tcPr anchor="ctr"/>
                </a:tc>
                <a:extLst>
                  <a:ext uri="{0D108BD9-81ED-4DB2-BD59-A6C34878D82A}">
                    <a16:rowId xmlns:a16="http://schemas.microsoft.com/office/drawing/2014/main" xmlns="" val="2469693678"/>
                  </a:ext>
                </a:extLst>
              </a:tr>
              <a:tr h="79261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lang="en-IN" dirty="0"/>
                        <a:t>entry controlled</a:t>
                      </a:r>
                    </a:p>
                  </a:txBody>
                  <a:tcPr anchor="ctr"/>
                </a:tc>
                <a:tc>
                  <a:txBody>
                    <a:bodyPr/>
                    <a:lstStyle/>
                    <a:p>
                      <a:pPr algn="l"/>
                      <a:r>
                        <a:rPr lang="en-IN" dirty="0"/>
                        <a:t>exit controlled</a:t>
                      </a:r>
                    </a:p>
                  </a:txBody>
                  <a:tcPr anchor="ctr"/>
                </a:tc>
                <a:extLst>
                  <a:ext uri="{0D108BD9-81ED-4DB2-BD59-A6C34878D82A}">
                    <a16:rowId xmlns:a16="http://schemas.microsoft.com/office/drawing/2014/main" xmlns="" val="854366450"/>
                  </a:ext>
                </a:extLst>
              </a:tr>
              <a:tr h="79261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Tests the condition before each iteration</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algn="l"/>
                      <a:endParaRPr lang="en-IN" dirty="0"/>
                    </a:p>
                  </a:txBody>
                  <a:tcPr anchor="ct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Tests the condition after the first iteration.</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algn="l"/>
                      <a:endParaRPr lang="en-IN" dirty="0"/>
                    </a:p>
                  </a:txBody>
                  <a:tcPr anchor="ctr"/>
                </a:tc>
                <a:extLst>
                  <a:ext uri="{0D108BD9-81ED-4DB2-BD59-A6C34878D82A}">
                    <a16:rowId xmlns:a16="http://schemas.microsoft.com/office/drawing/2014/main" xmlns="" val="4022370214"/>
                  </a:ext>
                </a:extLst>
              </a:tr>
              <a:tr h="79261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If the condition fails initially, the loop is skipped entirely even in the first iteration.</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algn="l"/>
                      <a:endParaRPr lang="en-IN" dirty="0"/>
                    </a:p>
                  </a:txBody>
                  <a:tcPr anchor="ct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Even if the condition fails initially, the body loop is executed once.</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algn="l"/>
                      <a:endParaRPr lang="en-IN" dirty="0"/>
                    </a:p>
                  </a:txBody>
                  <a:tcPr anchor="ctr"/>
                </a:tc>
                <a:extLst>
                  <a:ext uri="{0D108BD9-81ED-4DB2-BD59-A6C34878D82A}">
                    <a16:rowId xmlns:a16="http://schemas.microsoft.com/office/drawing/2014/main" xmlns="" val="1673571827"/>
                  </a:ext>
                </a:extLst>
              </a:tr>
            </a:tbl>
          </a:graphicData>
        </a:graphic>
      </p:graphicFrame>
    </p:spTree>
    <p:extLst>
      <p:ext uri="{BB962C8B-B14F-4D97-AF65-F5344CB8AC3E}">
        <p14:creationId xmlns:p14="http://schemas.microsoft.com/office/powerpoint/2010/main" val="24988215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40D9CE-652D-4F93-8623-4EFFDAFAC96A}"/>
              </a:ext>
            </a:extLst>
          </p:cNvPr>
          <p:cNvSpPr>
            <a:spLocks noGrp="1"/>
          </p:cNvSpPr>
          <p:nvPr>
            <p:ph type="title"/>
          </p:nvPr>
        </p:nvSpPr>
        <p:spPr/>
        <p:txBody>
          <a:bodyPr>
            <a:normAutofit/>
          </a:bodyPr>
          <a:lstStyle/>
          <a:p>
            <a:pPr algn="ctr"/>
            <a:r>
              <a:rPr lang="en-IN" sz="4000" dirty="0"/>
              <a:t>for loop</a:t>
            </a:r>
          </a:p>
        </p:txBody>
      </p:sp>
      <p:sp>
        <p:nvSpPr>
          <p:cNvPr id="3" name="Content Placeholder 2">
            <a:extLst>
              <a:ext uri="{FF2B5EF4-FFF2-40B4-BE49-F238E27FC236}">
                <a16:creationId xmlns:a16="http://schemas.microsoft.com/office/drawing/2014/main" xmlns="" id="{B433DD15-2A9C-4E63-88F0-DB37AA7A17B9}"/>
              </a:ext>
            </a:extLst>
          </p:cNvPr>
          <p:cNvSpPr>
            <a:spLocks noGrp="1"/>
          </p:cNvSpPr>
          <p:nvPr>
            <p:ph sz="half" idx="1"/>
          </p:nvPr>
        </p:nvSpPr>
        <p:spPr>
          <a:xfrm>
            <a:off x="740298" y="1470991"/>
            <a:ext cx="4587606" cy="4705972"/>
          </a:xfrm>
        </p:spPr>
        <p:txBody>
          <a:bodyPr/>
          <a:lstStyle/>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a:p>
            <a:r>
              <a:rPr lang="en-US" altLang="en-US" sz="2000" dirty="0"/>
              <a:t>Used to execute a set of instructions repeatedly until the expression or condition becomes false.</a:t>
            </a:r>
          </a:p>
          <a:p>
            <a:endParaRPr lang="en-US" altLang="en-US" sz="2000" dirty="0"/>
          </a:p>
          <a:p>
            <a:endParaRPr lang="en-IN" sz="2000" dirty="0">
              <a:effectLst/>
              <a:latin typeface="Montserrat" panose="020B0604020202020204" charset="0"/>
              <a:ea typeface="Times New Roman" panose="02020603050405020304" pitchFamily="18" charset="0"/>
              <a:cs typeface="Times New Roman" panose="02020603050405020304" pitchFamily="18" charset="0"/>
            </a:endParaRPr>
          </a:p>
        </p:txBody>
      </p:sp>
      <p:grpSp>
        <p:nvGrpSpPr>
          <p:cNvPr id="5" name="Group 4">
            <a:extLst>
              <a:ext uri="{FF2B5EF4-FFF2-40B4-BE49-F238E27FC236}">
                <a16:creationId xmlns:a16="http://schemas.microsoft.com/office/drawing/2014/main" xmlns="" id="{0D68715B-8EE3-4838-BDCB-ED62496EEC44}"/>
              </a:ext>
            </a:extLst>
          </p:cNvPr>
          <p:cNvGrpSpPr/>
          <p:nvPr/>
        </p:nvGrpSpPr>
        <p:grpSpPr>
          <a:xfrm>
            <a:off x="5724939" y="1470991"/>
            <a:ext cx="5221357" cy="5021884"/>
            <a:chOff x="3733799" y="215347"/>
            <a:chExt cx="6096000" cy="6324600"/>
          </a:xfrm>
        </p:grpSpPr>
        <p:sp>
          <p:nvSpPr>
            <p:cNvPr id="6" name="AutoShape 4">
              <a:extLst>
                <a:ext uri="{FF2B5EF4-FFF2-40B4-BE49-F238E27FC236}">
                  <a16:creationId xmlns:a16="http://schemas.microsoft.com/office/drawing/2014/main" xmlns="" id="{58BD323E-BEB6-4F58-B3BA-56E48F84C38B}"/>
                </a:ext>
              </a:extLst>
            </p:cNvPr>
            <p:cNvSpPr>
              <a:spLocks noChangeArrowheads="1"/>
            </p:cNvSpPr>
            <p:nvPr/>
          </p:nvSpPr>
          <p:spPr bwMode="auto">
            <a:xfrm>
              <a:off x="4876798" y="2286000"/>
              <a:ext cx="1981200" cy="1752600"/>
            </a:xfrm>
            <a:prstGeom prst="diamond">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dirty="0">
                  <a:latin typeface="Times New Roman" panose="02020603050405020304" pitchFamily="18" charset="0"/>
                </a:rPr>
                <a:t>Test Condition</a:t>
              </a:r>
            </a:p>
          </p:txBody>
        </p:sp>
        <p:sp>
          <p:nvSpPr>
            <p:cNvPr id="7" name="AutoShape 7">
              <a:extLst>
                <a:ext uri="{FF2B5EF4-FFF2-40B4-BE49-F238E27FC236}">
                  <a16:creationId xmlns:a16="http://schemas.microsoft.com/office/drawing/2014/main" xmlns="" id="{4585A574-948E-46F0-9B7F-06CB578A57E2}"/>
                </a:ext>
              </a:extLst>
            </p:cNvPr>
            <p:cNvSpPr>
              <a:spLocks noChangeArrowheads="1"/>
            </p:cNvSpPr>
            <p:nvPr/>
          </p:nvSpPr>
          <p:spPr bwMode="auto">
            <a:xfrm>
              <a:off x="8229599" y="3810000"/>
              <a:ext cx="1600200" cy="6858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a:latin typeface="Times New Roman" panose="02020603050405020304" pitchFamily="18" charset="0"/>
                </a:rPr>
                <a:t>Stop</a:t>
              </a:r>
            </a:p>
          </p:txBody>
        </p:sp>
        <p:sp>
          <p:nvSpPr>
            <p:cNvPr id="8" name="Line 14">
              <a:extLst>
                <a:ext uri="{FF2B5EF4-FFF2-40B4-BE49-F238E27FC236}">
                  <a16:creationId xmlns:a16="http://schemas.microsoft.com/office/drawing/2014/main" xmlns="" id="{560C36F3-1189-4CB6-94F0-E8388DFFEBB9}"/>
                </a:ext>
              </a:extLst>
            </p:cNvPr>
            <p:cNvSpPr>
              <a:spLocks noChangeShapeType="1"/>
            </p:cNvSpPr>
            <p:nvPr/>
          </p:nvSpPr>
          <p:spPr bwMode="auto">
            <a:xfrm>
              <a:off x="6857999" y="3124200"/>
              <a:ext cx="213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15">
              <a:extLst>
                <a:ext uri="{FF2B5EF4-FFF2-40B4-BE49-F238E27FC236}">
                  <a16:creationId xmlns:a16="http://schemas.microsoft.com/office/drawing/2014/main" xmlns="" id="{5F5AA286-05D7-4FB5-BB3A-6225939AAF65}"/>
                </a:ext>
              </a:extLst>
            </p:cNvPr>
            <p:cNvSpPr>
              <a:spLocks noChangeShapeType="1"/>
            </p:cNvSpPr>
            <p:nvPr/>
          </p:nvSpPr>
          <p:spPr bwMode="auto">
            <a:xfrm>
              <a:off x="8991599" y="31242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Text Box 17">
              <a:extLst>
                <a:ext uri="{FF2B5EF4-FFF2-40B4-BE49-F238E27FC236}">
                  <a16:creationId xmlns:a16="http://schemas.microsoft.com/office/drawing/2014/main" xmlns="" id="{7BA6A479-D613-4637-B5DD-5517727D4EFD}"/>
                </a:ext>
              </a:extLst>
            </p:cNvPr>
            <p:cNvSpPr txBox="1">
              <a:spLocks noChangeArrowheads="1"/>
            </p:cNvSpPr>
            <p:nvPr/>
          </p:nvSpPr>
          <p:spPr bwMode="auto">
            <a:xfrm>
              <a:off x="7010398" y="2713045"/>
              <a:ext cx="1219201" cy="417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en-US" sz="1400" b="1" dirty="0">
                  <a:latin typeface="Times New Roman" panose="02020603050405020304" pitchFamily="18" charset="0"/>
                </a:rPr>
                <a:t>False</a:t>
              </a:r>
            </a:p>
          </p:txBody>
        </p:sp>
        <p:sp>
          <p:nvSpPr>
            <p:cNvPr id="11" name="AutoShape 2">
              <a:extLst>
                <a:ext uri="{FF2B5EF4-FFF2-40B4-BE49-F238E27FC236}">
                  <a16:creationId xmlns:a16="http://schemas.microsoft.com/office/drawing/2014/main" xmlns="" id="{0885E07B-7F8C-4A1B-AB25-B3FDA4941E6B}"/>
                </a:ext>
              </a:extLst>
            </p:cNvPr>
            <p:cNvSpPr>
              <a:spLocks noChangeArrowheads="1"/>
            </p:cNvSpPr>
            <p:nvPr/>
          </p:nvSpPr>
          <p:spPr bwMode="auto">
            <a:xfrm>
              <a:off x="5029199" y="215347"/>
              <a:ext cx="1600200" cy="6858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dirty="0">
                  <a:latin typeface="Times New Roman" panose="02020603050405020304" pitchFamily="18" charset="0"/>
                </a:rPr>
                <a:t>Start</a:t>
              </a:r>
            </a:p>
          </p:txBody>
        </p:sp>
        <p:sp>
          <p:nvSpPr>
            <p:cNvPr id="12" name="Rectangle 3">
              <a:extLst>
                <a:ext uri="{FF2B5EF4-FFF2-40B4-BE49-F238E27FC236}">
                  <a16:creationId xmlns:a16="http://schemas.microsoft.com/office/drawing/2014/main" xmlns="" id="{D28EFA10-07AD-44A7-ACEE-D71E7F362AE7}"/>
                </a:ext>
              </a:extLst>
            </p:cNvPr>
            <p:cNvSpPr>
              <a:spLocks noChangeArrowheads="1"/>
            </p:cNvSpPr>
            <p:nvPr/>
          </p:nvSpPr>
          <p:spPr bwMode="auto">
            <a:xfrm>
              <a:off x="5029199" y="1205947"/>
              <a:ext cx="1600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dirty="0">
                  <a:latin typeface="Times New Roman" panose="02020603050405020304" pitchFamily="18" charset="0"/>
                </a:rPr>
                <a:t>Initialize</a:t>
              </a:r>
            </a:p>
          </p:txBody>
        </p:sp>
        <p:sp>
          <p:nvSpPr>
            <p:cNvPr id="13" name="Line 8">
              <a:extLst>
                <a:ext uri="{FF2B5EF4-FFF2-40B4-BE49-F238E27FC236}">
                  <a16:creationId xmlns:a16="http://schemas.microsoft.com/office/drawing/2014/main" xmlns="" id="{C09BB802-A166-467B-9B29-BC4261BB3D9B}"/>
                </a:ext>
              </a:extLst>
            </p:cNvPr>
            <p:cNvSpPr>
              <a:spLocks noChangeShapeType="1"/>
            </p:cNvSpPr>
            <p:nvPr/>
          </p:nvSpPr>
          <p:spPr bwMode="auto">
            <a:xfrm>
              <a:off x="5867399" y="901147"/>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9">
              <a:extLst>
                <a:ext uri="{FF2B5EF4-FFF2-40B4-BE49-F238E27FC236}">
                  <a16:creationId xmlns:a16="http://schemas.microsoft.com/office/drawing/2014/main" xmlns="" id="{D0B3EA12-E3E7-4999-8F14-CB43A90DFAB0}"/>
                </a:ext>
              </a:extLst>
            </p:cNvPr>
            <p:cNvSpPr>
              <a:spLocks noChangeShapeType="1"/>
            </p:cNvSpPr>
            <p:nvPr/>
          </p:nvSpPr>
          <p:spPr bwMode="auto">
            <a:xfrm>
              <a:off x="5867399" y="1815547"/>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2">
              <a:extLst>
                <a:ext uri="{FF2B5EF4-FFF2-40B4-BE49-F238E27FC236}">
                  <a16:creationId xmlns:a16="http://schemas.microsoft.com/office/drawing/2014/main" xmlns="" id="{DA35B76F-E608-4596-A4AF-C4E6295BB259}"/>
                </a:ext>
              </a:extLst>
            </p:cNvPr>
            <p:cNvSpPr>
              <a:spLocks noChangeShapeType="1"/>
            </p:cNvSpPr>
            <p:nvPr/>
          </p:nvSpPr>
          <p:spPr bwMode="auto">
            <a:xfrm flipH="1">
              <a:off x="3733800" y="6539947"/>
              <a:ext cx="213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3">
              <a:extLst>
                <a:ext uri="{FF2B5EF4-FFF2-40B4-BE49-F238E27FC236}">
                  <a16:creationId xmlns:a16="http://schemas.microsoft.com/office/drawing/2014/main" xmlns="" id="{A0A4841D-DBF9-4E80-9AA9-971A231797D1}"/>
                </a:ext>
              </a:extLst>
            </p:cNvPr>
            <p:cNvSpPr>
              <a:spLocks noChangeShapeType="1"/>
            </p:cNvSpPr>
            <p:nvPr/>
          </p:nvSpPr>
          <p:spPr bwMode="auto">
            <a:xfrm>
              <a:off x="3733799" y="2044147"/>
              <a:ext cx="213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Rectangle 5">
              <a:extLst>
                <a:ext uri="{FF2B5EF4-FFF2-40B4-BE49-F238E27FC236}">
                  <a16:creationId xmlns:a16="http://schemas.microsoft.com/office/drawing/2014/main" xmlns="" id="{1D21F01D-70D9-402E-B023-98C40D09993A}"/>
                </a:ext>
              </a:extLst>
            </p:cNvPr>
            <p:cNvSpPr>
              <a:spLocks noChangeArrowheads="1"/>
            </p:cNvSpPr>
            <p:nvPr/>
          </p:nvSpPr>
          <p:spPr bwMode="auto">
            <a:xfrm>
              <a:off x="4724399" y="4482547"/>
              <a:ext cx="2362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a:latin typeface="Times New Roman" panose="02020603050405020304" pitchFamily="18" charset="0"/>
                </a:rPr>
                <a:t>Body of Loop</a:t>
              </a:r>
            </a:p>
          </p:txBody>
        </p:sp>
        <p:sp>
          <p:nvSpPr>
            <p:cNvPr id="18" name="Rectangle 6">
              <a:extLst>
                <a:ext uri="{FF2B5EF4-FFF2-40B4-BE49-F238E27FC236}">
                  <a16:creationId xmlns:a16="http://schemas.microsoft.com/office/drawing/2014/main" xmlns="" id="{04AEFC7F-CF43-4DD1-89FE-23F5F513B1C0}"/>
                </a:ext>
              </a:extLst>
            </p:cNvPr>
            <p:cNvSpPr>
              <a:spLocks noChangeArrowheads="1"/>
            </p:cNvSpPr>
            <p:nvPr/>
          </p:nvSpPr>
          <p:spPr bwMode="auto">
            <a:xfrm>
              <a:off x="3848105" y="5645256"/>
              <a:ext cx="4162133"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dirty="0" err="1">
                  <a:latin typeface="Times New Roman" panose="02020603050405020304" pitchFamily="18" charset="0"/>
                </a:rPr>
                <a:t>updation</a:t>
              </a:r>
              <a:r>
                <a:rPr lang="en-US" altLang="en-US" sz="1600" dirty="0">
                  <a:latin typeface="Times New Roman" panose="02020603050405020304" pitchFamily="18" charset="0"/>
                </a:rPr>
                <a:t> of the control variable</a:t>
              </a:r>
            </a:p>
          </p:txBody>
        </p:sp>
        <p:sp>
          <p:nvSpPr>
            <p:cNvPr id="19" name="Line 10">
              <a:extLst>
                <a:ext uri="{FF2B5EF4-FFF2-40B4-BE49-F238E27FC236}">
                  <a16:creationId xmlns:a16="http://schemas.microsoft.com/office/drawing/2014/main" xmlns="" id="{42E93CE2-4042-432C-A47B-263637069703}"/>
                </a:ext>
              </a:extLst>
            </p:cNvPr>
            <p:cNvSpPr>
              <a:spLocks noChangeShapeType="1"/>
            </p:cNvSpPr>
            <p:nvPr/>
          </p:nvSpPr>
          <p:spPr bwMode="auto">
            <a:xfrm>
              <a:off x="5867399" y="4025347"/>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11">
              <a:extLst>
                <a:ext uri="{FF2B5EF4-FFF2-40B4-BE49-F238E27FC236}">
                  <a16:creationId xmlns:a16="http://schemas.microsoft.com/office/drawing/2014/main" xmlns="" id="{C796454F-391D-4D92-BEF7-2919F244CD0F}"/>
                </a:ext>
              </a:extLst>
            </p:cNvPr>
            <p:cNvSpPr>
              <a:spLocks noChangeShapeType="1"/>
            </p:cNvSpPr>
            <p:nvPr/>
          </p:nvSpPr>
          <p:spPr bwMode="auto">
            <a:xfrm>
              <a:off x="5867399" y="5092147"/>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Text Box 18">
              <a:extLst>
                <a:ext uri="{FF2B5EF4-FFF2-40B4-BE49-F238E27FC236}">
                  <a16:creationId xmlns:a16="http://schemas.microsoft.com/office/drawing/2014/main" xmlns="" id="{93120F17-553D-46F3-B068-3F5F9E1167C4}"/>
                </a:ext>
              </a:extLst>
            </p:cNvPr>
            <p:cNvSpPr txBox="1">
              <a:spLocks noChangeArrowheads="1"/>
            </p:cNvSpPr>
            <p:nvPr/>
          </p:nvSpPr>
          <p:spPr bwMode="auto">
            <a:xfrm>
              <a:off x="5867398" y="4025345"/>
              <a:ext cx="1142996" cy="417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en-US" sz="1400" b="1" dirty="0">
                  <a:latin typeface="Times New Roman" panose="02020603050405020304" pitchFamily="18" charset="0"/>
                </a:rPr>
                <a:t>True</a:t>
              </a:r>
            </a:p>
          </p:txBody>
        </p:sp>
        <p:sp>
          <p:nvSpPr>
            <p:cNvPr id="22" name="Line 19">
              <a:extLst>
                <a:ext uri="{FF2B5EF4-FFF2-40B4-BE49-F238E27FC236}">
                  <a16:creationId xmlns:a16="http://schemas.microsoft.com/office/drawing/2014/main" xmlns="" id="{16394FBD-C414-4C28-A448-6DB00F67C626}"/>
                </a:ext>
              </a:extLst>
            </p:cNvPr>
            <p:cNvSpPr>
              <a:spLocks noChangeShapeType="1"/>
            </p:cNvSpPr>
            <p:nvPr/>
          </p:nvSpPr>
          <p:spPr bwMode="auto">
            <a:xfrm>
              <a:off x="3733799" y="2044147"/>
              <a:ext cx="0" cy="449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Line 20">
              <a:extLst>
                <a:ext uri="{FF2B5EF4-FFF2-40B4-BE49-F238E27FC236}">
                  <a16:creationId xmlns:a16="http://schemas.microsoft.com/office/drawing/2014/main" xmlns="" id="{A5C8D284-F998-4720-A209-96CEFA169F19}"/>
                </a:ext>
              </a:extLst>
            </p:cNvPr>
            <p:cNvSpPr>
              <a:spLocks noChangeShapeType="1"/>
            </p:cNvSpPr>
            <p:nvPr/>
          </p:nvSpPr>
          <p:spPr bwMode="auto">
            <a:xfrm flipV="1">
              <a:off x="5867399" y="6235147"/>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 name="Rectangle: Rounded Corners 3">
            <a:extLst>
              <a:ext uri="{FF2B5EF4-FFF2-40B4-BE49-F238E27FC236}">
                <a16:creationId xmlns:a16="http://schemas.microsoft.com/office/drawing/2014/main" xmlns="" id="{6951B5DC-54D3-4605-AA47-4183E0E9CE65}"/>
              </a:ext>
            </a:extLst>
          </p:cNvPr>
          <p:cNvSpPr/>
          <p:nvPr/>
        </p:nvSpPr>
        <p:spPr>
          <a:xfrm>
            <a:off x="1005825" y="1622868"/>
            <a:ext cx="4360145" cy="23473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latin typeface="Montserrat" panose="020B0604020202020204" charset="0"/>
                <a:ea typeface="Times New Roman" panose="02020603050405020304" pitchFamily="18" charset="0"/>
                <a:cs typeface="Times New Roman" panose="02020603050405020304" pitchFamily="18" charset="0"/>
              </a:rPr>
              <a:t>Syntax:</a:t>
            </a:r>
          </a:p>
          <a:p>
            <a:r>
              <a:rPr lang="en-US" dirty="0">
                <a:latin typeface="Montserrat" panose="020B0604020202020204" charset="0"/>
                <a:ea typeface="Times New Roman" panose="02020603050405020304" pitchFamily="18" charset="0"/>
                <a:cs typeface="Times New Roman" panose="02020603050405020304" pitchFamily="18" charset="0"/>
              </a:rPr>
              <a:t>for (initialization; expression /condition; </a:t>
            </a:r>
            <a:r>
              <a:rPr lang="en-US" dirty="0" err="1">
                <a:latin typeface="Montserrat" panose="020B0604020202020204" charset="0"/>
                <a:ea typeface="Times New Roman" panose="02020603050405020304" pitchFamily="18" charset="0"/>
                <a:cs typeface="Times New Roman" panose="02020603050405020304" pitchFamily="18" charset="0"/>
              </a:rPr>
              <a:t>updation</a:t>
            </a:r>
            <a:r>
              <a:rPr lang="en-US" dirty="0">
                <a:latin typeface="Montserrat" panose="020B0604020202020204" charset="0"/>
                <a:ea typeface="Times New Roman" panose="02020603050405020304" pitchFamily="18" charset="0"/>
                <a:cs typeface="Times New Roman" panose="02020603050405020304" pitchFamily="18" charset="0"/>
              </a:rPr>
              <a:t> of control variable) </a:t>
            </a:r>
            <a:r>
              <a:rPr lang="en-US" sz="2000" dirty="0">
                <a:latin typeface="Montserrat" panose="020B0604020202020204" charset="0"/>
                <a:ea typeface="Times New Roman" panose="02020603050405020304" pitchFamily="18" charset="0"/>
                <a:cs typeface="Times New Roman" panose="02020603050405020304" pitchFamily="18" charset="0"/>
              </a:rPr>
              <a:t/>
            </a:r>
            <a:br>
              <a:rPr lang="en-US" sz="2000" dirty="0">
                <a:latin typeface="Montserrat" panose="020B0604020202020204" charset="0"/>
                <a:ea typeface="Times New Roman" panose="02020603050405020304" pitchFamily="18" charset="0"/>
                <a:cs typeface="Times New Roman" panose="02020603050405020304" pitchFamily="18" charset="0"/>
              </a:rPr>
            </a:br>
            <a:r>
              <a:rPr lang="en-US" sz="2000" dirty="0">
                <a:latin typeface="Montserrat" panose="020B0604020202020204" charset="0"/>
                <a:ea typeface="Times New Roman" panose="02020603050405020304" pitchFamily="18" charset="0"/>
                <a:cs typeface="Times New Roman" panose="02020603050405020304" pitchFamily="18" charset="0"/>
              </a:rPr>
              <a:t>{ </a:t>
            </a:r>
            <a:br>
              <a:rPr lang="en-US" sz="2000" dirty="0">
                <a:latin typeface="Montserrat" panose="020B0604020202020204" charset="0"/>
                <a:ea typeface="Times New Roman" panose="02020603050405020304" pitchFamily="18" charset="0"/>
                <a:cs typeface="Times New Roman" panose="02020603050405020304" pitchFamily="18" charset="0"/>
              </a:rPr>
            </a:br>
            <a:r>
              <a:rPr lang="en-US" sz="2000" dirty="0">
                <a:latin typeface="Montserrat" panose="020B0604020202020204" charset="0"/>
                <a:ea typeface="Times New Roman" panose="02020603050405020304" pitchFamily="18" charset="0"/>
                <a:cs typeface="Times New Roman" panose="02020603050405020304" pitchFamily="18" charset="0"/>
              </a:rPr>
              <a:t>	body of the loop ;</a:t>
            </a:r>
            <a:br>
              <a:rPr lang="en-US" sz="2000" dirty="0">
                <a:latin typeface="Montserrat" panose="020B0604020202020204" charset="0"/>
                <a:ea typeface="Times New Roman" panose="02020603050405020304" pitchFamily="18" charset="0"/>
                <a:cs typeface="Times New Roman" panose="02020603050405020304" pitchFamily="18" charset="0"/>
              </a:rPr>
            </a:br>
            <a:r>
              <a:rPr lang="en-US" sz="2000" dirty="0">
                <a:latin typeface="Montserrat" panose="020B0604020202020204" charset="0"/>
                <a:ea typeface="Times New Roman" panose="02020603050405020304" pitchFamily="18" charset="0"/>
                <a:cs typeface="Times New Roman" panose="02020603050405020304" pitchFamily="18" charset="0"/>
              </a:rPr>
              <a:t>} </a:t>
            </a:r>
          </a:p>
          <a:p>
            <a:pPr algn="ctr"/>
            <a:endParaRPr lang="en-IN" dirty="0"/>
          </a:p>
        </p:txBody>
      </p:sp>
    </p:spTree>
    <p:extLst>
      <p:ext uri="{BB962C8B-B14F-4D97-AF65-F5344CB8AC3E}">
        <p14:creationId xmlns:p14="http://schemas.microsoft.com/office/powerpoint/2010/main" val="370620380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412383-3858-452B-AF82-2E7E8F7A444A}"/>
              </a:ext>
            </a:extLst>
          </p:cNvPr>
          <p:cNvSpPr>
            <a:spLocks noGrp="1"/>
          </p:cNvSpPr>
          <p:nvPr>
            <p:ph type="title"/>
          </p:nvPr>
        </p:nvSpPr>
        <p:spPr/>
        <p:txBody>
          <a:bodyPr>
            <a:normAutofit/>
          </a:bodyPr>
          <a:lstStyle/>
          <a:p>
            <a:pPr algn="ctr"/>
            <a:r>
              <a:rPr lang="en-IN" sz="4000" dirty="0"/>
              <a:t>for loop – Example</a:t>
            </a:r>
          </a:p>
        </p:txBody>
      </p:sp>
      <p:sp>
        <p:nvSpPr>
          <p:cNvPr id="3" name="Content Placeholder 2">
            <a:extLst>
              <a:ext uri="{FF2B5EF4-FFF2-40B4-BE49-F238E27FC236}">
                <a16:creationId xmlns:a16="http://schemas.microsoft.com/office/drawing/2014/main" xmlns="" id="{199E76B6-8E00-4CD4-A116-590C42ACF56E}"/>
              </a:ext>
            </a:extLst>
          </p:cNvPr>
          <p:cNvSpPr>
            <a:spLocks noGrp="1"/>
          </p:cNvSpPr>
          <p:nvPr>
            <p:ph sz="half" idx="1"/>
          </p:nvPr>
        </p:nvSpPr>
        <p:spPr>
          <a:xfrm>
            <a:off x="239151" y="1825625"/>
            <a:ext cx="8595360" cy="4351338"/>
          </a:xfrm>
        </p:spPr>
        <p:txBody>
          <a:bodyPr>
            <a:normAutofit fontScale="92500" lnSpcReduction="10000"/>
          </a:bodyPr>
          <a:lstStyle/>
          <a:p>
            <a:pPr indent="0">
              <a:buNone/>
            </a:pPr>
            <a:r>
              <a:rPr lang="en-US" sz="2000" dirty="0">
                <a:latin typeface="Montserrat" panose="020B0604020202020204" charset="0"/>
                <a:ea typeface="Times New Roman" panose="02020603050405020304" pitchFamily="18" charset="0"/>
                <a:cs typeface="Times New Roman" panose="02020603050405020304" pitchFamily="18" charset="0"/>
              </a:rPr>
              <a:t>#include&lt;</a:t>
            </a:r>
            <a:r>
              <a:rPr lang="en-US" sz="2000" dirty="0" err="1">
                <a:latin typeface="Montserrat" panose="020B0604020202020204" charset="0"/>
                <a:ea typeface="Times New Roman" panose="02020603050405020304" pitchFamily="18" charset="0"/>
                <a:cs typeface="Times New Roman" panose="02020603050405020304" pitchFamily="18" charset="0"/>
              </a:rPr>
              <a:t>stdio.h</a:t>
            </a:r>
            <a:r>
              <a:rPr lang="en-US" sz="2000" dirty="0">
                <a:latin typeface="Montserrat" panose="020B0604020202020204" charset="0"/>
                <a:ea typeface="Times New Roman" panose="02020603050405020304" pitchFamily="18" charset="0"/>
                <a:cs typeface="Times New Roman" panose="02020603050405020304" pitchFamily="18" charset="0"/>
              </a:rPr>
              <a:t>&gt;</a:t>
            </a:r>
          </a:p>
          <a:p>
            <a:pPr indent="0">
              <a:buNone/>
            </a:pPr>
            <a:r>
              <a:rPr lang="en-US" sz="2000" dirty="0">
                <a:latin typeface="Montserrat" panose="020B0604020202020204" charset="0"/>
                <a:ea typeface="Times New Roman" panose="02020603050405020304" pitchFamily="18" charset="0"/>
                <a:cs typeface="Times New Roman" panose="02020603050405020304" pitchFamily="18" charset="0"/>
              </a:rPr>
              <a:t>void main()</a:t>
            </a:r>
          </a:p>
          <a:p>
            <a:pPr indent="0">
              <a:buNone/>
            </a:pPr>
            <a:r>
              <a:rPr lang="en-US" sz="2000" dirty="0">
                <a:latin typeface="Montserrat" panose="020B0604020202020204" charset="0"/>
                <a:ea typeface="Times New Roman" panose="02020603050405020304" pitchFamily="18" charset="0"/>
                <a:cs typeface="Times New Roman" panose="02020603050405020304" pitchFamily="18" charset="0"/>
              </a:rPr>
              <a:t>{</a:t>
            </a:r>
          </a:p>
          <a:p>
            <a:pPr indent="0">
              <a:buNone/>
            </a:pPr>
            <a:r>
              <a:rPr lang="en-US" sz="2000" dirty="0">
                <a:latin typeface="Montserrat" panose="020B0604020202020204" charset="0"/>
                <a:ea typeface="Times New Roman" panose="02020603050405020304" pitchFamily="18" charset="0"/>
                <a:cs typeface="Times New Roman" panose="02020603050405020304" pitchFamily="18" charset="0"/>
              </a:rPr>
              <a:t>    int </a:t>
            </a:r>
            <a:r>
              <a:rPr lang="en-US" sz="2000" dirty="0" err="1">
                <a:latin typeface="Montserrat" panose="020B0604020202020204" charset="0"/>
                <a:ea typeface="Times New Roman" panose="02020603050405020304" pitchFamily="18" charset="0"/>
                <a:cs typeface="Times New Roman" panose="02020603050405020304" pitchFamily="18" charset="0"/>
              </a:rPr>
              <a:t>i</a:t>
            </a:r>
            <a:r>
              <a:rPr lang="en-US" sz="2000" dirty="0">
                <a:latin typeface="Montserrat" panose="020B0604020202020204" charset="0"/>
                <a:ea typeface="Times New Roman" panose="02020603050405020304" pitchFamily="18" charset="0"/>
                <a:cs typeface="Times New Roman" panose="02020603050405020304" pitchFamily="18" charset="0"/>
              </a:rPr>
              <a:t>;</a:t>
            </a:r>
          </a:p>
          <a:p>
            <a:pPr indent="0">
              <a:buNone/>
            </a:pPr>
            <a:r>
              <a:rPr lang="en-US" sz="2000" dirty="0">
                <a:latin typeface="Montserrat" panose="020B0604020202020204" charset="0"/>
                <a:ea typeface="Times New Roman" panose="02020603050405020304" pitchFamily="18" charset="0"/>
                <a:cs typeface="Times New Roman" panose="02020603050405020304" pitchFamily="18" charset="0"/>
              </a:rPr>
              <a:t>    int sum=0,sum_of_squares=0;</a:t>
            </a:r>
          </a:p>
          <a:p>
            <a:pPr indent="0">
              <a:buNone/>
            </a:pPr>
            <a:r>
              <a:rPr lang="en-US" sz="2000" dirty="0">
                <a:latin typeface="Montserrat" panose="020B0604020202020204" charset="0"/>
                <a:ea typeface="Times New Roman" panose="02020603050405020304" pitchFamily="18" charset="0"/>
                <a:cs typeface="Times New Roman" panose="02020603050405020304" pitchFamily="18" charset="0"/>
              </a:rPr>
              <a:t>    for(</a:t>
            </a:r>
            <a:r>
              <a:rPr lang="en-US" sz="2000" dirty="0" err="1">
                <a:latin typeface="Montserrat" panose="020B0604020202020204" charset="0"/>
                <a:ea typeface="Times New Roman" panose="02020603050405020304" pitchFamily="18" charset="0"/>
                <a:cs typeface="Times New Roman" panose="02020603050405020304" pitchFamily="18" charset="0"/>
              </a:rPr>
              <a:t>i</a:t>
            </a:r>
            <a:r>
              <a:rPr lang="en-US" sz="2000" dirty="0">
                <a:latin typeface="Montserrat" panose="020B0604020202020204" charset="0"/>
                <a:ea typeface="Times New Roman" panose="02020603050405020304" pitchFamily="18" charset="0"/>
                <a:cs typeface="Times New Roman" panose="02020603050405020304" pitchFamily="18" charset="0"/>
              </a:rPr>
              <a:t>=0; </a:t>
            </a:r>
            <a:r>
              <a:rPr lang="en-US" sz="2000" dirty="0" err="1">
                <a:latin typeface="Montserrat" panose="020B0604020202020204" charset="0"/>
                <a:ea typeface="Times New Roman" panose="02020603050405020304" pitchFamily="18" charset="0"/>
                <a:cs typeface="Times New Roman" panose="02020603050405020304" pitchFamily="18" charset="0"/>
              </a:rPr>
              <a:t>i</a:t>
            </a:r>
            <a:r>
              <a:rPr lang="en-US" sz="2000" dirty="0">
                <a:latin typeface="Montserrat" panose="020B0604020202020204" charset="0"/>
                <a:ea typeface="Times New Roman" panose="02020603050405020304" pitchFamily="18" charset="0"/>
                <a:cs typeface="Times New Roman" panose="02020603050405020304" pitchFamily="18" charset="0"/>
              </a:rPr>
              <a:t>&lt;=30; </a:t>
            </a:r>
            <a:r>
              <a:rPr lang="en-US" sz="2000" dirty="0" err="1">
                <a:latin typeface="Montserrat" panose="020B0604020202020204" charset="0"/>
                <a:ea typeface="Times New Roman" panose="02020603050405020304" pitchFamily="18" charset="0"/>
                <a:cs typeface="Times New Roman" panose="02020603050405020304" pitchFamily="18" charset="0"/>
              </a:rPr>
              <a:t>i</a:t>
            </a:r>
            <a:r>
              <a:rPr lang="en-US" sz="2000" dirty="0">
                <a:latin typeface="Montserrat" panose="020B0604020202020204" charset="0"/>
                <a:ea typeface="Times New Roman" panose="02020603050405020304" pitchFamily="18" charset="0"/>
                <a:cs typeface="Times New Roman" panose="02020603050405020304" pitchFamily="18" charset="0"/>
              </a:rPr>
              <a:t>+=2)</a:t>
            </a:r>
          </a:p>
          <a:p>
            <a:pPr indent="0">
              <a:buNone/>
            </a:pPr>
            <a:r>
              <a:rPr lang="en-US" sz="2000" dirty="0">
                <a:latin typeface="Montserrat" panose="020B0604020202020204" charset="0"/>
                <a:ea typeface="Times New Roman" panose="02020603050405020304" pitchFamily="18" charset="0"/>
                <a:cs typeface="Times New Roman" panose="02020603050405020304" pitchFamily="18" charset="0"/>
              </a:rPr>
              <a:t>    {</a:t>
            </a:r>
          </a:p>
          <a:p>
            <a:pPr indent="0">
              <a:buNone/>
            </a:pPr>
            <a:r>
              <a:rPr lang="en-US" sz="2000" dirty="0">
                <a:latin typeface="Montserrat" panose="020B0604020202020204" charset="0"/>
                <a:ea typeface="Times New Roman" panose="02020603050405020304" pitchFamily="18" charset="0"/>
                <a:cs typeface="Times New Roman" panose="02020603050405020304" pitchFamily="18" charset="0"/>
              </a:rPr>
              <a:t>        sum+=</a:t>
            </a:r>
            <a:r>
              <a:rPr lang="en-US" sz="2000" dirty="0" err="1">
                <a:latin typeface="Montserrat" panose="020B0604020202020204" charset="0"/>
                <a:ea typeface="Times New Roman" panose="02020603050405020304" pitchFamily="18" charset="0"/>
                <a:cs typeface="Times New Roman" panose="02020603050405020304" pitchFamily="18" charset="0"/>
              </a:rPr>
              <a:t>i</a:t>
            </a:r>
            <a:r>
              <a:rPr lang="en-US" sz="2000" dirty="0">
                <a:latin typeface="Montserrat" panose="020B0604020202020204" charset="0"/>
                <a:ea typeface="Times New Roman" panose="02020603050405020304" pitchFamily="18" charset="0"/>
                <a:cs typeface="Times New Roman" panose="02020603050405020304" pitchFamily="18" charset="0"/>
              </a:rPr>
              <a:t>;</a:t>
            </a:r>
          </a:p>
          <a:p>
            <a:pPr indent="0">
              <a:buNone/>
            </a:pPr>
            <a:r>
              <a:rPr lang="en-US" sz="2000" dirty="0">
                <a:latin typeface="Montserrat" panose="020B0604020202020204" charset="0"/>
                <a:ea typeface="Times New Roman" panose="02020603050405020304" pitchFamily="18" charset="0"/>
                <a:cs typeface="Times New Roman" panose="02020603050405020304" pitchFamily="18" charset="0"/>
              </a:rPr>
              <a:t>        </a:t>
            </a:r>
            <a:r>
              <a:rPr lang="en-US" sz="2000" dirty="0" err="1">
                <a:latin typeface="Montserrat" panose="020B0604020202020204" charset="0"/>
                <a:ea typeface="Times New Roman" panose="02020603050405020304" pitchFamily="18" charset="0"/>
                <a:cs typeface="Times New Roman" panose="02020603050405020304" pitchFamily="18" charset="0"/>
              </a:rPr>
              <a:t>sum_of_squares</a:t>
            </a:r>
            <a:r>
              <a:rPr lang="en-US" sz="2000" dirty="0">
                <a:latin typeface="Montserrat" panose="020B0604020202020204" charset="0"/>
                <a:ea typeface="Times New Roman" panose="02020603050405020304" pitchFamily="18" charset="0"/>
                <a:cs typeface="Times New Roman" panose="02020603050405020304" pitchFamily="18" charset="0"/>
              </a:rPr>
              <a:t> +=</a:t>
            </a:r>
            <a:r>
              <a:rPr lang="en-US" sz="2000" dirty="0" err="1">
                <a:latin typeface="Montserrat" panose="020B0604020202020204" charset="0"/>
                <a:ea typeface="Times New Roman" panose="02020603050405020304" pitchFamily="18" charset="0"/>
                <a:cs typeface="Times New Roman" panose="02020603050405020304" pitchFamily="18" charset="0"/>
              </a:rPr>
              <a:t>i</a:t>
            </a:r>
            <a:r>
              <a:rPr lang="en-US" sz="2000" dirty="0">
                <a:latin typeface="Montserrat" panose="020B0604020202020204" charset="0"/>
                <a:ea typeface="Times New Roman" panose="02020603050405020304" pitchFamily="18" charset="0"/>
                <a:cs typeface="Times New Roman" panose="02020603050405020304" pitchFamily="18" charset="0"/>
              </a:rPr>
              <a:t>*</a:t>
            </a:r>
            <a:r>
              <a:rPr lang="en-US" sz="2000" dirty="0" err="1">
                <a:latin typeface="Montserrat" panose="020B0604020202020204" charset="0"/>
                <a:ea typeface="Times New Roman" panose="02020603050405020304" pitchFamily="18" charset="0"/>
                <a:cs typeface="Times New Roman" panose="02020603050405020304" pitchFamily="18" charset="0"/>
              </a:rPr>
              <a:t>i</a:t>
            </a:r>
            <a:r>
              <a:rPr lang="en-US" sz="2000" dirty="0">
                <a:latin typeface="Montserrat" panose="020B0604020202020204" charset="0"/>
                <a:ea typeface="Times New Roman" panose="02020603050405020304" pitchFamily="18" charset="0"/>
                <a:cs typeface="Times New Roman" panose="02020603050405020304" pitchFamily="18" charset="0"/>
              </a:rPr>
              <a:t>;</a:t>
            </a:r>
          </a:p>
          <a:p>
            <a:pPr indent="0">
              <a:buNone/>
            </a:pPr>
            <a:r>
              <a:rPr lang="en-US" sz="2000" dirty="0">
                <a:latin typeface="Montserrat" panose="020B0604020202020204" charset="0"/>
                <a:ea typeface="Times New Roman" panose="02020603050405020304" pitchFamily="18" charset="0"/>
                <a:cs typeface="Times New Roman" panose="02020603050405020304" pitchFamily="18" charset="0"/>
              </a:rPr>
              <a:t>    }</a:t>
            </a:r>
          </a:p>
          <a:p>
            <a:pPr indent="0">
              <a:buNone/>
            </a:pPr>
            <a:r>
              <a:rPr lang="en-US" sz="2000" dirty="0">
                <a:latin typeface="Montserrat" panose="020B0604020202020204" charset="0"/>
                <a:ea typeface="Times New Roman" panose="02020603050405020304" pitchFamily="18" charset="0"/>
                <a:cs typeface="Times New Roman" panose="02020603050405020304" pitchFamily="18" charset="0"/>
              </a:rPr>
              <a:t>    </a:t>
            </a:r>
            <a:r>
              <a:rPr lang="en-US" sz="2000" dirty="0" err="1">
                <a:latin typeface="Montserrat" panose="020B0604020202020204" charset="0"/>
                <a:ea typeface="Times New Roman" panose="02020603050405020304" pitchFamily="18" charset="0"/>
                <a:cs typeface="Times New Roman" panose="02020603050405020304" pitchFamily="18" charset="0"/>
              </a:rPr>
              <a:t>printf</a:t>
            </a:r>
            <a:r>
              <a:rPr lang="en-US" sz="2000" dirty="0">
                <a:latin typeface="Montserrat" panose="020B0604020202020204" charset="0"/>
                <a:ea typeface="Times New Roman" panose="02020603050405020304" pitchFamily="18" charset="0"/>
                <a:cs typeface="Times New Roman" panose="02020603050405020304" pitchFamily="18" charset="0"/>
              </a:rPr>
              <a:t>("Sum of first 15 positive even numbers=%d\</a:t>
            </a:r>
            <a:r>
              <a:rPr lang="en-US" sz="2000" dirty="0" err="1">
                <a:latin typeface="Montserrat" panose="020B0604020202020204" charset="0"/>
                <a:ea typeface="Times New Roman" panose="02020603050405020304" pitchFamily="18" charset="0"/>
                <a:cs typeface="Times New Roman" panose="02020603050405020304" pitchFamily="18" charset="0"/>
              </a:rPr>
              <a:t>n",sum</a:t>
            </a:r>
            <a:r>
              <a:rPr lang="en-US" sz="2000" dirty="0">
                <a:latin typeface="Montserrat" panose="020B0604020202020204" charset="0"/>
                <a:ea typeface="Times New Roman" panose="02020603050405020304" pitchFamily="18" charset="0"/>
                <a:cs typeface="Times New Roman" panose="02020603050405020304" pitchFamily="18" charset="0"/>
              </a:rPr>
              <a:t>);</a:t>
            </a:r>
          </a:p>
          <a:p>
            <a:pPr indent="0">
              <a:buNone/>
            </a:pPr>
            <a:r>
              <a:rPr lang="en-US" sz="2000" dirty="0">
                <a:latin typeface="Montserrat" panose="020B0604020202020204" charset="0"/>
                <a:ea typeface="Times New Roman" panose="02020603050405020304" pitchFamily="18" charset="0"/>
                <a:cs typeface="Times New Roman" panose="02020603050405020304" pitchFamily="18" charset="0"/>
              </a:rPr>
              <a:t>    </a:t>
            </a:r>
            <a:r>
              <a:rPr lang="en-US" sz="2000" dirty="0" err="1">
                <a:latin typeface="Montserrat" panose="020B0604020202020204" charset="0"/>
                <a:ea typeface="Times New Roman" panose="02020603050405020304" pitchFamily="18" charset="0"/>
                <a:cs typeface="Times New Roman" panose="02020603050405020304" pitchFamily="18" charset="0"/>
              </a:rPr>
              <a:t>printf</a:t>
            </a:r>
            <a:r>
              <a:rPr lang="en-US" sz="2000" dirty="0">
                <a:latin typeface="Montserrat" panose="020B0604020202020204" charset="0"/>
                <a:ea typeface="Times New Roman" panose="02020603050405020304" pitchFamily="18" charset="0"/>
                <a:cs typeface="Times New Roman" panose="02020603050405020304" pitchFamily="18" charset="0"/>
              </a:rPr>
              <a:t>("Sum of their squares=%d\n",</a:t>
            </a:r>
            <a:r>
              <a:rPr lang="en-US" sz="2000" dirty="0" err="1">
                <a:latin typeface="Montserrat" panose="020B0604020202020204" charset="0"/>
                <a:ea typeface="Times New Roman" panose="02020603050405020304" pitchFamily="18" charset="0"/>
                <a:cs typeface="Times New Roman" panose="02020603050405020304" pitchFamily="18" charset="0"/>
              </a:rPr>
              <a:t>sum_of_squares</a:t>
            </a:r>
            <a:r>
              <a:rPr lang="en-US" sz="2000" dirty="0">
                <a:latin typeface="Montserrat" panose="020B0604020202020204" charset="0"/>
                <a:ea typeface="Times New Roman" panose="02020603050405020304" pitchFamily="18" charset="0"/>
                <a:cs typeface="Times New Roman" panose="02020603050405020304" pitchFamily="18" charset="0"/>
              </a:rPr>
              <a:t>);</a:t>
            </a:r>
          </a:p>
          <a:p>
            <a:pPr indent="0">
              <a:buNone/>
            </a:pPr>
            <a:r>
              <a:rPr lang="en-US" sz="2000" dirty="0">
                <a:latin typeface="Montserrat" panose="020B0604020202020204" charset="0"/>
                <a:ea typeface="Times New Roman" panose="02020603050405020304" pitchFamily="18" charset="0"/>
                <a:cs typeface="Times New Roman" panose="02020603050405020304" pitchFamily="18" charset="0"/>
              </a:rPr>
              <a:t>}</a:t>
            </a:r>
          </a:p>
        </p:txBody>
      </p:sp>
      <p:sp>
        <p:nvSpPr>
          <p:cNvPr id="4" name="Content Placeholder 3">
            <a:extLst>
              <a:ext uri="{FF2B5EF4-FFF2-40B4-BE49-F238E27FC236}">
                <a16:creationId xmlns:a16="http://schemas.microsoft.com/office/drawing/2014/main" xmlns="" id="{F0AEBC15-C9EC-45F1-AEEC-16E84828BEEF}"/>
              </a:ext>
            </a:extLst>
          </p:cNvPr>
          <p:cNvSpPr>
            <a:spLocks noGrp="1"/>
          </p:cNvSpPr>
          <p:nvPr>
            <p:ph sz="half" idx="2"/>
          </p:nvPr>
        </p:nvSpPr>
        <p:spPr>
          <a:xfrm>
            <a:off x="6100689" y="1825625"/>
            <a:ext cx="5081954" cy="4351338"/>
          </a:xfrm>
        </p:spPr>
        <p:txBody>
          <a:bodyPr>
            <a:normAutofit fontScale="92500" lnSpcReduction="10000"/>
          </a:bodyPr>
          <a:lstStyle/>
          <a:p>
            <a:pPr marL="0" indent="0">
              <a:buNone/>
            </a:pPr>
            <a:r>
              <a:rPr lang="en-IN" b="1" dirty="0"/>
              <a:t>Output:</a:t>
            </a:r>
          </a:p>
          <a:p>
            <a:pPr marL="0" indent="0">
              <a:buNone/>
            </a:pPr>
            <a:r>
              <a:rPr lang="en-US" sz="1800" dirty="0"/>
              <a:t>Sum of first 15 positive even numbers=240</a:t>
            </a:r>
          </a:p>
          <a:p>
            <a:pPr marL="0" indent="0">
              <a:buNone/>
            </a:pPr>
            <a:r>
              <a:rPr lang="en-US" sz="1800" dirty="0"/>
              <a:t>Sum of their squares=4960</a:t>
            </a:r>
            <a:endParaRPr lang="en-IN" sz="1800" dirty="0"/>
          </a:p>
        </p:txBody>
      </p:sp>
    </p:spTree>
    <p:extLst>
      <p:ext uri="{BB962C8B-B14F-4D97-AF65-F5344CB8AC3E}">
        <p14:creationId xmlns:p14="http://schemas.microsoft.com/office/powerpoint/2010/main" val="14520191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normAutofit/>
          </a:bodyPr>
          <a:lstStyle/>
          <a:p>
            <a:r>
              <a:rPr lang="en-US" altLang="en-US" sz="2400" b="1" dirty="0"/>
              <a:t>Additional Features of for Loop</a:t>
            </a:r>
          </a:p>
        </p:txBody>
      </p:sp>
      <p:sp>
        <p:nvSpPr>
          <p:cNvPr id="55299" name="Rectangle 3"/>
          <p:cNvSpPr>
            <a:spLocks noGrp="1" noChangeArrowheads="1"/>
          </p:cNvSpPr>
          <p:nvPr>
            <p:ph sz="half" idx="1"/>
          </p:nvPr>
        </p:nvSpPr>
        <p:spPr/>
        <p:txBody>
          <a:bodyPr>
            <a:normAutofit fontScale="85000" lnSpcReduction="20000"/>
          </a:bodyPr>
          <a:lstStyle/>
          <a:p>
            <a:pPr>
              <a:buFontTx/>
              <a:buNone/>
            </a:pPr>
            <a:r>
              <a:rPr lang="en-US" altLang="en-US" sz="3200" b="1" dirty="0"/>
              <a:t>Case 1:</a:t>
            </a:r>
          </a:p>
          <a:p>
            <a:pPr>
              <a:buFontTx/>
              <a:buNone/>
            </a:pPr>
            <a:r>
              <a:rPr lang="en-US" altLang="en-US" sz="3200" dirty="0"/>
              <a:t>The statement</a:t>
            </a:r>
          </a:p>
          <a:p>
            <a:pPr>
              <a:buFontTx/>
              <a:buNone/>
            </a:pPr>
            <a:r>
              <a:rPr lang="en-US" altLang="en-US" sz="3200" dirty="0"/>
              <a:t>		p = 1;</a:t>
            </a:r>
          </a:p>
          <a:p>
            <a:pPr>
              <a:buFontTx/>
              <a:buNone/>
            </a:pPr>
            <a:r>
              <a:rPr lang="en-US" altLang="en-US" sz="3200" dirty="0"/>
              <a:t>		for (n = 0; n &lt; 17; ++ n)</a:t>
            </a:r>
          </a:p>
          <a:p>
            <a:pPr>
              <a:buFontTx/>
              <a:buNone/>
            </a:pPr>
            <a:r>
              <a:rPr lang="en-US" altLang="en-US" sz="3200" dirty="0"/>
              <a:t>		</a:t>
            </a:r>
          </a:p>
          <a:p>
            <a:pPr>
              <a:buFontTx/>
              <a:buNone/>
            </a:pPr>
            <a:r>
              <a:rPr lang="en-US" altLang="en-US" sz="3200" dirty="0"/>
              <a:t>can be rewritten as </a:t>
            </a:r>
          </a:p>
          <a:p>
            <a:pPr>
              <a:buFontTx/>
              <a:buNone/>
            </a:pPr>
            <a:r>
              <a:rPr lang="en-US" altLang="en-US" sz="3200" dirty="0"/>
              <a:t>	for (p = 1, n = 0; n &lt; 17;++n)</a:t>
            </a:r>
          </a:p>
          <a:p>
            <a:pPr>
              <a:buFontTx/>
              <a:buNone/>
            </a:pPr>
            <a:endParaRPr lang="en-US" altLang="en-US" sz="3200" dirty="0"/>
          </a:p>
          <a:p>
            <a:pPr>
              <a:buFontTx/>
              <a:buNone/>
            </a:pPr>
            <a:r>
              <a:rPr lang="en-US" altLang="en-US" sz="3200" dirty="0"/>
              <a:t>	</a:t>
            </a:r>
          </a:p>
          <a:p>
            <a:pPr>
              <a:buFontTx/>
              <a:buNone/>
            </a:pPr>
            <a:endParaRPr lang="en-US" altLang="en-US" sz="1800" dirty="0"/>
          </a:p>
        </p:txBody>
      </p:sp>
      <p:sp>
        <p:nvSpPr>
          <p:cNvPr id="2" name="Content Placeholder 1">
            <a:extLst>
              <a:ext uri="{FF2B5EF4-FFF2-40B4-BE49-F238E27FC236}">
                <a16:creationId xmlns:a16="http://schemas.microsoft.com/office/drawing/2014/main" xmlns="" id="{1142C822-BB69-45EF-B02F-6644C5E9647F}"/>
              </a:ext>
            </a:extLst>
          </p:cNvPr>
          <p:cNvSpPr>
            <a:spLocks noGrp="1"/>
          </p:cNvSpPr>
          <p:nvPr>
            <p:ph sz="half" idx="2"/>
          </p:nvPr>
        </p:nvSpPr>
        <p:spPr>
          <a:xfrm>
            <a:off x="5327904" y="1825625"/>
            <a:ext cx="5334000" cy="4351338"/>
          </a:xfrm>
        </p:spPr>
        <p:txBody>
          <a:bodyPr>
            <a:normAutofit fontScale="85000" lnSpcReduction="20000"/>
          </a:bodyPr>
          <a:lstStyle/>
          <a:p>
            <a:pPr>
              <a:buFontTx/>
              <a:buNone/>
            </a:pPr>
            <a:r>
              <a:rPr lang="en-US" altLang="en-US" b="1" dirty="0"/>
              <a:t>Case 2:</a:t>
            </a:r>
          </a:p>
          <a:p>
            <a:r>
              <a:rPr lang="en-US" altLang="en-US" dirty="0"/>
              <a:t>	The test – condition may have any compound relation and the testing need not be limited only to the loop control variable.</a:t>
            </a:r>
          </a:p>
          <a:p>
            <a:pPr>
              <a:buFontTx/>
              <a:buNone/>
            </a:pPr>
            <a:r>
              <a:rPr lang="en-US" altLang="en-US" dirty="0"/>
              <a:t>	</a:t>
            </a:r>
          </a:p>
          <a:p>
            <a:pPr>
              <a:buFontTx/>
              <a:buNone/>
            </a:pPr>
            <a:r>
              <a:rPr lang="en-US" altLang="en-US" dirty="0"/>
              <a:t>sum = 0;</a:t>
            </a:r>
          </a:p>
          <a:p>
            <a:pPr>
              <a:buFontTx/>
              <a:buNone/>
            </a:pPr>
            <a:r>
              <a:rPr lang="en-US" altLang="en-US" dirty="0"/>
              <a:t>for (</a:t>
            </a:r>
            <a:r>
              <a:rPr lang="en-US" altLang="en-US" dirty="0" err="1"/>
              <a:t>i</a:t>
            </a:r>
            <a:r>
              <a:rPr lang="en-US" altLang="en-US" dirty="0"/>
              <a:t> = 1; </a:t>
            </a:r>
            <a:r>
              <a:rPr lang="en-US" altLang="en-US" dirty="0" err="1"/>
              <a:t>i</a:t>
            </a:r>
            <a:r>
              <a:rPr lang="en-US" altLang="en-US" dirty="0"/>
              <a:t> &lt; 20 &amp;&amp; sum &lt; 100; ++ </a:t>
            </a:r>
            <a:r>
              <a:rPr lang="en-US" altLang="en-US" dirty="0" err="1"/>
              <a:t>i</a:t>
            </a:r>
            <a:r>
              <a:rPr lang="en-US" altLang="en-US" dirty="0"/>
              <a:t>)</a:t>
            </a:r>
          </a:p>
          <a:p>
            <a:pPr>
              <a:buFontTx/>
              <a:buNone/>
            </a:pPr>
            <a:r>
              <a:rPr lang="en-US" altLang="en-US" dirty="0"/>
              <a:t>{</a:t>
            </a:r>
          </a:p>
          <a:p>
            <a:pPr>
              <a:buFontTx/>
              <a:buNone/>
            </a:pPr>
            <a:r>
              <a:rPr lang="en-US" altLang="en-US" dirty="0"/>
              <a:t>		sum = sum + </a:t>
            </a:r>
            <a:r>
              <a:rPr lang="en-US" altLang="en-US" dirty="0" err="1"/>
              <a:t>i</a:t>
            </a:r>
            <a:r>
              <a:rPr lang="en-US" altLang="en-US" dirty="0"/>
              <a:t>;</a:t>
            </a:r>
          </a:p>
          <a:p>
            <a:pPr>
              <a:buFontTx/>
              <a:buNone/>
            </a:pPr>
            <a:r>
              <a:rPr lang="en-US" altLang="en-US" dirty="0"/>
              <a:t>		</a:t>
            </a:r>
            <a:r>
              <a:rPr lang="en-US" altLang="en-US" dirty="0" err="1"/>
              <a:t>printf</a:t>
            </a:r>
            <a:r>
              <a:rPr lang="en-US" altLang="en-US" dirty="0"/>
              <a:t>(“%d %d\n”, </a:t>
            </a:r>
            <a:r>
              <a:rPr lang="en-US" altLang="en-US" dirty="0" err="1"/>
              <a:t>i</a:t>
            </a:r>
            <a:r>
              <a:rPr lang="en-US" altLang="en-US" dirty="0"/>
              <a:t>, sum);</a:t>
            </a:r>
          </a:p>
          <a:p>
            <a:pPr>
              <a:buFontTx/>
              <a:buNone/>
            </a:pPr>
            <a:r>
              <a:rPr lang="en-US" altLang="en-US" dirty="0"/>
              <a:t>}</a:t>
            </a:r>
            <a:endParaRPr lang="en-IN" dirty="0"/>
          </a:p>
        </p:txBody>
      </p:sp>
    </p:spTree>
    <p:custDataLst>
      <p:tags r:id="rId1"/>
    </p:custDataLst>
    <p:extLst>
      <p:ext uri="{BB962C8B-B14F-4D97-AF65-F5344CB8AC3E}">
        <p14:creationId xmlns:p14="http://schemas.microsoft.com/office/powerpoint/2010/main" val="283721426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normAutofit/>
          </a:bodyPr>
          <a:lstStyle/>
          <a:p>
            <a:r>
              <a:rPr lang="en-US" altLang="en-US" sz="2400" b="1" dirty="0"/>
              <a:t>Additional Features of for Loop </a:t>
            </a:r>
            <a:r>
              <a:rPr lang="en-US" altLang="en-US" sz="2400" b="1" dirty="0" err="1"/>
              <a:t>Contd</a:t>
            </a:r>
            <a:r>
              <a:rPr lang="en-US" altLang="en-US" sz="2400" b="1" dirty="0"/>
              <a:t>…</a:t>
            </a:r>
          </a:p>
        </p:txBody>
      </p:sp>
      <p:sp>
        <p:nvSpPr>
          <p:cNvPr id="56323" name="Rectangle 3"/>
          <p:cNvSpPr>
            <a:spLocks noGrp="1" noChangeArrowheads="1"/>
          </p:cNvSpPr>
          <p:nvPr>
            <p:ph sz="half" idx="1"/>
          </p:nvPr>
        </p:nvSpPr>
        <p:spPr>
          <a:xfrm>
            <a:off x="838200" y="1825626"/>
            <a:ext cx="4489704" cy="2852392"/>
          </a:xfrm>
        </p:spPr>
        <p:txBody>
          <a:bodyPr>
            <a:normAutofit fontScale="70000" lnSpcReduction="20000"/>
          </a:bodyPr>
          <a:lstStyle/>
          <a:p>
            <a:pPr>
              <a:lnSpc>
                <a:spcPct val="90000"/>
              </a:lnSpc>
              <a:buFontTx/>
              <a:buNone/>
            </a:pPr>
            <a:r>
              <a:rPr lang="en-US" altLang="en-US" sz="3600" b="1" dirty="0"/>
              <a:t>Case 3:</a:t>
            </a:r>
          </a:p>
          <a:p>
            <a:r>
              <a:rPr lang="en-US" altLang="en-US" sz="3600" dirty="0"/>
              <a:t>It is also permissible to use expressions in the assignment statements of initialization </a:t>
            </a:r>
            <a:r>
              <a:rPr lang="en-US" altLang="en-US" sz="3600" dirty="0" err="1"/>
              <a:t>andupdation</a:t>
            </a:r>
            <a:r>
              <a:rPr lang="en-US" altLang="en-US" sz="3600" dirty="0"/>
              <a:t> sections.</a:t>
            </a:r>
          </a:p>
          <a:p>
            <a:r>
              <a:rPr lang="en-US" altLang="en-US" sz="3600" dirty="0"/>
              <a:t>For Example:</a:t>
            </a:r>
          </a:p>
          <a:p>
            <a:pPr>
              <a:lnSpc>
                <a:spcPct val="90000"/>
              </a:lnSpc>
              <a:buFontTx/>
              <a:buNone/>
            </a:pPr>
            <a:r>
              <a:rPr lang="en-US" altLang="en-US" sz="3600" dirty="0"/>
              <a:t>	for (x = (m + n) / 2; x &gt; 0; x = x / 2)</a:t>
            </a:r>
            <a:endParaRPr lang="en-US" altLang="en-US" sz="3600" b="1" dirty="0"/>
          </a:p>
          <a:p>
            <a:pPr>
              <a:lnSpc>
                <a:spcPct val="90000"/>
              </a:lnSpc>
              <a:buFontTx/>
              <a:buNone/>
            </a:pPr>
            <a:endParaRPr lang="en-US" altLang="en-US" sz="3600" dirty="0"/>
          </a:p>
          <a:p>
            <a:pPr algn="just">
              <a:lnSpc>
                <a:spcPct val="90000"/>
              </a:lnSpc>
              <a:buFontTx/>
              <a:buNone/>
            </a:pPr>
            <a:endParaRPr lang="en-US" altLang="en-US" sz="1600" dirty="0"/>
          </a:p>
        </p:txBody>
      </p:sp>
      <p:sp>
        <p:nvSpPr>
          <p:cNvPr id="3" name="Content Placeholder 2">
            <a:extLst>
              <a:ext uri="{FF2B5EF4-FFF2-40B4-BE49-F238E27FC236}">
                <a16:creationId xmlns:a16="http://schemas.microsoft.com/office/drawing/2014/main" xmlns="" id="{3EB7ADC4-7975-4242-AE44-FD8BF3BCBF6B}"/>
              </a:ext>
            </a:extLst>
          </p:cNvPr>
          <p:cNvSpPr>
            <a:spLocks noGrp="1"/>
          </p:cNvSpPr>
          <p:nvPr>
            <p:ph sz="half" idx="2"/>
          </p:nvPr>
        </p:nvSpPr>
        <p:spPr>
          <a:xfrm>
            <a:off x="6172200" y="1808922"/>
            <a:ext cx="4489704" cy="2723321"/>
          </a:xfrm>
        </p:spPr>
        <p:txBody>
          <a:bodyPr>
            <a:noAutofit/>
          </a:bodyPr>
          <a:lstStyle/>
          <a:p>
            <a:pPr>
              <a:buNone/>
            </a:pPr>
            <a:r>
              <a:rPr lang="en-US" altLang="en-US" sz="1600" b="1" dirty="0"/>
              <a:t>Case 4:</a:t>
            </a:r>
          </a:p>
          <a:p>
            <a:r>
              <a:rPr lang="en-US" altLang="en-US" sz="1600" dirty="0"/>
              <a:t>Another unique aspect of for loop is that one or more sections can be omitted, if necessary.</a:t>
            </a:r>
          </a:p>
          <a:p>
            <a:r>
              <a:rPr lang="en-US" altLang="en-US" sz="1600" dirty="0"/>
              <a:t>For Example:</a:t>
            </a:r>
          </a:p>
          <a:p>
            <a:pPr>
              <a:buNone/>
            </a:pPr>
            <a:r>
              <a:rPr lang="en-US" altLang="en-US" sz="1600" dirty="0"/>
              <a:t>	m = 5;</a:t>
            </a:r>
          </a:p>
          <a:p>
            <a:pPr>
              <a:buNone/>
            </a:pPr>
            <a:r>
              <a:rPr lang="en-US" altLang="en-US" sz="1600" dirty="0"/>
              <a:t>	for ( ; m ! = 100 ;)    {</a:t>
            </a:r>
          </a:p>
          <a:p>
            <a:pPr>
              <a:buNone/>
            </a:pPr>
            <a:r>
              <a:rPr lang="en-US" altLang="en-US" sz="1600" dirty="0"/>
              <a:t>		</a:t>
            </a:r>
            <a:r>
              <a:rPr lang="en-US" altLang="en-US" sz="1600" dirty="0" err="1"/>
              <a:t>printf</a:t>
            </a:r>
            <a:r>
              <a:rPr lang="en-US" altLang="en-US" sz="1600" dirty="0"/>
              <a:t>(“%d\</a:t>
            </a:r>
            <a:r>
              <a:rPr lang="en-US" altLang="en-US" sz="1600" dirty="0" err="1"/>
              <a:t>n”,m</a:t>
            </a:r>
            <a:r>
              <a:rPr lang="en-US" altLang="en-US" sz="1600" dirty="0"/>
              <a:t>);</a:t>
            </a:r>
          </a:p>
          <a:p>
            <a:pPr>
              <a:buNone/>
            </a:pPr>
            <a:r>
              <a:rPr lang="en-US" altLang="en-US" sz="1600" dirty="0"/>
              <a:t>		m = m + 5;</a:t>
            </a:r>
          </a:p>
          <a:p>
            <a:pPr marL="0" indent="0">
              <a:buNone/>
            </a:pPr>
            <a:r>
              <a:rPr lang="en-IN" sz="1600" dirty="0"/>
              <a:t>   }</a:t>
            </a:r>
          </a:p>
        </p:txBody>
      </p:sp>
      <p:sp>
        <p:nvSpPr>
          <p:cNvPr id="4" name="TextBox 3">
            <a:extLst>
              <a:ext uri="{FF2B5EF4-FFF2-40B4-BE49-F238E27FC236}">
                <a16:creationId xmlns:a16="http://schemas.microsoft.com/office/drawing/2014/main" xmlns="" id="{3A71BDE8-4D34-4FB2-9136-4066472A8214}"/>
              </a:ext>
            </a:extLst>
          </p:cNvPr>
          <p:cNvSpPr txBox="1"/>
          <p:nvPr/>
        </p:nvSpPr>
        <p:spPr>
          <a:xfrm>
            <a:off x="993913" y="5049078"/>
            <a:ext cx="9667991" cy="1588127"/>
          </a:xfrm>
          <a:prstGeom prst="rect">
            <a:avLst/>
          </a:prstGeom>
          <a:noFill/>
        </p:spPr>
        <p:txBody>
          <a:bodyPr wrap="square" rtlCol="0">
            <a:spAutoFit/>
          </a:bodyPr>
          <a:lstStyle/>
          <a:p>
            <a:pPr algn="just">
              <a:lnSpc>
                <a:spcPct val="90000"/>
              </a:lnSpc>
              <a:buFontTx/>
              <a:buNone/>
            </a:pPr>
            <a:r>
              <a:rPr lang="en-US" altLang="en-US" b="1" dirty="0"/>
              <a:t>Note: </a:t>
            </a:r>
            <a:r>
              <a:rPr lang="en-US" altLang="en-US" dirty="0"/>
              <a:t>Both the initialization and increment sections are omitted in this for statement. The initialization has been done before the for statement and the control variable is incremented inside the loop. In such cases, the sections are left ‘blank’. However, the semicolons separating the sections must remain. If the test – condition is not present, then the for statement sets up an ‘infinite’ loop. Such loops can be broken using break or </a:t>
            </a:r>
            <a:r>
              <a:rPr lang="en-US" altLang="en-US" dirty="0" err="1"/>
              <a:t>goto</a:t>
            </a:r>
            <a:r>
              <a:rPr lang="en-US" altLang="en-US" dirty="0"/>
              <a:t> statements in the loop.</a:t>
            </a:r>
          </a:p>
        </p:txBody>
      </p:sp>
      <p:sp>
        <p:nvSpPr>
          <p:cNvPr id="5" name="TextBox 4">
            <a:extLst>
              <a:ext uri="{FF2B5EF4-FFF2-40B4-BE49-F238E27FC236}">
                <a16:creationId xmlns:a16="http://schemas.microsoft.com/office/drawing/2014/main" xmlns="" id="{DFE11094-9458-4DFC-A3BA-74AF4538280E}"/>
              </a:ext>
            </a:extLst>
          </p:cNvPr>
          <p:cNvSpPr txBox="1"/>
          <p:nvPr/>
        </p:nvSpPr>
        <p:spPr>
          <a:xfrm>
            <a:off x="8213830" y="4682713"/>
            <a:ext cx="2756452" cy="369332"/>
          </a:xfrm>
          <a:prstGeom prst="rect">
            <a:avLst/>
          </a:prstGeom>
          <a:noFill/>
        </p:spPr>
        <p:txBody>
          <a:bodyPr wrap="square" rtlCol="0">
            <a:spAutoFit/>
          </a:bodyPr>
          <a:lstStyle/>
          <a:p>
            <a:r>
              <a:rPr lang="en-IN" dirty="0">
                <a:solidFill>
                  <a:srgbClr val="FF0000"/>
                </a:solidFill>
              </a:rPr>
              <a:t>for(;;) – Infinite loop</a:t>
            </a:r>
          </a:p>
        </p:txBody>
      </p:sp>
    </p:spTree>
    <p:extLst>
      <p:ext uri="{BB962C8B-B14F-4D97-AF65-F5344CB8AC3E}">
        <p14:creationId xmlns:p14="http://schemas.microsoft.com/office/powerpoint/2010/main" val="265789377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95EBD5-22F8-4EE8-8861-B0B56D6BDE61}"/>
              </a:ext>
            </a:extLst>
          </p:cNvPr>
          <p:cNvSpPr>
            <a:spLocks noGrp="1"/>
          </p:cNvSpPr>
          <p:nvPr>
            <p:ph type="title"/>
          </p:nvPr>
        </p:nvSpPr>
        <p:spPr/>
        <p:txBody>
          <a:bodyPr>
            <a:normAutofit/>
          </a:bodyPr>
          <a:lstStyle/>
          <a:p>
            <a:r>
              <a:rPr lang="en-US" altLang="en-US" sz="3200" b="1" dirty="0"/>
              <a:t>Additional Features of for Loop </a:t>
            </a:r>
            <a:r>
              <a:rPr lang="en-US" altLang="en-US" sz="3200" b="1" dirty="0" err="1"/>
              <a:t>Contd</a:t>
            </a:r>
            <a:r>
              <a:rPr lang="en-US" altLang="en-US" sz="3200" b="1" dirty="0"/>
              <a:t>…</a:t>
            </a:r>
            <a:endParaRPr lang="en-IN" sz="3200" dirty="0"/>
          </a:p>
        </p:txBody>
      </p:sp>
      <p:sp>
        <p:nvSpPr>
          <p:cNvPr id="57346" name="Rectangle 2"/>
          <p:cNvSpPr>
            <a:spLocks noGrp="1" noChangeArrowheads="1"/>
          </p:cNvSpPr>
          <p:nvPr>
            <p:ph sz="half" idx="1"/>
          </p:nvPr>
        </p:nvSpPr>
        <p:spPr/>
        <p:txBody>
          <a:bodyPr>
            <a:normAutofit/>
          </a:bodyPr>
          <a:lstStyle/>
          <a:p>
            <a:pPr>
              <a:lnSpc>
                <a:spcPct val="90000"/>
              </a:lnSpc>
              <a:buFontTx/>
              <a:buNone/>
            </a:pPr>
            <a:r>
              <a:rPr lang="en-US" altLang="en-US" sz="1800" b="1" dirty="0"/>
              <a:t>Case 5:</a:t>
            </a:r>
          </a:p>
          <a:p>
            <a:r>
              <a:rPr lang="en-US" altLang="en-US" sz="1800" dirty="0"/>
              <a:t>We can set up time delay loops using the null statement as follows:</a:t>
            </a:r>
          </a:p>
          <a:p>
            <a:pPr>
              <a:lnSpc>
                <a:spcPct val="90000"/>
              </a:lnSpc>
              <a:buFontTx/>
              <a:buNone/>
            </a:pPr>
            <a:r>
              <a:rPr lang="en-US" altLang="en-US" sz="1800" dirty="0"/>
              <a:t>	for ( j = 1000; j &gt; 0; j = j – 1)</a:t>
            </a:r>
          </a:p>
          <a:p>
            <a:pPr>
              <a:lnSpc>
                <a:spcPct val="90000"/>
              </a:lnSpc>
              <a:buFontTx/>
              <a:buNone/>
            </a:pPr>
            <a:r>
              <a:rPr lang="en-US" altLang="en-US" sz="1800" dirty="0"/>
              <a:t>			;</a:t>
            </a:r>
          </a:p>
          <a:p>
            <a:pPr>
              <a:lnSpc>
                <a:spcPct val="90000"/>
              </a:lnSpc>
              <a:buFontTx/>
              <a:buNone/>
            </a:pPr>
            <a:endParaRPr lang="en-US" altLang="en-US" sz="1800" dirty="0"/>
          </a:p>
          <a:p>
            <a:r>
              <a:rPr lang="en-US" altLang="en-US" sz="1800" dirty="0"/>
              <a:t>This loop is executed 1000 times without producing any output; it simply causes a time delay.</a:t>
            </a:r>
          </a:p>
          <a:p>
            <a:r>
              <a:rPr lang="en-US" altLang="en-US" sz="1800" dirty="0"/>
              <a:t>Notice that the body of the loop contains only a semicolon, known as a null statement.</a:t>
            </a:r>
          </a:p>
          <a:p>
            <a:pPr>
              <a:lnSpc>
                <a:spcPct val="90000"/>
              </a:lnSpc>
              <a:buFontTx/>
              <a:buNone/>
            </a:pPr>
            <a:endParaRPr lang="en-US" altLang="en-US" sz="1800" dirty="0"/>
          </a:p>
          <a:p>
            <a:pPr>
              <a:lnSpc>
                <a:spcPct val="90000"/>
              </a:lnSpc>
              <a:buFontTx/>
              <a:buNone/>
            </a:pPr>
            <a:r>
              <a:rPr lang="en-US" altLang="en-US" sz="1800" b="1" dirty="0"/>
              <a:t>		</a:t>
            </a:r>
          </a:p>
        </p:txBody>
      </p:sp>
      <p:sp>
        <p:nvSpPr>
          <p:cNvPr id="3" name="Content Placeholder 2">
            <a:extLst>
              <a:ext uri="{FF2B5EF4-FFF2-40B4-BE49-F238E27FC236}">
                <a16:creationId xmlns:a16="http://schemas.microsoft.com/office/drawing/2014/main" xmlns="" id="{CD32BC72-7C64-4F2A-9B51-27370110BC0A}"/>
              </a:ext>
            </a:extLst>
          </p:cNvPr>
          <p:cNvSpPr>
            <a:spLocks noGrp="1"/>
          </p:cNvSpPr>
          <p:nvPr>
            <p:ph sz="half" idx="2"/>
          </p:nvPr>
        </p:nvSpPr>
        <p:spPr/>
        <p:txBody>
          <a:bodyPr>
            <a:normAutofit/>
          </a:bodyPr>
          <a:lstStyle/>
          <a:p>
            <a:pPr>
              <a:buNone/>
            </a:pPr>
            <a:r>
              <a:rPr lang="en-US" altLang="en-US" b="1" dirty="0"/>
              <a:t>Case 6:</a:t>
            </a:r>
          </a:p>
          <a:p>
            <a:pPr>
              <a:buNone/>
            </a:pPr>
            <a:r>
              <a:rPr lang="en-US" altLang="en-US" b="1" dirty="0"/>
              <a:t>	</a:t>
            </a:r>
            <a:r>
              <a:rPr lang="en-US" altLang="en-US" sz="2400" dirty="0"/>
              <a:t>for ( j = 1000; j &gt; 0; j = j – 1);</a:t>
            </a:r>
          </a:p>
          <a:p>
            <a:pPr algn="just">
              <a:buNone/>
            </a:pPr>
            <a:endParaRPr lang="en-US" altLang="en-US" dirty="0"/>
          </a:p>
          <a:p>
            <a:pPr algn="just"/>
            <a:r>
              <a:rPr lang="en-US" altLang="en-US" dirty="0"/>
              <a:t>	</a:t>
            </a:r>
            <a:r>
              <a:rPr lang="en-US" altLang="en-US" sz="1700" dirty="0"/>
              <a:t>This implies that the C compiler will not give an error message if we place a semicolon by mistake (or consciously as in the case 5) at the end of a for statement. The semicolon will be considered as a null statement.</a:t>
            </a:r>
            <a:endParaRPr lang="en-IN" sz="1700" dirty="0"/>
          </a:p>
        </p:txBody>
      </p:sp>
    </p:spTree>
    <p:extLst>
      <p:ext uri="{BB962C8B-B14F-4D97-AF65-F5344CB8AC3E}">
        <p14:creationId xmlns:p14="http://schemas.microsoft.com/office/powerpoint/2010/main" val="297455391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E0D652-42A0-49CB-B5DA-B1B0994BD6A2}"/>
              </a:ext>
            </a:extLst>
          </p:cNvPr>
          <p:cNvSpPr>
            <a:spLocks noGrp="1"/>
          </p:cNvSpPr>
          <p:nvPr>
            <p:ph type="title"/>
          </p:nvPr>
        </p:nvSpPr>
        <p:spPr/>
        <p:txBody>
          <a:bodyPr/>
          <a:lstStyle/>
          <a:p>
            <a:r>
              <a:rPr lang="en-IN" dirty="0"/>
              <a:t>Nested loops</a:t>
            </a:r>
          </a:p>
        </p:txBody>
      </p:sp>
      <p:sp>
        <p:nvSpPr>
          <p:cNvPr id="3" name="Content Placeholder 2">
            <a:extLst>
              <a:ext uri="{FF2B5EF4-FFF2-40B4-BE49-F238E27FC236}">
                <a16:creationId xmlns:a16="http://schemas.microsoft.com/office/drawing/2014/main" xmlns="" id="{5E17CC6F-C11B-46F3-8BD9-39D7F5D777E7}"/>
              </a:ext>
            </a:extLst>
          </p:cNvPr>
          <p:cNvSpPr>
            <a:spLocks noGrp="1"/>
          </p:cNvSpPr>
          <p:nvPr>
            <p:ph idx="1"/>
          </p:nvPr>
        </p:nvSpPr>
        <p:spPr/>
        <p:txBody>
          <a:bodyPr>
            <a:normAutofit/>
          </a:bodyPr>
          <a:lstStyle/>
          <a:p>
            <a:endParaRPr lang="en-US" dirty="0"/>
          </a:p>
          <a:p>
            <a:endParaRPr lang="en-US" dirty="0"/>
          </a:p>
          <a:p>
            <a:endParaRPr lang="en-US" dirty="0"/>
          </a:p>
          <a:p>
            <a:endParaRPr lang="en-US" sz="2400" dirty="0"/>
          </a:p>
          <a:p>
            <a:endParaRPr lang="en-US" sz="2400" dirty="0" smtClean="0"/>
          </a:p>
          <a:p>
            <a:endParaRPr lang="en-US" sz="2400" dirty="0"/>
          </a:p>
          <a:p>
            <a:endParaRPr lang="en-US" sz="2400" dirty="0"/>
          </a:p>
          <a:p>
            <a:r>
              <a:rPr lang="en-US" sz="2400" dirty="0"/>
              <a:t>The looping of statements inside another loop</a:t>
            </a:r>
          </a:p>
          <a:p>
            <a:r>
              <a:rPr lang="en-US" sz="2400" dirty="0"/>
              <a:t>Any number of loops can be defined inside another loop</a:t>
            </a:r>
          </a:p>
          <a:p>
            <a:r>
              <a:rPr lang="en-US" sz="2400" dirty="0"/>
              <a:t>Any type of loops can be defined inside another loop</a:t>
            </a:r>
          </a:p>
          <a:p>
            <a:pPr marL="0" indent="0">
              <a:buNone/>
            </a:pPr>
            <a:endParaRPr lang="en-IN" dirty="0"/>
          </a:p>
        </p:txBody>
      </p:sp>
      <p:sp>
        <p:nvSpPr>
          <p:cNvPr id="4" name="Rectangle: Rounded Corners 3">
            <a:extLst>
              <a:ext uri="{FF2B5EF4-FFF2-40B4-BE49-F238E27FC236}">
                <a16:creationId xmlns:a16="http://schemas.microsoft.com/office/drawing/2014/main" xmlns="" id="{FD0A6102-51CD-4D23-80BC-B2BB3C6A7525}"/>
              </a:ext>
            </a:extLst>
          </p:cNvPr>
          <p:cNvSpPr/>
          <p:nvPr/>
        </p:nvSpPr>
        <p:spPr>
          <a:xfrm>
            <a:off x="3591339" y="1253331"/>
            <a:ext cx="5009321" cy="30801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t>Syntax:</a:t>
            </a:r>
          </a:p>
          <a:p>
            <a:r>
              <a:rPr lang="en-IN" dirty="0" err="1"/>
              <a:t>Outer_loop</a:t>
            </a:r>
            <a:r>
              <a:rPr lang="en-IN" dirty="0"/>
              <a:t>  </a:t>
            </a:r>
          </a:p>
          <a:p>
            <a:r>
              <a:rPr lang="en-IN" dirty="0"/>
              <a:t>{  </a:t>
            </a:r>
          </a:p>
          <a:p>
            <a:r>
              <a:rPr lang="en-IN" dirty="0"/>
              <a:t>    </a:t>
            </a:r>
            <a:r>
              <a:rPr lang="en-IN" dirty="0" err="1"/>
              <a:t>Inner_loop</a:t>
            </a:r>
            <a:r>
              <a:rPr lang="en-IN" dirty="0"/>
              <a:t>  </a:t>
            </a:r>
          </a:p>
          <a:p>
            <a:r>
              <a:rPr lang="en-IN" dirty="0"/>
              <a:t>   {  </a:t>
            </a:r>
          </a:p>
          <a:p>
            <a:r>
              <a:rPr lang="en-IN" dirty="0"/>
              <a:t>         // inner loop statements.  </a:t>
            </a:r>
          </a:p>
          <a:p>
            <a:r>
              <a:rPr lang="en-IN" dirty="0"/>
              <a:t>   }  </a:t>
            </a:r>
          </a:p>
          <a:p>
            <a:r>
              <a:rPr lang="en-IN" dirty="0"/>
              <a:t>       // outer loop statements.  </a:t>
            </a:r>
          </a:p>
          <a:p>
            <a:r>
              <a:rPr lang="en-IN" dirty="0"/>
              <a:t>} </a:t>
            </a:r>
          </a:p>
          <a:p>
            <a:pPr algn="ctr"/>
            <a:endParaRPr lang="en-IN" dirty="0"/>
          </a:p>
        </p:txBody>
      </p:sp>
    </p:spTree>
    <p:extLst>
      <p:ext uri="{BB962C8B-B14F-4D97-AF65-F5344CB8AC3E}">
        <p14:creationId xmlns:p14="http://schemas.microsoft.com/office/powerpoint/2010/main" val="401586195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E0D652-42A0-49CB-B5DA-B1B0994BD6A2}"/>
              </a:ext>
            </a:extLst>
          </p:cNvPr>
          <p:cNvSpPr>
            <a:spLocks noGrp="1"/>
          </p:cNvSpPr>
          <p:nvPr>
            <p:ph type="title"/>
          </p:nvPr>
        </p:nvSpPr>
        <p:spPr/>
        <p:txBody>
          <a:bodyPr/>
          <a:lstStyle/>
          <a:p>
            <a:r>
              <a:rPr lang="en-IN" dirty="0"/>
              <a:t>Nested loops - Example</a:t>
            </a:r>
          </a:p>
        </p:txBody>
      </p:sp>
      <p:sp>
        <p:nvSpPr>
          <p:cNvPr id="3" name="Content Placeholder 2">
            <a:extLst>
              <a:ext uri="{FF2B5EF4-FFF2-40B4-BE49-F238E27FC236}">
                <a16:creationId xmlns:a16="http://schemas.microsoft.com/office/drawing/2014/main" xmlns="" id="{5E17CC6F-C11B-46F3-8BD9-39D7F5D777E7}"/>
              </a:ext>
            </a:extLst>
          </p:cNvPr>
          <p:cNvSpPr>
            <a:spLocks noGrp="1"/>
          </p:cNvSpPr>
          <p:nvPr>
            <p:ph sz="half" idx="1"/>
          </p:nvPr>
        </p:nvSpPr>
        <p:spPr/>
        <p:txBody>
          <a:bodyPr>
            <a:normAutofit/>
          </a:bodyPr>
          <a:lstStyle/>
          <a:p>
            <a:pPr marL="0" indent="0">
              <a:buNone/>
            </a:pPr>
            <a:r>
              <a:rPr lang="en-IN" sz="2600" dirty="0"/>
              <a:t>while(condition) </a:t>
            </a:r>
          </a:p>
          <a:p>
            <a:pPr marL="0" indent="0">
              <a:buNone/>
            </a:pPr>
            <a:r>
              <a:rPr lang="en-IN" sz="2600" dirty="0"/>
              <a:t>{  </a:t>
            </a:r>
          </a:p>
          <a:p>
            <a:pPr marL="0" indent="0">
              <a:buNone/>
            </a:pPr>
            <a:r>
              <a:rPr lang="en-IN" sz="2600" dirty="0"/>
              <a:t>    do</a:t>
            </a:r>
          </a:p>
          <a:p>
            <a:pPr marL="0" indent="0">
              <a:buNone/>
            </a:pPr>
            <a:r>
              <a:rPr lang="en-IN" sz="2600" dirty="0"/>
              <a:t>   {  </a:t>
            </a:r>
          </a:p>
          <a:p>
            <a:pPr marL="0" indent="0">
              <a:buNone/>
            </a:pPr>
            <a:r>
              <a:rPr lang="en-IN" sz="2600" dirty="0"/>
              <a:t>          inner loop statement(s);  </a:t>
            </a:r>
          </a:p>
          <a:p>
            <a:pPr marL="0" indent="0">
              <a:buNone/>
            </a:pPr>
            <a:r>
              <a:rPr lang="en-IN" sz="2600" dirty="0"/>
              <a:t>   } </a:t>
            </a:r>
          </a:p>
          <a:p>
            <a:pPr marL="0" indent="0">
              <a:buNone/>
            </a:pPr>
            <a:r>
              <a:rPr lang="en-IN" sz="2600" dirty="0"/>
              <a:t>   while(condition) ;</a:t>
            </a:r>
          </a:p>
          <a:p>
            <a:pPr marL="0" indent="0">
              <a:buNone/>
            </a:pPr>
            <a:r>
              <a:rPr lang="en-IN" sz="2600" dirty="0"/>
              <a:t>       outer loop statement(s);  </a:t>
            </a:r>
          </a:p>
          <a:p>
            <a:pPr marL="0" indent="0">
              <a:buNone/>
            </a:pPr>
            <a:r>
              <a:rPr lang="en-IN" sz="2600" dirty="0"/>
              <a:t>} </a:t>
            </a:r>
          </a:p>
          <a:p>
            <a:pPr marL="0" indent="0">
              <a:buNone/>
            </a:pPr>
            <a:endParaRPr lang="en-IN" dirty="0"/>
          </a:p>
        </p:txBody>
      </p:sp>
      <p:sp>
        <p:nvSpPr>
          <p:cNvPr id="4" name="Content Placeholder 3">
            <a:extLst>
              <a:ext uri="{FF2B5EF4-FFF2-40B4-BE49-F238E27FC236}">
                <a16:creationId xmlns:a16="http://schemas.microsoft.com/office/drawing/2014/main" xmlns="" id="{E2D051C2-5B97-4340-830C-1FBAB9A7DD88}"/>
              </a:ext>
            </a:extLst>
          </p:cNvPr>
          <p:cNvSpPr>
            <a:spLocks noGrp="1"/>
          </p:cNvSpPr>
          <p:nvPr>
            <p:ph sz="half" idx="2"/>
          </p:nvPr>
        </p:nvSpPr>
        <p:spPr>
          <a:xfrm>
            <a:off x="5809957" y="1825625"/>
            <a:ext cx="4851947" cy="4351338"/>
          </a:xfrm>
        </p:spPr>
        <p:txBody>
          <a:bodyPr>
            <a:normAutofit/>
          </a:bodyPr>
          <a:lstStyle/>
          <a:p>
            <a:pPr marL="0" indent="0">
              <a:buNone/>
            </a:pPr>
            <a:r>
              <a:rPr lang="en-IN" sz="2600" dirty="0"/>
              <a:t>for(</a:t>
            </a:r>
            <a:r>
              <a:rPr lang="en-IN" sz="2600" dirty="0" err="1"/>
              <a:t>initialization;condition</a:t>
            </a:r>
            <a:r>
              <a:rPr lang="en-IN" sz="2600" dirty="0"/>
              <a:t>; </a:t>
            </a:r>
            <a:r>
              <a:rPr lang="en-IN" sz="2600" dirty="0" err="1"/>
              <a:t>updation</a:t>
            </a:r>
            <a:r>
              <a:rPr lang="en-IN" sz="2600" dirty="0"/>
              <a:t>)</a:t>
            </a:r>
          </a:p>
          <a:p>
            <a:pPr marL="0" indent="0">
              <a:buNone/>
            </a:pPr>
            <a:r>
              <a:rPr lang="en-IN" sz="2600" dirty="0"/>
              <a:t>{</a:t>
            </a:r>
          </a:p>
          <a:p>
            <a:pPr marL="0" indent="0">
              <a:buNone/>
            </a:pPr>
            <a:r>
              <a:rPr lang="en-IN" sz="2600" dirty="0"/>
              <a:t>       while(condition)</a:t>
            </a:r>
          </a:p>
          <a:p>
            <a:pPr marL="0" indent="0">
              <a:buNone/>
            </a:pPr>
            <a:r>
              <a:rPr lang="en-IN" sz="2600" dirty="0"/>
              <a:t>        {</a:t>
            </a:r>
          </a:p>
          <a:p>
            <a:pPr marL="0" indent="0">
              <a:buNone/>
            </a:pPr>
            <a:r>
              <a:rPr lang="en-IN" sz="2600" dirty="0"/>
              <a:t>	 inner loop statement(s);</a:t>
            </a:r>
          </a:p>
          <a:p>
            <a:pPr marL="0" indent="0">
              <a:buNone/>
            </a:pPr>
            <a:r>
              <a:rPr lang="en-IN" sz="2600" dirty="0"/>
              <a:t>        }</a:t>
            </a:r>
          </a:p>
          <a:p>
            <a:pPr marL="0" indent="0">
              <a:buNone/>
            </a:pPr>
            <a:r>
              <a:rPr lang="en-IN" sz="2600" dirty="0"/>
              <a:t>        outer loop statement(s);</a:t>
            </a:r>
          </a:p>
          <a:p>
            <a:pPr marL="0" indent="0">
              <a:buNone/>
            </a:pPr>
            <a:r>
              <a:rPr lang="en-IN" sz="2600" dirty="0"/>
              <a:t>}</a:t>
            </a:r>
          </a:p>
          <a:p>
            <a:pPr marL="0" indent="0">
              <a:buNone/>
            </a:pPr>
            <a:endParaRPr lang="en-IN" dirty="0"/>
          </a:p>
        </p:txBody>
      </p:sp>
    </p:spTree>
    <p:extLst>
      <p:ext uri="{BB962C8B-B14F-4D97-AF65-F5344CB8AC3E}">
        <p14:creationId xmlns:p14="http://schemas.microsoft.com/office/powerpoint/2010/main" val="77976087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0F6853-CBA5-4496-9CE4-2C3BFDE30A2C}"/>
              </a:ext>
            </a:extLst>
          </p:cNvPr>
          <p:cNvSpPr>
            <a:spLocks noGrp="1"/>
          </p:cNvSpPr>
          <p:nvPr>
            <p:ph type="title"/>
          </p:nvPr>
        </p:nvSpPr>
        <p:spPr>
          <a:xfrm>
            <a:off x="441646" y="365125"/>
            <a:ext cx="9368359" cy="1325563"/>
          </a:xfrm>
        </p:spPr>
        <p:txBody>
          <a:bodyPr/>
          <a:lstStyle/>
          <a:p>
            <a:pPr algn="ctr"/>
            <a:r>
              <a:rPr lang="en-IN" dirty="0"/>
              <a:t>break and continue statements</a:t>
            </a:r>
          </a:p>
        </p:txBody>
      </p:sp>
      <p:sp>
        <p:nvSpPr>
          <p:cNvPr id="3" name="Content Placeholder 2">
            <a:extLst>
              <a:ext uri="{FF2B5EF4-FFF2-40B4-BE49-F238E27FC236}">
                <a16:creationId xmlns:a16="http://schemas.microsoft.com/office/drawing/2014/main" xmlns="" id="{C8951CB0-3223-4154-96D4-E8EA6DC64D31}"/>
              </a:ext>
            </a:extLst>
          </p:cNvPr>
          <p:cNvSpPr>
            <a:spLocks noGrp="1"/>
          </p:cNvSpPr>
          <p:nvPr>
            <p:ph idx="1"/>
          </p:nvPr>
        </p:nvSpPr>
        <p:spPr>
          <a:xfrm>
            <a:off x="441647" y="1431235"/>
            <a:ext cx="9110472" cy="4745728"/>
          </a:xfrm>
        </p:spPr>
        <p:txBody>
          <a:bodyPr>
            <a:normAutofit/>
          </a:bodyPr>
          <a:lstStyle/>
          <a:p>
            <a:pPr marL="0" indent="0" algn="just">
              <a:buNone/>
            </a:pPr>
            <a:endParaRPr lang="en-US" sz="2400" b="1" dirty="0">
              <a:latin typeface="Verdana" panose="020B0604030504040204" pitchFamily="34" charset="0"/>
              <a:ea typeface="Times New Roman" panose="02020603050405020304" pitchFamily="18" charset="0"/>
              <a:cs typeface="Times New Roman" panose="02020603050405020304" pitchFamily="18" charset="0"/>
            </a:endParaRPr>
          </a:p>
          <a:p>
            <a:pPr algn="just"/>
            <a:r>
              <a:rPr lang="en-US" dirty="0">
                <a:latin typeface="Montserrat" panose="020B0604020202020204" charset="0"/>
                <a:ea typeface="Times New Roman" panose="02020603050405020304" pitchFamily="18" charset="0"/>
              </a:rPr>
              <a:t>The break statement is used to break any type of loop (while, do-while and for loop) or case in a switch statements</a:t>
            </a:r>
          </a:p>
          <a:p>
            <a:pPr algn="just"/>
            <a:r>
              <a:rPr lang="en-US" dirty="0">
                <a:latin typeface="Montserrat" panose="020B0604020202020204" charset="0"/>
                <a:ea typeface="Times New Roman" panose="02020603050405020304" pitchFamily="18" charset="0"/>
              </a:rPr>
              <a:t>break statement terminates the loop body immediately</a:t>
            </a:r>
          </a:p>
          <a:p>
            <a:pPr algn="just"/>
            <a:r>
              <a:rPr lang="en-US" altLang="en-US" dirty="0">
                <a:latin typeface="Montserrat" panose="020B0604020202020204" charset="0"/>
              </a:rPr>
              <a:t>The break statement causes the control to transfer out of the entire switch statement. </a:t>
            </a:r>
          </a:p>
          <a:p>
            <a:pPr algn="just"/>
            <a:r>
              <a:rPr lang="en-US" dirty="0">
                <a:latin typeface="Montserrat" panose="020B0604020202020204" charset="0"/>
                <a:ea typeface="Times New Roman" panose="02020603050405020304" pitchFamily="18" charset="0"/>
              </a:rPr>
              <a:t>The continue statement is used to break the current iteration of the loop </a:t>
            </a:r>
            <a:r>
              <a:rPr lang="en-US" altLang="en-US" dirty="0">
                <a:latin typeface="Montserrat" panose="020B0604020202020204" charset="0"/>
              </a:rPr>
              <a:t>by skipping the remaining part of the loop</a:t>
            </a:r>
            <a:endParaRPr lang="en-US" dirty="0">
              <a:latin typeface="Montserrat" panose="020B0604020202020204" charset="0"/>
              <a:ea typeface="Times New Roman" panose="02020603050405020304" pitchFamily="18" charset="0"/>
            </a:endParaRPr>
          </a:p>
          <a:p>
            <a:pPr algn="just"/>
            <a:r>
              <a:rPr lang="en-US" dirty="0">
                <a:latin typeface="Montserrat" panose="020B0604020202020204" charset="0"/>
                <a:ea typeface="Times New Roman" panose="02020603050405020304" pitchFamily="18" charset="0"/>
              </a:rPr>
              <a:t>After continue statement, the control returns to the start of the loop for next iteration</a:t>
            </a:r>
          </a:p>
          <a:p>
            <a:pPr algn="just"/>
            <a:r>
              <a:rPr lang="en-US" altLang="en-US" dirty="0">
                <a:latin typeface="Montserrat" panose="020B0604020202020204" charset="0"/>
              </a:rPr>
              <a:t>Both break and continue statements does not have any embedded expression or arguments.</a:t>
            </a:r>
            <a:endParaRPr lang="en-IN" dirty="0">
              <a:latin typeface="Montserrat" panose="020B0604020202020204" charset="0"/>
              <a:ea typeface="Times New Roman" panose="02020603050405020304" pitchFamily="18" charset="0"/>
            </a:endParaRPr>
          </a:p>
          <a:p>
            <a:pPr marL="0" indent="0" algn="just">
              <a:buNone/>
            </a:pPr>
            <a:endParaRPr lang="en-IN" dirty="0">
              <a:latin typeface="Montserrat" panose="020B0604020202020204" charset="0"/>
              <a:ea typeface="Times New Roman" panose="02020603050405020304" pitchFamily="18" charset="0"/>
            </a:endParaRPr>
          </a:p>
          <a:p>
            <a:endParaRPr lang="en-IN" dirty="0"/>
          </a:p>
        </p:txBody>
      </p:sp>
    </p:spTree>
    <p:extLst>
      <p:ext uri="{BB962C8B-B14F-4D97-AF65-F5344CB8AC3E}">
        <p14:creationId xmlns:p14="http://schemas.microsoft.com/office/powerpoint/2010/main" val="327949089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C8FAB9-CFDD-411D-B187-63D02C42CE65}"/>
              </a:ext>
            </a:extLst>
          </p:cNvPr>
          <p:cNvSpPr>
            <a:spLocks noGrp="1"/>
          </p:cNvSpPr>
          <p:nvPr>
            <p:ph type="title"/>
          </p:nvPr>
        </p:nvSpPr>
        <p:spPr/>
        <p:txBody>
          <a:bodyPr/>
          <a:lstStyle/>
          <a:p>
            <a:r>
              <a:rPr lang="en-IN" dirty="0"/>
              <a:t>break - Example</a:t>
            </a:r>
          </a:p>
        </p:txBody>
      </p:sp>
      <p:sp>
        <p:nvSpPr>
          <p:cNvPr id="3" name="Content Placeholder 2">
            <a:extLst>
              <a:ext uri="{FF2B5EF4-FFF2-40B4-BE49-F238E27FC236}">
                <a16:creationId xmlns:a16="http://schemas.microsoft.com/office/drawing/2014/main" xmlns="" id="{136301FB-9E88-4EB6-8FF2-E2802BA52E4C}"/>
              </a:ext>
            </a:extLst>
          </p:cNvPr>
          <p:cNvSpPr>
            <a:spLocks noGrp="1"/>
          </p:cNvSpPr>
          <p:nvPr>
            <p:ph sz="half" idx="1"/>
          </p:nvPr>
        </p:nvSpPr>
        <p:spPr>
          <a:xfrm>
            <a:off x="1530095" y="1825625"/>
            <a:ext cx="5440547" cy="4351338"/>
          </a:xfrm>
        </p:spPr>
        <p:txBody>
          <a:bodyPr>
            <a:normAutofit fontScale="77500" lnSpcReduction="20000"/>
          </a:bodyPr>
          <a:lstStyle/>
          <a:p>
            <a:pPr marL="0" indent="0" algn="just">
              <a:buNone/>
            </a:pPr>
            <a:r>
              <a:rPr lang="en-US" dirty="0">
                <a:latin typeface="Montserrat" panose="020B0604020202020204" charset="0"/>
                <a:ea typeface="Times New Roman" panose="02020603050405020304" pitchFamily="18" charset="0"/>
              </a:rPr>
              <a:t>#include&lt;</a:t>
            </a:r>
            <a:r>
              <a:rPr lang="en-US" dirty="0" err="1">
                <a:latin typeface="Montserrat" panose="020B0604020202020204" charset="0"/>
                <a:ea typeface="Times New Roman" panose="02020603050405020304" pitchFamily="18" charset="0"/>
              </a:rPr>
              <a:t>stdio.h</a:t>
            </a:r>
            <a:r>
              <a:rPr lang="en-US" dirty="0">
                <a:latin typeface="Montserrat" panose="020B0604020202020204" charset="0"/>
                <a:ea typeface="Times New Roman" panose="02020603050405020304" pitchFamily="18" charset="0"/>
              </a:rPr>
              <a:t>&gt;</a:t>
            </a:r>
          </a:p>
          <a:p>
            <a:pPr marL="0" indent="0" algn="just">
              <a:buNone/>
            </a:pPr>
            <a:r>
              <a:rPr lang="en-US" dirty="0">
                <a:latin typeface="Montserrat" panose="020B0604020202020204" charset="0"/>
                <a:ea typeface="Times New Roman" panose="02020603050405020304" pitchFamily="18" charset="0"/>
              </a:rPr>
              <a:t>void main()</a:t>
            </a:r>
          </a:p>
          <a:p>
            <a:pPr marL="0" indent="0" algn="just">
              <a:buNone/>
            </a:pPr>
            <a:r>
              <a:rPr lang="en-US" dirty="0">
                <a:latin typeface="Montserrat" panose="020B0604020202020204" charset="0"/>
                <a:ea typeface="Times New Roman" panose="02020603050405020304" pitchFamily="18" charset="0"/>
              </a:rPr>
              <a:t>{</a:t>
            </a:r>
          </a:p>
          <a:p>
            <a:pPr marL="0" indent="0" algn="just">
              <a:buNone/>
            </a:pPr>
            <a:r>
              <a:rPr lang="en-US" dirty="0">
                <a:latin typeface="Montserrat" panose="020B0604020202020204" charset="0"/>
                <a:ea typeface="Times New Roman" panose="02020603050405020304" pitchFamily="18" charset="0"/>
              </a:rPr>
              <a:t>    int </a:t>
            </a:r>
            <a:r>
              <a:rPr lang="en-US" dirty="0" err="1">
                <a:latin typeface="Montserrat" panose="020B0604020202020204" charset="0"/>
                <a:ea typeface="Times New Roman" panose="02020603050405020304" pitchFamily="18" charset="0"/>
              </a:rPr>
              <a:t>i</a:t>
            </a:r>
            <a:r>
              <a:rPr lang="en-US" dirty="0">
                <a:latin typeface="Montserrat" panose="020B0604020202020204" charset="0"/>
                <a:ea typeface="Times New Roman" panose="02020603050405020304" pitchFamily="18" charset="0"/>
              </a:rPr>
              <a:t>;</a:t>
            </a:r>
          </a:p>
          <a:p>
            <a:pPr marL="0" indent="0" algn="just">
              <a:buNone/>
            </a:pPr>
            <a:r>
              <a:rPr lang="en-US" dirty="0">
                <a:latin typeface="Montserrat" panose="020B0604020202020204" charset="0"/>
                <a:ea typeface="Times New Roman" panose="02020603050405020304" pitchFamily="18" charset="0"/>
              </a:rPr>
              <a:t>    for(</a:t>
            </a:r>
            <a:r>
              <a:rPr lang="en-US" dirty="0" err="1">
                <a:latin typeface="Montserrat" panose="020B0604020202020204" charset="0"/>
                <a:ea typeface="Times New Roman" panose="02020603050405020304" pitchFamily="18" charset="0"/>
              </a:rPr>
              <a:t>i</a:t>
            </a:r>
            <a:r>
              <a:rPr lang="en-US" dirty="0">
                <a:latin typeface="Montserrat" panose="020B0604020202020204" charset="0"/>
                <a:ea typeface="Times New Roman" panose="02020603050405020304" pitchFamily="18" charset="0"/>
              </a:rPr>
              <a:t>=0; </a:t>
            </a:r>
            <a:r>
              <a:rPr lang="en-US" dirty="0" err="1">
                <a:latin typeface="Montserrat" panose="020B0604020202020204" charset="0"/>
                <a:ea typeface="Times New Roman" panose="02020603050405020304" pitchFamily="18" charset="0"/>
              </a:rPr>
              <a:t>i</a:t>
            </a:r>
            <a:r>
              <a:rPr lang="en-US" dirty="0">
                <a:latin typeface="Montserrat" panose="020B0604020202020204" charset="0"/>
                <a:ea typeface="Times New Roman" panose="02020603050405020304" pitchFamily="18" charset="0"/>
              </a:rPr>
              <a:t>&lt;10;i++)</a:t>
            </a:r>
          </a:p>
          <a:p>
            <a:pPr marL="0" indent="0" algn="just">
              <a:buNone/>
            </a:pPr>
            <a:r>
              <a:rPr lang="en-US" dirty="0">
                <a:latin typeface="Montserrat" panose="020B0604020202020204" charset="0"/>
                <a:ea typeface="Times New Roman" panose="02020603050405020304" pitchFamily="18" charset="0"/>
              </a:rPr>
              <a:t>    {</a:t>
            </a:r>
          </a:p>
          <a:p>
            <a:pPr marL="0" indent="0" algn="just">
              <a:buNone/>
            </a:pPr>
            <a:r>
              <a:rPr lang="en-US" dirty="0">
                <a:latin typeface="Montserrat" panose="020B0604020202020204" charset="0"/>
                <a:ea typeface="Times New Roman" panose="02020603050405020304" pitchFamily="18" charset="0"/>
              </a:rPr>
              <a:t>        if(</a:t>
            </a:r>
            <a:r>
              <a:rPr lang="en-US" dirty="0" err="1">
                <a:latin typeface="Montserrat" panose="020B0604020202020204" charset="0"/>
                <a:ea typeface="Times New Roman" panose="02020603050405020304" pitchFamily="18" charset="0"/>
              </a:rPr>
              <a:t>i</a:t>
            </a:r>
            <a:r>
              <a:rPr lang="en-US" dirty="0">
                <a:latin typeface="Montserrat" panose="020B0604020202020204" charset="0"/>
                <a:ea typeface="Times New Roman" panose="02020603050405020304" pitchFamily="18" charset="0"/>
              </a:rPr>
              <a:t>==4)</a:t>
            </a:r>
          </a:p>
          <a:p>
            <a:pPr marL="0" indent="0" algn="just">
              <a:buNone/>
            </a:pPr>
            <a:r>
              <a:rPr lang="en-US" dirty="0">
                <a:latin typeface="Montserrat" panose="020B0604020202020204" charset="0"/>
                <a:ea typeface="Times New Roman" panose="02020603050405020304" pitchFamily="18" charset="0"/>
              </a:rPr>
              <a:t>            break;</a:t>
            </a:r>
          </a:p>
          <a:p>
            <a:pPr marL="0" indent="0" algn="just">
              <a:buNone/>
            </a:pPr>
            <a:r>
              <a:rPr lang="en-US" dirty="0">
                <a:latin typeface="Montserrat" panose="020B0604020202020204" charset="0"/>
                <a:ea typeface="Times New Roman" panose="02020603050405020304" pitchFamily="18" charset="0"/>
              </a:rPr>
              <a:t>        </a:t>
            </a:r>
            <a:r>
              <a:rPr lang="en-US" dirty="0" err="1">
                <a:latin typeface="Montserrat" panose="020B0604020202020204" charset="0"/>
                <a:ea typeface="Times New Roman" panose="02020603050405020304" pitchFamily="18" charset="0"/>
              </a:rPr>
              <a:t>printf</a:t>
            </a:r>
            <a:r>
              <a:rPr lang="en-US" dirty="0">
                <a:latin typeface="Montserrat" panose="020B0604020202020204" charset="0"/>
                <a:ea typeface="Times New Roman" panose="02020603050405020304" pitchFamily="18" charset="0"/>
              </a:rPr>
              <a:t>("%d\n", </a:t>
            </a:r>
            <a:r>
              <a:rPr lang="en-US" dirty="0" err="1">
                <a:latin typeface="Montserrat" panose="020B0604020202020204" charset="0"/>
                <a:ea typeface="Times New Roman" panose="02020603050405020304" pitchFamily="18" charset="0"/>
              </a:rPr>
              <a:t>i</a:t>
            </a:r>
            <a:r>
              <a:rPr lang="en-US" dirty="0">
                <a:latin typeface="Montserrat" panose="020B0604020202020204" charset="0"/>
                <a:ea typeface="Times New Roman" panose="02020603050405020304" pitchFamily="18" charset="0"/>
              </a:rPr>
              <a:t>);</a:t>
            </a:r>
          </a:p>
          <a:p>
            <a:pPr marL="0" indent="0" algn="just">
              <a:buNone/>
            </a:pPr>
            <a:r>
              <a:rPr lang="en-US" dirty="0">
                <a:latin typeface="Montserrat" panose="020B0604020202020204" charset="0"/>
                <a:ea typeface="Times New Roman" panose="02020603050405020304" pitchFamily="18" charset="0"/>
              </a:rPr>
              <a:t>    }</a:t>
            </a:r>
          </a:p>
          <a:p>
            <a:pPr marL="0" indent="0" algn="just">
              <a:buNone/>
            </a:pPr>
            <a:r>
              <a:rPr lang="en-US" dirty="0">
                <a:latin typeface="Montserrat" panose="020B0604020202020204" charset="0"/>
                <a:ea typeface="Times New Roman" panose="02020603050405020304" pitchFamily="18" charset="0"/>
              </a:rPr>
              <a:t>}</a:t>
            </a:r>
          </a:p>
          <a:p>
            <a:pPr marL="0" indent="0" algn="just">
              <a:buNone/>
            </a:pPr>
            <a:r>
              <a:rPr lang="en-IN" dirty="0">
                <a:latin typeface="Montserrat" panose="020B0604020202020204" charset="0"/>
                <a:ea typeface="Times New Roman" panose="02020603050405020304" pitchFamily="18" charset="0"/>
              </a:rPr>
              <a:t>This program comes out of the loop when </a:t>
            </a:r>
            <a:r>
              <a:rPr lang="en-IN" dirty="0" err="1">
                <a:latin typeface="Montserrat" panose="020B0604020202020204" charset="0"/>
                <a:ea typeface="Times New Roman" panose="02020603050405020304" pitchFamily="18" charset="0"/>
              </a:rPr>
              <a:t>i</a:t>
            </a:r>
            <a:r>
              <a:rPr lang="en-IN" dirty="0">
                <a:latin typeface="Montserrat" panose="020B0604020202020204" charset="0"/>
                <a:ea typeface="Times New Roman" panose="02020603050405020304" pitchFamily="18" charset="0"/>
              </a:rPr>
              <a:t> equals 4</a:t>
            </a:r>
          </a:p>
          <a:p>
            <a:pPr marL="0" indent="0">
              <a:buNone/>
            </a:pPr>
            <a:endParaRPr lang="en-IN" dirty="0"/>
          </a:p>
        </p:txBody>
      </p:sp>
      <p:sp>
        <p:nvSpPr>
          <p:cNvPr id="4" name="Content Placeholder 3">
            <a:extLst>
              <a:ext uri="{FF2B5EF4-FFF2-40B4-BE49-F238E27FC236}">
                <a16:creationId xmlns:a16="http://schemas.microsoft.com/office/drawing/2014/main" xmlns="" id="{4C2FEFAA-DF9C-4117-81A4-F75D8FD79050}"/>
              </a:ext>
            </a:extLst>
          </p:cNvPr>
          <p:cNvSpPr>
            <a:spLocks noGrp="1"/>
          </p:cNvSpPr>
          <p:nvPr>
            <p:ph sz="half" idx="2"/>
          </p:nvPr>
        </p:nvSpPr>
        <p:spPr>
          <a:xfrm>
            <a:off x="7513982" y="1825625"/>
            <a:ext cx="3147921" cy="4351338"/>
          </a:xfrm>
        </p:spPr>
        <p:txBody>
          <a:bodyPr>
            <a:normAutofit fontScale="77500" lnSpcReduction="20000"/>
          </a:bodyPr>
          <a:lstStyle/>
          <a:p>
            <a:pPr marL="0" indent="0">
              <a:buNone/>
            </a:pPr>
            <a:r>
              <a:rPr lang="en-IN" b="1" dirty="0"/>
              <a:t>Output:</a:t>
            </a:r>
          </a:p>
          <a:p>
            <a:pPr marL="0" indent="0">
              <a:buNone/>
            </a:pPr>
            <a:r>
              <a:rPr lang="en-IN" dirty="0"/>
              <a:t>0</a:t>
            </a:r>
          </a:p>
          <a:p>
            <a:pPr marL="0" indent="0">
              <a:buNone/>
            </a:pPr>
            <a:r>
              <a:rPr lang="en-IN" dirty="0"/>
              <a:t>1</a:t>
            </a:r>
          </a:p>
          <a:p>
            <a:pPr marL="0" indent="0">
              <a:buNone/>
            </a:pPr>
            <a:r>
              <a:rPr lang="en-IN" dirty="0"/>
              <a:t>2</a:t>
            </a:r>
          </a:p>
          <a:p>
            <a:pPr marL="0" indent="0">
              <a:buNone/>
            </a:pPr>
            <a:r>
              <a:rPr lang="en-IN" dirty="0"/>
              <a:t>3</a:t>
            </a:r>
          </a:p>
        </p:txBody>
      </p:sp>
    </p:spTree>
    <p:extLst>
      <p:ext uri="{BB962C8B-B14F-4D97-AF65-F5344CB8AC3E}">
        <p14:creationId xmlns:p14="http://schemas.microsoft.com/office/powerpoint/2010/main" val="291148870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919C67-78D4-4521-AA22-6CDF9179529F}"/>
              </a:ext>
            </a:extLst>
          </p:cNvPr>
          <p:cNvSpPr>
            <a:spLocks noGrp="1"/>
          </p:cNvSpPr>
          <p:nvPr>
            <p:ph type="title"/>
          </p:nvPr>
        </p:nvSpPr>
        <p:spPr/>
        <p:txBody>
          <a:bodyPr/>
          <a:lstStyle/>
          <a:p>
            <a:r>
              <a:rPr lang="en-IN" dirty="0"/>
              <a:t>continue - Example</a:t>
            </a:r>
          </a:p>
        </p:txBody>
      </p:sp>
      <p:sp>
        <p:nvSpPr>
          <p:cNvPr id="3" name="Content Placeholder 2">
            <a:extLst>
              <a:ext uri="{FF2B5EF4-FFF2-40B4-BE49-F238E27FC236}">
                <a16:creationId xmlns:a16="http://schemas.microsoft.com/office/drawing/2014/main" xmlns="" id="{37E62AE3-96B6-48AE-B960-53E145BFEE2D}"/>
              </a:ext>
            </a:extLst>
          </p:cNvPr>
          <p:cNvSpPr>
            <a:spLocks noGrp="1"/>
          </p:cNvSpPr>
          <p:nvPr>
            <p:ph sz="half" idx="1"/>
          </p:nvPr>
        </p:nvSpPr>
        <p:spPr>
          <a:xfrm>
            <a:off x="951758" y="1286363"/>
            <a:ext cx="4274356" cy="4351338"/>
          </a:xfrm>
        </p:spPr>
        <p:txBody>
          <a:bodyPr>
            <a:noAutofit/>
          </a:bodyPr>
          <a:lstStyle/>
          <a:p>
            <a:pPr marL="0" indent="0">
              <a:buNone/>
            </a:pPr>
            <a:r>
              <a:rPr lang="en-IN" sz="2000" dirty="0"/>
              <a:t>#include&lt;</a:t>
            </a:r>
            <a:r>
              <a:rPr lang="en-IN" sz="2000" dirty="0" err="1"/>
              <a:t>stdio.h</a:t>
            </a:r>
            <a:r>
              <a:rPr lang="en-IN" sz="2000" dirty="0"/>
              <a:t>&gt;</a:t>
            </a:r>
          </a:p>
          <a:p>
            <a:pPr marL="0" indent="0">
              <a:buNone/>
            </a:pPr>
            <a:r>
              <a:rPr lang="en-IN" sz="2000" dirty="0"/>
              <a:t>void main()</a:t>
            </a:r>
          </a:p>
          <a:p>
            <a:pPr marL="0" indent="0">
              <a:buNone/>
            </a:pPr>
            <a:r>
              <a:rPr lang="en-IN" sz="2000" dirty="0"/>
              <a:t>{</a:t>
            </a:r>
          </a:p>
          <a:p>
            <a:pPr marL="0" indent="0">
              <a:buNone/>
            </a:pPr>
            <a:r>
              <a:rPr lang="en-IN" sz="2000" dirty="0"/>
              <a:t>    int </a:t>
            </a:r>
            <a:r>
              <a:rPr lang="en-IN" sz="2000" dirty="0" err="1"/>
              <a:t>i</a:t>
            </a:r>
            <a:r>
              <a:rPr lang="en-IN" sz="2000" dirty="0"/>
              <a:t>=0;</a:t>
            </a:r>
          </a:p>
          <a:p>
            <a:pPr marL="0" indent="0">
              <a:buNone/>
            </a:pPr>
            <a:r>
              <a:rPr lang="en-IN" sz="2000" dirty="0"/>
              <a:t>    while(</a:t>
            </a:r>
            <a:r>
              <a:rPr lang="en-IN" sz="2000" dirty="0" err="1"/>
              <a:t>i</a:t>
            </a:r>
            <a:r>
              <a:rPr lang="en-IN" sz="2000" dirty="0"/>
              <a:t>&lt;10)</a:t>
            </a:r>
          </a:p>
          <a:p>
            <a:pPr marL="0" indent="0">
              <a:buNone/>
            </a:pPr>
            <a:r>
              <a:rPr lang="en-IN" sz="2000" dirty="0"/>
              <a:t>    {</a:t>
            </a:r>
          </a:p>
          <a:p>
            <a:pPr marL="0" indent="0">
              <a:buNone/>
            </a:pPr>
            <a:r>
              <a:rPr lang="en-IN" sz="2000" dirty="0"/>
              <a:t>        if(</a:t>
            </a:r>
            <a:r>
              <a:rPr lang="en-IN" sz="2000" dirty="0" err="1"/>
              <a:t>i</a:t>
            </a:r>
            <a:r>
              <a:rPr lang="en-IN" sz="2000" dirty="0"/>
              <a:t>==4)</a:t>
            </a:r>
          </a:p>
          <a:p>
            <a:pPr marL="0" indent="0">
              <a:buNone/>
            </a:pPr>
            <a:r>
              <a:rPr lang="en-IN" sz="2000" dirty="0"/>
              <a:t>        {</a:t>
            </a:r>
          </a:p>
          <a:p>
            <a:pPr marL="0" indent="0">
              <a:buNone/>
            </a:pPr>
            <a:r>
              <a:rPr lang="en-IN" sz="2000" dirty="0"/>
              <a:t>            </a:t>
            </a:r>
            <a:r>
              <a:rPr lang="en-IN" sz="2000" dirty="0" err="1"/>
              <a:t>i</a:t>
            </a:r>
            <a:r>
              <a:rPr lang="en-IN" sz="2000" dirty="0"/>
              <a:t>++;</a:t>
            </a:r>
          </a:p>
          <a:p>
            <a:pPr marL="0" indent="0">
              <a:buNone/>
            </a:pPr>
            <a:r>
              <a:rPr lang="en-IN" sz="2000" dirty="0"/>
              <a:t>            continue;</a:t>
            </a:r>
          </a:p>
          <a:p>
            <a:pPr marL="0" indent="0">
              <a:buNone/>
            </a:pPr>
            <a:r>
              <a:rPr lang="en-IN" sz="2000" dirty="0"/>
              <a:t>        }</a:t>
            </a:r>
          </a:p>
          <a:p>
            <a:pPr marL="0" indent="0">
              <a:buNone/>
            </a:pPr>
            <a:r>
              <a:rPr lang="en-IN" sz="2000" dirty="0"/>
              <a:t>        </a:t>
            </a:r>
            <a:r>
              <a:rPr lang="en-IN" sz="2000" dirty="0" err="1"/>
              <a:t>printf</a:t>
            </a:r>
            <a:r>
              <a:rPr lang="en-IN" sz="2000" dirty="0"/>
              <a:t>("%d\n",</a:t>
            </a:r>
            <a:r>
              <a:rPr lang="en-IN" sz="2000" dirty="0" err="1"/>
              <a:t>i</a:t>
            </a:r>
            <a:r>
              <a:rPr lang="en-IN" sz="2000" dirty="0"/>
              <a:t>);</a:t>
            </a:r>
          </a:p>
          <a:p>
            <a:pPr marL="0" indent="0">
              <a:buNone/>
            </a:pPr>
            <a:r>
              <a:rPr lang="en-IN" sz="2000" dirty="0"/>
              <a:t>        </a:t>
            </a:r>
            <a:r>
              <a:rPr lang="en-IN" sz="2000" dirty="0" err="1"/>
              <a:t>i</a:t>
            </a:r>
            <a:r>
              <a:rPr lang="en-IN" sz="2000" dirty="0"/>
              <a:t>=i+1;</a:t>
            </a:r>
          </a:p>
          <a:p>
            <a:pPr marL="0" indent="0">
              <a:buNone/>
            </a:pPr>
            <a:r>
              <a:rPr lang="en-IN" sz="2000" dirty="0"/>
              <a:t>    }</a:t>
            </a:r>
          </a:p>
          <a:p>
            <a:pPr marL="0" indent="0">
              <a:buNone/>
            </a:pPr>
            <a:r>
              <a:rPr lang="en-IN" sz="2000" dirty="0"/>
              <a:t>}</a:t>
            </a:r>
          </a:p>
        </p:txBody>
      </p:sp>
      <p:sp>
        <p:nvSpPr>
          <p:cNvPr id="4" name="Content Placeholder 3">
            <a:extLst>
              <a:ext uri="{FF2B5EF4-FFF2-40B4-BE49-F238E27FC236}">
                <a16:creationId xmlns:a16="http://schemas.microsoft.com/office/drawing/2014/main" xmlns="" id="{F4E86551-86C3-42F8-A5C3-7B2C7107BE40}"/>
              </a:ext>
            </a:extLst>
          </p:cNvPr>
          <p:cNvSpPr>
            <a:spLocks noGrp="1"/>
          </p:cNvSpPr>
          <p:nvPr>
            <p:ph sz="half" idx="2"/>
          </p:nvPr>
        </p:nvSpPr>
        <p:spPr/>
        <p:txBody>
          <a:bodyPr>
            <a:normAutofit fontScale="62500" lnSpcReduction="20000"/>
          </a:bodyPr>
          <a:lstStyle/>
          <a:p>
            <a:pPr marL="0" indent="0">
              <a:buNone/>
            </a:pPr>
            <a:r>
              <a:rPr lang="en-IN" b="1" dirty="0"/>
              <a:t>Output:</a:t>
            </a:r>
          </a:p>
          <a:p>
            <a:pPr marL="0" indent="0">
              <a:buNone/>
            </a:pPr>
            <a:r>
              <a:rPr lang="en-IN" dirty="0"/>
              <a:t>0</a:t>
            </a:r>
          </a:p>
          <a:p>
            <a:pPr marL="0" indent="0">
              <a:buNone/>
            </a:pPr>
            <a:r>
              <a:rPr lang="en-IN" dirty="0"/>
              <a:t>1</a:t>
            </a:r>
          </a:p>
          <a:p>
            <a:pPr marL="0" indent="0">
              <a:buNone/>
            </a:pPr>
            <a:r>
              <a:rPr lang="en-IN" dirty="0"/>
              <a:t>2</a:t>
            </a:r>
          </a:p>
          <a:p>
            <a:pPr marL="0" indent="0">
              <a:buNone/>
            </a:pPr>
            <a:r>
              <a:rPr lang="en-IN" dirty="0"/>
              <a:t>3</a:t>
            </a:r>
          </a:p>
          <a:p>
            <a:pPr marL="0" indent="0">
              <a:buNone/>
            </a:pPr>
            <a:r>
              <a:rPr lang="en-IN" dirty="0"/>
              <a:t>5</a:t>
            </a:r>
          </a:p>
          <a:p>
            <a:pPr marL="0" indent="0">
              <a:buNone/>
            </a:pPr>
            <a:r>
              <a:rPr lang="en-IN" dirty="0"/>
              <a:t>6</a:t>
            </a:r>
          </a:p>
          <a:p>
            <a:pPr marL="0" indent="0">
              <a:buNone/>
            </a:pPr>
            <a:r>
              <a:rPr lang="en-IN" dirty="0"/>
              <a:t>7</a:t>
            </a:r>
          </a:p>
          <a:p>
            <a:pPr marL="0" indent="0">
              <a:buNone/>
            </a:pPr>
            <a:r>
              <a:rPr lang="en-IN" dirty="0"/>
              <a:t>8</a:t>
            </a:r>
          </a:p>
          <a:p>
            <a:pPr marL="0" indent="0">
              <a:buNone/>
            </a:pPr>
            <a:r>
              <a:rPr lang="en-IN" dirty="0"/>
              <a:t>9</a:t>
            </a:r>
          </a:p>
        </p:txBody>
      </p:sp>
    </p:spTree>
    <p:extLst>
      <p:ext uri="{BB962C8B-B14F-4D97-AF65-F5344CB8AC3E}">
        <p14:creationId xmlns:p14="http://schemas.microsoft.com/office/powerpoint/2010/main" val="416923013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ADD6F2A-50E2-428C-8309-E60BCC7BF3AC}"/>
              </a:ext>
            </a:extLst>
          </p:cNvPr>
          <p:cNvSpPr>
            <a:spLocks noGrp="1"/>
          </p:cNvSpPr>
          <p:nvPr>
            <p:ph type="title"/>
          </p:nvPr>
        </p:nvSpPr>
        <p:spPr>
          <a:xfrm>
            <a:off x="838199" y="365125"/>
            <a:ext cx="9326217" cy="1325563"/>
          </a:xfrm>
        </p:spPr>
        <p:txBody>
          <a:bodyPr/>
          <a:lstStyle/>
          <a:p>
            <a:r>
              <a:rPr lang="en-IN" dirty="0"/>
              <a:t>break and continue - Difference</a:t>
            </a:r>
          </a:p>
        </p:txBody>
      </p:sp>
      <p:sp>
        <p:nvSpPr>
          <p:cNvPr id="5" name="Content Placeholder 4">
            <a:extLst>
              <a:ext uri="{FF2B5EF4-FFF2-40B4-BE49-F238E27FC236}">
                <a16:creationId xmlns:a16="http://schemas.microsoft.com/office/drawing/2014/main" xmlns="" id="{AEBC25DE-35EE-4827-A67C-5417EEFDBDC3}"/>
              </a:ext>
            </a:extLst>
          </p:cNvPr>
          <p:cNvSpPr>
            <a:spLocks noGrp="1"/>
          </p:cNvSpPr>
          <p:nvPr>
            <p:ph idx="1"/>
          </p:nvPr>
        </p:nvSpPr>
        <p:spPr/>
        <p:txBody>
          <a:bodyPr/>
          <a:lstStyle/>
          <a:p>
            <a:endParaRPr lang="en-IN"/>
          </a:p>
        </p:txBody>
      </p:sp>
      <p:graphicFrame>
        <p:nvGraphicFramePr>
          <p:cNvPr id="6" name="Content Placeholder 5">
            <a:extLst>
              <a:ext uri="{FF2B5EF4-FFF2-40B4-BE49-F238E27FC236}">
                <a16:creationId xmlns:a16="http://schemas.microsoft.com/office/drawing/2014/main" xmlns="" id="{D84DF578-B1BA-4C27-8FF4-8254DEF31ADB}"/>
              </a:ext>
            </a:extLst>
          </p:cNvPr>
          <p:cNvGraphicFramePr>
            <a:graphicFrameLocks/>
          </p:cNvGraphicFramePr>
          <p:nvPr/>
        </p:nvGraphicFramePr>
        <p:xfrm>
          <a:off x="1551432" y="2067475"/>
          <a:ext cx="9514133" cy="2894629"/>
        </p:xfrm>
        <a:graphic>
          <a:graphicData uri="http://schemas.openxmlformats.org/drawingml/2006/table">
            <a:tbl>
              <a:tblPr firstRow="1" bandRow="1">
                <a:tableStyleId>{5C22544A-7EE6-4342-B048-85BDC9FD1C3A}</a:tableStyleId>
              </a:tblPr>
              <a:tblGrid>
                <a:gridCol w="4838510">
                  <a:extLst>
                    <a:ext uri="{9D8B030D-6E8A-4147-A177-3AD203B41FA5}">
                      <a16:colId xmlns:a16="http://schemas.microsoft.com/office/drawing/2014/main" xmlns="" val="20000"/>
                    </a:ext>
                  </a:extLst>
                </a:gridCol>
                <a:gridCol w="4675623">
                  <a:extLst>
                    <a:ext uri="{9D8B030D-6E8A-4147-A177-3AD203B41FA5}">
                      <a16:colId xmlns:a16="http://schemas.microsoft.com/office/drawing/2014/main" xmlns="" val="20001"/>
                    </a:ext>
                  </a:extLst>
                </a:gridCol>
              </a:tblGrid>
              <a:tr h="891479">
                <a:tc>
                  <a:txBody>
                    <a:bodyPr/>
                    <a:lstStyle/>
                    <a:p>
                      <a:pPr algn="ctr"/>
                      <a:r>
                        <a:rPr lang="en-IN" sz="2400" dirty="0"/>
                        <a:t>break</a:t>
                      </a:r>
                    </a:p>
                  </a:txBody>
                  <a:tcPr anchor="ctr"/>
                </a:tc>
                <a:tc>
                  <a:txBody>
                    <a:bodyPr/>
                    <a:lstStyle/>
                    <a:p>
                      <a:pPr algn="ctr"/>
                      <a:r>
                        <a:rPr lang="en-IN" sz="2400" dirty="0"/>
                        <a:t>continue</a:t>
                      </a:r>
                    </a:p>
                  </a:txBody>
                  <a:tcPr anchor="ctr"/>
                </a:tc>
                <a:extLst>
                  <a:ext uri="{0D108BD9-81ED-4DB2-BD59-A6C34878D82A}">
                    <a16:rowId xmlns:a16="http://schemas.microsoft.com/office/drawing/2014/main" xmlns="" val="10000"/>
                  </a:ext>
                </a:extLst>
              </a:tr>
              <a:tr h="492844">
                <a:tc>
                  <a:txBody>
                    <a:bodyPr/>
                    <a:lstStyle/>
                    <a:p>
                      <a:pPr algn="l"/>
                      <a:r>
                        <a:rPr lang="en-IN" dirty="0"/>
                        <a:t>It is used in loop and switch case</a:t>
                      </a:r>
                    </a:p>
                  </a:txBody>
                  <a:tcPr anchor="ctr"/>
                </a:tc>
                <a:tc>
                  <a:txBody>
                    <a:bodyPr/>
                    <a:lstStyle/>
                    <a:p>
                      <a:pPr algn="l"/>
                      <a:r>
                        <a:rPr lang="en-IN" dirty="0"/>
                        <a:t>It is used in loops and not in switch case</a:t>
                      </a:r>
                    </a:p>
                  </a:txBody>
                  <a:tcPr anchor="ctr"/>
                </a:tc>
                <a:extLst>
                  <a:ext uri="{0D108BD9-81ED-4DB2-BD59-A6C34878D82A}">
                    <a16:rowId xmlns:a16="http://schemas.microsoft.com/office/drawing/2014/main" xmlns="" val="10002"/>
                  </a:ext>
                </a:extLst>
              </a:tr>
              <a:tr h="554776">
                <a:tc>
                  <a:txBody>
                    <a:bodyPr/>
                    <a:lstStyle/>
                    <a:p>
                      <a:pPr algn="l"/>
                      <a:r>
                        <a:rPr lang="en-IN" dirty="0"/>
                        <a:t>It is used to terminate from the loop</a:t>
                      </a:r>
                    </a:p>
                  </a:txBody>
                  <a:tcPr anchor="ctr"/>
                </a:tc>
                <a:tc>
                  <a:txBody>
                    <a:bodyPr/>
                    <a:lstStyle/>
                    <a:p>
                      <a:pPr algn="l"/>
                      <a:r>
                        <a:rPr lang="en-IN" dirty="0"/>
                        <a:t>It is used to continue to the next iteration in the loop</a:t>
                      </a:r>
                    </a:p>
                  </a:txBody>
                  <a:tcPr anchor="ctr"/>
                </a:tc>
                <a:extLst>
                  <a:ext uri="{0D108BD9-81ED-4DB2-BD59-A6C34878D82A}">
                    <a16:rowId xmlns:a16="http://schemas.microsoft.com/office/drawing/2014/main" xmlns="" val="10003"/>
                  </a:ext>
                </a:extLst>
              </a:tr>
              <a:tr h="870226">
                <a:tc>
                  <a:txBody>
                    <a:bodyPr/>
                    <a:lstStyle/>
                    <a:p>
                      <a:pPr algn="l"/>
                      <a:r>
                        <a:rPr lang="en-IN" dirty="0"/>
                        <a:t>Control is transferred outside the loop</a:t>
                      </a:r>
                    </a:p>
                  </a:txBody>
                  <a:tcPr anchor="ctr"/>
                </a:tc>
                <a:tc>
                  <a:txBody>
                    <a:bodyPr/>
                    <a:lstStyle/>
                    <a:p>
                      <a:pPr algn="l"/>
                      <a:r>
                        <a:rPr lang="en-IN" dirty="0"/>
                        <a:t>Control remains in the same loop</a:t>
                      </a:r>
                    </a:p>
                  </a:txBody>
                  <a:tcPr anchor="ct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398576194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DA380B-C49E-484E-9241-D6278CDE4565}"/>
              </a:ext>
            </a:extLst>
          </p:cNvPr>
          <p:cNvSpPr>
            <a:spLocks noGrp="1"/>
          </p:cNvSpPr>
          <p:nvPr>
            <p:ph type="title"/>
          </p:nvPr>
        </p:nvSpPr>
        <p:spPr/>
        <p:txBody>
          <a:bodyPr/>
          <a:lstStyle/>
          <a:p>
            <a:pPr algn="ctr"/>
            <a:r>
              <a:rPr lang="en-IN" dirty="0" err="1"/>
              <a:t>goto</a:t>
            </a:r>
            <a:r>
              <a:rPr lang="en-IN" dirty="0"/>
              <a:t> statement</a:t>
            </a:r>
          </a:p>
        </p:txBody>
      </p:sp>
      <p:sp>
        <p:nvSpPr>
          <p:cNvPr id="3" name="Content Placeholder 2">
            <a:extLst>
              <a:ext uri="{FF2B5EF4-FFF2-40B4-BE49-F238E27FC236}">
                <a16:creationId xmlns:a16="http://schemas.microsoft.com/office/drawing/2014/main" xmlns="" id="{01F03879-D782-414F-871E-9EB81DE4AB80}"/>
              </a:ext>
            </a:extLst>
          </p:cNvPr>
          <p:cNvSpPr>
            <a:spLocks noGrp="1"/>
          </p:cNvSpPr>
          <p:nvPr>
            <p:ph idx="1"/>
          </p:nvPr>
        </p:nvSpPr>
        <p:spPr>
          <a:xfrm>
            <a:off x="1551431" y="1825625"/>
            <a:ext cx="10307633" cy="4351338"/>
          </a:xfrm>
        </p:spPr>
        <p:txBody>
          <a:bodyPr>
            <a:normAutofit/>
          </a:bodyPr>
          <a:lstStyle/>
          <a:p>
            <a:pPr algn="just"/>
            <a:r>
              <a:rPr lang="en-US" dirty="0">
                <a:latin typeface="Montserrat" panose="020B0604020202020204" charset="0"/>
                <a:ea typeface="Times New Roman" panose="02020603050405020304" pitchFamily="18" charset="0"/>
              </a:rPr>
              <a:t>The </a:t>
            </a:r>
            <a:r>
              <a:rPr lang="en-US" dirty="0" err="1">
                <a:latin typeface="Montserrat" panose="020B0604020202020204" charset="0"/>
                <a:ea typeface="Times New Roman" panose="02020603050405020304" pitchFamily="18" charset="0"/>
              </a:rPr>
              <a:t>goto</a:t>
            </a:r>
            <a:r>
              <a:rPr lang="en-US" dirty="0">
                <a:latin typeface="Montserrat" panose="020B0604020202020204" charset="0"/>
                <a:ea typeface="Times New Roman" panose="02020603050405020304" pitchFamily="18" charset="0"/>
              </a:rPr>
              <a:t> statement is used to transfer the program control unconditionally from one statement to another statement</a:t>
            </a:r>
          </a:p>
          <a:p>
            <a:r>
              <a:rPr lang="en-IN" dirty="0"/>
              <a:t>A statement label is used which is followed by colon ( </a:t>
            </a:r>
            <a:r>
              <a:rPr lang="en-IN" dirty="0">
                <a:sym typeface="Wingdings" panose="05000000000000000000" pitchFamily="2" charset="2"/>
              </a:rPr>
              <a:t>: )</a:t>
            </a:r>
          </a:p>
          <a:p>
            <a:pPr>
              <a:spcBef>
                <a:spcPct val="50000"/>
              </a:spcBef>
              <a:buFontTx/>
              <a:buChar char="•"/>
            </a:pPr>
            <a:r>
              <a:rPr lang="en-US" altLang="en-US" b="1" dirty="0">
                <a:latin typeface="Montserrat" panose="020B0604020202020204" charset="0"/>
              </a:rPr>
              <a:t>Types</a:t>
            </a:r>
          </a:p>
          <a:p>
            <a:pPr lvl="1">
              <a:spcBef>
                <a:spcPct val="50000"/>
              </a:spcBef>
              <a:buFontTx/>
              <a:buChar char="•"/>
            </a:pPr>
            <a:r>
              <a:rPr lang="en-US" altLang="en-US" sz="2800" dirty="0">
                <a:latin typeface="Montserrat" panose="020B0604020202020204" charset="0"/>
              </a:rPr>
              <a:t>Unconditional </a:t>
            </a:r>
            <a:r>
              <a:rPr lang="en-US" altLang="en-US" sz="2800" dirty="0" err="1">
                <a:latin typeface="Montserrat" panose="020B0604020202020204" charset="0"/>
              </a:rPr>
              <a:t>goto</a:t>
            </a:r>
            <a:endParaRPr lang="en-US" altLang="en-US" sz="2800" dirty="0">
              <a:latin typeface="Montserrat" panose="020B0604020202020204" charset="0"/>
            </a:endParaRPr>
          </a:p>
          <a:p>
            <a:pPr lvl="1">
              <a:spcBef>
                <a:spcPct val="50000"/>
              </a:spcBef>
              <a:buFontTx/>
              <a:buChar char="•"/>
            </a:pPr>
            <a:r>
              <a:rPr lang="en-US" altLang="en-US" sz="2800" dirty="0">
                <a:latin typeface="Montserrat" panose="020B0604020202020204" charset="0"/>
              </a:rPr>
              <a:t>Conditional </a:t>
            </a:r>
            <a:r>
              <a:rPr lang="en-US" altLang="en-US" sz="2800" dirty="0" err="1">
                <a:latin typeface="Montserrat" panose="020B0604020202020204" charset="0"/>
              </a:rPr>
              <a:t>goto</a:t>
            </a:r>
            <a:r>
              <a:rPr lang="en-IN" sz="2800" dirty="0">
                <a:latin typeface="Montserrat" panose="020B0604020202020204" charset="0"/>
                <a:sym typeface="Wingdings" panose="05000000000000000000" pitchFamily="2" charset="2"/>
              </a:rPr>
              <a:t> </a:t>
            </a:r>
            <a:endParaRPr lang="en-IN" sz="2800" dirty="0">
              <a:latin typeface="Montserrat" panose="020B0604020202020204" charset="0"/>
            </a:endParaRPr>
          </a:p>
          <a:p>
            <a:pPr marL="457200" lvl="1" indent="0">
              <a:buNone/>
            </a:pPr>
            <a:endParaRPr lang="en-IN" dirty="0"/>
          </a:p>
        </p:txBody>
      </p:sp>
      <p:sp>
        <p:nvSpPr>
          <p:cNvPr id="4" name="Rectangle: Rounded Corners 3">
            <a:extLst>
              <a:ext uri="{FF2B5EF4-FFF2-40B4-BE49-F238E27FC236}">
                <a16:creationId xmlns:a16="http://schemas.microsoft.com/office/drawing/2014/main" xmlns="" id="{ACCE6A60-ACBC-4AD1-825D-DEE44CD02572}"/>
              </a:ext>
            </a:extLst>
          </p:cNvPr>
          <p:cNvSpPr/>
          <p:nvPr/>
        </p:nvSpPr>
        <p:spPr>
          <a:xfrm>
            <a:off x="6399873" y="3723861"/>
            <a:ext cx="4240696" cy="226612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t>Syntax:</a:t>
            </a:r>
          </a:p>
          <a:p>
            <a:pPr lvl="1"/>
            <a:r>
              <a:rPr lang="en-IN" dirty="0" err="1"/>
              <a:t>goto</a:t>
            </a:r>
            <a:r>
              <a:rPr lang="en-IN" dirty="0"/>
              <a:t> &lt;&lt;</a:t>
            </a:r>
            <a:r>
              <a:rPr lang="en-IN" dirty="0" err="1"/>
              <a:t>label_name</a:t>
            </a:r>
            <a:r>
              <a:rPr lang="en-IN" dirty="0"/>
              <a:t>&gt;&gt;;</a:t>
            </a:r>
          </a:p>
          <a:p>
            <a:pPr lvl="1"/>
            <a:r>
              <a:rPr lang="en-IN" dirty="0"/>
              <a:t>…..</a:t>
            </a:r>
          </a:p>
          <a:p>
            <a:pPr lvl="1"/>
            <a:r>
              <a:rPr lang="en-IN" dirty="0"/>
              <a:t>…..</a:t>
            </a:r>
          </a:p>
          <a:p>
            <a:pPr lvl="1"/>
            <a:r>
              <a:rPr lang="en-IN" dirty="0"/>
              <a:t>label:</a:t>
            </a:r>
          </a:p>
          <a:p>
            <a:pPr lvl="1"/>
            <a:r>
              <a:rPr lang="en-IN" dirty="0"/>
              <a:t>	statement(s);</a:t>
            </a:r>
          </a:p>
          <a:p>
            <a:pPr algn="ctr"/>
            <a:endParaRPr lang="en-IN" dirty="0"/>
          </a:p>
        </p:txBody>
      </p:sp>
    </p:spTree>
    <p:extLst>
      <p:ext uri="{BB962C8B-B14F-4D97-AF65-F5344CB8AC3E}">
        <p14:creationId xmlns:p14="http://schemas.microsoft.com/office/powerpoint/2010/main" val="79936702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7DC7AF47-8A2F-47AA-BBC6-784FFF1A1871}"/>
              </a:ext>
            </a:extLst>
          </p:cNvPr>
          <p:cNvSpPr>
            <a:spLocks noGrp="1"/>
          </p:cNvSpPr>
          <p:nvPr>
            <p:ph type="title"/>
          </p:nvPr>
        </p:nvSpPr>
        <p:spPr/>
        <p:txBody>
          <a:bodyPr/>
          <a:lstStyle/>
          <a:p>
            <a:pPr algn="ctr"/>
            <a:r>
              <a:rPr lang="en-IN" dirty="0" err="1"/>
              <a:t>goto</a:t>
            </a:r>
            <a:r>
              <a:rPr lang="en-IN" dirty="0"/>
              <a:t> statement - Example</a:t>
            </a:r>
          </a:p>
        </p:txBody>
      </p:sp>
      <p:sp>
        <p:nvSpPr>
          <p:cNvPr id="2" name="Text Placeholder 1">
            <a:extLst>
              <a:ext uri="{FF2B5EF4-FFF2-40B4-BE49-F238E27FC236}">
                <a16:creationId xmlns:a16="http://schemas.microsoft.com/office/drawing/2014/main" xmlns="" id="{E607601C-8CA3-4FFF-830B-B1670B65BB48}"/>
              </a:ext>
            </a:extLst>
          </p:cNvPr>
          <p:cNvSpPr>
            <a:spLocks noGrp="1"/>
          </p:cNvSpPr>
          <p:nvPr>
            <p:ph type="body" idx="1"/>
          </p:nvPr>
        </p:nvSpPr>
        <p:spPr>
          <a:xfrm>
            <a:off x="839788" y="1272209"/>
            <a:ext cx="5157787" cy="609600"/>
          </a:xfrm>
        </p:spPr>
        <p:txBody>
          <a:bodyPr>
            <a:normAutofit/>
          </a:bodyPr>
          <a:lstStyle/>
          <a:p>
            <a:pPr algn="ctr"/>
            <a:r>
              <a:rPr lang="en-IN" dirty="0"/>
              <a:t>conditional </a:t>
            </a:r>
            <a:r>
              <a:rPr lang="en-IN" dirty="0" err="1"/>
              <a:t>goto</a:t>
            </a:r>
            <a:endParaRPr lang="en-IN" dirty="0"/>
          </a:p>
        </p:txBody>
      </p:sp>
      <p:sp>
        <p:nvSpPr>
          <p:cNvPr id="3" name="Content Placeholder 2">
            <a:extLst>
              <a:ext uri="{FF2B5EF4-FFF2-40B4-BE49-F238E27FC236}">
                <a16:creationId xmlns:a16="http://schemas.microsoft.com/office/drawing/2014/main" xmlns="" id="{C2591794-13FA-4DA3-AC63-9D4B7ACF7057}"/>
              </a:ext>
            </a:extLst>
          </p:cNvPr>
          <p:cNvSpPr>
            <a:spLocks noGrp="1"/>
          </p:cNvSpPr>
          <p:nvPr>
            <p:ph sz="half" idx="2"/>
          </p:nvPr>
        </p:nvSpPr>
        <p:spPr>
          <a:xfrm>
            <a:off x="630204" y="1881809"/>
            <a:ext cx="5981611" cy="4307854"/>
          </a:xfrm>
        </p:spPr>
        <p:txBody>
          <a:bodyPr>
            <a:normAutofit fontScale="77500" lnSpcReduction="20000"/>
          </a:bodyPr>
          <a:lstStyle/>
          <a:p>
            <a:r>
              <a:rPr lang="en-US" altLang="en-US" dirty="0">
                <a:latin typeface="Times New Roman" panose="02020603050405020304" pitchFamily="18" charset="0"/>
              </a:rPr>
              <a:t>The control transfers from one block to another block with checking the test condition. </a:t>
            </a:r>
          </a:p>
          <a:p>
            <a:pPr marL="0" indent="0">
              <a:buNone/>
            </a:pPr>
            <a:r>
              <a:rPr lang="en-US" dirty="0">
                <a:latin typeface="Montserrat" panose="020B0604020202020204" charset="0"/>
                <a:ea typeface="Times New Roman" panose="02020603050405020304" pitchFamily="18" charset="0"/>
              </a:rPr>
              <a:t>#include&lt;</a:t>
            </a:r>
            <a:r>
              <a:rPr lang="en-US" dirty="0" err="1">
                <a:latin typeface="Montserrat" panose="020B0604020202020204" charset="0"/>
                <a:ea typeface="Times New Roman" panose="02020603050405020304" pitchFamily="18" charset="0"/>
              </a:rPr>
              <a:t>stdio.h</a:t>
            </a:r>
            <a:r>
              <a:rPr lang="en-US" dirty="0">
                <a:latin typeface="Montserrat" panose="020B0604020202020204" charset="0"/>
                <a:ea typeface="Times New Roman" panose="02020603050405020304" pitchFamily="18" charset="0"/>
              </a:rPr>
              <a:t>&gt;</a:t>
            </a:r>
          </a:p>
          <a:p>
            <a:pPr marL="0" indent="0">
              <a:buNone/>
            </a:pPr>
            <a:r>
              <a:rPr lang="en-US" dirty="0">
                <a:latin typeface="Montserrat" panose="020B0604020202020204" charset="0"/>
                <a:ea typeface="Times New Roman" panose="02020603050405020304" pitchFamily="18" charset="0"/>
              </a:rPr>
              <a:t>void main()</a:t>
            </a:r>
          </a:p>
          <a:p>
            <a:pPr marL="0" indent="0">
              <a:buNone/>
            </a:pPr>
            <a:r>
              <a:rPr lang="en-US" dirty="0">
                <a:latin typeface="Montserrat" panose="020B0604020202020204" charset="0"/>
                <a:ea typeface="Times New Roman" panose="02020603050405020304" pitchFamily="18" charset="0"/>
              </a:rPr>
              <a:t>{</a:t>
            </a:r>
          </a:p>
          <a:p>
            <a:pPr marL="0" indent="0">
              <a:buNone/>
            </a:pPr>
            <a:r>
              <a:rPr lang="en-US" dirty="0">
                <a:latin typeface="Montserrat" panose="020B0604020202020204" charset="0"/>
                <a:ea typeface="Times New Roman" panose="02020603050405020304" pitchFamily="18" charset="0"/>
              </a:rPr>
              <a:t>     int n, sum = 0, </a:t>
            </a:r>
            <a:r>
              <a:rPr lang="en-US" dirty="0" err="1">
                <a:latin typeface="Montserrat" panose="020B0604020202020204" charset="0"/>
                <a:ea typeface="Times New Roman" panose="02020603050405020304" pitchFamily="18" charset="0"/>
              </a:rPr>
              <a:t>i</a:t>
            </a:r>
            <a:r>
              <a:rPr lang="en-US" dirty="0">
                <a:latin typeface="Montserrat" panose="020B0604020202020204" charset="0"/>
                <a:ea typeface="Times New Roman" panose="02020603050405020304" pitchFamily="18" charset="0"/>
              </a:rPr>
              <a:t> = 0;</a:t>
            </a:r>
          </a:p>
          <a:p>
            <a:pPr marL="0" indent="0">
              <a:buNone/>
            </a:pPr>
            <a:r>
              <a:rPr lang="en-US" dirty="0">
                <a:latin typeface="Montserrat" panose="020B0604020202020204" charset="0"/>
                <a:ea typeface="Times New Roman" panose="02020603050405020304" pitchFamily="18" charset="0"/>
              </a:rPr>
              <a:t>     </a:t>
            </a:r>
            <a:r>
              <a:rPr lang="en-US" dirty="0" err="1">
                <a:latin typeface="Montserrat" panose="020B0604020202020204" charset="0"/>
                <a:ea typeface="Times New Roman" panose="02020603050405020304" pitchFamily="18" charset="0"/>
              </a:rPr>
              <a:t>printf</a:t>
            </a:r>
            <a:r>
              <a:rPr lang="en-US" dirty="0">
                <a:latin typeface="Montserrat" panose="020B0604020202020204" charset="0"/>
                <a:ea typeface="Times New Roman" panose="02020603050405020304" pitchFamily="18" charset="0"/>
              </a:rPr>
              <a:t> ("Enter a number:");</a:t>
            </a:r>
          </a:p>
          <a:p>
            <a:pPr marL="0" indent="0">
              <a:buNone/>
            </a:pPr>
            <a:r>
              <a:rPr lang="en-US" dirty="0">
                <a:latin typeface="Montserrat" panose="020B0604020202020204" charset="0"/>
                <a:ea typeface="Times New Roman" panose="02020603050405020304" pitchFamily="18" charset="0"/>
              </a:rPr>
              <a:t>     </a:t>
            </a:r>
            <a:r>
              <a:rPr lang="en-US" dirty="0" err="1">
                <a:latin typeface="Montserrat" panose="020B0604020202020204" charset="0"/>
                <a:ea typeface="Times New Roman" panose="02020603050405020304" pitchFamily="18" charset="0"/>
              </a:rPr>
              <a:t>scanf</a:t>
            </a:r>
            <a:r>
              <a:rPr lang="en-US" dirty="0">
                <a:latin typeface="Montserrat" panose="020B0604020202020204" charset="0"/>
                <a:ea typeface="Times New Roman" panose="02020603050405020304" pitchFamily="18" charset="0"/>
              </a:rPr>
              <a:t> ("%d", &amp;n);</a:t>
            </a:r>
          </a:p>
          <a:p>
            <a:pPr marL="0" indent="0">
              <a:buNone/>
            </a:pPr>
            <a:r>
              <a:rPr lang="en-US" dirty="0">
                <a:latin typeface="Montserrat" panose="020B0604020202020204" charset="0"/>
                <a:ea typeface="Times New Roman" panose="02020603050405020304" pitchFamily="18" charset="0"/>
              </a:rPr>
              <a:t>     loop:</a:t>
            </a:r>
          </a:p>
          <a:p>
            <a:pPr marL="0" indent="0">
              <a:buNone/>
            </a:pPr>
            <a:r>
              <a:rPr lang="en-US" dirty="0">
                <a:latin typeface="Montserrat" panose="020B0604020202020204" charset="0"/>
                <a:ea typeface="Times New Roman" panose="02020603050405020304" pitchFamily="18" charset="0"/>
              </a:rPr>
              <a:t>     </a:t>
            </a:r>
            <a:r>
              <a:rPr lang="en-US" dirty="0" err="1">
                <a:latin typeface="Montserrat" panose="020B0604020202020204" charset="0"/>
                <a:ea typeface="Times New Roman" panose="02020603050405020304" pitchFamily="18" charset="0"/>
              </a:rPr>
              <a:t>i</a:t>
            </a:r>
            <a:r>
              <a:rPr lang="en-US" dirty="0">
                <a:latin typeface="Montserrat" panose="020B0604020202020204" charset="0"/>
                <a:ea typeface="Times New Roman" panose="02020603050405020304" pitchFamily="18" charset="0"/>
              </a:rPr>
              <a:t>++;</a:t>
            </a:r>
          </a:p>
          <a:p>
            <a:pPr marL="0" indent="0">
              <a:buNone/>
            </a:pPr>
            <a:r>
              <a:rPr lang="en-US" dirty="0">
                <a:latin typeface="Montserrat" panose="020B0604020202020204" charset="0"/>
                <a:ea typeface="Times New Roman" panose="02020603050405020304" pitchFamily="18" charset="0"/>
              </a:rPr>
              <a:t>     sum += </a:t>
            </a:r>
            <a:r>
              <a:rPr lang="en-US" dirty="0" err="1">
                <a:latin typeface="Montserrat" panose="020B0604020202020204" charset="0"/>
                <a:ea typeface="Times New Roman" panose="02020603050405020304" pitchFamily="18" charset="0"/>
              </a:rPr>
              <a:t>i</a:t>
            </a:r>
            <a:r>
              <a:rPr lang="en-US" dirty="0">
                <a:latin typeface="Montserrat" panose="020B0604020202020204" charset="0"/>
                <a:ea typeface="Times New Roman" panose="02020603050405020304" pitchFamily="18" charset="0"/>
              </a:rPr>
              <a:t>;</a:t>
            </a:r>
          </a:p>
          <a:p>
            <a:pPr marL="0" indent="0">
              <a:buNone/>
            </a:pPr>
            <a:r>
              <a:rPr lang="en-US" dirty="0">
                <a:latin typeface="Montserrat" panose="020B0604020202020204" charset="0"/>
                <a:ea typeface="Times New Roman" panose="02020603050405020304" pitchFamily="18" charset="0"/>
              </a:rPr>
              <a:t>     if (</a:t>
            </a:r>
            <a:r>
              <a:rPr lang="en-US" dirty="0" err="1">
                <a:latin typeface="Montserrat" panose="020B0604020202020204" charset="0"/>
                <a:ea typeface="Times New Roman" panose="02020603050405020304" pitchFamily="18" charset="0"/>
              </a:rPr>
              <a:t>i</a:t>
            </a:r>
            <a:r>
              <a:rPr lang="en-US" dirty="0">
                <a:latin typeface="Montserrat" panose="020B0604020202020204" charset="0"/>
                <a:ea typeface="Times New Roman" panose="02020603050405020304" pitchFamily="18" charset="0"/>
              </a:rPr>
              <a:t> &lt; n) </a:t>
            </a:r>
            <a:r>
              <a:rPr lang="en-US" dirty="0" err="1">
                <a:latin typeface="Montserrat" panose="020B0604020202020204" charset="0"/>
                <a:ea typeface="Times New Roman" panose="02020603050405020304" pitchFamily="18" charset="0"/>
              </a:rPr>
              <a:t>goto</a:t>
            </a:r>
            <a:r>
              <a:rPr lang="en-US" dirty="0">
                <a:latin typeface="Montserrat" panose="020B0604020202020204" charset="0"/>
                <a:ea typeface="Times New Roman" panose="02020603050405020304" pitchFamily="18" charset="0"/>
              </a:rPr>
              <a:t> loop;</a:t>
            </a:r>
          </a:p>
          <a:p>
            <a:pPr marL="0" indent="0">
              <a:buNone/>
            </a:pPr>
            <a:r>
              <a:rPr lang="en-US" dirty="0">
                <a:latin typeface="Montserrat" panose="020B0604020202020204" charset="0"/>
                <a:ea typeface="Times New Roman" panose="02020603050405020304" pitchFamily="18" charset="0"/>
              </a:rPr>
              <a:t>     </a:t>
            </a:r>
            <a:r>
              <a:rPr lang="en-US" dirty="0" err="1">
                <a:latin typeface="Montserrat" panose="020B0604020202020204" charset="0"/>
                <a:ea typeface="Times New Roman" panose="02020603050405020304" pitchFamily="18" charset="0"/>
              </a:rPr>
              <a:t>printf</a:t>
            </a:r>
            <a:r>
              <a:rPr lang="en-US" dirty="0">
                <a:latin typeface="Montserrat" panose="020B0604020202020204" charset="0"/>
                <a:ea typeface="Times New Roman" panose="02020603050405020304" pitchFamily="18" charset="0"/>
              </a:rPr>
              <a:t> ("\</a:t>
            </a:r>
            <a:r>
              <a:rPr lang="en-US" dirty="0" err="1">
                <a:latin typeface="Montserrat" panose="020B0604020202020204" charset="0"/>
                <a:ea typeface="Times New Roman" panose="02020603050405020304" pitchFamily="18" charset="0"/>
              </a:rPr>
              <a:t>nSum</a:t>
            </a:r>
            <a:r>
              <a:rPr lang="en-US" dirty="0">
                <a:latin typeface="Montserrat" panose="020B0604020202020204" charset="0"/>
                <a:ea typeface="Times New Roman" panose="02020603050405020304" pitchFamily="18" charset="0"/>
              </a:rPr>
              <a:t> of first %d natural numbers = %d", n, sum);</a:t>
            </a:r>
          </a:p>
          <a:p>
            <a:pPr marL="0" indent="0">
              <a:buNone/>
            </a:pPr>
            <a:r>
              <a:rPr lang="en-US" dirty="0">
                <a:latin typeface="Montserrat" panose="020B0604020202020204" charset="0"/>
                <a:ea typeface="Times New Roman" panose="02020603050405020304" pitchFamily="18" charset="0"/>
              </a:rPr>
              <a:t>}</a:t>
            </a:r>
          </a:p>
        </p:txBody>
      </p:sp>
      <p:sp>
        <p:nvSpPr>
          <p:cNvPr id="6" name="Text Placeholder 5">
            <a:extLst>
              <a:ext uri="{FF2B5EF4-FFF2-40B4-BE49-F238E27FC236}">
                <a16:creationId xmlns:a16="http://schemas.microsoft.com/office/drawing/2014/main" xmlns="" id="{C5E31C7E-0985-422D-8178-47E611FDD948}"/>
              </a:ext>
            </a:extLst>
          </p:cNvPr>
          <p:cNvSpPr>
            <a:spLocks noGrp="1"/>
          </p:cNvSpPr>
          <p:nvPr>
            <p:ph type="body" sz="quarter" idx="3"/>
          </p:nvPr>
        </p:nvSpPr>
        <p:spPr>
          <a:xfrm>
            <a:off x="6172200" y="1272209"/>
            <a:ext cx="5183188" cy="609600"/>
          </a:xfrm>
        </p:spPr>
        <p:txBody>
          <a:bodyPr>
            <a:normAutofit/>
          </a:bodyPr>
          <a:lstStyle/>
          <a:p>
            <a:pPr algn="ctr"/>
            <a:r>
              <a:rPr lang="en-IN" dirty="0"/>
              <a:t>unconditional </a:t>
            </a:r>
            <a:r>
              <a:rPr lang="en-IN" dirty="0" err="1"/>
              <a:t>goto</a:t>
            </a:r>
            <a:endParaRPr lang="en-IN" dirty="0"/>
          </a:p>
        </p:txBody>
      </p:sp>
      <p:sp>
        <p:nvSpPr>
          <p:cNvPr id="7" name="Content Placeholder 6">
            <a:extLst>
              <a:ext uri="{FF2B5EF4-FFF2-40B4-BE49-F238E27FC236}">
                <a16:creationId xmlns:a16="http://schemas.microsoft.com/office/drawing/2014/main" xmlns="" id="{6B486C77-69A0-4C20-B781-BBF6C5BE36B7}"/>
              </a:ext>
            </a:extLst>
          </p:cNvPr>
          <p:cNvSpPr>
            <a:spLocks noGrp="1"/>
          </p:cNvSpPr>
          <p:nvPr>
            <p:ph sz="quarter" idx="4"/>
          </p:nvPr>
        </p:nvSpPr>
        <p:spPr>
          <a:xfrm>
            <a:off x="6835910" y="1881809"/>
            <a:ext cx="4094687" cy="4307854"/>
          </a:xfrm>
        </p:spPr>
        <p:txBody>
          <a:bodyPr>
            <a:noAutofit/>
          </a:bodyPr>
          <a:lstStyle/>
          <a:p>
            <a:r>
              <a:rPr lang="en-US" altLang="en-US" sz="1800" dirty="0">
                <a:latin typeface="+mj-lt"/>
              </a:rPr>
              <a:t>The control transfers from one block to another block without checking the test  condition.</a:t>
            </a:r>
          </a:p>
          <a:p>
            <a:pPr marL="0" indent="0">
              <a:spcBef>
                <a:spcPct val="50000"/>
              </a:spcBef>
              <a:buNone/>
            </a:pPr>
            <a:endParaRPr lang="en-US" altLang="en-US" sz="2000" dirty="0">
              <a:latin typeface="+mj-lt"/>
            </a:endParaRPr>
          </a:p>
          <a:p>
            <a:pPr marL="0" indent="0">
              <a:spcBef>
                <a:spcPct val="50000"/>
              </a:spcBef>
              <a:buNone/>
            </a:pPr>
            <a:r>
              <a:rPr lang="en-US" altLang="en-US" sz="2000" dirty="0">
                <a:latin typeface="+mj-lt"/>
              </a:rPr>
              <a:t>#include &lt;</a:t>
            </a:r>
            <a:r>
              <a:rPr lang="en-US" altLang="en-US" sz="2000" dirty="0" err="1">
                <a:latin typeface="+mj-lt"/>
              </a:rPr>
              <a:t>stdio.h</a:t>
            </a:r>
            <a:r>
              <a:rPr lang="en-US" altLang="en-US" sz="2000" dirty="0">
                <a:latin typeface="+mj-lt"/>
              </a:rPr>
              <a:t>&gt;</a:t>
            </a:r>
          </a:p>
          <a:p>
            <a:pPr marL="0" indent="0">
              <a:spcBef>
                <a:spcPct val="50000"/>
              </a:spcBef>
              <a:buNone/>
            </a:pPr>
            <a:r>
              <a:rPr lang="en-US" altLang="en-US" sz="2000" dirty="0">
                <a:latin typeface="+mj-lt"/>
              </a:rPr>
              <a:t>main()</a:t>
            </a:r>
          </a:p>
          <a:p>
            <a:pPr marL="0" indent="0">
              <a:spcBef>
                <a:spcPct val="50000"/>
              </a:spcBef>
              <a:buNone/>
            </a:pPr>
            <a:r>
              <a:rPr lang="en-US" altLang="en-US" sz="2000" dirty="0">
                <a:latin typeface="+mj-lt"/>
              </a:rPr>
              <a:t>{</a:t>
            </a:r>
          </a:p>
          <a:p>
            <a:pPr marL="0" indent="0">
              <a:spcBef>
                <a:spcPct val="50000"/>
              </a:spcBef>
              <a:buNone/>
            </a:pPr>
            <a:r>
              <a:rPr lang="en-US" altLang="en-US" sz="2000" dirty="0">
                <a:latin typeface="+mj-lt"/>
              </a:rPr>
              <a:t>    Start:</a:t>
            </a:r>
          </a:p>
          <a:p>
            <a:pPr marL="0" indent="0">
              <a:spcBef>
                <a:spcPct val="50000"/>
              </a:spcBef>
              <a:buNone/>
            </a:pPr>
            <a:r>
              <a:rPr lang="en-US" altLang="en-US" sz="2000" dirty="0">
                <a:latin typeface="+mj-lt"/>
              </a:rPr>
              <a:t>        </a:t>
            </a:r>
            <a:r>
              <a:rPr lang="en-US" altLang="en-US" sz="2000" dirty="0" err="1">
                <a:latin typeface="+mj-lt"/>
              </a:rPr>
              <a:t>printf</a:t>
            </a:r>
            <a:r>
              <a:rPr lang="en-US" altLang="en-US" sz="2000" dirty="0">
                <a:latin typeface="+mj-lt"/>
              </a:rPr>
              <a:t>("Welcome\n");</a:t>
            </a:r>
          </a:p>
          <a:p>
            <a:pPr marL="0" indent="0">
              <a:spcBef>
                <a:spcPct val="50000"/>
              </a:spcBef>
              <a:buNone/>
            </a:pPr>
            <a:r>
              <a:rPr lang="en-US" altLang="en-US" sz="2000" dirty="0">
                <a:latin typeface="+mj-lt"/>
              </a:rPr>
              <a:t>	</a:t>
            </a:r>
            <a:r>
              <a:rPr lang="en-US" altLang="en-US" sz="2000" dirty="0" err="1">
                <a:latin typeface="+mj-lt"/>
              </a:rPr>
              <a:t>goto</a:t>
            </a:r>
            <a:r>
              <a:rPr lang="en-US" altLang="en-US" sz="2000" dirty="0">
                <a:latin typeface="+mj-lt"/>
              </a:rPr>
              <a:t> Start;</a:t>
            </a:r>
          </a:p>
          <a:p>
            <a:pPr marL="0" indent="0">
              <a:spcBef>
                <a:spcPct val="50000"/>
              </a:spcBef>
              <a:buNone/>
            </a:pPr>
            <a:r>
              <a:rPr lang="en-US" altLang="en-US" sz="2000" dirty="0">
                <a:latin typeface="+mj-lt"/>
              </a:rPr>
              <a:t>}</a:t>
            </a:r>
          </a:p>
        </p:txBody>
      </p:sp>
    </p:spTree>
    <p:extLst>
      <p:ext uri="{BB962C8B-B14F-4D97-AF65-F5344CB8AC3E}">
        <p14:creationId xmlns:p14="http://schemas.microsoft.com/office/powerpoint/2010/main" val="31121856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9"/>
</p:tagLst>
</file>

<file path=ppt/tags/tag2.xml><?xml version="1.0" encoding="utf-8"?>
<p:tagLst xmlns:a="http://schemas.openxmlformats.org/drawingml/2006/main" xmlns:r="http://schemas.openxmlformats.org/officeDocument/2006/relationships" xmlns:p="http://schemas.openxmlformats.org/presentationml/2006/main">
  <p:tag name="TIMING" val="|3.3|0.7|0.7"/>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Adjacency</Template>
  <TotalTime>279</TotalTime>
  <Words>6153</Words>
  <Application>Microsoft Office PowerPoint</Application>
  <PresentationFormat>Custom</PresentationFormat>
  <Paragraphs>1393</Paragraphs>
  <Slides>141</Slides>
  <Notes>1</Notes>
  <HiddenSlides>0</HiddenSlides>
  <MMClips>0</MMClips>
  <ScaleCrop>false</ScaleCrop>
  <HeadingPairs>
    <vt:vector size="4" baseType="variant">
      <vt:variant>
        <vt:lpstr>Theme</vt:lpstr>
      </vt:variant>
      <vt:variant>
        <vt:i4>1</vt:i4>
      </vt:variant>
      <vt:variant>
        <vt:lpstr>Slide Titles</vt:lpstr>
      </vt:variant>
      <vt:variant>
        <vt:i4>141</vt:i4>
      </vt:variant>
    </vt:vector>
  </HeadingPairs>
  <TitlesOfParts>
    <vt:vector size="142" baseType="lpstr">
      <vt:lpstr>Adjacency</vt:lpstr>
      <vt:lpstr>PROGRAMMING USING C</vt:lpstr>
      <vt:lpstr>Computers</vt:lpstr>
      <vt:lpstr>Types of Computers</vt:lpstr>
      <vt:lpstr>Functional Units</vt:lpstr>
      <vt:lpstr>Summary</vt:lpstr>
      <vt:lpstr>PowerPoint Presentation</vt:lpstr>
      <vt:lpstr>What is an Algorithm?</vt:lpstr>
      <vt:lpstr>PowerPoint Presentation</vt:lpstr>
      <vt:lpstr>PowerPoint Presentation</vt:lpstr>
      <vt:lpstr>  Building Blocks of Algorithm </vt:lpstr>
      <vt:lpstr>PowerPoint Presentation</vt:lpstr>
      <vt:lpstr>PowerPoint Presentation</vt:lpstr>
      <vt:lpstr>Advantages of Algorithm </vt:lpstr>
      <vt:lpstr>Examples </vt:lpstr>
      <vt:lpstr>PowerPoint Presentation</vt:lpstr>
      <vt:lpstr>PowerPoint Presentation</vt:lpstr>
      <vt:lpstr>  Pseudo Code</vt:lpstr>
      <vt:lpstr> Pseudo Code</vt:lpstr>
      <vt:lpstr>Pseudo code</vt:lpstr>
      <vt:lpstr>Guidelines to write Pseudocode</vt:lpstr>
      <vt:lpstr>Examples</vt:lpstr>
      <vt:lpstr>PowerPoint Presentation</vt:lpstr>
      <vt:lpstr>Flowcharts </vt:lpstr>
      <vt:lpstr>Flowcharts </vt:lpstr>
      <vt:lpstr>Symbols of Flowchart</vt:lpstr>
      <vt:lpstr>PowerPoint Presentation</vt:lpstr>
      <vt:lpstr>Flowchart to find sum of two numbers</vt:lpstr>
      <vt:lpstr>PowerPoint Presentation</vt:lpstr>
      <vt:lpstr>Flowchart for finding the factorial of a number</vt:lpstr>
      <vt:lpstr> Programs and Programming </vt:lpstr>
      <vt:lpstr>  Programming</vt:lpstr>
      <vt:lpstr>Program </vt:lpstr>
      <vt:lpstr>Algorithmic Problem Solving</vt:lpstr>
      <vt:lpstr>Algorithmic Problem Solving</vt:lpstr>
      <vt:lpstr>An algorithmic Development Process </vt:lpstr>
      <vt:lpstr>Simple Strategies for Developing Algorithm</vt:lpstr>
      <vt:lpstr> Iteration </vt:lpstr>
      <vt:lpstr>PowerPoint Presentation</vt:lpstr>
      <vt:lpstr>Recursion</vt:lpstr>
      <vt:lpstr>PowerPoint Presentation</vt:lpstr>
      <vt:lpstr>PowerPoint Presentation</vt:lpstr>
      <vt:lpstr>PowerPoint Presentation</vt:lpstr>
      <vt:lpstr>History of C --- contd.. </vt:lpstr>
      <vt:lpstr>WHY LEARN C?</vt:lpstr>
      <vt:lpstr>DEVELOPING PROGRAMS IN C</vt:lpstr>
      <vt:lpstr>STRUCTURE : C PROGRAM</vt:lpstr>
      <vt:lpstr>ILLUSTRATED VERSION OF A PROGRAM </vt:lpstr>
      <vt:lpstr>VARIABLES</vt:lpstr>
      <vt:lpstr>CLASSIFICATION :DATA TYPE</vt:lpstr>
      <vt:lpstr>BASIC DATA TYPES:SIZE </vt:lpstr>
      <vt:lpstr>PROGRAM STATEMENTS</vt:lpstr>
      <vt:lpstr>KEY WORDS</vt:lpstr>
      <vt:lpstr>KEY WORDS</vt:lpstr>
      <vt:lpstr>CONSTANT</vt:lpstr>
      <vt:lpstr>TYPES OF CONSTANTS</vt:lpstr>
      <vt:lpstr>Operators and Expressions</vt:lpstr>
      <vt:lpstr>Operators and Expressions contd…</vt:lpstr>
      <vt:lpstr>Rules for Formation of an Expression </vt:lpstr>
      <vt:lpstr>Types of Operators</vt:lpstr>
      <vt:lpstr>Special Operators</vt:lpstr>
      <vt:lpstr>Arithmetic Operators</vt:lpstr>
      <vt:lpstr>Variable implicit type conversion in expressions</vt:lpstr>
      <vt:lpstr>Promotion Hierarchy</vt:lpstr>
      <vt:lpstr>Relational Operator</vt:lpstr>
      <vt:lpstr>Logical Operators</vt:lpstr>
      <vt:lpstr>Bitwise – and , or, xor, not</vt:lpstr>
      <vt:lpstr>Bitwise Operators</vt:lpstr>
      <vt:lpstr>Right Shift - Example</vt:lpstr>
      <vt:lpstr>Left Shift - Example</vt:lpstr>
      <vt:lpstr>Lvalue and Rvalue</vt:lpstr>
      <vt:lpstr>Assignment Operators</vt:lpstr>
      <vt:lpstr>Unary Operators</vt:lpstr>
      <vt:lpstr>Increment and Decrement operators</vt:lpstr>
      <vt:lpstr>Post increment and decrement operators</vt:lpstr>
      <vt:lpstr>Pre increment and decrement operators</vt:lpstr>
      <vt:lpstr>pre- and post-increment - Example </vt:lpstr>
      <vt:lpstr>Comma Operator</vt:lpstr>
      <vt:lpstr>Size of Operator</vt:lpstr>
      <vt:lpstr>Size of Operator - Example</vt:lpstr>
      <vt:lpstr>Ternary Operator</vt:lpstr>
      <vt:lpstr>Ternary Operator - Example</vt:lpstr>
      <vt:lpstr>Ternary operator - Nested</vt:lpstr>
      <vt:lpstr>Expression Evaluation— Precedence and Associativity</vt:lpstr>
      <vt:lpstr>Example: operator precedence</vt:lpstr>
      <vt:lpstr>Example: operator associativity</vt:lpstr>
      <vt:lpstr>Data Input and Output</vt:lpstr>
      <vt:lpstr>Unformatted Input/output functions </vt:lpstr>
      <vt:lpstr>getchar()</vt:lpstr>
      <vt:lpstr>getch() and getche()</vt:lpstr>
      <vt:lpstr>getch() and getche() - Program</vt:lpstr>
      <vt:lpstr>            putchar()</vt:lpstr>
      <vt:lpstr>putch() </vt:lpstr>
      <vt:lpstr>gets()</vt:lpstr>
      <vt:lpstr>puts() </vt:lpstr>
      <vt:lpstr>Formatted Input and Output Functions</vt:lpstr>
      <vt:lpstr>printf()</vt:lpstr>
      <vt:lpstr>Format Specifiers</vt:lpstr>
      <vt:lpstr>Parts of conversion specifier field for printf()</vt:lpstr>
      <vt:lpstr>Examples</vt:lpstr>
      <vt:lpstr>Flag characters used in printf() </vt:lpstr>
      <vt:lpstr>Example</vt:lpstr>
      <vt:lpstr>Example with strings</vt:lpstr>
      <vt:lpstr>Size modifiers used in printf()</vt:lpstr>
      <vt:lpstr>scanf()</vt:lpstr>
      <vt:lpstr>Controls</vt:lpstr>
      <vt:lpstr>Types</vt:lpstr>
      <vt:lpstr>if statement</vt:lpstr>
      <vt:lpstr>if statement - Example </vt:lpstr>
      <vt:lpstr>if-else statement</vt:lpstr>
      <vt:lpstr>if else statement - Example </vt:lpstr>
      <vt:lpstr>Nested if-else Statement</vt:lpstr>
      <vt:lpstr>Nested if-else Statement - Example</vt:lpstr>
      <vt:lpstr>The else if ladder </vt:lpstr>
      <vt:lpstr>The else if ladder - Example</vt:lpstr>
      <vt:lpstr>Switch Statement</vt:lpstr>
      <vt:lpstr> Switch Statement Contd…</vt:lpstr>
      <vt:lpstr>switch statement - Rules</vt:lpstr>
      <vt:lpstr>Switch Statement- Example</vt:lpstr>
      <vt:lpstr>Switch Statement- Example</vt:lpstr>
      <vt:lpstr>Difference between nested if else and switch statements </vt:lpstr>
      <vt:lpstr> Structured Programming: Control Statements –Looping control statements, break, continue, goto statements</vt:lpstr>
      <vt:lpstr>Looping / Iteration</vt:lpstr>
      <vt:lpstr>Looping / Iteration – contd…</vt:lpstr>
      <vt:lpstr>                    while statement</vt:lpstr>
      <vt:lpstr>while Statement - Example</vt:lpstr>
      <vt:lpstr>do-while statement</vt:lpstr>
      <vt:lpstr>do-while statement - Example</vt:lpstr>
      <vt:lpstr>while and do…while statement</vt:lpstr>
      <vt:lpstr>for loop</vt:lpstr>
      <vt:lpstr>for loop – Example</vt:lpstr>
      <vt:lpstr>Additional Features of for Loop</vt:lpstr>
      <vt:lpstr>Additional Features of for Loop Contd…</vt:lpstr>
      <vt:lpstr>Additional Features of for Loop Contd…</vt:lpstr>
      <vt:lpstr>Nested loops</vt:lpstr>
      <vt:lpstr>Nested loops - Example</vt:lpstr>
      <vt:lpstr>break and continue statements</vt:lpstr>
      <vt:lpstr>break - Example</vt:lpstr>
      <vt:lpstr>continue - Example</vt:lpstr>
      <vt:lpstr>break and continue - Difference</vt:lpstr>
      <vt:lpstr>goto statement</vt:lpstr>
      <vt:lpstr>goto statement - Example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USING C</dc:title>
  <dc:creator>SUGUNA M</dc:creator>
  <cp:lastModifiedBy>Dr Arulkumar</cp:lastModifiedBy>
  <cp:revision>18</cp:revision>
  <dcterms:created xsi:type="dcterms:W3CDTF">2022-02-14T03:15:46Z</dcterms:created>
  <dcterms:modified xsi:type="dcterms:W3CDTF">2023-02-20T10:26:54Z</dcterms:modified>
</cp:coreProperties>
</file>