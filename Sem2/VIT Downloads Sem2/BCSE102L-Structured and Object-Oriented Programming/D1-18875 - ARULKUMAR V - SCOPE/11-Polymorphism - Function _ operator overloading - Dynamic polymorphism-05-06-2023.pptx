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7" r:id="rId2"/>
    <p:sldId id="258" r:id="rId3"/>
    <p:sldId id="260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9AAA8-32B4-4098-9BC1-F1431A96BDB8}" type="datetimeFigureOut">
              <a:rPr lang="en-US" smtClean="0"/>
              <a:pPr/>
              <a:t>19-Jul-20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6A2EB-9031-49D0-8BB5-9301EBD5891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0351-CDD0-4C5D-A91B-1E5398BB61B7}" type="datetime1">
              <a:rPr lang="en-US" smtClean="0"/>
              <a:t>19-Jul-20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D96F-B3AB-45F7-9343-8C3ACA8E8050}" type="datetime1">
              <a:rPr lang="en-US" smtClean="0"/>
              <a:t>19-Jul-20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D10D-AA88-4132-999A-CFF9C131D5CF}" type="datetime1">
              <a:rPr lang="en-US" smtClean="0"/>
              <a:t>19-Jul-20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8D86-AF19-468A-BF6E-6D99C0BB3F8E}" type="datetime1">
              <a:rPr lang="en-US" smtClean="0"/>
              <a:t>19-Jul-20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2269-C07F-43F9-8EB3-1C79184F51F7}" type="datetime1">
              <a:rPr lang="en-US" smtClean="0"/>
              <a:t>19-Jul-20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B252-1791-41A4-B15F-E4304A7D54FC}" type="datetime1">
              <a:rPr lang="en-US" smtClean="0"/>
              <a:t>19-Jul-20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F9E33-E3FA-42F8-90E9-DD5A56783094}" type="datetime1">
              <a:rPr lang="en-US" smtClean="0"/>
              <a:t>19-Jul-20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3EB-B83C-4FC6-85F7-EEF038907A4E}" type="datetime1">
              <a:rPr lang="en-US" smtClean="0"/>
              <a:t>19-Jul-20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0255-82D4-4295-8F17-62371E62F545}" type="datetime1">
              <a:rPr lang="en-US" smtClean="0"/>
              <a:t>19-Jul-20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BC6C2-6DCC-4D09-880D-A76FC79E6345}" type="datetime1">
              <a:rPr lang="en-US" smtClean="0"/>
              <a:t>19-Jul-20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E056-547D-4CE7-A35A-5878B8C99957}" type="datetime1">
              <a:rPr lang="en-US" smtClean="0"/>
              <a:t>19-Jul-20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505E2-0A78-48DA-AD09-2E9C346E2873}" type="datetime1">
              <a:rPr lang="en-US" smtClean="0"/>
              <a:t>19-Jul-20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94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191CSC302T-OBJECT ORIENTED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3A9AB-441E-4373-A114-F8AB583AC96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b="1" dirty="0" smtClean="0"/>
              <a:t>Object Oriented Programming</a:t>
            </a:r>
            <a:br>
              <a:rPr lang="en-US" b="1" dirty="0" smtClean="0"/>
            </a:br>
            <a:r>
              <a:rPr lang="en-US" b="1" dirty="0" smtClean="0"/>
              <a:t> 191CSC302T</a:t>
            </a:r>
            <a:endParaRPr lang="en-US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77000" y="4800601"/>
            <a:ext cx="2133600" cy="1470025"/>
          </a:xfrm>
          <a:prstGeom prst="rect">
            <a:avLst/>
          </a:prstGeom>
        </p:spPr>
        <p:txBody>
          <a:bodyPr vert="horz" lIns="91429" tIns="45714" rIns="91429" bIns="45714" rtlCol="0" anchor="ctr">
            <a:normAutofit fontScale="97500"/>
          </a:bodyPr>
          <a:lstStyle/>
          <a:p>
            <a:pPr>
              <a:spcBef>
                <a:spcPct val="0"/>
              </a:spcBef>
            </a:pPr>
            <a:r>
              <a:rPr lang="en-US" sz="2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rPr>
              <a:t>By,</a:t>
            </a:r>
          </a:p>
          <a:p>
            <a:pPr>
              <a:spcBef>
                <a:spcPct val="0"/>
              </a:spcBef>
            </a:pPr>
            <a:r>
              <a:rPr lang="en-US" sz="2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rPr>
              <a:t>Mr.P.Baskaran,</a:t>
            </a:r>
          </a:p>
          <a:p>
            <a:pPr>
              <a:spcBef>
                <a:spcPct val="0"/>
              </a:spcBef>
            </a:pPr>
            <a:r>
              <a:rPr lang="en-US" sz="2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rPr>
              <a:t>AP /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Unit –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00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 smtClean="0"/>
              <a:t>OPERATOR OVERLOADING</a:t>
            </a:r>
            <a:endParaRPr lang="en-US" sz="4000" b="1" dirty="0"/>
          </a:p>
          <a:p>
            <a:pPr marL="0" indent="0" algn="just">
              <a:buNone/>
            </a:pPr>
            <a:r>
              <a:rPr lang="en-US" sz="2800" dirty="0">
                <a:solidFill>
                  <a:srgbClr val="FF0000"/>
                </a:solidFill>
              </a:rPr>
              <a:t>Defining operator overloading, overloading unary and binary operators, </a:t>
            </a:r>
            <a:r>
              <a:rPr lang="en-US" sz="2800" dirty="0">
                <a:solidFill>
                  <a:schemeClr val="tx2"/>
                </a:solidFill>
              </a:rPr>
              <a:t>Operator overloading using friend function, Rules for Overloading operators - Type  conversion.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OPERATOR OVERLOADING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25013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90498"/>
            <a:ext cx="20567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050" y="1365250"/>
          <a:ext cx="7086600" cy="4389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86600"/>
              </a:tblGrid>
              <a:tr h="975360">
                <a:tc>
                  <a:txBody>
                    <a:bodyPr/>
                    <a:lstStyle/>
                    <a:p>
                      <a:pPr marL="692785" lvl="1" indent="-624840">
                        <a:lnSpc>
                          <a:spcPts val="3750"/>
                        </a:lnSpc>
                        <a:buAutoNum type="arabicPeriod"/>
                        <a:tabLst>
                          <a:tab pos="693420" algn="l"/>
                        </a:tabLst>
                      </a:pPr>
                      <a:r>
                        <a:rPr sz="3200" dirty="0">
                          <a:latin typeface="Caladea"/>
                          <a:cs typeface="Caladea"/>
                        </a:rPr>
                        <a:t>Defining </a:t>
                      </a:r>
                      <a:r>
                        <a:rPr sz="3200" spc="-15" dirty="0">
                          <a:latin typeface="Caladea"/>
                          <a:cs typeface="Caladea"/>
                        </a:rPr>
                        <a:t>operator</a:t>
                      </a:r>
                      <a:r>
                        <a:rPr sz="3200" spc="-20" dirty="0">
                          <a:latin typeface="Caladea"/>
                          <a:cs typeface="Caladea"/>
                        </a:rPr>
                        <a:t> </a:t>
                      </a:r>
                      <a:r>
                        <a:rPr sz="3200" spc="-15" dirty="0">
                          <a:latin typeface="Caladea"/>
                          <a:cs typeface="Caladea"/>
                        </a:rPr>
                        <a:t>Overloading</a:t>
                      </a:r>
                      <a:endParaRPr sz="3200">
                        <a:latin typeface="Caladea"/>
                        <a:cs typeface="Caladea"/>
                      </a:endParaRPr>
                    </a:p>
                    <a:p>
                      <a:pPr marL="693420" lvl="1" indent="-625475">
                        <a:lnSpc>
                          <a:spcPts val="3829"/>
                        </a:lnSpc>
                        <a:buAutoNum type="arabicPeriod"/>
                        <a:tabLst>
                          <a:tab pos="694055" algn="l"/>
                        </a:tabLst>
                      </a:pPr>
                      <a:r>
                        <a:rPr sz="3200" spc="-10" dirty="0">
                          <a:latin typeface="Caladea"/>
                          <a:cs typeface="Caladea"/>
                        </a:rPr>
                        <a:t>Overloading </a:t>
                      </a:r>
                      <a:r>
                        <a:rPr sz="3200" spc="-5" dirty="0">
                          <a:latin typeface="Caladea"/>
                          <a:cs typeface="Caladea"/>
                        </a:rPr>
                        <a:t>Unary</a:t>
                      </a:r>
                      <a:r>
                        <a:rPr sz="3200" dirty="0">
                          <a:latin typeface="Caladea"/>
                          <a:cs typeface="Caladea"/>
                        </a:rPr>
                        <a:t> </a:t>
                      </a:r>
                      <a:r>
                        <a:rPr sz="3200" spc="-15" dirty="0">
                          <a:latin typeface="Caladea"/>
                          <a:cs typeface="Caladea"/>
                        </a:rPr>
                        <a:t>Operator</a:t>
                      </a:r>
                      <a:endParaRPr sz="3200">
                        <a:latin typeface="Caladea"/>
                        <a:cs typeface="Calade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 marL="68580">
                        <a:lnSpc>
                          <a:spcPts val="3740"/>
                        </a:lnSpc>
                      </a:pPr>
                      <a:r>
                        <a:rPr sz="3200" dirty="0">
                          <a:latin typeface="Caladea"/>
                          <a:cs typeface="Caladea"/>
                        </a:rPr>
                        <a:t>7.3 </a:t>
                      </a:r>
                      <a:r>
                        <a:rPr sz="3200" spc="-15" dirty="0">
                          <a:latin typeface="Caladea"/>
                          <a:cs typeface="Caladea"/>
                        </a:rPr>
                        <a:t>Overloading </a:t>
                      </a:r>
                      <a:r>
                        <a:rPr sz="3200" spc="-5" dirty="0">
                          <a:latin typeface="Caladea"/>
                          <a:cs typeface="Caladea"/>
                        </a:rPr>
                        <a:t>Binary</a:t>
                      </a:r>
                      <a:r>
                        <a:rPr sz="3200" spc="10" dirty="0">
                          <a:latin typeface="Caladea"/>
                          <a:cs typeface="Caladea"/>
                        </a:rPr>
                        <a:t> </a:t>
                      </a:r>
                      <a:r>
                        <a:rPr sz="3200" spc="-15" dirty="0">
                          <a:latin typeface="Caladea"/>
                          <a:cs typeface="Caladea"/>
                        </a:rPr>
                        <a:t>Operator</a:t>
                      </a:r>
                      <a:endParaRPr sz="3200">
                        <a:latin typeface="Caladea"/>
                        <a:cs typeface="Calade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marL="68580" marR="294005" lvl="1">
                        <a:lnSpc>
                          <a:spcPts val="3840"/>
                        </a:lnSpc>
                        <a:spcBef>
                          <a:spcPts val="40"/>
                        </a:spcBef>
                        <a:buAutoNum type="arabicPeriod" startAt="4"/>
                        <a:tabLst>
                          <a:tab pos="693420" algn="l"/>
                        </a:tabLst>
                      </a:pPr>
                      <a:r>
                        <a:rPr sz="3200" spc="-15" dirty="0">
                          <a:latin typeface="Caladea"/>
                          <a:cs typeface="Caladea"/>
                        </a:rPr>
                        <a:t>Overloading </a:t>
                      </a:r>
                      <a:r>
                        <a:rPr sz="3200" spc="-5" dirty="0">
                          <a:latin typeface="Caladea"/>
                          <a:cs typeface="Caladea"/>
                        </a:rPr>
                        <a:t>Binary </a:t>
                      </a:r>
                      <a:r>
                        <a:rPr sz="3200" spc="-15" dirty="0">
                          <a:latin typeface="Caladea"/>
                          <a:cs typeface="Caladea"/>
                        </a:rPr>
                        <a:t>Operator </a:t>
                      </a:r>
                      <a:r>
                        <a:rPr sz="3200" dirty="0">
                          <a:latin typeface="Caladea"/>
                          <a:cs typeface="Caladea"/>
                        </a:rPr>
                        <a:t>Using  </a:t>
                      </a:r>
                      <a:r>
                        <a:rPr sz="3200" spc="-15" dirty="0">
                          <a:latin typeface="Caladea"/>
                          <a:cs typeface="Caladea"/>
                        </a:rPr>
                        <a:t>Friend</a:t>
                      </a:r>
                      <a:r>
                        <a:rPr sz="3200" spc="-25" dirty="0">
                          <a:latin typeface="Caladea"/>
                          <a:cs typeface="Caladea"/>
                        </a:rPr>
                        <a:t> </a:t>
                      </a:r>
                      <a:r>
                        <a:rPr sz="3200" dirty="0">
                          <a:latin typeface="Caladea"/>
                          <a:cs typeface="Caladea"/>
                        </a:rPr>
                        <a:t>function</a:t>
                      </a:r>
                      <a:endParaRPr sz="3200">
                        <a:latin typeface="Caladea"/>
                        <a:cs typeface="Caladea"/>
                      </a:endParaRPr>
                    </a:p>
                    <a:p>
                      <a:pPr marL="68580" marR="1444625" lvl="1">
                        <a:lnSpc>
                          <a:spcPts val="3840"/>
                        </a:lnSpc>
                        <a:buAutoNum type="arabicPeriod" startAt="4"/>
                        <a:tabLst>
                          <a:tab pos="693420" algn="l"/>
                        </a:tabLst>
                      </a:pPr>
                      <a:r>
                        <a:rPr sz="3200" spc="-5" dirty="0">
                          <a:latin typeface="Caladea"/>
                          <a:cs typeface="Caladea"/>
                        </a:rPr>
                        <a:t>Manipulating </a:t>
                      </a:r>
                      <a:r>
                        <a:rPr sz="3200" dirty="0">
                          <a:latin typeface="Caladea"/>
                          <a:cs typeface="Caladea"/>
                        </a:rPr>
                        <a:t>of </a:t>
                      </a:r>
                      <a:r>
                        <a:rPr sz="3200" spc="-5" dirty="0">
                          <a:latin typeface="Caladea"/>
                          <a:cs typeface="Caladea"/>
                        </a:rPr>
                        <a:t>String </a:t>
                      </a:r>
                      <a:r>
                        <a:rPr sz="3200" dirty="0">
                          <a:latin typeface="Caladea"/>
                          <a:cs typeface="Caladea"/>
                        </a:rPr>
                        <a:t>Using  </a:t>
                      </a:r>
                      <a:r>
                        <a:rPr sz="3200" spc="-15" dirty="0">
                          <a:latin typeface="Caladea"/>
                          <a:cs typeface="Caladea"/>
                        </a:rPr>
                        <a:t>Operators</a:t>
                      </a:r>
                      <a:endParaRPr sz="3200">
                        <a:latin typeface="Caladea"/>
                        <a:cs typeface="Calade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75359">
                <a:tc>
                  <a:txBody>
                    <a:bodyPr/>
                    <a:lstStyle/>
                    <a:p>
                      <a:pPr marL="693420" lvl="1" indent="-625475">
                        <a:lnSpc>
                          <a:spcPts val="3754"/>
                        </a:lnSpc>
                        <a:buAutoNum type="arabicPeriod" startAt="6"/>
                        <a:tabLst>
                          <a:tab pos="694055" algn="l"/>
                        </a:tabLst>
                      </a:pPr>
                      <a:r>
                        <a:rPr sz="3200" spc="-20" dirty="0">
                          <a:latin typeface="Caladea"/>
                          <a:cs typeface="Caladea"/>
                        </a:rPr>
                        <a:t>Type </a:t>
                      </a:r>
                      <a:r>
                        <a:rPr sz="3200" spc="-15" dirty="0">
                          <a:latin typeface="Caladea"/>
                          <a:cs typeface="Caladea"/>
                        </a:rPr>
                        <a:t>Conversion</a:t>
                      </a:r>
                      <a:endParaRPr sz="3200">
                        <a:latin typeface="Caladea"/>
                        <a:cs typeface="Caladea"/>
                      </a:endParaRPr>
                    </a:p>
                    <a:p>
                      <a:pPr marL="692785" lvl="1" indent="-624840">
                        <a:lnSpc>
                          <a:spcPts val="3820"/>
                        </a:lnSpc>
                        <a:buAutoNum type="arabicPeriod" startAt="6"/>
                        <a:tabLst>
                          <a:tab pos="693420" algn="l"/>
                        </a:tabLst>
                      </a:pPr>
                      <a:r>
                        <a:rPr sz="3200" spc="-20" dirty="0">
                          <a:latin typeface="Caladea"/>
                          <a:cs typeface="Caladea"/>
                        </a:rPr>
                        <a:t>Rules </a:t>
                      </a:r>
                      <a:r>
                        <a:rPr sz="3200" spc="-10" dirty="0">
                          <a:latin typeface="Caladea"/>
                          <a:cs typeface="Caladea"/>
                        </a:rPr>
                        <a:t>for Overloading</a:t>
                      </a:r>
                      <a:r>
                        <a:rPr sz="3200" dirty="0">
                          <a:latin typeface="Caladea"/>
                          <a:cs typeface="Caladea"/>
                        </a:rPr>
                        <a:t> </a:t>
                      </a:r>
                      <a:r>
                        <a:rPr sz="3200" spc="-15" dirty="0">
                          <a:latin typeface="Caladea"/>
                          <a:cs typeface="Caladea"/>
                        </a:rPr>
                        <a:t>Operators</a:t>
                      </a:r>
                      <a:endParaRPr sz="3200">
                        <a:latin typeface="Caladea"/>
                        <a:cs typeface="Calade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87121" y="6331533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4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172923"/>
            <a:ext cx="2414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Introduction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935482"/>
            <a:ext cx="7428865" cy="408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6319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375"/>
              <a:buChar char=""/>
              <a:tabLst>
                <a:tab pos="287020" algn="l"/>
              </a:tabLst>
            </a:pPr>
            <a:r>
              <a:rPr sz="3200" spc="-5" dirty="0">
                <a:latin typeface="Arial"/>
                <a:cs typeface="Arial"/>
              </a:rPr>
              <a:t>Important technique allows </a:t>
            </a:r>
            <a:r>
              <a:rPr sz="3200" dirty="0">
                <a:latin typeface="Arial"/>
                <a:cs typeface="Arial"/>
              </a:rPr>
              <a:t>C++ user  </a:t>
            </a:r>
            <a:r>
              <a:rPr sz="3200" spc="-5" dirty="0">
                <a:latin typeface="Arial"/>
                <a:cs typeface="Arial"/>
              </a:rPr>
              <a:t>defined data </a:t>
            </a:r>
            <a:r>
              <a:rPr sz="3200" dirty="0">
                <a:latin typeface="Arial"/>
                <a:cs typeface="Arial"/>
              </a:rPr>
              <a:t>types </a:t>
            </a:r>
            <a:r>
              <a:rPr sz="3200" spc="-5" dirty="0">
                <a:latin typeface="Arial"/>
                <a:cs typeface="Arial"/>
              </a:rPr>
              <a:t>behave </a:t>
            </a:r>
            <a:r>
              <a:rPr sz="3200" dirty="0">
                <a:latin typeface="Arial"/>
                <a:cs typeface="Arial"/>
              </a:rPr>
              <a:t>in </a:t>
            </a:r>
            <a:r>
              <a:rPr sz="3200" spc="-5" dirty="0">
                <a:latin typeface="Arial"/>
                <a:cs typeface="Arial"/>
              </a:rPr>
              <a:t>much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  same way as </a:t>
            </a:r>
            <a:r>
              <a:rPr sz="3200" spc="-5" dirty="0">
                <a:latin typeface="Arial"/>
                <a:cs typeface="Arial"/>
              </a:rPr>
              <a:t>built </a:t>
            </a:r>
            <a:r>
              <a:rPr sz="3200" dirty="0">
                <a:latin typeface="Arial"/>
                <a:cs typeface="Arial"/>
              </a:rPr>
              <a:t>in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types.</a:t>
            </a:r>
            <a:endParaRPr sz="3200">
              <a:latin typeface="Arial"/>
              <a:cs typeface="Arial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375"/>
              <a:buChar char=""/>
              <a:tabLst>
                <a:tab pos="287020" algn="l"/>
              </a:tabLst>
            </a:pPr>
            <a:r>
              <a:rPr sz="3200" dirty="0">
                <a:latin typeface="Arial"/>
                <a:cs typeface="Arial"/>
              </a:rPr>
              <a:t>C++ has </a:t>
            </a:r>
            <a:r>
              <a:rPr sz="3200" spc="-5" dirty="0">
                <a:latin typeface="Arial"/>
                <a:cs typeface="Arial"/>
              </a:rPr>
              <a:t>ability </a:t>
            </a:r>
            <a:r>
              <a:rPr sz="3200" dirty="0">
                <a:latin typeface="Arial"/>
                <a:cs typeface="Arial"/>
              </a:rPr>
              <a:t>to provide the </a:t>
            </a:r>
            <a:r>
              <a:rPr sz="3200" spc="-30" dirty="0">
                <a:latin typeface="Arial"/>
                <a:cs typeface="Arial"/>
              </a:rPr>
              <a:t>operators  </a:t>
            </a:r>
            <a:r>
              <a:rPr sz="3200" dirty="0">
                <a:latin typeface="Arial"/>
                <a:cs typeface="Arial"/>
              </a:rPr>
              <a:t>with a </a:t>
            </a:r>
            <a:r>
              <a:rPr sz="3200" spc="-5" dirty="0">
                <a:latin typeface="Arial"/>
                <a:cs typeface="Arial"/>
              </a:rPr>
              <a:t>special meanings for </a:t>
            </a:r>
            <a:r>
              <a:rPr sz="3200" dirty="0">
                <a:latin typeface="Arial"/>
                <a:cs typeface="Arial"/>
              </a:rPr>
              <a:t>a </a:t>
            </a:r>
            <a:r>
              <a:rPr sz="3200" spc="-5" dirty="0">
                <a:latin typeface="Arial"/>
                <a:cs typeface="Arial"/>
              </a:rPr>
              <a:t>data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type.</a:t>
            </a:r>
            <a:endParaRPr sz="3200">
              <a:latin typeface="Arial"/>
              <a:cs typeface="Arial"/>
            </a:endParaRPr>
          </a:p>
          <a:p>
            <a:pPr marL="286385" marR="2736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375"/>
              <a:buChar char=""/>
              <a:tabLst>
                <a:tab pos="287020" algn="l"/>
              </a:tabLst>
            </a:pPr>
            <a:r>
              <a:rPr sz="3200" dirty="0">
                <a:latin typeface="Arial"/>
                <a:cs typeface="Arial"/>
              </a:rPr>
              <a:t>The </a:t>
            </a:r>
            <a:r>
              <a:rPr sz="3200" spc="-5" dirty="0">
                <a:latin typeface="Arial"/>
                <a:cs typeface="Arial"/>
              </a:rPr>
              <a:t>mechanism </a:t>
            </a:r>
            <a:r>
              <a:rPr sz="3200" dirty="0">
                <a:latin typeface="Arial"/>
                <a:cs typeface="Arial"/>
              </a:rPr>
              <a:t>of </a:t>
            </a:r>
            <a:r>
              <a:rPr sz="3200" spc="-5" dirty="0">
                <a:latin typeface="Arial"/>
                <a:cs typeface="Arial"/>
              </a:rPr>
              <a:t>giving </a:t>
            </a:r>
            <a:r>
              <a:rPr sz="3200" dirty="0">
                <a:latin typeface="Arial"/>
                <a:cs typeface="Arial"/>
              </a:rPr>
              <a:t>such </a:t>
            </a:r>
            <a:r>
              <a:rPr sz="3200" spc="-75" dirty="0">
                <a:latin typeface="Arial"/>
                <a:cs typeface="Arial"/>
              </a:rPr>
              <a:t>special  </a:t>
            </a:r>
            <a:r>
              <a:rPr sz="3200" spc="-5" dirty="0">
                <a:latin typeface="Arial"/>
                <a:cs typeface="Arial"/>
              </a:rPr>
              <a:t>meaning </a:t>
            </a:r>
            <a:r>
              <a:rPr sz="3200" dirty="0">
                <a:latin typeface="Arial"/>
                <a:cs typeface="Arial"/>
              </a:rPr>
              <a:t>to an </a:t>
            </a:r>
            <a:r>
              <a:rPr sz="3200" spc="-5" dirty="0">
                <a:latin typeface="Arial"/>
                <a:cs typeface="Arial"/>
              </a:rPr>
              <a:t>operator </a:t>
            </a:r>
            <a:r>
              <a:rPr sz="3200" dirty="0">
                <a:latin typeface="Arial"/>
                <a:cs typeface="Arial"/>
              </a:rPr>
              <a:t>is known as  </a:t>
            </a:r>
            <a:r>
              <a:rPr sz="3200" spc="-5" dirty="0">
                <a:latin typeface="Arial"/>
                <a:cs typeface="Arial"/>
              </a:rPr>
              <a:t>operator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overloading.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7121" y="6331533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5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690498"/>
            <a:ext cx="6349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Why Operator</a:t>
            </a:r>
            <a:r>
              <a:rPr dirty="0"/>
              <a:t> </a:t>
            </a:r>
            <a:r>
              <a:rPr spc="-5" dirty="0"/>
              <a:t>Overloading?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7121" y="6331533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6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1395958"/>
            <a:ext cx="7015480" cy="31400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Readable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code</a:t>
            </a:r>
            <a:endParaRPr sz="2600">
              <a:latin typeface="Arial"/>
              <a:cs typeface="Arial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Extension of language to include </a:t>
            </a:r>
            <a:r>
              <a:rPr sz="2600" spc="-35" dirty="0">
                <a:latin typeface="Arial"/>
                <a:cs typeface="Arial"/>
              </a:rPr>
              <a:t>user-defined  </a:t>
            </a:r>
            <a:r>
              <a:rPr sz="2600" dirty="0">
                <a:latin typeface="Arial"/>
                <a:cs typeface="Arial"/>
              </a:rPr>
              <a:t>types</a:t>
            </a:r>
            <a:endParaRPr sz="2600">
              <a:latin typeface="Arial"/>
              <a:cs typeface="Arial"/>
            </a:endParaRPr>
          </a:p>
          <a:p>
            <a:pPr marL="606425">
              <a:lnSpc>
                <a:spcPct val="100000"/>
              </a:lnSpc>
              <a:spcBef>
                <a:spcPts val="405"/>
              </a:spcBef>
            </a:pPr>
            <a:r>
              <a:rPr sz="1700" spc="-445" dirty="0">
                <a:solidFill>
                  <a:srgbClr val="E6B0AB"/>
                </a:solidFill>
                <a:latin typeface="Arial"/>
                <a:cs typeface="Arial"/>
              </a:rPr>
              <a:t></a:t>
            </a:r>
            <a:r>
              <a:rPr sz="1700" spc="-420" dirty="0">
                <a:solidFill>
                  <a:srgbClr val="E6B0AB"/>
                </a:solidFill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I.e.,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classes</a:t>
            </a:r>
            <a:endParaRPr sz="2000">
              <a:latin typeface="Arial"/>
              <a:cs typeface="Arial"/>
            </a:endParaRPr>
          </a:p>
          <a:p>
            <a:pPr marL="286385" indent="-274320">
              <a:lnSpc>
                <a:spcPct val="100000"/>
              </a:lnSpc>
              <a:spcBef>
                <a:spcPts val="590"/>
              </a:spcBef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Make operators sensitive to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context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D24717"/>
              </a:buClr>
              <a:buFont typeface="Arial"/>
              <a:buChar char=""/>
            </a:pPr>
            <a:endParaRPr sz="3750">
              <a:latin typeface="Arial"/>
              <a:cs typeface="Arial"/>
            </a:endParaRPr>
          </a:p>
          <a:p>
            <a:pPr marL="286385" indent="-274320">
              <a:lnSpc>
                <a:spcPct val="100000"/>
              </a:lnSpc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Generalization of function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overloading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203149"/>
            <a:ext cx="33293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Simple</a:t>
            </a:r>
            <a:r>
              <a:rPr sz="3600" spc="-65" dirty="0"/>
              <a:t> </a:t>
            </a:r>
            <a:r>
              <a:rPr sz="3600" spc="-5" dirty="0"/>
              <a:t>Example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287121" y="6331533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7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084834"/>
            <a:ext cx="5594985" cy="33788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6385" marR="2013585" indent="-274320">
              <a:lnSpc>
                <a:spcPct val="80000"/>
              </a:lnSpc>
              <a:spcBef>
                <a:spcPts val="675"/>
              </a:spcBef>
            </a:pPr>
            <a:r>
              <a:rPr sz="2400" b="1" spc="-5" dirty="0">
                <a:latin typeface="Courier New"/>
                <a:cs typeface="Courier New"/>
              </a:rPr>
              <a:t>class </a:t>
            </a:r>
            <a:r>
              <a:rPr sz="2400" b="1" spc="-10" dirty="0">
                <a:latin typeface="Courier New"/>
                <a:cs typeface="Courier New"/>
              </a:rPr>
              <a:t>complex </a:t>
            </a:r>
            <a:r>
              <a:rPr sz="2400" b="1" dirty="0">
                <a:latin typeface="Courier New"/>
                <a:cs typeface="Courier New"/>
              </a:rPr>
              <a:t>{  </a:t>
            </a:r>
            <a:r>
              <a:rPr sz="2400" b="1" spc="-5" dirty="0">
                <a:latin typeface="Courier New"/>
                <a:cs typeface="Courier New"/>
              </a:rPr>
              <a:t>double </a:t>
            </a:r>
            <a:r>
              <a:rPr sz="2400" b="1" spc="-10" dirty="0">
                <a:latin typeface="Courier New"/>
                <a:cs typeface="Courier New"/>
              </a:rPr>
              <a:t>real,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imag;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595"/>
              </a:lnSpc>
              <a:spcBef>
                <a:spcPts val="25"/>
              </a:spcBef>
            </a:pPr>
            <a:r>
              <a:rPr sz="2400" b="1" spc="-5" dirty="0">
                <a:latin typeface="Courier New"/>
                <a:cs typeface="Courier New"/>
              </a:rPr>
              <a:t>public:</a:t>
            </a:r>
            <a:endParaRPr sz="2400">
              <a:latin typeface="Courier New"/>
              <a:cs typeface="Courier New"/>
            </a:endParaRPr>
          </a:p>
          <a:p>
            <a:pPr marL="927100" marR="5080" indent="-640715">
              <a:lnSpc>
                <a:spcPct val="80000"/>
              </a:lnSpc>
              <a:spcBef>
                <a:spcPts val="290"/>
              </a:spcBef>
            </a:pPr>
            <a:r>
              <a:rPr sz="2400" b="1" spc="-10" dirty="0">
                <a:latin typeface="Courier New"/>
                <a:cs typeface="Courier New"/>
              </a:rPr>
              <a:t>complex(double r, double </a:t>
            </a:r>
            <a:r>
              <a:rPr sz="2400" b="1" spc="-5" dirty="0">
                <a:latin typeface="Courier New"/>
                <a:cs typeface="Courier New"/>
              </a:rPr>
              <a:t>i) </a:t>
            </a:r>
            <a:r>
              <a:rPr sz="2400" b="1" dirty="0">
                <a:latin typeface="Courier New"/>
                <a:cs typeface="Courier New"/>
              </a:rPr>
              <a:t>:  </a:t>
            </a:r>
            <a:r>
              <a:rPr sz="2400" b="1" spc="-10" dirty="0">
                <a:latin typeface="Courier New"/>
                <a:cs typeface="Courier New"/>
              </a:rPr>
              <a:t>real(r), </a:t>
            </a:r>
            <a:r>
              <a:rPr sz="2400" b="1" spc="-5" dirty="0">
                <a:latin typeface="Courier New"/>
                <a:cs typeface="Courier New"/>
              </a:rPr>
              <a:t>imag(i)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80"/>
              </a:lnSpc>
              <a:spcBef>
                <a:spcPts val="20"/>
              </a:spcBef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286385" marR="188595" indent="-274320">
              <a:lnSpc>
                <a:spcPct val="89400"/>
              </a:lnSpc>
              <a:spcBef>
                <a:spcPts val="355"/>
              </a:spcBef>
            </a:pPr>
            <a:r>
              <a:rPr sz="2350" spc="-595" dirty="0">
                <a:solidFill>
                  <a:srgbClr val="D24717"/>
                </a:solidFill>
                <a:latin typeface="Arial"/>
                <a:cs typeface="Arial"/>
              </a:rPr>
              <a:t></a:t>
            </a:r>
            <a:r>
              <a:rPr sz="2350" spc="-54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Would </a:t>
            </a:r>
            <a:r>
              <a:rPr sz="2800" spc="-5" dirty="0">
                <a:latin typeface="Arial"/>
                <a:cs typeface="Arial"/>
              </a:rPr>
              <a:t>like to be </a:t>
            </a:r>
            <a:r>
              <a:rPr sz="2800" dirty="0">
                <a:latin typeface="Arial"/>
                <a:cs typeface="Arial"/>
              </a:rPr>
              <a:t>able </a:t>
            </a:r>
            <a:r>
              <a:rPr sz="2800" spc="-5" dirty="0">
                <a:latin typeface="Arial"/>
                <a:cs typeface="Arial"/>
              </a:rPr>
              <a:t>to </a:t>
            </a:r>
            <a:r>
              <a:rPr sz="2800" dirty="0">
                <a:latin typeface="Arial"/>
                <a:cs typeface="Arial"/>
              </a:rPr>
              <a:t>write:–  </a:t>
            </a:r>
            <a:r>
              <a:rPr sz="2400" b="1" spc="-5" dirty="0">
                <a:latin typeface="Courier New"/>
                <a:cs typeface="Courier New"/>
              </a:rPr>
              <a:t>complex </a:t>
            </a:r>
            <a:r>
              <a:rPr sz="2400" b="1" dirty="0">
                <a:latin typeface="Courier New"/>
                <a:cs typeface="Courier New"/>
              </a:rPr>
              <a:t>a = </a:t>
            </a:r>
            <a:r>
              <a:rPr sz="2400" b="1" spc="-10" dirty="0">
                <a:latin typeface="Courier New"/>
                <a:cs typeface="Courier New"/>
              </a:rPr>
              <a:t>complex(1, 3.0);  </a:t>
            </a:r>
            <a:r>
              <a:rPr sz="2400" b="1" spc="-5" dirty="0">
                <a:latin typeface="Courier New"/>
                <a:cs typeface="Courier New"/>
              </a:rPr>
              <a:t>complex </a:t>
            </a:r>
            <a:r>
              <a:rPr sz="2400" b="1" dirty="0">
                <a:latin typeface="Courier New"/>
                <a:cs typeface="Courier New"/>
              </a:rPr>
              <a:t>b = </a:t>
            </a:r>
            <a:r>
              <a:rPr sz="2400" b="1" spc="-10" dirty="0">
                <a:latin typeface="Courier New"/>
                <a:cs typeface="Courier New"/>
              </a:rPr>
              <a:t>complex(1.2,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2);</a:t>
            </a:r>
            <a:endParaRPr sz="2400">
              <a:latin typeface="Courier New"/>
              <a:cs typeface="Courier New"/>
            </a:endParaRPr>
          </a:p>
          <a:p>
            <a:pPr marL="286385">
              <a:lnSpc>
                <a:spcPts val="2305"/>
              </a:lnSpc>
            </a:pPr>
            <a:r>
              <a:rPr sz="2400" b="1" spc="-5" dirty="0">
                <a:latin typeface="Courier New"/>
                <a:cs typeface="Courier New"/>
              </a:rPr>
              <a:t>complex </a:t>
            </a:r>
            <a:r>
              <a:rPr sz="2400" b="1" dirty="0">
                <a:latin typeface="Courier New"/>
                <a:cs typeface="Courier New"/>
              </a:rPr>
              <a:t>c =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b;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859" y="4657725"/>
            <a:ext cx="3860165" cy="9772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2012950">
              <a:lnSpc>
                <a:spcPts val="2300"/>
              </a:lnSpc>
              <a:spcBef>
                <a:spcPts val="660"/>
              </a:spcBef>
            </a:pPr>
            <a:r>
              <a:rPr sz="2400" b="1" dirty="0">
                <a:latin typeface="Courier New"/>
                <a:cs typeface="Courier New"/>
              </a:rPr>
              <a:t>a = b +</a:t>
            </a:r>
            <a:r>
              <a:rPr sz="2400" b="1" spc="-14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c;  </a:t>
            </a:r>
            <a:r>
              <a:rPr sz="2400" b="1" dirty="0">
                <a:latin typeface="Courier New"/>
                <a:cs typeface="Courier New"/>
              </a:rPr>
              <a:t> b =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b+c*a;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330"/>
              </a:lnSpc>
            </a:pPr>
            <a:r>
              <a:rPr sz="2400" b="1" dirty="0">
                <a:latin typeface="Courier New"/>
                <a:cs typeface="Courier New"/>
              </a:rPr>
              <a:t>c = </a:t>
            </a:r>
            <a:r>
              <a:rPr sz="2400" b="1" spc="-5" dirty="0">
                <a:latin typeface="Courier New"/>
                <a:cs typeface="Courier New"/>
              </a:rPr>
              <a:t>a*b </a:t>
            </a:r>
            <a:r>
              <a:rPr sz="2400" b="1" dirty="0">
                <a:latin typeface="Courier New"/>
                <a:cs typeface="Courier New"/>
              </a:rPr>
              <a:t>+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complex(1,2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4854" y="5307069"/>
            <a:ext cx="36576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80"/>
              </a:lnSpc>
            </a:pPr>
            <a:r>
              <a:rPr sz="2400" b="1" spc="-5" dirty="0">
                <a:latin typeface="Courier New"/>
                <a:cs typeface="Courier New"/>
              </a:rPr>
              <a:t>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7447" y="4800600"/>
            <a:ext cx="4417060" cy="1196340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"/>
                <a:cs typeface="Arial"/>
              </a:rPr>
              <a:t>I.e., </a:t>
            </a:r>
            <a:r>
              <a:rPr sz="2400" spc="-5" dirty="0">
                <a:latin typeface="Arial"/>
                <a:cs typeface="Arial"/>
              </a:rPr>
              <a:t>would like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write</a:t>
            </a:r>
            <a:endParaRPr sz="2400">
              <a:latin typeface="Arial"/>
              <a:cs typeface="Arial"/>
            </a:endParaRPr>
          </a:p>
          <a:p>
            <a:pPr marL="92075" marR="9969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ordinary </a:t>
            </a:r>
            <a:r>
              <a:rPr sz="2400" dirty="0">
                <a:latin typeface="Arial"/>
                <a:cs typeface="Arial"/>
              </a:rPr>
              <a:t>arithmetic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expressions  on </a:t>
            </a:r>
            <a:r>
              <a:rPr sz="2400" dirty="0">
                <a:latin typeface="Arial"/>
                <a:cs typeface="Arial"/>
              </a:rPr>
              <a:t>this </a:t>
            </a:r>
            <a:r>
              <a:rPr sz="2400" spc="-5" dirty="0">
                <a:latin typeface="Arial"/>
                <a:cs typeface="Arial"/>
              </a:rPr>
              <a:t>user-defined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80213"/>
            <a:ext cx="7103745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With Operator Overloading, </a:t>
            </a:r>
            <a:r>
              <a:rPr spc="-45" dirty="0"/>
              <a:t>We  </a:t>
            </a:r>
            <a:r>
              <a:rPr spc="-5" dirty="0"/>
              <a:t>Can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7121" y="6331533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8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520697"/>
            <a:ext cx="7783195" cy="420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4202430" indent="-27495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class </a:t>
            </a:r>
            <a:r>
              <a:rPr sz="2400" b="1" spc="-10" dirty="0">
                <a:latin typeface="Courier New"/>
                <a:cs typeface="Courier New"/>
              </a:rPr>
              <a:t>complex </a:t>
            </a:r>
            <a:r>
              <a:rPr sz="2400" b="1" dirty="0">
                <a:latin typeface="Courier New"/>
                <a:cs typeface="Courier New"/>
              </a:rPr>
              <a:t>{  </a:t>
            </a:r>
            <a:r>
              <a:rPr sz="2400" b="1" spc="-5" dirty="0">
                <a:latin typeface="Courier New"/>
                <a:cs typeface="Courier New"/>
              </a:rPr>
              <a:t>double real,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imag;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5" dirty="0">
                <a:latin typeface="Courier New"/>
                <a:cs typeface="Courier New"/>
              </a:rPr>
              <a:t>public:</a:t>
            </a:r>
            <a:endParaRPr sz="2400">
              <a:latin typeface="Courier New"/>
              <a:cs typeface="Courier New"/>
            </a:endParaRPr>
          </a:p>
          <a:p>
            <a:pPr marL="927100" marR="2193290" indent="-640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complex(double r, double </a:t>
            </a:r>
            <a:r>
              <a:rPr sz="2400" b="1" spc="-5" dirty="0">
                <a:latin typeface="Courier New"/>
                <a:cs typeface="Courier New"/>
              </a:rPr>
              <a:t>i) </a:t>
            </a:r>
            <a:r>
              <a:rPr sz="2400" b="1" dirty="0">
                <a:latin typeface="Courier New"/>
                <a:cs typeface="Courier New"/>
              </a:rPr>
              <a:t>:  </a:t>
            </a:r>
            <a:r>
              <a:rPr sz="2400" b="1" spc="-10" dirty="0">
                <a:latin typeface="Courier New"/>
                <a:cs typeface="Courier New"/>
              </a:rPr>
              <a:t>real(r), imag(i)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{}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Courier New"/>
              <a:cs typeface="Courier New"/>
            </a:endParaRPr>
          </a:p>
          <a:p>
            <a:pPr marL="287020" marR="5080" algn="just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complex </a:t>
            </a:r>
            <a:r>
              <a:rPr sz="2400" b="1" spc="-10" dirty="0">
                <a:latin typeface="Courier New"/>
                <a:cs typeface="Courier New"/>
              </a:rPr>
              <a:t>operator+(complex </a:t>
            </a:r>
            <a:r>
              <a:rPr sz="2400" b="1" spc="-5" dirty="0">
                <a:latin typeface="Courier New"/>
                <a:cs typeface="Courier New"/>
              </a:rPr>
              <a:t>a, </a:t>
            </a:r>
            <a:r>
              <a:rPr sz="2400" b="1" spc="-10" dirty="0">
                <a:latin typeface="Courier New"/>
                <a:cs typeface="Courier New"/>
              </a:rPr>
              <a:t>complex b);  </a:t>
            </a:r>
            <a:r>
              <a:rPr sz="2400" b="1" spc="-5" dirty="0">
                <a:latin typeface="Courier New"/>
                <a:cs typeface="Courier New"/>
              </a:rPr>
              <a:t>complex </a:t>
            </a:r>
            <a:r>
              <a:rPr sz="2400" b="1" spc="-10" dirty="0">
                <a:latin typeface="Courier New"/>
                <a:cs typeface="Courier New"/>
              </a:rPr>
              <a:t>operator*(complex </a:t>
            </a:r>
            <a:r>
              <a:rPr sz="2400" b="1" spc="-5" dirty="0">
                <a:latin typeface="Courier New"/>
                <a:cs typeface="Courier New"/>
              </a:rPr>
              <a:t>a, </a:t>
            </a:r>
            <a:r>
              <a:rPr sz="2400" b="1" spc="-10" dirty="0">
                <a:latin typeface="Courier New"/>
                <a:cs typeface="Courier New"/>
              </a:rPr>
              <a:t>complex b);  complex&amp; operator=(complex </a:t>
            </a:r>
            <a:r>
              <a:rPr sz="2400" b="1" spc="-5" dirty="0">
                <a:latin typeface="Courier New"/>
                <a:cs typeface="Courier New"/>
              </a:rPr>
              <a:t>a, </a:t>
            </a:r>
            <a:r>
              <a:rPr sz="2400" b="1" spc="-10" dirty="0">
                <a:latin typeface="Courier New"/>
                <a:cs typeface="Courier New"/>
              </a:rPr>
              <a:t>complex</a:t>
            </a:r>
            <a:r>
              <a:rPr sz="2400" b="1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b);</a:t>
            </a:r>
            <a:endParaRPr sz="24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...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690498"/>
            <a:ext cx="35801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General</a:t>
            </a:r>
            <a:r>
              <a:rPr spc="-60" dirty="0"/>
              <a:t> </a:t>
            </a:r>
            <a:r>
              <a:rPr spc="-5" dirty="0"/>
              <a:t>Format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7121" y="6331533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9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1444497"/>
            <a:ext cx="6047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0" dirty="0">
                <a:latin typeface="Courier New"/>
                <a:cs typeface="Courier New"/>
              </a:rPr>
              <a:t>returnType</a:t>
            </a:r>
            <a:r>
              <a:rPr sz="2400" b="1" i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operator*(</a:t>
            </a:r>
            <a:r>
              <a:rPr sz="2400" b="1" i="1" spc="-10" dirty="0">
                <a:latin typeface="Courier New"/>
                <a:cs typeface="Courier New"/>
              </a:rPr>
              <a:t>parameters</a:t>
            </a:r>
            <a:r>
              <a:rPr sz="2400" b="1" spc="-10" dirty="0">
                <a:latin typeface="Courier New"/>
                <a:cs typeface="Courier New"/>
              </a:rPr>
              <a:t>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7713" y="1867812"/>
            <a:ext cx="986790" cy="7448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33985" algn="ctr">
              <a:lnSpc>
                <a:spcPct val="100000"/>
              </a:lnSpc>
              <a:spcBef>
                <a:spcPts val="305"/>
              </a:spcBef>
            </a:pPr>
            <a:r>
              <a:rPr sz="2400" b="1" dirty="0">
                <a:latin typeface="Symbol"/>
                <a:cs typeface="Symbol"/>
              </a:rPr>
              <a:t>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2000" i="1" dirty="0">
                <a:latin typeface="Arial"/>
                <a:cs typeface="Arial"/>
              </a:rPr>
              <a:t>any</a:t>
            </a:r>
            <a:r>
              <a:rPr sz="2000" i="1" spc="-8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type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4404" y="1867812"/>
            <a:ext cx="975994" cy="7448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66675" algn="ctr">
              <a:lnSpc>
                <a:spcPct val="100000"/>
              </a:lnSpc>
              <a:spcBef>
                <a:spcPts val="305"/>
              </a:spcBef>
            </a:pPr>
            <a:r>
              <a:rPr sz="2400" b="1" dirty="0">
                <a:latin typeface="Symbol"/>
                <a:cs typeface="Symbol"/>
              </a:rPr>
              <a:t></a:t>
            </a:r>
            <a:endParaRPr sz="2400">
              <a:latin typeface="Symbol"/>
              <a:cs typeface="Symbol"/>
            </a:endParaRPr>
          </a:p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2000" i="1" dirty="0">
                <a:latin typeface="Arial"/>
                <a:cs typeface="Arial"/>
              </a:rPr>
              <a:t>k</a:t>
            </a:r>
            <a:r>
              <a:rPr sz="2000" i="1" spc="5" dirty="0">
                <a:latin typeface="Arial"/>
                <a:cs typeface="Arial"/>
              </a:rPr>
              <a:t>e</a:t>
            </a:r>
            <a:r>
              <a:rPr sz="2000" i="1" dirty="0">
                <a:latin typeface="Arial"/>
                <a:cs typeface="Arial"/>
              </a:rPr>
              <a:t>y</a:t>
            </a:r>
            <a:r>
              <a:rPr sz="2000" i="1" spc="10" dirty="0">
                <a:latin typeface="Arial"/>
                <a:cs typeface="Arial"/>
              </a:rPr>
              <a:t>w</a:t>
            </a:r>
            <a:r>
              <a:rPr sz="2000" i="1" dirty="0">
                <a:latin typeface="Arial"/>
                <a:cs typeface="Arial"/>
              </a:rPr>
              <a:t>ord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9605" y="1867812"/>
            <a:ext cx="1845310" cy="7448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305"/>
              </a:spcBef>
            </a:pPr>
            <a:r>
              <a:rPr sz="2400" b="1" dirty="0">
                <a:latin typeface="Symbol"/>
                <a:cs typeface="Symbol"/>
              </a:rPr>
              <a:t>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2000" i="1" dirty="0">
                <a:latin typeface="Arial"/>
                <a:cs typeface="Arial"/>
              </a:rPr>
              <a:t>operator</a:t>
            </a:r>
            <a:r>
              <a:rPr sz="2000" i="1" spc="-1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symbol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444" y="3163646"/>
            <a:ext cx="7215505" cy="2225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250825" indent="-27432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3928"/>
              <a:buFont typeface="Arial"/>
              <a:buChar char=""/>
              <a:tabLst>
                <a:tab pos="287020" algn="l"/>
              </a:tabLst>
            </a:pPr>
            <a:r>
              <a:rPr sz="2800" i="1" spc="-5" dirty="0">
                <a:latin typeface="Arial"/>
                <a:cs typeface="Arial"/>
              </a:rPr>
              <a:t>Return </a:t>
            </a:r>
            <a:r>
              <a:rPr sz="2800" i="1" dirty="0">
                <a:latin typeface="Arial"/>
                <a:cs typeface="Arial"/>
              </a:rPr>
              <a:t>type </a:t>
            </a:r>
            <a:r>
              <a:rPr sz="2800" spc="-5" dirty="0">
                <a:latin typeface="Arial"/>
                <a:cs typeface="Arial"/>
              </a:rPr>
              <a:t>may </a:t>
            </a:r>
            <a:r>
              <a:rPr sz="2800" dirty="0">
                <a:latin typeface="Arial"/>
                <a:cs typeface="Arial"/>
              </a:rPr>
              <a:t>be whatever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spc="-55" dirty="0">
                <a:latin typeface="Arial"/>
                <a:cs typeface="Arial"/>
              </a:rPr>
              <a:t>operator  </a:t>
            </a:r>
            <a:r>
              <a:rPr sz="2800" dirty="0">
                <a:latin typeface="Arial"/>
                <a:cs typeface="Arial"/>
              </a:rPr>
              <a:t>returns</a:t>
            </a:r>
            <a:endParaRPr sz="2800">
              <a:latin typeface="Arial"/>
              <a:cs typeface="Arial"/>
            </a:endParaRPr>
          </a:p>
          <a:p>
            <a:pPr marL="332105">
              <a:lnSpc>
                <a:spcPct val="100000"/>
              </a:lnSpc>
              <a:spcBef>
                <a:spcPts val="415"/>
              </a:spcBef>
            </a:pPr>
            <a:r>
              <a:rPr sz="2050" spc="-545" dirty="0">
                <a:solidFill>
                  <a:srgbClr val="9B2C1F"/>
                </a:solidFill>
                <a:latin typeface="Arial"/>
                <a:cs typeface="Arial"/>
              </a:rPr>
              <a:t> </a:t>
            </a:r>
            <a:r>
              <a:rPr sz="2400" spc="-5" dirty="0">
                <a:latin typeface="Arial"/>
                <a:cs typeface="Arial"/>
              </a:rPr>
              <a:t>Including a reference </a:t>
            </a:r>
            <a:r>
              <a:rPr sz="2400" dirty="0">
                <a:latin typeface="Arial"/>
                <a:cs typeface="Arial"/>
              </a:rPr>
              <a:t>to the </a:t>
            </a:r>
            <a:r>
              <a:rPr sz="2400" spc="-5" dirty="0">
                <a:latin typeface="Arial"/>
                <a:cs typeface="Arial"/>
              </a:rPr>
              <a:t>object </a:t>
            </a:r>
            <a:r>
              <a:rPr sz="2400" dirty="0">
                <a:latin typeface="Arial"/>
                <a:cs typeface="Arial"/>
              </a:rPr>
              <a:t>of the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operand</a:t>
            </a:r>
            <a:endParaRPr sz="2400">
              <a:latin typeface="Arial"/>
              <a:cs typeface="Arial"/>
            </a:endParaRPr>
          </a:p>
          <a:p>
            <a:pPr marL="286385" marR="210185" indent="-274320">
              <a:lnSpc>
                <a:spcPct val="100000"/>
              </a:lnSpc>
              <a:spcBef>
                <a:spcPts val="585"/>
              </a:spcBef>
              <a:buClr>
                <a:srgbClr val="D24717"/>
              </a:buClr>
              <a:buSzPct val="83928"/>
              <a:buFont typeface="Arial"/>
              <a:buChar char=""/>
              <a:tabLst>
                <a:tab pos="287020" algn="l"/>
              </a:tabLst>
            </a:pPr>
            <a:r>
              <a:rPr sz="2800" i="1" spc="-5" dirty="0">
                <a:latin typeface="Arial"/>
                <a:cs typeface="Arial"/>
              </a:rPr>
              <a:t>Operator </a:t>
            </a:r>
            <a:r>
              <a:rPr sz="2800" i="1" dirty="0">
                <a:latin typeface="Arial"/>
                <a:cs typeface="Arial"/>
              </a:rPr>
              <a:t>symbol </a:t>
            </a:r>
            <a:r>
              <a:rPr sz="2800" spc="-5" dirty="0">
                <a:latin typeface="Arial"/>
                <a:cs typeface="Arial"/>
              </a:rPr>
              <a:t>may be </a:t>
            </a:r>
            <a:r>
              <a:rPr sz="2800" dirty="0">
                <a:latin typeface="Arial"/>
                <a:cs typeface="Arial"/>
              </a:rPr>
              <a:t>any </a:t>
            </a:r>
            <a:r>
              <a:rPr sz="2800" spc="-45" dirty="0">
                <a:latin typeface="Arial"/>
                <a:cs typeface="Arial"/>
              </a:rPr>
              <a:t>overloadable  </a:t>
            </a:r>
            <a:r>
              <a:rPr sz="2800" dirty="0">
                <a:latin typeface="Arial"/>
                <a:cs typeface="Arial"/>
              </a:rPr>
              <a:t>operator from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list.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690498"/>
            <a:ext cx="36087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latin typeface="Arial"/>
                <a:cs typeface="Arial"/>
              </a:rPr>
              <a:t>C</a:t>
            </a:r>
            <a:r>
              <a:rPr spc="-10" dirty="0"/>
              <a:t>++</a:t>
            </a:r>
            <a:r>
              <a:rPr spc="-50" dirty="0"/>
              <a:t> </a:t>
            </a:r>
            <a:r>
              <a:rPr spc="-5" dirty="0"/>
              <a:t>Philosophy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7121" y="6331533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10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1405867"/>
            <a:ext cx="7471409" cy="380872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625"/>
              </a:spcBef>
              <a:buClr>
                <a:srgbClr val="D24717"/>
              </a:buClr>
              <a:buSzPct val="84615"/>
              <a:buFont typeface="Arial"/>
              <a:buChar char=""/>
              <a:tabLst>
                <a:tab pos="287020" algn="l"/>
              </a:tabLst>
            </a:pPr>
            <a:r>
              <a:rPr sz="2600" i="1" dirty="0">
                <a:latin typeface="Arial"/>
                <a:cs typeface="Arial"/>
              </a:rPr>
              <a:t>All </a:t>
            </a:r>
            <a:r>
              <a:rPr sz="2600" dirty="0">
                <a:latin typeface="Arial"/>
                <a:cs typeface="Arial"/>
              </a:rPr>
              <a:t>operators have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context</a:t>
            </a:r>
            <a:endParaRPr sz="2600">
              <a:latin typeface="Arial"/>
              <a:cs typeface="Arial"/>
            </a:endParaRPr>
          </a:p>
          <a:p>
            <a:pPr marL="835025" lvl="1" indent="-229235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5000"/>
              <a:buChar char=""/>
              <a:tabLst>
                <a:tab pos="835660" algn="l"/>
              </a:tabLst>
            </a:pPr>
            <a:r>
              <a:rPr sz="2000" spc="-5" dirty="0">
                <a:latin typeface="Arial"/>
                <a:cs typeface="Arial"/>
              </a:rPr>
              <a:t>Even the </a:t>
            </a:r>
            <a:r>
              <a:rPr sz="2000" dirty="0">
                <a:latin typeface="Arial"/>
                <a:cs typeface="Arial"/>
              </a:rPr>
              <a:t>simple “built-in” </a:t>
            </a:r>
            <a:r>
              <a:rPr sz="2000" spc="-5" dirty="0">
                <a:latin typeface="Arial"/>
                <a:cs typeface="Arial"/>
              </a:rPr>
              <a:t>operators </a:t>
            </a:r>
            <a:r>
              <a:rPr sz="2000" dirty="0">
                <a:latin typeface="Arial"/>
                <a:cs typeface="Arial"/>
              </a:rPr>
              <a:t>of </a:t>
            </a:r>
            <a:r>
              <a:rPr sz="2000" spc="-5" dirty="0">
                <a:latin typeface="Arial"/>
                <a:cs typeface="Arial"/>
              </a:rPr>
              <a:t>basic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  <a:p>
            <a:pPr marL="835025" lvl="1" indent="-229235">
              <a:lnSpc>
                <a:spcPct val="100000"/>
              </a:lnSpc>
              <a:spcBef>
                <a:spcPts val="200"/>
              </a:spcBef>
              <a:buClr>
                <a:srgbClr val="E6B0AB"/>
              </a:buClr>
              <a:buSzPct val="85000"/>
              <a:buChar char=""/>
              <a:tabLst>
                <a:tab pos="835660" algn="l"/>
              </a:tabLst>
            </a:pPr>
            <a:r>
              <a:rPr sz="2000" spc="-5" dirty="0">
                <a:latin typeface="Arial"/>
                <a:cs typeface="Arial"/>
              </a:rPr>
              <a:t>E.g., </a:t>
            </a:r>
            <a:r>
              <a:rPr sz="2200" b="1" spc="-5" dirty="0">
                <a:latin typeface="Courier New"/>
                <a:cs typeface="Courier New"/>
              </a:rPr>
              <a:t>'+', '-', '*', '/'</a:t>
            </a:r>
            <a:r>
              <a:rPr sz="2200" b="1" spc="-730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for numerical </a:t>
            </a:r>
            <a:r>
              <a:rPr sz="2000" spc="-5" dirty="0"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  <a:p>
            <a:pPr marL="835025" marR="5080" lvl="1" indent="-228600">
              <a:lnSpc>
                <a:spcPct val="100000"/>
              </a:lnSpc>
              <a:spcBef>
                <a:spcPts val="610"/>
              </a:spcBef>
              <a:buClr>
                <a:srgbClr val="E6B0AB"/>
              </a:buClr>
              <a:buSzPct val="85000"/>
              <a:buChar char=""/>
              <a:tabLst>
                <a:tab pos="835660" algn="l"/>
              </a:tabLst>
            </a:pPr>
            <a:r>
              <a:rPr sz="2000" dirty="0">
                <a:latin typeface="Arial"/>
                <a:cs typeface="Arial"/>
              </a:rPr>
              <a:t>Compiler generators </a:t>
            </a:r>
            <a:r>
              <a:rPr sz="2000" spc="-5" dirty="0">
                <a:latin typeface="Arial"/>
                <a:cs typeface="Arial"/>
              </a:rPr>
              <a:t>different </a:t>
            </a:r>
            <a:r>
              <a:rPr sz="2000" dirty="0">
                <a:latin typeface="Arial"/>
                <a:cs typeface="Arial"/>
              </a:rPr>
              <a:t>code depending upon </a:t>
            </a:r>
            <a:r>
              <a:rPr sz="2000" spc="-5" dirty="0">
                <a:latin typeface="Arial"/>
                <a:cs typeface="Arial"/>
              </a:rPr>
              <a:t>type </a:t>
            </a:r>
            <a:r>
              <a:rPr sz="2000" spc="-160" dirty="0">
                <a:latin typeface="Arial"/>
                <a:cs typeface="Arial"/>
              </a:rPr>
              <a:t>of  </a:t>
            </a:r>
            <a:r>
              <a:rPr sz="2000" dirty="0">
                <a:latin typeface="Arial"/>
                <a:cs typeface="Arial"/>
              </a:rPr>
              <a:t>operands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E6B0AB"/>
              </a:buClr>
              <a:buFont typeface="Arial"/>
              <a:buChar char=""/>
            </a:pPr>
            <a:endParaRPr sz="2900">
              <a:latin typeface="Arial"/>
              <a:cs typeface="Arial"/>
            </a:endParaRPr>
          </a:p>
          <a:p>
            <a:pPr marL="286385" marR="339725" indent="-274320">
              <a:lnSpc>
                <a:spcPct val="100000"/>
              </a:lnSpc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Operator overloading is a generalization of </a:t>
            </a:r>
            <a:r>
              <a:rPr sz="2600" spc="-105" dirty="0">
                <a:latin typeface="Arial"/>
                <a:cs typeface="Arial"/>
              </a:rPr>
              <a:t>this  </a:t>
            </a:r>
            <a:r>
              <a:rPr sz="2600" dirty="0">
                <a:latin typeface="Arial"/>
                <a:cs typeface="Arial"/>
              </a:rPr>
              <a:t>feature to non-built-in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types</a:t>
            </a:r>
            <a:endParaRPr sz="2600">
              <a:latin typeface="Arial"/>
              <a:cs typeface="Arial"/>
            </a:endParaRPr>
          </a:p>
          <a:p>
            <a:pPr marL="835025" lvl="1" indent="-229235">
              <a:lnSpc>
                <a:spcPct val="100000"/>
              </a:lnSpc>
              <a:spcBef>
                <a:spcPts val="204"/>
              </a:spcBef>
              <a:buClr>
                <a:srgbClr val="E6B0AB"/>
              </a:buClr>
              <a:buSzPct val="85000"/>
              <a:buChar char=""/>
              <a:tabLst>
                <a:tab pos="835660" algn="l"/>
              </a:tabLst>
            </a:pPr>
            <a:r>
              <a:rPr sz="2000" spc="-5" dirty="0">
                <a:latin typeface="Arial"/>
                <a:cs typeface="Arial"/>
              </a:rPr>
              <a:t>E.g., </a:t>
            </a:r>
            <a:r>
              <a:rPr sz="2200" b="1" spc="-5" dirty="0">
                <a:latin typeface="Courier New"/>
                <a:cs typeface="Courier New"/>
              </a:rPr>
              <a:t>'&lt;&lt;', '&gt;&gt;'</a:t>
            </a:r>
            <a:r>
              <a:rPr sz="2200" b="1" spc="-865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for bit-shift operations and also for</a:t>
            </a:r>
            <a:endParaRPr sz="2000">
              <a:latin typeface="Arial"/>
              <a:cs typeface="Arial"/>
            </a:endParaRPr>
          </a:p>
          <a:p>
            <a:pPr marL="835025">
              <a:lnSpc>
                <a:spcPct val="100000"/>
              </a:lnSpc>
              <a:spcBef>
                <a:spcPts val="215"/>
              </a:spcBef>
            </a:pPr>
            <a:r>
              <a:rPr sz="2000" dirty="0">
                <a:latin typeface="Arial"/>
                <a:cs typeface="Arial"/>
              </a:rPr>
              <a:t>stream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690498"/>
            <a:ext cx="5534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latin typeface="Arial"/>
                <a:cs typeface="Arial"/>
              </a:rPr>
              <a:t>C</a:t>
            </a:r>
            <a:r>
              <a:rPr spc="-10" dirty="0"/>
              <a:t>++ </a:t>
            </a:r>
            <a:r>
              <a:rPr spc="-5" dirty="0"/>
              <a:t>Philosophy</a:t>
            </a:r>
            <a:r>
              <a:rPr spc="35" dirty="0"/>
              <a:t> </a:t>
            </a:r>
            <a:r>
              <a:rPr sz="2800" spc="-5" dirty="0"/>
              <a:t>(continued)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121" y="6331533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11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1432306"/>
            <a:ext cx="6613525" cy="365379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729615" indent="-274320">
              <a:lnSpc>
                <a:spcPts val="2810"/>
              </a:lnSpc>
              <a:spcBef>
                <a:spcPts val="455"/>
              </a:spcBef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Operators </a:t>
            </a:r>
            <a:r>
              <a:rPr sz="2600" i="1" dirty="0">
                <a:latin typeface="Arial"/>
                <a:cs typeface="Arial"/>
              </a:rPr>
              <a:t>retain </a:t>
            </a:r>
            <a:r>
              <a:rPr sz="2600" dirty="0">
                <a:latin typeface="Arial"/>
                <a:cs typeface="Arial"/>
              </a:rPr>
              <a:t>their precedence </a:t>
            </a:r>
            <a:r>
              <a:rPr sz="2600" spc="-140" dirty="0">
                <a:latin typeface="Arial"/>
                <a:cs typeface="Arial"/>
              </a:rPr>
              <a:t>and  </a:t>
            </a:r>
            <a:r>
              <a:rPr sz="2600" spc="-15" dirty="0">
                <a:latin typeface="Arial"/>
                <a:cs typeface="Arial"/>
              </a:rPr>
              <a:t>associativity, </a:t>
            </a:r>
            <a:r>
              <a:rPr sz="2600" dirty="0">
                <a:latin typeface="Arial"/>
                <a:cs typeface="Arial"/>
              </a:rPr>
              <a:t>even when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overloaded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D24717"/>
              </a:buClr>
              <a:buFont typeface="Arial"/>
              <a:buChar char=""/>
            </a:pPr>
            <a:endParaRPr sz="2400">
              <a:latin typeface="Arial"/>
              <a:cs typeface="Arial"/>
            </a:endParaRPr>
          </a:p>
          <a:p>
            <a:pPr marL="286385" indent="-274320">
              <a:lnSpc>
                <a:spcPct val="100000"/>
              </a:lnSpc>
              <a:spcBef>
                <a:spcPts val="5"/>
              </a:spcBef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Operators </a:t>
            </a:r>
            <a:r>
              <a:rPr sz="2600" i="1" dirty="0">
                <a:latin typeface="Arial"/>
                <a:cs typeface="Arial"/>
              </a:rPr>
              <a:t>retain </a:t>
            </a:r>
            <a:r>
              <a:rPr sz="2600" dirty="0">
                <a:latin typeface="Arial"/>
                <a:cs typeface="Arial"/>
              </a:rPr>
              <a:t>their number of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operands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Font typeface="Arial"/>
              <a:buChar char=""/>
            </a:pPr>
            <a:endParaRPr sz="2450">
              <a:latin typeface="Arial"/>
              <a:cs typeface="Arial"/>
            </a:endParaRPr>
          </a:p>
          <a:p>
            <a:pPr marL="286385" indent="-274320">
              <a:lnSpc>
                <a:spcPct val="100000"/>
              </a:lnSpc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Cannot redefine operators on built-in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types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D24717"/>
              </a:buClr>
              <a:buFont typeface="Arial"/>
              <a:buChar char=""/>
            </a:pPr>
            <a:endParaRPr sz="2450">
              <a:latin typeface="Arial"/>
              <a:cs typeface="Arial"/>
            </a:endParaRPr>
          </a:p>
          <a:p>
            <a:pPr marL="286385" indent="-274320">
              <a:lnSpc>
                <a:spcPct val="100000"/>
              </a:lnSpc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Not possible to define new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operators</a:t>
            </a:r>
            <a:endParaRPr sz="2600">
              <a:latin typeface="Arial"/>
              <a:cs typeface="Arial"/>
            </a:endParaRPr>
          </a:p>
          <a:p>
            <a:pPr marL="835025" marR="5080" indent="-228600">
              <a:lnSpc>
                <a:spcPts val="2160"/>
              </a:lnSpc>
              <a:spcBef>
                <a:spcPts val="440"/>
              </a:spcBef>
            </a:pPr>
            <a:r>
              <a:rPr sz="1700" spc="-445" dirty="0">
                <a:solidFill>
                  <a:srgbClr val="E6B0AB"/>
                </a:solidFill>
                <a:latin typeface="Arial"/>
                <a:cs typeface="Arial"/>
              </a:rPr>
              <a:t></a:t>
            </a:r>
            <a:r>
              <a:rPr sz="1700" spc="-420" dirty="0">
                <a:solidFill>
                  <a:srgbClr val="E6B0AB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Only (a subset of) the built-in </a:t>
            </a:r>
            <a:r>
              <a:rPr sz="2000" i="1" spc="5" dirty="0">
                <a:latin typeface="Arial"/>
                <a:cs typeface="Arial"/>
              </a:rPr>
              <a:t>C++ </a:t>
            </a:r>
            <a:r>
              <a:rPr sz="2000" dirty="0">
                <a:latin typeface="Arial"/>
                <a:cs typeface="Arial"/>
              </a:rPr>
              <a:t>operators can</a:t>
            </a:r>
            <a:r>
              <a:rPr sz="2000" spc="-21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be  </a:t>
            </a:r>
            <a:r>
              <a:rPr sz="2000" dirty="0">
                <a:latin typeface="Arial"/>
                <a:cs typeface="Arial"/>
              </a:rPr>
              <a:t>overloaded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0"/>
            <a:ext cx="6732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Restrictions on Operator</a:t>
            </a:r>
            <a:r>
              <a:rPr sz="3200" spc="-135" dirty="0"/>
              <a:t> </a:t>
            </a:r>
            <a:r>
              <a:rPr sz="3200" dirty="0"/>
              <a:t>Overloading</a:t>
            </a:r>
            <a:endParaRPr sz="32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633730"/>
            <a:ext cx="58781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70" dirty="0">
                <a:solidFill>
                  <a:srgbClr val="D24717"/>
                </a:solidFill>
                <a:latin typeface="Arial"/>
                <a:cs typeface="Arial"/>
              </a:rPr>
              <a:t></a:t>
            </a:r>
            <a:r>
              <a:rPr sz="2200" spc="-53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C++ </a:t>
            </a:r>
            <a:r>
              <a:rPr sz="2600" dirty="0">
                <a:latin typeface="Arial"/>
                <a:cs typeface="Arial"/>
              </a:rPr>
              <a:t>operators that can be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overloaded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0" y="3941445"/>
            <a:ext cx="640397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70" dirty="0">
                <a:solidFill>
                  <a:srgbClr val="D24717"/>
                </a:solidFill>
                <a:latin typeface="Arial"/>
                <a:cs typeface="Arial"/>
              </a:rPr>
              <a:t></a:t>
            </a:r>
            <a:r>
              <a:rPr sz="2200" spc="-53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C++ Operators that cannot be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overloaded</a:t>
            </a:r>
            <a:endParaRPr sz="26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4802" y="4800542"/>
          <a:ext cx="7337424" cy="661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7485"/>
                <a:gridCol w="1467485"/>
                <a:gridCol w="1467484"/>
                <a:gridCol w="1467485"/>
                <a:gridCol w="1467485"/>
              </a:tblGrid>
              <a:tr h="353399">
                <a:tc gridSpan="5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50" b="1" spc="25" dirty="0">
                          <a:latin typeface="Courier New"/>
                          <a:cs typeface="Courier New"/>
                        </a:rPr>
                        <a:t>Operators that cannot </a:t>
                      </a:r>
                      <a:r>
                        <a:rPr sz="1450" b="1" spc="30" dirty="0">
                          <a:latin typeface="Courier New"/>
                          <a:cs typeface="Courier New"/>
                        </a:rPr>
                        <a:t>be</a:t>
                      </a:r>
                      <a:r>
                        <a:rPr sz="145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50" b="1" spc="25" dirty="0">
                          <a:latin typeface="Courier New"/>
                          <a:cs typeface="Courier New"/>
                        </a:rPr>
                        <a:t>overloaded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7719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50" b="1" dirty="0">
                          <a:latin typeface="Courier New"/>
                          <a:cs typeface="Courier New"/>
                        </a:rPr>
                        <a:t>.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50" b="1" spc="25" dirty="0">
                          <a:latin typeface="Courier New"/>
                          <a:cs typeface="Courier New"/>
                        </a:rPr>
                        <a:t>.*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50" b="1" spc="25" dirty="0">
                          <a:latin typeface="Courier New"/>
                          <a:cs typeface="Courier New"/>
                        </a:rPr>
                        <a:t>::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50" b="1" spc="25" dirty="0">
                          <a:latin typeface="Courier New"/>
                          <a:cs typeface="Courier New"/>
                        </a:rPr>
                        <a:t>?: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50" b="1" spc="25" dirty="0">
                          <a:latin typeface="Courier New"/>
                          <a:cs typeface="Courier New"/>
                        </a:rPr>
                        <a:t>sizeof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20932" y="1219213"/>
          <a:ext cx="7139938" cy="2028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5680"/>
                <a:gridCol w="995044"/>
                <a:gridCol w="829310"/>
                <a:gridCol w="829310"/>
                <a:gridCol w="837564"/>
                <a:gridCol w="829310"/>
                <a:gridCol w="828675"/>
                <a:gridCol w="995045"/>
              </a:tblGrid>
              <a:tr h="329041">
                <a:tc gridSpan="8"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Operators </a:t>
                      </a:r>
                      <a:r>
                        <a:rPr sz="1350" b="1" spc="60" dirty="0">
                          <a:latin typeface="Courier New"/>
                          <a:cs typeface="Courier New"/>
                        </a:rPr>
                        <a:t>that can be</a:t>
                      </a:r>
                      <a:r>
                        <a:rPr sz="1350" b="1" spc="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b="1" spc="55" dirty="0">
                          <a:latin typeface="Courier New"/>
                          <a:cs typeface="Courier New"/>
                        </a:rPr>
                        <a:t>overloaded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84657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+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-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*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/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%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^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&amp;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|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51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~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!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&lt;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&gt;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+=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60" dirty="0">
                          <a:latin typeface="Courier New"/>
                          <a:cs typeface="Courier New"/>
                        </a:rPr>
                        <a:t>-=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*=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51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/=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%=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^=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&amp;=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|=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&lt;&lt;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&gt;&gt;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&gt;&gt;=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72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&lt;&lt;=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==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!=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&lt;=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&gt;=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&amp;&amp;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||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++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51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--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-&gt;*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dirty="0">
                          <a:latin typeface="Courier New"/>
                          <a:cs typeface="Courier New"/>
                        </a:rPr>
                        <a:t>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60" dirty="0">
                          <a:latin typeface="Courier New"/>
                          <a:cs typeface="Courier New"/>
                        </a:rPr>
                        <a:t>-&gt;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[]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()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new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delete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4656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new[]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b="1" spc="55" dirty="0">
                          <a:latin typeface="Courier New"/>
                          <a:cs typeface="Courier New"/>
                        </a:rPr>
                        <a:t>delete[]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4342"/>
            <a:ext cx="6263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  <a:latin typeface="Caladea"/>
                <a:cs typeface="Caladea"/>
              </a:rPr>
              <a:t>7.2 </a:t>
            </a:r>
            <a:r>
              <a:rPr sz="3600" spc="-15" dirty="0">
                <a:solidFill>
                  <a:srgbClr val="000000"/>
                </a:solidFill>
                <a:latin typeface="Caladea"/>
                <a:cs typeface="Caladea"/>
              </a:rPr>
              <a:t>Overloading </a:t>
            </a:r>
            <a:r>
              <a:rPr sz="3600" spc="-5" dirty="0">
                <a:solidFill>
                  <a:srgbClr val="000000"/>
                </a:solidFill>
                <a:latin typeface="Caladea"/>
                <a:cs typeface="Caladea"/>
              </a:rPr>
              <a:t>Unary</a:t>
            </a:r>
            <a:r>
              <a:rPr sz="3600" spc="10" dirty="0">
                <a:solidFill>
                  <a:srgbClr val="000000"/>
                </a:solidFill>
                <a:latin typeface="Caladea"/>
                <a:cs typeface="Caladea"/>
              </a:rPr>
              <a:t> </a:t>
            </a:r>
            <a:r>
              <a:rPr sz="3600" spc="-20" dirty="0">
                <a:solidFill>
                  <a:srgbClr val="000000"/>
                </a:solidFill>
                <a:latin typeface="Caladea"/>
                <a:cs typeface="Caladea"/>
              </a:rPr>
              <a:t>Operator</a:t>
            </a:r>
            <a:endParaRPr sz="3600">
              <a:latin typeface="Caladea"/>
              <a:cs typeface="Calade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81000"/>
            <a:ext cx="4419600" cy="6019800"/>
          </a:xfrm>
          <a:custGeom>
            <a:avLst/>
            <a:gdLst/>
            <a:ahLst/>
            <a:cxnLst/>
            <a:rect l="l" t="t" r="r" b="b"/>
            <a:pathLst>
              <a:path w="4419600" h="6019800">
                <a:moveTo>
                  <a:pt x="0" y="6019800"/>
                </a:moveTo>
                <a:lnTo>
                  <a:pt x="4419600" y="6019800"/>
                </a:lnTo>
                <a:lnTo>
                  <a:pt x="4419600" y="0"/>
                </a:lnTo>
                <a:lnTo>
                  <a:pt x="0" y="0"/>
                </a:lnTo>
                <a:lnTo>
                  <a:pt x="0" y="60198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540" y="345135"/>
            <a:ext cx="3607435" cy="6017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046480">
              <a:lnSpc>
                <a:spcPts val="2520"/>
              </a:lnSpc>
              <a:spcBef>
                <a:spcPts val="90"/>
              </a:spcBef>
            </a:pPr>
            <a:r>
              <a:rPr sz="2000" dirty="0">
                <a:latin typeface="Arial"/>
                <a:cs typeface="Arial"/>
              </a:rPr>
              <a:t>#include &lt;iostream&gt;  using namespace std;  class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temp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private:</a:t>
            </a:r>
            <a:endParaRPr sz="20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int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count;</a:t>
            </a:r>
            <a:endParaRPr sz="20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Arial"/>
                <a:cs typeface="Arial"/>
              </a:rPr>
              <a:t>public: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Arial"/>
                <a:cs typeface="Arial"/>
              </a:rPr>
              <a:t>temp():count(5)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{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void operator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++()</a:t>
            </a:r>
            <a:endParaRPr sz="2000">
              <a:latin typeface="Arial"/>
              <a:cs typeface="Arial"/>
            </a:endParaRPr>
          </a:p>
          <a:p>
            <a:pPr marL="99695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c</a:t>
            </a:r>
            <a:r>
              <a:rPr sz="2000" spc="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unt=coun</a:t>
            </a:r>
            <a:r>
              <a:rPr sz="2000" spc="-15" dirty="0">
                <a:latin typeface="Arial"/>
                <a:cs typeface="Arial"/>
              </a:rPr>
              <a:t>t</a:t>
            </a:r>
            <a:r>
              <a:rPr sz="2000" spc="-10" dirty="0">
                <a:latin typeface="Arial"/>
                <a:cs typeface="Arial"/>
              </a:rPr>
              <a:t>+</a:t>
            </a:r>
            <a:r>
              <a:rPr sz="2000" dirty="0">
                <a:latin typeface="Arial"/>
                <a:cs typeface="Arial"/>
              </a:rPr>
              <a:t>1;</a:t>
            </a:r>
            <a:endParaRPr sz="2000">
              <a:latin typeface="Arial"/>
              <a:cs typeface="Arial"/>
            </a:endParaRPr>
          </a:p>
          <a:p>
            <a:pPr marL="1067435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void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Display()</a:t>
            </a:r>
            <a:endParaRPr sz="2000">
              <a:latin typeface="Arial"/>
              <a:cs typeface="Arial"/>
            </a:endParaRPr>
          </a:p>
          <a:p>
            <a:pPr marL="99695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911350">
              <a:lnSpc>
                <a:spcPts val="2160"/>
              </a:lnSpc>
              <a:spcBef>
                <a:spcPts val="125"/>
              </a:spcBef>
            </a:pPr>
            <a:r>
              <a:rPr sz="2000" dirty="0">
                <a:latin typeface="Arial"/>
                <a:cs typeface="Arial"/>
              </a:rPr>
              <a:t>cout&lt;&lt;"Count:</a:t>
            </a:r>
            <a:endParaRPr sz="2000">
              <a:latin typeface="Arial"/>
              <a:cs typeface="Arial"/>
            </a:endParaRPr>
          </a:p>
          <a:p>
            <a:pPr marL="286385">
              <a:lnSpc>
                <a:spcPts val="2160"/>
              </a:lnSpc>
            </a:pPr>
            <a:r>
              <a:rPr sz="2000" dirty="0">
                <a:latin typeface="Arial"/>
                <a:cs typeface="Arial"/>
              </a:rPr>
              <a:t>"&lt;&lt;count;</a:t>
            </a:r>
            <a:endParaRPr sz="2000">
              <a:latin typeface="Arial"/>
              <a:cs typeface="Arial"/>
            </a:endParaRPr>
          </a:p>
          <a:p>
            <a:pPr marL="99695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};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6800" y="533400"/>
            <a:ext cx="3886200" cy="3139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Arial"/>
                <a:cs typeface="Arial"/>
              </a:rPr>
              <a:t>int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main()</a:t>
            </a:r>
            <a:endParaRPr sz="200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temp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t;</a:t>
            </a:r>
            <a:endParaRPr sz="20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++t;</a:t>
            </a:r>
            <a:endParaRPr sz="2000">
              <a:latin typeface="Arial"/>
              <a:cs typeface="Arial"/>
            </a:endParaRPr>
          </a:p>
          <a:p>
            <a:pPr marL="92075" marR="962660" indent="69850">
              <a:lnSpc>
                <a:spcPct val="100000"/>
              </a:lnSpc>
              <a:tabLst>
                <a:tab pos="2449195" algn="l"/>
              </a:tabLst>
            </a:pPr>
            <a:r>
              <a:rPr sz="2000" dirty="0">
                <a:latin typeface="Arial"/>
                <a:cs typeface="Arial"/>
              </a:rPr>
              <a:t>/*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</a:t>
            </a:r>
            <a:r>
              <a:rPr sz="2000" spc="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rator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fun</a:t>
            </a:r>
            <a:r>
              <a:rPr sz="2000" spc="5" dirty="0"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tion	</a:t>
            </a:r>
            <a:r>
              <a:rPr sz="2000" spc="-10" dirty="0">
                <a:latin typeface="Arial"/>
                <a:cs typeface="Arial"/>
              </a:rPr>
              <a:t>v</a:t>
            </a:r>
            <a:r>
              <a:rPr sz="2000" dirty="0">
                <a:latin typeface="Arial"/>
                <a:cs typeface="Arial"/>
              </a:rPr>
              <a:t>oid  operator </a:t>
            </a:r>
            <a:r>
              <a:rPr sz="2000" spc="5" dirty="0">
                <a:latin typeface="Arial"/>
                <a:cs typeface="Arial"/>
              </a:rPr>
              <a:t>++() </a:t>
            </a:r>
            <a:r>
              <a:rPr sz="2000" dirty="0">
                <a:latin typeface="Arial"/>
                <a:cs typeface="Arial"/>
              </a:rPr>
              <a:t>is called */  t.Display();</a:t>
            </a:r>
            <a:endParaRPr sz="200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return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0;</a:t>
            </a:r>
            <a:endParaRPr sz="200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81000"/>
            <a:ext cx="4419600" cy="6019800"/>
          </a:xfrm>
          <a:custGeom>
            <a:avLst/>
            <a:gdLst/>
            <a:ahLst/>
            <a:cxnLst/>
            <a:rect l="l" t="t" r="r" b="b"/>
            <a:pathLst>
              <a:path w="4419600" h="6019800">
                <a:moveTo>
                  <a:pt x="0" y="6019800"/>
                </a:moveTo>
                <a:lnTo>
                  <a:pt x="4419600" y="6019800"/>
                </a:lnTo>
                <a:lnTo>
                  <a:pt x="4419600" y="0"/>
                </a:lnTo>
                <a:lnTo>
                  <a:pt x="0" y="0"/>
                </a:lnTo>
                <a:lnTo>
                  <a:pt x="0" y="60198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45135"/>
            <a:ext cx="2566035" cy="1291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2520"/>
              </a:lnSpc>
              <a:spcBef>
                <a:spcPts val="90"/>
              </a:spcBef>
            </a:pPr>
            <a:r>
              <a:rPr sz="2000" dirty="0">
                <a:solidFill>
                  <a:srgbClr val="000000"/>
                </a:solidFill>
              </a:rPr>
              <a:t>#include &lt;iostream&gt;  using namespace std;  class</a:t>
            </a:r>
            <a:r>
              <a:rPr sz="2000" spc="-2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temp</a:t>
            </a:r>
            <a:endParaRPr sz="2000"/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solidFill>
                  <a:srgbClr val="000000"/>
                </a:solidFill>
              </a:rPr>
              <a:t>{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453644" y="1625854"/>
            <a:ext cx="353758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private:</a:t>
            </a:r>
            <a:endParaRPr sz="2000">
              <a:latin typeface="Arial"/>
              <a:cs typeface="Arial"/>
            </a:endParaRPr>
          </a:p>
          <a:p>
            <a:pPr marL="216535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int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count;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public:</a:t>
            </a:r>
            <a:endParaRPr sz="2000">
              <a:latin typeface="Arial"/>
              <a:cs typeface="Arial"/>
            </a:endParaRPr>
          </a:p>
          <a:p>
            <a:pPr marL="857250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Arial"/>
                <a:cs typeface="Arial"/>
              </a:rPr>
              <a:t>temp():count(5)</a:t>
            </a:r>
            <a:endParaRPr sz="2000">
              <a:latin typeface="Arial"/>
              <a:cs typeface="Arial"/>
            </a:endParaRPr>
          </a:p>
          <a:p>
            <a:pPr marL="85725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{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85725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void operator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++()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77165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c</a:t>
            </a:r>
            <a:r>
              <a:rPr sz="2000" spc="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unt=coun</a:t>
            </a:r>
            <a:r>
              <a:rPr sz="2000" spc="-15" dirty="0">
                <a:latin typeface="Arial"/>
                <a:cs typeface="Arial"/>
              </a:rPr>
              <a:t>t</a:t>
            </a:r>
            <a:r>
              <a:rPr sz="2000" spc="-10" dirty="0">
                <a:latin typeface="Arial"/>
                <a:cs typeface="Arial"/>
              </a:rPr>
              <a:t>+</a:t>
            </a:r>
            <a:r>
              <a:rPr sz="2000" dirty="0">
                <a:latin typeface="Arial"/>
                <a:cs typeface="Arial"/>
              </a:rPr>
              <a:t>1;</a:t>
            </a:r>
            <a:endParaRPr sz="2000">
              <a:latin typeface="Arial"/>
              <a:cs typeface="Arial"/>
            </a:endParaRPr>
          </a:p>
          <a:p>
            <a:pPr marL="99695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85725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void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Display()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841500">
              <a:lnSpc>
                <a:spcPts val="216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cout&lt;&lt;"Count:</a:t>
            </a:r>
            <a:endParaRPr sz="2000">
              <a:latin typeface="Arial"/>
              <a:cs typeface="Arial"/>
            </a:endParaRPr>
          </a:p>
          <a:p>
            <a:pPr marL="216535">
              <a:lnSpc>
                <a:spcPts val="2160"/>
              </a:lnSpc>
            </a:pPr>
            <a:r>
              <a:rPr sz="2000" dirty="0">
                <a:latin typeface="Arial"/>
                <a:cs typeface="Arial"/>
              </a:rPr>
              <a:t>"&lt;&lt;count;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6800" y="533400"/>
            <a:ext cx="3886200" cy="3139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Arial"/>
                <a:cs typeface="Arial"/>
              </a:rPr>
              <a:t>int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main()</a:t>
            </a:r>
            <a:endParaRPr sz="200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temp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t;</a:t>
            </a:r>
            <a:endParaRPr sz="20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++t;</a:t>
            </a:r>
            <a:endParaRPr sz="2000">
              <a:latin typeface="Arial"/>
              <a:cs typeface="Arial"/>
            </a:endParaRPr>
          </a:p>
          <a:p>
            <a:pPr marL="92075" marR="962660" indent="69850">
              <a:lnSpc>
                <a:spcPct val="100000"/>
              </a:lnSpc>
              <a:tabLst>
                <a:tab pos="2449195" algn="l"/>
              </a:tabLst>
            </a:pPr>
            <a:r>
              <a:rPr sz="2000" dirty="0">
                <a:latin typeface="Arial"/>
                <a:cs typeface="Arial"/>
              </a:rPr>
              <a:t>/*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</a:t>
            </a:r>
            <a:r>
              <a:rPr sz="2000" spc="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rator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fun</a:t>
            </a:r>
            <a:r>
              <a:rPr sz="2000" spc="5" dirty="0"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tion	</a:t>
            </a:r>
            <a:r>
              <a:rPr sz="2000" spc="-10" dirty="0">
                <a:latin typeface="Arial"/>
                <a:cs typeface="Arial"/>
              </a:rPr>
              <a:t>v</a:t>
            </a:r>
            <a:r>
              <a:rPr sz="2000" dirty="0">
                <a:latin typeface="Arial"/>
                <a:cs typeface="Arial"/>
              </a:rPr>
              <a:t>oid  operator </a:t>
            </a:r>
            <a:r>
              <a:rPr sz="2000" spc="5" dirty="0">
                <a:latin typeface="Arial"/>
                <a:cs typeface="Arial"/>
              </a:rPr>
              <a:t>++() </a:t>
            </a:r>
            <a:r>
              <a:rPr sz="2000" dirty="0">
                <a:latin typeface="Arial"/>
                <a:cs typeface="Arial"/>
              </a:rPr>
              <a:t>is called */  t.Display();</a:t>
            </a:r>
            <a:endParaRPr sz="200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return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0;</a:t>
            </a:r>
            <a:endParaRPr sz="2000">
              <a:latin typeface="Arial"/>
              <a:cs typeface="Arial"/>
            </a:endParaRPr>
          </a:p>
          <a:p>
            <a:pPr marL="16192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9200" y="3962400"/>
            <a:ext cx="3276600" cy="64643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Count: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229" y="6314643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444" y="6031179"/>
            <a:ext cx="1674495" cy="48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>
              <a:lnSpc>
                <a:spcPts val="2165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};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445"/>
              </a:lnSpc>
            </a:pPr>
            <a:endParaRPr sz="1400">
              <a:latin typeface="Arial"/>
              <a:cs typeface="Arial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172923"/>
            <a:ext cx="9918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Note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3540" y="786130"/>
            <a:ext cx="8152130" cy="5254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30099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Operator overloading cannot be used to change </a:t>
            </a:r>
            <a:r>
              <a:rPr sz="2600" spc="-140" dirty="0">
                <a:latin typeface="Arial"/>
                <a:cs typeface="Arial"/>
              </a:rPr>
              <a:t>the  </a:t>
            </a:r>
            <a:r>
              <a:rPr sz="2600" dirty="0">
                <a:latin typeface="Arial"/>
                <a:cs typeface="Arial"/>
              </a:rPr>
              <a:t>way operator works on built-in types. Operator  overloading only allows to redefine the meaning of  operator for user-defined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types.</a:t>
            </a:r>
            <a:endParaRPr sz="2600">
              <a:latin typeface="Arial"/>
              <a:cs typeface="Arial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Char char="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There are two operators assignment operator(=) and  address operator(&amp;) which does not need to be  overloaded. Because these </a:t>
            </a:r>
            <a:r>
              <a:rPr sz="2600" spc="-5" dirty="0">
                <a:latin typeface="Arial"/>
                <a:cs typeface="Arial"/>
              </a:rPr>
              <a:t>two </a:t>
            </a:r>
            <a:r>
              <a:rPr sz="2600" dirty="0">
                <a:latin typeface="Arial"/>
                <a:cs typeface="Arial"/>
              </a:rPr>
              <a:t>operators are already  overloaded in C++ </a:t>
            </a:r>
            <a:r>
              <a:rPr sz="2600" spc="-25" dirty="0">
                <a:latin typeface="Arial"/>
                <a:cs typeface="Arial"/>
              </a:rPr>
              <a:t>library. </a:t>
            </a:r>
            <a:r>
              <a:rPr sz="2600" dirty="0">
                <a:latin typeface="Arial"/>
                <a:cs typeface="Arial"/>
              </a:rPr>
              <a:t>For example: If </a:t>
            </a:r>
            <a:r>
              <a:rPr sz="2600" i="1" dirty="0">
                <a:latin typeface="Arial"/>
                <a:cs typeface="Arial"/>
              </a:rPr>
              <a:t>obj1 </a:t>
            </a:r>
            <a:r>
              <a:rPr sz="2600" dirty="0">
                <a:latin typeface="Arial"/>
                <a:cs typeface="Arial"/>
              </a:rPr>
              <a:t>and  </a:t>
            </a:r>
            <a:r>
              <a:rPr sz="2600" i="1" dirty="0">
                <a:latin typeface="Arial"/>
                <a:cs typeface="Arial"/>
              </a:rPr>
              <a:t>obj2 </a:t>
            </a:r>
            <a:r>
              <a:rPr sz="2600" dirty="0">
                <a:latin typeface="Arial"/>
                <a:cs typeface="Arial"/>
              </a:rPr>
              <a:t>are two objects of same class then, you can use  code </a:t>
            </a:r>
            <a:r>
              <a:rPr sz="2600" b="1" dirty="0">
                <a:latin typeface="Arial"/>
                <a:cs typeface="Arial"/>
              </a:rPr>
              <a:t>obj1=obj2; </a:t>
            </a:r>
            <a:r>
              <a:rPr sz="2600" dirty="0">
                <a:latin typeface="Arial"/>
                <a:cs typeface="Arial"/>
              </a:rPr>
              <a:t>without overloading = </a:t>
            </a:r>
            <a:r>
              <a:rPr sz="2600" spc="-15" dirty="0">
                <a:latin typeface="Arial"/>
                <a:cs typeface="Arial"/>
              </a:rPr>
              <a:t>operator. </a:t>
            </a:r>
            <a:r>
              <a:rPr sz="2600" dirty="0">
                <a:latin typeface="Arial"/>
                <a:cs typeface="Arial"/>
              </a:rPr>
              <a:t>This  code will copy the contents object of </a:t>
            </a:r>
            <a:r>
              <a:rPr sz="2600" i="1" dirty="0">
                <a:latin typeface="Arial"/>
                <a:cs typeface="Arial"/>
              </a:rPr>
              <a:t>obj2 </a:t>
            </a:r>
            <a:r>
              <a:rPr sz="2600" dirty="0">
                <a:latin typeface="Arial"/>
                <a:cs typeface="Arial"/>
              </a:rPr>
              <a:t>to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obj1</a:t>
            </a:r>
            <a:r>
              <a:rPr sz="260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286385" marR="379730">
              <a:lnSpc>
                <a:spcPct val="100000"/>
              </a:lnSpc>
              <a:spcBef>
                <a:spcPts val="5"/>
              </a:spcBef>
            </a:pPr>
            <a:r>
              <a:rPr sz="2600" spc="-20" dirty="0">
                <a:latin typeface="Arial"/>
                <a:cs typeface="Arial"/>
              </a:rPr>
              <a:t>Similarly, </a:t>
            </a:r>
            <a:r>
              <a:rPr sz="2600" dirty="0">
                <a:latin typeface="Arial"/>
                <a:cs typeface="Arial"/>
              </a:rPr>
              <a:t>you can use address operator directly  without overloading which will return the address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7859" y="6014415"/>
            <a:ext cx="261302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"/>
                <a:cs typeface="Arial"/>
              </a:rPr>
              <a:t>object in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memory.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6486550"/>
            <a:ext cx="804481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70" dirty="0">
                <a:solidFill>
                  <a:srgbClr val="D24717"/>
                </a:solidFill>
                <a:latin typeface="Arial"/>
                <a:cs typeface="Arial"/>
              </a:rPr>
              <a:t></a:t>
            </a:r>
            <a:r>
              <a:rPr sz="2200" spc="-53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Operator overloading cannot change the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precedence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229" y="6314643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4342"/>
            <a:ext cx="6370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  <a:latin typeface="Caladea"/>
                <a:cs typeface="Caladea"/>
              </a:rPr>
              <a:t>7.3 </a:t>
            </a:r>
            <a:r>
              <a:rPr sz="3600" spc="-15" dirty="0">
                <a:solidFill>
                  <a:srgbClr val="000000"/>
                </a:solidFill>
                <a:latin typeface="Caladea"/>
                <a:cs typeface="Caladea"/>
              </a:rPr>
              <a:t>Overloading </a:t>
            </a:r>
            <a:r>
              <a:rPr sz="3600" spc="-10" dirty="0">
                <a:solidFill>
                  <a:srgbClr val="000000"/>
                </a:solidFill>
                <a:latin typeface="Caladea"/>
                <a:cs typeface="Caladea"/>
              </a:rPr>
              <a:t>Binary</a:t>
            </a:r>
            <a:r>
              <a:rPr sz="3600" spc="10" dirty="0">
                <a:solidFill>
                  <a:srgbClr val="000000"/>
                </a:solidFill>
                <a:latin typeface="Caladea"/>
                <a:cs typeface="Caladea"/>
              </a:rPr>
              <a:t> </a:t>
            </a:r>
            <a:r>
              <a:rPr sz="3600" spc="-20" dirty="0">
                <a:solidFill>
                  <a:srgbClr val="000000"/>
                </a:solidFill>
                <a:latin typeface="Caladea"/>
                <a:cs typeface="Caladea"/>
              </a:rPr>
              <a:t>Operator</a:t>
            </a:r>
            <a:endParaRPr sz="3600">
              <a:latin typeface="Caladea"/>
              <a:cs typeface="Calade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8450" y="755650"/>
            <a:ext cx="3670300" cy="5880100"/>
            <a:chOff x="298450" y="755650"/>
            <a:chExt cx="3670300" cy="5880100"/>
          </a:xfrm>
        </p:grpSpPr>
        <p:sp>
          <p:nvSpPr>
            <p:cNvPr id="4" name="object 4"/>
            <p:cNvSpPr/>
            <p:nvPr/>
          </p:nvSpPr>
          <p:spPr>
            <a:xfrm>
              <a:off x="304800" y="762000"/>
              <a:ext cx="3657600" cy="5867400"/>
            </a:xfrm>
            <a:custGeom>
              <a:avLst/>
              <a:gdLst/>
              <a:ahLst/>
              <a:cxnLst/>
              <a:rect l="l" t="t" r="r" b="b"/>
              <a:pathLst>
                <a:path w="3657600" h="5867400">
                  <a:moveTo>
                    <a:pt x="3657600" y="0"/>
                  </a:moveTo>
                  <a:lnTo>
                    <a:pt x="0" y="0"/>
                  </a:lnTo>
                  <a:lnTo>
                    <a:pt x="0" y="5867400"/>
                  </a:lnTo>
                  <a:lnTo>
                    <a:pt x="3657600" y="5867400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4800" y="762000"/>
              <a:ext cx="3657600" cy="5867400"/>
            </a:xfrm>
            <a:custGeom>
              <a:avLst/>
              <a:gdLst/>
              <a:ahLst/>
              <a:cxnLst/>
              <a:rect l="l" t="t" r="r" b="b"/>
              <a:pathLst>
                <a:path w="3657600" h="5867400">
                  <a:moveTo>
                    <a:pt x="0" y="5867400"/>
                  </a:moveTo>
                  <a:lnTo>
                    <a:pt x="3657600" y="5867400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58674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3540" y="787653"/>
            <a:ext cx="336486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1059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#in</a:t>
            </a:r>
            <a:r>
              <a:rPr sz="2000" spc="5" dirty="0"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lude</a:t>
            </a:r>
            <a:r>
              <a:rPr sz="2000" spc="10" dirty="0">
                <a:latin typeface="Arial"/>
                <a:cs typeface="Arial"/>
              </a:rPr>
              <a:t>&lt;</a:t>
            </a:r>
            <a:r>
              <a:rPr sz="2000" dirty="0">
                <a:latin typeface="Arial"/>
                <a:cs typeface="Arial"/>
              </a:rPr>
              <a:t>iost</a:t>
            </a:r>
            <a:r>
              <a:rPr sz="2000" spc="-1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ea</a:t>
            </a:r>
            <a:r>
              <a:rPr sz="2000" spc="-10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.</a:t>
            </a:r>
            <a:r>
              <a:rPr sz="2000" spc="-5" dirty="0">
                <a:latin typeface="Arial"/>
                <a:cs typeface="Arial"/>
              </a:rPr>
              <a:t>h</a:t>
            </a:r>
            <a:r>
              <a:rPr sz="2000" dirty="0">
                <a:latin typeface="Arial"/>
                <a:cs typeface="Arial"/>
              </a:rPr>
              <a:t>&gt;  #include&lt;conio.h&gt;  class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complex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99123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int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a,b;</a:t>
            </a:r>
            <a:endParaRPr sz="2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public:</a:t>
            </a:r>
            <a:endParaRPr sz="2000">
              <a:latin typeface="Arial"/>
              <a:cs typeface="Arial"/>
            </a:endParaRPr>
          </a:p>
          <a:p>
            <a:pPr marL="99123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void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getvalue()</a:t>
            </a:r>
            <a:endParaRPr sz="2000">
              <a:latin typeface="Arial"/>
              <a:cs typeface="Arial"/>
            </a:endParaRPr>
          </a:p>
          <a:p>
            <a:pPr marL="99123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286385" marR="5080" indent="91313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cout&lt;&lt;"Enter the  value of Complex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Numbers  </a:t>
            </a:r>
            <a:r>
              <a:rPr sz="2000" spc="-5" dirty="0">
                <a:latin typeface="Arial"/>
                <a:cs typeface="Arial"/>
              </a:rPr>
              <a:t>a,b:";</a:t>
            </a:r>
            <a:endParaRPr sz="200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cin&gt;&gt;a&gt;&gt;b;</a:t>
            </a:r>
            <a:endParaRPr sz="2000">
              <a:latin typeface="Arial"/>
              <a:cs typeface="Arial"/>
            </a:endParaRPr>
          </a:p>
          <a:p>
            <a:pPr marL="99123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99123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complex</a:t>
            </a:r>
            <a:endParaRPr sz="20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operator+(complex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2202" y="5360619"/>
            <a:ext cx="1104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4117" y="5360619"/>
            <a:ext cx="15049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complex t;  </a:t>
            </a:r>
            <a:r>
              <a:rPr sz="2000" spc="-5" dirty="0">
                <a:latin typeface="Arial"/>
                <a:cs typeface="Arial"/>
              </a:rPr>
              <a:t>t.a=ob.a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+a;  </a:t>
            </a:r>
            <a:r>
              <a:rPr sz="2000" spc="-5" dirty="0">
                <a:latin typeface="Arial"/>
                <a:cs typeface="Arial"/>
              </a:rPr>
              <a:t>t.b=ob.b+b;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4800" y="838200"/>
            <a:ext cx="4724400" cy="43713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Arial"/>
                <a:cs typeface="Arial"/>
              </a:rPr>
              <a:t>complex operator-(complex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ob)</a:t>
            </a:r>
            <a:endParaRPr sz="2000">
              <a:latin typeface="Arial"/>
              <a:cs typeface="Arial"/>
            </a:endParaRPr>
          </a:p>
          <a:p>
            <a:pPr marL="107061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2047239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complex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t;</a:t>
            </a:r>
            <a:endParaRPr sz="2000">
              <a:latin typeface="Arial"/>
              <a:cs typeface="Arial"/>
            </a:endParaRPr>
          </a:p>
          <a:p>
            <a:pPr marL="2329815" lvl="1" indent="-283210">
              <a:lnSpc>
                <a:spcPct val="100000"/>
              </a:lnSpc>
              <a:buSzPct val="95000"/>
              <a:buAutoNum type="alphaLcPeriod"/>
              <a:tabLst>
                <a:tab pos="2330450" algn="l"/>
              </a:tabLst>
            </a:pPr>
            <a:r>
              <a:rPr sz="2000" dirty="0">
                <a:latin typeface="Arial"/>
                <a:cs typeface="Arial"/>
              </a:rPr>
              <a:t>=ob.a -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a;</a:t>
            </a:r>
            <a:endParaRPr sz="2000">
              <a:latin typeface="Arial"/>
              <a:cs typeface="Arial"/>
            </a:endParaRPr>
          </a:p>
          <a:p>
            <a:pPr marL="2047239" marR="1378585" lvl="1">
              <a:lnSpc>
                <a:spcPct val="100000"/>
              </a:lnSpc>
              <a:buSzPct val="95000"/>
              <a:buAutoNum type="alphaLcPeriod"/>
              <a:tabLst>
                <a:tab pos="2330450" algn="l"/>
              </a:tabLst>
            </a:pPr>
            <a:r>
              <a:rPr sz="2000" dirty="0">
                <a:latin typeface="Arial"/>
                <a:cs typeface="Arial"/>
              </a:rPr>
              <a:t>=ob.b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-b;  return(t);</a:t>
            </a:r>
            <a:endParaRPr sz="2000">
              <a:latin typeface="Arial"/>
              <a:cs typeface="Arial"/>
            </a:endParaRPr>
          </a:p>
          <a:p>
            <a:pPr marL="107061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107061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void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display()</a:t>
            </a:r>
            <a:endParaRPr sz="2000">
              <a:latin typeface="Arial"/>
              <a:cs typeface="Arial"/>
            </a:endParaRPr>
          </a:p>
          <a:p>
            <a:pPr marL="107061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2047239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Arial"/>
                <a:cs typeface="Arial"/>
              </a:rPr>
              <a:t>cout&lt;&lt;a&lt;&lt;"+"&lt;&lt;b&lt;&lt;"i"</a:t>
            </a:r>
            <a:endParaRPr sz="20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&lt;&lt;"\n";</a:t>
            </a:r>
            <a:endParaRPr sz="2000">
              <a:latin typeface="Arial"/>
              <a:cs typeface="Arial"/>
            </a:endParaRPr>
          </a:p>
          <a:p>
            <a:pPr marL="107061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229" y="6314643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8044" y="6126669"/>
            <a:ext cx="2397760" cy="78422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solidFill>
                  <a:srgbClr val="696363"/>
                </a:solidFill>
                <a:latin typeface="Arial"/>
                <a:cs typeface="Arial"/>
              </a:rPr>
              <a:t>By:-Gourav</a:t>
            </a:r>
            <a:r>
              <a:rPr sz="1400" spc="-60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1400" spc="-135" dirty="0">
                <a:solidFill>
                  <a:srgbClr val="696363"/>
                </a:solidFill>
                <a:latin typeface="Arial"/>
                <a:cs typeface="Arial"/>
              </a:rPr>
              <a:t>Kotta</a:t>
            </a:r>
            <a:r>
              <a:rPr sz="3000" spc="-202" baseline="-16666" dirty="0">
                <a:latin typeface="Arial"/>
                <a:cs typeface="Arial"/>
              </a:rPr>
              <a:t>r</a:t>
            </a:r>
            <a:r>
              <a:rPr sz="1400" spc="-135" dirty="0">
                <a:solidFill>
                  <a:srgbClr val="696363"/>
                </a:solidFill>
                <a:latin typeface="Arial"/>
                <a:cs typeface="Arial"/>
              </a:rPr>
              <a:t>w</a:t>
            </a:r>
            <a:r>
              <a:rPr sz="3000" spc="-202" baseline="-16666" dirty="0">
                <a:latin typeface="Arial"/>
                <a:cs typeface="Arial"/>
              </a:rPr>
              <a:t>e</a:t>
            </a:r>
            <a:r>
              <a:rPr sz="1400" spc="-135" dirty="0">
                <a:solidFill>
                  <a:srgbClr val="696363"/>
                </a:solidFill>
                <a:latin typeface="Arial"/>
                <a:cs typeface="Arial"/>
              </a:rPr>
              <a:t>a</a:t>
            </a:r>
            <a:r>
              <a:rPr sz="3000" spc="-202" baseline="-16666" dirty="0">
                <a:latin typeface="Arial"/>
                <a:cs typeface="Arial"/>
              </a:rPr>
              <a:t>t</a:t>
            </a:r>
            <a:r>
              <a:rPr sz="1400" spc="-135" dirty="0">
                <a:solidFill>
                  <a:srgbClr val="696363"/>
                </a:solidFill>
                <a:latin typeface="Arial"/>
                <a:cs typeface="Arial"/>
              </a:rPr>
              <a:t>r</a:t>
            </a:r>
            <a:r>
              <a:rPr sz="3000" spc="-202" baseline="-16666" dirty="0">
                <a:latin typeface="Arial"/>
                <a:cs typeface="Arial"/>
              </a:rPr>
              <a:t>urn(t);</a:t>
            </a:r>
            <a:endParaRPr sz="3000" baseline="-16666">
              <a:latin typeface="Arial"/>
              <a:cs typeface="Arial"/>
            </a:endParaRPr>
          </a:p>
          <a:p>
            <a:pPr marL="406400">
              <a:lnSpc>
                <a:spcPct val="100000"/>
              </a:lnSpc>
              <a:spcBef>
                <a:spcPts val="585"/>
              </a:spcBef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457200"/>
            <a:ext cx="4343400" cy="502920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500"/>
              </a:lnSpc>
            </a:pPr>
            <a:r>
              <a:rPr sz="2300" spc="-5" dirty="0">
                <a:latin typeface="Arial"/>
                <a:cs typeface="Arial"/>
              </a:rPr>
              <a:t>void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main()</a:t>
            </a:r>
            <a:endParaRPr sz="23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50"/>
              </a:spcBef>
            </a:pPr>
            <a:r>
              <a:rPr sz="2300" dirty="0">
                <a:latin typeface="Arial"/>
                <a:cs typeface="Arial"/>
              </a:rPr>
              <a:t>{</a:t>
            </a:r>
            <a:endParaRPr sz="2300">
              <a:latin typeface="Arial"/>
              <a:cs typeface="Arial"/>
            </a:endParaRPr>
          </a:p>
          <a:p>
            <a:pPr marL="333375" marR="2912110">
              <a:lnSpc>
                <a:spcPct val="101699"/>
              </a:lnSpc>
            </a:pPr>
            <a:r>
              <a:rPr sz="2300" dirty="0">
                <a:latin typeface="Arial"/>
                <a:cs typeface="Arial"/>
              </a:rPr>
              <a:t>clrscr();  comp</a:t>
            </a:r>
            <a:r>
              <a:rPr sz="2300" spc="5" dirty="0">
                <a:latin typeface="Arial"/>
                <a:cs typeface="Arial"/>
              </a:rPr>
              <a:t>l</a:t>
            </a:r>
            <a:r>
              <a:rPr sz="2300" dirty="0">
                <a:latin typeface="Arial"/>
                <a:cs typeface="Arial"/>
              </a:rPr>
              <a:t>ex</a:t>
            </a:r>
            <a:endParaRPr sz="2300">
              <a:latin typeface="Arial"/>
              <a:cs typeface="Arial"/>
            </a:endParaRPr>
          </a:p>
          <a:p>
            <a:pPr marL="365125">
              <a:lnSpc>
                <a:spcPts val="2210"/>
              </a:lnSpc>
            </a:pPr>
            <a:r>
              <a:rPr sz="2300" spc="-5" dirty="0">
                <a:latin typeface="Arial"/>
                <a:cs typeface="Arial"/>
              </a:rPr>
              <a:t>obj1,obj2,result,result1;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Arial"/>
              <a:cs typeface="Arial"/>
            </a:endParaRPr>
          </a:p>
          <a:p>
            <a:pPr marL="333375" marR="1988185">
              <a:lnSpc>
                <a:spcPct val="101699"/>
              </a:lnSpc>
            </a:pPr>
            <a:r>
              <a:rPr sz="2300" dirty="0">
                <a:latin typeface="Arial"/>
                <a:cs typeface="Arial"/>
              </a:rPr>
              <a:t>ob</a:t>
            </a:r>
            <a:r>
              <a:rPr sz="2300" spc="5" dirty="0">
                <a:latin typeface="Arial"/>
                <a:cs typeface="Arial"/>
              </a:rPr>
              <a:t>j</a:t>
            </a:r>
            <a:r>
              <a:rPr sz="2300" dirty="0">
                <a:latin typeface="Arial"/>
                <a:cs typeface="Arial"/>
              </a:rPr>
              <a:t>1.g</a:t>
            </a:r>
            <a:r>
              <a:rPr sz="2300" spc="-10" dirty="0">
                <a:latin typeface="Arial"/>
                <a:cs typeface="Arial"/>
              </a:rPr>
              <a:t>e</a:t>
            </a:r>
            <a:r>
              <a:rPr sz="2300" dirty="0">
                <a:latin typeface="Arial"/>
                <a:cs typeface="Arial"/>
              </a:rPr>
              <a:t>t</a:t>
            </a:r>
            <a:r>
              <a:rPr sz="2300" spc="-20" dirty="0">
                <a:latin typeface="Arial"/>
                <a:cs typeface="Arial"/>
              </a:rPr>
              <a:t>v</a:t>
            </a:r>
            <a:r>
              <a:rPr sz="2300" dirty="0">
                <a:latin typeface="Arial"/>
                <a:cs typeface="Arial"/>
              </a:rPr>
              <a:t>alue</a:t>
            </a:r>
            <a:r>
              <a:rPr sz="2300" spc="-20" dirty="0">
                <a:latin typeface="Arial"/>
                <a:cs typeface="Arial"/>
              </a:rPr>
              <a:t>(</a:t>
            </a:r>
            <a:r>
              <a:rPr sz="2300" dirty="0">
                <a:latin typeface="Arial"/>
                <a:cs typeface="Arial"/>
              </a:rPr>
              <a:t>);  ob</a:t>
            </a:r>
            <a:r>
              <a:rPr sz="2300" spc="5" dirty="0">
                <a:latin typeface="Arial"/>
                <a:cs typeface="Arial"/>
              </a:rPr>
              <a:t>j</a:t>
            </a:r>
            <a:r>
              <a:rPr sz="2300" dirty="0">
                <a:latin typeface="Arial"/>
                <a:cs typeface="Arial"/>
              </a:rPr>
              <a:t>2.g</a:t>
            </a:r>
            <a:r>
              <a:rPr sz="2300" spc="-10" dirty="0">
                <a:latin typeface="Arial"/>
                <a:cs typeface="Arial"/>
              </a:rPr>
              <a:t>e</a:t>
            </a:r>
            <a:r>
              <a:rPr sz="2300" dirty="0">
                <a:latin typeface="Arial"/>
                <a:cs typeface="Arial"/>
              </a:rPr>
              <a:t>t</a:t>
            </a:r>
            <a:r>
              <a:rPr sz="2300" spc="-20" dirty="0">
                <a:latin typeface="Arial"/>
                <a:cs typeface="Arial"/>
              </a:rPr>
              <a:t>v</a:t>
            </a:r>
            <a:r>
              <a:rPr sz="2300" dirty="0">
                <a:latin typeface="Arial"/>
                <a:cs typeface="Arial"/>
              </a:rPr>
              <a:t>alue</a:t>
            </a:r>
            <a:r>
              <a:rPr sz="2300" spc="-20" dirty="0">
                <a:latin typeface="Arial"/>
                <a:cs typeface="Arial"/>
              </a:rPr>
              <a:t>(</a:t>
            </a:r>
            <a:r>
              <a:rPr sz="2300" dirty="0">
                <a:latin typeface="Arial"/>
                <a:cs typeface="Arial"/>
              </a:rPr>
              <a:t>);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Arial"/>
              <a:cs typeface="Arial"/>
            </a:endParaRPr>
          </a:p>
          <a:p>
            <a:pPr marL="333375" marR="1599565">
              <a:lnSpc>
                <a:spcPct val="101699"/>
              </a:lnSpc>
              <a:spcBef>
                <a:spcPts val="5"/>
              </a:spcBef>
            </a:pPr>
            <a:r>
              <a:rPr sz="2300" dirty="0">
                <a:latin typeface="Arial"/>
                <a:cs typeface="Arial"/>
              </a:rPr>
              <a:t>result =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spc="-5" dirty="0">
                <a:latin typeface="Arial"/>
                <a:cs typeface="Arial"/>
              </a:rPr>
              <a:t>obj1+obj2;  result1=obj1-obj2;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0" y="457200"/>
            <a:ext cx="4191000" cy="4954905"/>
          </a:xfrm>
          <a:custGeom>
            <a:avLst/>
            <a:gdLst/>
            <a:ahLst/>
            <a:cxnLst/>
            <a:rect l="l" t="t" r="r" b="b"/>
            <a:pathLst>
              <a:path w="4191000" h="4954905">
                <a:moveTo>
                  <a:pt x="0" y="4954524"/>
                </a:moveTo>
                <a:lnTo>
                  <a:pt x="4191000" y="4954524"/>
                </a:lnTo>
                <a:lnTo>
                  <a:pt x="4191000" y="0"/>
                </a:lnTo>
                <a:lnTo>
                  <a:pt x="0" y="0"/>
                </a:lnTo>
                <a:lnTo>
                  <a:pt x="0" y="495452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51375" y="481329"/>
            <a:ext cx="381571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00"/>
                </a:solidFill>
              </a:rPr>
              <a:t>cout&lt;&lt;"Input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spc="-20" dirty="0">
                <a:solidFill>
                  <a:srgbClr val="000000"/>
                </a:solidFill>
              </a:rPr>
              <a:t>Values:\n";  </a:t>
            </a:r>
            <a:r>
              <a:rPr sz="2800" dirty="0">
                <a:solidFill>
                  <a:srgbClr val="000000"/>
                </a:solidFill>
              </a:rPr>
              <a:t>obj1.display();  obj2.display();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4847971" y="2188591"/>
            <a:ext cx="267144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9060" algn="ctr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cou</a:t>
            </a:r>
            <a:r>
              <a:rPr sz="2800" spc="-10" dirty="0">
                <a:latin typeface="Arial"/>
                <a:cs typeface="Arial"/>
              </a:rPr>
              <a:t>t</a:t>
            </a:r>
            <a:r>
              <a:rPr sz="2800" spc="-5" dirty="0">
                <a:latin typeface="Arial"/>
                <a:cs typeface="Arial"/>
              </a:rPr>
              <a:t>&lt;&lt;"Re</a:t>
            </a:r>
            <a:r>
              <a:rPr sz="2800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u</a:t>
            </a:r>
            <a:r>
              <a:rPr sz="2800" dirty="0">
                <a:latin typeface="Arial"/>
                <a:cs typeface="Arial"/>
              </a:rPr>
              <a:t>l</a:t>
            </a:r>
            <a:r>
              <a:rPr sz="2800" spc="-5" dirty="0">
                <a:latin typeface="Arial"/>
                <a:cs typeface="Arial"/>
              </a:rPr>
              <a:t>t:</a:t>
            </a:r>
            <a:r>
              <a:rPr sz="2800" dirty="0">
                <a:latin typeface="Arial"/>
                <a:cs typeface="Arial"/>
              </a:rPr>
              <a:t>"</a:t>
            </a:r>
            <a:r>
              <a:rPr sz="2800" spc="-5" dirty="0">
                <a:latin typeface="Arial"/>
                <a:cs typeface="Arial"/>
              </a:rPr>
              <a:t>;  </a:t>
            </a:r>
            <a:r>
              <a:rPr sz="2800" dirty="0">
                <a:latin typeface="Arial"/>
                <a:cs typeface="Arial"/>
              </a:rPr>
              <a:t>result.display();  result1.display();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7030" y="3895725"/>
            <a:ext cx="1235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g</a:t>
            </a:r>
            <a:r>
              <a:rPr sz="2800" spc="5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t</a:t>
            </a:r>
            <a:r>
              <a:rPr sz="2800" spc="5" dirty="0">
                <a:latin typeface="Arial"/>
                <a:cs typeface="Arial"/>
              </a:rPr>
              <a:t>c</a:t>
            </a:r>
            <a:r>
              <a:rPr sz="2800" spc="-5" dirty="0">
                <a:latin typeface="Arial"/>
                <a:cs typeface="Arial"/>
              </a:rPr>
              <a:t>h();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1375" y="4322445"/>
            <a:ext cx="144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}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229" y="6314643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457200"/>
            <a:ext cx="4343400" cy="5029200"/>
          </a:xfrm>
          <a:custGeom>
            <a:avLst/>
            <a:gdLst/>
            <a:ahLst/>
            <a:cxnLst/>
            <a:rect l="l" t="t" r="r" b="b"/>
            <a:pathLst>
              <a:path w="4343400" h="5029200">
                <a:moveTo>
                  <a:pt x="0" y="5029200"/>
                </a:moveTo>
                <a:lnTo>
                  <a:pt x="4343400" y="5029200"/>
                </a:lnTo>
                <a:lnTo>
                  <a:pt x="4343400" y="0"/>
                </a:lnTo>
                <a:lnTo>
                  <a:pt x="0" y="0"/>
                </a:lnTo>
                <a:lnTo>
                  <a:pt x="0" y="50292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410667"/>
            <a:ext cx="3317875" cy="1727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5" dirty="0">
                <a:latin typeface="Arial"/>
                <a:cs typeface="Arial"/>
              </a:rPr>
              <a:t>void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main()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300" dirty="0">
                <a:latin typeface="Arial"/>
                <a:cs typeface="Arial"/>
              </a:rPr>
              <a:t>{</a:t>
            </a:r>
            <a:endParaRPr sz="2300">
              <a:latin typeface="Arial"/>
              <a:cs typeface="Arial"/>
            </a:endParaRPr>
          </a:p>
          <a:p>
            <a:pPr marL="254635" marR="1964055">
              <a:lnSpc>
                <a:spcPct val="101699"/>
              </a:lnSpc>
            </a:pPr>
            <a:r>
              <a:rPr sz="2300" dirty="0">
                <a:latin typeface="Arial"/>
                <a:cs typeface="Arial"/>
              </a:rPr>
              <a:t>clrscr();  comp</a:t>
            </a:r>
            <a:r>
              <a:rPr sz="2300" spc="5" dirty="0">
                <a:latin typeface="Arial"/>
                <a:cs typeface="Arial"/>
              </a:rPr>
              <a:t>l</a:t>
            </a:r>
            <a:r>
              <a:rPr sz="2300" dirty="0">
                <a:latin typeface="Arial"/>
                <a:cs typeface="Arial"/>
              </a:rPr>
              <a:t>ex</a:t>
            </a:r>
            <a:endParaRPr sz="2300">
              <a:latin typeface="Arial"/>
              <a:cs typeface="Arial"/>
            </a:endParaRPr>
          </a:p>
          <a:p>
            <a:pPr marL="286385">
              <a:lnSpc>
                <a:spcPts val="2210"/>
              </a:lnSpc>
            </a:pPr>
            <a:r>
              <a:rPr sz="2300" spc="-5" dirty="0">
                <a:latin typeface="Arial"/>
                <a:cs typeface="Arial"/>
              </a:rPr>
              <a:t>obj1,obj2,result,result1;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455" y="2475102"/>
            <a:ext cx="2038985" cy="7334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5"/>
              </a:spcBef>
            </a:pPr>
            <a:r>
              <a:rPr sz="2300" dirty="0">
                <a:latin typeface="Arial"/>
                <a:cs typeface="Arial"/>
              </a:rPr>
              <a:t>ob</a:t>
            </a:r>
            <a:r>
              <a:rPr sz="2300" spc="5" dirty="0">
                <a:latin typeface="Arial"/>
                <a:cs typeface="Arial"/>
              </a:rPr>
              <a:t>j</a:t>
            </a:r>
            <a:r>
              <a:rPr sz="2300" dirty="0">
                <a:latin typeface="Arial"/>
                <a:cs typeface="Arial"/>
              </a:rPr>
              <a:t>1.g</a:t>
            </a:r>
            <a:r>
              <a:rPr sz="2300" spc="-10" dirty="0">
                <a:latin typeface="Arial"/>
                <a:cs typeface="Arial"/>
              </a:rPr>
              <a:t>e</a:t>
            </a:r>
            <a:r>
              <a:rPr sz="2300" dirty="0">
                <a:latin typeface="Arial"/>
                <a:cs typeface="Arial"/>
              </a:rPr>
              <a:t>t</a:t>
            </a:r>
            <a:r>
              <a:rPr sz="2300" spc="-20" dirty="0">
                <a:latin typeface="Arial"/>
                <a:cs typeface="Arial"/>
              </a:rPr>
              <a:t>v</a:t>
            </a:r>
            <a:r>
              <a:rPr sz="2300" dirty="0">
                <a:latin typeface="Arial"/>
                <a:cs typeface="Arial"/>
              </a:rPr>
              <a:t>alue</a:t>
            </a:r>
            <a:r>
              <a:rPr sz="2300" spc="-20" dirty="0">
                <a:latin typeface="Arial"/>
                <a:cs typeface="Arial"/>
              </a:rPr>
              <a:t>(</a:t>
            </a:r>
            <a:r>
              <a:rPr sz="2300" dirty="0">
                <a:latin typeface="Arial"/>
                <a:cs typeface="Arial"/>
              </a:rPr>
              <a:t>);  ob</a:t>
            </a:r>
            <a:r>
              <a:rPr sz="2300" spc="5" dirty="0">
                <a:latin typeface="Arial"/>
                <a:cs typeface="Arial"/>
              </a:rPr>
              <a:t>j</a:t>
            </a:r>
            <a:r>
              <a:rPr sz="2300" dirty="0">
                <a:latin typeface="Arial"/>
                <a:cs typeface="Arial"/>
              </a:rPr>
              <a:t>2.g</a:t>
            </a:r>
            <a:r>
              <a:rPr sz="2300" spc="-10" dirty="0">
                <a:latin typeface="Arial"/>
                <a:cs typeface="Arial"/>
              </a:rPr>
              <a:t>e</a:t>
            </a:r>
            <a:r>
              <a:rPr sz="2300" dirty="0">
                <a:latin typeface="Arial"/>
                <a:cs typeface="Arial"/>
              </a:rPr>
              <a:t>t</a:t>
            </a:r>
            <a:r>
              <a:rPr sz="2300" spc="-20" dirty="0">
                <a:latin typeface="Arial"/>
                <a:cs typeface="Arial"/>
              </a:rPr>
              <a:t>v</a:t>
            </a:r>
            <a:r>
              <a:rPr sz="2300" dirty="0">
                <a:latin typeface="Arial"/>
                <a:cs typeface="Arial"/>
              </a:rPr>
              <a:t>alue</a:t>
            </a:r>
            <a:r>
              <a:rPr sz="2300" spc="-20" dirty="0">
                <a:latin typeface="Arial"/>
                <a:cs typeface="Arial"/>
              </a:rPr>
              <a:t>(</a:t>
            </a:r>
            <a:r>
              <a:rPr sz="2300" dirty="0">
                <a:latin typeface="Arial"/>
                <a:cs typeface="Arial"/>
              </a:rPr>
              <a:t>);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455" y="3545204"/>
            <a:ext cx="2428240" cy="7334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5"/>
              </a:spcBef>
            </a:pPr>
            <a:r>
              <a:rPr sz="2300" dirty="0">
                <a:latin typeface="Arial"/>
                <a:cs typeface="Arial"/>
              </a:rPr>
              <a:t>result =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spc="-5" dirty="0">
                <a:latin typeface="Arial"/>
                <a:cs typeface="Arial"/>
              </a:rPr>
              <a:t>obj1+obj2;  result1=obj1-obj2;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0" y="457200"/>
            <a:ext cx="4191000" cy="4954905"/>
          </a:xfrm>
          <a:custGeom>
            <a:avLst/>
            <a:gdLst/>
            <a:ahLst/>
            <a:cxnLst/>
            <a:rect l="l" t="t" r="r" b="b"/>
            <a:pathLst>
              <a:path w="4191000" h="4954905">
                <a:moveTo>
                  <a:pt x="0" y="4954524"/>
                </a:moveTo>
                <a:lnTo>
                  <a:pt x="4191000" y="4954524"/>
                </a:lnTo>
                <a:lnTo>
                  <a:pt x="4191000" y="0"/>
                </a:lnTo>
                <a:lnTo>
                  <a:pt x="0" y="0"/>
                </a:lnTo>
                <a:lnTo>
                  <a:pt x="0" y="495452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51375" y="481329"/>
            <a:ext cx="381571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00"/>
                </a:solidFill>
              </a:rPr>
              <a:t>cout&lt;&lt;"Input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spc="-20" dirty="0">
                <a:solidFill>
                  <a:srgbClr val="000000"/>
                </a:solidFill>
              </a:rPr>
              <a:t>Values:\n";  </a:t>
            </a:r>
            <a:r>
              <a:rPr sz="2800" dirty="0">
                <a:solidFill>
                  <a:srgbClr val="000000"/>
                </a:solidFill>
              </a:rPr>
              <a:t>obj1.display();  obj2.display();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4847971" y="2188591"/>
            <a:ext cx="267144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9060" algn="ctr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cou</a:t>
            </a:r>
            <a:r>
              <a:rPr sz="2800" spc="-10" dirty="0">
                <a:latin typeface="Arial"/>
                <a:cs typeface="Arial"/>
              </a:rPr>
              <a:t>t</a:t>
            </a:r>
            <a:r>
              <a:rPr sz="2800" spc="-5" dirty="0">
                <a:latin typeface="Arial"/>
                <a:cs typeface="Arial"/>
              </a:rPr>
              <a:t>&lt;&lt;"Re</a:t>
            </a:r>
            <a:r>
              <a:rPr sz="2800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u</a:t>
            </a:r>
            <a:r>
              <a:rPr sz="2800" dirty="0">
                <a:latin typeface="Arial"/>
                <a:cs typeface="Arial"/>
              </a:rPr>
              <a:t>l</a:t>
            </a:r>
            <a:r>
              <a:rPr sz="2800" spc="-5" dirty="0">
                <a:latin typeface="Arial"/>
                <a:cs typeface="Arial"/>
              </a:rPr>
              <a:t>t:</a:t>
            </a:r>
            <a:r>
              <a:rPr sz="2800" dirty="0">
                <a:latin typeface="Arial"/>
                <a:cs typeface="Arial"/>
              </a:rPr>
              <a:t>"</a:t>
            </a:r>
            <a:r>
              <a:rPr sz="2800" spc="-5" dirty="0">
                <a:latin typeface="Arial"/>
                <a:cs typeface="Arial"/>
              </a:rPr>
              <a:t>;  </a:t>
            </a:r>
            <a:r>
              <a:rPr sz="2800" dirty="0">
                <a:latin typeface="Arial"/>
                <a:cs typeface="Arial"/>
              </a:rPr>
              <a:t>result.display();  result1.display();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47030" y="3895725"/>
            <a:ext cx="1235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g</a:t>
            </a:r>
            <a:r>
              <a:rPr sz="2800" spc="5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t</a:t>
            </a:r>
            <a:r>
              <a:rPr sz="2800" spc="5" dirty="0">
                <a:latin typeface="Arial"/>
                <a:cs typeface="Arial"/>
              </a:rPr>
              <a:t>c</a:t>
            </a:r>
            <a:r>
              <a:rPr sz="2800" spc="-5" dirty="0">
                <a:latin typeface="Arial"/>
                <a:cs typeface="Arial"/>
              </a:rPr>
              <a:t>h();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" y="5486399"/>
            <a:ext cx="7924800" cy="1201420"/>
          </a:xfrm>
          <a:custGeom>
            <a:avLst/>
            <a:gdLst/>
            <a:ahLst/>
            <a:cxnLst/>
            <a:rect l="l" t="t" r="r" b="b"/>
            <a:pathLst>
              <a:path w="7924800" h="1201420">
                <a:moveTo>
                  <a:pt x="0" y="1200912"/>
                </a:moveTo>
                <a:lnTo>
                  <a:pt x="7924800" y="1200912"/>
                </a:lnTo>
                <a:lnTo>
                  <a:pt x="7924800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2891" y="4280680"/>
            <a:ext cx="8042909" cy="2348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5675" algn="ctr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}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100">
              <a:latin typeface="Arial"/>
              <a:cs typeface="Arial"/>
            </a:endParaRPr>
          </a:p>
          <a:p>
            <a:pPr marL="324485" marR="17780">
              <a:lnSpc>
                <a:spcPct val="100000"/>
              </a:lnSpc>
              <a:spcBef>
                <a:spcPts val="2455"/>
              </a:spcBef>
            </a:pP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overloading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binary operators the left hand operand  is used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invoke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operator function and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right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hand</a:t>
            </a:r>
            <a:endParaRPr sz="24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lang="en-US" sz="2400" dirty="0" smtClean="0">
                <a:latin typeface="Arial"/>
                <a:cs typeface="Arial"/>
              </a:rPr>
              <a:t>   Operator </a:t>
            </a:r>
            <a:r>
              <a:rPr lang="en-US" sz="2400" dirty="0" smtClean="0">
                <a:latin typeface="Arial"/>
                <a:cs typeface="Arial"/>
              </a:rPr>
              <a:t>passed as an argument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0"/>
            <a:ext cx="70637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7.5 </a:t>
            </a:r>
            <a:r>
              <a:rPr sz="3200" spc="-5" dirty="0">
                <a:solidFill>
                  <a:srgbClr val="000000"/>
                </a:solidFill>
              </a:rPr>
              <a:t>Overloading </a:t>
            </a:r>
            <a:r>
              <a:rPr sz="3200" dirty="0">
                <a:solidFill>
                  <a:srgbClr val="000000"/>
                </a:solidFill>
              </a:rPr>
              <a:t>Binary </a:t>
            </a:r>
            <a:r>
              <a:rPr sz="3200" spc="-5" dirty="0">
                <a:solidFill>
                  <a:srgbClr val="000000"/>
                </a:solidFill>
              </a:rPr>
              <a:t>operators</a:t>
            </a:r>
            <a:r>
              <a:rPr sz="3200" spc="-95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using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09600" y="228600"/>
            <a:ext cx="7772400" cy="6400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85"/>
              </a:spcBef>
            </a:pPr>
            <a:r>
              <a:rPr sz="3200" dirty="0">
                <a:latin typeface="Arial"/>
                <a:cs typeface="Arial"/>
              </a:rPr>
              <a:t>Friend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1014730"/>
            <a:ext cx="7103109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</a:pPr>
            <a:r>
              <a:rPr sz="2200" spc="-570" dirty="0">
                <a:solidFill>
                  <a:srgbClr val="D24717"/>
                </a:solidFill>
                <a:latin typeface="Arial"/>
                <a:cs typeface="Arial"/>
              </a:rPr>
              <a:t> </a:t>
            </a:r>
            <a:r>
              <a:rPr sz="2600" dirty="0">
                <a:latin typeface="Arial"/>
                <a:cs typeface="Arial"/>
              </a:rPr>
              <a:t>Friend function can be used to overload </a:t>
            </a:r>
            <a:r>
              <a:rPr sz="2600" spc="-70" dirty="0">
                <a:latin typeface="Arial"/>
                <a:cs typeface="Arial"/>
              </a:rPr>
              <a:t>binary  </a:t>
            </a:r>
            <a:r>
              <a:rPr sz="2600" spc="-15" dirty="0">
                <a:latin typeface="Arial"/>
                <a:cs typeface="Arial"/>
              </a:rPr>
              <a:t>operator.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440" y="1927160"/>
            <a:ext cx="3622675" cy="370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80"/>
              </a:lnSpc>
            </a:pPr>
            <a:r>
              <a:rPr sz="2200" spc="-570" dirty="0">
                <a:solidFill>
                  <a:srgbClr val="D24717"/>
                </a:solidFill>
                <a:latin typeface="Arial"/>
                <a:cs typeface="Arial"/>
              </a:rPr>
              <a:t></a:t>
            </a:r>
            <a:r>
              <a:rPr sz="2200" spc="-53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Required two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argumen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81923" y="1883105"/>
            <a:ext cx="367665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"/>
                <a:cs typeface="Arial"/>
              </a:rPr>
              <a:t>ts to </a:t>
            </a:r>
            <a:r>
              <a:rPr sz="2600" spc="5" dirty="0">
                <a:latin typeface="Arial"/>
                <a:cs typeface="Arial"/>
              </a:rPr>
              <a:t>be </a:t>
            </a:r>
            <a:r>
              <a:rPr sz="2600" dirty="0">
                <a:latin typeface="Arial"/>
                <a:cs typeface="Arial"/>
              </a:rPr>
              <a:t>passed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explicitly.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2250" y="1910842"/>
            <a:ext cx="3822700" cy="4953635"/>
            <a:chOff x="222250" y="1910842"/>
            <a:chExt cx="3822700" cy="4953635"/>
          </a:xfrm>
        </p:grpSpPr>
        <p:sp>
          <p:nvSpPr>
            <p:cNvPr id="8" name="object 8"/>
            <p:cNvSpPr/>
            <p:nvPr/>
          </p:nvSpPr>
          <p:spPr>
            <a:xfrm>
              <a:off x="228600" y="1917192"/>
              <a:ext cx="3810000" cy="4940935"/>
            </a:xfrm>
            <a:custGeom>
              <a:avLst/>
              <a:gdLst/>
              <a:ahLst/>
              <a:cxnLst/>
              <a:rect l="l" t="t" r="r" b="b"/>
              <a:pathLst>
                <a:path w="3810000" h="4940934">
                  <a:moveTo>
                    <a:pt x="3810000" y="0"/>
                  </a:moveTo>
                  <a:lnTo>
                    <a:pt x="0" y="0"/>
                  </a:lnTo>
                  <a:lnTo>
                    <a:pt x="0" y="4940806"/>
                  </a:lnTo>
                  <a:lnTo>
                    <a:pt x="3810000" y="4940806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00" y="1917192"/>
              <a:ext cx="3810000" cy="4940935"/>
            </a:xfrm>
            <a:custGeom>
              <a:avLst/>
              <a:gdLst/>
              <a:ahLst/>
              <a:cxnLst/>
              <a:rect l="l" t="t" r="r" b="b"/>
              <a:pathLst>
                <a:path w="3810000" h="4940934">
                  <a:moveTo>
                    <a:pt x="3810000" y="4940806"/>
                  </a:moveTo>
                  <a:lnTo>
                    <a:pt x="3810000" y="0"/>
                  </a:lnTo>
                  <a:lnTo>
                    <a:pt x="0" y="0"/>
                  </a:lnTo>
                  <a:lnTo>
                    <a:pt x="0" y="4940806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7340" y="1943226"/>
            <a:ext cx="269430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#include &lt;iostream&gt;  using namespace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std;  #include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&lt;conio.h&gt;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7340" y="3162681"/>
            <a:ext cx="349186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class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public:</a:t>
            </a:r>
            <a:endParaRPr sz="2000">
              <a:latin typeface="Arial"/>
              <a:cs typeface="Arial"/>
            </a:endParaRPr>
          </a:p>
          <a:p>
            <a:pPr marL="12700" marR="279590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int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i,j;  </a:t>
            </a:r>
            <a:r>
              <a:rPr sz="2000" b="1" dirty="0">
                <a:latin typeface="Arial"/>
                <a:cs typeface="Arial"/>
              </a:rPr>
              <a:t>s()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{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i=j=0;}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void </a:t>
            </a:r>
            <a:r>
              <a:rPr sz="2000" b="1" dirty="0">
                <a:latin typeface="Arial"/>
                <a:cs typeface="Arial"/>
              </a:rPr>
              <a:t>disp(){cout &lt;&lt; i </a:t>
            </a:r>
            <a:r>
              <a:rPr sz="2000" b="1" spc="5" dirty="0">
                <a:latin typeface="Arial"/>
                <a:cs typeface="Arial"/>
              </a:rPr>
              <a:t>&lt;&lt;" </a:t>
            </a:r>
            <a:r>
              <a:rPr sz="2000" b="1" dirty="0">
                <a:latin typeface="Arial"/>
                <a:cs typeface="Arial"/>
              </a:rPr>
              <a:t>"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&lt;&lt;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j;}</a:t>
            </a:r>
            <a:endParaRPr sz="2000">
              <a:latin typeface="Arial"/>
              <a:cs typeface="Arial"/>
            </a:endParaRPr>
          </a:p>
          <a:p>
            <a:pPr marL="12700" marR="42418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void getdata(){cin&gt;&gt;i&gt;&gt;j;}  </a:t>
            </a:r>
            <a:r>
              <a:rPr sz="2000" b="1" dirty="0">
                <a:latin typeface="Arial"/>
                <a:cs typeface="Arial"/>
              </a:rPr>
              <a:t>friend 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operator+(int,s);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37303" y="2142743"/>
            <a:ext cx="4356100" cy="4721860"/>
            <a:chOff x="4337303" y="2142743"/>
            <a:chExt cx="4356100" cy="4721860"/>
          </a:xfrm>
        </p:grpSpPr>
        <p:sp>
          <p:nvSpPr>
            <p:cNvPr id="13" name="object 13"/>
            <p:cNvSpPr/>
            <p:nvPr/>
          </p:nvSpPr>
          <p:spPr>
            <a:xfrm>
              <a:off x="4343399" y="2148839"/>
              <a:ext cx="4343400" cy="4709160"/>
            </a:xfrm>
            <a:custGeom>
              <a:avLst/>
              <a:gdLst/>
              <a:ahLst/>
              <a:cxnLst/>
              <a:rect l="l" t="t" r="r" b="b"/>
              <a:pathLst>
                <a:path w="4343400" h="4709159">
                  <a:moveTo>
                    <a:pt x="4343400" y="0"/>
                  </a:moveTo>
                  <a:lnTo>
                    <a:pt x="0" y="0"/>
                  </a:lnTo>
                  <a:lnTo>
                    <a:pt x="0" y="4709160"/>
                  </a:lnTo>
                  <a:lnTo>
                    <a:pt x="4343400" y="470916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43399" y="2148839"/>
              <a:ext cx="4343400" cy="4709160"/>
            </a:xfrm>
            <a:custGeom>
              <a:avLst/>
              <a:gdLst/>
              <a:ahLst/>
              <a:cxnLst/>
              <a:rect l="l" t="t" r="r" b="b"/>
              <a:pathLst>
                <a:path w="4343400" h="4709159">
                  <a:moveTo>
                    <a:pt x="0" y="4709160"/>
                  </a:moveTo>
                  <a:lnTo>
                    <a:pt x="4343400" y="4709160"/>
                  </a:lnTo>
                  <a:lnTo>
                    <a:pt x="4343400" y="0"/>
                  </a:lnTo>
                  <a:lnTo>
                    <a:pt x="0" y="0"/>
                  </a:lnTo>
                  <a:lnTo>
                    <a:pt x="0" y="470916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22775" y="2174875"/>
            <a:ext cx="273939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s operator+(int a, s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s1)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{ 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k;</a:t>
            </a:r>
            <a:endParaRPr sz="20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k.i =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a+s1.i;</a:t>
            </a:r>
            <a:endParaRPr sz="2000">
              <a:latin typeface="Arial"/>
              <a:cs typeface="Arial"/>
            </a:endParaRPr>
          </a:p>
          <a:p>
            <a:pPr marL="152400" marR="121094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k.j =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a+s1.j;  return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k;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int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main()</a:t>
            </a:r>
            <a:endParaRPr sz="2000">
              <a:latin typeface="Arial"/>
              <a:cs typeface="Arial"/>
            </a:endParaRPr>
          </a:p>
          <a:p>
            <a:pPr marL="12700" marR="113792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{ s s2;  s2.getdata();  s s3 =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10+s2;  s3.disp();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getch();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return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6829" y="6211315"/>
            <a:ext cx="305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-457" baseline="-7936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2000" b="1" spc="-305" dirty="0">
                <a:latin typeface="Arial"/>
                <a:cs typeface="Arial"/>
              </a:rPr>
              <a:t>}</a:t>
            </a:r>
            <a:r>
              <a:rPr sz="2100" spc="-457" baseline="-7936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2000" b="1" spc="-305" dirty="0"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0"/>
            <a:ext cx="4279900" cy="6845300"/>
            <a:chOff x="-6350" y="0"/>
            <a:chExt cx="4279900" cy="68453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267200" cy="6832600"/>
            </a:xfrm>
            <a:custGeom>
              <a:avLst/>
              <a:gdLst/>
              <a:ahLst/>
              <a:cxnLst/>
              <a:rect l="l" t="t" r="r" b="b"/>
              <a:pathLst>
                <a:path w="4267200" h="6832600">
                  <a:moveTo>
                    <a:pt x="4267200" y="0"/>
                  </a:moveTo>
                  <a:lnTo>
                    <a:pt x="0" y="0"/>
                  </a:lnTo>
                  <a:lnTo>
                    <a:pt x="0" y="6832092"/>
                  </a:lnTo>
                  <a:lnTo>
                    <a:pt x="4267200" y="6832092"/>
                  </a:lnTo>
                  <a:lnTo>
                    <a:pt x="426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267200" cy="6832600"/>
            </a:xfrm>
            <a:custGeom>
              <a:avLst/>
              <a:gdLst/>
              <a:ahLst/>
              <a:cxnLst/>
              <a:rect l="l" t="t" r="r" b="b"/>
              <a:pathLst>
                <a:path w="4267200" h="6832600">
                  <a:moveTo>
                    <a:pt x="0" y="6832092"/>
                  </a:moveTo>
                  <a:lnTo>
                    <a:pt x="4267200" y="6832092"/>
                  </a:lnTo>
                  <a:lnTo>
                    <a:pt x="4267200" y="0"/>
                  </a:lnTo>
                  <a:lnTo>
                    <a:pt x="0" y="0"/>
                  </a:lnTo>
                  <a:lnTo>
                    <a:pt x="0" y="683209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39" y="25399"/>
            <a:ext cx="245935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00"/>
                </a:solidFill>
              </a:rPr>
              <a:t>#include&lt;iostream.h&gt;</a:t>
            </a:r>
            <a:endParaRPr sz="200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0000"/>
                </a:solidFill>
              </a:rPr>
              <a:t>class</a:t>
            </a:r>
            <a:r>
              <a:rPr sz="2000" spc="-3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stud</a:t>
            </a:r>
            <a:endParaRPr sz="2000"/>
          </a:p>
        </p:txBody>
      </p:sp>
      <p:sp>
        <p:nvSpPr>
          <p:cNvPr id="6" name="object 6"/>
          <p:cNvSpPr txBox="1"/>
          <p:nvPr/>
        </p:nvSpPr>
        <p:spPr>
          <a:xfrm>
            <a:off x="78739" y="635253"/>
            <a:ext cx="3964304" cy="5513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int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rno;</a:t>
            </a:r>
            <a:endParaRPr sz="2000">
              <a:latin typeface="Arial"/>
              <a:cs typeface="Arial"/>
            </a:endParaRPr>
          </a:p>
          <a:p>
            <a:pPr marL="12700" marR="257365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char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*name;  int marks;  public: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friend istream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&amp;operator&gt;&gt;(istream  &amp;,stud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&amp;);</a:t>
            </a:r>
            <a:endParaRPr sz="2000">
              <a:latin typeface="Arial"/>
              <a:cs typeface="Arial"/>
            </a:endParaRPr>
          </a:p>
          <a:p>
            <a:pPr marL="12700" marR="45656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friend void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operator&lt;&lt;(ostream  </a:t>
            </a:r>
            <a:r>
              <a:rPr sz="2000" dirty="0">
                <a:latin typeface="Arial"/>
                <a:cs typeface="Arial"/>
              </a:rPr>
              <a:t>&amp;,stud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&amp;);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};</a:t>
            </a:r>
            <a:endParaRPr sz="2000">
              <a:latin typeface="Arial"/>
              <a:cs typeface="Arial"/>
            </a:endParaRPr>
          </a:p>
          <a:p>
            <a:pPr marL="12700" marR="71056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istream </a:t>
            </a:r>
            <a:r>
              <a:rPr sz="2000" spc="-5" dirty="0">
                <a:latin typeface="Arial"/>
                <a:cs typeface="Arial"/>
              </a:rPr>
              <a:t>&amp;operator&gt;&gt;(istream  </a:t>
            </a:r>
            <a:r>
              <a:rPr sz="2000" dirty="0">
                <a:latin typeface="Arial"/>
                <a:cs typeface="Arial"/>
              </a:rPr>
              <a:t>&amp;tin,stud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&amp;s)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cout&lt;&lt;"\n </a:t>
            </a:r>
            <a:r>
              <a:rPr sz="2000" spc="-5" dirty="0">
                <a:latin typeface="Arial"/>
                <a:cs typeface="Arial"/>
              </a:rPr>
              <a:t>Enter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no";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tin&gt;&gt;s.rno;</a:t>
            </a:r>
            <a:endParaRPr sz="2000">
              <a:latin typeface="Arial"/>
              <a:cs typeface="Arial"/>
            </a:endParaRPr>
          </a:p>
          <a:p>
            <a:pPr marL="12700" marR="90043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cout&lt;&lt;"\n </a:t>
            </a:r>
            <a:r>
              <a:rPr sz="2000" spc="-5" dirty="0">
                <a:latin typeface="Arial"/>
                <a:cs typeface="Arial"/>
              </a:rPr>
              <a:t>Enter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name";  tin&gt;&gt;s.name;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cout&lt;&lt;"\n </a:t>
            </a:r>
            <a:r>
              <a:rPr sz="2000" spc="-5" dirty="0">
                <a:latin typeface="Arial"/>
                <a:cs typeface="Arial"/>
              </a:rPr>
              <a:t>Enter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Marks";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6427114"/>
            <a:ext cx="10960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return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tin;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89703" y="169163"/>
            <a:ext cx="4660900" cy="6695440"/>
            <a:chOff x="4489703" y="169163"/>
            <a:chExt cx="4660900" cy="6695440"/>
          </a:xfrm>
        </p:grpSpPr>
        <p:sp>
          <p:nvSpPr>
            <p:cNvPr id="9" name="object 9"/>
            <p:cNvSpPr/>
            <p:nvPr/>
          </p:nvSpPr>
          <p:spPr>
            <a:xfrm>
              <a:off x="4495799" y="175259"/>
              <a:ext cx="4648200" cy="6682740"/>
            </a:xfrm>
            <a:custGeom>
              <a:avLst/>
              <a:gdLst/>
              <a:ahLst/>
              <a:cxnLst/>
              <a:rect l="l" t="t" r="r" b="b"/>
              <a:pathLst>
                <a:path w="4648200" h="6682740">
                  <a:moveTo>
                    <a:pt x="4648199" y="0"/>
                  </a:moveTo>
                  <a:lnTo>
                    <a:pt x="0" y="0"/>
                  </a:lnTo>
                  <a:lnTo>
                    <a:pt x="0" y="6682737"/>
                  </a:lnTo>
                  <a:lnTo>
                    <a:pt x="4648199" y="6682737"/>
                  </a:lnTo>
                  <a:lnTo>
                    <a:pt x="4648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95799" y="175259"/>
              <a:ext cx="4648200" cy="6682740"/>
            </a:xfrm>
            <a:custGeom>
              <a:avLst/>
              <a:gdLst/>
              <a:ahLst/>
              <a:cxnLst/>
              <a:rect l="l" t="t" r="r" b="b"/>
              <a:pathLst>
                <a:path w="4648200" h="6682740">
                  <a:moveTo>
                    <a:pt x="4648199" y="0"/>
                  </a:moveTo>
                  <a:lnTo>
                    <a:pt x="0" y="0"/>
                  </a:lnTo>
                  <a:lnTo>
                    <a:pt x="0" y="668273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75175" y="200406"/>
            <a:ext cx="4466590" cy="6428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void </a:t>
            </a:r>
            <a:r>
              <a:rPr sz="2000" spc="-5" dirty="0">
                <a:latin typeface="Arial"/>
                <a:cs typeface="Arial"/>
              </a:rPr>
              <a:t>operator&lt;&lt;(ostream </a:t>
            </a:r>
            <a:r>
              <a:rPr sz="2000" dirty="0">
                <a:latin typeface="Arial"/>
                <a:cs typeface="Arial"/>
              </a:rPr>
              <a:t>&amp;tout,stud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&amp;s)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2700" marR="2089785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tout&lt;&lt;”\n”&lt;&lt;s.rno;  tout&lt;&lt;”\n”&lt;&lt;s.name;  </a:t>
            </a:r>
            <a:r>
              <a:rPr sz="2000" dirty="0">
                <a:latin typeface="Arial"/>
                <a:cs typeface="Arial"/>
              </a:rPr>
              <a:t>tou</a:t>
            </a:r>
            <a:r>
              <a:rPr sz="2000" spc="-10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&lt;</a:t>
            </a:r>
            <a:r>
              <a:rPr sz="2000" spc="10" dirty="0">
                <a:latin typeface="Arial"/>
                <a:cs typeface="Arial"/>
              </a:rPr>
              <a:t>&lt;</a:t>
            </a:r>
            <a:r>
              <a:rPr sz="2000" spc="-10" dirty="0">
                <a:latin typeface="Arial"/>
                <a:cs typeface="Arial"/>
              </a:rPr>
              <a:t>”\</a:t>
            </a:r>
            <a:r>
              <a:rPr sz="2000" spc="-5" dirty="0">
                <a:latin typeface="Arial"/>
                <a:cs typeface="Arial"/>
              </a:rPr>
              <a:t>n”</a:t>
            </a:r>
            <a:r>
              <a:rPr sz="2000" spc="-15" dirty="0">
                <a:latin typeface="Arial"/>
                <a:cs typeface="Arial"/>
              </a:rPr>
              <a:t>&lt;</a:t>
            </a:r>
            <a:r>
              <a:rPr sz="2000" spc="-10" dirty="0">
                <a:latin typeface="Arial"/>
                <a:cs typeface="Arial"/>
              </a:rPr>
              <a:t>&lt;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.m</a:t>
            </a:r>
            <a:r>
              <a:rPr sz="2000" dirty="0">
                <a:latin typeface="Arial"/>
                <a:cs typeface="Arial"/>
              </a:rPr>
              <a:t>ark</a:t>
            </a:r>
            <a:r>
              <a:rPr sz="2000" spc="-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void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main()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cout&lt;&lt;"\t\tBinaryOperator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Overloading</a:t>
            </a:r>
            <a:endParaRPr sz="2000">
              <a:latin typeface="Arial"/>
              <a:cs typeface="Arial"/>
            </a:endParaRPr>
          </a:p>
          <a:p>
            <a:pPr marL="12700" marR="186436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Using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FriendFunction";  stud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s[3];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for(int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i=0;i&lt;3;i++)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cin&gt;&gt;s[i];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for(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i=0;i&lt;3;i++)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cout&lt;&lt;s[i];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getch();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229" y="6314643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988" y="416178"/>
            <a:ext cx="71678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Manipulation </a:t>
            </a:r>
            <a:r>
              <a:rPr sz="3200" dirty="0"/>
              <a:t>of Strings using</a:t>
            </a:r>
            <a:r>
              <a:rPr sz="3200" spc="-20" dirty="0"/>
              <a:t> </a:t>
            </a:r>
            <a:r>
              <a:rPr sz="3200" dirty="0"/>
              <a:t>Operators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0953" y="1486179"/>
            <a:ext cx="8026400" cy="494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238760" indent="-379730">
              <a:lnSpc>
                <a:spcPct val="125299"/>
              </a:lnSpc>
              <a:spcBef>
                <a:spcPts val="100"/>
              </a:spcBef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5" dirty="0">
                <a:latin typeface="Arial"/>
                <a:cs typeface="Arial"/>
              </a:rPr>
              <a:t>There are lot of limitations in string manipulation in C  as well as in C++.</a:t>
            </a:r>
            <a:endParaRPr sz="2500">
              <a:latin typeface="Arial"/>
              <a:cs typeface="Arial"/>
            </a:endParaRPr>
          </a:p>
          <a:p>
            <a:pPr marL="391795" marR="356870" indent="-379730">
              <a:lnSpc>
                <a:spcPct val="124800"/>
              </a:lnSpc>
              <a:spcBef>
                <a:spcPts val="405"/>
              </a:spcBef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  <a:tab pos="3091815" algn="l"/>
                <a:tab pos="4204335" algn="l"/>
              </a:tabLst>
            </a:pPr>
            <a:r>
              <a:rPr sz="2500" spc="-5" dirty="0">
                <a:latin typeface="Arial"/>
                <a:cs typeface="Arial"/>
              </a:rPr>
              <a:t>Implementation</a:t>
            </a:r>
            <a:r>
              <a:rPr sz="2500" spc="5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of	strings	require character arrays,  pointers and string</a:t>
            </a:r>
            <a:r>
              <a:rPr sz="2500" spc="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functions.</a:t>
            </a:r>
            <a:endParaRPr sz="2500">
              <a:latin typeface="Arial"/>
              <a:cs typeface="Arial"/>
            </a:endParaRPr>
          </a:p>
          <a:p>
            <a:pPr marL="391795" marR="305435" indent="-379730">
              <a:lnSpc>
                <a:spcPct val="125000"/>
              </a:lnSpc>
              <a:spcBef>
                <a:spcPts val="405"/>
              </a:spcBef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10" dirty="0">
                <a:latin typeface="Arial"/>
                <a:cs typeface="Arial"/>
              </a:rPr>
              <a:t>C++ </a:t>
            </a:r>
            <a:r>
              <a:rPr sz="2500" spc="-5" dirty="0">
                <a:latin typeface="Arial"/>
                <a:cs typeface="Arial"/>
              </a:rPr>
              <a:t>permits us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-5" dirty="0">
                <a:latin typeface="Arial"/>
                <a:cs typeface="Arial"/>
              </a:rPr>
              <a:t>create our own definitions of  operators that can be used to manipulate the strings  very much similar to other </a:t>
            </a:r>
            <a:r>
              <a:rPr sz="2500" dirty="0">
                <a:latin typeface="Arial"/>
                <a:cs typeface="Arial"/>
              </a:rPr>
              <a:t>built-in </a:t>
            </a:r>
            <a:r>
              <a:rPr sz="2500" spc="-5" dirty="0">
                <a:latin typeface="Arial"/>
                <a:cs typeface="Arial"/>
              </a:rPr>
              <a:t>data</a:t>
            </a:r>
            <a:r>
              <a:rPr sz="2500" spc="6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types.</a:t>
            </a:r>
            <a:endParaRPr sz="2500">
              <a:latin typeface="Arial"/>
              <a:cs typeface="Arial"/>
            </a:endParaRPr>
          </a:p>
          <a:p>
            <a:pPr marL="391795" marR="5080" indent="-379730">
              <a:lnSpc>
                <a:spcPct val="125000"/>
              </a:lnSpc>
              <a:spcBef>
                <a:spcPts val="405"/>
              </a:spcBef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5" dirty="0">
                <a:latin typeface="Arial"/>
                <a:cs typeface="Arial"/>
              </a:rPr>
              <a:t>ANSI C++ committee has added a </a:t>
            </a:r>
            <a:r>
              <a:rPr sz="2500" dirty="0">
                <a:latin typeface="Arial"/>
                <a:cs typeface="Arial"/>
              </a:rPr>
              <a:t>new </a:t>
            </a:r>
            <a:r>
              <a:rPr sz="2500" spc="-5" dirty="0">
                <a:latin typeface="Arial"/>
                <a:cs typeface="Arial"/>
              </a:rPr>
              <a:t>class called  string to the C++ class library that supports all kinds of  string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manipulations.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709" y="204927"/>
            <a:ext cx="649414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/>
              <a:t>Manipulation of Strings using</a:t>
            </a:r>
            <a:r>
              <a:rPr sz="2900" spc="-140" dirty="0"/>
              <a:t> </a:t>
            </a:r>
            <a:r>
              <a:rPr sz="2900" dirty="0"/>
              <a:t>Operators</a:t>
            </a:r>
            <a:endParaRPr sz="29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0953" y="784605"/>
            <a:ext cx="7921625" cy="368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19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Arial"/>
              <a:cs typeface="Arial"/>
            </a:endParaRPr>
          </a:p>
          <a:p>
            <a:pPr marL="391795" marR="98425" indent="-379730">
              <a:lnSpc>
                <a:spcPct val="125299"/>
              </a:lnSpc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5" dirty="0">
                <a:latin typeface="Arial"/>
                <a:cs typeface="Arial"/>
              </a:rPr>
              <a:t>Strings can be defined as class objects which can be  then manipulated like the </a:t>
            </a:r>
            <a:r>
              <a:rPr sz="2500" dirty="0">
                <a:latin typeface="Arial"/>
                <a:cs typeface="Arial"/>
              </a:rPr>
              <a:t>built-in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types.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B2C1F"/>
              </a:buClr>
              <a:buFont typeface="Arial"/>
              <a:buChar char=""/>
            </a:pPr>
            <a:endParaRPr sz="3950">
              <a:latin typeface="Arial"/>
              <a:cs typeface="Arial"/>
            </a:endParaRPr>
          </a:p>
          <a:p>
            <a:pPr marL="391795" marR="5080" indent="-379730">
              <a:lnSpc>
                <a:spcPct val="125000"/>
              </a:lnSpc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5" dirty="0">
                <a:latin typeface="Arial"/>
                <a:cs typeface="Arial"/>
              </a:rPr>
              <a:t>Since the strings vary in size, we use new to allocate  memory for each string and a pointer variable to point  to the string</a:t>
            </a:r>
            <a:r>
              <a:rPr sz="2500" spc="25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array.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953" y="1486179"/>
            <a:ext cx="8075930" cy="2678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5080" indent="-379730">
              <a:lnSpc>
                <a:spcPct val="125299"/>
              </a:lnSpc>
              <a:spcBef>
                <a:spcPts val="100"/>
              </a:spcBef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35" dirty="0">
                <a:latin typeface="Arial"/>
                <a:cs typeface="Arial"/>
              </a:rPr>
              <a:t>We </a:t>
            </a:r>
            <a:r>
              <a:rPr sz="2500" spc="-5" dirty="0">
                <a:latin typeface="Arial"/>
                <a:cs typeface="Arial"/>
              </a:rPr>
              <a:t>must create string objects that can hold two pieces  of information:</a:t>
            </a:r>
            <a:endParaRPr sz="2500">
              <a:latin typeface="Arial"/>
              <a:cs typeface="Arial"/>
            </a:endParaRPr>
          </a:p>
          <a:p>
            <a:pPr marL="779145" lvl="1" indent="-229235">
              <a:lnSpc>
                <a:spcPct val="100000"/>
              </a:lnSpc>
              <a:spcBef>
                <a:spcPts val="1125"/>
              </a:spcBef>
              <a:buClr>
                <a:srgbClr val="E6B0AB"/>
              </a:buClr>
              <a:buSzPct val="84782"/>
              <a:buChar char=""/>
              <a:tabLst>
                <a:tab pos="779780" algn="l"/>
              </a:tabLst>
            </a:pPr>
            <a:r>
              <a:rPr sz="2300" dirty="0">
                <a:latin typeface="Arial"/>
                <a:cs typeface="Arial"/>
              </a:rPr>
              <a:t>Length</a:t>
            </a:r>
            <a:endParaRPr sz="2300">
              <a:latin typeface="Arial"/>
              <a:cs typeface="Arial"/>
            </a:endParaRPr>
          </a:p>
          <a:p>
            <a:pPr marL="779145" lvl="1" indent="-229235">
              <a:lnSpc>
                <a:spcPts val="2755"/>
              </a:lnSpc>
              <a:spcBef>
                <a:spcPts val="1090"/>
              </a:spcBef>
              <a:buClr>
                <a:srgbClr val="E6B0AB"/>
              </a:buClr>
              <a:buSzPct val="84782"/>
              <a:buChar char=""/>
              <a:tabLst>
                <a:tab pos="779780" algn="l"/>
              </a:tabLst>
            </a:pPr>
            <a:r>
              <a:rPr sz="2300" dirty="0">
                <a:latin typeface="Arial"/>
                <a:cs typeface="Arial"/>
              </a:rPr>
              <a:t>Location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ts val="2815"/>
              </a:lnSpc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class string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2820"/>
              </a:lnSpc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{</a:t>
            </a:r>
            <a:endParaRPr sz="25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1903" y="4138096"/>
          <a:ext cx="4855210" cy="2036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2705"/>
                <a:gridCol w="789305"/>
                <a:gridCol w="2743200"/>
              </a:tblGrid>
              <a:tr h="1215196">
                <a:tc>
                  <a:txBody>
                    <a:bodyPr/>
                    <a:lstStyle/>
                    <a:p>
                      <a:pPr marL="565150" marR="132715">
                        <a:lnSpc>
                          <a:spcPts val="2650"/>
                        </a:lnSpc>
                        <a:spcBef>
                          <a:spcPts val="140"/>
                        </a:spcBef>
                      </a:pPr>
                      <a:r>
                        <a:rPr sz="250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ch</a:t>
                      </a:r>
                      <a:r>
                        <a:rPr sz="2500" spc="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50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r  </a:t>
                      </a: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int</a:t>
                      </a:r>
                      <a:endParaRPr sz="2500">
                        <a:latin typeface="Arial"/>
                        <a:cs typeface="Arial"/>
                      </a:endParaRPr>
                    </a:p>
                    <a:p>
                      <a:pPr marL="298450">
                        <a:lnSpc>
                          <a:spcPts val="2625"/>
                        </a:lnSpc>
                      </a:pP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public</a:t>
                      </a:r>
                      <a:r>
                        <a:rPr sz="2500" spc="-7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: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B w="28575">
                      <a:solidFill>
                        <a:srgbClr val="0098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marR="248920" indent="15240">
                        <a:lnSpc>
                          <a:spcPts val="2650"/>
                        </a:lnSpc>
                        <a:spcBef>
                          <a:spcPts val="140"/>
                        </a:spcBef>
                      </a:pP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*p;  </a:t>
                      </a:r>
                      <a:r>
                        <a:rPr sz="250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2500" spc="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50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;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ts val="2585"/>
                        </a:lnSpc>
                      </a:pP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// pointer to</a:t>
                      </a:r>
                      <a:r>
                        <a:rPr sz="250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string</a:t>
                      </a:r>
                      <a:endParaRPr sz="2500">
                        <a:latin typeface="Arial"/>
                        <a:cs typeface="Arial"/>
                      </a:endParaRPr>
                    </a:p>
                    <a:p>
                      <a:pPr marL="277495">
                        <a:lnSpc>
                          <a:spcPts val="2825"/>
                        </a:lnSpc>
                      </a:pPr>
                      <a:r>
                        <a:rPr sz="250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// length </a:t>
                      </a: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500" spc="-3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string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372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98CB"/>
                      </a:solidFill>
                      <a:prstDash val="solid"/>
                    </a:lnT>
                    <a:lnB w="28575">
                      <a:solidFill>
                        <a:srgbClr val="0098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84555">
                <a:tc>
                  <a:txBody>
                    <a:bodyPr/>
                    <a:lstStyle/>
                    <a:p>
                      <a:pPr marL="31750">
                        <a:lnSpc>
                          <a:spcPts val="2930"/>
                        </a:lnSpc>
                        <a:spcBef>
                          <a:spcPts val="785"/>
                        </a:spcBef>
                      </a:pPr>
                      <a:r>
                        <a:rPr sz="2500" spc="-1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};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T w="28575">
                      <a:solidFill>
                        <a:srgbClr val="0098C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7588" y="416178"/>
            <a:ext cx="72186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Manipulation </a:t>
            </a:r>
            <a:r>
              <a:rPr sz="3200" dirty="0"/>
              <a:t>of Strings using</a:t>
            </a:r>
            <a:r>
              <a:rPr sz="3200" spc="-15" dirty="0"/>
              <a:t> </a:t>
            </a:r>
            <a:r>
              <a:rPr sz="3200" spc="-480" dirty="0"/>
              <a:t>Ope</a:t>
            </a:r>
            <a:r>
              <a:rPr sz="2700" spc="-719" baseline="-27777" dirty="0">
                <a:solidFill>
                  <a:srgbClr val="000000"/>
                </a:solidFill>
              </a:rPr>
              <a:t>co</a:t>
            </a:r>
            <a:r>
              <a:rPr sz="3200" spc="-480" dirty="0"/>
              <a:t>r</a:t>
            </a:r>
            <a:r>
              <a:rPr sz="2700" spc="-719" baseline="-27777" dirty="0">
                <a:solidFill>
                  <a:srgbClr val="000000"/>
                </a:solidFill>
              </a:rPr>
              <a:t>n</a:t>
            </a:r>
            <a:r>
              <a:rPr sz="3200" spc="-480" dirty="0"/>
              <a:t>a</a:t>
            </a:r>
            <a:r>
              <a:rPr sz="2700" spc="-719" baseline="-27777" dirty="0">
                <a:solidFill>
                  <a:srgbClr val="000000"/>
                </a:solidFill>
              </a:rPr>
              <a:t>tin</a:t>
            </a:r>
            <a:r>
              <a:rPr sz="3200" spc="-480" dirty="0"/>
              <a:t>t</a:t>
            </a:r>
            <a:r>
              <a:rPr sz="2700" spc="-719" baseline="-27777" dirty="0">
                <a:solidFill>
                  <a:srgbClr val="000000"/>
                </a:solidFill>
              </a:rPr>
              <a:t>u</a:t>
            </a:r>
            <a:r>
              <a:rPr sz="3200" spc="-480" dirty="0"/>
              <a:t>o</a:t>
            </a:r>
            <a:r>
              <a:rPr sz="2700" spc="-719" baseline="-27777" dirty="0">
                <a:solidFill>
                  <a:srgbClr val="000000"/>
                </a:solidFill>
              </a:rPr>
              <a:t>e</a:t>
            </a:r>
            <a:r>
              <a:rPr sz="3200" spc="-480" dirty="0"/>
              <a:t>r</a:t>
            </a:r>
            <a:r>
              <a:rPr sz="2700" spc="-719" baseline="-27777" dirty="0">
                <a:solidFill>
                  <a:srgbClr val="000000"/>
                </a:solidFill>
              </a:rPr>
              <a:t>…</a:t>
            </a:r>
            <a:r>
              <a:rPr sz="3200" spc="-480" dirty="0"/>
              <a:t>s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600"/>
            <a:ext cx="3886200" cy="6002020"/>
          </a:xfrm>
          <a:custGeom>
            <a:avLst/>
            <a:gdLst/>
            <a:ahLst/>
            <a:cxnLst/>
            <a:rect l="l" t="t" r="r" b="b"/>
            <a:pathLst>
              <a:path w="3886200" h="6002020">
                <a:moveTo>
                  <a:pt x="0" y="6001512"/>
                </a:moveTo>
                <a:lnTo>
                  <a:pt x="3886200" y="6001512"/>
                </a:lnTo>
                <a:lnTo>
                  <a:pt x="3886200" y="0"/>
                </a:lnTo>
                <a:lnTo>
                  <a:pt x="0" y="0"/>
                </a:lnTo>
                <a:lnTo>
                  <a:pt x="0" y="600151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7340" y="253695"/>
            <a:ext cx="307530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160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// string </a:t>
            </a:r>
            <a:r>
              <a:rPr sz="2400" spc="-5" dirty="0">
                <a:latin typeface="Arial"/>
                <a:cs typeface="Arial"/>
              </a:rPr>
              <a:t>manipulation  #</a:t>
            </a:r>
            <a:r>
              <a:rPr sz="2400" spc="-15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ncl</a:t>
            </a:r>
            <a:r>
              <a:rPr sz="2400" spc="-15" dirty="0">
                <a:latin typeface="Arial"/>
                <a:cs typeface="Arial"/>
              </a:rPr>
              <a:t>u</a:t>
            </a:r>
            <a:r>
              <a:rPr sz="2400" spc="-5" dirty="0">
                <a:latin typeface="Arial"/>
                <a:cs typeface="Arial"/>
              </a:rPr>
              <a:t>de</a:t>
            </a:r>
            <a:r>
              <a:rPr sz="2400" spc="-10" dirty="0">
                <a:latin typeface="Arial"/>
                <a:cs typeface="Arial"/>
              </a:rPr>
              <a:t>&lt;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st</a:t>
            </a:r>
            <a:r>
              <a:rPr sz="2400" spc="5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eam.</a:t>
            </a:r>
            <a:r>
              <a:rPr sz="2400" dirty="0">
                <a:latin typeface="Arial"/>
                <a:cs typeface="Arial"/>
              </a:rPr>
              <a:t>h&gt;  </a:t>
            </a:r>
            <a:r>
              <a:rPr sz="2400" spc="-5" dirty="0">
                <a:latin typeface="Arial"/>
                <a:cs typeface="Arial"/>
              </a:rPr>
              <a:t>#include&lt;string.h&gt;  class </a:t>
            </a:r>
            <a:r>
              <a:rPr sz="2400" dirty="0">
                <a:latin typeface="Arial"/>
                <a:cs typeface="Arial"/>
              </a:rPr>
              <a:t>string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 marR="144335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char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str[25];  </a:t>
            </a:r>
            <a:r>
              <a:rPr sz="2400" spc="-5" dirty="0">
                <a:latin typeface="Arial"/>
                <a:cs typeface="Arial"/>
              </a:rPr>
              <a:t>public: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void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getstring();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void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putstring(string&amp;);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3912489"/>
            <a:ext cx="3405504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void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display();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string operator+(string&amp;);  int operator==(string&amp;);  void </a:t>
            </a:r>
            <a:r>
              <a:rPr sz="2400" dirty="0">
                <a:latin typeface="Arial"/>
                <a:cs typeface="Arial"/>
              </a:rPr>
              <a:t>operator=(string&amp;);  </a:t>
            </a:r>
            <a:r>
              <a:rPr sz="2400" spc="-5" dirty="0">
                <a:latin typeface="Arial"/>
                <a:cs typeface="Arial"/>
              </a:rPr>
              <a:t>void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operator+=(string&amp;);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};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3400" y="228600"/>
            <a:ext cx="4495800" cy="43408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"/>
                <a:cs typeface="Arial"/>
              </a:rPr>
              <a:t>void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string::getstring()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92075" marR="15163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cout&lt;&lt;"Enter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string:";  gets(str);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void </a:t>
            </a:r>
            <a:r>
              <a:rPr sz="2400" dirty="0">
                <a:latin typeface="Arial"/>
                <a:cs typeface="Arial"/>
              </a:rPr>
              <a:t>string::putstring(string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&amp;s)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92075" marR="179451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int len=strlen(s.str);  cout&lt;&lt;len;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152400"/>
            <a:ext cx="4343400" cy="6248400"/>
          </a:xfrm>
          <a:custGeom>
            <a:avLst/>
            <a:gdLst/>
            <a:ahLst/>
            <a:cxnLst/>
            <a:rect l="l" t="t" r="r" b="b"/>
            <a:pathLst>
              <a:path w="4343400" h="6248400">
                <a:moveTo>
                  <a:pt x="0" y="6248400"/>
                </a:moveTo>
                <a:lnTo>
                  <a:pt x="4343400" y="6248400"/>
                </a:lnTo>
                <a:lnTo>
                  <a:pt x="4343400" y="0"/>
                </a:lnTo>
                <a:lnTo>
                  <a:pt x="0" y="0"/>
                </a:lnTo>
                <a:lnTo>
                  <a:pt x="0" y="62484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7340" y="482853"/>
            <a:ext cx="4149090" cy="587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0979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string string::operator+(string  </a:t>
            </a:r>
            <a:r>
              <a:rPr sz="2400" dirty="0">
                <a:latin typeface="Arial"/>
                <a:cs typeface="Arial"/>
              </a:rPr>
              <a:t>&amp;s)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 marR="59690" indent="8382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string </a:t>
            </a:r>
            <a:r>
              <a:rPr sz="2400" dirty="0">
                <a:latin typeface="Arial"/>
                <a:cs typeface="Arial"/>
              </a:rPr>
              <a:t>temp;  if(</a:t>
            </a:r>
            <a:r>
              <a:rPr sz="2400" spc="5" dirty="0">
                <a:latin typeface="Arial"/>
                <a:cs typeface="Arial"/>
              </a:rPr>
              <a:t>(</a:t>
            </a:r>
            <a:r>
              <a:rPr sz="2400" dirty="0">
                <a:latin typeface="Arial"/>
                <a:cs typeface="Arial"/>
              </a:rPr>
              <a:t>strle</a:t>
            </a:r>
            <a:r>
              <a:rPr sz="2400" spc="-5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(st</a:t>
            </a:r>
            <a:r>
              <a:rPr sz="2400" spc="5" dirty="0">
                <a:latin typeface="Arial"/>
                <a:cs typeface="Arial"/>
              </a:rPr>
              <a:t>r</a:t>
            </a:r>
            <a:r>
              <a:rPr sz="2400" dirty="0">
                <a:latin typeface="Arial"/>
                <a:cs typeface="Arial"/>
              </a:rPr>
              <a:t>)+strle</a:t>
            </a:r>
            <a:r>
              <a:rPr sz="2400" spc="-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(s.str))&lt;2</a:t>
            </a:r>
            <a:r>
              <a:rPr sz="2400" spc="-10" dirty="0">
                <a:latin typeface="Arial"/>
                <a:cs typeface="Arial"/>
              </a:rPr>
              <a:t>5</a:t>
            </a:r>
            <a:r>
              <a:rPr sz="240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 marR="127889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strcpy(temp.str,s.str);  strcat(temp.str,s.str);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else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cout&lt;&lt;endl&lt;&lt;"\nconcatenation 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not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possible";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return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temp;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18303" y="222504"/>
            <a:ext cx="4432300" cy="6291580"/>
            <a:chOff x="4718303" y="222504"/>
            <a:chExt cx="4432300" cy="6291580"/>
          </a:xfrm>
        </p:grpSpPr>
        <p:sp>
          <p:nvSpPr>
            <p:cNvPr id="5" name="object 5"/>
            <p:cNvSpPr/>
            <p:nvPr/>
          </p:nvSpPr>
          <p:spPr>
            <a:xfrm>
              <a:off x="4724399" y="228600"/>
              <a:ext cx="4419600" cy="6278880"/>
            </a:xfrm>
            <a:custGeom>
              <a:avLst/>
              <a:gdLst/>
              <a:ahLst/>
              <a:cxnLst/>
              <a:rect l="l" t="t" r="r" b="b"/>
              <a:pathLst>
                <a:path w="4419600" h="6278880">
                  <a:moveTo>
                    <a:pt x="4419600" y="0"/>
                  </a:moveTo>
                  <a:lnTo>
                    <a:pt x="0" y="0"/>
                  </a:lnTo>
                  <a:lnTo>
                    <a:pt x="0" y="6278880"/>
                  </a:lnTo>
                  <a:lnTo>
                    <a:pt x="4419600" y="6278880"/>
                  </a:lnTo>
                  <a:lnTo>
                    <a:pt x="441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24399" y="228600"/>
              <a:ext cx="4419600" cy="6278880"/>
            </a:xfrm>
            <a:custGeom>
              <a:avLst/>
              <a:gdLst/>
              <a:ahLst/>
              <a:cxnLst/>
              <a:rect l="l" t="t" r="r" b="b"/>
              <a:pathLst>
                <a:path w="4419600" h="6278880">
                  <a:moveTo>
                    <a:pt x="0" y="6278880"/>
                  </a:moveTo>
                  <a:lnTo>
                    <a:pt x="4419600" y="6278880"/>
                  </a:lnTo>
                  <a:lnTo>
                    <a:pt x="4419600" y="0"/>
                  </a:lnTo>
                  <a:lnTo>
                    <a:pt x="0" y="0"/>
                  </a:lnTo>
                  <a:lnTo>
                    <a:pt x="0" y="627888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03775" y="253695"/>
            <a:ext cx="42265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</a:rPr>
              <a:t>int </a:t>
            </a:r>
            <a:r>
              <a:rPr sz="2400" dirty="0">
                <a:solidFill>
                  <a:srgbClr val="000000"/>
                </a:solidFill>
              </a:rPr>
              <a:t>string::operator==(string</a:t>
            </a:r>
            <a:r>
              <a:rPr sz="2400" spc="-8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&amp;s)</a:t>
            </a:r>
            <a:endParaRPr sz="240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0000"/>
                </a:solidFill>
              </a:rPr>
              <a:t>{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4803775" y="985773"/>
            <a:ext cx="4245610" cy="587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return(strcmp(str,s.str)==0?1:0)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2700" marR="50355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void string::operator=(string  </a:t>
            </a:r>
            <a:r>
              <a:rPr sz="2400" dirty="0">
                <a:latin typeface="Arial"/>
                <a:cs typeface="Arial"/>
              </a:rPr>
              <a:t>&amp;s)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strcpy(str,s.str);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2700" marR="32575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void string::operator+=(string  </a:t>
            </a:r>
            <a:r>
              <a:rPr sz="2400" dirty="0">
                <a:latin typeface="Arial"/>
                <a:cs typeface="Arial"/>
              </a:rPr>
              <a:t>&amp;s)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strcat(str,s.str);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void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string::display()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cout&lt;&lt;str;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229" y="6314643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600"/>
            <a:ext cx="4267200" cy="5910580"/>
          </a:xfrm>
          <a:custGeom>
            <a:avLst/>
            <a:gdLst/>
            <a:ahLst/>
            <a:cxnLst/>
            <a:rect l="l" t="t" r="r" b="b"/>
            <a:pathLst>
              <a:path w="4267200" h="5910580">
                <a:moveTo>
                  <a:pt x="0" y="5910072"/>
                </a:moveTo>
                <a:lnTo>
                  <a:pt x="4267200" y="5910072"/>
                </a:lnTo>
                <a:lnTo>
                  <a:pt x="4267200" y="0"/>
                </a:lnTo>
                <a:lnTo>
                  <a:pt x="0" y="0"/>
                </a:lnTo>
                <a:lnTo>
                  <a:pt x="0" y="5910072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7340" y="253695"/>
            <a:ext cx="4026535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void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main()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 marR="154876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string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s1,s2,s3,s4;  clrscr();  </a:t>
            </a:r>
            <a:r>
              <a:rPr sz="2400" spc="-5" dirty="0">
                <a:latin typeface="Arial"/>
                <a:cs typeface="Arial"/>
              </a:rPr>
              <a:t>s1.getstring();  </a:t>
            </a:r>
            <a:r>
              <a:rPr sz="2400" dirty="0">
                <a:latin typeface="Arial"/>
                <a:cs typeface="Arial"/>
              </a:rPr>
              <a:t>s2.getstring();  </a:t>
            </a:r>
            <a:r>
              <a:rPr sz="2400" spc="-5" dirty="0">
                <a:latin typeface="Arial"/>
                <a:cs typeface="Arial"/>
              </a:rPr>
              <a:t>s3=s1+s2;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cout&lt;&lt;"\nFirst string length=";  </a:t>
            </a:r>
            <a:r>
              <a:rPr sz="2400" dirty="0">
                <a:latin typeface="Arial"/>
                <a:cs typeface="Arial"/>
              </a:rPr>
              <a:t>s1.putstring(s1);  </a:t>
            </a:r>
            <a:r>
              <a:rPr sz="2400" spc="-5" dirty="0">
                <a:latin typeface="Arial"/>
                <a:cs typeface="Arial"/>
              </a:rPr>
              <a:t>cout&lt;&lt;"\nSecond string  length=";</a:t>
            </a:r>
            <a:endParaRPr sz="2400">
              <a:latin typeface="Arial"/>
              <a:cs typeface="Arial"/>
            </a:endParaRPr>
          </a:p>
          <a:p>
            <a:pPr marL="12700" marR="52069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s2.putstring(s2);  cout&lt;&lt;endl&lt;&lt;"\nConcatenate  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string:";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s3.display();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48200" y="304800"/>
            <a:ext cx="4191000" cy="5633085"/>
          </a:xfrm>
          <a:custGeom>
            <a:avLst/>
            <a:gdLst/>
            <a:ahLst/>
            <a:cxnLst/>
            <a:rect l="l" t="t" r="r" b="b"/>
            <a:pathLst>
              <a:path w="4191000" h="5633085">
                <a:moveTo>
                  <a:pt x="0" y="5632704"/>
                </a:moveTo>
                <a:lnTo>
                  <a:pt x="4191000" y="5632704"/>
                </a:lnTo>
                <a:lnTo>
                  <a:pt x="4191000" y="0"/>
                </a:lnTo>
                <a:lnTo>
                  <a:pt x="0" y="0"/>
                </a:lnTo>
                <a:lnTo>
                  <a:pt x="0" y="563270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27575" y="329895"/>
            <a:ext cx="3979545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if(s1==s2)  </a:t>
            </a:r>
            <a:r>
              <a:rPr sz="2400" spc="-5" dirty="0">
                <a:latin typeface="Arial"/>
                <a:cs typeface="Arial"/>
              </a:rPr>
              <a:t>cout&lt;&lt;endl&lt;&lt;"\nComparison:  Equal";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else  cout&lt;&lt;endl&lt;&lt;"\nComparison:  Not equal\n";  cout&lt;&lt;endl&lt;&lt;"\nafter  addition:\n";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s1+=s2;</a:t>
            </a:r>
            <a:endParaRPr sz="2400">
              <a:latin typeface="Arial"/>
              <a:cs typeface="Arial"/>
            </a:endParaRPr>
          </a:p>
          <a:p>
            <a:pPr marL="12700" marR="231648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s1.disp</a:t>
            </a:r>
            <a:r>
              <a:rPr sz="2400" spc="-20" dirty="0">
                <a:latin typeface="Arial"/>
                <a:cs typeface="Arial"/>
              </a:rPr>
              <a:t>l</a:t>
            </a:r>
            <a:r>
              <a:rPr sz="2400" spc="-5" dirty="0">
                <a:latin typeface="Arial"/>
                <a:cs typeface="Arial"/>
              </a:rPr>
              <a:t>ay()</a:t>
            </a:r>
            <a:r>
              <a:rPr sz="2400" dirty="0">
                <a:latin typeface="Arial"/>
                <a:cs typeface="Arial"/>
              </a:rPr>
              <a:t>;  s4=s3;</a:t>
            </a:r>
            <a:endParaRPr sz="2400">
              <a:latin typeface="Arial"/>
              <a:cs typeface="Arial"/>
            </a:endParaRPr>
          </a:p>
          <a:p>
            <a:pPr marL="12700" marR="106553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cout&lt;&lt;</a:t>
            </a:r>
            <a:r>
              <a:rPr sz="2400" spc="-10" dirty="0">
                <a:latin typeface="Arial"/>
                <a:cs typeface="Arial"/>
              </a:rPr>
              <a:t>endl</a:t>
            </a:r>
            <a:r>
              <a:rPr sz="2400" dirty="0">
                <a:latin typeface="Arial"/>
                <a:cs typeface="Arial"/>
              </a:rPr>
              <a:t>&lt;&lt;"copy:";  </a:t>
            </a:r>
            <a:r>
              <a:rPr sz="2400" spc="-5" dirty="0">
                <a:latin typeface="Arial"/>
                <a:cs typeface="Arial"/>
              </a:rPr>
              <a:t>s4.display();</a:t>
            </a:r>
            <a:endParaRPr sz="2400">
              <a:latin typeface="Arial"/>
              <a:cs typeface="Arial"/>
            </a:endParaRPr>
          </a:p>
          <a:p>
            <a:pPr marL="12700" marR="292354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s1=s2;  getc</a:t>
            </a:r>
            <a:r>
              <a:rPr sz="2400" spc="-10" dirty="0">
                <a:latin typeface="Arial"/>
                <a:cs typeface="Arial"/>
              </a:rPr>
              <a:t>h</a:t>
            </a:r>
            <a:r>
              <a:rPr sz="2400" dirty="0">
                <a:latin typeface="Arial"/>
                <a:cs typeface="Arial"/>
              </a:rPr>
              <a:t>();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Rules For</a:t>
            </a:r>
            <a:r>
              <a:rPr spc="10" dirty="0"/>
              <a:t> </a:t>
            </a:r>
            <a:r>
              <a:rPr spc="-5" dirty="0"/>
              <a:t>Overloading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0953" y="292735"/>
            <a:ext cx="7843520" cy="5932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593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696363"/>
                </a:solidFill>
                <a:latin typeface="Arial"/>
                <a:cs typeface="Arial"/>
              </a:rPr>
              <a:t>Operators</a:t>
            </a:r>
            <a:endParaRPr sz="4000">
              <a:latin typeface="Arial"/>
              <a:cs typeface="Arial"/>
            </a:endParaRPr>
          </a:p>
          <a:p>
            <a:pPr marL="391795" marR="688975" indent="-379730">
              <a:lnSpc>
                <a:spcPct val="125200"/>
              </a:lnSpc>
              <a:spcBef>
                <a:spcPts val="1789"/>
              </a:spcBef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5" dirty="0">
                <a:latin typeface="Arial"/>
                <a:cs typeface="Arial"/>
              </a:rPr>
              <a:t>Only existing operators can be overloaded. New  operators cannot be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created.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B2C1F"/>
              </a:buClr>
              <a:buFont typeface="Arial"/>
              <a:buChar char=""/>
            </a:pPr>
            <a:endParaRPr sz="3950">
              <a:latin typeface="Arial"/>
              <a:cs typeface="Arial"/>
            </a:endParaRPr>
          </a:p>
          <a:p>
            <a:pPr marL="391795" marR="685800" indent="-379730">
              <a:lnSpc>
                <a:spcPct val="124800"/>
              </a:lnSpc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5" dirty="0">
                <a:latin typeface="Arial"/>
                <a:cs typeface="Arial"/>
              </a:rPr>
              <a:t>The overloaded operator must have at least one  operand that is of user-defined</a:t>
            </a:r>
            <a:r>
              <a:rPr sz="2500" spc="3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type.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9B2C1F"/>
              </a:buClr>
              <a:buFont typeface="Arial"/>
              <a:buChar char=""/>
            </a:pPr>
            <a:endParaRPr sz="2800">
              <a:latin typeface="Arial"/>
              <a:cs typeface="Arial"/>
            </a:endParaRPr>
          </a:p>
          <a:p>
            <a:pPr marL="391795" indent="-379730">
              <a:lnSpc>
                <a:spcPct val="100000"/>
              </a:lnSpc>
              <a:spcBef>
                <a:spcPts val="2090"/>
              </a:spcBef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35" dirty="0">
                <a:latin typeface="Arial"/>
                <a:cs typeface="Arial"/>
              </a:rPr>
              <a:t>We </a:t>
            </a:r>
            <a:r>
              <a:rPr sz="2500" spc="-5" dirty="0">
                <a:latin typeface="Arial"/>
                <a:cs typeface="Arial"/>
              </a:rPr>
              <a:t>cannot change the basic meaning of an</a:t>
            </a:r>
            <a:r>
              <a:rPr sz="2500" spc="110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operator.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9B2C1F"/>
              </a:buClr>
              <a:buFont typeface="Arial"/>
              <a:buChar char=""/>
            </a:pPr>
            <a:endParaRPr sz="3900">
              <a:latin typeface="Arial"/>
              <a:cs typeface="Arial"/>
            </a:endParaRPr>
          </a:p>
          <a:p>
            <a:pPr marL="391795" marR="280670" indent="-379730">
              <a:lnSpc>
                <a:spcPct val="125200"/>
              </a:lnSpc>
              <a:spcBef>
                <a:spcPts val="5"/>
              </a:spcBef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5" dirty="0">
                <a:latin typeface="Arial"/>
                <a:cs typeface="Arial"/>
              </a:rPr>
              <a:t>Overloaded operators follow the syntax rules </a:t>
            </a:r>
            <a:r>
              <a:rPr sz="2500" dirty="0">
                <a:latin typeface="Arial"/>
                <a:cs typeface="Arial"/>
              </a:rPr>
              <a:t>of </a:t>
            </a:r>
            <a:r>
              <a:rPr sz="2500" spc="-5" dirty="0">
                <a:latin typeface="Arial"/>
                <a:cs typeface="Arial"/>
              </a:rPr>
              <a:t>the  original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operators.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Rules For</a:t>
            </a:r>
            <a:r>
              <a:rPr spc="10" dirty="0"/>
              <a:t> </a:t>
            </a:r>
            <a:r>
              <a:rPr spc="-5" dirty="0"/>
              <a:t>Overloading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67705" y="292735"/>
            <a:ext cx="2282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696363"/>
                </a:solidFill>
                <a:latin typeface="Arial"/>
                <a:cs typeface="Arial"/>
              </a:rPr>
              <a:t>Operators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953" y="1078890"/>
            <a:ext cx="7548880" cy="108077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  <a:tabLst>
                <a:tab pos="391795" algn="l"/>
              </a:tabLst>
            </a:pPr>
            <a:r>
              <a:rPr sz="2100" spc="-535" dirty="0">
                <a:solidFill>
                  <a:srgbClr val="9B2C1F"/>
                </a:solidFill>
                <a:latin typeface="Arial"/>
                <a:cs typeface="Arial"/>
              </a:rPr>
              <a:t>	</a:t>
            </a:r>
            <a:r>
              <a:rPr sz="2500" spc="-5" dirty="0">
                <a:latin typeface="Arial"/>
                <a:cs typeface="Arial"/>
              </a:rPr>
              <a:t>The following operators that cannot be</a:t>
            </a:r>
            <a:r>
              <a:rPr sz="2500" spc="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overloaded:</a:t>
            </a:r>
            <a:endParaRPr sz="2500">
              <a:latin typeface="Arial"/>
              <a:cs typeface="Arial"/>
            </a:endParaRPr>
          </a:p>
          <a:p>
            <a:pPr marL="550545">
              <a:lnSpc>
                <a:spcPct val="100000"/>
              </a:lnSpc>
              <a:spcBef>
                <a:spcPts val="1150"/>
              </a:spcBef>
              <a:tabLst>
                <a:tab pos="2310765" algn="l"/>
              </a:tabLst>
            </a:pPr>
            <a:r>
              <a:rPr sz="2100" spc="-535" dirty="0">
                <a:solidFill>
                  <a:srgbClr val="E6B0AB"/>
                </a:solidFill>
                <a:latin typeface="Arial"/>
                <a:cs typeface="Arial"/>
              </a:rPr>
              <a:t>           </a:t>
            </a:r>
            <a:r>
              <a:rPr sz="2100" spc="-495" dirty="0">
                <a:solidFill>
                  <a:srgbClr val="E6B0AB"/>
                </a:solidFill>
                <a:latin typeface="Arial"/>
                <a:cs typeface="Arial"/>
              </a:rPr>
              <a:t>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Size</a:t>
            </a:r>
            <a:r>
              <a:rPr sz="2500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of	Size of</a:t>
            </a:r>
            <a:r>
              <a:rPr sz="2500" spc="10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operator</a:t>
            </a:r>
            <a:endParaRPr sz="25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39900" y="2323647"/>
          <a:ext cx="5746749" cy="1936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330"/>
                <a:gridCol w="981709"/>
                <a:gridCol w="4410710"/>
              </a:tblGrid>
              <a:tr h="44072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dirty="0">
                          <a:solidFill>
                            <a:srgbClr val="E6B0AB"/>
                          </a:solidFill>
                          <a:latin typeface="Arial"/>
                          <a:cs typeface="Arial"/>
                        </a:rPr>
                        <a:t>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760"/>
                        </a:lnSpc>
                      </a:pPr>
                      <a:r>
                        <a:rPr sz="250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760"/>
                        </a:lnSpc>
                      </a:pP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Membership</a:t>
                      </a:r>
                      <a:r>
                        <a:rPr sz="2500" spc="1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operator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274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100" dirty="0">
                          <a:solidFill>
                            <a:srgbClr val="E6B0AB"/>
                          </a:solidFill>
                          <a:latin typeface="Arial"/>
                          <a:cs typeface="Arial"/>
                        </a:rPr>
                        <a:t>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10668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.*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Pointer-to-member</a:t>
                      </a:r>
                      <a:r>
                        <a:rPr sz="2500" spc="1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operator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55880" marB="0"/>
                </a:tc>
              </a:tr>
              <a:tr h="52743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100" dirty="0">
                          <a:solidFill>
                            <a:srgbClr val="E6B0AB"/>
                          </a:solidFill>
                          <a:latin typeface="Arial"/>
                          <a:cs typeface="Arial"/>
                        </a:rPr>
                        <a:t>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10668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: :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Scope resolution</a:t>
                      </a:r>
                      <a:r>
                        <a:rPr sz="2500" spc="-1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operator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55880" marB="0"/>
                </a:tc>
              </a:tr>
              <a:tr h="44072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100" dirty="0">
                          <a:solidFill>
                            <a:srgbClr val="E6B0AB"/>
                          </a:solidFill>
                          <a:latin typeface="Arial"/>
                          <a:cs typeface="Arial"/>
                        </a:rPr>
                        <a:t>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10668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930"/>
                        </a:lnSpc>
                        <a:spcBef>
                          <a:spcPts val="440"/>
                        </a:spcBef>
                      </a:pP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?</a:t>
                      </a:r>
                      <a:r>
                        <a:rPr sz="2500" spc="-20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;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930"/>
                        </a:lnSpc>
                        <a:spcBef>
                          <a:spcPts val="440"/>
                        </a:spcBef>
                      </a:pP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Conditional</a:t>
                      </a:r>
                      <a:r>
                        <a:rPr sz="2500" spc="-3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" dirty="0">
                          <a:solidFill>
                            <a:srgbClr val="0099CC"/>
                          </a:solidFill>
                          <a:latin typeface="Arial"/>
                          <a:cs typeface="Arial"/>
                        </a:rPr>
                        <a:t>operator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5588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344539" y="711200"/>
            <a:ext cx="1116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Rules For</a:t>
            </a:r>
            <a:r>
              <a:rPr spc="10" dirty="0"/>
              <a:t> </a:t>
            </a:r>
            <a:r>
              <a:rPr spc="-5" dirty="0"/>
              <a:t>Overloading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67705" y="292735"/>
            <a:ext cx="2282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696363"/>
                </a:solidFill>
                <a:latin typeface="Arial"/>
                <a:cs typeface="Arial"/>
              </a:rPr>
              <a:t>Operators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4539" y="711200"/>
            <a:ext cx="1116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229" y="6314643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553" y="1129833"/>
            <a:ext cx="8121015" cy="544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7195" marR="281305" indent="-379730">
              <a:lnSpc>
                <a:spcPct val="125000"/>
              </a:lnSpc>
              <a:spcBef>
                <a:spcPts val="100"/>
              </a:spcBef>
              <a:buClr>
                <a:srgbClr val="9B2C1F"/>
              </a:buClr>
              <a:buSzPct val="84000"/>
              <a:buChar char=""/>
              <a:tabLst>
                <a:tab pos="417195" algn="l"/>
                <a:tab pos="417830" algn="l"/>
              </a:tabLst>
            </a:pPr>
            <a:r>
              <a:rPr sz="2500" spc="-5" dirty="0">
                <a:latin typeface="Arial"/>
                <a:cs typeface="Arial"/>
              </a:rPr>
              <a:t>The following operators can be over loaded with the  use </a:t>
            </a:r>
            <a:r>
              <a:rPr sz="2500" dirty="0">
                <a:latin typeface="Arial"/>
                <a:cs typeface="Arial"/>
              </a:rPr>
              <a:t>of </a:t>
            </a:r>
            <a:r>
              <a:rPr sz="2500" spc="-5" dirty="0">
                <a:latin typeface="Arial"/>
                <a:cs typeface="Arial"/>
              </a:rPr>
              <a:t>member functions </a:t>
            </a:r>
            <a:r>
              <a:rPr sz="2500" dirty="0">
                <a:latin typeface="Arial"/>
                <a:cs typeface="Arial"/>
              </a:rPr>
              <a:t>and </a:t>
            </a:r>
            <a:r>
              <a:rPr sz="2500" spc="-5" dirty="0">
                <a:latin typeface="Arial"/>
                <a:cs typeface="Arial"/>
              </a:rPr>
              <a:t>not by the use </a:t>
            </a:r>
            <a:r>
              <a:rPr sz="2500" dirty="0">
                <a:latin typeface="Arial"/>
                <a:cs typeface="Arial"/>
              </a:rPr>
              <a:t>of </a:t>
            </a:r>
            <a:r>
              <a:rPr sz="2500" spc="-5" dirty="0">
                <a:latin typeface="Arial"/>
                <a:cs typeface="Arial"/>
              </a:rPr>
              <a:t>friend  functions:</a:t>
            </a:r>
            <a:endParaRPr sz="2500">
              <a:latin typeface="Arial"/>
              <a:cs typeface="Arial"/>
            </a:endParaRPr>
          </a:p>
          <a:p>
            <a:pPr marL="804545" lvl="1" indent="-229235">
              <a:lnSpc>
                <a:spcPct val="100000"/>
              </a:lnSpc>
              <a:spcBef>
                <a:spcPts val="1125"/>
              </a:spcBef>
              <a:buClr>
                <a:srgbClr val="E6B0AB"/>
              </a:buClr>
              <a:buSzPct val="84782"/>
              <a:buChar char=""/>
              <a:tabLst>
                <a:tab pos="805180" algn="l"/>
              </a:tabLst>
            </a:pP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Assignment operator</a:t>
            </a:r>
            <a:r>
              <a:rPr sz="2300" spc="-9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=</a:t>
            </a:r>
            <a:endParaRPr sz="2300">
              <a:latin typeface="Arial"/>
              <a:cs typeface="Arial"/>
            </a:endParaRPr>
          </a:p>
          <a:p>
            <a:pPr marL="804545" lvl="1" indent="-229235">
              <a:lnSpc>
                <a:spcPct val="100000"/>
              </a:lnSpc>
              <a:spcBef>
                <a:spcPts val="1095"/>
              </a:spcBef>
              <a:buClr>
                <a:srgbClr val="E6B0AB"/>
              </a:buClr>
              <a:buSzPct val="84782"/>
              <a:buChar char=""/>
              <a:tabLst>
                <a:tab pos="805180" algn="l"/>
              </a:tabLst>
            </a:pP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Function call operator(</a:t>
            </a:r>
            <a:r>
              <a:rPr sz="2300" spc="-17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)</a:t>
            </a:r>
            <a:endParaRPr sz="2300">
              <a:latin typeface="Arial"/>
              <a:cs typeface="Arial"/>
            </a:endParaRPr>
          </a:p>
          <a:p>
            <a:pPr marL="804545" lvl="1" indent="-229235">
              <a:lnSpc>
                <a:spcPct val="100000"/>
              </a:lnSpc>
              <a:spcBef>
                <a:spcPts val="1090"/>
              </a:spcBef>
              <a:buClr>
                <a:srgbClr val="E6B0AB"/>
              </a:buClr>
              <a:buSzPct val="84782"/>
              <a:buChar char=""/>
              <a:tabLst>
                <a:tab pos="805180" algn="l"/>
              </a:tabLst>
            </a:pP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Subscripting operator [</a:t>
            </a:r>
            <a:r>
              <a:rPr sz="2300" spc="-17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]</a:t>
            </a:r>
            <a:endParaRPr sz="2300">
              <a:latin typeface="Arial"/>
              <a:cs typeface="Arial"/>
            </a:endParaRPr>
          </a:p>
          <a:p>
            <a:pPr marL="804545" lvl="1" indent="-229235">
              <a:lnSpc>
                <a:spcPct val="100000"/>
              </a:lnSpc>
              <a:spcBef>
                <a:spcPts val="1095"/>
              </a:spcBef>
              <a:buClr>
                <a:srgbClr val="E6B0AB"/>
              </a:buClr>
              <a:buSzPct val="84782"/>
              <a:buChar char=""/>
              <a:tabLst>
                <a:tab pos="805180" algn="l"/>
              </a:tabLst>
            </a:pP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Class member access operator</a:t>
            </a:r>
            <a:r>
              <a:rPr sz="2300" spc="-130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-&gt;</a:t>
            </a:r>
            <a:endParaRPr sz="2300">
              <a:latin typeface="Arial"/>
              <a:cs typeface="Arial"/>
            </a:endParaRPr>
          </a:p>
          <a:p>
            <a:pPr marL="310515" marR="30480" indent="-273050">
              <a:lnSpc>
                <a:spcPct val="125000"/>
              </a:lnSpc>
              <a:spcBef>
                <a:spcPts val="345"/>
              </a:spcBef>
              <a:buClr>
                <a:srgbClr val="9B2C1F"/>
              </a:buClr>
              <a:buSzPct val="84615"/>
              <a:buFont typeface="Arial"/>
              <a:buChar char=""/>
              <a:tabLst>
                <a:tab pos="417195" algn="l"/>
                <a:tab pos="417830" algn="l"/>
              </a:tabLst>
            </a:pPr>
            <a:r>
              <a:rPr dirty="0"/>
              <a:t>	</a:t>
            </a:r>
            <a:r>
              <a:rPr sz="2600" dirty="0">
                <a:latin typeface="Arial"/>
                <a:cs typeface="Arial"/>
              </a:rPr>
              <a:t>Unary operators, overloaded by means of a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member  function, </a:t>
            </a:r>
            <a:r>
              <a:rPr sz="2600" spc="-5" dirty="0">
                <a:latin typeface="Arial"/>
                <a:cs typeface="Arial"/>
              </a:rPr>
              <a:t>take </a:t>
            </a:r>
            <a:r>
              <a:rPr sz="2600" dirty="0">
                <a:latin typeface="Arial"/>
                <a:cs typeface="Arial"/>
              </a:rPr>
              <a:t>no explicit arguments and return no  explicit values, but, those overloaded by means </a:t>
            </a:r>
            <a:r>
              <a:rPr sz="2600">
                <a:latin typeface="Arial"/>
                <a:cs typeface="Arial"/>
              </a:rPr>
              <a:t>of </a:t>
            </a:r>
            <a:r>
              <a:rPr sz="2600" smtClean="0">
                <a:latin typeface="Arial"/>
                <a:cs typeface="Arial"/>
              </a:rPr>
              <a:t>a</a:t>
            </a:r>
            <a:r>
              <a:rPr lang="en-US" sz="2600" dirty="0" smtClean="0">
                <a:latin typeface="Arial"/>
                <a:cs typeface="Arial"/>
              </a:rPr>
              <a:t> friend function</a:t>
            </a:r>
            <a:r>
              <a:rPr sz="2600" smtClean="0">
                <a:latin typeface="Arial"/>
                <a:cs typeface="Arial"/>
              </a:rPr>
              <a:t> </a:t>
            </a:r>
            <a:r>
              <a:rPr sz="3900" baseline="4273" smtClean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2600" smtClean="0">
                <a:latin typeface="Arial"/>
                <a:cs typeface="Arial"/>
              </a:rPr>
              <a:t>take </a:t>
            </a:r>
            <a:r>
              <a:rPr sz="2600" dirty="0">
                <a:latin typeface="Arial"/>
                <a:cs typeface="Arial"/>
              </a:rPr>
              <a:t>one reference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argument.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3A9AB-441E-4373-A114-F8AB583AC96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191CSC302T-OBJECT ORIENTED PROGRAMMING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Rules For</a:t>
            </a:r>
            <a:r>
              <a:rPr spc="10" dirty="0"/>
              <a:t> </a:t>
            </a:r>
            <a:r>
              <a:rPr spc="-5" dirty="0"/>
              <a:t>Overloading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67705" y="292735"/>
            <a:ext cx="2282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696363"/>
                </a:solidFill>
                <a:latin typeface="Arial"/>
                <a:cs typeface="Arial"/>
              </a:rPr>
              <a:t>Operators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953" y="1129833"/>
            <a:ext cx="7816215" cy="489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130175" indent="-379730">
              <a:lnSpc>
                <a:spcPct val="125099"/>
              </a:lnSpc>
              <a:spcBef>
                <a:spcPts val="100"/>
              </a:spcBef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5" dirty="0">
                <a:latin typeface="Arial"/>
                <a:cs typeface="Arial"/>
              </a:rPr>
              <a:t>Binary operators overloaded through a member  function take one explicit argument and those which  are overloaded through a friend function take two  explicit</a:t>
            </a:r>
            <a:r>
              <a:rPr sz="2500" spc="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arguments.</a:t>
            </a:r>
            <a:endParaRPr sz="2500">
              <a:latin typeface="Arial"/>
              <a:cs typeface="Arial"/>
            </a:endParaRPr>
          </a:p>
          <a:p>
            <a:pPr marL="391795" marR="215900" indent="-379730" algn="just">
              <a:lnSpc>
                <a:spcPct val="125000"/>
              </a:lnSpc>
              <a:spcBef>
                <a:spcPts val="400"/>
              </a:spcBef>
              <a:buClr>
                <a:srgbClr val="9B2C1F"/>
              </a:buClr>
              <a:buSzPct val="84000"/>
              <a:buChar char=""/>
              <a:tabLst>
                <a:tab pos="392430" algn="l"/>
              </a:tabLst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When using binary operators overloaded through a  member function, the left hand operand must be an  object of the relevant</a:t>
            </a:r>
            <a:r>
              <a:rPr sz="2500" spc="20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class.</a:t>
            </a:r>
            <a:endParaRPr sz="2500">
              <a:latin typeface="Arial"/>
              <a:cs typeface="Arial"/>
            </a:endParaRPr>
          </a:p>
          <a:p>
            <a:pPr marL="391795" marR="5080" indent="-379730">
              <a:lnSpc>
                <a:spcPct val="125000"/>
              </a:lnSpc>
              <a:spcBef>
                <a:spcPts val="405"/>
              </a:spcBef>
              <a:buClr>
                <a:srgbClr val="9B2C1F"/>
              </a:buClr>
              <a:buSzPct val="84000"/>
              <a:buChar char=""/>
              <a:tabLst>
                <a:tab pos="391795" algn="l"/>
                <a:tab pos="392430" algn="l"/>
              </a:tabLst>
            </a:pPr>
            <a:r>
              <a:rPr sz="2500" spc="-5" dirty="0">
                <a:latin typeface="Arial"/>
                <a:cs typeface="Arial"/>
              </a:rPr>
              <a:t>Binary arithmetic operators such </a:t>
            </a:r>
            <a:r>
              <a:rPr sz="2500" dirty="0">
                <a:latin typeface="Arial"/>
                <a:cs typeface="Arial"/>
              </a:rPr>
              <a:t>as </a:t>
            </a:r>
            <a:r>
              <a:rPr sz="2500" spc="-5" dirty="0">
                <a:latin typeface="Arial"/>
                <a:cs typeface="Arial"/>
              </a:rPr>
              <a:t>+, -, * </a:t>
            </a:r>
            <a:r>
              <a:rPr sz="2500" dirty="0">
                <a:latin typeface="Arial"/>
                <a:cs typeface="Arial"/>
              </a:rPr>
              <a:t>and / must  </a:t>
            </a:r>
            <a:r>
              <a:rPr sz="2500" spc="-5" dirty="0">
                <a:latin typeface="Arial"/>
                <a:cs typeface="Arial"/>
              </a:rPr>
              <a:t>explicitly return a value. They must not attempt to  change their own arguments.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4539" y="711200"/>
            <a:ext cx="1116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1384" y="292735"/>
            <a:ext cx="4086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Type</a:t>
            </a:r>
            <a:r>
              <a:rPr spc="-65" dirty="0"/>
              <a:t> </a:t>
            </a:r>
            <a:r>
              <a:rPr spc="-5" dirty="0"/>
              <a:t>Conversions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0953" y="1129833"/>
            <a:ext cx="7849870" cy="4316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marR="377190" indent="-379730">
              <a:lnSpc>
                <a:spcPct val="125200"/>
              </a:lnSpc>
              <a:spcBef>
                <a:spcPts val="95"/>
              </a:spcBef>
              <a:tabLst>
                <a:tab pos="391795" algn="l"/>
              </a:tabLst>
            </a:pPr>
            <a:r>
              <a:rPr sz="2100" spc="-535" dirty="0">
                <a:solidFill>
                  <a:srgbClr val="9B2C1F"/>
                </a:solidFill>
                <a:latin typeface="Arial"/>
                <a:cs typeface="Arial"/>
              </a:rPr>
              <a:t>	</a:t>
            </a:r>
            <a:r>
              <a:rPr sz="2500" spc="-5" dirty="0">
                <a:latin typeface="Arial"/>
                <a:cs typeface="Arial"/>
              </a:rPr>
              <a:t>The type conversions are automatic </a:t>
            </a:r>
            <a:r>
              <a:rPr sz="2500" dirty="0">
                <a:latin typeface="Arial"/>
                <a:cs typeface="Arial"/>
              </a:rPr>
              <a:t>only </a:t>
            </a:r>
            <a:r>
              <a:rPr sz="2500" spc="-5" dirty="0">
                <a:latin typeface="Arial"/>
                <a:cs typeface="Arial"/>
              </a:rPr>
              <a:t>when the  data types involved are built-in</a:t>
            </a:r>
            <a:r>
              <a:rPr sz="2500" spc="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types.</a:t>
            </a:r>
            <a:endParaRPr sz="2500">
              <a:latin typeface="Arial"/>
              <a:cs typeface="Arial"/>
            </a:endParaRPr>
          </a:p>
          <a:p>
            <a:pPr marL="550545">
              <a:lnSpc>
                <a:spcPts val="2615"/>
              </a:lnSpc>
              <a:spcBef>
                <a:spcPts val="95"/>
              </a:spcBef>
            </a:pP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int</a:t>
            </a:r>
            <a:r>
              <a:rPr sz="2300" spc="-2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m;</a:t>
            </a:r>
            <a:endParaRPr sz="2300">
              <a:latin typeface="Arial"/>
              <a:cs typeface="Arial"/>
            </a:endParaRPr>
          </a:p>
          <a:p>
            <a:pPr marL="550545">
              <a:lnSpc>
                <a:spcPts val="2465"/>
              </a:lnSpc>
            </a:pP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float x =</a:t>
            </a:r>
            <a:r>
              <a:rPr sz="2300" spc="-50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3.14159;</a:t>
            </a:r>
            <a:endParaRPr sz="2300">
              <a:latin typeface="Arial"/>
              <a:cs typeface="Arial"/>
            </a:endParaRPr>
          </a:p>
          <a:p>
            <a:pPr marL="550545">
              <a:lnSpc>
                <a:spcPts val="2465"/>
              </a:lnSpc>
              <a:tabLst>
                <a:tab pos="1757680" algn="l"/>
              </a:tabLst>
            </a:pP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m =</a:t>
            </a:r>
            <a:r>
              <a:rPr sz="2300" spc="-1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0099CC"/>
                </a:solidFill>
                <a:latin typeface="Arial"/>
                <a:cs typeface="Arial"/>
              </a:rPr>
              <a:t>x;</a:t>
            </a:r>
            <a:r>
              <a:rPr sz="2300" spc="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//	convert x to integer before its </a:t>
            </a:r>
            <a:r>
              <a:rPr sz="2300" spc="-5" dirty="0">
                <a:solidFill>
                  <a:srgbClr val="0099CC"/>
                </a:solidFill>
                <a:latin typeface="Arial"/>
                <a:cs typeface="Arial"/>
              </a:rPr>
              <a:t>value </a:t>
            </a: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is</a:t>
            </a:r>
            <a:r>
              <a:rPr sz="2300" spc="-180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assigned</a:t>
            </a:r>
            <a:endParaRPr sz="2300">
              <a:latin typeface="Arial"/>
              <a:cs typeface="Arial"/>
            </a:endParaRPr>
          </a:p>
          <a:p>
            <a:pPr marL="1440180">
              <a:lnSpc>
                <a:spcPts val="2615"/>
              </a:lnSpc>
              <a:tabLst>
                <a:tab pos="1764664" algn="l"/>
              </a:tabLst>
            </a:pP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//	to</a:t>
            </a:r>
            <a:r>
              <a:rPr sz="2300" spc="-2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099CC"/>
                </a:solidFill>
                <a:latin typeface="Arial"/>
                <a:cs typeface="Arial"/>
              </a:rPr>
              <a:t>m.</a:t>
            </a:r>
            <a:endParaRPr sz="2300">
              <a:latin typeface="Arial"/>
              <a:cs typeface="Arial"/>
            </a:endParaRPr>
          </a:p>
          <a:p>
            <a:pPr marL="391795" marR="78105" indent="-379730">
              <a:lnSpc>
                <a:spcPct val="125000"/>
              </a:lnSpc>
              <a:buClr>
                <a:srgbClr val="9B2C1F"/>
              </a:buClr>
              <a:buSzPct val="84615"/>
              <a:buChar char=""/>
              <a:tabLst>
                <a:tab pos="391795" algn="l"/>
                <a:tab pos="392430" algn="l"/>
              </a:tabLst>
            </a:pPr>
            <a:r>
              <a:rPr sz="2600" dirty="0">
                <a:latin typeface="Arial"/>
                <a:cs typeface="Arial"/>
              </a:rPr>
              <a:t>For user defined data types, the compiler does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not  support automatic type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conversions.</a:t>
            </a:r>
            <a:endParaRPr sz="2600">
              <a:latin typeface="Arial"/>
              <a:cs typeface="Arial"/>
            </a:endParaRPr>
          </a:p>
          <a:p>
            <a:pPr marL="391795" marR="1134745" indent="-379730">
              <a:lnSpc>
                <a:spcPct val="125099"/>
              </a:lnSpc>
              <a:spcBef>
                <a:spcPts val="405"/>
              </a:spcBef>
              <a:buClr>
                <a:srgbClr val="9B2C1F"/>
              </a:buClr>
              <a:buSzPct val="84615"/>
              <a:buChar char=""/>
              <a:tabLst>
                <a:tab pos="391795" algn="l"/>
                <a:tab pos="392430" algn="l"/>
              </a:tabLst>
            </a:pPr>
            <a:r>
              <a:rPr sz="2600" spc="-25" dirty="0">
                <a:latin typeface="Arial"/>
                <a:cs typeface="Arial"/>
              </a:rPr>
              <a:t>We </a:t>
            </a:r>
            <a:r>
              <a:rPr sz="2600" dirty="0">
                <a:latin typeface="Arial"/>
                <a:cs typeface="Arial"/>
              </a:rPr>
              <a:t>must design the conversion routines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by  ourselves.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40" y="292735"/>
            <a:ext cx="40900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Type</a:t>
            </a:r>
            <a:r>
              <a:rPr spc="-40" dirty="0"/>
              <a:t> </a:t>
            </a:r>
            <a:r>
              <a:rPr spc="-5" dirty="0"/>
              <a:t>Conversions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0953" y="1122781"/>
            <a:ext cx="7671434" cy="3491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marR="5080" indent="-379730">
              <a:lnSpc>
                <a:spcPct val="124900"/>
              </a:lnSpc>
              <a:spcBef>
                <a:spcPts val="95"/>
              </a:spcBef>
            </a:pPr>
            <a:r>
              <a:rPr sz="2900" spc="-5" dirty="0">
                <a:latin typeface="Arial"/>
                <a:cs typeface="Arial"/>
              </a:rPr>
              <a:t>Different </a:t>
            </a:r>
            <a:r>
              <a:rPr sz="2900" dirty="0">
                <a:latin typeface="Arial"/>
                <a:cs typeface="Arial"/>
              </a:rPr>
              <a:t>situations of data conversion</a:t>
            </a:r>
            <a:r>
              <a:rPr sz="2900" spc="-19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between  incompatible</a:t>
            </a:r>
            <a:r>
              <a:rPr sz="2900" spc="-5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types.</a:t>
            </a:r>
            <a:endParaRPr sz="2900">
              <a:latin typeface="Arial"/>
              <a:cs typeface="Arial"/>
            </a:endParaRPr>
          </a:p>
          <a:p>
            <a:pPr marL="391795" indent="-379730">
              <a:lnSpc>
                <a:spcPct val="100000"/>
              </a:lnSpc>
              <a:spcBef>
                <a:spcPts val="1275"/>
              </a:spcBef>
              <a:buClr>
                <a:srgbClr val="9B2C1F"/>
              </a:buClr>
              <a:buSzPct val="84482"/>
              <a:buChar char=""/>
              <a:tabLst>
                <a:tab pos="391795" algn="l"/>
                <a:tab pos="392430" algn="l"/>
              </a:tabLst>
            </a:pP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Conversion from basic type to class</a:t>
            </a:r>
            <a:r>
              <a:rPr sz="2900" spc="-170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type.</a:t>
            </a:r>
            <a:endParaRPr sz="2900">
              <a:latin typeface="Arial"/>
              <a:cs typeface="Arial"/>
            </a:endParaRPr>
          </a:p>
          <a:p>
            <a:pPr marL="391795" indent="-379730">
              <a:lnSpc>
                <a:spcPct val="100000"/>
              </a:lnSpc>
              <a:spcBef>
                <a:spcPts val="1270"/>
              </a:spcBef>
              <a:buClr>
                <a:srgbClr val="9B2C1F"/>
              </a:buClr>
              <a:buSzPct val="84482"/>
              <a:buChar char=""/>
              <a:tabLst>
                <a:tab pos="391795" algn="l"/>
                <a:tab pos="392430" algn="l"/>
              </a:tabLst>
            </a:pP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Conversion from class type to basic</a:t>
            </a:r>
            <a:r>
              <a:rPr sz="2900" spc="-160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type.</a:t>
            </a:r>
            <a:endParaRPr sz="2900">
              <a:latin typeface="Arial"/>
              <a:cs typeface="Arial"/>
            </a:endParaRPr>
          </a:p>
          <a:p>
            <a:pPr marL="391795" marR="356235" indent="-379730">
              <a:lnSpc>
                <a:spcPct val="124800"/>
              </a:lnSpc>
              <a:spcBef>
                <a:spcPts val="409"/>
              </a:spcBef>
              <a:buClr>
                <a:srgbClr val="9B2C1F"/>
              </a:buClr>
              <a:buSzPct val="84482"/>
              <a:buChar char=""/>
              <a:tabLst>
                <a:tab pos="391795" algn="l"/>
                <a:tab pos="392430" algn="l"/>
              </a:tabLst>
            </a:pP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Conversion from one class </a:t>
            </a:r>
            <a:r>
              <a:rPr sz="2900" spc="-5" dirty="0">
                <a:solidFill>
                  <a:srgbClr val="0099CC"/>
                </a:solidFill>
                <a:latin typeface="Arial"/>
                <a:cs typeface="Arial"/>
              </a:rPr>
              <a:t>type </a:t>
            </a: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to</a:t>
            </a:r>
            <a:r>
              <a:rPr sz="2900" spc="-14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another  class</a:t>
            </a:r>
            <a:r>
              <a:rPr sz="2900" spc="-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type.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4539" y="711200"/>
            <a:ext cx="1116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40" y="292735"/>
            <a:ext cx="4477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Basic to Class</a:t>
            </a:r>
            <a:r>
              <a:rPr spc="-90" dirty="0"/>
              <a:t> </a:t>
            </a:r>
            <a:r>
              <a:rPr spc="-60" dirty="0"/>
              <a:t>Type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0953" y="1122781"/>
            <a:ext cx="7858125" cy="4580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marR="70485" indent="-379730">
              <a:lnSpc>
                <a:spcPct val="124900"/>
              </a:lnSpc>
              <a:spcBef>
                <a:spcPts val="95"/>
              </a:spcBef>
            </a:pPr>
            <a:r>
              <a:rPr sz="2900" dirty="0">
                <a:latin typeface="Arial"/>
                <a:cs typeface="Arial"/>
              </a:rPr>
              <a:t>A constructor to build a string type object from</a:t>
            </a:r>
            <a:r>
              <a:rPr sz="2900" spc="-40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a  char * type</a:t>
            </a:r>
            <a:r>
              <a:rPr sz="2900" spc="-6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variable.</a:t>
            </a:r>
            <a:endParaRPr sz="2900">
              <a:latin typeface="Arial"/>
              <a:cs typeface="Arial"/>
            </a:endParaRPr>
          </a:p>
          <a:p>
            <a:pPr marL="12700">
              <a:lnSpc>
                <a:spcPts val="3210"/>
              </a:lnSpc>
            </a:pP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string : : string(char</a:t>
            </a:r>
            <a:r>
              <a:rPr sz="2900" spc="-114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*a)</a:t>
            </a:r>
            <a:endParaRPr sz="2900">
              <a:latin typeface="Arial"/>
              <a:cs typeface="Arial"/>
            </a:endParaRPr>
          </a:p>
          <a:p>
            <a:pPr marL="12700">
              <a:lnSpc>
                <a:spcPts val="3010"/>
              </a:lnSpc>
            </a:pP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{</a:t>
            </a:r>
            <a:endParaRPr sz="2900">
              <a:latin typeface="Arial"/>
              <a:cs typeface="Arial"/>
            </a:endParaRPr>
          </a:p>
          <a:p>
            <a:pPr marL="317500">
              <a:lnSpc>
                <a:spcPts val="3015"/>
              </a:lnSpc>
            </a:pP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length =</a:t>
            </a:r>
            <a:r>
              <a:rPr sz="2900" spc="-60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strlen(a);</a:t>
            </a:r>
            <a:endParaRPr sz="2900">
              <a:latin typeface="Arial"/>
              <a:cs typeface="Arial"/>
            </a:endParaRPr>
          </a:p>
          <a:p>
            <a:pPr marL="317500" marR="3648710">
              <a:lnSpc>
                <a:spcPts val="3010"/>
              </a:lnSpc>
              <a:spcBef>
                <a:spcPts val="260"/>
              </a:spcBef>
            </a:pP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P = new</a:t>
            </a:r>
            <a:r>
              <a:rPr sz="2900" spc="-18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char[length+1];  </a:t>
            </a:r>
            <a:r>
              <a:rPr sz="2900" spc="-30" dirty="0">
                <a:solidFill>
                  <a:srgbClr val="0099CC"/>
                </a:solidFill>
                <a:latin typeface="Arial"/>
                <a:cs typeface="Arial"/>
              </a:rPr>
              <a:t>strcpy(P,a);</a:t>
            </a:r>
            <a:endParaRPr sz="2900">
              <a:latin typeface="Arial"/>
              <a:cs typeface="Arial"/>
            </a:endParaRPr>
          </a:p>
          <a:p>
            <a:pPr marL="12700">
              <a:lnSpc>
                <a:spcPts val="2990"/>
              </a:lnSpc>
            </a:pPr>
            <a:r>
              <a:rPr sz="2900" dirty="0">
                <a:solidFill>
                  <a:srgbClr val="0099CC"/>
                </a:solidFill>
                <a:latin typeface="Arial"/>
                <a:cs typeface="Arial"/>
              </a:rPr>
              <a:t>}</a:t>
            </a:r>
            <a:endParaRPr sz="2900">
              <a:latin typeface="Arial"/>
              <a:cs typeface="Arial"/>
            </a:endParaRPr>
          </a:p>
          <a:p>
            <a:pPr marL="391795" marR="5080" indent="-379730">
              <a:lnSpc>
                <a:spcPts val="4360"/>
              </a:lnSpc>
              <a:spcBef>
                <a:spcPts val="240"/>
              </a:spcBef>
            </a:pPr>
            <a:r>
              <a:rPr sz="2900" dirty="0">
                <a:latin typeface="Arial"/>
                <a:cs typeface="Arial"/>
              </a:rPr>
              <a:t>The variables length and p are data members</a:t>
            </a:r>
            <a:r>
              <a:rPr sz="2900" spc="-20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of  the class</a:t>
            </a:r>
            <a:r>
              <a:rPr sz="2900" spc="-2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string.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40" y="292735"/>
            <a:ext cx="4477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Basic to Class</a:t>
            </a:r>
            <a:r>
              <a:rPr spc="-90" dirty="0"/>
              <a:t> </a:t>
            </a:r>
            <a:r>
              <a:rPr spc="-60" dirty="0"/>
              <a:t>Type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0953" y="1070965"/>
            <a:ext cx="5765165" cy="243903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900" dirty="0">
                <a:latin typeface="Arial"/>
                <a:cs typeface="Arial"/>
              </a:rPr>
              <a:t>string s1,</a:t>
            </a:r>
            <a:r>
              <a:rPr sz="2900" spc="-5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s2;</a:t>
            </a:r>
            <a:endParaRPr sz="2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900" dirty="0">
                <a:latin typeface="Arial"/>
                <a:cs typeface="Arial"/>
              </a:rPr>
              <a:t>string name1 = “IBM</a:t>
            </a:r>
            <a:r>
              <a:rPr sz="2900" spc="-12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PC”;</a:t>
            </a:r>
            <a:endParaRPr sz="2900">
              <a:latin typeface="Arial"/>
              <a:cs typeface="Arial"/>
            </a:endParaRPr>
          </a:p>
          <a:p>
            <a:pPr marL="12700" marR="5080">
              <a:lnSpc>
                <a:spcPct val="136200"/>
              </a:lnSpc>
              <a:spcBef>
                <a:spcPts val="15"/>
              </a:spcBef>
            </a:pPr>
            <a:r>
              <a:rPr sz="2900" dirty="0">
                <a:latin typeface="Arial"/>
                <a:cs typeface="Arial"/>
              </a:rPr>
              <a:t>string name2 = “Apple</a:t>
            </a:r>
            <a:r>
              <a:rPr sz="2900" spc="-17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Computers”;  s1 =</a:t>
            </a:r>
            <a:r>
              <a:rPr sz="2900" spc="-45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string(name1);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953" y="3645153"/>
            <a:ext cx="206438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Arial"/>
                <a:cs typeface="Arial"/>
              </a:rPr>
              <a:t>s2 =</a:t>
            </a:r>
            <a:r>
              <a:rPr sz="2900" spc="-100" dirty="0">
                <a:latin typeface="Arial"/>
                <a:cs typeface="Arial"/>
              </a:rPr>
              <a:t> </a:t>
            </a:r>
            <a:r>
              <a:rPr sz="2900" dirty="0">
                <a:latin typeface="Arial"/>
                <a:cs typeface="Arial"/>
              </a:rPr>
              <a:t>name2;</a:t>
            </a:r>
            <a:endParaRPr sz="2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4539" y="711200"/>
            <a:ext cx="1116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78008" y="3516312"/>
            <a:ext cx="4405630" cy="1776730"/>
            <a:chOff x="3878008" y="3516312"/>
            <a:chExt cx="4405630" cy="1776730"/>
          </a:xfrm>
        </p:grpSpPr>
        <p:sp>
          <p:nvSpPr>
            <p:cNvPr id="7" name="object 7"/>
            <p:cNvSpPr/>
            <p:nvPr/>
          </p:nvSpPr>
          <p:spPr>
            <a:xfrm>
              <a:off x="3882771" y="3521075"/>
              <a:ext cx="4396105" cy="1767205"/>
            </a:xfrm>
            <a:custGeom>
              <a:avLst/>
              <a:gdLst/>
              <a:ahLst/>
              <a:cxnLst/>
              <a:rect l="l" t="t" r="r" b="b"/>
              <a:pathLst>
                <a:path w="4396105" h="1767204">
                  <a:moveTo>
                    <a:pt x="4154804" y="322452"/>
                  </a:moveTo>
                  <a:lnTo>
                    <a:pt x="998601" y="322452"/>
                  </a:lnTo>
                  <a:lnTo>
                    <a:pt x="950077" y="327345"/>
                  </a:lnTo>
                  <a:lnTo>
                    <a:pt x="904880" y="341377"/>
                  </a:lnTo>
                  <a:lnTo>
                    <a:pt x="863979" y="363580"/>
                  </a:lnTo>
                  <a:lnTo>
                    <a:pt x="828341" y="392985"/>
                  </a:lnTo>
                  <a:lnTo>
                    <a:pt x="798936" y="428623"/>
                  </a:lnTo>
                  <a:lnTo>
                    <a:pt x="776733" y="469524"/>
                  </a:lnTo>
                  <a:lnTo>
                    <a:pt x="762701" y="514721"/>
                  </a:lnTo>
                  <a:lnTo>
                    <a:pt x="757808" y="563244"/>
                  </a:lnTo>
                  <a:lnTo>
                    <a:pt x="757808" y="1526413"/>
                  </a:lnTo>
                  <a:lnTo>
                    <a:pt x="762701" y="1574936"/>
                  </a:lnTo>
                  <a:lnTo>
                    <a:pt x="776733" y="1620133"/>
                  </a:lnTo>
                  <a:lnTo>
                    <a:pt x="798936" y="1661034"/>
                  </a:lnTo>
                  <a:lnTo>
                    <a:pt x="828341" y="1696672"/>
                  </a:lnTo>
                  <a:lnTo>
                    <a:pt x="863979" y="1726077"/>
                  </a:lnTo>
                  <a:lnTo>
                    <a:pt x="904880" y="1748280"/>
                  </a:lnTo>
                  <a:lnTo>
                    <a:pt x="950077" y="1762312"/>
                  </a:lnTo>
                  <a:lnTo>
                    <a:pt x="998601" y="1767205"/>
                  </a:lnTo>
                  <a:lnTo>
                    <a:pt x="4154804" y="1767205"/>
                  </a:lnTo>
                  <a:lnTo>
                    <a:pt x="4203328" y="1762312"/>
                  </a:lnTo>
                  <a:lnTo>
                    <a:pt x="4248525" y="1748280"/>
                  </a:lnTo>
                  <a:lnTo>
                    <a:pt x="4289426" y="1726077"/>
                  </a:lnTo>
                  <a:lnTo>
                    <a:pt x="4325064" y="1696672"/>
                  </a:lnTo>
                  <a:lnTo>
                    <a:pt x="4354469" y="1661034"/>
                  </a:lnTo>
                  <a:lnTo>
                    <a:pt x="4376672" y="1620133"/>
                  </a:lnTo>
                  <a:lnTo>
                    <a:pt x="4390704" y="1574936"/>
                  </a:lnTo>
                  <a:lnTo>
                    <a:pt x="4395597" y="1526413"/>
                  </a:lnTo>
                  <a:lnTo>
                    <a:pt x="4395597" y="563244"/>
                  </a:lnTo>
                  <a:lnTo>
                    <a:pt x="4390704" y="514721"/>
                  </a:lnTo>
                  <a:lnTo>
                    <a:pt x="4376672" y="469524"/>
                  </a:lnTo>
                  <a:lnTo>
                    <a:pt x="4354469" y="428623"/>
                  </a:lnTo>
                  <a:lnTo>
                    <a:pt x="4325064" y="392985"/>
                  </a:lnTo>
                  <a:lnTo>
                    <a:pt x="4289426" y="363580"/>
                  </a:lnTo>
                  <a:lnTo>
                    <a:pt x="4248525" y="341377"/>
                  </a:lnTo>
                  <a:lnTo>
                    <a:pt x="4203328" y="327345"/>
                  </a:lnTo>
                  <a:lnTo>
                    <a:pt x="4154804" y="322452"/>
                  </a:lnTo>
                  <a:close/>
                </a:path>
                <a:path w="4396105" h="1767204">
                  <a:moveTo>
                    <a:pt x="0" y="0"/>
                  </a:moveTo>
                  <a:lnTo>
                    <a:pt x="1364106" y="322452"/>
                  </a:lnTo>
                  <a:lnTo>
                    <a:pt x="2273554" y="322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82771" y="3521075"/>
              <a:ext cx="4396105" cy="1767205"/>
            </a:xfrm>
            <a:custGeom>
              <a:avLst/>
              <a:gdLst/>
              <a:ahLst/>
              <a:cxnLst/>
              <a:rect l="l" t="t" r="r" b="b"/>
              <a:pathLst>
                <a:path w="4396105" h="1767204">
                  <a:moveTo>
                    <a:pt x="757808" y="563244"/>
                  </a:moveTo>
                  <a:lnTo>
                    <a:pt x="762701" y="514721"/>
                  </a:lnTo>
                  <a:lnTo>
                    <a:pt x="776733" y="469524"/>
                  </a:lnTo>
                  <a:lnTo>
                    <a:pt x="798936" y="428623"/>
                  </a:lnTo>
                  <a:lnTo>
                    <a:pt x="828341" y="392985"/>
                  </a:lnTo>
                  <a:lnTo>
                    <a:pt x="863979" y="363580"/>
                  </a:lnTo>
                  <a:lnTo>
                    <a:pt x="904880" y="341377"/>
                  </a:lnTo>
                  <a:lnTo>
                    <a:pt x="950077" y="327345"/>
                  </a:lnTo>
                  <a:lnTo>
                    <a:pt x="998601" y="322452"/>
                  </a:lnTo>
                  <a:lnTo>
                    <a:pt x="1364106" y="322452"/>
                  </a:lnTo>
                  <a:lnTo>
                    <a:pt x="0" y="0"/>
                  </a:lnTo>
                  <a:lnTo>
                    <a:pt x="2273554" y="322452"/>
                  </a:lnTo>
                  <a:lnTo>
                    <a:pt x="4154804" y="322452"/>
                  </a:lnTo>
                  <a:lnTo>
                    <a:pt x="4203328" y="327345"/>
                  </a:lnTo>
                  <a:lnTo>
                    <a:pt x="4248525" y="341377"/>
                  </a:lnTo>
                  <a:lnTo>
                    <a:pt x="4289426" y="363580"/>
                  </a:lnTo>
                  <a:lnTo>
                    <a:pt x="4325064" y="392985"/>
                  </a:lnTo>
                  <a:lnTo>
                    <a:pt x="4354469" y="428623"/>
                  </a:lnTo>
                  <a:lnTo>
                    <a:pt x="4376672" y="469524"/>
                  </a:lnTo>
                  <a:lnTo>
                    <a:pt x="4390704" y="514721"/>
                  </a:lnTo>
                  <a:lnTo>
                    <a:pt x="4395597" y="563244"/>
                  </a:lnTo>
                  <a:lnTo>
                    <a:pt x="4395597" y="924432"/>
                  </a:lnTo>
                  <a:lnTo>
                    <a:pt x="4395597" y="1526413"/>
                  </a:lnTo>
                  <a:lnTo>
                    <a:pt x="4390704" y="1574936"/>
                  </a:lnTo>
                  <a:lnTo>
                    <a:pt x="4376672" y="1620133"/>
                  </a:lnTo>
                  <a:lnTo>
                    <a:pt x="4354469" y="1661034"/>
                  </a:lnTo>
                  <a:lnTo>
                    <a:pt x="4325064" y="1696672"/>
                  </a:lnTo>
                  <a:lnTo>
                    <a:pt x="4289426" y="1726077"/>
                  </a:lnTo>
                  <a:lnTo>
                    <a:pt x="4248525" y="1748280"/>
                  </a:lnTo>
                  <a:lnTo>
                    <a:pt x="4203328" y="1762312"/>
                  </a:lnTo>
                  <a:lnTo>
                    <a:pt x="4154804" y="1767205"/>
                  </a:lnTo>
                  <a:lnTo>
                    <a:pt x="2273554" y="1767205"/>
                  </a:lnTo>
                  <a:lnTo>
                    <a:pt x="1364106" y="1767205"/>
                  </a:lnTo>
                  <a:lnTo>
                    <a:pt x="998601" y="1767205"/>
                  </a:lnTo>
                  <a:lnTo>
                    <a:pt x="950077" y="1762312"/>
                  </a:lnTo>
                  <a:lnTo>
                    <a:pt x="904880" y="1748280"/>
                  </a:lnTo>
                  <a:lnTo>
                    <a:pt x="863979" y="1726077"/>
                  </a:lnTo>
                  <a:lnTo>
                    <a:pt x="828341" y="1696672"/>
                  </a:lnTo>
                  <a:lnTo>
                    <a:pt x="798936" y="1661034"/>
                  </a:lnTo>
                  <a:lnTo>
                    <a:pt x="776733" y="1620133"/>
                  </a:lnTo>
                  <a:lnTo>
                    <a:pt x="762701" y="1574936"/>
                  </a:lnTo>
                  <a:lnTo>
                    <a:pt x="757808" y="1526413"/>
                  </a:lnTo>
                  <a:lnTo>
                    <a:pt x="757808" y="924432"/>
                  </a:lnTo>
                  <a:lnTo>
                    <a:pt x="757808" y="5632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22063" y="3936619"/>
            <a:ext cx="327532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First </a:t>
            </a:r>
            <a:r>
              <a:rPr sz="1800" spc="-5" dirty="0">
                <a:latin typeface="Arial"/>
                <a:cs typeface="Arial"/>
              </a:rPr>
              <a:t>converts name1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char*  </a:t>
            </a:r>
            <a:r>
              <a:rPr sz="1800" spc="-10" dirty="0">
                <a:latin typeface="Arial"/>
                <a:cs typeface="Arial"/>
              </a:rPr>
              <a:t>type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string </a:t>
            </a:r>
            <a:r>
              <a:rPr sz="1800" spc="-10" dirty="0">
                <a:latin typeface="Arial"/>
                <a:cs typeface="Arial"/>
              </a:rPr>
              <a:t>type and </a:t>
            </a:r>
            <a:r>
              <a:rPr sz="1800" spc="-5" dirty="0">
                <a:latin typeface="Arial"/>
                <a:cs typeface="Arial"/>
              </a:rPr>
              <a:t>then  assigns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string </a:t>
            </a:r>
            <a:r>
              <a:rPr sz="1800" spc="-10" dirty="0">
                <a:latin typeface="Arial"/>
                <a:cs typeface="Arial"/>
              </a:rPr>
              <a:t>type </a:t>
            </a:r>
            <a:r>
              <a:rPr sz="1800" spc="-5" dirty="0">
                <a:latin typeface="Arial"/>
                <a:cs typeface="Arial"/>
              </a:rPr>
              <a:t>value </a:t>
            </a:r>
            <a:r>
              <a:rPr sz="1800" dirty="0">
                <a:latin typeface="Arial"/>
                <a:cs typeface="Arial"/>
              </a:rPr>
              <a:t>to  the </a:t>
            </a:r>
            <a:r>
              <a:rPr sz="1800" spc="-5" dirty="0">
                <a:latin typeface="Arial"/>
                <a:cs typeface="Arial"/>
              </a:rPr>
              <a:t>object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s1.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0705" y="4219511"/>
            <a:ext cx="3649345" cy="2244090"/>
            <a:chOff x="310705" y="4219511"/>
            <a:chExt cx="3649345" cy="2244090"/>
          </a:xfrm>
        </p:grpSpPr>
        <p:sp>
          <p:nvSpPr>
            <p:cNvPr id="11" name="object 11"/>
            <p:cNvSpPr/>
            <p:nvPr/>
          </p:nvSpPr>
          <p:spPr>
            <a:xfrm>
              <a:off x="315468" y="4224273"/>
              <a:ext cx="3639820" cy="2234565"/>
            </a:xfrm>
            <a:custGeom>
              <a:avLst/>
              <a:gdLst/>
              <a:ahLst/>
              <a:cxnLst/>
              <a:rect l="l" t="t" r="r" b="b"/>
              <a:pathLst>
                <a:path w="3639820" h="2234565">
                  <a:moveTo>
                    <a:pt x="3398520" y="789686"/>
                  </a:moveTo>
                  <a:lnTo>
                    <a:pt x="240791" y="789686"/>
                  </a:lnTo>
                  <a:lnTo>
                    <a:pt x="192265" y="794578"/>
                  </a:lnTo>
                  <a:lnTo>
                    <a:pt x="147066" y="808610"/>
                  </a:lnTo>
                  <a:lnTo>
                    <a:pt x="106164" y="830813"/>
                  </a:lnTo>
                  <a:lnTo>
                    <a:pt x="70527" y="860218"/>
                  </a:lnTo>
                  <a:lnTo>
                    <a:pt x="41124" y="895856"/>
                  </a:lnTo>
                  <a:lnTo>
                    <a:pt x="18923" y="936757"/>
                  </a:lnTo>
                  <a:lnTo>
                    <a:pt x="4892" y="981954"/>
                  </a:lnTo>
                  <a:lnTo>
                    <a:pt x="0" y="1030477"/>
                  </a:lnTo>
                  <a:lnTo>
                    <a:pt x="0" y="1993645"/>
                  </a:lnTo>
                  <a:lnTo>
                    <a:pt x="4892" y="2042172"/>
                  </a:lnTo>
                  <a:lnTo>
                    <a:pt x="18923" y="2087371"/>
                  </a:lnTo>
                  <a:lnTo>
                    <a:pt x="41124" y="2128273"/>
                  </a:lnTo>
                  <a:lnTo>
                    <a:pt x="70527" y="2163910"/>
                  </a:lnTo>
                  <a:lnTo>
                    <a:pt x="106164" y="2193313"/>
                  </a:lnTo>
                  <a:lnTo>
                    <a:pt x="147066" y="2215514"/>
                  </a:lnTo>
                  <a:lnTo>
                    <a:pt x="192265" y="2229545"/>
                  </a:lnTo>
                  <a:lnTo>
                    <a:pt x="240791" y="2234438"/>
                  </a:lnTo>
                  <a:lnTo>
                    <a:pt x="3398520" y="2234438"/>
                  </a:lnTo>
                  <a:lnTo>
                    <a:pt x="3447043" y="2229545"/>
                  </a:lnTo>
                  <a:lnTo>
                    <a:pt x="3492240" y="2215514"/>
                  </a:lnTo>
                  <a:lnTo>
                    <a:pt x="3533141" y="2193313"/>
                  </a:lnTo>
                  <a:lnTo>
                    <a:pt x="3568779" y="2163910"/>
                  </a:lnTo>
                  <a:lnTo>
                    <a:pt x="3598184" y="2128273"/>
                  </a:lnTo>
                  <a:lnTo>
                    <a:pt x="3620387" y="2087371"/>
                  </a:lnTo>
                  <a:lnTo>
                    <a:pt x="3634419" y="2042172"/>
                  </a:lnTo>
                  <a:lnTo>
                    <a:pt x="3639312" y="1993645"/>
                  </a:lnTo>
                  <a:lnTo>
                    <a:pt x="3639312" y="1030478"/>
                  </a:lnTo>
                  <a:lnTo>
                    <a:pt x="3634419" y="981954"/>
                  </a:lnTo>
                  <a:lnTo>
                    <a:pt x="3620387" y="936757"/>
                  </a:lnTo>
                  <a:lnTo>
                    <a:pt x="3598184" y="895856"/>
                  </a:lnTo>
                  <a:lnTo>
                    <a:pt x="3568779" y="860218"/>
                  </a:lnTo>
                  <a:lnTo>
                    <a:pt x="3533141" y="830813"/>
                  </a:lnTo>
                  <a:lnTo>
                    <a:pt x="3492240" y="808610"/>
                  </a:lnTo>
                  <a:lnTo>
                    <a:pt x="3447043" y="794578"/>
                  </a:lnTo>
                  <a:lnTo>
                    <a:pt x="3398520" y="789686"/>
                  </a:lnTo>
                  <a:close/>
                </a:path>
                <a:path w="3639820" h="2234565">
                  <a:moveTo>
                    <a:pt x="1808226" y="0"/>
                  </a:moveTo>
                  <a:lnTo>
                    <a:pt x="606551" y="789686"/>
                  </a:lnTo>
                  <a:lnTo>
                    <a:pt x="1516380" y="789686"/>
                  </a:lnTo>
                  <a:lnTo>
                    <a:pt x="1808226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5468" y="4224273"/>
              <a:ext cx="3639820" cy="2234565"/>
            </a:xfrm>
            <a:custGeom>
              <a:avLst/>
              <a:gdLst/>
              <a:ahLst/>
              <a:cxnLst/>
              <a:rect l="l" t="t" r="r" b="b"/>
              <a:pathLst>
                <a:path w="3639820" h="2234565">
                  <a:moveTo>
                    <a:pt x="0" y="1030478"/>
                  </a:moveTo>
                  <a:lnTo>
                    <a:pt x="4892" y="981954"/>
                  </a:lnTo>
                  <a:lnTo>
                    <a:pt x="18923" y="936757"/>
                  </a:lnTo>
                  <a:lnTo>
                    <a:pt x="41124" y="895856"/>
                  </a:lnTo>
                  <a:lnTo>
                    <a:pt x="70527" y="860218"/>
                  </a:lnTo>
                  <a:lnTo>
                    <a:pt x="106164" y="830813"/>
                  </a:lnTo>
                  <a:lnTo>
                    <a:pt x="147066" y="808610"/>
                  </a:lnTo>
                  <a:lnTo>
                    <a:pt x="192265" y="794578"/>
                  </a:lnTo>
                  <a:lnTo>
                    <a:pt x="240791" y="789686"/>
                  </a:lnTo>
                  <a:lnTo>
                    <a:pt x="606551" y="789686"/>
                  </a:lnTo>
                  <a:lnTo>
                    <a:pt x="1808226" y="0"/>
                  </a:lnTo>
                  <a:lnTo>
                    <a:pt x="1516380" y="789686"/>
                  </a:lnTo>
                  <a:lnTo>
                    <a:pt x="3398520" y="789686"/>
                  </a:lnTo>
                  <a:lnTo>
                    <a:pt x="3447043" y="794578"/>
                  </a:lnTo>
                  <a:lnTo>
                    <a:pt x="3492240" y="808610"/>
                  </a:lnTo>
                  <a:lnTo>
                    <a:pt x="3533141" y="830813"/>
                  </a:lnTo>
                  <a:lnTo>
                    <a:pt x="3568779" y="860218"/>
                  </a:lnTo>
                  <a:lnTo>
                    <a:pt x="3598184" y="895856"/>
                  </a:lnTo>
                  <a:lnTo>
                    <a:pt x="3620387" y="936757"/>
                  </a:lnTo>
                  <a:lnTo>
                    <a:pt x="3634419" y="981954"/>
                  </a:lnTo>
                  <a:lnTo>
                    <a:pt x="3639312" y="1030478"/>
                  </a:lnTo>
                  <a:lnTo>
                    <a:pt x="3639312" y="1391666"/>
                  </a:lnTo>
                  <a:lnTo>
                    <a:pt x="3639312" y="1993645"/>
                  </a:lnTo>
                  <a:lnTo>
                    <a:pt x="3634419" y="2042172"/>
                  </a:lnTo>
                  <a:lnTo>
                    <a:pt x="3620387" y="2087371"/>
                  </a:lnTo>
                  <a:lnTo>
                    <a:pt x="3598184" y="2128273"/>
                  </a:lnTo>
                  <a:lnTo>
                    <a:pt x="3568779" y="2163910"/>
                  </a:lnTo>
                  <a:lnTo>
                    <a:pt x="3533141" y="2193313"/>
                  </a:lnTo>
                  <a:lnTo>
                    <a:pt x="3492240" y="2215514"/>
                  </a:lnTo>
                  <a:lnTo>
                    <a:pt x="3447043" y="2229545"/>
                  </a:lnTo>
                  <a:lnTo>
                    <a:pt x="3398520" y="2234438"/>
                  </a:lnTo>
                  <a:lnTo>
                    <a:pt x="1516380" y="2234438"/>
                  </a:lnTo>
                  <a:lnTo>
                    <a:pt x="606551" y="2234438"/>
                  </a:lnTo>
                  <a:lnTo>
                    <a:pt x="240791" y="2234438"/>
                  </a:lnTo>
                  <a:lnTo>
                    <a:pt x="192265" y="2229545"/>
                  </a:lnTo>
                  <a:lnTo>
                    <a:pt x="147066" y="2215514"/>
                  </a:lnTo>
                  <a:lnTo>
                    <a:pt x="106164" y="2193313"/>
                  </a:lnTo>
                  <a:lnTo>
                    <a:pt x="70527" y="2163910"/>
                  </a:lnTo>
                  <a:lnTo>
                    <a:pt x="41124" y="2128273"/>
                  </a:lnTo>
                  <a:lnTo>
                    <a:pt x="18923" y="2087371"/>
                  </a:lnTo>
                  <a:lnTo>
                    <a:pt x="4892" y="2042172"/>
                  </a:lnTo>
                  <a:lnTo>
                    <a:pt x="0" y="1993645"/>
                  </a:lnTo>
                  <a:lnTo>
                    <a:pt x="0" y="1391666"/>
                  </a:lnTo>
                  <a:lnTo>
                    <a:pt x="0" y="103047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6925" y="5107304"/>
            <a:ext cx="327532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First </a:t>
            </a:r>
            <a:r>
              <a:rPr sz="1800" spc="-5" dirty="0">
                <a:latin typeface="Arial"/>
                <a:cs typeface="Arial"/>
              </a:rPr>
              <a:t>converts name2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char*  </a:t>
            </a:r>
            <a:r>
              <a:rPr sz="1800" spc="-10" dirty="0">
                <a:latin typeface="Arial"/>
                <a:cs typeface="Arial"/>
              </a:rPr>
              <a:t>type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string </a:t>
            </a:r>
            <a:r>
              <a:rPr sz="1800" spc="-10" dirty="0">
                <a:latin typeface="Arial"/>
                <a:cs typeface="Arial"/>
              </a:rPr>
              <a:t>type and </a:t>
            </a:r>
            <a:r>
              <a:rPr sz="1800" spc="-5" dirty="0">
                <a:latin typeface="Arial"/>
                <a:cs typeface="Arial"/>
              </a:rPr>
              <a:t>then  assigns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string </a:t>
            </a:r>
            <a:r>
              <a:rPr sz="1800" spc="-10" dirty="0">
                <a:latin typeface="Arial"/>
                <a:cs typeface="Arial"/>
              </a:rPr>
              <a:t>type </a:t>
            </a:r>
            <a:r>
              <a:rPr sz="1800" spc="-5" dirty="0">
                <a:latin typeface="Arial"/>
                <a:cs typeface="Arial"/>
              </a:rPr>
              <a:t>value </a:t>
            </a:r>
            <a:r>
              <a:rPr sz="1800" dirty="0">
                <a:latin typeface="Arial"/>
                <a:cs typeface="Arial"/>
              </a:rPr>
              <a:t>to  the </a:t>
            </a:r>
            <a:r>
              <a:rPr sz="1800" spc="-5" dirty="0">
                <a:latin typeface="Arial"/>
                <a:cs typeface="Arial"/>
              </a:rPr>
              <a:t>object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s2.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40" y="292735"/>
            <a:ext cx="4477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Basic to Class</a:t>
            </a:r>
            <a:r>
              <a:rPr spc="-90" dirty="0"/>
              <a:t> </a:t>
            </a:r>
            <a:r>
              <a:rPr spc="-60" dirty="0"/>
              <a:t>Type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36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0953" y="1096517"/>
            <a:ext cx="2348865" cy="4591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dirty="0">
                <a:latin typeface="Arial"/>
                <a:cs typeface="Arial"/>
              </a:rPr>
              <a:t>class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time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75"/>
              </a:lnSpc>
              <a:tabLst>
                <a:tab pos="573405" algn="l"/>
              </a:tabLst>
            </a:pPr>
            <a:r>
              <a:rPr sz="2200" spc="-5" dirty="0">
                <a:latin typeface="Arial"/>
                <a:cs typeface="Arial"/>
              </a:rPr>
              <a:t>{	int hrs ;</a:t>
            </a:r>
            <a:endParaRPr sz="2200">
              <a:latin typeface="Arial"/>
              <a:cs typeface="Arial"/>
            </a:endParaRPr>
          </a:p>
          <a:p>
            <a:pPr marL="556260">
              <a:lnSpc>
                <a:spcPts val="2385"/>
              </a:lnSpc>
            </a:pPr>
            <a:r>
              <a:rPr sz="2200" spc="-5" dirty="0">
                <a:latin typeface="Arial"/>
                <a:cs typeface="Arial"/>
              </a:rPr>
              <a:t>int mins</a:t>
            </a:r>
            <a:r>
              <a:rPr sz="2200" spc="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;</a:t>
            </a:r>
            <a:endParaRPr sz="2200">
              <a:latin typeface="Arial"/>
              <a:cs typeface="Arial"/>
            </a:endParaRPr>
          </a:p>
          <a:p>
            <a:pPr marL="245745">
              <a:lnSpc>
                <a:spcPts val="2385"/>
              </a:lnSpc>
            </a:pPr>
            <a:r>
              <a:rPr sz="2200" spc="-5" dirty="0">
                <a:latin typeface="Arial"/>
                <a:cs typeface="Arial"/>
              </a:rPr>
              <a:t>public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478790">
              <a:lnSpc>
                <a:spcPts val="2375"/>
              </a:lnSpc>
            </a:pPr>
            <a:r>
              <a:rPr sz="2200" spc="-5" dirty="0">
                <a:latin typeface="Arial"/>
                <a:cs typeface="Arial"/>
              </a:rPr>
              <a:t>…</a:t>
            </a:r>
            <a:endParaRPr sz="2200">
              <a:latin typeface="Arial"/>
              <a:cs typeface="Arial"/>
            </a:endParaRPr>
          </a:p>
          <a:p>
            <a:pPr marL="245745">
              <a:lnSpc>
                <a:spcPts val="2380"/>
              </a:lnSpc>
            </a:pPr>
            <a:r>
              <a:rPr sz="2200" spc="-5" dirty="0">
                <a:latin typeface="Arial"/>
                <a:cs typeface="Arial"/>
              </a:rPr>
              <a:t>time (int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t)</a:t>
            </a:r>
            <a:endParaRPr sz="2200">
              <a:latin typeface="Arial"/>
              <a:cs typeface="Arial"/>
            </a:endParaRPr>
          </a:p>
          <a:p>
            <a:pPr marL="245745">
              <a:lnSpc>
                <a:spcPts val="2380"/>
              </a:lnSpc>
            </a:pPr>
            <a:r>
              <a:rPr sz="2200" spc="-5" dirty="0">
                <a:latin typeface="Arial"/>
                <a:cs typeface="Arial"/>
              </a:rPr>
              <a:t>{</a:t>
            </a:r>
            <a:endParaRPr sz="2200">
              <a:latin typeface="Arial"/>
              <a:cs typeface="Arial"/>
            </a:endParaRPr>
          </a:p>
          <a:p>
            <a:pPr marL="556260">
              <a:lnSpc>
                <a:spcPts val="2375"/>
              </a:lnSpc>
            </a:pPr>
            <a:r>
              <a:rPr sz="2200" spc="-5" dirty="0">
                <a:latin typeface="Arial"/>
                <a:cs typeface="Arial"/>
              </a:rPr>
              <a:t>hrs = t / 60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;</a:t>
            </a:r>
            <a:endParaRPr sz="2200">
              <a:latin typeface="Arial"/>
              <a:cs typeface="Arial"/>
            </a:endParaRPr>
          </a:p>
          <a:p>
            <a:pPr marL="556260">
              <a:lnSpc>
                <a:spcPts val="2385"/>
              </a:lnSpc>
            </a:pPr>
            <a:r>
              <a:rPr sz="2200" spc="-5" dirty="0">
                <a:latin typeface="Arial"/>
                <a:cs typeface="Arial"/>
              </a:rPr>
              <a:t>mins = t %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60;</a:t>
            </a:r>
            <a:endParaRPr sz="2200">
              <a:latin typeface="Arial"/>
              <a:cs typeface="Arial"/>
            </a:endParaRPr>
          </a:p>
          <a:p>
            <a:pPr marL="245745">
              <a:lnSpc>
                <a:spcPts val="2380"/>
              </a:lnSpc>
            </a:pPr>
            <a:r>
              <a:rPr sz="2200" spc="-5" dirty="0">
                <a:latin typeface="Arial"/>
                <a:cs typeface="Arial"/>
              </a:rPr>
              <a:t>}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510"/>
              </a:lnSpc>
            </a:pPr>
            <a:r>
              <a:rPr sz="2200" spc="-5" dirty="0">
                <a:latin typeface="Arial"/>
                <a:cs typeface="Arial"/>
              </a:rPr>
              <a:t>}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;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510"/>
              </a:lnSpc>
              <a:spcBef>
                <a:spcPts val="2125"/>
              </a:spcBef>
            </a:pPr>
            <a:r>
              <a:rPr sz="2200" spc="-5" dirty="0">
                <a:latin typeface="Arial"/>
                <a:cs typeface="Arial"/>
              </a:rPr>
              <a:t>time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T1;</a:t>
            </a:r>
            <a:endParaRPr sz="2200">
              <a:latin typeface="Arial"/>
              <a:cs typeface="Arial"/>
            </a:endParaRPr>
          </a:p>
          <a:p>
            <a:pPr marL="12700" marR="237490">
              <a:lnSpc>
                <a:spcPts val="2380"/>
              </a:lnSpc>
              <a:spcBef>
                <a:spcPts val="165"/>
              </a:spcBef>
            </a:pPr>
            <a:r>
              <a:rPr sz="2200" spc="-5" dirty="0">
                <a:latin typeface="Arial"/>
                <a:cs typeface="Arial"/>
              </a:rPr>
              <a:t>int duration = 85;  T1 = duration;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4539" y="711200"/>
            <a:ext cx="1116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3186" y="223773"/>
            <a:ext cx="4578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Class </a:t>
            </a:r>
            <a:r>
              <a:rPr spc="-229" dirty="0"/>
              <a:t>To </a:t>
            </a:r>
            <a:r>
              <a:rPr spc="-5" dirty="0"/>
              <a:t>Basic</a:t>
            </a:r>
            <a:r>
              <a:rPr spc="45" dirty="0"/>
              <a:t> </a:t>
            </a:r>
            <a:r>
              <a:rPr spc="-60" dirty="0"/>
              <a:t>Type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0953" y="1129833"/>
            <a:ext cx="7722870" cy="5057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marR="220979" indent="-379730">
              <a:lnSpc>
                <a:spcPct val="125200"/>
              </a:lnSpc>
              <a:spcBef>
                <a:spcPts val="95"/>
              </a:spcBef>
            </a:pPr>
            <a:r>
              <a:rPr sz="2500" spc="-5" dirty="0">
                <a:latin typeface="Arial"/>
                <a:cs typeface="Arial"/>
              </a:rPr>
              <a:t>A constructor function do not support </a:t>
            </a:r>
            <a:r>
              <a:rPr sz="2500" dirty="0">
                <a:latin typeface="Arial"/>
                <a:cs typeface="Arial"/>
              </a:rPr>
              <a:t>type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conversion  from a class type to a </a:t>
            </a:r>
            <a:r>
              <a:rPr sz="2500" dirty="0">
                <a:latin typeface="Arial"/>
                <a:cs typeface="Arial"/>
              </a:rPr>
              <a:t>basic</a:t>
            </a:r>
            <a:r>
              <a:rPr sz="2500" spc="4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type.</a:t>
            </a:r>
            <a:endParaRPr sz="2500">
              <a:latin typeface="Arial"/>
              <a:cs typeface="Arial"/>
            </a:endParaRPr>
          </a:p>
          <a:p>
            <a:pPr marL="391795" marR="238760" indent="-379730">
              <a:lnSpc>
                <a:spcPct val="124800"/>
              </a:lnSpc>
              <a:spcBef>
                <a:spcPts val="409"/>
              </a:spcBef>
            </a:pPr>
            <a:r>
              <a:rPr sz="2500" spc="-5" dirty="0">
                <a:latin typeface="Arial"/>
                <a:cs typeface="Arial"/>
              </a:rPr>
              <a:t>An overloaded </a:t>
            </a:r>
            <a:r>
              <a:rPr sz="2500" b="1" i="1" spc="-5" dirty="0">
                <a:latin typeface="Arial"/>
                <a:cs typeface="Arial"/>
              </a:rPr>
              <a:t>casting operator </a:t>
            </a:r>
            <a:r>
              <a:rPr sz="2500" spc="-5" dirty="0">
                <a:latin typeface="Arial"/>
                <a:cs typeface="Arial"/>
              </a:rPr>
              <a:t>is used to convert a  class type data to a basic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type.</a:t>
            </a:r>
            <a:endParaRPr sz="2500">
              <a:latin typeface="Arial"/>
              <a:cs typeface="Arial"/>
            </a:endParaRPr>
          </a:p>
          <a:p>
            <a:pPr marL="12700" marR="1347470">
              <a:lnSpc>
                <a:spcPct val="100899"/>
              </a:lnSpc>
              <a:spcBef>
                <a:spcPts val="1125"/>
              </a:spcBef>
            </a:pPr>
            <a:r>
              <a:rPr sz="2500" dirty="0">
                <a:latin typeface="Arial"/>
                <a:cs typeface="Arial"/>
              </a:rPr>
              <a:t>It </a:t>
            </a:r>
            <a:r>
              <a:rPr sz="2500" spc="-5" dirty="0">
                <a:latin typeface="Arial"/>
                <a:cs typeface="Arial"/>
              </a:rPr>
              <a:t>is also referred to as </a:t>
            </a:r>
            <a:r>
              <a:rPr sz="2500" b="1" i="1" spc="-5" dirty="0">
                <a:latin typeface="Arial"/>
                <a:cs typeface="Arial"/>
              </a:rPr>
              <a:t>conversion function</a:t>
            </a:r>
            <a:r>
              <a:rPr sz="2500" spc="-5" dirty="0">
                <a:latin typeface="Arial"/>
                <a:cs typeface="Arial"/>
              </a:rPr>
              <a:t>. 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operator typename(</a:t>
            </a:r>
            <a:r>
              <a:rPr sz="2500" spc="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)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2480"/>
              </a:lnSpc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{</a:t>
            </a:r>
            <a:endParaRPr sz="2500">
              <a:latin typeface="Arial"/>
              <a:cs typeface="Arial"/>
            </a:endParaRPr>
          </a:p>
          <a:p>
            <a:pPr marL="279400">
              <a:lnSpc>
                <a:spcPts val="2650"/>
              </a:lnSpc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…</a:t>
            </a:r>
            <a:endParaRPr sz="2500">
              <a:latin typeface="Arial"/>
              <a:cs typeface="Arial"/>
            </a:endParaRPr>
          </a:p>
          <a:p>
            <a:pPr marL="279400">
              <a:lnSpc>
                <a:spcPts val="2645"/>
              </a:lnSpc>
              <a:tabLst>
                <a:tab pos="773430" algn="l"/>
              </a:tabLst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…	( function statements</a:t>
            </a:r>
            <a:r>
              <a:rPr sz="2500" spc="1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)</a:t>
            </a:r>
            <a:endParaRPr sz="2500">
              <a:latin typeface="Arial"/>
              <a:cs typeface="Arial"/>
            </a:endParaRPr>
          </a:p>
          <a:p>
            <a:pPr marL="279400">
              <a:lnSpc>
                <a:spcPts val="2645"/>
              </a:lnSpc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…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2825"/>
              </a:lnSpc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}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500" spc="-5" dirty="0">
                <a:latin typeface="Arial"/>
                <a:cs typeface="Arial"/>
              </a:rPr>
              <a:t>This function converts a </a:t>
            </a:r>
            <a:r>
              <a:rPr sz="2500" b="1" i="1" spc="-5" dirty="0">
                <a:latin typeface="Arial"/>
                <a:cs typeface="Arial"/>
              </a:rPr>
              <a:t>calss type </a:t>
            </a:r>
            <a:r>
              <a:rPr sz="2500" spc="-5" dirty="0">
                <a:latin typeface="Arial"/>
                <a:cs typeface="Arial"/>
              </a:rPr>
              <a:t>data to</a:t>
            </a:r>
            <a:r>
              <a:rPr sz="2500" spc="140" dirty="0">
                <a:latin typeface="Arial"/>
                <a:cs typeface="Arial"/>
              </a:rPr>
              <a:t> </a:t>
            </a:r>
            <a:r>
              <a:rPr sz="2500" b="1" i="1" spc="-5" dirty="0">
                <a:latin typeface="Arial"/>
                <a:cs typeface="Arial"/>
              </a:rPr>
              <a:t>typename</a:t>
            </a:r>
            <a:r>
              <a:rPr sz="2500" spc="-5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3186" y="223773"/>
            <a:ext cx="4578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Class </a:t>
            </a:r>
            <a:r>
              <a:rPr spc="-229" dirty="0"/>
              <a:t>To </a:t>
            </a:r>
            <a:r>
              <a:rPr spc="-5" dirty="0"/>
              <a:t>Basic</a:t>
            </a:r>
            <a:r>
              <a:rPr spc="45" dirty="0"/>
              <a:t> </a:t>
            </a:r>
            <a:r>
              <a:rPr spc="-60" dirty="0"/>
              <a:t>Type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0953" y="1084325"/>
            <a:ext cx="7790815" cy="3381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820"/>
              </a:lnSpc>
              <a:spcBef>
                <a:spcPts val="95"/>
              </a:spcBef>
            </a:pPr>
            <a:r>
              <a:rPr sz="2500" spc="-5" dirty="0">
                <a:latin typeface="Arial"/>
                <a:cs typeface="Arial"/>
              </a:rPr>
              <a:t>vector : : operator double(</a:t>
            </a:r>
            <a:r>
              <a:rPr sz="2500" spc="2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)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2645"/>
              </a:lnSpc>
            </a:pPr>
            <a:r>
              <a:rPr sz="2500" spc="-5" dirty="0">
                <a:latin typeface="Arial"/>
                <a:cs typeface="Arial"/>
              </a:rPr>
              <a:t>{</a:t>
            </a:r>
            <a:endParaRPr sz="2500">
              <a:latin typeface="Arial"/>
              <a:cs typeface="Arial"/>
            </a:endParaRPr>
          </a:p>
          <a:p>
            <a:pPr marL="279400">
              <a:lnSpc>
                <a:spcPts val="2655"/>
              </a:lnSpc>
            </a:pPr>
            <a:r>
              <a:rPr sz="2500" spc="-5" dirty="0">
                <a:latin typeface="Arial"/>
                <a:cs typeface="Arial"/>
              </a:rPr>
              <a:t>double sum =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0;</a:t>
            </a:r>
            <a:endParaRPr sz="2500">
              <a:latin typeface="Arial"/>
              <a:cs typeface="Arial"/>
            </a:endParaRPr>
          </a:p>
          <a:p>
            <a:pPr marL="546100" marR="4095750" indent="-266700">
              <a:lnSpc>
                <a:spcPts val="2650"/>
              </a:lnSpc>
              <a:spcBef>
                <a:spcPts val="204"/>
              </a:spcBef>
            </a:pPr>
            <a:r>
              <a:rPr sz="2500" spc="-5" dirty="0">
                <a:latin typeface="Arial"/>
                <a:cs typeface="Arial"/>
              </a:rPr>
              <a:t>for (int i=0; i &lt; size ; </a:t>
            </a:r>
            <a:r>
              <a:rPr sz="2500" spc="-15" dirty="0">
                <a:latin typeface="Arial"/>
                <a:cs typeface="Arial"/>
              </a:rPr>
              <a:t>i++)  </a:t>
            </a:r>
            <a:r>
              <a:rPr sz="2500" spc="-5" dirty="0">
                <a:latin typeface="Arial"/>
                <a:cs typeface="Arial"/>
              </a:rPr>
              <a:t>sum = sum + </a:t>
            </a:r>
            <a:r>
              <a:rPr sz="2500" dirty="0">
                <a:latin typeface="Arial"/>
                <a:cs typeface="Arial"/>
              </a:rPr>
              <a:t>v[i] </a:t>
            </a:r>
            <a:r>
              <a:rPr sz="2500" spc="-5" dirty="0">
                <a:latin typeface="Arial"/>
                <a:cs typeface="Arial"/>
              </a:rPr>
              <a:t>*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v[i];</a:t>
            </a:r>
            <a:endParaRPr sz="2500">
              <a:latin typeface="Arial"/>
              <a:cs typeface="Arial"/>
            </a:endParaRPr>
          </a:p>
          <a:p>
            <a:pPr marL="279400">
              <a:lnSpc>
                <a:spcPts val="2450"/>
              </a:lnSpc>
            </a:pPr>
            <a:r>
              <a:rPr sz="2500" spc="-5" dirty="0">
                <a:latin typeface="Arial"/>
                <a:cs typeface="Arial"/>
              </a:rPr>
              <a:t>return sqrt</a:t>
            </a:r>
            <a:r>
              <a:rPr sz="2500" spc="3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(sum);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2825"/>
              </a:lnSpc>
            </a:pPr>
            <a:r>
              <a:rPr sz="2500" spc="-5" dirty="0">
                <a:latin typeface="Arial"/>
                <a:cs typeface="Arial"/>
              </a:rPr>
              <a:t>}</a:t>
            </a:r>
            <a:endParaRPr sz="2500">
              <a:latin typeface="Arial"/>
              <a:cs typeface="Arial"/>
            </a:endParaRPr>
          </a:p>
          <a:p>
            <a:pPr marL="391795" marR="5080" indent="-379730">
              <a:lnSpc>
                <a:spcPct val="125200"/>
              </a:lnSpc>
              <a:spcBef>
                <a:spcPts val="15"/>
              </a:spcBef>
            </a:pPr>
            <a:r>
              <a:rPr sz="2500" spc="-5" dirty="0">
                <a:latin typeface="Arial"/>
                <a:cs typeface="Arial"/>
              </a:rPr>
              <a:t>This function converts a vector to the square root of the  sum of squares </a:t>
            </a:r>
            <a:r>
              <a:rPr sz="2500" dirty="0">
                <a:latin typeface="Arial"/>
                <a:cs typeface="Arial"/>
              </a:rPr>
              <a:t>of </a:t>
            </a:r>
            <a:r>
              <a:rPr sz="2500" spc="-5" dirty="0">
                <a:latin typeface="Arial"/>
                <a:cs typeface="Arial"/>
              </a:rPr>
              <a:t>its</a:t>
            </a:r>
            <a:r>
              <a:rPr sz="2500" spc="2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components.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4539" y="711200"/>
            <a:ext cx="1116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40" y="223773"/>
            <a:ext cx="4578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Class </a:t>
            </a:r>
            <a:r>
              <a:rPr spc="-229" dirty="0"/>
              <a:t>To </a:t>
            </a:r>
            <a:r>
              <a:rPr spc="-5" dirty="0"/>
              <a:t>Basic</a:t>
            </a:r>
            <a:r>
              <a:rPr spc="45" dirty="0"/>
              <a:t> </a:t>
            </a:r>
            <a:r>
              <a:rPr spc="-60" dirty="0"/>
              <a:t>Type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39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29258" y="1426407"/>
            <a:ext cx="7050405" cy="43827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200" spc="-5" dirty="0">
                <a:latin typeface="Arial"/>
                <a:cs typeface="Arial"/>
              </a:rPr>
              <a:t>The casting operator function should </a:t>
            </a:r>
            <a:r>
              <a:rPr sz="2200" dirty="0">
                <a:latin typeface="Arial"/>
                <a:cs typeface="Arial"/>
              </a:rPr>
              <a:t>satisfy </a:t>
            </a:r>
            <a:r>
              <a:rPr sz="2200" spc="-5" dirty="0">
                <a:latin typeface="Arial"/>
                <a:cs typeface="Arial"/>
              </a:rPr>
              <a:t>the</a:t>
            </a:r>
            <a:r>
              <a:rPr sz="2200" spc="1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following</a:t>
            </a:r>
            <a:endParaRPr sz="2200">
              <a:latin typeface="Arial"/>
              <a:cs typeface="Arial"/>
            </a:endParaRPr>
          </a:p>
          <a:p>
            <a:pPr marL="392430">
              <a:lnSpc>
                <a:spcPct val="100000"/>
              </a:lnSpc>
              <a:spcBef>
                <a:spcPts val="665"/>
              </a:spcBef>
            </a:pPr>
            <a:r>
              <a:rPr sz="2200" spc="-5" dirty="0">
                <a:latin typeface="Arial"/>
                <a:cs typeface="Arial"/>
              </a:rPr>
              <a:t>conditions:</a:t>
            </a:r>
            <a:endParaRPr sz="2200">
              <a:latin typeface="Arial"/>
              <a:cs typeface="Arial"/>
            </a:endParaRPr>
          </a:p>
          <a:p>
            <a:pPr marL="392430" indent="-380365">
              <a:lnSpc>
                <a:spcPct val="100000"/>
              </a:lnSpc>
              <a:spcBef>
                <a:spcPts val="465"/>
              </a:spcBef>
              <a:buClr>
                <a:srgbClr val="9B2C1F"/>
              </a:buClr>
              <a:buSzPct val="84090"/>
              <a:buChar char=""/>
              <a:tabLst>
                <a:tab pos="392430" algn="l"/>
                <a:tab pos="393065" algn="l"/>
              </a:tabLst>
            </a:pPr>
            <a:r>
              <a:rPr sz="2200" spc="-5" dirty="0">
                <a:latin typeface="Arial"/>
                <a:cs typeface="Arial"/>
              </a:rPr>
              <a:t>It must be a class</a:t>
            </a:r>
            <a:r>
              <a:rPr sz="2200" spc="1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member.</a:t>
            </a:r>
            <a:endParaRPr sz="2200">
              <a:latin typeface="Arial"/>
              <a:cs typeface="Arial"/>
            </a:endParaRPr>
          </a:p>
          <a:p>
            <a:pPr marL="392430" indent="-380365">
              <a:lnSpc>
                <a:spcPct val="100000"/>
              </a:lnSpc>
              <a:spcBef>
                <a:spcPts val="135"/>
              </a:spcBef>
              <a:buClr>
                <a:srgbClr val="9B2C1F"/>
              </a:buClr>
              <a:buSzPct val="84090"/>
              <a:buChar char=""/>
              <a:tabLst>
                <a:tab pos="392430" algn="l"/>
                <a:tab pos="393065" algn="l"/>
              </a:tabLst>
            </a:pPr>
            <a:r>
              <a:rPr sz="2200" spc="-5" dirty="0">
                <a:latin typeface="Arial"/>
                <a:cs typeface="Arial"/>
              </a:rPr>
              <a:t>It must not specify a return</a:t>
            </a:r>
            <a:r>
              <a:rPr sz="2200" spc="4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type.</a:t>
            </a:r>
            <a:endParaRPr sz="2200">
              <a:latin typeface="Arial"/>
              <a:cs typeface="Arial"/>
            </a:endParaRPr>
          </a:p>
          <a:p>
            <a:pPr marL="392430" indent="-380365">
              <a:lnSpc>
                <a:spcPct val="100000"/>
              </a:lnSpc>
              <a:spcBef>
                <a:spcPts val="130"/>
              </a:spcBef>
              <a:buClr>
                <a:srgbClr val="9B2C1F"/>
              </a:buClr>
              <a:buSzPct val="84090"/>
              <a:buChar char=""/>
              <a:tabLst>
                <a:tab pos="392430" algn="l"/>
                <a:tab pos="393065" algn="l"/>
              </a:tabLst>
            </a:pPr>
            <a:r>
              <a:rPr sz="2200" spc="-5" dirty="0">
                <a:latin typeface="Arial"/>
                <a:cs typeface="Arial"/>
              </a:rPr>
              <a:t>It must not have any</a:t>
            </a:r>
            <a:r>
              <a:rPr sz="2200" spc="3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arguments.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515"/>
              </a:lnSpc>
              <a:spcBef>
                <a:spcPts val="2125"/>
              </a:spcBef>
            </a:pPr>
            <a:r>
              <a:rPr sz="2200" spc="-5" dirty="0">
                <a:latin typeface="Arial"/>
                <a:cs typeface="Arial"/>
              </a:rPr>
              <a:t>vector : : operator double(</a:t>
            </a:r>
            <a:r>
              <a:rPr sz="2200" spc="3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80"/>
              </a:lnSpc>
            </a:pPr>
            <a:r>
              <a:rPr sz="2200" spc="-5" dirty="0">
                <a:latin typeface="Arial"/>
                <a:cs typeface="Arial"/>
              </a:rPr>
              <a:t>{</a:t>
            </a:r>
            <a:endParaRPr sz="2200">
              <a:latin typeface="Arial"/>
              <a:cs typeface="Arial"/>
            </a:endParaRPr>
          </a:p>
          <a:p>
            <a:pPr marL="245745">
              <a:lnSpc>
                <a:spcPts val="2375"/>
              </a:lnSpc>
            </a:pPr>
            <a:r>
              <a:rPr sz="2200" spc="-5" dirty="0">
                <a:latin typeface="Arial"/>
                <a:cs typeface="Arial"/>
              </a:rPr>
              <a:t>double </a:t>
            </a:r>
            <a:r>
              <a:rPr sz="2200" dirty="0">
                <a:latin typeface="Arial"/>
                <a:cs typeface="Arial"/>
              </a:rPr>
              <a:t>sum </a:t>
            </a:r>
            <a:r>
              <a:rPr sz="2200" spc="-5" dirty="0">
                <a:latin typeface="Arial"/>
                <a:cs typeface="Arial"/>
              </a:rPr>
              <a:t>=</a:t>
            </a:r>
            <a:r>
              <a:rPr sz="2200" spc="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0;</a:t>
            </a:r>
            <a:endParaRPr sz="2200">
              <a:latin typeface="Arial"/>
              <a:cs typeface="Arial"/>
            </a:endParaRPr>
          </a:p>
          <a:p>
            <a:pPr marL="245745">
              <a:lnSpc>
                <a:spcPts val="2385"/>
              </a:lnSpc>
            </a:pPr>
            <a:r>
              <a:rPr sz="2200" spc="-5" dirty="0">
                <a:latin typeface="Arial"/>
                <a:cs typeface="Arial"/>
              </a:rPr>
              <a:t>for (int i=0; i &lt; </a:t>
            </a:r>
            <a:r>
              <a:rPr sz="2200" dirty="0">
                <a:latin typeface="Arial"/>
                <a:cs typeface="Arial"/>
              </a:rPr>
              <a:t>size </a:t>
            </a:r>
            <a:r>
              <a:rPr sz="2200" spc="-5" dirty="0">
                <a:latin typeface="Arial"/>
                <a:cs typeface="Arial"/>
              </a:rPr>
              <a:t>;</a:t>
            </a:r>
            <a:r>
              <a:rPr sz="2200" spc="3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i++)</a:t>
            </a:r>
            <a:endParaRPr sz="2200">
              <a:latin typeface="Arial"/>
              <a:cs typeface="Arial"/>
            </a:endParaRPr>
          </a:p>
          <a:p>
            <a:pPr marL="245745" marR="3811270" indent="233045">
              <a:lnSpc>
                <a:spcPts val="2380"/>
              </a:lnSpc>
              <a:spcBef>
                <a:spcPts val="170"/>
              </a:spcBef>
            </a:pPr>
            <a:r>
              <a:rPr sz="2200" spc="-5" dirty="0">
                <a:latin typeface="Arial"/>
                <a:cs typeface="Arial"/>
              </a:rPr>
              <a:t>sum = sum + </a:t>
            </a:r>
            <a:r>
              <a:rPr sz="2200" dirty="0">
                <a:latin typeface="Arial"/>
                <a:cs typeface="Arial"/>
              </a:rPr>
              <a:t>v[i] </a:t>
            </a:r>
            <a:r>
              <a:rPr sz="2200" spc="-5" dirty="0">
                <a:latin typeface="Arial"/>
                <a:cs typeface="Arial"/>
              </a:rPr>
              <a:t>* v[i];  return sqrt</a:t>
            </a:r>
            <a:r>
              <a:rPr sz="2200" spc="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(sum);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35"/>
              </a:lnSpc>
            </a:pPr>
            <a:r>
              <a:rPr sz="2200" spc="-5" dirty="0">
                <a:latin typeface="Arial"/>
                <a:cs typeface="Arial"/>
              </a:rPr>
              <a:t>}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4539" y="711200"/>
            <a:ext cx="1116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40" y="223773"/>
            <a:ext cx="4581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Class </a:t>
            </a:r>
            <a:r>
              <a:rPr spc="-229" dirty="0"/>
              <a:t>To </a:t>
            </a:r>
            <a:r>
              <a:rPr spc="-5" dirty="0"/>
              <a:t>Basic</a:t>
            </a:r>
            <a:r>
              <a:rPr spc="60" dirty="0"/>
              <a:t> </a:t>
            </a:r>
            <a:r>
              <a:rPr spc="-60" dirty="0"/>
              <a:t>Type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40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03350" y="1419885"/>
            <a:ext cx="7204709" cy="3462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7830" marR="39370" indent="-405765">
              <a:lnSpc>
                <a:spcPct val="125200"/>
              </a:lnSpc>
              <a:spcBef>
                <a:spcPts val="100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latin typeface="Arial"/>
                <a:cs typeface="Arial"/>
              </a:rPr>
              <a:t>Conversion functions are member functions and  it is invoked with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objects.</a:t>
            </a:r>
            <a:endParaRPr sz="2500">
              <a:latin typeface="Arial"/>
              <a:cs typeface="Arial"/>
            </a:endParaRPr>
          </a:p>
          <a:p>
            <a:pPr marL="417830" marR="5080" indent="-405765">
              <a:lnSpc>
                <a:spcPct val="125000"/>
              </a:lnSpc>
              <a:spcBef>
                <a:spcPts val="400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  <a:tab pos="2501900" algn="l"/>
              </a:tabLst>
            </a:pPr>
            <a:r>
              <a:rPr sz="2500" spc="-5" dirty="0">
                <a:latin typeface="Arial"/>
                <a:cs typeface="Arial"/>
              </a:rPr>
              <a:t>Therefore</a:t>
            </a:r>
            <a:r>
              <a:rPr sz="2500" spc="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the	values used for conversion inside  the function belong to </a:t>
            </a:r>
            <a:r>
              <a:rPr sz="2500" dirty="0">
                <a:latin typeface="Arial"/>
                <a:cs typeface="Arial"/>
              </a:rPr>
              <a:t>the </a:t>
            </a:r>
            <a:r>
              <a:rPr sz="2500" spc="-5" dirty="0">
                <a:latin typeface="Arial"/>
                <a:cs typeface="Arial"/>
              </a:rPr>
              <a:t>object that invoked  the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function.</a:t>
            </a:r>
            <a:endParaRPr sz="2500">
              <a:latin typeface="Arial"/>
              <a:cs typeface="Arial"/>
            </a:endParaRPr>
          </a:p>
          <a:p>
            <a:pPr marL="417830" marR="251460" indent="-405765">
              <a:lnSpc>
                <a:spcPct val="124800"/>
              </a:lnSpc>
              <a:spcBef>
                <a:spcPts val="409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latin typeface="Arial"/>
                <a:cs typeface="Arial"/>
              </a:rPr>
              <a:t>This means </a:t>
            </a:r>
            <a:r>
              <a:rPr sz="2500" dirty="0">
                <a:latin typeface="Arial"/>
                <a:cs typeface="Arial"/>
              </a:rPr>
              <a:t>that </a:t>
            </a:r>
            <a:r>
              <a:rPr sz="2500" spc="-5" dirty="0">
                <a:latin typeface="Arial"/>
                <a:cs typeface="Arial"/>
              </a:rPr>
              <a:t>the function does not need an  argument.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4539" y="711200"/>
            <a:ext cx="1116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24421" y="223773"/>
            <a:ext cx="1125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T</a:t>
            </a:r>
            <a:r>
              <a:rPr spc="-5" dirty="0"/>
              <a:t>ype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41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5045" y="1226058"/>
            <a:ext cx="8106409" cy="4521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Arial"/>
                <a:cs typeface="Arial"/>
              </a:rPr>
              <a:t>objX = objY ; // </a:t>
            </a:r>
            <a:r>
              <a:rPr sz="2500" dirty="0">
                <a:latin typeface="Arial"/>
                <a:cs typeface="Arial"/>
              </a:rPr>
              <a:t>objects </a:t>
            </a:r>
            <a:r>
              <a:rPr sz="2500" spc="-5" dirty="0">
                <a:latin typeface="Arial"/>
                <a:cs typeface="Arial"/>
              </a:rPr>
              <a:t>of different</a:t>
            </a:r>
            <a:r>
              <a:rPr sz="2500" spc="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types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950">
              <a:latin typeface="Arial"/>
              <a:cs typeface="Arial"/>
            </a:endParaRPr>
          </a:p>
          <a:p>
            <a:pPr marL="417830" marR="392430" indent="-405765">
              <a:lnSpc>
                <a:spcPct val="125200"/>
              </a:lnSpc>
              <a:buClr>
                <a:srgbClr val="9B2C1F"/>
              </a:buClr>
              <a:buSzPct val="84000"/>
              <a:buFont typeface="Arial"/>
              <a:buChar char=""/>
              <a:tabLst>
                <a:tab pos="417830" algn="l"/>
                <a:tab pos="418465" algn="l"/>
              </a:tabLst>
            </a:pPr>
            <a:r>
              <a:rPr sz="2500" b="1" spc="-5" dirty="0">
                <a:latin typeface="Arial"/>
                <a:cs typeface="Arial"/>
              </a:rPr>
              <a:t>objX </a:t>
            </a:r>
            <a:r>
              <a:rPr sz="2500" spc="-5" dirty="0">
                <a:latin typeface="Arial"/>
                <a:cs typeface="Arial"/>
              </a:rPr>
              <a:t>is an object </a:t>
            </a:r>
            <a:r>
              <a:rPr sz="2500" dirty="0">
                <a:latin typeface="Arial"/>
                <a:cs typeface="Arial"/>
              </a:rPr>
              <a:t>of </a:t>
            </a:r>
            <a:r>
              <a:rPr sz="2500" spc="-5" dirty="0">
                <a:latin typeface="Arial"/>
                <a:cs typeface="Arial"/>
              </a:rPr>
              <a:t>class </a:t>
            </a:r>
            <a:r>
              <a:rPr sz="2500" b="1" spc="-5" dirty="0">
                <a:latin typeface="Arial"/>
                <a:cs typeface="Arial"/>
              </a:rPr>
              <a:t>X </a:t>
            </a:r>
            <a:r>
              <a:rPr sz="2500" spc="-5" dirty="0">
                <a:latin typeface="Arial"/>
                <a:cs typeface="Arial"/>
              </a:rPr>
              <a:t>and </a:t>
            </a:r>
            <a:r>
              <a:rPr sz="2500" b="1" spc="-5" dirty="0">
                <a:latin typeface="Arial"/>
                <a:cs typeface="Arial"/>
              </a:rPr>
              <a:t>objY </a:t>
            </a:r>
            <a:r>
              <a:rPr sz="2500" spc="-5" dirty="0">
                <a:latin typeface="Arial"/>
                <a:cs typeface="Arial"/>
              </a:rPr>
              <a:t>is an object of  class </a:t>
            </a:r>
            <a:r>
              <a:rPr sz="2500" b="1" spc="-5" dirty="0">
                <a:latin typeface="Arial"/>
                <a:cs typeface="Arial"/>
              </a:rPr>
              <a:t>Y</a:t>
            </a:r>
            <a:r>
              <a:rPr sz="2500" spc="-5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  <a:p>
            <a:pPr marL="417830" marR="5080" indent="-405765">
              <a:lnSpc>
                <a:spcPct val="125299"/>
              </a:lnSpc>
              <a:spcBef>
                <a:spcPts val="384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latin typeface="Arial"/>
                <a:cs typeface="Arial"/>
              </a:rPr>
              <a:t>The </a:t>
            </a:r>
            <a:r>
              <a:rPr sz="2500" b="1" spc="-5" dirty="0">
                <a:latin typeface="Arial"/>
                <a:cs typeface="Arial"/>
              </a:rPr>
              <a:t>class Y </a:t>
            </a:r>
            <a:r>
              <a:rPr sz="2500" spc="-5" dirty="0">
                <a:latin typeface="Arial"/>
                <a:cs typeface="Arial"/>
              </a:rPr>
              <a:t>type </a:t>
            </a:r>
            <a:r>
              <a:rPr sz="2500" dirty="0">
                <a:latin typeface="Arial"/>
                <a:cs typeface="Arial"/>
              </a:rPr>
              <a:t>data </a:t>
            </a:r>
            <a:r>
              <a:rPr sz="2500" spc="-5" dirty="0">
                <a:latin typeface="Arial"/>
                <a:cs typeface="Arial"/>
              </a:rPr>
              <a:t>is converted to </a:t>
            </a:r>
            <a:r>
              <a:rPr sz="2500" dirty="0">
                <a:latin typeface="Arial"/>
                <a:cs typeface="Arial"/>
              </a:rPr>
              <a:t>the </a:t>
            </a:r>
            <a:r>
              <a:rPr sz="2500" b="1" spc="-5" dirty="0">
                <a:latin typeface="Arial"/>
                <a:cs typeface="Arial"/>
              </a:rPr>
              <a:t>class X </a:t>
            </a:r>
            <a:r>
              <a:rPr sz="2500" spc="-5" dirty="0">
                <a:latin typeface="Arial"/>
                <a:cs typeface="Arial"/>
              </a:rPr>
              <a:t>type  data and the converted value is assigned to the</a:t>
            </a:r>
            <a:r>
              <a:rPr sz="2500" spc="105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objX</a:t>
            </a:r>
            <a:r>
              <a:rPr sz="2500" spc="-5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  <a:p>
            <a:pPr marL="417830" indent="-405765">
              <a:lnSpc>
                <a:spcPct val="100000"/>
              </a:lnSpc>
              <a:spcBef>
                <a:spcPts val="1150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latin typeface="Arial"/>
                <a:cs typeface="Arial"/>
              </a:rPr>
              <a:t>Conversion </a:t>
            </a:r>
            <a:r>
              <a:rPr sz="2500" spc="-10" dirty="0">
                <a:latin typeface="Arial"/>
                <a:cs typeface="Arial"/>
              </a:rPr>
              <a:t>is </a:t>
            </a:r>
            <a:r>
              <a:rPr sz="2500" spc="-5" dirty="0">
                <a:latin typeface="Arial"/>
                <a:cs typeface="Arial"/>
              </a:rPr>
              <a:t>takes place from </a:t>
            </a:r>
            <a:r>
              <a:rPr sz="2500" b="1" spc="-5" dirty="0">
                <a:latin typeface="Arial"/>
                <a:cs typeface="Arial"/>
              </a:rPr>
              <a:t>class Y </a:t>
            </a:r>
            <a:r>
              <a:rPr sz="2500" spc="-5" dirty="0">
                <a:latin typeface="Arial"/>
                <a:cs typeface="Arial"/>
              </a:rPr>
              <a:t>to </a:t>
            </a:r>
            <a:r>
              <a:rPr sz="2500" b="1" spc="-5" dirty="0">
                <a:latin typeface="Arial"/>
                <a:cs typeface="Arial"/>
              </a:rPr>
              <a:t>class</a:t>
            </a:r>
            <a:r>
              <a:rPr sz="2500" b="1" spc="6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X</a:t>
            </a:r>
            <a:r>
              <a:rPr sz="2500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  <a:p>
            <a:pPr marL="417830" indent="-405765">
              <a:lnSpc>
                <a:spcPct val="100000"/>
              </a:lnSpc>
              <a:spcBef>
                <a:spcPts val="1150"/>
              </a:spcBef>
              <a:buClr>
                <a:srgbClr val="9B2C1F"/>
              </a:buClr>
              <a:buSzPct val="84000"/>
              <a:buFont typeface="Arial"/>
              <a:buChar char=""/>
              <a:tabLst>
                <a:tab pos="417830" algn="l"/>
                <a:tab pos="418465" algn="l"/>
              </a:tabLst>
            </a:pPr>
            <a:r>
              <a:rPr sz="2500" b="1" spc="-5" dirty="0">
                <a:latin typeface="Arial"/>
                <a:cs typeface="Arial"/>
              </a:rPr>
              <a:t>Y </a:t>
            </a:r>
            <a:r>
              <a:rPr sz="2500" spc="-5" dirty="0">
                <a:latin typeface="Arial"/>
                <a:cs typeface="Arial"/>
              </a:rPr>
              <a:t>is known as </a:t>
            </a:r>
            <a:r>
              <a:rPr sz="2500" b="1" i="1" spc="-5" dirty="0">
                <a:latin typeface="Arial"/>
                <a:cs typeface="Arial"/>
              </a:rPr>
              <a:t>source</a:t>
            </a:r>
            <a:r>
              <a:rPr sz="2500" b="1" i="1" spc="20" dirty="0"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class</a:t>
            </a:r>
            <a:r>
              <a:rPr sz="2500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  <a:p>
            <a:pPr marL="417830" indent="-405765">
              <a:lnSpc>
                <a:spcPct val="100000"/>
              </a:lnSpc>
              <a:spcBef>
                <a:spcPts val="1145"/>
              </a:spcBef>
              <a:buClr>
                <a:srgbClr val="9B2C1F"/>
              </a:buClr>
              <a:buSzPct val="84000"/>
              <a:buFont typeface="Arial"/>
              <a:buChar char=""/>
              <a:tabLst>
                <a:tab pos="417830" algn="l"/>
                <a:tab pos="418465" algn="l"/>
              </a:tabLst>
            </a:pPr>
            <a:r>
              <a:rPr sz="2500" b="1" spc="-5" dirty="0">
                <a:latin typeface="Arial"/>
                <a:cs typeface="Arial"/>
              </a:rPr>
              <a:t>X </a:t>
            </a:r>
            <a:r>
              <a:rPr sz="2500" spc="-5" dirty="0">
                <a:latin typeface="Arial"/>
                <a:cs typeface="Arial"/>
              </a:rPr>
              <a:t>is known </a:t>
            </a:r>
            <a:r>
              <a:rPr sz="2500" dirty="0">
                <a:latin typeface="Arial"/>
                <a:cs typeface="Arial"/>
              </a:rPr>
              <a:t>as </a:t>
            </a:r>
            <a:r>
              <a:rPr sz="2500" b="1" i="1" spc="-5" dirty="0">
                <a:latin typeface="Arial"/>
                <a:cs typeface="Arial"/>
              </a:rPr>
              <a:t>destination</a:t>
            </a:r>
            <a:r>
              <a:rPr sz="2500" b="1" i="1" spc="25" dirty="0"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class</a:t>
            </a:r>
            <a:r>
              <a:rPr sz="2500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24421" y="223773"/>
            <a:ext cx="1125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T</a:t>
            </a:r>
            <a:r>
              <a:rPr spc="-5" dirty="0"/>
              <a:t>ype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42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5045" y="795229"/>
            <a:ext cx="7780020" cy="427418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R="892175" algn="r">
              <a:lnSpc>
                <a:spcPct val="100000"/>
              </a:lnSpc>
              <a:spcBef>
                <a:spcPts val="615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Conversion between objects of </a:t>
            </a:r>
            <a:r>
              <a:rPr sz="2500" spc="-10" dirty="0">
                <a:solidFill>
                  <a:srgbClr val="0099CC"/>
                </a:solidFill>
                <a:latin typeface="Arial"/>
                <a:cs typeface="Arial"/>
              </a:rPr>
              <a:t>different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classes can</a:t>
            </a:r>
            <a:r>
              <a:rPr sz="2500" spc="90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be</a:t>
            </a:r>
            <a:endParaRPr sz="2500">
              <a:latin typeface="Arial"/>
              <a:cs typeface="Arial"/>
            </a:endParaRPr>
          </a:p>
          <a:p>
            <a:pPr marL="12700" marR="768985">
              <a:lnSpc>
                <a:spcPct val="124900"/>
              </a:lnSpc>
              <a:spcBef>
                <a:spcPts val="10"/>
              </a:spcBef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carried out by </a:t>
            </a:r>
            <a:r>
              <a:rPr sz="2500" dirty="0">
                <a:solidFill>
                  <a:srgbClr val="0099CC"/>
                </a:solidFill>
                <a:latin typeface="Arial"/>
                <a:cs typeface="Arial"/>
              </a:rPr>
              <a:t>either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a constructor or a conversion  function.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950">
              <a:latin typeface="Arial"/>
              <a:cs typeface="Arial"/>
            </a:endParaRPr>
          </a:p>
          <a:p>
            <a:pPr marL="12700" marR="682625">
              <a:lnSpc>
                <a:spcPct val="125099"/>
              </a:lnSpc>
            </a:pPr>
            <a:r>
              <a:rPr sz="2500" spc="-5" dirty="0">
                <a:latin typeface="Arial"/>
                <a:cs typeface="Arial"/>
              </a:rPr>
              <a:t>Choosing of constructor or the conversion function  depends upon where we want the </a:t>
            </a:r>
            <a:r>
              <a:rPr sz="2500" dirty="0">
                <a:latin typeface="Arial"/>
                <a:cs typeface="Arial"/>
              </a:rPr>
              <a:t>type-conversion  </a:t>
            </a:r>
            <a:r>
              <a:rPr sz="2500" spc="-5" dirty="0">
                <a:latin typeface="Arial"/>
                <a:cs typeface="Arial"/>
              </a:rPr>
              <a:t>function to be located in the source class </a:t>
            </a:r>
            <a:r>
              <a:rPr sz="2500" dirty="0">
                <a:latin typeface="Arial"/>
                <a:cs typeface="Arial"/>
              </a:rPr>
              <a:t>or </a:t>
            </a:r>
            <a:r>
              <a:rPr sz="2500" spc="-5" dirty="0">
                <a:latin typeface="Arial"/>
                <a:cs typeface="Arial"/>
              </a:rPr>
              <a:t>in the  destination class.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24421" y="161521"/>
            <a:ext cx="1163320" cy="9994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pc="-60" dirty="0"/>
              <a:t>Type</a:t>
            </a:r>
          </a:p>
          <a:p>
            <a:pPr marL="59690">
              <a:lnSpc>
                <a:spcPct val="100000"/>
              </a:lnSpc>
              <a:spcBef>
                <a:spcPts val="220"/>
              </a:spcBef>
            </a:pPr>
            <a:r>
              <a:rPr sz="1800" dirty="0">
                <a:solidFill>
                  <a:srgbClr val="000000"/>
                </a:solidFill>
              </a:rPr>
              <a:t>co</a:t>
            </a:r>
            <a:r>
              <a:rPr sz="1800" spc="-10" dirty="0">
                <a:solidFill>
                  <a:srgbClr val="000000"/>
                </a:solidFill>
              </a:rPr>
              <a:t>n</a:t>
            </a:r>
            <a:r>
              <a:rPr sz="1800" dirty="0">
                <a:solidFill>
                  <a:srgbClr val="000000"/>
                </a:solidFill>
              </a:rPr>
              <a:t>tin</a:t>
            </a:r>
            <a:r>
              <a:rPr sz="1800" spc="-10" dirty="0">
                <a:solidFill>
                  <a:srgbClr val="000000"/>
                </a:solidFill>
              </a:rPr>
              <a:t>u</a:t>
            </a:r>
            <a:r>
              <a:rPr sz="1800" spc="-5" dirty="0">
                <a:solidFill>
                  <a:srgbClr val="000000"/>
                </a:solidFill>
              </a:rPr>
              <a:t>e…</a:t>
            </a:r>
            <a:endParaRPr sz="1800"/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/>
              <a:t>operator typename(</a:t>
            </a:r>
            <a:r>
              <a:rPr spc="-90" dirty="0"/>
              <a:t> </a:t>
            </a:r>
            <a:r>
              <a:rPr dirty="0"/>
              <a:t>)</a:t>
            </a:r>
          </a:p>
          <a:p>
            <a:pPr marL="417830" marR="414020" indent="-405765">
              <a:lnSpc>
                <a:spcPct val="100000"/>
              </a:lnSpc>
              <a:spcBef>
                <a:spcPts val="835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solidFill>
                  <a:srgbClr val="000000"/>
                </a:solidFill>
              </a:rPr>
              <a:t>Converts the class object of which </a:t>
            </a:r>
            <a:r>
              <a:rPr sz="2500" spc="-10" dirty="0">
                <a:solidFill>
                  <a:srgbClr val="000000"/>
                </a:solidFill>
              </a:rPr>
              <a:t>it </a:t>
            </a:r>
            <a:r>
              <a:rPr sz="2500" spc="-5" dirty="0">
                <a:solidFill>
                  <a:srgbClr val="000000"/>
                </a:solidFill>
              </a:rPr>
              <a:t>is a member to  typename.</a:t>
            </a:r>
            <a:endParaRPr sz="2500"/>
          </a:p>
          <a:p>
            <a:pPr marL="417830" marR="22225" indent="-405765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solidFill>
                  <a:srgbClr val="0099CC"/>
                </a:solidFill>
              </a:rPr>
              <a:t>The typename may be a built-in type </a:t>
            </a:r>
            <a:r>
              <a:rPr sz="2500" dirty="0">
                <a:solidFill>
                  <a:srgbClr val="0099CC"/>
                </a:solidFill>
              </a:rPr>
              <a:t>or </a:t>
            </a:r>
            <a:r>
              <a:rPr sz="2500" spc="-5" dirty="0">
                <a:solidFill>
                  <a:srgbClr val="0099CC"/>
                </a:solidFill>
              </a:rPr>
              <a:t>a </a:t>
            </a:r>
            <a:r>
              <a:rPr sz="2500" dirty="0">
                <a:solidFill>
                  <a:srgbClr val="0099CC"/>
                </a:solidFill>
              </a:rPr>
              <a:t>user-defined  </a:t>
            </a:r>
            <a:r>
              <a:rPr sz="2500" spc="-5" dirty="0">
                <a:solidFill>
                  <a:srgbClr val="0099CC"/>
                </a:solidFill>
              </a:rPr>
              <a:t>one.</a:t>
            </a:r>
            <a:endParaRPr sz="2500"/>
          </a:p>
          <a:p>
            <a:pPr marL="417830" marR="5080" indent="-40576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solidFill>
                  <a:srgbClr val="000000"/>
                </a:solidFill>
              </a:rPr>
              <a:t>In the case of conversions between objects, typename  refers to the destination</a:t>
            </a:r>
            <a:r>
              <a:rPr sz="2500" spc="20" dirty="0">
                <a:solidFill>
                  <a:srgbClr val="000000"/>
                </a:solidFill>
              </a:rPr>
              <a:t> </a:t>
            </a:r>
            <a:r>
              <a:rPr sz="2500" spc="-5" dirty="0">
                <a:solidFill>
                  <a:srgbClr val="000000"/>
                </a:solidFill>
              </a:rPr>
              <a:t>class.</a:t>
            </a:r>
            <a:endParaRPr sz="2500"/>
          </a:p>
          <a:p>
            <a:pPr marL="417830" marR="624205" indent="-40576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solidFill>
                  <a:srgbClr val="0099CC"/>
                </a:solidFill>
              </a:rPr>
              <a:t>When a class needs to be converted, a casting  operator function can be used </a:t>
            </a:r>
            <a:r>
              <a:rPr sz="2500" dirty="0">
                <a:solidFill>
                  <a:srgbClr val="0099CC"/>
                </a:solidFill>
              </a:rPr>
              <a:t>at </a:t>
            </a:r>
            <a:r>
              <a:rPr sz="2500" spc="-5" dirty="0">
                <a:solidFill>
                  <a:srgbClr val="0099CC"/>
                </a:solidFill>
              </a:rPr>
              <a:t>the source</a:t>
            </a:r>
            <a:r>
              <a:rPr sz="2500" spc="114" dirty="0">
                <a:solidFill>
                  <a:srgbClr val="0099CC"/>
                </a:solidFill>
              </a:rPr>
              <a:t> </a:t>
            </a:r>
            <a:r>
              <a:rPr sz="2500" spc="-5" dirty="0">
                <a:solidFill>
                  <a:srgbClr val="0099CC"/>
                </a:solidFill>
              </a:rPr>
              <a:t>class.</a:t>
            </a:r>
            <a:endParaRPr sz="2500"/>
          </a:p>
          <a:p>
            <a:pPr marL="417830" marR="452120" indent="-405765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solidFill>
                  <a:srgbClr val="000000"/>
                </a:solidFill>
              </a:rPr>
              <a:t>The conversion takes place in the source class and  the result is given to the destination class</a:t>
            </a:r>
            <a:r>
              <a:rPr sz="2500" spc="70" dirty="0">
                <a:solidFill>
                  <a:srgbClr val="000000"/>
                </a:solidFill>
              </a:rPr>
              <a:t> </a:t>
            </a:r>
            <a:r>
              <a:rPr sz="2500" spc="-5" dirty="0">
                <a:solidFill>
                  <a:srgbClr val="000000"/>
                </a:solidFill>
              </a:rPr>
              <a:t>object.</a:t>
            </a:r>
            <a:endParaRPr sz="25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24421" y="223773"/>
            <a:ext cx="1125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T</a:t>
            </a:r>
            <a:r>
              <a:rPr spc="-5" dirty="0"/>
              <a:t>ype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lang="en-US" spc="-5" smtClean="0"/>
              <a:t>191CSC302T-OBJECT ORIENTED PROGRAMMING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5045" y="922736"/>
            <a:ext cx="7989570" cy="480250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R="643890" algn="r">
              <a:lnSpc>
                <a:spcPct val="100000"/>
              </a:lnSpc>
              <a:spcBef>
                <a:spcPts val="21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tin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e…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3200" dirty="0">
                <a:solidFill>
                  <a:srgbClr val="FF0000"/>
                </a:solidFill>
                <a:latin typeface="Arial"/>
                <a:cs typeface="Arial"/>
              </a:rPr>
              <a:t>Consider a constructor </a:t>
            </a:r>
            <a:r>
              <a:rPr sz="3200" spc="-5" dirty="0">
                <a:solidFill>
                  <a:srgbClr val="FF0000"/>
                </a:solidFill>
                <a:latin typeface="Arial"/>
                <a:cs typeface="Arial"/>
              </a:rPr>
              <a:t>function </a:t>
            </a:r>
            <a:r>
              <a:rPr sz="3200" dirty="0">
                <a:solidFill>
                  <a:srgbClr val="FF0000"/>
                </a:solidFill>
                <a:latin typeface="Arial"/>
                <a:cs typeface="Arial"/>
              </a:rPr>
              <a:t>with a</a:t>
            </a:r>
            <a:r>
              <a:rPr sz="3200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Arial"/>
                <a:cs typeface="Arial"/>
              </a:rPr>
              <a:t>single</a:t>
            </a:r>
            <a:endParaRPr sz="3200">
              <a:latin typeface="Arial"/>
              <a:cs typeface="Arial"/>
            </a:endParaRPr>
          </a:p>
          <a:p>
            <a:pPr marL="417830">
              <a:lnSpc>
                <a:spcPct val="100000"/>
              </a:lnSpc>
              <a:spcBef>
                <a:spcPts val="960"/>
              </a:spcBef>
            </a:pPr>
            <a:r>
              <a:rPr sz="3200" spc="-5" dirty="0">
                <a:solidFill>
                  <a:srgbClr val="FF0000"/>
                </a:solidFill>
                <a:latin typeface="Arial"/>
                <a:cs typeface="Arial"/>
              </a:rPr>
              <a:t>argument</a:t>
            </a:r>
            <a:endParaRPr sz="3200">
              <a:latin typeface="Arial"/>
              <a:cs typeface="Arial"/>
            </a:endParaRPr>
          </a:p>
          <a:p>
            <a:pPr marL="417830" marR="1214120" indent="-405765">
              <a:lnSpc>
                <a:spcPct val="100000"/>
              </a:lnSpc>
              <a:spcBef>
                <a:spcPts val="894"/>
              </a:spcBef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latin typeface="Arial"/>
                <a:cs typeface="Arial"/>
              </a:rPr>
              <a:t>Construction function will be a member of the  destination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class.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B2C1F"/>
              </a:buClr>
              <a:buFont typeface="Arial"/>
              <a:buChar char=""/>
            </a:pPr>
            <a:endParaRPr sz="3300">
              <a:latin typeface="Arial"/>
              <a:cs typeface="Arial"/>
            </a:endParaRPr>
          </a:p>
          <a:p>
            <a:pPr marL="417830" marR="718820" indent="-405765">
              <a:lnSpc>
                <a:spcPct val="100000"/>
              </a:lnSpc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The argument belongs to the source class and </a:t>
            </a:r>
            <a:r>
              <a:rPr sz="2500" spc="-10" dirty="0">
                <a:solidFill>
                  <a:srgbClr val="0099CC"/>
                </a:solidFill>
                <a:latin typeface="Arial"/>
                <a:cs typeface="Arial"/>
              </a:rPr>
              <a:t>is 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passed to the destination class </a:t>
            </a:r>
            <a:r>
              <a:rPr sz="2500" dirty="0">
                <a:solidFill>
                  <a:srgbClr val="0099CC"/>
                </a:solidFill>
                <a:latin typeface="Arial"/>
                <a:cs typeface="Arial"/>
              </a:rPr>
              <a:t>for</a:t>
            </a:r>
            <a:r>
              <a:rPr sz="2500" spc="2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2500" spc="-5" dirty="0">
                <a:solidFill>
                  <a:srgbClr val="0099CC"/>
                </a:solidFill>
                <a:latin typeface="Arial"/>
                <a:cs typeface="Arial"/>
              </a:rPr>
              <a:t>conversion.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9B2C1F"/>
              </a:buClr>
              <a:buFont typeface="Arial"/>
              <a:buChar char=""/>
            </a:pPr>
            <a:endParaRPr sz="3300">
              <a:latin typeface="Arial"/>
              <a:cs typeface="Arial"/>
            </a:endParaRPr>
          </a:p>
          <a:p>
            <a:pPr marL="417830" marR="1408430" indent="-405765">
              <a:lnSpc>
                <a:spcPct val="100000"/>
              </a:lnSpc>
              <a:buClr>
                <a:srgbClr val="9B2C1F"/>
              </a:buClr>
              <a:buSzPct val="84000"/>
              <a:buChar char=""/>
              <a:tabLst>
                <a:tab pos="417830" algn="l"/>
                <a:tab pos="418465" algn="l"/>
              </a:tabLst>
            </a:pPr>
            <a:r>
              <a:rPr sz="2500" spc="-5" dirty="0">
                <a:latin typeface="Arial"/>
                <a:cs typeface="Arial"/>
              </a:rPr>
              <a:t>The conversion constructor be placed </a:t>
            </a:r>
            <a:r>
              <a:rPr sz="2500" spc="-10" dirty="0">
                <a:latin typeface="Arial"/>
                <a:cs typeface="Arial"/>
              </a:rPr>
              <a:t>in </a:t>
            </a:r>
            <a:r>
              <a:rPr sz="2500" spc="-5" dirty="0">
                <a:latin typeface="Arial"/>
                <a:cs typeface="Arial"/>
              </a:rPr>
              <a:t>the  destination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class.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2678</Words>
  <Application>Microsoft Office PowerPoint</Application>
  <PresentationFormat>On-screen Show (4:3)</PresentationFormat>
  <Paragraphs>632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Object Oriented Programming  191CSC302T</vt:lpstr>
      <vt:lpstr>Unit – 4</vt:lpstr>
      <vt:lpstr>OPERATOR OVERLOADING</vt:lpstr>
      <vt:lpstr>Contents</vt:lpstr>
      <vt:lpstr>Introduction</vt:lpstr>
      <vt:lpstr>Why Operator Overloading?</vt:lpstr>
      <vt:lpstr>Simple Example</vt:lpstr>
      <vt:lpstr>With Operator Overloading, We  Can</vt:lpstr>
      <vt:lpstr>General Format</vt:lpstr>
      <vt:lpstr>C++ Philosophy</vt:lpstr>
      <vt:lpstr>C++ Philosophy (continued)</vt:lpstr>
      <vt:lpstr>Restrictions on Operator Overloading</vt:lpstr>
      <vt:lpstr>7.2 Overloading Unary Operator</vt:lpstr>
      <vt:lpstr>Slide 14</vt:lpstr>
      <vt:lpstr>#include &lt;iostream&gt;  using namespace std;  class temp {</vt:lpstr>
      <vt:lpstr>Note</vt:lpstr>
      <vt:lpstr>7.3 Overloading Binary Operator</vt:lpstr>
      <vt:lpstr>cout&lt;&lt;"Input Values:\n";  obj1.display();  obj2.display();</vt:lpstr>
      <vt:lpstr>cout&lt;&lt;"Input Values:\n";  obj1.display();  obj2.display();</vt:lpstr>
      <vt:lpstr>7.5 Overloading Binary operators using</vt:lpstr>
      <vt:lpstr>#include&lt;iostream.h&gt; class stud</vt:lpstr>
      <vt:lpstr>Manipulation of Strings using Operators</vt:lpstr>
      <vt:lpstr>Manipulation of Strings using Operators</vt:lpstr>
      <vt:lpstr>Manipulation of Strings using Opecornatintuoer…s</vt:lpstr>
      <vt:lpstr>Slide 25</vt:lpstr>
      <vt:lpstr>int string::operator==(string &amp;s) {</vt:lpstr>
      <vt:lpstr>Slide 27</vt:lpstr>
      <vt:lpstr>Rules For Overloading</vt:lpstr>
      <vt:lpstr>Rules For Overloading</vt:lpstr>
      <vt:lpstr>Rules For Overloading</vt:lpstr>
      <vt:lpstr>Rules For Overloading</vt:lpstr>
      <vt:lpstr>Type Conversions</vt:lpstr>
      <vt:lpstr>Type Conversions</vt:lpstr>
      <vt:lpstr>Basic to Class Type</vt:lpstr>
      <vt:lpstr>Basic to Class Type</vt:lpstr>
      <vt:lpstr>Basic to Class Type</vt:lpstr>
      <vt:lpstr>Class To Basic Type</vt:lpstr>
      <vt:lpstr>Class To Basic Type</vt:lpstr>
      <vt:lpstr>Class To Basic Type</vt:lpstr>
      <vt:lpstr>Class To Basic Type</vt:lpstr>
      <vt:lpstr>Type</vt:lpstr>
      <vt:lpstr>Type</vt:lpstr>
      <vt:lpstr>Type continue…</vt:lpstr>
      <vt:lpstr>Type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 191CSC302T</dc:title>
  <dc:creator>HP</dc:creator>
  <cp:lastModifiedBy>HP</cp:lastModifiedBy>
  <cp:revision>8</cp:revision>
  <dcterms:created xsi:type="dcterms:W3CDTF">2020-07-19T12:36:45Z</dcterms:created>
  <dcterms:modified xsi:type="dcterms:W3CDTF">2020-07-19T17:34:35Z</dcterms:modified>
</cp:coreProperties>
</file>