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  <p:sldMasterId id="2147483891" r:id="rId5"/>
  </p:sldMasterIdLst>
  <p:notesMasterIdLst>
    <p:notesMasterId r:id="rId25"/>
  </p:notesMasterIdLst>
  <p:sldIdLst>
    <p:sldId id="591" r:id="rId6"/>
    <p:sldId id="308" r:id="rId7"/>
    <p:sldId id="309" r:id="rId8"/>
    <p:sldId id="593" r:id="rId9"/>
    <p:sldId id="310" r:id="rId10"/>
    <p:sldId id="311" r:id="rId11"/>
    <p:sldId id="312" r:id="rId12"/>
    <p:sldId id="313" r:id="rId13"/>
    <p:sldId id="321" r:id="rId14"/>
    <p:sldId id="322" r:id="rId15"/>
    <p:sldId id="596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3" r:id="rId24"/>
  </p:sldIdLst>
  <p:sldSz cx="12192000" cy="6858000"/>
  <p:notesSz cx="6858000" cy="9144000"/>
  <p:embeddedFontLst>
    <p:embeddedFont>
      <p:font typeface="Cambria" pitchFamily="18" charset="0"/>
      <p:regular r:id="rId26"/>
      <p:bold r:id="rId27"/>
      <p:italic r:id="rId28"/>
      <p:boldItalic r:id="rId29"/>
    </p:embeddedFont>
    <p:embeddedFont>
      <p:font typeface="Montserrat" charset="0"/>
      <p:regular r:id="rId30"/>
      <p:bold r:id="rId31"/>
      <p:italic r:id="rId32"/>
      <p:boldItalic r:id="rId33"/>
    </p:embeddedFont>
    <p:embeddedFont>
      <p:font typeface="Century" pitchFamily="18" charset="0"/>
      <p:regular r:id="rId34"/>
    </p:embeddedFont>
    <p:embeddedFont>
      <p:font typeface="Calibri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B4AD78-022B-44A3-9E0D-2AF80F9E099E}">
  <a:tblStyle styleId="{F6B4AD78-022B-44A3-9E0D-2AF80F9E099E}" styleName="Table_0">
    <a:wholeTbl>
      <a:tcTxStyle b="off" i="off">
        <a:font>
          <a:latin typeface="Century"/>
          <a:ea typeface="Century"/>
          <a:cs typeface="Centur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entury"/>
          <a:ea typeface="Century"/>
          <a:cs typeface="Centur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entury"/>
          <a:ea typeface="Century"/>
          <a:cs typeface="Centur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entury"/>
          <a:ea typeface="Century"/>
          <a:cs typeface="Centur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entury"/>
          <a:ea typeface="Century"/>
          <a:cs typeface="Centur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-216" y="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  <p:extLst>
      <p:ext uri="{BB962C8B-B14F-4D97-AF65-F5344CB8AC3E}">
        <p14:creationId xmlns:p14="http://schemas.microsoft.com/office/powerpoint/2010/main" val="37530160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8248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4523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>
            <a:spLocks noGrp="1"/>
          </p:cNvSpPr>
          <p:nvPr>
            <p:ph type="ctrTitle"/>
          </p:nvPr>
        </p:nvSpPr>
        <p:spPr>
          <a:xfrm>
            <a:off x="609600" y="1875399"/>
            <a:ext cx="599236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  <a:defRPr sz="4400" b="0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1"/>
          </p:nvPr>
        </p:nvSpPr>
        <p:spPr>
          <a:xfrm>
            <a:off x="609599" y="4355074"/>
            <a:ext cx="6436659" cy="1525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994"/>
              </a:buClr>
              <a:buSzPts val="2800"/>
              <a:buNone/>
              <a:defRPr b="0" i="0">
                <a:solidFill>
                  <a:srgbClr val="00A994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551432" y="1825625"/>
            <a:ext cx="98237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9830054" cy="283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9830054" cy="149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4897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44897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7661212" y="722249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1551432" y="722249"/>
            <a:ext cx="5681472" cy="544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2"/>
          </p:nvPr>
        </p:nvSpPr>
        <p:spPr>
          <a:xfrm>
            <a:off x="7661212" y="2322449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7898957" y="713105"/>
            <a:ext cx="37047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>
            <a:spLocks noGrp="1"/>
          </p:cNvSpPr>
          <p:nvPr>
            <p:ph type="pic" idx="2"/>
          </p:nvPr>
        </p:nvSpPr>
        <p:spPr>
          <a:xfrm>
            <a:off x="1551432" y="713105"/>
            <a:ext cx="5910072" cy="545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7898957" y="2313305"/>
            <a:ext cx="370478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 rot="5400000">
            <a:off x="4287615" y="-910558"/>
            <a:ext cx="4351338" cy="982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" y="0"/>
            <a:ext cx="12191997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4400"/>
              <a:buFont typeface="Montserrat"/>
              <a:buNone/>
              <a:defRPr sz="44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>
            <a:off x="1551432" y="1825625"/>
            <a:ext cx="98237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0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00305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850" y="777765"/>
            <a:ext cx="9830054" cy="195136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+mj-lt"/>
              </a:rPr>
              <a:t>STORAGE CLASSES</a:t>
            </a:r>
            <a:endParaRPr lang="en-US" sz="4800" dirty="0">
              <a:latin typeface="+mj-lt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222695" y="2805381"/>
            <a:ext cx="9830054" cy="1744393"/>
          </a:xfrm>
        </p:spPr>
        <p:txBody>
          <a:bodyPr/>
          <a:lstStyle/>
          <a:p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Features of storage classes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92"/>
    </mc:Choice>
    <mc:Fallback xmlns="">
      <p:transition spd="slow" advTm="2409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9"/>
          <p:cNvSpPr txBox="1">
            <a:spLocks noGrp="1"/>
          </p:cNvSpPr>
          <p:nvPr>
            <p:ph type="title"/>
          </p:nvPr>
        </p:nvSpPr>
        <p:spPr>
          <a:xfrm>
            <a:off x="736958" y="136525"/>
            <a:ext cx="8753856" cy="63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"/>
              <a:buNone/>
            </a:pPr>
            <a:r>
              <a:rPr lang="en-US" sz="4000" b="1" dirty="0">
                <a:solidFill>
                  <a:schemeClr val="dk2"/>
                </a:solidFill>
                <a:latin typeface="Century"/>
                <a:ea typeface="Century"/>
                <a:cs typeface="Century"/>
                <a:sym typeface="Century"/>
              </a:rPr>
              <a:t>STORAGE CLASSES</a:t>
            </a:r>
            <a:endParaRPr sz="4000" b="1" dirty="0">
              <a:solidFill>
                <a:schemeClr val="dk2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19" name="Google Shape;619;p79"/>
          <p:cNvSpPr txBox="1">
            <a:spLocks noGrp="1"/>
          </p:cNvSpPr>
          <p:nvPr>
            <p:ph idx="1"/>
          </p:nvPr>
        </p:nvSpPr>
        <p:spPr>
          <a:xfrm>
            <a:off x="736958" y="775741"/>
            <a:ext cx="10343213" cy="55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In C programming every variable is having </a:t>
            </a:r>
            <a:r>
              <a:rPr lang="en-US" sz="24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two</a:t>
            </a: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 properties:</a:t>
            </a:r>
            <a:endParaRPr lang="en-US" sz="2400" dirty="0"/>
          </a:p>
          <a:p>
            <a:pPr marL="360363" lvl="0" indent="-36036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A35"/>
              </a:buClr>
              <a:buSzPts val="2000"/>
              <a:buAutoNum type="arabicPeriod"/>
            </a:pPr>
            <a:r>
              <a:rPr lang="en-US" sz="24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Type</a:t>
            </a: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  -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refers to the data type of a variable 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AutoNum type="arabicPeriod"/>
            </a:pP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  </a:t>
            </a:r>
            <a:r>
              <a:rPr lang="en-US" sz="24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Storage class </a:t>
            </a: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-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determines the scope, visibility and lifetime of a variable.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400" b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Scope :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scope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of a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variable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is the part of the program within 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Which the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variable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can be accessed.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endParaRPr sz="2400" dirty="0">
              <a:solidFill>
                <a:schemeClr val="tx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400" b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Visibility :</a:t>
            </a: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scope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describes the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visibility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of a variable. A variable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is visible within its scope and invisible or hidden outside it.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endParaRPr sz="2400" dirty="0"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400" b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Life Time </a:t>
            </a:r>
            <a:r>
              <a:rPr lang="en-US" sz="2400" dirty="0">
                <a:latin typeface="Century"/>
                <a:ea typeface="Century"/>
                <a:cs typeface="Century"/>
                <a:sym typeface="Century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lifetime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of a variable is </a:t>
            </a:r>
            <a:r>
              <a:rPr lang="en-US" sz="2400" b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interval of time </a:t>
            </a: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between 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memory allocation and release of the memory  been allocated for  a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4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variable.</a:t>
            </a:r>
            <a:endParaRPr sz="24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000"/>
              <a:buNone/>
            </a:pPr>
            <a:endParaRPr sz="1000"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21" name="Google Shape;621;p7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400"/>
              <a:buFont typeface="Century"/>
              <a:buNone/>
            </a:pPr>
            <a:r>
              <a:rPr lang="en-US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STORAGE CLASSES </a:t>
            </a:r>
            <a:endParaRPr/>
          </a:p>
        </p:txBody>
      </p:sp>
      <p:sp>
        <p:nvSpPr>
          <p:cNvPr id="627" name="Google Shape;627;p8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 b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Four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types of storage classes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,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>
              <a:latin typeface="Century"/>
              <a:ea typeface="Century"/>
              <a:cs typeface="Century"/>
              <a:sym typeface="Century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Century"/>
              <a:buAutoNum type="arabicPeriod"/>
            </a:pPr>
            <a:r>
              <a:rPr lang="en-US" b="1" i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auto</a:t>
            </a:r>
            <a:endParaRPr dirty="0">
              <a:solidFill>
                <a:schemeClr val="tx1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Century"/>
              <a:buAutoNum type="arabicPeriod"/>
            </a:pPr>
            <a:r>
              <a:rPr lang="en-US" b="1" i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external</a:t>
            </a:r>
            <a:endParaRPr dirty="0">
              <a:solidFill>
                <a:schemeClr val="tx1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Century"/>
              <a:buAutoNum type="arabicPeriod"/>
            </a:pPr>
            <a:r>
              <a:rPr lang="en-US" b="1" i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static</a:t>
            </a:r>
            <a:endParaRPr dirty="0">
              <a:solidFill>
                <a:schemeClr val="tx1"/>
              </a:solidFill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Font typeface="Century"/>
              <a:buAutoNum type="arabicPeriod"/>
            </a:pPr>
            <a:r>
              <a:rPr lang="en-US" b="1" i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register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29" name="Google Shape;629;p8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7D713B75-2AB8-4E45-96F6-0E8827AB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2734392" y="2058750"/>
            <a:ext cx="9830054" cy="1744393"/>
          </a:xfrm>
        </p:spPr>
        <p:txBody>
          <a:bodyPr/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and Static Storage classes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92"/>
    </mc:Choice>
    <mc:Fallback xmlns="">
      <p:transition spd="slow" advTm="24092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4400"/>
              <a:buFont typeface="Century"/>
              <a:buNone/>
            </a:pPr>
            <a:r>
              <a:rPr lang="en-US" b="1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Automatic - STORAGE CLASS</a:t>
            </a:r>
            <a:br>
              <a:rPr lang="en-US" b="1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b="1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(Local Variables)</a:t>
            </a:r>
            <a:endParaRPr/>
          </a:p>
        </p:txBody>
      </p:sp>
      <p:sp>
        <p:nvSpPr>
          <p:cNvPr id="635" name="Google Shape;635;p8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2600"/>
              <a:buChar char="•"/>
            </a:pP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Automatic  variables are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local variables </a:t>
            </a: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that are declared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with in a block/a function 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600"/>
              <a:buChar char="•"/>
            </a:pP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It can be accessed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only inside </a:t>
            </a: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the program block in which it is declared.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600"/>
              <a:buChar char="•"/>
            </a:pP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It is stored in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stack in memory</a:t>
            </a:r>
            <a:r>
              <a:rPr lang="en-US" sz="260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600"/>
              <a:buChar char="•"/>
            </a:pP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Default value is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any random garbage value</a:t>
            </a: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2600"/>
              <a:buChar char="•"/>
            </a:pP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The life time  is till the control remains </a:t>
            </a:r>
            <a:r>
              <a:rPr lang="en-US" sz="2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within the block</a:t>
            </a:r>
            <a:r>
              <a:rPr lang="en-US" sz="260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60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in which the variable is defined.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>
              <a:solidFill>
                <a:srgbClr val="171616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37" name="Google Shape;637;p8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2"/>
          <p:cNvSpPr txBox="1">
            <a:spLocks noGrp="1"/>
          </p:cNvSpPr>
          <p:nvPr>
            <p:ph type="title"/>
          </p:nvPr>
        </p:nvSpPr>
        <p:spPr>
          <a:xfrm>
            <a:off x="422031" y="365125"/>
            <a:ext cx="100443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entury"/>
              <a:buNone/>
            </a:pPr>
            <a:r>
              <a:rPr lang="en-US" sz="4000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Automatic - STORAGE CLASS (Cont …)</a:t>
            </a:r>
            <a:r>
              <a:rPr lang="en-US" sz="3600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/>
            </a:r>
            <a:br>
              <a:rPr lang="en-US" sz="3600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3600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/>
            </a:r>
            <a:br>
              <a:rPr lang="en-US" sz="3600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3600" b="1" i="1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auto</a:t>
            </a:r>
            <a:r>
              <a:rPr lang="en-US" sz="3600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 Keyword</a:t>
            </a:r>
            <a:endParaRPr/>
          </a:p>
        </p:txBody>
      </p:sp>
      <p:sp>
        <p:nvSpPr>
          <p:cNvPr id="643" name="Google Shape;643;p8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4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Automatic variables declared using </a:t>
            </a:r>
            <a:r>
              <a:rPr lang="en-US" b="1" i="1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auto </a:t>
            </a: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 keyword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Default storage class of all local variables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lang="en-US" b="1" dirty="0">
                <a:solidFill>
                  <a:srgbClr val="385623"/>
                </a:solidFill>
                <a:latin typeface="Century"/>
                <a:ea typeface="Century"/>
                <a:cs typeface="Century"/>
                <a:sym typeface="Century"/>
              </a:rPr>
              <a:t>Example 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</a:pP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 void main()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</a:pP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{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</a:pP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auto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 int a; or int a; </a:t>
            </a:r>
            <a:r>
              <a:rPr lang="en-US" b="1" i="1" dirty="0">
                <a:latin typeface="Century"/>
                <a:ea typeface="Century"/>
                <a:cs typeface="Century"/>
                <a:sym typeface="Century"/>
              </a:rPr>
              <a:t>// Both are same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</a:pP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}</a:t>
            </a:r>
            <a:endParaRPr dirty="0"/>
          </a:p>
        </p:txBody>
      </p:sp>
      <p:sp>
        <p:nvSpPr>
          <p:cNvPr id="645" name="Google Shape;645;p8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3"/>
          <p:cNvSpPr txBox="1">
            <a:spLocks noGrp="1"/>
          </p:cNvSpPr>
          <p:nvPr>
            <p:ph type="title"/>
          </p:nvPr>
        </p:nvSpPr>
        <p:spPr>
          <a:xfrm>
            <a:off x="1311578" y="365125"/>
            <a:ext cx="954867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4000"/>
              <a:buFont typeface="Century"/>
              <a:buNone/>
            </a:pPr>
            <a:r>
              <a:rPr lang="en-US" sz="4000" b="1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Automatic - STORAGE CLASS (</a:t>
            </a:r>
            <a:r>
              <a:rPr lang="en-US" sz="4000" b="1" dirty="0" err="1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Cont</a:t>
            </a:r>
            <a:r>
              <a:rPr lang="en-US" sz="4000" b="1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…)</a:t>
            </a:r>
            <a:br>
              <a:rPr lang="en-US" sz="4000" b="1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4000" b="1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How it works ?</a:t>
            </a:r>
            <a:endParaRPr dirty="0"/>
          </a:p>
        </p:txBody>
      </p:sp>
      <p:sp>
        <p:nvSpPr>
          <p:cNvPr id="651" name="Google Shape;651;p8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void main()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 {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int n1;             </a:t>
            </a:r>
            <a:r>
              <a:rPr lang="en-US" b="1" i="1">
                <a:latin typeface="Century"/>
                <a:ea typeface="Century"/>
                <a:cs typeface="Century"/>
                <a:sym typeface="Century"/>
              </a:rPr>
              <a:t>// n1 is a local variable to main()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}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void func()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{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 auto </a:t>
            </a:r>
            <a:r>
              <a:rPr lang="en-US">
                <a:latin typeface="Century"/>
                <a:ea typeface="Century"/>
                <a:cs typeface="Century"/>
                <a:sym typeface="Century"/>
              </a:rPr>
              <a:t>int n2;   </a:t>
            </a:r>
            <a:r>
              <a:rPr lang="en-US" b="1" i="1">
                <a:latin typeface="Century"/>
                <a:ea typeface="Century"/>
                <a:cs typeface="Century"/>
                <a:sym typeface="Century"/>
              </a:rPr>
              <a:t>// n2 is local variable to func()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 }</a:t>
            </a:r>
            <a:endParaRPr/>
          </a:p>
        </p:txBody>
      </p:sp>
      <p:sp>
        <p:nvSpPr>
          <p:cNvPr id="653" name="Google Shape;653;p8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4"/>
          <p:cNvSpPr txBox="1">
            <a:spLocks noGrp="1"/>
          </p:cNvSpPr>
          <p:nvPr>
            <p:ph type="title"/>
          </p:nvPr>
        </p:nvSpPr>
        <p:spPr>
          <a:xfrm>
            <a:off x="351693" y="351057"/>
            <a:ext cx="107336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4400"/>
              <a:buFont typeface="Century"/>
              <a:buNone/>
            </a:pPr>
            <a:r>
              <a:rPr lang="en-US" b="1">
                <a:latin typeface="Century"/>
                <a:ea typeface="Century"/>
                <a:cs typeface="Century"/>
                <a:sym typeface="Century"/>
              </a:rPr>
              <a:t>Automatic STORAGE CLASS (Cont …)</a:t>
            </a:r>
            <a:br>
              <a:rPr lang="en-US" b="1">
                <a:latin typeface="Century"/>
                <a:ea typeface="Century"/>
                <a:cs typeface="Century"/>
                <a:sym typeface="Century"/>
              </a:rPr>
            </a:br>
            <a:r>
              <a:rPr lang="en-US" b="1">
                <a:latin typeface="Century"/>
                <a:ea typeface="Century"/>
                <a:cs typeface="Century"/>
                <a:sym typeface="Century"/>
              </a:rPr>
              <a:t>EXAMPLE</a:t>
            </a:r>
            <a:endParaRPr b="1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59" name="Google Shape;659;p84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8868507" cy="43513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#include &lt;</a:t>
            </a:r>
            <a:r>
              <a:rPr lang="en-US" sz="1800" dirty="0" err="1">
                <a:latin typeface="Century"/>
                <a:ea typeface="Century"/>
                <a:cs typeface="Century"/>
                <a:sym typeface="Century"/>
              </a:rPr>
              <a:t>stdio.h</a:t>
            </a: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&gt;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void main( )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auto int j = 1;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{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auto int j= 2;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  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   auto int j = 3;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   </a:t>
            </a:r>
            <a:r>
              <a:rPr lang="en-US" sz="1800" dirty="0" err="1"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( " %d ", j);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  }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  </a:t>
            </a:r>
            <a:r>
              <a:rPr lang="en-US" sz="1800" dirty="0" err="1"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( "\t %d ",j);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 }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 err="1"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( "%d\n", j);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1800"/>
              <a:buNone/>
            </a:pPr>
            <a:r>
              <a:rPr lang="en-US" sz="1800" dirty="0">
                <a:latin typeface="Century"/>
                <a:ea typeface="Century"/>
                <a:cs typeface="Century"/>
                <a:sym typeface="Century"/>
              </a:rPr>
              <a:t>}</a:t>
            </a:r>
            <a:endParaRPr sz="1800"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62" name="Google Shape;662;p8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sp>
        <p:nvSpPr>
          <p:cNvPr id="661" name="Google Shape;661;p84"/>
          <p:cNvSpPr txBox="1"/>
          <p:nvPr/>
        </p:nvSpPr>
        <p:spPr>
          <a:xfrm>
            <a:off x="7441810" y="5472332"/>
            <a:ext cx="2250831" cy="646331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3 2 1 </a:t>
            </a:r>
            <a:endParaRPr sz="1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"/>
              <a:buNone/>
            </a:pPr>
            <a:r>
              <a:rPr lang="en-US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Static– STORAGE CLASS</a:t>
            </a:r>
            <a:endParaRPr b="1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28" name="Google Shape;728;p92"/>
          <p:cNvSpPr txBox="1">
            <a:spLocks noGrp="1"/>
          </p:cNvSpPr>
          <p:nvPr>
            <p:ph idx="1"/>
          </p:nvPr>
        </p:nvSpPr>
        <p:spPr>
          <a:xfrm>
            <a:off x="599607" y="1690688"/>
            <a:ext cx="10062297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A static variable tells the compiler </a:t>
            </a:r>
            <a:r>
              <a:rPr lang="en-US" sz="24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to persist/save the variable</a:t>
            </a:r>
            <a:r>
              <a:rPr lang="en-US" sz="2400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until the end of program.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A </a:t>
            </a:r>
            <a:r>
              <a:rPr lang="en-US" sz="24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local or a global 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variable can be a static variable.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Static local variable is declared with in a function/block. Its life time is till the program terminates.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Static global variable is declared outside of all the functions. Its life time is till the program terminates.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Default value is </a:t>
            </a:r>
            <a:r>
              <a:rPr lang="en-US" sz="24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It is stored in the </a:t>
            </a:r>
            <a:r>
              <a:rPr lang="en-US" sz="24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data segment 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of the memory.</a:t>
            </a:r>
            <a:endParaRPr dirty="0"/>
          </a:p>
        </p:txBody>
      </p:sp>
      <p:sp>
        <p:nvSpPr>
          <p:cNvPr id="730" name="Google Shape;730;p9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012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3"/>
          <p:cNvSpPr txBox="1">
            <a:spLocks noGrp="1"/>
          </p:cNvSpPr>
          <p:nvPr>
            <p:ph type="title"/>
          </p:nvPr>
        </p:nvSpPr>
        <p:spPr>
          <a:xfrm>
            <a:off x="717452" y="274638"/>
            <a:ext cx="9493348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entury"/>
              <a:buNone/>
            </a:pPr>
            <a:r>
              <a:rPr lang="en-US" sz="3959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Static – STORAGE CLASS (Cont…)</a:t>
            </a:r>
            <a:endParaRPr sz="3959" b="1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36" name="Google Shape;736;p93"/>
          <p:cNvSpPr txBox="1">
            <a:spLocks noGrp="1"/>
          </p:cNvSpPr>
          <p:nvPr>
            <p:ph sz="half" idx="1"/>
          </p:nvPr>
        </p:nvSpPr>
        <p:spPr>
          <a:xfrm>
            <a:off x="838199" y="1825625"/>
            <a:ext cx="4901419" cy="43513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#include&lt;stdio.h&gt;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test();              </a:t>
            </a:r>
            <a:r>
              <a:rPr lang="en-US" sz="1800" b="1" i="1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/Function declaration</a:t>
            </a: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main()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}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test()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static int a = 0; </a:t>
            </a:r>
            <a:r>
              <a:rPr lang="en-US" sz="1800" b="1" i="1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//a is static local variable</a:t>
            </a: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a = a + 1;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1800" dirty="0" err="1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("%d\</a:t>
            </a:r>
            <a:r>
              <a:rPr lang="en-US" sz="1800" dirty="0" err="1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t",a</a:t>
            </a: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);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</a:pPr>
            <a:r>
              <a:rPr lang="en-US" sz="1800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endParaRPr dirty="0"/>
          </a:p>
        </p:txBody>
      </p:sp>
      <p:sp>
        <p:nvSpPr>
          <p:cNvPr id="737" name="Google Shape;737;p9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#include&lt;stdio.h&gt;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test(); //Function declaration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main()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test();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}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void test()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{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 int a = 0;  // a  is local variable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a = a + 1;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 err="1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("%d\</a:t>
            </a:r>
            <a:r>
              <a:rPr lang="en-US" sz="1815" dirty="0" err="1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t",a</a:t>
            </a: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); 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15"/>
              <a:buNone/>
            </a:pPr>
            <a:r>
              <a:rPr lang="en-US" sz="1815" dirty="0">
                <a:solidFill>
                  <a:srgbClr val="171616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1540"/>
              <a:buNone/>
            </a:pPr>
            <a:endParaRPr sz="1540" dirty="0"/>
          </a:p>
        </p:txBody>
      </p:sp>
      <p:sp>
        <p:nvSpPr>
          <p:cNvPr id="742" name="Google Shape;742;p9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738" name="Google Shape;738;p93"/>
          <p:cNvSpPr txBox="1"/>
          <p:nvPr/>
        </p:nvSpPr>
        <p:spPr>
          <a:xfrm>
            <a:off x="1308295" y="990602"/>
            <a:ext cx="83691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Static Variables are declared using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static 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keyword.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39" name="Google Shape;739;p93"/>
          <p:cNvSpPr txBox="1"/>
          <p:nvPr/>
        </p:nvSpPr>
        <p:spPr>
          <a:xfrm>
            <a:off x="4543864" y="5410202"/>
            <a:ext cx="1143000" cy="646331"/>
          </a:xfrm>
          <a:prstGeom prst="rect">
            <a:avLst/>
          </a:pr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1 2 3</a:t>
            </a:r>
            <a:endParaRPr/>
          </a:p>
        </p:txBody>
      </p:sp>
      <p:sp>
        <p:nvSpPr>
          <p:cNvPr id="740" name="Google Shape;740;p93"/>
          <p:cNvSpPr txBox="1"/>
          <p:nvPr/>
        </p:nvSpPr>
        <p:spPr>
          <a:xfrm>
            <a:off x="9410114" y="5511019"/>
            <a:ext cx="1143000" cy="646331"/>
          </a:xfrm>
          <a:prstGeom prst="rect">
            <a:avLst/>
          </a:pr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1 1 1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994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835322" y="1383402"/>
            <a:ext cx="9830054" cy="174439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and </a:t>
            </a:r>
            <a:endParaRPr lang="en-US" sz="48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r>
              <a:rPr 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classes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4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92"/>
    </mc:Choice>
    <mc:Fallback xmlns="">
      <p:transition spd="slow" advTm="24092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Century"/>
              <a:buNone/>
            </a:pPr>
            <a:r>
              <a:rPr lang="en-US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External – STORAGE CLASS</a:t>
            </a:r>
            <a:br>
              <a:rPr lang="en-US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b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(Global Variables) </a:t>
            </a:r>
            <a:endParaRPr b="1">
              <a:solidFill>
                <a:srgbClr val="222A35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68" name="Google Shape;668;p8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Variables that are declared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outside of all functions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  </a:t>
            </a: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are known as external or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global variables.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They are accessible from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any other function </a:t>
            </a: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inside the program.</a:t>
            </a:r>
            <a:endParaRPr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Default value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is zero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value is assigned to it in a different block and this can be overwritten/changed in a different block 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The lifetime is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till the program terminates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Char char="•"/>
            </a:pP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It is stored in the </a:t>
            </a:r>
            <a:r>
              <a:rPr lang="en-US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data segment </a:t>
            </a:r>
            <a:r>
              <a:rPr lang="en-US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of the main memory</a:t>
            </a:r>
            <a:r>
              <a:rPr lang="en-US" dirty="0"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70" name="Google Shape;670;p8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6"/>
          <p:cNvSpPr txBox="1">
            <a:spLocks noGrp="1"/>
          </p:cNvSpPr>
          <p:nvPr>
            <p:ph type="title"/>
          </p:nvPr>
        </p:nvSpPr>
        <p:spPr>
          <a:xfrm>
            <a:off x="295421" y="216844"/>
            <a:ext cx="10635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959"/>
              <a:buFont typeface="Century"/>
              <a:buNone/>
            </a:pPr>
            <a:r>
              <a:rPr lang="en-US" sz="3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EXTERNAL – STORAGE CLASS</a:t>
            </a:r>
            <a:br>
              <a:rPr lang="en-US" sz="3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3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GLOBAL VARIABLE (</a:t>
            </a:r>
            <a:r>
              <a:rPr lang="en-US" sz="3200" b="1" dirty="0" err="1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Cont</a:t>
            </a:r>
            <a:r>
              <a:rPr lang="en-US" sz="3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…)</a:t>
            </a:r>
            <a:br>
              <a:rPr lang="en-US" sz="3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20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 EXAMPLE</a:t>
            </a:r>
            <a:endParaRPr sz="3200" b="1" dirty="0">
              <a:solidFill>
                <a:srgbClr val="222A35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76" name="Google Shape;676;p8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#include &lt;</a:t>
            </a:r>
            <a:r>
              <a:rPr lang="en-US" sz="175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stdio.h</a:t>
            </a: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&gt;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void display(); 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int</a:t>
            </a: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n = 5; </a:t>
            </a:r>
            <a:r>
              <a:rPr lang="en-US" sz="1750" b="1" i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// global variable 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int</a:t>
            </a: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main()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{ ++n;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display();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return 0; 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void display()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{ 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++n;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175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("n = %d", n);</a:t>
            </a:r>
            <a:endParaRPr dirty="0"/>
          </a:p>
          <a:p>
            <a:pPr marL="22860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n-US" sz="175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}</a:t>
            </a:r>
            <a:endParaRPr dirty="0"/>
          </a:p>
        </p:txBody>
      </p:sp>
      <p:sp>
        <p:nvSpPr>
          <p:cNvPr id="679" name="Google Shape;679;p8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677" name="Google Shape;677;p86"/>
          <p:cNvSpPr txBox="1"/>
          <p:nvPr/>
        </p:nvSpPr>
        <p:spPr>
          <a:xfrm>
            <a:off x="7821637" y="5474678"/>
            <a:ext cx="2819400" cy="646331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n=7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7"/>
          <p:cNvSpPr txBox="1">
            <a:spLocks noGrp="1"/>
          </p:cNvSpPr>
          <p:nvPr>
            <p:ph type="title"/>
          </p:nvPr>
        </p:nvSpPr>
        <p:spPr>
          <a:xfrm>
            <a:off x="261424" y="252584"/>
            <a:ext cx="1058476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Century"/>
              <a:buNone/>
            </a:pPr>
            <a:r>
              <a:rPr lang="en-US" sz="4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External – STORAGE CLASS (Cont..)</a:t>
            </a:r>
            <a:r>
              <a:rPr lang="en-US" sz="4200" b="1" dirty="0">
                <a:solidFill>
                  <a:srgbClr val="222A35"/>
                </a:solidFill>
              </a:rPr>
              <a:t/>
            </a:r>
            <a:br>
              <a:rPr lang="en-US" sz="4200" b="1" dirty="0">
                <a:solidFill>
                  <a:srgbClr val="222A35"/>
                </a:solidFill>
              </a:rPr>
            </a:br>
            <a:r>
              <a:rPr lang="en-US" sz="42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extern</a:t>
            </a:r>
            <a:r>
              <a:rPr lang="en-US" sz="4200" b="1" dirty="0">
                <a:solidFill>
                  <a:srgbClr val="222A35"/>
                </a:solidFill>
              </a:rPr>
              <a:t> </a:t>
            </a:r>
            <a:r>
              <a:rPr lang="en-US" sz="4200" b="1" dirty="0">
                <a:solidFill>
                  <a:srgbClr val="222A35"/>
                </a:solidFill>
                <a:latin typeface="Century"/>
                <a:ea typeface="Century"/>
                <a:cs typeface="Century"/>
                <a:sym typeface="Century"/>
              </a:rPr>
              <a:t>KEYWORD USAGE</a:t>
            </a:r>
            <a:endParaRPr sz="4200" b="1" dirty="0">
              <a:solidFill>
                <a:srgbClr val="222A35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85" name="Google Shape;685;p87"/>
          <p:cNvSpPr txBox="1">
            <a:spLocks noGrp="1"/>
          </p:cNvSpPr>
          <p:nvPr>
            <p:ph idx="1"/>
          </p:nvPr>
        </p:nvSpPr>
        <p:spPr>
          <a:xfrm>
            <a:off x="450166" y="1825625"/>
            <a:ext cx="1021173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2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To access a </a:t>
            </a:r>
            <a:r>
              <a:rPr lang="en-US" sz="22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global variable </a:t>
            </a:r>
            <a:r>
              <a:rPr lang="en-US" sz="22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declared in file1 in a </a:t>
            </a:r>
            <a:r>
              <a:rPr lang="en-US" sz="22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different file  </a:t>
            </a:r>
            <a:r>
              <a:rPr lang="en-US" sz="22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file2</a:t>
            </a:r>
            <a:r>
              <a:rPr lang="en-US" sz="22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, keyword </a:t>
            </a:r>
            <a:endParaRPr sz="2200" b="1" i="1" dirty="0">
              <a:solidFill>
                <a:srgbClr val="FF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200" b="1" i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extern is used</a:t>
            </a:r>
            <a:r>
              <a:rPr lang="en-US" sz="2200" dirty="0"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entury"/>
                <a:ea typeface="Century"/>
                <a:cs typeface="Century"/>
                <a:sym typeface="Century"/>
              </a:rPr>
              <a:t>in file2 to indicate that the external variable is declared in another file.</a:t>
            </a:r>
            <a:endParaRPr sz="2200" dirty="0">
              <a:solidFill>
                <a:schemeClr val="tx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 dirty="0"/>
          </a:p>
        </p:txBody>
      </p:sp>
      <p:sp>
        <p:nvSpPr>
          <p:cNvPr id="688" name="Google Shape;688;p8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pic>
        <p:nvPicPr>
          <p:cNvPr id="686" name="Google Shape;686;p87"/>
          <p:cNvPicPr preferRelativeResize="0"/>
          <p:nvPr/>
        </p:nvPicPr>
        <p:blipFill rotWithShape="1">
          <a:blip r:embed="rId3">
            <a:alphaModFix/>
          </a:blip>
          <a:srcRect b="8695"/>
          <a:stretch/>
        </p:blipFill>
        <p:spPr>
          <a:xfrm>
            <a:off x="1350498" y="2841674"/>
            <a:ext cx="8153266" cy="35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8"/>
          <p:cNvSpPr txBox="1">
            <a:spLocks noGrp="1"/>
          </p:cNvSpPr>
          <p:nvPr>
            <p:ph type="title"/>
          </p:nvPr>
        </p:nvSpPr>
        <p:spPr>
          <a:xfrm>
            <a:off x="952464" y="357166"/>
            <a:ext cx="10515600" cy="652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entury"/>
              <a:buNone/>
            </a:pPr>
            <a:r>
              <a:rPr lang="en-US" sz="4000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External – STORAGE CLASS (Cont..)</a:t>
            </a:r>
            <a:br>
              <a:rPr lang="en-US" sz="4000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4000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EXAMPLE</a:t>
            </a:r>
            <a:endParaRPr sz="4800">
              <a:solidFill>
                <a:srgbClr val="1E4E79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94" name="Google Shape;694;p88"/>
          <p:cNvSpPr txBox="1">
            <a:spLocks noGrp="1"/>
          </p:cNvSpPr>
          <p:nvPr>
            <p:ph idx="1"/>
          </p:nvPr>
        </p:nvSpPr>
        <p:spPr>
          <a:xfrm>
            <a:off x="838200" y="1000108"/>
            <a:ext cx="10515600" cy="557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Problem when extern is not used</a:t>
            </a:r>
            <a:endParaRPr sz="1800" b="1" dirty="0">
              <a:solidFill>
                <a:srgbClr val="FF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lvl="0" indent="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int main()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{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a = 10;                                     </a:t>
            </a:r>
            <a:r>
              <a:rPr lang="en-US" sz="2000" b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//Error: cannot find definition of variable 'a</a:t>
            </a:r>
            <a:r>
              <a:rPr lang="en-US" sz="2000" b="1" i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'</a:t>
            </a:r>
            <a:r>
              <a:rPr lang="en-US" sz="20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</a:t>
            </a:r>
            <a:r>
              <a:rPr lang="en-US" sz="180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("%d", a);    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endParaRPr sz="1800" dirty="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Example using extern in same file</a:t>
            </a:r>
            <a:endParaRPr sz="1800" b="1" dirty="0">
              <a:solidFill>
                <a:srgbClr val="FF0000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lvl="0" indent="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int main()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{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extern int x;                     </a:t>
            </a:r>
            <a:r>
              <a:rPr lang="en-US" sz="1800" b="1" i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//informs the compiler that it is defined somewhere else</a:t>
            </a: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/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x = 10;      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</a:t>
            </a:r>
            <a:r>
              <a:rPr lang="en-US" sz="1800" dirty="0" err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("%d", x);    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b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int x;      //Global variable x</a:t>
            </a:r>
            <a:endParaRPr sz="1800" dirty="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305C"/>
              </a:buClr>
              <a:buSzPts val="1350"/>
              <a:buFont typeface="Arial"/>
              <a:buNone/>
            </a:pPr>
            <a:endParaRPr sz="1350"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696" name="Google Shape;696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400"/>
              <a:buFont typeface="Century"/>
              <a:buNone/>
            </a:pPr>
            <a:r>
              <a:rPr lang="en-US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Register – STORAGE CLASS</a:t>
            </a:r>
            <a:endParaRPr b="1">
              <a:solidFill>
                <a:srgbClr val="1E4E79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02" name="Google Shape;702;p8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Register variables are very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similar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to the auto variables. The difference is the storage. Register variables are stored in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CPU registers</a:t>
            </a:r>
            <a:r>
              <a:rPr lang="en-US" sz="2400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.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Register variables are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accessed faster</a:t>
            </a:r>
            <a:r>
              <a:rPr lang="en-US" sz="2400" b="1" i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than the local variables.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Default value of the variable is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any random garbage value</a:t>
            </a:r>
            <a:r>
              <a:rPr lang="en-US" sz="2400" b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Lifetime is till </a:t>
            </a:r>
            <a:r>
              <a:rPr lang="en-US" sz="2400" b="1" i="1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the end of function/method block</a:t>
            </a:r>
            <a:r>
              <a:rPr lang="en-US" sz="2400" dirty="0">
                <a:solidFill>
                  <a:srgbClr val="C00000"/>
                </a:solidFill>
                <a:latin typeface="Century"/>
                <a:ea typeface="Century"/>
                <a:cs typeface="Century"/>
                <a:sym typeface="Century"/>
              </a:rPr>
              <a:t>,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in which the variable is defined.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NOTE:</a:t>
            </a:r>
            <a:r>
              <a:rPr lang="en-US" sz="24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</a:t>
            </a:r>
            <a:r>
              <a:rPr lang="en-US" sz="2400" b="1" i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We can never get the address of such variables.</a:t>
            </a:r>
            <a:endParaRPr dirty="0"/>
          </a:p>
        </p:txBody>
      </p:sp>
      <p:sp>
        <p:nvSpPr>
          <p:cNvPr id="704" name="Google Shape;704;p8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400"/>
              <a:buFont typeface="Century"/>
              <a:buNone/>
            </a:pPr>
            <a:r>
              <a:rPr lang="en-US" b="1">
                <a:solidFill>
                  <a:srgbClr val="1E4E79"/>
                </a:solidFill>
                <a:latin typeface="Century"/>
                <a:ea typeface="Century"/>
                <a:cs typeface="Century"/>
                <a:sym typeface="Century"/>
              </a:rPr>
              <a:t>Register – STORAGE CLASS </a:t>
            </a:r>
            <a:endParaRPr b="1">
              <a:solidFill>
                <a:srgbClr val="1E4E79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10" name="Google Shape;710;p9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Register variables declared using </a:t>
            </a:r>
            <a:r>
              <a:rPr lang="en-US" b="1" i="1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register</a:t>
            </a:r>
            <a:r>
              <a:rPr lang="en-US" b="1" i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</a:t>
            </a: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keyword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Example :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void main()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register int a;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C"/>
              </a:buClr>
              <a:buSzPts val="2800"/>
              <a:buNone/>
            </a:pPr>
            <a:endParaRPr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12" name="Google Shape;712;p9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"/>
              <a:buNone/>
            </a:pPr>
            <a:r>
              <a:rPr lang="en-US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Register – STORAGE CLASS </a:t>
            </a:r>
            <a:br>
              <a:rPr lang="en-US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</a:br>
            <a:r>
              <a:rPr lang="en-US" sz="32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EXAMPLE</a:t>
            </a:r>
            <a:endParaRPr b="1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18" name="Google Shape;718;p91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9628163" cy="435133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Example 1: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#include &lt;</a:t>
            </a:r>
            <a:r>
              <a:rPr lang="en-US" sz="2000" dirty="0" err="1">
                <a:latin typeface="Century"/>
                <a:ea typeface="Century"/>
                <a:cs typeface="Century"/>
                <a:sym typeface="Century"/>
              </a:rPr>
              <a:t>stdio.h</a:t>
            </a: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&gt;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void main()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{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register int a; 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 err="1"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("%</a:t>
            </a:r>
            <a:r>
              <a:rPr lang="en-US" sz="2000" dirty="0" err="1">
                <a:latin typeface="Century"/>
                <a:ea typeface="Century"/>
                <a:cs typeface="Century"/>
                <a:sym typeface="Century"/>
              </a:rPr>
              <a:t>d",a</a:t>
            </a: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);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}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Example 2: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#include &lt;</a:t>
            </a:r>
            <a:r>
              <a:rPr lang="en-US" sz="2000" dirty="0" err="1">
                <a:latin typeface="Century"/>
                <a:ea typeface="Century"/>
                <a:cs typeface="Century"/>
                <a:sym typeface="Century"/>
              </a:rPr>
              <a:t>stdio.h</a:t>
            </a: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&gt;  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void main()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 {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  register int a = 0;   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  </a:t>
            </a:r>
            <a:r>
              <a:rPr lang="en-US" sz="2000" dirty="0" err="1">
                <a:latin typeface="Century"/>
                <a:ea typeface="Century"/>
                <a:cs typeface="Century"/>
                <a:sym typeface="Century"/>
              </a:rPr>
              <a:t>printf</a:t>
            </a: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("%u“, &amp;a);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2000"/>
              <a:buNone/>
            </a:pPr>
            <a:r>
              <a:rPr lang="en-US" sz="2000" dirty="0">
                <a:latin typeface="Century"/>
                <a:ea typeface="Century"/>
                <a:cs typeface="Century"/>
                <a:sym typeface="Century"/>
              </a:rPr>
              <a:t> }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5C"/>
              </a:buClr>
              <a:buSzPts val="3600"/>
              <a:buNone/>
            </a:pPr>
            <a:endParaRPr sz="3600" dirty="0"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22" name="Google Shape;722;p9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sp>
        <p:nvSpPr>
          <p:cNvPr id="720" name="Google Shape;720;p91"/>
          <p:cNvSpPr txBox="1"/>
          <p:nvPr/>
        </p:nvSpPr>
        <p:spPr>
          <a:xfrm>
            <a:off x="4543866" y="2039816"/>
            <a:ext cx="5922498" cy="1930766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Example 1: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 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entury"/>
                <a:sym typeface="Century"/>
              </a:rPr>
              <a:t>283456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Explanation: </a:t>
            </a: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variable a is allocated memory in the CPU register. 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The initial default value of a is random garbage value.  </a:t>
            </a:r>
            <a:endParaRPr sz="1800" dirty="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721" name="Google Shape;721;p91"/>
          <p:cNvSpPr txBox="1"/>
          <p:nvPr/>
        </p:nvSpPr>
        <p:spPr>
          <a:xfrm>
            <a:off x="4656407" y="4149969"/>
            <a:ext cx="5866228" cy="2031325"/>
          </a:xfrm>
          <a:prstGeom prst="rect">
            <a:avLst/>
          </a:prstGeom>
          <a:solidFill>
            <a:srgbClr val="AEAB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Example 2: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Output 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main.c:5:5: error: address of register variable a requested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Explanation: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This will give a compile time error since we can not access the address of a register variable.   </a:t>
            </a:r>
            <a:endParaRPr sz="1800">
              <a:solidFill>
                <a:schemeClr val="dk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"/>
              <a:buNone/>
            </a:pPr>
            <a:r>
              <a:rPr lang="en-US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STORAGE CLASSES -A </a:t>
            </a:r>
            <a:r>
              <a:rPr lang="en-US">
                <a:solidFill>
                  <a:srgbClr val="FF0000"/>
                </a:solidFill>
                <a:latin typeface="Century"/>
                <a:ea typeface="Century"/>
                <a:cs typeface="Century"/>
                <a:sym typeface="Century"/>
              </a:rPr>
              <a:t>RECAP</a:t>
            </a:r>
            <a:endParaRPr>
              <a:solidFill>
                <a:srgbClr val="FF0000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pic>
        <p:nvPicPr>
          <p:cNvPr id="748" name="Google Shape;748;p94" descr="storage class.png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5422" y="1491175"/>
            <a:ext cx="10719581" cy="4698609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9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045105F5D684C87E9361BEE2E6B3A" ma:contentTypeVersion="11" ma:contentTypeDescription="Create a new document." ma:contentTypeScope="" ma:versionID="f3cb0a467634d17cb95fbdc087e113f1">
  <xsd:schema xmlns:xsd="http://www.w3.org/2001/XMLSchema" xmlns:xs="http://www.w3.org/2001/XMLSchema" xmlns:p="http://schemas.microsoft.com/office/2006/metadata/properties" xmlns:ns2="f79ba355-1ea1-416f-9bf8-9a0481ea0823" xmlns:ns3="a269e4cf-7613-41ea-aa2d-714d100f849a" targetNamespace="http://schemas.microsoft.com/office/2006/metadata/properties" ma:root="true" ma:fieldsID="b81a22aeb42f9404964b85a768244d02" ns2:_="" ns3:_="">
    <xsd:import namespace="f79ba355-1ea1-416f-9bf8-9a0481ea0823"/>
    <xsd:import namespace="a269e4cf-7613-41ea-aa2d-714d100f84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9ba355-1ea1-416f-9bf8-9a0481ea08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9e4cf-7613-41ea-aa2d-714d100f849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125A7B-1397-43F6-A7DB-CABC9AECE0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E5DEA4C-775A-4067-B56F-2AE2D5CF8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31901-D37D-4976-BE94-92122B297A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9ba355-1ea1-416f-9bf8-9a0481ea0823"/>
    <ds:schemaRef ds:uri="a269e4cf-7613-41ea-aa2d-714d100f84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935</Words>
  <Application>Microsoft Office PowerPoint</Application>
  <PresentationFormat>Custom</PresentationFormat>
  <Paragraphs>199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Cambria</vt:lpstr>
      <vt:lpstr>Times New Roman</vt:lpstr>
      <vt:lpstr>Montserrat</vt:lpstr>
      <vt:lpstr>Century</vt:lpstr>
      <vt:lpstr>Calibri</vt:lpstr>
      <vt:lpstr>1_Office Theme</vt:lpstr>
      <vt:lpstr>Adjacency</vt:lpstr>
      <vt:lpstr>STORAGE CLASSES</vt:lpstr>
      <vt:lpstr>STORAGE CLASSES</vt:lpstr>
      <vt:lpstr>STORAGE CLASSES </vt:lpstr>
      <vt:lpstr>PowerPoint Presentation</vt:lpstr>
      <vt:lpstr>Automatic - STORAGE CLASS (Local Variables)</vt:lpstr>
      <vt:lpstr>Automatic - STORAGE CLASS (Cont …)  auto Keyword</vt:lpstr>
      <vt:lpstr>Automatic - STORAGE CLASS (Cont…) How it works ?</vt:lpstr>
      <vt:lpstr>Automatic STORAGE CLASS (Cont …) EXAMPLE</vt:lpstr>
      <vt:lpstr>Static– STORAGE CLASS</vt:lpstr>
      <vt:lpstr>Static – STORAGE CLASS (Cont…)</vt:lpstr>
      <vt:lpstr>PowerPoint Presentation</vt:lpstr>
      <vt:lpstr>External – STORAGE CLASS (Global Variables) </vt:lpstr>
      <vt:lpstr>EXTERNAL – STORAGE CLASS GLOBAL VARIABLE (Cont…)  EXAMPLE</vt:lpstr>
      <vt:lpstr>External – STORAGE CLASS (Cont..) extern KEYWORD USAGE</vt:lpstr>
      <vt:lpstr>External – STORAGE CLASS (Cont..) EXAMPLE</vt:lpstr>
      <vt:lpstr>Register – STORAGE CLASS</vt:lpstr>
      <vt:lpstr>Register – STORAGE CLASS </vt:lpstr>
      <vt:lpstr>Register – STORAGE CLASS  EXAMPLE</vt:lpstr>
      <vt:lpstr>STORAGE CLASSES -A 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U18CSI1202 – PROBLEM SOLVING AND PROGRAMMING USING C</dc:title>
  <dc:creator>Jai</dc:creator>
  <cp:lastModifiedBy>Dr Arulkumar</cp:lastModifiedBy>
  <cp:revision>40</cp:revision>
  <dcterms:modified xsi:type="dcterms:W3CDTF">2023-03-13T05:18:13Z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0x010100398045105F5D684C87E9361BEE2E6B3A</vt:lpwstr>
  </property>
</Properties>
</file>