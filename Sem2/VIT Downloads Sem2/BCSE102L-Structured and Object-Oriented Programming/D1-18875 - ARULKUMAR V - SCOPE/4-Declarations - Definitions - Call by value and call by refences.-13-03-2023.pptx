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6"/>
  </p:notesMasterIdLst>
  <p:sldIdLst>
    <p:sldId id="591" r:id="rId2"/>
    <p:sldId id="542" r:id="rId3"/>
    <p:sldId id="550" r:id="rId4"/>
    <p:sldId id="548" r:id="rId5"/>
    <p:sldId id="549" r:id="rId6"/>
    <p:sldId id="358" r:id="rId7"/>
    <p:sldId id="553" r:id="rId8"/>
    <p:sldId id="592" r:id="rId9"/>
    <p:sldId id="593" r:id="rId10"/>
    <p:sldId id="554" r:id="rId11"/>
    <p:sldId id="556" r:id="rId12"/>
    <p:sldId id="555" r:id="rId13"/>
    <p:sldId id="594" r:id="rId14"/>
    <p:sldId id="595" r:id="rId15"/>
    <p:sldId id="596" r:id="rId16"/>
    <p:sldId id="597" r:id="rId17"/>
    <p:sldId id="598" r:id="rId18"/>
    <p:sldId id="599" r:id="rId19"/>
    <p:sldId id="600" r:id="rId20"/>
    <p:sldId id="601" r:id="rId21"/>
    <p:sldId id="602" r:id="rId22"/>
    <p:sldId id="603" r:id="rId23"/>
    <p:sldId id="604" r:id="rId24"/>
    <p:sldId id="605" r:id="rId25"/>
    <p:sldId id="606" r:id="rId26"/>
    <p:sldId id="607" r:id="rId27"/>
    <p:sldId id="608" r:id="rId28"/>
    <p:sldId id="609" r:id="rId29"/>
    <p:sldId id="610" r:id="rId30"/>
    <p:sldId id="569" r:id="rId31"/>
    <p:sldId id="570" r:id="rId32"/>
    <p:sldId id="613" r:id="rId33"/>
    <p:sldId id="614" r:id="rId34"/>
    <p:sldId id="615" r:id="rId35"/>
    <p:sldId id="524" r:id="rId36"/>
    <p:sldId id="574" r:id="rId37"/>
    <p:sldId id="576" r:id="rId38"/>
    <p:sldId id="578" r:id="rId39"/>
    <p:sldId id="577" r:id="rId40"/>
    <p:sldId id="617"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1" d="100"/>
          <a:sy n="81" d="100"/>
        </p:scale>
        <p:origin x="-80" y="2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29892D-1DC5-4F2A-9DF1-99ECDED3D039}" type="datetimeFigureOut">
              <a:rPr lang="en-IN" smtClean="0"/>
              <a:t>07-03-2023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834223-F15C-4732-BF91-241C36CFD536}" type="slidenum">
              <a:rPr lang="en-IN" smtClean="0"/>
              <a:t>‹#›</a:t>
            </a:fld>
            <a:endParaRPr lang="en-IN"/>
          </a:p>
        </p:txBody>
      </p:sp>
    </p:spTree>
    <p:extLst>
      <p:ext uri="{BB962C8B-B14F-4D97-AF65-F5344CB8AC3E}">
        <p14:creationId xmlns:p14="http://schemas.microsoft.com/office/powerpoint/2010/main" val="667120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5154" name="Shape 194"/>
          <p:cNvSpPr>
            <a:spLocks noGrp="1" noRot="1" noChangeAspect="1" noTextEdit="1"/>
          </p:cNvSpPr>
          <p:nvPr>
            <p:ph type="sldImg" idx="2"/>
          </p:nvPr>
        </p:nvSpPr>
        <p:spPr bwMode="auto">
          <a:custGeom>
            <a:avLst/>
            <a:gdLst>
              <a:gd name="T0" fmla="*/ 0 w 120000"/>
              <a:gd name="T1" fmla="*/ 0 h 120000"/>
              <a:gd name="T2" fmla="*/ 120000 w 120000"/>
              <a:gd name="T3" fmla="*/ 120000 h 120000"/>
            </a:gdLst>
            <a:ahLst/>
            <a:cxnLst>
              <a:cxn ang="0">
                <a:pos x="0" y="0"/>
              </a:cxn>
              <a:cxn ang="0">
                <a:pos x="120000" y="0"/>
              </a:cxn>
              <a:cxn ang="0">
                <a:pos x="120000" y="120000"/>
              </a:cxn>
              <a:cxn ang="0">
                <a:pos x="0" y="120000"/>
              </a:cxn>
              <a:cxn ang="0">
                <a:pos x="0" y="0"/>
              </a:cxn>
            </a:cxnLst>
            <a:rect l="T0" t="T1" r="T2" b="T3"/>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p:spPr>
      </p:sp>
      <p:sp>
        <p:nvSpPr>
          <p:cNvPr id="305155" name="Shape 195"/>
          <p:cNvSpPr txBox="1">
            <a:spLocks noGrp="1"/>
          </p:cNvSpPr>
          <p:nvPr>
            <p:ph type="body" idx="1"/>
          </p:nvPr>
        </p:nvSpPr>
        <p:spPr bwMode="auto">
          <a:noFill/>
        </p:spPr>
        <p:txBody>
          <a:bodyPr wrap="square" lIns="91425" tIns="91425" rIns="91425" bIns="91425"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880010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language has two types of functions namely standard library functions and user defined functions</a:t>
            </a:r>
          </a:p>
        </p:txBody>
      </p:sp>
      <p:sp>
        <p:nvSpPr>
          <p:cNvPr id="4" name="Slide Number Placeholder 3"/>
          <p:cNvSpPr>
            <a:spLocks noGrp="1"/>
          </p:cNvSpPr>
          <p:nvPr>
            <p:ph type="sldNum" sz="quarter" idx="5"/>
          </p:nvPr>
        </p:nvSpPr>
        <p:spPr/>
        <p:txBody>
          <a:bodyPr/>
          <a:lstStyle/>
          <a:p>
            <a:fld id="{6BDECE06-FE72-4077-967E-BB3E088599CE}" type="slidenum">
              <a:rPr lang="en-IN" smtClean="0"/>
              <a:pPr/>
              <a:t>3</a:t>
            </a:fld>
            <a:endParaRPr lang="en-IN"/>
          </a:p>
        </p:txBody>
      </p:sp>
    </p:spTree>
    <p:extLst>
      <p:ext uri="{BB962C8B-B14F-4D97-AF65-F5344CB8AC3E}">
        <p14:creationId xmlns:p14="http://schemas.microsoft.com/office/powerpoint/2010/main" val="2653965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1" dirty="0">
                <a:solidFill>
                  <a:srgbClr val="444444"/>
                </a:solidFill>
                <a:effectLst/>
                <a:latin typeface="inherit"/>
              </a:rPr>
              <a:t>Standard Library Functions are basically the inbuilt functions in the C compiler that makes things easy for the programmer.</a:t>
            </a:r>
            <a:endParaRPr lang="en-US" b="0" i="0" dirty="0">
              <a:solidFill>
                <a:srgbClr val="444444"/>
              </a:solidFill>
              <a:effectLst/>
              <a:latin typeface="Georgia" panose="02040502050405020303" pitchFamily="18" charset="0"/>
            </a:endParaRPr>
          </a:p>
          <a:p>
            <a:pPr algn="l" fontAlgn="base"/>
            <a:r>
              <a:rPr lang="en-US" b="0" i="0" dirty="0">
                <a:solidFill>
                  <a:srgbClr val="444444"/>
                </a:solidFill>
                <a:effectLst/>
                <a:latin typeface="Georgia" panose="02040502050405020303" pitchFamily="18" charset="0"/>
              </a:rPr>
              <a:t>As we have already discussed, every C program has at least one function, that is, the </a:t>
            </a:r>
            <a:r>
              <a:rPr lang="en-US" b="1" i="0" dirty="0">
                <a:solidFill>
                  <a:srgbClr val="444444"/>
                </a:solidFill>
                <a:effectLst/>
                <a:latin typeface="inherit"/>
              </a:rPr>
              <a:t>main()</a:t>
            </a:r>
            <a:r>
              <a:rPr lang="en-US" b="0" i="0" dirty="0">
                <a:solidFill>
                  <a:srgbClr val="444444"/>
                </a:solidFill>
                <a:effectLst/>
                <a:latin typeface="Georgia" panose="02040502050405020303" pitchFamily="18" charset="0"/>
              </a:rPr>
              <a:t> </a:t>
            </a:r>
            <a:r>
              <a:rPr lang="en-US" b="1" i="0" dirty="0">
                <a:solidFill>
                  <a:srgbClr val="444444"/>
                </a:solidFill>
                <a:effectLst/>
                <a:latin typeface="inherit"/>
              </a:rPr>
              <a:t>function</a:t>
            </a:r>
            <a:r>
              <a:rPr lang="en-US" b="0" i="0" dirty="0">
                <a:solidFill>
                  <a:srgbClr val="444444"/>
                </a:solidFill>
                <a:effectLst/>
                <a:latin typeface="Georgia" panose="02040502050405020303" pitchFamily="18" charset="0"/>
              </a:rPr>
              <a:t>. The main() function is also a standard library function in C since it is inbuilt and conveys a specific meaning to the C compiler. Standard library functions allow the programmer to use the pre-existing codes available in the C compiler without the need for the user to define his own code</a:t>
            </a:r>
          </a:p>
          <a:p>
            <a:r>
              <a:rPr lang="en-US" b="0" i="0" dirty="0">
                <a:solidFill>
                  <a:srgbClr val="444444"/>
                </a:solidFill>
                <a:effectLst/>
                <a:latin typeface="Georgia" panose="02040502050405020303" pitchFamily="18" charset="0"/>
              </a:rPr>
              <a:t/>
            </a:r>
            <a:br>
              <a:rPr lang="en-US" b="0" i="0" dirty="0">
                <a:solidFill>
                  <a:srgbClr val="444444"/>
                </a:solidFill>
                <a:effectLst/>
                <a:latin typeface="Georgia" panose="02040502050405020303" pitchFamily="18" charset="0"/>
              </a:rPr>
            </a:br>
            <a:endParaRPr lang="en-US" b="0" i="0" dirty="0">
              <a:solidFill>
                <a:srgbClr val="444444"/>
              </a:solidFill>
              <a:effectLst/>
              <a:latin typeface="Georgia" panose="02040502050405020303" pitchFamily="18" charset="0"/>
            </a:endParaRPr>
          </a:p>
          <a:p>
            <a:r>
              <a:rPr lang="en-US" dirty="0"/>
              <a:t/>
            </a:r>
            <a:br>
              <a:rPr lang="en-US" dirty="0"/>
            </a:br>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4</a:t>
            </a:fld>
            <a:endParaRPr lang="en-IN"/>
          </a:p>
        </p:txBody>
      </p:sp>
    </p:spTree>
    <p:extLst>
      <p:ext uri="{BB962C8B-B14F-4D97-AF65-F5344CB8AC3E}">
        <p14:creationId xmlns:p14="http://schemas.microsoft.com/office/powerpoint/2010/main" val="3418220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latin typeface="noto sans"/>
              </a:rPr>
              <a:t>A </a:t>
            </a:r>
            <a:r>
              <a:rPr lang="en-US" b="1" i="0" dirty="0">
                <a:solidFill>
                  <a:srgbClr val="333333"/>
                </a:solidFill>
                <a:effectLst/>
                <a:latin typeface="noto sans"/>
              </a:rPr>
              <a:t>User-defined functions</a:t>
            </a:r>
            <a:r>
              <a:rPr lang="en-US" b="0" i="0" dirty="0">
                <a:solidFill>
                  <a:srgbClr val="333333"/>
                </a:solidFill>
                <a:effectLst/>
                <a:latin typeface="noto sans"/>
              </a:rPr>
              <a:t> on the other hand, are those functions which are defined by the user at the time of writing program. These functions are made for code reusability and for saving time and space.</a:t>
            </a:r>
          </a:p>
          <a:p>
            <a:r>
              <a:rPr lang="en-US" dirty="0"/>
              <a:t/>
            </a:r>
            <a:br>
              <a:rPr lang="en-US" dirty="0"/>
            </a:br>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5</a:t>
            </a:fld>
            <a:endParaRPr lang="en-IN"/>
          </a:p>
        </p:txBody>
      </p:sp>
    </p:spTree>
    <p:extLst>
      <p:ext uri="{BB962C8B-B14F-4D97-AF65-F5344CB8AC3E}">
        <p14:creationId xmlns:p14="http://schemas.microsoft.com/office/powerpoint/2010/main" val="2563585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5154" name="Shape 194"/>
          <p:cNvSpPr>
            <a:spLocks noGrp="1" noRot="1" noChangeAspect="1" noTextEdit="1"/>
          </p:cNvSpPr>
          <p:nvPr>
            <p:ph type="sldImg" idx="2"/>
          </p:nvPr>
        </p:nvSpPr>
        <p:spPr bwMode="auto">
          <a:custGeom>
            <a:avLst/>
            <a:gdLst>
              <a:gd name="T0" fmla="*/ 0 w 120000"/>
              <a:gd name="T1" fmla="*/ 0 h 120000"/>
              <a:gd name="T2" fmla="*/ 120000 w 120000"/>
              <a:gd name="T3" fmla="*/ 120000 h 120000"/>
            </a:gdLst>
            <a:ahLst/>
            <a:cxnLst>
              <a:cxn ang="0">
                <a:pos x="0" y="0"/>
              </a:cxn>
              <a:cxn ang="0">
                <a:pos x="120000" y="0"/>
              </a:cxn>
              <a:cxn ang="0">
                <a:pos x="120000" y="120000"/>
              </a:cxn>
              <a:cxn ang="0">
                <a:pos x="0" y="120000"/>
              </a:cxn>
              <a:cxn ang="0">
                <a:pos x="0" y="0"/>
              </a:cxn>
            </a:cxnLst>
            <a:rect l="T0" t="T1" r="T2" b="T3"/>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p:spPr>
      </p:sp>
      <p:sp>
        <p:nvSpPr>
          <p:cNvPr id="305155" name="Shape 195"/>
          <p:cNvSpPr txBox="1">
            <a:spLocks noGrp="1"/>
          </p:cNvSpPr>
          <p:nvPr>
            <p:ph type="body" idx="1"/>
          </p:nvPr>
        </p:nvSpPr>
        <p:spPr bwMode="auto">
          <a:noFill/>
        </p:spPr>
        <p:txBody>
          <a:bodyPr wrap="square" lIns="91425" tIns="91425" rIns="91425" bIns="91425" numCol="1" anchor="t" anchorCtr="0" compatLnSpc="1">
            <a:prstTxWarp prst="textNoShape">
              <a:avLst/>
            </a:prstTxWarp>
          </a:bodyPr>
          <a:lstStyle/>
          <a:p>
            <a:pPr>
              <a:spcBef>
                <a:spcPct val="0"/>
              </a:spcBef>
            </a:pP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000000"/>
                </a:solidFill>
                <a:effectLst/>
                <a:latin typeface="Arial" panose="020B0604020202020204" pitchFamily="34" charset="0"/>
              </a:rPr>
              <a:t>The general form of a function definition in C programming language is as follows −</a:t>
            </a:r>
          </a:p>
          <a:p>
            <a:pPr algn="just">
              <a:buFont typeface="Arial" panose="020B0604020202020204" pitchFamily="34" charset="0"/>
              <a:buChar char="•"/>
            </a:pPr>
            <a:r>
              <a:rPr lang="en-US" b="1" i="0" dirty="0">
                <a:solidFill>
                  <a:srgbClr val="000000"/>
                </a:solidFill>
                <a:effectLst/>
                <a:latin typeface="Arial" panose="020B0604020202020204" pitchFamily="34" charset="0"/>
              </a:rPr>
              <a:t>Return Type</a:t>
            </a:r>
            <a:r>
              <a:rPr lang="en-US" b="0" i="0" dirty="0">
                <a:solidFill>
                  <a:srgbClr val="000000"/>
                </a:solidFill>
                <a:effectLst/>
                <a:latin typeface="Arial" panose="020B0604020202020204" pitchFamily="34" charset="0"/>
              </a:rPr>
              <a:t> − A function may return a value. The </a:t>
            </a:r>
            <a:r>
              <a:rPr lang="en-US" b="1" i="0" dirty="0" err="1">
                <a:solidFill>
                  <a:srgbClr val="000000"/>
                </a:solidFill>
                <a:effectLst/>
                <a:latin typeface="Arial" panose="020B0604020202020204" pitchFamily="34" charset="0"/>
              </a:rPr>
              <a:t>return_type</a:t>
            </a:r>
            <a:r>
              <a:rPr lang="en-US" b="0" i="0" dirty="0">
                <a:solidFill>
                  <a:srgbClr val="000000"/>
                </a:solidFill>
                <a:effectLst/>
                <a:latin typeface="Arial" panose="020B0604020202020204" pitchFamily="34" charset="0"/>
              </a:rPr>
              <a:t> is the data type of the value the function returns. Some functions perform the desired operations without returning a value. In this case, the </a:t>
            </a:r>
            <a:r>
              <a:rPr lang="en-US" b="0" i="0" dirty="0" err="1">
                <a:solidFill>
                  <a:srgbClr val="000000"/>
                </a:solidFill>
                <a:effectLst/>
                <a:latin typeface="Arial" panose="020B0604020202020204" pitchFamily="34" charset="0"/>
              </a:rPr>
              <a:t>return_type</a:t>
            </a:r>
            <a:r>
              <a:rPr lang="en-US" b="0" i="0" dirty="0">
                <a:solidFill>
                  <a:srgbClr val="000000"/>
                </a:solidFill>
                <a:effectLst/>
                <a:latin typeface="Arial" panose="020B0604020202020204" pitchFamily="34" charset="0"/>
              </a:rPr>
              <a:t> is the keyword </a:t>
            </a:r>
            <a:r>
              <a:rPr lang="en-US" b="1" i="0" dirty="0">
                <a:solidFill>
                  <a:srgbClr val="000000"/>
                </a:solidFill>
                <a:effectLst/>
                <a:latin typeface="Arial" panose="020B0604020202020204" pitchFamily="34" charset="0"/>
              </a:rPr>
              <a:t>void</a:t>
            </a:r>
            <a:r>
              <a:rPr lang="en-US" b="0" i="0" dirty="0">
                <a:solidFill>
                  <a:srgbClr val="000000"/>
                </a:solidFill>
                <a:effectLst/>
                <a:latin typeface="Arial" panose="020B0604020202020204" pitchFamily="34" charset="0"/>
              </a:rPr>
              <a:t>.</a:t>
            </a:r>
          </a:p>
          <a:p>
            <a:pPr algn="just">
              <a:buFont typeface="Arial" panose="020B0604020202020204" pitchFamily="34" charset="0"/>
              <a:buChar char="•"/>
            </a:pPr>
            <a:r>
              <a:rPr lang="en-US" b="1" i="0" dirty="0">
                <a:solidFill>
                  <a:srgbClr val="000000"/>
                </a:solidFill>
                <a:effectLst/>
                <a:latin typeface="Arial" panose="020B0604020202020204" pitchFamily="34" charset="0"/>
              </a:rPr>
              <a:t>Function Name</a:t>
            </a:r>
            <a:r>
              <a:rPr lang="en-US" b="0" i="0" dirty="0">
                <a:solidFill>
                  <a:srgbClr val="000000"/>
                </a:solidFill>
                <a:effectLst/>
                <a:latin typeface="Arial" panose="020B0604020202020204" pitchFamily="34" charset="0"/>
              </a:rPr>
              <a:t> − This is the actual name of the function. The function name and the parameter list together constitute the function signature.</a:t>
            </a:r>
          </a:p>
          <a:p>
            <a:pPr algn="just">
              <a:buFont typeface="Arial" panose="020B0604020202020204" pitchFamily="34" charset="0"/>
              <a:buChar char="•"/>
            </a:pPr>
            <a:r>
              <a:rPr lang="en-US" b="1" i="0" dirty="0">
                <a:solidFill>
                  <a:srgbClr val="000000"/>
                </a:solidFill>
                <a:effectLst/>
                <a:latin typeface="Arial" panose="020B0604020202020204" pitchFamily="34" charset="0"/>
              </a:rPr>
              <a:t>Parameters</a:t>
            </a:r>
            <a:r>
              <a:rPr lang="en-US" b="0" i="0" dirty="0">
                <a:solidFill>
                  <a:srgbClr val="000000"/>
                </a:solidFill>
                <a:effectLst/>
                <a:latin typeface="Arial" panose="020B0604020202020204" pitchFamily="34" charset="0"/>
              </a:rPr>
              <a:t> − A parameter is like a placeholder. When a function is invoked, you pass a value to the parameter. This value is referred to as actual parameter or argument. The parameter list refers to the type, order, and number of the parameters of a function. Parameters are optional; that is, a function may contain no parameters.</a:t>
            </a:r>
          </a:p>
          <a:p>
            <a:pPr algn="just">
              <a:buFont typeface="Arial" panose="020B0604020202020204" pitchFamily="34" charset="0"/>
              <a:buChar char="•"/>
            </a:pPr>
            <a:r>
              <a:rPr lang="en-US" b="1" i="0" dirty="0">
                <a:solidFill>
                  <a:srgbClr val="000000"/>
                </a:solidFill>
                <a:effectLst/>
                <a:latin typeface="Arial" panose="020B0604020202020204" pitchFamily="34" charset="0"/>
              </a:rPr>
              <a:t>Function Body</a:t>
            </a:r>
            <a:r>
              <a:rPr lang="en-US" b="0" i="0" dirty="0">
                <a:solidFill>
                  <a:srgbClr val="000000"/>
                </a:solidFill>
                <a:effectLst/>
                <a:latin typeface="Arial" panose="020B0604020202020204" pitchFamily="34" charset="0"/>
              </a:rPr>
              <a:t> − The function body contains a collection of statements that define what the function does.</a:t>
            </a:r>
          </a:p>
          <a:p>
            <a:pPr algn="just"/>
            <a:endParaRPr lang="en-US" b="0" i="0" dirty="0">
              <a:solidFill>
                <a:srgbClr val="000000"/>
              </a:solidFill>
              <a:effectLst/>
              <a:latin typeface="Arial" panose="020B0604020202020204" pitchFamily="34" charset="0"/>
            </a:endParaRPr>
          </a:p>
          <a:p>
            <a:r>
              <a:rPr lang="en-US" dirty="0"/>
              <a:t/>
            </a:r>
            <a:br>
              <a:rPr lang="en-US" dirty="0"/>
            </a:br>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7</a:t>
            </a:fld>
            <a:endParaRPr lang="en-IN"/>
          </a:p>
        </p:txBody>
      </p:sp>
    </p:spTree>
    <p:extLst>
      <p:ext uri="{BB962C8B-B14F-4D97-AF65-F5344CB8AC3E}">
        <p14:creationId xmlns:p14="http://schemas.microsoft.com/office/powerpoint/2010/main" val="4264954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9</a:t>
            </a:fld>
            <a:endParaRPr lang="en-IN"/>
          </a:p>
        </p:txBody>
      </p:sp>
    </p:spTree>
    <p:extLst>
      <p:ext uri="{BB962C8B-B14F-4D97-AF65-F5344CB8AC3E}">
        <p14:creationId xmlns:p14="http://schemas.microsoft.com/office/powerpoint/2010/main" val="1405241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202124"/>
                </a:solidFill>
                <a:effectLst/>
                <a:latin typeface="arial" panose="020B0604020202020204" pitchFamily="34" charset="0"/>
              </a:rPr>
              <a:t>A function prototype is simply the declaration of a function that specifies function's name, </a:t>
            </a:r>
            <a:r>
              <a:rPr lang="en-US" b="1" i="0" dirty="0">
                <a:solidFill>
                  <a:srgbClr val="202124"/>
                </a:solidFill>
                <a:effectLst/>
                <a:latin typeface="arial" panose="020B0604020202020204" pitchFamily="34" charset="0"/>
              </a:rPr>
              <a:t>parameters</a:t>
            </a:r>
            <a:r>
              <a:rPr lang="en-US" b="0" i="0" dirty="0">
                <a:solidFill>
                  <a:srgbClr val="202124"/>
                </a:solidFill>
                <a:effectLst/>
                <a:latin typeface="arial" panose="020B0604020202020204" pitchFamily="34" charset="0"/>
              </a:rPr>
              <a:t> and </a:t>
            </a:r>
            <a:r>
              <a:rPr lang="en-US" b="1" i="0" dirty="0">
                <a:solidFill>
                  <a:srgbClr val="202124"/>
                </a:solidFill>
                <a:effectLst/>
                <a:latin typeface="arial" panose="020B0604020202020204" pitchFamily="34" charset="0"/>
              </a:rPr>
              <a:t>return type</a:t>
            </a:r>
            <a:r>
              <a:rPr lang="en-US" b="0" i="0" dirty="0">
                <a:solidFill>
                  <a:srgbClr val="202124"/>
                </a:solidFill>
                <a:effectLst/>
                <a:latin typeface="arial" panose="020B0604020202020204" pitchFamily="34" charset="0"/>
              </a:rPr>
              <a:t>. It doesn't contain </a:t>
            </a:r>
            <a:r>
              <a:rPr lang="en-US" b="1" i="0" dirty="0">
                <a:solidFill>
                  <a:srgbClr val="202124"/>
                </a:solidFill>
                <a:effectLst/>
                <a:latin typeface="arial" panose="020B0604020202020204" pitchFamily="34" charset="0"/>
              </a:rPr>
              <a:t>function body</a:t>
            </a:r>
            <a:r>
              <a:rPr lang="en-US" b="0" i="0" dirty="0">
                <a:solidFill>
                  <a:srgbClr val="202124"/>
                </a:solidFill>
                <a:effectLst/>
                <a:latin typeface="arial" panose="020B0604020202020204" pitchFamily="34" charset="0"/>
              </a:rPr>
              <a:t>. A function prototype gives information to the compiler that the function may later be used in the program. </a:t>
            </a:r>
            <a:r>
              <a:rPr lang="en-US" b="0" i="0" dirty="0">
                <a:solidFill>
                  <a:srgbClr val="000000"/>
                </a:solidFill>
                <a:effectLst/>
                <a:latin typeface="Arial" panose="020B0604020202020204" pitchFamily="34" charset="0"/>
              </a:rPr>
              <a:t>Here we will see why we should use function prototype in C. The function prototypes are used to tell the compiler about the number of arguments and about the required datatypes of a function parameter, it also tells about the return type of the function. By this information, the compiler cross-checks the function signatures before calling it. If the function prototypes are not mentioned, then the program may be compiled with some warnings, and sometimes generate some strange output.</a:t>
            </a:r>
          </a:p>
          <a:p>
            <a:r>
              <a:rPr lang="en-US" dirty="0"/>
              <a:t/>
            </a:r>
            <a:br>
              <a:rPr lang="en-US" dirty="0"/>
            </a:br>
            <a:endParaRPr lang="en-US" b="0" i="0" dirty="0">
              <a:solidFill>
                <a:srgbClr val="202124"/>
              </a:solidFill>
              <a:effectLst/>
              <a:latin typeface="arial" panose="020B0604020202020204" pitchFamily="34" charset="0"/>
            </a:endParaRPr>
          </a:p>
          <a:p>
            <a:r>
              <a:rPr lang="en-US" b="0" i="0" dirty="0">
                <a:solidFill>
                  <a:srgbClr val="202124"/>
                </a:solidFill>
                <a:effectLst/>
                <a:latin typeface="arial" panose="020B0604020202020204" pitchFamily="34" charset="0"/>
              </a:rPr>
              <a:t/>
            </a:r>
            <a:br>
              <a:rPr lang="en-US" b="0" i="0" dirty="0">
                <a:solidFill>
                  <a:srgbClr val="202124"/>
                </a:solidFill>
                <a:effectLst/>
                <a:latin typeface="arial" panose="020B0604020202020204" pitchFamily="34" charset="0"/>
              </a:rPr>
            </a:br>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10</a:t>
            </a:fld>
            <a:endParaRPr lang="en-IN"/>
          </a:p>
        </p:txBody>
      </p:sp>
    </p:spTree>
    <p:extLst>
      <p:ext uri="{BB962C8B-B14F-4D97-AF65-F5344CB8AC3E}">
        <p14:creationId xmlns:p14="http://schemas.microsoft.com/office/powerpoint/2010/main" val="1024519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12</a:t>
            </a:fld>
            <a:endParaRPr lang="en-IN"/>
          </a:p>
        </p:txBody>
      </p:sp>
    </p:spTree>
    <p:extLst>
      <p:ext uri="{BB962C8B-B14F-4D97-AF65-F5344CB8AC3E}">
        <p14:creationId xmlns:p14="http://schemas.microsoft.com/office/powerpoint/2010/main" val="39280090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13</a:t>
            </a:fld>
            <a:endParaRPr lang="en-IN"/>
          </a:p>
        </p:txBody>
      </p:sp>
    </p:spTree>
    <p:extLst>
      <p:ext uri="{BB962C8B-B14F-4D97-AF65-F5344CB8AC3E}">
        <p14:creationId xmlns:p14="http://schemas.microsoft.com/office/powerpoint/2010/main" val="3928009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 few examples for function declaration.</a:t>
            </a:r>
          </a:p>
        </p:txBody>
      </p:sp>
      <p:sp>
        <p:nvSpPr>
          <p:cNvPr id="4" name="Slide Number Placeholder 3"/>
          <p:cNvSpPr>
            <a:spLocks noGrp="1"/>
          </p:cNvSpPr>
          <p:nvPr>
            <p:ph type="sldNum" sz="quarter" idx="5"/>
          </p:nvPr>
        </p:nvSpPr>
        <p:spPr/>
        <p:txBody>
          <a:bodyPr/>
          <a:lstStyle/>
          <a:p>
            <a:fld id="{6BDECE06-FE72-4077-967E-BB3E088599CE}" type="slidenum">
              <a:rPr lang="en-IN" smtClean="0"/>
              <a:pPr/>
              <a:t>14</a:t>
            </a:fld>
            <a:endParaRPr lang="en-IN"/>
          </a:p>
        </p:txBody>
      </p:sp>
    </p:spTree>
    <p:extLst>
      <p:ext uri="{BB962C8B-B14F-4D97-AF65-F5344CB8AC3E}">
        <p14:creationId xmlns:p14="http://schemas.microsoft.com/office/powerpoint/2010/main" val="2681063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000000"/>
                </a:solidFill>
                <a:effectLst/>
                <a:latin typeface="Arial" panose="020B0604020202020204" pitchFamily="34" charset="0"/>
              </a:rPr>
              <a:t>While creating a C function, you give a definition of what the function has to do. To use a function, you will have to call that function to perform the defined task.</a:t>
            </a:r>
          </a:p>
          <a:p>
            <a:pPr algn="just"/>
            <a:r>
              <a:rPr lang="en-US" b="0" i="0" dirty="0">
                <a:solidFill>
                  <a:srgbClr val="000000"/>
                </a:solidFill>
                <a:effectLst/>
                <a:latin typeface="Arial" panose="020B0604020202020204" pitchFamily="34" charset="0"/>
              </a:rPr>
              <a:t>When a program calls a function, the program control is transferred to the called function. A called function performs a defined task and when its return statement is executed or when its function-ending closing brace is reached, it returns the program control back to the main program.</a:t>
            </a:r>
          </a:p>
          <a:p>
            <a:pPr algn="just"/>
            <a:r>
              <a:rPr lang="en-US" b="0" i="0" dirty="0">
                <a:solidFill>
                  <a:srgbClr val="000000"/>
                </a:solidFill>
                <a:effectLst/>
                <a:latin typeface="Arial" panose="020B0604020202020204" pitchFamily="34" charset="0"/>
              </a:rPr>
              <a:t>To call a function, you simply need to pass the required parameters along with the function name, and if the function returns a value, then you can store the returned value.</a:t>
            </a:r>
          </a:p>
          <a:p>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15</a:t>
            </a:fld>
            <a:endParaRPr lang="en-IN"/>
          </a:p>
        </p:txBody>
      </p:sp>
    </p:spTree>
    <p:extLst>
      <p:ext uri="{BB962C8B-B14F-4D97-AF65-F5344CB8AC3E}">
        <p14:creationId xmlns:p14="http://schemas.microsoft.com/office/powerpoint/2010/main" val="2438877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to calculate the square of a given number is given . It can be seen that main() is the calling function and square() is the called function</a:t>
            </a:r>
          </a:p>
        </p:txBody>
      </p:sp>
      <p:sp>
        <p:nvSpPr>
          <p:cNvPr id="4" name="Slide Number Placeholder 3"/>
          <p:cNvSpPr>
            <a:spLocks noGrp="1"/>
          </p:cNvSpPr>
          <p:nvPr>
            <p:ph type="sldNum" sz="quarter" idx="5"/>
          </p:nvPr>
        </p:nvSpPr>
        <p:spPr/>
        <p:txBody>
          <a:bodyPr/>
          <a:lstStyle/>
          <a:p>
            <a:fld id="{6BDECE06-FE72-4077-967E-BB3E088599CE}" type="slidenum">
              <a:rPr lang="en-IN" smtClean="0"/>
              <a:pPr/>
              <a:t>16</a:t>
            </a:fld>
            <a:endParaRPr lang="en-IN"/>
          </a:p>
        </p:txBody>
      </p:sp>
    </p:spTree>
    <p:extLst>
      <p:ext uri="{BB962C8B-B14F-4D97-AF65-F5344CB8AC3E}">
        <p14:creationId xmlns:p14="http://schemas.microsoft.com/office/powerpoint/2010/main" val="21310605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fontAlgn="base">
              <a:buFont typeface="Arial" panose="020B0604020202020204" pitchFamily="34" charset="0"/>
              <a:buChar char="•"/>
            </a:pPr>
            <a:r>
              <a:rPr lang="en-US" b="0" i="0" dirty="0">
                <a:solidFill>
                  <a:srgbClr val="444444"/>
                </a:solidFill>
                <a:effectLst/>
                <a:latin typeface="Merriweather"/>
              </a:rPr>
              <a:t>Function definition – This contains all the statements to be executed.</a:t>
            </a:r>
          </a:p>
          <a:p>
            <a:r>
              <a:rPr lang="en-US" dirty="0"/>
              <a:t/>
            </a:r>
            <a:br>
              <a:rPr lang="en-US" dirty="0"/>
            </a:br>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17</a:t>
            </a:fld>
            <a:endParaRPr lang="en-IN"/>
          </a:p>
        </p:txBody>
      </p:sp>
    </p:spTree>
    <p:extLst>
      <p:ext uri="{BB962C8B-B14F-4D97-AF65-F5344CB8AC3E}">
        <p14:creationId xmlns:p14="http://schemas.microsoft.com/office/powerpoint/2010/main" val="3131473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example, </a:t>
            </a:r>
            <a:r>
              <a:rPr lang="en-US" dirty="0" err="1"/>
              <a:t>addNumbers</a:t>
            </a:r>
            <a:r>
              <a:rPr lang="en-US" dirty="0"/>
              <a:t> is a function with 2 arguments a and b which are of type int . The functions adds a and b and stores the value in the result </a:t>
            </a:r>
            <a:r>
              <a:rPr lang="en-US" dirty="0" err="1"/>
              <a:t>varible</a:t>
            </a:r>
            <a:r>
              <a:rPr lang="en-US" dirty="0"/>
              <a:t> which is then returned to the calling function using the return statement</a:t>
            </a:r>
          </a:p>
        </p:txBody>
      </p:sp>
      <p:sp>
        <p:nvSpPr>
          <p:cNvPr id="4" name="Slide Number Placeholder 3"/>
          <p:cNvSpPr>
            <a:spLocks noGrp="1"/>
          </p:cNvSpPr>
          <p:nvPr>
            <p:ph type="sldNum" sz="quarter" idx="5"/>
          </p:nvPr>
        </p:nvSpPr>
        <p:spPr/>
        <p:txBody>
          <a:bodyPr/>
          <a:lstStyle/>
          <a:p>
            <a:fld id="{6BDECE06-FE72-4077-967E-BB3E088599CE}" type="slidenum">
              <a:rPr lang="en-IN" smtClean="0"/>
              <a:pPr/>
              <a:t>19</a:t>
            </a:fld>
            <a:endParaRPr lang="en-IN"/>
          </a:p>
        </p:txBody>
      </p:sp>
    </p:spTree>
    <p:extLst>
      <p:ext uri="{BB962C8B-B14F-4D97-AF65-F5344CB8AC3E}">
        <p14:creationId xmlns:p14="http://schemas.microsoft.com/office/powerpoint/2010/main" val="956474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example of function definition to calculate the area of a square. The function takes an </a:t>
            </a:r>
            <a:r>
              <a:rPr lang="en-US" dirty="0" err="1"/>
              <a:t>interger</a:t>
            </a:r>
            <a:r>
              <a:rPr lang="en-US" dirty="0"/>
              <a:t> value side as an argument and calculates the area of the square and returns the result which is also of type integer</a:t>
            </a:r>
          </a:p>
        </p:txBody>
      </p:sp>
      <p:sp>
        <p:nvSpPr>
          <p:cNvPr id="4" name="Slide Number Placeholder 3"/>
          <p:cNvSpPr>
            <a:spLocks noGrp="1"/>
          </p:cNvSpPr>
          <p:nvPr>
            <p:ph type="sldNum" sz="quarter" idx="5"/>
          </p:nvPr>
        </p:nvSpPr>
        <p:spPr/>
        <p:txBody>
          <a:bodyPr/>
          <a:lstStyle/>
          <a:p>
            <a:fld id="{6BDECE06-FE72-4077-967E-BB3E088599CE}" type="slidenum">
              <a:rPr lang="en-IN" smtClean="0"/>
              <a:pPr/>
              <a:t>20</a:t>
            </a:fld>
            <a:endParaRPr lang="en-IN"/>
          </a:p>
        </p:txBody>
      </p:sp>
    </p:spTree>
    <p:extLst>
      <p:ext uri="{BB962C8B-B14F-4D97-AF65-F5344CB8AC3E}">
        <p14:creationId xmlns:p14="http://schemas.microsoft.com/office/powerpoint/2010/main" val="3465371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21</a:t>
            </a:fld>
            <a:endParaRPr lang="en-IN"/>
          </a:p>
        </p:txBody>
      </p:sp>
    </p:spTree>
    <p:extLst>
      <p:ext uri="{BB962C8B-B14F-4D97-AF65-F5344CB8AC3E}">
        <p14:creationId xmlns:p14="http://schemas.microsoft.com/office/powerpoint/2010/main" val="12122179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254A32-9585-4FBA-B7CE-28B5216681FC}" type="slidenum">
              <a:rPr lang="en-US"/>
              <a:pPr/>
              <a:t>23</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summarize the important aspects of c Functions  - function definition, function call and function declaration along with their </a:t>
            </a:r>
            <a:r>
              <a:rPr lang="en-US" dirty="0" err="1"/>
              <a:t>syntx</a:t>
            </a:r>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24</a:t>
            </a:fld>
            <a:endParaRPr lang="en-IN"/>
          </a:p>
        </p:txBody>
      </p:sp>
    </p:spTree>
    <p:extLst>
      <p:ext uri="{BB962C8B-B14F-4D97-AF65-F5344CB8AC3E}">
        <p14:creationId xmlns:p14="http://schemas.microsoft.com/office/powerpoint/2010/main" val="20952355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an example to find the square of the given number using functions.</a:t>
            </a:r>
          </a:p>
        </p:txBody>
      </p:sp>
      <p:sp>
        <p:nvSpPr>
          <p:cNvPr id="4" name="Slide Number Placeholder 3"/>
          <p:cNvSpPr>
            <a:spLocks noGrp="1"/>
          </p:cNvSpPr>
          <p:nvPr>
            <p:ph type="sldNum" sz="quarter" idx="5"/>
          </p:nvPr>
        </p:nvSpPr>
        <p:spPr/>
        <p:txBody>
          <a:bodyPr/>
          <a:lstStyle/>
          <a:p>
            <a:fld id="{6BDECE06-FE72-4077-967E-BB3E088599CE}" type="slidenum">
              <a:rPr lang="en-IN" smtClean="0"/>
              <a:pPr/>
              <a:t>25</a:t>
            </a:fld>
            <a:endParaRPr lang="en-IN"/>
          </a:p>
        </p:txBody>
      </p:sp>
    </p:spTree>
    <p:extLst>
      <p:ext uri="{BB962C8B-B14F-4D97-AF65-F5344CB8AC3E}">
        <p14:creationId xmlns:p14="http://schemas.microsoft.com/office/powerpoint/2010/main" val="26307678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4066" name="Shape 311"/>
          <p:cNvSpPr>
            <a:spLocks noGrp="1" noRot="1" noChangeAspect="1" noTextEdit="1"/>
          </p:cNvSpPr>
          <p:nvPr>
            <p:ph type="sldImg" idx="2"/>
          </p:nvPr>
        </p:nvSpPr>
        <p:spPr bwMode="auto">
          <a:custGeom>
            <a:avLst/>
            <a:gdLst>
              <a:gd name="T0" fmla="*/ 0 w 120000"/>
              <a:gd name="T1" fmla="*/ 0 h 120000"/>
              <a:gd name="T2" fmla="*/ 120000 w 120000"/>
              <a:gd name="T3" fmla="*/ 120000 h 120000"/>
            </a:gdLst>
            <a:ahLst/>
            <a:cxnLst>
              <a:cxn ang="0">
                <a:pos x="0" y="0"/>
              </a:cxn>
              <a:cxn ang="0">
                <a:pos x="120000" y="0"/>
              </a:cxn>
              <a:cxn ang="0">
                <a:pos x="120000" y="120000"/>
              </a:cxn>
              <a:cxn ang="0">
                <a:pos x="0" y="120000"/>
              </a:cxn>
              <a:cxn ang="0">
                <a:pos x="0" y="0"/>
              </a:cxn>
            </a:cxnLst>
            <a:rect l="T0" t="T1" r="T2" b="T3"/>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p:spPr>
      </p:sp>
      <p:sp>
        <p:nvSpPr>
          <p:cNvPr id="344067" name="Shape 312"/>
          <p:cNvSpPr txBox="1">
            <a:spLocks noGrp="1"/>
          </p:cNvSpPr>
          <p:nvPr>
            <p:ph type="body" idx="1"/>
          </p:nvPr>
        </p:nvSpPr>
        <p:spPr bwMode="auto">
          <a:noFill/>
        </p:spPr>
        <p:txBody>
          <a:bodyPr wrap="square" lIns="91425" tIns="91425" rIns="91425" bIns="91425" numCol="1" anchor="t" anchorCtr="0" compatLnSpc="1">
            <a:prstTxWarp prst="textNoShape">
              <a:avLst/>
            </a:prstTxWarp>
          </a:bodyPr>
          <a:lstStyle/>
          <a:p>
            <a:pPr algn="l"/>
            <a:r>
              <a:rPr lang="en-US" b="0" i="0" dirty="0">
                <a:solidFill>
                  <a:srgbClr val="333333"/>
                </a:solidFill>
                <a:effectLst/>
                <a:latin typeface="Open Sans"/>
              </a:rPr>
              <a:t>Arguments which are mentioned in the function call is known as the actual argument. Arguments which are mentioned in the definition of the function is called formal arguments. Formal arguments are very similar to local variables inside the function. </a:t>
            </a:r>
          </a:p>
          <a:p>
            <a:r>
              <a:rPr lang="en-US" b="0" i="0" dirty="0">
                <a:solidFill>
                  <a:srgbClr val="333333"/>
                </a:solidFill>
                <a:effectLst/>
                <a:latin typeface="Open Sans"/>
              </a:rPr>
              <a:t/>
            </a:r>
            <a:br>
              <a:rPr lang="en-US" b="0" i="0" dirty="0">
                <a:solidFill>
                  <a:srgbClr val="333333"/>
                </a:solidFill>
                <a:effectLst/>
                <a:latin typeface="Open Sans"/>
              </a:rPr>
            </a:br>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an example for actual and formal parameters</a:t>
            </a:r>
          </a:p>
          <a:p>
            <a:endParaRPr lang="en-US" dirty="0"/>
          </a:p>
          <a:p>
            <a:pPr algn="l">
              <a:buFont typeface="+mj-lt"/>
              <a:buAutoNum type="arabicPeriod"/>
            </a:pPr>
            <a:r>
              <a:rPr lang="en-US" b="0" i="0" dirty="0">
                <a:solidFill>
                  <a:srgbClr val="333333"/>
                </a:solidFill>
                <a:effectLst/>
                <a:latin typeface="Open Sans"/>
              </a:rPr>
              <a:t>Order, number, and type of the actual arguments in the function call must match with formal arguments of the function.</a:t>
            </a:r>
          </a:p>
          <a:p>
            <a:pPr algn="l">
              <a:buFont typeface="+mj-lt"/>
              <a:buAutoNum type="arabicPeriod"/>
            </a:pPr>
            <a:r>
              <a:rPr lang="en-US" b="0" i="0" dirty="0">
                <a:solidFill>
                  <a:srgbClr val="333333"/>
                </a:solidFill>
                <a:effectLst/>
                <a:latin typeface="Open Sans"/>
              </a:rPr>
              <a:t>If there is type mismatch between actual and formal arguments then the compiler will try to convert the type of actual arguments to formal arguments</a:t>
            </a:r>
          </a:p>
          <a:p>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29</a:t>
            </a:fld>
            <a:endParaRPr lang="en-IN"/>
          </a:p>
        </p:txBody>
      </p:sp>
    </p:spTree>
    <p:extLst>
      <p:ext uri="{BB962C8B-B14F-4D97-AF65-F5344CB8AC3E}">
        <p14:creationId xmlns:p14="http://schemas.microsoft.com/office/powerpoint/2010/main" val="30440748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verdana" panose="020B0604030504040204" pitchFamily="34" charset="0"/>
              </a:rPr>
              <a:t>For better understanding of arguments and return in functions, user-defined functions can be </a:t>
            </a:r>
            <a:r>
              <a:rPr lang="en-US" b="0" i="0" dirty="0" err="1">
                <a:solidFill>
                  <a:srgbClr val="000000"/>
                </a:solidFill>
                <a:effectLst/>
                <a:latin typeface="verdana" panose="020B0604030504040204" pitchFamily="34" charset="0"/>
              </a:rPr>
              <a:t>categorised</a:t>
            </a:r>
            <a:r>
              <a:rPr lang="en-US" b="0" i="0" dirty="0">
                <a:solidFill>
                  <a:srgbClr val="000000"/>
                </a:solidFill>
                <a:effectLst/>
                <a:latin typeface="verdana" panose="020B0604030504040204" pitchFamily="34" charset="0"/>
              </a:rPr>
              <a:t> into 4 types:</a:t>
            </a:r>
          </a:p>
          <a:p>
            <a:pPr algn="just">
              <a:buFont typeface="+mj-lt"/>
              <a:buAutoNum type="arabicPeriod"/>
            </a:pPr>
            <a:r>
              <a:rPr lang="en-US" b="0" i="0" dirty="0">
                <a:solidFill>
                  <a:srgbClr val="333333"/>
                </a:solidFill>
                <a:effectLst/>
                <a:latin typeface="libre baskerville"/>
              </a:rPr>
              <a:t>Function with no argument and no Return value</a:t>
            </a:r>
          </a:p>
          <a:p>
            <a:pPr algn="just">
              <a:buFont typeface="+mj-lt"/>
              <a:buAutoNum type="arabicPeriod"/>
            </a:pPr>
            <a:r>
              <a:rPr lang="en-US" b="0" i="0" dirty="0">
                <a:solidFill>
                  <a:srgbClr val="333333"/>
                </a:solidFill>
                <a:effectLst/>
                <a:latin typeface="libre baskerville"/>
              </a:rPr>
              <a:t>Function with no argument and with a Return value</a:t>
            </a:r>
          </a:p>
          <a:p>
            <a:pPr algn="just">
              <a:buFont typeface="+mj-lt"/>
              <a:buAutoNum type="arabicPeriod"/>
            </a:pPr>
            <a:r>
              <a:rPr lang="en-US" b="0" i="0" dirty="0">
                <a:solidFill>
                  <a:srgbClr val="333333"/>
                </a:solidFill>
                <a:effectLst/>
                <a:latin typeface="libre baskerville"/>
              </a:rPr>
              <a:t>Function with argument and No Return value</a:t>
            </a:r>
          </a:p>
          <a:p>
            <a:pPr algn="just">
              <a:buFont typeface="+mj-lt"/>
              <a:buAutoNum type="arabicPeriod"/>
            </a:pPr>
            <a:r>
              <a:rPr lang="en-US" b="0" i="0" dirty="0">
                <a:solidFill>
                  <a:srgbClr val="333333"/>
                </a:solidFill>
                <a:effectLst/>
                <a:latin typeface="libre baskerville"/>
              </a:rPr>
              <a:t>Function with argument and Return value</a:t>
            </a:r>
          </a:p>
          <a:p>
            <a:r>
              <a:rPr lang="en-US" dirty="0"/>
              <a:t/>
            </a:r>
            <a:br>
              <a:rPr lang="en-US" dirty="0"/>
            </a:br>
            <a:endParaRPr lang="en-US" b="0" i="0" dirty="0">
              <a:solidFill>
                <a:srgbClr val="000000"/>
              </a:solidFill>
              <a:effectLst/>
              <a:latin typeface="verdana" panose="020B0604030504040204" pitchFamily="34" charset="0"/>
            </a:endParaRPr>
          </a:p>
          <a:p>
            <a:r>
              <a:rPr lang="en-US" b="0" i="0" dirty="0">
                <a:solidFill>
                  <a:srgbClr val="000000"/>
                </a:solidFill>
                <a:effectLst/>
                <a:latin typeface="verdana" panose="020B0604030504040204" pitchFamily="34" charset="0"/>
              </a:rPr>
              <a:t/>
            </a:r>
            <a:br>
              <a:rPr lang="en-US" b="0" i="0" dirty="0">
                <a:solidFill>
                  <a:srgbClr val="000000"/>
                </a:solidFill>
                <a:effectLst/>
                <a:latin typeface="verdana" panose="020B0604030504040204" pitchFamily="34" charset="0"/>
              </a:rPr>
            </a:br>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30</a:t>
            </a:fld>
            <a:endParaRPr lang="en-IN"/>
          </a:p>
        </p:txBody>
      </p:sp>
    </p:spTree>
    <p:extLst>
      <p:ext uri="{BB962C8B-B14F-4D97-AF65-F5344CB8AC3E}">
        <p14:creationId xmlns:p14="http://schemas.microsoft.com/office/powerpoint/2010/main" val="16109682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31</a:t>
            </a:fld>
            <a:endParaRPr lang="en-IN"/>
          </a:p>
        </p:txBody>
      </p:sp>
    </p:spTree>
    <p:extLst>
      <p:ext uri="{BB962C8B-B14F-4D97-AF65-F5344CB8AC3E}">
        <p14:creationId xmlns:p14="http://schemas.microsoft.com/office/powerpoint/2010/main" val="36835728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4546" name="Shape 375"/>
          <p:cNvSpPr>
            <a:spLocks noGrp="1" noRot="1" noChangeAspect="1" noTextEdit="1"/>
          </p:cNvSpPr>
          <p:nvPr>
            <p:ph type="sldImg" idx="2"/>
          </p:nvPr>
        </p:nvSpPr>
        <p:spPr bwMode="auto">
          <a:custGeom>
            <a:avLst/>
            <a:gdLst>
              <a:gd name="T0" fmla="*/ 0 w 120000"/>
              <a:gd name="T1" fmla="*/ 0 h 120000"/>
              <a:gd name="T2" fmla="*/ 120000 w 120000"/>
              <a:gd name="T3" fmla="*/ 120000 h 120000"/>
            </a:gdLst>
            <a:ahLst/>
            <a:cxnLst>
              <a:cxn ang="0">
                <a:pos x="0" y="0"/>
              </a:cxn>
              <a:cxn ang="0">
                <a:pos x="120000" y="0"/>
              </a:cxn>
              <a:cxn ang="0">
                <a:pos x="120000" y="120000"/>
              </a:cxn>
              <a:cxn ang="0">
                <a:pos x="0" y="120000"/>
              </a:cxn>
              <a:cxn ang="0">
                <a:pos x="0" y="0"/>
              </a:cxn>
            </a:cxnLst>
            <a:rect l="T0" t="T1" r="T2" b="T3"/>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p:spPr>
      </p:sp>
      <p:sp>
        <p:nvSpPr>
          <p:cNvPr id="364547" name="Shape 376"/>
          <p:cNvSpPr txBox="1">
            <a:spLocks noGrp="1"/>
          </p:cNvSpPr>
          <p:nvPr>
            <p:ph type="body" idx="1"/>
          </p:nvPr>
        </p:nvSpPr>
        <p:spPr bwMode="auto">
          <a:noFill/>
        </p:spPr>
        <p:txBody>
          <a:bodyPr wrap="square" lIns="91425" tIns="91425" rIns="91425" bIns="91425" numCol="1" anchor="t" anchorCtr="0" compatLnSpc="1">
            <a:prstTxWarp prst="textNoShape">
              <a:avLst/>
            </a:prstTxWarp>
          </a:bodyPr>
          <a:lstStyle/>
          <a:p>
            <a:pPr>
              <a:spcBef>
                <a:spcPct val="0"/>
              </a:spcBef>
            </a:pPr>
            <a:r>
              <a:rPr lang="en-US" b="0" i="0" dirty="0">
                <a:solidFill>
                  <a:srgbClr val="222222"/>
                </a:solidFill>
                <a:effectLst/>
                <a:latin typeface="Source Sans Pro" panose="020B0503030403020204" pitchFamily="34" charset="0"/>
              </a:rPr>
              <a:t> functions can be invoked in two ways: which is known as Call by Value and Call by Reference.</a:t>
            </a: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22222"/>
                </a:solidFill>
                <a:effectLst/>
                <a:latin typeface="Source Sans Pro" panose="020B0503030403020204" pitchFamily="34" charset="0"/>
              </a:rPr>
              <a:t>Call by reference method copies the address of an argument into the formal parameter. In this method, the address is used to access the actual argument used in the function call. It means that changes made in the parameter alter the passing argument.</a:t>
            </a:r>
          </a:p>
          <a:p>
            <a:r>
              <a:rPr lang="en-US" dirty="0"/>
              <a:t/>
            </a:r>
            <a:br>
              <a:rPr lang="en-US" dirty="0"/>
            </a:br>
            <a:r>
              <a:rPr lang="en-US" b="0" i="0" dirty="0">
                <a:solidFill>
                  <a:srgbClr val="222222"/>
                </a:solidFill>
                <a:effectLst/>
                <a:latin typeface="Source Sans Pro" panose="020B0503030403020204" pitchFamily="34" charset="0"/>
              </a:rPr>
              <a:t>All the operation in the function are performed on the value stored at the address of the actual parameter, and the modified value will be stored at the same address.</a:t>
            </a:r>
          </a:p>
          <a:p>
            <a:pPr algn="l"/>
            <a:r>
              <a:rPr lang="en-US" b="0" i="0" dirty="0">
                <a:solidFill>
                  <a:srgbClr val="222222"/>
                </a:solidFill>
                <a:effectLst/>
                <a:latin typeface="Source Sans Pro" panose="020B0503030403020204" pitchFamily="34" charset="0"/>
              </a:rPr>
              <a:t>Call by value method copies the value of an argument into the formal parameter of that function. Therefore, changes made to the parameter of the main function do not affect the argument.</a:t>
            </a:r>
          </a:p>
          <a:p>
            <a:r>
              <a:rPr lang="en-US" b="0" i="0" u="none" strike="noStrike" dirty="0">
                <a:solidFill>
                  <a:srgbClr val="000000"/>
                </a:solidFill>
                <a:effectLst/>
                <a:latin typeface="inherit"/>
              </a:rPr>
              <a:t/>
            </a:r>
            <a:br>
              <a:rPr lang="en-US" b="0" i="0" u="none" strike="noStrike" dirty="0">
                <a:solidFill>
                  <a:srgbClr val="000000"/>
                </a:solidFill>
                <a:effectLst/>
                <a:latin typeface="inherit"/>
              </a:rPr>
            </a:br>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36</a:t>
            </a:fld>
            <a:endParaRPr lang="en-IN"/>
          </a:p>
        </p:txBody>
      </p:sp>
    </p:spTree>
    <p:extLst>
      <p:ext uri="{BB962C8B-B14F-4D97-AF65-F5344CB8AC3E}">
        <p14:creationId xmlns:p14="http://schemas.microsoft.com/office/powerpoint/2010/main" val="31865448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effectLst/>
              </a:rPr>
              <a:t>Thus actual values of a and b remain unchanged even after swapping them. In call by value we cannot alter the values of actual variables through function calls.</a:t>
            </a:r>
            <a:r>
              <a:rPr lang="en-US" dirty="0"/>
              <a:t/>
            </a:r>
            <a:br>
              <a:rPr lang="en-US" dirty="0"/>
            </a:br>
            <a:r>
              <a:rPr lang="en-US" dirty="0"/>
              <a:t/>
            </a:r>
            <a:br>
              <a:rPr lang="en-US" dirty="0"/>
            </a:br>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38</a:t>
            </a:fld>
            <a:endParaRPr lang="en-IN"/>
          </a:p>
        </p:txBody>
      </p:sp>
    </p:spTree>
    <p:extLst>
      <p:ext uri="{BB962C8B-B14F-4D97-AF65-F5344CB8AC3E}">
        <p14:creationId xmlns:p14="http://schemas.microsoft.com/office/powerpoint/2010/main" val="28281059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000000"/>
                </a:solidFill>
                <a:effectLst/>
                <a:latin typeface="Open Sans"/>
              </a:rPr>
              <a:t>In call by reference, </a:t>
            </a:r>
            <a:r>
              <a:rPr lang="en-US" b="1" i="0" dirty="0">
                <a:solidFill>
                  <a:srgbClr val="000000"/>
                </a:solidFill>
                <a:effectLst/>
                <a:latin typeface="Open Sans"/>
              </a:rPr>
              <a:t>original value is changed</a:t>
            </a:r>
            <a:r>
              <a:rPr lang="en-US" b="0" i="0" dirty="0">
                <a:solidFill>
                  <a:srgbClr val="000000"/>
                </a:solidFill>
                <a:effectLst/>
                <a:latin typeface="Open Sans"/>
              </a:rPr>
              <a:t> or modified because we pass reference (address). Here, address of the value is passed in the function, so actual and formal arguments shares the same address space. Hence, any value changed inside the function, is reflected inside as well as outside the function.</a:t>
            </a:r>
          </a:p>
          <a:p>
            <a:r>
              <a:rPr lang="en-US" b="0" i="0" dirty="0">
                <a:solidFill>
                  <a:srgbClr val="000000"/>
                </a:solidFill>
                <a:effectLst/>
                <a:latin typeface="Helvetica" panose="020B0604020202020204" pitchFamily="34" charset="0"/>
              </a:rPr>
              <a:t/>
            </a:r>
            <a:br>
              <a:rPr lang="en-US" b="0" i="0" dirty="0">
                <a:solidFill>
                  <a:srgbClr val="000000"/>
                </a:solidFill>
                <a:effectLst/>
                <a:latin typeface="Helvetica" panose="020B0604020202020204" pitchFamily="34" charset="0"/>
              </a:rPr>
            </a:br>
            <a:r>
              <a:rPr lang="en-US" dirty="0">
                <a:effectLst/>
              </a:rPr>
              <a:t>This method copy address of arguments into function as a arguments. Changes made to the parameter affect the argument. Because address is used to access the actual argument.</a:t>
            </a:r>
            <a:r>
              <a:rPr lang="en-US" dirty="0"/>
              <a:t/>
            </a:r>
            <a:br>
              <a:rPr lang="en-US" dirty="0"/>
            </a:br>
            <a:r>
              <a:rPr lang="en-US" dirty="0"/>
              <a:t/>
            </a:r>
            <a:br>
              <a:rPr lang="en-US" dirty="0"/>
            </a:br>
            <a:r>
              <a:rPr lang="en-US" dirty="0"/>
              <a:t/>
            </a:r>
            <a:br>
              <a:rPr lang="en-US" dirty="0"/>
            </a:br>
            <a:endParaRPr lang="en-US" dirty="0"/>
          </a:p>
        </p:txBody>
      </p:sp>
      <p:sp>
        <p:nvSpPr>
          <p:cNvPr id="4" name="Slide Number Placeholder 3"/>
          <p:cNvSpPr>
            <a:spLocks noGrp="1"/>
          </p:cNvSpPr>
          <p:nvPr>
            <p:ph type="sldNum" sz="quarter" idx="5"/>
          </p:nvPr>
        </p:nvSpPr>
        <p:spPr/>
        <p:txBody>
          <a:bodyPr/>
          <a:lstStyle/>
          <a:p>
            <a:fld id="{6BDECE06-FE72-4077-967E-BB3E088599CE}" type="slidenum">
              <a:rPr lang="en-IN" smtClean="0"/>
              <a:pPr/>
              <a:t>39</a:t>
            </a:fld>
            <a:endParaRPr lang="en-IN"/>
          </a:p>
        </p:txBody>
      </p:sp>
    </p:spTree>
    <p:extLst>
      <p:ext uri="{BB962C8B-B14F-4D97-AF65-F5344CB8AC3E}">
        <p14:creationId xmlns:p14="http://schemas.microsoft.com/office/powerpoint/2010/main" val="37774874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3" name="Google Shape;513;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8" name="Google Shape;548;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5" name="Google Shape;565;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3" name="Google Shape;57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2" name="Google Shape;582;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1" name="Google Shape;591;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8" name="Google Shape;60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F579BE7-0FB0-4C0C-A37D-FE10B885A09C}" type="datetimeFigureOut">
              <a:rPr lang="en-IN" smtClean="0"/>
              <a:t>07-03-2023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E2EA2A-F1C4-4558-B9C7-C76DF55966FC}"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579BE7-0FB0-4C0C-A37D-FE10B885A09C}" type="datetimeFigureOut">
              <a:rPr lang="en-IN" smtClean="0"/>
              <a:t>07-03-2023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E2EA2A-F1C4-4558-B9C7-C76DF55966F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579BE7-0FB0-4C0C-A37D-FE10B885A09C}" type="datetimeFigureOut">
              <a:rPr lang="en-IN" smtClean="0"/>
              <a:t>07-03-2023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E2EA2A-F1C4-4558-B9C7-C76DF55966FC}"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F579BE7-0FB0-4C0C-A37D-FE10B885A09C}" type="datetimeFigureOut">
              <a:rPr lang="en-IN" smtClean="0"/>
              <a:t>07-03-2023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E2EA2A-F1C4-4558-B9C7-C76DF55966F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F579BE7-0FB0-4C0C-A37D-FE10B885A09C}" type="datetimeFigureOut">
              <a:rPr lang="en-IN" smtClean="0"/>
              <a:t>07-03-2023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E2EA2A-F1C4-4558-B9C7-C76DF55966FC}"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F579BE7-0FB0-4C0C-A37D-FE10B885A09C}" type="datetimeFigureOut">
              <a:rPr lang="en-IN" smtClean="0"/>
              <a:t>07-03-2023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E2EA2A-F1C4-4558-B9C7-C76DF55966F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579BE7-0FB0-4C0C-A37D-FE10B885A09C}" type="datetimeFigureOut">
              <a:rPr lang="en-IN" smtClean="0"/>
              <a:t>07-03-2023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2E2EA2A-F1C4-4558-B9C7-C76DF55966F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579BE7-0FB0-4C0C-A37D-FE10B885A09C}" type="datetimeFigureOut">
              <a:rPr lang="en-IN" smtClean="0"/>
              <a:t>07-03-2023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E2EA2A-F1C4-4558-B9C7-C76DF55966FC}" type="slidenum">
              <a:rPr lang="en-IN" smtClean="0"/>
              <a:t>‹#›</a:t>
            </a:fld>
            <a:endParaRPr lang="en-IN"/>
          </a:p>
        </p:txBody>
      </p:sp>
      <p:sp>
        <p:nvSpPr>
          <p:cNvPr id="9" name="Content Placeholder 8"/>
          <p:cNvSpPr>
            <a:spLocks noGrp="1"/>
          </p:cNvSpPr>
          <p:nvPr>
            <p:ph sz="quarter" idx="13"/>
          </p:nvPr>
        </p:nvSpPr>
        <p:spPr>
          <a:xfrm>
            <a:off x="406400" y="381000"/>
            <a:ext cx="103632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8F579BE7-0FB0-4C0C-A37D-FE10B885A09C}" type="datetimeFigureOut">
              <a:rPr lang="en-IN" smtClean="0"/>
              <a:t>07-03-2023</a:t>
            </a:fld>
            <a:endParaRPr lang="en-IN"/>
          </a:p>
        </p:txBody>
      </p:sp>
      <p:sp>
        <p:nvSpPr>
          <p:cNvPr id="9" name="Slide Number Placeholder 8"/>
          <p:cNvSpPr>
            <a:spLocks noGrp="1"/>
          </p:cNvSpPr>
          <p:nvPr>
            <p:ph type="sldNum" sz="quarter" idx="11"/>
          </p:nvPr>
        </p:nvSpPr>
        <p:spPr/>
        <p:txBody>
          <a:bodyPr/>
          <a:lstStyle/>
          <a:p>
            <a:fld id="{12E2EA2A-F1C4-4558-B9C7-C76DF55966FC}" type="slidenum">
              <a:rPr lang="en-IN" smtClean="0"/>
              <a:t>‹#›</a:t>
            </a:fld>
            <a:endParaRPr lang="en-IN"/>
          </a:p>
        </p:txBody>
      </p:sp>
      <p:sp>
        <p:nvSpPr>
          <p:cNvPr id="10" name="Footer Placeholder 9"/>
          <p:cNvSpPr>
            <a:spLocks noGrp="1"/>
          </p:cNvSpPr>
          <p:nvPr>
            <p:ph type="ftr" sz="quarter" idx="12"/>
          </p:nvPr>
        </p:nvSpPr>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579BE7-0FB0-4C0C-A37D-FE10B885A09C}" type="datetimeFigureOut">
              <a:rPr lang="en-IN" smtClean="0"/>
              <a:t>07-03-2023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E2EA2A-F1C4-4558-B9C7-C76DF55966F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579BE7-0FB0-4C0C-A37D-FE10B885A09C}" type="datetimeFigureOut">
              <a:rPr lang="en-IN" smtClean="0"/>
              <a:t>07-03-2023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E2EA2A-F1C4-4558-B9C7-C76DF55966F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12E2EA2A-F1C4-4558-B9C7-C76DF55966FC}" type="slidenum">
              <a:rPr lang="en-IN" smtClean="0"/>
              <a:t>‹#›</a:t>
            </a:fld>
            <a:endParaRPr lang="en-IN"/>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IN"/>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8F579BE7-0FB0-4C0C-A37D-FE10B885A09C}" type="datetimeFigureOut">
              <a:rPr lang="en-IN" smtClean="0"/>
              <a:t>07-03-2023</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1850" y="777765"/>
            <a:ext cx="10170930" cy="1951367"/>
          </a:xfrm>
        </p:spPr>
        <p:txBody>
          <a:bodyPr>
            <a:normAutofit/>
          </a:bodyPr>
          <a:lstStyle/>
          <a:p>
            <a:r>
              <a:rPr lang="en-IN" b="1" dirty="0" smtClean="0">
                <a:latin typeface="+mj-lt"/>
              </a:rPr>
              <a:t>FUNCTIONS </a:t>
            </a:r>
            <a:r>
              <a:rPr lang="en-IN" sz="4800" b="1" dirty="0" smtClean="0">
                <a:latin typeface="+mj-lt"/>
              </a:rPr>
              <a:t/>
            </a:r>
            <a:br>
              <a:rPr lang="en-IN" sz="4800" b="1" dirty="0" smtClean="0">
                <a:latin typeface="+mj-lt"/>
              </a:rPr>
            </a:br>
            <a:r>
              <a:rPr lang="en-IN" sz="4800" dirty="0" smtClean="0">
                <a:latin typeface="+mj-lt"/>
              </a:rPr>
              <a:t>&amp; </a:t>
            </a:r>
            <a:r>
              <a:rPr lang="en-IN" sz="4800" dirty="0">
                <a:latin typeface="+mj-lt"/>
              </a:rPr>
              <a:t>STORAGE CLASSES</a:t>
            </a:r>
            <a:endParaRPr lang="en-US" sz="4800" dirty="0">
              <a:latin typeface="+mj-lt"/>
            </a:endParaRPr>
          </a:p>
        </p:txBody>
      </p:sp>
      <p:sp>
        <p:nvSpPr>
          <p:cNvPr id="6" name="Text Placeholder 5"/>
          <p:cNvSpPr>
            <a:spLocks noGrp="1"/>
          </p:cNvSpPr>
          <p:nvPr>
            <p:ph type="body" idx="1"/>
          </p:nvPr>
        </p:nvSpPr>
        <p:spPr>
          <a:xfrm>
            <a:off x="831850" y="3276851"/>
            <a:ext cx="9830054" cy="2209549"/>
          </a:xfrm>
        </p:spPr>
        <p:txBody>
          <a:bodyPr>
            <a:normAutofit lnSpcReduction="10000"/>
          </a:bodyPr>
          <a:lstStyle/>
          <a:p>
            <a:endParaRPr lang="en-US" dirty="0" smtClean="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smtClean="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r>
              <a:rPr lang="en-US" dirty="0" smtClean="0">
                <a:solidFill>
                  <a:schemeClr val="tx1"/>
                </a:solidFill>
                <a:latin typeface="Times New Roman" panose="02020603050405020304" pitchFamily="18" charset="0"/>
                <a:cs typeface="Times New Roman" panose="02020603050405020304" pitchFamily="18" charset="0"/>
              </a:rPr>
              <a:t>Dr.V.Arulkumar</a:t>
            </a:r>
          </a:p>
          <a:p>
            <a:r>
              <a:rPr lang="en-US" dirty="0" smtClean="0">
                <a:solidFill>
                  <a:schemeClr val="tx1"/>
                </a:solidFill>
                <a:latin typeface="Times New Roman" panose="02020603050405020304" pitchFamily="18" charset="0"/>
                <a:cs typeface="Times New Roman" panose="02020603050405020304" pitchFamily="18" charset="0"/>
              </a:rPr>
              <a:t>SCOPE</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4AD51EEE-AB63-4DA6-9F1F-5936DDA55F0B}" type="slidenum">
              <a:rPr lang="en-US" smtClean="0"/>
              <a:pPr/>
              <a:t>1</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24092"/>
    </mc:Choice>
    <mc:Fallback xmlns="">
      <p:transition spd="slow" advTm="24092"/>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Shape 197"/>
          <p:cNvSpPr>
            <a:spLocks noGrp="1"/>
          </p:cNvSpPr>
          <p:nvPr>
            <p:ph type="title"/>
          </p:nvPr>
        </p:nvSpPr>
        <p:spPr>
          <a:xfrm>
            <a:off x="717453" y="280718"/>
            <a:ext cx="9931790" cy="1325563"/>
          </a:xfrm>
        </p:spPr>
        <p:txBody>
          <a:bodyPr vert="horz" lIns="68569" tIns="34275" rIns="68569" bIns="34275" rtlCol="0" anchor="ctr">
            <a:normAutofit/>
          </a:bodyPr>
          <a:lstStyle/>
          <a:p>
            <a:pPr algn="just"/>
            <a:r>
              <a:rPr lang="en-US" sz="4800" b="1" dirty="0">
                <a:latin typeface="+mj-lt"/>
              </a:rPr>
              <a:t>FUNCTIONS – AN INTRODUCTION </a:t>
            </a:r>
          </a:p>
        </p:txBody>
      </p:sp>
      <p:sp>
        <p:nvSpPr>
          <p:cNvPr id="304131" name="Shape 198"/>
          <p:cNvSpPr>
            <a:spLocks noGrp="1"/>
          </p:cNvSpPr>
          <p:nvPr>
            <p:ph idx="1"/>
          </p:nvPr>
        </p:nvSpPr>
        <p:spPr/>
        <p:txBody>
          <a:bodyPr vert="horz" lIns="68569" tIns="34275" rIns="68569" bIns="34275" rtlCol="0">
            <a:normAutofit/>
          </a:bodyPr>
          <a:lstStyle/>
          <a:p>
            <a:pPr algn="just"/>
            <a:r>
              <a:rPr lang="en-US" sz="2400" dirty="0">
                <a:solidFill>
                  <a:schemeClr val="tx1">
                    <a:lumMod val="95000"/>
                    <a:lumOff val="5000"/>
                  </a:schemeClr>
                </a:solidFill>
                <a:latin typeface="+mn-lt"/>
              </a:rPr>
              <a:t>A </a:t>
            </a:r>
            <a:r>
              <a:rPr lang="en-US" sz="2400" b="1" dirty="0">
                <a:solidFill>
                  <a:srgbClr val="FF0000"/>
                </a:solidFill>
                <a:latin typeface="+mn-lt"/>
              </a:rPr>
              <a:t>function</a:t>
            </a:r>
            <a:r>
              <a:rPr lang="en-US" sz="2400" dirty="0">
                <a:solidFill>
                  <a:schemeClr val="tx1">
                    <a:lumMod val="95000"/>
                    <a:lumOff val="5000"/>
                  </a:schemeClr>
                </a:solidFill>
                <a:latin typeface="+mn-lt"/>
              </a:rPr>
              <a:t> is a </a:t>
            </a:r>
            <a:r>
              <a:rPr lang="en-US" sz="2400" b="1" dirty="0">
                <a:solidFill>
                  <a:srgbClr val="FF0000"/>
                </a:solidFill>
                <a:latin typeface="+mn-lt"/>
              </a:rPr>
              <a:t>block of code</a:t>
            </a:r>
            <a:r>
              <a:rPr lang="en-US" sz="2400" dirty="0">
                <a:solidFill>
                  <a:srgbClr val="FF0000"/>
                </a:solidFill>
                <a:latin typeface="+mn-lt"/>
              </a:rPr>
              <a:t> </a:t>
            </a:r>
            <a:r>
              <a:rPr lang="en-US" sz="2400" dirty="0">
                <a:solidFill>
                  <a:schemeClr val="tx1">
                    <a:lumMod val="95000"/>
                    <a:lumOff val="5000"/>
                  </a:schemeClr>
                </a:solidFill>
                <a:latin typeface="+mn-lt"/>
              </a:rPr>
              <a:t>that performs a </a:t>
            </a:r>
            <a:r>
              <a:rPr lang="en-US" sz="2400" b="1" dirty="0">
                <a:solidFill>
                  <a:srgbClr val="FF0000"/>
                </a:solidFill>
                <a:latin typeface="+mn-lt"/>
              </a:rPr>
              <a:t>specific task</a:t>
            </a:r>
            <a:r>
              <a:rPr lang="en-US" sz="2400" dirty="0">
                <a:solidFill>
                  <a:schemeClr val="tx1">
                    <a:lumMod val="95000"/>
                    <a:lumOff val="5000"/>
                  </a:schemeClr>
                </a:solidFill>
                <a:latin typeface="+mn-lt"/>
              </a:rPr>
              <a:t>.</a:t>
            </a:r>
          </a:p>
          <a:p>
            <a:pPr algn="just"/>
            <a:r>
              <a:rPr lang="en-US" sz="2400" dirty="0">
                <a:solidFill>
                  <a:schemeClr val="tx1">
                    <a:lumMod val="95000"/>
                    <a:lumOff val="5000"/>
                  </a:schemeClr>
                </a:solidFill>
                <a:latin typeface="+mn-lt"/>
              </a:rPr>
              <a:t>A function </a:t>
            </a:r>
            <a:r>
              <a:rPr lang="en-US" sz="2400" b="1" i="1" dirty="0">
                <a:solidFill>
                  <a:schemeClr val="accent1">
                    <a:lumMod val="75000"/>
                  </a:schemeClr>
                </a:solidFill>
                <a:latin typeface="+mn-lt"/>
              </a:rPr>
              <a:t>take input/s</a:t>
            </a:r>
            <a:r>
              <a:rPr lang="en-US" sz="2400" dirty="0">
                <a:solidFill>
                  <a:schemeClr val="tx1">
                    <a:lumMod val="95000"/>
                    <a:lumOff val="5000"/>
                  </a:schemeClr>
                </a:solidFill>
                <a:latin typeface="+mn-lt"/>
              </a:rPr>
              <a:t>, do some specific </a:t>
            </a:r>
            <a:r>
              <a:rPr lang="en-US" sz="2400" b="1" i="1" dirty="0">
                <a:solidFill>
                  <a:schemeClr val="accent1">
                    <a:lumMod val="75000"/>
                  </a:schemeClr>
                </a:solidFill>
                <a:latin typeface="+mn-lt"/>
              </a:rPr>
              <a:t>computation</a:t>
            </a:r>
            <a:r>
              <a:rPr lang="en-US" sz="2400" dirty="0">
                <a:solidFill>
                  <a:schemeClr val="accent1">
                    <a:lumMod val="75000"/>
                  </a:schemeClr>
                </a:solidFill>
                <a:latin typeface="+mn-lt"/>
              </a:rPr>
              <a:t> </a:t>
            </a:r>
            <a:r>
              <a:rPr lang="en-US" sz="2400" dirty="0">
                <a:solidFill>
                  <a:schemeClr val="tx1">
                    <a:lumMod val="95000"/>
                    <a:lumOff val="5000"/>
                  </a:schemeClr>
                </a:solidFill>
                <a:latin typeface="+mn-lt"/>
              </a:rPr>
              <a:t>and </a:t>
            </a:r>
          </a:p>
          <a:p>
            <a:pPr algn="just">
              <a:buNone/>
            </a:pPr>
            <a:r>
              <a:rPr lang="en-US" sz="2400" dirty="0">
                <a:solidFill>
                  <a:schemeClr val="tx1">
                    <a:lumMod val="95000"/>
                    <a:lumOff val="5000"/>
                  </a:schemeClr>
                </a:solidFill>
                <a:latin typeface="+mn-lt"/>
              </a:rPr>
              <a:t>    </a:t>
            </a:r>
            <a:r>
              <a:rPr lang="en-US" sz="2400" b="1" i="1" dirty="0">
                <a:solidFill>
                  <a:schemeClr val="accent1">
                    <a:lumMod val="75000"/>
                  </a:schemeClr>
                </a:solidFill>
                <a:latin typeface="+mn-lt"/>
              </a:rPr>
              <a:t>produces output</a:t>
            </a:r>
            <a:r>
              <a:rPr lang="en-US" sz="2400" dirty="0">
                <a:solidFill>
                  <a:schemeClr val="tx1">
                    <a:lumMod val="95000"/>
                    <a:lumOff val="5000"/>
                  </a:schemeClr>
                </a:solidFill>
                <a:latin typeface="+mn-lt"/>
              </a:rPr>
              <a:t>. </a:t>
            </a:r>
          </a:p>
          <a:p>
            <a:pPr algn="just"/>
            <a:r>
              <a:rPr lang="en-US" sz="2400" dirty="0">
                <a:solidFill>
                  <a:schemeClr val="tx1">
                    <a:lumMod val="95000"/>
                    <a:lumOff val="5000"/>
                  </a:schemeClr>
                </a:solidFill>
                <a:latin typeface="+mn-lt"/>
              </a:rPr>
              <a:t>All C programs contain at least one function, called main() where execution starts.</a:t>
            </a:r>
          </a:p>
          <a:p>
            <a:pPr>
              <a:buNone/>
            </a:pPr>
            <a:endParaRPr lang="en-US" sz="2400" dirty="0">
              <a:solidFill>
                <a:schemeClr val="tx1"/>
              </a:solidFill>
              <a:latin typeface="+mn-lt"/>
            </a:endParaRPr>
          </a:p>
          <a:p>
            <a:pPr>
              <a:buNone/>
            </a:pPr>
            <a:endParaRPr lang="en-US" sz="2400" dirty="0">
              <a:latin typeface="+mn-lt"/>
            </a:endParaRPr>
          </a:p>
          <a:p>
            <a:pPr>
              <a:buNone/>
            </a:pPr>
            <a:r>
              <a:rPr lang="en-US" sz="2400" dirty="0">
                <a:latin typeface="+mn-lt"/>
              </a:rPr>
              <a:t>   </a:t>
            </a:r>
          </a:p>
          <a:p>
            <a:pPr>
              <a:buNone/>
            </a:pPr>
            <a:endParaRPr lang="en-US" sz="2400" dirty="0">
              <a:solidFill>
                <a:schemeClr val="tx1"/>
              </a:solidFill>
              <a:latin typeface="+mn-lt"/>
            </a:endParaRPr>
          </a:p>
          <a:p>
            <a:pPr>
              <a:buNone/>
            </a:pPr>
            <a:endParaRPr lang="en-US" sz="2400" dirty="0">
              <a:solidFill>
                <a:schemeClr val="tx1"/>
              </a:solidFill>
              <a:latin typeface="+mn-lt"/>
            </a:endParaRPr>
          </a:p>
        </p:txBody>
      </p:sp>
      <p:sp>
        <p:nvSpPr>
          <p:cNvPr id="5" name="Slide Number Placeholder 4"/>
          <p:cNvSpPr>
            <a:spLocks noGrp="1"/>
          </p:cNvSpPr>
          <p:nvPr>
            <p:ph type="sldNum" sz="quarter" idx="12"/>
          </p:nvPr>
        </p:nvSpPr>
        <p:spPr/>
        <p:txBody>
          <a:bodyPr/>
          <a:lstStyle/>
          <a:p>
            <a:fld id="{4AD51EEE-AB63-4DA6-9F1F-5936DDA55F0B}" type="slidenum">
              <a:rPr lang="en-US" smtClean="0"/>
              <a:pPr/>
              <a:t>2</a:t>
            </a:fld>
            <a:endParaRPr lang="en-US"/>
          </a:p>
        </p:txBody>
      </p:sp>
    </p:spTree>
    <p:extLst>
      <p:ext uri="{BB962C8B-B14F-4D97-AF65-F5344CB8AC3E}">
        <p14:creationId xmlns:p14="http://schemas.microsoft.com/office/powerpoint/2010/main" val="625248817"/>
      </p:ext>
    </p:extLst>
  </p:cSld>
  <p:clrMapOvr>
    <a:masterClrMapping/>
  </p:clrMapOvr>
  <mc:AlternateContent xmlns:mc="http://schemas.openxmlformats.org/markup-compatibility/2006" xmlns:p14="http://schemas.microsoft.com/office/powerpoint/2010/main">
    <mc:Choice Requires="p14">
      <p:transition spd="slow" p14:dur="2000" advTm="32904"/>
    </mc:Choice>
    <mc:Fallback xmlns="">
      <p:transition spd="slow" advTm="32904"/>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489" y="365125"/>
            <a:ext cx="9777046" cy="1325563"/>
          </a:xfrm>
        </p:spPr>
        <p:txBody>
          <a:bodyPr>
            <a:normAutofit/>
          </a:bodyPr>
          <a:lstStyle/>
          <a:p>
            <a:pPr algn="just"/>
            <a:r>
              <a:rPr lang="en-US" sz="4300" b="1" dirty="0">
                <a:latin typeface="+mj-lt"/>
              </a:rPr>
              <a:t>  TYPES OF FUNCTIONS</a:t>
            </a:r>
          </a:p>
        </p:txBody>
      </p:sp>
      <p:sp>
        <p:nvSpPr>
          <p:cNvPr id="3" name="Content Placeholder 2"/>
          <p:cNvSpPr>
            <a:spLocks noGrp="1"/>
          </p:cNvSpPr>
          <p:nvPr>
            <p:ph idx="1"/>
          </p:nvPr>
        </p:nvSpPr>
        <p:spPr/>
        <p:txBody>
          <a:bodyPr/>
          <a:lstStyle/>
          <a:p>
            <a:pPr>
              <a:buNone/>
            </a:pPr>
            <a:endParaRPr lang="en-US" dirty="0">
              <a:solidFill>
                <a:schemeClr val="tx1">
                  <a:lumMod val="95000"/>
                  <a:lumOff val="5000"/>
                </a:schemeClr>
              </a:solidFill>
              <a:latin typeface="+mn-lt"/>
            </a:endParaRPr>
          </a:p>
          <a:p>
            <a:pPr>
              <a:buNone/>
            </a:pPr>
            <a:r>
              <a:rPr lang="en-US" dirty="0">
                <a:solidFill>
                  <a:schemeClr val="tx1">
                    <a:lumMod val="95000"/>
                    <a:lumOff val="5000"/>
                  </a:schemeClr>
                </a:solidFill>
                <a:latin typeface="+mn-lt"/>
              </a:rPr>
              <a:t>There are two types of function in C programming:</a:t>
            </a:r>
          </a:p>
          <a:p>
            <a:pPr>
              <a:buNone/>
            </a:pPr>
            <a:endParaRPr lang="en-US" dirty="0">
              <a:solidFill>
                <a:schemeClr val="tx1">
                  <a:lumMod val="95000"/>
                  <a:lumOff val="5000"/>
                </a:schemeClr>
              </a:solidFill>
              <a:latin typeface="+mn-lt"/>
            </a:endParaRPr>
          </a:p>
          <a:p>
            <a:pPr marL="514350" indent="-514350">
              <a:buFont typeface="+mj-lt"/>
              <a:buAutoNum type="arabicPeriod"/>
            </a:pPr>
            <a:r>
              <a:rPr lang="en-US" b="1" dirty="0">
                <a:solidFill>
                  <a:srgbClr val="FF0000"/>
                </a:solidFill>
                <a:latin typeface="+mn-lt"/>
              </a:rPr>
              <a:t>Standard library functions</a:t>
            </a:r>
          </a:p>
          <a:p>
            <a:pPr marL="514350" indent="-514350">
              <a:buFont typeface="+mj-lt"/>
              <a:buAutoNum type="arabicPeriod"/>
            </a:pPr>
            <a:r>
              <a:rPr lang="en-US" b="1" dirty="0">
                <a:solidFill>
                  <a:srgbClr val="0070C0"/>
                </a:solidFill>
                <a:latin typeface="+mn-lt"/>
              </a:rPr>
              <a:t>User-defined functions</a:t>
            </a:r>
          </a:p>
          <a:p>
            <a:pPr>
              <a:buNone/>
            </a:pPr>
            <a:endParaRPr lang="en-US" dirty="0">
              <a:solidFill>
                <a:schemeClr val="tx1">
                  <a:lumMod val="95000"/>
                  <a:lumOff val="5000"/>
                </a:schemeClr>
              </a:solidFill>
            </a:endParaRPr>
          </a:p>
        </p:txBody>
      </p:sp>
      <p:sp>
        <p:nvSpPr>
          <p:cNvPr id="6" name="Slide Number Placeholder 5"/>
          <p:cNvSpPr>
            <a:spLocks noGrp="1"/>
          </p:cNvSpPr>
          <p:nvPr>
            <p:ph type="sldNum" sz="quarter" idx="12"/>
          </p:nvPr>
        </p:nvSpPr>
        <p:spPr/>
        <p:txBody>
          <a:bodyPr/>
          <a:lstStyle/>
          <a:p>
            <a:fld id="{4AD51EEE-AB63-4DA6-9F1F-5936DDA55F0B}" type="slidenum">
              <a:rPr lang="en-US" smtClean="0"/>
              <a:pPr/>
              <a:t>3</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13427"/>
    </mc:Choice>
    <mc:Fallback xmlns="">
      <p:transition spd="slow" advTm="13427"/>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422" y="365125"/>
            <a:ext cx="10424160" cy="1325563"/>
          </a:xfrm>
        </p:spPr>
        <p:txBody>
          <a:bodyPr>
            <a:normAutofit fontScale="90000"/>
          </a:bodyPr>
          <a:lstStyle/>
          <a:p>
            <a:r>
              <a:rPr lang="en-US" sz="4300" b="1" dirty="0">
                <a:latin typeface="+mj-lt"/>
              </a:rPr>
              <a:t>TYPES OF FUNCTIONS (</a:t>
            </a:r>
            <a:r>
              <a:rPr lang="en-US" sz="4300" b="1" dirty="0" err="1">
                <a:latin typeface="+mj-lt"/>
              </a:rPr>
              <a:t>Cont</a:t>
            </a:r>
            <a:r>
              <a:rPr lang="en-US" sz="4300" b="1" dirty="0">
                <a:latin typeface="+mj-lt"/>
              </a:rPr>
              <a:t>…)</a:t>
            </a:r>
            <a:br>
              <a:rPr lang="en-US" sz="4300" b="1" dirty="0">
                <a:latin typeface="+mj-lt"/>
              </a:rPr>
            </a:br>
            <a:endParaRPr lang="en-US" sz="4300" b="1" dirty="0">
              <a:latin typeface="+mj-lt"/>
            </a:endParaRPr>
          </a:p>
        </p:txBody>
      </p:sp>
      <p:sp>
        <p:nvSpPr>
          <p:cNvPr id="3" name="Content Placeholder 2"/>
          <p:cNvSpPr>
            <a:spLocks noGrp="1"/>
          </p:cNvSpPr>
          <p:nvPr>
            <p:ph idx="1"/>
          </p:nvPr>
        </p:nvSpPr>
        <p:spPr>
          <a:xfrm>
            <a:off x="295421" y="1392702"/>
            <a:ext cx="10649244" cy="4784261"/>
          </a:xfrm>
        </p:spPr>
        <p:txBody>
          <a:bodyPr>
            <a:normAutofit lnSpcReduction="10000"/>
          </a:bodyPr>
          <a:lstStyle/>
          <a:p>
            <a:pPr>
              <a:buNone/>
            </a:pPr>
            <a:r>
              <a:rPr lang="en-US" sz="4000" b="1" dirty="0">
                <a:solidFill>
                  <a:schemeClr val="tx1">
                    <a:lumMod val="95000"/>
                    <a:lumOff val="5000"/>
                  </a:schemeClr>
                </a:solidFill>
                <a:latin typeface="Century" pitchFamily="18" charset="0"/>
              </a:rPr>
              <a:t>Standard Library Functions:</a:t>
            </a:r>
          </a:p>
          <a:p>
            <a:r>
              <a:rPr lang="en-US" sz="2400" dirty="0">
                <a:solidFill>
                  <a:schemeClr val="tx1">
                    <a:lumMod val="95000"/>
                    <a:lumOff val="5000"/>
                  </a:schemeClr>
                </a:solidFill>
                <a:latin typeface="Century" pitchFamily="18" charset="0"/>
              </a:rPr>
              <a:t>The standard library functions are </a:t>
            </a:r>
            <a:r>
              <a:rPr lang="en-US" sz="2400" b="1" dirty="0">
                <a:solidFill>
                  <a:srgbClr val="FF0000"/>
                </a:solidFill>
                <a:latin typeface="Century" pitchFamily="18" charset="0"/>
              </a:rPr>
              <a:t>built-in functions </a:t>
            </a:r>
            <a:r>
              <a:rPr lang="en-US" sz="2400" dirty="0">
                <a:solidFill>
                  <a:schemeClr val="tx1">
                    <a:lumMod val="95000"/>
                    <a:lumOff val="5000"/>
                  </a:schemeClr>
                </a:solidFill>
                <a:latin typeface="Century" pitchFamily="18" charset="0"/>
              </a:rPr>
              <a:t>in C programming.</a:t>
            </a:r>
          </a:p>
          <a:p>
            <a:r>
              <a:rPr lang="en-US" sz="2400" dirty="0">
                <a:solidFill>
                  <a:schemeClr val="tx1">
                    <a:lumMod val="95000"/>
                    <a:lumOff val="5000"/>
                  </a:schemeClr>
                </a:solidFill>
                <a:latin typeface="Century" pitchFamily="18" charset="0"/>
              </a:rPr>
              <a:t>These functions are defined in </a:t>
            </a:r>
            <a:r>
              <a:rPr lang="en-US" sz="2400" b="1" dirty="0">
                <a:solidFill>
                  <a:srgbClr val="FF0000"/>
                </a:solidFill>
                <a:latin typeface="Century" pitchFamily="18" charset="0"/>
              </a:rPr>
              <a:t>header files</a:t>
            </a:r>
            <a:r>
              <a:rPr lang="en-US" sz="2400" dirty="0">
                <a:solidFill>
                  <a:schemeClr val="tx1">
                    <a:lumMod val="95000"/>
                    <a:lumOff val="5000"/>
                  </a:schemeClr>
                </a:solidFill>
                <a:latin typeface="Century" pitchFamily="18" charset="0"/>
              </a:rPr>
              <a:t>.</a:t>
            </a:r>
          </a:p>
          <a:p>
            <a:pPr>
              <a:buNone/>
            </a:pPr>
            <a:r>
              <a:rPr lang="en-US" sz="2400" dirty="0">
                <a:solidFill>
                  <a:schemeClr val="tx1">
                    <a:lumMod val="95000"/>
                    <a:lumOff val="5000"/>
                  </a:schemeClr>
                </a:solidFill>
                <a:latin typeface="Century" pitchFamily="18" charset="0"/>
              </a:rPr>
              <a:t> For example,</a:t>
            </a:r>
          </a:p>
          <a:p>
            <a:pPr>
              <a:buNone/>
            </a:pPr>
            <a:r>
              <a:rPr lang="en-US" sz="2400" dirty="0">
                <a:solidFill>
                  <a:schemeClr val="tx1">
                    <a:lumMod val="95000"/>
                    <a:lumOff val="5000"/>
                  </a:schemeClr>
                </a:solidFill>
                <a:latin typeface="Century" pitchFamily="18" charset="0"/>
              </a:rPr>
              <a:t>1.  </a:t>
            </a:r>
            <a:r>
              <a:rPr lang="en-US" sz="2400" b="1" i="1" dirty="0" err="1">
                <a:solidFill>
                  <a:schemeClr val="accent6">
                    <a:lumMod val="75000"/>
                  </a:schemeClr>
                </a:solidFill>
                <a:latin typeface="Century" pitchFamily="18" charset="0"/>
              </a:rPr>
              <a:t>sqrt</a:t>
            </a:r>
            <a:r>
              <a:rPr lang="en-US" sz="2400" b="1" i="1" dirty="0">
                <a:solidFill>
                  <a:schemeClr val="accent6">
                    <a:lumMod val="75000"/>
                  </a:schemeClr>
                </a:solidFill>
                <a:latin typeface="Century" pitchFamily="18" charset="0"/>
              </a:rPr>
              <a:t>()</a:t>
            </a:r>
            <a:r>
              <a:rPr lang="en-US" sz="2400" dirty="0">
                <a:solidFill>
                  <a:schemeClr val="tx1">
                    <a:lumMod val="95000"/>
                    <a:lumOff val="5000"/>
                  </a:schemeClr>
                </a:solidFill>
                <a:latin typeface="Century" pitchFamily="18" charset="0"/>
              </a:rPr>
              <a:t> - Calculates the </a:t>
            </a:r>
            <a:r>
              <a:rPr lang="en-US" sz="2400" b="1" i="1" dirty="0">
                <a:solidFill>
                  <a:schemeClr val="tx1">
                    <a:lumMod val="95000"/>
                    <a:lumOff val="5000"/>
                  </a:schemeClr>
                </a:solidFill>
                <a:latin typeface="Century" pitchFamily="18" charset="0"/>
              </a:rPr>
              <a:t>square root</a:t>
            </a:r>
            <a:r>
              <a:rPr lang="en-US" sz="2400" dirty="0">
                <a:solidFill>
                  <a:schemeClr val="tx1">
                    <a:lumMod val="95000"/>
                    <a:lumOff val="5000"/>
                  </a:schemeClr>
                </a:solidFill>
                <a:latin typeface="Century" pitchFamily="18" charset="0"/>
              </a:rPr>
              <a:t> of a number. </a:t>
            </a:r>
          </a:p>
          <a:p>
            <a:pPr>
              <a:buNone/>
            </a:pPr>
            <a:r>
              <a:rPr lang="en-US" sz="2400" dirty="0">
                <a:solidFill>
                  <a:schemeClr val="tx1">
                    <a:lumMod val="95000"/>
                    <a:lumOff val="5000"/>
                  </a:schemeClr>
                </a:solidFill>
                <a:latin typeface="Century" pitchFamily="18" charset="0"/>
              </a:rPr>
              <a:t>   The function is defined in the </a:t>
            </a:r>
            <a:r>
              <a:rPr lang="en-US" sz="2400" b="1" dirty="0" err="1">
                <a:solidFill>
                  <a:srgbClr val="0070C0"/>
                </a:solidFill>
                <a:latin typeface="Century" pitchFamily="18" charset="0"/>
              </a:rPr>
              <a:t>math.h</a:t>
            </a:r>
            <a:r>
              <a:rPr lang="en-US" sz="2400" dirty="0">
                <a:solidFill>
                  <a:schemeClr val="tx1">
                    <a:lumMod val="95000"/>
                    <a:lumOff val="5000"/>
                  </a:schemeClr>
                </a:solidFill>
                <a:latin typeface="Century" pitchFamily="18" charset="0"/>
              </a:rPr>
              <a:t> header file. </a:t>
            </a:r>
          </a:p>
          <a:p>
            <a:pPr>
              <a:buNone/>
            </a:pPr>
            <a:r>
              <a:rPr lang="en-US" sz="2400" dirty="0">
                <a:solidFill>
                  <a:schemeClr val="tx1">
                    <a:lumMod val="95000"/>
                    <a:lumOff val="5000"/>
                  </a:schemeClr>
                </a:solidFill>
                <a:latin typeface="Century" pitchFamily="18" charset="0"/>
              </a:rPr>
              <a:t>2. </a:t>
            </a:r>
            <a:r>
              <a:rPr lang="en-US" sz="2400" b="1" i="1" dirty="0" err="1">
                <a:solidFill>
                  <a:schemeClr val="accent6">
                    <a:lumMod val="75000"/>
                  </a:schemeClr>
                </a:solidFill>
                <a:latin typeface="Century" pitchFamily="18" charset="0"/>
              </a:rPr>
              <a:t>strlen</a:t>
            </a:r>
            <a:r>
              <a:rPr lang="en-US" sz="2400" b="1" i="1" dirty="0">
                <a:solidFill>
                  <a:schemeClr val="accent6">
                    <a:lumMod val="75000"/>
                  </a:schemeClr>
                </a:solidFill>
                <a:latin typeface="Century" pitchFamily="18" charset="0"/>
              </a:rPr>
              <a:t>() </a:t>
            </a:r>
            <a:r>
              <a:rPr lang="en-US" sz="2400" dirty="0">
                <a:solidFill>
                  <a:schemeClr val="tx1">
                    <a:lumMod val="95000"/>
                    <a:lumOff val="5000"/>
                  </a:schemeClr>
                </a:solidFill>
                <a:latin typeface="Century" pitchFamily="18" charset="0"/>
              </a:rPr>
              <a:t>– Gives the </a:t>
            </a:r>
            <a:r>
              <a:rPr lang="en-US" sz="2400" b="1" dirty="0">
                <a:solidFill>
                  <a:schemeClr val="tx1">
                    <a:lumMod val="95000"/>
                    <a:lumOff val="5000"/>
                  </a:schemeClr>
                </a:solidFill>
                <a:latin typeface="Century" pitchFamily="18" charset="0"/>
              </a:rPr>
              <a:t>length</a:t>
            </a:r>
            <a:r>
              <a:rPr lang="en-US" sz="2400" dirty="0">
                <a:solidFill>
                  <a:schemeClr val="tx1">
                    <a:lumMod val="95000"/>
                    <a:lumOff val="5000"/>
                  </a:schemeClr>
                </a:solidFill>
                <a:latin typeface="Century" pitchFamily="18" charset="0"/>
              </a:rPr>
              <a:t> of the string. </a:t>
            </a:r>
          </a:p>
          <a:p>
            <a:pPr>
              <a:buNone/>
            </a:pPr>
            <a:r>
              <a:rPr lang="en-US" sz="2400" dirty="0">
                <a:solidFill>
                  <a:schemeClr val="tx1">
                    <a:lumMod val="95000"/>
                    <a:lumOff val="5000"/>
                  </a:schemeClr>
                </a:solidFill>
                <a:latin typeface="Century" pitchFamily="18" charset="0"/>
              </a:rPr>
              <a:t>    The function is defined in the </a:t>
            </a:r>
            <a:r>
              <a:rPr lang="en-US" sz="2400" b="1" dirty="0" err="1">
                <a:solidFill>
                  <a:srgbClr val="0070C0"/>
                </a:solidFill>
                <a:latin typeface="Century" pitchFamily="18" charset="0"/>
              </a:rPr>
              <a:t>string.h</a:t>
            </a:r>
            <a:r>
              <a:rPr lang="en-US" sz="2400" dirty="0">
                <a:solidFill>
                  <a:schemeClr val="tx1">
                    <a:lumMod val="95000"/>
                    <a:lumOff val="5000"/>
                  </a:schemeClr>
                </a:solidFill>
                <a:latin typeface="Century" pitchFamily="18" charset="0"/>
              </a:rPr>
              <a:t> header file. </a:t>
            </a:r>
          </a:p>
          <a:p>
            <a:pPr>
              <a:buNone/>
            </a:pPr>
            <a:r>
              <a:rPr lang="en-US" sz="2400" dirty="0">
                <a:solidFill>
                  <a:schemeClr val="tx1">
                    <a:lumMod val="95000"/>
                    <a:lumOff val="5000"/>
                  </a:schemeClr>
                </a:solidFill>
                <a:latin typeface="Century" pitchFamily="18" charset="0"/>
              </a:rPr>
              <a:t>3.</a:t>
            </a:r>
            <a:r>
              <a:rPr lang="en-US" sz="2400" b="1" i="1" dirty="0">
                <a:solidFill>
                  <a:schemeClr val="tx1">
                    <a:lumMod val="95000"/>
                    <a:lumOff val="5000"/>
                  </a:schemeClr>
                </a:solidFill>
                <a:latin typeface="Century" pitchFamily="18" charset="0"/>
              </a:rPr>
              <a:t> </a:t>
            </a:r>
            <a:r>
              <a:rPr lang="en-US" sz="2400" b="1" i="1" dirty="0" err="1">
                <a:solidFill>
                  <a:schemeClr val="accent6">
                    <a:lumMod val="75000"/>
                  </a:schemeClr>
                </a:solidFill>
                <a:latin typeface="Century" pitchFamily="18" charset="0"/>
              </a:rPr>
              <a:t>printf</a:t>
            </a:r>
            <a:r>
              <a:rPr lang="en-US" sz="2400" b="1" i="1" dirty="0">
                <a:solidFill>
                  <a:schemeClr val="accent6">
                    <a:lumMod val="75000"/>
                  </a:schemeClr>
                </a:solidFill>
                <a:latin typeface="Century" pitchFamily="18" charset="0"/>
              </a:rPr>
              <a:t>() ,</a:t>
            </a:r>
            <a:r>
              <a:rPr lang="en-US" sz="2400" b="1" i="1" dirty="0" err="1">
                <a:solidFill>
                  <a:schemeClr val="accent6">
                    <a:lumMod val="75000"/>
                  </a:schemeClr>
                </a:solidFill>
                <a:latin typeface="Century" pitchFamily="18" charset="0"/>
              </a:rPr>
              <a:t>scanf</a:t>
            </a:r>
            <a:r>
              <a:rPr lang="en-US" sz="2400" b="1" i="1" dirty="0">
                <a:solidFill>
                  <a:schemeClr val="accent6">
                    <a:lumMod val="75000"/>
                  </a:schemeClr>
                </a:solidFill>
                <a:latin typeface="Century" pitchFamily="18" charset="0"/>
              </a:rPr>
              <a:t>() </a:t>
            </a:r>
            <a:r>
              <a:rPr lang="en-US" sz="2400" dirty="0">
                <a:solidFill>
                  <a:schemeClr val="tx1">
                    <a:lumMod val="95000"/>
                    <a:lumOff val="5000"/>
                  </a:schemeClr>
                </a:solidFill>
                <a:latin typeface="Century" pitchFamily="18" charset="0"/>
              </a:rPr>
              <a:t>– Performs </a:t>
            </a:r>
            <a:r>
              <a:rPr lang="en-US" sz="2400" b="1" i="1" dirty="0">
                <a:solidFill>
                  <a:schemeClr val="tx1">
                    <a:lumMod val="95000"/>
                    <a:lumOff val="5000"/>
                  </a:schemeClr>
                </a:solidFill>
                <a:latin typeface="Century" pitchFamily="18" charset="0"/>
              </a:rPr>
              <a:t>input and output</a:t>
            </a:r>
            <a:r>
              <a:rPr lang="en-US" sz="2400" dirty="0">
                <a:solidFill>
                  <a:schemeClr val="tx1">
                    <a:lumMod val="95000"/>
                    <a:lumOff val="5000"/>
                  </a:schemeClr>
                </a:solidFill>
                <a:latin typeface="Century" pitchFamily="18" charset="0"/>
              </a:rPr>
              <a:t> functions.</a:t>
            </a:r>
          </a:p>
          <a:p>
            <a:pPr>
              <a:buNone/>
            </a:pPr>
            <a:r>
              <a:rPr lang="en-US" sz="2400" dirty="0">
                <a:solidFill>
                  <a:schemeClr val="tx1">
                    <a:lumMod val="95000"/>
                    <a:lumOff val="5000"/>
                  </a:schemeClr>
                </a:solidFill>
                <a:latin typeface="Century" pitchFamily="18" charset="0"/>
              </a:rPr>
              <a:t>   The function is defined in the </a:t>
            </a:r>
            <a:r>
              <a:rPr lang="en-US" sz="2400" b="1" dirty="0" err="1">
                <a:solidFill>
                  <a:srgbClr val="0070C0"/>
                </a:solidFill>
                <a:latin typeface="Century" pitchFamily="18" charset="0"/>
              </a:rPr>
              <a:t>stdio.h</a:t>
            </a:r>
            <a:r>
              <a:rPr lang="en-US" sz="2400" dirty="0">
                <a:solidFill>
                  <a:srgbClr val="0070C0"/>
                </a:solidFill>
                <a:latin typeface="Century" pitchFamily="18" charset="0"/>
              </a:rPr>
              <a:t> </a:t>
            </a:r>
            <a:r>
              <a:rPr lang="en-US" sz="2400" dirty="0">
                <a:solidFill>
                  <a:schemeClr val="tx1">
                    <a:lumMod val="95000"/>
                    <a:lumOff val="5000"/>
                  </a:schemeClr>
                </a:solidFill>
                <a:latin typeface="Century" pitchFamily="18" charset="0"/>
              </a:rPr>
              <a:t>header file. </a:t>
            </a:r>
          </a:p>
          <a:p>
            <a:pPr>
              <a:buNone/>
            </a:pPr>
            <a:endParaRPr lang="en-US" sz="2400" dirty="0">
              <a:solidFill>
                <a:schemeClr val="tx1">
                  <a:lumMod val="95000"/>
                  <a:lumOff val="5000"/>
                </a:schemeClr>
              </a:solidFill>
              <a:latin typeface="Century" pitchFamily="18" charset="0"/>
            </a:endParaRPr>
          </a:p>
        </p:txBody>
      </p:sp>
      <p:sp>
        <p:nvSpPr>
          <p:cNvPr id="6" name="Slide Number Placeholder 5"/>
          <p:cNvSpPr>
            <a:spLocks noGrp="1"/>
          </p:cNvSpPr>
          <p:nvPr>
            <p:ph type="sldNum" sz="quarter" idx="12"/>
          </p:nvPr>
        </p:nvSpPr>
        <p:spPr/>
        <p:txBody>
          <a:bodyPr/>
          <a:lstStyle/>
          <a:p>
            <a:fld id="{4AD51EEE-AB63-4DA6-9F1F-5936DDA55F0B}" type="slidenum">
              <a:rPr lang="en-US" smtClean="0"/>
              <a:pPr/>
              <a:t>4</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93075"/>
    </mc:Choice>
    <mc:Fallback xmlns="">
      <p:transition spd="slow" advTm="93075"/>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9740705" cy="1325563"/>
          </a:xfrm>
        </p:spPr>
        <p:txBody>
          <a:bodyPr>
            <a:normAutofit fontScale="90000"/>
          </a:bodyPr>
          <a:lstStyle/>
          <a:p>
            <a:r>
              <a:rPr lang="en-US" sz="4300" b="1" dirty="0">
                <a:latin typeface="+mj-lt"/>
              </a:rPr>
              <a:t>TYPES OF FUNCTIONS  (Cont…)</a:t>
            </a:r>
            <a:br>
              <a:rPr lang="en-US" sz="4300" b="1" dirty="0">
                <a:latin typeface="+mj-lt"/>
              </a:rPr>
            </a:br>
            <a:endParaRPr lang="en-US" sz="4300" b="1" dirty="0">
              <a:latin typeface="+mj-lt"/>
            </a:endParaRPr>
          </a:p>
        </p:txBody>
      </p:sp>
      <p:sp>
        <p:nvSpPr>
          <p:cNvPr id="3" name="Content Placeholder 2"/>
          <p:cNvSpPr>
            <a:spLocks noGrp="1"/>
          </p:cNvSpPr>
          <p:nvPr>
            <p:ph idx="1"/>
          </p:nvPr>
        </p:nvSpPr>
        <p:spPr>
          <a:xfrm>
            <a:off x="838200" y="1280160"/>
            <a:ext cx="9823704" cy="4896803"/>
          </a:xfrm>
        </p:spPr>
        <p:txBody>
          <a:bodyPr/>
          <a:lstStyle/>
          <a:p>
            <a:pPr>
              <a:buNone/>
            </a:pPr>
            <a:endParaRPr lang="en-US" sz="3600" b="1" dirty="0">
              <a:latin typeface="+mn-lt"/>
            </a:endParaRPr>
          </a:p>
          <a:p>
            <a:pPr>
              <a:buNone/>
            </a:pPr>
            <a:r>
              <a:rPr lang="en-US" sz="3600" b="1" dirty="0">
                <a:latin typeface="+mn-lt"/>
              </a:rPr>
              <a:t>User-defined function</a:t>
            </a:r>
          </a:p>
          <a:p>
            <a:pPr>
              <a:buNone/>
            </a:pPr>
            <a:endParaRPr lang="en-US" sz="3600" b="1" dirty="0">
              <a:latin typeface="+mn-lt"/>
            </a:endParaRPr>
          </a:p>
          <a:p>
            <a:r>
              <a:rPr lang="en-US" b="1" dirty="0">
                <a:solidFill>
                  <a:srgbClr val="FF0000"/>
                </a:solidFill>
                <a:latin typeface="+mn-lt"/>
              </a:rPr>
              <a:t>User</a:t>
            </a:r>
            <a:r>
              <a:rPr lang="en-US" dirty="0">
                <a:solidFill>
                  <a:schemeClr val="tx1"/>
                </a:solidFill>
                <a:latin typeface="+mn-lt"/>
              </a:rPr>
              <a:t> can also </a:t>
            </a:r>
            <a:r>
              <a:rPr lang="en-US" b="1" dirty="0">
                <a:solidFill>
                  <a:srgbClr val="00B0F0"/>
                </a:solidFill>
                <a:latin typeface="+mn-lt"/>
              </a:rPr>
              <a:t>create</a:t>
            </a:r>
            <a:r>
              <a:rPr lang="en-US" dirty="0">
                <a:solidFill>
                  <a:schemeClr val="tx1"/>
                </a:solidFill>
                <a:latin typeface="+mn-lt"/>
              </a:rPr>
              <a:t> functions as per the </a:t>
            </a:r>
            <a:r>
              <a:rPr lang="en-US" b="1" dirty="0">
                <a:solidFill>
                  <a:srgbClr val="00B050"/>
                </a:solidFill>
                <a:latin typeface="+mn-lt"/>
              </a:rPr>
              <a:t>program requirement</a:t>
            </a:r>
            <a:r>
              <a:rPr lang="en-US" dirty="0">
                <a:solidFill>
                  <a:schemeClr val="tx1"/>
                </a:solidFill>
                <a:latin typeface="+mn-lt"/>
              </a:rPr>
              <a:t> to solve the </a:t>
            </a:r>
            <a:r>
              <a:rPr lang="en-US" b="1" dirty="0">
                <a:solidFill>
                  <a:schemeClr val="accent4">
                    <a:lumMod val="75000"/>
                  </a:schemeClr>
                </a:solidFill>
                <a:latin typeface="+mn-lt"/>
              </a:rPr>
              <a:t>specific task</a:t>
            </a:r>
            <a:r>
              <a:rPr lang="en-US" dirty="0">
                <a:solidFill>
                  <a:schemeClr val="tx1"/>
                </a:solidFill>
                <a:latin typeface="+mn-lt"/>
              </a:rPr>
              <a:t>. Such functions created by the user are known as user-defined functions.</a:t>
            </a:r>
          </a:p>
          <a:p>
            <a:pPr>
              <a:buNone/>
            </a:pPr>
            <a:endParaRPr lang="en-US" dirty="0"/>
          </a:p>
        </p:txBody>
      </p:sp>
      <p:sp>
        <p:nvSpPr>
          <p:cNvPr id="6" name="Slide Number Placeholder 5"/>
          <p:cNvSpPr>
            <a:spLocks noGrp="1"/>
          </p:cNvSpPr>
          <p:nvPr>
            <p:ph type="sldNum" sz="quarter" idx="12"/>
          </p:nvPr>
        </p:nvSpPr>
        <p:spPr/>
        <p:txBody>
          <a:bodyPr/>
          <a:lstStyle/>
          <a:p>
            <a:fld id="{4AD51EEE-AB63-4DA6-9F1F-5936DDA55F0B}" type="slidenum">
              <a:rPr lang="en-US" smtClean="0"/>
              <a:pPr/>
              <a:t>5</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34783"/>
    </mc:Choice>
    <mc:Fallback xmlns="">
      <p:transition spd="slow" advTm="34783"/>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Shape 197"/>
          <p:cNvSpPr>
            <a:spLocks noGrp="1"/>
          </p:cNvSpPr>
          <p:nvPr>
            <p:ph type="title"/>
          </p:nvPr>
        </p:nvSpPr>
        <p:spPr>
          <a:xfrm>
            <a:off x="182880" y="428605"/>
            <a:ext cx="9856470" cy="1143008"/>
          </a:xfrm>
        </p:spPr>
        <p:txBody>
          <a:bodyPr vert="horz" lIns="68569" tIns="34275" rIns="68569" bIns="34275" rtlCol="0" anchor="ctr">
            <a:normAutofit/>
          </a:bodyPr>
          <a:lstStyle/>
          <a:p>
            <a:r>
              <a:rPr lang="en-US" sz="4300" b="1" dirty="0">
                <a:latin typeface="+mj-lt"/>
              </a:rPr>
              <a:t>ADVANTAGES OF FUNCTIONS</a:t>
            </a:r>
          </a:p>
        </p:txBody>
      </p:sp>
      <p:sp>
        <p:nvSpPr>
          <p:cNvPr id="304131" name="Shape 198"/>
          <p:cNvSpPr>
            <a:spLocks noGrp="1"/>
          </p:cNvSpPr>
          <p:nvPr>
            <p:ph idx="1"/>
          </p:nvPr>
        </p:nvSpPr>
        <p:spPr>
          <a:xfrm>
            <a:off x="309489" y="1500174"/>
            <a:ext cx="10297551" cy="4548933"/>
          </a:xfrm>
        </p:spPr>
        <p:txBody>
          <a:bodyPr vert="horz" lIns="68569" tIns="34275" rIns="68569" bIns="34275" rtlCol="0">
            <a:normAutofit/>
          </a:bodyPr>
          <a:lstStyle/>
          <a:p>
            <a:pPr marL="514350" indent="-514350">
              <a:buAutoNum type="arabicPeriod"/>
            </a:pPr>
            <a:r>
              <a:rPr lang="en-US" b="1" dirty="0">
                <a:solidFill>
                  <a:srgbClr val="FF0000"/>
                </a:solidFill>
                <a:latin typeface="+mn-lt"/>
              </a:rPr>
              <a:t>Improve Modularity</a:t>
            </a:r>
          </a:p>
          <a:p>
            <a:pPr marL="514350" indent="-514350">
              <a:buNone/>
            </a:pPr>
            <a:endParaRPr lang="en-US" b="1" dirty="0">
              <a:solidFill>
                <a:srgbClr val="FF0000"/>
              </a:solidFill>
              <a:latin typeface="+mn-lt"/>
            </a:endParaRPr>
          </a:p>
          <a:p>
            <a:pPr lvl="1"/>
            <a:r>
              <a:rPr lang="en-US" b="0" i="0" dirty="0">
                <a:solidFill>
                  <a:srgbClr val="161616"/>
                </a:solidFill>
                <a:effectLst/>
                <a:latin typeface="+mn-lt"/>
              </a:rPr>
              <a:t>Large program can be divided into </a:t>
            </a:r>
            <a:r>
              <a:rPr lang="en-US" b="1" i="1" dirty="0">
                <a:solidFill>
                  <a:srgbClr val="C00000"/>
                </a:solidFill>
                <a:effectLst/>
                <a:latin typeface="+mn-lt"/>
              </a:rPr>
              <a:t>multiple small modules. </a:t>
            </a:r>
          </a:p>
          <a:p>
            <a:pPr lvl="1">
              <a:buNone/>
            </a:pPr>
            <a:endParaRPr lang="en-US" b="1" i="1" dirty="0">
              <a:solidFill>
                <a:srgbClr val="C00000"/>
              </a:solidFill>
              <a:effectLst/>
              <a:latin typeface="+mn-lt"/>
            </a:endParaRPr>
          </a:p>
          <a:p>
            <a:pPr lvl="1"/>
            <a:r>
              <a:rPr lang="en-US" dirty="0">
                <a:solidFill>
                  <a:schemeClr val="tx1">
                    <a:lumMod val="95000"/>
                    <a:lumOff val="5000"/>
                  </a:schemeClr>
                </a:solidFill>
                <a:latin typeface="+mn-lt"/>
              </a:rPr>
              <a:t>This allows program will be easier to </a:t>
            </a:r>
            <a:r>
              <a:rPr lang="en-US" b="1" i="1" dirty="0">
                <a:solidFill>
                  <a:schemeClr val="accent1">
                    <a:lumMod val="75000"/>
                  </a:schemeClr>
                </a:solidFill>
                <a:latin typeface="+mn-lt"/>
              </a:rPr>
              <a:t>understand, maintain and </a:t>
            </a:r>
          </a:p>
          <a:p>
            <a:pPr lvl="1">
              <a:buNone/>
            </a:pPr>
            <a:r>
              <a:rPr lang="en-US" b="1" i="1" dirty="0">
                <a:solidFill>
                  <a:schemeClr val="accent1">
                    <a:lumMod val="75000"/>
                  </a:schemeClr>
                </a:solidFill>
                <a:latin typeface="+mn-lt"/>
              </a:rPr>
              <a:t> debug.</a:t>
            </a:r>
          </a:p>
          <a:p>
            <a:pPr lvl="1">
              <a:buNone/>
            </a:pPr>
            <a:endParaRPr lang="en-US" b="1" i="1" dirty="0">
              <a:solidFill>
                <a:schemeClr val="accent1">
                  <a:lumMod val="75000"/>
                </a:schemeClr>
              </a:solidFill>
              <a:effectLst/>
              <a:latin typeface="+mn-lt"/>
            </a:endParaRPr>
          </a:p>
          <a:p>
            <a:pPr marL="0" indent="0">
              <a:buNone/>
            </a:pPr>
            <a:r>
              <a:rPr lang="en-IN" b="1" i="0" dirty="0">
                <a:solidFill>
                  <a:srgbClr val="FF0000"/>
                </a:solidFill>
                <a:effectLst/>
                <a:latin typeface="+mn-lt"/>
              </a:rPr>
              <a:t>2.  Code Reusability</a:t>
            </a:r>
          </a:p>
          <a:p>
            <a:pPr marL="0" indent="0">
              <a:buNone/>
            </a:pPr>
            <a:endParaRPr lang="en-IN" b="1" i="0" dirty="0">
              <a:solidFill>
                <a:srgbClr val="FF0000"/>
              </a:solidFill>
              <a:effectLst/>
              <a:latin typeface="+mn-lt"/>
            </a:endParaRPr>
          </a:p>
          <a:p>
            <a:pPr lvl="1"/>
            <a:r>
              <a:rPr lang="en-US" b="1" i="1" dirty="0">
                <a:solidFill>
                  <a:srgbClr val="C00000"/>
                </a:solidFill>
                <a:effectLst/>
                <a:latin typeface="+mn-lt"/>
              </a:rPr>
              <a:t>Function</a:t>
            </a:r>
            <a:r>
              <a:rPr lang="en-US" b="0" i="0" dirty="0">
                <a:solidFill>
                  <a:srgbClr val="202124"/>
                </a:solidFill>
                <a:effectLst/>
                <a:latin typeface="+mn-lt"/>
              </a:rPr>
              <a:t> can be </a:t>
            </a:r>
            <a:r>
              <a:rPr lang="en-US" b="1" i="1" dirty="0">
                <a:solidFill>
                  <a:schemeClr val="accent1">
                    <a:lumMod val="75000"/>
                  </a:schemeClr>
                </a:solidFill>
                <a:effectLst/>
                <a:latin typeface="+mn-lt"/>
              </a:rPr>
              <a:t>reused</a:t>
            </a:r>
            <a:r>
              <a:rPr lang="en-US" b="0" i="0" dirty="0">
                <a:solidFill>
                  <a:srgbClr val="202124"/>
                </a:solidFill>
                <a:effectLst/>
                <a:latin typeface="+mn-lt"/>
              </a:rPr>
              <a:t>  in any program rather than writing the </a:t>
            </a:r>
          </a:p>
          <a:p>
            <a:pPr lvl="1">
              <a:buNone/>
            </a:pPr>
            <a:r>
              <a:rPr lang="en-US" dirty="0">
                <a:solidFill>
                  <a:srgbClr val="202124"/>
                </a:solidFill>
                <a:latin typeface="+mn-lt"/>
              </a:rPr>
              <a:t>    </a:t>
            </a:r>
            <a:r>
              <a:rPr lang="en-US" b="0" i="0" dirty="0">
                <a:solidFill>
                  <a:srgbClr val="202124"/>
                </a:solidFill>
                <a:effectLst/>
                <a:latin typeface="+mn-lt"/>
              </a:rPr>
              <a:t>same code from scratch.</a:t>
            </a:r>
            <a:endParaRPr lang="en-IN" b="1" i="0" dirty="0">
              <a:solidFill>
                <a:srgbClr val="202124"/>
              </a:solidFill>
              <a:effectLst/>
              <a:latin typeface="+mn-lt"/>
            </a:endParaRPr>
          </a:p>
          <a:p>
            <a:pPr algn="l">
              <a:buNone/>
            </a:pPr>
            <a:endParaRPr lang="en-US" b="0" i="0" dirty="0">
              <a:solidFill>
                <a:srgbClr val="161616"/>
              </a:solidFill>
              <a:effectLst/>
              <a:latin typeface="+mn-lt"/>
            </a:endParaRPr>
          </a:p>
          <a:p>
            <a:pPr algn="l"/>
            <a:endParaRPr lang="en-US" b="0" i="0" dirty="0">
              <a:solidFill>
                <a:srgbClr val="161616"/>
              </a:solidFill>
              <a:effectLst/>
              <a:latin typeface="+mn-lt"/>
            </a:endParaRPr>
          </a:p>
        </p:txBody>
      </p:sp>
      <p:sp>
        <p:nvSpPr>
          <p:cNvPr id="5" name="Slide Number Placeholder 4"/>
          <p:cNvSpPr>
            <a:spLocks noGrp="1"/>
          </p:cNvSpPr>
          <p:nvPr>
            <p:ph type="sldNum" sz="quarter" idx="12"/>
          </p:nvPr>
        </p:nvSpPr>
        <p:spPr/>
        <p:txBody>
          <a:bodyPr/>
          <a:lstStyle/>
          <a:p>
            <a:fld id="{4AD51EEE-AB63-4DA6-9F1F-5936DDA55F0B}" type="slidenum">
              <a:rPr lang="en-US" smtClean="0"/>
              <a:pPr/>
              <a:t>6</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30945"/>
    </mc:Choice>
    <mc:Fallback xmlns="">
      <p:transition spd="slow" advTm="30945"/>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9571892" cy="760290"/>
          </a:xfrm>
        </p:spPr>
        <p:txBody>
          <a:bodyPr/>
          <a:lstStyle/>
          <a:p>
            <a:r>
              <a:rPr lang="en-US" b="1" dirty="0">
                <a:latin typeface="+mj-lt"/>
              </a:rPr>
              <a:t>DEFINING A FUNCTION</a:t>
            </a:r>
          </a:p>
        </p:txBody>
      </p:sp>
      <p:sp>
        <p:nvSpPr>
          <p:cNvPr id="6" name="Content Placeholder 5"/>
          <p:cNvSpPr>
            <a:spLocks noGrp="1"/>
          </p:cNvSpPr>
          <p:nvPr>
            <p:ph idx="1"/>
          </p:nvPr>
        </p:nvSpPr>
        <p:spPr>
          <a:xfrm>
            <a:off x="838200" y="1235710"/>
            <a:ext cx="9823704" cy="5120639"/>
          </a:xfrm>
        </p:spPr>
        <p:txBody>
          <a:bodyPr>
            <a:normAutofit/>
          </a:bodyPr>
          <a:lstStyle/>
          <a:p>
            <a:pPr marL="0" indent="0">
              <a:buNone/>
            </a:pPr>
            <a:r>
              <a:rPr lang="en-US" b="1" dirty="0">
                <a:solidFill>
                  <a:schemeClr val="tx1"/>
                </a:solidFill>
                <a:latin typeface="+mn-lt"/>
              </a:rPr>
              <a:t>Syntax:</a:t>
            </a:r>
          </a:p>
          <a:p>
            <a:pPr marL="0" indent="0">
              <a:buNone/>
            </a:pPr>
            <a:r>
              <a:rPr lang="en-US" b="1" dirty="0">
                <a:solidFill>
                  <a:schemeClr val="tx1"/>
                </a:solidFill>
                <a:latin typeface="+mn-lt"/>
              </a:rPr>
              <a:t>        </a:t>
            </a:r>
            <a:r>
              <a:rPr lang="en-US" b="1" dirty="0" err="1">
                <a:solidFill>
                  <a:schemeClr val="tx1"/>
                </a:solidFill>
                <a:latin typeface="+mn-lt"/>
              </a:rPr>
              <a:t>Return_type</a:t>
            </a:r>
            <a:r>
              <a:rPr lang="en-US" b="1" dirty="0">
                <a:solidFill>
                  <a:srgbClr val="FF0000"/>
                </a:solidFill>
                <a:latin typeface="+mn-lt"/>
              </a:rPr>
              <a:t> </a:t>
            </a:r>
            <a:r>
              <a:rPr lang="en-US" b="1" dirty="0" err="1">
                <a:solidFill>
                  <a:srgbClr val="FF0000"/>
                </a:solidFill>
                <a:latin typeface="+mn-lt"/>
              </a:rPr>
              <a:t>Function_name</a:t>
            </a:r>
            <a:r>
              <a:rPr lang="en-US" b="1" dirty="0">
                <a:solidFill>
                  <a:schemeClr val="tx1"/>
                </a:solidFill>
                <a:latin typeface="+mn-lt"/>
              </a:rPr>
              <a:t>( parameter list)</a:t>
            </a:r>
            <a:r>
              <a:rPr lang="en-US" b="1" dirty="0">
                <a:solidFill>
                  <a:srgbClr val="FF0000"/>
                </a:solidFill>
                <a:latin typeface="+mn-lt"/>
              </a:rPr>
              <a:t> </a:t>
            </a:r>
          </a:p>
          <a:p>
            <a:pPr marL="0" indent="0">
              <a:buNone/>
            </a:pPr>
            <a:r>
              <a:rPr lang="en-US" b="1" dirty="0">
                <a:solidFill>
                  <a:srgbClr val="FF0000"/>
                </a:solidFill>
                <a:latin typeface="+mn-lt"/>
              </a:rPr>
              <a:t>          {</a:t>
            </a:r>
          </a:p>
          <a:p>
            <a:pPr marL="0" indent="0">
              <a:buNone/>
            </a:pPr>
            <a:r>
              <a:rPr lang="en-US" b="1" dirty="0">
                <a:solidFill>
                  <a:srgbClr val="FF0000"/>
                </a:solidFill>
                <a:latin typeface="+mn-lt"/>
              </a:rPr>
              <a:t>              Body of the function</a:t>
            </a:r>
          </a:p>
          <a:p>
            <a:pPr marL="0" indent="0">
              <a:buNone/>
            </a:pPr>
            <a:r>
              <a:rPr lang="en-US" b="1" dirty="0">
                <a:solidFill>
                  <a:srgbClr val="FF0000"/>
                </a:solidFill>
                <a:latin typeface="+mn-lt"/>
              </a:rPr>
              <a:t>          }</a:t>
            </a:r>
          </a:p>
          <a:p>
            <a:pPr marL="0" indent="0">
              <a:buNone/>
            </a:pPr>
            <a:endParaRPr lang="en-US" b="1" dirty="0">
              <a:solidFill>
                <a:srgbClr val="FF0000"/>
              </a:solidFill>
              <a:latin typeface="+mn-lt"/>
            </a:endParaRPr>
          </a:p>
          <a:p>
            <a:r>
              <a:rPr lang="en-US" b="1" dirty="0">
                <a:solidFill>
                  <a:srgbClr val="FF0000"/>
                </a:solidFill>
                <a:latin typeface="+mn-lt"/>
              </a:rPr>
              <a:t>Return type : </a:t>
            </a:r>
            <a:r>
              <a:rPr lang="en-US" b="1" i="1" dirty="0">
                <a:solidFill>
                  <a:srgbClr val="0070C0"/>
                </a:solidFill>
                <a:latin typeface="+mn-lt"/>
              </a:rPr>
              <a:t>Data type  </a:t>
            </a:r>
            <a:r>
              <a:rPr lang="en-US" dirty="0">
                <a:solidFill>
                  <a:schemeClr val="tx1"/>
                </a:solidFill>
                <a:latin typeface="+mn-lt"/>
              </a:rPr>
              <a:t>of the value that is returned. Return type can be of any data type such as </a:t>
            </a:r>
            <a:r>
              <a:rPr lang="en-US" dirty="0" err="1">
                <a:solidFill>
                  <a:schemeClr val="tx1"/>
                </a:solidFill>
                <a:latin typeface="+mn-lt"/>
              </a:rPr>
              <a:t>int</a:t>
            </a:r>
            <a:r>
              <a:rPr lang="en-US" dirty="0">
                <a:solidFill>
                  <a:schemeClr val="tx1"/>
                </a:solidFill>
                <a:latin typeface="+mn-lt"/>
              </a:rPr>
              <a:t>, double, char, void, short etc. </a:t>
            </a:r>
          </a:p>
          <a:p>
            <a:r>
              <a:rPr lang="en-US" b="1" dirty="0">
                <a:solidFill>
                  <a:srgbClr val="FF0000"/>
                </a:solidFill>
                <a:latin typeface="+mn-lt"/>
              </a:rPr>
              <a:t>Function name</a:t>
            </a:r>
            <a:r>
              <a:rPr lang="en-US" b="1" dirty="0">
                <a:latin typeface="+mn-lt"/>
              </a:rPr>
              <a:t>: </a:t>
            </a:r>
            <a:r>
              <a:rPr lang="en-US" b="1" i="1" dirty="0">
                <a:solidFill>
                  <a:srgbClr val="0070C0"/>
                </a:solidFill>
                <a:latin typeface="+mn-lt"/>
              </a:rPr>
              <a:t>Meaningful name</a:t>
            </a:r>
            <a:r>
              <a:rPr lang="en-US" dirty="0">
                <a:solidFill>
                  <a:schemeClr val="tx1"/>
                </a:solidFill>
                <a:latin typeface="+mn-lt"/>
              </a:rPr>
              <a:t>  which describes the task that the function performs. </a:t>
            </a:r>
          </a:p>
          <a:p>
            <a:r>
              <a:rPr lang="en-US" b="1" dirty="0">
                <a:solidFill>
                  <a:srgbClr val="FF0000"/>
                </a:solidFill>
                <a:latin typeface="+mn-lt"/>
              </a:rPr>
              <a:t>Arguments or Parameters</a:t>
            </a:r>
            <a:r>
              <a:rPr lang="en-US" b="1" dirty="0">
                <a:solidFill>
                  <a:schemeClr val="tx1"/>
                </a:solidFill>
                <a:latin typeface="+mn-lt"/>
              </a:rPr>
              <a:t>: </a:t>
            </a:r>
            <a:r>
              <a:rPr lang="en-US" dirty="0">
                <a:solidFill>
                  <a:schemeClr val="tx1"/>
                </a:solidFill>
                <a:latin typeface="+mn-lt"/>
              </a:rPr>
              <a:t>Argument are the </a:t>
            </a:r>
            <a:r>
              <a:rPr lang="en-US" b="1" i="1" dirty="0">
                <a:solidFill>
                  <a:srgbClr val="0070C0"/>
                </a:solidFill>
                <a:latin typeface="+mn-lt"/>
              </a:rPr>
              <a:t>variables</a:t>
            </a:r>
            <a:r>
              <a:rPr lang="en-US" dirty="0">
                <a:solidFill>
                  <a:schemeClr val="tx1"/>
                </a:solidFill>
                <a:latin typeface="+mn-lt"/>
              </a:rPr>
              <a:t> names along with their data types. These arguments are kind of inputs for the function.</a:t>
            </a:r>
          </a:p>
          <a:p>
            <a:pPr>
              <a:buNone/>
            </a:pPr>
            <a:r>
              <a:rPr lang="en-US" dirty="0">
                <a:solidFill>
                  <a:schemeClr val="tx1"/>
                </a:solidFill>
                <a:latin typeface="+mn-lt"/>
              </a:rPr>
              <a:t>   To use a function, that function is called using with its name and arguments. </a:t>
            </a:r>
          </a:p>
          <a:p>
            <a:endParaRPr lang="en-US" dirty="0"/>
          </a:p>
        </p:txBody>
      </p:sp>
      <p:sp>
        <p:nvSpPr>
          <p:cNvPr id="7" name="Slide Number Placeholder 6"/>
          <p:cNvSpPr>
            <a:spLocks noGrp="1"/>
          </p:cNvSpPr>
          <p:nvPr>
            <p:ph type="sldNum" sz="quarter" idx="12"/>
          </p:nvPr>
        </p:nvSpPr>
        <p:spPr/>
        <p:txBody>
          <a:bodyPr/>
          <a:lstStyle/>
          <a:p>
            <a:fld id="{4AD51EEE-AB63-4DA6-9F1F-5936DDA55F0B}" type="slidenum">
              <a:rPr lang="en-US" smtClean="0"/>
              <a:pPr/>
              <a:t>7</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107976"/>
    </mc:Choice>
    <mc:Fallback xmlns="">
      <p:transition spd="slow" advTm="107976"/>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A73682-67BA-4FD4-894B-67F3B05F97C3}"/>
              </a:ext>
            </a:extLst>
          </p:cNvPr>
          <p:cNvSpPr>
            <a:spLocks noGrp="1"/>
          </p:cNvSpPr>
          <p:nvPr>
            <p:ph type="title"/>
          </p:nvPr>
        </p:nvSpPr>
        <p:spPr>
          <a:xfrm>
            <a:off x="838200" y="365125"/>
            <a:ext cx="9389012" cy="1325563"/>
          </a:xfrm>
        </p:spPr>
        <p:txBody>
          <a:bodyPr/>
          <a:lstStyle/>
          <a:p>
            <a:r>
              <a:rPr lang="en-US" b="1" dirty="0">
                <a:latin typeface="+mj-lt"/>
              </a:rPr>
              <a:t>DEFINING A FUNCTION - Example</a:t>
            </a:r>
            <a:endParaRPr lang="en-US" dirty="0"/>
          </a:p>
        </p:txBody>
      </p:sp>
      <p:sp>
        <p:nvSpPr>
          <p:cNvPr id="3" name="Content Placeholder 2">
            <a:extLst>
              <a:ext uri="{FF2B5EF4-FFF2-40B4-BE49-F238E27FC236}">
                <a16:creationId xmlns:a16="http://schemas.microsoft.com/office/drawing/2014/main" xmlns="" id="{9CA0002E-631A-4D02-8AA9-FC84876ADDB4}"/>
              </a:ext>
            </a:extLst>
          </p:cNvPr>
          <p:cNvSpPr>
            <a:spLocks noGrp="1"/>
          </p:cNvSpPr>
          <p:nvPr>
            <p:ph idx="1"/>
          </p:nvPr>
        </p:nvSpPr>
        <p:spPr/>
        <p:txBody>
          <a:bodyPr/>
          <a:lstStyle/>
          <a:p>
            <a:pPr marL="0" indent="0">
              <a:buNone/>
            </a:pPr>
            <a:endParaRPr lang="en-US" dirty="0"/>
          </a:p>
        </p:txBody>
      </p:sp>
      <p:sp>
        <p:nvSpPr>
          <p:cNvPr id="5" name="Slide Number Placeholder 4">
            <a:extLst>
              <a:ext uri="{FF2B5EF4-FFF2-40B4-BE49-F238E27FC236}">
                <a16:creationId xmlns:a16="http://schemas.microsoft.com/office/drawing/2014/main" xmlns="" id="{3EB779A2-7201-4E87-9A53-E20A7326D619}"/>
              </a:ext>
            </a:extLst>
          </p:cNvPr>
          <p:cNvSpPr>
            <a:spLocks noGrp="1"/>
          </p:cNvSpPr>
          <p:nvPr>
            <p:ph type="sldNum" sz="quarter" idx="12"/>
          </p:nvPr>
        </p:nvSpPr>
        <p:spPr/>
        <p:txBody>
          <a:bodyPr/>
          <a:lstStyle/>
          <a:p>
            <a:fld id="{4AD51EEE-AB63-4DA6-9F1F-5936DDA55F0B}" type="slidenum">
              <a:rPr lang="en-US" smtClean="0"/>
              <a:pPr/>
              <a:t>8</a:t>
            </a:fld>
            <a:endParaRPr lang="en-US"/>
          </a:p>
        </p:txBody>
      </p:sp>
      <p:pic>
        <p:nvPicPr>
          <p:cNvPr id="8" name="Picture 7">
            <a:extLst>
              <a:ext uri="{FF2B5EF4-FFF2-40B4-BE49-F238E27FC236}">
                <a16:creationId xmlns:a16="http://schemas.microsoft.com/office/drawing/2014/main" xmlns="" id="{9DDE4EA4-5ACE-4334-94ED-8B23C33158F1}"/>
              </a:ext>
            </a:extLst>
          </p:cNvPr>
          <p:cNvPicPr>
            <a:picLocks noChangeAspect="1"/>
          </p:cNvPicPr>
          <p:nvPr/>
        </p:nvPicPr>
        <p:blipFill>
          <a:blip r:embed="rId2"/>
          <a:stretch>
            <a:fillRect/>
          </a:stretch>
        </p:blipFill>
        <p:spPr>
          <a:xfrm>
            <a:off x="1702190" y="2419349"/>
            <a:ext cx="9957067" cy="3535973"/>
          </a:xfrm>
          <a:prstGeom prst="rect">
            <a:avLst/>
          </a:prstGeom>
        </p:spPr>
      </p:pic>
    </p:spTree>
    <p:extLst>
      <p:ext uri="{BB962C8B-B14F-4D97-AF65-F5344CB8AC3E}">
        <p14:creationId xmlns:p14="http://schemas.microsoft.com/office/powerpoint/2010/main" val="2973570217"/>
      </p:ext>
    </p:extLst>
  </p:cSld>
  <p:clrMapOvr>
    <a:masterClrMapping/>
  </p:clrMapOvr>
  <mc:AlternateContent xmlns:mc="http://schemas.openxmlformats.org/markup-compatibility/2006" xmlns:p14="http://schemas.microsoft.com/office/powerpoint/2010/main">
    <mc:Choice Requires="p14">
      <p:transition spd="slow" p14:dur="2000" advTm="75038"/>
    </mc:Choice>
    <mc:Fallback xmlns="">
      <p:transition spd="slow" advTm="75038"/>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811" y="886264"/>
            <a:ext cx="11465171" cy="393895"/>
          </a:xfrm>
        </p:spPr>
        <p:txBody>
          <a:bodyPr>
            <a:normAutofit fontScale="90000"/>
          </a:bodyPr>
          <a:lstStyle/>
          <a:p>
            <a:r>
              <a:rPr lang="en-US" b="1" dirty="0">
                <a:latin typeface="+mj-lt"/>
              </a:rPr>
              <a:t>HOW TO USE USER DEFINED FUNCTION ?</a:t>
            </a:r>
            <a:br>
              <a:rPr lang="en-US" b="1" dirty="0">
                <a:latin typeface="+mj-lt"/>
              </a:rPr>
            </a:br>
            <a:r>
              <a:rPr lang="en-US" b="1" dirty="0">
                <a:latin typeface="+mj-lt"/>
              </a:rPr>
              <a:t/>
            </a:r>
            <a:br>
              <a:rPr lang="en-US" b="1" dirty="0">
                <a:latin typeface="+mj-lt"/>
              </a:rPr>
            </a:br>
            <a:endParaRPr lang="en-US" dirty="0">
              <a:latin typeface="+mj-lt"/>
            </a:endParaRPr>
          </a:p>
        </p:txBody>
      </p:sp>
      <p:sp>
        <p:nvSpPr>
          <p:cNvPr id="3" name="Content Placeholder 2"/>
          <p:cNvSpPr>
            <a:spLocks noGrp="1"/>
          </p:cNvSpPr>
          <p:nvPr>
            <p:ph sz="half" idx="1"/>
          </p:nvPr>
        </p:nvSpPr>
        <p:spPr>
          <a:xfrm>
            <a:off x="323556" y="1308296"/>
            <a:ext cx="6625883" cy="5065615"/>
          </a:xfrm>
        </p:spPr>
        <p:txBody>
          <a:bodyPr>
            <a:normAutofit fontScale="92500" lnSpcReduction="10000"/>
          </a:bodyPr>
          <a:lstStyle/>
          <a:p>
            <a:pPr>
              <a:buNone/>
            </a:pPr>
            <a:r>
              <a:rPr lang="en-US" dirty="0">
                <a:solidFill>
                  <a:schemeClr val="tx1"/>
                </a:solidFill>
                <a:latin typeface="+mn-lt"/>
              </a:rPr>
              <a:t>To use a C user defined function, </a:t>
            </a:r>
          </a:p>
          <a:p>
            <a:pPr>
              <a:buNone/>
            </a:pPr>
            <a:r>
              <a:rPr lang="en-US" dirty="0">
                <a:solidFill>
                  <a:schemeClr val="tx1"/>
                </a:solidFill>
                <a:latin typeface="+mn-lt"/>
              </a:rPr>
              <a:t>the following steps are to be done:</a:t>
            </a:r>
          </a:p>
          <a:p>
            <a:pPr marL="514350" indent="-514350">
              <a:buAutoNum type="arabicPeriod"/>
            </a:pPr>
            <a:r>
              <a:rPr lang="en-US" b="1" dirty="0">
                <a:solidFill>
                  <a:srgbClr val="FF0000"/>
                </a:solidFill>
                <a:latin typeface="+mn-lt"/>
              </a:rPr>
              <a:t>Function declaration/Prototype:</a:t>
            </a:r>
            <a:r>
              <a:rPr lang="en-US" b="1" dirty="0">
                <a:solidFill>
                  <a:schemeClr val="tx1"/>
                </a:solidFill>
                <a:latin typeface="+mn-lt"/>
              </a:rPr>
              <a:t> </a:t>
            </a:r>
          </a:p>
          <a:p>
            <a:pPr marL="514350" indent="-514350">
              <a:buNone/>
            </a:pPr>
            <a:r>
              <a:rPr lang="en-US" b="1" dirty="0">
                <a:solidFill>
                  <a:schemeClr val="tx1"/>
                </a:solidFill>
                <a:latin typeface="+mn-lt"/>
              </a:rPr>
              <a:t>    </a:t>
            </a:r>
            <a:r>
              <a:rPr lang="en-US" dirty="0">
                <a:solidFill>
                  <a:schemeClr val="tx1"/>
                </a:solidFill>
                <a:latin typeface="+mn-lt"/>
              </a:rPr>
              <a:t>  This </a:t>
            </a:r>
            <a:r>
              <a:rPr lang="en-US" b="1" i="1" dirty="0">
                <a:solidFill>
                  <a:schemeClr val="accent1">
                    <a:lumMod val="75000"/>
                  </a:schemeClr>
                </a:solidFill>
                <a:latin typeface="+mn-lt"/>
              </a:rPr>
              <a:t>informs compiler  </a:t>
            </a:r>
            <a:r>
              <a:rPr lang="en-US" dirty="0">
                <a:solidFill>
                  <a:schemeClr val="tx1"/>
                </a:solidFill>
                <a:latin typeface="+mn-lt"/>
              </a:rPr>
              <a:t>about the</a:t>
            </a:r>
          </a:p>
          <a:p>
            <a:pPr marL="514350" indent="-514350">
              <a:buNone/>
            </a:pPr>
            <a:r>
              <a:rPr lang="en-US" dirty="0">
                <a:solidFill>
                  <a:schemeClr val="tx1"/>
                </a:solidFill>
                <a:latin typeface="+mn-lt"/>
              </a:rPr>
              <a:t>      function name, function parameters</a:t>
            </a:r>
          </a:p>
          <a:p>
            <a:pPr marL="514350" indent="-514350">
              <a:buNone/>
            </a:pPr>
            <a:r>
              <a:rPr lang="en-US" dirty="0">
                <a:solidFill>
                  <a:schemeClr val="tx1"/>
                </a:solidFill>
                <a:latin typeface="+mn-lt"/>
              </a:rPr>
              <a:t>      and  return value’s data type.</a:t>
            </a:r>
          </a:p>
          <a:p>
            <a:pPr>
              <a:buNone/>
            </a:pPr>
            <a:r>
              <a:rPr lang="en-US" dirty="0">
                <a:solidFill>
                  <a:srgbClr val="FF0000"/>
                </a:solidFill>
                <a:latin typeface="+mn-lt"/>
              </a:rPr>
              <a:t>2. </a:t>
            </a:r>
            <a:r>
              <a:rPr lang="en-US" b="1" dirty="0">
                <a:solidFill>
                  <a:srgbClr val="FF0000"/>
                </a:solidFill>
                <a:latin typeface="+mn-lt"/>
              </a:rPr>
              <a:t>Function call : </a:t>
            </a:r>
          </a:p>
          <a:p>
            <a:pPr>
              <a:buNone/>
            </a:pPr>
            <a:r>
              <a:rPr lang="en-US" b="1" dirty="0">
                <a:solidFill>
                  <a:schemeClr val="tx1"/>
                </a:solidFill>
                <a:latin typeface="+mn-lt"/>
              </a:rPr>
              <a:t>     </a:t>
            </a:r>
            <a:r>
              <a:rPr lang="en-US" dirty="0">
                <a:solidFill>
                  <a:schemeClr val="tx1"/>
                </a:solidFill>
                <a:latin typeface="+mn-lt"/>
              </a:rPr>
              <a:t>This </a:t>
            </a:r>
            <a:r>
              <a:rPr lang="en-US" b="1" i="1" dirty="0">
                <a:solidFill>
                  <a:schemeClr val="accent1">
                    <a:lumMod val="75000"/>
                  </a:schemeClr>
                </a:solidFill>
                <a:latin typeface="+mn-lt"/>
              </a:rPr>
              <a:t>calls</a:t>
            </a:r>
            <a:r>
              <a:rPr lang="en-US" dirty="0">
                <a:solidFill>
                  <a:schemeClr val="tx1"/>
                </a:solidFill>
                <a:latin typeface="+mn-lt"/>
              </a:rPr>
              <a:t>  the actual function.</a:t>
            </a:r>
          </a:p>
          <a:p>
            <a:pPr>
              <a:buNone/>
            </a:pPr>
            <a:r>
              <a:rPr lang="en-US" dirty="0">
                <a:solidFill>
                  <a:srgbClr val="FF0000"/>
                </a:solidFill>
                <a:latin typeface="+mn-lt"/>
              </a:rPr>
              <a:t>3.</a:t>
            </a:r>
            <a:r>
              <a:rPr lang="en-US" b="1" dirty="0">
                <a:solidFill>
                  <a:srgbClr val="FF0000"/>
                </a:solidFill>
                <a:latin typeface="+mn-lt"/>
              </a:rPr>
              <a:t>Function definition :</a:t>
            </a:r>
            <a:r>
              <a:rPr lang="en-US" dirty="0">
                <a:solidFill>
                  <a:srgbClr val="FF0000"/>
                </a:solidFill>
                <a:latin typeface="+mn-lt"/>
              </a:rPr>
              <a:t> </a:t>
            </a:r>
          </a:p>
          <a:p>
            <a:pPr>
              <a:buNone/>
            </a:pPr>
            <a:r>
              <a:rPr lang="en-US" dirty="0">
                <a:solidFill>
                  <a:schemeClr val="tx1"/>
                </a:solidFill>
                <a:latin typeface="+mn-lt"/>
              </a:rPr>
              <a:t>      This contains all the </a:t>
            </a:r>
            <a:r>
              <a:rPr lang="en-US" b="1" i="1" dirty="0">
                <a:solidFill>
                  <a:schemeClr val="accent1">
                    <a:lumMod val="75000"/>
                  </a:schemeClr>
                </a:solidFill>
                <a:latin typeface="+mn-lt"/>
              </a:rPr>
              <a:t>statements  </a:t>
            </a:r>
            <a:r>
              <a:rPr lang="en-US" dirty="0">
                <a:solidFill>
                  <a:schemeClr val="tx1"/>
                </a:solidFill>
                <a:latin typeface="+mn-lt"/>
              </a:rPr>
              <a:t>to be </a:t>
            </a:r>
          </a:p>
          <a:p>
            <a:pPr>
              <a:buNone/>
            </a:pPr>
            <a:r>
              <a:rPr lang="en-US" dirty="0">
                <a:solidFill>
                  <a:schemeClr val="tx1"/>
                </a:solidFill>
                <a:latin typeface="+mn-lt"/>
              </a:rPr>
              <a:t>       executed.</a:t>
            </a:r>
          </a:p>
          <a:p>
            <a:pPr>
              <a:buNone/>
            </a:pPr>
            <a:endParaRPr lang="en-US" dirty="0">
              <a:solidFill>
                <a:schemeClr val="tx1"/>
              </a:solidFill>
            </a:endParaRPr>
          </a:p>
        </p:txBody>
      </p:sp>
      <p:sp>
        <p:nvSpPr>
          <p:cNvPr id="6" name="Slide Number Placeholder 5"/>
          <p:cNvSpPr>
            <a:spLocks noGrp="1"/>
          </p:cNvSpPr>
          <p:nvPr>
            <p:ph type="sldNum" sz="quarter" idx="12"/>
          </p:nvPr>
        </p:nvSpPr>
        <p:spPr/>
        <p:txBody>
          <a:bodyPr/>
          <a:lstStyle/>
          <a:p>
            <a:fld id="{4AD51EEE-AB63-4DA6-9F1F-5936DDA55F0B}" type="slidenum">
              <a:rPr lang="en-US" smtClean="0"/>
              <a:pPr/>
              <a:t>9</a:t>
            </a:fld>
            <a:endParaRPr lang="en-US"/>
          </a:p>
        </p:txBody>
      </p:sp>
      <p:pic>
        <p:nvPicPr>
          <p:cNvPr id="10" name="Picture 9" descr="Passing argument/parameter through function in C">
            <a:extLst>
              <a:ext uri="{FF2B5EF4-FFF2-40B4-BE49-F238E27FC236}">
                <a16:creationId xmlns:a16="http://schemas.microsoft.com/office/drawing/2014/main" xmlns="" id="{D799138F-FCEC-4441-A50B-0008987C558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511474" y="1433026"/>
            <a:ext cx="2461801" cy="3429795"/>
          </a:xfrm>
          <a:prstGeom prst="rect">
            <a:avLst/>
          </a:prstGeom>
          <a:noFill/>
          <a:ln>
            <a:solidFill>
              <a:schemeClr val="tx1"/>
            </a:solidFill>
          </a:ln>
        </p:spPr>
      </p:pic>
      <p:grpSp>
        <p:nvGrpSpPr>
          <p:cNvPr id="18" name="Group 17">
            <a:extLst>
              <a:ext uri="{FF2B5EF4-FFF2-40B4-BE49-F238E27FC236}">
                <a16:creationId xmlns:a16="http://schemas.microsoft.com/office/drawing/2014/main" xmlns="" id="{6B90A643-16DC-412A-BC9D-10CAB0E2C840}"/>
              </a:ext>
            </a:extLst>
          </p:cNvPr>
          <p:cNvGrpSpPr/>
          <p:nvPr/>
        </p:nvGrpSpPr>
        <p:grpSpPr>
          <a:xfrm>
            <a:off x="8478280" y="1862906"/>
            <a:ext cx="2743200" cy="1566094"/>
            <a:chOff x="0" y="152399"/>
            <a:chExt cx="3745230" cy="1047751"/>
          </a:xfrm>
        </p:grpSpPr>
        <p:cxnSp>
          <p:nvCxnSpPr>
            <p:cNvPr id="19" name="Straight Arrow Connector 18">
              <a:extLst>
                <a:ext uri="{FF2B5EF4-FFF2-40B4-BE49-F238E27FC236}">
                  <a16:creationId xmlns:a16="http://schemas.microsoft.com/office/drawing/2014/main" xmlns="" id="{5B2D5B02-134C-4D7A-A657-8D51E8D0C2FD}"/>
                </a:ext>
              </a:extLst>
            </p:cNvPr>
            <p:cNvCxnSpPr/>
            <p:nvPr/>
          </p:nvCxnSpPr>
          <p:spPr>
            <a:xfrm>
              <a:off x="361950" y="590550"/>
              <a:ext cx="742950" cy="0"/>
            </a:xfrm>
            <a:prstGeom prst="straightConnector1">
              <a:avLst/>
            </a:prstGeom>
            <a:ln w="158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DE5FD8CD-B8AB-41A3-8D62-F3F016E2E077}"/>
                </a:ext>
              </a:extLst>
            </p:cNvPr>
            <p:cNvCxnSpPr/>
            <p:nvPr/>
          </p:nvCxnSpPr>
          <p:spPr>
            <a:xfrm>
              <a:off x="476250" y="1066800"/>
              <a:ext cx="676275" cy="0"/>
            </a:xfrm>
            <a:prstGeom prst="straightConnector1">
              <a:avLst/>
            </a:prstGeom>
            <a:ln w="158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xmlns="" id="{EA24C0E0-2158-446A-BEB4-C2447F53E698}"/>
                </a:ext>
              </a:extLst>
            </p:cNvPr>
            <p:cNvCxnSpPr/>
            <p:nvPr/>
          </p:nvCxnSpPr>
          <p:spPr>
            <a:xfrm>
              <a:off x="0" y="152400"/>
              <a:ext cx="1104900" cy="45719"/>
            </a:xfrm>
            <a:prstGeom prst="straightConnector1">
              <a:avLst/>
            </a:prstGeom>
            <a:ln w="2222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2" name="Text Box 2">
              <a:extLst>
                <a:ext uri="{FF2B5EF4-FFF2-40B4-BE49-F238E27FC236}">
                  <a16:creationId xmlns:a16="http://schemas.microsoft.com/office/drawing/2014/main" xmlns="" id="{C0E0AC4A-5CCC-486D-841C-BFFFF6E14665}"/>
                </a:ext>
              </a:extLst>
            </p:cNvPr>
            <p:cNvSpPr txBox="1">
              <a:spLocks noChangeArrowheads="1"/>
            </p:cNvSpPr>
            <p:nvPr/>
          </p:nvSpPr>
          <p:spPr bwMode="auto">
            <a:xfrm>
              <a:off x="1266825" y="152399"/>
              <a:ext cx="2373630" cy="28575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400" b="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Function Declaration /Prototype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Text Box 2">
              <a:extLst>
                <a:ext uri="{FF2B5EF4-FFF2-40B4-BE49-F238E27FC236}">
                  <a16:creationId xmlns:a16="http://schemas.microsoft.com/office/drawing/2014/main" xmlns="" id="{66EC5925-8C41-43C3-A68B-1B60B2A6E88C}"/>
                </a:ext>
              </a:extLst>
            </p:cNvPr>
            <p:cNvSpPr txBox="1">
              <a:spLocks noChangeArrowheads="1"/>
            </p:cNvSpPr>
            <p:nvPr/>
          </p:nvSpPr>
          <p:spPr bwMode="auto">
            <a:xfrm>
              <a:off x="1371600" y="968364"/>
              <a:ext cx="2373630" cy="231786"/>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400" b="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Function Definition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Text Box 2">
              <a:extLst>
                <a:ext uri="{FF2B5EF4-FFF2-40B4-BE49-F238E27FC236}">
                  <a16:creationId xmlns:a16="http://schemas.microsoft.com/office/drawing/2014/main" xmlns="" id="{4FA67162-1260-4971-82E3-F91B04583472}"/>
                </a:ext>
              </a:extLst>
            </p:cNvPr>
            <p:cNvSpPr txBox="1">
              <a:spLocks noChangeArrowheads="1"/>
            </p:cNvSpPr>
            <p:nvPr/>
          </p:nvSpPr>
          <p:spPr bwMode="auto">
            <a:xfrm>
              <a:off x="1314450" y="482589"/>
              <a:ext cx="2373630" cy="231786"/>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400" b="1"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Function call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145627"/>
    </mc:Choice>
    <mc:Fallback xmlns="">
      <p:transition spd="slow" advTm="145627"/>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15" y="365125"/>
            <a:ext cx="10818056" cy="1325563"/>
          </a:xfrm>
        </p:spPr>
        <p:txBody>
          <a:bodyPr>
            <a:noAutofit/>
          </a:bodyPr>
          <a:lstStyle/>
          <a:p>
            <a:r>
              <a:rPr lang="en-US" b="1" dirty="0">
                <a:latin typeface="+mj-lt"/>
              </a:rPr>
              <a:t>FUNCTION DECLARATION / PROTOTYPE :</a:t>
            </a:r>
          </a:p>
        </p:txBody>
      </p:sp>
      <p:sp>
        <p:nvSpPr>
          <p:cNvPr id="3" name="Content Placeholder 2"/>
          <p:cNvSpPr>
            <a:spLocks noGrp="1"/>
          </p:cNvSpPr>
          <p:nvPr>
            <p:ph idx="1"/>
          </p:nvPr>
        </p:nvSpPr>
        <p:spPr>
          <a:xfrm>
            <a:off x="281354" y="1713084"/>
            <a:ext cx="11141612" cy="4351338"/>
          </a:xfrm>
        </p:spPr>
        <p:txBody>
          <a:bodyPr/>
          <a:lstStyle/>
          <a:p>
            <a:r>
              <a:rPr lang="en-US" dirty="0">
                <a:solidFill>
                  <a:schemeClr val="tx1"/>
                </a:solidFill>
                <a:latin typeface="+mn-lt"/>
              </a:rPr>
              <a:t>A function prototype is simply the declaration of a function that </a:t>
            </a:r>
            <a:r>
              <a:rPr lang="en-US" b="1" i="1" dirty="0">
                <a:solidFill>
                  <a:srgbClr val="FF0000"/>
                </a:solidFill>
                <a:latin typeface="+mn-lt"/>
              </a:rPr>
              <a:t>specifies function's name, parameters and return type</a:t>
            </a:r>
            <a:r>
              <a:rPr lang="en-US" dirty="0">
                <a:solidFill>
                  <a:schemeClr val="tx1"/>
                </a:solidFill>
                <a:latin typeface="+mn-lt"/>
              </a:rPr>
              <a:t>. </a:t>
            </a:r>
          </a:p>
          <a:p>
            <a:r>
              <a:rPr lang="en-US" b="0" i="0" dirty="0">
                <a:solidFill>
                  <a:srgbClr val="212529"/>
                </a:solidFill>
                <a:effectLst/>
                <a:latin typeface="+mn-lt"/>
              </a:rPr>
              <a:t>It is </a:t>
            </a:r>
            <a:r>
              <a:rPr lang="en-US" dirty="0">
                <a:solidFill>
                  <a:srgbClr val="212529"/>
                </a:solidFill>
                <a:latin typeface="+mn-lt"/>
              </a:rPr>
              <a:t>written </a:t>
            </a:r>
            <a:r>
              <a:rPr lang="en-US" b="0" i="0" dirty="0">
                <a:solidFill>
                  <a:srgbClr val="FF0000"/>
                </a:solidFill>
                <a:effectLst/>
                <a:latin typeface="+mn-lt"/>
              </a:rPr>
              <a:t>prior</a:t>
            </a:r>
            <a:r>
              <a:rPr lang="en-US" b="0" i="0" dirty="0">
                <a:solidFill>
                  <a:srgbClr val="212529"/>
                </a:solidFill>
                <a:effectLst/>
                <a:latin typeface="+mn-lt"/>
              </a:rPr>
              <a:t> to the function's actual definition</a:t>
            </a:r>
            <a:endParaRPr lang="en-US" dirty="0">
              <a:solidFill>
                <a:schemeClr val="tx1"/>
              </a:solidFill>
              <a:latin typeface="+mn-lt"/>
            </a:endParaRPr>
          </a:p>
          <a:p>
            <a:r>
              <a:rPr lang="en-US" dirty="0">
                <a:solidFill>
                  <a:schemeClr val="tx1"/>
                </a:solidFill>
                <a:latin typeface="+mn-lt"/>
              </a:rPr>
              <a:t>A function prototype gives </a:t>
            </a:r>
            <a:r>
              <a:rPr lang="en-US" b="1" i="1" dirty="0">
                <a:solidFill>
                  <a:srgbClr val="FF0000"/>
                </a:solidFill>
                <a:latin typeface="+mn-lt"/>
              </a:rPr>
              <a:t>information to the compiler</a:t>
            </a:r>
            <a:r>
              <a:rPr lang="en-US" dirty="0">
                <a:solidFill>
                  <a:schemeClr val="tx1"/>
                </a:solidFill>
                <a:latin typeface="+mn-lt"/>
              </a:rPr>
              <a:t> that the function may later be used in the program.</a:t>
            </a:r>
          </a:p>
          <a:p>
            <a:pPr>
              <a:buNone/>
            </a:pPr>
            <a:endParaRPr lang="en-US" b="1" dirty="0">
              <a:solidFill>
                <a:schemeClr val="tx1"/>
              </a:solidFill>
              <a:latin typeface="+mn-lt"/>
            </a:endParaRPr>
          </a:p>
          <a:p>
            <a:pPr>
              <a:buNone/>
            </a:pPr>
            <a:r>
              <a:rPr lang="en-US" b="1" dirty="0">
                <a:solidFill>
                  <a:schemeClr val="tx1"/>
                </a:solidFill>
                <a:latin typeface="+mn-lt"/>
              </a:rPr>
              <a:t>   Syntax of function prototype</a:t>
            </a:r>
          </a:p>
          <a:p>
            <a:pPr>
              <a:buNone/>
            </a:pPr>
            <a:r>
              <a:rPr lang="en-US" sz="2400" b="1" dirty="0">
                <a:solidFill>
                  <a:schemeClr val="accent1">
                    <a:lumMod val="50000"/>
                  </a:schemeClr>
                </a:solidFill>
                <a:latin typeface="+mn-lt"/>
              </a:rPr>
              <a:t>   </a:t>
            </a:r>
            <a:r>
              <a:rPr lang="en-US" sz="2400" b="1" dirty="0" err="1">
                <a:solidFill>
                  <a:schemeClr val="accent1">
                    <a:lumMod val="50000"/>
                  </a:schemeClr>
                </a:solidFill>
                <a:latin typeface="+mn-lt"/>
              </a:rPr>
              <a:t>returnType</a:t>
            </a:r>
            <a:r>
              <a:rPr lang="en-US" sz="2400" dirty="0">
                <a:solidFill>
                  <a:schemeClr val="tx1"/>
                </a:solidFill>
                <a:latin typeface="+mn-lt"/>
              </a:rPr>
              <a:t>  </a:t>
            </a:r>
            <a:r>
              <a:rPr lang="en-US" sz="2400" b="1" dirty="0" err="1">
                <a:solidFill>
                  <a:srgbClr val="FF0000"/>
                </a:solidFill>
                <a:latin typeface="+mn-lt"/>
              </a:rPr>
              <a:t>functionName</a:t>
            </a:r>
            <a:r>
              <a:rPr lang="en-US" sz="2400" b="1" dirty="0">
                <a:solidFill>
                  <a:srgbClr val="00B050"/>
                </a:solidFill>
                <a:latin typeface="+mn-lt"/>
              </a:rPr>
              <a:t> </a:t>
            </a:r>
            <a:r>
              <a:rPr lang="en-US" sz="2400" dirty="0">
                <a:solidFill>
                  <a:schemeClr val="tx1"/>
                </a:solidFill>
                <a:latin typeface="+mn-lt"/>
              </a:rPr>
              <a:t>(</a:t>
            </a:r>
            <a:r>
              <a:rPr lang="en-US" sz="2400" b="1" dirty="0">
                <a:solidFill>
                  <a:srgbClr val="FFC000"/>
                </a:solidFill>
                <a:latin typeface="+mn-lt"/>
              </a:rPr>
              <a:t>type1 argument1, type2 argument2,...</a:t>
            </a:r>
            <a:r>
              <a:rPr lang="en-US" sz="2400" dirty="0">
                <a:solidFill>
                  <a:schemeClr val="tx1"/>
                </a:solidFill>
                <a:latin typeface="+mn-lt"/>
              </a:rPr>
              <a:t>);</a:t>
            </a:r>
            <a:endParaRPr lang="en-US" sz="2400" b="1" dirty="0">
              <a:solidFill>
                <a:schemeClr val="tx1"/>
              </a:solidFill>
              <a:latin typeface="+mn-lt"/>
            </a:endParaRPr>
          </a:p>
          <a:p>
            <a:pPr>
              <a:buNone/>
            </a:pPr>
            <a:endParaRPr lang="en-US" dirty="0"/>
          </a:p>
        </p:txBody>
      </p:sp>
      <p:sp>
        <p:nvSpPr>
          <p:cNvPr id="5" name="Slide Number Placeholder 4"/>
          <p:cNvSpPr>
            <a:spLocks noGrp="1"/>
          </p:cNvSpPr>
          <p:nvPr>
            <p:ph type="sldNum" sz="quarter" idx="12"/>
          </p:nvPr>
        </p:nvSpPr>
        <p:spPr/>
        <p:txBody>
          <a:bodyPr/>
          <a:lstStyle/>
          <a:p>
            <a:fld id="{4AD51EEE-AB63-4DA6-9F1F-5936DDA55F0B}" type="slidenum">
              <a:rPr lang="en-US" smtClean="0"/>
              <a:pPr/>
              <a:t>10</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50439"/>
    </mc:Choice>
    <mc:Fallback xmlns="">
      <p:transition spd="slow" advTm="50439"/>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812" y="365126"/>
            <a:ext cx="9423244" cy="943170"/>
          </a:xfrm>
        </p:spPr>
        <p:txBody>
          <a:bodyPr/>
          <a:lstStyle/>
          <a:p>
            <a:r>
              <a:rPr lang="en-US" b="1" dirty="0">
                <a:latin typeface="+mj-lt"/>
              </a:rPr>
              <a:t>EXAMPLE</a:t>
            </a:r>
          </a:p>
        </p:txBody>
      </p:sp>
      <p:sp>
        <p:nvSpPr>
          <p:cNvPr id="8" name="Content Placeholder 7"/>
          <p:cNvSpPr>
            <a:spLocks noGrp="1"/>
          </p:cNvSpPr>
          <p:nvPr>
            <p:ph idx="1"/>
          </p:nvPr>
        </p:nvSpPr>
        <p:spPr/>
        <p:txBody>
          <a:bodyPr/>
          <a:lstStyle/>
          <a:p>
            <a:endParaRPr lang="en-US"/>
          </a:p>
        </p:txBody>
      </p:sp>
      <p:sp>
        <p:nvSpPr>
          <p:cNvPr id="6" name="Slide Number Placeholder 5"/>
          <p:cNvSpPr>
            <a:spLocks noGrp="1"/>
          </p:cNvSpPr>
          <p:nvPr>
            <p:ph type="sldNum" sz="quarter" idx="12"/>
          </p:nvPr>
        </p:nvSpPr>
        <p:spPr/>
        <p:txBody>
          <a:bodyPr/>
          <a:lstStyle/>
          <a:p>
            <a:fld id="{4AD51EEE-AB63-4DA6-9F1F-5936DDA55F0B}" type="slidenum">
              <a:rPr lang="en-US" smtClean="0"/>
              <a:pPr/>
              <a:t>11</a:t>
            </a:fld>
            <a:endParaRPr lang="en-US"/>
          </a:p>
        </p:txBody>
      </p:sp>
      <p:pic>
        <p:nvPicPr>
          <p:cNvPr id="9" name="Content Placeholder 6" descr="function steps example.JPG"/>
          <p:cNvPicPr>
            <a:picLocks noChangeAspect="1"/>
          </p:cNvPicPr>
          <p:nvPr/>
        </p:nvPicPr>
        <p:blipFill>
          <a:blip r:embed="rId2"/>
          <a:stretch>
            <a:fillRect/>
          </a:stretch>
        </p:blipFill>
        <p:spPr>
          <a:xfrm>
            <a:off x="436099" y="1392702"/>
            <a:ext cx="10044332" cy="478426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45283"/>
    </mc:Choice>
    <mc:Fallback xmlns="">
      <p:transition spd="slow" advTm="145283"/>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895" y="365125"/>
            <a:ext cx="10508567" cy="1325563"/>
          </a:xfrm>
        </p:spPr>
        <p:txBody>
          <a:bodyPr>
            <a:normAutofit fontScale="90000"/>
          </a:bodyPr>
          <a:lstStyle/>
          <a:p>
            <a:r>
              <a:rPr lang="en-US" b="1" dirty="0">
                <a:latin typeface="+mj-lt"/>
              </a:rPr>
              <a:t>FUNCTION DECLARATION/PROTOTYPE (Cont…)</a:t>
            </a:r>
          </a:p>
        </p:txBody>
      </p:sp>
      <p:sp>
        <p:nvSpPr>
          <p:cNvPr id="3" name="Content Placeholder 2"/>
          <p:cNvSpPr>
            <a:spLocks noGrp="1"/>
          </p:cNvSpPr>
          <p:nvPr>
            <p:ph idx="1"/>
          </p:nvPr>
        </p:nvSpPr>
        <p:spPr>
          <a:xfrm>
            <a:off x="337624" y="1825625"/>
            <a:ext cx="10324279" cy="4351338"/>
          </a:xfrm>
        </p:spPr>
        <p:txBody>
          <a:bodyPr>
            <a:normAutofit fontScale="92500" lnSpcReduction="10000"/>
          </a:bodyPr>
          <a:lstStyle/>
          <a:p>
            <a:pPr>
              <a:buNone/>
            </a:pPr>
            <a:r>
              <a:rPr lang="en-US" dirty="0">
                <a:solidFill>
                  <a:schemeClr val="tx1"/>
                </a:solidFill>
                <a:latin typeface="+mn-lt"/>
                <a:hlinkClick r:id="rId3" action="ppaction://hlinksldjump"/>
              </a:rPr>
              <a:t>Example</a:t>
            </a:r>
            <a:r>
              <a:rPr lang="en-US" dirty="0">
                <a:solidFill>
                  <a:schemeClr val="tx1"/>
                </a:solidFill>
                <a:latin typeface="+mn-lt"/>
              </a:rPr>
              <a:t>:</a:t>
            </a:r>
          </a:p>
          <a:p>
            <a:pPr>
              <a:buNone/>
            </a:pPr>
            <a:r>
              <a:rPr lang="en-US" dirty="0" err="1">
                <a:solidFill>
                  <a:schemeClr val="tx1"/>
                </a:solidFill>
                <a:latin typeface="+mn-lt"/>
              </a:rPr>
              <a:t>int</a:t>
            </a:r>
            <a:r>
              <a:rPr lang="en-US" dirty="0">
                <a:solidFill>
                  <a:schemeClr val="tx1"/>
                </a:solidFill>
                <a:latin typeface="+mn-lt"/>
              </a:rPr>
              <a:t> </a:t>
            </a:r>
            <a:r>
              <a:rPr lang="en-US" dirty="0" err="1">
                <a:solidFill>
                  <a:schemeClr val="tx1"/>
                </a:solidFill>
                <a:latin typeface="+mn-lt"/>
              </a:rPr>
              <a:t>addNumbers</a:t>
            </a:r>
            <a:r>
              <a:rPr lang="en-US" dirty="0">
                <a:solidFill>
                  <a:schemeClr val="tx1"/>
                </a:solidFill>
                <a:latin typeface="+mn-lt"/>
              </a:rPr>
              <a:t> (</a:t>
            </a:r>
            <a:r>
              <a:rPr lang="en-US" dirty="0" err="1">
                <a:solidFill>
                  <a:schemeClr val="tx1"/>
                </a:solidFill>
                <a:latin typeface="+mn-lt"/>
              </a:rPr>
              <a:t>int</a:t>
            </a:r>
            <a:r>
              <a:rPr lang="en-US" dirty="0">
                <a:solidFill>
                  <a:schemeClr val="tx1"/>
                </a:solidFill>
                <a:latin typeface="+mn-lt"/>
              </a:rPr>
              <a:t> a, </a:t>
            </a:r>
            <a:r>
              <a:rPr lang="en-US" dirty="0" err="1">
                <a:solidFill>
                  <a:schemeClr val="tx1"/>
                </a:solidFill>
                <a:latin typeface="+mn-lt"/>
              </a:rPr>
              <a:t>int</a:t>
            </a:r>
            <a:r>
              <a:rPr lang="en-US" dirty="0">
                <a:solidFill>
                  <a:schemeClr val="tx1"/>
                </a:solidFill>
                <a:latin typeface="+mn-lt"/>
              </a:rPr>
              <a:t> b); </a:t>
            </a:r>
          </a:p>
          <a:p>
            <a:pPr>
              <a:buNone/>
            </a:pPr>
            <a:endParaRPr lang="en-US" dirty="0">
              <a:solidFill>
                <a:schemeClr val="tx1"/>
              </a:solidFill>
              <a:latin typeface="+mn-lt"/>
            </a:endParaRPr>
          </a:p>
          <a:p>
            <a:pPr>
              <a:buNone/>
            </a:pPr>
            <a:r>
              <a:rPr lang="en-US" b="1" i="1" dirty="0">
                <a:solidFill>
                  <a:schemeClr val="tx1"/>
                </a:solidFill>
                <a:latin typeface="+mn-lt"/>
              </a:rPr>
              <a:t>This the function prototype which provides the following </a:t>
            </a:r>
          </a:p>
          <a:p>
            <a:pPr>
              <a:buNone/>
            </a:pPr>
            <a:r>
              <a:rPr lang="en-US" b="1" i="1" dirty="0">
                <a:solidFill>
                  <a:schemeClr val="tx1"/>
                </a:solidFill>
                <a:latin typeface="+mn-lt"/>
              </a:rPr>
              <a:t>information to the compiler:</a:t>
            </a:r>
          </a:p>
          <a:p>
            <a:pPr>
              <a:buNone/>
            </a:pPr>
            <a:endParaRPr lang="en-US" dirty="0">
              <a:solidFill>
                <a:schemeClr val="tx1"/>
              </a:solidFill>
              <a:latin typeface="+mn-lt"/>
            </a:endParaRPr>
          </a:p>
          <a:p>
            <a:r>
              <a:rPr lang="en-US" b="1" dirty="0">
                <a:solidFill>
                  <a:srgbClr val="FF0000"/>
                </a:solidFill>
                <a:latin typeface="+mn-lt"/>
              </a:rPr>
              <a:t>name of the function</a:t>
            </a:r>
            <a:r>
              <a:rPr lang="en-US" dirty="0">
                <a:solidFill>
                  <a:schemeClr val="tx1"/>
                </a:solidFill>
                <a:latin typeface="+mn-lt"/>
              </a:rPr>
              <a:t> is </a:t>
            </a:r>
            <a:r>
              <a:rPr lang="en-US" dirty="0" err="1">
                <a:solidFill>
                  <a:schemeClr val="tx1"/>
                </a:solidFill>
                <a:latin typeface="+mn-lt"/>
              </a:rPr>
              <a:t>addNumbers</a:t>
            </a:r>
            <a:r>
              <a:rPr lang="en-US" dirty="0">
                <a:solidFill>
                  <a:schemeClr val="tx1"/>
                </a:solidFill>
                <a:latin typeface="+mn-lt"/>
              </a:rPr>
              <a:t>()</a:t>
            </a:r>
          </a:p>
          <a:p>
            <a:r>
              <a:rPr lang="en-US" b="1" dirty="0">
                <a:solidFill>
                  <a:srgbClr val="00B050"/>
                </a:solidFill>
                <a:latin typeface="+mn-lt"/>
              </a:rPr>
              <a:t>return type</a:t>
            </a:r>
            <a:r>
              <a:rPr lang="en-US" dirty="0">
                <a:solidFill>
                  <a:schemeClr val="tx1"/>
                </a:solidFill>
                <a:latin typeface="+mn-lt"/>
              </a:rPr>
              <a:t> of the function is </a:t>
            </a:r>
            <a:r>
              <a:rPr lang="en-US" dirty="0" err="1">
                <a:solidFill>
                  <a:schemeClr val="tx1"/>
                </a:solidFill>
                <a:latin typeface="+mn-lt"/>
              </a:rPr>
              <a:t>int</a:t>
            </a:r>
            <a:endParaRPr lang="en-US" dirty="0">
              <a:solidFill>
                <a:schemeClr val="tx1"/>
              </a:solidFill>
              <a:latin typeface="+mn-lt"/>
            </a:endParaRPr>
          </a:p>
          <a:p>
            <a:r>
              <a:rPr lang="en-US" dirty="0">
                <a:solidFill>
                  <a:schemeClr val="tx1"/>
                </a:solidFill>
                <a:latin typeface="+mn-lt"/>
              </a:rPr>
              <a:t>two </a:t>
            </a:r>
            <a:r>
              <a:rPr lang="en-US" b="1" dirty="0">
                <a:solidFill>
                  <a:srgbClr val="0070C0"/>
                </a:solidFill>
                <a:latin typeface="+mn-lt"/>
              </a:rPr>
              <a:t>arguments </a:t>
            </a:r>
            <a:r>
              <a:rPr lang="en-US" dirty="0">
                <a:solidFill>
                  <a:schemeClr val="tx1"/>
                </a:solidFill>
                <a:latin typeface="+mn-lt"/>
              </a:rPr>
              <a:t>of type </a:t>
            </a:r>
            <a:r>
              <a:rPr lang="en-US" dirty="0" err="1">
                <a:solidFill>
                  <a:schemeClr val="tx1"/>
                </a:solidFill>
                <a:latin typeface="+mn-lt"/>
              </a:rPr>
              <a:t>int</a:t>
            </a:r>
            <a:r>
              <a:rPr lang="en-US" dirty="0">
                <a:solidFill>
                  <a:schemeClr val="tx1"/>
                </a:solidFill>
                <a:latin typeface="+mn-lt"/>
              </a:rPr>
              <a:t> are passed to the function</a:t>
            </a:r>
          </a:p>
          <a:p>
            <a:endParaRPr lang="en-US" dirty="0">
              <a:solidFill>
                <a:schemeClr val="tx1"/>
              </a:solidFill>
              <a:latin typeface="+mn-lt"/>
            </a:endParaRPr>
          </a:p>
          <a:p>
            <a:pPr>
              <a:buNone/>
            </a:pPr>
            <a:r>
              <a:rPr lang="en-US" b="1" dirty="0">
                <a:solidFill>
                  <a:srgbClr val="C00000"/>
                </a:solidFill>
                <a:latin typeface="+mn-lt"/>
              </a:rPr>
              <a:t>NOTE :</a:t>
            </a:r>
            <a:r>
              <a:rPr lang="en-US" dirty="0">
                <a:solidFill>
                  <a:schemeClr val="tx1"/>
                </a:solidFill>
                <a:latin typeface="+mn-lt"/>
              </a:rPr>
              <a:t> The function prototype is </a:t>
            </a:r>
            <a:r>
              <a:rPr lang="en-US" b="1" i="1" dirty="0">
                <a:solidFill>
                  <a:schemeClr val="tx1"/>
                </a:solidFill>
                <a:latin typeface="+mn-lt"/>
              </a:rPr>
              <a:t>not needed</a:t>
            </a:r>
            <a:r>
              <a:rPr lang="en-US" dirty="0">
                <a:solidFill>
                  <a:schemeClr val="tx1"/>
                </a:solidFill>
                <a:latin typeface="+mn-lt"/>
              </a:rPr>
              <a:t>  if the user-defined function is </a:t>
            </a:r>
          </a:p>
          <a:p>
            <a:pPr>
              <a:buNone/>
            </a:pPr>
            <a:r>
              <a:rPr lang="en-US" dirty="0">
                <a:solidFill>
                  <a:schemeClr val="tx1"/>
                </a:solidFill>
                <a:latin typeface="+mn-lt"/>
              </a:rPr>
              <a:t>defined </a:t>
            </a:r>
            <a:r>
              <a:rPr lang="en-US" b="1" i="1" dirty="0">
                <a:solidFill>
                  <a:schemeClr val="tx1"/>
                </a:solidFill>
                <a:latin typeface="+mn-lt"/>
              </a:rPr>
              <a:t>before the main()</a:t>
            </a:r>
            <a:r>
              <a:rPr lang="en-US" dirty="0">
                <a:solidFill>
                  <a:schemeClr val="tx1"/>
                </a:solidFill>
                <a:latin typeface="+mn-lt"/>
              </a:rPr>
              <a:t>  function.</a:t>
            </a:r>
          </a:p>
          <a:p>
            <a:pPr>
              <a:buNone/>
            </a:pPr>
            <a:endParaRPr lang="en-US" dirty="0"/>
          </a:p>
        </p:txBody>
      </p:sp>
      <p:sp>
        <p:nvSpPr>
          <p:cNvPr id="5" name="Slide Number Placeholder 4"/>
          <p:cNvSpPr>
            <a:spLocks noGrp="1"/>
          </p:cNvSpPr>
          <p:nvPr>
            <p:ph type="sldNum" sz="quarter" idx="12"/>
          </p:nvPr>
        </p:nvSpPr>
        <p:spPr/>
        <p:txBody>
          <a:bodyPr/>
          <a:lstStyle/>
          <a:p>
            <a:fld id="{4AD51EEE-AB63-4DA6-9F1F-5936DDA55F0B}" type="slidenum">
              <a:rPr lang="en-US" smtClean="0"/>
              <a:pPr/>
              <a:t>12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58224"/>
    </mc:Choice>
    <mc:Fallback xmlns="">
      <p:transition spd="slow" advTm="58224"/>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895" y="365125"/>
            <a:ext cx="10508567" cy="1325563"/>
          </a:xfrm>
        </p:spPr>
        <p:txBody>
          <a:bodyPr>
            <a:normAutofit fontScale="90000"/>
          </a:bodyPr>
          <a:lstStyle/>
          <a:p>
            <a:r>
              <a:rPr lang="en-US" b="1" dirty="0">
                <a:latin typeface="+mj-lt"/>
              </a:rPr>
              <a:t>FUNCTION DECLARATION/PROTOTYPE (Cont…)</a:t>
            </a:r>
          </a:p>
        </p:txBody>
      </p:sp>
      <p:sp>
        <p:nvSpPr>
          <p:cNvPr id="3" name="Content Placeholder 2"/>
          <p:cNvSpPr>
            <a:spLocks noGrp="1"/>
          </p:cNvSpPr>
          <p:nvPr>
            <p:ph idx="1"/>
          </p:nvPr>
        </p:nvSpPr>
        <p:spPr>
          <a:xfrm>
            <a:off x="337624" y="1825625"/>
            <a:ext cx="10324279" cy="4351338"/>
          </a:xfrm>
        </p:spPr>
        <p:txBody>
          <a:bodyPr>
            <a:normAutofit fontScale="92500" lnSpcReduction="10000"/>
          </a:bodyPr>
          <a:lstStyle/>
          <a:p>
            <a:pPr>
              <a:buNone/>
            </a:pPr>
            <a:r>
              <a:rPr lang="en-US" dirty="0">
                <a:solidFill>
                  <a:schemeClr val="tx1"/>
                </a:solidFill>
                <a:latin typeface="+mn-lt"/>
                <a:hlinkClick r:id="rId3" action="ppaction://hlinksldjump"/>
              </a:rPr>
              <a:t>Example</a:t>
            </a:r>
            <a:r>
              <a:rPr lang="en-US" dirty="0">
                <a:solidFill>
                  <a:schemeClr val="tx1"/>
                </a:solidFill>
                <a:latin typeface="+mn-lt"/>
              </a:rPr>
              <a:t>:</a:t>
            </a:r>
          </a:p>
          <a:p>
            <a:pPr>
              <a:buNone/>
            </a:pPr>
            <a:r>
              <a:rPr lang="en-US" dirty="0" err="1">
                <a:solidFill>
                  <a:schemeClr val="tx1"/>
                </a:solidFill>
                <a:latin typeface="+mn-lt"/>
              </a:rPr>
              <a:t>int</a:t>
            </a:r>
            <a:r>
              <a:rPr lang="en-US" dirty="0">
                <a:solidFill>
                  <a:schemeClr val="tx1"/>
                </a:solidFill>
                <a:latin typeface="+mn-lt"/>
              </a:rPr>
              <a:t> </a:t>
            </a:r>
            <a:r>
              <a:rPr lang="en-US" dirty="0" err="1">
                <a:solidFill>
                  <a:schemeClr val="tx1"/>
                </a:solidFill>
                <a:latin typeface="+mn-lt"/>
              </a:rPr>
              <a:t>addNumbers</a:t>
            </a:r>
            <a:r>
              <a:rPr lang="en-US" dirty="0">
                <a:solidFill>
                  <a:schemeClr val="tx1"/>
                </a:solidFill>
                <a:latin typeface="+mn-lt"/>
              </a:rPr>
              <a:t> (</a:t>
            </a:r>
            <a:r>
              <a:rPr lang="en-US" dirty="0" err="1">
                <a:solidFill>
                  <a:schemeClr val="tx1"/>
                </a:solidFill>
                <a:latin typeface="+mn-lt"/>
              </a:rPr>
              <a:t>int</a:t>
            </a:r>
            <a:r>
              <a:rPr lang="en-US" dirty="0">
                <a:solidFill>
                  <a:schemeClr val="tx1"/>
                </a:solidFill>
                <a:latin typeface="+mn-lt"/>
              </a:rPr>
              <a:t> a, </a:t>
            </a:r>
            <a:r>
              <a:rPr lang="en-US" dirty="0" err="1">
                <a:solidFill>
                  <a:schemeClr val="tx1"/>
                </a:solidFill>
                <a:latin typeface="+mn-lt"/>
              </a:rPr>
              <a:t>int</a:t>
            </a:r>
            <a:r>
              <a:rPr lang="en-US" dirty="0">
                <a:solidFill>
                  <a:schemeClr val="tx1"/>
                </a:solidFill>
                <a:latin typeface="+mn-lt"/>
              </a:rPr>
              <a:t> b); </a:t>
            </a:r>
          </a:p>
          <a:p>
            <a:pPr>
              <a:buNone/>
            </a:pPr>
            <a:endParaRPr lang="en-US" dirty="0">
              <a:solidFill>
                <a:schemeClr val="tx1"/>
              </a:solidFill>
              <a:latin typeface="+mn-lt"/>
            </a:endParaRPr>
          </a:p>
          <a:p>
            <a:pPr>
              <a:buNone/>
            </a:pPr>
            <a:r>
              <a:rPr lang="en-US" b="1" i="1" dirty="0">
                <a:solidFill>
                  <a:schemeClr val="tx1"/>
                </a:solidFill>
                <a:latin typeface="+mn-lt"/>
              </a:rPr>
              <a:t>This the function prototype which provides the following </a:t>
            </a:r>
          </a:p>
          <a:p>
            <a:pPr>
              <a:buNone/>
            </a:pPr>
            <a:r>
              <a:rPr lang="en-US" b="1" i="1" dirty="0">
                <a:solidFill>
                  <a:schemeClr val="tx1"/>
                </a:solidFill>
                <a:latin typeface="+mn-lt"/>
              </a:rPr>
              <a:t>information to the compiler:</a:t>
            </a:r>
          </a:p>
          <a:p>
            <a:pPr>
              <a:buNone/>
            </a:pPr>
            <a:endParaRPr lang="en-US" dirty="0">
              <a:solidFill>
                <a:schemeClr val="tx1"/>
              </a:solidFill>
              <a:latin typeface="+mn-lt"/>
            </a:endParaRPr>
          </a:p>
          <a:p>
            <a:r>
              <a:rPr lang="en-US" b="1" dirty="0">
                <a:solidFill>
                  <a:srgbClr val="FF0000"/>
                </a:solidFill>
                <a:latin typeface="+mn-lt"/>
              </a:rPr>
              <a:t>name of the function</a:t>
            </a:r>
            <a:r>
              <a:rPr lang="en-US" dirty="0">
                <a:solidFill>
                  <a:schemeClr val="tx1"/>
                </a:solidFill>
                <a:latin typeface="+mn-lt"/>
              </a:rPr>
              <a:t> is </a:t>
            </a:r>
            <a:r>
              <a:rPr lang="en-US" dirty="0" err="1">
                <a:solidFill>
                  <a:schemeClr val="tx1"/>
                </a:solidFill>
                <a:latin typeface="+mn-lt"/>
              </a:rPr>
              <a:t>addNumbers</a:t>
            </a:r>
            <a:r>
              <a:rPr lang="en-US" dirty="0">
                <a:solidFill>
                  <a:schemeClr val="tx1"/>
                </a:solidFill>
                <a:latin typeface="+mn-lt"/>
              </a:rPr>
              <a:t>()</a:t>
            </a:r>
          </a:p>
          <a:p>
            <a:r>
              <a:rPr lang="en-US" b="1" dirty="0">
                <a:solidFill>
                  <a:srgbClr val="00B050"/>
                </a:solidFill>
                <a:latin typeface="+mn-lt"/>
              </a:rPr>
              <a:t>return type</a:t>
            </a:r>
            <a:r>
              <a:rPr lang="en-US" dirty="0">
                <a:solidFill>
                  <a:schemeClr val="tx1"/>
                </a:solidFill>
                <a:latin typeface="+mn-lt"/>
              </a:rPr>
              <a:t> of the function is </a:t>
            </a:r>
            <a:r>
              <a:rPr lang="en-US" dirty="0" err="1">
                <a:solidFill>
                  <a:schemeClr val="tx1"/>
                </a:solidFill>
                <a:latin typeface="+mn-lt"/>
              </a:rPr>
              <a:t>int</a:t>
            </a:r>
            <a:endParaRPr lang="en-US" dirty="0">
              <a:solidFill>
                <a:schemeClr val="tx1"/>
              </a:solidFill>
              <a:latin typeface="+mn-lt"/>
            </a:endParaRPr>
          </a:p>
          <a:p>
            <a:r>
              <a:rPr lang="en-US" dirty="0">
                <a:solidFill>
                  <a:schemeClr val="tx1"/>
                </a:solidFill>
                <a:latin typeface="+mn-lt"/>
              </a:rPr>
              <a:t>two </a:t>
            </a:r>
            <a:r>
              <a:rPr lang="en-US" b="1" dirty="0">
                <a:solidFill>
                  <a:srgbClr val="0070C0"/>
                </a:solidFill>
                <a:latin typeface="+mn-lt"/>
              </a:rPr>
              <a:t>arguments </a:t>
            </a:r>
            <a:r>
              <a:rPr lang="en-US" dirty="0">
                <a:solidFill>
                  <a:schemeClr val="tx1"/>
                </a:solidFill>
                <a:latin typeface="+mn-lt"/>
              </a:rPr>
              <a:t>of type </a:t>
            </a:r>
            <a:r>
              <a:rPr lang="en-US" dirty="0" err="1">
                <a:solidFill>
                  <a:schemeClr val="tx1"/>
                </a:solidFill>
                <a:latin typeface="+mn-lt"/>
              </a:rPr>
              <a:t>int</a:t>
            </a:r>
            <a:r>
              <a:rPr lang="en-US" dirty="0">
                <a:solidFill>
                  <a:schemeClr val="tx1"/>
                </a:solidFill>
                <a:latin typeface="+mn-lt"/>
              </a:rPr>
              <a:t> are passed to the function</a:t>
            </a:r>
          </a:p>
          <a:p>
            <a:endParaRPr lang="en-US" dirty="0">
              <a:solidFill>
                <a:schemeClr val="tx1"/>
              </a:solidFill>
              <a:latin typeface="+mn-lt"/>
            </a:endParaRPr>
          </a:p>
          <a:p>
            <a:pPr>
              <a:buNone/>
            </a:pPr>
            <a:r>
              <a:rPr lang="en-US" b="1" dirty="0">
                <a:solidFill>
                  <a:srgbClr val="C00000"/>
                </a:solidFill>
                <a:latin typeface="+mn-lt"/>
              </a:rPr>
              <a:t>NOTE :</a:t>
            </a:r>
            <a:r>
              <a:rPr lang="en-US" dirty="0">
                <a:solidFill>
                  <a:schemeClr val="tx1"/>
                </a:solidFill>
                <a:latin typeface="+mn-lt"/>
              </a:rPr>
              <a:t> The function prototype is </a:t>
            </a:r>
            <a:r>
              <a:rPr lang="en-US" b="1" i="1" dirty="0">
                <a:solidFill>
                  <a:schemeClr val="tx1"/>
                </a:solidFill>
                <a:latin typeface="+mn-lt"/>
              </a:rPr>
              <a:t>not needed</a:t>
            </a:r>
            <a:r>
              <a:rPr lang="en-US" dirty="0">
                <a:solidFill>
                  <a:schemeClr val="tx1"/>
                </a:solidFill>
                <a:latin typeface="+mn-lt"/>
              </a:rPr>
              <a:t>  if the user-defined function is </a:t>
            </a:r>
          </a:p>
          <a:p>
            <a:pPr>
              <a:buNone/>
            </a:pPr>
            <a:r>
              <a:rPr lang="en-US" dirty="0">
                <a:solidFill>
                  <a:schemeClr val="tx1"/>
                </a:solidFill>
                <a:latin typeface="+mn-lt"/>
              </a:rPr>
              <a:t>defined </a:t>
            </a:r>
            <a:r>
              <a:rPr lang="en-US" b="1" i="1" dirty="0">
                <a:solidFill>
                  <a:schemeClr val="tx1"/>
                </a:solidFill>
                <a:latin typeface="+mn-lt"/>
              </a:rPr>
              <a:t>before the main()</a:t>
            </a:r>
            <a:r>
              <a:rPr lang="en-US" dirty="0">
                <a:solidFill>
                  <a:schemeClr val="tx1"/>
                </a:solidFill>
                <a:latin typeface="+mn-lt"/>
              </a:rPr>
              <a:t>  function.</a:t>
            </a:r>
          </a:p>
          <a:p>
            <a:pPr>
              <a:buNone/>
            </a:pPr>
            <a:endParaRPr lang="en-US" dirty="0"/>
          </a:p>
        </p:txBody>
      </p:sp>
      <p:sp>
        <p:nvSpPr>
          <p:cNvPr id="5" name="Slide Number Placeholder 4"/>
          <p:cNvSpPr>
            <a:spLocks noGrp="1"/>
          </p:cNvSpPr>
          <p:nvPr>
            <p:ph type="sldNum" sz="quarter" idx="12"/>
          </p:nvPr>
        </p:nvSpPr>
        <p:spPr/>
        <p:txBody>
          <a:bodyPr/>
          <a:lstStyle/>
          <a:p>
            <a:fld id="{4AD51EEE-AB63-4DA6-9F1F-5936DDA55F0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895" y="365125"/>
            <a:ext cx="10508567" cy="1325563"/>
          </a:xfrm>
        </p:spPr>
        <p:txBody>
          <a:bodyPr>
            <a:normAutofit fontScale="90000"/>
          </a:bodyPr>
          <a:lstStyle/>
          <a:p>
            <a:r>
              <a:rPr lang="en-US" b="1" dirty="0">
                <a:latin typeface="+mj-lt"/>
              </a:rPr>
              <a:t>FUNCTION DECLARATION/PROTOTYPE (Cont…)</a:t>
            </a:r>
          </a:p>
        </p:txBody>
      </p:sp>
      <p:sp>
        <p:nvSpPr>
          <p:cNvPr id="3" name="Content Placeholder 2"/>
          <p:cNvSpPr>
            <a:spLocks noGrp="1"/>
          </p:cNvSpPr>
          <p:nvPr>
            <p:ph idx="1"/>
          </p:nvPr>
        </p:nvSpPr>
        <p:spPr>
          <a:xfrm>
            <a:off x="337624" y="1825625"/>
            <a:ext cx="10324279" cy="4351338"/>
          </a:xfrm>
        </p:spPr>
        <p:txBody>
          <a:bodyPr>
            <a:normAutofit lnSpcReduction="10000"/>
          </a:bodyPr>
          <a:lstStyle/>
          <a:p>
            <a:pPr marL="171450" indent="-38100">
              <a:spcBef>
                <a:spcPct val="0"/>
              </a:spcBef>
              <a:buClr>
                <a:srgbClr val="000000"/>
              </a:buClr>
              <a:buSzPts val="2800"/>
              <a:buNone/>
            </a:pPr>
            <a:r>
              <a:rPr lang="en-US" b="1" dirty="0">
                <a:solidFill>
                  <a:schemeClr val="tx1">
                    <a:lumMod val="95000"/>
                    <a:lumOff val="5000"/>
                  </a:schemeClr>
                </a:solidFill>
                <a:latin typeface="+mn-lt"/>
              </a:rPr>
              <a:t>EXAMPLES :</a:t>
            </a:r>
          </a:p>
          <a:p>
            <a:pPr marL="171450" indent="-38100">
              <a:spcBef>
                <a:spcPct val="0"/>
              </a:spcBef>
              <a:buClr>
                <a:srgbClr val="000000"/>
              </a:buClr>
              <a:buSzPts val="2800"/>
              <a:buNone/>
            </a:pPr>
            <a:endParaRPr lang="en-US" dirty="0">
              <a:solidFill>
                <a:schemeClr val="tx1">
                  <a:lumMod val="95000"/>
                  <a:lumOff val="5000"/>
                </a:schemeClr>
              </a:solidFill>
              <a:latin typeface="+mn-lt"/>
            </a:endParaRPr>
          </a:p>
          <a:p>
            <a:pPr marL="171450" indent="-38100">
              <a:spcBef>
                <a:spcPct val="0"/>
              </a:spcBef>
              <a:buClr>
                <a:srgbClr val="000000"/>
              </a:buClr>
              <a:buSzPts val="2800"/>
              <a:buNone/>
            </a:pPr>
            <a:r>
              <a:rPr lang="en-US" dirty="0">
                <a:solidFill>
                  <a:schemeClr val="tx1">
                    <a:lumMod val="95000"/>
                    <a:lumOff val="5000"/>
                  </a:schemeClr>
                </a:solidFill>
                <a:latin typeface="+mn-lt"/>
              </a:rPr>
              <a:t>float  </a:t>
            </a:r>
            <a:r>
              <a:rPr lang="en-US" dirty="0" err="1">
                <a:solidFill>
                  <a:schemeClr val="tx1">
                    <a:lumMod val="95000"/>
                    <a:lumOff val="5000"/>
                  </a:schemeClr>
                </a:solidFill>
                <a:latin typeface="+mn-lt"/>
              </a:rPr>
              <a:t>area_rectangle</a:t>
            </a:r>
            <a:r>
              <a:rPr lang="en-US" dirty="0">
                <a:solidFill>
                  <a:schemeClr val="tx1">
                    <a:lumMod val="95000"/>
                    <a:lumOff val="5000"/>
                  </a:schemeClr>
                </a:solidFill>
                <a:latin typeface="+mn-lt"/>
              </a:rPr>
              <a:t>(</a:t>
            </a: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a, </a:t>
            </a: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b);</a:t>
            </a:r>
          </a:p>
          <a:p>
            <a:pPr marL="171450" indent="-38100">
              <a:spcBef>
                <a:spcPct val="0"/>
              </a:spcBef>
              <a:buClr>
                <a:srgbClr val="000000"/>
              </a:buClr>
              <a:buSzPts val="2800"/>
              <a:buNone/>
            </a:pPr>
            <a:endParaRPr lang="en-US" dirty="0">
              <a:solidFill>
                <a:schemeClr val="tx1">
                  <a:lumMod val="95000"/>
                  <a:lumOff val="5000"/>
                </a:schemeClr>
              </a:solidFill>
              <a:latin typeface="+mn-lt"/>
            </a:endParaRPr>
          </a:p>
          <a:p>
            <a:pPr marL="171450" indent="-38100">
              <a:spcBef>
                <a:spcPct val="0"/>
              </a:spcBef>
              <a:buClr>
                <a:srgbClr val="000000"/>
              </a:buClr>
              <a:buSzPts val="2800"/>
              <a:buNone/>
            </a:pP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diff(</a:t>
            </a: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a, </a:t>
            </a: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b, float c);</a:t>
            </a:r>
          </a:p>
          <a:p>
            <a:pPr marL="171450" indent="-38100">
              <a:spcBef>
                <a:spcPct val="0"/>
              </a:spcBef>
              <a:buClr>
                <a:srgbClr val="000000"/>
              </a:buClr>
              <a:buSzPts val="2800"/>
              <a:buNone/>
            </a:pPr>
            <a:endParaRPr lang="en-US" dirty="0">
              <a:solidFill>
                <a:schemeClr val="tx1">
                  <a:lumMod val="95000"/>
                  <a:lumOff val="5000"/>
                </a:schemeClr>
              </a:solidFill>
              <a:latin typeface="+mn-lt"/>
            </a:endParaRPr>
          </a:p>
          <a:p>
            <a:pPr marL="171450" indent="-38100">
              <a:spcBef>
                <a:spcPct val="0"/>
              </a:spcBef>
              <a:buClr>
                <a:srgbClr val="000000"/>
              </a:buClr>
              <a:buSzPts val="2800"/>
              <a:buNone/>
            </a:pP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equal(char a, char b) ;</a:t>
            </a:r>
          </a:p>
          <a:p>
            <a:pPr marL="171450" indent="-38100">
              <a:spcBef>
                <a:spcPct val="0"/>
              </a:spcBef>
              <a:buClr>
                <a:srgbClr val="000000"/>
              </a:buClr>
              <a:buSzPts val="2800"/>
              <a:buNone/>
            </a:pPr>
            <a:endParaRPr lang="en-US" dirty="0">
              <a:solidFill>
                <a:schemeClr val="tx1">
                  <a:lumMod val="95000"/>
                  <a:lumOff val="5000"/>
                </a:schemeClr>
              </a:solidFill>
              <a:latin typeface="+mn-lt"/>
            </a:endParaRPr>
          </a:p>
          <a:p>
            <a:pPr marL="171450" indent="-38100">
              <a:spcBef>
                <a:spcPct val="0"/>
              </a:spcBef>
              <a:buClr>
                <a:srgbClr val="000000"/>
              </a:buClr>
              <a:buSzPts val="2800"/>
              <a:buNone/>
            </a:pP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sum(</a:t>
            </a: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*a, </a:t>
            </a: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b);</a:t>
            </a:r>
          </a:p>
          <a:p>
            <a:pPr marL="171450" indent="-38100">
              <a:spcBef>
                <a:spcPct val="0"/>
              </a:spcBef>
              <a:buClr>
                <a:srgbClr val="000000"/>
              </a:buClr>
              <a:buSzPts val="2800"/>
              <a:buNone/>
            </a:pPr>
            <a:endParaRPr lang="en-US" dirty="0">
              <a:solidFill>
                <a:schemeClr val="tx1">
                  <a:lumMod val="95000"/>
                  <a:lumOff val="5000"/>
                </a:schemeClr>
              </a:solidFill>
              <a:latin typeface="+mn-lt"/>
            </a:endParaRPr>
          </a:p>
          <a:p>
            <a:pPr marL="171450" indent="-38100">
              <a:spcBef>
                <a:spcPct val="0"/>
              </a:spcBef>
              <a:buClr>
                <a:srgbClr val="000000"/>
              </a:buClr>
              <a:buSzPts val="2800"/>
              <a:buNone/>
            </a:pP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diff(</a:t>
            </a: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a[], </a:t>
            </a: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b);</a:t>
            </a:r>
          </a:p>
          <a:p>
            <a:pPr marL="171450" indent="-38100">
              <a:spcBef>
                <a:spcPct val="0"/>
              </a:spcBef>
              <a:buClr>
                <a:srgbClr val="000000"/>
              </a:buClr>
              <a:buSzPts val="2800"/>
              <a:buNone/>
            </a:pPr>
            <a:endParaRPr lang="en-US" dirty="0">
              <a:solidFill>
                <a:schemeClr val="tx1">
                  <a:lumMod val="95000"/>
                  <a:lumOff val="5000"/>
                </a:schemeClr>
              </a:solidFill>
              <a:latin typeface="+mn-lt"/>
            </a:endParaRPr>
          </a:p>
          <a:p>
            <a:pPr marL="171450" indent="-38100">
              <a:spcBef>
                <a:spcPct val="0"/>
              </a:spcBef>
              <a:buClr>
                <a:srgbClr val="000000"/>
              </a:buClr>
              <a:buSzPts val="2800"/>
              <a:buNone/>
            </a:pPr>
            <a:r>
              <a:rPr lang="en-US" dirty="0" err="1">
                <a:solidFill>
                  <a:schemeClr val="tx1">
                    <a:lumMod val="95000"/>
                    <a:lumOff val="5000"/>
                  </a:schemeClr>
                </a:solidFill>
                <a:latin typeface="+mn-lt"/>
              </a:rPr>
              <a:t>int</a:t>
            </a:r>
            <a:r>
              <a:rPr lang="en-US" dirty="0">
                <a:solidFill>
                  <a:schemeClr val="tx1">
                    <a:lumMod val="95000"/>
                    <a:lumOff val="5000"/>
                  </a:schemeClr>
                </a:solidFill>
                <a:latin typeface="+mn-lt"/>
              </a:rPr>
              <a:t> equal(float *a, char b);</a:t>
            </a:r>
          </a:p>
          <a:p>
            <a:pPr marL="171450" indent="-38100">
              <a:spcBef>
                <a:spcPct val="0"/>
              </a:spcBef>
              <a:buClr>
                <a:srgbClr val="000000"/>
              </a:buClr>
              <a:buSzPts val="2800"/>
              <a:buNone/>
            </a:pPr>
            <a:endParaRPr lang="en-US" dirty="0">
              <a:solidFill>
                <a:schemeClr val="tx1">
                  <a:lumMod val="95000"/>
                  <a:lumOff val="5000"/>
                </a:schemeClr>
              </a:solidFill>
              <a:latin typeface="+mn-lt"/>
            </a:endParaRPr>
          </a:p>
          <a:p>
            <a:pPr marL="171450" indent="-38100">
              <a:spcBef>
                <a:spcPct val="0"/>
              </a:spcBef>
              <a:buClr>
                <a:srgbClr val="000000"/>
              </a:buClr>
              <a:buSzPts val="2800"/>
              <a:buNone/>
            </a:pPr>
            <a:endParaRPr lang="en-US" dirty="0">
              <a:solidFill>
                <a:schemeClr val="tx1">
                  <a:lumMod val="95000"/>
                  <a:lumOff val="5000"/>
                </a:schemeClr>
              </a:solidFill>
              <a:latin typeface="+mn-lt"/>
            </a:endParaRPr>
          </a:p>
          <a:p>
            <a:pPr>
              <a:buNone/>
            </a:pPr>
            <a:endParaRPr lang="en-US" dirty="0">
              <a:solidFill>
                <a:schemeClr val="tx1">
                  <a:lumMod val="95000"/>
                  <a:lumOff val="5000"/>
                </a:schemeClr>
              </a:solidFill>
              <a:latin typeface="+mn-lt"/>
            </a:endParaRPr>
          </a:p>
        </p:txBody>
      </p:sp>
      <p:sp>
        <p:nvSpPr>
          <p:cNvPr id="5" name="Slide Number Placeholder 4"/>
          <p:cNvSpPr>
            <a:spLocks noGrp="1"/>
          </p:cNvSpPr>
          <p:nvPr>
            <p:ph type="sldNum" sz="quarter" idx="12"/>
          </p:nvPr>
        </p:nvSpPr>
        <p:spPr/>
        <p:txBody>
          <a:bodyPr/>
          <a:lstStyle/>
          <a:p>
            <a:fld id="{4AD51EEE-AB63-4DA6-9F1F-5936DDA55F0B}" type="slidenum">
              <a:rPr lang="en-US" smtClean="0"/>
              <a:pPr/>
              <a:t>14</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105683"/>
    </mc:Choice>
    <mc:Fallback xmlns="">
      <p:transition spd="slow" advTm="105683"/>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j-lt"/>
              </a:rPr>
              <a:t>FUNCTION CALL</a:t>
            </a:r>
          </a:p>
        </p:txBody>
      </p:sp>
      <p:sp>
        <p:nvSpPr>
          <p:cNvPr id="3" name="Content Placeholder 2"/>
          <p:cNvSpPr>
            <a:spLocks noGrp="1"/>
          </p:cNvSpPr>
          <p:nvPr>
            <p:ph idx="1"/>
          </p:nvPr>
        </p:nvSpPr>
        <p:spPr/>
        <p:txBody>
          <a:bodyPr>
            <a:normAutofit/>
          </a:bodyPr>
          <a:lstStyle/>
          <a:p>
            <a:r>
              <a:rPr lang="en-US" dirty="0">
                <a:solidFill>
                  <a:schemeClr val="tx1"/>
                </a:solidFill>
                <a:latin typeface="+mn-lt"/>
              </a:rPr>
              <a:t>Control of the program is transferred to the user-defined </a:t>
            </a:r>
          </a:p>
          <a:p>
            <a:pPr>
              <a:buNone/>
            </a:pPr>
            <a:r>
              <a:rPr lang="en-US" dirty="0">
                <a:solidFill>
                  <a:schemeClr val="tx1"/>
                </a:solidFill>
                <a:latin typeface="+mn-lt"/>
              </a:rPr>
              <a:t>   function by calling it.</a:t>
            </a:r>
          </a:p>
          <a:p>
            <a:pPr>
              <a:buNone/>
            </a:pPr>
            <a:endParaRPr lang="en-US" dirty="0">
              <a:solidFill>
                <a:schemeClr val="tx1"/>
              </a:solidFill>
              <a:latin typeface="+mn-lt"/>
            </a:endParaRPr>
          </a:p>
          <a:p>
            <a:pPr>
              <a:buNone/>
            </a:pPr>
            <a:r>
              <a:rPr lang="en-US" b="1" dirty="0">
                <a:solidFill>
                  <a:schemeClr val="tx1"/>
                </a:solidFill>
                <a:latin typeface="+mn-lt"/>
              </a:rPr>
              <a:t>Syntax of function call</a:t>
            </a:r>
          </a:p>
          <a:p>
            <a:pPr>
              <a:buNone/>
            </a:pPr>
            <a:r>
              <a:rPr lang="en-US" b="1" dirty="0" err="1">
                <a:solidFill>
                  <a:srgbClr val="FF0000"/>
                </a:solidFill>
                <a:latin typeface="+mn-lt"/>
              </a:rPr>
              <a:t>functionName</a:t>
            </a:r>
            <a:r>
              <a:rPr lang="en-US" b="1" dirty="0">
                <a:solidFill>
                  <a:srgbClr val="FF0000"/>
                </a:solidFill>
                <a:latin typeface="+mn-lt"/>
              </a:rPr>
              <a:t> </a:t>
            </a:r>
            <a:r>
              <a:rPr lang="en-US" b="1" dirty="0">
                <a:solidFill>
                  <a:srgbClr val="FFC000"/>
                </a:solidFill>
                <a:latin typeface="+mn-lt"/>
              </a:rPr>
              <a:t>(argument1, argument2, ...);</a:t>
            </a:r>
            <a:r>
              <a:rPr lang="en-US" dirty="0">
                <a:solidFill>
                  <a:schemeClr val="tx1"/>
                </a:solidFill>
                <a:latin typeface="+mn-lt"/>
              </a:rPr>
              <a:t> </a:t>
            </a:r>
          </a:p>
          <a:p>
            <a:pPr>
              <a:buNone/>
            </a:pPr>
            <a:endParaRPr lang="en-US" b="1" dirty="0">
              <a:solidFill>
                <a:schemeClr val="tx1"/>
              </a:solidFill>
              <a:latin typeface="+mn-lt"/>
              <a:hlinkClick r:id="" action="ppaction://noaction"/>
            </a:endParaRPr>
          </a:p>
          <a:p>
            <a:pPr>
              <a:buNone/>
            </a:pPr>
            <a:r>
              <a:rPr lang="en-US" b="1" dirty="0">
                <a:solidFill>
                  <a:schemeClr val="tx1"/>
                </a:solidFill>
                <a:latin typeface="+mn-lt"/>
                <a:hlinkClick r:id="" action="ppaction://noaction"/>
              </a:rPr>
              <a:t>Example 1</a:t>
            </a:r>
            <a:r>
              <a:rPr lang="en-US" b="1" dirty="0">
                <a:solidFill>
                  <a:schemeClr val="tx1"/>
                </a:solidFill>
                <a:latin typeface="+mn-lt"/>
              </a:rPr>
              <a:t>:</a:t>
            </a:r>
          </a:p>
          <a:p>
            <a:pPr>
              <a:buNone/>
            </a:pPr>
            <a:endParaRPr lang="en-US" b="1" dirty="0">
              <a:solidFill>
                <a:schemeClr val="tx1"/>
              </a:solidFill>
              <a:latin typeface="+mn-lt"/>
            </a:endParaRPr>
          </a:p>
          <a:p>
            <a:pPr>
              <a:buNone/>
            </a:pPr>
            <a:r>
              <a:rPr lang="en-US" dirty="0">
                <a:solidFill>
                  <a:schemeClr val="tx1"/>
                </a:solidFill>
                <a:latin typeface="+mn-lt"/>
              </a:rPr>
              <a:t> </a:t>
            </a:r>
            <a:r>
              <a:rPr lang="en-US" dirty="0" err="1">
                <a:solidFill>
                  <a:schemeClr val="tx1"/>
                </a:solidFill>
                <a:latin typeface="+mn-lt"/>
              </a:rPr>
              <a:t>addNumbers</a:t>
            </a:r>
            <a:r>
              <a:rPr lang="en-US" dirty="0">
                <a:solidFill>
                  <a:schemeClr val="tx1"/>
                </a:solidFill>
                <a:latin typeface="+mn-lt"/>
              </a:rPr>
              <a:t>(n1, n2); </a:t>
            </a:r>
          </a:p>
          <a:p>
            <a:pPr>
              <a:buNone/>
            </a:pPr>
            <a:endParaRPr lang="en-US" dirty="0">
              <a:solidFill>
                <a:schemeClr val="tx1"/>
              </a:solidFill>
              <a:latin typeface="+mn-lt"/>
            </a:endParaRPr>
          </a:p>
          <a:p>
            <a:pPr>
              <a:buNone/>
            </a:pPr>
            <a:r>
              <a:rPr lang="en-US" b="1" dirty="0">
                <a:solidFill>
                  <a:srgbClr val="FF0000"/>
                </a:solidFill>
                <a:latin typeface="+mn-lt"/>
              </a:rPr>
              <a:t>n1</a:t>
            </a:r>
            <a:r>
              <a:rPr lang="en-US" dirty="0">
                <a:solidFill>
                  <a:schemeClr val="tx1"/>
                </a:solidFill>
                <a:latin typeface="+mn-lt"/>
              </a:rPr>
              <a:t> and </a:t>
            </a:r>
            <a:r>
              <a:rPr lang="en-US" b="1" dirty="0">
                <a:solidFill>
                  <a:srgbClr val="FF0000"/>
                </a:solidFill>
                <a:latin typeface="+mn-lt"/>
              </a:rPr>
              <a:t>n2</a:t>
            </a:r>
            <a:r>
              <a:rPr lang="en-US" dirty="0">
                <a:solidFill>
                  <a:schemeClr val="tx1"/>
                </a:solidFill>
                <a:latin typeface="+mn-lt"/>
              </a:rPr>
              <a:t> are the </a:t>
            </a:r>
            <a:r>
              <a:rPr lang="en-US" b="1" i="1" dirty="0">
                <a:solidFill>
                  <a:srgbClr val="C00000"/>
                </a:solidFill>
                <a:latin typeface="+mn-lt"/>
              </a:rPr>
              <a:t>inputs/arguments</a:t>
            </a:r>
            <a:r>
              <a:rPr lang="en-US" dirty="0">
                <a:solidFill>
                  <a:schemeClr val="tx1"/>
                </a:solidFill>
                <a:latin typeface="+mn-lt"/>
              </a:rPr>
              <a:t> to the function.</a:t>
            </a:r>
          </a:p>
          <a:p>
            <a:pPr>
              <a:buNone/>
            </a:pPr>
            <a:endParaRPr lang="en-US" dirty="0">
              <a:solidFill>
                <a:schemeClr val="tx1"/>
              </a:solidFill>
              <a:latin typeface="+mn-lt"/>
            </a:endParaRPr>
          </a:p>
        </p:txBody>
      </p:sp>
      <p:sp>
        <p:nvSpPr>
          <p:cNvPr id="5" name="Slide Number Placeholder 4"/>
          <p:cNvSpPr>
            <a:spLocks noGrp="1"/>
          </p:cNvSpPr>
          <p:nvPr>
            <p:ph type="sldNum" sz="quarter" idx="12"/>
          </p:nvPr>
        </p:nvSpPr>
        <p:spPr/>
        <p:txBody>
          <a:bodyPr/>
          <a:lstStyle/>
          <a:p>
            <a:fld id="{4AD51EEE-AB63-4DA6-9F1F-5936DDA55F0B}" type="slidenum">
              <a:rPr lang="en-US" smtClean="0"/>
              <a:pPr/>
              <a:t>15</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60499"/>
    </mc:Choice>
    <mc:Fallback xmlns="">
      <p:transition spd="slow" advTm="60499"/>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j-lt"/>
              </a:rPr>
              <a:t>FUNCTION CALL ( Cont…)</a:t>
            </a:r>
          </a:p>
        </p:txBody>
      </p:sp>
      <p:sp>
        <p:nvSpPr>
          <p:cNvPr id="7" name="Text Placeholder 6"/>
          <p:cNvSpPr>
            <a:spLocks noGrp="1"/>
          </p:cNvSpPr>
          <p:nvPr>
            <p:ph type="body" idx="1"/>
          </p:nvPr>
        </p:nvSpPr>
        <p:spPr>
          <a:xfrm>
            <a:off x="839788" y="1378634"/>
            <a:ext cx="3521197" cy="675249"/>
          </a:xfrm>
        </p:spPr>
        <p:txBody>
          <a:bodyPr>
            <a:normAutofit/>
          </a:bodyPr>
          <a:lstStyle/>
          <a:p>
            <a:r>
              <a:rPr lang="en-US" dirty="0">
                <a:solidFill>
                  <a:schemeClr val="tx1"/>
                </a:solidFill>
                <a:latin typeface="+mn-lt"/>
              </a:rPr>
              <a:t>EXAMPLE  2:</a:t>
            </a:r>
          </a:p>
        </p:txBody>
      </p:sp>
      <p:pic>
        <p:nvPicPr>
          <p:cNvPr id="5" name="Shape 303"/>
          <p:cNvPicPr preferRelativeResize="0">
            <a:picLocks noGrp="1" noChangeAspect="1" noChangeArrowheads="1"/>
          </p:cNvPicPr>
          <p:nvPr>
            <p:ph sz="half" idx="2"/>
          </p:nvPr>
        </p:nvPicPr>
        <p:blipFill>
          <a:blip r:embed="rId3"/>
          <a:stretch>
            <a:fillRect/>
          </a:stretch>
        </p:blipFill>
        <p:spPr bwMode="auto">
          <a:xfrm>
            <a:off x="914400" y="2067951"/>
            <a:ext cx="3493855" cy="4032897"/>
          </a:xfrm>
          <a:prstGeom prst="rect">
            <a:avLst/>
          </a:prstGeom>
          <a:noFill/>
          <a:ln w="9525">
            <a:noFill/>
            <a:miter lim="800000"/>
            <a:headEnd/>
            <a:tailEnd/>
          </a:ln>
        </p:spPr>
      </p:pic>
      <p:sp>
        <p:nvSpPr>
          <p:cNvPr id="8" name="Content Placeholder 7"/>
          <p:cNvSpPr>
            <a:spLocks noGrp="1"/>
          </p:cNvSpPr>
          <p:nvPr>
            <p:ph sz="quarter" idx="4"/>
          </p:nvPr>
        </p:nvSpPr>
        <p:spPr>
          <a:xfrm>
            <a:off x="4740812" y="1547446"/>
            <a:ext cx="6175717" cy="4642217"/>
          </a:xfrm>
        </p:spPr>
        <p:txBody>
          <a:bodyPr>
            <a:normAutofit/>
          </a:bodyPr>
          <a:lstStyle/>
          <a:p>
            <a:r>
              <a:rPr lang="en-US" dirty="0">
                <a:solidFill>
                  <a:schemeClr val="tx1"/>
                </a:solidFill>
                <a:latin typeface="+mn-lt"/>
              </a:rPr>
              <a:t>Function that calls another function is known as </a:t>
            </a:r>
            <a:r>
              <a:rPr lang="en-US" b="1" dirty="0">
                <a:solidFill>
                  <a:schemeClr val="tx1"/>
                </a:solidFill>
                <a:latin typeface="+mn-lt"/>
              </a:rPr>
              <a:t>“</a:t>
            </a:r>
            <a:r>
              <a:rPr lang="en-US" b="1" i="1" dirty="0">
                <a:solidFill>
                  <a:schemeClr val="accent1">
                    <a:lumMod val="50000"/>
                  </a:schemeClr>
                </a:solidFill>
                <a:latin typeface="+mn-lt"/>
              </a:rPr>
              <a:t>calling function</a:t>
            </a:r>
            <a:r>
              <a:rPr lang="en-US" b="1" i="1" dirty="0">
                <a:solidFill>
                  <a:schemeClr val="tx1"/>
                </a:solidFill>
                <a:latin typeface="+mn-lt"/>
              </a:rPr>
              <a:t>”</a:t>
            </a:r>
          </a:p>
          <a:p>
            <a:r>
              <a:rPr lang="en-US" dirty="0">
                <a:solidFill>
                  <a:schemeClr val="tx1"/>
                </a:solidFill>
                <a:latin typeface="+mn-lt"/>
              </a:rPr>
              <a:t>Function that is being called is known as </a:t>
            </a:r>
            <a:r>
              <a:rPr lang="en-US" b="1" dirty="0">
                <a:solidFill>
                  <a:schemeClr val="tx1"/>
                </a:solidFill>
                <a:latin typeface="+mn-lt"/>
              </a:rPr>
              <a:t>“</a:t>
            </a:r>
            <a:r>
              <a:rPr lang="en-US" b="1" i="1" dirty="0">
                <a:solidFill>
                  <a:srgbClr val="FF0000"/>
                </a:solidFill>
                <a:latin typeface="+mn-lt"/>
              </a:rPr>
              <a:t>called function</a:t>
            </a:r>
            <a:r>
              <a:rPr lang="en-US" b="1" i="1" dirty="0">
                <a:solidFill>
                  <a:schemeClr val="tx1"/>
                </a:solidFill>
                <a:latin typeface="+mn-lt"/>
              </a:rPr>
              <a:t>”  </a:t>
            </a:r>
            <a:r>
              <a:rPr lang="en-US" b="1" i="1" dirty="0">
                <a:solidFill>
                  <a:srgbClr val="FF0000"/>
                </a:solidFill>
                <a:latin typeface="+mn-lt"/>
              </a:rPr>
              <a:t>  </a:t>
            </a:r>
          </a:p>
          <a:p>
            <a:pPr>
              <a:buNone/>
            </a:pPr>
            <a:endParaRPr lang="en-US" dirty="0">
              <a:solidFill>
                <a:schemeClr val="tx1"/>
              </a:solidFill>
              <a:latin typeface="+mn-lt"/>
            </a:endParaRPr>
          </a:p>
          <a:p>
            <a:pPr>
              <a:buNone/>
            </a:pPr>
            <a:r>
              <a:rPr lang="en-US" b="1" i="1" dirty="0">
                <a:solidFill>
                  <a:schemeClr val="tx1"/>
                </a:solidFill>
                <a:latin typeface="+mn-lt"/>
              </a:rPr>
              <a:t>In example :</a:t>
            </a:r>
          </a:p>
          <a:p>
            <a:pPr>
              <a:buNone/>
            </a:pPr>
            <a:endParaRPr lang="en-US" dirty="0">
              <a:solidFill>
                <a:schemeClr val="tx1"/>
              </a:solidFill>
              <a:latin typeface="+mn-lt"/>
            </a:endParaRPr>
          </a:p>
          <a:p>
            <a:pPr>
              <a:buNone/>
            </a:pPr>
            <a:r>
              <a:rPr lang="en-US" b="1" dirty="0">
                <a:solidFill>
                  <a:schemeClr val="accent1">
                    <a:lumMod val="50000"/>
                  </a:schemeClr>
                </a:solidFill>
                <a:latin typeface="+mn-lt"/>
              </a:rPr>
              <a:t>Calling function :</a:t>
            </a:r>
            <a:r>
              <a:rPr lang="en-US" dirty="0">
                <a:solidFill>
                  <a:schemeClr val="tx1"/>
                </a:solidFill>
                <a:latin typeface="+mn-lt"/>
              </a:rPr>
              <a:t>   main()</a:t>
            </a:r>
          </a:p>
          <a:p>
            <a:pPr>
              <a:buNone/>
            </a:pPr>
            <a:r>
              <a:rPr lang="en-US" b="1" dirty="0">
                <a:solidFill>
                  <a:srgbClr val="FF0000"/>
                </a:solidFill>
                <a:latin typeface="+mn-lt"/>
              </a:rPr>
              <a:t>Called function  :</a:t>
            </a:r>
            <a:r>
              <a:rPr lang="en-US" dirty="0">
                <a:solidFill>
                  <a:schemeClr val="tx1"/>
                </a:solidFill>
                <a:latin typeface="+mn-lt"/>
              </a:rPr>
              <a:t>  </a:t>
            </a:r>
            <a:r>
              <a:rPr lang="en-US" dirty="0" err="1">
                <a:solidFill>
                  <a:schemeClr val="tx1"/>
                </a:solidFill>
                <a:latin typeface="+mn-lt"/>
              </a:rPr>
              <a:t>int</a:t>
            </a:r>
            <a:r>
              <a:rPr lang="en-US" dirty="0">
                <a:solidFill>
                  <a:schemeClr val="tx1"/>
                </a:solidFill>
                <a:latin typeface="+mn-lt"/>
              </a:rPr>
              <a:t> square(</a:t>
            </a:r>
            <a:r>
              <a:rPr lang="en-US" dirty="0" err="1">
                <a:solidFill>
                  <a:schemeClr val="tx1"/>
                </a:solidFill>
                <a:latin typeface="+mn-lt"/>
              </a:rPr>
              <a:t>int</a:t>
            </a:r>
            <a:r>
              <a:rPr lang="en-US" dirty="0">
                <a:solidFill>
                  <a:schemeClr val="tx1"/>
                </a:solidFill>
                <a:latin typeface="+mn-lt"/>
              </a:rPr>
              <a:t> n1)</a:t>
            </a:r>
          </a:p>
        </p:txBody>
      </p:sp>
      <p:sp>
        <p:nvSpPr>
          <p:cNvPr id="9" name="Slide Number Placeholder 8"/>
          <p:cNvSpPr>
            <a:spLocks noGrp="1"/>
          </p:cNvSpPr>
          <p:nvPr>
            <p:ph type="sldNum" sz="quarter" idx="12"/>
          </p:nvPr>
        </p:nvSpPr>
        <p:spPr/>
        <p:txBody>
          <a:bodyPr/>
          <a:lstStyle/>
          <a:p>
            <a:fld id="{4AD51EEE-AB63-4DA6-9F1F-5936DDA55F0B}" type="slidenum">
              <a:rPr lang="en-US" smtClean="0"/>
              <a:pPr/>
              <a:t>16</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29210"/>
    </mc:Choice>
    <mc:Fallback xmlns="">
      <p:transition spd="slow" advTm="29210"/>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j-lt"/>
              </a:rPr>
              <a:t>FUNCTION DEFINITION</a:t>
            </a:r>
          </a:p>
        </p:txBody>
      </p:sp>
      <p:sp>
        <p:nvSpPr>
          <p:cNvPr id="3" name="Content Placeholder 2"/>
          <p:cNvSpPr>
            <a:spLocks noGrp="1"/>
          </p:cNvSpPr>
          <p:nvPr>
            <p:ph idx="1"/>
          </p:nvPr>
        </p:nvSpPr>
        <p:spPr/>
        <p:txBody>
          <a:bodyPr>
            <a:normAutofit/>
          </a:bodyPr>
          <a:lstStyle/>
          <a:p>
            <a:endParaRPr lang="en-US" dirty="0">
              <a:solidFill>
                <a:schemeClr val="tx1"/>
              </a:solidFill>
              <a:latin typeface="+mn-lt"/>
            </a:endParaRPr>
          </a:p>
          <a:p>
            <a:r>
              <a:rPr lang="en-US" dirty="0">
                <a:solidFill>
                  <a:schemeClr val="tx1"/>
                </a:solidFill>
                <a:latin typeface="+mn-lt"/>
              </a:rPr>
              <a:t>Function definition contains the </a:t>
            </a:r>
            <a:r>
              <a:rPr lang="en-US" b="1" i="1" dirty="0">
                <a:solidFill>
                  <a:srgbClr val="FF0000"/>
                </a:solidFill>
                <a:latin typeface="+mn-lt"/>
              </a:rPr>
              <a:t>block of code to perform a specific task</a:t>
            </a:r>
            <a:r>
              <a:rPr lang="en-US" dirty="0">
                <a:solidFill>
                  <a:schemeClr val="tx1"/>
                </a:solidFill>
                <a:latin typeface="+mn-lt"/>
              </a:rPr>
              <a:t>. </a:t>
            </a:r>
          </a:p>
          <a:p>
            <a:pPr>
              <a:buNone/>
            </a:pPr>
            <a:endParaRPr lang="en-US" dirty="0">
              <a:solidFill>
                <a:schemeClr val="tx1"/>
              </a:solidFill>
              <a:latin typeface="+mn-lt"/>
            </a:endParaRPr>
          </a:p>
          <a:p>
            <a:r>
              <a:rPr lang="en-US" dirty="0">
                <a:solidFill>
                  <a:schemeClr val="tx1"/>
                </a:solidFill>
                <a:latin typeface="+mn-lt"/>
              </a:rPr>
              <a:t>When a </a:t>
            </a:r>
            <a:r>
              <a:rPr lang="en-US" b="1" dirty="0">
                <a:solidFill>
                  <a:schemeClr val="tx1"/>
                </a:solidFill>
                <a:latin typeface="+mn-lt"/>
              </a:rPr>
              <a:t>function </a:t>
            </a:r>
            <a:r>
              <a:rPr lang="en-US" dirty="0">
                <a:solidFill>
                  <a:schemeClr val="tx1"/>
                </a:solidFill>
                <a:latin typeface="+mn-lt"/>
              </a:rPr>
              <a:t>is</a:t>
            </a:r>
            <a:r>
              <a:rPr lang="en-US" b="1" i="1" dirty="0">
                <a:solidFill>
                  <a:srgbClr val="0070C0"/>
                </a:solidFill>
                <a:latin typeface="+mn-lt"/>
              </a:rPr>
              <a:t> called</a:t>
            </a:r>
            <a:r>
              <a:rPr lang="en-US" dirty="0">
                <a:solidFill>
                  <a:schemeClr val="tx1"/>
                </a:solidFill>
                <a:latin typeface="+mn-lt"/>
              </a:rPr>
              <a:t>, the </a:t>
            </a:r>
            <a:r>
              <a:rPr lang="en-US" b="1" dirty="0">
                <a:solidFill>
                  <a:schemeClr val="tx1"/>
                </a:solidFill>
                <a:latin typeface="+mn-lt"/>
              </a:rPr>
              <a:t>control of the program</a:t>
            </a:r>
            <a:r>
              <a:rPr lang="en-US" dirty="0">
                <a:solidFill>
                  <a:schemeClr val="tx1"/>
                </a:solidFill>
                <a:latin typeface="+mn-lt"/>
              </a:rPr>
              <a:t> is </a:t>
            </a:r>
            <a:r>
              <a:rPr lang="en-US" b="1" dirty="0">
                <a:solidFill>
                  <a:srgbClr val="00B050"/>
                </a:solidFill>
                <a:latin typeface="+mn-lt"/>
              </a:rPr>
              <a:t>transferred</a:t>
            </a:r>
            <a:r>
              <a:rPr lang="en-US" dirty="0">
                <a:solidFill>
                  <a:schemeClr val="tx1"/>
                </a:solidFill>
                <a:latin typeface="+mn-lt"/>
              </a:rPr>
              <a:t> to the </a:t>
            </a:r>
            <a:r>
              <a:rPr lang="en-US" b="1" dirty="0">
                <a:solidFill>
                  <a:schemeClr val="tx2">
                    <a:lumMod val="75000"/>
                  </a:schemeClr>
                </a:solidFill>
                <a:latin typeface="+mn-lt"/>
              </a:rPr>
              <a:t>function definition.</a:t>
            </a:r>
            <a:r>
              <a:rPr lang="en-US" dirty="0">
                <a:solidFill>
                  <a:schemeClr val="tx1"/>
                </a:solidFill>
                <a:latin typeface="+mn-lt"/>
              </a:rPr>
              <a:t> The compiler starts executing the codes inside the body of the function.</a:t>
            </a:r>
          </a:p>
          <a:p>
            <a:pPr>
              <a:buNone/>
            </a:pPr>
            <a:endParaRPr lang="en-US" dirty="0">
              <a:solidFill>
                <a:schemeClr val="tx1"/>
              </a:solidFill>
              <a:latin typeface="+mn-lt"/>
            </a:endParaRPr>
          </a:p>
        </p:txBody>
      </p:sp>
      <p:sp>
        <p:nvSpPr>
          <p:cNvPr id="5" name="Slide Number Placeholder 4"/>
          <p:cNvSpPr>
            <a:spLocks noGrp="1"/>
          </p:cNvSpPr>
          <p:nvPr>
            <p:ph type="sldNum" sz="quarter" idx="12"/>
          </p:nvPr>
        </p:nvSpPr>
        <p:spPr/>
        <p:txBody>
          <a:bodyPr/>
          <a:lstStyle/>
          <a:p>
            <a:fld id="{4AD51EEE-AB63-4DA6-9F1F-5936DDA55F0B}" type="slidenum">
              <a:rPr lang="en-US" smtClean="0"/>
              <a:pPr/>
              <a:t>17</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20518"/>
    </mc:Choice>
    <mc:Fallback xmlns="">
      <p:transition spd="slow" advTm="20518"/>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285" y="365125"/>
            <a:ext cx="9917723" cy="1325563"/>
          </a:xfrm>
        </p:spPr>
        <p:txBody>
          <a:bodyPr/>
          <a:lstStyle/>
          <a:p>
            <a:r>
              <a:rPr lang="en-US" b="1" dirty="0">
                <a:latin typeface="+mj-lt"/>
              </a:rPr>
              <a:t>FUNCTION DEFINITION (</a:t>
            </a:r>
            <a:r>
              <a:rPr lang="en-US" b="1" dirty="0" err="1">
                <a:latin typeface="+mj-lt"/>
              </a:rPr>
              <a:t>Cont</a:t>
            </a:r>
            <a:r>
              <a:rPr lang="en-US" b="1" dirty="0">
                <a:latin typeface="+mj-lt"/>
              </a:rPr>
              <a:t>…)</a:t>
            </a:r>
          </a:p>
        </p:txBody>
      </p:sp>
      <p:sp>
        <p:nvSpPr>
          <p:cNvPr id="3" name="Content Placeholder 2"/>
          <p:cNvSpPr>
            <a:spLocks noGrp="1"/>
          </p:cNvSpPr>
          <p:nvPr>
            <p:ph idx="1"/>
          </p:nvPr>
        </p:nvSpPr>
        <p:spPr>
          <a:xfrm>
            <a:off x="838200" y="1867829"/>
            <a:ext cx="9823704" cy="4351338"/>
          </a:xfrm>
        </p:spPr>
        <p:txBody>
          <a:bodyPr>
            <a:normAutofit/>
          </a:bodyPr>
          <a:lstStyle/>
          <a:p>
            <a:pPr marL="0" indent="0">
              <a:lnSpc>
                <a:spcPct val="115000"/>
              </a:lnSpc>
              <a:spcBef>
                <a:spcPts val="525"/>
              </a:spcBef>
              <a:buClr>
                <a:schemeClr val="dk1"/>
              </a:buClr>
              <a:buSzPts val="1100"/>
              <a:buNone/>
              <a:defRPr/>
            </a:pPr>
            <a:r>
              <a:rPr lang="en-US" dirty="0">
                <a:solidFill>
                  <a:schemeClr val="tx2">
                    <a:lumMod val="75000"/>
                  </a:schemeClr>
                </a:solidFill>
                <a:latin typeface="+mn-lt"/>
                <a:ea typeface="Arial"/>
                <a:cs typeface="Arial"/>
                <a:sym typeface="Arial"/>
              </a:rPr>
              <a:t>Syntax:</a:t>
            </a:r>
          </a:p>
          <a:p>
            <a:pPr marL="0" indent="0">
              <a:lnSpc>
                <a:spcPct val="115000"/>
              </a:lnSpc>
              <a:spcBef>
                <a:spcPts val="525"/>
              </a:spcBef>
              <a:buClr>
                <a:schemeClr val="dk1"/>
              </a:buClr>
              <a:buSzPts val="1100"/>
              <a:buNone/>
              <a:defRPr/>
            </a:pPr>
            <a:r>
              <a:rPr lang="en-US" dirty="0">
                <a:solidFill>
                  <a:schemeClr val="tx2">
                    <a:lumMod val="75000"/>
                  </a:schemeClr>
                </a:solidFill>
                <a:latin typeface="+mn-lt"/>
                <a:ea typeface="Arial"/>
                <a:cs typeface="Arial"/>
                <a:sym typeface="Arial"/>
              </a:rPr>
              <a:t>    </a:t>
            </a:r>
            <a:r>
              <a:rPr lang="en-US" i="1" dirty="0">
                <a:solidFill>
                  <a:srgbClr val="FF0000"/>
                </a:solidFill>
                <a:latin typeface="+mn-lt"/>
                <a:ea typeface="Times New Roman"/>
                <a:cs typeface="Times New Roman"/>
                <a:sym typeface="Times New Roman"/>
              </a:rPr>
              <a:t>return-value-type</a:t>
            </a:r>
            <a:r>
              <a:rPr lang="en-US" i="1" dirty="0">
                <a:solidFill>
                  <a:schemeClr val="tx2">
                    <a:lumMod val="75000"/>
                  </a:schemeClr>
                </a:solidFill>
                <a:latin typeface="+mn-lt"/>
                <a:ea typeface="Times New Roman"/>
                <a:cs typeface="Times New Roman"/>
                <a:sym typeface="Times New Roman"/>
              </a:rPr>
              <a:t>  </a:t>
            </a:r>
            <a:r>
              <a:rPr lang="en-US" i="1" dirty="0">
                <a:solidFill>
                  <a:schemeClr val="accent1">
                    <a:lumMod val="50000"/>
                  </a:schemeClr>
                </a:solidFill>
                <a:latin typeface="+mn-lt"/>
                <a:ea typeface="Times New Roman"/>
                <a:cs typeface="Times New Roman"/>
                <a:sym typeface="Times New Roman"/>
              </a:rPr>
              <a:t>function-name </a:t>
            </a:r>
            <a:r>
              <a:rPr lang="en-US" i="1" dirty="0">
                <a:solidFill>
                  <a:srgbClr val="00B050"/>
                </a:solidFill>
                <a:latin typeface="+mn-lt"/>
                <a:ea typeface="Times New Roman"/>
                <a:cs typeface="Times New Roman"/>
                <a:sym typeface="Times New Roman"/>
              </a:rPr>
              <a:t>( parameter-list )</a:t>
            </a:r>
          </a:p>
          <a:p>
            <a:pPr marL="685800" indent="0">
              <a:lnSpc>
                <a:spcPct val="115000"/>
              </a:lnSpc>
              <a:spcBef>
                <a:spcPts val="375"/>
              </a:spcBef>
              <a:buClr>
                <a:schemeClr val="dk1"/>
              </a:buClr>
              <a:buSzPts val="1100"/>
              <a:buNone/>
              <a:defRPr/>
            </a:pPr>
            <a:r>
              <a:rPr lang="en-US" b="1" dirty="0">
                <a:solidFill>
                  <a:schemeClr val="tx2">
                    <a:lumMod val="75000"/>
                  </a:schemeClr>
                </a:solidFill>
                <a:latin typeface="+mn-lt"/>
                <a:ea typeface="Courier New"/>
                <a:cs typeface="Courier New"/>
                <a:sym typeface="Courier New"/>
              </a:rPr>
              <a:t> {</a:t>
            </a:r>
          </a:p>
          <a:p>
            <a:pPr marL="0" indent="0">
              <a:lnSpc>
                <a:spcPct val="115000"/>
              </a:lnSpc>
              <a:spcBef>
                <a:spcPts val="375"/>
              </a:spcBef>
              <a:buClr>
                <a:schemeClr val="dk1"/>
              </a:buClr>
              <a:buSzPts val="1100"/>
              <a:buNone/>
              <a:defRPr/>
            </a:pPr>
            <a:r>
              <a:rPr lang="en-US" i="1" dirty="0">
                <a:solidFill>
                  <a:schemeClr val="tx2">
                    <a:lumMod val="75000"/>
                  </a:schemeClr>
                </a:solidFill>
                <a:latin typeface="+mn-lt"/>
                <a:ea typeface="Times New Roman"/>
                <a:cs typeface="Times New Roman"/>
                <a:sym typeface="Times New Roman"/>
              </a:rPr>
              <a:t>   		    </a:t>
            </a:r>
            <a:r>
              <a:rPr lang="en-US" i="1" dirty="0">
                <a:solidFill>
                  <a:srgbClr val="C00000"/>
                </a:solidFill>
                <a:latin typeface="+mn-lt"/>
                <a:ea typeface="Times New Roman"/>
                <a:cs typeface="Times New Roman"/>
                <a:sym typeface="Times New Roman"/>
              </a:rPr>
              <a:t>declarations and statements;</a:t>
            </a:r>
          </a:p>
          <a:p>
            <a:pPr marL="685800" indent="0">
              <a:lnSpc>
                <a:spcPct val="115000"/>
              </a:lnSpc>
              <a:spcBef>
                <a:spcPts val="375"/>
              </a:spcBef>
              <a:buClr>
                <a:schemeClr val="dk1"/>
              </a:buClr>
              <a:buSzPts val="1100"/>
              <a:buNone/>
              <a:defRPr/>
            </a:pPr>
            <a:r>
              <a:rPr lang="en-US" b="1" dirty="0">
                <a:solidFill>
                  <a:schemeClr val="tx2">
                    <a:lumMod val="75000"/>
                  </a:schemeClr>
                </a:solidFill>
                <a:latin typeface="+mn-lt"/>
                <a:ea typeface="Courier New"/>
                <a:cs typeface="Courier New"/>
                <a:sym typeface="Courier New"/>
              </a:rPr>
              <a:t> }</a:t>
            </a:r>
          </a:p>
          <a:p>
            <a:pPr indent="-304800">
              <a:lnSpc>
                <a:spcPct val="115000"/>
              </a:lnSpc>
              <a:spcBef>
                <a:spcPts val="375"/>
              </a:spcBef>
              <a:buSzPts val="2800"/>
              <a:buFont typeface="Times New Roman"/>
              <a:buChar char="•"/>
              <a:defRPr/>
            </a:pPr>
            <a:r>
              <a:rPr lang="en-US" b="1" dirty="0">
                <a:solidFill>
                  <a:schemeClr val="accent1">
                    <a:lumMod val="75000"/>
                  </a:schemeClr>
                </a:solidFill>
                <a:latin typeface="+mn-lt"/>
                <a:ea typeface="Times New Roman"/>
                <a:cs typeface="Times New Roman"/>
                <a:sym typeface="Times New Roman"/>
              </a:rPr>
              <a:t>Function-name:</a:t>
            </a:r>
            <a:r>
              <a:rPr lang="en-US" dirty="0">
                <a:solidFill>
                  <a:schemeClr val="tx2">
                    <a:lumMod val="75000"/>
                  </a:schemeClr>
                </a:solidFill>
                <a:latin typeface="+mn-lt"/>
                <a:ea typeface="Times New Roman"/>
                <a:cs typeface="Times New Roman"/>
                <a:sym typeface="Times New Roman"/>
              </a:rPr>
              <a:t> any valid identifier</a:t>
            </a:r>
          </a:p>
          <a:p>
            <a:pPr indent="-304800">
              <a:lnSpc>
                <a:spcPct val="115000"/>
              </a:lnSpc>
              <a:spcBef>
                <a:spcPts val="0"/>
              </a:spcBef>
              <a:buSzPts val="2800"/>
              <a:defRPr/>
            </a:pPr>
            <a:r>
              <a:rPr lang="en-US" b="1" dirty="0">
                <a:solidFill>
                  <a:srgbClr val="FF0000"/>
                </a:solidFill>
                <a:latin typeface="+mn-lt"/>
                <a:ea typeface="Times New Roman"/>
                <a:cs typeface="Times New Roman"/>
                <a:sym typeface="Times New Roman"/>
              </a:rPr>
              <a:t>Return-value-type:</a:t>
            </a:r>
            <a:r>
              <a:rPr lang="en-US" dirty="0">
                <a:solidFill>
                  <a:schemeClr val="tx2">
                    <a:lumMod val="75000"/>
                  </a:schemeClr>
                </a:solidFill>
                <a:latin typeface="+mn-lt"/>
                <a:ea typeface="Times New Roman"/>
                <a:cs typeface="Times New Roman"/>
                <a:sym typeface="Times New Roman"/>
              </a:rPr>
              <a:t> data type of the result </a:t>
            </a:r>
            <a:r>
              <a:rPr lang="en-US" dirty="0">
                <a:solidFill>
                  <a:schemeClr val="accent4">
                    <a:lumMod val="75000"/>
                  </a:schemeClr>
                </a:solidFill>
                <a:latin typeface="+mn-lt"/>
                <a:ea typeface="Times New Roman"/>
                <a:cs typeface="Times New Roman"/>
                <a:sym typeface="Times New Roman"/>
              </a:rPr>
              <a:t>(</a:t>
            </a:r>
            <a:r>
              <a:rPr lang="en-US" b="1" i="1" dirty="0">
                <a:solidFill>
                  <a:schemeClr val="accent4">
                    <a:lumMod val="75000"/>
                  </a:schemeClr>
                </a:solidFill>
                <a:latin typeface="+mn-lt"/>
                <a:ea typeface="Times New Roman"/>
                <a:cs typeface="Times New Roman"/>
                <a:sym typeface="Times New Roman"/>
              </a:rPr>
              <a:t>default </a:t>
            </a:r>
            <a:r>
              <a:rPr lang="en-US" b="1" i="1" dirty="0" err="1">
                <a:solidFill>
                  <a:schemeClr val="accent4">
                    <a:lumMod val="75000"/>
                  </a:schemeClr>
                </a:solidFill>
                <a:latin typeface="+mn-lt"/>
                <a:ea typeface="Courier New"/>
                <a:cs typeface="Courier New"/>
                <a:sym typeface="Courier New"/>
              </a:rPr>
              <a:t>int</a:t>
            </a:r>
            <a:r>
              <a:rPr lang="en-US" b="1" i="1" dirty="0">
                <a:solidFill>
                  <a:schemeClr val="accent4">
                    <a:lumMod val="75000"/>
                  </a:schemeClr>
                </a:solidFill>
                <a:latin typeface="+mn-lt"/>
                <a:ea typeface="Times New Roman"/>
                <a:cs typeface="Times New Roman"/>
                <a:sym typeface="Times New Roman"/>
              </a:rPr>
              <a:t>)</a:t>
            </a:r>
          </a:p>
          <a:p>
            <a:pPr indent="-304800">
              <a:lnSpc>
                <a:spcPct val="115000"/>
              </a:lnSpc>
              <a:spcBef>
                <a:spcPts val="0"/>
              </a:spcBef>
              <a:buSzPts val="2800"/>
              <a:buFont typeface="Times New Roman"/>
              <a:buChar char="•"/>
              <a:defRPr/>
            </a:pPr>
            <a:r>
              <a:rPr lang="en-US" b="1" dirty="0">
                <a:solidFill>
                  <a:srgbClr val="00B050"/>
                </a:solidFill>
                <a:latin typeface="+mn-lt"/>
                <a:ea typeface="Times New Roman"/>
                <a:cs typeface="Times New Roman" pitchFamily="18" charset="0"/>
                <a:sym typeface="Times New Roman"/>
              </a:rPr>
              <a:t>Parameter-list:</a:t>
            </a:r>
            <a:r>
              <a:rPr lang="en-US" dirty="0">
                <a:solidFill>
                  <a:schemeClr val="tx2">
                    <a:lumMod val="75000"/>
                  </a:schemeClr>
                </a:solidFill>
                <a:latin typeface="+mn-lt"/>
                <a:ea typeface="Times New Roman"/>
                <a:cs typeface="Times New Roman" pitchFamily="18" charset="0"/>
                <a:sym typeface="Times New Roman"/>
              </a:rPr>
              <a:t> comma separated list, declares parameters</a:t>
            </a:r>
          </a:p>
          <a:p>
            <a:pPr indent="-304800">
              <a:lnSpc>
                <a:spcPct val="115000"/>
              </a:lnSpc>
              <a:spcBef>
                <a:spcPts val="0"/>
              </a:spcBef>
              <a:buSzPts val="2800"/>
              <a:defRPr/>
            </a:pPr>
            <a:r>
              <a:rPr lang="en-US" dirty="0">
                <a:solidFill>
                  <a:schemeClr val="tx2">
                    <a:lumMod val="75000"/>
                  </a:schemeClr>
                </a:solidFill>
                <a:latin typeface="+mn-lt"/>
                <a:ea typeface="Times New Roman"/>
                <a:cs typeface="Times New Roman" pitchFamily="18" charset="0"/>
                <a:sym typeface="Times New Roman"/>
              </a:rPr>
              <a:t>A type must be listed explicitly for each parameter unless, the parameter is of type </a:t>
            </a:r>
            <a:r>
              <a:rPr lang="en-US" b="1" dirty="0" err="1">
                <a:solidFill>
                  <a:schemeClr val="accent4">
                    <a:lumMod val="75000"/>
                  </a:schemeClr>
                </a:solidFill>
                <a:latin typeface="+mn-lt"/>
                <a:ea typeface="Courier New"/>
                <a:cs typeface="Times New Roman" pitchFamily="18" charset="0"/>
                <a:sym typeface="Courier New"/>
              </a:rPr>
              <a:t>int</a:t>
            </a:r>
            <a:endParaRPr lang="en-US" b="1" dirty="0">
              <a:solidFill>
                <a:schemeClr val="accent4">
                  <a:lumMod val="75000"/>
                </a:schemeClr>
              </a:solidFill>
              <a:latin typeface="+mn-lt"/>
              <a:ea typeface="Courier New"/>
              <a:cs typeface="Times New Roman" pitchFamily="18" charset="0"/>
              <a:sym typeface="Courier New"/>
            </a:endParaRPr>
          </a:p>
          <a:p>
            <a:pPr marL="171450" indent="-38100">
              <a:spcBef>
                <a:spcPts val="0"/>
              </a:spcBef>
              <a:buClr>
                <a:schemeClr val="dk1"/>
              </a:buClr>
              <a:buSzPts val="2800"/>
              <a:buNone/>
              <a:defRPr/>
            </a:pPr>
            <a:endParaRPr lang="en-US" dirty="0">
              <a:solidFill>
                <a:schemeClr val="tx2">
                  <a:lumMod val="75000"/>
                </a:schemeClr>
              </a:solidFill>
              <a:latin typeface="+mn-lt"/>
            </a:endParaRPr>
          </a:p>
          <a:p>
            <a:pPr>
              <a:buNone/>
            </a:pPr>
            <a:endParaRPr lang="en-US" dirty="0">
              <a:solidFill>
                <a:schemeClr val="tx2">
                  <a:lumMod val="75000"/>
                </a:schemeClr>
              </a:solidFill>
              <a:latin typeface="+mn-lt"/>
            </a:endParaRPr>
          </a:p>
        </p:txBody>
      </p:sp>
      <p:sp>
        <p:nvSpPr>
          <p:cNvPr id="4" name="Footer Placeholder 3"/>
          <p:cNvSpPr>
            <a:spLocks noGrp="1"/>
          </p:cNvSpPr>
          <p:nvPr>
            <p:ph type="ftr" sz="quarter" idx="11"/>
          </p:nvPr>
        </p:nvSpPr>
        <p:spPr>
          <a:xfrm>
            <a:off x="2489982" y="6356350"/>
            <a:ext cx="5317470" cy="365125"/>
          </a:xfrm>
        </p:spPr>
        <p:txBody>
          <a:bodyPr/>
          <a:lstStyle/>
          <a:p>
            <a:r>
              <a:rPr lang="en-US" dirty="0"/>
              <a:t>U18CSI1202 : PROBLEM SOLVING AND PROGRAMMING USING C </a:t>
            </a:r>
          </a:p>
        </p:txBody>
      </p:sp>
      <p:sp>
        <p:nvSpPr>
          <p:cNvPr id="5" name="Slide Number Placeholder 4"/>
          <p:cNvSpPr>
            <a:spLocks noGrp="1"/>
          </p:cNvSpPr>
          <p:nvPr>
            <p:ph type="sldNum" sz="quarter" idx="12"/>
          </p:nvPr>
        </p:nvSpPr>
        <p:spPr/>
        <p:txBody>
          <a:bodyPr/>
          <a:lstStyle/>
          <a:p>
            <a:fld id="{4AD51EEE-AB63-4DA6-9F1F-5936DDA55F0B}" type="slidenum">
              <a:rPr lang="en-US" smtClean="0"/>
              <a:pPr/>
              <a:t>18</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44695"/>
    </mc:Choice>
    <mc:Fallback xmlns="">
      <p:transition spd="slow" advTm="44695"/>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58" y="365125"/>
            <a:ext cx="11141613" cy="1325563"/>
          </a:xfrm>
        </p:spPr>
        <p:txBody>
          <a:bodyPr/>
          <a:lstStyle/>
          <a:p>
            <a:r>
              <a:rPr lang="en-US" b="1" dirty="0">
                <a:latin typeface="+mj-lt"/>
              </a:rPr>
              <a:t>FUNCTION DEFINITION (Cont…)</a:t>
            </a:r>
          </a:p>
        </p:txBody>
      </p:sp>
      <p:sp>
        <p:nvSpPr>
          <p:cNvPr id="3" name="Content Placeholder 2"/>
          <p:cNvSpPr>
            <a:spLocks noGrp="1"/>
          </p:cNvSpPr>
          <p:nvPr>
            <p:ph idx="1"/>
          </p:nvPr>
        </p:nvSpPr>
        <p:spPr/>
        <p:txBody>
          <a:bodyPr/>
          <a:lstStyle/>
          <a:p>
            <a:pPr>
              <a:buNone/>
            </a:pPr>
            <a:r>
              <a:rPr lang="en-US" dirty="0">
                <a:solidFill>
                  <a:schemeClr val="tx1"/>
                </a:solidFill>
                <a:latin typeface="+mn-lt"/>
                <a:hlinkClick r:id="rId3" action="ppaction://hlinksldjump"/>
              </a:rPr>
              <a:t>Example 1</a:t>
            </a:r>
            <a:r>
              <a:rPr lang="en-US" dirty="0">
                <a:solidFill>
                  <a:schemeClr val="tx1"/>
                </a:solidFill>
                <a:latin typeface="+mn-lt"/>
              </a:rPr>
              <a:t>:</a:t>
            </a:r>
          </a:p>
          <a:p>
            <a:pPr>
              <a:buNone/>
            </a:pPr>
            <a:endParaRPr lang="en-US" dirty="0">
              <a:solidFill>
                <a:schemeClr val="tx1"/>
              </a:solidFill>
              <a:latin typeface="+mn-lt"/>
            </a:endParaRPr>
          </a:p>
          <a:p>
            <a:pPr>
              <a:buNone/>
            </a:pPr>
            <a:r>
              <a:rPr lang="en-US" dirty="0" err="1">
                <a:solidFill>
                  <a:schemeClr val="tx1"/>
                </a:solidFill>
                <a:latin typeface="+mn-lt"/>
              </a:rPr>
              <a:t>int</a:t>
            </a:r>
            <a:r>
              <a:rPr lang="en-US" dirty="0">
                <a:solidFill>
                  <a:schemeClr val="tx1"/>
                </a:solidFill>
                <a:latin typeface="+mn-lt"/>
              </a:rPr>
              <a:t> </a:t>
            </a:r>
            <a:r>
              <a:rPr lang="en-US" dirty="0" err="1">
                <a:solidFill>
                  <a:schemeClr val="tx1"/>
                </a:solidFill>
                <a:latin typeface="+mn-lt"/>
              </a:rPr>
              <a:t>addNumbers</a:t>
            </a:r>
            <a:r>
              <a:rPr lang="en-US" dirty="0">
                <a:solidFill>
                  <a:schemeClr val="tx1"/>
                </a:solidFill>
                <a:latin typeface="+mn-lt"/>
              </a:rPr>
              <a:t> (</a:t>
            </a:r>
            <a:r>
              <a:rPr lang="en-US" dirty="0" err="1">
                <a:solidFill>
                  <a:schemeClr val="tx1"/>
                </a:solidFill>
                <a:latin typeface="+mn-lt"/>
              </a:rPr>
              <a:t>int</a:t>
            </a:r>
            <a:r>
              <a:rPr lang="en-US" dirty="0">
                <a:solidFill>
                  <a:schemeClr val="tx1"/>
                </a:solidFill>
                <a:latin typeface="+mn-lt"/>
              </a:rPr>
              <a:t> a, </a:t>
            </a:r>
            <a:r>
              <a:rPr lang="en-US" dirty="0" err="1">
                <a:solidFill>
                  <a:schemeClr val="tx1"/>
                </a:solidFill>
                <a:latin typeface="+mn-lt"/>
              </a:rPr>
              <a:t>int</a:t>
            </a:r>
            <a:r>
              <a:rPr lang="en-US" dirty="0">
                <a:solidFill>
                  <a:schemeClr val="tx1"/>
                </a:solidFill>
                <a:latin typeface="+mn-lt"/>
              </a:rPr>
              <a:t> b)   </a:t>
            </a:r>
            <a:r>
              <a:rPr lang="en-US" b="1" i="1" dirty="0">
                <a:solidFill>
                  <a:srgbClr val="FF0000"/>
                </a:solidFill>
                <a:latin typeface="+mn-lt"/>
              </a:rPr>
              <a:t>// function definition</a:t>
            </a:r>
            <a:r>
              <a:rPr lang="en-US" dirty="0">
                <a:solidFill>
                  <a:schemeClr val="tx1"/>
                </a:solidFill>
                <a:latin typeface="+mn-lt"/>
              </a:rPr>
              <a:t> </a:t>
            </a:r>
          </a:p>
          <a:p>
            <a:pPr>
              <a:buNone/>
            </a:pPr>
            <a:r>
              <a:rPr lang="en-US" dirty="0">
                <a:solidFill>
                  <a:schemeClr val="tx1"/>
                </a:solidFill>
                <a:latin typeface="+mn-lt"/>
              </a:rPr>
              <a:t>{ </a:t>
            </a:r>
          </a:p>
          <a:p>
            <a:pPr>
              <a:buNone/>
            </a:pPr>
            <a:r>
              <a:rPr lang="en-US" dirty="0" err="1">
                <a:solidFill>
                  <a:schemeClr val="tx1"/>
                </a:solidFill>
                <a:latin typeface="+mn-lt"/>
              </a:rPr>
              <a:t>int</a:t>
            </a:r>
            <a:r>
              <a:rPr lang="en-US" dirty="0">
                <a:solidFill>
                  <a:schemeClr val="tx1"/>
                </a:solidFill>
                <a:latin typeface="+mn-lt"/>
              </a:rPr>
              <a:t> result;                                 </a:t>
            </a:r>
            <a:r>
              <a:rPr lang="en-US" b="1" i="1" dirty="0">
                <a:solidFill>
                  <a:srgbClr val="0070C0"/>
                </a:solidFill>
                <a:latin typeface="+mn-lt"/>
              </a:rPr>
              <a:t>// local variable declaration</a:t>
            </a:r>
          </a:p>
          <a:p>
            <a:pPr>
              <a:buNone/>
            </a:pPr>
            <a:r>
              <a:rPr lang="en-US" dirty="0">
                <a:solidFill>
                  <a:schemeClr val="tx1"/>
                </a:solidFill>
                <a:latin typeface="+mn-lt"/>
              </a:rPr>
              <a:t>result = </a:t>
            </a:r>
            <a:r>
              <a:rPr lang="en-US" dirty="0" err="1">
                <a:solidFill>
                  <a:schemeClr val="tx1"/>
                </a:solidFill>
                <a:latin typeface="+mn-lt"/>
              </a:rPr>
              <a:t>a+b</a:t>
            </a:r>
            <a:r>
              <a:rPr lang="en-US" dirty="0">
                <a:solidFill>
                  <a:schemeClr val="tx1"/>
                </a:solidFill>
                <a:latin typeface="+mn-lt"/>
              </a:rPr>
              <a:t>; </a:t>
            </a:r>
          </a:p>
          <a:p>
            <a:pPr>
              <a:buNone/>
            </a:pPr>
            <a:r>
              <a:rPr lang="en-US" dirty="0">
                <a:solidFill>
                  <a:schemeClr val="tx1"/>
                </a:solidFill>
                <a:latin typeface="+mn-lt"/>
              </a:rPr>
              <a:t>return result;                         </a:t>
            </a:r>
            <a:r>
              <a:rPr lang="en-US" b="1" i="1" dirty="0">
                <a:solidFill>
                  <a:srgbClr val="C00000"/>
                </a:solidFill>
                <a:latin typeface="+mn-lt"/>
              </a:rPr>
              <a:t>// return statement </a:t>
            </a:r>
          </a:p>
          <a:p>
            <a:pPr>
              <a:buNone/>
            </a:pPr>
            <a:r>
              <a:rPr lang="en-US" dirty="0">
                <a:solidFill>
                  <a:schemeClr val="tx1"/>
                </a:solidFill>
                <a:latin typeface="+mn-lt"/>
              </a:rPr>
              <a:t>}</a:t>
            </a:r>
          </a:p>
          <a:p>
            <a:pPr>
              <a:buNone/>
            </a:pPr>
            <a:endParaRPr lang="en-US" dirty="0">
              <a:solidFill>
                <a:schemeClr val="tx1"/>
              </a:solidFill>
              <a:latin typeface="+mn-lt"/>
            </a:endParaRPr>
          </a:p>
        </p:txBody>
      </p:sp>
      <p:sp>
        <p:nvSpPr>
          <p:cNvPr id="5" name="Slide Number Placeholder 4"/>
          <p:cNvSpPr>
            <a:spLocks noGrp="1"/>
          </p:cNvSpPr>
          <p:nvPr>
            <p:ph type="sldNum" sz="quarter" idx="12"/>
          </p:nvPr>
        </p:nvSpPr>
        <p:spPr/>
        <p:txBody>
          <a:bodyPr/>
          <a:lstStyle/>
          <a:p>
            <a:fld id="{4AD51EEE-AB63-4DA6-9F1F-5936DDA55F0B}" type="slidenum">
              <a:rPr lang="en-US" smtClean="0"/>
              <a:pPr/>
              <a:t>19</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20219"/>
    </mc:Choice>
    <mc:Fallback xmlns="">
      <p:transition spd="slow" advTm="20219"/>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9543757" cy="1325563"/>
          </a:xfrm>
        </p:spPr>
        <p:txBody>
          <a:bodyPr/>
          <a:lstStyle/>
          <a:p>
            <a:r>
              <a:rPr lang="en-US" b="1" dirty="0">
                <a:latin typeface="+mj-lt"/>
              </a:rPr>
              <a:t>FUNCTION DEFINITION (Cont…)</a:t>
            </a:r>
          </a:p>
        </p:txBody>
      </p:sp>
      <p:sp>
        <p:nvSpPr>
          <p:cNvPr id="3" name="Content Placeholder 2"/>
          <p:cNvSpPr>
            <a:spLocks noGrp="1"/>
          </p:cNvSpPr>
          <p:nvPr>
            <p:ph idx="1"/>
          </p:nvPr>
        </p:nvSpPr>
        <p:spPr/>
        <p:txBody>
          <a:bodyPr/>
          <a:lstStyle/>
          <a:p>
            <a:pPr>
              <a:buNone/>
            </a:pPr>
            <a:r>
              <a:rPr lang="en-US" b="1" dirty="0">
                <a:solidFill>
                  <a:schemeClr val="tx1">
                    <a:lumMod val="95000"/>
                    <a:lumOff val="5000"/>
                  </a:schemeClr>
                </a:solidFill>
                <a:latin typeface="+mn-lt"/>
              </a:rPr>
              <a:t>EXAMPLE 2</a:t>
            </a:r>
            <a:r>
              <a:rPr lang="en-US" dirty="0">
                <a:solidFill>
                  <a:schemeClr val="tx1">
                    <a:lumMod val="95000"/>
                    <a:lumOff val="5000"/>
                  </a:schemeClr>
                </a:solidFill>
                <a:latin typeface="+mn-lt"/>
              </a:rPr>
              <a:t> :</a:t>
            </a:r>
          </a:p>
          <a:p>
            <a:pPr>
              <a:buNone/>
            </a:pPr>
            <a:endParaRPr lang="en-US" dirty="0">
              <a:solidFill>
                <a:schemeClr val="tx1">
                  <a:lumMod val="95000"/>
                  <a:lumOff val="5000"/>
                </a:schemeClr>
              </a:solidFill>
              <a:latin typeface="+mn-lt"/>
            </a:endParaRPr>
          </a:p>
          <a:p>
            <a:pPr>
              <a:buNone/>
            </a:pPr>
            <a:endParaRPr lang="en-US" dirty="0">
              <a:solidFill>
                <a:schemeClr val="tx1">
                  <a:lumMod val="95000"/>
                  <a:lumOff val="5000"/>
                </a:schemeClr>
              </a:solidFill>
              <a:latin typeface="+mn-lt"/>
            </a:endParaRPr>
          </a:p>
        </p:txBody>
      </p:sp>
      <p:sp>
        <p:nvSpPr>
          <p:cNvPr id="6" name="Slide Number Placeholder 5"/>
          <p:cNvSpPr>
            <a:spLocks noGrp="1"/>
          </p:cNvSpPr>
          <p:nvPr>
            <p:ph type="sldNum" sz="quarter" idx="12"/>
          </p:nvPr>
        </p:nvSpPr>
        <p:spPr/>
        <p:txBody>
          <a:bodyPr/>
          <a:lstStyle/>
          <a:p>
            <a:fld id="{4AD51EEE-AB63-4DA6-9F1F-5936DDA55F0B}" type="slidenum">
              <a:rPr lang="en-US" smtClean="0"/>
              <a:pPr/>
              <a:t>20</a:t>
            </a:fld>
            <a:endParaRPr lang="en-US"/>
          </a:p>
        </p:txBody>
      </p:sp>
      <p:pic>
        <p:nvPicPr>
          <p:cNvPr id="5" name="Shape 290"/>
          <p:cNvPicPr preferRelativeResize="0">
            <a:picLocks noChangeAspect="1" noChangeArrowheads="1"/>
          </p:cNvPicPr>
          <p:nvPr/>
        </p:nvPicPr>
        <p:blipFill>
          <a:blip r:embed="rId3"/>
          <a:srcRect t="9963" b="7044"/>
          <a:stretch>
            <a:fillRect/>
          </a:stretch>
        </p:blipFill>
        <p:spPr bwMode="auto">
          <a:xfrm>
            <a:off x="2011974" y="2405575"/>
            <a:ext cx="7777163" cy="3488788"/>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2000" advTm="17750"/>
    </mc:Choice>
    <mc:Fallback xmlns="">
      <p:transition spd="slow" advTm="17750"/>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j-lt"/>
              </a:rPr>
              <a:t>FUNCTION DEFINITION (Cont…)</a:t>
            </a:r>
          </a:p>
        </p:txBody>
      </p:sp>
      <p:sp>
        <p:nvSpPr>
          <p:cNvPr id="8" name="Text Placeholder 7"/>
          <p:cNvSpPr>
            <a:spLocks noGrp="1"/>
          </p:cNvSpPr>
          <p:nvPr>
            <p:ph type="body" idx="1"/>
          </p:nvPr>
        </p:nvSpPr>
        <p:spPr>
          <a:xfrm>
            <a:off x="839788" y="1463040"/>
            <a:ext cx="5157787" cy="1042035"/>
          </a:xfrm>
        </p:spPr>
        <p:txBody>
          <a:bodyPr>
            <a:normAutofit/>
          </a:bodyPr>
          <a:lstStyle/>
          <a:p>
            <a:r>
              <a:rPr lang="en-US" sz="3200" dirty="0">
                <a:solidFill>
                  <a:srgbClr val="FF0000"/>
                </a:solidFill>
                <a:latin typeface="+mj-lt"/>
              </a:rPr>
              <a:t>return</a:t>
            </a:r>
            <a:r>
              <a:rPr lang="en-US" sz="3200" dirty="0">
                <a:latin typeface="+mj-lt"/>
              </a:rPr>
              <a:t> </a:t>
            </a:r>
            <a:r>
              <a:rPr lang="en-US" sz="3200" dirty="0">
                <a:solidFill>
                  <a:schemeClr val="tx1">
                    <a:lumMod val="85000"/>
                    <a:lumOff val="15000"/>
                  </a:schemeClr>
                </a:solidFill>
                <a:latin typeface="+mj-lt"/>
              </a:rPr>
              <a:t>Statement:</a:t>
            </a:r>
          </a:p>
          <a:p>
            <a:endParaRPr lang="en-US" sz="3200" dirty="0">
              <a:latin typeface="+mj-lt"/>
            </a:endParaRPr>
          </a:p>
        </p:txBody>
      </p:sp>
      <p:sp>
        <p:nvSpPr>
          <p:cNvPr id="3" name="Content Placeholder 2"/>
          <p:cNvSpPr>
            <a:spLocks noGrp="1"/>
          </p:cNvSpPr>
          <p:nvPr>
            <p:ph sz="half" idx="2"/>
          </p:nvPr>
        </p:nvSpPr>
        <p:spPr>
          <a:xfrm>
            <a:off x="839788" y="2053883"/>
            <a:ext cx="5434403" cy="4135780"/>
          </a:xfrm>
        </p:spPr>
        <p:txBody>
          <a:bodyPr>
            <a:normAutofit/>
          </a:bodyPr>
          <a:lstStyle/>
          <a:p>
            <a:pPr algn="just"/>
            <a:r>
              <a:rPr lang="en-US" dirty="0">
                <a:solidFill>
                  <a:schemeClr val="tx1">
                    <a:lumMod val="85000"/>
                    <a:lumOff val="15000"/>
                  </a:schemeClr>
                </a:solidFill>
                <a:latin typeface="+mn-lt"/>
              </a:rPr>
              <a:t>  The return statement </a:t>
            </a:r>
            <a:r>
              <a:rPr lang="en-US" b="1" i="1" dirty="0">
                <a:solidFill>
                  <a:srgbClr val="0070C0"/>
                </a:solidFill>
                <a:latin typeface="+mn-lt"/>
              </a:rPr>
              <a:t>terminates</a:t>
            </a:r>
            <a:r>
              <a:rPr lang="en-US" dirty="0">
                <a:solidFill>
                  <a:schemeClr val="tx1">
                    <a:lumMod val="85000"/>
                    <a:lumOff val="15000"/>
                  </a:schemeClr>
                </a:solidFill>
                <a:latin typeface="+mn-lt"/>
              </a:rPr>
              <a:t> the execution of a function and </a:t>
            </a:r>
            <a:r>
              <a:rPr lang="en-US" b="1" i="1" dirty="0">
                <a:solidFill>
                  <a:srgbClr val="0070C0"/>
                </a:solidFill>
                <a:latin typeface="+mn-lt"/>
              </a:rPr>
              <a:t>returns</a:t>
            </a:r>
            <a:r>
              <a:rPr lang="en-US" dirty="0">
                <a:solidFill>
                  <a:schemeClr val="tx1">
                    <a:lumMod val="85000"/>
                    <a:lumOff val="15000"/>
                  </a:schemeClr>
                </a:solidFill>
                <a:latin typeface="+mn-lt"/>
              </a:rPr>
              <a:t> a value to the </a:t>
            </a:r>
            <a:r>
              <a:rPr lang="en-US" b="1" i="1" dirty="0">
                <a:solidFill>
                  <a:srgbClr val="C00000"/>
                </a:solidFill>
                <a:latin typeface="+mn-lt"/>
              </a:rPr>
              <a:t>calling function</a:t>
            </a:r>
            <a:r>
              <a:rPr lang="en-US" dirty="0">
                <a:solidFill>
                  <a:schemeClr val="tx1">
                    <a:lumMod val="85000"/>
                    <a:lumOff val="15000"/>
                  </a:schemeClr>
                </a:solidFill>
                <a:latin typeface="+mn-lt"/>
              </a:rPr>
              <a:t>.</a:t>
            </a:r>
          </a:p>
          <a:p>
            <a:pPr algn="just"/>
            <a:r>
              <a:rPr lang="en-US" dirty="0">
                <a:solidFill>
                  <a:schemeClr val="tx1">
                    <a:lumMod val="85000"/>
                    <a:lumOff val="15000"/>
                  </a:schemeClr>
                </a:solidFill>
                <a:latin typeface="+mn-lt"/>
              </a:rPr>
              <a:t> The program control is transferred to the calling function after the return statement.</a:t>
            </a:r>
          </a:p>
          <a:p>
            <a:pPr>
              <a:buNone/>
            </a:pPr>
            <a:r>
              <a:rPr lang="en-US" b="1" dirty="0">
                <a:solidFill>
                  <a:schemeClr val="tx1">
                    <a:lumMod val="85000"/>
                    <a:lumOff val="15000"/>
                  </a:schemeClr>
                </a:solidFill>
                <a:latin typeface="+mn-lt"/>
              </a:rPr>
              <a:t> Syntax of return statement</a:t>
            </a:r>
          </a:p>
          <a:p>
            <a:pPr>
              <a:buNone/>
            </a:pPr>
            <a:r>
              <a:rPr lang="en-US" dirty="0">
                <a:solidFill>
                  <a:schemeClr val="tx1">
                    <a:lumMod val="85000"/>
                    <a:lumOff val="15000"/>
                  </a:schemeClr>
                </a:solidFill>
                <a:latin typeface="+mn-lt"/>
              </a:rPr>
              <a:t>  return (expression); </a:t>
            </a:r>
          </a:p>
          <a:p>
            <a:pPr>
              <a:buNone/>
            </a:pPr>
            <a:endParaRPr lang="en-US" dirty="0"/>
          </a:p>
        </p:txBody>
      </p:sp>
      <p:sp>
        <p:nvSpPr>
          <p:cNvPr id="9" name="Text Placeholder 8"/>
          <p:cNvSpPr>
            <a:spLocks noGrp="1"/>
          </p:cNvSpPr>
          <p:nvPr>
            <p:ph type="body" sz="quarter" idx="3"/>
          </p:nvPr>
        </p:nvSpPr>
        <p:spPr>
          <a:xfrm>
            <a:off x="6298809" y="1315403"/>
            <a:ext cx="5183188" cy="823912"/>
          </a:xfrm>
        </p:spPr>
        <p:txBody>
          <a:bodyPr>
            <a:normAutofit/>
          </a:bodyPr>
          <a:lstStyle/>
          <a:p>
            <a:r>
              <a:rPr lang="en-US" sz="3200" dirty="0">
                <a:latin typeface="+mj-lt"/>
                <a:hlinkClick r:id="rId3" action="ppaction://hlinksldjump"/>
              </a:rPr>
              <a:t>EXAMPLE 1:</a:t>
            </a:r>
            <a:endParaRPr lang="en-US" sz="3200" dirty="0">
              <a:latin typeface="+mj-lt"/>
            </a:endParaRPr>
          </a:p>
        </p:txBody>
      </p:sp>
      <p:pic>
        <p:nvPicPr>
          <p:cNvPr id="1026" name="Picture 2"/>
          <p:cNvPicPr>
            <a:picLocks noGrp="1" noChangeAspect="1" noChangeArrowheads="1"/>
          </p:cNvPicPr>
          <p:nvPr>
            <p:ph sz="quarter" idx="4"/>
          </p:nvPr>
        </p:nvPicPr>
        <p:blipFill>
          <a:blip r:embed="rId4"/>
          <a:stretch>
            <a:fillRect/>
          </a:stretch>
        </p:blipFill>
        <p:spPr bwMode="auto">
          <a:xfrm>
            <a:off x="6388100" y="2769394"/>
            <a:ext cx="3886200" cy="2762250"/>
          </a:xfrm>
          <a:prstGeom prst="rect">
            <a:avLst/>
          </a:prstGeom>
          <a:noFill/>
          <a:ln w="9525">
            <a:noFill/>
            <a:miter lim="800000"/>
            <a:headEnd/>
            <a:tailEnd/>
          </a:ln>
          <a:effectLst/>
        </p:spPr>
      </p:pic>
      <p:sp>
        <p:nvSpPr>
          <p:cNvPr id="10" name="Slide Number Placeholder 9"/>
          <p:cNvSpPr>
            <a:spLocks noGrp="1"/>
          </p:cNvSpPr>
          <p:nvPr>
            <p:ph type="sldNum" sz="quarter" idx="12"/>
          </p:nvPr>
        </p:nvSpPr>
        <p:spPr/>
        <p:txBody>
          <a:bodyPr/>
          <a:lstStyle/>
          <a:p>
            <a:fld id="{4AD51EEE-AB63-4DA6-9F1F-5936DDA55F0B}" type="slidenum">
              <a:rPr lang="en-US" smtClean="0"/>
              <a:pPr/>
              <a:t>21</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39026"/>
    </mc:Choice>
    <mc:Fallback xmlns="">
      <p:transition spd="slow" advTm="39026"/>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noChangeArrowheads="1"/>
          </p:cNvSpPr>
          <p:nvPr>
            <p:ph type="title"/>
          </p:nvPr>
        </p:nvSpPr>
        <p:spPr>
          <a:xfrm>
            <a:off x="838200" y="365125"/>
            <a:ext cx="9768840" cy="1325563"/>
          </a:xfrm>
        </p:spPr>
        <p:txBody>
          <a:bodyPr>
            <a:normAutofit fontScale="90000"/>
          </a:bodyPr>
          <a:lstStyle/>
          <a:p>
            <a:pPr algn="ctr"/>
            <a:r>
              <a:rPr lang="en-US" b="1" dirty="0">
                <a:latin typeface="+mj-lt"/>
              </a:rPr>
              <a:t>FUNCTION DEFINITION </a:t>
            </a:r>
            <a:br>
              <a:rPr lang="en-US" b="1" dirty="0">
                <a:latin typeface="+mj-lt"/>
              </a:rPr>
            </a:br>
            <a:r>
              <a:rPr lang="en-US" b="1" dirty="0">
                <a:solidFill>
                  <a:srgbClr val="FF0000"/>
                </a:solidFill>
                <a:latin typeface="+mj-lt"/>
              </a:rPr>
              <a:t>return</a:t>
            </a:r>
            <a:r>
              <a:rPr lang="en-US" b="1" dirty="0">
                <a:latin typeface="+mj-lt"/>
              </a:rPr>
              <a:t> STATEMENT (Cont…)</a:t>
            </a:r>
            <a:endParaRPr lang="en-US" b="1" dirty="0">
              <a:solidFill>
                <a:srgbClr val="FF0000"/>
              </a:solidFill>
              <a:latin typeface="+mj-lt"/>
            </a:endParaRPr>
          </a:p>
        </p:txBody>
      </p:sp>
      <p:sp>
        <p:nvSpPr>
          <p:cNvPr id="3" name="Content Placeholder 2"/>
          <p:cNvSpPr>
            <a:spLocks noGrp="1"/>
          </p:cNvSpPr>
          <p:nvPr>
            <p:ph sz="half" idx="2"/>
          </p:nvPr>
        </p:nvSpPr>
        <p:spPr>
          <a:xfrm>
            <a:off x="839787" y="2053883"/>
            <a:ext cx="9893861" cy="4135780"/>
          </a:xfrm>
        </p:spPr>
        <p:txBody>
          <a:bodyPr>
            <a:normAutofit/>
          </a:bodyPr>
          <a:lstStyle/>
          <a:p>
            <a:pPr>
              <a:buNone/>
            </a:pPr>
            <a:r>
              <a:rPr lang="en-US" b="1" dirty="0">
                <a:solidFill>
                  <a:schemeClr val="tx1">
                    <a:lumMod val="95000"/>
                    <a:lumOff val="5000"/>
                  </a:schemeClr>
                </a:solidFill>
                <a:latin typeface="+mn-lt"/>
              </a:rPr>
              <a:t>EXAMPLES :</a:t>
            </a:r>
          </a:p>
          <a:p>
            <a:pPr marL="0" indent="0">
              <a:spcBef>
                <a:spcPts val="750"/>
              </a:spcBef>
              <a:buNone/>
            </a:pPr>
            <a:r>
              <a:rPr lang="en-US" dirty="0">
                <a:solidFill>
                  <a:schemeClr val="tx1">
                    <a:lumMod val="95000"/>
                    <a:lumOff val="5000"/>
                  </a:schemeClr>
                </a:solidFill>
                <a:latin typeface="+mn-lt"/>
              </a:rPr>
              <a:t>return 5;                      // returns a value</a:t>
            </a:r>
          </a:p>
          <a:p>
            <a:pPr marL="0" indent="0">
              <a:spcBef>
                <a:spcPts val="750"/>
              </a:spcBef>
              <a:buNone/>
            </a:pPr>
            <a:r>
              <a:rPr lang="en-US" dirty="0">
                <a:solidFill>
                  <a:schemeClr val="tx1">
                    <a:lumMod val="95000"/>
                    <a:lumOff val="5000"/>
                  </a:schemeClr>
                </a:solidFill>
                <a:latin typeface="+mn-lt"/>
              </a:rPr>
              <a:t>return x;                      // returns a variable</a:t>
            </a:r>
          </a:p>
          <a:p>
            <a:pPr marL="0" indent="0">
              <a:spcBef>
                <a:spcPts val="750"/>
              </a:spcBef>
              <a:buNone/>
            </a:pPr>
            <a:r>
              <a:rPr lang="en-US" dirty="0">
                <a:solidFill>
                  <a:schemeClr val="tx1">
                    <a:lumMod val="95000"/>
                    <a:lumOff val="5000"/>
                  </a:schemeClr>
                </a:solidFill>
                <a:latin typeface="+mn-lt"/>
              </a:rPr>
              <a:t>return </a:t>
            </a:r>
            <a:r>
              <a:rPr lang="en-US" dirty="0" err="1">
                <a:solidFill>
                  <a:schemeClr val="tx1">
                    <a:lumMod val="95000"/>
                    <a:lumOff val="5000"/>
                  </a:schemeClr>
                </a:solidFill>
                <a:latin typeface="+mn-lt"/>
              </a:rPr>
              <a:t>a+b</a:t>
            </a:r>
            <a:r>
              <a:rPr lang="en-US" dirty="0">
                <a:solidFill>
                  <a:schemeClr val="tx1">
                    <a:lumMod val="95000"/>
                    <a:lumOff val="5000"/>
                  </a:schemeClr>
                </a:solidFill>
                <a:latin typeface="+mn-lt"/>
              </a:rPr>
              <a:t>;                // returns a value after doing addition</a:t>
            </a:r>
          </a:p>
          <a:p>
            <a:pPr marL="0" indent="0">
              <a:spcBef>
                <a:spcPts val="750"/>
              </a:spcBef>
              <a:buNone/>
            </a:pPr>
            <a:r>
              <a:rPr lang="en-US" dirty="0">
                <a:solidFill>
                  <a:schemeClr val="tx1">
                    <a:lumMod val="95000"/>
                    <a:lumOff val="5000"/>
                  </a:schemeClr>
                </a:solidFill>
                <a:latin typeface="+mn-lt"/>
              </a:rPr>
              <a:t>return &amp;p;                // returns an address stored in p</a:t>
            </a:r>
          </a:p>
          <a:p>
            <a:pPr marL="0" indent="0">
              <a:spcBef>
                <a:spcPts val="750"/>
              </a:spcBef>
              <a:buNone/>
            </a:pPr>
            <a:r>
              <a:rPr lang="en-US" dirty="0">
                <a:solidFill>
                  <a:schemeClr val="tx1">
                    <a:lumMod val="95000"/>
                    <a:lumOff val="5000"/>
                  </a:schemeClr>
                </a:solidFill>
                <a:latin typeface="+mn-lt"/>
              </a:rPr>
              <a:t>return *p;                // returns a value pointed by p </a:t>
            </a:r>
          </a:p>
          <a:p>
            <a:pPr algn="just">
              <a:buNone/>
            </a:pPr>
            <a:r>
              <a:rPr lang="en-US" dirty="0">
                <a:solidFill>
                  <a:schemeClr val="tx1">
                    <a:lumMod val="85000"/>
                    <a:lumOff val="15000"/>
                  </a:schemeClr>
                </a:solidFill>
                <a:latin typeface="+mn-lt"/>
              </a:rPr>
              <a:t> </a:t>
            </a:r>
            <a:endParaRPr lang="en-US" dirty="0"/>
          </a:p>
        </p:txBody>
      </p:sp>
      <p:sp>
        <p:nvSpPr>
          <p:cNvPr id="10" name="Slide Number Placeholder 9"/>
          <p:cNvSpPr>
            <a:spLocks noGrp="1"/>
          </p:cNvSpPr>
          <p:nvPr>
            <p:ph type="sldNum" sz="quarter" idx="12"/>
          </p:nvPr>
        </p:nvSpPr>
        <p:spPr/>
        <p:txBody>
          <a:bodyPr/>
          <a:lstStyle/>
          <a:p>
            <a:fld id="{4AD51EEE-AB63-4DA6-9F1F-5936DDA55F0B}" type="slidenum">
              <a:rPr lang="en-US" smtClean="0"/>
              <a:pPr/>
              <a:t>22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33006"/>
    </mc:Choice>
    <mc:Fallback xmlns="">
      <p:transition spd="slow" advTm="33006"/>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fontScale="90000"/>
          </a:bodyPr>
          <a:lstStyle/>
          <a:p>
            <a:pPr algn="ctr"/>
            <a:r>
              <a:rPr lang="en-US" b="1" dirty="0">
                <a:latin typeface="+mj-lt"/>
              </a:rPr>
              <a:t>FUNCTION DEFINITION </a:t>
            </a:r>
            <a:br>
              <a:rPr lang="en-US" b="1" dirty="0">
                <a:latin typeface="+mj-lt"/>
              </a:rPr>
            </a:br>
            <a:r>
              <a:rPr lang="en-US" b="1" dirty="0">
                <a:solidFill>
                  <a:srgbClr val="FF0000"/>
                </a:solidFill>
                <a:latin typeface="+mj-lt"/>
              </a:rPr>
              <a:t>return</a:t>
            </a:r>
            <a:r>
              <a:rPr lang="en-US" b="1" dirty="0">
                <a:latin typeface="+mj-lt"/>
              </a:rPr>
              <a:t> STATEMENT (Cont…)</a:t>
            </a:r>
            <a:r>
              <a:rPr lang="en-US" b="1" dirty="0">
                <a:solidFill>
                  <a:srgbClr val="FF0000"/>
                </a:solidFill>
                <a:latin typeface="+mj-lt"/>
              </a:rPr>
              <a:t/>
            </a:r>
            <a:br>
              <a:rPr lang="en-US" b="1" dirty="0">
                <a:solidFill>
                  <a:srgbClr val="FF0000"/>
                </a:solidFill>
                <a:latin typeface="+mj-lt"/>
              </a:rPr>
            </a:br>
            <a:endParaRPr lang="en-US" b="1" dirty="0">
              <a:solidFill>
                <a:srgbClr val="FF0000"/>
              </a:solidFill>
              <a:latin typeface="+mj-lt"/>
            </a:endParaRPr>
          </a:p>
        </p:txBody>
      </p:sp>
      <p:sp>
        <p:nvSpPr>
          <p:cNvPr id="55299" name="Rectangle 3"/>
          <p:cNvSpPr>
            <a:spLocks noGrp="1" noChangeArrowheads="1"/>
          </p:cNvSpPr>
          <p:nvPr>
            <p:ph idx="1"/>
          </p:nvPr>
        </p:nvSpPr>
        <p:spPr/>
        <p:txBody>
          <a:bodyPr/>
          <a:lstStyle/>
          <a:p>
            <a:pPr algn="just">
              <a:buNone/>
            </a:pPr>
            <a:r>
              <a:rPr lang="en-US" dirty="0">
                <a:solidFill>
                  <a:schemeClr val="tx1">
                    <a:lumMod val="95000"/>
                    <a:lumOff val="5000"/>
                  </a:schemeClr>
                </a:solidFill>
                <a:latin typeface="+mn-lt"/>
              </a:rPr>
              <a:t>If There is </a:t>
            </a:r>
            <a:r>
              <a:rPr lang="en-US" dirty="0">
                <a:solidFill>
                  <a:srgbClr val="FF0000"/>
                </a:solidFill>
                <a:latin typeface="+mn-lt"/>
              </a:rPr>
              <a:t>No return </a:t>
            </a:r>
            <a:r>
              <a:rPr lang="en-US" dirty="0">
                <a:solidFill>
                  <a:schemeClr val="bg2">
                    <a:lumMod val="10000"/>
                  </a:schemeClr>
                </a:solidFill>
                <a:latin typeface="+mn-lt"/>
              </a:rPr>
              <a:t>?</a:t>
            </a:r>
          </a:p>
          <a:p>
            <a:pPr algn="just">
              <a:buNone/>
            </a:pPr>
            <a:endParaRPr lang="en-US" dirty="0">
              <a:solidFill>
                <a:schemeClr val="tx1">
                  <a:lumMod val="95000"/>
                  <a:lumOff val="5000"/>
                </a:schemeClr>
              </a:solidFill>
              <a:latin typeface="+mn-lt"/>
            </a:endParaRPr>
          </a:p>
          <a:p>
            <a:pPr algn="just"/>
            <a:r>
              <a:rPr lang="en-US" dirty="0">
                <a:solidFill>
                  <a:schemeClr val="tx1">
                    <a:lumMod val="95000"/>
                    <a:lumOff val="5000"/>
                  </a:schemeClr>
                </a:solidFill>
                <a:latin typeface="+mn-lt"/>
              </a:rPr>
              <a:t>Control is passed back to the calling environment when the closing brace of the body is encountered.</a:t>
            </a:r>
          </a:p>
          <a:p>
            <a:pPr algn="just">
              <a:buNone/>
            </a:pPr>
            <a:endParaRPr lang="en-US" dirty="0">
              <a:solidFill>
                <a:schemeClr val="tx1">
                  <a:lumMod val="95000"/>
                  <a:lumOff val="5000"/>
                </a:schemeClr>
              </a:solidFill>
              <a:latin typeface="+mn-lt"/>
            </a:endParaRPr>
          </a:p>
          <a:p>
            <a:pPr algn="just"/>
            <a:r>
              <a:rPr lang="en-US" dirty="0">
                <a:solidFill>
                  <a:schemeClr val="tx1">
                    <a:lumMod val="95000"/>
                    <a:lumOff val="5000"/>
                  </a:schemeClr>
                </a:solidFill>
                <a:latin typeface="+mn-lt"/>
              </a:rPr>
              <a:t>Known as </a:t>
            </a:r>
            <a:r>
              <a:rPr lang="en-US" b="1" i="1" dirty="0">
                <a:solidFill>
                  <a:schemeClr val="tx1">
                    <a:lumMod val="95000"/>
                    <a:lumOff val="5000"/>
                  </a:schemeClr>
                </a:solidFill>
                <a:latin typeface="+mn-lt"/>
              </a:rPr>
              <a:t>“falling of the end.”</a:t>
            </a:r>
          </a:p>
        </p:txBody>
      </p:sp>
      <p:sp>
        <p:nvSpPr>
          <p:cNvPr id="5" name="Slide Number Placeholder 4"/>
          <p:cNvSpPr>
            <a:spLocks noGrp="1"/>
          </p:cNvSpPr>
          <p:nvPr>
            <p:ph type="sldNum" sz="quarter" idx="12"/>
          </p:nvPr>
        </p:nvSpPr>
        <p:spPr/>
        <p:txBody>
          <a:bodyPr/>
          <a:lstStyle/>
          <a:p>
            <a:fld id="{4AD51EEE-AB63-4DA6-9F1F-5936DDA55F0B}" type="slidenum">
              <a:rPr lang="en-US" smtClean="0"/>
              <a:pPr/>
              <a:t>23</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13560"/>
    </mc:Choice>
    <mc:Fallback xmlns="">
      <p:transition spd="slow" advTm="13560"/>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15" y="365125"/>
            <a:ext cx="10466363" cy="1325563"/>
          </a:xfrm>
        </p:spPr>
        <p:txBody>
          <a:bodyPr/>
          <a:lstStyle/>
          <a:p>
            <a:r>
              <a:rPr lang="en-US" b="1" dirty="0">
                <a:latin typeface="+mj-lt"/>
              </a:rPr>
              <a:t>USER DEFINED FUNCTION</a:t>
            </a:r>
            <a:br>
              <a:rPr lang="en-US" b="1" dirty="0">
                <a:latin typeface="+mj-lt"/>
              </a:rPr>
            </a:br>
            <a:r>
              <a:rPr lang="en-US" b="1" dirty="0">
                <a:latin typeface="+mj-lt"/>
              </a:rPr>
              <a:t>                                        – A </a:t>
            </a:r>
            <a:r>
              <a:rPr lang="en-US" b="1" dirty="0">
                <a:solidFill>
                  <a:srgbClr val="FF0000"/>
                </a:solidFill>
                <a:latin typeface="+mj-lt"/>
              </a:rPr>
              <a:t>RECAP </a:t>
            </a:r>
          </a:p>
        </p:txBody>
      </p:sp>
      <p:pic>
        <p:nvPicPr>
          <p:cNvPr id="5" name="Content Placeholder 4" descr="c-function.png"/>
          <p:cNvPicPr>
            <a:picLocks noGrp="1" noChangeAspect="1"/>
          </p:cNvPicPr>
          <p:nvPr>
            <p:ph idx="1"/>
          </p:nvPr>
        </p:nvPicPr>
        <p:blipFill>
          <a:blip r:embed="rId3"/>
          <a:stretch>
            <a:fillRect/>
          </a:stretch>
        </p:blipFill>
        <p:spPr>
          <a:xfrm>
            <a:off x="1111348" y="1716257"/>
            <a:ext cx="9411286" cy="4262511"/>
          </a:xfrm>
        </p:spPr>
      </p:pic>
      <p:sp>
        <p:nvSpPr>
          <p:cNvPr id="6" name="Slide Number Placeholder 5"/>
          <p:cNvSpPr>
            <a:spLocks noGrp="1"/>
          </p:cNvSpPr>
          <p:nvPr>
            <p:ph type="sldNum" sz="quarter" idx="12"/>
          </p:nvPr>
        </p:nvSpPr>
        <p:spPr/>
        <p:txBody>
          <a:bodyPr/>
          <a:lstStyle/>
          <a:p>
            <a:fld id="{4AD51EEE-AB63-4DA6-9F1F-5936DDA55F0B}" type="slidenum">
              <a:rPr lang="en-US" smtClean="0"/>
              <a:pPr/>
              <a:t>24</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32499"/>
    </mc:Choice>
    <mc:Fallback xmlns="">
      <p:transition spd="slow" advTm="32499"/>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098" y="253218"/>
            <a:ext cx="11188505" cy="1533379"/>
          </a:xfrm>
        </p:spPr>
        <p:txBody>
          <a:bodyPr>
            <a:normAutofit fontScale="90000"/>
          </a:bodyPr>
          <a:lstStyle/>
          <a:p>
            <a:r>
              <a:rPr lang="en-IN" b="1" dirty="0">
                <a:solidFill>
                  <a:schemeClr val="accent1">
                    <a:lumMod val="50000"/>
                  </a:schemeClr>
                </a:solidFill>
                <a:latin typeface="+mj-lt"/>
              </a:rPr>
              <a:t>PROGRAM EXAMPLE 1</a:t>
            </a:r>
            <a:br>
              <a:rPr lang="en-IN" b="1" dirty="0">
                <a:solidFill>
                  <a:schemeClr val="accent1">
                    <a:lumMod val="50000"/>
                  </a:schemeClr>
                </a:solidFill>
                <a:latin typeface="+mj-lt"/>
              </a:rPr>
            </a:br>
            <a:r>
              <a:rPr lang="en-IN" sz="3600" b="1" dirty="0">
                <a:solidFill>
                  <a:schemeClr val="accent1">
                    <a:lumMod val="50000"/>
                  </a:schemeClr>
                </a:solidFill>
                <a:latin typeface="+mj-lt"/>
              </a:rPr>
              <a:t>Find the square of a number</a:t>
            </a:r>
            <a:br>
              <a:rPr lang="en-IN" sz="3600" b="1" dirty="0">
                <a:solidFill>
                  <a:schemeClr val="accent1">
                    <a:lumMod val="50000"/>
                  </a:schemeClr>
                </a:solidFill>
                <a:latin typeface="+mj-lt"/>
              </a:rPr>
            </a:br>
            <a:endParaRPr lang="en-US" b="1" dirty="0">
              <a:solidFill>
                <a:schemeClr val="accent1">
                  <a:lumMod val="50000"/>
                </a:schemeClr>
              </a:solidFill>
              <a:latin typeface="+mj-lt"/>
            </a:endParaRPr>
          </a:p>
        </p:txBody>
      </p:sp>
      <p:sp>
        <p:nvSpPr>
          <p:cNvPr id="3" name="Content Placeholder 2"/>
          <p:cNvSpPr>
            <a:spLocks noGrp="1"/>
          </p:cNvSpPr>
          <p:nvPr>
            <p:ph idx="1"/>
          </p:nvPr>
        </p:nvSpPr>
        <p:spPr>
          <a:xfrm>
            <a:off x="609599" y="1434905"/>
            <a:ext cx="10405403" cy="4691259"/>
          </a:xfrm>
          <a:solidFill>
            <a:schemeClr val="bg2">
              <a:lumMod val="90000"/>
            </a:schemeClr>
          </a:solidFill>
        </p:spPr>
        <p:txBody>
          <a:bodyPr>
            <a:noAutofit/>
          </a:bodyPr>
          <a:lstStyle/>
          <a:p>
            <a:pPr marL="182880">
              <a:lnSpc>
                <a:spcPct val="100000"/>
              </a:lnSpc>
              <a:spcBef>
                <a:spcPts val="0"/>
              </a:spcBef>
              <a:buNone/>
            </a:pPr>
            <a:r>
              <a:rPr lang="en-US" sz="2000" dirty="0">
                <a:solidFill>
                  <a:schemeClr val="tx1"/>
                </a:solidFill>
                <a:latin typeface="+mn-lt"/>
              </a:rPr>
              <a:t>#include&lt;</a:t>
            </a:r>
            <a:r>
              <a:rPr lang="en-US" sz="2000" dirty="0" err="1">
                <a:solidFill>
                  <a:schemeClr val="tx1"/>
                </a:solidFill>
                <a:latin typeface="+mn-lt"/>
              </a:rPr>
              <a:t>stdio.h</a:t>
            </a:r>
            <a:r>
              <a:rPr lang="en-US" sz="2000" dirty="0">
                <a:solidFill>
                  <a:schemeClr val="tx1"/>
                </a:solidFill>
                <a:latin typeface="+mn-lt"/>
              </a:rPr>
              <a:t>&gt;</a:t>
            </a:r>
          </a:p>
          <a:p>
            <a:pPr marL="182880">
              <a:lnSpc>
                <a:spcPct val="100000"/>
              </a:lnSpc>
              <a:spcBef>
                <a:spcPts val="0"/>
              </a:spcBef>
              <a:buNone/>
            </a:pPr>
            <a:r>
              <a:rPr lang="en-US" sz="2000" dirty="0">
                <a:solidFill>
                  <a:schemeClr val="tx1"/>
                </a:solidFill>
                <a:latin typeface="+mn-lt"/>
              </a:rPr>
              <a:t>float square(float);</a:t>
            </a:r>
          </a:p>
          <a:p>
            <a:pPr marL="182880">
              <a:lnSpc>
                <a:spcPct val="100000"/>
              </a:lnSpc>
              <a:spcBef>
                <a:spcPts val="0"/>
              </a:spcBef>
              <a:buNone/>
            </a:pPr>
            <a:r>
              <a:rPr lang="en-US" sz="2000" dirty="0">
                <a:solidFill>
                  <a:schemeClr val="tx1"/>
                </a:solidFill>
                <a:latin typeface="+mn-lt"/>
              </a:rPr>
              <a:t>void main()</a:t>
            </a:r>
          </a:p>
          <a:p>
            <a:pPr marL="182880">
              <a:lnSpc>
                <a:spcPct val="100000"/>
              </a:lnSpc>
              <a:spcBef>
                <a:spcPts val="0"/>
              </a:spcBef>
              <a:buNone/>
            </a:pPr>
            <a:r>
              <a:rPr lang="en-US" sz="2000" dirty="0">
                <a:solidFill>
                  <a:schemeClr val="tx1"/>
                </a:solidFill>
                <a:latin typeface="+mn-lt"/>
              </a:rPr>
              <a:t>{</a:t>
            </a:r>
          </a:p>
          <a:p>
            <a:pPr marL="182880">
              <a:lnSpc>
                <a:spcPct val="100000"/>
              </a:lnSpc>
              <a:spcBef>
                <a:spcPts val="0"/>
              </a:spcBef>
              <a:buNone/>
            </a:pPr>
            <a:r>
              <a:rPr lang="en-US" sz="2000" dirty="0">
                <a:solidFill>
                  <a:schemeClr val="tx1"/>
                </a:solidFill>
                <a:latin typeface="+mn-lt"/>
              </a:rPr>
              <a:t>    float m, n ;</a:t>
            </a:r>
          </a:p>
          <a:p>
            <a:pPr marL="182880">
              <a:lnSpc>
                <a:spcPct val="100000"/>
              </a:lnSpc>
              <a:spcBef>
                <a:spcPts val="0"/>
              </a:spcBef>
              <a:buNone/>
            </a:pPr>
            <a:r>
              <a:rPr lang="en-US" sz="2000" dirty="0">
                <a:solidFill>
                  <a:schemeClr val="tx1"/>
                </a:solidFill>
                <a:latin typeface="+mn-lt"/>
              </a:rPr>
              <a:t>    </a:t>
            </a:r>
            <a:r>
              <a:rPr lang="en-US" sz="2000" dirty="0" err="1">
                <a:solidFill>
                  <a:schemeClr val="tx1"/>
                </a:solidFill>
                <a:latin typeface="+mn-lt"/>
              </a:rPr>
              <a:t>printf</a:t>
            </a:r>
            <a:r>
              <a:rPr lang="en-US" sz="2000" dirty="0">
                <a:solidFill>
                  <a:schemeClr val="tx1"/>
                </a:solidFill>
                <a:latin typeface="+mn-lt"/>
              </a:rPr>
              <a:t> ("\</a:t>
            </a:r>
            <a:r>
              <a:rPr lang="en-US" sz="2000" dirty="0" err="1">
                <a:solidFill>
                  <a:schemeClr val="tx1"/>
                </a:solidFill>
                <a:latin typeface="+mn-lt"/>
              </a:rPr>
              <a:t>nEnter</a:t>
            </a:r>
            <a:r>
              <a:rPr lang="en-US" sz="2000" dirty="0">
                <a:solidFill>
                  <a:schemeClr val="tx1"/>
                </a:solidFill>
                <a:latin typeface="+mn-lt"/>
              </a:rPr>
              <a:t> some number for finding square \n");</a:t>
            </a:r>
          </a:p>
          <a:p>
            <a:pPr marL="182880">
              <a:lnSpc>
                <a:spcPct val="100000"/>
              </a:lnSpc>
              <a:spcBef>
                <a:spcPts val="0"/>
              </a:spcBef>
              <a:buNone/>
            </a:pPr>
            <a:r>
              <a:rPr lang="en-US" sz="2000" dirty="0">
                <a:solidFill>
                  <a:schemeClr val="tx1"/>
                </a:solidFill>
                <a:latin typeface="+mn-lt"/>
              </a:rPr>
              <a:t>    </a:t>
            </a:r>
            <a:r>
              <a:rPr lang="en-US" sz="2000" dirty="0" err="1">
                <a:solidFill>
                  <a:schemeClr val="tx1"/>
                </a:solidFill>
                <a:latin typeface="+mn-lt"/>
              </a:rPr>
              <a:t>scanf</a:t>
            </a:r>
            <a:r>
              <a:rPr lang="en-US" sz="2000" dirty="0">
                <a:solidFill>
                  <a:schemeClr val="tx1"/>
                </a:solidFill>
                <a:latin typeface="+mn-lt"/>
              </a:rPr>
              <a:t> ( "%f", &amp;m ) ;</a:t>
            </a:r>
          </a:p>
          <a:p>
            <a:pPr marL="182880">
              <a:lnSpc>
                <a:spcPct val="100000"/>
              </a:lnSpc>
              <a:spcBef>
                <a:spcPts val="0"/>
              </a:spcBef>
              <a:buNone/>
            </a:pPr>
            <a:r>
              <a:rPr lang="en-US" sz="2000" dirty="0">
                <a:solidFill>
                  <a:schemeClr val="tx1"/>
                </a:solidFill>
                <a:latin typeface="+mn-lt"/>
              </a:rPr>
              <a:t>    n = square(m) ;</a:t>
            </a:r>
          </a:p>
          <a:p>
            <a:pPr marL="182880">
              <a:lnSpc>
                <a:spcPct val="100000"/>
              </a:lnSpc>
              <a:spcBef>
                <a:spcPts val="0"/>
              </a:spcBef>
              <a:buNone/>
            </a:pPr>
            <a:r>
              <a:rPr lang="en-US" sz="2000" dirty="0">
                <a:solidFill>
                  <a:schemeClr val="tx1"/>
                </a:solidFill>
                <a:latin typeface="+mn-lt"/>
              </a:rPr>
              <a:t>    </a:t>
            </a:r>
            <a:r>
              <a:rPr lang="en-US" sz="2000" dirty="0" err="1">
                <a:solidFill>
                  <a:schemeClr val="tx1"/>
                </a:solidFill>
                <a:latin typeface="+mn-lt"/>
              </a:rPr>
              <a:t>printf</a:t>
            </a:r>
            <a:r>
              <a:rPr lang="en-US" sz="2000" dirty="0">
                <a:solidFill>
                  <a:schemeClr val="tx1"/>
                </a:solidFill>
                <a:latin typeface="+mn-lt"/>
              </a:rPr>
              <a:t>("\</a:t>
            </a:r>
            <a:r>
              <a:rPr lang="en-US" sz="2000" dirty="0" err="1">
                <a:solidFill>
                  <a:schemeClr val="tx1"/>
                </a:solidFill>
                <a:latin typeface="+mn-lt"/>
              </a:rPr>
              <a:t>nSquare</a:t>
            </a:r>
            <a:r>
              <a:rPr lang="en-US" sz="2000" dirty="0">
                <a:solidFill>
                  <a:schemeClr val="tx1"/>
                </a:solidFill>
                <a:latin typeface="+mn-lt"/>
              </a:rPr>
              <a:t> of the given number %f is %</a:t>
            </a:r>
            <a:r>
              <a:rPr lang="en-US" sz="2000" dirty="0" err="1">
                <a:solidFill>
                  <a:schemeClr val="tx1"/>
                </a:solidFill>
                <a:latin typeface="+mn-lt"/>
              </a:rPr>
              <a:t>f",m,n</a:t>
            </a:r>
            <a:r>
              <a:rPr lang="en-US" sz="2000" dirty="0">
                <a:solidFill>
                  <a:schemeClr val="tx1"/>
                </a:solidFill>
                <a:latin typeface="+mn-lt"/>
              </a:rPr>
              <a:t>);</a:t>
            </a:r>
          </a:p>
          <a:p>
            <a:pPr marL="182880">
              <a:lnSpc>
                <a:spcPct val="100000"/>
              </a:lnSpc>
              <a:spcBef>
                <a:spcPts val="0"/>
              </a:spcBef>
              <a:buNone/>
            </a:pPr>
            <a:r>
              <a:rPr lang="en-US" sz="2000" dirty="0">
                <a:solidFill>
                  <a:schemeClr val="tx1"/>
                </a:solidFill>
                <a:latin typeface="+mn-lt"/>
              </a:rPr>
              <a:t>}</a:t>
            </a:r>
          </a:p>
          <a:p>
            <a:pPr marL="182880">
              <a:lnSpc>
                <a:spcPct val="100000"/>
              </a:lnSpc>
              <a:spcBef>
                <a:spcPts val="0"/>
              </a:spcBef>
              <a:buNone/>
            </a:pPr>
            <a:r>
              <a:rPr lang="en-US" sz="2000" dirty="0">
                <a:solidFill>
                  <a:schemeClr val="tx1"/>
                </a:solidFill>
                <a:latin typeface="+mn-lt"/>
              </a:rPr>
              <a:t>float square(float x)</a:t>
            </a:r>
          </a:p>
          <a:p>
            <a:pPr marL="182880">
              <a:lnSpc>
                <a:spcPct val="100000"/>
              </a:lnSpc>
              <a:spcBef>
                <a:spcPts val="0"/>
              </a:spcBef>
              <a:buNone/>
            </a:pPr>
            <a:r>
              <a:rPr lang="en-US" sz="2000" dirty="0">
                <a:solidFill>
                  <a:schemeClr val="tx1"/>
                </a:solidFill>
                <a:latin typeface="+mn-lt"/>
              </a:rPr>
              <a:t>{</a:t>
            </a:r>
          </a:p>
          <a:p>
            <a:pPr marL="182880">
              <a:lnSpc>
                <a:spcPct val="100000"/>
              </a:lnSpc>
              <a:spcBef>
                <a:spcPts val="0"/>
              </a:spcBef>
              <a:buNone/>
            </a:pPr>
            <a:r>
              <a:rPr lang="en-US" sz="2000" dirty="0">
                <a:solidFill>
                  <a:schemeClr val="tx1"/>
                </a:solidFill>
                <a:latin typeface="+mn-lt"/>
              </a:rPr>
              <a:t>    float p;</a:t>
            </a:r>
          </a:p>
          <a:p>
            <a:pPr marL="182880">
              <a:lnSpc>
                <a:spcPct val="100000"/>
              </a:lnSpc>
              <a:spcBef>
                <a:spcPts val="0"/>
              </a:spcBef>
              <a:buNone/>
            </a:pPr>
            <a:r>
              <a:rPr lang="en-US" sz="2000" dirty="0">
                <a:solidFill>
                  <a:schemeClr val="tx1"/>
                </a:solidFill>
                <a:latin typeface="+mn-lt"/>
              </a:rPr>
              <a:t>    p=x*x;</a:t>
            </a:r>
          </a:p>
          <a:p>
            <a:pPr marL="182880">
              <a:lnSpc>
                <a:spcPct val="100000"/>
              </a:lnSpc>
              <a:spcBef>
                <a:spcPts val="0"/>
              </a:spcBef>
              <a:buNone/>
            </a:pPr>
            <a:r>
              <a:rPr lang="en-US" sz="2000" dirty="0">
                <a:solidFill>
                  <a:schemeClr val="tx1"/>
                </a:solidFill>
                <a:latin typeface="+mn-lt"/>
              </a:rPr>
              <a:t>    return(p);</a:t>
            </a:r>
          </a:p>
          <a:p>
            <a:pPr marL="182880">
              <a:lnSpc>
                <a:spcPct val="100000"/>
              </a:lnSpc>
              <a:spcBef>
                <a:spcPts val="0"/>
              </a:spcBef>
              <a:buNone/>
            </a:pPr>
            <a:r>
              <a:rPr lang="en-US" sz="2000" dirty="0">
                <a:solidFill>
                  <a:schemeClr val="tx1"/>
                </a:solidFill>
                <a:latin typeface="+mn-lt"/>
              </a:rPr>
              <a:t>}</a:t>
            </a:r>
          </a:p>
        </p:txBody>
      </p:sp>
      <p:sp>
        <p:nvSpPr>
          <p:cNvPr id="6" name="Slide Number Placeholder 5"/>
          <p:cNvSpPr>
            <a:spLocks noGrp="1"/>
          </p:cNvSpPr>
          <p:nvPr>
            <p:ph type="sldNum" sz="quarter" idx="12"/>
          </p:nvPr>
        </p:nvSpPr>
        <p:spPr/>
        <p:txBody>
          <a:bodyPr/>
          <a:lstStyle/>
          <a:p>
            <a:fld id="{4AD51EEE-AB63-4DA6-9F1F-5936DDA55F0B}" type="slidenum">
              <a:rPr lang="en-US" smtClean="0"/>
              <a:pPr/>
              <a:t>25</a:t>
            </a:fld>
            <a:endParaRPr lang="en-US"/>
          </a:p>
        </p:txBody>
      </p:sp>
      <p:sp>
        <p:nvSpPr>
          <p:cNvPr id="8" name="TextBox 7"/>
          <p:cNvSpPr txBox="1"/>
          <p:nvPr/>
        </p:nvSpPr>
        <p:spPr>
          <a:xfrm>
            <a:off x="5978769" y="5008098"/>
            <a:ext cx="5022167" cy="1077218"/>
          </a:xfrm>
          <a:prstGeom prst="rect">
            <a:avLst/>
          </a:prstGeom>
          <a:solidFill>
            <a:schemeClr val="bg2">
              <a:lumMod val="50000"/>
            </a:schemeClr>
          </a:solidFill>
        </p:spPr>
        <p:txBody>
          <a:bodyPr wrap="square" rtlCol="0">
            <a:spAutoFit/>
          </a:bodyPr>
          <a:lstStyle/>
          <a:p>
            <a:r>
              <a:rPr lang="en-US" sz="1600" b="1" dirty="0"/>
              <a:t>OUTPUT :</a:t>
            </a:r>
          </a:p>
          <a:p>
            <a:r>
              <a:rPr lang="en-US" sz="1600" dirty="0"/>
              <a:t>Enter some number for finding square </a:t>
            </a:r>
          </a:p>
          <a:p>
            <a:r>
              <a:rPr lang="en-US" sz="1600" dirty="0"/>
              <a:t>3</a:t>
            </a:r>
          </a:p>
          <a:p>
            <a:r>
              <a:rPr lang="en-US" sz="1600" dirty="0"/>
              <a:t>Square of the given number 3.00000 is 9.00000</a:t>
            </a:r>
          </a:p>
        </p:txBody>
      </p:sp>
    </p:spTree>
  </p:cSld>
  <p:clrMapOvr>
    <a:masterClrMapping/>
  </p:clrMapOvr>
  <mc:AlternateContent xmlns:mc="http://schemas.openxmlformats.org/markup-compatibility/2006" xmlns:p14="http://schemas.microsoft.com/office/powerpoint/2010/main">
    <mc:Choice Requires="p14">
      <p:transition spd="slow" p14:dur="2000" advTm="87220"/>
    </mc:Choice>
    <mc:Fallback xmlns="">
      <p:transition spd="slow" advTm="87220"/>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098" y="506437"/>
            <a:ext cx="11188505" cy="1280160"/>
          </a:xfrm>
        </p:spPr>
        <p:txBody>
          <a:bodyPr>
            <a:normAutofit fontScale="90000"/>
          </a:bodyPr>
          <a:lstStyle/>
          <a:p>
            <a:r>
              <a:rPr lang="en-IN" b="1" dirty="0">
                <a:solidFill>
                  <a:schemeClr val="accent1">
                    <a:lumMod val="50000"/>
                  </a:schemeClr>
                </a:solidFill>
                <a:latin typeface="+mj-lt"/>
              </a:rPr>
              <a:t>PROGRAM EXAMPLE 2:</a:t>
            </a:r>
            <a:br>
              <a:rPr lang="en-IN" b="1" dirty="0">
                <a:solidFill>
                  <a:schemeClr val="accent1">
                    <a:lumMod val="50000"/>
                  </a:schemeClr>
                </a:solidFill>
                <a:latin typeface="+mj-lt"/>
              </a:rPr>
            </a:br>
            <a:r>
              <a:rPr lang="en-US" sz="3600" b="1" dirty="0">
                <a:solidFill>
                  <a:schemeClr val="accent1">
                    <a:lumMod val="50000"/>
                  </a:schemeClr>
                </a:solidFill>
                <a:latin typeface="+mj-lt"/>
              </a:rPr>
              <a:t>Function  to Calculate the Minimum of 2 Values</a:t>
            </a:r>
            <a:br>
              <a:rPr lang="en-US" sz="3600" b="1" dirty="0">
                <a:solidFill>
                  <a:schemeClr val="accent1">
                    <a:lumMod val="50000"/>
                  </a:schemeClr>
                </a:solidFill>
                <a:latin typeface="+mj-lt"/>
              </a:rPr>
            </a:br>
            <a:r>
              <a:rPr lang="en-IN" sz="3600" b="1" dirty="0">
                <a:solidFill>
                  <a:schemeClr val="accent1">
                    <a:lumMod val="50000"/>
                  </a:schemeClr>
                </a:solidFill>
                <a:latin typeface="+mj-lt"/>
              </a:rPr>
              <a:t/>
            </a:r>
            <a:br>
              <a:rPr lang="en-IN" sz="3600" b="1" dirty="0">
                <a:solidFill>
                  <a:schemeClr val="accent1">
                    <a:lumMod val="50000"/>
                  </a:schemeClr>
                </a:solidFill>
                <a:latin typeface="+mj-lt"/>
              </a:rPr>
            </a:br>
            <a:endParaRPr lang="en-US" b="1" dirty="0">
              <a:solidFill>
                <a:schemeClr val="accent1">
                  <a:lumMod val="50000"/>
                </a:schemeClr>
              </a:solidFill>
              <a:latin typeface="+mj-lt"/>
            </a:endParaRPr>
          </a:p>
        </p:txBody>
      </p:sp>
      <p:sp>
        <p:nvSpPr>
          <p:cNvPr id="3" name="Content Placeholder 2"/>
          <p:cNvSpPr>
            <a:spLocks noGrp="1"/>
          </p:cNvSpPr>
          <p:nvPr>
            <p:ph idx="1"/>
          </p:nvPr>
        </p:nvSpPr>
        <p:spPr>
          <a:xfrm>
            <a:off x="609599" y="1167618"/>
            <a:ext cx="10405403" cy="5430129"/>
          </a:xfrm>
          <a:solidFill>
            <a:schemeClr val="bg2">
              <a:lumMod val="90000"/>
            </a:schemeClr>
          </a:solidFill>
        </p:spPr>
        <p:txBody>
          <a:bodyPr>
            <a:noAutofit/>
          </a:bodyPr>
          <a:lstStyle/>
          <a:p>
            <a:pPr>
              <a:lnSpc>
                <a:spcPct val="100000"/>
              </a:lnSpc>
              <a:spcBef>
                <a:spcPts val="0"/>
              </a:spcBef>
              <a:buNone/>
            </a:pPr>
            <a:r>
              <a:rPr lang="en-US" sz="2000" dirty="0">
                <a:solidFill>
                  <a:schemeClr val="tx1"/>
                </a:solidFill>
                <a:latin typeface="+mn-lt"/>
              </a:rPr>
              <a:t>#include &lt;</a:t>
            </a:r>
            <a:r>
              <a:rPr lang="en-US" sz="2000" dirty="0" err="1">
                <a:solidFill>
                  <a:schemeClr val="tx1"/>
                </a:solidFill>
                <a:latin typeface="+mn-lt"/>
              </a:rPr>
              <a:t>stdio.h</a:t>
            </a:r>
            <a:r>
              <a:rPr lang="en-US" sz="2000" dirty="0">
                <a:solidFill>
                  <a:schemeClr val="tx1"/>
                </a:solidFill>
                <a:latin typeface="+mn-lt"/>
              </a:rPr>
              <a:t>&gt;</a:t>
            </a:r>
          </a:p>
          <a:p>
            <a:pPr>
              <a:lnSpc>
                <a:spcPct val="100000"/>
              </a:lnSpc>
              <a:spcBef>
                <a:spcPts val="0"/>
              </a:spcBef>
              <a:buNone/>
            </a:pPr>
            <a:r>
              <a:rPr lang="en-US" sz="2000" dirty="0" err="1">
                <a:solidFill>
                  <a:schemeClr val="tx1"/>
                </a:solidFill>
                <a:latin typeface="+mn-lt"/>
              </a:rPr>
              <a:t>int</a:t>
            </a:r>
            <a:r>
              <a:rPr lang="en-US" sz="2000" dirty="0">
                <a:solidFill>
                  <a:schemeClr val="tx1"/>
                </a:solidFill>
                <a:latin typeface="+mn-lt"/>
              </a:rPr>
              <a:t>  min(</a:t>
            </a:r>
            <a:r>
              <a:rPr lang="en-US" sz="2000" dirty="0" err="1">
                <a:solidFill>
                  <a:schemeClr val="tx1"/>
                </a:solidFill>
                <a:latin typeface="+mn-lt"/>
              </a:rPr>
              <a:t>int</a:t>
            </a:r>
            <a:r>
              <a:rPr lang="en-US" sz="2000" dirty="0">
                <a:solidFill>
                  <a:schemeClr val="tx1"/>
                </a:solidFill>
                <a:latin typeface="+mn-lt"/>
              </a:rPr>
              <a:t> a, </a:t>
            </a:r>
            <a:r>
              <a:rPr lang="en-US" sz="2000" dirty="0" err="1">
                <a:solidFill>
                  <a:schemeClr val="tx1"/>
                </a:solidFill>
                <a:latin typeface="+mn-lt"/>
              </a:rPr>
              <a:t>int</a:t>
            </a:r>
            <a:r>
              <a:rPr lang="en-US" sz="2000" dirty="0">
                <a:solidFill>
                  <a:schemeClr val="tx1"/>
                </a:solidFill>
                <a:latin typeface="+mn-lt"/>
              </a:rPr>
              <a:t> b);</a:t>
            </a:r>
          </a:p>
          <a:p>
            <a:pPr>
              <a:lnSpc>
                <a:spcPct val="100000"/>
              </a:lnSpc>
              <a:spcBef>
                <a:spcPts val="0"/>
              </a:spcBef>
              <a:buNone/>
            </a:pPr>
            <a:r>
              <a:rPr lang="en-US" sz="2000" dirty="0" err="1">
                <a:solidFill>
                  <a:schemeClr val="tx1"/>
                </a:solidFill>
                <a:latin typeface="+mn-lt"/>
              </a:rPr>
              <a:t>int</a:t>
            </a:r>
            <a:r>
              <a:rPr lang="en-US" sz="2000" dirty="0">
                <a:solidFill>
                  <a:schemeClr val="tx1"/>
                </a:solidFill>
                <a:latin typeface="+mn-lt"/>
              </a:rPr>
              <a:t> main(void)</a:t>
            </a:r>
          </a:p>
          <a:p>
            <a:pPr>
              <a:lnSpc>
                <a:spcPct val="100000"/>
              </a:lnSpc>
              <a:spcBef>
                <a:spcPts val="0"/>
              </a:spcBef>
              <a:buNone/>
            </a:pPr>
            <a:r>
              <a:rPr lang="en-US" sz="2000" dirty="0">
                <a:solidFill>
                  <a:schemeClr val="tx1"/>
                </a:solidFill>
                <a:latin typeface="+mn-lt"/>
              </a:rPr>
              <a:t>{</a:t>
            </a:r>
          </a:p>
          <a:p>
            <a:pPr>
              <a:lnSpc>
                <a:spcPct val="100000"/>
              </a:lnSpc>
              <a:spcBef>
                <a:spcPts val="0"/>
              </a:spcBef>
              <a:buNone/>
            </a:pPr>
            <a:r>
              <a:rPr lang="en-US" sz="2000" dirty="0">
                <a:solidFill>
                  <a:schemeClr val="tx1"/>
                </a:solidFill>
                <a:latin typeface="+mn-lt"/>
              </a:rPr>
              <a:t>   </a:t>
            </a:r>
            <a:r>
              <a:rPr lang="en-US" sz="2000" dirty="0" err="1">
                <a:solidFill>
                  <a:schemeClr val="tx1"/>
                </a:solidFill>
                <a:latin typeface="+mn-lt"/>
              </a:rPr>
              <a:t>int</a:t>
            </a:r>
            <a:r>
              <a:rPr lang="en-US" sz="2000" dirty="0">
                <a:solidFill>
                  <a:schemeClr val="tx1"/>
                </a:solidFill>
                <a:latin typeface="+mn-lt"/>
              </a:rPr>
              <a:t>   j, k, m;</a:t>
            </a:r>
          </a:p>
          <a:p>
            <a:pPr>
              <a:lnSpc>
                <a:spcPct val="100000"/>
              </a:lnSpc>
              <a:spcBef>
                <a:spcPts val="0"/>
              </a:spcBef>
              <a:buNone/>
            </a:pPr>
            <a:r>
              <a:rPr lang="en-US" sz="2000" dirty="0">
                <a:solidFill>
                  <a:schemeClr val="tx1"/>
                </a:solidFill>
                <a:latin typeface="+mn-lt"/>
              </a:rPr>
              <a:t>   </a:t>
            </a:r>
            <a:r>
              <a:rPr lang="en-US" sz="2000" dirty="0" err="1">
                <a:solidFill>
                  <a:schemeClr val="tx1"/>
                </a:solidFill>
                <a:latin typeface="+mn-lt"/>
              </a:rPr>
              <a:t>printf</a:t>
            </a:r>
            <a:r>
              <a:rPr lang="en-US" sz="2000" dirty="0">
                <a:solidFill>
                  <a:schemeClr val="tx1"/>
                </a:solidFill>
                <a:latin typeface="+mn-lt"/>
              </a:rPr>
              <a:t>("\</a:t>
            </a:r>
            <a:r>
              <a:rPr lang="en-US" sz="2000" dirty="0" err="1">
                <a:solidFill>
                  <a:schemeClr val="tx1"/>
                </a:solidFill>
                <a:latin typeface="+mn-lt"/>
              </a:rPr>
              <a:t>nInput</a:t>
            </a:r>
            <a:r>
              <a:rPr lang="en-US" sz="2000" dirty="0">
                <a:solidFill>
                  <a:schemeClr val="tx1"/>
                </a:solidFill>
                <a:latin typeface="+mn-lt"/>
              </a:rPr>
              <a:t> two integers: ");</a:t>
            </a:r>
          </a:p>
          <a:p>
            <a:pPr>
              <a:lnSpc>
                <a:spcPct val="100000"/>
              </a:lnSpc>
              <a:spcBef>
                <a:spcPts val="0"/>
              </a:spcBef>
              <a:buNone/>
            </a:pPr>
            <a:r>
              <a:rPr lang="en-US" sz="2000" dirty="0">
                <a:solidFill>
                  <a:schemeClr val="tx1"/>
                </a:solidFill>
                <a:latin typeface="+mn-lt"/>
              </a:rPr>
              <a:t>   </a:t>
            </a:r>
            <a:r>
              <a:rPr lang="en-US" sz="2000" dirty="0" err="1">
                <a:solidFill>
                  <a:schemeClr val="tx1"/>
                </a:solidFill>
                <a:latin typeface="+mn-lt"/>
              </a:rPr>
              <a:t>scanf</a:t>
            </a:r>
            <a:r>
              <a:rPr lang="en-US" sz="2000" dirty="0">
                <a:solidFill>
                  <a:schemeClr val="tx1"/>
                </a:solidFill>
                <a:latin typeface="+mn-lt"/>
              </a:rPr>
              <a:t>("%</a:t>
            </a:r>
            <a:r>
              <a:rPr lang="en-US" sz="2000" dirty="0" err="1">
                <a:solidFill>
                  <a:schemeClr val="tx1"/>
                </a:solidFill>
                <a:latin typeface="+mn-lt"/>
              </a:rPr>
              <a:t>d%d</a:t>
            </a:r>
            <a:r>
              <a:rPr lang="en-US" sz="2000" dirty="0">
                <a:solidFill>
                  <a:schemeClr val="tx1"/>
                </a:solidFill>
                <a:latin typeface="+mn-lt"/>
              </a:rPr>
              <a:t>", &amp;j, &amp;k);</a:t>
            </a:r>
          </a:p>
          <a:p>
            <a:pPr>
              <a:lnSpc>
                <a:spcPct val="100000"/>
              </a:lnSpc>
              <a:spcBef>
                <a:spcPts val="0"/>
              </a:spcBef>
              <a:buNone/>
            </a:pPr>
            <a:r>
              <a:rPr lang="en-US" sz="2000" dirty="0">
                <a:solidFill>
                  <a:schemeClr val="tx1"/>
                </a:solidFill>
                <a:latin typeface="+mn-lt"/>
              </a:rPr>
              <a:t>   m = min(j, k);</a:t>
            </a:r>
          </a:p>
          <a:p>
            <a:pPr>
              <a:lnSpc>
                <a:spcPct val="100000"/>
              </a:lnSpc>
              <a:spcBef>
                <a:spcPts val="0"/>
              </a:spcBef>
              <a:buNone/>
            </a:pPr>
            <a:r>
              <a:rPr lang="en-US" sz="2000" dirty="0">
                <a:solidFill>
                  <a:schemeClr val="tx1"/>
                </a:solidFill>
                <a:latin typeface="+mn-lt"/>
              </a:rPr>
              <a:t>   </a:t>
            </a:r>
            <a:r>
              <a:rPr lang="en-US" sz="2000" dirty="0" err="1">
                <a:solidFill>
                  <a:schemeClr val="tx1"/>
                </a:solidFill>
                <a:latin typeface="+mn-lt"/>
              </a:rPr>
              <a:t>printf</a:t>
            </a:r>
            <a:r>
              <a:rPr lang="en-US" sz="2000" dirty="0">
                <a:solidFill>
                  <a:schemeClr val="tx1"/>
                </a:solidFill>
                <a:latin typeface="+mn-lt"/>
              </a:rPr>
              <a:t>("\</a:t>
            </a:r>
            <a:r>
              <a:rPr lang="en-US" sz="2000" dirty="0" err="1">
                <a:solidFill>
                  <a:schemeClr val="tx1"/>
                </a:solidFill>
                <a:latin typeface="+mn-lt"/>
              </a:rPr>
              <a:t>nOf</a:t>
            </a:r>
            <a:r>
              <a:rPr lang="en-US" sz="2000" dirty="0">
                <a:solidFill>
                  <a:schemeClr val="tx1"/>
                </a:solidFill>
                <a:latin typeface="+mn-lt"/>
              </a:rPr>
              <a:t> the two values %d and %d, the minimum is %d.\n\n", j, k, m);</a:t>
            </a:r>
          </a:p>
          <a:p>
            <a:pPr>
              <a:lnSpc>
                <a:spcPct val="100000"/>
              </a:lnSpc>
              <a:spcBef>
                <a:spcPts val="0"/>
              </a:spcBef>
              <a:buNone/>
            </a:pPr>
            <a:r>
              <a:rPr lang="en-US" sz="2000" dirty="0">
                <a:solidFill>
                  <a:schemeClr val="tx1"/>
                </a:solidFill>
                <a:latin typeface="+mn-lt"/>
              </a:rPr>
              <a:t>   return 0;</a:t>
            </a:r>
          </a:p>
          <a:p>
            <a:pPr>
              <a:lnSpc>
                <a:spcPct val="100000"/>
              </a:lnSpc>
              <a:spcBef>
                <a:spcPts val="0"/>
              </a:spcBef>
              <a:buNone/>
            </a:pPr>
            <a:r>
              <a:rPr lang="en-US" sz="2000" dirty="0">
                <a:solidFill>
                  <a:schemeClr val="tx1"/>
                </a:solidFill>
                <a:latin typeface="+mn-lt"/>
              </a:rPr>
              <a:t>}</a:t>
            </a:r>
          </a:p>
          <a:p>
            <a:pPr>
              <a:lnSpc>
                <a:spcPct val="100000"/>
              </a:lnSpc>
              <a:spcBef>
                <a:spcPts val="0"/>
              </a:spcBef>
              <a:buNone/>
            </a:pPr>
            <a:r>
              <a:rPr lang="en-US" sz="2000" dirty="0" err="1">
                <a:solidFill>
                  <a:schemeClr val="tx1"/>
                </a:solidFill>
                <a:latin typeface="+mn-lt"/>
              </a:rPr>
              <a:t>int</a:t>
            </a:r>
            <a:r>
              <a:rPr lang="en-US" sz="2000" dirty="0">
                <a:solidFill>
                  <a:schemeClr val="tx1"/>
                </a:solidFill>
                <a:latin typeface="+mn-lt"/>
              </a:rPr>
              <a:t> min(</a:t>
            </a:r>
            <a:r>
              <a:rPr lang="en-US" sz="2000" dirty="0" err="1">
                <a:solidFill>
                  <a:schemeClr val="tx1"/>
                </a:solidFill>
                <a:latin typeface="+mn-lt"/>
              </a:rPr>
              <a:t>int</a:t>
            </a:r>
            <a:r>
              <a:rPr lang="en-US" sz="2000" dirty="0">
                <a:solidFill>
                  <a:schemeClr val="tx1"/>
                </a:solidFill>
                <a:latin typeface="+mn-lt"/>
              </a:rPr>
              <a:t> a, </a:t>
            </a:r>
            <a:r>
              <a:rPr lang="en-US" sz="2000" dirty="0" err="1">
                <a:solidFill>
                  <a:schemeClr val="tx1"/>
                </a:solidFill>
                <a:latin typeface="+mn-lt"/>
              </a:rPr>
              <a:t>int</a:t>
            </a:r>
            <a:r>
              <a:rPr lang="en-US" sz="2000" dirty="0">
                <a:solidFill>
                  <a:schemeClr val="tx1"/>
                </a:solidFill>
                <a:latin typeface="+mn-lt"/>
              </a:rPr>
              <a:t> b)</a:t>
            </a:r>
          </a:p>
          <a:p>
            <a:pPr>
              <a:lnSpc>
                <a:spcPct val="100000"/>
              </a:lnSpc>
              <a:spcBef>
                <a:spcPts val="0"/>
              </a:spcBef>
              <a:buNone/>
            </a:pPr>
            <a:r>
              <a:rPr lang="en-US" sz="2000" dirty="0">
                <a:solidFill>
                  <a:schemeClr val="tx1"/>
                </a:solidFill>
                <a:latin typeface="+mn-lt"/>
              </a:rPr>
              <a:t>{</a:t>
            </a:r>
          </a:p>
          <a:p>
            <a:pPr>
              <a:lnSpc>
                <a:spcPct val="100000"/>
              </a:lnSpc>
              <a:spcBef>
                <a:spcPts val="0"/>
              </a:spcBef>
              <a:buNone/>
            </a:pPr>
            <a:r>
              <a:rPr lang="en-US" sz="2000" dirty="0">
                <a:solidFill>
                  <a:schemeClr val="tx1"/>
                </a:solidFill>
                <a:latin typeface="+mn-lt"/>
              </a:rPr>
              <a:t>   if (a &lt; b)</a:t>
            </a:r>
          </a:p>
          <a:p>
            <a:pPr>
              <a:lnSpc>
                <a:spcPct val="100000"/>
              </a:lnSpc>
              <a:spcBef>
                <a:spcPts val="0"/>
              </a:spcBef>
              <a:buNone/>
            </a:pPr>
            <a:r>
              <a:rPr lang="en-US" sz="2000" dirty="0">
                <a:solidFill>
                  <a:schemeClr val="tx1"/>
                </a:solidFill>
                <a:latin typeface="+mn-lt"/>
              </a:rPr>
              <a:t>      return a;</a:t>
            </a:r>
          </a:p>
          <a:p>
            <a:pPr>
              <a:lnSpc>
                <a:spcPct val="100000"/>
              </a:lnSpc>
              <a:spcBef>
                <a:spcPts val="0"/>
              </a:spcBef>
              <a:buNone/>
            </a:pPr>
            <a:r>
              <a:rPr lang="en-US" sz="2000" dirty="0">
                <a:solidFill>
                  <a:schemeClr val="tx1"/>
                </a:solidFill>
                <a:latin typeface="+mn-lt"/>
              </a:rPr>
              <a:t>   else</a:t>
            </a:r>
          </a:p>
          <a:p>
            <a:pPr>
              <a:lnSpc>
                <a:spcPct val="100000"/>
              </a:lnSpc>
              <a:spcBef>
                <a:spcPts val="0"/>
              </a:spcBef>
              <a:buNone/>
            </a:pPr>
            <a:r>
              <a:rPr lang="en-US" sz="2000" dirty="0">
                <a:solidFill>
                  <a:schemeClr val="tx1"/>
                </a:solidFill>
                <a:latin typeface="+mn-lt"/>
              </a:rPr>
              <a:t>      return b;</a:t>
            </a:r>
          </a:p>
          <a:p>
            <a:pPr>
              <a:lnSpc>
                <a:spcPct val="100000"/>
              </a:lnSpc>
              <a:spcBef>
                <a:spcPts val="0"/>
              </a:spcBef>
              <a:buNone/>
            </a:pPr>
            <a:r>
              <a:rPr lang="en-US" sz="2000" dirty="0">
                <a:solidFill>
                  <a:schemeClr val="tx1"/>
                </a:solidFill>
                <a:latin typeface="+mn-lt"/>
              </a:rPr>
              <a:t>}</a:t>
            </a:r>
          </a:p>
        </p:txBody>
      </p:sp>
      <p:sp>
        <p:nvSpPr>
          <p:cNvPr id="6" name="Slide Number Placeholder 5"/>
          <p:cNvSpPr>
            <a:spLocks noGrp="1"/>
          </p:cNvSpPr>
          <p:nvPr>
            <p:ph type="sldNum" sz="quarter" idx="12"/>
          </p:nvPr>
        </p:nvSpPr>
        <p:spPr/>
        <p:txBody>
          <a:bodyPr/>
          <a:lstStyle/>
          <a:p>
            <a:fld id="{4AD51EEE-AB63-4DA6-9F1F-5936DDA55F0B}" type="slidenum">
              <a:rPr lang="en-US" smtClean="0"/>
              <a:pPr/>
              <a:t>26</a:t>
            </a:fld>
            <a:endParaRPr lang="en-US"/>
          </a:p>
        </p:txBody>
      </p:sp>
      <p:sp>
        <p:nvSpPr>
          <p:cNvPr id="8" name="TextBox 7"/>
          <p:cNvSpPr txBox="1"/>
          <p:nvPr/>
        </p:nvSpPr>
        <p:spPr>
          <a:xfrm>
            <a:off x="5978769" y="5008098"/>
            <a:ext cx="5022167" cy="830997"/>
          </a:xfrm>
          <a:prstGeom prst="rect">
            <a:avLst/>
          </a:prstGeom>
          <a:solidFill>
            <a:schemeClr val="bg2">
              <a:lumMod val="50000"/>
            </a:schemeClr>
          </a:solidFill>
        </p:spPr>
        <p:txBody>
          <a:bodyPr wrap="square" rtlCol="0">
            <a:spAutoFit/>
          </a:bodyPr>
          <a:lstStyle/>
          <a:p>
            <a:r>
              <a:rPr lang="en-US" sz="1600" b="1" dirty="0"/>
              <a:t>OUTPUT :</a:t>
            </a:r>
          </a:p>
          <a:p>
            <a:r>
              <a:rPr lang="en-US" sz="1600" dirty="0"/>
              <a:t>Input two integers : 5 7</a:t>
            </a:r>
          </a:p>
          <a:p>
            <a:r>
              <a:rPr lang="en-US" sz="1600" dirty="0"/>
              <a:t>Of the two values 5 and 7 ,the minimum is 5</a:t>
            </a:r>
          </a:p>
        </p:txBody>
      </p:sp>
    </p:spTree>
  </p:cSld>
  <p:clrMapOvr>
    <a:masterClrMapping/>
  </p:clrMapOvr>
  <mc:AlternateContent xmlns:mc="http://schemas.openxmlformats.org/markup-compatibility/2006" xmlns:p14="http://schemas.microsoft.com/office/powerpoint/2010/main">
    <mc:Choice Requires="p14">
      <p:transition spd="slow" p14:dur="2000" advTm="83805"/>
    </mc:Choice>
    <mc:Fallback xmlns="">
      <p:transition spd="slow" advTm="83805"/>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j-lt"/>
              </a:rPr>
              <a:t>PRACTICE EXERCISE</a:t>
            </a:r>
          </a:p>
        </p:txBody>
      </p:sp>
      <p:sp>
        <p:nvSpPr>
          <p:cNvPr id="3" name="Content Placeholder 2"/>
          <p:cNvSpPr>
            <a:spLocks noGrp="1"/>
          </p:cNvSpPr>
          <p:nvPr>
            <p:ph idx="1"/>
          </p:nvPr>
        </p:nvSpPr>
        <p:spPr/>
        <p:txBody>
          <a:bodyPr/>
          <a:lstStyle/>
          <a:p>
            <a:pPr marL="514350" indent="-514350">
              <a:buNone/>
            </a:pPr>
            <a:r>
              <a:rPr lang="en-US" dirty="0">
                <a:solidFill>
                  <a:schemeClr val="tx1"/>
                </a:solidFill>
                <a:latin typeface="+mn-lt"/>
              </a:rPr>
              <a:t>1. Write a C program for calculator application using  </a:t>
            </a:r>
          </a:p>
          <a:p>
            <a:pPr marL="514350" indent="-514350">
              <a:buNone/>
            </a:pPr>
            <a:r>
              <a:rPr lang="en-US" dirty="0">
                <a:solidFill>
                  <a:schemeClr val="tx1"/>
                </a:solidFill>
                <a:latin typeface="+mn-lt"/>
              </a:rPr>
              <a:t>     functions.</a:t>
            </a:r>
          </a:p>
          <a:p>
            <a:pPr>
              <a:buNone/>
            </a:pPr>
            <a:r>
              <a:rPr lang="en-US" dirty="0">
                <a:solidFill>
                  <a:schemeClr val="tx1"/>
                </a:solidFill>
                <a:latin typeface="+mn-lt"/>
              </a:rPr>
              <a:t>2. Write a C program to find all prime numbers between </a:t>
            </a:r>
          </a:p>
          <a:p>
            <a:pPr>
              <a:buNone/>
            </a:pPr>
            <a:r>
              <a:rPr lang="en-US" dirty="0">
                <a:solidFill>
                  <a:schemeClr val="tx1"/>
                </a:solidFill>
                <a:latin typeface="+mn-lt"/>
              </a:rPr>
              <a:t>    given interval using functions.</a:t>
            </a:r>
          </a:p>
          <a:p>
            <a:pPr>
              <a:buNone/>
            </a:pPr>
            <a:endParaRPr lang="en-US" dirty="0">
              <a:solidFill>
                <a:schemeClr val="tx1"/>
              </a:solidFill>
              <a:latin typeface="+mn-lt"/>
            </a:endParaRPr>
          </a:p>
        </p:txBody>
      </p:sp>
      <p:sp>
        <p:nvSpPr>
          <p:cNvPr id="5" name="Slide Number Placeholder 4"/>
          <p:cNvSpPr>
            <a:spLocks noGrp="1"/>
          </p:cNvSpPr>
          <p:nvPr>
            <p:ph type="sldNum" sz="quarter" idx="12"/>
          </p:nvPr>
        </p:nvSpPr>
        <p:spPr/>
        <p:txBody>
          <a:bodyPr/>
          <a:lstStyle/>
          <a:p>
            <a:fld id="{4AD51EEE-AB63-4DA6-9F1F-5936DDA55F0B}" type="slidenum">
              <a:rPr lang="en-US" smtClean="0"/>
              <a:pPr/>
              <a:t>27</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17680"/>
    </mc:Choice>
    <mc:Fallback xmlns="">
      <p:transition spd="slow" advTm="17680"/>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Shape 314"/>
          <p:cNvSpPr>
            <a:spLocks noGrp="1"/>
          </p:cNvSpPr>
          <p:nvPr>
            <p:ph type="title"/>
          </p:nvPr>
        </p:nvSpPr>
        <p:spPr>
          <a:xfrm>
            <a:off x="647114" y="500043"/>
            <a:ext cx="9406496" cy="993775"/>
          </a:xfrm>
        </p:spPr>
        <p:txBody>
          <a:bodyPr vert="horz" lIns="68569" tIns="34275" rIns="68569" bIns="34275" rtlCol="0" anchor="ctr">
            <a:normAutofit/>
          </a:bodyPr>
          <a:lstStyle/>
          <a:p>
            <a:pPr>
              <a:buClr>
                <a:srgbClr val="000000"/>
              </a:buClr>
              <a:buSzPts val="4400"/>
            </a:pPr>
            <a:r>
              <a:rPr lang="en-US" b="1" dirty="0">
                <a:latin typeface="+mj-lt"/>
              </a:rPr>
              <a:t>ACTUAL VS FORMAL PARAMETERS</a:t>
            </a:r>
          </a:p>
        </p:txBody>
      </p:sp>
      <p:sp>
        <p:nvSpPr>
          <p:cNvPr id="343043" name="Shape 315"/>
          <p:cNvSpPr>
            <a:spLocks noGrp="1"/>
          </p:cNvSpPr>
          <p:nvPr>
            <p:ph idx="1"/>
          </p:nvPr>
        </p:nvSpPr>
        <p:spPr>
          <a:xfrm>
            <a:off x="928468" y="1643050"/>
            <a:ext cx="9453812" cy="4643470"/>
          </a:xfrm>
        </p:spPr>
        <p:txBody>
          <a:bodyPr vert="horz" lIns="68569" tIns="34275" rIns="68569" bIns="34275" rtlCol="0">
            <a:normAutofit/>
          </a:bodyPr>
          <a:lstStyle/>
          <a:p>
            <a:pPr indent="-304800">
              <a:lnSpc>
                <a:spcPct val="115000"/>
              </a:lnSpc>
              <a:spcBef>
                <a:spcPct val="0"/>
              </a:spcBef>
              <a:buSzPts val="2800"/>
            </a:pPr>
            <a:r>
              <a:rPr lang="en-US" b="1" i="1" dirty="0">
                <a:solidFill>
                  <a:srgbClr val="FF0000"/>
                </a:solidFill>
                <a:latin typeface="+mj-lt"/>
              </a:rPr>
              <a:t>Actual  Parameters</a:t>
            </a:r>
            <a:r>
              <a:rPr lang="en-US" dirty="0">
                <a:solidFill>
                  <a:schemeClr val="tx1"/>
                </a:solidFill>
                <a:latin typeface="+mj-lt"/>
              </a:rPr>
              <a:t> are written within the parenthesis at the time of </a:t>
            </a:r>
            <a:r>
              <a:rPr lang="en-US" b="1" i="1" dirty="0">
                <a:solidFill>
                  <a:schemeClr val="accent1">
                    <a:lumMod val="75000"/>
                  </a:schemeClr>
                </a:solidFill>
                <a:latin typeface="+mj-lt"/>
              </a:rPr>
              <a:t>function call</a:t>
            </a:r>
            <a:r>
              <a:rPr lang="en-US" dirty="0">
                <a:solidFill>
                  <a:schemeClr val="tx1"/>
                </a:solidFill>
                <a:latin typeface="+mj-lt"/>
              </a:rPr>
              <a:t> in calling statement</a:t>
            </a:r>
          </a:p>
          <a:p>
            <a:pPr indent="-304800">
              <a:lnSpc>
                <a:spcPct val="115000"/>
              </a:lnSpc>
              <a:spcBef>
                <a:spcPct val="0"/>
              </a:spcBef>
              <a:buSzPts val="2800"/>
            </a:pPr>
            <a:r>
              <a:rPr lang="en-US" b="1" i="1" dirty="0">
                <a:solidFill>
                  <a:srgbClr val="FF0000"/>
                </a:solidFill>
                <a:latin typeface="+mj-lt"/>
              </a:rPr>
              <a:t>Formal Parameters </a:t>
            </a:r>
            <a:r>
              <a:rPr lang="en-US" dirty="0">
                <a:solidFill>
                  <a:schemeClr val="tx1"/>
                </a:solidFill>
                <a:latin typeface="+mj-lt"/>
              </a:rPr>
              <a:t>are written within the parenthesis at the time of </a:t>
            </a:r>
            <a:r>
              <a:rPr lang="en-US" b="1" i="1" dirty="0">
                <a:solidFill>
                  <a:srgbClr val="0070C0"/>
                </a:solidFill>
                <a:latin typeface="+mj-lt"/>
              </a:rPr>
              <a:t>function definition</a:t>
            </a:r>
            <a:r>
              <a:rPr lang="en-US" dirty="0">
                <a:solidFill>
                  <a:schemeClr val="tx1"/>
                </a:solidFill>
                <a:latin typeface="+mj-lt"/>
              </a:rPr>
              <a:t>. Or in the function header.</a:t>
            </a:r>
          </a:p>
        </p:txBody>
      </p:sp>
      <p:sp>
        <p:nvSpPr>
          <p:cNvPr id="5" name="Slide Number Placeholder 4"/>
          <p:cNvSpPr>
            <a:spLocks noGrp="1"/>
          </p:cNvSpPr>
          <p:nvPr>
            <p:ph type="sldNum" sz="quarter" idx="12"/>
          </p:nvPr>
        </p:nvSpPr>
        <p:spPr/>
        <p:txBody>
          <a:bodyPr/>
          <a:lstStyle/>
          <a:p>
            <a:fld id="{4AD51EEE-AB63-4DA6-9F1F-5936DDA55F0B}" type="slidenum">
              <a:rPr lang="en-US" smtClean="0"/>
              <a:pPr/>
              <a:t>28</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25266"/>
    </mc:Choice>
    <mc:Fallback xmlns="">
      <p:transition spd="slow" advTm="25266"/>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963" y="365125"/>
            <a:ext cx="10564837" cy="1325563"/>
          </a:xfrm>
        </p:spPr>
        <p:txBody>
          <a:bodyPr/>
          <a:lstStyle/>
          <a:p>
            <a:r>
              <a:rPr lang="en-US" b="1" dirty="0">
                <a:latin typeface="+mj-lt"/>
              </a:rPr>
              <a:t>ACTUAL VS FORMAL PARAMETERS</a:t>
            </a:r>
            <a:endParaRPr lang="en-US" dirty="0">
              <a:latin typeface="+mj-lt"/>
            </a:endParaRPr>
          </a:p>
        </p:txBody>
      </p:sp>
      <p:pic>
        <p:nvPicPr>
          <p:cNvPr id="2050" name="Picture 2"/>
          <p:cNvPicPr>
            <a:picLocks noGrp="1" noChangeAspect="1" noChangeArrowheads="1"/>
          </p:cNvPicPr>
          <p:nvPr>
            <p:ph sz="half" idx="1"/>
          </p:nvPr>
        </p:nvPicPr>
        <p:blipFill>
          <a:blip r:embed="rId3"/>
          <a:srcRect l="37733"/>
          <a:stretch>
            <a:fillRect/>
          </a:stretch>
        </p:blipFill>
        <p:spPr bwMode="auto">
          <a:xfrm>
            <a:off x="1153551" y="1631852"/>
            <a:ext cx="4174099" cy="4262511"/>
          </a:xfrm>
          <a:prstGeom prst="rect">
            <a:avLst/>
          </a:prstGeom>
          <a:noFill/>
          <a:ln w="9525">
            <a:noFill/>
            <a:miter lim="800000"/>
            <a:headEnd/>
            <a:tailEnd/>
          </a:ln>
          <a:effectLst/>
        </p:spPr>
      </p:pic>
      <p:sp>
        <p:nvSpPr>
          <p:cNvPr id="6" name="Content Placeholder 5"/>
          <p:cNvSpPr>
            <a:spLocks noGrp="1"/>
          </p:cNvSpPr>
          <p:nvPr>
            <p:ph sz="half" idx="2"/>
          </p:nvPr>
        </p:nvSpPr>
        <p:spPr>
          <a:xfrm>
            <a:off x="5711483" y="1825625"/>
            <a:ext cx="4950421" cy="4351338"/>
          </a:xfrm>
        </p:spPr>
        <p:txBody>
          <a:bodyPr>
            <a:normAutofit fontScale="92500"/>
          </a:bodyPr>
          <a:lstStyle/>
          <a:p>
            <a:pPr algn="just"/>
            <a:r>
              <a:rPr lang="en-US" dirty="0">
                <a:solidFill>
                  <a:schemeClr val="tx1"/>
                </a:solidFill>
                <a:latin typeface="+mn-lt"/>
              </a:rPr>
              <a:t>In the example, two variables </a:t>
            </a:r>
            <a:r>
              <a:rPr lang="en-US" b="1" i="1" dirty="0">
                <a:solidFill>
                  <a:srgbClr val="FF0000"/>
                </a:solidFill>
                <a:latin typeface="+mn-lt"/>
              </a:rPr>
              <a:t>n1</a:t>
            </a:r>
            <a:r>
              <a:rPr lang="en-US" b="1" dirty="0">
                <a:solidFill>
                  <a:srgbClr val="FF0000"/>
                </a:solidFill>
                <a:latin typeface="+mn-lt"/>
              </a:rPr>
              <a:t> </a:t>
            </a:r>
            <a:r>
              <a:rPr lang="en-US" dirty="0">
                <a:solidFill>
                  <a:schemeClr val="tx1"/>
                </a:solidFill>
                <a:latin typeface="+mn-lt"/>
              </a:rPr>
              <a:t>and </a:t>
            </a:r>
            <a:r>
              <a:rPr lang="en-US" i="1" dirty="0">
                <a:solidFill>
                  <a:srgbClr val="FF0000"/>
                </a:solidFill>
                <a:latin typeface="+mn-lt"/>
              </a:rPr>
              <a:t>n2</a:t>
            </a:r>
            <a:r>
              <a:rPr lang="en-US" dirty="0">
                <a:solidFill>
                  <a:srgbClr val="FF0000"/>
                </a:solidFill>
                <a:latin typeface="+mn-lt"/>
              </a:rPr>
              <a:t> </a:t>
            </a:r>
            <a:r>
              <a:rPr lang="en-US" dirty="0">
                <a:solidFill>
                  <a:schemeClr val="tx1"/>
                </a:solidFill>
                <a:latin typeface="+mn-lt"/>
              </a:rPr>
              <a:t>are passed during the function call. These arguments are called </a:t>
            </a:r>
            <a:r>
              <a:rPr lang="en-US" dirty="0">
                <a:solidFill>
                  <a:srgbClr val="FF0000"/>
                </a:solidFill>
                <a:latin typeface="+mn-lt"/>
              </a:rPr>
              <a:t>actual  parameters </a:t>
            </a:r>
            <a:r>
              <a:rPr lang="en-US" dirty="0">
                <a:solidFill>
                  <a:schemeClr val="tx1"/>
                </a:solidFill>
                <a:latin typeface="+mn-lt"/>
              </a:rPr>
              <a:t>of the function.</a:t>
            </a:r>
          </a:p>
          <a:p>
            <a:pPr algn="just"/>
            <a:r>
              <a:rPr lang="en-US" dirty="0">
                <a:solidFill>
                  <a:schemeClr val="tx1"/>
                </a:solidFill>
                <a:latin typeface="+mn-lt"/>
              </a:rPr>
              <a:t>The parameters </a:t>
            </a:r>
            <a:r>
              <a:rPr lang="en-US" i="1" dirty="0">
                <a:solidFill>
                  <a:srgbClr val="FF0000"/>
                </a:solidFill>
                <a:latin typeface="+mn-lt"/>
              </a:rPr>
              <a:t>a</a:t>
            </a:r>
            <a:r>
              <a:rPr lang="en-US" dirty="0">
                <a:solidFill>
                  <a:schemeClr val="tx1"/>
                </a:solidFill>
                <a:latin typeface="+mn-lt"/>
              </a:rPr>
              <a:t> and </a:t>
            </a:r>
            <a:r>
              <a:rPr lang="en-US" i="1" dirty="0">
                <a:solidFill>
                  <a:srgbClr val="FF0000"/>
                </a:solidFill>
                <a:latin typeface="+mn-lt"/>
              </a:rPr>
              <a:t>b</a:t>
            </a:r>
            <a:r>
              <a:rPr lang="en-US" dirty="0">
                <a:solidFill>
                  <a:schemeClr val="tx1"/>
                </a:solidFill>
                <a:latin typeface="+mn-lt"/>
              </a:rPr>
              <a:t> accepts the passed arguments in the </a:t>
            </a:r>
            <a:r>
              <a:rPr lang="en-US" dirty="0">
                <a:solidFill>
                  <a:srgbClr val="FF0000"/>
                </a:solidFill>
                <a:latin typeface="+mn-lt"/>
              </a:rPr>
              <a:t>function definition.</a:t>
            </a:r>
            <a:r>
              <a:rPr lang="en-US" dirty="0">
                <a:solidFill>
                  <a:schemeClr val="tx1"/>
                </a:solidFill>
                <a:latin typeface="+mn-lt"/>
              </a:rPr>
              <a:t> These arguments are called </a:t>
            </a:r>
            <a:r>
              <a:rPr lang="en-US" dirty="0">
                <a:solidFill>
                  <a:srgbClr val="FF0000"/>
                </a:solidFill>
                <a:latin typeface="+mn-lt"/>
              </a:rPr>
              <a:t>formal parameters</a:t>
            </a:r>
            <a:r>
              <a:rPr lang="en-US" dirty="0">
                <a:solidFill>
                  <a:schemeClr val="tx1"/>
                </a:solidFill>
                <a:latin typeface="+mn-lt"/>
              </a:rPr>
              <a:t> of the function.</a:t>
            </a:r>
          </a:p>
          <a:p>
            <a:pPr algn="just"/>
            <a:endParaRPr lang="en-US" dirty="0">
              <a:solidFill>
                <a:schemeClr val="tx1"/>
              </a:solidFill>
              <a:latin typeface="+mn-lt"/>
            </a:endParaRPr>
          </a:p>
          <a:p>
            <a:pPr algn="just">
              <a:buNone/>
            </a:pPr>
            <a:endParaRPr lang="en-US" dirty="0">
              <a:solidFill>
                <a:schemeClr val="tx1"/>
              </a:solidFill>
              <a:latin typeface="+mn-lt"/>
            </a:endParaRPr>
          </a:p>
        </p:txBody>
      </p:sp>
      <p:sp>
        <p:nvSpPr>
          <p:cNvPr id="7" name="Slide Number Placeholder 6"/>
          <p:cNvSpPr>
            <a:spLocks noGrp="1"/>
          </p:cNvSpPr>
          <p:nvPr>
            <p:ph type="sldNum" sz="quarter" idx="12"/>
          </p:nvPr>
        </p:nvSpPr>
        <p:spPr/>
        <p:txBody>
          <a:bodyPr/>
          <a:lstStyle/>
          <a:p>
            <a:fld id="{4AD51EEE-AB63-4DA6-9F1F-5936DDA55F0B}" type="slidenum">
              <a:rPr lang="en-US" smtClean="0"/>
              <a:pPr/>
              <a:t>29</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39279"/>
    </mc:Choice>
    <mc:Fallback xmlns="">
      <p:transition spd="slow" advTm="39279"/>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j-lt"/>
              </a:rPr>
              <a:t>FUNCTION TYPES </a:t>
            </a:r>
          </a:p>
        </p:txBody>
      </p:sp>
      <p:pic>
        <p:nvPicPr>
          <p:cNvPr id="7" name="Content Placeholder 6" descr="function_types.png"/>
          <p:cNvPicPr>
            <a:picLocks noGrp="1" noChangeAspect="1"/>
          </p:cNvPicPr>
          <p:nvPr>
            <p:ph sz="half" idx="2"/>
          </p:nvPr>
        </p:nvPicPr>
        <p:blipFill>
          <a:blip r:embed="rId3"/>
          <a:stretch>
            <a:fillRect/>
          </a:stretch>
        </p:blipFill>
        <p:spPr>
          <a:xfrm>
            <a:off x="267286" y="1477108"/>
            <a:ext cx="10719582" cy="4302259"/>
          </a:xfrm>
        </p:spPr>
      </p:pic>
      <p:sp>
        <p:nvSpPr>
          <p:cNvPr id="12" name="Slide Number Placeholder 11"/>
          <p:cNvSpPr>
            <a:spLocks noGrp="1"/>
          </p:cNvSpPr>
          <p:nvPr>
            <p:ph type="sldNum" sz="quarter" idx="12"/>
          </p:nvPr>
        </p:nvSpPr>
        <p:spPr/>
        <p:txBody>
          <a:bodyPr/>
          <a:lstStyle/>
          <a:p>
            <a:fld id="{4AD51EEE-AB63-4DA6-9F1F-5936DDA55F0B}" type="slidenum">
              <a:rPr lang="en-US" smtClean="0"/>
              <a:pPr/>
              <a:t>30</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23534"/>
    </mc:Choice>
    <mc:Fallback xmlns="">
      <p:transition spd="slow" advTm="23534"/>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843" y="365125"/>
            <a:ext cx="10339753" cy="1325563"/>
          </a:xfrm>
        </p:spPr>
        <p:txBody>
          <a:bodyPr>
            <a:normAutofit/>
          </a:bodyPr>
          <a:lstStyle/>
          <a:p>
            <a:r>
              <a:rPr lang="en-US" b="1" dirty="0">
                <a:latin typeface="+mj-lt"/>
              </a:rPr>
              <a:t>FUNCTION TYPES (Cont…)</a:t>
            </a:r>
            <a:br>
              <a:rPr lang="en-US" b="1" dirty="0">
                <a:latin typeface="+mj-lt"/>
              </a:rPr>
            </a:br>
            <a:r>
              <a:rPr lang="en-US" sz="3200" b="1" dirty="0">
                <a:solidFill>
                  <a:srgbClr val="FF0000"/>
                </a:solidFill>
                <a:latin typeface="+mj-lt"/>
              </a:rPr>
              <a:t>EXAMPLE :</a:t>
            </a:r>
            <a:r>
              <a:rPr lang="en-US" sz="3200" b="1" dirty="0">
                <a:latin typeface="+mj-lt"/>
              </a:rPr>
              <a:t> SUM OF TWO NUMBERS</a:t>
            </a:r>
          </a:p>
        </p:txBody>
      </p:sp>
      <p:sp>
        <p:nvSpPr>
          <p:cNvPr id="14" name="Content Placeholder 13"/>
          <p:cNvSpPr>
            <a:spLocks noGrp="1"/>
          </p:cNvSpPr>
          <p:nvPr>
            <p:ph idx="1"/>
          </p:nvPr>
        </p:nvSpPr>
        <p:spPr>
          <a:xfrm>
            <a:off x="323557" y="1575582"/>
            <a:ext cx="10338347" cy="4601381"/>
          </a:xfrm>
        </p:spPr>
        <p:txBody>
          <a:bodyPr/>
          <a:lstStyle/>
          <a:p>
            <a:pPr marL="514350" indent="-514350">
              <a:buAutoNum type="arabicPeriod"/>
            </a:pPr>
            <a:r>
              <a:rPr lang="en-US" sz="2400" dirty="0">
                <a:solidFill>
                  <a:schemeClr val="tx1"/>
                </a:solidFill>
                <a:latin typeface="+mn-lt"/>
              </a:rPr>
              <a:t>With arguments and with return values</a:t>
            </a:r>
          </a:p>
          <a:p>
            <a:pPr marL="514350" indent="-514350">
              <a:buNone/>
            </a:pPr>
            <a:endParaRPr lang="en-US" dirty="0">
              <a:solidFill>
                <a:schemeClr val="tx1"/>
              </a:solidFill>
              <a:latin typeface="+mn-lt"/>
            </a:endParaRPr>
          </a:p>
          <a:p>
            <a:pPr marL="514350" indent="-514350">
              <a:buNone/>
            </a:pPr>
            <a:endParaRPr lang="en-US" dirty="0">
              <a:solidFill>
                <a:schemeClr val="tx1"/>
              </a:solidFill>
              <a:latin typeface="+mn-lt"/>
            </a:endParaRPr>
          </a:p>
        </p:txBody>
      </p:sp>
      <p:sp>
        <p:nvSpPr>
          <p:cNvPr id="22" name="Slide Number Placeholder 21"/>
          <p:cNvSpPr>
            <a:spLocks noGrp="1"/>
          </p:cNvSpPr>
          <p:nvPr>
            <p:ph type="sldNum" sz="quarter" idx="12"/>
          </p:nvPr>
        </p:nvSpPr>
        <p:spPr/>
        <p:txBody>
          <a:bodyPr/>
          <a:lstStyle/>
          <a:p>
            <a:fld id="{4AD51EEE-AB63-4DA6-9F1F-5936DDA55F0B}" type="slidenum">
              <a:rPr lang="en-US" smtClean="0"/>
              <a:pPr/>
              <a:t>31</a:t>
            </a:fld>
            <a:endParaRPr lang="en-US"/>
          </a:p>
        </p:txBody>
      </p:sp>
      <p:sp>
        <p:nvSpPr>
          <p:cNvPr id="16" name="Rectangle 15"/>
          <p:cNvSpPr/>
          <p:nvPr/>
        </p:nvSpPr>
        <p:spPr>
          <a:xfrm>
            <a:off x="1083212" y="2180492"/>
            <a:ext cx="8693834" cy="3699803"/>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392700" y="2208629"/>
            <a:ext cx="6049109" cy="4247317"/>
          </a:xfrm>
          <a:prstGeom prst="rect">
            <a:avLst/>
          </a:prstGeom>
          <a:noFill/>
        </p:spPr>
        <p:txBody>
          <a:bodyPr wrap="square" rtlCol="0">
            <a:spAutoFit/>
          </a:bodyPr>
          <a:lstStyle/>
          <a:p>
            <a:pPr marL="171450" indent="-38100">
              <a:spcBef>
                <a:spcPct val="0"/>
              </a:spcBef>
              <a:buClr>
                <a:srgbClr val="000000"/>
              </a:buClr>
              <a:buSzPts val="2800"/>
              <a:buNone/>
            </a:pPr>
            <a:r>
              <a:rPr lang="en-US" dirty="0"/>
              <a:t>#include &lt;</a:t>
            </a:r>
            <a:r>
              <a:rPr lang="en-US" dirty="0" err="1"/>
              <a:t>stdio.h</a:t>
            </a:r>
            <a:r>
              <a:rPr lang="en-US" dirty="0"/>
              <a:t>&gt;</a:t>
            </a:r>
          </a:p>
          <a:p>
            <a:pPr marL="171450" indent="-38100">
              <a:spcBef>
                <a:spcPct val="0"/>
              </a:spcBef>
              <a:buClr>
                <a:srgbClr val="000000"/>
              </a:buClr>
              <a:buSzPts val="2800"/>
              <a:buNone/>
            </a:pPr>
            <a:r>
              <a:rPr lang="en-US" dirty="0"/>
              <a:t>int add(</a:t>
            </a:r>
            <a:r>
              <a:rPr lang="en-US" dirty="0" err="1"/>
              <a:t>int,int</a:t>
            </a:r>
            <a:r>
              <a:rPr lang="en-US" dirty="0"/>
              <a:t>);                     </a:t>
            </a:r>
            <a:r>
              <a:rPr lang="en-US" dirty="0">
                <a:solidFill>
                  <a:srgbClr val="FF0000"/>
                </a:solidFill>
              </a:rPr>
              <a:t>// Function Declaration</a:t>
            </a:r>
          </a:p>
          <a:p>
            <a:pPr marL="171450" indent="-38100">
              <a:spcBef>
                <a:spcPct val="0"/>
              </a:spcBef>
              <a:buClr>
                <a:srgbClr val="000000"/>
              </a:buClr>
              <a:buSzPts val="2800"/>
              <a:buNone/>
            </a:pPr>
            <a:r>
              <a:rPr lang="en-US" dirty="0"/>
              <a:t>main()</a:t>
            </a:r>
          </a:p>
          <a:p>
            <a:pPr marL="171450" indent="-38100">
              <a:spcBef>
                <a:spcPct val="0"/>
              </a:spcBef>
              <a:buClr>
                <a:srgbClr val="000000"/>
              </a:buClr>
              <a:buSzPts val="2800"/>
              <a:buNone/>
            </a:pPr>
            <a:r>
              <a:rPr lang="en-US" dirty="0"/>
              <a:t>{</a:t>
            </a:r>
          </a:p>
          <a:p>
            <a:pPr marL="171450" indent="-38100">
              <a:spcBef>
                <a:spcPct val="0"/>
              </a:spcBef>
              <a:buClr>
                <a:srgbClr val="000000"/>
              </a:buClr>
              <a:buSzPts val="2800"/>
              <a:buNone/>
            </a:pPr>
            <a:r>
              <a:rPr lang="en-US" dirty="0" err="1"/>
              <a:t>int</a:t>
            </a:r>
            <a:r>
              <a:rPr lang="en-US" dirty="0"/>
              <a:t> a=10,b=20,sum;</a:t>
            </a:r>
          </a:p>
          <a:p>
            <a:pPr marL="171450" indent="-38100">
              <a:spcBef>
                <a:spcPct val="0"/>
              </a:spcBef>
              <a:buClr>
                <a:srgbClr val="000000"/>
              </a:buClr>
              <a:buSzPts val="2800"/>
              <a:buNone/>
            </a:pPr>
            <a:r>
              <a:rPr lang="en-US" dirty="0" err="1"/>
              <a:t>printf</a:t>
            </a:r>
            <a:r>
              <a:rPr lang="en-US" dirty="0"/>
              <a:t>(“Addition”);      </a:t>
            </a:r>
          </a:p>
          <a:p>
            <a:pPr marL="171450" indent="-38100">
              <a:spcBef>
                <a:spcPct val="0"/>
              </a:spcBef>
              <a:buClr>
                <a:srgbClr val="000000"/>
              </a:buClr>
              <a:buSzPts val="2800"/>
              <a:buNone/>
            </a:pPr>
            <a:r>
              <a:rPr lang="en-US" dirty="0"/>
              <a:t>sum=add(</a:t>
            </a:r>
            <a:r>
              <a:rPr lang="en-US" dirty="0" err="1"/>
              <a:t>a,b</a:t>
            </a:r>
            <a:r>
              <a:rPr lang="en-US" dirty="0"/>
              <a:t>);                       </a:t>
            </a:r>
            <a:r>
              <a:rPr lang="en-US" dirty="0">
                <a:solidFill>
                  <a:srgbClr val="FF0000"/>
                </a:solidFill>
              </a:rPr>
              <a:t>// Function Call</a:t>
            </a:r>
          </a:p>
          <a:p>
            <a:pPr marL="171450" indent="-38100">
              <a:spcBef>
                <a:spcPct val="0"/>
              </a:spcBef>
              <a:buClr>
                <a:srgbClr val="000000"/>
              </a:buClr>
              <a:buSzPts val="2800"/>
              <a:buNone/>
            </a:pPr>
            <a:r>
              <a:rPr lang="en-US" dirty="0" err="1"/>
              <a:t>printf</a:t>
            </a:r>
            <a:r>
              <a:rPr lang="en-US" dirty="0"/>
              <a:t>(“sum = %</a:t>
            </a:r>
            <a:r>
              <a:rPr lang="en-US" dirty="0" err="1"/>
              <a:t>d”,sum</a:t>
            </a:r>
            <a:r>
              <a:rPr lang="en-US" dirty="0"/>
              <a:t>);</a:t>
            </a:r>
          </a:p>
          <a:p>
            <a:pPr marL="171450" indent="-38100">
              <a:spcBef>
                <a:spcPct val="0"/>
              </a:spcBef>
              <a:buClr>
                <a:srgbClr val="000000"/>
              </a:buClr>
              <a:buSzPts val="2800"/>
              <a:buNone/>
            </a:pPr>
            <a:r>
              <a:rPr lang="en-US" dirty="0"/>
              <a:t>}</a:t>
            </a:r>
          </a:p>
          <a:p>
            <a:pPr marL="171450" indent="-38100">
              <a:spcBef>
                <a:spcPct val="0"/>
              </a:spcBef>
              <a:buClr>
                <a:srgbClr val="000000"/>
              </a:buClr>
              <a:buSzPts val="2800"/>
              <a:buNone/>
            </a:pPr>
            <a:r>
              <a:rPr lang="en-US" dirty="0">
                <a:solidFill>
                  <a:srgbClr val="002060"/>
                </a:solidFill>
              </a:rPr>
              <a:t>int add(int x, int y)             </a:t>
            </a:r>
            <a:r>
              <a:rPr lang="en-US" dirty="0"/>
              <a:t> </a:t>
            </a:r>
            <a:r>
              <a:rPr lang="en-US" dirty="0">
                <a:solidFill>
                  <a:srgbClr val="FF0000"/>
                </a:solidFill>
              </a:rPr>
              <a:t>// Function Definition</a:t>
            </a:r>
          </a:p>
          <a:p>
            <a:pPr marL="171450" indent="-38100">
              <a:spcBef>
                <a:spcPct val="0"/>
              </a:spcBef>
              <a:buClr>
                <a:srgbClr val="000000"/>
              </a:buClr>
              <a:buSzPts val="2800"/>
              <a:buNone/>
            </a:pPr>
            <a:r>
              <a:rPr lang="en-US" dirty="0">
                <a:solidFill>
                  <a:srgbClr val="002060"/>
                </a:solidFill>
              </a:rPr>
              <a:t>{</a:t>
            </a:r>
          </a:p>
          <a:p>
            <a:pPr marL="171450" indent="-38100">
              <a:spcBef>
                <a:spcPct val="0"/>
              </a:spcBef>
              <a:buClr>
                <a:srgbClr val="000000"/>
              </a:buClr>
              <a:buSzPts val="2800"/>
              <a:buNone/>
            </a:pPr>
            <a:r>
              <a:rPr lang="en-US" dirty="0">
                <a:solidFill>
                  <a:srgbClr val="002060"/>
                </a:solidFill>
              </a:rPr>
              <a:t>return </a:t>
            </a:r>
            <a:r>
              <a:rPr lang="en-US" dirty="0" err="1">
                <a:solidFill>
                  <a:srgbClr val="002060"/>
                </a:solidFill>
              </a:rPr>
              <a:t>x+y</a:t>
            </a:r>
            <a:r>
              <a:rPr lang="en-US" dirty="0">
                <a:solidFill>
                  <a:srgbClr val="002060"/>
                </a:solidFill>
              </a:rPr>
              <a:t>;</a:t>
            </a:r>
          </a:p>
          <a:p>
            <a:pPr marL="171450" indent="-38100">
              <a:spcBef>
                <a:spcPct val="0"/>
              </a:spcBef>
              <a:buClr>
                <a:srgbClr val="000000"/>
              </a:buClr>
              <a:buSzPts val="2800"/>
              <a:buNone/>
            </a:pPr>
            <a:r>
              <a:rPr lang="en-US" dirty="0">
                <a:solidFill>
                  <a:srgbClr val="002060"/>
                </a:solidFill>
              </a:rPr>
              <a:t>}</a:t>
            </a:r>
          </a:p>
          <a:p>
            <a:pPr marL="171450" indent="-38100">
              <a:spcBef>
                <a:spcPct val="0"/>
              </a:spcBef>
              <a:buClr>
                <a:srgbClr val="000000"/>
              </a:buClr>
              <a:buSzPts val="2800"/>
              <a:buNone/>
            </a:pPr>
            <a:endParaRPr lang="en-US" dirty="0"/>
          </a:p>
          <a:p>
            <a:endParaRPr lang="en-US" dirty="0"/>
          </a:p>
        </p:txBody>
      </p:sp>
      <p:sp>
        <p:nvSpPr>
          <p:cNvPr id="20" name="TextBox 19"/>
          <p:cNvSpPr txBox="1"/>
          <p:nvPr/>
        </p:nvSpPr>
        <p:spPr>
          <a:xfrm>
            <a:off x="7104185" y="4614203"/>
            <a:ext cx="2377440" cy="923330"/>
          </a:xfrm>
          <a:prstGeom prst="rect">
            <a:avLst/>
          </a:prstGeom>
          <a:solidFill>
            <a:schemeClr val="bg2">
              <a:lumMod val="75000"/>
            </a:schemeClr>
          </a:solidFill>
          <a:ln>
            <a:solidFill>
              <a:schemeClr val="tx2">
                <a:lumMod val="75000"/>
              </a:schemeClr>
            </a:solidFill>
          </a:ln>
        </p:spPr>
        <p:txBody>
          <a:bodyPr wrap="square" rtlCol="0">
            <a:spAutoFit/>
          </a:bodyPr>
          <a:lstStyle/>
          <a:p>
            <a:r>
              <a:rPr lang="en-US" dirty="0"/>
              <a:t>Output :</a:t>
            </a:r>
          </a:p>
          <a:p>
            <a:r>
              <a:rPr lang="en-US" dirty="0"/>
              <a:t>Addition</a:t>
            </a:r>
          </a:p>
          <a:p>
            <a:r>
              <a:rPr lang="en-US" dirty="0"/>
              <a:t>Sum=30</a:t>
            </a:r>
          </a:p>
        </p:txBody>
      </p:sp>
    </p:spTree>
  </p:cSld>
  <p:clrMapOvr>
    <a:masterClrMapping/>
  </p:clrMapOvr>
  <mc:AlternateContent xmlns:mc="http://schemas.openxmlformats.org/markup-compatibility/2006" xmlns:p14="http://schemas.microsoft.com/office/powerpoint/2010/main">
    <mc:Choice Requires="p14">
      <p:transition spd="slow" p14:dur="2000" advTm="104741"/>
    </mc:Choice>
    <mc:Fallback xmlns="">
      <p:transition spd="slow" advTm="104741"/>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843" y="365125"/>
            <a:ext cx="10339753" cy="1325563"/>
          </a:xfrm>
        </p:spPr>
        <p:txBody>
          <a:bodyPr>
            <a:normAutofit/>
          </a:bodyPr>
          <a:lstStyle/>
          <a:p>
            <a:r>
              <a:rPr lang="en-US" b="1" dirty="0">
                <a:latin typeface="+mj-lt"/>
              </a:rPr>
              <a:t>FUNCTION TYPES (Cont…)</a:t>
            </a:r>
            <a:br>
              <a:rPr lang="en-US" b="1" dirty="0">
                <a:latin typeface="+mj-lt"/>
              </a:rPr>
            </a:br>
            <a:r>
              <a:rPr lang="en-US" sz="3200" b="1" dirty="0">
                <a:solidFill>
                  <a:srgbClr val="FF0000"/>
                </a:solidFill>
                <a:latin typeface="+mj-lt"/>
              </a:rPr>
              <a:t>EXAMPLE :</a:t>
            </a:r>
            <a:r>
              <a:rPr lang="en-US" sz="3200" b="1" dirty="0">
                <a:latin typeface="+mj-lt"/>
              </a:rPr>
              <a:t> SUM OF TWO NUMBERS</a:t>
            </a:r>
          </a:p>
        </p:txBody>
      </p:sp>
      <p:sp>
        <p:nvSpPr>
          <p:cNvPr id="14" name="Content Placeholder 13"/>
          <p:cNvSpPr>
            <a:spLocks noGrp="1"/>
          </p:cNvSpPr>
          <p:nvPr>
            <p:ph idx="1"/>
          </p:nvPr>
        </p:nvSpPr>
        <p:spPr>
          <a:xfrm>
            <a:off x="323557" y="1575582"/>
            <a:ext cx="10338347" cy="4601381"/>
          </a:xfrm>
        </p:spPr>
        <p:txBody>
          <a:bodyPr/>
          <a:lstStyle/>
          <a:p>
            <a:pPr marL="514350" indent="-514350">
              <a:buNone/>
            </a:pPr>
            <a:r>
              <a:rPr lang="en-US" sz="2400" dirty="0">
                <a:latin typeface="+mn-lt"/>
              </a:rPr>
              <a:t>2. With arguments and without return values</a:t>
            </a:r>
          </a:p>
          <a:p>
            <a:pPr marL="514350" indent="-514350">
              <a:buNone/>
            </a:pPr>
            <a:endParaRPr lang="en-US" dirty="0">
              <a:solidFill>
                <a:schemeClr val="tx1"/>
              </a:solidFill>
              <a:latin typeface="+mn-lt"/>
            </a:endParaRPr>
          </a:p>
          <a:p>
            <a:pPr marL="514350" indent="-514350">
              <a:buNone/>
            </a:pPr>
            <a:endParaRPr lang="en-US" dirty="0">
              <a:solidFill>
                <a:schemeClr val="tx1"/>
              </a:solidFill>
              <a:latin typeface="+mn-lt"/>
            </a:endParaRPr>
          </a:p>
        </p:txBody>
      </p:sp>
      <p:sp>
        <p:nvSpPr>
          <p:cNvPr id="22" name="Slide Number Placeholder 21"/>
          <p:cNvSpPr>
            <a:spLocks noGrp="1"/>
          </p:cNvSpPr>
          <p:nvPr>
            <p:ph type="sldNum" sz="quarter" idx="12"/>
          </p:nvPr>
        </p:nvSpPr>
        <p:spPr/>
        <p:txBody>
          <a:bodyPr/>
          <a:lstStyle/>
          <a:p>
            <a:fld id="{4AD51EEE-AB63-4DA6-9F1F-5936DDA55F0B}" type="slidenum">
              <a:rPr lang="en-US" smtClean="0"/>
              <a:pPr/>
              <a:t>32</a:t>
            </a:fld>
            <a:endParaRPr lang="en-US"/>
          </a:p>
        </p:txBody>
      </p:sp>
      <p:sp>
        <p:nvSpPr>
          <p:cNvPr id="16" name="Rectangle 15"/>
          <p:cNvSpPr/>
          <p:nvPr/>
        </p:nvSpPr>
        <p:spPr>
          <a:xfrm>
            <a:off x="1083212" y="2180492"/>
            <a:ext cx="8693834" cy="3699803"/>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392700" y="2208629"/>
            <a:ext cx="6049109" cy="4524315"/>
          </a:xfrm>
          <a:prstGeom prst="rect">
            <a:avLst/>
          </a:prstGeom>
          <a:noFill/>
        </p:spPr>
        <p:txBody>
          <a:bodyPr wrap="square" rtlCol="0">
            <a:spAutoFit/>
          </a:bodyPr>
          <a:lstStyle/>
          <a:p>
            <a:pPr marL="171450" indent="-38100">
              <a:spcBef>
                <a:spcPct val="0"/>
              </a:spcBef>
              <a:buClr>
                <a:srgbClr val="000000"/>
              </a:buClr>
              <a:buSzPts val="2800"/>
            </a:pPr>
            <a:r>
              <a:rPr lang="en-US" dirty="0"/>
              <a:t>#include &lt;</a:t>
            </a:r>
            <a:r>
              <a:rPr lang="en-US" dirty="0" err="1"/>
              <a:t>stdio.h</a:t>
            </a:r>
            <a:r>
              <a:rPr lang="en-US" dirty="0"/>
              <a:t>&gt;</a:t>
            </a:r>
          </a:p>
          <a:p>
            <a:pPr marL="171450" indent="-38100">
              <a:spcBef>
                <a:spcPct val="0"/>
              </a:spcBef>
              <a:buClr>
                <a:srgbClr val="000000"/>
              </a:buClr>
              <a:buSzPts val="2800"/>
              <a:buNone/>
            </a:pPr>
            <a:r>
              <a:rPr lang="en-US" dirty="0"/>
              <a:t>void add(</a:t>
            </a:r>
            <a:r>
              <a:rPr lang="en-US" dirty="0" err="1"/>
              <a:t>int,int</a:t>
            </a:r>
            <a:r>
              <a:rPr lang="en-US" dirty="0"/>
              <a:t>);                    </a:t>
            </a:r>
            <a:r>
              <a:rPr lang="en-US" dirty="0">
                <a:solidFill>
                  <a:srgbClr val="FF0000"/>
                </a:solidFill>
              </a:rPr>
              <a:t> // Function Declaration</a:t>
            </a:r>
          </a:p>
          <a:p>
            <a:pPr marL="171450" indent="-38100">
              <a:spcBef>
                <a:spcPct val="0"/>
              </a:spcBef>
              <a:buClr>
                <a:srgbClr val="000000"/>
              </a:buClr>
              <a:buSzPts val="2800"/>
              <a:buNone/>
            </a:pPr>
            <a:r>
              <a:rPr lang="en-US" dirty="0"/>
              <a:t>main()</a:t>
            </a:r>
          </a:p>
          <a:p>
            <a:pPr marL="171450" indent="-38100">
              <a:spcBef>
                <a:spcPct val="0"/>
              </a:spcBef>
              <a:buClr>
                <a:srgbClr val="000000"/>
              </a:buClr>
              <a:buSzPts val="2800"/>
              <a:buNone/>
            </a:pPr>
            <a:r>
              <a:rPr lang="en-US" dirty="0"/>
              <a:t>{ int a=10,b=20;</a:t>
            </a:r>
          </a:p>
          <a:p>
            <a:pPr marL="171450" indent="-38100">
              <a:spcBef>
                <a:spcPct val="0"/>
              </a:spcBef>
              <a:buClr>
                <a:srgbClr val="000000"/>
              </a:buClr>
              <a:buSzPts val="2800"/>
              <a:buNone/>
            </a:pPr>
            <a:r>
              <a:rPr lang="en-US" dirty="0" err="1"/>
              <a:t>printf</a:t>
            </a:r>
            <a:r>
              <a:rPr lang="en-US" dirty="0"/>
              <a:t>(“Addition”);      </a:t>
            </a:r>
          </a:p>
          <a:p>
            <a:pPr marL="171450" indent="-38100">
              <a:spcBef>
                <a:spcPct val="0"/>
              </a:spcBef>
              <a:buClr>
                <a:srgbClr val="000000"/>
              </a:buClr>
              <a:buSzPts val="2800"/>
              <a:buNone/>
            </a:pPr>
            <a:r>
              <a:rPr lang="en-US" dirty="0"/>
              <a:t>add(</a:t>
            </a:r>
            <a:r>
              <a:rPr lang="en-US" dirty="0" err="1"/>
              <a:t>a,b</a:t>
            </a:r>
            <a:r>
              <a:rPr lang="en-US" dirty="0"/>
              <a:t>);                                </a:t>
            </a:r>
            <a:r>
              <a:rPr lang="en-US" dirty="0">
                <a:solidFill>
                  <a:srgbClr val="FF0000"/>
                </a:solidFill>
              </a:rPr>
              <a:t>// Function Call</a:t>
            </a:r>
          </a:p>
          <a:p>
            <a:pPr marL="171450" indent="-38100">
              <a:spcBef>
                <a:spcPct val="0"/>
              </a:spcBef>
              <a:buClr>
                <a:srgbClr val="000000"/>
              </a:buClr>
              <a:buSzPts val="2800"/>
              <a:buNone/>
            </a:pPr>
            <a:r>
              <a:rPr lang="en-US" dirty="0"/>
              <a:t>}</a:t>
            </a:r>
          </a:p>
          <a:p>
            <a:pPr marL="171450" indent="-38100">
              <a:spcBef>
                <a:spcPct val="0"/>
              </a:spcBef>
              <a:buClr>
                <a:srgbClr val="000000"/>
              </a:buClr>
              <a:buSzPts val="2800"/>
              <a:buNone/>
            </a:pPr>
            <a:r>
              <a:rPr lang="en-US" dirty="0">
                <a:solidFill>
                  <a:srgbClr val="002060"/>
                </a:solidFill>
              </a:rPr>
              <a:t>void add(int x, int y)</a:t>
            </a:r>
            <a:r>
              <a:rPr lang="en-US" dirty="0"/>
              <a:t>           </a:t>
            </a:r>
            <a:r>
              <a:rPr lang="en-US" dirty="0">
                <a:solidFill>
                  <a:srgbClr val="FF0000"/>
                </a:solidFill>
              </a:rPr>
              <a:t> // Function Definition</a:t>
            </a:r>
          </a:p>
          <a:p>
            <a:pPr marL="171450" indent="-38100">
              <a:spcBef>
                <a:spcPct val="0"/>
              </a:spcBef>
              <a:buClr>
                <a:srgbClr val="000000"/>
              </a:buClr>
              <a:buSzPts val="2800"/>
              <a:buNone/>
            </a:pPr>
            <a:r>
              <a:rPr lang="en-US" dirty="0">
                <a:solidFill>
                  <a:srgbClr val="002060"/>
                </a:solidFill>
              </a:rPr>
              <a:t>{</a:t>
            </a:r>
          </a:p>
          <a:p>
            <a:pPr marL="171450" indent="-38100">
              <a:spcBef>
                <a:spcPct val="0"/>
              </a:spcBef>
              <a:buClr>
                <a:srgbClr val="000000"/>
              </a:buClr>
              <a:buSzPts val="2800"/>
            </a:pPr>
            <a:r>
              <a:rPr lang="en-US" dirty="0">
                <a:solidFill>
                  <a:srgbClr val="002060"/>
                </a:solidFill>
              </a:rPr>
              <a:t>int sum;</a:t>
            </a:r>
          </a:p>
          <a:p>
            <a:pPr marL="171450" indent="-38100">
              <a:spcBef>
                <a:spcPct val="0"/>
              </a:spcBef>
              <a:buClr>
                <a:srgbClr val="000000"/>
              </a:buClr>
              <a:buSzPts val="2800"/>
            </a:pPr>
            <a:r>
              <a:rPr lang="en-US" dirty="0">
                <a:solidFill>
                  <a:srgbClr val="002060"/>
                </a:solidFill>
              </a:rPr>
              <a:t>sum= x + y;</a:t>
            </a:r>
          </a:p>
          <a:p>
            <a:pPr marL="171450" indent="-38100">
              <a:spcBef>
                <a:spcPct val="0"/>
              </a:spcBef>
              <a:buClr>
                <a:srgbClr val="000000"/>
              </a:buClr>
              <a:buSzPts val="2800"/>
            </a:pPr>
            <a:r>
              <a:rPr lang="en-US" dirty="0" err="1">
                <a:solidFill>
                  <a:srgbClr val="002060"/>
                </a:solidFill>
              </a:rPr>
              <a:t>printf</a:t>
            </a:r>
            <a:r>
              <a:rPr lang="en-US" dirty="0">
                <a:solidFill>
                  <a:srgbClr val="002060"/>
                </a:solidFill>
              </a:rPr>
              <a:t>(“sum = %</a:t>
            </a:r>
            <a:r>
              <a:rPr lang="en-US" dirty="0" err="1">
                <a:solidFill>
                  <a:srgbClr val="002060"/>
                </a:solidFill>
              </a:rPr>
              <a:t>d”,sum</a:t>
            </a:r>
            <a:r>
              <a:rPr lang="en-US" dirty="0">
                <a:solidFill>
                  <a:srgbClr val="002060"/>
                </a:solidFill>
              </a:rPr>
              <a:t>);</a:t>
            </a:r>
          </a:p>
          <a:p>
            <a:pPr marL="171450" indent="-38100">
              <a:spcBef>
                <a:spcPct val="0"/>
              </a:spcBef>
              <a:buClr>
                <a:srgbClr val="000000"/>
              </a:buClr>
              <a:buSzPts val="2800"/>
              <a:buNone/>
            </a:pPr>
            <a:r>
              <a:rPr lang="en-US" dirty="0">
                <a:solidFill>
                  <a:srgbClr val="002060"/>
                </a:solidFill>
              </a:rPr>
              <a:t>}</a:t>
            </a:r>
          </a:p>
          <a:p>
            <a:pPr marL="171450" indent="-38100">
              <a:spcBef>
                <a:spcPct val="0"/>
              </a:spcBef>
              <a:buClr>
                <a:srgbClr val="000000"/>
              </a:buClr>
              <a:buSzPts val="2800"/>
              <a:buNone/>
            </a:pPr>
            <a:endParaRPr lang="en-US" dirty="0"/>
          </a:p>
          <a:p>
            <a:pPr marL="171450" indent="-38100">
              <a:spcBef>
                <a:spcPct val="0"/>
              </a:spcBef>
              <a:buClr>
                <a:srgbClr val="000000"/>
              </a:buClr>
              <a:buSzPts val="2800"/>
              <a:buNone/>
            </a:pPr>
            <a:endParaRPr lang="en-US" dirty="0"/>
          </a:p>
          <a:p>
            <a:endParaRPr lang="en-US" dirty="0"/>
          </a:p>
        </p:txBody>
      </p:sp>
      <p:sp>
        <p:nvSpPr>
          <p:cNvPr id="20" name="TextBox 19"/>
          <p:cNvSpPr txBox="1"/>
          <p:nvPr/>
        </p:nvSpPr>
        <p:spPr>
          <a:xfrm>
            <a:off x="7104185" y="4614203"/>
            <a:ext cx="2377440" cy="923330"/>
          </a:xfrm>
          <a:prstGeom prst="rect">
            <a:avLst/>
          </a:prstGeom>
          <a:solidFill>
            <a:schemeClr val="bg2">
              <a:lumMod val="75000"/>
            </a:schemeClr>
          </a:solidFill>
          <a:ln>
            <a:solidFill>
              <a:schemeClr val="tx2">
                <a:lumMod val="75000"/>
              </a:schemeClr>
            </a:solidFill>
          </a:ln>
        </p:spPr>
        <p:txBody>
          <a:bodyPr wrap="square" rtlCol="0">
            <a:spAutoFit/>
          </a:bodyPr>
          <a:lstStyle/>
          <a:p>
            <a:r>
              <a:rPr lang="en-US" dirty="0"/>
              <a:t>Output :</a:t>
            </a:r>
          </a:p>
          <a:p>
            <a:r>
              <a:rPr lang="en-US" dirty="0"/>
              <a:t>Addition</a:t>
            </a:r>
          </a:p>
          <a:p>
            <a:r>
              <a:rPr lang="en-US" dirty="0"/>
              <a:t>Sum=30</a:t>
            </a:r>
          </a:p>
        </p:txBody>
      </p:sp>
    </p:spTree>
  </p:cSld>
  <p:clrMapOvr>
    <a:masterClrMapping/>
  </p:clrMapOvr>
  <mc:AlternateContent xmlns:mc="http://schemas.openxmlformats.org/markup-compatibility/2006" xmlns:p14="http://schemas.microsoft.com/office/powerpoint/2010/main">
    <mc:Choice Requires="p14">
      <p:transition spd="slow" p14:dur="2000" advTm="85579"/>
    </mc:Choice>
    <mc:Fallback xmlns="">
      <p:transition spd="slow" advTm="85579"/>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843" y="365125"/>
            <a:ext cx="10339753" cy="1325563"/>
          </a:xfrm>
        </p:spPr>
        <p:txBody>
          <a:bodyPr>
            <a:normAutofit/>
          </a:bodyPr>
          <a:lstStyle/>
          <a:p>
            <a:r>
              <a:rPr lang="en-US" b="1" dirty="0">
                <a:latin typeface="+mj-lt"/>
              </a:rPr>
              <a:t>FUNCTION TYPES (Cont…)</a:t>
            </a:r>
            <a:br>
              <a:rPr lang="en-US" b="1" dirty="0">
                <a:latin typeface="+mj-lt"/>
              </a:rPr>
            </a:br>
            <a:r>
              <a:rPr lang="en-US" sz="3200" b="1" dirty="0">
                <a:solidFill>
                  <a:srgbClr val="FF0000"/>
                </a:solidFill>
                <a:latin typeface="+mj-lt"/>
              </a:rPr>
              <a:t>EXAMPLE :</a:t>
            </a:r>
            <a:r>
              <a:rPr lang="en-US" sz="3200" b="1" dirty="0">
                <a:latin typeface="+mj-lt"/>
              </a:rPr>
              <a:t> SUM OF TWO NUMBERS</a:t>
            </a:r>
          </a:p>
        </p:txBody>
      </p:sp>
      <p:sp>
        <p:nvSpPr>
          <p:cNvPr id="14" name="Content Placeholder 13"/>
          <p:cNvSpPr>
            <a:spLocks noGrp="1"/>
          </p:cNvSpPr>
          <p:nvPr>
            <p:ph idx="1"/>
          </p:nvPr>
        </p:nvSpPr>
        <p:spPr>
          <a:xfrm>
            <a:off x="323557" y="1575582"/>
            <a:ext cx="10338347" cy="4601381"/>
          </a:xfrm>
        </p:spPr>
        <p:txBody>
          <a:bodyPr/>
          <a:lstStyle/>
          <a:p>
            <a:pPr marL="514350" indent="-514350">
              <a:buNone/>
            </a:pPr>
            <a:r>
              <a:rPr lang="en-US" sz="2400" dirty="0">
                <a:latin typeface="+mn-lt"/>
              </a:rPr>
              <a:t> 3. Without arguments and with return values</a:t>
            </a:r>
          </a:p>
          <a:p>
            <a:pPr marL="514350" indent="-514350">
              <a:buNone/>
            </a:pPr>
            <a:endParaRPr lang="en-US" sz="2400" dirty="0">
              <a:latin typeface="+mn-lt"/>
            </a:endParaRPr>
          </a:p>
          <a:p>
            <a:pPr marL="514350" indent="-514350">
              <a:buNone/>
            </a:pPr>
            <a:endParaRPr lang="en-US" dirty="0">
              <a:solidFill>
                <a:schemeClr val="tx1"/>
              </a:solidFill>
              <a:latin typeface="+mn-lt"/>
            </a:endParaRPr>
          </a:p>
          <a:p>
            <a:pPr marL="514350" indent="-514350">
              <a:buNone/>
            </a:pPr>
            <a:endParaRPr lang="en-US" dirty="0">
              <a:solidFill>
                <a:schemeClr val="tx1"/>
              </a:solidFill>
              <a:latin typeface="+mn-lt"/>
            </a:endParaRPr>
          </a:p>
        </p:txBody>
      </p:sp>
      <p:sp>
        <p:nvSpPr>
          <p:cNvPr id="22" name="Slide Number Placeholder 21"/>
          <p:cNvSpPr>
            <a:spLocks noGrp="1"/>
          </p:cNvSpPr>
          <p:nvPr>
            <p:ph type="sldNum" sz="quarter" idx="12"/>
          </p:nvPr>
        </p:nvSpPr>
        <p:spPr/>
        <p:txBody>
          <a:bodyPr/>
          <a:lstStyle/>
          <a:p>
            <a:fld id="{4AD51EEE-AB63-4DA6-9F1F-5936DDA55F0B}" type="slidenum">
              <a:rPr lang="en-US" smtClean="0"/>
              <a:pPr/>
              <a:t>33</a:t>
            </a:fld>
            <a:endParaRPr lang="en-US"/>
          </a:p>
        </p:txBody>
      </p:sp>
      <p:sp>
        <p:nvSpPr>
          <p:cNvPr id="16" name="Rectangle 15"/>
          <p:cNvSpPr/>
          <p:nvPr/>
        </p:nvSpPr>
        <p:spPr>
          <a:xfrm>
            <a:off x="1083212" y="2180492"/>
            <a:ext cx="8693834" cy="3699803"/>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392700" y="2208629"/>
            <a:ext cx="6049109" cy="4247317"/>
          </a:xfrm>
          <a:prstGeom prst="rect">
            <a:avLst/>
          </a:prstGeom>
          <a:noFill/>
        </p:spPr>
        <p:txBody>
          <a:bodyPr wrap="square" rtlCol="0">
            <a:spAutoFit/>
          </a:bodyPr>
          <a:lstStyle/>
          <a:p>
            <a:pPr marL="171450" indent="-38100">
              <a:spcBef>
                <a:spcPct val="0"/>
              </a:spcBef>
              <a:buClr>
                <a:srgbClr val="000000"/>
              </a:buClr>
              <a:buSzPts val="2800"/>
            </a:pPr>
            <a:r>
              <a:rPr lang="en-US" dirty="0"/>
              <a:t>#include &lt;</a:t>
            </a:r>
            <a:r>
              <a:rPr lang="en-US" dirty="0" err="1"/>
              <a:t>stdio.h</a:t>
            </a:r>
            <a:r>
              <a:rPr lang="en-US" dirty="0"/>
              <a:t>&gt;</a:t>
            </a:r>
          </a:p>
          <a:p>
            <a:pPr marL="171450" indent="-38100">
              <a:spcBef>
                <a:spcPct val="0"/>
              </a:spcBef>
              <a:buClr>
                <a:srgbClr val="000000"/>
              </a:buClr>
              <a:buSzPts val="2800"/>
              <a:buNone/>
            </a:pPr>
            <a:r>
              <a:rPr lang="en-US" dirty="0"/>
              <a:t>int add(void);                     </a:t>
            </a:r>
            <a:r>
              <a:rPr lang="en-US" dirty="0">
                <a:solidFill>
                  <a:srgbClr val="FF0000"/>
                </a:solidFill>
              </a:rPr>
              <a:t>// Function Declaration</a:t>
            </a:r>
          </a:p>
          <a:p>
            <a:pPr marL="171450" indent="-38100">
              <a:spcBef>
                <a:spcPct val="0"/>
              </a:spcBef>
              <a:buClr>
                <a:srgbClr val="000000"/>
              </a:buClr>
              <a:buSzPts val="2800"/>
              <a:buNone/>
            </a:pPr>
            <a:r>
              <a:rPr lang="en-US" dirty="0"/>
              <a:t>main()</a:t>
            </a:r>
          </a:p>
          <a:p>
            <a:pPr marL="171450" indent="-38100">
              <a:spcBef>
                <a:spcPct val="0"/>
              </a:spcBef>
              <a:buClr>
                <a:srgbClr val="000000"/>
              </a:buClr>
              <a:buSzPts val="2800"/>
              <a:buNone/>
            </a:pPr>
            <a:r>
              <a:rPr lang="en-US" dirty="0"/>
              <a:t>{ int sum;</a:t>
            </a:r>
          </a:p>
          <a:p>
            <a:pPr marL="171450" indent="-38100">
              <a:spcBef>
                <a:spcPct val="0"/>
              </a:spcBef>
              <a:buClr>
                <a:srgbClr val="000000"/>
              </a:buClr>
              <a:buSzPts val="2800"/>
              <a:buNone/>
            </a:pPr>
            <a:r>
              <a:rPr lang="en-US" dirty="0" err="1"/>
              <a:t>printf</a:t>
            </a:r>
            <a:r>
              <a:rPr lang="en-US" dirty="0"/>
              <a:t>(“Addition”);      </a:t>
            </a:r>
          </a:p>
          <a:p>
            <a:pPr marL="171450" indent="-38100">
              <a:spcBef>
                <a:spcPct val="0"/>
              </a:spcBef>
              <a:buClr>
                <a:srgbClr val="000000"/>
              </a:buClr>
              <a:buSzPts val="2800"/>
              <a:buNone/>
            </a:pPr>
            <a:r>
              <a:rPr lang="en-US" dirty="0"/>
              <a:t>sum=add();                      </a:t>
            </a:r>
            <a:r>
              <a:rPr lang="en-US" dirty="0">
                <a:solidFill>
                  <a:srgbClr val="FF0000"/>
                </a:solidFill>
              </a:rPr>
              <a:t> // Function Call</a:t>
            </a:r>
          </a:p>
          <a:p>
            <a:pPr marL="171450" indent="-38100">
              <a:spcBef>
                <a:spcPct val="0"/>
              </a:spcBef>
              <a:buClr>
                <a:srgbClr val="000000"/>
              </a:buClr>
              <a:buSzPts val="2800"/>
              <a:buNone/>
            </a:pPr>
            <a:r>
              <a:rPr lang="en-US" dirty="0" err="1"/>
              <a:t>printf</a:t>
            </a:r>
            <a:r>
              <a:rPr lang="en-US" dirty="0"/>
              <a:t>(“sum = %</a:t>
            </a:r>
            <a:r>
              <a:rPr lang="en-US" dirty="0" err="1"/>
              <a:t>d”,sum</a:t>
            </a:r>
            <a:r>
              <a:rPr lang="en-US" dirty="0"/>
              <a:t>);</a:t>
            </a:r>
          </a:p>
          <a:p>
            <a:pPr marL="171450" indent="-38100">
              <a:spcBef>
                <a:spcPct val="0"/>
              </a:spcBef>
              <a:buClr>
                <a:srgbClr val="000000"/>
              </a:buClr>
              <a:buSzPts val="2800"/>
              <a:buNone/>
            </a:pPr>
            <a:r>
              <a:rPr lang="en-US" dirty="0"/>
              <a:t>}</a:t>
            </a:r>
          </a:p>
          <a:p>
            <a:pPr marL="171450" indent="-38100">
              <a:spcBef>
                <a:spcPct val="0"/>
              </a:spcBef>
              <a:buClr>
                <a:srgbClr val="000000"/>
              </a:buClr>
              <a:buSzPts val="2800"/>
              <a:buNone/>
            </a:pPr>
            <a:r>
              <a:rPr lang="en-US" dirty="0">
                <a:solidFill>
                  <a:srgbClr val="002060"/>
                </a:solidFill>
              </a:rPr>
              <a:t>int add(void)</a:t>
            </a:r>
            <a:r>
              <a:rPr lang="en-US" dirty="0"/>
              <a:t>            </a:t>
            </a:r>
            <a:r>
              <a:rPr lang="en-US" dirty="0">
                <a:solidFill>
                  <a:srgbClr val="FF0000"/>
                </a:solidFill>
              </a:rPr>
              <a:t>// Function Definition</a:t>
            </a:r>
          </a:p>
          <a:p>
            <a:pPr marL="171450" indent="-38100">
              <a:spcBef>
                <a:spcPct val="0"/>
              </a:spcBef>
              <a:buClr>
                <a:srgbClr val="000000"/>
              </a:buClr>
              <a:buSzPts val="2800"/>
              <a:buNone/>
            </a:pPr>
            <a:r>
              <a:rPr lang="en-US" dirty="0">
                <a:solidFill>
                  <a:srgbClr val="002060"/>
                </a:solidFill>
              </a:rPr>
              <a:t>{</a:t>
            </a:r>
          </a:p>
          <a:p>
            <a:pPr marL="171450" indent="-38100">
              <a:spcBef>
                <a:spcPct val="0"/>
              </a:spcBef>
              <a:buClr>
                <a:srgbClr val="000000"/>
              </a:buClr>
              <a:buSzPts val="2800"/>
              <a:buNone/>
            </a:pPr>
            <a:r>
              <a:rPr lang="en-US" dirty="0" err="1">
                <a:solidFill>
                  <a:srgbClr val="002060"/>
                </a:solidFill>
              </a:rPr>
              <a:t>int</a:t>
            </a:r>
            <a:r>
              <a:rPr lang="en-US" dirty="0">
                <a:solidFill>
                  <a:srgbClr val="002060"/>
                </a:solidFill>
              </a:rPr>
              <a:t> x=10,y=20;</a:t>
            </a:r>
          </a:p>
          <a:p>
            <a:pPr marL="171450" indent="-38100">
              <a:spcBef>
                <a:spcPct val="0"/>
              </a:spcBef>
              <a:buClr>
                <a:srgbClr val="000000"/>
              </a:buClr>
              <a:buSzPts val="2800"/>
              <a:buNone/>
            </a:pPr>
            <a:r>
              <a:rPr lang="en-US" dirty="0">
                <a:solidFill>
                  <a:srgbClr val="002060"/>
                </a:solidFill>
              </a:rPr>
              <a:t>return </a:t>
            </a:r>
            <a:r>
              <a:rPr lang="en-US" dirty="0" err="1">
                <a:solidFill>
                  <a:srgbClr val="002060"/>
                </a:solidFill>
              </a:rPr>
              <a:t>x+y</a:t>
            </a:r>
            <a:r>
              <a:rPr lang="en-US" dirty="0">
                <a:solidFill>
                  <a:srgbClr val="002060"/>
                </a:solidFill>
              </a:rPr>
              <a:t>;</a:t>
            </a:r>
          </a:p>
          <a:p>
            <a:pPr marL="171450" indent="-38100">
              <a:spcBef>
                <a:spcPct val="0"/>
              </a:spcBef>
              <a:buClr>
                <a:srgbClr val="000000"/>
              </a:buClr>
              <a:buSzPts val="2800"/>
              <a:buNone/>
            </a:pPr>
            <a:r>
              <a:rPr lang="en-US" dirty="0">
                <a:solidFill>
                  <a:srgbClr val="002060"/>
                </a:solidFill>
              </a:rPr>
              <a:t>}</a:t>
            </a:r>
          </a:p>
          <a:p>
            <a:pPr marL="171450" indent="-38100">
              <a:spcBef>
                <a:spcPct val="0"/>
              </a:spcBef>
              <a:buClr>
                <a:srgbClr val="000000"/>
              </a:buClr>
              <a:buSzPts val="2800"/>
              <a:buNone/>
            </a:pPr>
            <a:endParaRPr lang="en-US" dirty="0"/>
          </a:p>
          <a:p>
            <a:endParaRPr lang="en-US" dirty="0"/>
          </a:p>
        </p:txBody>
      </p:sp>
      <p:sp>
        <p:nvSpPr>
          <p:cNvPr id="20" name="TextBox 19"/>
          <p:cNvSpPr txBox="1"/>
          <p:nvPr/>
        </p:nvSpPr>
        <p:spPr>
          <a:xfrm>
            <a:off x="7104185" y="4614203"/>
            <a:ext cx="2377440" cy="923330"/>
          </a:xfrm>
          <a:prstGeom prst="rect">
            <a:avLst/>
          </a:prstGeom>
          <a:solidFill>
            <a:schemeClr val="bg2">
              <a:lumMod val="75000"/>
            </a:schemeClr>
          </a:solidFill>
          <a:ln>
            <a:solidFill>
              <a:schemeClr val="tx2">
                <a:lumMod val="75000"/>
              </a:schemeClr>
            </a:solidFill>
          </a:ln>
        </p:spPr>
        <p:txBody>
          <a:bodyPr wrap="square" rtlCol="0">
            <a:spAutoFit/>
          </a:bodyPr>
          <a:lstStyle/>
          <a:p>
            <a:r>
              <a:rPr lang="en-US" dirty="0"/>
              <a:t>Output :</a:t>
            </a:r>
          </a:p>
          <a:p>
            <a:r>
              <a:rPr lang="en-US" dirty="0"/>
              <a:t>Addition</a:t>
            </a:r>
          </a:p>
          <a:p>
            <a:r>
              <a:rPr lang="en-US" dirty="0"/>
              <a:t>Sum=30</a:t>
            </a:r>
          </a:p>
        </p:txBody>
      </p:sp>
    </p:spTree>
  </p:cSld>
  <p:clrMapOvr>
    <a:masterClrMapping/>
  </p:clrMapOvr>
  <mc:AlternateContent xmlns:mc="http://schemas.openxmlformats.org/markup-compatibility/2006" xmlns:p14="http://schemas.microsoft.com/office/powerpoint/2010/main">
    <mc:Choice Requires="p14">
      <p:transition spd="slow" p14:dur="2000" advTm="132325"/>
    </mc:Choice>
    <mc:Fallback xmlns="">
      <p:transition spd="slow" advTm="132325"/>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843" y="365125"/>
            <a:ext cx="10339753" cy="1325563"/>
          </a:xfrm>
        </p:spPr>
        <p:txBody>
          <a:bodyPr>
            <a:normAutofit/>
          </a:bodyPr>
          <a:lstStyle/>
          <a:p>
            <a:r>
              <a:rPr lang="en-US" b="1" dirty="0">
                <a:latin typeface="+mj-lt"/>
              </a:rPr>
              <a:t>FUNCTION TYPES (Cont…)</a:t>
            </a:r>
            <a:br>
              <a:rPr lang="en-US" b="1" dirty="0">
                <a:latin typeface="+mj-lt"/>
              </a:rPr>
            </a:br>
            <a:r>
              <a:rPr lang="en-US" sz="3200" b="1" dirty="0">
                <a:solidFill>
                  <a:srgbClr val="FF0000"/>
                </a:solidFill>
                <a:latin typeface="+mj-lt"/>
              </a:rPr>
              <a:t>EXAMPLE :</a:t>
            </a:r>
            <a:r>
              <a:rPr lang="en-US" sz="3200" b="1" dirty="0">
                <a:latin typeface="+mj-lt"/>
              </a:rPr>
              <a:t> SUM OF TWO NUMBERS</a:t>
            </a:r>
          </a:p>
        </p:txBody>
      </p:sp>
      <p:sp>
        <p:nvSpPr>
          <p:cNvPr id="14" name="Content Placeholder 13"/>
          <p:cNvSpPr>
            <a:spLocks noGrp="1"/>
          </p:cNvSpPr>
          <p:nvPr>
            <p:ph idx="1"/>
          </p:nvPr>
        </p:nvSpPr>
        <p:spPr>
          <a:xfrm>
            <a:off x="323557" y="1575582"/>
            <a:ext cx="10338347" cy="4601381"/>
          </a:xfrm>
        </p:spPr>
        <p:txBody>
          <a:bodyPr/>
          <a:lstStyle/>
          <a:p>
            <a:pPr marL="514350" indent="-514350">
              <a:buNone/>
            </a:pPr>
            <a:r>
              <a:rPr lang="en-US" sz="2400" dirty="0">
                <a:latin typeface="+mn-lt"/>
              </a:rPr>
              <a:t> 4. Without arguments and without return values</a:t>
            </a:r>
          </a:p>
          <a:p>
            <a:pPr marL="514350" indent="-514350">
              <a:buNone/>
            </a:pPr>
            <a:endParaRPr lang="en-US" sz="2400" dirty="0">
              <a:latin typeface="+mn-lt"/>
            </a:endParaRPr>
          </a:p>
          <a:p>
            <a:pPr marL="514350" indent="-514350">
              <a:buNone/>
            </a:pPr>
            <a:endParaRPr lang="en-US" dirty="0">
              <a:solidFill>
                <a:schemeClr val="tx1"/>
              </a:solidFill>
              <a:latin typeface="+mn-lt"/>
            </a:endParaRPr>
          </a:p>
          <a:p>
            <a:pPr marL="514350" indent="-514350">
              <a:buNone/>
            </a:pPr>
            <a:endParaRPr lang="en-US" dirty="0">
              <a:solidFill>
                <a:schemeClr val="tx1"/>
              </a:solidFill>
              <a:latin typeface="+mn-lt"/>
            </a:endParaRPr>
          </a:p>
        </p:txBody>
      </p:sp>
      <p:sp>
        <p:nvSpPr>
          <p:cNvPr id="22" name="Slide Number Placeholder 21"/>
          <p:cNvSpPr>
            <a:spLocks noGrp="1"/>
          </p:cNvSpPr>
          <p:nvPr>
            <p:ph type="sldNum" sz="quarter" idx="12"/>
          </p:nvPr>
        </p:nvSpPr>
        <p:spPr/>
        <p:txBody>
          <a:bodyPr/>
          <a:lstStyle/>
          <a:p>
            <a:fld id="{4AD51EEE-AB63-4DA6-9F1F-5936DDA55F0B}" type="slidenum">
              <a:rPr lang="en-US" smtClean="0"/>
              <a:pPr/>
              <a:t>34</a:t>
            </a:fld>
            <a:endParaRPr lang="en-US"/>
          </a:p>
        </p:txBody>
      </p:sp>
      <p:sp>
        <p:nvSpPr>
          <p:cNvPr id="16" name="Rectangle 15"/>
          <p:cNvSpPr/>
          <p:nvPr/>
        </p:nvSpPr>
        <p:spPr>
          <a:xfrm>
            <a:off x="1083212" y="2180492"/>
            <a:ext cx="8693834" cy="3699803"/>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392700" y="2208629"/>
            <a:ext cx="6049109" cy="3970318"/>
          </a:xfrm>
          <a:prstGeom prst="rect">
            <a:avLst/>
          </a:prstGeom>
          <a:noFill/>
        </p:spPr>
        <p:txBody>
          <a:bodyPr wrap="square" rtlCol="0">
            <a:spAutoFit/>
          </a:bodyPr>
          <a:lstStyle/>
          <a:p>
            <a:pPr marL="171450" indent="-38100">
              <a:spcBef>
                <a:spcPct val="0"/>
              </a:spcBef>
              <a:buClr>
                <a:srgbClr val="000000"/>
              </a:buClr>
              <a:buSzPts val="2800"/>
              <a:buNone/>
            </a:pPr>
            <a:r>
              <a:rPr lang="en-US" dirty="0"/>
              <a:t>void add(void);                     </a:t>
            </a:r>
            <a:r>
              <a:rPr lang="en-US" dirty="0">
                <a:solidFill>
                  <a:srgbClr val="FF0000"/>
                </a:solidFill>
              </a:rPr>
              <a:t>// Function Declaration</a:t>
            </a:r>
          </a:p>
          <a:p>
            <a:pPr marL="171450" indent="-38100">
              <a:spcBef>
                <a:spcPct val="0"/>
              </a:spcBef>
              <a:buClr>
                <a:srgbClr val="000000"/>
              </a:buClr>
              <a:buSzPts val="2800"/>
              <a:buNone/>
            </a:pPr>
            <a:r>
              <a:rPr lang="en-US" dirty="0"/>
              <a:t>main()</a:t>
            </a:r>
          </a:p>
          <a:p>
            <a:pPr marL="171450" indent="-38100">
              <a:spcBef>
                <a:spcPct val="0"/>
              </a:spcBef>
              <a:buClr>
                <a:srgbClr val="000000"/>
              </a:buClr>
              <a:buSzPts val="2800"/>
              <a:buNone/>
            </a:pPr>
            <a:r>
              <a:rPr lang="en-US" dirty="0"/>
              <a:t>{</a:t>
            </a:r>
          </a:p>
          <a:p>
            <a:pPr marL="171450" indent="-38100">
              <a:spcBef>
                <a:spcPct val="0"/>
              </a:spcBef>
              <a:buClr>
                <a:srgbClr val="000000"/>
              </a:buClr>
              <a:buSzPts val="2800"/>
              <a:buNone/>
            </a:pPr>
            <a:r>
              <a:rPr lang="en-US" dirty="0"/>
              <a:t>  add();                      </a:t>
            </a:r>
            <a:r>
              <a:rPr lang="en-US" dirty="0">
                <a:solidFill>
                  <a:srgbClr val="FF0000"/>
                </a:solidFill>
              </a:rPr>
              <a:t>  // Function Call</a:t>
            </a:r>
          </a:p>
          <a:p>
            <a:pPr marL="171450" indent="-38100">
              <a:spcBef>
                <a:spcPct val="0"/>
              </a:spcBef>
              <a:buClr>
                <a:srgbClr val="000000"/>
              </a:buClr>
              <a:buSzPts val="2800"/>
              <a:buNone/>
            </a:pPr>
            <a:r>
              <a:rPr lang="en-US" dirty="0"/>
              <a:t>}</a:t>
            </a:r>
          </a:p>
          <a:p>
            <a:pPr marL="171450" indent="-38100">
              <a:spcBef>
                <a:spcPct val="0"/>
              </a:spcBef>
              <a:buClr>
                <a:srgbClr val="000000"/>
              </a:buClr>
              <a:buSzPts val="2800"/>
              <a:buNone/>
            </a:pPr>
            <a:endParaRPr lang="en-US" dirty="0"/>
          </a:p>
          <a:p>
            <a:pPr marL="171450" indent="-38100">
              <a:spcBef>
                <a:spcPct val="0"/>
              </a:spcBef>
              <a:buClr>
                <a:srgbClr val="000000"/>
              </a:buClr>
              <a:buSzPts val="2800"/>
              <a:buNone/>
            </a:pPr>
            <a:r>
              <a:rPr lang="en-US" dirty="0">
                <a:solidFill>
                  <a:srgbClr val="002060"/>
                </a:solidFill>
              </a:rPr>
              <a:t>void add()</a:t>
            </a:r>
            <a:r>
              <a:rPr lang="en-US" dirty="0"/>
              <a:t>                        /</a:t>
            </a:r>
            <a:r>
              <a:rPr lang="en-US" dirty="0">
                <a:solidFill>
                  <a:srgbClr val="FF0000"/>
                </a:solidFill>
              </a:rPr>
              <a:t>/ Function Definition</a:t>
            </a:r>
          </a:p>
          <a:p>
            <a:pPr marL="171450" indent="-38100">
              <a:spcBef>
                <a:spcPct val="0"/>
              </a:spcBef>
              <a:buClr>
                <a:srgbClr val="000000"/>
              </a:buClr>
              <a:buSzPts val="2800"/>
              <a:buNone/>
            </a:pPr>
            <a:r>
              <a:rPr lang="en-US" dirty="0">
                <a:solidFill>
                  <a:srgbClr val="002060"/>
                </a:solidFill>
              </a:rPr>
              <a:t>{</a:t>
            </a:r>
          </a:p>
          <a:p>
            <a:pPr marL="171450" indent="-38100">
              <a:spcBef>
                <a:spcPct val="0"/>
              </a:spcBef>
              <a:buClr>
                <a:srgbClr val="000000"/>
              </a:buClr>
              <a:buSzPts val="2800"/>
              <a:buNone/>
            </a:pPr>
            <a:r>
              <a:rPr lang="en-US" dirty="0">
                <a:solidFill>
                  <a:srgbClr val="002060"/>
                </a:solidFill>
              </a:rPr>
              <a:t>   int a=10,b=20,sum;</a:t>
            </a:r>
          </a:p>
          <a:p>
            <a:pPr marL="171450" indent="-38100">
              <a:spcBef>
                <a:spcPct val="0"/>
              </a:spcBef>
              <a:buClr>
                <a:srgbClr val="000000"/>
              </a:buClr>
              <a:buSzPts val="2800"/>
              <a:buNone/>
            </a:pPr>
            <a:r>
              <a:rPr lang="en-US" dirty="0">
                <a:solidFill>
                  <a:srgbClr val="002060"/>
                </a:solidFill>
              </a:rPr>
              <a:t>   sum = </a:t>
            </a:r>
            <a:r>
              <a:rPr lang="en-US" dirty="0" err="1">
                <a:solidFill>
                  <a:srgbClr val="002060"/>
                </a:solidFill>
              </a:rPr>
              <a:t>a+b</a:t>
            </a:r>
            <a:r>
              <a:rPr lang="en-US" dirty="0">
                <a:solidFill>
                  <a:srgbClr val="002060"/>
                </a:solidFill>
              </a:rPr>
              <a:t>;</a:t>
            </a:r>
          </a:p>
          <a:p>
            <a:pPr marL="171450" indent="-38100">
              <a:spcBef>
                <a:spcPct val="0"/>
              </a:spcBef>
              <a:buClr>
                <a:srgbClr val="000000"/>
              </a:buClr>
              <a:buSzPts val="2800"/>
              <a:buNone/>
            </a:pPr>
            <a:r>
              <a:rPr lang="en-US" dirty="0">
                <a:solidFill>
                  <a:srgbClr val="002060"/>
                </a:solidFill>
              </a:rPr>
              <a:t>   </a:t>
            </a:r>
            <a:r>
              <a:rPr lang="en-US" dirty="0" err="1">
                <a:solidFill>
                  <a:srgbClr val="002060"/>
                </a:solidFill>
              </a:rPr>
              <a:t>printf</a:t>
            </a:r>
            <a:r>
              <a:rPr lang="en-US" dirty="0">
                <a:solidFill>
                  <a:srgbClr val="002060"/>
                </a:solidFill>
              </a:rPr>
              <a:t>(“Addition”);</a:t>
            </a:r>
          </a:p>
          <a:p>
            <a:pPr marL="171450" indent="-38100">
              <a:spcBef>
                <a:spcPct val="0"/>
              </a:spcBef>
              <a:buClr>
                <a:srgbClr val="000000"/>
              </a:buClr>
              <a:buSzPts val="2800"/>
              <a:buNone/>
            </a:pPr>
            <a:r>
              <a:rPr lang="en-US" dirty="0">
                <a:solidFill>
                  <a:srgbClr val="002060"/>
                </a:solidFill>
              </a:rPr>
              <a:t>   </a:t>
            </a:r>
            <a:r>
              <a:rPr lang="en-US" dirty="0" err="1">
                <a:solidFill>
                  <a:srgbClr val="002060"/>
                </a:solidFill>
              </a:rPr>
              <a:t>printf</a:t>
            </a:r>
            <a:r>
              <a:rPr lang="en-US" dirty="0">
                <a:solidFill>
                  <a:srgbClr val="002060"/>
                </a:solidFill>
              </a:rPr>
              <a:t>(“sum = %</a:t>
            </a:r>
            <a:r>
              <a:rPr lang="en-US" dirty="0" err="1">
                <a:solidFill>
                  <a:srgbClr val="002060"/>
                </a:solidFill>
              </a:rPr>
              <a:t>d”,sum</a:t>
            </a:r>
            <a:r>
              <a:rPr lang="en-US" dirty="0">
                <a:solidFill>
                  <a:srgbClr val="002060"/>
                </a:solidFill>
              </a:rPr>
              <a:t>);</a:t>
            </a:r>
          </a:p>
          <a:p>
            <a:pPr marL="171450" indent="-38100">
              <a:spcBef>
                <a:spcPct val="0"/>
              </a:spcBef>
              <a:buClr>
                <a:srgbClr val="000000"/>
              </a:buClr>
              <a:buSzPts val="2800"/>
              <a:buNone/>
            </a:pPr>
            <a:r>
              <a:rPr lang="en-US" dirty="0">
                <a:solidFill>
                  <a:srgbClr val="002060"/>
                </a:solidFill>
              </a:rPr>
              <a:t>}      </a:t>
            </a:r>
          </a:p>
          <a:p>
            <a:endParaRPr lang="en-US" dirty="0"/>
          </a:p>
        </p:txBody>
      </p:sp>
      <p:sp>
        <p:nvSpPr>
          <p:cNvPr id="20" name="TextBox 19"/>
          <p:cNvSpPr txBox="1"/>
          <p:nvPr/>
        </p:nvSpPr>
        <p:spPr>
          <a:xfrm>
            <a:off x="7104185" y="4614203"/>
            <a:ext cx="2377440" cy="923330"/>
          </a:xfrm>
          <a:prstGeom prst="rect">
            <a:avLst/>
          </a:prstGeom>
          <a:solidFill>
            <a:schemeClr val="bg2">
              <a:lumMod val="75000"/>
            </a:schemeClr>
          </a:solidFill>
          <a:ln>
            <a:solidFill>
              <a:schemeClr val="tx2">
                <a:lumMod val="75000"/>
              </a:schemeClr>
            </a:solidFill>
          </a:ln>
        </p:spPr>
        <p:txBody>
          <a:bodyPr wrap="square" rtlCol="0">
            <a:spAutoFit/>
          </a:bodyPr>
          <a:lstStyle/>
          <a:p>
            <a:r>
              <a:rPr lang="en-US" dirty="0"/>
              <a:t>Output :</a:t>
            </a:r>
          </a:p>
          <a:p>
            <a:r>
              <a:rPr lang="en-US" dirty="0"/>
              <a:t>Addition</a:t>
            </a:r>
          </a:p>
          <a:p>
            <a:r>
              <a:rPr lang="en-US" dirty="0"/>
              <a:t>Sum=30</a:t>
            </a:r>
          </a:p>
        </p:txBody>
      </p:sp>
    </p:spTree>
  </p:cSld>
  <p:clrMapOvr>
    <a:masterClrMapping/>
  </p:clrMapOvr>
  <mc:AlternateContent xmlns:mc="http://schemas.openxmlformats.org/markup-compatibility/2006" xmlns:p14="http://schemas.microsoft.com/office/powerpoint/2010/main">
    <mc:Choice Requires="p14">
      <p:transition spd="slow" p14:dur="2000" advTm="92495"/>
    </mc:Choice>
    <mc:Fallback xmlns="">
      <p:transition spd="slow" advTm="92495"/>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7115" y="365125"/>
            <a:ext cx="10297550" cy="1325563"/>
          </a:xfrm>
        </p:spPr>
        <p:txBody>
          <a:bodyPr>
            <a:normAutofit/>
          </a:bodyPr>
          <a:lstStyle/>
          <a:p>
            <a:r>
              <a:rPr lang="en-US" sz="3600" b="1" dirty="0">
                <a:latin typeface="+mj-lt"/>
              </a:rPr>
              <a:t>CALL BY VALUE  &amp; CALL BY REFERENCE</a:t>
            </a:r>
          </a:p>
        </p:txBody>
      </p:sp>
      <p:sp>
        <p:nvSpPr>
          <p:cNvPr id="4" name="Content Placeholder 3"/>
          <p:cNvSpPr>
            <a:spLocks noGrp="1"/>
          </p:cNvSpPr>
          <p:nvPr>
            <p:ph idx="1"/>
          </p:nvPr>
        </p:nvSpPr>
        <p:spPr/>
        <p:txBody>
          <a:bodyPr/>
          <a:lstStyle/>
          <a:p>
            <a:pPr>
              <a:buNone/>
            </a:pPr>
            <a:r>
              <a:rPr lang="en-US" dirty="0">
                <a:solidFill>
                  <a:schemeClr val="tx1"/>
                </a:solidFill>
                <a:latin typeface="+mn-lt"/>
              </a:rPr>
              <a:t>There are two ways to pass value or data to function in </a:t>
            </a:r>
          </a:p>
          <a:p>
            <a:pPr>
              <a:buNone/>
            </a:pPr>
            <a:r>
              <a:rPr lang="en-US" dirty="0">
                <a:solidFill>
                  <a:schemeClr val="tx1"/>
                </a:solidFill>
                <a:latin typeface="+mn-lt"/>
              </a:rPr>
              <a:t>C language which is given below:</a:t>
            </a:r>
          </a:p>
          <a:p>
            <a:pPr marL="514350" indent="-514350">
              <a:buFont typeface="+mj-lt"/>
              <a:buAutoNum type="arabicPeriod"/>
            </a:pPr>
            <a:r>
              <a:rPr lang="en-US" dirty="0">
                <a:solidFill>
                  <a:schemeClr val="tx1"/>
                </a:solidFill>
                <a:latin typeface="+mn-lt"/>
              </a:rPr>
              <a:t>Call by value</a:t>
            </a:r>
          </a:p>
          <a:p>
            <a:pPr marL="514350" indent="-514350">
              <a:buFont typeface="+mj-lt"/>
              <a:buAutoNum type="arabicPeriod"/>
            </a:pPr>
            <a:r>
              <a:rPr lang="en-US" dirty="0">
                <a:solidFill>
                  <a:schemeClr val="tx1"/>
                </a:solidFill>
                <a:latin typeface="+mn-lt"/>
              </a:rPr>
              <a:t>Call by reference</a:t>
            </a:r>
          </a:p>
          <a:p>
            <a:pPr>
              <a:buNone/>
            </a:pPr>
            <a:endParaRPr lang="en-US" dirty="0"/>
          </a:p>
        </p:txBody>
      </p:sp>
      <p:sp>
        <p:nvSpPr>
          <p:cNvPr id="7" name="Slide Number Placeholder 6"/>
          <p:cNvSpPr>
            <a:spLocks noGrp="1"/>
          </p:cNvSpPr>
          <p:nvPr>
            <p:ph type="sldNum" sz="quarter" idx="12"/>
          </p:nvPr>
        </p:nvSpPr>
        <p:spPr/>
        <p:txBody>
          <a:bodyPr/>
          <a:lstStyle/>
          <a:p>
            <a:fld id="{4AD51EEE-AB63-4DA6-9F1F-5936DDA55F0B}" type="slidenum">
              <a:rPr lang="en-US" smtClean="0"/>
              <a:pPr/>
              <a:t>35</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11784"/>
    </mc:Choice>
    <mc:Fallback xmlns="">
      <p:transition spd="slow" advTm="11784"/>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82879" y="365125"/>
            <a:ext cx="10635175" cy="1325563"/>
          </a:xfrm>
        </p:spPr>
        <p:txBody>
          <a:bodyPr>
            <a:normAutofit/>
          </a:bodyPr>
          <a:lstStyle/>
          <a:p>
            <a:r>
              <a:rPr lang="en-US" sz="3600" b="1" dirty="0">
                <a:latin typeface="+mj-lt"/>
              </a:rPr>
              <a:t>CALL BY REFERENCE VS CALL BY VALUE</a:t>
            </a:r>
            <a:endParaRPr lang="en-US" sz="3600" dirty="0">
              <a:latin typeface="+mj-lt"/>
            </a:endParaRPr>
          </a:p>
        </p:txBody>
      </p:sp>
      <p:graphicFrame>
        <p:nvGraphicFramePr>
          <p:cNvPr id="12" name="Content Placeholder 11"/>
          <p:cNvGraphicFramePr>
            <a:graphicFrameLocks noGrp="1"/>
          </p:cNvGraphicFramePr>
          <p:nvPr>
            <p:ph idx="1"/>
          </p:nvPr>
        </p:nvGraphicFramePr>
        <p:xfrm>
          <a:off x="838200" y="1825625"/>
          <a:ext cx="9823450" cy="2103120"/>
        </p:xfrm>
        <a:graphic>
          <a:graphicData uri="http://schemas.openxmlformats.org/drawingml/2006/table">
            <a:tbl>
              <a:tblPr firstRow="1" bandRow="1">
                <a:tableStyleId>{5C22544A-7EE6-4342-B048-85BDC9FD1C3A}</a:tableStyleId>
              </a:tblPr>
              <a:tblGrid>
                <a:gridCol w="4911725">
                  <a:extLst>
                    <a:ext uri="{9D8B030D-6E8A-4147-A177-3AD203B41FA5}">
                      <a16:colId xmlns:a16="http://schemas.microsoft.com/office/drawing/2014/main" xmlns="" val="20000"/>
                    </a:ext>
                  </a:extLst>
                </a:gridCol>
                <a:gridCol w="4911725">
                  <a:extLst>
                    <a:ext uri="{9D8B030D-6E8A-4147-A177-3AD203B41FA5}">
                      <a16:colId xmlns:a16="http://schemas.microsoft.com/office/drawing/2014/main" xmlns="" val="20001"/>
                    </a:ext>
                  </a:extLst>
                </a:gridCol>
              </a:tblGrid>
              <a:tr h="370840">
                <a:tc>
                  <a:txBody>
                    <a:bodyPr/>
                    <a:lstStyle/>
                    <a:p>
                      <a:r>
                        <a:rPr lang="en-US" sz="2000" dirty="0">
                          <a:latin typeface="+mn-lt"/>
                        </a:rPr>
                        <a:t>Call </a:t>
                      </a:r>
                      <a:r>
                        <a:rPr lang="en-US" sz="2000" baseline="0" dirty="0">
                          <a:latin typeface="+mn-lt"/>
                        </a:rPr>
                        <a:t> by  Reference </a:t>
                      </a:r>
                      <a:endParaRPr lang="en-US" sz="2000" dirty="0">
                        <a:latin typeface="+mn-lt"/>
                      </a:endParaRPr>
                    </a:p>
                  </a:txBody>
                  <a:tcPr/>
                </a:tc>
                <a:tc>
                  <a:txBody>
                    <a:bodyPr/>
                    <a:lstStyle/>
                    <a:p>
                      <a:r>
                        <a:rPr lang="en-US" sz="2000" dirty="0">
                          <a:latin typeface="+mn-lt"/>
                        </a:rPr>
                        <a:t>Call </a:t>
                      </a:r>
                      <a:r>
                        <a:rPr lang="en-US" sz="2000" baseline="0" dirty="0">
                          <a:latin typeface="+mn-lt"/>
                        </a:rPr>
                        <a:t> by Value</a:t>
                      </a:r>
                      <a:endParaRPr lang="en-US" sz="2000" dirty="0">
                        <a:latin typeface="+mn-lt"/>
                      </a:endParaRPr>
                    </a:p>
                  </a:txBody>
                  <a:tcPr/>
                </a:tc>
                <a:extLst>
                  <a:ext uri="{0D108BD9-81ED-4DB2-BD59-A6C34878D82A}">
                    <a16:rowId xmlns:a16="http://schemas.microsoft.com/office/drawing/2014/main" xmlns="" val="10000"/>
                  </a:ext>
                </a:extLst>
              </a:tr>
              <a:tr h="370840">
                <a:tc>
                  <a:txBody>
                    <a:bodyPr/>
                    <a:lstStyle/>
                    <a:p>
                      <a:r>
                        <a:rPr lang="en-US" sz="2000" dirty="0">
                          <a:latin typeface="+mn-lt"/>
                        </a:rPr>
                        <a:t>This method copies the address of arguments into function as arguments.</a:t>
                      </a:r>
                    </a:p>
                  </a:txBody>
                  <a:tcPr/>
                </a:tc>
                <a:tc>
                  <a:txBody>
                    <a:bodyPr/>
                    <a:lstStyle/>
                    <a:p>
                      <a:r>
                        <a:rPr lang="en-US" sz="2000" dirty="0">
                          <a:latin typeface="+mn-lt"/>
                        </a:rPr>
                        <a:t>This method copies the original value into function as arguments.</a:t>
                      </a:r>
                    </a:p>
                  </a:txBody>
                  <a:tcPr/>
                </a:tc>
                <a:extLst>
                  <a:ext uri="{0D108BD9-81ED-4DB2-BD59-A6C34878D82A}">
                    <a16:rowId xmlns:a16="http://schemas.microsoft.com/office/drawing/2014/main" xmlns="" val="10001"/>
                  </a:ext>
                </a:extLst>
              </a:tr>
              <a:tr h="370840">
                <a:tc>
                  <a:txBody>
                    <a:bodyPr/>
                    <a:lstStyle/>
                    <a:p>
                      <a:r>
                        <a:rPr lang="en-US" sz="2000" dirty="0">
                          <a:latin typeface="+mn-lt"/>
                        </a:rPr>
                        <a:t>Actual and formal arguments share the same address space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latin typeface="+mn-lt"/>
                        </a:rPr>
                        <a:t>Actual and formal arguments are stored</a:t>
                      </a:r>
                      <a:r>
                        <a:rPr lang="en-US" sz="2000" baseline="0" dirty="0">
                          <a:latin typeface="+mn-lt"/>
                        </a:rPr>
                        <a:t> in</a:t>
                      </a:r>
                      <a:r>
                        <a:rPr lang="en-US" sz="2000" dirty="0">
                          <a:latin typeface="+mn-lt"/>
                        </a:rPr>
                        <a:t> the different</a:t>
                      </a:r>
                      <a:r>
                        <a:rPr lang="en-US" sz="2000" baseline="0" dirty="0">
                          <a:latin typeface="+mn-lt"/>
                        </a:rPr>
                        <a:t> </a:t>
                      </a:r>
                      <a:r>
                        <a:rPr lang="en-US" sz="2000" dirty="0">
                          <a:latin typeface="+mn-lt"/>
                        </a:rPr>
                        <a:t>address space</a:t>
                      </a:r>
                    </a:p>
                    <a:p>
                      <a:endParaRPr lang="en-US" sz="2000" dirty="0">
                        <a:latin typeface="+mn-lt"/>
                      </a:endParaRPr>
                    </a:p>
                  </a:txBody>
                  <a:tcPr/>
                </a:tc>
                <a:extLst>
                  <a:ext uri="{0D108BD9-81ED-4DB2-BD59-A6C34878D82A}">
                    <a16:rowId xmlns:a16="http://schemas.microsoft.com/office/drawing/2014/main" xmlns="" val="10002"/>
                  </a:ext>
                </a:extLst>
              </a:tr>
            </a:tbl>
          </a:graphicData>
        </a:graphic>
      </p:graphicFrame>
      <p:sp>
        <p:nvSpPr>
          <p:cNvPr id="13" name="Slide Number Placeholder 12"/>
          <p:cNvSpPr>
            <a:spLocks noGrp="1"/>
          </p:cNvSpPr>
          <p:nvPr>
            <p:ph type="sldNum" sz="quarter" idx="12"/>
          </p:nvPr>
        </p:nvSpPr>
        <p:spPr/>
        <p:txBody>
          <a:bodyPr/>
          <a:lstStyle/>
          <a:p>
            <a:fld id="{4AD51EEE-AB63-4DA6-9F1F-5936DDA55F0B}" type="slidenum">
              <a:rPr lang="en-US" smtClean="0"/>
              <a:pPr/>
              <a:t>36</a:t>
            </a:fld>
            <a:endParaRPr lang="en-US"/>
          </a:p>
        </p:txBody>
      </p:sp>
      <p:pic>
        <p:nvPicPr>
          <p:cNvPr id="10" name="Shape 385"/>
          <p:cNvPicPr preferRelativeResize="0">
            <a:picLocks noChangeAspect="1" noChangeArrowheads="1"/>
          </p:cNvPicPr>
          <p:nvPr/>
        </p:nvPicPr>
        <p:blipFill>
          <a:blip r:embed="rId3"/>
          <a:srcRect/>
          <a:stretch>
            <a:fillRect/>
          </a:stretch>
        </p:blipFill>
        <p:spPr bwMode="auto">
          <a:xfrm>
            <a:off x="2757266" y="4164037"/>
            <a:ext cx="5838093" cy="1941342"/>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2000" advTm="55124"/>
    </mc:Choice>
    <mc:Fallback xmlns="">
      <p:transition spd="slow" advTm="55124"/>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7"/>
          <p:cNvSpPr>
            <a:spLocks noGrp="1"/>
          </p:cNvSpPr>
          <p:nvPr>
            <p:ph type="title"/>
          </p:nvPr>
        </p:nvSpPr>
        <p:spPr>
          <a:xfrm>
            <a:off x="182879" y="365126"/>
            <a:ext cx="10635175" cy="748470"/>
          </a:xfrm>
        </p:spPr>
        <p:txBody>
          <a:bodyPr>
            <a:normAutofit/>
          </a:bodyPr>
          <a:lstStyle/>
          <a:p>
            <a:r>
              <a:rPr lang="en-US" sz="3600" b="1" dirty="0">
                <a:latin typeface="+mj-lt"/>
              </a:rPr>
              <a:t>CALL BY REFERENCE VS CALL BY VALUE</a:t>
            </a:r>
            <a:endParaRPr lang="en-US" sz="3600" dirty="0">
              <a:latin typeface="+mj-lt"/>
            </a:endParaRPr>
          </a:p>
        </p:txBody>
      </p:sp>
      <p:graphicFrame>
        <p:nvGraphicFramePr>
          <p:cNvPr id="12" name="Content Placeholder 11"/>
          <p:cNvGraphicFramePr>
            <a:graphicFrameLocks noGrp="1"/>
          </p:cNvGraphicFramePr>
          <p:nvPr>
            <p:ph idx="1"/>
          </p:nvPr>
        </p:nvGraphicFramePr>
        <p:xfrm>
          <a:off x="781930" y="1113595"/>
          <a:ext cx="9823450" cy="2348525"/>
        </p:xfrm>
        <a:graphic>
          <a:graphicData uri="http://schemas.openxmlformats.org/drawingml/2006/table">
            <a:tbl>
              <a:tblPr firstRow="1" bandRow="1">
                <a:tableStyleId>{5C22544A-7EE6-4342-B048-85BDC9FD1C3A}</a:tableStyleId>
              </a:tblPr>
              <a:tblGrid>
                <a:gridCol w="4911725">
                  <a:extLst>
                    <a:ext uri="{9D8B030D-6E8A-4147-A177-3AD203B41FA5}">
                      <a16:colId xmlns:a16="http://schemas.microsoft.com/office/drawing/2014/main" xmlns="" val="20000"/>
                    </a:ext>
                  </a:extLst>
                </a:gridCol>
                <a:gridCol w="4911725">
                  <a:extLst>
                    <a:ext uri="{9D8B030D-6E8A-4147-A177-3AD203B41FA5}">
                      <a16:colId xmlns:a16="http://schemas.microsoft.com/office/drawing/2014/main" xmlns="" val="20001"/>
                    </a:ext>
                  </a:extLst>
                </a:gridCol>
              </a:tblGrid>
              <a:tr h="429846">
                <a:tc>
                  <a:txBody>
                    <a:bodyPr/>
                    <a:lstStyle/>
                    <a:p>
                      <a:r>
                        <a:rPr lang="en-US" sz="2400" dirty="0"/>
                        <a:t>Call </a:t>
                      </a:r>
                      <a:r>
                        <a:rPr lang="en-US" sz="2400" baseline="0" dirty="0"/>
                        <a:t> by  Reference </a:t>
                      </a:r>
                      <a:endParaRPr lang="en-US" sz="2400" dirty="0"/>
                    </a:p>
                  </a:txBody>
                  <a:tcPr/>
                </a:tc>
                <a:tc>
                  <a:txBody>
                    <a:bodyPr/>
                    <a:lstStyle/>
                    <a:p>
                      <a:r>
                        <a:rPr lang="en-US" sz="2400" dirty="0"/>
                        <a:t>Call </a:t>
                      </a:r>
                      <a:r>
                        <a:rPr lang="en-US" sz="2400" baseline="0" dirty="0"/>
                        <a:t> by Value</a:t>
                      </a:r>
                      <a:endParaRPr lang="en-US" sz="2400" dirty="0"/>
                    </a:p>
                  </a:txBody>
                  <a:tcPr/>
                </a:tc>
                <a:extLst>
                  <a:ext uri="{0D108BD9-81ED-4DB2-BD59-A6C34878D82A}">
                    <a16:rowId xmlns:a16="http://schemas.microsoft.com/office/drawing/2014/main" xmlns="" val="10000"/>
                  </a:ext>
                </a:extLst>
              </a:tr>
              <a:tr h="1891325">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dk1"/>
                          </a:solidFill>
                          <a:effectLst/>
                          <a:latin typeface="+mn-lt"/>
                          <a:ea typeface="+mn-ea"/>
                          <a:cs typeface="+mn-cs"/>
                        </a:rPr>
                        <a:t>Both the actual and formal parameters refer to the same memory locations and so, any changes made inside the function are reflected in actual parameters of the calling function.</a:t>
                      </a:r>
                      <a:endParaRPr lang="en-US" sz="2400" dirty="0"/>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Values of actual parameters are copied to function’s formal parameters and the two types of parameters are stored in different memory locations. So, any changes made inside functions are not reflected in actual parameters of the calling function.</a:t>
                      </a:r>
                      <a:endParaRPr lang="en-US" sz="2400" dirty="0"/>
                    </a:p>
                  </a:txBody>
                  <a:tcPr/>
                </a:tc>
                <a:extLst>
                  <a:ext uri="{0D108BD9-81ED-4DB2-BD59-A6C34878D82A}">
                    <a16:rowId xmlns:a16="http://schemas.microsoft.com/office/drawing/2014/main" xmlns="" val="10001"/>
                  </a:ext>
                </a:extLst>
              </a:tr>
            </a:tbl>
          </a:graphicData>
        </a:graphic>
      </p:graphicFrame>
      <p:sp>
        <p:nvSpPr>
          <p:cNvPr id="8" name="Slide Number Placeholder 7"/>
          <p:cNvSpPr>
            <a:spLocks noGrp="1"/>
          </p:cNvSpPr>
          <p:nvPr>
            <p:ph type="sldNum" sz="quarter" idx="12"/>
          </p:nvPr>
        </p:nvSpPr>
        <p:spPr/>
        <p:txBody>
          <a:bodyPr/>
          <a:lstStyle/>
          <a:p>
            <a:fld id="{4AD51EEE-AB63-4DA6-9F1F-5936DDA55F0B}" type="slidenum">
              <a:rPr lang="en-US" smtClean="0"/>
              <a:pPr/>
              <a:t>37</a:t>
            </a:fld>
            <a:endParaRPr lang="en-US"/>
          </a:p>
        </p:txBody>
      </p:sp>
      <p:pic>
        <p:nvPicPr>
          <p:cNvPr id="121858" name="Picture 2" descr="Call by Value and Call by Reference in C - javatpoint"/>
          <p:cNvPicPr>
            <a:picLocks noChangeAspect="1" noChangeArrowheads="1"/>
          </p:cNvPicPr>
          <p:nvPr/>
        </p:nvPicPr>
        <p:blipFill>
          <a:blip r:embed="rId2"/>
          <a:srcRect/>
          <a:stretch>
            <a:fillRect/>
          </a:stretch>
        </p:blipFill>
        <p:spPr bwMode="auto">
          <a:xfrm>
            <a:off x="2800301" y="3643531"/>
            <a:ext cx="5553075" cy="232117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advTm="54484"/>
    </mc:Choice>
    <mc:Fallback xmlns="">
      <p:transition spd="slow" advTm="54484"/>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7"/>
          <p:cNvSpPr>
            <a:spLocks noGrp="1"/>
          </p:cNvSpPr>
          <p:nvPr>
            <p:ph type="title"/>
          </p:nvPr>
        </p:nvSpPr>
        <p:spPr>
          <a:xfrm>
            <a:off x="182879" y="116011"/>
            <a:ext cx="10635175" cy="740332"/>
          </a:xfrm>
        </p:spPr>
        <p:txBody>
          <a:bodyPr>
            <a:normAutofit/>
          </a:bodyPr>
          <a:lstStyle/>
          <a:p>
            <a:r>
              <a:rPr lang="en-US" sz="3600" b="1" dirty="0">
                <a:latin typeface="+mj-lt"/>
              </a:rPr>
              <a:t>CALL BY VALUE - EXAMPLE</a:t>
            </a:r>
            <a:endParaRPr lang="en-US" sz="3600" dirty="0">
              <a:latin typeface="+mj-lt"/>
            </a:endParaRPr>
          </a:p>
        </p:txBody>
      </p:sp>
      <p:graphicFrame>
        <p:nvGraphicFramePr>
          <p:cNvPr id="12" name="Content Placeholder 11"/>
          <p:cNvGraphicFramePr>
            <a:graphicFrameLocks noGrp="1"/>
          </p:cNvGraphicFramePr>
          <p:nvPr>
            <p:ph idx="1"/>
          </p:nvPr>
        </p:nvGraphicFramePr>
        <p:xfrm>
          <a:off x="781930" y="856343"/>
          <a:ext cx="9276470" cy="5500007"/>
        </p:xfrm>
        <a:graphic>
          <a:graphicData uri="http://schemas.openxmlformats.org/drawingml/2006/table">
            <a:tbl>
              <a:tblPr firstRow="1" bandRow="1">
                <a:tableStyleId>{5C22544A-7EE6-4342-B048-85BDC9FD1C3A}</a:tableStyleId>
              </a:tblPr>
              <a:tblGrid>
                <a:gridCol w="4588356">
                  <a:extLst>
                    <a:ext uri="{9D8B030D-6E8A-4147-A177-3AD203B41FA5}">
                      <a16:colId xmlns:a16="http://schemas.microsoft.com/office/drawing/2014/main" xmlns="" val="20000"/>
                    </a:ext>
                  </a:extLst>
                </a:gridCol>
                <a:gridCol w="4688114">
                  <a:extLst>
                    <a:ext uri="{9D8B030D-6E8A-4147-A177-3AD203B41FA5}">
                      <a16:colId xmlns:a16="http://schemas.microsoft.com/office/drawing/2014/main" xmlns="" val="20001"/>
                    </a:ext>
                  </a:extLst>
                </a:gridCol>
              </a:tblGrid>
              <a:tr h="405393">
                <a:tc>
                  <a:txBody>
                    <a:bodyPr/>
                    <a:lstStyle/>
                    <a:p>
                      <a:r>
                        <a:rPr lang="en-US" dirty="0"/>
                        <a:t>Call </a:t>
                      </a:r>
                      <a:r>
                        <a:rPr lang="en-US" baseline="0" dirty="0"/>
                        <a:t> by Value</a:t>
                      </a:r>
                      <a:endParaRPr lang="en-US" dirty="0"/>
                    </a:p>
                  </a:txBody>
                  <a:tcPr/>
                </a:tc>
                <a:tc>
                  <a:txBody>
                    <a:bodyPr/>
                    <a:lstStyle/>
                    <a:p>
                      <a:endParaRPr lang="en-US" dirty="0"/>
                    </a:p>
                  </a:txBody>
                  <a:tcPr/>
                </a:tc>
                <a:extLst>
                  <a:ext uri="{0D108BD9-81ED-4DB2-BD59-A6C34878D82A}">
                    <a16:rowId xmlns:a16="http://schemas.microsoft.com/office/drawing/2014/main" xmlns="" val="10000"/>
                  </a:ext>
                </a:extLst>
              </a:tr>
              <a:tr h="5094614">
                <a:tc>
                  <a:txBody>
                    <a:bodyPr/>
                    <a:lstStyle/>
                    <a:p>
                      <a:r>
                        <a:rPr lang="en-US" dirty="0"/>
                        <a:t>#include&lt;</a:t>
                      </a:r>
                      <a:r>
                        <a:rPr lang="en-US" dirty="0" err="1"/>
                        <a:t>stdio.h</a:t>
                      </a:r>
                      <a:r>
                        <a:rPr lang="en-US" dirty="0"/>
                        <a:t>&gt;</a:t>
                      </a:r>
                    </a:p>
                    <a:p>
                      <a:r>
                        <a:rPr lang="en-US" dirty="0"/>
                        <a:t> #include&lt;</a:t>
                      </a:r>
                      <a:r>
                        <a:rPr lang="en-US" dirty="0" err="1"/>
                        <a:t>conio.h</a:t>
                      </a:r>
                      <a:r>
                        <a:rPr lang="en-US" dirty="0"/>
                        <a:t>&gt;</a:t>
                      </a:r>
                    </a:p>
                    <a:p>
                      <a:r>
                        <a:rPr lang="en-US" dirty="0"/>
                        <a:t> void swap(int a, int b)</a:t>
                      </a:r>
                    </a:p>
                    <a:p>
                      <a:r>
                        <a:rPr lang="en-US" dirty="0"/>
                        <a:t> {</a:t>
                      </a:r>
                    </a:p>
                    <a:p>
                      <a:r>
                        <a:rPr lang="en-US" dirty="0"/>
                        <a:t> </a:t>
                      </a:r>
                      <a:r>
                        <a:rPr lang="en-US" dirty="0" err="1"/>
                        <a:t>int</a:t>
                      </a:r>
                      <a:r>
                        <a:rPr lang="en-US" dirty="0"/>
                        <a:t> temp; </a:t>
                      </a:r>
                    </a:p>
                    <a:p>
                      <a:r>
                        <a:rPr lang="en-US" dirty="0"/>
                        <a:t>temp=a;</a:t>
                      </a:r>
                    </a:p>
                    <a:p>
                      <a:r>
                        <a:rPr lang="en-US" dirty="0"/>
                        <a:t> a=b;</a:t>
                      </a:r>
                    </a:p>
                    <a:p>
                      <a:r>
                        <a:rPr lang="en-US" dirty="0"/>
                        <a:t> b=temp;</a:t>
                      </a:r>
                    </a:p>
                    <a:p>
                      <a:r>
                        <a:rPr lang="en-US" dirty="0"/>
                        <a:t> } </a:t>
                      </a:r>
                    </a:p>
                    <a:p>
                      <a:r>
                        <a:rPr lang="en-US" dirty="0"/>
                        <a:t>void main() </a:t>
                      </a:r>
                    </a:p>
                    <a:p>
                      <a:r>
                        <a:rPr lang="en-US" dirty="0"/>
                        <a:t>{</a:t>
                      </a:r>
                    </a:p>
                    <a:p>
                      <a:r>
                        <a:rPr lang="en-US" dirty="0"/>
                        <a:t> int a=2, b=3;</a:t>
                      </a:r>
                    </a:p>
                    <a:p>
                      <a:r>
                        <a:rPr lang="en-US" dirty="0"/>
                        <a:t> </a:t>
                      </a:r>
                      <a:r>
                        <a:rPr lang="en-US" dirty="0" err="1"/>
                        <a:t>clrscr</a:t>
                      </a:r>
                      <a:r>
                        <a:rPr lang="en-US" dirty="0"/>
                        <a:t>();</a:t>
                      </a:r>
                    </a:p>
                    <a:p>
                      <a:r>
                        <a:rPr lang="en-US" dirty="0"/>
                        <a:t> swap(a, b); // passing value to function </a:t>
                      </a:r>
                      <a:r>
                        <a:rPr lang="en-US" dirty="0" err="1"/>
                        <a:t>printf</a:t>
                      </a:r>
                      <a:r>
                        <a:rPr lang="en-US" dirty="0"/>
                        <a:t>("\</a:t>
                      </a:r>
                      <a:r>
                        <a:rPr lang="en-US" dirty="0" err="1"/>
                        <a:t>nValue</a:t>
                      </a:r>
                      <a:r>
                        <a:rPr lang="en-US" dirty="0"/>
                        <a:t> of a: %</a:t>
                      </a:r>
                      <a:r>
                        <a:rPr lang="en-US" dirty="0" err="1"/>
                        <a:t>d",a</a:t>
                      </a:r>
                      <a:r>
                        <a:rPr lang="en-US" dirty="0"/>
                        <a:t>); </a:t>
                      </a:r>
                    </a:p>
                    <a:p>
                      <a:r>
                        <a:rPr lang="en-US" dirty="0" err="1"/>
                        <a:t>printf</a:t>
                      </a:r>
                      <a:r>
                        <a:rPr lang="en-US" dirty="0"/>
                        <a:t>("\</a:t>
                      </a:r>
                      <a:r>
                        <a:rPr lang="en-US" dirty="0" err="1"/>
                        <a:t>nValue</a:t>
                      </a:r>
                      <a:r>
                        <a:rPr lang="en-US" dirty="0"/>
                        <a:t> of b: %</a:t>
                      </a:r>
                      <a:r>
                        <a:rPr lang="en-US" dirty="0" err="1"/>
                        <a:t>d",b</a:t>
                      </a:r>
                      <a:r>
                        <a:rPr lang="en-US" dirty="0"/>
                        <a:t>); </a:t>
                      </a:r>
                    </a:p>
                    <a:p>
                      <a:r>
                        <a:rPr lang="en-US" dirty="0" err="1"/>
                        <a:t>getch</a:t>
                      </a:r>
                      <a:r>
                        <a:rPr lang="en-US" dirty="0"/>
                        <a:t>(); </a:t>
                      </a:r>
                    </a:p>
                    <a:p>
                      <a:r>
                        <a:rPr lang="en-US" dirty="0"/>
                        <a:t>} </a:t>
                      </a:r>
                    </a:p>
                  </a:txBody>
                  <a:tcPr/>
                </a:tc>
                <a:tc>
                  <a:txBody>
                    <a:bodyPr/>
                    <a:lstStyle/>
                    <a:p>
                      <a:endParaRPr lang="en-US" dirty="0"/>
                    </a:p>
                  </a:txBody>
                  <a:tcPr/>
                </a:tc>
                <a:extLst>
                  <a:ext uri="{0D108BD9-81ED-4DB2-BD59-A6C34878D82A}">
                    <a16:rowId xmlns:a16="http://schemas.microsoft.com/office/drawing/2014/main" xmlns="" val="10001"/>
                  </a:ext>
                </a:extLst>
              </a:tr>
            </a:tbl>
          </a:graphicData>
        </a:graphic>
      </p:graphicFrame>
      <p:sp>
        <p:nvSpPr>
          <p:cNvPr id="10" name="Slide Number Placeholder 9"/>
          <p:cNvSpPr>
            <a:spLocks noGrp="1"/>
          </p:cNvSpPr>
          <p:nvPr>
            <p:ph type="sldNum" sz="quarter" idx="12"/>
          </p:nvPr>
        </p:nvSpPr>
        <p:spPr/>
        <p:txBody>
          <a:bodyPr/>
          <a:lstStyle/>
          <a:p>
            <a:fld id="{4AD51EEE-AB63-4DA6-9F1F-5936DDA55F0B}" type="slidenum">
              <a:rPr lang="en-US" smtClean="0"/>
              <a:pPr/>
              <a:t>38</a:t>
            </a:fld>
            <a:endParaRPr lang="en-US"/>
          </a:p>
        </p:txBody>
      </p:sp>
      <p:sp>
        <p:nvSpPr>
          <p:cNvPr id="8" name="TextBox 7"/>
          <p:cNvSpPr txBox="1"/>
          <p:nvPr/>
        </p:nvSpPr>
        <p:spPr>
          <a:xfrm>
            <a:off x="6260123" y="1298022"/>
            <a:ext cx="2236763" cy="2308324"/>
          </a:xfrm>
          <a:prstGeom prst="rect">
            <a:avLst/>
          </a:prstGeom>
          <a:solidFill>
            <a:schemeClr val="accent1">
              <a:lumMod val="75000"/>
            </a:schemeClr>
          </a:solidFill>
        </p:spPr>
        <p:txBody>
          <a:bodyPr wrap="square" rtlCol="0">
            <a:spAutoFit/>
          </a:bodyPr>
          <a:lstStyle/>
          <a:p>
            <a:r>
              <a:rPr lang="en-US" dirty="0"/>
              <a:t>Output:</a:t>
            </a:r>
          </a:p>
          <a:p>
            <a:r>
              <a:rPr lang="en-US" dirty="0"/>
              <a:t>Inside Function</a:t>
            </a:r>
          </a:p>
          <a:p>
            <a:r>
              <a:rPr lang="en-US" dirty="0"/>
              <a:t>Value of a: 3</a:t>
            </a:r>
          </a:p>
          <a:p>
            <a:r>
              <a:rPr lang="en-US" dirty="0"/>
              <a:t>Value of b:  2</a:t>
            </a:r>
          </a:p>
          <a:p>
            <a:r>
              <a:rPr lang="en-US" dirty="0"/>
              <a:t>Inside main</a:t>
            </a:r>
          </a:p>
          <a:p>
            <a:r>
              <a:rPr lang="en-US" dirty="0"/>
              <a:t>Value of a: 2</a:t>
            </a:r>
          </a:p>
          <a:p>
            <a:r>
              <a:rPr lang="en-US" dirty="0"/>
              <a:t> Value of b: 3</a:t>
            </a:r>
          </a:p>
          <a:p>
            <a:endParaRPr lang="en-US" dirty="0"/>
          </a:p>
        </p:txBody>
      </p:sp>
      <p:pic>
        <p:nvPicPr>
          <p:cNvPr id="9" name="Picture 8" descr="val ref ex.png"/>
          <p:cNvPicPr>
            <a:picLocks noChangeAspect="1"/>
          </p:cNvPicPr>
          <p:nvPr/>
        </p:nvPicPr>
        <p:blipFill>
          <a:blip r:embed="rId3"/>
          <a:srcRect l="6179" t="22895" r="55121" b="27474"/>
          <a:stretch>
            <a:fillRect/>
          </a:stretch>
        </p:blipFill>
        <p:spPr>
          <a:xfrm>
            <a:off x="6457070" y="3732627"/>
            <a:ext cx="1842868" cy="236337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20980"/>
    </mc:Choice>
    <mc:Fallback xmlns="">
      <p:transition spd="slow" advTm="120980"/>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7"/>
          <p:cNvSpPr>
            <a:spLocks noGrp="1"/>
          </p:cNvSpPr>
          <p:nvPr>
            <p:ph type="title"/>
          </p:nvPr>
        </p:nvSpPr>
        <p:spPr>
          <a:xfrm>
            <a:off x="182879" y="87874"/>
            <a:ext cx="10635175" cy="768470"/>
          </a:xfrm>
        </p:spPr>
        <p:txBody>
          <a:bodyPr>
            <a:normAutofit/>
          </a:bodyPr>
          <a:lstStyle/>
          <a:p>
            <a:r>
              <a:rPr lang="en-US" sz="3600" b="1" dirty="0">
                <a:latin typeface="+mj-lt"/>
              </a:rPr>
              <a:t>CALL BY REFERENCE - EXAMPLE</a:t>
            </a:r>
            <a:endParaRPr lang="en-US" sz="3600" dirty="0">
              <a:latin typeface="+mj-lt"/>
            </a:endParaRPr>
          </a:p>
        </p:txBody>
      </p:sp>
      <p:graphicFrame>
        <p:nvGraphicFramePr>
          <p:cNvPr id="12" name="Content Placeholder 11"/>
          <p:cNvGraphicFramePr>
            <a:graphicFrameLocks noGrp="1"/>
          </p:cNvGraphicFramePr>
          <p:nvPr>
            <p:ph idx="1"/>
          </p:nvPr>
        </p:nvGraphicFramePr>
        <p:xfrm>
          <a:off x="781930" y="928914"/>
          <a:ext cx="9487485" cy="5394960"/>
        </p:xfrm>
        <a:graphic>
          <a:graphicData uri="http://schemas.openxmlformats.org/drawingml/2006/table">
            <a:tbl>
              <a:tblPr firstRow="1" bandRow="1">
                <a:tableStyleId>{5C22544A-7EE6-4342-B048-85BDC9FD1C3A}</a:tableStyleId>
              </a:tblPr>
              <a:tblGrid>
                <a:gridCol w="4971756">
                  <a:extLst>
                    <a:ext uri="{9D8B030D-6E8A-4147-A177-3AD203B41FA5}">
                      <a16:colId xmlns:a16="http://schemas.microsoft.com/office/drawing/2014/main" xmlns="" val="20000"/>
                    </a:ext>
                  </a:extLst>
                </a:gridCol>
                <a:gridCol w="4515729">
                  <a:extLst>
                    <a:ext uri="{9D8B030D-6E8A-4147-A177-3AD203B41FA5}">
                      <a16:colId xmlns:a16="http://schemas.microsoft.com/office/drawing/2014/main" xmlns="" val="20001"/>
                    </a:ext>
                  </a:extLst>
                </a:gridCol>
              </a:tblGrid>
              <a:tr h="348343">
                <a:tc>
                  <a:txBody>
                    <a:bodyPr/>
                    <a:lstStyle/>
                    <a:p>
                      <a:r>
                        <a:rPr lang="en-US" dirty="0"/>
                        <a:t>Call </a:t>
                      </a:r>
                      <a:r>
                        <a:rPr lang="en-US" baseline="0" dirty="0"/>
                        <a:t> by  reference</a:t>
                      </a:r>
                      <a:endParaRPr lang="en-US" dirty="0"/>
                    </a:p>
                  </a:txBody>
                  <a:tcPr/>
                </a:tc>
                <a:tc>
                  <a:txBody>
                    <a:bodyPr/>
                    <a:lstStyle/>
                    <a:p>
                      <a:endParaRPr lang="en-US" dirty="0"/>
                    </a:p>
                  </a:txBody>
                  <a:tcPr/>
                </a:tc>
                <a:extLst>
                  <a:ext uri="{0D108BD9-81ED-4DB2-BD59-A6C34878D82A}">
                    <a16:rowId xmlns:a16="http://schemas.microsoft.com/office/drawing/2014/main" xmlns="" val="10000"/>
                  </a:ext>
                </a:extLst>
              </a:tr>
              <a:tr h="1020881">
                <a:tc>
                  <a:txBody>
                    <a:bodyPr/>
                    <a:lstStyle/>
                    <a:p>
                      <a:r>
                        <a:rPr lang="en-US" dirty="0"/>
                        <a:t>#include&lt;</a:t>
                      </a:r>
                      <a:r>
                        <a:rPr lang="en-US" dirty="0" err="1"/>
                        <a:t>stdio.h</a:t>
                      </a:r>
                      <a:r>
                        <a:rPr lang="en-US" dirty="0"/>
                        <a:t>&gt;</a:t>
                      </a:r>
                    </a:p>
                    <a:p>
                      <a:r>
                        <a:rPr lang="en-US" dirty="0"/>
                        <a:t> void swap(</a:t>
                      </a:r>
                      <a:r>
                        <a:rPr lang="en-US" dirty="0" err="1"/>
                        <a:t>int</a:t>
                      </a:r>
                      <a:r>
                        <a:rPr lang="en-US" dirty="0"/>
                        <a:t> *a, </a:t>
                      </a:r>
                      <a:r>
                        <a:rPr lang="en-US" dirty="0" err="1"/>
                        <a:t>int</a:t>
                      </a:r>
                      <a:r>
                        <a:rPr lang="en-US" dirty="0"/>
                        <a:t> *b)</a:t>
                      </a:r>
                    </a:p>
                    <a:p>
                      <a:r>
                        <a:rPr lang="en-US" dirty="0"/>
                        <a:t> { </a:t>
                      </a:r>
                      <a:r>
                        <a:rPr lang="en-US" dirty="0" err="1"/>
                        <a:t>int</a:t>
                      </a:r>
                      <a:r>
                        <a:rPr lang="en-US" dirty="0"/>
                        <a:t> temp;</a:t>
                      </a:r>
                    </a:p>
                    <a:p>
                      <a:r>
                        <a:rPr lang="en-US" dirty="0"/>
                        <a:t> temp=*a;</a:t>
                      </a:r>
                    </a:p>
                    <a:p>
                      <a:r>
                        <a:rPr lang="en-US" dirty="0"/>
                        <a:t> *a=*b;</a:t>
                      </a:r>
                    </a:p>
                    <a:p>
                      <a:r>
                        <a:rPr lang="en-US" dirty="0"/>
                        <a:t> *b=temp; </a:t>
                      </a:r>
                    </a:p>
                    <a:p>
                      <a:r>
                        <a:rPr lang="en-US" dirty="0"/>
                        <a:t>  </a:t>
                      </a:r>
                      <a:r>
                        <a:rPr lang="en-US" baseline="0" dirty="0" err="1"/>
                        <a:t>printf</a:t>
                      </a:r>
                      <a:r>
                        <a:rPr lang="en-US" baseline="0" dirty="0"/>
                        <a:t>(“\n Inside Function”);</a:t>
                      </a:r>
                    </a:p>
                    <a:p>
                      <a:r>
                        <a:rPr lang="en-US" dirty="0"/>
                        <a:t>  </a:t>
                      </a:r>
                      <a:r>
                        <a:rPr lang="en-US" dirty="0" err="1"/>
                        <a:t>printf</a:t>
                      </a:r>
                      <a:r>
                        <a:rPr lang="en-US" dirty="0"/>
                        <a:t>("\</a:t>
                      </a:r>
                      <a:r>
                        <a:rPr lang="en-US" dirty="0" err="1"/>
                        <a:t>nValue</a:t>
                      </a:r>
                      <a:r>
                        <a:rPr lang="en-US" dirty="0"/>
                        <a:t> of a: %</a:t>
                      </a:r>
                      <a:r>
                        <a:rPr lang="en-US" dirty="0" err="1"/>
                        <a:t>d",a</a:t>
                      </a:r>
                      <a:r>
                        <a:rPr lang="en-US" dirty="0"/>
                        <a:t>);</a:t>
                      </a:r>
                    </a:p>
                    <a:p>
                      <a:r>
                        <a:rPr lang="en-US" dirty="0"/>
                        <a:t>  </a:t>
                      </a:r>
                      <a:r>
                        <a:rPr lang="en-US" dirty="0" err="1"/>
                        <a:t>printf</a:t>
                      </a:r>
                      <a:r>
                        <a:rPr lang="en-US" dirty="0"/>
                        <a:t>("\</a:t>
                      </a:r>
                      <a:r>
                        <a:rPr lang="en-US" dirty="0" err="1"/>
                        <a:t>nValue</a:t>
                      </a:r>
                      <a:r>
                        <a:rPr lang="en-US" dirty="0"/>
                        <a:t> of b: %</a:t>
                      </a:r>
                      <a:r>
                        <a:rPr lang="en-US" dirty="0" err="1"/>
                        <a:t>d",b</a:t>
                      </a:r>
                      <a:r>
                        <a:rPr lang="en-US" dirty="0"/>
                        <a:t>);</a:t>
                      </a:r>
                    </a:p>
                    <a:p>
                      <a:r>
                        <a:rPr lang="en-US" dirty="0"/>
                        <a:t> }</a:t>
                      </a:r>
                    </a:p>
                    <a:p>
                      <a:r>
                        <a:rPr lang="en-US" dirty="0"/>
                        <a:t> void main() </a:t>
                      </a:r>
                    </a:p>
                    <a:p>
                      <a:r>
                        <a:rPr lang="en-US" dirty="0"/>
                        <a:t>{ </a:t>
                      </a:r>
                    </a:p>
                    <a:p>
                      <a:r>
                        <a:rPr lang="en-US" dirty="0" err="1"/>
                        <a:t>int</a:t>
                      </a:r>
                      <a:r>
                        <a:rPr lang="en-US" dirty="0"/>
                        <a:t> a=2, b=3; </a:t>
                      </a:r>
                    </a:p>
                    <a:p>
                      <a:r>
                        <a:rPr lang="en-US" dirty="0"/>
                        <a:t>swap(&amp;a, &amp;b); // passing value to function</a:t>
                      </a:r>
                    </a:p>
                    <a:p>
                      <a:r>
                        <a:rPr lang="en-US" baseline="0" dirty="0" err="1"/>
                        <a:t>printf</a:t>
                      </a:r>
                      <a:r>
                        <a:rPr lang="en-US" baseline="0" dirty="0"/>
                        <a:t>(“\n Inside main);</a:t>
                      </a:r>
                      <a:endParaRPr lang="en-US" b="1" dirty="0"/>
                    </a:p>
                    <a:p>
                      <a:r>
                        <a:rPr lang="en-US" dirty="0"/>
                        <a:t> </a:t>
                      </a:r>
                      <a:r>
                        <a:rPr lang="en-US" dirty="0" err="1"/>
                        <a:t>printf</a:t>
                      </a:r>
                      <a:r>
                        <a:rPr lang="en-US" dirty="0"/>
                        <a:t>("\</a:t>
                      </a:r>
                      <a:r>
                        <a:rPr lang="en-US" dirty="0" err="1"/>
                        <a:t>nValue</a:t>
                      </a:r>
                      <a:r>
                        <a:rPr lang="en-US" dirty="0"/>
                        <a:t> of a: %</a:t>
                      </a:r>
                      <a:r>
                        <a:rPr lang="en-US" dirty="0" err="1"/>
                        <a:t>d",a</a:t>
                      </a:r>
                      <a:r>
                        <a:rPr lang="en-US" dirty="0"/>
                        <a:t>);</a:t>
                      </a:r>
                    </a:p>
                    <a:p>
                      <a:r>
                        <a:rPr lang="en-US" dirty="0"/>
                        <a:t> </a:t>
                      </a:r>
                      <a:r>
                        <a:rPr lang="en-US" dirty="0" err="1"/>
                        <a:t>printf</a:t>
                      </a:r>
                      <a:r>
                        <a:rPr lang="en-US" dirty="0"/>
                        <a:t>("\</a:t>
                      </a:r>
                      <a:r>
                        <a:rPr lang="en-US" dirty="0" err="1"/>
                        <a:t>nValue</a:t>
                      </a:r>
                      <a:r>
                        <a:rPr lang="en-US" dirty="0"/>
                        <a:t> of b: %</a:t>
                      </a:r>
                      <a:r>
                        <a:rPr lang="en-US" dirty="0" err="1"/>
                        <a:t>d",b</a:t>
                      </a:r>
                      <a:r>
                        <a:rPr lang="en-US" dirty="0"/>
                        <a:t>);</a:t>
                      </a:r>
                    </a:p>
                    <a:p>
                      <a:r>
                        <a:rPr lang="en-US" dirty="0"/>
                        <a:t> }</a:t>
                      </a:r>
                    </a:p>
                  </a:txBody>
                  <a:tcPr/>
                </a:tc>
                <a:tc>
                  <a:txBody>
                    <a:bodyPr/>
                    <a:lstStyle/>
                    <a:p>
                      <a:endParaRPr lang="en-US" dirty="0"/>
                    </a:p>
                  </a:txBody>
                  <a:tcPr/>
                </a:tc>
                <a:extLst>
                  <a:ext uri="{0D108BD9-81ED-4DB2-BD59-A6C34878D82A}">
                    <a16:rowId xmlns:a16="http://schemas.microsoft.com/office/drawing/2014/main" xmlns="" val="10001"/>
                  </a:ext>
                </a:extLst>
              </a:tr>
            </a:tbl>
          </a:graphicData>
        </a:graphic>
      </p:graphicFrame>
      <p:sp>
        <p:nvSpPr>
          <p:cNvPr id="9" name="Slide Number Placeholder 8"/>
          <p:cNvSpPr>
            <a:spLocks noGrp="1"/>
          </p:cNvSpPr>
          <p:nvPr>
            <p:ph type="sldNum" sz="quarter" idx="12"/>
          </p:nvPr>
        </p:nvSpPr>
        <p:spPr/>
        <p:txBody>
          <a:bodyPr/>
          <a:lstStyle/>
          <a:p>
            <a:fld id="{4AD51EEE-AB63-4DA6-9F1F-5936DDA55F0B}" type="slidenum">
              <a:rPr lang="en-US" smtClean="0"/>
              <a:pPr/>
              <a:t>39</a:t>
            </a:fld>
            <a:endParaRPr lang="en-US"/>
          </a:p>
        </p:txBody>
      </p:sp>
      <p:sp>
        <p:nvSpPr>
          <p:cNvPr id="6" name="TextBox 5"/>
          <p:cNvSpPr txBox="1"/>
          <p:nvPr/>
        </p:nvSpPr>
        <p:spPr>
          <a:xfrm>
            <a:off x="6275976" y="1318070"/>
            <a:ext cx="2236763" cy="2308324"/>
          </a:xfrm>
          <a:prstGeom prst="rect">
            <a:avLst/>
          </a:prstGeom>
          <a:solidFill>
            <a:schemeClr val="accent1">
              <a:lumMod val="75000"/>
            </a:schemeClr>
          </a:solidFill>
        </p:spPr>
        <p:txBody>
          <a:bodyPr wrap="square" rtlCol="0">
            <a:spAutoFit/>
          </a:bodyPr>
          <a:lstStyle/>
          <a:p>
            <a:r>
              <a:rPr lang="en-US" dirty="0"/>
              <a:t>Output:</a:t>
            </a:r>
          </a:p>
          <a:p>
            <a:r>
              <a:rPr lang="en-US" dirty="0"/>
              <a:t>Inside Function</a:t>
            </a:r>
          </a:p>
          <a:p>
            <a:r>
              <a:rPr lang="en-US" dirty="0"/>
              <a:t>Value of a: 3</a:t>
            </a:r>
          </a:p>
          <a:p>
            <a:r>
              <a:rPr lang="en-US" dirty="0"/>
              <a:t>Value of b: 2</a:t>
            </a:r>
          </a:p>
          <a:p>
            <a:r>
              <a:rPr lang="en-US" dirty="0"/>
              <a:t>Inside main</a:t>
            </a:r>
          </a:p>
          <a:p>
            <a:r>
              <a:rPr lang="en-US" dirty="0"/>
              <a:t>Value of a: 3</a:t>
            </a:r>
          </a:p>
          <a:p>
            <a:r>
              <a:rPr lang="en-US" dirty="0"/>
              <a:t> Value of b: 2</a:t>
            </a:r>
          </a:p>
          <a:p>
            <a:endParaRPr lang="en-US" dirty="0"/>
          </a:p>
        </p:txBody>
      </p:sp>
      <p:pic>
        <p:nvPicPr>
          <p:cNvPr id="17" name="Picture 16">
            <a:extLst>
              <a:ext uri="{FF2B5EF4-FFF2-40B4-BE49-F238E27FC236}">
                <a16:creationId xmlns:a16="http://schemas.microsoft.com/office/drawing/2014/main" xmlns="" id="{A9FA515C-FDD9-43CC-91F8-36AD72483944}"/>
              </a:ext>
            </a:extLst>
          </p:cNvPr>
          <p:cNvPicPr>
            <a:picLocks noChangeAspect="1"/>
          </p:cNvPicPr>
          <p:nvPr/>
        </p:nvPicPr>
        <p:blipFill>
          <a:blip r:embed="rId3"/>
          <a:stretch>
            <a:fillRect/>
          </a:stretch>
        </p:blipFill>
        <p:spPr>
          <a:xfrm>
            <a:off x="6104526" y="3681819"/>
            <a:ext cx="2408213" cy="24141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6739"/>
    </mc:Choice>
    <mc:Fallback xmlns="">
      <p:transition spd="slow" advTm="76739"/>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1850" y="777765"/>
            <a:ext cx="9830054" cy="1951367"/>
          </a:xfrm>
        </p:spPr>
        <p:txBody>
          <a:bodyPr>
            <a:normAutofit/>
          </a:bodyPr>
          <a:lstStyle/>
          <a:p>
            <a:r>
              <a:rPr lang="en-IN" sz="4800" b="1" dirty="0">
                <a:latin typeface="+mj-lt"/>
              </a:rPr>
              <a:t>UNIT  III : FUNCTIONS &amp; STORAGE CLASSES</a:t>
            </a:r>
            <a:endParaRPr lang="en-US" sz="4800" dirty="0">
              <a:latin typeface="+mj-lt"/>
            </a:endParaRPr>
          </a:p>
        </p:txBody>
      </p:sp>
      <p:sp>
        <p:nvSpPr>
          <p:cNvPr id="6" name="Text Placeholder 5"/>
          <p:cNvSpPr>
            <a:spLocks noGrp="1"/>
          </p:cNvSpPr>
          <p:nvPr>
            <p:ph type="body" idx="1"/>
          </p:nvPr>
        </p:nvSpPr>
        <p:spPr>
          <a:xfrm>
            <a:off x="831850" y="3291841"/>
            <a:ext cx="9946078" cy="1744393"/>
          </a:xfrm>
        </p:spPr>
        <p:txBody>
          <a:bodyPr/>
          <a:lstStyle/>
          <a:p>
            <a:r>
              <a:rPr lang="en-IN" sz="3200" b="1" dirty="0">
                <a:solidFill>
                  <a:schemeClr val="tx1">
                    <a:lumMod val="95000"/>
                    <a:lumOff val="5000"/>
                  </a:schemeClr>
                </a:solidFill>
                <a:latin typeface="Times New Roman" panose="02020603050405020304" pitchFamily="18" charset="0"/>
                <a:cs typeface="Times New Roman" panose="02020603050405020304" pitchFamily="18" charset="0"/>
              </a:rPr>
              <a:t>Week3 – Module 1 – Topic 3</a:t>
            </a:r>
          </a:p>
          <a:p>
            <a:r>
              <a:rPr lang="en-IN" sz="3200" dirty="0">
                <a:solidFill>
                  <a:schemeClr val="tx1">
                    <a:lumMod val="95000"/>
                    <a:lumOff val="5000"/>
                  </a:schemeClr>
                </a:solidFill>
                <a:latin typeface="Times New Roman" panose="02020603050405020304" pitchFamily="18" charset="0"/>
                <a:cs typeface="Times New Roman" panose="02020603050405020304" pitchFamily="18" charset="0"/>
              </a:rPr>
              <a:t> Passing Arrays to Function</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4AD51EEE-AB63-4DA6-9F1F-5936DDA55F0B}" type="slidenum">
              <a:rPr lang="en-US" smtClean="0"/>
              <a:pPr/>
              <a:t>40</a:t>
            </a:fld>
            <a:endParaRPr lang="en-US"/>
          </a:p>
        </p:txBody>
      </p:sp>
    </p:spTree>
    <p:extLst>
      <p:ext uri="{BB962C8B-B14F-4D97-AF65-F5344CB8AC3E}">
        <p14:creationId xmlns:p14="http://schemas.microsoft.com/office/powerpoint/2010/main" val="1718368940"/>
      </p:ext>
    </p:extLst>
  </p:cSld>
  <p:clrMapOvr>
    <a:masterClrMapping/>
  </p:clrMapOvr>
  <mc:AlternateContent xmlns:mc="http://schemas.openxmlformats.org/markup-compatibility/2006" xmlns:p14="http://schemas.microsoft.com/office/powerpoint/2010/main">
    <mc:Choice Requires="p14">
      <p:transition spd="slow" p14:dur="2000" advTm="14861"/>
    </mc:Choice>
    <mc:Fallback xmlns="">
      <p:transition spd="slow" advTm="14861"/>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65"/>
          <p:cNvSpPr txBox="1">
            <a:spLocks noGrp="1"/>
          </p:cNvSpPr>
          <p:nvPr>
            <p:ph type="title"/>
          </p:nvPr>
        </p:nvSpPr>
        <p:spPr>
          <a:xfrm>
            <a:off x="838200" y="365125"/>
            <a:ext cx="8753856"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1E4E79"/>
              </a:buClr>
              <a:buSzPts val="3600"/>
              <a:buFont typeface="Century"/>
              <a:buNone/>
            </a:pPr>
            <a:r>
              <a:rPr lang="en-US" sz="3600" b="1">
                <a:solidFill>
                  <a:srgbClr val="1E4E79"/>
                </a:solidFill>
                <a:latin typeface="Century"/>
                <a:ea typeface="Century"/>
                <a:cs typeface="Century"/>
                <a:sym typeface="Century"/>
              </a:rPr>
              <a:t>PASSING ARRAY TO A FUNCTION</a:t>
            </a:r>
            <a:br>
              <a:rPr lang="en-US" sz="3600" b="1">
                <a:solidFill>
                  <a:srgbClr val="1E4E79"/>
                </a:solidFill>
                <a:latin typeface="Century"/>
                <a:ea typeface="Century"/>
                <a:cs typeface="Century"/>
                <a:sym typeface="Century"/>
              </a:rPr>
            </a:br>
            <a:endParaRPr sz="3600" b="1">
              <a:solidFill>
                <a:srgbClr val="1E4E79"/>
              </a:solidFill>
              <a:latin typeface="Century"/>
              <a:ea typeface="Century"/>
              <a:cs typeface="Century"/>
              <a:sym typeface="Century"/>
            </a:endParaRPr>
          </a:p>
        </p:txBody>
      </p:sp>
      <p:sp>
        <p:nvSpPr>
          <p:cNvPr id="500" name="Google Shape;500;p65"/>
          <p:cNvSpPr txBox="1">
            <a:spLocks noGrp="1"/>
          </p:cNvSpPr>
          <p:nvPr>
            <p:ph idx="1"/>
          </p:nvPr>
        </p:nvSpPr>
        <p:spPr>
          <a:xfrm>
            <a:off x="299803" y="1214203"/>
            <a:ext cx="10598046" cy="4911961"/>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rgbClr val="00305C"/>
              </a:buClr>
              <a:buSzPts val="2400"/>
              <a:buNone/>
            </a:pPr>
            <a:endParaRPr sz="2400" dirty="0">
              <a:solidFill>
                <a:srgbClr val="171616"/>
              </a:solidFill>
              <a:latin typeface="Century"/>
              <a:ea typeface="Century"/>
              <a:cs typeface="Century"/>
              <a:sym typeface="Century"/>
            </a:endParaRPr>
          </a:p>
          <a:p>
            <a:pPr marL="228600" lvl="0" indent="-228600" algn="just" rtl="0">
              <a:lnSpc>
                <a:spcPct val="90000"/>
              </a:lnSpc>
              <a:spcBef>
                <a:spcPts val="1000"/>
              </a:spcBef>
              <a:spcAft>
                <a:spcPts val="0"/>
              </a:spcAft>
              <a:buClr>
                <a:srgbClr val="171616"/>
              </a:buClr>
              <a:buSzPts val="2400"/>
              <a:buNone/>
            </a:pPr>
            <a:r>
              <a:rPr lang="en-US" sz="2400" dirty="0">
                <a:solidFill>
                  <a:srgbClr val="171616"/>
                </a:solidFill>
                <a:latin typeface="Century"/>
                <a:ea typeface="Century"/>
                <a:cs typeface="Century"/>
                <a:sym typeface="Century"/>
              </a:rPr>
              <a:t>To pass a </a:t>
            </a:r>
            <a:r>
              <a:rPr lang="en-US" sz="2400" b="1" i="1" dirty="0">
                <a:solidFill>
                  <a:srgbClr val="C00000"/>
                </a:solidFill>
                <a:latin typeface="Century"/>
                <a:ea typeface="Century"/>
                <a:cs typeface="Century"/>
                <a:sym typeface="Century"/>
              </a:rPr>
              <a:t>list of elements </a:t>
            </a:r>
            <a:r>
              <a:rPr lang="en-US" sz="2400" dirty="0">
                <a:solidFill>
                  <a:srgbClr val="171616"/>
                </a:solidFill>
                <a:latin typeface="Century"/>
                <a:ea typeface="Century"/>
                <a:cs typeface="Century"/>
                <a:sym typeface="Century"/>
              </a:rPr>
              <a:t>as argument to any </a:t>
            </a:r>
            <a:r>
              <a:rPr lang="en-US" sz="2400" b="1" i="1" dirty="0">
                <a:solidFill>
                  <a:srgbClr val="C00000"/>
                </a:solidFill>
                <a:latin typeface="Century"/>
                <a:ea typeface="Century"/>
                <a:cs typeface="Century"/>
                <a:sym typeface="Century"/>
              </a:rPr>
              <a:t>function</a:t>
            </a:r>
            <a:r>
              <a:rPr lang="en-US" sz="2400" b="1" i="1" dirty="0">
                <a:solidFill>
                  <a:srgbClr val="171616"/>
                </a:solidFill>
                <a:latin typeface="Century"/>
                <a:ea typeface="Century"/>
                <a:cs typeface="Century"/>
                <a:sym typeface="Century"/>
              </a:rPr>
              <a:t> </a:t>
            </a:r>
            <a:r>
              <a:rPr lang="en-US" sz="2400" dirty="0">
                <a:solidFill>
                  <a:srgbClr val="171616"/>
                </a:solidFill>
                <a:latin typeface="Century"/>
                <a:ea typeface="Century"/>
                <a:cs typeface="Century"/>
                <a:sym typeface="Century"/>
              </a:rPr>
              <a:t>in C </a:t>
            </a:r>
            <a:endParaRPr sz="2400" dirty="0">
              <a:solidFill>
                <a:srgbClr val="171616"/>
              </a:solidFill>
              <a:latin typeface="Century"/>
              <a:ea typeface="Century"/>
              <a:cs typeface="Century"/>
              <a:sym typeface="Century"/>
            </a:endParaRPr>
          </a:p>
          <a:p>
            <a:pPr marL="228600" lvl="0" indent="-228600" algn="just" rtl="0">
              <a:lnSpc>
                <a:spcPct val="90000"/>
              </a:lnSpc>
              <a:spcBef>
                <a:spcPts val="1000"/>
              </a:spcBef>
              <a:spcAft>
                <a:spcPts val="0"/>
              </a:spcAft>
              <a:buClr>
                <a:srgbClr val="171616"/>
              </a:buClr>
              <a:buSzPts val="2400"/>
              <a:buNone/>
            </a:pPr>
            <a:r>
              <a:rPr lang="en-US" sz="2400" dirty="0">
                <a:solidFill>
                  <a:srgbClr val="171616"/>
                </a:solidFill>
                <a:latin typeface="Century"/>
                <a:ea typeface="Century"/>
                <a:cs typeface="Century"/>
                <a:sym typeface="Century"/>
              </a:rPr>
              <a:t>language, it is preferred to do so using an </a:t>
            </a:r>
            <a:r>
              <a:rPr lang="en-US" sz="2400" b="1" i="1" dirty="0">
                <a:solidFill>
                  <a:srgbClr val="C00000"/>
                </a:solidFill>
                <a:latin typeface="Century"/>
                <a:ea typeface="Century"/>
                <a:cs typeface="Century"/>
                <a:sym typeface="Century"/>
              </a:rPr>
              <a:t>array</a:t>
            </a:r>
            <a:r>
              <a:rPr lang="en-US" sz="2400" b="1" i="1" dirty="0">
                <a:solidFill>
                  <a:srgbClr val="171616"/>
                </a:solidFill>
                <a:latin typeface="Century"/>
                <a:ea typeface="Century"/>
                <a:cs typeface="Century"/>
                <a:sym typeface="Century"/>
              </a:rPr>
              <a:t>.</a:t>
            </a:r>
            <a:endParaRPr dirty="0"/>
          </a:p>
          <a:p>
            <a:pPr marL="228600" lvl="0" indent="-228600" algn="just" rtl="0">
              <a:lnSpc>
                <a:spcPct val="90000"/>
              </a:lnSpc>
              <a:spcBef>
                <a:spcPts val="1000"/>
              </a:spcBef>
              <a:spcAft>
                <a:spcPts val="0"/>
              </a:spcAft>
              <a:buClr>
                <a:srgbClr val="00305C"/>
              </a:buClr>
              <a:buSzPts val="2400"/>
              <a:buNone/>
            </a:pPr>
            <a:endParaRPr sz="2400" b="1" i="1" dirty="0">
              <a:solidFill>
                <a:srgbClr val="171616"/>
              </a:solidFill>
              <a:latin typeface="Century"/>
              <a:ea typeface="Century"/>
              <a:cs typeface="Century"/>
              <a:sym typeface="Century"/>
            </a:endParaRPr>
          </a:p>
          <a:p>
            <a:pPr marL="228600" lvl="0" indent="-228600" algn="just" rtl="0">
              <a:lnSpc>
                <a:spcPct val="90000"/>
              </a:lnSpc>
              <a:spcBef>
                <a:spcPts val="1000"/>
              </a:spcBef>
              <a:spcAft>
                <a:spcPts val="0"/>
              </a:spcAft>
              <a:buClr>
                <a:srgbClr val="7030A0"/>
              </a:buClr>
              <a:buSzPts val="2800"/>
              <a:buNone/>
            </a:pPr>
            <a:r>
              <a:rPr lang="en-US" b="1" dirty="0">
                <a:solidFill>
                  <a:srgbClr val="7030A0"/>
                </a:solidFill>
                <a:latin typeface="Century"/>
                <a:ea typeface="Century"/>
                <a:cs typeface="Century"/>
                <a:sym typeface="Century"/>
              </a:rPr>
              <a:t>Declaring Function with array as a parameter</a:t>
            </a:r>
            <a:endParaRPr dirty="0"/>
          </a:p>
          <a:p>
            <a:pPr marL="228600" lvl="0" indent="-228600" algn="l" rtl="0">
              <a:lnSpc>
                <a:spcPct val="90000"/>
              </a:lnSpc>
              <a:spcBef>
                <a:spcPts val="1000"/>
              </a:spcBef>
              <a:spcAft>
                <a:spcPts val="0"/>
              </a:spcAft>
              <a:buClr>
                <a:srgbClr val="171616"/>
              </a:buClr>
              <a:buSzPts val="2400"/>
              <a:buNone/>
            </a:pPr>
            <a:r>
              <a:rPr lang="en-US" sz="2400" dirty="0">
                <a:solidFill>
                  <a:srgbClr val="171616"/>
                </a:solidFill>
                <a:latin typeface="Century"/>
                <a:ea typeface="Century"/>
                <a:cs typeface="Century"/>
                <a:sym typeface="Century"/>
              </a:rPr>
              <a:t>1.Have an </a:t>
            </a:r>
            <a:r>
              <a:rPr lang="en-US" sz="2400" b="1" i="1" dirty="0">
                <a:solidFill>
                  <a:srgbClr val="171616"/>
                </a:solidFill>
                <a:latin typeface="Century"/>
                <a:ea typeface="Century"/>
                <a:cs typeface="Century"/>
                <a:sym typeface="Century"/>
              </a:rPr>
              <a:t>array</a:t>
            </a:r>
            <a:r>
              <a:rPr lang="en-US" sz="2400" dirty="0">
                <a:solidFill>
                  <a:srgbClr val="171616"/>
                </a:solidFill>
                <a:latin typeface="Century"/>
                <a:ea typeface="Century"/>
                <a:cs typeface="Century"/>
                <a:sym typeface="Century"/>
              </a:rPr>
              <a:t> as a parameter. </a:t>
            </a:r>
            <a:endParaRPr sz="2400" dirty="0">
              <a:solidFill>
                <a:srgbClr val="171616"/>
              </a:solidFill>
              <a:latin typeface="Century"/>
              <a:ea typeface="Century"/>
              <a:cs typeface="Century"/>
              <a:sym typeface="Century"/>
            </a:endParaRPr>
          </a:p>
          <a:p>
            <a:pPr marL="685800" lvl="1" indent="-228600" algn="l" rtl="0">
              <a:lnSpc>
                <a:spcPct val="90000"/>
              </a:lnSpc>
              <a:spcBef>
                <a:spcPts val="500"/>
              </a:spcBef>
              <a:spcAft>
                <a:spcPts val="0"/>
              </a:spcAft>
              <a:buClr>
                <a:srgbClr val="C00000"/>
              </a:buClr>
              <a:buSzPts val="2400"/>
              <a:buNone/>
            </a:pPr>
            <a:r>
              <a:rPr lang="en-US" b="1" i="1" dirty="0">
                <a:solidFill>
                  <a:srgbClr val="C00000"/>
                </a:solidFill>
                <a:latin typeface="Century"/>
                <a:ea typeface="Century"/>
                <a:cs typeface="Century"/>
                <a:sym typeface="Century"/>
              </a:rPr>
              <a:t>Single array element  </a:t>
            </a:r>
            <a:r>
              <a:rPr lang="en-US" dirty="0">
                <a:latin typeface="Century"/>
                <a:ea typeface="Century"/>
                <a:cs typeface="Century"/>
                <a:sym typeface="Century"/>
              </a:rPr>
              <a:t>or </a:t>
            </a:r>
            <a:r>
              <a:rPr lang="en-US" b="1" i="1" dirty="0">
                <a:solidFill>
                  <a:srgbClr val="0070C0"/>
                </a:solidFill>
                <a:latin typeface="Century"/>
                <a:ea typeface="Century"/>
                <a:cs typeface="Century"/>
                <a:sym typeface="Century"/>
              </a:rPr>
              <a:t>one-dimensional array  </a:t>
            </a:r>
            <a:r>
              <a:rPr lang="en-US" dirty="0">
                <a:latin typeface="Century"/>
                <a:ea typeface="Century"/>
                <a:cs typeface="Century"/>
                <a:sym typeface="Century"/>
              </a:rPr>
              <a:t>or  </a:t>
            </a:r>
            <a:r>
              <a:rPr lang="en-US" b="1" i="1" dirty="0">
                <a:solidFill>
                  <a:srgbClr val="FF0000"/>
                </a:solidFill>
                <a:latin typeface="Century"/>
                <a:ea typeface="Century"/>
                <a:cs typeface="Century"/>
                <a:sym typeface="Century"/>
              </a:rPr>
              <a:t>multidimensional </a:t>
            </a:r>
            <a:endParaRPr dirty="0"/>
          </a:p>
          <a:p>
            <a:pPr marL="685800" lvl="1" indent="-228600" algn="l" rtl="0">
              <a:lnSpc>
                <a:spcPct val="90000"/>
              </a:lnSpc>
              <a:spcBef>
                <a:spcPts val="500"/>
              </a:spcBef>
              <a:spcAft>
                <a:spcPts val="0"/>
              </a:spcAft>
              <a:buClr>
                <a:srgbClr val="FF0000"/>
              </a:buClr>
              <a:buSzPts val="2400"/>
              <a:buNone/>
            </a:pPr>
            <a:r>
              <a:rPr lang="en-US" b="1" i="1" dirty="0">
                <a:solidFill>
                  <a:srgbClr val="FF0000"/>
                </a:solidFill>
                <a:latin typeface="Century"/>
                <a:ea typeface="Century"/>
                <a:cs typeface="Century"/>
                <a:sym typeface="Century"/>
              </a:rPr>
              <a:t>array  </a:t>
            </a:r>
            <a:r>
              <a:rPr lang="en-US" dirty="0">
                <a:latin typeface="Century"/>
                <a:ea typeface="Century"/>
                <a:cs typeface="Century"/>
                <a:sym typeface="Century"/>
              </a:rPr>
              <a:t>can be passed as an argument to a function.</a:t>
            </a:r>
            <a:endParaRPr dirty="0"/>
          </a:p>
          <a:p>
            <a:pPr marL="457200" lvl="0" indent="-457200" algn="just" rtl="0">
              <a:lnSpc>
                <a:spcPct val="90000"/>
              </a:lnSpc>
              <a:spcBef>
                <a:spcPts val="1000"/>
              </a:spcBef>
              <a:spcAft>
                <a:spcPts val="0"/>
              </a:spcAft>
              <a:buClr>
                <a:srgbClr val="171616"/>
              </a:buClr>
              <a:buSzPts val="2400"/>
              <a:buNone/>
            </a:pPr>
            <a:r>
              <a:rPr lang="en-US" sz="2400" dirty="0">
                <a:solidFill>
                  <a:srgbClr val="171616"/>
                </a:solidFill>
                <a:latin typeface="Century"/>
                <a:ea typeface="Century"/>
                <a:cs typeface="Century"/>
                <a:sym typeface="Century"/>
              </a:rPr>
              <a:t>2. Have a </a:t>
            </a:r>
            <a:r>
              <a:rPr lang="en-US" sz="2400" b="1" i="1" dirty="0">
                <a:solidFill>
                  <a:srgbClr val="171616"/>
                </a:solidFill>
                <a:latin typeface="Century"/>
                <a:ea typeface="Century"/>
                <a:cs typeface="Century"/>
                <a:sym typeface="Century"/>
              </a:rPr>
              <a:t>pointer </a:t>
            </a:r>
            <a:r>
              <a:rPr lang="en-US" sz="2400" dirty="0">
                <a:solidFill>
                  <a:srgbClr val="171616"/>
                </a:solidFill>
                <a:latin typeface="Century"/>
                <a:ea typeface="Century"/>
                <a:cs typeface="Century"/>
                <a:sym typeface="Century"/>
              </a:rPr>
              <a:t>in the parameter list, to hold the </a:t>
            </a:r>
            <a:r>
              <a:rPr lang="en-US" sz="2400" b="1" i="1" dirty="0">
                <a:solidFill>
                  <a:srgbClr val="171616"/>
                </a:solidFill>
                <a:latin typeface="Century"/>
                <a:ea typeface="Century"/>
                <a:cs typeface="Century"/>
                <a:sym typeface="Century"/>
              </a:rPr>
              <a:t>base address </a:t>
            </a:r>
            <a:r>
              <a:rPr lang="en-US" sz="2400" dirty="0">
                <a:solidFill>
                  <a:srgbClr val="171616"/>
                </a:solidFill>
                <a:latin typeface="Century"/>
                <a:ea typeface="Century"/>
                <a:cs typeface="Century"/>
                <a:sym typeface="Century"/>
              </a:rPr>
              <a:t>of </a:t>
            </a:r>
          </a:p>
          <a:p>
            <a:pPr marL="457200" lvl="0" indent="-457200" algn="just" rtl="0">
              <a:lnSpc>
                <a:spcPct val="90000"/>
              </a:lnSpc>
              <a:spcBef>
                <a:spcPts val="1000"/>
              </a:spcBef>
              <a:spcAft>
                <a:spcPts val="0"/>
              </a:spcAft>
              <a:buClr>
                <a:srgbClr val="171616"/>
              </a:buClr>
              <a:buSzPts val="2400"/>
              <a:buNone/>
            </a:pPr>
            <a:r>
              <a:rPr lang="en-US" sz="2400" dirty="0">
                <a:solidFill>
                  <a:srgbClr val="171616"/>
                </a:solidFill>
                <a:latin typeface="Century"/>
                <a:ea typeface="Century"/>
                <a:cs typeface="Century"/>
                <a:sym typeface="Century"/>
              </a:rPr>
              <a:t>     the array.</a:t>
            </a:r>
            <a:endParaRPr sz="2400" dirty="0">
              <a:solidFill>
                <a:srgbClr val="171616"/>
              </a:solidFill>
              <a:latin typeface="Century"/>
              <a:ea typeface="Century"/>
              <a:cs typeface="Century"/>
              <a:sym typeface="Century"/>
            </a:endParaRPr>
          </a:p>
          <a:p>
            <a:pPr marL="457200" lvl="0" indent="-457200" algn="just" rtl="0">
              <a:lnSpc>
                <a:spcPct val="90000"/>
              </a:lnSpc>
              <a:spcBef>
                <a:spcPts val="1000"/>
              </a:spcBef>
              <a:spcAft>
                <a:spcPts val="0"/>
              </a:spcAft>
              <a:buClr>
                <a:srgbClr val="171616"/>
              </a:buClr>
              <a:buSzPts val="2400"/>
              <a:buNone/>
            </a:pPr>
            <a:r>
              <a:rPr lang="en-US" sz="2400" dirty="0">
                <a:solidFill>
                  <a:srgbClr val="171616"/>
                </a:solidFill>
                <a:latin typeface="Century"/>
                <a:ea typeface="Century"/>
                <a:cs typeface="Century"/>
                <a:sym typeface="Century"/>
              </a:rPr>
              <a:t>     </a:t>
            </a:r>
            <a:endParaRPr dirty="0"/>
          </a:p>
          <a:p>
            <a:pPr marL="228600" lvl="0" indent="-228600" algn="just" rtl="0">
              <a:lnSpc>
                <a:spcPct val="90000"/>
              </a:lnSpc>
              <a:spcBef>
                <a:spcPts val="1000"/>
              </a:spcBef>
              <a:spcAft>
                <a:spcPts val="0"/>
              </a:spcAft>
              <a:buClr>
                <a:srgbClr val="00305C"/>
              </a:buClr>
              <a:buSzPts val="2400"/>
              <a:buNone/>
            </a:pPr>
            <a:endParaRPr sz="2400" b="1" i="1" dirty="0">
              <a:solidFill>
                <a:srgbClr val="C00000"/>
              </a:solidFill>
              <a:latin typeface="Century"/>
              <a:ea typeface="Century"/>
              <a:cs typeface="Century"/>
              <a:sym typeface="Century"/>
            </a:endParaRPr>
          </a:p>
        </p:txBody>
      </p:sp>
      <p:sp>
        <p:nvSpPr>
          <p:cNvPr id="502" name="Google Shape;502;p65"/>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66"/>
          <p:cNvSpPr txBox="1">
            <a:spLocks noGrp="1"/>
          </p:cNvSpPr>
          <p:nvPr>
            <p:ph type="title"/>
          </p:nvPr>
        </p:nvSpPr>
        <p:spPr>
          <a:xfrm>
            <a:off x="838200" y="365125"/>
            <a:ext cx="8753856"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2"/>
              </a:buClr>
              <a:buSzPts val="3600"/>
              <a:buFont typeface="Century"/>
              <a:buNone/>
            </a:pPr>
            <a:r>
              <a:rPr lang="en-US" sz="3600" b="1">
                <a:solidFill>
                  <a:schemeClr val="dk2"/>
                </a:solidFill>
                <a:latin typeface="Century"/>
                <a:ea typeface="Century"/>
                <a:cs typeface="Century"/>
                <a:sym typeface="Century"/>
              </a:rPr>
              <a:t>PASSING ARRAY TO A FUNCTION      ( Cont …)</a:t>
            </a:r>
            <a:r>
              <a:rPr lang="en-US" sz="3600" b="1">
                <a:solidFill>
                  <a:schemeClr val="dk2"/>
                </a:solidFill>
              </a:rPr>
              <a:t/>
            </a:r>
            <a:br>
              <a:rPr lang="en-US" sz="3600" b="1">
                <a:solidFill>
                  <a:schemeClr val="dk2"/>
                </a:solidFill>
              </a:rPr>
            </a:br>
            <a:endParaRPr sz="3600" b="1">
              <a:solidFill>
                <a:schemeClr val="dk2"/>
              </a:solidFill>
            </a:endParaRPr>
          </a:p>
        </p:txBody>
      </p:sp>
      <p:sp>
        <p:nvSpPr>
          <p:cNvPr id="508" name="Google Shape;508;p66"/>
          <p:cNvSpPr txBox="1">
            <a:spLocks noGrp="1"/>
          </p:cNvSpPr>
          <p:nvPr>
            <p:ph idx="1"/>
          </p:nvPr>
        </p:nvSpPr>
        <p:spPr>
          <a:xfrm>
            <a:off x="759655" y="1295401"/>
            <a:ext cx="9451145" cy="4830763"/>
          </a:xfrm>
          <a:prstGeom prst="rect">
            <a:avLst/>
          </a:prstGeom>
          <a:noFill/>
          <a:ln>
            <a:noFill/>
          </a:ln>
        </p:spPr>
        <p:txBody>
          <a:bodyPr spcFirstLastPara="1" wrap="square" lIns="91425" tIns="45700" rIns="91425" bIns="45700" anchor="t" anchorCtr="0">
            <a:noAutofit/>
          </a:bodyPr>
          <a:lstStyle/>
          <a:p>
            <a:pPr marL="228600" lvl="0" indent="-228600" algn="l" rtl="0">
              <a:lnSpc>
                <a:spcPct val="70000"/>
              </a:lnSpc>
              <a:spcBef>
                <a:spcPts val="0"/>
              </a:spcBef>
              <a:spcAft>
                <a:spcPts val="0"/>
              </a:spcAft>
              <a:buClr>
                <a:srgbClr val="00305C"/>
              </a:buClr>
              <a:buSzPts val="1960"/>
              <a:buNone/>
            </a:pPr>
            <a:endParaRPr sz="1960" b="1" dirty="0">
              <a:solidFill>
                <a:srgbClr val="7030A0"/>
              </a:solidFill>
              <a:latin typeface="Century"/>
              <a:ea typeface="Century"/>
              <a:cs typeface="Century"/>
              <a:sym typeface="Century"/>
            </a:endParaRPr>
          </a:p>
          <a:p>
            <a:pPr marL="228600" lvl="0" indent="-228600" algn="l" rtl="0">
              <a:lnSpc>
                <a:spcPct val="70000"/>
              </a:lnSpc>
              <a:spcBef>
                <a:spcPts val="1000"/>
              </a:spcBef>
              <a:spcAft>
                <a:spcPts val="0"/>
              </a:spcAft>
              <a:buClr>
                <a:srgbClr val="7030A0"/>
              </a:buClr>
              <a:buSzPts val="1960"/>
              <a:buNone/>
            </a:pPr>
            <a:r>
              <a:rPr lang="en-US" sz="1960" b="1" dirty="0">
                <a:solidFill>
                  <a:srgbClr val="7030A0"/>
                </a:solidFill>
                <a:latin typeface="Century"/>
                <a:ea typeface="Century"/>
                <a:cs typeface="Century"/>
                <a:sym typeface="Century"/>
              </a:rPr>
              <a:t>Returning an Array from a function</a:t>
            </a:r>
            <a:endParaRPr dirty="0"/>
          </a:p>
          <a:p>
            <a:pPr marL="228600" lvl="0" indent="-228600" algn="l" rtl="0">
              <a:lnSpc>
                <a:spcPct val="70000"/>
              </a:lnSpc>
              <a:spcBef>
                <a:spcPts val="1000"/>
              </a:spcBef>
              <a:spcAft>
                <a:spcPts val="0"/>
              </a:spcAft>
              <a:buClr>
                <a:srgbClr val="00305C"/>
              </a:buClr>
              <a:buSzPts val="1680"/>
              <a:buNone/>
            </a:pPr>
            <a:endParaRPr sz="1679" b="1" i="1" dirty="0">
              <a:solidFill>
                <a:srgbClr val="C00000"/>
              </a:solidFill>
              <a:latin typeface="Century"/>
              <a:ea typeface="Century"/>
              <a:cs typeface="Century"/>
              <a:sym typeface="Century"/>
            </a:endParaRPr>
          </a:p>
          <a:p>
            <a:pPr marL="228600" lvl="0" indent="-228600" algn="l" rtl="0">
              <a:lnSpc>
                <a:spcPct val="70000"/>
              </a:lnSpc>
              <a:spcBef>
                <a:spcPts val="1000"/>
              </a:spcBef>
              <a:spcAft>
                <a:spcPts val="0"/>
              </a:spcAft>
              <a:buClr>
                <a:srgbClr val="C00000"/>
              </a:buClr>
              <a:buSzPts val="1679"/>
              <a:buNone/>
            </a:pPr>
            <a:r>
              <a:rPr lang="en-US" sz="2200" b="1" i="1" dirty="0">
                <a:solidFill>
                  <a:srgbClr val="C00000"/>
                </a:solidFill>
                <a:latin typeface="Century"/>
                <a:ea typeface="Century"/>
                <a:cs typeface="Century"/>
                <a:sym typeface="Century"/>
              </a:rPr>
              <a:t>Pointer</a:t>
            </a:r>
            <a:r>
              <a:rPr lang="en-US" sz="2200" dirty="0">
                <a:solidFill>
                  <a:srgbClr val="C00000"/>
                </a:solidFill>
                <a:latin typeface="Century"/>
                <a:ea typeface="Century"/>
                <a:cs typeface="Century"/>
                <a:sym typeface="Century"/>
              </a:rPr>
              <a:t> </a:t>
            </a:r>
            <a:r>
              <a:rPr lang="en-US" sz="2200" dirty="0">
                <a:solidFill>
                  <a:srgbClr val="0C0C0C"/>
                </a:solidFill>
                <a:latin typeface="Century"/>
                <a:ea typeface="Century"/>
                <a:cs typeface="Century"/>
                <a:sym typeface="Century"/>
              </a:rPr>
              <a:t> to the array holding the </a:t>
            </a:r>
            <a:r>
              <a:rPr lang="en-US" sz="2200" b="1" i="1" dirty="0">
                <a:solidFill>
                  <a:srgbClr val="FF0000"/>
                </a:solidFill>
                <a:latin typeface="Century"/>
                <a:ea typeface="Century"/>
                <a:cs typeface="Century"/>
                <a:sym typeface="Century"/>
              </a:rPr>
              <a:t>base address</a:t>
            </a:r>
            <a:r>
              <a:rPr lang="en-US" sz="2200" b="1" i="1" dirty="0">
                <a:solidFill>
                  <a:srgbClr val="0C0C0C"/>
                </a:solidFill>
                <a:latin typeface="Century"/>
                <a:ea typeface="Century"/>
                <a:cs typeface="Century"/>
                <a:sym typeface="Century"/>
              </a:rPr>
              <a:t> </a:t>
            </a:r>
            <a:r>
              <a:rPr lang="en-US" sz="2200" dirty="0">
                <a:solidFill>
                  <a:srgbClr val="0C0C0C"/>
                </a:solidFill>
                <a:latin typeface="Century"/>
                <a:ea typeface="Century"/>
                <a:cs typeface="Century"/>
                <a:sym typeface="Century"/>
              </a:rPr>
              <a:t>of the array to be </a:t>
            </a:r>
            <a:r>
              <a:rPr lang="en-US" sz="2200" b="1" i="1" dirty="0">
                <a:solidFill>
                  <a:srgbClr val="7030A0"/>
                </a:solidFill>
                <a:latin typeface="Century"/>
                <a:ea typeface="Century"/>
                <a:cs typeface="Century"/>
                <a:sym typeface="Century"/>
              </a:rPr>
              <a:t>returned</a:t>
            </a:r>
            <a:r>
              <a:rPr lang="en-US" sz="2200" dirty="0">
                <a:solidFill>
                  <a:srgbClr val="7030A0"/>
                </a:solidFill>
                <a:latin typeface="Century"/>
                <a:ea typeface="Century"/>
                <a:cs typeface="Century"/>
                <a:sym typeface="Century"/>
              </a:rPr>
              <a:t>.</a:t>
            </a:r>
            <a:endParaRPr sz="2200" dirty="0"/>
          </a:p>
          <a:p>
            <a:pPr marL="228600" lvl="0" indent="-228600" algn="l" rtl="0">
              <a:lnSpc>
                <a:spcPct val="70000"/>
              </a:lnSpc>
              <a:spcBef>
                <a:spcPts val="1000"/>
              </a:spcBef>
              <a:spcAft>
                <a:spcPts val="0"/>
              </a:spcAft>
              <a:buClr>
                <a:srgbClr val="00305C"/>
              </a:buClr>
              <a:buSzPts val="1680"/>
              <a:buNone/>
            </a:pPr>
            <a:endParaRPr sz="2200" dirty="0">
              <a:solidFill>
                <a:srgbClr val="7030A0"/>
              </a:solidFill>
              <a:latin typeface="Century"/>
              <a:ea typeface="Century"/>
              <a:cs typeface="Century"/>
              <a:sym typeface="Century"/>
            </a:endParaRPr>
          </a:p>
          <a:p>
            <a:pPr marL="228600" lvl="0" indent="-228600" algn="l" rtl="0">
              <a:lnSpc>
                <a:spcPct val="70000"/>
              </a:lnSpc>
              <a:spcBef>
                <a:spcPts val="1000"/>
              </a:spcBef>
              <a:spcAft>
                <a:spcPts val="0"/>
              </a:spcAft>
              <a:buClr>
                <a:srgbClr val="0070C0"/>
              </a:buClr>
              <a:buSzPts val="1679"/>
              <a:buNone/>
            </a:pPr>
            <a:r>
              <a:rPr lang="en-US" sz="2200" b="1" dirty="0">
                <a:solidFill>
                  <a:srgbClr val="0070C0"/>
                </a:solidFill>
                <a:latin typeface="Century"/>
                <a:ea typeface="Century"/>
                <a:cs typeface="Century"/>
                <a:sym typeface="Century"/>
              </a:rPr>
              <a:t>SYNTAX EXAMPLE :</a:t>
            </a:r>
            <a:endParaRPr sz="2200" b="1" dirty="0">
              <a:solidFill>
                <a:srgbClr val="0070C0"/>
              </a:solidFill>
              <a:latin typeface="Century"/>
              <a:ea typeface="Century"/>
              <a:cs typeface="Century"/>
              <a:sym typeface="Century"/>
            </a:endParaRPr>
          </a:p>
          <a:p>
            <a:pPr marL="228600" lvl="0" indent="-228600" algn="l" rtl="0">
              <a:lnSpc>
                <a:spcPct val="70000"/>
              </a:lnSpc>
              <a:spcBef>
                <a:spcPts val="1000"/>
              </a:spcBef>
              <a:spcAft>
                <a:spcPts val="0"/>
              </a:spcAft>
              <a:buClr>
                <a:srgbClr val="00305C"/>
              </a:buClr>
              <a:buSzPts val="1680"/>
              <a:buNone/>
            </a:pPr>
            <a:endParaRPr sz="2200" b="1" i="1" dirty="0">
              <a:solidFill>
                <a:srgbClr val="0C0C0C"/>
              </a:solidFill>
              <a:latin typeface="Century"/>
              <a:ea typeface="Century"/>
              <a:cs typeface="Century"/>
              <a:sym typeface="Century"/>
            </a:endParaRPr>
          </a:p>
          <a:p>
            <a:pPr marL="228600" lvl="0" indent="-228600" algn="l" rtl="0">
              <a:lnSpc>
                <a:spcPct val="70000"/>
              </a:lnSpc>
              <a:spcBef>
                <a:spcPts val="1000"/>
              </a:spcBef>
              <a:spcAft>
                <a:spcPts val="0"/>
              </a:spcAft>
              <a:buClr>
                <a:srgbClr val="0C0C0C"/>
              </a:buClr>
              <a:buSzPts val="1679"/>
              <a:buNone/>
            </a:pPr>
            <a:r>
              <a:rPr lang="en-US" sz="2200" dirty="0">
                <a:solidFill>
                  <a:srgbClr val="0C0C0C"/>
                </a:solidFill>
                <a:latin typeface="Century"/>
                <a:ea typeface="Century"/>
                <a:cs typeface="Century"/>
                <a:sym typeface="Century"/>
              </a:rPr>
              <a:t>int* sample (int x[]) </a:t>
            </a:r>
            <a:r>
              <a:rPr lang="en-US" sz="2200" b="1" i="1" dirty="0">
                <a:solidFill>
                  <a:srgbClr val="0C0C0C"/>
                </a:solidFill>
                <a:latin typeface="Century"/>
                <a:ea typeface="Century"/>
                <a:cs typeface="Century"/>
                <a:sym typeface="Century"/>
              </a:rPr>
              <a:t>/</a:t>
            </a:r>
            <a:r>
              <a:rPr lang="en-US" sz="2200" b="1" i="1" dirty="0">
                <a:solidFill>
                  <a:srgbClr val="FF0000"/>
                </a:solidFill>
                <a:latin typeface="Century"/>
                <a:ea typeface="Century"/>
                <a:cs typeface="Century"/>
                <a:sym typeface="Century"/>
              </a:rPr>
              <a:t>/ Function Definition</a:t>
            </a:r>
            <a:endParaRPr sz="2200" b="1" i="1" dirty="0">
              <a:solidFill>
                <a:srgbClr val="FF0000"/>
              </a:solidFill>
              <a:latin typeface="Century"/>
              <a:ea typeface="Century"/>
              <a:cs typeface="Century"/>
              <a:sym typeface="Century"/>
            </a:endParaRPr>
          </a:p>
          <a:p>
            <a:pPr marL="228600" lvl="0" indent="-228600" algn="l" rtl="0">
              <a:lnSpc>
                <a:spcPct val="70000"/>
              </a:lnSpc>
              <a:spcBef>
                <a:spcPts val="1000"/>
              </a:spcBef>
              <a:spcAft>
                <a:spcPts val="0"/>
              </a:spcAft>
              <a:buClr>
                <a:srgbClr val="0C0C0C"/>
              </a:buClr>
              <a:buSzPts val="1679"/>
              <a:buNone/>
            </a:pPr>
            <a:r>
              <a:rPr lang="en-US" sz="2200" dirty="0">
                <a:solidFill>
                  <a:srgbClr val="0C0C0C"/>
                </a:solidFill>
                <a:latin typeface="Century"/>
                <a:ea typeface="Century"/>
                <a:cs typeface="Century"/>
                <a:sym typeface="Century"/>
              </a:rPr>
              <a:t> { </a:t>
            </a:r>
            <a:endParaRPr sz="2200" dirty="0"/>
          </a:p>
          <a:p>
            <a:pPr marL="228600" lvl="0" indent="-228600" algn="l" rtl="0">
              <a:lnSpc>
                <a:spcPct val="70000"/>
              </a:lnSpc>
              <a:spcBef>
                <a:spcPts val="1000"/>
              </a:spcBef>
              <a:spcAft>
                <a:spcPts val="0"/>
              </a:spcAft>
              <a:buClr>
                <a:srgbClr val="0C0C0C"/>
              </a:buClr>
              <a:buSzPts val="1679"/>
              <a:buNone/>
            </a:pPr>
            <a:r>
              <a:rPr lang="en-US" sz="2200" dirty="0">
                <a:solidFill>
                  <a:srgbClr val="0C0C0C"/>
                </a:solidFill>
                <a:latin typeface="Century"/>
                <a:ea typeface="Century"/>
                <a:cs typeface="Century"/>
                <a:sym typeface="Century"/>
              </a:rPr>
              <a:t>   …</a:t>
            </a:r>
            <a:endParaRPr sz="2200" dirty="0"/>
          </a:p>
          <a:p>
            <a:pPr marL="228600" lvl="0" indent="-228600" algn="l" rtl="0">
              <a:lnSpc>
                <a:spcPct val="70000"/>
              </a:lnSpc>
              <a:spcBef>
                <a:spcPts val="1000"/>
              </a:spcBef>
              <a:spcAft>
                <a:spcPts val="0"/>
              </a:spcAft>
              <a:buClr>
                <a:srgbClr val="0C0C0C"/>
              </a:buClr>
              <a:buSzPts val="1679"/>
              <a:buNone/>
            </a:pPr>
            <a:r>
              <a:rPr lang="en-US" sz="2200" dirty="0">
                <a:solidFill>
                  <a:srgbClr val="0C0C0C"/>
                </a:solidFill>
                <a:latin typeface="Century"/>
                <a:ea typeface="Century"/>
                <a:cs typeface="Century"/>
                <a:sym typeface="Century"/>
              </a:rPr>
              <a:t>   … </a:t>
            </a:r>
            <a:endParaRPr sz="2200" dirty="0"/>
          </a:p>
          <a:p>
            <a:pPr marL="228600" lvl="0" indent="-228600" algn="l" rtl="0">
              <a:lnSpc>
                <a:spcPct val="70000"/>
              </a:lnSpc>
              <a:spcBef>
                <a:spcPts val="1000"/>
              </a:spcBef>
              <a:spcAft>
                <a:spcPts val="0"/>
              </a:spcAft>
              <a:buClr>
                <a:srgbClr val="0C0C0C"/>
              </a:buClr>
              <a:buSzPts val="1679"/>
              <a:buNone/>
            </a:pPr>
            <a:r>
              <a:rPr lang="en-US" sz="2200" dirty="0">
                <a:solidFill>
                  <a:srgbClr val="0C0C0C"/>
                </a:solidFill>
                <a:latin typeface="Century"/>
                <a:ea typeface="Century"/>
                <a:cs typeface="Century"/>
                <a:sym typeface="Century"/>
              </a:rPr>
              <a:t>   …</a:t>
            </a:r>
            <a:endParaRPr sz="2200" dirty="0"/>
          </a:p>
          <a:p>
            <a:pPr marL="228600" lvl="0" indent="-228600" algn="l" rtl="0">
              <a:lnSpc>
                <a:spcPct val="70000"/>
              </a:lnSpc>
              <a:spcBef>
                <a:spcPts val="1000"/>
              </a:spcBef>
              <a:spcAft>
                <a:spcPts val="0"/>
              </a:spcAft>
              <a:buClr>
                <a:srgbClr val="0C0C0C"/>
              </a:buClr>
              <a:buSzPts val="1679"/>
              <a:buNone/>
            </a:pPr>
            <a:r>
              <a:rPr lang="en-US" sz="2200" dirty="0">
                <a:solidFill>
                  <a:srgbClr val="0C0C0C"/>
                </a:solidFill>
                <a:latin typeface="Century"/>
                <a:ea typeface="Century"/>
                <a:cs typeface="Century"/>
                <a:sym typeface="Century"/>
              </a:rPr>
              <a:t>   return x ;  </a:t>
            </a:r>
            <a:r>
              <a:rPr lang="en-US" sz="2200" b="1" i="1" dirty="0">
                <a:solidFill>
                  <a:srgbClr val="FF0000"/>
                </a:solidFill>
                <a:latin typeface="Century"/>
                <a:ea typeface="Century"/>
                <a:cs typeface="Century"/>
                <a:sym typeface="Century"/>
              </a:rPr>
              <a:t>// x is the base address of the array</a:t>
            </a:r>
            <a:endParaRPr sz="2200" b="1" i="1" dirty="0">
              <a:solidFill>
                <a:srgbClr val="FF0000"/>
              </a:solidFill>
              <a:latin typeface="Century"/>
              <a:ea typeface="Century"/>
              <a:cs typeface="Century"/>
              <a:sym typeface="Century"/>
            </a:endParaRPr>
          </a:p>
          <a:p>
            <a:pPr marL="228600" lvl="0" indent="-228600" algn="l" rtl="0">
              <a:lnSpc>
                <a:spcPct val="70000"/>
              </a:lnSpc>
              <a:spcBef>
                <a:spcPts val="1000"/>
              </a:spcBef>
              <a:spcAft>
                <a:spcPts val="0"/>
              </a:spcAft>
              <a:buClr>
                <a:srgbClr val="0C0C0C"/>
              </a:buClr>
              <a:buSzPts val="1679"/>
              <a:buNone/>
            </a:pPr>
            <a:r>
              <a:rPr lang="en-US" sz="2200" dirty="0">
                <a:solidFill>
                  <a:srgbClr val="0C0C0C"/>
                </a:solidFill>
                <a:latin typeface="Century"/>
                <a:ea typeface="Century"/>
                <a:cs typeface="Century"/>
                <a:sym typeface="Century"/>
              </a:rPr>
              <a:t>}</a:t>
            </a:r>
            <a:endParaRPr sz="2200" b="1" i="1" dirty="0">
              <a:solidFill>
                <a:srgbClr val="0C0C0C"/>
              </a:solidFill>
              <a:latin typeface="Century"/>
              <a:ea typeface="Century"/>
              <a:cs typeface="Century"/>
              <a:sym typeface="Century"/>
            </a:endParaRPr>
          </a:p>
        </p:txBody>
      </p:sp>
      <p:sp>
        <p:nvSpPr>
          <p:cNvPr id="510" name="Google Shape;510;p66"/>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67"/>
          <p:cNvSpPr txBox="1">
            <a:spLocks noGrp="1"/>
          </p:cNvSpPr>
          <p:nvPr>
            <p:ph type="title"/>
          </p:nvPr>
        </p:nvSpPr>
        <p:spPr>
          <a:xfrm>
            <a:off x="838199" y="254833"/>
            <a:ext cx="9954719" cy="9615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2"/>
              </a:buClr>
              <a:buSzPts val="3600"/>
              <a:buFont typeface="Century"/>
              <a:buNone/>
            </a:pPr>
            <a:r>
              <a:rPr lang="en-US" sz="3400" b="1" dirty="0">
                <a:solidFill>
                  <a:schemeClr val="dk2"/>
                </a:solidFill>
                <a:latin typeface="Century"/>
                <a:ea typeface="Century"/>
                <a:cs typeface="Century"/>
                <a:sym typeface="Century"/>
              </a:rPr>
              <a:t>PASSING ARRAY TO A FUNCTION  (</a:t>
            </a:r>
            <a:r>
              <a:rPr lang="en-US" sz="3400" b="1" dirty="0" err="1">
                <a:solidFill>
                  <a:schemeClr val="dk2"/>
                </a:solidFill>
                <a:latin typeface="Century"/>
                <a:ea typeface="Century"/>
                <a:cs typeface="Century"/>
                <a:sym typeface="Century"/>
              </a:rPr>
              <a:t>Cont</a:t>
            </a:r>
            <a:r>
              <a:rPr lang="en-US" sz="3400" b="1" dirty="0">
                <a:solidFill>
                  <a:schemeClr val="dk2"/>
                </a:solidFill>
                <a:latin typeface="Century"/>
                <a:ea typeface="Century"/>
                <a:cs typeface="Century"/>
                <a:sym typeface="Century"/>
              </a:rPr>
              <a:t> …)</a:t>
            </a:r>
            <a:br>
              <a:rPr lang="en-US" sz="3400" b="1" dirty="0">
                <a:solidFill>
                  <a:schemeClr val="dk2"/>
                </a:solidFill>
                <a:latin typeface="Century"/>
                <a:ea typeface="Century"/>
                <a:cs typeface="Century"/>
                <a:sym typeface="Century"/>
              </a:rPr>
            </a:br>
            <a:endParaRPr sz="3400" b="1" dirty="0">
              <a:solidFill>
                <a:schemeClr val="dk2"/>
              </a:solidFill>
              <a:latin typeface="Century"/>
              <a:ea typeface="Century"/>
              <a:cs typeface="Century"/>
              <a:sym typeface="Century"/>
            </a:endParaRPr>
          </a:p>
        </p:txBody>
      </p:sp>
      <p:sp>
        <p:nvSpPr>
          <p:cNvPr id="516" name="Google Shape;516;p67"/>
          <p:cNvSpPr txBox="1">
            <a:spLocks noGrp="1"/>
          </p:cNvSpPr>
          <p:nvPr>
            <p:ph idx="1"/>
          </p:nvPr>
        </p:nvSpPr>
        <p:spPr>
          <a:xfrm>
            <a:off x="1081453" y="1098589"/>
            <a:ext cx="9372602" cy="4888971"/>
          </a:xfrm>
          <a:prstGeom prst="rect">
            <a:avLst/>
          </a:prstGeom>
          <a:solidFill>
            <a:srgbClr val="D0CECE"/>
          </a:solid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C00000"/>
              </a:buClr>
              <a:buSzPts val="2220"/>
              <a:buNone/>
            </a:pPr>
            <a:r>
              <a:rPr lang="en-US" sz="2220" b="1" dirty="0">
                <a:solidFill>
                  <a:srgbClr val="C00000"/>
                </a:solidFill>
                <a:latin typeface="Century"/>
                <a:ea typeface="Century"/>
                <a:cs typeface="Century"/>
                <a:sym typeface="Century"/>
              </a:rPr>
              <a:t>Passing a single array element to a function</a:t>
            </a:r>
            <a:endParaRPr dirty="0"/>
          </a:p>
          <a:p>
            <a:pPr marL="228600" lvl="0" indent="-228600" algn="l" rtl="0">
              <a:lnSpc>
                <a:spcPct val="90000"/>
              </a:lnSpc>
              <a:spcBef>
                <a:spcPts val="1000"/>
              </a:spcBef>
              <a:spcAft>
                <a:spcPts val="0"/>
              </a:spcAft>
              <a:buClr>
                <a:srgbClr val="0C0C0C"/>
              </a:buClr>
              <a:buSzPts val="2220"/>
              <a:buNone/>
            </a:pPr>
            <a:r>
              <a:rPr lang="en-US" sz="2220" b="1" i="1" dirty="0">
                <a:solidFill>
                  <a:srgbClr val="0C0C0C"/>
                </a:solidFill>
                <a:latin typeface="Century"/>
                <a:ea typeface="Century"/>
                <a:cs typeface="Century"/>
                <a:sym typeface="Century"/>
              </a:rPr>
              <a:t>Program Example :</a:t>
            </a:r>
            <a:endParaRPr dirty="0"/>
          </a:p>
          <a:p>
            <a:pPr marL="228600" lvl="0" indent="-228600" algn="l" rtl="0">
              <a:lnSpc>
                <a:spcPct val="90000"/>
              </a:lnSpc>
              <a:spcBef>
                <a:spcPts val="1000"/>
              </a:spcBef>
              <a:spcAft>
                <a:spcPts val="0"/>
              </a:spcAft>
              <a:buClr>
                <a:srgbClr val="0C0C0C"/>
              </a:buClr>
              <a:buSzPts val="2220"/>
              <a:buNone/>
            </a:pPr>
            <a:r>
              <a:rPr lang="en-US" sz="2220" dirty="0">
                <a:solidFill>
                  <a:srgbClr val="0C0C0C"/>
                </a:solidFill>
                <a:latin typeface="Century"/>
                <a:ea typeface="Century"/>
                <a:cs typeface="Century"/>
                <a:sym typeface="Century"/>
              </a:rPr>
              <a:t>#include&lt;stdio.h&gt; </a:t>
            </a:r>
            <a:endParaRPr dirty="0"/>
          </a:p>
          <a:p>
            <a:pPr marL="228600" lvl="0" indent="-228600" algn="l" rtl="0">
              <a:lnSpc>
                <a:spcPct val="90000"/>
              </a:lnSpc>
              <a:spcBef>
                <a:spcPts val="1000"/>
              </a:spcBef>
              <a:spcAft>
                <a:spcPts val="0"/>
              </a:spcAft>
              <a:buClr>
                <a:srgbClr val="0C0C0C"/>
              </a:buClr>
              <a:buSzPts val="2220"/>
              <a:buNone/>
            </a:pPr>
            <a:r>
              <a:rPr lang="en-US" sz="2220" dirty="0">
                <a:solidFill>
                  <a:srgbClr val="0C0C0C"/>
                </a:solidFill>
                <a:latin typeface="Century"/>
                <a:ea typeface="Century"/>
                <a:cs typeface="Century"/>
                <a:sym typeface="Century"/>
              </a:rPr>
              <a:t>void </a:t>
            </a:r>
            <a:r>
              <a:rPr lang="en-US" sz="2220" dirty="0" err="1">
                <a:solidFill>
                  <a:srgbClr val="0C0C0C"/>
                </a:solidFill>
                <a:latin typeface="Century"/>
                <a:ea typeface="Century"/>
                <a:cs typeface="Century"/>
                <a:sym typeface="Century"/>
              </a:rPr>
              <a:t>give_element</a:t>
            </a:r>
            <a:r>
              <a:rPr lang="en-US" sz="2220" dirty="0">
                <a:solidFill>
                  <a:srgbClr val="0C0C0C"/>
                </a:solidFill>
                <a:latin typeface="Century"/>
                <a:ea typeface="Century"/>
                <a:cs typeface="Century"/>
                <a:sym typeface="Century"/>
              </a:rPr>
              <a:t> (int a);</a:t>
            </a:r>
            <a:endParaRPr dirty="0"/>
          </a:p>
          <a:p>
            <a:pPr marL="228600" lvl="0" indent="-228600" algn="l" rtl="0">
              <a:lnSpc>
                <a:spcPct val="90000"/>
              </a:lnSpc>
              <a:spcBef>
                <a:spcPts val="1000"/>
              </a:spcBef>
              <a:spcAft>
                <a:spcPts val="0"/>
              </a:spcAft>
              <a:buClr>
                <a:srgbClr val="0C0C0C"/>
              </a:buClr>
              <a:buSzPts val="2220"/>
              <a:buNone/>
            </a:pPr>
            <a:r>
              <a:rPr lang="en-US" sz="2220" dirty="0">
                <a:solidFill>
                  <a:srgbClr val="0C0C0C"/>
                </a:solidFill>
                <a:latin typeface="Century"/>
                <a:ea typeface="Century"/>
                <a:cs typeface="Century"/>
                <a:sym typeface="Century"/>
              </a:rPr>
              <a:t> void main() </a:t>
            </a:r>
            <a:endParaRPr dirty="0"/>
          </a:p>
          <a:p>
            <a:pPr marL="228600" lvl="0" indent="-228600" algn="l" rtl="0">
              <a:lnSpc>
                <a:spcPct val="90000"/>
              </a:lnSpc>
              <a:spcBef>
                <a:spcPts val="1000"/>
              </a:spcBef>
              <a:spcAft>
                <a:spcPts val="0"/>
              </a:spcAft>
              <a:buClr>
                <a:srgbClr val="0C0C0C"/>
              </a:buClr>
              <a:buSzPts val="2220"/>
              <a:buNone/>
            </a:pPr>
            <a:r>
              <a:rPr lang="en-US" sz="2220" dirty="0">
                <a:solidFill>
                  <a:srgbClr val="0C0C0C"/>
                </a:solidFill>
                <a:latin typeface="Century"/>
                <a:ea typeface="Century"/>
                <a:cs typeface="Century"/>
                <a:sym typeface="Century"/>
              </a:rPr>
              <a:t>{</a:t>
            </a:r>
            <a:endParaRPr dirty="0"/>
          </a:p>
          <a:p>
            <a:pPr marL="228600" lvl="0" indent="-228600" algn="l" rtl="0">
              <a:lnSpc>
                <a:spcPct val="90000"/>
              </a:lnSpc>
              <a:spcBef>
                <a:spcPts val="1000"/>
              </a:spcBef>
              <a:spcAft>
                <a:spcPts val="0"/>
              </a:spcAft>
              <a:buClr>
                <a:srgbClr val="0C0C0C"/>
              </a:buClr>
              <a:buSzPts val="2220"/>
              <a:buNone/>
            </a:pPr>
            <a:r>
              <a:rPr lang="en-US" sz="2220" dirty="0">
                <a:solidFill>
                  <a:srgbClr val="0C0C0C"/>
                </a:solidFill>
                <a:latin typeface="Century"/>
                <a:ea typeface="Century"/>
                <a:cs typeface="Century"/>
                <a:sym typeface="Century"/>
              </a:rPr>
              <a:t> int </a:t>
            </a:r>
            <a:r>
              <a:rPr lang="en-US" sz="2220" dirty="0" err="1">
                <a:solidFill>
                  <a:srgbClr val="0C0C0C"/>
                </a:solidFill>
                <a:latin typeface="Century"/>
                <a:ea typeface="Century"/>
                <a:cs typeface="Century"/>
                <a:sym typeface="Century"/>
              </a:rPr>
              <a:t>myArray</a:t>
            </a:r>
            <a:r>
              <a:rPr lang="en-US" sz="2220" dirty="0">
                <a:solidFill>
                  <a:srgbClr val="0C0C0C"/>
                </a:solidFill>
                <a:latin typeface="Century"/>
                <a:ea typeface="Century"/>
                <a:cs typeface="Century"/>
                <a:sym typeface="Century"/>
              </a:rPr>
              <a:t>[] = { 2, 3, 4 }; </a:t>
            </a:r>
            <a:endParaRPr dirty="0"/>
          </a:p>
          <a:p>
            <a:pPr marL="228600" lvl="0" indent="-228600" algn="l" rtl="0">
              <a:lnSpc>
                <a:spcPct val="90000"/>
              </a:lnSpc>
              <a:spcBef>
                <a:spcPts val="1000"/>
              </a:spcBef>
              <a:spcAft>
                <a:spcPts val="0"/>
              </a:spcAft>
              <a:buClr>
                <a:srgbClr val="0C0C0C"/>
              </a:buClr>
              <a:buSzPts val="2220"/>
              <a:buNone/>
            </a:pPr>
            <a:r>
              <a:rPr lang="en-US" sz="2220" dirty="0">
                <a:solidFill>
                  <a:srgbClr val="0C0C0C"/>
                </a:solidFill>
                <a:latin typeface="Century"/>
                <a:ea typeface="Century"/>
                <a:cs typeface="Century"/>
                <a:sym typeface="Century"/>
              </a:rPr>
              <a:t>give_element(</a:t>
            </a:r>
            <a:r>
              <a:rPr lang="en-US" sz="2220" dirty="0" err="1">
                <a:solidFill>
                  <a:srgbClr val="0C0C0C"/>
                </a:solidFill>
                <a:latin typeface="Century"/>
                <a:ea typeface="Century"/>
                <a:cs typeface="Century"/>
                <a:sym typeface="Century"/>
              </a:rPr>
              <a:t>myArray</a:t>
            </a:r>
            <a:r>
              <a:rPr lang="en-US" sz="2220" dirty="0">
                <a:solidFill>
                  <a:srgbClr val="0C0C0C"/>
                </a:solidFill>
                <a:latin typeface="Century"/>
                <a:ea typeface="Century"/>
                <a:cs typeface="Century"/>
                <a:sym typeface="Century"/>
              </a:rPr>
              <a:t>[2]);   </a:t>
            </a:r>
            <a:r>
              <a:rPr lang="en-US" sz="2220" b="1" i="1" dirty="0">
                <a:solidFill>
                  <a:srgbClr val="0C0C0C"/>
                </a:solidFill>
                <a:latin typeface="Century"/>
                <a:ea typeface="Century"/>
                <a:cs typeface="Century"/>
                <a:sym typeface="Century"/>
              </a:rPr>
              <a:t>//Passing array element </a:t>
            </a:r>
            <a:r>
              <a:rPr lang="en-US" sz="2220" b="1" i="1" dirty="0" err="1">
                <a:solidFill>
                  <a:srgbClr val="0C0C0C"/>
                </a:solidFill>
                <a:latin typeface="Century"/>
                <a:ea typeface="Century"/>
                <a:cs typeface="Century"/>
                <a:sym typeface="Century"/>
              </a:rPr>
              <a:t>myArray</a:t>
            </a:r>
            <a:r>
              <a:rPr lang="en-US" sz="2220" b="1" i="1" dirty="0">
                <a:solidFill>
                  <a:srgbClr val="0C0C0C"/>
                </a:solidFill>
                <a:latin typeface="Century"/>
                <a:ea typeface="Century"/>
                <a:cs typeface="Century"/>
                <a:sym typeface="Century"/>
              </a:rPr>
              <a:t>[2] only. </a:t>
            </a:r>
            <a:endParaRPr dirty="0"/>
          </a:p>
          <a:p>
            <a:pPr marL="228600" lvl="0" indent="-228600" algn="l" rtl="0">
              <a:lnSpc>
                <a:spcPct val="90000"/>
              </a:lnSpc>
              <a:spcBef>
                <a:spcPts val="1000"/>
              </a:spcBef>
              <a:spcAft>
                <a:spcPts val="0"/>
              </a:spcAft>
              <a:buClr>
                <a:srgbClr val="0C0C0C"/>
              </a:buClr>
              <a:buSzPts val="2220"/>
              <a:buNone/>
            </a:pPr>
            <a:r>
              <a:rPr lang="en-US" sz="2220" dirty="0">
                <a:solidFill>
                  <a:srgbClr val="0C0C0C"/>
                </a:solidFill>
                <a:latin typeface="Century"/>
                <a:ea typeface="Century"/>
                <a:cs typeface="Century"/>
                <a:sym typeface="Century"/>
              </a:rPr>
              <a:t> } </a:t>
            </a:r>
            <a:endParaRPr dirty="0"/>
          </a:p>
          <a:p>
            <a:pPr marL="228600" lvl="0" indent="-228600" algn="l" rtl="0">
              <a:lnSpc>
                <a:spcPct val="90000"/>
              </a:lnSpc>
              <a:spcBef>
                <a:spcPts val="1000"/>
              </a:spcBef>
              <a:spcAft>
                <a:spcPts val="0"/>
              </a:spcAft>
              <a:buClr>
                <a:srgbClr val="0C0C0C"/>
              </a:buClr>
              <a:buSzPts val="2220"/>
              <a:buNone/>
            </a:pPr>
            <a:r>
              <a:rPr lang="en-US" sz="2220" dirty="0">
                <a:solidFill>
                  <a:srgbClr val="0C0C0C"/>
                </a:solidFill>
                <a:latin typeface="Century"/>
                <a:ea typeface="Century"/>
                <a:cs typeface="Century"/>
                <a:sym typeface="Century"/>
              </a:rPr>
              <a:t>void give_element(int a)   </a:t>
            </a:r>
            <a:endParaRPr dirty="0"/>
          </a:p>
          <a:p>
            <a:pPr marL="228600" lvl="0" indent="-228600" algn="l" rtl="0">
              <a:lnSpc>
                <a:spcPct val="90000"/>
              </a:lnSpc>
              <a:spcBef>
                <a:spcPts val="1000"/>
              </a:spcBef>
              <a:spcAft>
                <a:spcPts val="0"/>
              </a:spcAft>
              <a:buClr>
                <a:srgbClr val="0C0C0C"/>
              </a:buClr>
              <a:buSzPts val="2220"/>
              <a:buNone/>
            </a:pPr>
            <a:r>
              <a:rPr lang="en-US" sz="2220" dirty="0">
                <a:solidFill>
                  <a:srgbClr val="0C0C0C"/>
                </a:solidFill>
                <a:latin typeface="Century"/>
                <a:ea typeface="Century"/>
                <a:cs typeface="Century"/>
                <a:sym typeface="Century"/>
              </a:rPr>
              <a:t> { </a:t>
            </a:r>
            <a:r>
              <a:rPr lang="en-US" sz="2220" dirty="0" err="1">
                <a:solidFill>
                  <a:srgbClr val="0C0C0C"/>
                </a:solidFill>
                <a:latin typeface="Century"/>
                <a:ea typeface="Century"/>
                <a:cs typeface="Century"/>
                <a:sym typeface="Century"/>
              </a:rPr>
              <a:t>printf</a:t>
            </a:r>
            <a:r>
              <a:rPr lang="en-US" sz="2220" dirty="0">
                <a:solidFill>
                  <a:srgbClr val="0C0C0C"/>
                </a:solidFill>
                <a:latin typeface="Century"/>
                <a:ea typeface="Century"/>
                <a:cs typeface="Century"/>
                <a:sym typeface="Century"/>
              </a:rPr>
              <a:t>("%d", a); }</a:t>
            </a:r>
            <a:endParaRPr sz="2220" b="1" i="1" dirty="0">
              <a:solidFill>
                <a:srgbClr val="0C0C0C"/>
              </a:solidFill>
              <a:latin typeface="Century"/>
              <a:ea typeface="Century"/>
              <a:cs typeface="Century"/>
              <a:sym typeface="Century"/>
            </a:endParaRPr>
          </a:p>
          <a:p>
            <a:pPr marL="228600" lvl="0" indent="-228600" algn="l" rtl="0">
              <a:lnSpc>
                <a:spcPct val="90000"/>
              </a:lnSpc>
              <a:spcBef>
                <a:spcPts val="1000"/>
              </a:spcBef>
              <a:spcAft>
                <a:spcPts val="0"/>
              </a:spcAft>
              <a:buClr>
                <a:srgbClr val="00305C"/>
              </a:buClr>
              <a:buSzPts val="2220"/>
              <a:buNone/>
            </a:pPr>
            <a:endParaRPr sz="2220" b="1" dirty="0">
              <a:latin typeface="Century"/>
              <a:ea typeface="Century"/>
              <a:cs typeface="Century"/>
              <a:sym typeface="Century"/>
            </a:endParaRPr>
          </a:p>
          <a:p>
            <a:pPr marL="228600" lvl="0" indent="-228600" algn="l" rtl="0">
              <a:lnSpc>
                <a:spcPct val="90000"/>
              </a:lnSpc>
              <a:spcBef>
                <a:spcPts val="1000"/>
              </a:spcBef>
              <a:spcAft>
                <a:spcPts val="0"/>
              </a:spcAft>
              <a:buClr>
                <a:srgbClr val="00305C"/>
              </a:buClr>
              <a:buSzPts val="2220"/>
              <a:buNone/>
            </a:pPr>
            <a:endParaRPr sz="2220" b="1" i="1" dirty="0">
              <a:latin typeface="Century"/>
              <a:ea typeface="Century"/>
              <a:cs typeface="Century"/>
              <a:sym typeface="Century"/>
            </a:endParaRPr>
          </a:p>
        </p:txBody>
      </p:sp>
      <p:sp>
        <p:nvSpPr>
          <p:cNvPr id="519" name="Google Shape;519;p67"/>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43</a:t>
            </a:fld>
            <a:endParaRPr/>
          </a:p>
        </p:txBody>
      </p:sp>
      <p:sp>
        <p:nvSpPr>
          <p:cNvPr id="517" name="Google Shape;517;p67"/>
          <p:cNvSpPr txBox="1"/>
          <p:nvPr/>
        </p:nvSpPr>
        <p:spPr>
          <a:xfrm>
            <a:off x="8825133" y="5062025"/>
            <a:ext cx="1219200" cy="923330"/>
          </a:xfrm>
          <a:prstGeom prst="rect">
            <a:avLst/>
          </a:prstGeom>
          <a:solidFill>
            <a:srgbClr val="75707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chemeClr val="dk1"/>
                </a:solidFill>
                <a:latin typeface="Century"/>
                <a:ea typeface="Century"/>
                <a:cs typeface="Century"/>
                <a:sym typeface="Century"/>
              </a:rPr>
              <a:t>Output:</a:t>
            </a:r>
            <a:endParaRPr dirty="0"/>
          </a:p>
          <a:p>
            <a:pPr marL="0" marR="0" lvl="0" indent="0" algn="ctr" rtl="0">
              <a:spcBef>
                <a:spcPts val="0"/>
              </a:spcBef>
              <a:spcAft>
                <a:spcPts val="0"/>
              </a:spcAft>
              <a:buNone/>
            </a:pPr>
            <a:r>
              <a:rPr lang="en-US" sz="1800" dirty="0">
                <a:solidFill>
                  <a:schemeClr val="dk1"/>
                </a:solidFill>
                <a:latin typeface="Century"/>
                <a:ea typeface="Century"/>
                <a:cs typeface="Century"/>
                <a:sym typeface="Century"/>
              </a:rPr>
              <a:t>4</a:t>
            </a:r>
            <a:endParaRPr dirty="0"/>
          </a:p>
          <a:p>
            <a:pPr marL="0" marR="0" lvl="0" indent="0" algn="l" rtl="0">
              <a:spcBef>
                <a:spcPts val="0"/>
              </a:spcBef>
              <a:spcAft>
                <a:spcPts val="0"/>
              </a:spcAft>
              <a:buNone/>
            </a:pPr>
            <a:endParaRPr sz="1800" dirty="0">
              <a:solidFill>
                <a:schemeClr val="dk1"/>
              </a:solidFill>
              <a:latin typeface="Century"/>
              <a:ea typeface="Century"/>
              <a:cs typeface="Century"/>
              <a:sym typeface="Century"/>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68"/>
          <p:cNvSpPr txBox="1">
            <a:spLocks noGrp="1"/>
          </p:cNvSpPr>
          <p:nvPr>
            <p:ph type="title"/>
          </p:nvPr>
        </p:nvSpPr>
        <p:spPr>
          <a:xfrm>
            <a:off x="666371" y="136525"/>
            <a:ext cx="10222023" cy="876349"/>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2"/>
              </a:buClr>
              <a:buSzPts val="3600"/>
              <a:buFont typeface="Century"/>
              <a:buNone/>
            </a:pPr>
            <a:r>
              <a:rPr lang="en-US" sz="3600" b="1" dirty="0">
                <a:solidFill>
                  <a:schemeClr val="dk2"/>
                </a:solidFill>
                <a:latin typeface="Century"/>
                <a:ea typeface="Century"/>
                <a:cs typeface="Century"/>
                <a:sym typeface="Century"/>
              </a:rPr>
              <a:t>PASSING ARRAY TO A FUNCTION(</a:t>
            </a:r>
            <a:r>
              <a:rPr lang="en-US" sz="3600" b="1" dirty="0" err="1">
                <a:solidFill>
                  <a:schemeClr val="dk2"/>
                </a:solidFill>
                <a:latin typeface="Century"/>
                <a:ea typeface="Century"/>
                <a:cs typeface="Century"/>
                <a:sym typeface="Century"/>
              </a:rPr>
              <a:t>Cont</a:t>
            </a:r>
            <a:r>
              <a:rPr lang="en-US" sz="3600" b="1" dirty="0">
                <a:solidFill>
                  <a:schemeClr val="dk2"/>
                </a:solidFill>
                <a:latin typeface="Century"/>
                <a:ea typeface="Century"/>
                <a:cs typeface="Century"/>
                <a:sym typeface="Century"/>
              </a:rPr>
              <a:t> …)</a:t>
            </a:r>
            <a:br>
              <a:rPr lang="en-US" sz="3600" b="1" dirty="0">
                <a:solidFill>
                  <a:schemeClr val="dk2"/>
                </a:solidFill>
                <a:latin typeface="Century"/>
                <a:ea typeface="Century"/>
                <a:cs typeface="Century"/>
                <a:sym typeface="Century"/>
              </a:rPr>
            </a:br>
            <a:endParaRPr sz="3600" b="1" dirty="0">
              <a:solidFill>
                <a:schemeClr val="dk2"/>
              </a:solidFill>
              <a:latin typeface="Century"/>
              <a:ea typeface="Century"/>
              <a:cs typeface="Century"/>
              <a:sym typeface="Century"/>
            </a:endParaRPr>
          </a:p>
        </p:txBody>
      </p:sp>
      <p:sp>
        <p:nvSpPr>
          <p:cNvPr id="525" name="Google Shape;525;p68"/>
          <p:cNvSpPr txBox="1">
            <a:spLocks noGrp="1"/>
          </p:cNvSpPr>
          <p:nvPr>
            <p:ph idx="1"/>
          </p:nvPr>
        </p:nvSpPr>
        <p:spPr>
          <a:xfrm>
            <a:off x="548640" y="675698"/>
            <a:ext cx="10339754" cy="5817177"/>
          </a:xfrm>
          <a:prstGeom prst="rect">
            <a:avLst/>
          </a:prstGeom>
          <a:solidFill>
            <a:srgbClr val="D0CECE"/>
          </a:solid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rgbClr val="C00000"/>
              </a:buClr>
              <a:buSzPts val="2000"/>
              <a:buNone/>
            </a:pPr>
            <a:r>
              <a:rPr lang="en-US" sz="2000" b="1" dirty="0">
                <a:solidFill>
                  <a:srgbClr val="C00000"/>
                </a:solidFill>
                <a:latin typeface="Century"/>
                <a:ea typeface="Century"/>
                <a:cs typeface="Century"/>
                <a:sym typeface="Century"/>
              </a:rPr>
              <a:t>Passing a one dimensional array to a function</a:t>
            </a:r>
            <a:endParaRPr dirty="0"/>
          </a:p>
          <a:p>
            <a:pPr marL="228600" lvl="0" indent="-228600" algn="l" rtl="0">
              <a:lnSpc>
                <a:spcPct val="100000"/>
              </a:lnSpc>
              <a:spcBef>
                <a:spcPts val="0"/>
              </a:spcBef>
              <a:spcAft>
                <a:spcPts val="0"/>
              </a:spcAft>
              <a:buClr>
                <a:srgbClr val="0C0C0C"/>
              </a:buClr>
              <a:buSzPts val="2000"/>
              <a:buNone/>
            </a:pPr>
            <a:r>
              <a:rPr lang="en-US" sz="2000" b="1" dirty="0">
                <a:solidFill>
                  <a:srgbClr val="0C0C0C"/>
                </a:solidFill>
                <a:latin typeface="Century"/>
                <a:ea typeface="Century"/>
                <a:cs typeface="Century"/>
                <a:sym typeface="Century"/>
              </a:rPr>
              <a:t>EXAMPLE :</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#include&lt;stdio.h&gt; </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float </a:t>
            </a:r>
            <a:r>
              <a:rPr lang="en-US" sz="2000" dirty="0" err="1">
                <a:solidFill>
                  <a:srgbClr val="0C0C0C"/>
                </a:solidFill>
                <a:latin typeface="Century"/>
                <a:ea typeface="Century"/>
                <a:cs typeface="Century"/>
                <a:sym typeface="Century"/>
              </a:rPr>
              <a:t>findAverage</a:t>
            </a:r>
            <a:r>
              <a:rPr lang="en-US" sz="2000" dirty="0">
                <a:solidFill>
                  <a:srgbClr val="0C0C0C"/>
                </a:solidFill>
                <a:latin typeface="Century"/>
                <a:ea typeface="Century"/>
                <a:cs typeface="Century"/>
                <a:sym typeface="Century"/>
              </a:rPr>
              <a:t>(int marks[]);</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int main()</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 float avg;</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int marks[] = {99, 90, 96, 93, 95}; </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avg = </a:t>
            </a:r>
            <a:r>
              <a:rPr lang="en-US" sz="2000" dirty="0" err="1">
                <a:solidFill>
                  <a:srgbClr val="0C0C0C"/>
                </a:solidFill>
                <a:latin typeface="Century"/>
                <a:ea typeface="Century"/>
                <a:cs typeface="Century"/>
                <a:sym typeface="Century"/>
              </a:rPr>
              <a:t>findAverage</a:t>
            </a:r>
            <a:r>
              <a:rPr lang="en-US" sz="2000" dirty="0">
                <a:solidFill>
                  <a:srgbClr val="0C0C0C"/>
                </a:solidFill>
                <a:latin typeface="Century"/>
                <a:ea typeface="Century"/>
                <a:cs typeface="Century"/>
                <a:sym typeface="Century"/>
              </a:rPr>
              <a:t>(marks); </a:t>
            </a:r>
            <a:r>
              <a:rPr lang="en-US" sz="2000" b="1" i="1" dirty="0">
                <a:solidFill>
                  <a:srgbClr val="0C0C0C"/>
                </a:solidFill>
                <a:latin typeface="Century"/>
                <a:ea typeface="Century"/>
                <a:cs typeface="Century"/>
                <a:sym typeface="Century"/>
              </a:rPr>
              <a:t>// name of the array is passed as argument. </a:t>
            </a:r>
            <a:endParaRPr dirty="0"/>
          </a:p>
          <a:p>
            <a:pPr marL="228600" lvl="0" indent="-228600" algn="l" rtl="0">
              <a:lnSpc>
                <a:spcPct val="100000"/>
              </a:lnSpc>
              <a:spcBef>
                <a:spcPts val="0"/>
              </a:spcBef>
              <a:spcAft>
                <a:spcPts val="0"/>
              </a:spcAft>
              <a:buClr>
                <a:srgbClr val="0C0C0C"/>
              </a:buClr>
              <a:buSzPts val="2000"/>
              <a:buNone/>
            </a:pPr>
            <a:r>
              <a:rPr lang="en-US" sz="2000" dirty="0" err="1">
                <a:solidFill>
                  <a:srgbClr val="0C0C0C"/>
                </a:solidFill>
                <a:latin typeface="Century"/>
                <a:ea typeface="Century"/>
                <a:cs typeface="Century"/>
                <a:sym typeface="Century"/>
              </a:rPr>
              <a:t>printf</a:t>
            </a:r>
            <a:r>
              <a:rPr lang="en-US" sz="2000" dirty="0">
                <a:solidFill>
                  <a:srgbClr val="0C0C0C"/>
                </a:solidFill>
                <a:latin typeface="Century"/>
                <a:ea typeface="Century"/>
                <a:cs typeface="Century"/>
                <a:sym typeface="Century"/>
              </a:rPr>
              <a:t>("Average marks = %f", avg); </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return 0;</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float </a:t>
            </a:r>
            <a:r>
              <a:rPr lang="en-US" sz="2000" dirty="0" err="1">
                <a:solidFill>
                  <a:srgbClr val="0C0C0C"/>
                </a:solidFill>
                <a:latin typeface="Century"/>
                <a:ea typeface="Century"/>
                <a:cs typeface="Century"/>
                <a:sym typeface="Century"/>
              </a:rPr>
              <a:t>findAverage</a:t>
            </a:r>
            <a:r>
              <a:rPr lang="en-US" sz="2000" dirty="0">
                <a:solidFill>
                  <a:srgbClr val="0C0C0C"/>
                </a:solidFill>
                <a:latin typeface="Century"/>
                <a:ea typeface="Century"/>
                <a:cs typeface="Century"/>
                <a:sym typeface="Century"/>
              </a:rPr>
              <a:t>(int marks[])</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 int </a:t>
            </a:r>
            <a:r>
              <a:rPr lang="en-US" sz="2000" dirty="0" err="1">
                <a:solidFill>
                  <a:srgbClr val="0C0C0C"/>
                </a:solidFill>
                <a:latin typeface="Century"/>
                <a:ea typeface="Century"/>
                <a:cs typeface="Century"/>
                <a:sym typeface="Century"/>
              </a:rPr>
              <a:t>i</a:t>
            </a:r>
            <a:r>
              <a:rPr lang="en-US" sz="2000" dirty="0">
                <a:solidFill>
                  <a:srgbClr val="0C0C0C"/>
                </a:solidFill>
                <a:latin typeface="Century"/>
                <a:ea typeface="Century"/>
                <a:cs typeface="Century"/>
                <a:sym typeface="Century"/>
              </a:rPr>
              <a:t>, sum = 0; </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float avg; </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for (</a:t>
            </a:r>
            <a:r>
              <a:rPr lang="en-US" sz="2000" dirty="0" err="1">
                <a:solidFill>
                  <a:srgbClr val="0C0C0C"/>
                </a:solidFill>
                <a:latin typeface="Century"/>
                <a:ea typeface="Century"/>
                <a:cs typeface="Century"/>
                <a:sym typeface="Century"/>
              </a:rPr>
              <a:t>i</a:t>
            </a:r>
            <a:r>
              <a:rPr lang="en-US" sz="2000" dirty="0">
                <a:solidFill>
                  <a:srgbClr val="0C0C0C"/>
                </a:solidFill>
                <a:latin typeface="Century"/>
                <a:ea typeface="Century"/>
                <a:cs typeface="Century"/>
                <a:sym typeface="Century"/>
              </a:rPr>
              <a:t> = 0; </a:t>
            </a:r>
            <a:r>
              <a:rPr lang="en-US" sz="2000" dirty="0" err="1">
                <a:solidFill>
                  <a:srgbClr val="0C0C0C"/>
                </a:solidFill>
                <a:latin typeface="Century"/>
                <a:ea typeface="Century"/>
                <a:cs typeface="Century"/>
                <a:sym typeface="Century"/>
              </a:rPr>
              <a:t>i</a:t>
            </a:r>
            <a:r>
              <a:rPr lang="en-US" sz="2000" dirty="0">
                <a:solidFill>
                  <a:srgbClr val="0C0C0C"/>
                </a:solidFill>
                <a:latin typeface="Century"/>
                <a:ea typeface="Century"/>
                <a:cs typeface="Century"/>
                <a:sym typeface="Century"/>
              </a:rPr>
              <a:t> &lt;= 4; </a:t>
            </a:r>
            <a:r>
              <a:rPr lang="en-US" sz="2000" dirty="0" err="1">
                <a:solidFill>
                  <a:srgbClr val="0C0C0C"/>
                </a:solidFill>
                <a:latin typeface="Century"/>
                <a:ea typeface="Century"/>
                <a:cs typeface="Century"/>
                <a:sym typeface="Century"/>
              </a:rPr>
              <a:t>i</a:t>
            </a:r>
            <a:r>
              <a:rPr lang="en-US" sz="2000" dirty="0">
                <a:solidFill>
                  <a:srgbClr val="0C0C0C"/>
                </a:solidFill>
                <a:latin typeface="Century"/>
                <a:ea typeface="Century"/>
                <a:cs typeface="Century"/>
                <a:sym typeface="Century"/>
              </a:rPr>
              <a:t>++)</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  sum += marks[</a:t>
            </a:r>
            <a:r>
              <a:rPr lang="en-US" sz="2000" dirty="0" err="1">
                <a:solidFill>
                  <a:srgbClr val="0C0C0C"/>
                </a:solidFill>
                <a:latin typeface="Century"/>
                <a:ea typeface="Century"/>
                <a:cs typeface="Century"/>
                <a:sym typeface="Century"/>
              </a:rPr>
              <a:t>i</a:t>
            </a:r>
            <a:r>
              <a:rPr lang="en-US" sz="2000" dirty="0">
                <a:solidFill>
                  <a:srgbClr val="0C0C0C"/>
                </a:solidFill>
                <a:latin typeface="Century"/>
                <a:ea typeface="Century"/>
                <a:cs typeface="Century"/>
                <a:sym typeface="Century"/>
              </a:rPr>
              <a:t>]; } </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avg = (sum / 5);</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return avg;</a:t>
            </a:r>
            <a:endParaRPr dirty="0"/>
          </a:p>
          <a:p>
            <a:pPr marL="228600" lvl="0" indent="-228600" algn="l" rtl="0">
              <a:lnSpc>
                <a:spcPct val="100000"/>
              </a:lnSpc>
              <a:spcBef>
                <a:spcPts val="0"/>
              </a:spcBef>
              <a:spcAft>
                <a:spcPts val="0"/>
              </a:spcAft>
              <a:buClr>
                <a:srgbClr val="0C0C0C"/>
              </a:buClr>
              <a:buSzPts val="2000"/>
              <a:buNone/>
            </a:pPr>
            <a:r>
              <a:rPr lang="en-US" sz="2000" dirty="0">
                <a:solidFill>
                  <a:srgbClr val="0C0C0C"/>
                </a:solidFill>
                <a:latin typeface="Century"/>
                <a:ea typeface="Century"/>
                <a:cs typeface="Century"/>
                <a:sym typeface="Century"/>
              </a:rPr>
              <a:t>  </a:t>
            </a:r>
            <a:r>
              <a:rPr lang="en-US" sz="2000" dirty="0">
                <a:latin typeface="Century"/>
                <a:ea typeface="Century"/>
                <a:cs typeface="Century"/>
                <a:sym typeface="Century"/>
              </a:rPr>
              <a:t>}</a:t>
            </a:r>
            <a:endParaRPr sz="2000" b="1" i="1" dirty="0">
              <a:latin typeface="Century"/>
              <a:ea typeface="Century"/>
              <a:cs typeface="Century"/>
              <a:sym typeface="Century"/>
            </a:endParaRPr>
          </a:p>
        </p:txBody>
      </p:sp>
      <p:sp>
        <p:nvSpPr>
          <p:cNvPr id="528" name="Google Shape;528;p68"/>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44</a:t>
            </a:fld>
            <a:endParaRPr/>
          </a:p>
        </p:txBody>
      </p:sp>
      <p:sp>
        <p:nvSpPr>
          <p:cNvPr id="526" name="Google Shape;526;p68"/>
          <p:cNvSpPr txBox="1"/>
          <p:nvPr/>
        </p:nvSpPr>
        <p:spPr>
          <a:xfrm>
            <a:off x="7456876" y="4838294"/>
            <a:ext cx="2590800" cy="876348"/>
          </a:xfrm>
          <a:prstGeom prst="rect">
            <a:avLst/>
          </a:prstGeom>
          <a:solidFill>
            <a:srgbClr val="75707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a:ea typeface="Century"/>
                <a:cs typeface="Century"/>
                <a:sym typeface="Century"/>
              </a:rPr>
              <a:t>Output:</a:t>
            </a:r>
            <a:endParaRPr/>
          </a:p>
          <a:p>
            <a:pPr marL="0" marR="0" lvl="0" indent="0" algn="l" rtl="0">
              <a:spcBef>
                <a:spcPts val="0"/>
              </a:spcBef>
              <a:spcAft>
                <a:spcPts val="0"/>
              </a:spcAft>
              <a:buNone/>
            </a:pPr>
            <a:r>
              <a:rPr lang="en-US" sz="1800">
                <a:solidFill>
                  <a:schemeClr val="dk1"/>
                </a:solidFill>
                <a:latin typeface="Century"/>
                <a:ea typeface="Century"/>
                <a:cs typeface="Century"/>
                <a:sym typeface="Century"/>
              </a:rPr>
              <a:t>94.6</a:t>
            </a:r>
            <a:endParaRPr/>
          </a:p>
          <a:p>
            <a:pPr marL="0" marR="0" lvl="0" indent="0" algn="l" rtl="0">
              <a:spcBef>
                <a:spcPts val="0"/>
              </a:spcBef>
              <a:spcAft>
                <a:spcPts val="0"/>
              </a:spcAft>
              <a:buNone/>
            </a:pPr>
            <a:endParaRPr sz="1800">
              <a:solidFill>
                <a:schemeClr val="dk1"/>
              </a:solidFill>
              <a:latin typeface="Century"/>
              <a:ea typeface="Century"/>
              <a:cs typeface="Century"/>
              <a:sym typeface="Century"/>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69"/>
          <p:cNvSpPr txBox="1">
            <a:spLocks noGrp="1"/>
          </p:cNvSpPr>
          <p:nvPr>
            <p:ph type="title"/>
          </p:nvPr>
        </p:nvSpPr>
        <p:spPr>
          <a:xfrm>
            <a:off x="407963" y="67468"/>
            <a:ext cx="10030264"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2"/>
              </a:buClr>
              <a:buSzPts val="3600"/>
              <a:buFont typeface="Century"/>
              <a:buNone/>
            </a:pPr>
            <a:r>
              <a:rPr lang="en-US" sz="3600" b="1" dirty="0">
                <a:solidFill>
                  <a:schemeClr val="dk2"/>
                </a:solidFill>
                <a:latin typeface="Century"/>
                <a:ea typeface="Century"/>
                <a:cs typeface="Century"/>
                <a:sym typeface="Century"/>
              </a:rPr>
              <a:t>PASSING ARRAY TO A FUNCTION (</a:t>
            </a:r>
            <a:r>
              <a:rPr lang="en-US" sz="3600" b="1" dirty="0" err="1">
                <a:solidFill>
                  <a:schemeClr val="dk2"/>
                </a:solidFill>
                <a:latin typeface="Century"/>
                <a:ea typeface="Century"/>
                <a:cs typeface="Century"/>
                <a:sym typeface="Century"/>
              </a:rPr>
              <a:t>Cont</a:t>
            </a:r>
            <a:r>
              <a:rPr lang="en-US" sz="3600" b="1" dirty="0">
                <a:solidFill>
                  <a:schemeClr val="dk2"/>
                </a:solidFill>
                <a:latin typeface="Century"/>
                <a:ea typeface="Century"/>
                <a:cs typeface="Century"/>
                <a:sym typeface="Century"/>
              </a:rPr>
              <a:t>…)</a:t>
            </a:r>
            <a:br>
              <a:rPr lang="en-US" sz="3600" b="1" dirty="0">
                <a:solidFill>
                  <a:schemeClr val="dk2"/>
                </a:solidFill>
                <a:latin typeface="Century"/>
                <a:ea typeface="Century"/>
                <a:cs typeface="Century"/>
                <a:sym typeface="Century"/>
              </a:rPr>
            </a:br>
            <a:endParaRPr sz="3600" b="1" dirty="0">
              <a:solidFill>
                <a:schemeClr val="dk2"/>
              </a:solidFill>
              <a:latin typeface="Century"/>
              <a:ea typeface="Century"/>
              <a:cs typeface="Century"/>
              <a:sym typeface="Century"/>
            </a:endParaRPr>
          </a:p>
        </p:txBody>
      </p:sp>
      <p:sp>
        <p:nvSpPr>
          <p:cNvPr id="534" name="Google Shape;534;p69"/>
          <p:cNvSpPr txBox="1">
            <a:spLocks noGrp="1"/>
          </p:cNvSpPr>
          <p:nvPr>
            <p:ph idx="1"/>
          </p:nvPr>
        </p:nvSpPr>
        <p:spPr>
          <a:xfrm>
            <a:off x="407963" y="974188"/>
            <a:ext cx="9945859" cy="5186769"/>
          </a:xfrm>
          <a:prstGeom prst="rect">
            <a:avLst/>
          </a:prstGeom>
          <a:solidFill>
            <a:srgbClr val="D0CECE"/>
          </a:solid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C00000"/>
              </a:buClr>
              <a:buSzPts val="2000"/>
              <a:buNone/>
            </a:pPr>
            <a:r>
              <a:rPr lang="en-US" sz="2000" b="1" dirty="0">
                <a:solidFill>
                  <a:srgbClr val="C00000"/>
                </a:solidFill>
                <a:latin typeface="Century"/>
                <a:ea typeface="Century"/>
                <a:cs typeface="Century"/>
                <a:sym typeface="Century"/>
              </a:rPr>
              <a:t>Passing a Two dimensional array to a function</a:t>
            </a:r>
            <a:endParaRPr dirty="0"/>
          </a:p>
          <a:p>
            <a:pPr marL="228600" lvl="0" indent="-228600" algn="l" rtl="0">
              <a:lnSpc>
                <a:spcPct val="90000"/>
              </a:lnSpc>
              <a:spcBef>
                <a:spcPts val="1000"/>
              </a:spcBef>
              <a:spcAft>
                <a:spcPts val="0"/>
              </a:spcAft>
              <a:buClr>
                <a:srgbClr val="0C0C0C"/>
              </a:buClr>
              <a:buSzPts val="2000"/>
              <a:buNone/>
            </a:pPr>
            <a:r>
              <a:rPr lang="en-US" sz="2000" b="1" dirty="0">
                <a:solidFill>
                  <a:srgbClr val="0C0C0C"/>
                </a:solidFill>
                <a:latin typeface="Century"/>
                <a:ea typeface="Century"/>
                <a:cs typeface="Century"/>
                <a:sym typeface="Century"/>
              </a:rPr>
              <a:t>EXAMPLE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#include &lt;</a:t>
            </a:r>
            <a:r>
              <a:rPr lang="en-US" sz="1800" dirty="0" err="1">
                <a:solidFill>
                  <a:srgbClr val="0C0C0C"/>
                </a:solidFill>
                <a:latin typeface="Century"/>
                <a:ea typeface="Century"/>
                <a:cs typeface="Century"/>
                <a:sym typeface="Century"/>
              </a:rPr>
              <a:t>stdio.h</a:t>
            </a:r>
            <a:r>
              <a:rPr lang="en-US" sz="1800" dirty="0">
                <a:solidFill>
                  <a:srgbClr val="0C0C0C"/>
                </a:solidFill>
                <a:latin typeface="Century"/>
                <a:ea typeface="Century"/>
                <a:cs typeface="Century"/>
                <a:sym typeface="Century"/>
              </a:rPr>
              <a:t>&gt;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void print(int </a:t>
            </a:r>
            <a:r>
              <a:rPr lang="en-US" sz="1800" dirty="0" err="1">
                <a:solidFill>
                  <a:srgbClr val="0C0C0C"/>
                </a:solidFill>
                <a:latin typeface="Century"/>
                <a:ea typeface="Century"/>
                <a:cs typeface="Century"/>
                <a:sym typeface="Century"/>
              </a:rPr>
              <a:t>arr</a:t>
            </a:r>
            <a:r>
              <a:rPr lang="en-US" sz="1800" dirty="0">
                <a:solidFill>
                  <a:srgbClr val="0C0C0C"/>
                </a:solidFill>
                <a:latin typeface="Century"/>
                <a:ea typeface="Century"/>
                <a:cs typeface="Century"/>
                <a:sym typeface="Century"/>
              </a:rPr>
              <a:t>[3][3])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int </a:t>
            </a:r>
            <a:r>
              <a:rPr lang="en-US" sz="1800" dirty="0" err="1">
                <a:solidFill>
                  <a:srgbClr val="0C0C0C"/>
                </a:solidFill>
                <a:latin typeface="Century"/>
                <a:ea typeface="Century"/>
                <a:cs typeface="Century"/>
                <a:sym typeface="Century"/>
              </a:rPr>
              <a:t>i</a:t>
            </a:r>
            <a:r>
              <a:rPr lang="en-US" sz="1800" dirty="0">
                <a:solidFill>
                  <a:srgbClr val="0C0C0C"/>
                </a:solidFill>
                <a:latin typeface="Century"/>
                <a:ea typeface="Century"/>
                <a:cs typeface="Century"/>
                <a:sym typeface="Century"/>
              </a:rPr>
              <a:t>, j;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for (</a:t>
            </a:r>
            <a:r>
              <a:rPr lang="en-US" sz="1800" dirty="0" err="1">
                <a:solidFill>
                  <a:srgbClr val="0C0C0C"/>
                </a:solidFill>
                <a:latin typeface="Century"/>
                <a:ea typeface="Century"/>
                <a:cs typeface="Century"/>
                <a:sym typeface="Century"/>
              </a:rPr>
              <a:t>i</a:t>
            </a:r>
            <a:r>
              <a:rPr lang="en-US" sz="1800" dirty="0">
                <a:solidFill>
                  <a:srgbClr val="0C0C0C"/>
                </a:solidFill>
                <a:latin typeface="Century"/>
                <a:ea typeface="Century"/>
                <a:cs typeface="Century"/>
                <a:sym typeface="Century"/>
              </a:rPr>
              <a:t> = 0; </a:t>
            </a:r>
            <a:r>
              <a:rPr lang="en-US" sz="1800" dirty="0" err="1">
                <a:solidFill>
                  <a:srgbClr val="0C0C0C"/>
                </a:solidFill>
                <a:latin typeface="Century"/>
                <a:ea typeface="Century"/>
                <a:cs typeface="Century"/>
                <a:sym typeface="Century"/>
              </a:rPr>
              <a:t>i</a:t>
            </a:r>
            <a:r>
              <a:rPr lang="en-US" sz="1800" dirty="0">
                <a:solidFill>
                  <a:srgbClr val="0C0C0C"/>
                </a:solidFill>
                <a:latin typeface="Century"/>
                <a:ea typeface="Century"/>
                <a:cs typeface="Century"/>
                <a:sym typeface="Century"/>
              </a:rPr>
              <a:t> &lt; 3; </a:t>
            </a:r>
            <a:r>
              <a:rPr lang="en-US" sz="1800" dirty="0" err="1">
                <a:solidFill>
                  <a:srgbClr val="0C0C0C"/>
                </a:solidFill>
                <a:latin typeface="Century"/>
                <a:ea typeface="Century"/>
                <a:cs typeface="Century"/>
                <a:sym typeface="Century"/>
              </a:rPr>
              <a:t>i</a:t>
            </a:r>
            <a:r>
              <a:rPr lang="en-US" sz="1800" dirty="0">
                <a:solidFill>
                  <a:srgbClr val="0C0C0C"/>
                </a:solidFill>
                <a:latin typeface="Century"/>
                <a:ea typeface="Century"/>
                <a:cs typeface="Century"/>
                <a:sym typeface="Century"/>
              </a:rPr>
              <a:t>++)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for (j = 0; j &lt; 3; </a:t>
            </a:r>
            <a:r>
              <a:rPr lang="en-US" sz="1800" dirty="0" err="1">
                <a:solidFill>
                  <a:srgbClr val="0C0C0C"/>
                </a:solidFill>
                <a:latin typeface="Century"/>
                <a:ea typeface="Century"/>
                <a:cs typeface="Century"/>
                <a:sym typeface="Century"/>
              </a:rPr>
              <a:t>j++</a:t>
            </a:r>
            <a:r>
              <a:rPr lang="en-US" sz="1800" dirty="0">
                <a:solidFill>
                  <a:srgbClr val="0C0C0C"/>
                </a:solidFill>
                <a:latin typeface="Century"/>
                <a:ea typeface="Century"/>
                <a:cs typeface="Century"/>
                <a:sym typeface="Century"/>
              </a:rPr>
              <a:t>)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a:t>
            </a:r>
            <a:r>
              <a:rPr lang="en-US" sz="1800" dirty="0" err="1">
                <a:solidFill>
                  <a:srgbClr val="0C0C0C"/>
                </a:solidFill>
                <a:latin typeface="Century"/>
                <a:ea typeface="Century"/>
                <a:cs typeface="Century"/>
                <a:sym typeface="Century"/>
              </a:rPr>
              <a:t>printf</a:t>
            </a:r>
            <a:r>
              <a:rPr lang="en-US" sz="1800" dirty="0">
                <a:solidFill>
                  <a:srgbClr val="0C0C0C"/>
                </a:solidFill>
                <a:latin typeface="Century"/>
                <a:ea typeface="Century"/>
                <a:cs typeface="Century"/>
                <a:sym typeface="Century"/>
              </a:rPr>
              <a:t>("%d ", </a:t>
            </a:r>
            <a:r>
              <a:rPr lang="en-US" sz="1800" dirty="0" err="1">
                <a:solidFill>
                  <a:srgbClr val="0C0C0C"/>
                </a:solidFill>
                <a:latin typeface="Century"/>
                <a:ea typeface="Century"/>
                <a:cs typeface="Century"/>
                <a:sym typeface="Century"/>
              </a:rPr>
              <a:t>arr</a:t>
            </a:r>
            <a:r>
              <a:rPr lang="en-US" sz="1800" dirty="0">
                <a:solidFill>
                  <a:srgbClr val="0C0C0C"/>
                </a:solidFill>
                <a:latin typeface="Century"/>
                <a:ea typeface="Century"/>
                <a:cs typeface="Century"/>
                <a:sym typeface="Century"/>
              </a:rPr>
              <a:t>[</a:t>
            </a:r>
            <a:r>
              <a:rPr lang="en-US" sz="1800" dirty="0" err="1">
                <a:solidFill>
                  <a:srgbClr val="0C0C0C"/>
                </a:solidFill>
                <a:latin typeface="Century"/>
                <a:ea typeface="Century"/>
                <a:cs typeface="Century"/>
                <a:sym typeface="Century"/>
              </a:rPr>
              <a:t>i</a:t>
            </a:r>
            <a:r>
              <a:rPr lang="en-US" sz="1800" dirty="0">
                <a:solidFill>
                  <a:srgbClr val="0C0C0C"/>
                </a:solidFill>
                <a:latin typeface="Century"/>
                <a:ea typeface="Century"/>
                <a:cs typeface="Century"/>
                <a:sym typeface="Century"/>
              </a:rPr>
              <a:t>][j]);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int main()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int </a:t>
            </a:r>
            <a:r>
              <a:rPr lang="en-US" sz="1800" dirty="0" err="1">
                <a:solidFill>
                  <a:srgbClr val="0C0C0C"/>
                </a:solidFill>
                <a:latin typeface="Century"/>
                <a:ea typeface="Century"/>
                <a:cs typeface="Century"/>
                <a:sym typeface="Century"/>
              </a:rPr>
              <a:t>arr</a:t>
            </a:r>
            <a:r>
              <a:rPr lang="en-US" sz="1800" dirty="0">
                <a:solidFill>
                  <a:srgbClr val="0C0C0C"/>
                </a:solidFill>
                <a:latin typeface="Century"/>
                <a:ea typeface="Century"/>
                <a:cs typeface="Century"/>
                <a:sym typeface="Century"/>
              </a:rPr>
              <a:t>[3][3] = {{1, 2, 3}, {4, 5, 6}, {7, 8, 9}};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print(</a:t>
            </a:r>
            <a:r>
              <a:rPr lang="en-US" sz="1800" dirty="0" err="1">
                <a:solidFill>
                  <a:srgbClr val="0C0C0C"/>
                </a:solidFill>
                <a:latin typeface="Century"/>
                <a:ea typeface="Century"/>
                <a:cs typeface="Century"/>
                <a:sym typeface="Century"/>
              </a:rPr>
              <a:t>arr</a:t>
            </a:r>
            <a:r>
              <a:rPr lang="en-US" sz="1800" dirty="0">
                <a:solidFill>
                  <a:srgbClr val="0C0C0C"/>
                </a:solidFill>
                <a:latin typeface="Century"/>
                <a:ea typeface="Century"/>
                <a:cs typeface="Century"/>
                <a:sym typeface="Century"/>
              </a:rPr>
              <a:t>);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return 0; </a:t>
            </a:r>
            <a:endParaRPr dirty="0"/>
          </a:p>
          <a:p>
            <a:pPr marL="228600" lvl="0" indent="-228600" algn="l" rtl="0">
              <a:lnSpc>
                <a:spcPct val="110000"/>
              </a:lnSpc>
              <a:spcBef>
                <a:spcPts val="0"/>
              </a:spcBef>
              <a:spcAft>
                <a:spcPts val="0"/>
              </a:spcAft>
              <a:buClr>
                <a:srgbClr val="0C0C0C"/>
              </a:buClr>
              <a:buSzPts val="1800"/>
              <a:buNone/>
            </a:pPr>
            <a:r>
              <a:rPr lang="en-US" sz="1800" dirty="0">
                <a:solidFill>
                  <a:srgbClr val="0C0C0C"/>
                </a:solidFill>
                <a:latin typeface="Century"/>
                <a:ea typeface="Century"/>
                <a:cs typeface="Century"/>
                <a:sym typeface="Century"/>
              </a:rPr>
              <a:t>} </a:t>
            </a:r>
            <a:endParaRPr dirty="0"/>
          </a:p>
        </p:txBody>
      </p:sp>
      <p:sp>
        <p:nvSpPr>
          <p:cNvPr id="537" name="Google Shape;537;p69"/>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45</a:t>
            </a:fld>
            <a:endParaRPr/>
          </a:p>
        </p:txBody>
      </p:sp>
      <p:sp>
        <p:nvSpPr>
          <p:cNvPr id="535" name="Google Shape;535;p69"/>
          <p:cNvSpPr txBox="1"/>
          <p:nvPr/>
        </p:nvSpPr>
        <p:spPr>
          <a:xfrm>
            <a:off x="6273019" y="5042095"/>
            <a:ext cx="2590800" cy="923330"/>
          </a:xfrm>
          <a:prstGeom prst="rect">
            <a:avLst/>
          </a:prstGeom>
          <a:solidFill>
            <a:srgbClr val="75707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entury"/>
                <a:ea typeface="Century"/>
                <a:cs typeface="Century"/>
                <a:sym typeface="Century"/>
              </a:rPr>
              <a:t>Output:</a:t>
            </a:r>
            <a:endParaRPr/>
          </a:p>
          <a:p>
            <a:pPr marL="0" marR="0" lvl="0" indent="0" algn="l" rtl="0">
              <a:spcBef>
                <a:spcPts val="0"/>
              </a:spcBef>
              <a:spcAft>
                <a:spcPts val="0"/>
              </a:spcAft>
              <a:buNone/>
            </a:pPr>
            <a:r>
              <a:rPr lang="en-US" sz="1800">
                <a:solidFill>
                  <a:schemeClr val="dk1"/>
                </a:solidFill>
                <a:latin typeface="Century"/>
                <a:ea typeface="Century"/>
                <a:cs typeface="Century"/>
                <a:sym typeface="Century"/>
              </a:rPr>
              <a:t>1 2 3 4 5 6 7 8 9</a:t>
            </a:r>
            <a:endParaRPr/>
          </a:p>
          <a:p>
            <a:pPr marL="0" marR="0" lvl="0" indent="0" algn="l" rtl="0">
              <a:spcBef>
                <a:spcPts val="0"/>
              </a:spcBef>
              <a:spcAft>
                <a:spcPts val="0"/>
              </a:spcAft>
              <a:buNone/>
            </a:pPr>
            <a:endParaRPr sz="1800">
              <a:solidFill>
                <a:schemeClr val="dk1"/>
              </a:solidFill>
              <a:latin typeface="Century"/>
              <a:ea typeface="Century"/>
              <a:cs typeface="Century"/>
              <a:sym typeface="Century"/>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70"/>
          <p:cNvSpPr txBox="1">
            <a:spLocks noGrp="1"/>
          </p:cNvSpPr>
          <p:nvPr>
            <p:ph type="title"/>
          </p:nvPr>
        </p:nvSpPr>
        <p:spPr>
          <a:xfrm>
            <a:off x="838200" y="365125"/>
            <a:ext cx="8753856"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2060"/>
              </a:buClr>
              <a:buSzPts val="3200"/>
              <a:buFont typeface="Century"/>
              <a:buNone/>
            </a:pPr>
            <a:r>
              <a:rPr lang="en-US" sz="3200" b="1">
                <a:solidFill>
                  <a:srgbClr val="002060"/>
                </a:solidFill>
                <a:latin typeface="Century"/>
                <a:ea typeface="Century"/>
                <a:cs typeface="Century"/>
                <a:sym typeface="Century"/>
              </a:rPr>
              <a:t>PASSING STRING TO A FUNCTION</a:t>
            </a:r>
            <a:br>
              <a:rPr lang="en-US" sz="3200" b="1">
                <a:solidFill>
                  <a:srgbClr val="002060"/>
                </a:solidFill>
                <a:latin typeface="Century"/>
                <a:ea typeface="Century"/>
                <a:cs typeface="Century"/>
                <a:sym typeface="Century"/>
              </a:rPr>
            </a:br>
            <a:endParaRPr sz="3200" b="1">
              <a:solidFill>
                <a:srgbClr val="002060"/>
              </a:solidFill>
              <a:latin typeface="Century"/>
              <a:ea typeface="Century"/>
              <a:cs typeface="Century"/>
              <a:sym typeface="Century"/>
            </a:endParaRPr>
          </a:p>
        </p:txBody>
      </p:sp>
      <p:sp>
        <p:nvSpPr>
          <p:cNvPr id="543" name="Google Shape;543;p70"/>
          <p:cNvSpPr txBox="1">
            <a:spLocks noGrp="1"/>
          </p:cNvSpPr>
          <p:nvPr>
            <p:ph idx="1"/>
          </p:nvPr>
        </p:nvSpPr>
        <p:spPr>
          <a:xfrm>
            <a:off x="838200" y="1825625"/>
            <a:ext cx="9823704"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305C"/>
              </a:buClr>
              <a:buSzPts val="2400"/>
              <a:buChar char="•"/>
            </a:pPr>
            <a:r>
              <a:rPr lang="en-US" sz="2400" dirty="0"/>
              <a:t> </a:t>
            </a:r>
            <a:r>
              <a:rPr lang="en-US" dirty="0">
                <a:solidFill>
                  <a:schemeClr val="dk1"/>
                </a:solidFill>
                <a:latin typeface="Century"/>
                <a:ea typeface="Century"/>
                <a:cs typeface="Century"/>
                <a:sym typeface="Century"/>
              </a:rPr>
              <a:t>A string is </a:t>
            </a:r>
            <a:r>
              <a:rPr lang="en-US" b="1" i="1" dirty="0">
                <a:solidFill>
                  <a:srgbClr val="C00000"/>
                </a:solidFill>
                <a:latin typeface="Century"/>
                <a:ea typeface="Century"/>
                <a:cs typeface="Century"/>
                <a:sym typeface="Century"/>
              </a:rPr>
              <a:t>a sequence of characters</a:t>
            </a:r>
            <a:r>
              <a:rPr lang="en-US" b="1" i="1" dirty="0">
                <a:solidFill>
                  <a:schemeClr val="dk1"/>
                </a:solidFill>
                <a:latin typeface="Century"/>
                <a:ea typeface="Century"/>
                <a:cs typeface="Century"/>
                <a:sym typeface="Century"/>
              </a:rPr>
              <a:t> </a:t>
            </a:r>
            <a:r>
              <a:rPr lang="en-US" dirty="0">
                <a:solidFill>
                  <a:schemeClr val="dk1"/>
                </a:solidFill>
                <a:latin typeface="Century"/>
                <a:ea typeface="Century"/>
                <a:cs typeface="Century"/>
                <a:sym typeface="Century"/>
              </a:rPr>
              <a:t>enclosed with in  double  quotes terminated with a null character </a:t>
            </a:r>
            <a:r>
              <a:rPr lang="en-US" b="1" dirty="0">
                <a:solidFill>
                  <a:srgbClr val="FF0000"/>
                </a:solidFill>
                <a:latin typeface="Century"/>
                <a:ea typeface="Century"/>
                <a:cs typeface="Century"/>
                <a:sym typeface="Century"/>
              </a:rPr>
              <a:t>‘\0’</a:t>
            </a:r>
            <a:r>
              <a:rPr lang="en-US" dirty="0">
                <a:solidFill>
                  <a:schemeClr val="dk1"/>
                </a:solidFill>
                <a:latin typeface="Century"/>
                <a:ea typeface="Century"/>
                <a:cs typeface="Century"/>
                <a:sym typeface="Century"/>
              </a:rPr>
              <a:t>.</a:t>
            </a:r>
            <a:endParaRPr dirty="0"/>
          </a:p>
          <a:p>
            <a:pPr marL="228600" lvl="0" indent="-228600" algn="l" rtl="0">
              <a:lnSpc>
                <a:spcPct val="90000"/>
              </a:lnSpc>
              <a:spcBef>
                <a:spcPts val="1000"/>
              </a:spcBef>
              <a:spcAft>
                <a:spcPts val="0"/>
              </a:spcAft>
              <a:buClr>
                <a:srgbClr val="00305C"/>
              </a:buClr>
              <a:buSzPts val="2400"/>
              <a:buNone/>
            </a:pPr>
            <a:endParaRPr dirty="0">
              <a:solidFill>
                <a:schemeClr val="dk1"/>
              </a:solidFill>
              <a:latin typeface="Century"/>
              <a:ea typeface="Century"/>
              <a:cs typeface="Century"/>
              <a:sym typeface="Century"/>
            </a:endParaRPr>
          </a:p>
          <a:p>
            <a:pPr marL="228600" lvl="0" indent="-228600" algn="l" rtl="0">
              <a:lnSpc>
                <a:spcPct val="90000"/>
              </a:lnSpc>
              <a:spcBef>
                <a:spcPts val="1000"/>
              </a:spcBef>
              <a:spcAft>
                <a:spcPts val="0"/>
              </a:spcAft>
              <a:buClr>
                <a:schemeClr val="dk1"/>
              </a:buClr>
              <a:buSzPts val="2400"/>
              <a:buChar char="•"/>
            </a:pPr>
            <a:r>
              <a:rPr lang="en-US" dirty="0">
                <a:solidFill>
                  <a:schemeClr val="dk1"/>
                </a:solidFill>
                <a:latin typeface="Century"/>
                <a:ea typeface="Century"/>
                <a:cs typeface="Century"/>
                <a:sym typeface="Century"/>
              </a:rPr>
              <a:t>String is also termed as </a:t>
            </a:r>
            <a:r>
              <a:rPr lang="en-US" b="1" i="1" dirty="0">
                <a:solidFill>
                  <a:srgbClr val="C00000"/>
                </a:solidFill>
                <a:latin typeface="Century"/>
                <a:ea typeface="Century"/>
                <a:cs typeface="Century"/>
                <a:sym typeface="Century"/>
              </a:rPr>
              <a:t>character array</a:t>
            </a:r>
            <a:r>
              <a:rPr lang="en-US" dirty="0">
                <a:solidFill>
                  <a:srgbClr val="C00000"/>
                </a:solidFill>
                <a:latin typeface="Century"/>
                <a:ea typeface="Century"/>
                <a:cs typeface="Century"/>
                <a:sym typeface="Century"/>
              </a:rPr>
              <a:t>.</a:t>
            </a:r>
            <a:endParaRPr dirty="0"/>
          </a:p>
        </p:txBody>
      </p:sp>
      <p:sp>
        <p:nvSpPr>
          <p:cNvPr id="544" name="Google Shape;544;p70"/>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71"/>
          <p:cNvSpPr txBox="1">
            <a:spLocks noGrp="1"/>
          </p:cNvSpPr>
          <p:nvPr>
            <p:ph type="title"/>
          </p:nvPr>
        </p:nvSpPr>
        <p:spPr>
          <a:xfrm>
            <a:off x="838200" y="365125"/>
            <a:ext cx="8753856"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1E4E79"/>
              </a:buClr>
              <a:buSzPts val="3200"/>
              <a:buFont typeface="Century"/>
              <a:buNone/>
            </a:pPr>
            <a:r>
              <a:rPr lang="en-US" sz="3200" b="1">
                <a:solidFill>
                  <a:srgbClr val="1E4E79"/>
                </a:solidFill>
                <a:latin typeface="Century"/>
                <a:ea typeface="Century"/>
                <a:cs typeface="Century"/>
                <a:sym typeface="Century"/>
              </a:rPr>
              <a:t>PASSING STRING TO A FUNCTION</a:t>
            </a:r>
            <a:br>
              <a:rPr lang="en-US" sz="3200" b="1">
                <a:solidFill>
                  <a:srgbClr val="1E4E79"/>
                </a:solidFill>
                <a:latin typeface="Century"/>
                <a:ea typeface="Century"/>
                <a:cs typeface="Century"/>
                <a:sym typeface="Century"/>
              </a:rPr>
            </a:br>
            <a:endParaRPr sz="3200" b="1">
              <a:solidFill>
                <a:srgbClr val="1E4E79"/>
              </a:solidFill>
              <a:latin typeface="Century"/>
              <a:ea typeface="Century"/>
              <a:cs typeface="Century"/>
              <a:sym typeface="Century"/>
            </a:endParaRPr>
          </a:p>
        </p:txBody>
      </p:sp>
      <p:sp>
        <p:nvSpPr>
          <p:cNvPr id="551" name="Google Shape;551;p71"/>
          <p:cNvSpPr txBox="1">
            <a:spLocks noGrp="1"/>
          </p:cNvSpPr>
          <p:nvPr>
            <p:ph idx="1"/>
          </p:nvPr>
        </p:nvSpPr>
        <p:spPr>
          <a:xfrm>
            <a:off x="838200" y="1336431"/>
            <a:ext cx="9823704" cy="4840532"/>
          </a:xfrm>
          <a:prstGeom prst="rect">
            <a:avLst/>
          </a:prstGeom>
          <a:solidFill>
            <a:schemeClr val="lt2"/>
          </a:solid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222A35"/>
              </a:buClr>
              <a:buSzPts val="2000"/>
              <a:buNone/>
            </a:pPr>
            <a:r>
              <a:rPr lang="en-US" sz="2000" b="1">
                <a:solidFill>
                  <a:srgbClr val="222A35"/>
                </a:solidFill>
                <a:latin typeface="Century"/>
                <a:ea typeface="Century"/>
                <a:cs typeface="Century"/>
                <a:sym typeface="Century"/>
              </a:rPr>
              <a:t>EXAMPLE:</a:t>
            </a:r>
            <a:endParaRPr/>
          </a:p>
          <a:p>
            <a:pPr marL="228600" lvl="0" indent="-228600" algn="l" rtl="0">
              <a:lnSpc>
                <a:spcPct val="90000"/>
              </a:lnSpc>
              <a:spcBef>
                <a:spcPts val="1000"/>
              </a:spcBef>
              <a:spcAft>
                <a:spcPts val="0"/>
              </a:spcAft>
              <a:buClr>
                <a:srgbClr val="222A35"/>
              </a:buClr>
              <a:buSzPts val="2000"/>
              <a:buNone/>
            </a:pPr>
            <a:r>
              <a:rPr lang="en-US" sz="2000">
                <a:solidFill>
                  <a:srgbClr val="222A35"/>
                </a:solidFill>
                <a:latin typeface="Century"/>
                <a:ea typeface="Century"/>
                <a:cs typeface="Century"/>
                <a:sym typeface="Century"/>
              </a:rPr>
              <a:t>void printStr(char str[]) </a:t>
            </a:r>
            <a:endParaRPr/>
          </a:p>
          <a:p>
            <a:pPr marL="228600" lvl="0" indent="-228600" algn="l" rtl="0">
              <a:lnSpc>
                <a:spcPct val="90000"/>
              </a:lnSpc>
              <a:spcBef>
                <a:spcPts val="1000"/>
              </a:spcBef>
              <a:spcAft>
                <a:spcPts val="0"/>
              </a:spcAft>
              <a:buClr>
                <a:srgbClr val="222A35"/>
              </a:buClr>
              <a:buSzPts val="2000"/>
              <a:buNone/>
            </a:pPr>
            <a:r>
              <a:rPr lang="en-US" sz="2000">
                <a:solidFill>
                  <a:srgbClr val="222A35"/>
                </a:solidFill>
                <a:latin typeface="Century"/>
                <a:ea typeface="Century"/>
                <a:cs typeface="Century"/>
                <a:sym typeface="Century"/>
              </a:rPr>
              <a:t>{ </a:t>
            </a:r>
            <a:endParaRPr/>
          </a:p>
          <a:p>
            <a:pPr marL="228600" lvl="0" indent="-228600" algn="l" rtl="0">
              <a:lnSpc>
                <a:spcPct val="90000"/>
              </a:lnSpc>
              <a:spcBef>
                <a:spcPts val="1000"/>
              </a:spcBef>
              <a:spcAft>
                <a:spcPts val="0"/>
              </a:spcAft>
              <a:buClr>
                <a:srgbClr val="222A35"/>
              </a:buClr>
              <a:buSzPts val="2000"/>
              <a:buNone/>
            </a:pPr>
            <a:r>
              <a:rPr lang="en-US" sz="2000">
                <a:solidFill>
                  <a:srgbClr val="222A35"/>
                </a:solidFill>
                <a:latin typeface="Century"/>
                <a:ea typeface="Century"/>
                <a:cs typeface="Century"/>
                <a:sym typeface="Century"/>
              </a:rPr>
              <a:t>    printf("String is : %s",str); </a:t>
            </a:r>
            <a:endParaRPr/>
          </a:p>
          <a:p>
            <a:pPr marL="228600" lvl="0" indent="-228600" algn="l" rtl="0">
              <a:lnSpc>
                <a:spcPct val="90000"/>
              </a:lnSpc>
              <a:spcBef>
                <a:spcPts val="1000"/>
              </a:spcBef>
              <a:spcAft>
                <a:spcPts val="0"/>
              </a:spcAft>
              <a:buClr>
                <a:srgbClr val="222A35"/>
              </a:buClr>
              <a:buSzPts val="2000"/>
              <a:buNone/>
            </a:pPr>
            <a:r>
              <a:rPr lang="en-US" sz="2000">
                <a:solidFill>
                  <a:srgbClr val="222A35"/>
                </a:solidFill>
                <a:latin typeface="Century"/>
                <a:ea typeface="Century"/>
                <a:cs typeface="Century"/>
                <a:sym typeface="Century"/>
              </a:rPr>
              <a:t>} </a:t>
            </a:r>
            <a:endParaRPr/>
          </a:p>
          <a:p>
            <a:pPr marL="228600" lvl="0" indent="-228600" algn="l" rtl="0">
              <a:lnSpc>
                <a:spcPct val="90000"/>
              </a:lnSpc>
              <a:spcBef>
                <a:spcPts val="1000"/>
              </a:spcBef>
              <a:spcAft>
                <a:spcPts val="0"/>
              </a:spcAft>
              <a:buClr>
                <a:srgbClr val="222A35"/>
              </a:buClr>
              <a:buSzPts val="2000"/>
              <a:buNone/>
            </a:pPr>
            <a:r>
              <a:rPr lang="en-US" sz="2000">
                <a:solidFill>
                  <a:srgbClr val="222A35"/>
                </a:solidFill>
                <a:latin typeface="Century"/>
                <a:ea typeface="Century"/>
                <a:cs typeface="Century"/>
                <a:sym typeface="Century"/>
              </a:rPr>
              <a:t>  </a:t>
            </a:r>
            <a:endParaRPr/>
          </a:p>
          <a:p>
            <a:pPr marL="228600" lvl="0" indent="-228600" algn="l" rtl="0">
              <a:lnSpc>
                <a:spcPct val="90000"/>
              </a:lnSpc>
              <a:spcBef>
                <a:spcPts val="1000"/>
              </a:spcBef>
              <a:spcAft>
                <a:spcPts val="0"/>
              </a:spcAft>
              <a:buClr>
                <a:srgbClr val="222A35"/>
              </a:buClr>
              <a:buSzPts val="2000"/>
              <a:buNone/>
            </a:pPr>
            <a:r>
              <a:rPr lang="en-US" sz="2000">
                <a:solidFill>
                  <a:srgbClr val="222A35"/>
                </a:solidFill>
                <a:latin typeface="Century"/>
                <a:ea typeface="Century"/>
                <a:cs typeface="Century"/>
                <a:sym typeface="Century"/>
              </a:rPr>
              <a:t>int main() </a:t>
            </a:r>
            <a:endParaRPr/>
          </a:p>
          <a:p>
            <a:pPr marL="228600" lvl="0" indent="-228600" algn="l" rtl="0">
              <a:lnSpc>
                <a:spcPct val="90000"/>
              </a:lnSpc>
              <a:spcBef>
                <a:spcPts val="1000"/>
              </a:spcBef>
              <a:spcAft>
                <a:spcPts val="0"/>
              </a:spcAft>
              <a:buClr>
                <a:srgbClr val="222A35"/>
              </a:buClr>
              <a:buSzPts val="2000"/>
              <a:buNone/>
            </a:pPr>
            <a:r>
              <a:rPr lang="en-US" sz="2000">
                <a:solidFill>
                  <a:srgbClr val="222A35"/>
                </a:solidFill>
                <a:latin typeface="Century"/>
                <a:ea typeface="Century"/>
                <a:cs typeface="Century"/>
                <a:sym typeface="Century"/>
              </a:rPr>
              <a:t>{    </a:t>
            </a:r>
            <a:endParaRPr/>
          </a:p>
          <a:p>
            <a:pPr marL="228600" lvl="0" indent="-228600" algn="l" rtl="0">
              <a:lnSpc>
                <a:spcPct val="90000"/>
              </a:lnSpc>
              <a:spcBef>
                <a:spcPts val="1000"/>
              </a:spcBef>
              <a:spcAft>
                <a:spcPts val="0"/>
              </a:spcAft>
              <a:buClr>
                <a:srgbClr val="222A35"/>
              </a:buClr>
              <a:buSzPts val="2000"/>
              <a:buNone/>
            </a:pPr>
            <a:r>
              <a:rPr lang="en-US" sz="2000">
                <a:solidFill>
                  <a:srgbClr val="222A35"/>
                </a:solidFill>
                <a:latin typeface="Century"/>
                <a:ea typeface="Century"/>
                <a:cs typeface="Century"/>
                <a:sym typeface="Century"/>
              </a:rPr>
              <a:t>    char str[] = “C Programming"; </a:t>
            </a:r>
            <a:r>
              <a:rPr lang="en-US" sz="2000" b="1" i="1">
                <a:solidFill>
                  <a:srgbClr val="222A35"/>
                </a:solidFill>
                <a:latin typeface="Century"/>
                <a:ea typeface="Century"/>
                <a:cs typeface="Century"/>
                <a:sym typeface="Century"/>
              </a:rPr>
              <a:t>  // declare and initialize  string </a:t>
            </a:r>
            <a:endParaRPr sz="2000" b="1" i="1">
              <a:solidFill>
                <a:srgbClr val="222A35"/>
              </a:solidFill>
              <a:latin typeface="Century"/>
              <a:ea typeface="Century"/>
              <a:cs typeface="Century"/>
              <a:sym typeface="Century"/>
            </a:endParaRPr>
          </a:p>
          <a:p>
            <a:pPr marL="228600" lvl="0" indent="-228600" algn="l" rtl="0">
              <a:lnSpc>
                <a:spcPct val="90000"/>
              </a:lnSpc>
              <a:spcBef>
                <a:spcPts val="1000"/>
              </a:spcBef>
              <a:spcAft>
                <a:spcPts val="0"/>
              </a:spcAft>
              <a:buClr>
                <a:srgbClr val="222A35"/>
              </a:buClr>
              <a:buSzPts val="2000"/>
              <a:buNone/>
            </a:pPr>
            <a:r>
              <a:rPr lang="en-US" sz="2000">
                <a:solidFill>
                  <a:srgbClr val="222A35"/>
                </a:solidFill>
                <a:latin typeface="Century"/>
                <a:ea typeface="Century"/>
                <a:cs typeface="Century"/>
                <a:sym typeface="Century"/>
              </a:rPr>
              <a:t>     printStr(str);     </a:t>
            </a:r>
            <a:r>
              <a:rPr lang="en-US" sz="2000" b="1" i="1">
                <a:solidFill>
                  <a:srgbClr val="222A35"/>
                </a:solidFill>
                <a:latin typeface="Century"/>
                <a:ea typeface="Century"/>
                <a:cs typeface="Century"/>
                <a:sym typeface="Century"/>
              </a:rPr>
              <a:t>// Passing string  to  the function </a:t>
            </a:r>
            <a:r>
              <a:rPr lang="en-US" sz="2000">
                <a:solidFill>
                  <a:srgbClr val="222A35"/>
                </a:solidFill>
                <a:latin typeface="Century"/>
                <a:ea typeface="Century"/>
                <a:cs typeface="Century"/>
                <a:sym typeface="Century"/>
              </a:rPr>
              <a:t>      </a:t>
            </a:r>
            <a:endParaRPr/>
          </a:p>
          <a:p>
            <a:pPr marL="228600" lvl="0" indent="-228600" algn="l" rtl="0">
              <a:lnSpc>
                <a:spcPct val="90000"/>
              </a:lnSpc>
              <a:spcBef>
                <a:spcPts val="1000"/>
              </a:spcBef>
              <a:spcAft>
                <a:spcPts val="0"/>
              </a:spcAft>
              <a:buClr>
                <a:srgbClr val="222A35"/>
              </a:buClr>
              <a:buSzPts val="2000"/>
              <a:buNone/>
            </a:pPr>
            <a:r>
              <a:rPr lang="en-US" sz="2000">
                <a:solidFill>
                  <a:srgbClr val="222A35"/>
                </a:solidFill>
                <a:latin typeface="Century"/>
                <a:ea typeface="Century"/>
                <a:cs typeface="Century"/>
                <a:sym typeface="Century"/>
              </a:rPr>
              <a:t>    return 0; </a:t>
            </a:r>
            <a:endParaRPr/>
          </a:p>
          <a:p>
            <a:pPr marL="228600" lvl="0" indent="-228600" algn="l" rtl="0">
              <a:lnSpc>
                <a:spcPct val="90000"/>
              </a:lnSpc>
              <a:spcBef>
                <a:spcPts val="1000"/>
              </a:spcBef>
              <a:spcAft>
                <a:spcPts val="0"/>
              </a:spcAft>
              <a:buClr>
                <a:srgbClr val="222A35"/>
              </a:buClr>
              <a:buSzPts val="2000"/>
              <a:buNone/>
            </a:pPr>
            <a:r>
              <a:rPr lang="en-US" sz="2000">
                <a:solidFill>
                  <a:srgbClr val="222A35"/>
                </a:solidFill>
                <a:latin typeface="Century"/>
                <a:ea typeface="Century"/>
                <a:cs typeface="Century"/>
                <a:sym typeface="Century"/>
              </a:rPr>
              <a:t>} </a:t>
            </a:r>
            <a:endParaRPr/>
          </a:p>
          <a:p>
            <a:pPr marL="228600" lvl="0" indent="-228600" algn="l" rtl="0">
              <a:lnSpc>
                <a:spcPct val="90000"/>
              </a:lnSpc>
              <a:spcBef>
                <a:spcPts val="1000"/>
              </a:spcBef>
              <a:spcAft>
                <a:spcPts val="0"/>
              </a:spcAft>
              <a:buClr>
                <a:srgbClr val="00305C"/>
              </a:buClr>
              <a:buSzPts val="2000"/>
              <a:buNone/>
            </a:pPr>
            <a:endParaRPr sz="2000" b="1" i="1">
              <a:solidFill>
                <a:srgbClr val="222A35"/>
              </a:solidFill>
              <a:latin typeface="Century"/>
              <a:ea typeface="Century"/>
              <a:cs typeface="Century"/>
              <a:sym typeface="Century"/>
            </a:endParaRPr>
          </a:p>
        </p:txBody>
      </p:sp>
      <p:sp>
        <p:nvSpPr>
          <p:cNvPr id="553" name="Google Shape;553;p71"/>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47</a:t>
            </a:fld>
            <a:endParaRPr/>
          </a:p>
        </p:txBody>
      </p:sp>
      <p:sp>
        <p:nvSpPr>
          <p:cNvPr id="554" name="Google Shape;554;p71"/>
          <p:cNvSpPr txBox="1"/>
          <p:nvPr/>
        </p:nvSpPr>
        <p:spPr>
          <a:xfrm>
            <a:off x="8117059" y="1786597"/>
            <a:ext cx="2278966" cy="646331"/>
          </a:xfrm>
          <a:prstGeom prst="rect">
            <a:avLst/>
          </a:prstGeom>
          <a:solidFill>
            <a:srgbClr val="7F7F7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a:ea typeface="Century"/>
                <a:cs typeface="Century"/>
                <a:sym typeface="Century"/>
              </a:rPr>
              <a:t>OUTPUT:</a:t>
            </a:r>
            <a:endParaRPr/>
          </a:p>
          <a:p>
            <a:pPr marL="0" marR="0" lvl="0" indent="0" algn="l" rtl="0">
              <a:spcBef>
                <a:spcPts val="0"/>
              </a:spcBef>
              <a:spcAft>
                <a:spcPts val="0"/>
              </a:spcAft>
              <a:buNone/>
            </a:pPr>
            <a:r>
              <a:rPr lang="en-US" sz="1800">
                <a:solidFill>
                  <a:schemeClr val="dk1"/>
                </a:solidFill>
                <a:latin typeface="Century"/>
                <a:ea typeface="Century"/>
                <a:cs typeface="Century"/>
                <a:sym typeface="Century"/>
              </a:rPr>
              <a:t>C Programming</a:t>
            </a:r>
            <a:endParaRPr sz="1800">
              <a:solidFill>
                <a:schemeClr val="dk1"/>
              </a:solidFill>
              <a:latin typeface="Century"/>
              <a:ea typeface="Century"/>
              <a:cs typeface="Century"/>
              <a:sym typeface="Century"/>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72"/>
          <p:cNvSpPr txBox="1">
            <a:spLocks noGrp="1"/>
          </p:cNvSpPr>
          <p:nvPr>
            <p:ph type="title"/>
          </p:nvPr>
        </p:nvSpPr>
        <p:spPr>
          <a:xfrm>
            <a:off x="838200" y="365125"/>
            <a:ext cx="8753856"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305C"/>
              </a:buClr>
              <a:buSzPts val="4400"/>
              <a:buFont typeface="Century"/>
              <a:buNone/>
            </a:pPr>
            <a:r>
              <a:rPr lang="en-US" b="1">
                <a:latin typeface="Century"/>
                <a:ea typeface="Century"/>
                <a:cs typeface="Century"/>
                <a:sym typeface="Century"/>
              </a:rPr>
              <a:t>PROGRAM FOR PRACTICE</a:t>
            </a:r>
            <a:endParaRPr b="1">
              <a:latin typeface="Century"/>
              <a:ea typeface="Century"/>
              <a:cs typeface="Century"/>
              <a:sym typeface="Century"/>
            </a:endParaRPr>
          </a:p>
        </p:txBody>
      </p:sp>
      <p:sp>
        <p:nvSpPr>
          <p:cNvPr id="560" name="Google Shape;560;p72"/>
          <p:cNvSpPr txBox="1">
            <a:spLocks noGrp="1"/>
          </p:cNvSpPr>
          <p:nvPr>
            <p:ph idx="1"/>
          </p:nvPr>
        </p:nvSpPr>
        <p:spPr>
          <a:xfrm>
            <a:off x="838200" y="1825625"/>
            <a:ext cx="9823704" cy="4351338"/>
          </a:xfrm>
          <a:prstGeom prst="rect">
            <a:avLst/>
          </a:prstGeom>
          <a:noFill/>
          <a:ln>
            <a:noFill/>
          </a:ln>
        </p:spPr>
        <p:txBody>
          <a:bodyPr spcFirstLastPara="1" wrap="square" lIns="91425" tIns="45700" rIns="91425" bIns="45700" anchor="t" anchorCtr="0">
            <a:noAutofit/>
          </a:bodyPr>
          <a:lstStyle/>
          <a:p>
            <a:pPr marL="514350" lvl="0" indent="-514350" algn="l" rtl="0">
              <a:lnSpc>
                <a:spcPct val="90000"/>
              </a:lnSpc>
              <a:spcBef>
                <a:spcPts val="0"/>
              </a:spcBef>
              <a:spcAft>
                <a:spcPts val="0"/>
              </a:spcAft>
              <a:buClr>
                <a:srgbClr val="222A35"/>
              </a:buClr>
              <a:buSzPts val="2800"/>
              <a:buAutoNum type="arabicPeriod"/>
            </a:pPr>
            <a:r>
              <a:rPr lang="en-US" dirty="0">
                <a:solidFill>
                  <a:srgbClr val="222A35"/>
                </a:solidFill>
                <a:latin typeface="Century"/>
                <a:ea typeface="Century"/>
                <a:cs typeface="Century"/>
                <a:sym typeface="Century"/>
              </a:rPr>
              <a:t>Write a C program to count total number of negative elements in an array using functions.</a:t>
            </a:r>
            <a:endParaRPr dirty="0"/>
          </a:p>
          <a:p>
            <a:pPr marL="514350" lvl="0" indent="-514350" algn="l" rtl="0">
              <a:lnSpc>
                <a:spcPct val="90000"/>
              </a:lnSpc>
              <a:spcBef>
                <a:spcPts val="1000"/>
              </a:spcBef>
              <a:spcAft>
                <a:spcPts val="0"/>
              </a:spcAft>
              <a:buClr>
                <a:srgbClr val="222A35"/>
              </a:buClr>
              <a:buSzPts val="2800"/>
              <a:buAutoNum type="arabicPeriod"/>
            </a:pPr>
            <a:r>
              <a:rPr lang="en-US" dirty="0">
                <a:solidFill>
                  <a:srgbClr val="222A35"/>
                </a:solidFill>
                <a:latin typeface="Century"/>
                <a:ea typeface="Century"/>
                <a:cs typeface="Century"/>
                <a:sym typeface="Century"/>
              </a:rPr>
              <a:t>Write a C program to find transpose of a matrix using functions.</a:t>
            </a:r>
            <a:endParaRPr dirty="0"/>
          </a:p>
          <a:p>
            <a:pPr marL="514350" lvl="0" indent="-514350" algn="l" rtl="0">
              <a:lnSpc>
                <a:spcPct val="90000"/>
              </a:lnSpc>
              <a:spcBef>
                <a:spcPts val="1000"/>
              </a:spcBef>
              <a:spcAft>
                <a:spcPts val="0"/>
              </a:spcAft>
              <a:buClr>
                <a:srgbClr val="222A35"/>
              </a:buClr>
              <a:buSzPts val="2800"/>
              <a:buAutoNum type="arabicPeriod"/>
            </a:pPr>
            <a:r>
              <a:rPr lang="en-US" dirty="0">
                <a:solidFill>
                  <a:srgbClr val="222A35"/>
                </a:solidFill>
                <a:latin typeface="Century"/>
                <a:ea typeface="Century"/>
                <a:cs typeface="Century"/>
                <a:sym typeface="Century"/>
              </a:rPr>
              <a:t>Write a C program to count total number of vowels and consonants in a string using functions.</a:t>
            </a:r>
            <a:endParaRPr dirty="0">
              <a:solidFill>
                <a:srgbClr val="222A35"/>
              </a:solidFill>
              <a:latin typeface="Century"/>
              <a:ea typeface="Century"/>
              <a:cs typeface="Century"/>
              <a:sym typeface="Century"/>
            </a:endParaRPr>
          </a:p>
        </p:txBody>
      </p:sp>
      <p:sp>
        <p:nvSpPr>
          <p:cNvPr id="562" name="Google Shape;562;p72"/>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73"/>
          <p:cNvSpPr txBox="1">
            <a:spLocks noGrp="1"/>
          </p:cNvSpPr>
          <p:nvPr>
            <p:ph type="title"/>
          </p:nvPr>
        </p:nvSpPr>
        <p:spPr>
          <a:xfrm>
            <a:off x="838200" y="365125"/>
            <a:ext cx="8753856"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E75B5"/>
              </a:buClr>
              <a:buSzPts val="3200"/>
              <a:buFont typeface="Century"/>
              <a:buNone/>
            </a:pPr>
            <a:r>
              <a:rPr lang="en-US" sz="3200" b="1">
                <a:solidFill>
                  <a:srgbClr val="2E75B5"/>
                </a:solidFill>
                <a:latin typeface="Century"/>
                <a:ea typeface="Century"/>
                <a:cs typeface="Century"/>
                <a:sym typeface="Century"/>
              </a:rPr>
              <a:t>RECURSIVE FUNCTION - </a:t>
            </a:r>
            <a:r>
              <a:rPr lang="en-US" sz="3200" b="1">
                <a:solidFill>
                  <a:srgbClr val="C00000"/>
                </a:solidFill>
                <a:latin typeface="Century"/>
                <a:ea typeface="Century"/>
                <a:cs typeface="Century"/>
                <a:sym typeface="Century"/>
              </a:rPr>
              <a:t>RECURSION</a:t>
            </a:r>
            <a:endParaRPr/>
          </a:p>
        </p:txBody>
      </p:sp>
      <p:sp>
        <p:nvSpPr>
          <p:cNvPr id="568" name="Google Shape;568;p73"/>
          <p:cNvSpPr txBox="1">
            <a:spLocks noGrp="1"/>
          </p:cNvSpPr>
          <p:nvPr>
            <p:ph idx="1"/>
          </p:nvPr>
        </p:nvSpPr>
        <p:spPr>
          <a:xfrm>
            <a:off x="838200" y="1825625"/>
            <a:ext cx="9823704"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305C"/>
              </a:buClr>
              <a:buSzPts val="2800"/>
              <a:buNone/>
            </a:pPr>
            <a:r>
              <a:rPr lang="en-US" sz="3200" dirty="0">
                <a:latin typeface="Century"/>
                <a:ea typeface="Century"/>
                <a:cs typeface="Century"/>
                <a:sym typeface="Century"/>
              </a:rPr>
              <a:t>A function that calls </a:t>
            </a:r>
            <a:r>
              <a:rPr lang="en-US" sz="3200" b="1" i="1" dirty="0">
                <a:solidFill>
                  <a:srgbClr val="FF0000"/>
                </a:solidFill>
                <a:latin typeface="Century"/>
                <a:ea typeface="Century"/>
                <a:cs typeface="Century"/>
                <a:sym typeface="Century"/>
              </a:rPr>
              <a:t>itself</a:t>
            </a:r>
            <a:r>
              <a:rPr lang="en-US" sz="3200" dirty="0">
                <a:latin typeface="Century"/>
                <a:ea typeface="Century"/>
                <a:cs typeface="Century"/>
                <a:sym typeface="Century"/>
              </a:rPr>
              <a:t>  is known as a </a:t>
            </a:r>
            <a:r>
              <a:rPr lang="en-US" sz="3200" b="1" i="1" dirty="0">
                <a:solidFill>
                  <a:srgbClr val="323F4F"/>
                </a:solidFill>
                <a:latin typeface="Century"/>
                <a:ea typeface="Century"/>
                <a:cs typeface="Century"/>
                <a:sym typeface="Century"/>
              </a:rPr>
              <a:t>recursive </a:t>
            </a:r>
            <a:endParaRPr sz="3200" dirty="0"/>
          </a:p>
          <a:p>
            <a:pPr marL="228600" lvl="0" indent="-228600" algn="l" rtl="0">
              <a:lnSpc>
                <a:spcPct val="90000"/>
              </a:lnSpc>
              <a:spcBef>
                <a:spcPts val="1000"/>
              </a:spcBef>
              <a:spcAft>
                <a:spcPts val="0"/>
              </a:spcAft>
              <a:buClr>
                <a:srgbClr val="323F4F"/>
              </a:buClr>
              <a:buSzPts val="2800"/>
              <a:buNone/>
            </a:pPr>
            <a:r>
              <a:rPr lang="en-US" sz="3200" b="1" i="1" dirty="0">
                <a:solidFill>
                  <a:srgbClr val="323F4F"/>
                </a:solidFill>
                <a:latin typeface="Century"/>
                <a:ea typeface="Century"/>
                <a:cs typeface="Century"/>
                <a:sym typeface="Century"/>
              </a:rPr>
              <a:t>function</a:t>
            </a:r>
            <a:r>
              <a:rPr lang="en-US" sz="3200" dirty="0">
                <a:latin typeface="Century"/>
                <a:ea typeface="Century"/>
                <a:cs typeface="Century"/>
                <a:sym typeface="Century"/>
              </a:rPr>
              <a:t>. This technique is known as </a:t>
            </a:r>
            <a:r>
              <a:rPr lang="en-US" sz="3200" b="1" i="1" dirty="0">
                <a:solidFill>
                  <a:srgbClr val="C00000"/>
                </a:solidFill>
                <a:latin typeface="Century"/>
                <a:ea typeface="Century"/>
                <a:cs typeface="Century"/>
                <a:sym typeface="Century"/>
              </a:rPr>
              <a:t>recursion</a:t>
            </a:r>
            <a:r>
              <a:rPr lang="en-US" sz="3200" dirty="0">
                <a:latin typeface="Century"/>
                <a:ea typeface="Century"/>
                <a:cs typeface="Century"/>
                <a:sym typeface="Century"/>
              </a:rPr>
              <a:t>.</a:t>
            </a:r>
            <a:endParaRPr sz="3200" dirty="0"/>
          </a:p>
        </p:txBody>
      </p:sp>
      <p:sp>
        <p:nvSpPr>
          <p:cNvPr id="570" name="Google Shape;570;p73"/>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74"/>
          <p:cNvSpPr txBox="1">
            <a:spLocks noGrp="1"/>
          </p:cNvSpPr>
          <p:nvPr>
            <p:ph type="title"/>
          </p:nvPr>
        </p:nvSpPr>
        <p:spPr>
          <a:xfrm>
            <a:off x="808658" y="-109947"/>
            <a:ext cx="9853246" cy="103060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2"/>
              </a:buClr>
              <a:buSzPts val="4400"/>
              <a:buFont typeface="Century"/>
              <a:buNone/>
            </a:pPr>
            <a:r>
              <a:rPr lang="en-US" sz="4200" b="1" dirty="0">
                <a:solidFill>
                  <a:schemeClr val="dk2"/>
                </a:solidFill>
                <a:latin typeface="Century"/>
                <a:ea typeface="Century"/>
                <a:cs typeface="Century"/>
                <a:sym typeface="Century"/>
              </a:rPr>
              <a:t/>
            </a:r>
            <a:br>
              <a:rPr lang="en-US" sz="4200" b="1" dirty="0">
                <a:solidFill>
                  <a:schemeClr val="dk2"/>
                </a:solidFill>
                <a:latin typeface="Century"/>
                <a:ea typeface="Century"/>
                <a:cs typeface="Century"/>
                <a:sym typeface="Century"/>
              </a:rPr>
            </a:br>
            <a:r>
              <a:rPr lang="en-US" sz="4200" b="1" dirty="0">
                <a:solidFill>
                  <a:schemeClr val="dk2"/>
                </a:solidFill>
                <a:latin typeface="Century"/>
                <a:ea typeface="Century"/>
                <a:cs typeface="Century"/>
                <a:sym typeface="Century"/>
              </a:rPr>
              <a:t>HOW DOES RECURSION WORKS?</a:t>
            </a:r>
            <a:endParaRPr sz="4200" dirty="0"/>
          </a:p>
        </p:txBody>
      </p:sp>
      <p:pic>
        <p:nvPicPr>
          <p:cNvPr id="576" name="Google Shape;576;p74" descr="recursion-works.png"/>
          <p:cNvPicPr preferRelativeResize="0">
            <a:picLocks noGrp="1"/>
          </p:cNvPicPr>
          <p:nvPr>
            <p:ph idx="1"/>
          </p:nvPr>
        </p:nvPicPr>
        <p:blipFill rotWithShape="1">
          <a:blip r:embed="rId3">
            <a:alphaModFix/>
          </a:blip>
          <a:srcRect/>
          <a:stretch/>
        </p:blipFill>
        <p:spPr>
          <a:xfrm>
            <a:off x="2660904" y="1086441"/>
            <a:ext cx="6629400" cy="2860432"/>
          </a:xfrm>
          <a:prstGeom prst="rect">
            <a:avLst/>
          </a:prstGeom>
          <a:noFill/>
          <a:ln>
            <a:noFill/>
          </a:ln>
        </p:spPr>
      </p:pic>
      <p:sp>
        <p:nvSpPr>
          <p:cNvPr id="579" name="Google Shape;579;p74"/>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50</a:t>
            </a:fld>
            <a:endParaRPr/>
          </a:p>
        </p:txBody>
      </p:sp>
      <p:sp>
        <p:nvSpPr>
          <p:cNvPr id="577" name="Google Shape;577;p74"/>
          <p:cNvSpPr txBox="1"/>
          <p:nvPr/>
        </p:nvSpPr>
        <p:spPr>
          <a:xfrm>
            <a:off x="773723" y="4377128"/>
            <a:ext cx="9853245" cy="13944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dk2"/>
                </a:solidFill>
                <a:latin typeface="Times New Roman"/>
                <a:ea typeface="Times New Roman"/>
                <a:cs typeface="Times New Roman"/>
                <a:sym typeface="Times New Roman"/>
              </a:rPr>
              <a:t>Note :</a:t>
            </a:r>
            <a:r>
              <a:rPr lang="en-US" sz="2000" b="1" i="1" dirty="0">
                <a:solidFill>
                  <a:schemeClr val="dk1"/>
                </a:solidFill>
                <a:latin typeface="Times New Roman"/>
                <a:ea typeface="Times New Roman"/>
                <a:cs typeface="Times New Roman"/>
                <a:sym typeface="Times New Roman"/>
              </a:rPr>
              <a:t>The recursion continues until some condition is met to prevent it.</a:t>
            </a:r>
            <a:endParaRPr dirty="0"/>
          </a:p>
          <a:p>
            <a:pPr marL="0" marR="0" lvl="0" indent="0" algn="l" rtl="0">
              <a:spcBef>
                <a:spcPts val="0"/>
              </a:spcBef>
              <a:spcAft>
                <a:spcPts val="0"/>
              </a:spcAft>
              <a:buNone/>
            </a:pPr>
            <a:r>
              <a:rPr lang="en-US" sz="2000" b="1" i="1" dirty="0">
                <a:solidFill>
                  <a:schemeClr val="dk1"/>
                </a:solidFill>
                <a:latin typeface="Times New Roman"/>
                <a:ea typeface="Times New Roman"/>
                <a:cs typeface="Times New Roman"/>
                <a:sym typeface="Times New Roman"/>
              </a:rPr>
              <a:t>To prevent infinite recursion, if...else statement (or similar approach) can be used where one branch makes the recursive call, and other doesn't.</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75"/>
          <p:cNvSpPr txBox="1">
            <a:spLocks noGrp="1"/>
          </p:cNvSpPr>
          <p:nvPr>
            <p:ph type="title"/>
          </p:nvPr>
        </p:nvSpPr>
        <p:spPr>
          <a:xfrm>
            <a:off x="562708" y="304799"/>
            <a:ext cx="10099196" cy="103163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2"/>
              </a:buClr>
              <a:buSzPts val="3200"/>
              <a:buFont typeface="Century"/>
              <a:buNone/>
            </a:pPr>
            <a:r>
              <a:rPr lang="en-US" sz="3200" b="1" dirty="0">
                <a:solidFill>
                  <a:schemeClr val="dk2"/>
                </a:solidFill>
                <a:latin typeface="Century"/>
                <a:ea typeface="Century"/>
                <a:cs typeface="Century"/>
                <a:sym typeface="Century"/>
              </a:rPr>
              <a:t/>
            </a:r>
            <a:br>
              <a:rPr lang="en-US" sz="3200" b="1" dirty="0">
                <a:solidFill>
                  <a:schemeClr val="dk2"/>
                </a:solidFill>
                <a:latin typeface="Century"/>
                <a:ea typeface="Century"/>
                <a:cs typeface="Century"/>
                <a:sym typeface="Century"/>
              </a:rPr>
            </a:br>
            <a:r>
              <a:rPr lang="en-US" sz="3200" b="1" dirty="0">
                <a:solidFill>
                  <a:schemeClr val="dk2"/>
                </a:solidFill>
                <a:latin typeface="Century"/>
                <a:ea typeface="Century"/>
                <a:cs typeface="Century"/>
                <a:sym typeface="Century"/>
              </a:rPr>
              <a:t>PROGRAM EXAMPLE </a:t>
            </a:r>
            <a:br>
              <a:rPr lang="en-US" sz="3200" b="1" dirty="0">
                <a:solidFill>
                  <a:schemeClr val="dk2"/>
                </a:solidFill>
                <a:latin typeface="Century"/>
                <a:ea typeface="Century"/>
                <a:cs typeface="Century"/>
                <a:sym typeface="Century"/>
              </a:rPr>
            </a:br>
            <a:r>
              <a:rPr lang="en-US" sz="3200" b="1" dirty="0">
                <a:solidFill>
                  <a:srgbClr val="C00000"/>
                </a:solidFill>
                <a:latin typeface="Century"/>
                <a:ea typeface="Century"/>
                <a:cs typeface="Century"/>
                <a:sym typeface="Century"/>
              </a:rPr>
              <a:t>To find the factorial of a number n</a:t>
            </a:r>
            <a:endParaRPr dirty="0"/>
          </a:p>
        </p:txBody>
      </p:sp>
      <p:sp>
        <p:nvSpPr>
          <p:cNvPr id="585" name="Google Shape;585;p75"/>
          <p:cNvSpPr txBox="1">
            <a:spLocks noGrp="1"/>
          </p:cNvSpPr>
          <p:nvPr>
            <p:ph idx="1"/>
          </p:nvPr>
        </p:nvSpPr>
        <p:spPr>
          <a:xfrm>
            <a:off x="534572" y="1548828"/>
            <a:ext cx="9853612" cy="4795701"/>
          </a:xfrm>
          <a:prstGeom prst="rect">
            <a:avLst/>
          </a:prstGeom>
          <a:solidFill>
            <a:schemeClr val="lt2"/>
          </a:solid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#include&lt;stdio.h&gt; </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long int fact(int n);   </a:t>
            </a:r>
            <a:r>
              <a:rPr lang="en-US" sz="1800" b="1" dirty="0">
                <a:solidFill>
                  <a:srgbClr val="0C0C0C"/>
                </a:solidFill>
                <a:latin typeface="Times New Roman"/>
                <a:ea typeface="Times New Roman"/>
                <a:cs typeface="Times New Roman"/>
                <a:sym typeface="Times New Roman"/>
              </a:rPr>
              <a:t>// Function Declaration</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int main()</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int n; </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a:t>
            </a:r>
            <a:r>
              <a:rPr lang="en-US" sz="1800" dirty="0" err="1">
                <a:solidFill>
                  <a:srgbClr val="0C0C0C"/>
                </a:solidFill>
                <a:latin typeface="Times New Roman"/>
                <a:ea typeface="Times New Roman"/>
                <a:cs typeface="Times New Roman"/>
                <a:sym typeface="Times New Roman"/>
              </a:rPr>
              <a:t>printf</a:t>
            </a:r>
            <a:r>
              <a:rPr lang="en-US" sz="1800" dirty="0">
                <a:solidFill>
                  <a:srgbClr val="0C0C0C"/>
                </a:solidFill>
                <a:latin typeface="Times New Roman"/>
                <a:ea typeface="Times New Roman"/>
                <a:cs typeface="Times New Roman"/>
                <a:sym typeface="Times New Roman"/>
              </a:rPr>
              <a:t>("Enter a positive integer: "); </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a:t>
            </a:r>
            <a:r>
              <a:rPr lang="en-US" sz="1800" dirty="0" err="1">
                <a:solidFill>
                  <a:srgbClr val="0C0C0C"/>
                </a:solidFill>
                <a:latin typeface="Times New Roman"/>
                <a:ea typeface="Times New Roman"/>
                <a:cs typeface="Times New Roman"/>
                <a:sym typeface="Times New Roman"/>
              </a:rPr>
              <a:t>scanf</a:t>
            </a:r>
            <a:r>
              <a:rPr lang="en-US" sz="1800" dirty="0">
                <a:solidFill>
                  <a:srgbClr val="0C0C0C"/>
                </a:solidFill>
                <a:latin typeface="Times New Roman"/>
                <a:ea typeface="Times New Roman"/>
                <a:cs typeface="Times New Roman"/>
                <a:sym typeface="Times New Roman"/>
              </a:rPr>
              <a:t>("%</a:t>
            </a:r>
            <a:r>
              <a:rPr lang="en-US" sz="1800" dirty="0" err="1">
                <a:solidFill>
                  <a:srgbClr val="0C0C0C"/>
                </a:solidFill>
                <a:latin typeface="Times New Roman"/>
                <a:ea typeface="Times New Roman"/>
                <a:cs typeface="Times New Roman"/>
                <a:sym typeface="Times New Roman"/>
              </a:rPr>
              <a:t>d",&amp;n</a:t>
            </a:r>
            <a:r>
              <a:rPr lang="en-US" sz="1800" dirty="0">
                <a:solidFill>
                  <a:srgbClr val="0C0C0C"/>
                </a:solidFill>
                <a:latin typeface="Times New Roman"/>
                <a:ea typeface="Times New Roman"/>
                <a:cs typeface="Times New Roman"/>
                <a:sym typeface="Times New Roman"/>
              </a:rPr>
              <a:t>); </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a:t>
            </a:r>
            <a:r>
              <a:rPr lang="en-US" sz="1800" dirty="0" err="1">
                <a:solidFill>
                  <a:srgbClr val="0C0C0C"/>
                </a:solidFill>
                <a:latin typeface="Times New Roman"/>
                <a:ea typeface="Times New Roman"/>
                <a:cs typeface="Times New Roman"/>
                <a:sym typeface="Times New Roman"/>
              </a:rPr>
              <a:t>printf</a:t>
            </a:r>
            <a:r>
              <a:rPr lang="en-US" sz="1800" dirty="0">
                <a:solidFill>
                  <a:srgbClr val="0C0C0C"/>
                </a:solidFill>
                <a:latin typeface="Times New Roman"/>
                <a:ea typeface="Times New Roman"/>
                <a:cs typeface="Times New Roman"/>
                <a:sym typeface="Times New Roman"/>
              </a:rPr>
              <a:t>("Factorial of %d = %</a:t>
            </a:r>
            <a:r>
              <a:rPr lang="en-US" sz="1800" dirty="0" err="1">
                <a:solidFill>
                  <a:srgbClr val="0C0C0C"/>
                </a:solidFill>
                <a:latin typeface="Times New Roman"/>
                <a:ea typeface="Times New Roman"/>
                <a:cs typeface="Times New Roman"/>
                <a:sym typeface="Times New Roman"/>
              </a:rPr>
              <a:t>ld</a:t>
            </a:r>
            <a:r>
              <a:rPr lang="en-US" sz="1800" dirty="0">
                <a:solidFill>
                  <a:srgbClr val="0C0C0C"/>
                </a:solidFill>
                <a:latin typeface="Times New Roman"/>
                <a:ea typeface="Times New Roman"/>
                <a:cs typeface="Times New Roman"/>
                <a:sym typeface="Times New Roman"/>
              </a:rPr>
              <a:t>", n, fact(n)); </a:t>
            </a:r>
            <a:r>
              <a:rPr lang="en-US" sz="1800" b="1" dirty="0">
                <a:solidFill>
                  <a:srgbClr val="0C0C0C"/>
                </a:solidFill>
                <a:latin typeface="Times New Roman"/>
                <a:ea typeface="Times New Roman"/>
                <a:cs typeface="Times New Roman"/>
                <a:sym typeface="Times New Roman"/>
              </a:rPr>
              <a:t>// Function Call</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return 0; </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 </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long int fact(int n)  </a:t>
            </a:r>
            <a:r>
              <a:rPr lang="en-US" sz="1800" b="1" dirty="0">
                <a:solidFill>
                  <a:srgbClr val="0C0C0C"/>
                </a:solidFill>
                <a:latin typeface="Times New Roman"/>
                <a:ea typeface="Times New Roman"/>
                <a:cs typeface="Times New Roman"/>
                <a:sym typeface="Times New Roman"/>
              </a:rPr>
              <a:t>// Function Definition</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if (n ==1)</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return 1;</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else </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return n*fact(n-1);</a:t>
            </a:r>
            <a:endParaRPr dirty="0"/>
          </a:p>
          <a:p>
            <a:pPr marL="228600" lvl="0" indent="-228600" algn="l" rtl="0">
              <a:lnSpc>
                <a:spcPct val="100000"/>
              </a:lnSpc>
              <a:spcBef>
                <a:spcPts val="0"/>
              </a:spcBef>
              <a:spcAft>
                <a:spcPts val="0"/>
              </a:spcAft>
              <a:buClr>
                <a:srgbClr val="0C0C0C"/>
              </a:buClr>
              <a:buSzPts val="1800"/>
              <a:buNone/>
            </a:pPr>
            <a:r>
              <a:rPr lang="en-US" sz="1800" dirty="0">
                <a:solidFill>
                  <a:srgbClr val="0C0C0C"/>
                </a:solidFill>
                <a:latin typeface="Times New Roman"/>
                <a:ea typeface="Times New Roman"/>
                <a:cs typeface="Times New Roman"/>
                <a:sym typeface="Times New Roman"/>
              </a:rPr>
              <a:t> }</a:t>
            </a:r>
            <a:endParaRPr dirty="0"/>
          </a:p>
        </p:txBody>
      </p:sp>
      <p:sp>
        <p:nvSpPr>
          <p:cNvPr id="588" name="Google Shape;588;p75"/>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51</a:t>
            </a:fld>
            <a:endParaRPr/>
          </a:p>
        </p:txBody>
      </p:sp>
      <p:sp>
        <p:nvSpPr>
          <p:cNvPr id="586" name="Google Shape;586;p75"/>
          <p:cNvSpPr txBox="1"/>
          <p:nvPr/>
        </p:nvSpPr>
        <p:spPr>
          <a:xfrm>
            <a:off x="6360942" y="4943623"/>
            <a:ext cx="3505200" cy="1200329"/>
          </a:xfrm>
          <a:prstGeom prst="rect">
            <a:avLst/>
          </a:prstGeom>
          <a:solidFill>
            <a:srgbClr val="75707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a:ea typeface="Century"/>
                <a:cs typeface="Century"/>
                <a:sym typeface="Century"/>
              </a:rPr>
              <a:t>Output: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Enter a positive integer : 3</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Factorial of 3 = 6</a:t>
            </a:r>
            <a:endParaRPr sz="1800">
              <a:solidFill>
                <a:schemeClr val="dk1"/>
              </a:solidFill>
              <a:latin typeface="Century"/>
              <a:ea typeface="Century"/>
              <a:cs typeface="Century"/>
              <a:sym typeface="Century"/>
            </a:endParaRPr>
          </a:p>
          <a:p>
            <a:pPr marL="0" marR="0" lvl="0" indent="0" algn="l" rtl="0">
              <a:spcBef>
                <a:spcPts val="0"/>
              </a:spcBef>
              <a:spcAft>
                <a:spcPts val="0"/>
              </a:spcAft>
              <a:buNone/>
            </a:pPr>
            <a:endParaRPr sz="1800">
              <a:solidFill>
                <a:schemeClr val="dk1"/>
              </a:solidFill>
              <a:latin typeface="Century"/>
              <a:ea typeface="Century"/>
              <a:cs typeface="Century"/>
              <a:sym typeface="Century"/>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76"/>
          <p:cNvSpPr txBox="1">
            <a:spLocks noGrp="1"/>
          </p:cNvSpPr>
          <p:nvPr>
            <p:ph type="title"/>
          </p:nvPr>
        </p:nvSpPr>
        <p:spPr>
          <a:xfrm>
            <a:off x="838199" y="365125"/>
            <a:ext cx="9909517"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2"/>
              </a:buClr>
              <a:buSzPts val="4000"/>
              <a:buFont typeface="Century"/>
              <a:buNone/>
            </a:pPr>
            <a:r>
              <a:rPr lang="en-US" sz="4000" b="1">
                <a:solidFill>
                  <a:schemeClr val="dk2"/>
                </a:solidFill>
                <a:latin typeface="Century"/>
                <a:ea typeface="Century"/>
                <a:cs typeface="Century"/>
                <a:sym typeface="Century"/>
              </a:rPr>
              <a:t>RECURSION (Cont…)</a:t>
            </a:r>
            <a:br>
              <a:rPr lang="en-US" sz="4000" b="1">
                <a:solidFill>
                  <a:schemeClr val="dk2"/>
                </a:solidFill>
                <a:latin typeface="Century"/>
                <a:ea typeface="Century"/>
                <a:cs typeface="Century"/>
                <a:sym typeface="Century"/>
              </a:rPr>
            </a:br>
            <a:r>
              <a:rPr lang="en-US" sz="4000" b="1">
                <a:solidFill>
                  <a:schemeClr val="dk2"/>
                </a:solidFill>
                <a:latin typeface="Century"/>
                <a:ea typeface="Century"/>
                <a:cs typeface="Century"/>
                <a:sym typeface="Century"/>
              </a:rPr>
              <a:t>HOW DOES THE PROGRAM WORKS ?</a:t>
            </a:r>
            <a:endParaRPr/>
          </a:p>
        </p:txBody>
      </p:sp>
      <p:pic>
        <p:nvPicPr>
          <p:cNvPr id="594" name="Google Shape;594;p76" descr="Factorial Example works.jpg"/>
          <p:cNvPicPr preferRelativeResize="0">
            <a:picLocks noGrp="1"/>
          </p:cNvPicPr>
          <p:nvPr>
            <p:ph idx="1"/>
          </p:nvPr>
        </p:nvPicPr>
        <p:blipFill rotWithShape="1">
          <a:blip r:embed="rId3">
            <a:alphaModFix/>
          </a:blip>
          <a:srcRect/>
          <a:stretch/>
        </p:blipFill>
        <p:spPr>
          <a:xfrm>
            <a:off x="2438400" y="1752600"/>
            <a:ext cx="7696200" cy="4038600"/>
          </a:xfrm>
          <a:prstGeom prst="rect">
            <a:avLst/>
          </a:prstGeom>
          <a:noFill/>
          <a:ln>
            <a:noFill/>
          </a:ln>
        </p:spPr>
      </p:pic>
      <p:sp>
        <p:nvSpPr>
          <p:cNvPr id="596" name="Google Shape;596;p76"/>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77"/>
          <p:cNvSpPr txBox="1">
            <a:spLocks noGrp="1"/>
          </p:cNvSpPr>
          <p:nvPr>
            <p:ph type="title"/>
          </p:nvPr>
        </p:nvSpPr>
        <p:spPr>
          <a:xfrm>
            <a:off x="838200" y="1097280"/>
            <a:ext cx="8753856" cy="59340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305C"/>
              </a:buClr>
              <a:buSzPts val="3959"/>
              <a:buFont typeface="Century"/>
              <a:buNone/>
            </a:pPr>
            <a:r>
              <a:rPr lang="en-US" sz="3959" b="1">
                <a:latin typeface="Century"/>
                <a:ea typeface="Century"/>
                <a:cs typeface="Century"/>
                <a:sym typeface="Century"/>
              </a:rPr>
              <a:t>RECURSION  </a:t>
            </a:r>
            <a:br>
              <a:rPr lang="en-US" sz="3959" b="1">
                <a:latin typeface="Century"/>
                <a:ea typeface="Century"/>
                <a:cs typeface="Century"/>
                <a:sym typeface="Century"/>
              </a:rPr>
            </a:br>
            <a:r>
              <a:rPr lang="en-US" sz="3959" b="1">
                <a:latin typeface="Century"/>
                <a:ea typeface="Century"/>
                <a:cs typeface="Century"/>
                <a:sym typeface="Century"/>
              </a:rPr>
              <a:t>EXAMPLE 2</a:t>
            </a:r>
            <a:br>
              <a:rPr lang="en-US" sz="3959" b="1">
                <a:latin typeface="Century"/>
                <a:ea typeface="Century"/>
                <a:cs typeface="Century"/>
                <a:sym typeface="Century"/>
              </a:rPr>
            </a:br>
            <a:r>
              <a:rPr lang="en-US" sz="3959" b="1">
                <a:solidFill>
                  <a:srgbClr val="FF0000"/>
                </a:solidFill>
                <a:latin typeface="Century"/>
                <a:ea typeface="Century"/>
                <a:cs typeface="Century"/>
                <a:sym typeface="Century"/>
              </a:rPr>
              <a:t>Reverse a sentence using recursion</a:t>
            </a:r>
            <a:r>
              <a:rPr lang="en-US" sz="3959" b="1">
                <a:latin typeface="Century"/>
                <a:ea typeface="Century"/>
                <a:cs typeface="Century"/>
                <a:sym typeface="Century"/>
              </a:rPr>
              <a:t/>
            </a:r>
            <a:br>
              <a:rPr lang="en-US" sz="3959" b="1">
                <a:latin typeface="Century"/>
                <a:ea typeface="Century"/>
                <a:cs typeface="Century"/>
                <a:sym typeface="Century"/>
              </a:rPr>
            </a:br>
            <a:r>
              <a:rPr lang="en-US" sz="3959" b="1">
                <a:latin typeface="Century"/>
                <a:ea typeface="Century"/>
                <a:cs typeface="Century"/>
                <a:sym typeface="Century"/>
              </a:rPr>
              <a:t/>
            </a:r>
            <a:br>
              <a:rPr lang="en-US" sz="3959" b="1">
                <a:latin typeface="Century"/>
                <a:ea typeface="Century"/>
                <a:cs typeface="Century"/>
                <a:sym typeface="Century"/>
              </a:rPr>
            </a:br>
            <a:endParaRPr sz="3959" b="1">
              <a:latin typeface="Century"/>
              <a:ea typeface="Century"/>
              <a:cs typeface="Century"/>
              <a:sym typeface="Century"/>
            </a:endParaRPr>
          </a:p>
        </p:txBody>
      </p:sp>
      <p:sp>
        <p:nvSpPr>
          <p:cNvPr id="605" name="Google Shape;605;p77"/>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53</a:t>
            </a:fld>
            <a:endParaRPr/>
          </a:p>
        </p:txBody>
      </p:sp>
      <p:sp>
        <p:nvSpPr>
          <p:cNvPr id="603" name="Google Shape;603;p77"/>
          <p:cNvSpPr txBox="1"/>
          <p:nvPr/>
        </p:nvSpPr>
        <p:spPr>
          <a:xfrm>
            <a:off x="1111348" y="1856935"/>
            <a:ext cx="9594166" cy="4524315"/>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entury"/>
                <a:ea typeface="Century"/>
                <a:cs typeface="Century"/>
                <a:sym typeface="Century"/>
              </a:rPr>
              <a:t>#include &lt;</a:t>
            </a:r>
            <a:r>
              <a:rPr lang="en-US" sz="1800" dirty="0" err="1">
                <a:solidFill>
                  <a:schemeClr val="dk1"/>
                </a:solidFill>
                <a:latin typeface="Century"/>
                <a:ea typeface="Century"/>
                <a:cs typeface="Century"/>
                <a:sym typeface="Century"/>
              </a:rPr>
              <a:t>stdio.h</a:t>
            </a:r>
            <a:r>
              <a:rPr lang="en-US" sz="1800" dirty="0">
                <a:solidFill>
                  <a:schemeClr val="dk1"/>
                </a:solidFill>
                <a:latin typeface="Century"/>
                <a:ea typeface="Century"/>
                <a:cs typeface="Century"/>
                <a:sym typeface="Century"/>
              </a:rPr>
              <a:t>&gt;</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 void </a:t>
            </a:r>
            <a:r>
              <a:rPr lang="en-US" sz="1800" dirty="0" err="1">
                <a:solidFill>
                  <a:schemeClr val="dk1"/>
                </a:solidFill>
                <a:latin typeface="Century"/>
                <a:ea typeface="Century"/>
                <a:cs typeface="Century"/>
                <a:sym typeface="Century"/>
              </a:rPr>
              <a:t>reverseSentence</a:t>
            </a:r>
            <a:r>
              <a:rPr lang="en-US" sz="1800" dirty="0">
                <a:solidFill>
                  <a:schemeClr val="dk1"/>
                </a:solidFill>
                <a:latin typeface="Century"/>
                <a:ea typeface="Century"/>
                <a:cs typeface="Century"/>
                <a:sym typeface="Century"/>
              </a:rPr>
              <a:t>();</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 int main()</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 { </a:t>
            </a:r>
            <a:endParaRPr dirty="0"/>
          </a:p>
          <a:p>
            <a:pPr marL="0" marR="0" lvl="0" indent="0" algn="l" rtl="0">
              <a:spcBef>
                <a:spcPts val="0"/>
              </a:spcBef>
              <a:spcAft>
                <a:spcPts val="0"/>
              </a:spcAft>
              <a:buNone/>
            </a:pPr>
            <a:r>
              <a:rPr lang="en-US" sz="1800" dirty="0" err="1">
                <a:solidFill>
                  <a:schemeClr val="dk1"/>
                </a:solidFill>
                <a:latin typeface="Century"/>
                <a:ea typeface="Century"/>
                <a:cs typeface="Century"/>
                <a:sym typeface="Century"/>
              </a:rPr>
              <a:t>printf</a:t>
            </a:r>
            <a:r>
              <a:rPr lang="en-US" sz="1800" dirty="0">
                <a:solidFill>
                  <a:schemeClr val="dk1"/>
                </a:solidFill>
                <a:latin typeface="Century"/>
                <a:ea typeface="Century"/>
                <a:cs typeface="Century"/>
                <a:sym typeface="Century"/>
              </a:rPr>
              <a:t>("Enter a sentence: "); </a:t>
            </a:r>
          </a:p>
          <a:p>
            <a:pPr marL="0" marR="0" lvl="0" indent="0" algn="l" rtl="0">
              <a:spcBef>
                <a:spcPts val="0"/>
              </a:spcBef>
              <a:spcAft>
                <a:spcPts val="0"/>
              </a:spcAft>
              <a:buNone/>
            </a:pPr>
            <a:r>
              <a:rPr lang="en-US" sz="1800" dirty="0" err="1">
                <a:solidFill>
                  <a:schemeClr val="dk1"/>
                </a:solidFill>
                <a:latin typeface="Century"/>
                <a:ea typeface="Century"/>
                <a:cs typeface="Century"/>
                <a:sym typeface="Century"/>
              </a:rPr>
              <a:t>reverseSentence</a:t>
            </a:r>
            <a:r>
              <a:rPr lang="en-US" sz="1800" dirty="0">
                <a:solidFill>
                  <a:schemeClr val="dk1"/>
                </a:solidFill>
                <a:latin typeface="Century"/>
                <a:ea typeface="Century"/>
                <a:cs typeface="Century"/>
                <a:sym typeface="Century"/>
              </a:rPr>
              <a:t>(); </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return 0; </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 </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void </a:t>
            </a:r>
            <a:r>
              <a:rPr lang="en-US" sz="1800" dirty="0" err="1">
                <a:solidFill>
                  <a:schemeClr val="dk1"/>
                </a:solidFill>
                <a:latin typeface="Century"/>
                <a:ea typeface="Century"/>
                <a:cs typeface="Century"/>
                <a:sym typeface="Century"/>
              </a:rPr>
              <a:t>reverseSentence</a:t>
            </a:r>
            <a:r>
              <a:rPr lang="en-US" sz="1800" dirty="0">
                <a:solidFill>
                  <a:schemeClr val="dk1"/>
                </a:solidFill>
                <a:latin typeface="Century"/>
                <a:ea typeface="Century"/>
                <a:cs typeface="Century"/>
                <a:sym typeface="Century"/>
              </a:rPr>
              <a:t>() </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 char c; </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 </a:t>
            </a:r>
            <a:r>
              <a:rPr lang="en-US" sz="1800" dirty="0" err="1">
                <a:solidFill>
                  <a:schemeClr val="dk1"/>
                </a:solidFill>
                <a:latin typeface="Century"/>
                <a:ea typeface="Century"/>
                <a:cs typeface="Century"/>
                <a:sym typeface="Century"/>
              </a:rPr>
              <a:t>scanf</a:t>
            </a:r>
            <a:r>
              <a:rPr lang="en-US" sz="1800" dirty="0">
                <a:solidFill>
                  <a:schemeClr val="dk1"/>
                </a:solidFill>
                <a:latin typeface="Century"/>
                <a:ea typeface="Century"/>
                <a:cs typeface="Century"/>
                <a:sym typeface="Century"/>
              </a:rPr>
              <a:t>("%c", &amp;c); </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if (c != '\n')</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 { </a:t>
            </a:r>
            <a:endParaRPr dirty="0"/>
          </a:p>
          <a:p>
            <a:pPr marL="0" marR="0" lvl="0" indent="0" algn="l" rtl="0">
              <a:spcBef>
                <a:spcPts val="0"/>
              </a:spcBef>
              <a:spcAft>
                <a:spcPts val="0"/>
              </a:spcAft>
              <a:buNone/>
            </a:pPr>
            <a:r>
              <a:rPr lang="en-US" sz="1800" dirty="0" err="1">
                <a:solidFill>
                  <a:schemeClr val="dk1"/>
                </a:solidFill>
                <a:latin typeface="Century"/>
                <a:ea typeface="Century"/>
                <a:cs typeface="Century"/>
                <a:sym typeface="Century"/>
              </a:rPr>
              <a:t>reverseSentence</a:t>
            </a:r>
            <a:r>
              <a:rPr lang="en-US" sz="1800" dirty="0">
                <a:solidFill>
                  <a:schemeClr val="dk1"/>
                </a:solidFill>
                <a:latin typeface="Century"/>
                <a:ea typeface="Century"/>
                <a:cs typeface="Century"/>
                <a:sym typeface="Century"/>
              </a:rPr>
              <a:t>(); </a:t>
            </a:r>
            <a:endParaRPr dirty="0"/>
          </a:p>
          <a:p>
            <a:pPr marL="0" marR="0" lvl="0" indent="0" algn="l" rtl="0">
              <a:spcBef>
                <a:spcPts val="0"/>
              </a:spcBef>
              <a:spcAft>
                <a:spcPts val="0"/>
              </a:spcAft>
              <a:buNone/>
            </a:pPr>
            <a:r>
              <a:rPr lang="en-US" sz="1800" dirty="0" err="1">
                <a:solidFill>
                  <a:schemeClr val="dk1"/>
                </a:solidFill>
                <a:latin typeface="Century"/>
                <a:ea typeface="Century"/>
                <a:cs typeface="Century"/>
                <a:sym typeface="Century"/>
              </a:rPr>
              <a:t>printf</a:t>
            </a:r>
            <a:r>
              <a:rPr lang="en-US" sz="1800" dirty="0">
                <a:solidFill>
                  <a:schemeClr val="dk1"/>
                </a:solidFill>
                <a:latin typeface="Century"/>
                <a:ea typeface="Century"/>
                <a:cs typeface="Century"/>
                <a:sym typeface="Century"/>
              </a:rPr>
              <a:t>("%c", c);</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 }</a:t>
            </a:r>
            <a:endParaRPr dirty="0"/>
          </a:p>
          <a:p>
            <a:pPr marL="0" marR="0" lvl="0" indent="0" algn="l" rtl="0">
              <a:spcBef>
                <a:spcPts val="0"/>
              </a:spcBef>
              <a:spcAft>
                <a:spcPts val="0"/>
              </a:spcAft>
              <a:buNone/>
            </a:pPr>
            <a:r>
              <a:rPr lang="en-US" sz="1800" dirty="0">
                <a:solidFill>
                  <a:schemeClr val="dk1"/>
                </a:solidFill>
                <a:latin typeface="Century"/>
                <a:ea typeface="Century"/>
                <a:cs typeface="Century"/>
                <a:sym typeface="Century"/>
              </a:rPr>
              <a:t>}</a:t>
            </a:r>
            <a:endParaRPr sz="1800" dirty="0">
              <a:solidFill>
                <a:schemeClr val="dk1"/>
              </a:solidFill>
              <a:latin typeface="Century"/>
              <a:ea typeface="Century"/>
              <a:cs typeface="Century"/>
              <a:sym typeface="Century"/>
            </a:endParaRPr>
          </a:p>
        </p:txBody>
      </p:sp>
      <p:sp>
        <p:nvSpPr>
          <p:cNvPr id="604" name="Google Shape;604;p77"/>
          <p:cNvSpPr txBox="1"/>
          <p:nvPr/>
        </p:nvSpPr>
        <p:spPr>
          <a:xfrm>
            <a:off x="6344529" y="2250831"/>
            <a:ext cx="4107766" cy="923330"/>
          </a:xfrm>
          <a:prstGeom prst="rect">
            <a:avLst/>
          </a:prstGeom>
          <a:solidFill>
            <a:srgbClr val="AEABA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entury"/>
                <a:ea typeface="Century"/>
                <a:cs typeface="Century"/>
                <a:sym typeface="Century"/>
              </a:rPr>
              <a:t>Output:</a:t>
            </a:r>
            <a:endParaRPr/>
          </a:p>
          <a:p>
            <a:pPr marL="0" marR="0" lvl="0" indent="0" algn="l" rtl="0">
              <a:spcBef>
                <a:spcPts val="0"/>
              </a:spcBef>
              <a:spcAft>
                <a:spcPts val="0"/>
              </a:spcAft>
              <a:buNone/>
            </a:pPr>
            <a:r>
              <a:rPr lang="en-US" sz="1800">
                <a:solidFill>
                  <a:schemeClr val="dk1"/>
                </a:solidFill>
                <a:latin typeface="Century"/>
                <a:ea typeface="Century"/>
                <a:cs typeface="Century"/>
                <a:sym typeface="Century"/>
              </a:rPr>
              <a:t>Enter a sentence: margorp emosewa awesome program</a:t>
            </a:r>
            <a:endParaRPr sz="1800">
              <a:solidFill>
                <a:schemeClr val="dk1"/>
              </a:solidFill>
              <a:latin typeface="Century"/>
              <a:ea typeface="Century"/>
              <a:cs typeface="Century"/>
              <a:sym typeface="Century"/>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78"/>
          <p:cNvSpPr txBox="1">
            <a:spLocks noGrp="1"/>
          </p:cNvSpPr>
          <p:nvPr>
            <p:ph type="title"/>
          </p:nvPr>
        </p:nvSpPr>
        <p:spPr>
          <a:xfrm>
            <a:off x="838200" y="365125"/>
            <a:ext cx="8753856"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305C"/>
              </a:buClr>
              <a:buSzPts val="4400"/>
              <a:buFont typeface="Century"/>
              <a:buNone/>
            </a:pPr>
            <a:r>
              <a:rPr lang="en-US" b="1">
                <a:latin typeface="Century"/>
                <a:ea typeface="Century"/>
                <a:cs typeface="Century"/>
                <a:sym typeface="Century"/>
              </a:rPr>
              <a:t>PROGRAM FOR PRACTICE</a:t>
            </a:r>
            <a:endParaRPr b="1">
              <a:latin typeface="Century"/>
              <a:ea typeface="Century"/>
              <a:cs typeface="Century"/>
              <a:sym typeface="Century"/>
            </a:endParaRPr>
          </a:p>
        </p:txBody>
      </p:sp>
      <p:sp>
        <p:nvSpPr>
          <p:cNvPr id="611" name="Google Shape;611;p78"/>
          <p:cNvSpPr txBox="1">
            <a:spLocks noGrp="1"/>
          </p:cNvSpPr>
          <p:nvPr>
            <p:ph idx="1"/>
          </p:nvPr>
        </p:nvSpPr>
        <p:spPr>
          <a:xfrm>
            <a:off x="838200" y="1825625"/>
            <a:ext cx="9823704" cy="4351338"/>
          </a:xfrm>
          <a:prstGeom prst="rect">
            <a:avLst/>
          </a:prstGeom>
          <a:noFill/>
          <a:ln>
            <a:noFill/>
          </a:ln>
        </p:spPr>
        <p:txBody>
          <a:bodyPr spcFirstLastPara="1" wrap="square" lIns="91425" tIns="45700" rIns="91425" bIns="45700" anchor="t" anchorCtr="0">
            <a:noAutofit/>
          </a:bodyPr>
          <a:lstStyle/>
          <a:p>
            <a:pPr marL="514350" lvl="0" indent="-514350" algn="l" rtl="0">
              <a:lnSpc>
                <a:spcPct val="90000"/>
              </a:lnSpc>
              <a:spcBef>
                <a:spcPts val="0"/>
              </a:spcBef>
              <a:spcAft>
                <a:spcPts val="0"/>
              </a:spcAft>
              <a:buClr>
                <a:srgbClr val="171616"/>
              </a:buClr>
              <a:buSzPts val="2800"/>
              <a:buAutoNum type="arabicPeriod"/>
            </a:pPr>
            <a:r>
              <a:rPr lang="en-US" dirty="0">
                <a:solidFill>
                  <a:srgbClr val="171616"/>
                </a:solidFill>
                <a:latin typeface="Century"/>
                <a:ea typeface="Century"/>
                <a:cs typeface="Century"/>
                <a:sym typeface="Century"/>
              </a:rPr>
              <a:t>Write a C program to find sum of digits of a given   </a:t>
            </a:r>
            <a:endParaRPr dirty="0"/>
          </a:p>
          <a:p>
            <a:pPr marL="514350" lvl="0" indent="-514350" algn="l" rtl="0">
              <a:lnSpc>
                <a:spcPct val="90000"/>
              </a:lnSpc>
              <a:spcBef>
                <a:spcPts val="1000"/>
              </a:spcBef>
              <a:spcAft>
                <a:spcPts val="0"/>
              </a:spcAft>
              <a:buClr>
                <a:srgbClr val="171616"/>
              </a:buClr>
              <a:buSzPts val="2800"/>
              <a:buNone/>
            </a:pPr>
            <a:r>
              <a:rPr lang="en-US" dirty="0">
                <a:solidFill>
                  <a:srgbClr val="171616"/>
                </a:solidFill>
                <a:latin typeface="Century"/>
                <a:ea typeface="Century"/>
                <a:cs typeface="Century"/>
                <a:sym typeface="Century"/>
              </a:rPr>
              <a:t>     number using recursion.</a:t>
            </a:r>
            <a:endParaRPr dirty="0"/>
          </a:p>
          <a:p>
            <a:pPr marL="514350" lvl="0" indent="-514350" algn="l" rtl="0">
              <a:lnSpc>
                <a:spcPct val="90000"/>
              </a:lnSpc>
              <a:spcBef>
                <a:spcPts val="1000"/>
              </a:spcBef>
              <a:spcAft>
                <a:spcPts val="0"/>
              </a:spcAft>
              <a:buClr>
                <a:srgbClr val="171616"/>
              </a:buClr>
              <a:buSzPts val="2800"/>
              <a:buNone/>
            </a:pPr>
            <a:r>
              <a:rPr lang="en-US" dirty="0">
                <a:solidFill>
                  <a:srgbClr val="171616"/>
                </a:solidFill>
                <a:latin typeface="Century"/>
                <a:ea typeface="Century"/>
                <a:cs typeface="Century"/>
                <a:sym typeface="Century"/>
              </a:rPr>
              <a:t>2. Write a C program to generate nth Fibonacci term using  recursion.</a:t>
            </a:r>
            <a:endParaRPr dirty="0"/>
          </a:p>
        </p:txBody>
      </p:sp>
      <p:sp>
        <p:nvSpPr>
          <p:cNvPr id="613" name="Google Shape;613;p78"/>
          <p:cNvSpPr txBox="1">
            <a:spLocks noGrp="1"/>
          </p:cNvSpPr>
          <p:nvPr>
            <p:ph type="sldNum" sz="quarter" idx="12"/>
          </p:nvPr>
        </p:nvSpPr>
        <p:spPr>
          <a:xfrm>
            <a:off x="7918704"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54</a:t>
            </a:fld>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emplate>
  <TotalTime>103</TotalTime>
  <Words>3505</Words>
  <Application>Microsoft Office PowerPoint</Application>
  <PresentationFormat>Custom</PresentationFormat>
  <Paragraphs>682</Paragraphs>
  <Slides>54</Slides>
  <Notes>42</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Adjacency</vt:lpstr>
      <vt:lpstr>FUNCTIONS  &amp; STORAGE CLASSES</vt:lpstr>
      <vt:lpstr>FUNCTIONS – AN INTRODUCTION </vt:lpstr>
      <vt:lpstr>  TYPES OF FUNCTIONS</vt:lpstr>
      <vt:lpstr>TYPES OF FUNCTIONS (Cont…) </vt:lpstr>
      <vt:lpstr>TYPES OF FUNCTIONS  (Cont…) </vt:lpstr>
      <vt:lpstr>ADVANTAGES OF FUNCTIONS</vt:lpstr>
      <vt:lpstr>DEFINING A FUNCTION</vt:lpstr>
      <vt:lpstr>DEFINING A FUNCTION - Example</vt:lpstr>
      <vt:lpstr>HOW TO USE USER DEFINED FUNCTION ?  </vt:lpstr>
      <vt:lpstr>FUNCTION DECLARATION / PROTOTYPE :</vt:lpstr>
      <vt:lpstr>EXAMPLE</vt:lpstr>
      <vt:lpstr>FUNCTION DECLARATION/PROTOTYPE (Cont…)</vt:lpstr>
      <vt:lpstr>FUNCTION DECLARATION/PROTOTYPE (Cont…)</vt:lpstr>
      <vt:lpstr>FUNCTION DECLARATION/PROTOTYPE (Cont…)</vt:lpstr>
      <vt:lpstr>FUNCTION CALL</vt:lpstr>
      <vt:lpstr>FUNCTION CALL ( Cont…)</vt:lpstr>
      <vt:lpstr>FUNCTION DEFINITION</vt:lpstr>
      <vt:lpstr>FUNCTION DEFINITION (Cont…)</vt:lpstr>
      <vt:lpstr>FUNCTION DEFINITION (Cont…)</vt:lpstr>
      <vt:lpstr>FUNCTION DEFINITION (Cont…)</vt:lpstr>
      <vt:lpstr>FUNCTION DEFINITION (Cont…)</vt:lpstr>
      <vt:lpstr>FUNCTION DEFINITION  return STATEMENT (Cont…)</vt:lpstr>
      <vt:lpstr>FUNCTION DEFINITION  return STATEMENT (Cont…) </vt:lpstr>
      <vt:lpstr>USER DEFINED FUNCTION                                         – A RECAP </vt:lpstr>
      <vt:lpstr>PROGRAM EXAMPLE 1 Find the square of a number </vt:lpstr>
      <vt:lpstr>PROGRAM EXAMPLE 2: Function  to Calculate the Minimum of 2 Values  </vt:lpstr>
      <vt:lpstr>PRACTICE EXERCISE</vt:lpstr>
      <vt:lpstr>ACTUAL VS FORMAL PARAMETERS</vt:lpstr>
      <vt:lpstr>ACTUAL VS FORMAL PARAMETERS</vt:lpstr>
      <vt:lpstr>FUNCTION TYPES </vt:lpstr>
      <vt:lpstr>FUNCTION TYPES (Cont…) EXAMPLE : SUM OF TWO NUMBERS</vt:lpstr>
      <vt:lpstr>FUNCTION TYPES (Cont…) EXAMPLE : SUM OF TWO NUMBERS</vt:lpstr>
      <vt:lpstr>FUNCTION TYPES (Cont…) EXAMPLE : SUM OF TWO NUMBERS</vt:lpstr>
      <vt:lpstr>FUNCTION TYPES (Cont…) EXAMPLE : SUM OF TWO NUMBERS</vt:lpstr>
      <vt:lpstr>CALL BY VALUE  &amp; CALL BY REFERENCE</vt:lpstr>
      <vt:lpstr>CALL BY REFERENCE VS CALL BY VALUE</vt:lpstr>
      <vt:lpstr>CALL BY REFERENCE VS CALL BY VALUE</vt:lpstr>
      <vt:lpstr>CALL BY VALUE - EXAMPLE</vt:lpstr>
      <vt:lpstr>CALL BY REFERENCE - EXAMPLE</vt:lpstr>
      <vt:lpstr>UNIT  III : FUNCTIONS &amp; STORAGE CLASSES</vt:lpstr>
      <vt:lpstr>PASSING ARRAY TO A FUNCTION </vt:lpstr>
      <vt:lpstr>PASSING ARRAY TO A FUNCTION      ( Cont …) </vt:lpstr>
      <vt:lpstr>PASSING ARRAY TO A FUNCTION  (Cont …) </vt:lpstr>
      <vt:lpstr>PASSING ARRAY TO A FUNCTION(Cont …) </vt:lpstr>
      <vt:lpstr>PASSING ARRAY TO A FUNCTION (Cont…) </vt:lpstr>
      <vt:lpstr>PASSING STRING TO A FUNCTION </vt:lpstr>
      <vt:lpstr>PASSING STRING TO A FUNCTION </vt:lpstr>
      <vt:lpstr>PROGRAM FOR PRACTICE</vt:lpstr>
      <vt:lpstr>RECURSIVE FUNCTION - RECURSION</vt:lpstr>
      <vt:lpstr> HOW DOES RECURSION WORKS?</vt:lpstr>
      <vt:lpstr> PROGRAM EXAMPLE  To find the factorial of a number n</vt:lpstr>
      <vt:lpstr>RECURSION (Cont…) HOW DOES THE PROGRAM WORKS ?</vt:lpstr>
      <vt:lpstr>RECURSION   EXAMPLE 2 Reverse a sentence using recursion  </vt:lpstr>
      <vt:lpstr>PROGRAM FOR PRACTICE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SUGUNA M</dc:creator>
  <cp:lastModifiedBy>Dr Arulkumar</cp:lastModifiedBy>
  <cp:revision>7</cp:revision>
  <dcterms:created xsi:type="dcterms:W3CDTF">2022-02-15T17:42:22Z</dcterms:created>
  <dcterms:modified xsi:type="dcterms:W3CDTF">2023-03-07T10:14:17Z</dcterms:modified>
</cp:coreProperties>
</file>