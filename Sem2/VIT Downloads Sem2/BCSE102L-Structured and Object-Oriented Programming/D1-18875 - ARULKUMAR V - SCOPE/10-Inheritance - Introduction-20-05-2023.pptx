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60" r:id="rId3"/>
    <p:sldId id="261" r:id="rId4"/>
    <p:sldId id="262" r:id="rId5"/>
    <p:sldId id="263" r:id="rId6"/>
    <p:sldId id="286" r:id="rId7"/>
    <p:sldId id="287" r:id="rId8"/>
    <p:sldId id="288" r:id="rId9"/>
    <p:sldId id="289" r:id="rId10"/>
    <p:sldId id="290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91" r:id="rId23"/>
    <p:sldId id="292" r:id="rId24"/>
    <p:sldId id="275" r:id="rId25"/>
    <p:sldId id="27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1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0:00:28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7941 1 24575,'-2488'0'-824,"1736"27"795,86 1 4,-676-30 903,1276 9-878,0 4 0,0 4 0,-75 32 0,42-12 0,-350 158 0,288-129 0,110-48 0,0 4 0,-54 33 0,-200 142 0,140-106 0,19-10 0,36-21 0,63-35 0,-47 35 0,70-41 0,0-3 0,-1-1 0,1 0 0,-49 9 0,54-16 0,2 2 0,0-1 0,0 4 0,0-1 0,1 2 0,0 1 0,-25 28 0,20-22 0,14-12 0,-1 0 0,2 1 0,-1 1 0,1-1 0,0 1 0,0 1 0,1 1 0,0-2 0,0 2 0,0 0 0,-6 19 0,6-13 0,1 2 0,0-2 0,1 2 0,1-2 0,-1 2 0,2 0 0,-1 28 0,1-21 0,0 1 0,-1 0 0,-1-1 0,-1 1 0,0-2 0,-1 2 0,-1-2 0,-2 0 0,1 0 0,-1-1 0,0-1 0,-16 32 0,3-14-1365,4-4-5461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6T10:00:3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24575,'-1'77'0,"-1"-43"0,2-1 0,0 2 0,1-2 0,2 1 0,0-1 0,1 0 0,7 34 0,37 156 0,-47-221 0,0 1 0,-1-2 0,1 1 0,0 1 0,-1-1 0,1-1 0,0 2 0,0-1 0,0 0 0,0-1 0,0 1 0,0-1 0,1 1 0,-1-1 0,0 1 0,1 0 0,-1-2 0,0 1 0,2 1 0,-2-2 0,1 1 0,-1-1 0,1 2 0,-1-2 0,1 0 0,-1 0 0,1 0 0,-1 0 0,1 0 0,-1 0 0,1 0 0,-1 0 0,1 0 0,-1-2 0,1 2 0,-1-1 0,1 1 0,-1-2 0,1 1 0,-1 1 0,0-2 0,3-3 0,8-6 0,1-1 0,-2-1 0,20-29 0,-16 23 0,161-229 0,-145 207-1365,-6 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70DB6-BA48-4A83-9C6F-43575E4DB976}" type="datetimeFigureOut">
              <a:rPr lang="en-US" smtClean="0"/>
              <a:pPr/>
              <a:t>4/24/2023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02AA9-FA8E-46AF-BCD8-7A42240C9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28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3006-CFAC-4D07-819D-4032F4706E44}" type="datetime1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EAFF-E963-4138-99D6-7B4CE66AD383}" type="datetime1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06C8-38C1-4F12-BF81-EAC1ED4FC317}" type="datetime1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5B57-85F7-4275-9509-CDF36D9C0BBB}" type="datetime1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D504D-B057-4A09-ACC1-BD309BE4B606}" type="datetime1">
              <a:rPr lang="en-US" smtClean="0"/>
              <a:t>4/24/2023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315F0-1DAF-4083-BABE-1B86F44C374A}" type="datetime1">
              <a:rPr lang="en-US" smtClean="0"/>
              <a:t>4/24/2023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BFC4-D053-418A-A7D9-7AA3B98EA22D}" type="datetime1">
              <a:rPr lang="en-US" smtClean="0"/>
              <a:t>4/24/2023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8CA67-AC7B-4548-A3B0-0D958BB3994B}" type="datetime1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8873-FFC7-45EE-9DEA-E0CA7E53D501}" type="datetime1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A165-98FD-455D-8430-A50A6D319472}" type="datetime1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26058-84FC-4C03-8CBA-66E76447453E}" type="datetime1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CCF94-C513-4F0E-83C5-23D48E0D426A}" type="datetime1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191CSC302T - OOP / CSE/  Easwari Engineering College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6EE56-3109-4890-88B5-E5DA9E04F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136775"/>
          </a:xfrm>
        </p:spPr>
        <p:txBody>
          <a:bodyPr>
            <a:noAutofit/>
          </a:bodyPr>
          <a:lstStyle/>
          <a:p>
            <a:r>
              <a:rPr lang="en-US" b="1" dirty="0"/>
              <a:t>Moule-6</a:t>
            </a:r>
            <a:br>
              <a:rPr lang="en-US" b="1" dirty="0"/>
            </a:br>
            <a:r>
              <a:rPr lang="en-US" b="1" dirty="0"/>
              <a:t>Inheritance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To inherit the members of an existing class. </a:t>
            </a:r>
          </a:p>
          <a:p>
            <a:pPr algn="just"/>
            <a:r>
              <a:rPr lang="en-US" dirty="0"/>
              <a:t>This existing class is called the base class, and the new class is referred to as the derived class.</a:t>
            </a:r>
          </a:p>
          <a:p>
            <a:pPr algn="just"/>
            <a:r>
              <a:rPr lang="en-US" dirty="0"/>
              <a:t>To reuse the code functionality and fast implementation time.</a:t>
            </a:r>
          </a:p>
          <a:p>
            <a:pPr algn="just"/>
            <a:endParaRPr lang="en-US" dirty="0"/>
          </a:p>
          <a:p>
            <a:pPr algn="just">
              <a:buNone/>
            </a:pPr>
            <a:r>
              <a:rPr lang="en-US" dirty="0"/>
              <a:t>NOTE: All members of a class except Private, are inherited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class </a:t>
            </a:r>
            <a:r>
              <a:rPr lang="en-US" sz="2800" dirty="0" err="1"/>
              <a:t>Subclass_name</a:t>
            </a:r>
            <a:r>
              <a:rPr lang="en-US" sz="2800" dirty="0"/>
              <a:t> : </a:t>
            </a:r>
            <a:r>
              <a:rPr lang="en-US" sz="2800" dirty="0" err="1"/>
              <a:t>access_mode</a:t>
            </a:r>
            <a:r>
              <a:rPr lang="en-US" sz="2800" dirty="0"/>
              <a:t> </a:t>
            </a:r>
            <a:r>
              <a:rPr lang="en-US" sz="2800" dirty="0" err="1"/>
              <a:t>Superclass_name</a:t>
            </a:r>
            <a:endParaRPr lang="en-US" sz="2800" dirty="0"/>
          </a:p>
          <a:p>
            <a:pPr>
              <a:buNone/>
            </a:pPr>
            <a:endParaRPr lang="en-US" sz="2800" dirty="0"/>
          </a:p>
          <a:p>
            <a:pPr algn="just"/>
            <a:r>
              <a:rPr lang="en-US" sz="2800" dirty="0"/>
              <a:t>Access Mode is used to specify, the mode in which the properties of </a:t>
            </a:r>
            <a:r>
              <a:rPr lang="en-US" sz="2800" dirty="0" err="1"/>
              <a:t>superclass</a:t>
            </a:r>
            <a:r>
              <a:rPr lang="en-US" sz="2800" dirty="0"/>
              <a:t> will be inherited into subclass, public, </a:t>
            </a:r>
            <a:r>
              <a:rPr lang="en-US" sz="2800" dirty="0" err="1"/>
              <a:t>privtate</a:t>
            </a:r>
            <a:r>
              <a:rPr lang="en-US" sz="2800" dirty="0"/>
              <a:t> or protected.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70612" y="1066800"/>
            <a:ext cx="4570809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class Animal // base class</a:t>
            </a:r>
          </a:p>
          <a:p>
            <a:r>
              <a:rPr lang="en-US" sz="2000" dirty="0"/>
              <a:t>{ public: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int</a:t>
            </a:r>
            <a:r>
              <a:rPr lang="en-US" sz="2000" dirty="0"/>
              <a:t> legs = 4;</a:t>
            </a:r>
          </a:p>
          <a:p>
            <a:r>
              <a:rPr lang="en-US" sz="2000" dirty="0"/>
              <a:t>};</a:t>
            </a:r>
          </a:p>
          <a:p>
            <a:endParaRPr lang="en-US" sz="2000" dirty="0"/>
          </a:p>
          <a:p>
            <a:r>
              <a:rPr lang="en-US" sz="2000" dirty="0"/>
              <a:t>class Dog : public Animal // derived class</a:t>
            </a:r>
          </a:p>
          <a:p>
            <a:r>
              <a:rPr lang="en-US" sz="2000" dirty="0"/>
              <a:t>{ public: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int</a:t>
            </a:r>
            <a:r>
              <a:rPr lang="en-US" sz="2000" dirty="0"/>
              <a:t> tail = 1;</a:t>
            </a:r>
          </a:p>
          <a:p>
            <a:r>
              <a:rPr lang="en-US" sz="2000" dirty="0"/>
              <a:t>};</a:t>
            </a:r>
          </a:p>
          <a:p>
            <a:endParaRPr lang="en-US" sz="2000" dirty="0"/>
          </a:p>
          <a:p>
            <a:r>
              <a:rPr lang="en-US" sz="2000" dirty="0" err="1"/>
              <a:t>int</a:t>
            </a:r>
            <a:r>
              <a:rPr lang="en-US" sz="2000" dirty="0"/>
              <a:t> main()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Dog d;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cout</a:t>
            </a:r>
            <a:r>
              <a:rPr lang="en-US" sz="2000" dirty="0"/>
              <a:t> &lt;&lt; </a:t>
            </a:r>
            <a:r>
              <a:rPr lang="en-US" sz="2000" dirty="0" err="1"/>
              <a:t>d.legs</a:t>
            </a:r>
            <a:r>
              <a:rPr lang="en-US" sz="2000" dirty="0"/>
              <a:t>;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cout</a:t>
            </a:r>
            <a:r>
              <a:rPr lang="en-US" sz="2000" dirty="0"/>
              <a:t> &lt;&lt; </a:t>
            </a:r>
            <a:r>
              <a:rPr lang="en-US" sz="2000" dirty="0" err="1"/>
              <a:t>d.tail</a:t>
            </a:r>
            <a:r>
              <a:rPr lang="en-US" sz="2000" dirty="0"/>
              <a:t>;</a:t>
            </a:r>
          </a:p>
          <a:p>
            <a:r>
              <a:rPr lang="en-US" sz="2000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3200" dirty="0"/>
              <a:t>A derived class inherits all base class methods with the following exceptions:</a:t>
            </a:r>
            <a:endParaRPr lang="en-US" dirty="0"/>
          </a:p>
          <a:p>
            <a:pPr algn="just"/>
            <a:r>
              <a:rPr lang="en-US" dirty="0"/>
              <a:t>Constructors, destructors and copy constructors of the base class.</a:t>
            </a:r>
          </a:p>
          <a:p>
            <a:pPr algn="just"/>
            <a:r>
              <a:rPr lang="en-US" dirty="0"/>
              <a:t>Overloaded operators of the base class.</a:t>
            </a:r>
          </a:p>
          <a:p>
            <a:pPr algn="just"/>
            <a:r>
              <a:rPr lang="en-US" dirty="0"/>
              <a:t>The friend functions of the base class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A637A1-986F-CC27-E59D-8011AC98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IN" dirty="0"/>
              <a:t>Mode of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A7FC71-B574-CCB1-0D18-C8D84683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Public: visible to everyone</a:t>
            </a:r>
          </a:p>
          <a:p>
            <a:r>
              <a:rPr lang="en-IN" dirty="0"/>
              <a:t>Protected: visible to the current class and the derived class</a:t>
            </a:r>
          </a:p>
          <a:p>
            <a:r>
              <a:rPr lang="en-IN" dirty="0"/>
              <a:t>Private: visible to current class only</a:t>
            </a:r>
          </a:p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base {</a:t>
            </a:r>
          </a:p>
          <a:p>
            <a:pPr marL="0" indent="0">
              <a:buNone/>
            </a:pPr>
            <a:r>
              <a:rPr lang="en-US" dirty="0"/>
              <a:t>	public:</a:t>
            </a:r>
          </a:p>
          <a:p>
            <a:pPr marL="0" indent="0">
              <a:buNone/>
            </a:pPr>
            <a:r>
              <a:rPr lang="en-US" dirty="0"/>
              <a:t>		int x;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derived: public base{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29D6DD6-2036-A246-B942-DC2C5A7812D6}"/>
              </a:ext>
            </a:extLst>
          </p:cNvPr>
          <p:cNvSpPr txBox="1"/>
          <p:nvPr/>
        </p:nvSpPr>
        <p:spPr>
          <a:xfrm>
            <a:off x="5334000" y="3429000"/>
            <a:ext cx="21336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Mode of Inheritance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60DB4850-B9D2-1750-F15C-58B139C08326}"/>
              </a:ext>
            </a:extLst>
          </p:cNvPr>
          <p:cNvGrpSpPr/>
          <p:nvPr/>
        </p:nvGrpSpPr>
        <p:grpSpPr>
          <a:xfrm>
            <a:off x="2466454" y="3657600"/>
            <a:ext cx="2867546" cy="760966"/>
            <a:chOff x="2466454" y="3933286"/>
            <a:chExt cx="281952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xmlns="" id="{E1F40C6C-CDA7-C739-43DA-E79314F2F625}"/>
                    </a:ext>
                  </a:extLst>
                </p14:cNvPr>
                <p14:cNvContentPartPr/>
                <p14:nvPr/>
              </p14:nvContentPartPr>
              <p14:xfrm>
                <a:off x="2474734" y="3933286"/>
                <a:ext cx="2811240" cy="451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F40C6C-CDA7-C739-43DA-E79314F2F62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65734" y="3924646"/>
                  <a:ext cx="282888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xmlns="" id="{199110A5-B576-3FB1-5110-99C18E2A86C9}"/>
                    </a:ext>
                  </a:extLst>
                </p14:cNvPr>
                <p14:cNvContentPartPr/>
                <p14:nvPr/>
              </p14:nvContentPartPr>
              <p14:xfrm>
                <a:off x="2466454" y="4271326"/>
                <a:ext cx="156960" cy="147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9110A5-B576-3FB1-5110-99C18E2A86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57814" y="4262326"/>
                  <a:ext cx="174600" cy="164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9687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E485A-C4D6-F56D-C3A9-F1B7E252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 mode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xmlns="" id="{FEC950ED-3704-93D4-B9A7-3B651D36E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844285"/>
              </p:ext>
            </p:extLst>
          </p:nvPr>
        </p:nvGraphicFramePr>
        <p:xfrm>
          <a:off x="609600" y="1524000"/>
          <a:ext cx="822960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xmlns="" val="261344198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xmlns="" val="37673388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xmlns="" val="4975261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xmlns="" val="651879173"/>
                    </a:ext>
                  </a:extLst>
                </a:gridCol>
              </a:tblGrid>
              <a:tr h="452460"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11155583"/>
                  </a:ext>
                </a:extLst>
              </a:tr>
              <a:tr h="78095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Inheritance mode </a:t>
                      </a:r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IN" sz="24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Private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Protected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Public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08452645"/>
                  </a:ext>
                </a:extLst>
              </a:tr>
              <a:tr h="452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Base class ↓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Data members in Derived class will become as: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6315313"/>
                  </a:ext>
                </a:extLst>
              </a:tr>
              <a:tr h="45246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inherited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inherited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inherited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22323052"/>
                  </a:ext>
                </a:extLst>
              </a:tr>
              <a:tr h="45246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protected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72667016"/>
                  </a:ext>
                </a:extLst>
              </a:tr>
              <a:tr h="45246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01775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09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1C4D5E-D4F1-ECD4-5765-92970ABD0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77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#include&lt;iostream&gt;</a:t>
            </a:r>
          </a:p>
          <a:p>
            <a:pPr marL="0" indent="0">
              <a:buNone/>
            </a:pPr>
            <a:r>
              <a:rPr lang="en-IN" sz="2000" dirty="0"/>
              <a:t>using namespace std;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class base {</a:t>
            </a:r>
          </a:p>
          <a:p>
            <a:pPr marL="0" indent="0">
              <a:buNone/>
            </a:pPr>
            <a:r>
              <a:rPr lang="en-IN" sz="2000" dirty="0"/>
              <a:t>	public:</a:t>
            </a:r>
          </a:p>
          <a:p>
            <a:pPr marL="0" indent="0">
              <a:buNone/>
            </a:pPr>
            <a:r>
              <a:rPr lang="en-IN" sz="2000" dirty="0"/>
              <a:t>		int x;</a:t>
            </a:r>
          </a:p>
          <a:p>
            <a:pPr marL="0" indent="0">
              <a:buNone/>
            </a:pPr>
            <a:r>
              <a:rPr lang="en-IN" sz="2000" dirty="0"/>
              <a:t>};</a:t>
            </a:r>
          </a:p>
          <a:p>
            <a:pPr marL="0" indent="0">
              <a:buNone/>
            </a:pPr>
            <a:r>
              <a:rPr lang="en-IN" sz="2000" dirty="0"/>
              <a:t>class derived: public base{</a:t>
            </a:r>
          </a:p>
          <a:p>
            <a:pPr marL="0" indent="0">
              <a:buNone/>
            </a:pPr>
            <a:r>
              <a:rPr lang="en-IN" sz="2000" dirty="0"/>
              <a:t>};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int main() 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derived d;</a:t>
            </a:r>
          </a:p>
          <a:p>
            <a:pPr marL="0" indent="0">
              <a:buNone/>
            </a:pPr>
            <a:r>
              <a:rPr lang="en-IN" sz="2000" dirty="0" err="1"/>
              <a:t>cout</a:t>
            </a:r>
            <a:r>
              <a:rPr lang="en-IN" sz="2000" dirty="0"/>
              <a:t>&lt;&lt;"x = "&lt;&lt;</a:t>
            </a:r>
            <a:r>
              <a:rPr lang="en-IN" sz="2000" dirty="0" err="1"/>
              <a:t>d.x</a:t>
            </a:r>
            <a:r>
              <a:rPr lang="en-IN" sz="2000" dirty="0"/>
              <a:t>&lt;&lt;</a:t>
            </a:r>
            <a:r>
              <a:rPr lang="en-IN" sz="2000" dirty="0" err="1"/>
              <a:t>endl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	return 0;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33EE16-6978-9004-358A-A8982D233EF2}"/>
              </a:ext>
            </a:extLst>
          </p:cNvPr>
          <p:cNvSpPr txBox="1"/>
          <p:nvPr/>
        </p:nvSpPr>
        <p:spPr>
          <a:xfrm>
            <a:off x="6477000" y="2057400"/>
            <a:ext cx="1524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x = 0</a:t>
            </a:r>
          </a:p>
        </p:txBody>
      </p:sp>
    </p:spTree>
    <p:extLst>
      <p:ext uri="{BB962C8B-B14F-4D97-AF65-F5344CB8AC3E}">
        <p14:creationId xmlns:p14="http://schemas.microsoft.com/office/powerpoint/2010/main" val="298063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7F331E-7924-B348-0FFD-8E07A6786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77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#include&lt;iostream&gt;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base {</a:t>
            </a:r>
          </a:p>
          <a:p>
            <a:pPr marL="0" indent="0">
              <a:buNone/>
            </a:pPr>
            <a:r>
              <a:rPr lang="en-IN" dirty="0"/>
              <a:t>	public:</a:t>
            </a:r>
          </a:p>
          <a:p>
            <a:pPr marL="0" indent="0">
              <a:buNone/>
            </a:pPr>
            <a:r>
              <a:rPr lang="en-IN" dirty="0"/>
              <a:t>		int x;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derived: public base{</a:t>
            </a:r>
          </a:p>
          <a:p>
            <a:pPr marL="0" indent="0">
              <a:buNone/>
            </a:pPr>
            <a:r>
              <a:rPr lang="en-IN" dirty="0"/>
              <a:t>	public:</a:t>
            </a:r>
          </a:p>
          <a:p>
            <a:pPr marL="0" indent="0">
              <a:buNone/>
            </a:pPr>
            <a:r>
              <a:rPr lang="en-IN" dirty="0"/>
              <a:t>	void print()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cout</a:t>
            </a:r>
            <a:r>
              <a:rPr lang="en-IN" dirty="0"/>
              <a:t>&lt;&lt;"x = "&lt;&lt;x&lt;&lt;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derived d;</a:t>
            </a:r>
          </a:p>
          <a:p>
            <a:pPr marL="0" indent="0">
              <a:buNone/>
            </a:pPr>
            <a:r>
              <a:rPr lang="en-IN" dirty="0" err="1"/>
              <a:t>cout</a:t>
            </a:r>
            <a:r>
              <a:rPr lang="en-IN" dirty="0"/>
              <a:t>&lt;&lt;"x = "&lt;&lt;</a:t>
            </a:r>
            <a:r>
              <a:rPr lang="en-IN" dirty="0" err="1"/>
              <a:t>d.x</a:t>
            </a:r>
            <a:r>
              <a:rPr lang="en-IN" dirty="0"/>
              <a:t>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err="1"/>
              <a:t>d.print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	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633A8C1-620B-DD29-9340-5CCFED983DA5}"/>
              </a:ext>
            </a:extLst>
          </p:cNvPr>
          <p:cNvSpPr txBox="1"/>
          <p:nvPr/>
        </p:nvSpPr>
        <p:spPr>
          <a:xfrm>
            <a:off x="6477000" y="2057400"/>
            <a:ext cx="1524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x = 0</a:t>
            </a:r>
          </a:p>
          <a:p>
            <a:r>
              <a:rPr lang="en-IN" dirty="0"/>
              <a:t>x = 0</a:t>
            </a:r>
          </a:p>
        </p:txBody>
      </p:sp>
    </p:spTree>
    <p:extLst>
      <p:ext uri="{BB962C8B-B14F-4D97-AF65-F5344CB8AC3E}">
        <p14:creationId xmlns:p14="http://schemas.microsoft.com/office/powerpoint/2010/main" val="114249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E5AAD4-8D78-61A6-5B4E-BDCD752D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0" y="304801"/>
            <a:ext cx="3276600" cy="2133599"/>
          </a:xfrm>
        </p:spPr>
        <p:txBody>
          <a:bodyPr>
            <a:normAutofit/>
          </a:bodyPr>
          <a:lstStyle/>
          <a:p>
            <a:r>
              <a:rPr lang="en-IN" dirty="0"/>
              <a:t>Inheritance: Common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090ADF-048F-48B2-4832-F287B782C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1"/>
            <a:ext cx="5257800" cy="6781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dirty="0"/>
              <a:t>#include&lt;iostream&gt;</a:t>
            </a:r>
          </a:p>
          <a:p>
            <a:pPr marL="0" indent="0">
              <a:buNone/>
            </a:pPr>
            <a:r>
              <a:rPr lang="en-IN" sz="1600" dirty="0"/>
              <a:t>using namespace std;</a:t>
            </a:r>
          </a:p>
          <a:p>
            <a:pPr marL="0" indent="0">
              <a:buNone/>
            </a:pPr>
            <a:r>
              <a:rPr lang="en-IN" sz="1600" dirty="0"/>
              <a:t>class animal {</a:t>
            </a:r>
          </a:p>
          <a:p>
            <a:pPr marL="0" indent="0">
              <a:buNone/>
            </a:pPr>
            <a:r>
              <a:rPr lang="en-IN" sz="1600" dirty="0"/>
              <a:t>	public:</a:t>
            </a:r>
          </a:p>
          <a:p>
            <a:pPr marL="0" indent="0">
              <a:buNone/>
            </a:pPr>
            <a:r>
              <a:rPr lang="en-IN" sz="1600" dirty="0"/>
              <a:t>	void eat() {</a:t>
            </a:r>
            <a:r>
              <a:rPr lang="en-IN" sz="1600" dirty="0" err="1"/>
              <a:t>cout</a:t>
            </a:r>
            <a:r>
              <a:rPr lang="en-IN" sz="1600" dirty="0"/>
              <a:t>&lt;&lt;"Eating..."&lt;&lt;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	void walk() {</a:t>
            </a:r>
            <a:r>
              <a:rPr lang="en-IN" sz="1600" dirty="0" err="1"/>
              <a:t>cout</a:t>
            </a:r>
            <a:r>
              <a:rPr lang="en-IN" sz="1600" dirty="0"/>
              <a:t>&lt;&lt;"Walking..."&lt;&lt;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  <a:p>
            <a:pPr marL="0" indent="0">
              <a:buNone/>
            </a:pPr>
            <a:r>
              <a:rPr lang="en-IN" sz="1600" dirty="0"/>
              <a:t>class dog: public animal{</a:t>
            </a:r>
          </a:p>
          <a:p>
            <a:pPr marL="0" indent="0">
              <a:buNone/>
            </a:pPr>
            <a:r>
              <a:rPr lang="en-IN" sz="1600" dirty="0"/>
              <a:t>	public:</a:t>
            </a:r>
          </a:p>
          <a:p>
            <a:pPr marL="0" indent="0">
              <a:buNone/>
            </a:pPr>
            <a:r>
              <a:rPr lang="en-IN" sz="1600" dirty="0"/>
              <a:t>	void talk(){</a:t>
            </a:r>
            <a:r>
              <a:rPr lang="en-IN" sz="1600" dirty="0" err="1"/>
              <a:t>cout</a:t>
            </a:r>
            <a:r>
              <a:rPr lang="en-IN" sz="1600" dirty="0"/>
              <a:t>&lt;&lt;"Bark.."&lt;&lt;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  <a:p>
            <a:pPr marL="0" indent="0">
              <a:buNone/>
            </a:pPr>
            <a:r>
              <a:rPr lang="en-IN" sz="1600" dirty="0"/>
              <a:t>class cat: public animal{</a:t>
            </a:r>
          </a:p>
          <a:p>
            <a:pPr marL="0" indent="0">
              <a:buNone/>
            </a:pPr>
            <a:r>
              <a:rPr lang="en-IN" sz="1600" dirty="0"/>
              <a:t>	public:</a:t>
            </a:r>
          </a:p>
          <a:p>
            <a:pPr marL="0" indent="0">
              <a:buNone/>
            </a:pPr>
            <a:r>
              <a:rPr lang="en-IN" sz="1600" dirty="0"/>
              <a:t>	void talk(){</a:t>
            </a:r>
            <a:r>
              <a:rPr lang="en-IN" sz="1600" dirty="0" err="1"/>
              <a:t>cout</a:t>
            </a:r>
            <a:r>
              <a:rPr lang="en-IN" sz="1600" dirty="0"/>
              <a:t>&lt;&lt;"Meow.."&lt;&lt;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  <a:p>
            <a:pPr marL="0" indent="0">
              <a:buNone/>
            </a:pPr>
            <a:r>
              <a:rPr lang="en-IN" sz="1600" dirty="0"/>
              <a:t>class tiger: public animal{</a:t>
            </a:r>
          </a:p>
          <a:p>
            <a:pPr marL="0" indent="0">
              <a:buNone/>
            </a:pPr>
            <a:r>
              <a:rPr lang="en-IN" sz="1600" dirty="0"/>
              <a:t>	public:</a:t>
            </a:r>
          </a:p>
          <a:p>
            <a:pPr marL="0" indent="0">
              <a:buNone/>
            </a:pPr>
            <a:r>
              <a:rPr lang="en-IN" sz="1600" dirty="0"/>
              <a:t>	void talk(){</a:t>
            </a:r>
            <a:r>
              <a:rPr lang="en-IN" sz="1600" dirty="0" err="1"/>
              <a:t>cout</a:t>
            </a:r>
            <a:r>
              <a:rPr lang="en-IN" sz="1600" dirty="0"/>
              <a:t>&lt;&lt;"Roar.."&lt;&lt;</a:t>
            </a:r>
            <a:r>
              <a:rPr lang="en-IN" sz="1600" dirty="0" err="1"/>
              <a:t>endl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		}</a:t>
            </a:r>
          </a:p>
          <a:p>
            <a:pPr marL="0" indent="0">
              <a:buNone/>
            </a:pPr>
            <a:r>
              <a:rPr lang="en-IN" sz="1600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337EAF1-CA4E-0F61-9535-CCE71D12B75F}"/>
              </a:ext>
            </a:extLst>
          </p:cNvPr>
          <p:cNvSpPr txBox="1"/>
          <p:nvPr/>
        </p:nvSpPr>
        <p:spPr>
          <a:xfrm>
            <a:off x="6256751" y="2547878"/>
            <a:ext cx="2582449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int main()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dog d;</a:t>
            </a:r>
          </a:p>
          <a:p>
            <a:r>
              <a:rPr lang="en-US" dirty="0"/>
              <a:t>cat c;</a:t>
            </a:r>
          </a:p>
          <a:p>
            <a:r>
              <a:rPr lang="en-US" dirty="0"/>
              <a:t>tiger t;</a:t>
            </a:r>
          </a:p>
          <a:p>
            <a:r>
              <a:rPr lang="en-US" dirty="0" err="1"/>
              <a:t>d.eat</a:t>
            </a:r>
            <a:r>
              <a:rPr lang="en-US" dirty="0"/>
              <a:t>();</a:t>
            </a:r>
          </a:p>
          <a:p>
            <a:r>
              <a:rPr lang="en-US" dirty="0" err="1"/>
              <a:t>c.eat</a:t>
            </a:r>
            <a:r>
              <a:rPr lang="en-US" dirty="0"/>
              <a:t>();</a:t>
            </a:r>
          </a:p>
          <a:p>
            <a:r>
              <a:rPr lang="en-US" dirty="0" err="1"/>
              <a:t>t.eat</a:t>
            </a:r>
            <a:r>
              <a:rPr lang="en-US" dirty="0"/>
              <a:t>();</a:t>
            </a:r>
          </a:p>
          <a:p>
            <a:r>
              <a:rPr lang="en-US" dirty="0"/>
              <a:t>	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988266D-F3D5-7E8C-9780-1291913DE58B}"/>
              </a:ext>
            </a:extLst>
          </p:cNvPr>
          <p:cNvSpPr txBox="1"/>
          <p:nvPr/>
        </p:nvSpPr>
        <p:spPr>
          <a:xfrm>
            <a:off x="6256751" y="5562600"/>
            <a:ext cx="258244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Eating..</a:t>
            </a:r>
          </a:p>
          <a:p>
            <a:r>
              <a:rPr lang="en-IN" dirty="0"/>
              <a:t>Eating..</a:t>
            </a:r>
          </a:p>
          <a:p>
            <a:r>
              <a:rPr lang="en-IN" dirty="0"/>
              <a:t>Eating..</a:t>
            </a:r>
          </a:p>
        </p:txBody>
      </p:sp>
    </p:spTree>
    <p:extLst>
      <p:ext uri="{BB962C8B-B14F-4D97-AF65-F5344CB8AC3E}">
        <p14:creationId xmlns:p14="http://schemas.microsoft.com/office/powerpoint/2010/main" val="1875889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US" dirty="0"/>
              <a:t>Single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Multiple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Hierarchical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Multilevel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Hybrid Inheritance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/>
              <a:t>Multipath Inheritance</a:t>
            </a:r>
          </a:p>
          <a:p>
            <a:pPr marL="50292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58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92162"/>
          </a:xfrm>
        </p:spPr>
        <p:txBody>
          <a:bodyPr/>
          <a:lstStyle/>
          <a:p>
            <a:r>
              <a:rPr lang="en-US" b="1" dirty="0"/>
              <a:t>Single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2" y="1219200"/>
            <a:ext cx="5885660" cy="4343400"/>
          </a:xfrm>
        </p:spPr>
        <p:txBody>
          <a:bodyPr/>
          <a:lstStyle/>
          <a:p>
            <a:pPr algn="just"/>
            <a:r>
              <a:rPr lang="en-US" dirty="0"/>
              <a:t>In this type of inheritance one derived class inherits from only one base class. It is the most simplest form of Inheritance.</a:t>
            </a:r>
          </a:p>
          <a:p>
            <a:pPr algn="just"/>
            <a:r>
              <a:rPr lang="en-US" dirty="0"/>
              <a:t>This is a “is a” relationship</a:t>
            </a:r>
          </a:p>
          <a:p>
            <a:pPr algn="just"/>
            <a:r>
              <a:rPr lang="en-US" dirty="0"/>
              <a:t>E.g.: car is a vehicle</a:t>
            </a:r>
          </a:p>
        </p:txBody>
      </p:sp>
      <p:pic>
        <p:nvPicPr>
          <p:cNvPr id="1026" name="Picture 2" descr="C:\Users\John Blesswin\Desktop\single-inheritance.jpg"/>
          <p:cNvPicPr>
            <a:picLocks noChangeAspect="1" noChangeArrowheads="1"/>
          </p:cNvPicPr>
          <p:nvPr/>
        </p:nvPicPr>
        <p:blipFill rotWithShape="1">
          <a:blip r:embed="rId2" cstate="print"/>
          <a:srcRect l="27063" r="7546"/>
          <a:stretch/>
        </p:blipFill>
        <p:spPr bwMode="auto">
          <a:xfrm>
            <a:off x="6324600" y="1322540"/>
            <a:ext cx="2590798" cy="36304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2" y="152400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3448" y="762000"/>
            <a:ext cx="354422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class Shape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protected:</a:t>
            </a:r>
          </a:p>
          <a:p>
            <a:r>
              <a:rPr lang="en-US" dirty="0"/>
              <a:t>float width, height;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void </a:t>
            </a:r>
            <a:r>
              <a:rPr lang="en-US" dirty="0" err="1"/>
              <a:t>set_data</a:t>
            </a:r>
            <a:r>
              <a:rPr lang="en-US" dirty="0"/>
              <a:t> (float a, float b)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width = a;</a:t>
            </a:r>
          </a:p>
          <a:p>
            <a:r>
              <a:rPr lang="en-US" dirty="0"/>
              <a:t>height = b;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class Rectangle: public Shape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float area 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return (width * height);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3191" y="990601"/>
            <a:ext cx="411360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main 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Rectangle </a:t>
            </a:r>
            <a:r>
              <a:rPr lang="en-US" dirty="0" err="1"/>
              <a:t>rect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err="1"/>
              <a:t>rect.set_data</a:t>
            </a:r>
            <a:r>
              <a:rPr lang="en-US" dirty="0"/>
              <a:t> (5,3);</a:t>
            </a:r>
          </a:p>
          <a:p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rect.area</a:t>
            </a:r>
            <a:r>
              <a:rPr lang="en-US" dirty="0"/>
              <a:t>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return 0;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Multiple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628" y="1219200"/>
            <a:ext cx="4793773" cy="44958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In this type of inheritance a single derived class may inherit from two or more than two base classes.</a:t>
            </a:r>
          </a:p>
          <a:p>
            <a:pPr algn="just"/>
            <a:r>
              <a:rPr lang="en-US" dirty="0"/>
              <a:t>Reverse is not possible, means C can inherit from A and B, but reverse is not possible</a:t>
            </a:r>
          </a:p>
          <a:p>
            <a:pPr algn="just"/>
            <a:r>
              <a:rPr lang="en-US" dirty="0"/>
              <a:t>Order of A and B will remain same in the order they are inherited</a:t>
            </a:r>
          </a:p>
        </p:txBody>
      </p:sp>
      <p:pic>
        <p:nvPicPr>
          <p:cNvPr id="3074" name="Picture 2" descr="C:\Users\John Blesswin\Desktop\multiple-inherita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057400"/>
            <a:ext cx="3726972" cy="28956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798" y="0"/>
            <a:ext cx="7317105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610136"/>
            <a:ext cx="3886200" cy="6247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class student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protected:</a:t>
            </a:r>
          </a:p>
          <a:p>
            <a:r>
              <a:rPr lang="en-US" sz="1600" b="1" dirty="0"/>
              <a:t>       </a:t>
            </a:r>
            <a:r>
              <a:rPr lang="en-US" sz="1600" b="1" dirty="0" err="1"/>
              <a:t>int</a:t>
            </a:r>
            <a:r>
              <a:rPr lang="en-US" sz="1600" b="1" dirty="0"/>
              <a:t> rno,m1,m2;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            void get()</a:t>
            </a:r>
          </a:p>
          <a:p>
            <a:r>
              <a:rPr lang="en-US" sz="1600" b="1" dirty="0"/>
              <a:t>              {</a:t>
            </a:r>
          </a:p>
          <a:p>
            <a:r>
              <a:rPr lang="en-US" sz="1600" b="1" dirty="0"/>
              <a:t>                  </a:t>
            </a:r>
            <a:r>
              <a:rPr lang="en-US" sz="1600" b="1" dirty="0" err="1"/>
              <a:t>cout</a:t>
            </a:r>
            <a:r>
              <a:rPr lang="en-US" sz="1600" b="1" dirty="0"/>
              <a:t>&lt;&lt;"Enter the Roll no :";</a:t>
            </a:r>
          </a:p>
          <a:p>
            <a:r>
              <a:rPr lang="en-US" sz="1600" b="1" dirty="0"/>
              <a:t>                  </a:t>
            </a:r>
            <a:r>
              <a:rPr lang="en-US" sz="1600" b="1" dirty="0" err="1"/>
              <a:t>cin</a:t>
            </a:r>
            <a:r>
              <a:rPr lang="en-US" sz="1600" b="1" dirty="0"/>
              <a:t>&gt;&gt;</a:t>
            </a:r>
            <a:r>
              <a:rPr lang="en-US" sz="1600" b="1" dirty="0" err="1"/>
              <a:t>rno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              </a:t>
            </a:r>
            <a:r>
              <a:rPr lang="en-US" sz="1600" b="1" dirty="0" err="1"/>
              <a:t>cout</a:t>
            </a:r>
            <a:r>
              <a:rPr lang="en-US" sz="1600" b="1" dirty="0"/>
              <a:t>&lt;&lt;"Enter the two marks   :";</a:t>
            </a:r>
          </a:p>
          <a:p>
            <a:r>
              <a:rPr lang="en-US" sz="1600" b="1" dirty="0"/>
              <a:t>                  </a:t>
            </a:r>
            <a:r>
              <a:rPr lang="en-US" sz="1600" b="1" dirty="0" err="1"/>
              <a:t>cin</a:t>
            </a:r>
            <a:r>
              <a:rPr lang="en-US" sz="1600" b="1" dirty="0"/>
              <a:t>&gt;&gt;m1&gt;&gt;m2;</a:t>
            </a:r>
          </a:p>
          <a:p>
            <a:r>
              <a:rPr lang="en-US" sz="1600" b="1" dirty="0"/>
              <a:t>              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class sports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protected:</a:t>
            </a:r>
          </a:p>
          <a:p>
            <a:r>
              <a:rPr lang="en-US" sz="1600" b="1" dirty="0"/>
              <a:t>       int </a:t>
            </a:r>
            <a:r>
              <a:rPr lang="en-US" sz="1600" b="1" dirty="0" err="1"/>
              <a:t>sm</a:t>
            </a:r>
            <a:r>
              <a:rPr lang="en-US" sz="1600" b="1" dirty="0"/>
              <a:t>;              // </a:t>
            </a:r>
            <a:r>
              <a:rPr lang="en-US" sz="1600" b="1" dirty="0" err="1"/>
              <a:t>sm</a:t>
            </a:r>
            <a:r>
              <a:rPr lang="en-US" sz="1600" b="1" dirty="0"/>
              <a:t> = Sports mark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         void </a:t>
            </a:r>
            <a:r>
              <a:rPr lang="en-US" sz="1600" b="1" dirty="0" err="1"/>
              <a:t>getsm</a:t>
            </a:r>
            <a:r>
              <a:rPr lang="en-US" sz="1600" b="1" dirty="0"/>
              <a:t>()</a:t>
            </a:r>
          </a:p>
          <a:p>
            <a:r>
              <a:rPr lang="en-US" sz="1600" b="1" dirty="0"/>
              <a:t>              {</a:t>
            </a:r>
          </a:p>
          <a:p>
            <a:r>
              <a:rPr lang="en-US" sz="1600" b="1" dirty="0"/>
              <a:t>              </a:t>
            </a:r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sports mark :";</a:t>
            </a:r>
          </a:p>
          <a:p>
            <a:r>
              <a:rPr lang="en-US" sz="1600" b="1" dirty="0"/>
              <a:t>              </a:t>
            </a:r>
            <a:r>
              <a:rPr lang="en-US" sz="1600" b="1" dirty="0" err="1"/>
              <a:t>cin</a:t>
            </a:r>
            <a:r>
              <a:rPr lang="en-US" sz="1600" b="1" dirty="0"/>
              <a:t>&gt;&gt;</a:t>
            </a:r>
            <a:r>
              <a:rPr lang="en-US" sz="1600" b="1" dirty="0" err="1"/>
              <a:t>sm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              }</a:t>
            </a:r>
          </a:p>
          <a:p>
            <a:r>
              <a:rPr lang="en-US" sz="1600" b="1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586800"/>
            <a:ext cx="5029201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class </a:t>
            </a:r>
            <a:r>
              <a:rPr lang="en-US" sz="1600" b="1" dirty="0" err="1"/>
              <a:t>statement:public</a:t>
            </a:r>
            <a:r>
              <a:rPr lang="en-US" sz="1600" b="1" dirty="0"/>
              <a:t> student, public sports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tot,avg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void display()</a:t>
            </a:r>
          </a:p>
          <a:p>
            <a:r>
              <a:rPr lang="en-US" sz="1600" b="1" dirty="0"/>
              <a:t>              {</a:t>
            </a:r>
          </a:p>
          <a:p>
            <a:r>
              <a:rPr lang="en-US" sz="1600" b="1" dirty="0"/>
              <a:t>     tot=(m1+m2+sm);</a:t>
            </a:r>
          </a:p>
          <a:p>
            <a:r>
              <a:rPr lang="en-US" sz="1600" b="1" dirty="0"/>
              <a:t>     avg=tot/3;</a:t>
            </a:r>
          </a:p>
          <a:p>
            <a:r>
              <a:rPr lang="en-US" sz="1600" b="1" dirty="0"/>
              <a:t>     </a:t>
            </a:r>
            <a:r>
              <a:rPr lang="en-US" sz="1600" b="1" dirty="0" err="1"/>
              <a:t>cout</a:t>
            </a:r>
            <a:r>
              <a:rPr lang="en-US" sz="1600" b="1" dirty="0"/>
              <a:t>&lt;&lt;"\n\n\</a:t>
            </a:r>
            <a:r>
              <a:rPr lang="en-US" sz="1600" b="1" dirty="0" err="1"/>
              <a:t>tRoll</a:t>
            </a:r>
            <a:r>
              <a:rPr lang="en-US" sz="1600" b="1" dirty="0"/>
              <a:t> No : "&lt;&lt;</a:t>
            </a:r>
            <a:r>
              <a:rPr lang="en-US" sz="1600" b="1" dirty="0" err="1"/>
              <a:t>rno</a:t>
            </a:r>
            <a:r>
              <a:rPr lang="en-US" sz="1600" b="1" dirty="0"/>
              <a:t>&lt;&lt;"\n\</a:t>
            </a:r>
            <a:r>
              <a:rPr lang="en-US" sz="1600" b="1" dirty="0" err="1"/>
              <a:t>tTotal</a:t>
            </a:r>
            <a:r>
              <a:rPr lang="en-US" sz="1600" b="1" dirty="0"/>
              <a:t>    : "&lt;&lt;tot;</a:t>
            </a:r>
          </a:p>
          <a:p>
            <a:r>
              <a:rPr lang="en-US" sz="1600" b="1" dirty="0"/>
              <a:t>     </a:t>
            </a:r>
            <a:r>
              <a:rPr lang="en-US" sz="1600" b="1" dirty="0" err="1"/>
              <a:t>cout</a:t>
            </a:r>
            <a:r>
              <a:rPr lang="en-US" sz="1600" b="1" dirty="0"/>
              <a:t>&lt;&lt;"\n\</a:t>
            </a:r>
            <a:r>
              <a:rPr lang="en-US" sz="1600" b="1" dirty="0" err="1"/>
              <a:t>tAverage</a:t>
            </a:r>
            <a:r>
              <a:rPr lang="en-US" sz="1600" b="1" dirty="0"/>
              <a:t>    : "&lt;&lt;avg;</a:t>
            </a:r>
          </a:p>
          <a:p>
            <a:r>
              <a:rPr lang="en-US" sz="1600" b="1" dirty="0"/>
              <a:t>              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void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clrscr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statement </a:t>
            </a:r>
            <a:r>
              <a:rPr lang="en-US" sz="1600" b="1" dirty="0" err="1"/>
              <a:t>obj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obj.get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obj.getsm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obj.display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</a:t>
            </a:r>
            <a:r>
              <a:rPr lang="en-US" sz="1600" b="1" dirty="0" err="1"/>
              <a:t>getch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Multilevel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612" y="1066800"/>
            <a:ext cx="5811187" cy="4876800"/>
          </a:xfrm>
        </p:spPr>
        <p:txBody>
          <a:bodyPr/>
          <a:lstStyle/>
          <a:p>
            <a:pPr algn="just"/>
            <a:r>
              <a:rPr lang="en-US" dirty="0"/>
              <a:t>In this type of inheritance the derived class inherits from a class, which in turn inherits from some other class. The Super class for one, is sub class for the other.</a:t>
            </a:r>
          </a:p>
          <a:p>
            <a:pPr algn="just"/>
            <a:r>
              <a:rPr lang="en-US" dirty="0"/>
              <a:t>The hierarchy is important in this.</a:t>
            </a:r>
          </a:p>
        </p:txBody>
      </p:sp>
      <p:pic>
        <p:nvPicPr>
          <p:cNvPr id="2050" name="Picture 2" descr="C:\Users\John Blesswin\Desktop\multilevel-inheritance.jpg"/>
          <p:cNvPicPr>
            <a:picLocks noChangeAspect="1" noChangeArrowheads="1"/>
          </p:cNvPicPr>
          <p:nvPr/>
        </p:nvPicPr>
        <p:blipFill rotWithShape="1">
          <a:blip r:embed="rId2" cstate="print"/>
          <a:srcRect l="27685" r="37916"/>
          <a:stretch/>
        </p:blipFill>
        <p:spPr bwMode="auto">
          <a:xfrm>
            <a:off x="7086600" y="1600200"/>
            <a:ext cx="1600201" cy="337457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128" y="228600"/>
            <a:ext cx="7317105" cy="4873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0458" y="990601"/>
            <a:ext cx="4570809" cy="57554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class A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smtClean="0"/>
              <a:t>Protected: </a:t>
            </a:r>
          </a:p>
          <a:p>
            <a:r>
              <a:rPr lang="en-US" sz="1600" b="1" dirty="0"/>
              <a:t>	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a, b;</a:t>
            </a:r>
            <a:r>
              <a:rPr lang="en-US" sz="1600" b="1" dirty="0" smtClean="0"/>
              <a:t>   </a:t>
            </a:r>
          </a:p>
          <a:p>
            <a:r>
              <a:rPr lang="en-US" sz="1600" b="1" dirty="0" smtClean="0"/>
              <a:t> </a:t>
            </a:r>
            <a:r>
              <a:rPr lang="en-US" sz="1600" b="1" dirty="0"/>
              <a:t>public:</a:t>
            </a:r>
          </a:p>
          <a:p>
            <a:r>
              <a:rPr lang="en-US" sz="1600" b="1" dirty="0"/>
              <a:t>      void display()</a:t>
            </a:r>
          </a:p>
          <a:p>
            <a:r>
              <a:rPr lang="en-US" sz="1600" b="1" dirty="0"/>
              <a:t>      {</a:t>
            </a:r>
          </a:p>
          <a:p>
            <a:r>
              <a:rPr lang="en-US" sz="1600" b="1" dirty="0"/>
              <a:t>          </a:t>
            </a:r>
            <a:r>
              <a:rPr lang="en-US" sz="1600" b="1" dirty="0" err="1"/>
              <a:t>cout</a:t>
            </a:r>
            <a:r>
              <a:rPr lang="en-US" sz="1600" b="1" dirty="0"/>
              <a:t>&lt;&lt;"Base class content.";</a:t>
            </a:r>
          </a:p>
          <a:p>
            <a:r>
              <a:rPr lang="en-US" sz="1600" b="1" dirty="0"/>
              <a:t>      }</a:t>
            </a:r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  <a:p>
            <a:r>
              <a:rPr lang="en-US" sz="1600" b="1" dirty="0"/>
              <a:t>class B : public A</a:t>
            </a:r>
          </a:p>
          <a:p>
            <a:r>
              <a:rPr lang="en-US" sz="1600" b="1" dirty="0" smtClean="0"/>
              <a:t>{</a:t>
            </a:r>
          </a:p>
          <a:p>
            <a:r>
              <a:rPr lang="en-US" sz="1600" b="1" dirty="0"/>
              <a:t>Protected: </a:t>
            </a:r>
          </a:p>
          <a:p>
            <a:r>
              <a:rPr lang="en-US" sz="1600" b="1" dirty="0"/>
              <a:t>	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smtClean="0"/>
              <a:t>a1, b1;</a:t>
            </a:r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  <a:p>
            <a:r>
              <a:rPr lang="en-US" sz="1600" b="1" dirty="0"/>
              <a:t>class C : public B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</p:txBody>
      </p:sp>
      <p:sp>
        <p:nvSpPr>
          <p:cNvPr id="5" name="Rectangle 4"/>
          <p:cNvSpPr/>
          <p:nvPr/>
        </p:nvSpPr>
        <p:spPr>
          <a:xfrm>
            <a:off x="4573191" y="1143000"/>
            <a:ext cx="360019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int</a:t>
            </a:r>
            <a:r>
              <a:rPr lang="en-US" sz="1600" b="1" dirty="0"/>
              <a:t>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C </a:t>
            </a:r>
            <a:r>
              <a:rPr lang="en-US" sz="1600" b="1" dirty="0" err="1"/>
              <a:t>c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c.display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   return 0;</a:t>
            </a:r>
          </a:p>
          <a:p>
            <a:r>
              <a:rPr lang="en-US" sz="1600" b="1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Hierarchical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613" y="1143000"/>
            <a:ext cx="4591988" cy="4343400"/>
          </a:xfrm>
        </p:spPr>
        <p:txBody>
          <a:bodyPr/>
          <a:lstStyle/>
          <a:p>
            <a:r>
              <a:rPr lang="en-US" dirty="0"/>
              <a:t>In this type of inheritance, multiple derived classes inherits from a single base class.</a:t>
            </a:r>
          </a:p>
          <a:p>
            <a:endParaRPr lang="en-US" dirty="0"/>
          </a:p>
        </p:txBody>
      </p:sp>
      <p:pic>
        <p:nvPicPr>
          <p:cNvPr id="5" name="Picture 4" descr="C:\Users\John Blesswin\Desktop\hierarchical-inherita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295400"/>
            <a:ext cx="2858244" cy="272142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468" y="228600"/>
            <a:ext cx="7317105" cy="4111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9851" y="671691"/>
            <a:ext cx="4570809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class A  //Base Class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a,b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void </a:t>
            </a:r>
            <a:r>
              <a:rPr lang="en-US" sz="1600" b="1" dirty="0" err="1"/>
              <a:t>getnumber</a:t>
            </a:r>
            <a:r>
              <a:rPr lang="en-US" sz="1600" b="1" dirty="0"/>
              <a:t>()</a:t>
            </a:r>
          </a:p>
          <a:p>
            <a:r>
              <a:rPr lang="en-US" sz="1600" b="1" dirty="0"/>
              <a:t>  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&lt;&lt;"\n\</a:t>
            </a:r>
            <a:r>
              <a:rPr lang="en-US" sz="1600" b="1" dirty="0" err="1"/>
              <a:t>nEnter</a:t>
            </a:r>
            <a:r>
              <a:rPr lang="en-US" sz="1600" b="1" dirty="0"/>
              <a:t> Number :::\t";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cin</a:t>
            </a:r>
            <a:r>
              <a:rPr lang="en-US" sz="1600" b="1" dirty="0"/>
              <a:t>&gt;&gt;a;</a:t>
            </a:r>
          </a:p>
          <a:p>
            <a:r>
              <a:rPr lang="en-US" sz="1600" b="1" dirty="0"/>
              <a:t>    }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class B : public A  //Derived Class 1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void square()</a:t>
            </a:r>
          </a:p>
          <a:p>
            <a:r>
              <a:rPr lang="en-US" sz="1600" b="1" dirty="0"/>
              <a:t>  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getnumber</a:t>
            </a:r>
            <a:r>
              <a:rPr lang="en-US" sz="1600" b="1" dirty="0"/>
              <a:t>();  //Call Base class property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&lt;&lt;"\n\n\</a:t>
            </a:r>
            <a:r>
              <a:rPr lang="en-US" sz="1600" b="1" dirty="0" err="1"/>
              <a:t>tSquare</a:t>
            </a:r>
            <a:r>
              <a:rPr lang="en-US" sz="1600" b="1" dirty="0"/>
              <a:t> of the number :\t"&lt;&lt;(a*a);</a:t>
            </a:r>
          </a:p>
          <a:p>
            <a:r>
              <a:rPr lang="en-US" sz="1600" b="1" dirty="0"/>
              <a:t>    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4382" y="609601"/>
            <a:ext cx="4570809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class C :public A //Derived Class 2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  public:</a:t>
            </a:r>
          </a:p>
          <a:p>
            <a:r>
              <a:rPr lang="en-US" sz="1600" b="1" dirty="0"/>
              <a:t>    void cube()</a:t>
            </a:r>
          </a:p>
          <a:p>
            <a:r>
              <a:rPr lang="en-US" sz="1600" b="1" dirty="0"/>
              <a:t>  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getnumber</a:t>
            </a:r>
            <a:r>
              <a:rPr lang="en-US" sz="1600" b="1" dirty="0"/>
              <a:t>(); //Call Base class property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&lt;&lt;"\n\n\t Cube of the number :::\t"&lt;&lt;(a*a*a);</a:t>
            </a:r>
          </a:p>
          <a:p>
            <a:r>
              <a:rPr lang="en-US" sz="1600" b="1" dirty="0"/>
              <a:t>     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 err="1"/>
              <a:t>int</a:t>
            </a:r>
            <a:r>
              <a:rPr lang="en-US" sz="1600" b="1" dirty="0"/>
              <a:t>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clrscr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B b1;         //b1 is object of Derived class 1</a:t>
            </a:r>
          </a:p>
          <a:p>
            <a:r>
              <a:rPr lang="en-US" sz="1600" b="1" dirty="0"/>
              <a:t>b1.square();  //call member function of class B</a:t>
            </a:r>
          </a:p>
          <a:p>
            <a:r>
              <a:rPr lang="en-US" sz="1600" b="1" dirty="0"/>
              <a:t>C c1;         //c1 is object of Derived class 2</a:t>
            </a:r>
          </a:p>
          <a:p>
            <a:r>
              <a:rPr lang="en-US" sz="1600" b="1" dirty="0"/>
              <a:t>c1.cube();    //call member function of class C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 err="1"/>
              <a:t>getch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Hybrid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7777" y="1143000"/>
            <a:ext cx="7317105" cy="4343400"/>
          </a:xfrm>
        </p:spPr>
        <p:txBody>
          <a:bodyPr/>
          <a:lstStyle/>
          <a:p>
            <a:pPr algn="just"/>
            <a:r>
              <a:rPr lang="en-US" dirty="0"/>
              <a:t>Hybrid Inheritance is combination of Hierarchical and Multiple Inheritance.</a:t>
            </a:r>
          </a:p>
          <a:p>
            <a:pPr algn="just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123" name="Picture 3" descr="C:\Users\John Blesswin\Desktop\hybrid-inheritance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340" y="2438400"/>
            <a:ext cx="3469670" cy="330358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095" y="122238"/>
            <a:ext cx="7317105" cy="4873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3138" y="533400"/>
            <a:ext cx="297138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class arithmetic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protected:</a:t>
            </a:r>
          </a:p>
          <a:p>
            <a:r>
              <a:rPr lang="en-US" sz="1600" b="1" dirty="0" err="1"/>
              <a:t>int</a:t>
            </a:r>
            <a:r>
              <a:rPr lang="en-US" sz="1600" b="1" dirty="0"/>
              <a:t> num1, num2;</a:t>
            </a:r>
          </a:p>
          <a:p>
            <a:r>
              <a:rPr lang="en-US" sz="1600" b="1" dirty="0"/>
              <a:t>public:</a:t>
            </a:r>
          </a:p>
          <a:p>
            <a:r>
              <a:rPr lang="en-US" sz="1600" b="1" dirty="0"/>
              <a:t>void </a:t>
            </a:r>
            <a:r>
              <a:rPr lang="en-US" sz="1600" b="1" dirty="0" err="1"/>
              <a:t>getdata</a:t>
            </a:r>
            <a:r>
              <a:rPr lang="en-US" sz="1600" b="1" dirty="0"/>
              <a:t>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&lt;&lt;"For Addition:";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first number: ";</a:t>
            </a:r>
          </a:p>
          <a:p>
            <a:r>
              <a:rPr lang="en-US" sz="1600" b="1" dirty="0" err="1"/>
              <a:t>cin</a:t>
            </a:r>
            <a:r>
              <a:rPr lang="en-US" sz="1600" b="1" dirty="0"/>
              <a:t>&gt;&gt;num1;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second number: ";</a:t>
            </a:r>
          </a:p>
          <a:p>
            <a:r>
              <a:rPr lang="en-US" sz="1600" b="1" dirty="0" err="1"/>
              <a:t>cin</a:t>
            </a:r>
            <a:r>
              <a:rPr lang="en-US" sz="1600" b="1" dirty="0"/>
              <a:t>&gt;&gt;num2;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7000" y="533401"/>
            <a:ext cx="2630299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class </a:t>
            </a:r>
            <a:r>
              <a:rPr lang="en-US" sz="1600" b="1" dirty="0" err="1"/>
              <a:t>result:public</a:t>
            </a:r>
            <a:r>
              <a:rPr lang="en-US" sz="1600" b="1" dirty="0"/>
              <a:t> plus, public minus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public:</a:t>
            </a:r>
          </a:p>
          <a:p>
            <a:r>
              <a:rPr lang="en-US" sz="1600" b="1" dirty="0"/>
              <a:t>void display()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&lt;&lt;sum;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&lt;&lt;diff;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};</a:t>
            </a:r>
          </a:p>
          <a:p>
            <a:r>
              <a:rPr lang="en-US" sz="1600" b="1" dirty="0"/>
              <a:t>void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clrscr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result z;</a:t>
            </a:r>
          </a:p>
          <a:p>
            <a:r>
              <a:rPr lang="en-US" sz="1600" b="1" dirty="0" err="1"/>
              <a:t>z.getdata</a:t>
            </a:r>
            <a:r>
              <a:rPr lang="en-US" sz="1600" b="1" dirty="0"/>
              <a:t>();</a:t>
            </a:r>
          </a:p>
          <a:p>
            <a:r>
              <a:rPr lang="en-US" sz="1600" b="1" dirty="0" err="1"/>
              <a:t>z.add</a:t>
            </a:r>
            <a:r>
              <a:rPr lang="en-US" sz="1600" b="1" dirty="0"/>
              <a:t>();</a:t>
            </a:r>
          </a:p>
          <a:p>
            <a:r>
              <a:rPr lang="en-US" sz="1600" b="1" dirty="0"/>
              <a:t>z.sub();</a:t>
            </a:r>
          </a:p>
          <a:p>
            <a:r>
              <a:rPr lang="en-US" sz="1600" b="1" dirty="0" err="1"/>
              <a:t>z.display</a:t>
            </a:r>
            <a:r>
              <a:rPr lang="en-US" sz="1600" b="1" dirty="0"/>
              <a:t>();</a:t>
            </a:r>
          </a:p>
          <a:p>
            <a:r>
              <a:rPr lang="en-US" sz="1600" b="1"/>
              <a:t>}</a:t>
            </a:r>
            <a:endParaRPr lang="en-US" sz="1600" b="1" dirty="0"/>
          </a:p>
        </p:txBody>
      </p:sp>
      <p:sp>
        <p:nvSpPr>
          <p:cNvPr id="6" name="Rectangle 5"/>
          <p:cNvSpPr/>
          <p:nvPr/>
        </p:nvSpPr>
        <p:spPr>
          <a:xfrm>
            <a:off x="3088095" y="457200"/>
            <a:ext cx="323650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class minus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protected:</a:t>
            </a:r>
          </a:p>
          <a:p>
            <a:r>
              <a:rPr lang="en-US" sz="1600" b="1" dirty="0" err="1"/>
              <a:t>int</a:t>
            </a:r>
            <a:r>
              <a:rPr lang="en-US" sz="1600" b="1" dirty="0"/>
              <a:t> n1,n2,diff;</a:t>
            </a:r>
          </a:p>
          <a:p>
            <a:r>
              <a:rPr lang="en-US" sz="1600" b="1" dirty="0"/>
              <a:t>public:</a:t>
            </a:r>
          </a:p>
          <a:p>
            <a:r>
              <a:rPr lang="en-US" sz="1600" b="1" dirty="0"/>
              <a:t>void sub()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nFor</a:t>
            </a:r>
            <a:r>
              <a:rPr lang="en-US" sz="1600" b="1" dirty="0"/>
              <a:t> Subtraction:";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first number: ";</a:t>
            </a:r>
          </a:p>
          <a:p>
            <a:r>
              <a:rPr lang="en-US" sz="1600" b="1" dirty="0" err="1"/>
              <a:t>cin</a:t>
            </a:r>
            <a:r>
              <a:rPr lang="en-US" sz="1600" b="1" dirty="0"/>
              <a:t>&gt;&gt;n1;</a:t>
            </a:r>
          </a:p>
          <a:p>
            <a:r>
              <a:rPr lang="en-US" sz="1600" b="1" dirty="0" err="1"/>
              <a:t>cout</a:t>
            </a:r>
            <a:r>
              <a:rPr lang="en-US" sz="1600" b="1" dirty="0"/>
              <a:t>&lt;&lt;"\</a:t>
            </a:r>
            <a:r>
              <a:rPr lang="en-US" sz="1600" b="1" dirty="0" err="1"/>
              <a:t>nEnter</a:t>
            </a:r>
            <a:r>
              <a:rPr lang="en-US" sz="1600" b="1" dirty="0"/>
              <a:t> the second number: ";</a:t>
            </a:r>
          </a:p>
          <a:p>
            <a:r>
              <a:rPr lang="en-US" sz="1600" b="1" dirty="0" err="1"/>
              <a:t>cin</a:t>
            </a:r>
            <a:r>
              <a:rPr lang="en-US" sz="1600" b="1" dirty="0"/>
              <a:t>&gt;&gt;n2;</a:t>
            </a:r>
          </a:p>
          <a:p>
            <a:r>
              <a:rPr lang="en-US" sz="1600" b="1" dirty="0"/>
              <a:t>diff=n1-n2;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};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304" y="4038601"/>
            <a:ext cx="4570809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class </a:t>
            </a:r>
            <a:r>
              <a:rPr lang="en-US" sz="1600" b="1" dirty="0" err="1"/>
              <a:t>plus:public</a:t>
            </a:r>
            <a:r>
              <a:rPr lang="en-US" sz="1600" b="1" dirty="0"/>
              <a:t> arithmetic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protected:</a:t>
            </a:r>
          </a:p>
          <a:p>
            <a:r>
              <a:rPr lang="en-US" sz="1600" b="1" dirty="0" err="1"/>
              <a:t>int</a:t>
            </a:r>
            <a:r>
              <a:rPr lang="en-US" sz="1600" b="1" dirty="0"/>
              <a:t> sum;</a:t>
            </a:r>
          </a:p>
          <a:p>
            <a:r>
              <a:rPr lang="en-US" sz="1600" b="1" dirty="0"/>
              <a:t>public:</a:t>
            </a:r>
          </a:p>
          <a:p>
            <a:r>
              <a:rPr lang="en-US" sz="1600" b="1" dirty="0"/>
              <a:t>void add()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sum=num1+num2;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};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868362"/>
          </a:xfrm>
        </p:spPr>
        <p:txBody>
          <a:bodyPr>
            <a:normAutofit/>
          </a:bodyPr>
          <a:lstStyle/>
          <a:p>
            <a:r>
              <a:rPr lang="en-US" b="1" dirty="0"/>
              <a:t>Multipath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31" y="1295400"/>
            <a:ext cx="5658470" cy="54102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derived class with two base classes and the these two base classes have one common base class is called multipath inheritance.</a:t>
            </a:r>
          </a:p>
          <a:p>
            <a:pPr algn="just"/>
            <a:r>
              <a:rPr lang="en-US" dirty="0"/>
              <a:t>First part is hierarchical inheritance and the 2</a:t>
            </a:r>
            <a:r>
              <a:rPr lang="en-US" baseline="30000" dirty="0"/>
              <a:t>nd</a:t>
            </a:r>
            <a:r>
              <a:rPr lang="en-US" dirty="0"/>
              <a:t> part is multiple inheritance</a:t>
            </a:r>
          </a:p>
          <a:p>
            <a:pPr algn="just"/>
            <a:r>
              <a:rPr lang="en-US" dirty="0"/>
              <a:t>A  is inherited in C by two paths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60B5BDF-9267-A780-7D52-E61A71CD44E6}"/>
              </a:ext>
            </a:extLst>
          </p:cNvPr>
          <p:cNvSpPr/>
          <p:nvPr/>
        </p:nvSpPr>
        <p:spPr>
          <a:xfrm>
            <a:off x="6477000" y="1295400"/>
            <a:ext cx="2133600" cy="2133600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70BAA6D-9A56-961A-53CB-4F90F050DB20}"/>
              </a:ext>
            </a:extLst>
          </p:cNvPr>
          <p:cNvSpPr/>
          <p:nvPr/>
        </p:nvSpPr>
        <p:spPr>
          <a:xfrm>
            <a:off x="6609731" y="2514600"/>
            <a:ext cx="1848469" cy="2260600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pic>
        <p:nvPicPr>
          <p:cNvPr id="4" name="Picture 2" descr="C:\Users\John Blesswin\Desktop\virtual-base-class.png">
            <a:extLst>
              <a:ext uri="{FF2B5EF4-FFF2-40B4-BE49-F238E27FC236}">
                <a16:creationId xmlns:a16="http://schemas.microsoft.com/office/drawing/2014/main" xmlns="" id="{B21691E3-F843-E93B-F1D5-24F6770F1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599" y="1447800"/>
            <a:ext cx="2381870" cy="3175000"/>
          </a:xfrm>
          <a:prstGeom prst="rect">
            <a:avLst/>
          </a:prstGeom>
          <a:noFill/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69A0C09B-A637-4456-291F-0BE4D15CB7FC}"/>
              </a:ext>
            </a:extLst>
          </p:cNvPr>
          <p:cNvCxnSpPr/>
          <p:nvPr/>
        </p:nvCxnSpPr>
        <p:spPr>
          <a:xfrm flipV="1">
            <a:off x="1828800" y="2209800"/>
            <a:ext cx="4648200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9A5AF65E-8180-E6C9-3B53-CD3DAAF3A11A}"/>
              </a:ext>
            </a:extLst>
          </p:cNvPr>
          <p:cNvCxnSpPr/>
          <p:nvPr/>
        </p:nvCxnSpPr>
        <p:spPr>
          <a:xfrm flipV="1">
            <a:off x="4953000" y="4038600"/>
            <a:ext cx="1656731" cy="43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42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E80F9E-4118-CD50-EC85-46970BD2E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/>
          <a:lstStyle/>
          <a:p>
            <a:r>
              <a:rPr lang="en-US" b="1" dirty="0"/>
              <a:t>Multipath Inheritance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C2277817-69CA-D9BD-8794-C1BABA6E61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0843931"/>
              </p:ext>
            </p:extLst>
          </p:nvPr>
        </p:nvGraphicFramePr>
        <p:xfrm>
          <a:off x="7010400" y="1600200"/>
          <a:ext cx="16764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xmlns="" val="1820765119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0649949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847075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8176503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566631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275994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DDC179C-205B-F65D-9B0F-B214E304C947}"/>
              </a:ext>
            </a:extLst>
          </p:cNvPr>
          <p:cNvSpPr txBox="1"/>
          <p:nvPr/>
        </p:nvSpPr>
        <p:spPr>
          <a:xfrm>
            <a:off x="762000" y="1143001"/>
            <a:ext cx="5029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This is object layout of 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 is inherited in C by two paths</a:t>
            </a:r>
            <a:r>
              <a:rPr lang="en-IN" sz="2800" dirty="0"/>
              <a:t>. This is a problem.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 solution is to inherit A in B1 and B2 virtually.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For this, we use keyword virtual.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If we inherit A virtually in B1 and B2, A will appear in C only once.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Otherwise it will give error of ambiguous access</a:t>
            </a:r>
          </a:p>
        </p:txBody>
      </p:sp>
    </p:spTree>
    <p:extLst>
      <p:ext uri="{BB962C8B-B14F-4D97-AF65-F5344CB8AC3E}">
        <p14:creationId xmlns:p14="http://schemas.microsoft.com/office/powerpoint/2010/main" val="982892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274638"/>
            <a:ext cx="7317105" cy="868362"/>
          </a:xfrm>
        </p:spPr>
        <p:txBody>
          <a:bodyPr>
            <a:normAutofit/>
          </a:bodyPr>
          <a:lstStyle/>
          <a:p>
            <a:r>
              <a:rPr lang="en-US" b="1" dirty="0"/>
              <a:t>Multipath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449" y="1295400"/>
            <a:ext cx="7317105" cy="4876800"/>
          </a:xfrm>
        </p:spPr>
        <p:txBody>
          <a:bodyPr/>
          <a:lstStyle/>
          <a:p>
            <a:pPr algn="just"/>
            <a:r>
              <a:rPr lang="en-US" dirty="0"/>
              <a:t>Multipath inheritance may lead to duplication of inherited members from a grandparent base class. This may be avoided by making the common base class a virtual base class. When a class is made a virtual base class, C++ takes necessary care to see that only one copy of that class is inherited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449" y="76200"/>
            <a:ext cx="7317105" cy="792162"/>
          </a:xfrm>
        </p:spPr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994" y="990601"/>
            <a:ext cx="4570809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class A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	.....</a:t>
            </a:r>
          </a:p>
          <a:p>
            <a:r>
              <a:rPr lang="en-US" b="1" dirty="0"/>
              <a:t>};</a:t>
            </a:r>
          </a:p>
          <a:p>
            <a:endParaRPr lang="en-US" b="1" dirty="0"/>
          </a:p>
          <a:p>
            <a:r>
              <a:rPr lang="en-US" b="1" dirty="0"/>
              <a:t>class B1 : virtual public A 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	.....</a:t>
            </a:r>
          </a:p>
          <a:p>
            <a:r>
              <a:rPr lang="en-US" b="1" dirty="0"/>
              <a:t>};</a:t>
            </a:r>
          </a:p>
          <a:p>
            <a:endParaRPr lang="en-US" b="1" dirty="0"/>
          </a:p>
          <a:p>
            <a:r>
              <a:rPr lang="en-US" b="1" dirty="0"/>
              <a:t>class B2 : virtual public A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	.....</a:t>
            </a:r>
          </a:p>
          <a:p>
            <a:r>
              <a:rPr lang="en-US" b="1" dirty="0"/>
              <a:t>};</a:t>
            </a:r>
          </a:p>
          <a:p>
            <a:endParaRPr lang="en-US" b="1" dirty="0"/>
          </a:p>
          <a:p>
            <a:r>
              <a:rPr lang="en-US" b="1" dirty="0"/>
              <a:t>class C : public B1, public B2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	.....// only one copy of A</a:t>
            </a:r>
          </a:p>
          <a:p>
            <a:r>
              <a:rPr lang="en-US" b="1" dirty="0"/>
              <a:t>	.....// will be inherited</a:t>
            </a:r>
          </a:p>
          <a:p>
            <a:r>
              <a:rPr lang="en-US" b="1" dirty="0"/>
              <a:t>};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1237</Words>
  <Application>Microsoft Office PowerPoint</Application>
  <PresentationFormat>On-screen Show (4:3)</PresentationFormat>
  <Paragraphs>422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Moule-6 Inheritance</vt:lpstr>
      <vt:lpstr>Inheritance</vt:lpstr>
      <vt:lpstr>Syntax</vt:lpstr>
      <vt:lpstr>EXAMPLE</vt:lpstr>
      <vt:lpstr>Inheritance</vt:lpstr>
      <vt:lpstr>Mode of Inheritance</vt:lpstr>
      <vt:lpstr>Inheritance mode</vt:lpstr>
      <vt:lpstr>PowerPoint Presentation</vt:lpstr>
      <vt:lpstr>PowerPoint Presentation</vt:lpstr>
      <vt:lpstr>Inheritance: Common Example</vt:lpstr>
      <vt:lpstr>Types of inheritance</vt:lpstr>
      <vt:lpstr>Single inheritance</vt:lpstr>
      <vt:lpstr>Example</vt:lpstr>
      <vt:lpstr>Multiple Inheritance</vt:lpstr>
      <vt:lpstr>Example</vt:lpstr>
      <vt:lpstr>Multilevel Inheritance</vt:lpstr>
      <vt:lpstr>example</vt:lpstr>
      <vt:lpstr>Hierarchical Inheritance</vt:lpstr>
      <vt:lpstr>example</vt:lpstr>
      <vt:lpstr>Hybrid Inheritance</vt:lpstr>
      <vt:lpstr>example</vt:lpstr>
      <vt:lpstr>Multipath Inheritance</vt:lpstr>
      <vt:lpstr>Multipath Inheritance</vt:lpstr>
      <vt:lpstr>Multipath Inheritance</vt:lpstr>
      <vt:lpstr>EXAMPLE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 191CSC302T</dc:title>
  <dc:creator>HP</dc:creator>
  <cp:lastModifiedBy>Dr Arulkumar</cp:lastModifiedBy>
  <cp:revision>39</cp:revision>
  <dcterms:created xsi:type="dcterms:W3CDTF">2020-07-12T12:45:01Z</dcterms:created>
  <dcterms:modified xsi:type="dcterms:W3CDTF">2023-04-24T11:12:01Z</dcterms:modified>
</cp:coreProperties>
</file>