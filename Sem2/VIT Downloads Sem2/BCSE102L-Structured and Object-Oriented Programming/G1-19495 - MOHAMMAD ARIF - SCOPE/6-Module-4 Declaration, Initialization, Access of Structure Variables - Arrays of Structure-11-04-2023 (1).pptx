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6" r:id="rId1"/>
  </p:sldMasterIdLst>
  <p:notesMasterIdLst>
    <p:notesMasterId r:id="rId40"/>
  </p:notesMasterIdLst>
  <p:sldIdLst>
    <p:sldId id="260" r:id="rId2"/>
    <p:sldId id="466" r:id="rId3"/>
    <p:sldId id="514" r:id="rId4"/>
    <p:sldId id="516" r:id="rId5"/>
    <p:sldId id="515" r:id="rId6"/>
    <p:sldId id="518" r:id="rId7"/>
    <p:sldId id="268" r:id="rId8"/>
    <p:sldId id="301" r:id="rId9"/>
    <p:sldId id="286" r:id="rId10"/>
    <p:sldId id="517" r:id="rId11"/>
    <p:sldId id="289" r:id="rId12"/>
    <p:sldId id="519" r:id="rId13"/>
    <p:sldId id="257" r:id="rId14"/>
    <p:sldId id="258" r:id="rId15"/>
    <p:sldId id="521" r:id="rId16"/>
    <p:sldId id="522" r:id="rId17"/>
    <p:sldId id="261" r:id="rId18"/>
    <p:sldId id="262" r:id="rId19"/>
    <p:sldId id="523" r:id="rId20"/>
    <p:sldId id="263" r:id="rId21"/>
    <p:sldId id="264" r:id="rId22"/>
    <p:sldId id="265" r:id="rId23"/>
    <p:sldId id="266" r:id="rId24"/>
    <p:sldId id="267" r:id="rId25"/>
    <p:sldId id="269" r:id="rId26"/>
    <p:sldId id="270" r:id="rId27"/>
    <p:sldId id="274" r:id="rId28"/>
    <p:sldId id="273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5" r:id="rId38"/>
    <p:sldId id="284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77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4FB34-8230-4AEB-8DB3-C38ADE216989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2AC640-3B9E-439A-B5B7-1392179AB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3430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D75C01-3745-4B2E-9946-2C92112464CA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914983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5BABEA-578C-42A1-BFE5-81385501BADE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9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680189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6A6A408-FE52-467A-A04D-5D617D271810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11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3029765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B7691F-72D2-4D13-BBA0-C2D1C2971971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1861539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433180B-10BE-4AD2-BF8F-BC9576B0D38F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595074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26FD95D-88E6-4750-A264-75C0D623E694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6951149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0B7691F-72D2-4D13-BBA0-C2D1C2971971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193753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5C940A0-45E4-4481-84C2-0A08FD16545F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221507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489AAF-ADA3-4A4F-839D-2B228A3DC540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212410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25AE0E-DE75-4733-8F34-E851B87B5DB6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059639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06A2E47-51BD-4A82-BD39-84001717CA42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2708126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081931-A8D8-48C3-9FCB-673BADEF6FAB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27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8789121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BC582E-9398-4D5D-8032-88C1A0C4E007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28916772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6A7A59-361C-41C1-94A2-B3AC1E84B07F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41380632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93B020-2C8E-4AD2-AB38-7633657D0ECC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6318992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EFF43C-DF1B-4689-B347-BCEAACCC80C9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145666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8A6C4B7-2E22-43AA-BCA4-E0A9C177A2D9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30883358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4201EC9-8AEB-4A97-9CBC-5EFFBF9DA197}" type="slidenum">
              <a:rPr lang="en-IN" altLang="en-US"/>
              <a:pPr>
                <a:spcBef>
                  <a:spcPct val="0"/>
                </a:spcBef>
              </a:pPr>
              <a:t>30</a:t>
            </a:fld>
            <a:endParaRPr lang="en-IN" alt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9250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BBCFF-9C12-BAEA-E9CB-4E7DEE4920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E85CC-48E0-2E40-E105-5685C2B14F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8BE15-CB58-1E3F-4BC5-80946B61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1DC51-2E9F-E40E-81D7-354D3E9E3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1CC3C-3C49-B966-CFF9-8926B6E8E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263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926B2-7234-2ABB-9DA7-8E6D16969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5110A-5782-125D-0969-9FCC1EC45F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7841E-A310-C860-D392-57A168A3C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8E6AB-D556-4C90-2C4B-16A58FFC0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C212E-BBF0-37FD-C9A8-F16E78E6A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464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CC8C3-5C42-F7D1-AF09-3F04120DB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2BB79-4E89-8ABB-9FA1-6E0D36D3E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F5CC0-20D1-1690-0DA2-731975366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C318D-56A0-2B2A-C86F-555EC9628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AAD8B-44EB-5CC0-358F-335197BF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334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45F8C-43DE-E6A7-B6D8-85C0EC1237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FF17A-6243-D86C-CF0D-522CB397D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F15795-F21D-A8AD-DF78-F01CBB269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E1D0C4-8E37-B385-D4FD-AC443F24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EBE77-068E-BA72-15E5-FE6487ED1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FA049E-110F-1FFA-5886-D2595F4E9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59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0C672-9CEC-0690-5F38-24797AA73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924D2-2EBB-C41A-7BE1-D84115CAA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3C35C-D52A-9E8B-DC40-86EAA94C6E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072B0F-8625-2F7C-8786-FDDBCD2CF1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EDFA7-3B37-5BFB-B581-116D733781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4CBC4-9D56-6BD5-06DA-1C3B01502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B3AB83-2F1F-5BA7-6B0E-AADF125E4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FE18A1-C659-C0B9-0801-E83F4709D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20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99B35-B034-DEBB-82D8-01B0CE6AE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B59493-86B4-55F4-AB16-C2265FBC5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2438B-C74D-C570-6414-72E441BAB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4CA0C-6D4C-F6EC-985D-6A284DB65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9303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6C049C-8D44-1869-04BD-0E87F0623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3E45A4-1F77-DC10-7767-73E8C371A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B6AD6-339F-4721-910E-DD80115A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675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757F6-2663-273E-2225-467CAB881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D54E9-10D3-2880-AC00-0F9923671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28D67-9D4D-8727-ACE2-00859B0B3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CECC5C-01C9-4B81-4C0E-77F7034DD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14F8E-84E3-F663-4C2C-7C2B0B98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E15096-51EE-6B49-151C-3325E75F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364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5C003-569A-8298-97B2-A63D78779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1C91E-84A9-6C2A-32F1-8949AFF2F9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F23080-FF45-4AFE-7B54-4B5C98CC2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8A97C-54A7-47B6-3067-BDA54534D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5921A-45B1-C9E1-D3E2-FC72922CE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B5F785-9392-6BC9-EBEF-0ADB2654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33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F0E16-295A-E3A5-1552-5FA58C47B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5F3313-B13D-6966-B578-50CBBE6E9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F5EE9-9F45-46D8-4A51-6614150ED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70090-1137-EC97-45F5-23EDB4C04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AB7F7-1A8C-5E6D-50BC-3C5E4061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08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A17C29-3BA2-FA34-F0C4-79AAA86F9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BCDD6-934D-7CE2-C1E0-5ACE5B9567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1F093B-4F26-F37D-F07B-6F5F31456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093C6-28F6-A7E5-358C-360094EC3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1895D-F21D-BC11-A6C1-7DC449B34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95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1FBDCF-FE60-F1E4-C3D4-CBDD26A2B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316D00-5842-BFBC-6906-03EE71A4A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82E6EF-8A5B-04DB-9C72-8425F37F7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CB727-BFFB-4DF1-9D99-4FA2B01D0B8C}" type="datetimeFigureOut">
              <a:rPr lang="en-IN" smtClean="0"/>
              <a:t>06-04-2023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F41C4-8A39-6998-0C78-A6475D7C99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1142AF-DE74-B0C3-A7AF-E236448053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B6311-B696-4177-84CB-11C371528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110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7" r:id="rId1"/>
    <p:sldLayoutId id="2147483838" r:id="rId2"/>
    <p:sldLayoutId id="2147483839" r:id="rId3"/>
    <p:sldLayoutId id="2147483840" r:id="rId4"/>
    <p:sldLayoutId id="2147483841" r:id="rId5"/>
    <p:sldLayoutId id="2147483842" r:id="rId6"/>
    <p:sldLayoutId id="2147483843" r:id="rId7"/>
    <p:sldLayoutId id="2147483844" r:id="rId8"/>
    <p:sldLayoutId id="2147483845" r:id="rId9"/>
    <p:sldLayoutId id="2147483846" r:id="rId10"/>
    <p:sldLayoutId id="214748384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4237" y="1740039"/>
            <a:ext cx="9479185" cy="1525773"/>
          </a:xfrm>
        </p:spPr>
        <p:txBody>
          <a:bodyPr>
            <a:normAutofit fontScale="90000"/>
          </a:bodyPr>
          <a:lstStyle/>
          <a:p>
            <a:r>
              <a:rPr lang="en-US" dirty="0"/>
              <a:t>Module-4</a:t>
            </a:r>
            <a:br>
              <a:rPr lang="en-US" dirty="0"/>
            </a:br>
            <a:r>
              <a:rPr lang="en-US" dirty="0"/>
              <a:t>Structure and Union</a:t>
            </a:r>
          </a:p>
        </p:txBody>
      </p:sp>
    </p:spTree>
    <p:extLst>
      <p:ext uri="{BB962C8B-B14F-4D97-AF65-F5344CB8AC3E}">
        <p14:creationId xmlns:p14="http://schemas.microsoft.com/office/powerpoint/2010/main" val="53081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8171-DC0F-4ECB-85B1-807D1A8A3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CLASSIFICATION :DATA TYPE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225EA45-3996-462B-9283-2988748CC6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1432" y="1445303"/>
            <a:ext cx="10202764" cy="5047572"/>
          </a:xfrm>
        </p:spPr>
      </p:pic>
    </p:spTree>
    <p:extLst>
      <p:ext uri="{BB962C8B-B14F-4D97-AF65-F5344CB8AC3E}">
        <p14:creationId xmlns:p14="http://schemas.microsoft.com/office/powerpoint/2010/main" val="1463696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694"/>
    </mc:Choice>
    <mc:Fallback xmlns="">
      <p:transition spd="slow" advTm="4169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A04FF62-A297-4453-8E98-5A9D3112B39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589844" y="365125"/>
            <a:ext cx="8753856" cy="1325563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Cordia New" panose="020B0502040204020203" pitchFamily="34" charset="-34"/>
              </a:rPr>
              <a:t>User Defined Data Type </a:t>
            </a:r>
            <a:endParaRPr lang="th-TH" altLang="en-US" dirty="0">
              <a:ea typeface="Cordia New" panose="020B0502040204020203" pitchFamily="34" charset="-34"/>
            </a:endParaRP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D402706-44DB-4777-9FF5-0087D5AB3A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6711" y="1486958"/>
            <a:ext cx="10052304" cy="4789664"/>
          </a:xfrm>
        </p:spPr>
        <p:txBody>
          <a:bodyPr>
            <a:normAutofit/>
          </a:bodyPr>
          <a:lstStyle/>
          <a:p>
            <a:pPr algn="l" rtl="0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C language has some standard data types such as int, double and char.</a:t>
            </a:r>
          </a:p>
          <a:p>
            <a:pPr algn="l" rtl="0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However you can create your own data type, based on the basic ones.</a:t>
            </a:r>
          </a:p>
          <a:p>
            <a:pPr algn="l" rtl="0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There are Four ways  do this:</a:t>
            </a:r>
          </a:p>
          <a:p>
            <a:pPr lvl="1"/>
            <a:r>
              <a:rPr lang="en-US" b="0" i="0" dirty="0" err="1">
                <a:solidFill>
                  <a:srgbClr val="282829"/>
                </a:solidFill>
                <a:effectLst/>
                <a:latin typeface="-apple-system"/>
              </a:rPr>
              <a:t>enum</a:t>
            </a:r>
            <a:endParaRPr lang="en-US" b="0" i="0" dirty="0">
              <a:solidFill>
                <a:srgbClr val="282829"/>
              </a:solidFill>
              <a:effectLst/>
              <a:latin typeface="-apple-system"/>
            </a:endParaRPr>
          </a:p>
          <a:p>
            <a:pPr lvl="1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typedef</a:t>
            </a:r>
          </a:p>
          <a:p>
            <a:pPr lvl="1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struct</a:t>
            </a:r>
          </a:p>
          <a:p>
            <a:pPr lvl="1"/>
            <a:r>
              <a:rPr lang="en-US" b="0" i="0" dirty="0">
                <a:solidFill>
                  <a:srgbClr val="282829"/>
                </a:solidFill>
                <a:effectLst/>
                <a:latin typeface="-apple-system"/>
              </a:rPr>
              <a:t>union</a:t>
            </a:r>
          </a:p>
          <a:p>
            <a:pPr marL="0" indent="0" algn="just" rtl="0" fontAlgn="base">
              <a:spcBef>
                <a:spcPts val="400"/>
              </a:spcBef>
              <a:spcAft>
                <a:spcPts val="0"/>
              </a:spcAft>
              <a:buNone/>
            </a:pPr>
            <a:endParaRPr lang="th-TH" altLang="en-US" dirty="0">
              <a:latin typeface="Monsterrat"/>
              <a:ea typeface="Browallia New" panose="020B05020402040202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592512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numerated Data Type ( enum ) &lt;ul&gt;&lt;li&gt;An Enumerated data type consists of an ordered set of distinct constant values defin...">
            <a:extLst>
              <a:ext uri="{FF2B5EF4-FFF2-40B4-BE49-F238E27FC236}">
                <a16:creationId xmlns:a16="http://schemas.microsoft.com/office/drawing/2014/main" id="{933124DB-CF49-4583-81D3-F50F895B9D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746" y="184827"/>
            <a:ext cx="9422211" cy="6498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16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A04FF62-A297-4453-8E98-5A9D3112B39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838200" y="180298"/>
            <a:ext cx="10515600" cy="666007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ea typeface="Cordia New" panose="020B0502040204020203" pitchFamily="34" charset="-34"/>
              </a:rPr>
              <a:t>Enumerated Data Type</a:t>
            </a:r>
            <a:endParaRPr lang="th-TH" altLang="en-US" dirty="0">
              <a:ea typeface="Cordia New" panose="020B0502040204020203" pitchFamily="34" charset="-34"/>
            </a:endParaRPr>
          </a:p>
        </p:txBody>
      </p:sp>
      <p:pic>
        <p:nvPicPr>
          <p:cNvPr id="2052" name="Picture 4" descr="&lt;ul&gt;&lt;li&gt;Example  (1) : - &lt;/li&gt;&lt;/ul&gt;&lt;ul&gt;&lt;li&gt;enum fruit &lt;/li&gt;&lt;/ul&gt;&lt;ul&gt;&lt;li&gt;{ &lt;/li&gt;&lt;/ul&gt;&lt;ul&gt;&lt;li&gt;apple,orange,mango,pineapple; ...">
            <a:extLst>
              <a:ext uri="{FF2B5EF4-FFF2-40B4-BE49-F238E27FC236}">
                <a16:creationId xmlns:a16="http://schemas.microsoft.com/office/drawing/2014/main" id="{F3A1C915-D467-4768-B3E7-174B9D190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582" y="768485"/>
            <a:ext cx="8976078" cy="5943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5309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9A04FF62-A297-4453-8E98-5A9D3112B39B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838200" y="365125"/>
            <a:ext cx="10515600" cy="773011"/>
          </a:xfrm>
        </p:spPr>
        <p:txBody>
          <a:bodyPr/>
          <a:lstStyle/>
          <a:p>
            <a:pPr eaLnBrk="1" hangingPunct="1"/>
            <a:r>
              <a:rPr lang="en-US" altLang="en-US" dirty="0">
                <a:ea typeface="Cordia New" panose="020B0502040204020203" pitchFamily="34" charset="-34"/>
              </a:rPr>
              <a:t>Enumerated Data Type</a:t>
            </a:r>
            <a:endParaRPr lang="th-TH" altLang="en-US" dirty="0">
              <a:ea typeface="Cordia New" panose="020B0502040204020203" pitchFamily="34" charset="-34"/>
            </a:endParaRPr>
          </a:p>
        </p:txBody>
      </p:sp>
      <p:pic>
        <p:nvPicPr>
          <p:cNvPr id="3" name="Picture 2" descr="&lt;ul&gt;&lt;li&gt;Example  (2) : - &lt;/li&gt;&lt;/ul&gt;&lt;ul&gt;&lt;li&gt;Part-1 enum days &lt;/li&gt;&lt;/ul&gt;&lt;ul&gt;&lt;li&gt;{ &lt;/li&gt;&lt;/ul&gt;&lt;ul&gt;&lt;li&gt;mon,tue,wed,thu,fri,sat,...">
            <a:extLst>
              <a:ext uri="{FF2B5EF4-FFF2-40B4-BE49-F238E27FC236}">
                <a16:creationId xmlns:a16="http://schemas.microsoft.com/office/drawing/2014/main" id="{6557FD0D-E10F-4C55-9866-74F37C75D3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9" t="5813" r="409" b="7018"/>
          <a:stretch/>
        </p:blipFill>
        <p:spPr bwMode="auto">
          <a:xfrm>
            <a:off x="1050108" y="1128404"/>
            <a:ext cx="9505245" cy="54280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0261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39EFD7D-5268-4550-8901-E19E268E33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72533" y="194734"/>
            <a:ext cx="9674578" cy="855853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en-US" dirty="0">
                <a:ea typeface="Cordia New" panose="020B0502040204020203" pitchFamily="34" charset="-34"/>
              </a:rPr>
              <a:t>Enumerated Data Type</a:t>
            </a:r>
            <a:endParaRPr lang="en-GB" dirty="0"/>
          </a:p>
        </p:txBody>
      </p:sp>
      <p:pic>
        <p:nvPicPr>
          <p:cNvPr id="4098" name="Picture 2" descr="&lt;ul&gt;&lt;li&gt;The two parts in  example-2  can be combined if desired, resulting in &lt;/li&gt;&lt;/ul&gt;&lt;ul&gt;&lt;li&gt;enum days &lt;/li&gt;&lt;/ul&gt;&lt;ul&gt;&lt;l...">
            <a:extLst>
              <a:ext uri="{FF2B5EF4-FFF2-40B4-BE49-F238E27FC236}">
                <a16:creationId xmlns:a16="http://schemas.microsoft.com/office/drawing/2014/main" id="{7BA98D74-B417-4323-A285-1634E1BE33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69"/>
          <a:stretch/>
        </p:blipFill>
        <p:spPr bwMode="auto">
          <a:xfrm>
            <a:off x="829735" y="948447"/>
            <a:ext cx="9530223" cy="565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25996A4-71D9-4151-8971-62F18988D1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422" y="158750"/>
            <a:ext cx="10182578" cy="882110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en-US" sz="3600" dirty="0">
                <a:ea typeface="Cordia New" panose="020B0502040204020203" pitchFamily="34" charset="-34"/>
              </a:rPr>
              <a:t>Enumerated Data Type</a:t>
            </a:r>
            <a:endParaRPr lang="en-GB" sz="3600" dirty="0"/>
          </a:p>
        </p:txBody>
      </p:sp>
      <p:pic>
        <p:nvPicPr>
          <p:cNvPr id="5122" name="Picture 2" descr="&lt;ul&gt;&lt;li&gt;Enumeration constants are  automatically assigned  equivalent integer values, beginning with 0 for the first const...">
            <a:extLst>
              <a:ext uri="{FF2B5EF4-FFF2-40B4-BE49-F238E27FC236}">
                <a16:creationId xmlns:a16="http://schemas.microsoft.com/office/drawing/2014/main" id="{76AA70ED-0A4E-48E8-A644-8D05ECFB25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156"/>
          <a:stretch/>
        </p:blipFill>
        <p:spPr bwMode="auto">
          <a:xfrm>
            <a:off x="991262" y="963041"/>
            <a:ext cx="9193598" cy="563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C91264F-968C-4562-87EA-CD5680228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5422" y="335943"/>
            <a:ext cx="9527822" cy="71464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dirty="0">
                <a:ea typeface="Cordia New" panose="020B0502040204020203" pitchFamily="34" charset="-34"/>
              </a:rPr>
              <a:t>Enumerated Data Type</a:t>
            </a:r>
            <a:endParaRPr lang="en-US" altLang="en-US" sz="3600" b="1" dirty="0"/>
          </a:p>
        </p:txBody>
      </p:sp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87927AEC-6D9D-453A-9F62-BF19A5F4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F45DE5-D1E9-45C0-8054-589C39E88B2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9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6146" name="Picture 2" descr="&lt;ul&gt;&lt;li&gt;These automatic assignments can be  overridden by assigning explicit integer values  which differ from the default...">
            <a:extLst>
              <a:ext uri="{FF2B5EF4-FFF2-40B4-BE49-F238E27FC236}">
                <a16:creationId xmlns:a16="http://schemas.microsoft.com/office/drawing/2014/main" id="{3E9B43CA-0A94-4CDD-9D2B-495FE81062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257" y="894945"/>
            <a:ext cx="9527822" cy="5826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Slide Number Placeholder 5">
            <a:extLst>
              <a:ext uri="{FF2B5EF4-FFF2-40B4-BE49-F238E27FC236}">
                <a16:creationId xmlns:a16="http://schemas.microsoft.com/office/drawing/2014/main" id="{87927AEC-6D9D-453A-9F62-BF19A5F4D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64F45DE5-D1E9-45C0-8054-589C39E88B25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10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  <p:pic>
        <p:nvPicPr>
          <p:cNvPr id="7170" name="Picture 2" descr="Operations on Enumerated Data Types &lt;ul&gt;&lt;li&gt;Assignment &lt;/li&gt;&lt;/ul&gt;&lt;ul&gt;&lt;ul&gt;&lt;li&gt;example : -  holiday=sun; &lt;/li&gt;&lt;/ul&gt;&lt;/ul&gt;&lt;ul&gt;...">
            <a:extLst>
              <a:ext uri="{FF2B5EF4-FFF2-40B4-BE49-F238E27FC236}">
                <a16:creationId xmlns:a16="http://schemas.microsoft.com/office/drawing/2014/main" id="{CEE7FF18-DE0C-44CE-B8F1-5A2A72C1C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690"/>
          <a:stretch/>
        </p:blipFill>
        <p:spPr bwMode="auto">
          <a:xfrm>
            <a:off x="1086137" y="311287"/>
            <a:ext cx="9196001" cy="576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381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Advantages of Enumerated Data Types &lt;ul&gt;&lt;li&gt;Simplifies the Program. &lt;/li&gt;&lt;/ul&gt;&lt;ul&gt;&lt;li&gt;enhances the readability of the prog...">
            <a:extLst>
              <a:ext uri="{FF2B5EF4-FFF2-40B4-BE49-F238E27FC236}">
                <a16:creationId xmlns:a16="http://schemas.microsoft.com/office/drawing/2014/main" id="{A53D5702-87DA-4076-B1D1-8BE324BAA44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199" y="194553"/>
            <a:ext cx="9313334" cy="6478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68" name="Slide Number Placeholder 4">
            <a:extLst>
              <a:ext uri="{FF2B5EF4-FFF2-40B4-BE49-F238E27FC236}">
                <a16:creationId xmlns:a16="http://schemas.microsoft.com/office/drawing/2014/main" id="{EAFC998B-B391-4E2A-B5F7-6A589080B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14786D0D-69C3-4B72-B7FB-30E1E8ED617B}" type="slidenum">
              <a:rPr lang="en-US" altLang="en-US">
                <a:solidFill>
                  <a:srgbClr val="898989"/>
                </a:solidFill>
                <a:latin typeface="Calibri" panose="020F0502020204030204" pitchFamily="34" charset="0"/>
              </a:rPr>
              <a:pPr eaLnBrk="1" hangingPunct="1"/>
              <a:t>11</a:t>
            </a:fld>
            <a:endParaRPr lang="en-US" altLang="en-US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6A485-2F54-42BF-AB61-9DA40F59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889" y="131656"/>
            <a:ext cx="8971167" cy="646552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Cordia New" panose="020B0502040204020203" pitchFamily="34" charset="-34"/>
              </a:rPr>
              <a:t>typedef</a:t>
            </a:r>
            <a:endParaRPr lang="en-IN" dirty="0"/>
          </a:p>
        </p:txBody>
      </p:sp>
      <p:pic>
        <p:nvPicPr>
          <p:cNvPr id="9218" name="Picture 2" descr="Redefining Data Types with  typedef &lt;ul&gt;&lt;li&gt;In c, it is possible to redefine the built-in as well as user defined data typ...">
            <a:extLst>
              <a:ext uri="{FF2B5EF4-FFF2-40B4-BE49-F238E27FC236}">
                <a16:creationId xmlns:a16="http://schemas.microsoft.com/office/drawing/2014/main" id="{38D08E8D-0A08-465C-8E4A-3AF7E46C4B1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7819" y="778208"/>
            <a:ext cx="8873307" cy="5904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954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Structure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508000" y="1825625"/>
            <a:ext cx="10153904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800" dirty="0"/>
              <a:t>Structure is a way in which a complex user-defined data type can be created using simple types.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800" dirty="0"/>
              <a:t>Is a derived data type like array, but unlike array can contain elements of various types.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800" dirty="0"/>
              <a:t>For example, an employee is a data-type consisting of employee number, name and salary.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800" dirty="0"/>
              <a:t>Structure allows us to define employee, and then assign variables to the employee structure type.</a:t>
            </a:r>
          </a:p>
        </p:txBody>
      </p:sp>
    </p:spTree>
    <p:extLst>
      <p:ext uri="{BB962C8B-B14F-4D97-AF65-F5344CB8AC3E}">
        <p14:creationId xmlns:p14="http://schemas.microsoft.com/office/powerpoint/2010/main" val="1124626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51556" y="203200"/>
            <a:ext cx="9826977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Syntax – Definition and Declaration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451556" y="1206230"/>
            <a:ext cx="10123311" cy="5448570"/>
          </a:xfrm>
        </p:spPr>
        <p:txBody>
          <a:bodyPr/>
          <a:lstStyle/>
          <a:p>
            <a:pPr eaLnBrk="1" hangingPunct="1">
              <a:buClr>
                <a:schemeClr val="tx2"/>
              </a:buClr>
            </a:pPr>
            <a:r>
              <a:rPr lang="en-US" altLang="en-US" dirty="0"/>
              <a:t>Defining structure: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struct-name{</a:t>
            </a:r>
          </a:p>
          <a:p>
            <a:pPr lvl="1">
              <a:buClr>
                <a:schemeClr val="tx2"/>
              </a:buClr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data-type member-name1;</a:t>
            </a:r>
          </a:p>
          <a:p>
            <a:pPr lvl="1">
              <a:buClr>
                <a:schemeClr val="tx2"/>
              </a:buClr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data-type member-name2;</a:t>
            </a:r>
          </a:p>
          <a:p>
            <a:pPr lvl="1">
              <a:buClr>
                <a:schemeClr val="tx2"/>
              </a:buClr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…</a:t>
            </a:r>
          </a:p>
          <a:p>
            <a:pPr lvl="1">
              <a:buClr>
                <a:schemeClr val="tx2"/>
              </a:buClr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data-type member-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namen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buClr>
                <a:schemeClr val="tx2"/>
              </a:buClr>
            </a:pPr>
            <a:r>
              <a:rPr lang="en-US" altLang="en-US" dirty="0"/>
              <a:t>Declaring a variable of struct-type:</a:t>
            </a:r>
          </a:p>
          <a:p>
            <a:pPr eaLnBrk="1" hangingPunct="1"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struct-name variable-name;</a:t>
            </a:r>
          </a:p>
        </p:txBody>
      </p:sp>
      <p:sp>
        <p:nvSpPr>
          <p:cNvPr id="8196" name="AutoShape 4"/>
          <p:cNvSpPr>
            <a:spLocks/>
          </p:cNvSpPr>
          <p:nvPr/>
        </p:nvSpPr>
        <p:spPr bwMode="auto">
          <a:xfrm>
            <a:off x="8153399" y="2810934"/>
            <a:ext cx="304800" cy="1295400"/>
          </a:xfrm>
          <a:prstGeom prst="rightBrace">
            <a:avLst>
              <a:gd name="adj1" fmla="val 35417"/>
              <a:gd name="adj2" fmla="val 50000"/>
            </a:avLst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IN" altLang="en-US" sz="1800">
              <a:solidFill>
                <a:schemeClr val="tx1"/>
              </a:solidFill>
            </a:endParaRPr>
          </a:p>
        </p:txBody>
      </p:sp>
      <p:sp>
        <p:nvSpPr>
          <p:cNvPr id="8197" name="Text Box 6"/>
          <p:cNvSpPr txBox="1">
            <a:spLocks noChangeArrowheads="1"/>
          </p:cNvSpPr>
          <p:nvPr/>
        </p:nvSpPr>
        <p:spPr bwMode="auto">
          <a:xfrm>
            <a:off x="9152467" y="3212041"/>
            <a:ext cx="1541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</a:rPr>
              <a:t>members</a:t>
            </a:r>
          </a:p>
        </p:txBody>
      </p:sp>
    </p:spTree>
    <p:extLst>
      <p:ext uri="{BB962C8B-B14F-4D97-AF65-F5344CB8AC3E}">
        <p14:creationId xmlns:p14="http://schemas.microsoft.com/office/powerpoint/2010/main" val="32135253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275977" y="1475429"/>
            <a:ext cx="10424837" cy="4944825"/>
          </a:xfrm>
        </p:spPr>
        <p:txBody>
          <a:bodyPr>
            <a:normAutofit/>
          </a:bodyPr>
          <a:lstStyle/>
          <a:p>
            <a:pPr>
              <a:buClr>
                <a:schemeClr val="tx2"/>
              </a:buClr>
            </a:pPr>
            <a:r>
              <a:rPr lang="en-US" altLang="en-US" dirty="0"/>
              <a:t>Defining structure: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 eaLnBrk="1" hangingPunct="1">
              <a:buClr>
                <a:schemeClr val="tx2"/>
              </a:buClr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employee{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emp_num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char name[30];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double salary;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buClr>
                <a:schemeClr val="tx2"/>
              </a:buClr>
              <a:buFont typeface="Wingdings" panose="05000000000000000000" pitchFamily="2" charset="2"/>
              <a:buNone/>
            </a:pP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buClr>
                <a:schemeClr val="tx2"/>
              </a:buClr>
            </a:pPr>
            <a:r>
              <a:rPr lang="en-US" altLang="en-US" dirty="0"/>
              <a:t>Declaring variable of struct-type: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 eaLnBrk="1" hangingPunct="1">
              <a:buClr>
                <a:schemeClr val="tx2"/>
              </a:buClr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employee emp1,emp2;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7467601" y="2362201"/>
            <a:ext cx="1433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solidFill>
                  <a:schemeClr val="tx2"/>
                </a:solidFill>
              </a:rPr>
              <a:t>defining</a:t>
            </a:r>
          </a:p>
        </p:txBody>
      </p:sp>
      <p:sp>
        <p:nvSpPr>
          <p:cNvPr id="10245" name="Text Box 5"/>
          <p:cNvSpPr txBox="1">
            <a:spLocks noChangeArrowheads="1"/>
          </p:cNvSpPr>
          <p:nvPr/>
        </p:nvSpPr>
        <p:spPr bwMode="auto">
          <a:xfrm>
            <a:off x="8001000" y="4343401"/>
            <a:ext cx="163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>
                <a:solidFill>
                  <a:schemeClr val="tx2"/>
                </a:solidFill>
              </a:rPr>
              <a:t>declaring</a:t>
            </a:r>
          </a:p>
        </p:txBody>
      </p:sp>
    </p:spTree>
    <p:extLst>
      <p:ext uri="{BB962C8B-B14F-4D97-AF65-F5344CB8AC3E}">
        <p14:creationId xmlns:p14="http://schemas.microsoft.com/office/powerpoint/2010/main" val="1959260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61245" y="365125"/>
            <a:ext cx="9230812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Accessing members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225778" y="1825625"/>
            <a:ext cx="10436126" cy="4351338"/>
          </a:xfrm>
        </p:spPr>
        <p:txBody>
          <a:bodyPr>
            <a:normAutofit/>
          </a:bodyPr>
          <a:lstStyle/>
          <a:p>
            <a:pPr eaLnBrk="1" hangingPunct="1">
              <a:buClr>
                <a:schemeClr val="tx2"/>
              </a:buClr>
            </a:pPr>
            <a:r>
              <a:rPr lang="en-US" altLang="en-US" dirty="0"/>
              <a:t>Structure members can be accessed using  ‘. ‘ (member access) operator on the structure variable.</a:t>
            </a:r>
          </a:p>
          <a:p>
            <a:pPr eaLnBrk="1" hangingPunct="1">
              <a:buClr>
                <a:schemeClr val="tx2"/>
              </a:buClr>
            </a:pPr>
            <a:endParaRPr lang="en-US" altLang="en-US" dirty="0"/>
          </a:p>
          <a:p>
            <a:pPr eaLnBrk="1" hangingPunct="1">
              <a:buClr>
                <a:schemeClr val="tx2"/>
              </a:buClr>
            </a:pPr>
            <a:r>
              <a:rPr lang="en-US" altLang="en-US" dirty="0"/>
              <a:t>Example: </a:t>
            </a:r>
          </a:p>
          <a:p>
            <a:pPr lvl="1" eaLnBrk="1" hangingPunct="1">
              <a:buClr>
                <a:schemeClr val="tx2"/>
              </a:buClr>
              <a:buFontTx/>
              <a:buChar char="•"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emp1.emp_num, emp2.name</a:t>
            </a:r>
          </a:p>
          <a:p>
            <a:pPr lvl="1" eaLnBrk="1" hangingPunct="1">
              <a:buClr>
                <a:schemeClr val="tx2"/>
              </a:buClr>
              <a:buFontTx/>
              <a:buChar char="•"/>
            </a:pPr>
            <a:endParaRPr lang="en-US" altLang="en-US" sz="2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eaLnBrk="1" hangingPunct="1">
              <a:buClr>
                <a:schemeClr val="tx2"/>
              </a:buClr>
            </a:pPr>
            <a:r>
              <a:rPr lang="en-US" altLang="en-US" dirty="0"/>
              <a:t>Structure members can be initialized during the declaration as:</a:t>
            </a:r>
          </a:p>
          <a:p>
            <a:pPr lvl="1" eaLnBrk="1" hangingPunct="1">
              <a:buClr>
                <a:schemeClr val="tx2"/>
              </a:buClr>
              <a:buFontTx/>
              <a:buChar char="•"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employee 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={123,”Bobby”,345.50};</a:t>
            </a:r>
          </a:p>
        </p:txBody>
      </p:sp>
    </p:spTree>
    <p:extLst>
      <p:ext uri="{BB962C8B-B14F-4D97-AF65-F5344CB8AC3E}">
        <p14:creationId xmlns:p14="http://schemas.microsoft.com/office/powerpoint/2010/main" val="1494113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28978" y="191910"/>
            <a:ext cx="9781822" cy="87488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Example- simple (Employee Details)</a:t>
            </a:r>
          </a:p>
        </p:txBody>
      </p:sp>
      <p:sp>
        <p:nvSpPr>
          <p:cNvPr id="14339" name="Rectangle 6"/>
          <p:cNvSpPr>
            <a:spLocks noChangeArrowheads="1"/>
          </p:cNvSpPr>
          <p:nvPr/>
        </p:nvSpPr>
        <p:spPr bwMode="auto">
          <a:xfrm>
            <a:off x="564444" y="990601"/>
            <a:ext cx="9493956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emp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num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char name[30];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double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struct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emp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emps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main(){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read();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display();	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read(){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("enter 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emp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number:");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scanf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("%d"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,&amp;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emps.num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("enter name:");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scanf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("%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s",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emps.name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691833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/>
          <p:cNvSpPr>
            <a:spLocks noChangeArrowheads="1"/>
          </p:cNvSpPr>
          <p:nvPr/>
        </p:nvSpPr>
        <p:spPr bwMode="auto">
          <a:xfrm>
            <a:off x="417689" y="61914"/>
            <a:ext cx="10326511" cy="655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("enter salary:");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scanf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("%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",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b="1" dirty="0">
                <a:solidFill>
                  <a:schemeClr val="tx2"/>
                </a:solidFill>
                <a:latin typeface="Courier New" panose="02070309020205020404" pitchFamily="49" charset="0"/>
              </a:rPr>
              <a:t>&amp;</a:t>
            </a:r>
            <a:r>
              <a:rPr lang="en-US" altLang="en-US" sz="2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emps.sal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		}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display(){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("Displaying data \n");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 emp number: %d\n",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emps.num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 emp name: %s\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n",</a:t>
            </a:r>
            <a:r>
              <a:rPr lang="en-US" altLang="en-US" sz="2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emps.name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 emp salary: %5.2lf\n",</a:t>
            </a:r>
            <a:r>
              <a:rPr lang="en-US" altLang="en-US" sz="2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emps.sal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Output: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enter emp number: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123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enter name: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xyz</a:t>
            </a:r>
            <a:endParaRPr lang="en-US" altLang="en-US" sz="24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enter salary: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12340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Displaying data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emp number: 123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emp name: </a:t>
            </a:r>
            <a:r>
              <a:rPr lang="en-US" altLang="en-US" sz="24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xyz</a:t>
            </a:r>
            <a:endParaRPr lang="en-US" altLang="en-US" sz="24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emp salary: 12340.00</a:t>
            </a:r>
          </a:p>
        </p:txBody>
      </p:sp>
      <p:sp>
        <p:nvSpPr>
          <p:cNvPr id="16387" name="Text Box 5"/>
          <p:cNvSpPr txBox="1">
            <a:spLocks noChangeArrowheads="1"/>
          </p:cNvSpPr>
          <p:nvPr/>
        </p:nvSpPr>
        <p:spPr bwMode="auto">
          <a:xfrm>
            <a:off x="7391400" y="41910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</a:rPr>
              <a:t>You enter this</a:t>
            </a:r>
          </a:p>
        </p:txBody>
      </p:sp>
      <p:sp>
        <p:nvSpPr>
          <p:cNvPr id="16388" name="AutoShape 6"/>
          <p:cNvSpPr>
            <a:spLocks/>
          </p:cNvSpPr>
          <p:nvPr/>
        </p:nvSpPr>
        <p:spPr bwMode="auto">
          <a:xfrm>
            <a:off x="5562600" y="3886200"/>
            <a:ext cx="76200" cy="1143000"/>
          </a:xfrm>
          <a:prstGeom prst="rightBrace">
            <a:avLst>
              <a:gd name="adj1" fmla="val 125000"/>
              <a:gd name="adj2" fmla="val 50000"/>
            </a:avLst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16389" name="Line 7"/>
          <p:cNvSpPr>
            <a:spLocks noChangeShapeType="1"/>
          </p:cNvSpPr>
          <p:nvPr/>
        </p:nvSpPr>
        <p:spPr bwMode="auto">
          <a:xfrm>
            <a:off x="5638800" y="4419600"/>
            <a:ext cx="1752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8957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711442" y="365125"/>
            <a:ext cx="9230812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Array of Structure 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575975" y="1825625"/>
            <a:ext cx="10436126" cy="4351338"/>
          </a:xfrm>
        </p:spPr>
        <p:txBody>
          <a:bodyPr/>
          <a:lstStyle/>
          <a:p>
            <a:pPr>
              <a:buClr>
                <a:schemeClr val="tx2"/>
              </a:buClr>
            </a:pPr>
            <a:r>
              <a:rPr lang="en-US" sz="2400" dirty="0"/>
              <a:t>Array is a collection of elements of similar data types.</a:t>
            </a:r>
          </a:p>
          <a:p>
            <a:pPr>
              <a:buClr>
                <a:schemeClr val="tx2"/>
              </a:buClr>
            </a:pPr>
            <a:r>
              <a:rPr lang="en-US" sz="2400" dirty="0"/>
              <a:t>Structure is a collection of elements of different datatypes ( variables ) which are grouped together.</a:t>
            </a:r>
          </a:p>
          <a:p>
            <a:pPr>
              <a:buClr>
                <a:schemeClr val="tx2"/>
              </a:buClr>
            </a:pPr>
            <a:endParaRPr lang="en-US" sz="2400" dirty="0"/>
          </a:p>
          <a:p>
            <a:pPr>
              <a:buClr>
                <a:schemeClr val="tx2"/>
              </a:buClr>
            </a:pPr>
            <a:endParaRPr lang="en-US" sz="2400" dirty="0"/>
          </a:p>
          <a:p>
            <a:pPr>
              <a:buClr>
                <a:schemeClr val="tx2"/>
              </a:buClr>
            </a:pPr>
            <a:r>
              <a:rPr lang="en-US" sz="2400" b="1" dirty="0"/>
              <a:t>Array of structures </a:t>
            </a:r>
            <a:r>
              <a:rPr lang="en-US" sz="2400" dirty="0"/>
              <a:t>is nothing but a collection of structures. </a:t>
            </a:r>
          </a:p>
          <a:p>
            <a:pPr>
              <a:buClr>
                <a:schemeClr val="tx2"/>
              </a:buClr>
            </a:pPr>
            <a:r>
              <a:rPr lang="en-US" sz="2400" dirty="0"/>
              <a:t>This is also called a structure array in C</a:t>
            </a:r>
          </a:p>
          <a:p>
            <a:pPr>
              <a:buClr>
                <a:schemeClr val="tx2"/>
              </a:buClr>
            </a:pPr>
            <a:endParaRPr lang="en-US" sz="2400" dirty="0"/>
          </a:p>
          <a:p>
            <a:pPr>
              <a:buClr>
                <a:schemeClr val="tx2"/>
              </a:buClr>
            </a:pPr>
            <a:endParaRPr lang="en-US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193944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59644" y="0"/>
            <a:ext cx="9951156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Example – array of structure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259644" y="998704"/>
            <a:ext cx="9951156" cy="5791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main(){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ball{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int size;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char color[30];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C00000"/>
                </a:solidFill>
                <a:latin typeface="Courier New" panose="02070309020205020404" pitchFamily="49" charset="0"/>
              </a:rPr>
              <a:t>struct ball b[3];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int 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for(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=0;i&lt;3;i++){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("enter size of the ball:");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scanf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("%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d",&amp;b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].size);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("enter the color:");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scanf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("%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s",b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].color);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}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("Displaying data \n");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for(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=0;i&lt;3;i++){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7E449C22-CE64-4349-8170-5373C5AEE3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333" y="2746023"/>
            <a:ext cx="329917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</a:rPr>
              <a:t>Array of Structure 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C5A32A72-2F71-46CD-AAB5-FFA0DC16D022}"/>
              </a:ext>
            </a:extLst>
          </p:cNvPr>
          <p:cNvSpPr>
            <a:spLocks/>
          </p:cNvSpPr>
          <p:nvPr/>
        </p:nvSpPr>
        <p:spPr bwMode="auto">
          <a:xfrm>
            <a:off x="3801534" y="2703874"/>
            <a:ext cx="76199" cy="533399"/>
          </a:xfrm>
          <a:prstGeom prst="rightBrace">
            <a:avLst>
              <a:gd name="adj1" fmla="val 125000"/>
              <a:gd name="adj2" fmla="val 50000"/>
            </a:avLst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7" name="Line 7">
            <a:extLst>
              <a:ext uri="{FF2B5EF4-FFF2-40B4-BE49-F238E27FC236}">
                <a16:creationId xmlns:a16="http://schemas.microsoft.com/office/drawing/2014/main" id="{B5FAE8FB-B2EB-4D65-9412-B8D6ED22A505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7734" y="2974623"/>
            <a:ext cx="17526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9173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/>
          <p:cNvSpPr>
            <a:spLocks noChangeArrowheads="1"/>
          </p:cNvSpPr>
          <p:nvPr/>
        </p:nvSpPr>
        <p:spPr bwMode="auto">
          <a:xfrm>
            <a:off x="90311" y="152401"/>
            <a:ext cx="10349089" cy="65556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 ball size: %d\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n",b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].size);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 ball color: %s\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n",b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].color);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}}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Output: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enter size of the ball: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12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enter the </a:t>
            </a:r>
            <a:r>
              <a:rPr lang="en-US" altLang="en-US" sz="24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color: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green</a:t>
            </a:r>
            <a:endParaRPr lang="en-US" altLang="en-US" sz="24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enter size of the ball: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13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enter the </a:t>
            </a:r>
            <a:r>
              <a:rPr lang="en-US" altLang="en-US" sz="24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color: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red</a:t>
            </a:r>
            <a:endParaRPr lang="en-US" altLang="en-US" sz="24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enter size of the ball:</a:t>
            </a:r>
            <a:r>
              <a:rPr lang="en-US" altLang="en-US" sz="2400" b="1" dirty="0">
                <a:solidFill>
                  <a:schemeClr val="tx2"/>
                </a:solidFill>
                <a:latin typeface="Courier New" panose="02070309020205020404" pitchFamily="49" charset="0"/>
              </a:rPr>
              <a:t>10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enter the </a:t>
            </a:r>
            <a:r>
              <a:rPr lang="en-US" altLang="en-US" sz="24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color: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yellow</a:t>
            </a:r>
            <a:endParaRPr lang="en-US" altLang="en-US" sz="2400" b="1" dirty="0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Displaying data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ball size: 12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ball color: green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ball size: 13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ball color: red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ball size: 10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ball color: yellow</a:t>
            </a:r>
          </a:p>
        </p:txBody>
      </p:sp>
      <p:sp>
        <p:nvSpPr>
          <p:cNvPr id="20483" name="Text Box 5"/>
          <p:cNvSpPr txBox="1">
            <a:spLocks noChangeArrowheads="1"/>
          </p:cNvSpPr>
          <p:nvPr/>
        </p:nvSpPr>
        <p:spPr bwMode="auto">
          <a:xfrm>
            <a:off x="7620000" y="25908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2"/>
                </a:solidFill>
              </a:rPr>
              <a:t>You enter this</a:t>
            </a:r>
          </a:p>
        </p:txBody>
      </p:sp>
      <p:sp>
        <p:nvSpPr>
          <p:cNvPr id="20484" name="AutoShape 6"/>
          <p:cNvSpPr>
            <a:spLocks/>
          </p:cNvSpPr>
          <p:nvPr/>
        </p:nvSpPr>
        <p:spPr bwMode="auto">
          <a:xfrm>
            <a:off x="6400800" y="1752600"/>
            <a:ext cx="457200" cy="2286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20485" name="Line 7"/>
          <p:cNvSpPr>
            <a:spLocks noChangeShapeType="1"/>
          </p:cNvSpPr>
          <p:nvPr/>
        </p:nvSpPr>
        <p:spPr bwMode="auto">
          <a:xfrm flipV="1">
            <a:off x="6781800" y="2895600"/>
            <a:ext cx="6858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13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383822" y="58368"/>
            <a:ext cx="9141178" cy="6858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Structure Pointers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1057" y="826850"/>
            <a:ext cx="10080978" cy="4912469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 dirty="0"/>
              <a:t>A pointer variable can be declared that points to a structure as it points to an ordinary variable.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 dirty="0"/>
              <a:t>Example: 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Char char="•"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emp emps={123,"Ganga", 12000};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Char char="•"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emp *e=&amp;emps;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 dirty="0"/>
              <a:t>To access members through a structure pointer, a special kind of symbol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  </a:t>
            </a:r>
            <a:r>
              <a:rPr lang="en-US" altLang="en-US" sz="2400" dirty="0">
                <a:sym typeface="Wingdings" panose="05000000000000000000" pitchFamily="2" charset="2"/>
              </a:rPr>
              <a:t>is used. (this symbol is just a dash and an angular bracket i.e. -&gt;)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 dirty="0"/>
              <a:t>Example: 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Char char="•"/>
            </a:pP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enum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,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  <a:sym typeface="Wingdings" panose="05000000000000000000" pitchFamily="2" charset="2"/>
              </a:rPr>
              <a:t>ename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sym typeface="Wingdings" panose="05000000000000000000" pitchFamily="2" charset="2"/>
            </a:endParaRPr>
          </a:p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sz="2400" dirty="0">
                <a:sym typeface="Wingdings" panose="05000000000000000000" pitchFamily="2" charset="2"/>
              </a:rPr>
              <a:t>Structure pointers are required when we pass a structure variable to a function and we want the changes made in the variable visible in the calling function.</a:t>
            </a:r>
          </a:p>
        </p:txBody>
      </p:sp>
    </p:spTree>
    <p:extLst>
      <p:ext uri="{BB962C8B-B14F-4D97-AF65-F5344CB8AC3E}">
        <p14:creationId xmlns:p14="http://schemas.microsoft.com/office/powerpoint/2010/main" val="1450414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ChangeArrowheads="1"/>
          </p:cNvSpPr>
          <p:nvPr/>
        </p:nvSpPr>
        <p:spPr bwMode="auto">
          <a:xfrm>
            <a:off x="203200" y="152400"/>
            <a:ext cx="9626600" cy="607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emp{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int num;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char name[30];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double 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main(){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emp emps={123,"Ganga", 12000};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increment(&amp;emps);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display(&amp;emps);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28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increment(struct emp *e){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  <a:latin typeface="Courier New" panose="02070309020205020404" pitchFamily="49" charset="0"/>
              </a:rPr>
              <a:t>e-&gt;</a:t>
            </a:r>
            <a:r>
              <a:rPr lang="en-US" altLang="en-US" sz="2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2800" b="1" dirty="0">
                <a:solidFill>
                  <a:schemeClr val="tx2"/>
                </a:solidFill>
                <a:latin typeface="Courier New" panose="02070309020205020404" pitchFamily="49" charset="0"/>
              </a:rPr>
              <a:t>=e-&gt;</a:t>
            </a:r>
            <a:r>
              <a:rPr lang="en-US" altLang="en-US" sz="2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2800" b="1" dirty="0">
                <a:solidFill>
                  <a:schemeClr val="tx2"/>
                </a:solidFill>
                <a:latin typeface="Courier New" panose="02070309020205020404" pitchFamily="49" charset="0"/>
              </a:rPr>
              <a:t>*0.10+e-&gt;</a:t>
            </a:r>
            <a:r>
              <a:rPr lang="en-US" altLang="en-US" sz="28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2800" b="1" dirty="0">
                <a:solidFill>
                  <a:schemeClr val="tx2"/>
                </a:solidFill>
                <a:latin typeface="Courier New" panose="02070309020205020404" pitchFamily="49" charset="0"/>
              </a:rPr>
              <a:t>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24580" name="Rectangle 9"/>
          <p:cNvSpPr>
            <a:spLocks noChangeArrowheads="1"/>
          </p:cNvSpPr>
          <p:nvPr/>
        </p:nvSpPr>
        <p:spPr bwMode="auto">
          <a:xfrm>
            <a:off x="6778625" y="3957639"/>
            <a:ext cx="3811588" cy="53022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IN" altLang="en-US" sz="1800">
              <a:solidFill>
                <a:schemeClr val="tx1"/>
              </a:solidFill>
            </a:endParaRPr>
          </a:p>
        </p:txBody>
      </p:sp>
      <p:sp>
        <p:nvSpPr>
          <p:cNvPr id="24581" name="Line 10"/>
          <p:cNvSpPr>
            <a:spLocks noChangeShapeType="1"/>
          </p:cNvSpPr>
          <p:nvPr/>
        </p:nvSpPr>
        <p:spPr bwMode="auto">
          <a:xfrm>
            <a:off x="78486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2" name="Line 11"/>
          <p:cNvSpPr>
            <a:spLocks noChangeShapeType="1"/>
          </p:cNvSpPr>
          <p:nvPr/>
        </p:nvSpPr>
        <p:spPr bwMode="auto">
          <a:xfrm>
            <a:off x="9525000" y="39624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83" name="Text Box 12"/>
          <p:cNvSpPr txBox="1">
            <a:spLocks noChangeArrowheads="1"/>
          </p:cNvSpPr>
          <p:nvPr/>
        </p:nvSpPr>
        <p:spPr bwMode="auto">
          <a:xfrm>
            <a:off x="6934200" y="4038600"/>
            <a:ext cx="693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123</a:t>
            </a:r>
          </a:p>
        </p:txBody>
      </p:sp>
      <p:sp>
        <p:nvSpPr>
          <p:cNvPr id="24584" name="Text Box 13"/>
          <p:cNvSpPr txBox="1">
            <a:spLocks noChangeArrowheads="1"/>
          </p:cNvSpPr>
          <p:nvPr/>
        </p:nvSpPr>
        <p:spPr bwMode="auto">
          <a:xfrm>
            <a:off x="8086725" y="4011004"/>
            <a:ext cx="1131888" cy="4572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Ganga</a:t>
            </a:r>
          </a:p>
        </p:txBody>
      </p:sp>
      <p:sp>
        <p:nvSpPr>
          <p:cNvPr id="24585" name="Text Box 14"/>
          <p:cNvSpPr txBox="1">
            <a:spLocks noChangeArrowheads="1"/>
          </p:cNvSpPr>
          <p:nvPr/>
        </p:nvSpPr>
        <p:spPr bwMode="auto">
          <a:xfrm>
            <a:off x="9601201" y="4038600"/>
            <a:ext cx="1033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12000</a:t>
            </a:r>
          </a:p>
        </p:txBody>
      </p:sp>
      <p:sp>
        <p:nvSpPr>
          <p:cNvPr id="24586" name="Text Box 16"/>
          <p:cNvSpPr txBox="1">
            <a:spLocks noChangeArrowheads="1"/>
          </p:cNvSpPr>
          <p:nvPr/>
        </p:nvSpPr>
        <p:spPr bwMode="auto">
          <a:xfrm>
            <a:off x="6705600" y="3646489"/>
            <a:ext cx="1454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emps.num</a:t>
            </a:r>
          </a:p>
        </p:txBody>
      </p:sp>
      <p:sp>
        <p:nvSpPr>
          <p:cNvPr id="24587" name="Text Box 17"/>
          <p:cNvSpPr txBox="1">
            <a:spLocks noChangeArrowheads="1"/>
          </p:cNvSpPr>
          <p:nvPr/>
        </p:nvSpPr>
        <p:spPr bwMode="auto">
          <a:xfrm>
            <a:off x="8001000" y="4554169"/>
            <a:ext cx="158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emps.name</a:t>
            </a:r>
          </a:p>
        </p:txBody>
      </p:sp>
      <p:sp>
        <p:nvSpPr>
          <p:cNvPr id="24588" name="Text Box 18"/>
          <p:cNvSpPr txBox="1">
            <a:spLocks noChangeArrowheads="1"/>
          </p:cNvSpPr>
          <p:nvPr/>
        </p:nvSpPr>
        <p:spPr bwMode="auto">
          <a:xfrm>
            <a:off x="9448800" y="3581401"/>
            <a:ext cx="1270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emps.sal</a:t>
            </a:r>
          </a:p>
        </p:txBody>
      </p:sp>
      <p:sp>
        <p:nvSpPr>
          <p:cNvPr id="24589" name="Text Box 19"/>
          <p:cNvSpPr txBox="1">
            <a:spLocks noChangeArrowheads="1"/>
          </p:cNvSpPr>
          <p:nvPr/>
        </p:nvSpPr>
        <p:spPr bwMode="auto">
          <a:xfrm>
            <a:off x="8839201" y="5562601"/>
            <a:ext cx="873125" cy="466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2001</a:t>
            </a:r>
          </a:p>
        </p:txBody>
      </p:sp>
      <p:sp>
        <p:nvSpPr>
          <p:cNvPr id="24590" name="Line 20"/>
          <p:cNvSpPr>
            <a:spLocks noChangeShapeType="1"/>
          </p:cNvSpPr>
          <p:nvPr/>
        </p:nvSpPr>
        <p:spPr bwMode="auto">
          <a:xfrm flipH="1" flipV="1">
            <a:off x="6781800" y="4572000"/>
            <a:ext cx="2209800" cy="1066800"/>
          </a:xfrm>
          <a:prstGeom prst="line">
            <a:avLst/>
          </a:prstGeom>
          <a:noFill/>
          <a:ln w="19050">
            <a:solidFill>
              <a:schemeClr val="hlink"/>
            </a:solidFill>
            <a:prstDash val="dash"/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1" name="Rectangle 21"/>
          <p:cNvSpPr>
            <a:spLocks noChangeArrowheads="1"/>
          </p:cNvSpPr>
          <p:nvPr/>
        </p:nvSpPr>
        <p:spPr bwMode="auto">
          <a:xfrm>
            <a:off x="9753600" y="5638801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4592" name="Text Box 22"/>
          <p:cNvSpPr txBox="1">
            <a:spLocks noChangeArrowheads="1"/>
          </p:cNvSpPr>
          <p:nvPr/>
        </p:nvSpPr>
        <p:spPr bwMode="auto">
          <a:xfrm>
            <a:off x="6172200" y="4419601"/>
            <a:ext cx="749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chemeClr val="tx1"/>
                </a:solidFill>
              </a:rPr>
              <a:t>2001</a:t>
            </a:r>
          </a:p>
        </p:txBody>
      </p:sp>
      <p:sp>
        <p:nvSpPr>
          <p:cNvPr id="24593" name="Line 23"/>
          <p:cNvSpPr>
            <a:spLocks noChangeShapeType="1"/>
          </p:cNvSpPr>
          <p:nvPr/>
        </p:nvSpPr>
        <p:spPr bwMode="auto">
          <a:xfrm>
            <a:off x="9601200" y="4267200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4594" name="Rectangle 24"/>
          <p:cNvSpPr>
            <a:spLocks noChangeArrowheads="1"/>
          </p:cNvSpPr>
          <p:nvPr/>
        </p:nvSpPr>
        <p:spPr bwMode="auto">
          <a:xfrm>
            <a:off x="9558338" y="4498975"/>
            <a:ext cx="103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13200</a:t>
            </a:r>
          </a:p>
        </p:txBody>
      </p:sp>
      <p:sp>
        <p:nvSpPr>
          <p:cNvPr id="24595" name="Freeform 25"/>
          <p:cNvSpPr>
            <a:spLocks/>
          </p:cNvSpPr>
          <p:nvPr/>
        </p:nvSpPr>
        <p:spPr bwMode="auto">
          <a:xfrm>
            <a:off x="5924145" y="4897880"/>
            <a:ext cx="4235855" cy="838200"/>
          </a:xfrm>
          <a:custGeom>
            <a:avLst/>
            <a:gdLst>
              <a:gd name="T0" fmla="*/ 0 w 1840"/>
              <a:gd name="T1" fmla="*/ 2147483646 h 528"/>
              <a:gd name="T2" fmla="*/ 2147483646 w 1840"/>
              <a:gd name="T3" fmla="*/ 2147483646 h 528"/>
              <a:gd name="T4" fmla="*/ 2147483646 w 1840"/>
              <a:gd name="T5" fmla="*/ 2147483646 h 528"/>
              <a:gd name="T6" fmla="*/ 2147483646 w 1840"/>
              <a:gd name="T7" fmla="*/ 2147483646 h 528"/>
              <a:gd name="T8" fmla="*/ 2147483646 w 1840"/>
              <a:gd name="T9" fmla="*/ 0 h 5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40"/>
              <a:gd name="T16" fmla="*/ 0 h 528"/>
              <a:gd name="T17" fmla="*/ 1840 w 1840"/>
              <a:gd name="T18" fmla="*/ 528 h 5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40" h="528">
                <a:moveTo>
                  <a:pt x="0" y="432"/>
                </a:moveTo>
                <a:cubicBezTo>
                  <a:pt x="96" y="480"/>
                  <a:pt x="192" y="528"/>
                  <a:pt x="384" y="480"/>
                </a:cubicBezTo>
                <a:cubicBezTo>
                  <a:pt x="576" y="432"/>
                  <a:pt x="928" y="184"/>
                  <a:pt x="1152" y="144"/>
                </a:cubicBezTo>
                <a:cubicBezTo>
                  <a:pt x="1376" y="104"/>
                  <a:pt x="1616" y="264"/>
                  <a:pt x="1728" y="240"/>
                </a:cubicBezTo>
                <a:cubicBezTo>
                  <a:pt x="1840" y="216"/>
                  <a:pt x="1832" y="108"/>
                  <a:pt x="1824" y="0"/>
                </a:cubicBezTo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49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4"/>
          <p:cNvSpPr>
            <a:spLocks noChangeArrowheads="1"/>
          </p:cNvSpPr>
          <p:nvPr/>
        </p:nvSpPr>
        <p:spPr bwMode="auto">
          <a:xfrm>
            <a:off x="428978" y="195264"/>
            <a:ext cx="10239022" cy="521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display(struct emp *e){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("Displaying data \n");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 emp number: %d\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n",e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-&gt;num);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 emp name: %s\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n",e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-&gt;name);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(" emp salary: %5.2lf\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n",e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-&gt;</a:t>
            </a:r>
            <a:r>
              <a:rPr lang="en-US" altLang="en-US" sz="28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sal</a:t>
            </a: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}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2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Output: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Displaying data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 emp number: 123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 emp name: Ganga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 emp salary: 13200.00</a:t>
            </a:r>
          </a:p>
        </p:txBody>
      </p:sp>
    </p:spTree>
    <p:extLst>
      <p:ext uri="{BB962C8B-B14F-4D97-AF65-F5344CB8AC3E}">
        <p14:creationId xmlns:p14="http://schemas.microsoft.com/office/powerpoint/2010/main" val="29567276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21267" y="77825"/>
            <a:ext cx="10515600" cy="1089380"/>
          </a:xfrm>
        </p:spPr>
        <p:txBody>
          <a:bodyPr/>
          <a:lstStyle/>
          <a:p>
            <a:pPr eaLnBrk="1" hangingPunct="1"/>
            <a:r>
              <a:rPr lang="en-US" altLang="en-US" dirty="0"/>
              <a:t>Nested structure (Structure within Structure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688622" y="1371601"/>
            <a:ext cx="9522178" cy="5108221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dirty="0"/>
              <a:t>A structure can have as its member a structure variable.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</a:pPr>
            <a:r>
              <a:rPr lang="en-US" altLang="en-US" dirty="0"/>
              <a:t>Example: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name{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char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fname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[10];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char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lname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[10];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student{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name nm;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rollno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 stud;</a:t>
            </a:r>
          </a:p>
          <a:p>
            <a:pPr eaLnBrk="1" hangingPunct="1">
              <a:lnSpc>
                <a:spcPct val="80000"/>
              </a:lnSpc>
              <a:buClr>
                <a:schemeClr val="tx2"/>
              </a:buClr>
            </a:pPr>
            <a:endParaRPr lang="en-US" altLang="en-US" b="1" dirty="0">
              <a:latin typeface="Courier New" panose="02070309020205020404" pitchFamily="49" charset="0"/>
            </a:endParaRPr>
          </a:p>
        </p:txBody>
      </p:sp>
      <p:sp>
        <p:nvSpPr>
          <p:cNvPr id="30724" name="Line 4"/>
          <p:cNvSpPr>
            <a:spLocks noChangeShapeType="1"/>
          </p:cNvSpPr>
          <p:nvPr/>
        </p:nvSpPr>
        <p:spPr bwMode="auto">
          <a:xfrm>
            <a:off x="3762023" y="6197600"/>
            <a:ext cx="1600200" cy="0"/>
          </a:xfrm>
          <a:prstGeom prst="line">
            <a:avLst/>
          </a:prstGeom>
          <a:noFill/>
          <a:ln w="952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5362223" y="5637535"/>
            <a:ext cx="449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2"/>
                </a:solidFill>
              </a:rPr>
              <a:t>Note: another way of declaring structure variable</a:t>
            </a:r>
          </a:p>
        </p:txBody>
      </p:sp>
    </p:spTree>
    <p:extLst>
      <p:ext uri="{BB962C8B-B14F-4D97-AF65-F5344CB8AC3E}">
        <p14:creationId xmlns:p14="http://schemas.microsoft.com/office/powerpoint/2010/main" val="3325555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ChangeArrowheads="1"/>
          </p:cNvSpPr>
          <p:nvPr/>
        </p:nvSpPr>
        <p:spPr bwMode="auto">
          <a:xfrm>
            <a:off x="352238" y="453959"/>
            <a:ext cx="10442222" cy="60016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main(){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("enter first and last name: ");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scanf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("%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s%s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",</a:t>
            </a: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stud.nm.fname,stud.nm.lname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("\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nenter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roll number:");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scanf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("%d", &amp;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stud.rollno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("displaying data\n");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("Name:%s %s\n",</a:t>
            </a:r>
            <a:r>
              <a:rPr lang="en-US" altLang="en-US" sz="2400" b="1" dirty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  <a:r>
              <a:rPr lang="en-US" altLang="en-US" sz="2400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stud.nm.fname,stud.nm.lname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printf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("roll no %d\n", </a:t>
            </a:r>
            <a:r>
              <a:rPr lang="en-US" altLang="en-US" sz="2400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stud.rollno</a:t>
            </a:r>
            <a:r>
              <a:rPr lang="en-US" alt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);}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2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2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Output: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enter first and last name: </a:t>
            </a:r>
            <a:r>
              <a:rPr lang="en-US" altLang="en-US" sz="2400" b="1" dirty="0">
                <a:solidFill>
                  <a:schemeClr val="tx2"/>
                </a:solidFill>
              </a:rPr>
              <a:t>John Ray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enter roll number:</a:t>
            </a:r>
            <a:r>
              <a:rPr lang="en-US" altLang="en-US" sz="2400" b="1" dirty="0">
                <a:solidFill>
                  <a:schemeClr val="tx2"/>
                </a:solidFill>
              </a:rPr>
              <a:t>12345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displaying data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 err="1">
                <a:solidFill>
                  <a:schemeClr val="tx1"/>
                </a:solidFill>
              </a:rPr>
              <a:t>Name:John</a:t>
            </a:r>
            <a:r>
              <a:rPr lang="en-US" altLang="en-US" sz="2400" b="1" dirty="0">
                <a:solidFill>
                  <a:schemeClr val="tx1"/>
                </a:solidFill>
              </a:rPr>
              <a:t> Ray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roll no 12345</a:t>
            </a:r>
          </a:p>
        </p:txBody>
      </p:sp>
    </p:spTree>
    <p:extLst>
      <p:ext uri="{BB962C8B-B14F-4D97-AF65-F5344CB8AC3E}">
        <p14:creationId xmlns:p14="http://schemas.microsoft.com/office/powerpoint/2010/main" val="21115770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0267" y="0"/>
            <a:ext cx="9770533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Union: Syntax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>
          <a:xfrm>
            <a:off x="237067" y="1143000"/>
            <a:ext cx="10049933" cy="5334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dirty="0"/>
              <a:t>Defining union: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union union-name{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data-type member-name1;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data-type member-name2;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…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data-type member-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namen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dirty="0"/>
              <a:t>Declaring variable of union-type: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Char char="•"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union union-name variable-name;</a:t>
            </a:r>
          </a:p>
          <a:p>
            <a:pPr eaLnBrk="1" hangingPunct="1">
              <a:lnSpc>
                <a:spcPct val="90000"/>
              </a:lnSpc>
              <a:buClr>
                <a:schemeClr val="tx2"/>
              </a:buClr>
            </a:pPr>
            <a:r>
              <a:rPr lang="en-US" altLang="en-US" dirty="0"/>
              <a:t>Accessing members:</a:t>
            </a:r>
          </a:p>
          <a:p>
            <a:pPr lvl="1" eaLnBrk="1" hangingPunct="1">
              <a:lnSpc>
                <a:spcPct val="90000"/>
              </a:lnSpc>
              <a:buClr>
                <a:schemeClr val="tx2"/>
              </a:buClr>
              <a:buFontTx/>
              <a:buChar char="•"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variable-</a:t>
            </a:r>
            <a:r>
              <a:rPr lang="en-US" alt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name.member_name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2039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428978" y="254000"/>
            <a:ext cx="9764888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Unions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225778" y="1095023"/>
            <a:ext cx="10747021" cy="561057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Clr>
                <a:schemeClr val="tx2"/>
              </a:buClr>
            </a:pPr>
            <a:r>
              <a:rPr lang="en-US" altLang="en-US" dirty="0"/>
              <a:t>Union allows variables of different data types to share the same memory space. </a:t>
            </a:r>
          </a:p>
          <a:p>
            <a:pPr eaLnBrk="1" hangingPunct="1">
              <a:buClr>
                <a:schemeClr val="tx2"/>
              </a:buClr>
            </a:pPr>
            <a:endParaRPr lang="en-US" altLang="en-US" dirty="0"/>
          </a:p>
          <a:p>
            <a:pPr>
              <a:buClr>
                <a:schemeClr val="tx2"/>
              </a:buClr>
            </a:pPr>
            <a:r>
              <a:rPr lang="en-US" altLang="en-US" dirty="0"/>
              <a:t>C Compiler </a:t>
            </a:r>
            <a:r>
              <a:rPr lang="en-US" dirty="0"/>
              <a:t>always reserve enough room for the largest member</a:t>
            </a:r>
            <a:endParaRPr lang="en-US" altLang="en-US" dirty="0"/>
          </a:p>
          <a:p>
            <a:pPr eaLnBrk="1" hangingPunct="1">
              <a:buClr>
                <a:schemeClr val="tx2"/>
              </a:buClr>
            </a:pPr>
            <a:endParaRPr lang="en-US" altLang="en-US" dirty="0"/>
          </a:p>
          <a:p>
            <a:pPr eaLnBrk="1" hangingPunct="1">
              <a:buClr>
                <a:schemeClr val="tx2"/>
              </a:buClr>
            </a:pPr>
            <a:r>
              <a:rPr lang="en-US" altLang="en-US" dirty="0"/>
              <a:t>For example, a variable of int type and a variable of type char share the same memory space. That means this memory space can be treated as int or char. </a:t>
            </a:r>
          </a:p>
          <a:p>
            <a:pPr eaLnBrk="1" hangingPunct="1">
              <a:buClr>
                <a:schemeClr val="tx2"/>
              </a:buClr>
            </a:pPr>
            <a:endParaRPr lang="en-US" altLang="en-US" dirty="0"/>
          </a:p>
          <a:p>
            <a:pPr eaLnBrk="1" hangingPunct="1">
              <a:buClr>
                <a:schemeClr val="tx2"/>
              </a:buClr>
            </a:pPr>
            <a:r>
              <a:rPr lang="en-US" altLang="en-US" dirty="0"/>
              <a:t>Union allows us to choose between types of data based on the requirement of the application.</a:t>
            </a:r>
          </a:p>
          <a:p>
            <a:pPr eaLnBrk="1" hangingPunct="1">
              <a:buClr>
                <a:schemeClr val="tx2"/>
              </a:buClr>
            </a:pPr>
            <a:endParaRPr lang="en-US" altLang="en-US" dirty="0"/>
          </a:p>
          <a:p>
            <a:pPr eaLnBrk="1" hangingPunct="1">
              <a:buClr>
                <a:schemeClr val="tx2"/>
              </a:buClr>
            </a:pPr>
            <a:r>
              <a:rPr lang="en-US" altLang="en-US" dirty="0"/>
              <a:t>It is the programmer's responsibility to see to it that only one logical data is stored and used in a memory </a:t>
            </a:r>
          </a:p>
        </p:txBody>
      </p:sp>
    </p:spTree>
    <p:extLst>
      <p:ext uri="{BB962C8B-B14F-4D97-AF65-F5344CB8AC3E}">
        <p14:creationId xmlns:p14="http://schemas.microsoft.com/office/powerpoint/2010/main" val="973925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338667" y="144992"/>
            <a:ext cx="11015133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600" b="1" dirty="0"/>
              <a:t>Difference between struct and union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953294" y="1408114"/>
            <a:ext cx="3124200" cy="2209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struct X{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short a;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char c[2];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40964" name="Rectangle 4"/>
          <p:cNvSpPr>
            <a:spLocks noChangeArrowheads="1"/>
          </p:cNvSpPr>
          <p:nvPr/>
        </p:nvSpPr>
        <p:spPr bwMode="auto">
          <a:xfrm>
            <a:off x="994659" y="4049889"/>
            <a:ext cx="3124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buClr>
                <a:srgbClr val="C81E1E"/>
              </a:buClr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union X{</a:t>
            </a:r>
          </a:p>
          <a:p>
            <a:pPr eaLnBrk="1" hangingPunct="1">
              <a:lnSpc>
                <a:spcPct val="90000"/>
              </a:lnSpc>
              <a:buClr>
                <a:srgbClr val="C81E1E"/>
              </a:buClr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short a;</a:t>
            </a:r>
          </a:p>
          <a:p>
            <a:pPr eaLnBrk="1" hangingPunct="1">
              <a:lnSpc>
                <a:spcPct val="90000"/>
              </a:lnSpc>
              <a:buClr>
                <a:srgbClr val="C81E1E"/>
              </a:buClr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char c[2];</a:t>
            </a:r>
          </a:p>
          <a:p>
            <a:pPr eaLnBrk="1" hangingPunct="1">
              <a:lnSpc>
                <a:spcPct val="90000"/>
              </a:lnSpc>
              <a:buClr>
                <a:srgbClr val="C81E1E"/>
              </a:buClr>
              <a:buFontTx/>
              <a:buNone/>
            </a:pPr>
            <a:r>
              <a:rPr lang="en-US" altLang="en-US" sz="2800" b="1" dirty="0">
                <a:solidFill>
                  <a:srgbClr val="000000"/>
                </a:solidFill>
                <a:latin typeface="Courier New" panose="02070309020205020404" pitchFamily="49" charset="0"/>
              </a:rPr>
              <a:t>};</a:t>
            </a:r>
          </a:p>
        </p:txBody>
      </p:sp>
      <p:sp>
        <p:nvSpPr>
          <p:cNvPr id="40965" name="Rectangle 5"/>
          <p:cNvSpPr>
            <a:spLocks noChangeArrowheads="1"/>
          </p:cNvSpPr>
          <p:nvPr/>
        </p:nvSpPr>
        <p:spPr bwMode="auto">
          <a:xfrm>
            <a:off x="6021388" y="1900239"/>
            <a:ext cx="4341812" cy="6127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40966" name="Line 6"/>
          <p:cNvSpPr>
            <a:spLocks noChangeShapeType="1"/>
          </p:cNvSpPr>
          <p:nvPr/>
        </p:nvSpPr>
        <p:spPr bwMode="auto">
          <a:xfrm>
            <a:off x="7391400" y="1905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6765926" y="15240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0968" name="Text Box 8"/>
          <p:cNvSpPr txBox="1">
            <a:spLocks noChangeArrowheads="1"/>
          </p:cNvSpPr>
          <p:nvPr/>
        </p:nvSpPr>
        <p:spPr bwMode="auto">
          <a:xfrm>
            <a:off x="5257800" y="2478088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1000</a:t>
            </a:r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6781800" y="2514600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1002</a:t>
            </a:r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8382000" y="2514600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1003</a:t>
            </a:r>
          </a:p>
        </p:txBody>
      </p:sp>
      <p:sp>
        <p:nvSpPr>
          <p:cNvPr id="40971" name="Line 11"/>
          <p:cNvSpPr>
            <a:spLocks noChangeShapeType="1"/>
          </p:cNvSpPr>
          <p:nvPr/>
        </p:nvSpPr>
        <p:spPr bwMode="auto">
          <a:xfrm>
            <a:off x="8839200" y="1905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2" name="Text Box 12"/>
          <p:cNvSpPr txBox="1">
            <a:spLocks noChangeArrowheads="1"/>
          </p:cNvSpPr>
          <p:nvPr/>
        </p:nvSpPr>
        <p:spPr bwMode="auto">
          <a:xfrm>
            <a:off x="7772401" y="1524000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c[0]</a:t>
            </a:r>
          </a:p>
        </p:txBody>
      </p:sp>
      <p:sp>
        <p:nvSpPr>
          <p:cNvPr id="40973" name="Text Box 13"/>
          <p:cNvSpPr txBox="1">
            <a:spLocks noChangeArrowheads="1"/>
          </p:cNvSpPr>
          <p:nvPr/>
        </p:nvSpPr>
        <p:spPr bwMode="auto">
          <a:xfrm>
            <a:off x="9372601" y="1524000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c[1]</a:t>
            </a:r>
          </a:p>
        </p:txBody>
      </p:sp>
      <p:sp>
        <p:nvSpPr>
          <p:cNvPr id="40974" name="Text Box 14"/>
          <p:cNvSpPr txBox="1">
            <a:spLocks noChangeArrowheads="1"/>
          </p:cNvSpPr>
          <p:nvPr/>
        </p:nvSpPr>
        <p:spPr bwMode="auto">
          <a:xfrm>
            <a:off x="9804400" y="2590800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1004</a:t>
            </a:r>
          </a:p>
        </p:txBody>
      </p:sp>
      <p:sp>
        <p:nvSpPr>
          <p:cNvPr id="40975" name="Rectangle 15"/>
          <p:cNvSpPr>
            <a:spLocks noChangeArrowheads="1"/>
          </p:cNvSpPr>
          <p:nvPr/>
        </p:nvSpPr>
        <p:spPr bwMode="auto">
          <a:xfrm>
            <a:off x="5637214" y="4724401"/>
            <a:ext cx="3271837" cy="61277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tx1"/>
              </a:solidFill>
            </a:endParaRPr>
          </a:p>
        </p:txBody>
      </p:sp>
      <p:sp>
        <p:nvSpPr>
          <p:cNvPr id="40976" name="Line 16"/>
          <p:cNvSpPr>
            <a:spLocks noChangeShapeType="1"/>
          </p:cNvSpPr>
          <p:nvPr/>
        </p:nvSpPr>
        <p:spPr bwMode="auto">
          <a:xfrm>
            <a:off x="7315200" y="4724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77" name="Text Box 17"/>
          <p:cNvSpPr txBox="1">
            <a:spLocks noChangeArrowheads="1"/>
          </p:cNvSpPr>
          <p:nvPr/>
        </p:nvSpPr>
        <p:spPr bwMode="auto">
          <a:xfrm>
            <a:off x="6384926" y="4343400"/>
            <a:ext cx="35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40978" name="Text Box 18"/>
          <p:cNvSpPr txBox="1">
            <a:spLocks noChangeArrowheads="1"/>
          </p:cNvSpPr>
          <p:nvPr/>
        </p:nvSpPr>
        <p:spPr bwMode="auto">
          <a:xfrm>
            <a:off x="4876800" y="5297488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1000</a:t>
            </a:r>
          </a:p>
        </p:txBody>
      </p:sp>
      <p:sp>
        <p:nvSpPr>
          <p:cNvPr id="40979" name="Text Box 19"/>
          <p:cNvSpPr txBox="1">
            <a:spLocks noChangeArrowheads="1"/>
          </p:cNvSpPr>
          <p:nvPr/>
        </p:nvSpPr>
        <p:spPr bwMode="auto">
          <a:xfrm>
            <a:off x="8610600" y="5334000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1002</a:t>
            </a:r>
          </a:p>
        </p:txBody>
      </p:sp>
      <p:sp>
        <p:nvSpPr>
          <p:cNvPr id="40980" name="Text Box 22"/>
          <p:cNvSpPr txBox="1">
            <a:spLocks noChangeArrowheads="1"/>
          </p:cNvSpPr>
          <p:nvPr/>
        </p:nvSpPr>
        <p:spPr bwMode="auto">
          <a:xfrm>
            <a:off x="6019801" y="5410200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c[0]</a:t>
            </a:r>
          </a:p>
        </p:txBody>
      </p:sp>
      <p:sp>
        <p:nvSpPr>
          <p:cNvPr id="40981" name="Text Box 23"/>
          <p:cNvSpPr txBox="1">
            <a:spLocks noChangeArrowheads="1"/>
          </p:cNvSpPr>
          <p:nvPr/>
        </p:nvSpPr>
        <p:spPr bwMode="auto">
          <a:xfrm>
            <a:off x="7848601" y="5410200"/>
            <a:ext cx="727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c[1]</a:t>
            </a:r>
          </a:p>
        </p:txBody>
      </p:sp>
      <p:sp>
        <p:nvSpPr>
          <p:cNvPr id="40982" name="Text Box 25"/>
          <p:cNvSpPr txBox="1">
            <a:spLocks noChangeArrowheads="1"/>
          </p:cNvSpPr>
          <p:nvPr/>
        </p:nvSpPr>
        <p:spPr bwMode="auto">
          <a:xfrm>
            <a:off x="6858000" y="5334000"/>
            <a:ext cx="86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tx1"/>
                </a:solidFill>
              </a:rPr>
              <a:t>1001</a:t>
            </a:r>
          </a:p>
        </p:txBody>
      </p:sp>
    </p:spTree>
    <p:extLst>
      <p:ext uri="{BB962C8B-B14F-4D97-AF65-F5344CB8AC3E}">
        <p14:creationId xmlns:p14="http://schemas.microsoft.com/office/powerpoint/2010/main" val="2001592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idx="1"/>
          </p:nvPr>
        </p:nvSpPr>
        <p:spPr>
          <a:xfrm>
            <a:off x="293511" y="44452"/>
            <a:ext cx="10289822" cy="389096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main(){</a:t>
            </a:r>
          </a:p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union X{</a:t>
            </a:r>
          </a:p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short int a;</a:t>
            </a:r>
          </a:p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char c[2];</a:t>
            </a:r>
          </a:p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} x1;</a:t>
            </a:r>
          </a:p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x1.a=16449;</a:t>
            </a:r>
          </a:p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printf("%d\n",x1.a);</a:t>
            </a:r>
          </a:p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printf("%c\n",x1.c[0]);</a:t>
            </a:r>
          </a:p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printf("%c\n",x1.c[1]);	}</a:t>
            </a:r>
          </a:p>
          <a:p>
            <a:pPr eaLnBrk="1" hangingPunct="1">
              <a:buFontTx/>
              <a:buNone/>
            </a:pPr>
            <a:r>
              <a:rPr lang="pt-BR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//bin of(16449)= 01000000 01000001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1847850" y="4641850"/>
            <a:ext cx="8610600" cy="528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0   1   0   0   0   0   0   0   0    1    0    0    0    0    0     1</a:t>
            </a:r>
          </a:p>
        </p:txBody>
      </p:sp>
      <p:sp>
        <p:nvSpPr>
          <p:cNvPr id="43012" name="Line 4"/>
          <p:cNvSpPr>
            <a:spLocks noChangeShapeType="1"/>
          </p:cNvSpPr>
          <p:nvPr/>
        </p:nvSpPr>
        <p:spPr bwMode="auto">
          <a:xfrm>
            <a:off x="5791200" y="4602163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5519739" y="4195763"/>
            <a:ext cx="1381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a=</a:t>
            </a:r>
            <a:r>
              <a:rPr lang="pt-BR" altLang="en-US" sz="2400" b="1">
                <a:solidFill>
                  <a:schemeClr val="tx1"/>
                </a:solidFill>
              </a:rPr>
              <a:t>16449</a:t>
            </a:r>
            <a:endParaRPr lang="en-US" altLang="en-US" sz="2400" b="1">
              <a:solidFill>
                <a:schemeClr val="tx1"/>
              </a:solidFill>
            </a:endParaRP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2640013" y="4221163"/>
            <a:ext cx="276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 dirty="0">
                <a:solidFill>
                  <a:schemeClr val="tx1"/>
                </a:solidFill>
              </a:rPr>
              <a:t>c[1]=</a:t>
            </a:r>
            <a:r>
              <a:rPr lang="en-US" altLang="en-US" sz="2400" b="1" dirty="0" err="1">
                <a:solidFill>
                  <a:schemeClr val="tx1"/>
                </a:solidFill>
              </a:rPr>
              <a:t>ascii</a:t>
            </a:r>
            <a:r>
              <a:rPr lang="en-US" altLang="en-US" sz="2400" b="1" dirty="0">
                <a:solidFill>
                  <a:schemeClr val="tx1"/>
                </a:solidFill>
              </a:rPr>
              <a:t>(64)=‘@’</a:t>
            </a: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7248525" y="4149725"/>
            <a:ext cx="269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chemeClr val="tx1"/>
                </a:solidFill>
              </a:rPr>
              <a:t>c[0]=ascii(65)=‘A’</a:t>
            </a:r>
          </a:p>
        </p:txBody>
      </p:sp>
      <p:sp>
        <p:nvSpPr>
          <p:cNvPr id="43016" name="Rectangle 8"/>
          <p:cNvSpPr>
            <a:spLocks noChangeArrowheads="1"/>
          </p:cNvSpPr>
          <p:nvPr/>
        </p:nvSpPr>
        <p:spPr bwMode="auto">
          <a:xfrm>
            <a:off x="7543800" y="685800"/>
            <a:ext cx="2895600" cy="18097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solidFill>
                  <a:schemeClr val="tx1"/>
                </a:solidFill>
                <a:latin typeface="Courier New" panose="02070309020205020404" pitchFamily="49" charset="0"/>
              </a:rPr>
              <a:t>Output: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pt-BR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16449</a:t>
            </a:r>
            <a:endParaRPr lang="en-US" altLang="en-US" sz="2800" b="1">
              <a:solidFill>
                <a:schemeClr val="tx2"/>
              </a:solidFill>
              <a:latin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A</a:t>
            </a:r>
          </a:p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  <a:latin typeface="Courier New" panose="02070309020205020404" pitchFamily="49" charset="0"/>
              </a:rPr>
              <a:t>@</a:t>
            </a:r>
          </a:p>
        </p:txBody>
      </p:sp>
      <p:sp>
        <p:nvSpPr>
          <p:cNvPr id="43017" name="Text Box 9"/>
          <p:cNvSpPr txBox="1">
            <a:spLocks noChangeArrowheads="1"/>
          </p:cNvSpPr>
          <p:nvPr/>
        </p:nvSpPr>
        <p:spPr bwMode="auto">
          <a:xfrm>
            <a:off x="1919288" y="5805489"/>
            <a:ext cx="8610600" cy="5286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50000"/>
              </a:spcBef>
              <a:buClrTx/>
              <a:buFontTx/>
              <a:buNone/>
            </a:pPr>
            <a:endParaRPr lang="en-US" altLang="en-US" sz="2800" b="1">
              <a:solidFill>
                <a:schemeClr val="tx2"/>
              </a:solidFill>
            </a:endParaRPr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5880100" y="5805488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9" name="Rectangle 12"/>
          <p:cNvSpPr>
            <a:spLocks noChangeArrowheads="1"/>
          </p:cNvSpPr>
          <p:nvPr/>
        </p:nvSpPr>
        <p:spPr bwMode="auto">
          <a:xfrm>
            <a:off x="6024564" y="5805488"/>
            <a:ext cx="4429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 dirty="0">
                <a:solidFill>
                  <a:schemeClr val="tx2"/>
                </a:solidFill>
              </a:rPr>
              <a:t>0    1    0    0    0    0    0   0</a:t>
            </a:r>
          </a:p>
        </p:txBody>
      </p:sp>
      <p:sp>
        <p:nvSpPr>
          <p:cNvPr id="43020" name="Rectangle 13"/>
          <p:cNvSpPr>
            <a:spLocks noChangeArrowheads="1"/>
          </p:cNvSpPr>
          <p:nvPr/>
        </p:nvSpPr>
        <p:spPr bwMode="auto">
          <a:xfrm>
            <a:off x="1774825" y="5876926"/>
            <a:ext cx="3937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800" b="1">
                <a:solidFill>
                  <a:schemeClr val="tx2"/>
                </a:solidFill>
              </a:rPr>
              <a:t>0   1   0   0   0   0   0    1</a:t>
            </a:r>
          </a:p>
        </p:txBody>
      </p:sp>
      <p:sp>
        <p:nvSpPr>
          <p:cNvPr id="43021" name="Line 14"/>
          <p:cNvSpPr>
            <a:spLocks noChangeShapeType="1"/>
          </p:cNvSpPr>
          <p:nvPr/>
        </p:nvSpPr>
        <p:spPr bwMode="auto">
          <a:xfrm flipH="1">
            <a:off x="5016501" y="5157788"/>
            <a:ext cx="2843213" cy="6477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2" name="Line 15"/>
          <p:cNvSpPr>
            <a:spLocks noChangeShapeType="1"/>
          </p:cNvSpPr>
          <p:nvPr/>
        </p:nvSpPr>
        <p:spPr bwMode="auto">
          <a:xfrm>
            <a:off x="4656139" y="5157788"/>
            <a:ext cx="2592387" cy="647700"/>
          </a:xfrm>
          <a:prstGeom prst="line">
            <a:avLst/>
          </a:prstGeom>
          <a:noFill/>
          <a:ln w="9525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24" name="Text Box 17"/>
          <p:cNvSpPr txBox="1">
            <a:spLocks noChangeArrowheads="1"/>
          </p:cNvSpPr>
          <p:nvPr/>
        </p:nvSpPr>
        <p:spPr bwMode="auto">
          <a:xfrm>
            <a:off x="7443788" y="2565401"/>
            <a:ext cx="322421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chemeClr val="folHlink"/>
                </a:solidFill>
              </a:rPr>
              <a:t>Output depends on the endianess of the system you are using</a:t>
            </a:r>
            <a:endParaRPr lang="en-IN" altLang="en-US" sz="2400">
              <a:solidFill>
                <a:schemeClr val="folHlink"/>
              </a:solidFill>
            </a:endParaRPr>
          </a:p>
        </p:txBody>
      </p:sp>
      <p:sp>
        <p:nvSpPr>
          <p:cNvPr id="43025" name="Text Box 19"/>
          <p:cNvSpPr txBox="1">
            <a:spLocks noChangeArrowheads="1"/>
          </p:cNvSpPr>
          <p:nvPr/>
        </p:nvSpPr>
        <p:spPr bwMode="auto">
          <a:xfrm>
            <a:off x="6290468" y="6268863"/>
            <a:ext cx="16271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rgbClr val="C81E1E"/>
                </a:solidFill>
              </a:rPr>
              <a:t>Big endian</a:t>
            </a:r>
            <a:endParaRPr lang="en-IN" altLang="en-US" sz="2400" dirty="0">
              <a:solidFill>
                <a:srgbClr val="C81E1E"/>
              </a:solidFill>
            </a:endParaRPr>
          </a:p>
        </p:txBody>
      </p:sp>
      <p:sp>
        <p:nvSpPr>
          <p:cNvPr id="43026" name="Text Box 20"/>
          <p:cNvSpPr txBox="1">
            <a:spLocks noChangeArrowheads="1"/>
          </p:cNvSpPr>
          <p:nvPr/>
        </p:nvSpPr>
        <p:spPr bwMode="auto">
          <a:xfrm>
            <a:off x="8616950" y="5229225"/>
            <a:ext cx="1830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5F5F5F"/>
                </a:solidFill>
                <a:latin typeface="Arial" panose="020B0604020202020204" pitchFamily="34" charset="0"/>
              </a:defRPr>
            </a:lvl1pPr>
            <a:lvl2pPr marL="742950" indent="-28575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800">
                <a:solidFill>
                  <a:srgbClr val="5F5F5F"/>
                </a:solidFill>
                <a:latin typeface="Arial" panose="020B0604020202020204" pitchFamily="34" charset="0"/>
              </a:defRPr>
            </a:lvl2pPr>
            <a:lvl3pPr marL="11430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solidFill>
                  <a:srgbClr val="5F5F5F"/>
                </a:solidFill>
                <a:latin typeface="Arial" panose="020B0604020202020204" pitchFamily="34" charset="0"/>
              </a:defRPr>
            </a:lvl3pPr>
            <a:lvl4pPr marL="16002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4pPr>
            <a:lvl5pPr marL="2057400" indent="-228600">
              <a:lnSpc>
                <a:spcPct val="14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lnSpc>
                <a:spcPct val="14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solidFill>
                  <a:srgbClr val="5F5F5F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C81E1E"/>
                </a:solidFill>
              </a:rPr>
              <a:t>Little endian</a:t>
            </a:r>
            <a:endParaRPr lang="en-IN" altLang="en-US" sz="2400">
              <a:solidFill>
                <a:srgbClr val="C81E1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817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754A3-8DFF-4AA1-A594-531D43DD2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827" y="365125"/>
            <a:ext cx="9889587" cy="1325563"/>
          </a:xfrm>
        </p:spPr>
        <p:txBody>
          <a:bodyPr>
            <a:normAutofit/>
          </a:bodyPr>
          <a:lstStyle/>
          <a:p>
            <a:r>
              <a:rPr lang="en-US" altLang="en-US" sz="4400" b="1" dirty="0"/>
              <a:t>Difference between struct and union</a:t>
            </a:r>
            <a:endParaRPr lang="en-IN" dirty="0"/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67C51E4B-93DA-40CC-96FF-6D843AF510A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22" y="1690688"/>
            <a:ext cx="9987193" cy="4653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9851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F9856-0157-45FD-BE84-39AC7E36140F}"/>
              </a:ext>
            </a:extLst>
          </p:cNvPr>
          <p:cNvSpPr txBox="1"/>
          <p:nvPr/>
        </p:nvSpPr>
        <p:spPr>
          <a:xfrm>
            <a:off x="564445" y="474345"/>
            <a:ext cx="98326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// C program to illustrate differences  between structure and Union </a:t>
            </a:r>
          </a:p>
          <a:p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 </a:t>
            </a:r>
          </a:p>
          <a:p>
            <a:r>
              <a:rPr lang="en-IN" dirty="0"/>
              <a:t>#include &lt;</a:t>
            </a:r>
            <a:r>
              <a:rPr lang="en-IN" dirty="0" err="1"/>
              <a:t>string.h</a:t>
            </a:r>
            <a:r>
              <a:rPr lang="en-IN" dirty="0"/>
              <a:t>&gt; </a:t>
            </a:r>
          </a:p>
          <a:p>
            <a:endParaRPr lang="en-IN" dirty="0"/>
          </a:p>
          <a:p>
            <a:r>
              <a:rPr lang="en-IN" dirty="0"/>
              <a:t>// declaring structure </a:t>
            </a:r>
          </a:p>
          <a:p>
            <a:r>
              <a:rPr lang="en-IN" dirty="0"/>
              <a:t>struct </a:t>
            </a:r>
            <a:r>
              <a:rPr lang="en-IN" dirty="0" err="1"/>
              <a:t>struct_example</a:t>
            </a:r>
            <a:r>
              <a:rPr lang="en-IN" dirty="0"/>
              <a:t> 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	int integer; </a:t>
            </a:r>
          </a:p>
          <a:p>
            <a:r>
              <a:rPr lang="en-IN" dirty="0"/>
              <a:t>	float decimal; </a:t>
            </a:r>
          </a:p>
          <a:p>
            <a:r>
              <a:rPr lang="en-IN" dirty="0"/>
              <a:t>	char name[20]; </a:t>
            </a:r>
          </a:p>
          <a:p>
            <a:r>
              <a:rPr lang="en-IN" dirty="0"/>
              <a:t>}; </a:t>
            </a:r>
          </a:p>
          <a:p>
            <a:endParaRPr lang="en-IN" dirty="0"/>
          </a:p>
          <a:p>
            <a:r>
              <a:rPr lang="en-IN" dirty="0"/>
              <a:t>// </a:t>
            </a:r>
            <a:r>
              <a:rPr lang="en-IN" dirty="0" err="1"/>
              <a:t>declaraing</a:t>
            </a:r>
            <a:r>
              <a:rPr lang="en-IN" dirty="0"/>
              <a:t> union </a:t>
            </a:r>
          </a:p>
          <a:p>
            <a:endParaRPr lang="en-IN" dirty="0"/>
          </a:p>
          <a:p>
            <a:r>
              <a:rPr lang="en-IN" dirty="0"/>
              <a:t>union </a:t>
            </a:r>
            <a:r>
              <a:rPr lang="en-IN" dirty="0" err="1"/>
              <a:t>union_example</a:t>
            </a:r>
            <a:r>
              <a:rPr lang="en-IN" dirty="0"/>
              <a:t> 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	int integer; </a:t>
            </a:r>
          </a:p>
          <a:p>
            <a:r>
              <a:rPr lang="en-IN" dirty="0"/>
              <a:t>	float decimal; </a:t>
            </a:r>
          </a:p>
          <a:p>
            <a:r>
              <a:rPr lang="en-IN" dirty="0"/>
              <a:t>	char name[20]; </a:t>
            </a:r>
          </a:p>
          <a:p>
            <a:r>
              <a:rPr lang="en-IN" dirty="0"/>
              <a:t>}; </a:t>
            </a:r>
          </a:p>
        </p:txBody>
      </p:sp>
    </p:spTree>
    <p:extLst>
      <p:ext uri="{BB962C8B-B14F-4D97-AF65-F5344CB8AC3E}">
        <p14:creationId xmlns:p14="http://schemas.microsoft.com/office/powerpoint/2010/main" val="2089260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F9856-0157-45FD-BE84-39AC7E36140F}"/>
              </a:ext>
            </a:extLst>
          </p:cNvPr>
          <p:cNvSpPr txBox="1"/>
          <p:nvPr/>
        </p:nvSpPr>
        <p:spPr>
          <a:xfrm>
            <a:off x="316089" y="477167"/>
            <a:ext cx="98326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void main() </a:t>
            </a:r>
          </a:p>
          <a:p>
            <a:r>
              <a:rPr lang="en-IN" dirty="0"/>
              <a:t>{ </a:t>
            </a:r>
          </a:p>
          <a:p>
            <a:r>
              <a:rPr lang="en-IN" dirty="0"/>
              <a:t>	// creating variable for structure </a:t>
            </a:r>
          </a:p>
          <a:p>
            <a:r>
              <a:rPr lang="en-IN" dirty="0"/>
              <a:t>	// and initializing values difference </a:t>
            </a:r>
          </a:p>
          <a:p>
            <a:r>
              <a:rPr lang="en-IN" dirty="0"/>
              <a:t>	// six </a:t>
            </a:r>
          </a:p>
          <a:p>
            <a:r>
              <a:rPr lang="en-IN" dirty="0"/>
              <a:t>	struct </a:t>
            </a:r>
            <a:r>
              <a:rPr lang="en-IN" dirty="0" err="1"/>
              <a:t>struct_example</a:t>
            </a:r>
            <a:r>
              <a:rPr lang="en-IN" dirty="0"/>
              <a:t> s={18,38,"geeksforgeeks"}; </a:t>
            </a:r>
          </a:p>
          <a:p>
            <a:endParaRPr lang="en-IN" dirty="0"/>
          </a:p>
          <a:p>
            <a:r>
              <a:rPr lang="en-IN" dirty="0"/>
              <a:t>	// creating variable for union </a:t>
            </a:r>
          </a:p>
          <a:p>
            <a:r>
              <a:rPr lang="en-IN" dirty="0"/>
              <a:t>	// and initializing values </a:t>
            </a:r>
          </a:p>
          <a:p>
            <a:r>
              <a:rPr lang="en-IN" dirty="0"/>
              <a:t>	union </a:t>
            </a:r>
            <a:r>
              <a:rPr lang="en-IN" dirty="0" err="1"/>
              <a:t>union_example</a:t>
            </a:r>
            <a:r>
              <a:rPr lang="en-IN" dirty="0"/>
              <a:t> u={18,38,"geeksforgeeks"}; </a:t>
            </a:r>
          </a:p>
          <a:p>
            <a:endParaRPr lang="en-IN" dirty="0"/>
          </a:p>
          <a:p>
            <a:r>
              <a:rPr lang="en-IN" dirty="0"/>
              <a:t>		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("structure data:\n integer: %d\n"</a:t>
            </a:r>
          </a:p>
          <a:p>
            <a:r>
              <a:rPr lang="en-IN" dirty="0"/>
              <a:t>				"decimal: %.2f\n name: %s\n", </a:t>
            </a:r>
          </a:p>
          <a:p>
            <a:r>
              <a:rPr lang="en-IN" dirty="0"/>
              <a:t>				</a:t>
            </a:r>
            <a:r>
              <a:rPr lang="en-IN" dirty="0" err="1"/>
              <a:t>s.integer</a:t>
            </a:r>
            <a:r>
              <a:rPr lang="en-IN" dirty="0"/>
              <a:t>, </a:t>
            </a:r>
            <a:r>
              <a:rPr lang="en-IN" dirty="0" err="1"/>
              <a:t>s.decimal</a:t>
            </a:r>
            <a:r>
              <a:rPr lang="en-IN" dirty="0"/>
              <a:t>, s.name);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nunion</a:t>
            </a:r>
            <a:r>
              <a:rPr lang="en-IN" dirty="0"/>
              <a:t> data:\n </a:t>
            </a:r>
            <a:r>
              <a:rPr lang="en-IN" dirty="0" err="1"/>
              <a:t>integeer</a:t>
            </a:r>
            <a:r>
              <a:rPr lang="en-IN" dirty="0"/>
              <a:t>: %d\n"</a:t>
            </a:r>
          </a:p>
          <a:p>
            <a:r>
              <a:rPr lang="en-IN" dirty="0"/>
              <a:t>				"decimal: %.2f\n name: %s\n", </a:t>
            </a:r>
          </a:p>
          <a:p>
            <a:r>
              <a:rPr lang="en-IN" dirty="0"/>
              <a:t>				</a:t>
            </a:r>
            <a:r>
              <a:rPr lang="en-IN" dirty="0" err="1"/>
              <a:t>u.integer</a:t>
            </a:r>
            <a:r>
              <a:rPr lang="en-IN" dirty="0"/>
              <a:t>, </a:t>
            </a:r>
            <a:r>
              <a:rPr lang="en-IN" dirty="0" err="1"/>
              <a:t>u.decimal</a:t>
            </a:r>
            <a:r>
              <a:rPr lang="en-IN" dirty="0"/>
              <a:t>, u.name); 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9426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4F9856-0157-45FD-BE84-39AC7E36140F}"/>
              </a:ext>
            </a:extLst>
          </p:cNvPr>
          <p:cNvSpPr txBox="1"/>
          <p:nvPr/>
        </p:nvSpPr>
        <p:spPr>
          <a:xfrm>
            <a:off x="316089" y="477167"/>
            <a:ext cx="983262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 difference two and three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nsizeof</a:t>
            </a:r>
            <a:r>
              <a:rPr lang="en-IN" dirty="0"/>
              <a:t> structure : %d\n", </a:t>
            </a:r>
            <a:r>
              <a:rPr lang="en-IN" dirty="0" err="1"/>
              <a:t>sizeof</a:t>
            </a:r>
            <a:r>
              <a:rPr lang="en-IN" dirty="0"/>
              <a:t>(s));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</a:t>
            </a:r>
            <a:r>
              <a:rPr lang="en-IN" dirty="0" err="1"/>
              <a:t>sizeof</a:t>
            </a:r>
            <a:r>
              <a:rPr lang="en-IN" dirty="0"/>
              <a:t> union : %d\n", </a:t>
            </a:r>
            <a:r>
              <a:rPr lang="en-IN" dirty="0" err="1"/>
              <a:t>sizeof</a:t>
            </a:r>
            <a:r>
              <a:rPr lang="en-IN" dirty="0"/>
              <a:t>(u));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// difference five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("\n Accessing all members at a time:"); </a:t>
            </a:r>
          </a:p>
          <a:p>
            <a:r>
              <a:rPr lang="en-IN" dirty="0"/>
              <a:t>	</a:t>
            </a:r>
            <a:r>
              <a:rPr lang="en-IN" dirty="0" err="1"/>
              <a:t>s.integer</a:t>
            </a:r>
            <a:r>
              <a:rPr lang="en-IN" dirty="0"/>
              <a:t> = 183; </a:t>
            </a:r>
          </a:p>
          <a:p>
            <a:r>
              <a:rPr lang="en-IN" dirty="0"/>
              <a:t>	</a:t>
            </a:r>
            <a:r>
              <a:rPr lang="en-IN" dirty="0" err="1"/>
              <a:t>s.decimal</a:t>
            </a:r>
            <a:r>
              <a:rPr lang="en-IN" dirty="0"/>
              <a:t> = 90; </a:t>
            </a:r>
          </a:p>
          <a:p>
            <a:r>
              <a:rPr lang="en-IN" dirty="0"/>
              <a:t>	</a:t>
            </a:r>
            <a:r>
              <a:rPr lang="en-IN" dirty="0" err="1"/>
              <a:t>strcpy</a:t>
            </a:r>
            <a:r>
              <a:rPr lang="en-IN" dirty="0"/>
              <a:t>(s.name, "</a:t>
            </a:r>
            <a:r>
              <a:rPr lang="en-IN" dirty="0" err="1"/>
              <a:t>geeksforgeeks</a:t>
            </a:r>
            <a:r>
              <a:rPr lang="en-IN" dirty="0"/>
              <a:t>");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("structure data:\n integer: %d\n "</a:t>
            </a:r>
          </a:p>
          <a:p>
            <a:r>
              <a:rPr lang="en-IN" dirty="0"/>
              <a:t>				"decimal: %.2f\n name: %s\n", </a:t>
            </a:r>
          </a:p>
          <a:p>
            <a:r>
              <a:rPr lang="en-IN" dirty="0"/>
              <a:t>			</a:t>
            </a:r>
            <a:r>
              <a:rPr lang="en-IN" dirty="0" err="1"/>
              <a:t>s.integer</a:t>
            </a:r>
            <a:r>
              <a:rPr lang="en-IN" dirty="0"/>
              <a:t>, </a:t>
            </a:r>
            <a:r>
              <a:rPr lang="en-IN" dirty="0" err="1"/>
              <a:t>s.decimal</a:t>
            </a:r>
            <a:r>
              <a:rPr lang="en-IN" dirty="0"/>
              <a:t>, s.name);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u.integer</a:t>
            </a:r>
            <a:r>
              <a:rPr lang="en-IN" dirty="0"/>
              <a:t> = 183; </a:t>
            </a:r>
          </a:p>
          <a:p>
            <a:r>
              <a:rPr lang="en-IN" dirty="0"/>
              <a:t>	</a:t>
            </a:r>
            <a:r>
              <a:rPr lang="en-IN" dirty="0" err="1"/>
              <a:t>u.decimal</a:t>
            </a:r>
            <a:r>
              <a:rPr lang="en-IN" dirty="0"/>
              <a:t> = 90; </a:t>
            </a:r>
          </a:p>
          <a:p>
            <a:r>
              <a:rPr lang="en-IN" dirty="0"/>
              <a:t>	</a:t>
            </a:r>
            <a:r>
              <a:rPr lang="en-IN" dirty="0" err="1"/>
              <a:t>strcpy</a:t>
            </a:r>
            <a:r>
              <a:rPr lang="en-IN" dirty="0"/>
              <a:t>(u.name, "</a:t>
            </a:r>
            <a:r>
              <a:rPr lang="en-IN" dirty="0" err="1"/>
              <a:t>geeksforgeeks</a:t>
            </a:r>
            <a:r>
              <a:rPr lang="en-IN" dirty="0"/>
              <a:t>");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nunion</a:t>
            </a:r>
            <a:r>
              <a:rPr lang="en-IN" dirty="0"/>
              <a:t> data:\n </a:t>
            </a:r>
            <a:r>
              <a:rPr lang="en-IN" dirty="0" err="1"/>
              <a:t>integeer</a:t>
            </a:r>
            <a:r>
              <a:rPr lang="en-IN" dirty="0"/>
              <a:t>: %d\n "</a:t>
            </a:r>
          </a:p>
          <a:p>
            <a:r>
              <a:rPr lang="en-IN" dirty="0"/>
              <a:t>				"decimal: %.2f\n name: %s\n", </a:t>
            </a:r>
          </a:p>
          <a:p>
            <a:r>
              <a:rPr lang="en-IN" dirty="0"/>
              <a:t>			</a:t>
            </a:r>
            <a:r>
              <a:rPr lang="en-IN" dirty="0" err="1"/>
              <a:t>u.integer</a:t>
            </a:r>
            <a:r>
              <a:rPr lang="en-IN" dirty="0"/>
              <a:t>, </a:t>
            </a:r>
            <a:r>
              <a:rPr lang="en-IN" dirty="0" err="1"/>
              <a:t>u.decimal</a:t>
            </a:r>
            <a:r>
              <a:rPr lang="en-IN" dirty="0"/>
              <a:t>, u.name); </a:t>
            </a:r>
          </a:p>
          <a:p>
            <a:r>
              <a:rPr lang="en-IN" dirty="0"/>
              <a:t>	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571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BC34383-04D9-48AC-A749-EDA340BFC44F}"/>
              </a:ext>
            </a:extLst>
          </p:cNvPr>
          <p:cNvSpPr txBox="1"/>
          <p:nvPr/>
        </p:nvSpPr>
        <p:spPr>
          <a:xfrm>
            <a:off x="304800" y="338668"/>
            <a:ext cx="88392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printf</a:t>
            </a:r>
            <a:r>
              <a:rPr lang="en-IN" dirty="0"/>
              <a:t>("\n Accessing one member at time:");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nstructure</a:t>
            </a:r>
            <a:r>
              <a:rPr lang="en-IN" dirty="0"/>
              <a:t> data:"); </a:t>
            </a:r>
          </a:p>
          <a:p>
            <a:r>
              <a:rPr lang="en-IN" dirty="0"/>
              <a:t>	</a:t>
            </a:r>
            <a:r>
              <a:rPr lang="en-IN" dirty="0" err="1"/>
              <a:t>s.integer</a:t>
            </a:r>
            <a:r>
              <a:rPr lang="en-IN" dirty="0"/>
              <a:t> = 240;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ninteger</a:t>
            </a:r>
            <a:r>
              <a:rPr lang="en-IN" dirty="0"/>
              <a:t>: %d", </a:t>
            </a:r>
            <a:r>
              <a:rPr lang="en-IN" dirty="0" err="1"/>
              <a:t>s.integer</a:t>
            </a:r>
            <a:r>
              <a:rPr lang="en-IN" dirty="0"/>
              <a:t>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s.decimal</a:t>
            </a:r>
            <a:r>
              <a:rPr lang="en-IN" dirty="0"/>
              <a:t> = 120;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ndecimal</a:t>
            </a:r>
            <a:r>
              <a:rPr lang="en-IN" dirty="0"/>
              <a:t>: %f", </a:t>
            </a:r>
            <a:r>
              <a:rPr lang="en-IN" dirty="0" err="1"/>
              <a:t>s.decimal</a:t>
            </a:r>
            <a:r>
              <a:rPr lang="en-IN" dirty="0"/>
              <a:t>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strcpy</a:t>
            </a:r>
            <a:r>
              <a:rPr lang="en-IN" dirty="0"/>
              <a:t>(s.name, "C programming");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nname</a:t>
            </a:r>
            <a:r>
              <a:rPr lang="en-IN" dirty="0"/>
              <a:t>: %s\n", s.name);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("\n union data:"); </a:t>
            </a:r>
          </a:p>
          <a:p>
            <a:r>
              <a:rPr lang="en-IN" dirty="0"/>
              <a:t>	</a:t>
            </a:r>
            <a:r>
              <a:rPr lang="en-IN" dirty="0" err="1"/>
              <a:t>u.integer</a:t>
            </a:r>
            <a:r>
              <a:rPr lang="en-IN" dirty="0"/>
              <a:t> = 240;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ninteger</a:t>
            </a:r>
            <a:r>
              <a:rPr lang="en-IN" dirty="0"/>
              <a:t>: %d", </a:t>
            </a:r>
            <a:r>
              <a:rPr lang="en-IN" dirty="0" err="1"/>
              <a:t>u.integer</a:t>
            </a:r>
            <a:r>
              <a:rPr lang="en-IN" dirty="0"/>
              <a:t>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u.decimal</a:t>
            </a:r>
            <a:r>
              <a:rPr lang="en-IN" dirty="0"/>
              <a:t> = 120;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ndecimal</a:t>
            </a:r>
            <a:r>
              <a:rPr lang="en-IN" dirty="0"/>
              <a:t>: %f", </a:t>
            </a:r>
            <a:r>
              <a:rPr lang="en-IN" dirty="0" err="1"/>
              <a:t>u.decimal</a:t>
            </a:r>
            <a:r>
              <a:rPr lang="en-IN" dirty="0"/>
              <a:t>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strcpy</a:t>
            </a:r>
            <a:r>
              <a:rPr lang="en-IN" dirty="0"/>
              <a:t>(u.name, "C programming");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nname</a:t>
            </a:r>
            <a:r>
              <a:rPr lang="en-IN" dirty="0"/>
              <a:t>: %s\n", u.name); </a:t>
            </a:r>
          </a:p>
          <a:p>
            <a:r>
              <a:rPr lang="en-IN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8630765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9565AF-2D56-4FA4-8892-76CC906CC1DA}"/>
              </a:ext>
            </a:extLst>
          </p:cNvPr>
          <p:cNvSpPr txBox="1"/>
          <p:nvPr/>
        </p:nvSpPr>
        <p:spPr>
          <a:xfrm>
            <a:off x="327379" y="349956"/>
            <a:ext cx="881662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//difference four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("\</a:t>
            </a:r>
            <a:r>
              <a:rPr lang="en-IN" dirty="0" err="1"/>
              <a:t>nAltering</a:t>
            </a:r>
            <a:r>
              <a:rPr lang="en-IN" dirty="0"/>
              <a:t> a member value:\n"); </a:t>
            </a:r>
          </a:p>
          <a:p>
            <a:r>
              <a:rPr lang="en-IN" dirty="0"/>
              <a:t>	</a:t>
            </a:r>
            <a:r>
              <a:rPr lang="en-IN" dirty="0" err="1"/>
              <a:t>s.integer</a:t>
            </a:r>
            <a:r>
              <a:rPr lang="en-IN" dirty="0"/>
              <a:t> = 1218;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("structure data:\n integer: %d\n "</a:t>
            </a:r>
          </a:p>
          <a:p>
            <a:r>
              <a:rPr lang="en-IN" dirty="0"/>
              <a:t>				" decimal: %.2f\n name: %s\n", </a:t>
            </a:r>
          </a:p>
          <a:p>
            <a:r>
              <a:rPr lang="en-IN" dirty="0"/>
              <a:t>				</a:t>
            </a:r>
            <a:r>
              <a:rPr lang="en-IN" dirty="0" err="1"/>
              <a:t>s.integer</a:t>
            </a:r>
            <a:r>
              <a:rPr lang="en-IN" dirty="0"/>
              <a:t>, </a:t>
            </a:r>
            <a:r>
              <a:rPr lang="en-IN" dirty="0" err="1"/>
              <a:t>s.decimal</a:t>
            </a:r>
            <a:r>
              <a:rPr lang="en-IN" dirty="0"/>
              <a:t>, s.name); </a:t>
            </a:r>
          </a:p>
          <a:p>
            <a:r>
              <a:rPr lang="en-IN" dirty="0"/>
              <a:t>	</a:t>
            </a:r>
          </a:p>
          <a:p>
            <a:r>
              <a:rPr lang="en-IN" dirty="0"/>
              <a:t>	</a:t>
            </a:r>
            <a:r>
              <a:rPr lang="en-IN" dirty="0" err="1"/>
              <a:t>u.integer</a:t>
            </a:r>
            <a:r>
              <a:rPr lang="en-IN" dirty="0"/>
              <a:t> = 1218; </a:t>
            </a:r>
          </a:p>
          <a:p>
            <a:r>
              <a:rPr lang="en-IN" dirty="0"/>
              <a:t>	</a:t>
            </a:r>
            <a:r>
              <a:rPr lang="en-IN" dirty="0" err="1"/>
              <a:t>printf</a:t>
            </a:r>
            <a:r>
              <a:rPr lang="en-IN" dirty="0"/>
              <a:t>("union data:\n integer: %d\n"</a:t>
            </a:r>
          </a:p>
          <a:p>
            <a:r>
              <a:rPr lang="en-IN" dirty="0"/>
              <a:t>		" decimal: %.2f\n name: %s\n", </a:t>
            </a:r>
          </a:p>
          <a:p>
            <a:r>
              <a:rPr lang="en-IN" dirty="0"/>
              <a:t>			</a:t>
            </a:r>
            <a:r>
              <a:rPr lang="en-IN" dirty="0" err="1"/>
              <a:t>u.integer</a:t>
            </a:r>
            <a:r>
              <a:rPr lang="en-IN" dirty="0"/>
              <a:t>, </a:t>
            </a:r>
            <a:r>
              <a:rPr lang="en-IN" dirty="0" err="1"/>
              <a:t>u.decimal</a:t>
            </a:r>
            <a:r>
              <a:rPr lang="en-IN" dirty="0"/>
              <a:t>, u.name); </a:t>
            </a:r>
          </a:p>
          <a:p>
            <a:r>
              <a:rPr lang="en-IN" dirty="0"/>
              <a:t>} </a:t>
            </a:r>
          </a:p>
          <a:p>
            <a:r>
              <a:rPr lang="en-IN" b="1" dirty="0">
                <a:latin typeface="Monstreat"/>
              </a:rPr>
              <a:t>OUTPUT:</a:t>
            </a:r>
          </a:p>
          <a:p>
            <a:r>
              <a:rPr lang="en-IN" dirty="0">
                <a:latin typeface="Consolas" panose="020B0609020204030204" pitchFamily="49" charset="0"/>
              </a:rPr>
              <a:t>Structure</a:t>
            </a:r>
            <a:r>
              <a:rPr lang="en-IN" b="1" dirty="0">
                <a:latin typeface="Monstreat"/>
              </a:rPr>
              <a:t> Data:</a:t>
            </a:r>
          </a:p>
          <a:p>
            <a:r>
              <a:rPr lang="en-IN" dirty="0">
                <a:latin typeface="Consolas" panose="020B0609020204030204" pitchFamily="49" charset="0"/>
              </a:rPr>
              <a:t>Integer</a:t>
            </a:r>
            <a:r>
              <a:rPr lang="en-IN" b="1" dirty="0">
                <a:latin typeface="Monstreat"/>
              </a:rPr>
              <a:t> :18</a:t>
            </a:r>
          </a:p>
          <a:p>
            <a:r>
              <a:rPr lang="en-IN" dirty="0">
                <a:latin typeface="Consolas" panose="020B0609020204030204" pitchFamily="49" charset="0"/>
              </a:rPr>
              <a:t>Decimal</a:t>
            </a:r>
            <a:r>
              <a:rPr lang="en-IN" b="1" dirty="0">
                <a:latin typeface="Monstreat"/>
              </a:rPr>
              <a:t>: 38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geeksforgeeks</a:t>
            </a:r>
            <a:endParaRPr kumimoji="0" lang="en-IN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Monstreat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union data: </a:t>
            </a:r>
          </a:p>
          <a:p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integeer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18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decimal: 0.00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name: ?</a:t>
            </a:r>
            <a:endParaRPr lang="en-IN" b="1" dirty="0">
              <a:latin typeface="Monstreat"/>
            </a:endParaRPr>
          </a:p>
          <a:p>
            <a:endParaRPr lang="en-IN" b="1" dirty="0">
              <a:latin typeface="Monstreat"/>
            </a:endParaRPr>
          </a:p>
        </p:txBody>
      </p:sp>
    </p:spTree>
    <p:extLst>
      <p:ext uri="{BB962C8B-B14F-4D97-AF65-F5344CB8AC3E}">
        <p14:creationId xmlns:p14="http://schemas.microsoft.com/office/powerpoint/2010/main" val="35300851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89565AF-2D56-4FA4-8892-76CC906CC1DA}"/>
              </a:ext>
            </a:extLst>
          </p:cNvPr>
          <p:cNvSpPr txBox="1"/>
          <p:nvPr/>
        </p:nvSpPr>
        <p:spPr>
          <a:xfrm>
            <a:off x="327379" y="349956"/>
            <a:ext cx="8816622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structure: 28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union: 20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Accessing all members at a time: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structure data: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integer: 183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decimal: 90.00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geeksforgeeks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union data: </a:t>
            </a:r>
          </a:p>
          <a:p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integeer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: 1801807207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decimal: 277322871721159510000000000.00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name: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geeksforgeeks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Accessing one member at a time: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structure data: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integer: 240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decimal: 120.000000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name: C programming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union data: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integer: 240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decimal: 120.000000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name: C programming </a:t>
            </a:r>
          </a:p>
          <a:p>
            <a:endParaRPr lang="en-IN" b="1" dirty="0">
              <a:latin typeface="Monstreat"/>
            </a:endParaRPr>
          </a:p>
        </p:txBody>
      </p:sp>
    </p:spTree>
    <p:extLst>
      <p:ext uri="{BB962C8B-B14F-4D97-AF65-F5344CB8AC3E}">
        <p14:creationId xmlns:p14="http://schemas.microsoft.com/office/powerpoint/2010/main" val="22466876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BBA26C-7975-4417-A222-911752A89487}"/>
              </a:ext>
            </a:extLst>
          </p:cNvPr>
          <p:cNvSpPr txBox="1"/>
          <p:nvPr/>
        </p:nvSpPr>
        <p:spPr>
          <a:xfrm>
            <a:off x="0" y="1446663"/>
            <a:ext cx="9144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Altering a member value: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structure data: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integer: 1218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decimal: 120.00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name: C programming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union data: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integer: 1218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decimal: 0.00 </a:t>
            </a:r>
          </a:p>
          <a:p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name: 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4751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253</TotalTime>
  <Words>2287</Words>
  <Application>Microsoft Office PowerPoint</Application>
  <PresentationFormat>Widescreen</PresentationFormat>
  <Paragraphs>422</Paragraphs>
  <Slides>38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8" baseType="lpstr">
      <vt:lpstr>-apple-system</vt:lpstr>
      <vt:lpstr>Arial</vt:lpstr>
      <vt:lpstr>Calibri</vt:lpstr>
      <vt:lpstr>Calibri Light</vt:lpstr>
      <vt:lpstr>Consolas</vt:lpstr>
      <vt:lpstr>Courier New</vt:lpstr>
      <vt:lpstr>Monsterrat</vt:lpstr>
      <vt:lpstr>Monstreat</vt:lpstr>
      <vt:lpstr>Wingdings</vt:lpstr>
      <vt:lpstr>Office Theme</vt:lpstr>
      <vt:lpstr>Module-4 Structure and Union</vt:lpstr>
      <vt:lpstr>CLASSIFICATION :DATA TYPE</vt:lpstr>
      <vt:lpstr>User Defined Data Type </vt:lpstr>
      <vt:lpstr>PowerPoint Presentation</vt:lpstr>
      <vt:lpstr>Enumerated Data Type</vt:lpstr>
      <vt:lpstr>Enumerated Data Type</vt:lpstr>
      <vt:lpstr>Enumerated Data Type</vt:lpstr>
      <vt:lpstr>Enumerated Data Type</vt:lpstr>
      <vt:lpstr>Enumerated Data Type</vt:lpstr>
      <vt:lpstr>PowerPoint Presentation</vt:lpstr>
      <vt:lpstr>PowerPoint Presentation</vt:lpstr>
      <vt:lpstr>typedef</vt:lpstr>
      <vt:lpstr>Structure</vt:lpstr>
      <vt:lpstr>Syntax – Definition and Declaration</vt:lpstr>
      <vt:lpstr>Example</vt:lpstr>
      <vt:lpstr>Accessing members</vt:lpstr>
      <vt:lpstr>Example- simple (Employee Details)</vt:lpstr>
      <vt:lpstr>PowerPoint Presentation</vt:lpstr>
      <vt:lpstr>Array of Structure </vt:lpstr>
      <vt:lpstr>Example – array of structure</vt:lpstr>
      <vt:lpstr>PowerPoint Presentation</vt:lpstr>
      <vt:lpstr>Structure Pointers</vt:lpstr>
      <vt:lpstr>PowerPoint Presentation</vt:lpstr>
      <vt:lpstr>PowerPoint Presentation</vt:lpstr>
      <vt:lpstr>Nested structure (Structure within Structure</vt:lpstr>
      <vt:lpstr>PowerPoint Presentation</vt:lpstr>
      <vt:lpstr>Union: Syntax</vt:lpstr>
      <vt:lpstr>Unions</vt:lpstr>
      <vt:lpstr>Difference between struct and union</vt:lpstr>
      <vt:lpstr>PowerPoint Presentation</vt:lpstr>
      <vt:lpstr>Difference between struct and union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Defined Data Type</dc:title>
  <dc:creator>SUGUNA M</dc:creator>
  <cp:lastModifiedBy>Dr. Mohammad Arif</cp:lastModifiedBy>
  <cp:revision>33</cp:revision>
  <dcterms:created xsi:type="dcterms:W3CDTF">2022-03-10T09:25:55Z</dcterms:created>
  <dcterms:modified xsi:type="dcterms:W3CDTF">2023-04-06T04:09:55Z</dcterms:modified>
</cp:coreProperties>
</file>