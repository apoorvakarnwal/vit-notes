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74" r:id="rId2"/>
  </p:sldMasterIdLst>
  <p:sldIdLst>
    <p:sldId id="311" r:id="rId3"/>
    <p:sldId id="259" r:id="rId4"/>
    <p:sldId id="260" r:id="rId5"/>
    <p:sldId id="261" r:id="rId6"/>
    <p:sldId id="262" r:id="rId7"/>
    <p:sldId id="263" r:id="rId8"/>
    <p:sldId id="288" r:id="rId9"/>
    <p:sldId id="266" r:id="rId10"/>
    <p:sldId id="268" r:id="rId11"/>
    <p:sldId id="290" r:id="rId12"/>
    <p:sldId id="291" r:id="rId13"/>
    <p:sldId id="292" r:id="rId14"/>
    <p:sldId id="293" r:id="rId15"/>
    <p:sldId id="276" r:id="rId16"/>
    <p:sldId id="294" r:id="rId17"/>
    <p:sldId id="295" r:id="rId18"/>
    <p:sldId id="296" r:id="rId19"/>
    <p:sldId id="313" r:id="rId20"/>
    <p:sldId id="281" r:id="rId21"/>
    <p:sldId id="312" r:id="rId22"/>
    <p:sldId id="257" r:id="rId23"/>
    <p:sldId id="304" r:id="rId24"/>
    <p:sldId id="305" r:id="rId25"/>
    <p:sldId id="306" r:id="rId26"/>
    <p:sldId id="307" r:id="rId27"/>
    <p:sldId id="308" r:id="rId28"/>
    <p:sldId id="309" r:id="rId29"/>
    <p:sldId id="310" r:id="rId30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29" autoAdjust="0"/>
    <p:restoredTop sz="94660"/>
  </p:normalViewPr>
  <p:slideViewPr>
    <p:cSldViewPr>
      <p:cViewPr>
        <p:scale>
          <a:sx n="48" d="100"/>
          <a:sy n="48" d="100"/>
        </p:scale>
        <p:origin x="2011" y="5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81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76" name="Picture 75"/>
          <p:cNvPicPr/>
          <p:nvPr/>
        </p:nvPicPr>
        <p:blipFill>
          <a:blip r:embed="rId2"/>
          <a:stretch>
            <a:fillRect/>
          </a:stretch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  <p:pic>
        <p:nvPicPr>
          <p:cNvPr id="77" name="Picture 76"/>
          <p:cNvPicPr/>
          <p:nvPr/>
        </p:nvPicPr>
        <p:blipFill>
          <a:blip r:embed="rId2"/>
          <a:stretch>
            <a:fillRect/>
          </a:stretch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81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116" name="Picture 115"/>
          <p:cNvPicPr/>
          <p:nvPr/>
        </p:nvPicPr>
        <p:blipFill>
          <a:blip r:embed="rId2"/>
          <a:stretch>
            <a:fillRect/>
          </a:stretch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  <p:pic>
        <p:nvPicPr>
          <p:cNvPr id="117" name="Picture 116"/>
          <p:cNvPicPr/>
          <p:nvPr/>
        </p:nvPicPr>
        <p:blipFill>
          <a:blip r:embed="rId2"/>
          <a:stretch>
            <a:fillRect/>
          </a:stretch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Calibri"/>
              </a:rPr>
              <a:t>Click to edit the title text </a:t>
            </a:r>
            <a:r>
              <a:rPr lang="en-US" sz="4400" dirty="0" err="1">
                <a:solidFill>
                  <a:srgbClr val="000000"/>
                </a:solidFill>
                <a:latin typeface="Calibri"/>
              </a:rPr>
              <a:t>formatClick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 to edit Master title style</a:t>
            </a:r>
            <a:endParaRPr dirty="0"/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>
              <a:buSzPct val="25000"/>
              <a:buFont typeface="StarSymbol"/>
              <a:buChar char=""/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dirty="0"/>
          </a:p>
          <a:p>
            <a:pPr lvl="1">
              <a:buSzPct val="25000"/>
              <a:buFont typeface="StarSymbol"/>
              <a:buChar char=""/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Second Outline Level</a:t>
            </a:r>
            <a:endParaRPr dirty="0"/>
          </a:p>
          <a:p>
            <a:pPr lvl="2">
              <a:buSzPct val="25000"/>
              <a:buFont typeface="StarSymbol"/>
              <a:buChar char=""/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Third Outline Level</a:t>
            </a:r>
            <a:endParaRPr dirty="0"/>
          </a:p>
          <a:p>
            <a:pPr lvl="3">
              <a:buSzPct val="25000"/>
              <a:buFont typeface="StarSymbol"/>
              <a:buChar char=""/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Fourth Outline Level</a:t>
            </a:r>
            <a:endParaRPr dirty="0"/>
          </a:p>
          <a:p>
            <a:pPr lvl="4">
              <a:buSzPct val="25000"/>
              <a:buFont typeface="StarSymbol"/>
              <a:buChar char=""/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Fifth Outline Level</a:t>
            </a:r>
            <a:endParaRPr dirty="0"/>
          </a:p>
          <a:p>
            <a:pPr lvl="5">
              <a:buSzPct val="25000"/>
              <a:buFont typeface="StarSymbol"/>
              <a:buChar char=""/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Sixth Outline Level</a:t>
            </a:r>
            <a:endParaRPr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Seventh Outline </a:t>
            </a:r>
            <a:r>
              <a:rPr lang="en-US" sz="3200" dirty="0" err="1">
                <a:solidFill>
                  <a:srgbClr val="000000"/>
                </a:solidFill>
                <a:latin typeface="Calibri"/>
              </a:rPr>
              <a:t>LevelClick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 to edit Master text styles</a:t>
            </a:r>
            <a:endParaRPr dirty="0"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800" dirty="0">
                <a:solidFill>
                  <a:srgbClr val="000000"/>
                </a:solidFill>
                <a:latin typeface="Calibri"/>
              </a:rPr>
              <a:t>Second level</a:t>
            </a:r>
            <a:endParaRPr dirty="0"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Third level</a:t>
            </a:r>
            <a:endParaRPr dirty="0"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Fourth level</a:t>
            </a:r>
            <a:endParaRPr dirty="0"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Fifth level</a:t>
            </a:r>
            <a:endParaRPr dirty="0"/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8B8B8B"/>
                </a:solidFill>
                <a:latin typeface="Calibri"/>
              </a:rPr>
              <a:t>01/02/16</a:t>
            </a:r>
            <a:endParaRPr/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94A2BC36-CD28-4FED-9AB9-62278DDAD7EA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>
        <a:defRPr>
          <a:solidFill>
            <a:srgbClr val="FF0000"/>
          </a:solidFill>
        </a:defRPr>
      </a:lvl1pPr>
    </p:titleStyle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/>
          <a:lstStyle/>
          <a:p>
            <a:pPr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</p:spPr>
        <p:txBody>
          <a:bodyPr anchor="ctr"/>
          <a:lstStyle/>
          <a:p>
            <a:pPr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81" name="PlaceHolder 4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2800">
                <a:solidFill>
                  <a:srgbClr val="8B8B8B"/>
                </a:solidFill>
                <a:latin typeface="Calibri"/>
              </a:rPr>
              <a:t>01/02/16</a:t>
            </a:r>
            <a:endParaRPr/>
          </a:p>
        </p:txBody>
      </p:sp>
      <p:sp>
        <p:nvSpPr>
          <p:cNvPr id="82" name="PlaceHolder 5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83" name="PlaceHolder 6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3FF8C047-E112-493A-9836-EB53E464A762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3E01BEE-7555-2813-7E04-A800BF26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40" y="2564904"/>
            <a:ext cx="6192688" cy="1143000"/>
          </a:xfrm>
        </p:spPr>
        <p:txBody>
          <a:bodyPr/>
          <a:lstStyle/>
          <a:p>
            <a:r>
              <a:rPr lang="en-US" sz="3200" dirty="0"/>
              <a:t>Friend Function and Friend Class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94383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Times New Roman"/>
              </a:rPr>
              <a:t>Friend Function</a:t>
            </a:r>
            <a:endParaRPr dirty="0"/>
          </a:p>
        </p:txBody>
      </p:sp>
      <p:sp>
        <p:nvSpPr>
          <p:cNvPr id="123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/>
              </a:rPr>
              <a:t>The concepts of encapsulation and data hiding dictate that non-member functions should not be able to access an object’s private or protected data. </a:t>
            </a:r>
            <a:endParaRPr dirty="0"/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/>
              </a:rPr>
              <a:t>However, there are situations where such rigid discrimination leads to considerable inconvenience.</a:t>
            </a:r>
            <a:endParaRPr dirty="0"/>
          </a:p>
          <a:p>
            <a:pPr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Times New Roman"/>
              </a:rPr>
              <a:t>Friend Function</a:t>
            </a:r>
            <a:endParaRPr/>
          </a:p>
        </p:txBody>
      </p:sp>
      <p:sp>
        <p:nvSpPr>
          <p:cNvPr id="12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</a:rPr>
              <a:t>A </a:t>
            </a:r>
            <a:r>
              <a:rPr lang="en-US" sz="3200" b="1">
                <a:solidFill>
                  <a:srgbClr val="000000"/>
                </a:solidFill>
                <a:latin typeface="Times New Roman"/>
              </a:rPr>
              <a:t>friend function </a:t>
            </a:r>
            <a:r>
              <a:rPr lang="en-US" sz="3200">
                <a:solidFill>
                  <a:srgbClr val="000000"/>
                </a:solidFill>
                <a:latin typeface="Times New Roman"/>
              </a:rPr>
              <a:t>is a function that can access the non-public members of a class, even though the function itself is not a member of the class. </a:t>
            </a:r>
            <a:endParaRPr/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</a:rPr>
              <a:t>A friend function is a normal function with special access privileges.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Times New Roman"/>
              </a:rPr>
              <a:t>Friend Function</a:t>
            </a:r>
            <a:endParaRPr/>
          </a:p>
        </p:txBody>
      </p:sp>
      <p:sp>
        <p:nvSpPr>
          <p:cNvPr id="127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friend function of a class is a non-member function of a class that has the right to access all private and protected (non-public) members of the class.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Friend function prototype should be placed inside the class definition (can be any where inside the class definition).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Friend function definition should be outside the class scope.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Even though the prototypes of friend functions appear in the class definition, friends are not member functions.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12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</a:rPr>
              <a:t>A friend function of a class can be a </a:t>
            </a:r>
            <a:endParaRPr/>
          </a:p>
          <a:p>
            <a:pPr lvl="1" algn="just">
              <a:lnSpc>
                <a:spcPct val="100000"/>
              </a:lnSpc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  <a:latin typeface="Times New Roman"/>
              </a:rPr>
              <a:t>function (non-member of a class)</a:t>
            </a:r>
            <a:endParaRPr/>
          </a:p>
          <a:p>
            <a:pPr lvl="1" algn="just">
              <a:lnSpc>
                <a:spcPct val="100000"/>
              </a:lnSpc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  <a:latin typeface="Times New Roman"/>
              </a:rPr>
              <a:t>member function of another class </a:t>
            </a:r>
            <a:endParaRPr/>
          </a:p>
          <a:p>
            <a:pPr lvl="1" algn="just">
              <a:lnSpc>
                <a:spcPct val="100000"/>
              </a:lnSpc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  <a:latin typeface="Times New Roman"/>
              </a:rPr>
              <a:t>function template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</a:rPr>
              <a:t>To declare a function as a friend of a class, precede the function prototype in the class definition with keyword </a:t>
            </a:r>
            <a:r>
              <a:rPr lang="en-US" sz="3200" b="1">
                <a:solidFill>
                  <a:srgbClr val="000000"/>
                </a:solidFill>
                <a:latin typeface="Times New Roman"/>
              </a:rPr>
              <a:t>friend.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</a:rPr>
              <a:t>Friend functions are used in Operator overloading to increase the versatility of operators.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Times New Roman"/>
              </a:rPr>
              <a:t>General Syntax</a:t>
            </a:r>
            <a:endParaRPr/>
          </a:p>
        </p:txBody>
      </p:sp>
      <p:sp>
        <p:nvSpPr>
          <p:cNvPr id="131" name="TextShape 2"/>
          <p:cNvSpPr txBox="1"/>
          <p:nvPr/>
        </p:nvSpPr>
        <p:spPr>
          <a:xfrm>
            <a:off x="457200" y="1412640"/>
            <a:ext cx="8229240" cy="4824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class ClassName  {</a:t>
            </a:r>
            <a:endParaRPr/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    ......  ....   ........</a:t>
            </a:r>
            <a:endParaRPr/>
          </a:p>
          <a:p>
            <a:pPr>
              <a:lnSpc>
                <a:spcPct val="100000"/>
              </a:lnSpc>
            </a:pPr>
            <a:r>
              <a:rPr lang="en-US" sz="1600">
                <a:solidFill>
                  <a:srgbClr val="000000"/>
                </a:solidFill>
                <a:latin typeface="Times New Roman"/>
              </a:rPr>
              <a:t>    </a:t>
            </a:r>
            <a:r>
              <a:rPr lang="en-US" sz="1600" b="1">
                <a:solidFill>
                  <a:srgbClr val="FF0000"/>
                </a:solidFill>
                <a:latin typeface="Times New Roman"/>
              </a:rPr>
              <a:t>friend  returnType  functionName( arguments ); </a:t>
            </a:r>
            <a:r>
              <a:rPr lang="en-US" sz="1600" b="1">
                <a:solidFill>
                  <a:srgbClr val="000000"/>
                </a:solidFill>
                <a:latin typeface="Times New Roman"/>
              </a:rPr>
              <a:t>// friend function declaration</a:t>
            </a:r>
            <a:endParaRPr/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    ......  ....   ........</a:t>
            </a:r>
            <a:endParaRPr/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};</a:t>
            </a:r>
            <a:endParaRPr/>
          </a:p>
          <a:p>
            <a:pPr>
              <a:lnSpc>
                <a:spcPct val="100000"/>
              </a:lnSpc>
            </a:pPr>
            <a:r>
              <a:rPr lang="en-US" b="1">
                <a:solidFill>
                  <a:srgbClr val="FF0000"/>
                </a:solidFill>
                <a:latin typeface="Times New Roman"/>
              </a:rPr>
              <a:t>// friend function definition does not start with friend keyword</a:t>
            </a:r>
            <a:endParaRPr/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returnType  functionName( arguments )  {</a:t>
            </a:r>
            <a:endParaRPr/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  ….  …. ….</a:t>
            </a:r>
            <a:endParaRPr/>
          </a:p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// private and protected data of the above class can be accessed from this function</a:t>
            </a:r>
            <a:endParaRPr/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 ….  …. ….   }</a:t>
            </a:r>
            <a:endParaRPr/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int main( ) {  ….</a:t>
            </a:r>
            <a:endParaRPr/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    </a:t>
            </a:r>
            <a:r>
              <a:rPr lang="en-US" sz="2000" b="1">
                <a:solidFill>
                  <a:srgbClr val="FF0000"/>
                </a:solidFill>
                <a:latin typeface="Times New Roman"/>
              </a:rPr>
              <a:t>functionName( arguments );</a:t>
            </a:r>
            <a:r>
              <a:rPr lang="en-US" sz="2000">
                <a:solidFill>
                  <a:srgbClr val="000000"/>
                </a:solidFill>
                <a:latin typeface="Times New Roman"/>
              </a:rPr>
              <a:t> // Call to the friend function</a:t>
            </a:r>
            <a:endParaRPr/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  …..}</a:t>
            </a:r>
            <a:endParaRPr/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 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US" sz="1600">
                <a:solidFill>
                  <a:srgbClr val="000000"/>
                </a:solidFill>
                <a:latin typeface="Times New Roman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/>
              </a:rPr>
              <a:t>Sample Program 1</a:t>
            </a:r>
            <a:endParaRPr lang="en-IN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7560840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2088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Times New Roman"/>
              </a:rPr>
              <a:t>Difference between Friend function and Member function</a:t>
            </a:r>
            <a:endParaRPr/>
          </a:p>
        </p:txBody>
      </p:sp>
      <p:graphicFrame>
        <p:nvGraphicFramePr>
          <p:cNvPr id="138" name="Table 2"/>
          <p:cNvGraphicFramePr/>
          <p:nvPr/>
        </p:nvGraphicFramePr>
        <p:xfrm>
          <a:off x="395640" y="2061000"/>
          <a:ext cx="8229600" cy="36849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8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Member Function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3200" b="1">
                          <a:solidFill>
                            <a:srgbClr val="000000"/>
                          </a:solidFill>
                          <a:latin typeface="Times New Roman"/>
                        </a:rPr>
                        <a:t>Friend Function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6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Times New Roman"/>
                        </a:rPr>
                        <a:t>It is invoked through an object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Times New Roman"/>
                        </a:rPr>
                        <a:t>Not invoked through an object since it is a non-member of a class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endParaRPr/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Times New Roman"/>
                        </a:rPr>
                        <a:t>If the friend function of class X is a member function of class  Y, then it must be invoked through an object of class Y </a:t>
                      </a:r>
                      <a:endParaRPr/>
                    </a:p>
                    <a:p>
                      <a:pPr>
                        <a:lnSpc>
                          <a:spcPct val="100000"/>
                        </a:lnSpc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Times New Roman"/>
                        </a:rPr>
                        <a:t>Can access the non-public members of the class directly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Times New Roman"/>
                        </a:rPr>
                        <a:t>Can access the non-public members of the class only through an object (since </a:t>
                      </a:r>
                      <a:r>
                        <a:rPr lang="en-IN" b="1">
                          <a:solidFill>
                            <a:srgbClr val="FF0000"/>
                          </a:solidFill>
                          <a:latin typeface="Times New Roman"/>
                        </a:rPr>
                        <a:t>this</a:t>
                      </a:r>
                      <a:r>
                        <a:rPr lang="en-IN">
                          <a:solidFill>
                            <a:srgbClr val="FF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IN">
                          <a:solidFill>
                            <a:srgbClr val="000000"/>
                          </a:solidFill>
                          <a:latin typeface="Times New Roman"/>
                        </a:rPr>
                        <a:t>pointer is not visible)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457200" y="188640"/>
            <a:ext cx="8229240" cy="863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/>
              </a:rPr>
              <a:t>Sample Program 2
</a:t>
            </a:r>
            <a:endParaRPr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0460"/>
            <a:ext cx="7500938" cy="596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646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Shap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/>
              </a:rPr>
              <a:t>Sample Program 3
</a:t>
            </a:r>
            <a:endParaRPr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2736"/>
            <a:ext cx="7279456" cy="4896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998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40768"/>
            <a:ext cx="7257231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292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7134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Times New Roman"/>
              </a:rPr>
              <a:t>Friends to more than </a:t>
            </a:r>
            <a:r>
              <a:rPr lang="en-US" sz="4400">
                <a:solidFill>
                  <a:srgbClr val="000000"/>
                </a:solidFill>
                <a:latin typeface="Times New Roman"/>
              </a:rPr>
              <a:t>One Class </a:t>
            </a:r>
            <a:r>
              <a:rPr lang="en-US" sz="4400" dirty="0">
                <a:solidFill>
                  <a:srgbClr val="000000"/>
                </a:solidFill>
                <a:latin typeface="Times New Roman"/>
              </a:rPr>
              <a:t>Act as Bridges</a:t>
            </a:r>
            <a:endParaRPr/>
          </a:p>
        </p:txBody>
      </p:sp>
      <p:sp>
        <p:nvSpPr>
          <p:cNvPr id="172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</a:rPr>
              <a:t>Imagine that you want a function to operate on objects of two different classes. </a:t>
            </a:r>
            <a:endParaRPr/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</a:rPr>
              <a:t>Perhaps the function will take objects of the two classes as arguments, and operate on their private data. Here’s a simple example, that shows how friend functions can act as a bridge between two classes.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764704"/>
            <a:ext cx="8243887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3268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1772816"/>
            <a:ext cx="6309940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5365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5D5E0E-F9C8-4614-E3A5-374911F40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Friend Class</a:t>
            </a:r>
            <a:endParaRPr lang="en-IN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6EEEE-7979-D659-A7EC-299EDE495FB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07504" y="1600200"/>
            <a:ext cx="3960440" cy="452556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//function of another class</a:t>
            </a:r>
          </a:p>
          <a:p>
            <a:r>
              <a:rPr lang="en-US" dirty="0">
                <a:solidFill>
                  <a:schemeClr val="tx1"/>
                </a:solidFill>
              </a:rPr>
              <a:t>// as a friend function</a:t>
            </a:r>
          </a:p>
          <a:p>
            <a:r>
              <a:rPr lang="en-US" dirty="0">
                <a:solidFill>
                  <a:schemeClr val="tx1"/>
                </a:solidFill>
              </a:rPr>
              <a:t>#include &lt;iostream&gt;</a:t>
            </a:r>
          </a:p>
          <a:p>
            <a:r>
              <a:rPr lang="en-US" dirty="0">
                <a:solidFill>
                  <a:schemeClr val="tx1"/>
                </a:solidFill>
              </a:rPr>
              <a:t>using namespace std;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class base;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// forward definition needed</a:t>
            </a:r>
          </a:p>
          <a:p>
            <a:r>
              <a:rPr lang="en-US" dirty="0">
                <a:solidFill>
                  <a:schemeClr val="tx1"/>
                </a:solidFill>
              </a:rPr>
              <a:t>// another class in </a:t>
            </a:r>
          </a:p>
          <a:p>
            <a:r>
              <a:rPr lang="en-US" dirty="0">
                <a:solidFill>
                  <a:schemeClr val="tx1"/>
                </a:solidFill>
              </a:rPr>
              <a:t>//which function is declared</a:t>
            </a:r>
          </a:p>
          <a:p>
            <a:r>
              <a:rPr lang="en-US" dirty="0">
                <a:solidFill>
                  <a:schemeClr val="tx1"/>
                </a:solidFill>
              </a:rPr>
              <a:t>class </a:t>
            </a:r>
            <a:r>
              <a:rPr lang="en-US" dirty="0" err="1">
                <a:solidFill>
                  <a:schemeClr val="tx1"/>
                </a:solidFill>
              </a:rPr>
              <a:t>anotherClass</a:t>
            </a:r>
            <a:r>
              <a:rPr lang="en-US" dirty="0">
                <a:solidFill>
                  <a:schemeClr val="tx1"/>
                </a:solidFill>
              </a:rPr>
              <a:t> {</a:t>
            </a:r>
          </a:p>
          <a:p>
            <a:r>
              <a:rPr lang="en-US" dirty="0">
                <a:solidFill>
                  <a:schemeClr val="tx1"/>
                </a:solidFill>
              </a:rPr>
              <a:t>public:</a:t>
            </a:r>
          </a:p>
          <a:p>
            <a:r>
              <a:rPr lang="en-US" dirty="0">
                <a:solidFill>
                  <a:schemeClr val="tx1"/>
                </a:solidFill>
              </a:rPr>
              <a:t>    void </a:t>
            </a:r>
            <a:r>
              <a:rPr lang="en-US" dirty="0" err="1">
                <a:solidFill>
                  <a:schemeClr val="tx1"/>
                </a:solidFill>
              </a:rPr>
              <a:t>memberFunction</a:t>
            </a:r>
            <a:r>
              <a:rPr lang="en-US" dirty="0">
                <a:solidFill>
                  <a:schemeClr val="tx1"/>
                </a:solidFill>
              </a:rPr>
              <a:t>(base&amp; obj);</a:t>
            </a:r>
          </a:p>
          <a:p>
            <a:r>
              <a:rPr lang="en-US" dirty="0">
                <a:solidFill>
                  <a:schemeClr val="tx1"/>
                </a:solidFill>
              </a:rPr>
              <a:t>};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268322-651F-0917-4C2B-DCF7C62F6C0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635896" y="1600200"/>
            <a:ext cx="5054144" cy="452556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// base class for which friend is declared</a:t>
            </a:r>
          </a:p>
          <a:p>
            <a:r>
              <a:rPr lang="en-IN" dirty="0">
                <a:solidFill>
                  <a:schemeClr val="tx1"/>
                </a:solidFill>
              </a:rPr>
              <a:t>class base {</a:t>
            </a:r>
          </a:p>
          <a:p>
            <a:r>
              <a:rPr lang="en-IN" dirty="0">
                <a:solidFill>
                  <a:schemeClr val="tx1"/>
                </a:solidFill>
              </a:rPr>
              <a:t>private:</a:t>
            </a:r>
          </a:p>
          <a:p>
            <a:r>
              <a:rPr lang="en-IN" dirty="0">
                <a:solidFill>
                  <a:schemeClr val="tx1"/>
                </a:solidFill>
              </a:rPr>
              <a:t>    int </a:t>
            </a:r>
            <a:r>
              <a:rPr lang="en-IN" dirty="0" err="1">
                <a:solidFill>
                  <a:schemeClr val="tx1"/>
                </a:solidFill>
              </a:rPr>
              <a:t>private_variable</a:t>
            </a:r>
            <a:r>
              <a:rPr lang="en-IN" dirty="0">
                <a:solidFill>
                  <a:schemeClr val="tx1"/>
                </a:solidFill>
              </a:rPr>
              <a:t>;</a:t>
            </a:r>
          </a:p>
          <a:p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r>
              <a:rPr lang="en-IN" dirty="0">
                <a:solidFill>
                  <a:schemeClr val="tx1"/>
                </a:solidFill>
              </a:rPr>
              <a:t>protected:</a:t>
            </a:r>
          </a:p>
          <a:p>
            <a:r>
              <a:rPr lang="en-IN" dirty="0">
                <a:solidFill>
                  <a:schemeClr val="tx1"/>
                </a:solidFill>
              </a:rPr>
              <a:t>    int </a:t>
            </a:r>
            <a:r>
              <a:rPr lang="en-IN" dirty="0" err="1">
                <a:solidFill>
                  <a:schemeClr val="tx1"/>
                </a:solidFill>
              </a:rPr>
              <a:t>protected_variable</a:t>
            </a:r>
            <a:r>
              <a:rPr lang="en-IN" dirty="0">
                <a:solidFill>
                  <a:schemeClr val="tx1"/>
                </a:solidFill>
              </a:rPr>
              <a:t>;</a:t>
            </a:r>
          </a:p>
          <a:p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r>
              <a:rPr lang="en-IN" dirty="0">
                <a:solidFill>
                  <a:schemeClr val="tx1"/>
                </a:solidFill>
              </a:rPr>
              <a:t>public:</a:t>
            </a:r>
          </a:p>
          <a:p>
            <a:r>
              <a:rPr lang="en-IN" dirty="0">
                <a:solidFill>
                  <a:schemeClr val="tx1"/>
                </a:solidFill>
              </a:rPr>
              <a:t>    base()</a:t>
            </a:r>
          </a:p>
          <a:p>
            <a:r>
              <a:rPr lang="en-IN" dirty="0">
                <a:solidFill>
                  <a:schemeClr val="tx1"/>
                </a:solidFill>
              </a:rPr>
              <a:t>    {</a:t>
            </a:r>
          </a:p>
          <a:p>
            <a:r>
              <a:rPr lang="en-IN" dirty="0">
                <a:solidFill>
                  <a:schemeClr val="tx1"/>
                </a:solidFill>
              </a:rPr>
              <a:t>        </a:t>
            </a:r>
            <a:r>
              <a:rPr lang="en-IN" dirty="0" err="1">
                <a:solidFill>
                  <a:schemeClr val="tx1"/>
                </a:solidFill>
              </a:rPr>
              <a:t>private_variable</a:t>
            </a:r>
            <a:r>
              <a:rPr lang="en-IN" dirty="0">
                <a:solidFill>
                  <a:schemeClr val="tx1"/>
                </a:solidFill>
              </a:rPr>
              <a:t> = 10;</a:t>
            </a:r>
          </a:p>
          <a:p>
            <a:r>
              <a:rPr lang="en-IN" dirty="0">
                <a:solidFill>
                  <a:schemeClr val="tx1"/>
                </a:solidFill>
              </a:rPr>
              <a:t>        </a:t>
            </a:r>
            <a:r>
              <a:rPr lang="en-IN" dirty="0" err="1">
                <a:solidFill>
                  <a:schemeClr val="tx1"/>
                </a:solidFill>
              </a:rPr>
              <a:t>protected_variable</a:t>
            </a:r>
            <a:r>
              <a:rPr lang="en-IN" dirty="0">
                <a:solidFill>
                  <a:schemeClr val="tx1"/>
                </a:solidFill>
              </a:rPr>
              <a:t> = 99;</a:t>
            </a:r>
          </a:p>
          <a:p>
            <a:r>
              <a:rPr lang="en-IN" dirty="0">
                <a:solidFill>
                  <a:schemeClr val="tx1"/>
                </a:solidFill>
              </a:rPr>
              <a:t>    }</a:t>
            </a:r>
          </a:p>
          <a:p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r>
              <a:rPr lang="en-IN" dirty="0">
                <a:solidFill>
                  <a:schemeClr val="tx1"/>
                </a:solidFill>
              </a:rPr>
              <a:t>    // friend function declaration</a:t>
            </a:r>
          </a:p>
          <a:p>
            <a:r>
              <a:rPr lang="en-IN" dirty="0">
                <a:solidFill>
                  <a:schemeClr val="tx1"/>
                </a:solidFill>
              </a:rPr>
              <a:t>    friend void </a:t>
            </a:r>
            <a:r>
              <a:rPr lang="en-IN" dirty="0" err="1">
                <a:solidFill>
                  <a:schemeClr val="tx1"/>
                </a:solidFill>
              </a:rPr>
              <a:t>anotherClass</a:t>
            </a:r>
            <a:r>
              <a:rPr lang="en-IN" dirty="0">
                <a:solidFill>
                  <a:schemeClr val="tx1"/>
                </a:solidFill>
              </a:rPr>
              <a:t>::</a:t>
            </a:r>
            <a:r>
              <a:rPr lang="en-IN" dirty="0" err="1">
                <a:solidFill>
                  <a:schemeClr val="tx1"/>
                </a:solidFill>
              </a:rPr>
              <a:t>memberFunction</a:t>
            </a:r>
            <a:r>
              <a:rPr lang="en-IN" dirty="0">
                <a:solidFill>
                  <a:schemeClr val="tx1"/>
                </a:solidFill>
              </a:rPr>
              <a:t>(base&amp;);</a:t>
            </a:r>
          </a:p>
          <a:p>
            <a:r>
              <a:rPr lang="en-IN" dirty="0">
                <a:solidFill>
                  <a:schemeClr val="tx1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64918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3EDA-0C80-1BBC-42DB-00A7B728D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48DFD-1B03-9EBC-966D-F641A511CC31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// friend function definition</a:t>
            </a:r>
          </a:p>
          <a:p>
            <a:r>
              <a:rPr lang="en-IN" dirty="0">
                <a:solidFill>
                  <a:schemeClr val="tx1"/>
                </a:solidFill>
              </a:rPr>
              <a:t>void </a:t>
            </a:r>
            <a:r>
              <a:rPr lang="en-IN" dirty="0" err="1">
                <a:solidFill>
                  <a:schemeClr val="tx1"/>
                </a:solidFill>
              </a:rPr>
              <a:t>anotherClass</a:t>
            </a:r>
            <a:r>
              <a:rPr lang="en-IN" dirty="0">
                <a:solidFill>
                  <a:schemeClr val="tx1"/>
                </a:solidFill>
              </a:rPr>
              <a:t>::</a:t>
            </a:r>
            <a:r>
              <a:rPr lang="en-IN" dirty="0" err="1">
                <a:solidFill>
                  <a:schemeClr val="tx1"/>
                </a:solidFill>
              </a:rPr>
              <a:t>memberFunction</a:t>
            </a:r>
            <a:r>
              <a:rPr lang="en-IN" dirty="0">
                <a:solidFill>
                  <a:schemeClr val="tx1"/>
                </a:solidFill>
              </a:rPr>
              <a:t>(base&amp; </a:t>
            </a:r>
            <a:r>
              <a:rPr lang="en-IN" dirty="0" err="1">
                <a:solidFill>
                  <a:schemeClr val="tx1"/>
                </a:solidFill>
              </a:rPr>
              <a:t>obj</a:t>
            </a:r>
            <a:r>
              <a:rPr lang="en-IN" dirty="0">
                <a:solidFill>
                  <a:schemeClr val="tx1"/>
                </a:solidFill>
              </a:rPr>
              <a:t>)</a:t>
            </a:r>
          </a:p>
          <a:p>
            <a:r>
              <a:rPr lang="en-IN" dirty="0">
                <a:solidFill>
                  <a:schemeClr val="tx1"/>
                </a:solidFill>
              </a:rPr>
              <a:t>{</a:t>
            </a:r>
          </a:p>
          <a:p>
            <a:r>
              <a:rPr lang="en-IN" dirty="0">
                <a:solidFill>
                  <a:schemeClr val="tx1"/>
                </a:solidFill>
              </a:rPr>
              <a:t>    </a:t>
            </a:r>
            <a:r>
              <a:rPr lang="en-IN" dirty="0" err="1">
                <a:solidFill>
                  <a:schemeClr val="tx1"/>
                </a:solidFill>
              </a:rPr>
              <a:t>cout</a:t>
            </a:r>
            <a:r>
              <a:rPr lang="en-IN" dirty="0">
                <a:solidFill>
                  <a:schemeClr val="tx1"/>
                </a:solidFill>
              </a:rPr>
              <a:t> &lt;&lt; "Private Variable: " &lt;&lt; </a:t>
            </a:r>
            <a:r>
              <a:rPr lang="en-IN" dirty="0" err="1">
                <a:solidFill>
                  <a:schemeClr val="tx1"/>
                </a:solidFill>
              </a:rPr>
              <a:t>obj.private_variable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         &lt;&lt; </a:t>
            </a:r>
            <a:r>
              <a:rPr lang="en-IN" dirty="0" err="1">
                <a:solidFill>
                  <a:schemeClr val="tx1"/>
                </a:solidFill>
              </a:rPr>
              <a:t>endl</a:t>
            </a:r>
            <a:r>
              <a:rPr lang="en-IN" dirty="0">
                <a:solidFill>
                  <a:schemeClr val="tx1"/>
                </a:solidFill>
              </a:rPr>
              <a:t>;</a:t>
            </a:r>
          </a:p>
          <a:p>
            <a:r>
              <a:rPr lang="en-IN" dirty="0">
                <a:solidFill>
                  <a:schemeClr val="tx1"/>
                </a:solidFill>
              </a:rPr>
              <a:t>    </a:t>
            </a:r>
            <a:r>
              <a:rPr lang="en-IN" dirty="0" err="1">
                <a:solidFill>
                  <a:schemeClr val="tx1"/>
                </a:solidFill>
              </a:rPr>
              <a:t>cout</a:t>
            </a:r>
            <a:r>
              <a:rPr lang="en-IN" dirty="0">
                <a:solidFill>
                  <a:schemeClr val="tx1"/>
                </a:solidFill>
              </a:rPr>
              <a:t> &lt;&lt; "Protected Variable: " &lt;&lt; </a:t>
            </a:r>
            <a:r>
              <a:rPr lang="en-IN" dirty="0" err="1">
                <a:solidFill>
                  <a:schemeClr val="tx1"/>
                </a:solidFill>
              </a:rPr>
              <a:t>obj.protected_variable</a:t>
            </a:r>
            <a:r>
              <a:rPr lang="en-IN" dirty="0">
                <a:solidFill>
                  <a:schemeClr val="tx1"/>
                </a:solidFill>
              </a:rPr>
              <a:t>;</a:t>
            </a:r>
          </a:p>
          <a:p>
            <a:r>
              <a:rPr lang="en-IN" dirty="0">
                <a:solidFill>
                  <a:schemeClr val="tx1"/>
                </a:solidFill>
              </a:rPr>
              <a:t>}</a:t>
            </a:r>
          </a:p>
          <a:p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r>
              <a:rPr lang="en-IN" dirty="0">
                <a:solidFill>
                  <a:schemeClr val="tx1"/>
                </a:solidFill>
              </a:rPr>
              <a:t>// driver code</a:t>
            </a:r>
          </a:p>
          <a:p>
            <a:r>
              <a:rPr lang="en-IN" dirty="0">
                <a:solidFill>
                  <a:schemeClr val="tx1"/>
                </a:solidFill>
              </a:rPr>
              <a:t>int main()</a:t>
            </a:r>
          </a:p>
          <a:p>
            <a:r>
              <a:rPr lang="en-IN" dirty="0">
                <a:solidFill>
                  <a:schemeClr val="tx1"/>
                </a:solidFill>
              </a:rPr>
              <a:t>{</a:t>
            </a:r>
          </a:p>
          <a:p>
            <a:r>
              <a:rPr lang="en-IN" dirty="0">
                <a:solidFill>
                  <a:schemeClr val="tx1"/>
                </a:solidFill>
              </a:rPr>
              <a:t>    base object1;</a:t>
            </a:r>
          </a:p>
          <a:p>
            <a:r>
              <a:rPr lang="en-IN" dirty="0">
                <a:solidFill>
                  <a:schemeClr val="tx1"/>
                </a:solidFill>
              </a:rPr>
              <a:t>    </a:t>
            </a:r>
            <a:r>
              <a:rPr lang="en-IN" dirty="0" err="1">
                <a:solidFill>
                  <a:schemeClr val="tx1"/>
                </a:solidFill>
              </a:rPr>
              <a:t>anotherClass</a:t>
            </a:r>
            <a:r>
              <a:rPr lang="en-IN" dirty="0">
                <a:solidFill>
                  <a:schemeClr val="tx1"/>
                </a:solidFill>
              </a:rPr>
              <a:t> object2;</a:t>
            </a:r>
          </a:p>
          <a:p>
            <a:r>
              <a:rPr lang="en-IN" dirty="0">
                <a:solidFill>
                  <a:schemeClr val="tx1"/>
                </a:solidFill>
              </a:rPr>
              <a:t>    object2.memberFunction(object1);</a:t>
            </a:r>
          </a:p>
          <a:p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r>
              <a:rPr lang="en-IN" dirty="0">
                <a:solidFill>
                  <a:schemeClr val="tx1"/>
                </a:solidFill>
              </a:rPr>
              <a:t>    return 0;</a:t>
            </a:r>
          </a:p>
          <a:p>
            <a:r>
              <a:rPr lang="en-IN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0926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1">
                <a:solidFill>
                  <a:srgbClr val="000000"/>
                </a:solidFill>
                <a:latin typeface="Times New Roman"/>
              </a:rPr>
              <a:t>Breaching the Walls</a:t>
            </a:r>
            <a:endParaRPr/>
          </a:p>
        </p:txBody>
      </p:sp>
      <p:sp>
        <p:nvSpPr>
          <p:cNvPr id="18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Friend function violates the concepts of </a:t>
            </a:r>
            <a:r>
              <a:rPr lang="en-US" sz="2000" i="1" dirty="0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data hiding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, the philosophy that only member functions can access a class’s private data.</a:t>
            </a:r>
            <a:endParaRPr sz="1200" dirty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How serious is the breach of data integrity when friend functions are used? </a:t>
            </a:r>
            <a:endParaRPr sz="1200" dirty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A friend function must be declared as such within the class whose data it will access. Thus a programmer who does not have access to the source code for the class cannot make a function into a friend. </a:t>
            </a:r>
            <a:endParaRPr sz="1200" dirty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In this respect, the integrity of the class is still protected. </a:t>
            </a:r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Friend functions are conceptually messy, and potentially lead to a spaghetti-code situation if numerous friends muddy the clear boundaries between classes. </a:t>
            </a:r>
            <a:endParaRPr sz="1200" dirty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For this reason friend functions should be used sparingly. If you find yourself using many friends, you may need to rethink the design of the program.</a:t>
            </a:r>
            <a:endParaRPr sz="1200" dirty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3583B3-61E6-91E7-59DF-68A70FE7D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752" y="2492896"/>
            <a:ext cx="3960440" cy="1143000"/>
          </a:xfrm>
        </p:spPr>
        <p:txBody>
          <a:bodyPr/>
          <a:lstStyle/>
          <a:p>
            <a:r>
              <a:rPr lang="en-US" sz="3200" dirty="0"/>
              <a:t> Railway Reservation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36216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FF0000"/>
                </a:solidFill>
                <a:latin typeface="Calibri"/>
              </a:rPr>
              <a:t>CASE STUDY - RRS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0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sz="3200" dirty="0"/>
              <a:t>Develop a function to calculate total fare for a ticket. There are ‘n’ passengers in the ticket and they are from a family of a railway employee. Discount is given for their travel based on the </a:t>
            </a:r>
            <a:r>
              <a:rPr lang="en-GB" sz="3200" dirty="0" err="1"/>
              <a:t>cader</a:t>
            </a:r>
            <a:r>
              <a:rPr lang="en-GB" sz="3200" dirty="0"/>
              <a:t> of the employee.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184895998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14289"/>
            <a:ext cx="7858180" cy="6393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500042"/>
            <a:ext cx="6072230" cy="5392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" y="342900"/>
            <a:ext cx="8256587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5325" y="333375"/>
            <a:ext cx="7751763" cy="619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85728"/>
            <a:ext cx="7786742" cy="6419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857231"/>
            <a:ext cx="7143800" cy="4574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0"/>
            <a:ext cx="6215074" cy="6887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869</Words>
  <Application>Microsoft Office PowerPoint</Application>
  <PresentationFormat>On-screen Show (4:3)</PresentationFormat>
  <Paragraphs>131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StarSymbol</vt:lpstr>
      <vt:lpstr>Times New Roman</vt:lpstr>
      <vt:lpstr>Office Theme</vt:lpstr>
      <vt:lpstr>Office Theme</vt:lpstr>
      <vt:lpstr>Friend Function and Friend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Program 1</vt:lpstr>
      <vt:lpstr>PowerPoint Presentation</vt:lpstr>
      <vt:lpstr>PowerPoint Presentation</vt:lpstr>
      <vt:lpstr>PowerPoint Presentation</vt:lpstr>
      <vt:lpstr>Sample Program 3
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Friend Class</vt:lpstr>
      <vt:lpstr>PowerPoint Presentation</vt:lpstr>
      <vt:lpstr>PowerPoint Presentation</vt:lpstr>
      <vt:lpstr> Railway Reservation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rpadma priya</dc:creator>
  <cp:lastModifiedBy>Padma Priya R</cp:lastModifiedBy>
  <cp:revision>90</cp:revision>
  <dcterms:modified xsi:type="dcterms:W3CDTF">2023-05-05T05:23:41Z</dcterms:modified>
</cp:coreProperties>
</file>