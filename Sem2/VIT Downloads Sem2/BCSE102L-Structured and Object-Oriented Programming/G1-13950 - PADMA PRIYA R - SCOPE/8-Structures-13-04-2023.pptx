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6" r:id="rId5"/>
    <p:sldId id="267" r:id="rId6"/>
    <p:sldId id="268" r:id="rId7"/>
    <p:sldId id="269" r:id="rId8"/>
    <p:sldId id="283" r:id="rId9"/>
    <p:sldId id="285" r:id="rId10"/>
    <p:sldId id="284" r:id="rId11"/>
    <p:sldId id="270" r:id="rId12"/>
    <p:sldId id="276" r:id="rId13"/>
    <p:sldId id="277" r:id="rId14"/>
    <p:sldId id="271" r:id="rId15"/>
    <p:sldId id="257" r:id="rId16"/>
    <p:sldId id="260" r:id="rId17"/>
    <p:sldId id="259" r:id="rId18"/>
    <p:sldId id="258" r:id="rId19"/>
    <p:sldId id="261" r:id="rId20"/>
    <p:sldId id="262" r:id="rId21"/>
    <p:sldId id="263" r:id="rId22"/>
    <p:sldId id="272" r:id="rId23"/>
    <p:sldId id="273" r:id="rId24"/>
    <p:sldId id="274" r:id="rId25"/>
    <p:sldId id="308" r:id="rId26"/>
    <p:sldId id="309" r:id="rId27"/>
    <p:sldId id="316" r:id="rId28"/>
    <p:sldId id="307" r:id="rId29"/>
    <p:sldId id="310" r:id="rId30"/>
    <p:sldId id="311" r:id="rId31"/>
    <p:sldId id="312" r:id="rId32"/>
    <p:sldId id="313" r:id="rId33"/>
    <p:sldId id="314" r:id="rId34"/>
    <p:sldId id="315" r:id="rId35"/>
    <p:sldId id="275" r:id="rId36"/>
    <p:sldId id="278" r:id="rId37"/>
    <p:sldId id="279" r:id="rId38"/>
    <p:sldId id="280" r:id="rId39"/>
    <p:sldId id="281" r:id="rId40"/>
    <p:sldId id="282" r:id="rId41"/>
    <p:sldId id="286" r:id="rId42"/>
    <p:sldId id="287" r:id="rId43"/>
    <p:sldId id="295" r:id="rId44"/>
    <p:sldId id="296" r:id="rId45"/>
    <p:sldId id="297" r:id="rId46"/>
    <p:sldId id="298" r:id="rId47"/>
    <p:sldId id="299" r:id="rId48"/>
    <p:sldId id="288" r:id="rId49"/>
    <p:sldId id="289" r:id="rId50"/>
    <p:sldId id="290" r:id="rId51"/>
    <p:sldId id="291" r:id="rId52"/>
    <p:sldId id="292" r:id="rId53"/>
    <p:sldId id="293" r:id="rId54"/>
    <p:sldId id="294" r:id="rId55"/>
    <p:sldId id="300" r:id="rId56"/>
    <p:sldId id="304" r:id="rId5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p:cViewPr varScale="1">
        <p:scale>
          <a:sx n="75" d="100"/>
          <a:sy n="75" d="100"/>
        </p:scale>
        <p:origin x="1618" y="4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4D7E2370-6240-4618-8A0F-573BEA34D62F}" type="datetimeFigureOut">
              <a:rPr lang="en-US"/>
              <a:pPr>
                <a:defRPr/>
              </a:pPr>
              <a:t>4/13/2023</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BC7728C-7027-4985-AEF9-51C94A18FE04}" type="slidenum">
              <a:rPr lang="en-GB"/>
              <a:pPr>
                <a:defRPr/>
              </a:pPr>
              <a:t>‹#›</a:t>
            </a:fld>
            <a:endParaRPr lang="en-GB"/>
          </a:p>
        </p:txBody>
      </p:sp>
    </p:spTree>
    <p:extLst>
      <p:ext uri="{BB962C8B-B14F-4D97-AF65-F5344CB8AC3E}">
        <p14:creationId xmlns:p14="http://schemas.microsoft.com/office/powerpoint/2010/main" val="419638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143000"/>
          </a:xfrm>
        </p:spPr>
        <p:txBody>
          <a:bodyPr/>
          <a:lstStyle>
            <a:lvl1pPr>
              <a:defRPr>
                <a:solidFill>
                  <a:srgbClr val="C00000"/>
                </a:solidFill>
              </a:defRPr>
            </a:lvl1p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lvl1pPr>
              <a:defRPr/>
            </a:lvl1pPr>
          </a:lstStyle>
          <a:p>
            <a:pPr>
              <a:defRPr/>
            </a:pPr>
            <a:fld id="{2982CD38-F95D-4E55-9DF4-BC3E09F86D14}" type="datetimeFigureOut">
              <a:rPr lang="en-US"/>
              <a:pPr>
                <a:defRPr/>
              </a:pPr>
              <a:t>4/13/2023</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4F40FD6-C01A-44F6-8616-7DB52404B173}" type="slidenum">
              <a:rPr lang="en-GB"/>
              <a:pPr>
                <a:defRPr/>
              </a:pPr>
              <a:t>‹#›</a:t>
            </a:fld>
            <a:endParaRPr lang="en-GB"/>
          </a:p>
        </p:txBody>
      </p:sp>
    </p:spTree>
    <p:extLst>
      <p:ext uri="{BB962C8B-B14F-4D97-AF65-F5344CB8AC3E}">
        <p14:creationId xmlns:p14="http://schemas.microsoft.com/office/powerpoint/2010/main" val="1367164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E058A4E4-309B-48CB-B5D1-60E65B4788B9}" type="datetimeFigureOut">
              <a:rPr lang="en-US"/>
              <a:pPr>
                <a:defRPr/>
              </a:pPr>
              <a:t>4/13/2023</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8C9A00B-6DB3-4808-A41B-578E7826C4DE}" type="slidenum">
              <a:rPr lang="en-GB"/>
              <a:pPr>
                <a:defRPr/>
              </a:pPr>
              <a:t>‹#›</a:t>
            </a:fld>
            <a:endParaRPr lang="en-GB"/>
          </a:p>
        </p:txBody>
      </p:sp>
    </p:spTree>
    <p:extLst>
      <p:ext uri="{BB962C8B-B14F-4D97-AF65-F5344CB8AC3E}">
        <p14:creationId xmlns:p14="http://schemas.microsoft.com/office/powerpoint/2010/main" val="4068420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C257AE77-58C0-425D-A7E9-A0EF9E833D55}" type="datetimeFigureOut">
              <a:rPr lang="en-US"/>
              <a:pPr>
                <a:defRPr/>
              </a:pPr>
              <a:t>4/13/2023</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74942DF9-BA61-42AD-8D2F-1F37EF4CAAC6}" type="slidenum">
              <a:rPr lang="en-GB"/>
              <a:pPr>
                <a:defRPr/>
              </a:pPr>
              <a:t>‹#›</a:t>
            </a:fld>
            <a:endParaRPr lang="en-GB"/>
          </a:p>
        </p:txBody>
      </p:sp>
    </p:spTree>
    <p:extLst>
      <p:ext uri="{BB962C8B-B14F-4D97-AF65-F5344CB8AC3E}">
        <p14:creationId xmlns:p14="http://schemas.microsoft.com/office/powerpoint/2010/main" val="176842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fld id="{F09D1233-53EE-4F67-BE9B-E2468892CF42}" type="datetimeFigureOut">
              <a:rPr lang="en-US"/>
              <a:pPr>
                <a:defRPr/>
              </a:pPr>
              <a:t>4/13/2023</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647F308C-D324-4B2B-8D0A-716FC73DDF7A}" type="slidenum">
              <a:rPr lang="en-GB"/>
              <a:pPr>
                <a:defRPr/>
              </a:pPr>
              <a:t>‹#›</a:t>
            </a:fld>
            <a:endParaRPr lang="en-GB"/>
          </a:p>
        </p:txBody>
      </p:sp>
    </p:spTree>
    <p:extLst>
      <p:ext uri="{BB962C8B-B14F-4D97-AF65-F5344CB8AC3E}">
        <p14:creationId xmlns:p14="http://schemas.microsoft.com/office/powerpoint/2010/main" val="2735470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59B96E7D-C356-4B45-94B8-728AD7BE7BD6}" type="datetimeFigureOut">
              <a:rPr lang="en-US"/>
              <a:pPr>
                <a:defRPr/>
              </a:pPr>
              <a:t>4/13/2023</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6712CD78-5E38-4944-8EE0-CB3C1E5CADC9}" type="slidenum">
              <a:rPr lang="en-GB"/>
              <a:pPr>
                <a:defRPr/>
              </a:pPr>
              <a:t>‹#›</a:t>
            </a:fld>
            <a:endParaRPr lang="en-GB"/>
          </a:p>
        </p:txBody>
      </p:sp>
    </p:spTree>
    <p:extLst>
      <p:ext uri="{BB962C8B-B14F-4D97-AF65-F5344CB8AC3E}">
        <p14:creationId xmlns:p14="http://schemas.microsoft.com/office/powerpoint/2010/main" val="1244141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758FC5E-D4FF-4635-975B-B5E4A78D2219}" type="datetimeFigureOut">
              <a:rPr lang="en-US"/>
              <a:pPr>
                <a:defRPr/>
              </a:pPr>
              <a:t>4/13/2023</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A8A97807-332D-415A-907F-17320D85040C}" type="slidenum">
              <a:rPr lang="en-GB"/>
              <a:pPr>
                <a:defRPr/>
              </a:pPr>
              <a:t>‹#›</a:t>
            </a:fld>
            <a:endParaRPr lang="en-GB"/>
          </a:p>
        </p:txBody>
      </p:sp>
    </p:spTree>
    <p:extLst>
      <p:ext uri="{BB962C8B-B14F-4D97-AF65-F5344CB8AC3E}">
        <p14:creationId xmlns:p14="http://schemas.microsoft.com/office/powerpoint/2010/main" val="3296286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9499BCF-661B-47BC-8DED-EE8D15284541}" type="datetimeFigureOut">
              <a:rPr lang="en-US"/>
              <a:pPr>
                <a:defRPr/>
              </a:pPr>
              <a:t>4/13/2023</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4DC7A5E0-C2B0-4FDD-86F2-AAF19135ED02}" type="slidenum">
              <a:rPr lang="en-GB"/>
              <a:pPr>
                <a:defRPr/>
              </a:pPr>
              <a:t>‹#›</a:t>
            </a:fld>
            <a:endParaRPr lang="en-GB"/>
          </a:p>
        </p:txBody>
      </p:sp>
    </p:spTree>
    <p:extLst>
      <p:ext uri="{BB962C8B-B14F-4D97-AF65-F5344CB8AC3E}">
        <p14:creationId xmlns:p14="http://schemas.microsoft.com/office/powerpoint/2010/main" val="3603053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CDC0E69-7A0F-4820-AB7D-FDA84B474612}" type="datetimeFigureOut">
              <a:rPr lang="en-US"/>
              <a:pPr>
                <a:defRPr/>
              </a:pPr>
              <a:t>4/13/2023</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FFD57A4B-B4CA-4616-B995-CFBC5E1BF985}" type="slidenum">
              <a:rPr lang="en-GB"/>
              <a:pPr>
                <a:defRPr/>
              </a:pPr>
              <a:t>‹#›</a:t>
            </a:fld>
            <a:endParaRPr lang="en-GB"/>
          </a:p>
        </p:txBody>
      </p:sp>
    </p:spTree>
    <p:extLst>
      <p:ext uri="{BB962C8B-B14F-4D97-AF65-F5344CB8AC3E}">
        <p14:creationId xmlns:p14="http://schemas.microsoft.com/office/powerpoint/2010/main" val="1846438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5CE5BF7A-8F01-4861-907C-5F74990AB6D6}" type="datetimeFigureOut">
              <a:rPr lang="en-US"/>
              <a:pPr>
                <a:defRPr/>
              </a:pPr>
              <a:t>4/13/2023</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40C0C09D-2C0D-420A-8BD4-DAE3EA4E38A7}" type="slidenum">
              <a:rPr lang="en-GB"/>
              <a:pPr>
                <a:defRPr/>
              </a:pPr>
              <a:t>‹#›</a:t>
            </a:fld>
            <a:endParaRPr lang="en-GB"/>
          </a:p>
        </p:txBody>
      </p:sp>
    </p:spTree>
    <p:extLst>
      <p:ext uri="{BB962C8B-B14F-4D97-AF65-F5344CB8AC3E}">
        <p14:creationId xmlns:p14="http://schemas.microsoft.com/office/powerpoint/2010/main" val="351051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26F7EF9A-6D74-4266-814A-2072669C3BB5}" type="datetimeFigureOut">
              <a:rPr lang="en-US"/>
              <a:pPr>
                <a:defRPr/>
              </a:pPr>
              <a:t>4/13/2023</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9B0CB03-734B-4416-9F61-D16515000E67}" type="slidenum">
              <a:rPr lang="en-GB"/>
              <a:pPr>
                <a:defRPr/>
              </a:pPr>
              <a:t>‹#›</a:t>
            </a:fld>
            <a:endParaRPr lang="en-GB"/>
          </a:p>
        </p:txBody>
      </p:sp>
    </p:spTree>
    <p:extLst>
      <p:ext uri="{BB962C8B-B14F-4D97-AF65-F5344CB8AC3E}">
        <p14:creationId xmlns:p14="http://schemas.microsoft.com/office/powerpoint/2010/main" val="3337798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AF0E4810-CF7A-4BDA-8231-C864AD3CDED6}" type="datetimeFigureOut">
              <a:rPr lang="en-US"/>
              <a:pPr>
                <a:defRPr/>
              </a:pPr>
              <a:t>4/13/2023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861DC7FB-F92D-4004-9125-9274C5993A2D}"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GB" altLang="en-US" dirty="0">
                <a:solidFill>
                  <a:srgbClr val="C00000"/>
                </a:solidFill>
              </a:rPr>
              <a:t>Structures</a:t>
            </a:r>
          </a:p>
        </p:txBody>
      </p:sp>
      <p:sp>
        <p:nvSpPr>
          <p:cNvPr id="3" name="Subtitle 2"/>
          <p:cNvSpPr>
            <a:spLocks noGrp="1"/>
          </p:cNvSpPr>
          <p:nvPr>
            <p:ph type="subTitle" idx="1"/>
          </p:nvPr>
        </p:nvSpPr>
        <p:spPr/>
        <p:txBody>
          <a:bodyPr rtlCol="0">
            <a:normAutofit/>
          </a:bodyPr>
          <a:lstStyle/>
          <a:p>
            <a:pPr eaLnBrk="1" fontAlgn="auto" hangingPunct="1">
              <a:spcAft>
                <a:spcPts val="0"/>
              </a:spcAft>
              <a:buFont typeface="Arial" pitchFamily="34" charset="0"/>
              <a:buNone/>
              <a:defRPr/>
            </a:pP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142875"/>
            <a:ext cx="8686800" cy="642938"/>
          </a:xfrm>
        </p:spPr>
        <p:txBody>
          <a:bodyPr rtlCol="0">
            <a:normAutofit fontScale="90000"/>
          </a:bodyPr>
          <a:lstStyle/>
          <a:p>
            <a:pPr eaLnBrk="1" fontAlgn="auto" hangingPunct="1">
              <a:spcAft>
                <a:spcPts val="0"/>
              </a:spcAft>
              <a:defRPr/>
            </a:pPr>
            <a:r>
              <a:rPr lang="en-GB" dirty="0"/>
              <a:t>Structures in C</a:t>
            </a:r>
          </a:p>
        </p:txBody>
      </p:sp>
      <p:sp>
        <p:nvSpPr>
          <p:cNvPr id="10243" name="Content Placeholder 2"/>
          <p:cNvSpPr>
            <a:spLocks noGrp="1"/>
          </p:cNvSpPr>
          <p:nvPr>
            <p:ph idx="1"/>
          </p:nvPr>
        </p:nvSpPr>
        <p:spPr>
          <a:xfrm>
            <a:off x="457200" y="714375"/>
            <a:ext cx="8229600" cy="5929313"/>
          </a:xfrm>
        </p:spPr>
        <p:txBody>
          <a:bodyPr/>
          <a:lstStyle/>
          <a:p>
            <a:pPr algn="just" eaLnBrk="1" hangingPunct="1">
              <a:lnSpc>
                <a:spcPct val="150000"/>
              </a:lnSpc>
            </a:pPr>
            <a:r>
              <a:rPr lang="en-GB" altLang="en-US" sz="2400" dirty="0">
                <a:solidFill>
                  <a:srgbClr val="C00000"/>
                </a:solidFill>
              </a:rPr>
              <a:t>Members with heterogeneous data types can be grouped together by structures in C</a:t>
            </a:r>
          </a:p>
          <a:p>
            <a:pPr algn="just" eaLnBrk="1" hangingPunct="1">
              <a:lnSpc>
                <a:spcPct val="150000"/>
              </a:lnSpc>
              <a:buFont typeface="Arial" charset="0"/>
              <a:buNone/>
            </a:pPr>
            <a:r>
              <a:rPr lang="en-GB" altLang="en-US" sz="2400" b="1" dirty="0"/>
              <a:t>Syntax of a </a:t>
            </a:r>
            <a:r>
              <a:rPr lang="en-GB" altLang="en-US" sz="2400" b="1" dirty="0" err="1"/>
              <a:t>struture</a:t>
            </a:r>
            <a:endParaRPr lang="en-GB" altLang="en-US" sz="2400" b="1" dirty="0"/>
          </a:p>
          <a:p>
            <a:pPr algn="just" eaLnBrk="1" hangingPunct="1">
              <a:lnSpc>
                <a:spcPct val="150000"/>
              </a:lnSpc>
              <a:buFont typeface="Arial" charset="0"/>
              <a:buNone/>
            </a:pPr>
            <a:r>
              <a:rPr lang="en-GB" altLang="en-US" sz="2400" dirty="0"/>
              <a:t>struct &lt;structure name&gt; </a:t>
            </a:r>
          </a:p>
          <a:p>
            <a:pPr algn="just" eaLnBrk="1" hangingPunct="1">
              <a:lnSpc>
                <a:spcPct val="150000"/>
              </a:lnSpc>
              <a:buFont typeface="Arial" charset="0"/>
              <a:buNone/>
            </a:pPr>
            <a:r>
              <a:rPr lang="en-GB" altLang="en-US" sz="2400" dirty="0"/>
              <a:t>{  </a:t>
            </a:r>
          </a:p>
          <a:p>
            <a:pPr algn="just" eaLnBrk="1" hangingPunct="1">
              <a:lnSpc>
                <a:spcPct val="150000"/>
              </a:lnSpc>
              <a:buFont typeface="Arial" charset="0"/>
              <a:buNone/>
            </a:pPr>
            <a:r>
              <a:rPr lang="en-GB" altLang="en-US" sz="2400" dirty="0"/>
              <a:t>	datatype element 1 ;  </a:t>
            </a:r>
          </a:p>
          <a:p>
            <a:pPr algn="just" eaLnBrk="1" hangingPunct="1">
              <a:lnSpc>
                <a:spcPct val="150000"/>
              </a:lnSpc>
              <a:buFont typeface="Arial" charset="0"/>
              <a:buNone/>
            </a:pPr>
            <a:r>
              <a:rPr lang="en-GB" altLang="en-US" sz="2400" dirty="0"/>
              <a:t>	 datatype element 2 ;  </a:t>
            </a:r>
          </a:p>
          <a:p>
            <a:pPr algn="just" eaLnBrk="1" hangingPunct="1">
              <a:lnSpc>
                <a:spcPct val="150000"/>
              </a:lnSpc>
              <a:buFont typeface="Arial" charset="0"/>
              <a:buNone/>
            </a:pPr>
            <a:r>
              <a:rPr lang="en-GB" altLang="en-US" sz="2400" dirty="0"/>
              <a:t>	 datatype element 3 ;  </a:t>
            </a:r>
          </a:p>
          <a:p>
            <a:pPr algn="just" eaLnBrk="1" hangingPunct="1">
              <a:lnSpc>
                <a:spcPct val="150000"/>
              </a:lnSpc>
              <a:buFont typeface="Arial" charset="0"/>
              <a:buNone/>
            </a:pPr>
            <a:r>
              <a:rPr lang="en-GB" altLang="en-US" sz="2400" dirty="0"/>
              <a:t>	...... </a:t>
            </a:r>
          </a:p>
          <a:p>
            <a:pPr algn="just" eaLnBrk="1" hangingPunct="1">
              <a:lnSpc>
                <a:spcPct val="150000"/>
              </a:lnSpc>
              <a:buFont typeface="Arial" charset="0"/>
              <a:buNone/>
            </a:pPr>
            <a:r>
              <a:rPr lang="en-GB" altLang="en-US" sz="2400" dirty="0"/>
              <a:t>} ; </a:t>
            </a:r>
          </a:p>
        </p:txBody>
      </p:sp>
    </p:spTree>
    <p:extLst>
      <p:ext uri="{BB962C8B-B14F-4D97-AF65-F5344CB8AC3E}">
        <p14:creationId xmlns:p14="http://schemas.microsoft.com/office/powerpoint/2010/main" val="3051348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142875"/>
            <a:ext cx="8686800" cy="642938"/>
          </a:xfrm>
        </p:spPr>
        <p:txBody>
          <a:bodyPr rtlCol="0">
            <a:normAutofit fontScale="90000"/>
          </a:bodyPr>
          <a:lstStyle/>
          <a:p>
            <a:pPr eaLnBrk="1" fontAlgn="auto" hangingPunct="1">
              <a:spcAft>
                <a:spcPts val="0"/>
              </a:spcAft>
              <a:defRPr/>
            </a:pPr>
            <a:r>
              <a:rPr lang="en-GB" dirty="0"/>
              <a:t>Example for Structures</a:t>
            </a:r>
          </a:p>
        </p:txBody>
      </p:sp>
      <p:sp>
        <p:nvSpPr>
          <p:cNvPr id="11267" name="Content Placeholder 2"/>
          <p:cNvSpPr>
            <a:spLocks noGrp="1"/>
          </p:cNvSpPr>
          <p:nvPr>
            <p:ph idx="1"/>
          </p:nvPr>
        </p:nvSpPr>
        <p:spPr>
          <a:xfrm>
            <a:off x="457200" y="714375"/>
            <a:ext cx="8229600" cy="5929313"/>
          </a:xfrm>
        </p:spPr>
        <p:txBody>
          <a:bodyPr/>
          <a:lstStyle/>
          <a:p>
            <a:pPr algn="just" eaLnBrk="1" hangingPunct="1">
              <a:lnSpc>
                <a:spcPct val="150000"/>
              </a:lnSpc>
              <a:buFont typeface="Arial" charset="0"/>
              <a:buNone/>
            </a:pPr>
            <a:r>
              <a:rPr lang="en-GB" altLang="en-US" sz="2400"/>
              <a:t>struct book </a:t>
            </a:r>
          </a:p>
          <a:p>
            <a:pPr algn="just" eaLnBrk="1" hangingPunct="1">
              <a:lnSpc>
                <a:spcPct val="150000"/>
              </a:lnSpc>
              <a:buFont typeface="Arial" charset="0"/>
              <a:buNone/>
            </a:pPr>
            <a:r>
              <a:rPr lang="en-GB" altLang="en-US" sz="2400"/>
              <a:t>	{  </a:t>
            </a:r>
          </a:p>
          <a:p>
            <a:pPr algn="just" eaLnBrk="1" hangingPunct="1">
              <a:lnSpc>
                <a:spcPct val="150000"/>
              </a:lnSpc>
              <a:buFont typeface="Arial" charset="0"/>
              <a:buNone/>
            </a:pPr>
            <a:r>
              <a:rPr lang="en-GB" altLang="en-US" sz="2400"/>
              <a:t>		char  name ;  </a:t>
            </a:r>
          </a:p>
          <a:p>
            <a:pPr algn="just" eaLnBrk="1" hangingPunct="1">
              <a:lnSpc>
                <a:spcPct val="150000"/>
              </a:lnSpc>
              <a:buFont typeface="Arial" charset="0"/>
              <a:buNone/>
            </a:pPr>
            <a:r>
              <a:rPr lang="en-GB" altLang="en-US" sz="2400"/>
              <a:t>		float  price ;  </a:t>
            </a:r>
          </a:p>
          <a:p>
            <a:pPr algn="just" eaLnBrk="1" hangingPunct="1">
              <a:lnSpc>
                <a:spcPct val="150000"/>
              </a:lnSpc>
              <a:buFont typeface="Arial" charset="0"/>
              <a:buNone/>
            </a:pPr>
            <a:r>
              <a:rPr lang="en-GB" altLang="en-US" sz="2400"/>
              <a:t>		int  pages ; </a:t>
            </a:r>
          </a:p>
          <a:p>
            <a:pPr algn="just" eaLnBrk="1" hangingPunct="1">
              <a:lnSpc>
                <a:spcPct val="150000"/>
              </a:lnSpc>
              <a:buFont typeface="Arial" charset="0"/>
              <a:buNone/>
            </a:pPr>
            <a:r>
              <a:rPr lang="en-GB" altLang="en-US" sz="2400"/>
              <a:t>	} ; </a:t>
            </a:r>
          </a:p>
          <a:p>
            <a:pPr algn="just" eaLnBrk="1" hangingPunct="1">
              <a:lnSpc>
                <a:spcPct val="150000"/>
              </a:lnSpc>
              <a:buFont typeface="Arial" charset="0"/>
              <a:buNone/>
            </a:pPr>
            <a:r>
              <a:rPr lang="en-GB" altLang="en-US" sz="2400"/>
              <a:t>struct book  b1, b2, b3 ;</a:t>
            </a:r>
          </a:p>
          <a:p>
            <a:pPr algn="just" eaLnBrk="1" hangingPunct="1">
              <a:lnSpc>
                <a:spcPct val="150000"/>
              </a:lnSpc>
              <a:buFont typeface="Arial" charset="0"/>
              <a:buNone/>
            </a:pPr>
            <a:r>
              <a:rPr lang="en-GB" altLang="en-US" sz="2400" b="1">
                <a:solidFill>
                  <a:srgbClr val="FF0000"/>
                </a:solidFill>
              </a:rPr>
              <a:t>Same as</a:t>
            </a:r>
          </a:p>
        </p:txBody>
      </p:sp>
    </p:spTree>
    <p:extLst>
      <p:ext uri="{BB962C8B-B14F-4D97-AF65-F5344CB8AC3E}">
        <p14:creationId xmlns:p14="http://schemas.microsoft.com/office/powerpoint/2010/main" val="3844630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142875"/>
            <a:ext cx="8686800" cy="642938"/>
          </a:xfrm>
        </p:spPr>
        <p:txBody>
          <a:bodyPr rtlCol="0">
            <a:normAutofit fontScale="90000"/>
          </a:bodyPr>
          <a:lstStyle/>
          <a:p>
            <a:pPr eaLnBrk="1" fontAlgn="auto" hangingPunct="1">
              <a:spcAft>
                <a:spcPts val="0"/>
              </a:spcAft>
              <a:defRPr/>
            </a:pPr>
            <a:r>
              <a:rPr lang="en-GB" dirty="0"/>
              <a:t>Example for Structures</a:t>
            </a:r>
          </a:p>
        </p:txBody>
      </p:sp>
      <p:sp>
        <p:nvSpPr>
          <p:cNvPr id="12291" name="Content Placeholder 2"/>
          <p:cNvSpPr>
            <a:spLocks noGrp="1"/>
          </p:cNvSpPr>
          <p:nvPr>
            <p:ph idx="1"/>
          </p:nvPr>
        </p:nvSpPr>
        <p:spPr>
          <a:xfrm>
            <a:off x="457200" y="714375"/>
            <a:ext cx="8229600" cy="5929313"/>
          </a:xfrm>
        </p:spPr>
        <p:txBody>
          <a:bodyPr/>
          <a:lstStyle/>
          <a:p>
            <a:pPr algn="just" eaLnBrk="1" hangingPunct="1">
              <a:lnSpc>
                <a:spcPct val="150000"/>
              </a:lnSpc>
              <a:buFont typeface="Arial" charset="0"/>
              <a:buNone/>
            </a:pPr>
            <a:r>
              <a:rPr lang="en-GB" altLang="en-US" sz="2400" dirty="0"/>
              <a:t>struct book </a:t>
            </a:r>
          </a:p>
          <a:p>
            <a:pPr algn="just" eaLnBrk="1" hangingPunct="1">
              <a:lnSpc>
                <a:spcPct val="150000"/>
              </a:lnSpc>
              <a:buFont typeface="Arial" charset="0"/>
              <a:buNone/>
            </a:pPr>
            <a:r>
              <a:rPr lang="en-GB" altLang="en-US" sz="2400" dirty="0"/>
              <a:t>	{  </a:t>
            </a:r>
          </a:p>
          <a:p>
            <a:pPr algn="just" eaLnBrk="1" hangingPunct="1">
              <a:lnSpc>
                <a:spcPct val="150000"/>
              </a:lnSpc>
              <a:buFont typeface="Arial" charset="0"/>
              <a:buNone/>
            </a:pPr>
            <a:r>
              <a:rPr lang="en-GB" altLang="en-US" sz="2400" dirty="0"/>
              <a:t>		char  name ;  </a:t>
            </a:r>
          </a:p>
          <a:p>
            <a:pPr algn="just" eaLnBrk="1" hangingPunct="1">
              <a:lnSpc>
                <a:spcPct val="150000"/>
              </a:lnSpc>
              <a:buFont typeface="Arial" charset="0"/>
              <a:buNone/>
            </a:pPr>
            <a:r>
              <a:rPr lang="en-GB" altLang="en-US" sz="2400" dirty="0"/>
              <a:t>		float  price ;  </a:t>
            </a:r>
          </a:p>
          <a:p>
            <a:pPr algn="just" eaLnBrk="1" hangingPunct="1">
              <a:lnSpc>
                <a:spcPct val="150000"/>
              </a:lnSpc>
              <a:buFont typeface="Arial" charset="0"/>
              <a:buNone/>
            </a:pPr>
            <a:r>
              <a:rPr lang="en-GB" altLang="en-US" sz="2400" dirty="0"/>
              <a:t>		int  pages ; </a:t>
            </a:r>
          </a:p>
          <a:p>
            <a:pPr algn="just" eaLnBrk="1" hangingPunct="1">
              <a:lnSpc>
                <a:spcPct val="150000"/>
              </a:lnSpc>
              <a:buFont typeface="Arial" charset="0"/>
              <a:buNone/>
            </a:pPr>
            <a:r>
              <a:rPr lang="en-GB" altLang="en-US" sz="2400" dirty="0"/>
              <a:t>	} b1, b2, b3 ;</a:t>
            </a:r>
          </a:p>
        </p:txBody>
      </p:sp>
    </p:spTree>
    <p:extLst>
      <p:ext uri="{BB962C8B-B14F-4D97-AF65-F5344CB8AC3E}">
        <p14:creationId xmlns:p14="http://schemas.microsoft.com/office/powerpoint/2010/main" val="2422336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142875"/>
            <a:ext cx="8686800" cy="857250"/>
          </a:xfrm>
        </p:spPr>
        <p:txBody>
          <a:bodyPr rtlCol="0">
            <a:normAutofit fontScale="90000"/>
          </a:bodyPr>
          <a:lstStyle/>
          <a:p>
            <a:pPr eaLnBrk="1" fontAlgn="auto" hangingPunct="1">
              <a:spcAft>
                <a:spcPts val="0"/>
              </a:spcAft>
              <a:defRPr/>
            </a:pPr>
            <a:r>
              <a:rPr lang="en-GB" dirty="0"/>
              <a:t>Anonymous Structures – Structures without name</a:t>
            </a:r>
          </a:p>
        </p:txBody>
      </p:sp>
      <p:sp>
        <p:nvSpPr>
          <p:cNvPr id="13315" name="Content Placeholder 2"/>
          <p:cNvSpPr>
            <a:spLocks noGrp="1"/>
          </p:cNvSpPr>
          <p:nvPr>
            <p:ph idx="1"/>
          </p:nvPr>
        </p:nvSpPr>
        <p:spPr>
          <a:xfrm>
            <a:off x="171450" y="1214438"/>
            <a:ext cx="8686800" cy="5214937"/>
          </a:xfrm>
        </p:spPr>
        <p:txBody>
          <a:bodyPr/>
          <a:lstStyle/>
          <a:p>
            <a:pPr algn="just" eaLnBrk="1" hangingPunct="1">
              <a:lnSpc>
                <a:spcPct val="150000"/>
              </a:lnSpc>
              <a:buFont typeface="Arial" charset="0"/>
              <a:buNone/>
            </a:pPr>
            <a:r>
              <a:rPr lang="en-GB" altLang="en-US" sz="2400"/>
              <a:t>struct</a:t>
            </a:r>
          </a:p>
          <a:p>
            <a:pPr algn="just" eaLnBrk="1" hangingPunct="1">
              <a:lnSpc>
                <a:spcPct val="150000"/>
              </a:lnSpc>
              <a:buFont typeface="Arial" charset="0"/>
              <a:buNone/>
            </a:pPr>
            <a:r>
              <a:rPr lang="en-GB" altLang="en-US" sz="2400"/>
              <a:t>{  </a:t>
            </a:r>
          </a:p>
          <a:p>
            <a:pPr algn="just" eaLnBrk="1" hangingPunct="1">
              <a:lnSpc>
                <a:spcPct val="150000"/>
              </a:lnSpc>
              <a:buFont typeface="Arial" charset="0"/>
              <a:buNone/>
            </a:pPr>
            <a:r>
              <a:rPr lang="en-GB" altLang="en-US" sz="2400"/>
              <a:t>	char  name ;  </a:t>
            </a:r>
          </a:p>
          <a:p>
            <a:pPr algn="just" eaLnBrk="1" hangingPunct="1">
              <a:lnSpc>
                <a:spcPct val="150000"/>
              </a:lnSpc>
              <a:buFont typeface="Arial" charset="0"/>
              <a:buNone/>
            </a:pPr>
            <a:r>
              <a:rPr lang="en-GB" altLang="en-US" sz="2400"/>
              <a:t>	float  price ;  </a:t>
            </a:r>
          </a:p>
          <a:p>
            <a:pPr algn="just" eaLnBrk="1" hangingPunct="1">
              <a:lnSpc>
                <a:spcPct val="150000"/>
              </a:lnSpc>
              <a:buFont typeface="Arial" charset="0"/>
              <a:buNone/>
            </a:pPr>
            <a:r>
              <a:rPr lang="en-GB" altLang="en-US" sz="2400"/>
              <a:t>	int  pages ; </a:t>
            </a:r>
          </a:p>
          <a:p>
            <a:pPr algn="just" eaLnBrk="1" hangingPunct="1">
              <a:lnSpc>
                <a:spcPct val="150000"/>
              </a:lnSpc>
              <a:buFont typeface="Arial" charset="0"/>
              <a:buNone/>
            </a:pPr>
            <a:r>
              <a:rPr lang="en-GB" altLang="en-US" sz="2400"/>
              <a:t>	} b1, b2, b3 ;</a:t>
            </a:r>
          </a:p>
        </p:txBody>
      </p:sp>
      <p:sp>
        <p:nvSpPr>
          <p:cNvPr id="4" name="Rectangle 3"/>
          <p:cNvSpPr/>
          <p:nvPr/>
        </p:nvSpPr>
        <p:spPr>
          <a:xfrm>
            <a:off x="214313" y="1285875"/>
            <a:ext cx="4000500" cy="39290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spTree>
    <p:extLst>
      <p:ext uri="{BB962C8B-B14F-4D97-AF65-F5344CB8AC3E}">
        <p14:creationId xmlns:p14="http://schemas.microsoft.com/office/powerpoint/2010/main" val="1640955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142875"/>
            <a:ext cx="8686800" cy="642938"/>
          </a:xfrm>
        </p:spPr>
        <p:txBody>
          <a:bodyPr rtlCol="0">
            <a:normAutofit fontScale="90000"/>
          </a:bodyPr>
          <a:lstStyle/>
          <a:p>
            <a:pPr eaLnBrk="1" fontAlgn="auto" hangingPunct="1">
              <a:spcAft>
                <a:spcPts val="0"/>
              </a:spcAft>
              <a:defRPr/>
            </a:pPr>
            <a:r>
              <a:rPr lang="en-GB" dirty="0"/>
              <a:t>Initialization of Structures</a:t>
            </a:r>
          </a:p>
        </p:txBody>
      </p:sp>
      <p:sp>
        <p:nvSpPr>
          <p:cNvPr id="14339" name="Content Placeholder 2"/>
          <p:cNvSpPr>
            <a:spLocks noGrp="1"/>
          </p:cNvSpPr>
          <p:nvPr>
            <p:ph idx="1"/>
          </p:nvPr>
        </p:nvSpPr>
        <p:spPr>
          <a:xfrm>
            <a:off x="457200" y="714375"/>
            <a:ext cx="8229600" cy="5929313"/>
          </a:xfrm>
        </p:spPr>
        <p:txBody>
          <a:bodyPr/>
          <a:lstStyle/>
          <a:p>
            <a:pPr algn="just" eaLnBrk="1" hangingPunct="1">
              <a:lnSpc>
                <a:spcPct val="150000"/>
              </a:lnSpc>
              <a:buFont typeface="Arial" charset="0"/>
              <a:buNone/>
            </a:pPr>
            <a:r>
              <a:rPr lang="en-GB" altLang="en-US" sz="2400"/>
              <a:t>struct book {</a:t>
            </a:r>
          </a:p>
          <a:p>
            <a:pPr algn="just" eaLnBrk="1" hangingPunct="1">
              <a:lnSpc>
                <a:spcPct val="150000"/>
              </a:lnSpc>
              <a:buFont typeface="Arial" charset="0"/>
              <a:buNone/>
            </a:pPr>
            <a:r>
              <a:rPr lang="en-GB" altLang="en-US" sz="2400"/>
              <a:t>  	char  name[10] ;  </a:t>
            </a:r>
          </a:p>
          <a:p>
            <a:pPr algn="just" eaLnBrk="1" hangingPunct="1">
              <a:lnSpc>
                <a:spcPct val="150000"/>
              </a:lnSpc>
              <a:buFont typeface="Arial" charset="0"/>
              <a:buNone/>
            </a:pPr>
            <a:r>
              <a:rPr lang="en-GB" altLang="en-US" sz="2400"/>
              <a:t>	float  price ;  </a:t>
            </a:r>
          </a:p>
          <a:p>
            <a:pPr algn="just" eaLnBrk="1" hangingPunct="1">
              <a:lnSpc>
                <a:spcPct val="150000"/>
              </a:lnSpc>
              <a:buFont typeface="Arial" charset="0"/>
              <a:buNone/>
            </a:pPr>
            <a:r>
              <a:rPr lang="en-GB" altLang="en-US" sz="2400"/>
              <a:t>	int  pages ; </a:t>
            </a:r>
          </a:p>
          <a:p>
            <a:pPr algn="just" eaLnBrk="1" hangingPunct="1">
              <a:lnSpc>
                <a:spcPct val="150000"/>
              </a:lnSpc>
              <a:buFont typeface="Arial" charset="0"/>
              <a:buNone/>
            </a:pPr>
            <a:r>
              <a:rPr lang="en-GB" altLang="en-US" sz="2400"/>
              <a:t>	} ; </a:t>
            </a:r>
          </a:p>
          <a:p>
            <a:pPr algn="just" eaLnBrk="1" hangingPunct="1">
              <a:lnSpc>
                <a:spcPct val="150000"/>
              </a:lnSpc>
              <a:buFont typeface="Arial" charset="0"/>
              <a:buNone/>
            </a:pPr>
            <a:r>
              <a:rPr lang="en-GB" altLang="en-US" sz="2400"/>
              <a:t>	struct book  b1 = { "Basic", 130.00, 550 } ; </a:t>
            </a:r>
          </a:p>
          <a:p>
            <a:pPr algn="just" eaLnBrk="1" hangingPunct="1">
              <a:lnSpc>
                <a:spcPct val="150000"/>
              </a:lnSpc>
              <a:buFont typeface="Arial" charset="0"/>
              <a:buNone/>
            </a:pPr>
            <a:r>
              <a:rPr lang="en-GB" altLang="en-US" sz="2400"/>
              <a:t>	struct book  b2 = { "Physics", 150.80, 800 } ; </a:t>
            </a:r>
          </a:p>
        </p:txBody>
      </p:sp>
    </p:spTree>
    <p:extLst>
      <p:ext uri="{BB962C8B-B14F-4D97-AF65-F5344CB8AC3E}">
        <p14:creationId xmlns:p14="http://schemas.microsoft.com/office/powerpoint/2010/main" val="992047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142875"/>
            <a:ext cx="8686800" cy="642938"/>
          </a:xfrm>
        </p:spPr>
        <p:txBody>
          <a:bodyPr rtlCol="0">
            <a:normAutofit fontScale="90000"/>
          </a:bodyPr>
          <a:lstStyle/>
          <a:p>
            <a:pPr eaLnBrk="1" fontAlgn="auto" hangingPunct="1">
              <a:spcAft>
                <a:spcPts val="0"/>
              </a:spcAft>
              <a:defRPr/>
            </a:pPr>
            <a:r>
              <a:rPr lang="en-GB" dirty="0"/>
              <a:t>Accessing Structure Elements </a:t>
            </a:r>
          </a:p>
        </p:txBody>
      </p:sp>
      <p:sp>
        <p:nvSpPr>
          <p:cNvPr id="15363" name="Content Placeholder 2"/>
          <p:cNvSpPr>
            <a:spLocks noGrp="1"/>
          </p:cNvSpPr>
          <p:nvPr>
            <p:ph idx="1"/>
          </p:nvPr>
        </p:nvSpPr>
        <p:spPr>
          <a:xfrm>
            <a:off x="457200" y="714375"/>
            <a:ext cx="8229600" cy="5929313"/>
          </a:xfrm>
        </p:spPr>
        <p:txBody>
          <a:bodyPr/>
          <a:lstStyle/>
          <a:p>
            <a:pPr algn="just" eaLnBrk="1" hangingPunct="1">
              <a:lnSpc>
                <a:spcPct val="150000"/>
              </a:lnSpc>
              <a:buFont typeface="Arial" charset="0"/>
              <a:buNone/>
            </a:pPr>
            <a:r>
              <a:rPr lang="en-GB" altLang="en-US" sz="2400"/>
              <a:t>To refer pages,</a:t>
            </a:r>
          </a:p>
          <a:p>
            <a:pPr algn="just" eaLnBrk="1" hangingPunct="1">
              <a:lnSpc>
                <a:spcPct val="150000"/>
              </a:lnSpc>
              <a:buFont typeface="Arial" charset="0"/>
              <a:buNone/>
            </a:pPr>
            <a:r>
              <a:rPr lang="en-GB" altLang="en-US" sz="2400"/>
              <a:t>b1.pages </a:t>
            </a:r>
          </a:p>
          <a:p>
            <a:pPr algn="just" eaLnBrk="1" hangingPunct="1">
              <a:lnSpc>
                <a:spcPct val="150000"/>
              </a:lnSpc>
              <a:buFont typeface="Arial" charset="0"/>
              <a:buNone/>
            </a:pPr>
            <a:r>
              <a:rPr lang="en-GB" altLang="en-US" sz="2400"/>
              <a:t> refer to price we would use,  </a:t>
            </a:r>
          </a:p>
          <a:p>
            <a:pPr algn="just" eaLnBrk="1" hangingPunct="1">
              <a:lnSpc>
                <a:spcPct val="150000"/>
              </a:lnSpc>
              <a:buFont typeface="Arial" charset="0"/>
              <a:buNone/>
            </a:pPr>
            <a:r>
              <a:rPr lang="en-GB" altLang="en-US" sz="2400"/>
              <a:t>b1.price </a:t>
            </a:r>
          </a:p>
        </p:txBody>
      </p:sp>
    </p:spTree>
    <p:extLst>
      <p:ext uri="{BB962C8B-B14F-4D97-AF65-F5344CB8AC3E}">
        <p14:creationId xmlns:p14="http://schemas.microsoft.com/office/powerpoint/2010/main" val="434173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
            <a:ext cx="8229600" cy="1082675"/>
          </a:xfrm>
        </p:spPr>
        <p:txBody>
          <a:bodyPr rtlCol="0">
            <a:normAutofit fontScale="90000"/>
          </a:bodyPr>
          <a:lstStyle/>
          <a:p>
            <a:pPr eaLnBrk="1" fontAlgn="auto" hangingPunct="1">
              <a:spcAft>
                <a:spcPts val="0"/>
              </a:spcAft>
              <a:defRPr/>
            </a:pPr>
            <a:r>
              <a:rPr lang="en-GB" dirty="0"/>
              <a:t>Values of One Structure Variable to Another</a:t>
            </a:r>
          </a:p>
        </p:txBody>
      </p:sp>
      <p:sp>
        <p:nvSpPr>
          <p:cNvPr id="16387" name="Content Placeholder 2"/>
          <p:cNvSpPr>
            <a:spLocks noGrp="1"/>
          </p:cNvSpPr>
          <p:nvPr>
            <p:ph idx="1"/>
          </p:nvPr>
        </p:nvSpPr>
        <p:spPr>
          <a:xfrm>
            <a:off x="457200" y="1214438"/>
            <a:ext cx="8229600" cy="5500687"/>
          </a:xfrm>
        </p:spPr>
        <p:txBody>
          <a:bodyPr/>
          <a:lstStyle/>
          <a:p>
            <a:pPr eaLnBrk="1" hangingPunct="1">
              <a:buFont typeface="Arial" charset="0"/>
              <a:buNone/>
            </a:pPr>
            <a:r>
              <a:rPr lang="en-GB" altLang="en-US"/>
              <a:t>struct employee  </a:t>
            </a:r>
          </a:p>
          <a:p>
            <a:pPr eaLnBrk="1" hangingPunct="1">
              <a:buFont typeface="Arial" charset="0"/>
              <a:buNone/>
            </a:pPr>
            <a:r>
              <a:rPr lang="en-GB" altLang="en-US"/>
              <a:t>{   char  name[10] ;   </a:t>
            </a:r>
          </a:p>
          <a:p>
            <a:pPr eaLnBrk="1" hangingPunct="1">
              <a:buFont typeface="Arial" charset="0"/>
              <a:buNone/>
            </a:pPr>
            <a:r>
              <a:rPr lang="en-GB" altLang="en-US"/>
              <a:t>	int  age ;   </a:t>
            </a:r>
          </a:p>
          <a:p>
            <a:pPr eaLnBrk="1" hangingPunct="1">
              <a:buFont typeface="Arial" charset="0"/>
              <a:buNone/>
            </a:pPr>
            <a:r>
              <a:rPr lang="en-GB" altLang="en-US"/>
              <a:t>	float  salary ;  </a:t>
            </a:r>
          </a:p>
          <a:p>
            <a:pPr eaLnBrk="1" hangingPunct="1">
              <a:buFont typeface="Arial" charset="0"/>
              <a:buNone/>
            </a:pPr>
            <a:r>
              <a:rPr lang="en-GB" altLang="en-US"/>
              <a:t>} ;  </a:t>
            </a:r>
          </a:p>
          <a:p>
            <a:pPr eaLnBrk="1" hangingPunct="1">
              <a:buFont typeface="Arial" charset="0"/>
              <a:buNone/>
            </a:pPr>
            <a:r>
              <a:rPr lang="en-GB" altLang="en-US"/>
              <a:t>struct employee  e1 = { "Sanjay", 30, 5500.50 } ; </a:t>
            </a:r>
          </a:p>
          <a:p>
            <a:pPr eaLnBrk="1" hangingPunct="1">
              <a:buFont typeface="Arial" charset="0"/>
              <a:buNone/>
            </a:pPr>
            <a:r>
              <a:rPr lang="en-GB" altLang="en-US"/>
              <a:t>struct employee  e2, e3 ;  </a:t>
            </a:r>
          </a:p>
          <a:p>
            <a:pPr eaLnBrk="1" hangingPunct="1">
              <a:buFont typeface="Arial" charset="0"/>
              <a:buNone/>
            </a:pPr>
            <a:endParaRPr lang="en-GB" altLang="en-US"/>
          </a:p>
        </p:txBody>
      </p:sp>
    </p:spTree>
    <p:extLst>
      <p:ext uri="{BB962C8B-B14F-4D97-AF65-F5344CB8AC3E}">
        <p14:creationId xmlns:p14="http://schemas.microsoft.com/office/powerpoint/2010/main" val="369941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
            <a:ext cx="8229600" cy="1082675"/>
          </a:xfrm>
        </p:spPr>
        <p:txBody>
          <a:bodyPr rtlCol="0">
            <a:normAutofit fontScale="90000"/>
          </a:bodyPr>
          <a:lstStyle/>
          <a:p>
            <a:pPr eaLnBrk="1" fontAlgn="auto" hangingPunct="1">
              <a:spcAft>
                <a:spcPts val="0"/>
              </a:spcAft>
              <a:defRPr/>
            </a:pPr>
            <a:r>
              <a:rPr lang="en-GB" dirty="0"/>
              <a:t>Values of One Structure Variable to Another</a:t>
            </a:r>
          </a:p>
        </p:txBody>
      </p:sp>
      <p:sp>
        <p:nvSpPr>
          <p:cNvPr id="17411" name="Content Placeholder 2"/>
          <p:cNvSpPr>
            <a:spLocks noGrp="1"/>
          </p:cNvSpPr>
          <p:nvPr>
            <p:ph idx="1"/>
          </p:nvPr>
        </p:nvSpPr>
        <p:spPr>
          <a:xfrm>
            <a:off x="457200" y="1214438"/>
            <a:ext cx="8229600" cy="5500687"/>
          </a:xfrm>
        </p:spPr>
        <p:txBody>
          <a:bodyPr/>
          <a:lstStyle/>
          <a:p>
            <a:pPr eaLnBrk="1" hangingPunct="1">
              <a:lnSpc>
                <a:spcPct val="150000"/>
              </a:lnSpc>
              <a:buFont typeface="Arial" charset="0"/>
              <a:buNone/>
            </a:pPr>
            <a:r>
              <a:rPr lang="en-GB" altLang="en-US"/>
              <a:t>/* piece-meal copying */  </a:t>
            </a:r>
          </a:p>
          <a:p>
            <a:pPr eaLnBrk="1" hangingPunct="1">
              <a:lnSpc>
                <a:spcPct val="150000"/>
              </a:lnSpc>
              <a:buFont typeface="Arial" charset="0"/>
              <a:buNone/>
            </a:pPr>
            <a:r>
              <a:rPr lang="en-GB" altLang="en-US"/>
              <a:t>strcpy ( e2.name, e1.name ) ;  </a:t>
            </a:r>
          </a:p>
          <a:p>
            <a:pPr eaLnBrk="1" hangingPunct="1">
              <a:lnSpc>
                <a:spcPct val="150000"/>
              </a:lnSpc>
              <a:buFont typeface="Arial" charset="0"/>
              <a:buNone/>
            </a:pPr>
            <a:r>
              <a:rPr lang="en-GB" altLang="en-US"/>
              <a:t>e2.age = e1.age ; </a:t>
            </a:r>
          </a:p>
          <a:p>
            <a:pPr eaLnBrk="1" hangingPunct="1">
              <a:lnSpc>
                <a:spcPct val="150000"/>
              </a:lnSpc>
              <a:buFont typeface="Arial" charset="0"/>
              <a:buNone/>
            </a:pPr>
            <a:r>
              <a:rPr lang="en-GB" altLang="en-US"/>
              <a:t>e2.salary = e1.salary ;  </a:t>
            </a:r>
          </a:p>
        </p:txBody>
      </p:sp>
    </p:spTree>
    <p:extLst>
      <p:ext uri="{BB962C8B-B14F-4D97-AF65-F5344CB8AC3E}">
        <p14:creationId xmlns:p14="http://schemas.microsoft.com/office/powerpoint/2010/main" val="2172873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
            <a:ext cx="8229600" cy="1082675"/>
          </a:xfrm>
        </p:spPr>
        <p:txBody>
          <a:bodyPr rtlCol="0">
            <a:normAutofit fontScale="90000"/>
          </a:bodyPr>
          <a:lstStyle/>
          <a:p>
            <a:pPr eaLnBrk="1" fontAlgn="auto" hangingPunct="1">
              <a:spcAft>
                <a:spcPts val="0"/>
              </a:spcAft>
              <a:defRPr/>
            </a:pPr>
            <a:r>
              <a:rPr lang="en-GB" dirty="0"/>
              <a:t>Values of One Structure Variable to Another</a:t>
            </a:r>
          </a:p>
        </p:txBody>
      </p:sp>
      <p:sp>
        <p:nvSpPr>
          <p:cNvPr id="18435" name="Content Placeholder 2"/>
          <p:cNvSpPr>
            <a:spLocks noGrp="1"/>
          </p:cNvSpPr>
          <p:nvPr>
            <p:ph idx="1"/>
          </p:nvPr>
        </p:nvSpPr>
        <p:spPr>
          <a:xfrm>
            <a:off x="71438" y="1600200"/>
            <a:ext cx="8929687" cy="4525963"/>
          </a:xfrm>
        </p:spPr>
        <p:txBody>
          <a:bodyPr/>
          <a:lstStyle/>
          <a:p>
            <a:pPr eaLnBrk="1" hangingPunct="1">
              <a:lnSpc>
                <a:spcPct val="150000"/>
              </a:lnSpc>
              <a:buFont typeface="Arial" charset="0"/>
              <a:buNone/>
            </a:pPr>
            <a:r>
              <a:rPr lang="en-GB" altLang="en-US"/>
              <a:t>/* copying all elements at one go */  </a:t>
            </a:r>
          </a:p>
          <a:p>
            <a:pPr eaLnBrk="1" hangingPunct="1">
              <a:lnSpc>
                <a:spcPct val="150000"/>
              </a:lnSpc>
              <a:buFont typeface="Arial" charset="0"/>
              <a:buNone/>
            </a:pPr>
            <a:r>
              <a:rPr lang="en-GB" altLang="en-US"/>
              <a:t>e3 = e2 ;  </a:t>
            </a:r>
          </a:p>
          <a:p>
            <a:pPr eaLnBrk="1" hangingPunct="1">
              <a:lnSpc>
                <a:spcPct val="150000"/>
              </a:lnSpc>
              <a:buFont typeface="Arial" charset="0"/>
              <a:buNone/>
            </a:pPr>
            <a:r>
              <a:rPr lang="en-GB" altLang="en-US"/>
              <a:t>printf ( "\n%s %d %f", e1.name, e1.age, e1.salary ) ; </a:t>
            </a:r>
          </a:p>
          <a:p>
            <a:pPr eaLnBrk="1" hangingPunct="1">
              <a:lnSpc>
                <a:spcPct val="150000"/>
              </a:lnSpc>
              <a:buFont typeface="Arial" charset="0"/>
              <a:buNone/>
            </a:pPr>
            <a:r>
              <a:rPr lang="en-GB" altLang="en-US"/>
              <a:t>printf ( "\n%s %d %f", e2.name, e2.age, e2.salary ) ;  </a:t>
            </a:r>
          </a:p>
          <a:p>
            <a:pPr eaLnBrk="1" hangingPunct="1">
              <a:lnSpc>
                <a:spcPct val="150000"/>
              </a:lnSpc>
              <a:buFont typeface="Arial" charset="0"/>
              <a:buNone/>
            </a:pPr>
            <a:r>
              <a:rPr lang="en-GB" altLang="en-US"/>
              <a:t>printf ( "\n%s %d %f", e3.name, e3.age, e3.salary ) ; } </a:t>
            </a:r>
          </a:p>
        </p:txBody>
      </p:sp>
    </p:spTree>
    <p:extLst>
      <p:ext uri="{BB962C8B-B14F-4D97-AF65-F5344CB8AC3E}">
        <p14:creationId xmlns:p14="http://schemas.microsoft.com/office/powerpoint/2010/main" val="1862112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71438"/>
            <a:ext cx="8686800" cy="642937"/>
          </a:xfrm>
        </p:spPr>
        <p:txBody>
          <a:bodyPr rtlCol="0">
            <a:normAutofit fontScale="90000"/>
          </a:bodyPr>
          <a:lstStyle/>
          <a:p>
            <a:pPr eaLnBrk="1" fontAlgn="auto" hangingPunct="1">
              <a:spcAft>
                <a:spcPts val="0"/>
              </a:spcAft>
              <a:defRPr/>
            </a:pPr>
            <a:r>
              <a:rPr lang="en-GB" dirty="0"/>
              <a:t>How Structure Elements are Stored </a:t>
            </a:r>
          </a:p>
        </p:txBody>
      </p:sp>
      <p:sp>
        <p:nvSpPr>
          <p:cNvPr id="19459" name="Content Placeholder 2"/>
          <p:cNvSpPr>
            <a:spLocks noGrp="1"/>
          </p:cNvSpPr>
          <p:nvPr>
            <p:ph idx="1"/>
          </p:nvPr>
        </p:nvSpPr>
        <p:spPr>
          <a:xfrm>
            <a:off x="457200" y="714375"/>
            <a:ext cx="8229600" cy="3857625"/>
          </a:xfrm>
        </p:spPr>
        <p:txBody>
          <a:bodyPr/>
          <a:lstStyle/>
          <a:p>
            <a:pPr algn="just" eaLnBrk="1" hangingPunct="1">
              <a:lnSpc>
                <a:spcPct val="120000"/>
              </a:lnSpc>
              <a:buFont typeface="Arial" charset="0"/>
              <a:buNone/>
            </a:pPr>
            <a:r>
              <a:rPr lang="en-GB" altLang="en-US" sz="2400"/>
              <a:t>struct book </a:t>
            </a:r>
          </a:p>
          <a:p>
            <a:pPr algn="just" eaLnBrk="1" hangingPunct="1">
              <a:lnSpc>
                <a:spcPct val="120000"/>
              </a:lnSpc>
              <a:buFont typeface="Arial" charset="0"/>
              <a:buNone/>
            </a:pPr>
            <a:r>
              <a:rPr lang="en-GB" altLang="en-US" sz="2400"/>
              <a:t>{    </a:t>
            </a:r>
          </a:p>
          <a:p>
            <a:pPr algn="just" eaLnBrk="1" hangingPunct="1">
              <a:lnSpc>
                <a:spcPct val="120000"/>
              </a:lnSpc>
              <a:buFont typeface="Arial" charset="0"/>
              <a:buNone/>
            </a:pPr>
            <a:r>
              <a:rPr lang="en-GB" altLang="en-US" sz="2400"/>
              <a:t>	char  name ;   </a:t>
            </a:r>
          </a:p>
          <a:p>
            <a:pPr algn="just" eaLnBrk="1" hangingPunct="1">
              <a:lnSpc>
                <a:spcPct val="120000"/>
              </a:lnSpc>
              <a:buFont typeface="Arial" charset="0"/>
              <a:buNone/>
            </a:pPr>
            <a:r>
              <a:rPr lang="en-GB" altLang="en-US" sz="2400"/>
              <a:t>	float  price ;   </a:t>
            </a:r>
          </a:p>
          <a:p>
            <a:pPr algn="just" eaLnBrk="1" hangingPunct="1">
              <a:lnSpc>
                <a:spcPct val="120000"/>
              </a:lnSpc>
              <a:buFont typeface="Arial" charset="0"/>
              <a:buNone/>
            </a:pPr>
            <a:r>
              <a:rPr lang="en-GB" altLang="en-US" sz="2400"/>
              <a:t>	int  pages ;  </a:t>
            </a:r>
          </a:p>
          <a:p>
            <a:pPr algn="just" eaLnBrk="1" hangingPunct="1">
              <a:lnSpc>
                <a:spcPct val="120000"/>
              </a:lnSpc>
              <a:buFont typeface="Arial" charset="0"/>
              <a:buNone/>
            </a:pPr>
            <a:r>
              <a:rPr lang="en-GB" altLang="en-US" sz="2400"/>
              <a:t>} ;  </a:t>
            </a:r>
          </a:p>
          <a:p>
            <a:pPr algn="just" eaLnBrk="1" hangingPunct="1">
              <a:lnSpc>
                <a:spcPct val="120000"/>
              </a:lnSpc>
              <a:buFont typeface="Arial" charset="0"/>
              <a:buNone/>
            </a:pPr>
            <a:r>
              <a:rPr lang="en-GB" altLang="en-US" sz="2400"/>
              <a:t>struct book  b1 = { 'B', 130.00, 550 } ; </a:t>
            </a:r>
          </a:p>
        </p:txBody>
      </p:sp>
      <p:pic>
        <p:nvPicPr>
          <p:cNvPr id="194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4286250"/>
            <a:ext cx="6715125"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3940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71438"/>
            <a:ext cx="8686800" cy="642937"/>
          </a:xfrm>
        </p:spPr>
        <p:txBody>
          <a:bodyPr rtlCol="0">
            <a:normAutofit fontScale="90000"/>
          </a:bodyPr>
          <a:lstStyle/>
          <a:p>
            <a:pPr eaLnBrk="1" fontAlgn="auto" hangingPunct="1">
              <a:spcAft>
                <a:spcPts val="0"/>
              </a:spcAft>
              <a:defRPr/>
            </a:pPr>
            <a:r>
              <a:rPr lang="en-GB" dirty="0" err="1"/>
              <a:t>typedef</a:t>
            </a:r>
            <a:r>
              <a:rPr lang="en-GB" dirty="0"/>
              <a:t> in C</a:t>
            </a:r>
          </a:p>
        </p:txBody>
      </p:sp>
      <p:sp>
        <p:nvSpPr>
          <p:cNvPr id="21507" name="Content Placeholder 2"/>
          <p:cNvSpPr>
            <a:spLocks noGrp="1"/>
          </p:cNvSpPr>
          <p:nvPr>
            <p:ph idx="1"/>
          </p:nvPr>
        </p:nvSpPr>
        <p:spPr>
          <a:xfrm>
            <a:off x="457200" y="714375"/>
            <a:ext cx="8229600" cy="5715000"/>
          </a:xfrm>
        </p:spPr>
        <p:txBody>
          <a:bodyPr/>
          <a:lstStyle/>
          <a:p>
            <a:pPr algn="just" eaLnBrk="1" hangingPunct="1">
              <a:lnSpc>
                <a:spcPct val="150000"/>
              </a:lnSpc>
            </a:pPr>
            <a:r>
              <a:rPr lang="en-GB" altLang="en-US" sz="2400" b="1"/>
              <a:t>typedef</a:t>
            </a:r>
            <a:r>
              <a:rPr lang="en-GB" altLang="en-US" sz="2400"/>
              <a:t> is a keyword used in C language to assign alternative names to existing types. </a:t>
            </a:r>
          </a:p>
          <a:p>
            <a:pPr algn="just" eaLnBrk="1" hangingPunct="1">
              <a:lnSpc>
                <a:spcPct val="150000"/>
              </a:lnSpc>
            </a:pPr>
            <a:r>
              <a:rPr lang="en-GB" altLang="en-US" sz="2400"/>
              <a:t>Its mostly used with user defined data types, when names of data types get slightly complicated. </a:t>
            </a:r>
          </a:p>
          <a:p>
            <a:pPr algn="just" eaLnBrk="1" hangingPunct="1">
              <a:lnSpc>
                <a:spcPct val="150000"/>
              </a:lnSpc>
            </a:pPr>
            <a:r>
              <a:rPr lang="en-GB" altLang="en-US" sz="2400"/>
              <a:t>Following is the general syntax for using  typedef:</a:t>
            </a:r>
          </a:p>
          <a:p>
            <a:pPr algn="just" eaLnBrk="1" hangingPunct="1">
              <a:lnSpc>
                <a:spcPct val="150000"/>
              </a:lnSpc>
            </a:pPr>
            <a:r>
              <a:rPr lang="en-GB" altLang="en-US" sz="2400" b="1"/>
              <a:t>typedef</a:t>
            </a:r>
            <a:r>
              <a:rPr lang="en-GB" altLang="en-US" sz="2400"/>
              <a:t> </a:t>
            </a:r>
            <a:r>
              <a:rPr lang="en-GB" altLang="en-US" sz="2400" i="1"/>
              <a:t>existing_name</a:t>
            </a:r>
            <a:r>
              <a:rPr lang="en-GB" altLang="en-US" sz="2400"/>
              <a:t> </a:t>
            </a:r>
            <a:r>
              <a:rPr lang="en-GB" altLang="en-US" sz="2400" i="1"/>
              <a:t>alias_name</a:t>
            </a:r>
          </a:p>
          <a:p>
            <a:pPr algn="just" eaLnBrk="1" hangingPunct="1">
              <a:lnSpc>
                <a:spcPct val="150000"/>
              </a:lnSpc>
            </a:pPr>
            <a:r>
              <a:rPr lang="en-GB" altLang="en-US" sz="2400" i="1"/>
              <a:t>Example</a:t>
            </a:r>
          </a:p>
          <a:p>
            <a:pPr algn="just" eaLnBrk="1" hangingPunct="1">
              <a:lnSpc>
                <a:spcPct val="150000"/>
              </a:lnSpc>
              <a:buFont typeface="Arial" charset="0"/>
              <a:buNone/>
            </a:pPr>
            <a:r>
              <a:rPr lang="en-GB" altLang="en-US" sz="2400"/>
              <a:t>	typedef unsigned long ulong;</a:t>
            </a:r>
          </a:p>
          <a:p>
            <a:pPr algn="just" eaLnBrk="1" hangingPunct="1">
              <a:lnSpc>
                <a:spcPct val="150000"/>
              </a:lnSpc>
              <a:buFont typeface="Arial" charset="0"/>
              <a:buNone/>
            </a:pPr>
            <a:r>
              <a:rPr lang="en-GB" altLang="en-US" sz="2400"/>
              <a:t>	ulong  i, j ;</a:t>
            </a:r>
          </a:p>
        </p:txBody>
      </p:sp>
    </p:spTree>
    <p:extLst>
      <p:ext uri="{BB962C8B-B14F-4D97-AF65-F5344CB8AC3E}">
        <p14:creationId xmlns:p14="http://schemas.microsoft.com/office/powerpoint/2010/main" val="1091161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71438"/>
            <a:ext cx="8686800" cy="642937"/>
          </a:xfrm>
        </p:spPr>
        <p:txBody>
          <a:bodyPr rtlCol="0">
            <a:normAutofit fontScale="90000"/>
          </a:bodyPr>
          <a:lstStyle/>
          <a:p>
            <a:pPr eaLnBrk="1" fontAlgn="auto" hangingPunct="1">
              <a:spcAft>
                <a:spcPts val="0"/>
              </a:spcAft>
              <a:defRPr/>
            </a:pPr>
            <a:r>
              <a:rPr lang="en-GB" dirty="0" err="1"/>
              <a:t>typedef</a:t>
            </a:r>
            <a:r>
              <a:rPr lang="en-GB" dirty="0"/>
              <a:t> in C</a:t>
            </a:r>
          </a:p>
        </p:txBody>
      </p:sp>
      <p:sp>
        <p:nvSpPr>
          <p:cNvPr id="22531" name="Content Placeholder 2"/>
          <p:cNvSpPr>
            <a:spLocks noGrp="1"/>
          </p:cNvSpPr>
          <p:nvPr>
            <p:ph idx="1"/>
          </p:nvPr>
        </p:nvSpPr>
        <p:spPr>
          <a:xfrm>
            <a:off x="457200" y="714375"/>
            <a:ext cx="8229600" cy="5715000"/>
          </a:xfrm>
        </p:spPr>
        <p:txBody>
          <a:bodyPr/>
          <a:lstStyle/>
          <a:p>
            <a:pPr algn="just" eaLnBrk="1" hangingPunct="1">
              <a:lnSpc>
                <a:spcPct val="150000"/>
              </a:lnSpc>
              <a:buFont typeface="Arial" charset="0"/>
              <a:buNone/>
            </a:pPr>
            <a:r>
              <a:rPr lang="en-GB" altLang="en-US" sz="2400" b="1" dirty="0"/>
              <a:t>typedef</a:t>
            </a:r>
            <a:r>
              <a:rPr lang="en-GB" altLang="en-US" sz="2400" dirty="0"/>
              <a:t> struct { </a:t>
            </a:r>
          </a:p>
          <a:p>
            <a:pPr algn="just" eaLnBrk="1" hangingPunct="1">
              <a:lnSpc>
                <a:spcPct val="150000"/>
              </a:lnSpc>
              <a:buFont typeface="Arial" charset="0"/>
              <a:buNone/>
            </a:pPr>
            <a:r>
              <a:rPr lang="en-GB" altLang="en-US" sz="2400" dirty="0"/>
              <a:t>		type member1; </a:t>
            </a:r>
          </a:p>
          <a:p>
            <a:pPr algn="just" eaLnBrk="1" hangingPunct="1">
              <a:lnSpc>
                <a:spcPct val="150000"/>
              </a:lnSpc>
              <a:buFont typeface="Arial" charset="0"/>
              <a:buNone/>
            </a:pPr>
            <a:r>
              <a:rPr lang="en-GB" altLang="en-US" sz="2400" dirty="0"/>
              <a:t>		type member2; </a:t>
            </a:r>
          </a:p>
          <a:p>
            <a:pPr algn="just" eaLnBrk="1" hangingPunct="1">
              <a:lnSpc>
                <a:spcPct val="150000"/>
              </a:lnSpc>
              <a:buFont typeface="Arial" charset="0"/>
              <a:buNone/>
            </a:pPr>
            <a:r>
              <a:rPr lang="en-GB" altLang="en-US" sz="2400" dirty="0"/>
              <a:t>		type member3; </a:t>
            </a:r>
          </a:p>
          <a:p>
            <a:pPr algn="just" eaLnBrk="1" hangingPunct="1">
              <a:lnSpc>
                <a:spcPct val="150000"/>
              </a:lnSpc>
              <a:buFont typeface="Arial" charset="0"/>
              <a:buNone/>
            </a:pPr>
            <a:r>
              <a:rPr lang="en-GB" altLang="en-US" sz="2400" dirty="0"/>
              <a:t>} </a:t>
            </a:r>
            <a:r>
              <a:rPr lang="en-GB" altLang="en-US" sz="2400" b="1" dirty="0" err="1"/>
              <a:t>type_name</a:t>
            </a:r>
            <a:r>
              <a:rPr lang="en-GB" altLang="en-US" sz="2400" dirty="0"/>
              <a:t> ;</a:t>
            </a:r>
          </a:p>
          <a:p>
            <a:pPr algn="just" eaLnBrk="1" hangingPunct="1">
              <a:lnSpc>
                <a:spcPct val="150000"/>
              </a:lnSpc>
            </a:pPr>
            <a:r>
              <a:rPr lang="en-GB" altLang="en-US" sz="2400" dirty="0">
                <a:solidFill>
                  <a:srgbClr val="C00000"/>
                </a:solidFill>
              </a:rPr>
              <a:t>Useful in structures – keyword struct need not used everywhere if it is typedef-ed.</a:t>
            </a:r>
          </a:p>
          <a:p>
            <a:pPr algn="just" eaLnBrk="1" hangingPunct="1">
              <a:lnSpc>
                <a:spcPct val="150000"/>
              </a:lnSpc>
            </a:pPr>
            <a:endParaRPr lang="en-GB" altLang="en-US" sz="2400" dirty="0"/>
          </a:p>
        </p:txBody>
      </p:sp>
    </p:spTree>
    <p:extLst>
      <p:ext uri="{BB962C8B-B14F-4D97-AF65-F5344CB8AC3E}">
        <p14:creationId xmlns:p14="http://schemas.microsoft.com/office/powerpoint/2010/main" val="1285947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71438"/>
            <a:ext cx="8686800" cy="642937"/>
          </a:xfrm>
        </p:spPr>
        <p:txBody>
          <a:bodyPr rtlCol="0">
            <a:normAutofit fontScale="90000"/>
          </a:bodyPr>
          <a:lstStyle/>
          <a:p>
            <a:pPr eaLnBrk="1" fontAlgn="auto" hangingPunct="1">
              <a:spcAft>
                <a:spcPts val="0"/>
              </a:spcAft>
              <a:defRPr/>
            </a:pPr>
            <a:r>
              <a:rPr lang="en-GB" dirty="0"/>
              <a:t>Array of Structures</a:t>
            </a:r>
          </a:p>
        </p:txBody>
      </p:sp>
      <p:sp>
        <p:nvSpPr>
          <p:cNvPr id="20483" name="Content Placeholder 2"/>
          <p:cNvSpPr>
            <a:spLocks noGrp="1"/>
          </p:cNvSpPr>
          <p:nvPr>
            <p:ph idx="1"/>
          </p:nvPr>
        </p:nvSpPr>
        <p:spPr>
          <a:xfrm>
            <a:off x="457200" y="714375"/>
            <a:ext cx="8229600" cy="5715000"/>
          </a:xfrm>
        </p:spPr>
        <p:txBody>
          <a:bodyPr/>
          <a:lstStyle/>
          <a:p>
            <a:pPr algn="just" eaLnBrk="1" hangingPunct="1">
              <a:buFont typeface="Arial" charset="0"/>
              <a:buNone/>
            </a:pPr>
            <a:r>
              <a:rPr lang="en-GB" altLang="en-US" sz="2400" dirty="0"/>
              <a:t>struct book  </a:t>
            </a:r>
          </a:p>
          <a:p>
            <a:pPr algn="just" eaLnBrk="1" hangingPunct="1">
              <a:buFont typeface="Arial" charset="0"/>
              <a:buNone/>
            </a:pPr>
            <a:r>
              <a:rPr lang="en-GB" altLang="en-US" sz="2400" dirty="0"/>
              <a:t>	{  </a:t>
            </a:r>
          </a:p>
          <a:p>
            <a:pPr algn="just" eaLnBrk="1" hangingPunct="1">
              <a:buFont typeface="Arial" charset="0"/>
              <a:buNone/>
            </a:pPr>
            <a:r>
              <a:rPr lang="en-GB" altLang="en-US" sz="2400" dirty="0"/>
              <a:t>	 char  code ;   </a:t>
            </a:r>
          </a:p>
          <a:p>
            <a:pPr algn="just" eaLnBrk="1" hangingPunct="1">
              <a:buFont typeface="Arial" charset="0"/>
              <a:buNone/>
            </a:pPr>
            <a:r>
              <a:rPr lang="en-GB" altLang="en-US" sz="2400" dirty="0"/>
              <a:t>	 float  price ;   </a:t>
            </a:r>
          </a:p>
          <a:p>
            <a:pPr algn="just" eaLnBrk="1" hangingPunct="1">
              <a:buFont typeface="Arial" charset="0"/>
              <a:buNone/>
            </a:pPr>
            <a:r>
              <a:rPr lang="en-GB" altLang="en-US" sz="2400" dirty="0"/>
              <a:t>	 int  pages ;  </a:t>
            </a:r>
          </a:p>
          <a:p>
            <a:pPr algn="just" eaLnBrk="1" hangingPunct="1">
              <a:buFont typeface="Arial" charset="0"/>
              <a:buNone/>
            </a:pPr>
            <a:r>
              <a:rPr lang="en-GB" altLang="en-US" sz="2400" dirty="0"/>
              <a:t>	} ;  </a:t>
            </a:r>
          </a:p>
          <a:p>
            <a:pPr algn="just" eaLnBrk="1" hangingPunct="1">
              <a:buFont typeface="Arial" charset="0"/>
              <a:buNone/>
            </a:pPr>
            <a:r>
              <a:rPr lang="en-GB" altLang="en-US" sz="2400" dirty="0"/>
              <a:t> struct  book  b[100] ; </a:t>
            </a:r>
          </a:p>
          <a:p>
            <a:pPr algn="just" eaLnBrk="1" hangingPunct="1">
              <a:buFont typeface="Arial" charset="0"/>
              <a:buNone/>
            </a:pPr>
            <a:endParaRPr lang="en-GB" altLang="en-US" sz="2400" dirty="0"/>
          </a:p>
          <a:p>
            <a:pPr algn="just" eaLnBrk="1" hangingPunct="1">
              <a:buFont typeface="Arial" charset="0"/>
              <a:buNone/>
            </a:pPr>
            <a:r>
              <a:rPr lang="en-GB" altLang="en-US" sz="2400" dirty="0"/>
              <a:t> for ( </a:t>
            </a:r>
            <a:r>
              <a:rPr lang="en-GB" altLang="en-US" sz="2400" dirty="0" err="1"/>
              <a:t>i</a:t>
            </a:r>
            <a:r>
              <a:rPr lang="en-GB" altLang="en-US" sz="2400" dirty="0"/>
              <a:t> = 0 ; </a:t>
            </a:r>
            <a:r>
              <a:rPr lang="en-GB" altLang="en-US" sz="2400" dirty="0" err="1"/>
              <a:t>i</a:t>
            </a:r>
            <a:r>
              <a:rPr lang="en-GB" altLang="en-US" sz="2400" dirty="0"/>
              <a:t> &lt;= 99 ; </a:t>
            </a:r>
            <a:r>
              <a:rPr lang="en-GB" altLang="en-US" sz="2400" dirty="0" err="1"/>
              <a:t>i</a:t>
            </a:r>
            <a:r>
              <a:rPr lang="en-GB" altLang="en-US" sz="2400" dirty="0"/>
              <a:t>++ )  </a:t>
            </a:r>
          </a:p>
          <a:p>
            <a:pPr algn="just" eaLnBrk="1" hangingPunct="1">
              <a:buFont typeface="Arial" charset="0"/>
              <a:buNone/>
            </a:pPr>
            <a:r>
              <a:rPr lang="en-GB" altLang="en-US" sz="2400" dirty="0"/>
              <a:t>{   </a:t>
            </a:r>
          </a:p>
          <a:p>
            <a:pPr algn="just" eaLnBrk="1" hangingPunct="1">
              <a:buFont typeface="Arial" charset="0"/>
              <a:buNone/>
            </a:pPr>
            <a:r>
              <a:rPr lang="en-GB" altLang="en-US" sz="2400" dirty="0"/>
              <a:t>	</a:t>
            </a:r>
            <a:r>
              <a:rPr lang="en-GB" altLang="en-US" sz="2400" dirty="0" err="1"/>
              <a:t>printf</a:t>
            </a:r>
            <a:r>
              <a:rPr lang="en-GB" altLang="en-US" sz="2400" dirty="0"/>
              <a:t> ( "\n Enter name, price and pages " ) ;   </a:t>
            </a:r>
          </a:p>
          <a:p>
            <a:pPr algn="just" eaLnBrk="1" hangingPunct="1">
              <a:buFont typeface="Arial" charset="0"/>
              <a:buNone/>
            </a:pPr>
            <a:r>
              <a:rPr lang="en-GB" altLang="en-US" sz="2400" dirty="0"/>
              <a:t>	</a:t>
            </a:r>
            <a:r>
              <a:rPr lang="en-GB" altLang="en-US" sz="2400" dirty="0" err="1">
                <a:solidFill>
                  <a:srgbClr val="FF0000"/>
                </a:solidFill>
              </a:rPr>
              <a:t>scanf</a:t>
            </a:r>
            <a:r>
              <a:rPr lang="en-GB" altLang="en-US" sz="2400" dirty="0">
                <a:solidFill>
                  <a:srgbClr val="FF0000"/>
                </a:solidFill>
              </a:rPr>
              <a:t> ( "%c %f %d", &amp;b[</a:t>
            </a:r>
            <a:r>
              <a:rPr lang="en-GB" altLang="en-US" sz="2400" dirty="0" err="1">
                <a:solidFill>
                  <a:srgbClr val="FF0000"/>
                </a:solidFill>
              </a:rPr>
              <a:t>i</a:t>
            </a:r>
            <a:r>
              <a:rPr lang="en-GB" altLang="en-US" sz="2400" dirty="0">
                <a:solidFill>
                  <a:srgbClr val="FF0000"/>
                </a:solidFill>
              </a:rPr>
              <a:t>].code, &amp;b[</a:t>
            </a:r>
            <a:r>
              <a:rPr lang="en-GB" altLang="en-US" sz="2400" dirty="0" err="1">
                <a:solidFill>
                  <a:srgbClr val="FF0000"/>
                </a:solidFill>
              </a:rPr>
              <a:t>i</a:t>
            </a:r>
            <a:r>
              <a:rPr lang="en-GB" altLang="en-US" sz="2400" dirty="0">
                <a:solidFill>
                  <a:srgbClr val="FF0000"/>
                </a:solidFill>
              </a:rPr>
              <a:t>].price, &amp;b[</a:t>
            </a:r>
            <a:r>
              <a:rPr lang="en-GB" altLang="en-US" sz="2400" dirty="0" err="1">
                <a:solidFill>
                  <a:srgbClr val="FF0000"/>
                </a:solidFill>
              </a:rPr>
              <a:t>i</a:t>
            </a:r>
            <a:r>
              <a:rPr lang="en-GB" altLang="en-US" sz="2400" dirty="0">
                <a:solidFill>
                  <a:srgbClr val="FF0000"/>
                </a:solidFill>
              </a:rPr>
              <a:t>].pages ) ; </a:t>
            </a:r>
          </a:p>
          <a:p>
            <a:pPr algn="just" eaLnBrk="1" hangingPunct="1">
              <a:buFont typeface="Arial" charset="0"/>
              <a:buNone/>
            </a:pPr>
            <a:r>
              <a:rPr lang="en-GB" altLang="en-US" sz="2400" dirty="0"/>
              <a:t>}</a:t>
            </a:r>
          </a:p>
        </p:txBody>
      </p:sp>
      <p:sp>
        <p:nvSpPr>
          <p:cNvPr id="6" name="Rectangle 5"/>
          <p:cNvSpPr/>
          <p:nvPr/>
        </p:nvSpPr>
        <p:spPr>
          <a:xfrm>
            <a:off x="642938" y="5572125"/>
            <a:ext cx="7572375" cy="4286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spTree>
    <p:extLst>
      <p:ext uri="{BB962C8B-B14F-4D97-AF65-F5344CB8AC3E}">
        <p14:creationId xmlns:p14="http://schemas.microsoft.com/office/powerpoint/2010/main" val="2881677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5563"/>
            <a:ext cx="8229600" cy="714375"/>
          </a:xfrm>
        </p:spPr>
        <p:txBody>
          <a:bodyPr rtlCol="0">
            <a:normAutofit fontScale="90000"/>
          </a:bodyPr>
          <a:lstStyle/>
          <a:p>
            <a:pPr eaLnBrk="1" fontAlgn="auto" hangingPunct="1">
              <a:spcAft>
                <a:spcPts val="0"/>
              </a:spcAft>
              <a:defRPr/>
            </a:pPr>
            <a:r>
              <a:rPr lang="en-GB" dirty="0"/>
              <a:t>Growth of Bacteria Problem</a:t>
            </a:r>
          </a:p>
        </p:txBody>
      </p:sp>
      <p:sp>
        <p:nvSpPr>
          <p:cNvPr id="3" name="Content Placeholder 2"/>
          <p:cNvSpPr>
            <a:spLocks noGrp="1"/>
          </p:cNvSpPr>
          <p:nvPr>
            <p:ph idx="1"/>
          </p:nvPr>
        </p:nvSpPr>
        <p:spPr>
          <a:xfrm>
            <a:off x="457200" y="857250"/>
            <a:ext cx="8229600" cy="5715000"/>
          </a:xfrm>
        </p:spPr>
        <p:txBody>
          <a:bodyPr rtlCol="0">
            <a:normAutofit fontScale="85000" lnSpcReduction="20000"/>
          </a:bodyPr>
          <a:lstStyle/>
          <a:p>
            <a:pPr algn="just" eaLnBrk="1" fontAlgn="auto" hangingPunct="1">
              <a:spcAft>
                <a:spcPts val="0"/>
              </a:spcAft>
              <a:buFont typeface="Arial" pitchFamily="34" charset="0"/>
              <a:buChar char="•"/>
              <a:defRPr/>
            </a:pPr>
            <a:r>
              <a:rPr lang="en-GB" dirty="0"/>
              <a:t>Culturing means cultivating bacteria in a microbiology laboratory environment. Depending on the growth requirements of the bacteria and the information that the scientist hopes to gain, various types of growth media are available for culturing bacteria. </a:t>
            </a:r>
          </a:p>
          <a:p>
            <a:pPr algn="just" eaLnBrk="1" fontAlgn="auto" hangingPunct="1">
              <a:spcAft>
                <a:spcPts val="0"/>
              </a:spcAft>
              <a:buFont typeface="Arial" pitchFamily="34" charset="0"/>
              <a:buChar char="•"/>
              <a:defRPr/>
            </a:pPr>
            <a:r>
              <a:rPr lang="en-GB" altLang="en-US" sz="3200" dirty="0"/>
              <a:t>A microbiologist would use the combination-of-positives triplet as an index to a table to determine that the Most Probable Number (MPN) of bacteria per 100 ml.</a:t>
            </a:r>
            <a:endParaRPr lang="en-GB" dirty="0"/>
          </a:p>
          <a:p>
            <a:pPr algn="just" eaLnBrk="1" fontAlgn="auto" hangingPunct="1">
              <a:spcAft>
                <a:spcPts val="0"/>
              </a:spcAft>
              <a:buFont typeface="Arial" pitchFamily="34" charset="0"/>
              <a:buChar char="•"/>
              <a:defRPr/>
            </a:pPr>
            <a:r>
              <a:rPr lang="en-GB" dirty="0"/>
              <a:t>Basic concept for the MPN (Most Probable Number) method is to dilute the sample to such a degree that </a:t>
            </a:r>
            <a:r>
              <a:rPr lang="en-GB" dirty="0" err="1"/>
              <a:t>inocula</a:t>
            </a:r>
            <a:r>
              <a:rPr lang="en-GB" dirty="0"/>
              <a:t> in the tubes will sometimes (but not always) contain viable organisms. By replicates, and dilution series, this will result in a fairly accurate estimate of the most probable number of cells in the sample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25" y="28575"/>
            <a:ext cx="9001125" cy="676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38"/>
            <a:ext cx="8229600" cy="714375"/>
          </a:xfrm>
        </p:spPr>
        <p:txBody>
          <a:bodyPr rtlCol="0">
            <a:normAutofit fontScale="90000"/>
          </a:bodyPr>
          <a:lstStyle/>
          <a:p>
            <a:pPr eaLnBrk="1" fontAlgn="auto" hangingPunct="1">
              <a:spcAft>
                <a:spcPts val="0"/>
              </a:spcAft>
              <a:defRPr/>
            </a:pPr>
            <a:r>
              <a:rPr lang="en-GB" dirty="0"/>
              <a:t>Growth of Bacteria Problem</a:t>
            </a:r>
          </a:p>
        </p:txBody>
      </p:sp>
      <p:sp>
        <p:nvSpPr>
          <p:cNvPr id="5123" name="Content Placeholder 2"/>
          <p:cNvSpPr>
            <a:spLocks noGrp="1"/>
          </p:cNvSpPr>
          <p:nvPr>
            <p:ph idx="1"/>
          </p:nvPr>
        </p:nvSpPr>
        <p:spPr>
          <a:xfrm>
            <a:off x="142875" y="857250"/>
            <a:ext cx="8686800" cy="5715000"/>
          </a:xfrm>
        </p:spPr>
        <p:txBody>
          <a:bodyPr/>
          <a:lstStyle/>
          <a:p>
            <a:pPr algn="just" eaLnBrk="1" hangingPunct="1">
              <a:lnSpc>
                <a:spcPct val="150000"/>
              </a:lnSpc>
              <a:buFont typeface="Arial" charset="0"/>
              <a:buNone/>
            </a:pPr>
            <a:r>
              <a:rPr lang="en-GB" altLang="en-US" sz="2800" dirty="0"/>
              <a:t>	5-2-1 means that all five tubes receiving 10 ml of sample show bacterial growth, only two tubes in the 1-ml group show growth, and only one of the 0.1-ml group is positive. </a:t>
            </a:r>
          </a:p>
          <a:p>
            <a:pPr algn="just" eaLnBrk="1" hangingPunct="1">
              <a:lnSpc>
                <a:spcPct val="150000"/>
              </a:lnSpc>
              <a:buFont typeface="Arial" charset="0"/>
              <a:buNone/>
            </a:pPr>
            <a:r>
              <a:rPr lang="en-GB" altLang="en-US" sz="2800"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38"/>
            <a:ext cx="8229600" cy="714375"/>
          </a:xfrm>
        </p:spPr>
        <p:txBody>
          <a:bodyPr rtlCol="0">
            <a:normAutofit fontScale="90000"/>
          </a:bodyPr>
          <a:lstStyle/>
          <a:p>
            <a:pPr eaLnBrk="1" fontAlgn="auto" hangingPunct="1">
              <a:spcAft>
                <a:spcPts val="0"/>
              </a:spcAft>
              <a:defRPr/>
            </a:pPr>
            <a:r>
              <a:rPr lang="en-GB" dirty="0"/>
              <a:t>Growth of Bacteria Problem(</a:t>
            </a:r>
            <a:r>
              <a:rPr lang="en-GB" dirty="0" err="1"/>
              <a:t>contd</a:t>
            </a:r>
            <a:r>
              <a:rPr lang="en-GB" dirty="0"/>
              <a:t> ..)</a:t>
            </a:r>
          </a:p>
        </p:txBody>
      </p:sp>
      <p:sp>
        <p:nvSpPr>
          <p:cNvPr id="4099" name="Content Placeholder 2"/>
          <p:cNvSpPr>
            <a:spLocks noGrp="1"/>
          </p:cNvSpPr>
          <p:nvPr>
            <p:ph idx="1"/>
          </p:nvPr>
        </p:nvSpPr>
        <p:spPr>
          <a:xfrm>
            <a:off x="142875" y="857250"/>
            <a:ext cx="8686800" cy="5715000"/>
          </a:xfrm>
        </p:spPr>
        <p:txBody>
          <a:bodyPr/>
          <a:lstStyle/>
          <a:p>
            <a:pPr algn="just" eaLnBrk="1" hangingPunct="1">
              <a:lnSpc>
                <a:spcPct val="150000"/>
              </a:lnSpc>
              <a:buFont typeface="Arial" charset="0"/>
              <a:buNone/>
            </a:pPr>
            <a:r>
              <a:rPr lang="en-GB" altLang="en-US" sz="4400" baseline="-25000"/>
              <a:t>	Three sets of five tubes are taken. First set of five tubes of nutrient medium receives 10 ml of the sample. Second set of five tubes receives 1 ml of sample per tube, and in each of a third set of five tubes, only 0.1 ml of sample is placed. Each tube in which bacterial growth is observed is recorded as a positive. Numbers for the three groups are combined to create a triplet such as 5-2-1.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38"/>
            <a:ext cx="8229600" cy="714375"/>
          </a:xfrm>
        </p:spPr>
        <p:txBody>
          <a:bodyPr rtlCol="0">
            <a:normAutofit fontScale="90000"/>
          </a:bodyPr>
          <a:lstStyle/>
          <a:p>
            <a:pPr eaLnBrk="1" fontAlgn="auto" hangingPunct="1">
              <a:spcAft>
                <a:spcPts val="0"/>
              </a:spcAft>
              <a:defRPr/>
            </a:pPr>
            <a:r>
              <a:rPr lang="en-GB" dirty="0"/>
              <a:t>Growth of Bacteria Problem</a:t>
            </a:r>
          </a:p>
        </p:txBody>
      </p:sp>
      <p:sp>
        <p:nvSpPr>
          <p:cNvPr id="7171" name="Content Placeholder 2"/>
          <p:cNvSpPr>
            <a:spLocks noGrp="1"/>
          </p:cNvSpPr>
          <p:nvPr>
            <p:ph idx="1"/>
          </p:nvPr>
        </p:nvSpPr>
        <p:spPr>
          <a:xfrm>
            <a:off x="142875" y="857250"/>
            <a:ext cx="8686800" cy="5715000"/>
          </a:xfrm>
        </p:spPr>
        <p:txBody>
          <a:bodyPr/>
          <a:lstStyle/>
          <a:p>
            <a:pPr algn="just" eaLnBrk="1" hangingPunct="1">
              <a:lnSpc>
                <a:spcPct val="150000"/>
              </a:lnSpc>
              <a:buNone/>
            </a:pPr>
            <a:r>
              <a:rPr lang="en-GB" altLang="en-US" sz="2800" dirty="0"/>
              <a:t>	For the combination of positives of 5-2-1, most probable number of bacteria per 100 ml of the sample is 70 and 95 percent of the samples yielding this triplet contain between 30 and 210 bacteria per 100 ml. </a:t>
            </a:r>
            <a:r>
              <a:rPr lang="en-GB" altLang="en-US" sz="2800" dirty="0">
                <a:solidFill>
                  <a:srgbClr val="FF0000"/>
                </a:solidFill>
              </a:rPr>
              <a:t>Given the table and a combination-of-positives triplet, develop an algorithm and </a:t>
            </a:r>
            <a:r>
              <a:rPr lang="en-GB" altLang="en-US" sz="2800" dirty="0"/>
              <a:t>write a C program </a:t>
            </a:r>
            <a:r>
              <a:rPr lang="en-GB" altLang="en-US" sz="2800" dirty="0">
                <a:solidFill>
                  <a:srgbClr val="FF0000"/>
                </a:solidFill>
              </a:rPr>
              <a:t>to </a:t>
            </a:r>
            <a:r>
              <a:rPr lang="en-GB" altLang="en-US" sz="2800" dirty="0"/>
              <a:t>return the index of  combination-of-positives</a:t>
            </a:r>
            <a:r>
              <a:rPr lang="en-GB" altLang="en-US" sz="2800" dirty="0">
                <a:solidFill>
                  <a:srgbClr val="FF0000"/>
                </a:solidFill>
              </a:rPr>
              <a:t> that component </a:t>
            </a:r>
            <a:r>
              <a:rPr lang="en-GB" altLang="en-US" sz="2800" dirty="0"/>
              <a:t>matches the target </a:t>
            </a:r>
            <a:r>
              <a:rPr lang="en-GB" altLang="en-US" sz="2800" dirty="0">
                <a:solidFill>
                  <a:srgbClr val="FF0000"/>
                </a:solidFill>
              </a:rPr>
              <a:t>or </a:t>
            </a:r>
            <a:r>
              <a:rPr lang="en-GB" altLang="en-US" sz="2800" dirty="0"/>
              <a:t>-1</a:t>
            </a:r>
            <a:r>
              <a:rPr lang="en-GB" altLang="en-US" sz="2800" dirty="0">
                <a:solidFill>
                  <a:srgbClr val="FF0000"/>
                </a:solidFill>
              </a:rPr>
              <a:t> if not found. </a:t>
            </a:r>
            <a:r>
              <a:rPr lang="en-GB" sz="2800" dirty="0"/>
              <a:t>Print the </a:t>
            </a:r>
            <a:r>
              <a:rPr lang="en-GB" sz="2800" dirty="0">
                <a:solidFill>
                  <a:srgbClr val="C00000"/>
                </a:solidFill>
              </a:rPr>
              <a:t>Index </a:t>
            </a:r>
            <a:r>
              <a:rPr lang="en-GB" sz="2800" dirty="0"/>
              <a:t>value.</a:t>
            </a:r>
          </a:p>
          <a:p>
            <a:pPr algn="just" eaLnBrk="1" hangingPunct="1">
              <a:lnSpc>
                <a:spcPct val="150000"/>
              </a:lnSpc>
              <a:buFont typeface="Arial" charset="0"/>
              <a:buNone/>
            </a:pPr>
            <a:endParaRPr lang="en-GB" altLang="en-US" sz="2800"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142875"/>
            <a:ext cx="8686800" cy="939800"/>
          </a:xfrm>
        </p:spPr>
        <p:txBody>
          <a:bodyPr rtlCol="0">
            <a:normAutofit fontScale="90000"/>
          </a:bodyPr>
          <a:lstStyle/>
          <a:p>
            <a:pPr eaLnBrk="1" fontAlgn="auto" hangingPunct="1">
              <a:spcAft>
                <a:spcPts val="0"/>
              </a:spcAft>
              <a:defRPr/>
            </a:pPr>
            <a:r>
              <a:rPr lang="en-GB" dirty="0"/>
              <a:t>Algorithm for Bacteria Growth Problem</a:t>
            </a:r>
          </a:p>
        </p:txBody>
      </p:sp>
      <p:sp>
        <p:nvSpPr>
          <p:cNvPr id="3" name="Content Placeholder 2"/>
          <p:cNvSpPr>
            <a:spLocks noGrp="1"/>
          </p:cNvSpPr>
          <p:nvPr>
            <p:ph idx="1"/>
          </p:nvPr>
        </p:nvSpPr>
        <p:spPr>
          <a:xfrm>
            <a:off x="457200" y="1000125"/>
            <a:ext cx="8229600" cy="5429250"/>
          </a:xfrm>
        </p:spPr>
        <p:txBody>
          <a:bodyPr rtlCol="0">
            <a:normAutofit lnSpcReduction="10000"/>
          </a:bodyPr>
          <a:lstStyle/>
          <a:p>
            <a:pPr algn="just" eaLnBrk="1" fontAlgn="auto" hangingPunct="1">
              <a:lnSpc>
                <a:spcPct val="150000"/>
              </a:lnSpc>
              <a:spcAft>
                <a:spcPts val="0"/>
              </a:spcAft>
              <a:buFont typeface="Arial" pitchFamily="34" charset="0"/>
              <a:buChar char="•"/>
              <a:defRPr/>
            </a:pPr>
            <a:r>
              <a:rPr lang="en-GB" dirty="0"/>
              <a:t>Read the number of entries in the table</a:t>
            </a:r>
          </a:p>
          <a:p>
            <a:pPr algn="just" eaLnBrk="1" fontAlgn="auto" hangingPunct="1">
              <a:lnSpc>
                <a:spcPct val="150000"/>
              </a:lnSpc>
              <a:spcAft>
                <a:spcPts val="0"/>
              </a:spcAft>
              <a:buFont typeface="Arial" pitchFamily="34" charset="0"/>
              <a:buChar char="•"/>
              <a:defRPr/>
            </a:pPr>
            <a:r>
              <a:rPr lang="en-GB" dirty="0"/>
              <a:t>For each entry in the table read Combination of positives, MPN Index/100ml, lower and upper limit values</a:t>
            </a:r>
          </a:p>
          <a:p>
            <a:pPr algn="just" eaLnBrk="1" fontAlgn="auto" hangingPunct="1">
              <a:lnSpc>
                <a:spcPct val="150000"/>
              </a:lnSpc>
              <a:spcAft>
                <a:spcPts val="0"/>
              </a:spcAft>
              <a:buFont typeface="Arial" pitchFamily="34" charset="0"/>
              <a:buChar char="•"/>
              <a:defRPr/>
            </a:pPr>
            <a:r>
              <a:rPr lang="en-GB" dirty="0"/>
              <a:t>Read the combination to be checked</a:t>
            </a:r>
          </a:p>
          <a:p>
            <a:pPr algn="just" eaLnBrk="1" fontAlgn="auto" hangingPunct="1">
              <a:lnSpc>
                <a:spcPct val="150000"/>
              </a:lnSpc>
              <a:spcAft>
                <a:spcPts val="0"/>
              </a:spcAft>
              <a:buFont typeface="Arial" pitchFamily="34" charset="0"/>
              <a:buChar char="•"/>
              <a:defRPr/>
            </a:pPr>
            <a:r>
              <a:rPr lang="en-GB" dirty="0"/>
              <a:t>Search the table</a:t>
            </a:r>
          </a:p>
          <a:p>
            <a:pPr algn="just" eaLnBrk="1" fontAlgn="auto" hangingPunct="1">
              <a:lnSpc>
                <a:spcPct val="150000"/>
              </a:lnSpc>
              <a:spcAft>
                <a:spcPts val="0"/>
              </a:spcAft>
              <a:buFont typeface="Arial" pitchFamily="34" charset="0"/>
              <a:buChar char="•"/>
              <a:defRPr/>
            </a:pPr>
            <a:r>
              <a:rPr lang="en-GB" dirty="0"/>
              <a:t>Print the Index</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71450" y="142875"/>
            <a:ext cx="8686800" cy="939800"/>
          </a:xfrm>
        </p:spPr>
        <p:txBody>
          <a:bodyPr/>
          <a:lstStyle/>
          <a:p>
            <a:pPr eaLnBrk="1" hangingPunct="1"/>
            <a:r>
              <a:rPr lang="en-GB" altLang="en-US"/>
              <a:t>Implementation in C</a:t>
            </a:r>
          </a:p>
        </p:txBody>
      </p:sp>
      <p:sp>
        <p:nvSpPr>
          <p:cNvPr id="3" name="Content Placeholder 2"/>
          <p:cNvSpPr>
            <a:spLocks noGrp="1"/>
          </p:cNvSpPr>
          <p:nvPr>
            <p:ph idx="1"/>
          </p:nvPr>
        </p:nvSpPr>
        <p:spPr>
          <a:xfrm>
            <a:off x="457200" y="1000125"/>
            <a:ext cx="8229600" cy="5429250"/>
          </a:xfrm>
        </p:spPr>
        <p:txBody>
          <a:bodyPr rtlCol="0">
            <a:normAutofit fontScale="92500" lnSpcReduction="10000"/>
          </a:bodyPr>
          <a:lstStyle/>
          <a:p>
            <a:pPr algn="just" eaLnBrk="1" fontAlgn="auto" hangingPunct="1">
              <a:lnSpc>
                <a:spcPct val="150000"/>
              </a:lnSpc>
              <a:spcAft>
                <a:spcPts val="0"/>
              </a:spcAft>
              <a:buFont typeface="Arial" pitchFamily="34" charset="0"/>
              <a:buChar char="•"/>
              <a:defRPr/>
            </a:pPr>
            <a:r>
              <a:rPr lang="en-GB" dirty="0"/>
              <a:t>Have to represent each row in the table</a:t>
            </a:r>
          </a:p>
          <a:p>
            <a:pPr algn="just" eaLnBrk="1" fontAlgn="auto" hangingPunct="1">
              <a:lnSpc>
                <a:spcPct val="150000"/>
              </a:lnSpc>
              <a:spcAft>
                <a:spcPts val="0"/>
              </a:spcAft>
              <a:buFont typeface="Arial" pitchFamily="34" charset="0"/>
              <a:buChar char="•"/>
              <a:defRPr/>
            </a:pPr>
            <a:r>
              <a:rPr lang="en-GB" dirty="0"/>
              <a:t>Then group the rows</a:t>
            </a:r>
          </a:p>
          <a:p>
            <a:pPr algn="just" eaLnBrk="1" fontAlgn="auto" hangingPunct="1">
              <a:lnSpc>
                <a:spcPct val="150000"/>
              </a:lnSpc>
              <a:spcAft>
                <a:spcPts val="0"/>
              </a:spcAft>
              <a:buFont typeface="Arial" pitchFamily="34" charset="0"/>
              <a:buChar char="•"/>
              <a:defRPr/>
            </a:pPr>
            <a:r>
              <a:rPr lang="en-GB" dirty="0"/>
              <a:t>Each row contains four fields </a:t>
            </a:r>
          </a:p>
          <a:p>
            <a:pPr lvl="1" algn="just" eaLnBrk="1" fontAlgn="auto" hangingPunct="1">
              <a:lnSpc>
                <a:spcPct val="150000"/>
              </a:lnSpc>
              <a:spcAft>
                <a:spcPts val="0"/>
              </a:spcAft>
              <a:buFont typeface="Arial" pitchFamily="34" charset="0"/>
              <a:buChar char="–"/>
              <a:defRPr/>
            </a:pPr>
            <a:r>
              <a:rPr lang="en-GB" dirty="0"/>
              <a:t>combination of positives - String</a:t>
            </a:r>
          </a:p>
          <a:p>
            <a:pPr lvl="1" algn="just" eaLnBrk="1" fontAlgn="auto" hangingPunct="1">
              <a:lnSpc>
                <a:spcPct val="150000"/>
              </a:lnSpc>
              <a:spcAft>
                <a:spcPts val="0"/>
              </a:spcAft>
              <a:buFont typeface="Arial" pitchFamily="34" charset="0"/>
              <a:buChar char="–"/>
              <a:defRPr/>
            </a:pPr>
            <a:r>
              <a:rPr lang="en-GB" dirty="0"/>
              <a:t>MPN Index - </a:t>
            </a:r>
            <a:r>
              <a:rPr lang="en-GB" dirty="0" err="1"/>
              <a:t>Int</a:t>
            </a:r>
            <a:endParaRPr lang="en-GB" dirty="0"/>
          </a:p>
          <a:p>
            <a:pPr lvl="1" algn="just" eaLnBrk="1" fontAlgn="auto" hangingPunct="1">
              <a:lnSpc>
                <a:spcPct val="150000"/>
              </a:lnSpc>
              <a:spcAft>
                <a:spcPts val="0"/>
              </a:spcAft>
              <a:buFont typeface="Arial" pitchFamily="34" charset="0"/>
              <a:buChar char="–"/>
              <a:defRPr/>
            </a:pPr>
            <a:r>
              <a:rPr lang="en-GB" dirty="0"/>
              <a:t>lower limit - </a:t>
            </a:r>
            <a:r>
              <a:rPr lang="en-GB" dirty="0" err="1"/>
              <a:t>Int</a:t>
            </a:r>
            <a:endParaRPr lang="en-GB" dirty="0"/>
          </a:p>
          <a:p>
            <a:pPr lvl="1" algn="just" eaLnBrk="1" fontAlgn="auto" hangingPunct="1">
              <a:lnSpc>
                <a:spcPct val="150000"/>
              </a:lnSpc>
              <a:spcAft>
                <a:spcPts val="0"/>
              </a:spcAft>
              <a:buFont typeface="Arial" pitchFamily="34" charset="0"/>
              <a:buChar char="–"/>
              <a:defRPr/>
            </a:pPr>
            <a:r>
              <a:rPr lang="en-GB" dirty="0"/>
              <a:t>upper limit - </a:t>
            </a:r>
            <a:r>
              <a:rPr lang="en-GB" dirty="0" err="1"/>
              <a:t>Int</a:t>
            </a:r>
            <a:endParaRPr lang="en-GB" dirty="0"/>
          </a:p>
          <a:p>
            <a:pPr algn="just" eaLnBrk="1" fontAlgn="auto" hangingPunct="1">
              <a:lnSpc>
                <a:spcPct val="150000"/>
              </a:lnSpc>
              <a:spcAft>
                <a:spcPts val="0"/>
              </a:spcAft>
              <a:buFont typeface="Arial" pitchFamily="34" charset="0"/>
              <a:buChar char="•"/>
              <a:defRPr/>
            </a:pPr>
            <a:r>
              <a:rPr lang="en-GB" dirty="0"/>
              <a:t>and here heterogeneous data should be grouped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642938"/>
            <a:ext cx="7143750" cy="608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extBox 2"/>
          <p:cNvSpPr txBox="1">
            <a:spLocks noChangeArrowheads="1"/>
          </p:cNvSpPr>
          <p:nvPr/>
        </p:nvSpPr>
        <p:spPr bwMode="auto">
          <a:xfrm>
            <a:off x="428625" y="71438"/>
            <a:ext cx="8501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GB" altLang="en-US" sz="2800" b="1"/>
              <a:t>Declaration of Structure and Functions</a:t>
            </a:r>
          </a:p>
        </p:txBody>
      </p:sp>
    </p:spTree>
    <p:extLst>
      <p:ext uri="{BB962C8B-B14F-4D97-AF65-F5344CB8AC3E}">
        <p14:creationId xmlns:p14="http://schemas.microsoft.com/office/powerpoint/2010/main" val="3566798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950913"/>
            <a:ext cx="8643937" cy="569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TextBox 2"/>
          <p:cNvSpPr txBox="1">
            <a:spLocks noChangeArrowheads="1"/>
          </p:cNvSpPr>
          <p:nvPr/>
        </p:nvSpPr>
        <p:spPr bwMode="auto">
          <a:xfrm>
            <a:off x="428625" y="190500"/>
            <a:ext cx="8501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GB" altLang="en-US" sz="2800" b="1"/>
              <a:t>Main function of Bacteria Program</a:t>
            </a:r>
          </a:p>
        </p:txBody>
      </p:sp>
    </p:spTree>
    <p:extLst>
      <p:ext uri="{BB962C8B-B14F-4D97-AF65-F5344CB8AC3E}">
        <p14:creationId xmlns:p14="http://schemas.microsoft.com/office/powerpoint/2010/main" val="2540957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561975"/>
            <a:ext cx="8786812"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TextBox 2"/>
          <p:cNvSpPr txBox="1">
            <a:spLocks noChangeArrowheads="1"/>
          </p:cNvSpPr>
          <p:nvPr/>
        </p:nvSpPr>
        <p:spPr bwMode="auto">
          <a:xfrm>
            <a:off x="428625" y="71438"/>
            <a:ext cx="8501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GB" altLang="en-US" sz="2800" b="1"/>
              <a:t>Function to Read and Search Table</a:t>
            </a:r>
          </a:p>
        </p:txBody>
      </p:sp>
    </p:spTree>
    <p:extLst>
      <p:ext uri="{BB962C8B-B14F-4D97-AF65-F5344CB8AC3E}">
        <p14:creationId xmlns:p14="http://schemas.microsoft.com/office/powerpoint/2010/main" val="1696924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E430C4E-F043-64F2-C6A5-1F6F956C5BAD}"/>
              </a:ext>
            </a:extLst>
          </p:cNvPr>
          <p:cNvSpPr txBox="1"/>
          <p:nvPr/>
        </p:nvSpPr>
        <p:spPr>
          <a:xfrm>
            <a:off x="755576" y="2276872"/>
            <a:ext cx="6696744" cy="2862322"/>
          </a:xfrm>
          <a:prstGeom prst="rect">
            <a:avLst/>
          </a:prstGeom>
          <a:noFill/>
        </p:spPr>
        <p:txBody>
          <a:bodyPr wrap="square">
            <a:spAutoFit/>
          </a:bodyPr>
          <a:lstStyle/>
          <a:p>
            <a:r>
              <a:rPr lang="en-IN" dirty="0"/>
              <a:t>#include &lt;</a:t>
            </a:r>
            <a:r>
              <a:rPr lang="en-IN" dirty="0" err="1"/>
              <a:t>stdio.h</a:t>
            </a:r>
            <a:r>
              <a:rPr lang="en-IN" dirty="0"/>
              <a:t>&gt;</a:t>
            </a:r>
          </a:p>
          <a:p>
            <a:r>
              <a:rPr lang="en-IN" dirty="0"/>
              <a:t>#include &lt;</a:t>
            </a:r>
            <a:r>
              <a:rPr lang="en-IN" dirty="0" err="1"/>
              <a:t>string.h</a:t>
            </a:r>
            <a:r>
              <a:rPr lang="en-IN" dirty="0"/>
              <a:t>&gt;</a:t>
            </a:r>
          </a:p>
          <a:p>
            <a:r>
              <a:rPr lang="en-IN" dirty="0"/>
              <a:t> </a:t>
            </a:r>
          </a:p>
          <a:p>
            <a:r>
              <a:rPr lang="en-IN" dirty="0"/>
              <a:t>struct Student {</a:t>
            </a:r>
          </a:p>
          <a:p>
            <a:r>
              <a:rPr lang="en-IN" dirty="0"/>
              <a:t>    int </a:t>
            </a:r>
            <a:r>
              <a:rPr lang="en-IN" dirty="0" err="1"/>
              <a:t>roll_no</a:t>
            </a:r>
            <a:r>
              <a:rPr lang="en-IN" dirty="0"/>
              <a:t>;</a:t>
            </a:r>
          </a:p>
          <a:p>
            <a:r>
              <a:rPr lang="en-IN" dirty="0"/>
              <a:t>    char name[30];</a:t>
            </a:r>
          </a:p>
          <a:p>
            <a:r>
              <a:rPr lang="en-IN" dirty="0"/>
              <a:t>    char branch[40];</a:t>
            </a:r>
          </a:p>
          <a:p>
            <a:r>
              <a:rPr lang="en-IN" dirty="0"/>
              <a:t>    int batch;</a:t>
            </a:r>
          </a:p>
          <a:p>
            <a:r>
              <a:rPr lang="en-IN" dirty="0"/>
              <a:t>};</a:t>
            </a:r>
          </a:p>
          <a:p>
            <a:r>
              <a:rPr lang="en-IN" dirty="0"/>
              <a:t> </a:t>
            </a:r>
          </a:p>
        </p:txBody>
      </p:sp>
      <p:sp>
        <p:nvSpPr>
          <p:cNvPr id="2" name="Title 1">
            <a:extLst>
              <a:ext uri="{FF2B5EF4-FFF2-40B4-BE49-F238E27FC236}">
                <a16:creationId xmlns:a16="http://schemas.microsoft.com/office/drawing/2014/main" id="{CCFE4CC2-1B56-F232-C005-71C95E0C684E}"/>
              </a:ext>
            </a:extLst>
          </p:cNvPr>
          <p:cNvSpPr>
            <a:spLocks noGrp="1"/>
          </p:cNvSpPr>
          <p:nvPr>
            <p:ph type="title"/>
          </p:nvPr>
        </p:nvSpPr>
        <p:spPr/>
        <p:txBody>
          <a:bodyPr/>
          <a:lstStyle/>
          <a:p>
            <a:r>
              <a:rPr lang="en-IN" dirty="0"/>
              <a:t>Structure Example with Student Case Study</a:t>
            </a:r>
          </a:p>
        </p:txBody>
      </p:sp>
    </p:spTree>
    <p:extLst>
      <p:ext uri="{BB962C8B-B14F-4D97-AF65-F5344CB8AC3E}">
        <p14:creationId xmlns:p14="http://schemas.microsoft.com/office/powerpoint/2010/main" val="1330568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A8BE3C-E47E-5E66-5C93-51C3B58934B9}"/>
              </a:ext>
            </a:extLst>
          </p:cNvPr>
          <p:cNvSpPr txBox="1"/>
          <p:nvPr/>
        </p:nvSpPr>
        <p:spPr>
          <a:xfrm>
            <a:off x="611560" y="197346"/>
            <a:ext cx="7128792" cy="6463308"/>
          </a:xfrm>
          <a:prstGeom prst="rect">
            <a:avLst/>
          </a:prstGeom>
          <a:noFill/>
        </p:spPr>
        <p:txBody>
          <a:bodyPr wrap="square">
            <a:spAutoFit/>
          </a:bodyPr>
          <a:lstStyle/>
          <a:p>
            <a:r>
              <a:rPr lang="en-IN" dirty="0"/>
              <a:t>struct Student s, *</a:t>
            </a:r>
            <a:r>
              <a:rPr lang="en-IN" dirty="0" err="1"/>
              <a:t>ptr</a:t>
            </a:r>
            <a:r>
              <a:rPr lang="en-IN" dirty="0"/>
              <a:t>;</a:t>
            </a:r>
          </a:p>
          <a:p>
            <a:r>
              <a:rPr lang="en-IN" dirty="0"/>
              <a:t> int main()</a:t>
            </a:r>
          </a:p>
          <a:p>
            <a:r>
              <a:rPr lang="en-IN" dirty="0"/>
              <a:t>{</a:t>
            </a:r>
          </a:p>
          <a:p>
            <a:r>
              <a:rPr lang="en-IN" dirty="0"/>
              <a:t>     </a:t>
            </a:r>
            <a:r>
              <a:rPr lang="en-IN" dirty="0" err="1"/>
              <a:t>ptr</a:t>
            </a:r>
            <a:r>
              <a:rPr lang="en-IN" dirty="0"/>
              <a:t> = &amp;s;</a:t>
            </a:r>
          </a:p>
          <a:p>
            <a:r>
              <a:rPr lang="en-IN" dirty="0"/>
              <a:t>    // Taking inputs</a:t>
            </a:r>
          </a:p>
          <a:p>
            <a:r>
              <a:rPr lang="en-IN" dirty="0"/>
              <a:t>    </a:t>
            </a:r>
            <a:r>
              <a:rPr lang="en-IN" dirty="0" err="1"/>
              <a:t>printf</a:t>
            </a:r>
            <a:r>
              <a:rPr lang="en-IN" dirty="0"/>
              <a:t>("Enter the Roll Number of Student\n");</a:t>
            </a:r>
          </a:p>
          <a:p>
            <a:r>
              <a:rPr lang="en-IN" dirty="0"/>
              <a:t>    </a:t>
            </a:r>
            <a:r>
              <a:rPr lang="en-IN" dirty="0" err="1"/>
              <a:t>scanf</a:t>
            </a:r>
            <a:r>
              <a:rPr lang="en-IN" dirty="0"/>
              <a:t>("%d", &amp;</a:t>
            </a:r>
            <a:r>
              <a:rPr lang="en-IN" dirty="0" err="1"/>
              <a:t>ptr</a:t>
            </a:r>
            <a:r>
              <a:rPr lang="en-IN" dirty="0"/>
              <a:t>-&gt;</a:t>
            </a:r>
            <a:r>
              <a:rPr lang="en-IN" dirty="0" err="1"/>
              <a:t>roll_no</a:t>
            </a:r>
            <a:r>
              <a:rPr lang="en-IN" dirty="0"/>
              <a:t>);</a:t>
            </a:r>
          </a:p>
          <a:p>
            <a:r>
              <a:rPr lang="en-IN" dirty="0"/>
              <a:t>    </a:t>
            </a:r>
            <a:r>
              <a:rPr lang="en-IN" dirty="0" err="1"/>
              <a:t>printf</a:t>
            </a:r>
            <a:r>
              <a:rPr lang="en-IN" dirty="0"/>
              <a:t>("Enter Name of Student\n");</a:t>
            </a:r>
          </a:p>
          <a:p>
            <a:r>
              <a:rPr lang="en-IN" dirty="0"/>
              <a:t>    </a:t>
            </a:r>
            <a:r>
              <a:rPr lang="en-IN" dirty="0" err="1"/>
              <a:t>scanf</a:t>
            </a:r>
            <a:r>
              <a:rPr lang="en-IN" dirty="0"/>
              <a:t>("%s", </a:t>
            </a:r>
            <a:r>
              <a:rPr lang="en-IN" dirty="0" err="1"/>
              <a:t>ptr</a:t>
            </a:r>
            <a:r>
              <a:rPr lang="en-IN" dirty="0"/>
              <a:t>-&gt;name);</a:t>
            </a:r>
          </a:p>
          <a:p>
            <a:r>
              <a:rPr lang="en-IN" dirty="0"/>
              <a:t>    </a:t>
            </a:r>
            <a:r>
              <a:rPr lang="en-IN" dirty="0" err="1"/>
              <a:t>printf</a:t>
            </a:r>
            <a:r>
              <a:rPr lang="en-IN" dirty="0"/>
              <a:t>("Enter Branch of Student\n");</a:t>
            </a:r>
          </a:p>
          <a:p>
            <a:r>
              <a:rPr lang="en-IN" dirty="0"/>
              <a:t>    </a:t>
            </a:r>
            <a:r>
              <a:rPr lang="en-IN" dirty="0" err="1"/>
              <a:t>scanf</a:t>
            </a:r>
            <a:r>
              <a:rPr lang="en-IN" dirty="0"/>
              <a:t>("%s", &amp;</a:t>
            </a:r>
            <a:r>
              <a:rPr lang="en-IN" dirty="0" err="1"/>
              <a:t>ptr</a:t>
            </a:r>
            <a:r>
              <a:rPr lang="en-IN" dirty="0"/>
              <a:t>-&gt;branch);</a:t>
            </a:r>
          </a:p>
          <a:p>
            <a:r>
              <a:rPr lang="en-IN" dirty="0"/>
              <a:t>    </a:t>
            </a:r>
            <a:r>
              <a:rPr lang="en-IN" dirty="0" err="1"/>
              <a:t>printf</a:t>
            </a:r>
            <a:r>
              <a:rPr lang="en-IN" dirty="0"/>
              <a:t>("Enter batch of Student\n");</a:t>
            </a:r>
          </a:p>
          <a:p>
            <a:r>
              <a:rPr lang="en-IN" dirty="0"/>
              <a:t>    </a:t>
            </a:r>
            <a:r>
              <a:rPr lang="en-IN" dirty="0" err="1"/>
              <a:t>scanf</a:t>
            </a:r>
            <a:r>
              <a:rPr lang="en-IN" dirty="0"/>
              <a:t>("%d", &amp;</a:t>
            </a:r>
            <a:r>
              <a:rPr lang="en-IN" dirty="0" err="1"/>
              <a:t>ptr</a:t>
            </a:r>
            <a:r>
              <a:rPr lang="en-IN" dirty="0"/>
              <a:t>-&gt;batch);</a:t>
            </a:r>
          </a:p>
          <a:p>
            <a:r>
              <a:rPr lang="en-IN" dirty="0"/>
              <a:t> </a:t>
            </a:r>
          </a:p>
          <a:p>
            <a:r>
              <a:rPr lang="en-IN" dirty="0"/>
              <a:t>    // Displaying details of the student</a:t>
            </a:r>
          </a:p>
          <a:p>
            <a:r>
              <a:rPr lang="en-IN" dirty="0"/>
              <a:t>    </a:t>
            </a:r>
            <a:r>
              <a:rPr lang="en-IN" dirty="0" err="1"/>
              <a:t>printf</a:t>
            </a:r>
            <a:r>
              <a:rPr lang="en-IN" dirty="0"/>
              <a:t>("\</a:t>
            </a:r>
            <a:r>
              <a:rPr lang="en-IN" dirty="0" err="1"/>
              <a:t>nStudent</a:t>
            </a:r>
            <a:r>
              <a:rPr lang="en-IN" dirty="0"/>
              <a:t> details are: \n");</a:t>
            </a:r>
          </a:p>
          <a:p>
            <a:r>
              <a:rPr lang="en-IN" dirty="0"/>
              <a:t> </a:t>
            </a:r>
          </a:p>
          <a:p>
            <a:r>
              <a:rPr lang="en-IN" dirty="0"/>
              <a:t>    </a:t>
            </a:r>
            <a:r>
              <a:rPr lang="en-IN" dirty="0" err="1"/>
              <a:t>printf</a:t>
            </a:r>
            <a:r>
              <a:rPr lang="en-IN" dirty="0"/>
              <a:t>("Roll No: %d\n", </a:t>
            </a:r>
            <a:r>
              <a:rPr lang="en-IN" dirty="0" err="1"/>
              <a:t>ptr</a:t>
            </a:r>
            <a:r>
              <a:rPr lang="en-IN" dirty="0"/>
              <a:t>-&gt;</a:t>
            </a:r>
            <a:r>
              <a:rPr lang="en-IN" dirty="0" err="1"/>
              <a:t>roll_no</a:t>
            </a:r>
            <a:r>
              <a:rPr lang="en-IN" dirty="0"/>
              <a:t>);</a:t>
            </a:r>
          </a:p>
          <a:p>
            <a:r>
              <a:rPr lang="en-IN" dirty="0"/>
              <a:t>    </a:t>
            </a:r>
            <a:r>
              <a:rPr lang="en-IN" dirty="0" err="1"/>
              <a:t>printf</a:t>
            </a:r>
            <a:r>
              <a:rPr lang="en-IN" dirty="0"/>
              <a:t>("Name: %s\n", </a:t>
            </a:r>
            <a:r>
              <a:rPr lang="en-IN" dirty="0" err="1"/>
              <a:t>ptr</a:t>
            </a:r>
            <a:r>
              <a:rPr lang="en-IN" dirty="0"/>
              <a:t>-&gt;name);</a:t>
            </a:r>
          </a:p>
          <a:p>
            <a:r>
              <a:rPr lang="en-IN" dirty="0"/>
              <a:t>    </a:t>
            </a:r>
            <a:r>
              <a:rPr lang="en-IN" dirty="0" err="1"/>
              <a:t>printf</a:t>
            </a:r>
            <a:r>
              <a:rPr lang="en-IN" dirty="0"/>
              <a:t>("Branch: %s\n", </a:t>
            </a:r>
            <a:r>
              <a:rPr lang="en-IN" dirty="0" err="1"/>
              <a:t>ptr</a:t>
            </a:r>
            <a:r>
              <a:rPr lang="en-IN" dirty="0"/>
              <a:t>-&gt;branch);</a:t>
            </a:r>
          </a:p>
          <a:p>
            <a:r>
              <a:rPr lang="en-IN" dirty="0"/>
              <a:t>    </a:t>
            </a:r>
            <a:r>
              <a:rPr lang="en-IN" dirty="0" err="1"/>
              <a:t>printf</a:t>
            </a:r>
            <a:r>
              <a:rPr lang="en-IN" dirty="0"/>
              <a:t>("Batch: %d\n", </a:t>
            </a:r>
            <a:r>
              <a:rPr lang="en-IN" dirty="0" err="1"/>
              <a:t>ptr</a:t>
            </a:r>
            <a:r>
              <a:rPr lang="en-IN" dirty="0"/>
              <a:t>-&gt;batch);</a:t>
            </a:r>
          </a:p>
          <a:p>
            <a:r>
              <a:rPr lang="en-IN" dirty="0"/>
              <a:t>     return 0;</a:t>
            </a:r>
          </a:p>
          <a:p>
            <a:r>
              <a:rPr lang="en-IN" dirty="0"/>
              <a:t>}</a:t>
            </a:r>
          </a:p>
        </p:txBody>
      </p:sp>
    </p:spTree>
    <p:extLst>
      <p:ext uri="{BB962C8B-B14F-4D97-AF65-F5344CB8AC3E}">
        <p14:creationId xmlns:p14="http://schemas.microsoft.com/office/powerpoint/2010/main" val="3864944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E430C4E-F043-64F2-C6A5-1F6F956C5BAD}"/>
              </a:ext>
            </a:extLst>
          </p:cNvPr>
          <p:cNvSpPr txBox="1"/>
          <p:nvPr/>
        </p:nvSpPr>
        <p:spPr>
          <a:xfrm>
            <a:off x="1187624" y="836712"/>
            <a:ext cx="6696744" cy="2862322"/>
          </a:xfrm>
          <a:prstGeom prst="rect">
            <a:avLst/>
          </a:prstGeom>
          <a:noFill/>
        </p:spPr>
        <p:txBody>
          <a:bodyPr wrap="square">
            <a:spAutoFit/>
          </a:bodyPr>
          <a:lstStyle/>
          <a:p>
            <a:r>
              <a:rPr lang="en-IN" dirty="0"/>
              <a:t>#include &lt;</a:t>
            </a:r>
            <a:r>
              <a:rPr lang="en-IN" dirty="0" err="1"/>
              <a:t>stdio.h</a:t>
            </a:r>
            <a:r>
              <a:rPr lang="en-IN" dirty="0"/>
              <a:t>&gt;</a:t>
            </a:r>
          </a:p>
          <a:p>
            <a:r>
              <a:rPr lang="en-IN" dirty="0"/>
              <a:t>#include &lt;</a:t>
            </a:r>
            <a:r>
              <a:rPr lang="en-IN" dirty="0" err="1"/>
              <a:t>string.h</a:t>
            </a:r>
            <a:r>
              <a:rPr lang="en-IN" dirty="0"/>
              <a:t>&gt;</a:t>
            </a:r>
          </a:p>
          <a:p>
            <a:r>
              <a:rPr lang="en-IN" dirty="0"/>
              <a:t> </a:t>
            </a:r>
          </a:p>
          <a:p>
            <a:r>
              <a:rPr lang="en-IN" dirty="0"/>
              <a:t>struct Student {</a:t>
            </a:r>
          </a:p>
          <a:p>
            <a:r>
              <a:rPr lang="en-IN" dirty="0"/>
              <a:t>    int </a:t>
            </a:r>
            <a:r>
              <a:rPr lang="en-IN" dirty="0" err="1"/>
              <a:t>roll_no</a:t>
            </a:r>
            <a:r>
              <a:rPr lang="en-IN" dirty="0"/>
              <a:t>;</a:t>
            </a:r>
          </a:p>
          <a:p>
            <a:r>
              <a:rPr lang="en-IN" dirty="0"/>
              <a:t>    char name[30];</a:t>
            </a:r>
          </a:p>
          <a:p>
            <a:r>
              <a:rPr lang="en-IN" dirty="0"/>
              <a:t>    char branch[40];</a:t>
            </a:r>
          </a:p>
          <a:p>
            <a:r>
              <a:rPr lang="en-IN" dirty="0"/>
              <a:t>    int batch;</a:t>
            </a:r>
          </a:p>
          <a:p>
            <a:r>
              <a:rPr lang="en-IN" dirty="0"/>
              <a:t>};</a:t>
            </a:r>
          </a:p>
          <a:p>
            <a:r>
              <a:rPr lang="en-IN" dirty="0"/>
              <a:t> </a:t>
            </a:r>
          </a:p>
        </p:txBody>
      </p:sp>
    </p:spTree>
    <p:extLst>
      <p:ext uri="{BB962C8B-B14F-4D97-AF65-F5344CB8AC3E}">
        <p14:creationId xmlns:p14="http://schemas.microsoft.com/office/powerpoint/2010/main" val="3739559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E483F2-15FA-425D-4224-070DC2F984DC}"/>
              </a:ext>
            </a:extLst>
          </p:cNvPr>
          <p:cNvSpPr txBox="1"/>
          <p:nvPr/>
        </p:nvSpPr>
        <p:spPr>
          <a:xfrm>
            <a:off x="683568" y="612845"/>
            <a:ext cx="7416824" cy="5078313"/>
          </a:xfrm>
          <a:prstGeom prst="rect">
            <a:avLst/>
          </a:prstGeom>
          <a:noFill/>
        </p:spPr>
        <p:txBody>
          <a:bodyPr wrap="square">
            <a:spAutoFit/>
          </a:bodyPr>
          <a:lstStyle/>
          <a:p>
            <a:r>
              <a:rPr lang="en-IN" dirty="0"/>
              <a:t>int main()</a:t>
            </a:r>
          </a:p>
          <a:p>
            <a:r>
              <a:rPr lang="en-IN" dirty="0"/>
              <a:t>{</a:t>
            </a:r>
          </a:p>
          <a:p>
            <a:r>
              <a:rPr lang="en-IN" dirty="0"/>
              <a:t> </a:t>
            </a:r>
          </a:p>
          <a:p>
            <a:r>
              <a:rPr lang="en-IN" dirty="0"/>
              <a:t>    struct Student s1;</a:t>
            </a:r>
          </a:p>
          <a:p>
            <a:r>
              <a:rPr lang="en-IN" dirty="0"/>
              <a:t>    struct Student* </a:t>
            </a:r>
            <a:r>
              <a:rPr lang="en-IN" dirty="0" err="1"/>
              <a:t>ptr</a:t>
            </a:r>
            <a:r>
              <a:rPr lang="en-IN" dirty="0"/>
              <a:t> = &amp;s1;</a:t>
            </a:r>
          </a:p>
          <a:p>
            <a:r>
              <a:rPr lang="en-IN" dirty="0"/>
              <a:t> </a:t>
            </a:r>
          </a:p>
          <a:p>
            <a:r>
              <a:rPr lang="en-IN" dirty="0"/>
              <a:t>    s1.roll_no = 27;</a:t>
            </a:r>
          </a:p>
          <a:p>
            <a:r>
              <a:rPr lang="en-IN" dirty="0"/>
              <a:t>    </a:t>
            </a:r>
            <a:r>
              <a:rPr lang="en-IN" dirty="0" err="1"/>
              <a:t>strcpy</a:t>
            </a:r>
            <a:r>
              <a:rPr lang="en-IN" dirty="0"/>
              <a:t>(s1.name, "Kamlesh Joshi");</a:t>
            </a:r>
          </a:p>
          <a:p>
            <a:r>
              <a:rPr lang="en-IN" dirty="0"/>
              <a:t>    </a:t>
            </a:r>
            <a:r>
              <a:rPr lang="en-IN" dirty="0" err="1"/>
              <a:t>strcpy</a:t>
            </a:r>
            <a:r>
              <a:rPr lang="en-IN" dirty="0"/>
              <a:t>(s1.branch, "Computer Science And Engineering");</a:t>
            </a:r>
          </a:p>
          <a:p>
            <a:r>
              <a:rPr lang="en-IN" dirty="0"/>
              <a:t>    s1.batch = 2023;</a:t>
            </a:r>
          </a:p>
          <a:p>
            <a:r>
              <a:rPr lang="en-IN" dirty="0"/>
              <a:t> </a:t>
            </a:r>
          </a:p>
          <a:p>
            <a:r>
              <a:rPr lang="en-IN" dirty="0"/>
              <a:t>    </a:t>
            </a:r>
            <a:r>
              <a:rPr lang="en-IN" dirty="0" err="1"/>
              <a:t>printf</a:t>
            </a:r>
            <a:r>
              <a:rPr lang="en-IN" dirty="0"/>
              <a:t>("Roll Number: %d\n", (*</a:t>
            </a:r>
            <a:r>
              <a:rPr lang="en-IN" dirty="0" err="1"/>
              <a:t>ptr</a:t>
            </a:r>
            <a:r>
              <a:rPr lang="en-IN" dirty="0"/>
              <a:t>).</a:t>
            </a:r>
            <a:r>
              <a:rPr lang="en-IN" dirty="0" err="1"/>
              <a:t>roll_no</a:t>
            </a:r>
            <a:r>
              <a:rPr lang="en-IN" dirty="0"/>
              <a:t>);</a:t>
            </a:r>
          </a:p>
          <a:p>
            <a:r>
              <a:rPr lang="en-IN" dirty="0"/>
              <a:t>    </a:t>
            </a:r>
            <a:r>
              <a:rPr lang="en-IN" dirty="0" err="1"/>
              <a:t>printf</a:t>
            </a:r>
            <a:r>
              <a:rPr lang="en-IN" dirty="0"/>
              <a:t>("Name: %s\n", (*</a:t>
            </a:r>
            <a:r>
              <a:rPr lang="en-IN" dirty="0" err="1"/>
              <a:t>ptr</a:t>
            </a:r>
            <a:r>
              <a:rPr lang="en-IN" dirty="0"/>
              <a:t>).name);</a:t>
            </a:r>
          </a:p>
          <a:p>
            <a:r>
              <a:rPr lang="en-IN" dirty="0"/>
              <a:t>    </a:t>
            </a:r>
            <a:r>
              <a:rPr lang="en-IN" dirty="0" err="1"/>
              <a:t>printf</a:t>
            </a:r>
            <a:r>
              <a:rPr lang="en-IN" dirty="0"/>
              <a:t>("Branch: %s\n", (*</a:t>
            </a:r>
            <a:r>
              <a:rPr lang="en-IN" dirty="0" err="1"/>
              <a:t>ptr</a:t>
            </a:r>
            <a:r>
              <a:rPr lang="en-IN" dirty="0"/>
              <a:t>).branch);</a:t>
            </a:r>
          </a:p>
          <a:p>
            <a:r>
              <a:rPr lang="en-IN" dirty="0"/>
              <a:t>    </a:t>
            </a:r>
            <a:r>
              <a:rPr lang="en-IN" dirty="0" err="1"/>
              <a:t>printf</a:t>
            </a:r>
            <a:r>
              <a:rPr lang="en-IN" dirty="0"/>
              <a:t>("Batch: %d", (*</a:t>
            </a:r>
            <a:r>
              <a:rPr lang="en-IN" dirty="0" err="1"/>
              <a:t>ptr</a:t>
            </a:r>
            <a:r>
              <a:rPr lang="en-IN" dirty="0"/>
              <a:t>).batch);</a:t>
            </a:r>
          </a:p>
          <a:p>
            <a:r>
              <a:rPr lang="en-IN" dirty="0"/>
              <a:t> </a:t>
            </a:r>
          </a:p>
          <a:p>
            <a:r>
              <a:rPr lang="en-IN" dirty="0"/>
              <a:t>    return 0;</a:t>
            </a:r>
          </a:p>
          <a:p>
            <a:r>
              <a:rPr lang="en-IN" dirty="0"/>
              <a:t>}</a:t>
            </a:r>
          </a:p>
        </p:txBody>
      </p:sp>
    </p:spTree>
    <p:extLst>
      <p:ext uri="{BB962C8B-B14F-4D97-AF65-F5344CB8AC3E}">
        <p14:creationId xmlns:p14="http://schemas.microsoft.com/office/powerpoint/2010/main" val="2659132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AB910D-7741-4EA2-16B0-6DE7202057CF}"/>
              </a:ext>
            </a:extLst>
          </p:cNvPr>
          <p:cNvSpPr txBox="1"/>
          <p:nvPr/>
        </p:nvSpPr>
        <p:spPr>
          <a:xfrm>
            <a:off x="1259632" y="1720840"/>
            <a:ext cx="5598368" cy="3416320"/>
          </a:xfrm>
          <a:prstGeom prst="rect">
            <a:avLst/>
          </a:prstGeom>
          <a:noFill/>
        </p:spPr>
        <p:txBody>
          <a:bodyPr wrap="square">
            <a:spAutoFit/>
          </a:bodyPr>
          <a:lstStyle/>
          <a:p>
            <a:r>
              <a:rPr lang="en-IN" dirty="0"/>
              <a:t>/ C program to demonstrate the</a:t>
            </a:r>
          </a:p>
          <a:p>
            <a:r>
              <a:rPr lang="en-IN" dirty="0"/>
              <a:t>// use of an array within a structure</a:t>
            </a:r>
          </a:p>
          <a:p>
            <a:r>
              <a:rPr lang="en-IN" dirty="0"/>
              <a:t>#include &lt;</a:t>
            </a:r>
            <a:r>
              <a:rPr lang="en-IN" dirty="0" err="1"/>
              <a:t>stdio.h</a:t>
            </a:r>
            <a:r>
              <a:rPr lang="en-IN" dirty="0"/>
              <a:t>&gt;</a:t>
            </a:r>
          </a:p>
          <a:p>
            <a:r>
              <a:rPr lang="en-IN" dirty="0"/>
              <a:t> </a:t>
            </a:r>
          </a:p>
          <a:p>
            <a:r>
              <a:rPr lang="en-IN" dirty="0"/>
              <a:t>// Declaration of the structure candidate</a:t>
            </a:r>
          </a:p>
          <a:p>
            <a:r>
              <a:rPr lang="en-IN" dirty="0"/>
              <a:t>struct candidate {</a:t>
            </a:r>
          </a:p>
          <a:p>
            <a:r>
              <a:rPr lang="en-IN" dirty="0"/>
              <a:t>    int </a:t>
            </a:r>
            <a:r>
              <a:rPr lang="en-IN" dirty="0" err="1"/>
              <a:t>roll_no</a:t>
            </a:r>
            <a:r>
              <a:rPr lang="en-IN" dirty="0"/>
              <a:t>;</a:t>
            </a:r>
          </a:p>
          <a:p>
            <a:r>
              <a:rPr lang="en-IN" dirty="0"/>
              <a:t>    char grade;</a:t>
            </a:r>
          </a:p>
          <a:p>
            <a:r>
              <a:rPr lang="en-IN" dirty="0"/>
              <a:t> </a:t>
            </a:r>
          </a:p>
          <a:p>
            <a:r>
              <a:rPr lang="en-IN" dirty="0"/>
              <a:t>    // Array within the structure</a:t>
            </a:r>
          </a:p>
          <a:p>
            <a:r>
              <a:rPr lang="en-IN" dirty="0"/>
              <a:t>    float marks[4];</a:t>
            </a:r>
          </a:p>
          <a:p>
            <a:r>
              <a:rPr lang="en-IN" dirty="0"/>
              <a:t>};</a:t>
            </a:r>
          </a:p>
        </p:txBody>
      </p:sp>
      <p:sp>
        <p:nvSpPr>
          <p:cNvPr id="4" name="Title 3">
            <a:extLst>
              <a:ext uri="{FF2B5EF4-FFF2-40B4-BE49-F238E27FC236}">
                <a16:creationId xmlns:a16="http://schemas.microsoft.com/office/drawing/2014/main" id="{87F9AF42-69C9-4DF3-3F0F-AF8BCA30AF45}"/>
              </a:ext>
            </a:extLst>
          </p:cNvPr>
          <p:cNvSpPr>
            <a:spLocks noGrp="1"/>
          </p:cNvSpPr>
          <p:nvPr>
            <p:ph type="title"/>
          </p:nvPr>
        </p:nvSpPr>
        <p:spPr/>
        <p:txBody>
          <a:bodyPr/>
          <a:lstStyle/>
          <a:p>
            <a:r>
              <a:rPr lang="en-IN" dirty="0"/>
              <a:t>Array within Structures</a:t>
            </a:r>
          </a:p>
        </p:txBody>
      </p:sp>
      <p:sp>
        <p:nvSpPr>
          <p:cNvPr id="5" name="Content Placeholder 4">
            <a:extLst>
              <a:ext uri="{FF2B5EF4-FFF2-40B4-BE49-F238E27FC236}">
                <a16:creationId xmlns:a16="http://schemas.microsoft.com/office/drawing/2014/main" id="{5D915B01-0E3D-56CD-5427-4760467F7229}"/>
              </a:ext>
            </a:extLst>
          </p:cNvPr>
          <p:cNvSpPr>
            <a:spLocks noGrp="1"/>
          </p:cNvSpPr>
          <p:nvPr>
            <p:ph idx="1"/>
          </p:nvPr>
        </p:nvSpPr>
        <p:spPr/>
        <p:txBody>
          <a:bodyPr/>
          <a:lstStyle/>
          <a:p>
            <a:pPr marL="0" indent="0">
              <a:buNone/>
            </a:pPr>
            <a:endParaRPr lang="en-IN" dirty="0"/>
          </a:p>
        </p:txBody>
      </p:sp>
    </p:spTree>
    <p:extLst>
      <p:ext uri="{BB962C8B-B14F-4D97-AF65-F5344CB8AC3E}">
        <p14:creationId xmlns:p14="http://schemas.microsoft.com/office/powerpoint/2010/main" val="138069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444282-8E63-765E-9833-52A4EB7DD1F5}"/>
              </a:ext>
            </a:extLst>
          </p:cNvPr>
          <p:cNvSpPr txBox="1"/>
          <p:nvPr/>
        </p:nvSpPr>
        <p:spPr>
          <a:xfrm>
            <a:off x="1043608" y="889844"/>
            <a:ext cx="6768752" cy="5078313"/>
          </a:xfrm>
          <a:prstGeom prst="rect">
            <a:avLst/>
          </a:prstGeom>
          <a:noFill/>
        </p:spPr>
        <p:txBody>
          <a:bodyPr wrap="square">
            <a:spAutoFit/>
          </a:bodyPr>
          <a:lstStyle/>
          <a:p>
            <a:r>
              <a:rPr lang="en-IN" dirty="0"/>
              <a:t>// Function to displays the content of</a:t>
            </a:r>
          </a:p>
          <a:p>
            <a:r>
              <a:rPr lang="en-IN" dirty="0"/>
              <a:t>// the structure variables</a:t>
            </a:r>
          </a:p>
          <a:p>
            <a:r>
              <a:rPr lang="en-IN" dirty="0"/>
              <a:t>void display(struct candidate a1)</a:t>
            </a:r>
          </a:p>
          <a:p>
            <a:r>
              <a:rPr lang="en-IN" dirty="0"/>
              <a:t>{</a:t>
            </a:r>
          </a:p>
          <a:p>
            <a:r>
              <a:rPr lang="en-IN" dirty="0"/>
              <a:t> </a:t>
            </a:r>
          </a:p>
          <a:p>
            <a:r>
              <a:rPr lang="en-IN" dirty="0"/>
              <a:t>    </a:t>
            </a:r>
            <a:r>
              <a:rPr lang="en-IN" dirty="0" err="1"/>
              <a:t>printf</a:t>
            </a:r>
            <a:r>
              <a:rPr lang="en-IN" dirty="0"/>
              <a:t>("Roll number : %d\n", a1.roll_no);</a:t>
            </a:r>
          </a:p>
          <a:p>
            <a:r>
              <a:rPr lang="en-IN" dirty="0"/>
              <a:t>    </a:t>
            </a:r>
            <a:r>
              <a:rPr lang="en-IN" dirty="0" err="1"/>
              <a:t>printf</a:t>
            </a:r>
            <a:r>
              <a:rPr lang="en-IN" dirty="0"/>
              <a:t>("Grade : %c\n", a1.grade);</a:t>
            </a:r>
          </a:p>
          <a:p>
            <a:r>
              <a:rPr lang="en-IN" dirty="0"/>
              <a:t>    </a:t>
            </a:r>
            <a:r>
              <a:rPr lang="en-IN" dirty="0" err="1"/>
              <a:t>printf</a:t>
            </a:r>
            <a:r>
              <a:rPr lang="en-IN" dirty="0"/>
              <a:t>("Marks secured:\n");</a:t>
            </a:r>
          </a:p>
          <a:p>
            <a:r>
              <a:rPr lang="en-IN" dirty="0"/>
              <a:t>    int </a:t>
            </a:r>
            <a:r>
              <a:rPr lang="en-IN" dirty="0" err="1"/>
              <a:t>i</a:t>
            </a:r>
            <a:r>
              <a:rPr lang="en-IN" dirty="0"/>
              <a:t>;</a:t>
            </a:r>
          </a:p>
          <a:p>
            <a:r>
              <a:rPr lang="en-IN" dirty="0"/>
              <a:t>    int </a:t>
            </a:r>
            <a:r>
              <a:rPr lang="en-IN" dirty="0" err="1"/>
              <a:t>len</a:t>
            </a:r>
            <a:r>
              <a:rPr lang="en-IN" dirty="0"/>
              <a:t> = </a:t>
            </a:r>
            <a:r>
              <a:rPr lang="en-IN" dirty="0" err="1"/>
              <a:t>sizeof</a:t>
            </a:r>
            <a:r>
              <a:rPr lang="en-IN" dirty="0"/>
              <a:t>(a1.marks) / </a:t>
            </a:r>
            <a:r>
              <a:rPr lang="en-IN" dirty="0" err="1"/>
              <a:t>sizeof</a:t>
            </a:r>
            <a:r>
              <a:rPr lang="en-IN" dirty="0"/>
              <a:t>(float);</a:t>
            </a:r>
          </a:p>
          <a:p>
            <a:r>
              <a:rPr lang="en-IN" dirty="0"/>
              <a:t> </a:t>
            </a:r>
          </a:p>
          <a:p>
            <a:r>
              <a:rPr lang="en-IN" dirty="0"/>
              <a:t>    // Accessing the contents of the</a:t>
            </a:r>
          </a:p>
          <a:p>
            <a:r>
              <a:rPr lang="en-IN" dirty="0"/>
              <a:t>    // array within the structure</a:t>
            </a:r>
          </a:p>
          <a:p>
            <a:r>
              <a:rPr lang="en-IN" dirty="0"/>
              <a:t>    for (</a:t>
            </a:r>
            <a:r>
              <a:rPr lang="en-IN" dirty="0" err="1"/>
              <a:t>i</a:t>
            </a:r>
            <a:r>
              <a:rPr lang="en-IN" dirty="0"/>
              <a:t> = 0; </a:t>
            </a:r>
            <a:r>
              <a:rPr lang="en-IN" dirty="0" err="1"/>
              <a:t>i</a:t>
            </a:r>
            <a:r>
              <a:rPr lang="en-IN" dirty="0"/>
              <a:t> &lt; </a:t>
            </a:r>
            <a:r>
              <a:rPr lang="en-IN" dirty="0" err="1"/>
              <a:t>len</a:t>
            </a:r>
            <a:r>
              <a:rPr lang="en-IN" dirty="0"/>
              <a:t>; </a:t>
            </a:r>
            <a:r>
              <a:rPr lang="en-IN" dirty="0" err="1"/>
              <a:t>i</a:t>
            </a:r>
            <a:r>
              <a:rPr lang="en-IN" dirty="0"/>
              <a:t>++) {</a:t>
            </a:r>
          </a:p>
          <a:p>
            <a:r>
              <a:rPr lang="en-IN" dirty="0"/>
              <a:t>        </a:t>
            </a:r>
            <a:r>
              <a:rPr lang="en-IN" dirty="0" err="1"/>
              <a:t>printf</a:t>
            </a:r>
            <a:r>
              <a:rPr lang="en-IN" dirty="0"/>
              <a:t>("Subject %d : %.2f\n",</a:t>
            </a:r>
          </a:p>
          <a:p>
            <a:r>
              <a:rPr lang="en-IN" dirty="0"/>
              <a:t>               </a:t>
            </a:r>
            <a:r>
              <a:rPr lang="en-IN" dirty="0" err="1"/>
              <a:t>i</a:t>
            </a:r>
            <a:r>
              <a:rPr lang="en-IN" dirty="0"/>
              <a:t> + 1, a1.marks[</a:t>
            </a:r>
            <a:r>
              <a:rPr lang="en-IN" dirty="0" err="1"/>
              <a:t>i</a:t>
            </a:r>
            <a:r>
              <a:rPr lang="en-IN" dirty="0"/>
              <a:t>]);</a:t>
            </a:r>
          </a:p>
          <a:p>
            <a:r>
              <a:rPr lang="en-IN" dirty="0"/>
              <a:t>    }</a:t>
            </a:r>
          </a:p>
          <a:p>
            <a:r>
              <a:rPr lang="en-IN" dirty="0"/>
              <a:t>}</a:t>
            </a:r>
          </a:p>
        </p:txBody>
      </p:sp>
    </p:spTree>
    <p:extLst>
      <p:ext uri="{BB962C8B-B14F-4D97-AF65-F5344CB8AC3E}">
        <p14:creationId xmlns:p14="http://schemas.microsoft.com/office/powerpoint/2010/main" val="2343185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08AD44-CB6C-349B-C5A7-24852FF176A8}"/>
              </a:ext>
            </a:extLst>
          </p:cNvPr>
          <p:cNvSpPr txBox="1"/>
          <p:nvPr/>
        </p:nvSpPr>
        <p:spPr>
          <a:xfrm>
            <a:off x="1403648" y="1859340"/>
            <a:ext cx="6336704" cy="3139321"/>
          </a:xfrm>
          <a:prstGeom prst="rect">
            <a:avLst/>
          </a:prstGeom>
          <a:noFill/>
        </p:spPr>
        <p:txBody>
          <a:bodyPr wrap="square">
            <a:spAutoFit/>
          </a:bodyPr>
          <a:lstStyle/>
          <a:p>
            <a:r>
              <a:rPr lang="en-IN" dirty="0"/>
              <a:t>// Driver Code</a:t>
            </a:r>
          </a:p>
          <a:p>
            <a:r>
              <a:rPr lang="en-IN" dirty="0"/>
              <a:t>int main()</a:t>
            </a:r>
          </a:p>
          <a:p>
            <a:r>
              <a:rPr lang="en-IN" dirty="0"/>
              <a:t>{</a:t>
            </a:r>
          </a:p>
          <a:p>
            <a:r>
              <a:rPr lang="en-IN" dirty="0"/>
              <a:t>    // Initialize a structure</a:t>
            </a:r>
          </a:p>
          <a:p>
            <a:r>
              <a:rPr lang="en-IN" dirty="0"/>
              <a:t>    struct candidate A</a:t>
            </a:r>
          </a:p>
          <a:p>
            <a:r>
              <a:rPr lang="en-IN" dirty="0"/>
              <a:t>        = { 1, 'A', { 98.5, 77, 89, 78.5 } };</a:t>
            </a:r>
          </a:p>
          <a:p>
            <a:r>
              <a:rPr lang="en-IN" dirty="0"/>
              <a:t> </a:t>
            </a:r>
          </a:p>
          <a:p>
            <a:r>
              <a:rPr lang="en-IN" dirty="0"/>
              <a:t>    // Function to display structure</a:t>
            </a:r>
          </a:p>
          <a:p>
            <a:r>
              <a:rPr lang="en-IN" dirty="0"/>
              <a:t>    display(A);</a:t>
            </a:r>
          </a:p>
          <a:p>
            <a:r>
              <a:rPr lang="en-IN" dirty="0"/>
              <a:t>    return 0;</a:t>
            </a:r>
          </a:p>
          <a:p>
            <a:r>
              <a:rPr lang="en-IN" dirty="0"/>
              <a:t>}</a:t>
            </a:r>
          </a:p>
        </p:txBody>
      </p:sp>
    </p:spTree>
    <p:extLst>
      <p:ext uri="{BB962C8B-B14F-4D97-AF65-F5344CB8AC3E}">
        <p14:creationId xmlns:p14="http://schemas.microsoft.com/office/powerpoint/2010/main" val="2152474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D75C2-B76B-7904-76F1-2842BD2B08C7}"/>
              </a:ext>
            </a:extLst>
          </p:cNvPr>
          <p:cNvSpPr>
            <a:spLocks noGrp="1"/>
          </p:cNvSpPr>
          <p:nvPr>
            <p:ph type="title"/>
          </p:nvPr>
        </p:nvSpPr>
        <p:spPr/>
        <p:txBody>
          <a:bodyPr/>
          <a:lstStyle/>
          <a:p>
            <a:r>
              <a:rPr lang="en-IN" dirty="0"/>
              <a:t>Array of Structures</a:t>
            </a:r>
          </a:p>
        </p:txBody>
      </p:sp>
      <p:sp>
        <p:nvSpPr>
          <p:cNvPr id="3" name="Content Placeholder 2">
            <a:extLst>
              <a:ext uri="{FF2B5EF4-FFF2-40B4-BE49-F238E27FC236}">
                <a16:creationId xmlns:a16="http://schemas.microsoft.com/office/drawing/2014/main" id="{9A099F84-7F06-D9F1-2826-06A76925BF8B}"/>
              </a:ext>
            </a:extLst>
          </p:cNvPr>
          <p:cNvSpPr>
            <a:spLocks noGrp="1"/>
          </p:cNvSpPr>
          <p:nvPr>
            <p:ph idx="1"/>
          </p:nvPr>
        </p:nvSpPr>
        <p:spPr>
          <a:xfrm>
            <a:off x="323528" y="832148"/>
            <a:ext cx="8229600" cy="4525963"/>
          </a:xfrm>
        </p:spPr>
        <p:txBody>
          <a:bodyPr/>
          <a:lstStyle/>
          <a:p>
            <a:pPr marL="0" indent="0">
              <a:buNone/>
            </a:pPr>
            <a:r>
              <a:rPr lang="en-US" dirty="0"/>
              <a:t>// C program to demonstrate the</a:t>
            </a:r>
          </a:p>
          <a:p>
            <a:pPr marL="0" indent="0">
              <a:buNone/>
            </a:pPr>
            <a:r>
              <a:rPr lang="en-US" dirty="0"/>
              <a:t>// usage of an array of structures</a:t>
            </a:r>
          </a:p>
          <a:p>
            <a:pPr marL="0" indent="0">
              <a:buNone/>
            </a:pPr>
            <a:r>
              <a:rPr lang="en-US" dirty="0"/>
              <a:t>#include &lt;</a:t>
            </a:r>
            <a:r>
              <a:rPr lang="en-US" dirty="0" err="1"/>
              <a:t>stdio.h</a:t>
            </a:r>
            <a:r>
              <a:rPr lang="en-US" dirty="0"/>
              <a:t>&gt;</a:t>
            </a:r>
          </a:p>
          <a:p>
            <a:pPr marL="0" indent="0">
              <a:buNone/>
            </a:pPr>
            <a:r>
              <a:rPr lang="en-US" dirty="0"/>
              <a:t> </a:t>
            </a:r>
          </a:p>
          <a:p>
            <a:pPr marL="0" indent="0">
              <a:buNone/>
            </a:pPr>
            <a:r>
              <a:rPr lang="en-US" dirty="0"/>
              <a:t>// Declaring a structure class</a:t>
            </a:r>
          </a:p>
          <a:p>
            <a:pPr marL="0" indent="0">
              <a:buNone/>
            </a:pPr>
            <a:r>
              <a:rPr lang="en-US" dirty="0"/>
              <a:t>struct class {</a:t>
            </a:r>
          </a:p>
          <a:p>
            <a:pPr marL="0" indent="0">
              <a:buNone/>
            </a:pPr>
            <a:r>
              <a:rPr lang="en-US" dirty="0"/>
              <a:t>    int </a:t>
            </a:r>
            <a:r>
              <a:rPr lang="en-US" dirty="0" err="1"/>
              <a:t>roll_no</a:t>
            </a:r>
            <a:r>
              <a:rPr lang="en-US" dirty="0"/>
              <a:t>;</a:t>
            </a:r>
          </a:p>
          <a:p>
            <a:pPr marL="0" indent="0">
              <a:buNone/>
            </a:pPr>
            <a:r>
              <a:rPr lang="en-US" dirty="0"/>
              <a:t>    char grade;</a:t>
            </a:r>
          </a:p>
          <a:p>
            <a:pPr marL="0" indent="0">
              <a:buNone/>
            </a:pPr>
            <a:r>
              <a:rPr lang="en-US" dirty="0"/>
              <a:t>    float marks;</a:t>
            </a:r>
          </a:p>
          <a:p>
            <a:pPr marL="0" indent="0">
              <a:buNone/>
            </a:pPr>
            <a:r>
              <a:rPr lang="en-US" dirty="0"/>
              <a:t>};</a:t>
            </a:r>
            <a:endParaRPr lang="en-IN" dirty="0"/>
          </a:p>
        </p:txBody>
      </p:sp>
    </p:spTree>
    <p:extLst>
      <p:ext uri="{BB962C8B-B14F-4D97-AF65-F5344CB8AC3E}">
        <p14:creationId xmlns:p14="http://schemas.microsoft.com/office/powerpoint/2010/main" val="1660812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AB3896-9635-AA40-1C2D-DB12161CCC00}"/>
              </a:ext>
            </a:extLst>
          </p:cNvPr>
          <p:cNvSpPr txBox="1"/>
          <p:nvPr/>
        </p:nvSpPr>
        <p:spPr>
          <a:xfrm>
            <a:off x="1043608" y="751344"/>
            <a:ext cx="6768752" cy="5355312"/>
          </a:xfrm>
          <a:prstGeom prst="rect">
            <a:avLst/>
          </a:prstGeom>
          <a:noFill/>
        </p:spPr>
        <p:txBody>
          <a:bodyPr wrap="square">
            <a:spAutoFit/>
          </a:bodyPr>
          <a:lstStyle/>
          <a:p>
            <a:r>
              <a:rPr lang="en-IN" dirty="0"/>
              <a:t>// Function to displays the contents</a:t>
            </a:r>
          </a:p>
          <a:p>
            <a:r>
              <a:rPr lang="en-IN" dirty="0"/>
              <a:t>// of the array of structures</a:t>
            </a:r>
          </a:p>
          <a:p>
            <a:r>
              <a:rPr lang="en-IN" dirty="0"/>
              <a:t>void display(struct class </a:t>
            </a:r>
            <a:r>
              <a:rPr lang="en-IN" dirty="0" err="1"/>
              <a:t>class_record</a:t>
            </a:r>
            <a:r>
              <a:rPr lang="en-IN" dirty="0"/>
              <a:t>[3])</a:t>
            </a:r>
          </a:p>
          <a:p>
            <a:r>
              <a:rPr lang="en-IN" dirty="0"/>
              <a:t>{</a:t>
            </a:r>
          </a:p>
          <a:p>
            <a:r>
              <a:rPr lang="en-IN" dirty="0"/>
              <a:t>    int </a:t>
            </a:r>
            <a:r>
              <a:rPr lang="en-IN" dirty="0" err="1"/>
              <a:t>i</a:t>
            </a:r>
            <a:r>
              <a:rPr lang="en-IN" dirty="0"/>
              <a:t>, </a:t>
            </a:r>
            <a:r>
              <a:rPr lang="en-IN" dirty="0" err="1"/>
              <a:t>len</a:t>
            </a:r>
            <a:r>
              <a:rPr lang="en-IN" dirty="0"/>
              <a:t> = 3;</a:t>
            </a:r>
          </a:p>
          <a:p>
            <a:r>
              <a:rPr lang="en-IN" dirty="0"/>
              <a:t> </a:t>
            </a:r>
          </a:p>
          <a:p>
            <a:r>
              <a:rPr lang="en-IN" dirty="0"/>
              <a:t>    // Display the contents of the array</a:t>
            </a:r>
          </a:p>
          <a:p>
            <a:r>
              <a:rPr lang="en-IN" dirty="0"/>
              <a:t>    // of structures here, each element</a:t>
            </a:r>
          </a:p>
          <a:p>
            <a:r>
              <a:rPr lang="en-IN" dirty="0"/>
              <a:t>    // of the array is a structure of class</a:t>
            </a:r>
          </a:p>
          <a:p>
            <a:r>
              <a:rPr lang="en-IN" dirty="0"/>
              <a:t>    for (</a:t>
            </a:r>
            <a:r>
              <a:rPr lang="en-IN" dirty="0" err="1"/>
              <a:t>i</a:t>
            </a:r>
            <a:r>
              <a:rPr lang="en-IN" dirty="0"/>
              <a:t> = 0; </a:t>
            </a:r>
            <a:r>
              <a:rPr lang="en-IN" dirty="0" err="1"/>
              <a:t>i</a:t>
            </a:r>
            <a:r>
              <a:rPr lang="en-IN" dirty="0"/>
              <a:t> &lt; </a:t>
            </a:r>
            <a:r>
              <a:rPr lang="en-IN" dirty="0" err="1"/>
              <a:t>len</a:t>
            </a:r>
            <a:r>
              <a:rPr lang="en-IN" dirty="0"/>
              <a:t>; </a:t>
            </a:r>
            <a:r>
              <a:rPr lang="en-IN" dirty="0" err="1"/>
              <a:t>i</a:t>
            </a:r>
            <a:r>
              <a:rPr lang="en-IN" dirty="0"/>
              <a:t>++) {</a:t>
            </a:r>
          </a:p>
          <a:p>
            <a:r>
              <a:rPr lang="en-IN" dirty="0"/>
              <a:t>        </a:t>
            </a:r>
            <a:r>
              <a:rPr lang="en-IN" dirty="0" err="1"/>
              <a:t>printf</a:t>
            </a:r>
            <a:r>
              <a:rPr lang="en-IN" dirty="0"/>
              <a:t>("Roll number : %d\n",</a:t>
            </a:r>
          </a:p>
          <a:p>
            <a:r>
              <a:rPr lang="en-IN" dirty="0"/>
              <a:t>               </a:t>
            </a:r>
            <a:r>
              <a:rPr lang="en-IN" dirty="0" err="1"/>
              <a:t>class_record</a:t>
            </a:r>
            <a:r>
              <a:rPr lang="en-IN" dirty="0"/>
              <a:t>[</a:t>
            </a:r>
            <a:r>
              <a:rPr lang="en-IN" dirty="0" err="1"/>
              <a:t>i</a:t>
            </a:r>
            <a:r>
              <a:rPr lang="en-IN" dirty="0"/>
              <a:t>].</a:t>
            </a:r>
            <a:r>
              <a:rPr lang="en-IN" dirty="0" err="1"/>
              <a:t>roll_no</a:t>
            </a:r>
            <a:r>
              <a:rPr lang="en-IN" dirty="0"/>
              <a:t>);</a:t>
            </a:r>
          </a:p>
          <a:p>
            <a:r>
              <a:rPr lang="en-IN" dirty="0"/>
              <a:t>        </a:t>
            </a:r>
            <a:r>
              <a:rPr lang="en-IN" dirty="0" err="1"/>
              <a:t>printf</a:t>
            </a:r>
            <a:r>
              <a:rPr lang="en-IN" dirty="0"/>
              <a:t>("Grade : %c\n",</a:t>
            </a:r>
          </a:p>
          <a:p>
            <a:r>
              <a:rPr lang="en-IN" dirty="0"/>
              <a:t>               </a:t>
            </a:r>
            <a:r>
              <a:rPr lang="en-IN" dirty="0" err="1"/>
              <a:t>class_record</a:t>
            </a:r>
            <a:r>
              <a:rPr lang="en-IN" dirty="0"/>
              <a:t>[</a:t>
            </a:r>
            <a:r>
              <a:rPr lang="en-IN" dirty="0" err="1"/>
              <a:t>i</a:t>
            </a:r>
            <a:r>
              <a:rPr lang="en-IN" dirty="0"/>
              <a:t>].grade);</a:t>
            </a:r>
          </a:p>
          <a:p>
            <a:r>
              <a:rPr lang="en-IN" dirty="0"/>
              <a:t>        </a:t>
            </a:r>
            <a:r>
              <a:rPr lang="en-IN" dirty="0" err="1"/>
              <a:t>printf</a:t>
            </a:r>
            <a:r>
              <a:rPr lang="en-IN" dirty="0"/>
              <a:t>("Average marks : %.2f\n",</a:t>
            </a:r>
          </a:p>
          <a:p>
            <a:r>
              <a:rPr lang="en-IN" dirty="0"/>
              <a:t>               </a:t>
            </a:r>
            <a:r>
              <a:rPr lang="en-IN" dirty="0" err="1"/>
              <a:t>class_record</a:t>
            </a:r>
            <a:r>
              <a:rPr lang="en-IN" dirty="0"/>
              <a:t>[</a:t>
            </a:r>
            <a:r>
              <a:rPr lang="en-IN" dirty="0" err="1"/>
              <a:t>i</a:t>
            </a:r>
            <a:r>
              <a:rPr lang="en-IN" dirty="0"/>
              <a:t>].marks);</a:t>
            </a:r>
          </a:p>
          <a:p>
            <a:r>
              <a:rPr lang="en-IN" dirty="0"/>
              <a:t>        </a:t>
            </a:r>
            <a:r>
              <a:rPr lang="en-IN" dirty="0" err="1"/>
              <a:t>printf</a:t>
            </a:r>
            <a:r>
              <a:rPr lang="en-IN" dirty="0"/>
              <a:t>("\n");</a:t>
            </a:r>
          </a:p>
          <a:p>
            <a:r>
              <a:rPr lang="en-IN" dirty="0"/>
              <a:t>    }</a:t>
            </a:r>
          </a:p>
          <a:p>
            <a:r>
              <a:rPr lang="en-IN" dirty="0"/>
              <a:t>}</a:t>
            </a:r>
          </a:p>
        </p:txBody>
      </p:sp>
    </p:spTree>
    <p:extLst>
      <p:ext uri="{BB962C8B-B14F-4D97-AF65-F5344CB8AC3E}">
        <p14:creationId xmlns:p14="http://schemas.microsoft.com/office/powerpoint/2010/main" val="10429199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8AE878-7BB2-1B46-815F-5FF2E9654597}"/>
              </a:ext>
            </a:extLst>
          </p:cNvPr>
          <p:cNvSpPr txBox="1"/>
          <p:nvPr/>
        </p:nvSpPr>
        <p:spPr>
          <a:xfrm>
            <a:off x="1115616" y="1443841"/>
            <a:ext cx="6192688" cy="3970318"/>
          </a:xfrm>
          <a:prstGeom prst="rect">
            <a:avLst/>
          </a:prstGeom>
          <a:noFill/>
        </p:spPr>
        <p:txBody>
          <a:bodyPr wrap="square">
            <a:spAutoFit/>
          </a:bodyPr>
          <a:lstStyle/>
          <a:p>
            <a:r>
              <a:rPr lang="en-IN" dirty="0"/>
              <a:t>// Driver Code</a:t>
            </a:r>
          </a:p>
          <a:p>
            <a:r>
              <a:rPr lang="en-IN" dirty="0"/>
              <a:t>int main()</a:t>
            </a:r>
          </a:p>
          <a:p>
            <a:r>
              <a:rPr lang="en-IN" dirty="0"/>
              <a:t>{</a:t>
            </a:r>
          </a:p>
          <a:p>
            <a:r>
              <a:rPr lang="en-IN" dirty="0"/>
              <a:t>    // Initialize of an array of structures</a:t>
            </a:r>
          </a:p>
          <a:p>
            <a:r>
              <a:rPr lang="en-IN" dirty="0"/>
              <a:t>    struct class </a:t>
            </a:r>
            <a:r>
              <a:rPr lang="en-IN" dirty="0" err="1"/>
              <a:t>class_record</a:t>
            </a:r>
            <a:r>
              <a:rPr lang="en-IN" dirty="0"/>
              <a:t>[3]</a:t>
            </a:r>
          </a:p>
          <a:p>
            <a:r>
              <a:rPr lang="en-IN" dirty="0"/>
              <a:t>        = { { 1, 'A', 89.5f },</a:t>
            </a:r>
          </a:p>
          <a:p>
            <a:r>
              <a:rPr lang="en-IN" dirty="0"/>
              <a:t>            { 2, 'C', 67.5f },</a:t>
            </a:r>
          </a:p>
          <a:p>
            <a:r>
              <a:rPr lang="en-IN" dirty="0"/>
              <a:t>            { 3, 'B', 70.5f } };</a:t>
            </a:r>
          </a:p>
          <a:p>
            <a:r>
              <a:rPr lang="en-IN" dirty="0"/>
              <a:t> </a:t>
            </a:r>
          </a:p>
          <a:p>
            <a:r>
              <a:rPr lang="en-IN" dirty="0"/>
              <a:t>    // Function Call to display</a:t>
            </a:r>
          </a:p>
          <a:p>
            <a:r>
              <a:rPr lang="en-IN" dirty="0"/>
              <a:t>    // the </a:t>
            </a:r>
            <a:r>
              <a:rPr lang="en-IN" dirty="0" err="1"/>
              <a:t>class_record</a:t>
            </a:r>
            <a:endParaRPr lang="en-IN" dirty="0"/>
          </a:p>
          <a:p>
            <a:r>
              <a:rPr lang="en-IN" dirty="0"/>
              <a:t>    display(</a:t>
            </a:r>
            <a:r>
              <a:rPr lang="en-IN" dirty="0" err="1"/>
              <a:t>class_record</a:t>
            </a:r>
            <a:r>
              <a:rPr lang="en-IN" dirty="0"/>
              <a:t>);</a:t>
            </a:r>
          </a:p>
          <a:p>
            <a:r>
              <a:rPr lang="en-IN" dirty="0"/>
              <a:t>    return 0;</a:t>
            </a:r>
          </a:p>
          <a:p>
            <a:r>
              <a:rPr lang="en-IN" dirty="0"/>
              <a:t>}</a:t>
            </a:r>
          </a:p>
        </p:txBody>
      </p:sp>
    </p:spTree>
    <p:extLst>
      <p:ext uri="{BB962C8B-B14F-4D97-AF65-F5344CB8AC3E}">
        <p14:creationId xmlns:p14="http://schemas.microsoft.com/office/powerpoint/2010/main" val="993660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GB" altLang="en-US"/>
              <a:t>Passing to Functions</a:t>
            </a:r>
          </a:p>
        </p:txBody>
      </p:sp>
      <p:sp>
        <p:nvSpPr>
          <p:cNvPr id="23555" name="Content Placeholder 2"/>
          <p:cNvSpPr>
            <a:spLocks noGrp="1"/>
          </p:cNvSpPr>
          <p:nvPr>
            <p:ph idx="1"/>
          </p:nvPr>
        </p:nvSpPr>
        <p:spPr>
          <a:xfrm>
            <a:off x="457200" y="1600200"/>
            <a:ext cx="8229600" cy="3971925"/>
          </a:xfrm>
        </p:spPr>
        <p:txBody>
          <a:bodyPr/>
          <a:lstStyle/>
          <a:p>
            <a:pPr eaLnBrk="1" hangingPunct="1">
              <a:lnSpc>
                <a:spcPct val="150000"/>
              </a:lnSpc>
            </a:pPr>
            <a:r>
              <a:rPr lang="en-GB" altLang="en-US"/>
              <a:t>Default is passed by value</a:t>
            </a:r>
          </a:p>
          <a:p>
            <a:pPr eaLnBrk="1" hangingPunct="1">
              <a:lnSpc>
                <a:spcPct val="150000"/>
              </a:lnSpc>
            </a:pPr>
            <a:r>
              <a:rPr lang="en-GB" altLang="en-US"/>
              <a:t>What about array in a structure?</a:t>
            </a:r>
          </a:p>
          <a:p>
            <a:pPr eaLnBrk="1" hangingPunct="1">
              <a:lnSpc>
                <a:spcPct val="150000"/>
              </a:lnSpc>
            </a:pPr>
            <a:r>
              <a:rPr lang="en-GB" altLang="en-US"/>
              <a:t>Passed by value – Only...</a:t>
            </a:r>
          </a:p>
          <a:p>
            <a:pPr eaLnBrk="1" hangingPunct="1">
              <a:lnSpc>
                <a:spcPct val="150000"/>
              </a:lnSpc>
            </a:pPr>
            <a:r>
              <a:rPr lang="en-GB" altLang="en-US"/>
              <a:t>But array of structures is passed by reference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143000"/>
            <a:ext cx="7500938"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85813"/>
            <a:ext cx="906780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1428750"/>
            <a:ext cx="694055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46038"/>
            <a:ext cx="6643687"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671C95-69BF-0A11-7080-F00A85E438F3}"/>
              </a:ext>
            </a:extLst>
          </p:cNvPr>
          <p:cNvPicPr>
            <a:picLocks noChangeAspect="1"/>
          </p:cNvPicPr>
          <p:nvPr/>
        </p:nvPicPr>
        <p:blipFill>
          <a:blip r:embed="rId2"/>
          <a:stretch>
            <a:fillRect/>
          </a:stretch>
        </p:blipFill>
        <p:spPr>
          <a:xfrm>
            <a:off x="899592" y="1304925"/>
            <a:ext cx="6596583" cy="424815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142875"/>
            <a:ext cx="8229600" cy="796925"/>
          </a:xfrm>
        </p:spPr>
        <p:txBody>
          <a:bodyPr/>
          <a:lstStyle/>
          <a:p>
            <a:pPr eaLnBrk="1" hangingPunct="1"/>
            <a:r>
              <a:rPr lang="en-GB" altLang="en-US"/>
              <a:t>Surprise Gift Problem</a:t>
            </a:r>
          </a:p>
        </p:txBody>
      </p:sp>
      <p:sp>
        <p:nvSpPr>
          <p:cNvPr id="32771" name="Content Placeholder 2"/>
          <p:cNvSpPr>
            <a:spLocks noGrp="1"/>
          </p:cNvSpPr>
          <p:nvPr>
            <p:ph idx="1"/>
          </p:nvPr>
        </p:nvSpPr>
        <p:spPr>
          <a:xfrm>
            <a:off x="214313" y="1000125"/>
            <a:ext cx="8686800" cy="5429250"/>
          </a:xfrm>
        </p:spPr>
        <p:txBody>
          <a:bodyPr/>
          <a:lstStyle/>
          <a:p>
            <a:pPr algn="just" eaLnBrk="1" hangingPunct="1">
              <a:buFont typeface="Arial" charset="0"/>
              <a:buNone/>
            </a:pPr>
            <a:r>
              <a:rPr lang="en-GB" altLang="en-US"/>
              <a:t>	Details of employees (emp ID, name, joining date and mobile number) of a company is stored and maintained by the company’s IT department. On his birthday, the GM of the company wants to give a surprise gift of Rs.5000 for his employees who joined before 01/01/2010 and whose employee id is divisible by 5. Develop an algorithm and write a C program to display the name of the employees who are eligible to receive the gift and their mobile number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57200" y="142875"/>
            <a:ext cx="8229600" cy="796925"/>
          </a:xfrm>
        </p:spPr>
        <p:txBody>
          <a:bodyPr/>
          <a:lstStyle/>
          <a:p>
            <a:pPr eaLnBrk="1" hangingPunct="1"/>
            <a:r>
              <a:rPr lang="en-GB" altLang="en-US"/>
              <a:t>Algorithm for Surprise Gift Problem</a:t>
            </a:r>
          </a:p>
        </p:txBody>
      </p:sp>
      <p:sp>
        <p:nvSpPr>
          <p:cNvPr id="3" name="Content Placeholder 2"/>
          <p:cNvSpPr>
            <a:spLocks noGrp="1"/>
          </p:cNvSpPr>
          <p:nvPr>
            <p:ph idx="1"/>
          </p:nvPr>
        </p:nvSpPr>
        <p:spPr>
          <a:xfrm>
            <a:off x="214313" y="1000125"/>
            <a:ext cx="8686800" cy="5429250"/>
          </a:xfrm>
        </p:spPr>
        <p:txBody>
          <a:bodyPr rtlCol="0">
            <a:normAutofit fontScale="92500" lnSpcReduction="10000"/>
          </a:bodyPr>
          <a:lstStyle/>
          <a:p>
            <a:pPr marL="514350" indent="-514350" algn="just" eaLnBrk="1" fontAlgn="auto" hangingPunct="1">
              <a:lnSpc>
                <a:spcPct val="150000"/>
              </a:lnSpc>
              <a:spcAft>
                <a:spcPts val="0"/>
              </a:spcAft>
              <a:buFont typeface="+mj-lt"/>
              <a:buAutoNum type="arabicPeriod"/>
              <a:defRPr/>
            </a:pPr>
            <a:r>
              <a:rPr lang="en-GB" dirty="0"/>
              <a:t>Read the number of employees</a:t>
            </a:r>
          </a:p>
          <a:p>
            <a:pPr marL="514350" indent="-514350" algn="just" eaLnBrk="1" fontAlgn="auto" hangingPunct="1">
              <a:lnSpc>
                <a:spcPct val="150000"/>
              </a:lnSpc>
              <a:spcAft>
                <a:spcPts val="0"/>
              </a:spcAft>
              <a:buFont typeface="+mj-lt"/>
              <a:buAutoNum type="arabicPeriod"/>
              <a:defRPr/>
            </a:pPr>
            <a:r>
              <a:rPr lang="en-GB" dirty="0"/>
              <a:t>Read the details of the employees</a:t>
            </a:r>
          </a:p>
          <a:p>
            <a:pPr marL="514350" indent="-514350" algn="just" eaLnBrk="1" fontAlgn="auto" hangingPunct="1">
              <a:lnSpc>
                <a:spcPct val="150000"/>
              </a:lnSpc>
              <a:spcAft>
                <a:spcPts val="0"/>
              </a:spcAft>
              <a:buFont typeface="+mj-lt"/>
              <a:buAutoNum type="arabicPeriod"/>
              <a:defRPr/>
            </a:pPr>
            <a:r>
              <a:rPr lang="en-GB" dirty="0"/>
              <a:t>Traverse the employee records </a:t>
            </a:r>
          </a:p>
          <a:p>
            <a:pPr marL="1028700" lvl="1" indent="-571500" algn="just" eaLnBrk="1" fontAlgn="auto" hangingPunct="1">
              <a:lnSpc>
                <a:spcPct val="150000"/>
              </a:lnSpc>
              <a:spcAft>
                <a:spcPts val="0"/>
              </a:spcAft>
              <a:buFont typeface="+mj-lt"/>
              <a:buAutoNum type="romanUcPeriod"/>
              <a:defRPr/>
            </a:pPr>
            <a:r>
              <a:rPr lang="en-GB" dirty="0"/>
              <a:t>Check if </a:t>
            </a:r>
            <a:r>
              <a:rPr lang="en-GB" dirty="0" err="1"/>
              <a:t>emp</a:t>
            </a:r>
            <a:r>
              <a:rPr lang="en-GB" dirty="0"/>
              <a:t> id is divisible by 5</a:t>
            </a:r>
          </a:p>
          <a:p>
            <a:pPr marL="1028700" lvl="1" indent="-571500" algn="just" eaLnBrk="1" fontAlgn="auto" hangingPunct="1">
              <a:lnSpc>
                <a:spcPct val="150000"/>
              </a:lnSpc>
              <a:spcAft>
                <a:spcPts val="0"/>
              </a:spcAft>
              <a:buFont typeface="+mj-lt"/>
              <a:buAutoNum type="romanUcPeriod"/>
              <a:defRPr/>
            </a:pPr>
            <a:r>
              <a:rPr lang="en-GB" dirty="0"/>
              <a:t>If it is divisible then check if the employee has joined the company before 01/01/2010</a:t>
            </a:r>
          </a:p>
          <a:p>
            <a:pPr marL="1028700" lvl="1" indent="-571500" algn="just" eaLnBrk="1" fontAlgn="auto" hangingPunct="1">
              <a:lnSpc>
                <a:spcPct val="150000"/>
              </a:lnSpc>
              <a:spcAft>
                <a:spcPts val="0"/>
              </a:spcAft>
              <a:buFont typeface="+mj-lt"/>
              <a:buAutoNum type="romanUcPeriod"/>
              <a:defRPr/>
            </a:pPr>
            <a:r>
              <a:rPr lang="en-GB" dirty="0"/>
              <a:t>Display employee names and mobile numbers of employees if condition satisfied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GB" altLang="en-US"/>
              <a:t>Implementation in C</a:t>
            </a:r>
          </a:p>
        </p:txBody>
      </p:sp>
      <p:sp>
        <p:nvSpPr>
          <p:cNvPr id="34819" name="Content Placeholder 2"/>
          <p:cNvSpPr>
            <a:spLocks noGrp="1"/>
          </p:cNvSpPr>
          <p:nvPr>
            <p:ph idx="1"/>
          </p:nvPr>
        </p:nvSpPr>
        <p:spPr>
          <a:xfrm>
            <a:off x="457200" y="1214438"/>
            <a:ext cx="8229600" cy="4911725"/>
          </a:xfrm>
        </p:spPr>
        <p:txBody>
          <a:bodyPr/>
          <a:lstStyle/>
          <a:p>
            <a:pPr eaLnBrk="1" hangingPunct="1">
              <a:lnSpc>
                <a:spcPct val="150000"/>
              </a:lnSpc>
            </a:pPr>
            <a:r>
              <a:rPr lang="en-GB" altLang="en-US"/>
              <a:t>We have to store employee id, name, date of joining and mobile number</a:t>
            </a:r>
          </a:p>
          <a:p>
            <a:pPr eaLnBrk="1" hangingPunct="1">
              <a:lnSpc>
                <a:spcPct val="150000"/>
              </a:lnSpc>
            </a:pPr>
            <a:r>
              <a:rPr lang="en-GB" altLang="en-US"/>
              <a:t>Date of joining has to be stored as date an user defined data type</a:t>
            </a:r>
          </a:p>
          <a:p>
            <a:pPr eaLnBrk="1" hangingPunct="1">
              <a:lnSpc>
                <a:spcPct val="150000"/>
              </a:lnSpc>
            </a:pPr>
            <a:r>
              <a:rPr lang="en-GB" altLang="en-US"/>
              <a:t>So we have to include a structure variable as member of structure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GB" altLang="en-US"/>
              <a:t>Nested Structures in C</a:t>
            </a:r>
          </a:p>
        </p:txBody>
      </p:sp>
      <p:sp>
        <p:nvSpPr>
          <p:cNvPr id="35843" name="Content Placeholder 2"/>
          <p:cNvSpPr>
            <a:spLocks noGrp="1"/>
          </p:cNvSpPr>
          <p:nvPr>
            <p:ph idx="1"/>
          </p:nvPr>
        </p:nvSpPr>
        <p:spPr>
          <a:xfrm>
            <a:off x="457200" y="1214438"/>
            <a:ext cx="8229600" cy="1571625"/>
          </a:xfrm>
        </p:spPr>
        <p:txBody>
          <a:bodyPr/>
          <a:lstStyle/>
          <a:p>
            <a:pPr eaLnBrk="1" hangingPunct="1">
              <a:lnSpc>
                <a:spcPct val="150000"/>
              </a:lnSpc>
            </a:pPr>
            <a:r>
              <a:rPr lang="en-GB" altLang="en-US"/>
              <a:t>A structure variable can be placed inside another structure</a:t>
            </a:r>
          </a:p>
          <a:p>
            <a:pPr eaLnBrk="1" hangingPunct="1">
              <a:lnSpc>
                <a:spcPct val="150000"/>
              </a:lnSpc>
            </a:pPr>
            <a:endParaRPr lang="en-GB" altLang="en-US"/>
          </a:p>
        </p:txBody>
      </p:sp>
      <p:pic>
        <p:nvPicPr>
          <p:cNvPr id="3584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2795588"/>
            <a:ext cx="6286500" cy="377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GB" altLang="en-US"/>
              <a:t>Nested Structures in C</a:t>
            </a:r>
          </a:p>
        </p:txBody>
      </p:sp>
      <p:sp>
        <p:nvSpPr>
          <p:cNvPr id="36867" name="Content Placeholder 2"/>
          <p:cNvSpPr>
            <a:spLocks noGrp="1"/>
          </p:cNvSpPr>
          <p:nvPr>
            <p:ph idx="1"/>
          </p:nvPr>
        </p:nvSpPr>
        <p:spPr>
          <a:xfrm>
            <a:off x="457200" y="1214438"/>
            <a:ext cx="8229600" cy="1571625"/>
          </a:xfrm>
        </p:spPr>
        <p:txBody>
          <a:bodyPr/>
          <a:lstStyle/>
          <a:p>
            <a:pPr eaLnBrk="1" hangingPunct="1">
              <a:lnSpc>
                <a:spcPct val="150000"/>
              </a:lnSpc>
            </a:pPr>
            <a:r>
              <a:rPr lang="en-GB" altLang="en-US"/>
              <a:t>A structure variable can be placed inside another structure</a:t>
            </a:r>
          </a:p>
          <a:p>
            <a:pPr eaLnBrk="1" hangingPunct="1">
              <a:lnSpc>
                <a:spcPct val="150000"/>
              </a:lnSpc>
            </a:pPr>
            <a:endParaRPr lang="en-GB" altLang="en-US"/>
          </a:p>
        </p:txBody>
      </p:sp>
      <p:pic>
        <p:nvPicPr>
          <p:cNvPr id="3686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2795588"/>
            <a:ext cx="6286500" cy="377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785813"/>
            <a:ext cx="840105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1285875"/>
            <a:ext cx="6342062" cy="192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5" y="714375"/>
            <a:ext cx="7072313" cy="507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63" y="1000125"/>
            <a:ext cx="8810625" cy="192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357188"/>
            <a:ext cx="7643812" cy="624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 y="214313"/>
            <a:ext cx="8572500" cy="606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428625"/>
            <a:ext cx="7923212" cy="407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513" y="585788"/>
            <a:ext cx="8561387" cy="568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3" y="285750"/>
            <a:ext cx="8726487"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GB" dirty="0"/>
              <a:t>Identity Card for Railway Reservation</a:t>
            </a:r>
          </a:p>
        </p:txBody>
      </p:sp>
      <p:sp>
        <p:nvSpPr>
          <p:cNvPr id="47107" name="Content Placeholder 2"/>
          <p:cNvSpPr>
            <a:spLocks noGrp="1"/>
          </p:cNvSpPr>
          <p:nvPr>
            <p:ph idx="1"/>
          </p:nvPr>
        </p:nvSpPr>
        <p:spPr>
          <a:xfrm>
            <a:off x="457200" y="1357313"/>
            <a:ext cx="8229600" cy="4768850"/>
          </a:xfrm>
        </p:spPr>
        <p:txBody>
          <a:bodyPr/>
          <a:lstStyle/>
          <a:p>
            <a:pPr eaLnBrk="1" hangingPunct="1">
              <a:buFont typeface="Arial" charset="0"/>
              <a:buNone/>
            </a:pPr>
            <a:r>
              <a:rPr lang="en-GB" altLang="en-US"/>
              <a:t>	In railway reservation system, identity of the person is got by either aardhar card number or voter id. Given Aardhar card number as a number and voter id as a string. Write a C program to store the details of thousands of people. It is important to store such that less memory is wasted.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eaLnBrk="1" hangingPunct="1"/>
            <a:r>
              <a:rPr lang="en-GB" altLang="en-US"/>
              <a:t>Using Structures?</a:t>
            </a:r>
          </a:p>
        </p:txBody>
      </p:sp>
      <p:sp>
        <p:nvSpPr>
          <p:cNvPr id="48131" name="Content Placeholder 2"/>
          <p:cNvSpPr>
            <a:spLocks noGrp="1"/>
          </p:cNvSpPr>
          <p:nvPr>
            <p:ph idx="1"/>
          </p:nvPr>
        </p:nvSpPr>
        <p:spPr>
          <a:xfrm>
            <a:off x="457200" y="1357313"/>
            <a:ext cx="8229600" cy="5143500"/>
          </a:xfrm>
        </p:spPr>
        <p:txBody>
          <a:bodyPr/>
          <a:lstStyle/>
          <a:p>
            <a:pPr algn="just" eaLnBrk="1" hangingPunct="1">
              <a:buFont typeface="Arial" charset="0"/>
              <a:buNone/>
            </a:pPr>
            <a:r>
              <a:rPr lang="en-GB" altLang="en-US"/>
              <a:t>	Structure can be used to store the details but the memory occupied will be sum of memory required for both the fields.</a:t>
            </a:r>
          </a:p>
          <a:p>
            <a:pPr algn="just" eaLnBrk="1" hangingPunct="1">
              <a:buFont typeface="Arial" charset="0"/>
              <a:buNone/>
            </a:pPr>
            <a:r>
              <a:rPr lang="en-GB" altLang="en-US"/>
              <a:t>	A large wastage when the program is used to store details of many people</a:t>
            </a:r>
          </a:p>
          <a:p>
            <a:pPr algn="just" eaLnBrk="1" hangingPunct="1">
              <a:buFont typeface="Arial" charset="0"/>
              <a:buNone/>
            </a:pPr>
            <a:r>
              <a:rPr lang="en-GB" altLang="en-US"/>
              <a:t>	Since either one of the detail is going to be stored, it is sufficient to allocate memory for the largest member</a:t>
            </a:r>
          </a:p>
          <a:p>
            <a:pPr algn="just" eaLnBrk="1" hangingPunct="1">
              <a:buFont typeface="Arial" charset="0"/>
              <a:buNone/>
            </a:pPr>
            <a:r>
              <a:rPr lang="en-GB" altLang="en-US"/>
              <a:t>	Supported in C as Unions!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1104</TotalTime>
  <Words>2376</Words>
  <Application>Microsoft Office PowerPoint</Application>
  <PresentationFormat>On-screen Show (4:3)</PresentationFormat>
  <Paragraphs>309</Paragraphs>
  <Slides>56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Structures</vt:lpstr>
      <vt:lpstr>Structures in C</vt:lpstr>
      <vt:lpstr>Example for Structures</vt:lpstr>
      <vt:lpstr>Example for Structures</vt:lpstr>
      <vt:lpstr>Anonymous Structures – Structures without name</vt:lpstr>
      <vt:lpstr>Initialization of Structures</vt:lpstr>
      <vt:lpstr>Accessing Structure Elements </vt:lpstr>
      <vt:lpstr>Values of One Structure Variable to Another</vt:lpstr>
      <vt:lpstr>Values of One Structure Variable to Another</vt:lpstr>
      <vt:lpstr>Values of One Structure Variable to Another</vt:lpstr>
      <vt:lpstr>How Structure Elements are Stored </vt:lpstr>
      <vt:lpstr>typedef in C</vt:lpstr>
      <vt:lpstr>typedef in C</vt:lpstr>
      <vt:lpstr>Array of Structures</vt:lpstr>
      <vt:lpstr>Growth of Bacteria Problem</vt:lpstr>
      <vt:lpstr>PowerPoint Presentation</vt:lpstr>
      <vt:lpstr>Growth of Bacteria Problem</vt:lpstr>
      <vt:lpstr>Growth of Bacteria Problem(contd ..)</vt:lpstr>
      <vt:lpstr>Growth of Bacteria Problem</vt:lpstr>
      <vt:lpstr>Algorithm for Bacteria Growth Problem</vt:lpstr>
      <vt:lpstr>Implementation in C</vt:lpstr>
      <vt:lpstr>PowerPoint Presentation</vt:lpstr>
      <vt:lpstr>PowerPoint Presentation</vt:lpstr>
      <vt:lpstr>PowerPoint Presentation</vt:lpstr>
      <vt:lpstr>Structure Example with Student Case Study</vt:lpstr>
      <vt:lpstr>PowerPoint Presentation</vt:lpstr>
      <vt:lpstr>PowerPoint Presentation</vt:lpstr>
      <vt:lpstr>PowerPoint Presentation</vt:lpstr>
      <vt:lpstr>Array within Structures</vt:lpstr>
      <vt:lpstr>PowerPoint Presentation</vt:lpstr>
      <vt:lpstr>PowerPoint Presentation</vt:lpstr>
      <vt:lpstr>Array of Structures</vt:lpstr>
      <vt:lpstr>PowerPoint Presentation</vt:lpstr>
      <vt:lpstr>PowerPoint Presentation</vt:lpstr>
      <vt:lpstr>Passing to Functions</vt:lpstr>
      <vt:lpstr>PowerPoint Presentation</vt:lpstr>
      <vt:lpstr>PowerPoint Presentation</vt:lpstr>
      <vt:lpstr>PowerPoint Presentation</vt:lpstr>
      <vt:lpstr>PowerPoint Presentation</vt:lpstr>
      <vt:lpstr>PowerPoint Presentation</vt:lpstr>
      <vt:lpstr>Surprise Gift Problem</vt:lpstr>
      <vt:lpstr>Algorithm for Surprise Gift Problem</vt:lpstr>
      <vt:lpstr>Implementation in C</vt:lpstr>
      <vt:lpstr>Nested Structures in C</vt:lpstr>
      <vt:lpstr>Nested Structures in 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Identity Card for Railway Reservation</vt:lpstr>
      <vt:lpstr>Using Structures?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Padma Priya R</cp:lastModifiedBy>
  <cp:revision>339</cp:revision>
  <dcterms:created xsi:type="dcterms:W3CDTF">2016-01-17T02:54:02Z</dcterms:created>
  <dcterms:modified xsi:type="dcterms:W3CDTF">2023-04-13T04:00:51Z</dcterms:modified>
</cp:coreProperties>
</file>