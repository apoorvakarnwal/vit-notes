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317" r:id="rId4"/>
    <p:sldId id="318" r:id="rId5"/>
    <p:sldId id="265" r:id="rId6"/>
    <p:sldId id="313" r:id="rId7"/>
    <p:sldId id="314" r:id="rId8"/>
    <p:sldId id="280" r:id="rId9"/>
    <p:sldId id="281" r:id="rId10"/>
    <p:sldId id="315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B239-4184-063D-4470-9B6C83652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DA9F9-EE6D-9856-F12C-98B24001B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CC560-326B-CD8B-A8C9-FF462B40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8FCA-5648-A2CB-9BBD-A5FF226E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E4A2B-058F-DFD8-B058-CB106543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8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9A12-7414-874E-F227-53434239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6E160-2CB0-E314-45FF-03DC18F0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27A5F-D45B-B92A-1DDD-D61FE311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7E389-C6EC-B2A5-AFAC-A7904AF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829E-84F1-B8D7-B2F3-71B87D67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5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9659-F0F9-55B7-640B-253B87B8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BBD0C-7E6B-2748-247F-4AF31D88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D911-548B-D8DB-A45E-FEA931C5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44D5-AC78-A701-2F9F-B73668B4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55FF5-18D3-FA7E-C129-35E0C9F6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0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EDF0-45F8-383A-4896-7E3E7DC1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664A-0BF3-9CC6-F3B1-49872C9E5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73AB9-97B7-0AD2-CD2F-7DCFA233D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5B78-9E7F-66A6-8ECA-DE4B15B4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B018F-AAD4-2E84-8637-E22F9A2D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63EB6-5A16-DEC9-9A5A-0BE53B33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EF4A-2AB9-62D4-B34A-2C16AD7C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AE532-B8C1-2EE4-4F6C-F37D11DE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FE463-51A4-8FF2-5B3A-D1FF709A6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425BB-BC2E-8063-D4C9-6A2E3405E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B968F-3BA9-FDC1-C715-9C2A46DBD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45C10-8660-957B-7B52-774BFF17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271E5A-CB32-7D6D-4AF8-0562B237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0A26C-1A17-D2A2-43E0-6514E513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18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DFDF-163A-3D92-83D3-E46E552F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BFDE6-6513-C715-497B-B99091D6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4734C-0525-7E58-2337-9546F45F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70B1E-2B5E-0DF6-8025-272E713C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83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310BA-AF41-2CFC-E8EE-D2949F48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6F10F-2D9C-F64D-5F2E-F091E1C0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60946-5BBC-0DB3-F2BE-15B28050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33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57FD-69DC-DEB4-FA5A-15B125BF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AB10-645D-354B-F56D-648A9B9F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E5C04-1554-7E66-A748-7A5B988D7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50BDF-B62A-0200-323E-1F5F50B1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183DB-A523-BDE5-CE02-48875468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4F1D3-B89E-A408-4C9F-83640EAA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01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410A-5567-CCBF-0B26-BE1990D3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F94BB-B83E-ABD5-CB51-89C88B8E5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BC0A-7716-2C1F-D328-DA36AE589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4F7A0-D90A-D433-C36F-E0E9F31F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81A58-10B0-1AB9-7EA3-82B14441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A793A-0F48-6AFB-0ED1-EF62C49E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3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CABD-CBBF-0FE4-74C9-CD4D005F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D50DE-68F7-62DE-FD2D-8587C3E88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43E37-7AAD-E299-E3C8-A9E3B3EF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2A34-F373-FDF2-39B2-05DC0111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2AFD-F92B-40CA-CEBF-971089B5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3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CF15BA-CDA2-7B23-02F9-E4FA947FE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141C2-B4A4-914C-18BD-AC33B6B56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92563-C462-2502-B1DC-F9FA669F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76AF9-7188-6F05-8D29-747E20E1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060BB-84C7-D3D1-62BB-4FA5FC86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2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64EC1-FF56-3EC0-BC20-A0AA37DE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B0F3D-2619-C611-BEAC-37CAFF6FE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EFE25-49B7-65E9-F7EE-5FE4ED1AF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6F250-1157-428A-AFC8-63CF3A697E3A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9F017-17A3-DCC5-E0C4-34B1596B0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7FBB-52EA-80C4-FB9E-32FA5365B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F5BD0-6882-4790-ABE4-239B59E62B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2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BDDA-0912-1A03-A43A-699F0B392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44E4F-AE20-7DC1-FFCE-7F1DD0664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45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99CA561-BD49-2DE9-A75C-8F0FCC91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4" y="312738"/>
            <a:ext cx="89296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class can be derived from a single base class is called single inheritance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AA0379C9-2916-3E22-EEEC-CAE8EF7537CF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362200"/>
            <a:ext cx="2514600" cy="2514600"/>
            <a:chOff x="1872" y="2016"/>
            <a:chExt cx="1584" cy="1584"/>
          </a:xfrm>
        </p:grpSpPr>
        <p:sp>
          <p:nvSpPr>
            <p:cNvPr id="20484" name="Text Box 4">
              <a:extLst>
                <a:ext uri="{FF2B5EF4-FFF2-40B4-BE49-F238E27FC236}">
                  <a16:creationId xmlns:a16="http://schemas.microsoft.com/office/drawing/2014/main" id="{12331DE4-A41A-3285-CEF4-E3AD241FA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016"/>
              <a:ext cx="1584" cy="53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36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Person</a:t>
              </a:r>
            </a:p>
          </p:txBody>
        </p:sp>
        <p:sp>
          <p:nvSpPr>
            <p:cNvPr id="20485" name="Text Box 5">
              <a:extLst>
                <a:ext uri="{FF2B5EF4-FFF2-40B4-BE49-F238E27FC236}">
                  <a16:creationId xmlns:a16="http://schemas.microsoft.com/office/drawing/2014/main" id="{1F72B44F-5B50-3A8F-C13F-93E62FC12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067"/>
              <a:ext cx="1584" cy="53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Employee</a:t>
              </a:r>
              <a:endParaRPr lang="en-US" altLang="en-US" sz="4400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Line 6">
            <a:extLst>
              <a:ext uri="{FF2B5EF4-FFF2-40B4-BE49-F238E27FC236}">
                <a16:creationId xmlns:a16="http://schemas.microsoft.com/office/drawing/2014/main" id="{744ADD74-F640-E7BE-5C81-57182EAE3E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4773" y="3208338"/>
            <a:ext cx="722" cy="702251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35068A96-488D-F65B-6818-2C5DE0FC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4801"/>
            <a:ext cx="4953000" cy="643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F0BE15E1-F1FF-136B-B471-28092264A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04800"/>
            <a:ext cx="584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>
            <a:extLst>
              <a:ext uri="{FF2B5EF4-FFF2-40B4-BE49-F238E27FC236}">
                <a16:creationId xmlns:a16="http://schemas.microsoft.com/office/drawing/2014/main" id="{022F09A6-CDF2-3532-F87A-775584DBD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81001"/>
            <a:ext cx="4114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  <a:latin typeface="Lucida Sans Unicode" panose="020B0602030504020204" pitchFamily="34" charset="0"/>
              </a:rPr>
              <a:t>Multilevel Inheritance</a:t>
            </a:r>
          </a:p>
        </p:txBody>
      </p:sp>
      <p:grpSp>
        <p:nvGrpSpPr>
          <p:cNvPr id="32779" name="Group 2">
            <a:extLst>
              <a:ext uri="{FF2B5EF4-FFF2-40B4-BE49-F238E27FC236}">
                <a16:creationId xmlns:a16="http://schemas.microsoft.com/office/drawing/2014/main" id="{D76D9745-A9B2-C920-8945-6146674557A6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286000"/>
            <a:ext cx="3198813" cy="3055937"/>
            <a:chOff x="432" y="1152"/>
            <a:chExt cx="2015" cy="1925"/>
          </a:xfrm>
        </p:grpSpPr>
        <p:sp>
          <p:nvSpPr>
            <p:cNvPr id="32781" name="Rectangle 3">
              <a:extLst>
                <a:ext uri="{FF2B5EF4-FFF2-40B4-BE49-F238E27FC236}">
                  <a16:creationId xmlns:a16="http://schemas.microsoft.com/office/drawing/2014/main" id="{E27D7C5E-8041-B966-E386-E8130C62B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" y="1152"/>
              <a:ext cx="1982" cy="424"/>
            </a:xfrm>
            <a:prstGeom prst="rect">
              <a:avLst/>
            </a:prstGeom>
            <a:solidFill>
              <a:srgbClr val="C5C5FF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2782" name="Rectangle 4">
              <a:extLst>
                <a:ext uri="{FF2B5EF4-FFF2-40B4-BE49-F238E27FC236}">
                  <a16:creationId xmlns:a16="http://schemas.microsoft.com/office/drawing/2014/main" id="{924CA87F-E87D-B7DB-3B50-10B32BA9D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53"/>
              <a:ext cx="1982" cy="424"/>
            </a:xfrm>
            <a:prstGeom prst="rect">
              <a:avLst/>
            </a:prstGeom>
            <a:solidFill>
              <a:srgbClr val="80D212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2783" name="Rectangle 5">
              <a:extLst>
                <a:ext uri="{FF2B5EF4-FFF2-40B4-BE49-F238E27FC236}">
                  <a16:creationId xmlns:a16="http://schemas.microsoft.com/office/drawing/2014/main" id="{7C4E53C0-ED18-EC92-3B69-0FA7512E1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" y="1907"/>
              <a:ext cx="1982" cy="424"/>
            </a:xfrm>
            <a:prstGeom prst="rect">
              <a:avLst/>
            </a:prstGeom>
            <a:solidFill>
              <a:srgbClr val="FBF6C9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2784" name="Line 6">
              <a:extLst>
                <a:ext uri="{FF2B5EF4-FFF2-40B4-BE49-F238E27FC236}">
                  <a16:creationId xmlns:a16="http://schemas.microsoft.com/office/drawing/2014/main" id="{34130BC2-6E92-C9B8-A495-820E3A403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3" y="1556"/>
              <a:ext cx="0" cy="35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1" name="Text Box 8">
              <a:extLst>
                <a:ext uri="{FF2B5EF4-FFF2-40B4-BE49-F238E27FC236}">
                  <a16:creationId xmlns:a16="http://schemas.microsoft.com/office/drawing/2014/main" id="{5CC1BF3F-B78A-CD93-2FD7-573E75872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" y="1200"/>
              <a:ext cx="1846" cy="273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</p:spPr>
          <p:txBody>
            <a:bodyPr lIns="64008" tIns="32004" rIns="64008" bIns="32004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Verdana" pitchFamily="34" charset="0"/>
                  <a:cs typeface="Arial" charset="0"/>
                </a:rPr>
                <a:t>Vehicle</a:t>
              </a:r>
            </a:p>
          </p:txBody>
        </p:sp>
        <p:sp>
          <p:nvSpPr>
            <p:cNvPr id="18442" name="Text Box 9">
              <a:extLst>
                <a:ext uri="{FF2B5EF4-FFF2-40B4-BE49-F238E27FC236}">
                  <a16:creationId xmlns:a16="http://schemas.microsoft.com/office/drawing/2014/main" id="{CBD10509-120C-A693-C86A-81F09DD50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" y="1953"/>
              <a:ext cx="1846" cy="273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</p:spPr>
          <p:txBody>
            <a:bodyPr lIns="64008" tIns="32004" rIns="64008" bIns="32004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Verdana" pitchFamily="34" charset="0"/>
                  <a:cs typeface="Arial" charset="0"/>
                </a:rPr>
                <a:t>Car</a:t>
              </a:r>
            </a:p>
          </p:txBody>
        </p:sp>
        <p:sp>
          <p:nvSpPr>
            <p:cNvPr id="18443" name="Text Box 10">
              <a:extLst>
                <a:ext uri="{FF2B5EF4-FFF2-40B4-BE49-F238E27FC236}">
                  <a16:creationId xmlns:a16="http://schemas.microsoft.com/office/drawing/2014/main" id="{18320740-D60F-DDC9-EEEC-6BE239D5E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" y="2716"/>
              <a:ext cx="1846" cy="273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</p:spPr>
          <p:txBody>
            <a:bodyPr lIns="64008" tIns="32004" rIns="64008" bIns="32004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Verdana" pitchFamily="34" charset="0"/>
                  <a:cs typeface="Arial" charset="0"/>
                </a:rPr>
                <a:t>Racing car</a:t>
              </a:r>
            </a:p>
          </p:txBody>
        </p:sp>
      </p:grpSp>
      <p:grpSp>
        <p:nvGrpSpPr>
          <p:cNvPr id="32772" name="Group 18">
            <a:extLst>
              <a:ext uri="{FF2B5EF4-FFF2-40B4-BE49-F238E27FC236}">
                <a16:creationId xmlns:a16="http://schemas.microsoft.com/office/drawing/2014/main" id="{170FB566-FA04-3EEE-284D-C655DA4FF0B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286000"/>
            <a:ext cx="2057400" cy="3429000"/>
            <a:chOff x="5334000" y="1676400"/>
            <a:chExt cx="2057400" cy="3429000"/>
          </a:xfrm>
        </p:grpSpPr>
        <p:sp>
          <p:nvSpPr>
            <p:cNvPr id="32774" name="Text Box 4">
              <a:extLst>
                <a:ext uri="{FF2B5EF4-FFF2-40B4-BE49-F238E27FC236}">
                  <a16:creationId xmlns:a16="http://schemas.microsoft.com/office/drawing/2014/main" id="{5F84F26F-F99C-630F-C4E8-31B7BA004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1676400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Person</a:t>
              </a:r>
            </a:p>
          </p:txBody>
        </p:sp>
        <p:sp>
          <p:nvSpPr>
            <p:cNvPr id="32775" name="Text Box 5">
              <a:extLst>
                <a:ext uri="{FF2B5EF4-FFF2-40B4-BE49-F238E27FC236}">
                  <a16:creationId xmlns:a16="http://schemas.microsoft.com/office/drawing/2014/main" id="{D5061B16-D9E6-C046-F95B-33FBD1FB2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041506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Employee</a:t>
              </a:r>
              <a:endParaRPr lang="en-US" altLang="en-US" sz="3600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77" name="Text Box 5">
              <a:extLst>
                <a:ext uri="{FF2B5EF4-FFF2-40B4-BE49-F238E27FC236}">
                  <a16:creationId xmlns:a16="http://schemas.microsoft.com/office/drawing/2014/main" id="{85F070F5-AA47-AAFF-D6E0-40B3BD1EA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413106"/>
              <a:ext cx="2057400" cy="69229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3333CC"/>
                  </a:solidFill>
                  <a:latin typeface="Times New Roman" panose="02020603050405020304" pitchFamily="18" charset="0"/>
                </a:rPr>
                <a:t>Part time Employee</a:t>
              </a:r>
              <a:endParaRPr lang="en-US" altLang="en-US" b="1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2773" name="Rectangle 18">
            <a:extLst>
              <a:ext uri="{FF2B5EF4-FFF2-40B4-BE49-F238E27FC236}">
                <a16:creationId xmlns:a16="http://schemas.microsoft.com/office/drawing/2014/main" id="{17948E42-3824-3CC9-7AF6-7A68263F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990601"/>
            <a:ext cx="8534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 A class be can derived from a derived class which is known as multilevel inheritance.</a:t>
            </a: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CF60E0D2-8DC1-2440-A207-482D57FAB1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1612" y="4064794"/>
            <a:ext cx="0" cy="557212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0D578DE3-29AF-C84E-EF0E-7B7CE5D8EE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6700" y="3000375"/>
            <a:ext cx="0" cy="557212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7D10D98D-7DCE-F64A-D0B2-A9C2E83131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4343400"/>
            <a:ext cx="0" cy="557212"/>
          </a:xfrm>
          <a:prstGeom prst="line">
            <a:avLst/>
          </a:prstGeom>
          <a:noFill/>
          <a:ln w="38100" cap="sq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5">
            <a:extLst>
              <a:ext uri="{FF2B5EF4-FFF2-40B4-BE49-F238E27FC236}">
                <a16:creationId xmlns:a16="http://schemas.microsoft.com/office/drawing/2014/main" id="{C5DF0684-F98E-C3BD-1051-7E9AF4B8C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7200"/>
            <a:ext cx="4572000" cy="577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>
            <a:extLst>
              <a:ext uri="{FF2B5EF4-FFF2-40B4-BE49-F238E27FC236}">
                <a16:creationId xmlns:a16="http://schemas.microsoft.com/office/drawing/2014/main" id="{FD881AD5-6643-D60B-431F-5941CA4D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304800"/>
            <a:ext cx="6030913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61474BF-7A64-DBAF-72D6-7CAB7BE6A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143001"/>
            <a:ext cx="8458200" cy="4124325"/>
          </a:xfrm>
          <a:prstGeom prst="rect">
            <a:avLst/>
          </a:prstGeom>
          <a:noFill/>
          <a:ln w="9525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It is the process of creating new class from more than one base classes.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sng">
                <a:solidFill>
                  <a:srgbClr val="000066"/>
                </a:solidFill>
                <a:latin typeface="Lucida Sans Unicode" panose="020B0602030504020204" pitchFamily="34" charset="0"/>
              </a:rPr>
              <a:t>Syntax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 class  &lt;derived class &gt;:&lt;access specifier&gt;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         base_class1,&lt;access specifier&gt; base_class2...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private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         // members;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protected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         // members;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public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	//memebers;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66"/>
                </a:solidFill>
                <a:latin typeface="Lucida Sans Unicode" panose="020B0602030504020204" pitchFamily="34" charset="0"/>
              </a:rPr>
              <a:t>}; </a:t>
            </a: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91F7DEB1-8550-62C0-149E-A2735AC57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524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66"/>
                </a:solidFill>
                <a:latin typeface="Verdana" panose="020B0604030504040204" pitchFamily="34" charset="0"/>
              </a:rPr>
              <a:t>Multiple Inheritance</a:t>
            </a:r>
          </a:p>
        </p:txBody>
      </p:sp>
      <p:grpSp>
        <p:nvGrpSpPr>
          <p:cNvPr id="35844" name="Group 8">
            <a:extLst>
              <a:ext uri="{FF2B5EF4-FFF2-40B4-BE49-F238E27FC236}">
                <a16:creationId xmlns:a16="http://schemas.microsoft.com/office/drawing/2014/main" id="{15BF1445-2A1D-6298-0FF5-DE4EDB22CD81}"/>
              </a:ext>
            </a:extLst>
          </p:cNvPr>
          <p:cNvGrpSpPr>
            <a:grpSpLocks/>
          </p:cNvGrpSpPr>
          <p:nvPr/>
        </p:nvGrpSpPr>
        <p:grpSpPr bwMode="auto">
          <a:xfrm>
            <a:off x="6272645" y="3629890"/>
            <a:ext cx="3352800" cy="2085109"/>
            <a:chOff x="2960" y="2208"/>
            <a:chExt cx="2368" cy="1680"/>
          </a:xfrm>
        </p:grpSpPr>
        <p:sp>
          <p:nvSpPr>
            <p:cNvPr id="35845" name="Rectangle 9">
              <a:extLst>
                <a:ext uri="{FF2B5EF4-FFF2-40B4-BE49-F238E27FC236}">
                  <a16:creationId xmlns:a16="http://schemas.microsoft.com/office/drawing/2014/main" id="{AB1A36E3-4CF6-4128-0A0E-F33B9AC1E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2208"/>
              <a:ext cx="1063" cy="448"/>
            </a:xfrm>
            <a:prstGeom prst="rect">
              <a:avLst/>
            </a:prstGeom>
            <a:solidFill>
              <a:srgbClr val="C5C5FF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5846" name="Rectangle 10">
              <a:extLst>
                <a:ext uri="{FF2B5EF4-FFF2-40B4-BE49-F238E27FC236}">
                  <a16:creationId xmlns:a16="http://schemas.microsoft.com/office/drawing/2014/main" id="{8B6C9852-9B72-788C-7FCA-47C24FBE4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3560"/>
              <a:ext cx="1069" cy="328"/>
            </a:xfrm>
            <a:prstGeom prst="rect">
              <a:avLst/>
            </a:prstGeom>
            <a:solidFill>
              <a:srgbClr val="80D212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5847" name="Rectangle 11">
              <a:extLst>
                <a:ext uri="{FF2B5EF4-FFF2-40B4-BE49-F238E27FC236}">
                  <a16:creationId xmlns:a16="http://schemas.microsoft.com/office/drawing/2014/main" id="{2E2F99A0-97DB-5482-2CD8-4BC3BD846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208"/>
              <a:ext cx="1072" cy="400"/>
            </a:xfrm>
            <a:prstGeom prst="rect">
              <a:avLst/>
            </a:prstGeom>
            <a:solidFill>
              <a:srgbClr val="FBF6C9"/>
            </a:solidFill>
            <a:ln w="9525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Lucida Sans Unicode" panose="020B0602030504020204" pitchFamily="34" charset="0"/>
              </a:endParaRPr>
            </a:p>
          </p:txBody>
        </p:sp>
        <p:sp>
          <p:nvSpPr>
            <p:cNvPr id="35848" name="Line 12">
              <a:extLst>
                <a:ext uri="{FF2B5EF4-FFF2-40B4-BE49-F238E27FC236}">
                  <a16:creationId xmlns:a16="http://schemas.microsoft.com/office/drawing/2014/main" id="{3D89DD08-CB34-5A90-3A9D-DB8D2850D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57" y="2696"/>
              <a:ext cx="641" cy="78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49" name="Line 13">
              <a:extLst>
                <a:ext uri="{FF2B5EF4-FFF2-40B4-BE49-F238E27FC236}">
                  <a16:creationId xmlns:a16="http://schemas.microsoft.com/office/drawing/2014/main" id="{0E3A9E6E-F1B0-B284-53F9-213DE637E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708"/>
              <a:ext cx="629" cy="737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850" name="Text Box 14">
              <a:extLst>
                <a:ext uri="{FF2B5EF4-FFF2-40B4-BE49-F238E27FC236}">
                  <a16:creationId xmlns:a16="http://schemas.microsoft.com/office/drawing/2014/main" id="{3DEC3974-0DF9-FB4B-4445-A1F169855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0" y="2284"/>
              <a:ext cx="10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Verdana" panose="020B0604030504040204" pitchFamily="34" charset="0"/>
                </a:rPr>
                <a:t>Person</a:t>
              </a:r>
              <a:endParaRPr lang="en-US" altLang="en-US" sz="2000" b="1">
                <a:latin typeface="Verdana" panose="020B0604030504040204" pitchFamily="34" charset="0"/>
              </a:endParaRPr>
            </a:p>
          </p:txBody>
        </p:sp>
        <p:sp>
          <p:nvSpPr>
            <p:cNvPr id="35851" name="Text Box 15">
              <a:extLst>
                <a:ext uri="{FF2B5EF4-FFF2-40B4-BE49-F238E27FC236}">
                  <a16:creationId xmlns:a16="http://schemas.microsoft.com/office/drawing/2014/main" id="{10D74022-5FFE-F8D4-CF18-967F6E5A9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2270"/>
              <a:ext cx="111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Verdana" panose="020B0604030504040204" pitchFamily="34" charset="0"/>
                </a:rPr>
                <a:t>Employee</a:t>
              </a:r>
              <a:endParaRPr lang="en-US" altLang="en-US" sz="1800" b="1">
                <a:latin typeface="Verdana" panose="020B0604030504040204" pitchFamily="34" charset="0"/>
              </a:endParaRPr>
            </a:p>
          </p:txBody>
        </p:sp>
        <p:sp>
          <p:nvSpPr>
            <p:cNvPr id="35852" name="Text Box 16">
              <a:extLst>
                <a:ext uri="{FF2B5EF4-FFF2-40B4-BE49-F238E27FC236}">
                  <a16:creationId xmlns:a16="http://schemas.microsoft.com/office/drawing/2014/main" id="{72A5698E-F60C-8215-F52D-49E73F777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3" y="3617"/>
              <a:ext cx="93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Verdana" panose="020B0604030504040204" pitchFamily="34" charset="0"/>
                </a:rPr>
                <a:t>Teacher</a:t>
              </a:r>
              <a:endParaRPr lang="en-US" altLang="en-US" sz="1800" b="1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>
            <a:extLst>
              <a:ext uri="{FF2B5EF4-FFF2-40B4-BE49-F238E27FC236}">
                <a16:creationId xmlns:a16="http://schemas.microsoft.com/office/drawing/2014/main" id="{CD57FA96-FDCA-B4DE-2396-839F7E484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"/>
            <a:ext cx="39941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>
            <a:extLst>
              <a:ext uri="{FF2B5EF4-FFF2-40B4-BE49-F238E27FC236}">
                <a16:creationId xmlns:a16="http://schemas.microsoft.com/office/drawing/2014/main" id="{612686FA-9BA0-2D17-DE22-81C4143E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"/>
            <a:ext cx="5684838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A0E0-A400-8782-1BDF-018AD589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Constructor and Destructor call order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00FBD-62C0-7900-897C-1224F2D8D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31272"/>
            <a:ext cx="5181600" cy="566160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 // std::</a:t>
            </a:r>
            <a:r>
              <a:rPr lang="en-IN" dirty="0" err="1"/>
              <a:t>cout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for more tutorials visit www.ProDeveloperTutorial.com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r>
              <a:rPr lang="en-IN" dirty="0"/>
              <a:t>class Base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public: </a:t>
            </a:r>
          </a:p>
          <a:p>
            <a:pPr marL="0" indent="0">
              <a:buNone/>
            </a:pPr>
            <a:r>
              <a:rPr lang="en-IN" dirty="0"/>
              <a:t>    Base() </a:t>
            </a:r>
          </a:p>
          <a:p>
            <a:pPr marL="0" indent="0">
              <a:buNone/>
            </a:pPr>
            <a:r>
              <a:rPr lang="en-IN" dirty="0"/>
              <a:t>    {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&lt;&lt;"Constructor Base \n"; </a:t>
            </a:r>
          </a:p>
          <a:p>
            <a:pPr marL="0" indent="0">
              <a:buNone/>
            </a:pPr>
            <a:r>
              <a:rPr lang="en-IN" dirty="0"/>
              <a:t>    } </a:t>
            </a:r>
          </a:p>
          <a:p>
            <a:pPr marL="0" indent="0">
              <a:buNone/>
            </a:pPr>
            <a:r>
              <a:rPr lang="en-IN" dirty="0"/>
              <a:t>    ~Base()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&lt;&lt;"Destructor Base \n"; 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3EC96B-0D11-4365-5019-6DF22BD21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31273"/>
            <a:ext cx="5181600" cy="5661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class Derived: public Base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public: </a:t>
            </a:r>
          </a:p>
          <a:p>
            <a:pPr marL="0" indent="0">
              <a:buNone/>
            </a:pPr>
            <a:r>
              <a:rPr lang="en-IN" dirty="0"/>
              <a:t>    Derived() </a:t>
            </a:r>
          </a:p>
          <a:p>
            <a:pPr marL="0" indent="0">
              <a:buNone/>
            </a:pPr>
            <a:r>
              <a:rPr lang="en-IN" dirty="0"/>
              <a:t>    {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&lt;&lt;"Constructor Derived \n"; </a:t>
            </a:r>
          </a:p>
          <a:p>
            <a:pPr marL="0" indent="0">
              <a:buNone/>
            </a:pPr>
            <a:r>
              <a:rPr lang="en-IN" dirty="0"/>
              <a:t>    }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~Derived() </a:t>
            </a:r>
          </a:p>
          <a:p>
            <a:pPr marL="0" indent="0">
              <a:buNone/>
            </a:pPr>
            <a:r>
              <a:rPr lang="en-IN" dirty="0"/>
              <a:t>    {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&lt;&lt;"Destructor Derived \n"; </a:t>
            </a:r>
          </a:p>
          <a:p>
            <a:pPr marL="0" indent="0">
              <a:buNone/>
            </a:pPr>
            <a:r>
              <a:rPr lang="en-IN" dirty="0"/>
              <a:t>    } </a:t>
            </a:r>
          </a:p>
          <a:p>
            <a:pPr marL="0" indent="0">
              <a:buNone/>
            </a:pPr>
            <a:r>
              <a:rPr lang="en-IN" dirty="0"/>
              <a:t>};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main(void)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Derived 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9106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E1F1-4B7C-E7B2-D4FA-D238E82F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53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Constructor call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3A5-788A-D273-4680-8AC2C6890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509" y="498765"/>
            <a:ext cx="5687291" cy="61618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#include&lt;iostream&gt;</a:t>
            </a:r>
          </a:p>
          <a:p>
            <a:pPr marL="0" indent="0">
              <a:buNone/>
            </a:pPr>
            <a:r>
              <a:rPr lang="en-IN" sz="1600" dirty="0"/>
              <a:t>using namespace std;  </a:t>
            </a:r>
          </a:p>
          <a:p>
            <a:pPr marL="0" indent="0">
              <a:buNone/>
            </a:pPr>
            <a:r>
              <a:rPr lang="en-IN" sz="1600" dirty="0"/>
              <a:t>class A // Base class</a:t>
            </a:r>
          </a:p>
          <a:p>
            <a:pPr marL="0" indent="0">
              <a:buNone/>
            </a:pPr>
            <a:r>
              <a:rPr lang="en-IN" sz="1600" dirty="0"/>
              <a:t>{</a:t>
            </a:r>
          </a:p>
          <a:p>
            <a:pPr marL="0" indent="0">
              <a:buNone/>
            </a:pPr>
            <a:r>
              <a:rPr lang="en-IN" sz="1600" dirty="0"/>
              <a:t>    public:</a:t>
            </a:r>
          </a:p>
          <a:p>
            <a:pPr marL="0" indent="0">
              <a:buNone/>
            </a:pPr>
            <a:r>
              <a:rPr lang="en-IN" sz="1600" dirty="0"/>
              <a:t>        A()</a:t>
            </a:r>
          </a:p>
          <a:p>
            <a:pPr marL="0" indent="0">
              <a:buNone/>
            </a:pPr>
            <a:r>
              <a:rPr lang="en-IN" sz="1600" dirty="0"/>
              <a:t>        {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cout</a:t>
            </a:r>
            <a:r>
              <a:rPr lang="en-IN" sz="1600" dirty="0"/>
              <a:t> &lt;&lt; "Base class A constructor \n";</a:t>
            </a:r>
          </a:p>
          <a:p>
            <a:pPr marL="0" indent="0">
              <a:buNone/>
            </a:pPr>
            <a:r>
              <a:rPr lang="en-IN" sz="1600" dirty="0"/>
              <a:t>        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B: public A  // Derived class B</a:t>
            </a:r>
          </a:p>
          <a:p>
            <a:pPr marL="0" indent="0">
              <a:buNone/>
            </a:pPr>
            <a:r>
              <a:rPr lang="en-IN" sz="1600" dirty="0"/>
              <a:t>{</a:t>
            </a:r>
          </a:p>
          <a:p>
            <a:pPr marL="0" indent="0">
              <a:buNone/>
            </a:pPr>
            <a:r>
              <a:rPr lang="en-IN" sz="1600" dirty="0"/>
              <a:t>    public:</a:t>
            </a:r>
          </a:p>
          <a:p>
            <a:pPr marL="0" indent="0">
              <a:buNone/>
            </a:pPr>
            <a:r>
              <a:rPr lang="en-IN" sz="1600" dirty="0"/>
              <a:t>        B()</a:t>
            </a:r>
          </a:p>
          <a:p>
            <a:pPr marL="0" indent="0">
              <a:buNone/>
            </a:pPr>
            <a:r>
              <a:rPr lang="en-IN" sz="1600" dirty="0"/>
              <a:t>        {</a:t>
            </a:r>
          </a:p>
          <a:p>
            <a:pPr marL="0" indent="0"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cout</a:t>
            </a:r>
            <a:r>
              <a:rPr lang="en-IN" sz="1600" dirty="0"/>
              <a:t> &lt;&lt; "Class B constructor \n";</a:t>
            </a:r>
          </a:p>
          <a:p>
            <a:pPr marL="0" indent="0">
              <a:buNone/>
            </a:pPr>
            <a:r>
              <a:rPr lang="en-IN" sz="1600" dirty="0"/>
              <a:t>        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C88C8-1805-FBFC-8C19-420E5EC5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10490"/>
            <a:ext cx="5181600" cy="55487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// Derived class C</a:t>
            </a:r>
          </a:p>
          <a:p>
            <a:pPr marL="0" indent="0">
              <a:buNone/>
            </a:pPr>
            <a:r>
              <a:rPr lang="en-US" sz="1600" dirty="0"/>
              <a:t>class C: public B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    public:</a:t>
            </a:r>
          </a:p>
          <a:p>
            <a:pPr marL="0" indent="0">
              <a:buNone/>
            </a:pPr>
            <a:r>
              <a:rPr lang="en-US" sz="1600" dirty="0"/>
              <a:t>        C()</a:t>
            </a:r>
          </a:p>
          <a:p>
            <a:pPr marL="0" indent="0">
              <a:buNone/>
            </a:pPr>
            <a:r>
              <a:rPr lang="en-US" sz="1600" dirty="0"/>
              <a:t>        {</a:t>
            </a:r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cout</a:t>
            </a:r>
            <a:r>
              <a:rPr lang="en-US" sz="1600" dirty="0"/>
              <a:t> &lt;&lt; "Class C constructor \n";</a:t>
            </a:r>
          </a:p>
          <a:p>
            <a:pPr marL="0" indent="0">
              <a:buNone/>
            </a:pPr>
            <a:r>
              <a:rPr lang="en-US" sz="1600" dirty="0"/>
              <a:t>              </a:t>
            </a:r>
          </a:p>
          <a:p>
            <a:pPr marL="0" indent="0">
              <a:buNone/>
            </a:pPr>
            <a:r>
              <a:rPr lang="en-US" sz="1600" dirty="0"/>
              <a:t>        }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  <a:p>
            <a:pPr marL="0" indent="0">
              <a:buNone/>
            </a:pPr>
            <a:r>
              <a:rPr lang="en-US" sz="1600" dirty="0"/>
              <a:t>  </a:t>
            </a:r>
          </a:p>
          <a:p>
            <a:pPr marL="0" indent="0">
              <a:buNone/>
            </a:pPr>
            <a:r>
              <a:rPr lang="en-US" sz="1600" dirty="0"/>
              <a:t>// Driver code</a:t>
            </a:r>
          </a:p>
          <a:p>
            <a:pPr marL="0" indent="0">
              <a:buNone/>
            </a:pPr>
            <a:r>
              <a:rPr lang="en-US" sz="1600" dirty="0"/>
              <a:t>int main()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    C obj;</a:t>
            </a:r>
          </a:p>
          <a:p>
            <a:pPr marL="0" indent="0">
              <a:buNone/>
            </a:pPr>
            <a:r>
              <a:rPr lang="en-US" sz="1600" dirty="0"/>
              <a:t>    return 0;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2829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6D88-BE3E-BFD3-5C16-5A45ED49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3D2F-8390-2505-BFE1-1AC3E715C7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603FC-96C0-29B8-A3B3-6A20276FB6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1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352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Lucida Sans Unicode</vt:lpstr>
      <vt:lpstr>Times New Roman</vt:lpstr>
      <vt:lpstr>Verdana</vt:lpstr>
      <vt:lpstr>Office Theme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Inheritance Constructor and Destructor call order</vt:lpstr>
      <vt:lpstr>Inheritance Constructor call order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Padma Priya R</dc:creator>
  <cp:lastModifiedBy>Padma Priya R</cp:lastModifiedBy>
  <cp:revision>10</cp:revision>
  <dcterms:created xsi:type="dcterms:W3CDTF">2023-04-27T08:57:11Z</dcterms:created>
  <dcterms:modified xsi:type="dcterms:W3CDTF">2023-05-05T13:16:41Z</dcterms:modified>
</cp:coreProperties>
</file>