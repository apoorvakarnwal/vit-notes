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80" r:id="rId4"/>
    <p:sldId id="279" r:id="rId5"/>
    <p:sldId id="265" r:id="rId6"/>
    <p:sldId id="258" r:id="rId7"/>
    <p:sldId id="266" r:id="rId8"/>
    <p:sldId id="267" r:id="rId9"/>
    <p:sldId id="268" r:id="rId10"/>
    <p:sldId id="281" r:id="rId11"/>
    <p:sldId id="257" r:id="rId12"/>
    <p:sldId id="269" r:id="rId13"/>
    <p:sldId id="270" r:id="rId14"/>
    <p:sldId id="260" r:id="rId15"/>
    <p:sldId id="261" r:id="rId16"/>
    <p:sldId id="262" r:id="rId17"/>
    <p:sldId id="263" r:id="rId18"/>
    <p:sldId id="273" r:id="rId19"/>
    <p:sldId id="274" r:id="rId20"/>
    <p:sldId id="275" r:id="rId21"/>
    <p:sldId id="259" r:id="rId22"/>
    <p:sldId id="271" r:id="rId23"/>
    <p:sldId id="278" r:id="rId24"/>
    <p:sldId id="272" r:id="rId25"/>
    <p:sldId id="276" r:id="rId26"/>
    <p:sldId id="277"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955"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42778-2804-2435-1659-8CB42DB74D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8F2659-F649-5B49-E9A6-C480639356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865F687-9BFA-09C8-2195-9357338C76E8}"/>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38948F2A-BB23-F2D6-4BEB-4069A33477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FC4EC1-91BF-B094-EF49-F5B0E7572A17}"/>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2413526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3E117-B622-D653-3EEE-DF440E3864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BFA2CA8-7D84-D615-2B57-F9D7520715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7E91E4-2A83-C899-6AB9-45A791BA6A19}"/>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9A15B44D-057C-1331-4054-E744BE93F9E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00B79F-303E-88F0-E5E0-389B2AE87E00}"/>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1922959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3A64-F431-242F-B4D7-2445C5518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4876D5-65E8-AEBC-D96E-0EB17A5771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A91874-8799-5E89-A592-ACAB9CD9CDD9}"/>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0A5A7816-A496-1828-BD39-7A64300F85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2CCB6C-94CC-E91E-8D1C-6B2CFFFA3C7D}"/>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144497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A5CF5-4F02-399F-92A3-9BA22D6B94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64B2CC8-4F4D-006A-D200-9168F4EAFA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32566A-A5BE-DB22-E647-227EC443580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1E9279B-E086-43D9-2280-2832E10B003E}"/>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6" name="Footer Placeholder 5">
            <a:extLst>
              <a:ext uri="{FF2B5EF4-FFF2-40B4-BE49-F238E27FC236}">
                <a16:creationId xmlns:a16="http://schemas.microsoft.com/office/drawing/2014/main" id="{3C6DCBFE-2F66-958E-0AE6-B4E9737D64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2CB242-CCD2-7B54-A4F6-747DCADF84EB}"/>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4051721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F723-182C-FBE4-417E-2CCAB8C5AD0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A76742-0043-30EC-0458-FCE372C399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DCC5DC-1AD3-8095-CA8F-0F85F5F755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8086AA-58E1-A858-0691-1F2763B0ED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1282B4-B1CB-588C-89E7-01678AE90B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161E58C-4F1C-A9D8-46E3-E8C15ED61CA0}"/>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8" name="Footer Placeholder 7">
            <a:extLst>
              <a:ext uri="{FF2B5EF4-FFF2-40B4-BE49-F238E27FC236}">
                <a16:creationId xmlns:a16="http://schemas.microsoft.com/office/drawing/2014/main" id="{10FC5986-FADB-1B99-4FCD-7B75EDE310C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DB8D56A-6CB2-7F0E-481D-A8CCB2EF22D5}"/>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2124815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C45FF-2406-930F-2991-79F1AB09C6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709423-F75F-F2EF-3130-1926C0C0EA92}"/>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4" name="Footer Placeholder 3">
            <a:extLst>
              <a:ext uri="{FF2B5EF4-FFF2-40B4-BE49-F238E27FC236}">
                <a16:creationId xmlns:a16="http://schemas.microsoft.com/office/drawing/2014/main" id="{12A2605B-CC84-D2C1-1280-17A3808F6D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AC97E0C-E5AA-A94D-644E-80AFA22E1E48}"/>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161243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736477-C9D6-ECA5-0733-E68F56B7676E}"/>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3" name="Footer Placeholder 2">
            <a:extLst>
              <a:ext uri="{FF2B5EF4-FFF2-40B4-BE49-F238E27FC236}">
                <a16:creationId xmlns:a16="http://schemas.microsoft.com/office/drawing/2014/main" id="{4D74753C-8858-BCCE-982D-01B6E7F059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31873C-83D8-A434-14B5-A2A7B7AE1145}"/>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1289237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6799-B00D-9F6F-B76C-8ECB7457EB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E86E43C-E92D-D8DF-373A-DB43A0F137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AC54E3-48C4-B1B6-7D4E-2710052E0A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8BB505-3210-9D05-F406-EFEDCEC81ECA}"/>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6" name="Footer Placeholder 5">
            <a:extLst>
              <a:ext uri="{FF2B5EF4-FFF2-40B4-BE49-F238E27FC236}">
                <a16:creationId xmlns:a16="http://schemas.microsoft.com/office/drawing/2014/main" id="{690D2DED-A3EA-8985-E132-5CF25749687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673344-CAB8-FACD-6585-DF0FEB4CEB50}"/>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4169249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05F84-A040-9E9B-8DFC-65B7493A0C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6D808F-FC12-DF7E-09A0-BF451B7C9A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4A70CE-B618-A473-41B8-2E30D066BF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E0D9EF-7177-70DD-8055-DE7340F6C5AF}"/>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6" name="Footer Placeholder 5">
            <a:extLst>
              <a:ext uri="{FF2B5EF4-FFF2-40B4-BE49-F238E27FC236}">
                <a16:creationId xmlns:a16="http://schemas.microsoft.com/office/drawing/2014/main" id="{D208EA3F-DDE8-9FD1-5395-8EDC589189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898128-2B2C-3921-05CB-DB1D852D5C91}"/>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3975490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917DC-8E13-1713-96AA-712FF1C86BD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D1F594-6CAB-240A-9DE6-E9756FF5FE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A79DAD-55CD-AABD-8DE2-D87CC0073596}"/>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F6923AF3-D06F-F8DD-77A5-EF515DA583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1145EC-33AA-B882-B872-3C1EA03024BA}"/>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1375202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E82DEE-CB43-2C6C-8EE7-69F7A8E346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4AB7BD-859B-47CB-D6D3-935ECA1742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52E860-307B-96B3-E9F1-5C458A43D3A3}"/>
              </a:ext>
            </a:extLst>
          </p:cNvPr>
          <p:cNvSpPr>
            <a:spLocks noGrp="1"/>
          </p:cNvSpPr>
          <p:nvPr>
            <p:ph type="dt" sz="half" idx="10"/>
          </p:nvPr>
        </p:nvSpPr>
        <p:spPr/>
        <p:txBody>
          <a:body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C4FCF30D-F5E4-08D7-5A43-2C3ED4BE05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C5E119-72F0-DA65-8DB2-1B1E601E88CD}"/>
              </a:ext>
            </a:extLst>
          </p:cNvPr>
          <p:cNvSpPr>
            <a:spLocks noGrp="1"/>
          </p:cNvSpPr>
          <p:nvPr>
            <p:ph type="sldNum" sz="quarter" idx="12"/>
          </p:nvPr>
        </p:nvSpPr>
        <p:spPr/>
        <p:txBody>
          <a:bodyPr/>
          <a:lstStyle/>
          <a:p>
            <a:fld id="{88F2226B-FB07-470A-9999-7315D5BC56B9}" type="slidenum">
              <a:rPr lang="en-IN" smtClean="0"/>
              <a:t>‹#›</a:t>
            </a:fld>
            <a:endParaRPr lang="en-IN"/>
          </a:p>
        </p:txBody>
      </p:sp>
    </p:spTree>
    <p:extLst>
      <p:ext uri="{BB962C8B-B14F-4D97-AF65-F5344CB8AC3E}">
        <p14:creationId xmlns:p14="http://schemas.microsoft.com/office/powerpoint/2010/main" val="2183571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7D69F3-0530-3748-56A5-B2C58350B7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83510801-F66D-FD17-BEB2-98D806CA8C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49A88E65-BA80-FEE1-DA8B-88E024A4A7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4CE2AC-8345-416D-834D-9CF9693EFD7C}" type="datetimeFigureOut">
              <a:rPr lang="en-IN" smtClean="0"/>
              <a:t>09-05-2023</a:t>
            </a:fld>
            <a:endParaRPr lang="en-IN"/>
          </a:p>
        </p:txBody>
      </p:sp>
      <p:sp>
        <p:nvSpPr>
          <p:cNvPr id="5" name="Footer Placeholder 4">
            <a:extLst>
              <a:ext uri="{FF2B5EF4-FFF2-40B4-BE49-F238E27FC236}">
                <a16:creationId xmlns:a16="http://schemas.microsoft.com/office/drawing/2014/main" id="{44D60286-D053-8D66-6843-783B945D7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6AFFEA-07D8-056C-8460-BF673F4FD3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F2226B-FB07-470A-9999-7315D5BC56B9}" type="slidenum">
              <a:rPr lang="en-IN" smtClean="0"/>
              <a:t>‹#›</a:t>
            </a:fld>
            <a:endParaRPr lang="en-IN"/>
          </a:p>
        </p:txBody>
      </p:sp>
    </p:spTree>
    <p:extLst>
      <p:ext uri="{BB962C8B-B14F-4D97-AF65-F5344CB8AC3E}">
        <p14:creationId xmlns:p14="http://schemas.microsoft.com/office/powerpoint/2010/main" val="58302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FF000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static-keyword-cpp/"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99507-EDEB-98CF-DF6C-396DAEE0D010}"/>
              </a:ext>
            </a:extLst>
          </p:cNvPr>
          <p:cNvSpPr>
            <a:spLocks noGrp="1"/>
          </p:cNvSpPr>
          <p:nvPr>
            <p:ph type="ctrTitle"/>
          </p:nvPr>
        </p:nvSpPr>
        <p:spPr/>
        <p:txBody>
          <a:bodyPr/>
          <a:lstStyle/>
          <a:p>
            <a:r>
              <a:rPr lang="en-IN" dirty="0"/>
              <a:t>C++ Class</a:t>
            </a:r>
          </a:p>
        </p:txBody>
      </p:sp>
      <p:sp>
        <p:nvSpPr>
          <p:cNvPr id="3" name="Subtitle 2">
            <a:extLst>
              <a:ext uri="{FF2B5EF4-FFF2-40B4-BE49-F238E27FC236}">
                <a16:creationId xmlns:a16="http://schemas.microsoft.com/office/drawing/2014/main" id="{5056CA1A-73F9-2F9B-976F-E718E3C2D105}"/>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485917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E45B-4357-8D1F-2343-5C2F7F687CB4}"/>
              </a:ext>
            </a:extLst>
          </p:cNvPr>
          <p:cNvSpPr>
            <a:spLocks noGrp="1"/>
          </p:cNvSpPr>
          <p:nvPr>
            <p:ph type="title"/>
          </p:nvPr>
        </p:nvSpPr>
        <p:spPr/>
        <p:txBody>
          <a:bodyPr>
            <a:normAutofit fontScale="90000"/>
          </a:bodyPr>
          <a:lstStyle/>
          <a:p>
            <a:r>
              <a:rPr lang="en-IN" dirty="0"/>
              <a:t>This pointer:</a:t>
            </a:r>
            <a:r>
              <a:rPr lang="en-US" b="1" i="0" dirty="0">
                <a:solidFill>
                  <a:srgbClr val="273239"/>
                </a:solidFill>
                <a:effectLst/>
                <a:latin typeface="Nunito" pitchFamily="2" charset="0"/>
              </a:rPr>
              <a:t>When local variable’s name is same as member’s name</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463261E5-CF91-5F73-0083-1906705C4F88}"/>
              </a:ext>
            </a:extLst>
          </p:cNvPr>
          <p:cNvSpPr>
            <a:spLocks noGrp="1"/>
          </p:cNvSpPr>
          <p:nvPr>
            <p:ph sz="half" idx="1"/>
          </p:nvPr>
        </p:nvSpPr>
        <p:spPr>
          <a:xfrm>
            <a:off x="262647" y="1690688"/>
            <a:ext cx="6371617" cy="4943576"/>
          </a:xfrm>
        </p:spPr>
        <p:txBody>
          <a:bodyPr>
            <a:normAutofit fontScale="77500" lnSpcReduction="20000"/>
          </a:bodyPr>
          <a:lstStyle/>
          <a:p>
            <a:pPr marL="0" indent="0">
              <a:buNone/>
            </a:pPr>
            <a:r>
              <a:rPr lang="en-US" sz="1900" dirty="0"/>
              <a:t>#include&lt;iostream&gt;</a:t>
            </a:r>
          </a:p>
          <a:p>
            <a:pPr marL="0" indent="0">
              <a:buNone/>
            </a:pPr>
            <a:r>
              <a:rPr lang="en-US" sz="1900" dirty="0"/>
              <a:t>using namespace std;</a:t>
            </a:r>
          </a:p>
          <a:p>
            <a:pPr marL="0" indent="0">
              <a:buNone/>
            </a:pPr>
            <a:r>
              <a:rPr lang="en-US" sz="1900" dirty="0"/>
              <a:t>  </a:t>
            </a:r>
          </a:p>
          <a:p>
            <a:pPr marL="0" indent="0">
              <a:buNone/>
            </a:pPr>
            <a:r>
              <a:rPr lang="en-US" sz="1900" dirty="0"/>
              <a:t>/* local variable is same as a member's name */</a:t>
            </a:r>
          </a:p>
          <a:p>
            <a:pPr marL="0" indent="0">
              <a:buNone/>
            </a:pPr>
            <a:r>
              <a:rPr lang="en-US" sz="1900" dirty="0"/>
              <a:t>class Test</a:t>
            </a:r>
          </a:p>
          <a:p>
            <a:pPr marL="0" indent="0">
              <a:buNone/>
            </a:pPr>
            <a:r>
              <a:rPr lang="en-US" sz="1900" dirty="0"/>
              <a:t>{</a:t>
            </a:r>
          </a:p>
          <a:p>
            <a:pPr marL="0" indent="0">
              <a:buNone/>
            </a:pPr>
            <a:r>
              <a:rPr lang="en-US" sz="1900" dirty="0"/>
              <a:t>private:</a:t>
            </a:r>
          </a:p>
          <a:p>
            <a:pPr marL="0" indent="0">
              <a:buNone/>
            </a:pPr>
            <a:r>
              <a:rPr lang="en-US" sz="1900" dirty="0"/>
              <a:t>   int x;</a:t>
            </a:r>
          </a:p>
          <a:p>
            <a:pPr marL="0" indent="0">
              <a:buNone/>
            </a:pPr>
            <a:r>
              <a:rPr lang="en-US" sz="1900" dirty="0"/>
              <a:t>public:</a:t>
            </a:r>
          </a:p>
          <a:p>
            <a:pPr marL="0" indent="0">
              <a:buNone/>
            </a:pPr>
            <a:r>
              <a:rPr lang="en-US" sz="1900" dirty="0"/>
              <a:t>   void </a:t>
            </a:r>
            <a:r>
              <a:rPr lang="en-US" sz="1900" dirty="0" err="1"/>
              <a:t>setX</a:t>
            </a:r>
            <a:r>
              <a:rPr lang="en-US" sz="1900" dirty="0"/>
              <a:t> (int x)</a:t>
            </a:r>
          </a:p>
          <a:p>
            <a:pPr marL="0" indent="0">
              <a:buNone/>
            </a:pPr>
            <a:r>
              <a:rPr lang="en-US" sz="1900" dirty="0"/>
              <a:t>   {</a:t>
            </a:r>
          </a:p>
          <a:p>
            <a:pPr marL="0" indent="0">
              <a:buNone/>
            </a:pPr>
            <a:r>
              <a:rPr lang="en-US" sz="1900" dirty="0"/>
              <a:t>       // The 'this' pointer is used to retrieve the object's x</a:t>
            </a:r>
          </a:p>
          <a:p>
            <a:pPr marL="0" indent="0">
              <a:buNone/>
            </a:pPr>
            <a:r>
              <a:rPr lang="en-US" sz="1900" dirty="0"/>
              <a:t>       // hidden by the local variable 'x'</a:t>
            </a:r>
          </a:p>
          <a:p>
            <a:pPr marL="0" indent="0">
              <a:buNone/>
            </a:pPr>
            <a:r>
              <a:rPr lang="en-US" sz="1900" dirty="0"/>
              <a:t>       this-&gt;x = x;</a:t>
            </a:r>
          </a:p>
          <a:p>
            <a:pPr marL="0" indent="0">
              <a:buNone/>
            </a:pPr>
            <a:r>
              <a:rPr lang="en-US" sz="1900" dirty="0"/>
              <a:t>   }</a:t>
            </a:r>
          </a:p>
          <a:p>
            <a:pPr marL="0" indent="0">
              <a:buNone/>
            </a:pPr>
            <a:r>
              <a:rPr lang="en-US" sz="1900" dirty="0"/>
              <a:t>   void print() { </a:t>
            </a:r>
            <a:r>
              <a:rPr lang="en-US" sz="1900" dirty="0" err="1"/>
              <a:t>cout</a:t>
            </a:r>
            <a:r>
              <a:rPr lang="en-US" sz="1900" dirty="0"/>
              <a:t> &lt;&lt; "x = " &lt;&lt; x &lt;&lt; </a:t>
            </a:r>
            <a:r>
              <a:rPr lang="en-US" sz="1900" dirty="0" err="1"/>
              <a:t>endl</a:t>
            </a:r>
            <a:r>
              <a:rPr lang="en-US" sz="1900" dirty="0"/>
              <a:t>; }</a:t>
            </a:r>
          </a:p>
          <a:p>
            <a:pPr marL="0" indent="0">
              <a:buNone/>
            </a:pPr>
            <a:r>
              <a:rPr lang="en-US" sz="1900" dirty="0"/>
              <a:t>};</a:t>
            </a:r>
            <a:endParaRPr lang="en-IN" sz="1200" dirty="0"/>
          </a:p>
        </p:txBody>
      </p:sp>
      <p:sp>
        <p:nvSpPr>
          <p:cNvPr id="5" name="Content Placeholder 4">
            <a:extLst>
              <a:ext uri="{FF2B5EF4-FFF2-40B4-BE49-F238E27FC236}">
                <a16:creationId xmlns:a16="http://schemas.microsoft.com/office/drawing/2014/main" id="{ED73A8A0-D19F-324E-F36B-F09C2D4E5996}"/>
              </a:ext>
            </a:extLst>
          </p:cNvPr>
          <p:cNvSpPr>
            <a:spLocks noGrp="1"/>
          </p:cNvSpPr>
          <p:nvPr>
            <p:ph sz="half" idx="2"/>
          </p:nvPr>
        </p:nvSpPr>
        <p:spPr/>
        <p:txBody>
          <a:bodyPr>
            <a:normAutofit fontScale="77500" lnSpcReduction="20000"/>
          </a:bodyPr>
          <a:lstStyle/>
          <a:p>
            <a:pPr marL="0" indent="0">
              <a:buNone/>
            </a:pPr>
            <a:r>
              <a:rPr lang="en-US" sz="2000" dirty="0"/>
              <a:t>int main()</a:t>
            </a:r>
          </a:p>
          <a:p>
            <a:pPr marL="0" indent="0">
              <a:buNone/>
            </a:pPr>
            <a:r>
              <a:rPr lang="en-US" sz="2000" dirty="0"/>
              <a:t>{</a:t>
            </a:r>
          </a:p>
          <a:p>
            <a:pPr marL="0" indent="0">
              <a:buNone/>
            </a:pPr>
            <a:r>
              <a:rPr lang="en-US" sz="2000" dirty="0"/>
              <a:t>   Test obj;</a:t>
            </a:r>
          </a:p>
          <a:p>
            <a:pPr marL="0" indent="0">
              <a:buNone/>
            </a:pPr>
            <a:r>
              <a:rPr lang="en-US" sz="2000" dirty="0"/>
              <a:t>   int x = 20;</a:t>
            </a:r>
          </a:p>
          <a:p>
            <a:pPr marL="0" indent="0">
              <a:buNone/>
            </a:pPr>
            <a:r>
              <a:rPr lang="en-US" sz="2000" dirty="0"/>
              <a:t>   </a:t>
            </a:r>
            <a:r>
              <a:rPr lang="en-US" sz="2000" dirty="0" err="1"/>
              <a:t>obj.setX</a:t>
            </a:r>
            <a:r>
              <a:rPr lang="en-US" sz="2000" dirty="0"/>
              <a:t>(x);</a:t>
            </a:r>
          </a:p>
          <a:p>
            <a:pPr marL="0" indent="0">
              <a:buNone/>
            </a:pPr>
            <a:r>
              <a:rPr lang="en-US" sz="2000" dirty="0"/>
              <a:t>   </a:t>
            </a:r>
            <a:r>
              <a:rPr lang="en-US" sz="2000" dirty="0" err="1"/>
              <a:t>obj.print</a:t>
            </a:r>
            <a:r>
              <a:rPr lang="en-US" sz="2000" dirty="0"/>
              <a:t>();</a:t>
            </a:r>
          </a:p>
          <a:p>
            <a:pPr marL="0" indent="0">
              <a:buNone/>
            </a:pPr>
            <a:r>
              <a:rPr lang="en-US" sz="2000" dirty="0"/>
              <a:t>   return 0;</a:t>
            </a:r>
          </a:p>
          <a:p>
            <a:pPr marL="0" indent="0">
              <a:buNone/>
            </a:pPr>
            <a:r>
              <a:rPr lang="en-US" sz="2000" dirty="0"/>
              <a:t>}</a:t>
            </a:r>
            <a:endParaRPr lang="en-IN" sz="2000" dirty="0"/>
          </a:p>
        </p:txBody>
      </p:sp>
    </p:spTree>
    <p:extLst>
      <p:ext uri="{BB962C8B-B14F-4D97-AF65-F5344CB8AC3E}">
        <p14:creationId xmlns:p14="http://schemas.microsoft.com/office/powerpoint/2010/main" val="1177430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BB4390-3CE8-BBE8-AEC3-88D99C632D40}"/>
              </a:ext>
            </a:extLst>
          </p:cNvPr>
          <p:cNvSpPr>
            <a:spLocks noGrp="1"/>
          </p:cNvSpPr>
          <p:nvPr>
            <p:ph type="title"/>
          </p:nvPr>
        </p:nvSpPr>
        <p:spPr>
          <a:xfrm>
            <a:off x="3131008" y="271383"/>
            <a:ext cx="5757887" cy="538160"/>
          </a:xfrm>
        </p:spPr>
        <p:txBody>
          <a:bodyPr>
            <a:normAutofit fontScale="90000"/>
          </a:bodyPr>
          <a:lstStyle/>
          <a:p>
            <a:r>
              <a:rPr lang="en-IN" dirty="0"/>
              <a:t>Pass </a:t>
            </a:r>
            <a:r>
              <a:rPr lang="en-IN"/>
              <a:t>By Reference</a:t>
            </a:r>
            <a:endParaRPr lang="en-IN" dirty="0"/>
          </a:p>
        </p:txBody>
      </p:sp>
      <p:sp>
        <p:nvSpPr>
          <p:cNvPr id="7" name="Rectangle 2">
            <a:extLst>
              <a:ext uri="{FF2B5EF4-FFF2-40B4-BE49-F238E27FC236}">
                <a16:creationId xmlns:a16="http://schemas.microsoft.com/office/drawing/2014/main" id="{55A4A7B5-71C6-224C-E046-840F22A1D99C}"/>
              </a:ext>
            </a:extLst>
          </p:cNvPr>
          <p:cNvSpPr>
            <a:spLocks noGrp="1" noChangeArrowheads="1"/>
          </p:cNvSpPr>
          <p:nvPr>
            <p:ph idx="1"/>
          </p:nvPr>
        </p:nvSpPr>
        <p:spPr bwMode="auto">
          <a:xfrm>
            <a:off x="838199" y="1415971"/>
            <a:ext cx="875306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808080"/>
                </a:solidFill>
                <a:effectLst/>
                <a:latin typeface="Consolas" panose="020B0609020204030204" pitchFamily="49" charset="0"/>
              </a:rPr>
              <a:t>#include &lt;iostream&gt;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6699"/>
                </a:solidFill>
                <a:effectLst/>
                <a:latin typeface="Consolas" panose="020B0609020204030204" pitchFamily="49" charset="0"/>
              </a:rPr>
              <a:t>using</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1" i="0" u="none" strike="noStrike" cap="none" normalizeH="0" baseline="0" dirty="0">
                <a:ln>
                  <a:noFill/>
                </a:ln>
                <a:solidFill>
                  <a:srgbClr val="006699"/>
                </a:solidFill>
                <a:effectLst/>
                <a:latin typeface="Consolas" panose="020B0609020204030204" pitchFamily="49" charset="0"/>
              </a:rPr>
              <a:t>namespace</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std;</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6699"/>
                </a:solidFill>
                <a:effectLst/>
                <a:latin typeface="Consolas" panose="020B0609020204030204" pitchFamily="49" charset="0"/>
              </a:rPr>
              <a:t>void</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f(</a:t>
            </a:r>
            <a:r>
              <a:rPr kumimoji="0" lang="en-US" altLang="en-US" sz="2400" b="1" i="0" u="none" strike="noStrike" cap="none" normalizeH="0" baseline="0" dirty="0">
                <a:ln>
                  <a:noFill/>
                </a:ln>
                <a:solidFill>
                  <a:srgbClr val="808080"/>
                </a:solidFill>
                <a:effectLst/>
                <a:latin typeface="Consolas" panose="020B0609020204030204" pitchFamily="49" charset="0"/>
              </a:rPr>
              <a:t>int</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&amp; x)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x--;</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808080"/>
                </a:solidFill>
                <a:effectLst/>
                <a:latin typeface="Consolas" panose="020B0609020204030204" pitchFamily="49" charset="0"/>
              </a:rPr>
              <a:t>int</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main() </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1" i="0" u="none" strike="noStrike" cap="none" normalizeH="0" baseline="0" dirty="0">
                <a:ln>
                  <a:noFill/>
                </a:ln>
                <a:solidFill>
                  <a:srgbClr val="808080"/>
                </a:solidFill>
                <a:effectLst/>
                <a:latin typeface="Consolas" panose="020B0609020204030204" pitchFamily="49" charset="0"/>
              </a:rPr>
              <a:t>int</a:t>
            </a: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a = 5;</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err="1">
                <a:ln>
                  <a:noFill/>
                </a:ln>
                <a:solidFill>
                  <a:srgbClr val="000000"/>
                </a:solidFill>
                <a:effectLst/>
                <a:latin typeface="Consolas" panose="020B0609020204030204" pitchFamily="49" charset="0"/>
              </a:rPr>
              <a:t>cout</a:t>
            </a:r>
            <a:r>
              <a:rPr kumimoji="0" lang="en-US" altLang="en-US" sz="2400" b="0" i="0" u="none" strike="noStrike" cap="none" normalizeH="0" baseline="0" dirty="0">
                <a:ln>
                  <a:noFill/>
                </a:ln>
                <a:solidFill>
                  <a:srgbClr val="000000"/>
                </a:solidFill>
                <a:effectLst/>
                <a:latin typeface="Consolas" panose="020B0609020204030204" pitchFamily="49" charset="0"/>
              </a:rPr>
              <a:t> &lt;&lt; a &lt;&lt; </a:t>
            </a:r>
            <a:r>
              <a:rPr kumimoji="0" lang="en-US" altLang="en-US" sz="2400" b="0" i="0" u="none" strike="noStrike" cap="none" normalizeH="0" baseline="0" dirty="0" err="1">
                <a:ln>
                  <a:noFill/>
                </a:ln>
                <a:solidFill>
                  <a:srgbClr val="000000"/>
                </a:solidFill>
                <a:effectLst/>
                <a:latin typeface="Consolas" panose="020B0609020204030204" pitchFamily="49" charset="0"/>
              </a:rPr>
              <a:t>endl</a:t>
            </a: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a:ln>
                  <a:noFill/>
                </a:ln>
                <a:solidFill>
                  <a:srgbClr val="000000"/>
                </a:solidFill>
                <a:effectLst/>
                <a:latin typeface="Consolas" panose="020B0609020204030204" pitchFamily="49" charset="0"/>
              </a:rPr>
              <a:t>f(a);</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onsolas" panose="020B0609020204030204" pitchFamily="49" charset="0"/>
              </a:rPr>
              <a:t>  </a:t>
            </a:r>
            <a:r>
              <a:rPr kumimoji="0" lang="en-US" altLang="en-US" sz="2400" b="0" i="0" u="none" strike="noStrike" cap="none" normalizeH="0" baseline="0" dirty="0" err="1">
                <a:ln>
                  <a:noFill/>
                </a:ln>
                <a:solidFill>
                  <a:srgbClr val="000000"/>
                </a:solidFill>
                <a:effectLst/>
                <a:latin typeface="Consolas" panose="020B0609020204030204" pitchFamily="49" charset="0"/>
              </a:rPr>
              <a:t>cout</a:t>
            </a:r>
            <a:r>
              <a:rPr kumimoji="0" lang="en-US" altLang="en-US" sz="2400" b="0" i="0" u="none" strike="noStrike" cap="none" normalizeH="0" baseline="0" dirty="0">
                <a:ln>
                  <a:noFill/>
                </a:ln>
                <a:solidFill>
                  <a:srgbClr val="000000"/>
                </a:solidFill>
                <a:effectLst/>
                <a:latin typeface="Consolas" panose="020B0609020204030204" pitchFamily="49" charset="0"/>
              </a:rPr>
              <a:t> &lt;&lt; a &lt;&lt; </a:t>
            </a:r>
            <a:r>
              <a:rPr kumimoji="0" lang="en-US" altLang="en-US" sz="2400" b="0" i="0" u="none" strike="noStrike" cap="none" normalizeH="0" baseline="0" dirty="0" err="1">
                <a:ln>
                  <a:noFill/>
                </a:ln>
                <a:solidFill>
                  <a:srgbClr val="000000"/>
                </a:solidFill>
                <a:effectLst/>
                <a:latin typeface="Consolas" panose="020B0609020204030204" pitchFamily="49" charset="0"/>
              </a:rPr>
              <a:t>endl</a:t>
            </a: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Consolas" panose="020B0609020204030204" pitchFamily="49"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552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038E702-A29B-281F-8BE7-C162A9FC44C6}"/>
              </a:ext>
            </a:extLst>
          </p:cNvPr>
          <p:cNvSpPr>
            <a:spLocks noGrp="1"/>
          </p:cNvSpPr>
          <p:nvPr>
            <p:ph type="title"/>
          </p:nvPr>
        </p:nvSpPr>
        <p:spPr>
          <a:xfrm>
            <a:off x="4353339" y="0"/>
            <a:ext cx="3876262" cy="539336"/>
          </a:xfrm>
        </p:spPr>
        <p:txBody>
          <a:bodyPr>
            <a:normAutofit fontScale="90000"/>
          </a:bodyPr>
          <a:lstStyle/>
          <a:p>
            <a:r>
              <a:rPr lang="en-IN" dirty="0"/>
              <a:t>Call by reference</a:t>
            </a:r>
          </a:p>
        </p:txBody>
      </p:sp>
      <p:sp>
        <p:nvSpPr>
          <p:cNvPr id="7" name="Content Placeholder 6">
            <a:extLst>
              <a:ext uri="{FF2B5EF4-FFF2-40B4-BE49-F238E27FC236}">
                <a16:creationId xmlns:a16="http://schemas.microsoft.com/office/drawing/2014/main" id="{76D22AED-9312-1AE6-390A-71FBB801AC59}"/>
              </a:ext>
            </a:extLst>
          </p:cNvPr>
          <p:cNvSpPr>
            <a:spLocks noGrp="1"/>
          </p:cNvSpPr>
          <p:nvPr>
            <p:ph sz="half" idx="1"/>
          </p:nvPr>
        </p:nvSpPr>
        <p:spPr>
          <a:xfrm>
            <a:off x="387626" y="539336"/>
            <a:ext cx="5632174" cy="5881341"/>
          </a:xfrm>
        </p:spPr>
        <p:txBody>
          <a:bodyPr>
            <a:normAutofit fontScale="32500" lnSpcReduction="20000"/>
          </a:bodyPr>
          <a:lstStyle/>
          <a:p>
            <a:pPr marL="0" indent="0">
              <a:buNone/>
            </a:pPr>
            <a:r>
              <a:rPr lang="en-IN" sz="5500" dirty="0"/>
              <a:t>#include &lt;iostream&gt;</a:t>
            </a:r>
          </a:p>
          <a:p>
            <a:pPr marL="0" indent="0">
              <a:buNone/>
            </a:pPr>
            <a:r>
              <a:rPr lang="en-IN" sz="5500" dirty="0"/>
              <a:t>using namespace std;</a:t>
            </a:r>
          </a:p>
          <a:p>
            <a:pPr marL="0" indent="0">
              <a:buNone/>
            </a:pPr>
            <a:endParaRPr lang="en-IN" sz="5500" dirty="0"/>
          </a:p>
          <a:p>
            <a:pPr marL="0" indent="0">
              <a:buNone/>
            </a:pPr>
            <a:r>
              <a:rPr lang="en-IN" sz="5500" dirty="0"/>
              <a:t>void swap(int &amp;x, int &amp;y);</a:t>
            </a:r>
          </a:p>
          <a:p>
            <a:pPr marL="0" indent="0">
              <a:buNone/>
            </a:pPr>
            <a:r>
              <a:rPr lang="en-IN" sz="5500" dirty="0"/>
              <a:t>int main () {</a:t>
            </a:r>
          </a:p>
          <a:p>
            <a:pPr marL="0" indent="0">
              <a:buNone/>
            </a:pPr>
            <a:r>
              <a:rPr lang="en-IN" sz="5500" dirty="0"/>
              <a:t>   // local variable declaration:</a:t>
            </a:r>
          </a:p>
          <a:p>
            <a:pPr marL="0" indent="0">
              <a:buNone/>
            </a:pPr>
            <a:r>
              <a:rPr lang="en-IN" sz="5500" dirty="0"/>
              <a:t>   int a = 100;</a:t>
            </a:r>
          </a:p>
          <a:p>
            <a:pPr marL="0" indent="0">
              <a:buNone/>
            </a:pPr>
            <a:r>
              <a:rPr lang="en-IN" sz="5500" dirty="0"/>
              <a:t>   int b = 200;</a:t>
            </a:r>
          </a:p>
          <a:p>
            <a:pPr marL="0" indent="0">
              <a:buNone/>
            </a:pPr>
            <a:r>
              <a:rPr lang="en-IN" sz="5500" dirty="0"/>
              <a:t>   </a:t>
            </a:r>
            <a:r>
              <a:rPr lang="en-IN" sz="5500" dirty="0" err="1"/>
              <a:t>cout</a:t>
            </a:r>
            <a:r>
              <a:rPr lang="en-IN" sz="5500" dirty="0"/>
              <a:t> &lt;&lt; "Before swap, value of a :" &lt;&lt; a &lt;&lt; </a:t>
            </a:r>
            <a:r>
              <a:rPr lang="en-IN" sz="5500" dirty="0" err="1"/>
              <a:t>endl</a:t>
            </a:r>
            <a:r>
              <a:rPr lang="en-IN" sz="5500" dirty="0"/>
              <a:t>;</a:t>
            </a:r>
          </a:p>
          <a:p>
            <a:pPr marL="0" indent="0">
              <a:buNone/>
            </a:pPr>
            <a:r>
              <a:rPr lang="en-IN" sz="5500" dirty="0"/>
              <a:t>   </a:t>
            </a:r>
            <a:r>
              <a:rPr lang="en-IN" sz="5500" dirty="0" err="1"/>
              <a:t>cout</a:t>
            </a:r>
            <a:r>
              <a:rPr lang="en-IN" sz="5500" dirty="0"/>
              <a:t> &lt;&lt; "Before swap, value of b :" &lt;&lt; b &lt;&lt; </a:t>
            </a:r>
            <a:r>
              <a:rPr lang="en-IN" sz="5500" dirty="0" err="1"/>
              <a:t>endl</a:t>
            </a:r>
            <a:r>
              <a:rPr lang="en-IN" sz="5500" dirty="0"/>
              <a:t>;</a:t>
            </a:r>
          </a:p>
          <a:p>
            <a:pPr marL="0" indent="0">
              <a:buNone/>
            </a:pPr>
            <a:endParaRPr lang="en-IN" sz="5500" dirty="0"/>
          </a:p>
          <a:p>
            <a:pPr marL="0" indent="0">
              <a:buNone/>
            </a:pPr>
            <a:r>
              <a:rPr lang="en-IN" sz="5500" dirty="0"/>
              <a:t>   /* calling a function to swap the values using variable reference.*/</a:t>
            </a:r>
          </a:p>
          <a:p>
            <a:pPr marL="0" indent="0">
              <a:buNone/>
            </a:pPr>
            <a:r>
              <a:rPr lang="en-IN" sz="5500" dirty="0"/>
              <a:t>   swap(a, b);</a:t>
            </a:r>
          </a:p>
          <a:p>
            <a:pPr marL="0" indent="0">
              <a:buNone/>
            </a:pPr>
            <a:r>
              <a:rPr lang="en-IN" sz="5500" dirty="0"/>
              <a:t>   </a:t>
            </a:r>
            <a:r>
              <a:rPr lang="en-IN" sz="5500" dirty="0" err="1"/>
              <a:t>cout</a:t>
            </a:r>
            <a:r>
              <a:rPr lang="en-IN" sz="5500" dirty="0"/>
              <a:t> &lt;&lt; "After swap, value of a :" &lt;&lt; a &lt;&lt; </a:t>
            </a:r>
            <a:r>
              <a:rPr lang="en-IN" sz="5500" dirty="0" err="1"/>
              <a:t>endl</a:t>
            </a:r>
            <a:r>
              <a:rPr lang="en-IN" sz="5500" dirty="0"/>
              <a:t>;</a:t>
            </a:r>
          </a:p>
          <a:p>
            <a:pPr marL="0" indent="0">
              <a:buNone/>
            </a:pPr>
            <a:r>
              <a:rPr lang="en-IN" sz="5500" dirty="0"/>
              <a:t>   </a:t>
            </a:r>
            <a:r>
              <a:rPr lang="en-IN" sz="5500" dirty="0" err="1"/>
              <a:t>cout</a:t>
            </a:r>
            <a:r>
              <a:rPr lang="en-IN" sz="5500" dirty="0"/>
              <a:t> &lt;&lt; "After swap, value of b :" &lt;&lt; b &lt;&lt; </a:t>
            </a:r>
            <a:r>
              <a:rPr lang="en-IN" sz="5500" dirty="0" err="1"/>
              <a:t>endl</a:t>
            </a:r>
            <a:r>
              <a:rPr lang="en-IN" sz="5500" dirty="0"/>
              <a:t>;</a:t>
            </a:r>
          </a:p>
          <a:p>
            <a:pPr marL="0" indent="0">
              <a:buNone/>
            </a:pPr>
            <a:r>
              <a:rPr lang="en-IN" sz="5500" dirty="0"/>
              <a:t>    return 0;</a:t>
            </a:r>
          </a:p>
          <a:p>
            <a:pPr marL="0" indent="0">
              <a:buNone/>
            </a:pPr>
            <a:r>
              <a:rPr lang="en-IN" sz="5500" dirty="0"/>
              <a:t>}</a:t>
            </a:r>
          </a:p>
          <a:p>
            <a:pPr marL="0" indent="0">
              <a:buNone/>
            </a:pPr>
            <a:endParaRPr lang="en-IN" dirty="0"/>
          </a:p>
        </p:txBody>
      </p:sp>
      <p:sp>
        <p:nvSpPr>
          <p:cNvPr id="8" name="Content Placeholder 7">
            <a:extLst>
              <a:ext uri="{FF2B5EF4-FFF2-40B4-BE49-F238E27FC236}">
                <a16:creationId xmlns:a16="http://schemas.microsoft.com/office/drawing/2014/main" id="{19639545-8233-780A-E586-22CC504EE0DF}"/>
              </a:ext>
            </a:extLst>
          </p:cNvPr>
          <p:cNvSpPr>
            <a:spLocks noGrp="1"/>
          </p:cNvSpPr>
          <p:nvPr>
            <p:ph sz="half" idx="2"/>
          </p:nvPr>
        </p:nvSpPr>
        <p:spPr>
          <a:xfrm>
            <a:off x="5715000" y="539336"/>
            <a:ext cx="6261652" cy="5637627"/>
          </a:xfrm>
        </p:spPr>
        <p:txBody>
          <a:bodyPr>
            <a:noAutofit/>
          </a:bodyPr>
          <a:lstStyle/>
          <a:p>
            <a:pPr marL="0" indent="0">
              <a:buNone/>
            </a:pPr>
            <a:r>
              <a:rPr lang="en-US" sz="2400" dirty="0"/>
              <a:t>// function definition to swap the values.</a:t>
            </a:r>
          </a:p>
          <a:p>
            <a:pPr marL="0" indent="0">
              <a:buNone/>
            </a:pPr>
            <a:r>
              <a:rPr lang="en-US" sz="2400" dirty="0"/>
              <a:t>void swap(int &amp;x, int &amp;y) {</a:t>
            </a:r>
          </a:p>
          <a:p>
            <a:pPr marL="0" indent="0">
              <a:buNone/>
            </a:pPr>
            <a:r>
              <a:rPr lang="en-US" sz="2400" dirty="0"/>
              <a:t>   int temp;</a:t>
            </a:r>
          </a:p>
          <a:p>
            <a:pPr marL="0" indent="0">
              <a:buNone/>
            </a:pPr>
            <a:r>
              <a:rPr lang="en-US" sz="2400" dirty="0"/>
              <a:t>   temp = x; /* save the value at address x */</a:t>
            </a:r>
          </a:p>
          <a:p>
            <a:pPr marL="0" indent="0">
              <a:buNone/>
            </a:pPr>
            <a:r>
              <a:rPr lang="en-US" sz="2400" dirty="0"/>
              <a:t>   x = y;    /* put y into x */</a:t>
            </a:r>
          </a:p>
          <a:p>
            <a:pPr marL="0" indent="0">
              <a:buNone/>
            </a:pPr>
            <a:r>
              <a:rPr lang="en-US" sz="2400" dirty="0"/>
              <a:t>   y = temp; /* put x into y */</a:t>
            </a:r>
          </a:p>
          <a:p>
            <a:pPr marL="0" indent="0">
              <a:buNone/>
            </a:pPr>
            <a:r>
              <a:rPr lang="en-US" sz="2400" dirty="0"/>
              <a:t>    return;</a:t>
            </a:r>
          </a:p>
          <a:p>
            <a:pPr marL="0" indent="0">
              <a:buNone/>
            </a:pPr>
            <a:r>
              <a:rPr lang="en-US" sz="3200" dirty="0"/>
              <a:t>}</a:t>
            </a:r>
            <a:endParaRPr lang="en-IN" sz="3200" dirty="0"/>
          </a:p>
        </p:txBody>
      </p:sp>
    </p:spTree>
    <p:extLst>
      <p:ext uri="{BB962C8B-B14F-4D97-AF65-F5344CB8AC3E}">
        <p14:creationId xmlns:p14="http://schemas.microsoft.com/office/powerpoint/2010/main" val="3907226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FB6A4-11FB-0477-703D-E938124490BD}"/>
              </a:ext>
            </a:extLst>
          </p:cNvPr>
          <p:cNvSpPr>
            <a:spLocks noGrp="1"/>
          </p:cNvSpPr>
          <p:nvPr>
            <p:ph type="title"/>
          </p:nvPr>
        </p:nvSpPr>
        <p:spPr/>
        <p:txBody>
          <a:bodyPr/>
          <a:lstStyle/>
          <a:p>
            <a:r>
              <a:rPr lang="en-US" b="1" i="0" dirty="0">
                <a:solidFill>
                  <a:srgbClr val="273239"/>
                </a:solidFill>
                <a:effectLst/>
                <a:latin typeface="Nunito" pitchFamily="2" charset="0"/>
              </a:rPr>
              <a:t>To return reference to the calling object</a:t>
            </a:r>
            <a:endParaRPr lang="en-IN" dirty="0"/>
          </a:p>
        </p:txBody>
      </p:sp>
      <p:sp>
        <p:nvSpPr>
          <p:cNvPr id="5" name="Rectangle 2">
            <a:extLst>
              <a:ext uri="{FF2B5EF4-FFF2-40B4-BE49-F238E27FC236}">
                <a16:creationId xmlns:a16="http://schemas.microsoft.com/office/drawing/2014/main" id="{4A6D615C-6716-553E-FB5E-53F407BEB196}"/>
              </a:ext>
            </a:extLst>
          </p:cNvPr>
          <p:cNvSpPr>
            <a:spLocks noGrp="1" noChangeArrowheads="1"/>
          </p:cNvSpPr>
          <p:nvPr>
            <p:ph sz="half" idx="1"/>
          </p:nvPr>
        </p:nvSpPr>
        <p:spPr bwMode="auto">
          <a:xfrm>
            <a:off x="342371" y="1659060"/>
            <a:ext cx="6994187"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808080"/>
                </a:solidFill>
                <a:effectLst/>
                <a:latin typeface="Consolas" panose="020B0609020204030204" pitchFamily="49" charset="0"/>
              </a:rPr>
              <a:t>#include&lt;iostream&gt;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using</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006699"/>
                </a:solidFill>
                <a:effectLst/>
                <a:latin typeface="Consolas" panose="020B0609020204030204" pitchFamily="49" charset="0"/>
              </a:rPr>
              <a:t>namespace</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std;</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100" b="0" i="0" u="none" strike="noStrike" cap="none" normalizeH="0" baseline="0" dirty="0">
                <a:ln>
                  <a:noFill/>
                </a:ln>
                <a:solidFill>
                  <a:srgbClr val="273239"/>
                </a:solidFill>
                <a:effectLst/>
                <a:latin typeface="Consolas" panose="020B0609020204030204" pitchFamily="49" charset="0"/>
              </a:rPr>
              <a:t> </a:t>
            </a:r>
            <a:endParaRPr kumimoji="0" lang="en-US" altLang="en-US" sz="3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class</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Test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private</a:t>
            </a:r>
            <a:r>
              <a:rPr kumimoji="0" lang="en-US" altLang="en-US" sz="18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x;</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y;</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6699"/>
                </a:solidFill>
                <a:effectLst/>
                <a:latin typeface="Consolas" panose="020B0609020204030204" pitchFamily="49" charset="0"/>
              </a:rPr>
              <a:t>public</a:t>
            </a:r>
            <a:r>
              <a:rPr kumimoji="0" lang="en-US" altLang="en-US" sz="1800" b="0" i="0" u="none" strike="noStrike" cap="none" normalizeH="0" baseline="0" dirty="0">
                <a:ln>
                  <a:noFill/>
                </a:ln>
                <a:solidFill>
                  <a:srgbClr val="000000"/>
                </a:solidFill>
                <a:effectLst/>
                <a:latin typeface="Consolas" panose="020B0609020204030204" pitchFamily="49" charset="0"/>
              </a:rPr>
              <a:t>:</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Test(</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x = 0, </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y = 0) { </a:t>
            </a:r>
            <a:r>
              <a:rPr kumimoji="0" lang="en-US" altLang="en-US" sz="1800" b="1" i="0" u="none" strike="noStrike" cap="none" normalizeH="0" baseline="0" dirty="0">
                <a:ln>
                  <a:noFill/>
                </a:ln>
                <a:solidFill>
                  <a:srgbClr val="006699"/>
                </a:solidFill>
                <a:effectLst/>
                <a:latin typeface="Consolas" panose="020B0609020204030204" pitchFamily="49" charset="0"/>
              </a:rPr>
              <a:t>this</a:t>
            </a:r>
            <a:r>
              <a:rPr kumimoji="0" lang="en-US" altLang="en-US" sz="1800" b="0" i="0" u="none" strike="noStrike" cap="none" normalizeH="0" baseline="0" dirty="0">
                <a:ln>
                  <a:noFill/>
                </a:ln>
                <a:solidFill>
                  <a:srgbClr val="000000"/>
                </a:solidFill>
                <a:effectLst/>
                <a:latin typeface="Consolas" panose="020B0609020204030204" pitchFamily="49" charset="0"/>
              </a:rPr>
              <a:t>-&gt;x = x; </a:t>
            </a:r>
            <a:r>
              <a:rPr kumimoji="0" lang="en-US" altLang="en-US" sz="1800" b="1" i="0" u="none" strike="noStrike" cap="none" normalizeH="0" baseline="0" dirty="0">
                <a:ln>
                  <a:noFill/>
                </a:ln>
                <a:solidFill>
                  <a:srgbClr val="006699"/>
                </a:solidFill>
                <a:effectLst/>
                <a:latin typeface="Consolas" panose="020B0609020204030204" pitchFamily="49" charset="0"/>
              </a:rPr>
              <a:t>this</a:t>
            </a:r>
            <a:r>
              <a:rPr kumimoji="0" lang="en-US" altLang="en-US" sz="1800" b="0" i="0" u="none" strike="noStrike" cap="none" normalizeH="0" baseline="0" dirty="0">
                <a:ln>
                  <a:noFill/>
                </a:ln>
                <a:solidFill>
                  <a:srgbClr val="000000"/>
                </a:solidFill>
                <a:effectLst/>
                <a:latin typeface="Consolas" panose="020B0609020204030204" pitchFamily="49" charset="0"/>
              </a:rPr>
              <a:t>-&gt;y = y;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Test &amp;</a:t>
            </a:r>
            <a:r>
              <a:rPr kumimoji="0" lang="en-US" altLang="en-US" sz="1800" b="0" i="0" u="none" strike="noStrike" cap="none" normalizeH="0" baseline="0" dirty="0" err="1">
                <a:ln>
                  <a:noFill/>
                </a:ln>
                <a:solidFill>
                  <a:srgbClr val="000000"/>
                </a:solidFill>
                <a:effectLst/>
                <a:latin typeface="Consolas" panose="020B0609020204030204" pitchFamily="49" charset="0"/>
              </a:rPr>
              <a:t>setX</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a) { x = a; </a:t>
            </a:r>
            <a:r>
              <a:rPr kumimoji="0" lang="en-US" altLang="en-US" sz="1800" b="1" i="0" u="none" strike="noStrike" cap="none" normalizeH="0" baseline="0" dirty="0">
                <a:ln>
                  <a:noFill/>
                </a:ln>
                <a:solidFill>
                  <a:srgbClr val="006699"/>
                </a:solidFill>
                <a:effectLst/>
                <a:latin typeface="Consolas" panose="020B0609020204030204" pitchFamily="49" charset="0"/>
              </a:rPr>
              <a:t>return</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1" i="0" u="none" strike="noStrike" cap="none" normalizeH="0" baseline="0" dirty="0">
                <a:ln>
                  <a:noFill/>
                </a:ln>
                <a:solidFill>
                  <a:srgbClr val="006699"/>
                </a:solidFill>
                <a:effectLst/>
                <a:latin typeface="Consolas" panose="020B0609020204030204" pitchFamily="49" charset="0"/>
              </a:rPr>
              <a:t>this</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Test &amp;</a:t>
            </a:r>
            <a:r>
              <a:rPr kumimoji="0" lang="en-US" altLang="en-US" sz="1800" b="0" i="0" u="none" strike="noStrike" cap="none" normalizeH="0" baseline="0" dirty="0" err="1">
                <a:ln>
                  <a:noFill/>
                </a:ln>
                <a:solidFill>
                  <a:srgbClr val="000000"/>
                </a:solidFill>
                <a:effectLst/>
                <a:latin typeface="Consolas" panose="020B0609020204030204" pitchFamily="49" charset="0"/>
              </a:rPr>
              <a:t>setY</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1" i="0" u="none" strike="noStrike" cap="none" normalizeH="0" baseline="0" dirty="0">
                <a:ln>
                  <a:noFill/>
                </a:ln>
                <a:solidFill>
                  <a:srgbClr val="808080"/>
                </a:solidFill>
                <a:effectLst/>
                <a:latin typeface="Consolas" panose="020B0609020204030204" pitchFamily="49" charset="0"/>
              </a:rPr>
              <a:t>int</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b) { y = b; </a:t>
            </a:r>
            <a:r>
              <a:rPr kumimoji="0" lang="en-US" altLang="en-US" sz="1800" b="1" i="0" u="none" strike="noStrike" cap="none" normalizeH="0" baseline="0" dirty="0">
                <a:ln>
                  <a:noFill/>
                </a:ln>
                <a:solidFill>
                  <a:srgbClr val="006699"/>
                </a:solidFill>
                <a:effectLst/>
                <a:latin typeface="Consolas" panose="020B0609020204030204" pitchFamily="49" charset="0"/>
              </a:rPr>
              <a:t>return</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a:t>
            </a:r>
            <a:r>
              <a:rPr kumimoji="0" lang="en-US" altLang="en-US" sz="1800" b="1" i="0" u="none" strike="noStrike" cap="none" normalizeH="0" baseline="0" dirty="0">
                <a:ln>
                  <a:noFill/>
                </a:ln>
                <a:solidFill>
                  <a:srgbClr val="006699"/>
                </a:solidFill>
                <a:effectLst/>
                <a:latin typeface="Consolas" panose="020B0609020204030204" pitchFamily="49" charset="0"/>
              </a:rPr>
              <a:t>this</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Consolas" panose="020B0609020204030204" pitchFamily="49" charset="0"/>
              </a:rPr>
              <a:t>  </a:t>
            </a:r>
            <a:r>
              <a:rPr kumimoji="0" lang="en-US" altLang="en-US" sz="1800" b="1" i="0" u="none" strike="noStrike" cap="none" normalizeH="0" baseline="0" dirty="0">
                <a:ln>
                  <a:noFill/>
                </a:ln>
                <a:solidFill>
                  <a:srgbClr val="006699"/>
                </a:solidFill>
                <a:effectLst/>
                <a:latin typeface="Consolas" panose="020B0609020204030204" pitchFamily="49" charset="0"/>
              </a:rPr>
              <a:t>void</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print() { </a:t>
            </a:r>
            <a:r>
              <a:rPr kumimoji="0" lang="en-US" altLang="en-US" sz="1800" b="0" i="0" u="none" strike="noStrike" cap="none" normalizeH="0" baseline="0" dirty="0" err="1">
                <a:ln>
                  <a:noFill/>
                </a:ln>
                <a:solidFill>
                  <a:srgbClr val="000000"/>
                </a:solidFill>
                <a:effectLst/>
                <a:latin typeface="Consolas" panose="020B0609020204030204" pitchFamily="49" charset="0"/>
              </a:rPr>
              <a:t>cout</a:t>
            </a:r>
            <a:r>
              <a:rPr kumimoji="0" lang="en-US" altLang="en-US" sz="1800" b="0" i="0" u="none" strike="noStrike" cap="none" normalizeH="0" baseline="0" dirty="0">
                <a:ln>
                  <a:noFill/>
                </a:ln>
                <a:solidFill>
                  <a:srgbClr val="000000"/>
                </a:solidFill>
                <a:effectLst/>
                <a:latin typeface="Consolas" panose="020B0609020204030204" pitchFamily="49" charset="0"/>
              </a:rPr>
              <a:t> &lt;&lt; </a:t>
            </a:r>
            <a:r>
              <a:rPr kumimoji="0" lang="en-US" altLang="en-US" sz="1800" b="0" i="0" u="none" strike="noStrike" cap="none" normalizeH="0" baseline="0" dirty="0">
                <a:ln>
                  <a:noFill/>
                </a:ln>
                <a:solidFill>
                  <a:srgbClr val="0000FF"/>
                </a:solidFill>
                <a:effectLst/>
                <a:latin typeface="Consolas" panose="020B0609020204030204" pitchFamily="49" charset="0"/>
              </a:rPr>
              <a:t>"x = "</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&lt;&lt; x &lt;&lt; </a:t>
            </a:r>
            <a:r>
              <a:rPr kumimoji="0" lang="en-US" altLang="en-US" sz="1800" b="0" i="0" u="none" strike="noStrike" cap="none" normalizeH="0" baseline="0" dirty="0">
                <a:ln>
                  <a:noFill/>
                </a:ln>
                <a:solidFill>
                  <a:srgbClr val="0000FF"/>
                </a:solidFill>
                <a:effectLst/>
                <a:latin typeface="Consolas" panose="020B0609020204030204" pitchFamily="49" charset="0"/>
              </a:rPr>
              <a:t>" y = "</a:t>
            </a:r>
            <a:r>
              <a:rPr kumimoji="0" lang="en-US" altLang="en-US" sz="1100" b="0" i="0" u="none" strike="noStrike" cap="none" normalizeH="0" baseline="0" dirty="0">
                <a:ln>
                  <a:noFill/>
                </a:ln>
                <a:solidFill>
                  <a:srgbClr val="273239"/>
                </a:solidFill>
                <a:effectLst/>
                <a:latin typeface="Consolas" panose="020B0609020204030204" pitchFamily="49" charset="0"/>
              </a:rPr>
              <a:t> </a:t>
            </a:r>
            <a:r>
              <a:rPr kumimoji="0" lang="en-US" altLang="en-US" sz="1800" b="0" i="0" u="none" strike="noStrike" cap="none" normalizeH="0" baseline="0" dirty="0">
                <a:ln>
                  <a:noFill/>
                </a:ln>
                <a:solidFill>
                  <a:srgbClr val="000000"/>
                </a:solidFill>
                <a:effectLst/>
                <a:latin typeface="Consolas" panose="020B0609020204030204" pitchFamily="49" charset="0"/>
              </a:rPr>
              <a:t>&lt;&lt; y &lt;&lt; </a:t>
            </a:r>
            <a:r>
              <a:rPr kumimoji="0" lang="en-US" altLang="en-US" sz="1800" b="0" i="0" u="none" strike="noStrike" cap="none" normalizeH="0" baseline="0" dirty="0" err="1">
                <a:ln>
                  <a:noFill/>
                </a:ln>
                <a:solidFill>
                  <a:srgbClr val="000000"/>
                </a:solidFill>
                <a:effectLst/>
                <a:latin typeface="Consolas" panose="020B0609020204030204" pitchFamily="49" charset="0"/>
              </a:rPr>
              <a:t>endl</a:t>
            </a:r>
            <a:r>
              <a:rPr kumimoji="0" lang="en-US" altLang="en-US" sz="1800" b="0" i="0" u="none" strike="noStrike" cap="none" normalizeH="0" baseline="0" dirty="0">
                <a:ln>
                  <a:noFill/>
                </a:ln>
                <a:solidFill>
                  <a:srgbClr val="000000"/>
                </a:solidFill>
                <a:effectLst/>
                <a:latin typeface="Consolas" panose="020B0609020204030204" pitchFamily="49" charset="0"/>
              </a:rPr>
              <a:t>; }</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onsolas" panose="020B0609020204030204" pitchFamily="49"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42B5C5D9-D8F2-146B-0F9E-3F75F67772B3}"/>
              </a:ext>
            </a:extLst>
          </p:cNvPr>
          <p:cNvSpPr>
            <a:spLocks noGrp="1" noChangeArrowheads="1"/>
          </p:cNvSpPr>
          <p:nvPr>
            <p:ph sz="half" idx="2"/>
          </p:nvPr>
        </p:nvSpPr>
        <p:spPr bwMode="auto">
          <a:xfrm>
            <a:off x="7723761" y="1846868"/>
            <a:ext cx="4319081" cy="4308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808080"/>
                </a:solidFill>
                <a:effectLst/>
                <a:latin typeface="Consolas" panose="020B0609020204030204" pitchFamily="49" charset="0"/>
              </a:rPr>
              <a:t>int</a:t>
            </a: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main()</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Test obj1(5, 5);</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273239"/>
                </a:solidFill>
                <a:effectLst/>
                <a:latin typeface="Consolas" panose="020B0609020204030204" pitchFamily="49" charset="0"/>
              </a:rPr>
              <a:t> </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Chained function calls.  All calls modify the same object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8200"/>
                </a:solidFill>
                <a:effectLst/>
                <a:latin typeface="Consolas" panose="020B0609020204030204" pitchFamily="49" charset="0"/>
              </a:rPr>
              <a:t>// as the same object is returned by reference</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obj1.setX(10).</a:t>
            </a:r>
            <a:r>
              <a:rPr kumimoji="0" lang="en-US" altLang="en-US" sz="2000" b="0" i="0" u="none" strike="noStrike" cap="none" normalizeH="0" baseline="0" dirty="0" err="1">
                <a:ln>
                  <a:noFill/>
                </a:ln>
                <a:solidFill>
                  <a:srgbClr val="000000"/>
                </a:solidFill>
                <a:effectLst/>
                <a:latin typeface="Consolas" panose="020B0609020204030204" pitchFamily="49" charset="0"/>
              </a:rPr>
              <a:t>setY</a:t>
            </a:r>
            <a:r>
              <a:rPr kumimoji="0" lang="en-US" altLang="en-US" sz="2000" b="0" i="0" u="none" strike="noStrike" cap="none" normalizeH="0" baseline="0" dirty="0">
                <a:ln>
                  <a:noFill/>
                </a:ln>
                <a:solidFill>
                  <a:srgbClr val="000000"/>
                </a:solidFill>
                <a:effectLst/>
                <a:latin typeface="Consolas" panose="020B0609020204030204" pitchFamily="49" charset="0"/>
              </a:rPr>
              <a:t>(20);</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1200" b="0" i="0" u="none" strike="noStrike" cap="none" normalizeH="0" baseline="0" dirty="0">
                <a:ln>
                  <a:noFill/>
                </a:ln>
                <a:solidFill>
                  <a:srgbClr val="273239"/>
                </a:solidFill>
                <a:effectLst/>
                <a:latin typeface="Consolas" panose="020B0609020204030204" pitchFamily="49" charset="0"/>
              </a:rPr>
              <a:t> </a:t>
            </a:r>
            <a:endParaRPr kumimoji="0" lang="en-US" altLang="en-US" sz="3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obj1.print();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Consolas" panose="020B0609020204030204" pitchFamily="49" charset="0"/>
              </a:rPr>
              <a:t>  </a:t>
            </a:r>
            <a:r>
              <a:rPr kumimoji="0" lang="en-US" altLang="en-US" sz="2000" b="1" i="0" u="none" strike="noStrike" cap="none" normalizeH="0" baseline="0" dirty="0">
                <a:ln>
                  <a:noFill/>
                </a:ln>
                <a:solidFill>
                  <a:srgbClr val="006699"/>
                </a:solidFill>
                <a:effectLst/>
                <a:latin typeface="Consolas" panose="020B0609020204030204" pitchFamily="49" charset="0"/>
              </a:rPr>
              <a:t>return</a:t>
            </a:r>
            <a:r>
              <a:rPr kumimoji="0" lang="en-US" altLang="en-US" sz="1200" b="0" i="0" u="none" strike="noStrike" cap="none" normalizeH="0" baseline="0" dirty="0">
                <a:ln>
                  <a:noFill/>
                </a:ln>
                <a:solidFill>
                  <a:srgbClr val="273239"/>
                </a:solidFill>
                <a:effectLst/>
                <a:latin typeface="Consolas" panose="020B0609020204030204" pitchFamily="49" charset="0"/>
              </a:rPr>
              <a:t> </a:t>
            </a:r>
            <a:r>
              <a:rPr kumimoji="0" lang="en-US" altLang="en-US" sz="2000" b="0" i="0" u="none" strike="noStrike" cap="none" normalizeH="0" baseline="0" dirty="0">
                <a:ln>
                  <a:noFill/>
                </a:ln>
                <a:solidFill>
                  <a:srgbClr val="000000"/>
                </a:solidFill>
                <a:effectLst/>
                <a:latin typeface="Consolas" panose="020B0609020204030204" pitchFamily="49" charset="0"/>
              </a:rPr>
              <a:t>0;</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730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37DB-77A5-E586-EF9F-6E0FF7FEF7EC}"/>
              </a:ext>
            </a:extLst>
          </p:cNvPr>
          <p:cNvSpPr>
            <a:spLocks noGrp="1"/>
          </p:cNvSpPr>
          <p:nvPr>
            <p:ph type="title"/>
          </p:nvPr>
        </p:nvSpPr>
        <p:spPr>
          <a:xfrm>
            <a:off x="838200" y="365125"/>
            <a:ext cx="10515600" cy="45719"/>
          </a:xfrm>
        </p:spPr>
        <p:txBody>
          <a:bodyPr>
            <a:normAutofit fontScale="90000"/>
          </a:bodyPr>
          <a:lstStyle/>
          <a:p>
            <a:r>
              <a:rPr lang="en-IN" dirty="0"/>
              <a:t>Static Data Member</a:t>
            </a:r>
          </a:p>
        </p:txBody>
      </p:sp>
      <p:sp>
        <p:nvSpPr>
          <p:cNvPr id="4" name="Rectangle 2">
            <a:extLst>
              <a:ext uri="{FF2B5EF4-FFF2-40B4-BE49-F238E27FC236}">
                <a16:creationId xmlns:a16="http://schemas.microsoft.com/office/drawing/2014/main" id="{35DF19C0-D24B-7849-DF35-287748D7BB85}"/>
              </a:ext>
            </a:extLst>
          </p:cNvPr>
          <p:cNvSpPr>
            <a:spLocks noGrp="1" noChangeArrowheads="1"/>
          </p:cNvSpPr>
          <p:nvPr>
            <p:ph idx="1"/>
          </p:nvPr>
        </p:nvSpPr>
        <p:spPr bwMode="auto">
          <a:xfrm>
            <a:off x="838200" y="985084"/>
            <a:ext cx="8490626" cy="6032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8200"/>
                </a:solidFill>
                <a:effectLst/>
                <a:latin typeface="Consolas" panose="020B0609020204030204" pitchFamily="49" charset="0"/>
              </a:rPr>
              <a:t>// C++ Program to demonstrate</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8200"/>
                </a:solidFill>
                <a:effectLst/>
                <a:latin typeface="Consolas" panose="020B0609020204030204" pitchFamily="49" charset="0"/>
              </a:rPr>
              <a:t>// Static member in a class</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808080"/>
                </a:solidFill>
                <a:effectLst/>
                <a:latin typeface="Consolas" panose="020B0609020204030204" pitchFamily="49" charset="0"/>
              </a:rPr>
              <a:t>#include &lt;iostream&gt;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using</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namespace</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class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006699"/>
                </a:solidFill>
                <a:effectLst/>
                <a:latin typeface="Consolas" panose="020B0609020204030204" pitchFamily="49" charset="0"/>
              </a:rPr>
              <a:t>public</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static member</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static</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808080"/>
                </a:solidFill>
                <a:effectLst/>
                <a:latin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total;</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Constructor called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 { total += 1;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808080"/>
                </a:solidFill>
                <a:effectLst/>
                <a:latin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Student::total = 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808080"/>
                </a:solidFill>
                <a:effectLst/>
                <a:latin typeface="Consolas" panose="020B0609020204030204" pitchFamily="49" charset="0"/>
              </a:rPr>
              <a:t>int</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main()</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Student 1 declared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 s1;</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cout</a:t>
            </a:r>
            <a:r>
              <a:rPr kumimoji="0" lang="en-US" altLang="en-US" sz="1400" b="0" i="0" u="none" strike="noStrike" cap="none" normalizeH="0" baseline="0" dirty="0">
                <a:ln>
                  <a:noFill/>
                </a:ln>
                <a:solidFill>
                  <a:srgbClr val="000000"/>
                </a:solidFill>
                <a:effectLst/>
                <a:latin typeface="Consolas" panose="020B0609020204030204" pitchFamily="49" charset="0"/>
              </a:rPr>
              <a:t> &lt;&lt; </a:t>
            </a:r>
            <a:r>
              <a:rPr kumimoji="0" lang="en-US" altLang="en-US" sz="1400" b="0" i="0" u="none" strike="noStrike" cap="none" normalizeH="0" baseline="0" dirty="0">
                <a:ln>
                  <a:noFill/>
                </a:ln>
                <a:solidFill>
                  <a:srgbClr val="0000FF"/>
                </a:solidFill>
                <a:effectLst/>
                <a:latin typeface="Consolas" panose="020B0609020204030204" pitchFamily="49" charset="0"/>
              </a:rPr>
              <a:t>"Number of students:"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&lt;&lt; s1.total &lt;&lt; </a:t>
            </a:r>
            <a:r>
              <a:rPr kumimoji="0" lang="en-US" altLang="en-US" sz="1400" b="0" i="0" u="none" strike="noStrike" cap="none" normalizeH="0" baseline="0" dirty="0" err="1">
                <a:ln>
                  <a:noFill/>
                </a:ln>
                <a:solidFill>
                  <a:srgbClr val="000000"/>
                </a:solidFill>
                <a:effectLst/>
                <a:latin typeface="Consolas" panose="020B0609020204030204" pitchFamily="49" charset="0"/>
              </a:rPr>
              <a:t>endl</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Student 2 declared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 s2;</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cout</a:t>
            </a:r>
            <a:r>
              <a:rPr kumimoji="0" lang="en-US" altLang="en-US" sz="1400" b="0" i="0" u="none" strike="noStrike" cap="none" normalizeH="0" baseline="0" dirty="0">
                <a:ln>
                  <a:noFill/>
                </a:ln>
                <a:solidFill>
                  <a:srgbClr val="000000"/>
                </a:solidFill>
                <a:effectLst/>
                <a:latin typeface="Consolas" panose="020B0609020204030204" pitchFamily="49" charset="0"/>
              </a:rPr>
              <a:t> &lt;&lt; </a:t>
            </a:r>
            <a:r>
              <a:rPr kumimoji="0" lang="en-US" altLang="en-US" sz="1400" b="0" i="0" u="none" strike="noStrike" cap="none" normalizeH="0" baseline="0" dirty="0">
                <a:ln>
                  <a:noFill/>
                </a:ln>
                <a:solidFill>
                  <a:srgbClr val="0000FF"/>
                </a:solidFill>
                <a:effectLst/>
                <a:latin typeface="Consolas" panose="020B0609020204030204" pitchFamily="49" charset="0"/>
              </a:rPr>
              <a:t>"Number of students:"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&lt;&lt; s2.total &lt;&lt; </a:t>
            </a:r>
            <a:r>
              <a:rPr kumimoji="0" lang="en-US" altLang="en-US" sz="1400" b="0" i="0" u="none" strike="noStrike" cap="none" normalizeH="0" baseline="0" dirty="0" err="1">
                <a:ln>
                  <a:noFill/>
                </a:ln>
                <a:solidFill>
                  <a:srgbClr val="000000"/>
                </a:solidFill>
                <a:effectLst/>
                <a:latin typeface="Consolas" panose="020B0609020204030204" pitchFamily="49" charset="0"/>
              </a:rPr>
              <a:t>endl</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8200"/>
                </a:solidFill>
                <a:effectLst/>
                <a:latin typeface="Consolas" panose="020B0609020204030204" pitchFamily="49" charset="0"/>
              </a:rPr>
              <a:t>// Student 3 declared</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Student s3;</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err="1">
                <a:ln>
                  <a:noFill/>
                </a:ln>
                <a:solidFill>
                  <a:srgbClr val="000000"/>
                </a:solidFill>
                <a:effectLst/>
                <a:latin typeface="Consolas" panose="020B0609020204030204" pitchFamily="49" charset="0"/>
              </a:rPr>
              <a:t>cout</a:t>
            </a:r>
            <a:r>
              <a:rPr kumimoji="0" lang="en-US" altLang="en-US" sz="1400" b="0" i="0" u="none" strike="noStrike" cap="none" normalizeH="0" baseline="0" dirty="0">
                <a:ln>
                  <a:noFill/>
                </a:ln>
                <a:solidFill>
                  <a:srgbClr val="000000"/>
                </a:solidFill>
                <a:effectLst/>
                <a:latin typeface="Consolas" panose="020B0609020204030204" pitchFamily="49" charset="0"/>
              </a:rPr>
              <a:t> &lt;&lt; </a:t>
            </a:r>
            <a:r>
              <a:rPr kumimoji="0" lang="en-US" altLang="en-US" sz="1400" b="0" i="0" u="none" strike="noStrike" cap="none" normalizeH="0" baseline="0" dirty="0">
                <a:ln>
                  <a:noFill/>
                </a:ln>
                <a:solidFill>
                  <a:srgbClr val="0000FF"/>
                </a:solidFill>
                <a:effectLst/>
                <a:latin typeface="Consolas" panose="020B0609020204030204" pitchFamily="49" charset="0"/>
              </a:rPr>
              <a:t>"Number of students:"</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&lt;&lt; s3.total &lt;&lt; </a:t>
            </a:r>
            <a:r>
              <a:rPr kumimoji="0" lang="en-US" altLang="en-US" sz="1400" b="0" i="0" u="none" strike="noStrike" cap="none" normalizeH="0" baseline="0" dirty="0" err="1">
                <a:ln>
                  <a:noFill/>
                </a:ln>
                <a:solidFill>
                  <a:srgbClr val="000000"/>
                </a:solidFill>
                <a:effectLst/>
                <a:latin typeface="Consolas" panose="020B0609020204030204" pitchFamily="49" charset="0"/>
              </a:rPr>
              <a:t>endl</a:t>
            </a: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1" i="0" u="none" strike="noStrike" cap="none" normalizeH="0" baseline="0" dirty="0">
                <a:ln>
                  <a:noFill/>
                </a:ln>
                <a:solidFill>
                  <a:srgbClr val="006699"/>
                </a:solidFill>
                <a:effectLst/>
                <a:latin typeface="Consolas" panose="020B0609020204030204" pitchFamily="49" charset="0"/>
              </a:rPr>
              <a:t>return</a:t>
            </a:r>
            <a:r>
              <a:rPr kumimoji="0" lang="en-US" altLang="en-US" sz="1400" b="0" i="0" u="none" strike="noStrike" cap="none" normalizeH="0" baseline="0" dirty="0">
                <a:ln>
                  <a:noFill/>
                </a:ln>
                <a:solidFill>
                  <a:srgbClr val="273239"/>
                </a:solidFill>
                <a:effectLst/>
                <a:latin typeface="Consolas" panose="020B0609020204030204" pitchFamily="49" charset="0"/>
              </a:rPr>
              <a:t> </a:t>
            </a:r>
            <a:r>
              <a:rPr kumimoji="0" lang="en-US" altLang="en-US" sz="1400" b="0" i="0" u="none" strike="noStrike" cap="none" normalizeH="0" baseline="0" dirty="0">
                <a:ln>
                  <a:noFill/>
                </a:ln>
                <a:solidFill>
                  <a:srgbClr val="000000"/>
                </a:solidFill>
                <a:effectLst/>
                <a:latin typeface="Consolas" panose="020B0609020204030204" pitchFamily="49" charset="0"/>
              </a:rPr>
              <a:t>0;</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Consolas" panose="020B0609020204030204" pitchFamily="49" charset="0"/>
              </a:rPr>
              <a: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8397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37DB-77A5-E586-EF9F-6E0FF7FEF7EC}"/>
              </a:ext>
            </a:extLst>
          </p:cNvPr>
          <p:cNvSpPr>
            <a:spLocks noGrp="1"/>
          </p:cNvSpPr>
          <p:nvPr>
            <p:ph type="title"/>
          </p:nvPr>
        </p:nvSpPr>
        <p:spPr/>
        <p:txBody>
          <a:bodyPr>
            <a:normAutofit/>
          </a:bodyPr>
          <a:lstStyle/>
          <a:p>
            <a:r>
              <a:rPr lang="en-IN" dirty="0"/>
              <a:t>Static Data Member</a:t>
            </a:r>
          </a:p>
        </p:txBody>
      </p:sp>
      <p:sp>
        <p:nvSpPr>
          <p:cNvPr id="3" name="Content Placeholder 2">
            <a:extLst>
              <a:ext uri="{FF2B5EF4-FFF2-40B4-BE49-F238E27FC236}">
                <a16:creationId xmlns:a16="http://schemas.microsoft.com/office/drawing/2014/main" id="{CAF4EA48-4F8B-76A0-D1F9-71767A8BA420}"/>
              </a:ext>
            </a:extLst>
          </p:cNvPr>
          <p:cNvSpPr>
            <a:spLocks noGrp="1"/>
          </p:cNvSpPr>
          <p:nvPr>
            <p:ph idx="1"/>
          </p:nvPr>
        </p:nvSpPr>
        <p:spPr>
          <a:xfrm>
            <a:off x="838200" y="1361872"/>
            <a:ext cx="10515600" cy="4815091"/>
          </a:xfrm>
        </p:spPr>
        <p:txBody>
          <a:bodyPr>
            <a:normAutofit fontScale="77500" lnSpcReduction="20000"/>
          </a:bodyPr>
          <a:lstStyle/>
          <a:p>
            <a:pPr marL="0" indent="0">
              <a:buNone/>
            </a:pPr>
            <a:r>
              <a:rPr lang="en-US" b="0" i="0" dirty="0">
                <a:solidFill>
                  <a:srgbClr val="273239"/>
                </a:solidFill>
                <a:effectLst/>
                <a:latin typeface="Nunito" pitchFamily="2" charset="0"/>
              </a:rPr>
              <a:t>The static keyword is used with a variable to make the memory of the variable static once a static variable is declared its memory can’t be changed. To know more about static keywords refer to the article </a:t>
            </a:r>
            <a:r>
              <a:rPr lang="en-US" b="0" i="0" u="sng" dirty="0">
                <a:effectLst/>
                <a:latin typeface="Nunito" pitchFamily="2" charset="0"/>
                <a:hlinkClick r:id="rId2"/>
              </a:rPr>
              <a:t>static Keyword in C++</a:t>
            </a:r>
            <a:r>
              <a:rPr lang="en-US" b="0" i="0" dirty="0">
                <a:solidFill>
                  <a:srgbClr val="273239"/>
                </a:solidFill>
                <a:effectLst/>
                <a:latin typeface="Nunito" pitchFamily="2" charset="0"/>
              </a:rPr>
              <a:t>.</a:t>
            </a:r>
            <a:endParaRPr lang="en-US" dirty="0"/>
          </a:p>
          <a:p>
            <a:pPr marL="0" indent="0">
              <a:buNone/>
            </a:pPr>
            <a:r>
              <a:rPr lang="en-US" dirty="0"/>
              <a:t>Static members of a class are not associated with the objects of the class. Just like a static variable once declared is allocated with memory that can’t be changed every object points to the same memory. To know more about the topic refer to a static Member in C++.</a:t>
            </a:r>
          </a:p>
          <a:p>
            <a:pPr marL="0" indent="0">
              <a:buNone/>
            </a:pPr>
            <a:endParaRPr lang="en-US" dirty="0"/>
          </a:p>
          <a:p>
            <a:pPr marL="0" indent="0">
              <a:buNone/>
            </a:pPr>
            <a:r>
              <a:rPr lang="en-US" dirty="0"/>
              <a:t>Example:</a:t>
            </a:r>
          </a:p>
          <a:p>
            <a:pPr marL="0" indent="0">
              <a:buNone/>
            </a:pPr>
            <a:endParaRPr lang="en-US" dirty="0"/>
          </a:p>
          <a:p>
            <a:pPr marL="0" indent="0">
              <a:buNone/>
            </a:pPr>
            <a:r>
              <a:rPr lang="en-US" dirty="0"/>
              <a:t>class Person{</a:t>
            </a:r>
          </a:p>
          <a:p>
            <a:pPr marL="0" indent="0">
              <a:buNone/>
            </a:pPr>
            <a:r>
              <a:rPr lang="en-US" dirty="0"/>
              <a:t>     static int </a:t>
            </a:r>
            <a:r>
              <a:rPr lang="en-US" dirty="0" err="1"/>
              <a:t>index_number</a:t>
            </a:r>
            <a:r>
              <a:rPr lang="en-US" dirty="0"/>
              <a:t>; </a:t>
            </a:r>
          </a:p>
          <a:p>
            <a:pPr marL="0" indent="0">
              <a:buNone/>
            </a:pPr>
            <a:r>
              <a:rPr lang="en-US" dirty="0"/>
              <a:t>};</a:t>
            </a:r>
          </a:p>
          <a:p>
            <a:pPr marL="0" indent="0">
              <a:buNone/>
            </a:pPr>
            <a:r>
              <a:rPr lang="en-US" dirty="0"/>
              <a:t>Once a static member is declared it will be treated as same for all the objects associated with the class.</a:t>
            </a:r>
            <a:endParaRPr lang="en-IN" dirty="0"/>
          </a:p>
        </p:txBody>
      </p:sp>
    </p:spTree>
    <p:extLst>
      <p:ext uri="{BB962C8B-B14F-4D97-AF65-F5344CB8AC3E}">
        <p14:creationId xmlns:p14="http://schemas.microsoft.com/office/powerpoint/2010/main" val="3724285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D1DB4-2E51-E473-FC01-939AF47C023B}"/>
              </a:ext>
            </a:extLst>
          </p:cNvPr>
          <p:cNvSpPr>
            <a:spLocks noGrp="1"/>
          </p:cNvSpPr>
          <p:nvPr>
            <p:ph type="title"/>
          </p:nvPr>
        </p:nvSpPr>
        <p:spPr/>
        <p:txBody>
          <a:bodyPr/>
          <a:lstStyle/>
          <a:p>
            <a:r>
              <a:rPr lang="en-US" b="1" i="0" dirty="0">
                <a:solidFill>
                  <a:srgbClr val="273239"/>
                </a:solidFill>
                <a:effectLst/>
                <a:latin typeface="Nunito" pitchFamily="2" charset="0"/>
              </a:rPr>
              <a:t>Static Member Function in C++</a:t>
            </a:r>
            <a:br>
              <a:rPr lang="en-US" b="1" i="0" dirty="0">
                <a:solidFill>
                  <a:srgbClr val="273239"/>
                </a:solidFill>
                <a:effectLst/>
                <a:latin typeface="Nunito" pitchFamily="2" charset="0"/>
              </a:rPr>
            </a:br>
            <a:endParaRPr lang="en-IN" dirty="0"/>
          </a:p>
        </p:txBody>
      </p:sp>
      <p:sp>
        <p:nvSpPr>
          <p:cNvPr id="3" name="Content Placeholder 2">
            <a:extLst>
              <a:ext uri="{FF2B5EF4-FFF2-40B4-BE49-F238E27FC236}">
                <a16:creationId xmlns:a16="http://schemas.microsoft.com/office/drawing/2014/main" id="{2C721C85-66FF-1C23-4C25-567BFA317E2B}"/>
              </a:ext>
            </a:extLst>
          </p:cNvPr>
          <p:cNvSpPr>
            <a:spLocks noGrp="1"/>
          </p:cNvSpPr>
          <p:nvPr>
            <p:ph idx="1"/>
          </p:nvPr>
        </p:nvSpPr>
        <p:spPr>
          <a:xfrm>
            <a:off x="838200" y="1021404"/>
            <a:ext cx="10515600" cy="5155559"/>
          </a:xfrm>
        </p:spPr>
        <p:txBody>
          <a:bodyPr>
            <a:normAutofit fontScale="85000" lnSpcReduction="20000"/>
          </a:bodyPr>
          <a:lstStyle/>
          <a:p>
            <a:pPr marL="0" indent="0" fontAlgn="base">
              <a:buNone/>
            </a:pPr>
            <a:r>
              <a:rPr lang="en-US" b="0" i="0" dirty="0">
                <a:solidFill>
                  <a:srgbClr val="273239"/>
                </a:solidFill>
                <a:effectLst/>
                <a:latin typeface="Nunito" pitchFamily="2" charset="0"/>
              </a:rPr>
              <a:t>Static members are frequently used to store information that is shared by all objects in a class. Static Member Function in a class is the function that is declared as static because of which function attains certain properties as defined below:</a:t>
            </a:r>
          </a:p>
          <a:p>
            <a:pPr algn="l" fontAlgn="base">
              <a:buFont typeface="Arial" panose="020B0604020202020204" pitchFamily="34" charset="0"/>
              <a:buChar char="•"/>
            </a:pPr>
            <a:r>
              <a:rPr lang="en-US" b="0" i="0" dirty="0">
                <a:solidFill>
                  <a:srgbClr val="273239"/>
                </a:solidFill>
                <a:effectLst/>
                <a:latin typeface="Nunito" pitchFamily="2" charset="0"/>
              </a:rPr>
              <a:t>A static member function is independent of any object of the class. </a:t>
            </a:r>
          </a:p>
          <a:p>
            <a:pPr algn="l" fontAlgn="base">
              <a:buFont typeface="Arial" panose="020B0604020202020204" pitchFamily="34" charset="0"/>
              <a:buChar char="•"/>
            </a:pPr>
            <a:r>
              <a:rPr lang="en-US" b="0" i="0" dirty="0">
                <a:solidFill>
                  <a:srgbClr val="273239"/>
                </a:solidFill>
                <a:effectLst/>
                <a:latin typeface="Nunito" pitchFamily="2" charset="0"/>
              </a:rPr>
              <a:t>A static member function can be called even if no objects of the class exist.</a:t>
            </a:r>
          </a:p>
          <a:p>
            <a:pPr algn="l" fontAlgn="base">
              <a:buFont typeface="Arial" panose="020B0604020202020204" pitchFamily="34" charset="0"/>
              <a:buChar char="•"/>
            </a:pPr>
            <a:r>
              <a:rPr lang="en-US" b="0" i="0" dirty="0">
                <a:solidFill>
                  <a:srgbClr val="273239"/>
                </a:solidFill>
                <a:effectLst/>
                <a:latin typeface="Nunito" pitchFamily="2" charset="0"/>
              </a:rPr>
              <a:t>A static member function can also be accessed using the class name through the scope resolution operator.</a:t>
            </a:r>
          </a:p>
          <a:p>
            <a:pPr algn="l" fontAlgn="base">
              <a:buFont typeface="Arial" panose="020B0604020202020204" pitchFamily="34" charset="0"/>
              <a:buChar char="•"/>
            </a:pPr>
            <a:r>
              <a:rPr lang="en-US" b="0" i="0" dirty="0">
                <a:solidFill>
                  <a:srgbClr val="273239"/>
                </a:solidFill>
                <a:effectLst/>
                <a:latin typeface="Nunito" pitchFamily="2" charset="0"/>
              </a:rPr>
              <a:t>A static member function can access static data members and static member functions inside or outside of the class.</a:t>
            </a:r>
          </a:p>
          <a:p>
            <a:pPr algn="l" fontAlgn="base">
              <a:buFont typeface="Arial" panose="020B0604020202020204" pitchFamily="34" charset="0"/>
              <a:buChar char="•"/>
            </a:pPr>
            <a:r>
              <a:rPr lang="en-US" b="0" i="0" dirty="0">
                <a:solidFill>
                  <a:srgbClr val="273239"/>
                </a:solidFill>
                <a:effectLst/>
                <a:latin typeface="Nunito" pitchFamily="2" charset="0"/>
              </a:rPr>
              <a:t>Static member functions have a scope inside the class and cannot access the current object pointer.</a:t>
            </a:r>
          </a:p>
          <a:p>
            <a:pPr algn="l" fontAlgn="base">
              <a:buFont typeface="Arial" panose="020B0604020202020204" pitchFamily="34" charset="0"/>
              <a:buChar char="•"/>
            </a:pPr>
            <a:r>
              <a:rPr lang="en-US" b="0" i="0" dirty="0">
                <a:solidFill>
                  <a:srgbClr val="273239"/>
                </a:solidFill>
                <a:effectLst/>
                <a:latin typeface="Nunito" pitchFamily="2" charset="0"/>
              </a:rPr>
              <a:t>You can also use a static member function to determine how many objects of the class have been created.</a:t>
            </a:r>
          </a:p>
          <a:p>
            <a:pPr marL="0" indent="0">
              <a:buNone/>
            </a:pPr>
            <a:endParaRPr lang="en-IN" dirty="0"/>
          </a:p>
        </p:txBody>
      </p:sp>
    </p:spTree>
    <p:extLst>
      <p:ext uri="{BB962C8B-B14F-4D97-AF65-F5344CB8AC3E}">
        <p14:creationId xmlns:p14="http://schemas.microsoft.com/office/powerpoint/2010/main" val="3954775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D5002-50B4-57AA-BBE7-E719C41ACBB4}"/>
              </a:ext>
            </a:extLst>
          </p:cNvPr>
          <p:cNvSpPr>
            <a:spLocks noGrp="1"/>
          </p:cNvSpPr>
          <p:nvPr>
            <p:ph type="title"/>
          </p:nvPr>
        </p:nvSpPr>
        <p:spPr/>
        <p:txBody>
          <a:bodyPr/>
          <a:lstStyle/>
          <a:p>
            <a:r>
              <a:rPr lang="en-US" b="1" i="0">
                <a:solidFill>
                  <a:srgbClr val="273239"/>
                </a:solidFill>
                <a:effectLst/>
                <a:latin typeface="Nunito" pitchFamily="2" charset="0"/>
              </a:rPr>
              <a:t>Static Member Function in C++</a:t>
            </a:r>
            <a:endParaRPr lang="en-IN" dirty="0"/>
          </a:p>
        </p:txBody>
      </p:sp>
      <p:sp>
        <p:nvSpPr>
          <p:cNvPr id="3" name="Content Placeholder 2">
            <a:extLst>
              <a:ext uri="{FF2B5EF4-FFF2-40B4-BE49-F238E27FC236}">
                <a16:creationId xmlns:a16="http://schemas.microsoft.com/office/drawing/2014/main" id="{81335873-EEE1-F7EC-3165-315F18A85ABC}"/>
              </a:ext>
            </a:extLst>
          </p:cNvPr>
          <p:cNvSpPr>
            <a:spLocks noGrp="1"/>
          </p:cNvSpPr>
          <p:nvPr>
            <p:ph idx="1"/>
          </p:nvPr>
        </p:nvSpPr>
        <p:spPr/>
        <p:txBody>
          <a:bodyPr/>
          <a:lstStyle/>
          <a:p>
            <a:pPr algn="l" fontAlgn="base"/>
            <a:r>
              <a:rPr lang="en-US" b="1" i="0" dirty="0">
                <a:solidFill>
                  <a:srgbClr val="273239"/>
                </a:solidFill>
                <a:effectLst/>
                <a:latin typeface="Nunito" pitchFamily="2" charset="0"/>
              </a:rPr>
              <a:t>The reason we need Static member function:</a:t>
            </a:r>
          </a:p>
          <a:p>
            <a:pPr algn="l" fontAlgn="base">
              <a:buFont typeface="Arial" panose="020B0604020202020204" pitchFamily="34" charset="0"/>
              <a:buChar char="•"/>
            </a:pPr>
            <a:r>
              <a:rPr lang="en-US" b="0" i="0" dirty="0">
                <a:solidFill>
                  <a:srgbClr val="273239"/>
                </a:solidFill>
                <a:effectLst/>
                <a:latin typeface="Nunito" pitchFamily="2" charset="0"/>
              </a:rPr>
              <a:t>For instance, you may keep track of the quantity of newly generated objects of a specific class type using a static data member as a counter. This static data member can be increased each time an object is generated to keep track of the overall number of objects.</a:t>
            </a:r>
          </a:p>
          <a:p>
            <a:pPr marL="0" indent="0">
              <a:buNone/>
            </a:pPr>
            <a:endParaRPr lang="en-IN" dirty="0"/>
          </a:p>
        </p:txBody>
      </p:sp>
    </p:spTree>
    <p:extLst>
      <p:ext uri="{BB962C8B-B14F-4D97-AF65-F5344CB8AC3E}">
        <p14:creationId xmlns:p14="http://schemas.microsoft.com/office/powerpoint/2010/main" val="2500510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0D238E-0945-95DD-3890-A2673FF5A381}"/>
              </a:ext>
            </a:extLst>
          </p:cNvPr>
          <p:cNvSpPr>
            <a:spLocks noGrp="1"/>
          </p:cNvSpPr>
          <p:nvPr>
            <p:ph type="title"/>
          </p:nvPr>
        </p:nvSpPr>
        <p:spPr>
          <a:xfrm>
            <a:off x="838200" y="365126"/>
            <a:ext cx="10515600" cy="403802"/>
          </a:xfrm>
        </p:spPr>
        <p:txBody>
          <a:bodyPr>
            <a:normAutofit fontScale="90000"/>
          </a:bodyPr>
          <a:lstStyle/>
          <a:p>
            <a:endParaRPr lang="en-IN" dirty="0"/>
          </a:p>
        </p:txBody>
      </p:sp>
      <p:sp>
        <p:nvSpPr>
          <p:cNvPr id="5" name="Content Placeholder 4">
            <a:extLst>
              <a:ext uri="{FF2B5EF4-FFF2-40B4-BE49-F238E27FC236}">
                <a16:creationId xmlns:a16="http://schemas.microsoft.com/office/drawing/2014/main" id="{2D98CC49-36B6-2BDD-257E-60E0F5551CDE}"/>
              </a:ext>
            </a:extLst>
          </p:cNvPr>
          <p:cNvSpPr>
            <a:spLocks noGrp="1"/>
          </p:cNvSpPr>
          <p:nvPr>
            <p:ph sz="half" idx="1"/>
          </p:nvPr>
        </p:nvSpPr>
        <p:spPr>
          <a:xfrm>
            <a:off x="914400" y="218210"/>
            <a:ext cx="5181600" cy="5958754"/>
          </a:xfrm>
        </p:spPr>
        <p:txBody>
          <a:bodyPr>
            <a:noAutofit/>
          </a:bodyPr>
          <a:lstStyle/>
          <a:p>
            <a:pPr marL="0" indent="0">
              <a:buNone/>
            </a:pPr>
            <a:r>
              <a:rPr lang="en-IN" sz="1600" dirty="0"/>
              <a:t>#include &lt;iostream&gt; </a:t>
            </a:r>
          </a:p>
          <a:p>
            <a:pPr marL="0" indent="0">
              <a:buNone/>
            </a:pPr>
            <a:r>
              <a:rPr lang="en-IN" sz="1600" dirty="0"/>
              <a:t>using namespace std;</a:t>
            </a:r>
          </a:p>
          <a:p>
            <a:pPr marL="0" indent="0">
              <a:buNone/>
            </a:pPr>
            <a:r>
              <a:rPr lang="en-IN" sz="1600" dirty="0"/>
              <a:t>class A</a:t>
            </a:r>
          </a:p>
          <a:p>
            <a:pPr marL="0" indent="0">
              <a:buNone/>
            </a:pPr>
            <a:r>
              <a:rPr lang="en-IN" sz="1600" dirty="0"/>
              <a:t>{</a:t>
            </a:r>
          </a:p>
          <a:p>
            <a:pPr marL="0" indent="0">
              <a:buNone/>
            </a:pPr>
            <a:r>
              <a:rPr lang="en-IN" sz="1600" dirty="0"/>
              <a:t>   public:</a:t>
            </a:r>
          </a:p>
          <a:p>
            <a:pPr marL="0" indent="0">
              <a:buNone/>
            </a:pPr>
            <a:r>
              <a:rPr lang="en-IN" sz="1600" dirty="0"/>
              <a:t>      static int </a:t>
            </a:r>
            <a:r>
              <a:rPr lang="en-IN" sz="1600" dirty="0" err="1"/>
              <a:t>objectCount</a:t>
            </a:r>
            <a:r>
              <a:rPr lang="en-IN" sz="1600" dirty="0"/>
              <a:t>;</a:t>
            </a:r>
          </a:p>
          <a:p>
            <a:pPr marL="0" indent="0">
              <a:buNone/>
            </a:pPr>
            <a:r>
              <a:rPr lang="en-IN" sz="1600" dirty="0"/>
              <a:t>      A(double x=2.0, double y=2.0)</a:t>
            </a:r>
          </a:p>
          <a:p>
            <a:pPr marL="0" indent="0">
              <a:buNone/>
            </a:pPr>
            <a:r>
              <a:rPr lang="en-IN" sz="1600" dirty="0"/>
              <a:t>      {</a:t>
            </a:r>
          </a:p>
          <a:p>
            <a:pPr marL="0" indent="0">
              <a:buNone/>
            </a:pPr>
            <a:r>
              <a:rPr lang="en-IN" sz="1600" dirty="0"/>
              <a:t>         </a:t>
            </a:r>
            <a:r>
              <a:rPr lang="en-IN" sz="1600" dirty="0" err="1"/>
              <a:t>cout</a:t>
            </a:r>
            <a:r>
              <a:rPr lang="en-IN" sz="1600" dirty="0"/>
              <a:t> &lt;&lt;"Constructor called." &lt;&lt; </a:t>
            </a:r>
            <a:r>
              <a:rPr lang="en-IN" sz="1600" dirty="0" err="1"/>
              <a:t>endl</a:t>
            </a:r>
            <a:r>
              <a:rPr lang="en-IN" sz="1600" dirty="0"/>
              <a:t>;</a:t>
            </a:r>
          </a:p>
          <a:p>
            <a:pPr marL="0" indent="0">
              <a:buNone/>
            </a:pPr>
            <a:r>
              <a:rPr lang="en-IN" sz="1600" dirty="0"/>
              <a:t>         x1 = x;</a:t>
            </a:r>
          </a:p>
          <a:p>
            <a:pPr marL="0" indent="0">
              <a:buNone/>
            </a:pPr>
            <a:r>
              <a:rPr lang="en-IN" sz="1600" dirty="0"/>
              <a:t>         y1 = y;</a:t>
            </a:r>
          </a:p>
          <a:p>
            <a:pPr marL="0" indent="0">
              <a:buNone/>
            </a:pPr>
            <a:r>
              <a:rPr lang="en-IN" sz="1600" dirty="0"/>
              <a:t>          // Increase every time object is created</a:t>
            </a:r>
          </a:p>
          <a:p>
            <a:pPr marL="0" indent="0">
              <a:buNone/>
            </a:pPr>
            <a:r>
              <a:rPr lang="en-IN" sz="1600" dirty="0"/>
              <a:t>         </a:t>
            </a:r>
            <a:r>
              <a:rPr lang="en-IN" sz="1600" dirty="0" err="1"/>
              <a:t>objectCount</a:t>
            </a:r>
            <a:r>
              <a:rPr lang="en-IN" sz="1600" dirty="0"/>
              <a:t>++;</a:t>
            </a:r>
          </a:p>
          <a:p>
            <a:pPr marL="0" indent="0">
              <a:buNone/>
            </a:pPr>
            <a:r>
              <a:rPr lang="en-IN" sz="1600" dirty="0"/>
              <a:t>      }</a:t>
            </a:r>
          </a:p>
          <a:p>
            <a:pPr marL="0" indent="0">
              <a:buNone/>
            </a:pPr>
            <a:r>
              <a:rPr lang="en-IN" sz="1600" dirty="0"/>
              <a:t>      double Product()</a:t>
            </a:r>
          </a:p>
          <a:p>
            <a:pPr marL="0" indent="0">
              <a:buNone/>
            </a:pPr>
            <a:r>
              <a:rPr lang="en-IN" sz="1600" dirty="0"/>
              <a:t>      {</a:t>
            </a:r>
          </a:p>
          <a:p>
            <a:pPr marL="0" indent="0">
              <a:buNone/>
            </a:pPr>
            <a:r>
              <a:rPr lang="en-IN" sz="1600" dirty="0"/>
              <a:t>         return x1 * y1 ;</a:t>
            </a:r>
          </a:p>
          <a:p>
            <a:pPr marL="0" indent="0">
              <a:buNone/>
            </a:pPr>
            <a:r>
              <a:rPr lang="en-IN" sz="1600" dirty="0"/>
              <a:t>      }</a:t>
            </a:r>
          </a:p>
        </p:txBody>
      </p:sp>
      <p:sp>
        <p:nvSpPr>
          <p:cNvPr id="6" name="Content Placeholder 5">
            <a:extLst>
              <a:ext uri="{FF2B5EF4-FFF2-40B4-BE49-F238E27FC236}">
                <a16:creationId xmlns:a16="http://schemas.microsoft.com/office/drawing/2014/main" id="{AC1E06C2-EF43-37EB-DA9D-4BABDFF2E6A7}"/>
              </a:ext>
            </a:extLst>
          </p:cNvPr>
          <p:cNvSpPr>
            <a:spLocks noGrp="1"/>
          </p:cNvSpPr>
          <p:nvPr>
            <p:ph sz="half" idx="2"/>
          </p:nvPr>
        </p:nvSpPr>
        <p:spPr>
          <a:xfrm>
            <a:off x="6172200" y="83128"/>
            <a:ext cx="5181600" cy="6093836"/>
          </a:xfrm>
        </p:spPr>
        <p:txBody>
          <a:bodyPr>
            <a:noAutofit/>
          </a:bodyPr>
          <a:lstStyle/>
          <a:p>
            <a:pPr marL="0" indent="0">
              <a:buNone/>
            </a:pPr>
            <a:r>
              <a:rPr lang="en-IN" sz="1600" dirty="0"/>
              <a:t> static int </a:t>
            </a:r>
            <a:r>
              <a:rPr lang="en-IN" sz="1600" dirty="0" err="1"/>
              <a:t>getCount</a:t>
            </a:r>
            <a:r>
              <a:rPr lang="en-IN" sz="1600" dirty="0"/>
              <a:t>()</a:t>
            </a:r>
          </a:p>
          <a:p>
            <a:pPr marL="0" indent="0">
              <a:buNone/>
            </a:pPr>
            <a:r>
              <a:rPr lang="en-IN" sz="1600" dirty="0"/>
              <a:t>      {</a:t>
            </a:r>
          </a:p>
          <a:p>
            <a:pPr marL="0" indent="0">
              <a:buNone/>
            </a:pPr>
            <a:r>
              <a:rPr lang="en-IN" sz="1600" dirty="0"/>
              <a:t>         return </a:t>
            </a:r>
            <a:r>
              <a:rPr lang="en-IN" sz="1600" dirty="0" err="1"/>
              <a:t>objectCount</a:t>
            </a:r>
            <a:r>
              <a:rPr lang="en-IN" sz="1600" dirty="0"/>
              <a:t>;</a:t>
            </a:r>
          </a:p>
          <a:p>
            <a:pPr marL="0" indent="0">
              <a:buNone/>
            </a:pPr>
            <a:r>
              <a:rPr lang="en-IN" sz="1600" dirty="0"/>
              <a:t>      }</a:t>
            </a:r>
          </a:p>
          <a:p>
            <a:pPr marL="0" indent="0">
              <a:buNone/>
            </a:pPr>
            <a:r>
              <a:rPr lang="en-IN" sz="1600" dirty="0"/>
              <a:t>   private:</a:t>
            </a:r>
          </a:p>
          <a:p>
            <a:pPr marL="0" indent="0">
              <a:buNone/>
            </a:pPr>
            <a:r>
              <a:rPr lang="en-IN" sz="1600" dirty="0"/>
              <a:t>      double x1;     </a:t>
            </a:r>
          </a:p>
          <a:p>
            <a:pPr marL="0" indent="0">
              <a:buNone/>
            </a:pPr>
            <a:r>
              <a:rPr lang="en-IN" sz="1600" dirty="0"/>
              <a:t>      double y1;       </a:t>
            </a:r>
          </a:p>
          <a:p>
            <a:pPr marL="0" indent="0">
              <a:buNone/>
            </a:pPr>
            <a:r>
              <a:rPr lang="en-IN" sz="1600" dirty="0"/>
              <a:t>};</a:t>
            </a:r>
            <a:endParaRPr lang="en-US" sz="1600" dirty="0"/>
          </a:p>
          <a:p>
            <a:pPr marL="0" indent="0">
              <a:buNone/>
            </a:pPr>
            <a:r>
              <a:rPr lang="en-US" sz="1600" dirty="0"/>
              <a:t>// Initialize static member of class A</a:t>
            </a:r>
          </a:p>
          <a:p>
            <a:pPr marL="0" indent="0">
              <a:buNone/>
            </a:pPr>
            <a:r>
              <a:rPr lang="en-US" sz="1600" dirty="0"/>
              <a:t>int A::objectCount = 0;</a:t>
            </a:r>
          </a:p>
          <a:p>
            <a:pPr marL="0" indent="0">
              <a:buNone/>
            </a:pPr>
            <a:r>
              <a:rPr lang="en-US" sz="1600" dirty="0"/>
              <a:t>int main(void)</a:t>
            </a:r>
          </a:p>
          <a:p>
            <a:pPr marL="0" indent="0">
              <a:buNone/>
            </a:pPr>
            <a:r>
              <a:rPr lang="en-US" sz="1600" dirty="0"/>
              <a:t>{</a:t>
            </a:r>
          </a:p>
          <a:p>
            <a:pPr marL="0" indent="0">
              <a:buNone/>
            </a:pPr>
            <a:r>
              <a:rPr lang="en-US" sz="1600" dirty="0"/>
              <a:t>  // Print total number of objects before creating object.</a:t>
            </a:r>
          </a:p>
          <a:p>
            <a:pPr marL="0" indent="0">
              <a:buNone/>
            </a:pPr>
            <a:r>
              <a:rPr lang="en-US" sz="1600" dirty="0"/>
              <a:t>   </a:t>
            </a:r>
            <a:r>
              <a:rPr lang="en-US" sz="1600" dirty="0" err="1"/>
              <a:t>cout</a:t>
            </a:r>
            <a:r>
              <a:rPr lang="en-US" sz="1600" dirty="0"/>
              <a:t> &lt;&lt; "</a:t>
            </a:r>
            <a:r>
              <a:rPr lang="en-US" sz="1600" dirty="0" err="1"/>
              <a:t>Inital</a:t>
            </a:r>
            <a:r>
              <a:rPr lang="en-US" sz="1600" dirty="0"/>
              <a:t> Stage Count: " &lt;&lt; A::getCount() &lt;&lt; </a:t>
            </a:r>
            <a:r>
              <a:rPr lang="en-US" sz="1600" dirty="0" err="1"/>
              <a:t>endl</a:t>
            </a:r>
            <a:r>
              <a:rPr lang="en-US" sz="1600" dirty="0"/>
              <a:t>;</a:t>
            </a:r>
          </a:p>
          <a:p>
            <a:pPr marL="0" indent="0">
              <a:buNone/>
            </a:pPr>
            <a:r>
              <a:rPr lang="en-US" sz="1600" dirty="0"/>
              <a:t>   A a(3.3, 1.2);    </a:t>
            </a:r>
          </a:p>
          <a:p>
            <a:pPr marL="0" indent="0">
              <a:buNone/>
            </a:pPr>
            <a:r>
              <a:rPr lang="en-US" sz="1600" dirty="0"/>
              <a:t>   A a(8.5, 6.0);    </a:t>
            </a:r>
          </a:p>
          <a:p>
            <a:pPr marL="0" indent="0">
              <a:buNone/>
            </a:pPr>
            <a:r>
              <a:rPr lang="en-US" sz="1600" dirty="0"/>
              <a:t>   // Print total number of objects after creating object.</a:t>
            </a:r>
          </a:p>
          <a:p>
            <a:pPr marL="0" indent="0">
              <a:buNone/>
            </a:pPr>
            <a:r>
              <a:rPr lang="en-US" sz="1600" dirty="0"/>
              <a:t>   </a:t>
            </a:r>
            <a:r>
              <a:rPr lang="en-US" sz="1600" dirty="0" err="1"/>
              <a:t>cout</a:t>
            </a:r>
            <a:r>
              <a:rPr lang="en-US" sz="1600" dirty="0"/>
              <a:t> &lt;&lt; "Final Stage Count: " &lt;&lt; A::getCount() &lt;&lt; </a:t>
            </a:r>
            <a:r>
              <a:rPr lang="en-US" sz="1600" dirty="0" err="1"/>
              <a:t>endl</a:t>
            </a:r>
            <a:r>
              <a:rPr lang="en-US" sz="1600" dirty="0"/>
              <a:t>;</a:t>
            </a:r>
          </a:p>
          <a:p>
            <a:pPr marL="0" indent="0">
              <a:buNone/>
            </a:pPr>
            <a:r>
              <a:rPr lang="en-US" sz="1600" dirty="0"/>
              <a:t>   return 0;</a:t>
            </a:r>
          </a:p>
          <a:p>
            <a:pPr marL="0" indent="0">
              <a:buNone/>
            </a:pPr>
            <a:r>
              <a:rPr lang="en-US" sz="1600" dirty="0"/>
              <a:t>}</a:t>
            </a:r>
            <a:endParaRPr lang="en-IN" sz="1600" dirty="0"/>
          </a:p>
        </p:txBody>
      </p:sp>
    </p:spTree>
    <p:extLst>
      <p:ext uri="{BB962C8B-B14F-4D97-AF65-F5344CB8AC3E}">
        <p14:creationId xmlns:p14="http://schemas.microsoft.com/office/powerpoint/2010/main" val="1475201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C6D-DCC0-311C-A719-1C980101DC6D}"/>
              </a:ext>
            </a:extLst>
          </p:cNvPr>
          <p:cNvSpPr>
            <a:spLocks noGrp="1"/>
          </p:cNvSpPr>
          <p:nvPr>
            <p:ph type="title"/>
          </p:nvPr>
        </p:nvSpPr>
        <p:spPr/>
        <p:txBody>
          <a:bodyPr/>
          <a:lstStyle/>
          <a:p>
            <a:r>
              <a:rPr lang="en-IN" dirty="0"/>
              <a:t>Constructors</a:t>
            </a:r>
          </a:p>
        </p:txBody>
      </p:sp>
      <p:sp>
        <p:nvSpPr>
          <p:cNvPr id="3" name="Content Placeholder 2">
            <a:extLst>
              <a:ext uri="{FF2B5EF4-FFF2-40B4-BE49-F238E27FC236}">
                <a16:creationId xmlns:a16="http://schemas.microsoft.com/office/drawing/2014/main" id="{88305259-E0EB-59C9-70D3-C1996144AEA5}"/>
              </a:ext>
            </a:extLst>
          </p:cNvPr>
          <p:cNvSpPr>
            <a:spLocks noGrp="1"/>
          </p:cNvSpPr>
          <p:nvPr>
            <p:ph idx="1"/>
          </p:nvPr>
        </p:nvSpPr>
        <p:spPr/>
        <p:txBody>
          <a:bodyPr/>
          <a:lstStyle/>
          <a:p>
            <a:pPr marL="0" indent="0" algn="just">
              <a:buNone/>
            </a:pPr>
            <a:r>
              <a:rPr lang="en-US" b="1" i="0" dirty="0">
                <a:solidFill>
                  <a:srgbClr val="273239"/>
                </a:solidFill>
                <a:effectLst/>
                <a:latin typeface="Nunito" pitchFamily="2" charset="0"/>
              </a:rPr>
              <a:t>Constructor in C++</a:t>
            </a:r>
            <a:r>
              <a:rPr lang="en-US" b="0" i="0" dirty="0">
                <a:solidFill>
                  <a:srgbClr val="273239"/>
                </a:solidFill>
                <a:effectLst/>
                <a:latin typeface="Nunito" pitchFamily="2" charset="0"/>
              </a:rPr>
              <a:t> is a special method that is invoked automatically at the time of object creation. It is used to initialize the data members of new objects generally. The constructor in C++ has the same name as the class or structure. Constructor is invoked at the time of object creation. It constructs the values i.e. provides data for the object which is why it is known as constructors.</a:t>
            </a:r>
            <a:endParaRPr lang="en-IN" dirty="0"/>
          </a:p>
        </p:txBody>
      </p:sp>
    </p:spTree>
    <p:extLst>
      <p:ext uri="{BB962C8B-B14F-4D97-AF65-F5344CB8AC3E}">
        <p14:creationId xmlns:p14="http://schemas.microsoft.com/office/powerpoint/2010/main" val="3204375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7AC6D-DCC0-311C-A719-1C980101DC6D}"/>
              </a:ext>
            </a:extLst>
          </p:cNvPr>
          <p:cNvSpPr>
            <a:spLocks noGrp="1"/>
          </p:cNvSpPr>
          <p:nvPr>
            <p:ph type="title"/>
          </p:nvPr>
        </p:nvSpPr>
        <p:spPr/>
        <p:txBody>
          <a:bodyPr/>
          <a:lstStyle/>
          <a:p>
            <a:r>
              <a:rPr lang="en-IN" dirty="0"/>
              <a:t>Constructors</a:t>
            </a:r>
          </a:p>
        </p:txBody>
      </p:sp>
      <p:sp>
        <p:nvSpPr>
          <p:cNvPr id="3" name="Content Placeholder 2">
            <a:extLst>
              <a:ext uri="{FF2B5EF4-FFF2-40B4-BE49-F238E27FC236}">
                <a16:creationId xmlns:a16="http://schemas.microsoft.com/office/drawing/2014/main" id="{88305259-E0EB-59C9-70D3-C1996144AEA5}"/>
              </a:ext>
            </a:extLst>
          </p:cNvPr>
          <p:cNvSpPr>
            <a:spLocks noGrp="1"/>
          </p:cNvSpPr>
          <p:nvPr>
            <p:ph idx="1"/>
          </p:nvPr>
        </p:nvSpPr>
        <p:spPr>
          <a:xfrm>
            <a:off x="272373" y="1825625"/>
            <a:ext cx="11527277" cy="4351338"/>
          </a:xfrm>
        </p:spPr>
        <p:txBody>
          <a:bodyPr/>
          <a:lstStyle/>
          <a:p>
            <a:pPr marL="0" indent="0">
              <a:buNone/>
            </a:pPr>
            <a:r>
              <a:rPr lang="en-US" b="0" i="0" dirty="0">
                <a:solidFill>
                  <a:srgbClr val="273239"/>
                </a:solidFill>
                <a:effectLst/>
                <a:latin typeface="Nunito" pitchFamily="2" charset="0"/>
              </a:rPr>
              <a:t>• Constructor is a member function of a class, whose name is same as the class name.</a:t>
            </a:r>
            <a:br>
              <a:rPr lang="en-US" dirty="0"/>
            </a:br>
            <a:r>
              <a:rPr lang="en-US" b="0" i="0" dirty="0">
                <a:solidFill>
                  <a:srgbClr val="273239"/>
                </a:solidFill>
                <a:effectLst/>
                <a:latin typeface="Nunito" pitchFamily="2" charset="0"/>
              </a:rPr>
              <a:t>• Constructor is a special type of member function that is used to initialize the data members for an object of a class automatically, when an object of the same class is created.</a:t>
            </a:r>
            <a:br>
              <a:rPr lang="en-US" dirty="0"/>
            </a:br>
            <a:r>
              <a:rPr lang="en-US" b="0" i="0" dirty="0">
                <a:solidFill>
                  <a:srgbClr val="273239"/>
                </a:solidFill>
                <a:effectLst/>
                <a:latin typeface="Nunito" pitchFamily="2" charset="0"/>
              </a:rPr>
              <a:t>• Constructor is invoked at the time of object creation. It constructs the values i.e. provides data for the object that is why it is known as constructor.</a:t>
            </a:r>
            <a:br>
              <a:rPr lang="en-US" dirty="0"/>
            </a:br>
            <a:r>
              <a:rPr lang="en-US" b="0" i="0" dirty="0">
                <a:solidFill>
                  <a:srgbClr val="273239"/>
                </a:solidFill>
                <a:effectLst/>
                <a:latin typeface="Nunito" pitchFamily="2" charset="0"/>
              </a:rPr>
              <a:t>• Constructor do not return value, hence they do not have a return type.</a:t>
            </a:r>
            <a:endParaRPr lang="en-IN" dirty="0"/>
          </a:p>
        </p:txBody>
      </p:sp>
    </p:spTree>
    <p:extLst>
      <p:ext uri="{BB962C8B-B14F-4D97-AF65-F5344CB8AC3E}">
        <p14:creationId xmlns:p14="http://schemas.microsoft.com/office/powerpoint/2010/main" val="3156851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63C3A-9C5D-7136-F6CD-EC3703C372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956DC29-DF41-D1E0-BC6F-5649932FB5B8}"/>
              </a:ext>
            </a:extLst>
          </p:cNvPr>
          <p:cNvSpPr>
            <a:spLocks noGrp="1"/>
          </p:cNvSpPr>
          <p:nvPr>
            <p:ph idx="1"/>
          </p:nvPr>
        </p:nvSpPr>
        <p:spPr>
          <a:xfrm>
            <a:off x="838200" y="365125"/>
            <a:ext cx="10515600" cy="5811838"/>
          </a:xfrm>
        </p:spPr>
        <p:txBody>
          <a:bodyPr>
            <a:normAutofit fontScale="77500" lnSpcReduction="20000"/>
          </a:bodyPr>
          <a:lstStyle/>
          <a:p>
            <a:pPr marL="0" indent="0">
              <a:buNone/>
            </a:pPr>
            <a:r>
              <a:rPr lang="en-US" dirty="0"/>
              <a:t>Constructor can be defined inside the class declaration or outside the class declaration</a:t>
            </a:r>
          </a:p>
          <a:p>
            <a:pPr marL="0" indent="0">
              <a:buNone/>
            </a:pPr>
            <a:endParaRPr lang="en-US" dirty="0"/>
          </a:p>
          <a:p>
            <a:pPr marL="0" indent="0">
              <a:buNone/>
            </a:pPr>
            <a:r>
              <a:rPr lang="en-US" dirty="0"/>
              <a:t>a.    Syntax for defining the constructor within the class</a:t>
            </a:r>
          </a:p>
          <a:p>
            <a:pPr marL="0" indent="0">
              <a:buNone/>
            </a:pPr>
            <a:endParaRPr lang="en-US" dirty="0"/>
          </a:p>
          <a:p>
            <a:pPr marL="0" indent="0">
              <a:buNone/>
            </a:pPr>
            <a:r>
              <a:rPr lang="en-US" dirty="0"/>
              <a:t>        &lt;class-name&gt;(list-of-parameters)</a:t>
            </a:r>
          </a:p>
          <a:p>
            <a:pPr marL="0" indent="0">
              <a:buNone/>
            </a:pPr>
            <a:r>
              <a:rPr lang="en-US" dirty="0"/>
              <a:t>        {</a:t>
            </a:r>
          </a:p>
          <a:p>
            <a:pPr marL="0" indent="0">
              <a:buNone/>
            </a:pPr>
            <a:r>
              <a:rPr lang="en-US" dirty="0"/>
              <a:t>                  //constructor definition</a:t>
            </a:r>
          </a:p>
          <a:p>
            <a:pPr marL="0" indent="0">
              <a:buNone/>
            </a:pPr>
            <a:r>
              <a:rPr lang="en-US" dirty="0"/>
              <a:t>        }</a:t>
            </a:r>
          </a:p>
          <a:p>
            <a:pPr marL="0" indent="0">
              <a:buNone/>
            </a:pPr>
            <a:endParaRPr lang="en-US" dirty="0"/>
          </a:p>
          <a:p>
            <a:pPr marL="0" indent="0">
              <a:buNone/>
            </a:pPr>
            <a:r>
              <a:rPr lang="en-US" dirty="0"/>
              <a:t>b.    Syntax for defining the constructor outside the class</a:t>
            </a:r>
          </a:p>
          <a:p>
            <a:pPr marL="0" indent="0">
              <a:buNone/>
            </a:pPr>
            <a:endParaRPr lang="en-US" dirty="0"/>
          </a:p>
          <a:p>
            <a:pPr marL="0" indent="0">
              <a:buNone/>
            </a:pPr>
            <a:r>
              <a:rPr lang="en-US" dirty="0"/>
              <a:t>        &lt;class-name&gt;: :&lt;class-name&gt;(list-of-parameters)</a:t>
            </a:r>
          </a:p>
          <a:p>
            <a:pPr marL="0" indent="0">
              <a:buNone/>
            </a:pPr>
            <a:r>
              <a:rPr lang="en-US" dirty="0"/>
              <a:t>        {</a:t>
            </a:r>
          </a:p>
          <a:p>
            <a:pPr marL="0" indent="0">
              <a:buNone/>
            </a:pPr>
            <a:r>
              <a:rPr lang="en-US" dirty="0"/>
              <a:t>               //constructor definition</a:t>
            </a:r>
          </a:p>
          <a:p>
            <a:pPr marL="0" indent="0">
              <a:buNone/>
            </a:pPr>
            <a:r>
              <a:rPr lang="en-US" dirty="0"/>
              <a:t>        }</a:t>
            </a:r>
            <a:endParaRPr lang="en-IN" dirty="0"/>
          </a:p>
        </p:txBody>
      </p:sp>
    </p:spTree>
    <p:extLst>
      <p:ext uri="{BB962C8B-B14F-4D97-AF65-F5344CB8AC3E}">
        <p14:creationId xmlns:p14="http://schemas.microsoft.com/office/powerpoint/2010/main" val="248065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76C5E-2EA6-7A9F-4EFB-7B5066C63BC8}"/>
              </a:ext>
            </a:extLst>
          </p:cNvPr>
          <p:cNvSpPr>
            <a:spLocks noGrp="1"/>
          </p:cNvSpPr>
          <p:nvPr>
            <p:ph type="title"/>
          </p:nvPr>
        </p:nvSpPr>
        <p:spPr/>
        <p:txBody>
          <a:bodyPr/>
          <a:lstStyle/>
          <a:p>
            <a:r>
              <a:rPr lang="en-IN" dirty="0"/>
              <a:t>Destructors</a:t>
            </a:r>
          </a:p>
        </p:txBody>
      </p:sp>
      <p:sp>
        <p:nvSpPr>
          <p:cNvPr id="3" name="Content Placeholder 2">
            <a:extLst>
              <a:ext uri="{FF2B5EF4-FFF2-40B4-BE49-F238E27FC236}">
                <a16:creationId xmlns:a16="http://schemas.microsoft.com/office/drawing/2014/main" id="{E0EDA338-895A-772E-0C16-E4B75FA24194}"/>
              </a:ext>
            </a:extLst>
          </p:cNvPr>
          <p:cNvSpPr>
            <a:spLocks noGrp="1"/>
          </p:cNvSpPr>
          <p:nvPr>
            <p:ph idx="1"/>
          </p:nvPr>
        </p:nvSpPr>
        <p:spPr/>
        <p:txBody>
          <a:bodyPr>
            <a:normAutofit/>
          </a:bodyPr>
          <a:lstStyle/>
          <a:p>
            <a:pPr algn="l" fontAlgn="base"/>
            <a:r>
              <a:rPr lang="en-US" b="0" i="0" dirty="0">
                <a:solidFill>
                  <a:srgbClr val="273239"/>
                </a:solidFill>
                <a:effectLst/>
                <a:latin typeface="Nunito" pitchFamily="2" charset="0"/>
              </a:rPr>
              <a:t>Destructor is an instance member function which is invoked automatically whenever an object is going to be destroyed. Meaning, a destructor is the last function that is going to be called before an object is destroyed.</a:t>
            </a:r>
          </a:p>
          <a:p>
            <a:endParaRPr lang="en-IN" dirty="0"/>
          </a:p>
        </p:txBody>
      </p:sp>
    </p:spTree>
    <p:extLst>
      <p:ext uri="{BB962C8B-B14F-4D97-AF65-F5344CB8AC3E}">
        <p14:creationId xmlns:p14="http://schemas.microsoft.com/office/powerpoint/2010/main" val="316236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76C5E-2EA6-7A9F-4EFB-7B5066C63BC8}"/>
              </a:ext>
            </a:extLst>
          </p:cNvPr>
          <p:cNvSpPr>
            <a:spLocks noGrp="1"/>
          </p:cNvSpPr>
          <p:nvPr>
            <p:ph type="title"/>
          </p:nvPr>
        </p:nvSpPr>
        <p:spPr/>
        <p:txBody>
          <a:bodyPr/>
          <a:lstStyle/>
          <a:p>
            <a:r>
              <a:rPr lang="en-IN" dirty="0"/>
              <a:t>Destructors</a:t>
            </a:r>
          </a:p>
        </p:txBody>
      </p:sp>
      <p:sp>
        <p:nvSpPr>
          <p:cNvPr id="3" name="Content Placeholder 2">
            <a:extLst>
              <a:ext uri="{FF2B5EF4-FFF2-40B4-BE49-F238E27FC236}">
                <a16:creationId xmlns:a16="http://schemas.microsoft.com/office/drawing/2014/main" id="{E0EDA338-895A-772E-0C16-E4B75FA24194}"/>
              </a:ext>
            </a:extLst>
          </p:cNvPr>
          <p:cNvSpPr>
            <a:spLocks noGrp="1"/>
          </p:cNvSpPr>
          <p:nvPr>
            <p:ph idx="1"/>
          </p:nvPr>
        </p:nvSpPr>
        <p:spPr/>
        <p:txBody>
          <a:bodyPr>
            <a:normAutofit fontScale="77500" lnSpcReduction="20000"/>
          </a:bodyPr>
          <a:lstStyle/>
          <a:p>
            <a:pPr algn="l" fontAlgn="base">
              <a:buFont typeface="Arial" panose="020B0604020202020204" pitchFamily="34" charset="0"/>
              <a:buChar char="•"/>
            </a:pPr>
            <a:r>
              <a:rPr lang="en-US" b="0" i="0" dirty="0">
                <a:solidFill>
                  <a:srgbClr val="273239"/>
                </a:solidFill>
                <a:effectLst/>
                <a:latin typeface="Nunito" pitchFamily="2" charset="0"/>
              </a:rPr>
              <a:t>Destructor is also a special member function like constructor. Destructor destroys the class objects created by constructor. </a:t>
            </a:r>
          </a:p>
          <a:p>
            <a:pPr algn="l" fontAlgn="base">
              <a:buFont typeface="Arial" panose="020B0604020202020204" pitchFamily="34" charset="0"/>
              <a:buChar char="•"/>
            </a:pPr>
            <a:r>
              <a:rPr lang="en-US" b="0" i="0" dirty="0">
                <a:solidFill>
                  <a:srgbClr val="273239"/>
                </a:solidFill>
                <a:effectLst/>
                <a:latin typeface="Nunito" pitchFamily="2" charset="0"/>
              </a:rPr>
              <a:t>Destructor has the same name as their class name preceded by a tilde (~) symbol.</a:t>
            </a:r>
          </a:p>
          <a:p>
            <a:pPr algn="l" fontAlgn="base">
              <a:buFont typeface="Arial" panose="020B0604020202020204" pitchFamily="34" charset="0"/>
              <a:buChar char="•"/>
            </a:pPr>
            <a:r>
              <a:rPr lang="en-US" b="0" i="0" dirty="0">
                <a:solidFill>
                  <a:srgbClr val="273239"/>
                </a:solidFill>
                <a:effectLst/>
                <a:latin typeface="Nunito" pitchFamily="2" charset="0"/>
              </a:rPr>
              <a:t>It is not possible to define more than one destructor. </a:t>
            </a:r>
          </a:p>
          <a:p>
            <a:pPr algn="l" fontAlgn="base">
              <a:buFont typeface="Arial" panose="020B0604020202020204" pitchFamily="34" charset="0"/>
              <a:buChar char="•"/>
            </a:pPr>
            <a:r>
              <a:rPr lang="en-US" b="0" i="0" dirty="0">
                <a:solidFill>
                  <a:srgbClr val="273239"/>
                </a:solidFill>
                <a:effectLst/>
                <a:latin typeface="Nunito" pitchFamily="2" charset="0"/>
              </a:rPr>
              <a:t>The destructor is only one way to destroy the object create by constructor. Hence destructor can-not be overloaded.</a:t>
            </a:r>
          </a:p>
          <a:p>
            <a:pPr algn="l" fontAlgn="base">
              <a:buFont typeface="Arial" panose="020B0604020202020204" pitchFamily="34" charset="0"/>
              <a:buChar char="•"/>
            </a:pPr>
            <a:r>
              <a:rPr lang="en-US" b="0" i="0" dirty="0">
                <a:solidFill>
                  <a:srgbClr val="273239"/>
                </a:solidFill>
                <a:effectLst/>
                <a:latin typeface="Nunito" pitchFamily="2" charset="0"/>
              </a:rPr>
              <a:t>Destructor  cannot be declared as static and const;</a:t>
            </a:r>
          </a:p>
          <a:p>
            <a:pPr algn="l" fontAlgn="base">
              <a:buFont typeface="Arial" panose="020B0604020202020204" pitchFamily="34" charset="0"/>
              <a:buChar char="•"/>
            </a:pPr>
            <a:r>
              <a:rPr lang="en-US" b="0" i="0" dirty="0">
                <a:solidFill>
                  <a:srgbClr val="273239"/>
                </a:solidFill>
                <a:effectLst/>
                <a:latin typeface="Nunito" pitchFamily="2" charset="0"/>
              </a:rPr>
              <a:t>Destructor neither requires any argument nor returns any value.</a:t>
            </a:r>
          </a:p>
          <a:p>
            <a:pPr algn="l" fontAlgn="base">
              <a:buFont typeface="Arial" panose="020B0604020202020204" pitchFamily="34" charset="0"/>
              <a:buChar char="•"/>
            </a:pPr>
            <a:r>
              <a:rPr lang="en-US" b="0" i="0" dirty="0">
                <a:solidFill>
                  <a:srgbClr val="273239"/>
                </a:solidFill>
                <a:effectLst/>
                <a:latin typeface="Nunito" pitchFamily="2" charset="0"/>
              </a:rPr>
              <a:t>It is automatically called when object goes out of scope. </a:t>
            </a:r>
          </a:p>
          <a:p>
            <a:pPr algn="l" fontAlgn="base">
              <a:buFont typeface="Arial" panose="020B0604020202020204" pitchFamily="34" charset="0"/>
              <a:buChar char="•"/>
            </a:pPr>
            <a:r>
              <a:rPr lang="en-US" b="0" i="0" dirty="0">
                <a:solidFill>
                  <a:srgbClr val="273239"/>
                </a:solidFill>
                <a:effectLst/>
                <a:latin typeface="Nunito" pitchFamily="2" charset="0"/>
              </a:rPr>
              <a:t>Destructor release memory space occupied by the objects created by constructor.</a:t>
            </a:r>
          </a:p>
          <a:p>
            <a:pPr algn="l" fontAlgn="base">
              <a:buFont typeface="Arial" panose="020B0604020202020204" pitchFamily="34" charset="0"/>
              <a:buChar char="•"/>
            </a:pPr>
            <a:r>
              <a:rPr lang="en-US" b="0" i="0" dirty="0">
                <a:solidFill>
                  <a:srgbClr val="273239"/>
                </a:solidFill>
                <a:effectLst/>
                <a:latin typeface="Nunito" pitchFamily="2" charset="0"/>
              </a:rPr>
              <a:t>In destructor, objects are destroyed in the reverse of an object creation.</a:t>
            </a:r>
          </a:p>
          <a:p>
            <a:endParaRPr lang="en-IN" dirty="0"/>
          </a:p>
        </p:txBody>
      </p:sp>
    </p:spTree>
    <p:extLst>
      <p:ext uri="{BB962C8B-B14F-4D97-AF65-F5344CB8AC3E}">
        <p14:creationId xmlns:p14="http://schemas.microsoft.com/office/powerpoint/2010/main" val="1447486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9EBC-DA74-DC33-9D6D-C7E54B272F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512A22-A6C5-4FCB-EE88-03BC890587D0}"/>
              </a:ext>
            </a:extLst>
          </p:cNvPr>
          <p:cNvSpPr>
            <a:spLocks noGrp="1"/>
          </p:cNvSpPr>
          <p:nvPr>
            <p:ph idx="1"/>
          </p:nvPr>
        </p:nvSpPr>
        <p:spPr/>
        <p:txBody>
          <a:bodyPr>
            <a:normAutofit fontScale="77500" lnSpcReduction="20000"/>
          </a:bodyPr>
          <a:lstStyle/>
          <a:p>
            <a:pPr marL="0" indent="0">
              <a:buNone/>
            </a:pPr>
            <a:r>
              <a:rPr lang="en-US" dirty="0"/>
              <a:t>Syntax for defining the destructor within the class</a:t>
            </a:r>
          </a:p>
          <a:p>
            <a:pPr marL="0" indent="0">
              <a:buNone/>
            </a:pPr>
            <a:r>
              <a:rPr lang="en-US" dirty="0"/>
              <a:t>~ &lt;class-name&gt;()</a:t>
            </a:r>
          </a:p>
          <a:p>
            <a:pPr marL="0" indent="0">
              <a:buNone/>
            </a:pPr>
            <a:r>
              <a:rPr lang="en-US" dirty="0"/>
              <a:t>{</a:t>
            </a:r>
          </a:p>
          <a:p>
            <a:pPr marL="0" indent="0">
              <a:buNone/>
            </a:pPr>
            <a:endParaRPr lang="en-US" dirty="0"/>
          </a:p>
          <a:p>
            <a:pPr marL="0" indent="0">
              <a:buNone/>
            </a:pPr>
            <a:r>
              <a:rPr lang="en-US" dirty="0"/>
              <a:t>}</a:t>
            </a:r>
          </a:p>
          <a:p>
            <a:pPr marL="0" indent="0">
              <a:buNone/>
            </a:pPr>
            <a:endParaRPr lang="en-US" dirty="0"/>
          </a:p>
          <a:p>
            <a:pPr marL="0" indent="0">
              <a:buNone/>
            </a:pPr>
            <a:endParaRPr lang="en-US" dirty="0"/>
          </a:p>
          <a:p>
            <a:pPr marL="0" indent="0">
              <a:buNone/>
            </a:pPr>
            <a:r>
              <a:rPr lang="en-US" dirty="0"/>
              <a:t>Syntax for defining the destructor outside the class</a:t>
            </a:r>
          </a:p>
          <a:p>
            <a:pPr marL="0" indent="0">
              <a:buNone/>
            </a:pPr>
            <a:r>
              <a:rPr lang="en-US" dirty="0"/>
              <a:t>&lt;class-name&gt;: : ~ &lt;class-name&gt;()</a:t>
            </a:r>
          </a:p>
          <a:p>
            <a:pPr marL="0" indent="0">
              <a:buNone/>
            </a:pPr>
            <a:r>
              <a:rPr lang="en-US" dirty="0"/>
              <a:t>{</a:t>
            </a:r>
          </a:p>
          <a:p>
            <a:pPr marL="0" indent="0">
              <a:buNone/>
            </a:pPr>
            <a:endParaRPr lang="en-US" dirty="0"/>
          </a:p>
          <a:p>
            <a:pPr marL="0" indent="0">
              <a:buNone/>
            </a:pPr>
            <a:r>
              <a:rPr lang="en-US" dirty="0"/>
              <a:t>}</a:t>
            </a:r>
            <a:endParaRPr lang="en-IN" dirty="0"/>
          </a:p>
        </p:txBody>
      </p:sp>
    </p:spTree>
    <p:extLst>
      <p:ext uri="{BB962C8B-B14F-4D97-AF65-F5344CB8AC3E}">
        <p14:creationId xmlns:p14="http://schemas.microsoft.com/office/powerpoint/2010/main" val="2445112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80D96F7-1D3E-541B-E507-7E5CF1FF8F8B}"/>
              </a:ext>
            </a:extLst>
          </p:cNvPr>
          <p:cNvSpPr txBox="1"/>
          <p:nvPr/>
        </p:nvSpPr>
        <p:spPr>
          <a:xfrm>
            <a:off x="1108953" y="58847"/>
            <a:ext cx="8414426" cy="6740307"/>
          </a:xfrm>
          <a:prstGeom prst="rect">
            <a:avLst/>
          </a:prstGeom>
          <a:noFill/>
        </p:spPr>
        <p:txBody>
          <a:bodyPr wrap="square">
            <a:spAutoFit/>
          </a:bodyPr>
          <a:lstStyle/>
          <a:p>
            <a:r>
              <a:rPr lang="en-IN" dirty="0"/>
              <a:t>// Example:</a:t>
            </a:r>
          </a:p>
          <a:p>
            <a:r>
              <a:rPr lang="en-IN" dirty="0"/>
              <a:t> </a:t>
            </a:r>
          </a:p>
          <a:p>
            <a:r>
              <a:rPr lang="en-IN" dirty="0"/>
              <a:t>#include&lt;iostream&gt;</a:t>
            </a:r>
          </a:p>
          <a:p>
            <a:r>
              <a:rPr lang="en-IN" dirty="0"/>
              <a:t>using namespace std;</a:t>
            </a:r>
          </a:p>
          <a:p>
            <a:r>
              <a:rPr lang="en-IN" dirty="0"/>
              <a:t> </a:t>
            </a:r>
          </a:p>
          <a:p>
            <a:r>
              <a:rPr lang="en-IN" dirty="0"/>
              <a:t>class Test</a:t>
            </a:r>
          </a:p>
          <a:p>
            <a:r>
              <a:rPr lang="en-IN" dirty="0"/>
              <a:t>{</a:t>
            </a:r>
          </a:p>
          <a:p>
            <a:r>
              <a:rPr lang="en-IN" dirty="0"/>
              <a:t>   public:</a:t>
            </a:r>
          </a:p>
          <a:p>
            <a:r>
              <a:rPr lang="en-IN" dirty="0"/>
              <a:t>        Test()</a:t>
            </a:r>
          </a:p>
          <a:p>
            <a:r>
              <a:rPr lang="en-IN" dirty="0"/>
              <a:t>       {</a:t>
            </a:r>
          </a:p>
          <a:p>
            <a:r>
              <a:rPr lang="en-IN" dirty="0"/>
              <a:t>              </a:t>
            </a:r>
            <a:r>
              <a:rPr lang="en-IN" dirty="0" err="1"/>
              <a:t>cout</a:t>
            </a:r>
            <a:r>
              <a:rPr lang="en-IN" dirty="0"/>
              <a:t>&lt;&lt;"\n Constructor executed";</a:t>
            </a:r>
          </a:p>
          <a:p>
            <a:r>
              <a:rPr lang="en-IN" dirty="0"/>
              <a:t>       }   </a:t>
            </a:r>
          </a:p>
          <a:p>
            <a:r>
              <a:rPr lang="en-IN" dirty="0"/>
              <a:t> </a:t>
            </a:r>
          </a:p>
          <a:p>
            <a:r>
              <a:rPr lang="en-IN" dirty="0"/>
              <a:t>       ~Test()</a:t>
            </a:r>
          </a:p>
          <a:p>
            <a:r>
              <a:rPr lang="en-IN" dirty="0"/>
              <a:t>          {</a:t>
            </a:r>
          </a:p>
          <a:p>
            <a:r>
              <a:rPr lang="en-IN" dirty="0"/>
              <a:t>              </a:t>
            </a:r>
            <a:r>
              <a:rPr lang="en-IN" dirty="0" err="1"/>
              <a:t>cout</a:t>
            </a:r>
            <a:r>
              <a:rPr lang="en-IN" dirty="0"/>
              <a:t>&lt;&lt;"\n Destructor executed";</a:t>
            </a:r>
          </a:p>
          <a:p>
            <a:r>
              <a:rPr lang="en-IN" dirty="0"/>
              <a:t>          }</a:t>
            </a:r>
          </a:p>
          <a:p>
            <a:r>
              <a:rPr lang="en-IN" dirty="0"/>
              <a:t>};</a:t>
            </a:r>
          </a:p>
          <a:p>
            <a:r>
              <a:rPr lang="en-IN" dirty="0"/>
              <a:t>main()</a:t>
            </a:r>
          </a:p>
          <a:p>
            <a:r>
              <a:rPr lang="en-IN" dirty="0"/>
              <a:t>{</a:t>
            </a:r>
          </a:p>
          <a:p>
            <a:r>
              <a:rPr lang="en-IN" dirty="0"/>
              <a:t>     Test t;</a:t>
            </a:r>
          </a:p>
          <a:p>
            <a:r>
              <a:rPr lang="en-IN" dirty="0"/>
              <a:t>       </a:t>
            </a:r>
          </a:p>
          <a:p>
            <a:r>
              <a:rPr lang="en-IN" dirty="0"/>
              <a:t>    return 0;</a:t>
            </a:r>
          </a:p>
          <a:p>
            <a:r>
              <a:rPr lang="en-IN" dirty="0"/>
              <a:t>}</a:t>
            </a:r>
          </a:p>
        </p:txBody>
      </p:sp>
    </p:spTree>
    <p:extLst>
      <p:ext uri="{BB962C8B-B14F-4D97-AF65-F5344CB8AC3E}">
        <p14:creationId xmlns:p14="http://schemas.microsoft.com/office/powerpoint/2010/main" val="2233422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F825-C9A5-3F38-710F-B075E40FC767}"/>
              </a:ext>
            </a:extLst>
          </p:cNvPr>
          <p:cNvSpPr>
            <a:spLocks noGrp="1"/>
          </p:cNvSpPr>
          <p:nvPr>
            <p:ph type="title"/>
          </p:nvPr>
        </p:nvSpPr>
        <p:spPr/>
        <p:txBody>
          <a:bodyPr/>
          <a:lstStyle/>
          <a:p>
            <a:r>
              <a:rPr lang="en-IN" dirty="0"/>
              <a:t>Array of Objects</a:t>
            </a:r>
          </a:p>
        </p:txBody>
      </p:sp>
      <p:sp>
        <p:nvSpPr>
          <p:cNvPr id="3" name="Content Placeholder 2">
            <a:extLst>
              <a:ext uri="{FF2B5EF4-FFF2-40B4-BE49-F238E27FC236}">
                <a16:creationId xmlns:a16="http://schemas.microsoft.com/office/drawing/2014/main" id="{2F283677-E322-D8A5-DAED-8CB60FCB54C3}"/>
              </a:ext>
            </a:extLst>
          </p:cNvPr>
          <p:cNvSpPr>
            <a:spLocks noGrp="1"/>
          </p:cNvSpPr>
          <p:nvPr>
            <p:ph sz="half" idx="1"/>
          </p:nvPr>
        </p:nvSpPr>
        <p:spPr>
          <a:xfrm>
            <a:off x="838200" y="1527243"/>
            <a:ext cx="5181600" cy="4649720"/>
          </a:xfrm>
        </p:spPr>
        <p:txBody>
          <a:bodyPr>
            <a:normAutofit fontScale="70000" lnSpcReduction="20000"/>
          </a:bodyPr>
          <a:lstStyle/>
          <a:p>
            <a:pPr marL="0" indent="0">
              <a:buNone/>
            </a:pPr>
            <a:r>
              <a:rPr lang="en-US" dirty="0"/>
              <a:t>// C++ program to implement</a:t>
            </a:r>
          </a:p>
          <a:p>
            <a:pPr marL="0" indent="0">
              <a:buNone/>
            </a:pPr>
            <a:r>
              <a:rPr lang="en-US" dirty="0"/>
              <a:t>// the above approach</a:t>
            </a:r>
          </a:p>
          <a:p>
            <a:pPr marL="0" indent="0">
              <a:buNone/>
            </a:pPr>
            <a:r>
              <a:rPr lang="en-US" dirty="0"/>
              <a:t>#include&lt;iostream&gt;</a:t>
            </a:r>
          </a:p>
          <a:p>
            <a:pPr marL="0" indent="0">
              <a:buNone/>
            </a:pPr>
            <a:r>
              <a:rPr lang="en-US" dirty="0"/>
              <a:t>using namespace std;</a:t>
            </a:r>
          </a:p>
          <a:p>
            <a:pPr marL="0" indent="0">
              <a:buNone/>
            </a:pPr>
            <a:r>
              <a:rPr lang="en-US" dirty="0"/>
              <a:t> </a:t>
            </a:r>
          </a:p>
          <a:p>
            <a:pPr marL="0" indent="0">
              <a:buNone/>
            </a:pPr>
            <a:r>
              <a:rPr lang="en-US" dirty="0"/>
              <a:t>class Employee</a:t>
            </a:r>
          </a:p>
          <a:p>
            <a:pPr marL="0" indent="0">
              <a:buNone/>
            </a:pPr>
            <a:r>
              <a:rPr lang="en-US" dirty="0"/>
              <a:t>{</a:t>
            </a:r>
          </a:p>
          <a:p>
            <a:pPr marL="0" indent="0">
              <a:buNone/>
            </a:pPr>
            <a:r>
              <a:rPr lang="en-US" dirty="0"/>
              <a:t>  int id;</a:t>
            </a:r>
          </a:p>
          <a:p>
            <a:pPr marL="0" indent="0">
              <a:buNone/>
            </a:pPr>
            <a:r>
              <a:rPr lang="en-US" dirty="0"/>
              <a:t>  char name[30];</a:t>
            </a:r>
          </a:p>
          <a:p>
            <a:pPr marL="0" indent="0">
              <a:buNone/>
            </a:pPr>
            <a:r>
              <a:rPr lang="en-US" dirty="0"/>
              <a:t>  public:</a:t>
            </a:r>
          </a:p>
          <a:p>
            <a:pPr marL="0" indent="0">
              <a:buNone/>
            </a:pPr>
            <a:r>
              <a:rPr lang="en-US" dirty="0"/>
              <a:t>  void </a:t>
            </a:r>
            <a:r>
              <a:rPr lang="en-US" dirty="0" err="1"/>
              <a:t>getdata</a:t>
            </a:r>
            <a:r>
              <a:rPr lang="en-US" dirty="0"/>
              <a:t>();//Declaration of function</a:t>
            </a:r>
          </a:p>
          <a:p>
            <a:pPr marL="0" indent="0">
              <a:buNone/>
            </a:pPr>
            <a:r>
              <a:rPr lang="en-US" dirty="0"/>
              <a:t>  void </a:t>
            </a:r>
            <a:r>
              <a:rPr lang="en-US" dirty="0" err="1"/>
              <a:t>putdata</a:t>
            </a:r>
            <a:r>
              <a:rPr lang="en-US" dirty="0"/>
              <a:t>();//Declaration of function</a:t>
            </a:r>
          </a:p>
          <a:p>
            <a:pPr marL="0" indent="0">
              <a:buNone/>
            </a:pPr>
            <a:r>
              <a:rPr lang="en-US" dirty="0"/>
              <a:t>};</a:t>
            </a:r>
            <a:endParaRPr lang="en-IN" dirty="0"/>
          </a:p>
        </p:txBody>
      </p:sp>
      <p:sp>
        <p:nvSpPr>
          <p:cNvPr id="4" name="Content Placeholder 3">
            <a:extLst>
              <a:ext uri="{FF2B5EF4-FFF2-40B4-BE49-F238E27FC236}">
                <a16:creationId xmlns:a16="http://schemas.microsoft.com/office/drawing/2014/main" id="{32AAFC46-340B-4D15-B021-326CD523A4AD}"/>
              </a:ext>
            </a:extLst>
          </p:cNvPr>
          <p:cNvSpPr>
            <a:spLocks noGrp="1"/>
          </p:cNvSpPr>
          <p:nvPr>
            <p:ph sz="half" idx="2"/>
          </p:nvPr>
        </p:nvSpPr>
        <p:spPr>
          <a:xfrm>
            <a:off x="6172200" y="365125"/>
            <a:ext cx="5181600" cy="5811838"/>
          </a:xfrm>
        </p:spPr>
        <p:txBody>
          <a:bodyPr>
            <a:normAutofit fontScale="70000" lnSpcReduction="20000"/>
          </a:bodyPr>
          <a:lstStyle/>
          <a:p>
            <a:pPr marL="0" indent="0">
              <a:buNone/>
            </a:pPr>
            <a:r>
              <a:rPr lang="en-IN" dirty="0"/>
              <a:t>void Employee::</a:t>
            </a:r>
            <a:r>
              <a:rPr lang="en-IN" dirty="0" err="1"/>
              <a:t>getdata</a:t>
            </a:r>
            <a:r>
              <a:rPr lang="en-IN" dirty="0"/>
              <a:t>(){//Defining of function</a:t>
            </a:r>
          </a:p>
          <a:p>
            <a:pPr marL="0" indent="0">
              <a:buNone/>
            </a:pPr>
            <a:r>
              <a:rPr lang="en-IN" dirty="0"/>
              <a:t>  </a:t>
            </a:r>
            <a:r>
              <a:rPr lang="en-IN" dirty="0" err="1"/>
              <a:t>cout</a:t>
            </a:r>
            <a:r>
              <a:rPr lang="en-IN" dirty="0"/>
              <a:t>&lt;&lt;"Enter Id : ";</a:t>
            </a:r>
          </a:p>
          <a:p>
            <a:pPr marL="0" indent="0">
              <a:buNone/>
            </a:pPr>
            <a:r>
              <a:rPr lang="en-IN" dirty="0"/>
              <a:t>  </a:t>
            </a:r>
            <a:r>
              <a:rPr lang="en-IN" dirty="0" err="1"/>
              <a:t>cin</a:t>
            </a:r>
            <a:r>
              <a:rPr lang="en-IN" dirty="0"/>
              <a:t>&gt;&gt;id;</a:t>
            </a:r>
          </a:p>
          <a:p>
            <a:pPr marL="0" indent="0">
              <a:buNone/>
            </a:pPr>
            <a:r>
              <a:rPr lang="en-IN" dirty="0"/>
              <a:t>  </a:t>
            </a:r>
            <a:r>
              <a:rPr lang="en-IN" dirty="0" err="1"/>
              <a:t>cout</a:t>
            </a:r>
            <a:r>
              <a:rPr lang="en-IN" dirty="0"/>
              <a:t>&lt;&lt;"Enter Name : ";</a:t>
            </a:r>
          </a:p>
          <a:p>
            <a:pPr marL="0" indent="0">
              <a:buNone/>
            </a:pPr>
            <a:r>
              <a:rPr lang="en-IN" dirty="0"/>
              <a:t>  </a:t>
            </a:r>
            <a:r>
              <a:rPr lang="en-IN" dirty="0" err="1"/>
              <a:t>cin</a:t>
            </a:r>
            <a:r>
              <a:rPr lang="en-IN" dirty="0"/>
              <a:t>&gt;&gt;name;</a:t>
            </a:r>
          </a:p>
          <a:p>
            <a:pPr marL="0" indent="0">
              <a:buNone/>
            </a:pPr>
            <a:r>
              <a:rPr lang="en-IN" dirty="0"/>
              <a:t>}</a:t>
            </a:r>
          </a:p>
          <a:p>
            <a:pPr marL="0" indent="0">
              <a:buNone/>
            </a:pPr>
            <a:r>
              <a:rPr lang="en-IN" dirty="0"/>
              <a:t>void Employee::</a:t>
            </a:r>
            <a:r>
              <a:rPr lang="en-IN" dirty="0" err="1"/>
              <a:t>putdata</a:t>
            </a:r>
            <a:r>
              <a:rPr lang="en-IN" dirty="0"/>
              <a:t>(){//Defining of function</a:t>
            </a:r>
          </a:p>
          <a:p>
            <a:pPr marL="0" indent="0">
              <a:buNone/>
            </a:pPr>
            <a:r>
              <a:rPr lang="en-IN" dirty="0"/>
              <a:t>  </a:t>
            </a:r>
            <a:r>
              <a:rPr lang="en-IN" dirty="0" err="1"/>
              <a:t>cout</a:t>
            </a:r>
            <a:r>
              <a:rPr lang="en-IN" dirty="0"/>
              <a:t>&lt;&lt;id&lt;&lt;" ";</a:t>
            </a:r>
          </a:p>
          <a:p>
            <a:pPr marL="0" indent="0">
              <a:buNone/>
            </a:pPr>
            <a:r>
              <a:rPr lang="en-IN" dirty="0"/>
              <a:t>  </a:t>
            </a:r>
            <a:r>
              <a:rPr lang="en-IN" dirty="0" err="1"/>
              <a:t>cout</a:t>
            </a:r>
            <a:r>
              <a:rPr lang="en-IN" dirty="0"/>
              <a:t>&lt;&lt;name&lt;&lt;" ";</a:t>
            </a:r>
          </a:p>
          <a:p>
            <a:pPr marL="0" indent="0">
              <a:buNone/>
            </a:pPr>
            <a:r>
              <a:rPr lang="en-IN" dirty="0"/>
              <a:t>  </a:t>
            </a:r>
            <a:r>
              <a:rPr lang="en-IN" dirty="0" err="1"/>
              <a:t>cout</a:t>
            </a:r>
            <a:r>
              <a:rPr lang="en-IN" dirty="0"/>
              <a:t>&lt;&lt;</a:t>
            </a:r>
            <a:r>
              <a:rPr lang="en-IN" dirty="0" err="1"/>
              <a:t>endl</a:t>
            </a:r>
            <a:r>
              <a:rPr lang="en-IN" dirty="0"/>
              <a:t>;</a:t>
            </a:r>
          </a:p>
          <a:p>
            <a:pPr marL="0" indent="0">
              <a:buNone/>
            </a:pPr>
            <a:r>
              <a:rPr lang="en-IN" dirty="0"/>
              <a:t>}</a:t>
            </a:r>
          </a:p>
          <a:p>
            <a:pPr marL="0" indent="0">
              <a:buNone/>
            </a:pPr>
            <a:r>
              <a:rPr lang="en-IN" dirty="0"/>
              <a:t>int main(){</a:t>
            </a:r>
          </a:p>
          <a:p>
            <a:pPr marL="0" indent="0">
              <a:buNone/>
            </a:pPr>
            <a:r>
              <a:rPr lang="en-IN" dirty="0"/>
              <a:t>  Employee emp; //One member</a:t>
            </a:r>
          </a:p>
          <a:p>
            <a:pPr marL="0" indent="0">
              <a:buNone/>
            </a:pPr>
            <a:r>
              <a:rPr lang="en-IN" dirty="0"/>
              <a:t>  </a:t>
            </a:r>
            <a:r>
              <a:rPr lang="en-IN" dirty="0" err="1"/>
              <a:t>emp.getdata</a:t>
            </a:r>
            <a:r>
              <a:rPr lang="en-IN" dirty="0"/>
              <a:t>();//Accessing the function</a:t>
            </a:r>
          </a:p>
          <a:p>
            <a:pPr marL="0" indent="0">
              <a:buNone/>
            </a:pPr>
            <a:r>
              <a:rPr lang="en-IN" dirty="0"/>
              <a:t>  </a:t>
            </a:r>
            <a:r>
              <a:rPr lang="en-IN" dirty="0" err="1"/>
              <a:t>emp.putdata</a:t>
            </a:r>
            <a:r>
              <a:rPr lang="en-IN" dirty="0"/>
              <a:t>();//Accessing the function</a:t>
            </a:r>
          </a:p>
          <a:p>
            <a:pPr marL="0" indent="0">
              <a:buNone/>
            </a:pPr>
            <a:r>
              <a:rPr lang="en-IN" dirty="0"/>
              <a:t>  return 0; </a:t>
            </a:r>
          </a:p>
          <a:p>
            <a:pPr marL="0" indent="0">
              <a:buNone/>
            </a:pPr>
            <a:r>
              <a:rPr lang="en-IN" dirty="0"/>
              <a:t>}</a:t>
            </a:r>
          </a:p>
        </p:txBody>
      </p:sp>
    </p:spTree>
    <p:extLst>
      <p:ext uri="{BB962C8B-B14F-4D97-AF65-F5344CB8AC3E}">
        <p14:creationId xmlns:p14="http://schemas.microsoft.com/office/powerpoint/2010/main" val="254670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F825-C9A5-3F38-710F-B075E40FC767}"/>
              </a:ext>
            </a:extLst>
          </p:cNvPr>
          <p:cNvSpPr>
            <a:spLocks noGrp="1"/>
          </p:cNvSpPr>
          <p:nvPr>
            <p:ph type="title"/>
          </p:nvPr>
        </p:nvSpPr>
        <p:spPr>
          <a:xfrm>
            <a:off x="4135876" y="-84948"/>
            <a:ext cx="4628745" cy="450073"/>
          </a:xfrm>
        </p:spPr>
        <p:txBody>
          <a:bodyPr>
            <a:normAutofit fontScale="90000"/>
          </a:bodyPr>
          <a:lstStyle/>
          <a:p>
            <a:r>
              <a:rPr lang="en-IN" dirty="0"/>
              <a:t>Array of Objects</a:t>
            </a:r>
          </a:p>
        </p:txBody>
      </p:sp>
      <p:sp>
        <p:nvSpPr>
          <p:cNvPr id="3" name="Content Placeholder 2">
            <a:extLst>
              <a:ext uri="{FF2B5EF4-FFF2-40B4-BE49-F238E27FC236}">
                <a16:creationId xmlns:a16="http://schemas.microsoft.com/office/drawing/2014/main" id="{2F283677-E322-D8A5-DAED-8CB60FCB54C3}"/>
              </a:ext>
            </a:extLst>
          </p:cNvPr>
          <p:cNvSpPr>
            <a:spLocks noGrp="1"/>
          </p:cNvSpPr>
          <p:nvPr>
            <p:ph sz="half" idx="1"/>
          </p:nvPr>
        </p:nvSpPr>
        <p:spPr>
          <a:xfrm>
            <a:off x="449093" y="0"/>
            <a:ext cx="5181600" cy="6663447"/>
          </a:xfrm>
        </p:spPr>
        <p:txBody>
          <a:bodyPr>
            <a:noAutofit/>
          </a:bodyPr>
          <a:lstStyle/>
          <a:p>
            <a:pPr marL="0" indent="0">
              <a:buNone/>
            </a:pPr>
            <a:r>
              <a:rPr lang="en-US" sz="1800" dirty="0"/>
              <a:t>#include&lt;iostream&gt;</a:t>
            </a:r>
          </a:p>
          <a:p>
            <a:pPr marL="0" indent="0">
              <a:buNone/>
            </a:pPr>
            <a:r>
              <a:rPr lang="en-US" sz="1800" dirty="0"/>
              <a:t>using namespace std;</a:t>
            </a:r>
          </a:p>
          <a:p>
            <a:pPr marL="0" indent="0">
              <a:buNone/>
            </a:pPr>
            <a:r>
              <a:rPr lang="en-US" sz="1800" dirty="0"/>
              <a:t>class Employee</a:t>
            </a:r>
          </a:p>
          <a:p>
            <a:pPr marL="0" indent="0">
              <a:buNone/>
            </a:pPr>
            <a:r>
              <a:rPr lang="en-US" sz="1800" dirty="0"/>
              <a:t>{</a:t>
            </a:r>
          </a:p>
          <a:p>
            <a:pPr marL="0" indent="0">
              <a:buNone/>
            </a:pPr>
            <a:r>
              <a:rPr lang="en-US" sz="1800" dirty="0"/>
              <a:t>  int id;</a:t>
            </a:r>
          </a:p>
          <a:p>
            <a:pPr marL="0" indent="0">
              <a:buNone/>
            </a:pPr>
            <a:r>
              <a:rPr lang="en-US" sz="1800" dirty="0"/>
              <a:t>  char name[30];</a:t>
            </a:r>
          </a:p>
          <a:p>
            <a:pPr marL="0" indent="0">
              <a:buNone/>
            </a:pPr>
            <a:r>
              <a:rPr lang="en-US" sz="1800" dirty="0"/>
              <a:t>  public:</a:t>
            </a:r>
          </a:p>
          <a:p>
            <a:pPr marL="0" indent="0">
              <a:buNone/>
            </a:pPr>
            <a:r>
              <a:rPr lang="en-US" sz="1800" dirty="0"/>
              <a:t>    // Declaration of function</a:t>
            </a:r>
          </a:p>
          <a:p>
            <a:pPr marL="0" indent="0">
              <a:buNone/>
            </a:pPr>
            <a:r>
              <a:rPr lang="en-US" sz="1800" dirty="0"/>
              <a:t>  void </a:t>
            </a:r>
            <a:r>
              <a:rPr lang="en-US" sz="1800" dirty="0" err="1"/>
              <a:t>getdata</a:t>
            </a:r>
            <a:r>
              <a:rPr lang="en-US" sz="1800" dirty="0"/>
              <a:t>();</a:t>
            </a:r>
          </a:p>
          <a:p>
            <a:pPr marL="0" indent="0">
              <a:buNone/>
            </a:pPr>
            <a:r>
              <a:rPr lang="en-US" sz="1800" dirty="0"/>
              <a:t>     // Declaration of function</a:t>
            </a:r>
          </a:p>
          <a:p>
            <a:pPr marL="0" indent="0">
              <a:buNone/>
            </a:pPr>
            <a:r>
              <a:rPr lang="en-US" sz="1800" dirty="0"/>
              <a:t>  void </a:t>
            </a:r>
            <a:r>
              <a:rPr lang="en-US" sz="1800" dirty="0" err="1"/>
              <a:t>putdata</a:t>
            </a:r>
            <a:r>
              <a:rPr lang="en-US" sz="1800" dirty="0"/>
              <a:t>();</a:t>
            </a:r>
          </a:p>
          <a:p>
            <a:pPr marL="0" indent="0">
              <a:buNone/>
            </a:pPr>
            <a:r>
              <a:rPr lang="en-US" sz="1800" dirty="0"/>
              <a:t>};</a:t>
            </a:r>
          </a:p>
          <a:p>
            <a:pPr marL="0" indent="0">
              <a:buNone/>
            </a:pPr>
            <a:r>
              <a:rPr lang="en-US" sz="1800" dirty="0"/>
              <a:t>// Defining the function outside  the class</a:t>
            </a:r>
          </a:p>
          <a:p>
            <a:pPr marL="0" indent="0">
              <a:buNone/>
            </a:pPr>
            <a:r>
              <a:rPr lang="en-US" sz="1800" dirty="0"/>
              <a:t>void Employee::</a:t>
            </a:r>
            <a:r>
              <a:rPr lang="en-US" sz="1800" dirty="0" err="1"/>
              <a:t>getdata</a:t>
            </a:r>
            <a:r>
              <a:rPr lang="en-US" sz="1800" dirty="0"/>
              <a:t>()</a:t>
            </a:r>
          </a:p>
          <a:p>
            <a:pPr marL="0" indent="0">
              <a:buNone/>
            </a:pPr>
            <a:r>
              <a:rPr lang="en-US" sz="1800" dirty="0"/>
              <a:t>{ </a:t>
            </a:r>
            <a:r>
              <a:rPr lang="en-US" sz="1800" dirty="0" err="1"/>
              <a:t>cout</a:t>
            </a:r>
            <a:r>
              <a:rPr lang="en-US" sz="1800" dirty="0"/>
              <a:t> &lt;&lt; "Enter Id : ";</a:t>
            </a:r>
          </a:p>
          <a:p>
            <a:pPr marL="0" indent="0">
              <a:buNone/>
            </a:pPr>
            <a:r>
              <a:rPr lang="en-US" sz="1800" dirty="0"/>
              <a:t>  </a:t>
            </a:r>
            <a:r>
              <a:rPr lang="en-US" sz="1800" dirty="0" err="1"/>
              <a:t>cin</a:t>
            </a:r>
            <a:r>
              <a:rPr lang="en-US" sz="1800" dirty="0"/>
              <a:t> &gt;&gt; id;</a:t>
            </a:r>
          </a:p>
          <a:p>
            <a:pPr marL="0" indent="0">
              <a:buNone/>
            </a:pPr>
            <a:r>
              <a:rPr lang="en-US" sz="1800" dirty="0"/>
              <a:t>  </a:t>
            </a:r>
            <a:r>
              <a:rPr lang="en-US" sz="1800" dirty="0" err="1"/>
              <a:t>cout</a:t>
            </a:r>
            <a:r>
              <a:rPr lang="en-US" sz="1800" dirty="0"/>
              <a:t> &lt;&lt; "Enter Name : ";</a:t>
            </a:r>
          </a:p>
          <a:p>
            <a:pPr marL="0" indent="0">
              <a:buNone/>
            </a:pPr>
            <a:r>
              <a:rPr lang="en-US" sz="1800" dirty="0"/>
              <a:t>  </a:t>
            </a:r>
            <a:r>
              <a:rPr lang="en-US" sz="1800" dirty="0" err="1"/>
              <a:t>cin</a:t>
            </a:r>
            <a:r>
              <a:rPr lang="en-US" sz="1800" dirty="0"/>
              <a:t> &gt;&gt; name; }</a:t>
            </a:r>
          </a:p>
          <a:p>
            <a:pPr marL="0" indent="0">
              <a:buNone/>
            </a:pPr>
            <a:r>
              <a:rPr lang="en-US" sz="1800" dirty="0"/>
              <a:t> </a:t>
            </a:r>
            <a:endParaRPr lang="en-IN" sz="1800" dirty="0"/>
          </a:p>
        </p:txBody>
      </p:sp>
      <p:sp>
        <p:nvSpPr>
          <p:cNvPr id="4" name="Content Placeholder 3">
            <a:extLst>
              <a:ext uri="{FF2B5EF4-FFF2-40B4-BE49-F238E27FC236}">
                <a16:creationId xmlns:a16="http://schemas.microsoft.com/office/drawing/2014/main" id="{32AAFC46-340B-4D15-B021-326CD523A4AD}"/>
              </a:ext>
            </a:extLst>
          </p:cNvPr>
          <p:cNvSpPr>
            <a:spLocks noGrp="1"/>
          </p:cNvSpPr>
          <p:nvPr>
            <p:ph sz="half" idx="2"/>
          </p:nvPr>
        </p:nvSpPr>
        <p:spPr>
          <a:xfrm>
            <a:off x="4698461" y="365125"/>
            <a:ext cx="6655340" cy="6298322"/>
          </a:xfrm>
        </p:spPr>
        <p:txBody>
          <a:bodyPr>
            <a:noAutofit/>
          </a:bodyPr>
          <a:lstStyle/>
          <a:p>
            <a:pPr marL="0" indent="0">
              <a:buNone/>
            </a:pPr>
            <a:r>
              <a:rPr lang="en-US" sz="1600" dirty="0"/>
              <a:t>void Employee::</a:t>
            </a:r>
            <a:r>
              <a:rPr lang="en-US" sz="1600" dirty="0" err="1"/>
              <a:t>putdata</a:t>
            </a:r>
            <a:r>
              <a:rPr lang="en-US" sz="1600" dirty="0"/>
              <a:t>()</a:t>
            </a:r>
          </a:p>
          <a:p>
            <a:pPr marL="0" indent="0">
              <a:buNone/>
            </a:pPr>
            <a:r>
              <a:rPr lang="en-US" sz="1600" dirty="0"/>
              <a:t>{</a:t>
            </a:r>
          </a:p>
          <a:p>
            <a:pPr marL="0" indent="0">
              <a:buNone/>
            </a:pPr>
            <a:r>
              <a:rPr lang="en-US" sz="1600" dirty="0"/>
              <a:t>  </a:t>
            </a:r>
            <a:r>
              <a:rPr lang="en-US" sz="1600" dirty="0" err="1"/>
              <a:t>cout</a:t>
            </a:r>
            <a:r>
              <a:rPr lang="en-US" sz="1600" dirty="0"/>
              <a:t> &lt;&lt; id &lt;&lt; " ";</a:t>
            </a:r>
          </a:p>
          <a:p>
            <a:pPr marL="0" indent="0">
              <a:buNone/>
            </a:pPr>
            <a:r>
              <a:rPr lang="en-US" sz="1600" dirty="0"/>
              <a:t>  </a:t>
            </a:r>
            <a:r>
              <a:rPr lang="en-US" sz="1600" dirty="0" err="1"/>
              <a:t>cout</a:t>
            </a:r>
            <a:r>
              <a:rPr lang="en-US" sz="1600" dirty="0"/>
              <a:t> &lt;&lt; name &lt;&lt; " ";</a:t>
            </a:r>
          </a:p>
          <a:p>
            <a:pPr marL="0" indent="0">
              <a:buNone/>
            </a:pPr>
            <a:r>
              <a:rPr lang="en-US" sz="1600" dirty="0"/>
              <a:t>  </a:t>
            </a:r>
            <a:r>
              <a:rPr lang="en-US" sz="1600" dirty="0" err="1"/>
              <a:t>cout</a:t>
            </a:r>
            <a:r>
              <a:rPr lang="en-US" sz="1600" dirty="0"/>
              <a:t> &lt;&lt; </a:t>
            </a:r>
            <a:r>
              <a:rPr lang="en-US" sz="1600" dirty="0" err="1"/>
              <a:t>endl</a:t>
            </a:r>
            <a:r>
              <a:rPr lang="en-US" sz="1600" dirty="0"/>
              <a:t>;</a:t>
            </a:r>
          </a:p>
          <a:p>
            <a:pPr marL="0" indent="0">
              <a:buNone/>
            </a:pPr>
            <a:r>
              <a:rPr lang="en-US" sz="1600" dirty="0"/>
              <a:t>}</a:t>
            </a:r>
            <a:endParaRPr lang="en-IN" sz="1600" dirty="0"/>
          </a:p>
          <a:p>
            <a:pPr marL="0" indent="0">
              <a:buNone/>
            </a:pPr>
            <a:r>
              <a:rPr lang="en-US" sz="1600" dirty="0"/>
              <a:t>int main(){</a:t>
            </a:r>
          </a:p>
          <a:p>
            <a:pPr marL="0" indent="0">
              <a:buNone/>
            </a:pPr>
            <a:r>
              <a:rPr lang="en-US" sz="1600" dirty="0"/>
              <a:t>  // This is an array of objects having maximum limit of 30 Employees</a:t>
            </a:r>
          </a:p>
          <a:p>
            <a:pPr marL="0" indent="0">
              <a:buNone/>
            </a:pPr>
            <a:r>
              <a:rPr lang="en-US" sz="1600" dirty="0"/>
              <a:t>  Employee emp[30];</a:t>
            </a:r>
          </a:p>
          <a:p>
            <a:pPr marL="0" indent="0">
              <a:buNone/>
            </a:pPr>
            <a:r>
              <a:rPr lang="en-US" sz="1600" dirty="0"/>
              <a:t>  int n, </a:t>
            </a:r>
            <a:r>
              <a:rPr lang="en-US" sz="1600" dirty="0" err="1"/>
              <a:t>i</a:t>
            </a:r>
            <a:r>
              <a:rPr lang="en-US" sz="1600" dirty="0"/>
              <a:t>;</a:t>
            </a:r>
          </a:p>
          <a:p>
            <a:pPr marL="0" indent="0">
              <a:buNone/>
            </a:pPr>
            <a:r>
              <a:rPr lang="en-US" sz="1600" dirty="0">
                <a:highlight>
                  <a:srgbClr val="FFFF00"/>
                </a:highlight>
              </a:rPr>
              <a:t>  </a:t>
            </a:r>
            <a:r>
              <a:rPr lang="en-US" sz="1600" dirty="0" err="1">
                <a:highlight>
                  <a:srgbClr val="FFFF00"/>
                </a:highlight>
              </a:rPr>
              <a:t>cout</a:t>
            </a:r>
            <a:r>
              <a:rPr lang="en-US" sz="1600" dirty="0">
                <a:highlight>
                  <a:srgbClr val="FFFF00"/>
                </a:highlight>
              </a:rPr>
              <a:t> &lt;&lt; "Enter Number of Employees - ";</a:t>
            </a:r>
          </a:p>
          <a:p>
            <a:pPr marL="0" indent="0">
              <a:buNone/>
            </a:pPr>
            <a:r>
              <a:rPr lang="en-US" sz="1600" dirty="0">
                <a:highlight>
                  <a:srgbClr val="FFFF00"/>
                </a:highlight>
              </a:rPr>
              <a:t>  </a:t>
            </a:r>
            <a:r>
              <a:rPr lang="en-US" sz="1600" dirty="0" err="1">
                <a:highlight>
                  <a:srgbClr val="FFFF00"/>
                </a:highlight>
              </a:rPr>
              <a:t>cin</a:t>
            </a:r>
            <a:r>
              <a:rPr lang="en-US" sz="1600" dirty="0">
                <a:highlight>
                  <a:srgbClr val="FFFF00"/>
                </a:highlight>
              </a:rPr>
              <a:t> &gt;&gt; n;</a:t>
            </a:r>
          </a:p>
          <a:p>
            <a:pPr marL="0" indent="0">
              <a:buNone/>
            </a:pPr>
            <a:r>
              <a:rPr lang="en-US" sz="1600" dirty="0"/>
              <a:t>  // Accessing the function</a:t>
            </a:r>
          </a:p>
          <a:p>
            <a:pPr marL="0" indent="0">
              <a:buNone/>
            </a:pPr>
            <a:r>
              <a:rPr lang="en-US" sz="1600" dirty="0"/>
              <a:t>  for(</a:t>
            </a:r>
            <a:r>
              <a:rPr lang="en-US" sz="1600" dirty="0" err="1"/>
              <a:t>i</a:t>
            </a:r>
            <a:r>
              <a:rPr lang="en-US" sz="1600" dirty="0"/>
              <a:t> = 0; </a:t>
            </a:r>
            <a:r>
              <a:rPr lang="en-US" sz="1600" dirty="0" err="1"/>
              <a:t>i</a:t>
            </a:r>
            <a:r>
              <a:rPr lang="en-US" sz="1600" dirty="0"/>
              <a:t> &lt; n; </a:t>
            </a:r>
            <a:r>
              <a:rPr lang="en-US" sz="1600" dirty="0" err="1"/>
              <a:t>i</a:t>
            </a:r>
            <a:r>
              <a:rPr lang="en-US" sz="1600" dirty="0"/>
              <a:t>++)</a:t>
            </a:r>
          </a:p>
          <a:p>
            <a:pPr marL="0" indent="0">
              <a:buNone/>
            </a:pPr>
            <a:r>
              <a:rPr lang="en-US" sz="1600" dirty="0"/>
              <a:t>        emp[</a:t>
            </a:r>
            <a:r>
              <a:rPr lang="en-US" sz="1600" dirty="0" err="1"/>
              <a:t>i</a:t>
            </a:r>
            <a:r>
              <a:rPr lang="en-US" sz="1600" dirty="0"/>
              <a:t>].</a:t>
            </a:r>
            <a:r>
              <a:rPr lang="en-US" sz="1600" dirty="0" err="1"/>
              <a:t>getdata</a:t>
            </a:r>
            <a:r>
              <a:rPr lang="en-US" sz="1600" dirty="0"/>
              <a:t>();</a:t>
            </a:r>
          </a:p>
          <a:p>
            <a:pPr marL="0" indent="0">
              <a:buNone/>
            </a:pPr>
            <a:r>
              <a:rPr lang="en-US" sz="1600" dirty="0"/>
              <a:t>   </a:t>
            </a:r>
            <a:r>
              <a:rPr lang="en-US" sz="1600" dirty="0" err="1"/>
              <a:t>cout</a:t>
            </a:r>
            <a:r>
              <a:rPr lang="en-US" sz="1600" dirty="0"/>
              <a:t> &lt;&lt; "Employee Data - " &lt;&lt; </a:t>
            </a:r>
            <a:r>
              <a:rPr lang="en-US" sz="1600" dirty="0" err="1"/>
              <a:t>endl</a:t>
            </a:r>
            <a:r>
              <a:rPr lang="en-US" sz="1600" dirty="0"/>
              <a:t>;</a:t>
            </a:r>
          </a:p>
          <a:p>
            <a:pPr marL="0" indent="0">
              <a:buNone/>
            </a:pPr>
            <a:r>
              <a:rPr lang="en-US" sz="1600" dirty="0"/>
              <a:t>   for(</a:t>
            </a:r>
            <a:r>
              <a:rPr lang="en-US" sz="1600" dirty="0" err="1"/>
              <a:t>i</a:t>
            </a:r>
            <a:r>
              <a:rPr lang="en-US" sz="1600" dirty="0"/>
              <a:t> = 0; </a:t>
            </a:r>
            <a:r>
              <a:rPr lang="en-US" sz="1600" dirty="0" err="1"/>
              <a:t>i</a:t>
            </a:r>
            <a:r>
              <a:rPr lang="en-US" sz="1600" dirty="0"/>
              <a:t> &lt; n; </a:t>
            </a:r>
            <a:r>
              <a:rPr lang="en-US" sz="1600" dirty="0" err="1"/>
              <a:t>i</a:t>
            </a:r>
            <a:r>
              <a:rPr lang="en-US" sz="1600" dirty="0"/>
              <a:t>++)</a:t>
            </a:r>
          </a:p>
          <a:p>
            <a:pPr marL="0" indent="0">
              <a:buNone/>
            </a:pPr>
            <a:r>
              <a:rPr lang="en-US" sz="1600" dirty="0"/>
              <a:t>          emp[</a:t>
            </a:r>
            <a:r>
              <a:rPr lang="en-US" sz="1600" dirty="0" err="1"/>
              <a:t>i</a:t>
            </a:r>
            <a:r>
              <a:rPr lang="en-US" sz="1600" dirty="0"/>
              <a:t>].</a:t>
            </a:r>
            <a:r>
              <a:rPr lang="en-US" sz="1600" dirty="0" err="1"/>
              <a:t>putdata</a:t>
            </a:r>
            <a:r>
              <a:rPr lang="en-US" sz="1600" dirty="0"/>
              <a:t>();</a:t>
            </a:r>
          </a:p>
          <a:p>
            <a:pPr marL="0" indent="0">
              <a:buNone/>
            </a:pPr>
            <a:r>
              <a:rPr lang="en-US" sz="1600" dirty="0"/>
              <a:t>}</a:t>
            </a:r>
            <a:endParaRPr lang="en-IN" sz="1600" dirty="0"/>
          </a:p>
        </p:txBody>
      </p:sp>
    </p:spTree>
    <p:extLst>
      <p:ext uri="{BB962C8B-B14F-4D97-AF65-F5344CB8AC3E}">
        <p14:creationId xmlns:p14="http://schemas.microsoft.com/office/powerpoint/2010/main" val="3833194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CF825-C9A5-3F38-710F-B075E40FC767}"/>
              </a:ext>
            </a:extLst>
          </p:cNvPr>
          <p:cNvSpPr>
            <a:spLocks noGrp="1"/>
          </p:cNvSpPr>
          <p:nvPr>
            <p:ph type="title"/>
          </p:nvPr>
        </p:nvSpPr>
        <p:spPr>
          <a:xfrm>
            <a:off x="7563255" y="0"/>
            <a:ext cx="4628745" cy="450073"/>
          </a:xfrm>
        </p:spPr>
        <p:txBody>
          <a:bodyPr>
            <a:normAutofit fontScale="90000"/>
          </a:bodyPr>
          <a:lstStyle/>
          <a:p>
            <a:r>
              <a:rPr lang="en-IN" dirty="0"/>
              <a:t>Array of Objects</a:t>
            </a:r>
          </a:p>
        </p:txBody>
      </p:sp>
      <p:sp>
        <p:nvSpPr>
          <p:cNvPr id="3" name="Content Placeholder 2">
            <a:extLst>
              <a:ext uri="{FF2B5EF4-FFF2-40B4-BE49-F238E27FC236}">
                <a16:creationId xmlns:a16="http://schemas.microsoft.com/office/drawing/2014/main" id="{2F283677-E322-D8A5-DAED-8CB60FCB54C3}"/>
              </a:ext>
            </a:extLst>
          </p:cNvPr>
          <p:cNvSpPr>
            <a:spLocks noGrp="1"/>
          </p:cNvSpPr>
          <p:nvPr>
            <p:ph sz="half" idx="1"/>
          </p:nvPr>
        </p:nvSpPr>
        <p:spPr>
          <a:xfrm>
            <a:off x="449093" y="0"/>
            <a:ext cx="5181600" cy="6663447"/>
          </a:xfrm>
        </p:spPr>
        <p:txBody>
          <a:bodyPr>
            <a:noAutofit/>
          </a:bodyPr>
          <a:lstStyle/>
          <a:p>
            <a:pPr marL="0" indent="0">
              <a:buNone/>
            </a:pPr>
            <a:r>
              <a:rPr lang="en-US" sz="1800" dirty="0"/>
              <a:t> #include&lt;iostream&gt;</a:t>
            </a:r>
          </a:p>
          <a:p>
            <a:pPr marL="0" indent="0">
              <a:buNone/>
            </a:pPr>
            <a:r>
              <a:rPr lang="en-US" sz="1800" dirty="0"/>
              <a:t>using namespace std;</a:t>
            </a:r>
          </a:p>
          <a:p>
            <a:pPr marL="0" indent="0">
              <a:buNone/>
            </a:pPr>
            <a:r>
              <a:rPr lang="en-US" sz="1800" dirty="0"/>
              <a:t>class item</a:t>
            </a:r>
          </a:p>
          <a:p>
            <a:pPr marL="0" indent="0">
              <a:buNone/>
            </a:pPr>
            <a:r>
              <a:rPr lang="en-US" sz="1800" dirty="0"/>
              <a:t>{</a:t>
            </a:r>
          </a:p>
          <a:p>
            <a:pPr marL="0" indent="0">
              <a:buNone/>
            </a:pPr>
            <a:r>
              <a:rPr lang="en-US" sz="1800" dirty="0"/>
              <a:t>  char name[30];</a:t>
            </a:r>
          </a:p>
          <a:p>
            <a:pPr marL="0" indent="0">
              <a:buNone/>
            </a:pPr>
            <a:r>
              <a:rPr lang="en-US" sz="1800" dirty="0"/>
              <a:t>  int price;</a:t>
            </a:r>
          </a:p>
          <a:p>
            <a:pPr marL="0" indent="0">
              <a:buNone/>
            </a:pPr>
            <a:r>
              <a:rPr lang="en-US" sz="1800" dirty="0"/>
              <a:t>  public:</a:t>
            </a:r>
          </a:p>
          <a:p>
            <a:pPr marL="0" indent="0">
              <a:buNone/>
            </a:pPr>
            <a:r>
              <a:rPr lang="en-US" sz="1800" dirty="0"/>
              <a:t>  void </a:t>
            </a:r>
            <a:r>
              <a:rPr lang="en-US" sz="1800" dirty="0" err="1"/>
              <a:t>getitem</a:t>
            </a:r>
            <a:r>
              <a:rPr lang="en-US" sz="1800" dirty="0"/>
              <a:t>();</a:t>
            </a:r>
          </a:p>
          <a:p>
            <a:pPr marL="0" indent="0">
              <a:buNone/>
            </a:pPr>
            <a:r>
              <a:rPr lang="en-US" sz="1800" dirty="0"/>
              <a:t>  void </a:t>
            </a:r>
            <a:r>
              <a:rPr lang="en-US" sz="1800" dirty="0" err="1"/>
              <a:t>printitem</a:t>
            </a:r>
            <a:r>
              <a:rPr lang="en-US" sz="1800" dirty="0"/>
              <a:t>();</a:t>
            </a:r>
          </a:p>
          <a:p>
            <a:pPr marL="0" indent="0">
              <a:buNone/>
            </a:pPr>
            <a:r>
              <a:rPr lang="en-US" sz="1800" dirty="0"/>
              <a:t>};</a:t>
            </a:r>
          </a:p>
          <a:p>
            <a:pPr marL="0" indent="0">
              <a:buNone/>
            </a:pPr>
            <a:r>
              <a:rPr lang="en-US" sz="1800" dirty="0"/>
              <a:t> void item::</a:t>
            </a:r>
            <a:r>
              <a:rPr lang="en-US" sz="1800" dirty="0" err="1"/>
              <a:t>getitem</a:t>
            </a:r>
            <a:r>
              <a:rPr lang="en-US" sz="1800" dirty="0"/>
              <a:t>()</a:t>
            </a:r>
          </a:p>
          <a:p>
            <a:pPr marL="0" indent="0">
              <a:buNone/>
            </a:pPr>
            <a:r>
              <a:rPr lang="en-US" sz="1800" dirty="0"/>
              <a:t>{</a:t>
            </a:r>
          </a:p>
          <a:p>
            <a:pPr marL="0" indent="0">
              <a:buNone/>
            </a:pPr>
            <a:r>
              <a:rPr lang="en-US" sz="1800" dirty="0"/>
              <a:t>  </a:t>
            </a:r>
            <a:r>
              <a:rPr lang="en-US" sz="1800" dirty="0" err="1"/>
              <a:t>cout</a:t>
            </a:r>
            <a:r>
              <a:rPr lang="en-US" sz="1800" dirty="0"/>
              <a:t> &lt;&lt; "Item Name = ";</a:t>
            </a:r>
          </a:p>
          <a:p>
            <a:pPr marL="0" indent="0">
              <a:buNone/>
            </a:pPr>
            <a:r>
              <a:rPr lang="en-US" sz="1800" dirty="0"/>
              <a:t>  </a:t>
            </a:r>
            <a:r>
              <a:rPr lang="en-US" sz="1800" dirty="0" err="1"/>
              <a:t>cin</a:t>
            </a:r>
            <a:r>
              <a:rPr lang="en-US" sz="1800" dirty="0"/>
              <a:t> &gt;&gt; name;</a:t>
            </a:r>
          </a:p>
          <a:p>
            <a:pPr marL="0" indent="0">
              <a:buNone/>
            </a:pPr>
            <a:r>
              <a:rPr lang="en-US" sz="1800" dirty="0"/>
              <a:t>  </a:t>
            </a:r>
            <a:r>
              <a:rPr lang="en-US" sz="1800" dirty="0" err="1"/>
              <a:t>cout</a:t>
            </a:r>
            <a:r>
              <a:rPr lang="en-US" sz="1800" dirty="0"/>
              <a:t> &lt;&lt; "Price = ";</a:t>
            </a:r>
          </a:p>
          <a:p>
            <a:pPr marL="0" indent="0">
              <a:buNone/>
            </a:pPr>
            <a:r>
              <a:rPr lang="en-US" sz="1800" dirty="0"/>
              <a:t>  </a:t>
            </a:r>
            <a:r>
              <a:rPr lang="en-US" sz="1800" dirty="0" err="1"/>
              <a:t>cin</a:t>
            </a:r>
            <a:r>
              <a:rPr lang="en-US" sz="1800" dirty="0"/>
              <a:t> &gt;&gt; price;   </a:t>
            </a:r>
          </a:p>
          <a:p>
            <a:pPr marL="0" indent="0">
              <a:buNone/>
            </a:pPr>
            <a:r>
              <a:rPr lang="en-US" sz="1800" dirty="0"/>
              <a:t>}</a:t>
            </a:r>
            <a:endParaRPr lang="en-IN" sz="1800" dirty="0"/>
          </a:p>
        </p:txBody>
      </p:sp>
      <p:sp>
        <p:nvSpPr>
          <p:cNvPr id="4" name="Content Placeholder 3">
            <a:extLst>
              <a:ext uri="{FF2B5EF4-FFF2-40B4-BE49-F238E27FC236}">
                <a16:creationId xmlns:a16="http://schemas.microsoft.com/office/drawing/2014/main" id="{32AAFC46-340B-4D15-B021-326CD523A4AD}"/>
              </a:ext>
            </a:extLst>
          </p:cNvPr>
          <p:cNvSpPr>
            <a:spLocks noGrp="1"/>
          </p:cNvSpPr>
          <p:nvPr>
            <p:ph sz="half" idx="2"/>
          </p:nvPr>
        </p:nvSpPr>
        <p:spPr>
          <a:xfrm>
            <a:off x="3968885" y="97277"/>
            <a:ext cx="7384916" cy="6566170"/>
          </a:xfrm>
        </p:spPr>
        <p:txBody>
          <a:bodyPr>
            <a:noAutofit/>
          </a:bodyPr>
          <a:lstStyle/>
          <a:p>
            <a:pPr marL="0" indent="0">
              <a:buNone/>
            </a:pPr>
            <a:r>
              <a:rPr lang="en-US" sz="1800" dirty="0"/>
              <a:t>void item ::</a:t>
            </a:r>
            <a:r>
              <a:rPr lang="en-US" sz="1800" dirty="0" err="1"/>
              <a:t>printitem</a:t>
            </a:r>
            <a:r>
              <a:rPr lang="en-US" sz="1800" dirty="0"/>
              <a:t>()</a:t>
            </a:r>
          </a:p>
          <a:p>
            <a:pPr marL="0" indent="0">
              <a:buNone/>
            </a:pPr>
            <a:r>
              <a:rPr lang="en-US" sz="1800" dirty="0"/>
              <a:t>{</a:t>
            </a:r>
          </a:p>
          <a:p>
            <a:pPr marL="0" indent="0">
              <a:buNone/>
            </a:pPr>
            <a:r>
              <a:rPr lang="en-US" sz="1800" dirty="0"/>
              <a:t>  </a:t>
            </a:r>
            <a:r>
              <a:rPr lang="en-US" sz="1800" dirty="0" err="1"/>
              <a:t>cout</a:t>
            </a:r>
            <a:r>
              <a:rPr lang="en-US" sz="1800" dirty="0"/>
              <a:t> &lt;&lt; "Name : " &lt;&lt; name &lt;&lt;"\n";</a:t>
            </a:r>
          </a:p>
          <a:p>
            <a:pPr marL="0" indent="0">
              <a:buNone/>
            </a:pPr>
            <a:r>
              <a:rPr lang="en-US" sz="1800" dirty="0"/>
              <a:t>  </a:t>
            </a:r>
            <a:r>
              <a:rPr lang="en-US" sz="1800" dirty="0" err="1"/>
              <a:t>cout</a:t>
            </a:r>
            <a:r>
              <a:rPr lang="en-US" sz="1800" dirty="0"/>
              <a:t> &lt;&lt; "Price : " &lt;&lt; price &lt;&lt; "\n";</a:t>
            </a:r>
          </a:p>
          <a:p>
            <a:pPr marL="0" indent="0">
              <a:buNone/>
            </a:pPr>
            <a:r>
              <a:rPr lang="en-US" sz="1800" dirty="0"/>
              <a:t>}</a:t>
            </a:r>
            <a:endParaRPr lang="en-IN" sz="1800" dirty="0"/>
          </a:p>
          <a:p>
            <a:pPr marL="0" indent="0">
              <a:buNone/>
            </a:pPr>
            <a:r>
              <a:rPr lang="en-IN" sz="1800" dirty="0" err="1">
                <a:highlight>
                  <a:srgbClr val="FFFF00"/>
                </a:highlight>
              </a:rPr>
              <a:t>const</a:t>
            </a:r>
            <a:r>
              <a:rPr lang="en-IN" sz="1800" dirty="0">
                <a:highlight>
                  <a:srgbClr val="FFFF00"/>
                </a:highlight>
              </a:rPr>
              <a:t> int size = 3;</a:t>
            </a:r>
          </a:p>
          <a:p>
            <a:pPr marL="0" indent="0">
              <a:buNone/>
            </a:pPr>
            <a:r>
              <a:rPr lang="en-IN" sz="1800" dirty="0"/>
              <a:t>int main()</a:t>
            </a:r>
          </a:p>
          <a:p>
            <a:pPr marL="0" indent="0">
              <a:buNone/>
            </a:pPr>
            <a:r>
              <a:rPr lang="en-IN" sz="1800" dirty="0"/>
              <a:t>{</a:t>
            </a:r>
          </a:p>
          <a:p>
            <a:pPr marL="0" indent="0">
              <a:buNone/>
            </a:pPr>
            <a:r>
              <a:rPr lang="en-IN" sz="1800" dirty="0"/>
              <a:t>  item t[size];</a:t>
            </a:r>
          </a:p>
          <a:p>
            <a:pPr marL="0" indent="0">
              <a:buNone/>
            </a:pPr>
            <a:r>
              <a:rPr lang="en-IN" sz="1800" dirty="0"/>
              <a:t>  for(int </a:t>
            </a:r>
            <a:r>
              <a:rPr lang="en-IN" sz="1800" dirty="0" err="1"/>
              <a:t>i</a:t>
            </a:r>
            <a:r>
              <a:rPr lang="en-IN" sz="1800" dirty="0"/>
              <a:t> = 0; </a:t>
            </a:r>
            <a:r>
              <a:rPr lang="en-IN" sz="1800" dirty="0" err="1"/>
              <a:t>i</a:t>
            </a:r>
            <a:r>
              <a:rPr lang="en-IN" sz="1800" dirty="0"/>
              <a:t> &lt; size; </a:t>
            </a:r>
            <a:r>
              <a:rPr lang="en-IN" sz="1800" dirty="0" err="1"/>
              <a:t>i</a:t>
            </a:r>
            <a:r>
              <a:rPr lang="en-IN" sz="1800" dirty="0"/>
              <a:t>++)  {</a:t>
            </a:r>
          </a:p>
          <a:p>
            <a:pPr marL="0" indent="0">
              <a:buNone/>
            </a:pPr>
            <a:r>
              <a:rPr lang="en-IN" sz="1800" dirty="0"/>
              <a:t>    </a:t>
            </a:r>
            <a:r>
              <a:rPr lang="en-IN" sz="1800" dirty="0" err="1"/>
              <a:t>cout</a:t>
            </a:r>
            <a:r>
              <a:rPr lang="en-IN" sz="1800" dirty="0"/>
              <a:t> &lt;&lt; "Item  : " &lt;&lt; (</a:t>
            </a:r>
            <a:r>
              <a:rPr lang="en-IN" sz="1800" dirty="0" err="1"/>
              <a:t>i</a:t>
            </a:r>
            <a:r>
              <a:rPr lang="en-IN" sz="1800" dirty="0"/>
              <a:t> + 1) &lt;&lt; "\n";</a:t>
            </a:r>
          </a:p>
          <a:p>
            <a:pPr marL="0" indent="0">
              <a:buNone/>
            </a:pPr>
            <a:r>
              <a:rPr lang="en-IN" sz="1800" dirty="0"/>
              <a:t>    t[</a:t>
            </a:r>
            <a:r>
              <a:rPr lang="en-IN" sz="1800" dirty="0" err="1"/>
              <a:t>i</a:t>
            </a:r>
            <a:r>
              <a:rPr lang="en-IN" sz="1800" dirty="0"/>
              <a:t>].</a:t>
            </a:r>
            <a:r>
              <a:rPr lang="en-IN" sz="1800" dirty="0" err="1"/>
              <a:t>getitem</a:t>
            </a:r>
            <a:r>
              <a:rPr lang="en-IN" sz="1800" dirty="0"/>
              <a:t>();</a:t>
            </a:r>
          </a:p>
          <a:p>
            <a:pPr marL="0" indent="0">
              <a:buNone/>
            </a:pPr>
            <a:r>
              <a:rPr lang="en-IN" sz="1800" dirty="0"/>
              <a:t>  }</a:t>
            </a:r>
          </a:p>
          <a:p>
            <a:pPr marL="0" indent="0">
              <a:buNone/>
            </a:pPr>
            <a:r>
              <a:rPr lang="en-IN" sz="1800" dirty="0"/>
              <a:t>  for(int </a:t>
            </a:r>
            <a:r>
              <a:rPr lang="en-IN" sz="1800" dirty="0" err="1"/>
              <a:t>i</a:t>
            </a:r>
            <a:r>
              <a:rPr lang="en-IN" sz="1800" dirty="0"/>
              <a:t> = 0; </a:t>
            </a:r>
            <a:r>
              <a:rPr lang="en-IN" sz="1800" dirty="0" err="1"/>
              <a:t>i</a:t>
            </a:r>
            <a:r>
              <a:rPr lang="en-IN" sz="1800" dirty="0"/>
              <a:t> &lt; size; </a:t>
            </a:r>
            <a:r>
              <a:rPr lang="en-IN" sz="1800" dirty="0" err="1"/>
              <a:t>i</a:t>
            </a:r>
            <a:r>
              <a:rPr lang="en-IN" sz="1800" dirty="0"/>
              <a:t>++)  {</a:t>
            </a:r>
          </a:p>
          <a:p>
            <a:pPr marL="0" indent="0">
              <a:buNone/>
            </a:pPr>
            <a:r>
              <a:rPr lang="en-IN" sz="1800" dirty="0"/>
              <a:t>    </a:t>
            </a:r>
            <a:r>
              <a:rPr lang="en-IN" sz="1800" dirty="0" err="1"/>
              <a:t>cout</a:t>
            </a:r>
            <a:r>
              <a:rPr lang="en-IN" sz="1800" dirty="0"/>
              <a:t> &lt;&lt; "Item Details : " &lt;&lt; (</a:t>
            </a:r>
            <a:r>
              <a:rPr lang="en-IN" sz="1800" dirty="0" err="1"/>
              <a:t>i</a:t>
            </a:r>
            <a:r>
              <a:rPr lang="en-IN" sz="1800" dirty="0"/>
              <a:t> + 1) &lt;&lt; "\n";</a:t>
            </a:r>
          </a:p>
          <a:p>
            <a:pPr marL="0" indent="0">
              <a:buNone/>
            </a:pPr>
            <a:r>
              <a:rPr lang="en-IN" sz="1800" dirty="0"/>
              <a:t>    t[</a:t>
            </a:r>
            <a:r>
              <a:rPr lang="en-IN" sz="1800" dirty="0" err="1"/>
              <a:t>i</a:t>
            </a:r>
            <a:r>
              <a:rPr lang="en-IN" sz="1800" dirty="0"/>
              <a:t>].</a:t>
            </a:r>
            <a:r>
              <a:rPr lang="en-IN" sz="1800" dirty="0" err="1"/>
              <a:t>printitem</a:t>
            </a:r>
            <a:r>
              <a:rPr lang="en-IN" sz="1800" dirty="0"/>
              <a:t>();</a:t>
            </a:r>
          </a:p>
          <a:p>
            <a:pPr marL="0" indent="0">
              <a:buNone/>
            </a:pPr>
            <a:r>
              <a:rPr lang="en-IN" sz="1800" dirty="0"/>
              <a:t>  }</a:t>
            </a:r>
          </a:p>
          <a:p>
            <a:pPr marL="0" indent="0">
              <a:buNone/>
            </a:pPr>
            <a:r>
              <a:rPr lang="en-IN" sz="1800" dirty="0"/>
              <a:t>}</a:t>
            </a:r>
          </a:p>
        </p:txBody>
      </p:sp>
    </p:spTree>
    <p:extLst>
      <p:ext uri="{BB962C8B-B14F-4D97-AF65-F5344CB8AC3E}">
        <p14:creationId xmlns:p14="http://schemas.microsoft.com/office/powerpoint/2010/main" val="806088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8CF1-75BA-0C9F-2554-5CB6393A4678}"/>
              </a:ext>
            </a:extLst>
          </p:cNvPr>
          <p:cNvSpPr>
            <a:spLocks noGrp="1"/>
          </p:cNvSpPr>
          <p:nvPr>
            <p:ph type="title"/>
          </p:nvPr>
        </p:nvSpPr>
        <p:spPr>
          <a:xfrm>
            <a:off x="4250987" y="121935"/>
            <a:ext cx="6810984" cy="471454"/>
          </a:xfrm>
        </p:spPr>
        <p:txBody>
          <a:bodyPr>
            <a:normAutofit fontScale="90000"/>
          </a:bodyPr>
          <a:lstStyle/>
          <a:p>
            <a:r>
              <a:rPr lang="en-IN" dirty="0"/>
              <a:t>Array of objects</a:t>
            </a:r>
          </a:p>
        </p:txBody>
      </p:sp>
      <p:sp>
        <p:nvSpPr>
          <p:cNvPr id="4" name="Content Placeholder 3">
            <a:extLst>
              <a:ext uri="{FF2B5EF4-FFF2-40B4-BE49-F238E27FC236}">
                <a16:creationId xmlns:a16="http://schemas.microsoft.com/office/drawing/2014/main" id="{67FDE1DA-FCE6-7349-5D0B-7500723959CF}"/>
              </a:ext>
            </a:extLst>
          </p:cNvPr>
          <p:cNvSpPr>
            <a:spLocks noGrp="1"/>
          </p:cNvSpPr>
          <p:nvPr>
            <p:ph sz="half" idx="1"/>
          </p:nvPr>
        </p:nvSpPr>
        <p:spPr>
          <a:xfrm>
            <a:off x="838200" y="593389"/>
            <a:ext cx="4677383" cy="4601082"/>
          </a:xfrm>
        </p:spPr>
        <p:txBody>
          <a:bodyPr>
            <a:noAutofit/>
          </a:bodyPr>
          <a:lstStyle/>
          <a:p>
            <a:pPr marL="0" indent="0">
              <a:buNone/>
            </a:pPr>
            <a:r>
              <a:rPr lang="en-IN" sz="1800" dirty="0"/>
              <a:t>#include &lt;iostream&gt;</a:t>
            </a:r>
          </a:p>
          <a:p>
            <a:pPr marL="0" indent="0">
              <a:buNone/>
            </a:pPr>
            <a:r>
              <a:rPr lang="en-IN" sz="1800" dirty="0"/>
              <a:t>using namespace std;</a:t>
            </a:r>
          </a:p>
          <a:p>
            <a:pPr marL="0" indent="0">
              <a:buNone/>
            </a:pPr>
            <a:r>
              <a:rPr lang="en-IN" sz="1800" dirty="0"/>
              <a:t> class Test {</a:t>
            </a:r>
          </a:p>
          <a:p>
            <a:pPr marL="0" indent="0">
              <a:buNone/>
            </a:pPr>
            <a:r>
              <a:rPr lang="en-IN" sz="1800" dirty="0"/>
              <a:t>    // private variables.</a:t>
            </a:r>
          </a:p>
          <a:p>
            <a:pPr marL="0" indent="0">
              <a:buNone/>
            </a:pPr>
            <a:r>
              <a:rPr lang="en-IN" sz="1800" dirty="0"/>
              <a:t>private:</a:t>
            </a:r>
          </a:p>
          <a:p>
            <a:pPr marL="0" indent="0">
              <a:buNone/>
            </a:pPr>
            <a:r>
              <a:rPr lang="en-IN" sz="1800" dirty="0"/>
              <a:t>    int x, y;</a:t>
            </a:r>
          </a:p>
          <a:p>
            <a:pPr marL="0" indent="0">
              <a:buNone/>
            </a:pPr>
            <a:r>
              <a:rPr lang="en-IN" sz="1800" dirty="0"/>
              <a:t> public:</a:t>
            </a:r>
          </a:p>
          <a:p>
            <a:pPr marL="0" indent="0">
              <a:buNone/>
            </a:pPr>
            <a:r>
              <a:rPr lang="en-IN" sz="1800" dirty="0"/>
              <a:t>    // parameterized constructor</a:t>
            </a:r>
          </a:p>
          <a:p>
            <a:pPr marL="0" indent="0">
              <a:buNone/>
            </a:pPr>
            <a:r>
              <a:rPr lang="en-IN" sz="1800" dirty="0"/>
              <a:t>    Test(int cx, int cy)</a:t>
            </a:r>
          </a:p>
          <a:p>
            <a:pPr marL="0" indent="0">
              <a:buNone/>
            </a:pPr>
            <a:r>
              <a:rPr lang="en-IN" sz="1800" dirty="0"/>
              <a:t>    {</a:t>
            </a:r>
          </a:p>
          <a:p>
            <a:pPr marL="0" indent="0">
              <a:buNone/>
            </a:pPr>
            <a:r>
              <a:rPr lang="en-IN" sz="1800" dirty="0"/>
              <a:t>        x = cx;</a:t>
            </a:r>
          </a:p>
          <a:p>
            <a:pPr marL="0" indent="0">
              <a:buNone/>
            </a:pPr>
            <a:r>
              <a:rPr lang="en-IN" sz="1800" dirty="0"/>
              <a:t>        y = cy;</a:t>
            </a:r>
          </a:p>
          <a:p>
            <a:pPr marL="0" indent="0">
              <a:buNone/>
            </a:pPr>
            <a:r>
              <a:rPr lang="en-IN" sz="1800" dirty="0"/>
              <a:t>    }</a:t>
            </a:r>
          </a:p>
          <a:p>
            <a:pPr marL="0" indent="0">
              <a:buNone/>
            </a:pPr>
            <a:r>
              <a:rPr lang="en-IN" sz="1800" dirty="0"/>
              <a:t>    // method to add two numbers</a:t>
            </a:r>
          </a:p>
          <a:p>
            <a:pPr marL="0" indent="0">
              <a:buNone/>
            </a:pPr>
            <a:r>
              <a:rPr lang="en-IN" sz="1800" dirty="0"/>
              <a:t>    void add() { </a:t>
            </a:r>
            <a:r>
              <a:rPr lang="en-IN" sz="1800" dirty="0" err="1"/>
              <a:t>cout</a:t>
            </a:r>
            <a:r>
              <a:rPr lang="en-IN" sz="1800" dirty="0"/>
              <a:t> &lt;&lt; x + y &lt;&lt; </a:t>
            </a:r>
            <a:r>
              <a:rPr lang="en-IN" sz="1800" dirty="0" err="1"/>
              <a:t>endl</a:t>
            </a:r>
            <a:r>
              <a:rPr lang="en-IN" sz="1800" dirty="0"/>
              <a:t>; }</a:t>
            </a:r>
          </a:p>
          <a:p>
            <a:pPr marL="0" indent="0">
              <a:buNone/>
            </a:pPr>
            <a:r>
              <a:rPr lang="en-IN" sz="1800" dirty="0"/>
              <a:t>};</a:t>
            </a:r>
          </a:p>
        </p:txBody>
      </p:sp>
      <p:sp>
        <p:nvSpPr>
          <p:cNvPr id="5" name="Content Placeholder 4">
            <a:extLst>
              <a:ext uri="{FF2B5EF4-FFF2-40B4-BE49-F238E27FC236}">
                <a16:creationId xmlns:a16="http://schemas.microsoft.com/office/drawing/2014/main" id="{156E1EF0-21F1-35E7-EAB8-37D29625A7CC}"/>
              </a:ext>
            </a:extLst>
          </p:cNvPr>
          <p:cNvSpPr>
            <a:spLocks noGrp="1"/>
          </p:cNvSpPr>
          <p:nvPr>
            <p:ph sz="half" idx="2"/>
          </p:nvPr>
        </p:nvSpPr>
        <p:spPr>
          <a:xfrm>
            <a:off x="5116749" y="969591"/>
            <a:ext cx="6731540" cy="4351338"/>
          </a:xfrm>
        </p:spPr>
        <p:txBody>
          <a:bodyPr>
            <a:normAutofit fontScale="62500" lnSpcReduction="20000"/>
          </a:bodyPr>
          <a:lstStyle/>
          <a:p>
            <a:pPr marL="0" indent="0">
              <a:buNone/>
            </a:pPr>
            <a:r>
              <a:rPr lang="en-US" dirty="0"/>
              <a:t>int main()</a:t>
            </a:r>
          </a:p>
          <a:p>
            <a:pPr marL="0" indent="0">
              <a:buNone/>
            </a:pPr>
            <a:r>
              <a:rPr lang="en-US" dirty="0"/>
              <a:t>{</a:t>
            </a:r>
          </a:p>
          <a:p>
            <a:pPr marL="0" indent="0">
              <a:buNone/>
            </a:pPr>
            <a:r>
              <a:rPr lang="en-US" dirty="0"/>
              <a:t>    // Initializing 3 array Objects with function calls of</a:t>
            </a:r>
          </a:p>
          <a:p>
            <a:pPr marL="0" indent="0">
              <a:buNone/>
            </a:pPr>
            <a:r>
              <a:rPr lang="en-US" dirty="0"/>
              <a:t>  // parameterized constructor as elements of that array</a:t>
            </a:r>
          </a:p>
          <a:p>
            <a:pPr marL="0" indent="0">
              <a:buNone/>
            </a:pPr>
            <a:r>
              <a:rPr lang="en-US" dirty="0">
                <a:highlight>
                  <a:srgbClr val="FFFF00"/>
                </a:highlight>
              </a:rPr>
              <a:t>    Test obj[] = { Test(1, 1), Test(2, 2), Test(3, 3) };</a:t>
            </a:r>
          </a:p>
          <a:p>
            <a:pPr marL="0" indent="0">
              <a:buNone/>
            </a:pPr>
            <a:r>
              <a:rPr lang="en-US" dirty="0"/>
              <a:t> </a:t>
            </a:r>
          </a:p>
          <a:p>
            <a:pPr marL="0" indent="0">
              <a:buNone/>
            </a:pPr>
            <a:r>
              <a:rPr lang="en-US" dirty="0"/>
              <a:t>    // using add method for each of three elements.</a:t>
            </a:r>
          </a:p>
          <a:p>
            <a:pPr marL="0" indent="0">
              <a:buNone/>
            </a:pPr>
            <a:r>
              <a:rPr lang="en-US" dirty="0"/>
              <a:t>    for (int </a:t>
            </a:r>
            <a:r>
              <a:rPr lang="en-US" dirty="0" err="1"/>
              <a:t>i</a:t>
            </a:r>
            <a:r>
              <a:rPr lang="en-US" dirty="0"/>
              <a:t> = 0; </a:t>
            </a:r>
            <a:r>
              <a:rPr lang="en-US" dirty="0" err="1"/>
              <a:t>i</a:t>
            </a:r>
            <a:r>
              <a:rPr lang="en-US" dirty="0"/>
              <a:t> &lt; 3; </a:t>
            </a:r>
            <a:r>
              <a:rPr lang="en-US" dirty="0" err="1"/>
              <a:t>i</a:t>
            </a:r>
            <a:r>
              <a:rPr lang="en-US" dirty="0"/>
              <a:t>++) {</a:t>
            </a:r>
          </a:p>
          <a:p>
            <a:pPr marL="0" indent="0">
              <a:buNone/>
            </a:pPr>
            <a:r>
              <a:rPr lang="en-US" dirty="0"/>
              <a:t>        obj[</a:t>
            </a:r>
            <a:r>
              <a:rPr lang="en-US" dirty="0" err="1"/>
              <a:t>i</a:t>
            </a:r>
            <a:r>
              <a:rPr lang="en-US" dirty="0"/>
              <a:t>].add();</a:t>
            </a:r>
          </a:p>
          <a:p>
            <a:pPr marL="0" indent="0">
              <a:buNone/>
            </a:pPr>
            <a:r>
              <a:rPr lang="en-US" dirty="0"/>
              <a:t>    }</a:t>
            </a:r>
          </a:p>
          <a:p>
            <a:pPr marL="0" indent="0">
              <a:buNone/>
            </a:pPr>
            <a:r>
              <a:rPr lang="en-US" dirty="0"/>
              <a:t> </a:t>
            </a:r>
          </a:p>
          <a:p>
            <a:pPr marL="0" indent="0">
              <a:buNone/>
            </a:pPr>
            <a:r>
              <a:rPr lang="en-US" dirty="0"/>
              <a:t>    return 0;</a:t>
            </a:r>
          </a:p>
          <a:p>
            <a:pPr marL="0" indent="0">
              <a:buNone/>
            </a:pPr>
            <a:r>
              <a:rPr lang="en-US" dirty="0"/>
              <a:t>}</a:t>
            </a:r>
            <a:endParaRPr lang="en-IN" dirty="0"/>
          </a:p>
        </p:txBody>
      </p:sp>
    </p:spTree>
    <p:extLst>
      <p:ext uri="{BB962C8B-B14F-4D97-AF65-F5344CB8AC3E}">
        <p14:creationId xmlns:p14="http://schemas.microsoft.com/office/powerpoint/2010/main" val="4277641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8CF1-75BA-0C9F-2554-5CB6393A4678}"/>
              </a:ext>
            </a:extLst>
          </p:cNvPr>
          <p:cNvSpPr>
            <a:spLocks noGrp="1"/>
          </p:cNvSpPr>
          <p:nvPr>
            <p:ph type="title"/>
          </p:nvPr>
        </p:nvSpPr>
        <p:spPr>
          <a:xfrm>
            <a:off x="546371" y="121935"/>
            <a:ext cx="10515600" cy="471454"/>
          </a:xfrm>
        </p:spPr>
        <p:txBody>
          <a:bodyPr>
            <a:normAutofit fontScale="90000"/>
          </a:bodyPr>
          <a:lstStyle/>
          <a:p>
            <a:r>
              <a:rPr lang="en-IN" dirty="0"/>
              <a:t>Array of objects</a:t>
            </a:r>
          </a:p>
        </p:txBody>
      </p:sp>
      <p:sp>
        <p:nvSpPr>
          <p:cNvPr id="4" name="Content Placeholder 3">
            <a:extLst>
              <a:ext uri="{FF2B5EF4-FFF2-40B4-BE49-F238E27FC236}">
                <a16:creationId xmlns:a16="http://schemas.microsoft.com/office/drawing/2014/main" id="{67FDE1DA-FCE6-7349-5D0B-7500723959CF}"/>
              </a:ext>
            </a:extLst>
          </p:cNvPr>
          <p:cNvSpPr>
            <a:spLocks noGrp="1"/>
          </p:cNvSpPr>
          <p:nvPr>
            <p:ph sz="half" idx="1"/>
          </p:nvPr>
        </p:nvSpPr>
        <p:spPr>
          <a:xfrm>
            <a:off x="350196" y="593389"/>
            <a:ext cx="4698459" cy="6142676"/>
          </a:xfrm>
        </p:spPr>
        <p:txBody>
          <a:bodyPr>
            <a:noAutofit/>
          </a:bodyPr>
          <a:lstStyle/>
          <a:p>
            <a:pPr marL="0" indent="0">
              <a:buNone/>
            </a:pPr>
            <a:r>
              <a:rPr lang="en-IN" sz="1800" dirty="0"/>
              <a:t>#include &lt;iostream&gt;</a:t>
            </a:r>
          </a:p>
          <a:p>
            <a:pPr marL="0" indent="0">
              <a:buNone/>
            </a:pPr>
            <a:r>
              <a:rPr lang="en-IN" sz="1800" dirty="0"/>
              <a:t>#define N 5</a:t>
            </a:r>
          </a:p>
          <a:p>
            <a:pPr marL="0" indent="0">
              <a:buNone/>
            </a:pPr>
            <a:r>
              <a:rPr lang="en-IN" sz="1800" dirty="0"/>
              <a:t> using namespace std;</a:t>
            </a:r>
          </a:p>
          <a:p>
            <a:pPr marL="0" indent="0">
              <a:buNone/>
            </a:pPr>
            <a:r>
              <a:rPr lang="en-IN" sz="1800" dirty="0"/>
              <a:t> class Test {</a:t>
            </a:r>
          </a:p>
          <a:p>
            <a:pPr marL="0" indent="0">
              <a:buNone/>
            </a:pPr>
            <a:r>
              <a:rPr lang="en-IN" sz="1800" dirty="0"/>
              <a:t>    // private variables</a:t>
            </a:r>
          </a:p>
          <a:p>
            <a:pPr marL="0" indent="0">
              <a:buNone/>
            </a:pPr>
            <a:r>
              <a:rPr lang="en-IN" sz="1800" dirty="0"/>
              <a:t>    int x, y; </a:t>
            </a:r>
          </a:p>
          <a:p>
            <a:pPr marL="0" indent="0">
              <a:buNone/>
            </a:pPr>
            <a:r>
              <a:rPr lang="en-IN" sz="1800" dirty="0"/>
              <a:t>public:</a:t>
            </a:r>
          </a:p>
          <a:p>
            <a:pPr marL="0" indent="0">
              <a:buNone/>
            </a:pPr>
            <a:r>
              <a:rPr lang="en-IN" sz="1800" dirty="0"/>
              <a:t>    // parameterized constructor</a:t>
            </a:r>
          </a:p>
          <a:p>
            <a:pPr marL="0" indent="0">
              <a:buNone/>
            </a:pPr>
            <a:r>
              <a:rPr lang="en-IN" sz="1800" dirty="0"/>
              <a:t>    Test(int x, int y)</a:t>
            </a:r>
          </a:p>
          <a:p>
            <a:pPr marL="0" indent="0">
              <a:buNone/>
            </a:pPr>
            <a:r>
              <a:rPr lang="en-IN" sz="1800" dirty="0"/>
              <a:t>    {</a:t>
            </a:r>
          </a:p>
          <a:p>
            <a:pPr marL="0" indent="0">
              <a:buNone/>
            </a:pPr>
            <a:r>
              <a:rPr lang="en-IN" sz="1800" dirty="0"/>
              <a:t>        this-&gt;x = x;</a:t>
            </a:r>
          </a:p>
          <a:p>
            <a:pPr marL="0" indent="0">
              <a:buNone/>
            </a:pPr>
            <a:r>
              <a:rPr lang="en-IN" sz="1800" dirty="0"/>
              <a:t>        this-&gt;y = y;</a:t>
            </a:r>
          </a:p>
          <a:p>
            <a:pPr marL="0" indent="0">
              <a:buNone/>
            </a:pPr>
            <a:r>
              <a:rPr lang="en-IN" sz="1800" dirty="0"/>
              <a:t>    }</a:t>
            </a:r>
          </a:p>
          <a:p>
            <a:pPr marL="0" indent="0">
              <a:buNone/>
            </a:pPr>
            <a:r>
              <a:rPr lang="en-IN" sz="1800" dirty="0"/>
              <a:t>     // function to print</a:t>
            </a:r>
          </a:p>
          <a:p>
            <a:pPr marL="0" indent="0">
              <a:buNone/>
            </a:pPr>
            <a:r>
              <a:rPr lang="en-IN" sz="1800" dirty="0"/>
              <a:t>    void print() { </a:t>
            </a:r>
            <a:r>
              <a:rPr lang="en-IN" sz="1800" dirty="0" err="1"/>
              <a:t>cout</a:t>
            </a:r>
            <a:r>
              <a:rPr lang="en-IN" sz="1800" dirty="0"/>
              <a:t> &lt;&lt; x &lt;&lt; " " &lt;&lt; y &lt;&lt; </a:t>
            </a:r>
            <a:r>
              <a:rPr lang="en-IN" sz="1800" dirty="0" err="1"/>
              <a:t>endl</a:t>
            </a:r>
            <a:r>
              <a:rPr lang="en-IN" sz="1800" dirty="0"/>
              <a:t>; }</a:t>
            </a:r>
          </a:p>
          <a:p>
            <a:pPr marL="0" indent="0">
              <a:buNone/>
            </a:pPr>
            <a:r>
              <a:rPr lang="en-IN" sz="1800" dirty="0"/>
              <a:t>};</a:t>
            </a:r>
          </a:p>
        </p:txBody>
      </p:sp>
      <p:sp>
        <p:nvSpPr>
          <p:cNvPr id="5" name="Content Placeholder 4">
            <a:extLst>
              <a:ext uri="{FF2B5EF4-FFF2-40B4-BE49-F238E27FC236}">
                <a16:creationId xmlns:a16="http://schemas.microsoft.com/office/drawing/2014/main" id="{156E1EF0-21F1-35E7-EAB8-37D29625A7CC}"/>
              </a:ext>
            </a:extLst>
          </p:cNvPr>
          <p:cNvSpPr>
            <a:spLocks noGrp="1"/>
          </p:cNvSpPr>
          <p:nvPr>
            <p:ph sz="half" idx="2"/>
          </p:nvPr>
        </p:nvSpPr>
        <p:spPr>
          <a:xfrm>
            <a:off x="5340484" y="476655"/>
            <a:ext cx="6013316" cy="5700308"/>
          </a:xfrm>
        </p:spPr>
        <p:txBody>
          <a:bodyPr>
            <a:normAutofit fontScale="62500" lnSpcReduction="20000"/>
          </a:bodyPr>
          <a:lstStyle/>
          <a:p>
            <a:pPr marL="0" indent="0">
              <a:buNone/>
            </a:pPr>
            <a:r>
              <a:rPr lang="en-US" dirty="0"/>
              <a:t>int main()</a:t>
            </a:r>
          </a:p>
          <a:p>
            <a:pPr marL="0" indent="0">
              <a:buNone/>
            </a:pPr>
            <a:r>
              <a:rPr lang="en-US" dirty="0"/>
              <a:t>{</a:t>
            </a:r>
          </a:p>
          <a:p>
            <a:pPr marL="0" indent="0">
              <a:buNone/>
            </a:pPr>
            <a:r>
              <a:rPr lang="en-US" dirty="0"/>
              <a:t>    // allocating dynamic array of Size N using malloc()</a:t>
            </a:r>
          </a:p>
          <a:p>
            <a:pPr marL="0" indent="0">
              <a:buNone/>
            </a:pPr>
            <a:r>
              <a:rPr lang="en-US" dirty="0"/>
              <a:t>    </a:t>
            </a:r>
            <a:r>
              <a:rPr lang="en-US" dirty="0">
                <a:highlight>
                  <a:srgbClr val="FFFF00"/>
                </a:highlight>
              </a:rPr>
              <a:t>Test* </a:t>
            </a:r>
            <a:r>
              <a:rPr lang="en-US" dirty="0" err="1">
                <a:highlight>
                  <a:srgbClr val="FFFF00"/>
                </a:highlight>
              </a:rPr>
              <a:t>arr</a:t>
            </a:r>
            <a:r>
              <a:rPr lang="en-US" dirty="0">
                <a:highlight>
                  <a:srgbClr val="FFFF00"/>
                </a:highlight>
              </a:rPr>
              <a:t> = (Test*)malloc(</a:t>
            </a:r>
            <a:r>
              <a:rPr lang="en-US" dirty="0" err="1">
                <a:highlight>
                  <a:srgbClr val="FFFF00"/>
                </a:highlight>
              </a:rPr>
              <a:t>sizeof</a:t>
            </a:r>
            <a:r>
              <a:rPr lang="en-US" dirty="0">
                <a:highlight>
                  <a:srgbClr val="FFFF00"/>
                </a:highlight>
              </a:rPr>
              <a:t>(Test) * N);</a:t>
            </a:r>
          </a:p>
          <a:p>
            <a:pPr marL="0" indent="0">
              <a:buNone/>
            </a:pPr>
            <a:r>
              <a:rPr lang="en-US" dirty="0"/>
              <a:t> </a:t>
            </a:r>
          </a:p>
          <a:p>
            <a:pPr marL="0" indent="0">
              <a:buNone/>
            </a:pPr>
            <a:r>
              <a:rPr lang="en-US" dirty="0"/>
              <a:t>    // calling constructor for each index of array</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arr</a:t>
            </a:r>
            <a:r>
              <a:rPr lang="en-US" dirty="0"/>
              <a:t>[</a:t>
            </a:r>
            <a:r>
              <a:rPr lang="en-US" dirty="0" err="1"/>
              <a:t>i</a:t>
            </a:r>
            <a:r>
              <a:rPr lang="en-US" dirty="0"/>
              <a:t>] = Test(</a:t>
            </a:r>
            <a:r>
              <a:rPr lang="en-US" dirty="0" err="1"/>
              <a:t>i</a:t>
            </a:r>
            <a:r>
              <a:rPr lang="en-US" dirty="0"/>
              <a:t>, </a:t>
            </a:r>
            <a:r>
              <a:rPr lang="en-US" dirty="0" err="1"/>
              <a:t>i</a:t>
            </a:r>
            <a:r>
              <a:rPr lang="en-US" dirty="0"/>
              <a:t> * 2);</a:t>
            </a:r>
          </a:p>
          <a:p>
            <a:pPr marL="0" indent="0">
              <a:buNone/>
            </a:pPr>
            <a:r>
              <a:rPr lang="en-US" dirty="0"/>
              <a:t>    }</a:t>
            </a:r>
          </a:p>
          <a:p>
            <a:pPr marL="0" indent="0">
              <a:buNone/>
            </a:pPr>
            <a:r>
              <a:rPr lang="en-US" dirty="0"/>
              <a:t> </a:t>
            </a:r>
          </a:p>
          <a:p>
            <a:pPr marL="0" indent="0">
              <a:buNone/>
            </a:pPr>
            <a:r>
              <a:rPr lang="en-US" dirty="0"/>
              <a:t>    // printing contents of array</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arr</a:t>
            </a:r>
            <a:r>
              <a:rPr lang="en-US" dirty="0"/>
              <a:t>[</a:t>
            </a:r>
            <a:r>
              <a:rPr lang="en-US" dirty="0" err="1"/>
              <a:t>i</a:t>
            </a:r>
            <a:r>
              <a:rPr lang="en-US" dirty="0"/>
              <a:t>].print();</a:t>
            </a:r>
          </a:p>
          <a:p>
            <a:pPr marL="0" indent="0">
              <a:buNone/>
            </a:pPr>
            <a:r>
              <a:rPr lang="en-US" dirty="0"/>
              <a:t>    }</a:t>
            </a:r>
          </a:p>
          <a:p>
            <a:pPr marL="0" indent="0">
              <a:buNone/>
            </a:pPr>
            <a:r>
              <a:rPr lang="en-US" dirty="0"/>
              <a:t> </a:t>
            </a:r>
          </a:p>
          <a:p>
            <a:pPr marL="0" indent="0">
              <a:buNone/>
            </a:pPr>
            <a:r>
              <a:rPr lang="en-US" dirty="0"/>
              <a:t>    return 0;</a:t>
            </a:r>
          </a:p>
          <a:p>
            <a:pPr marL="0" indent="0">
              <a:buNone/>
            </a:pPr>
            <a:r>
              <a:rPr lang="en-US" dirty="0"/>
              <a:t>}</a:t>
            </a:r>
            <a:endParaRPr lang="en-IN" dirty="0"/>
          </a:p>
        </p:txBody>
      </p:sp>
    </p:spTree>
    <p:extLst>
      <p:ext uri="{BB962C8B-B14F-4D97-AF65-F5344CB8AC3E}">
        <p14:creationId xmlns:p14="http://schemas.microsoft.com/office/powerpoint/2010/main" val="327911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43C36-D2CC-0E15-2616-4FF3501714F3}"/>
              </a:ext>
            </a:extLst>
          </p:cNvPr>
          <p:cNvSpPr>
            <a:spLocks noGrp="1"/>
          </p:cNvSpPr>
          <p:nvPr>
            <p:ph type="title"/>
          </p:nvPr>
        </p:nvSpPr>
        <p:spPr>
          <a:xfrm>
            <a:off x="838200" y="365126"/>
            <a:ext cx="10515600" cy="315912"/>
          </a:xfrm>
        </p:spPr>
        <p:txBody>
          <a:bodyPr>
            <a:normAutofit fontScale="90000"/>
          </a:bodyPr>
          <a:lstStyle/>
          <a:p>
            <a:r>
              <a:rPr lang="en-IN" dirty="0"/>
              <a:t>One object with new </a:t>
            </a:r>
          </a:p>
        </p:txBody>
      </p:sp>
      <p:sp>
        <p:nvSpPr>
          <p:cNvPr id="3" name="Content Placeholder 2">
            <a:extLst>
              <a:ext uri="{FF2B5EF4-FFF2-40B4-BE49-F238E27FC236}">
                <a16:creationId xmlns:a16="http://schemas.microsoft.com/office/drawing/2014/main" id="{73C490D5-1A2C-013A-7D79-A6B8C0431AEB}"/>
              </a:ext>
            </a:extLst>
          </p:cNvPr>
          <p:cNvSpPr>
            <a:spLocks noGrp="1"/>
          </p:cNvSpPr>
          <p:nvPr>
            <p:ph sz="half" idx="1"/>
          </p:nvPr>
        </p:nvSpPr>
        <p:spPr>
          <a:xfrm>
            <a:off x="838200" y="964096"/>
            <a:ext cx="5181600" cy="5212867"/>
          </a:xfrm>
        </p:spPr>
        <p:txBody>
          <a:bodyPr>
            <a:normAutofit fontScale="62500" lnSpcReduction="20000"/>
          </a:bodyPr>
          <a:lstStyle/>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class Student {</a:t>
            </a:r>
          </a:p>
          <a:p>
            <a:pPr marL="0" indent="0">
              <a:buNone/>
            </a:pPr>
            <a:r>
              <a:rPr lang="en-US" dirty="0"/>
              <a:t>  private:</a:t>
            </a:r>
          </a:p>
          <a:p>
            <a:pPr marL="0" indent="0">
              <a:buNone/>
            </a:pPr>
            <a:r>
              <a:rPr lang="en-US" dirty="0"/>
              <a:t>    int age;</a:t>
            </a:r>
          </a:p>
          <a:p>
            <a:pPr marL="0" indent="0">
              <a:buNone/>
            </a:pPr>
            <a:endParaRPr lang="en-US" dirty="0"/>
          </a:p>
          <a:p>
            <a:pPr marL="0" indent="0">
              <a:buNone/>
            </a:pPr>
            <a:r>
              <a:rPr lang="en-US" dirty="0"/>
              <a:t>  public:</a:t>
            </a:r>
          </a:p>
          <a:p>
            <a:pPr marL="0" indent="0">
              <a:buNone/>
            </a:pPr>
            <a:endParaRPr lang="en-US" dirty="0"/>
          </a:p>
          <a:p>
            <a:pPr marL="0" indent="0">
              <a:buNone/>
            </a:pPr>
            <a:r>
              <a:rPr lang="en-US" dirty="0"/>
              <a:t>    // constructor initializes age to 12</a:t>
            </a:r>
          </a:p>
          <a:p>
            <a:pPr marL="0" indent="0">
              <a:buNone/>
            </a:pPr>
            <a:r>
              <a:rPr lang="en-US" dirty="0"/>
              <a:t>    Student() : age(12) {}</a:t>
            </a:r>
          </a:p>
          <a:p>
            <a:pPr marL="0" indent="0">
              <a:buNone/>
            </a:pPr>
            <a:endParaRPr lang="en-US" dirty="0"/>
          </a:p>
          <a:p>
            <a:pPr marL="0" indent="0">
              <a:buNone/>
            </a:pPr>
            <a:r>
              <a:rPr lang="en-US" dirty="0"/>
              <a:t>    void </a:t>
            </a:r>
            <a:r>
              <a:rPr lang="en-US" dirty="0" err="1"/>
              <a:t>getAge</a:t>
            </a:r>
            <a:r>
              <a:rPr lang="en-US" dirty="0"/>
              <a:t>() {</a:t>
            </a:r>
          </a:p>
          <a:p>
            <a:pPr marL="0" indent="0">
              <a:buNone/>
            </a:pPr>
            <a:r>
              <a:rPr lang="en-US" dirty="0"/>
              <a:t>      </a:t>
            </a:r>
            <a:r>
              <a:rPr lang="en-US" dirty="0" err="1"/>
              <a:t>cout</a:t>
            </a:r>
            <a:r>
              <a:rPr lang="en-US" dirty="0"/>
              <a:t> &lt;&lt; "Age = " &lt;&lt; age &lt;&lt; </a:t>
            </a:r>
            <a:r>
              <a:rPr lang="en-US" dirty="0" err="1"/>
              <a:t>endl</a:t>
            </a:r>
            <a:r>
              <a:rPr lang="en-US" dirty="0"/>
              <a:t>;</a:t>
            </a:r>
          </a:p>
          <a:p>
            <a:pPr marL="0" indent="0">
              <a:buNone/>
            </a:pPr>
            <a:r>
              <a:rPr lang="en-US" dirty="0"/>
              <a:t>    }</a:t>
            </a:r>
          </a:p>
          <a:p>
            <a:pPr marL="0" indent="0">
              <a:buNone/>
            </a:pPr>
            <a:r>
              <a:rPr lang="en-US" dirty="0"/>
              <a:t>};</a:t>
            </a:r>
            <a:endParaRPr lang="en-IN" dirty="0"/>
          </a:p>
        </p:txBody>
      </p:sp>
      <p:sp>
        <p:nvSpPr>
          <p:cNvPr id="4" name="Content Placeholder 3">
            <a:extLst>
              <a:ext uri="{FF2B5EF4-FFF2-40B4-BE49-F238E27FC236}">
                <a16:creationId xmlns:a16="http://schemas.microsoft.com/office/drawing/2014/main" id="{534894AD-9216-1203-5EBA-79508B64AF0F}"/>
              </a:ext>
            </a:extLst>
          </p:cNvPr>
          <p:cNvSpPr>
            <a:spLocks noGrp="1"/>
          </p:cNvSpPr>
          <p:nvPr>
            <p:ph sz="half" idx="2"/>
          </p:nvPr>
        </p:nvSpPr>
        <p:spPr>
          <a:xfrm>
            <a:off x="6172200" y="964096"/>
            <a:ext cx="5181600" cy="5212867"/>
          </a:xfrm>
        </p:spPr>
        <p:txBody>
          <a:bodyPr>
            <a:noAutofit/>
          </a:bodyPr>
          <a:lstStyle/>
          <a:p>
            <a:pPr marL="0" indent="0">
              <a:buNone/>
            </a:pPr>
            <a:r>
              <a:rPr lang="en-US" sz="1800" dirty="0"/>
              <a:t>int main() {</a:t>
            </a:r>
          </a:p>
          <a:p>
            <a:pPr marL="0" indent="0">
              <a:buNone/>
            </a:pPr>
            <a:endParaRPr lang="en-US" sz="1800" dirty="0"/>
          </a:p>
          <a:p>
            <a:pPr marL="0" indent="0">
              <a:buNone/>
            </a:pPr>
            <a:r>
              <a:rPr lang="en-US" sz="1800" dirty="0"/>
              <a:t>  // dynamically declare Student object</a:t>
            </a:r>
          </a:p>
          <a:p>
            <a:pPr marL="0" indent="0">
              <a:buNone/>
            </a:pPr>
            <a:r>
              <a:rPr lang="en-US" sz="1800" dirty="0"/>
              <a:t>  Student* </a:t>
            </a:r>
            <a:r>
              <a:rPr lang="en-US" sz="1800" dirty="0" err="1"/>
              <a:t>ptr</a:t>
            </a:r>
            <a:r>
              <a:rPr lang="en-US" sz="1800" dirty="0"/>
              <a:t> = new Student();</a:t>
            </a:r>
          </a:p>
          <a:p>
            <a:pPr marL="0" indent="0">
              <a:buNone/>
            </a:pPr>
            <a:endParaRPr lang="en-US" sz="1800" dirty="0"/>
          </a:p>
          <a:p>
            <a:pPr marL="0" indent="0">
              <a:buNone/>
            </a:pPr>
            <a:r>
              <a:rPr lang="en-US" sz="1800" dirty="0"/>
              <a:t>  // call </a:t>
            </a:r>
            <a:r>
              <a:rPr lang="en-US" sz="1800" dirty="0" err="1"/>
              <a:t>getAge</a:t>
            </a:r>
            <a:r>
              <a:rPr lang="en-US" sz="1800" dirty="0"/>
              <a:t>() function</a:t>
            </a:r>
          </a:p>
          <a:p>
            <a:pPr marL="0" indent="0">
              <a:buNone/>
            </a:pPr>
            <a:r>
              <a:rPr lang="en-US" sz="1800" dirty="0"/>
              <a:t>  </a:t>
            </a:r>
            <a:r>
              <a:rPr lang="en-US" sz="1800" dirty="0" err="1"/>
              <a:t>ptr</a:t>
            </a:r>
            <a:r>
              <a:rPr lang="en-US" sz="1800" dirty="0"/>
              <a:t>-&gt;</a:t>
            </a:r>
            <a:r>
              <a:rPr lang="en-US" sz="1800" dirty="0" err="1"/>
              <a:t>getAge</a:t>
            </a:r>
            <a:r>
              <a:rPr lang="en-US" sz="1800" dirty="0"/>
              <a:t>();</a:t>
            </a:r>
          </a:p>
          <a:p>
            <a:pPr marL="0" indent="0">
              <a:buNone/>
            </a:pPr>
            <a:endParaRPr lang="en-US" sz="1800" dirty="0"/>
          </a:p>
          <a:p>
            <a:pPr marL="0" indent="0">
              <a:buNone/>
            </a:pPr>
            <a:r>
              <a:rPr lang="en-US" sz="1800" dirty="0"/>
              <a:t>  // </a:t>
            </a:r>
            <a:r>
              <a:rPr lang="en-US" sz="1800" dirty="0" err="1"/>
              <a:t>ptr</a:t>
            </a:r>
            <a:r>
              <a:rPr lang="en-US" sz="1800" dirty="0"/>
              <a:t> memory is released</a:t>
            </a:r>
          </a:p>
          <a:p>
            <a:pPr marL="0" indent="0">
              <a:buNone/>
            </a:pPr>
            <a:r>
              <a:rPr lang="en-US" sz="1800" dirty="0"/>
              <a:t>  delete </a:t>
            </a:r>
            <a:r>
              <a:rPr lang="en-US" sz="1800" dirty="0" err="1"/>
              <a:t>ptr</a:t>
            </a:r>
            <a:r>
              <a:rPr lang="en-US" sz="1800" dirty="0"/>
              <a:t>;</a:t>
            </a:r>
          </a:p>
          <a:p>
            <a:pPr marL="0" indent="0">
              <a:buNone/>
            </a:pPr>
            <a:endParaRPr lang="en-US" sz="1800" dirty="0"/>
          </a:p>
          <a:p>
            <a:pPr marL="0" indent="0">
              <a:buNone/>
            </a:pPr>
            <a:r>
              <a:rPr lang="en-US" sz="1800" dirty="0"/>
              <a:t>  return 0;</a:t>
            </a:r>
          </a:p>
          <a:p>
            <a:pPr marL="0" indent="0">
              <a:buNone/>
            </a:pPr>
            <a:r>
              <a:rPr lang="en-US" sz="1800" dirty="0"/>
              <a:t>}</a:t>
            </a:r>
            <a:endParaRPr lang="en-IN" sz="1800" dirty="0"/>
          </a:p>
        </p:txBody>
      </p:sp>
    </p:spTree>
    <p:extLst>
      <p:ext uri="{BB962C8B-B14F-4D97-AF65-F5344CB8AC3E}">
        <p14:creationId xmlns:p14="http://schemas.microsoft.com/office/powerpoint/2010/main" val="1343544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8CF1-75BA-0C9F-2554-5CB6393A4678}"/>
              </a:ext>
            </a:extLst>
          </p:cNvPr>
          <p:cNvSpPr>
            <a:spLocks noGrp="1"/>
          </p:cNvSpPr>
          <p:nvPr>
            <p:ph type="title"/>
          </p:nvPr>
        </p:nvSpPr>
        <p:spPr>
          <a:xfrm>
            <a:off x="3881336" y="0"/>
            <a:ext cx="6984460" cy="471454"/>
          </a:xfrm>
        </p:spPr>
        <p:txBody>
          <a:bodyPr>
            <a:normAutofit fontScale="90000"/>
          </a:bodyPr>
          <a:lstStyle/>
          <a:p>
            <a:r>
              <a:rPr lang="en-IN" dirty="0"/>
              <a:t>Array of objects</a:t>
            </a:r>
          </a:p>
        </p:txBody>
      </p:sp>
      <p:sp>
        <p:nvSpPr>
          <p:cNvPr id="4" name="Content Placeholder 3">
            <a:extLst>
              <a:ext uri="{FF2B5EF4-FFF2-40B4-BE49-F238E27FC236}">
                <a16:creationId xmlns:a16="http://schemas.microsoft.com/office/drawing/2014/main" id="{67FDE1DA-FCE6-7349-5D0B-7500723959CF}"/>
              </a:ext>
            </a:extLst>
          </p:cNvPr>
          <p:cNvSpPr>
            <a:spLocks noGrp="1"/>
          </p:cNvSpPr>
          <p:nvPr>
            <p:ph sz="half" idx="1"/>
          </p:nvPr>
        </p:nvSpPr>
        <p:spPr>
          <a:xfrm>
            <a:off x="350196" y="0"/>
            <a:ext cx="4503905" cy="6994187"/>
          </a:xfrm>
        </p:spPr>
        <p:txBody>
          <a:bodyPr>
            <a:noAutofit/>
          </a:bodyPr>
          <a:lstStyle/>
          <a:p>
            <a:pPr marL="0" indent="0">
              <a:buNone/>
            </a:pPr>
            <a:r>
              <a:rPr lang="en-IN" sz="1800" dirty="0"/>
              <a:t>#include &lt;iostream&gt;</a:t>
            </a:r>
          </a:p>
          <a:p>
            <a:pPr marL="0" indent="0">
              <a:buNone/>
            </a:pPr>
            <a:r>
              <a:rPr lang="en-IN" sz="1800" dirty="0"/>
              <a:t>#define N 5 </a:t>
            </a:r>
          </a:p>
          <a:p>
            <a:pPr marL="0" indent="0">
              <a:buNone/>
            </a:pPr>
            <a:r>
              <a:rPr lang="en-IN" sz="1800" dirty="0"/>
              <a:t>using namespace std; </a:t>
            </a:r>
          </a:p>
          <a:p>
            <a:pPr marL="0" indent="0">
              <a:buNone/>
            </a:pPr>
            <a:r>
              <a:rPr lang="en-IN" sz="1800" dirty="0"/>
              <a:t>class Test {</a:t>
            </a:r>
          </a:p>
          <a:p>
            <a:pPr marL="0" indent="0">
              <a:buNone/>
            </a:pPr>
            <a:r>
              <a:rPr lang="en-IN" sz="1800" dirty="0"/>
              <a:t>    // private variables</a:t>
            </a:r>
          </a:p>
          <a:p>
            <a:pPr marL="0" indent="0">
              <a:buNone/>
            </a:pPr>
            <a:r>
              <a:rPr lang="en-IN" sz="1800" dirty="0"/>
              <a:t>    int x, y; </a:t>
            </a:r>
          </a:p>
          <a:p>
            <a:pPr marL="0" indent="0">
              <a:buNone/>
            </a:pPr>
            <a:r>
              <a:rPr lang="en-IN" sz="1800" dirty="0"/>
              <a:t>public:</a:t>
            </a:r>
          </a:p>
          <a:p>
            <a:pPr marL="0" indent="0">
              <a:buNone/>
            </a:pPr>
            <a:r>
              <a:rPr lang="en-IN" sz="1800" dirty="0"/>
              <a:t>    // dummy constructor</a:t>
            </a:r>
          </a:p>
          <a:p>
            <a:pPr marL="0" indent="0">
              <a:buNone/>
            </a:pPr>
            <a:r>
              <a:rPr lang="en-IN" sz="1800" dirty="0"/>
              <a:t>    Test() {} </a:t>
            </a:r>
          </a:p>
          <a:p>
            <a:pPr marL="0" indent="0">
              <a:buNone/>
            </a:pPr>
            <a:r>
              <a:rPr lang="en-IN" sz="1800" dirty="0"/>
              <a:t>    // parameterized constructor</a:t>
            </a:r>
          </a:p>
          <a:p>
            <a:pPr marL="0" indent="0">
              <a:buNone/>
            </a:pPr>
            <a:r>
              <a:rPr lang="en-IN" sz="1800" dirty="0"/>
              <a:t>     Test(int x, int y)</a:t>
            </a:r>
          </a:p>
          <a:p>
            <a:pPr marL="0" indent="0">
              <a:buNone/>
            </a:pPr>
            <a:r>
              <a:rPr lang="en-IN" sz="1800" dirty="0"/>
              <a:t>    {</a:t>
            </a:r>
          </a:p>
          <a:p>
            <a:pPr marL="0" indent="0">
              <a:buNone/>
            </a:pPr>
            <a:r>
              <a:rPr lang="en-IN" sz="1800" dirty="0"/>
              <a:t>        this-&gt;x = x;</a:t>
            </a:r>
          </a:p>
          <a:p>
            <a:pPr marL="0" indent="0">
              <a:buNone/>
            </a:pPr>
            <a:r>
              <a:rPr lang="en-IN" sz="1800" dirty="0"/>
              <a:t>        this-&gt;y = y;</a:t>
            </a:r>
          </a:p>
          <a:p>
            <a:pPr marL="0" indent="0">
              <a:buNone/>
            </a:pPr>
            <a:r>
              <a:rPr lang="en-IN" sz="1800" dirty="0"/>
              <a:t>    }</a:t>
            </a:r>
          </a:p>
          <a:p>
            <a:pPr marL="0" indent="0">
              <a:buNone/>
            </a:pPr>
            <a:r>
              <a:rPr lang="en-IN" sz="1800" dirty="0"/>
              <a:t>     // function to print</a:t>
            </a:r>
          </a:p>
          <a:p>
            <a:pPr marL="0" indent="0">
              <a:buNone/>
            </a:pPr>
            <a:r>
              <a:rPr lang="en-IN" sz="1800" dirty="0"/>
              <a:t>    void print() { </a:t>
            </a:r>
            <a:r>
              <a:rPr lang="en-IN" sz="1800" dirty="0" err="1"/>
              <a:t>cout</a:t>
            </a:r>
            <a:r>
              <a:rPr lang="en-IN" sz="1800" dirty="0"/>
              <a:t> &lt;&lt; x &lt;&lt; " " &lt;&lt; y &lt;&lt; </a:t>
            </a:r>
            <a:r>
              <a:rPr lang="en-IN" sz="1800" dirty="0" err="1"/>
              <a:t>endl</a:t>
            </a:r>
            <a:r>
              <a:rPr lang="en-IN" sz="1800" dirty="0"/>
              <a:t>; }</a:t>
            </a:r>
          </a:p>
          <a:p>
            <a:pPr marL="0" indent="0">
              <a:buNone/>
            </a:pPr>
            <a:r>
              <a:rPr lang="en-IN" sz="1800" dirty="0"/>
              <a:t>};</a:t>
            </a:r>
          </a:p>
        </p:txBody>
      </p:sp>
      <p:sp>
        <p:nvSpPr>
          <p:cNvPr id="5" name="Content Placeholder 4">
            <a:extLst>
              <a:ext uri="{FF2B5EF4-FFF2-40B4-BE49-F238E27FC236}">
                <a16:creationId xmlns:a16="http://schemas.microsoft.com/office/drawing/2014/main" id="{156E1EF0-21F1-35E7-EAB8-37D29625A7CC}"/>
              </a:ext>
            </a:extLst>
          </p:cNvPr>
          <p:cNvSpPr>
            <a:spLocks noGrp="1"/>
          </p:cNvSpPr>
          <p:nvPr>
            <p:ph sz="half" idx="2"/>
          </p:nvPr>
        </p:nvSpPr>
        <p:spPr>
          <a:xfrm>
            <a:off x="4766553" y="471454"/>
            <a:ext cx="7286017" cy="5700308"/>
          </a:xfrm>
        </p:spPr>
        <p:txBody>
          <a:bodyPr>
            <a:normAutofit fontScale="85000" lnSpcReduction="20000"/>
          </a:bodyPr>
          <a:lstStyle/>
          <a:p>
            <a:pPr marL="0" indent="0">
              <a:buNone/>
            </a:pPr>
            <a:r>
              <a:rPr lang="en-US" dirty="0"/>
              <a:t>int main()</a:t>
            </a:r>
          </a:p>
          <a:p>
            <a:pPr marL="0" indent="0">
              <a:buNone/>
            </a:pPr>
            <a:r>
              <a:rPr lang="en-US" dirty="0"/>
              <a:t>{</a:t>
            </a:r>
          </a:p>
          <a:p>
            <a:pPr marL="0" indent="0">
              <a:buNone/>
            </a:pPr>
            <a:r>
              <a:rPr lang="en-US" dirty="0"/>
              <a:t> // allocating dynamic array of Size N using new keyword</a:t>
            </a:r>
          </a:p>
          <a:p>
            <a:pPr marL="0" indent="0">
              <a:buNone/>
            </a:pPr>
            <a:r>
              <a:rPr lang="en-US" dirty="0"/>
              <a:t>    </a:t>
            </a:r>
            <a:r>
              <a:rPr lang="en-US" dirty="0">
                <a:highlight>
                  <a:srgbClr val="FFFF00"/>
                </a:highlight>
              </a:rPr>
              <a:t>Test* </a:t>
            </a:r>
            <a:r>
              <a:rPr lang="en-US" dirty="0" err="1">
                <a:highlight>
                  <a:srgbClr val="FFFF00"/>
                </a:highlight>
              </a:rPr>
              <a:t>arr</a:t>
            </a:r>
            <a:r>
              <a:rPr lang="en-US" dirty="0">
                <a:highlight>
                  <a:srgbClr val="FFFF00"/>
                </a:highlight>
              </a:rPr>
              <a:t> = new Test[N];</a:t>
            </a:r>
          </a:p>
          <a:p>
            <a:pPr marL="0" indent="0">
              <a:buNone/>
            </a:pPr>
            <a:r>
              <a:rPr lang="en-US" dirty="0"/>
              <a:t>     // calling constructor for each index of array</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arr</a:t>
            </a:r>
            <a:r>
              <a:rPr lang="en-US" dirty="0"/>
              <a:t>[</a:t>
            </a:r>
            <a:r>
              <a:rPr lang="en-US" dirty="0" err="1"/>
              <a:t>i</a:t>
            </a:r>
            <a:r>
              <a:rPr lang="en-US" dirty="0"/>
              <a:t>] = Test(</a:t>
            </a:r>
            <a:r>
              <a:rPr lang="en-US" dirty="0" err="1"/>
              <a:t>i</a:t>
            </a:r>
            <a:r>
              <a:rPr lang="en-US" dirty="0"/>
              <a:t>, </a:t>
            </a:r>
            <a:r>
              <a:rPr lang="en-US" dirty="0" err="1"/>
              <a:t>i</a:t>
            </a:r>
            <a:r>
              <a:rPr lang="en-US" dirty="0"/>
              <a:t> + 1);</a:t>
            </a:r>
          </a:p>
          <a:p>
            <a:pPr marL="0" indent="0">
              <a:buNone/>
            </a:pPr>
            <a:r>
              <a:rPr lang="en-US" dirty="0"/>
              <a:t>    }</a:t>
            </a:r>
          </a:p>
          <a:p>
            <a:pPr marL="0" indent="0">
              <a:buNone/>
            </a:pPr>
            <a:r>
              <a:rPr lang="en-US" dirty="0"/>
              <a:t>     // printing contents of array</a:t>
            </a:r>
          </a:p>
          <a:p>
            <a:pPr marL="0" indent="0">
              <a:buNone/>
            </a:pPr>
            <a:r>
              <a:rPr lang="en-US" dirty="0"/>
              <a:t>    for (int </a:t>
            </a:r>
            <a:r>
              <a:rPr lang="en-US" dirty="0" err="1"/>
              <a:t>i</a:t>
            </a:r>
            <a:r>
              <a:rPr lang="en-US" dirty="0"/>
              <a:t> = 0; </a:t>
            </a:r>
            <a:r>
              <a:rPr lang="en-US" dirty="0" err="1"/>
              <a:t>i</a:t>
            </a:r>
            <a:r>
              <a:rPr lang="en-US" dirty="0"/>
              <a:t> &lt; N; </a:t>
            </a:r>
            <a:r>
              <a:rPr lang="en-US" dirty="0" err="1"/>
              <a:t>i</a:t>
            </a:r>
            <a:r>
              <a:rPr lang="en-US" dirty="0"/>
              <a:t>++) {</a:t>
            </a:r>
          </a:p>
          <a:p>
            <a:pPr marL="0" indent="0">
              <a:buNone/>
            </a:pPr>
            <a:r>
              <a:rPr lang="en-US" dirty="0"/>
              <a:t>        </a:t>
            </a:r>
            <a:r>
              <a:rPr lang="en-US" dirty="0" err="1"/>
              <a:t>arr</a:t>
            </a:r>
            <a:r>
              <a:rPr lang="en-US" dirty="0"/>
              <a:t>[</a:t>
            </a:r>
            <a:r>
              <a:rPr lang="en-US" dirty="0" err="1"/>
              <a:t>i</a:t>
            </a:r>
            <a:r>
              <a:rPr lang="en-US" dirty="0"/>
              <a:t>].print();</a:t>
            </a:r>
          </a:p>
          <a:p>
            <a:pPr marL="0" indent="0">
              <a:buNone/>
            </a:pPr>
            <a:r>
              <a:rPr lang="en-US" dirty="0"/>
              <a:t>    }</a:t>
            </a:r>
          </a:p>
          <a:p>
            <a:pPr marL="0" indent="0">
              <a:buNone/>
            </a:pPr>
            <a:r>
              <a:rPr lang="en-US" dirty="0"/>
              <a:t>     return 0;</a:t>
            </a:r>
          </a:p>
          <a:p>
            <a:pPr marL="0" indent="0">
              <a:buNone/>
            </a:pPr>
            <a:r>
              <a:rPr lang="en-US" dirty="0"/>
              <a:t>}</a:t>
            </a:r>
            <a:endParaRPr lang="en-IN" dirty="0"/>
          </a:p>
        </p:txBody>
      </p:sp>
    </p:spTree>
    <p:extLst>
      <p:ext uri="{BB962C8B-B14F-4D97-AF65-F5344CB8AC3E}">
        <p14:creationId xmlns:p14="http://schemas.microsoft.com/office/powerpoint/2010/main" val="3105858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5F081-44FB-BA83-2885-68519777E65B}"/>
              </a:ext>
            </a:extLst>
          </p:cNvPr>
          <p:cNvSpPr>
            <a:spLocks noGrp="1"/>
          </p:cNvSpPr>
          <p:nvPr>
            <p:ph type="title"/>
          </p:nvPr>
        </p:nvSpPr>
        <p:spPr>
          <a:xfrm>
            <a:off x="838200" y="365126"/>
            <a:ext cx="10515600" cy="413088"/>
          </a:xfrm>
        </p:spPr>
        <p:txBody>
          <a:bodyPr>
            <a:normAutofit fontScale="90000"/>
          </a:bodyPr>
          <a:lstStyle/>
          <a:p>
            <a:r>
              <a:rPr lang="en-IN" dirty="0"/>
              <a:t>Delete operator</a:t>
            </a:r>
          </a:p>
        </p:txBody>
      </p:sp>
      <p:sp>
        <p:nvSpPr>
          <p:cNvPr id="3" name="Content Placeholder 2">
            <a:extLst>
              <a:ext uri="{FF2B5EF4-FFF2-40B4-BE49-F238E27FC236}">
                <a16:creationId xmlns:a16="http://schemas.microsoft.com/office/drawing/2014/main" id="{FAF34DEE-7CDD-E837-4D28-5C1FE888FA50}"/>
              </a:ext>
            </a:extLst>
          </p:cNvPr>
          <p:cNvSpPr>
            <a:spLocks noGrp="1"/>
          </p:cNvSpPr>
          <p:nvPr>
            <p:ph sz="half" idx="1"/>
          </p:nvPr>
        </p:nvSpPr>
        <p:spPr>
          <a:xfrm>
            <a:off x="838200" y="943583"/>
            <a:ext cx="4054813" cy="5233380"/>
          </a:xfrm>
        </p:spPr>
        <p:txBody>
          <a:bodyPr>
            <a:normAutofit fontScale="70000" lnSpcReduction="20000"/>
          </a:bodyPr>
          <a:lstStyle/>
          <a:p>
            <a:pPr marL="0" indent="0">
              <a:buNone/>
            </a:pPr>
            <a:endParaRPr lang="en-US" dirty="0"/>
          </a:p>
          <a:p>
            <a:pPr marL="0" indent="0">
              <a:buNone/>
            </a:pPr>
            <a:r>
              <a:rPr lang="en-US" dirty="0"/>
              <a:t>#include &lt;iostream&gt;</a:t>
            </a:r>
          </a:p>
          <a:p>
            <a:pPr marL="0" indent="0">
              <a:buNone/>
            </a:pPr>
            <a:r>
              <a:rPr lang="en-US" dirty="0"/>
              <a:t>using namespace std;</a:t>
            </a:r>
          </a:p>
          <a:p>
            <a:pPr marL="0" indent="0">
              <a:buNone/>
            </a:pPr>
            <a:endParaRPr lang="en-US" dirty="0"/>
          </a:p>
          <a:p>
            <a:pPr marL="0" indent="0">
              <a:buNone/>
            </a:pPr>
            <a:r>
              <a:rPr lang="en-US" dirty="0"/>
              <a:t>class Number {</a:t>
            </a:r>
          </a:p>
          <a:p>
            <a:pPr marL="0" indent="0">
              <a:buNone/>
            </a:pPr>
            <a:r>
              <a:rPr lang="en-US" dirty="0"/>
              <a:t>     public:</a:t>
            </a:r>
          </a:p>
          <a:p>
            <a:pPr marL="0" indent="0">
              <a:buNone/>
            </a:pPr>
            <a:r>
              <a:rPr lang="en-US" dirty="0"/>
              <a:t>         int x;</a:t>
            </a:r>
          </a:p>
          <a:p>
            <a:pPr marL="0" indent="0">
              <a:buNone/>
            </a:pPr>
            <a:r>
              <a:rPr lang="en-US" dirty="0"/>
              <a:t>         int y;</a:t>
            </a:r>
          </a:p>
          <a:p>
            <a:pPr marL="0" indent="0">
              <a:buNone/>
            </a:pPr>
            <a:r>
              <a:rPr lang="en-US" dirty="0"/>
              <a:t>};</a:t>
            </a:r>
            <a:endParaRPr lang="en-IN" dirty="0"/>
          </a:p>
        </p:txBody>
      </p:sp>
      <p:sp>
        <p:nvSpPr>
          <p:cNvPr id="4" name="Content Placeholder 3">
            <a:extLst>
              <a:ext uri="{FF2B5EF4-FFF2-40B4-BE49-F238E27FC236}">
                <a16:creationId xmlns:a16="http://schemas.microsoft.com/office/drawing/2014/main" id="{1B7D01AF-AEC1-D711-4119-E43EE623E6F4}"/>
              </a:ext>
            </a:extLst>
          </p:cNvPr>
          <p:cNvSpPr>
            <a:spLocks noGrp="1"/>
          </p:cNvSpPr>
          <p:nvPr>
            <p:ph sz="half" idx="2"/>
          </p:nvPr>
        </p:nvSpPr>
        <p:spPr>
          <a:xfrm>
            <a:off x="5418305" y="943583"/>
            <a:ext cx="6108971" cy="5233380"/>
          </a:xfrm>
        </p:spPr>
        <p:txBody>
          <a:bodyPr>
            <a:normAutofit fontScale="70000" lnSpcReduction="20000"/>
          </a:bodyPr>
          <a:lstStyle/>
          <a:p>
            <a:pPr marL="0" indent="0">
              <a:buNone/>
            </a:pPr>
            <a:r>
              <a:rPr lang="en-IN" dirty="0"/>
              <a:t>int main() {</a:t>
            </a:r>
          </a:p>
          <a:p>
            <a:pPr marL="0" indent="0">
              <a:buNone/>
            </a:pPr>
            <a:r>
              <a:rPr lang="en-IN" dirty="0"/>
              <a:t>      Number *</a:t>
            </a:r>
            <a:r>
              <a:rPr lang="en-IN" dirty="0" err="1"/>
              <a:t>arr</a:t>
            </a:r>
            <a:r>
              <a:rPr lang="en-IN" dirty="0"/>
              <a:t> = new Number[4];</a:t>
            </a:r>
          </a:p>
          <a:p>
            <a:pPr marL="0" indent="0">
              <a:buNone/>
            </a:pPr>
            <a:r>
              <a:rPr lang="en-IN" dirty="0"/>
              <a:t>      </a:t>
            </a:r>
          </a:p>
          <a:p>
            <a:pPr marL="0" indent="0">
              <a:buNone/>
            </a:pPr>
            <a:r>
              <a:rPr lang="en-IN" dirty="0"/>
              <a:t>      for (int </a:t>
            </a:r>
            <a:r>
              <a:rPr lang="en-IN" dirty="0" err="1"/>
              <a:t>i</a:t>
            </a:r>
            <a:r>
              <a:rPr lang="en-IN" dirty="0"/>
              <a:t> = 0; </a:t>
            </a:r>
            <a:r>
              <a:rPr lang="en-IN" dirty="0" err="1"/>
              <a:t>i</a:t>
            </a:r>
            <a:r>
              <a:rPr lang="en-IN" dirty="0"/>
              <a:t> &lt; 4; </a:t>
            </a:r>
            <a:r>
              <a:rPr lang="en-IN" dirty="0" err="1"/>
              <a:t>i</a:t>
            </a:r>
            <a:r>
              <a:rPr lang="en-IN" dirty="0"/>
              <a:t>++) {</a:t>
            </a:r>
          </a:p>
          <a:p>
            <a:pPr marL="0" indent="0">
              <a:buNone/>
            </a:pPr>
            <a:r>
              <a:rPr lang="en-IN" dirty="0"/>
              <a:t>          </a:t>
            </a:r>
            <a:r>
              <a:rPr lang="en-IN" dirty="0" err="1"/>
              <a:t>arr</a:t>
            </a:r>
            <a:r>
              <a:rPr lang="en-IN" dirty="0"/>
              <a:t>[</a:t>
            </a:r>
            <a:r>
              <a:rPr lang="en-IN" dirty="0" err="1"/>
              <a:t>i</a:t>
            </a:r>
            <a:r>
              <a:rPr lang="en-IN" dirty="0"/>
              <a:t>].x = </a:t>
            </a:r>
            <a:r>
              <a:rPr lang="en-IN" dirty="0" err="1"/>
              <a:t>i</a:t>
            </a:r>
            <a:r>
              <a:rPr lang="en-IN" dirty="0"/>
              <a:t> + 1;</a:t>
            </a:r>
          </a:p>
          <a:p>
            <a:pPr marL="0" indent="0">
              <a:buNone/>
            </a:pPr>
            <a:r>
              <a:rPr lang="en-IN" dirty="0"/>
              <a:t>          </a:t>
            </a:r>
            <a:r>
              <a:rPr lang="en-IN" dirty="0" err="1"/>
              <a:t>arr</a:t>
            </a:r>
            <a:r>
              <a:rPr lang="en-IN" dirty="0"/>
              <a:t>[</a:t>
            </a:r>
            <a:r>
              <a:rPr lang="en-IN" dirty="0" err="1"/>
              <a:t>i</a:t>
            </a:r>
            <a:r>
              <a:rPr lang="en-IN" dirty="0"/>
              <a:t>].y = </a:t>
            </a:r>
            <a:r>
              <a:rPr lang="en-IN" dirty="0" err="1"/>
              <a:t>i</a:t>
            </a:r>
            <a:r>
              <a:rPr lang="en-IN" dirty="0"/>
              <a:t> + 2;</a:t>
            </a:r>
          </a:p>
          <a:p>
            <a:pPr marL="0" indent="0">
              <a:buNone/>
            </a:pPr>
            <a:r>
              <a:rPr lang="en-IN" dirty="0"/>
              <a:t>      }</a:t>
            </a:r>
          </a:p>
          <a:p>
            <a:pPr marL="0" indent="0">
              <a:buNone/>
            </a:pPr>
            <a:endParaRPr lang="en-IN" dirty="0"/>
          </a:p>
          <a:p>
            <a:pPr marL="0" indent="0">
              <a:buNone/>
            </a:pPr>
            <a:r>
              <a:rPr lang="en-IN" dirty="0"/>
              <a:t>      for (int </a:t>
            </a:r>
            <a:r>
              <a:rPr lang="en-IN" dirty="0" err="1"/>
              <a:t>i</a:t>
            </a:r>
            <a:r>
              <a:rPr lang="en-IN" dirty="0"/>
              <a:t> = 0; </a:t>
            </a:r>
            <a:r>
              <a:rPr lang="en-IN" dirty="0" err="1"/>
              <a:t>i</a:t>
            </a:r>
            <a:r>
              <a:rPr lang="en-IN" dirty="0"/>
              <a:t> &lt; 4; </a:t>
            </a:r>
            <a:r>
              <a:rPr lang="en-IN" dirty="0" err="1"/>
              <a:t>i</a:t>
            </a:r>
            <a:r>
              <a:rPr lang="en-IN" dirty="0"/>
              <a:t>++) {</a:t>
            </a:r>
          </a:p>
          <a:p>
            <a:pPr marL="0" indent="0">
              <a:buNone/>
            </a:pPr>
            <a:r>
              <a:rPr lang="en-IN" dirty="0"/>
              <a:t>          </a:t>
            </a:r>
            <a:r>
              <a:rPr lang="en-IN" dirty="0" err="1"/>
              <a:t>cout</a:t>
            </a:r>
            <a:r>
              <a:rPr lang="en-IN" dirty="0"/>
              <a:t> &lt;&lt; "x: " &lt;&lt; </a:t>
            </a:r>
            <a:r>
              <a:rPr lang="en-IN" dirty="0" err="1"/>
              <a:t>arr</a:t>
            </a:r>
            <a:r>
              <a:rPr lang="en-IN" dirty="0"/>
              <a:t>[</a:t>
            </a:r>
            <a:r>
              <a:rPr lang="en-IN" dirty="0" err="1"/>
              <a:t>i</a:t>
            </a:r>
            <a:r>
              <a:rPr lang="en-IN" dirty="0"/>
              <a:t>].x &lt;&lt; " y: " &lt;&lt; </a:t>
            </a:r>
            <a:r>
              <a:rPr lang="en-IN" dirty="0" err="1"/>
              <a:t>arr</a:t>
            </a:r>
            <a:r>
              <a:rPr lang="en-IN" dirty="0"/>
              <a:t>[</a:t>
            </a:r>
            <a:r>
              <a:rPr lang="en-IN" dirty="0" err="1"/>
              <a:t>i</a:t>
            </a:r>
            <a:r>
              <a:rPr lang="en-IN" dirty="0"/>
              <a:t>].y &lt;&lt; </a:t>
            </a:r>
            <a:r>
              <a:rPr lang="en-IN" dirty="0" err="1"/>
              <a:t>endl</a:t>
            </a:r>
            <a:r>
              <a:rPr lang="en-IN" dirty="0"/>
              <a:t>;</a:t>
            </a:r>
          </a:p>
          <a:p>
            <a:pPr marL="0" indent="0">
              <a:buNone/>
            </a:pPr>
            <a:r>
              <a:rPr lang="en-IN" dirty="0"/>
              <a:t>      }</a:t>
            </a:r>
          </a:p>
          <a:p>
            <a:pPr marL="0" indent="0">
              <a:buNone/>
            </a:pPr>
            <a:r>
              <a:rPr lang="en-IN" dirty="0"/>
              <a:t>      </a:t>
            </a:r>
          </a:p>
          <a:p>
            <a:pPr marL="0" indent="0">
              <a:buNone/>
            </a:pPr>
            <a:r>
              <a:rPr lang="en-IN" dirty="0"/>
              <a:t>      delete[] </a:t>
            </a:r>
            <a:r>
              <a:rPr lang="en-IN" dirty="0" err="1"/>
              <a:t>arr</a:t>
            </a:r>
            <a:r>
              <a:rPr lang="en-IN" dirty="0"/>
              <a:t>;</a:t>
            </a:r>
          </a:p>
          <a:p>
            <a:pPr marL="0" indent="0">
              <a:buNone/>
            </a:pPr>
            <a:r>
              <a:rPr lang="en-IN" dirty="0"/>
              <a:t>      return 0;</a:t>
            </a:r>
          </a:p>
          <a:p>
            <a:pPr marL="0" indent="0">
              <a:buNone/>
            </a:pPr>
            <a:r>
              <a:rPr lang="en-IN" dirty="0"/>
              <a:t>}</a:t>
            </a:r>
          </a:p>
        </p:txBody>
      </p:sp>
    </p:spTree>
    <p:extLst>
      <p:ext uri="{BB962C8B-B14F-4D97-AF65-F5344CB8AC3E}">
        <p14:creationId xmlns:p14="http://schemas.microsoft.com/office/powerpoint/2010/main" val="679868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CDD29-68A8-7DF9-959E-22A4F82B4BAA}"/>
              </a:ext>
            </a:extLst>
          </p:cNvPr>
          <p:cNvSpPr>
            <a:spLocks noGrp="1"/>
          </p:cNvSpPr>
          <p:nvPr>
            <p:ph type="title"/>
          </p:nvPr>
        </p:nvSpPr>
        <p:spPr/>
        <p:txBody>
          <a:bodyPr/>
          <a:lstStyle/>
          <a:p>
            <a:r>
              <a:rPr lang="en-IN" dirty="0"/>
              <a:t>Free operator</a:t>
            </a:r>
          </a:p>
        </p:txBody>
      </p:sp>
      <p:sp>
        <p:nvSpPr>
          <p:cNvPr id="3" name="Content Placeholder 2">
            <a:extLst>
              <a:ext uri="{FF2B5EF4-FFF2-40B4-BE49-F238E27FC236}">
                <a16:creationId xmlns:a16="http://schemas.microsoft.com/office/drawing/2014/main" id="{DB5E6D82-BF9E-8459-FFF6-ECF049C58AF9}"/>
              </a:ext>
            </a:extLst>
          </p:cNvPr>
          <p:cNvSpPr>
            <a:spLocks noGrp="1"/>
          </p:cNvSpPr>
          <p:nvPr>
            <p:ph sz="half" idx="1"/>
          </p:nvPr>
        </p:nvSpPr>
        <p:spPr/>
        <p:txBody>
          <a:bodyPr>
            <a:normAutofit fontScale="70000" lnSpcReduction="20000"/>
          </a:bodyPr>
          <a:lstStyle/>
          <a:p>
            <a:pPr marL="0" indent="0">
              <a:buNone/>
            </a:pPr>
            <a:r>
              <a:rPr lang="en-IN" b="0" dirty="0">
                <a:effectLst/>
                <a:latin typeface="Consolas" panose="020B0609020204030204" pitchFamily="49" charset="0"/>
              </a:rPr>
              <a:t>#include &lt;iostream&gt;</a:t>
            </a:r>
          </a:p>
          <a:p>
            <a:pPr marL="0" indent="0">
              <a:buNone/>
            </a:pPr>
            <a:r>
              <a:rPr lang="en-IN" b="0" dirty="0">
                <a:effectLst/>
                <a:latin typeface="Consolas" panose="020B0609020204030204" pitchFamily="49" charset="0"/>
              </a:rPr>
              <a:t>using namespace std;</a:t>
            </a:r>
          </a:p>
          <a:p>
            <a:pPr marL="0" indent="0">
              <a:buNone/>
            </a:pPr>
            <a:br>
              <a:rPr lang="en-IN" b="0" dirty="0">
                <a:effectLst/>
                <a:latin typeface="Consolas" panose="020B0609020204030204" pitchFamily="49" charset="0"/>
              </a:rPr>
            </a:br>
            <a:r>
              <a:rPr lang="en-IN" b="0" dirty="0">
                <a:effectLst/>
                <a:latin typeface="Consolas" panose="020B0609020204030204" pitchFamily="49" charset="0"/>
              </a:rPr>
              <a:t>class </a:t>
            </a:r>
            <a:r>
              <a:rPr lang="en-IN" b="0" dirty="0" err="1">
                <a:effectLst/>
                <a:latin typeface="Consolas" panose="020B0609020204030204" pitchFamily="49" charset="0"/>
              </a:rPr>
              <a:t>objt</a:t>
            </a:r>
            <a:r>
              <a:rPr lang="en-IN" b="0" dirty="0">
                <a:effectLst/>
                <a:latin typeface="Consolas" panose="020B0609020204030204" pitchFamily="49" charset="0"/>
              </a:rPr>
              <a:t>{</a:t>
            </a:r>
          </a:p>
          <a:p>
            <a:pPr marL="0" indent="0">
              <a:buNone/>
            </a:pPr>
            <a:r>
              <a:rPr lang="en-IN" b="0" dirty="0">
                <a:effectLst/>
                <a:latin typeface="Consolas" panose="020B0609020204030204" pitchFamily="49" charset="0"/>
              </a:rPr>
              <a:t>    int value;</a:t>
            </a:r>
          </a:p>
          <a:p>
            <a:pPr marL="0" indent="0">
              <a:buNone/>
            </a:pPr>
            <a:r>
              <a:rPr lang="en-IN" b="0" dirty="0">
                <a:effectLst/>
                <a:latin typeface="Consolas" panose="020B0609020204030204" pitchFamily="49" charset="0"/>
              </a:rPr>
              <a:t>};</a:t>
            </a:r>
          </a:p>
          <a:p>
            <a:pPr marL="0" indent="0">
              <a:buNone/>
            </a:pPr>
            <a:br>
              <a:rPr lang="en-IN" b="0" dirty="0">
                <a:solidFill>
                  <a:srgbClr val="D4D4D4"/>
                </a:solidFill>
                <a:effectLst/>
                <a:latin typeface="Consolas" panose="020B0609020204030204" pitchFamily="49" charset="0"/>
              </a:rPr>
            </a:br>
            <a:endParaRPr lang="en-IN" dirty="0"/>
          </a:p>
        </p:txBody>
      </p:sp>
      <p:sp>
        <p:nvSpPr>
          <p:cNvPr id="4" name="Content Placeholder 3">
            <a:extLst>
              <a:ext uri="{FF2B5EF4-FFF2-40B4-BE49-F238E27FC236}">
                <a16:creationId xmlns:a16="http://schemas.microsoft.com/office/drawing/2014/main" id="{A764A7DB-0C39-334E-C087-8A9A7DBE3998}"/>
              </a:ext>
            </a:extLst>
          </p:cNvPr>
          <p:cNvSpPr>
            <a:spLocks noGrp="1"/>
          </p:cNvSpPr>
          <p:nvPr>
            <p:ph sz="half" idx="2"/>
          </p:nvPr>
        </p:nvSpPr>
        <p:spPr>
          <a:xfrm>
            <a:off x="4503906" y="1825625"/>
            <a:ext cx="7120646" cy="4351338"/>
          </a:xfrm>
        </p:spPr>
        <p:txBody>
          <a:bodyPr>
            <a:normAutofit fontScale="70000" lnSpcReduction="20000"/>
          </a:bodyPr>
          <a:lstStyle/>
          <a:p>
            <a:pPr marL="0" indent="0">
              <a:buNone/>
            </a:pPr>
            <a:r>
              <a:rPr lang="en-IN" b="0" dirty="0">
                <a:effectLst/>
                <a:latin typeface="Consolas" panose="020B0609020204030204" pitchFamily="49" charset="0"/>
              </a:rPr>
              <a:t>int main() {</a:t>
            </a:r>
          </a:p>
          <a:p>
            <a:pPr marL="0" indent="0">
              <a:buNone/>
            </a:pPr>
            <a:r>
              <a:rPr lang="en-IN" b="0" dirty="0">
                <a:effectLst/>
                <a:latin typeface="Consolas" panose="020B0609020204030204" pitchFamily="49" charset="0"/>
              </a:rPr>
              <a:t>    int n = 10;</a:t>
            </a:r>
          </a:p>
          <a:p>
            <a:pPr marL="0" indent="0">
              <a:buNone/>
            </a:pPr>
            <a:r>
              <a:rPr lang="en-IN" b="0" dirty="0">
                <a:effectLst/>
                <a:latin typeface="Consolas" panose="020B0609020204030204" pitchFamily="49" charset="0"/>
              </a:rPr>
              <a:t>    </a:t>
            </a:r>
            <a:r>
              <a:rPr lang="en-IN" b="0" dirty="0" err="1">
                <a:effectLst/>
                <a:latin typeface="Consolas" panose="020B0609020204030204" pitchFamily="49" charset="0"/>
              </a:rPr>
              <a:t>objt</a:t>
            </a:r>
            <a:r>
              <a:rPr lang="en-IN" b="0" dirty="0">
                <a:effectLst/>
                <a:latin typeface="Consolas" panose="020B0609020204030204" pitchFamily="49" charset="0"/>
              </a:rPr>
              <a:t> *</a:t>
            </a:r>
            <a:r>
              <a:rPr lang="en-IN" b="0" dirty="0" err="1">
                <a:effectLst/>
                <a:latin typeface="Consolas" panose="020B0609020204030204" pitchFamily="49" charset="0"/>
              </a:rPr>
              <a:t>arr</a:t>
            </a:r>
            <a:r>
              <a:rPr lang="en-IN" b="0" dirty="0">
                <a:effectLst/>
                <a:latin typeface="Consolas" panose="020B0609020204030204" pitchFamily="49" charset="0"/>
              </a:rPr>
              <a:t> = (</a:t>
            </a:r>
            <a:r>
              <a:rPr lang="en-IN" b="0" dirty="0" err="1">
                <a:effectLst/>
                <a:latin typeface="Consolas" panose="020B0609020204030204" pitchFamily="49" charset="0"/>
              </a:rPr>
              <a:t>objt</a:t>
            </a:r>
            <a:r>
              <a:rPr lang="en-IN" b="0" dirty="0">
                <a:effectLst/>
                <a:latin typeface="Consolas" panose="020B0609020204030204" pitchFamily="49" charset="0"/>
              </a:rPr>
              <a:t> *)malloc(n * </a:t>
            </a:r>
            <a:r>
              <a:rPr lang="en-IN" b="0" dirty="0" err="1">
                <a:effectLst/>
                <a:latin typeface="Consolas" panose="020B0609020204030204" pitchFamily="49" charset="0"/>
              </a:rPr>
              <a:t>sizeof</a:t>
            </a:r>
            <a:r>
              <a:rPr lang="en-IN" b="0" dirty="0">
                <a:effectLst/>
                <a:latin typeface="Consolas" panose="020B0609020204030204" pitchFamily="49" charset="0"/>
              </a:rPr>
              <a:t>(</a:t>
            </a:r>
            <a:r>
              <a:rPr lang="en-IN" b="0" dirty="0" err="1">
                <a:effectLst/>
                <a:latin typeface="Consolas" panose="020B0609020204030204" pitchFamily="49" charset="0"/>
              </a:rPr>
              <a:t>objt</a:t>
            </a:r>
            <a:r>
              <a:rPr lang="en-IN" b="0" dirty="0">
                <a:effectLst/>
                <a:latin typeface="Consolas" panose="020B0609020204030204" pitchFamily="49" charset="0"/>
              </a:rPr>
              <a:t>));</a:t>
            </a:r>
          </a:p>
          <a:p>
            <a:pPr marL="0" indent="0">
              <a:buNone/>
            </a:pPr>
            <a:r>
              <a:rPr lang="en-IN" b="0" dirty="0">
                <a:effectLst/>
                <a:latin typeface="Consolas" panose="020B0609020204030204" pitchFamily="49" charset="0"/>
              </a:rPr>
              <a:t>    if (</a:t>
            </a:r>
            <a:r>
              <a:rPr lang="en-IN" b="0" dirty="0" err="1">
                <a:effectLst/>
                <a:latin typeface="Consolas" panose="020B0609020204030204" pitchFamily="49" charset="0"/>
              </a:rPr>
              <a:t>arr</a:t>
            </a:r>
            <a:r>
              <a:rPr lang="en-IN" b="0" dirty="0">
                <a:effectLst/>
                <a:latin typeface="Consolas" panose="020B0609020204030204" pitchFamily="49" charset="0"/>
              </a:rPr>
              <a:t> == NULL) {</a:t>
            </a:r>
          </a:p>
          <a:p>
            <a:pPr marL="0" indent="0">
              <a:buNone/>
            </a:pPr>
            <a:r>
              <a:rPr lang="en-IN" b="0" dirty="0">
                <a:effectLst/>
                <a:latin typeface="Consolas" panose="020B0609020204030204" pitchFamily="49" charset="0"/>
              </a:rPr>
              <a:t>        </a:t>
            </a:r>
            <a:r>
              <a:rPr lang="en-IN" b="0" dirty="0" err="1">
                <a:effectLst/>
                <a:latin typeface="Consolas" panose="020B0609020204030204" pitchFamily="49" charset="0"/>
              </a:rPr>
              <a:t>cout</a:t>
            </a:r>
            <a:r>
              <a:rPr lang="en-IN" b="0" dirty="0">
                <a:effectLst/>
                <a:latin typeface="Consolas" panose="020B0609020204030204" pitchFamily="49" charset="0"/>
              </a:rPr>
              <a:t>&lt;&lt;"Error in memory allocation"&lt;&lt;</a:t>
            </a:r>
            <a:r>
              <a:rPr lang="en-IN" b="0" dirty="0" err="1">
                <a:effectLst/>
                <a:latin typeface="Consolas" panose="020B0609020204030204" pitchFamily="49" charset="0"/>
              </a:rPr>
              <a:t>endl</a:t>
            </a:r>
            <a:r>
              <a:rPr lang="en-IN" b="0" dirty="0">
                <a:effectLst/>
                <a:latin typeface="Consolas" panose="020B0609020204030204" pitchFamily="49" charset="0"/>
              </a:rPr>
              <a:t>;</a:t>
            </a:r>
          </a:p>
          <a:p>
            <a:pPr marL="0" indent="0">
              <a:buNone/>
            </a:pPr>
            <a:r>
              <a:rPr lang="en-IN" b="0" dirty="0">
                <a:effectLst/>
                <a:latin typeface="Consolas" panose="020B0609020204030204" pitchFamily="49" charset="0"/>
              </a:rPr>
              <a:t>        exit(1);</a:t>
            </a:r>
          </a:p>
          <a:p>
            <a:pPr marL="0" indent="0">
              <a:buNone/>
            </a:pPr>
            <a:r>
              <a:rPr lang="en-IN" b="0" dirty="0">
                <a:effectLst/>
                <a:latin typeface="Consolas" panose="020B0609020204030204" pitchFamily="49" charset="0"/>
              </a:rPr>
              <a:t>    }</a:t>
            </a:r>
          </a:p>
          <a:p>
            <a:pPr marL="0" indent="0">
              <a:buNone/>
            </a:pPr>
            <a:r>
              <a:rPr lang="en-IN" b="0" dirty="0">
                <a:effectLst/>
                <a:latin typeface="Consolas" panose="020B0609020204030204" pitchFamily="49" charset="0"/>
              </a:rPr>
              <a:t>    </a:t>
            </a:r>
          </a:p>
          <a:p>
            <a:pPr marL="0" indent="0">
              <a:buNone/>
            </a:pPr>
            <a:r>
              <a:rPr lang="en-IN" b="0" dirty="0">
                <a:effectLst/>
                <a:latin typeface="Consolas" panose="020B0609020204030204" pitchFamily="49" charset="0"/>
              </a:rPr>
              <a:t>    free(</a:t>
            </a:r>
            <a:r>
              <a:rPr lang="en-IN" b="0" dirty="0" err="1">
                <a:effectLst/>
                <a:latin typeface="Consolas" panose="020B0609020204030204" pitchFamily="49" charset="0"/>
              </a:rPr>
              <a:t>arr</a:t>
            </a:r>
            <a:r>
              <a:rPr lang="en-IN" b="0" dirty="0">
                <a:effectLst/>
                <a:latin typeface="Consolas" panose="020B0609020204030204" pitchFamily="49" charset="0"/>
              </a:rPr>
              <a:t>);</a:t>
            </a:r>
          </a:p>
          <a:p>
            <a:pPr marL="0" indent="0">
              <a:buNone/>
            </a:pPr>
            <a:br>
              <a:rPr lang="en-IN" b="0" dirty="0">
                <a:effectLst/>
                <a:latin typeface="Consolas" panose="020B0609020204030204" pitchFamily="49" charset="0"/>
              </a:rPr>
            </a:br>
            <a:r>
              <a:rPr lang="en-IN" b="0" dirty="0">
                <a:effectLst/>
                <a:latin typeface="Consolas" panose="020B0609020204030204" pitchFamily="49" charset="0"/>
              </a:rPr>
              <a:t>    return 0;</a:t>
            </a:r>
          </a:p>
          <a:p>
            <a:pPr marL="0" indent="0">
              <a:buNone/>
            </a:pPr>
            <a:r>
              <a:rPr lang="en-IN" b="0" dirty="0">
                <a:effectLst/>
                <a:latin typeface="Consolas" panose="020B0609020204030204" pitchFamily="49" charset="0"/>
              </a:rPr>
              <a:t>}</a:t>
            </a:r>
          </a:p>
          <a:p>
            <a:pPr marL="0" indent="0">
              <a:buNone/>
            </a:pPr>
            <a:endParaRPr lang="en-IN" dirty="0"/>
          </a:p>
        </p:txBody>
      </p:sp>
    </p:spTree>
    <p:extLst>
      <p:ext uri="{BB962C8B-B14F-4D97-AF65-F5344CB8AC3E}">
        <p14:creationId xmlns:p14="http://schemas.microsoft.com/office/powerpoint/2010/main" val="7458916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TotalTime>
  <Words>3219</Words>
  <Application>Microsoft Office PowerPoint</Application>
  <PresentationFormat>Widescreen</PresentationFormat>
  <Paragraphs>525</Paragraphs>
  <Slides>26</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Consolas</vt:lpstr>
      <vt:lpstr>Nunito</vt:lpstr>
      <vt:lpstr>Office Theme</vt:lpstr>
      <vt:lpstr>C++ Class</vt:lpstr>
      <vt:lpstr>This pointer:When local variable’s name is same as member’s name </vt:lpstr>
      <vt:lpstr>Pass By Reference</vt:lpstr>
      <vt:lpstr>Call by reference</vt:lpstr>
      <vt:lpstr>To return reference to the calling object</vt:lpstr>
      <vt:lpstr>Static Data Member</vt:lpstr>
      <vt:lpstr>Static Data Member</vt:lpstr>
      <vt:lpstr>Static Member Function in C++ </vt:lpstr>
      <vt:lpstr>Static Member Function in C++</vt:lpstr>
      <vt:lpstr>PowerPoint Presentation</vt:lpstr>
      <vt:lpstr>Constructors</vt:lpstr>
      <vt:lpstr>Constructors</vt:lpstr>
      <vt:lpstr>PowerPoint Presentation</vt:lpstr>
      <vt:lpstr>Destructors</vt:lpstr>
      <vt:lpstr>Destructors</vt:lpstr>
      <vt:lpstr>PowerPoint Presentation</vt:lpstr>
      <vt:lpstr>PowerPoint Presentation</vt:lpstr>
      <vt:lpstr>Array of Objects</vt:lpstr>
      <vt:lpstr>Array of Objects</vt:lpstr>
      <vt:lpstr>Array of Objects</vt:lpstr>
      <vt:lpstr>Array of objects</vt:lpstr>
      <vt:lpstr>Array of objects</vt:lpstr>
      <vt:lpstr>One object with new </vt:lpstr>
      <vt:lpstr>Array of objects</vt:lpstr>
      <vt:lpstr>Delete operator</vt:lpstr>
      <vt:lpstr>Free operator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Class</dc:title>
  <dc:creator>Padma Priya R</dc:creator>
  <cp:lastModifiedBy>Padma Priya R</cp:lastModifiedBy>
  <cp:revision>66</cp:revision>
  <dcterms:created xsi:type="dcterms:W3CDTF">2023-04-26T17:25:27Z</dcterms:created>
  <dcterms:modified xsi:type="dcterms:W3CDTF">2023-05-09T12:38:13Z</dcterms:modified>
</cp:coreProperties>
</file>