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8" r:id="rId3"/>
    <p:sldId id="271" r:id="rId4"/>
    <p:sldId id="257" r:id="rId5"/>
    <p:sldId id="272" r:id="rId6"/>
    <p:sldId id="259" r:id="rId7"/>
    <p:sldId id="261" r:id="rId8"/>
    <p:sldId id="260" r:id="rId9"/>
    <p:sldId id="262" r:id="rId10"/>
    <p:sldId id="263" r:id="rId11"/>
    <p:sldId id="264" r:id="rId12"/>
    <p:sldId id="266" r:id="rId13"/>
    <p:sldId id="267" r:id="rId14"/>
    <p:sldId id="265" r:id="rId15"/>
    <p:sldId id="269" r:id="rId16"/>
    <p:sldId id="270" r:id="rId17"/>
    <p:sldId id="268"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145A77-9AF3-429A-8788-5E1B1FFC61E3}" type="datetimeFigureOut">
              <a:rPr lang="en-IN" smtClean="0"/>
              <a:t>04-03-2022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D9CBFB-9C6A-4B21-8480-BFAE8D7D8034}" type="slidenum">
              <a:rPr lang="en-IN" smtClean="0"/>
              <a:t>‹#›</a:t>
            </a:fld>
            <a:endParaRPr lang="en-IN"/>
          </a:p>
        </p:txBody>
      </p:sp>
    </p:spTree>
    <p:extLst>
      <p:ext uri="{BB962C8B-B14F-4D97-AF65-F5344CB8AC3E}">
        <p14:creationId xmlns:p14="http://schemas.microsoft.com/office/powerpoint/2010/main" val="3291725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4D9CBFB-9C6A-4B21-8480-BFAE8D7D8034}" type="slidenum">
              <a:rPr lang="en-IN" smtClean="0"/>
              <a:t>7</a:t>
            </a:fld>
            <a:endParaRPr lang="en-IN"/>
          </a:p>
        </p:txBody>
      </p:sp>
    </p:spTree>
    <p:extLst>
      <p:ext uri="{BB962C8B-B14F-4D97-AF65-F5344CB8AC3E}">
        <p14:creationId xmlns:p14="http://schemas.microsoft.com/office/powerpoint/2010/main" val="2437035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B85FB33-5618-4853-86B4-4F7B13FFF2E8}" type="datetimeFigureOut">
              <a:rPr lang="en-IN" smtClean="0"/>
              <a:t>04-03-2022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1011352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B85FB33-5618-4853-86B4-4F7B13FFF2E8}" type="datetimeFigureOut">
              <a:rPr lang="en-IN" smtClean="0"/>
              <a:t>04-03-2022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882303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85FB33-5618-4853-86B4-4F7B13FFF2E8}" type="datetimeFigureOut">
              <a:rPr lang="en-IN" smtClean="0"/>
              <a:t>04-03-2022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2146492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B85FB33-5618-4853-86B4-4F7B13FFF2E8}" type="datetimeFigureOut">
              <a:rPr lang="en-IN" smtClean="0"/>
              <a:t>04-03-2022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124311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B85FB33-5618-4853-86B4-4F7B13FFF2E8}" type="datetimeFigureOut">
              <a:rPr lang="en-IN" smtClean="0"/>
              <a:t>04-03-2022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3709617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B85FB33-5618-4853-86B4-4F7B13FFF2E8}" type="datetimeFigureOut">
              <a:rPr lang="en-IN" smtClean="0"/>
              <a:t>04-03-2022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3556712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85FB33-5618-4853-86B4-4F7B13FFF2E8}" type="datetimeFigureOut">
              <a:rPr lang="en-IN" smtClean="0"/>
              <a:t>04-03-2022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644264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85FB33-5618-4853-86B4-4F7B13FFF2E8}" type="datetimeFigureOut">
              <a:rPr lang="en-IN" smtClean="0"/>
              <a:t>04-03-2022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1871367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85FB33-5618-4853-86B4-4F7B13FFF2E8}" type="datetimeFigureOut">
              <a:rPr lang="en-IN" smtClean="0"/>
              <a:t>04-03-2022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399354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B85FB33-5618-4853-86B4-4F7B13FFF2E8}" type="datetimeFigureOut">
              <a:rPr lang="en-IN" smtClean="0"/>
              <a:t>04-03-2022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471270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B85FB33-5618-4853-86B4-4F7B13FFF2E8}" type="datetimeFigureOut">
              <a:rPr lang="en-IN" smtClean="0"/>
              <a:t>04-03-2022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593A94-9B3D-45CD-B211-A8BB011A186A}" type="slidenum">
              <a:rPr lang="en-IN" smtClean="0"/>
              <a:t>‹#›</a:t>
            </a:fld>
            <a:endParaRPr lang="en-IN"/>
          </a:p>
        </p:txBody>
      </p:sp>
    </p:spTree>
    <p:extLst>
      <p:ext uri="{BB962C8B-B14F-4D97-AF65-F5344CB8AC3E}">
        <p14:creationId xmlns:p14="http://schemas.microsoft.com/office/powerpoint/2010/main" val="2283905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85FB33-5618-4853-86B4-4F7B13FFF2E8}" type="datetimeFigureOut">
              <a:rPr lang="en-IN" smtClean="0"/>
              <a:t>04-03-2022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93A94-9B3D-45CD-B211-A8BB011A186A}" type="slidenum">
              <a:rPr lang="en-IN" smtClean="0"/>
              <a:t>‹#›</a:t>
            </a:fld>
            <a:endParaRPr lang="en-IN"/>
          </a:p>
        </p:txBody>
      </p:sp>
    </p:spTree>
    <p:extLst>
      <p:ext uri="{BB962C8B-B14F-4D97-AF65-F5344CB8AC3E}">
        <p14:creationId xmlns:p14="http://schemas.microsoft.com/office/powerpoint/2010/main" val="479362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ARRAYS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86470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ARRAYS</a:t>
            </a:r>
            <a:endParaRPr lang="en-IN" dirty="0"/>
          </a:p>
        </p:txBody>
      </p:sp>
      <p:sp>
        <p:nvSpPr>
          <p:cNvPr id="3" name="Content Placeholder 2"/>
          <p:cNvSpPr>
            <a:spLocks noGrp="1"/>
          </p:cNvSpPr>
          <p:nvPr>
            <p:ph idx="1"/>
          </p:nvPr>
        </p:nvSpPr>
        <p:spPr/>
        <p:txBody>
          <a:bodyPr>
            <a:normAutofit/>
          </a:bodyPr>
          <a:lstStyle/>
          <a:p>
            <a:pPr marL="0" indent="0" algn="just">
              <a:buNone/>
            </a:pPr>
            <a:r>
              <a:rPr lang="en-US" sz="2800" dirty="0"/>
              <a:t>An array is a </a:t>
            </a:r>
            <a:r>
              <a:rPr lang="en-US" sz="2800" dirty="0">
                <a:solidFill>
                  <a:srgbClr val="FF0000"/>
                </a:solidFill>
              </a:rPr>
              <a:t>collection of variables </a:t>
            </a:r>
            <a:r>
              <a:rPr lang="en-US" sz="2800" dirty="0"/>
              <a:t>of the </a:t>
            </a:r>
            <a:r>
              <a:rPr lang="en-US" sz="2800" dirty="0">
                <a:solidFill>
                  <a:srgbClr val="FF0000"/>
                </a:solidFill>
              </a:rPr>
              <a:t>same type </a:t>
            </a:r>
            <a:r>
              <a:rPr lang="en-US" sz="2800" dirty="0"/>
              <a:t>that are referenced by a </a:t>
            </a:r>
            <a:r>
              <a:rPr lang="en-US" sz="2800" dirty="0" smtClean="0">
                <a:solidFill>
                  <a:srgbClr val="FF0000"/>
                </a:solidFill>
              </a:rPr>
              <a:t>common name</a:t>
            </a:r>
            <a:r>
              <a:rPr lang="en-US" sz="2800" dirty="0"/>
              <a:t>. In C, all arrays consists of </a:t>
            </a:r>
            <a:r>
              <a:rPr lang="en-US" sz="2800" dirty="0">
                <a:solidFill>
                  <a:srgbClr val="FF0000"/>
                </a:solidFill>
              </a:rPr>
              <a:t>contiguous memory locations</a:t>
            </a:r>
            <a:r>
              <a:rPr lang="en-US" sz="2800" dirty="0"/>
              <a:t>. The lowest </a:t>
            </a:r>
            <a:r>
              <a:rPr lang="en-US" sz="2800" dirty="0" smtClean="0"/>
              <a:t>address corresponds </a:t>
            </a:r>
            <a:r>
              <a:rPr lang="en-US" sz="2800" dirty="0"/>
              <a:t>to the first element, and the highest address to the last element. </a:t>
            </a:r>
            <a:r>
              <a:rPr lang="en-US" sz="2800" dirty="0" smtClean="0"/>
              <a:t>Arrays may </a:t>
            </a:r>
            <a:r>
              <a:rPr lang="en-US" sz="2800" dirty="0"/>
              <a:t>have from one to </a:t>
            </a:r>
            <a:r>
              <a:rPr lang="en-US" sz="2800" dirty="0">
                <a:solidFill>
                  <a:srgbClr val="FF0000"/>
                </a:solidFill>
              </a:rPr>
              <a:t>several dimensions</a:t>
            </a:r>
            <a:r>
              <a:rPr lang="en-US" sz="2800" dirty="0"/>
              <a:t>. A specific element in an array is accessed </a:t>
            </a:r>
            <a:r>
              <a:rPr lang="en-US" sz="2800" dirty="0" smtClean="0"/>
              <a:t>by </a:t>
            </a:r>
            <a:r>
              <a:rPr lang="en-IN" sz="2800" dirty="0" smtClean="0"/>
              <a:t>an </a:t>
            </a:r>
            <a:r>
              <a:rPr lang="en-IN" sz="2800" dirty="0">
                <a:solidFill>
                  <a:srgbClr val="FF0000"/>
                </a:solidFill>
              </a:rPr>
              <a:t>index</a:t>
            </a:r>
            <a:r>
              <a:rPr lang="en-IN" sz="2800" dirty="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4941168"/>
            <a:ext cx="6136759" cy="1584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1070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Properties of Array</a:t>
            </a:r>
            <a:br>
              <a:rPr lang="en-IN" dirty="0"/>
            </a:br>
            <a:endParaRPr lang="en-IN" dirty="0"/>
          </a:p>
        </p:txBody>
      </p:sp>
      <p:sp>
        <p:nvSpPr>
          <p:cNvPr id="3" name="Content Placeholder 2"/>
          <p:cNvSpPr>
            <a:spLocks noGrp="1"/>
          </p:cNvSpPr>
          <p:nvPr>
            <p:ph idx="1"/>
          </p:nvPr>
        </p:nvSpPr>
        <p:spPr/>
        <p:txBody>
          <a:bodyPr>
            <a:normAutofit/>
          </a:bodyPr>
          <a:lstStyle/>
          <a:p>
            <a:pPr algn="just"/>
            <a:r>
              <a:rPr lang="en-US" sz="2400" dirty="0" smtClean="0">
                <a:latin typeface="Times New Roman" panose="02020603050405020304" pitchFamily="18" charset="0"/>
                <a:cs typeface="Times New Roman" panose="02020603050405020304" pitchFamily="18" charset="0"/>
              </a:rPr>
              <a:t>Each </a:t>
            </a:r>
            <a:r>
              <a:rPr lang="en-US" sz="2400" dirty="0">
                <a:latin typeface="Times New Roman" panose="02020603050405020304" pitchFamily="18" charset="0"/>
                <a:cs typeface="Times New Roman" panose="02020603050405020304" pitchFamily="18" charset="0"/>
              </a:rPr>
              <a:t>element of an array is of same data type and carries the same size, i.e.,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 4 bytes.</a:t>
            </a:r>
          </a:p>
          <a:p>
            <a:pPr algn="just"/>
            <a:r>
              <a:rPr lang="en-US" sz="2400" dirty="0">
                <a:latin typeface="Times New Roman" panose="02020603050405020304" pitchFamily="18" charset="0"/>
                <a:cs typeface="Times New Roman" panose="02020603050405020304" pitchFamily="18" charset="0"/>
              </a:rPr>
              <a:t>Elements of the array are stored at contiguous memory locations where the first element is stored at the smallest memory location.</a:t>
            </a:r>
          </a:p>
          <a:p>
            <a:pPr algn="just"/>
            <a:r>
              <a:rPr lang="en-US" sz="2400" dirty="0">
                <a:latin typeface="Times New Roman" panose="02020603050405020304" pitchFamily="18" charset="0"/>
                <a:cs typeface="Times New Roman" panose="02020603050405020304" pitchFamily="18" charset="0"/>
              </a:rPr>
              <a:t>Elements of the array can be randomly accessed since we can calculate the address of each element of the array with the given base address and the size of the data element.</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5739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One Dimensional Array</a:t>
            </a:r>
            <a:endParaRPr lang="en-IN" dirty="0"/>
          </a:p>
        </p:txBody>
      </p:sp>
      <p:sp>
        <p:nvSpPr>
          <p:cNvPr id="3" name="Content Placeholder 2"/>
          <p:cNvSpPr>
            <a:spLocks noGrp="1"/>
          </p:cNvSpPr>
          <p:nvPr>
            <p:ph idx="1"/>
          </p:nvPr>
        </p:nvSpPr>
        <p:spPr/>
        <p:txBody>
          <a:bodyPr>
            <a:normAutofit lnSpcReduction="10000"/>
          </a:bodyPr>
          <a:lstStyle/>
          <a:p>
            <a:r>
              <a:rPr lang="en-US" dirty="0"/>
              <a:t>The general form of single-dimension array declaration is:</a:t>
            </a:r>
          </a:p>
          <a:p>
            <a:pPr marL="0" indent="0">
              <a:buNone/>
            </a:pPr>
            <a:r>
              <a:rPr lang="en-IN" dirty="0" smtClean="0">
                <a:solidFill>
                  <a:srgbClr val="FF0000"/>
                </a:solidFill>
              </a:rPr>
              <a:t>    type </a:t>
            </a:r>
            <a:r>
              <a:rPr lang="en-IN" dirty="0">
                <a:solidFill>
                  <a:srgbClr val="FF0000"/>
                </a:solidFill>
              </a:rPr>
              <a:t>variable-name[size</a:t>
            </a:r>
            <a:r>
              <a:rPr lang="en-IN" dirty="0" smtClean="0">
                <a:solidFill>
                  <a:srgbClr val="FF0000"/>
                </a:solidFill>
              </a:rPr>
              <a:t>];</a:t>
            </a:r>
          </a:p>
          <a:p>
            <a:pPr marL="0" indent="0">
              <a:buNone/>
            </a:pPr>
            <a:endParaRPr lang="en-US" dirty="0">
              <a:solidFill>
                <a:srgbClr val="FF0000"/>
              </a:solidFill>
            </a:endParaRPr>
          </a:p>
          <a:p>
            <a:r>
              <a:rPr lang="en-US" dirty="0" smtClean="0"/>
              <a:t>Example</a:t>
            </a:r>
          </a:p>
          <a:p>
            <a:pPr marL="400050" lvl="1" indent="0">
              <a:buNone/>
            </a:pPr>
            <a:r>
              <a:rPr lang="en-IN" dirty="0" err="1">
                <a:solidFill>
                  <a:srgbClr val="FF0000"/>
                </a:solidFill>
              </a:rPr>
              <a:t>int</a:t>
            </a:r>
            <a:r>
              <a:rPr lang="en-IN" dirty="0">
                <a:solidFill>
                  <a:srgbClr val="FF0000"/>
                </a:solidFill>
              </a:rPr>
              <a:t> sample[10</a:t>
            </a:r>
            <a:r>
              <a:rPr lang="en-IN" dirty="0" smtClean="0">
                <a:solidFill>
                  <a:srgbClr val="FF0000"/>
                </a:solidFill>
              </a:rPr>
              <a:t>];</a:t>
            </a:r>
          </a:p>
          <a:p>
            <a:pPr marL="400050" lvl="1" indent="0">
              <a:buNone/>
            </a:pPr>
            <a:endParaRPr lang="en-US" dirty="0">
              <a:solidFill>
                <a:srgbClr val="FF0000"/>
              </a:solidFill>
            </a:endParaRPr>
          </a:p>
          <a:p>
            <a:pPr marL="400050" lvl="1" indent="0">
              <a:buNone/>
            </a:pPr>
            <a:r>
              <a:rPr lang="en-US" dirty="0">
                <a:solidFill>
                  <a:srgbClr val="0070C0"/>
                </a:solidFill>
              </a:rPr>
              <a:t>In C, all arrays have zero as the index of their first element.</a:t>
            </a:r>
            <a:endParaRPr lang="en-IN" dirty="0">
              <a:solidFill>
                <a:srgbClr val="0070C0"/>
              </a:solidFill>
            </a:endParaRPr>
          </a:p>
        </p:txBody>
      </p:sp>
    </p:spTree>
    <p:extLst>
      <p:ext uri="{BB962C8B-B14F-4D97-AF65-F5344CB8AC3E}">
        <p14:creationId xmlns:p14="http://schemas.microsoft.com/office/powerpoint/2010/main" val="66364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Single dimensional arrays</a:t>
            </a:r>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163" y="2300288"/>
            <a:ext cx="7050087"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4842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 1</a:t>
            </a:r>
            <a:endParaRPr lang="en-IN" dirty="0"/>
          </a:p>
        </p:txBody>
      </p:sp>
      <p:sp>
        <p:nvSpPr>
          <p:cNvPr id="3" name="Content Placeholder 2"/>
          <p:cNvSpPr>
            <a:spLocks noGrp="1"/>
          </p:cNvSpPr>
          <p:nvPr>
            <p:ph idx="1"/>
          </p:nvPr>
        </p:nvSpPr>
        <p:spPr/>
        <p:txBody>
          <a:bodyPr>
            <a:noAutofit/>
          </a:bodyPr>
          <a:lstStyle/>
          <a:p>
            <a:pPr marL="0" indent="0">
              <a:buNone/>
            </a:pPr>
            <a:r>
              <a:rPr lang="en-IN" sz="1600" dirty="0" smtClean="0"/>
              <a:t>#include &lt;</a:t>
            </a:r>
            <a:r>
              <a:rPr lang="en-IN" sz="1600" dirty="0" err="1" smtClean="0"/>
              <a:t>stdio.h</a:t>
            </a:r>
            <a:r>
              <a:rPr lang="en-IN" sz="1600" dirty="0" smtClean="0"/>
              <a:t>&gt;</a:t>
            </a:r>
          </a:p>
          <a:p>
            <a:pPr marL="0" indent="0">
              <a:buNone/>
            </a:pPr>
            <a:r>
              <a:rPr lang="en-IN" sz="1600" dirty="0" err="1" smtClean="0"/>
              <a:t>int</a:t>
            </a:r>
            <a:r>
              <a:rPr lang="en-IN" sz="1600" dirty="0" smtClean="0"/>
              <a:t> main()</a:t>
            </a:r>
          </a:p>
          <a:p>
            <a:pPr marL="0" indent="0">
              <a:buNone/>
            </a:pPr>
            <a:r>
              <a:rPr lang="en-IN" sz="1600" dirty="0" smtClean="0"/>
              <a:t>{</a:t>
            </a:r>
          </a:p>
          <a:p>
            <a:pPr marL="0" indent="0">
              <a:buNone/>
            </a:pPr>
            <a:r>
              <a:rPr lang="en-IN" sz="1600" dirty="0" smtClean="0"/>
              <a:t>     </a:t>
            </a:r>
            <a:r>
              <a:rPr lang="en-IN" sz="1600" dirty="0" err="1" smtClean="0"/>
              <a:t>int</a:t>
            </a:r>
            <a:r>
              <a:rPr lang="en-IN" sz="1600" dirty="0" smtClean="0"/>
              <a:t> marks[10], </a:t>
            </a:r>
            <a:r>
              <a:rPr lang="en-IN" sz="1600" dirty="0" err="1" smtClean="0"/>
              <a:t>i</a:t>
            </a:r>
            <a:r>
              <a:rPr lang="en-IN" sz="1600" dirty="0" smtClean="0"/>
              <a:t>, n, sum = 0, average;</a:t>
            </a:r>
          </a:p>
          <a:p>
            <a:pPr marL="0" indent="0">
              <a:buNone/>
            </a:pPr>
            <a:r>
              <a:rPr lang="en-IN" sz="1600" dirty="0" smtClean="0"/>
              <a:t>     </a:t>
            </a:r>
            <a:r>
              <a:rPr lang="en-IN" sz="1600" dirty="0" err="1" smtClean="0"/>
              <a:t>printf</a:t>
            </a:r>
            <a:r>
              <a:rPr lang="en-IN" sz="1600" dirty="0" smtClean="0"/>
              <a:t>("Enter number of elements: ");</a:t>
            </a:r>
          </a:p>
          <a:p>
            <a:pPr marL="0" indent="0">
              <a:buNone/>
            </a:pPr>
            <a:r>
              <a:rPr lang="en-IN" sz="1600" dirty="0" smtClean="0"/>
              <a:t>     </a:t>
            </a:r>
            <a:r>
              <a:rPr lang="en-IN" sz="1600" dirty="0" err="1" smtClean="0"/>
              <a:t>scanf</a:t>
            </a:r>
            <a:r>
              <a:rPr lang="en-IN" sz="1600" dirty="0" smtClean="0"/>
              <a:t>("%d", &amp;n);</a:t>
            </a:r>
          </a:p>
          <a:p>
            <a:pPr marL="0" indent="0">
              <a:buNone/>
            </a:pPr>
            <a:r>
              <a:rPr lang="en-IN" sz="1600" dirty="0" smtClean="0"/>
              <a:t>     for(</a:t>
            </a:r>
            <a:r>
              <a:rPr lang="en-IN" sz="1600" dirty="0" err="1" smtClean="0"/>
              <a:t>i</a:t>
            </a:r>
            <a:r>
              <a:rPr lang="en-IN" sz="1600" dirty="0" smtClean="0"/>
              <a:t>=0; </a:t>
            </a:r>
            <a:r>
              <a:rPr lang="en-IN" sz="1600" dirty="0" err="1" smtClean="0"/>
              <a:t>i</a:t>
            </a:r>
            <a:r>
              <a:rPr lang="en-IN" sz="1600" dirty="0" smtClean="0"/>
              <a:t>&lt;n; ++</a:t>
            </a:r>
            <a:r>
              <a:rPr lang="en-IN" sz="1600" dirty="0" err="1" smtClean="0"/>
              <a:t>i</a:t>
            </a:r>
            <a:r>
              <a:rPr lang="en-IN" sz="1600" dirty="0" smtClean="0"/>
              <a:t>)</a:t>
            </a:r>
          </a:p>
          <a:p>
            <a:pPr marL="0" indent="0">
              <a:buNone/>
            </a:pPr>
            <a:r>
              <a:rPr lang="en-IN" sz="1600" dirty="0" smtClean="0"/>
              <a:t>     {</a:t>
            </a:r>
          </a:p>
          <a:p>
            <a:pPr marL="0" indent="0">
              <a:buNone/>
            </a:pPr>
            <a:r>
              <a:rPr lang="en-IN" sz="1600" dirty="0" smtClean="0"/>
              <a:t>          </a:t>
            </a:r>
            <a:r>
              <a:rPr lang="en-IN" sz="1600" dirty="0" err="1" smtClean="0"/>
              <a:t>printf</a:t>
            </a:r>
            <a:r>
              <a:rPr lang="en-IN" sz="1600" dirty="0" smtClean="0"/>
              <a:t>("Enter </a:t>
            </a:r>
            <a:r>
              <a:rPr lang="en-IN" sz="1600" dirty="0" err="1" smtClean="0"/>
              <a:t>number%d</a:t>
            </a:r>
            <a:r>
              <a:rPr lang="en-IN" sz="1600" dirty="0" smtClean="0"/>
              <a:t>: ",i+1);</a:t>
            </a:r>
          </a:p>
          <a:p>
            <a:pPr marL="0" indent="0">
              <a:buNone/>
            </a:pPr>
            <a:r>
              <a:rPr lang="en-IN" sz="1600" dirty="0" smtClean="0"/>
              <a:t>          </a:t>
            </a:r>
            <a:r>
              <a:rPr lang="en-IN" sz="1600" dirty="0" err="1" smtClean="0"/>
              <a:t>scanf</a:t>
            </a:r>
            <a:r>
              <a:rPr lang="en-IN" sz="1600" dirty="0" smtClean="0"/>
              <a:t>("%d", &amp;marks[</a:t>
            </a:r>
            <a:r>
              <a:rPr lang="en-IN" sz="1600" dirty="0" err="1" smtClean="0"/>
              <a:t>i</a:t>
            </a:r>
            <a:r>
              <a:rPr lang="en-IN" sz="1600" dirty="0" smtClean="0"/>
              <a:t>]);</a:t>
            </a:r>
          </a:p>
          <a:p>
            <a:pPr marL="0" indent="0">
              <a:buNone/>
            </a:pPr>
            <a:r>
              <a:rPr lang="en-IN" sz="1600" dirty="0"/>
              <a:t> </a:t>
            </a:r>
            <a:r>
              <a:rPr lang="en-IN" sz="1600" dirty="0" smtClean="0"/>
              <a:t>         sum += marks[</a:t>
            </a:r>
            <a:r>
              <a:rPr lang="en-IN" sz="1600" dirty="0" err="1" smtClean="0"/>
              <a:t>i</a:t>
            </a:r>
            <a:r>
              <a:rPr lang="en-IN" sz="1600" dirty="0" smtClean="0"/>
              <a:t>];</a:t>
            </a:r>
          </a:p>
          <a:p>
            <a:pPr marL="0" indent="0">
              <a:buNone/>
            </a:pPr>
            <a:r>
              <a:rPr lang="en-IN" sz="1600" dirty="0" smtClean="0"/>
              <a:t>     }</a:t>
            </a:r>
          </a:p>
          <a:p>
            <a:pPr marL="0" indent="0">
              <a:buNone/>
            </a:pPr>
            <a:r>
              <a:rPr lang="en-IN" sz="1600" dirty="0" smtClean="0"/>
              <a:t>     average = sum/n;</a:t>
            </a:r>
          </a:p>
          <a:p>
            <a:pPr marL="0" indent="0">
              <a:buNone/>
            </a:pPr>
            <a:r>
              <a:rPr lang="en-IN" sz="1600" dirty="0" smtClean="0"/>
              <a:t>     </a:t>
            </a:r>
            <a:r>
              <a:rPr lang="en-IN" sz="1600" dirty="0" err="1" smtClean="0"/>
              <a:t>printf</a:t>
            </a:r>
            <a:r>
              <a:rPr lang="en-IN" sz="1600" dirty="0" smtClean="0"/>
              <a:t>("Average = %d", average);</a:t>
            </a:r>
          </a:p>
          <a:p>
            <a:pPr marL="0" indent="0">
              <a:buNone/>
            </a:pPr>
            <a:r>
              <a:rPr lang="en-IN" sz="1600" dirty="0" smtClean="0"/>
              <a:t>     return 0;</a:t>
            </a:r>
          </a:p>
          <a:p>
            <a:pPr marL="0" indent="0">
              <a:buNone/>
            </a:pPr>
            <a:r>
              <a:rPr lang="en-IN" sz="1600" dirty="0" smtClean="0"/>
              <a:t>}</a:t>
            </a:r>
            <a:endParaRPr lang="en-IN" sz="1600" dirty="0"/>
          </a:p>
        </p:txBody>
      </p:sp>
    </p:spTree>
    <p:extLst>
      <p:ext uri="{BB962C8B-B14F-4D97-AF65-F5344CB8AC3E}">
        <p14:creationId xmlns:p14="http://schemas.microsoft.com/office/powerpoint/2010/main" val="3725381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Initializing </a:t>
            </a:r>
            <a:r>
              <a:rPr lang="en-IN" dirty="0" smtClean="0"/>
              <a:t>Arrays</a:t>
            </a:r>
            <a:endParaRPr lang="en-IN" dirty="0"/>
          </a:p>
        </p:txBody>
      </p:sp>
      <p:sp>
        <p:nvSpPr>
          <p:cNvPr id="3" name="Content Placeholder 2"/>
          <p:cNvSpPr>
            <a:spLocks noGrp="1"/>
          </p:cNvSpPr>
          <p:nvPr>
            <p:ph idx="1"/>
          </p:nvPr>
        </p:nvSpPr>
        <p:spPr>
          <a:xfrm>
            <a:off x="914400" y="1772816"/>
            <a:ext cx="8229600" cy="4525963"/>
          </a:xfrm>
        </p:spPr>
        <p:txBody>
          <a:bodyPr>
            <a:normAutofit/>
          </a:bodyPr>
          <a:lstStyle/>
          <a:p>
            <a:r>
              <a:rPr lang="en-US" dirty="0"/>
              <a:t>It is possible to initialize an array during declaration. </a:t>
            </a:r>
            <a:endParaRPr lang="en-US" dirty="0" smtClean="0"/>
          </a:p>
          <a:p>
            <a:pPr marL="0" indent="0">
              <a:buNone/>
            </a:pPr>
            <a:r>
              <a:rPr lang="en-US" dirty="0" err="1" smtClean="0">
                <a:solidFill>
                  <a:srgbClr val="FF0000"/>
                </a:solidFill>
              </a:rPr>
              <a:t>int</a:t>
            </a:r>
            <a:r>
              <a:rPr lang="en-US" dirty="0" smtClean="0">
                <a:solidFill>
                  <a:srgbClr val="FF0000"/>
                </a:solidFill>
              </a:rPr>
              <a:t> mark[</a:t>
            </a:r>
            <a:r>
              <a:rPr lang="en-US" dirty="0">
                <a:solidFill>
                  <a:srgbClr val="FF0000"/>
                </a:solidFill>
              </a:rPr>
              <a:t>5</a:t>
            </a:r>
            <a:r>
              <a:rPr lang="en-US" dirty="0" smtClean="0">
                <a:solidFill>
                  <a:srgbClr val="FF0000"/>
                </a:solidFill>
              </a:rPr>
              <a:t>] = {</a:t>
            </a:r>
            <a:r>
              <a:rPr lang="en-US" dirty="0">
                <a:solidFill>
                  <a:srgbClr val="FF0000"/>
                </a:solidFill>
              </a:rPr>
              <a:t>19</a:t>
            </a:r>
            <a:r>
              <a:rPr lang="en-US" dirty="0" smtClean="0">
                <a:solidFill>
                  <a:srgbClr val="FF0000"/>
                </a:solidFill>
              </a:rPr>
              <a:t>, </a:t>
            </a:r>
            <a:r>
              <a:rPr lang="en-US" dirty="0">
                <a:solidFill>
                  <a:srgbClr val="FF0000"/>
                </a:solidFill>
              </a:rPr>
              <a:t>10</a:t>
            </a:r>
            <a:r>
              <a:rPr lang="en-US" dirty="0" smtClean="0">
                <a:solidFill>
                  <a:srgbClr val="FF0000"/>
                </a:solidFill>
              </a:rPr>
              <a:t>, </a:t>
            </a:r>
            <a:r>
              <a:rPr lang="en-US" dirty="0">
                <a:solidFill>
                  <a:srgbClr val="FF0000"/>
                </a:solidFill>
              </a:rPr>
              <a:t>8</a:t>
            </a:r>
            <a:r>
              <a:rPr lang="en-US" dirty="0" smtClean="0">
                <a:solidFill>
                  <a:srgbClr val="FF0000"/>
                </a:solidFill>
              </a:rPr>
              <a:t>, </a:t>
            </a:r>
            <a:r>
              <a:rPr lang="en-US" dirty="0">
                <a:solidFill>
                  <a:srgbClr val="FF0000"/>
                </a:solidFill>
              </a:rPr>
              <a:t>17</a:t>
            </a:r>
            <a:r>
              <a:rPr lang="en-US" dirty="0" smtClean="0">
                <a:solidFill>
                  <a:srgbClr val="FF0000"/>
                </a:solidFill>
              </a:rPr>
              <a:t>, </a:t>
            </a:r>
            <a:r>
              <a:rPr lang="en-US" dirty="0">
                <a:solidFill>
                  <a:srgbClr val="FF0000"/>
                </a:solidFill>
              </a:rPr>
              <a:t>9</a:t>
            </a:r>
            <a:r>
              <a:rPr lang="en-US" dirty="0" smtClean="0">
                <a:solidFill>
                  <a:srgbClr val="FF0000"/>
                </a:solidFill>
              </a:rPr>
              <a:t>};</a:t>
            </a:r>
          </a:p>
          <a:p>
            <a:pPr marL="0" indent="0">
              <a:buNone/>
            </a:pPr>
            <a:endParaRPr lang="en-US" dirty="0" smtClean="0">
              <a:solidFill>
                <a:srgbClr val="FF0000"/>
              </a:solidFill>
            </a:endParaRPr>
          </a:p>
          <a:p>
            <a:r>
              <a:rPr lang="en-US" dirty="0" smtClean="0"/>
              <a:t>You </a:t>
            </a:r>
            <a:r>
              <a:rPr lang="en-US" dirty="0"/>
              <a:t>can also initialize an array like this.</a:t>
            </a:r>
          </a:p>
          <a:p>
            <a:pPr marL="0" indent="0">
              <a:buNone/>
            </a:pPr>
            <a:r>
              <a:rPr lang="en-US" dirty="0" err="1">
                <a:solidFill>
                  <a:srgbClr val="FF0000"/>
                </a:solidFill>
              </a:rPr>
              <a:t>int</a:t>
            </a:r>
            <a:r>
              <a:rPr lang="en-US" dirty="0" smtClean="0">
                <a:solidFill>
                  <a:srgbClr val="FF0000"/>
                </a:solidFill>
              </a:rPr>
              <a:t> mark[] = {</a:t>
            </a:r>
            <a:r>
              <a:rPr lang="en-US" dirty="0">
                <a:solidFill>
                  <a:srgbClr val="FF0000"/>
                </a:solidFill>
              </a:rPr>
              <a:t>19</a:t>
            </a:r>
            <a:r>
              <a:rPr lang="en-US" dirty="0" smtClean="0">
                <a:solidFill>
                  <a:srgbClr val="FF0000"/>
                </a:solidFill>
              </a:rPr>
              <a:t>, </a:t>
            </a:r>
            <a:r>
              <a:rPr lang="en-US" dirty="0">
                <a:solidFill>
                  <a:srgbClr val="FF0000"/>
                </a:solidFill>
              </a:rPr>
              <a:t>10</a:t>
            </a:r>
            <a:r>
              <a:rPr lang="en-US" dirty="0" smtClean="0">
                <a:solidFill>
                  <a:srgbClr val="FF0000"/>
                </a:solidFill>
              </a:rPr>
              <a:t>, </a:t>
            </a:r>
            <a:r>
              <a:rPr lang="en-US" dirty="0">
                <a:solidFill>
                  <a:srgbClr val="FF0000"/>
                </a:solidFill>
              </a:rPr>
              <a:t>8</a:t>
            </a:r>
            <a:r>
              <a:rPr lang="en-US" dirty="0" smtClean="0">
                <a:solidFill>
                  <a:srgbClr val="FF0000"/>
                </a:solidFill>
              </a:rPr>
              <a:t>, </a:t>
            </a:r>
            <a:r>
              <a:rPr lang="en-US" dirty="0">
                <a:solidFill>
                  <a:srgbClr val="FF0000"/>
                </a:solidFill>
              </a:rPr>
              <a:t>17</a:t>
            </a:r>
            <a:r>
              <a:rPr lang="en-US" dirty="0" smtClean="0">
                <a:solidFill>
                  <a:srgbClr val="FF0000"/>
                </a:solidFill>
              </a:rPr>
              <a:t>, </a:t>
            </a:r>
            <a:r>
              <a:rPr lang="en-US" dirty="0">
                <a:solidFill>
                  <a:srgbClr val="FF0000"/>
                </a:solidFill>
              </a:rPr>
              <a:t>9</a:t>
            </a:r>
            <a:r>
              <a:rPr lang="en-US" dirty="0" smtClean="0">
                <a:solidFill>
                  <a:srgbClr val="FF0000"/>
                </a:solidFill>
              </a:rPr>
              <a:t>};</a:t>
            </a:r>
          </a:p>
          <a:p>
            <a:pPr marL="0" indent="0">
              <a:buNone/>
            </a:pPr>
            <a:endParaRPr lang="en-US" dirty="0">
              <a:solidFill>
                <a:srgbClr val="FF0000"/>
              </a:solidFill>
            </a:endParaRPr>
          </a:p>
        </p:txBody>
      </p:sp>
    </p:spTree>
    <p:extLst>
      <p:ext uri="{BB962C8B-B14F-4D97-AF65-F5344CB8AC3E}">
        <p14:creationId xmlns:p14="http://schemas.microsoft.com/office/powerpoint/2010/main" val="2008553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Two-dimensional arrays</a:t>
            </a:r>
            <a:endParaRPr lang="en-IN" dirty="0"/>
          </a:p>
        </p:txBody>
      </p:sp>
      <p:sp>
        <p:nvSpPr>
          <p:cNvPr id="3" name="Content Placeholder 2"/>
          <p:cNvSpPr>
            <a:spLocks noGrp="1"/>
          </p:cNvSpPr>
          <p:nvPr>
            <p:ph idx="1"/>
          </p:nvPr>
        </p:nvSpPr>
        <p:spPr/>
        <p:txBody>
          <a:bodyPr>
            <a:normAutofit fontScale="92500" lnSpcReduction="10000"/>
          </a:bodyPr>
          <a:lstStyle/>
          <a:p>
            <a:r>
              <a:rPr lang="en-US" dirty="0"/>
              <a:t>Two dimensional arrays are stored in a row-column matrix where the first </a:t>
            </a:r>
            <a:r>
              <a:rPr lang="en-US" dirty="0" smtClean="0"/>
              <a:t>index indicates </a:t>
            </a:r>
            <a:r>
              <a:rPr lang="en-US" dirty="0"/>
              <a:t>the row and the second indicates the column. This means that the right </a:t>
            </a:r>
            <a:r>
              <a:rPr lang="en-US" dirty="0" smtClean="0"/>
              <a:t>most index </a:t>
            </a:r>
            <a:r>
              <a:rPr lang="en-US" dirty="0"/>
              <a:t>changes faster than the leftmost when accessing the elements in the array in </a:t>
            </a:r>
            <a:r>
              <a:rPr lang="en-US" dirty="0" smtClean="0"/>
              <a:t>the order </a:t>
            </a:r>
            <a:r>
              <a:rPr lang="en-US" dirty="0"/>
              <a:t>in which they are actually stored in memory</a:t>
            </a:r>
            <a:r>
              <a:rPr lang="en-US" dirty="0" smtClean="0"/>
              <a:t>.</a:t>
            </a:r>
          </a:p>
          <a:p>
            <a:endParaRPr lang="en-US" dirty="0" smtClean="0"/>
          </a:p>
          <a:p>
            <a:pPr marL="0" indent="0">
              <a:buNone/>
            </a:pPr>
            <a:r>
              <a:rPr lang="en-US" dirty="0" smtClean="0"/>
              <a:t>Syntax: </a:t>
            </a:r>
            <a:endParaRPr lang="en-IN" dirty="0" smtClean="0"/>
          </a:p>
          <a:p>
            <a:pPr marL="0" indent="0">
              <a:buNone/>
            </a:pPr>
            <a:r>
              <a:rPr lang="en-IN" dirty="0" smtClean="0">
                <a:solidFill>
                  <a:srgbClr val="FF0000"/>
                </a:solidFill>
              </a:rPr>
              <a:t>type </a:t>
            </a:r>
            <a:r>
              <a:rPr lang="en-IN" dirty="0" err="1" smtClean="0">
                <a:solidFill>
                  <a:srgbClr val="FF0000"/>
                </a:solidFill>
              </a:rPr>
              <a:t>arrayName</a:t>
            </a:r>
            <a:r>
              <a:rPr lang="en-IN" dirty="0" smtClean="0">
                <a:solidFill>
                  <a:srgbClr val="FF0000"/>
                </a:solidFill>
              </a:rPr>
              <a:t> </a:t>
            </a:r>
            <a:r>
              <a:rPr lang="en-IN" dirty="0">
                <a:solidFill>
                  <a:srgbClr val="FF0000"/>
                </a:solidFill>
              </a:rPr>
              <a:t>[</a:t>
            </a:r>
            <a:r>
              <a:rPr lang="en-IN" dirty="0" smtClean="0">
                <a:solidFill>
                  <a:srgbClr val="FF0000"/>
                </a:solidFill>
              </a:rPr>
              <a:t>x</a:t>
            </a:r>
            <a:r>
              <a:rPr lang="en-IN" dirty="0">
                <a:solidFill>
                  <a:srgbClr val="FF0000"/>
                </a:solidFill>
              </a:rPr>
              <a:t>][</a:t>
            </a:r>
            <a:r>
              <a:rPr lang="en-IN" dirty="0" smtClean="0">
                <a:solidFill>
                  <a:srgbClr val="FF0000"/>
                </a:solidFill>
              </a:rPr>
              <a:t>y];</a:t>
            </a:r>
          </a:p>
          <a:p>
            <a:pPr marL="0" indent="0">
              <a:buNone/>
            </a:pPr>
            <a:endParaRPr lang="en-IN" dirty="0" smtClean="0">
              <a:solidFill>
                <a:srgbClr val="FF0000"/>
              </a:solidFill>
            </a:endParaRPr>
          </a:p>
        </p:txBody>
      </p:sp>
    </p:spTree>
    <p:extLst>
      <p:ext uri="{BB962C8B-B14F-4D97-AF65-F5344CB8AC3E}">
        <p14:creationId xmlns:p14="http://schemas.microsoft.com/office/powerpoint/2010/main" val="1256684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2D Example</a:t>
            </a:r>
            <a:endParaRPr lang="en-IN" dirty="0"/>
          </a:p>
        </p:txBody>
      </p:sp>
      <p:sp>
        <p:nvSpPr>
          <p:cNvPr id="3" name="Content Placeholder 2"/>
          <p:cNvSpPr>
            <a:spLocks noGrp="1"/>
          </p:cNvSpPr>
          <p:nvPr>
            <p:ph idx="1"/>
          </p:nvPr>
        </p:nvSpPr>
        <p:spPr>
          <a:xfrm>
            <a:off x="539552" y="1196752"/>
            <a:ext cx="8147248" cy="4929411"/>
          </a:xfrm>
        </p:spPr>
        <p:txBody>
          <a:bodyPr/>
          <a:lstStyle/>
          <a:p>
            <a:pPr marL="0" indent="0">
              <a:buNone/>
            </a:pPr>
            <a:r>
              <a:rPr lang="en-IN" dirty="0" err="1" smtClean="0">
                <a:solidFill>
                  <a:srgbClr val="FF0000"/>
                </a:solidFill>
              </a:rPr>
              <a:t>Int</a:t>
            </a:r>
            <a:r>
              <a:rPr lang="en-IN" dirty="0" smtClean="0">
                <a:solidFill>
                  <a:srgbClr val="FF0000"/>
                </a:solidFill>
              </a:rPr>
              <a:t>  </a:t>
            </a:r>
            <a:r>
              <a:rPr lang="en-IN" dirty="0" err="1" smtClean="0">
                <a:solidFill>
                  <a:srgbClr val="FF0000"/>
                </a:solidFill>
              </a:rPr>
              <a:t>num</a:t>
            </a:r>
            <a:r>
              <a:rPr lang="en-IN" dirty="0" smtClean="0">
                <a:solidFill>
                  <a:srgbClr val="FF0000"/>
                </a:solidFill>
              </a:rPr>
              <a:t>[3][4];</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699708"/>
            <a:ext cx="6443687" cy="259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2661" y="4052308"/>
            <a:ext cx="4779852" cy="2651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787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Initializing</a:t>
            </a:r>
            <a:r>
              <a:rPr lang="en-US" dirty="0"/>
              <a:t> </a:t>
            </a:r>
            <a:r>
              <a:rPr lang="en-US" dirty="0" smtClean="0"/>
              <a:t>2D Array</a:t>
            </a:r>
            <a:endParaRPr lang="en-IN" dirty="0"/>
          </a:p>
        </p:txBody>
      </p:sp>
      <p:sp>
        <p:nvSpPr>
          <p:cNvPr id="3" name="Content Placeholder 2"/>
          <p:cNvSpPr>
            <a:spLocks noGrp="1"/>
          </p:cNvSpPr>
          <p:nvPr>
            <p:ph idx="1"/>
          </p:nvPr>
        </p:nvSpPr>
        <p:spPr/>
        <p:txBody>
          <a:bodyPr/>
          <a:lstStyle/>
          <a:p>
            <a:pPr marL="0" indent="0">
              <a:buNone/>
            </a:pPr>
            <a:r>
              <a:rPr lang="en-IN" dirty="0" err="1">
                <a:solidFill>
                  <a:srgbClr val="FF0000"/>
                </a:solidFill>
              </a:rPr>
              <a:t>int</a:t>
            </a:r>
            <a:r>
              <a:rPr lang="en-IN" dirty="0" smtClean="0">
                <a:solidFill>
                  <a:srgbClr val="FF0000"/>
                </a:solidFill>
              </a:rPr>
              <a:t> c[</a:t>
            </a:r>
            <a:r>
              <a:rPr lang="en-IN" dirty="0">
                <a:solidFill>
                  <a:srgbClr val="FF0000"/>
                </a:solidFill>
              </a:rPr>
              <a:t>2</a:t>
            </a:r>
            <a:r>
              <a:rPr lang="en-IN" dirty="0" smtClean="0">
                <a:solidFill>
                  <a:srgbClr val="FF0000"/>
                </a:solidFill>
              </a:rPr>
              <a:t>][</a:t>
            </a:r>
            <a:r>
              <a:rPr lang="en-IN" dirty="0">
                <a:solidFill>
                  <a:srgbClr val="FF0000"/>
                </a:solidFill>
              </a:rPr>
              <a:t>3</a:t>
            </a:r>
            <a:r>
              <a:rPr lang="en-IN" dirty="0" smtClean="0">
                <a:solidFill>
                  <a:srgbClr val="FF0000"/>
                </a:solidFill>
              </a:rPr>
              <a:t>] = {{</a:t>
            </a:r>
            <a:r>
              <a:rPr lang="en-IN" dirty="0">
                <a:solidFill>
                  <a:srgbClr val="FF0000"/>
                </a:solidFill>
              </a:rPr>
              <a:t>1</a:t>
            </a:r>
            <a:r>
              <a:rPr lang="en-IN" dirty="0" smtClean="0">
                <a:solidFill>
                  <a:srgbClr val="FF0000"/>
                </a:solidFill>
              </a:rPr>
              <a:t>, </a:t>
            </a:r>
            <a:r>
              <a:rPr lang="en-IN" dirty="0">
                <a:solidFill>
                  <a:srgbClr val="FF0000"/>
                </a:solidFill>
              </a:rPr>
              <a:t>3</a:t>
            </a:r>
            <a:r>
              <a:rPr lang="en-IN" dirty="0" smtClean="0">
                <a:solidFill>
                  <a:srgbClr val="FF0000"/>
                </a:solidFill>
              </a:rPr>
              <a:t>, </a:t>
            </a:r>
            <a:r>
              <a:rPr lang="en-IN" dirty="0">
                <a:solidFill>
                  <a:srgbClr val="FF0000"/>
                </a:solidFill>
              </a:rPr>
              <a:t>0</a:t>
            </a:r>
            <a:r>
              <a:rPr lang="en-IN" dirty="0" smtClean="0">
                <a:solidFill>
                  <a:srgbClr val="FF0000"/>
                </a:solidFill>
              </a:rPr>
              <a:t>}, {</a:t>
            </a:r>
            <a:r>
              <a:rPr lang="en-IN" dirty="0">
                <a:solidFill>
                  <a:srgbClr val="FF0000"/>
                </a:solidFill>
              </a:rPr>
              <a:t>-1</a:t>
            </a:r>
            <a:r>
              <a:rPr lang="en-IN" dirty="0" smtClean="0">
                <a:solidFill>
                  <a:srgbClr val="FF0000"/>
                </a:solidFill>
              </a:rPr>
              <a:t>, </a:t>
            </a:r>
            <a:r>
              <a:rPr lang="en-IN" dirty="0">
                <a:solidFill>
                  <a:srgbClr val="FF0000"/>
                </a:solidFill>
              </a:rPr>
              <a:t>5</a:t>
            </a:r>
            <a:r>
              <a:rPr lang="en-IN" dirty="0" smtClean="0">
                <a:solidFill>
                  <a:srgbClr val="FF0000"/>
                </a:solidFill>
              </a:rPr>
              <a:t>, </a:t>
            </a:r>
            <a:r>
              <a:rPr lang="en-IN" dirty="0">
                <a:solidFill>
                  <a:srgbClr val="FF0000"/>
                </a:solidFill>
              </a:rPr>
              <a:t>9</a:t>
            </a:r>
            <a:r>
              <a:rPr lang="en-IN" dirty="0" smtClean="0">
                <a:solidFill>
                  <a:srgbClr val="FF0000"/>
                </a:solidFill>
              </a:rPr>
              <a:t>}}; </a:t>
            </a:r>
          </a:p>
          <a:p>
            <a:pPr marL="0" indent="0">
              <a:buNone/>
            </a:pPr>
            <a:r>
              <a:rPr lang="en-IN" dirty="0" err="1" smtClean="0">
                <a:solidFill>
                  <a:srgbClr val="FF0000"/>
                </a:solidFill>
              </a:rPr>
              <a:t>int</a:t>
            </a:r>
            <a:r>
              <a:rPr lang="en-IN" dirty="0" smtClean="0">
                <a:solidFill>
                  <a:srgbClr val="FF0000"/>
                </a:solidFill>
              </a:rPr>
              <a:t> c[][</a:t>
            </a:r>
            <a:r>
              <a:rPr lang="en-IN" dirty="0">
                <a:solidFill>
                  <a:srgbClr val="FF0000"/>
                </a:solidFill>
              </a:rPr>
              <a:t>3</a:t>
            </a:r>
            <a:r>
              <a:rPr lang="en-IN" dirty="0" smtClean="0">
                <a:solidFill>
                  <a:srgbClr val="FF0000"/>
                </a:solidFill>
              </a:rPr>
              <a:t>] = {{</a:t>
            </a:r>
            <a:r>
              <a:rPr lang="en-IN" dirty="0">
                <a:solidFill>
                  <a:srgbClr val="FF0000"/>
                </a:solidFill>
              </a:rPr>
              <a:t>1</a:t>
            </a:r>
            <a:r>
              <a:rPr lang="en-IN" dirty="0" smtClean="0">
                <a:solidFill>
                  <a:srgbClr val="FF0000"/>
                </a:solidFill>
              </a:rPr>
              <a:t>, </a:t>
            </a:r>
            <a:r>
              <a:rPr lang="en-IN" dirty="0">
                <a:solidFill>
                  <a:srgbClr val="FF0000"/>
                </a:solidFill>
              </a:rPr>
              <a:t>3</a:t>
            </a:r>
            <a:r>
              <a:rPr lang="en-IN" dirty="0" smtClean="0">
                <a:solidFill>
                  <a:srgbClr val="FF0000"/>
                </a:solidFill>
              </a:rPr>
              <a:t>, </a:t>
            </a:r>
            <a:r>
              <a:rPr lang="en-IN" dirty="0">
                <a:solidFill>
                  <a:srgbClr val="FF0000"/>
                </a:solidFill>
              </a:rPr>
              <a:t>0</a:t>
            </a:r>
            <a:r>
              <a:rPr lang="en-IN" dirty="0" smtClean="0">
                <a:solidFill>
                  <a:srgbClr val="FF0000"/>
                </a:solidFill>
              </a:rPr>
              <a:t>}, {</a:t>
            </a:r>
            <a:r>
              <a:rPr lang="en-IN" dirty="0">
                <a:solidFill>
                  <a:srgbClr val="FF0000"/>
                </a:solidFill>
              </a:rPr>
              <a:t>-1</a:t>
            </a:r>
            <a:r>
              <a:rPr lang="en-IN" dirty="0" smtClean="0">
                <a:solidFill>
                  <a:srgbClr val="FF0000"/>
                </a:solidFill>
              </a:rPr>
              <a:t>, </a:t>
            </a:r>
            <a:r>
              <a:rPr lang="en-IN" dirty="0">
                <a:solidFill>
                  <a:srgbClr val="FF0000"/>
                </a:solidFill>
              </a:rPr>
              <a:t>5</a:t>
            </a:r>
            <a:r>
              <a:rPr lang="en-IN" dirty="0" smtClean="0">
                <a:solidFill>
                  <a:srgbClr val="FF0000"/>
                </a:solidFill>
              </a:rPr>
              <a:t>, </a:t>
            </a:r>
            <a:r>
              <a:rPr lang="en-IN" dirty="0">
                <a:solidFill>
                  <a:srgbClr val="FF0000"/>
                </a:solidFill>
              </a:rPr>
              <a:t>9</a:t>
            </a:r>
            <a:r>
              <a:rPr lang="en-IN" dirty="0" smtClean="0">
                <a:solidFill>
                  <a:srgbClr val="FF0000"/>
                </a:solidFill>
              </a:rPr>
              <a:t>}};</a:t>
            </a:r>
          </a:p>
          <a:p>
            <a:pPr marL="0" indent="0">
              <a:buNone/>
            </a:pPr>
            <a:r>
              <a:rPr lang="en-IN" dirty="0" smtClean="0">
                <a:solidFill>
                  <a:srgbClr val="FF0000"/>
                </a:solidFill>
              </a:rPr>
              <a:t> </a:t>
            </a:r>
            <a:r>
              <a:rPr lang="en-IN" dirty="0" err="1">
                <a:solidFill>
                  <a:srgbClr val="FF0000"/>
                </a:solidFill>
              </a:rPr>
              <a:t>int</a:t>
            </a:r>
            <a:r>
              <a:rPr lang="en-IN" dirty="0" smtClean="0">
                <a:solidFill>
                  <a:srgbClr val="FF0000"/>
                </a:solidFill>
              </a:rPr>
              <a:t> c[2][3] = {</a:t>
            </a:r>
            <a:r>
              <a:rPr lang="en-IN" dirty="0">
                <a:solidFill>
                  <a:srgbClr val="FF0000"/>
                </a:solidFill>
              </a:rPr>
              <a:t>1</a:t>
            </a:r>
            <a:r>
              <a:rPr lang="en-IN" dirty="0" smtClean="0">
                <a:solidFill>
                  <a:srgbClr val="FF0000"/>
                </a:solidFill>
              </a:rPr>
              <a:t>, </a:t>
            </a:r>
            <a:r>
              <a:rPr lang="en-IN" dirty="0">
                <a:solidFill>
                  <a:srgbClr val="FF0000"/>
                </a:solidFill>
              </a:rPr>
              <a:t>3</a:t>
            </a:r>
            <a:r>
              <a:rPr lang="en-IN" dirty="0" smtClean="0">
                <a:solidFill>
                  <a:srgbClr val="FF0000"/>
                </a:solidFill>
              </a:rPr>
              <a:t>, </a:t>
            </a:r>
            <a:r>
              <a:rPr lang="en-IN" dirty="0">
                <a:solidFill>
                  <a:srgbClr val="FF0000"/>
                </a:solidFill>
              </a:rPr>
              <a:t>0</a:t>
            </a:r>
            <a:r>
              <a:rPr lang="en-IN" dirty="0" smtClean="0">
                <a:solidFill>
                  <a:srgbClr val="FF0000"/>
                </a:solidFill>
              </a:rPr>
              <a:t>, </a:t>
            </a:r>
            <a:r>
              <a:rPr lang="en-IN" dirty="0">
                <a:solidFill>
                  <a:srgbClr val="FF0000"/>
                </a:solidFill>
              </a:rPr>
              <a:t>-1</a:t>
            </a:r>
            <a:r>
              <a:rPr lang="en-IN" dirty="0" smtClean="0">
                <a:solidFill>
                  <a:srgbClr val="FF0000"/>
                </a:solidFill>
              </a:rPr>
              <a:t>, </a:t>
            </a:r>
            <a:r>
              <a:rPr lang="en-IN" dirty="0">
                <a:solidFill>
                  <a:srgbClr val="FF0000"/>
                </a:solidFill>
              </a:rPr>
              <a:t>5</a:t>
            </a:r>
            <a:r>
              <a:rPr lang="en-IN" dirty="0" smtClean="0">
                <a:solidFill>
                  <a:srgbClr val="FF0000"/>
                </a:solidFill>
              </a:rPr>
              <a:t>, </a:t>
            </a:r>
            <a:r>
              <a:rPr lang="en-IN" dirty="0">
                <a:solidFill>
                  <a:srgbClr val="FF0000"/>
                </a:solidFill>
              </a:rPr>
              <a:t>9</a:t>
            </a:r>
            <a:r>
              <a:rPr lang="en-IN" dirty="0" smtClean="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2347730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a:t>
            </a:r>
            <a:endParaRPr lang="en-IN" dirty="0"/>
          </a:p>
        </p:txBody>
      </p:sp>
      <p:sp>
        <p:nvSpPr>
          <p:cNvPr id="3" name="Content Placeholder 2"/>
          <p:cNvSpPr>
            <a:spLocks noGrp="1"/>
          </p:cNvSpPr>
          <p:nvPr>
            <p:ph sz="half" idx="1"/>
          </p:nvPr>
        </p:nvSpPr>
        <p:spPr>
          <a:xfrm>
            <a:off x="0" y="1196752"/>
            <a:ext cx="3419872" cy="5661248"/>
          </a:xfrm>
          <a:ln>
            <a:solidFill>
              <a:schemeClr val="accent2"/>
            </a:solidFill>
          </a:ln>
        </p:spPr>
        <p:txBody>
          <a:bodyPr>
            <a:normAutofit fontScale="77500" lnSpcReduction="20000"/>
          </a:bodyPr>
          <a:lstStyle/>
          <a:p>
            <a:pPr marL="0" indent="0">
              <a:buNone/>
            </a:pPr>
            <a:r>
              <a:rPr lang="en-IN" dirty="0" smtClean="0"/>
              <a:t>#include &lt;</a:t>
            </a:r>
            <a:r>
              <a:rPr lang="en-IN" dirty="0" err="1" smtClean="0"/>
              <a:t>stdio.h</a:t>
            </a:r>
            <a:r>
              <a:rPr lang="en-IN" dirty="0" smtClean="0"/>
              <a:t>&gt;</a:t>
            </a:r>
          </a:p>
          <a:p>
            <a:pPr marL="0" indent="0">
              <a:buNone/>
            </a:pPr>
            <a:r>
              <a:rPr lang="en-IN" dirty="0" err="1" smtClean="0"/>
              <a:t>int</a:t>
            </a:r>
            <a:r>
              <a:rPr lang="en-IN" dirty="0" smtClean="0"/>
              <a:t> main() {</a:t>
            </a:r>
          </a:p>
          <a:p>
            <a:pPr marL="0" indent="0">
              <a:buNone/>
            </a:pPr>
            <a:r>
              <a:rPr lang="en-IN" dirty="0" smtClean="0"/>
              <a:t>	float average;</a:t>
            </a:r>
          </a:p>
          <a:p>
            <a:pPr marL="0" indent="0">
              <a:buNone/>
            </a:pPr>
            <a:r>
              <a:rPr lang="en-IN" dirty="0" smtClean="0"/>
              <a:t>	</a:t>
            </a:r>
            <a:r>
              <a:rPr lang="en-IN" dirty="0" err="1" smtClean="0"/>
              <a:t>int</a:t>
            </a:r>
            <a:r>
              <a:rPr lang="en-IN" dirty="0" smtClean="0"/>
              <a:t> </a:t>
            </a:r>
            <a:r>
              <a:rPr lang="en-IN" dirty="0" err="1" smtClean="0"/>
              <a:t>i,j</a:t>
            </a:r>
            <a:r>
              <a:rPr lang="en-IN" dirty="0" smtClean="0"/>
              <a:t>, grades[2][5];</a:t>
            </a:r>
          </a:p>
          <a:p>
            <a:pPr marL="0" indent="0">
              <a:buNone/>
            </a:pPr>
            <a:r>
              <a:rPr lang="en-IN" dirty="0" smtClean="0"/>
              <a:t>	grades[0][0] = 80;</a:t>
            </a:r>
          </a:p>
          <a:p>
            <a:pPr marL="0" indent="0">
              <a:buNone/>
            </a:pPr>
            <a:r>
              <a:rPr lang="en-IN" dirty="0" smtClean="0"/>
              <a:t>	grades[0][1] = 70;	grades[0][2] = 65;</a:t>
            </a:r>
          </a:p>
          <a:p>
            <a:pPr marL="0" indent="0">
              <a:buNone/>
            </a:pPr>
            <a:r>
              <a:rPr lang="en-IN" dirty="0" smtClean="0"/>
              <a:t>	grades[0][3] = 89;</a:t>
            </a:r>
          </a:p>
          <a:p>
            <a:pPr marL="0" indent="0">
              <a:buNone/>
            </a:pPr>
            <a:r>
              <a:rPr lang="en-IN" dirty="0" smtClean="0"/>
              <a:t>	grades[0][4] = 90;</a:t>
            </a:r>
          </a:p>
          <a:p>
            <a:pPr marL="0" indent="0">
              <a:buNone/>
            </a:pPr>
            <a:endParaRPr lang="en-IN" dirty="0" smtClean="0"/>
          </a:p>
          <a:p>
            <a:pPr marL="0" indent="0">
              <a:buNone/>
            </a:pPr>
            <a:r>
              <a:rPr lang="en-IN" dirty="0" smtClean="0"/>
              <a:t>	grades[1][0] = 85;</a:t>
            </a:r>
          </a:p>
          <a:p>
            <a:pPr marL="0" indent="0">
              <a:buNone/>
            </a:pPr>
            <a:r>
              <a:rPr lang="en-IN" dirty="0" smtClean="0"/>
              <a:t>	grades[1][1] = 80;</a:t>
            </a:r>
          </a:p>
          <a:p>
            <a:pPr marL="0" indent="0">
              <a:buNone/>
            </a:pPr>
            <a:r>
              <a:rPr lang="en-IN" dirty="0" smtClean="0"/>
              <a:t>	grades[1][2] = 80;</a:t>
            </a:r>
          </a:p>
          <a:p>
            <a:pPr marL="0" indent="0">
              <a:buNone/>
            </a:pPr>
            <a:r>
              <a:rPr lang="en-IN" dirty="0" smtClean="0"/>
              <a:t>	grades[1][3] = 82;</a:t>
            </a:r>
          </a:p>
          <a:p>
            <a:pPr marL="0" indent="0">
              <a:buNone/>
            </a:pPr>
            <a:r>
              <a:rPr lang="en-IN" dirty="0" smtClean="0"/>
              <a:t>	grades[1][4] = 87;</a:t>
            </a:r>
          </a:p>
          <a:p>
            <a:pPr marL="0" indent="0">
              <a:buNone/>
            </a:pPr>
            <a:r>
              <a:rPr lang="en-IN" dirty="0" smtClean="0"/>
              <a:t>		</a:t>
            </a:r>
            <a:endParaRPr lang="en-IN" dirty="0"/>
          </a:p>
        </p:txBody>
      </p:sp>
      <p:sp>
        <p:nvSpPr>
          <p:cNvPr id="4" name="Content Placeholder 3"/>
          <p:cNvSpPr>
            <a:spLocks noGrp="1"/>
          </p:cNvSpPr>
          <p:nvPr>
            <p:ph sz="half" idx="2"/>
          </p:nvPr>
        </p:nvSpPr>
        <p:spPr>
          <a:xfrm>
            <a:off x="3851920" y="1196752"/>
            <a:ext cx="5292080" cy="5544616"/>
          </a:xfrm>
          <a:ln>
            <a:solidFill>
              <a:schemeClr val="accent2"/>
            </a:solidFill>
          </a:ln>
        </p:spPr>
        <p:txBody>
          <a:bodyPr>
            <a:normAutofit fontScale="77500" lnSpcReduction="20000"/>
          </a:bodyPr>
          <a:lstStyle/>
          <a:p>
            <a:pPr marL="0" indent="0">
              <a:buNone/>
            </a:pPr>
            <a:r>
              <a:rPr lang="en-IN" dirty="0" smtClean="0"/>
              <a:t>for (</a:t>
            </a:r>
            <a:r>
              <a:rPr lang="en-IN" dirty="0" err="1" smtClean="0"/>
              <a:t>i</a:t>
            </a:r>
            <a:r>
              <a:rPr lang="en-IN" dirty="0" smtClean="0"/>
              <a:t> = 0; </a:t>
            </a:r>
            <a:r>
              <a:rPr lang="en-IN" dirty="0" err="1" smtClean="0"/>
              <a:t>i</a:t>
            </a:r>
            <a:r>
              <a:rPr lang="en-IN" dirty="0" smtClean="0"/>
              <a:t> &lt; 2; </a:t>
            </a:r>
            <a:r>
              <a:rPr lang="en-IN" dirty="0" err="1" smtClean="0"/>
              <a:t>i</a:t>
            </a:r>
            <a:r>
              <a:rPr lang="en-IN" dirty="0" smtClean="0"/>
              <a:t>++) {</a:t>
            </a:r>
          </a:p>
          <a:p>
            <a:pPr marL="0" indent="0">
              <a:buNone/>
            </a:pPr>
            <a:r>
              <a:rPr lang="en-IN" dirty="0" smtClean="0"/>
              <a:t>	average = 0;</a:t>
            </a:r>
          </a:p>
          <a:p>
            <a:pPr marL="0" indent="0">
              <a:buNone/>
            </a:pPr>
            <a:r>
              <a:rPr lang="en-IN" dirty="0" smtClean="0"/>
              <a:t>	for (j = 0; j &lt;5 ; </a:t>
            </a:r>
            <a:r>
              <a:rPr lang="en-IN" dirty="0" err="1" smtClean="0"/>
              <a:t>j++</a:t>
            </a:r>
            <a:r>
              <a:rPr lang="en-IN" dirty="0" smtClean="0"/>
              <a:t>) {</a:t>
            </a:r>
          </a:p>
          <a:p>
            <a:pPr marL="0" indent="0">
              <a:buNone/>
            </a:pPr>
            <a:r>
              <a:rPr lang="en-IN" dirty="0" smtClean="0"/>
              <a:t>	average += grades[</a:t>
            </a:r>
            <a:r>
              <a:rPr lang="en-IN" dirty="0" err="1" smtClean="0"/>
              <a:t>i</a:t>
            </a:r>
            <a:r>
              <a:rPr lang="en-IN" dirty="0" smtClean="0"/>
              <a:t>][j];</a:t>
            </a:r>
          </a:p>
          <a:p>
            <a:pPr marL="0" indent="0">
              <a:buNone/>
            </a:pPr>
            <a:r>
              <a:rPr lang="en-IN" dirty="0" smtClean="0"/>
              <a:t>	}</a:t>
            </a:r>
          </a:p>
          <a:p>
            <a:pPr marL="0" indent="0">
              <a:buNone/>
            </a:pPr>
            <a:r>
              <a:rPr lang="en-IN" dirty="0" smtClean="0"/>
              <a:t>	</a:t>
            </a:r>
            <a:r>
              <a:rPr lang="en-IN" dirty="0" err="1" smtClean="0"/>
              <a:t>printf</a:t>
            </a:r>
            <a:r>
              <a:rPr lang="en-IN" dirty="0" smtClean="0"/>
              <a:t>("The average marks obtained in subject %d is: %.2f\n", </a:t>
            </a:r>
            <a:r>
              <a:rPr lang="en-IN" dirty="0" err="1" smtClean="0"/>
              <a:t>i</a:t>
            </a:r>
            <a:r>
              <a:rPr lang="en-IN" dirty="0" smtClean="0"/>
              <a:t>, average);</a:t>
            </a:r>
          </a:p>
          <a:p>
            <a:pPr marL="0" indent="0">
              <a:buNone/>
            </a:pPr>
            <a:r>
              <a:rPr lang="en-IN" dirty="0" smtClean="0"/>
              <a:t>}</a:t>
            </a:r>
          </a:p>
          <a:p>
            <a:pPr marL="0" indent="0">
              <a:buNone/>
            </a:pPr>
            <a:r>
              <a:rPr lang="en-IN" dirty="0" smtClean="0"/>
              <a:t>return 0;</a:t>
            </a:r>
          </a:p>
          <a:p>
            <a:pPr marL="0" indent="0">
              <a:buNone/>
            </a:pPr>
            <a:r>
              <a:rPr lang="en-IN" dirty="0" smtClean="0"/>
              <a:t>}</a:t>
            </a:r>
          </a:p>
          <a:p>
            <a:endParaRPr lang="en-IN" dirty="0"/>
          </a:p>
        </p:txBody>
      </p:sp>
    </p:spTree>
    <p:extLst>
      <p:ext uri="{BB962C8B-B14F-4D97-AF65-F5344CB8AC3E}">
        <p14:creationId xmlns:p14="http://schemas.microsoft.com/office/powerpoint/2010/main" val="1618620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796908"/>
          </a:xfrm>
        </p:spPr>
        <p:txBody>
          <a:bodyPr/>
          <a:lstStyle/>
          <a:p>
            <a:r>
              <a:rPr lang="en-GB" dirty="0" smtClean="0"/>
              <a:t>Multi dimensional Arrays</a:t>
            </a:r>
            <a:endParaRPr lang="en-GB" dirty="0"/>
          </a:p>
        </p:txBody>
      </p:sp>
      <p:sp>
        <p:nvSpPr>
          <p:cNvPr id="3" name="Content Placeholder 2"/>
          <p:cNvSpPr>
            <a:spLocks noGrp="1"/>
          </p:cNvSpPr>
          <p:nvPr>
            <p:ph idx="1"/>
          </p:nvPr>
        </p:nvSpPr>
        <p:spPr>
          <a:xfrm>
            <a:off x="100042" y="928670"/>
            <a:ext cx="8758238" cy="3571900"/>
          </a:xfrm>
        </p:spPr>
        <p:txBody>
          <a:bodyPr>
            <a:normAutofit fontScale="92500" lnSpcReduction="10000"/>
          </a:bodyPr>
          <a:lstStyle/>
          <a:p>
            <a:pPr>
              <a:lnSpc>
                <a:spcPct val="150000"/>
              </a:lnSpc>
            </a:pPr>
            <a:r>
              <a:rPr lang="en-GB" dirty="0" smtClean="0"/>
              <a:t> store the enrolment data for a college</a:t>
            </a:r>
          </a:p>
          <a:p>
            <a:pPr>
              <a:lnSpc>
                <a:spcPct val="150000"/>
              </a:lnSpc>
            </a:pPr>
            <a:r>
              <a:rPr lang="en-GB" dirty="0" smtClean="0"/>
              <a:t> assume that the college offers  100  ( MAXCRS ) courses at five different campuses</a:t>
            </a:r>
          </a:p>
          <a:p>
            <a:pPr>
              <a:lnSpc>
                <a:spcPct val="150000"/>
              </a:lnSpc>
            </a:pPr>
            <a:r>
              <a:rPr lang="en-GB" dirty="0" smtClean="0"/>
              <a:t>Students from any of the four years can opt for the courses</a:t>
            </a:r>
          </a:p>
          <a:p>
            <a:pPr>
              <a:lnSpc>
                <a:spcPct val="150000"/>
              </a:lnSpc>
            </a:pPr>
            <a:endParaRPr lang="en-GB" dirty="0" smtClean="0"/>
          </a:p>
          <a:p>
            <a:pPr>
              <a:lnSpc>
                <a:spcPct val="150000"/>
              </a:lnSpc>
            </a:pPr>
            <a:endParaRPr lang="en-GB" dirty="0"/>
          </a:p>
        </p:txBody>
      </p:sp>
      <p:pic>
        <p:nvPicPr>
          <p:cNvPr id="4" name="Picture 3"/>
          <p:cNvPicPr>
            <a:picLocks noChangeAspect="1" noChangeArrowheads="1"/>
          </p:cNvPicPr>
          <p:nvPr/>
        </p:nvPicPr>
        <p:blipFill>
          <a:blip r:embed="rId2"/>
          <a:srcRect/>
          <a:stretch>
            <a:fillRect/>
          </a:stretch>
        </p:blipFill>
        <p:spPr bwMode="auto">
          <a:xfrm>
            <a:off x="2143108" y="5500702"/>
            <a:ext cx="4111120" cy="1357322"/>
          </a:xfrm>
          <a:prstGeom prst="rect">
            <a:avLst/>
          </a:prstGeom>
          <a:noFill/>
          <a:ln w="9525">
            <a:noFill/>
            <a:miter lim="800000"/>
            <a:headEnd/>
            <a:tailEnd/>
          </a:ln>
          <a:effectLst/>
        </p:spPr>
      </p:pic>
      <p:pic>
        <p:nvPicPr>
          <p:cNvPr id="5" name="Picture 4"/>
          <p:cNvPicPr>
            <a:picLocks noChangeAspect="1" noChangeArrowheads="1"/>
          </p:cNvPicPr>
          <p:nvPr/>
        </p:nvPicPr>
        <p:blipFill>
          <a:blip r:embed="rId3"/>
          <a:srcRect/>
          <a:stretch>
            <a:fillRect/>
          </a:stretch>
        </p:blipFill>
        <p:spPr bwMode="auto">
          <a:xfrm>
            <a:off x="1428727" y="4443200"/>
            <a:ext cx="5757253" cy="642942"/>
          </a:xfrm>
          <a:prstGeom prst="rect">
            <a:avLst/>
          </a:prstGeom>
          <a:noFill/>
          <a:ln w="9525">
            <a:noFill/>
            <a:miter lim="800000"/>
            <a:headEnd/>
            <a:tailEnd/>
          </a:ln>
          <a:effectLst/>
        </p:spPr>
      </p:pic>
    </p:spTree>
    <p:extLst>
      <p:ext uri="{BB962C8B-B14F-4D97-AF65-F5344CB8AC3E}">
        <p14:creationId xmlns:p14="http://schemas.microsoft.com/office/powerpoint/2010/main" val="1602322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srcRect/>
          <a:stretch>
            <a:fillRect/>
          </a:stretch>
        </p:blipFill>
        <p:spPr bwMode="auto">
          <a:xfrm>
            <a:off x="785786" y="642918"/>
            <a:ext cx="6715172" cy="4979985"/>
          </a:xfrm>
          <a:prstGeom prst="rect">
            <a:avLst/>
          </a:prstGeom>
          <a:noFill/>
          <a:ln w="9525">
            <a:noFill/>
            <a:miter lim="800000"/>
            <a:headEnd/>
            <a:tailEnd/>
          </a:ln>
          <a:effectLst/>
        </p:spPr>
      </p:pic>
    </p:spTree>
    <p:extLst>
      <p:ext uri="{BB962C8B-B14F-4D97-AF65-F5344CB8AC3E}">
        <p14:creationId xmlns:p14="http://schemas.microsoft.com/office/powerpoint/2010/main" val="930728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Three dimensional Array</a:t>
            </a:r>
            <a:endParaRPr lang="en-IN" dirty="0"/>
          </a:p>
        </p:txBody>
      </p:sp>
      <p:sp>
        <p:nvSpPr>
          <p:cNvPr id="6" name="Content Placeholder 5"/>
          <p:cNvSpPr>
            <a:spLocks noGrp="1"/>
          </p:cNvSpPr>
          <p:nvPr>
            <p:ph idx="1"/>
          </p:nvPr>
        </p:nvSpPr>
        <p:spPr/>
        <p:txBody>
          <a:bodyPr/>
          <a:lstStyle/>
          <a:p>
            <a:r>
              <a:rPr lang="en-US" dirty="0" smtClean="0"/>
              <a:t>[</a:t>
            </a:r>
            <a:r>
              <a:rPr lang="en-US" dirty="0" err="1" smtClean="0"/>
              <a:t>i</a:t>
            </a:r>
            <a:r>
              <a:rPr lang="en-US" dirty="0" smtClean="0"/>
              <a:t>][j][k]    </a:t>
            </a:r>
            <a:r>
              <a:rPr lang="en-US" dirty="0" smtClean="0"/>
              <a:t>[0][1][1]</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132856"/>
            <a:ext cx="7726713" cy="3838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58209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204863"/>
            <a:ext cx="5472608" cy="5028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49270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90066"/>
          </a:xfrm>
        </p:spPr>
        <p:txBody>
          <a:bodyPr>
            <a:normAutofit fontScale="90000"/>
          </a:bodyPr>
          <a:lstStyle/>
          <a:p>
            <a:r>
              <a:rPr lang="en-US" dirty="0" smtClean="0"/>
              <a:t>Example</a:t>
            </a:r>
            <a:endParaRPr lang="en-IN" dirty="0"/>
          </a:p>
        </p:txBody>
      </p:sp>
      <p:sp>
        <p:nvSpPr>
          <p:cNvPr id="5" name="Content Placeholder 4"/>
          <p:cNvSpPr>
            <a:spLocks noGrp="1"/>
          </p:cNvSpPr>
          <p:nvPr>
            <p:ph sz="half" idx="1"/>
          </p:nvPr>
        </p:nvSpPr>
        <p:spPr>
          <a:xfrm>
            <a:off x="0" y="1124744"/>
            <a:ext cx="4495800" cy="5688632"/>
          </a:xfrm>
        </p:spPr>
        <p:txBody>
          <a:bodyPr>
            <a:normAutofit fontScale="77500" lnSpcReduction="20000"/>
          </a:bodyPr>
          <a:lstStyle/>
          <a:p>
            <a:pPr marL="0" indent="0">
              <a:buNone/>
            </a:pPr>
            <a:r>
              <a:rPr lang="en-IN" dirty="0" smtClean="0"/>
              <a:t>#include &lt;</a:t>
            </a:r>
            <a:r>
              <a:rPr lang="en-IN" dirty="0" err="1" smtClean="0"/>
              <a:t>stdio.h</a:t>
            </a:r>
            <a:r>
              <a:rPr lang="en-IN" dirty="0" smtClean="0"/>
              <a:t>&gt;</a:t>
            </a:r>
          </a:p>
          <a:p>
            <a:pPr marL="0" indent="0">
              <a:buNone/>
            </a:pPr>
            <a:r>
              <a:rPr lang="en-IN" dirty="0" err="1" smtClean="0"/>
              <a:t>int</a:t>
            </a:r>
            <a:r>
              <a:rPr lang="en-IN" dirty="0" smtClean="0"/>
              <a:t> main()</a:t>
            </a:r>
          </a:p>
          <a:p>
            <a:pPr marL="0" indent="0">
              <a:buNone/>
            </a:pPr>
            <a:r>
              <a:rPr lang="en-IN" dirty="0" smtClean="0"/>
              <a:t>{</a:t>
            </a:r>
          </a:p>
          <a:p>
            <a:pPr marL="0" indent="0">
              <a:buNone/>
            </a:pPr>
            <a:r>
              <a:rPr lang="en-IN" dirty="0" smtClean="0"/>
              <a:t>    </a:t>
            </a:r>
            <a:r>
              <a:rPr lang="en-IN" dirty="0" err="1" smtClean="0"/>
              <a:t>int</a:t>
            </a:r>
            <a:r>
              <a:rPr lang="en-IN" dirty="0" smtClean="0"/>
              <a:t> marks[2][3][2];</a:t>
            </a:r>
          </a:p>
          <a:p>
            <a:pPr marL="0" indent="0">
              <a:buNone/>
            </a:pPr>
            <a:r>
              <a:rPr lang="en-IN" dirty="0" smtClean="0"/>
              <a:t>    marks[0][0][0]=67;</a:t>
            </a:r>
          </a:p>
          <a:p>
            <a:pPr marL="0" indent="0">
              <a:buNone/>
            </a:pPr>
            <a:r>
              <a:rPr lang="en-IN" dirty="0" smtClean="0"/>
              <a:t>    marks[0][0][1]=45;</a:t>
            </a:r>
          </a:p>
          <a:p>
            <a:pPr marL="0" indent="0">
              <a:buNone/>
            </a:pPr>
            <a:r>
              <a:rPr lang="en-IN" dirty="0" smtClean="0"/>
              <a:t>    marks[0][1][0]=56;</a:t>
            </a:r>
          </a:p>
          <a:p>
            <a:pPr marL="0" indent="0">
              <a:buNone/>
            </a:pPr>
            <a:r>
              <a:rPr lang="en-IN" dirty="0" smtClean="0"/>
              <a:t>    marks[0][1][1]=78;</a:t>
            </a:r>
          </a:p>
          <a:p>
            <a:pPr marL="0" indent="0">
              <a:buNone/>
            </a:pPr>
            <a:r>
              <a:rPr lang="en-IN" dirty="0" smtClean="0"/>
              <a:t>    marks[0][2][0]=56;</a:t>
            </a:r>
          </a:p>
          <a:p>
            <a:pPr marL="0" indent="0">
              <a:buNone/>
            </a:pPr>
            <a:r>
              <a:rPr lang="en-IN" dirty="0" smtClean="0"/>
              <a:t>    marks[0][2][1]=89;</a:t>
            </a:r>
          </a:p>
          <a:p>
            <a:pPr marL="0" indent="0">
              <a:buNone/>
            </a:pPr>
            <a:r>
              <a:rPr lang="en-IN" dirty="0" smtClean="0"/>
              <a:t>    marks[1][0][0]=45;</a:t>
            </a:r>
          </a:p>
          <a:p>
            <a:pPr marL="0" indent="0">
              <a:buNone/>
            </a:pPr>
            <a:r>
              <a:rPr lang="en-IN" dirty="0" smtClean="0"/>
              <a:t>    marks[1][0][1]=69;</a:t>
            </a:r>
          </a:p>
          <a:p>
            <a:pPr marL="0" indent="0">
              <a:buNone/>
            </a:pPr>
            <a:r>
              <a:rPr lang="en-IN" dirty="0" smtClean="0"/>
              <a:t>    marks[1][1][0]=50;</a:t>
            </a:r>
          </a:p>
          <a:p>
            <a:pPr marL="0" indent="0">
              <a:buNone/>
            </a:pPr>
            <a:r>
              <a:rPr lang="en-IN" dirty="0" smtClean="0"/>
              <a:t>    marks[1][1][1]=90;</a:t>
            </a:r>
          </a:p>
          <a:p>
            <a:pPr marL="0" indent="0">
              <a:buNone/>
            </a:pPr>
            <a:r>
              <a:rPr lang="en-IN" dirty="0" smtClean="0"/>
              <a:t>    marks[1][2][0]=91;</a:t>
            </a:r>
          </a:p>
          <a:p>
            <a:pPr marL="0" indent="0">
              <a:buNone/>
            </a:pPr>
            <a:r>
              <a:rPr lang="en-IN" dirty="0" smtClean="0"/>
              <a:t>    marks[1][2][1]=72;</a:t>
            </a:r>
          </a:p>
        </p:txBody>
      </p:sp>
      <p:sp>
        <p:nvSpPr>
          <p:cNvPr id="6" name="Content Placeholder 5"/>
          <p:cNvSpPr>
            <a:spLocks noGrp="1"/>
          </p:cNvSpPr>
          <p:nvPr>
            <p:ph sz="half" idx="2"/>
          </p:nvPr>
        </p:nvSpPr>
        <p:spPr>
          <a:xfrm>
            <a:off x="3995936" y="980728"/>
            <a:ext cx="4690864" cy="5400600"/>
          </a:xfrm>
        </p:spPr>
        <p:txBody>
          <a:bodyPr>
            <a:normAutofit fontScale="77500" lnSpcReduction="20000"/>
          </a:bodyPr>
          <a:lstStyle/>
          <a:p>
            <a:pPr marL="0" indent="0">
              <a:buNone/>
            </a:pPr>
            <a:r>
              <a:rPr lang="en-IN" dirty="0" smtClean="0"/>
              <a:t> for(</a:t>
            </a:r>
            <a:r>
              <a:rPr lang="en-IN" dirty="0" err="1" smtClean="0"/>
              <a:t>int</a:t>
            </a:r>
            <a:r>
              <a:rPr lang="en-IN" dirty="0" smtClean="0"/>
              <a:t> </a:t>
            </a:r>
            <a:r>
              <a:rPr lang="en-IN" dirty="0" err="1" smtClean="0"/>
              <a:t>i</a:t>
            </a:r>
            <a:r>
              <a:rPr lang="en-IN" dirty="0" smtClean="0"/>
              <a:t>=0; </a:t>
            </a:r>
            <a:r>
              <a:rPr lang="en-IN" dirty="0" err="1" smtClean="0"/>
              <a:t>i</a:t>
            </a:r>
            <a:r>
              <a:rPr lang="en-IN" dirty="0" smtClean="0"/>
              <a:t>&lt;2;i++){</a:t>
            </a:r>
          </a:p>
          <a:p>
            <a:pPr marL="0" indent="0">
              <a:buNone/>
            </a:pPr>
            <a:r>
              <a:rPr lang="en-IN" dirty="0" smtClean="0"/>
              <a:t>       for(</a:t>
            </a:r>
            <a:r>
              <a:rPr lang="en-IN" dirty="0" err="1" smtClean="0"/>
              <a:t>int</a:t>
            </a:r>
            <a:r>
              <a:rPr lang="en-IN" dirty="0" smtClean="0"/>
              <a:t> j=0; j&lt;3;j++){</a:t>
            </a:r>
          </a:p>
          <a:p>
            <a:pPr marL="0" indent="0">
              <a:buNone/>
            </a:pPr>
            <a:r>
              <a:rPr lang="en-IN" dirty="0" smtClean="0"/>
              <a:t>            for(</a:t>
            </a:r>
            <a:r>
              <a:rPr lang="en-IN" dirty="0" err="1" smtClean="0"/>
              <a:t>int</a:t>
            </a:r>
            <a:r>
              <a:rPr lang="en-IN" dirty="0" smtClean="0"/>
              <a:t> k=0; k&lt;2;k++){</a:t>
            </a:r>
          </a:p>
          <a:p>
            <a:pPr marL="0" indent="0">
              <a:buNone/>
            </a:pPr>
            <a:r>
              <a:rPr lang="en-IN" dirty="0" smtClean="0"/>
              <a:t>            </a:t>
            </a:r>
            <a:r>
              <a:rPr lang="en-IN" dirty="0" err="1" smtClean="0"/>
              <a:t>printf</a:t>
            </a:r>
            <a:r>
              <a:rPr lang="en-IN" dirty="0" smtClean="0"/>
              <a:t>("%d\</a:t>
            </a:r>
            <a:r>
              <a:rPr lang="en-IN" dirty="0" err="1" smtClean="0"/>
              <a:t>n",marks</a:t>
            </a:r>
            <a:r>
              <a:rPr lang="en-IN" dirty="0" smtClean="0"/>
              <a:t>[</a:t>
            </a:r>
            <a:r>
              <a:rPr lang="en-IN" dirty="0" err="1" smtClean="0"/>
              <a:t>i</a:t>
            </a:r>
            <a:r>
              <a:rPr lang="en-IN" dirty="0" smtClean="0"/>
              <a:t>][j][k]);</a:t>
            </a:r>
          </a:p>
          <a:p>
            <a:pPr marL="0" indent="0">
              <a:buNone/>
            </a:pPr>
            <a:r>
              <a:rPr lang="en-IN" dirty="0" smtClean="0"/>
              <a:t>            }</a:t>
            </a:r>
          </a:p>
          <a:p>
            <a:pPr marL="0" indent="0">
              <a:buNone/>
            </a:pPr>
            <a:r>
              <a:rPr lang="en-IN" dirty="0" smtClean="0"/>
              <a:t>        }</a:t>
            </a:r>
          </a:p>
          <a:p>
            <a:pPr marL="0" indent="0">
              <a:buNone/>
            </a:pPr>
            <a:r>
              <a:rPr lang="en-IN" dirty="0" smtClean="0"/>
              <a:t>    }</a:t>
            </a:r>
          </a:p>
          <a:p>
            <a:pPr marL="0" indent="0">
              <a:buNone/>
            </a:pPr>
            <a:r>
              <a:rPr lang="en-IN" dirty="0" smtClean="0"/>
              <a:t>return 0;</a:t>
            </a:r>
          </a:p>
          <a:p>
            <a:pPr marL="0" indent="0">
              <a:buNone/>
            </a:pPr>
            <a:r>
              <a:rPr lang="en-IN" dirty="0" smtClean="0"/>
              <a:t>}</a:t>
            </a:r>
            <a:endParaRPr lang="en-IN" dirty="0"/>
          </a:p>
        </p:txBody>
      </p:sp>
    </p:spTree>
    <p:extLst>
      <p:ext uri="{BB962C8B-B14F-4D97-AF65-F5344CB8AC3E}">
        <p14:creationId xmlns:p14="http://schemas.microsoft.com/office/powerpoint/2010/main" val="3232138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a:xfrm>
            <a:off x="251520" y="1052736"/>
            <a:ext cx="8640960" cy="5805264"/>
          </a:xfrm>
        </p:spPr>
        <p:txBody>
          <a:bodyPr>
            <a:normAutofit fontScale="70000" lnSpcReduction="20000"/>
          </a:bodyPr>
          <a:lstStyle/>
          <a:p>
            <a:pPr marL="0" indent="0" fontAlgn="base">
              <a:buNone/>
            </a:pPr>
            <a:r>
              <a:rPr lang="en-IN" dirty="0"/>
              <a:t>#include&lt;</a:t>
            </a:r>
            <a:r>
              <a:rPr lang="en-IN" dirty="0" err="1"/>
              <a:t>stdio.h</a:t>
            </a:r>
            <a:r>
              <a:rPr lang="en-IN" dirty="0"/>
              <a:t>&gt;</a:t>
            </a:r>
          </a:p>
          <a:p>
            <a:pPr marL="0" indent="0" fontAlgn="base">
              <a:buNone/>
            </a:pPr>
            <a:r>
              <a:rPr lang="en-IN" dirty="0" err="1"/>
              <a:t>int</a:t>
            </a:r>
            <a:r>
              <a:rPr lang="en-IN" dirty="0"/>
              <a:t> main()</a:t>
            </a:r>
          </a:p>
          <a:p>
            <a:pPr marL="0" indent="0" fontAlgn="base">
              <a:buNone/>
            </a:pPr>
            <a:r>
              <a:rPr lang="en-IN" dirty="0"/>
              <a:t>{</a:t>
            </a:r>
          </a:p>
          <a:p>
            <a:pPr marL="0" indent="0" fontAlgn="base">
              <a:buNone/>
            </a:pPr>
            <a:r>
              <a:rPr lang="en-IN" dirty="0" err="1"/>
              <a:t>int</a:t>
            </a:r>
            <a:r>
              <a:rPr lang="en-IN" dirty="0"/>
              <a:t> x[2][3][2]={{{0,1},{2,3},{4,5}},{{6,7},{8,9},{10,11}}};</a:t>
            </a:r>
          </a:p>
          <a:p>
            <a:pPr marL="0" indent="0" fontAlgn="base">
              <a:buNone/>
            </a:pPr>
            <a:r>
              <a:rPr lang="en-IN" dirty="0"/>
              <a:t>for (</a:t>
            </a:r>
            <a:r>
              <a:rPr lang="en-IN" dirty="0" err="1"/>
              <a:t>int</a:t>
            </a:r>
            <a:r>
              <a:rPr lang="en-IN" dirty="0"/>
              <a:t> </a:t>
            </a:r>
            <a:r>
              <a:rPr lang="en-IN" dirty="0" err="1"/>
              <a:t>i</a:t>
            </a:r>
            <a:r>
              <a:rPr lang="en-IN" dirty="0"/>
              <a:t> = 0; </a:t>
            </a:r>
            <a:r>
              <a:rPr lang="en-IN" dirty="0" err="1"/>
              <a:t>i</a:t>
            </a:r>
            <a:r>
              <a:rPr lang="en-IN" dirty="0"/>
              <a:t> &lt; 2; ++</a:t>
            </a:r>
            <a:r>
              <a:rPr lang="en-IN" dirty="0" err="1"/>
              <a:t>i</a:t>
            </a:r>
            <a:r>
              <a:rPr lang="en-IN" dirty="0"/>
              <a:t>)</a:t>
            </a:r>
          </a:p>
          <a:p>
            <a:pPr marL="0" indent="0" fontAlgn="base">
              <a:buNone/>
            </a:pPr>
            <a:r>
              <a:rPr lang="en-IN" dirty="0"/>
              <a:t>{</a:t>
            </a:r>
          </a:p>
          <a:p>
            <a:pPr marL="0" indent="0" fontAlgn="base">
              <a:buNone/>
            </a:pPr>
            <a:r>
              <a:rPr lang="en-IN" dirty="0"/>
              <a:t>for (</a:t>
            </a:r>
            <a:r>
              <a:rPr lang="en-IN" dirty="0" err="1"/>
              <a:t>int</a:t>
            </a:r>
            <a:r>
              <a:rPr lang="en-IN" dirty="0"/>
              <a:t> j = 0; j &lt; 3; ++j)</a:t>
            </a:r>
          </a:p>
          <a:p>
            <a:pPr marL="0" indent="0" fontAlgn="base">
              <a:buNone/>
            </a:pPr>
            <a:r>
              <a:rPr lang="en-IN" dirty="0"/>
              <a:t>{</a:t>
            </a:r>
          </a:p>
          <a:p>
            <a:pPr marL="0" indent="0" fontAlgn="base">
              <a:buNone/>
            </a:pPr>
            <a:r>
              <a:rPr lang="en-IN" dirty="0"/>
              <a:t>for (</a:t>
            </a:r>
            <a:r>
              <a:rPr lang="en-IN" dirty="0" err="1"/>
              <a:t>int</a:t>
            </a:r>
            <a:r>
              <a:rPr lang="en-IN" dirty="0"/>
              <a:t> k = 0; k &lt; 2; ++k)</a:t>
            </a:r>
          </a:p>
          <a:p>
            <a:pPr marL="0" indent="0" fontAlgn="base">
              <a:buNone/>
            </a:pPr>
            <a:r>
              <a:rPr lang="en-IN" dirty="0"/>
              <a:t>{</a:t>
            </a:r>
          </a:p>
          <a:p>
            <a:pPr marL="0" indent="0" fontAlgn="base">
              <a:buNone/>
            </a:pPr>
            <a:r>
              <a:rPr lang="en-IN" dirty="0" err="1"/>
              <a:t>printf</a:t>
            </a:r>
            <a:r>
              <a:rPr lang="en-IN" dirty="0"/>
              <a:t>("%d\</a:t>
            </a:r>
            <a:r>
              <a:rPr lang="en-IN" dirty="0" err="1"/>
              <a:t>n",x</a:t>
            </a:r>
            <a:r>
              <a:rPr lang="en-IN" dirty="0"/>
              <a:t>[</a:t>
            </a:r>
            <a:r>
              <a:rPr lang="en-IN" dirty="0" err="1"/>
              <a:t>i</a:t>
            </a:r>
            <a:r>
              <a:rPr lang="en-IN" dirty="0"/>
              <a:t>][j][k]);</a:t>
            </a:r>
          </a:p>
          <a:p>
            <a:pPr marL="0" indent="0" fontAlgn="base">
              <a:buNone/>
            </a:pPr>
            <a:r>
              <a:rPr lang="en-IN" dirty="0"/>
              <a:t>}</a:t>
            </a:r>
          </a:p>
          <a:p>
            <a:pPr marL="0" indent="0" fontAlgn="base">
              <a:buNone/>
            </a:pPr>
            <a:r>
              <a:rPr lang="en-IN" dirty="0"/>
              <a:t>}</a:t>
            </a:r>
          </a:p>
          <a:p>
            <a:pPr marL="0" indent="0" fontAlgn="base">
              <a:buNone/>
            </a:pPr>
            <a:r>
              <a:rPr lang="en-IN" dirty="0"/>
              <a:t>}</a:t>
            </a:r>
          </a:p>
          <a:p>
            <a:pPr marL="0" indent="0" fontAlgn="base">
              <a:buNone/>
            </a:pPr>
            <a:r>
              <a:rPr lang="en-IN" dirty="0"/>
              <a:t>return 0;</a:t>
            </a:r>
          </a:p>
          <a:p>
            <a:pPr marL="0" indent="0" fontAlgn="base">
              <a:buNone/>
            </a:pPr>
            <a:r>
              <a:rPr lang="en-IN" dirty="0"/>
              <a:t>}</a:t>
            </a:r>
            <a:endParaRPr lang="en-IN" dirty="0"/>
          </a:p>
        </p:txBody>
      </p:sp>
    </p:spTree>
    <p:extLst>
      <p:ext uri="{BB962C8B-B14F-4D97-AF65-F5344CB8AC3E}">
        <p14:creationId xmlns:p14="http://schemas.microsoft.com/office/powerpoint/2010/main" val="14518176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Problems</a:t>
            </a:r>
            <a:endParaRPr lang="en-IN" dirty="0"/>
          </a:p>
        </p:txBody>
      </p:sp>
      <p:sp>
        <p:nvSpPr>
          <p:cNvPr id="3" name="Content Placeholder 2"/>
          <p:cNvSpPr>
            <a:spLocks noGrp="1"/>
          </p:cNvSpPr>
          <p:nvPr>
            <p:ph idx="1"/>
          </p:nvPr>
        </p:nvSpPr>
        <p:spPr/>
        <p:txBody>
          <a:bodyPr/>
          <a:lstStyle/>
          <a:p>
            <a:r>
              <a:rPr lang="en-US" dirty="0" smtClean="0"/>
              <a:t>Find </a:t>
            </a:r>
            <a:r>
              <a:rPr lang="en-US" dirty="0"/>
              <a:t>max &amp; min array </a:t>
            </a:r>
            <a:r>
              <a:rPr lang="en-US" dirty="0" smtClean="0"/>
              <a:t>elements</a:t>
            </a:r>
          </a:p>
          <a:p>
            <a:r>
              <a:rPr lang="en-US" dirty="0" smtClean="0"/>
              <a:t>Count </a:t>
            </a:r>
            <a:r>
              <a:rPr lang="en-US" dirty="0"/>
              <a:t>frequency of each </a:t>
            </a:r>
            <a:r>
              <a:rPr lang="en-US" dirty="0" smtClean="0"/>
              <a:t>element</a:t>
            </a:r>
          </a:p>
          <a:p>
            <a:r>
              <a:rPr lang="en-US" dirty="0" smtClean="0"/>
              <a:t>Search </a:t>
            </a:r>
            <a:r>
              <a:rPr lang="en-US" dirty="0"/>
              <a:t>a number in an </a:t>
            </a:r>
            <a:r>
              <a:rPr lang="en-US" dirty="0" smtClean="0"/>
              <a:t>array</a:t>
            </a:r>
          </a:p>
          <a:p>
            <a:r>
              <a:rPr lang="en-US" dirty="0" smtClean="0"/>
              <a:t>Sort </a:t>
            </a:r>
            <a:r>
              <a:rPr lang="en-US" dirty="0"/>
              <a:t>array in ascending </a:t>
            </a:r>
            <a:r>
              <a:rPr lang="en-US" dirty="0" smtClean="0"/>
              <a:t>order</a:t>
            </a:r>
          </a:p>
          <a:p>
            <a:r>
              <a:rPr lang="en-IN" dirty="0"/>
              <a:t>Sum of two matrices</a:t>
            </a:r>
          </a:p>
        </p:txBody>
      </p:sp>
    </p:spTree>
    <p:extLst>
      <p:ext uri="{BB962C8B-B14F-4D97-AF65-F5344CB8AC3E}">
        <p14:creationId xmlns:p14="http://schemas.microsoft.com/office/powerpoint/2010/main" val="2252627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18373</TotalTime>
  <Words>834</Words>
  <Application>Microsoft Office PowerPoint</Application>
  <PresentationFormat>On-screen Show (4:3)</PresentationFormat>
  <Paragraphs>131</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ARRAYS</vt:lpstr>
      <vt:lpstr>ARRAYS</vt:lpstr>
      <vt:lpstr>Properties of Array </vt:lpstr>
      <vt:lpstr>One Dimensional Array</vt:lpstr>
      <vt:lpstr>Single dimensional arrays</vt:lpstr>
      <vt:lpstr>Example 1</vt:lpstr>
      <vt:lpstr>Initializing Arrays</vt:lpstr>
      <vt:lpstr>Two-dimensional arrays</vt:lpstr>
      <vt:lpstr>2D Example</vt:lpstr>
      <vt:lpstr>Initializing 2D Array</vt:lpstr>
      <vt:lpstr>Example</vt:lpstr>
      <vt:lpstr>Multi dimensional Arrays</vt:lpstr>
      <vt:lpstr>PowerPoint Presentation</vt:lpstr>
      <vt:lpstr>Three dimensional Array</vt:lpstr>
      <vt:lpstr>PowerPoint Presentation</vt:lpstr>
      <vt:lpstr>Example</vt:lpstr>
      <vt:lpstr>Example</vt:lpstr>
      <vt:lpstr>Practice Problems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Admin</dc:creator>
  <cp:lastModifiedBy>Admin</cp:lastModifiedBy>
  <cp:revision>26</cp:revision>
  <dcterms:created xsi:type="dcterms:W3CDTF">2021-02-08T06:17:01Z</dcterms:created>
  <dcterms:modified xsi:type="dcterms:W3CDTF">2022-03-04T06:41:58Z</dcterms:modified>
</cp:coreProperties>
</file>