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640C-310C-440F-8857-A2C83C874724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420D8-910F-4D29-8B44-DC11A67A1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908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640C-310C-440F-8857-A2C83C874724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420D8-910F-4D29-8B44-DC11A67A1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296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640C-310C-440F-8857-A2C83C874724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420D8-910F-4D29-8B44-DC11A67A1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986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640C-310C-440F-8857-A2C83C874724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420D8-910F-4D29-8B44-DC11A67A1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414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640C-310C-440F-8857-A2C83C874724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420D8-910F-4D29-8B44-DC11A67A1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759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640C-310C-440F-8857-A2C83C874724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420D8-910F-4D29-8B44-DC11A67A1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777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640C-310C-440F-8857-A2C83C874724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420D8-910F-4D29-8B44-DC11A67A1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47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640C-310C-440F-8857-A2C83C874724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420D8-910F-4D29-8B44-DC11A67A1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695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640C-310C-440F-8857-A2C83C874724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420D8-910F-4D29-8B44-DC11A67A1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785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640C-310C-440F-8857-A2C83C874724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420D8-910F-4D29-8B44-DC11A67A1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772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640C-310C-440F-8857-A2C83C874724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420D8-910F-4D29-8B44-DC11A67A1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706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F640C-310C-440F-8857-A2C83C874724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420D8-910F-4D29-8B44-DC11A67A10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154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Structures in 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15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Structure is a collection of variables of different types under a single name.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Each element in a C structure is called member.</a:t>
            </a:r>
          </a:p>
        </p:txBody>
      </p:sp>
    </p:spTree>
    <p:extLst>
      <p:ext uri="{BB962C8B-B14F-4D97-AF65-F5344CB8AC3E}">
        <p14:creationId xmlns:p14="http://schemas.microsoft.com/office/powerpoint/2010/main" val="838764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Syntax of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Keyword </a:t>
            </a:r>
            <a:r>
              <a:rPr lang="en-IN" dirty="0" err="1">
                <a:solidFill>
                  <a:srgbClr val="FF0000"/>
                </a:solidFill>
              </a:rPr>
              <a:t>struct</a:t>
            </a:r>
            <a:r>
              <a:rPr lang="en-IN" dirty="0">
                <a:solidFill>
                  <a:srgbClr val="FF0000"/>
                </a:solidFill>
              </a:rPr>
              <a:t> </a:t>
            </a:r>
            <a:r>
              <a:rPr lang="en-IN" dirty="0"/>
              <a:t>is used for creating a structure.</a:t>
            </a:r>
          </a:p>
          <a:p>
            <a:r>
              <a:rPr lang="en-IN" dirty="0"/>
              <a:t>The </a:t>
            </a:r>
            <a:r>
              <a:rPr lang="en-IN" dirty="0" err="1">
                <a:solidFill>
                  <a:srgbClr val="FF0000"/>
                </a:solidFill>
              </a:rPr>
              <a:t>struct</a:t>
            </a:r>
            <a:r>
              <a:rPr lang="en-IN" dirty="0"/>
              <a:t> statement defines a new data type, with more than one member.</a:t>
            </a:r>
          </a:p>
          <a:p>
            <a:endParaRPr lang="en-IN" dirty="0"/>
          </a:p>
          <a:p>
            <a:pPr marL="400050" lvl="1" indent="0">
              <a:buNone/>
            </a:pPr>
            <a:r>
              <a:rPr lang="en-IN" dirty="0" err="1">
                <a:solidFill>
                  <a:srgbClr val="FF0000"/>
                </a:solidFill>
              </a:rPr>
              <a:t>struct</a:t>
            </a:r>
            <a:r>
              <a:rPr lang="en-IN" dirty="0">
                <a:solidFill>
                  <a:srgbClr val="FF0000"/>
                </a:solidFill>
              </a:rPr>
              <a:t> [structure tag] {</a:t>
            </a:r>
          </a:p>
          <a:p>
            <a:pPr marL="400050" lvl="1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40005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   member definition;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   member definition;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   ...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   member definition;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} [one or more structure variables]; </a:t>
            </a:r>
          </a:p>
        </p:txBody>
      </p:sp>
    </p:spTree>
    <p:extLst>
      <p:ext uri="{BB962C8B-B14F-4D97-AF65-F5344CB8AC3E}">
        <p14:creationId xmlns:p14="http://schemas.microsoft.com/office/powerpoint/2010/main" val="2331171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Example of Structure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>
                <a:solidFill>
                  <a:srgbClr val="00B050"/>
                </a:solidFill>
              </a:rPr>
              <a:t>struct</a:t>
            </a:r>
            <a:r>
              <a:rPr lang="en-IN" dirty="0">
                <a:solidFill>
                  <a:srgbClr val="00B050"/>
                </a:solidFill>
              </a:rPr>
              <a:t> person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char name[50];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</a:t>
            </a:r>
            <a:r>
              <a:rPr lang="en-IN" dirty="0" err="1">
                <a:solidFill>
                  <a:srgbClr val="00B050"/>
                </a:solidFill>
              </a:rPr>
              <a:t>int</a:t>
            </a:r>
            <a:r>
              <a:rPr lang="en-IN" dirty="0">
                <a:solidFill>
                  <a:srgbClr val="00B050"/>
                </a:solidFill>
              </a:rPr>
              <a:t> </a:t>
            </a:r>
            <a:r>
              <a:rPr lang="en-IN" dirty="0" err="1">
                <a:solidFill>
                  <a:srgbClr val="00B050"/>
                </a:solidFill>
              </a:rPr>
              <a:t>citNo</a:t>
            </a:r>
            <a:r>
              <a:rPr lang="en-IN" dirty="0">
                <a:solidFill>
                  <a:srgbClr val="00B050"/>
                </a:solidFill>
              </a:rPr>
              <a:t>;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float salary;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534403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Structure variable declaration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23528" y="1600200"/>
            <a:ext cx="4172272" cy="5069160"/>
          </a:xfrm>
          <a:ln>
            <a:solidFill>
              <a:srgbClr val="00B0F0"/>
            </a:solidFill>
          </a:ln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 err="1"/>
              <a:t>struct</a:t>
            </a:r>
            <a:r>
              <a:rPr lang="en-IN" dirty="0"/>
              <a:t> person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char name[50];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citNo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float salary;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struct</a:t>
            </a:r>
            <a:r>
              <a:rPr lang="en-IN" dirty="0"/>
              <a:t> person person1, person2;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5069160"/>
          </a:xfrm>
          <a:ln>
            <a:solidFill>
              <a:srgbClr val="00B0F0"/>
            </a:solidFill>
          </a:ln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 err="1"/>
              <a:t>struct</a:t>
            </a:r>
            <a:r>
              <a:rPr lang="en-IN" dirty="0"/>
              <a:t> person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char name[50];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citNo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float salary;</a:t>
            </a:r>
          </a:p>
          <a:p>
            <a:pPr marL="0" indent="0">
              <a:buNone/>
            </a:pPr>
            <a:r>
              <a:rPr lang="en-IN" dirty="0"/>
              <a:t>} person1, person2;</a:t>
            </a:r>
          </a:p>
        </p:txBody>
      </p:sp>
    </p:spTree>
    <p:extLst>
      <p:ext uri="{BB962C8B-B14F-4D97-AF65-F5344CB8AC3E}">
        <p14:creationId xmlns:p14="http://schemas.microsoft.com/office/powerpoint/2010/main" val="3612398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936104"/>
          </a:xfrm>
        </p:spPr>
        <p:txBody>
          <a:bodyPr>
            <a:normAutofit/>
          </a:bodyPr>
          <a:lstStyle/>
          <a:p>
            <a:r>
              <a:rPr lang="en-IN" b="1" dirty="0"/>
              <a:t>Accessing members of a structure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72608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There are two types of operators used for accessing members of a structure.</a:t>
            </a:r>
          </a:p>
          <a:p>
            <a:pPr lvl="1"/>
            <a:r>
              <a:rPr lang="en-IN" dirty="0"/>
              <a:t>Member operator(.)</a:t>
            </a:r>
          </a:p>
          <a:p>
            <a:pPr lvl="1"/>
            <a:r>
              <a:rPr lang="en-IN" dirty="0"/>
              <a:t>Structure pointer operator(-&gt;)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Any member of a structure can be accessed as: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>
                <a:solidFill>
                  <a:srgbClr val="FF0000"/>
                </a:solidFill>
              </a:rPr>
              <a:t>structure_variable_name.member_name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r>
              <a:rPr lang="en-IN" dirty="0"/>
              <a:t>Suppose, we want to access salary for variable person2. Then, it can be accessed as: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solidFill>
                  <a:srgbClr val="FF0000"/>
                </a:solidFill>
              </a:rPr>
              <a:t>person2.salary</a:t>
            </a:r>
          </a:p>
        </p:txBody>
      </p:sp>
    </p:spTree>
    <p:extLst>
      <p:ext uri="{BB962C8B-B14F-4D97-AF65-F5344CB8AC3E}">
        <p14:creationId xmlns:p14="http://schemas.microsoft.com/office/powerpoint/2010/main" val="1426362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796"/>
            <a:ext cx="8229600" cy="686900"/>
          </a:xfrm>
        </p:spPr>
        <p:txBody>
          <a:bodyPr>
            <a:normAutofit fontScale="90000"/>
          </a:bodyPr>
          <a:lstStyle/>
          <a:p>
            <a:r>
              <a:rPr lang="en-IN" b="1" i="1" dirty="0"/>
              <a:t>Initialize structure members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363272" cy="6093296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Structure members cannot be initialized with declaration. For example the following C program fails in compilation.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struct</a:t>
            </a:r>
            <a:r>
              <a:rPr lang="en-IN" dirty="0">
                <a:solidFill>
                  <a:srgbClr val="FF0000"/>
                </a:solidFill>
              </a:rPr>
              <a:t> Point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</a:t>
            </a: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 x = 0;  // COMPILER ERROR:  cannot initialize members here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</a:t>
            </a: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>
                <a:solidFill>
                  <a:srgbClr val="FF0000"/>
                </a:solidFill>
              </a:rPr>
              <a:t> y = 0;  // COMPILER ERROR:  cannot initialize members here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};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>
                <a:solidFill>
                  <a:srgbClr val="006C31"/>
                </a:solidFill>
              </a:rPr>
              <a:t>struct</a:t>
            </a:r>
            <a:r>
              <a:rPr lang="en-IN" dirty="0">
                <a:solidFill>
                  <a:srgbClr val="006C31"/>
                </a:solidFill>
              </a:rPr>
              <a:t> Point</a:t>
            </a:r>
          </a:p>
          <a:p>
            <a:pPr marL="0" indent="0">
              <a:buNone/>
            </a:pPr>
            <a:r>
              <a:rPr lang="en-IN" dirty="0">
                <a:solidFill>
                  <a:srgbClr val="006C31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006C31"/>
                </a:solidFill>
              </a:rPr>
              <a:t>   </a:t>
            </a:r>
            <a:r>
              <a:rPr lang="en-IN" dirty="0" err="1">
                <a:solidFill>
                  <a:srgbClr val="006C31"/>
                </a:solidFill>
              </a:rPr>
              <a:t>int</a:t>
            </a:r>
            <a:r>
              <a:rPr lang="en-IN" dirty="0">
                <a:solidFill>
                  <a:srgbClr val="006C31"/>
                </a:solidFill>
              </a:rPr>
              <a:t> x, y;</a:t>
            </a:r>
          </a:p>
          <a:p>
            <a:pPr marL="0" indent="0">
              <a:buNone/>
            </a:pPr>
            <a:r>
              <a:rPr lang="en-IN" dirty="0">
                <a:solidFill>
                  <a:srgbClr val="006C31"/>
                </a:solidFill>
              </a:rPr>
              <a:t>}; </a:t>
            </a:r>
          </a:p>
          <a:p>
            <a:pPr marL="0" indent="0">
              <a:buNone/>
            </a:pPr>
            <a:r>
              <a:rPr lang="en-IN" dirty="0">
                <a:solidFill>
                  <a:srgbClr val="006C31"/>
                </a:solidFill>
              </a:rPr>
              <a:t> </a:t>
            </a:r>
            <a:r>
              <a:rPr lang="en-IN" dirty="0" err="1">
                <a:solidFill>
                  <a:srgbClr val="006C31"/>
                </a:solidFill>
              </a:rPr>
              <a:t>int</a:t>
            </a:r>
            <a:r>
              <a:rPr lang="en-IN" dirty="0">
                <a:solidFill>
                  <a:srgbClr val="006C31"/>
                </a:solidFill>
              </a:rPr>
              <a:t> main()</a:t>
            </a:r>
          </a:p>
          <a:p>
            <a:pPr marL="0" indent="0">
              <a:buNone/>
            </a:pPr>
            <a:r>
              <a:rPr lang="en-IN" dirty="0">
                <a:solidFill>
                  <a:srgbClr val="006C31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6C31"/>
                </a:solidFill>
              </a:rPr>
              <a:t>struct</a:t>
            </a:r>
            <a:r>
              <a:rPr lang="en-IN" dirty="0">
                <a:solidFill>
                  <a:srgbClr val="006C31"/>
                </a:solidFill>
              </a:rPr>
              <a:t> Point p1 = {0, 1}; </a:t>
            </a:r>
          </a:p>
          <a:p>
            <a:pPr marL="0" indent="0">
              <a:buNone/>
            </a:pPr>
            <a:r>
              <a:rPr lang="en-IN" dirty="0">
                <a:solidFill>
                  <a:srgbClr val="006C3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309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Autofit/>
          </a:bodyPr>
          <a:lstStyle/>
          <a:p>
            <a:r>
              <a:rPr lang="en-IN" sz="2800" b="1" dirty="0"/>
              <a:t>Example of structure (To add two distances entered by user)</a:t>
            </a:r>
            <a:endParaRPr lang="en-IN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692696"/>
            <a:ext cx="4038600" cy="6165304"/>
          </a:xfrm>
          <a:ln>
            <a:solidFill>
              <a:srgbClr val="00B0F0"/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 err="1"/>
              <a:t>struct</a:t>
            </a:r>
            <a:r>
              <a:rPr lang="en-IN" dirty="0"/>
              <a:t> Distance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feet;</a:t>
            </a:r>
          </a:p>
          <a:p>
            <a:pPr marL="0" indent="0">
              <a:buNone/>
            </a:pPr>
            <a:r>
              <a:rPr lang="en-IN" dirty="0"/>
              <a:t>    float inch;</a:t>
            </a:r>
          </a:p>
          <a:p>
            <a:pPr marL="0" indent="0">
              <a:buNone/>
            </a:pPr>
            <a:r>
              <a:rPr lang="en-IN" dirty="0"/>
              <a:t>} </a:t>
            </a:r>
            <a:r>
              <a:rPr lang="en-IN" b="1" dirty="0"/>
              <a:t>dist1, dist2, sum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("1st distance\n");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printf</a:t>
            </a:r>
            <a:r>
              <a:rPr lang="en-IN" dirty="0"/>
              <a:t>("Enter feet: 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("%d", </a:t>
            </a:r>
            <a:r>
              <a:rPr lang="en-IN" b="1" dirty="0"/>
              <a:t>&amp;dist1.feet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inch: 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("%f", </a:t>
            </a:r>
            <a:r>
              <a:rPr lang="en-IN" b="1" dirty="0"/>
              <a:t>&amp;dist1.inch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("2nd distance\n");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feet: 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("%d", </a:t>
            </a:r>
            <a:r>
              <a:rPr lang="en-IN" b="1" dirty="0"/>
              <a:t>&amp;dist2.feet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692696"/>
            <a:ext cx="4316288" cy="6165304"/>
          </a:xfrm>
          <a:ln>
            <a:solidFill>
              <a:srgbClr val="00B0F0"/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inch: 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("%f", </a:t>
            </a:r>
            <a:r>
              <a:rPr lang="en-IN" b="1" dirty="0"/>
              <a:t>&amp;dist2.inch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sum.feet</a:t>
            </a:r>
            <a:r>
              <a:rPr lang="en-IN" dirty="0"/>
              <a:t> = </a:t>
            </a:r>
            <a:r>
              <a:rPr lang="en-IN" b="1" dirty="0"/>
              <a:t>dist1.feet + dist2.feet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sum.inch</a:t>
            </a:r>
            <a:r>
              <a:rPr lang="en-IN" dirty="0"/>
              <a:t> = </a:t>
            </a:r>
            <a:r>
              <a:rPr lang="en-IN" b="1" dirty="0"/>
              <a:t>dist1.inch + dist2.inch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(</a:t>
            </a:r>
            <a:r>
              <a:rPr lang="en-IN" dirty="0" err="1"/>
              <a:t>sum.inch</a:t>
            </a:r>
            <a:r>
              <a:rPr lang="en-IN" dirty="0"/>
              <a:t> &gt; 12) 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	</a:t>
            </a:r>
          </a:p>
          <a:p>
            <a:pPr marL="0" indent="0">
              <a:buNone/>
            </a:pPr>
            <a:r>
              <a:rPr lang="en-IN" dirty="0"/>
              <a:t>        ++</a:t>
            </a:r>
            <a:r>
              <a:rPr lang="en-IN" dirty="0" err="1"/>
              <a:t>sum.feet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sum.inch</a:t>
            </a:r>
            <a:r>
              <a:rPr lang="en-IN" dirty="0"/>
              <a:t> = </a:t>
            </a:r>
            <a:r>
              <a:rPr lang="en-IN" dirty="0" err="1"/>
              <a:t>sum.inch</a:t>
            </a:r>
            <a:r>
              <a:rPr lang="en-IN" dirty="0"/>
              <a:t> - 12;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printf</a:t>
            </a:r>
            <a:r>
              <a:rPr lang="en-IN" dirty="0"/>
              <a:t>("Sum of distances = %d\'-%.1f\"", </a:t>
            </a:r>
            <a:r>
              <a:rPr lang="en-IN" b="1" dirty="0" err="1"/>
              <a:t>sum.feet</a:t>
            </a:r>
            <a:r>
              <a:rPr lang="en-IN" b="1" dirty="0"/>
              <a:t>, </a:t>
            </a:r>
            <a:r>
              <a:rPr lang="en-IN" b="1" dirty="0" err="1"/>
              <a:t>sum.inch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973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Problem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700808"/>
            <a:ext cx="8507288" cy="4425355"/>
          </a:xfrm>
        </p:spPr>
        <p:txBody>
          <a:bodyPr/>
          <a:lstStyle/>
          <a:p>
            <a:r>
              <a:rPr lang="en-IN" dirty="0"/>
              <a:t>Store Information of a Student Using Structure</a:t>
            </a:r>
          </a:p>
          <a:p>
            <a:r>
              <a:rPr lang="en-IN" dirty="0"/>
              <a:t>Store Information of a Employee  Using Structure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0135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Array of Structure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968552"/>
          </a:xfrm>
        </p:spPr>
        <p:txBody>
          <a:bodyPr/>
          <a:lstStyle/>
          <a:p>
            <a:pPr algn="just"/>
            <a:r>
              <a:rPr lang="en-IN" dirty="0"/>
              <a:t>We can also declare an array of structure variables, in which each element of the array will represent a structure variable.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Example : </a:t>
            </a:r>
            <a:r>
              <a:rPr lang="en-IN" dirty="0" err="1">
                <a:solidFill>
                  <a:srgbClr val="FF0000"/>
                </a:solidFill>
              </a:rPr>
              <a:t>struct</a:t>
            </a:r>
            <a:r>
              <a:rPr lang="en-IN" dirty="0">
                <a:solidFill>
                  <a:srgbClr val="FF0000"/>
                </a:solidFill>
              </a:rPr>
              <a:t> employee </a:t>
            </a:r>
            <a:r>
              <a:rPr lang="en-IN" dirty="0" err="1">
                <a:solidFill>
                  <a:srgbClr val="FF0000"/>
                </a:solidFill>
              </a:rPr>
              <a:t>emp</a:t>
            </a:r>
            <a:r>
              <a:rPr lang="en-IN" dirty="0">
                <a:solidFill>
                  <a:srgbClr val="FF0000"/>
                </a:solidFill>
              </a:rPr>
              <a:t>[5];</a:t>
            </a:r>
          </a:p>
        </p:txBody>
      </p:sp>
    </p:spTree>
    <p:extLst>
      <p:ext uri="{BB962C8B-B14F-4D97-AF65-F5344CB8AC3E}">
        <p14:creationId xmlns:p14="http://schemas.microsoft.com/office/powerpoint/2010/main" val="2216045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19650"/>
            <a:ext cx="8229600" cy="673046"/>
          </a:xfrm>
        </p:spPr>
        <p:txBody>
          <a:bodyPr>
            <a:normAutofit fontScale="90000"/>
          </a:bodyPr>
          <a:lstStyle/>
          <a:p>
            <a:r>
              <a:rPr lang="en-IN" dirty="0"/>
              <a:t>Array of structure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764704"/>
            <a:ext cx="3394720" cy="5976664"/>
          </a:xfrm>
          <a:ln>
            <a:solidFill>
              <a:srgbClr val="92D050"/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#include&lt;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struct</a:t>
            </a:r>
            <a:r>
              <a:rPr lang="en-IN" dirty="0"/>
              <a:t> Employee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char </a:t>
            </a:r>
            <a:r>
              <a:rPr lang="en-IN" dirty="0" err="1"/>
              <a:t>ename</a:t>
            </a:r>
            <a:r>
              <a:rPr lang="en-IN" dirty="0"/>
              <a:t>[10];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sal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 err="1"/>
              <a:t>struct</a:t>
            </a:r>
            <a:r>
              <a:rPr lang="en-IN" dirty="0"/>
              <a:t> Employee </a:t>
            </a:r>
            <a:r>
              <a:rPr lang="en-IN" b="1" dirty="0" err="1"/>
              <a:t>emp</a:t>
            </a:r>
            <a:r>
              <a:rPr lang="en-IN" b="1" dirty="0"/>
              <a:t>[5]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, j;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211960" y="836712"/>
            <a:ext cx="4824536" cy="6021288"/>
          </a:xfrm>
          <a:ln>
            <a:solidFill>
              <a:srgbClr val="92D050"/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3;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nEnter</a:t>
            </a:r>
            <a:r>
              <a:rPr lang="en-IN" dirty="0"/>
              <a:t> %</a:t>
            </a:r>
            <a:r>
              <a:rPr lang="en-IN" dirty="0" err="1"/>
              <a:t>dst</a:t>
            </a:r>
            <a:r>
              <a:rPr lang="en-IN" dirty="0"/>
              <a:t> Employee record:\n", i+1);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nEmployee</a:t>
            </a:r>
            <a:r>
              <a:rPr lang="en-IN" dirty="0"/>
              <a:t> name:\t");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scanf</a:t>
            </a:r>
            <a:r>
              <a:rPr lang="en-IN" dirty="0"/>
              <a:t>("%s", </a:t>
            </a:r>
            <a:r>
              <a:rPr lang="en-IN" b="1" dirty="0" err="1"/>
              <a:t>emp</a:t>
            </a:r>
            <a:r>
              <a:rPr lang="en-IN" b="1" dirty="0"/>
              <a:t>[</a:t>
            </a:r>
            <a:r>
              <a:rPr lang="en-IN" b="1" dirty="0" err="1"/>
              <a:t>i</a:t>
            </a:r>
            <a:r>
              <a:rPr lang="en-IN" b="1" dirty="0"/>
              <a:t>].</a:t>
            </a:r>
            <a:r>
              <a:rPr lang="en-IN" b="1" dirty="0" err="1"/>
              <a:t>ename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nEnter</a:t>
            </a:r>
            <a:r>
              <a:rPr lang="en-IN" dirty="0"/>
              <a:t> Salary:\t");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scanf</a:t>
            </a:r>
            <a:r>
              <a:rPr lang="en-IN" dirty="0"/>
              <a:t>("%d", </a:t>
            </a:r>
            <a:r>
              <a:rPr lang="en-IN" b="1" dirty="0"/>
              <a:t>&amp;</a:t>
            </a:r>
            <a:r>
              <a:rPr lang="en-IN" b="1" dirty="0" err="1"/>
              <a:t>emp</a:t>
            </a:r>
            <a:r>
              <a:rPr lang="en-IN" b="1" dirty="0"/>
              <a:t>[</a:t>
            </a:r>
            <a:r>
              <a:rPr lang="en-IN" b="1" dirty="0" err="1"/>
              <a:t>i</a:t>
            </a:r>
            <a:r>
              <a:rPr lang="en-IN" b="1" dirty="0"/>
              <a:t>].</a:t>
            </a:r>
            <a:r>
              <a:rPr lang="en-IN" b="1" dirty="0" err="1"/>
              <a:t>sal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nDisplaying</a:t>
            </a:r>
            <a:r>
              <a:rPr lang="en-IN" dirty="0"/>
              <a:t> Employee record:\n");</a:t>
            </a:r>
          </a:p>
          <a:p>
            <a:pPr marL="0" indent="0">
              <a:buNone/>
            </a:pPr>
            <a:r>
              <a:rPr lang="en-IN" dirty="0"/>
              <a:t>    for(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3;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nEmployee</a:t>
            </a:r>
            <a:r>
              <a:rPr lang="en-IN" dirty="0"/>
              <a:t> name is %s", </a:t>
            </a:r>
            <a:r>
              <a:rPr lang="en-IN" b="1" dirty="0" err="1"/>
              <a:t>emp</a:t>
            </a:r>
            <a:r>
              <a:rPr lang="en-IN" b="1" dirty="0"/>
              <a:t>[</a:t>
            </a:r>
            <a:r>
              <a:rPr lang="en-IN" b="1" dirty="0" err="1"/>
              <a:t>i</a:t>
            </a:r>
            <a:r>
              <a:rPr lang="en-IN" b="1" dirty="0"/>
              <a:t>].</a:t>
            </a:r>
            <a:r>
              <a:rPr lang="en-IN" b="1" dirty="0" err="1"/>
              <a:t>ename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nSlary</a:t>
            </a:r>
            <a:r>
              <a:rPr lang="en-IN" dirty="0"/>
              <a:t> is %d", </a:t>
            </a:r>
            <a:r>
              <a:rPr lang="en-IN" b="1" dirty="0" err="1"/>
              <a:t>emp</a:t>
            </a:r>
            <a:r>
              <a:rPr lang="en-IN" b="1" dirty="0"/>
              <a:t>[</a:t>
            </a:r>
            <a:r>
              <a:rPr lang="en-IN" b="1" dirty="0" err="1"/>
              <a:t>i</a:t>
            </a:r>
            <a:r>
              <a:rPr lang="en-IN" b="1" dirty="0"/>
              <a:t>].</a:t>
            </a:r>
            <a:r>
              <a:rPr lang="en-IN" b="1" dirty="0" err="1"/>
              <a:t>sal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3702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856" y="116632"/>
            <a:ext cx="8229600" cy="1143000"/>
          </a:xfrm>
        </p:spPr>
        <p:txBody>
          <a:bodyPr>
            <a:normAutofit/>
          </a:bodyPr>
          <a:lstStyle/>
          <a:p>
            <a:r>
              <a:rPr lang="en-IN" b="1" dirty="0"/>
              <a:t>Nested Structures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524209" y="2006843"/>
            <a:ext cx="3754760" cy="4320480"/>
          </a:xfrm>
          <a:ln>
            <a:solidFill>
              <a:srgbClr val="7030A0"/>
            </a:solidFill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err="1"/>
              <a:t>struct</a:t>
            </a:r>
            <a:r>
              <a:rPr lang="en-IN" dirty="0"/>
              <a:t> Student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char[30] name;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age;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struct</a:t>
            </a:r>
            <a:r>
              <a:rPr lang="en-IN" dirty="0"/>
              <a:t> Address</a:t>
            </a:r>
          </a:p>
          <a:p>
            <a:pPr marL="0" indent="0">
              <a:buNone/>
            </a:pPr>
            <a:r>
              <a:rPr lang="en-IN" dirty="0"/>
              <a:t>    {</a:t>
            </a:r>
          </a:p>
          <a:p>
            <a:pPr marL="0" indent="0">
              <a:buNone/>
            </a:pPr>
            <a:r>
              <a:rPr lang="en-IN" dirty="0"/>
              <a:t>        char[50] locality;</a:t>
            </a:r>
          </a:p>
          <a:p>
            <a:pPr marL="0" indent="0">
              <a:buNone/>
            </a:pPr>
            <a:r>
              <a:rPr lang="en-IN" dirty="0"/>
              <a:t>        char[50] city;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pincode</a:t>
            </a:r>
            <a:r>
              <a:rPr lang="en-IN" dirty="0"/>
              <a:t>;		</a:t>
            </a:r>
          </a:p>
          <a:p>
            <a:pPr marL="0" indent="0">
              <a:buNone/>
            </a:pPr>
            <a:r>
              <a:rPr lang="en-IN" dirty="0"/>
              <a:t>    }</a:t>
            </a:r>
            <a:r>
              <a:rPr lang="en-IN" dirty="0" err="1"/>
              <a:t>addr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4849688" y="2006843"/>
            <a:ext cx="3826768" cy="3888432"/>
          </a:xfrm>
          <a:ln>
            <a:solidFill>
              <a:srgbClr val="7030A0"/>
            </a:solidFill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err="1"/>
              <a:t>struct</a:t>
            </a:r>
            <a:r>
              <a:rPr lang="en-IN" dirty="0"/>
              <a:t> complex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imag_value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float </a:t>
            </a:r>
            <a:r>
              <a:rPr lang="en-IN" dirty="0" err="1"/>
              <a:t>real_value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struct</a:t>
            </a:r>
            <a:r>
              <a:rPr lang="en-IN" dirty="0"/>
              <a:t> number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struct</a:t>
            </a:r>
            <a:r>
              <a:rPr lang="en-IN" dirty="0"/>
              <a:t> complex comp;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int</a:t>
            </a:r>
            <a:r>
              <a:rPr lang="en-IN" dirty="0"/>
              <a:t> real;</a:t>
            </a:r>
          </a:p>
          <a:p>
            <a:pPr marL="0" indent="0">
              <a:buNone/>
            </a:pPr>
            <a:r>
              <a:rPr lang="en-IN" dirty="0"/>
              <a:t>} num1, num2;</a:t>
            </a:r>
          </a:p>
          <a:p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539552" y="1052736"/>
            <a:ext cx="81369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Nested </a:t>
            </a:r>
            <a:r>
              <a:rPr lang="en-IN" sz="3200" dirty="0"/>
              <a:t>structures</a:t>
            </a:r>
            <a:r>
              <a:rPr lang="en-IN" sz="2400" dirty="0"/>
              <a:t> means, that one structure has another structure as member variable.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2551" y="6020233"/>
            <a:ext cx="38164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/>
              <a:t>num2.comp.imag_value</a:t>
            </a:r>
          </a:p>
        </p:txBody>
      </p:sp>
    </p:spTree>
    <p:extLst>
      <p:ext uri="{BB962C8B-B14F-4D97-AF65-F5344CB8AC3E}">
        <p14:creationId xmlns:p14="http://schemas.microsoft.com/office/powerpoint/2010/main" val="481923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04" y="916895"/>
            <a:ext cx="3744416" cy="5949280"/>
          </a:xfrm>
          <a:ln>
            <a:solidFill>
              <a:schemeClr val="accent2"/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string.h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 err="1"/>
              <a:t>struct</a:t>
            </a:r>
            <a:r>
              <a:rPr lang="en-IN" dirty="0"/>
              <a:t> </a:t>
            </a:r>
            <a:r>
              <a:rPr lang="en-IN" b="1" dirty="0" err="1"/>
              <a:t>college_detail</a:t>
            </a:r>
            <a:endParaRPr lang="en-IN" b="1" dirty="0"/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college_id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char </a:t>
            </a:r>
            <a:r>
              <a:rPr lang="en-IN" dirty="0" err="1"/>
              <a:t>college_name</a:t>
            </a:r>
            <a:r>
              <a:rPr lang="en-IN" dirty="0"/>
              <a:t>[50];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 err="1"/>
              <a:t>struct</a:t>
            </a:r>
            <a:r>
              <a:rPr lang="en-IN" dirty="0"/>
              <a:t> </a:t>
            </a:r>
            <a:r>
              <a:rPr lang="en-IN" b="1" dirty="0" err="1"/>
              <a:t>student_detail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id;</a:t>
            </a:r>
          </a:p>
          <a:p>
            <a:pPr marL="0" indent="0">
              <a:buNone/>
            </a:pPr>
            <a:r>
              <a:rPr lang="en-IN" dirty="0"/>
              <a:t>    char name[20];</a:t>
            </a:r>
          </a:p>
          <a:p>
            <a:pPr marL="0" indent="0">
              <a:buNone/>
            </a:pPr>
            <a:r>
              <a:rPr lang="en-IN" dirty="0"/>
              <a:t>    float percentage;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lang="en-IN" b="1" dirty="0" err="1"/>
              <a:t>struct</a:t>
            </a:r>
            <a:r>
              <a:rPr lang="en-IN" b="1" dirty="0"/>
              <a:t> </a:t>
            </a:r>
            <a:r>
              <a:rPr lang="en-IN" b="1" dirty="0" err="1"/>
              <a:t>college_detail</a:t>
            </a:r>
            <a:r>
              <a:rPr lang="en-IN" b="1" dirty="0"/>
              <a:t> </a:t>
            </a:r>
            <a:r>
              <a:rPr lang="en-IN" b="1" dirty="0" err="1"/>
              <a:t>clg_data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</a:t>
            </a:r>
            <a:r>
              <a:rPr lang="en-IN" b="1" dirty="0" err="1"/>
              <a:t>stu_data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5121"/>
            <a:ext cx="8229600" cy="1143000"/>
          </a:xfrm>
        </p:spPr>
        <p:txBody>
          <a:bodyPr/>
          <a:lstStyle/>
          <a:p>
            <a:r>
              <a:rPr lang="en-IN" b="1" dirty="0"/>
              <a:t>Nested Structures Example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39952" y="980728"/>
            <a:ext cx="5004048" cy="5877272"/>
          </a:xfrm>
          <a:ln>
            <a:solidFill>
              <a:schemeClr val="accent2"/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main() 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struct</a:t>
            </a:r>
            <a:r>
              <a:rPr lang="en-IN" dirty="0"/>
              <a:t> </a:t>
            </a:r>
            <a:r>
              <a:rPr lang="en-IN" dirty="0" err="1"/>
              <a:t>student_detail</a:t>
            </a:r>
            <a:r>
              <a:rPr lang="en-IN" dirty="0"/>
              <a:t> </a:t>
            </a:r>
            <a:r>
              <a:rPr lang="en-IN" dirty="0" err="1"/>
              <a:t>stu_data</a:t>
            </a:r>
            <a:r>
              <a:rPr lang="en-IN" dirty="0"/>
              <a:t> = {1, "Raju", 90.5, 71145, “VIT University"};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 Id is: %d \n</a:t>
            </a:r>
            <a:r>
              <a:rPr lang="en-IN" b="1" dirty="0"/>
              <a:t>", stu_data.id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 Name is: %s \n</a:t>
            </a:r>
            <a:r>
              <a:rPr lang="en-IN" b="1" dirty="0"/>
              <a:t>", stu_data.name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 Percentage is: %f \n\n", </a:t>
            </a:r>
            <a:r>
              <a:rPr lang="en-IN" b="1" dirty="0" err="1"/>
              <a:t>stu_data.percentage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 College Id is: %d \n", </a:t>
            </a:r>
          </a:p>
          <a:p>
            <a:pPr marL="0" indent="0">
              <a:buNone/>
            </a:pPr>
            <a:r>
              <a:rPr lang="en-IN" dirty="0"/>
              <a:t>                    </a:t>
            </a:r>
            <a:r>
              <a:rPr lang="en-IN" b="1" dirty="0" err="1"/>
              <a:t>stu_data.clg_data.college_id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 College Name is: %s \n", </a:t>
            </a:r>
          </a:p>
          <a:p>
            <a:pPr marL="0" indent="0">
              <a:buNone/>
            </a:pPr>
            <a:r>
              <a:rPr lang="en-IN" dirty="0"/>
              <a:t>                    </a:t>
            </a:r>
            <a:r>
              <a:rPr lang="en-IN" b="1" dirty="0" err="1"/>
              <a:t>stu_data.clg_data.college_name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86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864096"/>
          </a:xfrm>
        </p:spPr>
        <p:txBody>
          <a:bodyPr>
            <a:normAutofit/>
          </a:bodyPr>
          <a:lstStyle/>
          <a:p>
            <a:r>
              <a:rPr lang="en-IN" dirty="0"/>
              <a:t>Structures as Function Arguments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628800"/>
            <a:ext cx="3538736" cy="4968551"/>
          </a:xfrm>
          <a:ln>
            <a:solidFill>
              <a:srgbClr val="FFFF00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IN" sz="2000" dirty="0"/>
              <a:t>#include&lt;</a:t>
            </a:r>
            <a:r>
              <a:rPr lang="en-IN" sz="2000" dirty="0" err="1"/>
              <a:t>stdio.h</a:t>
            </a:r>
            <a:r>
              <a:rPr lang="en-IN" sz="2000" dirty="0"/>
              <a:t>&gt;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sz="2000" dirty="0" err="1"/>
              <a:t>struct</a:t>
            </a:r>
            <a:r>
              <a:rPr lang="en-IN" sz="2000" dirty="0"/>
              <a:t> Student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sz="2000" dirty="0"/>
              <a:t>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sz="2000" dirty="0"/>
              <a:t>    char name[10];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sz="2000" dirty="0"/>
              <a:t>    </a:t>
            </a:r>
            <a:r>
              <a:rPr lang="en-IN" sz="2000" dirty="0" err="1"/>
              <a:t>int</a:t>
            </a:r>
            <a:r>
              <a:rPr lang="en-IN" sz="2000" dirty="0"/>
              <a:t> roll;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sz="2000" dirty="0"/>
              <a:t>};</a:t>
            </a:r>
          </a:p>
          <a:p>
            <a:pPr marL="0" indent="0">
              <a:lnSpc>
                <a:spcPct val="80000"/>
              </a:lnSpc>
              <a:buNone/>
            </a:pPr>
            <a:endParaRPr lang="en-IN" sz="2000" dirty="0"/>
          </a:p>
          <a:p>
            <a:pPr marL="0" indent="0">
              <a:lnSpc>
                <a:spcPct val="80000"/>
              </a:lnSpc>
              <a:buNone/>
            </a:pPr>
            <a:r>
              <a:rPr lang="en-IN" sz="2000" dirty="0"/>
              <a:t>void show(</a:t>
            </a:r>
            <a:r>
              <a:rPr lang="en-IN" sz="2000" b="1" dirty="0" err="1"/>
              <a:t>struct</a:t>
            </a:r>
            <a:r>
              <a:rPr lang="en-IN" sz="2000" b="1" dirty="0"/>
              <a:t> Student </a:t>
            </a:r>
            <a:r>
              <a:rPr lang="en-IN" sz="2000" b="1" dirty="0" err="1"/>
              <a:t>st</a:t>
            </a:r>
            <a:r>
              <a:rPr lang="en-IN" sz="2000" dirty="0"/>
              <a:t>);</a:t>
            </a:r>
          </a:p>
          <a:p>
            <a:pPr marL="0" indent="0">
              <a:lnSpc>
                <a:spcPct val="80000"/>
              </a:lnSpc>
              <a:buNone/>
            </a:pPr>
            <a:endParaRPr lang="en-IN" sz="20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283968" y="1340768"/>
            <a:ext cx="4752528" cy="5517232"/>
          </a:xfrm>
          <a:ln>
            <a:solidFill>
              <a:srgbClr val="FFFF00"/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void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struct</a:t>
            </a:r>
            <a:r>
              <a:rPr lang="en-IN" dirty="0"/>
              <a:t> Student </a:t>
            </a:r>
            <a:r>
              <a:rPr lang="en-IN" dirty="0" err="1"/>
              <a:t>std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nEnter</a:t>
            </a:r>
            <a:r>
              <a:rPr lang="en-IN" dirty="0"/>
              <a:t> Student record:\n");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nStudent</a:t>
            </a:r>
            <a:r>
              <a:rPr lang="en-IN" dirty="0"/>
              <a:t> name:\t");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("%s", std.name);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nEnter</a:t>
            </a:r>
            <a:r>
              <a:rPr lang="en-IN" dirty="0"/>
              <a:t> Student </a:t>
            </a:r>
            <a:r>
              <a:rPr lang="en-IN" dirty="0" err="1"/>
              <a:t>rollno</a:t>
            </a:r>
            <a:r>
              <a:rPr lang="en-IN" dirty="0"/>
              <a:t>.:\t");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("%d", &amp;</a:t>
            </a:r>
            <a:r>
              <a:rPr lang="en-IN" dirty="0" err="1"/>
              <a:t>std.roll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b="1" dirty="0"/>
              <a:t>show(</a:t>
            </a:r>
            <a:r>
              <a:rPr lang="en-IN" b="1" dirty="0" err="1"/>
              <a:t>std</a:t>
            </a:r>
            <a:r>
              <a:rPr lang="en-IN" b="1" dirty="0"/>
              <a:t>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void show</a:t>
            </a:r>
            <a:r>
              <a:rPr lang="en-IN" b="1" dirty="0"/>
              <a:t>(</a:t>
            </a:r>
            <a:r>
              <a:rPr lang="en-IN" b="1" dirty="0" err="1"/>
              <a:t>struct</a:t>
            </a:r>
            <a:r>
              <a:rPr lang="en-IN" b="1" dirty="0"/>
              <a:t> Student </a:t>
            </a:r>
            <a:r>
              <a:rPr lang="en-IN" b="1" dirty="0" err="1"/>
              <a:t>st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nstudent</a:t>
            </a:r>
            <a:r>
              <a:rPr lang="en-IN" dirty="0"/>
              <a:t> name is %s", </a:t>
            </a:r>
            <a:r>
              <a:rPr lang="en-IN" b="1" dirty="0"/>
              <a:t>st.name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nroll</a:t>
            </a:r>
            <a:r>
              <a:rPr lang="en-IN" dirty="0"/>
              <a:t> is %d", </a:t>
            </a:r>
            <a:r>
              <a:rPr lang="en-IN" b="1" dirty="0" err="1"/>
              <a:t>st.roll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467544" y="908720"/>
            <a:ext cx="8136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We can pass a structure as a function argument just like we pass any other variable or an array as a function argument.</a:t>
            </a:r>
          </a:p>
        </p:txBody>
      </p:sp>
    </p:spTree>
    <p:extLst>
      <p:ext uri="{BB962C8B-B14F-4D97-AF65-F5344CB8AC3E}">
        <p14:creationId xmlns:p14="http://schemas.microsoft.com/office/powerpoint/2010/main" val="1519230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Structure using Pointer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IN" dirty="0"/>
              <a:t>C structure can be accessed in 2 ways in a C program. They are,</a:t>
            </a:r>
          </a:p>
          <a:p>
            <a:pPr lvl="1" fontAlgn="base"/>
            <a:r>
              <a:rPr lang="en-IN" dirty="0"/>
              <a:t>Using normal structure variable</a:t>
            </a:r>
          </a:p>
          <a:p>
            <a:pPr lvl="1" fontAlgn="base"/>
            <a:r>
              <a:rPr lang="en-IN" dirty="0"/>
              <a:t>Using pointer variable</a:t>
            </a:r>
          </a:p>
          <a:p>
            <a:pPr lvl="1" fontAlgn="base"/>
            <a:endParaRPr lang="en-IN" dirty="0"/>
          </a:p>
          <a:p>
            <a:pPr fontAlgn="base"/>
            <a:r>
              <a:rPr lang="en-IN" dirty="0"/>
              <a:t>Dot(.) operator is used to access the data using normal structure variable and arrow (-&gt;) is used to access the data using pointer variable.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584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Structure using Pointer (Example)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340768"/>
            <a:ext cx="3178696" cy="54006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string.h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 err="1"/>
              <a:t>struct</a:t>
            </a:r>
            <a:r>
              <a:rPr lang="en-IN" dirty="0"/>
              <a:t> student 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lang="en-IN" dirty="0" err="1"/>
              <a:t>int</a:t>
            </a:r>
            <a:r>
              <a:rPr lang="en-IN" dirty="0"/>
              <a:t> id;</a:t>
            </a:r>
          </a:p>
          <a:p>
            <a:pPr marL="0" indent="0">
              <a:buNone/>
            </a:pPr>
            <a:r>
              <a:rPr lang="en-IN" dirty="0"/>
              <a:t>     char name[30];</a:t>
            </a:r>
          </a:p>
          <a:p>
            <a:pPr marL="0" indent="0">
              <a:buNone/>
            </a:pPr>
            <a:r>
              <a:rPr lang="en-IN" dirty="0"/>
              <a:t>     float percentage;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3995936" y="1340768"/>
            <a:ext cx="4968552" cy="5400600"/>
          </a:xfr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main() 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lang="en-IN" dirty="0" err="1"/>
              <a:t>struct</a:t>
            </a:r>
            <a:r>
              <a:rPr lang="en-IN" dirty="0"/>
              <a:t> student </a:t>
            </a:r>
            <a:r>
              <a:rPr lang="en-IN" b="1" dirty="0"/>
              <a:t>record1 = {1, "Raju", 90.5}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lang="en-IN" dirty="0" err="1"/>
              <a:t>struct</a:t>
            </a:r>
            <a:r>
              <a:rPr lang="en-IN" dirty="0"/>
              <a:t> student </a:t>
            </a:r>
            <a:r>
              <a:rPr lang="en-IN" b="1" dirty="0"/>
              <a:t>*</a:t>
            </a:r>
            <a:r>
              <a:rPr lang="en-IN" b="1" dirty="0" err="1"/>
              <a:t>ptr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lang="en-IN" b="1" dirty="0" err="1"/>
              <a:t>ptr</a:t>
            </a:r>
            <a:r>
              <a:rPr lang="en-IN" b="1" dirty="0"/>
              <a:t> = &amp;record1</a:t>
            </a:r>
            <a:r>
              <a:rPr lang="en-IN" dirty="0"/>
              <a:t>;     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        </a:t>
            </a:r>
            <a:r>
              <a:rPr lang="en-IN" dirty="0" err="1"/>
              <a:t>printf</a:t>
            </a:r>
            <a:r>
              <a:rPr lang="en-IN" dirty="0"/>
              <a:t>("Records of STUDENT1: \n");</a:t>
            </a:r>
          </a:p>
          <a:p>
            <a:pPr marL="0" indent="0">
              <a:buNone/>
            </a:pPr>
            <a:r>
              <a:rPr lang="en-IN" dirty="0"/>
              <a:t>         </a:t>
            </a:r>
            <a:r>
              <a:rPr lang="en-IN" dirty="0" err="1"/>
              <a:t>printf</a:t>
            </a:r>
            <a:r>
              <a:rPr lang="en-IN" dirty="0"/>
              <a:t>("  Id is: %d \n", </a:t>
            </a:r>
            <a:r>
              <a:rPr lang="en-IN" b="1" dirty="0" err="1"/>
              <a:t>ptr</a:t>
            </a:r>
            <a:r>
              <a:rPr lang="en-IN" b="1" dirty="0"/>
              <a:t>-&gt;id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 </a:t>
            </a:r>
            <a:r>
              <a:rPr lang="en-IN" dirty="0" err="1"/>
              <a:t>printf</a:t>
            </a:r>
            <a:r>
              <a:rPr lang="en-IN" dirty="0"/>
              <a:t>("  Name is: %s \n", </a:t>
            </a:r>
            <a:r>
              <a:rPr lang="en-IN" b="1" dirty="0" err="1"/>
              <a:t>ptr</a:t>
            </a:r>
            <a:r>
              <a:rPr lang="en-IN" b="1" dirty="0"/>
              <a:t>-&gt;name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 </a:t>
            </a:r>
            <a:r>
              <a:rPr lang="en-IN" dirty="0" err="1"/>
              <a:t>printf</a:t>
            </a:r>
            <a:r>
              <a:rPr lang="en-IN" dirty="0"/>
              <a:t>("  Percentage is: %f \n\n", </a:t>
            </a:r>
            <a:r>
              <a:rPr lang="en-IN" b="1" dirty="0" err="1"/>
              <a:t>ptr</a:t>
            </a:r>
            <a:r>
              <a:rPr lang="en-IN" b="1" dirty="0"/>
              <a:t>-&gt; percentage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4950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5796"/>
            <a:ext cx="8229600" cy="1143000"/>
          </a:xfrm>
        </p:spPr>
        <p:txBody>
          <a:bodyPr>
            <a:noAutofit/>
          </a:bodyPr>
          <a:lstStyle/>
          <a:p>
            <a:r>
              <a:rPr lang="en-IN" sz="3600" dirty="0"/>
              <a:t>Structures as Function Arguments</a:t>
            </a:r>
            <a:br>
              <a:rPr lang="en-IN" sz="3600" dirty="0"/>
            </a:br>
            <a:r>
              <a:rPr lang="en-IN" sz="3600" dirty="0"/>
              <a:t> (Pass by value and Pass by reference)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24744"/>
            <a:ext cx="4038600" cy="5733256"/>
          </a:xfrm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 err="1"/>
              <a:t>struct</a:t>
            </a:r>
            <a:r>
              <a:rPr lang="en-IN" dirty="0"/>
              <a:t> distance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feet;</a:t>
            </a:r>
          </a:p>
          <a:p>
            <a:pPr marL="0" indent="0">
              <a:buNone/>
            </a:pPr>
            <a:r>
              <a:rPr lang="en-IN" dirty="0"/>
              <a:t>    float inch;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/>
              <a:t>void </a:t>
            </a:r>
            <a:r>
              <a:rPr lang="en-IN" b="1" dirty="0"/>
              <a:t>add(</a:t>
            </a:r>
            <a:r>
              <a:rPr lang="en-IN" b="1" dirty="0" err="1"/>
              <a:t>struct</a:t>
            </a:r>
            <a:r>
              <a:rPr lang="en-IN" b="1" dirty="0"/>
              <a:t> distance d1,struct distance d2, </a:t>
            </a:r>
            <a:r>
              <a:rPr lang="en-IN" b="1" dirty="0" err="1"/>
              <a:t>struct</a:t>
            </a:r>
            <a:r>
              <a:rPr lang="en-IN" b="1" dirty="0"/>
              <a:t> distance *d3</a:t>
            </a:r>
            <a:r>
              <a:rPr lang="en-IN" dirty="0"/>
              <a:t>);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main()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struct</a:t>
            </a:r>
            <a:r>
              <a:rPr lang="en-IN" dirty="0"/>
              <a:t> distance </a:t>
            </a:r>
            <a:r>
              <a:rPr lang="en-IN" b="1" dirty="0"/>
              <a:t>dist1, dist2, dist3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("First distance\n");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feet: 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("%d", &amp;dist1.feet);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inch: 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("%f", &amp;dist1.inch);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("Second distance\n");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feet: 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("%d", &amp;dist2.feet);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("Enter inch: 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scanf</a:t>
            </a:r>
            <a:r>
              <a:rPr lang="en-IN" dirty="0"/>
              <a:t>("%f", &amp;dist2.inch);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4244280" cy="5733256"/>
          </a:xfrm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 add(</a:t>
            </a:r>
            <a:r>
              <a:rPr lang="en-IN" b="1" dirty="0"/>
              <a:t>dist1, dist2, &amp;dist3</a:t>
            </a:r>
            <a:r>
              <a:rPr lang="en-IN" dirty="0"/>
              <a:t>);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nSum</a:t>
            </a:r>
            <a:r>
              <a:rPr lang="en-IN" dirty="0"/>
              <a:t> of distances = %d\'-%.1f\"", dist3.feet, dist3.inch);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void add(</a:t>
            </a:r>
            <a:r>
              <a:rPr lang="en-IN" dirty="0" err="1"/>
              <a:t>struct</a:t>
            </a:r>
            <a:r>
              <a:rPr lang="en-IN" dirty="0"/>
              <a:t> </a:t>
            </a:r>
            <a:r>
              <a:rPr lang="en-IN" b="1" dirty="0"/>
              <a:t>distance d1,struct distance d2, </a:t>
            </a:r>
            <a:r>
              <a:rPr lang="en-IN" b="1" dirty="0" err="1"/>
              <a:t>struct</a:t>
            </a:r>
            <a:r>
              <a:rPr lang="en-IN" b="1" dirty="0"/>
              <a:t> distance *d3</a:t>
            </a:r>
            <a:r>
              <a:rPr lang="en-IN" dirty="0"/>
              <a:t>) 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 //Adding distances d1 and d2 and storing it in d3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lang="en-IN" b="1" dirty="0"/>
              <a:t>d3-&gt;feet = d1.feet + d2.feet; </a:t>
            </a:r>
          </a:p>
          <a:p>
            <a:pPr marL="0" indent="0">
              <a:buNone/>
            </a:pPr>
            <a:r>
              <a:rPr lang="en-IN" b="1" dirty="0"/>
              <a:t>     d3-&gt;inch = d1.inch + d2.inch;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if (d3-&gt;inch &gt;= 12)</a:t>
            </a:r>
          </a:p>
          <a:p>
            <a:pPr marL="0" indent="0">
              <a:buNone/>
            </a:pPr>
            <a:r>
              <a:rPr lang="en-IN" dirty="0"/>
              <a:t>     {</a:t>
            </a:r>
          </a:p>
          <a:p>
            <a:pPr marL="0" indent="0">
              <a:buNone/>
            </a:pPr>
            <a:r>
              <a:rPr lang="en-IN" dirty="0"/>
              <a:t>         d3-&gt;inch -= 12;</a:t>
            </a:r>
          </a:p>
          <a:p>
            <a:pPr marL="0" indent="0">
              <a:buNone/>
            </a:pPr>
            <a:r>
              <a:rPr lang="en-IN" dirty="0"/>
              <a:t>         ++d3-&gt;feet;</a:t>
            </a:r>
          </a:p>
          <a:p>
            <a:pPr marL="0" indent="0">
              <a:buNone/>
            </a:pPr>
            <a:r>
              <a:rPr lang="en-IN" dirty="0"/>
              <a:t> 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0409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2392</TotalTime>
  <Words>1650</Words>
  <Application>Microsoft Office PowerPoint</Application>
  <PresentationFormat>On-screen Show (4:3)</PresentationFormat>
  <Paragraphs>305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Structures in C</vt:lpstr>
      <vt:lpstr>Structure</vt:lpstr>
      <vt:lpstr>Syntax of structure</vt:lpstr>
      <vt:lpstr>Example of Structure</vt:lpstr>
      <vt:lpstr>Structure variable declaration</vt:lpstr>
      <vt:lpstr>Accessing members of a structure</vt:lpstr>
      <vt:lpstr>Initialize structure members</vt:lpstr>
      <vt:lpstr>Example of structure (To add two distances entered by user)</vt:lpstr>
      <vt:lpstr>Practice Problem</vt:lpstr>
      <vt:lpstr>Array of Structure</vt:lpstr>
      <vt:lpstr>Array of structure Example</vt:lpstr>
      <vt:lpstr>Nested Structures</vt:lpstr>
      <vt:lpstr>Nested Structures Example</vt:lpstr>
      <vt:lpstr>Structures as Function Arguments</vt:lpstr>
      <vt:lpstr>Structure using Pointer</vt:lpstr>
      <vt:lpstr>Structure using Pointer (Example)</vt:lpstr>
      <vt:lpstr>Structures as Function Arguments  (Pass by value and Pass by reference)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Structures in C</dc:title>
  <dc:creator>Gladys</dc:creator>
  <cp:lastModifiedBy>Sreethar1978</cp:lastModifiedBy>
  <cp:revision>16</cp:revision>
  <dcterms:created xsi:type="dcterms:W3CDTF">2017-12-11T06:03:02Z</dcterms:created>
  <dcterms:modified xsi:type="dcterms:W3CDTF">2023-04-06T05:52:23Z</dcterms:modified>
</cp:coreProperties>
</file>