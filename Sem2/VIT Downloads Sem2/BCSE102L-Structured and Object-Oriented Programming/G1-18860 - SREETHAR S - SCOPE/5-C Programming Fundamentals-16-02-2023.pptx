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8" r:id="rId2"/>
    <p:sldId id="279" r:id="rId3"/>
    <p:sldId id="280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81" r:id="rId12"/>
    <p:sldId id="285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B226F-10CE-42BB-A5DA-2729C94B1F89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E4C85-BD0A-4453-976F-C372F7CADA6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72854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74B0974-B3BA-4748-8B62-1023DA19F1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74B0974-B3BA-4748-8B62-1023DA19F1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74B0974-B3BA-4748-8B62-1023DA19F1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74B0974-B3BA-4748-8B62-1023DA19F1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74B0974-B3BA-4748-8B62-1023DA19F1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74B0974-B3BA-4748-8B62-1023DA19F1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74B0974-B3BA-4748-8B62-1023DA19F1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2071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8079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1296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8937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680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3024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8552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990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6713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8543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539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66CC6-0F9A-4627-B63D-34B0009144E1}" type="datetimeFigureOut">
              <a:rPr lang="en-IN" smtClean="0"/>
              <a:pPr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85001-4C86-4048-BD8C-C07C1F3377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7712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Operators in </a:t>
            </a:r>
            <a:r>
              <a:rPr lang="en-IN" dirty="0" smtClean="0"/>
              <a:t>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Unary Operator</a:t>
            </a:r>
          </a:p>
          <a:p>
            <a:r>
              <a:rPr lang="en-US" dirty="0"/>
              <a:t>Binary Operator</a:t>
            </a:r>
          </a:p>
          <a:p>
            <a:r>
              <a:rPr lang="en-US" dirty="0"/>
              <a:t>Ternary Operator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3087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Unary </a:t>
            </a:r>
            <a:r>
              <a:rPr lang="en-US" dirty="0" smtClean="0"/>
              <a:t>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unary minus (-)</a:t>
            </a:r>
          </a:p>
          <a:p>
            <a:r>
              <a:rPr lang="en-US" dirty="0"/>
              <a:t>unary plus (+)</a:t>
            </a:r>
          </a:p>
          <a:p>
            <a:r>
              <a:rPr lang="en-US" dirty="0"/>
              <a:t>decrement (- -)</a:t>
            </a:r>
          </a:p>
          <a:p>
            <a:r>
              <a:rPr lang="en-US" dirty="0"/>
              <a:t>increment (++)</a:t>
            </a:r>
          </a:p>
          <a:p>
            <a:r>
              <a:rPr lang="en-US" dirty="0"/>
              <a:t>NOT (!)</a:t>
            </a:r>
          </a:p>
          <a:p>
            <a:r>
              <a:rPr lang="en-US" dirty="0" err="1"/>
              <a:t>sizeof</a:t>
            </a:r>
            <a:r>
              <a:rPr lang="en-US" dirty="0"/>
              <a:t> ()</a:t>
            </a:r>
          </a:p>
          <a:p>
            <a:r>
              <a:rPr lang="en-US" dirty="0"/>
              <a:t>Address of operator (&amp;)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2200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</a:t>
            </a:r>
            <a:r>
              <a:rPr lang="en-US" dirty="0" smtClean="0"/>
              <a:t>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Relational Operators</a:t>
            </a:r>
          </a:p>
          <a:p>
            <a:r>
              <a:rPr lang="en-US" dirty="0"/>
              <a:t>Arithmetic Operators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Shift Operators</a:t>
            </a:r>
          </a:p>
          <a:p>
            <a:r>
              <a:rPr lang="en-US" dirty="0"/>
              <a:t>Conditional Operators</a:t>
            </a:r>
          </a:p>
          <a:p>
            <a:r>
              <a:rPr lang="en-US" dirty="0"/>
              <a:t>Bitwise Operators</a:t>
            </a:r>
          </a:p>
          <a:p>
            <a:r>
              <a:rPr lang="en-US" dirty="0" err="1"/>
              <a:t>Misc</a:t>
            </a:r>
            <a:r>
              <a:rPr lang="en-US" dirty="0"/>
              <a:t> Operator</a:t>
            </a:r>
          </a:p>
          <a:p>
            <a:r>
              <a:rPr lang="en-US" dirty="0"/>
              <a:t>Assignment Operator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8051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Arithmetic </a:t>
            </a:r>
            <a:r>
              <a:rPr lang="en-IN" dirty="0" smtClean="0"/>
              <a:t>Operators</a:t>
            </a:r>
            <a:endParaRPr lang="en-IN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106714925"/>
              </p:ext>
            </p:extLst>
          </p:nvPr>
        </p:nvGraphicFramePr>
        <p:xfrm>
          <a:off x="539552" y="1268759"/>
          <a:ext cx="7776865" cy="5492094"/>
        </p:xfrm>
        <a:graphic>
          <a:graphicData uri="http://schemas.openxmlformats.org/drawingml/2006/table">
            <a:tbl>
              <a:tblPr/>
              <a:tblGrid>
                <a:gridCol w="1120179"/>
                <a:gridCol w="4261824"/>
                <a:gridCol w="2394862"/>
              </a:tblGrid>
              <a:tr h="7097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</a:rPr>
                        <a:t>Operator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Description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Example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+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Adds two operands.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A + B = 30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−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Subtracts second operand from the first.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A − B = -10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*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Multiplies both operands.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A * B = 200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 smtClean="0">
                          <a:effectLst/>
                        </a:rPr>
                        <a:t>/</a:t>
                      </a:r>
                      <a:endParaRPr lang="en-IN" sz="2000" dirty="0">
                        <a:effectLst/>
                      </a:endParaRP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Divides numerator by de-numerator.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B / A = 2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38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%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Modulus Operator and remainder of after an integer division.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B % A = 0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++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Increment operator increases the integer value by one.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A++ = 11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--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Decrement operator decreases the integer value by one.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A-- = 9</a:t>
                      </a:r>
                    </a:p>
                  </a:txBody>
                  <a:tcPr marL="64657" marR="64657" marT="64657" marB="6465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97961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Logical </a:t>
            </a:r>
            <a:r>
              <a:rPr lang="en-IN" dirty="0" smtClean="0"/>
              <a:t>Operators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186410528"/>
              </p:ext>
            </p:extLst>
          </p:nvPr>
        </p:nvGraphicFramePr>
        <p:xfrm>
          <a:off x="899592" y="1340768"/>
          <a:ext cx="7704856" cy="5040559"/>
        </p:xfrm>
        <a:graphic>
          <a:graphicData uri="http://schemas.openxmlformats.org/drawingml/2006/table">
            <a:tbl>
              <a:tblPr/>
              <a:tblGrid>
                <a:gridCol w="1109805"/>
                <a:gridCol w="4222364"/>
                <a:gridCol w="2372687"/>
              </a:tblGrid>
              <a:tr h="747954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</a:rPr>
                        <a:t>Operator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Description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Example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1333309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&amp;&amp;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Called Logical AND operator. If both the operands are non-zero, then the condition becomes true.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(A &amp;&amp; B) is false.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309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||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Called Logical OR Operator. If any of the two operands is non-zero, then the condition becomes true.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(A || B) is true.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5987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!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Called Logical NOT Operator. It is used to reverse the logical state of its operand. If a condition is true, then Logical NOT operator will make it false.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!(A &amp;&amp; B) is true.</a:t>
                      </a:r>
                    </a:p>
                  </a:txBody>
                  <a:tcPr marL="72999" marR="72999" marT="72999" marB="7299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9383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Bitwise </a:t>
            </a:r>
            <a:r>
              <a:rPr lang="en-IN" dirty="0" smtClean="0"/>
              <a:t>Operators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11755642"/>
              </p:ext>
            </p:extLst>
          </p:nvPr>
        </p:nvGraphicFramePr>
        <p:xfrm>
          <a:off x="611560" y="1412776"/>
          <a:ext cx="7992888" cy="5448358"/>
        </p:xfrm>
        <a:graphic>
          <a:graphicData uri="http://schemas.openxmlformats.org/drawingml/2006/table">
            <a:tbl>
              <a:tblPr/>
              <a:tblGrid>
                <a:gridCol w="1151294"/>
                <a:gridCol w="4380208"/>
                <a:gridCol w="2461386"/>
              </a:tblGrid>
              <a:tr h="52599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Operator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Description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Example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31824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&amp;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Binary AND Operator copies a bit to the result if it exists in both operands.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(A &amp; B) = 12, i.e., 0000 1100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999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|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Binary OR Operator copies a bit if it exists in either operand.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(A | B) = 61, i.e., 0011 1101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824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^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Binary XOR Operator copies the bit if it is set in one operand but not both.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(A ^ B) = 49, i.e., 0011 0001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649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~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Binary Ones Complement Operator is unary and has the effect of 'flipping' bits.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(~A ) = -61, </a:t>
                      </a:r>
                      <a:r>
                        <a:rPr lang="en-IN" sz="1800" dirty="0" err="1">
                          <a:effectLst/>
                        </a:rPr>
                        <a:t>i.e</a:t>
                      </a:r>
                      <a:r>
                        <a:rPr lang="en-IN" sz="1800" dirty="0">
                          <a:effectLst/>
                        </a:rPr>
                        <a:t>,. 1100 0011 in 2's complement form.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649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&lt;&lt;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Binary Left Shift Operator. The left operands value is moved left by the number of bits specified by the right operand.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800" dirty="0">
                          <a:effectLst/>
                        </a:rPr>
                        <a:t>A &lt;&lt; 2 = 240 i.e., 1111 0000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649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&gt;&gt;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Binary Right Shift Operator. The left operands value is moved right by the number of bits specified by the right operand.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800" dirty="0">
                          <a:effectLst/>
                        </a:rPr>
                        <a:t>A &gt;&gt; 2 = 15 i.e., 0000 1111</a:t>
                      </a:r>
                    </a:p>
                  </a:txBody>
                  <a:tcPr marL="48562" marR="48562" marT="48562" marB="4856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5201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Assignment </a:t>
            </a:r>
            <a:r>
              <a:rPr lang="en-IN" dirty="0" smtClean="0"/>
              <a:t>Operators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944501077"/>
              </p:ext>
            </p:extLst>
          </p:nvPr>
        </p:nvGraphicFramePr>
        <p:xfrm>
          <a:off x="323528" y="1196753"/>
          <a:ext cx="8496944" cy="5445177"/>
        </p:xfrm>
        <a:graphic>
          <a:graphicData uri="http://schemas.openxmlformats.org/drawingml/2006/table">
            <a:tbl>
              <a:tblPr/>
              <a:tblGrid>
                <a:gridCol w="792088"/>
                <a:gridCol w="4536504"/>
                <a:gridCol w="3168352"/>
              </a:tblGrid>
              <a:tr h="49089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Operator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Description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Example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683496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=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Simple assignment operator. Assigns values from right side operands to left side operand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C = A + B will assign the value of A + B to C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097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+=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Add AND assignment operator. It adds the right operand to the left operand and assign the result to the left operand.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C += A is equivalent to C = C + A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699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-=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Subtract AND assignment operator. It subtracts the right operand from the left operand and assigns the result to the left operand.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C -= A is equivalent to C = C </a:t>
                      </a:r>
                      <a:r>
                        <a:rPr lang="en-IN" sz="1800" dirty="0" smtClean="0">
                          <a:effectLst/>
                        </a:rPr>
                        <a:t>– </a:t>
                      </a:r>
                      <a:r>
                        <a:rPr lang="en-IN" sz="1800" dirty="0">
                          <a:effectLst/>
                        </a:rPr>
                        <a:t>A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699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*=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Multiply AND assignment operator. It multiplies the right operand with the left operand and assigns the result to the left operand.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C *= A is equivalent to C = C * A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699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/=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Divide AND assignment operator. It divides the left operand with the right operand and assigns the result to the left operand.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C /= A is equivalent to C = C / A</a:t>
                      </a:r>
                    </a:p>
                  </a:txBody>
                  <a:tcPr marL="45996" marR="45996" marT="45996" marB="459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8446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638318156"/>
              </p:ext>
            </p:extLst>
          </p:nvPr>
        </p:nvGraphicFramePr>
        <p:xfrm>
          <a:off x="611559" y="548681"/>
          <a:ext cx="7920882" cy="6039224"/>
        </p:xfrm>
        <a:graphic>
          <a:graphicData uri="http://schemas.openxmlformats.org/drawingml/2006/table">
            <a:tbl>
              <a:tblPr/>
              <a:tblGrid>
                <a:gridCol w="2640294"/>
                <a:gridCol w="2640294"/>
                <a:gridCol w="2640294"/>
              </a:tblGrid>
              <a:tr h="1782974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%=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Modulus AND assignment operator. It takes modulus using two operands and assigns the result to the left operand.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 %= A is equivalent to C = C % A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976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&lt;&lt;=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Left shift AND assignment operator.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C &lt;&lt;= 2 is same as C = C &lt;&lt; 2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976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&gt;&gt;=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Right shift AND assignment operator.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 &gt;&gt;= 2 is same as C = C &gt;&gt; 2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976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&amp;=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Bitwise AND assignment operator.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 &amp;= 2 is same as C = C &amp; 2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376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^=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Bitwise exclusive OR and assignment operator.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 ^= 2 is same as C = C ^ 2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376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|=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Bitwise inclusive OR and assignment operator.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C |= 2 is same as C = C | 2</a:t>
                      </a:r>
                    </a:p>
                  </a:txBody>
                  <a:tcPr marL="44372" marR="44372" marT="44372" marB="4437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1068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Misc</a:t>
            </a:r>
            <a:r>
              <a:rPr lang="en-IN" dirty="0"/>
              <a:t> Operators 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954318394"/>
              </p:ext>
            </p:extLst>
          </p:nvPr>
        </p:nvGraphicFramePr>
        <p:xfrm>
          <a:off x="683568" y="1556792"/>
          <a:ext cx="7776864" cy="4692554"/>
        </p:xfrm>
        <a:graphic>
          <a:graphicData uri="http://schemas.openxmlformats.org/drawingml/2006/table">
            <a:tbl>
              <a:tblPr/>
              <a:tblGrid>
                <a:gridCol w="1120177"/>
                <a:gridCol w="4261825"/>
                <a:gridCol w="2394862"/>
              </a:tblGrid>
              <a:tr h="75811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</a:rPr>
                        <a:t>Operator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Example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1054765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 err="1">
                          <a:effectLst/>
                        </a:rPr>
                        <a:t>sizeof</a:t>
                      </a:r>
                      <a:r>
                        <a:rPr lang="en-IN" sz="2000" dirty="0">
                          <a:effectLst/>
                        </a:rPr>
                        <a:t>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Returns the size of a variable.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sizeof(a), where a is integer, will return 4.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4765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&amp;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Returns the address of a variable.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&amp;a; returns the actual address of the variable.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459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*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Pointer to a variable.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*a;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1418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? :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Conditional Expression.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If Condition is true ? then value X : otherwise value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6544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80728"/>
          </a:xfrm>
        </p:spPr>
        <p:txBody>
          <a:bodyPr>
            <a:normAutofit/>
          </a:bodyPr>
          <a:lstStyle/>
          <a:p>
            <a:r>
              <a:rPr lang="en-IN" dirty="0"/>
              <a:t>Relational </a:t>
            </a:r>
            <a:r>
              <a:rPr lang="en-IN" dirty="0" smtClean="0"/>
              <a:t>Operators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435727258"/>
              </p:ext>
            </p:extLst>
          </p:nvPr>
        </p:nvGraphicFramePr>
        <p:xfrm>
          <a:off x="323528" y="836712"/>
          <a:ext cx="8568952" cy="5904655"/>
        </p:xfrm>
        <a:graphic>
          <a:graphicData uri="http://schemas.openxmlformats.org/drawingml/2006/table">
            <a:tbl>
              <a:tblPr/>
              <a:tblGrid>
                <a:gridCol w="1234270"/>
                <a:gridCol w="4695899"/>
                <a:gridCol w="2638783"/>
              </a:tblGrid>
              <a:tr h="448849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dirty="0">
                          <a:effectLst/>
                        </a:rPr>
                        <a:t>Operator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</a:rPr>
                        <a:t>Description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</a:rPr>
                        <a:t>Example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800121"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==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</a:rPr>
                        <a:t>Checks if the values of two operands are equal or not. If yes, then the condition becomes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(A == B) is not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4207"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!=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Checks if the values of two operands are equal or not. If the values are not equal, then the condition becomes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(A != B) is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757"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&gt;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Checks if the value of left operand is greater than the value of right operand. If yes, then the condition becomes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(A &gt; B) is not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4207"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&lt;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Checks if the value of left operand is less than the value of right operand. If yes, then the condition becomes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(A &lt; B) is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757"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&gt;=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Checks if the value of left operand is greater than or equal to the value of right operand. If yes, then the condition becomes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(A &gt;= B) is not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757"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&lt;=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>
                          <a:effectLst/>
                        </a:rPr>
                        <a:t>Checks if the value of left operand is less than or equal to the value of right operand. If yes, then the condition becomes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</a:rPr>
                        <a:t>(A &lt;= B) is true.</a:t>
                      </a:r>
                    </a:p>
                  </a:txBody>
                  <a:tcPr marL="38226" marR="38226" marT="38226" marB="3822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6805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Ternary </a:t>
            </a:r>
            <a:r>
              <a:rPr lang="en-IN" dirty="0" smtClean="0"/>
              <a:t>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56792"/>
            <a:ext cx="893832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this operator would require a total of three operands. For instance, we can use the ?: in place of the if-else conditions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result = </a:t>
            </a:r>
            <a:r>
              <a:rPr lang="en-IN" sz="2400" dirty="0" err="1">
                <a:solidFill>
                  <a:srgbClr val="FF0000"/>
                </a:solidFill>
              </a:rPr>
              <a:t>binaryCondition</a:t>
            </a:r>
            <a:r>
              <a:rPr lang="en-IN" sz="2400" dirty="0">
                <a:solidFill>
                  <a:srgbClr val="FF0000"/>
                </a:solidFill>
              </a:rPr>
              <a:t> ? </a:t>
            </a:r>
            <a:r>
              <a:rPr lang="en-IN" sz="2400" dirty="0" err="1" smtClean="0">
                <a:solidFill>
                  <a:srgbClr val="FF0000"/>
                </a:solidFill>
              </a:rPr>
              <a:t>valueReturnedIfTrue</a:t>
            </a:r>
            <a:r>
              <a:rPr lang="en-IN" sz="2400" dirty="0" smtClean="0">
                <a:solidFill>
                  <a:srgbClr val="FF0000"/>
                </a:solidFill>
              </a:rPr>
              <a:t> : </a:t>
            </a:r>
            <a:r>
              <a:rPr lang="en-IN" sz="2400" dirty="0" err="1">
                <a:solidFill>
                  <a:srgbClr val="FF0000"/>
                </a:solidFill>
              </a:rPr>
              <a:t>valueReturnedIfFalse</a:t>
            </a:r>
            <a:r>
              <a:rPr lang="en-IN" sz="2400" dirty="0" smtClean="0">
                <a:solidFill>
                  <a:srgbClr val="FF0000"/>
                </a:solidFill>
              </a:rPr>
              <a:t>;</a:t>
            </a:r>
          </a:p>
          <a:p>
            <a:pPr marL="0" indent="0" algn="just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IN" sz="24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C=A&gt;B?A:B;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8032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Backslash Character Constants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509078100"/>
              </p:ext>
            </p:extLst>
          </p:nvPr>
        </p:nvGraphicFramePr>
        <p:xfrm>
          <a:off x="395536" y="749277"/>
          <a:ext cx="8424936" cy="590783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101338"/>
                <a:gridCol w="3323598"/>
              </a:tblGrid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 b="1" dirty="0">
                          <a:effectLst/>
                        </a:rPr>
                        <a:t>Meaning of Character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1" dirty="0">
                          <a:effectLst/>
                        </a:rPr>
                        <a:t>Backslash Character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Backspace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\b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New line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\n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Form feed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\f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Horizontal tab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\t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Carriage return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\r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Single quote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\’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Double quote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\”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Vertical tab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\v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Backslash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\\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Question mark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\?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29865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Alert or bell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\a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490642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Hexadecimal constant (Here, N – hex.dcml cnst)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\XN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  <a:tr h="490642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Octal constant (Here, N is an octal constant)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effectLst/>
                        </a:rPr>
                        <a:t>\N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73" marR="52873" marT="52873" marB="52873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96303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480" y="142852"/>
            <a:ext cx="8686800" cy="714380"/>
          </a:xfrm>
        </p:spPr>
        <p:txBody>
          <a:bodyPr>
            <a:normAutofit fontScale="90000"/>
          </a:bodyPr>
          <a:lstStyle/>
          <a:p>
            <a:r>
              <a:rPr lang="en-GB" b="1" dirty="0" err="1" smtClean="0"/>
              <a:t>Associativity</a:t>
            </a:r>
            <a:r>
              <a:rPr lang="en-GB" b="1" dirty="0" smtClean="0"/>
              <a:t> of Operators in C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428596" y="928670"/>
            <a:ext cx="8572560" cy="37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GB" sz="2800" dirty="0" smtClean="0"/>
              <a:t>When precedence of two operators are same then associativity of operator is considered for evaluation</a:t>
            </a:r>
          </a:p>
          <a:p>
            <a:pPr>
              <a:lnSpc>
                <a:spcPct val="140000"/>
              </a:lnSpc>
            </a:pPr>
            <a:r>
              <a:rPr lang="en-GB" sz="2800" dirty="0" smtClean="0"/>
              <a:t>A=20</a:t>
            </a:r>
          </a:p>
          <a:p>
            <a:pPr>
              <a:lnSpc>
                <a:spcPct val="140000"/>
              </a:lnSpc>
            </a:pPr>
            <a:r>
              <a:rPr lang="en-GB" sz="2800" dirty="0" smtClean="0"/>
              <a:t>B=10</a:t>
            </a:r>
          </a:p>
          <a:p>
            <a:pPr>
              <a:lnSpc>
                <a:spcPct val="140000"/>
              </a:lnSpc>
            </a:pPr>
            <a:r>
              <a:rPr lang="en-GB" sz="2800" dirty="0" smtClean="0"/>
              <a:t>S=</a:t>
            </a:r>
            <a:r>
              <a:rPr lang="en-GB" sz="2800" dirty="0" err="1" smtClean="0"/>
              <a:t>a+b</a:t>
            </a:r>
            <a:r>
              <a:rPr lang="en-GB" sz="2800" dirty="0" smtClean="0"/>
              <a:t>/(a-b)</a:t>
            </a:r>
          </a:p>
          <a:p>
            <a:pPr>
              <a:lnSpc>
                <a:spcPct val="140000"/>
              </a:lnSpc>
            </a:pPr>
            <a:r>
              <a:rPr lang="en-GB" sz="2800" dirty="0"/>
              <a:t> </a:t>
            </a:r>
            <a:r>
              <a:rPr lang="en-GB" sz="2800" dirty="0" smtClean="0"/>
              <a:t>    20+10/(20-10)</a:t>
            </a:r>
          </a:p>
        </p:txBody>
      </p:sp>
    </p:spTree>
    <p:extLst>
      <p:ext uri="{BB962C8B-B14F-4D97-AF65-F5344CB8AC3E}">
        <p14:creationId xmlns:p14="http://schemas.microsoft.com/office/powerpoint/2010/main" xmlns="" val="149591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28596" y="0"/>
            <a:ext cx="8358246" cy="664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78856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500042"/>
            <a:ext cx="8744845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63471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480" y="142852"/>
            <a:ext cx="8686800" cy="71438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Example </a:t>
            </a:r>
            <a:endParaRPr lang="en-GB" b="1" dirty="0"/>
          </a:p>
        </p:txBody>
      </p:sp>
      <p:sp>
        <p:nvSpPr>
          <p:cNvPr id="4" name="Rectangle 3"/>
          <p:cNvSpPr/>
          <p:nvPr/>
        </p:nvSpPr>
        <p:spPr>
          <a:xfrm>
            <a:off x="214282" y="928670"/>
            <a:ext cx="857256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/>
              <a:t>#include&lt;</a:t>
            </a:r>
            <a:r>
              <a:rPr lang="en-GB" sz="2800" dirty="0" err="1" smtClean="0"/>
              <a:t>stdio.h</a:t>
            </a:r>
            <a:r>
              <a:rPr lang="en-GB" sz="2800" dirty="0" smtClean="0"/>
              <a:t>&gt;</a:t>
            </a:r>
            <a:br>
              <a:rPr lang="en-GB" sz="2800" dirty="0" smtClean="0"/>
            </a:br>
            <a:r>
              <a:rPr lang="en-GB" sz="2800" dirty="0" smtClean="0"/>
              <a:t>main()</a:t>
            </a:r>
            <a:br>
              <a:rPr lang="en-GB" sz="2800" dirty="0" smtClean="0"/>
            </a:br>
            <a:r>
              <a:rPr lang="en-GB" sz="2800" dirty="0" smtClean="0"/>
              <a:t>{</a:t>
            </a:r>
            <a:br>
              <a:rPr lang="en-GB" sz="2800" dirty="0" smtClean="0"/>
            </a:br>
            <a:r>
              <a:rPr lang="en-GB" sz="2800" dirty="0" err="1" smtClean="0"/>
              <a:t>int</a:t>
            </a:r>
            <a:r>
              <a:rPr lang="en-GB" sz="2800" dirty="0" smtClean="0"/>
              <a:t> a, </a:t>
            </a:r>
            <a:r>
              <a:rPr lang="en-GB" sz="2800" dirty="0" err="1" smtClean="0"/>
              <a:t>b,c</a:t>
            </a:r>
            <a:r>
              <a:rPr lang="en-GB" sz="2800" dirty="0" smtClean="0"/>
              <a:t>;</a:t>
            </a:r>
            <a:br>
              <a:rPr lang="en-GB" sz="2800" dirty="0" smtClean="0"/>
            </a:br>
            <a:r>
              <a:rPr lang="en-GB" sz="2800" dirty="0" smtClean="0"/>
              <a:t>a = 4;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c =++a+ a++;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err="1" smtClean="0"/>
              <a:t>printf</a:t>
            </a:r>
            <a:r>
              <a:rPr lang="en-GB" sz="2800" dirty="0" smtClean="0"/>
              <a:t> ( "c = %d", c) 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err="1" smtClean="0"/>
              <a:t>printf</a:t>
            </a:r>
            <a:r>
              <a:rPr lang="en-GB" sz="2800" dirty="0" smtClean="0"/>
              <a:t> ( "a = %d", a) 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112061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480" y="142852"/>
            <a:ext cx="8686800" cy="71438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Output </a:t>
            </a:r>
            <a:endParaRPr lang="en-GB" b="1" dirty="0"/>
          </a:p>
        </p:txBody>
      </p:sp>
      <p:sp>
        <p:nvSpPr>
          <p:cNvPr id="4" name="Rectangle 3"/>
          <p:cNvSpPr/>
          <p:nvPr/>
        </p:nvSpPr>
        <p:spPr>
          <a:xfrm>
            <a:off x="214282" y="928670"/>
            <a:ext cx="8572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/>
              <a:t>c = 10 a = 6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xmlns="" val="394913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480" y="142852"/>
            <a:ext cx="8686800" cy="71438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Example </a:t>
            </a:r>
            <a:endParaRPr lang="en-GB" b="1" dirty="0"/>
          </a:p>
        </p:txBody>
      </p:sp>
      <p:sp>
        <p:nvSpPr>
          <p:cNvPr id="4" name="Rectangle 3"/>
          <p:cNvSpPr/>
          <p:nvPr/>
        </p:nvSpPr>
        <p:spPr>
          <a:xfrm>
            <a:off x="214282" y="928670"/>
            <a:ext cx="857256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/>
              <a:t>#include&lt;</a:t>
            </a:r>
            <a:r>
              <a:rPr lang="en-GB" sz="2800" dirty="0" err="1" smtClean="0"/>
              <a:t>stdio.h</a:t>
            </a:r>
            <a:r>
              <a:rPr lang="en-GB" sz="2800" dirty="0" smtClean="0"/>
              <a:t>&gt;</a:t>
            </a:r>
            <a:br>
              <a:rPr lang="en-GB" sz="2800" dirty="0" smtClean="0"/>
            </a:br>
            <a:r>
              <a:rPr lang="en-GB" sz="2800" dirty="0" smtClean="0"/>
              <a:t>main()</a:t>
            </a:r>
            <a:br>
              <a:rPr lang="en-GB" sz="2800" dirty="0" smtClean="0"/>
            </a:br>
            <a:r>
              <a:rPr lang="en-GB" sz="2800" dirty="0" smtClean="0"/>
              <a:t>{</a:t>
            </a:r>
            <a:br>
              <a:rPr lang="en-GB" sz="2800" dirty="0" smtClean="0"/>
            </a:br>
            <a:r>
              <a:rPr lang="en-GB" sz="2800" dirty="0" err="1" smtClean="0"/>
              <a:t>int</a:t>
            </a:r>
            <a:r>
              <a:rPr lang="en-GB" sz="2800" dirty="0" smtClean="0"/>
              <a:t> a, </a:t>
            </a:r>
            <a:r>
              <a:rPr lang="en-GB" sz="2800" dirty="0" err="1" smtClean="0"/>
              <a:t>b,c</a:t>
            </a:r>
            <a:r>
              <a:rPr lang="en-GB" sz="2800" dirty="0" smtClean="0"/>
              <a:t>;</a:t>
            </a:r>
            <a:br>
              <a:rPr lang="en-GB" sz="2800" dirty="0" smtClean="0"/>
            </a:br>
            <a:r>
              <a:rPr lang="en-GB" sz="2800" dirty="0" smtClean="0"/>
              <a:t>a = 4;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c = ++a + ++a;     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err="1" smtClean="0"/>
              <a:t>printf</a:t>
            </a:r>
            <a:r>
              <a:rPr lang="en-GB" sz="2800" dirty="0" smtClean="0"/>
              <a:t> ( "c = %d", c) 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err="1" smtClean="0"/>
              <a:t>printf</a:t>
            </a:r>
            <a:r>
              <a:rPr lang="en-GB" sz="2800" dirty="0" smtClean="0"/>
              <a:t> ( "a = %d", a) 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18521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480" y="142852"/>
            <a:ext cx="8686800" cy="71438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Output </a:t>
            </a:r>
            <a:endParaRPr lang="en-GB" b="1" dirty="0"/>
          </a:p>
        </p:txBody>
      </p:sp>
      <p:sp>
        <p:nvSpPr>
          <p:cNvPr id="4" name="Rectangle 3"/>
          <p:cNvSpPr/>
          <p:nvPr/>
        </p:nvSpPr>
        <p:spPr>
          <a:xfrm>
            <a:off x="214282" y="928670"/>
            <a:ext cx="8572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/>
              <a:t>c = 12 a = 6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xmlns="" val="413793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480" y="142852"/>
            <a:ext cx="8686800" cy="71438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Example </a:t>
            </a:r>
            <a:endParaRPr lang="en-GB" b="1" dirty="0"/>
          </a:p>
        </p:txBody>
      </p:sp>
      <p:sp>
        <p:nvSpPr>
          <p:cNvPr id="4" name="Rectangle 3"/>
          <p:cNvSpPr/>
          <p:nvPr/>
        </p:nvSpPr>
        <p:spPr>
          <a:xfrm>
            <a:off x="214282" y="928670"/>
            <a:ext cx="857256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/>
              <a:t>#include&lt;</a:t>
            </a:r>
            <a:r>
              <a:rPr lang="en-GB" sz="2800" dirty="0" err="1" smtClean="0"/>
              <a:t>stdio.h</a:t>
            </a:r>
            <a:r>
              <a:rPr lang="en-GB" sz="2800" dirty="0" smtClean="0"/>
              <a:t>&gt;</a:t>
            </a:r>
            <a:br>
              <a:rPr lang="en-GB" sz="2800" dirty="0" smtClean="0"/>
            </a:br>
            <a:r>
              <a:rPr lang="en-GB" sz="2800" dirty="0" smtClean="0"/>
              <a:t>main()</a:t>
            </a:r>
            <a:br>
              <a:rPr lang="en-GB" sz="2800" dirty="0" smtClean="0"/>
            </a:br>
            <a:r>
              <a:rPr lang="en-GB" sz="2800" dirty="0" smtClean="0"/>
              <a:t>{</a:t>
            </a:r>
            <a:br>
              <a:rPr lang="en-GB" sz="2800" dirty="0" smtClean="0"/>
            </a:br>
            <a:r>
              <a:rPr lang="en-GB" sz="2800" dirty="0" err="1" smtClean="0"/>
              <a:t>int</a:t>
            </a:r>
            <a:r>
              <a:rPr lang="en-GB" sz="2800" dirty="0" smtClean="0"/>
              <a:t> a, </a:t>
            </a:r>
            <a:r>
              <a:rPr lang="en-GB" sz="2800" dirty="0" err="1" smtClean="0"/>
              <a:t>b,c</a:t>
            </a:r>
            <a:r>
              <a:rPr lang="en-GB" sz="2800" dirty="0" smtClean="0"/>
              <a:t>;</a:t>
            </a:r>
            <a:br>
              <a:rPr lang="en-GB" sz="2800" dirty="0" smtClean="0"/>
            </a:br>
            <a:r>
              <a:rPr lang="en-GB" sz="2800" dirty="0" smtClean="0"/>
              <a:t>a = 4;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c = a++ + ++a;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err="1" smtClean="0"/>
              <a:t>printf</a:t>
            </a:r>
            <a:r>
              <a:rPr lang="en-GB" sz="2800" dirty="0" smtClean="0"/>
              <a:t> ( "c = %d", c) 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err="1" smtClean="0"/>
              <a:t>printf</a:t>
            </a:r>
            <a:r>
              <a:rPr lang="en-GB" sz="2800" dirty="0" smtClean="0"/>
              <a:t> ( "a = %d", a) ;</a:t>
            </a:r>
            <a:br>
              <a:rPr lang="en-GB" sz="2800" dirty="0" smtClean="0"/>
            </a:b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152677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480" y="142852"/>
            <a:ext cx="8686800" cy="71438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Output </a:t>
            </a:r>
            <a:endParaRPr lang="en-GB" b="1" dirty="0"/>
          </a:p>
        </p:txBody>
      </p:sp>
      <p:sp>
        <p:nvSpPr>
          <p:cNvPr id="4" name="Rectangle 3"/>
          <p:cNvSpPr/>
          <p:nvPr/>
        </p:nvSpPr>
        <p:spPr>
          <a:xfrm>
            <a:off x="214282" y="928670"/>
            <a:ext cx="8572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/>
              <a:t>c = 10 a = 6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xmlns="" val="281654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8276</TotalTime>
  <Words>1195</Words>
  <Application>Microsoft Office PowerPoint</Application>
  <PresentationFormat>On-screen Show (4:3)</PresentationFormat>
  <Paragraphs>217</Paragraphs>
  <Slides>21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Operators in C</vt:lpstr>
      <vt:lpstr>Unary Operator</vt:lpstr>
      <vt:lpstr>Binary Operator</vt:lpstr>
      <vt:lpstr>Arithmetic Operators</vt:lpstr>
      <vt:lpstr>Logical Operators</vt:lpstr>
      <vt:lpstr>Bitwise Operators</vt:lpstr>
      <vt:lpstr>Assignment Operators</vt:lpstr>
      <vt:lpstr>Slide 8</vt:lpstr>
      <vt:lpstr>Misc Operators </vt:lpstr>
      <vt:lpstr>Relational Operators</vt:lpstr>
      <vt:lpstr>Ternary Operator</vt:lpstr>
      <vt:lpstr>Backslash Character Constants </vt:lpstr>
      <vt:lpstr>Associativity of Operators in C</vt:lpstr>
      <vt:lpstr>Slide 14</vt:lpstr>
      <vt:lpstr>Slide 15</vt:lpstr>
      <vt:lpstr>Example </vt:lpstr>
      <vt:lpstr>Output </vt:lpstr>
      <vt:lpstr>Example </vt:lpstr>
      <vt:lpstr>Output </vt:lpstr>
      <vt:lpstr>Example </vt:lpstr>
      <vt:lpstr>Output 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Data Type</dc:title>
  <dc:creator>Gladys</dc:creator>
  <cp:lastModifiedBy>ELCOT</cp:lastModifiedBy>
  <cp:revision>67</cp:revision>
  <dcterms:created xsi:type="dcterms:W3CDTF">2017-01-20T06:25:46Z</dcterms:created>
  <dcterms:modified xsi:type="dcterms:W3CDTF">2023-02-28T05:44:37Z</dcterms:modified>
</cp:coreProperties>
</file>