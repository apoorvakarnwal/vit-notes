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73" r:id="rId4"/>
    <p:sldId id="274" r:id="rId5"/>
    <p:sldId id="275" r:id="rId6"/>
    <p:sldId id="257" r:id="rId7"/>
    <p:sldId id="258" r:id="rId8"/>
    <p:sldId id="259" r:id="rId9"/>
    <p:sldId id="276" r:id="rId10"/>
    <p:sldId id="277" r:id="rId11"/>
    <p:sldId id="278" r:id="rId12"/>
    <p:sldId id="27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80" r:id="rId22"/>
    <p:sldId id="281" r:id="rId23"/>
    <p:sldId id="282" r:id="rId24"/>
    <p:sldId id="268" r:id="rId25"/>
    <p:sldId id="269" r:id="rId26"/>
    <p:sldId id="270" r:id="rId27"/>
    <p:sldId id="298" r:id="rId28"/>
    <p:sldId id="283" r:id="rId29"/>
    <p:sldId id="284" r:id="rId30"/>
    <p:sldId id="285" r:id="rId31"/>
    <p:sldId id="286" r:id="rId32"/>
    <p:sldId id="287" r:id="rId33"/>
    <p:sldId id="288" r:id="rId34"/>
    <p:sldId id="299" r:id="rId35"/>
    <p:sldId id="289" r:id="rId36"/>
    <p:sldId id="290" r:id="rId37"/>
    <p:sldId id="292" r:id="rId38"/>
    <p:sldId id="294" r:id="rId39"/>
    <p:sldId id="295" r:id="rId40"/>
    <p:sldId id="296" r:id="rId41"/>
    <p:sldId id="297" r:id="rId42"/>
    <p:sldId id="29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4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1A69-3D88-67F2-3004-4150A9AF2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3B505-014B-811B-8977-9F5CEB335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582F3-F635-246A-3B22-A100C1856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81DCB-376E-9BDC-92CF-C50F0E62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7B6DC-4390-5527-3B09-29007F721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18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5653A-022A-FB49-6695-D978A847A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2D58F-CC74-320A-F1FB-2647E9CF8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1341C-CBB7-B0CD-285C-852A7206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9F50F-A2C8-B06D-8C5E-CA8ECD475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01279-AA30-9613-696E-6B3F780D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68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C74C-789A-53C9-E5DE-5D652DB6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F8AB68-6A19-101B-6E5F-B82AB8397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D7007-6268-2318-2802-48DD35A0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76A38-BA2E-7182-89D4-27076B3D7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23AE3-2ABB-E784-AF5B-31988316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98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F19D-2B0E-9FD7-8F5F-480A2E0E8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B0484-E934-E256-D99A-84FDB9E92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8F9BB-D1C5-C3E4-5A6D-1BAA657E6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5E4FE-5BF4-9ECC-0D64-C2132AC5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14E91-2B0D-FF78-B3B8-CA137094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A4129-5BA2-74B1-E028-9E64E1F1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63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B085-D4FE-4DEE-BC04-2A2EC06C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B6EB4-1ABC-501E-EB65-ED705931C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B0445-780A-231C-6546-4CEEAB8A1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A5536-C9AE-EB0A-2F2E-BBCE02CF0B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7446A-B6EC-2EA0-0558-B878FC790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4C4334-63B2-71F1-56E6-868CEC72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CE823E-C48D-3958-C400-D28979BF3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7D053-ADFD-3A93-9AE2-9FE44A70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39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27D5-4945-D023-92B6-8D61C1D2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0D6FB0-11BD-2589-C128-61DA2B1FC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B7359-CB3F-D22D-2722-84A2D383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8CF1C-3D02-5C16-D225-B6E8E2A7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96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D7CC75-6CEB-9192-46DD-E32332EC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3232D-DE6B-8BC4-115F-086FCA83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CBC4-A1EF-DB70-0F1A-EE35AFE5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75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FBE5-1199-693E-7E79-45DD8450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70B0C-5C54-0485-D2E6-0EC88FAE4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79E15-031E-5C43-03D0-6888A7161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A54ED-C467-6799-404B-E62BEB79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07AE8-E96D-0F7B-00E7-DD792AF0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09165-4214-CE70-C0C0-C0FC76E5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9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EFDE0-9DF5-CD60-14D3-B92126724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3DB0D-34BC-569D-3EFE-314475EDA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A6F3-1DA4-86DE-732B-37B58DF29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03E47-5A15-BC4F-9AE3-1E642D96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BFD86-34FB-F921-F002-4027D278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17518-036C-C14E-76C5-97201548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4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9955D-C219-4D87-7A74-F0AF23764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65C721-3CE8-83CA-1A6F-6A23B57E4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634B0-5C4C-3008-98E5-3008DC9DB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7386-15DA-3061-5A71-BC43A5BF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72C7-A567-EB01-E4F7-A1703650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1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342CA1-ECB5-70BB-50D4-DB21F8BD4D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D4570-5AB0-85BD-9983-A286344E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90AC3-48DB-360A-5048-35178DE1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51343-62A4-6886-1CD6-F2632240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AF64F-A9C9-020E-DF0F-5B6E5392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69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2629C-0CD9-31A4-5530-6A27F8EC0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DDC43-F10F-7D77-66B7-D660D489A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E1BE0-473C-4D33-D2B1-AB83315A6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2E9D6-1F01-4DC2-A0E6-0FA020A7E628}" type="datetimeFigureOut">
              <a:rPr lang="en-IN" smtClean="0"/>
              <a:t>31-05-2023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4A127-A800-3E4F-2357-ED71239A2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3295D-35A0-1243-ADF7-84CA1D2BB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0517F-1A4B-42E2-99F7-B33CAEBD49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3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ontainers-cpp-stl/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map-erase-function-in-c-stl/" TargetMode="External"/><Relationship Id="rId3" Type="http://schemas.openxmlformats.org/officeDocument/2006/relationships/hyperlink" Target="https://www.geeksforgeeks.org/mapbegin-end-c-stl/" TargetMode="External"/><Relationship Id="rId7" Type="http://schemas.openxmlformats.org/officeDocument/2006/relationships/hyperlink" Target="https://www.geeksforgeeks.org/map-insert-in-c-stl/" TargetMode="External"/><Relationship Id="rId2" Type="http://schemas.openxmlformats.org/officeDocument/2006/relationships/hyperlink" Target="https://www.geeksforgeeks.org/containers-cpp-stl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eeksforgeeks.org/mapempty-c-stl/" TargetMode="External"/><Relationship Id="rId5" Type="http://schemas.openxmlformats.org/officeDocument/2006/relationships/hyperlink" Target="https://www.geeksforgeeks.org/map-max_size-in-c-stl/" TargetMode="External"/><Relationship Id="rId4" Type="http://schemas.openxmlformats.org/officeDocument/2006/relationships/hyperlink" Target="https://www.geeksforgeeks.org/mapsize-c-stl/" TargetMode="External"/><Relationship Id="rId9" Type="http://schemas.openxmlformats.org/officeDocument/2006/relationships/hyperlink" Target="https://www.geeksforgeeks.org/mapclear-c-stl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489A-9E9F-8C73-C71A-D81C002824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Standard Template Library</a:t>
            </a:r>
            <a:endParaRPr lang="en-IN" b="1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ED6EE5-3A7A-B109-0C09-55655BA353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280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3059D-2DC9-0EEB-1475-B3DA566DD725}"/>
              </a:ext>
            </a:extLst>
          </p:cNvPr>
          <p:cNvSpPr txBox="1"/>
          <p:nvPr/>
        </p:nvSpPr>
        <p:spPr>
          <a:xfrm>
            <a:off x="3777521" y="419725"/>
            <a:ext cx="4212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Contents</a:t>
            </a:r>
            <a:endParaRPr lang="en-IN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163CB-B291-1BEA-96A9-B04438A7B1EB}"/>
              </a:ext>
            </a:extLst>
          </p:cNvPr>
          <p:cNvSpPr txBox="1"/>
          <p:nvPr/>
        </p:nvSpPr>
        <p:spPr>
          <a:xfrm>
            <a:off x="1543987" y="1343055"/>
            <a:ext cx="8739265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5400" dirty="0"/>
              <a:t> Introduction to STL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5400" dirty="0"/>
              <a:t>Containers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5400" dirty="0"/>
              <a:t>Iterators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5400" dirty="0"/>
              <a:t>Algorithms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5400" dirty="0"/>
              <a:t>Function Objects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54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336669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8BE44B-BA2D-27DC-ED8F-5F128A2F7AA0}"/>
              </a:ext>
            </a:extLst>
          </p:cNvPr>
          <p:cNvSpPr txBox="1"/>
          <p:nvPr/>
        </p:nvSpPr>
        <p:spPr>
          <a:xfrm>
            <a:off x="479686" y="428178"/>
            <a:ext cx="9653665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Introduction to STL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200" dirty="0"/>
              <a:t>STL is standard Template Library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3200" dirty="0"/>
              <a:t>Powerful, template-based components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3200" dirty="0"/>
              <a:t>Containers : Template Data Structures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3200" dirty="0"/>
              <a:t>Iterators : Like pointers, Access elements of containers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3200" dirty="0"/>
              <a:t>Algorithms: Data manipulation, searching ,sorting etc.,</a:t>
            </a:r>
          </a:p>
          <a:p>
            <a:pPr marL="719138" lvl="2" indent="-285750">
              <a:buFont typeface="Wingdings" panose="05000000000000000000" pitchFamily="2" charset="2"/>
              <a:buChar char="Ø"/>
            </a:pPr>
            <a:r>
              <a:rPr lang="en-US" sz="3200" dirty="0"/>
              <a:t>Object-Oriented Programming : Reuse – Reuse</a:t>
            </a:r>
          </a:p>
          <a:p>
            <a:pPr marL="809625" lvl="2" indent="-360363">
              <a:buFont typeface="Wingdings" panose="05000000000000000000" pitchFamily="2" charset="2"/>
              <a:buChar char="Ø"/>
            </a:pPr>
            <a:r>
              <a:rPr lang="en-US" sz="3200" dirty="0"/>
              <a:t>STL is a huge class library</a:t>
            </a:r>
          </a:p>
        </p:txBody>
      </p:sp>
    </p:spTree>
    <p:extLst>
      <p:ext uri="{BB962C8B-B14F-4D97-AF65-F5344CB8AC3E}">
        <p14:creationId xmlns:p14="http://schemas.microsoft.com/office/powerpoint/2010/main" val="484954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DC6CE1-C282-CA58-7E35-CA9BE762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197" y="2031557"/>
            <a:ext cx="3209925" cy="37242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8733A6-EDCE-D2FC-2CA0-F95B3243730D}"/>
              </a:ext>
            </a:extLst>
          </p:cNvPr>
          <p:cNvSpPr txBox="1"/>
          <p:nvPr/>
        </p:nvSpPr>
        <p:spPr>
          <a:xfrm>
            <a:off x="959370" y="884420"/>
            <a:ext cx="61459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r>
              <a:rPr lang="en-US" sz="3200" dirty="0"/>
              <a:t>Data storage, Data Access and algorithms are separated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3200" dirty="0"/>
              <a:t>Containers </a:t>
            </a:r>
            <a:r>
              <a:rPr lang="en-US" sz="3200" dirty="0">
                <a:solidFill>
                  <a:srgbClr val="FF0000"/>
                </a:solidFill>
              </a:rPr>
              <a:t>hold data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3200" dirty="0"/>
              <a:t>Iterators </a:t>
            </a:r>
            <a:r>
              <a:rPr lang="en-US" sz="3200" dirty="0">
                <a:solidFill>
                  <a:srgbClr val="FF0000"/>
                </a:solidFill>
              </a:rPr>
              <a:t>access data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3200" dirty="0"/>
              <a:t>Algorithms, function object </a:t>
            </a:r>
            <a:r>
              <a:rPr lang="en-US" sz="3200" dirty="0">
                <a:solidFill>
                  <a:srgbClr val="FF0000"/>
                </a:solidFill>
              </a:rPr>
              <a:t>manipulate data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3200" dirty="0"/>
              <a:t>Allocators – allocate data           ( mostly we ignore)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1148E-0A9B-FB2E-CADE-20D5339B3950}"/>
              </a:ext>
            </a:extLst>
          </p:cNvPr>
          <p:cNvSpPr txBox="1"/>
          <p:nvPr/>
        </p:nvSpPr>
        <p:spPr>
          <a:xfrm>
            <a:off x="2038662" y="284813"/>
            <a:ext cx="86043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Overview of STL Components</a:t>
            </a:r>
          </a:p>
          <a:p>
            <a:pPr algn="ctr"/>
            <a:endParaRPr lang="en-IN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948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87F05F-E2A7-AAFD-DAC9-865702450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466" y="3633085"/>
            <a:ext cx="4276725" cy="1733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A555A2-674E-2098-FD1B-83FFFB43DFA6}"/>
              </a:ext>
            </a:extLst>
          </p:cNvPr>
          <p:cNvSpPr txBox="1"/>
          <p:nvPr/>
        </p:nvSpPr>
        <p:spPr>
          <a:xfrm>
            <a:off x="3387777" y="284813"/>
            <a:ext cx="59361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Containers</a:t>
            </a:r>
            <a:endParaRPr lang="en-IN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DBA1D1-6D27-E38F-83DA-32830B8717DD}"/>
              </a:ext>
            </a:extLst>
          </p:cNvPr>
          <p:cNvSpPr txBox="1"/>
          <p:nvPr/>
        </p:nvSpPr>
        <p:spPr>
          <a:xfrm>
            <a:off x="1109273" y="1743505"/>
            <a:ext cx="10223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600" dirty="0"/>
              <a:t>Container is a way that stored data is organized in memory for example an array of elements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64444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1B338F-EAB1-B0B4-9E37-9045256D1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2" y="1123950"/>
            <a:ext cx="932497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039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CEC910-8AE7-7337-403F-9AE2A7D70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7" y="1152525"/>
            <a:ext cx="9877425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58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451F6D-3AEA-1B40-38C8-F3483D70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881062"/>
            <a:ext cx="9363075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6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F8B9B-CDD8-4D2F-ACAA-4222CC61657B}"/>
              </a:ext>
            </a:extLst>
          </p:cNvPr>
          <p:cNvSpPr txBox="1"/>
          <p:nvPr/>
        </p:nvSpPr>
        <p:spPr>
          <a:xfrm>
            <a:off x="1053886" y="883403"/>
            <a:ext cx="359560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Sequence Containers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Vector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Deque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List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Associative Container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Set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Multiset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Map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Multimap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/>
              <a:t>Container adapters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Stack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/>
              <a:t>Queue</a:t>
            </a:r>
          </a:p>
          <a:p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2D25EB-180A-4589-17CD-C9D2470FC70E}"/>
              </a:ext>
            </a:extLst>
          </p:cNvPr>
          <p:cNvSpPr txBox="1"/>
          <p:nvPr/>
        </p:nvSpPr>
        <p:spPr>
          <a:xfrm>
            <a:off x="2983043" y="52406"/>
            <a:ext cx="50966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0000"/>
                </a:solidFill>
              </a:rPr>
              <a:t>Container Conti….</a:t>
            </a:r>
            <a:endParaRPr lang="en-IN" sz="4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087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EA7C2A-F572-97DD-30EF-823B9A4D923C}"/>
              </a:ext>
            </a:extLst>
          </p:cNvPr>
          <p:cNvSpPr txBox="1"/>
          <p:nvPr/>
        </p:nvSpPr>
        <p:spPr>
          <a:xfrm>
            <a:off x="554636" y="299804"/>
            <a:ext cx="1145248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dirty="0"/>
          </a:p>
          <a:p>
            <a:r>
              <a:rPr lang="en-US" sz="3200" dirty="0"/>
              <a:t>Vector&lt;T&gt; - Dynamic array</a:t>
            </a:r>
          </a:p>
          <a:p>
            <a:pPr marL="900113" indent="-285750">
              <a:buFont typeface="Arial" panose="020B0604020202020204" pitchFamily="34" charset="0"/>
              <a:buChar char="•"/>
            </a:pPr>
            <a:r>
              <a:rPr lang="en-US" sz="3200" dirty="0"/>
              <a:t>	Offers random access, back insertion</a:t>
            </a:r>
          </a:p>
          <a:p>
            <a:pPr marL="900113" indent="-285750">
              <a:buFont typeface="Arial" panose="020B0604020202020204" pitchFamily="34" charset="0"/>
              <a:buChar char="•"/>
            </a:pPr>
            <a:r>
              <a:rPr lang="en-US" sz="3200" dirty="0"/>
              <a:t>Should be your default choice, but choose wisely</a:t>
            </a:r>
          </a:p>
          <a:p>
            <a:pPr marL="900113" indent="-285750">
              <a:buFont typeface="Arial" panose="020B0604020202020204" pitchFamily="34" charset="0"/>
              <a:buChar char="•"/>
            </a:pPr>
            <a:r>
              <a:rPr lang="en-US" sz="3200" dirty="0"/>
              <a:t> Backward compatible with C &amp;v[0]  points to the first element</a:t>
            </a:r>
          </a:p>
          <a:p>
            <a:pPr marL="900113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dirty="0"/>
              <a:t>Deque&lt;T&gt; - Double ended queue( usually array of arrays)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Offers random access, back and front insertion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Slower than vectors, no c compatibility</a:t>
            </a:r>
          </a:p>
          <a:p>
            <a:pPr lvl="1"/>
            <a:endParaRPr lang="en-US" sz="3200" dirty="0"/>
          </a:p>
          <a:p>
            <a:pPr marL="0" lvl="1"/>
            <a:r>
              <a:rPr lang="en-US" sz="3200" dirty="0"/>
              <a:t>List &lt;T&gt; - ‘Traditional’ doubly linked list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Don’t expect random access, you can insert anywhere though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3645C-95EE-9A13-2A95-0A5471455BBB}"/>
              </a:ext>
            </a:extLst>
          </p:cNvPr>
          <p:cNvSpPr txBox="1"/>
          <p:nvPr/>
        </p:nvSpPr>
        <p:spPr>
          <a:xfrm>
            <a:off x="1933731" y="124072"/>
            <a:ext cx="76749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Sequential Container</a:t>
            </a:r>
            <a:endParaRPr lang="en-IN" sz="4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509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ECF13C-D3DA-0786-2D79-356981D0DEA3}"/>
              </a:ext>
            </a:extLst>
          </p:cNvPr>
          <p:cNvSpPr txBox="1"/>
          <p:nvPr/>
        </p:nvSpPr>
        <p:spPr>
          <a:xfrm>
            <a:off x="554636" y="1633928"/>
            <a:ext cx="95937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-Size()                - Provides the number of elements</a:t>
            </a:r>
          </a:p>
          <a:p>
            <a:endParaRPr lang="en-IN" sz="2800" dirty="0"/>
          </a:p>
          <a:p>
            <a:r>
              <a:rPr lang="en-IN" sz="2800" dirty="0"/>
              <a:t>-</a:t>
            </a:r>
            <a:r>
              <a:rPr lang="en-IN" sz="2800" dirty="0" err="1"/>
              <a:t>push_back</a:t>
            </a:r>
            <a:r>
              <a:rPr lang="en-IN" sz="2800" dirty="0"/>
              <a:t>()   - appends an element to the end</a:t>
            </a:r>
          </a:p>
          <a:p>
            <a:endParaRPr lang="en-IN" sz="2800" dirty="0"/>
          </a:p>
          <a:p>
            <a:r>
              <a:rPr lang="en-IN" sz="2800" dirty="0"/>
              <a:t>-</a:t>
            </a:r>
            <a:r>
              <a:rPr lang="en-IN" sz="2800" dirty="0" err="1"/>
              <a:t>pop_back</a:t>
            </a:r>
            <a:r>
              <a:rPr lang="en-IN" sz="2800" dirty="0"/>
              <a:t>()     - erases the last element</a:t>
            </a:r>
          </a:p>
          <a:p>
            <a:endParaRPr lang="en-IN" sz="2800" dirty="0"/>
          </a:p>
          <a:p>
            <a:r>
              <a:rPr lang="en-IN" sz="2800" dirty="0"/>
              <a:t>-begin()            - Provides reference to the last element</a:t>
            </a:r>
          </a:p>
          <a:p>
            <a:endParaRPr lang="en-IN" sz="2800" dirty="0"/>
          </a:p>
          <a:p>
            <a:pPr>
              <a:tabLst>
                <a:tab pos="2428875" algn="l"/>
              </a:tabLst>
            </a:pPr>
            <a:r>
              <a:rPr lang="en-IN" sz="2800" dirty="0"/>
              <a:t>- end()              - Provides reference to the end vector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4F58C-26F2-1953-DDC8-7AABD111AC91}"/>
              </a:ext>
            </a:extLst>
          </p:cNvPr>
          <p:cNvSpPr txBox="1"/>
          <p:nvPr/>
        </p:nvSpPr>
        <p:spPr>
          <a:xfrm>
            <a:off x="2528341" y="378980"/>
            <a:ext cx="7135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Functions of Vector class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886812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FCF41D-3115-E5B8-3453-913E230AB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833" y="252979"/>
            <a:ext cx="8586334" cy="635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407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1E29E7-8EC3-5FBF-7702-1D164769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30" y="265348"/>
            <a:ext cx="9510939" cy="630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91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D0031-6906-888E-E5F2-A5E8FE50A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87" y="752929"/>
            <a:ext cx="9965713" cy="5299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808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E6F4F-BC71-C80E-63C3-EB0936608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145" y="647261"/>
            <a:ext cx="9627884" cy="2817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569CF1-5AB6-C0B1-B068-268D8F1AE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144" y="3429000"/>
            <a:ext cx="9627883" cy="321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039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FF1791-8A7C-7338-7C2B-E5BD1277E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04" y="2645385"/>
            <a:ext cx="8595453" cy="4021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D7401E-C731-B2C2-CBB9-16D281F82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04" y="273660"/>
            <a:ext cx="8595452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684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42C7B1-ECAD-7B54-3228-1A234D39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599" y="1038004"/>
            <a:ext cx="10459575" cy="49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28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39A1A-C1A8-13D5-B1F5-1CD85AA2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02" y="562427"/>
            <a:ext cx="5455784" cy="5286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68D0BC-BFFD-50D3-A3F2-DB33F95C6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3399"/>
            <a:ext cx="4919436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0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1A65E-BF2C-EB8D-1C37-DBE930A9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" y="674914"/>
            <a:ext cx="4010478" cy="5476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480E14-A8F9-F4FE-2D8C-83D97617F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346" y="690902"/>
            <a:ext cx="3918856" cy="5444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3A1000-1E05-4AE5-7B9F-4FE308511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328" y="799602"/>
            <a:ext cx="4419600" cy="54761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85E9F6-EC3A-82F8-F77E-E5F92CBCC220}"/>
              </a:ext>
            </a:extLst>
          </p:cNvPr>
          <p:cNvSpPr txBox="1"/>
          <p:nvPr/>
        </p:nvSpPr>
        <p:spPr>
          <a:xfrm>
            <a:off x="254833" y="6275796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100100100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1451D-89A5-4649-97E0-87629FD8C532}"/>
              </a:ext>
            </a:extLst>
          </p:cNvPr>
          <p:cNvSpPr txBox="1"/>
          <p:nvPr/>
        </p:nvSpPr>
        <p:spPr>
          <a:xfrm>
            <a:off x="4151011" y="6275796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100100100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87249-E9B3-0A25-ADFE-84EEC1240974}"/>
              </a:ext>
            </a:extLst>
          </p:cNvPr>
          <p:cNvSpPr txBox="1"/>
          <p:nvPr/>
        </p:nvSpPr>
        <p:spPr>
          <a:xfrm>
            <a:off x="8187129" y="6290488"/>
            <a:ext cx="3750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Both the Vectors are equal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194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6450B9-06C6-19BB-6643-C7423B000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51" y="425255"/>
            <a:ext cx="4219575" cy="61206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190A8-FFA9-40DB-2443-47D72DB3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764" y="425255"/>
            <a:ext cx="6305766" cy="59900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042888-1DCC-8069-C263-0FF92FE6EE37}"/>
              </a:ext>
            </a:extLst>
          </p:cNvPr>
          <p:cNvSpPr txBox="1"/>
          <p:nvPr/>
        </p:nvSpPr>
        <p:spPr>
          <a:xfrm>
            <a:off x="2080554" y="6248079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13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6405BE-0915-F7FA-0DF4-8429D3B524AB}"/>
              </a:ext>
            </a:extLst>
          </p:cNvPr>
          <p:cNvSpPr txBox="1"/>
          <p:nvPr/>
        </p:nvSpPr>
        <p:spPr>
          <a:xfrm>
            <a:off x="7383238" y="6230648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1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45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365BB-C6FD-059D-0579-8B8201A70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643" y="288410"/>
            <a:ext cx="9002713" cy="628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96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9ACC1-1EC2-DD04-ADEB-351200656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195" y="445407"/>
            <a:ext cx="9114519" cy="630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37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6F803-574B-48FF-4F8D-CCF976BC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122" y="571953"/>
            <a:ext cx="9456964" cy="609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00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04E4DE-B7A9-0AC3-1626-201355DBFA16}"/>
              </a:ext>
            </a:extLst>
          </p:cNvPr>
          <p:cNvSpPr txBox="1"/>
          <p:nvPr/>
        </p:nvSpPr>
        <p:spPr>
          <a:xfrm>
            <a:off x="2165532" y="188686"/>
            <a:ext cx="6949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ITERATORS</a:t>
            </a:r>
            <a:endParaRPr lang="en-IN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12392-AEAC-CFE7-F3A9-10BCD239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10" y="770633"/>
            <a:ext cx="9451032" cy="2959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E30740-F209-F3D5-FE09-86C321F89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310" y="3846286"/>
            <a:ext cx="9343118" cy="2823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4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F23EE3-E0DC-513E-DC8D-8A8F51765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13" y="511206"/>
            <a:ext cx="10618973" cy="58355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127EBE-F921-0EBB-0F81-853340574932}"/>
              </a:ext>
            </a:extLst>
          </p:cNvPr>
          <p:cNvSpPr txBox="1"/>
          <p:nvPr/>
        </p:nvSpPr>
        <p:spPr>
          <a:xfrm>
            <a:off x="7457136" y="6162127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184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E909D-56F2-81EA-54CB-5A2A5E55EABC}"/>
              </a:ext>
            </a:extLst>
          </p:cNvPr>
          <p:cNvSpPr txBox="1"/>
          <p:nvPr/>
        </p:nvSpPr>
        <p:spPr>
          <a:xfrm>
            <a:off x="938913" y="5680951"/>
            <a:ext cx="272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22230000000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07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F4E6F4-151E-A8AC-926B-05D2E0904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16" y="499792"/>
            <a:ext cx="5153025" cy="426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3C9CFC-334C-AB1C-2FA1-0C06FFC90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16" y="4766992"/>
            <a:ext cx="4354737" cy="1815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E0C243-68CD-C0AF-37F0-8FB6EC878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55196"/>
            <a:ext cx="5602514" cy="58515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FBB7C4-3DA8-64A8-A192-32388F14E429}"/>
              </a:ext>
            </a:extLst>
          </p:cNvPr>
          <p:cNvSpPr txBox="1"/>
          <p:nvPr/>
        </p:nvSpPr>
        <p:spPr>
          <a:xfrm>
            <a:off x="3280228" y="5674679"/>
            <a:ext cx="2728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</a:t>
            </a:r>
          </a:p>
          <a:p>
            <a:r>
              <a:rPr lang="en-US" dirty="0">
                <a:solidFill>
                  <a:srgbClr val="FF0000"/>
                </a:solidFill>
              </a:rPr>
              <a:t>123</a:t>
            </a:r>
          </a:p>
          <a:p>
            <a:r>
              <a:rPr lang="en-US" dirty="0">
                <a:solidFill>
                  <a:srgbClr val="FF0000"/>
                </a:solidFill>
              </a:rPr>
              <a:t>456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2CCD33-D397-B7C6-BAB4-1D7E9F418916}"/>
              </a:ext>
            </a:extLst>
          </p:cNvPr>
          <p:cNvSpPr txBox="1"/>
          <p:nvPr/>
        </p:nvSpPr>
        <p:spPr>
          <a:xfrm>
            <a:off x="9848419" y="5641139"/>
            <a:ext cx="2728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Output : </a:t>
            </a:r>
          </a:p>
          <a:p>
            <a:r>
              <a:rPr lang="en-US" dirty="0">
                <a:solidFill>
                  <a:srgbClr val="FF0000"/>
                </a:solidFill>
              </a:rPr>
              <a:t>123</a:t>
            </a:r>
          </a:p>
          <a:p>
            <a:r>
              <a:rPr lang="en-US" dirty="0">
                <a:solidFill>
                  <a:srgbClr val="FF0000"/>
                </a:solidFill>
              </a:rPr>
              <a:t>456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278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C7A3F-BA79-BD62-D367-4B17F981A255}"/>
              </a:ext>
            </a:extLst>
          </p:cNvPr>
          <p:cNvSpPr txBox="1"/>
          <p:nvPr/>
        </p:nvSpPr>
        <p:spPr>
          <a:xfrm>
            <a:off x="1053059" y="1905506"/>
            <a:ext cx="98597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solidFill>
                  <a:srgbClr val="273239"/>
                </a:solidFill>
                <a:effectLst/>
                <a:latin typeface="urw-din"/>
              </a:rPr>
              <a:t>Lists are </a:t>
            </a:r>
            <a:r>
              <a:rPr lang="en-US" sz="3200" b="0" i="0" u="sng" dirty="0">
                <a:effectLst/>
                <a:latin typeface="urw-din"/>
                <a:hlinkClick r:id="rId2"/>
              </a:rPr>
              <a:t>sequence containers</a:t>
            </a:r>
            <a:r>
              <a:rPr lang="en-US" sz="3200" b="0" i="0" dirty="0">
                <a:solidFill>
                  <a:srgbClr val="273239"/>
                </a:solidFill>
                <a:effectLst/>
                <a:latin typeface="urw-din"/>
              </a:rPr>
              <a:t> that allow non-contiguous memory allocation. As compared to vector, the list has slow traversal, but once a position has been found, insertion and deletion are quick.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CE6FE-E051-02B5-8A80-432450A78447}"/>
              </a:ext>
            </a:extLst>
          </p:cNvPr>
          <p:cNvSpPr txBox="1"/>
          <p:nvPr/>
        </p:nvSpPr>
        <p:spPr>
          <a:xfrm>
            <a:off x="3612629" y="313038"/>
            <a:ext cx="42572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LISTS</a:t>
            </a:r>
            <a:endParaRPr lang="en-IN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225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C6933-E3A7-6992-0DF6-CAF0F3ACD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642" y="279513"/>
            <a:ext cx="9578715" cy="62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96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8499A-1C2A-5E63-9C77-A12B2774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391" y="420769"/>
            <a:ext cx="8838066" cy="601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607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D5B386-2F4B-6E44-2408-45555A68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32" y="333796"/>
            <a:ext cx="9326336" cy="619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34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98D5D7-2C00-4D0B-D9C6-1D8971E48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5" y="487517"/>
            <a:ext cx="5993246" cy="5419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BF572A-D903-1C2B-62E7-91EF91B4E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647" y="487517"/>
            <a:ext cx="5826353" cy="526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83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A0A76-5287-D820-AD25-23DEE066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81" y="263035"/>
            <a:ext cx="5118561" cy="6297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2A0F7D-F221-DD0D-D1E1-B4A7BEEA4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291" y="263035"/>
            <a:ext cx="6091927" cy="629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90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13F3A-6696-CB10-67D4-DCE43CDD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67" y="299802"/>
            <a:ext cx="8191508" cy="631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682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E3AA1-6B4B-6C54-4F0A-196F7C528E84}"/>
              </a:ext>
            </a:extLst>
          </p:cNvPr>
          <p:cNvSpPr txBox="1"/>
          <p:nvPr/>
        </p:nvSpPr>
        <p:spPr>
          <a:xfrm>
            <a:off x="4317167" y="659567"/>
            <a:ext cx="3582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Algorithm</a:t>
            </a:r>
            <a:endParaRPr lang="en-IN" sz="44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8DB20-60D7-8776-5593-F1A76B23926B}"/>
              </a:ext>
            </a:extLst>
          </p:cNvPr>
          <p:cNvSpPr txBox="1"/>
          <p:nvPr/>
        </p:nvSpPr>
        <p:spPr>
          <a:xfrm>
            <a:off x="1528997" y="2323475"/>
            <a:ext cx="91140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0" i="0" dirty="0">
                <a:solidFill>
                  <a:srgbClr val="273239"/>
                </a:solidFill>
                <a:effectLst/>
                <a:latin typeface="urw-din"/>
              </a:rPr>
              <a:t>The header algorithm defines a collection of functions especially designed to be used on ranges of elements. They act on containers and provide means for various operations for the contents of the containers.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980757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82702E-21DF-A58B-1E9B-0CF046769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41" y="521218"/>
            <a:ext cx="4688797" cy="61352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C27E9A-AF41-46AB-EFF7-02613DE92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640" y="521218"/>
            <a:ext cx="6127619" cy="60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7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38967-6269-D79D-5FA7-7DFE07676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4" y="119921"/>
            <a:ext cx="5229056" cy="650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1392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8ED95-651A-7F08-267B-6AAAAA8E4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28" y="359764"/>
            <a:ext cx="5154586" cy="52165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772F2-8A22-130C-2264-FD231579A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414" y="509743"/>
            <a:ext cx="5691110" cy="593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93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7E0E18-9682-1904-8487-E0CD89439CA0}"/>
              </a:ext>
            </a:extLst>
          </p:cNvPr>
          <p:cNvSpPr txBox="1"/>
          <p:nvPr/>
        </p:nvSpPr>
        <p:spPr>
          <a:xfrm>
            <a:off x="579619" y="923330"/>
            <a:ext cx="110327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Maps are</a:t>
            </a:r>
            <a:r>
              <a:rPr lang="en-US" sz="2400" b="0" i="0" u="sng" dirty="0">
                <a:effectLst/>
                <a:latin typeface="urw-din"/>
                <a:hlinkClick r:id="rId2"/>
              </a:rPr>
              <a:t> associative containers 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that store elements in a mapped fashion. Each element has a key value and a mapped value. No two mapped values can have the same key values.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D251A-F3C4-F7FB-DF11-3B87C7FEB55A}"/>
              </a:ext>
            </a:extLst>
          </p:cNvPr>
          <p:cNvSpPr txBox="1"/>
          <p:nvPr/>
        </p:nvSpPr>
        <p:spPr>
          <a:xfrm>
            <a:off x="3207894" y="0"/>
            <a:ext cx="52315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MAPS</a:t>
            </a:r>
            <a:endParaRPr lang="en-IN" sz="54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7E3939-2370-7F34-133C-86D4AB2CA2AE}"/>
              </a:ext>
            </a:extLst>
          </p:cNvPr>
          <p:cNvSpPr txBox="1"/>
          <p:nvPr/>
        </p:nvSpPr>
        <p:spPr>
          <a:xfrm>
            <a:off x="179882" y="2088734"/>
            <a:ext cx="119021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urw-din"/>
              </a:rPr>
              <a:t>Some basic functions associated with Map: 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3"/>
              </a:rPr>
              <a:t>begin()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Returns an iterator to the first element in the map.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3"/>
              </a:rPr>
              <a:t>end()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Returns an iterator to the theoretical element that follows the last element in the map.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4"/>
              </a:rPr>
              <a:t>size()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Returns the number of elements in the map.</a:t>
            </a:r>
          </a:p>
          <a:p>
            <a:pPr algn="l" fontAlgn="base"/>
            <a:r>
              <a:rPr lang="en-US" sz="2400" b="0" i="0" u="sng" dirty="0" err="1">
                <a:solidFill>
                  <a:srgbClr val="273239"/>
                </a:solidFill>
                <a:effectLst/>
                <a:latin typeface="urw-din"/>
                <a:hlinkClick r:id="rId5"/>
              </a:rPr>
              <a:t>max_size</a:t>
            </a:r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5"/>
              </a:rPr>
              <a:t>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Returns the maximum number of elements that the map can hold.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6"/>
              </a:rPr>
              <a:t>empty()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Returns whether the map is empty.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7"/>
              </a:rPr>
              <a:t>pair insert(</a:t>
            </a:r>
            <a:r>
              <a:rPr lang="en-US" sz="2400" b="0" i="0" u="sng" dirty="0" err="1">
                <a:solidFill>
                  <a:srgbClr val="273239"/>
                </a:solidFill>
                <a:effectLst/>
                <a:latin typeface="urw-din"/>
                <a:hlinkClick r:id="rId7"/>
              </a:rPr>
              <a:t>keyvalue</a:t>
            </a:r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7"/>
              </a:rPr>
              <a:t>, </a:t>
            </a:r>
            <a:r>
              <a:rPr lang="en-US" sz="2400" b="0" i="0" u="sng" dirty="0" err="1">
                <a:solidFill>
                  <a:srgbClr val="273239"/>
                </a:solidFill>
                <a:effectLst/>
                <a:latin typeface="urw-din"/>
                <a:hlinkClick r:id="rId7"/>
              </a:rPr>
              <a:t>mapvalue</a:t>
            </a:r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7"/>
              </a:rPr>
              <a:t>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Adds a new element to the map.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8"/>
              </a:rPr>
              <a:t>erase(iterator position)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Removes the element at the position pointed by the iterator.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8"/>
              </a:rPr>
              <a:t>erase(const g)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– Removes the key-value ‘g’ from the map.</a:t>
            </a:r>
          </a:p>
          <a:p>
            <a:pPr algn="l" fontAlgn="base"/>
            <a:r>
              <a:rPr lang="en-US" sz="2400" b="0" i="0" u="sng" dirty="0">
                <a:solidFill>
                  <a:srgbClr val="273239"/>
                </a:solidFill>
                <a:effectLst/>
                <a:latin typeface="urw-din"/>
                <a:hlinkClick r:id="rId9"/>
              </a:rPr>
              <a:t>clear()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urw-din"/>
              </a:rPr>
              <a:t> – Removes all the elements from the map.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799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F220CA-130A-71E5-0CE3-06755535FE28}"/>
              </a:ext>
            </a:extLst>
          </p:cNvPr>
          <p:cNvSpPr txBox="1"/>
          <p:nvPr/>
        </p:nvSpPr>
        <p:spPr>
          <a:xfrm>
            <a:off x="494676" y="117693"/>
            <a:ext cx="6086006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#include &lt;iostream&gt;</a:t>
            </a:r>
          </a:p>
          <a:p>
            <a:r>
              <a:rPr lang="en-IN" dirty="0"/>
              <a:t>#include &lt;iterator&gt;</a:t>
            </a:r>
          </a:p>
          <a:p>
            <a:r>
              <a:rPr lang="en-IN" dirty="0"/>
              <a:t>#include &lt;map&gt;</a:t>
            </a:r>
          </a:p>
          <a:p>
            <a:r>
              <a:rPr lang="en-IN" dirty="0"/>
              <a:t>using namespace std;</a:t>
            </a:r>
          </a:p>
          <a:p>
            <a:r>
              <a:rPr lang="en-IN" dirty="0"/>
              <a:t> 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// empty map container</a:t>
            </a:r>
          </a:p>
          <a:p>
            <a:r>
              <a:rPr lang="en-IN" dirty="0"/>
              <a:t>    map&lt;int, int&gt; gquiz1;</a:t>
            </a:r>
          </a:p>
          <a:p>
            <a:r>
              <a:rPr lang="en-IN" dirty="0">
                <a:solidFill>
                  <a:srgbClr val="FF0000"/>
                </a:solidFill>
              </a:rPr>
              <a:t>// insert elements in random order</a:t>
            </a:r>
          </a:p>
          <a:p>
            <a:r>
              <a:rPr lang="en-IN" dirty="0"/>
              <a:t>    gquiz1.insert(pair&lt;int, int&gt;(1, 40));</a:t>
            </a:r>
          </a:p>
          <a:p>
            <a:r>
              <a:rPr lang="en-IN" dirty="0"/>
              <a:t>    gquiz1.insert(pair&lt;int, int&gt;(2, 30));</a:t>
            </a:r>
          </a:p>
          <a:p>
            <a:r>
              <a:rPr lang="en-IN" dirty="0"/>
              <a:t>    gquiz1.insert(pair&lt;int, int&gt;(3, 60));</a:t>
            </a:r>
          </a:p>
          <a:p>
            <a:r>
              <a:rPr lang="en-IN" dirty="0"/>
              <a:t>    gquiz1.insert(pair&lt;int, int&gt;(4, 20));</a:t>
            </a:r>
          </a:p>
          <a:p>
            <a:r>
              <a:rPr lang="en-IN" dirty="0"/>
              <a:t>    gquiz1.insert(pair&lt;int, int&gt;(5, 50));</a:t>
            </a:r>
          </a:p>
          <a:p>
            <a:r>
              <a:rPr lang="en-IN" dirty="0"/>
              <a:t>    gquiz1.insert(pair&lt;int, int&gt;(6, 50));</a:t>
            </a:r>
          </a:p>
          <a:p>
            <a:r>
              <a:rPr lang="en-IN" dirty="0"/>
              <a:t>    gquiz1.insert(pair&lt;int, int&gt;(7, 10));</a:t>
            </a:r>
          </a:p>
          <a:p>
            <a:r>
              <a:rPr lang="en-IN" dirty="0"/>
              <a:t>  // printing map gquiz1</a:t>
            </a:r>
          </a:p>
          <a:p>
            <a:r>
              <a:rPr lang="en-IN" dirty="0"/>
              <a:t>    map&lt;int, int&gt;::iterator </a:t>
            </a:r>
            <a:r>
              <a:rPr lang="en-IN" dirty="0" err="1"/>
              <a:t>itr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nThe</a:t>
            </a:r>
            <a:r>
              <a:rPr lang="en-IN" dirty="0"/>
              <a:t> map gquiz1 is : \n";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tKEY</a:t>
            </a:r>
            <a:r>
              <a:rPr lang="en-IN" dirty="0"/>
              <a:t>\</a:t>
            </a:r>
            <a:r>
              <a:rPr lang="en-IN" dirty="0" err="1"/>
              <a:t>tELEMENT</a:t>
            </a:r>
            <a:r>
              <a:rPr lang="en-IN" dirty="0"/>
              <a:t>\n";</a:t>
            </a:r>
          </a:p>
          <a:p>
            <a:r>
              <a:rPr lang="en-IN" dirty="0"/>
              <a:t>    for (</a:t>
            </a:r>
            <a:r>
              <a:rPr lang="en-IN" dirty="0" err="1"/>
              <a:t>itr</a:t>
            </a:r>
            <a:r>
              <a:rPr lang="en-IN" dirty="0"/>
              <a:t> = gquiz1.begin(); </a:t>
            </a:r>
            <a:r>
              <a:rPr lang="en-IN" dirty="0" err="1"/>
              <a:t>itr</a:t>
            </a:r>
            <a:r>
              <a:rPr lang="en-IN" dirty="0"/>
              <a:t> != gquiz1.end(); ++</a:t>
            </a:r>
            <a:r>
              <a:rPr lang="en-IN" dirty="0" err="1"/>
              <a:t>itr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'\t' &lt;&lt; </a:t>
            </a:r>
            <a:r>
              <a:rPr lang="en-IN" dirty="0" err="1"/>
              <a:t>itr</a:t>
            </a:r>
            <a:r>
              <a:rPr lang="en-IN" dirty="0"/>
              <a:t>-&gt;first &lt;&lt; '\t' &lt;&lt; </a:t>
            </a:r>
            <a:r>
              <a:rPr lang="en-IN" dirty="0" err="1"/>
              <a:t>itr</a:t>
            </a:r>
            <a:r>
              <a:rPr lang="en-IN" dirty="0"/>
              <a:t>-&gt;second &lt;&lt; '\n';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1C16D-40BB-C8DE-791F-959A7312E6A6}"/>
              </a:ext>
            </a:extLst>
          </p:cNvPr>
          <p:cNvSpPr txBox="1"/>
          <p:nvPr/>
        </p:nvSpPr>
        <p:spPr>
          <a:xfrm>
            <a:off x="5831174" y="117693"/>
            <a:ext cx="636082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// </a:t>
            </a:r>
            <a:r>
              <a:rPr lang="en-IN" dirty="0">
                <a:solidFill>
                  <a:srgbClr val="FF0000"/>
                </a:solidFill>
              </a:rPr>
              <a:t>assigning the elements from gquiz1 to gquiz2</a:t>
            </a:r>
          </a:p>
          <a:p>
            <a:r>
              <a:rPr lang="en-IN" dirty="0"/>
              <a:t>    map&lt;int, int&gt; gquiz2(gquiz1.begin(), gquiz1.end());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// </a:t>
            </a:r>
            <a:r>
              <a:rPr lang="en-IN" dirty="0">
                <a:solidFill>
                  <a:srgbClr val="FF0000"/>
                </a:solidFill>
              </a:rPr>
              <a:t>print all elements of the map gquiz2</a:t>
            </a:r>
          </a:p>
          <a:p>
            <a:r>
              <a:rPr lang="en-IN" dirty="0"/>
              <a:t>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nThe</a:t>
            </a:r>
            <a:r>
              <a:rPr lang="en-IN" dirty="0"/>
              <a:t> map gquiz2 after“ &lt;&lt; " assign from gquiz1 is : \n";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tKEY</a:t>
            </a:r>
            <a:r>
              <a:rPr lang="en-IN" dirty="0"/>
              <a:t>\</a:t>
            </a:r>
            <a:r>
              <a:rPr lang="en-IN" dirty="0" err="1"/>
              <a:t>tELEMENT</a:t>
            </a:r>
            <a:r>
              <a:rPr lang="en-IN" dirty="0"/>
              <a:t>\n";</a:t>
            </a:r>
          </a:p>
          <a:p>
            <a:r>
              <a:rPr lang="en-IN" dirty="0"/>
              <a:t>    for (</a:t>
            </a:r>
            <a:r>
              <a:rPr lang="en-IN" dirty="0" err="1"/>
              <a:t>itr</a:t>
            </a:r>
            <a:r>
              <a:rPr lang="en-IN" dirty="0"/>
              <a:t> = gquiz2.begin(); </a:t>
            </a:r>
            <a:r>
              <a:rPr lang="en-IN" dirty="0" err="1"/>
              <a:t>itr</a:t>
            </a:r>
            <a:r>
              <a:rPr lang="en-IN" dirty="0"/>
              <a:t> != gquiz2.end(); ++</a:t>
            </a:r>
            <a:r>
              <a:rPr lang="en-IN" dirty="0" err="1"/>
              <a:t>itr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'\t' &lt;&lt; </a:t>
            </a:r>
            <a:r>
              <a:rPr lang="en-IN" dirty="0" err="1"/>
              <a:t>itr</a:t>
            </a:r>
            <a:r>
              <a:rPr lang="en-IN" dirty="0"/>
              <a:t>-&gt;first &lt;&lt; '\t' &lt;&lt; </a:t>
            </a:r>
            <a:r>
              <a:rPr lang="en-IN" dirty="0" err="1"/>
              <a:t>itr</a:t>
            </a:r>
            <a:r>
              <a:rPr lang="en-IN" dirty="0"/>
              <a:t>-&gt;second  &lt;&lt; '\n';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r>
              <a:rPr lang="en-IN" dirty="0"/>
              <a:t>  </a:t>
            </a:r>
          </a:p>
          <a:p>
            <a:r>
              <a:rPr lang="en-IN" dirty="0"/>
              <a:t>    </a:t>
            </a:r>
            <a:r>
              <a:rPr lang="en-IN" dirty="0">
                <a:solidFill>
                  <a:srgbClr val="FF0000"/>
                </a:solidFill>
              </a:rPr>
              <a:t>// remove all elements up to</a:t>
            </a:r>
          </a:p>
          <a:p>
            <a:r>
              <a:rPr lang="en-IN" dirty="0">
                <a:solidFill>
                  <a:srgbClr val="FF0000"/>
                </a:solidFill>
              </a:rPr>
              <a:t>    // element with key=3 in gquiz2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"\ngquiz2 after removal of"</a:t>
            </a:r>
          </a:p>
          <a:p>
            <a:r>
              <a:rPr lang="en-IN" dirty="0"/>
              <a:t>            " elements less than key=3 : \n";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tKEY</a:t>
            </a:r>
            <a:r>
              <a:rPr lang="en-IN" dirty="0"/>
              <a:t>\</a:t>
            </a:r>
            <a:r>
              <a:rPr lang="en-IN" dirty="0" err="1"/>
              <a:t>tELEMENT</a:t>
            </a:r>
            <a:r>
              <a:rPr lang="en-IN" dirty="0"/>
              <a:t>\n";</a:t>
            </a:r>
          </a:p>
          <a:p>
            <a:r>
              <a:rPr lang="en-IN" dirty="0">
                <a:solidFill>
                  <a:srgbClr val="FF0000"/>
                </a:solidFill>
              </a:rPr>
              <a:t>    gquiz2.erase(gquiz2.begin(), gquiz2.find(3));</a:t>
            </a:r>
          </a:p>
          <a:p>
            <a:r>
              <a:rPr lang="en-IN" dirty="0"/>
              <a:t>    for (</a:t>
            </a:r>
            <a:r>
              <a:rPr lang="en-IN" dirty="0" err="1"/>
              <a:t>itr</a:t>
            </a:r>
            <a:r>
              <a:rPr lang="en-IN" dirty="0"/>
              <a:t> = gquiz2.begin(); </a:t>
            </a:r>
            <a:r>
              <a:rPr lang="en-IN" dirty="0" err="1"/>
              <a:t>itr</a:t>
            </a:r>
            <a:r>
              <a:rPr lang="en-IN" dirty="0"/>
              <a:t> != gquiz2.end(); ++</a:t>
            </a:r>
            <a:r>
              <a:rPr lang="en-IN" dirty="0" err="1"/>
              <a:t>itr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'\t' &lt;&lt; </a:t>
            </a:r>
            <a:r>
              <a:rPr lang="en-IN" dirty="0" err="1"/>
              <a:t>itr</a:t>
            </a:r>
            <a:r>
              <a:rPr lang="en-IN" dirty="0"/>
              <a:t>-&gt;first &lt;&lt; '\t' &lt;&lt; </a:t>
            </a:r>
            <a:r>
              <a:rPr lang="en-IN" dirty="0" err="1"/>
              <a:t>itr</a:t>
            </a:r>
            <a:r>
              <a:rPr lang="en-IN" dirty="0"/>
              <a:t>-&gt;second</a:t>
            </a:r>
          </a:p>
          <a:p>
            <a:r>
              <a:rPr lang="en-IN" dirty="0"/>
              <a:t>             &lt;&lt; '\n';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7365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D8D1C-E05D-13E9-C98B-C0935842B9FE}"/>
              </a:ext>
            </a:extLst>
          </p:cNvPr>
          <p:cNvSpPr txBox="1"/>
          <p:nvPr/>
        </p:nvSpPr>
        <p:spPr>
          <a:xfrm>
            <a:off x="0" y="494675"/>
            <a:ext cx="68505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// </a:t>
            </a:r>
            <a:r>
              <a:rPr lang="en-IN" dirty="0">
                <a:solidFill>
                  <a:srgbClr val="FF0000"/>
                </a:solidFill>
              </a:rPr>
              <a:t>remove all elements with key = 4</a:t>
            </a:r>
          </a:p>
          <a:p>
            <a:r>
              <a:rPr lang="en-IN" dirty="0"/>
              <a:t>   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0000"/>
                </a:solidFill>
              </a:rPr>
              <a:t>    </a:t>
            </a:r>
            <a:r>
              <a:rPr lang="en-IN" dirty="0" err="1">
                <a:solidFill>
                  <a:srgbClr val="FF0000"/>
                </a:solidFill>
              </a:rPr>
              <a:t>num</a:t>
            </a:r>
            <a:r>
              <a:rPr lang="en-IN" dirty="0">
                <a:solidFill>
                  <a:srgbClr val="FF0000"/>
                </a:solidFill>
              </a:rPr>
              <a:t> = gquiz2.erase(4);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"\ngquiz2.erase(4) : 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num</a:t>
            </a:r>
            <a:r>
              <a:rPr lang="en-IN" dirty="0"/>
              <a:t> &lt;&lt; " removed \n";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tKEY</a:t>
            </a:r>
            <a:r>
              <a:rPr lang="en-IN" dirty="0"/>
              <a:t>\</a:t>
            </a:r>
            <a:r>
              <a:rPr lang="en-IN" dirty="0" err="1"/>
              <a:t>tELEMENT</a:t>
            </a:r>
            <a:r>
              <a:rPr lang="en-IN" dirty="0"/>
              <a:t>\n";</a:t>
            </a:r>
          </a:p>
          <a:p>
            <a:r>
              <a:rPr lang="en-IN" dirty="0"/>
              <a:t>    for (</a:t>
            </a:r>
            <a:r>
              <a:rPr lang="en-IN" dirty="0" err="1"/>
              <a:t>itr</a:t>
            </a:r>
            <a:r>
              <a:rPr lang="en-IN" dirty="0"/>
              <a:t> = gquiz2.begin(); </a:t>
            </a:r>
            <a:r>
              <a:rPr lang="en-IN" dirty="0" err="1"/>
              <a:t>itr</a:t>
            </a:r>
            <a:r>
              <a:rPr lang="en-IN" dirty="0"/>
              <a:t> != gquiz2.end(); ++</a:t>
            </a:r>
            <a:r>
              <a:rPr lang="en-IN" dirty="0" err="1"/>
              <a:t>itr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'\t' &lt;&lt; </a:t>
            </a:r>
            <a:r>
              <a:rPr lang="en-IN" dirty="0" err="1"/>
              <a:t>itr</a:t>
            </a:r>
            <a:r>
              <a:rPr lang="en-IN" dirty="0"/>
              <a:t>-&gt;first &lt;&lt; '\t' &lt;&lt; </a:t>
            </a:r>
            <a:r>
              <a:rPr lang="en-IN" dirty="0" err="1"/>
              <a:t>itr</a:t>
            </a:r>
            <a:r>
              <a:rPr lang="en-IN" dirty="0"/>
              <a:t>-&gt;second           &lt;&lt; '\n';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</a:t>
            </a:r>
            <a:r>
              <a:rPr lang="en-IN" dirty="0" err="1"/>
              <a:t>endl</a:t>
            </a:r>
            <a:endParaRPr lang="en-IN" dirty="0"/>
          </a:p>
          <a:p>
            <a:r>
              <a:rPr lang="en-IN" dirty="0"/>
              <a:t> return 0;</a:t>
            </a:r>
          </a:p>
          <a:p>
            <a:r>
              <a:rPr lang="en-IN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11B12-8DAA-4C39-826A-E37DFB9092A1}"/>
              </a:ext>
            </a:extLst>
          </p:cNvPr>
          <p:cNvSpPr txBox="1"/>
          <p:nvPr/>
        </p:nvSpPr>
        <p:spPr>
          <a:xfrm>
            <a:off x="7060366" y="269823"/>
            <a:ext cx="49217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</a:t>
            </a:r>
          </a:p>
          <a:p>
            <a:r>
              <a:rPr lang="en-US" dirty="0"/>
              <a:t>The map gquiz1 is : </a:t>
            </a:r>
          </a:p>
          <a:p>
            <a:r>
              <a:rPr lang="en-US" dirty="0"/>
              <a:t>    KEY    ELEMENT</a:t>
            </a:r>
          </a:p>
          <a:p>
            <a:r>
              <a:rPr lang="en-US" dirty="0"/>
              <a:t>    1    40</a:t>
            </a:r>
          </a:p>
          <a:p>
            <a:r>
              <a:rPr lang="en-US" dirty="0"/>
              <a:t>    2    30</a:t>
            </a:r>
          </a:p>
          <a:p>
            <a:r>
              <a:rPr lang="en-US" dirty="0"/>
              <a:t>    3    60</a:t>
            </a:r>
          </a:p>
          <a:p>
            <a:r>
              <a:rPr lang="en-US" dirty="0"/>
              <a:t>    4    20</a:t>
            </a:r>
          </a:p>
          <a:p>
            <a:r>
              <a:rPr lang="en-US" dirty="0"/>
              <a:t>    5    50</a:t>
            </a:r>
          </a:p>
          <a:p>
            <a:r>
              <a:rPr lang="en-US" dirty="0"/>
              <a:t>    6    50</a:t>
            </a:r>
          </a:p>
          <a:p>
            <a:r>
              <a:rPr lang="en-US" dirty="0"/>
              <a:t>    7    10</a:t>
            </a:r>
          </a:p>
          <a:p>
            <a:endParaRPr lang="en-US" dirty="0"/>
          </a:p>
          <a:p>
            <a:r>
              <a:rPr lang="en-US" dirty="0"/>
              <a:t>The map gquiz2 after assign from gquiz1 is : </a:t>
            </a:r>
          </a:p>
          <a:p>
            <a:r>
              <a:rPr lang="en-US" dirty="0"/>
              <a:t>    KEY    ELEMENT</a:t>
            </a:r>
          </a:p>
          <a:p>
            <a:r>
              <a:rPr lang="en-US" dirty="0"/>
              <a:t>    1    40</a:t>
            </a:r>
          </a:p>
          <a:p>
            <a:r>
              <a:rPr lang="en-US" dirty="0"/>
              <a:t>    2    30</a:t>
            </a:r>
          </a:p>
          <a:p>
            <a:r>
              <a:rPr lang="en-US" dirty="0"/>
              <a:t>    3    60</a:t>
            </a:r>
          </a:p>
          <a:p>
            <a:r>
              <a:rPr lang="en-US" dirty="0"/>
              <a:t>    4    20</a:t>
            </a:r>
          </a:p>
          <a:p>
            <a:r>
              <a:rPr lang="en-US" dirty="0"/>
              <a:t>    5    50</a:t>
            </a:r>
          </a:p>
          <a:p>
            <a:r>
              <a:rPr lang="en-US" dirty="0"/>
              <a:t>    6    50</a:t>
            </a:r>
          </a:p>
          <a:p>
            <a:r>
              <a:rPr lang="en-US" dirty="0"/>
              <a:t>    7    10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816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D44C57-CF38-EBE9-1557-6E841AA594FE}"/>
              </a:ext>
            </a:extLst>
          </p:cNvPr>
          <p:cNvSpPr txBox="1"/>
          <p:nvPr/>
        </p:nvSpPr>
        <p:spPr>
          <a:xfrm>
            <a:off x="314793" y="239843"/>
            <a:ext cx="57812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gquiz2 after removal of elements less than key=3 : </a:t>
            </a:r>
          </a:p>
          <a:p>
            <a:r>
              <a:rPr lang="en-US" dirty="0"/>
              <a:t>    KEY    ELEMENT</a:t>
            </a:r>
          </a:p>
          <a:p>
            <a:r>
              <a:rPr lang="en-US" dirty="0"/>
              <a:t>    3    60</a:t>
            </a:r>
          </a:p>
          <a:p>
            <a:r>
              <a:rPr lang="en-US" dirty="0"/>
              <a:t>    4    20</a:t>
            </a:r>
          </a:p>
          <a:p>
            <a:r>
              <a:rPr lang="en-US" dirty="0"/>
              <a:t>    5    50</a:t>
            </a:r>
          </a:p>
          <a:p>
            <a:r>
              <a:rPr lang="en-US" dirty="0"/>
              <a:t>    6    50</a:t>
            </a:r>
          </a:p>
          <a:p>
            <a:r>
              <a:rPr lang="en-US" dirty="0"/>
              <a:t>    7    10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gquiz2.erase(4) : 1 removed </a:t>
            </a:r>
          </a:p>
          <a:p>
            <a:r>
              <a:rPr lang="en-US" dirty="0"/>
              <a:t>    KEY    ELEMENT</a:t>
            </a:r>
          </a:p>
          <a:p>
            <a:r>
              <a:rPr lang="en-US" dirty="0"/>
              <a:t>    3    60</a:t>
            </a:r>
          </a:p>
          <a:p>
            <a:r>
              <a:rPr lang="en-US" dirty="0"/>
              <a:t>    5    50</a:t>
            </a:r>
          </a:p>
          <a:p>
            <a:r>
              <a:rPr lang="en-US" dirty="0"/>
              <a:t>    6    50</a:t>
            </a:r>
          </a:p>
          <a:p>
            <a:r>
              <a:rPr lang="en-US" dirty="0"/>
              <a:t>    7    10</a:t>
            </a:r>
          </a:p>
        </p:txBody>
      </p:sp>
    </p:spTree>
    <p:extLst>
      <p:ext uri="{BB962C8B-B14F-4D97-AF65-F5344CB8AC3E}">
        <p14:creationId xmlns:p14="http://schemas.microsoft.com/office/powerpoint/2010/main" val="39799701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105A1F-7406-1212-5154-DA8FC18BC265}"/>
              </a:ext>
            </a:extLst>
          </p:cNvPr>
          <p:cNvSpPr txBox="1"/>
          <p:nvPr/>
        </p:nvSpPr>
        <p:spPr>
          <a:xfrm>
            <a:off x="8859187" y="2248525"/>
            <a:ext cx="22635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: </a:t>
            </a:r>
          </a:p>
          <a:p>
            <a:endParaRPr lang="en-US" dirty="0"/>
          </a:p>
          <a:p>
            <a:r>
              <a:rPr lang="en-US" dirty="0"/>
              <a:t>14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6D5CC-89F3-D8F3-22CA-003A4003525F}"/>
              </a:ext>
            </a:extLst>
          </p:cNvPr>
          <p:cNvSpPr txBox="1"/>
          <p:nvPr/>
        </p:nvSpPr>
        <p:spPr>
          <a:xfrm>
            <a:off x="814466" y="619381"/>
            <a:ext cx="503669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#include&lt;string&gt;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#include&lt;vector&gt;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#include&lt;algorithm&gt;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#include&lt;numeric&gt;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vector&lt;int&gt;test;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test.push_back(1);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test.push_back(8);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test.push_back(4);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test.push_back(1);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//vector&lt;int&gt;::iterator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itr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sum=accumulate(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test.begin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test.end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(),0.0);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cout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&lt;&lt;sum;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}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0BF5E-4C97-BF42-B0E3-B7F3E8593803}"/>
              </a:ext>
            </a:extLst>
          </p:cNvPr>
          <p:cNvSpPr txBox="1"/>
          <p:nvPr/>
        </p:nvSpPr>
        <p:spPr>
          <a:xfrm>
            <a:off x="4631961" y="434715"/>
            <a:ext cx="346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USE OF ACCUMULATE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89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</TotalTime>
  <Words>1348</Words>
  <Application>Microsoft Office PowerPoint</Application>
  <PresentationFormat>Widescreen</PresentationFormat>
  <Paragraphs>205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urw-din</vt:lpstr>
      <vt:lpstr>Arial</vt:lpstr>
      <vt:lpstr>Calibri</vt:lpstr>
      <vt:lpstr>Calibri Light</vt:lpstr>
      <vt:lpstr>Wingdings</vt:lpstr>
      <vt:lpstr>Office Theme</vt:lpstr>
      <vt:lpstr>Standard Template Library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Template Library</dc:title>
  <dc:creator>Joshva Devadas</dc:creator>
  <cp:lastModifiedBy>sreethar Sree Krishnan</cp:lastModifiedBy>
  <cp:revision>24</cp:revision>
  <dcterms:created xsi:type="dcterms:W3CDTF">2022-05-31T09:34:29Z</dcterms:created>
  <dcterms:modified xsi:type="dcterms:W3CDTF">2023-05-31T17:27:30Z</dcterms:modified>
</cp:coreProperties>
</file>