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9" r:id="rId11"/>
    <p:sldId id="270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9"/>
    <p:restoredTop sz="94694"/>
  </p:normalViewPr>
  <p:slideViewPr>
    <p:cSldViewPr>
      <p:cViewPr varScale="1">
        <p:scale>
          <a:sx n="120" d="100"/>
          <a:sy n="120" d="100"/>
        </p:scale>
        <p:origin x="184" y="2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54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79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0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86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854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7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195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6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55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BCACE-DCAD-4573-AA2A-2A67CCE0C63F}" type="datetimeFigureOut">
              <a:rPr lang="en-US" smtClean="0"/>
              <a:t>7/3/23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3F945-5BA6-4CE2-AA9E-49E9EBDF94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97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latin typeface="Times New Roman"/>
              </a:rPr>
              <a:t>Friend Functions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91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/>
              </a:rPr>
              <a:t>Friend Function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A 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friend function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is a function that can access the non-public members of a class, even though the function itself is not a member of the class. 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A friend function is a normal function with special access privileges.</a:t>
            </a:r>
          </a:p>
          <a:p>
            <a:pPr algn="just">
              <a:buFont typeface="Arial"/>
              <a:buChar char="•"/>
            </a:pPr>
            <a:r>
              <a:rPr lang="en-US" dirty="0"/>
              <a:t>A friend function, as though not a member function , has full access rights to the private members of the class. </a:t>
            </a:r>
          </a:p>
        </p:txBody>
      </p:sp>
    </p:spTree>
    <p:extLst>
      <p:ext uri="{BB962C8B-B14F-4D97-AF65-F5344CB8AC3E}">
        <p14:creationId xmlns:p14="http://schemas.microsoft.com/office/powerpoint/2010/main" val="236626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Friend function prototype should be placed inside the class definition (can be any where inside the class definition).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Friend function definition should be outside the class scope.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Even though the prototypes of friend functions appear in the class definition, friends are not member functions.</a:t>
            </a:r>
          </a:p>
          <a:p>
            <a:r>
              <a:rPr lang="en-US" dirty="0"/>
              <a:t>Unlike member functions, it cannot access the member names directly and has to use an object name and dot membership operator with each member name</a:t>
            </a:r>
          </a:p>
        </p:txBody>
      </p:sp>
    </p:spTree>
    <p:extLst>
      <p:ext uri="{BB962C8B-B14F-4D97-AF65-F5344CB8AC3E}">
        <p14:creationId xmlns:p14="http://schemas.microsoft.com/office/powerpoint/2010/main" val="3602786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6237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To make an outside function "friendly" to a class, we have to simply declare this function as a friend of the classes as shown below :</a:t>
            </a:r>
          </a:p>
          <a:p>
            <a:pPr marL="0" indent="0">
              <a:buNone/>
            </a:pPr>
            <a:r>
              <a:rPr lang="en-US" dirty="0"/>
              <a:t>class ABC</a:t>
            </a:r>
          </a:p>
          <a:p>
            <a:pPr marL="0" indent="0">
              <a:buNone/>
            </a:pPr>
            <a:r>
              <a:rPr lang="en-US" dirty="0"/>
              <a:t>   {</a:t>
            </a:r>
          </a:p>
          <a:p>
            <a:pPr marL="0" indent="0">
              <a:buNone/>
            </a:pPr>
            <a:r>
              <a:rPr lang="en-US" dirty="0"/>
              <a:t>      ---------</a:t>
            </a:r>
          </a:p>
          <a:p>
            <a:pPr marL="0" indent="0">
              <a:buNone/>
            </a:pPr>
            <a:r>
              <a:rPr lang="en-US" dirty="0"/>
              <a:t>      ---------</a:t>
            </a:r>
          </a:p>
          <a:p>
            <a:pPr marL="0" indent="0">
              <a:buNone/>
            </a:pPr>
            <a:r>
              <a:rPr lang="en-US" dirty="0"/>
              <a:t>  public:</a:t>
            </a:r>
          </a:p>
          <a:p>
            <a:pPr marL="0" indent="0">
              <a:buNone/>
            </a:pPr>
            <a:r>
              <a:rPr lang="en-US" dirty="0"/>
              <a:t>      --------</a:t>
            </a:r>
          </a:p>
          <a:p>
            <a:pPr marL="0" indent="0">
              <a:buNone/>
            </a:pPr>
            <a:r>
              <a:rPr lang="en-US" dirty="0"/>
              <a:t>      ----------</a:t>
            </a:r>
          </a:p>
          <a:p>
            <a:pPr marL="0" indent="0">
              <a:buNone/>
            </a:pPr>
            <a:r>
              <a:rPr lang="en-US" dirty="0"/>
              <a:t>   friend void xyz(void);</a:t>
            </a:r>
          </a:p>
          <a:p>
            <a:pPr marL="0" indent="0">
              <a:buNone/>
            </a:pPr>
            <a:r>
              <a:rPr lang="en-US" dirty="0"/>
              <a:t>   };</a:t>
            </a:r>
          </a:p>
        </p:txBody>
      </p:sp>
    </p:spTree>
    <p:extLst>
      <p:ext uri="{BB962C8B-B14F-4D97-AF65-F5344CB8AC3E}">
        <p14:creationId xmlns:p14="http://schemas.microsoft.com/office/powerpoint/2010/main" val="393618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example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1981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286000" y="1600200"/>
            <a:ext cx="0" cy="5105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704974"/>
            <a:ext cx="2590800" cy="431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5029200" y="1704974"/>
            <a:ext cx="0" cy="5000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670338"/>
            <a:ext cx="3429000" cy="267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343400"/>
            <a:ext cx="2971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737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dirty="0"/>
              <a:t>Friend class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400"/>
            <a:ext cx="24384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2667000" y="16764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101" y="1676400"/>
            <a:ext cx="21336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4953000" y="1676400"/>
            <a:ext cx="0" cy="502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718608"/>
            <a:ext cx="2209800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309" y="4253345"/>
            <a:ext cx="2057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911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</p:spPr>
        <p:txBody>
          <a:bodyPr>
            <a:normAutofit fontScale="90000"/>
          </a:bodyPr>
          <a:lstStyle/>
          <a:p>
            <a:br>
              <a:rPr lang="en-US" dirty="0">
                <a:solidFill>
                  <a:srgbClr val="000000"/>
                </a:solidFill>
                <a:latin typeface="Times New Roman"/>
              </a:rPr>
            </a:br>
            <a:r>
              <a:rPr lang="en-US" dirty="0">
                <a:solidFill>
                  <a:srgbClr val="000000"/>
                </a:solidFill>
                <a:latin typeface="Times New Roman"/>
              </a:rPr>
              <a:t>Friends to more than One Class Act as Bridges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Imagine that you want a function to operate on objects of two different classes. </a:t>
            </a:r>
            <a:endParaRPr lang="en-US" dirty="0"/>
          </a:p>
          <a:p>
            <a:pPr algn="just">
              <a:buFont typeface="Arial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Perhaps the function will take objects of the two classes as arguments, and operate on their private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083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4754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447800"/>
            <a:ext cx="36861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3914775" y="1524000"/>
            <a:ext cx="0" cy="4648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514475"/>
            <a:ext cx="4038600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16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5562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181600"/>
            <a:ext cx="3733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6820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8994-BD0B-45E8-90A4-4AEC2358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 and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B9BF-C435-4200-A83D-CA7926E4B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We can declare a pointer to an object as</a:t>
            </a:r>
          </a:p>
          <a:p>
            <a:pPr marL="0" indent="0">
              <a:buNone/>
            </a:pPr>
            <a:r>
              <a:rPr lang="en-US" dirty="0"/>
              <a:t> 	item * </a:t>
            </a:r>
            <a:r>
              <a:rPr lang="en-US" dirty="0" err="1"/>
              <a:t>ptr</a:t>
            </a:r>
            <a:r>
              <a:rPr lang="en-US" dirty="0"/>
              <a:t>, where item is predefined class.</a:t>
            </a:r>
          </a:p>
          <a:p>
            <a:pPr marL="0" indent="0">
              <a:buNone/>
            </a:pPr>
            <a:r>
              <a:rPr lang="en-US" dirty="0"/>
              <a:t>For example:</a:t>
            </a:r>
          </a:p>
          <a:p>
            <a:pPr marL="0" indent="0">
              <a:buNone/>
            </a:pPr>
            <a:r>
              <a:rPr lang="en-US" dirty="0"/>
              <a:t>	item x;</a:t>
            </a:r>
          </a:p>
          <a:p>
            <a:pPr marL="0" indent="0">
              <a:buNone/>
            </a:pPr>
            <a:r>
              <a:rPr lang="en-US" dirty="0"/>
              <a:t>	item *</a:t>
            </a:r>
            <a:r>
              <a:rPr lang="en-US" dirty="0" err="1"/>
              <a:t>ptr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ptr</a:t>
            </a:r>
            <a:r>
              <a:rPr lang="en-US" dirty="0"/>
              <a:t>=&amp;x;</a:t>
            </a:r>
          </a:p>
          <a:p>
            <a:pPr marL="0" indent="0">
              <a:buNone/>
            </a:pPr>
            <a:r>
              <a:rPr lang="en-US" dirty="0"/>
              <a:t>We can access the member of x as follows.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ptr</a:t>
            </a:r>
            <a:r>
              <a:rPr lang="en-US" dirty="0"/>
              <a:t>-&gt;member          or</a:t>
            </a:r>
          </a:p>
          <a:p>
            <a:pPr marL="0" indent="0">
              <a:buNone/>
            </a:pPr>
            <a:r>
              <a:rPr lang="en-US" dirty="0"/>
              <a:t>	(*</a:t>
            </a:r>
            <a:r>
              <a:rPr lang="en-US" dirty="0" err="1"/>
              <a:t>ptr</a:t>
            </a:r>
            <a:r>
              <a:rPr lang="en-US" dirty="0"/>
              <a:t>).member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540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5E445-5310-4BA0-B21F-D0D14C14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154915-18A4-4ACD-866D-4511B79D4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599" y="1676401"/>
            <a:ext cx="3581399" cy="42672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6AEC1D8-A98E-44E4-934A-E576EFACCA44}"/>
              </a:ext>
            </a:extLst>
          </p:cNvPr>
          <p:cNvCxnSpPr/>
          <p:nvPr/>
        </p:nvCxnSpPr>
        <p:spPr>
          <a:xfrm>
            <a:off x="3809998" y="1417638"/>
            <a:ext cx="0" cy="5287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E999706-9A22-45C7-AFE4-5E2208BB3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415" y="1512716"/>
            <a:ext cx="5241386" cy="35164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71A126-6472-4DE0-9400-A1D900877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2" y="5160619"/>
            <a:ext cx="3571878" cy="15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09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AABC-53FE-460B-BBE4-042FF54AC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“this”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86AC5-6686-4B50-BE56-E0D8D2DC0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this</a:t>
            </a:r>
            <a:r>
              <a:rPr lang="en-US" dirty="0"/>
              <a:t> pointer in C++ points to the object that invokes the member function. This keyword is only accessible within the </a:t>
            </a:r>
            <a:r>
              <a:rPr lang="en-US" dirty="0" err="1"/>
              <a:t>nonstatic</a:t>
            </a:r>
            <a:r>
              <a:rPr lang="en-US" dirty="0"/>
              <a:t> member functions of a class/struct/union type. </a:t>
            </a:r>
          </a:p>
          <a:p>
            <a:pPr algn="just"/>
            <a:r>
              <a:rPr lang="en-US" dirty="0"/>
              <a:t>In C++, </a:t>
            </a:r>
            <a:r>
              <a:rPr lang="en-US" b="1" dirty="0"/>
              <a:t>this </a:t>
            </a:r>
            <a:r>
              <a:rPr lang="en-US" dirty="0"/>
              <a:t>pointer is used to represent the address of an object inside a member function. </a:t>
            </a:r>
            <a:r>
              <a:rPr lang="en-US" b="1" dirty="0"/>
              <a:t>For example</a:t>
            </a:r>
            <a:r>
              <a:rPr lang="en-US" dirty="0"/>
              <a:t>, consider an object </a:t>
            </a:r>
            <a:r>
              <a:rPr lang="en-US" i="1" dirty="0"/>
              <a:t>obj</a:t>
            </a:r>
            <a:r>
              <a:rPr lang="en-US" dirty="0"/>
              <a:t> calling one of its member function say </a:t>
            </a:r>
            <a:r>
              <a:rPr lang="en-US" i="1" dirty="0"/>
              <a:t>method()</a:t>
            </a:r>
            <a:r>
              <a:rPr lang="en-US" dirty="0"/>
              <a:t> as </a:t>
            </a:r>
            <a:r>
              <a:rPr lang="en-US" i="1" dirty="0" err="1"/>
              <a:t>obj.method</a:t>
            </a:r>
            <a:r>
              <a:rPr lang="en-US" i="1" dirty="0"/>
              <a:t>()</a:t>
            </a:r>
            <a:r>
              <a:rPr lang="en-US" dirty="0"/>
              <a:t>. Then, </a:t>
            </a:r>
            <a:r>
              <a:rPr lang="en-US" b="1" dirty="0"/>
              <a:t>this</a:t>
            </a:r>
            <a:r>
              <a:rPr lang="en-US" dirty="0"/>
              <a:t> pointer will hold the address of object </a:t>
            </a:r>
            <a:r>
              <a:rPr lang="en-US" i="1" dirty="0"/>
              <a:t>obj</a:t>
            </a:r>
            <a:r>
              <a:rPr lang="en-US" dirty="0"/>
              <a:t> inside the member function </a:t>
            </a:r>
            <a:r>
              <a:rPr lang="en-US" i="1" dirty="0"/>
              <a:t>method()</a:t>
            </a:r>
            <a:r>
              <a:rPr lang="en-US" dirty="0"/>
              <a:t>. The </a:t>
            </a:r>
            <a:r>
              <a:rPr lang="en-US" b="1" dirty="0"/>
              <a:t>this</a:t>
            </a:r>
            <a:r>
              <a:rPr lang="en-US" dirty="0"/>
              <a:t> pointer acts as an implicit argument to all the member functions.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920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6A659-E1AE-4E10-84A4-0E6995E3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Same class variable and parameter names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2C13D5-2922-4321-9F1B-550A7FDE4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926" y="1785937"/>
            <a:ext cx="4048125" cy="423386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1DDAFE-21DF-4590-AAA1-889CD6A24EE7}"/>
              </a:ext>
            </a:extLst>
          </p:cNvPr>
          <p:cNvCxnSpPr/>
          <p:nvPr/>
        </p:nvCxnSpPr>
        <p:spPr>
          <a:xfrm>
            <a:off x="4495800" y="1524000"/>
            <a:ext cx="0" cy="518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3DC7C7A-5568-4353-9F3C-DA5858799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99" y="1649876"/>
            <a:ext cx="2895591" cy="2617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D861DD-2CF2-4A7E-9530-26912EA11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636110"/>
            <a:ext cx="4038597" cy="194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079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22D1-BE09-47C1-9724-8AB3F11A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Returning the current object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4D5F6C-48D1-4062-B77C-71562BE58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828800"/>
            <a:ext cx="2971796" cy="3962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4C46-0976-467B-B875-4B4C8EB148F8}"/>
              </a:ext>
            </a:extLst>
          </p:cNvPr>
          <p:cNvCxnSpPr/>
          <p:nvPr/>
        </p:nvCxnSpPr>
        <p:spPr>
          <a:xfrm>
            <a:off x="3200396" y="1600200"/>
            <a:ext cx="0" cy="50593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8B9135C-CC34-4327-863E-55C372AC1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271" y="1705708"/>
            <a:ext cx="3181337" cy="46482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3EA261-2721-41D1-81EA-F532FCE95169}"/>
              </a:ext>
            </a:extLst>
          </p:cNvPr>
          <p:cNvCxnSpPr/>
          <p:nvPr/>
        </p:nvCxnSpPr>
        <p:spPr>
          <a:xfrm>
            <a:off x="6424608" y="1547019"/>
            <a:ext cx="0" cy="51657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31803BE-1CB0-48E2-8EC5-2618E6861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482" y="1498527"/>
            <a:ext cx="2676519" cy="25400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76E825-83D2-457A-8D31-F4542EA1A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1303" y="4343400"/>
            <a:ext cx="24288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18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432</Words>
  <Application>Microsoft Macintosh PowerPoint</Application>
  <PresentationFormat>On-screen Show (4:3)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Friend Functions</vt:lpstr>
      <vt:lpstr>Friend Function </vt:lpstr>
      <vt:lpstr>PowerPoint Presentation</vt:lpstr>
      <vt:lpstr>PowerPoint Presentation</vt:lpstr>
      <vt:lpstr>Sample example</vt:lpstr>
      <vt:lpstr>Friend class</vt:lpstr>
      <vt:lpstr> Friends to more than One Class Act as Bridges </vt:lpstr>
      <vt:lpstr>Sample example</vt:lpstr>
      <vt:lpstr>Contd.</vt:lpstr>
      <vt:lpstr>Pointer and class</vt:lpstr>
      <vt:lpstr>Example</vt:lpstr>
      <vt:lpstr>“this” pointer</vt:lpstr>
      <vt:lpstr>Same class variable and parameter names</vt:lpstr>
      <vt:lpstr>Returning the current object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Apoorva Karnwal</cp:lastModifiedBy>
  <cp:revision>17</cp:revision>
  <dcterms:created xsi:type="dcterms:W3CDTF">2021-04-17T14:34:26Z</dcterms:created>
  <dcterms:modified xsi:type="dcterms:W3CDTF">2023-07-03T18:05:18Z</dcterms:modified>
</cp:coreProperties>
</file>