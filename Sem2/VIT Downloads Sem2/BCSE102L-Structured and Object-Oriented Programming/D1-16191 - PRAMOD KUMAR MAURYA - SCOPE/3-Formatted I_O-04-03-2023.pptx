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59" r:id="rId3"/>
    <p:sldId id="260" r:id="rId4"/>
    <p:sldId id="263" r:id="rId5"/>
    <p:sldId id="264" r:id="rId6"/>
    <p:sldId id="265" r:id="rId7"/>
    <p:sldId id="266" r:id="rId8"/>
    <p:sldId id="267" r:id="rId9"/>
    <p:sldId id="268" r:id="rId10"/>
    <p:sldId id="270" r:id="rId11"/>
    <p:sldId id="271" r:id="rId12"/>
    <p:sldId id="272" r:id="rId13"/>
    <p:sldId id="261" r:id="rId14"/>
    <p:sldId id="26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711B-D6D9-4537-95F8-5DFC8737E244}" type="datetimeFigureOut">
              <a:rPr lang="en-US" smtClean="0"/>
              <a:pPr/>
              <a:t>3/2/2021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3885587B-3BAC-49C7-9EA7-10A58E2732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711B-D6D9-4537-95F8-5DFC8737E244}" type="datetimeFigureOut">
              <a:rPr lang="en-US" smtClean="0"/>
              <a:pPr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5587B-3BAC-49C7-9EA7-10A58E2732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711B-D6D9-4537-95F8-5DFC8737E244}" type="datetimeFigureOut">
              <a:rPr lang="en-US" smtClean="0"/>
              <a:pPr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3885587B-3BAC-49C7-9EA7-10A58E2732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711B-D6D9-4537-95F8-5DFC8737E244}" type="datetimeFigureOut">
              <a:rPr lang="en-US" smtClean="0"/>
              <a:pPr/>
              <a:t>3/2/2021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5587B-3BAC-49C7-9EA7-10A58E2732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711B-D6D9-4537-95F8-5DFC8737E244}" type="datetimeFigureOut">
              <a:rPr lang="en-US" smtClean="0"/>
              <a:pPr/>
              <a:t>3/2/2021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5587B-3BAC-49C7-9EA7-10A58E2732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711B-D6D9-4537-95F8-5DFC8737E244}" type="datetimeFigureOut">
              <a:rPr lang="en-US" smtClean="0"/>
              <a:pPr/>
              <a:t>3/2/2021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5587B-3BAC-49C7-9EA7-10A58E2732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711B-D6D9-4537-95F8-5DFC8737E244}" type="datetimeFigureOut">
              <a:rPr lang="en-US" smtClean="0"/>
              <a:pPr/>
              <a:t>3/2/2021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5587B-3BAC-49C7-9EA7-10A58E2732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711B-D6D9-4537-95F8-5DFC8737E244}" type="datetimeFigureOut">
              <a:rPr lang="en-US" smtClean="0"/>
              <a:pPr/>
              <a:t>3/2/2021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5587B-3BAC-49C7-9EA7-10A58E2732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711B-D6D9-4537-95F8-5DFC8737E244}" type="datetimeFigureOut">
              <a:rPr lang="en-US" smtClean="0"/>
              <a:pPr/>
              <a:t>3/2/2021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3885587B-3BAC-49C7-9EA7-10A58E2732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711B-D6D9-4537-95F8-5DFC8737E244}" type="datetimeFigureOut">
              <a:rPr lang="en-US" smtClean="0"/>
              <a:pPr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5587B-3BAC-49C7-9EA7-10A58E2732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711B-D6D9-4537-95F8-5DFC8737E244}" type="datetimeFigureOut">
              <a:rPr lang="en-US" smtClean="0"/>
              <a:pPr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5587B-3BAC-49C7-9EA7-10A58E2732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911711B-D6D9-4537-95F8-5DFC8737E244}" type="datetimeFigureOut">
              <a:rPr lang="en-US" smtClean="0"/>
              <a:pPr/>
              <a:t>3/2/2021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3885587B-3BAC-49C7-9EA7-10A58E2732B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>INPUT AND OUTPUT FUNCTIONS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057400"/>
          </a:xfrm>
        </p:spPr>
        <p:txBody>
          <a:bodyPr/>
          <a:lstStyle/>
          <a:p>
            <a:pPr lvl="0"/>
            <a:r>
              <a:rPr lang="en-US" dirty="0" smtClean="0"/>
              <a:t>The input functions are used to read data from input devices like keyboard, mouse, etc.</a:t>
            </a:r>
          </a:p>
          <a:p>
            <a:pPr lvl="0"/>
            <a:r>
              <a:rPr lang="en-US" dirty="0" smtClean="0"/>
              <a:t>The output functions are used to display data on the monitor, printer and file storage.</a:t>
            </a:r>
          </a:p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200400"/>
            <a:ext cx="6486525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 smtClean="0"/>
              <a:t>CHARACTER ORIENTED FUNTIONS: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u="sng" dirty="0" err="1" smtClean="0"/>
              <a:t>GetChar</a:t>
            </a:r>
            <a:r>
              <a:rPr lang="en-US" b="1" u="sng" dirty="0" smtClean="0"/>
              <a:t>( )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0"/>
            <a:r>
              <a:rPr lang="en-US" dirty="0" smtClean="0"/>
              <a:t>Reads one character and returns the ASCII value of the key pressed.</a:t>
            </a:r>
          </a:p>
          <a:p>
            <a:pPr lvl="0"/>
            <a:r>
              <a:rPr lang="en-US" dirty="0" smtClean="0"/>
              <a:t>The return value may be stored in a variable of type </a:t>
            </a:r>
            <a:r>
              <a:rPr lang="en-US" dirty="0" err="1" smtClean="0"/>
              <a:t>int</a:t>
            </a:r>
            <a:r>
              <a:rPr lang="en-US" dirty="0" smtClean="0"/>
              <a:t> or char.</a:t>
            </a:r>
          </a:p>
          <a:p>
            <a:pPr lvl="0"/>
            <a:r>
              <a:rPr lang="en-US" dirty="0" smtClean="0"/>
              <a:t>Its syntax is:   </a:t>
            </a:r>
            <a:r>
              <a:rPr lang="en-US" b="1" dirty="0" smtClean="0"/>
              <a:t> Variable = </a:t>
            </a:r>
            <a:r>
              <a:rPr lang="en-US" b="1" dirty="0" err="1" smtClean="0"/>
              <a:t>getchar</a:t>
            </a:r>
            <a:r>
              <a:rPr lang="en-US" b="1" dirty="0" smtClean="0"/>
              <a:t>( ) ;</a:t>
            </a:r>
            <a:endParaRPr lang="en-US" dirty="0" smtClean="0"/>
          </a:p>
          <a:p>
            <a:pPr lvl="0"/>
            <a:r>
              <a:rPr lang="en-US" dirty="0" smtClean="0"/>
              <a:t>The </a:t>
            </a:r>
            <a:r>
              <a:rPr lang="en-US" dirty="0" err="1" smtClean="0"/>
              <a:t>getchar</a:t>
            </a:r>
            <a:r>
              <a:rPr lang="en-US" dirty="0" smtClean="0"/>
              <a:t>( ) function, after reading a character, waits for the user to press the enter key.</a:t>
            </a:r>
          </a:p>
          <a:p>
            <a:pPr lvl="0"/>
            <a:r>
              <a:rPr lang="en-US" dirty="0" smtClean="0"/>
              <a:t>Example:   Char C1;</a:t>
            </a:r>
          </a:p>
          <a:p>
            <a:pPr>
              <a:buNone/>
            </a:pPr>
            <a:r>
              <a:rPr lang="en-US" dirty="0" smtClean="0"/>
              <a:t>			C1= </a:t>
            </a:r>
            <a:r>
              <a:rPr lang="en-US" dirty="0" err="1" smtClean="0"/>
              <a:t>getchar</a:t>
            </a:r>
            <a:r>
              <a:rPr lang="en-US" dirty="0" smtClean="0"/>
              <a:t>( );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685800"/>
            <a:ext cx="7772400" cy="5334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u="sng" dirty="0" err="1" smtClean="0"/>
              <a:t>PutChar</a:t>
            </a:r>
            <a:r>
              <a:rPr lang="en-US" b="1" u="sng" dirty="0" smtClean="0"/>
              <a:t>( )</a:t>
            </a:r>
            <a:endParaRPr lang="en-US" dirty="0" smtClean="0"/>
          </a:p>
          <a:p>
            <a:pPr lvl="0"/>
            <a:endParaRPr lang="en-US" dirty="0" smtClean="0"/>
          </a:p>
          <a:p>
            <a:pPr lvl="0"/>
            <a:r>
              <a:rPr lang="en-US" dirty="0" err="1" smtClean="0"/>
              <a:t>Putchar</a:t>
            </a:r>
            <a:r>
              <a:rPr lang="en-US" dirty="0" smtClean="0"/>
              <a:t>( ) prints one character on the screen.</a:t>
            </a:r>
          </a:p>
          <a:p>
            <a:pPr lvl="0"/>
            <a:r>
              <a:rPr lang="en-US" dirty="0" smtClean="0"/>
              <a:t>The syntax is </a:t>
            </a:r>
            <a:r>
              <a:rPr lang="en-US" b="1" dirty="0" smtClean="0"/>
              <a:t> Void </a:t>
            </a:r>
            <a:r>
              <a:rPr lang="en-US" b="1" dirty="0" err="1" smtClean="0"/>
              <a:t>Putchar</a:t>
            </a:r>
            <a:r>
              <a:rPr lang="en-US" b="1" dirty="0" smtClean="0"/>
              <a:t>(</a:t>
            </a:r>
            <a:r>
              <a:rPr lang="en-US" b="1" dirty="0" err="1" smtClean="0"/>
              <a:t>ascii_value</a:t>
            </a:r>
            <a:r>
              <a:rPr lang="en-US" b="1" dirty="0" smtClean="0"/>
              <a:t>);</a:t>
            </a:r>
            <a:endParaRPr lang="en-US" dirty="0" smtClean="0"/>
          </a:p>
          <a:p>
            <a:r>
              <a:rPr lang="en-US" dirty="0" smtClean="0"/>
              <a:t>Where </a:t>
            </a:r>
            <a:r>
              <a:rPr lang="en-US" dirty="0" err="1" smtClean="0"/>
              <a:t>ascii_value</a:t>
            </a:r>
            <a:r>
              <a:rPr lang="en-US" dirty="0" smtClean="0"/>
              <a:t> is a constant or variable of type </a:t>
            </a:r>
            <a:r>
              <a:rPr lang="en-US" dirty="0" err="1" smtClean="0"/>
              <a:t>int</a:t>
            </a:r>
            <a:r>
              <a:rPr lang="en-US" dirty="0" smtClean="0"/>
              <a:t> or char.</a:t>
            </a:r>
          </a:p>
          <a:p>
            <a:pPr lvl="0"/>
            <a:r>
              <a:rPr lang="en-US" dirty="0" smtClean="0"/>
              <a:t>Example:  1)  Char C1;</a:t>
            </a:r>
          </a:p>
          <a:p>
            <a:r>
              <a:rPr lang="en-US" dirty="0" smtClean="0"/>
              <a:t>C1= </a:t>
            </a:r>
            <a:r>
              <a:rPr lang="en-US" dirty="0" err="1" smtClean="0"/>
              <a:t>getchar</a:t>
            </a:r>
            <a:r>
              <a:rPr lang="en-US" dirty="0" smtClean="0"/>
              <a:t>( );</a:t>
            </a:r>
          </a:p>
          <a:p>
            <a:r>
              <a:rPr lang="en-US" dirty="0" err="1" smtClean="0"/>
              <a:t>Putchar</a:t>
            </a:r>
            <a:r>
              <a:rPr lang="en-US" dirty="0" smtClean="0"/>
              <a:t>( C1);</a:t>
            </a:r>
          </a:p>
          <a:p>
            <a:pPr>
              <a:buNone/>
            </a:pPr>
            <a:r>
              <a:rPr lang="en-US" dirty="0" smtClean="0"/>
              <a:t>		Displays a character entered by the user.</a:t>
            </a:r>
          </a:p>
          <a:p>
            <a:pPr>
              <a:buNone/>
            </a:pPr>
            <a:r>
              <a:rPr lang="en-US" dirty="0" smtClean="0"/>
              <a:t>		2) </a:t>
            </a:r>
            <a:r>
              <a:rPr lang="en-US" dirty="0" err="1" smtClean="0"/>
              <a:t>Putchar</a:t>
            </a:r>
            <a:r>
              <a:rPr lang="en-US" dirty="0" smtClean="0"/>
              <a:t>(70);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Displays the character ‘F’</a:t>
            </a:r>
          </a:p>
          <a:p>
            <a:pPr>
              <a:buNone/>
            </a:pPr>
            <a:r>
              <a:rPr lang="en-US" dirty="0" smtClean="0"/>
              <a:t>		3) </a:t>
            </a:r>
            <a:r>
              <a:rPr lang="en-US" dirty="0" err="1" smtClean="0"/>
              <a:t>Putchar</a:t>
            </a:r>
            <a:r>
              <a:rPr lang="en-US" dirty="0" smtClean="0"/>
              <a:t>( “\n” );</a:t>
            </a:r>
          </a:p>
          <a:p>
            <a:pPr>
              <a:buNone/>
            </a:pPr>
            <a:r>
              <a:rPr lang="en-US" dirty="0" smtClean="0"/>
              <a:t>			Displays a new line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 smtClean="0"/>
              <a:t>FORMATTED INPUT FUNCTIONS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 err="1" smtClean="0"/>
              <a:t>Scanf</a:t>
            </a:r>
            <a:r>
              <a:rPr lang="en-US" b="1" u="sng" dirty="0" smtClean="0"/>
              <a:t>( )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0"/>
            <a:r>
              <a:rPr lang="en-US" dirty="0" err="1" smtClean="0"/>
              <a:t>Scanf</a:t>
            </a:r>
            <a:r>
              <a:rPr lang="en-US" dirty="0" smtClean="0"/>
              <a:t>( ) stands for </a:t>
            </a:r>
            <a:r>
              <a:rPr lang="en-US" b="1" dirty="0" smtClean="0"/>
              <a:t>Scan Formatted</a:t>
            </a:r>
            <a:r>
              <a:rPr lang="en-US" dirty="0" smtClean="0"/>
              <a:t>.</a:t>
            </a:r>
          </a:p>
          <a:p>
            <a:pPr lvl="0"/>
            <a:r>
              <a:rPr lang="en-US" dirty="0" err="1" smtClean="0"/>
              <a:t>Scanf</a:t>
            </a:r>
            <a:r>
              <a:rPr lang="en-US" dirty="0" smtClean="0"/>
              <a:t>( ) is used to read values in a specified format.</a:t>
            </a:r>
          </a:p>
          <a:p>
            <a:pPr lvl="0"/>
            <a:r>
              <a:rPr lang="en-US" dirty="0" smtClean="0"/>
              <a:t>The general syntax is :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en-US" b="1" dirty="0" err="1" smtClean="0"/>
              <a:t>scanf</a:t>
            </a:r>
            <a:r>
              <a:rPr lang="en-US" b="1" dirty="0" smtClean="0"/>
              <a:t>(“Control-String”, </a:t>
            </a:r>
            <a:r>
              <a:rPr lang="en-US" b="1" dirty="0" err="1" smtClean="0"/>
              <a:t>argument_list</a:t>
            </a:r>
            <a:r>
              <a:rPr lang="en-US" b="1" dirty="0" smtClean="0"/>
              <a:t>);</a:t>
            </a:r>
            <a:endParaRPr lang="en-US" dirty="0" smtClean="0"/>
          </a:p>
          <a:p>
            <a:pPr lvl="0"/>
            <a:r>
              <a:rPr lang="en-US" dirty="0" smtClean="0"/>
              <a:t>The function </a:t>
            </a:r>
            <a:r>
              <a:rPr lang="en-US" dirty="0" err="1" smtClean="0"/>
              <a:t>scanf</a:t>
            </a:r>
            <a:r>
              <a:rPr lang="en-US" dirty="0" smtClean="0"/>
              <a:t> returns the number of arguments read.</a:t>
            </a:r>
          </a:p>
          <a:p>
            <a:pPr lvl="0"/>
            <a:r>
              <a:rPr lang="en-US" dirty="0" smtClean="0"/>
              <a:t>Control-string represents the field format in which the data is to be entered.</a:t>
            </a:r>
          </a:p>
          <a:p>
            <a:pPr lvl="0"/>
            <a:r>
              <a:rPr lang="en-US" dirty="0" err="1" smtClean="0"/>
              <a:t>Argument_list</a:t>
            </a:r>
            <a:r>
              <a:rPr lang="en-US" dirty="0" smtClean="0"/>
              <a:t> represents the address of the location where the data is stored.</a:t>
            </a:r>
          </a:p>
          <a:p>
            <a:pPr lvl="0"/>
            <a:r>
              <a:rPr lang="en-US" dirty="0" smtClean="0"/>
              <a:t>Commas separate the arguments in the argument list.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609600"/>
            <a:ext cx="7772400" cy="2133600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 smtClean="0"/>
              <a:t>Control string contains the conversion character %, a data type character and an optional number specifying the field width.</a:t>
            </a:r>
          </a:p>
          <a:p>
            <a:pPr lvl="0"/>
            <a:r>
              <a:rPr lang="en-US" dirty="0" smtClean="0"/>
              <a:t>The data type character indicates the type of data assigned to the variable.</a:t>
            </a:r>
          </a:p>
          <a:p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667000"/>
            <a:ext cx="7315200" cy="390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u="sng" dirty="0" smtClean="0"/>
              <a:t>Control string for integer numbers: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sz="2800" b="1" dirty="0" smtClean="0"/>
              <a:t>%wd</a:t>
            </a:r>
            <a:endParaRPr lang="en-US" sz="2800" dirty="0" smtClean="0"/>
          </a:p>
          <a:p>
            <a:pPr>
              <a:buNone/>
            </a:pPr>
            <a:r>
              <a:rPr lang="en-US" sz="2800" b="1" dirty="0" smtClean="0"/>
              <a:t>                        </a:t>
            </a:r>
            <a:r>
              <a:rPr lang="en-US" sz="2800" dirty="0" smtClean="0"/>
              <a:t>Where,  w is an optional width of a number</a:t>
            </a:r>
          </a:p>
          <a:p>
            <a:pPr>
              <a:buNone/>
            </a:pPr>
            <a:r>
              <a:rPr lang="en-US" sz="2800" dirty="0" smtClean="0"/>
              <a:t>                        d indicates the integer mode.</a:t>
            </a:r>
          </a:p>
          <a:p>
            <a:pPr lvl="0"/>
            <a:r>
              <a:rPr lang="en-US" sz="2800" dirty="0" smtClean="0"/>
              <a:t>Example:</a:t>
            </a:r>
          </a:p>
          <a:p>
            <a:r>
              <a:rPr lang="en-US" sz="2800" dirty="0" err="1" smtClean="0"/>
              <a:t>Scanf</a:t>
            </a:r>
            <a:r>
              <a:rPr lang="en-US" sz="2800" dirty="0" smtClean="0"/>
              <a:t>(“%5d %3d”, &amp;n1,&amp;n2);</a:t>
            </a:r>
          </a:p>
          <a:p>
            <a:pPr lvl="1"/>
            <a:r>
              <a:rPr lang="en-US" dirty="0" smtClean="0"/>
              <a:t>This reads values of two integers and assigns them to n1 and n2.</a:t>
            </a:r>
          </a:p>
          <a:p>
            <a:pPr lvl="1"/>
            <a:r>
              <a:rPr lang="en-US" dirty="0" smtClean="0"/>
              <a:t>If the input is 10000 and 10, then n1=10000 and n2=10</a:t>
            </a:r>
          </a:p>
          <a:p>
            <a:pPr lvl="1"/>
            <a:r>
              <a:rPr lang="en-US" dirty="0" smtClean="0"/>
              <a:t>If the input is 10 and 10000, then n1=10 and n2=100</a:t>
            </a:r>
          </a:p>
          <a:p>
            <a:pPr lvl="0"/>
            <a:r>
              <a:rPr lang="en-US" sz="2800" dirty="0" smtClean="0"/>
              <a:t>The input data must be separated by blank space, tab or newline character.</a:t>
            </a:r>
          </a:p>
          <a:p>
            <a:pPr lvl="0"/>
            <a:r>
              <a:rPr lang="en-US" sz="2800" dirty="0" smtClean="0"/>
              <a:t>The </a:t>
            </a:r>
            <a:r>
              <a:rPr lang="en-US" sz="2800" dirty="0" err="1" smtClean="0"/>
              <a:t>scanf</a:t>
            </a:r>
            <a:r>
              <a:rPr lang="en-US" sz="2800" dirty="0" smtClean="0"/>
              <a:t> statement </a:t>
            </a:r>
            <a:r>
              <a:rPr lang="en-US" sz="2800" dirty="0" err="1" smtClean="0"/>
              <a:t>terminates,When</a:t>
            </a:r>
            <a:r>
              <a:rPr lang="en-US" sz="2800" dirty="0" smtClean="0"/>
              <a:t> the number of characters specified by the field width is reached. (or)</a:t>
            </a:r>
          </a:p>
          <a:p>
            <a:pPr lvl="0"/>
            <a:r>
              <a:rPr lang="en-US" sz="2800" dirty="0" smtClean="0"/>
              <a:t>When a character invalid for the data value is read.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14400"/>
            <a:ext cx="7772400" cy="5105400"/>
          </a:xfrm>
        </p:spPr>
        <p:txBody>
          <a:bodyPr/>
          <a:lstStyle/>
          <a:p>
            <a:pPr>
              <a:buNone/>
            </a:pPr>
            <a:r>
              <a:rPr lang="en-US" b="1" u="sng" dirty="0" smtClean="0"/>
              <a:t>Reading real numbers:</a:t>
            </a:r>
          </a:p>
          <a:p>
            <a:pPr lvl="0"/>
            <a:r>
              <a:rPr lang="en-US" dirty="0" smtClean="0"/>
              <a:t>The control string specification for reading real numbers is </a:t>
            </a:r>
            <a:r>
              <a:rPr lang="en-US" b="1" dirty="0" smtClean="0"/>
              <a:t>%</a:t>
            </a:r>
            <a:r>
              <a:rPr lang="en-US" b="1" dirty="0" err="1" smtClean="0"/>
              <a:t>wf</a:t>
            </a:r>
            <a:endParaRPr lang="en-US" dirty="0" smtClean="0"/>
          </a:p>
          <a:p>
            <a:r>
              <a:rPr lang="en-US" dirty="0" smtClean="0"/>
              <a:t>Where </a:t>
            </a:r>
            <a:r>
              <a:rPr lang="en-US" b="1" dirty="0" smtClean="0"/>
              <a:t>w</a:t>
            </a:r>
            <a:r>
              <a:rPr lang="en-US" dirty="0" smtClean="0"/>
              <a:t> is an optional field width and </a:t>
            </a:r>
            <a:r>
              <a:rPr lang="en-US" b="1" dirty="0" smtClean="0"/>
              <a:t>f</a:t>
            </a:r>
            <a:r>
              <a:rPr lang="en-US" dirty="0" smtClean="0"/>
              <a:t> indicates real mode.</a:t>
            </a:r>
          </a:p>
          <a:p>
            <a:pPr lvl="0"/>
            <a:r>
              <a:rPr lang="en-US" dirty="0" smtClean="0"/>
              <a:t>Example:  </a:t>
            </a:r>
            <a:r>
              <a:rPr lang="en-US" dirty="0" err="1" smtClean="0"/>
              <a:t>Scanf</a:t>
            </a:r>
            <a:r>
              <a:rPr lang="en-US" dirty="0" smtClean="0"/>
              <a:t>(“%f %f”, &amp;f1,&amp;f2);</a:t>
            </a:r>
          </a:p>
          <a:p>
            <a:pPr>
              <a:buNone/>
            </a:pPr>
            <a:r>
              <a:rPr lang="en-US" dirty="0" smtClean="0"/>
              <a:t>           	</a:t>
            </a:r>
            <a:r>
              <a:rPr lang="en-US" dirty="0" err="1" smtClean="0"/>
              <a:t>Scanf</a:t>
            </a:r>
            <a:r>
              <a:rPr lang="en-US" dirty="0" smtClean="0"/>
              <a:t>(“%7f”, &amp;f1);</a:t>
            </a:r>
          </a:p>
          <a:p>
            <a:r>
              <a:rPr lang="en-US" dirty="0" smtClean="0"/>
              <a:t>If input is 12.3456, then f1=12.3456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685800"/>
            <a:ext cx="7772400" cy="5334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err="1" smtClean="0"/>
              <a:t>Printf</a:t>
            </a:r>
            <a:r>
              <a:rPr lang="en-US" sz="2800" b="1" u="sng" dirty="0" smtClean="0"/>
              <a:t>( )</a:t>
            </a:r>
            <a:endParaRPr lang="en-US" sz="2800" dirty="0" smtClean="0"/>
          </a:p>
          <a:p>
            <a:pPr>
              <a:buNone/>
            </a:pPr>
            <a:r>
              <a:rPr lang="en-US" sz="2800" b="1" dirty="0" smtClean="0"/>
              <a:t> </a:t>
            </a:r>
            <a:endParaRPr lang="en-US" sz="2800" dirty="0" smtClean="0"/>
          </a:p>
          <a:p>
            <a:pPr lvl="0"/>
            <a:r>
              <a:rPr lang="en-US" sz="2800" dirty="0" smtClean="0"/>
              <a:t>It specifies print formatted and is used to display a message.</a:t>
            </a:r>
          </a:p>
          <a:p>
            <a:pPr lvl="0"/>
            <a:r>
              <a:rPr lang="en-US" sz="2800" dirty="0" smtClean="0"/>
              <a:t>The syntax is    </a:t>
            </a:r>
            <a:r>
              <a:rPr lang="en-US" sz="2800" b="1" dirty="0" err="1" smtClean="0"/>
              <a:t>Printf</a:t>
            </a:r>
            <a:r>
              <a:rPr lang="en-US" sz="2800" b="1" dirty="0" smtClean="0"/>
              <a:t>(“Control-string”, argument-list);</a:t>
            </a:r>
            <a:endParaRPr lang="en-US" sz="2800" dirty="0" smtClean="0"/>
          </a:p>
          <a:p>
            <a:pPr lvl="0"/>
            <a:r>
              <a:rPr lang="en-US" sz="2800" dirty="0" smtClean="0"/>
              <a:t>Control string consists of ,</a:t>
            </a:r>
          </a:p>
          <a:p>
            <a:pPr lvl="1"/>
            <a:r>
              <a:rPr lang="en-US" dirty="0" smtClean="0"/>
              <a:t>Messages to be printed on the screen.</a:t>
            </a:r>
          </a:p>
          <a:p>
            <a:pPr lvl="1"/>
            <a:r>
              <a:rPr lang="en-US" dirty="0" smtClean="0"/>
              <a:t>Format </a:t>
            </a:r>
            <a:r>
              <a:rPr lang="en-US" dirty="0" err="1" smtClean="0"/>
              <a:t>specifiers</a:t>
            </a:r>
            <a:r>
              <a:rPr lang="en-US" dirty="0" smtClean="0"/>
              <a:t> to define the format for the values to be displayed.</a:t>
            </a:r>
          </a:p>
          <a:p>
            <a:pPr lvl="1"/>
            <a:r>
              <a:rPr lang="en-US" dirty="0" smtClean="0"/>
              <a:t>Escape sequence characters like \n, \t etc.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4572000"/>
          </a:xfrm>
        </p:spPr>
        <p:txBody>
          <a:bodyPr>
            <a:normAutofit lnSpcReduction="10000"/>
          </a:bodyPr>
          <a:lstStyle/>
          <a:p>
            <a:pPr lvl="0">
              <a:buNone/>
            </a:pPr>
            <a:r>
              <a:rPr lang="en-US" u="sng" dirty="0" smtClean="0"/>
              <a:t>Example:</a:t>
            </a:r>
            <a:endParaRPr lang="en-US" dirty="0" smtClean="0"/>
          </a:p>
          <a:p>
            <a:pPr>
              <a:buNone/>
            </a:pPr>
            <a:r>
              <a:rPr lang="en-US" dirty="0" err="1" smtClean="0"/>
              <a:t>Printf</a:t>
            </a:r>
            <a:r>
              <a:rPr lang="en-US" dirty="0" smtClean="0"/>
              <a:t>(“Welcome to the world of C \n”);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 lvl="0">
              <a:buNone/>
            </a:pPr>
            <a:r>
              <a:rPr lang="en-US" u="sng" dirty="0" smtClean="0"/>
              <a:t>Output: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Welcome to the world of C</a:t>
            </a:r>
          </a:p>
          <a:p>
            <a:pPr>
              <a:buNone/>
            </a:pPr>
            <a:r>
              <a:rPr lang="en-US" dirty="0" err="1" smtClean="0"/>
              <a:t>Printf</a:t>
            </a:r>
            <a:r>
              <a:rPr lang="en-US" dirty="0" smtClean="0"/>
              <a:t>(“ </a:t>
            </a:r>
            <a:r>
              <a:rPr lang="en-US" dirty="0" err="1" smtClean="0"/>
              <a:t>i</a:t>
            </a:r>
            <a:r>
              <a:rPr lang="en-US" dirty="0" smtClean="0"/>
              <a:t> is %d\n”, 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 lvl="0">
              <a:buNone/>
            </a:pPr>
            <a:r>
              <a:rPr lang="en-US" u="sng" dirty="0" smtClean="0"/>
              <a:t>Output: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The string %d is replaced with the value of the variable </a:t>
            </a:r>
            <a:r>
              <a:rPr lang="en-US" dirty="0" err="1" smtClean="0"/>
              <a:t>i</a:t>
            </a:r>
            <a:r>
              <a:rPr lang="en-US" dirty="0" smtClean="0"/>
              <a:t>  is (value of 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of Integer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Syntax:</a:t>
            </a:r>
          </a:p>
          <a:p>
            <a:pPr marL="0" indent="0">
              <a:buNone/>
            </a:pPr>
            <a:r>
              <a:rPr lang="en-US" dirty="0" smtClean="0"/>
              <a:t>          %</a:t>
            </a:r>
            <a:r>
              <a:rPr lang="en-US" dirty="0" err="1" smtClean="0"/>
              <a:t>wd</a:t>
            </a:r>
            <a:r>
              <a:rPr lang="en-US" dirty="0" smtClean="0"/>
              <a:t>, where w specifies the minimum field width.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667000"/>
            <a:ext cx="26670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307" y="2777647"/>
            <a:ext cx="3886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7369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of real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Syntax: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%</a:t>
            </a:r>
            <a:r>
              <a:rPr lang="en-US" dirty="0" err="1" smtClean="0"/>
              <a:t>w.p</a:t>
            </a:r>
            <a:r>
              <a:rPr lang="en-US" dirty="0" smtClean="0"/>
              <a:t> f, where w indicates the minimum number of positions that are used for display and p indicates the number of digits to be displayed after the decimal points.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429000"/>
            <a:ext cx="38957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276600"/>
            <a:ext cx="237172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0497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Printing a single character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Syntax: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%</a:t>
            </a:r>
            <a:r>
              <a:rPr lang="en-US" dirty="0" err="1" smtClean="0"/>
              <a:t>wc</a:t>
            </a:r>
            <a:r>
              <a:rPr lang="en-US" dirty="0" smtClean="0"/>
              <a:t>, where w is field width.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743200"/>
            <a:ext cx="24384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048000"/>
            <a:ext cx="39147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3247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/>
              <a:t>	</a:t>
            </a:r>
            <a:r>
              <a:rPr lang="en-US" sz="3200" b="1" u="sng" dirty="0" smtClean="0"/>
              <a:t>READING AND DISPLAYING STRINGS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u="sng" dirty="0" smtClean="0"/>
              <a:t>Gets( )</a:t>
            </a:r>
            <a:endParaRPr lang="en-US" sz="2800" dirty="0" smtClean="0"/>
          </a:p>
          <a:p>
            <a:pPr lvl="0"/>
            <a:r>
              <a:rPr lang="en-US" sz="2800" dirty="0" smtClean="0"/>
              <a:t>Gets a string as an input.</a:t>
            </a:r>
          </a:p>
          <a:p>
            <a:pPr lvl="0"/>
            <a:r>
              <a:rPr lang="en-US" sz="2800" dirty="0" smtClean="0"/>
              <a:t>Example :  Char string[10];</a:t>
            </a:r>
          </a:p>
          <a:p>
            <a:r>
              <a:rPr lang="en-US" sz="2800" dirty="0" smtClean="0"/>
              <a:t>      </a:t>
            </a:r>
            <a:r>
              <a:rPr lang="en-US" sz="2800" b="1" dirty="0" smtClean="0"/>
              <a:t>gets(string)</a:t>
            </a:r>
            <a:r>
              <a:rPr lang="en-US" sz="2800" dirty="0" smtClean="0"/>
              <a:t>;</a:t>
            </a:r>
          </a:p>
          <a:p>
            <a:pPr lvl="1"/>
            <a:r>
              <a:rPr lang="en-US" dirty="0" smtClean="0"/>
              <a:t>Gets a word from the input and stores it in a array string.</a:t>
            </a:r>
          </a:p>
          <a:p>
            <a:pPr lvl="3">
              <a:buNone/>
            </a:pPr>
            <a:r>
              <a:rPr lang="en-US" dirty="0" smtClean="0"/>
              <a:t>#include&lt;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 lvl="2">
              <a:buNone/>
            </a:pPr>
            <a:r>
              <a:rPr lang="en-US" dirty="0" smtClean="0"/>
              <a:t>	main()</a:t>
            </a:r>
          </a:p>
          <a:p>
            <a:pPr lvl="2">
              <a:buNone/>
            </a:pPr>
            <a:r>
              <a:rPr lang="en-US" dirty="0" smtClean="0"/>
              <a:t>		{</a:t>
            </a:r>
          </a:p>
          <a:p>
            <a:pPr lvl="2">
              <a:buNone/>
            </a:pPr>
            <a:r>
              <a:rPr lang="en-US" dirty="0" smtClean="0"/>
              <a:t>			Char string[20];</a:t>
            </a:r>
          </a:p>
          <a:p>
            <a:pPr lvl="2">
              <a:buNone/>
            </a:pPr>
            <a:r>
              <a:rPr lang="en-US" dirty="0" smtClean="0"/>
              <a:t>			</a:t>
            </a:r>
            <a:r>
              <a:rPr lang="en-US" dirty="0" err="1" smtClean="0"/>
              <a:t>Printf</a:t>
            </a:r>
            <a:r>
              <a:rPr lang="en-US" dirty="0" smtClean="0"/>
              <a:t>(“Enter a string:”);</a:t>
            </a:r>
          </a:p>
          <a:p>
            <a:pPr lvl="2">
              <a:buNone/>
            </a:pPr>
            <a:r>
              <a:rPr lang="en-US" dirty="0" smtClean="0"/>
              <a:t>			gets(string);</a:t>
            </a:r>
          </a:p>
          <a:p>
            <a:pPr lvl="2">
              <a:buNone/>
            </a:pPr>
            <a:r>
              <a:rPr lang="en-US" dirty="0" smtClean="0"/>
              <a:t>			</a:t>
            </a:r>
            <a:r>
              <a:rPr lang="en-US" dirty="0" err="1" smtClean="0"/>
              <a:t>printf</a:t>
            </a:r>
            <a:r>
              <a:rPr lang="en-US" dirty="0" smtClean="0"/>
              <a:t>(“%s”, string);</a:t>
            </a:r>
          </a:p>
          <a:p>
            <a:pPr lvl="2">
              <a:buNone/>
            </a:pPr>
            <a:r>
              <a:rPr lang="en-US" dirty="0" smtClean="0"/>
              <a:t>	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953000"/>
          </a:xfrm>
        </p:spPr>
        <p:txBody>
          <a:bodyPr/>
          <a:lstStyle/>
          <a:p>
            <a:pPr>
              <a:buNone/>
            </a:pPr>
            <a:r>
              <a:rPr lang="en-US" b="1" u="sng" dirty="0" smtClean="0"/>
              <a:t>Puts( )</a:t>
            </a:r>
            <a:endParaRPr lang="en-US" dirty="0" smtClean="0"/>
          </a:p>
          <a:p>
            <a:pPr lvl="0"/>
            <a:r>
              <a:rPr lang="en-US" dirty="0" smtClean="0"/>
              <a:t>Prints the string.</a:t>
            </a:r>
          </a:p>
          <a:p>
            <a:pPr lvl="0"/>
            <a:r>
              <a:rPr lang="en-US" dirty="0" smtClean="0"/>
              <a:t>The syntax is  </a:t>
            </a:r>
            <a:r>
              <a:rPr lang="en-US" b="1" dirty="0" smtClean="0"/>
              <a:t>Puts(string);</a:t>
            </a:r>
            <a:endParaRPr lang="en-US" dirty="0" smtClean="0"/>
          </a:p>
          <a:p>
            <a:pPr lvl="0"/>
            <a:r>
              <a:rPr lang="en-US" u="sng" dirty="0" smtClean="0"/>
              <a:t>Example: </a:t>
            </a:r>
            <a:r>
              <a:rPr lang="en-US" dirty="0" smtClean="0"/>
              <a:t>   #include&lt;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smtClean="0"/>
              <a:t>     main()</a:t>
            </a:r>
          </a:p>
          <a:p>
            <a:pPr>
              <a:buNone/>
            </a:pPr>
            <a:r>
              <a:rPr lang="en-US" dirty="0" smtClean="0"/>
              <a:t>       {</a:t>
            </a:r>
          </a:p>
          <a:p>
            <a:pPr>
              <a:buNone/>
            </a:pPr>
            <a:r>
              <a:rPr lang="en-US" dirty="0" smtClean="0"/>
              <a:t>                Char </a:t>
            </a:r>
            <a:r>
              <a:rPr lang="en-US" dirty="0" err="1" smtClean="0"/>
              <a:t>str</a:t>
            </a:r>
            <a:r>
              <a:rPr lang="en-US" dirty="0" smtClean="0"/>
              <a:t>[]= “This is an example”;</a:t>
            </a:r>
          </a:p>
          <a:p>
            <a:pPr>
              <a:buNone/>
            </a:pPr>
            <a:r>
              <a:rPr lang="en-US" dirty="0" smtClean="0"/>
              <a:t>	    	      Puts(</a:t>
            </a:r>
            <a:r>
              <a:rPr lang="en-US" dirty="0" err="1" smtClean="0"/>
              <a:t>str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     }</a:t>
            </a:r>
          </a:p>
          <a:p>
            <a:pPr>
              <a:buNone/>
            </a:pPr>
            <a:r>
              <a:rPr lang="en-US" b="1" dirty="0" smtClean="0"/>
              <a:t> 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135</TotalTime>
  <Words>544</Words>
  <Application>Microsoft Office PowerPoint</Application>
  <PresentationFormat>On-screen Show (4:3)</PresentationFormat>
  <Paragraphs>107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Equity</vt:lpstr>
      <vt:lpstr>INPUT AND OUTPUT FUNCTIONS </vt:lpstr>
      <vt:lpstr>CHARACTER ORIENTED FUNTIONS: </vt:lpstr>
      <vt:lpstr>PowerPoint Presentation</vt:lpstr>
      <vt:lpstr>FORMATTED INPUT FUNCTIONS </vt:lpstr>
      <vt:lpstr>PowerPoint Presentation</vt:lpstr>
      <vt:lpstr>Control string for integer numbers: </vt:lpstr>
      <vt:lpstr>PowerPoint Presentation</vt:lpstr>
      <vt:lpstr>PowerPoint Presentation</vt:lpstr>
      <vt:lpstr>PowerPoint Presentation</vt:lpstr>
      <vt:lpstr>Output of Integer numbers</vt:lpstr>
      <vt:lpstr>Output of real numbers</vt:lpstr>
      <vt:lpstr>Printing a single character</vt:lpstr>
      <vt:lpstr> READING AND DISPLAYING STRINGS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PRECEDENCE AND ASSOCIATIVITY OF OPERATORS</dc:title>
  <dc:creator>VIT-Laptop</dc:creator>
  <cp:lastModifiedBy>Admin</cp:lastModifiedBy>
  <cp:revision>10</cp:revision>
  <dcterms:created xsi:type="dcterms:W3CDTF">2014-08-05T07:12:26Z</dcterms:created>
  <dcterms:modified xsi:type="dcterms:W3CDTF">2021-03-02T05:55:43Z</dcterms:modified>
</cp:coreProperties>
</file>