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32" r:id="rId2"/>
    <p:sldId id="265" r:id="rId3"/>
    <p:sldId id="309" r:id="rId4"/>
    <p:sldId id="310" r:id="rId5"/>
    <p:sldId id="314" r:id="rId6"/>
    <p:sldId id="311" r:id="rId7"/>
    <p:sldId id="315" r:id="rId8"/>
    <p:sldId id="316" r:id="rId9"/>
    <p:sldId id="322" r:id="rId10"/>
    <p:sldId id="323" r:id="rId11"/>
    <p:sldId id="324" r:id="rId12"/>
    <p:sldId id="325" r:id="rId13"/>
    <p:sldId id="317" r:id="rId14"/>
    <p:sldId id="326" r:id="rId15"/>
    <p:sldId id="319" r:id="rId16"/>
    <p:sldId id="327" r:id="rId17"/>
    <p:sldId id="328" r:id="rId18"/>
    <p:sldId id="320" r:id="rId19"/>
    <p:sldId id="330" r:id="rId20"/>
    <p:sldId id="331" r:id="rId21"/>
    <p:sldId id="329" r:id="rId22"/>
    <p:sldId id="333" r:id="rId23"/>
    <p:sldId id="336" r:id="rId24"/>
    <p:sldId id="337" r:id="rId25"/>
    <p:sldId id="338" r:id="rId26"/>
    <p:sldId id="339" r:id="rId27"/>
    <p:sldId id="340" r:id="rId28"/>
    <p:sldId id="341"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35"/>
    <p:restoredTop sz="94672"/>
  </p:normalViewPr>
  <p:slideViewPr>
    <p:cSldViewPr>
      <p:cViewPr>
        <p:scale>
          <a:sx n="112" d="100"/>
          <a:sy n="112" d="100"/>
        </p:scale>
        <p:origin x="328" y="6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67E53C-2570-4BDE-8450-B01317046F80}" type="datetimeFigureOut">
              <a:rPr lang="en-US" smtClean="0"/>
              <a:t>6/12/23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C04FA0-E888-40AE-80BE-17D48CDA61F3}" type="slidenum">
              <a:rPr lang="en-US" smtClean="0"/>
              <a:t>‹#›</a:t>
            </a:fld>
            <a:endParaRPr lang="en-US"/>
          </a:p>
        </p:txBody>
      </p:sp>
    </p:spTree>
    <p:extLst>
      <p:ext uri="{BB962C8B-B14F-4D97-AF65-F5344CB8AC3E}">
        <p14:creationId xmlns:p14="http://schemas.microsoft.com/office/powerpoint/2010/main" val="154640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9CBCACE-DCAD-4573-AA2A-2A67CCE0C63F}" type="datetimeFigureOut">
              <a:rPr lang="en-US" smtClean="0"/>
              <a:t>6/12/23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3228954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CBCACE-DCAD-4573-AA2A-2A67CCE0C63F}" type="datetimeFigureOut">
              <a:rPr lang="en-US" smtClean="0"/>
              <a:t>6/12/23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2267779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CBCACE-DCAD-4573-AA2A-2A67CCE0C63F}" type="datetimeFigureOut">
              <a:rPr lang="en-US" smtClean="0"/>
              <a:t>6/12/23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1338310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CBCACE-DCAD-4573-AA2A-2A67CCE0C63F}" type="datetimeFigureOut">
              <a:rPr lang="en-US" smtClean="0"/>
              <a:t>6/12/23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1794786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CBCACE-DCAD-4573-AA2A-2A67CCE0C63F}" type="datetimeFigureOut">
              <a:rPr lang="en-US" smtClean="0"/>
              <a:t>6/12/23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4134253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9CBCACE-DCAD-4573-AA2A-2A67CCE0C63F}" type="datetimeFigureOut">
              <a:rPr lang="en-US" smtClean="0"/>
              <a:t>6/12/23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445312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CBCACE-DCAD-4573-AA2A-2A67CCE0C63F}" type="datetimeFigureOut">
              <a:rPr lang="en-US" smtClean="0"/>
              <a:t>6/12/23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2135854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CBCACE-DCAD-4573-AA2A-2A67CCE0C63F}" type="datetimeFigureOut">
              <a:rPr lang="en-US" smtClean="0"/>
              <a:t>6/12/23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1553375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CBCACE-DCAD-4573-AA2A-2A67CCE0C63F}" type="datetimeFigureOut">
              <a:rPr lang="en-US" smtClean="0"/>
              <a:t>6/12/23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1319195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CBCACE-DCAD-4573-AA2A-2A67CCE0C63F}" type="datetimeFigureOut">
              <a:rPr lang="en-US" smtClean="0"/>
              <a:t>6/12/23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807666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CBCACE-DCAD-4573-AA2A-2A67CCE0C63F}" type="datetimeFigureOut">
              <a:rPr lang="en-US" smtClean="0"/>
              <a:t>6/12/23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3F945-5BA6-4CE2-AA9E-49E9EBDF942A}" type="slidenum">
              <a:rPr lang="en-US" smtClean="0"/>
              <a:t>‹#›</a:t>
            </a:fld>
            <a:endParaRPr lang="en-US"/>
          </a:p>
        </p:txBody>
      </p:sp>
    </p:spTree>
    <p:extLst>
      <p:ext uri="{BB962C8B-B14F-4D97-AF65-F5344CB8AC3E}">
        <p14:creationId xmlns:p14="http://schemas.microsoft.com/office/powerpoint/2010/main" val="2278355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CBCACE-DCAD-4573-AA2A-2A67CCE0C63F}" type="datetimeFigureOut">
              <a:rPr lang="en-US" smtClean="0"/>
              <a:t>6/12/23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53F945-5BA6-4CE2-AA9E-49E9EBDF942A}" type="slidenum">
              <a:rPr lang="en-US" smtClean="0"/>
              <a:t>‹#›</a:t>
            </a:fld>
            <a:endParaRPr lang="en-US"/>
          </a:p>
        </p:txBody>
      </p:sp>
    </p:spTree>
    <p:extLst>
      <p:ext uri="{BB962C8B-B14F-4D97-AF65-F5344CB8AC3E}">
        <p14:creationId xmlns:p14="http://schemas.microsoft.com/office/powerpoint/2010/main" val="496497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000000"/>
                </a:solidFill>
                <a:latin typeface="Times New Roman"/>
              </a:rPr>
              <a:t>Inheritance</a:t>
            </a:r>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008990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00"/>
                </a:solidFill>
                <a:latin typeface="Times New Roman"/>
              </a:rPr>
              <a:t>Inheritance</a:t>
            </a:r>
            <a:endParaRPr lang="en-US" dirty="0"/>
          </a:p>
        </p:txBody>
      </p:sp>
      <p:sp>
        <p:nvSpPr>
          <p:cNvPr id="3" name="Content Placeholder 2"/>
          <p:cNvSpPr>
            <a:spLocks noGrp="1"/>
          </p:cNvSpPr>
          <p:nvPr>
            <p:ph idx="1"/>
          </p:nvPr>
        </p:nvSpPr>
        <p:spPr/>
        <p:txBody>
          <a:bodyPr/>
          <a:lstStyle/>
          <a:p>
            <a:r>
              <a:rPr lang="en-US" dirty="0"/>
              <a:t>Reusability is  another feature of OOP's. </a:t>
            </a:r>
          </a:p>
          <a:p>
            <a:r>
              <a:rPr lang="en-US" dirty="0"/>
              <a:t>The mechanism of deriving a new class from an old one is called 'INHERTTENCE'.</a:t>
            </a:r>
          </a:p>
          <a:p>
            <a:r>
              <a:rPr lang="en-US" dirty="0"/>
              <a:t>The old class is called 'BASE' class and the new one is called '</a:t>
            </a:r>
            <a:r>
              <a:rPr lang="en-US" dirty="0" err="1"/>
              <a:t>DERIEVED'class</a:t>
            </a:r>
            <a:endParaRPr lang="en-US" dirty="0"/>
          </a:p>
          <a:p>
            <a:endParaRPr lang="en-US" dirty="0"/>
          </a:p>
        </p:txBody>
      </p:sp>
    </p:spTree>
    <p:extLst>
      <p:ext uri="{BB962C8B-B14F-4D97-AF65-F5344CB8AC3E}">
        <p14:creationId xmlns:p14="http://schemas.microsoft.com/office/powerpoint/2010/main" val="4044912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Derived Classes</a:t>
            </a:r>
          </a:p>
        </p:txBody>
      </p:sp>
      <p:sp>
        <p:nvSpPr>
          <p:cNvPr id="3" name="Content Placeholder 2"/>
          <p:cNvSpPr>
            <a:spLocks noGrp="1"/>
          </p:cNvSpPr>
          <p:nvPr>
            <p:ph idx="1"/>
          </p:nvPr>
        </p:nvSpPr>
        <p:spPr/>
        <p:txBody>
          <a:bodyPr/>
          <a:lstStyle/>
          <a:p>
            <a:r>
              <a:rPr lang="en-US" dirty="0"/>
              <a:t>The general syntax of defining a derived class is as follows:</a:t>
            </a:r>
          </a:p>
          <a:p>
            <a:pPr marL="0" indent="0">
              <a:buNone/>
            </a:pPr>
            <a:r>
              <a:rPr lang="en-US" dirty="0"/>
              <a:t>class </a:t>
            </a:r>
            <a:r>
              <a:rPr lang="en-US" dirty="0" err="1"/>
              <a:t>d_classname</a:t>
            </a:r>
            <a:r>
              <a:rPr lang="en-US" dirty="0"/>
              <a:t> : Access specifier </a:t>
            </a:r>
            <a:r>
              <a:rPr lang="en-US" dirty="0" err="1"/>
              <a:t>baseclass</a:t>
            </a:r>
            <a:r>
              <a:rPr lang="en-US" dirty="0"/>
              <a:t> name</a:t>
            </a:r>
          </a:p>
          <a:p>
            <a:pPr marL="0" indent="0">
              <a:buNone/>
            </a:pPr>
            <a:r>
              <a:rPr lang="en-US" dirty="0"/>
              <a:t>{</a:t>
            </a:r>
          </a:p>
          <a:p>
            <a:pPr marL="0" indent="0">
              <a:buNone/>
            </a:pPr>
            <a:r>
              <a:rPr lang="en-US" dirty="0"/>
              <a:t>       __</a:t>
            </a:r>
          </a:p>
          <a:p>
            <a:pPr marL="0" indent="0">
              <a:buNone/>
            </a:pPr>
            <a:r>
              <a:rPr lang="en-US" dirty="0"/>
              <a:t>        // members of derived class</a:t>
            </a:r>
          </a:p>
          <a:p>
            <a:pPr marL="0" indent="0">
              <a:buNone/>
            </a:pPr>
            <a:r>
              <a:rPr lang="en-US" dirty="0"/>
              <a:t>};</a:t>
            </a:r>
          </a:p>
        </p:txBody>
      </p:sp>
    </p:spTree>
    <p:extLst>
      <p:ext uri="{BB962C8B-B14F-4D97-AF65-F5344CB8AC3E}">
        <p14:creationId xmlns:p14="http://schemas.microsoft.com/office/powerpoint/2010/main" val="1165676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colon indicates that </a:t>
            </a:r>
            <a:r>
              <a:rPr lang="en-US"/>
              <a:t>the d-class </a:t>
            </a:r>
            <a:r>
              <a:rPr lang="en-US" dirty="0"/>
              <a:t>name is derived from the base class name. </a:t>
            </a:r>
          </a:p>
          <a:p>
            <a:r>
              <a:rPr lang="en-US" dirty="0"/>
              <a:t>The access specifier or the visibility mode is optional and, if present, may be public, private or protected. By default it is private. </a:t>
            </a:r>
          </a:p>
          <a:p>
            <a:r>
              <a:rPr lang="en-US" dirty="0"/>
              <a:t>Visibility mode describes the status of derived features</a:t>
            </a:r>
          </a:p>
        </p:txBody>
      </p:sp>
    </p:spTree>
    <p:extLst>
      <p:ext uri="{BB962C8B-B14F-4D97-AF65-F5344CB8AC3E}">
        <p14:creationId xmlns:p14="http://schemas.microsoft.com/office/powerpoint/2010/main" val="2036798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altLang="en-US"/>
              <a:t>Access specifier</a:t>
            </a:r>
          </a:p>
        </p:txBody>
      </p:sp>
      <p:sp>
        <p:nvSpPr>
          <p:cNvPr id="12291" name="Content Placeholder 2"/>
          <p:cNvSpPr>
            <a:spLocks noGrp="1"/>
          </p:cNvSpPr>
          <p:nvPr>
            <p:ph idx="1"/>
          </p:nvPr>
        </p:nvSpPr>
        <p:spPr>
          <a:xfrm>
            <a:off x="304800" y="1600200"/>
            <a:ext cx="8458200" cy="3505200"/>
          </a:xfrm>
        </p:spPr>
        <p:txBody>
          <a:bodyPr/>
          <a:lstStyle/>
          <a:p>
            <a:pPr algn="just" eaLnBrk="1" hangingPunct="1"/>
            <a:r>
              <a:rPr lang="en-US" altLang="en-US" sz="2800" b="1" dirty="0"/>
              <a:t>Public</a:t>
            </a:r>
            <a:r>
              <a:rPr lang="en-US" altLang="en-US" sz="2800" dirty="0"/>
              <a:t> - The members declared as Public are accessible from outside the Class through an object of the class.</a:t>
            </a:r>
          </a:p>
          <a:p>
            <a:pPr algn="just" eaLnBrk="1" hangingPunct="1"/>
            <a:r>
              <a:rPr lang="en-US" altLang="en-US" sz="2800" b="1" dirty="0"/>
              <a:t>Protected</a:t>
            </a:r>
            <a:r>
              <a:rPr lang="en-US" altLang="en-US" sz="2800" dirty="0"/>
              <a:t> - The members declared as Protected are accessible from outside the class </a:t>
            </a:r>
            <a:r>
              <a:rPr lang="en-US" altLang="en-US" sz="2800" b="1" dirty="0"/>
              <a:t>BUT</a:t>
            </a:r>
            <a:r>
              <a:rPr lang="en-US" altLang="en-US" sz="2800" dirty="0"/>
              <a:t> only in a class derived from it.</a:t>
            </a:r>
          </a:p>
          <a:p>
            <a:pPr algn="just" eaLnBrk="1" hangingPunct="1"/>
            <a:r>
              <a:rPr lang="en-US" altLang="en-US" sz="2800" b="1" dirty="0"/>
              <a:t>Private</a:t>
            </a:r>
            <a:r>
              <a:rPr lang="en-US" altLang="en-US" sz="2800" dirty="0"/>
              <a:t> - These members are only accessible from within the class. No outside Access is allowed.</a:t>
            </a:r>
          </a:p>
          <a:p>
            <a:pPr algn="just" eaLnBrk="1" hangingPunct="1">
              <a:buFont typeface="Arial" pitchFamily="34" charset="0"/>
              <a:buNone/>
            </a:pPr>
            <a:endParaRPr lang="en-US" altLang="en-US" sz="2800" dirty="0"/>
          </a:p>
        </p:txBody>
      </p:sp>
    </p:spTree>
    <p:extLst>
      <p:ext uri="{BB962C8B-B14F-4D97-AF65-F5344CB8AC3E}">
        <p14:creationId xmlns:p14="http://schemas.microsoft.com/office/powerpoint/2010/main" val="2032899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Inheritance</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676400"/>
            <a:ext cx="7696200"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36732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138113" y="312738"/>
            <a:ext cx="8929687"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ltLang="en-US" sz="3200" b="1" u="sng">
                <a:latin typeface="Times New Roman" pitchFamily="18" charset="0"/>
                <a:cs typeface="Times New Roman" pitchFamily="18" charset="0"/>
              </a:rPr>
              <a:t>Single Inheritance </a:t>
            </a:r>
          </a:p>
          <a:p>
            <a:pPr algn="ctr" eaLnBrk="1" hangingPunct="1"/>
            <a:endParaRPr lang="en-US" altLang="en-US" sz="3200" b="1" u="sng">
              <a:latin typeface="Times New Roman" pitchFamily="18" charset="0"/>
              <a:cs typeface="Times New Roman" pitchFamily="18" charset="0"/>
            </a:endParaRPr>
          </a:p>
          <a:p>
            <a:pPr algn="just" eaLnBrk="1" hangingPunct="1"/>
            <a:r>
              <a:rPr lang="en-US" altLang="en-US" sz="2400">
                <a:latin typeface="Times New Roman" pitchFamily="18" charset="0"/>
                <a:cs typeface="Times New Roman" pitchFamily="18" charset="0"/>
              </a:rPr>
              <a:t>A class can be derived from a single base class is called single inheritance</a:t>
            </a:r>
            <a:endParaRPr lang="en-US" altLang="en-US" sz="2400">
              <a:latin typeface="Times New Roman" pitchFamily="18" charset="0"/>
            </a:endParaRPr>
          </a:p>
        </p:txBody>
      </p:sp>
      <p:grpSp>
        <p:nvGrpSpPr>
          <p:cNvPr id="15363" name="Group 3"/>
          <p:cNvGrpSpPr>
            <a:grpSpLocks/>
          </p:cNvGrpSpPr>
          <p:nvPr/>
        </p:nvGrpSpPr>
        <p:grpSpPr bwMode="auto">
          <a:xfrm>
            <a:off x="3200400" y="2362200"/>
            <a:ext cx="2514600" cy="2514600"/>
            <a:chOff x="1872" y="2016"/>
            <a:chExt cx="1584" cy="1584"/>
          </a:xfrm>
        </p:grpSpPr>
        <p:sp>
          <p:nvSpPr>
            <p:cNvPr id="15364" name="Text Box 4"/>
            <p:cNvSpPr txBox="1">
              <a:spLocks noChangeArrowheads="1"/>
            </p:cNvSpPr>
            <p:nvPr/>
          </p:nvSpPr>
          <p:spPr bwMode="auto">
            <a:xfrm>
              <a:off x="1872" y="2016"/>
              <a:ext cx="1584" cy="533"/>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sz="3600" b="1">
                  <a:solidFill>
                    <a:srgbClr val="3333CC"/>
                  </a:solidFill>
                  <a:latin typeface="Times New Roman" pitchFamily="18" charset="0"/>
                </a:rPr>
                <a:t>Person</a:t>
              </a:r>
            </a:p>
          </p:txBody>
        </p:sp>
        <p:sp>
          <p:nvSpPr>
            <p:cNvPr id="15365" name="Text Box 5"/>
            <p:cNvSpPr txBox="1">
              <a:spLocks noChangeArrowheads="1"/>
            </p:cNvSpPr>
            <p:nvPr/>
          </p:nvSpPr>
          <p:spPr bwMode="auto">
            <a:xfrm>
              <a:off x="1872" y="3067"/>
              <a:ext cx="1584" cy="533"/>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sz="3200" b="1">
                  <a:solidFill>
                    <a:srgbClr val="3333CC"/>
                  </a:solidFill>
                  <a:latin typeface="Times New Roman" pitchFamily="18" charset="0"/>
                </a:rPr>
                <a:t>Employee</a:t>
              </a:r>
              <a:endParaRPr lang="en-US" altLang="en-US" sz="4400" b="1">
                <a:solidFill>
                  <a:srgbClr val="3333CC"/>
                </a:solidFill>
                <a:latin typeface="Times New Roman" pitchFamily="18" charset="0"/>
              </a:endParaRPr>
            </a:p>
          </p:txBody>
        </p:sp>
        <p:sp>
          <p:nvSpPr>
            <p:cNvPr id="14352" name="Line 6"/>
            <p:cNvSpPr>
              <a:spLocks noChangeShapeType="1"/>
            </p:cNvSpPr>
            <p:nvPr/>
          </p:nvSpPr>
          <p:spPr bwMode="auto">
            <a:xfrm>
              <a:off x="2592" y="2536"/>
              <a:ext cx="0" cy="533"/>
            </a:xfrm>
            <a:prstGeom prst="line">
              <a:avLst/>
            </a:prstGeom>
            <a:ln>
              <a:headEnd/>
              <a:tailEnd type="stealth" w="lg" len="lg"/>
            </a:ln>
          </p:spPr>
          <p:style>
            <a:lnRef idx="2">
              <a:schemeClr val="dk1"/>
            </a:lnRef>
            <a:fillRef idx="0">
              <a:schemeClr val="dk1"/>
            </a:fillRef>
            <a:effectRef idx="1">
              <a:schemeClr val="dk1"/>
            </a:effectRef>
            <a:fontRef idx="minor">
              <a:schemeClr val="tx1"/>
            </a:fontRef>
          </p:style>
          <p:txBody>
            <a:bodyPr/>
            <a:lstStyle/>
            <a:p>
              <a:pPr>
                <a:defRPr/>
              </a:pPr>
              <a:endParaRPr lang="en-US"/>
            </a:p>
          </p:txBody>
        </p:sp>
      </p:grpSp>
    </p:spTree>
    <p:extLst>
      <p:ext uri="{BB962C8B-B14F-4D97-AF65-F5344CB8AC3E}">
        <p14:creationId xmlns:p14="http://schemas.microsoft.com/office/powerpoint/2010/main" val="1843501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1447800"/>
            <a:ext cx="2895600"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Connector 6"/>
          <p:cNvCxnSpPr/>
          <p:nvPr/>
        </p:nvCxnSpPr>
        <p:spPr>
          <a:xfrm>
            <a:off x="3048000" y="1447800"/>
            <a:ext cx="0" cy="5334000"/>
          </a:xfrm>
          <a:prstGeom prst="line">
            <a:avLst/>
          </a:prstGeom>
        </p:spPr>
        <p:style>
          <a:lnRef idx="1">
            <a:schemeClr val="accent1"/>
          </a:lnRef>
          <a:fillRef idx="0">
            <a:schemeClr val="accent1"/>
          </a:fillRef>
          <a:effectRef idx="0">
            <a:schemeClr val="accent1"/>
          </a:effectRef>
          <a:fontRef idx="minor">
            <a:schemeClr val="tx1"/>
          </a:fontRef>
        </p:style>
      </p:cxn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1447800"/>
            <a:ext cx="2895600"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9" name="Straight Connector 8"/>
          <p:cNvCxnSpPr/>
          <p:nvPr/>
        </p:nvCxnSpPr>
        <p:spPr>
          <a:xfrm>
            <a:off x="6096000" y="1447800"/>
            <a:ext cx="0" cy="5334000"/>
          </a:xfrm>
          <a:prstGeom prst="line">
            <a:avLst/>
          </a:prstGeom>
        </p:spPr>
        <p:style>
          <a:lnRef idx="1">
            <a:schemeClr val="accent1"/>
          </a:lnRef>
          <a:fillRef idx="0">
            <a:schemeClr val="accent1"/>
          </a:fillRef>
          <a:effectRef idx="0">
            <a:schemeClr val="accent1"/>
          </a:effectRef>
          <a:fontRef idx="minor">
            <a:schemeClr val="tx1"/>
          </a:fontRef>
        </p:style>
      </p:cxnSp>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1447800"/>
            <a:ext cx="2133600"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1" y="4419600"/>
            <a:ext cx="2209800" cy="144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5198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066800"/>
            <a:ext cx="8763000"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TextBox 2"/>
          <p:cNvSpPr txBox="1">
            <a:spLocks noChangeArrowheads="1"/>
          </p:cNvSpPr>
          <p:nvPr/>
        </p:nvSpPr>
        <p:spPr bwMode="auto">
          <a:xfrm>
            <a:off x="1371600" y="381000"/>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GB" altLang="en-US" sz="2800" b="1"/>
              <a:t>Public Inheritance</a:t>
            </a:r>
          </a:p>
        </p:txBody>
      </p:sp>
    </p:spTree>
    <p:extLst>
      <p:ext uri="{BB962C8B-B14F-4D97-AF65-F5344CB8AC3E}">
        <p14:creationId xmlns:p14="http://schemas.microsoft.com/office/powerpoint/2010/main" val="2182934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
          <p:cNvSpPr txBox="1">
            <a:spLocks noChangeArrowheads="1"/>
          </p:cNvSpPr>
          <p:nvPr/>
        </p:nvSpPr>
        <p:spPr bwMode="auto">
          <a:xfrm>
            <a:off x="1371600" y="381000"/>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GB" altLang="en-US" sz="2800" b="1"/>
              <a:t>Private Inheritance</a:t>
            </a:r>
          </a:p>
        </p:txBody>
      </p:sp>
      <p:pic>
        <p:nvPicPr>
          <p:cNvPr id="2560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143000"/>
            <a:ext cx="8323263"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6194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Box 2"/>
          <p:cNvSpPr txBox="1">
            <a:spLocks noChangeArrowheads="1"/>
          </p:cNvSpPr>
          <p:nvPr/>
        </p:nvSpPr>
        <p:spPr bwMode="auto">
          <a:xfrm>
            <a:off x="1371600" y="381000"/>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GB" altLang="en-US" sz="2800" b="1"/>
              <a:t>Protected Inheritance</a:t>
            </a:r>
          </a:p>
        </p:txBody>
      </p:sp>
      <p:pic>
        <p:nvPicPr>
          <p:cNvPr id="266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86106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3289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1"/>
          <p:cNvSpPr>
            <a:spLocks noChangeArrowheads="1"/>
          </p:cNvSpPr>
          <p:nvPr/>
        </p:nvSpPr>
        <p:spPr bwMode="auto">
          <a:xfrm>
            <a:off x="2209800" y="381000"/>
            <a:ext cx="4114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ltLang="en-US" sz="2800" b="1">
                <a:solidFill>
                  <a:srgbClr val="000066"/>
                </a:solidFill>
                <a:latin typeface="Lucida Sans Unicode" pitchFamily="34" charset="0"/>
              </a:rPr>
              <a:t>Multilevel Inheritance</a:t>
            </a:r>
          </a:p>
        </p:txBody>
      </p:sp>
      <p:grpSp>
        <p:nvGrpSpPr>
          <p:cNvPr id="27651" name="Group 19"/>
          <p:cNvGrpSpPr>
            <a:grpSpLocks/>
          </p:cNvGrpSpPr>
          <p:nvPr/>
        </p:nvGrpSpPr>
        <p:grpSpPr bwMode="auto">
          <a:xfrm>
            <a:off x="914400" y="2354263"/>
            <a:ext cx="3198813" cy="3055937"/>
            <a:chOff x="914400" y="1752600"/>
            <a:chExt cx="3198813" cy="3055938"/>
          </a:xfrm>
        </p:grpSpPr>
        <p:grpSp>
          <p:nvGrpSpPr>
            <p:cNvPr id="27659" name="Group 2"/>
            <p:cNvGrpSpPr>
              <a:grpSpLocks/>
            </p:cNvGrpSpPr>
            <p:nvPr/>
          </p:nvGrpSpPr>
          <p:grpSpPr bwMode="auto">
            <a:xfrm>
              <a:off x="914400" y="1752600"/>
              <a:ext cx="3198813" cy="3055938"/>
              <a:chOff x="432" y="1152"/>
              <a:chExt cx="2015" cy="1925"/>
            </a:xfrm>
          </p:grpSpPr>
          <p:sp>
            <p:nvSpPr>
              <p:cNvPr id="27661" name="Rectangle 3"/>
              <p:cNvSpPr>
                <a:spLocks noChangeArrowheads="1"/>
              </p:cNvSpPr>
              <p:nvPr/>
            </p:nvSpPr>
            <p:spPr bwMode="auto">
              <a:xfrm>
                <a:off x="465" y="1152"/>
                <a:ext cx="1982" cy="424"/>
              </a:xfrm>
              <a:prstGeom prst="rect">
                <a:avLst/>
              </a:prstGeom>
              <a:solidFill>
                <a:srgbClr val="C5C5FF"/>
              </a:solidFill>
              <a:ln w="9525" cap="sq">
                <a:solidFill>
                  <a:srgbClr val="000000"/>
                </a:solidFill>
                <a:miter lim="800000"/>
                <a:headEnd/>
                <a:tailEnd/>
              </a:ln>
            </p:spPr>
            <p:txBody>
              <a:bodyPr wrap="none"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ltLang="en-US">
                  <a:latin typeface="Lucida Sans Unicode" pitchFamily="34" charset="0"/>
                </a:endParaRPr>
              </a:p>
            </p:txBody>
          </p:sp>
          <p:sp>
            <p:nvSpPr>
              <p:cNvPr id="27662" name="Rectangle 4"/>
              <p:cNvSpPr>
                <a:spLocks noChangeArrowheads="1"/>
              </p:cNvSpPr>
              <p:nvPr/>
            </p:nvSpPr>
            <p:spPr bwMode="auto">
              <a:xfrm>
                <a:off x="432" y="2653"/>
                <a:ext cx="1982" cy="424"/>
              </a:xfrm>
              <a:prstGeom prst="rect">
                <a:avLst/>
              </a:prstGeom>
              <a:solidFill>
                <a:srgbClr val="80D212"/>
              </a:solidFill>
              <a:ln w="9525" cap="sq">
                <a:solidFill>
                  <a:srgbClr val="000000"/>
                </a:solidFill>
                <a:miter lim="800000"/>
                <a:headEnd/>
                <a:tailEnd/>
              </a:ln>
            </p:spPr>
            <p:txBody>
              <a:bodyPr wrap="none"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ltLang="en-US">
                  <a:latin typeface="Lucida Sans Unicode" pitchFamily="34" charset="0"/>
                </a:endParaRPr>
              </a:p>
            </p:txBody>
          </p:sp>
          <p:sp>
            <p:nvSpPr>
              <p:cNvPr id="27663" name="Rectangle 5"/>
              <p:cNvSpPr>
                <a:spLocks noChangeArrowheads="1"/>
              </p:cNvSpPr>
              <p:nvPr/>
            </p:nvSpPr>
            <p:spPr bwMode="auto">
              <a:xfrm>
                <a:off x="465" y="1907"/>
                <a:ext cx="1982" cy="424"/>
              </a:xfrm>
              <a:prstGeom prst="rect">
                <a:avLst/>
              </a:prstGeom>
              <a:solidFill>
                <a:srgbClr val="FBF6C9"/>
              </a:solidFill>
              <a:ln w="9525" cap="sq">
                <a:solidFill>
                  <a:srgbClr val="000000"/>
                </a:solidFill>
                <a:miter lim="800000"/>
                <a:headEnd/>
                <a:tailEnd/>
              </a:ln>
            </p:spPr>
            <p:txBody>
              <a:bodyPr wrap="none"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ltLang="en-US">
                  <a:latin typeface="Lucida Sans Unicode" pitchFamily="34" charset="0"/>
                </a:endParaRPr>
              </a:p>
            </p:txBody>
          </p:sp>
          <p:sp>
            <p:nvSpPr>
              <p:cNvPr id="27664" name="Line 6"/>
              <p:cNvSpPr>
                <a:spLocks noChangeShapeType="1"/>
              </p:cNvSpPr>
              <p:nvPr/>
            </p:nvSpPr>
            <p:spPr bwMode="auto">
              <a:xfrm>
                <a:off x="1422" y="1576"/>
                <a:ext cx="0" cy="331"/>
              </a:xfrm>
              <a:prstGeom prst="line">
                <a:avLst/>
              </a:prstGeom>
              <a:noFill/>
              <a:ln w="38100" cap="sq">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1" name="Text Box 8"/>
              <p:cNvSpPr txBox="1">
                <a:spLocks noChangeArrowheads="1"/>
              </p:cNvSpPr>
              <p:nvPr/>
            </p:nvSpPr>
            <p:spPr bwMode="auto">
              <a:xfrm>
                <a:off x="533" y="1200"/>
                <a:ext cx="1846" cy="273"/>
              </a:xfrm>
              <a:prstGeom prst="rect">
                <a:avLst/>
              </a:prstGeom>
              <a:noFill/>
              <a:ln w="9525" cap="sq">
                <a:noFill/>
                <a:miter lim="800000"/>
                <a:headEnd/>
                <a:tailEnd/>
              </a:ln>
            </p:spPr>
            <p:txBody>
              <a:bodyPr lIns="64008" tIns="32004" rIns="64008" bIns="32004">
                <a:spAutoFit/>
              </a:bodyPr>
              <a:lstStyle/>
              <a:p>
                <a:pPr algn="ctr" eaLnBrk="0" hangingPunct="0">
                  <a:defRPr/>
                </a:pPr>
                <a:r>
                  <a:rPr lang="en-US" sz="2400" b="1" dirty="0">
                    <a:solidFill>
                      <a:schemeClr val="accent6">
                        <a:lumMod val="75000"/>
                      </a:schemeClr>
                    </a:solidFill>
                    <a:latin typeface="Verdana" pitchFamily="34" charset="0"/>
                    <a:cs typeface="Arial" charset="0"/>
                  </a:rPr>
                  <a:t>Vehicle</a:t>
                </a:r>
              </a:p>
            </p:txBody>
          </p:sp>
          <p:sp>
            <p:nvSpPr>
              <p:cNvPr id="18442" name="Text Box 9"/>
              <p:cNvSpPr txBox="1">
                <a:spLocks noChangeArrowheads="1"/>
              </p:cNvSpPr>
              <p:nvPr/>
            </p:nvSpPr>
            <p:spPr bwMode="auto">
              <a:xfrm>
                <a:off x="533" y="1953"/>
                <a:ext cx="1846" cy="273"/>
              </a:xfrm>
              <a:prstGeom prst="rect">
                <a:avLst/>
              </a:prstGeom>
              <a:noFill/>
              <a:ln w="9525" cap="sq">
                <a:noFill/>
                <a:miter lim="800000"/>
                <a:headEnd/>
                <a:tailEnd/>
              </a:ln>
            </p:spPr>
            <p:txBody>
              <a:bodyPr lIns="64008" tIns="32004" rIns="64008" bIns="32004">
                <a:spAutoFit/>
              </a:bodyPr>
              <a:lstStyle/>
              <a:p>
                <a:pPr algn="ctr" eaLnBrk="0" hangingPunct="0">
                  <a:defRPr/>
                </a:pPr>
                <a:r>
                  <a:rPr lang="en-US" sz="2400" b="1" dirty="0">
                    <a:solidFill>
                      <a:schemeClr val="accent6">
                        <a:lumMod val="75000"/>
                      </a:schemeClr>
                    </a:solidFill>
                    <a:latin typeface="Verdana" pitchFamily="34" charset="0"/>
                    <a:cs typeface="Arial" charset="0"/>
                  </a:rPr>
                  <a:t>Car</a:t>
                </a:r>
              </a:p>
            </p:txBody>
          </p:sp>
          <p:sp>
            <p:nvSpPr>
              <p:cNvPr id="18443" name="Text Box 10"/>
              <p:cNvSpPr txBox="1">
                <a:spLocks noChangeArrowheads="1"/>
              </p:cNvSpPr>
              <p:nvPr/>
            </p:nvSpPr>
            <p:spPr bwMode="auto">
              <a:xfrm>
                <a:off x="506" y="2716"/>
                <a:ext cx="1846" cy="273"/>
              </a:xfrm>
              <a:prstGeom prst="rect">
                <a:avLst/>
              </a:prstGeom>
              <a:noFill/>
              <a:ln w="9525" cap="sq">
                <a:noFill/>
                <a:miter lim="800000"/>
                <a:headEnd/>
                <a:tailEnd/>
              </a:ln>
            </p:spPr>
            <p:txBody>
              <a:bodyPr lIns="64008" tIns="32004" rIns="64008" bIns="32004">
                <a:spAutoFit/>
              </a:bodyPr>
              <a:lstStyle/>
              <a:p>
                <a:pPr algn="ctr" eaLnBrk="0" hangingPunct="0">
                  <a:defRPr/>
                </a:pPr>
                <a:r>
                  <a:rPr lang="en-US" sz="2400" b="1" dirty="0">
                    <a:solidFill>
                      <a:schemeClr val="accent6">
                        <a:lumMod val="75000"/>
                      </a:schemeClr>
                    </a:solidFill>
                    <a:latin typeface="Verdana" pitchFamily="34" charset="0"/>
                    <a:cs typeface="Arial" charset="0"/>
                  </a:rPr>
                  <a:t>Racing car</a:t>
                </a:r>
              </a:p>
            </p:txBody>
          </p:sp>
        </p:grpSp>
        <p:sp>
          <p:nvSpPr>
            <p:cNvPr id="27660" name="Line 6"/>
            <p:cNvSpPr>
              <a:spLocks noChangeShapeType="1"/>
            </p:cNvSpPr>
            <p:nvPr/>
          </p:nvSpPr>
          <p:spPr bwMode="auto">
            <a:xfrm>
              <a:off x="2514600" y="3665538"/>
              <a:ext cx="0" cy="525462"/>
            </a:xfrm>
            <a:prstGeom prst="line">
              <a:avLst/>
            </a:prstGeom>
            <a:noFill/>
            <a:ln w="38100" cap="sq">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7652" name="Group 18"/>
          <p:cNvGrpSpPr>
            <a:grpSpLocks/>
          </p:cNvGrpSpPr>
          <p:nvPr/>
        </p:nvGrpSpPr>
        <p:grpSpPr bwMode="auto">
          <a:xfrm>
            <a:off x="5334000" y="2286000"/>
            <a:ext cx="2057400" cy="3429000"/>
            <a:chOff x="5334000" y="1676400"/>
            <a:chExt cx="2057400" cy="3429000"/>
          </a:xfrm>
        </p:grpSpPr>
        <p:sp>
          <p:nvSpPr>
            <p:cNvPr id="27654" name="Text Box 4"/>
            <p:cNvSpPr txBox="1">
              <a:spLocks noChangeArrowheads="1"/>
            </p:cNvSpPr>
            <p:nvPr/>
          </p:nvSpPr>
          <p:spPr bwMode="auto">
            <a:xfrm>
              <a:off x="5334000" y="1676400"/>
              <a:ext cx="2057400" cy="692294"/>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sz="2800" b="1">
                  <a:solidFill>
                    <a:srgbClr val="3333CC"/>
                  </a:solidFill>
                  <a:latin typeface="Times New Roman" pitchFamily="18" charset="0"/>
                </a:rPr>
                <a:t>Person</a:t>
              </a:r>
            </a:p>
          </p:txBody>
        </p:sp>
        <p:sp>
          <p:nvSpPr>
            <p:cNvPr id="27655" name="Text Box 5"/>
            <p:cNvSpPr txBox="1">
              <a:spLocks noChangeArrowheads="1"/>
            </p:cNvSpPr>
            <p:nvPr/>
          </p:nvSpPr>
          <p:spPr bwMode="auto">
            <a:xfrm>
              <a:off x="5334000" y="3041506"/>
              <a:ext cx="2057400" cy="692294"/>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sz="2400" b="1">
                  <a:solidFill>
                    <a:srgbClr val="3333CC"/>
                  </a:solidFill>
                  <a:latin typeface="Times New Roman" pitchFamily="18" charset="0"/>
                </a:rPr>
                <a:t>Employee</a:t>
              </a:r>
              <a:endParaRPr lang="en-US" altLang="en-US" sz="3600" b="1">
                <a:solidFill>
                  <a:srgbClr val="3333CC"/>
                </a:solidFill>
                <a:latin typeface="Times New Roman" pitchFamily="18" charset="0"/>
              </a:endParaRPr>
            </a:p>
          </p:txBody>
        </p:sp>
        <p:sp>
          <p:nvSpPr>
            <p:cNvPr id="16" name="Line 6"/>
            <p:cNvSpPr>
              <a:spLocks noChangeShapeType="1"/>
            </p:cNvSpPr>
            <p:nvPr/>
          </p:nvSpPr>
          <p:spPr bwMode="auto">
            <a:xfrm>
              <a:off x="6269038" y="2351088"/>
              <a:ext cx="0" cy="693737"/>
            </a:xfrm>
            <a:prstGeom prst="line">
              <a:avLst/>
            </a:prstGeom>
            <a:ln>
              <a:headEnd/>
              <a:tailEnd type="stealth" w="lg" len="lg"/>
            </a:ln>
          </p:spPr>
          <p:style>
            <a:lnRef idx="2">
              <a:schemeClr val="dk1"/>
            </a:lnRef>
            <a:fillRef idx="0">
              <a:schemeClr val="dk1"/>
            </a:fillRef>
            <a:effectRef idx="1">
              <a:schemeClr val="dk1"/>
            </a:effectRef>
            <a:fontRef idx="minor">
              <a:schemeClr val="tx1"/>
            </a:fontRef>
          </p:style>
          <p:txBody>
            <a:bodyPr/>
            <a:lstStyle/>
            <a:p>
              <a:pPr>
                <a:defRPr/>
              </a:pPr>
              <a:endParaRPr lang="en-US"/>
            </a:p>
          </p:txBody>
        </p:sp>
        <p:sp>
          <p:nvSpPr>
            <p:cNvPr id="27657" name="Text Box 5"/>
            <p:cNvSpPr txBox="1">
              <a:spLocks noChangeArrowheads="1"/>
            </p:cNvSpPr>
            <p:nvPr/>
          </p:nvSpPr>
          <p:spPr bwMode="auto">
            <a:xfrm>
              <a:off x="5334000" y="4413106"/>
              <a:ext cx="2057400" cy="692294"/>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sz="2000" b="1">
                  <a:solidFill>
                    <a:srgbClr val="3333CC"/>
                  </a:solidFill>
                  <a:latin typeface="Times New Roman" pitchFamily="18" charset="0"/>
                </a:rPr>
                <a:t>Part time Employee</a:t>
              </a:r>
              <a:endParaRPr lang="en-US" altLang="en-US" sz="3200" b="1">
                <a:solidFill>
                  <a:srgbClr val="3333CC"/>
                </a:solidFill>
                <a:latin typeface="Times New Roman" pitchFamily="18" charset="0"/>
              </a:endParaRPr>
            </a:p>
          </p:txBody>
        </p:sp>
        <p:sp>
          <p:nvSpPr>
            <p:cNvPr id="18" name="Line 6"/>
            <p:cNvSpPr>
              <a:spLocks noChangeShapeType="1"/>
            </p:cNvSpPr>
            <p:nvPr/>
          </p:nvSpPr>
          <p:spPr bwMode="auto">
            <a:xfrm>
              <a:off x="6324600" y="3727450"/>
              <a:ext cx="0" cy="692150"/>
            </a:xfrm>
            <a:prstGeom prst="line">
              <a:avLst/>
            </a:prstGeom>
            <a:ln>
              <a:headEnd/>
              <a:tailEnd type="stealth" w="lg" len="lg"/>
            </a:ln>
          </p:spPr>
          <p:style>
            <a:lnRef idx="2">
              <a:schemeClr val="dk1"/>
            </a:lnRef>
            <a:fillRef idx="0">
              <a:schemeClr val="dk1"/>
            </a:fillRef>
            <a:effectRef idx="1">
              <a:schemeClr val="dk1"/>
            </a:effectRef>
            <a:fontRef idx="minor">
              <a:schemeClr val="tx1"/>
            </a:fontRef>
          </p:style>
          <p:txBody>
            <a:bodyPr/>
            <a:lstStyle/>
            <a:p>
              <a:pPr>
                <a:defRPr/>
              </a:pPr>
              <a:endParaRPr lang="en-US"/>
            </a:p>
          </p:txBody>
        </p:sp>
      </p:grpSp>
      <p:sp>
        <p:nvSpPr>
          <p:cNvPr id="27653" name="Rectangle 18"/>
          <p:cNvSpPr>
            <a:spLocks noChangeArrowheads="1"/>
          </p:cNvSpPr>
          <p:nvPr/>
        </p:nvSpPr>
        <p:spPr bwMode="auto">
          <a:xfrm>
            <a:off x="228600" y="990600"/>
            <a:ext cx="8534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altLang="en-US" sz="2000"/>
              <a:t> A class be can derived from a derived class which is known as multilevel inheritance.</a:t>
            </a:r>
          </a:p>
        </p:txBody>
      </p:sp>
    </p:spTree>
    <p:extLst>
      <p:ext uri="{BB962C8B-B14F-4D97-AF65-F5344CB8AC3E}">
        <p14:creationId xmlns:p14="http://schemas.microsoft.com/office/powerpoint/2010/main" val="218685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 y="1371600"/>
            <a:ext cx="2895600" cy="533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Connector 4"/>
          <p:cNvCxnSpPr/>
          <p:nvPr/>
        </p:nvCxnSpPr>
        <p:spPr>
          <a:xfrm>
            <a:off x="2971800" y="1371600"/>
            <a:ext cx="0" cy="5410200"/>
          </a:xfrm>
          <a:prstGeom prst="line">
            <a:avLst/>
          </a:prstGeom>
        </p:spPr>
        <p:style>
          <a:lnRef idx="1">
            <a:schemeClr val="accent1"/>
          </a:lnRef>
          <a:fillRef idx="0">
            <a:schemeClr val="accent1"/>
          </a:fillRef>
          <a:effectRef idx="0">
            <a:schemeClr val="accent1"/>
          </a:effectRef>
          <a:fontRef idx="minor">
            <a:schemeClr val="tx1"/>
          </a:fontRef>
        </p:style>
      </p:cxn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199" y="1671637"/>
            <a:ext cx="3052762"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Connector 6"/>
          <p:cNvCxnSpPr/>
          <p:nvPr/>
        </p:nvCxnSpPr>
        <p:spPr>
          <a:xfrm>
            <a:off x="6248400" y="1371600"/>
            <a:ext cx="0" cy="5410200"/>
          </a:xfrm>
          <a:prstGeom prst="line">
            <a:avLst/>
          </a:prstGeom>
        </p:spPr>
        <p:style>
          <a:lnRef idx="1">
            <a:schemeClr val="accent1"/>
          </a:lnRef>
          <a:fillRef idx="0">
            <a:schemeClr val="accent1"/>
          </a:fillRef>
          <a:effectRef idx="0">
            <a:schemeClr val="accent1"/>
          </a:effectRef>
          <a:fontRef idx="minor">
            <a:schemeClr val="tx1"/>
          </a:fontRef>
        </p:style>
      </p:cxnSp>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1371600"/>
            <a:ext cx="25146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0800" y="5562600"/>
            <a:ext cx="2133600" cy="1057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1552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228600" y="1143000"/>
            <a:ext cx="8458200" cy="4124325"/>
          </a:xfrm>
          <a:prstGeom prst="rect">
            <a:avLst/>
          </a:prstGeom>
          <a:noFill/>
          <a:ln w="9525">
            <a:solidFill>
              <a:srgbClr val="FF66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r>
              <a:rPr lang="en-US" altLang="en-US" sz="2000" dirty="0">
                <a:solidFill>
                  <a:srgbClr val="000066"/>
                </a:solidFill>
                <a:latin typeface="Lucida Sans Unicode" pitchFamily="34" charset="0"/>
              </a:rPr>
              <a:t>It is the process of creating new class from more than one base classes.</a:t>
            </a:r>
          </a:p>
          <a:p>
            <a:r>
              <a:rPr lang="en-US" altLang="en-US" sz="2400" u="sng" dirty="0">
                <a:solidFill>
                  <a:srgbClr val="000066"/>
                </a:solidFill>
                <a:latin typeface="Lucida Sans Unicode" pitchFamily="34" charset="0"/>
              </a:rPr>
              <a:t>Syntax :</a:t>
            </a:r>
          </a:p>
          <a:p>
            <a:r>
              <a:rPr lang="en-US" altLang="en-US" sz="2000" dirty="0">
                <a:solidFill>
                  <a:srgbClr val="000066"/>
                </a:solidFill>
                <a:latin typeface="Lucida Sans Unicode" pitchFamily="34" charset="0"/>
              </a:rPr>
              <a:t> class  &lt;derived class &gt;:&lt;access specifier&gt;          </a:t>
            </a:r>
          </a:p>
          <a:p>
            <a:r>
              <a:rPr lang="en-US" altLang="en-US" sz="2000" dirty="0">
                <a:solidFill>
                  <a:srgbClr val="000066"/>
                </a:solidFill>
                <a:latin typeface="Lucida Sans Unicode" pitchFamily="34" charset="0"/>
              </a:rPr>
              <a:t>         base_class1,&lt;access specifier&gt; base_class2...</a:t>
            </a:r>
          </a:p>
          <a:p>
            <a:r>
              <a:rPr lang="en-US" altLang="en-US" sz="2000" dirty="0">
                <a:solidFill>
                  <a:srgbClr val="000066"/>
                </a:solidFill>
                <a:latin typeface="Lucida Sans Unicode" pitchFamily="34" charset="0"/>
              </a:rPr>
              <a:t>{</a:t>
            </a:r>
          </a:p>
          <a:p>
            <a:r>
              <a:rPr lang="en-US" altLang="en-US" sz="2000" dirty="0">
                <a:solidFill>
                  <a:srgbClr val="000066"/>
                </a:solidFill>
                <a:latin typeface="Lucida Sans Unicode" pitchFamily="34" charset="0"/>
              </a:rPr>
              <a:t>private :</a:t>
            </a:r>
          </a:p>
          <a:p>
            <a:r>
              <a:rPr lang="en-US" altLang="en-US" sz="2000" dirty="0">
                <a:solidFill>
                  <a:srgbClr val="000066"/>
                </a:solidFill>
                <a:latin typeface="Lucida Sans Unicode" pitchFamily="34" charset="0"/>
              </a:rPr>
              <a:t>         // members;</a:t>
            </a:r>
          </a:p>
          <a:p>
            <a:r>
              <a:rPr lang="en-US" altLang="en-US" sz="2000" dirty="0">
                <a:solidFill>
                  <a:srgbClr val="000066"/>
                </a:solidFill>
                <a:latin typeface="Lucida Sans Unicode" pitchFamily="34" charset="0"/>
              </a:rPr>
              <a:t>protected :</a:t>
            </a:r>
          </a:p>
          <a:p>
            <a:r>
              <a:rPr lang="en-US" altLang="en-US" sz="2000" dirty="0">
                <a:solidFill>
                  <a:srgbClr val="000066"/>
                </a:solidFill>
                <a:latin typeface="Lucida Sans Unicode" pitchFamily="34" charset="0"/>
              </a:rPr>
              <a:t>         // members;</a:t>
            </a:r>
          </a:p>
          <a:p>
            <a:r>
              <a:rPr lang="en-US" altLang="en-US" sz="2000" dirty="0">
                <a:solidFill>
                  <a:srgbClr val="000066"/>
                </a:solidFill>
                <a:latin typeface="Lucida Sans Unicode" pitchFamily="34" charset="0"/>
              </a:rPr>
              <a:t>public :</a:t>
            </a:r>
          </a:p>
          <a:p>
            <a:r>
              <a:rPr lang="en-US" altLang="en-US" sz="2000" dirty="0">
                <a:solidFill>
                  <a:srgbClr val="000066"/>
                </a:solidFill>
                <a:latin typeface="Lucida Sans Unicode" pitchFamily="34" charset="0"/>
              </a:rPr>
              <a:t>	//</a:t>
            </a:r>
            <a:r>
              <a:rPr lang="en-US" altLang="en-US" sz="2000" dirty="0" err="1">
                <a:solidFill>
                  <a:srgbClr val="000066"/>
                </a:solidFill>
                <a:latin typeface="Lucida Sans Unicode" pitchFamily="34" charset="0"/>
              </a:rPr>
              <a:t>memebers</a:t>
            </a:r>
            <a:r>
              <a:rPr lang="en-US" altLang="en-US" sz="2000" dirty="0">
                <a:solidFill>
                  <a:srgbClr val="000066"/>
                </a:solidFill>
                <a:latin typeface="Lucida Sans Unicode" pitchFamily="34" charset="0"/>
              </a:rPr>
              <a:t>;</a:t>
            </a:r>
          </a:p>
          <a:p>
            <a:r>
              <a:rPr lang="en-US" altLang="en-US" sz="2000" dirty="0">
                <a:solidFill>
                  <a:srgbClr val="000066"/>
                </a:solidFill>
                <a:latin typeface="Lucida Sans Unicode" pitchFamily="34" charset="0"/>
              </a:rPr>
              <a:t>}; </a:t>
            </a:r>
          </a:p>
        </p:txBody>
      </p:sp>
      <p:sp>
        <p:nvSpPr>
          <p:cNvPr id="30723" name="Rectangle 7"/>
          <p:cNvSpPr>
            <a:spLocks noChangeArrowheads="1"/>
          </p:cNvSpPr>
          <p:nvPr/>
        </p:nvSpPr>
        <p:spPr bwMode="auto">
          <a:xfrm>
            <a:off x="2667000" y="152400"/>
            <a:ext cx="441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altLang="en-US" sz="2800" b="1">
                <a:solidFill>
                  <a:srgbClr val="000066"/>
                </a:solidFill>
                <a:latin typeface="Verdana" pitchFamily="34" charset="0"/>
              </a:rPr>
              <a:t>Multiple Inheritance</a:t>
            </a:r>
          </a:p>
        </p:txBody>
      </p:sp>
      <p:grpSp>
        <p:nvGrpSpPr>
          <p:cNvPr id="30724" name="Group 8"/>
          <p:cNvGrpSpPr>
            <a:grpSpLocks/>
          </p:cNvGrpSpPr>
          <p:nvPr/>
        </p:nvGrpSpPr>
        <p:grpSpPr bwMode="auto">
          <a:xfrm>
            <a:off x="4800600" y="3045551"/>
            <a:ext cx="3352800" cy="2057400"/>
            <a:chOff x="2960" y="2208"/>
            <a:chExt cx="2368" cy="1680"/>
          </a:xfrm>
        </p:grpSpPr>
        <p:sp>
          <p:nvSpPr>
            <p:cNvPr id="30725" name="Rectangle 9"/>
            <p:cNvSpPr>
              <a:spLocks noChangeArrowheads="1"/>
            </p:cNvSpPr>
            <p:nvPr/>
          </p:nvSpPr>
          <p:spPr bwMode="auto">
            <a:xfrm>
              <a:off x="2960" y="2208"/>
              <a:ext cx="1063" cy="448"/>
            </a:xfrm>
            <a:prstGeom prst="rect">
              <a:avLst/>
            </a:prstGeom>
            <a:solidFill>
              <a:srgbClr val="C5C5FF"/>
            </a:solidFill>
            <a:ln w="9525" cap="sq">
              <a:solidFill>
                <a:srgbClr val="000000"/>
              </a:solidFill>
              <a:miter lim="800000"/>
              <a:headEnd/>
              <a:tailEnd/>
            </a:ln>
          </p:spPr>
          <p:txBody>
            <a:bodyPr wrap="none"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ltLang="en-US">
                <a:latin typeface="Lucida Sans Unicode" pitchFamily="34" charset="0"/>
              </a:endParaRPr>
            </a:p>
          </p:txBody>
        </p:sp>
        <p:sp>
          <p:nvSpPr>
            <p:cNvPr id="30726" name="Rectangle 10"/>
            <p:cNvSpPr>
              <a:spLocks noChangeArrowheads="1"/>
            </p:cNvSpPr>
            <p:nvPr/>
          </p:nvSpPr>
          <p:spPr bwMode="auto">
            <a:xfrm>
              <a:off x="3619" y="3560"/>
              <a:ext cx="1069" cy="328"/>
            </a:xfrm>
            <a:prstGeom prst="rect">
              <a:avLst/>
            </a:prstGeom>
            <a:solidFill>
              <a:srgbClr val="80D212"/>
            </a:solidFill>
            <a:ln w="9525" cap="sq">
              <a:solidFill>
                <a:srgbClr val="000000"/>
              </a:solidFill>
              <a:miter lim="800000"/>
              <a:headEnd/>
              <a:tailEnd/>
            </a:ln>
          </p:spPr>
          <p:txBody>
            <a:bodyPr wrap="none"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ltLang="en-US">
                <a:latin typeface="Lucida Sans Unicode" pitchFamily="34" charset="0"/>
              </a:endParaRPr>
            </a:p>
          </p:txBody>
        </p:sp>
        <p:sp>
          <p:nvSpPr>
            <p:cNvPr id="30727" name="Rectangle 11"/>
            <p:cNvSpPr>
              <a:spLocks noChangeArrowheads="1"/>
            </p:cNvSpPr>
            <p:nvPr/>
          </p:nvSpPr>
          <p:spPr bwMode="auto">
            <a:xfrm>
              <a:off x="4256" y="2208"/>
              <a:ext cx="1072" cy="400"/>
            </a:xfrm>
            <a:prstGeom prst="rect">
              <a:avLst/>
            </a:prstGeom>
            <a:solidFill>
              <a:srgbClr val="FBF6C9"/>
            </a:solidFill>
            <a:ln w="9525" cap="sq">
              <a:solidFill>
                <a:srgbClr val="000000"/>
              </a:solidFill>
              <a:miter lim="800000"/>
              <a:headEnd/>
              <a:tailEnd/>
            </a:ln>
          </p:spPr>
          <p:txBody>
            <a:bodyPr wrap="none"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ltLang="en-US">
                <a:latin typeface="Lucida Sans Unicode" pitchFamily="34" charset="0"/>
              </a:endParaRPr>
            </a:p>
          </p:txBody>
        </p:sp>
        <p:sp>
          <p:nvSpPr>
            <p:cNvPr id="30728" name="Line 12"/>
            <p:cNvSpPr>
              <a:spLocks noChangeShapeType="1"/>
            </p:cNvSpPr>
            <p:nvPr/>
          </p:nvSpPr>
          <p:spPr bwMode="auto">
            <a:xfrm>
              <a:off x="3510" y="2616"/>
              <a:ext cx="522" cy="936"/>
            </a:xfrm>
            <a:prstGeom prst="line">
              <a:avLst/>
            </a:prstGeom>
            <a:noFill/>
            <a:ln w="38100" cap="sq">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29" name="Line 13"/>
            <p:cNvSpPr>
              <a:spLocks noChangeShapeType="1"/>
            </p:cNvSpPr>
            <p:nvPr/>
          </p:nvSpPr>
          <p:spPr bwMode="auto">
            <a:xfrm flipH="1">
              <a:off x="4188" y="2616"/>
              <a:ext cx="756" cy="936"/>
            </a:xfrm>
            <a:prstGeom prst="line">
              <a:avLst/>
            </a:prstGeom>
            <a:noFill/>
            <a:ln w="38100" cap="sq">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0" name="Text Box 14"/>
            <p:cNvSpPr txBox="1">
              <a:spLocks noChangeArrowheads="1"/>
            </p:cNvSpPr>
            <p:nvPr/>
          </p:nvSpPr>
          <p:spPr bwMode="auto">
            <a:xfrm>
              <a:off x="2960" y="2284"/>
              <a:ext cx="103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a:tailEnd/>
                </a14:hiddenLine>
              </a:ext>
            </a:extLst>
          </p:spPr>
          <p:txBody>
            <a:bodyPr lIns="64008" tIns="32004" rIns="64008" bIns="32004"/>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sz="2000" b="1" dirty="0">
                  <a:solidFill>
                    <a:srgbClr val="000000"/>
                  </a:solidFill>
                  <a:latin typeface="Verdana" pitchFamily="34" charset="0"/>
                </a:rPr>
                <a:t>Person</a:t>
              </a:r>
              <a:endParaRPr lang="en-US" altLang="en-US" sz="2000" b="1" dirty="0">
                <a:latin typeface="Verdana" pitchFamily="34" charset="0"/>
              </a:endParaRPr>
            </a:p>
          </p:txBody>
        </p:sp>
        <p:sp>
          <p:nvSpPr>
            <p:cNvPr id="30731" name="Text Box 15"/>
            <p:cNvSpPr txBox="1">
              <a:spLocks noChangeArrowheads="1"/>
            </p:cNvSpPr>
            <p:nvPr/>
          </p:nvSpPr>
          <p:spPr bwMode="auto">
            <a:xfrm>
              <a:off x="4198" y="2270"/>
              <a:ext cx="1115"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a:tailEnd/>
                </a14:hiddenLine>
              </a:ext>
            </a:extLst>
          </p:spPr>
          <p:txBody>
            <a:bodyPr lIns="64008" tIns="32004" rIns="64008" bIns="32004"/>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b="1">
                  <a:solidFill>
                    <a:srgbClr val="000000"/>
                  </a:solidFill>
                  <a:latin typeface="Verdana" pitchFamily="34" charset="0"/>
                </a:rPr>
                <a:t>Employee</a:t>
              </a:r>
              <a:endParaRPr lang="en-US" altLang="en-US" b="1">
                <a:latin typeface="Verdana" pitchFamily="34" charset="0"/>
              </a:endParaRPr>
            </a:p>
          </p:txBody>
        </p:sp>
        <p:sp>
          <p:nvSpPr>
            <p:cNvPr id="30732" name="Text Box 16"/>
            <p:cNvSpPr txBox="1">
              <a:spLocks noChangeArrowheads="1"/>
            </p:cNvSpPr>
            <p:nvPr/>
          </p:nvSpPr>
          <p:spPr bwMode="auto">
            <a:xfrm>
              <a:off x="3653" y="3617"/>
              <a:ext cx="93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a:tailEnd/>
                </a14:hiddenLine>
              </a:ext>
            </a:extLst>
          </p:spPr>
          <p:txBody>
            <a:bodyPr lIns="64008" tIns="32004" rIns="64008" bIns="32004"/>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b="1">
                  <a:solidFill>
                    <a:srgbClr val="000000"/>
                  </a:solidFill>
                  <a:latin typeface="Verdana" pitchFamily="34" charset="0"/>
                </a:rPr>
                <a:t>Teacher</a:t>
              </a:r>
              <a:endParaRPr lang="en-US" altLang="en-US" b="1">
                <a:latin typeface="Verdana" pitchFamily="34" charset="0"/>
              </a:endParaRPr>
            </a:p>
          </p:txBody>
        </p:sp>
      </p:grpSp>
    </p:spTree>
    <p:extLst>
      <p:ext uri="{BB962C8B-B14F-4D97-AF65-F5344CB8AC3E}">
        <p14:creationId xmlns:p14="http://schemas.microsoft.com/office/powerpoint/2010/main" val="514532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1752600"/>
            <a:ext cx="2438400"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Connector 4"/>
          <p:cNvCxnSpPr/>
          <p:nvPr/>
        </p:nvCxnSpPr>
        <p:spPr>
          <a:xfrm>
            <a:off x="2590800" y="1752600"/>
            <a:ext cx="0" cy="4953000"/>
          </a:xfrm>
          <a:prstGeom prst="line">
            <a:avLst/>
          </a:prstGeom>
        </p:spPr>
        <p:style>
          <a:lnRef idx="1">
            <a:schemeClr val="accent1"/>
          </a:lnRef>
          <a:fillRef idx="0">
            <a:schemeClr val="accent1"/>
          </a:fillRef>
          <a:effectRef idx="0">
            <a:schemeClr val="accent1"/>
          </a:effectRef>
          <a:fontRef idx="minor">
            <a:schemeClr val="tx1"/>
          </a:fontRef>
        </p:style>
      </p:cxn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828800"/>
            <a:ext cx="2133600"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9" name="Straight Connector 8"/>
          <p:cNvCxnSpPr/>
          <p:nvPr/>
        </p:nvCxnSpPr>
        <p:spPr>
          <a:xfrm>
            <a:off x="4876800" y="1828800"/>
            <a:ext cx="0" cy="4876800"/>
          </a:xfrm>
          <a:prstGeom prst="line">
            <a:avLst/>
          </a:prstGeom>
        </p:spPr>
        <p:style>
          <a:lnRef idx="1">
            <a:schemeClr val="accent1"/>
          </a:lnRef>
          <a:fillRef idx="0">
            <a:schemeClr val="accent1"/>
          </a:fillRef>
          <a:effectRef idx="0">
            <a:schemeClr val="accent1"/>
          </a:effectRef>
          <a:fontRef idx="minor">
            <a:schemeClr val="tx1"/>
          </a:fontRef>
        </p:style>
      </p:cxnSp>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1776412"/>
            <a:ext cx="3276600" cy="3786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0369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normAutofit fontScale="90000"/>
          </a:bodyPr>
          <a:lstStyle/>
          <a:p>
            <a:br>
              <a:rPr lang="en-GB" altLang="en-US" b="1" dirty="0"/>
            </a:br>
            <a:r>
              <a:rPr lang="en-GB" altLang="en-US" b="1" dirty="0"/>
              <a:t>Same Data Member Name in Base and Derived Class</a:t>
            </a:r>
            <a:br>
              <a:rPr lang="en-GB" altLang="en-US" b="1" dirty="0"/>
            </a:br>
            <a:endParaRPr lang="en-US"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700" y="1828800"/>
            <a:ext cx="2895600"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Connector 4"/>
          <p:cNvCxnSpPr/>
          <p:nvPr/>
        </p:nvCxnSpPr>
        <p:spPr>
          <a:xfrm>
            <a:off x="3124200" y="1828800"/>
            <a:ext cx="0" cy="4495800"/>
          </a:xfrm>
          <a:prstGeom prst="line">
            <a:avLst/>
          </a:prstGeom>
        </p:spPr>
        <p:style>
          <a:lnRef idx="1">
            <a:schemeClr val="accent1"/>
          </a:lnRef>
          <a:fillRef idx="0">
            <a:schemeClr val="accent1"/>
          </a:fillRef>
          <a:effectRef idx="0">
            <a:schemeClr val="accent1"/>
          </a:effectRef>
          <a:fontRef idx="minor">
            <a:schemeClr val="tx1"/>
          </a:fontRef>
        </p:style>
      </p:cxn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828800"/>
            <a:ext cx="2667000"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Connector 6"/>
          <p:cNvCxnSpPr/>
          <p:nvPr/>
        </p:nvCxnSpPr>
        <p:spPr>
          <a:xfrm>
            <a:off x="6096000" y="1981200"/>
            <a:ext cx="0" cy="4191000"/>
          </a:xfrm>
          <a:prstGeom prst="line">
            <a:avLst/>
          </a:prstGeom>
        </p:spPr>
        <p:style>
          <a:lnRef idx="1">
            <a:schemeClr val="accent1"/>
          </a:lnRef>
          <a:fillRef idx="0">
            <a:schemeClr val="accent1"/>
          </a:fillRef>
          <a:effectRef idx="0">
            <a:schemeClr val="accent1"/>
          </a:effectRef>
          <a:fontRef idx="minor">
            <a:schemeClr val="tx1"/>
          </a:fontRef>
        </p:style>
      </p:cxnSp>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1" y="1828800"/>
            <a:ext cx="2514600" cy="19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3646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rtlCol="0">
            <a:normAutofit fontScale="90000"/>
          </a:bodyPr>
          <a:lstStyle/>
          <a:p>
            <a:pPr eaLnBrk="1" fontAlgn="auto" hangingPunct="1">
              <a:spcAft>
                <a:spcPts val="0"/>
              </a:spcAft>
              <a:defRPr/>
            </a:pPr>
            <a:r>
              <a:rPr lang="en-US" u="sng" dirty="0">
                <a:solidFill>
                  <a:srgbClr val="000066"/>
                </a:solidFill>
                <a:latin typeface="Times New Roman" pitchFamily="18" charset="0"/>
              </a:rPr>
              <a:t>Hierarchical Inheritance</a:t>
            </a:r>
            <a:br>
              <a:rPr lang="en-US" u="sng" dirty="0">
                <a:solidFill>
                  <a:srgbClr val="000066"/>
                </a:solidFill>
                <a:latin typeface="Times New Roman" pitchFamily="18" charset="0"/>
              </a:rPr>
            </a:br>
            <a:endParaRPr lang="en-US" dirty="0"/>
          </a:p>
        </p:txBody>
      </p:sp>
      <p:grpSp>
        <p:nvGrpSpPr>
          <p:cNvPr id="38915" name="Group 13"/>
          <p:cNvGrpSpPr>
            <a:grpSpLocks/>
          </p:cNvGrpSpPr>
          <p:nvPr/>
        </p:nvGrpSpPr>
        <p:grpSpPr bwMode="auto">
          <a:xfrm>
            <a:off x="1143000" y="2819400"/>
            <a:ext cx="7010400" cy="1866900"/>
            <a:chOff x="384" y="1392"/>
            <a:chExt cx="4416" cy="1176"/>
          </a:xfrm>
        </p:grpSpPr>
        <p:sp>
          <p:nvSpPr>
            <p:cNvPr id="38917" name="Text Box 14"/>
            <p:cNvSpPr txBox="1">
              <a:spLocks noChangeArrowheads="1"/>
            </p:cNvSpPr>
            <p:nvPr/>
          </p:nvSpPr>
          <p:spPr bwMode="auto">
            <a:xfrm>
              <a:off x="1872" y="1392"/>
              <a:ext cx="1296" cy="432"/>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sz="2800" b="1">
                  <a:solidFill>
                    <a:srgbClr val="3333CC"/>
                  </a:solidFill>
                  <a:latin typeface="Times New Roman" pitchFamily="18" charset="0"/>
                </a:rPr>
                <a:t>Employee</a:t>
              </a:r>
            </a:p>
          </p:txBody>
        </p:sp>
        <p:sp>
          <p:nvSpPr>
            <p:cNvPr id="38918" name="Line 17"/>
            <p:cNvSpPr>
              <a:spLocks noChangeShapeType="1"/>
            </p:cNvSpPr>
            <p:nvPr/>
          </p:nvSpPr>
          <p:spPr bwMode="auto">
            <a:xfrm flipH="1">
              <a:off x="1248" y="1824"/>
              <a:ext cx="1176" cy="3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19" name="Line 18"/>
            <p:cNvSpPr>
              <a:spLocks noChangeShapeType="1"/>
            </p:cNvSpPr>
            <p:nvPr/>
          </p:nvSpPr>
          <p:spPr bwMode="auto">
            <a:xfrm>
              <a:off x="2544" y="1824"/>
              <a:ext cx="1152" cy="30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0" name="Text Box 19"/>
            <p:cNvSpPr txBox="1">
              <a:spLocks noChangeArrowheads="1"/>
            </p:cNvSpPr>
            <p:nvPr/>
          </p:nvSpPr>
          <p:spPr bwMode="auto">
            <a:xfrm>
              <a:off x="384" y="2160"/>
              <a:ext cx="1344" cy="408"/>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sz="2000" b="1">
                  <a:solidFill>
                    <a:srgbClr val="3333CC"/>
                  </a:solidFill>
                  <a:latin typeface="Times New Roman" pitchFamily="18" charset="0"/>
                </a:rPr>
                <a:t>Permanent Employee</a:t>
              </a:r>
            </a:p>
          </p:txBody>
        </p:sp>
        <p:sp>
          <p:nvSpPr>
            <p:cNvPr id="38921" name="Text Box 20"/>
            <p:cNvSpPr txBox="1">
              <a:spLocks noChangeArrowheads="1"/>
            </p:cNvSpPr>
            <p:nvPr/>
          </p:nvSpPr>
          <p:spPr bwMode="auto">
            <a:xfrm>
              <a:off x="3456" y="2160"/>
              <a:ext cx="1344" cy="408"/>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sz="2000" b="1">
                  <a:solidFill>
                    <a:srgbClr val="3333CC"/>
                  </a:solidFill>
                  <a:latin typeface="Times New Roman" pitchFamily="18" charset="0"/>
                </a:rPr>
                <a:t>Temporary Employee</a:t>
              </a:r>
            </a:p>
          </p:txBody>
        </p:sp>
      </p:grpSp>
      <p:sp>
        <p:nvSpPr>
          <p:cNvPr id="38916" name="Rectangle 8"/>
          <p:cNvSpPr>
            <a:spLocks noChangeArrowheads="1"/>
          </p:cNvSpPr>
          <p:nvPr/>
        </p:nvSpPr>
        <p:spPr bwMode="auto">
          <a:xfrm>
            <a:off x="304800" y="1066800"/>
            <a:ext cx="8458200" cy="128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just" eaLnBrk="1" hangingPunct="1">
              <a:lnSpc>
                <a:spcPct val="150000"/>
              </a:lnSpc>
            </a:pPr>
            <a:r>
              <a:rPr lang="en-US" altLang="en-US"/>
              <a:t>If more than one class is inherited from a base class, it's known as hierarchical inheritance. In general, all features that are common in child classes are included in base class in hierarchical inheritance. </a:t>
            </a:r>
          </a:p>
        </p:txBody>
      </p:sp>
    </p:spTree>
    <p:extLst>
      <p:ext uri="{BB962C8B-B14F-4D97-AF65-F5344CB8AC3E}">
        <p14:creationId xmlns:p14="http://schemas.microsoft.com/office/powerpoint/2010/main" val="983173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700213"/>
            <a:ext cx="3124200" cy="47767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Connector 4"/>
          <p:cNvCxnSpPr/>
          <p:nvPr/>
        </p:nvCxnSpPr>
        <p:spPr>
          <a:xfrm>
            <a:off x="3352800" y="1700213"/>
            <a:ext cx="0" cy="4929187"/>
          </a:xfrm>
          <a:prstGeom prst="line">
            <a:avLst/>
          </a:prstGeom>
        </p:spPr>
        <p:style>
          <a:lnRef idx="1">
            <a:schemeClr val="accent1"/>
          </a:lnRef>
          <a:fillRef idx="0">
            <a:schemeClr val="accent1"/>
          </a:fillRef>
          <a:effectRef idx="0">
            <a:schemeClr val="accent1"/>
          </a:effectRef>
          <a:fontRef idx="minor">
            <a:schemeClr val="tx1"/>
          </a:fontRef>
        </p:style>
      </p:cxnSp>
      <p:pic>
        <p:nvPicPr>
          <p:cNvPr id="6147"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505201" y="1734849"/>
            <a:ext cx="2819400" cy="4742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Connector 6"/>
          <p:cNvCxnSpPr/>
          <p:nvPr/>
        </p:nvCxnSpPr>
        <p:spPr>
          <a:xfrm>
            <a:off x="6324600" y="1700213"/>
            <a:ext cx="0" cy="4929187"/>
          </a:xfrm>
          <a:prstGeom prst="line">
            <a:avLst/>
          </a:prstGeom>
        </p:spPr>
        <p:style>
          <a:lnRef idx="1">
            <a:schemeClr val="accent1"/>
          </a:lnRef>
          <a:fillRef idx="0">
            <a:schemeClr val="accent1"/>
          </a:fillRef>
          <a:effectRef idx="0">
            <a:schemeClr val="accent1"/>
          </a:effectRef>
          <a:fontRef idx="minor">
            <a:schemeClr val="tx1"/>
          </a:fontRef>
        </p:style>
      </p:cxnSp>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1795895"/>
            <a:ext cx="2590800" cy="4452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85455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Multipath Inheritance</a:t>
            </a:r>
            <a:br>
              <a:rPr lang="en-US" dirty="0"/>
            </a:br>
            <a:endParaRPr lang="en-US" dirty="0"/>
          </a:p>
        </p:txBody>
      </p:sp>
      <p:sp>
        <p:nvSpPr>
          <p:cNvPr id="3" name="Content Placeholder 2"/>
          <p:cNvSpPr>
            <a:spLocks noGrp="1"/>
          </p:cNvSpPr>
          <p:nvPr>
            <p:ph idx="1"/>
          </p:nvPr>
        </p:nvSpPr>
        <p:spPr/>
        <p:txBody>
          <a:bodyPr/>
          <a:lstStyle/>
          <a:p>
            <a:r>
              <a:rPr lang="en-US" dirty="0"/>
              <a:t>A derived class with two base classes and these two base classes have one common base class is called </a:t>
            </a:r>
            <a:r>
              <a:rPr lang="en-US" b="1" dirty="0"/>
              <a:t>multipath inheritance</a:t>
            </a:r>
            <a:r>
              <a:rPr lang="en-US" dirty="0"/>
              <a:t>.</a:t>
            </a:r>
          </a:p>
          <a:p>
            <a:r>
              <a:rPr lang="en-US" dirty="0"/>
              <a:t> </a:t>
            </a:r>
          </a:p>
          <a:p>
            <a:r>
              <a:rPr lang="en-US" dirty="0"/>
              <a:t>                                         </a:t>
            </a:r>
          </a:p>
          <a:p>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429000"/>
            <a:ext cx="4648200" cy="3352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70718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1447800"/>
            <a:ext cx="3819525"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Connector 4"/>
          <p:cNvCxnSpPr/>
          <p:nvPr/>
        </p:nvCxnSpPr>
        <p:spPr>
          <a:xfrm flipH="1">
            <a:off x="4114800" y="1447800"/>
            <a:ext cx="76200" cy="5257800"/>
          </a:xfrm>
          <a:prstGeom prst="line">
            <a:avLst/>
          </a:prstGeom>
        </p:spPr>
        <p:style>
          <a:lnRef idx="1">
            <a:schemeClr val="accent1"/>
          </a:lnRef>
          <a:fillRef idx="0">
            <a:schemeClr val="accent1"/>
          </a:fillRef>
          <a:effectRef idx="0">
            <a:schemeClr val="accent1"/>
          </a:effectRef>
          <a:fontRef idx="minor">
            <a:schemeClr val="tx1"/>
          </a:fontRef>
        </p:style>
      </p:cxn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782" y="1447800"/>
            <a:ext cx="4779818" cy="495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00715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457200" y="219075"/>
            <a:ext cx="80772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sz="3600" b="1" u="sng">
                <a:solidFill>
                  <a:srgbClr val="000066"/>
                </a:solidFill>
                <a:latin typeface="Times New Roman" pitchFamily="18" charset="0"/>
              </a:rPr>
              <a:t>Hybrid Inheritance</a:t>
            </a:r>
          </a:p>
          <a:p>
            <a:pPr algn="ctr"/>
            <a:endParaRPr lang="en-US" altLang="en-US" sz="2000" b="1">
              <a:solidFill>
                <a:srgbClr val="000066"/>
              </a:solidFill>
              <a:latin typeface="Times New Roman" pitchFamily="18" charset="0"/>
            </a:endParaRPr>
          </a:p>
          <a:p>
            <a:pPr algn="just"/>
            <a:r>
              <a:rPr lang="en-US" altLang="en-US" sz="2800">
                <a:solidFill>
                  <a:srgbClr val="000066"/>
                </a:solidFill>
                <a:latin typeface="Times New Roman" pitchFamily="18" charset="0"/>
              </a:rPr>
              <a:t>Hybrid is nothing but the combination of Multilevel  and multiple Inheritance</a:t>
            </a:r>
          </a:p>
        </p:txBody>
      </p:sp>
    </p:spTree>
    <p:extLst>
      <p:ext uri="{BB962C8B-B14F-4D97-AF65-F5344CB8AC3E}">
        <p14:creationId xmlns:p14="http://schemas.microsoft.com/office/powerpoint/2010/main" val="1455336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2152650" cy="350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733800"/>
            <a:ext cx="2019300" cy="2971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p:nvCxnSpPr>
        <p:spPr>
          <a:xfrm>
            <a:off x="2247900" y="0"/>
            <a:ext cx="133350" cy="6858000"/>
          </a:xfrm>
          <a:prstGeom prst="line">
            <a:avLst/>
          </a:prstGeom>
        </p:spPr>
        <p:style>
          <a:lnRef idx="1">
            <a:schemeClr val="accent1"/>
          </a:lnRef>
          <a:fillRef idx="0">
            <a:schemeClr val="accent1"/>
          </a:fillRef>
          <a:effectRef idx="0">
            <a:schemeClr val="accent1"/>
          </a:effectRef>
          <a:fontRef idx="minor">
            <a:schemeClr val="tx1"/>
          </a:fontRef>
        </p:style>
      </p:cxn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0523" y="27709"/>
            <a:ext cx="2686050"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1250" y="4218708"/>
            <a:ext cx="2933700" cy="2639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Connector 4"/>
          <p:cNvCxnSpPr/>
          <p:nvPr/>
        </p:nvCxnSpPr>
        <p:spPr>
          <a:xfrm>
            <a:off x="5136573" y="27709"/>
            <a:ext cx="178377" cy="6830290"/>
          </a:xfrm>
          <a:prstGeom prst="line">
            <a:avLst/>
          </a:prstGeom>
        </p:spPr>
        <p:style>
          <a:lnRef idx="1">
            <a:schemeClr val="accent1"/>
          </a:lnRef>
          <a:fillRef idx="0">
            <a:schemeClr val="accent1"/>
          </a:fillRef>
          <a:effectRef idx="0">
            <a:schemeClr val="accent1"/>
          </a:effectRef>
          <a:fontRef idx="minor">
            <a:schemeClr val="tx1"/>
          </a:fontRef>
        </p:style>
      </p:cxnSp>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14950" y="66675"/>
            <a:ext cx="3571875" cy="382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0200" y="4181475"/>
            <a:ext cx="2047875" cy="1504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36572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p:cNvSpPr>
            <a:spLocks noChangeArrowheads="1"/>
          </p:cNvSpPr>
          <p:nvPr/>
        </p:nvSpPr>
        <p:spPr bwMode="auto">
          <a:xfrm>
            <a:off x="228600" y="-65088"/>
            <a:ext cx="8610600" cy="62706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179331" rIns="0" bIns="179331"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a:r>
              <a:rPr lang="en-US" altLang="en-US" sz="3200" b="1">
                <a:solidFill>
                  <a:srgbClr val="000000"/>
                </a:solidFill>
                <a:latin typeface="Roboto"/>
              </a:rPr>
              <a:t>Order of Constructor Call</a:t>
            </a:r>
          </a:p>
          <a:p>
            <a:pPr algn="just"/>
            <a:endParaRPr lang="en-US" altLang="en-US" sz="3200" b="1">
              <a:solidFill>
                <a:srgbClr val="000000"/>
              </a:solidFill>
              <a:latin typeface="Roboto"/>
            </a:endParaRPr>
          </a:p>
          <a:p>
            <a:pPr algn="just"/>
            <a:r>
              <a:rPr lang="en-US" altLang="en-US" sz="2000">
                <a:solidFill>
                  <a:srgbClr val="000000"/>
                </a:solidFill>
              </a:rPr>
              <a:t>Base class constructors are always called in the derived class constructors. Whenever you create derived class object, first the base class default cpnstructor is executed and then the derived class's constructor finishes execution.</a:t>
            </a:r>
          </a:p>
          <a:p>
            <a:pPr algn="just"/>
            <a:endParaRPr lang="en-US" altLang="en-US" sz="2000">
              <a:solidFill>
                <a:srgbClr val="000000"/>
              </a:solidFill>
            </a:endParaRPr>
          </a:p>
          <a:p>
            <a:pPr algn="just"/>
            <a:endParaRPr lang="en-US" altLang="en-US" sz="2000">
              <a:solidFill>
                <a:srgbClr val="000000"/>
              </a:solidFill>
            </a:endParaRPr>
          </a:p>
          <a:p>
            <a:pPr algn="just"/>
            <a:r>
              <a:rPr lang="en-US" altLang="en-US" sz="2000" b="1">
                <a:solidFill>
                  <a:srgbClr val="A52A2A"/>
                </a:solidFill>
                <a:latin typeface="Roboto"/>
              </a:rPr>
              <a:t>Points to Remember</a:t>
            </a:r>
          </a:p>
          <a:p>
            <a:pPr algn="just">
              <a:buFontTx/>
              <a:buAutoNum type="arabicPeriod"/>
            </a:pPr>
            <a:r>
              <a:rPr lang="en-US" altLang="en-US" sz="2000">
                <a:solidFill>
                  <a:srgbClr val="000000"/>
                </a:solidFill>
              </a:rPr>
              <a:t>Whether derived class's default constructor is called or parameterised is called, base class's default constructor is always called inside them.</a:t>
            </a:r>
            <a:br>
              <a:rPr lang="en-US" altLang="en-US" sz="2000">
                <a:solidFill>
                  <a:srgbClr val="000000"/>
                </a:solidFill>
              </a:rPr>
            </a:br>
            <a:endParaRPr lang="en-US" altLang="en-US" sz="2000">
              <a:solidFill>
                <a:srgbClr val="000000"/>
              </a:solidFill>
            </a:endParaRPr>
          </a:p>
          <a:p>
            <a:pPr algn="just">
              <a:buFontTx/>
              <a:buAutoNum type="arabicPeriod" startAt="2"/>
            </a:pPr>
            <a:r>
              <a:rPr lang="en-US" altLang="en-US" sz="2000">
                <a:solidFill>
                  <a:srgbClr val="000000"/>
                </a:solidFill>
              </a:rPr>
              <a:t>To call base class's parameterised constructor inside derived class's parameterised constructo, we must mention it explicitly while declaring derived class's parameterized constructor.</a:t>
            </a:r>
          </a:p>
          <a:p>
            <a:pPr algn="just"/>
            <a:br>
              <a:rPr lang="en-US" altLang="en-US" sz="2000"/>
            </a:br>
            <a:endParaRPr lang="en-US" altLang="en-US" sz="2000"/>
          </a:p>
          <a:p>
            <a:pPr algn="just"/>
            <a:endParaRPr lang="en-US" altLang="en-US" sz="2000"/>
          </a:p>
        </p:txBody>
      </p:sp>
    </p:spTree>
    <p:extLst>
      <p:ext uri="{BB962C8B-B14F-4D97-AF65-F5344CB8AC3E}">
        <p14:creationId xmlns:p14="http://schemas.microsoft.com/office/powerpoint/2010/main" val="2664184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00" y="885825"/>
            <a:ext cx="8928100" cy="490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8159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575" y="685800"/>
            <a:ext cx="6296025"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3893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 y="1524000"/>
            <a:ext cx="60579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Rectangle 2"/>
          <p:cNvSpPr>
            <a:spLocks noChangeArrowheads="1"/>
          </p:cNvSpPr>
          <p:nvPr/>
        </p:nvSpPr>
        <p:spPr bwMode="auto">
          <a:xfrm>
            <a:off x="381000" y="295275"/>
            <a:ext cx="8305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altLang="en-US" b="1"/>
              <a:t>Base class Parameterized Constructor in Derived class Constructor</a:t>
            </a:r>
          </a:p>
          <a:p>
            <a:pPr eaLnBrk="1" hangingPunct="1"/>
            <a:r>
              <a:rPr lang="en-US" altLang="en-US"/>
              <a:t>We can explicitly mention to call the Base class's parameterized constructor when Derived class's parameterized constructor is called.</a:t>
            </a:r>
          </a:p>
        </p:txBody>
      </p:sp>
    </p:spTree>
    <p:extLst>
      <p:ext uri="{BB962C8B-B14F-4D97-AF65-F5344CB8AC3E}">
        <p14:creationId xmlns:p14="http://schemas.microsoft.com/office/powerpoint/2010/main" val="31839545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263" y="1771650"/>
            <a:ext cx="6467475"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54813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ChangeArrowheads="1"/>
          </p:cNvSpPr>
          <p:nvPr/>
        </p:nvSpPr>
        <p:spPr bwMode="auto">
          <a:xfrm>
            <a:off x="395288" y="342900"/>
            <a:ext cx="7986712" cy="4152900"/>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88872" anchor="ct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nSpc>
                <a:spcPct val="150000"/>
              </a:lnSpc>
            </a:pPr>
            <a:r>
              <a:rPr lang="en-US" altLang="en-US" sz="2400" b="1" dirty="0">
                <a:solidFill>
                  <a:srgbClr val="A52A2A"/>
                </a:solidFill>
                <a:latin typeface="Roboto"/>
              </a:rPr>
              <a:t>Constructor call in Multiple Inheritance</a:t>
            </a:r>
          </a:p>
          <a:p>
            <a:pPr>
              <a:lnSpc>
                <a:spcPct val="150000"/>
              </a:lnSpc>
            </a:pPr>
            <a:r>
              <a:rPr lang="en-US" altLang="en-US" sz="1600" dirty="0">
                <a:solidFill>
                  <a:srgbClr val="000000"/>
                </a:solidFill>
              </a:rPr>
              <a:t>Its almost the same, all the Base class's constructors are called inside derived class's constructor, in the same order in which they are inherited.</a:t>
            </a:r>
            <a:endParaRPr lang="en-US" altLang="en-US" sz="1600" dirty="0">
              <a:solidFill>
                <a:srgbClr val="111111"/>
              </a:solidFill>
              <a:latin typeface="Monaco"/>
            </a:endParaRPr>
          </a:p>
          <a:p>
            <a:pPr>
              <a:lnSpc>
                <a:spcPct val="150000"/>
              </a:lnSpc>
            </a:pPr>
            <a:r>
              <a:rPr lang="en-US" altLang="en-US" sz="1600" dirty="0">
                <a:solidFill>
                  <a:srgbClr val="111111"/>
                </a:solidFill>
                <a:latin typeface="Monaco"/>
              </a:rPr>
              <a:t>class A : public B, public C ; </a:t>
            </a:r>
            <a:endParaRPr lang="en-US" altLang="en-US" sz="1200" dirty="0"/>
          </a:p>
          <a:p>
            <a:pPr>
              <a:lnSpc>
                <a:spcPct val="150000"/>
              </a:lnSpc>
            </a:pPr>
            <a:r>
              <a:rPr lang="en-US" altLang="en-US" sz="1600" dirty="0">
                <a:solidFill>
                  <a:srgbClr val="000000"/>
                </a:solidFill>
              </a:rPr>
              <a:t>In this case, first class B constructor will be called, then class C constructor and then class A constructor.</a:t>
            </a:r>
            <a:endParaRPr lang="en-US" altLang="en-US" sz="1200" dirty="0"/>
          </a:p>
          <a:p>
            <a:pPr>
              <a:lnSpc>
                <a:spcPct val="150000"/>
              </a:lnSpc>
            </a:pPr>
            <a:br>
              <a:rPr lang="en-US" altLang="en-US" sz="3600" dirty="0"/>
            </a:br>
            <a:endParaRPr lang="en-US" altLang="en-US" sz="3600" dirty="0"/>
          </a:p>
        </p:txBody>
      </p:sp>
    </p:spTree>
    <p:extLst>
      <p:ext uri="{BB962C8B-B14F-4D97-AF65-F5344CB8AC3E}">
        <p14:creationId xmlns:p14="http://schemas.microsoft.com/office/powerpoint/2010/main" val="1563538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2575</TotalTime>
  <Words>588</Words>
  <Application>Microsoft Macintosh PowerPoint</Application>
  <PresentationFormat>On-screen Show (4:3)</PresentationFormat>
  <Paragraphs>86</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Lucida Sans Unicode</vt:lpstr>
      <vt:lpstr>Monaco</vt:lpstr>
      <vt:lpstr>Roboto</vt:lpstr>
      <vt:lpstr>Times New Roman</vt:lpstr>
      <vt:lpstr>Verdana</vt:lpstr>
      <vt:lpstr>Office Theme</vt:lpstr>
      <vt:lpstr>Inheritance</vt:lpstr>
      <vt:lpstr>Inheritance</vt:lpstr>
      <vt:lpstr>Defining Derived Classes</vt:lpstr>
      <vt:lpstr>PowerPoint Presentation</vt:lpstr>
      <vt:lpstr>Access specifier</vt:lpstr>
      <vt:lpstr>Types of Inheritance</vt:lpstr>
      <vt:lpstr>PowerPoint Presentation</vt:lpstr>
      <vt:lpstr>example</vt:lpstr>
      <vt:lpstr>PowerPoint Presentation</vt:lpstr>
      <vt:lpstr>PowerPoint Presentation</vt:lpstr>
      <vt:lpstr>PowerPoint Presentation</vt:lpstr>
      <vt:lpstr>PowerPoint Presentation</vt:lpstr>
      <vt:lpstr>example</vt:lpstr>
      <vt:lpstr>PowerPoint Presentation</vt:lpstr>
      <vt:lpstr>example</vt:lpstr>
      <vt:lpstr> Same Data Member Name in Base and Derived Class </vt:lpstr>
      <vt:lpstr>Hierarchical Inheritance </vt:lpstr>
      <vt:lpstr>example</vt:lpstr>
      <vt:lpstr>Multipath Inheritance </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Apoorva Karnwal</cp:lastModifiedBy>
  <cp:revision>56</cp:revision>
  <dcterms:created xsi:type="dcterms:W3CDTF">2021-04-17T14:34:26Z</dcterms:created>
  <dcterms:modified xsi:type="dcterms:W3CDTF">2023-06-12T06:43:07Z</dcterms:modified>
</cp:coreProperties>
</file>