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5" r:id="rId2"/>
    <p:sldId id="270" r:id="rId3"/>
    <p:sldId id="272" r:id="rId4"/>
    <p:sldId id="267" r:id="rId5"/>
    <p:sldId id="273" r:id="rId6"/>
    <p:sldId id="279" r:id="rId7"/>
    <p:sldId id="275" r:id="rId8"/>
    <p:sldId id="276" r:id="rId9"/>
    <p:sldId id="277" r:id="rId10"/>
    <p:sldId id="280" r:id="rId11"/>
    <p:sldId id="281" r:id="rId12"/>
    <p:sldId id="282" r:id="rId13"/>
    <p:sldId id="283" r:id="rId14"/>
    <p:sldId id="284" r:id="rId15"/>
    <p:sldId id="293" r:id="rId16"/>
    <p:sldId id="297" r:id="rId17"/>
    <p:sldId id="298" r:id="rId18"/>
    <p:sldId id="288" r:id="rId19"/>
    <p:sldId id="266" r:id="rId20"/>
    <p:sldId id="268" r:id="rId21"/>
    <p:sldId id="294" r:id="rId22"/>
    <p:sldId id="295" r:id="rId23"/>
    <p:sldId id="29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3"/>
    <p:restoredTop sz="94648"/>
  </p:normalViewPr>
  <p:slideViewPr>
    <p:cSldViewPr>
      <p:cViewPr varScale="1">
        <p:scale>
          <a:sx n="107" d="100"/>
          <a:sy n="107" d="100"/>
        </p:scale>
        <p:origin x="368" y="1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67E53C-2570-4BDE-8450-B01317046F80}" type="datetimeFigureOut">
              <a:rPr lang="en-US" smtClean="0"/>
              <a:t>5/15/23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C04FA0-E888-40AE-80BE-17D48CDA61F3}" type="slidenum">
              <a:rPr lang="en-US" smtClean="0"/>
              <a:t>‹#›</a:t>
            </a:fld>
            <a:endParaRPr lang="en-US"/>
          </a:p>
        </p:txBody>
      </p:sp>
    </p:spTree>
    <p:extLst>
      <p:ext uri="{BB962C8B-B14F-4D97-AF65-F5344CB8AC3E}">
        <p14:creationId xmlns:p14="http://schemas.microsoft.com/office/powerpoint/2010/main" val="15464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474E8C4A-92D7-4232-A6D6-7969F41DBC2F}" type="slidenum">
              <a:rPr lang="en-US" altLang="en-US" smtClean="0"/>
              <a:pPr algn="r" eaLnBrk="1" hangingPunct="1">
                <a:spcBef>
                  <a:spcPct val="0"/>
                </a:spcBef>
              </a:pPr>
              <a:t>6</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BC33E2DB-C57A-47DA-8E94-286A6471F0AA}" type="slidenum">
              <a:rPr lang="en-US" altLang="en-US" smtClean="0"/>
              <a:pPr algn="r" eaLnBrk="1" hangingPunct="1">
                <a:spcBef>
                  <a:spcPct val="0"/>
                </a:spcBef>
              </a:pPr>
              <a:t>7</a:t>
            </a:fld>
            <a:endParaRPr lang="en-US"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D2C55EAE-A6F2-434E-A52F-31FE21293339}" type="slidenum">
              <a:rPr lang="en-US" altLang="en-US" smtClean="0"/>
              <a:pPr algn="r" eaLnBrk="1" hangingPunct="1">
                <a:spcBef>
                  <a:spcPct val="0"/>
                </a:spcBef>
              </a:pPr>
              <a:t>8</a:t>
            </a:fld>
            <a:endParaRPr lang="en-US" alt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6A1CD635-DEBC-4E3B-950E-631946BF77A5}" type="slidenum">
              <a:rPr lang="en-US" altLang="en-US" smtClean="0"/>
              <a:pPr algn="r" eaLnBrk="1" hangingPunct="1">
                <a:spcBef>
                  <a:spcPct val="0"/>
                </a:spcBef>
              </a:pPr>
              <a:t>9</a:t>
            </a:fld>
            <a:endParaRPr lang="en-US" alt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4B34AECB-38B2-4A5E-BF43-2806A871A6FF}" type="slidenum">
              <a:rPr lang="en-US" altLang="en-US" smtClean="0"/>
              <a:pPr algn="r" eaLnBrk="1" hangingPunct="1">
                <a:spcBef>
                  <a:spcPct val="0"/>
                </a:spcBef>
              </a:pPr>
              <a:t>10</a:t>
            </a:fld>
            <a:endParaRPr lang="en-US" alt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0593EE6F-5E8D-420F-ABA5-253DFE87D41E}" type="slidenum">
              <a:rPr lang="en-US" altLang="en-US" smtClean="0"/>
              <a:pPr algn="r" eaLnBrk="1" hangingPunct="1">
                <a:spcBef>
                  <a:spcPct val="0"/>
                </a:spcBef>
              </a:pPr>
              <a:t>11</a:t>
            </a:fld>
            <a:endParaRPr lang="en-US" alt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8B949D18-BE2A-4C51-A32A-CF6DC34D60F2}" type="slidenum">
              <a:rPr lang="en-US" altLang="en-US" smtClean="0"/>
              <a:pPr algn="r" eaLnBrk="1" hangingPunct="1">
                <a:spcBef>
                  <a:spcPct val="0"/>
                </a:spcBef>
              </a:pPr>
              <a:t>12</a:t>
            </a:fld>
            <a:endParaRPr lang="en-US" alt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C6480931-793F-4DFC-A45A-D5D0ACAC0290}" type="slidenum">
              <a:rPr lang="en-US" altLang="en-US" smtClean="0"/>
              <a:pPr algn="r" eaLnBrk="1" hangingPunct="1">
                <a:spcBef>
                  <a:spcPct val="0"/>
                </a:spcBef>
              </a:pPr>
              <a:t>13</a:t>
            </a:fld>
            <a:endParaRPr lang="en-US" alt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cs typeface="Arial" charset="0"/>
              </a:defRPr>
            </a:lvl1pPr>
            <a:lvl2pPr marL="742950" indent="-285750" algn="l" eaLnBrk="0" hangingPunct="0">
              <a:spcBef>
                <a:spcPct val="30000"/>
              </a:spcBef>
              <a:defRPr sz="1200">
                <a:solidFill>
                  <a:schemeClr val="tx1"/>
                </a:solidFill>
                <a:latin typeface="Arial" charset="0"/>
                <a:cs typeface="Arial" charset="0"/>
              </a:defRPr>
            </a:lvl2pPr>
            <a:lvl3pPr marL="1143000" indent="-228600" algn="l" eaLnBrk="0" hangingPunct="0">
              <a:spcBef>
                <a:spcPct val="30000"/>
              </a:spcBef>
              <a:defRPr sz="1200">
                <a:solidFill>
                  <a:schemeClr val="tx1"/>
                </a:solidFill>
                <a:latin typeface="Arial" charset="0"/>
                <a:cs typeface="Arial" charset="0"/>
              </a:defRPr>
            </a:lvl3pPr>
            <a:lvl4pPr marL="1600200" indent="-228600" algn="l" eaLnBrk="0" hangingPunct="0">
              <a:spcBef>
                <a:spcPct val="30000"/>
              </a:spcBef>
              <a:defRPr sz="1200">
                <a:solidFill>
                  <a:schemeClr val="tx1"/>
                </a:solidFill>
                <a:latin typeface="Arial" charset="0"/>
                <a:cs typeface="Arial" charset="0"/>
              </a:defRPr>
            </a:lvl4pPr>
            <a:lvl5pPr marL="2057400" indent="-228600" algn="l" eaLnBrk="0" hangingPunct="0">
              <a:spcBef>
                <a:spcPct val="30000"/>
              </a:spcBef>
              <a:defRPr sz="1200">
                <a:solidFill>
                  <a:schemeClr val="tx1"/>
                </a:solidFill>
                <a:latin typeface="Arial" charset="0"/>
                <a:cs typeface="Arial" charset="0"/>
              </a:defRPr>
            </a:lvl5pPr>
            <a:lvl6pPr marL="2514600" indent="-228600" eaLnBrk="0" fontAlgn="base" hangingPunct="0">
              <a:spcBef>
                <a:spcPct val="30000"/>
              </a:spcBef>
              <a:spcAft>
                <a:spcPct val="0"/>
              </a:spcAft>
              <a:defRPr sz="1200">
                <a:solidFill>
                  <a:schemeClr val="tx1"/>
                </a:solidFill>
                <a:latin typeface="Arial" charset="0"/>
                <a:cs typeface="Arial" charset="0"/>
              </a:defRPr>
            </a:lvl6pPr>
            <a:lvl7pPr marL="2971800" indent="-228600" eaLnBrk="0" fontAlgn="base" hangingPunct="0">
              <a:spcBef>
                <a:spcPct val="30000"/>
              </a:spcBef>
              <a:spcAft>
                <a:spcPct val="0"/>
              </a:spcAft>
              <a:defRPr sz="1200">
                <a:solidFill>
                  <a:schemeClr val="tx1"/>
                </a:solidFill>
                <a:latin typeface="Arial" charset="0"/>
                <a:cs typeface="Arial" charset="0"/>
              </a:defRPr>
            </a:lvl7pPr>
            <a:lvl8pPr marL="3429000" indent="-228600" eaLnBrk="0" fontAlgn="base" hangingPunct="0">
              <a:spcBef>
                <a:spcPct val="30000"/>
              </a:spcBef>
              <a:spcAft>
                <a:spcPct val="0"/>
              </a:spcAft>
              <a:defRPr sz="1200">
                <a:solidFill>
                  <a:schemeClr val="tx1"/>
                </a:solidFill>
                <a:latin typeface="Arial" charset="0"/>
                <a:cs typeface="Arial" charset="0"/>
              </a:defRPr>
            </a:lvl8pPr>
            <a:lvl9pPr marL="3886200" indent="-228600" eaLnBrk="0" fontAlgn="base" hangingPunct="0">
              <a:spcBef>
                <a:spcPct val="30000"/>
              </a:spcBef>
              <a:spcAft>
                <a:spcPct val="0"/>
              </a:spcAft>
              <a:defRPr sz="1200">
                <a:solidFill>
                  <a:schemeClr val="tx1"/>
                </a:solidFill>
                <a:latin typeface="Arial" charset="0"/>
                <a:cs typeface="Arial" charset="0"/>
              </a:defRPr>
            </a:lvl9pPr>
          </a:lstStyle>
          <a:p>
            <a:pPr algn="r" eaLnBrk="1" hangingPunct="1">
              <a:spcBef>
                <a:spcPct val="0"/>
              </a:spcBef>
            </a:pPr>
            <a:fld id="{8FDAEF10-D26A-42B2-B2BE-CA37CD74C05F}" type="slidenum">
              <a:rPr lang="en-US" altLang="en-US" smtClean="0"/>
              <a:pPr algn="r" eaLnBrk="1" hangingPunct="1">
                <a:spcBef>
                  <a:spcPct val="0"/>
                </a:spcBef>
              </a:pPr>
              <a:t>18</a:t>
            </a:fld>
            <a:endParaRPr lang="en-US" alt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9CBCACE-DCAD-4573-AA2A-2A67CCE0C63F}" type="datetimeFigureOut">
              <a:rPr lang="en-US" smtClean="0"/>
              <a:t>5/15/23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322895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5/15/23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6777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CBCACE-DCAD-4573-AA2A-2A67CCE0C63F}" type="datetimeFigureOut">
              <a:rPr lang="en-US" smtClean="0"/>
              <a:t>5/15/23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3831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CBCACE-DCAD-4573-AA2A-2A67CCE0C63F}" type="datetimeFigureOut">
              <a:rPr lang="en-US" smtClean="0"/>
              <a:t>5/15/23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794786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CBCACE-DCAD-4573-AA2A-2A67CCE0C63F}" type="datetimeFigureOut">
              <a:rPr lang="en-US" smtClean="0"/>
              <a:t>5/15/23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134253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CBCACE-DCAD-4573-AA2A-2A67CCE0C63F}" type="datetimeFigureOut">
              <a:rPr lang="en-US" smtClean="0"/>
              <a:t>5/15/23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4531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BCACE-DCAD-4573-AA2A-2A67CCE0C63F}" type="datetimeFigureOut">
              <a:rPr lang="en-US" smtClean="0"/>
              <a:t>5/15/23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13585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5/15/23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55337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5/15/23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1919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5/15/23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807666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5/15/23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78355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CBCACE-DCAD-4573-AA2A-2A67CCE0C63F}" type="datetimeFigureOut">
              <a:rPr lang="en-US" smtClean="0"/>
              <a:t>5/15/23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3F945-5BA6-4CE2-AA9E-49E9EBDF942A}" type="slidenum">
              <a:rPr lang="en-US" smtClean="0"/>
              <a:t>‹#›</a:t>
            </a:fld>
            <a:endParaRPr lang="en-US"/>
          </a:p>
        </p:txBody>
      </p:sp>
    </p:spTree>
    <p:extLst>
      <p:ext uri="{BB962C8B-B14F-4D97-AF65-F5344CB8AC3E}">
        <p14:creationId xmlns:p14="http://schemas.microsoft.com/office/powerpoint/2010/main" val="496497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000000"/>
                </a:solidFill>
                <a:latin typeface="Times New Roman"/>
              </a:rPr>
              <a:t>Polymorphishm</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044912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Polymorphism</a:t>
            </a:r>
          </a:p>
        </p:txBody>
      </p:sp>
      <p:sp>
        <p:nvSpPr>
          <p:cNvPr id="3" name="Content Placeholder 2"/>
          <p:cNvSpPr>
            <a:spLocks noGrp="1"/>
          </p:cNvSpPr>
          <p:nvPr>
            <p:ph idx="1"/>
          </p:nvPr>
        </p:nvSpPr>
        <p:spPr>
          <a:xfrm>
            <a:off x="457200" y="1000108"/>
            <a:ext cx="8229600" cy="5643601"/>
          </a:xfrm>
        </p:spPr>
        <p:txBody>
          <a:bodyPr>
            <a:normAutofit fontScale="92500" lnSpcReduction="10000"/>
          </a:bodyPr>
          <a:lstStyle/>
          <a:p>
            <a:pPr algn="just">
              <a:lnSpc>
                <a:spcPct val="150000"/>
              </a:lnSpc>
            </a:pPr>
            <a:r>
              <a:rPr lang="en-US" altLang="en-US" dirty="0">
                <a:latin typeface="Book Antiqua" pitchFamily="18" charset="0"/>
              </a:rPr>
              <a:t>Refers to ‘one name having many forms’, ‘one interface doing multiple actions’. </a:t>
            </a:r>
          </a:p>
          <a:p>
            <a:pPr algn="just">
              <a:lnSpc>
                <a:spcPct val="150000"/>
              </a:lnSpc>
            </a:pPr>
            <a:r>
              <a:rPr lang="en-US" altLang="en-US" dirty="0">
                <a:latin typeface="Book Antiqua" pitchFamily="18" charset="0"/>
              </a:rPr>
              <a:t>In C++, polymorphism can be either </a:t>
            </a:r>
          </a:p>
          <a:p>
            <a:pPr lvl="1" algn="just">
              <a:lnSpc>
                <a:spcPct val="150000"/>
              </a:lnSpc>
            </a:pPr>
            <a:r>
              <a:rPr lang="en-US" altLang="en-US" dirty="0">
                <a:latin typeface="Book Antiqua" pitchFamily="18" charset="0"/>
              </a:rPr>
              <a:t>static polymorphism or </a:t>
            </a:r>
          </a:p>
          <a:p>
            <a:pPr lvl="1" algn="just">
              <a:lnSpc>
                <a:spcPct val="150000"/>
              </a:lnSpc>
            </a:pPr>
            <a:r>
              <a:rPr lang="en-US" altLang="en-US" dirty="0">
                <a:latin typeface="Book Antiqua" pitchFamily="18" charset="0"/>
              </a:rPr>
              <a:t>dynamic polymorphism. </a:t>
            </a:r>
          </a:p>
          <a:p>
            <a:pPr algn="just">
              <a:lnSpc>
                <a:spcPct val="150000"/>
              </a:lnSpc>
            </a:pPr>
            <a:r>
              <a:rPr lang="en-US" altLang="en-US" dirty="0">
                <a:latin typeface="Book Antiqua" pitchFamily="18" charset="0"/>
              </a:rPr>
              <a:t>C++ implements </a:t>
            </a:r>
            <a:r>
              <a:rPr lang="en-US" altLang="en-US" i="1" dirty="0">
                <a:latin typeface="Book Antiqua" pitchFamily="18" charset="0"/>
              </a:rPr>
              <a:t>static</a:t>
            </a:r>
            <a:r>
              <a:rPr lang="en-US" altLang="en-US" dirty="0">
                <a:latin typeface="Book Antiqua" pitchFamily="18" charset="0"/>
              </a:rPr>
              <a:t> </a:t>
            </a:r>
            <a:r>
              <a:rPr lang="en-US" altLang="en-US" i="1" dirty="0">
                <a:latin typeface="Book Antiqua" pitchFamily="18" charset="0"/>
              </a:rPr>
              <a:t>polymorphism </a:t>
            </a:r>
            <a:r>
              <a:rPr lang="en-US" altLang="en-US" dirty="0">
                <a:latin typeface="Book Antiqua" pitchFamily="18" charset="0"/>
              </a:rPr>
              <a:t>through </a:t>
            </a:r>
          </a:p>
          <a:p>
            <a:pPr lvl="1" algn="just">
              <a:lnSpc>
                <a:spcPct val="150000"/>
              </a:lnSpc>
            </a:pPr>
            <a:r>
              <a:rPr lang="en-US" altLang="en-US" i="1" dirty="0">
                <a:latin typeface="Book Antiqua" pitchFamily="18" charset="0"/>
              </a:rPr>
              <a:t>overloaded functions </a:t>
            </a:r>
          </a:p>
          <a:p>
            <a:pPr lvl="1" algn="just">
              <a:lnSpc>
                <a:spcPct val="150000"/>
              </a:lnSpc>
            </a:pPr>
            <a:r>
              <a:rPr lang="en-US" altLang="en-US" i="1" dirty="0">
                <a:latin typeface="Book Antiqua" pitchFamily="18" charset="0"/>
              </a:rPr>
              <a:t>overloaded operators</a:t>
            </a:r>
          </a:p>
        </p:txBody>
      </p:sp>
    </p:spTree>
    <p:extLst>
      <p:ext uri="{BB962C8B-B14F-4D97-AF65-F5344CB8AC3E}">
        <p14:creationId xmlns:p14="http://schemas.microsoft.com/office/powerpoint/2010/main" val="3875069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582594"/>
          </a:xfrm>
        </p:spPr>
        <p:txBody>
          <a:bodyPr>
            <a:normAutofit fontScale="90000"/>
          </a:bodyPr>
          <a:lstStyle/>
          <a:p>
            <a:r>
              <a:rPr lang="en-IN" dirty="0"/>
              <a:t>Overloading</a:t>
            </a:r>
          </a:p>
        </p:txBody>
      </p:sp>
      <p:sp>
        <p:nvSpPr>
          <p:cNvPr id="3" name="Content Placeholder 2"/>
          <p:cNvSpPr>
            <a:spLocks noGrp="1"/>
          </p:cNvSpPr>
          <p:nvPr>
            <p:ph idx="1"/>
          </p:nvPr>
        </p:nvSpPr>
        <p:spPr>
          <a:xfrm>
            <a:off x="457200" y="785795"/>
            <a:ext cx="8229600" cy="5643602"/>
          </a:xfrm>
        </p:spPr>
        <p:txBody>
          <a:bodyPr>
            <a:normAutofit/>
          </a:bodyPr>
          <a:lstStyle/>
          <a:p>
            <a:pPr algn="just">
              <a:lnSpc>
                <a:spcPct val="150000"/>
              </a:lnSpc>
            </a:pPr>
            <a:r>
              <a:rPr lang="en-US" altLang="en-US" dirty="0">
                <a:latin typeface="Book Antiqua" pitchFamily="18" charset="0"/>
              </a:rPr>
              <a:t>Overloading – A name having two or more distinct meanings</a:t>
            </a:r>
          </a:p>
          <a:p>
            <a:pPr algn="just">
              <a:lnSpc>
                <a:spcPct val="150000"/>
              </a:lnSpc>
            </a:pPr>
            <a:r>
              <a:rPr lang="en-US" altLang="en-US" dirty="0">
                <a:latin typeface="Book Antiqua" pitchFamily="18" charset="0"/>
              </a:rPr>
              <a:t>Overloaded function -  a function having more than one distinct meanings</a:t>
            </a:r>
          </a:p>
          <a:p>
            <a:pPr algn="just">
              <a:lnSpc>
                <a:spcPct val="150000"/>
              </a:lnSpc>
            </a:pPr>
            <a:r>
              <a:rPr lang="en-US" altLang="en-US" dirty="0">
                <a:latin typeface="Book Antiqua" pitchFamily="18" charset="0"/>
              </a:rPr>
              <a:t>Overloaded operator - When two or more distinct meanings are defined for an operator</a:t>
            </a:r>
          </a:p>
        </p:txBody>
      </p:sp>
    </p:spTree>
    <p:extLst>
      <p:ext uri="{BB962C8B-B14F-4D97-AF65-F5344CB8AC3E}">
        <p14:creationId xmlns:p14="http://schemas.microsoft.com/office/powerpoint/2010/main" val="1087951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overloading</a:t>
            </a:r>
          </a:p>
        </p:txBody>
      </p:sp>
      <p:sp>
        <p:nvSpPr>
          <p:cNvPr id="3" name="Content Placeholder 2"/>
          <p:cNvSpPr>
            <a:spLocks noGrp="1"/>
          </p:cNvSpPr>
          <p:nvPr>
            <p:ph idx="1"/>
          </p:nvPr>
        </p:nvSpPr>
        <p:spPr/>
        <p:txBody>
          <a:bodyPr/>
          <a:lstStyle/>
          <a:p>
            <a:r>
              <a:rPr lang="en-US" dirty="0"/>
              <a:t>Using the concepts of function overloading , a family of functions with one function name but with different argument lists in the functions call .The correct function to be invoked is determined by checking the number and type of the arguments but not on the function type. </a:t>
            </a:r>
          </a:p>
        </p:txBody>
      </p:sp>
    </p:spTree>
    <p:extLst>
      <p:ext uri="{BB962C8B-B14F-4D97-AF65-F5344CB8AC3E}">
        <p14:creationId xmlns:p14="http://schemas.microsoft.com/office/powerpoint/2010/main" val="135749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//Declaration </a:t>
            </a:r>
          </a:p>
          <a:p>
            <a:pPr marL="0" indent="0">
              <a:buNone/>
            </a:pPr>
            <a:r>
              <a:rPr lang="en-US" dirty="0"/>
              <a:t>           </a:t>
            </a:r>
            <a:r>
              <a:rPr lang="en-US" dirty="0" err="1"/>
              <a:t>int</a:t>
            </a:r>
            <a:r>
              <a:rPr lang="en-US" dirty="0"/>
              <a:t> add(</a:t>
            </a:r>
            <a:r>
              <a:rPr lang="en-US" dirty="0" err="1"/>
              <a:t>int</a:t>
            </a:r>
            <a:r>
              <a:rPr lang="en-US" dirty="0"/>
              <a:t> a, </a:t>
            </a:r>
            <a:r>
              <a:rPr lang="en-US" dirty="0" err="1"/>
              <a:t>int</a:t>
            </a:r>
            <a:r>
              <a:rPr lang="en-US" dirty="0"/>
              <a:t> b); //prototype 1 </a:t>
            </a:r>
          </a:p>
          <a:p>
            <a:pPr marL="0" indent="0">
              <a:buNone/>
            </a:pPr>
            <a:r>
              <a:rPr lang="en-US" dirty="0"/>
              <a:t>           </a:t>
            </a:r>
            <a:r>
              <a:rPr lang="en-US" dirty="0" err="1"/>
              <a:t>int</a:t>
            </a:r>
            <a:r>
              <a:rPr lang="en-US" dirty="0"/>
              <a:t> add (</a:t>
            </a:r>
            <a:r>
              <a:rPr lang="en-US" dirty="0" err="1"/>
              <a:t>int</a:t>
            </a:r>
            <a:r>
              <a:rPr lang="en-US" dirty="0"/>
              <a:t> a, </a:t>
            </a:r>
            <a:r>
              <a:rPr lang="en-US" dirty="0" err="1"/>
              <a:t>int</a:t>
            </a:r>
            <a:r>
              <a:rPr lang="en-US" dirty="0"/>
              <a:t> b, </a:t>
            </a:r>
            <a:r>
              <a:rPr lang="en-US" dirty="0" err="1"/>
              <a:t>int</a:t>
            </a:r>
            <a:r>
              <a:rPr lang="en-US" dirty="0"/>
              <a:t> c); //prototype 2 </a:t>
            </a:r>
          </a:p>
          <a:p>
            <a:pPr marL="0" indent="0">
              <a:buNone/>
            </a:pPr>
            <a:r>
              <a:rPr lang="fr-FR" dirty="0"/>
              <a:t>           double </a:t>
            </a:r>
            <a:r>
              <a:rPr lang="fr-FR" dirty="0" err="1"/>
              <a:t>add</a:t>
            </a:r>
            <a:r>
              <a:rPr lang="fr-FR" dirty="0"/>
              <a:t>(double x, double y); //prototype 3 </a:t>
            </a:r>
          </a:p>
          <a:p>
            <a:pPr marL="0" indent="0">
              <a:buNone/>
            </a:pPr>
            <a:r>
              <a:rPr lang="fr-FR" dirty="0"/>
              <a:t>           </a:t>
            </a:r>
            <a:endParaRPr lang="en-US" dirty="0"/>
          </a:p>
        </p:txBody>
      </p:sp>
    </p:spTree>
    <p:extLst>
      <p:ext uri="{BB962C8B-B14F-4D97-AF65-F5344CB8AC3E}">
        <p14:creationId xmlns:p14="http://schemas.microsoft.com/office/powerpoint/2010/main" val="3816973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47BE76F6-47C7-4442-AD78-F941FC1A6A50}" type="slidenum">
              <a:rPr lang="en-US"/>
              <a:pPr>
                <a:defRPr/>
              </a:pPr>
              <a:t>6</a:t>
            </a:fld>
            <a:endParaRPr lang="en-US"/>
          </a:p>
        </p:txBody>
      </p:sp>
      <p:sp>
        <p:nvSpPr>
          <p:cNvPr id="5123" name="Rectangle 2"/>
          <p:cNvSpPr>
            <a:spLocks noGrp="1" noChangeArrowheads="1"/>
          </p:cNvSpPr>
          <p:nvPr>
            <p:ph type="title"/>
          </p:nvPr>
        </p:nvSpPr>
        <p:spPr>
          <a:xfrm>
            <a:off x="457200" y="142852"/>
            <a:ext cx="8229600" cy="868346"/>
          </a:xfrm>
        </p:spPr>
        <p:txBody>
          <a:bodyPr/>
          <a:lstStyle/>
          <a:p>
            <a:pPr eaLnBrk="1" hangingPunct="1"/>
            <a:r>
              <a:rPr lang="en-US" altLang="en-US" dirty="0"/>
              <a:t>Signature of a Function</a:t>
            </a:r>
          </a:p>
        </p:txBody>
      </p:sp>
      <p:sp>
        <p:nvSpPr>
          <p:cNvPr id="7" name="Content Placeholder 6"/>
          <p:cNvSpPr>
            <a:spLocks noGrp="1"/>
          </p:cNvSpPr>
          <p:nvPr>
            <p:ph idx="1"/>
          </p:nvPr>
        </p:nvSpPr>
        <p:spPr>
          <a:xfrm>
            <a:off x="457200" y="1142984"/>
            <a:ext cx="8229600" cy="5500726"/>
          </a:xfrm>
        </p:spPr>
        <p:txBody>
          <a:bodyPr>
            <a:normAutofit lnSpcReduction="10000"/>
          </a:bodyPr>
          <a:lstStyle/>
          <a:p>
            <a:r>
              <a:rPr lang="en-US" altLang="en-US" i="1" dirty="0">
                <a:solidFill>
                  <a:srgbClr val="FF0066"/>
                </a:solidFill>
                <a:latin typeface="Calibri" pitchFamily="34" charset="0"/>
              </a:rPr>
              <a:t>A function’s argument list (i.e., number and type of argument) is known as the function’s signature.</a:t>
            </a:r>
          </a:p>
          <a:p>
            <a:r>
              <a:rPr lang="en-US" altLang="en-US" dirty="0">
                <a:latin typeface="Book Antiqua" pitchFamily="18" charset="0"/>
              </a:rPr>
              <a:t>Functions with Same </a:t>
            </a:r>
            <a:r>
              <a:rPr lang="en-US" altLang="en-US" i="1" dirty="0">
                <a:latin typeface="Book Antiqua" pitchFamily="18" charset="0"/>
              </a:rPr>
              <a:t>signature</a:t>
            </a:r>
            <a:r>
              <a:rPr lang="en-US" altLang="en-US" i="1" dirty="0">
                <a:solidFill>
                  <a:srgbClr val="FF0066"/>
                </a:solidFill>
                <a:latin typeface="Calibri" pitchFamily="34" charset="0"/>
              </a:rPr>
              <a:t> - </a:t>
            </a:r>
            <a:r>
              <a:rPr lang="en-US" altLang="en-US" i="1" dirty="0">
                <a:solidFill>
                  <a:srgbClr val="FF0066"/>
                </a:solidFill>
                <a:latin typeface="Book Antiqua" pitchFamily="18" charset="0"/>
              </a:rPr>
              <a:t>T</a:t>
            </a:r>
            <a:r>
              <a:rPr lang="en-US" altLang="en-US" dirty="0">
                <a:latin typeface="Book Antiqua" pitchFamily="18" charset="0"/>
              </a:rPr>
              <a:t>wo functions with same number and types of arguments in same order</a:t>
            </a:r>
          </a:p>
          <a:p>
            <a:pPr algn="just"/>
            <a:r>
              <a:rPr lang="en-US" altLang="en-US" dirty="0">
                <a:latin typeface="Book Antiqua" pitchFamily="18" charset="0"/>
              </a:rPr>
              <a:t>variable names doesn’t matter. For instance, following two functions have same signature.</a:t>
            </a:r>
          </a:p>
          <a:p>
            <a:pPr algn="just">
              <a:buNone/>
            </a:pPr>
            <a:r>
              <a:rPr lang="en-US" altLang="en-US" dirty="0">
                <a:latin typeface="Book Antiqua" pitchFamily="18" charset="0"/>
              </a:rPr>
              <a:t>	</a:t>
            </a:r>
            <a:r>
              <a:rPr lang="en-US" altLang="en-US" dirty="0">
                <a:latin typeface="FangSong" pitchFamily="49" charset="-122"/>
              </a:rPr>
              <a:t>	</a:t>
            </a:r>
            <a:r>
              <a:rPr lang="en-US" altLang="en-US" i="1" dirty="0">
                <a:latin typeface="Book Antiqua" pitchFamily="18" charset="0"/>
              </a:rPr>
              <a:t>void </a:t>
            </a:r>
            <a:r>
              <a:rPr lang="en-US" altLang="en-US" dirty="0" err="1">
                <a:latin typeface="Book Antiqua" pitchFamily="18" charset="0"/>
              </a:rPr>
              <a:t>squar</a:t>
            </a:r>
            <a:r>
              <a:rPr lang="en-US" altLang="en-US" dirty="0">
                <a:latin typeface="Book Antiqua" pitchFamily="18" charset="0"/>
              </a:rPr>
              <a:t> (</a:t>
            </a:r>
            <a:r>
              <a:rPr lang="en-US" altLang="en-US" dirty="0" err="1">
                <a:latin typeface="Book Antiqua" pitchFamily="18" charset="0"/>
              </a:rPr>
              <a:t>int</a:t>
            </a:r>
            <a:r>
              <a:rPr lang="en-US" altLang="en-US" dirty="0">
                <a:latin typeface="Book Antiqua" pitchFamily="18" charset="0"/>
              </a:rPr>
              <a:t> </a:t>
            </a:r>
            <a:r>
              <a:rPr lang="en-US" altLang="en-US" i="1" dirty="0">
                <a:latin typeface="Book Antiqua" pitchFamily="18" charset="0"/>
              </a:rPr>
              <a:t>a</a:t>
            </a:r>
            <a:r>
              <a:rPr lang="en-US" altLang="en-US" dirty="0">
                <a:latin typeface="Book Antiqua" pitchFamily="18" charset="0"/>
              </a:rPr>
              <a:t>, float </a:t>
            </a:r>
            <a:r>
              <a:rPr lang="en-US" altLang="en-US" i="1" dirty="0">
                <a:latin typeface="Book Antiqua" pitchFamily="18" charset="0"/>
              </a:rPr>
              <a:t>b</a:t>
            </a:r>
            <a:r>
              <a:rPr lang="en-US" altLang="en-US" dirty="0">
                <a:latin typeface="Book Antiqua" pitchFamily="18" charset="0"/>
              </a:rPr>
              <a:t>);	</a:t>
            </a:r>
            <a:r>
              <a:rPr lang="en-US" altLang="en-US" sz="2800" dirty="0">
                <a:latin typeface="Calibri" pitchFamily="34" charset="0"/>
              </a:rPr>
              <a:t>//function 1</a:t>
            </a:r>
          </a:p>
          <a:p>
            <a:pPr algn="just">
              <a:buNone/>
            </a:pPr>
            <a:r>
              <a:rPr lang="en-US" altLang="en-US" dirty="0">
                <a:latin typeface="Book Antiqua" pitchFamily="18" charset="0"/>
              </a:rPr>
              <a:t>		</a:t>
            </a:r>
            <a:r>
              <a:rPr lang="en-US" altLang="en-US" i="1" dirty="0">
                <a:latin typeface="Book Antiqua" pitchFamily="18" charset="0"/>
              </a:rPr>
              <a:t>void </a:t>
            </a:r>
            <a:r>
              <a:rPr lang="en-US" altLang="en-US" dirty="0" err="1">
                <a:latin typeface="Book Antiqua" pitchFamily="18" charset="0"/>
              </a:rPr>
              <a:t>squar</a:t>
            </a:r>
            <a:r>
              <a:rPr lang="en-US" altLang="en-US" dirty="0">
                <a:latin typeface="Book Antiqua" pitchFamily="18" charset="0"/>
              </a:rPr>
              <a:t> (</a:t>
            </a:r>
            <a:r>
              <a:rPr lang="en-US" altLang="en-US" dirty="0" err="1">
                <a:latin typeface="Book Antiqua" pitchFamily="18" charset="0"/>
              </a:rPr>
              <a:t>int</a:t>
            </a:r>
            <a:r>
              <a:rPr lang="en-US" altLang="en-US" dirty="0">
                <a:latin typeface="Book Antiqua" pitchFamily="18" charset="0"/>
              </a:rPr>
              <a:t> </a:t>
            </a:r>
            <a:r>
              <a:rPr lang="en-US" altLang="en-US" i="1" dirty="0">
                <a:latin typeface="Book Antiqua" pitchFamily="18" charset="0"/>
              </a:rPr>
              <a:t>x, </a:t>
            </a:r>
            <a:r>
              <a:rPr lang="en-US" altLang="en-US" dirty="0">
                <a:latin typeface="Book Antiqua" pitchFamily="18" charset="0"/>
              </a:rPr>
              <a:t>float </a:t>
            </a:r>
            <a:r>
              <a:rPr lang="en-US" altLang="en-US" i="1" dirty="0">
                <a:latin typeface="Book Antiqua" pitchFamily="18" charset="0"/>
              </a:rPr>
              <a:t>y);	</a:t>
            </a:r>
            <a:endParaRPr lang="en-US" altLang="en-US" sz="2400" dirty="0">
              <a:latin typeface="Book Antiqua" pitchFamily="18" charset="0"/>
            </a:endParaRPr>
          </a:p>
          <a:p>
            <a:endParaRPr lang="en-US" altLang="en-US" dirty="0">
              <a:latin typeface="Book Antiqua" pitchFamily="18" charset="0"/>
            </a:endParaRPr>
          </a:p>
          <a:p>
            <a:endParaRPr lang="en-GB" dirty="0"/>
          </a:p>
        </p:txBody>
      </p:sp>
    </p:spTree>
    <p:extLst>
      <p:ext uri="{BB962C8B-B14F-4D97-AF65-F5344CB8AC3E}">
        <p14:creationId xmlns:p14="http://schemas.microsoft.com/office/powerpoint/2010/main" val="105401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FEC60E73-595B-4337-9EA7-81342E141165}" type="slidenum">
              <a:rPr lang="en-US"/>
              <a:pPr>
                <a:defRPr/>
              </a:pPr>
              <a:t>7</a:t>
            </a:fld>
            <a:endParaRPr lang="en-US"/>
          </a:p>
        </p:txBody>
      </p:sp>
      <p:sp>
        <p:nvSpPr>
          <p:cNvPr id="10243" name="Rectangle 3"/>
          <p:cNvSpPr>
            <a:spLocks noGrp="1" noChangeArrowheads="1"/>
          </p:cNvSpPr>
          <p:nvPr>
            <p:ph type="body" idx="1"/>
          </p:nvPr>
        </p:nvSpPr>
        <p:spPr>
          <a:xfrm>
            <a:off x="285720" y="1285860"/>
            <a:ext cx="8686800" cy="5357850"/>
          </a:xfrm>
        </p:spPr>
        <p:txBody>
          <a:bodyPr>
            <a:normAutofit fontScale="92500" lnSpcReduction="10000"/>
          </a:bodyPr>
          <a:lstStyle/>
          <a:p>
            <a:pPr marL="660400" indent="-660400" algn="just" eaLnBrk="1" hangingPunct="1">
              <a:lnSpc>
                <a:spcPct val="150000"/>
              </a:lnSpc>
              <a:buFontTx/>
              <a:buAutoNum type="arabicParenR"/>
            </a:pPr>
            <a:r>
              <a:rPr lang="en-US" altLang="en-US" sz="2400" dirty="0">
                <a:latin typeface="Book Antiqua" pitchFamily="18" charset="0"/>
              </a:rPr>
              <a:t>Signature of subsequent functions match previous function’s, then the second is treated as a re-declaration of the first - Error</a:t>
            </a:r>
          </a:p>
          <a:p>
            <a:pPr marL="660400" indent="-660400" algn="just" eaLnBrk="1" hangingPunct="1">
              <a:lnSpc>
                <a:spcPct val="150000"/>
              </a:lnSpc>
              <a:buFontTx/>
              <a:buAutoNum type="arabicParenR"/>
            </a:pPr>
            <a:r>
              <a:rPr lang="en-US" altLang="en-US" sz="2400" dirty="0">
                <a:latin typeface="Book Antiqua" pitchFamily="18" charset="0"/>
              </a:rPr>
              <a:t>Signatures of two functions match exactly but  the return type differ, then the second declaration is treated as an erroneous re-declaration of the first</a:t>
            </a:r>
          </a:p>
          <a:p>
            <a:pPr marL="660400" indent="-660400" algn="just" eaLnBrk="1" hangingPunct="1">
              <a:lnSpc>
                <a:spcPct val="150000"/>
              </a:lnSpc>
              <a:buFontTx/>
              <a:buNone/>
            </a:pPr>
            <a:r>
              <a:rPr lang="en-US" altLang="en-US" sz="2400" dirty="0">
                <a:latin typeface="Book Antiqua" pitchFamily="18" charset="0"/>
              </a:rPr>
              <a:t>	For example,</a:t>
            </a:r>
          </a:p>
          <a:p>
            <a:pPr marL="660400" indent="-660400" algn="just" eaLnBrk="1" hangingPunct="1">
              <a:lnSpc>
                <a:spcPct val="150000"/>
              </a:lnSpc>
              <a:buFontTx/>
              <a:buNone/>
            </a:pPr>
            <a:r>
              <a:rPr lang="en-US" altLang="en-US" sz="2400" dirty="0">
                <a:latin typeface="Book Antiqua" pitchFamily="18" charset="0"/>
              </a:rPr>
              <a:t>		f</a:t>
            </a:r>
            <a:r>
              <a:rPr lang="en-US" altLang="en-US" sz="2400" i="1" dirty="0">
                <a:latin typeface="Courier New" pitchFamily="49" charset="0"/>
              </a:rPr>
              <a:t>loat</a:t>
            </a:r>
            <a:r>
              <a:rPr lang="en-US" altLang="en-US" sz="2400" dirty="0">
                <a:latin typeface="Courier New" pitchFamily="49" charset="0"/>
              </a:rPr>
              <a:t> square (float </a:t>
            </a:r>
            <a:r>
              <a:rPr lang="en-US" altLang="en-US" sz="2400" i="1" dirty="0">
                <a:latin typeface="Courier New" pitchFamily="49" charset="0"/>
              </a:rPr>
              <a:t>f</a:t>
            </a:r>
            <a:r>
              <a:rPr lang="en-US" altLang="en-US" sz="2400" dirty="0">
                <a:latin typeface="Courier New" pitchFamily="49" charset="0"/>
              </a:rPr>
              <a:t>);</a:t>
            </a:r>
          </a:p>
          <a:p>
            <a:pPr marL="660400" indent="-660400" algn="just" eaLnBrk="1" hangingPunct="1">
              <a:lnSpc>
                <a:spcPct val="150000"/>
              </a:lnSpc>
              <a:buFontTx/>
              <a:buNone/>
            </a:pPr>
            <a:r>
              <a:rPr lang="en-US" altLang="en-US" sz="2400" dirty="0">
                <a:latin typeface="Courier New" pitchFamily="49" charset="0"/>
              </a:rPr>
              <a:t>		</a:t>
            </a:r>
            <a:r>
              <a:rPr lang="en-US" altLang="en-US" sz="2400" i="1" dirty="0">
                <a:latin typeface="Courier New" pitchFamily="49" charset="0"/>
              </a:rPr>
              <a:t>double</a:t>
            </a:r>
            <a:r>
              <a:rPr lang="en-US" altLang="en-US" sz="2400" dirty="0">
                <a:latin typeface="Courier New" pitchFamily="49" charset="0"/>
              </a:rPr>
              <a:t> square (float </a:t>
            </a:r>
            <a:r>
              <a:rPr lang="en-US" altLang="en-US" sz="2400" i="1" dirty="0">
                <a:latin typeface="Courier New" pitchFamily="49" charset="0"/>
              </a:rPr>
              <a:t>x</a:t>
            </a:r>
            <a:r>
              <a:rPr lang="en-US" altLang="en-US" sz="2400" dirty="0">
                <a:latin typeface="Courier New" pitchFamily="49" charset="0"/>
              </a:rPr>
              <a:t>);</a:t>
            </a:r>
          </a:p>
          <a:p>
            <a:pPr marL="660400" indent="-660400" algn="just" eaLnBrk="1" hangingPunct="1">
              <a:lnSpc>
                <a:spcPct val="150000"/>
              </a:lnSpc>
              <a:buFontTx/>
              <a:buNone/>
            </a:pPr>
            <a:r>
              <a:rPr lang="en-US" altLang="en-US" sz="2400" dirty="0">
                <a:latin typeface="Courier New" pitchFamily="49" charset="0"/>
              </a:rPr>
              <a:t>// Differ only by return type so erroneous re-declaration</a:t>
            </a:r>
          </a:p>
        </p:txBody>
      </p:sp>
      <p:sp>
        <p:nvSpPr>
          <p:cNvPr id="10244" name="Text Box 4"/>
          <p:cNvSpPr txBox="1">
            <a:spLocks noChangeArrowheads="1"/>
          </p:cNvSpPr>
          <p:nvPr/>
        </p:nvSpPr>
        <p:spPr bwMode="auto">
          <a:xfrm>
            <a:off x="7239000" y="5119688"/>
            <a:ext cx="167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hangingPunct="0">
              <a:buChar char="•"/>
              <a:defRPr sz="3200">
                <a:solidFill>
                  <a:schemeClr val="tx1"/>
                </a:solidFill>
                <a:latin typeface="Arial" charset="0"/>
                <a:cs typeface="Arial" charset="0"/>
              </a:defRPr>
            </a:lvl1pPr>
            <a:lvl2pPr marL="742950" indent="-285750" algn="l" eaLnBrk="0" hangingPunct="0">
              <a:buChar char="–"/>
              <a:defRPr sz="2800">
                <a:solidFill>
                  <a:schemeClr val="tx1"/>
                </a:solidFill>
                <a:latin typeface="Arial" charset="0"/>
                <a:cs typeface="Arial" charset="0"/>
              </a:defRPr>
            </a:lvl2pPr>
            <a:lvl3pPr marL="1143000" indent="-228600" algn="l" eaLnBrk="0" hangingPunct="0">
              <a:buChar char="•"/>
              <a:defRPr sz="2400">
                <a:solidFill>
                  <a:schemeClr val="tx1"/>
                </a:solidFill>
                <a:latin typeface="Arial" charset="0"/>
                <a:cs typeface="Arial" charset="0"/>
              </a:defRPr>
            </a:lvl3pPr>
            <a:lvl4pPr marL="1600200" indent="-228600" algn="l" eaLnBrk="0" hangingPunct="0">
              <a:buChar char="–"/>
              <a:defRPr sz="2000">
                <a:solidFill>
                  <a:schemeClr val="tx1"/>
                </a:solidFill>
                <a:latin typeface="Arial" charset="0"/>
                <a:cs typeface="Arial" charset="0"/>
              </a:defRPr>
            </a:lvl4pPr>
            <a:lvl5pPr marL="2057400" indent="-228600" algn="l" eaLnBrk="0" hangingPunc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just" eaLnBrk="1" hangingPunct="1">
              <a:spcBef>
                <a:spcPct val="50000"/>
              </a:spcBef>
              <a:buFontTx/>
              <a:buNone/>
            </a:pPr>
            <a:r>
              <a:rPr lang="en-US" altLang="en-US" sz="2400">
                <a:solidFill>
                  <a:schemeClr val="bg1"/>
                </a:solidFill>
                <a:latin typeface="Book Antiqua" pitchFamily="18" charset="0"/>
              </a:rPr>
              <a:t>//</a:t>
            </a:r>
            <a:r>
              <a:rPr lang="en-US" altLang="en-US" sz="2800">
                <a:solidFill>
                  <a:schemeClr val="bg1"/>
                </a:solidFill>
                <a:latin typeface="Book Antiqua" pitchFamily="18" charset="0"/>
              </a:rPr>
              <a:t>error</a:t>
            </a:r>
          </a:p>
        </p:txBody>
      </p:sp>
      <p:sp>
        <p:nvSpPr>
          <p:cNvPr id="5" name="TextBox 4"/>
          <p:cNvSpPr txBox="1"/>
          <p:nvPr/>
        </p:nvSpPr>
        <p:spPr>
          <a:xfrm>
            <a:off x="428596" y="142852"/>
            <a:ext cx="8429684" cy="1077218"/>
          </a:xfrm>
          <a:prstGeom prst="rect">
            <a:avLst/>
          </a:prstGeom>
          <a:noFill/>
        </p:spPr>
        <p:txBody>
          <a:bodyPr wrap="square" rtlCol="0">
            <a:spAutoFit/>
          </a:bodyPr>
          <a:lstStyle/>
          <a:p>
            <a:pPr algn="ctr"/>
            <a:r>
              <a:rPr lang="en-GB" sz="3200" b="1" dirty="0"/>
              <a:t>Resolution by Compiler when it sees second function with same name </a:t>
            </a:r>
          </a:p>
        </p:txBody>
      </p:sp>
    </p:spTree>
    <p:extLst>
      <p:ext uri="{BB962C8B-B14F-4D97-AF65-F5344CB8AC3E}">
        <p14:creationId xmlns:p14="http://schemas.microsoft.com/office/powerpoint/2010/main" val="31638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AC21AD5-9265-4BAB-9154-93333A51C1C1}" type="slidenum">
              <a:rPr lang="en-US"/>
              <a:pPr>
                <a:defRPr/>
              </a:pPr>
              <a:t>8</a:t>
            </a:fld>
            <a:endParaRPr lang="en-US"/>
          </a:p>
        </p:txBody>
      </p:sp>
      <p:sp>
        <p:nvSpPr>
          <p:cNvPr id="12291" name="Rectangle 3"/>
          <p:cNvSpPr>
            <a:spLocks noGrp="1" noChangeArrowheads="1"/>
          </p:cNvSpPr>
          <p:nvPr>
            <p:ph type="body" idx="1"/>
          </p:nvPr>
        </p:nvSpPr>
        <p:spPr>
          <a:xfrm>
            <a:off x="457200" y="609600"/>
            <a:ext cx="8229600" cy="1905000"/>
          </a:xfrm>
        </p:spPr>
        <p:txBody>
          <a:bodyPr/>
          <a:lstStyle/>
          <a:p>
            <a:pPr marL="609600" indent="-609600" algn="just" eaLnBrk="1" hangingPunct="1">
              <a:buFontTx/>
              <a:buAutoNum type="arabicParenR" startAt="3"/>
            </a:pPr>
            <a:r>
              <a:rPr lang="en-US" altLang="en-US" sz="2800" dirty="0">
                <a:latin typeface="Book Antiqua" pitchFamily="18" charset="0"/>
              </a:rPr>
              <a:t>If the signature of the two functions differ in either the number or type of their arguments, the two functions are considered to be overloaded.</a:t>
            </a:r>
          </a:p>
        </p:txBody>
      </p:sp>
    </p:spTree>
    <p:extLst>
      <p:ext uri="{BB962C8B-B14F-4D97-AF65-F5344CB8AC3E}">
        <p14:creationId xmlns:p14="http://schemas.microsoft.com/office/powerpoint/2010/main" val="1480126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CA5FBC63-EB11-4602-9A97-95C4D7C93AC7}" type="slidenum">
              <a:rPr lang="en-US"/>
              <a:pPr>
                <a:defRPr/>
              </a:pPr>
              <a:t>9</a:t>
            </a:fld>
            <a:endParaRPr lang="en-US"/>
          </a:p>
        </p:txBody>
      </p:sp>
      <p:sp>
        <p:nvSpPr>
          <p:cNvPr id="15363" name="Rectangle 2"/>
          <p:cNvSpPr>
            <a:spLocks noGrp="1" noChangeArrowheads="1"/>
          </p:cNvSpPr>
          <p:nvPr>
            <p:ph type="title"/>
          </p:nvPr>
        </p:nvSpPr>
        <p:spPr/>
        <p:txBody>
          <a:bodyPr/>
          <a:lstStyle/>
          <a:p>
            <a:pPr eaLnBrk="1" hangingPunct="1"/>
            <a:r>
              <a:rPr lang="en-US" altLang="en-US" sz="4000" dirty="0"/>
              <a:t>C</a:t>
            </a:r>
            <a:r>
              <a:rPr lang="en-US" altLang="en-US" sz="3600" dirty="0"/>
              <a:t>ALLING </a:t>
            </a:r>
            <a:r>
              <a:rPr lang="en-US" altLang="en-US" sz="4000" dirty="0"/>
              <a:t>O</a:t>
            </a:r>
            <a:r>
              <a:rPr lang="en-US" altLang="en-US" sz="3600" dirty="0"/>
              <a:t>VERLOADED </a:t>
            </a:r>
            <a:r>
              <a:rPr lang="en-US" altLang="en-US" sz="4000" dirty="0"/>
              <a:t>F</a:t>
            </a:r>
            <a:r>
              <a:rPr lang="en-US" altLang="en-US" sz="3600" dirty="0"/>
              <a:t>UNCTIONS</a:t>
            </a:r>
          </a:p>
        </p:txBody>
      </p:sp>
      <p:sp>
        <p:nvSpPr>
          <p:cNvPr id="15364" name="Rectangle 3"/>
          <p:cNvSpPr>
            <a:spLocks noGrp="1" noChangeArrowheads="1"/>
          </p:cNvSpPr>
          <p:nvPr>
            <p:ph type="body" idx="1"/>
          </p:nvPr>
        </p:nvSpPr>
        <p:spPr/>
        <p:txBody>
          <a:bodyPr>
            <a:normAutofit fontScale="92500" lnSpcReduction="10000"/>
          </a:bodyPr>
          <a:lstStyle/>
          <a:p>
            <a:pPr algn="just" eaLnBrk="1" hangingPunct="1">
              <a:buFontTx/>
              <a:buNone/>
            </a:pPr>
            <a:r>
              <a:rPr lang="en-US" altLang="en-US" sz="2800" dirty="0">
                <a:latin typeface="Book Antiqua" pitchFamily="18" charset="0"/>
              </a:rPr>
              <a:t>Overloaded functions are called just like other functions. The number and type of arguments determine which function should be invoked.</a:t>
            </a:r>
          </a:p>
          <a:p>
            <a:pPr algn="just" eaLnBrk="1" hangingPunct="1">
              <a:buFontTx/>
              <a:buNone/>
            </a:pPr>
            <a:r>
              <a:rPr lang="en-US" altLang="en-US" sz="2800" dirty="0">
                <a:latin typeface="Book Antiqua" pitchFamily="18" charset="0"/>
              </a:rPr>
              <a:t>For instance consider the following code fragment:</a:t>
            </a:r>
          </a:p>
          <a:p>
            <a:r>
              <a:rPr lang="en-US" altLang="en-US" sz="2800" dirty="0">
                <a:latin typeface="Book Antiqua" pitchFamily="18" charset="0"/>
              </a:rPr>
              <a:t>	</a:t>
            </a:r>
            <a:r>
              <a:rPr lang="en-US" sz="2800" dirty="0"/>
              <a:t>//function call </a:t>
            </a:r>
          </a:p>
          <a:p>
            <a:pPr marL="0" indent="0">
              <a:buNone/>
            </a:pPr>
            <a:r>
              <a:rPr lang="en-US" sz="2800" dirty="0"/>
              <a:t>         </a:t>
            </a:r>
            <a:r>
              <a:rPr lang="en-US" sz="2800" dirty="0" err="1"/>
              <a:t>cout</a:t>
            </a:r>
            <a:r>
              <a:rPr lang="en-US" sz="2800" dirty="0"/>
              <a:t>&lt;&lt;add(5,10); //uses prototype 1 </a:t>
            </a:r>
          </a:p>
          <a:p>
            <a:pPr marL="0" indent="0">
              <a:buNone/>
            </a:pPr>
            <a:r>
              <a:rPr lang="en-US" sz="2800" dirty="0"/>
              <a:t>          </a:t>
            </a:r>
            <a:r>
              <a:rPr lang="en-US" sz="2800" dirty="0" err="1"/>
              <a:t>cout</a:t>
            </a:r>
            <a:r>
              <a:rPr lang="en-US" sz="2800" dirty="0"/>
              <a:t>&lt;&lt;add(5,10,15); //uses prototype 2 </a:t>
            </a:r>
          </a:p>
          <a:p>
            <a:pPr marL="0" indent="0">
              <a:buNone/>
            </a:pPr>
            <a:r>
              <a:rPr lang="en-US" sz="2800" dirty="0"/>
              <a:t>          </a:t>
            </a:r>
            <a:r>
              <a:rPr lang="en-US" sz="2800" dirty="0" err="1"/>
              <a:t>cout</a:t>
            </a:r>
            <a:r>
              <a:rPr lang="en-US" sz="2800" dirty="0"/>
              <a:t>&lt;&lt;add(12.5,7.5); //uses prototype 3 </a:t>
            </a:r>
          </a:p>
          <a:p>
            <a:pPr marL="0" indent="0">
              <a:buNone/>
            </a:pPr>
            <a:endParaRPr lang="en-US" sz="2800" dirty="0"/>
          </a:p>
          <a:p>
            <a:pPr marL="0" indent="0">
              <a:buNone/>
            </a:pPr>
            <a:r>
              <a:rPr lang="en-US" sz="2800" dirty="0"/>
              <a:t>         </a:t>
            </a:r>
            <a:endParaRPr lang="en-US" altLang="en-US" sz="2800" dirty="0">
              <a:latin typeface="Courier New" pitchFamily="49" charset="0"/>
            </a:endParaRPr>
          </a:p>
        </p:txBody>
      </p:sp>
    </p:spTree>
    <p:extLst>
      <p:ext uri="{BB962C8B-B14F-4D97-AF65-F5344CB8AC3E}">
        <p14:creationId xmlns:p14="http://schemas.microsoft.com/office/powerpoint/2010/main" val="852127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648A421E-2925-4D21-9FCC-514F228644D1}" type="slidenum">
              <a:rPr lang="en-US"/>
              <a:pPr>
                <a:defRPr/>
              </a:pPr>
              <a:t>10</a:t>
            </a:fld>
            <a:endParaRPr lang="en-US"/>
          </a:p>
        </p:txBody>
      </p:sp>
      <p:sp>
        <p:nvSpPr>
          <p:cNvPr id="16387" name="Rectangle 2"/>
          <p:cNvSpPr>
            <a:spLocks noGrp="1" noChangeArrowheads="1"/>
          </p:cNvSpPr>
          <p:nvPr>
            <p:ph type="title"/>
          </p:nvPr>
        </p:nvSpPr>
        <p:spPr/>
        <p:txBody>
          <a:bodyPr>
            <a:normAutofit fontScale="90000"/>
          </a:bodyPr>
          <a:lstStyle/>
          <a:p>
            <a:pPr eaLnBrk="1" hangingPunct="1"/>
            <a:r>
              <a:rPr lang="en-US" altLang="en-US" dirty="0"/>
              <a:t>Steps Involved in Finding the Best Match for a function call</a:t>
            </a:r>
          </a:p>
        </p:txBody>
      </p:sp>
      <p:sp>
        <p:nvSpPr>
          <p:cNvPr id="16388" name="Rectangle 3"/>
          <p:cNvSpPr>
            <a:spLocks noGrp="1" noChangeArrowheads="1"/>
          </p:cNvSpPr>
          <p:nvPr>
            <p:ph type="body" idx="1"/>
          </p:nvPr>
        </p:nvSpPr>
        <p:spPr/>
        <p:txBody>
          <a:bodyPr>
            <a:normAutofit lnSpcReduction="10000"/>
          </a:bodyPr>
          <a:lstStyle/>
          <a:p>
            <a:pPr marL="609600" indent="-609600" algn="just" eaLnBrk="1" hangingPunct="1">
              <a:lnSpc>
                <a:spcPct val="150000"/>
              </a:lnSpc>
              <a:buFontTx/>
              <a:buNone/>
            </a:pPr>
            <a:r>
              <a:rPr lang="en-US" altLang="en-US" sz="2400" dirty="0">
                <a:latin typeface="Book Antiqua" pitchFamily="18" charset="0"/>
              </a:rPr>
              <a:t>A call to an overloaded function is resolved to a particular instance of the function, there are three possible cases, a function call may result in:</a:t>
            </a:r>
          </a:p>
          <a:p>
            <a:pPr marL="609600" indent="-609600" algn="just" eaLnBrk="1" hangingPunct="1">
              <a:lnSpc>
                <a:spcPct val="150000"/>
              </a:lnSpc>
              <a:buFontTx/>
              <a:buAutoNum type="alphaLcParenR"/>
            </a:pPr>
            <a:r>
              <a:rPr lang="en-US" altLang="en-US" sz="2400" dirty="0">
                <a:latin typeface="Arial Black" pitchFamily="34" charset="0"/>
              </a:rPr>
              <a:t>Exact match</a:t>
            </a:r>
            <a:r>
              <a:rPr lang="en-US" altLang="en-US" sz="2400" b="1" dirty="0">
                <a:latin typeface="Arial Black" pitchFamily="34" charset="0"/>
              </a:rPr>
              <a:t>  - </a:t>
            </a:r>
            <a:r>
              <a:rPr lang="en-US" altLang="en-US" sz="2400" dirty="0">
                <a:latin typeface="Book Antiqua" pitchFamily="18" charset="0"/>
              </a:rPr>
              <a:t>A match is found for the function call.</a:t>
            </a:r>
          </a:p>
          <a:p>
            <a:pPr marL="609600" indent="-609600" algn="just" eaLnBrk="1" hangingPunct="1">
              <a:lnSpc>
                <a:spcPct val="150000"/>
              </a:lnSpc>
              <a:buFontTx/>
              <a:buAutoNum type="alphaLcParenR"/>
            </a:pPr>
            <a:r>
              <a:rPr lang="en-US" altLang="en-US" sz="2400" dirty="0">
                <a:latin typeface="Arial Black" pitchFamily="34" charset="0"/>
              </a:rPr>
              <a:t>No match</a:t>
            </a:r>
            <a:r>
              <a:rPr lang="en-US" altLang="en-US" sz="2400" b="1" dirty="0">
                <a:latin typeface="Arial Black" pitchFamily="34" charset="0"/>
              </a:rPr>
              <a:t> -</a:t>
            </a:r>
            <a:r>
              <a:rPr lang="en-US" altLang="en-US" sz="2400" dirty="0">
                <a:latin typeface="Book Antiqua" pitchFamily="18" charset="0"/>
              </a:rPr>
              <a:t> No match is found for the function call.</a:t>
            </a:r>
          </a:p>
          <a:p>
            <a:pPr marL="0" indent="0" algn="just" eaLnBrk="1" hangingPunct="1">
              <a:lnSpc>
                <a:spcPct val="150000"/>
              </a:lnSpc>
              <a:buFontTx/>
              <a:buAutoNum type="alphaLcParenR"/>
              <a:tabLst>
                <a:tab pos="0" algn="l"/>
              </a:tabLst>
            </a:pPr>
            <a:r>
              <a:rPr lang="en-US" altLang="en-US" sz="2400" b="1" dirty="0">
                <a:latin typeface="Arial Black" pitchFamily="34" charset="0"/>
              </a:rPr>
              <a:t>   Ambiguous Match - </a:t>
            </a:r>
            <a:r>
              <a:rPr lang="en-US" altLang="en-US" sz="2400" dirty="0">
                <a:latin typeface="Book Antiqua" pitchFamily="18" charset="0"/>
              </a:rPr>
              <a:t>More than one defined 	instance for the function call.</a:t>
            </a:r>
          </a:p>
        </p:txBody>
      </p:sp>
    </p:spTree>
    <p:extLst>
      <p:ext uri="{BB962C8B-B14F-4D97-AF65-F5344CB8AC3E}">
        <p14:creationId xmlns:p14="http://schemas.microsoft.com/office/powerpoint/2010/main" val="627279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666DA46-51C7-478E-8EAC-B824DC668B30}" type="slidenum">
              <a:rPr lang="en-US"/>
              <a:pPr>
                <a:defRPr/>
              </a:pPr>
              <a:t>11</a:t>
            </a:fld>
            <a:endParaRPr lang="en-US"/>
          </a:p>
        </p:txBody>
      </p:sp>
      <p:sp>
        <p:nvSpPr>
          <p:cNvPr id="17411" name="Rectangle 2"/>
          <p:cNvSpPr>
            <a:spLocks noGrp="1" noChangeArrowheads="1"/>
          </p:cNvSpPr>
          <p:nvPr>
            <p:ph type="title"/>
          </p:nvPr>
        </p:nvSpPr>
        <p:spPr>
          <a:xfrm>
            <a:off x="457200" y="214290"/>
            <a:ext cx="8229600" cy="654032"/>
          </a:xfrm>
        </p:spPr>
        <p:txBody>
          <a:bodyPr/>
          <a:lstStyle/>
          <a:p>
            <a:pPr eaLnBrk="1" hangingPunct="1">
              <a:buClr>
                <a:srgbClr val="FFFF66"/>
              </a:buClr>
            </a:pPr>
            <a:r>
              <a:rPr lang="en-US" altLang="en-US" sz="3600" dirty="0">
                <a:latin typeface="Arial Black" pitchFamily="34" charset="0"/>
              </a:rPr>
              <a:t>1. Exact Match</a:t>
            </a:r>
          </a:p>
        </p:txBody>
      </p:sp>
      <p:sp>
        <p:nvSpPr>
          <p:cNvPr id="17412" name="Rectangle 3"/>
          <p:cNvSpPr>
            <a:spLocks noGrp="1" noChangeArrowheads="1"/>
          </p:cNvSpPr>
          <p:nvPr>
            <p:ph type="body" idx="1"/>
          </p:nvPr>
        </p:nvSpPr>
        <p:spPr>
          <a:xfrm>
            <a:off x="142844" y="1000108"/>
            <a:ext cx="8839200" cy="5572164"/>
          </a:xfrm>
        </p:spPr>
        <p:txBody>
          <a:bodyPr>
            <a:normAutofit fontScale="92500" lnSpcReduction="10000"/>
          </a:bodyPr>
          <a:lstStyle/>
          <a:p>
            <a:pPr algn="just" eaLnBrk="1" hangingPunct="1">
              <a:lnSpc>
                <a:spcPct val="150000"/>
              </a:lnSpc>
              <a:buFontTx/>
              <a:buNone/>
            </a:pPr>
            <a:r>
              <a:rPr lang="en-US" altLang="en-US" sz="2800" dirty="0">
                <a:latin typeface="Book Antiqua" pitchFamily="18" charset="0"/>
              </a:rPr>
              <a:t>For example, there are two functions with same name </a:t>
            </a:r>
            <a:r>
              <a:rPr lang="en-US" altLang="en-US" sz="2800" dirty="0" err="1">
                <a:latin typeface="Book Antiqua" pitchFamily="18" charset="0"/>
              </a:rPr>
              <a:t>afunc</a:t>
            </a:r>
            <a:r>
              <a:rPr lang="en-US" altLang="en-US" sz="2800" dirty="0">
                <a:latin typeface="Book Antiqua" pitchFamily="18" charset="0"/>
              </a:rPr>
              <a:t>:</a:t>
            </a:r>
          </a:p>
          <a:p>
            <a:pPr algn="just" eaLnBrk="1" hangingPunct="1">
              <a:lnSpc>
                <a:spcPct val="150000"/>
              </a:lnSpc>
              <a:buFontTx/>
              <a:buNone/>
            </a:pPr>
            <a:r>
              <a:rPr lang="en-US" altLang="en-US" sz="2800" i="1" dirty="0">
                <a:latin typeface="Book Antiqua" pitchFamily="18" charset="0"/>
              </a:rPr>
              <a:t>	void </a:t>
            </a:r>
            <a:r>
              <a:rPr lang="en-US" altLang="en-US" sz="2800" dirty="0" err="1">
                <a:latin typeface="Book Antiqua" pitchFamily="18" charset="0"/>
              </a:rPr>
              <a:t>afunc</a:t>
            </a:r>
            <a:r>
              <a:rPr lang="en-US" altLang="en-US" sz="2800" dirty="0">
                <a:latin typeface="Book Antiqua" pitchFamily="18" charset="0"/>
              </a:rPr>
              <a:t>(</a:t>
            </a:r>
            <a:r>
              <a:rPr lang="en-US" altLang="en-US" sz="2800" dirty="0" err="1">
                <a:latin typeface="Book Antiqua" pitchFamily="18" charset="0"/>
              </a:rPr>
              <a:t>int</a:t>
            </a:r>
            <a:r>
              <a:rPr lang="en-US" altLang="en-US" sz="2800" dirty="0">
                <a:latin typeface="Book Antiqua" pitchFamily="18" charset="0"/>
              </a:rPr>
              <a:t>);</a:t>
            </a:r>
          </a:p>
          <a:p>
            <a:pPr algn="just" eaLnBrk="1" hangingPunct="1">
              <a:lnSpc>
                <a:spcPct val="150000"/>
              </a:lnSpc>
              <a:buFontTx/>
              <a:buNone/>
            </a:pPr>
            <a:r>
              <a:rPr lang="en-US" altLang="en-US" sz="2800" dirty="0">
                <a:latin typeface="Book Antiqua" pitchFamily="18" charset="0"/>
              </a:rPr>
              <a:t>	</a:t>
            </a:r>
            <a:r>
              <a:rPr lang="en-US" altLang="en-US" sz="2800" i="1" dirty="0">
                <a:latin typeface="Book Antiqua" pitchFamily="18" charset="0"/>
              </a:rPr>
              <a:t>void</a:t>
            </a:r>
            <a:r>
              <a:rPr lang="en-US" altLang="en-US" sz="2800" dirty="0">
                <a:latin typeface="Book Antiqua" pitchFamily="18" charset="0"/>
              </a:rPr>
              <a:t> </a:t>
            </a:r>
            <a:r>
              <a:rPr lang="en-US" altLang="en-US" sz="2800" dirty="0" err="1">
                <a:latin typeface="Book Antiqua" pitchFamily="18" charset="0"/>
              </a:rPr>
              <a:t>afunc</a:t>
            </a:r>
            <a:r>
              <a:rPr lang="en-US" altLang="en-US" sz="2800" dirty="0">
                <a:latin typeface="Book Antiqua" pitchFamily="18" charset="0"/>
              </a:rPr>
              <a:t>(double);</a:t>
            </a:r>
          </a:p>
          <a:p>
            <a:pPr algn="just" eaLnBrk="1" hangingPunct="1">
              <a:lnSpc>
                <a:spcPct val="150000"/>
              </a:lnSpc>
              <a:buFontTx/>
              <a:buNone/>
            </a:pPr>
            <a:r>
              <a:rPr lang="en-US" altLang="en-US" sz="2800" dirty="0">
                <a:latin typeface="Book Antiqua" pitchFamily="18" charset="0"/>
              </a:rPr>
              <a:t>The function call 	</a:t>
            </a:r>
          </a:p>
          <a:p>
            <a:pPr algn="just" eaLnBrk="1" hangingPunct="1">
              <a:lnSpc>
                <a:spcPct val="150000"/>
              </a:lnSpc>
              <a:buFontTx/>
              <a:buNone/>
            </a:pPr>
            <a:r>
              <a:rPr lang="en-US" altLang="en-US" sz="2800" dirty="0" err="1">
                <a:latin typeface="Book Antiqua" pitchFamily="18" charset="0"/>
              </a:rPr>
              <a:t>afunc</a:t>
            </a:r>
            <a:r>
              <a:rPr lang="en-US" altLang="en-US" sz="2800" dirty="0">
                <a:latin typeface="Book Antiqua" pitchFamily="18" charset="0"/>
              </a:rPr>
              <a:t>(10); </a:t>
            </a:r>
          </a:p>
          <a:p>
            <a:pPr algn="just">
              <a:lnSpc>
                <a:spcPct val="150000"/>
              </a:lnSpc>
              <a:buNone/>
            </a:pPr>
            <a:r>
              <a:rPr lang="en-US" altLang="en-US" sz="2800" dirty="0">
                <a:latin typeface="Book Antiqua" pitchFamily="18" charset="0"/>
              </a:rPr>
              <a:t>is matched to </a:t>
            </a:r>
            <a:r>
              <a:rPr lang="en-US" altLang="en-US" sz="2800" i="1" dirty="0">
                <a:latin typeface="Book Antiqua" pitchFamily="18" charset="0"/>
              </a:rPr>
              <a:t>void </a:t>
            </a:r>
            <a:r>
              <a:rPr lang="en-US" altLang="en-US" sz="2800" dirty="0" err="1">
                <a:latin typeface="Book Antiqua" pitchFamily="18" charset="0"/>
              </a:rPr>
              <a:t>afunc</a:t>
            </a:r>
            <a:r>
              <a:rPr lang="en-US" altLang="en-US" sz="2800" dirty="0">
                <a:latin typeface="Book Antiqua" pitchFamily="18" charset="0"/>
              </a:rPr>
              <a:t>(</a:t>
            </a:r>
            <a:r>
              <a:rPr lang="en-US" altLang="en-US" sz="2800" dirty="0" err="1">
                <a:latin typeface="Book Antiqua" pitchFamily="18" charset="0"/>
              </a:rPr>
              <a:t>int</a:t>
            </a:r>
            <a:r>
              <a:rPr lang="en-US" altLang="en-US" sz="2800" dirty="0">
                <a:latin typeface="Book Antiqua" pitchFamily="18" charset="0"/>
              </a:rPr>
              <a:t>); and compiler invokes corresponding function definition</a:t>
            </a:r>
          </a:p>
          <a:p>
            <a:pPr algn="just" eaLnBrk="1" hangingPunct="1">
              <a:lnSpc>
                <a:spcPct val="150000"/>
              </a:lnSpc>
              <a:buFontTx/>
              <a:buNone/>
            </a:pPr>
            <a:r>
              <a:rPr lang="en-US" altLang="en-US" sz="2800" b="1" dirty="0">
                <a:latin typeface="Book Antiqua" pitchFamily="18" charset="0"/>
              </a:rPr>
              <a:t>as </a:t>
            </a:r>
            <a:r>
              <a:rPr lang="en-US" altLang="en-US" sz="2800" b="1">
                <a:latin typeface="Book Antiqua" pitchFamily="18" charset="0"/>
              </a:rPr>
              <a:t>10 </a:t>
            </a:r>
            <a:r>
              <a:rPr lang="en-US" altLang="en-US" sz="2800">
                <a:latin typeface="Book Antiqua" pitchFamily="18" charset="0"/>
              </a:rPr>
              <a:t>is </a:t>
            </a:r>
            <a:r>
              <a:rPr lang="en-US" altLang="en-US" sz="2800" dirty="0">
                <a:latin typeface="Book Antiqua" pitchFamily="18" charset="0"/>
              </a:rPr>
              <a:t>of type </a:t>
            </a:r>
            <a:r>
              <a:rPr lang="en-US" altLang="en-US" sz="2800" b="1" dirty="0" err="1">
                <a:latin typeface="Book Antiqua" pitchFamily="18" charset="0"/>
              </a:rPr>
              <a:t>int</a:t>
            </a:r>
            <a:endParaRPr lang="en-US" altLang="en-US" sz="2800" b="1" dirty="0">
              <a:latin typeface="Book Antiqua" pitchFamily="18" charset="0"/>
            </a:endParaRPr>
          </a:p>
        </p:txBody>
      </p:sp>
      <p:sp>
        <p:nvSpPr>
          <p:cNvPr id="17413" name="Text Box 4"/>
          <p:cNvSpPr txBox="1">
            <a:spLocks noChangeArrowheads="1"/>
          </p:cNvSpPr>
          <p:nvPr/>
        </p:nvSpPr>
        <p:spPr bwMode="auto">
          <a:xfrm>
            <a:off x="4724400" y="3322638"/>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hangingPunct="0">
              <a:buChar char="•"/>
              <a:defRPr sz="3200">
                <a:solidFill>
                  <a:schemeClr val="tx1"/>
                </a:solidFill>
                <a:latin typeface="Arial" charset="0"/>
                <a:cs typeface="Arial" charset="0"/>
              </a:defRPr>
            </a:lvl1pPr>
            <a:lvl2pPr marL="742950" indent="-285750" algn="l" eaLnBrk="0" hangingPunct="0">
              <a:buChar char="–"/>
              <a:defRPr sz="2800">
                <a:solidFill>
                  <a:schemeClr val="tx1"/>
                </a:solidFill>
                <a:latin typeface="Arial" charset="0"/>
                <a:cs typeface="Arial" charset="0"/>
              </a:defRPr>
            </a:lvl2pPr>
            <a:lvl3pPr marL="1143000" indent="-228600" algn="l" eaLnBrk="0" hangingPunct="0">
              <a:buChar char="•"/>
              <a:defRPr sz="2400">
                <a:solidFill>
                  <a:schemeClr val="tx1"/>
                </a:solidFill>
                <a:latin typeface="Arial" charset="0"/>
                <a:cs typeface="Arial" charset="0"/>
              </a:defRPr>
            </a:lvl3pPr>
            <a:lvl4pPr marL="1600200" indent="-228600" algn="l" eaLnBrk="0" hangingPunct="0">
              <a:buChar char="–"/>
              <a:defRPr sz="2000">
                <a:solidFill>
                  <a:schemeClr val="tx1"/>
                </a:solidFill>
                <a:latin typeface="Arial" charset="0"/>
                <a:cs typeface="Arial" charset="0"/>
              </a:defRPr>
            </a:lvl4pPr>
            <a:lvl5pPr marL="2057400" indent="-228600" algn="l" eaLnBrk="0" hangingPunc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just" eaLnBrk="1" hangingPunct="1">
              <a:spcBef>
                <a:spcPct val="50000"/>
              </a:spcBef>
              <a:buFontTx/>
              <a:buNone/>
            </a:pPr>
            <a:r>
              <a:rPr lang="en-US" altLang="en-US" sz="2400">
                <a:solidFill>
                  <a:schemeClr val="bg1"/>
                </a:solidFill>
                <a:latin typeface="Book Antiqua" pitchFamily="18" charset="0"/>
              </a:rPr>
              <a:t>//overloaded functions</a:t>
            </a:r>
          </a:p>
        </p:txBody>
      </p:sp>
      <p:sp>
        <p:nvSpPr>
          <p:cNvPr id="17414" name="Text Box 6"/>
          <p:cNvSpPr txBox="1">
            <a:spLocks noChangeArrowheads="1"/>
          </p:cNvSpPr>
          <p:nvPr/>
        </p:nvSpPr>
        <p:spPr bwMode="auto">
          <a:xfrm>
            <a:off x="3810000" y="4389438"/>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hangingPunct="0">
              <a:buChar char="•"/>
              <a:defRPr sz="3200">
                <a:solidFill>
                  <a:schemeClr val="tx1"/>
                </a:solidFill>
                <a:latin typeface="Arial" charset="0"/>
                <a:cs typeface="Arial" charset="0"/>
              </a:defRPr>
            </a:lvl1pPr>
            <a:lvl2pPr marL="742950" indent="-285750" algn="l" eaLnBrk="0" hangingPunct="0">
              <a:buChar char="–"/>
              <a:defRPr sz="2800">
                <a:solidFill>
                  <a:schemeClr val="tx1"/>
                </a:solidFill>
                <a:latin typeface="Arial" charset="0"/>
                <a:cs typeface="Arial" charset="0"/>
              </a:defRPr>
            </a:lvl2pPr>
            <a:lvl3pPr marL="1143000" indent="-228600" algn="l" eaLnBrk="0" hangingPunct="0">
              <a:buChar char="•"/>
              <a:defRPr sz="2400">
                <a:solidFill>
                  <a:schemeClr val="tx1"/>
                </a:solidFill>
                <a:latin typeface="Arial" charset="0"/>
                <a:cs typeface="Arial" charset="0"/>
              </a:defRPr>
            </a:lvl3pPr>
            <a:lvl4pPr marL="1600200" indent="-228600" algn="l" eaLnBrk="0" hangingPunct="0">
              <a:buChar char="–"/>
              <a:defRPr sz="2000">
                <a:solidFill>
                  <a:schemeClr val="tx1"/>
                </a:solidFill>
                <a:latin typeface="Arial" charset="0"/>
                <a:cs typeface="Arial" charset="0"/>
              </a:defRPr>
            </a:lvl4pPr>
            <a:lvl5pPr marL="2057400" indent="-228600" algn="l" eaLnBrk="0" hangingPunc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just" eaLnBrk="1" hangingPunct="1">
              <a:spcBef>
                <a:spcPct val="50000"/>
              </a:spcBef>
              <a:buFontTx/>
              <a:buNone/>
            </a:pPr>
            <a:r>
              <a:rPr lang="en-US" altLang="en-US" sz="2400">
                <a:solidFill>
                  <a:schemeClr val="bg1"/>
                </a:solidFill>
                <a:latin typeface="Book Antiqua" pitchFamily="18" charset="0"/>
              </a:rPr>
              <a:t>//exactly match. Matches afunc(int)</a:t>
            </a:r>
          </a:p>
        </p:txBody>
      </p:sp>
    </p:spTree>
    <p:extLst>
      <p:ext uri="{BB962C8B-B14F-4D97-AF65-F5344CB8AC3E}">
        <p14:creationId xmlns:p14="http://schemas.microsoft.com/office/powerpoint/2010/main" val="4169088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3A8A46DB-A9E2-4956-91DC-4CBCB276F23A}" type="slidenum">
              <a:rPr lang="en-US"/>
              <a:pPr>
                <a:defRPr/>
              </a:pPr>
              <a:t>12</a:t>
            </a:fld>
            <a:endParaRPr lang="en-US"/>
          </a:p>
        </p:txBody>
      </p:sp>
      <p:sp>
        <p:nvSpPr>
          <p:cNvPr id="18435" name="Rectangle 2"/>
          <p:cNvSpPr>
            <a:spLocks noGrp="1" noChangeArrowheads="1"/>
          </p:cNvSpPr>
          <p:nvPr>
            <p:ph type="title"/>
          </p:nvPr>
        </p:nvSpPr>
        <p:spPr>
          <a:xfrm>
            <a:off x="152400" y="274638"/>
            <a:ext cx="8991600" cy="1143000"/>
          </a:xfrm>
        </p:spPr>
        <p:txBody>
          <a:bodyPr/>
          <a:lstStyle/>
          <a:p>
            <a:pPr marL="838200" indent="-838200" eaLnBrk="1" hangingPunct="1"/>
            <a:r>
              <a:rPr lang="en-US" altLang="en-US" sz="4000" dirty="0">
                <a:latin typeface="Arial Black" pitchFamily="34" charset="0"/>
              </a:rPr>
              <a:t>2. A match through promotion</a:t>
            </a:r>
          </a:p>
        </p:txBody>
      </p:sp>
      <p:sp>
        <p:nvSpPr>
          <p:cNvPr id="18436" name="Rectangle 3"/>
          <p:cNvSpPr>
            <a:spLocks noGrp="1" noChangeArrowheads="1"/>
          </p:cNvSpPr>
          <p:nvPr>
            <p:ph type="body" idx="1"/>
          </p:nvPr>
        </p:nvSpPr>
        <p:spPr>
          <a:xfrm>
            <a:off x="457200" y="1357298"/>
            <a:ext cx="8229600" cy="4768865"/>
          </a:xfrm>
        </p:spPr>
        <p:txBody>
          <a:bodyPr/>
          <a:lstStyle/>
          <a:p>
            <a:pPr algn="just" eaLnBrk="1" hangingPunct="1">
              <a:lnSpc>
                <a:spcPct val="150000"/>
              </a:lnSpc>
              <a:buFontTx/>
              <a:buNone/>
            </a:pPr>
            <a:r>
              <a:rPr lang="en-US" altLang="en-US" sz="2800" dirty="0">
                <a:latin typeface="Book Antiqua" pitchFamily="18" charset="0"/>
              </a:rPr>
              <a:t>If no exact match is found, an attempt is made to achieve a match through promotion of the actual argument.</a:t>
            </a:r>
          </a:p>
          <a:p>
            <a:pPr algn="just" eaLnBrk="1" hangingPunct="1">
              <a:lnSpc>
                <a:spcPct val="150000"/>
              </a:lnSpc>
              <a:buFontTx/>
              <a:buNone/>
            </a:pPr>
            <a:r>
              <a:rPr lang="en-US" altLang="en-US" sz="2800" dirty="0">
                <a:latin typeface="Book Antiqua" pitchFamily="18" charset="0"/>
              </a:rPr>
              <a:t>Recall that the conversion of integer types </a:t>
            </a:r>
            <a:r>
              <a:rPr lang="en-US" altLang="en-US" sz="2800" b="1" dirty="0">
                <a:latin typeface="Book Antiqua" pitchFamily="18" charset="0"/>
              </a:rPr>
              <a:t>(char, short, </a:t>
            </a:r>
            <a:r>
              <a:rPr lang="en-US" altLang="en-US" sz="2800" b="1" dirty="0" err="1">
                <a:latin typeface="Book Antiqua" pitchFamily="18" charset="0"/>
              </a:rPr>
              <a:t>int</a:t>
            </a:r>
            <a:r>
              <a:rPr lang="en-US" altLang="en-US" sz="2800" b="1" dirty="0">
                <a:latin typeface="Book Antiqua" pitchFamily="18" charset="0"/>
              </a:rPr>
              <a:t>)</a:t>
            </a:r>
            <a:r>
              <a:rPr lang="en-US" altLang="en-US" sz="2800" dirty="0">
                <a:latin typeface="Book Antiqua" pitchFamily="18" charset="0"/>
              </a:rPr>
              <a:t> into </a:t>
            </a:r>
            <a:r>
              <a:rPr lang="en-US" altLang="en-US" sz="2800" b="1" dirty="0" err="1">
                <a:latin typeface="Book Antiqua" pitchFamily="18" charset="0"/>
              </a:rPr>
              <a:t>int</a:t>
            </a:r>
            <a:r>
              <a:rPr lang="en-US" altLang="en-US" sz="2800" dirty="0">
                <a:latin typeface="Book Antiqua" pitchFamily="18" charset="0"/>
              </a:rPr>
              <a:t> - </a:t>
            </a:r>
            <a:r>
              <a:rPr lang="en-US" altLang="en-US" sz="2800" i="1" dirty="0">
                <a:latin typeface="Book Antiqua" pitchFamily="18" charset="0"/>
              </a:rPr>
              <a:t>integral promotion. </a:t>
            </a:r>
          </a:p>
          <a:p>
            <a:r>
              <a:rPr lang="en-US" sz="2800" b="1" dirty="0"/>
              <a:t>float</a:t>
            </a:r>
            <a:r>
              <a:rPr lang="en-US" sz="2800" dirty="0"/>
              <a:t> to </a:t>
            </a:r>
            <a:r>
              <a:rPr lang="en-US" sz="2800" b="1" dirty="0"/>
              <a:t>double</a:t>
            </a:r>
            <a:r>
              <a:rPr lang="en-US" sz="2800" dirty="0"/>
              <a:t> </a:t>
            </a:r>
            <a:endParaRPr lang="en-US" altLang="en-US" sz="2800" dirty="0">
              <a:latin typeface="Book Antiqua" pitchFamily="18" charset="0"/>
            </a:endParaRPr>
          </a:p>
          <a:p>
            <a:pPr algn="just" eaLnBrk="1" hangingPunct="1">
              <a:lnSpc>
                <a:spcPct val="150000"/>
              </a:lnSpc>
              <a:buFontTx/>
              <a:buNone/>
            </a:pPr>
            <a:endParaRPr lang="en-US" altLang="en-US" sz="2800" b="1" dirty="0">
              <a:latin typeface="Book Antiqua" pitchFamily="18" charset="0"/>
            </a:endParaRPr>
          </a:p>
        </p:txBody>
      </p:sp>
    </p:spTree>
    <p:extLst>
      <p:ext uri="{BB962C8B-B14F-4D97-AF65-F5344CB8AC3E}">
        <p14:creationId xmlns:p14="http://schemas.microsoft.com/office/powerpoint/2010/main" val="3506203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47B29185-7CCD-47C8-96A1-F4920102960F}" type="slidenum">
              <a:rPr lang="en-US"/>
              <a:pPr>
                <a:defRPr/>
              </a:pPr>
              <a:t>13</a:t>
            </a:fld>
            <a:endParaRPr lang="en-US"/>
          </a:p>
        </p:txBody>
      </p:sp>
      <p:sp>
        <p:nvSpPr>
          <p:cNvPr id="19459" name="Rectangle 3"/>
          <p:cNvSpPr>
            <a:spLocks noGrp="1" noChangeArrowheads="1"/>
          </p:cNvSpPr>
          <p:nvPr>
            <p:ph type="body" idx="1"/>
          </p:nvPr>
        </p:nvSpPr>
        <p:spPr>
          <a:xfrm>
            <a:off x="428596" y="500042"/>
            <a:ext cx="8229600" cy="4874314"/>
          </a:xfrm>
        </p:spPr>
        <p:txBody>
          <a:bodyPr>
            <a:normAutofit/>
          </a:bodyPr>
          <a:lstStyle/>
          <a:p>
            <a:pPr algn="just" eaLnBrk="1" hangingPunct="1">
              <a:lnSpc>
                <a:spcPct val="150000"/>
              </a:lnSpc>
              <a:buFontTx/>
              <a:buNone/>
            </a:pPr>
            <a:r>
              <a:rPr lang="en-US" altLang="en-US" sz="2800" dirty="0">
                <a:latin typeface="Book Antiqua" pitchFamily="18" charset="0"/>
              </a:rPr>
              <a:t>For example, consider the following code fragment:</a:t>
            </a:r>
          </a:p>
          <a:p>
            <a:pPr algn="just" eaLnBrk="1" hangingPunct="1">
              <a:lnSpc>
                <a:spcPct val="150000"/>
              </a:lnSpc>
              <a:buFontTx/>
              <a:buNone/>
            </a:pPr>
            <a:r>
              <a:rPr lang="en-US" altLang="en-US" sz="2800" dirty="0">
                <a:latin typeface="Book Antiqua" pitchFamily="18" charset="0"/>
              </a:rPr>
              <a:t>	</a:t>
            </a:r>
            <a:r>
              <a:rPr lang="en-US" altLang="en-US" sz="2800" i="1" dirty="0">
                <a:latin typeface="Book Antiqua" pitchFamily="18" charset="0"/>
              </a:rPr>
              <a:t>void</a:t>
            </a:r>
            <a:r>
              <a:rPr lang="en-US" altLang="en-US" sz="2800" dirty="0">
                <a:latin typeface="Book Antiqua" pitchFamily="18" charset="0"/>
              </a:rPr>
              <a:t> </a:t>
            </a:r>
            <a:r>
              <a:rPr lang="en-US" altLang="en-US" sz="2800" dirty="0" err="1">
                <a:latin typeface="Book Antiqua" pitchFamily="18" charset="0"/>
              </a:rPr>
              <a:t>afunc</a:t>
            </a:r>
            <a:r>
              <a:rPr lang="en-US" altLang="en-US" sz="2800" dirty="0">
                <a:latin typeface="Book Antiqua" pitchFamily="18" charset="0"/>
              </a:rPr>
              <a:t> (</a:t>
            </a:r>
            <a:r>
              <a:rPr lang="en-US" altLang="en-US" sz="2800" dirty="0" err="1">
                <a:latin typeface="Book Antiqua" pitchFamily="18" charset="0"/>
              </a:rPr>
              <a:t>int</a:t>
            </a:r>
            <a:r>
              <a:rPr lang="en-US" altLang="en-US" sz="2800" dirty="0">
                <a:latin typeface="Book Antiqua" pitchFamily="18" charset="0"/>
              </a:rPr>
              <a:t>);</a:t>
            </a:r>
          </a:p>
          <a:p>
            <a:pPr algn="just" eaLnBrk="1" hangingPunct="1">
              <a:lnSpc>
                <a:spcPct val="150000"/>
              </a:lnSpc>
              <a:buFontTx/>
              <a:buNone/>
            </a:pPr>
            <a:r>
              <a:rPr lang="en-US" altLang="en-US" sz="2800" dirty="0">
                <a:latin typeface="Book Antiqua" pitchFamily="18" charset="0"/>
              </a:rPr>
              <a:t>	</a:t>
            </a:r>
            <a:r>
              <a:rPr lang="en-US" altLang="en-US" sz="2800" i="1" dirty="0">
                <a:latin typeface="Book Antiqua" pitchFamily="18" charset="0"/>
              </a:rPr>
              <a:t>void</a:t>
            </a:r>
            <a:r>
              <a:rPr lang="en-US" altLang="en-US" sz="2800" dirty="0">
                <a:latin typeface="Book Antiqua" pitchFamily="18" charset="0"/>
              </a:rPr>
              <a:t> </a:t>
            </a:r>
            <a:r>
              <a:rPr lang="en-US" altLang="en-US" sz="2800" dirty="0" err="1">
                <a:latin typeface="Book Antiqua" pitchFamily="18" charset="0"/>
              </a:rPr>
              <a:t>afunc</a:t>
            </a:r>
            <a:r>
              <a:rPr lang="en-US" altLang="en-US" sz="2800" dirty="0">
                <a:latin typeface="Book Antiqua" pitchFamily="18" charset="0"/>
              </a:rPr>
              <a:t> (float);</a:t>
            </a:r>
          </a:p>
          <a:p>
            <a:pPr algn="just" eaLnBrk="1" hangingPunct="1">
              <a:lnSpc>
                <a:spcPct val="150000"/>
              </a:lnSpc>
              <a:buFontTx/>
              <a:buNone/>
            </a:pPr>
            <a:r>
              <a:rPr lang="en-US" altLang="en-US" sz="2800" dirty="0">
                <a:latin typeface="Book Antiqua" pitchFamily="18" charset="0"/>
              </a:rPr>
              <a:t>	</a:t>
            </a:r>
            <a:r>
              <a:rPr lang="en-US" altLang="en-US" sz="2800" dirty="0" err="1">
                <a:latin typeface="Book Antiqua" pitchFamily="18" charset="0"/>
              </a:rPr>
              <a:t>afunc</a:t>
            </a:r>
            <a:r>
              <a:rPr lang="en-US" altLang="en-US" sz="2800" dirty="0">
                <a:latin typeface="Book Antiqua" pitchFamily="18" charset="0"/>
              </a:rPr>
              <a:t> (‘</a:t>
            </a:r>
            <a:r>
              <a:rPr lang="en-US" altLang="en-US" sz="2800" i="1" dirty="0">
                <a:latin typeface="Book Antiqua" pitchFamily="18" charset="0"/>
              </a:rPr>
              <a:t>c</a:t>
            </a:r>
            <a:r>
              <a:rPr lang="en-US" altLang="en-US" sz="2800" dirty="0">
                <a:latin typeface="Book Antiqua" pitchFamily="18" charset="0"/>
              </a:rPr>
              <a:t>’);</a:t>
            </a:r>
          </a:p>
          <a:p>
            <a:pPr algn="just" eaLnBrk="1" hangingPunct="1">
              <a:lnSpc>
                <a:spcPct val="150000"/>
              </a:lnSpc>
              <a:buFontTx/>
              <a:buNone/>
            </a:pPr>
            <a:r>
              <a:rPr lang="en-US" altLang="en-US" sz="2800" dirty="0">
                <a:latin typeface="Book Antiqua" pitchFamily="18" charset="0"/>
              </a:rPr>
              <a:t>Will invoke </a:t>
            </a:r>
            <a:r>
              <a:rPr lang="en-US" altLang="en-US" sz="2800" dirty="0" err="1">
                <a:latin typeface="Book Antiqua" pitchFamily="18" charset="0"/>
              </a:rPr>
              <a:t>afunc</a:t>
            </a:r>
            <a:r>
              <a:rPr lang="en-US" altLang="en-US" sz="2800" dirty="0">
                <a:latin typeface="Book Antiqua" pitchFamily="18" charset="0"/>
              </a:rPr>
              <a:t>(</a:t>
            </a:r>
            <a:r>
              <a:rPr lang="en-US" altLang="en-US" sz="2800" dirty="0" err="1">
                <a:latin typeface="Book Antiqua" pitchFamily="18" charset="0"/>
              </a:rPr>
              <a:t>int</a:t>
            </a:r>
            <a:r>
              <a:rPr lang="en-US" altLang="en-US" sz="2800" dirty="0">
                <a:latin typeface="Book Antiqua" pitchFamily="18" charset="0"/>
              </a:rPr>
              <a:t>)</a:t>
            </a:r>
          </a:p>
        </p:txBody>
      </p:sp>
      <p:sp>
        <p:nvSpPr>
          <p:cNvPr id="19460" name="Text Box 5"/>
          <p:cNvSpPr txBox="1">
            <a:spLocks noChangeArrowheads="1"/>
          </p:cNvSpPr>
          <p:nvPr/>
        </p:nvSpPr>
        <p:spPr bwMode="auto">
          <a:xfrm>
            <a:off x="3886200" y="3352800"/>
            <a:ext cx="5029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hangingPunct="0">
              <a:buChar char="•"/>
              <a:defRPr sz="3200">
                <a:solidFill>
                  <a:schemeClr val="tx1"/>
                </a:solidFill>
                <a:latin typeface="Arial" charset="0"/>
                <a:cs typeface="Arial" charset="0"/>
              </a:defRPr>
            </a:lvl1pPr>
            <a:lvl2pPr marL="742950" indent="-285750" algn="l" eaLnBrk="0" hangingPunct="0">
              <a:buChar char="–"/>
              <a:defRPr sz="2800">
                <a:solidFill>
                  <a:schemeClr val="tx1"/>
                </a:solidFill>
                <a:latin typeface="Arial" charset="0"/>
                <a:cs typeface="Arial" charset="0"/>
              </a:defRPr>
            </a:lvl2pPr>
            <a:lvl3pPr marL="1143000" indent="-228600" algn="l" eaLnBrk="0" hangingPunct="0">
              <a:buChar char="•"/>
              <a:defRPr sz="2400">
                <a:solidFill>
                  <a:schemeClr val="tx1"/>
                </a:solidFill>
                <a:latin typeface="Arial" charset="0"/>
                <a:cs typeface="Arial" charset="0"/>
              </a:defRPr>
            </a:lvl3pPr>
            <a:lvl4pPr marL="1600200" indent="-228600" algn="l" eaLnBrk="0" hangingPunct="0">
              <a:buChar char="–"/>
              <a:defRPr sz="2000">
                <a:solidFill>
                  <a:schemeClr val="tx1"/>
                </a:solidFill>
                <a:latin typeface="Arial" charset="0"/>
                <a:cs typeface="Arial" charset="0"/>
              </a:defRPr>
            </a:lvl4pPr>
            <a:lvl5pPr marL="2057400" indent="-228600" algn="l" eaLnBrk="0" hangingPunct="0">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just" eaLnBrk="1" hangingPunct="1">
              <a:spcBef>
                <a:spcPct val="50000"/>
              </a:spcBef>
              <a:buFontTx/>
              <a:buNone/>
            </a:pPr>
            <a:r>
              <a:rPr lang="en-US" altLang="en-US" sz="2400">
                <a:solidFill>
                  <a:schemeClr val="bg1"/>
                </a:solidFill>
                <a:latin typeface="FangSong" pitchFamily="49" charset="-122"/>
              </a:rPr>
              <a:t>//match through the promotion; matches afunc (int)</a:t>
            </a:r>
          </a:p>
        </p:txBody>
      </p:sp>
    </p:spTree>
    <p:extLst>
      <p:ext uri="{BB962C8B-B14F-4D97-AF65-F5344CB8AC3E}">
        <p14:creationId xmlns:p14="http://schemas.microsoft.com/office/powerpoint/2010/main" val="2245450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14282" y="357166"/>
            <a:ext cx="4000528" cy="5744944"/>
          </a:xfrm>
          <a:prstGeom prst="rect">
            <a:avLst/>
          </a:prstGeom>
          <a:noFill/>
          <a:ln w="9525">
            <a:noFill/>
            <a:miter lim="800000"/>
            <a:headEnd/>
            <a:tailEnd/>
          </a:ln>
          <a:effectLst/>
        </p:spPr>
      </p:pic>
      <p:sp>
        <p:nvSpPr>
          <p:cNvPr id="3" name="TextBox 2"/>
          <p:cNvSpPr txBox="1"/>
          <p:nvPr/>
        </p:nvSpPr>
        <p:spPr>
          <a:xfrm>
            <a:off x="4214810" y="817418"/>
            <a:ext cx="4714908" cy="1754326"/>
          </a:xfrm>
          <a:prstGeom prst="rect">
            <a:avLst/>
          </a:prstGeom>
          <a:noFill/>
        </p:spPr>
        <p:txBody>
          <a:bodyPr wrap="square" rtlCol="0">
            <a:spAutoFit/>
          </a:bodyPr>
          <a:lstStyle/>
          <a:p>
            <a:pPr algn="just"/>
            <a:r>
              <a:rPr lang="en-GB" sz="3600" dirty="0"/>
              <a:t>Compiler resolves square (‘a’) to square(</a:t>
            </a:r>
            <a:r>
              <a:rPr lang="en-GB" sz="3600" dirty="0" err="1"/>
              <a:t>int</a:t>
            </a:r>
            <a:r>
              <a:rPr lang="en-GB" sz="3600" dirty="0"/>
              <a:t>)</a:t>
            </a:r>
          </a:p>
        </p:txBody>
      </p:sp>
    </p:spTree>
    <p:extLst>
      <p:ext uri="{BB962C8B-B14F-4D97-AF65-F5344CB8AC3E}">
        <p14:creationId xmlns:p14="http://schemas.microsoft.com/office/powerpoint/2010/main" val="1312248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standard conversion</a:t>
            </a:r>
          </a:p>
        </p:txBody>
      </p:sp>
      <p:sp>
        <p:nvSpPr>
          <p:cNvPr id="3" name="Content Placeholder 2"/>
          <p:cNvSpPr>
            <a:spLocks noGrp="1"/>
          </p:cNvSpPr>
          <p:nvPr>
            <p:ph idx="1"/>
          </p:nvPr>
        </p:nvSpPr>
        <p:spPr/>
        <p:txBody>
          <a:bodyPr>
            <a:normAutofit/>
          </a:bodyPr>
          <a:lstStyle/>
          <a:p>
            <a:r>
              <a:rPr lang="en-US" dirty="0"/>
              <a:t>If no promotion is possible, C++ tries to find a match through standard conversion.</a:t>
            </a:r>
          </a:p>
          <a:p>
            <a:r>
              <a:rPr lang="en-US" dirty="0"/>
              <a:t>Any numeric type will match any other numeric type.</a:t>
            </a:r>
          </a:p>
        </p:txBody>
      </p:sp>
    </p:spTree>
    <p:extLst>
      <p:ext uri="{BB962C8B-B14F-4D97-AF65-F5344CB8AC3E}">
        <p14:creationId xmlns:p14="http://schemas.microsoft.com/office/powerpoint/2010/main" val="126843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pPr marL="0" indent="0" latinLnBrk="1">
              <a:buNone/>
            </a:pPr>
            <a:r>
              <a:rPr lang="en-US" dirty="0" err="1"/>
              <a:t>struct</a:t>
            </a:r>
            <a:r>
              <a:rPr lang="en-US" dirty="0"/>
              <a:t> Employee; // defined somewhere else</a:t>
            </a:r>
          </a:p>
          <a:p>
            <a:pPr marL="0" indent="0" latinLnBrk="1">
              <a:buNone/>
            </a:pPr>
            <a:r>
              <a:rPr lang="en-US" dirty="0"/>
              <a:t>void print(float value);</a:t>
            </a:r>
          </a:p>
          <a:p>
            <a:pPr marL="0" indent="0" latinLnBrk="1">
              <a:buNone/>
            </a:pPr>
            <a:r>
              <a:rPr lang="en-US" dirty="0"/>
              <a:t>void print(Employee value);</a:t>
            </a:r>
          </a:p>
          <a:p>
            <a:pPr marL="0" indent="0" latinLnBrk="1">
              <a:buNone/>
            </a:pPr>
            <a:r>
              <a:rPr lang="en-US" dirty="0"/>
              <a:t>print('a'); // 'a' converted to match print(float)</a:t>
            </a:r>
          </a:p>
          <a:p>
            <a:pPr latinLnBrk="1"/>
            <a:r>
              <a:rPr lang="en-US" dirty="0"/>
              <a:t>In this case, because there is no print(char) (exact match), and no print(</a:t>
            </a:r>
            <a:r>
              <a:rPr lang="en-US" dirty="0" err="1"/>
              <a:t>int</a:t>
            </a:r>
            <a:r>
              <a:rPr lang="en-US" dirty="0"/>
              <a:t>) (promotion match), the ‘a’ is converted to a float and matched with print(float).</a:t>
            </a:r>
          </a:p>
          <a:p>
            <a:endParaRPr lang="en-US" dirty="0"/>
          </a:p>
        </p:txBody>
      </p:sp>
    </p:spTree>
    <p:extLst>
      <p:ext uri="{BB962C8B-B14F-4D97-AF65-F5344CB8AC3E}">
        <p14:creationId xmlns:p14="http://schemas.microsoft.com/office/powerpoint/2010/main" val="358940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a:t>If the conversion is possible to have multiple matches, then the compiler will give error message. </a:t>
            </a:r>
          </a:p>
          <a:p>
            <a:r>
              <a:rPr lang="en-US" dirty="0"/>
              <a:t>Example: </a:t>
            </a:r>
          </a:p>
          <a:p>
            <a:pPr marL="0" indent="0">
              <a:buNone/>
            </a:pPr>
            <a:r>
              <a:rPr lang="en-US" dirty="0"/>
              <a:t>      long square (long n); </a:t>
            </a:r>
          </a:p>
          <a:p>
            <a:pPr marL="0" indent="0">
              <a:buNone/>
            </a:pPr>
            <a:r>
              <a:rPr lang="en-US" dirty="0"/>
              <a:t>     double square(double x); </a:t>
            </a:r>
          </a:p>
          <a:p>
            <a:pPr marL="0" indent="0">
              <a:buNone/>
            </a:pPr>
            <a:r>
              <a:rPr lang="en-US" dirty="0"/>
              <a:t>     A function call such as :- square(10) </a:t>
            </a:r>
          </a:p>
          <a:p>
            <a:pPr marL="0" indent="0">
              <a:buNone/>
            </a:pPr>
            <a:r>
              <a:rPr lang="en-US" dirty="0"/>
              <a:t>  Will cause an error because </a:t>
            </a:r>
            <a:r>
              <a:rPr lang="en-US" dirty="0" err="1"/>
              <a:t>int</a:t>
            </a:r>
            <a:r>
              <a:rPr lang="en-US" dirty="0"/>
              <a:t> argument can be converted to either long or double .There by creating an ambiguous situation as to which version of square( )should be used. </a:t>
            </a:r>
          </a:p>
          <a:p>
            <a:endParaRPr lang="en-US" dirty="0"/>
          </a:p>
        </p:txBody>
      </p:sp>
    </p:spTree>
    <p:extLst>
      <p:ext uri="{BB962C8B-B14F-4D97-AF65-F5344CB8AC3E}">
        <p14:creationId xmlns:p14="http://schemas.microsoft.com/office/powerpoint/2010/main" val="1989698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2B1466ED-90BC-46EE-B8E9-2F9AA30DFA0D}" type="slidenum">
              <a:rPr lang="en-US"/>
              <a:pPr>
                <a:defRPr/>
              </a:pPr>
              <a:t>18</a:t>
            </a:fld>
            <a:endParaRPr lang="en-US"/>
          </a:p>
        </p:txBody>
      </p:sp>
      <p:sp>
        <p:nvSpPr>
          <p:cNvPr id="21507" name="Rectangle 3"/>
          <p:cNvSpPr>
            <a:spLocks noGrp="1" noChangeArrowheads="1"/>
          </p:cNvSpPr>
          <p:nvPr>
            <p:ph type="body" idx="1"/>
          </p:nvPr>
        </p:nvSpPr>
        <p:spPr>
          <a:xfrm>
            <a:off x="457200" y="381001"/>
            <a:ext cx="8229600" cy="904860"/>
          </a:xfrm>
        </p:spPr>
        <p:txBody>
          <a:bodyPr>
            <a:normAutofit/>
          </a:bodyPr>
          <a:lstStyle/>
          <a:p>
            <a:pPr algn="just"/>
            <a:r>
              <a:rPr lang="en-US" altLang="en-US" sz="2400" dirty="0">
                <a:latin typeface="Book Antiqua" pitchFamily="18" charset="0"/>
              </a:rPr>
              <a:t>Error ambiguous call</a:t>
            </a:r>
          </a:p>
          <a:p>
            <a:pPr algn="just"/>
            <a:endParaRPr lang="en-US" altLang="en-US" sz="2400" dirty="0">
              <a:latin typeface="Book Antiqua" pitchFamily="18" charset="0"/>
            </a:endParaRPr>
          </a:p>
        </p:txBody>
      </p:sp>
      <p:pic>
        <p:nvPicPr>
          <p:cNvPr id="2050" name="Picture 2"/>
          <p:cNvPicPr>
            <a:picLocks noChangeAspect="1" noChangeArrowheads="1"/>
          </p:cNvPicPr>
          <p:nvPr/>
        </p:nvPicPr>
        <p:blipFill>
          <a:blip r:embed="rId3"/>
          <a:srcRect/>
          <a:stretch>
            <a:fillRect/>
          </a:stretch>
        </p:blipFill>
        <p:spPr bwMode="auto">
          <a:xfrm>
            <a:off x="571472" y="1071546"/>
            <a:ext cx="5072098" cy="5072098"/>
          </a:xfrm>
          <a:prstGeom prst="rect">
            <a:avLst/>
          </a:prstGeom>
          <a:noFill/>
          <a:ln w="9525">
            <a:noFill/>
            <a:miter lim="800000"/>
            <a:headEnd/>
            <a:tailEnd/>
          </a:ln>
          <a:effectLst/>
        </p:spPr>
      </p:pic>
    </p:spTree>
    <p:extLst>
      <p:ext uri="{BB962C8B-B14F-4D97-AF65-F5344CB8AC3E}">
        <p14:creationId xmlns:p14="http://schemas.microsoft.com/office/powerpoint/2010/main" val="599475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Finding Gross Pay </a:t>
            </a:r>
            <a:endParaRPr lang="en-US"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IN" dirty="0"/>
              <a:t>Three are three types of employees in Indian railways. They are regular, daily wages and consolidated employees. Gross Pay for the employees are calculated as follows: </a:t>
            </a:r>
          </a:p>
          <a:p>
            <a:pPr lvl="1" algn="just">
              <a:lnSpc>
                <a:spcPct val="150000"/>
              </a:lnSpc>
            </a:pPr>
            <a:r>
              <a:rPr lang="en-IN" dirty="0"/>
              <a:t>regular employees - basic + </a:t>
            </a:r>
            <a:r>
              <a:rPr lang="en-IN" dirty="0" err="1"/>
              <a:t>hra</a:t>
            </a:r>
            <a:r>
              <a:rPr lang="en-IN" dirty="0"/>
              <a:t> + % of DA * basic</a:t>
            </a:r>
          </a:p>
          <a:p>
            <a:pPr lvl="1" algn="just">
              <a:lnSpc>
                <a:spcPct val="150000"/>
              </a:lnSpc>
            </a:pPr>
            <a:r>
              <a:rPr lang="en-IN" dirty="0"/>
              <a:t>Daily wages – wages per hour * number of hours</a:t>
            </a:r>
          </a:p>
          <a:p>
            <a:pPr lvl="1" algn="just">
              <a:lnSpc>
                <a:spcPct val="150000"/>
              </a:lnSpc>
            </a:pPr>
            <a:r>
              <a:rPr lang="en-IN" dirty="0"/>
              <a:t>Consolidated – fixed amount</a:t>
            </a:r>
          </a:p>
          <a:p>
            <a:endParaRPr lang="en-US" dirty="0"/>
          </a:p>
        </p:txBody>
      </p:sp>
    </p:spTree>
    <p:extLst>
      <p:ext uri="{BB962C8B-B14F-4D97-AF65-F5344CB8AC3E}">
        <p14:creationId xmlns:p14="http://schemas.microsoft.com/office/powerpoint/2010/main" val="2218443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PAC - Finding Gross pay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21171443"/>
              </p:ext>
            </p:extLst>
          </p:nvPr>
        </p:nvGraphicFramePr>
        <p:xfrm>
          <a:off x="285720" y="1571612"/>
          <a:ext cx="8643997" cy="3322153"/>
        </p:xfrm>
        <a:graphic>
          <a:graphicData uri="http://schemas.openxmlformats.org/drawingml/2006/table">
            <a:tbl>
              <a:tblPr firstRow="1" bandRow="1">
                <a:tableStyleId>{5C22544A-7EE6-4342-B048-85BDC9FD1C3A}</a:tableStyleId>
              </a:tblPr>
              <a:tblGrid>
                <a:gridCol w="2881332">
                  <a:extLst>
                    <a:ext uri="{9D8B030D-6E8A-4147-A177-3AD203B41FA5}">
                      <a16:colId xmlns:a16="http://schemas.microsoft.com/office/drawing/2014/main" val="20000"/>
                    </a:ext>
                  </a:extLst>
                </a:gridCol>
                <a:gridCol w="2503454">
                  <a:extLst>
                    <a:ext uri="{9D8B030D-6E8A-4147-A177-3AD203B41FA5}">
                      <a16:colId xmlns:a16="http://schemas.microsoft.com/office/drawing/2014/main" val="20001"/>
                    </a:ext>
                  </a:extLst>
                </a:gridCol>
                <a:gridCol w="3259211">
                  <a:extLst>
                    <a:ext uri="{9D8B030D-6E8A-4147-A177-3AD203B41FA5}">
                      <a16:colId xmlns:a16="http://schemas.microsoft.com/office/drawing/2014/main" val="20002"/>
                    </a:ext>
                  </a:extLst>
                </a:gridCol>
              </a:tblGrid>
              <a:tr h="408910">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val="10000"/>
                  </a:ext>
                </a:extLst>
              </a:tr>
              <a:tr h="2743033">
                <a:tc>
                  <a:txBody>
                    <a:bodyPr/>
                    <a:lstStyle/>
                    <a:p>
                      <a:r>
                        <a:rPr lang="en-GB" sz="3200" dirty="0"/>
                        <a:t>Components for</a:t>
                      </a:r>
                      <a:r>
                        <a:rPr lang="en-GB" sz="3200" baseline="0" dirty="0"/>
                        <a:t> calculating gross pay</a:t>
                      </a:r>
                      <a:endParaRPr lang="en-GB" sz="3200" dirty="0"/>
                    </a:p>
                  </a:txBody>
                  <a:tcPr/>
                </a:tc>
                <a:tc>
                  <a:txBody>
                    <a:bodyPr/>
                    <a:lstStyle/>
                    <a:p>
                      <a:r>
                        <a:rPr lang="en-GB" sz="3200" dirty="0"/>
                        <a:t>Gross pay</a:t>
                      </a:r>
                    </a:p>
                  </a:txBody>
                  <a:tcPr/>
                </a:tc>
                <a:tc>
                  <a:txBody>
                    <a:bodyPr/>
                    <a:lstStyle/>
                    <a:p>
                      <a:r>
                        <a:rPr lang="en-GB" sz="3200" dirty="0"/>
                        <a:t>Based on type of employees – Calculate gross pay</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94548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42876" y="105544"/>
            <a:ext cx="8858280" cy="6681042"/>
          </a:xfrm>
          <a:prstGeom prst="rect">
            <a:avLst/>
          </a:prstGeom>
          <a:noFill/>
          <a:ln w="9525">
            <a:noFill/>
            <a:miter lim="800000"/>
            <a:headEnd/>
            <a:tailEnd/>
          </a:ln>
          <a:effectLst/>
        </p:spPr>
      </p:pic>
    </p:spTree>
    <p:extLst>
      <p:ext uri="{BB962C8B-B14F-4D97-AF65-F5344CB8AC3E}">
        <p14:creationId xmlns:p14="http://schemas.microsoft.com/office/powerpoint/2010/main" val="344039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14282" y="428603"/>
            <a:ext cx="8001056" cy="5598099"/>
          </a:xfrm>
          <a:prstGeom prst="rect">
            <a:avLst/>
          </a:prstGeom>
          <a:noFill/>
          <a:ln w="9525">
            <a:noFill/>
            <a:miter lim="800000"/>
            <a:headEnd/>
            <a:tailEnd/>
          </a:ln>
          <a:effectLst/>
        </p:spPr>
      </p:pic>
    </p:spTree>
    <p:extLst>
      <p:ext uri="{BB962C8B-B14F-4D97-AF65-F5344CB8AC3E}">
        <p14:creationId xmlns:p14="http://schemas.microsoft.com/office/powerpoint/2010/main" val="242180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14282" y="785794"/>
            <a:ext cx="8594268" cy="4286280"/>
          </a:xfrm>
          <a:prstGeom prst="rect">
            <a:avLst/>
          </a:prstGeom>
          <a:noFill/>
          <a:ln w="9525">
            <a:noFill/>
            <a:miter lim="800000"/>
            <a:headEnd/>
            <a:tailEnd/>
          </a:ln>
          <a:effectLst/>
        </p:spPr>
      </p:pic>
    </p:spTree>
    <p:extLst>
      <p:ext uri="{BB962C8B-B14F-4D97-AF65-F5344CB8AC3E}">
        <p14:creationId xmlns:p14="http://schemas.microsoft.com/office/powerpoint/2010/main" val="306201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2052</TotalTime>
  <Words>825</Words>
  <Application>Microsoft Macintosh PowerPoint</Application>
  <PresentationFormat>On-screen Show (4:3)</PresentationFormat>
  <Paragraphs>117</Paragraphs>
  <Slides>23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FangSong</vt:lpstr>
      <vt:lpstr>Arial</vt:lpstr>
      <vt:lpstr>Arial Black</vt:lpstr>
      <vt:lpstr>Book Antiqua</vt:lpstr>
      <vt:lpstr>Calibri</vt:lpstr>
      <vt:lpstr>Courier New</vt:lpstr>
      <vt:lpstr>Times New Roman</vt:lpstr>
      <vt:lpstr>Office Theme</vt:lpstr>
      <vt:lpstr>Polymorphishm</vt:lpstr>
      <vt:lpstr>Polymorphism</vt:lpstr>
      <vt:lpstr>Overloading</vt:lpstr>
      <vt:lpstr>Function overloading</vt:lpstr>
      <vt:lpstr>example</vt:lpstr>
      <vt:lpstr>Signature of a Function</vt:lpstr>
      <vt:lpstr>PowerPoint Presentation</vt:lpstr>
      <vt:lpstr>PowerPoint Presentation</vt:lpstr>
      <vt:lpstr>CALLING OVERLOADED FUNCTIONS</vt:lpstr>
      <vt:lpstr>Steps Involved in Finding the Best Match for a function call</vt:lpstr>
      <vt:lpstr>1. Exact Match</vt:lpstr>
      <vt:lpstr>2. A match through promotion</vt:lpstr>
      <vt:lpstr>PowerPoint Presentation</vt:lpstr>
      <vt:lpstr>PowerPoint Presentation</vt:lpstr>
      <vt:lpstr>3. standard conversion</vt:lpstr>
      <vt:lpstr>example</vt:lpstr>
      <vt:lpstr>PowerPoint Presentation</vt:lpstr>
      <vt:lpstr>PowerPoint Presentation</vt:lpstr>
      <vt:lpstr>Finding Gross Pay </vt:lpstr>
      <vt:lpstr>PAC - Finding Gross pay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Microsoft Office User</cp:lastModifiedBy>
  <cp:revision>30</cp:revision>
  <dcterms:created xsi:type="dcterms:W3CDTF">2021-04-17T14:34:26Z</dcterms:created>
  <dcterms:modified xsi:type="dcterms:W3CDTF">2023-05-15T02:19:30Z</dcterms:modified>
</cp:coreProperties>
</file>