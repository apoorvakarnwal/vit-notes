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32" r:id="rId2"/>
    <p:sldId id="342" r:id="rId3"/>
    <p:sldId id="343" r:id="rId4"/>
    <p:sldId id="344" r:id="rId5"/>
    <p:sldId id="347" r:id="rId6"/>
    <p:sldId id="348" r:id="rId7"/>
    <p:sldId id="349" r:id="rId8"/>
    <p:sldId id="345" r:id="rId9"/>
    <p:sldId id="350" r:id="rId10"/>
    <p:sldId id="351" r:id="rId11"/>
    <p:sldId id="352" r:id="rId12"/>
    <p:sldId id="354" r:id="rId13"/>
    <p:sldId id="353" r:id="rId14"/>
    <p:sldId id="355" r:id="rId15"/>
    <p:sldId id="356" r:id="rId16"/>
    <p:sldId id="357" r:id="rId17"/>
    <p:sldId id="358" r:id="rId18"/>
    <p:sldId id="359" r:id="rId19"/>
    <p:sldId id="360" r:id="rId20"/>
    <p:sldId id="361" r:id="rId21"/>
    <p:sldId id="362" r:id="rId22"/>
    <p:sldId id="36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67E53C-2570-4BDE-8450-B01317046F80}" type="datetimeFigureOut">
              <a:rPr lang="en-US" smtClean="0"/>
              <a:t>6/11/2021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C04FA0-E888-40AE-80BE-17D48CDA61F3}" type="slidenum">
              <a:rPr lang="en-US" smtClean="0"/>
              <a:t>‹#›</a:t>
            </a:fld>
            <a:endParaRPr lang="en-US"/>
          </a:p>
        </p:txBody>
      </p:sp>
    </p:spTree>
    <p:extLst>
      <p:ext uri="{BB962C8B-B14F-4D97-AF65-F5344CB8AC3E}">
        <p14:creationId xmlns:p14="http://schemas.microsoft.com/office/powerpoint/2010/main" val="15464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7"/>
          <p:cNvSpPr>
            <a:spLocks noGrp="1" noChangeArrowheads="1"/>
          </p:cNvSpPr>
          <p:nvPr>
            <p:ph type="sldNum" sz="quarter"/>
          </p:nvPr>
        </p:nvSpPr>
        <p:spPr>
          <a:noFill/>
        </p:spPr>
        <p:txBody>
          <a:bodyPr/>
          <a:lstStyle/>
          <a:p>
            <a:fld id="{BECFF2F8-32CE-4DD3-B3A1-4C923539165B}" type="slidenum">
              <a:rPr lang="en-US"/>
              <a:pPr/>
              <a:t>14</a:t>
            </a:fld>
            <a:endParaRPr lang="en-US"/>
          </a:p>
        </p:txBody>
      </p:sp>
      <p:sp>
        <p:nvSpPr>
          <p:cNvPr id="43011" name="Rectangle 1"/>
          <p:cNvSpPr txBox="1">
            <a:spLocks noGrp="1" noRot="1" noChangeAspect="1" noChangeArrowheads="1" noTextEdit="1"/>
          </p:cNvSpPr>
          <p:nvPr>
            <p:ph type="sldImg"/>
          </p:nvPr>
        </p:nvSpPr>
        <p:spPr>
          <a:xfrm>
            <a:off x="1143000" y="685800"/>
            <a:ext cx="4572000" cy="3429000"/>
          </a:xfrm>
          <a:solidFill>
            <a:srgbClr val="FFFFFF"/>
          </a:solidFill>
          <a:ln/>
        </p:spPr>
      </p:sp>
      <p:sp>
        <p:nvSpPr>
          <p:cNvPr id="43012" name="Rectangle 2"/>
          <p:cNvSpPr txBox="1">
            <a:spLocks noGrp="1" noChangeArrowheads="1"/>
          </p:cNvSpPr>
          <p:nvPr>
            <p:ph type="body" idx="1"/>
          </p:nvPr>
        </p:nvSpPr>
        <p:spPr>
          <a:xfrm>
            <a:off x="685494" y="4342939"/>
            <a:ext cx="5487013" cy="4114587"/>
          </a:xfrm>
          <a:noFill/>
          <a:ln/>
        </p:spPr>
        <p:txBody>
          <a:bodyPr wrap="none" anchor="ct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p:nvPr>
        </p:nvSpPr>
        <p:spPr>
          <a:noFill/>
        </p:spPr>
        <p:txBody>
          <a:bodyPr/>
          <a:lstStyle/>
          <a:p>
            <a:fld id="{347585B1-7C96-4C73-92A3-31FB8475473B}" type="slidenum">
              <a:rPr lang="en-US"/>
              <a:pPr/>
              <a:t>15</a:t>
            </a:fld>
            <a:endParaRPr lang="en-US"/>
          </a:p>
        </p:txBody>
      </p:sp>
      <p:sp>
        <p:nvSpPr>
          <p:cNvPr id="44035" name="Rectangle 1"/>
          <p:cNvSpPr txBox="1">
            <a:spLocks noGrp="1" noRot="1" noChangeAspect="1" noChangeArrowheads="1" noTextEdit="1"/>
          </p:cNvSpPr>
          <p:nvPr>
            <p:ph type="sldImg"/>
          </p:nvPr>
        </p:nvSpPr>
        <p:spPr>
          <a:xfrm>
            <a:off x="1143000" y="685800"/>
            <a:ext cx="4572000" cy="3429000"/>
          </a:xfrm>
          <a:solidFill>
            <a:srgbClr val="FFFFFF"/>
          </a:solidFill>
          <a:ln/>
        </p:spPr>
      </p:sp>
      <p:sp>
        <p:nvSpPr>
          <p:cNvPr id="44036" name="Rectangle 2"/>
          <p:cNvSpPr txBox="1">
            <a:spLocks noGrp="1" noChangeArrowheads="1"/>
          </p:cNvSpPr>
          <p:nvPr>
            <p:ph type="body" idx="1"/>
          </p:nvPr>
        </p:nvSpPr>
        <p:spPr>
          <a:xfrm>
            <a:off x="685494" y="4342939"/>
            <a:ext cx="5487013" cy="4114587"/>
          </a:xfrm>
          <a:noFill/>
          <a:ln/>
        </p:spPr>
        <p:txBody>
          <a:bodyPr wrap="none" anchor="ct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p:cNvSpPr>
            <a:spLocks noGrp="1" noChangeArrowheads="1"/>
          </p:cNvSpPr>
          <p:nvPr>
            <p:ph type="sldNum" sz="quarter"/>
          </p:nvPr>
        </p:nvSpPr>
        <p:spPr>
          <a:noFill/>
        </p:spPr>
        <p:txBody>
          <a:bodyPr/>
          <a:lstStyle/>
          <a:p>
            <a:fld id="{AEFEFF04-251D-4328-86E9-7D0B23FB1826}" type="slidenum">
              <a:rPr lang="en-US"/>
              <a:pPr/>
              <a:t>16</a:t>
            </a:fld>
            <a:endParaRPr lang="en-US"/>
          </a:p>
        </p:txBody>
      </p:sp>
      <p:sp>
        <p:nvSpPr>
          <p:cNvPr id="45059" name="Rectangle 1"/>
          <p:cNvSpPr txBox="1">
            <a:spLocks noGrp="1" noRot="1" noChangeAspect="1" noChangeArrowheads="1" noTextEdit="1"/>
          </p:cNvSpPr>
          <p:nvPr>
            <p:ph type="sldImg"/>
          </p:nvPr>
        </p:nvSpPr>
        <p:spPr>
          <a:xfrm>
            <a:off x="1143000" y="685800"/>
            <a:ext cx="4572000" cy="3429000"/>
          </a:xfrm>
          <a:solidFill>
            <a:srgbClr val="FFFFFF"/>
          </a:solidFill>
          <a:ln/>
        </p:spPr>
      </p:sp>
      <p:sp>
        <p:nvSpPr>
          <p:cNvPr id="45060" name="Rectangle 2"/>
          <p:cNvSpPr txBox="1">
            <a:spLocks noGrp="1" noChangeArrowheads="1"/>
          </p:cNvSpPr>
          <p:nvPr>
            <p:ph type="body" idx="1"/>
          </p:nvPr>
        </p:nvSpPr>
        <p:spPr>
          <a:xfrm>
            <a:off x="685494" y="4342939"/>
            <a:ext cx="5487013" cy="4114587"/>
          </a:xfrm>
          <a:noFill/>
          <a:ln/>
        </p:spPr>
        <p:txBody>
          <a:bodyPr wrap="none" anchor="ct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7"/>
          <p:cNvSpPr>
            <a:spLocks noGrp="1" noChangeArrowheads="1"/>
          </p:cNvSpPr>
          <p:nvPr>
            <p:ph type="sldNum" sz="quarter"/>
          </p:nvPr>
        </p:nvSpPr>
        <p:spPr>
          <a:noFill/>
        </p:spPr>
        <p:txBody>
          <a:bodyPr/>
          <a:lstStyle/>
          <a:p>
            <a:fld id="{9FBDC60E-066D-4549-AAAC-083AE35D8A88}" type="slidenum">
              <a:rPr lang="en-US"/>
              <a:pPr/>
              <a:t>17</a:t>
            </a:fld>
            <a:endParaRPr lang="en-US"/>
          </a:p>
        </p:txBody>
      </p:sp>
      <p:sp>
        <p:nvSpPr>
          <p:cNvPr id="32771" name="Rectangle 1"/>
          <p:cNvSpPr txBox="1">
            <a:spLocks noGrp="1" noRot="1" noChangeAspect="1" noChangeArrowheads="1" noTextEdit="1"/>
          </p:cNvSpPr>
          <p:nvPr>
            <p:ph type="sldImg"/>
          </p:nvPr>
        </p:nvSpPr>
        <p:spPr>
          <a:xfrm>
            <a:off x="1143000" y="685800"/>
            <a:ext cx="4572000" cy="3429000"/>
          </a:xfrm>
          <a:solidFill>
            <a:srgbClr val="FFFFFF"/>
          </a:solidFill>
          <a:ln/>
        </p:spPr>
      </p:sp>
      <p:sp>
        <p:nvSpPr>
          <p:cNvPr id="32772" name="Rectangle 2"/>
          <p:cNvSpPr txBox="1">
            <a:spLocks noGrp="1" noChangeArrowheads="1"/>
          </p:cNvSpPr>
          <p:nvPr>
            <p:ph type="body" idx="1"/>
          </p:nvPr>
        </p:nvSpPr>
        <p:spPr>
          <a:xfrm>
            <a:off x="685494" y="4342939"/>
            <a:ext cx="5487013" cy="4114587"/>
          </a:xfrm>
          <a:noFill/>
          <a:ln/>
        </p:spPr>
        <p:txBody>
          <a:bodyPr wrap="none" anchor="ct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7"/>
          <p:cNvSpPr>
            <a:spLocks noGrp="1" noChangeArrowheads="1"/>
          </p:cNvSpPr>
          <p:nvPr>
            <p:ph type="sldNum" sz="quarter"/>
          </p:nvPr>
        </p:nvSpPr>
        <p:spPr>
          <a:noFill/>
        </p:spPr>
        <p:txBody>
          <a:bodyPr/>
          <a:lstStyle/>
          <a:p>
            <a:fld id="{EFAA3D24-A2D5-4FFE-A289-C84397C5B944}" type="slidenum">
              <a:rPr lang="en-US"/>
              <a:pPr/>
              <a:t>18</a:t>
            </a:fld>
            <a:endParaRPr lang="en-US"/>
          </a:p>
        </p:txBody>
      </p:sp>
      <p:sp>
        <p:nvSpPr>
          <p:cNvPr id="34819" name="Rectangle 1"/>
          <p:cNvSpPr txBox="1">
            <a:spLocks noGrp="1" noRot="1" noChangeAspect="1" noChangeArrowheads="1" noTextEdit="1"/>
          </p:cNvSpPr>
          <p:nvPr>
            <p:ph type="sldImg"/>
          </p:nvPr>
        </p:nvSpPr>
        <p:spPr>
          <a:xfrm>
            <a:off x="1143000" y="685800"/>
            <a:ext cx="4572000" cy="3429000"/>
          </a:xfrm>
          <a:solidFill>
            <a:srgbClr val="FFFFFF"/>
          </a:solidFill>
          <a:ln/>
        </p:spPr>
      </p:sp>
      <p:sp>
        <p:nvSpPr>
          <p:cNvPr id="34820" name="Rectangle 2"/>
          <p:cNvSpPr txBox="1">
            <a:spLocks noGrp="1" noChangeArrowheads="1"/>
          </p:cNvSpPr>
          <p:nvPr>
            <p:ph type="body" idx="1"/>
          </p:nvPr>
        </p:nvSpPr>
        <p:spPr>
          <a:xfrm>
            <a:off x="685494" y="4342939"/>
            <a:ext cx="5487013" cy="4114587"/>
          </a:xfrm>
          <a:noFill/>
          <a:ln/>
        </p:spPr>
        <p:txBody>
          <a:bodyPr wrap="none" anchor="ct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7"/>
          <p:cNvSpPr>
            <a:spLocks noGrp="1" noChangeArrowheads="1"/>
          </p:cNvSpPr>
          <p:nvPr>
            <p:ph type="sldNum" sz="quarter"/>
          </p:nvPr>
        </p:nvSpPr>
        <p:spPr>
          <a:noFill/>
        </p:spPr>
        <p:txBody>
          <a:bodyPr/>
          <a:lstStyle/>
          <a:p>
            <a:fld id="{2F9B8A7B-EA31-4C92-9E3F-B3C913D85620}" type="slidenum">
              <a:rPr lang="en-US"/>
              <a:pPr/>
              <a:t>19</a:t>
            </a:fld>
            <a:endParaRPr lang="en-US"/>
          </a:p>
        </p:txBody>
      </p:sp>
      <p:sp>
        <p:nvSpPr>
          <p:cNvPr id="46083" name="Text Box 1"/>
          <p:cNvSpPr txBox="1">
            <a:spLocks noChangeArrowheads="1"/>
          </p:cNvSpPr>
          <p:nvPr/>
        </p:nvSpPr>
        <p:spPr bwMode="auto">
          <a:xfrm>
            <a:off x="3884463" y="8685878"/>
            <a:ext cx="2972004" cy="456704"/>
          </a:xfrm>
          <a:prstGeom prst="rect">
            <a:avLst/>
          </a:prstGeom>
          <a:noFill/>
          <a:ln w="9525">
            <a:noFill/>
            <a:round/>
            <a:headEnd/>
            <a:tailEnd/>
          </a:ln>
        </p:spPr>
        <p:txBody>
          <a:bodyPr lIns="91387" tIns="45860" rIns="91387" bIns="45860" anchor="b"/>
          <a:lstStyle/>
          <a:p>
            <a:pPr algn="r">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fld id="{D770FB3E-113E-4065-A0EA-BB3471C32D1D}" type="slidenum">
              <a:rPr lang="en-US" sz="1200">
                <a:solidFill>
                  <a:srgbClr val="000000"/>
                </a:solidFill>
                <a:latin typeface="Arial" charset="0"/>
                <a:ea typeface="宋体" charset="-122"/>
              </a:rPr>
              <a:pPr algn="r">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t>19</a:t>
            </a:fld>
            <a:endParaRPr lang="en-US" sz="1200">
              <a:solidFill>
                <a:srgbClr val="000000"/>
              </a:solidFill>
              <a:latin typeface="Arial" charset="0"/>
              <a:ea typeface="宋体" charset="-122"/>
            </a:endParaRPr>
          </a:p>
        </p:txBody>
      </p:sp>
      <p:sp>
        <p:nvSpPr>
          <p:cNvPr id="46084" name="Rectangle 2"/>
          <p:cNvSpPr txBox="1">
            <a:spLocks noGrp="1" noRot="1" noChangeAspect="1" noChangeArrowheads="1" noTextEdit="1"/>
          </p:cNvSpPr>
          <p:nvPr>
            <p:ph type="sldImg"/>
          </p:nvPr>
        </p:nvSpPr>
        <p:spPr>
          <a:xfrm>
            <a:off x="1143000" y="685800"/>
            <a:ext cx="4572000" cy="3429000"/>
          </a:xfrm>
          <a:solidFill>
            <a:srgbClr val="FFFFFF"/>
          </a:solidFill>
          <a:ln/>
        </p:spPr>
      </p:sp>
      <p:sp>
        <p:nvSpPr>
          <p:cNvPr id="46085" name="Rectangle 3"/>
          <p:cNvSpPr txBox="1">
            <a:spLocks noGrp="1" noChangeArrowheads="1"/>
          </p:cNvSpPr>
          <p:nvPr>
            <p:ph type="body" idx="1"/>
          </p:nvPr>
        </p:nvSpPr>
        <p:spPr>
          <a:xfrm>
            <a:off x="685494" y="4342939"/>
            <a:ext cx="5487013" cy="4114587"/>
          </a:xfrm>
          <a:noFill/>
          <a:ln/>
        </p:spPr>
        <p:txBody>
          <a:bodyPr wrap="none" anchor="ctr"/>
          <a:lstStyle/>
          <a:p>
            <a:pPr>
              <a:spcBef>
                <a:spcPts val="415"/>
              </a:spcBef>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endParaRPr lang="en-US" smtClean="0">
              <a:latin typeface="Arial" charset="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7"/>
          <p:cNvSpPr>
            <a:spLocks noGrp="1" noChangeArrowheads="1"/>
          </p:cNvSpPr>
          <p:nvPr>
            <p:ph type="sldNum" sz="quarter"/>
          </p:nvPr>
        </p:nvSpPr>
        <p:spPr>
          <a:noFill/>
        </p:spPr>
        <p:txBody>
          <a:bodyPr/>
          <a:lstStyle/>
          <a:p>
            <a:fld id="{8E9B7DAA-8679-4366-9789-50376599305C}" type="slidenum">
              <a:rPr lang="en-US"/>
              <a:pPr/>
              <a:t>20</a:t>
            </a:fld>
            <a:endParaRPr lang="en-US"/>
          </a:p>
        </p:txBody>
      </p:sp>
      <p:sp>
        <p:nvSpPr>
          <p:cNvPr id="48131" name="Text Box 1"/>
          <p:cNvSpPr txBox="1">
            <a:spLocks noChangeArrowheads="1"/>
          </p:cNvSpPr>
          <p:nvPr/>
        </p:nvSpPr>
        <p:spPr bwMode="auto">
          <a:xfrm>
            <a:off x="3884463" y="8685878"/>
            <a:ext cx="2972004" cy="456704"/>
          </a:xfrm>
          <a:prstGeom prst="rect">
            <a:avLst/>
          </a:prstGeom>
          <a:noFill/>
          <a:ln w="9525">
            <a:noFill/>
            <a:round/>
            <a:headEnd/>
            <a:tailEnd/>
          </a:ln>
        </p:spPr>
        <p:txBody>
          <a:bodyPr lIns="91387" tIns="45860" rIns="91387" bIns="45860" anchor="b"/>
          <a:lstStyle/>
          <a:p>
            <a:pPr algn="r">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fld id="{9F7F9D8A-3A80-4F00-8A11-2B7689336EA4}" type="slidenum">
              <a:rPr lang="en-US" sz="1200">
                <a:solidFill>
                  <a:srgbClr val="000000"/>
                </a:solidFill>
                <a:latin typeface="Arial" charset="0"/>
                <a:ea typeface="宋体" charset="-122"/>
              </a:rPr>
              <a:pPr algn="r">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t>20</a:t>
            </a:fld>
            <a:endParaRPr lang="en-US" sz="1200">
              <a:solidFill>
                <a:srgbClr val="000000"/>
              </a:solidFill>
              <a:latin typeface="Arial" charset="0"/>
              <a:ea typeface="宋体" charset="-122"/>
            </a:endParaRPr>
          </a:p>
        </p:txBody>
      </p:sp>
      <p:sp>
        <p:nvSpPr>
          <p:cNvPr id="48132" name="Rectangle 2"/>
          <p:cNvSpPr txBox="1">
            <a:spLocks noGrp="1" noRot="1" noChangeAspect="1" noChangeArrowheads="1" noTextEdit="1"/>
          </p:cNvSpPr>
          <p:nvPr>
            <p:ph type="sldImg"/>
          </p:nvPr>
        </p:nvSpPr>
        <p:spPr>
          <a:xfrm>
            <a:off x="1143000" y="685800"/>
            <a:ext cx="4572000" cy="3429000"/>
          </a:xfrm>
          <a:solidFill>
            <a:srgbClr val="FFFFFF"/>
          </a:solidFill>
          <a:ln/>
        </p:spPr>
      </p:sp>
      <p:sp>
        <p:nvSpPr>
          <p:cNvPr id="48133" name="Rectangle 3"/>
          <p:cNvSpPr txBox="1">
            <a:spLocks noGrp="1" noChangeArrowheads="1"/>
          </p:cNvSpPr>
          <p:nvPr>
            <p:ph type="body" idx="1"/>
          </p:nvPr>
        </p:nvSpPr>
        <p:spPr>
          <a:xfrm>
            <a:off x="685494" y="4342939"/>
            <a:ext cx="5487013" cy="4114587"/>
          </a:xfrm>
          <a:noFill/>
          <a:ln/>
        </p:spPr>
        <p:txBody>
          <a:bodyPr wrap="none" anchor="ctr"/>
          <a:lstStyle/>
          <a:p>
            <a:pPr>
              <a:spcBef>
                <a:spcPts val="415"/>
              </a:spcBef>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endParaRPr lang="en-US" smtClean="0">
              <a:latin typeface="Arial" charset="0"/>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p:cNvSpPr>
            <a:spLocks noGrp="1" noChangeArrowheads="1"/>
          </p:cNvSpPr>
          <p:nvPr>
            <p:ph type="sldNum" sz="quarter"/>
          </p:nvPr>
        </p:nvSpPr>
        <p:spPr>
          <a:noFill/>
        </p:spPr>
        <p:txBody>
          <a:bodyPr/>
          <a:lstStyle/>
          <a:p>
            <a:fld id="{C0499426-DC4A-484E-83E4-A26CDAA4AE4C}" type="slidenum">
              <a:rPr lang="en-US"/>
              <a:pPr/>
              <a:t>21</a:t>
            </a:fld>
            <a:endParaRPr lang="en-US"/>
          </a:p>
        </p:txBody>
      </p:sp>
      <p:sp>
        <p:nvSpPr>
          <p:cNvPr id="49155" name="Text Box 1"/>
          <p:cNvSpPr txBox="1">
            <a:spLocks noChangeArrowheads="1"/>
          </p:cNvSpPr>
          <p:nvPr/>
        </p:nvSpPr>
        <p:spPr bwMode="auto">
          <a:xfrm>
            <a:off x="3884463" y="8685878"/>
            <a:ext cx="2972004" cy="456704"/>
          </a:xfrm>
          <a:prstGeom prst="rect">
            <a:avLst/>
          </a:prstGeom>
          <a:noFill/>
          <a:ln w="9525">
            <a:noFill/>
            <a:round/>
            <a:headEnd/>
            <a:tailEnd/>
          </a:ln>
        </p:spPr>
        <p:txBody>
          <a:bodyPr lIns="91387" tIns="45860" rIns="91387" bIns="45860" anchor="b"/>
          <a:lstStyle/>
          <a:p>
            <a:pPr algn="r">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fld id="{DD3A006A-9F56-4FBF-A5F9-5A947D8AA0C4}" type="slidenum">
              <a:rPr lang="en-US" sz="1200">
                <a:solidFill>
                  <a:srgbClr val="000000"/>
                </a:solidFill>
                <a:latin typeface="Arial" charset="0"/>
                <a:ea typeface="宋体" charset="-122"/>
              </a:rPr>
              <a:pPr algn="r">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t>21</a:t>
            </a:fld>
            <a:endParaRPr lang="en-US" sz="1200">
              <a:solidFill>
                <a:srgbClr val="000000"/>
              </a:solidFill>
              <a:latin typeface="Arial" charset="0"/>
              <a:ea typeface="宋体" charset="-122"/>
            </a:endParaRPr>
          </a:p>
        </p:txBody>
      </p:sp>
      <p:sp>
        <p:nvSpPr>
          <p:cNvPr id="49156" name="Rectangle 2"/>
          <p:cNvSpPr txBox="1">
            <a:spLocks noGrp="1" noRot="1" noChangeAspect="1" noChangeArrowheads="1" noTextEdit="1"/>
          </p:cNvSpPr>
          <p:nvPr>
            <p:ph type="sldImg"/>
          </p:nvPr>
        </p:nvSpPr>
        <p:spPr>
          <a:xfrm>
            <a:off x="1143000" y="685800"/>
            <a:ext cx="4572000" cy="3429000"/>
          </a:xfrm>
          <a:solidFill>
            <a:srgbClr val="FFFFFF"/>
          </a:solidFill>
          <a:ln/>
        </p:spPr>
      </p:sp>
      <p:sp>
        <p:nvSpPr>
          <p:cNvPr id="49157" name="Rectangle 3"/>
          <p:cNvSpPr txBox="1">
            <a:spLocks noGrp="1" noChangeArrowheads="1"/>
          </p:cNvSpPr>
          <p:nvPr>
            <p:ph type="body" idx="1"/>
          </p:nvPr>
        </p:nvSpPr>
        <p:spPr>
          <a:xfrm>
            <a:off x="685494" y="4342939"/>
            <a:ext cx="5487013" cy="4114587"/>
          </a:xfrm>
          <a:noFill/>
          <a:ln/>
        </p:spPr>
        <p:txBody>
          <a:bodyPr wrap="none" anchor="ctr"/>
          <a:lstStyle/>
          <a:p>
            <a:pPr>
              <a:spcBef>
                <a:spcPts val="415"/>
              </a:spcBef>
              <a:tabLst>
                <a:tab pos="0" algn="l"/>
                <a:tab pos="844083" algn="l"/>
                <a:tab pos="1688165" algn="l"/>
                <a:tab pos="2532248" algn="l"/>
                <a:tab pos="3376331" algn="l"/>
                <a:tab pos="4220413" algn="l"/>
                <a:tab pos="5064496" algn="l"/>
                <a:tab pos="5908578" algn="l"/>
                <a:tab pos="6752661" algn="l"/>
                <a:tab pos="7596744" algn="l"/>
                <a:tab pos="8440826" algn="l"/>
                <a:tab pos="9284909" algn="l"/>
              </a:tabLst>
            </a:pPr>
            <a:endParaRPr lang="en-US" smtClean="0">
              <a:latin typeface="Arial" charset="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9CBCACE-DCAD-4573-AA2A-2A67CCE0C63F}"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3228954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CBCACE-DCAD-4573-AA2A-2A67CCE0C63F}"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26777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CBCACE-DCAD-4573-AA2A-2A67CCE0C63F}"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33831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9CBCACE-DCAD-4573-AA2A-2A67CCE0C63F}" type="datetimeFigureOut">
              <a:rPr lang="en-US" smtClean="0"/>
              <a:t>6/11/2021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794786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9CBCACE-DCAD-4573-AA2A-2A67CCE0C63F}" type="datetimeFigureOut">
              <a:rPr lang="en-US" smtClean="0"/>
              <a:t>6/11/2021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4134253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CBCACE-DCAD-4573-AA2A-2A67CCE0C63F}" type="datetimeFigureOut">
              <a:rPr lang="en-US" smtClean="0"/>
              <a:t>6/11/2021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44531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CBCACE-DCAD-4573-AA2A-2A67CCE0C63F}" type="datetimeFigureOut">
              <a:rPr lang="en-US" smtClean="0"/>
              <a:t>6/11/2021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13585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CBCACE-DCAD-4573-AA2A-2A67CCE0C63F}" type="datetimeFigureOut">
              <a:rPr lang="en-US" smtClean="0"/>
              <a:t>6/11/2021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55337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CBCACE-DCAD-4573-AA2A-2A67CCE0C63F}" type="datetimeFigureOut">
              <a:rPr lang="en-US" smtClean="0"/>
              <a:t>6/11/2021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31919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CBCACE-DCAD-4573-AA2A-2A67CCE0C63F}"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807666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CBCACE-DCAD-4573-AA2A-2A67CCE0C63F}"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278355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CBCACE-DCAD-4573-AA2A-2A67CCE0C63F}" type="datetimeFigureOut">
              <a:rPr lang="en-US" smtClean="0"/>
              <a:t>6/11/2021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3F945-5BA6-4CE2-AA9E-49E9EBDF942A}" type="slidenum">
              <a:rPr lang="en-US" smtClean="0"/>
              <a:t>‹#›</a:t>
            </a:fld>
            <a:endParaRPr lang="en-US"/>
          </a:p>
        </p:txBody>
      </p:sp>
    </p:spTree>
    <p:extLst>
      <p:ext uri="{BB962C8B-B14F-4D97-AF65-F5344CB8AC3E}">
        <p14:creationId xmlns:p14="http://schemas.microsoft.com/office/powerpoint/2010/main" val="496497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0000"/>
                </a:solidFill>
                <a:latin typeface="Times New Roman"/>
              </a:rPr>
              <a:t>Dynamic Polymorphism</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008990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a:t>
            </a:r>
            <a:endParaRPr lang="en-US" dirty="0"/>
          </a:p>
        </p:txBody>
      </p:sp>
      <p:sp>
        <p:nvSpPr>
          <p:cNvPr id="3" name="Content Placeholder 2"/>
          <p:cNvSpPr>
            <a:spLocks noGrp="1"/>
          </p:cNvSpPr>
          <p:nvPr>
            <p:ph idx="1"/>
          </p:nvPr>
        </p:nvSpPr>
        <p:spPr/>
        <p:txBody>
          <a:bodyPr/>
          <a:lstStyle/>
          <a:p>
            <a:r>
              <a:rPr lang="en-US" dirty="0"/>
              <a:t>Pointer is a variable which can hold the address of a memory location rather than the value at the location</a:t>
            </a:r>
            <a:r>
              <a:rPr lang="en-US" dirty="0" smtClean="0"/>
              <a:t>.</a:t>
            </a:r>
          </a:p>
          <a:p>
            <a:r>
              <a:rPr lang="en-US" dirty="0"/>
              <a:t>Consider the following statement </a:t>
            </a:r>
            <a:endParaRPr lang="en-US" dirty="0" smtClean="0"/>
          </a:p>
          <a:p>
            <a:pPr marL="0" indent="0">
              <a:buNone/>
            </a:pPr>
            <a:r>
              <a:rPr lang="en-US" dirty="0" smtClean="0"/>
              <a:t>        </a:t>
            </a:r>
            <a:r>
              <a:rPr lang="en-US" dirty="0" err="1" smtClean="0"/>
              <a:t>int</a:t>
            </a:r>
            <a:r>
              <a:rPr lang="en-US" dirty="0" smtClean="0"/>
              <a:t> </a:t>
            </a:r>
            <a:r>
              <a:rPr lang="en-US" dirty="0" err="1"/>
              <a:t>num</a:t>
            </a:r>
            <a:r>
              <a:rPr lang="en-US" dirty="0"/>
              <a:t> =84; </a:t>
            </a:r>
            <a:endParaRPr lang="en-US" dirty="0" smtClean="0"/>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4419600"/>
            <a:ext cx="5810250"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8806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we can access the value of </a:t>
            </a:r>
            <a:r>
              <a:rPr lang="en-US" dirty="0" err="1"/>
              <a:t>num</a:t>
            </a:r>
            <a:r>
              <a:rPr lang="en-US" dirty="0"/>
              <a:t> by the variable </a:t>
            </a:r>
            <a:r>
              <a:rPr lang="en-US" dirty="0" err="1"/>
              <a:t>ptr</a:t>
            </a:r>
            <a:r>
              <a:rPr lang="en-US" dirty="0" smtClean="0"/>
              <a:t>.</a:t>
            </a:r>
          </a:p>
          <a:p>
            <a:endParaRPr lang="en-US" dirty="0"/>
          </a:p>
          <a:p>
            <a:pPr marL="0" indent="0">
              <a:buNone/>
            </a:pPr>
            <a:endParaRPr lang="en-US" dirty="0" smtClean="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825" y="2867025"/>
            <a:ext cx="4324350"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564823"/>
            <a:ext cx="428625" cy="29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578677"/>
            <a:ext cx="571500" cy="29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596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 to objects</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dirty="0"/>
              <a:t>P</a:t>
            </a:r>
            <a:r>
              <a:rPr lang="en-US" dirty="0" smtClean="0"/>
              <a:t>ointers </a:t>
            </a:r>
            <a:r>
              <a:rPr lang="en-US" dirty="0"/>
              <a:t>can be defined in case of base C++ variables so also pointers can be defined for an object type. </a:t>
            </a:r>
            <a:r>
              <a:rPr lang="en-US" dirty="0" smtClean="0"/>
              <a:t>For example</a:t>
            </a:r>
          </a:p>
          <a:p>
            <a:endParaRPr lang="en-US" dirty="0"/>
          </a:p>
          <a:p>
            <a:r>
              <a:rPr lang="en-US" dirty="0" smtClean="0"/>
              <a:t>class A</a:t>
            </a:r>
          </a:p>
          <a:p>
            <a:pPr marL="0" indent="0">
              <a:buNone/>
            </a:pPr>
            <a:r>
              <a:rPr lang="en-US" dirty="0" smtClean="0"/>
              <a:t>     {</a:t>
            </a:r>
          </a:p>
          <a:p>
            <a:pPr marL="0" indent="0">
              <a:buNone/>
            </a:pPr>
            <a:r>
              <a:rPr lang="en-US" dirty="0"/>
              <a:t> </a:t>
            </a:r>
            <a:r>
              <a:rPr lang="en-US" dirty="0" smtClean="0"/>
              <a:t>       </a:t>
            </a:r>
            <a:r>
              <a:rPr lang="en-US" dirty="0" err="1" smtClean="0"/>
              <a:t>int</a:t>
            </a:r>
            <a:r>
              <a:rPr lang="en-US" dirty="0" smtClean="0"/>
              <a:t> </a:t>
            </a:r>
            <a:r>
              <a:rPr lang="en-US" dirty="0" err="1" smtClean="0"/>
              <a:t>x,y</a:t>
            </a:r>
            <a:r>
              <a:rPr lang="en-US" dirty="0" smtClean="0"/>
              <a:t>;</a:t>
            </a:r>
          </a:p>
          <a:p>
            <a:pPr marL="0" indent="0">
              <a:buNone/>
            </a:pPr>
            <a:r>
              <a:rPr lang="en-US" dirty="0"/>
              <a:t> </a:t>
            </a:r>
            <a:r>
              <a:rPr lang="en-US" dirty="0" smtClean="0"/>
              <a:t>      public:</a:t>
            </a:r>
          </a:p>
          <a:p>
            <a:pPr marL="0" indent="0">
              <a:buNone/>
            </a:pPr>
            <a:r>
              <a:rPr lang="en-US" dirty="0"/>
              <a:t> </a:t>
            </a:r>
            <a:r>
              <a:rPr lang="en-US" dirty="0" smtClean="0"/>
              <a:t>              void get();</a:t>
            </a:r>
          </a:p>
          <a:p>
            <a:pPr marL="0" indent="0">
              <a:buNone/>
            </a:pPr>
            <a:r>
              <a:rPr lang="en-US" dirty="0"/>
              <a:t> </a:t>
            </a:r>
            <a:r>
              <a:rPr lang="en-US" dirty="0" smtClean="0"/>
              <a:t>              void display();</a:t>
            </a:r>
          </a:p>
          <a:p>
            <a:pPr marL="0" indent="0">
              <a:buNone/>
            </a:pPr>
            <a:r>
              <a:rPr lang="en-US" dirty="0"/>
              <a:t> </a:t>
            </a:r>
            <a:r>
              <a:rPr lang="en-US" dirty="0" smtClean="0"/>
              <a:t>    };</a:t>
            </a:r>
            <a:endParaRPr lang="en-US" dirty="0"/>
          </a:p>
          <a:p>
            <a:r>
              <a:rPr lang="en-US" dirty="0"/>
              <a:t>A</a:t>
            </a:r>
            <a:r>
              <a:rPr lang="en-US" dirty="0" smtClean="0"/>
              <a:t> *</a:t>
            </a:r>
            <a:r>
              <a:rPr lang="en-US" dirty="0" err="1" smtClean="0"/>
              <a:t>abc</a:t>
            </a:r>
            <a:r>
              <a:rPr lang="en-US" dirty="0" smtClean="0"/>
              <a:t>   //pointer to class A</a:t>
            </a:r>
            <a:endParaRPr lang="en-US" dirty="0"/>
          </a:p>
        </p:txBody>
      </p:sp>
    </p:spTree>
    <p:extLst>
      <p:ext uri="{BB962C8B-B14F-4D97-AF65-F5344CB8AC3E}">
        <p14:creationId xmlns:p14="http://schemas.microsoft.com/office/powerpoint/2010/main" val="2159857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 to members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 class member pointer can be declared using the operator :: * with the class name.</a:t>
            </a:r>
          </a:p>
          <a:p>
            <a:r>
              <a:rPr lang="en-US" dirty="0"/>
              <a:t>For Example: </a:t>
            </a:r>
            <a:endParaRPr lang="en-US" dirty="0" smtClean="0"/>
          </a:p>
          <a:p>
            <a:pPr marL="0" indent="0">
              <a:buNone/>
            </a:pPr>
            <a:r>
              <a:rPr lang="en-US" dirty="0" smtClean="0"/>
              <a:t>           </a:t>
            </a:r>
            <a:r>
              <a:rPr lang="en-US" dirty="0" err="1" smtClean="0"/>
              <a:t>int</a:t>
            </a:r>
            <a:r>
              <a:rPr lang="en-US" dirty="0" smtClean="0"/>
              <a:t> A::*ptr=&amp;A::m  //data member</a:t>
            </a:r>
          </a:p>
          <a:p>
            <a:pPr marL="0" indent="0">
              <a:buNone/>
            </a:pPr>
            <a:r>
              <a:rPr lang="en-US" dirty="0"/>
              <a:t> </a:t>
            </a:r>
            <a:r>
              <a:rPr lang="en-US" dirty="0" smtClean="0"/>
              <a:t>          void (A::*</a:t>
            </a:r>
            <a:r>
              <a:rPr lang="en-US" dirty="0" err="1" smtClean="0"/>
              <a:t>ptr</a:t>
            </a:r>
            <a:r>
              <a:rPr lang="en-US" dirty="0" smtClean="0"/>
              <a:t>)(void)=&amp;A::input;  //member function</a:t>
            </a:r>
            <a:endParaRPr lang="en-US" dirty="0"/>
          </a:p>
          <a:p>
            <a:r>
              <a:rPr lang="en-US" dirty="0" smtClean="0"/>
              <a:t>We can also design pointers to member functions which ,then can be invoked using the </a:t>
            </a:r>
            <a:r>
              <a:rPr lang="en-US" dirty="0" err="1" smtClean="0"/>
              <a:t>deferencing</a:t>
            </a:r>
            <a:r>
              <a:rPr lang="en-US" dirty="0" smtClean="0"/>
              <a:t> operator in the main as shown below.</a:t>
            </a:r>
          </a:p>
          <a:p>
            <a:pPr marL="0" indent="0">
              <a:buNone/>
            </a:pPr>
            <a:r>
              <a:rPr lang="en-US" dirty="0" smtClean="0"/>
              <a:t>   (object-name.* pointer-to-member function)</a:t>
            </a:r>
          </a:p>
          <a:p>
            <a:pPr marL="0" indent="0">
              <a:buNone/>
            </a:pPr>
            <a:r>
              <a:rPr lang="en-US" dirty="0" smtClean="0"/>
              <a:t>   (pointer-to -object -&gt; * pointer-to-member function)</a:t>
            </a:r>
            <a:endParaRPr lang="en-US" dirty="0"/>
          </a:p>
        </p:txBody>
      </p:sp>
    </p:spTree>
    <p:extLst>
      <p:ext uri="{BB962C8B-B14F-4D97-AF65-F5344CB8AC3E}">
        <p14:creationId xmlns:p14="http://schemas.microsoft.com/office/powerpoint/2010/main" val="326420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828800"/>
            <a:ext cx="2362200"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Connector 7"/>
          <p:cNvCxnSpPr/>
          <p:nvPr/>
        </p:nvCxnSpPr>
        <p:spPr>
          <a:xfrm>
            <a:off x="2590800" y="1600200"/>
            <a:ext cx="0" cy="4724400"/>
          </a:xfrm>
          <a:prstGeom prst="line">
            <a:avLst/>
          </a:prstGeom>
        </p:spPr>
        <p:style>
          <a:lnRef idx="1">
            <a:schemeClr val="accent1"/>
          </a:lnRef>
          <a:fillRef idx="0">
            <a:schemeClr val="accent1"/>
          </a:fillRef>
          <a:effectRef idx="0">
            <a:schemeClr val="accent1"/>
          </a:effectRef>
          <a:fontRef idx="minor">
            <a:schemeClr val="tx1"/>
          </a:fontRef>
        </p:style>
      </p:cxnSp>
      <p:pic>
        <p:nvPicPr>
          <p:cNvPr id="4101"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43200" y="1600200"/>
            <a:ext cx="365760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Connector 9"/>
          <p:cNvCxnSpPr/>
          <p:nvPr/>
        </p:nvCxnSpPr>
        <p:spPr>
          <a:xfrm>
            <a:off x="6400800" y="1447800"/>
            <a:ext cx="0" cy="4876800"/>
          </a:xfrm>
          <a:prstGeom prst="line">
            <a:avLst/>
          </a:prstGeom>
        </p:spPr>
        <p:style>
          <a:lnRef idx="1">
            <a:schemeClr val="accent1"/>
          </a:lnRef>
          <a:fillRef idx="0">
            <a:schemeClr val="accent1"/>
          </a:fillRef>
          <a:effectRef idx="0">
            <a:schemeClr val="accent1"/>
          </a:effectRef>
          <a:fontRef idx="minor">
            <a:schemeClr val="tx1"/>
          </a:fontRef>
        </p:style>
      </p:cxnSp>
      <p:pic>
        <p:nvPicPr>
          <p:cNvPr id="410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042680"/>
            <a:ext cx="2057400" cy="2681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280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 to derived class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We can use pointers not only to the base objects but also to the objects of derived classes. </a:t>
            </a:r>
          </a:p>
          <a:p>
            <a:r>
              <a:rPr lang="en-US" dirty="0" smtClean="0"/>
              <a:t>Pointers to objects of a base class are type-compatible with pointers to objects of a derived class.</a:t>
            </a:r>
          </a:p>
          <a:p>
            <a:r>
              <a:rPr lang="en-US" dirty="0" smtClean="0"/>
              <a:t>With base class pointer, we can access the public members of the derived class, only those members which are inherited from base class and not the members that originally belong to derived class.</a:t>
            </a:r>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930795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2590800"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3124200" y="1676400"/>
            <a:ext cx="0" cy="4876800"/>
          </a:xfrm>
          <a:prstGeom prst="line">
            <a:avLst/>
          </a:prstGeom>
        </p:spPr>
        <p:style>
          <a:lnRef idx="1">
            <a:schemeClr val="accent1"/>
          </a:lnRef>
          <a:fillRef idx="0">
            <a:schemeClr val="accent1"/>
          </a:fillRef>
          <a:effectRef idx="0">
            <a:schemeClr val="accent1"/>
          </a:effectRef>
          <a:fontRef idx="minor">
            <a:schemeClr val="tx1"/>
          </a:fontRef>
        </p:style>
      </p:cxn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683326"/>
            <a:ext cx="2590800" cy="3879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5867400" y="1676400"/>
            <a:ext cx="0" cy="4876800"/>
          </a:xfrm>
          <a:prstGeom prst="line">
            <a:avLst/>
          </a:prstGeom>
        </p:spPr>
        <p:style>
          <a:lnRef idx="1">
            <a:schemeClr val="accent1"/>
          </a:lnRef>
          <a:fillRef idx="0">
            <a:schemeClr val="accent1"/>
          </a:fillRef>
          <a:effectRef idx="0">
            <a:schemeClr val="accent1"/>
          </a:effectRef>
          <a:fontRef idx="minor">
            <a:schemeClr val="tx1"/>
          </a:fontRef>
        </p:style>
      </p:cxnSp>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756062"/>
            <a:ext cx="2209800" cy="3349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763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 Function</a:t>
            </a:r>
            <a:endParaRPr lang="en-US" dirty="0"/>
          </a:p>
        </p:txBody>
      </p:sp>
      <p:sp>
        <p:nvSpPr>
          <p:cNvPr id="3" name="Content Placeholder 2"/>
          <p:cNvSpPr>
            <a:spLocks noGrp="1"/>
          </p:cNvSpPr>
          <p:nvPr>
            <p:ph idx="1"/>
          </p:nvPr>
        </p:nvSpPr>
        <p:spPr/>
        <p:txBody>
          <a:bodyPr>
            <a:normAutofit/>
          </a:bodyPr>
          <a:lstStyle/>
          <a:p>
            <a:r>
              <a:rPr lang="en-US" dirty="0"/>
              <a:t>A virtual function is a member function which is declared within a base class and is </a:t>
            </a:r>
            <a:r>
              <a:rPr lang="en-US" dirty="0" smtClean="0"/>
              <a:t>re-defined(Overridden</a:t>
            </a:r>
            <a:r>
              <a:rPr lang="en-US" dirty="0"/>
              <a:t>) by a derived class. When you refer to a derived class object using a pointer or a reference to the base class, you can call a virtual function for that object and execute the derived class’s version of the function. </a:t>
            </a:r>
            <a:endParaRPr lang="en-US" dirty="0" smtClean="0"/>
          </a:p>
          <a:p>
            <a:endParaRPr lang="en-US" dirty="0"/>
          </a:p>
        </p:txBody>
      </p:sp>
    </p:spTree>
    <p:extLst>
      <p:ext uri="{BB962C8B-B14F-4D97-AF65-F5344CB8AC3E}">
        <p14:creationId xmlns:p14="http://schemas.microsoft.com/office/powerpoint/2010/main" val="1424858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make a member function virtual, the keyword virtual is used in the methods while it is declared in the class definition but not in the member function definition</a:t>
            </a:r>
            <a:r>
              <a:rPr lang="en-US" dirty="0" smtClean="0"/>
              <a:t>.</a:t>
            </a:r>
          </a:p>
          <a:p>
            <a:r>
              <a:rPr lang="en-US" dirty="0" smtClean="0"/>
              <a:t>For example:</a:t>
            </a:r>
            <a:endParaRPr lang="en-US" dirty="0"/>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233863"/>
            <a:ext cx="3352800" cy="2014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1144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Rules for Virtual Function</a:t>
            </a:r>
            <a:endParaRPr lang="en-US" dirty="0"/>
          </a:p>
        </p:txBody>
      </p:sp>
      <p:sp>
        <p:nvSpPr>
          <p:cNvPr id="4" name="Content Placeholder 3"/>
          <p:cNvSpPr>
            <a:spLocks noGrp="1"/>
          </p:cNvSpPr>
          <p:nvPr>
            <p:ph idx="1"/>
          </p:nvPr>
        </p:nvSpPr>
        <p:spPr/>
        <p:txBody>
          <a:bodyPr/>
          <a:lstStyle/>
          <a:p>
            <a:r>
              <a:rPr lang="en-US" dirty="0" smtClean="0"/>
              <a:t>The virtual functions must be members of some class.</a:t>
            </a:r>
          </a:p>
          <a:p>
            <a:r>
              <a:rPr lang="en-US" dirty="0" smtClean="0"/>
              <a:t>They cannot be static members.</a:t>
            </a:r>
          </a:p>
          <a:p>
            <a:r>
              <a:rPr lang="en-US" dirty="0" smtClean="0"/>
              <a:t>They are accessed by using object pointers.</a:t>
            </a:r>
          </a:p>
          <a:p>
            <a:r>
              <a:rPr lang="en-US" dirty="0" smtClean="0"/>
              <a:t>We can not have virtual construction.</a:t>
            </a:r>
          </a:p>
          <a:p>
            <a:r>
              <a:rPr lang="en-US" dirty="0"/>
              <a:t>T</a:t>
            </a:r>
            <a:r>
              <a:rPr lang="en-US" dirty="0" smtClean="0"/>
              <a:t>he </a:t>
            </a:r>
            <a:r>
              <a:rPr lang="en-US" dirty="0"/>
              <a:t>keyword virtual should not be repeated in the definition if the definition occurs outside the class declaration. </a:t>
            </a:r>
          </a:p>
        </p:txBody>
      </p:sp>
    </p:spTree>
    <p:extLst>
      <p:ext uri="{BB962C8B-B14F-4D97-AF65-F5344CB8AC3E}">
        <p14:creationId xmlns:p14="http://schemas.microsoft.com/office/powerpoint/2010/main" val="2678460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2466975"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3000375" y="1676400"/>
            <a:ext cx="0" cy="4648200"/>
          </a:xfrm>
          <a:prstGeom prst="line">
            <a:avLst/>
          </a:prstGeom>
        </p:spPr>
        <p:style>
          <a:lnRef idx="1">
            <a:schemeClr val="accent1"/>
          </a:lnRef>
          <a:fillRef idx="0">
            <a:schemeClr val="accent1"/>
          </a:fillRef>
          <a:effectRef idx="0">
            <a:schemeClr val="accent1"/>
          </a:effectRef>
          <a:fontRef idx="minor">
            <a:schemeClr val="tx1"/>
          </a:fontRef>
        </p:style>
      </p:cxn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8" y="1828800"/>
            <a:ext cx="2486025"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5815013" y="1828800"/>
            <a:ext cx="0" cy="4343400"/>
          </a:xfrm>
          <a:prstGeom prst="line">
            <a:avLst/>
          </a:prstGeom>
        </p:spPr>
        <p:style>
          <a:lnRef idx="1">
            <a:schemeClr val="accent1"/>
          </a:lnRef>
          <a:fillRef idx="0">
            <a:schemeClr val="accent1"/>
          </a:fillRef>
          <a:effectRef idx="0">
            <a:schemeClr val="accent1"/>
          </a:effectRef>
          <a:fontRef idx="minor">
            <a:schemeClr val="tx1"/>
          </a:fontRef>
        </p:style>
      </p:cxnSp>
      <p:pic>
        <p:nvPicPr>
          <p:cNvPr id="9220" name="Picture 4"/>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096000" y="1676400"/>
            <a:ext cx="185737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3034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Pure Virtual Functions </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772403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p:cNvSpPr txBox="1">
            <a:spLocks noChangeArrowheads="1"/>
          </p:cNvSpPr>
          <p:nvPr/>
        </p:nvSpPr>
        <p:spPr bwMode="auto">
          <a:xfrm>
            <a:off x="457200" y="274638"/>
            <a:ext cx="8229600" cy="1143000"/>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a:solidFill>
                  <a:srgbClr val="000000"/>
                </a:solidFill>
                <a:latin typeface="Arial" charset="0"/>
              </a:rPr>
              <a:t>Pure Virtual Function</a:t>
            </a:r>
          </a:p>
        </p:txBody>
      </p:sp>
      <p:sp>
        <p:nvSpPr>
          <p:cNvPr id="13315" name="Text Box 2"/>
          <p:cNvSpPr txBox="1">
            <a:spLocks noChangeArrowheads="1"/>
          </p:cNvSpPr>
          <p:nvPr/>
        </p:nvSpPr>
        <p:spPr bwMode="auto">
          <a:xfrm>
            <a:off x="457200" y="1600200"/>
            <a:ext cx="8229600" cy="4525963"/>
          </a:xfrm>
          <a:prstGeom prst="rect">
            <a:avLst/>
          </a:prstGeom>
          <a:noFill/>
          <a:ln w="9525">
            <a:noFill/>
            <a:round/>
            <a:headEnd/>
            <a:tailEnd/>
          </a:ln>
        </p:spPr>
        <p:txBody>
          <a:bodyPr/>
          <a:lstStyle/>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Arial" charset="0"/>
              </a:rPr>
              <a:t>A </a:t>
            </a:r>
            <a:r>
              <a:rPr lang="en-IN" sz="2400" b="1" dirty="0">
                <a:solidFill>
                  <a:srgbClr val="000000"/>
                </a:solidFill>
                <a:latin typeface="Arial" charset="0"/>
              </a:rPr>
              <a:t>pure virtual function</a:t>
            </a:r>
            <a:r>
              <a:rPr lang="en-IN" sz="2400" dirty="0">
                <a:solidFill>
                  <a:srgbClr val="000000"/>
                </a:solidFill>
                <a:latin typeface="Arial" charset="0"/>
              </a:rPr>
              <a:t> is a function that has </a:t>
            </a:r>
            <a:r>
              <a:rPr lang="en-IN" sz="2400" b="1" i="1" dirty="0">
                <a:solidFill>
                  <a:srgbClr val="000000"/>
                </a:solidFill>
                <a:latin typeface="Arial" charset="0"/>
              </a:rPr>
              <a:t>the notation "= 0"</a:t>
            </a:r>
            <a:r>
              <a:rPr lang="en-IN" sz="2400" dirty="0">
                <a:solidFill>
                  <a:srgbClr val="000000"/>
                </a:solidFill>
                <a:latin typeface="Arial" charset="0"/>
              </a:rPr>
              <a:t> in the declaration of that function. </a:t>
            </a:r>
            <a:endParaRPr lang="en-IN" sz="2400" dirty="0" smtClean="0">
              <a:solidFill>
                <a:srgbClr val="000000"/>
              </a:solidFill>
              <a:latin typeface="Arial" charset="0"/>
            </a:endParaRPr>
          </a:p>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smtClean="0">
                <a:solidFill>
                  <a:srgbClr val="000000"/>
                </a:solidFill>
                <a:latin typeface="Arial" charset="0"/>
              </a:rPr>
              <a:t>Ex.</a:t>
            </a:r>
          </a:p>
          <a:p>
            <a:pPr>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Arial" charset="0"/>
              </a:rPr>
              <a:t> </a:t>
            </a:r>
            <a:r>
              <a:rPr lang="en-IN" sz="2400" dirty="0" smtClean="0">
                <a:solidFill>
                  <a:srgbClr val="000000"/>
                </a:solidFill>
                <a:latin typeface="Arial" charset="0"/>
              </a:rPr>
              <a:t>   </a:t>
            </a:r>
            <a:r>
              <a:rPr lang="en-IN" sz="2400" dirty="0" smtClean="0">
                <a:solidFill>
                  <a:srgbClr val="000000"/>
                </a:solidFill>
                <a:latin typeface="Arial" charset="0"/>
              </a:rPr>
              <a:t>class </a:t>
            </a:r>
            <a:r>
              <a:rPr lang="en-IN" sz="2400" dirty="0" err="1">
                <a:solidFill>
                  <a:srgbClr val="000000"/>
                </a:solidFill>
                <a:latin typeface="Arial" charset="0"/>
              </a:rPr>
              <a:t>SomeClass</a:t>
            </a:r>
            <a:endParaRPr lang="en-IN" sz="2400" dirty="0">
              <a:solidFill>
                <a:srgbClr val="000000"/>
              </a:solidFill>
              <a:latin typeface="Arial" charset="0"/>
            </a:endParaRPr>
          </a:p>
          <a:p>
            <a:pPr marL="341313" indent="-341313">
              <a:spcBef>
                <a:spcPts val="60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Arial" charset="0"/>
              </a:rPr>
              <a:t>	 { </a:t>
            </a:r>
            <a:endParaRPr lang="en-IN" sz="2400" dirty="0" smtClean="0">
              <a:solidFill>
                <a:srgbClr val="000000"/>
              </a:solidFill>
              <a:latin typeface="Arial" charset="0"/>
            </a:endParaRPr>
          </a:p>
          <a:p>
            <a:pPr marL="341313" indent="-341313">
              <a:spcBef>
                <a:spcPts val="60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Arial" charset="0"/>
              </a:rPr>
              <a:t> </a:t>
            </a:r>
            <a:r>
              <a:rPr lang="en-IN" sz="2400" dirty="0" smtClean="0">
                <a:solidFill>
                  <a:srgbClr val="000000"/>
                </a:solidFill>
                <a:latin typeface="Arial" charset="0"/>
              </a:rPr>
              <a:t>        </a:t>
            </a:r>
            <a:r>
              <a:rPr lang="en-IN" sz="2400" dirty="0" smtClean="0">
                <a:solidFill>
                  <a:srgbClr val="000000"/>
                </a:solidFill>
                <a:latin typeface="Arial" charset="0"/>
              </a:rPr>
              <a:t>public</a:t>
            </a:r>
            <a:r>
              <a:rPr lang="en-IN" sz="2400" dirty="0">
                <a:solidFill>
                  <a:srgbClr val="000000"/>
                </a:solidFill>
                <a:latin typeface="Arial" charset="0"/>
              </a:rPr>
              <a:t>: virtual void </a:t>
            </a:r>
            <a:r>
              <a:rPr lang="en-IN" sz="2400" dirty="0" err="1">
                <a:solidFill>
                  <a:srgbClr val="000000"/>
                </a:solidFill>
                <a:latin typeface="Arial" charset="0"/>
              </a:rPr>
              <a:t>pure_virtual</a:t>
            </a:r>
            <a:r>
              <a:rPr lang="en-IN" sz="2400" dirty="0">
                <a:solidFill>
                  <a:srgbClr val="000000"/>
                </a:solidFill>
                <a:latin typeface="Arial" charset="0"/>
              </a:rPr>
              <a:t>() = 0; </a:t>
            </a:r>
            <a:endParaRPr lang="en-IN" sz="2400" dirty="0" smtClean="0">
              <a:solidFill>
                <a:srgbClr val="000000"/>
              </a:solidFill>
              <a:latin typeface="Arial" charset="0"/>
            </a:endParaRPr>
          </a:p>
          <a:p>
            <a:pPr marL="341313" indent="-341313">
              <a:spcBef>
                <a:spcPts val="60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Arial" charset="0"/>
              </a:rPr>
              <a:t>	}; </a:t>
            </a:r>
          </a:p>
        </p:txBody>
      </p:sp>
    </p:spTree>
    <p:extLst>
      <p:ext uri="{BB962C8B-B14F-4D97-AF65-F5344CB8AC3E}">
        <p14:creationId xmlns:p14="http://schemas.microsoft.com/office/powerpoint/2010/main" val="70385134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
          <p:cNvSpPr txBox="1">
            <a:spLocks noChangeArrowheads="1"/>
          </p:cNvSpPr>
          <p:nvPr/>
        </p:nvSpPr>
        <p:spPr bwMode="auto">
          <a:xfrm>
            <a:off x="457200" y="130175"/>
            <a:ext cx="8229600" cy="1431925"/>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a:solidFill>
                  <a:srgbClr val="000000"/>
                </a:solidFill>
                <a:latin typeface="Arial" charset="0"/>
              </a:rPr>
              <a:t>The pure specifier</a:t>
            </a:r>
            <a:br>
              <a:rPr lang="en-IN" sz="4400" b="1">
                <a:solidFill>
                  <a:srgbClr val="000000"/>
                </a:solidFill>
                <a:latin typeface="Arial" charset="0"/>
              </a:rPr>
            </a:br>
            <a:endParaRPr lang="en-IN" sz="4400" b="1">
              <a:solidFill>
                <a:srgbClr val="000000"/>
              </a:solidFill>
              <a:latin typeface="Arial" charset="0"/>
            </a:endParaRPr>
          </a:p>
        </p:txBody>
      </p:sp>
      <p:sp>
        <p:nvSpPr>
          <p:cNvPr id="14339" name="Text Box 2"/>
          <p:cNvSpPr txBox="1">
            <a:spLocks noChangeArrowheads="1"/>
          </p:cNvSpPr>
          <p:nvPr/>
        </p:nvSpPr>
        <p:spPr bwMode="auto">
          <a:xfrm>
            <a:off x="457200" y="1600200"/>
            <a:ext cx="8229600" cy="4525963"/>
          </a:xfrm>
          <a:prstGeom prst="rect">
            <a:avLst/>
          </a:prstGeom>
          <a:noFill/>
          <a:ln w="9525">
            <a:noFill/>
            <a:round/>
            <a:headEnd/>
            <a:tailEnd/>
          </a:ln>
        </p:spPr>
        <p:txBody>
          <a:bodyPr/>
          <a:lstStyle/>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a:solidFill>
                  <a:srgbClr val="000000"/>
                </a:solidFill>
                <a:latin typeface="Arial" charset="0"/>
              </a:rPr>
              <a:t>The "= 0" portion of a pure virtual function is also known as the pure specifier, because it’s what makes a pure virtual function “pure”. </a:t>
            </a:r>
          </a:p>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a:solidFill>
                  <a:srgbClr val="000000"/>
                </a:solidFill>
                <a:latin typeface="Arial" charset="0"/>
              </a:rPr>
              <a:t>Pure specifier appended to the end of the virtual function definition may look like the function is being assigned a value of 0, that is not true. </a:t>
            </a:r>
          </a:p>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a:solidFill>
                  <a:srgbClr val="000000"/>
                </a:solidFill>
                <a:latin typeface="Arial" charset="0"/>
              </a:rPr>
              <a:t>The notation "= 0" is just there to indicate that the virtual function is a pure virtual function, and that the function has no body or definition. </a:t>
            </a:r>
          </a:p>
        </p:txBody>
      </p:sp>
      <p:sp>
        <p:nvSpPr>
          <p:cNvPr id="14340" name="Text Box 3"/>
          <p:cNvSpPr txBox="1">
            <a:spLocks noChangeArrowheads="1"/>
          </p:cNvSpPr>
          <p:nvPr/>
        </p:nvSpPr>
        <p:spPr bwMode="auto">
          <a:xfrm>
            <a:off x="6553200" y="6245225"/>
            <a:ext cx="2133600" cy="476250"/>
          </a:xfrm>
          <a:prstGeom prst="rect">
            <a:avLst/>
          </a:prstGeom>
          <a:noFill/>
          <a:ln w="9525">
            <a:noFill/>
            <a:round/>
            <a:headEnd/>
            <a:tailEnd/>
          </a:ln>
        </p:spPr>
        <p:txBody>
          <a:bodyPr lIns="90000" tIns="46800" rIns="90000" bIns="46800"/>
          <a:lstStyle/>
          <a:p>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dirty="0">
              <a:solidFill>
                <a:srgbClr val="000000"/>
              </a:solidFill>
              <a:latin typeface="Arial" charset="0"/>
              <a:ea typeface="宋体" charset="-122"/>
            </a:endParaRPr>
          </a:p>
        </p:txBody>
      </p:sp>
    </p:spTree>
    <p:extLst>
      <p:ext uri="{BB962C8B-B14F-4D97-AF65-F5344CB8AC3E}">
        <p14:creationId xmlns:p14="http://schemas.microsoft.com/office/powerpoint/2010/main" val="38399879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p:cNvSpPr txBox="1">
            <a:spLocks noChangeArrowheads="1"/>
          </p:cNvSpPr>
          <p:nvPr/>
        </p:nvSpPr>
        <p:spPr bwMode="auto">
          <a:xfrm>
            <a:off x="457200" y="76200"/>
            <a:ext cx="8229600" cy="1143000"/>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a:solidFill>
                  <a:srgbClr val="000000"/>
                </a:solidFill>
                <a:latin typeface="Verdana" pitchFamily="32" charset="0"/>
                <a:ea typeface="宋体" charset="-122"/>
              </a:rPr>
              <a:t>Abstract Classes</a:t>
            </a:r>
          </a:p>
        </p:txBody>
      </p:sp>
      <p:sp>
        <p:nvSpPr>
          <p:cNvPr id="15363" name="Text Box 2"/>
          <p:cNvSpPr txBox="1">
            <a:spLocks noChangeArrowheads="1"/>
          </p:cNvSpPr>
          <p:nvPr/>
        </p:nvSpPr>
        <p:spPr bwMode="auto">
          <a:xfrm>
            <a:off x="6553200" y="6245225"/>
            <a:ext cx="2133600" cy="476250"/>
          </a:xfrm>
          <a:prstGeom prst="rect">
            <a:avLst/>
          </a:prstGeom>
          <a:noFill/>
          <a:ln w="9525">
            <a:noFill/>
            <a:round/>
            <a:headEnd/>
            <a:tailEnd/>
          </a:ln>
        </p:spPr>
        <p:txBody>
          <a:bodyPr lIns="90000" tIns="46800" rIns="90000" bIns="46800"/>
          <a:lstStyle/>
          <a:p>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dirty="0">
              <a:solidFill>
                <a:srgbClr val="000000"/>
              </a:solidFill>
              <a:latin typeface="Arial" charset="0"/>
              <a:ea typeface="宋体" charset="-122"/>
            </a:endParaRPr>
          </a:p>
        </p:txBody>
      </p:sp>
      <p:sp>
        <p:nvSpPr>
          <p:cNvPr id="15364" name="Text Box 3"/>
          <p:cNvSpPr txBox="1">
            <a:spLocks noChangeArrowheads="1"/>
          </p:cNvSpPr>
          <p:nvPr/>
        </p:nvSpPr>
        <p:spPr bwMode="auto">
          <a:xfrm>
            <a:off x="457200" y="1219200"/>
            <a:ext cx="8229600" cy="5502275"/>
          </a:xfrm>
          <a:prstGeom prst="rect">
            <a:avLst/>
          </a:prstGeom>
          <a:noFill/>
          <a:ln w="9525">
            <a:noFill/>
            <a:round/>
            <a:headEnd/>
            <a:tailEnd/>
          </a:ln>
        </p:spPr>
        <p:txBody>
          <a:bodyPr/>
          <a:lstStyle/>
          <a:p>
            <a:pPr marL="341313" indent="-341313" algn="just">
              <a:spcBef>
                <a:spcPts val="1500"/>
              </a:spcBef>
              <a:buFont typeface="Verdana" pitchFamily="32"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a:solidFill>
                  <a:srgbClr val="000000"/>
                </a:solidFill>
                <a:latin typeface="Verdana" pitchFamily="32" charset="0"/>
                <a:ea typeface="宋体" charset="-122"/>
              </a:rPr>
              <a:t>A class with one or more pure virtual  functions is an </a:t>
            </a:r>
            <a:r>
              <a:rPr lang="en-US" sz="2400" dirty="0">
                <a:solidFill>
                  <a:srgbClr val="0000FF"/>
                </a:solidFill>
                <a:latin typeface="Verdana" pitchFamily="32" charset="0"/>
                <a:ea typeface="宋体" charset="-122"/>
              </a:rPr>
              <a:t>Abstract Class</a:t>
            </a:r>
          </a:p>
          <a:p>
            <a:pPr marL="341313" indent="-341313" algn="just">
              <a:spcBef>
                <a:spcPts val="1500"/>
              </a:spcBef>
              <a:buFont typeface="Verdana" pitchFamily="32"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a:solidFill>
                  <a:srgbClr val="000000"/>
                </a:solidFill>
                <a:latin typeface="Verdana" pitchFamily="32" charset="0"/>
                <a:ea typeface="宋体" charset="-122"/>
              </a:rPr>
              <a:t> Objects of abstract class can’t be created</a:t>
            </a:r>
          </a:p>
          <a:p>
            <a:pPr marL="341313" indent="-341313" algn="just">
              <a:spcBef>
                <a:spcPts val="1500"/>
              </a:spcBef>
              <a:buFont typeface="Verdana" pitchFamily="32"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Verdana" pitchFamily="32" charset="0"/>
                <a:ea typeface="宋体" charset="-122"/>
              </a:rPr>
              <a:t>Abstract Class is a class which contains </a:t>
            </a:r>
            <a:r>
              <a:rPr lang="en-IN" sz="2400" dirty="0" err="1" smtClean="0">
                <a:solidFill>
                  <a:srgbClr val="000000"/>
                </a:solidFill>
                <a:latin typeface="Verdana" pitchFamily="32" charset="0"/>
                <a:ea typeface="宋体" charset="-122"/>
              </a:rPr>
              <a:t>atleast</a:t>
            </a:r>
            <a:r>
              <a:rPr lang="en-IN" sz="2400" dirty="0" smtClean="0">
                <a:solidFill>
                  <a:srgbClr val="000000"/>
                </a:solidFill>
                <a:latin typeface="Verdana" pitchFamily="32" charset="0"/>
                <a:ea typeface="宋体" charset="-122"/>
              </a:rPr>
              <a:t> </a:t>
            </a:r>
            <a:r>
              <a:rPr lang="en-IN" sz="2400" dirty="0">
                <a:solidFill>
                  <a:srgbClr val="000000"/>
                </a:solidFill>
                <a:latin typeface="Verdana" pitchFamily="32" charset="0"/>
                <a:ea typeface="宋体" charset="-122"/>
              </a:rPr>
              <a:t>one Pure Virtual function in it. </a:t>
            </a:r>
          </a:p>
          <a:p>
            <a:pPr marL="341313" indent="-341313" algn="just">
              <a:spcBef>
                <a:spcPts val="1500"/>
              </a:spcBef>
              <a:buFont typeface="Verdana" pitchFamily="32"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Verdana" pitchFamily="32" charset="0"/>
                <a:ea typeface="宋体" charset="-122"/>
              </a:rPr>
              <a:t>Abstract classes are used to provide an Interface for its sub classes. </a:t>
            </a:r>
          </a:p>
          <a:p>
            <a:pPr marL="341313" indent="-341313" algn="just">
              <a:spcBef>
                <a:spcPts val="1500"/>
              </a:spcBef>
              <a:buFont typeface="Verdana" pitchFamily="32"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solidFill>
                  <a:srgbClr val="000000"/>
                </a:solidFill>
                <a:latin typeface="Verdana" pitchFamily="32" charset="0"/>
                <a:ea typeface="宋体" charset="-122"/>
              </a:rPr>
              <a:t>Classes inheriting an Abstract Class must provide definition to the pure virtual function, otherwise they will also become abstract class</a:t>
            </a:r>
            <a:r>
              <a:rPr lang="en-IN" sz="2400" dirty="0" smtClean="0">
                <a:solidFill>
                  <a:srgbClr val="000000"/>
                </a:solidFill>
                <a:latin typeface="Verdana" pitchFamily="32" charset="0"/>
                <a:ea typeface="宋体" charset="-122"/>
              </a:rPr>
              <a:t>.</a:t>
            </a:r>
          </a:p>
          <a:p>
            <a:pPr marL="341313" indent="-341313" algn="just">
              <a:spcBef>
                <a:spcPts val="1500"/>
              </a:spcBef>
              <a:buFont typeface="Verdana" pitchFamily="32"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sz="2400" dirty="0">
                <a:latin typeface="Verdana" pitchFamily="32" charset="0"/>
                <a:ea typeface="宋体" charset="-122"/>
              </a:rPr>
              <a:t>P</a:t>
            </a:r>
            <a:r>
              <a:rPr lang="en-IN" sz="2400" dirty="0" smtClean="0">
                <a:latin typeface="Verdana" pitchFamily="32" charset="0"/>
                <a:ea typeface="宋体" charset="-122"/>
              </a:rPr>
              <a:t>ointer </a:t>
            </a:r>
            <a:r>
              <a:rPr lang="en-IN" sz="2400" dirty="0" smtClean="0">
                <a:latin typeface="Verdana" pitchFamily="32" charset="0"/>
                <a:ea typeface="宋体" charset="-122"/>
              </a:rPr>
              <a:t>of abstract class can hold address of derived class</a:t>
            </a:r>
            <a:endParaRPr lang="en-IN" sz="2400" dirty="0">
              <a:latin typeface="Verdana" pitchFamily="32" charset="0"/>
              <a:ea typeface="宋体" charset="-122"/>
            </a:endParaRPr>
          </a:p>
          <a:p>
            <a:pPr marL="341313" indent="-341313">
              <a:spcBef>
                <a:spcPts val="600"/>
              </a:spcBef>
              <a:buFont typeface="Verdana" pitchFamily="32"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a:solidFill>
                <a:srgbClr val="000000"/>
              </a:solidFill>
              <a:latin typeface="Verdana" pitchFamily="32" charset="0"/>
              <a:ea typeface="宋体" charset="-122"/>
            </a:endParaRPr>
          </a:p>
        </p:txBody>
      </p:sp>
    </p:spTree>
    <p:extLst>
      <p:ext uri="{BB962C8B-B14F-4D97-AF65-F5344CB8AC3E}">
        <p14:creationId xmlns:p14="http://schemas.microsoft.com/office/powerpoint/2010/main" val="16028115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485775" y="417512"/>
            <a:ext cx="8229600" cy="725488"/>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smtClean="0">
                <a:solidFill>
                  <a:srgbClr val="000000"/>
                </a:solidFill>
                <a:latin typeface="Arial" charset="0"/>
              </a:rPr>
              <a:t>Simple Example</a:t>
            </a:r>
          </a:p>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smtClean="0">
                <a:solidFill>
                  <a:srgbClr val="000000"/>
                </a:solidFill>
                <a:latin typeface="Arial" charset="0"/>
              </a:rPr>
              <a:t>Math </a:t>
            </a:r>
            <a:r>
              <a:rPr lang="en-GB" sz="4000" b="1" dirty="0">
                <a:solidFill>
                  <a:srgbClr val="000000"/>
                </a:solidFill>
                <a:latin typeface="Arial" charset="0"/>
              </a:rPr>
              <a:t>Symbol Problem</a:t>
            </a:r>
          </a:p>
        </p:txBody>
      </p:sp>
      <p:sp>
        <p:nvSpPr>
          <p:cNvPr id="3075" name="Text Box 2"/>
          <p:cNvSpPr txBox="1">
            <a:spLocks noChangeArrowheads="1"/>
          </p:cNvSpPr>
          <p:nvPr/>
        </p:nvSpPr>
        <p:spPr bwMode="auto">
          <a:xfrm>
            <a:off x="142875" y="1371600"/>
            <a:ext cx="8858250" cy="5272088"/>
          </a:xfrm>
          <a:prstGeom prst="rect">
            <a:avLst/>
          </a:prstGeom>
          <a:noFill/>
          <a:ln w="9525">
            <a:noFill/>
            <a:round/>
            <a:headEnd/>
            <a:tailEnd/>
          </a:ln>
        </p:spPr>
        <p:txBody>
          <a:bodyPr/>
          <a:lstStyle/>
          <a:p>
            <a:pPr marL="341313" indent="-341313" algn="just">
              <a:lnSpc>
                <a:spcPct val="150000"/>
              </a:lnSpc>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solidFill>
                  <a:srgbClr val="000000"/>
                </a:solidFill>
                <a:latin typeface="Arial" charset="0"/>
              </a:rPr>
              <a:t> Create a</a:t>
            </a:r>
            <a:r>
              <a:rPr lang="en-IN" sz="2800" dirty="0">
                <a:solidFill>
                  <a:srgbClr val="000000"/>
                </a:solidFill>
                <a:latin typeface="Arial" charset="0"/>
              </a:rPr>
              <a:t>n abstract class </a:t>
            </a:r>
            <a:r>
              <a:rPr lang="en-IN" sz="2800" dirty="0" err="1">
                <a:solidFill>
                  <a:srgbClr val="000000"/>
                </a:solidFill>
                <a:latin typeface="Arial" charset="0"/>
              </a:rPr>
              <a:t>MathSymbol</a:t>
            </a:r>
            <a:r>
              <a:rPr lang="en-IN" sz="2800" dirty="0">
                <a:solidFill>
                  <a:srgbClr val="000000"/>
                </a:solidFill>
                <a:latin typeface="Arial" charset="0"/>
              </a:rPr>
              <a:t> may provide a pure virtual function </a:t>
            </a:r>
            <a:r>
              <a:rPr lang="en-IN" sz="2800" dirty="0" err="1">
                <a:solidFill>
                  <a:srgbClr val="000000"/>
                </a:solidFill>
                <a:latin typeface="Arial" charset="0"/>
              </a:rPr>
              <a:t>doOperation</a:t>
            </a:r>
            <a:r>
              <a:rPr lang="en-IN" sz="2800" dirty="0">
                <a:solidFill>
                  <a:srgbClr val="000000"/>
                </a:solidFill>
                <a:latin typeface="Arial" charset="0"/>
              </a:rPr>
              <a:t>(), and create two more classes Plus and Minus implement </a:t>
            </a:r>
            <a:r>
              <a:rPr lang="en-IN" sz="2800" dirty="0" err="1">
                <a:solidFill>
                  <a:srgbClr val="000000"/>
                </a:solidFill>
                <a:latin typeface="Arial" charset="0"/>
              </a:rPr>
              <a:t>doOperation</a:t>
            </a:r>
            <a:r>
              <a:rPr lang="en-IN" sz="2800" dirty="0">
                <a:solidFill>
                  <a:srgbClr val="000000"/>
                </a:solidFill>
                <a:latin typeface="Arial" charset="0"/>
              </a:rPr>
              <a:t>() to provide concrete implementations of addition in Plus class and subtraction in Minus class. </a:t>
            </a:r>
          </a:p>
        </p:txBody>
      </p:sp>
      <p:sp>
        <p:nvSpPr>
          <p:cNvPr id="3076" name="Text Box 3"/>
          <p:cNvSpPr txBox="1">
            <a:spLocks noChangeArrowheads="1"/>
          </p:cNvSpPr>
          <p:nvPr/>
        </p:nvSpPr>
        <p:spPr bwMode="auto">
          <a:xfrm>
            <a:off x="6553200" y="6245225"/>
            <a:ext cx="2133600" cy="476250"/>
          </a:xfrm>
          <a:prstGeom prst="rect">
            <a:avLst/>
          </a:prstGeom>
          <a:noFill/>
          <a:ln w="9525">
            <a:noFill/>
            <a:round/>
            <a:headEnd/>
            <a:tailEnd/>
          </a:ln>
        </p:spPr>
        <p:txBody>
          <a:bodyPr lIns="90000" tIns="46800" rIns="90000" bIns="46800"/>
          <a:lstStyle/>
          <a:p>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6ACACBC-FD07-4E92-B59B-D86DB73DFC32}" type="slidenum">
              <a:rPr lang="en-US" sz="1400">
                <a:solidFill>
                  <a:srgbClr val="000000"/>
                </a:solidFill>
                <a:latin typeface="Arial" charset="0"/>
                <a:ea typeface="宋体" charset="-122"/>
              </a:rPr>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17</a:t>
            </a:fld>
            <a:endParaRPr lang="en-US" sz="1400">
              <a:solidFill>
                <a:srgbClr val="000000"/>
              </a:solidFill>
              <a:latin typeface="Arial" charset="0"/>
              <a:ea typeface="宋体" charset="-122"/>
            </a:endParaRPr>
          </a:p>
        </p:txBody>
      </p:sp>
    </p:spTree>
    <p:extLst>
      <p:ext uri="{BB962C8B-B14F-4D97-AF65-F5344CB8AC3E}">
        <p14:creationId xmlns:p14="http://schemas.microsoft.com/office/powerpoint/2010/main" val="215864915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p:cNvSpPr txBox="1">
            <a:spLocks noChangeArrowheads="1"/>
          </p:cNvSpPr>
          <p:nvPr/>
        </p:nvSpPr>
        <p:spPr bwMode="auto">
          <a:xfrm>
            <a:off x="485775" y="0"/>
            <a:ext cx="8229600" cy="725488"/>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a:solidFill>
                  <a:srgbClr val="000000"/>
                </a:solidFill>
                <a:latin typeface="Arial" charset="0"/>
              </a:rPr>
              <a:t>Algorithm for Math Symbol Problem</a:t>
            </a:r>
          </a:p>
        </p:txBody>
      </p:sp>
      <p:sp>
        <p:nvSpPr>
          <p:cNvPr id="5123" name="Text Box 2"/>
          <p:cNvSpPr txBox="1">
            <a:spLocks noChangeArrowheads="1"/>
          </p:cNvSpPr>
          <p:nvPr/>
        </p:nvSpPr>
        <p:spPr bwMode="auto">
          <a:xfrm>
            <a:off x="285750" y="785813"/>
            <a:ext cx="8643938" cy="5929312"/>
          </a:xfrm>
          <a:prstGeom prst="rect">
            <a:avLst/>
          </a:prstGeom>
          <a:noFill/>
          <a:ln w="9525">
            <a:noFill/>
            <a:round/>
            <a:headEnd/>
            <a:tailEnd/>
          </a:ln>
        </p:spPr>
        <p:txBody>
          <a:bodyPr/>
          <a:lstStyle/>
          <a:p>
            <a:pPr marL="341313" indent="-341313" algn="just">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a:solidFill>
                  <a:srgbClr val="000000"/>
                </a:solidFill>
                <a:latin typeface="Arial" charset="0"/>
              </a:rPr>
              <a:t>Create Mathsymbol abstract class with doOperation() pure virtual function.</a:t>
            </a:r>
          </a:p>
          <a:p>
            <a:pPr marL="341313" indent="-341313" algn="just">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a:solidFill>
                  <a:srgbClr val="000000"/>
                </a:solidFill>
                <a:latin typeface="Arial" charset="0"/>
              </a:rPr>
              <a:t>Create plus class derived from Mathsymbol.</a:t>
            </a:r>
          </a:p>
          <a:p>
            <a:pPr marL="341313" indent="-341313" algn="just">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a:solidFill>
                  <a:srgbClr val="000000"/>
                </a:solidFill>
                <a:latin typeface="Arial" charset="0"/>
              </a:rPr>
              <a:t>Create minus class dervied from Mathsymbol.</a:t>
            </a:r>
          </a:p>
          <a:p>
            <a:pPr marL="341313" indent="-341313" algn="just">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a:solidFill>
                  <a:srgbClr val="000000"/>
                </a:solidFill>
                <a:latin typeface="Arial" charset="0"/>
              </a:rPr>
              <a:t>Perform addition in plus class using doOperation() pure virtual function.</a:t>
            </a:r>
          </a:p>
          <a:p>
            <a:pPr marL="341313" indent="-341313" algn="just">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a:solidFill>
                  <a:srgbClr val="000000"/>
                </a:solidFill>
                <a:latin typeface="Arial" charset="0"/>
              </a:rPr>
              <a:t>Perform subtraction in minus class using doOperation() pure virtual function.</a:t>
            </a:r>
          </a:p>
          <a:p>
            <a:pPr marL="341313" indent="-341313" algn="just">
              <a:spcBef>
                <a:spcPts val="8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a:solidFill>
                  <a:srgbClr val="000000"/>
                </a:solidFill>
                <a:latin typeface="Arial" charset="0"/>
              </a:rPr>
              <a:t>Print  each values in respective classes.</a:t>
            </a:r>
          </a:p>
        </p:txBody>
      </p:sp>
      <p:sp>
        <p:nvSpPr>
          <p:cNvPr id="5124" name="Text Box 3"/>
          <p:cNvSpPr txBox="1">
            <a:spLocks noChangeArrowheads="1"/>
          </p:cNvSpPr>
          <p:nvPr/>
        </p:nvSpPr>
        <p:spPr bwMode="auto">
          <a:xfrm>
            <a:off x="6553200" y="6245225"/>
            <a:ext cx="2133600" cy="476250"/>
          </a:xfrm>
          <a:prstGeom prst="rect">
            <a:avLst/>
          </a:prstGeom>
          <a:noFill/>
          <a:ln w="9525">
            <a:noFill/>
            <a:round/>
            <a:headEnd/>
            <a:tailEnd/>
          </a:ln>
        </p:spPr>
        <p:txBody>
          <a:bodyPr lIns="90000" tIns="46800" rIns="90000" bIns="46800"/>
          <a:lstStyle/>
          <a:p>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6B773AA-293A-477F-A512-81F3DE5C3C04}" type="slidenum">
              <a:rPr lang="en-US" sz="1400">
                <a:solidFill>
                  <a:srgbClr val="000000"/>
                </a:solidFill>
                <a:latin typeface="Arial" charset="0"/>
                <a:ea typeface="宋体" charset="-122"/>
              </a:rPr>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18</a:t>
            </a:fld>
            <a:endParaRPr lang="en-US" sz="1400">
              <a:solidFill>
                <a:srgbClr val="000000"/>
              </a:solidFill>
              <a:latin typeface="Arial" charset="0"/>
              <a:ea typeface="宋体" charset="-122"/>
            </a:endParaRPr>
          </a:p>
        </p:txBody>
      </p:sp>
    </p:spTree>
    <p:extLst>
      <p:ext uri="{BB962C8B-B14F-4D97-AF65-F5344CB8AC3E}">
        <p14:creationId xmlns:p14="http://schemas.microsoft.com/office/powerpoint/2010/main" val="384437873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457200" y="457200"/>
            <a:ext cx="8229600" cy="762000"/>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000">
                <a:solidFill>
                  <a:srgbClr val="000000"/>
                </a:solidFill>
                <a:latin typeface="Verdana" pitchFamily="32" charset="0"/>
                <a:ea typeface="宋体" charset="-122"/>
              </a:rPr>
              <a:t>Example</a:t>
            </a:r>
          </a:p>
        </p:txBody>
      </p:sp>
      <p:sp>
        <p:nvSpPr>
          <p:cNvPr id="16387" name="Text Box 2"/>
          <p:cNvSpPr txBox="1">
            <a:spLocks noChangeArrowheads="1"/>
          </p:cNvSpPr>
          <p:nvPr/>
        </p:nvSpPr>
        <p:spPr bwMode="auto">
          <a:xfrm>
            <a:off x="838200" y="3868738"/>
            <a:ext cx="7543800" cy="1739900"/>
          </a:xfrm>
          <a:prstGeom prst="rect">
            <a:avLst/>
          </a:prstGeom>
          <a:solidFill>
            <a:srgbClr val="FFFFC5"/>
          </a:solidFill>
          <a:ln w="9525">
            <a:noFill/>
            <a:round/>
            <a:headEnd/>
            <a:tailEnd/>
          </a:ln>
        </p:spPr>
        <p:txBody>
          <a:bodyPr lIns="90000" tIns="46800" rIns="90000" bIns="46800">
            <a:spAutoFit/>
          </a:bodyPr>
          <a:lstStyle/>
          <a:p>
            <a:pPr>
              <a:lnSpc>
                <a:spcPct val="9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solidFill>
                  <a:srgbClr val="0000FF"/>
                </a:solidFill>
                <a:ea typeface="宋体" charset="-122"/>
              </a:rPr>
              <a:t>class</a:t>
            </a:r>
            <a:r>
              <a:rPr lang="en-US">
                <a:solidFill>
                  <a:srgbClr val="000000"/>
                </a:solidFill>
                <a:ea typeface="宋体" charset="-122"/>
              </a:rPr>
              <a:t> Mathsymbol </a:t>
            </a:r>
            <a:r>
              <a:rPr lang="en-US">
                <a:solidFill>
                  <a:srgbClr val="339933"/>
                </a:solidFill>
                <a:ea typeface="宋体" charset="-122"/>
              </a:rPr>
              <a:t>//Abstract</a:t>
            </a:r>
            <a:r>
              <a:rPr lang="en-US">
                <a:solidFill>
                  <a:srgbClr val="000000"/>
                </a:solidFill>
                <a:ea typeface="宋体" charset="-122"/>
              </a:rPr>
              <a:t> </a:t>
            </a:r>
          </a:p>
          <a:p>
            <a:pPr>
              <a:lnSpc>
                <a:spcPct val="9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solidFill>
                  <a:srgbClr val="000000"/>
                </a:solidFill>
                <a:ea typeface="宋体" charset="-122"/>
              </a:rPr>
              <a:t>{</a:t>
            </a:r>
            <a:br>
              <a:rPr lang="en-US">
                <a:solidFill>
                  <a:srgbClr val="000000"/>
                </a:solidFill>
                <a:ea typeface="宋体" charset="-122"/>
              </a:rPr>
            </a:br>
            <a:r>
              <a:rPr lang="en-US">
                <a:solidFill>
                  <a:srgbClr val="000000"/>
                </a:solidFill>
                <a:ea typeface="宋体" charset="-122"/>
              </a:rPr>
              <a:t>  </a:t>
            </a:r>
            <a:r>
              <a:rPr lang="en-US">
                <a:solidFill>
                  <a:srgbClr val="0000FF"/>
                </a:solidFill>
                <a:ea typeface="宋体" charset="-122"/>
              </a:rPr>
              <a:t>public</a:t>
            </a:r>
            <a:r>
              <a:rPr lang="en-US">
                <a:solidFill>
                  <a:srgbClr val="000000"/>
                </a:solidFill>
                <a:ea typeface="宋体" charset="-122"/>
              </a:rPr>
              <a:t> :</a:t>
            </a:r>
            <a:br>
              <a:rPr lang="en-US">
                <a:solidFill>
                  <a:srgbClr val="000000"/>
                </a:solidFill>
                <a:ea typeface="宋体" charset="-122"/>
              </a:rPr>
            </a:br>
            <a:r>
              <a:rPr lang="en-US">
                <a:solidFill>
                  <a:srgbClr val="000000"/>
                </a:solidFill>
                <a:ea typeface="宋体" charset="-122"/>
              </a:rPr>
              <a:t>  </a:t>
            </a:r>
            <a:r>
              <a:rPr lang="en-US">
                <a:solidFill>
                  <a:srgbClr val="339933"/>
                </a:solidFill>
                <a:ea typeface="宋体" charset="-122"/>
              </a:rPr>
              <a:t>//Pure virtual Function</a:t>
            </a:r>
            <a:br>
              <a:rPr lang="en-US">
                <a:solidFill>
                  <a:srgbClr val="339933"/>
                </a:solidFill>
                <a:ea typeface="宋体" charset="-122"/>
              </a:rPr>
            </a:br>
            <a:r>
              <a:rPr lang="en-US">
                <a:solidFill>
                  <a:srgbClr val="000000"/>
                </a:solidFill>
                <a:ea typeface="宋体" charset="-122"/>
              </a:rPr>
              <a:t>  </a:t>
            </a:r>
            <a:r>
              <a:rPr lang="en-US">
                <a:solidFill>
                  <a:srgbClr val="0000FF"/>
                </a:solidFill>
                <a:ea typeface="宋体" charset="-122"/>
              </a:rPr>
              <a:t>virtual void</a:t>
            </a:r>
            <a:r>
              <a:rPr lang="en-US">
                <a:solidFill>
                  <a:srgbClr val="000000"/>
                </a:solidFill>
                <a:ea typeface="宋体" charset="-122"/>
              </a:rPr>
              <a:t> doOperation() </a:t>
            </a:r>
            <a:r>
              <a:rPr lang="en-US" u="sng">
                <a:solidFill>
                  <a:srgbClr val="000000"/>
                </a:solidFill>
                <a:ea typeface="宋体" charset="-122"/>
              </a:rPr>
              <a:t>= 0;</a:t>
            </a:r>
          </a:p>
          <a:p>
            <a:pPr>
              <a:lnSpc>
                <a:spcPct val="9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solidFill>
                  <a:srgbClr val="000000"/>
                </a:solidFill>
                <a:ea typeface="宋体" charset="-122"/>
              </a:rPr>
              <a:t>}</a:t>
            </a:r>
          </a:p>
        </p:txBody>
      </p:sp>
      <p:sp>
        <p:nvSpPr>
          <p:cNvPr id="17411" name="Text Box 3"/>
          <p:cNvSpPr txBox="1">
            <a:spLocks noChangeArrowheads="1"/>
          </p:cNvSpPr>
          <p:nvPr/>
        </p:nvSpPr>
        <p:spPr bwMode="auto">
          <a:xfrm>
            <a:off x="1584325" y="5888038"/>
            <a:ext cx="6918325" cy="398462"/>
          </a:xfrm>
          <a:prstGeom prst="rect">
            <a:avLst/>
          </a:prstGeom>
          <a:noFill/>
          <a:ln w="9525">
            <a:noFill/>
            <a:round/>
            <a:headEnd/>
            <a:tailEnd/>
          </a:ln>
        </p:spPr>
        <p:txBody>
          <a:bodyPr wrap="none" lIns="90000" tIns="46800" rIns="90000" bIns="46800">
            <a:spAutoFit/>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solidFill>
                  <a:srgbClr val="000000"/>
                </a:solidFill>
                <a:latin typeface="Verdana" pitchFamily="32" charset="0"/>
                <a:ea typeface="宋体" charset="-122"/>
              </a:rPr>
              <a:t>Mathsymbol M; </a:t>
            </a:r>
            <a:r>
              <a:rPr lang="en-US">
                <a:solidFill>
                  <a:srgbClr val="FF0000"/>
                </a:solidFill>
                <a:latin typeface="Verdana" pitchFamily="32" charset="0"/>
                <a:ea typeface="宋体" charset="-122"/>
              </a:rPr>
              <a:t>// error : variable of an abstract class</a:t>
            </a:r>
          </a:p>
        </p:txBody>
      </p:sp>
      <p:sp>
        <p:nvSpPr>
          <p:cNvPr id="16389" name="Text Box 4"/>
          <p:cNvSpPr txBox="1">
            <a:spLocks noChangeArrowheads="1"/>
          </p:cNvSpPr>
          <p:nvPr/>
        </p:nvSpPr>
        <p:spPr bwMode="auto">
          <a:xfrm>
            <a:off x="304800" y="1295400"/>
            <a:ext cx="8610600" cy="2438400"/>
          </a:xfrm>
          <a:prstGeom prst="rect">
            <a:avLst/>
          </a:prstGeom>
          <a:noFill/>
          <a:ln w="9525">
            <a:noFill/>
            <a:round/>
            <a:headEnd/>
            <a:tailEnd/>
          </a:ln>
        </p:spPr>
        <p:txBody>
          <a:bodyPr lIns="0" tIns="46800" rIns="0" bIns="46800"/>
          <a:lstStyle/>
          <a:p>
            <a:pPr marL="341313" indent="-341313">
              <a:spcBef>
                <a:spcPts val="550"/>
              </a:spcBef>
              <a:buClr>
                <a:srgbClr val="CC6600"/>
              </a:buClr>
              <a:buFont typeface="Verdana" pitchFamily="32"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pPr>
            <a:r>
              <a:rPr lang="en-US" sz="2200" dirty="0">
                <a:solidFill>
                  <a:srgbClr val="CC6600"/>
                </a:solidFill>
                <a:latin typeface="Verdana" pitchFamily="32" charset="0"/>
                <a:ea typeface="宋体" charset="-122"/>
              </a:rPr>
              <a:t>Some classes exist logically but not physically</a:t>
            </a:r>
            <a:r>
              <a:rPr lang="en-US" sz="2200" dirty="0">
                <a:solidFill>
                  <a:srgbClr val="000000"/>
                </a:solidFill>
                <a:latin typeface="Verdana" pitchFamily="32" charset="0"/>
                <a:ea typeface="宋体" charset="-122"/>
              </a:rPr>
              <a:t>.</a:t>
            </a:r>
          </a:p>
          <a:p>
            <a:pPr marL="341313" indent="-341313">
              <a:spcBef>
                <a:spcPts val="550"/>
              </a:spcBef>
              <a:buFont typeface="Verdana" pitchFamily="32"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pPr>
            <a:r>
              <a:rPr lang="en-US" sz="2200" dirty="0">
                <a:solidFill>
                  <a:srgbClr val="000000"/>
                </a:solidFill>
                <a:latin typeface="Verdana" pitchFamily="32" charset="0"/>
                <a:ea typeface="宋体" charset="-122"/>
              </a:rPr>
              <a:t>Example : </a:t>
            </a:r>
            <a:r>
              <a:rPr lang="en-US" sz="2200" dirty="0" err="1">
                <a:solidFill>
                  <a:srgbClr val="000000"/>
                </a:solidFill>
                <a:latin typeface="Verdana" pitchFamily="32" charset="0"/>
                <a:ea typeface="宋体" charset="-122"/>
              </a:rPr>
              <a:t>Mathsymbol</a:t>
            </a:r>
            <a:endParaRPr lang="en-US" sz="2200" dirty="0">
              <a:solidFill>
                <a:srgbClr val="000000"/>
              </a:solidFill>
              <a:latin typeface="Verdana" pitchFamily="32" charset="0"/>
              <a:ea typeface="宋体" charset="-122"/>
            </a:endParaRPr>
          </a:p>
          <a:p>
            <a:pPr marL="741363" lvl="1" indent="-284163">
              <a:spcBef>
                <a:spcPts val="550"/>
              </a:spcBef>
              <a:buFont typeface="Verdana" pitchFamily="32"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pPr>
            <a:r>
              <a:rPr lang="en-US" sz="2200" dirty="0" err="1" smtClean="0">
                <a:solidFill>
                  <a:srgbClr val="000000"/>
                </a:solidFill>
                <a:latin typeface="Verdana" pitchFamily="32" charset="0"/>
                <a:ea typeface="宋体" charset="-122"/>
              </a:rPr>
              <a:t>Mathssymbol</a:t>
            </a:r>
            <a:r>
              <a:rPr lang="en-US" sz="2200" dirty="0" smtClean="0">
                <a:solidFill>
                  <a:srgbClr val="000000"/>
                </a:solidFill>
                <a:latin typeface="Verdana" pitchFamily="32" charset="0"/>
                <a:ea typeface="宋体" charset="-122"/>
              </a:rPr>
              <a:t> </a:t>
            </a:r>
            <a:r>
              <a:rPr lang="en-US" sz="2200" dirty="0">
                <a:solidFill>
                  <a:srgbClr val="000000"/>
                </a:solidFill>
                <a:latin typeface="Verdana" pitchFamily="32" charset="0"/>
                <a:ea typeface="宋体" charset="-122"/>
              </a:rPr>
              <a:t>makes sense only as a base of some classes derived from it. Serves as a “category”</a:t>
            </a:r>
          </a:p>
          <a:p>
            <a:pPr marL="741363" lvl="1" indent="-284163">
              <a:spcBef>
                <a:spcPts val="550"/>
              </a:spcBef>
              <a:buFont typeface="Verdana" pitchFamily="32"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pPr>
            <a:r>
              <a:rPr lang="en-US" sz="2200" dirty="0">
                <a:solidFill>
                  <a:srgbClr val="000000"/>
                </a:solidFill>
                <a:latin typeface="Verdana" pitchFamily="32" charset="0"/>
                <a:ea typeface="宋体" charset="-122"/>
              </a:rPr>
              <a:t>Hence instantiation of such a class must be prevented </a:t>
            </a:r>
          </a:p>
        </p:txBody>
      </p:sp>
    </p:spTree>
    <p:extLst>
      <p:ext uri="{BB962C8B-B14F-4D97-AF65-F5344CB8AC3E}">
        <p14:creationId xmlns:p14="http://schemas.microsoft.com/office/powerpoint/2010/main" val="3069297972"/>
      </p:ext>
    </p:extLst>
  </p:cSld>
  <p:clrMapOvr>
    <a:masterClrMapping/>
  </p:clrMapOvr>
  <p:transition spd="med"/>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clickEffect">
                            <p:stCondLst>
                              <p:cond delay="0"/>
                            </p:stCondLst>
                            <p:childTnLst>
                              <p:par>
                                <p:cTn id="5" presetID="2" presetClass="entr" presetSubtype="4" fill="hold" nodeType="clickEffect">
                                  <p:stCondLst>
                                    <p:cond delay="0"/>
                                  </p:stCondLst>
                                  <p:childTnLst>
                                    <p:set>
                                      <p:cBhvr additive="repl">
                                        <p:cTn id="6" dur="1" fill="hold">
                                          <p:stCondLst>
                                            <p:cond delay="0"/>
                                          </p:stCondLst>
                                        </p:cTn>
                                        <p:tgtEl>
                                          <p:spTgt spid="17411"/>
                                        </p:tgtEl>
                                        <p:attrNameLst>
                                          <p:attrName>style.visibility</p:attrName>
                                        </p:attrNameLst>
                                      </p:cBhvr>
                                      <p:to>
                                        <p:strVal val="visible"/>
                                      </p:to>
                                    </p:set>
                                    <p:anim calcmode="lin" valueType="num">
                                      <p:cBhvr>
                                        <p:cTn id="7" dur="500" fill="hold"/>
                                        <p:tgtEl>
                                          <p:spTgt spid="17411"/>
                                        </p:tgtEl>
                                        <p:attrNameLst>
                                          <p:attrName>ppt_x</p:attrName>
                                        </p:attrNameLst>
                                      </p:cBhvr>
                                      <p:tavLst>
                                        <p:tav tm="100000">
                                          <p:val>
                                            <p:strVal val="#ppt_x"/>
                                          </p:val>
                                        </p:tav>
                                        <p:tav tm="100000">
                                          <p:val>
                                            <p:strVal val="#ppt_x"/>
                                          </p:val>
                                        </p:tav>
                                      </p:tavLst>
                                    </p:anim>
                                    <p:anim calcmode="lin" valueType="num">
                                      <p:cBhvr>
                                        <p:cTn id="8" dur="500" fill="hold"/>
                                        <p:tgtEl>
                                          <p:spTgt spid="17411"/>
                                        </p:tgtEl>
                                        <p:attrNameLst>
                                          <p:attrName>ppt_y</p:attrName>
                                        </p:attrNameLst>
                                      </p:cBhvr>
                                      <p:tavLst>
                                        <p:tav tm="10000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2"/>
          <p:cNvSpPr txBox="1">
            <a:spLocks noChangeArrowheads="1"/>
          </p:cNvSpPr>
          <p:nvPr/>
        </p:nvSpPr>
        <p:spPr bwMode="auto">
          <a:xfrm>
            <a:off x="457200" y="457200"/>
            <a:ext cx="8229600" cy="1295400"/>
          </a:xfrm>
          <a:prstGeom prst="rect">
            <a:avLst/>
          </a:prstGeom>
          <a:noFill/>
          <a:ln w="9525">
            <a:noFill/>
            <a:round/>
            <a:headEnd/>
            <a:tailEnd/>
          </a:ln>
        </p:spPr>
        <p:txBody>
          <a:bodyPr lIns="90000" tIns="46800" rIns="90000" bIns="46800"/>
          <a:lstStyle/>
          <a:p>
            <a:pPr marL="341313" indent="-341313">
              <a:lnSpc>
                <a:spcPct val="90000"/>
              </a:lnSpc>
              <a:spcBef>
                <a:spcPts val="650"/>
              </a:spcBef>
              <a:buFont typeface="Verdana" pitchFamily="32"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pPr>
            <a:r>
              <a:rPr lang="en-US" sz="2600">
                <a:solidFill>
                  <a:srgbClr val="000000"/>
                </a:solidFill>
                <a:latin typeface="Verdana" pitchFamily="32" charset="0"/>
                <a:ea typeface="Verdana" pitchFamily="32" charset="0"/>
                <a:cs typeface="Verdana" pitchFamily="32" charset="0"/>
              </a:rPr>
              <a:t>A pure virtual function </a:t>
            </a:r>
            <a:r>
              <a:rPr lang="en-US" sz="2600" u="sng">
                <a:solidFill>
                  <a:srgbClr val="000000"/>
                </a:solidFill>
                <a:latin typeface="Verdana" pitchFamily="32" charset="0"/>
                <a:ea typeface="Verdana" pitchFamily="32" charset="0"/>
                <a:cs typeface="Verdana" pitchFamily="32" charset="0"/>
              </a:rPr>
              <a:t>not defined</a:t>
            </a:r>
            <a:r>
              <a:rPr lang="en-US" sz="2600">
                <a:solidFill>
                  <a:srgbClr val="000000"/>
                </a:solidFill>
                <a:latin typeface="Verdana" pitchFamily="32" charset="0"/>
                <a:ea typeface="Verdana" pitchFamily="32" charset="0"/>
                <a:cs typeface="Verdana" pitchFamily="32" charset="0"/>
              </a:rPr>
              <a:t> in the derived class remains a pure virtual function.</a:t>
            </a:r>
          </a:p>
          <a:p>
            <a:pPr marL="341313" indent="-341313">
              <a:lnSpc>
                <a:spcPct val="90000"/>
              </a:lnSpc>
              <a:spcBef>
                <a:spcPts val="650"/>
              </a:spcBef>
              <a:buFont typeface="Verdana" pitchFamily="32"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pPr>
            <a:r>
              <a:rPr lang="en-US" sz="2600">
                <a:solidFill>
                  <a:srgbClr val="000000"/>
                </a:solidFill>
                <a:latin typeface="Verdana" pitchFamily="32" charset="0"/>
                <a:ea typeface="Verdana" pitchFamily="32" charset="0"/>
                <a:cs typeface="Verdana" pitchFamily="32" charset="0"/>
              </a:rPr>
              <a:t>Hence derived class also becomes abstract</a:t>
            </a:r>
          </a:p>
        </p:txBody>
      </p:sp>
      <p:sp>
        <p:nvSpPr>
          <p:cNvPr id="18436" name="Rectangle 3"/>
          <p:cNvSpPr>
            <a:spLocks noChangeArrowheads="1"/>
          </p:cNvSpPr>
          <p:nvPr/>
        </p:nvSpPr>
        <p:spPr bwMode="auto">
          <a:xfrm>
            <a:off x="533400" y="1828800"/>
            <a:ext cx="8229600" cy="3124200"/>
          </a:xfrm>
          <a:prstGeom prst="rect">
            <a:avLst/>
          </a:prstGeom>
          <a:solidFill>
            <a:srgbClr val="CCFFFF"/>
          </a:solidFill>
          <a:ln w="9525">
            <a:noFill/>
            <a:round/>
            <a:headEnd/>
            <a:tailEnd/>
          </a:ln>
        </p:spPr>
        <p:txBody>
          <a:bodyPr lIns="90000" tIns="46800" rIns="90000" bIns="46800"/>
          <a:lstStyle/>
          <a:p>
            <a:pPr marL="342900" indent="-341313">
              <a:lnSpc>
                <a:spcPct val="90000"/>
              </a:lnSpc>
              <a:buClrTx/>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solidFill>
                  <a:srgbClr val="000000"/>
                </a:solidFill>
                <a:ea typeface="宋体" charset="-122"/>
              </a:rPr>
              <a:t>class </a:t>
            </a:r>
            <a:r>
              <a:rPr lang="en-US">
                <a:solidFill>
                  <a:srgbClr val="FF0000"/>
                </a:solidFill>
                <a:ea typeface="宋体" charset="-122"/>
              </a:rPr>
              <a:t>Plus</a:t>
            </a:r>
            <a:r>
              <a:rPr lang="en-US">
                <a:solidFill>
                  <a:srgbClr val="000000"/>
                </a:solidFill>
                <a:ea typeface="宋体" charset="-122"/>
              </a:rPr>
              <a:t> : public Mathsymbol{	     </a:t>
            </a:r>
            <a:r>
              <a:rPr lang="en-US">
                <a:solidFill>
                  <a:srgbClr val="0000FF"/>
                </a:solidFill>
                <a:ea typeface="宋体" charset="-122"/>
              </a:rPr>
              <a:t>//No doOperation() - Abstract</a:t>
            </a:r>
            <a:r>
              <a:rPr lang="en-US">
                <a:solidFill>
                  <a:srgbClr val="339933"/>
                </a:solidFill>
                <a:ea typeface="宋体" charset="-122"/>
              </a:rPr>
              <a:t/>
            </a:r>
            <a:br>
              <a:rPr lang="en-US">
                <a:solidFill>
                  <a:srgbClr val="339933"/>
                </a:solidFill>
                <a:ea typeface="宋体" charset="-122"/>
              </a:rPr>
            </a:br>
            <a:r>
              <a:rPr lang="en-US">
                <a:solidFill>
                  <a:srgbClr val="0000FF"/>
                </a:solidFill>
                <a:ea typeface="宋体" charset="-122"/>
              </a:rPr>
              <a:t>public</a:t>
            </a:r>
            <a:r>
              <a:rPr lang="en-US">
                <a:solidFill>
                  <a:srgbClr val="000000"/>
                </a:solidFill>
                <a:ea typeface="宋体" charset="-122"/>
              </a:rPr>
              <a:t> :</a:t>
            </a:r>
            <a:br>
              <a:rPr lang="en-US">
                <a:solidFill>
                  <a:srgbClr val="000000"/>
                </a:solidFill>
                <a:ea typeface="宋体" charset="-122"/>
              </a:rPr>
            </a:br>
            <a:r>
              <a:rPr lang="en-US">
                <a:solidFill>
                  <a:srgbClr val="0000FF"/>
                </a:solidFill>
                <a:ea typeface="宋体" charset="-122"/>
              </a:rPr>
              <a:t>void</a:t>
            </a:r>
            <a:r>
              <a:rPr lang="en-US">
                <a:solidFill>
                  <a:srgbClr val="000000"/>
                </a:solidFill>
                <a:ea typeface="宋体" charset="-122"/>
              </a:rPr>
              <a:t> print(){</a:t>
            </a:r>
            <a:br>
              <a:rPr lang="en-US">
                <a:solidFill>
                  <a:srgbClr val="000000"/>
                </a:solidFill>
                <a:ea typeface="宋体" charset="-122"/>
              </a:rPr>
            </a:br>
            <a:r>
              <a:rPr lang="en-US">
                <a:solidFill>
                  <a:srgbClr val="000000"/>
                </a:solidFill>
                <a:ea typeface="宋体" charset="-122"/>
              </a:rPr>
              <a:t>  </a:t>
            </a:r>
            <a:r>
              <a:rPr lang="en-US">
                <a:solidFill>
                  <a:srgbClr val="0000FF"/>
                </a:solidFill>
                <a:ea typeface="宋体" charset="-122"/>
              </a:rPr>
              <a:t>cout</a:t>
            </a:r>
            <a:r>
              <a:rPr lang="en-US">
                <a:solidFill>
                  <a:srgbClr val="000000"/>
                </a:solidFill>
                <a:ea typeface="宋体" charset="-122"/>
              </a:rPr>
              <a:t> &lt;&lt; “Doing Addition” &lt;&lt; endl;</a:t>
            </a:r>
            <a:br>
              <a:rPr lang="en-US">
                <a:solidFill>
                  <a:srgbClr val="000000"/>
                </a:solidFill>
                <a:ea typeface="宋体" charset="-122"/>
              </a:rPr>
            </a:br>
            <a:r>
              <a:rPr lang="en-US">
                <a:solidFill>
                  <a:srgbClr val="000000"/>
                </a:solidFill>
                <a:ea typeface="宋体" charset="-122"/>
              </a:rPr>
              <a:t>}</a:t>
            </a:r>
          </a:p>
          <a:p>
            <a:pPr marL="342900" indent="-341313">
              <a:lnSpc>
                <a:spcPct val="90000"/>
              </a:lnSpc>
              <a:buClrTx/>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solidFill>
                  <a:srgbClr val="000000"/>
                </a:solidFill>
                <a:ea typeface="宋体" charset="-122"/>
              </a:rPr>
              <a:t>class </a:t>
            </a:r>
            <a:r>
              <a:rPr lang="en-US">
                <a:solidFill>
                  <a:srgbClr val="FF0000"/>
                </a:solidFill>
                <a:ea typeface="宋体" charset="-122"/>
              </a:rPr>
              <a:t>Minus</a:t>
            </a:r>
            <a:r>
              <a:rPr lang="en-US">
                <a:solidFill>
                  <a:srgbClr val="000000"/>
                </a:solidFill>
                <a:ea typeface="宋体" charset="-122"/>
              </a:rPr>
              <a:t> : public Mathsymbol {</a:t>
            </a:r>
            <a:br>
              <a:rPr lang="en-US">
                <a:solidFill>
                  <a:srgbClr val="000000"/>
                </a:solidFill>
                <a:ea typeface="宋体" charset="-122"/>
              </a:rPr>
            </a:br>
            <a:r>
              <a:rPr lang="en-US">
                <a:solidFill>
                  <a:srgbClr val="0000FF"/>
                </a:solidFill>
                <a:ea typeface="宋体" charset="-122"/>
              </a:rPr>
              <a:t>public</a:t>
            </a:r>
            <a:r>
              <a:rPr lang="en-US">
                <a:solidFill>
                  <a:srgbClr val="000000"/>
                </a:solidFill>
                <a:ea typeface="宋体" charset="-122"/>
              </a:rPr>
              <a:t> :</a:t>
            </a:r>
            <a:br>
              <a:rPr lang="en-US">
                <a:solidFill>
                  <a:srgbClr val="000000"/>
                </a:solidFill>
                <a:ea typeface="宋体" charset="-122"/>
              </a:rPr>
            </a:br>
            <a:r>
              <a:rPr lang="en-US">
                <a:solidFill>
                  <a:srgbClr val="0000FF"/>
                </a:solidFill>
                <a:ea typeface="宋体" charset="-122"/>
              </a:rPr>
              <a:t>void</a:t>
            </a:r>
            <a:r>
              <a:rPr lang="en-US">
                <a:solidFill>
                  <a:srgbClr val="000000"/>
                </a:solidFill>
                <a:ea typeface="宋体" charset="-122"/>
              </a:rPr>
              <a:t> doOperation(){    </a:t>
            </a:r>
            <a:r>
              <a:rPr lang="en-US">
                <a:solidFill>
                  <a:srgbClr val="0000FF"/>
                </a:solidFill>
                <a:ea typeface="宋体" charset="-122"/>
              </a:rPr>
              <a:t>// Override Mathsymbol:: doOperation() </a:t>
            </a:r>
            <a:br>
              <a:rPr lang="en-US">
                <a:solidFill>
                  <a:srgbClr val="0000FF"/>
                </a:solidFill>
                <a:ea typeface="宋体" charset="-122"/>
              </a:rPr>
            </a:br>
            <a:r>
              <a:rPr lang="en-US">
                <a:solidFill>
                  <a:srgbClr val="000000"/>
                </a:solidFill>
                <a:ea typeface="宋体" charset="-122"/>
              </a:rPr>
              <a:t>    	int a=10,b=5;	</a:t>
            </a:r>
          </a:p>
          <a:p>
            <a:pPr marL="342900" indent="-341313">
              <a:lnSpc>
                <a:spcPct val="90000"/>
              </a:lnSpc>
              <a:buClrTx/>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solidFill>
                  <a:srgbClr val="0000FF"/>
                </a:solidFill>
                <a:ea typeface="宋体" charset="-122"/>
              </a:rPr>
              <a:t>		cout</a:t>
            </a:r>
            <a:r>
              <a:rPr lang="en-US">
                <a:solidFill>
                  <a:srgbClr val="000000"/>
                </a:solidFill>
                <a:ea typeface="宋体" charset="-122"/>
              </a:rPr>
              <a:t> &lt;&lt; “Subtration is = ” &lt;&lt;a-b&lt;&lt; endl;</a:t>
            </a:r>
            <a:br>
              <a:rPr lang="en-US">
                <a:solidFill>
                  <a:srgbClr val="000000"/>
                </a:solidFill>
                <a:ea typeface="宋体" charset="-122"/>
              </a:rPr>
            </a:br>
            <a:r>
              <a:rPr lang="en-US">
                <a:solidFill>
                  <a:srgbClr val="000000"/>
                </a:solidFill>
                <a:ea typeface="宋体" charset="-122"/>
              </a:rPr>
              <a:t>}</a:t>
            </a:r>
          </a:p>
        </p:txBody>
      </p:sp>
      <p:sp>
        <p:nvSpPr>
          <p:cNvPr id="19460" name="Rectangle 4"/>
          <p:cNvSpPr>
            <a:spLocks noChangeArrowheads="1"/>
          </p:cNvSpPr>
          <p:nvPr/>
        </p:nvSpPr>
        <p:spPr bwMode="auto">
          <a:xfrm>
            <a:off x="685800" y="5105400"/>
            <a:ext cx="7772400" cy="762000"/>
          </a:xfrm>
          <a:prstGeom prst="rect">
            <a:avLst/>
          </a:prstGeom>
          <a:solidFill>
            <a:srgbClr val="FFE4C9"/>
          </a:solidFill>
          <a:ln w="9525">
            <a:noFill/>
            <a:round/>
            <a:headEnd/>
            <a:tailEnd/>
          </a:ln>
        </p:spPr>
        <p:txBody>
          <a:bodyPr lIns="90000" tIns="46800" rIns="90000" bIns="46800"/>
          <a:lstStyle/>
          <a:p>
            <a:pPr marL="342900" indent="-341313">
              <a:lnSpc>
                <a:spcPct val="90000"/>
              </a:lnSpc>
              <a:buClrTx/>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solidFill>
                  <a:srgbClr val="000000"/>
                </a:solidFill>
                <a:ea typeface="宋体" charset="-122"/>
              </a:rPr>
              <a:t>Minus m; 		</a:t>
            </a:r>
            <a:r>
              <a:rPr lang="en-US">
                <a:solidFill>
                  <a:srgbClr val="0000FF"/>
                </a:solidFill>
                <a:ea typeface="宋体" charset="-122"/>
              </a:rPr>
              <a:t>// Valid</a:t>
            </a:r>
          </a:p>
          <a:p>
            <a:pPr marL="342900" indent="-341313">
              <a:lnSpc>
                <a:spcPct val="90000"/>
              </a:lnSpc>
              <a:buClrTx/>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solidFill>
                  <a:srgbClr val="000000"/>
                </a:solidFill>
                <a:ea typeface="宋体" charset="-122"/>
              </a:rPr>
              <a:t>Plus p; 			</a:t>
            </a:r>
            <a:r>
              <a:rPr lang="en-US">
                <a:solidFill>
                  <a:srgbClr val="FF0000"/>
                </a:solidFill>
                <a:ea typeface="宋体" charset="-122"/>
              </a:rPr>
              <a:t>// error : variable of an abstract class</a:t>
            </a:r>
          </a:p>
        </p:txBody>
      </p:sp>
    </p:spTree>
    <p:extLst>
      <p:ext uri="{BB962C8B-B14F-4D97-AF65-F5344CB8AC3E}">
        <p14:creationId xmlns:p14="http://schemas.microsoft.com/office/powerpoint/2010/main" val="196944528"/>
      </p:ext>
    </p:extLst>
  </p:cSld>
  <p:clrMapOvr>
    <a:masterClrMapping/>
  </p:clrMapOvr>
  <p:transition spd="med"/>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clickEffect">
                            <p:stCondLst>
                              <p:cond delay="0"/>
                            </p:stCondLst>
                            <p:childTnLst>
                              <p:par>
                                <p:cTn id="5" presetID="55" presetClass="entr" fill="hold" nodeType="clickEffect">
                                  <p:stCondLst>
                                    <p:cond delay="0"/>
                                  </p:stCondLst>
                                  <p:childTnLst>
                                    <p:set>
                                      <p:cBhvr additive="repl">
                                        <p:cTn id="6" dur="1" fill="hold">
                                          <p:stCondLst>
                                            <p:cond delay="0"/>
                                          </p:stCondLst>
                                        </p:cTn>
                                        <p:tgtEl>
                                          <p:spTgt spid="19460"/>
                                        </p:tgtEl>
                                        <p:attrNameLst>
                                          <p:attrName>style.visibility</p:attrName>
                                        </p:attrNameLst>
                                      </p:cBhvr>
                                      <p:to>
                                        <p:strVal val="visible"/>
                                      </p:to>
                                    </p:set>
                                    <p:anim calcmode="lin" valueType="num">
                                      <p:cBhvr additive="repl">
                                        <p:cTn id="7" dur="500" fill="hold"/>
                                        <p:tgtEl>
                                          <p:spTgt spid="19460"/>
                                        </p:tgtEl>
                                        <p:attrNameLst>
                                          <p:attrName>ppt_w</p:attrName>
                                        </p:attrNameLst>
                                      </p:cBhvr>
                                      <p:tavLst>
                                        <p:tav tm="100000">
                                          <p:val>
                                            <p:strVal val="#ppt_w*0.70"/>
                                          </p:val>
                                        </p:tav>
                                        <p:tav tm="100000">
                                          <p:val>
                                            <p:strVal val="#ppt_w"/>
                                          </p:val>
                                        </p:tav>
                                      </p:tavLst>
                                    </p:anim>
                                    <p:anim calcmode="lin" valueType="num">
                                      <p:cBhvr additive="repl">
                                        <p:cTn id="8" dur="500" fill="hold"/>
                                        <p:tgtEl>
                                          <p:spTgt spid="19460"/>
                                        </p:tgtEl>
                                        <p:attrNameLst>
                                          <p:attrName>ppt_h</p:attrName>
                                        </p:attrNameLst>
                                      </p:cBhvr>
                                      <p:tavLst>
                                        <p:tav tm="100000">
                                          <p:val>
                                            <p:strVal val="#ppt_h"/>
                                          </p:val>
                                        </p:tav>
                                        <p:tav tm="100000">
                                          <p:val>
                                            <p:strVal val="#ppt_h"/>
                                          </p:val>
                                        </p:tav>
                                      </p:tavLst>
                                    </p:anim>
                                    <p:animEffect transition="in" filter="fade">
                                      <p:cBhvr additive="repl">
                                        <p:cTn id="9"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457200" y="533400"/>
            <a:ext cx="8305800" cy="3200400"/>
          </a:xfrm>
          <a:prstGeom prst="rect">
            <a:avLst/>
          </a:prstGeom>
          <a:noFill/>
          <a:ln w="9525">
            <a:noFill/>
            <a:round/>
            <a:headEnd/>
            <a:tailEnd/>
          </a:ln>
        </p:spPr>
        <p:txBody>
          <a:bodyPr/>
          <a:lstStyle/>
          <a:p>
            <a:pPr marL="341313" indent="-341313">
              <a:lnSpc>
                <a:spcPct val="90000"/>
              </a:lnSpc>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a:solidFill>
                  <a:srgbClr val="000000"/>
                </a:solidFill>
                <a:latin typeface="Arial" charset="0"/>
                <a:ea typeface="宋体" charset="-122"/>
              </a:rPr>
              <a:t>It is still possible to provide definition of a pure virtual function in the base class</a:t>
            </a:r>
          </a:p>
          <a:p>
            <a:pPr marL="341313" indent="-341313">
              <a:lnSpc>
                <a:spcPct val="90000"/>
              </a:lnSpc>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a:solidFill>
                  <a:srgbClr val="000000"/>
                </a:solidFill>
                <a:latin typeface="Arial" charset="0"/>
                <a:ea typeface="宋体" charset="-122"/>
              </a:rPr>
              <a:t>The class still remains abstract and functions must be redefined in the derived classes, but a common piece of code can be kept there to facilitate reuse</a:t>
            </a:r>
          </a:p>
          <a:p>
            <a:pPr marL="341313" indent="-341313">
              <a:lnSpc>
                <a:spcPct val="90000"/>
              </a:lnSpc>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a:solidFill>
                  <a:srgbClr val="000000"/>
                </a:solidFill>
                <a:latin typeface="Arial" charset="0"/>
                <a:ea typeface="宋体" charset="-122"/>
              </a:rPr>
              <a:t>In this case, they can not be declared </a:t>
            </a:r>
            <a:r>
              <a:rPr lang="en-US" sz="2800">
                <a:solidFill>
                  <a:srgbClr val="0000FF"/>
                </a:solidFill>
                <a:latin typeface="Arial" charset="0"/>
                <a:ea typeface="宋体" charset="-122"/>
              </a:rPr>
              <a:t>inline</a:t>
            </a:r>
          </a:p>
        </p:txBody>
      </p:sp>
      <p:sp>
        <p:nvSpPr>
          <p:cNvPr id="19459" name="Text Box 2"/>
          <p:cNvSpPr txBox="1">
            <a:spLocks noChangeArrowheads="1"/>
          </p:cNvSpPr>
          <p:nvPr/>
        </p:nvSpPr>
        <p:spPr bwMode="auto">
          <a:xfrm>
            <a:off x="6553200" y="6245225"/>
            <a:ext cx="2133600" cy="476250"/>
          </a:xfrm>
          <a:prstGeom prst="rect">
            <a:avLst/>
          </a:prstGeom>
          <a:noFill/>
          <a:ln w="9525">
            <a:noFill/>
            <a:round/>
            <a:headEnd/>
            <a:tailEnd/>
          </a:ln>
        </p:spPr>
        <p:txBody>
          <a:bodyPr lIns="90000" tIns="46800" rIns="90000" bIns="46800"/>
          <a:lstStyle/>
          <a:p>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39765F3-E9D5-4919-BF21-A5A9F6B85005}" type="slidenum">
              <a:rPr lang="en-US" sz="1400">
                <a:solidFill>
                  <a:srgbClr val="000000"/>
                </a:solidFill>
                <a:latin typeface="Arial" charset="0"/>
                <a:ea typeface="宋体" charset="-122"/>
              </a:rPr>
              <a:pPr algn="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21</a:t>
            </a:fld>
            <a:endParaRPr lang="en-US" sz="1400">
              <a:solidFill>
                <a:srgbClr val="000000"/>
              </a:solidFill>
              <a:latin typeface="Arial" charset="0"/>
              <a:ea typeface="宋体" charset="-122"/>
            </a:endParaRPr>
          </a:p>
        </p:txBody>
      </p:sp>
      <p:sp>
        <p:nvSpPr>
          <p:cNvPr id="19460" name="Text Box 3"/>
          <p:cNvSpPr txBox="1">
            <a:spLocks noChangeArrowheads="1"/>
          </p:cNvSpPr>
          <p:nvPr/>
        </p:nvSpPr>
        <p:spPr bwMode="auto">
          <a:xfrm>
            <a:off x="457200" y="4038600"/>
            <a:ext cx="3505200" cy="2587504"/>
          </a:xfrm>
          <a:prstGeom prst="rect">
            <a:avLst/>
          </a:prstGeom>
          <a:solidFill>
            <a:srgbClr val="CCFFFF"/>
          </a:solidFill>
          <a:ln w="9525">
            <a:noFill/>
            <a:round/>
            <a:headEnd/>
            <a:tailEnd/>
          </a:ln>
        </p:spPr>
        <p:txBody>
          <a:bodyPr wrap="square" lIns="90000" tIns="46800" rIns="90000" bIns="46800">
            <a:spAutoFit/>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rgbClr val="FF0000"/>
                </a:solidFill>
                <a:ea typeface="宋体" charset="-122"/>
              </a:rPr>
              <a:t>class</a:t>
            </a:r>
            <a:r>
              <a:rPr lang="en-US" dirty="0">
                <a:solidFill>
                  <a:srgbClr val="000000"/>
                </a:solidFill>
                <a:ea typeface="宋体" charset="-122"/>
              </a:rPr>
              <a:t> </a:t>
            </a:r>
            <a:r>
              <a:rPr lang="en-US" dirty="0" err="1">
                <a:solidFill>
                  <a:srgbClr val="000000"/>
                </a:solidFill>
                <a:ea typeface="宋体" charset="-122"/>
              </a:rPr>
              <a:t>Mathsymbol</a:t>
            </a:r>
            <a:r>
              <a:rPr lang="en-US" dirty="0">
                <a:solidFill>
                  <a:srgbClr val="000000"/>
                </a:solidFill>
                <a:ea typeface="宋体" charset="-122"/>
              </a:rPr>
              <a:t> { </a:t>
            </a:r>
            <a:r>
              <a:rPr lang="en-US" dirty="0">
                <a:solidFill>
                  <a:srgbClr val="0000FF"/>
                </a:solidFill>
                <a:ea typeface="宋体" charset="-122"/>
              </a:rPr>
              <a:t>//Abstract </a:t>
            </a:r>
            <a:br>
              <a:rPr lang="en-US" dirty="0">
                <a:solidFill>
                  <a:srgbClr val="0000FF"/>
                </a:solidFill>
                <a:ea typeface="宋体" charset="-122"/>
              </a:rPr>
            </a:br>
            <a:r>
              <a:rPr lang="en-US" dirty="0">
                <a:solidFill>
                  <a:srgbClr val="FF0000"/>
                </a:solidFill>
                <a:ea typeface="宋体" charset="-122"/>
              </a:rPr>
              <a:t>public</a:t>
            </a:r>
            <a:r>
              <a:rPr lang="en-US" dirty="0">
                <a:solidFill>
                  <a:srgbClr val="000000"/>
                </a:solidFill>
                <a:ea typeface="宋体" charset="-122"/>
              </a:rPr>
              <a:t> :</a:t>
            </a:r>
            <a:br>
              <a:rPr lang="en-US" dirty="0">
                <a:solidFill>
                  <a:srgbClr val="000000"/>
                </a:solidFill>
                <a:ea typeface="宋体" charset="-122"/>
              </a:rPr>
            </a:br>
            <a:r>
              <a:rPr lang="en-US" dirty="0">
                <a:solidFill>
                  <a:srgbClr val="000000"/>
                </a:solidFill>
                <a:ea typeface="宋体" charset="-122"/>
              </a:rPr>
              <a:t> </a:t>
            </a:r>
            <a:r>
              <a:rPr lang="en-US" dirty="0">
                <a:solidFill>
                  <a:srgbClr val="FF0000"/>
                </a:solidFill>
                <a:ea typeface="宋体" charset="-122"/>
              </a:rPr>
              <a:t>virtual void </a:t>
            </a:r>
            <a:r>
              <a:rPr lang="en-US" dirty="0" err="1">
                <a:solidFill>
                  <a:srgbClr val="000000"/>
                </a:solidFill>
                <a:ea typeface="宋体" charset="-122"/>
              </a:rPr>
              <a:t>doOperation</a:t>
            </a:r>
            <a:r>
              <a:rPr lang="en-US" dirty="0">
                <a:solidFill>
                  <a:srgbClr val="000000"/>
                </a:solidFill>
                <a:ea typeface="宋体" charset="-122"/>
              </a:rPr>
              <a:t>() </a:t>
            </a:r>
            <a:r>
              <a:rPr lang="en-US" u="sng" dirty="0">
                <a:solidFill>
                  <a:srgbClr val="000000"/>
                </a:solidFill>
                <a:ea typeface="宋体" charset="-122"/>
              </a:rPr>
              <a:t>= 0;</a:t>
            </a:r>
          </a:p>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rgbClr val="000000"/>
                </a:solidFill>
                <a:ea typeface="宋体" charset="-122"/>
              </a:rPr>
              <a:t>};</a:t>
            </a:r>
            <a:br>
              <a:rPr lang="en-US" dirty="0">
                <a:solidFill>
                  <a:srgbClr val="000000"/>
                </a:solidFill>
                <a:ea typeface="宋体" charset="-122"/>
              </a:rPr>
            </a:br>
            <a:r>
              <a:rPr lang="en-US" dirty="0">
                <a:solidFill>
                  <a:srgbClr val="000000"/>
                </a:solidFill>
                <a:ea typeface="宋体" charset="-122"/>
              </a:rPr>
              <a:t/>
            </a:r>
            <a:br>
              <a:rPr lang="en-US" dirty="0">
                <a:solidFill>
                  <a:srgbClr val="000000"/>
                </a:solidFill>
                <a:ea typeface="宋体" charset="-122"/>
              </a:rPr>
            </a:br>
            <a:r>
              <a:rPr lang="en-US" dirty="0">
                <a:solidFill>
                  <a:srgbClr val="0000FF"/>
                </a:solidFill>
                <a:ea typeface="宋体" charset="-122"/>
              </a:rPr>
              <a:t>// OK, not defined inline </a:t>
            </a:r>
          </a:p>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rgbClr val="FF0000"/>
                </a:solidFill>
                <a:ea typeface="宋体" charset="-122"/>
              </a:rPr>
              <a:t>void</a:t>
            </a:r>
            <a:r>
              <a:rPr lang="en-US" dirty="0">
                <a:solidFill>
                  <a:srgbClr val="000000"/>
                </a:solidFill>
                <a:ea typeface="宋体" charset="-122"/>
              </a:rPr>
              <a:t> </a:t>
            </a:r>
            <a:r>
              <a:rPr lang="en-US" dirty="0" err="1">
                <a:solidFill>
                  <a:srgbClr val="000000"/>
                </a:solidFill>
                <a:ea typeface="宋体" charset="-122"/>
              </a:rPr>
              <a:t>Mathsymbol</a:t>
            </a:r>
            <a:r>
              <a:rPr lang="en-US" dirty="0">
                <a:solidFill>
                  <a:srgbClr val="000000"/>
                </a:solidFill>
                <a:ea typeface="宋体" charset="-122"/>
              </a:rPr>
              <a:t>::</a:t>
            </a:r>
            <a:r>
              <a:rPr lang="en-US" dirty="0" err="1">
                <a:solidFill>
                  <a:srgbClr val="000000"/>
                </a:solidFill>
                <a:ea typeface="宋体" charset="-122"/>
              </a:rPr>
              <a:t>doOperation</a:t>
            </a:r>
            <a:r>
              <a:rPr lang="en-US" dirty="0">
                <a:solidFill>
                  <a:srgbClr val="000000"/>
                </a:solidFill>
                <a:ea typeface="宋体" charset="-122"/>
              </a:rPr>
              <a:t>(){</a:t>
            </a:r>
            <a:br>
              <a:rPr lang="en-US" dirty="0">
                <a:solidFill>
                  <a:srgbClr val="000000"/>
                </a:solidFill>
                <a:ea typeface="宋体" charset="-122"/>
              </a:rPr>
            </a:br>
            <a:r>
              <a:rPr lang="en-US" dirty="0">
                <a:solidFill>
                  <a:srgbClr val="000000"/>
                </a:solidFill>
                <a:ea typeface="宋体" charset="-122"/>
              </a:rPr>
              <a:t> </a:t>
            </a:r>
            <a:r>
              <a:rPr lang="en-US" dirty="0" err="1">
                <a:solidFill>
                  <a:srgbClr val="000000"/>
                </a:solidFill>
                <a:ea typeface="宋体" charset="-122"/>
              </a:rPr>
              <a:t>cout</a:t>
            </a:r>
            <a:r>
              <a:rPr lang="en-US" dirty="0">
                <a:solidFill>
                  <a:srgbClr val="000000"/>
                </a:solidFill>
                <a:ea typeface="宋体" charset="-122"/>
              </a:rPr>
              <a:t> &lt;&lt; “Arithmetic" &lt;&lt; </a:t>
            </a:r>
            <a:r>
              <a:rPr lang="en-US" dirty="0" err="1">
                <a:solidFill>
                  <a:srgbClr val="000000"/>
                </a:solidFill>
                <a:ea typeface="宋体" charset="-122"/>
              </a:rPr>
              <a:t>endl</a:t>
            </a:r>
            <a:r>
              <a:rPr lang="en-US" dirty="0">
                <a:solidFill>
                  <a:srgbClr val="000000"/>
                </a:solidFill>
                <a:ea typeface="宋体" charset="-122"/>
              </a:rPr>
              <a:t>;</a:t>
            </a:r>
            <a:br>
              <a:rPr lang="en-US" dirty="0">
                <a:solidFill>
                  <a:srgbClr val="000000"/>
                </a:solidFill>
                <a:ea typeface="宋体" charset="-122"/>
              </a:rPr>
            </a:br>
            <a:r>
              <a:rPr lang="en-US" dirty="0">
                <a:solidFill>
                  <a:srgbClr val="000000"/>
                </a:solidFill>
                <a:ea typeface="宋体" charset="-122"/>
              </a:rPr>
              <a:t>}</a:t>
            </a:r>
          </a:p>
        </p:txBody>
      </p:sp>
      <p:sp>
        <p:nvSpPr>
          <p:cNvPr id="19461" name="Text Box 4"/>
          <p:cNvSpPr txBox="1">
            <a:spLocks noChangeArrowheads="1"/>
          </p:cNvSpPr>
          <p:nvPr/>
        </p:nvSpPr>
        <p:spPr bwMode="auto">
          <a:xfrm>
            <a:off x="4495800" y="4038600"/>
            <a:ext cx="4648200" cy="2692400"/>
          </a:xfrm>
          <a:prstGeom prst="rect">
            <a:avLst/>
          </a:prstGeom>
          <a:solidFill>
            <a:srgbClr val="FFE4C9"/>
          </a:solidFill>
          <a:ln w="9525">
            <a:noFill/>
            <a:round/>
            <a:headEnd/>
            <a:tailEnd/>
          </a:ln>
        </p:spPr>
        <p:txBody>
          <a:bodyPr lIns="0" tIns="46800" rIns="0" bIns="46800">
            <a:spAutoFit/>
          </a:bodyPr>
          <a:lstStyle/>
          <a:p>
            <a:pPr>
              <a:spcBef>
                <a:spcPts val="12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rgbClr val="000000"/>
                </a:solidFill>
                <a:ea typeface="宋体" charset="-122"/>
              </a:rPr>
              <a:t>class Minus : public </a:t>
            </a:r>
            <a:r>
              <a:rPr lang="en-US" dirty="0" err="1">
                <a:solidFill>
                  <a:srgbClr val="000000"/>
                </a:solidFill>
                <a:ea typeface="宋体" charset="-122"/>
              </a:rPr>
              <a:t>Mathsymbol</a:t>
            </a:r>
            <a:endParaRPr lang="en-US" dirty="0">
              <a:solidFill>
                <a:srgbClr val="000000"/>
              </a:solidFill>
              <a:ea typeface="宋体" charset="-122"/>
            </a:endParaRPr>
          </a:p>
          <a:p>
            <a:pPr>
              <a:spcBef>
                <a:spcPts val="12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rgbClr val="000000"/>
                </a:solidFill>
                <a:ea typeface="宋体" charset="-122"/>
              </a:rPr>
              <a:t>{</a:t>
            </a:r>
            <a:br>
              <a:rPr lang="en-US" dirty="0">
                <a:solidFill>
                  <a:srgbClr val="000000"/>
                </a:solidFill>
                <a:ea typeface="宋体" charset="-122"/>
              </a:rPr>
            </a:br>
            <a:r>
              <a:rPr lang="en-US" dirty="0">
                <a:solidFill>
                  <a:srgbClr val="000000"/>
                </a:solidFill>
                <a:ea typeface="宋体" charset="-122"/>
              </a:rPr>
              <a:t>  </a:t>
            </a:r>
            <a:r>
              <a:rPr lang="en-US" dirty="0">
                <a:solidFill>
                  <a:srgbClr val="FF0000"/>
                </a:solidFill>
                <a:ea typeface="宋体" charset="-122"/>
              </a:rPr>
              <a:t>public</a:t>
            </a:r>
            <a:r>
              <a:rPr lang="en-US" dirty="0">
                <a:solidFill>
                  <a:srgbClr val="000000"/>
                </a:solidFill>
                <a:ea typeface="宋体" charset="-122"/>
              </a:rPr>
              <a:t> :</a:t>
            </a:r>
            <a:br>
              <a:rPr lang="en-US" dirty="0">
                <a:solidFill>
                  <a:srgbClr val="000000"/>
                </a:solidFill>
                <a:ea typeface="宋体" charset="-122"/>
              </a:rPr>
            </a:br>
            <a:r>
              <a:rPr lang="en-US" dirty="0">
                <a:solidFill>
                  <a:srgbClr val="000000"/>
                </a:solidFill>
                <a:ea typeface="宋体" charset="-122"/>
              </a:rPr>
              <a:t>   </a:t>
            </a:r>
            <a:r>
              <a:rPr lang="en-US" dirty="0">
                <a:solidFill>
                  <a:srgbClr val="FF0000"/>
                </a:solidFill>
                <a:ea typeface="宋体" charset="-122"/>
              </a:rPr>
              <a:t>void</a:t>
            </a:r>
            <a:r>
              <a:rPr lang="en-US" dirty="0">
                <a:solidFill>
                  <a:srgbClr val="000000"/>
                </a:solidFill>
                <a:ea typeface="宋体" charset="-122"/>
              </a:rPr>
              <a:t> </a:t>
            </a:r>
            <a:r>
              <a:rPr lang="en-US" dirty="0" err="1">
                <a:solidFill>
                  <a:srgbClr val="000000"/>
                </a:solidFill>
                <a:ea typeface="宋体" charset="-122"/>
              </a:rPr>
              <a:t>doOperation</a:t>
            </a:r>
            <a:r>
              <a:rPr lang="en-US" dirty="0">
                <a:solidFill>
                  <a:srgbClr val="000000"/>
                </a:solidFill>
                <a:ea typeface="宋体" charset="-122"/>
              </a:rPr>
              <a:t>(){</a:t>
            </a:r>
            <a:br>
              <a:rPr lang="en-US" dirty="0">
                <a:solidFill>
                  <a:srgbClr val="000000"/>
                </a:solidFill>
                <a:ea typeface="宋体" charset="-122"/>
              </a:rPr>
            </a:br>
            <a:r>
              <a:rPr lang="en-US" dirty="0">
                <a:solidFill>
                  <a:srgbClr val="000000"/>
                </a:solidFill>
                <a:ea typeface="宋体" charset="-122"/>
              </a:rPr>
              <a:t>   </a:t>
            </a:r>
            <a:r>
              <a:rPr lang="en-US" dirty="0" err="1">
                <a:solidFill>
                  <a:srgbClr val="FF0000"/>
                </a:solidFill>
                <a:ea typeface="宋体" charset="-122"/>
              </a:rPr>
              <a:t>Mathsymbol</a:t>
            </a:r>
            <a:r>
              <a:rPr lang="en-US" dirty="0">
                <a:solidFill>
                  <a:srgbClr val="FF0000"/>
                </a:solidFill>
                <a:ea typeface="宋体" charset="-122"/>
              </a:rPr>
              <a:t>::</a:t>
            </a:r>
            <a:r>
              <a:rPr lang="en-US" dirty="0" err="1">
                <a:solidFill>
                  <a:srgbClr val="FF0000"/>
                </a:solidFill>
                <a:ea typeface="宋体" charset="-122"/>
              </a:rPr>
              <a:t>doOperation</a:t>
            </a:r>
            <a:r>
              <a:rPr lang="en-US" dirty="0">
                <a:solidFill>
                  <a:srgbClr val="FF0000"/>
                </a:solidFill>
                <a:ea typeface="宋体" charset="-122"/>
              </a:rPr>
              <a:t>(); </a:t>
            </a:r>
            <a:r>
              <a:rPr lang="en-US" dirty="0">
                <a:solidFill>
                  <a:srgbClr val="0000FF"/>
                </a:solidFill>
                <a:ea typeface="宋体" charset="-122"/>
              </a:rPr>
              <a:t>//Reuse</a:t>
            </a:r>
            <a:br>
              <a:rPr lang="en-US" dirty="0">
                <a:solidFill>
                  <a:srgbClr val="0000FF"/>
                </a:solidFill>
                <a:ea typeface="宋体" charset="-122"/>
              </a:rPr>
            </a:br>
            <a:r>
              <a:rPr lang="en-US" dirty="0">
                <a:solidFill>
                  <a:srgbClr val="000000"/>
                </a:solidFill>
                <a:ea typeface="宋体" charset="-122"/>
              </a:rPr>
              <a:t>     </a:t>
            </a:r>
            <a:r>
              <a:rPr lang="en-US" dirty="0" err="1">
                <a:solidFill>
                  <a:srgbClr val="FF0000"/>
                </a:solidFill>
                <a:ea typeface="宋体" charset="-122"/>
              </a:rPr>
              <a:t>cout</a:t>
            </a:r>
            <a:r>
              <a:rPr lang="en-US" dirty="0">
                <a:solidFill>
                  <a:srgbClr val="000000"/>
                </a:solidFill>
                <a:ea typeface="宋体" charset="-122"/>
              </a:rPr>
              <a:t> &lt;&lt;“Subtraction”&lt;&lt; </a:t>
            </a:r>
            <a:r>
              <a:rPr lang="en-US" dirty="0" err="1">
                <a:solidFill>
                  <a:srgbClr val="000000"/>
                </a:solidFill>
                <a:ea typeface="宋体" charset="-122"/>
              </a:rPr>
              <a:t>endl</a:t>
            </a:r>
            <a:r>
              <a:rPr lang="en-US" dirty="0">
                <a:solidFill>
                  <a:srgbClr val="000000"/>
                </a:solidFill>
                <a:ea typeface="宋体" charset="-122"/>
              </a:rPr>
              <a:t>;</a:t>
            </a:r>
            <a:br>
              <a:rPr lang="en-US" dirty="0">
                <a:solidFill>
                  <a:srgbClr val="000000"/>
                </a:solidFill>
                <a:ea typeface="宋体" charset="-122"/>
              </a:rPr>
            </a:br>
            <a:r>
              <a:rPr lang="en-US" dirty="0">
                <a:solidFill>
                  <a:srgbClr val="000000"/>
                </a:solidFill>
                <a:ea typeface="宋体" charset="-122"/>
              </a:rPr>
              <a:t>}</a:t>
            </a:r>
          </a:p>
        </p:txBody>
      </p:sp>
    </p:spTree>
    <p:extLst>
      <p:ext uri="{BB962C8B-B14F-4D97-AF65-F5344CB8AC3E}">
        <p14:creationId xmlns:p14="http://schemas.microsoft.com/office/powerpoint/2010/main" val="9917242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067800" cy="678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03155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3855</TotalTime>
  <Words>903</Words>
  <Application>Microsoft Office PowerPoint</Application>
  <PresentationFormat>On-screen Show (4:3)</PresentationFormat>
  <Paragraphs>109</Paragraphs>
  <Slides>22</Slides>
  <Notes>8</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Dynamic Polymorphism</vt:lpstr>
      <vt:lpstr>Pointers</vt:lpstr>
      <vt:lpstr>PowerPoint Presentation</vt:lpstr>
      <vt:lpstr>Pointer to objects</vt:lpstr>
      <vt:lpstr>Pointers to members</vt:lpstr>
      <vt:lpstr>PowerPoint Presentation</vt:lpstr>
      <vt:lpstr>Pointers to derived class</vt:lpstr>
      <vt:lpstr>PowerPoint Presentation</vt:lpstr>
      <vt:lpstr>Virtual Function</vt:lpstr>
      <vt:lpstr>PowerPoint Presentation</vt:lpstr>
      <vt:lpstr>Rules for Virtual Function</vt:lpstr>
      <vt:lpstr>PowerPoint Presentation</vt:lpstr>
      <vt:lpstr>Pure Virtual Functions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72</cp:revision>
  <dcterms:created xsi:type="dcterms:W3CDTF">2021-04-17T14:34:26Z</dcterms:created>
  <dcterms:modified xsi:type="dcterms:W3CDTF">2021-06-12T09:56:09Z</dcterms:modified>
</cp:coreProperties>
</file>