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306" r:id="rId2"/>
    <p:sldId id="307" r:id="rId3"/>
    <p:sldId id="308" r:id="rId4"/>
    <p:sldId id="309" r:id="rId5"/>
    <p:sldId id="310" r:id="rId6"/>
    <p:sldId id="311" r:id="rId7"/>
    <p:sldId id="312" r:id="rId8"/>
    <p:sldId id="316" r:id="rId9"/>
    <p:sldId id="257" r:id="rId10"/>
    <p:sldId id="259" r:id="rId11"/>
    <p:sldId id="258" r:id="rId12"/>
    <p:sldId id="268" r:id="rId13"/>
    <p:sldId id="264" r:id="rId14"/>
    <p:sldId id="284" r:id="rId15"/>
    <p:sldId id="271" r:id="rId16"/>
    <p:sldId id="274" r:id="rId17"/>
    <p:sldId id="280" r:id="rId18"/>
    <p:sldId id="281" r:id="rId19"/>
    <p:sldId id="285" r:id="rId20"/>
    <p:sldId id="283" r:id="rId21"/>
    <p:sldId id="282" r:id="rId22"/>
    <p:sldId id="294" r:id="rId23"/>
    <p:sldId id="295" r:id="rId24"/>
    <p:sldId id="296" r:id="rId25"/>
    <p:sldId id="297"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0C03CFD-3C1A-41A3-81CC-68CCBF584AAF}" type="datetimeFigureOut">
              <a:rPr lang="en-US" smtClean="0"/>
              <a:pPr/>
              <a:t>3/12/2023</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44A91B-9C55-46DE-BC52-8F918EDF2834}" type="slidenum">
              <a:rPr lang="en-GB" smtClean="0"/>
              <a:pPr/>
              <a:t>‹#›</a:t>
            </a:fld>
            <a:endParaRPr lang="en-GB"/>
          </a:p>
        </p:txBody>
      </p:sp>
    </p:spTree>
    <p:extLst>
      <p:ext uri="{BB962C8B-B14F-4D97-AF65-F5344CB8AC3E}">
        <p14:creationId xmlns:p14="http://schemas.microsoft.com/office/powerpoint/2010/main" val="790791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p:spPr>
      </p:sp>
      <p:sp>
        <p:nvSpPr>
          <p:cNvPr id="1536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153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74B0974-B3BA-4748-8B62-1023DA19F1ED}" type="slidenum">
              <a:rPr lang="en-US"/>
              <a:pPr fontAlgn="base">
                <a:spcBef>
                  <a:spcPct val="0"/>
                </a:spcBef>
                <a:spcAft>
                  <a:spcPct val="0"/>
                </a:spcAft>
              </a:pPr>
              <a:t>10</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p:spPr>
      </p:sp>
      <p:sp>
        <p:nvSpPr>
          <p:cNvPr id="1536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153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74B0974-B3BA-4748-8B62-1023DA19F1ED}" type="slidenum">
              <a:rPr lang="en-US"/>
              <a:pPr fontAlgn="base">
                <a:spcBef>
                  <a:spcPct val="0"/>
                </a:spcBef>
                <a:spcAft>
                  <a:spcPct val="0"/>
                </a:spcAft>
              </a:pPr>
              <a:t>14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p:spPr>
      </p:sp>
      <p:sp>
        <p:nvSpPr>
          <p:cNvPr id="1536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153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74B0974-B3BA-4748-8B62-1023DA19F1ED}" type="slidenum">
              <a:rPr lang="en-US"/>
              <a:pPr fontAlgn="base">
                <a:spcBef>
                  <a:spcPct val="0"/>
                </a:spcBef>
                <a:spcAft>
                  <a:spcPct val="0"/>
                </a:spcAft>
              </a:pPr>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D27F7E33-0294-4AEA-8B64-63B084E368B9}" type="datetimeFigureOut">
              <a:rPr lang="en-US" smtClean="0"/>
              <a:pPr/>
              <a:t>3/12/2023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27F7E33-0294-4AEA-8B64-63B084E368B9}" type="datetimeFigureOut">
              <a:rPr lang="en-US" smtClean="0"/>
              <a:pPr/>
              <a:t>3/12/2023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7F7E33-0294-4AEA-8B64-63B084E368B9}" type="datetimeFigureOut">
              <a:rPr lang="en-US" smtClean="0"/>
              <a:pPr/>
              <a:t>3/12/2023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D27F7E33-0294-4AEA-8B64-63B084E368B9}" type="datetimeFigureOut">
              <a:rPr lang="en-US" smtClean="0"/>
              <a:pPr/>
              <a:t>3/12/2023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27F7E33-0294-4AEA-8B64-63B084E368B9}" type="datetimeFigureOut">
              <a:rPr lang="en-US" smtClean="0"/>
              <a:pPr/>
              <a:t>3/12/2023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D27F7E33-0294-4AEA-8B64-63B084E368B9}" type="datetimeFigureOut">
              <a:rPr lang="en-US" smtClean="0"/>
              <a:pPr/>
              <a:t>3/12/2023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7F7E33-0294-4AEA-8B64-63B084E368B9}" type="datetimeFigureOut">
              <a:rPr lang="en-US" smtClean="0"/>
              <a:pPr/>
              <a:t>3/12/2023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7F7E33-0294-4AEA-8B64-63B084E368B9}" type="datetimeFigureOut">
              <a:rPr lang="en-US" smtClean="0"/>
              <a:pPr/>
              <a:t>3/12/2023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7F7E33-0294-4AEA-8B64-63B084E368B9}" type="datetimeFigureOut">
              <a:rPr lang="en-US" smtClean="0"/>
              <a:pPr/>
              <a:t>3/12/2023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27F7E33-0294-4AEA-8B64-63B084E368B9}" type="datetimeFigureOut">
              <a:rPr lang="en-US" smtClean="0"/>
              <a:pPr/>
              <a:t>3/12/2023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27F7E33-0294-4AEA-8B64-63B084E368B9}" type="datetimeFigureOut">
              <a:rPr lang="en-US" smtClean="0"/>
              <a:pPr/>
              <a:t>3/12/2023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7F7E33-0294-4AEA-8B64-63B084E368B9}" type="datetimeFigureOut">
              <a:rPr lang="en-US" smtClean="0"/>
              <a:pPr/>
              <a:t>3/12/2023</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1A5E7E-EC26-45B8-88F1-B365ECAFA947}"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en.wikipedia.org/wiki/Paper-and-pencil_game"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Strings in C</a:t>
            </a:r>
          </a:p>
        </p:txBody>
      </p:sp>
      <p:sp>
        <p:nvSpPr>
          <p:cNvPr id="3" name="Content Placeholder 2"/>
          <p:cNvSpPr>
            <a:spLocks noGrp="1"/>
          </p:cNvSpPr>
          <p:nvPr>
            <p:ph idx="1"/>
          </p:nvPr>
        </p:nvSpPr>
        <p:spPr/>
        <p:txBody>
          <a:bodyPr/>
          <a:lstStyle/>
          <a:p>
            <a:r>
              <a:rPr lang="en-US" dirty="0"/>
              <a:t>Strings are defined as an array of characters.</a:t>
            </a:r>
          </a:p>
          <a:p>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2996952"/>
            <a:ext cx="4896544" cy="2247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58557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Declaration of strings</a:t>
            </a:r>
            <a:endParaRPr lang="en-US" dirty="0"/>
          </a:p>
        </p:txBody>
      </p:sp>
      <p:sp>
        <p:nvSpPr>
          <p:cNvPr id="3" name="Content Placeholder 2"/>
          <p:cNvSpPr>
            <a:spLocks noGrp="1"/>
          </p:cNvSpPr>
          <p:nvPr>
            <p:ph idx="1"/>
          </p:nvPr>
        </p:nvSpPr>
        <p:spPr/>
        <p:txBody>
          <a:bodyPr/>
          <a:lstStyle/>
          <a:p>
            <a:r>
              <a:rPr lang="en-US" dirty="0"/>
              <a:t>Declaring a string is as simple as declaring a one-dimensional array. Below is the basic syntax for declaring a string.</a:t>
            </a:r>
          </a:p>
          <a:p>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3356992"/>
            <a:ext cx="3880445" cy="1008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37409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Initializing a String</a:t>
            </a:r>
            <a:endParaRPr lang="en-US" dirty="0"/>
          </a:p>
        </p:txBody>
      </p:sp>
      <p:sp>
        <p:nvSpPr>
          <p:cNvPr id="3" name="Content Placeholder 2"/>
          <p:cNvSpPr>
            <a:spLocks noGrp="1"/>
          </p:cNvSpPr>
          <p:nvPr>
            <p:ph idx="1"/>
          </p:nvPr>
        </p:nvSpPr>
        <p:spPr/>
        <p:txBody>
          <a:bodyPr/>
          <a:lstStyle/>
          <a:p>
            <a:r>
              <a:rPr lang="en-US" dirty="0"/>
              <a:t>You can initialize strings in a number of ways.</a:t>
            </a:r>
          </a:p>
          <a:p>
            <a:endParaRPr 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492896"/>
            <a:ext cx="4680520" cy="1944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5085184"/>
            <a:ext cx="4320480" cy="752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93687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Read String from the user</a:t>
            </a:r>
            <a:br>
              <a:rPr lang="en-US" b="1" dirty="0"/>
            </a:br>
            <a:endParaRPr lang="en-US" dirty="0"/>
          </a:p>
        </p:txBody>
      </p:sp>
      <p:sp>
        <p:nvSpPr>
          <p:cNvPr id="3" name="Content Placeholder 2"/>
          <p:cNvSpPr>
            <a:spLocks noGrp="1"/>
          </p:cNvSpPr>
          <p:nvPr>
            <p:ph idx="1"/>
          </p:nvPr>
        </p:nvSpPr>
        <p:spPr/>
        <p:txBody>
          <a:bodyPr/>
          <a:lstStyle/>
          <a:p>
            <a:pPr algn="just"/>
            <a:r>
              <a:rPr lang="en-US" dirty="0"/>
              <a:t>The </a:t>
            </a:r>
            <a:r>
              <a:rPr lang="en-US" dirty="0" err="1"/>
              <a:t>scanf</a:t>
            </a:r>
            <a:r>
              <a:rPr lang="en-US" dirty="0"/>
              <a:t>() function reads the sequence of characters until it encounters whitespaces (</a:t>
            </a:r>
            <a:r>
              <a:rPr lang="en-US" dirty="0" err="1"/>
              <a:t>spaces,newline,tab,etc</a:t>
            </a:r>
            <a:r>
              <a:rPr lang="en-US" dirty="0"/>
              <a:t>.).</a:t>
            </a:r>
          </a:p>
          <a:p>
            <a:pPr algn="just"/>
            <a:r>
              <a:rPr lang="en-US" dirty="0"/>
              <a:t> </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3429000"/>
            <a:ext cx="4032448" cy="26642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096" y="3429000"/>
            <a:ext cx="3024336" cy="1095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5870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Read a line of text</a:t>
            </a:r>
            <a:br>
              <a:rPr lang="en-US" b="1" dirty="0"/>
            </a:br>
            <a:endParaRPr lang="en-US" dirty="0"/>
          </a:p>
        </p:txBody>
      </p:sp>
      <p:sp>
        <p:nvSpPr>
          <p:cNvPr id="3" name="Content Placeholder 2"/>
          <p:cNvSpPr>
            <a:spLocks noGrp="1"/>
          </p:cNvSpPr>
          <p:nvPr>
            <p:ph idx="1"/>
          </p:nvPr>
        </p:nvSpPr>
        <p:spPr/>
        <p:txBody>
          <a:bodyPr/>
          <a:lstStyle/>
          <a:p>
            <a:r>
              <a:rPr lang="en-US" dirty="0"/>
              <a:t>You can use the gets() function to read a line of string. And, you can use puts() to display the string.</a:t>
            </a:r>
          </a:p>
          <a:p>
            <a:endParaRPr 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3140968"/>
            <a:ext cx="4248472" cy="22524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03679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Strings functions</a:t>
            </a:r>
          </a:p>
        </p:txBody>
      </p:sp>
      <p:sp>
        <p:nvSpPr>
          <p:cNvPr id="4" name="Content Placeholder 3"/>
          <p:cNvSpPr>
            <a:spLocks noGrp="1"/>
          </p:cNvSpPr>
          <p:nvPr>
            <p:ph idx="1"/>
          </p:nvPr>
        </p:nvSpPr>
        <p:spPr/>
        <p:txBody>
          <a:bodyPr/>
          <a:lstStyle/>
          <a:p>
            <a:r>
              <a:rPr lang="en-US" dirty="0"/>
              <a:t>C supports a wide range of functions that manipulate null-terminated strings.</a:t>
            </a:r>
          </a:p>
          <a:p>
            <a:endParaRPr lang="en-US" dirty="0"/>
          </a:p>
        </p:txBody>
      </p:sp>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2636912"/>
            <a:ext cx="7200799" cy="42210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2521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33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31640" y="1484784"/>
            <a:ext cx="6048671" cy="46085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03812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62602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31762"/>
            <a:ext cx="8229600" cy="796908"/>
          </a:xfrm>
        </p:spPr>
        <p:txBody>
          <a:bodyPr/>
          <a:lstStyle/>
          <a:p>
            <a:r>
              <a:rPr lang="en-GB" dirty="0"/>
              <a:t>Accident Problem</a:t>
            </a:r>
          </a:p>
        </p:txBody>
      </p:sp>
      <p:sp>
        <p:nvSpPr>
          <p:cNvPr id="3" name="Content Placeholder 2"/>
          <p:cNvSpPr>
            <a:spLocks noGrp="1"/>
          </p:cNvSpPr>
          <p:nvPr>
            <p:ph idx="1"/>
          </p:nvPr>
        </p:nvSpPr>
        <p:spPr>
          <a:xfrm>
            <a:off x="457200" y="1000108"/>
            <a:ext cx="8229600" cy="5572164"/>
          </a:xfrm>
        </p:spPr>
        <p:txBody>
          <a:bodyPr>
            <a:normAutofit/>
          </a:bodyPr>
          <a:lstStyle/>
          <a:p>
            <a:pPr algn="just">
              <a:buNone/>
            </a:pPr>
            <a:r>
              <a:rPr lang="en-GB" dirty="0"/>
              <a:t>	Each year the Department of Traffic Accidents receives accident count reports from a number of cities and towns across the country. Given details of ‘n’ days, develop an algorithm and write a program to determine the average number of accidents and for each day, print the difference between the number of accidents on that day and average. For example, if the number of accidents is 5 and the values are 10, 12, 15, 13, 5 then average is 11 and the difference of values are 1, 1, 4, 2, 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1414"/>
            <a:ext cx="8229600" cy="714380"/>
          </a:xfrm>
        </p:spPr>
        <p:txBody>
          <a:bodyPr>
            <a:normAutofit fontScale="90000"/>
          </a:bodyPr>
          <a:lstStyle/>
          <a:p>
            <a:r>
              <a:rPr lang="en-GB" b="1" dirty="0"/>
              <a:t>Accident problem</a:t>
            </a:r>
          </a:p>
        </p:txBody>
      </p:sp>
      <p:graphicFrame>
        <p:nvGraphicFramePr>
          <p:cNvPr id="7" name="Table 6"/>
          <p:cNvGraphicFramePr>
            <a:graphicFrameLocks noGrp="1"/>
          </p:cNvGraphicFramePr>
          <p:nvPr/>
        </p:nvGraphicFramePr>
        <p:xfrm>
          <a:off x="214282" y="1500174"/>
          <a:ext cx="8715435" cy="3705875"/>
        </p:xfrm>
        <a:graphic>
          <a:graphicData uri="http://schemas.openxmlformats.org/drawingml/2006/table">
            <a:tbl>
              <a:tblPr firstRow="1" bandRow="1">
                <a:tableStyleId>{5C22544A-7EE6-4342-B048-85BDC9FD1C3A}</a:tableStyleId>
              </a:tblPr>
              <a:tblGrid>
                <a:gridCol w="2905145">
                  <a:extLst>
                    <a:ext uri="{9D8B030D-6E8A-4147-A177-3AD203B41FA5}">
                      <a16:colId xmlns:a16="http://schemas.microsoft.com/office/drawing/2014/main" val="20000"/>
                    </a:ext>
                  </a:extLst>
                </a:gridCol>
                <a:gridCol w="3024209">
                  <a:extLst>
                    <a:ext uri="{9D8B030D-6E8A-4147-A177-3AD203B41FA5}">
                      <a16:colId xmlns:a16="http://schemas.microsoft.com/office/drawing/2014/main" val="20001"/>
                    </a:ext>
                  </a:extLst>
                </a:gridCol>
                <a:gridCol w="2786081">
                  <a:extLst>
                    <a:ext uri="{9D8B030D-6E8A-4147-A177-3AD203B41FA5}">
                      <a16:colId xmlns:a16="http://schemas.microsoft.com/office/drawing/2014/main" val="20002"/>
                    </a:ext>
                  </a:extLst>
                </a:gridCol>
              </a:tblGrid>
              <a:tr h="1176035">
                <a:tc>
                  <a:txBody>
                    <a:bodyPr/>
                    <a:lstStyle/>
                    <a:p>
                      <a:r>
                        <a:rPr lang="en-GB" sz="3200" dirty="0"/>
                        <a:t>Input</a:t>
                      </a:r>
                    </a:p>
                  </a:txBody>
                  <a:tcPr/>
                </a:tc>
                <a:tc>
                  <a:txBody>
                    <a:bodyPr/>
                    <a:lstStyle/>
                    <a:p>
                      <a:r>
                        <a:rPr lang="en-GB" sz="3200" dirty="0"/>
                        <a:t>Output</a:t>
                      </a:r>
                    </a:p>
                  </a:txBody>
                  <a:tcPr/>
                </a:tc>
                <a:tc>
                  <a:txBody>
                    <a:bodyPr/>
                    <a:lstStyle/>
                    <a:p>
                      <a:r>
                        <a:rPr lang="en-GB" sz="3200" dirty="0"/>
                        <a:t>Logic Involved</a:t>
                      </a:r>
                    </a:p>
                  </a:txBody>
                  <a:tcPr/>
                </a:tc>
                <a:extLst>
                  <a:ext uri="{0D108BD9-81ED-4DB2-BD59-A6C34878D82A}">
                    <a16:rowId xmlns:a16="http://schemas.microsoft.com/office/drawing/2014/main" val="10000"/>
                  </a:ext>
                </a:extLst>
              </a:tr>
              <a:tr h="681353">
                <a:tc>
                  <a:txBody>
                    <a:bodyPr/>
                    <a:lstStyle/>
                    <a:p>
                      <a:r>
                        <a:rPr lang="en-GB" sz="3200" dirty="0"/>
                        <a:t>Value</a:t>
                      </a:r>
                      <a:r>
                        <a:rPr lang="en-GB" sz="3200" baseline="0" dirty="0"/>
                        <a:t> of ‘n’, the number of accidents</a:t>
                      </a:r>
                      <a:endParaRPr lang="en-GB" sz="3200" dirty="0"/>
                    </a:p>
                  </a:txBody>
                  <a:tcPr/>
                </a:tc>
                <a:tc>
                  <a:txBody>
                    <a:bodyPr/>
                    <a:lstStyle/>
                    <a:p>
                      <a:r>
                        <a:rPr lang="en-GB" sz="3200" dirty="0"/>
                        <a:t>Average and</a:t>
                      </a:r>
                      <a:r>
                        <a:rPr lang="en-GB" sz="3200" baseline="0" dirty="0"/>
                        <a:t> ‘n’ values that is the difference between average and value</a:t>
                      </a:r>
                      <a:endParaRPr lang="en-GB" sz="3200" dirty="0"/>
                    </a:p>
                  </a:txBody>
                  <a:tcPr/>
                </a:tc>
                <a:tc>
                  <a:txBody>
                    <a:bodyPr/>
                    <a:lstStyle/>
                    <a:p>
                      <a:r>
                        <a:rPr lang="en-GB" sz="3100" dirty="0"/>
                        <a:t>Find</a:t>
                      </a:r>
                      <a:r>
                        <a:rPr lang="en-GB" sz="3100" baseline="0" dirty="0"/>
                        <a:t> a</a:t>
                      </a:r>
                      <a:r>
                        <a:rPr lang="en-GB" sz="3100" dirty="0"/>
                        <a:t>verage and difference</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31762"/>
            <a:ext cx="8229600" cy="796908"/>
          </a:xfrm>
        </p:spPr>
        <p:txBody>
          <a:bodyPr/>
          <a:lstStyle/>
          <a:p>
            <a:r>
              <a:rPr lang="en-GB" dirty="0"/>
              <a:t>Algorithm</a:t>
            </a:r>
          </a:p>
        </p:txBody>
      </p:sp>
      <p:sp>
        <p:nvSpPr>
          <p:cNvPr id="3" name="Content Placeholder 2"/>
          <p:cNvSpPr>
            <a:spLocks noGrp="1"/>
          </p:cNvSpPr>
          <p:nvPr>
            <p:ph idx="1"/>
          </p:nvPr>
        </p:nvSpPr>
        <p:spPr>
          <a:xfrm>
            <a:off x="457200" y="1000108"/>
            <a:ext cx="8229600" cy="5572164"/>
          </a:xfrm>
        </p:spPr>
        <p:txBody>
          <a:bodyPr>
            <a:normAutofit/>
          </a:bodyPr>
          <a:lstStyle/>
          <a:p>
            <a:pPr marL="514350" indent="-514350" algn="just">
              <a:buAutoNum type="arabicPeriod"/>
            </a:pPr>
            <a:r>
              <a:rPr lang="en-GB" dirty="0"/>
              <a:t>Read the value of ‘n’</a:t>
            </a:r>
          </a:p>
          <a:p>
            <a:pPr marL="514350" indent="-514350" algn="just">
              <a:buAutoNum type="arabicPeriod"/>
            </a:pPr>
            <a:r>
              <a:rPr lang="en-GB" dirty="0"/>
              <a:t>Read the number of accidents happened in ‘n’ days</a:t>
            </a:r>
          </a:p>
          <a:p>
            <a:pPr marL="514350" indent="-514350" algn="just">
              <a:buAutoNum type="arabicPeriod"/>
            </a:pPr>
            <a:r>
              <a:rPr lang="en-GB" dirty="0"/>
              <a:t>Find average</a:t>
            </a:r>
          </a:p>
          <a:p>
            <a:pPr marL="514350" indent="-514350" algn="just">
              <a:buAutoNum type="arabicPeriod"/>
            </a:pPr>
            <a:r>
              <a:rPr lang="en-GB" dirty="0"/>
              <a:t>For each value print the difference between average and the value</a:t>
            </a:r>
          </a:p>
          <a:p>
            <a:pPr marL="514350" indent="-514350" algn="just">
              <a:buAutoNum type="arabicPeriod"/>
            </a:pPr>
            <a:endParaRPr lang="en-GB" dirty="0"/>
          </a:p>
          <a:p>
            <a:pPr marL="514350" indent="-514350" algn="just">
              <a:buAutoNum type="arabicPeriod"/>
            </a:pPr>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285720" y="28112"/>
            <a:ext cx="8643966" cy="6776869"/>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31762"/>
            <a:ext cx="8229600" cy="939784"/>
          </a:xfrm>
        </p:spPr>
        <p:txBody>
          <a:bodyPr>
            <a:normAutofit/>
          </a:bodyPr>
          <a:lstStyle/>
          <a:p>
            <a:r>
              <a:rPr lang="en-GB" b="1" dirty="0"/>
              <a:t>Huffman Coding Problem</a:t>
            </a:r>
            <a:endParaRPr lang="en-GB" dirty="0"/>
          </a:p>
        </p:txBody>
      </p:sp>
      <p:sp>
        <p:nvSpPr>
          <p:cNvPr id="3" name="Content Placeholder 2"/>
          <p:cNvSpPr>
            <a:spLocks noGrp="1"/>
          </p:cNvSpPr>
          <p:nvPr>
            <p:ph idx="1"/>
          </p:nvPr>
        </p:nvSpPr>
        <p:spPr>
          <a:xfrm>
            <a:off x="428596" y="1071546"/>
            <a:ext cx="8229600" cy="5000660"/>
          </a:xfrm>
        </p:spPr>
        <p:txBody>
          <a:bodyPr>
            <a:normAutofit fontScale="92500"/>
          </a:bodyPr>
          <a:lstStyle/>
          <a:p>
            <a:pPr algn="just">
              <a:lnSpc>
                <a:spcPct val="150000"/>
              </a:lnSpc>
              <a:buNone/>
            </a:pPr>
            <a:r>
              <a:rPr lang="en-GB" b="1" dirty="0"/>
              <a:t>	Huffman code</a:t>
            </a:r>
            <a:r>
              <a:rPr lang="en-GB" dirty="0"/>
              <a:t> is a particular type of optimal prefix code for characters. It is commonly used for lossless data compression. It is a variable-length code derived from frequency of occurrence. Given a string develop an algorithm and write a C program to determine frequency of occurrence of each character in the string.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1414"/>
            <a:ext cx="8229600" cy="714380"/>
          </a:xfrm>
        </p:spPr>
        <p:txBody>
          <a:bodyPr>
            <a:normAutofit fontScale="90000"/>
          </a:bodyPr>
          <a:lstStyle/>
          <a:p>
            <a:r>
              <a:rPr lang="en-GB" b="1" dirty="0"/>
              <a:t>Huffman Coding problem</a:t>
            </a:r>
          </a:p>
        </p:txBody>
      </p:sp>
      <p:graphicFrame>
        <p:nvGraphicFramePr>
          <p:cNvPr id="7" name="Table 6"/>
          <p:cNvGraphicFramePr>
            <a:graphicFrameLocks noGrp="1"/>
          </p:cNvGraphicFramePr>
          <p:nvPr/>
        </p:nvGraphicFramePr>
        <p:xfrm>
          <a:off x="214282" y="1500174"/>
          <a:ext cx="8715435" cy="3629675"/>
        </p:xfrm>
        <a:graphic>
          <a:graphicData uri="http://schemas.openxmlformats.org/drawingml/2006/table">
            <a:tbl>
              <a:tblPr firstRow="1" bandRow="1">
                <a:tableStyleId>{5C22544A-7EE6-4342-B048-85BDC9FD1C3A}</a:tableStyleId>
              </a:tblPr>
              <a:tblGrid>
                <a:gridCol w="2000264">
                  <a:extLst>
                    <a:ext uri="{9D8B030D-6E8A-4147-A177-3AD203B41FA5}">
                      <a16:colId xmlns:a16="http://schemas.microsoft.com/office/drawing/2014/main" val="20000"/>
                    </a:ext>
                  </a:extLst>
                </a:gridCol>
                <a:gridCol w="2500330">
                  <a:extLst>
                    <a:ext uri="{9D8B030D-6E8A-4147-A177-3AD203B41FA5}">
                      <a16:colId xmlns:a16="http://schemas.microsoft.com/office/drawing/2014/main" val="20001"/>
                    </a:ext>
                  </a:extLst>
                </a:gridCol>
                <a:gridCol w="4214841">
                  <a:extLst>
                    <a:ext uri="{9D8B030D-6E8A-4147-A177-3AD203B41FA5}">
                      <a16:colId xmlns:a16="http://schemas.microsoft.com/office/drawing/2014/main" val="20002"/>
                    </a:ext>
                  </a:extLst>
                </a:gridCol>
              </a:tblGrid>
              <a:tr h="1176035">
                <a:tc>
                  <a:txBody>
                    <a:bodyPr/>
                    <a:lstStyle/>
                    <a:p>
                      <a:r>
                        <a:rPr lang="en-GB" sz="3200" dirty="0"/>
                        <a:t>Input</a:t>
                      </a:r>
                    </a:p>
                  </a:txBody>
                  <a:tcPr/>
                </a:tc>
                <a:tc>
                  <a:txBody>
                    <a:bodyPr/>
                    <a:lstStyle/>
                    <a:p>
                      <a:r>
                        <a:rPr lang="en-GB" sz="3200" dirty="0"/>
                        <a:t>Output</a:t>
                      </a:r>
                    </a:p>
                  </a:txBody>
                  <a:tcPr/>
                </a:tc>
                <a:tc>
                  <a:txBody>
                    <a:bodyPr/>
                    <a:lstStyle/>
                    <a:p>
                      <a:r>
                        <a:rPr lang="en-GB" sz="3200" dirty="0"/>
                        <a:t>Logic Involved</a:t>
                      </a:r>
                    </a:p>
                  </a:txBody>
                  <a:tcPr/>
                </a:tc>
                <a:extLst>
                  <a:ext uri="{0D108BD9-81ED-4DB2-BD59-A6C34878D82A}">
                    <a16:rowId xmlns:a16="http://schemas.microsoft.com/office/drawing/2014/main" val="10000"/>
                  </a:ext>
                </a:extLst>
              </a:tr>
              <a:tr h="681353">
                <a:tc>
                  <a:txBody>
                    <a:bodyPr/>
                    <a:lstStyle/>
                    <a:p>
                      <a:r>
                        <a:rPr lang="en-GB" sz="3200" dirty="0"/>
                        <a:t>A string S</a:t>
                      </a:r>
                    </a:p>
                  </a:txBody>
                  <a:tcPr/>
                </a:tc>
                <a:tc>
                  <a:txBody>
                    <a:bodyPr/>
                    <a:lstStyle/>
                    <a:p>
                      <a:r>
                        <a:rPr lang="en-GB" sz="3200" dirty="0"/>
                        <a:t>Frequency</a:t>
                      </a:r>
                      <a:r>
                        <a:rPr lang="en-GB" sz="3200" baseline="0" dirty="0"/>
                        <a:t> count of each letter in S</a:t>
                      </a:r>
                      <a:endParaRPr lang="en-GB" sz="3200" dirty="0"/>
                    </a:p>
                  </a:txBody>
                  <a:tcPr/>
                </a:tc>
                <a:tc>
                  <a:txBody>
                    <a:bodyPr/>
                    <a:lstStyle/>
                    <a:p>
                      <a:r>
                        <a:rPr lang="en-GB" sz="3100" dirty="0"/>
                        <a:t>Convert all letters to uniform case and</a:t>
                      </a:r>
                      <a:r>
                        <a:rPr lang="en-GB" sz="3100" baseline="0" dirty="0"/>
                        <a:t> check if it is a particular letter and increment corresponding count</a:t>
                      </a:r>
                      <a:endParaRPr lang="en-GB" sz="3100" dirty="0"/>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31762"/>
            <a:ext cx="8229600" cy="939784"/>
          </a:xfrm>
        </p:spPr>
        <p:txBody>
          <a:bodyPr>
            <a:normAutofit/>
          </a:bodyPr>
          <a:lstStyle/>
          <a:p>
            <a:r>
              <a:rPr lang="en-GB" b="1" dirty="0"/>
              <a:t>Algorithm</a:t>
            </a:r>
            <a:endParaRPr lang="en-GB" dirty="0"/>
          </a:p>
        </p:txBody>
      </p:sp>
      <p:sp>
        <p:nvSpPr>
          <p:cNvPr id="3" name="Content Placeholder 2"/>
          <p:cNvSpPr>
            <a:spLocks noGrp="1"/>
          </p:cNvSpPr>
          <p:nvPr>
            <p:ph idx="1"/>
          </p:nvPr>
        </p:nvSpPr>
        <p:spPr>
          <a:xfrm>
            <a:off x="428596" y="1071546"/>
            <a:ext cx="8229600" cy="5500726"/>
          </a:xfrm>
        </p:spPr>
        <p:txBody>
          <a:bodyPr>
            <a:normAutofit lnSpcReduction="10000"/>
          </a:bodyPr>
          <a:lstStyle/>
          <a:p>
            <a:pPr marL="514350" indent="-514350" algn="just">
              <a:lnSpc>
                <a:spcPct val="150000"/>
              </a:lnSpc>
              <a:buAutoNum type="arabicPeriod"/>
            </a:pPr>
            <a:r>
              <a:rPr lang="en-GB" dirty="0"/>
              <a:t>Read a string</a:t>
            </a:r>
          </a:p>
          <a:p>
            <a:pPr marL="514350" indent="-514350" algn="just">
              <a:lnSpc>
                <a:spcPct val="150000"/>
              </a:lnSpc>
              <a:buAutoNum type="arabicPeriod"/>
            </a:pPr>
            <a:r>
              <a:rPr lang="en-GB" dirty="0"/>
              <a:t>Make all letters in the string to be in lowercase</a:t>
            </a:r>
          </a:p>
          <a:p>
            <a:pPr marL="514350" indent="-514350" algn="just">
              <a:lnSpc>
                <a:spcPct val="150000"/>
              </a:lnSpc>
              <a:buAutoNum type="arabicPeriod"/>
            </a:pPr>
            <a:r>
              <a:rPr lang="en-GB" dirty="0"/>
              <a:t>Process character by character</a:t>
            </a:r>
          </a:p>
          <a:p>
            <a:pPr marL="514350" indent="-514350" algn="just">
              <a:lnSpc>
                <a:spcPct val="150000"/>
              </a:lnSpc>
              <a:buAutoNum type="arabicPeriod"/>
            </a:pPr>
            <a:r>
              <a:rPr lang="en-GB" dirty="0"/>
              <a:t>If the character is an alphabet then increment count of it</a:t>
            </a:r>
          </a:p>
          <a:p>
            <a:pPr marL="514350" indent="-514350" algn="just">
              <a:lnSpc>
                <a:spcPct val="150000"/>
              </a:lnSpc>
              <a:buAutoNum type="arabicPeriod"/>
            </a:pPr>
            <a:r>
              <a:rPr lang="en-GB" dirty="0"/>
              <a:t>Print count of all alphabets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285720" y="142852"/>
            <a:ext cx="8429684" cy="6538665"/>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31762"/>
            <a:ext cx="8229600" cy="939784"/>
          </a:xfrm>
        </p:spPr>
        <p:txBody>
          <a:bodyPr>
            <a:normAutofit/>
          </a:bodyPr>
          <a:lstStyle/>
          <a:p>
            <a:r>
              <a:rPr lang="en-GB" b="1" dirty="0"/>
              <a:t>Tic </a:t>
            </a:r>
            <a:r>
              <a:rPr lang="en-GB" b="1" dirty="0" err="1"/>
              <a:t>Tac</a:t>
            </a:r>
            <a:r>
              <a:rPr lang="en-GB" b="1" dirty="0"/>
              <a:t> Toe Problem</a:t>
            </a:r>
            <a:endParaRPr lang="en-GB" dirty="0"/>
          </a:p>
        </p:txBody>
      </p:sp>
      <p:sp>
        <p:nvSpPr>
          <p:cNvPr id="3" name="Content Placeholder 2"/>
          <p:cNvSpPr>
            <a:spLocks noGrp="1"/>
          </p:cNvSpPr>
          <p:nvPr>
            <p:ph idx="1"/>
          </p:nvPr>
        </p:nvSpPr>
        <p:spPr>
          <a:xfrm>
            <a:off x="428596" y="1071546"/>
            <a:ext cx="8229600" cy="3429024"/>
          </a:xfrm>
        </p:spPr>
        <p:txBody>
          <a:bodyPr>
            <a:normAutofit fontScale="92500" lnSpcReduction="10000"/>
          </a:bodyPr>
          <a:lstStyle/>
          <a:p>
            <a:pPr algn="just">
              <a:lnSpc>
                <a:spcPct val="150000"/>
              </a:lnSpc>
              <a:buNone/>
            </a:pPr>
            <a:r>
              <a:rPr lang="en-GB" b="1" dirty="0"/>
              <a:t>	Tic-tac-toe </a:t>
            </a:r>
            <a:r>
              <a:rPr lang="en-GB" dirty="0"/>
              <a:t>is a </a:t>
            </a:r>
            <a:r>
              <a:rPr lang="en-GB" dirty="0">
                <a:hlinkClick r:id="rId2" tooltip="Paper-and-pencil game"/>
              </a:rPr>
              <a:t>paper-and-pencil game</a:t>
            </a:r>
            <a:r>
              <a:rPr lang="en-GB" dirty="0"/>
              <a:t> for two players, </a:t>
            </a:r>
            <a:r>
              <a:rPr lang="en-GB" i="1" dirty="0"/>
              <a:t>X</a:t>
            </a:r>
            <a:r>
              <a:rPr lang="en-GB" dirty="0"/>
              <a:t> and </a:t>
            </a:r>
            <a:r>
              <a:rPr lang="en-GB" i="1" dirty="0"/>
              <a:t>O</a:t>
            </a:r>
            <a:r>
              <a:rPr lang="en-GB" dirty="0"/>
              <a:t>, who take turns marking the spaces in a 3×3 grid. Player who succeeds in placing three of their marks in a horizontal, vertical, or diagonal row wins the game.</a:t>
            </a:r>
          </a:p>
        </p:txBody>
      </p:sp>
      <p:sp>
        <p:nvSpPr>
          <p:cNvPr id="1026" name="AutoShape 2" descr="Image result for tic tac to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sp>
        <p:nvSpPr>
          <p:cNvPr id="1028" name="AutoShape 4" descr="Image result for tic tac to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sp>
        <p:nvSpPr>
          <p:cNvPr id="1030" name="AutoShape 6" descr="Image result for tic tac to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pic>
        <p:nvPicPr>
          <p:cNvPr id="1032" name="Picture 8" descr="Image result for tic tac toe"/>
          <p:cNvPicPr>
            <a:picLocks noChangeAspect="1" noChangeArrowheads="1"/>
          </p:cNvPicPr>
          <p:nvPr/>
        </p:nvPicPr>
        <p:blipFill>
          <a:blip r:embed="rId3"/>
          <a:srcRect/>
          <a:stretch>
            <a:fillRect/>
          </a:stretch>
        </p:blipFill>
        <p:spPr bwMode="auto">
          <a:xfrm>
            <a:off x="2571736" y="4714884"/>
            <a:ext cx="2886075" cy="1371601"/>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71414"/>
            <a:ext cx="8229600" cy="796908"/>
          </a:xfrm>
        </p:spPr>
        <p:txBody>
          <a:bodyPr>
            <a:normAutofit/>
          </a:bodyPr>
          <a:lstStyle/>
          <a:p>
            <a:r>
              <a:rPr lang="en-GB" b="1" dirty="0"/>
              <a:t>Tic </a:t>
            </a:r>
            <a:r>
              <a:rPr lang="en-GB" b="1" dirty="0" err="1"/>
              <a:t>Tac</a:t>
            </a:r>
            <a:r>
              <a:rPr lang="en-GB" b="1" dirty="0"/>
              <a:t> Toe Problem Contd...</a:t>
            </a:r>
            <a:endParaRPr lang="en-GB" dirty="0"/>
          </a:p>
        </p:txBody>
      </p:sp>
      <p:sp>
        <p:nvSpPr>
          <p:cNvPr id="3" name="Content Placeholder 2"/>
          <p:cNvSpPr>
            <a:spLocks noGrp="1"/>
          </p:cNvSpPr>
          <p:nvPr>
            <p:ph idx="1"/>
          </p:nvPr>
        </p:nvSpPr>
        <p:spPr>
          <a:xfrm>
            <a:off x="285720" y="785794"/>
            <a:ext cx="8715404" cy="6000768"/>
          </a:xfrm>
        </p:spPr>
        <p:txBody>
          <a:bodyPr>
            <a:normAutofit fontScale="92500" lnSpcReduction="10000"/>
          </a:bodyPr>
          <a:lstStyle/>
          <a:p>
            <a:pPr algn="just">
              <a:lnSpc>
                <a:spcPct val="150000"/>
              </a:lnSpc>
              <a:buNone/>
            </a:pPr>
            <a:r>
              <a:rPr lang="en-GB" dirty="0"/>
              <a:t>	Given the board configuration of the tic </a:t>
            </a:r>
            <a:r>
              <a:rPr lang="en-GB" dirty="0" err="1"/>
              <a:t>tac</a:t>
            </a:r>
            <a:r>
              <a:rPr lang="en-GB" dirty="0"/>
              <a:t> toe game, determine if the board is in either of the following states: empty, player1 wins, player2 wins, draw or intermediate. The board is said to be in initial state if all the cells contain ‘-1’, player1 uses ‘1’ as his coin and player2 uses ‘2’ as his coin. The game is draw when the board is full and no one has won the game.  The game is in intermediate state when no one has won and board is not full</a:t>
            </a:r>
          </a:p>
        </p:txBody>
      </p:sp>
      <p:sp>
        <p:nvSpPr>
          <p:cNvPr id="1026" name="AutoShape 2" descr="Image result for tic tac to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sp>
        <p:nvSpPr>
          <p:cNvPr id="1028" name="AutoShape 4" descr="Image result for tic tac to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sp>
        <p:nvSpPr>
          <p:cNvPr id="1030" name="AutoShape 6" descr="Image result for tic tac to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1414"/>
            <a:ext cx="8229600" cy="714380"/>
          </a:xfrm>
        </p:spPr>
        <p:txBody>
          <a:bodyPr>
            <a:normAutofit fontScale="90000"/>
          </a:bodyPr>
          <a:lstStyle/>
          <a:p>
            <a:r>
              <a:rPr lang="en-GB" b="1" dirty="0"/>
              <a:t>Tic </a:t>
            </a:r>
            <a:r>
              <a:rPr lang="en-GB" b="1" dirty="0" err="1"/>
              <a:t>Tac</a:t>
            </a:r>
            <a:r>
              <a:rPr lang="en-GB" b="1" dirty="0"/>
              <a:t> Toe problem</a:t>
            </a:r>
          </a:p>
        </p:txBody>
      </p:sp>
      <p:graphicFrame>
        <p:nvGraphicFramePr>
          <p:cNvPr id="7" name="Table 6"/>
          <p:cNvGraphicFramePr>
            <a:graphicFrameLocks noGrp="1"/>
          </p:cNvGraphicFramePr>
          <p:nvPr/>
        </p:nvGraphicFramePr>
        <p:xfrm>
          <a:off x="214282" y="1500174"/>
          <a:ext cx="8715435" cy="3218195"/>
        </p:xfrm>
        <a:graphic>
          <a:graphicData uri="http://schemas.openxmlformats.org/drawingml/2006/table">
            <a:tbl>
              <a:tblPr firstRow="1" bandRow="1">
                <a:tableStyleId>{5C22544A-7EE6-4342-B048-85BDC9FD1C3A}</a:tableStyleId>
              </a:tblPr>
              <a:tblGrid>
                <a:gridCol w="2905145">
                  <a:extLst>
                    <a:ext uri="{9D8B030D-6E8A-4147-A177-3AD203B41FA5}">
                      <a16:colId xmlns:a16="http://schemas.microsoft.com/office/drawing/2014/main" val="20000"/>
                    </a:ext>
                  </a:extLst>
                </a:gridCol>
                <a:gridCol w="3024209">
                  <a:extLst>
                    <a:ext uri="{9D8B030D-6E8A-4147-A177-3AD203B41FA5}">
                      <a16:colId xmlns:a16="http://schemas.microsoft.com/office/drawing/2014/main" val="20001"/>
                    </a:ext>
                  </a:extLst>
                </a:gridCol>
                <a:gridCol w="2786081">
                  <a:extLst>
                    <a:ext uri="{9D8B030D-6E8A-4147-A177-3AD203B41FA5}">
                      <a16:colId xmlns:a16="http://schemas.microsoft.com/office/drawing/2014/main" val="20002"/>
                    </a:ext>
                  </a:extLst>
                </a:gridCol>
              </a:tblGrid>
              <a:tr h="1176035">
                <a:tc>
                  <a:txBody>
                    <a:bodyPr/>
                    <a:lstStyle/>
                    <a:p>
                      <a:r>
                        <a:rPr lang="en-GB" sz="3200" dirty="0"/>
                        <a:t>Input</a:t>
                      </a:r>
                    </a:p>
                  </a:txBody>
                  <a:tcPr/>
                </a:tc>
                <a:tc>
                  <a:txBody>
                    <a:bodyPr/>
                    <a:lstStyle/>
                    <a:p>
                      <a:r>
                        <a:rPr lang="en-GB" sz="3200" dirty="0"/>
                        <a:t>Output</a:t>
                      </a:r>
                    </a:p>
                  </a:txBody>
                  <a:tcPr/>
                </a:tc>
                <a:tc>
                  <a:txBody>
                    <a:bodyPr/>
                    <a:lstStyle/>
                    <a:p>
                      <a:r>
                        <a:rPr lang="en-GB" sz="3200" dirty="0"/>
                        <a:t>Logic Involved</a:t>
                      </a:r>
                    </a:p>
                  </a:txBody>
                  <a:tcPr/>
                </a:tc>
                <a:extLst>
                  <a:ext uri="{0D108BD9-81ED-4DB2-BD59-A6C34878D82A}">
                    <a16:rowId xmlns:a16="http://schemas.microsoft.com/office/drawing/2014/main" val="10000"/>
                  </a:ext>
                </a:extLst>
              </a:tr>
              <a:tr h="681353">
                <a:tc>
                  <a:txBody>
                    <a:bodyPr/>
                    <a:lstStyle/>
                    <a:p>
                      <a:r>
                        <a:rPr lang="en-GB" sz="3200" dirty="0"/>
                        <a:t>Current board configuration</a:t>
                      </a:r>
                    </a:p>
                  </a:txBody>
                  <a:tcPr/>
                </a:tc>
                <a:tc>
                  <a:txBody>
                    <a:bodyPr/>
                    <a:lstStyle/>
                    <a:p>
                      <a:r>
                        <a:rPr lang="en-GB" sz="3200" dirty="0"/>
                        <a:t>State of the board as win, draw,</a:t>
                      </a:r>
                      <a:r>
                        <a:rPr lang="en-GB" sz="3200" baseline="0" dirty="0"/>
                        <a:t> initial or intermediate</a:t>
                      </a:r>
                      <a:endParaRPr lang="en-GB" sz="3200" dirty="0"/>
                    </a:p>
                  </a:txBody>
                  <a:tcPr/>
                </a:tc>
                <a:tc>
                  <a:txBody>
                    <a:bodyPr/>
                    <a:lstStyle/>
                    <a:p>
                      <a:r>
                        <a:rPr lang="en-GB" sz="3100" dirty="0"/>
                        <a:t>Find</a:t>
                      </a:r>
                      <a:r>
                        <a:rPr lang="en-GB" sz="3100" baseline="0" dirty="0"/>
                        <a:t> a</a:t>
                      </a:r>
                      <a:r>
                        <a:rPr lang="en-GB" sz="3100" dirty="0"/>
                        <a:t>verage and difference</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796908"/>
          </a:xfrm>
        </p:spPr>
        <p:txBody>
          <a:bodyPr/>
          <a:lstStyle/>
          <a:p>
            <a:r>
              <a:rPr lang="en-GB" dirty="0"/>
              <a:t>Algorithm</a:t>
            </a:r>
          </a:p>
        </p:txBody>
      </p:sp>
      <p:sp>
        <p:nvSpPr>
          <p:cNvPr id="3" name="Content Placeholder 2"/>
          <p:cNvSpPr>
            <a:spLocks noGrp="1"/>
          </p:cNvSpPr>
          <p:nvPr>
            <p:ph idx="1"/>
          </p:nvPr>
        </p:nvSpPr>
        <p:spPr>
          <a:xfrm>
            <a:off x="100042" y="714356"/>
            <a:ext cx="9043958" cy="6072206"/>
          </a:xfrm>
        </p:spPr>
        <p:txBody>
          <a:bodyPr>
            <a:normAutofit lnSpcReduction="10000"/>
          </a:bodyPr>
          <a:lstStyle/>
          <a:p>
            <a:r>
              <a:rPr lang="en-GB" dirty="0"/>
              <a:t>Represent the board in memory</a:t>
            </a:r>
          </a:p>
          <a:p>
            <a:r>
              <a:rPr lang="en-GB" dirty="0"/>
              <a:t>Get the elements in first row, second row and so on</a:t>
            </a:r>
          </a:p>
          <a:p>
            <a:r>
              <a:rPr lang="en-GB" dirty="0"/>
              <a:t>Process the elements </a:t>
            </a:r>
          </a:p>
          <a:p>
            <a:r>
              <a:rPr lang="en-GB" dirty="0"/>
              <a:t>If all are -1 then print ‘empty’</a:t>
            </a:r>
          </a:p>
          <a:p>
            <a:r>
              <a:rPr lang="en-GB" dirty="0"/>
              <a:t>If ‘1’ is placed row wise, column wise or diagonally then print ‘Player 1’ wins</a:t>
            </a:r>
          </a:p>
          <a:p>
            <a:r>
              <a:rPr lang="en-GB" dirty="0"/>
              <a:t>If ‘2’ is placed row wise, column wise or diagonally then print ‘Player 2’ wins</a:t>
            </a:r>
          </a:p>
          <a:p>
            <a:r>
              <a:rPr lang="en-GB" dirty="0"/>
              <a:t>If all cells are full and no one has won the game then print ‘Draw’</a:t>
            </a:r>
          </a:p>
          <a:p>
            <a:r>
              <a:rPr lang="en-GB" dirty="0"/>
              <a:t>Otherwise print intermediate</a:t>
            </a:r>
          </a:p>
          <a:p>
            <a:endParaRPr lang="en-GB" dirty="0"/>
          </a:p>
          <a:p>
            <a:endParaRPr lang="en-GB" dirty="0"/>
          </a:p>
          <a:p>
            <a:endParaRPr lang="en-GB"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31762"/>
            <a:ext cx="8501122" cy="796908"/>
          </a:xfrm>
        </p:spPr>
        <p:txBody>
          <a:bodyPr>
            <a:normAutofit/>
          </a:bodyPr>
          <a:lstStyle/>
          <a:p>
            <a:r>
              <a:rPr lang="en-GB" b="1" dirty="0"/>
              <a:t>Representation of Tic </a:t>
            </a:r>
            <a:r>
              <a:rPr lang="en-GB" b="1" dirty="0" err="1"/>
              <a:t>Tac</a:t>
            </a:r>
            <a:r>
              <a:rPr lang="en-GB" b="1" dirty="0"/>
              <a:t> Toe Board</a:t>
            </a:r>
            <a:endParaRPr lang="en-GB" dirty="0"/>
          </a:p>
        </p:txBody>
      </p:sp>
      <p:sp>
        <p:nvSpPr>
          <p:cNvPr id="1026" name="AutoShape 2" descr="Image result for tic tac to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sp>
        <p:nvSpPr>
          <p:cNvPr id="1028" name="AutoShape 4" descr="Image result for tic tac to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sp>
        <p:nvSpPr>
          <p:cNvPr id="1030" name="AutoShape 6" descr="Image result for tic tac to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pic>
        <p:nvPicPr>
          <p:cNvPr id="39938" name="Picture 2"/>
          <p:cNvPicPr>
            <a:picLocks noChangeAspect="1" noChangeArrowheads="1"/>
          </p:cNvPicPr>
          <p:nvPr/>
        </p:nvPicPr>
        <p:blipFill>
          <a:blip r:embed="rId2"/>
          <a:srcRect/>
          <a:stretch>
            <a:fillRect/>
          </a:stretch>
        </p:blipFill>
        <p:spPr bwMode="auto">
          <a:xfrm>
            <a:off x="1785918" y="1428736"/>
            <a:ext cx="5429288" cy="2417519"/>
          </a:xfrm>
          <a:prstGeom prst="rect">
            <a:avLst/>
          </a:prstGeom>
          <a:noFill/>
          <a:ln w="9525">
            <a:noFill/>
            <a:miter lim="800000"/>
            <a:headEnd/>
            <a:tailEnd/>
          </a:ln>
          <a:effectLst/>
        </p:spPr>
      </p:pic>
      <p:pic>
        <p:nvPicPr>
          <p:cNvPr id="39939" name="Picture 3"/>
          <p:cNvPicPr>
            <a:picLocks noChangeAspect="1" noChangeArrowheads="1"/>
          </p:cNvPicPr>
          <p:nvPr/>
        </p:nvPicPr>
        <p:blipFill>
          <a:blip r:embed="rId3"/>
          <a:srcRect/>
          <a:stretch>
            <a:fillRect/>
          </a:stretch>
        </p:blipFill>
        <p:spPr bwMode="auto">
          <a:xfrm>
            <a:off x="2500298" y="4214818"/>
            <a:ext cx="4076700" cy="120015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2"/>
          <a:srcRect/>
          <a:stretch>
            <a:fillRect/>
          </a:stretch>
        </p:blipFill>
        <p:spPr bwMode="auto">
          <a:xfrm>
            <a:off x="71406" y="571480"/>
            <a:ext cx="8963362" cy="4857784"/>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2"/>
          <a:srcRect/>
          <a:stretch>
            <a:fillRect/>
          </a:stretch>
        </p:blipFill>
        <p:spPr bwMode="auto">
          <a:xfrm>
            <a:off x="73602" y="1214422"/>
            <a:ext cx="8929718" cy="392909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a:srcRect/>
          <a:stretch>
            <a:fillRect/>
          </a:stretch>
        </p:blipFill>
        <p:spPr bwMode="auto">
          <a:xfrm>
            <a:off x="-32" y="642918"/>
            <a:ext cx="9136031" cy="3857652"/>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5" name="Picture 3"/>
          <p:cNvPicPr>
            <a:picLocks noChangeAspect="1" noChangeArrowheads="1"/>
          </p:cNvPicPr>
          <p:nvPr/>
        </p:nvPicPr>
        <p:blipFill>
          <a:blip r:embed="rId2"/>
          <a:srcRect/>
          <a:stretch>
            <a:fillRect/>
          </a:stretch>
        </p:blipFill>
        <p:spPr bwMode="auto">
          <a:xfrm>
            <a:off x="96804" y="642942"/>
            <a:ext cx="8832914" cy="450057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1366</TotalTime>
  <Words>732</Words>
  <Application>Microsoft Office PowerPoint</Application>
  <PresentationFormat>On-screen Show (4:3)</PresentationFormat>
  <Paragraphs>67</Paragraphs>
  <Slides>25</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Strings in C</vt:lpstr>
      <vt:lpstr>Declaration of strings</vt:lpstr>
      <vt:lpstr>Initializing a String</vt:lpstr>
      <vt:lpstr>Read String from the user </vt:lpstr>
      <vt:lpstr>Read a line of text </vt:lpstr>
      <vt:lpstr>Strings functions</vt:lpstr>
      <vt:lpstr>PowerPoint Presentation</vt:lpstr>
      <vt:lpstr>PowerPoint Presentation</vt:lpstr>
      <vt:lpstr>Accident Problem</vt:lpstr>
      <vt:lpstr>Accident problem</vt:lpstr>
      <vt:lpstr>Algorithm</vt:lpstr>
      <vt:lpstr>PowerPoint Presentation</vt:lpstr>
      <vt:lpstr>Huffman Coding Problem</vt:lpstr>
      <vt:lpstr>Huffman Coding problem</vt:lpstr>
      <vt:lpstr>Algorithm</vt:lpstr>
      <vt:lpstr>PowerPoint Presentation</vt:lpstr>
      <vt:lpstr>Tic Tac Toe Problem</vt:lpstr>
      <vt:lpstr>Tic Tac Toe Problem Contd...</vt:lpstr>
      <vt:lpstr>Tic Tac Toe problem</vt:lpstr>
      <vt:lpstr>Algorithm</vt:lpstr>
      <vt:lpstr>Representation of Tic Tac Toe Board</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Pramod Kumar Maurya</cp:lastModifiedBy>
  <cp:revision>224</cp:revision>
  <dcterms:created xsi:type="dcterms:W3CDTF">2016-01-12T05:48:54Z</dcterms:created>
  <dcterms:modified xsi:type="dcterms:W3CDTF">2023-03-12T15:16:29Z</dcterms:modified>
</cp:coreProperties>
</file>