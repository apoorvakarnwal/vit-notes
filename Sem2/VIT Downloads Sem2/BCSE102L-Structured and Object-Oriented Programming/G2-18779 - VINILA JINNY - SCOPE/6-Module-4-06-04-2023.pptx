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13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60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26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07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75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7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0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8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01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08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0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BD365-4D66-4558-A40B-90E33191F3E1}" type="datetimeFigureOut">
              <a:rPr lang="en-IN" smtClean="0"/>
              <a:t>08-04-2022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11940-5A28-4759-A46C-F7C4E4EA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70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     UNION		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S. </a:t>
            </a:r>
            <a:r>
              <a:rPr lang="en-US" dirty="0" err="1" smtClean="0"/>
              <a:t>Vinila</a:t>
            </a:r>
            <a:r>
              <a:rPr lang="en-US" dirty="0" smtClean="0"/>
              <a:t> </a:t>
            </a:r>
            <a:r>
              <a:rPr lang="en-US" dirty="0" err="1" smtClean="0"/>
              <a:t>Jinny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83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union is a user-defined type similar to structs in C except for one key </a:t>
            </a:r>
            <a:r>
              <a:rPr lang="en-US" dirty="0" smtClean="0"/>
              <a:t>difference Union members share same memory locations.</a:t>
            </a:r>
            <a:endParaRPr lang="en-US" dirty="0"/>
          </a:p>
          <a:p>
            <a:pPr algn="just"/>
            <a:r>
              <a:rPr lang="en-US" dirty="0"/>
              <a:t>Structures allocate enough space to store all their members, whereas </a:t>
            </a:r>
            <a:r>
              <a:rPr lang="en-US" b="1" dirty="0"/>
              <a:t>unions can only hold one member value at a time</a:t>
            </a:r>
            <a:r>
              <a:rPr lang="en-US" dirty="0"/>
              <a:t>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46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DEFINE UNION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the union keyword to define unions. Here's an example:</a:t>
            </a:r>
          </a:p>
          <a:p>
            <a:pPr marL="0" indent="0">
              <a:buNone/>
            </a:pPr>
            <a:r>
              <a:rPr lang="en-US" dirty="0"/>
              <a:t>union car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 </a:t>
            </a:r>
          </a:p>
          <a:p>
            <a:pPr marL="0" indent="0">
              <a:buNone/>
            </a:pPr>
            <a:r>
              <a:rPr lang="en-US" dirty="0" smtClean="0"/>
              <a:t>char </a:t>
            </a:r>
            <a:r>
              <a:rPr lang="en-US" dirty="0"/>
              <a:t>name[50</a:t>
            </a:r>
            <a:r>
              <a:rPr lang="en-US" dirty="0" smtClean="0"/>
              <a:t>];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/>
              <a:t>int</a:t>
            </a:r>
            <a:r>
              <a:rPr lang="en-US" dirty="0"/>
              <a:t> price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 }c;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067944" y="2996952"/>
            <a:ext cx="45365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printf</a:t>
            </a:r>
            <a:r>
              <a:rPr lang="en-US" dirty="0" smtClean="0"/>
              <a:t>(“Address of name:%p”, &amp;c.name);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(Address of price:%p”,&amp;</a:t>
            </a:r>
            <a:r>
              <a:rPr lang="en-US" dirty="0" err="1" smtClean="0"/>
              <a:t>c.price</a:t>
            </a:r>
            <a:r>
              <a:rPr lang="en-US" dirty="0" smtClean="0"/>
              <a:t>);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 :</a:t>
            </a:r>
          </a:p>
          <a:p>
            <a:r>
              <a:rPr lang="en-IN" dirty="0" smtClean="0"/>
              <a:t>0x7fffbd9b315c</a:t>
            </a:r>
          </a:p>
          <a:p>
            <a:r>
              <a:rPr lang="en-IN" dirty="0" smtClean="0"/>
              <a:t>0x7fffbd9b315c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88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UNION-SAME MEMORY</a:t>
            </a:r>
            <a:endParaRPr lang="en-I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871700" y="1586671"/>
            <a:ext cx="20882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struct</a:t>
            </a:r>
            <a:r>
              <a:rPr lang="en-US" b="1" dirty="0" smtClean="0"/>
              <a:t> xyz</a:t>
            </a:r>
          </a:p>
          <a:p>
            <a:r>
              <a:rPr lang="en-US" b="1" dirty="0" smtClean="0"/>
              <a:t>{</a:t>
            </a:r>
          </a:p>
          <a:p>
            <a:r>
              <a:rPr lang="en-US" b="1" dirty="0" err="1" smtClean="0"/>
              <a:t>Int</a:t>
            </a:r>
            <a:r>
              <a:rPr lang="en-US" b="1" dirty="0" smtClean="0"/>
              <a:t> a;</a:t>
            </a:r>
          </a:p>
          <a:p>
            <a:r>
              <a:rPr lang="en-US" b="1" dirty="0" smtClean="0"/>
              <a:t>Char b;</a:t>
            </a:r>
          </a:p>
          <a:p>
            <a:r>
              <a:rPr lang="en-US" b="1" dirty="0" smtClean="0"/>
              <a:t>};</a:t>
            </a:r>
            <a:endParaRPr lang="en-I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364088" y="1586671"/>
            <a:ext cx="20882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union xyz</a:t>
            </a:r>
          </a:p>
          <a:p>
            <a:r>
              <a:rPr lang="en-US" b="1" dirty="0" smtClean="0"/>
              <a:t>{</a:t>
            </a:r>
          </a:p>
          <a:p>
            <a:r>
              <a:rPr lang="en-US" b="1" dirty="0" err="1" smtClean="0"/>
              <a:t>Int</a:t>
            </a:r>
            <a:r>
              <a:rPr lang="en-US" b="1" dirty="0" smtClean="0"/>
              <a:t> a;</a:t>
            </a:r>
          </a:p>
          <a:p>
            <a:r>
              <a:rPr lang="en-US" b="1" dirty="0" smtClean="0"/>
              <a:t>Char b;</a:t>
            </a:r>
          </a:p>
          <a:p>
            <a:r>
              <a:rPr lang="en-US" b="1" dirty="0" smtClean="0"/>
              <a:t>};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367644" y="3948716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a’s address = 6293334</a:t>
            </a:r>
          </a:p>
          <a:p>
            <a:r>
              <a:rPr lang="en-US" b="1" dirty="0" smtClean="0"/>
              <a:t>b‘s address = 6293338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77408" y="3939448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a’s address = 6293334</a:t>
            </a:r>
          </a:p>
          <a:p>
            <a:r>
              <a:rPr lang="en-US" b="1" dirty="0" smtClean="0"/>
              <a:t>b‘s address = </a:t>
            </a:r>
            <a:r>
              <a:rPr lang="en-US" b="1" dirty="0"/>
              <a:t>6293334</a:t>
            </a:r>
          </a:p>
        </p:txBody>
      </p:sp>
    </p:spTree>
    <p:extLst>
      <p:ext uri="{BB962C8B-B14F-4D97-AF65-F5344CB8AC3E}">
        <p14:creationId xmlns:p14="http://schemas.microsoft.com/office/powerpoint/2010/main" val="633687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</a:t>
            </a:r>
            <a:endParaRPr lang="en-IN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84784"/>
            <a:ext cx="7655920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568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Size of UNION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4978896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Size of union is size of the largest member of the union</a:t>
            </a:r>
          </a:p>
          <a:p>
            <a:r>
              <a:rPr lang="en-US" dirty="0" smtClean="0"/>
              <a:t>Example: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b="1" dirty="0" smtClean="0"/>
              <a:t>union xyz</a:t>
            </a:r>
          </a:p>
          <a:p>
            <a:pPr marL="0" indent="0">
              <a:buNone/>
            </a:pPr>
            <a:r>
              <a:rPr lang="en-US" b="1" dirty="0" smtClean="0"/>
              <a:t>	{</a:t>
            </a:r>
          </a:p>
          <a:p>
            <a:pPr marL="0" indent="0">
              <a:buNone/>
            </a:pPr>
            <a:r>
              <a:rPr lang="en-US" b="1" dirty="0"/>
              <a:t> 	</a:t>
            </a:r>
            <a:r>
              <a:rPr lang="en-US" b="1" dirty="0" err="1" smtClean="0"/>
              <a:t>int</a:t>
            </a:r>
            <a:r>
              <a:rPr lang="en-US" b="1" dirty="0" smtClean="0"/>
              <a:t> a;		</a:t>
            </a:r>
          </a:p>
          <a:p>
            <a:pPr marL="914400" lvl="2" indent="0">
              <a:buNone/>
            </a:pPr>
            <a:r>
              <a:rPr lang="en-US" b="1" dirty="0" smtClean="0"/>
              <a:t>char b;</a:t>
            </a:r>
          </a:p>
          <a:p>
            <a:pPr marL="914400" lvl="2" indent="0">
              <a:buNone/>
            </a:pPr>
            <a:r>
              <a:rPr lang="en-US" b="1" dirty="0" smtClean="0"/>
              <a:t>double c;</a:t>
            </a:r>
          </a:p>
          <a:p>
            <a:pPr marL="914400" lvl="2" indent="0">
              <a:buNone/>
            </a:pPr>
            <a:r>
              <a:rPr lang="en-US" b="1" dirty="0" smtClean="0"/>
              <a:t>float d;</a:t>
            </a:r>
            <a:endParaRPr lang="en-IN" b="1" dirty="0"/>
          </a:p>
          <a:p>
            <a:pPr marL="914400" lvl="2" indent="0">
              <a:buNone/>
            </a:pPr>
            <a:r>
              <a:rPr lang="en-US" b="1" dirty="0" smtClean="0"/>
              <a:t>};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4355976" y="1628800"/>
            <a:ext cx="497889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 smtClean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r>
              <a:rPr lang="en-US" dirty="0" smtClean="0"/>
              <a:t>	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main()</a:t>
            </a:r>
          </a:p>
          <a:p>
            <a:pPr marL="0" indent="0">
              <a:buFont typeface="Arial" pitchFamily="34" charset="0"/>
              <a:buNone/>
            </a:pPr>
            <a:r>
              <a:rPr lang="en-US" sz="2400" b="1" dirty="0" smtClean="0"/>
              <a:t>	{</a:t>
            </a:r>
          </a:p>
          <a:p>
            <a:pPr marL="0" indent="0">
              <a:buFont typeface="Arial" pitchFamily="34" charset="0"/>
              <a:buNone/>
            </a:pPr>
            <a:r>
              <a:rPr lang="en-US" sz="2400" b="1" dirty="0" smtClean="0"/>
              <a:t> 	</a:t>
            </a:r>
            <a:r>
              <a:rPr lang="en-US" sz="2400" b="1" dirty="0" err="1" smtClean="0"/>
              <a:t>printf</a:t>
            </a:r>
            <a:r>
              <a:rPr lang="en-US" sz="2400" b="1" dirty="0" smtClean="0"/>
              <a:t>(“%d”, </a:t>
            </a:r>
            <a:r>
              <a:rPr lang="en-US" sz="2400" b="1" dirty="0" err="1" smtClean="0"/>
              <a:t>sizeof</a:t>
            </a:r>
            <a:r>
              <a:rPr lang="en-US" sz="2400" b="1" dirty="0" smtClean="0"/>
              <a:t>(union xyz))</a:t>
            </a:r>
          </a:p>
          <a:p>
            <a:pPr marL="0" indent="0">
              <a:buFont typeface="Arial" pitchFamily="34" charset="0"/>
              <a:buNone/>
            </a:pPr>
            <a:r>
              <a:rPr lang="en-US" sz="2400" b="1" dirty="0" smtClean="0"/>
              <a:t>	return 0;</a:t>
            </a:r>
          </a:p>
          <a:p>
            <a:pPr marL="0" indent="0">
              <a:buFont typeface="Arial" pitchFamily="34" charset="0"/>
              <a:buNone/>
            </a:pPr>
            <a:r>
              <a:rPr lang="en-US" sz="2400" b="1" dirty="0" smtClean="0"/>
              <a:t>	}</a:t>
            </a:r>
          </a:p>
          <a:p>
            <a:pPr marL="0" indent="0">
              <a:buFont typeface="Arial" pitchFamily="34" charset="0"/>
              <a:buNone/>
            </a:pPr>
            <a:r>
              <a:rPr lang="en-US" b="1" dirty="0" smtClean="0"/>
              <a:t>Output : 8</a:t>
            </a:r>
          </a:p>
        </p:txBody>
      </p:sp>
    </p:spTree>
    <p:extLst>
      <p:ext uri="{BB962C8B-B14F-4D97-AF65-F5344CB8AC3E}">
        <p14:creationId xmlns:p14="http://schemas.microsoft.com/office/powerpoint/2010/main" val="209133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members of the </a:t>
            </a:r>
            <a:r>
              <a:rPr lang="en-US" dirty="0" smtClean="0"/>
              <a:t>union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</a:t>
            </a:r>
            <a:r>
              <a:rPr lang="en-US" dirty="0"/>
              <a:t>are two ways to access </a:t>
            </a:r>
            <a:r>
              <a:rPr lang="en-US" dirty="0" smtClean="0"/>
              <a:t>union </a:t>
            </a:r>
            <a:r>
              <a:rPr lang="en-US" dirty="0"/>
              <a:t>members:</a:t>
            </a:r>
          </a:p>
          <a:p>
            <a:r>
              <a:rPr lang="en-US" dirty="0"/>
              <a:t>By . (member or dot operator)</a:t>
            </a:r>
          </a:p>
          <a:p>
            <a:r>
              <a:rPr lang="en-US" dirty="0"/>
              <a:t>By -&gt; (structure pointer operator)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695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4186808" cy="540060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000" b="1" dirty="0" smtClean="0"/>
              <a:t>#include &lt;</a:t>
            </a:r>
            <a:r>
              <a:rPr lang="en-US" sz="2000" b="1" dirty="0" err="1" smtClean="0"/>
              <a:t>stdio.h</a:t>
            </a:r>
            <a:r>
              <a:rPr lang="en-US" sz="2000" b="1" dirty="0" smtClean="0"/>
              <a:t>&gt;</a:t>
            </a:r>
          </a:p>
          <a:p>
            <a:pPr marL="0" indent="0" fontAlgn="base">
              <a:buNone/>
            </a:pPr>
            <a:r>
              <a:rPr lang="en-US" sz="2000" b="1" dirty="0" smtClean="0"/>
              <a:t>union Person </a:t>
            </a:r>
          </a:p>
          <a:p>
            <a:pPr marL="0" indent="0" fontAlgn="base">
              <a:buNone/>
            </a:pPr>
            <a:r>
              <a:rPr lang="en-US" sz="2000" b="1" dirty="0" smtClean="0"/>
              <a:t>{     </a:t>
            </a:r>
          </a:p>
          <a:p>
            <a:pPr marL="0" indent="0" fontAlgn="base">
              <a:buNone/>
            </a:pPr>
            <a:r>
              <a:rPr lang="en-US" sz="2000" b="1" dirty="0" smtClean="0"/>
              <a:t>char name[20];</a:t>
            </a:r>
          </a:p>
          <a:p>
            <a:pPr marL="0" indent="0" fontAlgn="base">
              <a:buNone/>
            </a:pPr>
            <a:r>
              <a:rPr lang="en-US" sz="2000" b="1" dirty="0" err="1" smtClean="0"/>
              <a:t>int</a:t>
            </a:r>
            <a:r>
              <a:rPr lang="en-US" sz="2000" b="1" dirty="0" smtClean="0"/>
              <a:t> age;</a:t>
            </a:r>
          </a:p>
          <a:p>
            <a:pPr marL="0" indent="0" fontAlgn="base">
              <a:buNone/>
            </a:pPr>
            <a:r>
              <a:rPr lang="en-US" sz="2000" b="1" dirty="0" err="1" smtClean="0"/>
              <a:t>int</a:t>
            </a:r>
            <a:r>
              <a:rPr lang="en-US" sz="2000" b="1" dirty="0" smtClean="0"/>
              <a:t> salary;</a:t>
            </a:r>
          </a:p>
          <a:p>
            <a:pPr marL="0" indent="0" fontAlgn="base">
              <a:buNone/>
            </a:pPr>
            <a:r>
              <a:rPr lang="en-US" sz="2000" b="1" dirty="0" smtClean="0"/>
              <a:t>};</a:t>
            </a:r>
          </a:p>
          <a:p>
            <a:pPr marL="0" indent="0" fontAlgn="base">
              <a:buNone/>
            </a:pPr>
            <a:r>
              <a:rPr lang="en-US" sz="2000" b="1" dirty="0" err="1" smtClean="0"/>
              <a:t>struct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Person_new</a:t>
            </a:r>
            <a:endParaRPr lang="en-US" sz="2000" b="1" dirty="0" smtClean="0"/>
          </a:p>
          <a:p>
            <a:pPr marL="0" indent="0" fontAlgn="base">
              <a:buNone/>
            </a:pPr>
            <a:r>
              <a:rPr lang="en-US" sz="2000" b="1" dirty="0" smtClean="0"/>
              <a:t> {       </a:t>
            </a:r>
          </a:p>
          <a:p>
            <a:pPr marL="0" indent="0" fontAlgn="base">
              <a:buNone/>
            </a:pPr>
            <a:r>
              <a:rPr lang="en-US" sz="2000" b="1" dirty="0" smtClean="0"/>
              <a:t>char name[20];</a:t>
            </a:r>
          </a:p>
          <a:p>
            <a:pPr marL="0" indent="0" fontAlgn="base">
              <a:buNone/>
            </a:pPr>
            <a:r>
              <a:rPr lang="en-US" sz="2000" b="1" dirty="0" err="1" smtClean="0"/>
              <a:t>int</a:t>
            </a:r>
            <a:r>
              <a:rPr lang="en-US" sz="2000" b="1" dirty="0" smtClean="0"/>
              <a:t> age;</a:t>
            </a:r>
          </a:p>
          <a:p>
            <a:pPr marL="0" indent="0" fontAlgn="base">
              <a:buNone/>
            </a:pPr>
            <a:r>
              <a:rPr lang="en-US" sz="2000" b="1" dirty="0" err="1" smtClean="0"/>
              <a:t>int</a:t>
            </a:r>
            <a:r>
              <a:rPr lang="en-US" sz="2000" b="1" dirty="0" smtClean="0"/>
              <a:t> salary;</a:t>
            </a:r>
          </a:p>
          <a:p>
            <a:pPr marL="0" indent="0" fontAlgn="base">
              <a:buNone/>
            </a:pPr>
            <a:r>
              <a:rPr lang="en-US" sz="2000" b="1" dirty="0" smtClean="0"/>
              <a:t>} ;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843808" y="1196752"/>
            <a:ext cx="6173300" cy="540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itchFamily="34" charset="0"/>
              <a:buNone/>
            </a:pPr>
            <a:r>
              <a:rPr lang="en-US" sz="2000" b="1" dirty="0" err="1" smtClean="0"/>
              <a:t>int</a:t>
            </a:r>
            <a:r>
              <a:rPr lang="en-US" sz="2000" b="1" dirty="0" smtClean="0"/>
              <a:t> main()</a:t>
            </a:r>
          </a:p>
          <a:p>
            <a:pPr marL="0" indent="0" fontAlgn="base">
              <a:buFont typeface="Arial" pitchFamily="34" charset="0"/>
              <a:buNone/>
            </a:pPr>
            <a:r>
              <a:rPr lang="en-US" sz="2000" b="1" dirty="0" smtClean="0"/>
              <a:t>{       union Person Person1;</a:t>
            </a:r>
          </a:p>
          <a:p>
            <a:pPr marL="0" indent="0" fontAlgn="base">
              <a:buFont typeface="Arial" pitchFamily="34" charset="0"/>
              <a:buNone/>
            </a:pPr>
            <a:r>
              <a:rPr lang="en-US" sz="2000" b="1" dirty="0" smtClean="0"/>
              <a:t>        </a:t>
            </a:r>
            <a:r>
              <a:rPr lang="en-US" sz="2000" b="1" dirty="0" err="1" smtClean="0"/>
              <a:t>struct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Person_new</a:t>
            </a:r>
            <a:r>
              <a:rPr lang="en-US" sz="2000" b="1" dirty="0" smtClean="0"/>
              <a:t> per; </a:t>
            </a:r>
          </a:p>
          <a:p>
            <a:pPr marL="0" indent="0" fontAlgn="base">
              <a:buFont typeface="Arial" pitchFamily="34" charset="0"/>
              <a:buNone/>
            </a:pPr>
            <a:r>
              <a:rPr lang="en-US" sz="2000" b="1" dirty="0" smtClean="0"/>
              <a:t>        </a:t>
            </a:r>
          </a:p>
          <a:p>
            <a:pPr marL="0" indent="0" fontAlgn="base">
              <a:buFont typeface="Arial" pitchFamily="34" charset="0"/>
              <a:buNone/>
            </a:pPr>
            <a:r>
              <a:rPr lang="en-US" sz="2000" b="1" dirty="0" smtClean="0"/>
              <a:t>   </a:t>
            </a:r>
            <a:r>
              <a:rPr lang="en-US" sz="2000" b="1" dirty="0" err="1" smtClean="0"/>
              <a:t>printf</a:t>
            </a:r>
            <a:r>
              <a:rPr lang="en-US" sz="2000" b="1" dirty="0" smtClean="0"/>
              <a:t>("The size of union is: %d\n", </a:t>
            </a:r>
            <a:r>
              <a:rPr lang="en-US" sz="2000" b="1" dirty="0" err="1" smtClean="0"/>
              <a:t>sizeof</a:t>
            </a:r>
            <a:r>
              <a:rPr lang="en-US" sz="2000" b="1" dirty="0" smtClean="0"/>
              <a:t>(Person1));</a:t>
            </a:r>
          </a:p>
          <a:p>
            <a:pPr marL="0" indent="0" fontAlgn="base">
              <a:buFont typeface="Arial" pitchFamily="34" charset="0"/>
              <a:buNone/>
            </a:pPr>
            <a:r>
              <a:rPr lang="en-US" sz="2000" b="1" dirty="0" smtClean="0"/>
              <a:t>    </a:t>
            </a:r>
            <a:r>
              <a:rPr lang="en-US" sz="2000" b="1" dirty="0" err="1" smtClean="0"/>
              <a:t>printf</a:t>
            </a:r>
            <a:r>
              <a:rPr lang="en-US" sz="2000" b="1" dirty="0" smtClean="0"/>
              <a:t>("The size of structure is: %d", </a:t>
            </a:r>
            <a:r>
              <a:rPr lang="en-US" sz="2000" b="1" dirty="0" err="1" smtClean="0"/>
              <a:t>sizeof</a:t>
            </a:r>
            <a:r>
              <a:rPr lang="en-US" sz="2000" b="1" dirty="0" smtClean="0"/>
              <a:t>(per));  </a:t>
            </a:r>
          </a:p>
          <a:p>
            <a:pPr marL="0" indent="0" fontAlgn="base">
              <a:buFont typeface="Arial" pitchFamily="34" charset="0"/>
              <a:buNone/>
            </a:pPr>
            <a:r>
              <a:rPr lang="en-US" sz="2000" b="1" dirty="0" smtClean="0"/>
              <a:t>    return 0;</a:t>
            </a:r>
          </a:p>
          <a:p>
            <a:pPr marL="0" indent="0" fontAlgn="base">
              <a:buFont typeface="Arial" pitchFamily="34" charset="0"/>
              <a:buNone/>
            </a:pPr>
            <a:r>
              <a:rPr lang="en-US" sz="2000" b="1" dirty="0" smtClean="0"/>
              <a:t>}</a:t>
            </a:r>
          </a:p>
          <a:p>
            <a:pPr marL="0" indent="0">
              <a:buFont typeface="Arial" pitchFamily="34" charset="0"/>
              <a:buNone/>
            </a:pP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05452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143</Words>
  <Application>Microsoft Office PowerPoint</Application>
  <PresentationFormat>On-screen Show (4:3)</PresentationFormat>
  <Paragraphs>79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      UNION  </vt:lpstr>
      <vt:lpstr>UNION</vt:lpstr>
      <vt:lpstr>DEFINE UNION</vt:lpstr>
      <vt:lpstr>UNION-SAME MEMORY</vt:lpstr>
      <vt:lpstr>UNION</vt:lpstr>
      <vt:lpstr>Size of UNION</vt:lpstr>
      <vt:lpstr>Accessing members of the union </vt:lpstr>
      <vt:lpstr>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UNION  </dc:title>
  <dc:creator>Admin</dc:creator>
  <cp:lastModifiedBy>Admin</cp:lastModifiedBy>
  <cp:revision>6</cp:revision>
  <dcterms:created xsi:type="dcterms:W3CDTF">2022-04-06T11:04:03Z</dcterms:created>
  <dcterms:modified xsi:type="dcterms:W3CDTF">2022-04-08T08:22:29Z</dcterms:modified>
</cp:coreProperties>
</file>