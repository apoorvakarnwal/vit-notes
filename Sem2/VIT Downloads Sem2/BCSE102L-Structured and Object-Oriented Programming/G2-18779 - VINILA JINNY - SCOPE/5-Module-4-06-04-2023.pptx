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546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2-04-06T12:12:46.679"/>
    </inkml:context>
    <inkml:brush xml:id="br0">
      <inkml:brushProperty name="width" value="0.06667" units="cm"/>
      <inkml:brushProperty name="height" value="0.06667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0F970561-468F-4649-B5FF-2955E27B657B}" emma:medium="tactile" emma:mode="ink">
          <msink:context xmlns:msink="http://schemas.microsoft.com/ink/2010/main" type="writingRegion" rotatedBoundingBox="20062,4063 20077,4063 20077,4084 20062,4084"/>
        </emma:interpretation>
      </emma:emma>
    </inkml:annotationXML>
    <inkml:traceGroup>
      <inkml:annotationXML>
        <emma:emma xmlns:emma="http://www.w3.org/2003/04/emma" version="1.0">
          <emma:interpretation id="{A960515F-493C-424F-B523-1FA0B971F801}" emma:medium="tactile" emma:mode="ink">
            <msink:context xmlns:msink="http://schemas.microsoft.com/ink/2010/main" type="paragraph" rotatedBoundingBox="20062,4063 20077,4063 20077,4084 20062,4084" alignmentLevel="1"/>
          </emma:interpretation>
        </emma:emma>
      </inkml:annotationXML>
      <inkml:traceGroup>
        <inkml:annotationXML>
          <emma:emma xmlns:emma="http://www.w3.org/2003/04/emma" version="1.0">
            <emma:interpretation id="{6199A1B2-94E9-41D3-9831-1598A856A627}" emma:medium="tactile" emma:mode="ink">
              <msink:context xmlns:msink="http://schemas.microsoft.com/ink/2010/main" type="line" rotatedBoundingBox="20062,4063 20077,4063 20077,4084 20062,4084"/>
            </emma:interpretation>
          </emma:emma>
        </inkml:annotationXML>
        <inkml:traceGroup>
          <inkml:annotationXML>
            <emma:emma xmlns:emma="http://www.w3.org/2003/04/emma" version="1.0">
              <emma:interpretation id="{87DB7585-F9DE-4861-838A-A701D3CFA5AD}" emma:medium="tactile" emma:mode="ink">
                <msink:context xmlns:msink="http://schemas.microsoft.com/ink/2010/main" type="inkWord" rotatedBoundingBox="20062,4063 20077,4063 20077,4084 20062,4084"/>
              </emma:interpretation>
              <emma:one-of disjunction-type="recognition" id="oneOf0">
                <emma:interpretation id="interp0" emma:lang="en-US" emma:confidence="0.5">
                  <emma:literal>.</emma:literal>
                </emma:interpretation>
                <emma:interpretation id="interp1" emma:lang="en-US" emma:confidence="0">
                  <emma:literal>/</emma:literal>
                </emma:interpretation>
                <emma:interpretation id="interp2" emma:lang="en-US" emma:confidence="0">
                  <emma:literal>,</emma:literal>
                </emma:interpretation>
                <emma:interpretation id="interp3" emma:lang="en-US" emma:confidence="0">
                  <emma:literal>!</emma:literal>
                </emma:interpretation>
                <emma:interpretation id="interp4" emma:lang="en-US" emma:confidence="0">
                  <emma:literal>:</emma:literal>
                </emma:interpretation>
              </emma:one-of>
            </emma:emma>
          </inkml:annotationXML>
          <inkml:trace contextRef="#ctx0" brushRef="#br0">0 21 13,'0'0'13,"0"0"2,0 0-3,0 0-2,0 0 3,0 0-4,0 0-9,0 0 0,0 0 0,0 0 0,0 0 0,0 0 3,0 0 9,0 0 0,0 0-5,0 0-1,0 0 4,0 0 2,0 0 5,0 0-3,0 0-1,0 0 2,0 0-9,0 0-4,0 0 2,0 0 1,0 0 2,0 0 1,0 0 1,0 0-4,0 0 0,0 0-1,0 0 1,0 0-4,0 0 0,0 0-1,0 0-2,0 0 0,0 0-1,0 0 0,0 0 3,0 0-2,0 0 2,0 0 0,0 0-1,0 0 0,0 0-1,0 0 1,0 0 1,0 0-1,0 0 1,0 0 0,0 0 0,0 0 1,0 0 0,0 0 3,0 0 7,0 0 9,0 0 6,0 0-5,0 0-6,0 0-5,0 0-10,0 0-1,0 0-1,0 0-10,0 0-49,3-5-40,9-11-43</inkml:trace>
        </inkml:traceGroup>
      </inkml:traceGroup>
    </inkml:traceGroup>
  </inkml:traceGroup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486346-AA3D-4EB7-85DD-675FECB20A1F}" type="datetimeFigureOut">
              <a:rPr lang="en-IN" smtClean="0"/>
              <a:t>05-04-2023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555890-849E-4DD2-AB97-9F64EAFE28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98688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486346-AA3D-4EB7-85DD-675FECB20A1F}" type="datetimeFigureOut">
              <a:rPr lang="en-IN" smtClean="0"/>
              <a:t>05-04-2023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555890-849E-4DD2-AB97-9F64EAFE28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40756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486346-AA3D-4EB7-85DD-675FECB20A1F}" type="datetimeFigureOut">
              <a:rPr lang="en-IN" smtClean="0"/>
              <a:t>05-04-2023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555890-849E-4DD2-AB97-9F64EAFE28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2773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486346-AA3D-4EB7-85DD-675FECB20A1F}" type="datetimeFigureOut">
              <a:rPr lang="en-IN" smtClean="0"/>
              <a:t>05-04-2023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555890-849E-4DD2-AB97-9F64EAFE28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84296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486346-AA3D-4EB7-85DD-675FECB20A1F}" type="datetimeFigureOut">
              <a:rPr lang="en-IN" smtClean="0"/>
              <a:t>05-04-2023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555890-849E-4DD2-AB97-9F64EAFE28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6049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486346-AA3D-4EB7-85DD-675FECB20A1F}" type="datetimeFigureOut">
              <a:rPr lang="en-IN" smtClean="0"/>
              <a:t>05-04-2023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555890-849E-4DD2-AB97-9F64EAFE28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64149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486346-AA3D-4EB7-85DD-675FECB20A1F}" type="datetimeFigureOut">
              <a:rPr lang="en-IN" smtClean="0"/>
              <a:t>05-04-2023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555890-849E-4DD2-AB97-9F64EAFE28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31817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486346-AA3D-4EB7-85DD-675FECB20A1F}" type="datetimeFigureOut">
              <a:rPr lang="en-IN" smtClean="0"/>
              <a:t>05-04-2023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555890-849E-4DD2-AB97-9F64EAFE28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82516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486346-AA3D-4EB7-85DD-675FECB20A1F}" type="datetimeFigureOut">
              <a:rPr lang="en-IN" smtClean="0"/>
              <a:t>05-04-2023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555890-849E-4DD2-AB97-9F64EAFE28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20821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486346-AA3D-4EB7-85DD-675FECB20A1F}" type="datetimeFigureOut">
              <a:rPr lang="en-IN" smtClean="0"/>
              <a:t>05-04-2023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555890-849E-4DD2-AB97-9F64EAFE28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40116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486346-AA3D-4EB7-85DD-675FECB20A1F}" type="datetimeFigureOut">
              <a:rPr lang="en-IN" smtClean="0"/>
              <a:t>05-04-2023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555890-849E-4DD2-AB97-9F64EAFE28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05715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486346-AA3D-4EB7-85DD-675FECB20A1F}" type="datetimeFigureOut">
              <a:rPr lang="en-IN" smtClean="0"/>
              <a:t>05-04-2023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555890-849E-4DD2-AB97-9F64EAFE28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22164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7.emf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STRUCTURE IN C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Dr. S. </a:t>
            </a:r>
            <a:r>
              <a:rPr lang="en-US" dirty="0" err="1" smtClean="0"/>
              <a:t>Vinila</a:t>
            </a:r>
            <a:r>
              <a:rPr lang="en-US" dirty="0" smtClean="0"/>
              <a:t> </a:t>
            </a:r>
            <a:r>
              <a:rPr lang="en-US" dirty="0" err="1" smtClean="0"/>
              <a:t>Jinny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609010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</a:t>
            </a:r>
            <a:r>
              <a:rPr lang="en-US" dirty="0" smtClean="0"/>
              <a:t>NTRODUCTION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At times, during programming, there is a need to store multiple logically related elements under one roof. </a:t>
            </a:r>
            <a:endParaRPr lang="en-US" dirty="0" smtClean="0"/>
          </a:p>
          <a:p>
            <a:pPr algn="just"/>
            <a:r>
              <a:rPr lang="en-US" dirty="0" smtClean="0"/>
              <a:t>For </a:t>
            </a:r>
            <a:r>
              <a:rPr lang="en-US" dirty="0"/>
              <a:t>instance, an employee’s details like name, employee number, and designation need to be stored together. </a:t>
            </a:r>
            <a:endParaRPr lang="en-US" dirty="0" smtClean="0"/>
          </a:p>
          <a:p>
            <a:pPr algn="just"/>
            <a:r>
              <a:rPr lang="en-US" dirty="0" smtClean="0"/>
              <a:t>In </a:t>
            </a:r>
            <a:r>
              <a:rPr lang="en-US" dirty="0"/>
              <a:t>such cases, the C language provides structures to do the job for us. 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169769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IS STRUCTURE?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algn="just"/>
            <a:r>
              <a:rPr lang="en-US" dirty="0"/>
              <a:t>The structure is a user-defined data type in C, which is used to store a collection of different kinds of data</a:t>
            </a:r>
            <a:r>
              <a:rPr lang="en-US" dirty="0" smtClean="0"/>
              <a:t>.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The structure is something similar to an array; the only difference is array is used to store the same data types</a:t>
            </a:r>
            <a:r>
              <a:rPr lang="en-US" dirty="0" smtClean="0"/>
              <a:t>.</a:t>
            </a:r>
          </a:p>
          <a:p>
            <a:pPr algn="just"/>
            <a:endParaRPr lang="en-US" dirty="0"/>
          </a:p>
          <a:p>
            <a:pPr algn="just"/>
            <a:r>
              <a:rPr lang="en-US" b="1" dirty="0" err="1"/>
              <a:t>struct</a:t>
            </a:r>
            <a:r>
              <a:rPr lang="en-US" dirty="0"/>
              <a:t> keyword is used to declare the structure in C</a:t>
            </a:r>
            <a:r>
              <a:rPr lang="en-US" dirty="0" smtClean="0"/>
              <a:t>.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Variables inside the structure are called </a:t>
            </a:r>
            <a:r>
              <a:rPr lang="en-US" b="1" dirty="0"/>
              <a:t>members of the structure</a:t>
            </a:r>
            <a:r>
              <a:rPr lang="en-US" dirty="0"/>
              <a:t>.</a:t>
            </a:r>
          </a:p>
          <a:p>
            <a:pPr marL="0" indent="0" algn="just">
              <a:buNone/>
            </a:pPr>
            <a:r>
              <a:rPr lang="en-US" dirty="0"/>
              <a:t/>
            </a:r>
            <a:br>
              <a:rPr lang="en-US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997601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STRUCTURE DEFINITION</a:t>
            </a:r>
            <a:endParaRPr lang="en-IN" dirty="0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7871" y="1600200"/>
            <a:ext cx="7948258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233400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STRUCTURE EXPLANATION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36" y="1484784"/>
            <a:ext cx="8229600" cy="4525963"/>
          </a:xfrm>
        </p:spPr>
        <p:txBody>
          <a:bodyPr/>
          <a:lstStyle/>
          <a:p>
            <a:pPr algn="just"/>
            <a:r>
              <a:rPr lang="en-US" dirty="0"/>
              <a:t>A structure can be defined as a single entity holding variables of different data types that are logically related to each other. </a:t>
            </a:r>
            <a:endParaRPr lang="en-US" dirty="0" smtClean="0"/>
          </a:p>
          <a:p>
            <a:pPr algn="just"/>
            <a:r>
              <a:rPr lang="en-US" dirty="0" smtClean="0"/>
              <a:t>All </a:t>
            </a:r>
            <a:r>
              <a:rPr lang="en-US" dirty="0"/>
              <a:t>the data members inside a structure are accessible to the functions defined outside the structure. To access the data members in the main function, you need to create a structure variable.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347791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Syntax to Define a Structure in C</a:t>
            </a:r>
            <a:br>
              <a:rPr lang="en-US" dirty="0" smtClean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err="1" smtClean="0"/>
              <a:t>struct</a:t>
            </a:r>
            <a:r>
              <a:rPr lang="en-US" dirty="0" smtClean="0"/>
              <a:t> </a:t>
            </a:r>
            <a:r>
              <a:rPr lang="en-US" dirty="0" err="1"/>
              <a:t>structName</a:t>
            </a:r>
            <a:r>
              <a:rPr lang="en-US" dirty="0"/>
              <a:t> </a:t>
            </a:r>
          </a:p>
          <a:p>
            <a:pPr marL="0" indent="0">
              <a:buNone/>
            </a:pPr>
            <a:r>
              <a:rPr lang="en-US" dirty="0"/>
              <a:t>{ </a:t>
            </a:r>
          </a:p>
          <a:p>
            <a:pPr marL="0" indent="0">
              <a:buNone/>
            </a:pPr>
            <a:r>
              <a:rPr lang="en-US" dirty="0"/>
              <a:t>   // structure definition</a:t>
            </a:r>
          </a:p>
          <a:p>
            <a:pPr marL="0" indent="0">
              <a:buNone/>
            </a:pPr>
            <a:r>
              <a:rPr lang="en-US" dirty="0"/>
              <a:t>   Data_type1 member_name1;</a:t>
            </a:r>
          </a:p>
          <a:p>
            <a:pPr marL="0" indent="0">
              <a:buNone/>
            </a:pPr>
            <a:r>
              <a:rPr lang="en-US" dirty="0"/>
              <a:t>   Data_type2 member_name2;</a:t>
            </a:r>
          </a:p>
          <a:p>
            <a:pPr marL="0" indent="0">
              <a:buNone/>
            </a:pPr>
            <a:r>
              <a:rPr lang="en-US" dirty="0"/>
              <a:t>   Data_type2 member_name2; </a:t>
            </a:r>
          </a:p>
          <a:p>
            <a:pPr marL="0" indent="0">
              <a:buNone/>
            </a:pPr>
            <a:r>
              <a:rPr lang="en-US" dirty="0"/>
              <a:t>}; 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380660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Description of the Syntax</a:t>
            </a:r>
            <a:br>
              <a:rPr lang="en-US" dirty="0" smtClean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24744"/>
            <a:ext cx="8229600" cy="5472608"/>
          </a:xfrm>
        </p:spPr>
        <p:txBody>
          <a:bodyPr>
            <a:normAutofit fontScale="85000" lnSpcReduction="20000"/>
          </a:bodyPr>
          <a:lstStyle/>
          <a:p>
            <a:pPr algn="just"/>
            <a:r>
              <a:rPr lang="en-US" dirty="0" smtClean="0"/>
              <a:t>Keyword </a:t>
            </a:r>
            <a:r>
              <a:rPr lang="en-US" dirty="0" err="1"/>
              <a:t>struct</a:t>
            </a:r>
            <a:r>
              <a:rPr lang="en-US" dirty="0"/>
              <a:t>: The keyword </a:t>
            </a:r>
            <a:r>
              <a:rPr lang="en-US" dirty="0" err="1"/>
              <a:t>struct</a:t>
            </a:r>
            <a:r>
              <a:rPr lang="en-US" dirty="0"/>
              <a:t> is used at the beginning while defining a structure in C. </a:t>
            </a:r>
            <a:endParaRPr lang="en-US" dirty="0" smtClean="0"/>
          </a:p>
          <a:p>
            <a:pPr algn="just"/>
            <a:endParaRPr lang="en-US" dirty="0"/>
          </a:p>
          <a:p>
            <a:pPr algn="just"/>
            <a:r>
              <a:rPr lang="en-US" dirty="0" err="1"/>
              <a:t>structName</a:t>
            </a:r>
            <a:r>
              <a:rPr lang="en-US" dirty="0"/>
              <a:t>: This is the name of the structure which is specified after the keyword </a:t>
            </a:r>
            <a:r>
              <a:rPr lang="en-US" dirty="0" err="1"/>
              <a:t>struct</a:t>
            </a:r>
            <a:r>
              <a:rPr lang="en-US" dirty="0"/>
              <a:t>. </a:t>
            </a:r>
            <a:endParaRPr lang="en-US" dirty="0" smtClean="0"/>
          </a:p>
          <a:p>
            <a:pPr algn="just"/>
            <a:endParaRPr lang="en-US" dirty="0"/>
          </a:p>
          <a:p>
            <a:pPr algn="just"/>
            <a:r>
              <a:rPr lang="en-US" dirty="0" err="1"/>
              <a:t>data_Type</a:t>
            </a:r>
            <a:r>
              <a:rPr lang="en-US" dirty="0"/>
              <a:t>: The data type indicates the type of the data members of the structure.  A structure can have data members of different data types</a:t>
            </a:r>
            <a:r>
              <a:rPr lang="en-US" dirty="0" smtClean="0"/>
              <a:t>.</a:t>
            </a:r>
          </a:p>
          <a:p>
            <a:pPr algn="just"/>
            <a:endParaRPr lang="en-US" dirty="0"/>
          </a:p>
          <a:p>
            <a:pPr algn="just"/>
            <a:r>
              <a:rPr lang="en-US" dirty="0" err="1"/>
              <a:t>member_name</a:t>
            </a:r>
            <a:r>
              <a:rPr lang="en-US" dirty="0"/>
              <a:t>: This is the name of the data member of the structure. Any number of data members can be defined inside a structure. Each data member is allocated a separate space in the memory</a:t>
            </a:r>
            <a:r>
              <a:rPr lang="en-US" dirty="0" smtClean="0"/>
              <a:t>.</a:t>
            </a:r>
          </a:p>
          <a:p>
            <a:pPr algn="just"/>
            <a:endParaRPr lang="en-US" dirty="0"/>
          </a:p>
          <a:p>
            <a:pPr algn="just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887528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Example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 err="1"/>
              <a:t>struct</a:t>
            </a:r>
            <a:r>
              <a:rPr lang="en-US" dirty="0"/>
              <a:t> employee  </a:t>
            </a:r>
          </a:p>
          <a:p>
            <a:pPr marL="0" indent="0">
              <a:buNone/>
            </a:pPr>
            <a:r>
              <a:rPr lang="en-US" dirty="0"/>
              <a:t>{   </a:t>
            </a:r>
            <a:r>
              <a:rPr lang="en-US" b="1" dirty="0" err="1"/>
              <a:t>int</a:t>
            </a:r>
            <a:r>
              <a:rPr lang="en-US" dirty="0"/>
              <a:t> id;  </a:t>
            </a:r>
          </a:p>
          <a:p>
            <a:pPr marL="0" indent="0">
              <a:buNone/>
            </a:pPr>
            <a:r>
              <a:rPr lang="en-US" dirty="0"/>
              <a:t>    </a:t>
            </a:r>
            <a:r>
              <a:rPr lang="en-US" b="1" dirty="0"/>
              <a:t>char</a:t>
            </a:r>
            <a:r>
              <a:rPr lang="en-US" dirty="0"/>
              <a:t> </a:t>
            </a:r>
            <a:r>
              <a:rPr lang="en-US" dirty="0" smtClean="0"/>
              <a:t>name[10</a:t>
            </a:r>
            <a:r>
              <a:rPr lang="en-US" dirty="0"/>
              <a:t>];  </a:t>
            </a:r>
          </a:p>
          <a:p>
            <a:pPr marL="0" indent="0">
              <a:buNone/>
            </a:pPr>
            <a:r>
              <a:rPr lang="en-US" dirty="0"/>
              <a:t>    </a:t>
            </a:r>
            <a:r>
              <a:rPr lang="en-US" b="1" dirty="0"/>
              <a:t>float</a:t>
            </a:r>
            <a:r>
              <a:rPr lang="en-US" dirty="0"/>
              <a:t> salary;  </a:t>
            </a:r>
          </a:p>
          <a:p>
            <a:pPr marL="0" indent="0">
              <a:buNone/>
            </a:pPr>
            <a:r>
              <a:rPr lang="en-US" dirty="0"/>
              <a:t>};  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394177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Example-memory representation</a:t>
            </a:r>
            <a:endParaRPr lang="en-IN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2060848"/>
            <a:ext cx="7724775" cy="3400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739531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Declaring structure variable</a:t>
            </a:r>
            <a:br>
              <a:rPr lang="en-US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 smtClean="0"/>
              <a:t>We </a:t>
            </a:r>
            <a:r>
              <a:rPr lang="en-US" dirty="0"/>
              <a:t>can declare a variable for the structure so that we can access the member of the structure easily</a:t>
            </a:r>
            <a:r>
              <a:rPr lang="en-US" dirty="0" smtClean="0"/>
              <a:t>.</a:t>
            </a:r>
          </a:p>
          <a:p>
            <a:pPr algn="just"/>
            <a:r>
              <a:rPr lang="en-US" dirty="0" smtClean="0"/>
              <a:t> </a:t>
            </a:r>
            <a:r>
              <a:rPr lang="en-US" dirty="0"/>
              <a:t>There are two ways to declare structure variable:</a:t>
            </a:r>
          </a:p>
          <a:p>
            <a:pPr algn="just"/>
            <a:r>
              <a:rPr lang="en-US" dirty="0"/>
              <a:t>By </a:t>
            </a:r>
            <a:r>
              <a:rPr lang="en-US" dirty="0" err="1"/>
              <a:t>struct</a:t>
            </a:r>
            <a:r>
              <a:rPr lang="en-US" dirty="0"/>
              <a:t> keyword within main() function</a:t>
            </a:r>
          </a:p>
          <a:p>
            <a:pPr algn="just"/>
            <a:r>
              <a:rPr lang="en-US" dirty="0"/>
              <a:t>By declaring a variable at the time of defining the structure</a:t>
            </a:r>
            <a:r>
              <a:rPr lang="en-US" dirty="0" smtClean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12327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Declaring structure variable</a:t>
            </a:r>
            <a:br>
              <a:rPr lang="en-US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08720"/>
            <a:ext cx="8507288" cy="5544616"/>
          </a:xfrm>
        </p:spPr>
        <p:txBody>
          <a:bodyPr>
            <a:normAutofit fontScale="85000" lnSpcReduction="20000"/>
          </a:bodyPr>
          <a:lstStyle/>
          <a:p>
            <a:pPr marL="0" indent="0" algn="just">
              <a:buNone/>
            </a:pPr>
            <a:r>
              <a:rPr lang="en-US" b="1" dirty="0" smtClean="0"/>
              <a:t>1st </a:t>
            </a:r>
            <a:r>
              <a:rPr lang="en-US" b="1" dirty="0"/>
              <a:t>way:</a:t>
            </a:r>
            <a:endParaRPr lang="en-US" dirty="0"/>
          </a:p>
          <a:p>
            <a:pPr marL="0" indent="0" algn="just">
              <a:buNone/>
            </a:pPr>
            <a:r>
              <a:rPr lang="en-US" dirty="0"/>
              <a:t>Let's see the example to declare the structure variable by </a:t>
            </a:r>
            <a:r>
              <a:rPr lang="en-US" dirty="0" err="1"/>
              <a:t>struct</a:t>
            </a:r>
            <a:r>
              <a:rPr lang="en-US" dirty="0"/>
              <a:t> keyword. It should be declared within the main function</a:t>
            </a:r>
            <a:r>
              <a:rPr lang="en-US" dirty="0" smtClean="0"/>
              <a:t>.</a:t>
            </a:r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r>
              <a:rPr lang="en-US" b="1" dirty="0" err="1"/>
              <a:t>struct</a:t>
            </a:r>
            <a:r>
              <a:rPr lang="en-US" dirty="0"/>
              <a:t> employee  </a:t>
            </a:r>
          </a:p>
          <a:p>
            <a:pPr marL="0" indent="0" algn="just">
              <a:buNone/>
            </a:pPr>
            <a:r>
              <a:rPr lang="en-US" dirty="0"/>
              <a:t>{   </a:t>
            </a:r>
            <a:r>
              <a:rPr lang="en-US" b="1" dirty="0" err="1"/>
              <a:t>int</a:t>
            </a:r>
            <a:r>
              <a:rPr lang="en-US" dirty="0"/>
              <a:t> id;  </a:t>
            </a:r>
          </a:p>
          <a:p>
            <a:pPr marL="0" indent="0" algn="just">
              <a:buNone/>
            </a:pPr>
            <a:r>
              <a:rPr lang="en-US" dirty="0"/>
              <a:t>    </a:t>
            </a:r>
            <a:r>
              <a:rPr lang="en-US" b="1" dirty="0"/>
              <a:t>char</a:t>
            </a:r>
            <a:r>
              <a:rPr lang="en-US" dirty="0"/>
              <a:t> name[50];  </a:t>
            </a:r>
          </a:p>
          <a:p>
            <a:pPr marL="0" indent="0" algn="just">
              <a:buNone/>
            </a:pPr>
            <a:r>
              <a:rPr lang="en-US" dirty="0"/>
              <a:t>    </a:t>
            </a:r>
            <a:r>
              <a:rPr lang="en-US" b="1" dirty="0"/>
              <a:t>float</a:t>
            </a:r>
            <a:r>
              <a:rPr lang="en-US" dirty="0"/>
              <a:t> salary;  </a:t>
            </a:r>
          </a:p>
          <a:p>
            <a:pPr marL="0" indent="0" algn="just">
              <a:buNone/>
            </a:pPr>
            <a:r>
              <a:rPr lang="en-US" dirty="0"/>
              <a:t>};  </a:t>
            </a:r>
            <a:endParaRPr lang="en-US" dirty="0" smtClean="0"/>
          </a:p>
          <a:p>
            <a:pPr marL="0" indent="0" algn="just">
              <a:buNone/>
            </a:pPr>
            <a:r>
              <a:rPr lang="en-US" dirty="0" err="1" smtClean="0"/>
              <a:t>int</a:t>
            </a:r>
            <a:r>
              <a:rPr lang="en-US" dirty="0" smtClean="0"/>
              <a:t> main(){</a:t>
            </a:r>
            <a:endParaRPr lang="en-US" dirty="0"/>
          </a:p>
          <a:p>
            <a:pPr marL="0" indent="0" algn="just">
              <a:buNone/>
            </a:pPr>
            <a:r>
              <a:rPr lang="en-US" b="1" dirty="0" err="1" smtClean="0"/>
              <a:t>struct</a:t>
            </a:r>
            <a:r>
              <a:rPr lang="en-US" dirty="0"/>
              <a:t> employee e1, e2; </a:t>
            </a:r>
            <a:endParaRPr lang="en-US" dirty="0" smtClean="0"/>
          </a:p>
          <a:p>
            <a:pPr marL="0" indent="0" algn="just">
              <a:buNone/>
            </a:pPr>
            <a:r>
              <a:rPr lang="en-US" smtClean="0"/>
              <a:t>return 0;</a:t>
            </a:r>
            <a:r>
              <a:rPr lang="en-US" dirty="0"/>
              <a:t> </a:t>
            </a:r>
            <a:r>
              <a:rPr lang="en-US" dirty="0" smtClean="0"/>
              <a:t>}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202539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Declaring structure variable</a:t>
            </a:r>
            <a:br>
              <a:rPr lang="en-US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0" y="908720"/>
            <a:ext cx="8712968" cy="561662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2nd way: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Let's see another way to declare variable at the time of defining the structure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 err="1"/>
              <a:t>struct</a:t>
            </a:r>
            <a:r>
              <a:rPr lang="en-US" dirty="0"/>
              <a:t> employee  </a:t>
            </a:r>
          </a:p>
          <a:p>
            <a:pPr marL="0" indent="0">
              <a:buNone/>
            </a:pPr>
            <a:r>
              <a:rPr lang="en-US" dirty="0"/>
              <a:t>{   </a:t>
            </a:r>
            <a:r>
              <a:rPr lang="en-US" b="1" dirty="0" err="1"/>
              <a:t>int</a:t>
            </a:r>
            <a:r>
              <a:rPr lang="en-US" dirty="0"/>
              <a:t> id;  </a:t>
            </a:r>
          </a:p>
          <a:p>
            <a:pPr marL="0" indent="0">
              <a:buNone/>
            </a:pPr>
            <a:r>
              <a:rPr lang="en-US" dirty="0"/>
              <a:t>    </a:t>
            </a:r>
            <a:r>
              <a:rPr lang="en-US" b="1" dirty="0"/>
              <a:t>char</a:t>
            </a:r>
            <a:r>
              <a:rPr lang="en-US" dirty="0"/>
              <a:t> name[50];  </a:t>
            </a:r>
          </a:p>
          <a:p>
            <a:pPr marL="0" indent="0">
              <a:buNone/>
            </a:pPr>
            <a:r>
              <a:rPr lang="en-US" dirty="0"/>
              <a:t>    </a:t>
            </a:r>
            <a:r>
              <a:rPr lang="en-US" b="1" dirty="0"/>
              <a:t>float</a:t>
            </a:r>
            <a:r>
              <a:rPr lang="en-US" dirty="0"/>
              <a:t> salary;  </a:t>
            </a:r>
          </a:p>
          <a:p>
            <a:pPr marL="0" indent="0">
              <a:buNone/>
            </a:pPr>
            <a:r>
              <a:rPr lang="en-US" dirty="0"/>
              <a:t>}e1,e2;  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73948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Accessing members of the structure</a:t>
            </a:r>
            <a:br>
              <a:rPr lang="en-US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There </a:t>
            </a:r>
            <a:r>
              <a:rPr lang="en-US" dirty="0"/>
              <a:t>are two ways to access structure members:</a:t>
            </a:r>
          </a:p>
          <a:p>
            <a:r>
              <a:rPr lang="en-US" dirty="0"/>
              <a:t>By . (member or dot operator)</a:t>
            </a:r>
          </a:p>
          <a:p>
            <a:r>
              <a:rPr lang="en-US" dirty="0"/>
              <a:t>By -&gt; (structure pointer operator)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115230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5987008" cy="45259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1600" b="1" dirty="0"/>
              <a:t>#include&lt;</a:t>
            </a:r>
            <a:r>
              <a:rPr lang="en-IN" sz="1600" b="1" dirty="0" err="1"/>
              <a:t>stdio.h</a:t>
            </a:r>
            <a:r>
              <a:rPr lang="en-IN" sz="1600" b="1" dirty="0"/>
              <a:t>&gt;  </a:t>
            </a:r>
          </a:p>
          <a:p>
            <a:pPr marL="0" indent="0">
              <a:buNone/>
            </a:pPr>
            <a:r>
              <a:rPr lang="en-IN" sz="1600" b="1" dirty="0"/>
              <a:t>#include &lt;</a:t>
            </a:r>
            <a:r>
              <a:rPr lang="en-IN" sz="1600" b="1" dirty="0" err="1"/>
              <a:t>string.h</a:t>
            </a:r>
            <a:r>
              <a:rPr lang="en-IN" sz="1600" b="1" dirty="0"/>
              <a:t>&gt;    </a:t>
            </a:r>
          </a:p>
          <a:p>
            <a:pPr marL="0" indent="0">
              <a:buNone/>
            </a:pPr>
            <a:r>
              <a:rPr lang="en-IN" sz="1600" b="1" dirty="0" err="1"/>
              <a:t>struct</a:t>
            </a:r>
            <a:r>
              <a:rPr lang="en-IN" sz="1600" b="1" dirty="0"/>
              <a:t> employee      </a:t>
            </a:r>
          </a:p>
          <a:p>
            <a:pPr marL="0" indent="0">
              <a:buNone/>
            </a:pPr>
            <a:r>
              <a:rPr lang="en-IN" sz="1600" b="1" dirty="0"/>
              <a:t>{   </a:t>
            </a:r>
            <a:r>
              <a:rPr lang="en-IN" sz="1600" b="1" dirty="0" err="1"/>
              <a:t>int</a:t>
            </a:r>
            <a:r>
              <a:rPr lang="en-IN" sz="1600" b="1" dirty="0"/>
              <a:t> id;      </a:t>
            </a:r>
          </a:p>
          <a:p>
            <a:pPr marL="0" indent="0">
              <a:buNone/>
            </a:pPr>
            <a:r>
              <a:rPr lang="en-IN" sz="1600" b="1" dirty="0"/>
              <a:t>    char name[50];      </a:t>
            </a:r>
          </a:p>
          <a:p>
            <a:pPr marL="0" indent="0">
              <a:buNone/>
            </a:pPr>
            <a:r>
              <a:rPr lang="en-IN" sz="1600" b="1" dirty="0"/>
              <a:t>}e1;    </a:t>
            </a:r>
          </a:p>
          <a:p>
            <a:pPr marL="0" indent="0">
              <a:buNone/>
            </a:pPr>
            <a:r>
              <a:rPr lang="en-IN" sz="1600" b="1" dirty="0" err="1"/>
              <a:t>int</a:t>
            </a:r>
            <a:r>
              <a:rPr lang="en-IN" sz="1600" b="1" dirty="0"/>
              <a:t> main( )    </a:t>
            </a:r>
          </a:p>
          <a:p>
            <a:pPr marL="0" indent="0">
              <a:buNone/>
            </a:pPr>
            <a:r>
              <a:rPr lang="en-IN" sz="1600" b="1" dirty="0"/>
              <a:t>{    </a:t>
            </a:r>
          </a:p>
          <a:p>
            <a:pPr marL="0" indent="0">
              <a:buNone/>
            </a:pPr>
            <a:r>
              <a:rPr lang="en-IN" sz="1600" b="1" dirty="0"/>
              <a:t>      e1.id=101;    </a:t>
            </a:r>
          </a:p>
          <a:p>
            <a:pPr marL="0" indent="0">
              <a:buNone/>
            </a:pPr>
            <a:r>
              <a:rPr lang="en-IN" sz="1600" b="1" dirty="0"/>
              <a:t>   </a:t>
            </a:r>
            <a:r>
              <a:rPr lang="en-IN" sz="1600" b="1" dirty="0" err="1"/>
              <a:t>strcpy</a:t>
            </a:r>
            <a:r>
              <a:rPr lang="en-IN" sz="1600" b="1" dirty="0"/>
              <a:t>(e1.name, "</a:t>
            </a:r>
            <a:r>
              <a:rPr lang="en-IN" sz="1600" b="1" dirty="0" err="1"/>
              <a:t>Sonoo</a:t>
            </a:r>
            <a:r>
              <a:rPr lang="en-IN" sz="1600" b="1" dirty="0"/>
              <a:t> </a:t>
            </a:r>
            <a:r>
              <a:rPr lang="en-IN" sz="1600" b="1" dirty="0" err="1"/>
              <a:t>Jaiswal</a:t>
            </a:r>
            <a:r>
              <a:rPr lang="en-IN" sz="1600" b="1" dirty="0" smtClean="0"/>
              <a:t>");</a:t>
            </a:r>
            <a:r>
              <a:rPr lang="en-IN" sz="1600" b="1" dirty="0"/>
              <a:t>    </a:t>
            </a:r>
          </a:p>
          <a:p>
            <a:pPr marL="0" indent="0">
              <a:buNone/>
            </a:pPr>
            <a:r>
              <a:rPr lang="en-IN" sz="1600" b="1" dirty="0"/>
              <a:t>   </a:t>
            </a:r>
            <a:r>
              <a:rPr lang="en-IN" sz="1600" b="1" dirty="0" err="1" smtClean="0"/>
              <a:t>printf</a:t>
            </a:r>
            <a:r>
              <a:rPr lang="en-IN" sz="1600" b="1" dirty="0"/>
              <a:t>( "employee 1 id : %d\n", e1.id);    </a:t>
            </a:r>
          </a:p>
          <a:p>
            <a:pPr marL="0" indent="0">
              <a:buNone/>
            </a:pPr>
            <a:r>
              <a:rPr lang="en-IN" sz="1600" b="1" dirty="0"/>
              <a:t>   </a:t>
            </a:r>
            <a:r>
              <a:rPr lang="en-IN" sz="1600" b="1" dirty="0" err="1"/>
              <a:t>printf</a:t>
            </a:r>
            <a:r>
              <a:rPr lang="en-IN" sz="1600" b="1" dirty="0"/>
              <a:t>( "employee 1 name : %s\n", e1.name);    </a:t>
            </a:r>
          </a:p>
          <a:p>
            <a:pPr marL="0" indent="0">
              <a:buNone/>
            </a:pPr>
            <a:r>
              <a:rPr lang="en-IN" sz="1600" b="1" dirty="0"/>
              <a:t>return 0;  </a:t>
            </a:r>
          </a:p>
          <a:p>
            <a:pPr marL="0" indent="0">
              <a:buNone/>
            </a:pPr>
            <a:r>
              <a:rPr lang="en-IN" sz="1600" b="1" dirty="0"/>
              <a:t>}    </a:t>
            </a:r>
          </a:p>
          <a:p>
            <a:pPr marL="0" indent="0">
              <a:buNone/>
            </a:pPr>
            <a:endParaRPr lang="en-IN" sz="1600" b="1" dirty="0"/>
          </a:p>
        </p:txBody>
      </p:sp>
      <p:sp>
        <p:nvSpPr>
          <p:cNvPr id="5" name="Rectangle 4"/>
          <p:cNvSpPr/>
          <p:nvPr/>
        </p:nvSpPr>
        <p:spPr>
          <a:xfrm>
            <a:off x="5436096" y="6001994"/>
            <a:ext cx="338437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employee </a:t>
            </a:r>
            <a:r>
              <a:rPr lang="en-US" dirty="0"/>
              <a:t>1 id : 101</a:t>
            </a:r>
          </a:p>
          <a:p>
            <a:r>
              <a:rPr lang="en-US" dirty="0"/>
              <a:t>employee 1 name : </a:t>
            </a:r>
            <a:r>
              <a:rPr lang="en-US" dirty="0" err="1"/>
              <a:t>Sonoo</a:t>
            </a:r>
            <a:r>
              <a:rPr lang="en-US" dirty="0"/>
              <a:t> </a:t>
            </a:r>
            <a:r>
              <a:rPr lang="en-US" dirty="0" err="1"/>
              <a:t>Jaiswal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024962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STRUCTURE POINTERS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Structure pointers are pointer variables that holds the address of another variable.</a:t>
            </a:r>
          </a:p>
          <a:p>
            <a:pPr marL="0" indent="0">
              <a:buNone/>
            </a:pPr>
            <a:r>
              <a:rPr lang="en-US" dirty="0" smtClean="0"/>
              <a:t>Syntax:</a:t>
            </a:r>
          </a:p>
          <a:p>
            <a:pPr marL="457200" lvl="1" indent="0">
              <a:buNone/>
            </a:pPr>
            <a:r>
              <a:rPr lang="en-US" dirty="0" err="1" smtClean="0"/>
              <a:t>struct</a:t>
            </a:r>
            <a:r>
              <a:rPr lang="en-US" dirty="0" smtClean="0"/>
              <a:t> </a:t>
            </a:r>
            <a:r>
              <a:rPr lang="en-US" dirty="0" err="1" smtClean="0"/>
              <a:t>structure_name</a:t>
            </a:r>
            <a:r>
              <a:rPr lang="en-US" dirty="0" smtClean="0"/>
              <a:t> *</a:t>
            </a:r>
            <a:r>
              <a:rPr lang="en-US" dirty="0" err="1" smtClean="0"/>
              <a:t>ptr</a:t>
            </a:r>
            <a:r>
              <a:rPr lang="en-US" dirty="0" smtClean="0"/>
              <a:t>;</a:t>
            </a:r>
          </a:p>
          <a:p>
            <a:pPr marL="457200" lvl="1" indent="0">
              <a:buNone/>
            </a:pPr>
            <a:endParaRPr lang="en-US" dirty="0" smtClean="0"/>
          </a:p>
          <a:p>
            <a:pPr marL="457200" lvl="1" indent="0">
              <a:buNone/>
            </a:pPr>
            <a:r>
              <a:rPr lang="en-US" dirty="0" smtClean="0"/>
              <a:t>To </a:t>
            </a:r>
            <a:r>
              <a:rPr lang="en-US" dirty="0"/>
              <a:t>access members of structure using the structure variable, we used the dot . operator. But when we have a pointer of structure type, we use arrow -&gt; to access structure members.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281898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STRUCTURE POINTERS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09" y="1412776"/>
            <a:ext cx="4690864" cy="45259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600" b="1" dirty="0" smtClean="0"/>
              <a:t>#include &lt;</a:t>
            </a:r>
            <a:r>
              <a:rPr lang="en-US" sz="1600" b="1" dirty="0" err="1" smtClean="0"/>
              <a:t>stdio.h</a:t>
            </a:r>
            <a:r>
              <a:rPr lang="en-US" sz="1600" b="1" dirty="0" smtClean="0"/>
              <a:t>&gt;</a:t>
            </a:r>
          </a:p>
          <a:p>
            <a:pPr marL="0" indent="0">
              <a:buNone/>
            </a:pPr>
            <a:endParaRPr lang="en-US" sz="1600" b="1" dirty="0" smtClean="0"/>
          </a:p>
          <a:p>
            <a:pPr marL="0" indent="0">
              <a:buNone/>
            </a:pPr>
            <a:r>
              <a:rPr lang="en-US" sz="1600" b="1" dirty="0" err="1" smtClean="0"/>
              <a:t>struct</a:t>
            </a:r>
            <a:r>
              <a:rPr lang="en-US" sz="1600" b="1" dirty="0" smtClean="0"/>
              <a:t> </a:t>
            </a:r>
            <a:r>
              <a:rPr lang="en-US" sz="1600" b="1" dirty="0" err="1" smtClean="0"/>
              <a:t>my_structure</a:t>
            </a:r>
            <a:r>
              <a:rPr lang="en-US" sz="1600" b="1" dirty="0" smtClean="0"/>
              <a:t> {</a:t>
            </a:r>
          </a:p>
          <a:p>
            <a:pPr marL="0" indent="0">
              <a:buNone/>
            </a:pPr>
            <a:r>
              <a:rPr lang="en-US" sz="1600" b="1" dirty="0" smtClean="0"/>
              <a:t>    char name[20];</a:t>
            </a:r>
          </a:p>
          <a:p>
            <a:pPr marL="0" indent="0">
              <a:buNone/>
            </a:pPr>
            <a:r>
              <a:rPr lang="en-US" sz="1600" b="1" dirty="0" smtClean="0"/>
              <a:t>    </a:t>
            </a:r>
            <a:r>
              <a:rPr lang="en-US" sz="1600" b="1" dirty="0" err="1" smtClean="0"/>
              <a:t>int</a:t>
            </a:r>
            <a:r>
              <a:rPr lang="en-US" sz="1600" b="1" dirty="0" smtClean="0"/>
              <a:t> number;</a:t>
            </a:r>
          </a:p>
          <a:p>
            <a:pPr marL="0" indent="0">
              <a:buNone/>
            </a:pPr>
            <a:r>
              <a:rPr lang="en-US" sz="1600" b="1" dirty="0" smtClean="0"/>
              <a:t>    </a:t>
            </a:r>
            <a:r>
              <a:rPr lang="en-US" sz="1600" b="1" dirty="0" err="1" smtClean="0"/>
              <a:t>int</a:t>
            </a:r>
            <a:r>
              <a:rPr lang="en-US" sz="1600" b="1" dirty="0" smtClean="0"/>
              <a:t> rank;</a:t>
            </a:r>
          </a:p>
          <a:p>
            <a:pPr marL="0" indent="0">
              <a:buNone/>
            </a:pPr>
            <a:r>
              <a:rPr lang="en-US" sz="1600" b="1" dirty="0" smtClean="0"/>
              <a:t>};</a:t>
            </a:r>
          </a:p>
          <a:p>
            <a:pPr marL="0" indent="0">
              <a:buNone/>
            </a:pPr>
            <a:endParaRPr lang="en-US" sz="1600" b="1" dirty="0" smtClean="0"/>
          </a:p>
          <a:p>
            <a:pPr marL="0" indent="0">
              <a:buNone/>
            </a:pPr>
            <a:r>
              <a:rPr lang="en-US" sz="1600" b="1" dirty="0" err="1" smtClean="0"/>
              <a:t>int</a:t>
            </a:r>
            <a:r>
              <a:rPr lang="en-US" sz="1600" b="1" dirty="0" smtClean="0"/>
              <a:t> main()</a:t>
            </a:r>
          </a:p>
          <a:p>
            <a:pPr marL="0" indent="0">
              <a:buNone/>
            </a:pPr>
            <a:r>
              <a:rPr lang="en-US" sz="1600" b="1" dirty="0" smtClean="0"/>
              <a:t>{</a:t>
            </a:r>
          </a:p>
          <a:p>
            <a:pPr marL="0" indent="0">
              <a:buNone/>
            </a:pPr>
            <a:r>
              <a:rPr lang="en-US" sz="1600" b="1" dirty="0" smtClean="0"/>
              <a:t>    </a:t>
            </a:r>
            <a:r>
              <a:rPr lang="en-US" sz="1600" b="1" dirty="0" err="1" smtClean="0"/>
              <a:t>struct</a:t>
            </a:r>
            <a:r>
              <a:rPr lang="en-US" sz="1600" b="1" dirty="0" smtClean="0"/>
              <a:t> </a:t>
            </a:r>
            <a:r>
              <a:rPr lang="en-US" sz="1600" b="1" dirty="0" err="1" smtClean="0"/>
              <a:t>my_structure</a:t>
            </a:r>
            <a:r>
              <a:rPr lang="en-US" sz="1600" b="1" dirty="0" smtClean="0"/>
              <a:t> variable = {“JACKIN", 35, 1};</a:t>
            </a:r>
          </a:p>
          <a:p>
            <a:pPr marL="0" indent="0">
              <a:buNone/>
            </a:pPr>
            <a:endParaRPr lang="en-US" sz="1600" b="1" dirty="0" smtClean="0"/>
          </a:p>
          <a:p>
            <a:pPr marL="0" indent="0">
              <a:buNone/>
            </a:pPr>
            <a:r>
              <a:rPr lang="en-US" sz="1600" b="1" dirty="0" smtClean="0"/>
              <a:t>    </a:t>
            </a: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4716016" y="1548020"/>
            <a:ext cx="4690864" cy="452596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600" b="1" dirty="0" smtClean="0"/>
          </a:p>
          <a:p>
            <a:pPr marL="0" indent="0">
              <a:buNone/>
            </a:pPr>
            <a:r>
              <a:rPr lang="en-US" sz="1600" b="1" dirty="0" smtClean="0"/>
              <a:t>    </a:t>
            </a:r>
            <a:r>
              <a:rPr lang="en-US" sz="1600" b="1" dirty="0" err="1" smtClean="0"/>
              <a:t>struct</a:t>
            </a:r>
            <a:r>
              <a:rPr lang="en-US" sz="1600" b="1" dirty="0" smtClean="0"/>
              <a:t> </a:t>
            </a:r>
            <a:r>
              <a:rPr lang="en-US" sz="1600" b="1" dirty="0" err="1" smtClean="0"/>
              <a:t>my_structure</a:t>
            </a:r>
            <a:r>
              <a:rPr lang="en-US" sz="1600" b="1" dirty="0" smtClean="0"/>
              <a:t> *</a:t>
            </a:r>
            <a:r>
              <a:rPr lang="en-US" sz="1600" b="1" dirty="0" err="1" smtClean="0"/>
              <a:t>ptr</a:t>
            </a:r>
            <a:r>
              <a:rPr lang="en-US" sz="1600" b="1" dirty="0" smtClean="0"/>
              <a:t>;</a:t>
            </a:r>
          </a:p>
          <a:p>
            <a:pPr marL="0" indent="0">
              <a:buNone/>
            </a:pPr>
            <a:r>
              <a:rPr lang="en-US" sz="1600" b="1" dirty="0" smtClean="0"/>
              <a:t>    </a:t>
            </a:r>
            <a:r>
              <a:rPr lang="en-US" sz="1600" b="1" dirty="0" err="1" smtClean="0"/>
              <a:t>ptr</a:t>
            </a:r>
            <a:r>
              <a:rPr lang="en-US" sz="1600" b="1" dirty="0" smtClean="0"/>
              <a:t> = &amp;variable;</a:t>
            </a:r>
          </a:p>
          <a:p>
            <a:pPr marL="0" indent="0">
              <a:buNone/>
            </a:pPr>
            <a:endParaRPr lang="en-US" sz="1600" b="1" dirty="0" smtClean="0"/>
          </a:p>
          <a:p>
            <a:pPr marL="0" indent="0">
              <a:buNone/>
            </a:pPr>
            <a:r>
              <a:rPr lang="en-US" sz="1600" b="1" dirty="0" smtClean="0"/>
              <a:t>    </a:t>
            </a:r>
            <a:r>
              <a:rPr lang="en-US" sz="1600" b="1" dirty="0" err="1" smtClean="0"/>
              <a:t>printf</a:t>
            </a:r>
            <a:r>
              <a:rPr lang="en-US" sz="1600" b="1" dirty="0" smtClean="0"/>
              <a:t>("NAME: %s\n", </a:t>
            </a:r>
            <a:r>
              <a:rPr lang="en-US" sz="1600" b="1" dirty="0" err="1" smtClean="0"/>
              <a:t>ptr</a:t>
            </a:r>
            <a:r>
              <a:rPr lang="en-US" sz="1600" b="1" dirty="0" smtClean="0"/>
              <a:t>-&gt;name);</a:t>
            </a:r>
          </a:p>
          <a:p>
            <a:pPr marL="0" indent="0">
              <a:buNone/>
            </a:pPr>
            <a:r>
              <a:rPr lang="en-US" sz="1600" b="1" dirty="0" smtClean="0"/>
              <a:t>    </a:t>
            </a:r>
            <a:r>
              <a:rPr lang="en-US" sz="1600" b="1" dirty="0" err="1" smtClean="0"/>
              <a:t>printf</a:t>
            </a:r>
            <a:r>
              <a:rPr lang="en-US" sz="1600" b="1" dirty="0" smtClean="0"/>
              <a:t>("NUMBER: %d\n", </a:t>
            </a:r>
            <a:r>
              <a:rPr lang="en-US" sz="1600" b="1" dirty="0" err="1" smtClean="0"/>
              <a:t>ptr</a:t>
            </a:r>
            <a:r>
              <a:rPr lang="en-US" sz="1600" b="1" dirty="0" smtClean="0"/>
              <a:t>-&gt;number);</a:t>
            </a:r>
          </a:p>
          <a:p>
            <a:pPr marL="0" indent="0">
              <a:buNone/>
            </a:pPr>
            <a:r>
              <a:rPr lang="en-US" sz="1600" b="1" dirty="0" smtClean="0"/>
              <a:t>    </a:t>
            </a:r>
            <a:r>
              <a:rPr lang="en-US" sz="1600" b="1" dirty="0" err="1" smtClean="0"/>
              <a:t>printf</a:t>
            </a:r>
            <a:r>
              <a:rPr lang="en-US" sz="1600" b="1" dirty="0" smtClean="0"/>
              <a:t>("RANK: %d", </a:t>
            </a:r>
            <a:r>
              <a:rPr lang="en-US" sz="1600" b="1" dirty="0" err="1" smtClean="0"/>
              <a:t>ptr</a:t>
            </a:r>
            <a:r>
              <a:rPr lang="en-US" sz="1600" b="1" dirty="0" smtClean="0"/>
              <a:t>-&gt;rank);</a:t>
            </a:r>
          </a:p>
          <a:p>
            <a:pPr marL="0" indent="0">
              <a:buNone/>
            </a:pPr>
            <a:endParaRPr lang="en-US" sz="1600" b="1" dirty="0" smtClean="0"/>
          </a:p>
          <a:p>
            <a:pPr marL="0" indent="0">
              <a:buNone/>
            </a:pPr>
            <a:r>
              <a:rPr lang="en-US" sz="1600" b="1" dirty="0" smtClean="0"/>
              <a:t>    return 0;</a:t>
            </a:r>
          </a:p>
          <a:p>
            <a:pPr marL="0" indent="0">
              <a:buNone/>
            </a:pPr>
            <a:r>
              <a:rPr lang="en-US" sz="1600" b="1" dirty="0" smtClean="0"/>
              <a:t>}</a:t>
            </a:r>
            <a:endParaRPr lang="en-IN" sz="1600" b="1" dirty="0"/>
          </a:p>
        </p:txBody>
      </p:sp>
    </p:spTree>
    <p:extLst>
      <p:ext uri="{BB962C8B-B14F-4D97-AF65-F5344CB8AC3E}">
        <p14:creationId xmlns:p14="http://schemas.microsoft.com/office/powerpoint/2010/main" val="7887718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STRUCTURE ASSIGNMENT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96752"/>
            <a:ext cx="8229600" cy="5400600"/>
          </a:xfrm>
        </p:spPr>
        <p:txBody>
          <a:bodyPr>
            <a:normAutofit fontScale="70000" lnSpcReduction="20000"/>
          </a:bodyPr>
          <a:lstStyle/>
          <a:p>
            <a:r>
              <a:rPr lang="en-US" b="1" dirty="0" smtClean="0"/>
              <a:t>Structure variables can be assigned to another structure variable using assignment operator(=)</a:t>
            </a:r>
          </a:p>
          <a:p>
            <a:pPr marL="0" indent="0">
              <a:buNone/>
            </a:pPr>
            <a:r>
              <a:rPr lang="en-US" b="1" dirty="0" smtClean="0"/>
              <a:t>#include&lt;</a:t>
            </a:r>
            <a:r>
              <a:rPr lang="en-US" b="1" dirty="0" err="1" smtClean="0"/>
              <a:t>stdio.h</a:t>
            </a:r>
            <a:r>
              <a:rPr lang="en-US" b="1" dirty="0" smtClean="0"/>
              <a:t>&gt;</a:t>
            </a:r>
          </a:p>
          <a:p>
            <a:pPr marL="0" indent="0">
              <a:buNone/>
            </a:pPr>
            <a:r>
              <a:rPr lang="en-US" b="1" dirty="0" err="1" smtClean="0"/>
              <a:t>int</a:t>
            </a:r>
            <a:r>
              <a:rPr lang="en-US" b="1" dirty="0" smtClean="0"/>
              <a:t> main()</a:t>
            </a:r>
          </a:p>
          <a:p>
            <a:pPr marL="0" indent="0">
              <a:buNone/>
            </a:pPr>
            <a:r>
              <a:rPr lang="en-US" b="1" dirty="0" smtClean="0"/>
              <a:t>{</a:t>
            </a:r>
          </a:p>
          <a:p>
            <a:pPr marL="0" indent="0">
              <a:buNone/>
            </a:pPr>
            <a:r>
              <a:rPr lang="en-US" b="1" dirty="0" smtClean="0"/>
              <a:t>	</a:t>
            </a:r>
            <a:r>
              <a:rPr lang="en-US" b="1" dirty="0" err="1" smtClean="0"/>
              <a:t>Struct</a:t>
            </a:r>
            <a:r>
              <a:rPr lang="en-US" b="1" dirty="0" smtClean="0"/>
              <a:t> sample</a:t>
            </a:r>
          </a:p>
          <a:p>
            <a:pPr marL="0" indent="0">
              <a:buNone/>
            </a:pPr>
            <a:r>
              <a:rPr lang="en-US" b="1" dirty="0" smtClean="0"/>
              <a:t>	{</a:t>
            </a:r>
          </a:p>
          <a:p>
            <a:pPr marL="0" indent="0">
              <a:buNone/>
            </a:pPr>
            <a:r>
              <a:rPr lang="en-US" b="1" dirty="0" smtClean="0"/>
              <a:t>		</a:t>
            </a:r>
            <a:r>
              <a:rPr lang="en-US" b="1" dirty="0" err="1" smtClean="0"/>
              <a:t>int</a:t>
            </a:r>
            <a:r>
              <a:rPr lang="en-US" b="1" dirty="0" smtClean="0"/>
              <a:t> a;</a:t>
            </a:r>
          </a:p>
          <a:p>
            <a:pPr marL="0" indent="0">
              <a:buNone/>
            </a:pPr>
            <a:r>
              <a:rPr lang="en-US" b="1" dirty="0" smtClean="0"/>
              <a:t>		</a:t>
            </a:r>
            <a:r>
              <a:rPr lang="en-US" b="1" dirty="0" err="1" smtClean="0"/>
              <a:t>int</a:t>
            </a:r>
            <a:r>
              <a:rPr lang="en-US" b="1" dirty="0" smtClean="0"/>
              <a:t> b;</a:t>
            </a:r>
          </a:p>
          <a:p>
            <a:pPr marL="0" indent="0">
              <a:buNone/>
            </a:pPr>
            <a:r>
              <a:rPr lang="en-US" b="1" dirty="0" smtClean="0"/>
              <a:t>	}</a:t>
            </a:r>
            <a:r>
              <a:rPr lang="en-US" b="1" dirty="0" err="1" smtClean="0"/>
              <a:t>x,y</a:t>
            </a:r>
            <a:r>
              <a:rPr lang="en-US" b="1" dirty="0" smtClean="0"/>
              <a:t>;</a:t>
            </a:r>
          </a:p>
          <a:p>
            <a:pPr marL="0" indent="0">
              <a:buNone/>
            </a:pPr>
            <a:r>
              <a:rPr lang="en-US" b="1" dirty="0" smtClean="0"/>
              <a:t>	</a:t>
            </a:r>
            <a:r>
              <a:rPr lang="en-US" b="1" dirty="0" err="1" smtClean="0"/>
              <a:t>x.a</a:t>
            </a:r>
            <a:r>
              <a:rPr lang="en-US" b="1" dirty="0" smtClean="0"/>
              <a:t>=10;</a:t>
            </a:r>
          </a:p>
          <a:p>
            <a:pPr marL="0" indent="0">
              <a:buNone/>
            </a:pPr>
            <a:r>
              <a:rPr lang="en-US" b="1" dirty="0" smtClean="0"/>
              <a:t>	</a:t>
            </a:r>
            <a:r>
              <a:rPr lang="en-US" b="1" dirty="0" err="1" smtClean="0"/>
              <a:t>x.b</a:t>
            </a:r>
            <a:r>
              <a:rPr lang="en-US" b="1" dirty="0" smtClean="0"/>
              <a:t>=200;</a:t>
            </a:r>
          </a:p>
          <a:p>
            <a:pPr marL="0" indent="0">
              <a:buNone/>
            </a:pPr>
            <a:r>
              <a:rPr lang="en-US" b="1" dirty="0" smtClean="0"/>
              <a:t>	y=x;</a:t>
            </a:r>
          </a:p>
          <a:p>
            <a:pPr marL="0" indent="0">
              <a:buNone/>
            </a:pPr>
            <a:r>
              <a:rPr lang="en-US" b="1" dirty="0" smtClean="0"/>
              <a:t>	</a:t>
            </a:r>
            <a:r>
              <a:rPr lang="en-US" b="1" dirty="0" err="1" smtClean="0"/>
              <a:t>printf</a:t>
            </a:r>
            <a:r>
              <a:rPr lang="en-US" b="1" dirty="0" smtClean="0"/>
              <a:t>(“%d %d”, </a:t>
            </a:r>
            <a:r>
              <a:rPr lang="en-US" b="1" dirty="0" err="1" smtClean="0"/>
              <a:t>y.a,y.b</a:t>
            </a:r>
            <a:r>
              <a:rPr lang="en-US" b="1" dirty="0" smtClean="0"/>
              <a:t>)</a:t>
            </a:r>
          </a:p>
          <a:p>
            <a:pPr marL="0" indent="0">
              <a:buNone/>
            </a:pPr>
            <a:r>
              <a:rPr lang="en-US" b="1" dirty="0" smtClean="0"/>
              <a:t>	return 0;</a:t>
            </a:r>
          </a:p>
          <a:p>
            <a:pPr marL="0" indent="0">
              <a:buNone/>
            </a:pPr>
            <a:r>
              <a:rPr lang="en-US" b="1" dirty="0"/>
              <a:t>}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6605660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ARRAY OF STRUCTURES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As normal </a:t>
            </a:r>
            <a:r>
              <a:rPr lang="en-US" dirty="0" err="1" smtClean="0"/>
              <a:t>varaiable</a:t>
            </a:r>
            <a:r>
              <a:rPr lang="en-US" dirty="0" smtClean="0"/>
              <a:t>, we can create array on structure variable.</a:t>
            </a:r>
          </a:p>
          <a:p>
            <a:pPr marL="0" indent="0">
              <a:buNone/>
            </a:pPr>
            <a:r>
              <a:rPr lang="en-US" dirty="0" smtClean="0"/>
              <a:t>Syntax: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 smtClean="0"/>
              <a:t>struct</a:t>
            </a:r>
            <a:r>
              <a:rPr lang="en-US" dirty="0" smtClean="0"/>
              <a:t> </a:t>
            </a:r>
            <a:r>
              <a:rPr lang="en-US" dirty="0" err="1" smtClean="0"/>
              <a:t>structure_name</a:t>
            </a:r>
            <a:r>
              <a:rPr lang="en-US" dirty="0" smtClean="0"/>
              <a:t> variable[array size];</a:t>
            </a:r>
          </a:p>
        </p:txBody>
      </p:sp>
    </p:spTree>
    <p:extLst>
      <p:ext uri="{BB962C8B-B14F-4D97-AF65-F5344CB8AC3E}">
        <p14:creationId xmlns:p14="http://schemas.microsoft.com/office/powerpoint/2010/main" val="14212923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211" y="116632"/>
            <a:ext cx="3106688" cy="11430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ARRAY OF STRUCTURES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b="1" dirty="0"/>
              <a:t>#include&lt;</a:t>
            </a:r>
            <a:r>
              <a:rPr lang="en-US" sz="2000" b="1" dirty="0" err="1"/>
              <a:t>stdio.h</a:t>
            </a:r>
            <a:r>
              <a:rPr lang="en-US" sz="2000" b="1" dirty="0"/>
              <a:t>&gt;</a:t>
            </a:r>
          </a:p>
          <a:p>
            <a:pPr marL="0" indent="0">
              <a:buNone/>
            </a:pPr>
            <a:r>
              <a:rPr lang="en-US" sz="2000" b="1" dirty="0" err="1" smtClean="0"/>
              <a:t>struct</a:t>
            </a:r>
            <a:r>
              <a:rPr lang="en-US" sz="2000" b="1" dirty="0" smtClean="0"/>
              <a:t> </a:t>
            </a:r>
            <a:r>
              <a:rPr lang="en-US" sz="2000" b="1" dirty="0"/>
              <a:t>Employee</a:t>
            </a:r>
          </a:p>
          <a:p>
            <a:pPr marL="0" indent="0">
              <a:buNone/>
            </a:pPr>
            <a:r>
              <a:rPr lang="en-US" sz="2000" b="1" dirty="0"/>
              <a:t>{</a:t>
            </a:r>
          </a:p>
          <a:p>
            <a:pPr marL="0" indent="0">
              <a:buNone/>
            </a:pPr>
            <a:r>
              <a:rPr lang="en-US" sz="2000" b="1" dirty="0"/>
              <a:t>    char </a:t>
            </a:r>
            <a:r>
              <a:rPr lang="en-US" sz="2000" b="1" dirty="0" err="1"/>
              <a:t>ename</a:t>
            </a:r>
            <a:r>
              <a:rPr lang="en-US" sz="2000" b="1" dirty="0"/>
              <a:t>[10];</a:t>
            </a:r>
          </a:p>
          <a:p>
            <a:pPr marL="0" indent="0">
              <a:buNone/>
            </a:pPr>
            <a:r>
              <a:rPr lang="en-US" sz="2000" b="1" dirty="0"/>
              <a:t>    </a:t>
            </a:r>
            <a:r>
              <a:rPr lang="en-US" sz="2000" b="1" dirty="0" err="1"/>
              <a:t>int</a:t>
            </a:r>
            <a:r>
              <a:rPr lang="en-US" sz="2000" b="1" dirty="0"/>
              <a:t> </a:t>
            </a:r>
            <a:r>
              <a:rPr lang="en-US" sz="2000" b="1" dirty="0" err="1"/>
              <a:t>sal</a:t>
            </a:r>
            <a:r>
              <a:rPr lang="en-US" sz="2000" b="1" dirty="0"/>
              <a:t>;</a:t>
            </a:r>
          </a:p>
          <a:p>
            <a:pPr marL="0" indent="0">
              <a:buNone/>
            </a:pPr>
            <a:r>
              <a:rPr lang="en-US" sz="2000" b="1" dirty="0"/>
              <a:t>};</a:t>
            </a:r>
          </a:p>
          <a:p>
            <a:pPr marL="0" indent="0">
              <a:buNone/>
            </a:pPr>
            <a:r>
              <a:rPr lang="en-US" sz="2000" b="1" dirty="0" err="1" smtClean="0"/>
              <a:t>struct</a:t>
            </a:r>
            <a:r>
              <a:rPr lang="en-US" sz="2000" b="1" dirty="0" smtClean="0"/>
              <a:t> </a:t>
            </a:r>
            <a:r>
              <a:rPr lang="en-US" sz="2000" b="1" dirty="0"/>
              <a:t>Employee </a:t>
            </a:r>
            <a:r>
              <a:rPr lang="en-US" sz="2000" b="1" dirty="0" err="1"/>
              <a:t>emp</a:t>
            </a:r>
            <a:r>
              <a:rPr lang="en-US" sz="2000" b="1" dirty="0"/>
              <a:t>[5];</a:t>
            </a:r>
          </a:p>
          <a:p>
            <a:pPr marL="0" indent="0">
              <a:buNone/>
            </a:pPr>
            <a:r>
              <a:rPr lang="en-US" sz="2000" b="1" dirty="0" err="1" smtClean="0"/>
              <a:t>int</a:t>
            </a:r>
            <a:r>
              <a:rPr lang="en-US" sz="2000" b="1" dirty="0" smtClean="0"/>
              <a:t> </a:t>
            </a:r>
            <a:r>
              <a:rPr lang="en-US" sz="2000" b="1" dirty="0" err="1" smtClean="0"/>
              <a:t>i</a:t>
            </a:r>
            <a:r>
              <a:rPr lang="en-US" sz="2000" b="1" dirty="0" smtClean="0"/>
              <a:t>, j;</a:t>
            </a:r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r>
              <a:rPr lang="en-US" sz="2000" b="1" dirty="0"/>
              <a:t>void main()</a:t>
            </a:r>
          </a:p>
          <a:p>
            <a:pPr marL="0" indent="0">
              <a:buNone/>
            </a:pPr>
            <a:r>
              <a:rPr lang="en-US" sz="2000" b="1" dirty="0" smtClean="0"/>
              <a:t>{</a:t>
            </a:r>
            <a:endParaRPr lang="en-US" sz="2000" b="1" dirty="0"/>
          </a:p>
          <a:p>
            <a:pPr marL="0" indent="0">
              <a:buNone/>
            </a:pPr>
            <a:r>
              <a:rPr lang="en-US" sz="2000" b="1" dirty="0"/>
              <a:t>    ask();</a:t>
            </a:r>
          </a:p>
          <a:p>
            <a:pPr marL="0" indent="0">
              <a:buNone/>
            </a:pPr>
            <a:r>
              <a:rPr lang="en-US" sz="2000" b="1" dirty="0"/>
              <a:t>}</a:t>
            </a:r>
            <a:endParaRPr lang="en-US" sz="2000" b="1" dirty="0" smtClean="0"/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3419872" y="22222"/>
            <a:ext cx="5724128" cy="683577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US" sz="2000" b="1" dirty="0" smtClean="0"/>
              <a:t>void ask()</a:t>
            </a:r>
          </a:p>
          <a:p>
            <a:pPr marL="0" indent="0">
              <a:buFont typeface="Arial" pitchFamily="34" charset="0"/>
              <a:buNone/>
            </a:pPr>
            <a:r>
              <a:rPr lang="en-US" sz="2000" b="1" dirty="0" smtClean="0"/>
              <a:t>{</a:t>
            </a:r>
          </a:p>
          <a:p>
            <a:pPr marL="0" indent="0">
              <a:buFont typeface="Arial" pitchFamily="34" charset="0"/>
              <a:buNone/>
            </a:pPr>
            <a:r>
              <a:rPr lang="en-US" sz="2000" b="1" dirty="0" smtClean="0"/>
              <a:t>    for(</a:t>
            </a:r>
            <a:r>
              <a:rPr lang="en-US" sz="2000" b="1" dirty="0" err="1" smtClean="0"/>
              <a:t>i</a:t>
            </a:r>
            <a:r>
              <a:rPr lang="en-US" sz="2000" b="1" dirty="0" smtClean="0"/>
              <a:t> = 0; </a:t>
            </a:r>
            <a:r>
              <a:rPr lang="en-US" sz="2000" b="1" dirty="0" err="1" smtClean="0"/>
              <a:t>i</a:t>
            </a:r>
            <a:r>
              <a:rPr lang="en-US" sz="2000" b="1" dirty="0" smtClean="0"/>
              <a:t> &lt; 3; </a:t>
            </a:r>
            <a:r>
              <a:rPr lang="en-US" sz="2000" b="1" dirty="0" err="1" smtClean="0"/>
              <a:t>i</a:t>
            </a:r>
            <a:r>
              <a:rPr lang="en-US" sz="2000" b="1" dirty="0" smtClean="0"/>
              <a:t>++)</a:t>
            </a:r>
          </a:p>
          <a:p>
            <a:pPr marL="0" indent="0">
              <a:buFont typeface="Arial" pitchFamily="34" charset="0"/>
              <a:buNone/>
            </a:pPr>
            <a:r>
              <a:rPr lang="en-US" sz="2000" b="1" dirty="0" smtClean="0"/>
              <a:t>    {</a:t>
            </a:r>
          </a:p>
          <a:p>
            <a:pPr marL="0" indent="0">
              <a:buFont typeface="Arial" pitchFamily="34" charset="0"/>
              <a:buNone/>
            </a:pPr>
            <a:r>
              <a:rPr lang="en-US" sz="2000" b="1" dirty="0" smtClean="0"/>
              <a:t>        </a:t>
            </a:r>
            <a:r>
              <a:rPr lang="en-US" sz="2000" b="1" dirty="0" err="1" smtClean="0"/>
              <a:t>printf</a:t>
            </a:r>
            <a:r>
              <a:rPr lang="en-US" sz="2000" b="1" dirty="0" smtClean="0"/>
              <a:t>("\</a:t>
            </a:r>
            <a:r>
              <a:rPr lang="en-US" sz="2000" b="1" dirty="0" err="1" smtClean="0"/>
              <a:t>nEnter</a:t>
            </a:r>
            <a:r>
              <a:rPr lang="en-US" sz="2000" b="1" dirty="0" smtClean="0"/>
              <a:t> %</a:t>
            </a:r>
            <a:r>
              <a:rPr lang="en-US" sz="2000" b="1" dirty="0" err="1" smtClean="0"/>
              <a:t>dst</a:t>
            </a:r>
            <a:r>
              <a:rPr lang="en-US" sz="2000" b="1" dirty="0" smtClean="0"/>
              <a:t> Employee record:\n", i+1);</a:t>
            </a:r>
          </a:p>
          <a:p>
            <a:pPr marL="0" indent="0">
              <a:buFont typeface="Arial" pitchFamily="34" charset="0"/>
              <a:buNone/>
            </a:pPr>
            <a:r>
              <a:rPr lang="en-US" sz="2000" b="1" dirty="0" smtClean="0"/>
              <a:t>        </a:t>
            </a:r>
            <a:r>
              <a:rPr lang="en-US" sz="2000" b="1" dirty="0" err="1" smtClean="0"/>
              <a:t>printf</a:t>
            </a:r>
            <a:r>
              <a:rPr lang="en-US" sz="2000" b="1" dirty="0" smtClean="0"/>
              <a:t>("\</a:t>
            </a:r>
            <a:r>
              <a:rPr lang="en-US" sz="2000" b="1" dirty="0" err="1" smtClean="0"/>
              <a:t>nEmployee</a:t>
            </a:r>
            <a:r>
              <a:rPr lang="en-US" sz="2000" b="1" dirty="0" smtClean="0"/>
              <a:t> name:\t");</a:t>
            </a:r>
          </a:p>
          <a:p>
            <a:pPr marL="0" indent="0">
              <a:buFont typeface="Arial" pitchFamily="34" charset="0"/>
              <a:buNone/>
            </a:pPr>
            <a:r>
              <a:rPr lang="en-US" sz="2000" b="1" dirty="0" smtClean="0"/>
              <a:t>        </a:t>
            </a:r>
            <a:r>
              <a:rPr lang="en-US" sz="2000" b="1" dirty="0" err="1" smtClean="0"/>
              <a:t>scanf</a:t>
            </a:r>
            <a:r>
              <a:rPr lang="en-US" sz="2000" b="1" dirty="0" smtClean="0"/>
              <a:t>("%s", </a:t>
            </a:r>
            <a:r>
              <a:rPr lang="en-US" sz="2000" b="1" dirty="0" err="1" smtClean="0"/>
              <a:t>emp</a:t>
            </a:r>
            <a:r>
              <a:rPr lang="en-US" sz="2000" b="1" dirty="0" smtClean="0"/>
              <a:t>[</a:t>
            </a:r>
            <a:r>
              <a:rPr lang="en-US" sz="2000" b="1" dirty="0" err="1" smtClean="0"/>
              <a:t>i</a:t>
            </a:r>
            <a:r>
              <a:rPr lang="en-US" sz="2000" b="1" dirty="0" smtClean="0"/>
              <a:t>].</a:t>
            </a:r>
            <a:r>
              <a:rPr lang="en-US" sz="2000" b="1" dirty="0" err="1" smtClean="0"/>
              <a:t>ename</a:t>
            </a:r>
            <a:r>
              <a:rPr lang="en-US" sz="2000" b="1" dirty="0" smtClean="0"/>
              <a:t>);</a:t>
            </a:r>
          </a:p>
          <a:p>
            <a:pPr marL="0" indent="0">
              <a:buFont typeface="Arial" pitchFamily="34" charset="0"/>
              <a:buNone/>
            </a:pPr>
            <a:r>
              <a:rPr lang="en-US" sz="2000" b="1" dirty="0" smtClean="0"/>
              <a:t>        </a:t>
            </a:r>
            <a:r>
              <a:rPr lang="en-US" sz="2000" b="1" dirty="0" err="1" smtClean="0"/>
              <a:t>printf</a:t>
            </a:r>
            <a:r>
              <a:rPr lang="en-US" sz="2000" b="1" dirty="0" smtClean="0"/>
              <a:t>("\</a:t>
            </a:r>
            <a:r>
              <a:rPr lang="en-US" sz="2000" b="1" dirty="0" err="1" smtClean="0"/>
              <a:t>nEnter</a:t>
            </a:r>
            <a:r>
              <a:rPr lang="en-US" sz="2000" b="1" dirty="0" smtClean="0"/>
              <a:t> Salary:\t");</a:t>
            </a:r>
          </a:p>
          <a:p>
            <a:pPr marL="0" indent="0">
              <a:buFont typeface="Arial" pitchFamily="34" charset="0"/>
              <a:buNone/>
            </a:pPr>
            <a:r>
              <a:rPr lang="en-US" sz="2000" b="1" dirty="0" smtClean="0"/>
              <a:t>        </a:t>
            </a:r>
            <a:r>
              <a:rPr lang="en-US" sz="2000" b="1" dirty="0" err="1" smtClean="0"/>
              <a:t>scanf</a:t>
            </a:r>
            <a:r>
              <a:rPr lang="en-US" sz="2000" b="1" dirty="0" smtClean="0"/>
              <a:t>("%d", &amp;</a:t>
            </a:r>
            <a:r>
              <a:rPr lang="en-US" sz="2000" b="1" dirty="0" err="1" smtClean="0"/>
              <a:t>emp</a:t>
            </a:r>
            <a:r>
              <a:rPr lang="en-US" sz="2000" b="1" dirty="0" smtClean="0"/>
              <a:t>[</a:t>
            </a:r>
            <a:r>
              <a:rPr lang="en-US" sz="2000" b="1" dirty="0" err="1" smtClean="0"/>
              <a:t>i</a:t>
            </a:r>
            <a:r>
              <a:rPr lang="en-US" sz="2000" b="1" dirty="0" smtClean="0"/>
              <a:t>].</a:t>
            </a:r>
            <a:r>
              <a:rPr lang="en-US" sz="2000" b="1" dirty="0" err="1" smtClean="0"/>
              <a:t>sal</a:t>
            </a:r>
            <a:r>
              <a:rPr lang="en-US" sz="2000" b="1" dirty="0" smtClean="0"/>
              <a:t>);</a:t>
            </a:r>
          </a:p>
          <a:p>
            <a:pPr marL="0" indent="0">
              <a:buFont typeface="Arial" pitchFamily="34" charset="0"/>
              <a:buNone/>
            </a:pPr>
            <a:r>
              <a:rPr lang="en-US" sz="2000" b="1" dirty="0" smtClean="0"/>
              <a:t>    }</a:t>
            </a:r>
          </a:p>
          <a:p>
            <a:pPr marL="0" indent="0">
              <a:buFont typeface="Arial" pitchFamily="34" charset="0"/>
              <a:buNone/>
            </a:pPr>
            <a:r>
              <a:rPr lang="en-US" sz="2000" b="1" dirty="0" smtClean="0"/>
              <a:t>    </a:t>
            </a:r>
            <a:r>
              <a:rPr lang="en-US" sz="2000" b="1" dirty="0" err="1" smtClean="0"/>
              <a:t>printf</a:t>
            </a:r>
            <a:r>
              <a:rPr lang="en-US" sz="2000" b="1" dirty="0" smtClean="0"/>
              <a:t>("\</a:t>
            </a:r>
            <a:r>
              <a:rPr lang="en-US" sz="2000" b="1" dirty="0" err="1" smtClean="0"/>
              <a:t>nDisplaying</a:t>
            </a:r>
            <a:r>
              <a:rPr lang="en-US" sz="2000" b="1" dirty="0" smtClean="0"/>
              <a:t> Employee record:\n");</a:t>
            </a:r>
          </a:p>
          <a:p>
            <a:pPr marL="0" indent="0">
              <a:buFont typeface="Arial" pitchFamily="34" charset="0"/>
              <a:buNone/>
            </a:pPr>
            <a:r>
              <a:rPr lang="en-US" sz="2000" b="1" dirty="0" smtClean="0"/>
              <a:t>    for(</a:t>
            </a:r>
            <a:r>
              <a:rPr lang="en-US" sz="2000" b="1" dirty="0" err="1" smtClean="0"/>
              <a:t>i</a:t>
            </a:r>
            <a:r>
              <a:rPr lang="en-US" sz="2000" b="1" dirty="0" smtClean="0"/>
              <a:t> = 0; </a:t>
            </a:r>
            <a:r>
              <a:rPr lang="en-US" sz="2000" b="1" dirty="0" err="1" smtClean="0"/>
              <a:t>i</a:t>
            </a:r>
            <a:r>
              <a:rPr lang="en-US" sz="2000" b="1" dirty="0" smtClean="0"/>
              <a:t> &lt; 3; </a:t>
            </a:r>
            <a:r>
              <a:rPr lang="en-US" sz="2000" b="1" dirty="0" err="1" smtClean="0"/>
              <a:t>i</a:t>
            </a:r>
            <a:r>
              <a:rPr lang="en-US" sz="2000" b="1" dirty="0" smtClean="0"/>
              <a:t>++)</a:t>
            </a:r>
          </a:p>
          <a:p>
            <a:pPr marL="0" indent="0">
              <a:buFont typeface="Arial" pitchFamily="34" charset="0"/>
              <a:buNone/>
            </a:pPr>
            <a:r>
              <a:rPr lang="en-US" sz="2000" b="1" dirty="0" smtClean="0"/>
              <a:t>    {</a:t>
            </a:r>
          </a:p>
          <a:p>
            <a:pPr marL="0" indent="0">
              <a:buFont typeface="Arial" pitchFamily="34" charset="0"/>
              <a:buNone/>
            </a:pPr>
            <a:r>
              <a:rPr lang="en-US" sz="2000" b="1" dirty="0" smtClean="0"/>
              <a:t>        </a:t>
            </a:r>
            <a:r>
              <a:rPr lang="en-US" sz="2000" b="1" dirty="0" err="1" smtClean="0"/>
              <a:t>printf</a:t>
            </a:r>
            <a:r>
              <a:rPr lang="en-US" sz="2000" b="1" dirty="0" smtClean="0"/>
              <a:t>("\</a:t>
            </a:r>
            <a:r>
              <a:rPr lang="en-US" sz="2000" b="1" dirty="0" err="1" smtClean="0"/>
              <a:t>nEmployee</a:t>
            </a:r>
            <a:r>
              <a:rPr lang="en-US" sz="2000" b="1" dirty="0" smtClean="0"/>
              <a:t> name is %s", </a:t>
            </a:r>
            <a:r>
              <a:rPr lang="en-US" sz="2000" b="1" dirty="0" err="1" smtClean="0"/>
              <a:t>emp</a:t>
            </a:r>
            <a:r>
              <a:rPr lang="en-US" sz="2000" b="1" dirty="0" smtClean="0"/>
              <a:t>[</a:t>
            </a:r>
            <a:r>
              <a:rPr lang="en-US" sz="2000" b="1" dirty="0" err="1" smtClean="0"/>
              <a:t>i</a:t>
            </a:r>
            <a:r>
              <a:rPr lang="en-US" sz="2000" b="1" dirty="0" smtClean="0"/>
              <a:t>].</a:t>
            </a:r>
            <a:r>
              <a:rPr lang="en-US" sz="2000" b="1" dirty="0" err="1" smtClean="0"/>
              <a:t>ename</a:t>
            </a:r>
            <a:r>
              <a:rPr lang="en-US" sz="2000" b="1" dirty="0" smtClean="0"/>
              <a:t>);</a:t>
            </a:r>
          </a:p>
          <a:p>
            <a:pPr marL="0" indent="0">
              <a:buFont typeface="Arial" pitchFamily="34" charset="0"/>
              <a:buNone/>
            </a:pPr>
            <a:r>
              <a:rPr lang="en-US" sz="2000" b="1" dirty="0" smtClean="0"/>
              <a:t>        </a:t>
            </a:r>
            <a:r>
              <a:rPr lang="en-US" sz="2000" b="1" dirty="0" err="1" smtClean="0"/>
              <a:t>printf</a:t>
            </a:r>
            <a:r>
              <a:rPr lang="en-US" sz="2000" b="1" dirty="0" smtClean="0"/>
              <a:t>("\</a:t>
            </a:r>
            <a:r>
              <a:rPr lang="en-US" sz="2000" b="1" dirty="0" err="1" smtClean="0"/>
              <a:t>nSlary</a:t>
            </a:r>
            <a:r>
              <a:rPr lang="en-US" sz="2000" b="1" dirty="0" smtClean="0"/>
              <a:t> is %d", </a:t>
            </a:r>
            <a:r>
              <a:rPr lang="en-US" sz="2000" b="1" dirty="0" err="1" smtClean="0"/>
              <a:t>emp</a:t>
            </a:r>
            <a:r>
              <a:rPr lang="en-US" sz="2000" b="1" dirty="0" smtClean="0"/>
              <a:t>[</a:t>
            </a:r>
            <a:r>
              <a:rPr lang="en-US" sz="2000" b="1" dirty="0" err="1" smtClean="0"/>
              <a:t>i</a:t>
            </a:r>
            <a:r>
              <a:rPr lang="en-US" sz="2000" b="1" dirty="0" smtClean="0"/>
              <a:t>].</a:t>
            </a:r>
            <a:r>
              <a:rPr lang="en-US" sz="2000" b="1" dirty="0" err="1" smtClean="0"/>
              <a:t>sal</a:t>
            </a:r>
            <a:r>
              <a:rPr lang="en-US" sz="2000" b="1" dirty="0" smtClean="0"/>
              <a:t>);</a:t>
            </a:r>
          </a:p>
          <a:p>
            <a:pPr marL="0" indent="0">
              <a:buFont typeface="Arial" pitchFamily="34" charset="0"/>
              <a:buNone/>
            </a:pPr>
            <a:r>
              <a:rPr lang="en-US" sz="2000" b="1" dirty="0" smtClean="0"/>
              <a:t>    }</a:t>
            </a:r>
          </a:p>
          <a:p>
            <a:pPr marL="0" indent="0">
              <a:buFont typeface="Arial" pitchFamily="34" charset="0"/>
              <a:buNone/>
            </a:pPr>
            <a:r>
              <a:rPr lang="en-US" sz="2000" b="1" dirty="0" smtClean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0731855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mtClean="0"/>
              <a:t>PASSING STRUCTURES TO FUNCTIONS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528" y="1196752"/>
            <a:ext cx="4834880" cy="4525963"/>
          </a:xfrm>
        </p:spPr>
        <p:txBody>
          <a:bodyPr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IN" sz="2000" b="1" dirty="0" smtClean="0"/>
              <a:t>#include&lt;</a:t>
            </a:r>
            <a:r>
              <a:rPr lang="en-IN" sz="2000" b="1" dirty="0" err="1" smtClean="0"/>
              <a:t>stdio.h</a:t>
            </a:r>
            <a:r>
              <a:rPr lang="en-IN" sz="2000" b="1" dirty="0" smtClean="0"/>
              <a:t>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IN" sz="2000" b="1" dirty="0" err="1" smtClean="0"/>
              <a:t>struct</a:t>
            </a:r>
            <a:r>
              <a:rPr lang="en-IN" sz="2000" b="1" dirty="0" smtClean="0"/>
              <a:t> Student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IN" sz="2000" b="1" dirty="0" smtClean="0"/>
              <a:t>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IN" sz="2000" b="1" dirty="0" smtClean="0"/>
              <a:t>    char name[10];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IN" sz="2000" b="1" dirty="0" smtClean="0"/>
              <a:t>    </a:t>
            </a:r>
            <a:r>
              <a:rPr lang="en-IN" sz="2000" b="1" dirty="0" err="1" smtClean="0"/>
              <a:t>int</a:t>
            </a:r>
            <a:r>
              <a:rPr lang="en-IN" sz="2000" b="1" dirty="0" smtClean="0"/>
              <a:t> roll;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IN" sz="2000" b="1" dirty="0" smtClean="0"/>
              <a:t>};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IN" sz="2000" b="1" dirty="0" smtClean="0"/>
              <a:t>void show(</a:t>
            </a:r>
            <a:r>
              <a:rPr lang="en-IN" sz="2000" b="1" dirty="0" err="1" smtClean="0"/>
              <a:t>struct</a:t>
            </a:r>
            <a:r>
              <a:rPr lang="en-IN" sz="2000" b="1" dirty="0" smtClean="0"/>
              <a:t> Student </a:t>
            </a:r>
            <a:r>
              <a:rPr lang="en-IN" sz="2000" b="1" dirty="0" err="1" smtClean="0"/>
              <a:t>st</a:t>
            </a:r>
            <a:r>
              <a:rPr lang="en-IN" sz="2000" b="1" dirty="0" smtClean="0"/>
              <a:t>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IN" sz="2000" b="1" dirty="0" smtClean="0"/>
              <a:t>void main()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IN" sz="2000" b="1" dirty="0" smtClean="0"/>
              <a:t>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IN" sz="2000" b="1" dirty="0" smtClean="0"/>
              <a:t>    </a:t>
            </a:r>
            <a:r>
              <a:rPr lang="en-IN" sz="2000" b="1" dirty="0" err="1" smtClean="0"/>
              <a:t>struct</a:t>
            </a:r>
            <a:r>
              <a:rPr lang="en-IN" sz="2000" b="1" dirty="0" smtClean="0"/>
              <a:t> Student </a:t>
            </a:r>
            <a:r>
              <a:rPr lang="en-IN" sz="2000" b="1" dirty="0" err="1" smtClean="0"/>
              <a:t>std</a:t>
            </a:r>
            <a:r>
              <a:rPr lang="en-IN" sz="2000" b="1" dirty="0" smtClean="0"/>
              <a:t>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IN" sz="2000" b="1" dirty="0" smtClean="0"/>
              <a:t>    </a:t>
            </a:r>
            <a:r>
              <a:rPr lang="en-IN" sz="2000" b="1" dirty="0" err="1" smtClean="0"/>
              <a:t>printf</a:t>
            </a:r>
            <a:r>
              <a:rPr lang="en-IN" sz="2000" b="1" dirty="0" smtClean="0"/>
              <a:t>("\</a:t>
            </a:r>
            <a:r>
              <a:rPr lang="en-IN" sz="2000" b="1" dirty="0" err="1" smtClean="0"/>
              <a:t>nEnter</a:t>
            </a:r>
            <a:r>
              <a:rPr lang="en-IN" sz="2000" b="1" dirty="0" smtClean="0"/>
              <a:t> Student record:\n");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IN" sz="2000" b="1" dirty="0" smtClean="0"/>
              <a:t>    </a:t>
            </a:r>
            <a:r>
              <a:rPr lang="en-IN" sz="2000" b="1" dirty="0" err="1" smtClean="0"/>
              <a:t>printf</a:t>
            </a:r>
            <a:r>
              <a:rPr lang="en-IN" sz="2000" b="1" dirty="0" smtClean="0"/>
              <a:t>("\</a:t>
            </a:r>
            <a:r>
              <a:rPr lang="en-IN" sz="2000" b="1" dirty="0" err="1" smtClean="0"/>
              <a:t>nStudent</a:t>
            </a:r>
            <a:r>
              <a:rPr lang="en-IN" sz="2000" b="1" dirty="0" smtClean="0"/>
              <a:t> name:\t");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IN" sz="2000" b="1" dirty="0" smtClean="0"/>
              <a:t>    </a:t>
            </a:r>
            <a:r>
              <a:rPr lang="en-IN" sz="2000" b="1" dirty="0" err="1" smtClean="0"/>
              <a:t>scanf</a:t>
            </a:r>
            <a:r>
              <a:rPr lang="en-IN" sz="2000" b="1" dirty="0" smtClean="0"/>
              <a:t>("%s", std.name);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IN" sz="2000" b="1" dirty="0" smtClean="0"/>
              <a:t>    </a:t>
            </a:r>
            <a:r>
              <a:rPr lang="en-IN" sz="2000" b="1" dirty="0" err="1" smtClean="0"/>
              <a:t>printf</a:t>
            </a:r>
            <a:r>
              <a:rPr lang="en-IN" sz="2000" b="1" dirty="0" smtClean="0"/>
              <a:t>("\</a:t>
            </a:r>
            <a:r>
              <a:rPr lang="en-IN" sz="2000" b="1" dirty="0" err="1" smtClean="0"/>
              <a:t>nEnter</a:t>
            </a:r>
            <a:r>
              <a:rPr lang="en-IN" sz="2000" b="1" dirty="0" smtClean="0"/>
              <a:t> Student </a:t>
            </a:r>
            <a:r>
              <a:rPr lang="en-IN" sz="2000" b="1" dirty="0" err="1" smtClean="0"/>
              <a:t>rollno</a:t>
            </a:r>
            <a:r>
              <a:rPr lang="en-IN" sz="2000" b="1" dirty="0" smtClean="0"/>
              <a:t>.:\t");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IN" sz="2000" b="1" dirty="0" smtClean="0"/>
              <a:t>    </a:t>
            </a:r>
            <a:r>
              <a:rPr lang="en-IN" sz="2000" b="1" dirty="0" err="1" smtClean="0"/>
              <a:t>scanf</a:t>
            </a:r>
            <a:r>
              <a:rPr lang="en-IN" sz="2000" b="1" dirty="0" smtClean="0"/>
              <a:t>("%d", &amp;</a:t>
            </a:r>
            <a:r>
              <a:rPr lang="en-IN" sz="2000" b="1" dirty="0" err="1" smtClean="0"/>
              <a:t>std.roll</a:t>
            </a:r>
            <a:r>
              <a:rPr lang="en-IN" sz="2000" b="1" dirty="0" smtClean="0"/>
              <a:t>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IN" sz="2000" b="1" dirty="0" smtClean="0"/>
              <a:t>    show(</a:t>
            </a:r>
            <a:r>
              <a:rPr lang="en-IN" sz="2000" b="1" dirty="0" err="1" smtClean="0"/>
              <a:t>std</a:t>
            </a:r>
            <a:r>
              <a:rPr lang="en-IN" sz="2000" b="1" dirty="0" smtClean="0"/>
              <a:t>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IN" sz="2000" b="1" dirty="0" smtClean="0"/>
              <a:t>}</a:t>
            </a:r>
          </a:p>
          <a:p>
            <a:pPr marL="0" indent="0">
              <a:spcBef>
                <a:spcPts val="0"/>
              </a:spcBef>
              <a:buNone/>
            </a:pPr>
            <a:endParaRPr lang="en-IN" sz="2000" b="1" dirty="0"/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4319348" y="980728"/>
            <a:ext cx="4834880" cy="452596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Font typeface="Arial" pitchFamily="34" charset="0"/>
              <a:buNone/>
            </a:pPr>
            <a:endParaRPr lang="en-IN" sz="2000" b="1" dirty="0" smtClean="0"/>
          </a:p>
          <a:p>
            <a:pPr marL="0" indent="0">
              <a:spcBef>
                <a:spcPts val="0"/>
              </a:spcBef>
              <a:buFont typeface="Arial" pitchFamily="34" charset="0"/>
              <a:buNone/>
            </a:pPr>
            <a:r>
              <a:rPr lang="en-IN" sz="2000" b="1" dirty="0" smtClean="0"/>
              <a:t>void show(</a:t>
            </a:r>
            <a:r>
              <a:rPr lang="en-IN" sz="2000" b="1" dirty="0" err="1" smtClean="0"/>
              <a:t>struct</a:t>
            </a:r>
            <a:r>
              <a:rPr lang="en-IN" sz="2000" b="1" dirty="0" smtClean="0"/>
              <a:t> Student </a:t>
            </a:r>
            <a:r>
              <a:rPr lang="en-IN" sz="2000" b="1" dirty="0" err="1" smtClean="0"/>
              <a:t>st</a:t>
            </a:r>
            <a:r>
              <a:rPr lang="en-IN" sz="2000" b="1" dirty="0" smtClean="0"/>
              <a:t>)</a:t>
            </a:r>
          </a:p>
          <a:p>
            <a:pPr marL="0" indent="0">
              <a:spcBef>
                <a:spcPts val="0"/>
              </a:spcBef>
              <a:buFont typeface="Arial" pitchFamily="34" charset="0"/>
              <a:buNone/>
            </a:pPr>
            <a:r>
              <a:rPr lang="en-IN" sz="2000" b="1" dirty="0" smtClean="0"/>
              <a:t>{</a:t>
            </a:r>
          </a:p>
          <a:p>
            <a:pPr marL="0" indent="0">
              <a:spcBef>
                <a:spcPts val="0"/>
              </a:spcBef>
              <a:buFont typeface="Arial" pitchFamily="34" charset="0"/>
              <a:buNone/>
            </a:pPr>
            <a:r>
              <a:rPr lang="en-IN" sz="2000" b="1" dirty="0" smtClean="0"/>
              <a:t>    </a:t>
            </a:r>
            <a:r>
              <a:rPr lang="en-IN" sz="2000" b="1" dirty="0" err="1" smtClean="0"/>
              <a:t>printf</a:t>
            </a:r>
            <a:r>
              <a:rPr lang="en-IN" sz="2000" b="1" dirty="0" smtClean="0"/>
              <a:t>("\</a:t>
            </a:r>
            <a:r>
              <a:rPr lang="en-IN" sz="2000" b="1" dirty="0" err="1" smtClean="0"/>
              <a:t>nstudent</a:t>
            </a:r>
            <a:r>
              <a:rPr lang="en-IN" sz="2000" b="1" dirty="0" smtClean="0"/>
              <a:t> name is %s", st.name);</a:t>
            </a:r>
          </a:p>
          <a:p>
            <a:pPr marL="0" indent="0">
              <a:spcBef>
                <a:spcPts val="0"/>
              </a:spcBef>
              <a:buFont typeface="Arial" pitchFamily="34" charset="0"/>
              <a:buNone/>
            </a:pPr>
            <a:r>
              <a:rPr lang="en-IN" sz="2000" b="1" dirty="0" smtClean="0"/>
              <a:t>    </a:t>
            </a:r>
            <a:r>
              <a:rPr lang="en-IN" sz="2000" b="1" dirty="0" err="1" smtClean="0"/>
              <a:t>printf</a:t>
            </a:r>
            <a:r>
              <a:rPr lang="en-IN" sz="2000" b="1" dirty="0" smtClean="0"/>
              <a:t>("\</a:t>
            </a:r>
            <a:r>
              <a:rPr lang="en-IN" sz="2000" b="1" dirty="0" err="1" smtClean="0"/>
              <a:t>nroll</a:t>
            </a:r>
            <a:r>
              <a:rPr lang="en-IN" sz="2000" b="1" dirty="0" smtClean="0"/>
              <a:t> is %d", </a:t>
            </a:r>
            <a:r>
              <a:rPr lang="en-IN" sz="2000" b="1" dirty="0" err="1" smtClean="0"/>
              <a:t>st.roll</a:t>
            </a:r>
            <a:r>
              <a:rPr lang="en-IN" sz="2000" b="1" dirty="0" smtClean="0"/>
              <a:t>);</a:t>
            </a:r>
          </a:p>
          <a:p>
            <a:pPr marL="0" indent="0">
              <a:spcBef>
                <a:spcPts val="0"/>
              </a:spcBef>
              <a:buFont typeface="Arial" pitchFamily="34" charset="0"/>
              <a:buNone/>
            </a:pPr>
            <a:r>
              <a:rPr lang="en-IN" sz="2000" b="1" dirty="0" smtClean="0"/>
              <a:t>}</a:t>
            </a:r>
            <a:endParaRPr lang="en-IN" sz="2000" b="1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7" name="Ink 46"/>
              <p14:cNvContentPartPr/>
              <p14:nvPr/>
            </p14:nvContentPartPr>
            <p14:xfrm>
              <a:off x="7222567" y="1462680"/>
              <a:ext cx="5760" cy="7920"/>
            </p14:xfrm>
          </p:contentPart>
        </mc:Choice>
        <mc:Fallback xmlns="">
          <p:pic>
            <p:nvPicPr>
              <p:cNvPr id="47" name="Ink 46"/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7216447" y="1459440"/>
                <a:ext cx="15120" cy="17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151178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STRUCTURES WITHIN STRUCTURES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40000" lnSpcReduction="20000"/>
          </a:bodyPr>
          <a:lstStyle/>
          <a:p>
            <a:pPr marL="0" indent="0">
              <a:buNone/>
            </a:pPr>
            <a:r>
              <a:rPr lang="en-US" dirty="0" smtClean="0"/>
              <a:t>Nesting </a:t>
            </a:r>
            <a:r>
              <a:rPr lang="en-US" dirty="0"/>
              <a:t>of structures, is also permitted in C language. Nested structures means, that one structure has another </a:t>
            </a:r>
            <a:r>
              <a:rPr lang="en-US" dirty="0" err="1"/>
              <a:t>stucture</a:t>
            </a:r>
            <a:r>
              <a:rPr lang="en-US" dirty="0"/>
              <a:t> as member </a:t>
            </a:r>
            <a:r>
              <a:rPr lang="en-US" dirty="0" smtClean="0"/>
              <a:t>variable.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sz="5000" b="1" dirty="0" err="1"/>
              <a:t>struct</a:t>
            </a:r>
            <a:r>
              <a:rPr lang="en-US" sz="5000" b="1" dirty="0"/>
              <a:t> complex </a:t>
            </a:r>
            <a:endParaRPr lang="en-US" sz="5000" b="1" dirty="0" smtClean="0"/>
          </a:p>
          <a:p>
            <a:pPr marL="0" indent="0">
              <a:buNone/>
            </a:pPr>
            <a:r>
              <a:rPr lang="en-US" sz="5000" b="1" dirty="0" smtClean="0"/>
              <a:t>{ </a:t>
            </a:r>
          </a:p>
          <a:p>
            <a:pPr marL="0" indent="0">
              <a:buNone/>
            </a:pPr>
            <a:r>
              <a:rPr lang="en-US" sz="5000" b="1" dirty="0" err="1" smtClean="0"/>
              <a:t>int</a:t>
            </a:r>
            <a:r>
              <a:rPr lang="en-US" sz="5000" b="1" dirty="0" smtClean="0"/>
              <a:t> </a:t>
            </a:r>
            <a:r>
              <a:rPr lang="en-US" sz="5000" b="1" dirty="0" err="1"/>
              <a:t>imag</a:t>
            </a:r>
            <a:r>
              <a:rPr lang="en-US" sz="5000" b="1" dirty="0"/>
              <a:t>; </a:t>
            </a:r>
            <a:endParaRPr lang="en-US" sz="5000" b="1" dirty="0" smtClean="0"/>
          </a:p>
          <a:p>
            <a:pPr marL="0" indent="0">
              <a:buNone/>
            </a:pPr>
            <a:r>
              <a:rPr lang="en-US" sz="5000" b="1" dirty="0" smtClean="0"/>
              <a:t>float </a:t>
            </a:r>
            <a:r>
              <a:rPr lang="en-US" sz="5000" b="1" dirty="0"/>
              <a:t>real; </a:t>
            </a:r>
            <a:endParaRPr lang="en-US" sz="5000" b="1" dirty="0" smtClean="0"/>
          </a:p>
          <a:p>
            <a:pPr marL="0" indent="0">
              <a:buNone/>
            </a:pPr>
            <a:r>
              <a:rPr lang="en-US" sz="5000" b="1" dirty="0" smtClean="0"/>
              <a:t>}; </a:t>
            </a:r>
          </a:p>
          <a:p>
            <a:pPr marL="0" indent="0">
              <a:buNone/>
            </a:pPr>
            <a:r>
              <a:rPr lang="en-US" sz="5000" b="1" dirty="0" err="1" smtClean="0"/>
              <a:t>struct</a:t>
            </a:r>
            <a:r>
              <a:rPr lang="en-US" sz="5000" b="1" dirty="0" smtClean="0"/>
              <a:t> number</a:t>
            </a:r>
          </a:p>
          <a:p>
            <a:pPr marL="0" indent="0">
              <a:buNone/>
            </a:pPr>
            <a:r>
              <a:rPr lang="en-US" sz="5000" b="1" dirty="0" smtClean="0"/>
              <a:t> </a:t>
            </a:r>
            <a:r>
              <a:rPr lang="en-US" sz="5000" b="1" dirty="0"/>
              <a:t>{ </a:t>
            </a:r>
            <a:endParaRPr lang="en-US" sz="5000" b="1" dirty="0" smtClean="0"/>
          </a:p>
          <a:p>
            <a:pPr marL="0" indent="0">
              <a:buNone/>
            </a:pPr>
            <a:r>
              <a:rPr lang="en-US" sz="5000" b="1" dirty="0" err="1" smtClean="0"/>
              <a:t>struct</a:t>
            </a:r>
            <a:r>
              <a:rPr lang="en-US" sz="5000" b="1" dirty="0" smtClean="0"/>
              <a:t> </a:t>
            </a:r>
            <a:r>
              <a:rPr lang="en-US" sz="5000" b="1" dirty="0"/>
              <a:t>complex comp; </a:t>
            </a:r>
            <a:endParaRPr lang="en-US" sz="5000" b="1" dirty="0" smtClean="0"/>
          </a:p>
          <a:p>
            <a:pPr marL="0" indent="0">
              <a:buNone/>
            </a:pPr>
            <a:r>
              <a:rPr lang="en-US" sz="5000" b="1" dirty="0" err="1" smtClean="0"/>
              <a:t>int</a:t>
            </a:r>
            <a:r>
              <a:rPr lang="en-US" sz="5000" b="1" dirty="0" smtClean="0"/>
              <a:t> </a:t>
            </a:r>
            <a:r>
              <a:rPr lang="en-US" sz="5000" b="1" dirty="0"/>
              <a:t>integers; </a:t>
            </a:r>
            <a:endParaRPr lang="en-US" sz="5000" b="1" dirty="0" smtClean="0"/>
          </a:p>
          <a:p>
            <a:pPr marL="0" indent="0">
              <a:buNone/>
            </a:pPr>
            <a:r>
              <a:rPr lang="en-US" sz="5000" b="1" dirty="0" smtClean="0"/>
              <a:t>} </a:t>
            </a:r>
            <a:r>
              <a:rPr lang="en-US" sz="5000" b="1" dirty="0"/>
              <a:t>nu</a:t>
            </a:r>
            <a:r>
              <a:rPr lang="en-US" sz="5000" b="1" dirty="0" smtClean="0"/>
              <a:t>;</a:t>
            </a:r>
          </a:p>
          <a:p>
            <a:pPr marL="0" indent="0">
              <a:buNone/>
            </a:pPr>
            <a:endParaRPr lang="en-US" sz="5000" b="1" dirty="0"/>
          </a:p>
          <a:p>
            <a:pPr marL="0" indent="0">
              <a:buNone/>
            </a:pPr>
            <a:r>
              <a:rPr lang="en-IN" sz="5000" b="1" dirty="0" err="1" smtClean="0"/>
              <a:t>nu.comp.imag</a:t>
            </a:r>
            <a:r>
              <a:rPr lang="en-IN" sz="5000" b="1" dirty="0" smtClean="0"/>
              <a:t> </a:t>
            </a:r>
            <a:r>
              <a:rPr lang="en-IN" sz="5000" b="1" dirty="0"/>
              <a:t>= 11;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6456732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ARRAYS WITHIN STRUCTURES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smtClean="0"/>
              <a:t>A structure can have array as its member.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b="1" dirty="0" err="1" smtClean="0"/>
              <a:t>struct</a:t>
            </a:r>
            <a:r>
              <a:rPr lang="en-US" b="1" dirty="0" smtClean="0"/>
              <a:t> </a:t>
            </a:r>
            <a:r>
              <a:rPr lang="en-US" b="1" dirty="0"/>
              <a:t>Student</a:t>
            </a:r>
          </a:p>
          <a:p>
            <a:pPr marL="0" indent="0">
              <a:buNone/>
            </a:pPr>
            <a:r>
              <a:rPr lang="en-US" b="1" dirty="0" smtClean="0"/>
              <a:t>{</a:t>
            </a:r>
          </a:p>
          <a:p>
            <a:pPr marL="0" indent="0">
              <a:buNone/>
            </a:pPr>
            <a:r>
              <a:rPr lang="en-US" b="1" dirty="0"/>
              <a:t> </a:t>
            </a:r>
            <a:r>
              <a:rPr lang="en-US" b="1" dirty="0" err="1" smtClean="0"/>
              <a:t>int</a:t>
            </a:r>
            <a:r>
              <a:rPr lang="en-US" b="1" dirty="0" smtClean="0"/>
              <a:t> a[10][10];</a:t>
            </a:r>
          </a:p>
          <a:p>
            <a:pPr marL="0" indent="0">
              <a:buNone/>
            </a:pPr>
            <a:r>
              <a:rPr lang="en-US" b="1" dirty="0" smtClean="0"/>
              <a:t>float b;</a:t>
            </a:r>
            <a:endParaRPr lang="en-US" b="1" dirty="0"/>
          </a:p>
          <a:p>
            <a:pPr marL="0" indent="0">
              <a:buNone/>
            </a:pPr>
            <a:r>
              <a:rPr lang="en-US" b="1" dirty="0"/>
              <a:t>  </a:t>
            </a:r>
            <a:r>
              <a:rPr lang="en-US" b="1" dirty="0" smtClean="0"/>
              <a:t>}y;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15612887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1910</TotalTime>
  <Words>761</Words>
  <Application>Microsoft Office PowerPoint</Application>
  <PresentationFormat>On-screen Show (4:3)</PresentationFormat>
  <Paragraphs>217</Paragraphs>
  <Slides>22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3" baseType="lpstr">
      <vt:lpstr>Office Theme</vt:lpstr>
      <vt:lpstr>STRUCTURE IN C</vt:lpstr>
      <vt:lpstr>INTRODUCTION</vt:lpstr>
      <vt:lpstr>WHAT IS STRUCTURE?</vt:lpstr>
      <vt:lpstr>STRUCTURE DEFINITION</vt:lpstr>
      <vt:lpstr>STRUCTURE EXPLANATION</vt:lpstr>
      <vt:lpstr>Syntax to Define a Structure in C </vt:lpstr>
      <vt:lpstr>Description of the Syntax </vt:lpstr>
      <vt:lpstr>Example</vt:lpstr>
      <vt:lpstr>Example-memory representation</vt:lpstr>
      <vt:lpstr>Declaring structure variable </vt:lpstr>
      <vt:lpstr>Declaring structure variable </vt:lpstr>
      <vt:lpstr>Declaring structure variable </vt:lpstr>
      <vt:lpstr>Accessing members of the structure </vt:lpstr>
      <vt:lpstr>Example</vt:lpstr>
      <vt:lpstr>STRUCTURE POINTERS</vt:lpstr>
      <vt:lpstr>STRUCTURE POINTERS</vt:lpstr>
      <vt:lpstr>STRUCTURE ASSIGNMENT</vt:lpstr>
      <vt:lpstr>ARRAY OF STRUCTURES</vt:lpstr>
      <vt:lpstr>ARRAY OF STRUCTURES</vt:lpstr>
      <vt:lpstr>PASSING STRUCTURES TO FUNCTIONS</vt:lpstr>
      <vt:lpstr>STRUCTURES WITHIN STRUCTURES</vt:lpstr>
      <vt:lpstr>ARRAYS WITHIN STRUCTURES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Admin</cp:lastModifiedBy>
  <cp:revision>25</cp:revision>
  <dcterms:created xsi:type="dcterms:W3CDTF">2022-04-01T09:08:35Z</dcterms:created>
  <dcterms:modified xsi:type="dcterms:W3CDTF">2023-04-05T02:59:04Z</dcterms:modified>
</cp:coreProperties>
</file>