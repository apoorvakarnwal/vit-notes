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78" r:id="rId3"/>
    <p:sldId id="315" r:id="rId4"/>
    <p:sldId id="314" r:id="rId5"/>
    <p:sldId id="276" r:id="rId6"/>
    <p:sldId id="282" r:id="rId7"/>
    <p:sldId id="284" r:id="rId8"/>
    <p:sldId id="285" r:id="rId9"/>
    <p:sldId id="286" r:id="rId10"/>
    <p:sldId id="320" r:id="rId11"/>
    <p:sldId id="321" r:id="rId12"/>
    <p:sldId id="312" r:id="rId13"/>
    <p:sldId id="316" r:id="rId14"/>
    <p:sldId id="317" r:id="rId15"/>
    <p:sldId id="318" r:id="rId16"/>
    <p:sldId id="32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34163-826A-481A-82DD-08D3E1E64021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57856-0ED4-4FBD-8808-BF90B3967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087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57856-0ED4-4FBD-8808-BF90B3967A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21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57856-0ED4-4FBD-8808-BF90B3967A6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4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57856-0ED4-4FBD-8808-BF90B3967A6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072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57856-0ED4-4FBD-8808-BF90B3967A6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0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722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40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01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235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4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5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55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21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4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02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20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48A496-B1E4-465D-ADEA-1025FED3CA98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4258D4F-1322-4B2F-A746-B4730A100F4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69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EB1836F0-F9E0-4D93-9BDD-7EEC6EA05F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8156C-FB1F-4133-92D4-B24D57FDE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IN" dirty="0"/>
              <a:t>Introduction to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979DC-8EEC-43EF-8CF2-455DEBDAA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455621"/>
            <a:ext cx="6269347" cy="1238616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Module </a:t>
            </a:r>
            <a:r>
              <a:rPr lang="en-IN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 part 4: BST operations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6" name="Picture 2" descr="Tree in Kotlin | Data Structures">
            <a:extLst>
              <a:ext uri="{FF2B5EF4-FFF2-40B4-BE49-F238E27FC236}">
                <a16:creationId xmlns:a16="http://schemas.microsoft.com/office/drawing/2014/main" id="{CFF5FC12-4237-4CD0-BCCA-494DF3F4F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207596"/>
            <a:ext cx="4001315" cy="391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A49EFD3-A806-4D59-99F1-AA9AFAE4E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6D2F28D1-82F9-40FE-935C-85ECF7660D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B670E93-2F53-48FC-AB6C-E99E22D17F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5879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E1D9-2D0C-410A-8E7F-DA4DE989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38" y="31734"/>
            <a:ext cx="1154726" cy="893298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0C562-12F6-4DBB-A0C9-BC72BE033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464" y="214284"/>
            <a:ext cx="10636572" cy="1195895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Definition: </a:t>
            </a:r>
            <a:r>
              <a:rPr lang="en-IN" sz="2400" dirty="0"/>
              <a:t>A tree T is called as a </a:t>
            </a:r>
            <a:r>
              <a:rPr lang="en-IN" sz="2400" dirty="0">
                <a:solidFill>
                  <a:srgbClr val="FF0000"/>
                </a:solidFill>
              </a:rPr>
              <a:t>Binary Search Tree</a:t>
            </a:r>
            <a:r>
              <a:rPr lang="en-IN" sz="2400" dirty="0"/>
              <a:t> if each node N of T has the following property, The value at N is greater than every value in the left subtree of N and is less than every value in the right subtree of N</a:t>
            </a:r>
            <a:r>
              <a:rPr lang="en-IN" sz="2400" dirty="0" smtClean="0"/>
              <a:t>.</a:t>
            </a:r>
            <a:endParaRPr lang="en-IN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DBDA2E-0376-43E0-A891-2E15E345338C}"/>
              </a:ext>
            </a:extLst>
          </p:cNvPr>
          <p:cNvGrpSpPr/>
          <p:nvPr/>
        </p:nvGrpSpPr>
        <p:grpSpPr>
          <a:xfrm>
            <a:off x="4925056" y="2538515"/>
            <a:ext cx="3543695" cy="2876370"/>
            <a:chOff x="6509523" y="2425973"/>
            <a:chExt cx="4569552" cy="287637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CD41351-88D0-428A-85E9-5B7C904A705E}"/>
                </a:ext>
              </a:extLst>
            </p:cNvPr>
            <p:cNvSpPr/>
            <p:nvPr/>
          </p:nvSpPr>
          <p:spPr>
            <a:xfrm>
              <a:off x="8510954" y="3203809"/>
              <a:ext cx="759656" cy="585091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2BE609B7-E15B-4BBD-9CB8-B3E8D52EABCE}"/>
                </a:ext>
              </a:extLst>
            </p:cNvPr>
            <p:cNvSpPr/>
            <p:nvPr/>
          </p:nvSpPr>
          <p:spPr>
            <a:xfrm>
              <a:off x="6509523" y="4590679"/>
              <a:ext cx="1509918" cy="711664"/>
            </a:xfrm>
            <a:prstGeom prst="triangl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BST</a:t>
              </a:r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C06D55A-6728-4B91-AADC-D3BDAAC7A62C}"/>
                </a:ext>
              </a:extLst>
            </p:cNvPr>
            <p:cNvSpPr/>
            <p:nvPr/>
          </p:nvSpPr>
          <p:spPr>
            <a:xfrm>
              <a:off x="9700425" y="4560198"/>
              <a:ext cx="1378650" cy="711664"/>
            </a:xfrm>
            <a:prstGeom prst="triangl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BST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1AFB5F4-901E-4E33-BFB9-743948259189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7264482" y="3496355"/>
              <a:ext cx="1246472" cy="10943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810AA9F-025A-4DB1-A7FC-3F38A5CAF82A}"/>
                </a:ext>
              </a:extLst>
            </p:cNvPr>
            <p:cNvCxnSpPr>
              <a:cxnSpLocks/>
              <a:stCxn id="5" idx="6"/>
              <a:endCxn id="8" idx="0"/>
            </p:cNvCxnSpPr>
            <p:nvPr/>
          </p:nvCxnSpPr>
          <p:spPr>
            <a:xfrm>
              <a:off x="9270609" y="3496355"/>
              <a:ext cx="1119141" cy="10638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433230B-E731-4520-B727-B882F7F6AA30}"/>
                </a:ext>
              </a:extLst>
            </p:cNvPr>
            <p:cNvCxnSpPr>
              <a:cxnSpLocks/>
            </p:cNvCxnSpPr>
            <p:nvPr/>
          </p:nvCxnSpPr>
          <p:spPr>
            <a:xfrm>
              <a:off x="8783223" y="2708914"/>
              <a:ext cx="150188" cy="4950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87872C-FDDE-4485-AA2E-EC72B4BD5052}"/>
                </a:ext>
              </a:extLst>
            </p:cNvPr>
            <p:cNvSpPr txBox="1"/>
            <p:nvPr/>
          </p:nvSpPr>
          <p:spPr>
            <a:xfrm>
              <a:off x="7571378" y="2425973"/>
              <a:ext cx="8024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dirty="0"/>
                <a:t>root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87126A0-F486-4701-BCD2-3CA657F29FFE}"/>
              </a:ext>
            </a:extLst>
          </p:cNvPr>
          <p:cNvSpPr txBox="1"/>
          <p:nvPr/>
        </p:nvSpPr>
        <p:spPr>
          <a:xfrm>
            <a:off x="4676996" y="5345874"/>
            <a:ext cx="19641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Left-subtree</a:t>
            </a:r>
          </a:p>
          <a:p>
            <a:r>
              <a:rPr lang="en-IN" sz="2800" dirty="0">
                <a:highlight>
                  <a:srgbClr val="FFFF00"/>
                </a:highlight>
              </a:rPr>
              <a:t>(Lesser)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B78DD4-C76B-46F5-9F83-98DB5E832477}"/>
              </a:ext>
            </a:extLst>
          </p:cNvPr>
          <p:cNvSpPr txBox="1"/>
          <p:nvPr/>
        </p:nvSpPr>
        <p:spPr>
          <a:xfrm>
            <a:off x="7136497" y="5301325"/>
            <a:ext cx="21611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Right-subtree</a:t>
            </a:r>
          </a:p>
          <a:p>
            <a:r>
              <a:rPr lang="en-IN" sz="2800" dirty="0">
                <a:highlight>
                  <a:srgbClr val="FFFF00"/>
                </a:highlight>
              </a:rPr>
              <a:t>(Greater)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048F56-CD30-496A-8BD8-D26652490467}"/>
              </a:ext>
            </a:extLst>
          </p:cNvPr>
          <p:cNvSpPr/>
          <p:nvPr/>
        </p:nvSpPr>
        <p:spPr>
          <a:xfrm>
            <a:off x="2147209" y="3312632"/>
            <a:ext cx="715601" cy="4149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59D4C3-2B9A-4C93-AD88-17A23A69876C}"/>
              </a:ext>
            </a:extLst>
          </p:cNvPr>
          <p:cNvCxnSpPr>
            <a:cxnSpLocks/>
            <a:stCxn id="20" idx="3"/>
          </p:cNvCxnSpPr>
          <p:nvPr/>
        </p:nvCxnSpPr>
        <p:spPr>
          <a:xfrm flipH="1">
            <a:off x="1571626" y="3666854"/>
            <a:ext cx="680380" cy="5015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03E4A5-4962-4A92-8C27-0D371D567EC3}"/>
              </a:ext>
            </a:extLst>
          </p:cNvPr>
          <p:cNvCxnSpPr>
            <a:cxnSpLocks/>
            <a:stCxn id="20" idx="5"/>
          </p:cNvCxnSpPr>
          <p:nvPr/>
        </p:nvCxnSpPr>
        <p:spPr>
          <a:xfrm>
            <a:off x="2758013" y="3666854"/>
            <a:ext cx="486162" cy="501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4B268FB-68E3-43FD-9AE6-8E37848392E1}"/>
              </a:ext>
            </a:extLst>
          </p:cNvPr>
          <p:cNvCxnSpPr>
            <a:cxnSpLocks/>
          </p:cNvCxnSpPr>
          <p:nvPr/>
        </p:nvCxnSpPr>
        <p:spPr>
          <a:xfrm flipH="1">
            <a:off x="626944" y="4522638"/>
            <a:ext cx="758520" cy="602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6480F6C-7E89-4870-A62B-B5CFCB8AD9D4}"/>
              </a:ext>
            </a:extLst>
          </p:cNvPr>
          <p:cNvCxnSpPr>
            <a:cxnSpLocks/>
          </p:cNvCxnSpPr>
          <p:nvPr/>
        </p:nvCxnSpPr>
        <p:spPr>
          <a:xfrm flipH="1">
            <a:off x="2980903" y="4583412"/>
            <a:ext cx="263271" cy="5416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8BFAFB0-7956-4582-B712-23872F2E6D21}"/>
              </a:ext>
            </a:extLst>
          </p:cNvPr>
          <p:cNvCxnSpPr>
            <a:cxnSpLocks/>
          </p:cNvCxnSpPr>
          <p:nvPr/>
        </p:nvCxnSpPr>
        <p:spPr>
          <a:xfrm>
            <a:off x="1757785" y="4522638"/>
            <a:ext cx="420397" cy="6023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83AEC2B-490A-4F8F-B61F-BF61A99FC598}"/>
              </a:ext>
            </a:extLst>
          </p:cNvPr>
          <p:cNvCxnSpPr>
            <a:cxnSpLocks/>
            <a:stCxn id="39" idx="5"/>
          </p:cNvCxnSpPr>
          <p:nvPr/>
        </p:nvCxnSpPr>
        <p:spPr>
          <a:xfrm>
            <a:off x="3620307" y="4506223"/>
            <a:ext cx="637607" cy="675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5B3C35B-5FC3-4251-A3EF-85E91BD662EA}"/>
              </a:ext>
            </a:extLst>
          </p:cNvPr>
          <p:cNvSpPr/>
          <p:nvPr/>
        </p:nvSpPr>
        <p:spPr>
          <a:xfrm>
            <a:off x="1218010" y="4140285"/>
            <a:ext cx="616888" cy="4149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A771F94-40B7-4080-91BA-A0458A2E15E1}"/>
              </a:ext>
            </a:extLst>
          </p:cNvPr>
          <p:cNvSpPr/>
          <p:nvPr/>
        </p:nvSpPr>
        <p:spPr>
          <a:xfrm>
            <a:off x="2671176" y="5110952"/>
            <a:ext cx="615538" cy="4149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66C1E9A-CD08-4F1A-AC93-4A3940941960}"/>
              </a:ext>
            </a:extLst>
          </p:cNvPr>
          <p:cNvSpPr/>
          <p:nvPr/>
        </p:nvSpPr>
        <p:spPr>
          <a:xfrm>
            <a:off x="3994702" y="5181287"/>
            <a:ext cx="596805" cy="4149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7595BB0-AC7C-48BB-A8C1-A151CB9D6D6F}"/>
              </a:ext>
            </a:extLst>
          </p:cNvPr>
          <p:cNvSpPr/>
          <p:nvPr/>
        </p:nvSpPr>
        <p:spPr>
          <a:xfrm>
            <a:off x="250538" y="5125019"/>
            <a:ext cx="526543" cy="4149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4DA3E99-09D1-4035-A932-339663C7BD56}"/>
              </a:ext>
            </a:extLst>
          </p:cNvPr>
          <p:cNvSpPr/>
          <p:nvPr/>
        </p:nvSpPr>
        <p:spPr>
          <a:xfrm>
            <a:off x="1757786" y="5136751"/>
            <a:ext cx="663020" cy="4149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DB7A258-3008-4235-A423-7825D49461B9}"/>
              </a:ext>
            </a:extLst>
          </p:cNvPr>
          <p:cNvSpPr/>
          <p:nvPr/>
        </p:nvSpPr>
        <p:spPr>
          <a:xfrm>
            <a:off x="3071249" y="4152001"/>
            <a:ext cx="643262" cy="4149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05F06B-796A-48E2-9658-16FB34F29D1D}"/>
              </a:ext>
            </a:extLst>
          </p:cNvPr>
          <p:cNvSpPr txBox="1"/>
          <p:nvPr/>
        </p:nvSpPr>
        <p:spPr>
          <a:xfrm>
            <a:off x="1652480" y="2508035"/>
            <a:ext cx="622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root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0FDC129-71C6-45E5-857E-4BF83AC923CB}"/>
              </a:ext>
            </a:extLst>
          </p:cNvPr>
          <p:cNvCxnSpPr>
            <a:cxnSpLocks/>
          </p:cNvCxnSpPr>
          <p:nvPr/>
        </p:nvCxnSpPr>
        <p:spPr>
          <a:xfrm>
            <a:off x="2029560" y="2973856"/>
            <a:ext cx="116471" cy="495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64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B9F5-7C3A-4658-8700-F2986435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Construct a BST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F2E11-2068-438B-89CF-E31B6C8DE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16112"/>
          </a:xfrm>
        </p:spPr>
        <p:txBody>
          <a:bodyPr>
            <a:normAutofit/>
          </a:bodyPr>
          <a:lstStyle/>
          <a:p>
            <a:r>
              <a:rPr lang="en-IN" sz="3600" dirty="0"/>
              <a:t>10, 12, 5, 4, 20, 8, 7, 15, 13 </a:t>
            </a:r>
          </a:p>
        </p:txBody>
      </p:sp>
    </p:spTree>
    <p:extLst>
      <p:ext uri="{BB962C8B-B14F-4D97-AF65-F5344CB8AC3E}">
        <p14:creationId xmlns:p14="http://schemas.microsoft.com/office/powerpoint/2010/main" val="1836260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AE819-F1FD-4C03-9921-7702CA36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7395" y="24734"/>
            <a:ext cx="1831565" cy="4332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BST Example</a:t>
            </a:r>
          </a:p>
        </p:txBody>
      </p:sp>
      <p:pic>
        <p:nvPicPr>
          <p:cNvPr id="1026" name="Picture 2" descr="binary search tree construction">
            <a:extLst>
              <a:ext uri="{FF2B5EF4-FFF2-40B4-BE49-F238E27FC236}">
                <a16:creationId xmlns:a16="http://schemas.microsoft.com/office/drawing/2014/main" id="{120B9EB8-D368-405C-B8BD-1F123BEB3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599" y="305980"/>
            <a:ext cx="10068951" cy="568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Rectangle 80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5" name="Rectangle 82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1466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F498-7267-447C-8883-8FAB27B0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 200 and 125 in the following tree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01CE86-6BD6-467F-B1A4-7D0AB1F2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81" y="2161075"/>
            <a:ext cx="7248453" cy="371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36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B120-4AA7-4182-9ABD-A5DE5C66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08454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Binary Search Tree Implementation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7656624" y="2009099"/>
            <a:ext cx="4160402" cy="2293326"/>
            <a:chOff x="7551677" y="2130948"/>
            <a:chExt cx="4160402" cy="229332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005A0FC-1909-4F91-B1D6-C3ECB5A165A3}"/>
                </a:ext>
              </a:extLst>
            </p:cNvPr>
            <p:cNvSpPr/>
            <p:nvPr/>
          </p:nvSpPr>
          <p:spPr>
            <a:xfrm>
              <a:off x="9294052" y="2130948"/>
              <a:ext cx="680840" cy="4149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16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D2ACC8A-AACF-457B-AC20-4F62DD74F4EB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H="1">
              <a:off x="8872765" y="2485170"/>
              <a:ext cx="520994" cy="5015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B3AC45F-9AD2-45DB-98EC-34FC1ED7EE31}"/>
                </a:ext>
              </a:extLst>
            </p:cNvPr>
            <p:cNvCxnSpPr>
              <a:cxnSpLocks/>
              <a:stCxn id="10" idx="5"/>
            </p:cNvCxnSpPr>
            <p:nvPr/>
          </p:nvCxnSpPr>
          <p:spPr>
            <a:xfrm>
              <a:off x="9875185" y="2485170"/>
              <a:ext cx="670129" cy="5015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624B41C-0370-4F41-97E3-A1F00DF53E39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 flipH="1">
              <a:off x="7928084" y="3312823"/>
              <a:ext cx="623498" cy="6305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4896629-66C1-4E35-8BA9-EC35DFBD5A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9414" y="3357275"/>
              <a:ext cx="263271" cy="5416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B82381A-24A9-460D-AFED-39CFC554B55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277" y="3381852"/>
              <a:ext cx="420397" cy="6023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5486856-CCA3-470A-AD36-3F1F47849D22}"/>
                </a:ext>
              </a:extLst>
            </p:cNvPr>
            <p:cNvCxnSpPr>
              <a:cxnSpLocks/>
              <a:stCxn id="40" idx="5"/>
              <a:endCxn id="24" idx="1"/>
            </p:cNvCxnSpPr>
            <p:nvPr/>
          </p:nvCxnSpPr>
          <p:spPr>
            <a:xfrm>
              <a:off x="10800793" y="3324539"/>
              <a:ext cx="389143" cy="7455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9BD0CCB-F057-4BEA-9214-344F02D3CE01}"/>
                </a:ext>
              </a:extLst>
            </p:cNvPr>
            <p:cNvSpPr/>
            <p:nvPr/>
          </p:nvSpPr>
          <p:spPr>
            <a:xfrm>
              <a:off x="8451305" y="2958601"/>
              <a:ext cx="684732" cy="4149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D995AB9-9797-4E41-BFFE-F4947135BDC2}"/>
                </a:ext>
              </a:extLst>
            </p:cNvPr>
            <p:cNvSpPr/>
            <p:nvPr/>
          </p:nvSpPr>
          <p:spPr>
            <a:xfrm>
              <a:off x="9887129" y="3929268"/>
              <a:ext cx="611730" cy="4149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D4FFF3B-B71D-4307-9ACC-89F4F0D5C61E}"/>
                </a:ext>
              </a:extLst>
            </p:cNvPr>
            <p:cNvSpPr/>
            <p:nvPr/>
          </p:nvSpPr>
          <p:spPr>
            <a:xfrm>
              <a:off x="11100350" y="4009277"/>
              <a:ext cx="611729" cy="4149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523F572-A359-46E8-8D46-E57389270405}"/>
                </a:ext>
              </a:extLst>
            </p:cNvPr>
            <p:cNvSpPr/>
            <p:nvPr/>
          </p:nvSpPr>
          <p:spPr>
            <a:xfrm>
              <a:off x="7551677" y="3943335"/>
              <a:ext cx="526543" cy="4149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AE10796-0EE6-45BA-B59E-75D2391F6C0D}"/>
                </a:ext>
              </a:extLst>
            </p:cNvPr>
            <p:cNvSpPr/>
            <p:nvPr/>
          </p:nvSpPr>
          <p:spPr>
            <a:xfrm>
              <a:off x="9105071" y="3955067"/>
              <a:ext cx="616873" cy="4149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BE6FF5C-972A-4B7A-B2E5-F9C1227BAD68}"/>
                </a:ext>
              </a:extLst>
            </p:cNvPr>
            <p:cNvSpPr/>
            <p:nvPr/>
          </p:nvSpPr>
          <p:spPr>
            <a:xfrm>
              <a:off x="10228803" y="2970317"/>
              <a:ext cx="670128" cy="4149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19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E4E4C65-BEBF-47DF-B7C0-D9D08E2F3DED}"/>
              </a:ext>
            </a:extLst>
          </p:cNvPr>
          <p:cNvSpPr txBox="1"/>
          <p:nvPr/>
        </p:nvSpPr>
        <p:spPr>
          <a:xfrm>
            <a:off x="1746064" y="5576177"/>
            <a:ext cx="4712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Linked representation of Binary tree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E505C2-1F77-4638-B8F5-0826BFD31061}"/>
              </a:ext>
            </a:extLst>
          </p:cNvPr>
          <p:cNvGrpSpPr/>
          <p:nvPr/>
        </p:nvGrpSpPr>
        <p:grpSpPr>
          <a:xfrm>
            <a:off x="235457" y="3500530"/>
            <a:ext cx="7114707" cy="2015859"/>
            <a:chOff x="-510578" y="1847542"/>
            <a:chExt cx="7114707" cy="20158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CBEA6D1-48CC-4378-9853-E5A7128556B4}"/>
                </a:ext>
              </a:extLst>
            </p:cNvPr>
            <p:cNvGrpSpPr/>
            <p:nvPr/>
          </p:nvGrpSpPr>
          <p:grpSpPr>
            <a:xfrm>
              <a:off x="2431368" y="1847542"/>
              <a:ext cx="1455012" cy="464013"/>
              <a:chOff x="2431368" y="1847542"/>
              <a:chExt cx="1455012" cy="46401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3DB2F00-01BD-4C19-889E-DD4DB380E151}"/>
                  </a:ext>
                </a:extLst>
              </p:cNvPr>
              <p:cNvSpPr/>
              <p:nvPr/>
            </p:nvSpPr>
            <p:spPr>
              <a:xfrm>
                <a:off x="2897949" y="1849890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rgbClr val="FF0000"/>
                    </a:solidFill>
                  </a:rPr>
                  <a:t>16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1B3E72A-14CB-4741-B9E0-851876DFC9E6}"/>
                  </a:ext>
                </a:extLst>
              </p:cNvPr>
              <p:cNvSpPr/>
              <p:nvPr/>
            </p:nvSpPr>
            <p:spPr>
              <a:xfrm>
                <a:off x="3359837" y="1847544"/>
                <a:ext cx="526543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0600D52-4BEB-45B1-8497-999E7ACAF0F6}"/>
                  </a:ext>
                </a:extLst>
              </p:cNvPr>
              <p:cNvSpPr/>
              <p:nvPr/>
            </p:nvSpPr>
            <p:spPr>
              <a:xfrm>
                <a:off x="2431368" y="1847542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7C4E05A-3650-4FB3-B333-30AA9661DCAE}"/>
                </a:ext>
              </a:extLst>
            </p:cNvPr>
            <p:cNvGrpSpPr/>
            <p:nvPr/>
          </p:nvGrpSpPr>
          <p:grpSpPr>
            <a:xfrm>
              <a:off x="537476" y="2570674"/>
              <a:ext cx="1455012" cy="464013"/>
              <a:chOff x="2431368" y="1847542"/>
              <a:chExt cx="1455012" cy="464013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4B86B5F-33C2-4F49-B843-F1E61AB43123}"/>
                  </a:ext>
                </a:extLst>
              </p:cNvPr>
              <p:cNvSpPr/>
              <p:nvPr/>
            </p:nvSpPr>
            <p:spPr>
              <a:xfrm>
                <a:off x="2897949" y="1849890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rgbClr val="FF0000"/>
                    </a:solidFill>
                  </a:rPr>
                  <a:t>9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83A12DF9-3B52-47FF-9780-E93BCE58547C}"/>
                  </a:ext>
                </a:extLst>
              </p:cNvPr>
              <p:cNvSpPr/>
              <p:nvPr/>
            </p:nvSpPr>
            <p:spPr>
              <a:xfrm>
                <a:off x="3359837" y="1847544"/>
                <a:ext cx="526543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2B8FBF8A-8A66-4DF6-990C-79565DF617ED}"/>
                  </a:ext>
                </a:extLst>
              </p:cNvPr>
              <p:cNvSpPr/>
              <p:nvPr/>
            </p:nvSpPr>
            <p:spPr>
              <a:xfrm>
                <a:off x="2431368" y="1847542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A68A04C-2D54-4DBE-97C5-A9D8C886F972}"/>
                </a:ext>
              </a:extLst>
            </p:cNvPr>
            <p:cNvGrpSpPr/>
            <p:nvPr/>
          </p:nvGrpSpPr>
          <p:grpSpPr>
            <a:xfrm>
              <a:off x="4277140" y="2582397"/>
              <a:ext cx="1455012" cy="464013"/>
              <a:chOff x="2431368" y="1847542"/>
              <a:chExt cx="1455012" cy="46401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40001F4F-DAC7-44F2-BE10-5AB1CBBD58B7}"/>
                  </a:ext>
                </a:extLst>
              </p:cNvPr>
              <p:cNvSpPr/>
              <p:nvPr/>
            </p:nvSpPr>
            <p:spPr>
              <a:xfrm>
                <a:off x="2897949" y="1849890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rgbClr val="FF0000"/>
                    </a:solidFill>
                  </a:rPr>
                  <a:t>19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5AA846E-B3F6-4C0D-A4CF-0FB35400145E}"/>
                  </a:ext>
                </a:extLst>
              </p:cNvPr>
              <p:cNvSpPr/>
              <p:nvPr/>
            </p:nvSpPr>
            <p:spPr>
              <a:xfrm>
                <a:off x="3359837" y="1847544"/>
                <a:ext cx="526543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9600417-D9F1-4630-9E2E-41828859403A}"/>
                  </a:ext>
                </a:extLst>
              </p:cNvPr>
              <p:cNvSpPr/>
              <p:nvPr/>
            </p:nvSpPr>
            <p:spPr>
              <a:xfrm>
                <a:off x="2431368" y="1847542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01A710B-6B97-401A-B86A-AF882376E445}"/>
                </a:ext>
              </a:extLst>
            </p:cNvPr>
            <p:cNvGrpSpPr/>
            <p:nvPr/>
          </p:nvGrpSpPr>
          <p:grpSpPr>
            <a:xfrm>
              <a:off x="-510578" y="3388298"/>
              <a:ext cx="1455012" cy="464013"/>
              <a:chOff x="1821759" y="1584299"/>
              <a:chExt cx="1455012" cy="464013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CA532717-DE12-43FD-A639-68FDEB7B1D0C}"/>
                  </a:ext>
                </a:extLst>
              </p:cNvPr>
              <p:cNvSpPr/>
              <p:nvPr/>
            </p:nvSpPr>
            <p:spPr>
              <a:xfrm>
                <a:off x="2288340" y="1586647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rgbClr val="FF0000"/>
                    </a:solidFill>
                  </a:rPr>
                  <a:t>8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808BDEA-8EDB-434B-A53E-2EE870B7D8B1}"/>
                  </a:ext>
                </a:extLst>
              </p:cNvPr>
              <p:cNvSpPr/>
              <p:nvPr/>
            </p:nvSpPr>
            <p:spPr>
              <a:xfrm>
                <a:off x="2750228" y="1584301"/>
                <a:ext cx="526543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0BE34907-23EF-4916-83D4-5DED03437293}"/>
                  </a:ext>
                </a:extLst>
              </p:cNvPr>
              <p:cNvSpPr/>
              <p:nvPr/>
            </p:nvSpPr>
            <p:spPr>
              <a:xfrm>
                <a:off x="1821759" y="1584299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7ACEC3C-DB4D-4015-8669-9C87F907A03E}"/>
                </a:ext>
              </a:extLst>
            </p:cNvPr>
            <p:cNvGrpSpPr/>
            <p:nvPr/>
          </p:nvGrpSpPr>
          <p:grpSpPr>
            <a:xfrm>
              <a:off x="1578907" y="3397042"/>
              <a:ext cx="1455012" cy="466359"/>
              <a:chOff x="2098856" y="1623524"/>
              <a:chExt cx="1455012" cy="466359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29A1E1A-5EB4-483D-A4F8-A80D807CDA17}"/>
                  </a:ext>
                </a:extLst>
              </p:cNvPr>
              <p:cNvSpPr/>
              <p:nvPr/>
            </p:nvSpPr>
            <p:spPr>
              <a:xfrm>
                <a:off x="2565437" y="1623524"/>
                <a:ext cx="461892" cy="4663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rgbClr val="FF0000"/>
                    </a:solidFill>
                  </a:rPr>
                  <a:t>11</a:t>
                </a: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29393B2-F2B5-4EBF-95B5-D3C60FA55EBD}"/>
                  </a:ext>
                </a:extLst>
              </p:cNvPr>
              <p:cNvSpPr/>
              <p:nvPr/>
            </p:nvSpPr>
            <p:spPr>
              <a:xfrm>
                <a:off x="3027325" y="1625872"/>
                <a:ext cx="526543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7BAAE5F-29E8-4AF2-8CB5-A7873A8FDC02}"/>
                  </a:ext>
                </a:extLst>
              </p:cNvPr>
              <p:cNvSpPr/>
              <p:nvPr/>
            </p:nvSpPr>
            <p:spPr>
              <a:xfrm>
                <a:off x="2098856" y="1625870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0F3DAF3-73B4-4F90-9365-878A6C2171A4}"/>
                </a:ext>
              </a:extLst>
            </p:cNvPr>
            <p:cNvGrpSpPr/>
            <p:nvPr/>
          </p:nvGrpSpPr>
          <p:grpSpPr>
            <a:xfrm>
              <a:off x="3295711" y="3383558"/>
              <a:ext cx="1455012" cy="464013"/>
              <a:chOff x="2209689" y="1598157"/>
              <a:chExt cx="1455012" cy="464013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47228A2-6A6E-4864-A1D2-17EF32DC5974}"/>
                  </a:ext>
                </a:extLst>
              </p:cNvPr>
              <p:cNvSpPr/>
              <p:nvPr/>
            </p:nvSpPr>
            <p:spPr>
              <a:xfrm>
                <a:off x="2676270" y="1600505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rgbClr val="FF0000"/>
                    </a:solidFill>
                  </a:rPr>
                  <a:t>18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5DBA7B26-6E57-4C1E-923A-52A30BF7670C}"/>
                  </a:ext>
                </a:extLst>
              </p:cNvPr>
              <p:cNvSpPr/>
              <p:nvPr/>
            </p:nvSpPr>
            <p:spPr>
              <a:xfrm>
                <a:off x="3138158" y="1598159"/>
                <a:ext cx="526543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3DC5C60-D2EC-4612-9BA0-4FF129F39DE1}"/>
                  </a:ext>
                </a:extLst>
              </p:cNvPr>
              <p:cNvSpPr/>
              <p:nvPr/>
            </p:nvSpPr>
            <p:spPr>
              <a:xfrm>
                <a:off x="2209689" y="1598157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B949259-A26D-4BD6-88B3-00C568D509E7}"/>
                </a:ext>
              </a:extLst>
            </p:cNvPr>
            <p:cNvGrpSpPr/>
            <p:nvPr/>
          </p:nvGrpSpPr>
          <p:grpSpPr>
            <a:xfrm>
              <a:off x="5149117" y="3357821"/>
              <a:ext cx="1455012" cy="464013"/>
              <a:chOff x="2292818" y="1584303"/>
              <a:chExt cx="1455012" cy="464013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1521F049-7629-4C96-8078-2A74BA9BA43A}"/>
                  </a:ext>
                </a:extLst>
              </p:cNvPr>
              <p:cNvSpPr/>
              <p:nvPr/>
            </p:nvSpPr>
            <p:spPr>
              <a:xfrm>
                <a:off x="2759399" y="1584303"/>
                <a:ext cx="461892" cy="4640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rgbClr val="FF0000"/>
                    </a:solidFill>
                  </a:rPr>
                  <a:t>20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B4C478C0-610C-4837-BA05-38F6F028B457}"/>
                  </a:ext>
                </a:extLst>
              </p:cNvPr>
              <p:cNvSpPr/>
              <p:nvPr/>
            </p:nvSpPr>
            <p:spPr>
              <a:xfrm>
                <a:off x="3221287" y="1584305"/>
                <a:ext cx="526543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23E567BF-B85D-4FE6-A86D-E8583A9EEB86}"/>
                  </a:ext>
                </a:extLst>
              </p:cNvPr>
              <p:cNvSpPr/>
              <p:nvPr/>
            </p:nvSpPr>
            <p:spPr>
              <a:xfrm>
                <a:off x="2292818" y="1584303"/>
                <a:ext cx="46189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F99800E-6955-4EA0-9716-3168164B521C}"/>
                </a:ext>
              </a:extLst>
            </p:cNvPr>
            <p:cNvCxnSpPr>
              <a:cxnSpLocks/>
              <a:stCxn id="47" idx="2"/>
              <a:endCxn id="65" idx="0"/>
            </p:cNvCxnSpPr>
            <p:nvPr/>
          </p:nvCxnSpPr>
          <p:spPr>
            <a:xfrm flipH="1">
              <a:off x="1235003" y="2309207"/>
              <a:ext cx="1427311" cy="2638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3CD81062-194B-4D1B-B50A-10807EE52DE3}"/>
                </a:ext>
              </a:extLst>
            </p:cNvPr>
            <p:cNvCxnSpPr>
              <a:cxnSpLocks/>
              <a:stCxn id="46" idx="2"/>
              <a:endCxn id="69" idx="0"/>
            </p:cNvCxnSpPr>
            <p:nvPr/>
          </p:nvCxnSpPr>
          <p:spPr>
            <a:xfrm>
              <a:off x="3623109" y="2309209"/>
              <a:ext cx="1351558" cy="2755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9EED8537-9428-45D8-94AA-FCC05EF7F7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881" y="3051051"/>
              <a:ext cx="533713" cy="3310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04287E0-DDAA-411F-A1F8-F6CC73C6DA86}"/>
                </a:ext>
              </a:extLst>
            </p:cNvPr>
            <p:cNvCxnSpPr>
              <a:cxnSpLocks/>
              <a:stCxn id="66" idx="2"/>
              <a:endCxn id="81" idx="0"/>
            </p:cNvCxnSpPr>
            <p:nvPr/>
          </p:nvCxnSpPr>
          <p:spPr>
            <a:xfrm>
              <a:off x="1729217" y="3032341"/>
              <a:ext cx="547217" cy="3647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79D594D4-5D84-4F17-96F9-720B96C08509}"/>
                </a:ext>
              </a:extLst>
            </p:cNvPr>
            <p:cNvCxnSpPr>
              <a:cxnSpLocks/>
              <a:stCxn id="71" idx="2"/>
              <a:endCxn id="85" idx="0"/>
            </p:cNvCxnSpPr>
            <p:nvPr/>
          </p:nvCxnSpPr>
          <p:spPr>
            <a:xfrm flipH="1">
              <a:off x="3993238" y="3044062"/>
              <a:ext cx="514848" cy="3418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5832B59D-B37D-4867-A63B-BD4E3AF4DA87}"/>
                </a:ext>
              </a:extLst>
            </p:cNvPr>
            <p:cNvCxnSpPr>
              <a:cxnSpLocks/>
              <a:stCxn id="70" idx="2"/>
              <a:endCxn id="89" idx="0"/>
            </p:cNvCxnSpPr>
            <p:nvPr/>
          </p:nvCxnSpPr>
          <p:spPr>
            <a:xfrm>
              <a:off x="5468881" y="3044064"/>
              <a:ext cx="377763" cy="313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611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B9FD-61FB-4EC5-BE29-108EC9832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7" y="185387"/>
            <a:ext cx="7491024" cy="813419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Insertion in BST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8B99E-0754-4CAE-9183-3444E62DE378}"/>
              </a:ext>
            </a:extLst>
          </p:cNvPr>
          <p:cNvSpPr txBox="1"/>
          <p:nvPr/>
        </p:nvSpPr>
        <p:spPr>
          <a:xfrm>
            <a:off x="81410" y="914003"/>
            <a:ext cx="8314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The following Algorithm finds the location of ITEM in BST T or inserts ITEM as a new node in its appropriate place in the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D532A9-4309-4348-97FA-72EFBFCB6626}"/>
              </a:ext>
            </a:extLst>
          </p:cNvPr>
          <p:cNvSpPr txBox="1"/>
          <p:nvPr/>
        </p:nvSpPr>
        <p:spPr>
          <a:xfrm>
            <a:off x="71183" y="1833459"/>
            <a:ext cx="119961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Algorithm </a:t>
            </a:r>
            <a:r>
              <a:rPr lang="en-IN" sz="2400" dirty="0" err="1"/>
              <a:t>Insert_BST</a:t>
            </a:r>
            <a:r>
              <a:rPr lang="en-IN" sz="2400" dirty="0"/>
              <a:t>(Node, ITEM)</a:t>
            </a:r>
          </a:p>
          <a:p>
            <a:pPr algn="l"/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Step 1. </a:t>
            </a:r>
          </a:p>
          <a:p>
            <a:pPr algn="l"/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     </a:t>
            </a:r>
            <a:r>
              <a:rPr lang="en-IN" sz="2400" b="0" i="0" dirty="0" err="1">
                <a:solidFill>
                  <a:srgbClr val="161616"/>
                </a:solidFill>
                <a:effectLst/>
                <a:latin typeface="Open Sans"/>
              </a:rPr>
              <a:t>i</a:t>
            </a:r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) If root == NULL,</a:t>
            </a:r>
          </a:p>
          <a:p>
            <a:pPr algn="l"/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         return the new node to the calling function.</a:t>
            </a:r>
          </a:p>
          <a:p>
            <a:pPr algn="l"/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     ii) if root=&gt;data &lt; ITEM</a:t>
            </a:r>
          </a:p>
          <a:p>
            <a:pPr algn="l"/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         root-&gt;right = </a:t>
            </a:r>
            <a:r>
              <a:rPr lang="en-IN" sz="2400" b="0" i="0" dirty="0" err="1">
                <a:solidFill>
                  <a:srgbClr val="161616"/>
                </a:solidFill>
                <a:effectLst/>
                <a:latin typeface="Open Sans"/>
              </a:rPr>
              <a:t>insert_BST</a:t>
            </a:r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(root=&gt;right, ITEM</a:t>
            </a:r>
            <a:r>
              <a:rPr lang="en-IN" sz="2400" b="0" i="0" dirty="0" smtClean="0">
                <a:solidFill>
                  <a:srgbClr val="161616"/>
                </a:solidFill>
                <a:effectLst/>
                <a:latin typeface="Open Sans"/>
              </a:rPr>
              <a:t>)</a:t>
            </a:r>
          </a:p>
          <a:p>
            <a:r>
              <a:rPr lang="en-IN" sz="2400" dirty="0">
                <a:solidFill>
                  <a:srgbClr val="161616"/>
                </a:solidFill>
                <a:latin typeface="Open Sans"/>
              </a:rPr>
              <a:t> </a:t>
            </a:r>
            <a:r>
              <a:rPr lang="en-IN" sz="2400" dirty="0" smtClean="0">
                <a:solidFill>
                  <a:srgbClr val="161616"/>
                </a:solidFill>
                <a:latin typeface="Open Sans"/>
              </a:rPr>
              <a:t> //call </a:t>
            </a:r>
            <a:r>
              <a:rPr lang="en-IN" sz="2400" dirty="0">
                <a:solidFill>
                  <a:srgbClr val="161616"/>
                </a:solidFill>
                <a:latin typeface="Open Sans"/>
              </a:rPr>
              <a:t>the insert function with root=&gt;right and assign the return value in root=&gt;right.</a:t>
            </a:r>
          </a:p>
          <a:p>
            <a:pPr algn="l"/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     iii) if root=&gt;data &gt; </a:t>
            </a:r>
            <a:r>
              <a:rPr lang="en-IN" sz="2400" dirty="0">
                <a:solidFill>
                  <a:srgbClr val="161616"/>
                </a:solidFill>
                <a:latin typeface="Open Sans"/>
              </a:rPr>
              <a:t>ITEM</a:t>
            </a:r>
            <a:endParaRPr lang="en-IN" sz="2400" b="0" i="0" dirty="0">
              <a:solidFill>
                <a:srgbClr val="161616"/>
              </a:solidFill>
              <a:effectLst/>
              <a:latin typeface="Open Sans"/>
            </a:endParaRPr>
          </a:p>
          <a:p>
            <a:pPr algn="l"/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         root=&gt;left = </a:t>
            </a:r>
            <a:r>
              <a:rPr lang="en-IN" sz="2400" b="0" i="0" dirty="0" err="1" smtClean="0">
                <a:solidFill>
                  <a:srgbClr val="161616"/>
                </a:solidFill>
                <a:effectLst/>
                <a:latin typeface="Open Sans"/>
              </a:rPr>
              <a:t>insert_BST</a:t>
            </a:r>
            <a:r>
              <a:rPr lang="en-IN" sz="2400" b="0" i="0" dirty="0" smtClean="0">
                <a:solidFill>
                  <a:srgbClr val="161616"/>
                </a:solidFill>
                <a:effectLst/>
                <a:latin typeface="Open Sans"/>
              </a:rPr>
              <a:t>(root</a:t>
            </a:r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=&gt;</a:t>
            </a:r>
            <a:r>
              <a:rPr lang="en-IN" sz="2400" b="0" i="0" dirty="0" err="1">
                <a:solidFill>
                  <a:srgbClr val="161616"/>
                </a:solidFill>
                <a:effectLst/>
                <a:latin typeface="Open Sans"/>
              </a:rPr>
              <a:t>left,</a:t>
            </a:r>
            <a:r>
              <a:rPr lang="en-IN" sz="2400" dirty="0" err="1">
                <a:solidFill>
                  <a:srgbClr val="161616"/>
                </a:solidFill>
                <a:latin typeface="Open Sans"/>
              </a:rPr>
              <a:t>ITEM</a:t>
            </a:r>
            <a:r>
              <a:rPr lang="en-IN" sz="2400" b="0" i="0" dirty="0" smtClean="0">
                <a:solidFill>
                  <a:srgbClr val="161616"/>
                </a:solidFill>
                <a:effectLst/>
                <a:latin typeface="Open Sans"/>
              </a:rPr>
              <a:t>)</a:t>
            </a:r>
          </a:p>
          <a:p>
            <a:r>
              <a:rPr lang="en-IN" sz="2400" dirty="0">
                <a:solidFill>
                  <a:srgbClr val="161616"/>
                </a:solidFill>
                <a:latin typeface="Open Sans"/>
              </a:rPr>
              <a:t> </a:t>
            </a:r>
            <a:r>
              <a:rPr lang="en-IN" sz="2400" dirty="0" smtClean="0">
                <a:solidFill>
                  <a:srgbClr val="161616"/>
                </a:solidFill>
                <a:latin typeface="Open Sans"/>
              </a:rPr>
              <a:t>// call </a:t>
            </a:r>
            <a:r>
              <a:rPr lang="en-IN" sz="2400" dirty="0">
                <a:solidFill>
                  <a:srgbClr val="161616"/>
                </a:solidFill>
                <a:latin typeface="Open Sans"/>
              </a:rPr>
              <a:t>the insert function with root-&gt;left and assign the return value in root=&gt;left.</a:t>
            </a:r>
          </a:p>
          <a:p>
            <a:pPr algn="l"/>
            <a:r>
              <a:rPr lang="en-IN" sz="2400" b="0" i="0" dirty="0" smtClean="0">
                <a:solidFill>
                  <a:srgbClr val="161616"/>
                </a:solidFill>
                <a:effectLst/>
                <a:latin typeface="Open Sans"/>
              </a:rPr>
              <a:t>Step 2. Finally</a:t>
            </a:r>
            <a:r>
              <a:rPr lang="en-IN" sz="2400" b="0" i="0" dirty="0">
                <a:solidFill>
                  <a:srgbClr val="161616"/>
                </a:solidFill>
                <a:effectLst/>
                <a:latin typeface="Open Sans"/>
              </a:rPr>
              <a:t>, return the original root pointer to the calling function.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78030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B9FD-61FB-4EC5-BE29-108EC9832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7" y="185387"/>
            <a:ext cx="7491024" cy="813419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Insertion in BST-sample code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D532A9-4309-4348-97FA-72EFBFCB6626}"/>
              </a:ext>
            </a:extLst>
          </p:cNvPr>
          <p:cNvSpPr txBox="1"/>
          <p:nvPr/>
        </p:nvSpPr>
        <p:spPr>
          <a:xfrm>
            <a:off x="53927" y="1894790"/>
            <a:ext cx="64031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struct </a:t>
            </a:r>
            <a:r>
              <a:rPr lang="en-IN" sz="2400" dirty="0" err="1"/>
              <a:t>Bstnode</a:t>
            </a:r>
            <a:r>
              <a:rPr lang="en-IN" sz="2400" dirty="0"/>
              <a:t> *insert(struct node *root, int </a:t>
            </a:r>
            <a:r>
              <a:rPr lang="en-IN" sz="2400" dirty="0" err="1"/>
              <a:t>val</a:t>
            </a:r>
            <a:r>
              <a:rPr lang="en-IN" sz="2400" dirty="0"/>
              <a:t>)</a:t>
            </a:r>
          </a:p>
          <a:p>
            <a:pPr algn="just"/>
            <a:r>
              <a:rPr lang="en-IN" sz="2400" dirty="0"/>
              <a:t>{</a:t>
            </a:r>
          </a:p>
          <a:p>
            <a:pPr algn="just"/>
            <a:r>
              <a:rPr lang="en-IN" sz="2400" dirty="0"/>
              <a:t>   if(root == NULL)</a:t>
            </a:r>
          </a:p>
          <a:p>
            <a:pPr algn="just"/>
            <a:r>
              <a:rPr lang="en-IN" sz="2400" dirty="0"/>
              <a:t>        return </a:t>
            </a:r>
            <a:r>
              <a:rPr lang="en-IN" sz="2400" dirty="0" err="1"/>
              <a:t>getNewNode</a:t>
            </a:r>
            <a:r>
              <a:rPr lang="en-IN" sz="2400" dirty="0"/>
              <a:t>(</a:t>
            </a:r>
            <a:r>
              <a:rPr lang="en-IN" sz="2400" dirty="0" err="1"/>
              <a:t>val</a:t>
            </a:r>
            <a:r>
              <a:rPr lang="en-IN" sz="2400" dirty="0"/>
              <a:t>);</a:t>
            </a:r>
          </a:p>
          <a:p>
            <a:pPr algn="just"/>
            <a:r>
              <a:rPr lang="en-IN" sz="2400" dirty="0"/>
              <a:t>    if(root-</a:t>
            </a:r>
            <a:r>
              <a:rPr lang="en-IN" sz="2400" dirty="0" smtClean="0"/>
              <a:t>&gt;key  </a:t>
            </a:r>
            <a:r>
              <a:rPr lang="en-IN" sz="2400" dirty="0"/>
              <a:t>&lt; </a:t>
            </a:r>
            <a:r>
              <a:rPr lang="en-IN" sz="2400" dirty="0" err="1"/>
              <a:t>val</a:t>
            </a:r>
            <a:r>
              <a:rPr lang="en-IN" sz="2400" dirty="0"/>
              <a:t>) </a:t>
            </a:r>
          </a:p>
          <a:p>
            <a:pPr algn="just"/>
            <a:r>
              <a:rPr lang="en-IN" sz="2400" dirty="0"/>
              <a:t>        root-&gt;right = insert(root-&gt;</a:t>
            </a:r>
            <a:r>
              <a:rPr lang="en-IN" sz="2400" dirty="0" err="1"/>
              <a:t>right,val</a:t>
            </a:r>
            <a:r>
              <a:rPr lang="en-IN" sz="2400" dirty="0"/>
              <a:t>); </a:t>
            </a:r>
            <a:endParaRPr lang="en-IN" sz="2400" dirty="0" smtClean="0"/>
          </a:p>
          <a:p>
            <a:pPr algn="just"/>
            <a:r>
              <a:rPr lang="en-IN" sz="2400" dirty="0" smtClean="0"/>
              <a:t>    </a:t>
            </a:r>
            <a:r>
              <a:rPr lang="en-IN" sz="2400" dirty="0"/>
              <a:t>else if(root-</a:t>
            </a:r>
            <a:r>
              <a:rPr lang="en-IN" sz="2400" dirty="0" smtClean="0"/>
              <a:t>&gt; key </a:t>
            </a:r>
            <a:r>
              <a:rPr lang="en-IN" sz="2400" dirty="0"/>
              <a:t>&gt; </a:t>
            </a:r>
            <a:r>
              <a:rPr lang="en-IN" sz="2400" dirty="0" err="1"/>
              <a:t>val</a:t>
            </a:r>
            <a:r>
              <a:rPr lang="en-IN" sz="2400" dirty="0"/>
              <a:t>) </a:t>
            </a:r>
          </a:p>
          <a:p>
            <a:pPr algn="just"/>
            <a:r>
              <a:rPr lang="en-IN" sz="2400" dirty="0"/>
              <a:t>        root-&gt;left = insert(root-&gt;</a:t>
            </a:r>
            <a:r>
              <a:rPr lang="en-IN" sz="2400" dirty="0" err="1"/>
              <a:t>left,val</a:t>
            </a:r>
            <a:r>
              <a:rPr lang="en-IN" sz="2400" dirty="0"/>
              <a:t>);</a:t>
            </a:r>
          </a:p>
          <a:p>
            <a:pPr algn="just"/>
            <a:r>
              <a:rPr lang="en-IN" sz="2400" dirty="0"/>
              <a:t>    return root;</a:t>
            </a:r>
          </a:p>
          <a:p>
            <a:pPr algn="just"/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5085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B9FD-61FB-4EC5-BE29-108EC9832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1123" y="6058938"/>
            <a:ext cx="8042938" cy="813419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Insertion in BST-sample code-</a:t>
            </a:r>
            <a:r>
              <a:rPr lang="en-IN" dirty="0" err="1">
                <a:solidFill>
                  <a:schemeClr val="bg1"/>
                </a:solidFill>
              </a:rPr>
              <a:t>cntd</a:t>
            </a:r>
            <a:r>
              <a:rPr lang="en-IN" dirty="0">
                <a:solidFill>
                  <a:schemeClr val="bg1"/>
                </a:solidFill>
              </a:rPr>
              <a:t>..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D532A9-4309-4348-97FA-72EFBFCB6626}"/>
              </a:ext>
            </a:extLst>
          </p:cNvPr>
          <p:cNvSpPr txBox="1"/>
          <p:nvPr/>
        </p:nvSpPr>
        <p:spPr>
          <a:xfrm>
            <a:off x="321214" y="1894790"/>
            <a:ext cx="40738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nl-NL" sz="2400" dirty="0"/>
              <a:t>int main()</a:t>
            </a:r>
          </a:p>
          <a:p>
            <a:pPr algn="just"/>
            <a:r>
              <a:rPr lang="nl-NL" sz="2400" dirty="0"/>
              <a:t>{</a:t>
            </a:r>
          </a:p>
          <a:p>
            <a:pPr algn="just"/>
            <a:r>
              <a:rPr lang="nl-NL" sz="2400" dirty="0"/>
              <a:t>    struct Bstnode *root = NULL;</a:t>
            </a:r>
          </a:p>
          <a:p>
            <a:pPr algn="just"/>
            <a:r>
              <a:rPr lang="nl-NL" sz="2400" dirty="0"/>
              <a:t>    root = insert(root,100);</a:t>
            </a:r>
          </a:p>
          <a:p>
            <a:pPr algn="just"/>
            <a:r>
              <a:rPr lang="nl-NL" sz="2400" dirty="0"/>
              <a:t>    root = insert(root,50);</a:t>
            </a:r>
          </a:p>
          <a:p>
            <a:pPr algn="just"/>
            <a:r>
              <a:rPr lang="nl-NL" sz="2400" dirty="0"/>
              <a:t>    root = insert(root,150</a:t>
            </a:r>
            <a:r>
              <a:rPr lang="nl-NL" sz="2400" dirty="0" smtClean="0"/>
              <a:t>);</a:t>
            </a:r>
          </a:p>
          <a:p>
            <a:pPr algn="just"/>
            <a:r>
              <a:rPr lang="nl-NL" sz="2400" dirty="0"/>
              <a:t> </a:t>
            </a:r>
            <a:r>
              <a:rPr lang="nl-NL" sz="2400" dirty="0" smtClean="0"/>
              <a:t>   root = insert(root,60)</a:t>
            </a:r>
          </a:p>
          <a:p>
            <a:pPr algn="just"/>
            <a:r>
              <a:rPr lang="nl-NL" sz="2400" dirty="0"/>
              <a:t> </a:t>
            </a:r>
            <a:r>
              <a:rPr lang="nl-NL" sz="2400" dirty="0" smtClean="0"/>
              <a:t>   preorder(root);</a:t>
            </a:r>
            <a:endParaRPr lang="nl-NL" sz="2400" dirty="0"/>
          </a:p>
          <a:p>
            <a:pPr algn="just"/>
            <a:r>
              <a:rPr lang="nl-NL" sz="2400" dirty="0"/>
              <a:t>    return 0;</a:t>
            </a:r>
          </a:p>
          <a:p>
            <a:pPr algn="just"/>
            <a:r>
              <a:rPr lang="nl-NL" sz="2400" dirty="0"/>
              <a:t>}</a:t>
            </a:r>
            <a:endParaRPr lang="en-IN" sz="2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F4FCD2-7E06-451B-B68A-487EF475A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382" y="124002"/>
            <a:ext cx="3313014" cy="221599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+mj-lt"/>
              </a:rPr>
              <a:t>struct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Bstnode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333333"/>
                </a:solidFill>
                <a:latin typeface="+mj-lt"/>
              </a:rPr>
              <a:t>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99"/>
                </a:solidFill>
                <a:effectLst/>
                <a:latin typeface="+mj-lt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key;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333333"/>
                </a:solidFill>
                <a:latin typeface="+mj-lt"/>
              </a:rPr>
              <a:t>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+mj-lt"/>
              </a:rPr>
              <a:t>struct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Bstnode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*left;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333333"/>
                </a:solidFill>
                <a:latin typeface="+mj-lt"/>
              </a:rPr>
              <a:t>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+mj-lt"/>
              </a:rPr>
              <a:t>struct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Bstnode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 *right;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};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A58B60-0B65-4AF3-89FD-C8DC89C98CA3}"/>
              </a:ext>
            </a:extLst>
          </p:cNvPr>
          <p:cNvGrpSpPr/>
          <p:nvPr/>
        </p:nvGrpSpPr>
        <p:grpSpPr>
          <a:xfrm>
            <a:off x="3330633" y="2303461"/>
            <a:ext cx="6333313" cy="2809762"/>
            <a:chOff x="1760166" y="3028000"/>
            <a:chExt cx="6333313" cy="280976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91CDA1-4193-4FFC-A50A-26364E39B247}"/>
                </a:ext>
              </a:extLst>
            </p:cNvPr>
            <p:cNvSpPr/>
            <p:nvPr/>
          </p:nvSpPr>
          <p:spPr>
            <a:xfrm>
              <a:off x="5098923" y="3418282"/>
              <a:ext cx="9862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>
                  <a:solidFill>
                    <a:schemeClr val="tx1"/>
                  </a:solidFill>
                </a:rPr>
                <a:t>500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55E857F-2159-46BE-82FC-65EDD58D935A}"/>
                </a:ext>
              </a:extLst>
            </p:cNvPr>
            <p:cNvGrpSpPr/>
            <p:nvPr/>
          </p:nvGrpSpPr>
          <p:grpSpPr>
            <a:xfrm>
              <a:off x="3594552" y="4480112"/>
              <a:ext cx="2501448" cy="461666"/>
              <a:chOff x="8155075" y="2017578"/>
              <a:chExt cx="2501448" cy="46166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AF3F2EF-8F0D-440A-BF7F-B412BA16DF02}"/>
                  </a:ext>
                </a:extLst>
              </p:cNvPr>
              <p:cNvSpPr/>
              <p:nvPr/>
            </p:nvSpPr>
            <p:spPr>
              <a:xfrm>
                <a:off x="8988891" y="2017579"/>
                <a:ext cx="8338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100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62F802B-5DC6-4C00-AB50-929923E8A9EA}"/>
                  </a:ext>
                </a:extLst>
              </p:cNvPr>
              <p:cNvSpPr/>
              <p:nvPr/>
            </p:nvSpPr>
            <p:spPr>
              <a:xfrm>
                <a:off x="9822707" y="2017578"/>
                <a:ext cx="8338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smtClean="0">
                    <a:solidFill>
                      <a:schemeClr val="tx1"/>
                    </a:solidFill>
                  </a:rPr>
                  <a:t>700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9D3D547-7D3F-4D49-9C6F-80E1A48506F3}"/>
                  </a:ext>
                </a:extLst>
              </p:cNvPr>
              <p:cNvSpPr/>
              <p:nvPr/>
            </p:nvSpPr>
            <p:spPr>
              <a:xfrm>
                <a:off x="8155075" y="2017579"/>
                <a:ext cx="8338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smtClean="0">
                    <a:solidFill>
                      <a:schemeClr val="tx1"/>
                    </a:solidFill>
                  </a:rPr>
                  <a:t>600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8D5A1EE-7EF6-42DD-A179-303CA386F8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5351" y="3896760"/>
              <a:ext cx="961408" cy="600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E0BB0B-A4A0-41A1-B95D-EF1D73E37395}"/>
                </a:ext>
              </a:extLst>
            </p:cNvPr>
            <p:cNvSpPr txBox="1"/>
            <p:nvPr/>
          </p:nvSpPr>
          <p:spPr>
            <a:xfrm>
              <a:off x="5166725" y="3028000"/>
              <a:ext cx="9292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root</a:t>
              </a:r>
              <a:endParaRPr lang="en-I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5685B8-F721-4868-9166-6D5F8437A80F}"/>
                </a:ext>
              </a:extLst>
            </p:cNvPr>
            <p:cNvSpPr txBox="1"/>
            <p:nvPr/>
          </p:nvSpPr>
          <p:spPr>
            <a:xfrm>
              <a:off x="3662556" y="4127593"/>
              <a:ext cx="8004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 smtClean="0">
                  <a:solidFill>
                    <a:schemeClr val="tx1"/>
                  </a:solidFill>
                </a:rPr>
                <a:t>500</a:t>
              </a:r>
              <a:endParaRPr lang="en-IN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58638BE-2CAD-4A61-AA7B-CD4EA8ABB9FF}"/>
                </a:ext>
              </a:extLst>
            </p:cNvPr>
            <p:cNvGrpSpPr/>
            <p:nvPr/>
          </p:nvGrpSpPr>
          <p:grpSpPr>
            <a:xfrm>
              <a:off x="1760166" y="5376096"/>
              <a:ext cx="2501448" cy="461666"/>
              <a:chOff x="8155075" y="2017578"/>
              <a:chExt cx="2501448" cy="461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9F02FD-B3DB-48DB-A0BF-6B86A6178E15}"/>
                  </a:ext>
                </a:extLst>
              </p:cNvPr>
              <p:cNvSpPr/>
              <p:nvPr/>
            </p:nvSpPr>
            <p:spPr>
              <a:xfrm>
                <a:off x="8988891" y="2017579"/>
                <a:ext cx="8338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50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2F901DF-9BD4-4507-904A-3411625FF85B}"/>
                  </a:ext>
                </a:extLst>
              </p:cNvPr>
              <p:cNvSpPr/>
              <p:nvPr/>
            </p:nvSpPr>
            <p:spPr>
              <a:xfrm>
                <a:off x="9822707" y="2017578"/>
                <a:ext cx="8338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smtClean="0">
                    <a:solidFill>
                      <a:schemeClr val="tx1"/>
                    </a:solidFill>
                  </a:rPr>
                  <a:t>800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875C4B5-F2D7-414B-A218-915F367B8334}"/>
                  </a:ext>
                </a:extLst>
              </p:cNvPr>
              <p:cNvSpPr/>
              <p:nvPr/>
            </p:nvSpPr>
            <p:spPr>
              <a:xfrm>
                <a:off x="8155075" y="2017579"/>
                <a:ext cx="8338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NULL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4908A1-F004-4EBD-BFB3-E6FDBB6B0078}"/>
                </a:ext>
              </a:extLst>
            </p:cNvPr>
            <p:cNvSpPr txBox="1"/>
            <p:nvPr/>
          </p:nvSpPr>
          <p:spPr>
            <a:xfrm>
              <a:off x="1810189" y="5006764"/>
              <a:ext cx="8004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 smtClean="0">
                  <a:solidFill>
                    <a:schemeClr val="tx1"/>
                  </a:solidFill>
                </a:rPr>
                <a:t>600</a:t>
              </a:r>
              <a:endParaRPr lang="en-IN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8BB9204-B7A9-4DA4-9BE7-C90BA071B12F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3010890" y="4729393"/>
              <a:ext cx="798374" cy="6467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3E1DD7D-139E-4031-90A9-9057E16CBF13}"/>
                </a:ext>
              </a:extLst>
            </p:cNvPr>
            <p:cNvGrpSpPr/>
            <p:nvPr/>
          </p:nvGrpSpPr>
          <p:grpSpPr>
            <a:xfrm>
              <a:off x="5592031" y="5376095"/>
              <a:ext cx="2501448" cy="461666"/>
              <a:chOff x="8155075" y="2017578"/>
              <a:chExt cx="2501448" cy="461666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6A96896-3C85-4F0E-B067-CA37C502368A}"/>
                  </a:ext>
                </a:extLst>
              </p:cNvPr>
              <p:cNvSpPr/>
              <p:nvPr/>
            </p:nvSpPr>
            <p:spPr>
              <a:xfrm>
                <a:off x="8988891" y="2017579"/>
                <a:ext cx="8338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150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A308513-4FE0-4336-9225-C014B3620C3E}"/>
                  </a:ext>
                </a:extLst>
              </p:cNvPr>
              <p:cNvSpPr/>
              <p:nvPr/>
            </p:nvSpPr>
            <p:spPr>
              <a:xfrm>
                <a:off x="9822707" y="2017578"/>
                <a:ext cx="8338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NULL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D7C1DBE-762E-4E31-BE81-AF03705AAD3C}"/>
                  </a:ext>
                </a:extLst>
              </p:cNvPr>
              <p:cNvSpPr/>
              <p:nvPr/>
            </p:nvSpPr>
            <p:spPr>
              <a:xfrm>
                <a:off x="8155075" y="2017579"/>
                <a:ext cx="8338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NULL</a:t>
                </a:r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EE10493-9F75-416B-A26F-4E6B6B775AC4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5776759" y="4729393"/>
              <a:ext cx="1065996" cy="6467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45781857-FC80-4992-B66F-AB2A25810817}"/>
              </a:ext>
            </a:extLst>
          </p:cNvPr>
          <p:cNvSpPr/>
          <p:nvPr/>
        </p:nvSpPr>
        <p:spPr>
          <a:xfrm>
            <a:off x="10439411" y="1433743"/>
            <a:ext cx="833816" cy="5134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1E0AD1-2B78-4FB4-BDF0-69D780F7A63F}"/>
              </a:ext>
            </a:extLst>
          </p:cNvPr>
          <p:cNvSpPr/>
          <p:nvPr/>
        </p:nvSpPr>
        <p:spPr>
          <a:xfrm>
            <a:off x="9461283" y="2391393"/>
            <a:ext cx="753178" cy="5134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50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BB4591A-2D75-4EF6-A37E-DCC74C7D26A1}"/>
              </a:ext>
            </a:extLst>
          </p:cNvPr>
          <p:cNvSpPr/>
          <p:nvPr/>
        </p:nvSpPr>
        <p:spPr>
          <a:xfrm>
            <a:off x="11064276" y="2350973"/>
            <a:ext cx="833816" cy="5134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B734CBC-1761-4D57-B23E-199A79DA5673}"/>
              </a:ext>
            </a:extLst>
          </p:cNvPr>
          <p:cNvSpPr/>
          <p:nvPr/>
        </p:nvSpPr>
        <p:spPr>
          <a:xfrm>
            <a:off x="10214460" y="3444125"/>
            <a:ext cx="761390" cy="5134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60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9D97E2-D04F-4A8E-92C7-534ADCD0A93C}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0104161" y="1843121"/>
            <a:ext cx="399046" cy="62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F3C4F8-1A03-4B99-92F9-2C6FCB16D2EE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0841041" y="1886310"/>
            <a:ext cx="345345" cy="539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00D7118-5303-4EF5-9D81-6F98898F5324}"/>
              </a:ext>
            </a:extLst>
          </p:cNvPr>
          <p:cNvCxnSpPr>
            <a:cxnSpLocks/>
          </p:cNvCxnSpPr>
          <p:nvPr/>
        </p:nvCxnSpPr>
        <p:spPr>
          <a:xfrm>
            <a:off x="9933926" y="2869305"/>
            <a:ext cx="569281" cy="831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DB27C25-1D8C-4F23-869C-3030E25D0E20}"/>
              </a:ext>
            </a:extLst>
          </p:cNvPr>
          <p:cNvGrpSpPr/>
          <p:nvPr/>
        </p:nvGrpSpPr>
        <p:grpSpPr>
          <a:xfrm>
            <a:off x="5114902" y="5701620"/>
            <a:ext cx="2501448" cy="461666"/>
            <a:chOff x="8155075" y="2017578"/>
            <a:chExt cx="2501448" cy="46166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124B668-46CA-4BDD-9CE6-EF1DD4C8F9BD}"/>
                </a:ext>
              </a:extLst>
            </p:cNvPr>
            <p:cNvSpPr/>
            <p:nvPr/>
          </p:nvSpPr>
          <p:spPr>
            <a:xfrm>
              <a:off x="8988891" y="2017579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012A2E1-83F4-4F14-9CBD-2257FDD2D0CC}"/>
                </a:ext>
              </a:extLst>
            </p:cNvPr>
            <p:cNvSpPr/>
            <p:nvPr/>
          </p:nvSpPr>
          <p:spPr>
            <a:xfrm>
              <a:off x="9822707" y="2017578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NULL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B3DAE0A-C793-4A6A-8053-50EE40AAB034}"/>
                </a:ext>
              </a:extLst>
            </p:cNvPr>
            <p:cNvSpPr/>
            <p:nvPr/>
          </p:nvSpPr>
          <p:spPr>
            <a:xfrm>
              <a:off x="8155075" y="2017579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9BBDD45-B658-4271-8215-C257BAA8CD2E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5541818" y="4987636"/>
            <a:ext cx="823808" cy="713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D82F67F-2AA0-4615-8B77-64AF863F7953}"/>
              </a:ext>
            </a:extLst>
          </p:cNvPr>
          <p:cNvSpPr txBox="1"/>
          <p:nvPr/>
        </p:nvSpPr>
        <p:spPr>
          <a:xfrm>
            <a:off x="5045570" y="5389882"/>
            <a:ext cx="800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8</a:t>
            </a:r>
            <a:r>
              <a:rPr lang="en-IN" dirty="0">
                <a:solidFill>
                  <a:schemeClr val="tx1"/>
                </a:solidFill>
              </a:rPr>
              <a:t>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073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4AD44B-A065-414A-95DA-59D6472F440C}"/>
              </a:ext>
            </a:extLst>
          </p:cNvPr>
          <p:cNvSpPr/>
          <p:nvPr/>
        </p:nvSpPr>
        <p:spPr>
          <a:xfrm>
            <a:off x="3467071" y="1054909"/>
            <a:ext cx="98621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500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55E419-8590-4549-B0E2-E7AA41FCD0A2}"/>
              </a:ext>
            </a:extLst>
          </p:cNvPr>
          <p:cNvGrpSpPr/>
          <p:nvPr/>
        </p:nvGrpSpPr>
        <p:grpSpPr>
          <a:xfrm>
            <a:off x="1962700" y="2116739"/>
            <a:ext cx="2501448" cy="461666"/>
            <a:chOff x="8155075" y="2017578"/>
            <a:chExt cx="2501448" cy="46166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4445445-4042-4A9A-BAF6-79E6D4082B28}"/>
                </a:ext>
              </a:extLst>
            </p:cNvPr>
            <p:cNvSpPr/>
            <p:nvPr/>
          </p:nvSpPr>
          <p:spPr>
            <a:xfrm>
              <a:off x="8988891" y="2017579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798FE43-C4FE-4A1D-8716-C75CCA1924A7}"/>
                </a:ext>
              </a:extLst>
            </p:cNvPr>
            <p:cNvSpPr/>
            <p:nvPr/>
          </p:nvSpPr>
          <p:spPr>
            <a:xfrm>
              <a:off x="9822707" y="2017578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700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BCB2D1-983E-4C47-81EA-37978FD2AF9A}"/>
                </a:ext>
              </a:extLst>
            </p:cNvPr>
            <p:cNvSpPr/>
            <p:nvPr/>
          </p:nvSpPr>
          <p:spPr>
            <a:xfrm>
              <a:off x="8155075" y="2017579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600</a:t>
              </a: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3D2A45-1D9C-4949-BDAC-689FF9AA886E}"/>
              </a:ext>
            </a:extLst>
          </p:cNvPr>
          <p:cNvCxnSpPr>
            <a:cxnSpLocks/>
          </p:cNvCxnSpPr>
          <p:nvPr/>
        </p:nvCxnSpPr>
        <p:spPr>
          <a:xfrm flipH="1">
            <a:off x="3183499" y="1533387"/>
            <a:ext cx="961408" cy="600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C045A4-9A7E-4DA6-A2CA-435EE456B369}"/>
              </a:ext>
            </a:extLst>
          </p:cNvPr>
          <p:cNvSpPr txBox="1"/>
          <p:nvPr/>
        </p:nvSpPr>
        <p:spPr>
          <a:xfrm>
            <a:off x="2899176" y="648680"/>
            <a:ext cx="929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root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6B4E5-1767-4F80-9858-727517D30C12}"/>
              </a:ext>
            </a:extLst>
          </p:cNvPr>
          <p:cNvSpPr txBox="1"/>
          <p:nvPr/>
        </p:nvSpPr>
        <p:spPr>
          <a:xfrm>
            <a:off x="2030704" y="1764220"/>
            <a:ext cx="800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500</a:t>
            </a:r>
            <a:endParaRPr lang="en-I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E3F522-669A-451C-93C2-78F2B33DB52A}"/>
              </a:ext>
            </a:extLst>
          </p:cNvPr>
          <p:cNvGrpSpPr/>
          <p:nvPr/>
        </p:nvGrpSpPr>
        <p:grpSpPr>
          <a:xfrm>
            <a:off x="128314" y="3012723"/>
            <a:ext cx="2501448" cy="461666"/>
            <a:chOff x="8155075" y="2017578"/>
            <a:chExt cx="2501448" cy="4616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87FCC6A-1D34-41FE-935B-9B51FD306398}"/>
                </a:ext>
              </a:extLst>
            </p:cNvPr>
            <p:cNvSpPr/>
            <p:nvPr/>
          </p:nvSpPr>
          <p:spPr>
            <a:xfrm>
              <a:off x="8988891" y="2017579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50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58FA97-5940-4EE2-91AC-8A4AA67D2C7B}"/>
                </a:ext>
              </a:extLst>
            </p:cNvPr>
            <p:cNvSpPr/>
            <p:nvPr/>
          </p:nvSpPr>
          <p:spPr>
            <a:xfrm>
              <a:off x="9822707" y="2017578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41696C-6E32-44AD-ADCA-DF1DF6224A1B}"/>
                </a:ext>
              </a:extLst>
            </p:cNvPr>
            <p:cNvSpPr/>
            <p:nvPr/>
          </p:nvSpPr>
          <p:spPr>
            <a:xfrm>
              <a:off x="8155075" y="2017579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413957C-BA00-4C20-B872-A6E76472C5AE}"/>
              </a:ext>
            </a:extLst>
          </p:cNvPr>
          <p:cNvSpPr txBox="1"/>
          <p:nvPr/>
        </p:nvSpPr>
        <p:spPr>
          <a:xfrm>
            <a:off x="178337" y="2643391"/>
            <a:ext cx="800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600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C003F7-A897-4CDF-8661-4B88EF3CE7A2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1379038" y="2527974"/>
            <a:ext cx="640018" cy="484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F0F08F-FB6E-4A83-B65A-7B96FB3B7962}"/>
              </a:ext>
            </a:extLst>
          </p:cNvPr>
          <p:cNvGrpSpPr/>
          <p:nvPr/>
        </p:nvGrpSpPr>
        <p:grpSpPr>
          <a:xfrm>
            <a:off x="3960179" y="3012722"/>
            <a:ext cx="2501448" cy="461666"/>
            <a:chOff x="8155075" y="2017578"/>
            <a:chExt cx="2501448" cy="46166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EE85302-C0B6-4DEA-8282-5E5694490A9B}"/>
                </a:ext>
              </a:extLst>
            </p:cNvPr>
            <p:cNvSpPr/>
            <p:nvPr/>
          </p:nvSpPr>
          <p:spPr>
            <a:xfrm>
              <a:off x="8988891" y="2017579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150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70D9358-8098-488A-8439-B07C9BE19E3E}"/>
                </a:ext>
              </a:extLst>
            </p:cNvPr>
            <p:cNvSpPr/>
            <p:nvPr/>
          </p:nvSpPr>
          <p:spPr>
            <a:xfrm>
              <a:off x="9822707" y="2017578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NULL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9628BA-73AC-416B-A731-7129A97F1283}"/>
                </a:ext>
              </a:extLst>
            </p:cNvPr>
            <p:cNvSpPr/>
            <p:nvPr/>
          </p:nvSpPr>
          <p:spPr>
            <a:xfrm>
              <a:off x="8155075" y="2017579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ED26A3-2D14-45AA-B5A2-11ECE1F346C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172582" y="2527972"/>
            <a:ext cx="1038321" cy="4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B27C25-1D8C-4F23-869C-3030E25D0E20}"/>
              </a:ext>
            </a:extLst>
          </p:cNvPr>
          <p:cNvGrpSpPr/>
          <p:nvPr/>
        </p:nvGrpSpPr>
        <p:grpSpPr>
          <a:xfrm>
            <a:off x="1180213" y="4094484"/>
            <a:ext cx="2501448" cy="461666"/>
            <a:chOff x="8155075" y="2017578"/>
            <a:chExt cx="2501448" cy="46166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124B668-46CA-4BDD-9CE6-EF1DD4C8F9BD}"/>
                </a:ext>
              </a:extLst>
            </p:cNvPr>
            <p:cNvSpPr/>
            <p:nvPr/>
          </p:nvSpPr>
          <p:spPr>
            <a:xfrm>
              <a:off x="8988891" y="2017579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12A2E1-83F4-4F14-9CBD-2257FDD2D0CC}"/>
                </a:ext>
              </a:extLst>
            </p:cNvPr>
            <p:cNvSpPr/>
            <p:nvPr/>
          </p:nvSpPr>
          <p:spPr>
            <a:xfrm>
              <a:off x="9822707" y="2017578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NULL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B3DAE0A-C793-4A6A-8053-50EE40AAB034}"/>
                </a:ext>
              </a:extLst>
            </p:cNvPr>
            <p:cNvSpPr/>
            <p:nvPr/>
          </p:nvSpPr>
          <p:spPr>
            <a:xfrm>
              <a:off x="8155075" y="2017579"/>
              <a:ext cx="8338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BBDD45-B658-4271-8215-C257BAA8CD2E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445042" y="3471007"/>
            <a:ext cx="985895" cy="623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D82F67F-2AA0-4615-8B77-64AF863F7953}"/>
              </a:ext>
            </a:extLst>
          </p:cNvPr>
          <p:cNvSpPr txBox="1"/>
          <p:nvPr/>
        </p:nvSpPr>
        <p:spPr>
          <a:xfrm>
            <a:off x="1110881" y="3782746"/>
            <a:ext cx="800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8</a:t>
            </a:r>
            <a:r>
              <a:rPr lang="en-IN" dirty="0">
                <a:solidFill>
                  <a:schemeClr val="tx1"/>
                </a:solidFill>
              </a:rPr>
              <a:t>00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F7297E-B15D-4720-A2F6-E9F6417481F0}"/>
              </a:ext>
            </a:extLst>
          </p:cNvPr>
          <p:cNvSpPr txBox="1"/>
          <p:nvPr/>
        </p:nvSpPr>
        <p:spPr>
          <a:xfrm>
            <a:off x="6798738" y="141147"/>
            <a:ext cx="49881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void </a:t>
            </a:r>
            <a:r>
              <a:rPr lang="en-IN" sz="2400" dirty="0" err="1"/>
              <a:t>preorder</a:t>
            </a:r>
            <a:r>
              <a:rPr lang="en-IN" sz="2400" dirty="0"/>
              <a:t>(struct node *root)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    if(root == NULL)</a:t>
            </a:r>
          </a:p>
          <a:p>
            <a:r>
              <a:rPr lang="en-IN" sz="2400" dirty="0"/>
              <a:t>        return;</a:t>
            </a:r>
          </a:p>
          <a:p>
            <a:r>
              <a:rPr lang="en-IN" sz="2400" dirty="0"/>
              <a:t>    </a:t>
            </a:r>
            <a:r>
              <a:rPr lang="en-IN" sz="2400" dirty="0" err="1"/>
              <a:t>printf</a:t>
            </a:r>
            <a:r>
              <a:rPr lang="en-IN" sz="2400" dirty="0"/>
              <a:t>("%d ",root-&gt;key); </a:t>
            </a:r>
            <a:r>
              <a:rPr lang="en-IN" sz="2400" dirty="0" smtClean="0"/>
              <a:t> </a:t>
            </a:r>
            <a:endParaRPr lang="en-IN" sz="2400" dirty="0"/>
          </a:p>
          <a:p>
            <a:r>
              <a:rPr lang="en-IN" sz="2400" dirty="0"/>
              <a:t>   </a:t>
            </a:r>
            <a:r>
              <a:rPr lang="en-IN" sz="2400" dirty="0" err="1"/>
              <a:t>preorder</a:t>
            </a:r>
            <a:r>
              <a:rPr lang="en-IN" sz="2400" dirty="0"/>
              <a:t>(root-&gt;</a:t>
            </a:r>
            <a:r>
              <a:rPr lang="en-IN" sz="2400" dirty="0" smtClean="0"/>
              <a:t>left); </a:t>
            </a:r>
            <a:endParaRPr lang="en-IN" sz="2400" dirty="0"/>
          </a:p>
          <a:p>
            <a:r>
              <a:rPr lang="en-IN" sz="2400" dirty="0"/>
              <a:t> </a:t>
            </a:r>
            <a:r>
              <a:rPr lang="en-IN" sz="2400" dirty="0" smtClean="0"/>
              <a:t>  </a:t>
            </a:r>
            <a:r>
              <a:rPr lang="en-IN" sz="2400" dirty="0" err="1"/>
              <a:t>preorder</a:t>
            </a:r>
            <a:r>
              <a:rPr lang="en-IN" sz="2400" dirty="0"/>
              <a:t>(root-&gt;right);</a:t>
            </a:r>
          </a:p>
          <a:p>
            <a:r>
              <a:rPr lang="en-IN" sz="2400" dirty="0"/>
              <a:t>}</a:t>
            </a:r>
          </a:p>
          <a:p>
            <a:r>
              <a:rPr lang="en-IN" sz="2400" dirty="0" err="1"/>
              <a:t>Preorder</a:t>
            </a:r>
            <a:r>
              <a:rPr lang="en-IN" sz="2400" dirty="0"/>
              <a:t>(root)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84B09D-D8A5-48BA-8B6B-770BD3230F62}"/>
              </a:ext>
            </a:extLst>
          </p:cNvPr>
          <p:cNvSpPr txBox="1"/>
          <p:nvPr/>
        </p:nvSpPr>
        <p:spPr>
          <a:xfrm>
            <a:off x="2135663" y="2548823"/>
            <a:ext cx="71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left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6C71D4-520B-4885-BC66-A89F150087B0}"/>
              </a:ext>
            </a:extLst>
          </p:cNvPr>
          <p:cNvSpPr txBox="1"/>
          <p:nvPr/>
        </p:nvSpPr>
        <p:spPr>
          <a:xfrm>
            <a:off x="3738150" y="2522260"/>
            <a:ext cx="71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14FB2E-D813-401D-B4F1-36ED3EE2C6E7}"/>
              </a:ext>
            </a:extLst>
          </p:cNvPr>
          <p:cNvSpPr txBox="1"/>
          <p:nvPr/>
        </p:nvSpPr>
        <p:spPr>
          <a:xfrm>
            <a:off x="3025088" y="2576470"/>
            <a:ext cx="71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90724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215058" y="403265"/>
            <a:ext cx="11793148" cy="5909618"/>
            <a:chOff x="215058" y="1470"/>
            <a:chExt cx="11793148" cy="590961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2F7297E-B15D-4720-A2F6-E9F6417481F0}"/>
                </a:ext>
              </a:extLst>
            </p:cNvPr>
            <p:cNvSpPr txBox="1"/>
            <p:nvPr/>
          </p:nvSpPr>
          <p:spPr>
            <a:xfrm>
              <a:off x="215058" y="215494"/>
              <a:ext cx="4807108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400" dirty="0"/>
                <a:t>void </a:t>
              </a:r>
              <a:r>
                <a:rPr lang="en-IN" sz="2400" dirty="0" err="1"/>
                <a:t>preorder</a:t>
              </a:r>
              <a:r>
                <a:rPr lang="en-IN" sz="2400" dirty="0"/>
                <a:t>(struct node *root </a:t>
              </a:r>
              <a:r>
                <a:rPr lang="en-IN" sz="2400" dirty="0" smtClean="0"/>
                <a:t>)</a:t>
              </a:r>
              <a:endParaRPr lang="en-IN" sz="2400" dirty="0"/>
            </a:p>
            <a:p>
              <a:r>
                <a:rPr lang="en-IN" sz="2400" dirty="0"/>
                <a:t>{</a:t>
              </a:r>
            </a:p>
            <a:p>
              <a:r>
                <a:rPr lang="en-IN" sz="2400" dirty="0"/>
                <a:t>    if(root == NULL)</a:t>
              </a:r>
            </a:p>
            <a:p>
              <a:r>
                <a:rPr lang="en-IN" sz="2400" dirty="0"/>
                <a:t>        return;</a:t>
              </a:r>
            </a:p>
            <a:p>
              <a:r>
                <a:rPr lang="en-IN" sz="2400" dirty="0"/>
                <a:t> </a:t>
              </a:r>
              <a:r>
                <a:rPr lang="en-IN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</a:t>
              </a:r>
              <a:r>
                <a:rPr lang="en-IN" sz="2400" dirty="0"/>
                <a:t> </a:t>
              </a:r>
              <a:r>
                <a:rPr lang="en-IN" sz="2400" dirty="0" err="1"/>
                <a:t>printf</a:t>
              </a:r>
              <a:r>
                <a:rPr lang="en-IN" sz="2400" dirty="0"/>
                <a:t>("%d ",root-&gt;key); </a:t>
              </a:r>
              <a:r>
                <a:rPr lang="en-IN" sz="2400" dirty="0" smtClean="0"/>
                <a:t>  //</a:t>
              </a:r>
              <a:r>
                <a:rPr lang="en-IN" sz="2400" dirty="0" smtClean="0">
                  <a:solidFill>
                    <a:srgbClr val="00B050"/>
                  </a:solidFill>
                </a:rPr>
                <a:t>100 </a:t>
              </a:r>
              <a:endParaRPr lang="en-IN" sz="2400" dirty="0">
                <a:solidFill>
                  <a:srgbClr val="00B050"/>
                </a:solidFill>
              </a:endParaRPr>
            </a:p>
            <a:p>
              <a:r>
                <a:rPr lang="en-IN" sz="2400" dirty="0"/>
                <a:t>   </a:t>
              </a:r>
              <a:r>
                <a:rPr lang="en-IN" sz="2400" dirty="0" err="1"/>
                <a:t>preorder</a:t>
              </a:r>
              <a:r>
                <a:rPr lang="en-IN" sz="2400" dirty="0"/>
                <a:t>(root-&gt;left); </a:t>
              </a:r>
            </a:p>
            <a:p>
              <a:r>
                <a:rPr lang="en-IN" sz="2400" dirty="0"/>
                <a:t>  </a:t>
              </a:r>
              <a:r>
                <a:rPr lang="en-IN" sz="2400" dirty="0" err="1"/>
                <a:t>preorder</a:t>
              </a:r>
              <a:r>
                <a:rPr lang="en-IN" sz="2400" dirty="0"/>
                <a:t>(root-&gt;right);</a:t>
              </a:r>
            </a:p>
            <a:p>
              <a:r>
                <a:rPr lang="en-IN" sz="2400" dirty="0"/>
                <a:t>}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6B35537-F9E1-4822-8A21-8DB3B8B78B8D}"/>
                </a:ext>
              </a:extLst>
            </p:cNvPr>
            <p:cNvSpPr txBox="1"/>
            <p:nvPr/>
          </p:nvSpPr>
          <p:spPr>
            <a:xfrm>
              <a:off x="5203230" y="215494"/>
              <a:ext cx="3482512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dirty="0">
                  <a:solidFill>
                    <a:srgbClr val="FF0000"/>
                  </a:solidFill>
                  <a:sym typeface="Wingdings" panose="05000000000000000000" pitchFamily="2" charset="2"/>
                </a:rPr>
                <a:t> </a:t>
              </a:r>
              <a:r>
                <a:rPr lang="en-IN" sz="1800" dirty="0" err="1" smtClean="0"/>
                <a:t>preorder</a:t>
              </a:r>
              <a:r>
                <a:rPr lang="en-IN" sz="1800" dirty="0" smtClean="0"/>
                <a:t>(root)</a:t>
              </a:r>
              <a:endParaRPr lang="en-IN" sz="1800" dirty="0"/>
            </a:p>
            <a:p>
              <a:r>
                <a:rPr lang="en-IN" dirty="0"/>
                <a:t>{</a:t>
              </a:r>
            </a:p>
            <a:p>
              <a:r>
                <a:rPr lang="en-IN" sz="1800" dirty="0"/>
                <a:t>     if(root == NULL)</a:t>
              </a:r>
            </a:p>
            <a:p>
              <a:r>
                <a:rPr lang="en-IN" sz="1800" dirty="0"/>
                <a:t>        return;</a:t>
              </a:r>
            </a:p>
            <a:p>
              <a:r>
                <a:rPr lang="en-IN" sz="1800" dirty="0"/>
                <a:t>    </a:t>
              </a:r>
              <a:r>
                <a:rPr lang="en-IN" sz="1800" dirty="0" err="1"/>
                <a:t>printf</a:t>
              </a:r>
              <a:r>
                <a:rPr lang="en-IN" sz="1800" dirty="0"/>
                <a:t>("%d ",root-&gt;key</a:t>
              </a:r>
              <a:r>
                <a:rPr lang="en-IN" dirty="0"/>
                <a:t>); </a:t>
              </a:r>
              <a:r>
                <a:rPr lang="en-IN" dirty="0" smtClean="0"/>
                <a:t> //</a:t>
              </a:r>
              <a:r>
                <a:rPr lang="en-IN" dirty="0">
                  <a:solidFill>
                    <a:srgbClr val="00B050"/>
                  </a:solidFill>
                </a:rPr>
                <a:t>5</a:t>
              </a:r>
              <a:r>
                <a:rPr lang="en-IN" dirty="0" smtClean="0">
                  <a:solidFill>
                    <a:srgbClr val="00B050"/>
                  </a:solidFill>
                </a:rPr>
                <a:t>0</a:t>
              </a:r>
              <a:r>
                <a:rPr lang="en-IN" sz="1800" dirty="0" smtClean="0"/>
                <a:t> </a:t>
              </a:r>
              <a:endParaRPr lang="en-IN" sz="1800" dirty="0"/>
            </a:p>
            <a:p>
              <a:r>
                <a:rPr lang="en-IN" sz="1800" dirty="0"/>
                <a:t>    </a:t>
              </a:r>
              <a:r>
                <a:rPr lang="en-IN" sz="1800" dirty="0" err="1"/>
                <a:t>preorder</a:t>
              </a:r>
              <a:r>
                <a:rPr lang="en-IN" sz="1800" dirty="0"/>
                <a:t>(root-&gt;left); </a:t>
              </a:r>
              <a:r>
                <a:rPr lang="en-IN" dirty="0">
                  <a:solidFill>
                    <a:srgbClr val="FF0000"/>
                  </a:solidFill>
                  <a:sym typeface="Wingdings" panose="05000000000000000000" pitchFamily="2" charset="2"/>
                </a:rPr>
                <a:t></a:t>
              </a:r>
              <a:endParaRPr lang="en-IN" sz="1800" dirty="0"/>
            </a:p>
            <a:p>
              <a:r>
                <a:rPr lang="en-IN" sz="1800" dirty="0"/>
                <a:t>    </a:t>
              </a:r>
              <a:r>
                <a:rPr lang="en-IN" sz="1800" dirty="0" err="1"/>
                <a:t>preorder</a:t>
              </a:r>
              <a:r>
                <a:rPr lang="en-IN" sz="1800" dirty="0"/>
                <a:t>(root-&gt;right); </a:t>
              </a:r>
              <a:r>
                <a:rPr lang="en-IN" sz="1800" dirty="0">
                  <a:solidFill>
                    <a:srgbClr val="FF0000"/>
                  </a:solidFill>
                  <a:sym typeface="Wingdings" panose="05000000000000000000" pitchFamily="2" charset="2"/>
                </a:rPr>
                <a:t></a:t>
              </a:r>
              <a:endParaRPr lang="en-IN" dirty="0"/>
            </a:p>
            <a:p>
              <a:r>
                <a:rPr lang="en-IN" sz="1800" dirty="0"/>
                <a:t>}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2F47298-DEE0-4448-887E-2DAC38A403DB}"/>
                </a:ext>
              </a:extLst>
            </p:cNvPr>
            <p:cNvSpPr txBox="1"/>
            <p:nvPr/>
          </p:nvSpPr>
          <p:spPr>
            <a:xfrm>
              <a:off x="8741899" y="2245873"/>
              <a:ext cx="3266307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dirty="0" smtClean="0"/>
                <a:t> </a:t>
              </a:r>
              <a:r>
                <a:rPr lang="en-IN" sz="1800" dirty="0" err="1" smtClean="0"/>
                <a:t>preorder</a:t>
              </a:r>
              <a:r>
                <a:rPr lang="en-IN" sz="1800" dirty="0" smtClean="0"/>
                <a:t>(</a:t>
              </a:r>
              <a:r>
                <a:rPr lang="en-IN" sz="1800" dirty="0" smtClean="0">
                  <a:solidFill>
                    <a:srgbClr val="FF0000"/>
                  </a:solidFill>
                </a:rPr>
                <a:t>800</a:t>
              </a:r>
              <a:r>
                <a:rPr lang="en-IN" sz="1800" dirty="0"/>
                <a:t>)</a:t>
              </a:r>
            </a:p>
            <a:p>
              <a:r>
                <a:rPr lang="en-IN" dirty="0"/>
                <a:t>{</a:t>
              </a:r>
            </a:p>
            <a:p>
              <a:r>
                <a:rPr lang="en-IN" sz="1800" dirty="0"/>
                <a:t>     if(root == NULL)</a:t>
              </a:r>
            </a:p>
            <a:p>
              <a:r>
                <a:rPr lang="en-IN" sz="1800" dirty="0"/>
                <a:t>        return;</a:t>
              </a:r>
            </a:p>
            <a:p>
              <a:r>
                <a:rPr lang="en-IN" sz="1800" dirty="0"/>
                <a:t>    </a:t>
              </a:r>
              <a:r>
                <a:rPr lang="en-IN" sz="1800" dirty="0" err="1"/>
                <a:t>printf</a:t>
              </a:r>
              <a:r>
                <a:rPr lang="en-IN" sz="1800" dirty="0"/>
                <a:t>("%d ",root-&gt;key</a:t>
              </a:r>
              <a:r>
                <a:rPr lang="en-IN" sz="1800" dirty="0" smtClean="0"/>
                <a:t>); //</a:t>
              </a:r>
              <a:r>
                <a:rPr lang="en-IN" sz="1800" dirty="0" smtClean="0">
                  <a:solidFill>
                    <a:srgbClr val="00B050"/>
                  </a:solidFill>
                </a:rPr>
                <a:t> </a:t>
              </a:r>
              <a:r>
                <a:rPr lang="en-IN" sz="1800" dirty="0">
                  <a:solidFill>
                    <a:srgbClr val="00B050"/>
                  </a:solidFill>
                </a:rPr>
                <a:t>60</a:t>
              </a:r>
              <a:r>
                <a:rPr lang="en-IN" sz="1800" dirty="0"/>
                <a:t>  </a:t>
              </a:r>
            </a:p>
            <a:p>
              <a:r>
                <a:rPr lang="en-IN" sz="1800" dirty="0"/>
                <a:t>    </a:t>
              </a:r>
              <a:r>
                <a:rPr lang="en-IN" sz="1800" dirty="0" err="1"/>
                <a:t>preorder</a:t>
              </a:r>
              <a:r>
                <a:rPr lang="en-IN" sz="1800" dirty="0"/>
                <a:t>(root-&gt;left); </a:t>
              </a:r>
              <a:r>
                <a:rPr lang="en-IN" sz="1800" dirty="0">
                  <a:sym typeface="Wingdings" panose="05000000000000000000" pitchFamily="2" charset="2"/>
                </a:rPr>
                <a:t> </a:t>
              </a:r>
              <a:endParaRPr lang="en-IN" sz="1800" dirty="0"/>
            </a:p>
            <a:p>
              <a:r>
                <a:rPr lang="en-IN" sz="1800" dirty="0"/>
                <a:t>    </a:t>
              </a:r>
              <a:r>
                <a:rPr lang="en-IN" sz="1800" dirty="0" err="1"/>
                <a:t>preorder</a:t>
              </a:r>
              <a:r>
                <a:rPr lang="en-IN" sz="1800" dirty="0"/>
                <a:t>(root-&gt;right);</a:t>
              </a:r>
            </a:p>
            <a:p>
              <a:r>
                <a:rPr lang="en-IN" sz="1800" dirty="0"/>
                <a:t>}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6217967-ED4E-47A1-ACE5-3AF2BCDDA1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6446" y="703385"/>
              <a:ext cx="2076784" cy="166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238BD7C-223F-4361-AD64-44B796C15446}"/>
                </a:ext>
              </a:extLst>
            </p:cNvPr>
            <p:cNvCxnSpPr>
              <a:cxnSpLocks/>
            </p:cNvCxnSpPr>
            <p:nvPr/>
          </p:nvCxnSpPr>
          <p:spPr>
            <a:xfrm>
              <a:off x="5203230" y="728459"/>
              <a:ext cx="0" cy="13957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0875CD8-A81C-4295-863E-558BF8E7D3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962" y="2065171"/>
              <a:ext cx="908775" cy="2162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F7FB2EF-3949-4A9D-A737-CE02D32B5E0C}"/>
                </a:ext>
              </a:extLst>
            </p:cNvPr>
            <p:cNvCxnSpPr>
              <a:cxnSpLocks/>
            </p:cNvCxnSpPr>
            <p:nvPr/>
          </p:nvCxnSpPr>
          <p:spPr>
            <a:xfrm>
              <a:off x="7833125" y="2031842"/>
              <a:ext cx="852617" cy="491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BBE2107-C651-4929-A557-487C043DA6E2}"/>
                </a:ext>
              </a:extLst>
            </p:cNvPr>
            <p:cNvCxnSpPr>
              <a:cxnSpLocks/>
            </p:cNvCxnSpPr>
            <p:nvPr/>
          </p:nvCxnSpPr>
          <p:spPr>
            <a:xfrm>
              <a:off x="8685742" y="2523818"/>
              <a:ext cx="0" cy="17042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806062F-2A44-4ABD-ACE5-524874742B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5523" y="2124222"/>
              <a:ext cx="2001550" cy="2433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7D354AD-1CAC-4351-BDBC-66ACF889D7A5}"/>
                </a:ext>
              </a:extLst>
            </p:cNvPr>
            <p:cNvCxnSpPr>
              <a:cxnSpLocks/>
            </p:cNvCxnSpPr>
            <p:nvPr/>
          </p:nvCxnSpPr>
          <p:spPr>
            <a:xfrm>
              <a:off x="3249637" y="2815002"/>
              <a:ext cx="1897436" cy="973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FEA2C62-E845-480C-8201-E54E4AD542AF}"/>
                </a:ext>
              </a:extLst>
            </p:cNvPr>
            <p:cNvSpPr txBox="1"/>
            <p:nvPr/>
          </p:nvSpPr>
          <p:spPr>
            <a:xfrm>
              <a:off x="5286237" y="3602764"/>
              <a:ext cx="3482512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dirty="0">
                  <a:solidFill>
                    <a:srgbClr val="FF0000"/>
                  </a:solidFill>
                  <a:sym typeface="Wingdings" panose="05000000000000000000" pitchFamily="2" charset="2"/>
                </a:rPr>
                <a:t> </a:t>
              </a:r>
              <a:r>
                <a:rPr lang="en-IN" sz="1800" dirty="0" err="1"/>
                <a:t>preorder</a:t>
              </a:r>
              <a:r>
                <a:rPr lang="en-IN" sz="1800" dirty="0"/>
                <a:t>(</a:t>
              </a:r>
              <a:r>
                <a:rPr lang="en-IN" sz="1800" dirty="0">
                  <a:solidFill>
                    <a:srgbClr val="FF0000"/>
                  </a:solidFill>
                </a:rPr>
                <a:t>700</a:t>
              </a:r>
              <a:r>
                <a:rPr lang="en-IN" sz="1800" dirty="0"/>
                <a:t>)</a:t>
              </a:r>
            </a:p>
            <a:p>
              <a:r>
                <a:rPr lang="en-IN" dirty="0"/>
                <a:t>{</a:t>
              </a:r>
            </a:p>
            <a:p>
              <a:r>
                <a:rPr lang="en-IN" sz="1800" dirty="0"/>
                <a:t>     if(root == NULL)</a:t>
              </a:r>
            </a:p>
            <a:p>
              <a:r>
                <a:rPr lang="en-IN" sz="1800" dirty="0"/>
                <a:t>        return;</a:t>
              </a:r>
            </a:p>
            <a:p>
              <a:r>
                <a:rPr lang="en-IN" sz="1800" dirty="0"/>
                <a:t>    </a:t>
              </a:r>
              <a:r>
                <a:rPr lang="en-IN" sz="1800" dirty="0" err="1"/>
                <a:t>printf</a:t>
              </a:r>
              <a:r>
                <a:rPr lang="en-IN" sz="1800" dirty="0"/>
                <a:t>("%d ",root-&gt;key); </a:t>
              </a:r>
              <a:r>
                <a:rPr lang="en-IN" sz="1800" dirty="0" smtClean="0"/>
                <a:t> //</a:t>
              </a:r>
              <a:r>
                <a:rPr lang="en-IN" sz="1800" dirty="0" smtClean="0">
                  <a:solidFill>
                    <a:srgbClr val="00B050"/>
                  </a:solidFill>
                </a:rPr>
                <a:t>150</a:t>
              </a:r>
              <a:r>
                <a:rPr lang="en-IN" sz="1800" dirty="0" smtClean="0"/>
                <a:t> </a:t>
              </a:r>
              <a:endParaRPr lang="en-IN" sz="1800" dirty="0"/>
            </a:p>
            <a:p>
              <a:r>
                <a:rPr lang="en-IN" sz="1800" dirty="0"/>
                <a:t>    </a:t>
              </a:r>
              <a:r>
                <a:rPr lang="en-IN" sz="1800" dirty="0" err="1"/>
                <a:t>preorder</a:t>
              </a:r>
              <a:r>
                <a:rPr lang="en-IN" sz="1800" dirty="0"/>
                <a:t>(root-&gt;left); </a:t>
              </a:r>
            </a:p>
            <a:p>
              <a:r>
                <a:rPr lang="en-IN" sz="1800" dirty="0"/>
                <a:t>    </a:t>
              </a:r>
              <a:r>
                <a:rPr lang="en-IN" sz="1800" dirty="0" err="1"/>
                <a:t>preorder</a:t>
              </a:r>
              <a:r>
                <a:rPr lang="en-IN" sz="1800" dirty="0"/>
                <a:t>(root-&gt;right); </a:t>
              </a:r>
              <a:endParaRPr lang="en-IN" sz="1800" dirty="0">
                <a:solidFill>
                  <a:srgbClr val="FF0000"/>
                </a:solidFill>
                <a:sym typeface="Wingdings" panose="05000000000000000000" pitchFamily="2" charset="2"/>
              </a:endParaRPr>
            </a:p>
            <a:p>
              <a:r>
                <a:rPr lang="en-IN" sz="1800" dirty="0"/>
                <a:t>}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08FFD1B-F9D3-4FC4-A305-DA6784590EDA}"/>
                </a:ext>
              </a:extLst>
            </p:cNvPr>
            <p:cNvCxnSpPr>
              <a:cxnSpLocks/>
            </p:cNvCxnSpPr>
            <p:nvPr/>
          </p:nvCxnSpPr>
          <p:spPr>
            <a:xfrm>
              <a:off x="5128845" y="3788361"/>
              <a:ext cx="18228" cy="18527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577855A4-5BC0-47CD-B0A2-7C71EAB51B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5523" y="2815002"/>
              <a:ext cx="1876643" cy="28261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13957C-BA00-4C20-B872-A6E76472C5AE}"/>
                </a:ext>
              </a:extLst>
            </p:cNvPr>
            <p:cNvSpPr txBox="1"/>
            <p:nvPr/>
          </p:nvSpPr>
          <p:spPr>
            <a:xfrm>
              <a:off x="3746064" y="30828"/>
              <a:ext cx="8004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 smtClean="0">
                  <a:solidFill>
                    <a:srgbClr val="FF0000"/>
                  </a:solidFill>
                </a:rPr>
                <a:t>500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13957C-BA00-4C20-B872-A6E76472C5AE}"/>
                </a:ext>
              </a:extLst>
            </p:cNvPr>
            <p:cNvSpPr txBox="1"/>
            <p:nvPr/>
          </p:nvSpPr>
          <p:spPr>
            <a:xfrm>
              <a:off x="6426455" y="1470"/>
              <a:ext cx="8004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 smtClean="0">
                  <a:solidFill>
                    <a:srgbClr val="FF0000"/>
                  </a:solidFill>
                </a:rPr>
                <a:t>600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F7FB2EF-3949-4A9D-A737-CE02D32B5E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4862" y="215494"/>
              <a:ext cx="1373461" cy="1556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2F47298-DEE0-4448-887E-2DAC38A403DB}"/>
                </a:ext>
              </a:extLst>
            </p:cNvPr>
            <p:cNvSpPr txBox="1"/>
            <p:nvPr/>
          </p:nvSpPr>
          <p:spPr>
            <a:xfrm>
              <a:off x="8918323" y="1470"/>
              <a:ext cx="3089883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dirty="0" smtClean="0"/>
                <a:t> </a:t>
              </a:r>
              <a:r>
                <a:rPr lang="en-IN" sz="1800" dirty="0" err="1" smtClean="0"/>
                <a:t>preorder</a:t>
              </a:r>
              <a:r>
                <a:rPr lang="en-IN" sz="1800" dirty="0" smtClean="0"/>
                <a:t>(</a:t>
              </a:r>
              <a:r>
                <a:rPr lang="en-IN" sz="1800" dirty="0" smtClean="0">
                  <a:solidFill>
                    <a:srgbClr val="FF0000"/>
                  </a:solidFill>
                </a:rPr>
                <a:t>NULL</a:t>
              </a:r>
              <a:r>
                <a:rPr lang="en-IN" sz="1800" dirty="0" smtClean="0"/>
                <a:t>)</a:t>
              </a:r>
              <a:endParaRPr lang="en-IN" sz="1800" dirty="0"/>
            </a:p>
            <a:p>
              <a:r>
                <a:rPr lang="en-IN" dirty="0"/>
                <a:t>{</a:t>
              </a:r>
            </a:p>
            <a:p>
              <a:r>
                <a:rPr lang="en-IN" sz="1800" dirty="0"/>
                <a:t>     if(root == NULL</a:t>
              </a:r>
              <a:r>
                <a:rPr lang="en-IN" sz="1800" dirty="0" smtClean="0"/>
                <a:t>)  </a:t>
              </a:r>
              <a:r>
                <a:rPr lang="en-IN" sz="1800" dirty="0" smtClean="0">
                  <a:solidFill>
                    <a:srgbClr val="FF0000"/>
                  </a:solidFill>
                </a:rPr>
                <a:t>True</a:t>
              </a:r>
              <a:endParaRPr lang="en-IN" sz="1800" dirty="0">
                <a:solidFill>
                  <a:srgbClr val="FF0000"/>
                </a:solidFill>
              </a:endParaRPr>
            </a:p>
            <a:p>
              <a:r>
                <a:rPr lang="en-IN" sz="1800" dirty="0"/>
                <a:t>        return;</a:t>
              </a:r>
            </a:p>
            <a:p>
              <a:r>
                <a:rPr lang="en-IN" sz="1800" dirty="0"/>
                <a:t>    </a:t>
              </a:r>
              <a:r>
                <a:rPr lang="en-IN" sz="1800" dirty="0" err="1"/>
                <a:t>printf</a:t>
              </a:r>
              <a:r>
                <a:rPr lang="en-IN" sz="1800" dirty="0"/>
                <a:t>("%d ",root-&gt;key); 60  </a:t>
              </a:r>
            </a:p>
            <a:p>
              <a:r>
                <a:rPr lang="en-IN" sz="1800" dirty="0"/>
                <a:t>    </a:t>
              </a:r>
              <a:r>
                <a:rPr lang="en-IN" sz="1800" dirty="0" err="1"/>
                <a:t>preorder</a:t>
              </a:r>
              <a:r>
                <a:rPr lang="en-IN" sz="1800" dirty="0"/>
                <a:t>(root-&gt;left); </a:t>
              </a:r>
              <a:r>
                <a:rPr lang="en-IN" sz="1800" dirty="0">
                  <a:sym typeface="Wingdings" panose="05000000000000000000" pitchFamily="2" charset="2"/>
                </a:rPr>
                <a:t> </a:t>
              </a:r>
              <a:endParaRPr lang="en-IN" sz="1800" dirty="0"/>
            </a:p>
            <a:p>
              <a:r>
                <a:rPr lang="en-IN" sz="1800" dirty="0"/>
                <a:t>    </a:t>
              </a:r>
              <a:r>
                <a:rPr lang="en-IN" sz="1800" dirty="0" err="1"/>
                <a:t>preorder</a:t>
              </a:r>
              <a:r>
                <a:rPr lang="en-IN" sz="1800" dirty="0"/>
                <a:t>(root-&gt;right);</a:t>
              </a:r>
            </a:p>
            <a:p>
              <a:r>
                <a:rPr lang="en-IN" sz="1800" dirty="0"/>
                <a:t>}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BBE2107-C651-4929-A557-487C043DA6E2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>
              <a:off x="8918323" y="215494"/>
              <a:ext cx="0" cy="9401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0875CD8-A81C-4295-863E-558BF8E7D35F}"/>
                </a:ext>
              </a:extLst>
            </p:cNvPr>
            <p:cNvCxnSpPr>
              <a:cxnSpLocks/>
              <a:stCxn id="29" idx="1"/>
            </p:cNvCxnSpPr>
            <p:nvPr/>
          </p:nvCxnSpPr>
          <p:spPr>
            <a:xfrm flipH="1">
              <a:off x="7748892" y="1155632"/>
              <a:ext cx="1169431" cy="5377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0" y="4011"/>
            <a:ext cx="5955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Tracing of </a:t>
            </a:r>
            <a:r>
              <a:rPr lang="en-IN" sz="2400" dirty="0" err="1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preorder</a:t>
            </a:r>
            <a:r>
              <a:rPr lang="en-IN" sz="24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traversal function</a:t>
            </a:r>
            <a:endParaRPr lang="en-IN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29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43DA-F3D0-48A2-BB3A-0E8919A4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Deleting a node from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3B5ED-D32A-4588-AE39-F29CFEBEE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655928"/>
          </a:xfrm>
        </p:spPr>
        <p:txBody>
          <a:bodyPr/>
          <a:lstStyle/>
          <a:p>
            <a:r>
              <a:rPr lang="en-IN" b="0" i="0" dirty="0">
                <a:solidFill>
                  <a:srgbClr val="7030A0"/>
                </a:solidFill>
                <a:effectLst/>
                <a:latin typeface="Open Sans"/>
              </a:rPr>
              <a:t>Leaf node:</a:t>
            </a:r>
            <a:r>
              <a:rPr lang="en-IN" b="0" i="0" dirty="0">
                <a:solidFill>
                  <a:srgbClr val="161616"/>
                </a:solidFill>
                <a:effectLst/>
                <a:latin typeface="Open Sans"/>
              </a:rPr>
              <a:t> If the node is leaf (both left and right will be NULL), remove the node directly and free its memory.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A4CBC-E794-4266-A230-3B07BE032117}"/>
              </a:ext>
            </a:extLst>
          </p:cNvPr>
          <p:cNvSpPr txBox="1"/>
          <p:nvPr/>
        </p:nvSpPr>
        <p:spPr>
          <a:xfrm>
            <a:off x="3049172" y="2548320"/>
            <a:ext cx="39987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</a:t>
            </a:r>
          </a:p>
          <a:p>
            <a:r>
              <a:rPr lang="en-IN" dirty="0"/>
              <a:t>  100                                           100</a:t>
            </a:r>
          </a:p>
          <a:p>
            <a:r>
              <a:rPr lang="en-IN" dirty="0"/>
              <a:t>  / \                                               / \</a:t>
            </a:r>
          </a:p>
          <a:p>
            <a:r>
              <a:rPr lang="en-IN" dirty="0"/>
              <a:t>50  200         delete(300)       50  200</a:t>
            </a:r>
          </a:p>
          <a:p>
            <a:r>
              <a:rPr lang="en-IN" dirty="0"/>
              <a:t>        / \                                           /</a:t>
            </a:r>
          </a:p>
          <a:p>
            <a:r>
              <a:rPr lang="en-IN" dirty="0"/>
              <a:t>  150  300                                  150</a:t>
            </a:r>
          </a:p>
        </p:txBody>
      </p:sp>
    </p:spTree>
    <p:extLst>
      <p:ext uri="{BB962C8B-B14F-4D97-AF65-F5344CB8AC3E}">
        <p14:creationId xmlns:p14="http://schemas.microsoft.com/office/powerpoint/2010/main" val="3086817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43DA-F3D0-48A2-BB3A-0E8919A4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Deleting a node from BST-</a:t>
            </a:r>
            <a:r>
              <a:rPr lang="en-IN" dirty="0" err="1">
                <a:solidFill>
                  <a:srgbClr val="FF0000"/>
                </a:solidFill>
              </a:rPr>
              <a:t>cntd</a:t>
            </a:r>
            <a:r>
              <a:rPr lang="en-IN" dirty="0">
                <a:solidFill>
                  <a:srgbClr val="FF0000"/>
                </a:solidFill>
              </a:rPr>
              <a:t>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3B5ED-D32A-4588-AE39-F29CFEBEE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655928"/>
          </a:xfrm>
        </p:spPr>
        <p:txBody>
          <a:bodyPr/>
          <a:lstStyle/>
          <a:p>
            <a:r>
              <a:rPr lang="en-IN" dirty="0">
                <a:solidFill>
                  <a:srgbClr val="7030A0"/>
                </a:solidFill>
                <a:latin typeface="Open Sans"/>
              </a:rPr>
              <a:t>N</a:t>
            </a:r>
            <a:r>
              <a:rPr lang="en-IN" b="0" i="0" dirty="0">
                <a:solidFill>
                  <a:srgbClr val="7030A0"/>
                </a:solidFill>
                <a:effectLst/>
                <a:latin typeface="Open Sans"/>
              </a:rPr>
              <a:t>ode with right child:</a:t>
            </a:r>
            <a:r>
              <a:rPr lang="en-IN" b="0" i="0" dirty="0">
                <a:solidFill>
                  <a:srgbClr val="161616"/>
                </a:solidFill>
                <a:effectLst/>
                <a:latin typeface="Open Sans"/>
              </a:rPr>
              <a:t> If the node has only right child (left will be </a:t>
            </a:r>
            <a:r>
              <a:rPr lang="en-IN" b="0" i="0" dirty="0" err="1">
                <a:solidFill>
                  <a:srgbClr val="161616"/>
                </a:solidFill>
                <a:effectLst/>
                <a:latin typeface="Open Sans"/>
              </a:rPr>
              <a:t>NuLL</a:t>
            </a:r>
            <a:r>
              <a:rPr lang="en-IN" b="0" i="0" dirty="0">
                <a:solidFill>
                  <a:srgbClr val="161616"/>
                </a:solidFill>
                <a:effectLst/>
                <a:latin typeface="Open Sans"/>
              </a:rPr>
              <a:t>), make node  points to the right node and free the node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F0326-57B8-4172-AD26-3100BA5D7B50}"/>
              </a:ext>
            </a:extLst>
          </p:cNvPr>
          <p:cNvSpPr txBox="1"/>
          <p:nvPr/>
        </p:nvSpPr>
        <p:spPr>
          <a:xfrm>
            <a:off x="2096086" y="2548320"/>
            <a:ext cx="70514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</a:t>
            </a:r>
          </a:p>
          <a:p>
            <a:r>
              <a:rPr lang="en-IN" dirty="0"/>
              <a:t>  100                                                100</a:t>
            </a:r>
          </a:p>
          <a:p>
            <a:r>
              <a:rPr lang="en-IN" dirty="0"/>
              <a:t>  / \                                                    / \</a:t>
            </a:r>
          </a:p>
          <a:p>
            <a:r>
              <a:rPr lang="en-IN" dirty="0"/>
              <a:t>50  200         delete(200)             50 300</a:t>
            </a:r>
          </a:p>
          <a:p>
            <a:r>
              <a:rPr lang="en-IN" dirty="0"/>
              <a:t>         \</a:t>
            </a:r>
          </a:p>
          <a:p>
            <a:r>
              <a:rPr lang="en-IN" dirty="0"/>
              <a:t>         300</a:t>
            </a:r>
          </a:p>
        </p:txBody>
      </p:sp>
    </p:spTree>
    <p:extLst>
      <p:ext uri="{BB962C8B-B14F-4D97-AF65-F5344CB8AC3E}">
        <p14:creationId xmlns:p14="http://schemas.microsoft.com/office/powerpoint/2010/main" val="4060542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43DA-F3D0-48A2-BB3A-0E8919A4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Deleting a node from BST-</a:t>
            </a:r>
            <a:r>
              <a:rPr lang="en-IN" dirty="0" err="1">
                <a:solidFill>
                  <a:srgbClr val="FF0000"/>
                </a:solidFill>
              </a:rPr>
              <a:t>cntd</a:t>
            </a:r>
            <a:r>
              <a:rPr lang="en-IN" dirty="0">
                <a:solidFill>
                  <a:srgbClr val="FF0000"/>
                </a:solidFill>
              </a:rPr>
              <a:t>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3B5ED-D32A-4588-AE39-F29CFEBEE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655928"/>
          </a:xfrm>
        </p:spPr>
        <p:txBody>
          <a:bodyPr/>
          <a:lstStyle/>
          <a:p>
            <a:r>
              <a:rPr lang="en-IN" dirty="0">
                <a:solidFill>
                  <a:srgbClr val="7030A0"/>
                </a:solidFill>
                <a:latin typeface="Open Sans"/>
              </a:rPr>
              <a:t>N</a:t>
            </a:r>
            <a:r>
              <a:rPr lang="en-IN" b="0" i="0" dirty="0">
                <a:solidFill>
                  <a:srgbClr val="7030A0"/>
                </a:solidFill>
                <a:effectLst/>
                <a:latin typeface="Open Sans"/>
              </a:rPr>
              <a:t>ode with left child:</a:t>
            </a:r>
            <a:r>
              <a:rPr lang="en-IN" b="0" i="0" dirty="0">
                <a:solidFill>
                  <a:srgbClr val="161616"/>
                </a:solidFill>
                <a:effectLst/>
                <a:latin typeface="Open Sans"/>
              </a:rPr>
              <a:t> If the node has only left child </a:t>
            </a:r>
            <a:r>
              <a:rPr lang="en-IN" dirty="0">
                <a:solidFill>
                  <a:srgbClr val="161616"/>
                </a:solidFill>
                <a:latin typeface="Open Sans"/>
              </a:rPr>
              <a:t>(right will be NULL), make the node points to the left node and free the node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074911-7ECE-4D23-87F5-F8FFC12251AB}"/>
              </a:ext>
            </a:extLst>
          </p:cNvPr>
          <p:cNvSpPr txBox="1"/>
          <p:nvPr/>
        </p:nvSpPr>
        <p:spPr>
          <a:xfrm>
            <a:off x="3049172" y="2548320"/>
            <a:ext cx="60983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</a:t>
            </a:r>
          </a:p>
          <a:p>
            <a:r>
              <a:rPr lang="en-IN" dirty="0"/>
              <a:t>  100                                                 100</a:t>
            </a:r>
          </a:p>
          <a:p>
            <a:r>
              <a:rPr lang="en-IN" dirty="0"/>
              <a:t>    / \                                                   / \</a:t>
            </a:r>
          </a:p>
          <a:p>
            <a:r>
              <a:rPr lang="en-IN" dirty="0"/>
              <a:t>50  200         delete(200)              50 150</a:t>
            </a:r>
          </a:p>
          <a:p>
            <a:r>
              <a:rPr lang="en-IN" dirty="0"/>
              <a:t>      /</a:t>
            </a:r>
          </a:p>
          <a:p>
            <a:r>
              <a:rPr lang="en-IN" dirty="0"/>
              <a:t>  150</a:t>
            </a:r>
          </a:p>
        </p:txBody>
      </p:sp>
    </p:spTree>
    <p:extLst>
      <p:ext uri="{BB962C8B-B14F-4D97-AF65-F5344CB8AC3E}">
        <p14:creationId xmlns:p14="http://schemas.microsoft.com/office/powerpoint/2010/main" val="2386984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43DA-F3D0-48A2-BB3A-0E8919A4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Deleting a node from BST-</a:t>
            </a:r>
            <a:r>
              <a:rPr lang="en-IN" dirty="0" err="1">
                <a:solidFill>
                  <a:srgbClr val="FF0000"/>
                </a:solidFill>
              </a:rPr>
              <a:t>cntd</a:t>
            </a:r>
            <a:r>
              <a:rPr lang="en-IN" dirty="0">
                <a:solidFill>
                  <a:srgbClr val="FF0000"/>
                </a:solidFill>
              </a:rPr>
              <a:t>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3B5ED-D32A-4588-AE39-F29CFEBEE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952543"/>
          </a:xfrm>
        </p:spPr>
        <p:txBody>
          <a:bodyPr/>
          <a:lstStyle/>
          <a:p>
            <a:pPr algn="l"/>
            <a:r>
              <a:rPr lang="en-IN" dirty="0">
                <a:solidFill>
                  <a:srgbClr val="7030A0"/>
                </a:solidFill>
                <a:latin typeface="Open Sans"/>
              </a:rPr>
              <a:t>N</a:t>
            </a:r>
            <a:r>
              <a:rPr lang="en-IN" b="0" i="0" dirty="0">
                <a:solidFill>
                  <a:srgbClr val="7030A0"/>
                </a:solidFill>
                <a:effectLst/>
                <a:latin typeface="Open Sans"/>
              </a:rPr>
              <a:t>ode has both left and </a:t>
            </a:r>
            <a:r>
              <a:rPr lang="en-IN" dirty="0">
                <a:solidFill>
                  <a:srgbClr val="7030A0"/>
                </a:solidFill>
                <a:latin typeface="Open Sans"/>
              </a:rPr>
              <a:t>right child</a:t>
            </a:r>
            <a:r>
              <a:rPr lang="en-IN" b="0" i="0" dirty="0">
                <a:solidFill>
                  <a:srgbClr val="7030A0"/>
                </a:solidFill>
                <a:effectLst/>
                <a:latin typeface="Open Sans"/>
              </a:rPr>
              <a:t>: </a:t>
            </a:r>
            <a:r>
              <a:rPr lang="en-IN" b="0" i="0" dirty="0">
                <a:solidFill>
                  <a:srgbClr val="161616"/>
                </a:solidFill>
                <a:effectLst/>
                <a:latin typeface="Open Sans"/>
              </a:rPr>
              <a:t>If the node has both left and right child,</a:t>
            </a:r>
          </a:p>
          <a:p>
            <a:pPr algn="l"/>
            <a:r>
              <a:rPr lang="en-IN" b="0" i="0" dirty="0">
                <a:solidFill>
                  <a:srgbClr val="161616"/>
                </a:solidFill>
                <a:effectLst/>
                <a:latin typeface="Open Sans"/>
              </a:rPr>
              <a:t>1.find the smallest node in the right subtree. say min</a:t>
            </a:r>
          </a:p>
          <a:p>
            <a:pPr algn="l"/>
            <a:r>
              <a:rPr lang="en-IN" b="0" i="0" dirty="0">
                <a:solidFill>
                  <a:srgbClr val="161616"/>
                </a:solidFill>
                <a:effectLst/>
                <a:latin typeface="Open Sans"/>
              </a:rPr>
              <a:t>2.make node-&gt;data = min</a:t>
            </a:r>
          </a:p>
          <a:p>
            <a:pPr algn="l"/>
            <a:r>
              <a:rPr lang="en-IN" b="0" i="0" dirty="0">
                <a:solidFill>
                  <a:srgbClr val="161616"/>
                </a:solidFill>
                <a:effectLst/>
                <a:latin typeface="Open Sans"/>
              </a:rPr>
              <a:t>3.Again delete the min node.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53EFE-07D7-403B-A13B-FEE3216D912F}"/>
              </a:ext>
            </a:extLst>
          </p:cNvPr>
          <p:cNvSpPr txBox="1"/>
          <p:nvPr/>
        </p:nvSpPr>
        <p:spPr>
          <a:xfrm>
            <a:off x="1294227" y="3906651"/>
            <a:ext cx="89751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                                                           (step 2)           (step 3)</a:t>
            </a:r>
          </a:p>
          <a:p>
            <a:r>
              <a:rPr lang="en-IN" dirty="0"/>
              <a:t>  100                                                                     100                 100</a:t>
            </a:r>
          </a:p>
          <a:p>
            <a:r>
              <a:rPr lang="en-IN" dirty="0"/>
              <a:t>   / \                                                                        / \                   / \</a:t>
            </a:r>
          </a:p>
          <a:p>
            <a:r>
              <a:rPr lang="en-IN" dirty="0"/>
              <a:t>50  200         delete(200)                                 50  300          50  300</a:t>
            </a:r>
          </a:p>
          <a:p>
            <a:r>
              <a:rPr lang="en-IN" dirty="0"/>
              <a:t>       / \         (right subtree min = 300) </a:t>
            </a:r>
            <a:r>
              <a:rPr lang="en-IN" dirty="0" smtClean="0"/>
              <a:t>          </a:t>
            </a:r>
            <a:r>
              <a:rPr lang="en-IN" dirty="0"/>
              <a:t> </a:t>
            </a:r>
            <a:r>
              <a:rPr lang="en-IN" dirty="0" smtClean="0"/>
              <a:t>      / </a:t>
            </a:r>
            <a:r>
              <a:rPr lang="en-IN" dirty="0"/>
              <a:t>\                   </a:t>
            </a:r>
            <a:r>
              <a:rPr lang="en-IN" dirty="0" smtClean="0"/>
              <a:t>/</a:t>
            </a:r>
            <a:endParaRPr lang="en-IN" dirty="0"/>
          </a:p>
          <a:p>
            <a:r>
              <a:rPr lang="en-IN" dirty="0"/>
              <a:t>  150  300      (step 1)                                  </a:t>
            </a:r>
            <a:r>
              <a:rPr lang="en-IN" dirty="0" smtClean="0"/>
              <a:t>        150 </a:t>
            </a:r>
            <a:r>
              <a:rPr lang="en-IN" dirty="0"/>
              <a:t>300         </a:t>
            </a:r>
            <a:r>
              <a:rPr lang="en-IN" dirty="0" smtClean="0"/>
              <a:t>150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51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6262-5708-4925-9FB3-DA0FFE97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963" y="3024554"/>
            <a:ext cx="1645920" cy="1115756"/>
          </a:xfrm>
        </p:spPr>
        <p:txBody>
          <a:bodyPr>
            <a:normAutofit/>
          </a:bodyPr>
          <a:lstStyle/>
          <a:p>
            <a:r>
              <a:rPr lang="en-IN" sz="6000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2332189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9533</TotalTime>
  <Words>825</Words>
  <Application>Microsoft Office PowerPoint</Application>
  <PresentationFormat>Widescreen</PresentationFormat>
  <Paragraphs>213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Calibri Light</vt:lpstr>
      <vt:lpstr>Open Sans</vt:lpstr>
      <vt:lpstr>Verdana</vt:lpstr>
      <vt:lpstr>Wingdings</vt:lpstr>
      <vt:lpstr>Retrospect</vt:lpstr>
      <vt:lpstr>Introduction to trees</vt:lpstr>
      <vt:lpstr>BST</vt:lpstr>
      <vt:lpstr>Construct a BST </vt:lpstr>
      <vt:lpstr>BST Example</vt:lpstr>
      <vt:lpstr>Insert 200 and 125 in the following tree</vt:lpstr>
      <vt:lpstr>Binary Search Tree Implementation</vt:lpstr>
      <vt:lpstr>Insertion in BST</vt:lpstr>
      <vt:lpstr>Insertion in BST-sample code</vt:lpstr>
      <vt:lpstr>Insertion in BST-sample code-cntd..</vt:lpstr>
      <vt:lpstr>PowerPoint Presentation</vt:lpstr>
      <vt:lpstr>PowerPoint Presentation</vt:lpstr>
      <vt:lpstr>Deleting a node from BST</vt:lpstr>
      <vt:lpstr>Deleting a node from BST-cntd..</vt:lpstr>
      <vt:lpstr>Deleting a node from BST-cntd..</vt:lpstr>
      <vt:lpstr>Deleting a node from BST-cntd..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trees</dc:title>
  <dc:creator>S.M. Farooq</dc:creator>
  <cp:lastModifiedBy>Farooq S M 19727</cp:lastModifiedBy>
  <cp:revision>564</cp:revision>
  <dcterms:created xsi:type="dcterms:W3CDTF">2021-01-21T15:50:41Z</dcterms:created>
  <dcterms:modified xsi:type="dcterms:W3CDTF">2023-04-26T13:18:59Z</dcterms:modified>
</cp:coreProperties>
</file>