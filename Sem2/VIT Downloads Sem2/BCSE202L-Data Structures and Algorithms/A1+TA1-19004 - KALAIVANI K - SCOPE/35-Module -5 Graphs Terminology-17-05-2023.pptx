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71" r:id="rId4"/>
    <p:sldId id="272" r:id="rId5"/>
    <p:sldId id="273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Shortest-Path Algorithms</a:t>
            </a:r>
            <a:endParaRPr lang="en-IN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15" y="1676400"/>
            <a:ext cx="8202170" cy="4495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603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81000"/>
            <a:ext cx="7772400" cy="1470025"/>
          </a:xfrm>
        </p:spPr>
        <p:txBody>
          <a:bodyPr>
            <a:normAutofit/>
          </a:bodyPr>
          <a:lstStyle/>
          <a:p>
            <a:r>
              <a:rPr lang="en-IN" sz="4800" dirty="0" err="1"/>
              <a:t>Dijkstra’s</a:t>
            </a:r>
            <a:r>
              <a:rPr lang="en-IN" sz="4800" dirty="0"/>
              <a:t> Algorithm</a:t>
            </a:r>
            <a:endParaRPr lang="en-IN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1828800"/>
            <a:ext cx="8915400" cy="1752600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The general method to solve the single-source shortest-path problem is known </a:t>
            </a:r>
            <a:r>
              <a:rPr lang="en-US" dirty="0" smtClean="0">
                <a:solidFill>
                  <a:schemeClr val="tx1"/>
                </a:solidFill>
              </a:rPr>
              <a:t>as </a:t>
            </a:r>
            <a:r>
              <a:rPr lang="en-US" b="1" dirty="0" err="1" smtClean="0">
                <a:solidFill>
                  <a:schemeClr val="tx1"/>
                </a:solidFill>
              </a:rPr>
              <a:t>Dijkstra’s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</a:rPr>
              <a:t>algorithm. </a:t>
            </a:r>
            <a:endParaRPr lang="en-US" b="1" dirty="0" smtClean="0">
              <a:solidFill>
                <a:schemeClr val="tx1"/>
              </a:solidFill>
            </a:endParaRP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This </a:t>
            </a:r>
            <a:r>
              <a:rPr lang="en-US" dirty="0">
                <a:solidFill>
                  <a:schemeClr val="tx1"/>
                </a:solidFill>
              </a:rPr>
              <a:t>thirty-year-old solution is a prime example of a </a:t>
            </a:r>
            <a:r>
              <a:rPr lang="en-US" b="1" dirty="0">
                <a:solidFill>
                  <a:schemeClr val="tx1"/>
                </a:solidFill>
              </a:rPr>
              <a:t>greedy algorithm.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Greedy algorithms generally solve a problem in stages by doing what appears </a:t>
            </a:r>
            <a:r>
              <a:rPr lang="en-US" dirty="0" smtClean="0">
                <a:solidFill>
                  <a:schemeClr val="tx1"/>
                </a:solidFill>
              </a:rPr>
              <a:t>to be </a:t>
            </a:r>
            <a:r>
              <a:rPr lang="en-US" dirty="0">
                <a:solidFill>
                  <a:schemeClr val="tx1"/>
                </a:solidFill>
              </a:rPr>
              <a:t>the best thing at each stage.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855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SINGLE-SOURCE SHORTEST-PATH PROBLEM: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as input a weighted graph, G = (V, E), and a distinguished vertex, s , find the shortest</a:t>
            </a:r>
          </a:p>
          <a:p>
            <a:pPr marL="0" indent="0">
              <a:buNone/>
            </a:pPr>
            <a:r>
              <a:rPr lang="en-US" dirty="0" smtClean="0"/>
              <a:t>   weighted </a:t>
            </a:r>
            <a:r>
              <a:rPr lang="en-US" dirty="0"/>
              <a:t>path from s to every other vertex in 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6314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Unweighted</a:t>
            </a:r>
            <a:r>
              <a:rPr lang="en-IN" dirty="0"/>
              <a:t> Shortest Paths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Figure 9.10 shows an </a:t>
            </a:r>
            <a:r>
              <a:rPr lang="en-US" dirty="0" err="1"/>
              <a:t>unweighted</a:t>
            </a:r>
            <a:r>
              <a:rPr lang="en-US" dirty="0"/>
              <a:t> graph, G. Using some vertex, s, which is an input parameter, </a:t>
            </a:r>
            <a:r>
              <a:rPr lang="en-US" dirty="0" smtClean="0"/>
              <a:t>we would </a:t>
            </a:r>
            <a:r>
              <a:rPr lang="en-US" dirty="0"/>
              <a:t>like to find the shortest path from s to all other vertices.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We </a:t>
            </a:r>
            <a:r>
              <a:rPr lang="en-US" dirty="0"/>
              <a:t>are only interested in </a:t>
            </a:r>
            <a:r>
              <a:rPr lang="en-US" dirty="0" smtClean="0"/>
              <a:t>the number </a:t>
            </a:r>
            <a:r>
              <a:rPr lang="en-US" dirty="0"/>
              <a:t>of edges contained on the path, so there are no weights on the edges. This is clearly </a:t>
            </a:r>
            <a:r>
              <a:rPr lang="en-US" dirty="0" smtClean="0"/>
              <a:t>a special </a:t>
            </a:r>
            <a:r>
              <a:rPr lang="en-US" dirty="0"/>
              <a:t>case of the weighted shortest-path problem, since we could assign all edges a weight </a:t>
            </a:r>
            <a:r>
              <a:rPr lang="en-US" dirty="0" smtClean="0"/>
              <a:t>of </a:t>
            </a:r>
            <a:r>
              <a:rPr lang="en-IN" dirty="0" smtClean="0"/>
              <a:t>1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US" dirty="0"/>
              <a:t>For now, suppose we are interested only in the length of the shortest paths, not in the </a:t>
            </a:r>
            <a:r>
              <a:rPr lang="en-US" dirty="0" smtClean="0"/>
              <a:t>actual paths </a:t>
            </a:r>
            <a:r>
              <a:rPr lang="en-US" dirty="0"/>
              <a:t>themselves. Keeping track of the actual paths will turn out to be a matter of </a:t>
            </a:r>
            <a:r>
              <a:rPr lang="en-US" dirty="0" smtClean="0"/>
              <a:t>simple </a:t>
            </a:r>
            <a:r>
              <a:rPr lang="en-IN" dirty="0" smtClean="0"/>
              <a:t>bookkeeping</a:t>
            </a:r>
            <a:r>
              <a:rPr lang="en-IN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2929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33400"/>
            <a:ext cx="65151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2664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Dijkstra’s</a:t>
            </a:r>
            <a:r>
              <a:rPr lang="en-US" dirty="0"/>
              <a:t> algorithm proceeds in stages, just like the </a:t>
            </a:r>
            <a:r>
              <a:rPr lang="en-US" dirty="0" err="1"/>
              <a:t>unweighted</a:t>
            </a:r>
            <a:r>
              <a:rPr lang="en-US" dirty="0"/>
              <a:t> shortest-path algorithm.</a:t>
            </a:r>
          </a:p>
          <a:p>
            <a:r>
              <a:rPr lang="en-US" dirty="0"/>
              <a:t>At each stage, </a:t>
            </a:r>
            <a:r>
              <a:rPr lang="en-US" dirty="0" err="1"/>
              <a:t>Dijkstra’s</a:t>
            </a:r>
            <a:r>
              <a:rPr lang="en-US" dirty="0"/>
              <a:t> algorithm selects a vertex, </a:t>
            </a:r>
            <a:r>
              <a:rPr lang="en-US" i="1" dirty="0"/>
              <a:t>v</a:t>
            </a:r>
            <a:r>
              <a:rPr lang="en-US" dirty="0"/>
              <a:t>, which has the smallest </a:t>
            </a:r>
            <a:r>
              <a:rPr lang="en-US" i="1" dirty="0" smtClean="0"/>
              <a:t>dv </a:t>
            </a:r>
            <a:r>
              <a:rPr lang="en-US" dirty="0" smtClean="0"/>
              <a:t>among </a:t>
            </a:r>
            <a:r>
              <a:rPr lang="en-US" dirty="0"/>
              <a:t>all the </a:t>
            </a:r>
            <a:r>
              <a:rPr lang="en-US" i="1" dirty="0"/>
              <a:t>unknown </a:t>
            </a:r>
            <a:r>
              <a:rPr lang="en-US" dirty="0"/>
              <a:t>vertices and declares that the shortest path from </a:t>
            </a:r>
            <a:r>
              <a:rPr lang="en-US" i="1" dirty="0"/>
              <a:t>s </a:t>
            </a:r>
            <a:r>
              <a:rPr lang="en-US" dirty="0"/>
              <a:t>to </a:t>
            </a:r>
            <a:r>
              <a:rPr lang="en-US" i="1" dirty="0"/>
              <a:t>v </a:t>
            </a:r>
            <a:r>
              <a:rPr lang="en-US" dirty="0"/>
              <a:t>is </a:t>
            </a:r>
            <a:r>
              <a:rPr lang="en-US" i="1" dirty="0"/>
              <a:t>known.</a:t>
            </a:r>
          </a:p>
          <a:p>
            <a:r>
              <a:rPr lang="en-US" dirty="0"/>
              <a:t>The remainder of a stage consists of updating the values of </a:t>
            </a:r>
            <a:r>
              <a:rPr lang="en-US" i="1" dirty="0" err="1"/>
              <a:t>dw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9124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In the </a:t>
            </a:r>
            <a:r>
              <a:rPr lang="en-US" dirty="0" err="1"/>
              <a:t>unweighted</a:t>
            </a:r>
            <a:r>
              <a:rPr lang="en-US" dirty="0"/>
              <a:t> case, we set </a:t>
            </a:r>
            <a:r>
              <a:rPr lang="en-US" i="1" dirty="0" err="1"/>
              <a:t>dw</a:t>
            </a:r>
            <a:r>
              <a:rPr lang="en-US" i="1" dirty="0"/>
              <a:t> </a:t>
            </a:r>
            <a:r>
              <a:rPr lang="en-US" dirty="0"/>
              <a:t>= </a:t>
            </a:r>
            <a:r>
              <a:rPr lang="en-US" i="1" dirty="0"/>
              <a:t>dv </a:t>
            </a:r>
            <a:r>
              <a:rPr lang="en-US" dirty="0"/>
              <a:t>+ 1 if </a:t>
            </a:r>
            <a:r>
              <a:rPr lang="en-US" i="1" dirty="0" err="1"/>
              <a:t>dw</a:t>
            </a:r>
            <a:r>
              <a:rPr lang="en-US" i="1" dirty="0"/>
              <a:t> </a:t>
            </a:r>
            <a:r>
              <a:rPr lang="en-US" dirty="0"/>
              <a:t>= ∞. </a:t>
            </a:r>
            <a:endParaRPr lang="en-US" dirty="0" smtClean="0"/>
          </a:p>
          <a:p>
            <a:r>
              <a:rPr lang="en-US" dirty="0" smtClean="0"/>
              <a:t>Thus</a:t>
            </a:r>
            <a:r>
              <a:rPr lang="en-US" dirty="0"/>
              <a:t>, we essentially </a:t>
            </a:r>
            <a:r>
              <a:rPr lang="en-US" dirty="0" smtClean="0"/>
              <a:t>lowered the </a:t>
            </a:r>
            <a:r>
              <a:rPr lang="en-US" dirty="0"/>
              <a:t>value of </a:t>
            </a:r>
            <a:r>
              <a:rPr lang="en-US" i="1" dirty="0" err="1"/>
              <a:t>dw</a:t>
            </a:r>
            <a:r>
              <a:rPr lang="en-US" i="1" dirty="0"/>
              <a:t> </a:t>
            </a:r>
            <a:r>
              <a:rPr lang="en-US" dirty="0"/>
              <a:t>if vertex </a:t>
            </a:r>
            <a:r>
              <a:rPr lang="en-US" i="1" dirty="0"/>
              <a:t>v </a:t>
            </a:r>
            <a:r>
              <a:rPr lang="en-US" dirty="0"/>
              <a:t>offered a shorter path. If we apply the same logic to the </a:t>
            </a:r>
            <a:r>
              <a:rPr lang="en-US" dirty="0" smtClean="0"/>
              <a:t>weighted </a:t>
            </a:r>
            <a:r>
              <a:rPr lang="en-US" dirty="0"/>
              <a:t>case, then we should set </a:t>
            </a:r>
            <a:r>
              <a:rPr lang="en-US" i="1" dirty="0" err="1"/>
              <a:t>dw</a:t>
            </a:r>
            <a:r>
              <a:rPr lang="en-US" i="1" dirty="0"/>
              <a:t> </a:t>
            </a:r>
            <a:r>
              <a:rPr lang="en-US" dirty="0"/>
              <a:t>= </a:t>
            </a:r>
            <a:r>
              <a:rPr lang="en-US" i="1" dirty="0"/>
              <a:t>dv </a:t>
            </a:r>
            <a:r>
              <a:rPr lang="en-US" dirty="0"/>
              <a:t>+</a:t>
            </a:r>
            <a:r>
              <a:rPr lang="en-US" i="1" dirty="0" err="1"/>
              <a:t>cv</a:t>
            </a:r>
            <a:r>
              <a:rPr lang="en-US" dirty="0" err="1"/>
              <a:t>,</a:t>
            </a:r>
            <a:r>
              <a:rPr lang="en-US" i="1" dirty="0" err="1"/>
              <a:t>w</a:t>
            </a:r>
            <a:r>
              <a:rPr lang="en-US" i="1" dirty="0"/>
              <a:t> </a:t>
            </a:r>
            <a:r>
              <a:rPr lang="en-US" dirty="0"/>
              <a:t>if this new value for </a:t>
            </a:r>
            <a:r>
              <a:rPr lang="en-US" i="1" dirty="0" err="1"/>
              <a:t>dw</a:t>
            </a:r>
            <a:r>
              <a:rPr lang="en-US" i="1" dirty="0"/>
              <a:t> </a:t>
            </a:r>
            <a:r>
              <a:rPr lang="en-US" dirty="0"/>
              <a:t>would be an improvement.</a:t>
            </a:r>
          </a:p>
          <a:p>
            <a:r>
              <a:rPr lang="en-US" dirty="0"/>
              <a:t>Put simply, the algorithm decides whether or not it is a good idea to use </a:t>
            </a:r>
            <a:r>
              <a:rPr lang="en-US" i="1" dirty="0"/>
              <a:t>v </a:t>
            </a:r>
            <a:r>
              <a:rPr lang="en-US" dirty="0"/>
              <a:t>on the path to </a:t>
            </a:r>
            <a:r>
              <a:rPr lang="en-US" i="1" dirty="0"/>
              <a:t>w</a:t>
            </a:r>
            <a:r>
              <a:rPr lang="en-US" dirty="0"/>
              <a:t>.</a:t>
            </a:r>
          </a:p>
          <a:p>
            <a:r>
              <a:rPr lang="en-US" dirty="0"/>
              <a:t>The original cost, </a:t>
            </a:r>
            <a:r>
              <a:rPr lang="en-US" i="1" dirty="0" err="1"/>
              <a:t>dw</a:t>
            </a:r>
            <a:r>
              <a:rPr lang="en-US" dirty="0"/>
              <a:t>, is the cost without using </a:t>
            </a:r>
            <a:r>
              <a:rPr lang="en-US" i="1" dirty="0"/>
              <a:t>v</a:t>
            </a:r>
            <a:r>
              <a:rPr lang="en-US" dirty="0"/>
              <a:t>; the cost calculated above is the </a:t>
            </a:r>
            <a:r>
              <a:rPr lang="en-US" dirty="0" smtClean="0"/>
              <a:t>cheapest  path </a:t>
            </a:r>
            <a:r>
              <a:rPr lang="en-US" dirty="0"/>
              <a:t>using </a:t>
            </a:r>
            <a:r>
              <a:rPr lang="en-US" i="1" dirty="0"/>
              <a:t>v </a:t>
            </a:r>
            <a:r>
              <a:rPr lang="en-US" dirty="0"/>
              <a:t>(and only </a:t>
            </a:r>
            <a:r>
              <a:rPr lang="en-US" i="1" dirty="0"/>
              <a:t>known </a:t>
            </a:r>
            <a:r>
              <a:rPr lang="en-US" dirty="0"/>
              <a:t>vertices).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6957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" y="381000"/>
            <a:ext cx="8839200" cy="7109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The graph in Figure 9.20 is our example. Figure 9.21 represents the initial configuration,</a:t>
            </a: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assuming that the start node, </a:t>
            </a:r>
            <a:r>
              <a:rPr lang="en-US" sz="2400" i="1" dirty="0">
                <a:latin typeface="Arial" pitchFamily="34" charset="0"/>
                <a:cs typeface="Arial" pitchFamily="34" charset="0"/>
              </a:rPr>
              <a:t>s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, is </a:t>
            </a:r>
            <a:r>
              <a:rPr lang="en-US" sz="2400" i="1" dirty="0">
                <a:latin typeface="Arial" pitchFamily="34" charset="0"/>
                <a:cs typeface="Arial" pitchFamily="34" charset="0"/>
              </a:rPr>
              <a:t>v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1. The first vertex selected is </a:t>
            </a:r>
            <a:r>
              <a:rPr lang="en-US" sz="2400" i="1" dirty="0">
                <a:latin typeface="Arial" pitchFamily="34" charset="0"/>
                <a:cs typeface="Arial" pitchFamily="34" charset="0"/>
              </a:rPr>
              <a:t>v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1, with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path  length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0. 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This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vertex is marked </a:t>
            </a:r>
            <a:r>
              <a:rPr lang="en-US" sz="2400" i="1" dirty="0">
                <a:latin typeface="Arial" pitchFamily="34" charset="0"/>
                <a:cs typeface="Arial" pitchFamily="34" charset="0"/>
              </a:rPr>
              <a:t>known.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Now that </a:t>
            </a:r>
            <a:r>
              <a:rPr lang="en-US" sz="2400" i="1" dirty="0">
                <a:latin typeface="Arial" pitchFamily="34" charset="0"/>
                <a:cs typeface="Arial" pitchFamily="34" charset="0"/>
              </a:rPr>
              <a:t>v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1 is </a:t>
            </a:r>
            <a:r>
              <a:rPr lang="en-US" sz="2400" i="1" dirty="0">
                <a:latin typeface="Arial" pitchFamily="34" charset="0"/>
                <a:cs typeface="Arial" pitchFamily="34" charset="0"/>
              </a:rPr>
              <a:t>known,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some entries need to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be  adjusted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. 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vertices adjacent to </a:t>
            </a:r>
            <a:r>
              <a:rPr lang="en-US" sz="2400" i="1" dirty="0">
                <a:latin typeface="Arial" pitchFamily="34" charset="0"/>
                <a:cs typeface="Arial" pitchFamily="34" charset="0"/>
              </a:rPr>
              <a:t>v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1 are </a:t>
            </a:r>
            <a:r>
              <a:rPr lang="en-US" sz="2400" i="1" dirty="0">
                <a:latin typeface="Arial" pitchFamily="34" charset="0"/>
                <a:cs typeface="Arial" pitchFamily="34" charset="0"/>
              </a:rPr>
              <a:t>v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2 and </a:t>
            </a:r>
            <a:r>
              <a:rPr lang="en-US" sz="2400" i="1" dirty="0">
                <a:latin typeface="Arial" pitchFamily="34" charset="0"/>
                <a:cs typeface="Arial" pitchFamily="34" charset="0"/>
              </a:rPr>
              <a:t>v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4. Both these vertices get their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entries  adjusted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, as indicated in Figure 9.22.</a:t>
            </a: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Next, </a:t>
            </a:r>
            <a:r>
              <a:rPr lang="en-US" sz="2400" i="1" dirty="0">
                <a:latin typeface="Arial" pitchFamily="34" charset="0"/>
                <a:cs typeface="Arial" pitchFamily="34" charset="0"/>
              </a:rPr>
              <a:t>v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4 is selected and marked </a:t>
            </a:r>
            <a:r>
              <a:rPr lang="en-US" sz="2400" i="1" dirty="0">
                <a:latin typeface="Arial" pitchFamily="34" charset="0"/>
                <a:cs typeface="Arial" pitchFamily="34" charset="0"/>
              </a:rPr>
              <a:t>known.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Vertices </a:t>
            </a:r>
            <a:r>
              <a:rPr lang="en-US" sz="2400" i="1" dirty="0">
                <a:latin typeface="Arial" pitchFamily="34" charset="0"/>
                <a:cs typeface="Arial" pitchFamily="34" charset="0"/>
              </a:rPr>
              <a:t>v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3, </a:t>
            </a:r>
            <a:r>
              <a:rPr lang="en-US" sz="2400" i="1" dirty="0">
                <a:latin typeface="Arial" pitchFamily="34" charset="0"/>
                <a:cs typeface="Arial" pitchFamily="34" charset="0"/>
              </a:rPr>
              <a:t>v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5, </a:t>
            </a:r>
            <a:r>
              <a:rPr lang="en-US" sz="2400" i="1" dirty="0">
                <a:latin typeface="Arial" pitchFamily="34" charset="0"/>
                <a:cs typeface="Arial" pitchFamily="34" charset="0"/>
              </a:rPr>
              <a:t>v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6, and </a:t>
            </a:r>
            <a:r>
              <a:rPr lang="en-US" sz="2400" i="1" dirty="0">
                <a:latin typeface="Arial" pitchFamily="34" charset="0"/>
                <a:cs typeface="Arial" pitchFamily="34" charset="0"/>
              </a:rPr>
              <a:t>v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7 are adjacent, and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it  turns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out that all require adjusting, as shown in Figure 9.23.</a:t>
            </a: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Next, </a:t>
            </a:r>
            <a:r>
              <a:rPr lang="en-US" sz="2400" i="1" dirty="0">
                <a:latin typeface="Arial" pitchFamily="34" charset="0"/>
                <a:cs typeface="Arial" pitchFamily="34" charset="0"/>
              </a:rPr>
              <a:t>v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2 is selected. </a:t>
            </a:r>
            <a:r>
              <a:rPr lang="en-US" sz="2400" i="1" dirty="0">
                <a:latin typeface="Arial" pitchFamily="34" charset="0"/>
                <a:cs typeface="Arial" pitchFamily="34" charset="0"/>
              </a:rPr>
              <a:t>v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4 is adjacent but already known, so no work is performed on it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r>
              <a:rPr lang="en-US" sz="2400" i="1" dirty="0">
                <a:latin typeface="Arial" pitchFamily="34" charset="0"/>
                <a:cs typeface="Arial" pitchFamily="34" charset="0"/>
              </a:rPr>
              <a:t>v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5 is adjacent but not adjusted, because the cost of going through </a:t>
            </a:r>
            <a:r>
              <a:rPr lang="en-US" sz="2400" i="1" dirty="0">
                <a:latin typeface="Arial" pitchFamily="34" charset="0"/>
                <a:cs typeface="Arial" pitchFamily="34" charset="0"/>
              </a:rPr>
              <a:t>v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2 is 2 + 10 = 12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and a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path of length 3 is already known. 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Figure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9.24 shows the table after these vertices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are  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selected</a:t>
            </a:r>
            <a:r>
              <a:rPr lang="en-IN" sz="2400" dirty="0">
                <a:latin typeface="Arial" pitchFamily="34" charset="0"/>
                <a:cs typeface="Arial" pitchFamily="34" charset="0"/>
              </a:rPr>
              <a:t>.</a:t>
            </a:r>
            <a:endParaRPr lang="en-IN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384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8305800" cy="640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627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"/>
            <a:ext cx="8534399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6417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76200"/>
            <a:ext cx="7315200" cy="640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2431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4800"/>
            <a:ext cx="8686800" cy="640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4171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"/>
            <a:ext cx="8000999" cy="647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4336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7709"/>
            <a:ext cx="8382000" cy="655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036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8600"/>
            <a:ext cx="8686800" cy="564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6911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533400"/>
            <a:ext cx="9067799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07728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073" y="152400"/>
            <a:ext cx="822960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505200"/>
            <a:ext cx="8229600" cy="2334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03258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1000"/>
            <a:ext cx="8458199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5602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void</a:t>
            </a:r>
          </a:p>
          <a:p>
            <a:pPr marL="0" indent="0">
              <a:buNone/>
            </a:pPr>
            <a:r>
              <a:rPr lang="en-US" dirty="0" err="1"/>
              <a:t>unweighted</a:t>
            </a:r>
            <a:r>
              <a:rPr lang="en-US" dirty="0"/>
              <a:t>( TABLE T ) /* assume T is initialized (Fig 9.30) */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QUEUE Q;</a:t>
            </a:r>
          </a:p>
          <a:p>
            <a:pPr marL="0" indent="0">
              <a:buNone/>
            </a:pPr>
            <a:r>
              <a:rPr lang="en-IN" dirty="0"/>
              <a:t>vertex v, w;</a:t>
            </a:r>
          </a:p>
          <a:p>
            <a:pPr marL="0" indent="0">
              <a:buNone/>
            </a:pPr>
            <a:r>
              <a:rPr lang="pt-BR" dirty="0" smtClean="0"/>
              <a:t>Q </a:t>
            </a:r>
            <a:r>
              <a:rPr lang="pt-BR" dirty="0"/>
              <a:t>= create_queue( NUM_VERTEX ); make_null( Q );</a:t>
            </a:r>
          </a:p>
          <a:p>
            <a:pPr marL="0" indent="0">
              <a:buNone/>
            </a:pPr>
            <a:r>
              <a:rPr lang="en-US" dirty="0"/>
              <a:t>/* </a:t>
            </a:r>
            <a:r>
              <a:rPr lang="en-US" dirty="0" err="1"/>
              <a:t>enqueue</a:t>
            </a:r>
            <a:r>
              <a:rPr lang="en-US" dirty="0"/>
              <a:t> the start vertex s, determined elsewhere */</a:t>
            </a:r>
          </a:p>
          <a:p>
            <a:pPr marL="0" indent="0">
              <a:buNone/>
            </a:pPr>
            <a:r>
              <a:rPr lang="en-IN" dirty="0" err="1" smtClean="0"/>
              <a:t>enqueue</a:t>
            </a:r>
            <a:r>
              <a:rPr lang="en-IN" dirty="0"/>
              <a:t>( s, Q );</a:t>
            </a:r>
          </a:p>
          <a:p>
            <a:pPr marL="0" indent="0">
              <a:buNone/>
            </a:pPr>
            <a:r>
              <a:rPr lang="en-US" dirty="0" smtClean="0"/>
              <a:t>while</a:t>
            </a:r>
            <a:r>
              <a:rPr lang="en-US" dirty="0"/>
              <a:t>( !is empty( Q ) 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 smtClean="0"/>
              <a:t>v </a:t>
            </a:r>
            <a:r>
              <a:rPr lang="en-IN" dirty="0"/>
              <a:t>= </a:t>
            </a:r>
            <a:r>
              <a:rPr lang="en-IN" dirty="0" err="1"/>
              <a:t>dequeue</a:t>
            </a:r>
            <a:r>
              <a:rPr lang="en-IN" dirty="0"/>
              <a:t>( Q </a:t>
            </a:r>
            <a:r>
              <a:rPr lang="en-IN" dirty="0" smtClean="0"/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4464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609600"/>
            <a:ext cx="4572000" cy="489364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 smtClean="0"/>
              <a:t>T[v</a:t>
            </a:r>
            <a:r>
              <a:rPr lang="en-US" sz="2400" dirty="0"/>
              <a:t>].known = TRUE; /* not really needed anymore */</a:t>
            </a:r>
          </a:p>
          <a:p>
            <a:r>
              <a:rPr lang="en-US" sz="2400" dirty="0" smtClean="0"/>
              <a:t>for </a:t>
            </a:r>
            <a:r>
              <a:rPr lang="en-US" sz="2400" dirty="0"/>
              <a:t>each w adjacent to v</a:t>
            </a:r>
          </a:p>
          <a:p>
            <a:r>
              <a:rPr lang="en-US" sz="2400" dirty="0" smtClean="0"/>
              <a:t>if</a:t>
            </a:r>
            <a:r>
              <a:rPr lang="en-US" sz="2400" dirty="0"/>
              <a:t>( T[w].</a:t>
            </a:r>
            <a:r>
              <a:rPr lang="en-US" sz="2400" dirty="0" err="1"/>
              <a:t>dist</a:t>
            </a:r>
            <a:r>
              <a:rPr lang="en-US" sz="2400" dirty="0"/>
              <a:t> = INT_MAX )</a:t>
            </a:r>
          </a:p>
          <a:p>
            <a:r>
              <a:rPr lang="en-IN" sz="2400" dirty="0"/>
              <a:t>{</a:t>
            </a:r>
          </a:p>
          <a:p>
            <a:r>
              <a:rPr lang="de-DE" sz="2400" dirty="0" smtClean="0"/>
              <a:t>T[w</a:t>
            </a:r>
            <a:r>
              <a:rPr lang="de-DE" sz="2400" dirty="0"/>
              <a:t>].dist = T[v].dist + 1;</a:t>
            </a:r>
          </a:p>
          <a:p>
            <a:r>
              <a:rPr lang="en-IN" sz="2400" dirty="0" smtClean="0"/>
              <a:t>T[w</a:t>
            </a:r>
            <a:r>
              <a:rPr lang="en-IN" sz="2400" dirty="0"/>
              <a:t>].path = v;</a:t>
            </a:r>
          </a:p>
          <a:p>
            <a:r>
              <a:rPr lang="en-IN" sz="2400" dirty="0" err="1" smtClean="0"/>
              <a:t>enqueue</a:t>
            </a:r>
            <a:r>
              <a:rPr lang="en-IN" sz="2400" dirty="0"/>
              <a:t>( w, Q );</a:t>
            </a:r>
          </a:p>
          <a:p>
            <a:r>
              <a:rPr lang="en-IN" sz="2400" dirty="0"/>
              <a:t>}</a:t>
            </a:r>
          </a:p>
          <a:p>
            <a:r>
              <a:rPr lang="en-IN" sz="2400" dirty="0"/>
              <a:t>}</a:t>
            </a:r>
          </a:p>
          <a:p>
            <a:r>
              <a:rPr lang="en-US" sz="2400" dirty="0" err="1" smtClean="0"/>
              <a:t>dispose_queue</a:t>
            </a:r>
            <a:r>
              <a:rPr lang="en-US" sz="2400" dirty="0"/>
              <a:t>( Q ); /* free the memory */</a:t>
            </a:r>
          </a:p>
          <a:p>
            <a:r>
              <a:rPr lang="en-IN" sz="2400" dirty="0"/>
              <a:t>}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302252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8382000" cy="647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01195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28600"/>
            <a:ext cx="8001000" cy="647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61189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8686800" cy="6324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85297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90" y="0"/>
            <a:ext cx="696190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3593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703</Words>
  <Application>Microsoft Office PowerPoint</Application>
  <PresentationFormat>On-screen Show (4:3)</PresentationFormat>
  <Paragraphs>51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Shortest-Path Algorithms</vt:lpstr>
      <vt:lpstr>Dijkstra’s Algorithm</vt:lpstr>
      <vt:lpstr>SINGLE-SOURCE SHORTEST-PATH PROBLEM:</vt:lpstr>
      <vt:lpstr>Unweighted Shortest Paths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Dijkstra’s Algorithm</dc:title>
  <dc:creator>welcome</dc:creator>
  <cp:lastModifiedBy>ismail - [2010]</cp:lastModifiedBy>
  <cp:revision>11</cp:revision>
  <dcterms:created xsi:type="dcterms:W3CDTF">2006-08-16T00:00:00Z</dcterms:created>
  <dcterms:modified xsi:type="dcterms:W3CDTF">2023-05-22T07:31:24Z</dcterms:modified>
</cp:coreProperties>
</file>