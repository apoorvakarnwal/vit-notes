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9" r:id="rId3"/>
    <p:sldId id="257" r:id="rId4"/>
    <p:sldId id="258" r:id="rId5"/>
    <p:sldId id="259" r:id="rId6"/>
    <p:sldId id="260" r:id="rId7"/>
    <p:sldId id="262" r:id="rId8"/>
    <p:sldId id="265" r:id="rId9"/>
    <p:sldId id="263" r:id="rId10"/>
    <p:sldId id="261" r:id="rId11"/>
    <p:sldId id="264" r:id="rId12"/>
    <p:sldId id="267" r:id="rId13"/>
    <p:sldId id="266" r:id="rId14"/>
    <p:sldId id="268" r:id="rId15"/>
    <p:sldId id="272" r:id="rId16"/>
    <p:sldId id="271" r:id="rId17"/>
    <p:sldId id="270" r:id="rId18"/>
    <p:sldId id="269" r:id="rId19"/>
    <p:sldId id="273" r:id="rId20"/>
    <p:sldId id="275" r:id="rId21"/>
    <p:sldId id="300" r:id="rId22"/>
    <p:sldId id="274" r:id="rId23"/>
    <p:sldId id="276" r:id="rId24"/>
    <p:sldId id="277" r:id="rId25"/>
    <p:sldId id="280" r:id="rId26"/>
    <p:sldId id="293" r:id="rId27"/>
    <p:sldId id="297" r:id="rId28"/>
    <p:sldId id="294" r:id="rId29"/>
    <p:sldId id="295" r:id="rId30"/>
    <p:sldId id="298" r:id="rId31"/>
    <p:sldId id="299" r:id="rId32"/>
    <p:sldId id="296" r:id="rId33"/>
    <p:sldId id="281" r:id="rId34"/>
    <p:sldId id="282" r:id="rId35"/>
    <p:sldId id="283" r:id="rId36"/>
    <p:sldId id="284" r:id="rId37"/>
    <p:sldId id="285" r:id="rId38"/>
    <p:sldId id="286" r:id="rId3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5/22/2023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5/22/2023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5/22/2023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5/22/2023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5/22/2023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a:t>Minimum Spanning Tree</a:t>
            </a:r>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24988239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lnSpcReduction="10000"/>
          </a:bodyPr>
          <a:lstStyle/>
          <a:p>
            <a:r>
              <a:rPr lang="en-US" dirty="0"/>
              <a:t>Spanning tree - A spanning tree is the </a:t>
            </a:r>
            <a:r>
              <a:rPr lang="en-US" dirty="0" err="1"/>
              <a:t>subgraph</a:t>
            </a:r>
            <a:r>
              <a:rPr lang="en-US" dirty="0"/>
              <a:t> of an undirected connected graph.</a:t>
            </a:r>
          </a:p>
          <a:p>
            <a:endParaRPr lang="en-US" dirty="0"/>
          </a:p>
          <a:p>
            <a:r>
              <a:rPr lang="en-US" dirty="0"/>
              <a:t>Minimum Spanning tree - Minimum spanning tree can be defined as the spanning tree in which the sum of the weights of the edge is minimum. The weight of the spanning tree is the sum of the weights given to the edges of the spanning tree.</a:t>
            </a:r>
            <a:endParaRPr lang="en-IN" dirty="0"/>
          </a:p>
        </p:txBody>
      </p:sp>
    </p:spTree>
    <p:extLst>
      <p:ext uri="{BB962C8B-B14F-4D97-AF65-F5344CB8AC3E}">
        <p14:creationId xmlns:p14="http://schemas.microsoft.com/office/powerpoint/2010/main" val="30235399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lnSpcReduction="10000"/>
          </a:bodyPr>
          <a:lstStyle/>
          <a:p>
            <a:r>
              <a:rPr lang="en-US" dirty="0"/>
              <a:t>The next problem we will consider is that of finding a minimum spanning tree in an </a:t>
            </a:r>
            <a:r>
              <a:rPr lang="en-US" dirty="0" smtClean="0"/>
              <a:t>undirected  graph</a:t>
            </a:r>
            <a:r>
              <a:rPr lang="en-US" dirty="0"/>
              <a:t>. The problem makes sense for directed graphs but appears to be more difficult. </a:t>
            </a:r>
            <a:r>
              <a:rPr lang="en-US" dirty="0" smtClean="0"/>
              <a:t>Informally, a </a:t>
            </a:r>
            <a:r>
              <a:rPr lang="en-US" dirty="0"/>
              <a:t>minimum spanning tree of an undirected graph G is a tree formed from graph edges that </a:t>
            </a:r>
            <a:r>
              <a:rPr lang="en-US" dirty="0" smtClean="0"/>
              <a:t>connects all </a:t>
            </a:r>
            <a:r>
              <a:rPr lang="en-US" dirty="0"/>
              <a:t>the vertices of G at lowest total cost. A minimum spanning tree exists if and only if G </a:t>
            </a:r>
            <a:r>
              <a:rPr lang="en-US" dirty="0" smtClean="0"/>
              <a:t>is connected</a:t>
            </a:r>
            <a:r>
              <a:rPr lang="en-US" dirty="0"/>
              <a:t>.</a:t>
            </a:r>
            <a:endParaRPr lang="en-IN" dirty="0"/>
          </a:p>
        </p:txBody>
      </p:sp>
    </p:spTree>
    <p:extLst>
      <p:ext uri="{BB962C8B-B14F-4D97-AF65-F5344CB8AC3E}">
        <p14:creationId xmlns:p14="http://schemas.microsoft.com/office/powerpoint/2010/main" val="8600138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10000"/>
          </a:bodyPr>
          <a:lstStyle/>
          <a:p>
            <a:r>
              <a:rPr lang="en-US" dirty="0"/>
              <a:t>Notice that the number of edges in the minimum spanning tree is |V| - 1.</a:t>
            </a:r>
          </a:p>
          <a:p>
            <a:r>
              <a:rPr lang="en-US" dirty="0"/>
              <a:t>The minimum spanning tree is a tree because it is acyclic, it is spanning because it covers </a:t>
            </a:r>
            <a:r>
              <a:rPr lang="en-US" dirty="0" smtClean="0"/>
              <a:t>every edge</a:t>
            </a:r>
            <a:r>
              <a:rPr lang="en-US" dirty="0"/>
              <a:t>, and it is minimum for the obvious reason. If we need to wire a house with a minimum </a:t>
            </a:r>
            <a:r>
              <a:rPr lang="en-US" dirty="0" smtClean="0"/>
              <a:t>of cable</a:t>
            </a:r>
            <a:r>
              <a:rPr lang="en-US" dirty="0"/>
              <a:t>, then a minimum spanning tree problem needs to be solved. There are two basic algorithms </a:t>
            </a:r>
            <a:r>
              <a:rPr lang="en-US" dirty="0" smtClean="0"/>
              <a:t>to solve </a:t>
            </a:r>
            <a:r>
              <a:rPr lang="en-US" dirty="0"/>
              <a:t>this problem; both are greedy.</a:t>
            </a:r>
            <a:endParaRPr lang="en-IN" dirty="0"/>
          </a:p>
        </p:txBody>
      </p:sp>
    </p:spTree>
    <p:extLst>
      <p:ext uri="{BB962C8B-B14F-4D97-AF65-F5344CB8AC3E}">
        <p14:creationId xmlns:p14="http://schemas.microsoft.com/office/powerpoint/2010/main" val="18762311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81000" y="76200"/>
            <a:ext cx="7924800" cy="655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450206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Prim's Algorithm</a:t>
            </a:r>
          </a:p>
        </p:txBody>
      </p:sp>
      <p:sp>
        <p:nvSpPr>
          <p:cNvPr id="3" name="Content Placeholder 2"/>
          <p:cNvSpPr>
            <a:spLocks noGrp="1"/>
          </p:cNvSpPr>
          <p:nvPr>
            <p:ph idx="1"/>
          </p:nvPr>
        </p:nvSpPr>
        <p:spPr/>
        <p:txBody>
          <a:bodyPr>
            <a:normAutofit fontScale="85000" lnSpcReduction="10000"/>
          </a:bodyPr>
          <a:lstStyle/>
          <a:p>
            <a:r>
              <a:rPr lang="en-US" dirty="0"/>
              <a:t>One way to compute a minimum spanning tree is to grow the tree in successive stages. In </a:t>
            </a:r>
            <a:r>
              <a:rPr lang="en-US" dirty="0" smtClean="0"/>
              <a:t>each   stage</a:t>
            </a:r>
            <a:r>
              <a:rPr lang="en-US" dirty="0"/>
              <a:t>, one node is picked as the root, and we add an edge, and thus an associated vertex, to </a:t>
            </a:r>
            <a:r>
              <a:rPr lang="en-US" dirty="0" smtClean="0"/>
              <a:t>the tree</a:t>
            </a:r>
            <a:r>
              <a:rPr lang="en-US" dirty="0"/>
              <a:t>.</a:t>
            </a:r>
          </a:p>
          <a:p>
            <a:r>
              <a:rPr lang="en-US" dirty="0"/>
              <a:t>At any point in the algorithm, we can see that we have a set of vertices that have already </a:t>
            </a:r>
            <a:r>
              <a:rPr lang="en-US" dirty="0" smtClean="0"/>
              <a:t>been included </a:t>
            </a:r>
            <a:r>
              <a:rPr lang="en-US" dirty="0"/>
              <a:t>in the tree; the rest of the vertices have not. The algorithm then finds, at each </a:t>
            </a:r>
            <a:r>
              <a:rPr lang="en-US" dirty="0" smtClean="0"/>
              <a:t>stage,  a </a:t>
            </a:r>
            <a:r>
              <a:rPr lang="en-US" dirty="0"/>
              <a:t>new vertex to add to the tree by choosing the edge (u, v) such that the cost of (u, v) is </a:t>
            </a:r>
            <a:r>
              <a:rPr lang="en-US" dirty="0" smtClean="0"/>
              <a:t>the smallest </a:t>
            </a:r>
            <a:r>
              <a:rPr lang="en-US" dirty="0"/>
              <a:t>among all edges where u is in the tree and v is not.</a:t>
            </a:r>
            <a:endParaRPr lang="en-IN" dirty="0"/>
          </a:p>
        </p:txBody>
      </p:sp>
    </p:spTree>
    <p:extLst>
      <p:ext uri="{BB962C8B-B14F-4D97-AF65-F5344CB8AC3E}">
        <p14:creationId xmlns:p14="http://schemas.microsoft.com/office/powerpoint/2010/main" val="24866472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Figure 9.49 shows how </a:t>
            </a:r>
            <a:r>
              <a:rPr lang="en-US" dirty="0" smtClean="0"/>
              <a:t>this algorithm </a:t>
            </a:r>
            <a:r>
              <a:rPr lang="en-US" dirty="0"/>
              <a:t>would build the minimum spanning tree, starting from v1. Initially, v1 is in the </a:t>
            </a:r>
            <a:r>
              <a:rPr lang="en-US" dirty="0" smtClean="0"/>
              <a:t>tree as </a:t>
            </a:r>
            <a:r>
              <a:rPr lang="en-US" dirty="0"/>
              <a:t>a root with no edges. Each step adds one edge and one vertex to the tree.</a:t>
            </a:r>
            <a:endParaRPr lang="en-IN" dirty="0"/>
          </a:p>
        </p:txBody>
      </p:sp>
    </p:spTree>
    <p:extLst>
      <p:ext uri="{BB962C8B-B14F-4D97-AF65-F5344CB8AC3E}">
        <p14:creationId xmlns:p14="http://schemas.microsoft.com/office/powerpoint/2010/main" val="37369252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lnSpcReduction="10000"/>
          </a:bodyPr>
          <a:lstStyle/>
          <a:p>
            <a:r>
              <a:rPr lang="en-US" dirty="0"/>
              <a:t>We can see that Prim's algorithm is essentially identical to </a:t>
            </a:r>
            <a:r>
              <a:rPr lang="en-US" dirty="0" err="1"/>
              <a:t>Dijkstra's</a:t>
            </a:r>
            <a:r>
              <a:rPr lang="en-US" dirty="0"/>
              <a:t> algorithm for shortest</a:t>
            </a:r>
          </a:p>
          <a:p>
            <a:pPr marL="0" indent="0">
              <a:buNone/>
            </a:pPr>
            <a:r>
              <a:rPr lang="en-US" dirty="0" smtClean="0"/>
              <a:t>  paths</a:t>
            </a:r>
            <a:r>
              <a:rPr lang="en-US" dirty="0"/>
              <a:t>. </a:t>
            </a:r>
            <a:endParaRPr lang="en-US" dirty="0" smtClean="0"/>
          </a:p>
          <a:p>
            <a:pPr marL="0" indent="0">
              <a:buNone/>
            </a:pPr>
            <a:r>
              <a:rPr lang="en-US" dirty="0" smtClean="0"/>
              <a:t>As </a:t>
            </a:r>
            <a:r>
              <a:rPr lang="en-US" dirty="0"/>
              <a:t>before, for each vertex we keep values d</a:t>
            </a:r>
            <a:r>
              <a:rPr lang="en-US" baseline="-25000" dirty="0"/>
              <a:t>v</a:t>
            </a:r>
            <a:r>
              <a:rPr lang="en-US" dirty="0"/>
              <a:t> and </a:t>
            </a:r>
            <a:r>
              <a:rPr lang="en-US" dirty="0" err="1"/>
              <a:t>p</a:t>
            </a:r>
            <a:r>
              <a:rPr lang="en-US" baseline="-25000" dirty="0" err="1"/>
              <a:t>v</a:t>
            </a:r>
            <a:r>
              <a:rPr lang="en-US" dirty="0"/>
              <a:t> and an indication of whether it </a:t>
            </a:r>
            <a:r>
              <a:rPr lang="en-US" dirty="0" smtClean="0"/>
              <a:t>is known </a:t>
            </a:r>
            <a:r>
              <a:rPr lang="en-US" dirty="0"/>
              <a:t>or unknown. dv is the weight of the shortest arc connecting v to a known vertex, and </a:t>
            </a:r>
            <a:r>
              <a:rPr lang="en-US" dirty="0" err="1"/>
              <a:t>p</a:t>
            </a:r>
            <a:r>
              <a:rPr lang="en-US" baseline="-25000" dirty="0" err="1"/>
              <a:t>v</a:t>
            </a:r>
            <a:r>
              <a:rPr lang="en-US" baseline="-25000" dirty="0"/>
              <a:t>, </a:t>
            </a:r>
            <a:r>
              <a:rPr lang="en-US" dirty="0" smtClean="0"/>
              <a:t>as before</a:t>
            </a:r>
            <a:r>
              <a:rPr lang="en-US" dirty="0"/>
              <a:t>, is the last vertex to cause a change in dv. The rest of the algorithm is exactly the</a:t>
            </a:r>
            <a:endParaRPr lang="en-IN" dirty="0"/>
          </a:p>
        </p:txBody>
      </p:sp>
    </p:spTree>
    <p:extLst>
      <p:ext uri="{BB962C8B-B14F-4D97-AF65-F5344CB8AC3E}">
        <p14:creationId xmlns:p14="http://schemas.microsoft.com/office/powerpoint/2010/main" val="14859554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The rest of the algorithm is exactly </a:t>
            </a:r>
            <a:r>
              <a:rPr lang="en-US" dirty="0" smtClean="0"/>
              <a:t>the same</a:t>
            </a:r>
            <a:r>
              <a:rPr lang="en-US" dirty="0"/>
              <a:t>, with the exception that since the definition of d</a:t>
            </a:r>
            <a:r>
              <a:rPr lang="en-US" baseline="-25000" dirty="0"/>
              <a:t>v</a:t>
            </a:r>
            <a:r>
              <a:rPr lang="en-US" dirty="0"/>
              <a:t> is different, so is the update rule. </a:t>
            </a:r>
            <a:endParaRPr lang="en-US" dirty="0" smtClean="0"/>
          </a:p>
          <a:p>
            <a:r>
              <a:rPr lang="en-US" dirty="0" smtClean="0"/>
              <a:t>For this </a:t>
            </a:r>
            <a:r>
              <a:rPr lang="en-US" dirty="0"/>
              <a:t>problem, the update rule is even simpler than before: After a vertex v is selected, for </a:t>
            </a:r>
            <a:r>
              <a:rPr lang="en-US" dirty="0" smtClean="0"/>
              <a:t>each unknown </a:t>
            </a:r>
            <a:r>
              <a:rPr lang="en-US" dirty="0"/>
              <a:t>w adjacent to v, d</a:t>
            </a:r>
            <a:r>
              <a:rPr lang="en-US" baseline="-25000" dirty="0"/>
              <a:t>v</a:t>
            </a:r>
            <a:r>
              <a:rPr lang="en-US" dirty="0"/>
              <a:t> = min(</a:t>
            </a:r>
            <a:r>
              <a:rPr lang="en-US" dirty="0" err="1"/>
              <a:t>d</a:t>
            </a:r>
            <a:r>
              <a:rPr lang="en-US" baseline="-25000" dirty="0" err="1"/>
              <a:t>w</a:t>
            </a:r>
            <a:r>
              <a:rPr lang="en-US" dirty="0"/>
              <a:t>, </a:t>
            </a:r>
            <a:r>
              <a:rPr lang="en-US" dirty="0" err="1"/>
              <a:t>c</a:t>
            </a:r>
            <a:r>
              <a:rPr lang="en-US" baseline="-25000" dirty="0" err="1"/>
              <a:t>w,v</a:t>
            </a:r>
            <a:r>
              <a:rPr lang="en-US" dirty="0"/>
              <a:t>).</a:t>
            </a:r>
            <a:endParaRPr lang="en-IN" dirty="0"/>
          </a:p>
        </p:txBody>
      </p:sp>
    </p:spTree>
    <p:extLst>
      <p:ext uri="{BB962C8B-B14F-4D97-AF65-F5344CB8AC3E}">
        <p14:creationId xmlns:p14="http://schemas.microsoft.com/office/powerpoint/2010/main" val="1863616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695324"/>
            <a:ext cx="8120063" cy="6010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653023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81000" y="381000"/>
            <a:ext cx="8382000" cy="59435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976778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09600" y="152400"/>
            <a:ext cx="7682208" cy="63112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392051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512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33400" y="838200"/>
            <a:ext cx="7543800" cy="5714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271490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614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533400"/>
            <a:ext cx="6772275" cy="601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471525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1" y="381000"/>
            <a:ext cx="6396038" cy="59435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650798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dirty="0"/>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457200"/>
            <a:ext cx="6615113" cy="617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310843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a:bodyPr>
          <a:lstStyle/>
          <a:p>
            <a:r>
              <a:rPr lang="en-US" dirty="0"/>
              <a:t>The initial configuration of the table is shown in Figure 9.52. </a:t>
            </a:r>
            <a:r>
              <a:rPr lang="en-US" i="1" dirty="0"/>
              <a:t>v</a:t>
            </a:r>
            <a:r>
              <a:rPr lang="en-US" dirty="0"/>
              <a:t>1 is selected, and </a:t>
            </a:r>
            <a:r>
              <a:rPr lang="en-US" i="1" dirty="0"/>
              <a:t>v</a:t>
            </a:r>
            <a:r>
              <a:rPr lang="en-US" dirty="0"/>
              <a:t>2, </a:t>
            </a:r>
            <a:r>
              <a:rPr lang="en-US" i="1" dirty="0"/>
              <a:t>v</a:t>
            </a:r>
            <a:r>
              <a:rPr lang="en-US" dirty="0"/>
              <a:t>3,</a:t>
            </a:r>
          </a:p>
          <a:p>
            <a:r>
              <a:rPr lang="en-US" dirty="0"/>
              <a:t>and </a:t>
            </a:r>
            <a:r>
              <a:rPr lang="en-US" i="1" dirty="0"/>
              <a:t>v</a:t>
            </a:r>
            <a:r>
              <a:rPr lang="en-US" dirty="0"/>
              <a:t>4 are updated. The table resulting from this is shown in Figure 9.53. The next </a:t>
            </a:r>
            <a:r>
              <a:rPr lang="en-US" dirty="0" err="1" smtClean="0"/>
              <a:t>vertex</a:t>
            </a:r>
            <a:r>
              <a:rPr lang="en-US" dirty="0" err="1"/>
              <a:t>selected</a:t>
            </a:r>
            <a:r>
              <a:rPr lang="en-US" dirty="0"/>
              <a:t> is </a:t>
            </a:r>
            <a:r>
              <a:rPr lang="en-US" i="1" dirty="0"/>
              <a:t>v</a:t>
            </a:r>
            <a:r>
              <a:rPr lang="en-US" dirty="0"/>
              <a:t>4. Every vertex is adjacent to </a:t>
            </a:r>
            <a:r>
              <a:rPr lang="en-US" i="1" dirty="0"/>
              <a:t>v</a:t>
            </a:r>
            <a:r>
              <a:rPr lang="en-US" dirty="0"/>
              <a:t>4. </a:t>
            </a:r>
            <a:r>
              <a:rPr lang="en-US" i="1" dirty="0"/>
              <a:t>v</a:t>
            </a:r>
            <a:r>
              <a:rPr lang="en-US" dirty="0"/>
              <a:t>1 is not examined, because it is </a:t>
            </a:r>
            <a:r>
              <a:rPr lang="en-US" i="1" dirty="0"/>
              <a:t>known. </a:t>
            </a:r>
            <a:r>
              <a:rPr lang="en-US" i="1" dirty="0" smtClean="0"/>
              <a:t>V</a:t>
            </a:r>
            <a:r>
              <a:rPr lang="en-US" dirty="0" smtClean="0"/>
              <a:t>2 is </a:t>
            </a:r>
            <a:r>
              <a:rPr lang="en-US" dirty="0"/>
              <a:t>unchanged, because it has </a:t>
            </a:r>
            <a:r>
              <a:rPr lang="en-US" i="1" dirty="0"/>
              <a:t>dv </a:t>
            </a:r>
            <a:r>
              <a:rPr lang="en-US" dirty="0"/>
              <a:t>= 2 and the edge cost from </a:t>
            </a:r>
            <a:r>
              <a:rPr lang="en-US" i="1" dirty="0"/>
              <a:t>v</a:t>
            </a:r>
            <a:r>
              <a:rPr lang="en-US" dirty="0"/>
              <a:t>4 to </a:t>
            </a:r>
            <a:r>
              <a:rPr lang="en-US" i="1" dirty="0"/>
              <a:t>v</a:t>
            </a:r>
            <a:r>
              <a:rPr lang="en-US" dirty="0"/>
              <a:t>2 is 3; all the rest </a:t>
            </a:r>
            <a:r>
              <a:rPr lang="en-US" dirty="0" smtClean="0"/>
              <a:t>are updated</a:t>
            </a:r>
            <a:r>
              <a:rPr lang="en-US" dirty="0"/>
              <a:t>. Figure 9.54 shows the resulting table.</a:t>
            </a:r>
            <a:endParaRPr lang="en-IN" dirty="0"/>
          </a:p>
        </p:txBody>
      </p:sp>
    </p:spTree>
    <p:extLst>
      <p:ext uri="{BB962C8B-B14F-4D97-AF65-F5344CB8AC3E}">
        <p14:creationId xmlns:p14="http://schemas.microsoft.com/office/powerpoint/2010/main" val="36582460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The next vertex chosen is v2 (</a:t>
            </a:r>
            <a:r>
              <a:rPr lang="en-US" dirty="0" smtClean="0"/>
              <a:t>arbitrarily breaking </a:t>
            </a:r>
            <a:r>
              <a:rPr lang="en-US" dirty="0"/>
              <a:t>a tie). This does not affect any distances. Then v3 is chosen, which affects the</a:t>
            </a:r>
          </a:p>
          <a:p>
            <a:pPr marL="0" indent="0">
              <a:buNone/>
            </a:pPr>
            <a:r>
              <a:rPr lang="en-US" dirty="0" smtClean="0"/>
              <a:t> distance </a:t>
            </a:r>
            <a:r>
              <a:rPr lang="en-US" dirty="0"/>
              <a:t>in v6, producing Figure 9.55. Figure 9.56 results from the selection of v7, which</a:t>
            </a:r>
          </a:p>
          <a:p>
            <a:pPr marL="0" indent="0">
              <a:buNone/>
            </a:pPr>
            <a:r>
              <a:rPr lang="en-US" dirty="0"/>
              <a:t>forces v6 and v5 to be adjusted. v6 and then v5 are selected, completing the algorithm.</a:t>
            </a:r>
            <a:endParaRPr lang="en-IN" dirty="0"/>
          </a:p>
        </p:txBody>
      </p:sp>
    </p:spTree>
    <p:extLst>
      <p:ext uri="{BB962C8B-B14F-4D97-AF65-F5344CB8AC3E}">
        <p14:creationId xmlns:p14="http://schemas.microsoft.com/office/powerpoint/2010/main" val="23182689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77500" lnSpcReduction="20000"/>
          </a:bodyPr>
          <a:lstStyle/>
          <a:p>
            <a:pPr marL="0" indent="0">
              <a:buNone/>
            </a:pPr>
            <a:r>
              <a:rPr lang="en-US" dirty="0"/>
              <a:t>The final table is shown in Figure 9.57. The edges in the spanning tree can be </a:t>
            </a:r>
            <a:r>
              <a:rPr lang="en-US" dirty="0" smtClean="0"/>
              <a:t>read from </a:t>
            </a:r>
            <a:r>
              <a:rPr lang="en-US" dirty="0"/>
              <a:t>the table: (</a:t>
            </a:r>
            <a:r>
              <a:rPr lang="en-US" i="1" dirty="0"/>
              <a:t>v</a:t>
            </a:r>
            <a:r>
              <a:rPr lang="en-US" dirty="0"/>
              <a:t>2, </a:t>
            </a:r>
            <a:r>
              <a:rPr lang="en-US" i="1" dirty="0"/>
              <a:t>v</a:t>
            </a:r>
            <a:r>
              <a:rPr lang="en-US" dirty="0"/>
              <a:t>1), (</a:t>
            </a:r>
            <a:r>
              <a:rPr lang="en-US" i="1" dirty="0"/>
              <a:t>v</a:t>
            </a:r>
            <a:r>
              <a:rPr lang="en-US" dirty="0"/>
              <a:t>3, </a:t>
            </a:r>
            <a:r>
              <a:rPr lang="en-US" i="1" dirty="0"/>
              <a:t>v</a:t>
            </a:r>
            <a:r>
              <a:rPr lang="en-US" dirty="0"/>
              <a:t>4), (</a:t>
            </a:r>
            <a:r>
              <a:rPr lang="en-US" i="1" dirty="0"/>
              <a:t>v</a:t>
            </a:r>
            <a:r>
              <a:rPr lang="en-US" dirty="0"/>
              <a:t>4, </a:t>
            </a:r>
            <a:r>
              <a:rPr lang="en-US" i="1" dirty="0"/>
              <a:t>v</a:t>
            </a:r>
            <a:r>
              <a:rPr lang="en-US" dirty="0"/>
              <a:t>1), (</a:t>
            </a:r>
            <a:r>
              <a:rPr lang="en-US" i="1" dirty="0"/>
              <a:t>v</a:t>
            </a:r>
            <a:r>
              <a:rPr lang="en-US" dirty="0"/>
              <a:t>5, </a:t>
            </a:r>
            <a:r>
              <a:rPr lang="en-US" i="1" dirty="0"/>
              <a:t>v</a:t>
            </a:r>
            <a:r>
              <a:rPr lang="en-US" dirty="0"/>
              <a:t>7), (</a:t>
            </a:r>
            <a:r>
              <a:rPr lang="en-US" i="1" dirty="0"/>
              <a:t>v</a:t>
            </a:r>
            <a:r>
              <a:rPr lang="en-US" dirty="0"/>
              <a:t>6, </a:t>
            </a:r>
            <a:r>
              <a:rPr lang="en-US" i="1" dirty="0"/>
              <a:t>v</a:t>
            </a:r>
            <a:r>
              <a:rPr lang="en-US" dirty="0"/>
              <a:t>7), (</a:t>
            </a:r>
            <a:r>
              <a:rPr lang="en-US" i="1" dirty="0"/>
              <a:t>v</a:t>
            </a:r>
            <a:r>
              <a:rPr lang="en-US" dirty="0"/>
              <a:t>7, </a:t>
            </a:r>
            <a:r>
              <a:rPr lang="en-US" i="1" dirty="0"/>
              <a:t>v</a:t>
            </a:r>
            <a:r>
              <a:rPr lang="en-US" dirty="0"/>
              <a:t>4). The total cost is 16.</a:t>
            </a:r>
          </a:p>
          <a:p>
            <a:pPr marL="0" indent="0">
              <a:buNone/>
            </a:pPr>
            <a:r>
              <a:rPr lang="en-US" dirty="0"/>
              <a:t>The entire implementation of this algorithm is virtually identical to that of </a:t>
            </a:r>
            <a:r>
              <a:rPr lang="en-US" dirty="0" err="1" smtClean="0"/>
              <a:t>Dijkstra’s</a:t>
            </a:r>
            <a:r>
              <a:rPr lang="en-US" dirty="0"/>
              <a:t> </a:t>
            </a:r>
            <a:r>
              <a:rPr lang="en-US" dirty="0" smtClean="0"/>
              <a:t>algorithm</a:t>
            </a:r>
            <a:r>
              <a:rPr lang="en-US" dirty="0"/>
              <a:t>, and everything that was said about the analysis of </a:t>
            </a:r>
            <a:r>
              <a:rPr lang="en-US" dirty="0" err="1"/>
              <a:t>Dijkstra’s</a:t>
            </a:r>
            <a:r>
              <a:rPr lang="en-US" dirty="0"/>
              <a:t> algorithm applies</a:t>
            </a:r>
          </a:p>
          <a:p>
            <a:pPr marL="0" indent="0">
              <a:buNone/>
            </a:pPr>
            <a:r>
              <a:rPr lang="en-US" dirty="0"/>
              <a:t>here. Be aware that Prim’s algorithm runs on undirected graphs, so when coding it, </a:t>
            </a:r>
            <a:r>
              <a:rPr lang="en-US" dirty="0" smtClean="0"/>
              <a:t>remember to </a:t>
            </a:r>
            <a:r>
              <a:rPr lang="en-US" dirty="0"/>
              <a:t>put every edge in two adjacency lists. The running time is </a:t>
            </a:r>
            <a:r>
              <a:rPr lang="en-US" i="1" dirty="0"/>
              <a:t>O</a:t>
            </a:r>
            <a:r>
              <a:rPr lang="en-US" dirty="0"/>
              <a:t>(|</a:t>
            </a:r>
            <a:r>
              <a:rPr lang="en-US" i="1" dirty="0"/>
              <a:t>V</a:t>
            </a:r>
            <a:r>
              <a:rPr lang="en-US" dirty="0"/>
              <a:t>|</a:t>
            </a:r>
            <a:r>
              <a:rPr lang="en-US" baseline="30000" dirty="0"/>
              <a:t>2</a:t>
            </a:r>
            <a:r>
              <a:rPr lang="en-US" dirty="0"/>
              <a:t>) without heaps,</a:t>
            </a:r>
          </a:p>
          <a:p>
            <a:pPr marL="0" indent="0">
              <a:buNone/>
            </a:pPr>
            <a:r>
              <a:rPr lang="en-US" dirty="0"/>
              <a:t>which is optimal for dense graphs, and </a:t>
            </a:r>
            <a:r>
              <a:rPr lang="en-US" i="1" dirty="0"/>
              <a:t>O</a:t>
            </a:r>
            <a:r>
              <a:rPr lang="en-US" dirty="0"/>
              <a:t>(|</a:t>
            </a:r>
            <a:r>
              <a:rPr lang="en-US" i="1" dirty="0"/>
              <a:t>E</a:t>
            </a:r>
            <a:r>
              <a:rPr lang="en-US" dirty="0"/>
              <a:t>| log |</a:t>
            </a:r>
            <a:r>
              <a:rPr lang="en-US" i="1" dirty="0"/>
              <a:t>V</a:t>
            </a:r>
            <a:r>
              <a:rPr lang="en-US" dirty="0"/>
              <a:t>|) using binary </a:t>
            </a:r>
            <a:r>
              <a:rPr lang="en-US" dirty="0" smtClean="0"/>
              <a:t>heaps</a:t>
            </a:r>
            <a:r>
              <a:rPr lang="en-US" dirty="0"/>
              <a:t>.</a:t>
            </a:r>
            <a:endParaRPr lang="en-IN" dirty="0"/>
          </a:p>
        </p:txBody>
      </p:sp>
    </p:spTree>
    <p:extLst>
      <p:ext uri="{BB962C8B-B14F-4D97-AF65-F5344CB8AC3E}">
        <p14:creationId xmlns:p14="http://schemas.microsoft.com/office/powerpoint/2010/main" val="12568524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Prim's Algorithm </a:t>
            </a:r>
            <a:r>
              <a:rPr lang="en-IN" dirty="0" err="1"/>
              <a:t>pseudocode</a:t>
            </a:r>
            <a:endParaRPr lang="en-IN" dirty="0"/>
          </a:p>
        </p:txBody>
      </p:sp>
      <p:sp>
        <p:nvSpPr>
          <p:cNvPr id="3" name="Content Placeholder 2"/>
          <p:cNvSpPr>
            <a:spLocks noGrp="1"/>
          </p:cNvSpPr>
          <p:nvPr>
            <p:ph idx="1"/>
          </p:nvPr>
        </p:nvSpPr>
        <p:spPr/>
        <p:txBody>
          <a:bodyPr/>
          <a:lstStyle/>
          <a:p>
            <a:pPr marL="0" indent="0">
              <a:buNone/>
            </a:pPr>
            <a:r>
              <a:rPr lang="en-IN" dirty="0"/>
              <a:t>T = ∅;</a:t>
            </a:r>
          </a:p>
          <a:p>
            <a:pPr marL="0" indent="0">
              <a:buNone/>
            </a:pPr>
            <a:r>
              <a:rPr lang="en-IN" dirty="0"/>
              <a:t>U = { 1 };</a:t>
            </a:r>
          </a:p>
          <a:p>
            <a:pPr marL="0" indent="0">
              <a:buNone/>
            </a:pPr>
            <a:r>
              <a:rPr lang="en-IN" dirty="0"/>
              <a:t>while (U ≠ V)</a:t>
            </a:r>
          </a:p>
          <a:p>
            <a:pPr marL="0" indent="0">
              <a:buNone/>
            </a:pPr>
            <a:r>
              <a:rPr lang="en-IN" dirty="0"/>
              <a:t>    let (u, v) be the lowest cost edge such that u ∈  </a:t>
            </a:r>
            <a:r>
              <a:rPr lang="en-IN" dirty="0" smtClean="0"/>
              <a:t>      </a:t>
            </a:r>
          </a:p>
          <a:p>
            <a:pPr marL="0" indent="0">
              <a:buNone/>
            </a:pPr>
            <a:r>
              <a:rPr lang="en-IN" dirty="0"/>
              <a:t> </a:t>
            </a:r>
            <a:r>
              <a:rPr lang="en-IN" dirty="0" smtClean="0"/>
              <a:t>   U </a:t>
            </a:r>
            <a:r>
              <a:rPr lang="en-IN" dirty="0"/>
              <a:t>and v ∈ V - U;</a:t>
            </a:r>
          </a:p>
          <a:p>
            <a:pPr marL="0" indent="0">
              <a:buNone/>
            </a:pPr>
            <a:r>
              <a:rPr lang="en-IN" dirty="0"/>
              <a:t>    T = T ∪ {(u, v)}</a:t>
            </a:r>
          </a:p>
          <a:p>
            <a:pPr marL="0" indent="0">
              <a:buNone/>
            </a:pPr>
            <a:r>
              <a:rPr lang="en-IN" dirty="0"/>
              <a:t>    U = U ∪ {v}</a:t>
            </a:r>
          </a:p>
        </p:txBody>
      </p:sp>
    </p:spTree>
    <p:extLst>
      <p:ext uri="{BB962C8B-B14F-4D97-AF65-F5344CB8AC3E}">
        <p14:creationId xmlns:p14="http://schemas.microsoft.com/office/powerpoint/2010/main" val="25503985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52400"/>
            <a:ext cx="8229600" cy="4525963"/>
          </a:xfrm>
        </p:spPr>
        <p:txBody>
          <a:bodyPr>
            <a:noAutofit/>
          </a:bodyPr>
          <a:lstStyle/>
          <a:p>
            <a:pPr marL="0" indent="0">
              <a:buNone/>
            </a:pPr>
            <a:r>
              <a:rPr lang="en-IN" sz="2000" dirty="0"/>
              <a:t>void</a:t>
            </a:r>
          </a:p>
          <a:p>
            <a:pPr marL="0" indent="0">
              <a:buNone/>
            </a:pPr>
            <a:r>
              <a:rPr lang="en-IN" sz="2000" dirty="0" smtClean="0"/>
              <a:t>Prim’s( </a:t>
            </a:r>
            <a:r>
              <a:rPr lang="en-IN" sz="2000" dirty="0"/>
              <a:t>TABLE T )</a:t>
            </a:r>
          </a:p>
          <a:p>
            <a:pPr marL="0" indent="0">
              <a:buNone/>
            </a:pPr>
            <a:r>
              <a:rPr lang="en-IN" sz="2000" dirty="0"/>
              <a:t>{</a:t>
            </a:r>
          </a:p>
          <a:p>
            <a:pPr marL="0" indent="0">
              <a:buNone/>
            </a:pPr>
            <a:r>
              <a:rPr lang="en-IN" sz="2000" dirty="0"/>
              <a:t>vertex v, w;</a:t>
            </a:r>
          </a:p>
          <a:p>
            <a:pPr marL="0" indent="0">
              <a:buNone/>
            </a:pPr>
            <a:r>
              <a:rPr lang="en-IN" sz="2000" dirty="0" smtClean="0"/>
              <a:t>for</a:t>
            </a:r>
            <a:r>
              <a:rPr lang="en-IN" sz="2000" dirty="0"/>
              <a:t>( ; ; )</a:t>
            </a:r>
          </a:p>
          <a:p>
            <a:pPr marL="0" indent="0">
              <a:buNone/>
            </a:pPr>
            <a:r>
              <a:rPr lang="en-IN" sz="2000" dirty="0"/>
              <a:t>{</a:t>
            </a:r>
          </a:p>
          <a:p>
            <a:pPr marL="0" indent="0">
              <a:buNone/>
            </a:pPr>
            <a:r>
              <a:rPr lang="en-US" sz="2000" dirty="0" smtClean="0"/>
              <a:t>v </a:t>
            </a:r>
            <a:r>
              <a:rPr lang="en-US" sz="2000" dirty="0"/>
              <a:t>= smallest unknown distance vertex;</a:t>
            </a:r>
          </a:p>
          <a:p>
            <a:pPr marL="0" indent="0">
              <a:buNone/>
            </a:pPr>
            <a:r>
              <a:rPr lang="en-IN" sz="2000" dirty="0" smtClean="0"/>
              <a:t>break</a:t>
            </a:r>
            <a:r>
              <a:rPr lang="en-IN" sz="2000" dirty="0"/>
              <a:t>;</a:t>
            </a:r>
          </a:p>
          <a:p>
            <a:pPr marL="0" indent="0">
              <a:buNone/>
            </a:pPr>
            <a:r>
              <a:rPr lang="en-IN" sz="2000" dirty="0" smtClean="0"/>
              <a:t>T[v</a:t>
            </a:r>
            <a:r>
              <a:rPr lang="en-IN" sz="2000" dirty="0"/>
              <a:t>].known = TRUE;</a:t>
            </a:r>
          </a:p>
          <a:p>
            <a:pPr marL="0" indent="0">
              <a:buNone/>
            </a:pPr>
            <a:r>
              <a:rPr lang="en-US" sz="2000" dirty="0" smtClean="0"/>
              <a:t>for </a:t>
            </a:r>
            <a:r>
              <a:rPr lang="en-US" sz="2000" dirty="0"/>
              <a:t>each w adjacent to v</a:t>
            </a:r>
          </a:p>
          <a:p>
            <a:pPr marL="0" indent="0">
              <a:buNone/>
            </a:pPr>
            <a:r>
              <a:rPr lang="en-IN" sz="2000" dirty="0" smtClean="0"/>
              <a:t>if</a:t>
            </a:r>
            <a:r>
              <a:rPr lang="en-IN" sz="2000" dirty="0"/>
              <a:t>( !T[w].known )</a:t>
            </a:r>
          </a:p>
          <a:p>
            <a:pPr marL="0" indent="0">
              <a:buNone/>
            </a:pPr>
            <a:r>
              <a:rPr lang="de-DE" sz="2000" dirty="0" smtClean="0"/>
              <a:t>if</a:t>
            </a:r>
            <a:r>
              <a:rPr lang="de-DE" sz="2000" dirty="0"/>
              <a:t>( </a:t>
            </a:r>
            <a:r>
              <a:rPr lang="de-DE" sz="2000" dirty="0" smtClean="0"/>
              <a:t> </a:t>
            </a:r>
            <a:r>
              <a:rPr lang="de-DE" sz="2000" dirty="0"/>
              <a:t>C</a:t>
            </a:r>
            <a:r>
              <a:rPr lang="de-DE" sz="2000" dirty="0" smtClean="0"/>
              <a:t>v,w </a:t>
            </a:r>
            <a:r>
              <a:rPr lang="de-DE" sz="2000" dirty="0"/>
              <a:t>&lt; T[w].dist )</a:t>
            </a:r>
          </a:p>
          <a:p>
            <a:pPr marL="0" indent="0">
              <a:buNone/>
            </a:pPr>
            <a:r>
              <a:rPr lang="en-IN" sz="2000" dirty="0"/>
              <a:t>{ /* update w */</a:t>
            </a:r>
          </a:p>
          <a:p>
            <a:pPr marL="0" indent="0">
              <a:buNone/>
            </a:pPr>
            <a:r>
              <a:rPr lang="en-US" sz="2000" dirty="0" smtClean="0"/>
              <a:t>decrease</a:t>
            </a:r>
            <a:r>
              <a:rPr lang="en-US" sz="2000" dirty="0"/>
              <a:t>( T[w].</a:t>
            </a:r>
            <a:r>
              <a:rPr lang="en-US" sz="2000" dirty="0" err="1"/>
              <a:t>dist</a:t>
            </a:r>
            <a:r>
              <a:rPr lang="en-US" sz="2000" dirty="0"/>
              <a:t> </a:t>
            </a:r>
            <a:r>
              <a:rPr lang="en-US" sz="2000" dirty="0" smtClean="0"/>
              <a:t>to C</a:t>
            </a:r>
            <a:r>
              <a:rPr lang="en-IN" sz="2000" dirty="0" err="1" smtClean="0"/>
              <a:t>v,w</a:t>
            </a:r>
            <a:r>
              <a:rPr lang="en-IN" sz="2000" dirty="0" smtClean="0"/>
              <a:t> </a:t>
            </a:r>
            <a:r>
              <a:rPr lang="en-IN" sz="2000" dirty="0"/>
              <a:t>);</a:t>
            </a:r>
          </a:p>
          <a:p>
            <a:pPr marL="0" indent="0">
              <a:buNone/>
            </a:pPr>
            <a:r>
              <a:rPr lang="en-IN" sz="2000" dirty="0" smtClean="0"/>
              <a:t>T[w</a:t>
            </a:r>
            <a:r>
              <a:rPr lang="en-IN" sz="2000" dirty="0"/>
              <a:t>].path = v;</a:t>
            </a:r>
          </a:p>
          <a:p>
            <a:pPr marL="0" indent="0">
              <a:buNone/>
            </a:pPr>
            <a:r>
              <a:rPr lang="en-IN" sz="2000" dirty="0"/>
              <a:t>}</a:t>
            </a:r>
          </a:p>
          <a:p>
            <a:pPr marL="0" indent="0">
              <a:buNone/>
            </a:pPr>
            <a:r>
              <a:rPr lang="en-IN" sz="2000" dirty="0"/>
              <a:t>}</a:t>
            </a:r>
          </a:p>
          <a:p>
            <a:pPr marL="0" indent="0">
              <a:buNone/>
            </a:pPr>
            <a:r>
              <a:rPr lang="en-IN" sz="2000" dirty="0"/>
              <a:t>}</a:t>
            </a:r>
            <a:endParaRPr lang="en-IN" sz="2000" dirty="0"/>
          </a:p>
        </p:txBody>
      </p:sp>
    </p:spTree>
    <p:extLst>
      <p:ext uri="{BB962C8B-B14F-4D97-AF65-F5344CB8AC3E}">
        <p14:creationId xmlns:p14="http://schemas.microsoft.com/office/powerpoint/2010/main" val="28249063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Prim's Algorithm Complexity</a:t>
            </a:r>
          </a:p>
        </p:txBody>
      </p:sp>
      <p:sp>
        <p:nvSpPr>
          <p:cNvPr id="3" name="Content Placeholder 2"/>
          <p:cNvSpPr>
            <a:spLocks noGrp="1"/>
          </p:cNvSpPr>
          <p:nvPr>
            <p:ph idx="1"/>
          </p:nvPr>
        </p:nvSpPr>
        <p:spPr/>
        <p:txBody>
          <a:bodyPr/>
          <a:lstStyle/>
          <a:p>
            <a:r>
              <a:rPr lang="en-US" dirty="0"/>
              <a:t>The time complexity of Prim's algorithm is O(E log V).</a:t>
            </a:r>
            <a:endParaRPr lang="en-IN" dirty="0"/>
          </a:p>
        </p:txBody>
      </p:sp>
    </p:spTree>
    <p:extLst>
      <p:ext uri="{BB962C8B-B14F-4D97-AF65-F5344CB8AC3E}">
        <p14:creationId xmlns:p14="http://schemas.microsoft.com/office/powerpoint/2010/main" val="27831661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Algorithm</a:t>
            </a:r>
          </a:p>
        </p:txBody>
      </p:sp>
      <p:sp>
        <p:nvSpPr>
          <p:cNvPr id="3" name="Content Placeholder 2"/>
          <p:cNvSpPr>
            <a:spLocks noGrp="1"/>
          </p:cNvSpPr>
          <p:nvPr>
            <p:ph idx="1"/>
          </p:nvPr>
        </p:nvSpPr>
        <p:spPr/>
        <p:txBody>
          <a:bodyPr>
            <a:normAutofit fontScale="92500" lnSpcReduction="20000"/>
          </a:bodyPr>
          <a:lstStyle/>
          <a:p>
            <a:r>
              <a:rPr lang="en-US" dirty="0"/>
              <a:t>Step 1: Select a starting vertex  </a:t>
            </a:r>
          </a:p>
          <a:p>
            <a:r>
              <a:rPr lang="en-US" dirty="0"/>
              <a:t>Step 2: Repeat Steps 3 and 4 until there are fringe vertices  </a:t>
            </a:r>
          </a:p>
          <a:p>
            <a:r>
              <a:rPr lang="en-US" dirty="0"/>
              <a:t>Step 3: Select an edge 'e' connecting the tree vertex and fringe vertex that has minimum weight  </a:t>
            </a:r>
          </a:p>
          <a:p>
            <a:r>
              <a:rPr lang="en-US" dirty="0"/>
              <a:t>Step 4: Add the selected edge and the vertex to the minimum spanning tree T  </a:t>
            </a:r>
          </a:p>
          <a:p>
            <a:r>
              <a:rPr lang="en-US" dirty="0"/>
              <a:t>[END OF LOOP]  </a:t>
            </a:r>
          </a:p>
          <a:p>
            <a:r>
              <a:rPr lang="en-US" dirty="0"/>
              <a:t>Step 5: EXIT</a:t>
            </a:r>
            <a:endParaRPr lang="en-IN" dirty="0"/>
          </a:p>
        </p:txBody>
      </p:sp>
    </p:spTree>
    <p:extLst>
      <p:ext uri="{BB962C8B-B14F-4D97-AF65-F5344CB8AC3E}">
        <p14:creationId xmlns:p14="http://schemas.microsoft.com/office/powerpoint/2010/main" val="38774792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Time Complexity</a:t>
            </a:r>
            <a:br>
              <a:rPr lang="en-US" dirty="0"/>
            </a:br>
            <a:endParaRPr lang="en-IN" dirty="0"/>
          </a:p>
        </p:txBody>
      </p:sp>
      <p:sp>
        <p:nvSpPr>
          <p:cNvPr id="3" name="Content Placeholder 2"/>
          <p:cNvSpPr>
            <a:spLocks noGrp="1"/>
          </p:cNvSpPr>
          <p:nvPr>
            <p:ph idx="1"/>
          </p:nvPr>
        </p:nvSpPr>
        <p:spPr/>
        <p:txBody>
          <a:bodyPr/>
          <a:lstStyle/>
          <a:p>
            <a:r>
              <a:rPr lang="en-US" dirty="0" smtClean="0"/>
              <a:t>Data </a:t>
            </a:r>
            <a:r>
              <a:rPr lang="en-US" dirty="0"/>
              <a:t>structure used for the minimum edge weight	</a:t>
            </a:r>
            <a:endParaRPr lang="en-US" dirty="0" smtClean="0"/>
          </a:p>
          <a:p>
            <a:r>
              <a:rPr lang="en-US" dirty="0" smtClean="0"/>
              <a:t>Adjacency </a:t>
            </a:r>
            <a:r>
              <a:rPr lang="en-US" dirty="0"/>
              <a:t>matrix, linear </a:t>
            </a:r>
            <a:r>
              <a:rPr lang="en-US" dirty="0" smtClean="0"/>
              <a:t>searching -</a:t>
            </a:r>
            <a:r>
              <a:rPr lang="en-US" dirty="0"/>
              <a:t>	O(|V|</a:t>
            </a:r>
            <a:r>
              <a:rPr lang="en-US" baseline="30000" dirty="0"/>
              <a:t>2</a:t>
            </a:r>
            <a:r>
              <a:rPr lang="en-US" dirty="0"/>
              <a:t>)</a:t>
            </a:r>
          </a:p>
          <a:p>
            <a:r>
              <a:rPr lang="en-US" dirty="0"/>
              <a:t>Adjacency list and binary </a:t>
            </a:r>
            <a:r>
              <a:rPr lang="en-US" dirty="0" smtClean="0"/>
              <a:t>heap-O</a:t>
            </a:r>
            <a:r>
              <a:rPr lang="en-US" dirty="0"/>
              <a:t>(|E| log |V|)</a:t>
            </a:r>
            <a:endParaRPr lang="en-IN" dirty="0"/>
          </a:p>
        </p:txBody>
      </p:sp>
    </p:spTree>
    <p:extLst>
      <p:ext uri="{BB962C8B-B14F-4D97-AF65-F5344CB8AC3E}">
        <p14:creationId xmlns:p14="http://schemas.microsoft.com/office/powerpoint/2010/main" val="25273245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t>Kruskal's</a:t>
            </a:r>
            <a:r>
              <a:rPr lang="en-IN" dirty="0"/>
              <a:t> Algorithm</a:t>
            </a:r>
          </a:p>
        </p:txBody>
      </p:sp>
      <p:sp>
        <p:nvSpPr>
          <p:cNvPr id="3" name="Content Placeholder 2"/>
          <p:cNvSpPr>
            <a:spLocks noGrp="1"/>
          </p:cNvSpPr>
          <p:nvPr>
            <p:ph idx="1"/>
          </p:nvPr>
        </p:nvSpPr>
        <p:spPr/>
        <p:txBody>
          <a:bodyPr/>
          <a:lstStyle/>
          <a:p>
            <a:pPr marL="0" indent="0">
              <a:buNone/>
            </a:pPr>
            <a:r>
              <a:rPr lang="en-US" dirty="0"/>
              <a:t>A second greedy strategy is to continually select the edges in order of smallest weight </a:t>
            </a:r>
            <a:r>
              <a:rPr lang="en-US" dirty="0" smtClean="0"/>
              <a:t>and accept </a:t>
            </a:r>
            <a:r>
              <a:rPr lang="en-US" dirty="0"/>
              <a:t>an edge if it does not cause a cycle. The action of the algorithm on the graph in </a:t>
            </a:r>
            <a:r>
              <a:rPr lang="en-US" dirty="0" smtClean="0"/>
              <a:t>the preceding </a:t>
            </a:r>
            <a:r>
              <a:rPr lang="en-US" dirty="0"/>
              <a:t>example is shown in Figure 9.58.</a:t>
            </a:r>
            <a:endParaRPr lang="en-IN" dirty="0"/>
          </a:p>
        </p:txBody>
      </p:sp>
    </p:spTree>
    <p:extLst>
      <p:ext uri="{BB962C8B-B14F-4D97-AF65-F5344CB8AC3E}">
        <p14:creationId xmlns:p14="http://schemas.microsoft.com/office/powerpoint/2010/main" val="18754328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81000" y="76200"/>
            <a:ext cx="7924800" cy="655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000010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533400"/>
            <a:ext cx="8229600" cy="4525963"/>
          </a:xfrm>
        </p:spPr>
        <p:txBody>
          <a:bodyPr>
            <a:noAutofit/>
          </a:bodyPr>
          <a:lstStyle/>
          <a:p>
            <a:r>
              <a:rPr lang="en-US" sz="2400" b="1" dirty="0"/>
              <a:t>Disjoint Set:</a:t>
            </a:r>
          </a:p>
          <a:p>
            <a:r>
              <a:rPr lang="en-US" sz="2400" dirty="0"/>
              <a:t>Two sets are called disjoint set if the intersection of two sets is </a:t>
            </a:r>
            <a:r>
              <a:rPr lang="en-US" sz="2400" i="1" dirty="0" smtClean="0"/>
              <a:t>ϕ</a:t>
            </a:r>
            <a:r>
              <a:rPr lang="en-US" sz="2400" dirty="0"/>
              <a:t> i.e. NULL. A Disjoint-Set data structure that keeps records of a set of elements partitioned into several non-overlapping (Disjoint) subsets.</a:t>
            </a:r>
          </a:p>
          <a:p>
            <a:r>
              <a:rPr lang="en-US" sz="2400" b="1" dirty="0"/>
              <a:t>Union Find:</a:t>
            </a:r>
          </a:p>
          <a:p>
            <a:pPr marL="0" indent="0">
              <a:buNone/>
            </a:pPr>
            <a:r>
              <a:rPr lang="en-US" sz="2400" dirty="0" smtClean="0"/>
              <a:t>    Union-Find </a:t>
            </a:r>
            <a:r>
              <a:rPr lang="en-US" sz="2400" dirty="0"/>
              <a:t>algorithm performs two very useful operations -</a:t>
            </a:r>
          </a:p>
          <a:p>
            <a:pPr lvl="1"/>
            <a:r>
              <a:rPr lang="en-US" sz="2400" b="1" dirty="0"/>
              <a:t>Find:</a:t>
            </a:r>
          </a:p>
          <a:p>
            <a:pPr lvl="1"/>
            <a:r>
              <a:rPr lang="en-US" sz="2400" dirty="0"/>
              <a:t>To find the subset a particular element '</a:t>
            </a:r>
            <a:r>
              <a:rPr lang="en-US" sz="2400" i="1" dirty="0"/>
              <a:t>k</a:t>
            </a:r>
            <a:r>
              <a:rPr lang="en-US" sz="2400" dirty="0"/>
              <a:t>' belongs to. It is generally used to check if two elements belong to the same subset or not.</a:t>
            </a:r>
          </a:p>
          <a:p>
            <a:pPr lvl="1"/>
            <a:r>
              <a:rPr lang="en-US" sz="2400" b="1" dirty="0"/>
              <a:t>Union:</a:t>
            </a:r>
          </a:p>
          <a:p>
            <a:pPr lvl="1"/>
            <a:r>
              <a:rPr lang="en-US" sz="2400" dirty="0"/>
              <a:t>It is used to combine two subsets into one. A union query, say </a:t>
            </a:r>
            <a:r>
              <a:rPr lang="en-US" sz="2400" i="1" dirty="0"/>
              <a:t>Union(x, y)</a:t>
            </a:r>
            <a:r>
              <a:rPr lang="en-US" sz="2400" dirty="0"/>
              <a:t> combines the set containing element </a:t>
            </a:r>
            <a:r>
              <a:rPr lang="en-US" sz="2400" i="1" dirty="0"/>
              <a:t>x</a:t>
            </a:r>
            <a:r>
              <a:rPr lang="en-US" sz="2400" dirty="0"/>
              <a:t> and set containing element </a:t>
            </a:r>
            <a:r>
              <a:rPr lang="en-US" sz="2400" i="1" dirty="0"/>
              <a:t>y</a:t>
            </a:r>
            <a:r>
              <a:rPr lang="en-US" sz="2400" dirty="0"/>
              <a:t>.</a:t>
            </a:r>
          </a:p>
          <a:p>
            <a:pPr marL="0" indent="0">
              <a:buNone/>
            </a:pPr>
            <a:endParaRPr lang="en-IN" sz="2400" dirty="0"/>
          </a:p>
        </p:txBody>
      </p:sp>
    </p:spTree>
    <p:extLst>
      <p:ext uri="{BB962C8B-B14F-4D97-AF65-F5344CB8AC3E}">
        <p14:creationId xmlns:p14="http://schemas.microsoft.com/office/powerpoint/2010/main" val="32347452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1126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52400"/>
            <a:ext cx="8610599" cy="6553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247324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IN"/>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4175" y="304800"/>
            <a:ext cx="8374063" cy="586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613382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1433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599" y="304800"/>
            <a:ext cx="8839199" cy="599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407182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83127"/>
            <a:ext cx="8610600"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363" name="Picture 3"/>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28600" y="2514600"/>
            <a:ext cx="8534400" cy="419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297299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52400"/>
            <a:ext cx="8915400" cy="670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743202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921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381000"/>
            <a:ext cx="7239000" cy="6172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376877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1024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2400" y="297873"/>
            <a:ext cx="8991600" cy="655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954057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381000"/>
            <a:ext cx="8229600" cy="4525963"/>
          </a:xfrm>
        </p:spPr>
        <p:txBody>
          <a:bodyPr>
            <a:noAutofit/>
          </a:bodyPr>
          <a:lstStyle/>
          <a:p>
            <a:pPr marL="0" indent="0">
              <a:buNone/>
            </a:pPr>
            <a:r>
              <a:rPr lang="en-US" sz="2800" dirty="0"/>
              <a:t>Formally, </a:t>
            </a:r>
            <a:r>
              <a:rPr lang="en-US" sz="2800" dirty="0" err="1"/>
              <a:t>Kruskal’s</a:t>
            </a:r>
            <a:r>
              <a:rPr lang="en-US" sz="2800" dirty="0"/>
              <a:t> algorithm maintains a forest—a collection of trees. </a:t>
            </a:r>
            <a:endParaRPr lang="en-US" sz="2800" dirty="0" smtClean="0"/>
          </a:p>
          <a:p>
            <a:pPr marL="0" indent="0">
              <a:buNone/>
            </a:pPr>
            <a:r>
              <a:rPr lang="en-US" sz="2800" dirty="0" smtClean="0"/>
              <a:t>Initially</a:t>
            </a:r>
            <a:r>
              <a:rPr lang="en-US" sz="2800" dirty="0"/>
              <a:t>, </a:t>
            </a:r>
            <a:r>
              <a:rPr lang="en-US" sz="2800" dirty="0" smtClean="0"/>
              <a:t>there are </a:t>
            </a:r>
            <a:r>
              <a:rPr lang="en-US" sz="2800" dirty="0"/>
              <a:t>|</a:t>
            </a:r>
            <a:r>
              <a:rPr lang="en-US" sz="2800" i="1" dirty="0"/>
              <a:t>V</a:t>
            </a:r>
            <a:r>
              <a:rPr lang="en-US" sz="2800" dirty="0"/>
              <a:t>| single-node trees. Adding an edge merges two trees into one. </a:t>
            </a:r>
            <a:endParaRPr lang="en-US" sz="2800" dirty="0" smtClean="0"/>
          </a:p>
          <a:p>
            <a:pPr marL="0" indent="0">
              <a:buNone/>
            </a:pPr>
            <a:r>
              <a:rPr lang="en-US" sz="2800" dirty="0" smtClean="0"/>
              <a:t>When </a:t>
            </a:r>
            <a:r>
              <a:rPr lang="en-US" sz="2800" dirty="0"/>
              <a:t>the </a:t>
            </a:r>
            <a:r>
              <a:rPr lang="en-US" sz="2800" dirty="0" smtClean="0"/>
              <a:t>algorithm terminates</a:t>
            </a:r>
            <a:r>
              <a:rPr lang="en-US" sz="2800" dirty="0"/>
              <a:t>, there is only one tree, and this is the minimum spanning tree. </a:t>
            </a:r>
            <a:endParaRPr lang="en-US" sz="2800" dirty="0" smtClean="0"/>
          </a:p>
          <a:p>
            <a:pPr marL="0" indent="0">
              <a:buNone/>
            </a:pPr>
            <a:r>
              <a:rPr lang="en-US" sz="2800" dirty="0" smtClean="0"/>
              <a:t>Figure 9.59 shows </a:t>
            </a:r>
            <a:r>
              <a:rPr lang="en-US" sz="2800" dirty="0"/>
              <a:t>the order in which edges are added to the forest.</a:t>
            </a:r>
          </a:p>
          <a:p>
            <a:pPr marL="0" indent="0">
              <a:buNone/>
            </a:pPr>
            <a:r>
              <a:rPr lang="en-US" sz="2800" dirty="0">
                <a:solidFill>
                  <a:srgbClr val="FF0000"/>
                </a:solidFill>
              </a:rPr>
              <a:t>The algorithm terminates when enough edges are accepted. </a:t>
            </a:r>
            <a:endParaRPr lang="en-US" sz="2800" dirty="0" smtClean="0">
              <a:solidFill>
                <a:srgbClr val="FF0000"/>
              </a:solidFill>
            </a:endParaRPr>
          </a:p>
          <a:p>
            <a:pPr marL="0" indent="0">
              <a:buNone/>
            </a:pPr>
            <a:r>
              <a:rPr lang="en-US" sz="2800" dirty="0" smtClean="0"/>
              <a:t>It </a:t>
            </a:r>
            <a:r>
              <a:rPr lang="en-US" sz="2800" dirty="0"/>
              <a:t>turns out to be simple </a:t>
            </a:r>
            <a:r>
              <a:rPr lang="en-US" sz="2800" dirty="0" smtClean="0"/>
              <a:t>to decide </a:t>
            </a:r>
            <a:r>
              <a:rPr lang="en-US" sz="2800" dirty="0"/>
              <a:t>whether edge (</a:t>
            </a:r>
            <a:r>
              <a:rPr lang="en-US" sz="2800" i="1" dirty="0"/>
              <a:t>u</a:t>
            </a:r>
            <a:r>
              <a:rPr lang="en-US" sz="2800" dirty="0"/>
              <a:t>, </a:t>
            </a:r>
            <a:r>
              <a:rPr lang="en-US" sz="2800" i="1" dirty="0"/>
              <a:t>v</a:t>
            </a:r>
            <a:r>
              <a:rPr lang="en-US" sz="2800" dirty="0"/>
              <a:t>) should be accepted or rejected. </a:t>
            </a:r>
            <a:endParaRPr lang="en-US" sz="2800" dirty="0" smtClean="0"/>
          </a:p>
          <a:p>
            <a:pPr marL="0" indent="0">
              <a:buNone/>
            </a:pPr>
            <a:r>
              <a:rPr lang="en-US" sz="2800" dirty="0" smtClean="0"/>
              <a:t>The </a:t>
            </a:r>
            <a:r>
              <a:rPr lang="en-US" sz="2800" dirty="0">
                <a:solidFill>
                  <a:srgbClr val="FF0000"/>
                </a:solidFill>
              </a:rPr>
              <a:t>appropriate data </a:t>
            </a:r>
            <a:r>
              <a:rPr lang="en-US" sz="2800" dirty="0" smtClean="0">
                <a:solidFill>
                  <a:srgbClr val="FF0000"/>
                </a:solidFill>
              </a:rPr>
              <a:t>structure </a:t>
            </a:r>
            <a:r>
              <a:rPr lang="en-IN" sz="2800" dirty="0" smtClean="0">
                <a:solidFill>
                  <a:srgbClr val="FF0000"/>
                </a:solidFill>
              </a:rPr>
              <a:t>is </a:t>
            </a:r>
            <a:r>
              <a:rPr lang="en-IN" sz="2800" dirty="0">
                <a:solidFill>
                  <a:srgbClr val="FF0000"/>
                </a:solidFill>
              </a:rPr>
              <a:t>the union/find algorithm</a:t>
            </a:r>
          </a:p>
        </p:txBody>
      </p:sp>
    </p:spTree>
    <p:extLst>
      <p:ext uri="{BB962C8B-B14F-4D97-AF65-F5344CB8AC3E}">
        <p14:creationId xmlns:p14="http://schemas.microsoft.com/office/powerpoint/2010/main" val="15528149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fontScale="85000" lnSpcReduction="10000"/>
          </a:bodyPr>
          <a:lstStyle/>
          <a:p>
            <a:pPr marL="0" indent="0">
              <a:buNone/>
            </a:pPr>
            <a:r>
              <a:rPr lang="en-US" dirty="0"/>
              <a:t>The invariant we will use is that at any point in the process, two vertices belong </a:t>
            </a:r>
            <a:r>
              <a:rPr lang="en-US" dirty="0" smtClean="0"/>
              <a:t>to the </a:t>
            </a:r>
            <a:r>
              <a:rPr lang="en-US" dirty="0"/>
              <a:t>same set if and only if they are connected in the current spanning forest. </a:t>
            </a:r>
            <a:endParaRPr lang="en-US" dirty="0" smtClean="0"/>
          </a:p>
          <a:p>
            <a:pPr marL="0" indent="0">
              <a:buNone/>
            </a:pPr>
            <a:r>
              <a:rPr lang="en-US" dirty="0" smtClean="0"/>
              <a:t>Thus</a:t>
            </a:r>
            <a:r>
              <a:rPr lang="en-US" dirty="0"/>
              <a:t>, </a:t>
            </a:r>
            <a:r>
              <a:rPr lang="en-US" dirty="0" smtClean="0">
                <a:solidFill>
                  <a:srgbClr val="FF0000"/>
                </a:solidFill>
              </a:rPr>
              <a:t>each vertex </a:t>
            </a:r>
            <a:r>
              <a:rPr lang="en-US" dirty="0">
                <a:solidFill>
                  <a:srgbClr val="FF0000"/>
                </a:solidFill>
              </a:rPr>
              <a:t>is initially in its own set. </a:t>
            </a:r>
            <a:r>
              <a:rPr lang="en-US" dirty="0"/>
              <a:t>If </a:t>
            </a:r>
            <a:r>
              <a:rPr lang="en-US" i="1" dirty="0"/>
              <a:t>u </a:t>
            </a:r>
            <a:r>
              <a:rPr lang="en-US" dirty="0"/>
              <a:t>and </a:t>
            </a:r>
            <a:r>
              <a:rPr lang="en-US" i="1" dirty="0"/>
              <a:t>v </a:t>
            </a:r>
            <a:r>
              <a:rPr lang="en-US" dirty="0"/>
              <a:t>are in the same set, the edge is rejected, because</a:t>
            </a:r>
          </a:p>
          <a:p>
            <a:pPr marL="0" indent="0">
              <a:buNone/>
            </a:pPr>
            <a:r>
              <a:rPr lang="en-US" dirty="0"/>
              <a:t>since they are already connected, adding (</a:t>
            </a:r>
            <a:r>
              <a:rPr lang="en-US" i="1" dirty="0"/>
              <a:t>u</a:t>
            </a:r>
            <a:r>
              <a:rPr lang="en-US" dirty="0"/>
              <a:t>, </a:t>
            </a:r>
            <a:r>
              <a:rPr lang="en-US" i="1" dirty="0"/>
              <a:t>v</a:t>
            </a:r>
            <a:r>
              <a:rPr lang="en-US" dirty="0"/>
              <a:t>) would form a cycle. </a:t>
            </a:r>
            <a:r>
              <a:rPr lang="en-US" dirty="0">
                <a:solidFill>
                  <a:srgbClr val="FF0000"/>
                </a:solidFill>
              </a:rPr>
              <a:t>Otherwise, the </a:t>
            </a:r>
            <a:r>
              <a:rPr lang="en-US" dirty="0" smtClean="0">
                <a:solidFill>
                  <a:srgbClr val="FF0000"/>
                </a:solidFill>
              </a:rPr>
              <a:t>edge is </a:t>
            </a:r>
            <a:r>
              <a:rPr lang="en-US" dirty="0">
                <a:solidFill>
                  <a:srgbClr val="FF0000"/>
                </a:solidFill>
              </a:rPr>
              <a:t>accepted, and a union is performed on the two sets containing </a:t>
            </a:r>
            <a:r>
              <a:rPr lang="en-US" i="1" dirty="0">
                <a:solidFill>
                  <a:srgbClr val="FF0000"/>
                </a:solidFill>
              </a:rPr>
              <a:t>u </a:t>
            </a:r>
            <a:r>
              <a:rPr lang="en-US" dirty="0">
                <a:solidFill>
                  <a:srgbClr val="FF0000"/>
                </a:solidFill>
              </a:rPr>
              <a:t>and </a:t>
            </a:r>
            <a:r>
              <a:rPr lang="en-US" i="1" dirty="0">
                <a:solidFill>
                  <a:srgbClr val="FF0000"/>
                </a:solidFill>
              </a:rPr>
              <a:t>v</a:t>
            </a:r>
            <a:r>
              <a:rPr lang="en-US" dirty="0" smtClean="0"/>
              <a:t>.</a:t>
            </a:r>
          </a:p>
          <a:p>
            <a:pPr marL="0" indent="0">
              <a:buNone/>
            </a:pPr>
            <a:r>
              <a:rPr lang="en-US" dirty="0" smtClean="0"/>
              <a:t> </a:t>
            </a:r>
            <a:r>
              <a:rPr lang="en-US" dirty="0"/>
              <a:t>It is easy to </a:t>
            </a:r>
            <a:r>
              <a:rPr lang="en-US" dirty="0" smtClean="0"/>
              <a:t>see that </a:t>
            </a:r>
            <a:r>
              <a:rPr lang="en-US" dirty="0"/>
              <a:t>this maintains the set invariant, because once the edge (</a:t>
            </a:r>
            <a:r>
              <a:rPr lang="en-US" i="1" dirty="0"/>
              <a:t>u</a:t>
            </a:r>
            <a:r>
              <a:rPr lang="en-US" dirty="0"/>
              <a:t>, </a:t>
            </a:r>
            <a:r>
              <a:rPr lang="en-US" i="1" dirty="0"/>
              <a:t>v</a:t>
            </a:r>
            <a:r>
              <a:rPr lang="en-US" dirty="0"/>
              <a:t>) is added to the </a:t>
            </a:r>
            <a:r>
              <a:rPr lang="en-US" dirty="0" smtClean="0"/>
              <a:t>spanning forest</a:t>
            </a:r>
            <a:r>
              <a:rPr lang="en-US" dirty="0"/>
              <a:t>, if </a:t>
            </a:r>
            <a:r>
              <a:rPr lang="en-US" i="1" dirty="0"/>
              <a:t>w </a:t>
            </a:r>
            <a:r>
              <a:rPr lang="en-US" dirty="0"/>
              <a:t>was connected to </a:t>
            </a:r>
            <a:r>
              <a:rPr lang="en-US" i="1" dirty="0"/>
              <a:t>u </a:t>
            </a:r>
            <a:r>
              <a:rPr lang="en-US" dirty="0"/>
              <a:t>and </a:t>
            </a:r>
            <a:r>
              <a:rPr lang="en-US" i="1" dirty="0"/>
              <a:t>x </a:t>
            </a:r>
            <a:r>
              <a:rPr lang="en-US" dirty="0"/>
              <a:t>was connected to </a:t>
            </a:r>
            <a:r>
              <a:rPr lang="en-US" i="1" dirty="0"/>
              <a:t>v</a:t>
            </a:r>
            <a:r>
              <a:rPr lang="en-US" dirty="0"/>
              <a:t>, then </a:t>
            </a:r>
            <a:r>
              <a:rPr lang="en-US" i="1" dirty="0"/>
              <a:t>x </a:t>
            </a:r>
            <a:r>
              <a:rPr lang="en-US" dirty="0"/>
              <a:t>and </a:t>
            </a:r>
            <a:r>
              <a:rPr lang="en-US" i="1" dirty="0"/>
              <a:t>w </a:t>
            </a:r>
            <a:r>
              <a:rPr lang="en-US" dirty="0"/>
              <a:t>must now </a:t>
            </a:r>
            <a:r>
              <a:rPr lang="en-US" dirty="0" smtClean="0"/>
              <a:t>be connected</a:t>
            </a:r>
            <a:r>
              <a:rPr lang="en-US" dirty="0"/>
              <a:t>, and thus belong in the same set.</a:t>
            </a:r>
            <a:endParaRPr lang="en-IN" dirty="0"/>
          </a:p>
        </p:txBody>
      </p:sp>
    </p:spTree>
    <p:extLst>
      <p:ext uri="{BB962C8B-B14F-4D97-AF65-F5344CB8AC3E}">
        <p14:creationId xmlns:p14="http://schemas.microsoft.com/office/powerpoint/2010/main" val="5056002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normAutofit fontScale="85000" lnSpcReduction="10000"/>
          </a:bodyPr>
          <a:lstStyle/>
          <a:p>
            <a:r>
              <a:rPr lang="en-US" dirty="0"/>
              <a:t>The </a:t>
            </a:r>
            <a:r>
              <a:rPr lang="en-US" dirty="0">
                <a:solidFill>
                  <a:srgbClr val="FF0000"/>
                </a:solidFill>
              </a:rPr>
              <a:t>edges could be sorted to facilitate the selection</a:t>
            </a:r>
            <a:r>
              <a:rPr lang="en-US" dirty="0"/>
              <a:t>, but </a:t>
            </a:r>
            <a:r>
              <a:rPr lang="en-US" dirty="0">
                <a:solidFill>
                  <a:srgbClr val="FF0000"/>
                </a:solidFill>
              </a:rPr>
              <a:t>building a heap </a:t>
            </a:r>
            <a:r>
              <a:rPr lang="en-US" dirty="0"/>
              <a:t>in linear </a:t>
            </a:r>
            <a:r>
              <a:rPr lang="en-US" dirty="0" smtClean="0"/>
              <a:t>time is </a:t>
            </a:r>
            <a:r>
              <a:rPr lang="en-US" dirty="0"/>
              <a:t>a much better idea. Then </a:t>
            </a:r>
            <a:r>
              <a:rPr lang="en-US" dirty="0" err="1"/>
              <a:t>deleteMins</a:t>
            </a:r>
            <a:r>
              <a:rPr lang="en-US" dirty="0"/>
              <a:t> give the edges to be tested in order. </a:t>
            </a:r>
            <a:endParaRPr lang="en-US" dirty="0" smtClean="0"/>
          </a:p>
          <a:p>
            <a:r>
              <a:rPr lang="en-US" dirty="0" smtClean="0"/>
              <a:t>Typically</a:t>
            </a:r>
            <a:r>
              <a:rPr lang="en-US" dirty="0"/>
              <a:t>, only </a:t>
            </a:r>
            <a:r>
              <a:rPr lang="en-US" dirty="0" smtClean="0"/>
              <a:t>a small </a:t>
            </a:r>
            <a:r>
              <a:rPr lang="en-US" dirty="0"/>
              <a:t>fraction of the edges need to be tested before the algorithm can terminate, </a:t>
            </a:r>
            <a:r>
              <a:rPr lang="en-US" dirty="0" smtClean="0"/>
              <a:t>although it </a:t>
            </a:r>
            <a:r>
              <a:rPr lang="en-US" dirty="0"/>
              <a:t>is always possible that all the edges must be tried. For instance, if there was an </a:t>
            </a:r>
            <a:r>
              <a:rPr lang="en-US" dirty="0" smtClean="0"/>
              <a:t>extra vertex </a:t>
            </a:r>
            <a:r>
              <a:rPr lang="en-US" dirty="0"/>
              <a:t>v8 and edge (v5, v8) of cost 100, all the edges would have to be examined. </a:t>
            </a:r>
            <a:r>
              <a:rPr lang="en-US" dirty="0" smtClean="0"/>
              <a:t>Function </a:t>
            </a:r>
            <a:r>
              <a:rPr lang="en-US" dirty="0" err="1" smtClean="0"/>
              <a:t>kruskal</a:t>
            </a:r>
            <a:r>
              <a:rPr lang="en-US" dirty="0" smtClean="0"/>
              <a:t> </a:t>
            </a:r>
            <a:r>
              <a:rPr lang="en-US" dirty="0"/>
              <a:t>in Figure 9.60 finds a minimum spanning tree.</a:t>
            </a:r>
          </a:p>
          <a:p>
            <a:r>
              <a:rPr lang="en-US" dirty="0"/>
              <a:t>The worst-case running time of this algorithm is </a:t>
            </a:r>
            <a:endParaRPr lang="en-US" dirty="0" smtClean="0"/>
          </a:p>
          <a:p>
            <a:r>
              <a:rPr lang="en-US" dirty="0" smtClean="0"/>
              <a:t>O</a:t>
            </a:r>
            <a:r>
              <a:rPr lang="en-US" dirty="0"/>
              <a:t>(|E| log |E|), </a:t>
            </a:r>
            <a:r>
              <a:rPr lang="en-US" dirty="0">
                <a:solidFill>
                  <a:srgbClr val="FF0000"/>
                </a:solidFill>
              </a:rPr>
              <a:t>which is </a:t>
            </a:r>
            <a:r>
              <a:rPr lang="en-US" dirty="0" smtClean="0">
                <a:solidFill>
                  <a:srgbClr val="FF0000"/>
                </a:solidFill>
              </a:rPr>
              <a:t>dominated by </a:t>
            </a:r>
            <a:r>
              <a:rPr lang="en-US" dirty="0">
                <a:solidFill>
                  <a:srgbClr val="FF0000"/>
                </a:solidFill>
              </a:rPr>
              <a:t>the heap operations.</a:t>
            </a:r>
            <a:r>
              <a:rPr lang="en-US" dirty="0"/>
              <a:t> Notice that since |E| = O(|V|</a:t>
            </a:r>
            <a:r>
              <a:rPr lang="en-US" baseline="30000" dirty="0"/>
              <a:t>2</a:t>
            </a:r>
            <a:r>
              <a:rPr lang="en-US" dirty="0"/>
              <a:t>), this running time </a:t>
            </a:r>
            <a:r>
              <a:rPr lang="en-US" dirty="0" smtClean="0"/>
              <a:t>is actually </a:t>
            </a:r>
            <a:r>
              <a:rPr lang="en-US" dirty="0"/>
              <a:t>O(|E| log |V|). </a:t>
            </a:r>
            <a:endParaRPr lang="en-IN" dirty="0"/>
          </a:p>
        </p:txBody>
      </p:sp>
    </p:spTree>
    <p:extLst>
      <p:ext uri="{BB962C8B-B14F-4D97-AF65-F5344CB8AC3E}">
        <p14:creationId xmlns:p14="http://schemas.microsoft.com/office/powerpoint/2010/main" val="32187728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IN" dirty="0" err="1"/>
              <a:t>Pseudocode</a:t>
            </a:r>
            <a:r>
              <a:rPr lang="en-IN" dirty="0"/>
              <a:t> for </a:t>
            </a:r>
            <a:r>
              <a:rPr lang="en-IN" dirty="0" err="1"/>
              <a:t>Kruskal’s</a:t>
            </a:r>
            <a:r>
              <a:rPr lang="en-IN" dirty="0"/>
              <a:t> algorithm</a:t>
            </a:r>
          </a:p>
        </p:txBody>
      </p:sp>
      <p:sp>
        <p:nvSpPr>
          <p:cNvPr id="3" name="Content Placeholder 2"/>
          <p:cNvSpPr>
            <a:spLocks noGrp="1"/>
          </p:cNvSpPr>
          <p:nvPr>
            <p:ph idx="1"/>
          </p:nvPr>
        </p:nvSpPr>
        <p:spPr>
          <a:xfrm>
            <a:off x="0" y="999806"/>
            <a:ext cx="8229600" cy="5265441"/>
          </a:xfrm>
        </p:spPr>
        <p:txBody>
          <a:bodyPr>
            <a:normAutofit fontScale="70000" lnSpcReduction="20000"/>
          </a:bodyPr>
          <a:lstStyle/>
          <a:p>
            <a:pPr marL="0" indent="0">
              <a:buNone/>
            </a:pPr>
            <a:r>
              <a:rPr lang="en-IN" b="1" dirty="0"/>
              <a:t>void</a:t>
            </a:r>
          </a:p>
          <a:p>
            <a:pPr marL="0" indent="0">
              <a:buNone/>
            </a:pPr>
            <a:r>
              <a:rPr lang="en-IN" b="1" dirty="0" err="1"/>
              <a:t>kruskal</a:t>
            </a:r>
            <a:r>
              <a:rPr lang="en-IN" b="1" dirty="0"/>
              <a:t>( graph G )</a:t>
            </a:r>
          </a:p>
          <a:p>
            <a:pPr marL="0" indent="0">
              <a:buNone/>
            </a:pPr>
            <a:r>
              <a:rPr lang="en-IN" b="1" dirty="0"/>
              <a:t>{</a:t>
            </a:r>
          </a:p>
          <a:p>
            <a:pPr marL="0" indent="0">
              <a:buNone/>
            </a:pPr>
            <a:r>
              <a:rPr lang="en-IN" b="1" dirty="0"/>
              <a:t>unsigned </a:t>
            </a:r>
            <a:r>
              <a:rPr lang="en-IN" b="1" dirty="0" err="1"/>
              <a:t>int</a:t>
            </a:r>
            <a:r>
              <a:rPr lang="en-IN" b="1" dirty="0"/>
              <a:t> </a:t>
            </a:r>
            <a:r>
              <a:rPr lang="en-IN" b="1" dirty="0" err="1"/>
              <a:t>edges_accepted</a:t>
            </a:r>
            <a:r>
              <a:rPr lang="en-IN" b="1" dirty="0"/>
              <a:t>;</a:t>
            </a:r>
          </a:p>
          <a:p>
            <a:pPr marL="0" indent="0">
              <a:buNone/>
            </a:pPr>
            <a:r>
              <a:rPr lang="en-IN" b="1" dirty="0"/>
              <a:t>DISJ_SET S;</a:t>
            </a:r>
          </a:p>
          <a:p>
            <a:pPr marL="0" indent="0">
              <a:buNone/>
            </a:pPr>
            <a:r>
              <a:rPr lang="en-IN" b="1" dirty="0"/>
              <a:t>PRIORITY_QUEUE H;</a:t>
            </a:r>
          </a:p>
          <a:p>
            <a:pPr marL="0" indent="0">
              <a:buNone/>
            </a:pPr>
            <a:r>
              <a:rPr lang="en-IN" b="1" dirty="0"/>
              <a:t>vertex u, v;</a:t>
            </a:r>
          </a:p>
          <a:p>
            <a:pPr marL="0" indent="0">
              <a:buNone/>
            </a:pPr>
            <a:r>
              <a:rPr lang="en-IN" b="1" dirty="0" err="1"/>
              <a:t>set_type</a:t>
            </a:r>
            <a:r>
              <a:rPr lang="en-IN" b="1" dirty="0"/>
              <a:t> </a:t>
            </a:r>
            <a:r>
              <a:rPr lang="en-IN" b="1" dirty="0" err="1"/>
              <a:t>u_set</a:t>
            </a:r>
            <a:r>
              <a:rPr lang="en-IN" b="1" dirty="0"/>
              <a:t>, </a:t>
            </a:r>
            <a:r>
              <a:rPr lang="en-IN" b="1" dirty="0" err="1"/>
              <a:t>v_set</a:t>
            </a:r>
            <a:r>
              <a:rPr lang="en-IN" b="1" dirty="0"/>
              <a:t>;</a:t>
            </a:r>
          </a:p>
          <a:p>
            <a:pPr marL="0" indent="0">
              <a:buNone/>
            </a:pPr>
            <a:r>
              <a:rPr lang="en-IN" b="1" dirty="0"/>
              <a:t>edge e;</a:t>
            </a:r>
          </a:p>
          <a:p>
            <a:pPr marL="0" indent="0">
              <a:buNone/>
            </a:pPr>
            <a:r>
              <a:rPr lang="en-IN" b="1" dirty="0"/>
              <a:t> </a:t>
            </a:r>
            <a:r>
              <a:rPr lang="en-IN" b="1" dirty="0" smtClean="0"/>
              <a:t>     initialize</a:t>
            </a:r>
            <a:r>
              <a:rPr lang="en-IN" b="1" dirty="0"/>
              <a:t>( S );</a:t>
            </a:r>
          </a:p>
          <a:p>
            <a:pPr marL="0" indent="0">
              <a:buNone/>
            </a:pPr>
            <a:r>
              <a:rPr lang="en-IN" b="1" dirty="0"/>
              <a:t> </a:t>
            </a:r>
            <a:r>
              <a:rPr lang="en-IN" b="1" dirty="0" smtClean="0"/>
              <a:t>     </a:t>
            </a:r>
            <a:r>
              <a:rPr lang="en-IN" b="1" dirty="0" err="1" smtClean="0"/>
              <a:t>read_graph_into_heap_array</a:t>
            </a:r>
            <a:r>
              <a:rPr lang="en-IN" b="1" dirty="0"/>
              <a:t>( G, H );</a:t>
            </a:r>
          </a:p>
          <a:p>
            <a:pPr marL="0" indent="0">
              <a:buNone/>
            </a:pPr>
            <a:r>
              <a:rPr lang="en-IN" b="1" dirty="0"/>
              <a:t> </a:t>
            </a:r>
            <a:r>
              <a:rPr lang="en-IN" b="1" dirty="0" smtClean="0"/>
              <a:t>     </a:t>
            </a:r>
            <a:r>
              <a:rPr lang="en-IN" b="1" dirty="0" err="1" smtClean="0"/>
              <a:t>build_heap</a:t>
            </a:r>
            <a:r>
              <a:rPr lang="en-IN" b="1" dirty="0"/>
              <a:t>( H );</a:t>
            </a:r>
          </a:p>
          <a:p>
            <a:pPr marL="0" indent="0">
              <a:buNone/>
            </a:pPr>
            <a:r>
              <a:rPr lang="en-IN" b="1" dirty="0"/>
              <a:t> </a:t>
            </a:r>
            <a:r>
              <a:rPr lang="en-IN" b="1" dirty="0" smtClean="0"/>
              <a:t>     </a:t>
            </a:r>
            <a:r>
              <a:rPr lang="en-IN" b="1" dirty="0" err="1" smtClean="0"/>
              <a:t>edges_accepted</a:t>
            </a:r>
            <a:r>
              <a:rPr lang="en-IN" b="1" dirty="0" smtClean="0"/>
              <a:t> </a:t>
            </a:r>
            <a:r>
              <a:rPr lang="en-IN" b="1" dirty="0"/>
              <a:t>= 0;</a:t>
            </a:r>
          </a:p>
          <a:p>
            <a:pPr marL="0" indent="0">
              <a:buNone/>
            </a:pPr>
            <a:r>
              <a:rPr lang="en-IN" b="1" dirty="0"/>
              <a:t> </a:t>
            </a:r>
            <a:r>
              <a:rPr lang="en-IN" b="1" dirty="0" smtClean="0"/>
              <a:t>     while</a:t>
            </a:r>
            <a:r>
              <a:rPr lang="en-IN" b="1" dirty="0"/>
              <a:t>( </a:t>
            </a:r>
            <a:r>
              <a:rPr lang="en-IN" b="1" dirty="0" err="1"/>
              <a:t>edges_accepted</a:t>
            </a:r>
            <a:r>
              <a:rPr lang="en-IN" b="1" dirty="0"/>
              <a:t> &lt; NUM_VERTEX-1 )</a:t>
            </a:r>
          </a:p>
        </p:txBody>
      </p:sp>
      <p:sp>
        <p:nvSpPr>
          <p:cNvPr id="4" name="Rectangle 3"/>
          <p:cNvSpPr/>
          <p:nvPr/>
        </p:nvSpPr>
        <p:spPr>
          <a:xfrm>
            <a:off x="5257800" y="990599"/>
            <a:ext cx="4572000" cy="4893647"/>
          </a:xfrm>
          <a:prstGeom prst="rect">
            <a:avLst/>
          </a:prstGeom>
        </p:spPr>
        <p:txBody>
          <a:bodyPr>
            <a:spAutoFit/>
          </a:bodyPr>
          <a:lstStyle/>
          <a:p>
            <a:r>
              <a:rPr lang="en-IN" sz="2400" b="1" dirty="0"/>
              <a:t>{</a:t>
            </a:r>
          </a:p>
          <a:p>
            <a:r>
              <a:rPr lang="en-IN" sz="2400" b="1" dirty="0"/>
              <a:t> </a:t>
            </a:r>
            <a:r>
              <a:rPr lang="en-IN" sz="2400" b="1" dirty="0" smtClean="0"/>
              <a:t>     </a:t>
            </a:r>
            <a:r>
              <a:rPr lang="en-IN" sz="2400" b="1" dirty="0"/>
              <a:t>e = </a:t>
            </a:r>
            <a:r>
              <a:rPr lang="en-IN" sz="2400" b="1" dirty="0" err="1"/>
              <a:t>delete_min</a:t>
            </a:r>
            <a:r>
              <a:rPr lang="en-IN" sz="2400" b="1" dirty="0"/>
              <a:t>( H ); /* e = (u, v) */</a:t>
            </a:r>
          </a:p>
          <a:p>
            <a:r>
              <a:rPr lang="en-IN" sz="2400" b="1" dirty="0"/>
              <a:t> </a:t>
            </a:r>
            <a:r>
              <a:rPr lang="en-IN" sz="2400" b="1" dirty="0" smtClean="0"/>
              <a:t>     </a:t>
            </a:r>
            <a:r>
              <a:rPr lang="en-IN" sz="2400" b="1" dirty="0" err="1"/>
              <a:t>u_set</a:t>
            </a:r>
            <a:r>
              <a:rPr lang="en-IN" sz="2400" b="1" dirty="0"/>
              <a:t> = find( u, S );</a:t>
            </a:r>
          </a:p>
          <a:p>
            <a:r>
              <a:rPr lang="en-IN" sz="2400" b="1" dirty="0"/>
              <a:t> </a:t>
            </a:r>
            <a:r>
              <a:rPr lang="en-IN" sz="2400" b="1" dirty="0" smtClean="0"/>
              <a:t>     </a:t>
            </a:r>
            <a:r>
              <a:rPr lang="en-IN" sz="2400" b="1" dirty="0" err="1" smtClean="0"/>
              <a:t>v_set</a:t>
            </a:r>
            <a:r>
              <a:rPr lang="en-IN" sz="2400" b="1" dirty="0" smtClean="0"/>
              <a:t> </a:t>
            </a:r>
            <a:r>
              <a:rPr lang="en-IN" sz="2400" b="1" dirty="0"/>
              <a:t>= find( v, S );</a:t>
            </a:r>
          </a:p>
          <a:p>
            <a:r>
              <a:rPr lang="en-IN" sz="2400" b="1" dirty="0"/>
              <a:t> </a:t>
            </a:r>
            <a:r>
              <a:rPr lang="en-IN" sz="2400" b="1" dirty="0" smtClean="0"/>
              <a:t>    if</a:t>
            </a:r>
            <a:r>
              <a:rPr lang="en-IN" sz="2400" b="1" dirty="0"/>
              <a:t>( </a:t>
            </a:r>
            <a:r>
              <a:rPr lang="en-IN" sz="2400" b="1" dirty="0" err="1"/>
              <a:t>u_set</a:t>
            </a:r>
            <a:r>
              <a:rPr lang="en-IN" sz="2400" b="1" dirty="0"/>
              <a:t> != </a:t>
            </a:r>
            <a:r>
              <a:rPr lang="en-IN" sz="2400" b="1" dirty="0" err="1"/>
              <a:t>v_set</a:t>
            </a:r>
            <a:r>
              <a:rPr lang="en-IN" sz="2400" b="1" dirty="0"/>
              <a:t> )</a:t>
            </a:r>
          </a:p>
          <a:p>
            <a:r>
              <a:rPr lang="en-IN" sz="2400" b="1" dirty="0"/>
              <a:t>{</a:t>
            </a:r>
          </a:p>
          <a:p>
            <a:r>
              <a:rPr lang="en-IN" sz="2400" b="1" dirty="0"/>
              <a:t> </a:t>
            </a:r>
            <a:r>
              <a:rPr lang="en-IN" sz="2400" b="1" dirty="0" smtClean="0"/>
              <a:t>      /* </a:t>
            </a:r>
            <a:r>
              <a:rPr lang="en-IN" sz="2400" b="1" dirty="0"/>
              <a:t>accept the edge */</a:t>
            </a:r>
          </a:p>
          <a:p>
            <a:r>
              <a:rPr lang="en-IN" sz="2400" b="1" dirty="0"/>
              <a:t> </a:t>
            </a:r>
            <a:r>
              <a:rPr lang="en-IN" sz="2400" b="1" dirty="0" smtClean="0"/>
              <a:t>     </a:t>
            </a:r>
            <a:r>
              <a:rPr lang="en-IN" sz="2400" b="1" dirty="0" err="1" smtClean="0"/>
              <a:t>edges_accepted</a:t>
            </a:r>
            <a:r>
              <a:rPr lang="en-IN" sz="2400" b="1" dirty="0"/>
              <a:t>++;</a:t>
            </a:r>
          </a:p>
          <a:p>
            <a:r>
              <a:rPr lang="en-IN" sz="2400" b="1" dirty="0"/>
              <a:t> </a:t>
            </a:r>
            <a:r>
              <a:rPr lang="en-IN" sz="2400" b="1" dirty="0" smtClean="0"/>
              <a:t>     </a:t>
            </a:r>
            <a:r>
              <a:rPr lang="en-IN" sz="2400" b="1" dirty="0" err="1" smtClean="0"/>
              <a:t>set_union</a:t>
            </a:r>
            <a:r>
              <a:rPr lang="en-IN" sz="2400" b="1" dirty="0"/>
              <a:t>( S, </a:t>
            </a:r>
            <a:r>
              <a:rPr lang="en-IN" sz="2400" b="1" dirty="0" err="1"/>
              <a:t>u_set</a:t>
            </a:r>
            <a:r>
              <a:rPr lang="en-IN" sz="2400" b="1" dirty="0"/>
              <a:t>, </a:t>
            </a:r>
            <a:r>
              <a:rPr lang="en-IN" sz="2400" b="1" dirty="0" err="1"/>
              <a:t>v_set</a:t>
            </a:r>
            <a:r>
              <a:rPr lang="en-IN" sz="2400" b="1" dirty="0"/>
              <a:t> );</a:t>
            </a:r>
          </a:p>
          <a:p>
            <a:r>
              <a:rPr lang="en-IN" sz="2400" b="1" dirty="0"/>
              <a:t>}</a:t>
            </a:r>
          </a:p>
          <a:p>
            <a:r>
              <a:rPr lang="en-IN" sz="2400" b="1" dirty="0"/>
              <a:t>}</a:t>
            </a:r>
          </a:p>
          <a:p>
            <a:r>
              <a:rPr lang="en-IN" sz="2400" b="1" dirty="0" smtClean="0"/>
              <a:t>}</a:t>
            </a:r>
            <a:endParaRPr lang="en-IN" sz="2400" b="1" dirty="0"/>
          </a:p>
        </p:txBody>
      </p:sp>
    </p:spTree>
    <p:extLst>
      <p:ext uri="{BB962C8B-B14F-4D97-AF65-F5344CB8AC3E}">
        <p14:creationId xmlns:p14="http://schemas.microsoft.com/office/powerpoint/2010/main" val="4215195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154</TotalTime>
  <Words>1671</Words>
  <Application>Microsoft Office PowerPoint</Application>
  <PresentationFormat>On-screen Show (4:3)</PresentationFormat>
  <Paragraphs>116</Paragraphs>
  <Slides>38</Slides>
  <Notes>0</Notes>
  <HiddenSlides>0</HiddenSlides>
  <MMClips>0</MMClips>
  <ScaleCrop>false</ScaleCrop>
  <HeadingPairs>
    <vt:vector size="4" baseType="variant">
      <vt:variant>
        <vt:lpstr>Theme</vt:lpstr>
      </vt:variant>
      <vt:variant>
        <vt:i4>1</vt:i4>
      </vt:variant>
      <vt:variant>
        <vt:lpstr>Slide Titles</vt:lpstr>
      </vt:variant>
      <vt:variant>
        <vt:i4>38</vt:i4>
      </vt:variant>
    </vt:vector>
  </HeadingPairs>
  <TitlesOfParts>
    <vt:vector size="39" baseType="lpstr">
      <vt:lpstr>Office Theme</vt:lpstr>
      <vt:lpstr>Minimum Spanning Tree</vt:lpstr>
      <vt:lpstr>PowerPoint Presentation</vt:lpstr>
      <vt:lpstr>PowerPoint Presentation</vt:lpstr>
      <vt:lpstr>PowerPoint Presentation</vt:lpstr>
      <vt:lpstr>PowerPoint Presentation</vt:lpstr>
      <vt:lpstr>Prim's Algorithm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Prim's Algorithm pseudocode</vt:lpstr>
      <vt:lpstr>PowerPoint Presentation</vt:lpstr>
      <vt:lpstr>Prim's Algorithm Complexity</vt:lpstr>
      <vt:lpstr>Algorithm</vt:lpstr>
      <vt:lpstr>Time Complexity </vt:lpstr>
      <vt:lpstr>Kruskal's Algorithm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Pseudocode for Kruskal’s algorithm</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Minimum Spanning Tree</dc:title>
  <dc:creator>welcome</dc:creator>
  <cp:lastModifiedBy>ismail - [2010]</cp:lastModifiedBy>
  <cp:revision>45</cp:revision>
  <dcterms:created xsi:type="dcterms:W3CDTF">2006-08-16T00:00:00Z</dcterms:created>
  <dcterms:modified xsi:type="dcterms:W3CDTF">2023-05-22T07:36:37Z</dcterms:modified>
</cp:coreProperties>
</file>