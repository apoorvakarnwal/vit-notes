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4" r:id="rId3"/>
  </p:sldMasterIdLst>
  <p:notesMasterIdLst>
    <p:notesMasterId r:id="rId96"/>
  </p:notesMasterIdLst>
  <p:sldIdLst>
    <p:sldId id="256" r:id="rId4"/>
    <p:sldId id="376" r:id="rId5"/>
    <p:sldId id="372" r:id="rId6"/>
    <p:sldId id="373" r:id="rId7"/>
    <p:sldId id="374" r:id="rId8"/>
    <p:sldId id="375" r:id="rId9"/>
    <p:sldId id="347" r:id="rId10"/>
    <p:sldId id="348" r:id="rId11"/>
    <p:sldId id="349" r:id="rId12"/>
    <p:sldId id="350" r:id="rId13"/>
    <p:sldId id="351" r:id="rId14"/>
    <p:sldId id="353" r:id="rId15"/>
    <p:sldId id="354" r:id="rId16"/>
    <p:sldId id="397" r:id="rId17"/>
    <p:sldId id="325" r:id="rId18"/>
    <p:sldId id="326" r:id="rId19"/>
    <p:sldId id="327" r:id="rId20"/>
    <p:sldId id="306" r:id="rId21"/>
    <p:sldId id="355" r:id="rId22"/>
    <p:sldId id="356" r:id="rId23"/>
    <p:sldId id="394" r:id="rId24"/>
    <p:sldId id="395" r:id="rId25"/>
    <p:sldId id="357" r:id="rId26"/>
    <p:sldId id="358" r:id="rId27"/>
    <p:sldId id="359" r:id="rId28"/>
    <p:sldId id="360" r:id="rId29"/>
    <p:sldId id="361" r:id="rId30"/>
    <p:sldId id="364" r:id="rId31"/>
    <p:sldId id="365" r:id="rId32"/>
    <p:sldId id="366" r:id="rId33"/>
    <p:sldId id="367" r:id="rId34"/>
    <p:sldId id="368" r:id="rId35"/>
    <p:sldId id="369" r:id="rId36"/>
    <p:sldId id="370" r:id="rId37"/>
    <p:sldId id="371" r:id="rId38"/>
    <p:sldId id="307" r:id="rId39"/>
    <p:sldId id="308" r:id="rId40"/>
    <p:sldId id="309" r:id="rId41"/>
    <p:sldId id="258" r:id="rId42"/>
    <p:sldId id="259" r:id="rId43"/>
    <p:sldId id="401" r:id="rId44"/>
    <p:sldId id="313" r:id="rId45"/>
    <p:sldId id="260" r:id="rId46"/>
    <p:sldId id="281" r:id="rId47"/>
    <p:sldId id="399" r:id="rId48"/>
    <p:sldId id="342" r:id="rId49"/>
    <p:sldId id="282" r:id="rId50"/>
    <p:sldId id="283" r:id="rId51"/>
    <p:sldId id="337" r:id="rId52"/>
    <p:sldId id="261" r:id="rId53"/>
    <p:sldId id="314" r:id="rId54"/>
    <p:sldId id="317" r:id="rId55"/>
    <p:sldId id="315" r:id="rId56"/>
    <p:sldId id="316" r:id="rId57"/>
    <p:sldId id="318" r:id="rId58"/>
    <p:sldId id="319" r:id="rId59"/>
    <p:sldId id="287" r:id="rId60"/>
    <p:sldId id="321" r:id="rId61"/>
    <p:sldId id="341" r:id="rId62"/>
    <p:sldId id="320" r:id="rId63"/>
    <p:sldId id="288" r:id="rId64"/>
    <p:sldId id="338" r:id="rId65"/>
    <p:sldId id="290" r:id="rId66"/>
    <p:sldId id="291" r:id="rId67"/>
    <p:sldId id="292" r:id="rId68"/>
    <p:sldId id="293" r:id="rId69"/>
    <p:sldId id="294" r:id="rId70"/>
    <p:sldId id="339" r:id="rId71"/>
    <p:sldId id="295" r:id="rId72"/>
    <p:sldId id="296" r:id="rId73"/>
    <p:sldId id="297" r:id="rId74"/>
    <p:sldId id="298" r:id="rId75"/>
    <p:sldId id="299" r:id="rId76"/>
    <p:sldId id="300" r:id="rId77"/>
    <p:sldId id="400" r:id="rId78"/>
    <p:sldId id="340" r:id="rId79"/>
    <p:sldId id="322" r:id="rId80"/>
    <p:sldId id="323" r:id="rId81"/>
    <p:sldId id="346" r:id="rId82"/>
    <p:sldId id="343" r:id="rId83"/>
    <p:sldId id="305" r:id="rId84"/>
    <p:sldId id="345" r:id="rId85"/>
    <p:sldId id="301" r:id="rId86"/>
    <p:sldId id="302" r:id="rId87"/>
    <p:sldId id="303" r:id="rId88"/>
    <p:sldId id="304" r:id="rId89"/>
    <p:sldId id="344" r:id="rId90"/>
    <p:sldId id="377" r:id="rId91"/>
    <p:sldId id="390" r:id="rId92"/>
    <p:sldId id="391" r:id="rId93"/>
    <p:sldId id="392" r:id="rId94"/>
    <p:sldId id="393" r:id="rId9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96" autoAdjust="0"/>
  </p:normalViewPr>
  <p:slideViewPr>
    <p:cSldViewPr>
      <p:cViewPr varScale="1">
        <p:scale>
          <a:sx n="66" d="100"/>
          <a:sy n="66" d="100"/>
        </p:scale>
        <p:origin x="-1422"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8A3428-6264-4351-8147-A8FD46548EFB}" type="datetimeFigureOut">
              <a:rPr lang="en-IN" smtClean="0"/>
              <a:t>31-05-2023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F44432-32FA-4E8C-B071-F456519C45CD}" type="slidenum">
              <a:rPr lang="en-IN" smtClean="0"/>
              <a:t>‹#›</a:t>
            </a:fld>
            <a:endParaRPr lang="en-IN"/>
          </a:p>
        </p:txBody>
      </p:sp>
    </p:spTree>
    <p:extLst>
      <p:ext uri="{BB962C8B-B14F-4D97-AF65-F5344CB8AC3E}">
        <p14:creationId xmlns:p14="http://schemas.microsoft.com/office/powerpoint/2010/main" val="37504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1"/>
          <p:cNvSpPr txBox="1">
            <a:spLocks noGrp="1" noRot="1" noChangeAspect="1" noChangeArrowheads="1" noTextEdit="1"/>
          </p:cNvSpPr>
          <p:nvPr>
            <p:ph type="sldImg"/>
          </p:nvPr>
        </p:nvSpPr>
        <p:spPr>
          <a:xfrm>
            <a:off x="-5467350" y="-3406775"/>
            <a:ext cx="10936288" cy="82042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5" name="Rectangle 2"/>
          <p:cNvSpPr txBox="1">
            <a:spLocks noGrp="1" noChangeArrowheads="1"/>
          </p:cNvSpPr>
          <p:nvPr>
            <p:ph type="body" idx="1"/>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00113" eaLnBrk="0" hangingPunct="0">
              <a:defRPr sz="2400">
                <a:solidFill>
                  <a:schemeClr val="tx1"/>
                </a:solidFill>
                <a:latin typeface="Times New Roman" pitchFamily="18" charset="-52"/>
              </a:defRPr>
            </a:lvl1pPr>
            <a:lvl2pPr marL="742950" indent="-285750" defTabSz="900113" eaLnBrk="0" hangingPunct="0">
              <a:defRPr sz="2400">
                <a:solidFill>
                  <a:schemeClr val="tx1"/>
                </a:solidFill>
                <a:latin typeface="Times New Roman" pitchFamily="18" charset="-52"/>
              </a:defRPr>
            </a:lvl2pPr>
            <a:lvl3pPr marL="1143000" indent="-228600" defTabSz="900113" eaLnBrk="0" hangingPunct="0">
              <a:defRPr sz="2400">
                <a:solidFill>
                  <a:schemeClr val="tx1"/>
                </a:solidFill>
                <a:latin typeface="Times New Roman" pitchFamily="18" charset="-52"/>
              </a:defRPr>
            </a:lvl3pPr>
            <a:lvl4pPr marL="1600200" indent="-228600" defTabSz="900113" eaLnBrk="0" hangingPunct="0">
              <a:defRPr sz="2400">
                <a:solidFill>
                  <a:schemeClr val="tx1"/>
                </a:solidFill>
                <a:latin typeface="Times New Roman" pitchFamily="18" charset="-52"/>
              </a:defRPr>
            </a:lvl4pPr>
            <a:lvl5pPr marL="2057400" indent="-228600" defTabSz="900113" eaLnBrk="0" hangingPunct="0">
              <a:defRPr sz="2400">
                <a:solidFill>
                  <a:schemeClr val="tx1"/>
                </a:solidFill>
                <a:latin typeface="Times New Roman" pitchFamily="18" charset="-52"/>
              </a:defRPr>
            </a:lvl5pPr>
            <a:lvl6pPr marL="2514600" indent="-228600" algn="ctr" defTabSz="900113" eaLnBrk="0" fontAlgn="base" hangingPunct="0">
              <a:spcBef>
                <a:spcPct val="0"/>
              </a:spcBef>
              <a:spcAft>
                <a:spcPct val="0"/>
              </a:spcAft>
              <a:defRPr sz="2400">
                <a:solidFill>
                  <a:schemeClr val="tx1"/>
                </a:solidFill>
                <a:latin typeface="Times New Roman" pitchFamily="18" charset="-52"/>
              </a:defRPr>
            </a:lvl6pPr>
            <a:lvl7pPr marL="2971800" indent="-228600" algn="ctr" defTabSz="900113" eaLnBrk="0" fontAlgn="base" hangingPunct="0">
              <a:spcBef>
                <a:spcPct val="0"/>
              </a:spcBef>
              <a:spcAft>
                <a:spcPct val="0"/>
              </a:spcAft>
              <a:defRPr sz="2400">
                <a:solidFill>
                  <a:schemeClr val="tx1"/>
                </a:solidFill>
                <a:latin typeface="Times New Roman" pitchFamily="18" charset="-52"/>
              </a:defRPr>
            </a:lvl7pPr>
            <a:lvl8pPr marL="3429000" indent="-228600" algn="ctr" defTabSz="900113" eaLnBrk="0" fontAlgn="base" hangingPunct="0">
              <a:spcBef>
                <a:spcPct val="0"/>
              </a:spcBef>
              <a:spcAft>
                <a:spcPct val="0"/>
              </a:spcAft>
              <a:defRPr sz="2400">
                <a:solidFill>
                  <a:schemeClr val="tx1"/>
                </a:solidFill>
                <a:latin typeface="Times New Roman" pitchFamily="18" charset="-52"/>
              </a:defRPr>
            </a:lvl8pPr>
            <a:lvl9pPr marL="3886200" indent="-228600" algn="ctr" defTabSz="900113" eaLnBrk="0" fontAlgn="base" hangingPunct="0">
              <a:spcBef>
                <a:spcPct val="0"/>
              </a:spcBef>
              <a:spcAft>
                <a:spcPct val="0"/>
              </a:spcAft>
              <a:defRPr sz="2400">
                <a:solidFill>
                  <a:schemeClr val="tx1"/>
                </a:solidFill>
                <a:latin typeface="Times New Roman" pitchFamily="18" charset="-52"/>
              </a:defRPr>
            </a:lvl9pPr>
          </a:lstStyle>
          <a:p>
            <a:pPr eaLnBrk="1" hangingPunct="1"/>
            <a:fld id="{09B0F496-1BDE-41A5-87AD-3A047422E355}" type="slidenum">
              <a:rPr lang="en-US" sz="1200">
                <a:solidFill>
                  <a:prstClr val="black"/>
                </a:solidFill>
              </a:rPr>
              <a:pPr eaLnBrk="1" hangingPunct="1"/>
              <a:t>3</a:t>
            </a:fld>
            <a:endParaRPr lang="en-US" sz="1200">
              <a:solidFill>
                <a:prstClr val="black"/>
              </a:solidFill>
            </a:endParaRPr>
          </a:p>
        </p:txBody>
      </p:sp>
      <p:sp>
        <p:nvSpPr>
          <p:cNvPr id="59395" name="Rectangle 2"/>
          <p:cNvSpPr>
            <a:spLocks noGrp="1" noRot="1" noChangeAspect="1" noChangeArrowheads="1" noTextEdit="1"/>
          </p:cNvSpPr>
          <p:nvPr>
            <p:ph type="sldImg"/>
          </p:nvPr>
        </p:nvSpPr>
        <p:spPr>
          <a:xfrm>
            <a:off x="1143000" y="685800"/>
            <a:ext cx="4572000" cy="3429000"/>
          </a:xfrm>
          <a:ln/>
        </p:spPr>
      </p:sp>
      <p:sp>
        <p:nvSpPr>
          <p:cNvPr id="59396" name="Rectangle 3"/>
          <p:cNvSpPr>
            <a:spLocks noGrp="1" noChangeArrowheads="1"/>
          </p:cNvSpPr>
          <p:nvPr>
            <p:ph type="body" idx="1"/>
          </p:nvPr>
        </p:nvSpPr>
        <p:spPr>
          <a:xfrm>
            <a:off x="912203" y="4343401"/>
            <a:ext cx="5033596" cy="4114800"/>
          </a:xfrm>
          <a:noFill/>
        </p:spPr>
        <p:txBody>
          <a:bodyPr lIns="91352" tIns="45677" rIns="91352" bIns="45677"/>
          <a:lstStyle/>
          <a:p>
            <a:r>
              <a:rPr lang="en-US" smtClean="0"/>
              <a:t>Dictionaries associate some key with a value, just like a real dictionary (where the key is a word and the value is its definition).</a:t>
            </a:r>
          </a:p>
          <a:p>
            <a:endParaRPr lang="en-US" smtClean="0"/>
          </a:p>
          <a:p>
            <a:r>
              <a:rPr lang="en-US" smtClean="0"/>
              <a:t>In this example, I’ve stored user-IDs associated with descriptions of their coolness level.</a:t>
            </a:r>
          </a:p>
          <a:p>
            <a:endParaRPr lang="en-US" smtClean="0"/>
          </a:p>
          <a:p>
            <a:r>
              <a:rPr lang="en-US" smtClean="0"/>
              <a:t>This is probably the most valuable and widely used ADT we’ll hit. </a:t>
            </a:r>
          </a:p>
          <a:p>
            <a:r>
              <a:rPr lang="en-US" smtClean="0"/>
              <a:t>I’ll give you an example in a minute that should firmly entrench this concept.</a:t>
            </a:r>
          </a:p>
          <a:p>
            <a:endParaRPr lang="en-US" smtClean="0"/>
          </a:p>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1F44432-32FA-4E8C-B071-F456519C45CD}" type="slidenum">
              <a:rPr lang="en-IN" smtClean="0">
                <a:solidFill>
                  <a:prstClr val="black"/>
                </a:solidFill>
              </a:rPr>
              <a:pPr/>
              <a:t>5</a:t>
            </a:fld>
            <a:endParaRPr lang="en-IN">
              <a:solidFill>
                <a:prstClr val="black"/>
              </a:solidFill>
            </a:endParaRPr>
          </a:p>
        </p:txBody>
      </p:sp>
    </p:spTree>
    <p:extLst>
      <p:ext uri="{BB962C8B-B14F-4D97-AF65-F5344CB8AC3E}">
        <p14:creationId xmlns:p14="http://schemas.microsoft.com/office/powerpoint/2010/main" val="296815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84995"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86019"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87043"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88067"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89091"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defTabSz="900113" eaLnBrk="0" hangingPunct="0">
              <a:defRPr sz="2400">
                <a:solidFill>
                  <a:schemeClr val="tx1"/>
                </a:solidFill>
                <a:latin typeface="Times New Roman" pitchFamily="18" charset="-52"/>
              </a:defRPr>
            </a:lvl1pPr>
            <a:lvl2pPr marL="742950" indent="-285750" defTabSz="900113" eaLnBrk="0" hangingPunct="0">
              <a:defRPr sz="2400">
                <a:solidFill>
                  <a:schemeClr val="tx1"/>
                </a:solidFill>
                <a:latin typeface="Times New Roman" pitchFamily="18" charset="-52"/>
              </a:defRPr>
            </a:lvl2pPr>
            <a:lvl3pPr marL="1143000" indent="-228600" defTabSz="900113" eaLnBrk="0" hangingPunct="0">
              <a:defRPr sz="2400">
                <a:solidFill>
                  <a:schemeClr val="tx1"/>
                </a:solidFill>
                <a:latin typeface="Times New Roman" pitchFamily="18" charset="-52"/>
              </a:defRPr>
            </a:lvl3pPr>
            <a:lvl4pPr marL="1600200" indent="-228600" defTabSz="900113" eaLnBrk="0" hangingPunct="0">
              <a:defRPr sz="2400">
                <a:solidFill>
                  <a:schemeClr val="tx1"/>
                </a:solidFill>
                <a:latin typeface="Times New Roman" pitchFamily="18" charset="-52"/>
              </a:defRPr>
            </a:lvl4pPr>
            <a:lvl5pPr marL="2057400" indent="-228600" defTabSz="900113" eaLnBrk="0" hangingPunct="0">
              <a:defRPr sz="2400">
                <a:solidFill>
                  <a:schemeClr val="tx1"/>
                </a:solidFill>
                <a:latin typeface="Times New Roman" pitchFamily="18" charset="-52"/>
              </a:defRPr>
            </a:lvl5pPr>
            <a:lvl6pPr marL="2514600" indent="-228600" algn="ctr" defTabSz="900113" eaLnBrk="0" fontAlgn="base" hangingPunct="0">
              <a:spcBef>
                <a:spcPct val="0"/>
              </a:spcBef>
              <a:spcAft>
                <a:spcPct val="0"/>
              </a:spcAft>
              <a:defRPr sz="2400">
                <a:solidFill>
                  <a:schemeClr val="tx1"/>
                </a:solidFill>
                <a:latin typeface="Times New Roman" pitchFamily="18" charset="-52"/>
              </a:defRPr>
            </a:lvl6pPr>
            <a:lvl7pPr marL="2971800" indent="-228600" algn="ctr" defTabSz="900113" eaLnBrk="0" fontAlgn="base" hangingPunct="0">
              <a:spcBef>
                <a:spcPct val="0"/>
              </a:spcBef>
              <a:spcAft>
                <a:spcPct val="0"/>
              </a:spcAft>
              <a:defRPr sz="2400">
                <a:solidFill>
                  <a:schemeClr val="tx1"/>
                </a:solidFill>
                <a:latin typeface="Times New Roman" pitchFamily="18" charset="-52"/>
              </a:defRPr>
            </a:lvl7pPr>
            <a:lvl8pPr marL="3429000" indent="-228600" algn="ctr" defTabSz="900113" eaLnBrk="0" fontAlgn="base" hangingPunct="0">
              <a:spcBef>
                <a:spcPct val="0"/>
              </a:spcBef>
              <a:spcAft>
                <a:spcPct val="0"/>
              </a:spcAft>
              <a:defRPr sz="2400">
                <a:solidFill>
                  <a:schemeClr val="tx1"/>
                </a:solidFill>
                <a:latin typeface="Times New Roman" pitchFamily="18" charset="-52"/>
              </a:defRPr>
            </a:lvl8pPr>
            <a:lvl9pPr marL="3886200" indent="-228600" algn="ctr" defTabSz="900113" eaLnBrk="0" fontAlgn="base" hangingPunct="0">
              <a:spcBef>
                <a:spcPct val="0"/>
              </a:spcBef>
              <a:spcAft>
                <a:spcPct val="0"/>
              </a:spcAft>
              <a:defRPr sz="2400">
                <a:solidFill>
                  <a:schemeClr val="tx1"/>
                </a:solidFill>
                <a:latin typeface="Times New Roman" pitchFamily="18" charset="-52"/>
              </a:defRPr>
            </a:lvl9pPr>
          </a:lstStyle>
          <a:p>
            <a:pPr eaLnBrk="1" hangingPunct="1"/>
            <a:fld id="{EC7C5E0D-CEFF-47E7-8E0F-A738D56C4D4E}" type="slidenum">
              <a:rPr lang="en-US" sz="1200"/>
              <a:pPr eaLnBrk="1" hangingPunct="1"/>
              <a:t>16</a:t>
            </a:fld>
            <a:endParaRPr lang="en-US" sz="1200"/>
          </a:p>
        </p:txBody>
      </p:sp>
      <p:sp>
        <p:nvSpPr>
          <p:cNvPr id="60419" name="Rectangle 2"/>
          <p:cNvSpPr>
            <a:spLocks noGrp="1" noRot="1" noChangeAspect="1" noChangeArrowheads="1" noTextEdit="1"/>
          </p:cNvSpPr>
          <p:nvPr>
            <p:ph type="sldImg"/>
          </p:nvPr>
        </p:nvSpPr>
        <p:spPr>
          <a:xfrm>
            <a:off x="1143000" y="685800"/>
            <a:ext cx="4572000" cy="3429000"/>
          </a:xfrm>
          <a:ln/>
        </p:spPr>
      </p:sp>
      <p:sp>
        <p:nvSpPr>
          <p:cNvPr id="60420" name="Rectangle 3"/>
          <p:cNvSpPr>
            <a:spLocks noGrp="1" noChangeArrowheads="1"/>
          </p:cNvSpPr>
          <p:nvPr>
            <p:ph type="body" idx="1"/>
          </p:nvPr>
        </p:nvSpPr>
        <p:spPr>
          <a:xfrm>
            <a:off x="913772" y="4343401"/>
            <a:ext cx="5030456" cy="4114800"/>
          </a:xfrm>
          <a:noFill/>
        </p:spPr>
        <p:txBody>
          <a:bodyPr/>
          <a:lstStyle/>
          <a:p>
            <a:r>
              <a:rPr lang="en-US" smtClean="0"/>
              <a:t>Before talking about how hashing is done, let’s mention some applications.</a:t>
            </a:r>
          </a:p>
          <a:p>
            <a:r>
              <a:rPr lang="en-US" smtClean="0"/>
              <a:t>When is it important to do lookups in constant time?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100355"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101379"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102403"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103427"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104451"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105475"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Text Box 1"/>
          <p:cNvSpPr txBox="1">
            <a:spLocks noChangeArrowheads="1"/>
          </p:cNvSpPr>
          <p:nvPr/>
        </p:nvSpPr>
        <p:spPr bwMode="auto">
          <a:xfrm>
            <a:off x="2143125" y="695325"/>
            <a:ext cx="257175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prstClr val="white"/>
              </a:solidFill>
            </a:endParaRPr>
          </a:p>
        </p:txBody>
      </p:sp>
      <p:sp>
        <p:nvSpPr>
          <p:cNvPr id="106499" name="Rectangle 2"/>
          <p:cNvSpPr txBox="1">
            <a:spLocks noGrp="1" noChangeArrowheads="1"/>
          </p:cNvSpPr>
          <p:nvPr>
            <p:ph type="body"/>
          </p:nvPr>
        </p:nvSpPr>
        <p:spPr>
          <a:xfrm>
            <a:off x="685800" y="4343400"/>
            <a:ext cx="5483225"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TW"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00113" eaLnBrk="0" hangingPunct="0">
              <a:defRPr sz="2400">
                <a:solidFill>
                  <a:schemeClr val="tx1"/>
                </a:solidFill>
                <a:latin typeface="Times New Roman" pitchFamily="18" charset="-52"/>
              </a:defRPr>
            </a:lvl1pPr>
            <a:lvl2pPr marL="742950" indent="-285750" defTabSz="900113" eaLnBrk="0" hangingPunct="0">
              <a:defRPr sz="2400">
                <a:solidFill>
                  <a:schemeClr val="tx1"/>
                </a:solidFill>
                <a:latin typeface="Times New Roman" pitchFamily="18" charset="-52"/>
              </a:defRPr>
            </a:lvl2pPr>
            <a:lvl3pPr marL="1143000" indent="-228600" defTabSz="900113" eaLnBrk="0" hangingPunct="0">
              <a:defRPr sz="2400">
                <a:solidFill>
                  <a:schemeClr val="tx1"/>
                </a:solidFill>
                <a:latin typeface="Times New Roman" pitchFamily="18" charset="-52"/>
              </a:defRPr>
            </a:lvl3pPr>
            <a:lvl4pPr marL="1600200" indent="-228600" defTabSz="900113" eaLnBrk="0" hangingPunct="0">
              <a:defRPr sz="2400">
                <a:solidFill>
                  <a:schemeClr val="tx1"/>
                </a:solidFill>
                <a:latin typeface="Times New Roman" pitchFamily="18" charset="-52"/>
              </a:defRPr>
            </a:lvl4pPr>
            <a:lvl5pPr marL="2057400" indent="-228600" defTabSz="900113" eaLnBrk="0" hangingPunct="0">
              <a:defRPr sz="2400">
                <a:solidFill>
                  <a:schemeClr val="tx1"/>
                </a:solidFill>
                <a:latin typeface="Times New Roman" pitchFamily="18" charset="-52"/>
              </a:defRPr>
            </a:lvl5pPr>
            <a:lvl6pPr marL="2514600" indent="-228600" algn="ctr" defTabSz="900113" eaLnBrk="0" fontAlgn="base" hangingPunct="0">
              <a:spcBef>
                <a:spcPct val="0"/>
              </a:spcBef>
              <a:spcAft>
                <a:spcPct val="0"/>
              </a:spcAft>
              <a:defRPr sz="2400">
                <a:solidFill>
                  <a:schemeClr val="tx1"/>
                </a:solidFill>
                <a:latin typeface="Times New Roman" pitchFamily="18" charset="-52"/>
              </a:defRPr>
            </a:lvl6pPr>
            <a:lvl7pPr marL="2971800" indent="-228600" algn="ctr" defTabSz="900113" eaLnBrk="0" fontAlgn="base" hangingPunct="0">
              <a:spcBef>
                <a:spcPct val="0"/>
              </a:spcBef>
              <a:spcAft>
                <a:spcPct val="0"/>
              </a:spcAft>
              <a:defRPr sz="2400">
                <a:solidFill>
                  <a:schemeClr val="tx1"/>
                </a:solidFill>
                <a:latin typeface="Times New Roman" pitchFamily="18" charset="-52"/>
              </a:defRPr>
            </a:lvl7pPr>
            <a:lvl8pPr marL="3429000" indent="-228600" algn="ctr" defTabSz="900113" eaLnBrk="0" fontAlgn="base" hangingPunct="0">
              <a:spcBef>
                <a:spcPct val="0"/>
              </a:spcBef>
              <a:spcAft>
                <a:spcPct val="0"/>
              </a:spcAft>
              <a:defRPr sz="2400">
                <a:solidFill>
                  <a:schemeClr val="tx1"/>
                </a:solidFill>
                <a:latin typeface="Times New Roman" pitchFamily="18" charset="-52"/>
              </a:defRPr>
            </a:lvl8pPr>
            <a:lvl9pPr marL="3886200" indent="-228600" algn="ctr" defTabSz="900113" eaLnBrk="0" fontAlgn="base" hangingPunct="0">
              <a:spcBef>
                <a:spcPct val="0"/>
              </a:spcBef>
              <a:spcAft>
                <a:spcPct val="0"/>
              </a:spcAft>
              <a:defRPr sz="2400">
                <a:solidFill>
                  <a:schemeClr val="tx1"/>
                </a:solidFill>
                <a:latin typeface="Times New Roman" pitchFamily="18" charset="-52"/>
              </a:defRPr>
            </a:lvl9pPr>
          </a:lstStyle>
          <a:p>
            <a:pPr eaLnBrk="1" hangingPunct="1"/>
            <a:fld id="{B831DBC3-7A28-4CCE-969E-4BF4817E2088}" type="slidenum">
              <a:rPr lang="en-US" sz="1200">
                <a:solidFill>
                  <a:prstClr val="black"/>
                </a:solidFill>
              </a:rPr>
              <a:pPr eaLnBrk="1" hangingPunct="1"/>
              <a:t>34</a:t>
            </a:fld>
            <a:endParaRPr lang="en-US" sz="1200">
              <a:solidFill>
                <a:prstClr val="black"/>
              </a:solidFill>
            </a:endParaRPr>
          </a:p>
        </p:txBody>
      </p:sp>
      <p:sp>
        <p:nvSpPr>
          <p:cNvPr id="61443" name="Rectangle 2"/>
          <p:cNvSpPr>
            <a:spLocks noGrp="1" noRot="1" noChangeAspect="1" noChangeArrowheads="1" noTextEdit="1"/>
          </p:cNvSpPr>
          <p:nvPr>
            <p:ph type="sldImg"/>
          </p:nvPr>
        </p:nvSpPr>
        <p:spPr>
          <a:xfrm>
            <a:off x="1143000" y="685800"/>
            <a:ext cx="4572000" cy="3429000"/>
          </a:xfrm>
          <a:ln/>
        </p:spPr>
      </p:sp>
      <p:sp>
        <p:nvSpPr>
          <p:cNvPr id="61444" name="Rectangle 3"/>
          <p:cNvSpPr>
            <a:spLocks noGrp="1" noChangeArrowheads="1"/>
          </p:cNvSpPr>
          <p:nvPr>
            <p:ph type="body" idx="1"/>
          </p:nvPr>
        </p:nvSpPr>
        <p:spPr>
          <a:xfrm>
            <a:off x="913772" y="4343401"/>
            <a:ext cx="5030456" cy="4114800"/>
          </a:xfrm>
          <a:noFill/>
        </p:spPr>
        <p:txBody>
          <a:bodyPr/>
          <a:lstStyle/>
          <a:p>
            <a:pPr lvl="1"/>
            <a:r>
              <a:rPr lang="en-US" sz="1400" smtClean="0"/>
              <a:t>Keys will hash only to positions 0 through 8*127 = 1016</a:t>
            </a:r>
          </a:p>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00113" eaLnBrk="0" hangingPunct="0">
              <a:defRPr sz="2400">
                <a:solidFill>
                  <a:schemeClr val="tx1"/>
                </a:solidFill>
                <a:latin typeface="Times New Roman" pitchFamily="18" charset="-52"/>
              </a:defRPr>
            </a:lvl1pPr>
            <a:lvl2pPr marL="742950" indent="-285750" defTabSz="900113" eaLnBrk="0" hangingPunct="0">
              <a:defRPr sz="2400">
                <a:solidFill>
                  <a:schemeClr val="tx1"/>
                </a:solidFill>
                <a:latin typeface="Times New Roman" pitchFamily="18" charset="-52"/>
              </a:defRPr>
            </a:lvl2pPr>
            <a:lvl3pPr marL="1143000" indent="-228600" defTabSz="900113" eaLnBrk="0" hangingPunct="0">
              <a:defRPr sz="2400">
                <a:solidFill>
                  <a:schemeClr val="tx1"/>
                </a:solidFill>
                <a:latin typeface="Times New Roman" pitchFamily="18" charset="-52"/>
              </a:defRPr>
            </a:lvl3pPr>
            <a:lvl4pPr marL="1600200" indent="-228600" defTabSz="900113" eaLnBrk="0" hangingPunct="0">
              <a:defRPr sz="2400">
                <a:solidFill>
                  <a:schemeClr val="tx1"/>
                </a:solidFill>
                <a:latin typeface="Times New Roman" pitchFamily="18" charset="-52"/>
              </a:defRPr>
            </a:lvl4pPr>
            <a:lvl5pPr marL="2057400" indent="-228600" defTabSz="900113" eaLnBrk="0" hangingPunct="0">
              <a:defRPr sz="2400">
                <a:solidFill>
                  <a:schemeClr val="tx1"/>
                </a:solidFill>
                <a:latin typeface="Times New Roman" pitchFamily="18" charset="-52"/>
              </a:defRPr>
            </a:lvl5pPr>
            <a:lvl6pPr marL="2514600" indent="-228600" algn="ctr" defTabSz="900113" eaLnBrk="0" fontAlgn="base" hangingPunct="0">
              <a:spcBef>
                <a:spcPct val="0"/>
              </a:spcBef>
              <a:spcAft>
                <a:spcPct val="0"/>
              </a:spcAft>
              <a:defRPr sz="2400">
                <a:solidFill>
                  <a:schemeClr val="tx1"/>
                </a:solidFill>
                <a:latin typeface="Times New Roman" pitchFamily="18" charset="-52"/>
              </a:defRPr>
            </a:lvl6pPr>
            <a:lvl7pPr marL="2971800" indent="-228600" algn="ctr" defTabSz="900113" eaLnBrk="0" fontAlgn="base" hangingPunct="0">
              <a:spcBef>
                <a:spcPct val="0"/>
              </a:spcBef>
              <a:spcAft>
                <a:spcPct val="0"/>
              </a:spcAft>
              <a:defRPr sz="2400">
                <a:solidFill>
                  <a:schemeClr val="tx1"/>
                </a:solidFill>
                <a:latin typeface="Times New Roman" pitchFamily="18" charset="-52"/>
              </a:defRPr>
            </a:lvl7pPr>
            <a:lvl8pPr marL="3429000" indent="-228600" algn="ctr" defTabSz="900113" eaLnBrk="0" fontAlgn="base" hangingPunct="0">
              <a:spcBef>
                <a:spcPct val="0"/>
              </a:spcBef>
              <a:spcAft>
                <a:spcPct val="0"/>
              </a:spcAft>
              <a:defRPr sz="2400">
                <a:solidFill>
                  <a:schemeClr val="tx1"/>
                </a:solidFill>
                <a:latin typeface="Times New Roman" pitchFamily="18" charset="-52"/>
              </a:defRPr>
            </a:lvl8pPr>
            <a:lvl9pPr marL="3886200" indent="-228600" algn="ctr" defTabSz="900113" eaLnBrk="0" fontAlgn="base" hangingPunct="0">
              <a:spcBef>
                <a:spcPct val="0"/>
              </a:spcBef>
              <a:spcAft>
                <a:spcPct val="0"/>
              </a:spcAft>
              <a:defRPr sz="2400">
                <a:solidFill>
                  <a:schemeClr val="tx1"/>
                </a:solidFill>
                <a:latin typeface="Times New Roman" pitchFamily="18" charset="-52"/>
              </a:defRPr>
            </a:lvl9pPr>
          </a:lstStyle>
          <a:p>
            <a:pPr eaLnBrk="1" hangingPunct="1"/>
            <a:fld id="{AFAB35BD-F338-4444-AF48-E2399F80A71E}" type="slidenum">
              <a:rPr lang="en-US" sz="1200"/>
              <a:pPr eaLnBrk="1" hangingPunct="1"/>
              <a:t>49</a:t>
            </a:fld>
            <a:endParaRPr lang="en-US" sz="1200"/>
          </a:p>
        </p:txBody>
      </p:sp>
      <p:sp>
        <p:nvSpPr>
          <p:cNvPr id="65539" name="Rectangle 2"/>
          <p:cNvSpPr>
            <a:spLocks noGrp="1" noRot="1" noChangeAspect="1" noChangeArrowheads="1" noTextEdit="1"/>
          </p:cNvSpPr>
          <p:nvPr>
            <p:ph type="sldImg"/>
          </p:nvPr>
        </p:nvSpPr>
        <p:spPr>
          <a:xfrm>
            <a:off x="1143000" y="685800"/>
            <a:ext cx="4572000" cy="3429000"/>
          </a:xfrm>
          <a:ln/>
        </p:spPr>
      </p:sp>
      <p:sp>
        <p:nvSpPr>
          <p:cNvPr id="65540" name="Rectangle 3"/>
          <p:cNvSpPr>
            <a:spLocks noGrp="1" noChangeArrowheads="1"/>
          </p:cNvSpPr>
          <p:nvPr>
            <p:ph type="body" idx="1"/>
          </p:nvPr>
        </p:nvSpPr>
        <p:spPr>
          <a:xfrm>
            <a:off x="1025247" y="4343401"/>
            <a:ext cx="5027316" cy="4439316"/>
          </a:xfrm>
          <a:noFill/>
        </p:spPr>
        <p:txBody>
          <a:bodyPr/>
          <a:lstStyle/>
          <a:p>
            <a:r>
              <a:rPr lang="en-US" b="1" smtClean="0"/>
              <a:t>Let’s analyze it.</a:t>
            </a:r>
          </a:p>
          <a:p>
            <a:endParaRPr lang="en-US" b="1" smtClean="0"/>
          </a:p>
          <a:p>
            <a:r>
              <a:rPr lang="en-US" b="1" smtClean="0"/>
              <a:t>How long </a:t>
            </a:r>
            <a:r>
              <a:rPr lang="en-US" smtClean="0"/>
              <a:t>does an unsuccessful search take?</a:t>
            </a:r>
          </a:p>
          <a:p>
            <a:r>
              <a:rPr lang="en-US" smtClean="0"/>
              <a:t>Well, we have to </a:t>
            </a:r>
            <a:r>
              <a:rPr lang="en-US" b="1" smtClean="0"/>
              <a:t>traverse the whole list </a:t>
            </a:r>
            <a:r>
              <a:rPr lang="en-US" smtClean="0"/>
              <a:t>wherever we hash to.</a:t>
            </a:r>
          </a:p>
          <a:p>
            <a:r>
              <a:rPr lang="en-US" smtClean="0"/>
              <a:t>How long is the whole list?</a:t>
            </a:r>
          </a:p>
          <a:p>
            <a:r>
              <a:rPr lang="en-US" smtClean="0"/>
              <a:t>On average, </a:t>
            </a:r>
            <a:r>
              <a:rPr lang="en-US" smtClean="0">
                <a:sym typeface="Symbol" pitchFamily="18" charset="2"/>
              </a:rPr>
              <a:t>.</a:t>
            </a:r>
          </a:p>
          <a:p>
            <a:endParaRPr lang="en-US" smtClean="0">
              <a:sym typeface="Symbol" pitchFamily="18" charset="2"/>
            </a:endParaRPr>
          </a:p>
          <a:p>
            <a:r>
              <a:rPr lang="en-US" smtClean="0">
                <a:sym typeface="Symbol" pitchFamily="18" charset="2"/>
              </a:rPr>
              <a:t>How about successful search?</a:t>
            </a:r>
          </a:p>
          <a:p>
            <a:r>
              <a:rPr lang="en-US" smtClean="0">
                <a:sym typeface="Symbol" pitchFamily="18" charset="2"/>
              </a:rPr>
              <a:t>On average we traverse only half of the list before we find the one we’re looking for (but we still have to check that one): /2 + 1</a:t>
            </a:r>
          </a:p>
          <a:p>
            <a:endParaRPr lang="en-US" smtClean="0">
              <a:sym typeface="Symbol" pitchFamily="18" charset="2"/>
            </a:endParaRPr>
          </a:p>
          <a:p>
            <a:r>
              <a:rPr lang="en-US" smtClean="0">
                <a:sym typeface="Symbol" pitchFamily="18" charset="2"/>
              </a:rPr>
              <a:t>So, what load factor might we want?</a:t>
            </a:r>
          </a:p>
          <a:p>
            <a:r>
              <a:rPr lang="en-US" smtClean="0">
                <a:sym typeface="Symbol" pitchFamily="18" charset="2"/>
              </a:rPr>
              <a:t>Obviously, </a:t>
            </a:r>
            <a:r>
              <a:rPr lang="en-US" b="1" smtClean="0">
                <a:sym typeface="Symbol" pitchFamily="18" charset="2"/>
              </a:rPr>
              <a:t>ZERO</a:t>
            </a:r>
            <a:r>
              <a:rPr lang="en-US" smtClean="0">
                <a:sym typeface="Symbol" pitchFamily="18" charset="2"/>
              </a:rPr>
              <a:t>!</a:t>
            </a:r>
          </a:p>
          <a:p>
            <a:r>
              <a:rPr lang="en-US" smtClean="0">
                <a:sym typeface="Symbol" pitchFamily="18" charset="2"/>
              </a:rPr>
              <a:t>But we can shoot for between 1/2 and 1.</a:t>
            </a:r>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00113" eaLnBrk="0" hangingPunct="0">
              <a:defRPr sz="2400">
                <a:solidFill>
                  <a:schemeClr val="tx1"/>
                </a:solidFill>
                <a:latin typeface="Times New Roman" pitchFamily="18" charset="-52"/>
              </a:defRPr>
            </a:lvl1pPr>
            <a:lvl2pPr marL="742950" indent="-285750" defTabSz="900113" eaLnBrk="0" hangingPunct="0">
              <a:defRPr sz="2400">
                <a:solidFill>
                  <a:schemeClr val="tx1"/>
                </a:solidFill>
                <a:latin typeface="Times New Roman" pitchFamily="18" charset="-52"/>
              </a:defRPr>
            </a:lvl2pPr>
            <a:lvl3pPr marL="1143000" indent="-228600" defTabSz="900113" eaLnBrk="0" hangingPunct="0">
              <a:defRPr sz="2400">
                <a:solidFill>
                  <a:schemeClr val="tx1"/>
                </a:solidFill>
                <a:latin typeface="Times New Roman" pitchFamily="18" charset="-52"/>
              </a:defRPr>
            </a:lvl3pPr>
            <a:lvl4pPr marL="1600200" indent="-228600" defTabSz="900113" eaLnBrk="0" hangingPunct="0">
              <a:defRPr sz="2400">
                <a:solidFill>
                  <a:schemeClr val="tx1"/>
                </a:solidFill>
                <a:latin typeface="Times New Roman" pitchFamily="18" charset="-52"/>
              </a:defRPr>
            </a:lvl4pPr>
            <a:lvl5pPr marL="2057400" indent="-228600" defTabSz="900113" eaLnBrk="0" hangingPunct="0">
              <a:defRPr sz="2400">
                <a:solidFill>
                  <a:schemeClr val="tx1"/>
                </a:solidFill>
                <a:latin typeface="Times New Roman" pitchFamily="18" charset="-52"/>
              </a:defRPr>
            </a:lvl5pPr>
            <a:lvl6pPr marL="2514600" indent="-228600" algn="ctr" defTabSz="900113" eaLnBrk="0" fontAlgn="base" hangingPunct="0">
              <a:spcBef>
                <a:spcPct val="0"/>
              </a:spcBef>
              <a:spcAft>
                <a:spcPct val="0"/>
              </a:spcAft>
              <a:defRPr sz="2400">
                <a:solidFill>
                  <a:schemeClr val="tx1"/>
                </a:solidFill>
                <a:latin typeface="Times New Roman" pitchFamily="18" charset="-52"/>
              </a:defRPr>
            </a:lvl6pPr>
            <a:lvl7pPr marL="2971800" indent="-228600" algn="ctr" defTabSz="900113" eaLnBrk="0" fontAlgn="base" hangingPunct="0">
              <a:spcBef>
                <a:spcPct val="0"/>
              </a:spcBef>
              <a:spcAft>
                <a:spcPct val="0"/>
              </a:spcAft>
              <a:defRPr sz="2400">
                <a:solidFill>
                  <a:schemeClr val="tx1"/>
                </a:solidFill>
                <a:latin typeface="Times New Roman" pitchFamily="18" charset="-52"/>
              </a:defRPr>
            </a:lvl7pPr>
            <a:lvl8pPr marL="3429000" indent="-228600" algn="ctr" defTabSz="900113" eaLnBrk="0" fontAlgn="base" hangingPunct="0">
              <a:spcBef>
                <a:spcPct val="0"/>
              </a:spcBef>
              <a:spcAft>
                <a:spcPct val="0"/>
              </a:spcAft>
              <a:defRPr sz="2400">
                <a:solidFill>
                  <a:schemeClr val="tx1"/>
                </a:solidFill>
                <a:latin typeface="Times New Roman" pitchFamily="18" charset="-52"/>
              </a:defRPr>
            </a:lvl8pPr>
            <a:lvl9pPr marL="3886200" indent="-228600" algn="ctr" defTabSz="900113" eaLnBrk="0" fontAlgn="base" hangingPunct="0">
              <a:spcBef>
                <a:spcPct val="0"/>
              </a:spcBef>
              <a:spcAft>
                <a:spcPct val="0"/>
              </a:spcAft>
              <a:defRPr sz="2400">
                <a:solidFill>
                  <a:schemeClr val="tx1"/>
                </a:solidFill>
                <a:latin typeface="Times New Roman" pitchFamily="18" charset="-52"/>
              </a:defRPr>
            </a:lvl9pPr>
          </a:lstStyle>
          <a:p>
            <a:pPr eaLnBrk="1" hangingPunct="1"/>
            <a:fld id="{EA86DF23-CD7C-4F6D-A461-55155160C536}" type="slidenum">
              <a:rPr lang="en-US" sz="1200"/>
              <a:pPr eaLnBrk="1" hangingPunct="1"/>
              <a:t>62</a:t>
            </a:fld>
            <a:endParaRPr lang="en-US" sz="1200"/>
          </a:p>
        </p:txBody>
      </p:sp>
      <p:sp>
        <p:nvSpPr>
          <p:cNvPr id="68611" name="Rectangle 2"/>
          <p:cNvSpPr>
            <a:spLocks noGrp="1" noRot="1" noChangeAspect="1" noChangeArrowheads="1" noTextEdit="1"/>
          </p:cNvSpPr>
          <p:nvPr>
            <p:ph type="sldImg"/>
          </p:nvPr>
        </p:nvSpPr>
        <p:spPr>
          <a:xfrm>
            <a:off x="1143000" y="685800"/>
            <a:ext cx="4572000" cy="3429000"/>
          </a:xfrm>
          <a:ln/>
        </p:spPr>
      </p:sp>
      <p:sp>
        <p:nvSpPr>
          <p:cNvPr id="68612" name="Rectangle 3"/>
          <p:cNvSpPr>
            <a:spLocks noGrp="1" noChangeArrowheads="1"/>
          </p:cNvSpPr>
          <p:nvPr>
            <p:ph type="body" idx="1"/>
          </p:nvPr>
        </p:nvSpPr>
        <p:spPr>
          <a:xfrm>
            <a:off x="912203" y="4343401"/>
            <a:ext cx="5033596" cy="4114800"/>
          </a:xfrm>
          <a:noFill/>
        </p:spPr>
        <p:txBody>
          <a:bodyPr/>
          <a:lstStyle/>
          <a:p>
            <a:r>
              <a:rPr lang="en-US" smtClean="0"/>
              <a:t>There’s some really nasty math that shows that (because of things like primary clustering), each successful search w/linear probing costs… </a:t>
            </a:r>
          </a:p>
          <a:p>
            <a:endParaRPr lang="en-US" smtClean="0"/>
          </a:p>
          <a:p>
            <a:r>
              <a:rPr lang="en-US" smtClean="0"/>
              <a:t>That’s 2.5 probes per unsuccessful search for lambda = 0.5.</a:t>
            </a:r>
          </a:p>
          <a:p>
            <a:r>
              <a:rPr lang="en-US" smtClean="0"/>
              <a:t>50.5 comparisons for lambda = 0.9</a:t>
            </a:r>
          </a:p>
          <a:p>
            <a:endParaRPr lang="en-US" smtClean="0"/>
          </a:p>
          <a:p>
            <a:r>
              <a:rPr lang="en-US" smtClean="0"/>
              <a:t>We don’t want to let lambda get above 1/2 for linear probing.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609722-7B94-4AA5-930F-DD433DA7FE71}" type="slidenum">
              <a:rPr lang="en-US"/>
              <a:pPr/>
              <a:t>64</a:t>
            </a:fld>
            <a:endParaRPr lang="en-US"/>
          </a:p>
        </p:txBody>
      </p:sp>
      <p:sp>
        <p:nvSpPr>
          <p:cNvPr id="177154" name="Rectangle 2"/>
          <p:cNvSpPr>
            <a:spLocks noGrp="1" noRot="1" noChangeAspect="1" noChangeArrowheads="1" noTextEdit="1"/>
          </p:cNvSpPr>
          <p:nvPr>
            <p:ph type="sldImg"/>
          </p:nvPr>
        </p:nvSpPr>
        <p:spPr>
          <a:xfrm>
            <a:off x="1143000" y="685800"/>
            <a:ext cx="4572000" cy="3429000"/>
          </a:xfrm>
          <a:ln/>
        </p:spPr>
      </p:sp>
      <p:sp>
        <p:nvSpPr>
          <p:cNvPr id="177155" name="Rectangle 3"/>
          <p:cNvSpPr>
            <a:spLocks noGrp="1" noChangeArrowheads="1"/>
          </p:cNvSpPr>
          <p:nvPr>
            <p:ph type="body" idx="1"/>
          </p:nvPr>
        </p:nvSpPr>
        <p:spPr>
          <a:xfrm>
            <a:off x="912203" y="4343401"/>
            <a:ext cx="5033596" cy="4114800"/>
          </a:xfrm>
        </p:spPr>
        <p:txBody>
          <a:bodyPr/>
          <a:lstStyle/>
          <a:p>
            <a:r>
              <a:rPr lang="en-US"/>
              <a:t>You can see that this works pretty well for an empty table and gets worse as the table fills up.</a:t>
            </a:r>
          </a:p>
          <a:p>
            <a:endParaRPr lang="en-US"/>
          </a:p>
          <a:p>
            <a:r>
              <a:rPr lang="en-US"/>
              <a:t>There’s another problem here. If a bunch of elements hash to the same spot, they mess each other up.</a:t>
            </a:r>
          </a:p>
          <a:p>
            <a:endParaRPr lang="en-US"/>
          </a:p>
          <a:p>
            <a:r>
              <a:rPr lang="en-US"/>
              <a:t>But, worse, if a bunch of elements hash to the same </a:t>
            </a:r>
            <a:r>
              <a:rPr lang="en-US" i="1"/>
              <a:t>area</a:t>
            </a:r>
            <a:r>
              <a:rPr lang="en-US"/>
              <a:t> of the table, they mess each other up! (Even though the hash function isn’t producing lots of collisions!)</a:t>
            </a:r>
          </a:p>
          <a:p>
            <a:endParaRPr lang="en-US"/>
          </a:p>
          <a:p>
            <a:r>
              <a:rPr lang="en-US"/>
              <a:t>This phenomenon is called primary clustering.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4538AB-1D43-43E0-A7A9-AD5A341FAA73}" type="slidenum">
              <a:rPr lang="en-US"/>
              <a:pPr/>
              <a:t>65</a:t>
            </a:fld>
            <a:endParaRPr lang="en-US"/>
          </a:p>
        </p:txBody>
      </p:sp>
      <p:sp>
        <p:nvSpPr>
          <p:cNvPr id="179202" name="Rectangle 2"/>
          <p:cNvSpPr>
            <a:spLocks noGrp="1" noRot="1" noChangeAspect="1" noChangeArrowheads="1" noTextEdit="1"/>
          </p:cNvSpPr>
          <p:nvPr>
            <p:ph type="sldImg"/>
          </p:nvPr>
        </p:nvSpPr>
        <p:spPr>
          <a:xfrm>
            <a:off x="1143000" y="685800"/>
            <a:ext cx="4572000" cy="3429000"/>
          </a:xfrm>
          <a:ln/>
        </p:spPr>
      </p:sp>
      <p:sp>
        <p:nvSpPr>
          <p:cNvPr id="179203" name="Rectangle 3"/>
          <p:cNvSpPr>
            <a:spLocks noGrp="1" noChangeArrowheads="1"/>
          </p:cNvSpPr>
          <p:nvPr>
            <p:ph type="body" idx="1"/>
          </p:nvPr>
        </p:nvSpPr>
        <p:spPr>
          <a:xfrm>
            <a:off x="912203" y="4343401"/>
            <a:ext cx="5033596" cy="4114800"/>
          </a:xfrm>
        </p:spPr>
        <p:txBody>
          <a:bodyPr/>
          <a:lstStyle/>
          <a:p>
            <a:r>
              <a:rPr lang="en-US"/>
              <a:t>You can see that this works pretty well for an empty table and gets worse as the table fills up.</a:t>
            </a:r>
          </a:p>
          <a:p>
            <a:endParaRPr lang="en-US"/>
          </a:p>
          <a:p>
            <a:r>
              <a:rPr lang="en-US"/>
              <a:t>There’s another problem here. If a bunch of elements hash to the same spot, they mess each other up.</a:t>
            </a:r>
          </a:p>
          <a:p>
            <a:endParaRPr lang="en-US"/>
          </a:p>
          <a:p>
            <a:r>
              <a:rPr lang="en-US"/>
              <a:t>But, worse, if a bunch of elements hash to the same </a:t>
            </a:r>
            <a:r>
              <a:rPr lang="en-US" i="1"/>
              <a:t>area</a:t>
            </a:r>
            <a:r>
              <a:rPr lang="en-US"/>
              <a:t> of the table, they mess each other up! (Even though the hash function isn’t producing lots of collisions!)</a:t>
            </a:r>
          </a:p>
          <a:p>
            <a:endParaRPr lang="en-US"/>
          </a:p>
          <a:p>
            <a:r>
              <a:rPr lang="en-US"/>
              <a:t>This phenomenon is called primary clustering.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defTabSz="900113" eaLnBrk="0" hangingPunct="0">
              <a:defRPr sz="2400">
                <a:solidFill>
                  <a:schemeClr val="tx1"/>
                </a:solidFill>
                <a:latin typeface="Times New Roman" pitchFamily="18" charset="-52"/>
              </a:defRPr>
            </a:lvl1pPr>
            <a:lvl2pPr marL="742950" indent="-285750" defTabSz="900113" eaLnBrk="0" hangingPunct="0">
              <a:defRPr sz="2400">
                <a:solidFill>
                  <a:schemeClr val="tx1"/>
                </a:solidFill>
                <a:latin typeface="Times New Roman" pitchFamily="18" charset="-52"/>
              </a:defRPr>
            </a:lvl2pPr>
            <a:lvl3pPr marL="1143000" indent="-228600" defTabSz="900113" eaLnBrk="0" hangingPunct="0">
              <a:defRPr sz="2400">
                <a:solidFill>
                  <a:schemeClr val="tx1"/>
                </a:solidFill>
                <a:latin typeface="Times New Roman" pitchFamily="18" charset="-52"/>
              </a:defRPr>
            </a:lvl3pPr>
            <a:lvl4pPr marL="1600200" indent="-228600" defTabSz="900113" eaLnBrk="0" hangingPunct="0">
              <a:defRPr sz="2400">
                <a:solidFill>
                  <a:schemeClr val="tx1"/>
                </a:solidFill>
                <a:latin typeface="Times New Roman" pitchFamily="18" charset="-52"/>
              </a:defRPr>
            </a:lvl4pPr>
            <a:lvl5pPr marL="2057400" indent="-228600" defTabSz="900113" eaLnBrk="0" hangingPunct="0">
              <a:defRPr sz="2400">
                <a:solidFill>
                  <a:schemeClr val="tx1"/>
                </a:solidFill>
                <a:latin typeface="Times New Roman" pitchFamily="18" charset="-52"/>
              </a:defRPr>
            </a:lvl5pPr>
            <a:lvl6pPr marL="2514600" indent="-228600" algn="ctr" defTabSz="900113" eaLnBrk="0" fontAlgn="base" hangingPunct="0">
              <a:spcBef>
                <a:spcPct val="0"/>
              </a:spcBef>
              <a:spcAft>
                <a:spcPct val="0"/>
              </a:spcAft>
              <a:defRPr sz="2400">
                <a:solidFill>
                  <a:schemeClr val="tx1"/>
                </a:solidFill>
                <a:latin typeface="Times New Roman" pitchFamily="18" charset="-52"/>
              </a:defRPr>
            </a:lvl6pPr>
            <a:lvl7pPr marL="2971800" indent="-228600" algn="ctr" defTabSz="900113" eaLnBrk="0" fontAlgn="base" hangingPunct="0">
              <a:spcBef>
                <a:spcPct val="0"/>
              </a:spcBef>
              <a:spcAft>
                <a:spcPct val="0"/>
              </a:spcAft>
              <a:defRPr sz="2400">
                <a:solidFill>
                  <a:schemeClr val="tx1"/>
                </a:solidFill>
                <a:latin typeface="Times New Roman" pitchFamily="18" charset="-52"/>
              </a:defRPr>
            </a:lvl7pPr>
            <a:lvl8pPr marL="3429000" indent="-228600" algn="ctr" defTabSz="900113" eaLnBrk="0" fontAlgn="base" hangingPunct="0">
              <a:spcBef>
                <a:spcPct val="0"/>
              </a:spcBef>
              <a:spcAft>
                <a:spcPct val="0"/>
              </a:spcAft>
              <a:defRPr sz="2400">
                <a:solidFill>
                  <a:schemeClr val="tx1"/>
                </a:solidFill>
                <a:latin typeface="Times New Roman" pitchFamily="18" charset="-52"/>
              </a:defRPr>
            </a:lvl8pPr>
            <a:lvl9pPr marL="3886200" indent="-228600" algn="ctr" defTabSz="900113" eaLnBrk="0" fontAlgn="base" hangingPunct="0">
              <a:spcBef>
                <a:spcPct val="0"/>
              </a:spcBef>
              <a:spcAft>
                <a:spcPct val="0"/>
              </a:spcAft>
              <a:defRPr sz="2400">
                <a:solidFill>
                  <a:schemeClr val="tx1"/>
                </a:solidFill>
                <a:latin typeface="Times New Roman" pitchFamily="18" charset="-52"/>
              </a:defRPr>
            </a:lvl9pPr>
          </a:lstStyle>
          <a:p>
            <a:pPr eaLnBrk="1" hangingPunct="1"/>
            <a:fld id="{D3EFA739-6C06-4EB9-9E86-BD74B583D412}" type="slidenum">
              <a:rPr lang="en-US" sz="1200"/>
              <a:pPr eaLnBrk="1" hangingPunct="1"/>
              <a:t>68</a:t>
            </a:fld>
            <a:endParaRPr lang="en-US" sz="1200"/>
          </a:p>
        </p:txBody>
      </p:sp>
      <p:sp>
        <p:nvSpPr>
          <p:cNvPr id="71683" name="Rectangle 2"/>
          <p:cNvSpPr>
            <a:spLocks noGrp="1" noRot="1" noChangeAspect="1" noChangeArrowheads="1" noTextEdit="1"/>
          </p:cNvSpPr>
          <p:nvPr>
            <p:ph type="sldImg"/>
          </p:nvPr>
        </p:nvSpPr>
        <p:spPr>
          <a:xfrm>
            <a:off x="1143000" y="685800"/>
            <a:ext cx="4572000" cy="3429000"/>
          </a:xfrm>
          <a:ln/>
        </p:spPr>
      </p:sp>
      <p:sp>
        <p:nvSpPr>
          <p:cNvPr id="71684" name="Rectangle 3"/>
          <p:cNvSpPr>
            <a:spLocks noGrp="1" noChangeArrowheads="1"/>
          </p:cNvSpPr>
          <p:nvPr>
            <p:ph type="body" idx="1"/>
          </p:nvPr>
        </p:nvSpPr>
        <p:spPr>
          <a:xfrm>
            <a:off x="912203" y="4343401"/>
            <a:ext cx="5033596" cy="4114800"/>
          </a:xfrm>
          <a:noFill/>
        </p:spPr>
        <p:txBody>
          <a:bodyPr/>
          <a:lstStyle/>
          <a:p>
            <a:endParaRPr lang="en-US" smtClean="0"/>
          </a:p>
          <a:p>
            <a:r>
              <a:rPr lang="en-US" smtClean="0"/>
              <a:t>That’s actually pretty close to perfect… but there are two problems.</a:t>
            </a:r>
          </a:p>
          <a:p>
            <a:r>
              <a:rPr lang="en-US" smtClean="0"/>
              <a:t>First, we might fail if the load factor is above 1/2.</a:t>
            </a:r>
          </a:p>
          <a:p>
            <a:endParaRPr lang="en-US" smtClean="0"/>
          </a:p>
          <a:p>
            <a:r>
              <a:rPr lang="en-US" smtClean="0"/>
              <a:t>Second, quadratic probing still suffers from secondary clustering. That’s where multiple keys hashed to the same spot all follow the same probe sequence.</a:t>
            </a:r>
          </a:p>
          <a:p>
            <a:endParaRPr lang="en-US" smtClean="0"/>
          </a:p>
          <a:p>
            <a:r>
              <a:rPr lang="en-US" smtClean="0"/>
              <a:t>How can we solve </a:t>
            </a:r>
            <a:r>
              <a:rPr lang="en-US" b="1" smtClean="0"/>
              <a:t>that</a:t>
            </a:r>
            <a:r>
              <a:rPr lang="en-US" smtClean="0"/>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1FB668-0F30-4A84-9D1C-85A8732FF83C}" type="slidenum">
              <a:rPr lang="en-US"/>
              <a:pPr/>
              <a:t>72</a:t>
            </a:fld>
            <a:endParaRPr lang="en-US"/>
          </a:p>
        </p:txBody>
      </p:sp>
      <p:sp>
        <p:nvSpPr>
          <p:cNvPr id="184322" name="Rectangle 2"/>
          <p:cNvSpPr>
            <a:spLocks noGrp="1" noRot="1" noChangeAspect="1" noChangeArrowheads="1" noTextEdit="1"/>
          </p:cNvSpPr>
          <p:nvPr>
            <p:ph type="sldImg"/>
          </p:nvPr>
        </p:nvSpPr>
        <p:spPr>
          <a:xfrm>
            <a:off x="1143000" y="685800"/>
            <a:ext cx="4572000" cy="3429000"/>
          </a:xfrm>
          <a:ln/>
        </p:spPr>
      </p:sp>
      <p:sp>
        <p:nvSpPr>
          <p:cNvPr id="184323" name="Rectangle 3"/>
          <p:cNvSpPr>
            <a:spLocks noGrp="1" noChangeArrowheads="1"/>
          </p:cNvSpPr>
          <p:nvPr>
            <p:ph type="body" idx="1"/>
          </p:nvPr>
        </p:nvSpPr>
        <p:spPr>
          <a:xfrm>
            <a:off x="912203" y="4343401"/>
            <a:ext cx="5033596" cy="4114800"/>
          </a:xfrm>
        </p:spPr>
        <p:txBody>
          <a:bodyPr/>
          <a:lstStyle/>
          <a:p>
            <a:r>
              <a:rPr lang="en-US" dirty="0"/>
              <a:t>You can see that this works pretty well for an empty table and gets worse as the table fills up.</a:t>
            </a:r>
          </a:p>
          <a:p>
            <a:endParaRPr lang="en-US" dirty="0"/>
          </a:p>
          <a:p>
            <a:r>
              <a:rPr lang="en-US" dirty="0"/>
              <a:t>There’s another problem here. If a bunch of elements hash to the same spot, they mess each other up.</a:t>
            </a:r>
          </a:p>
          <a:p>
            <a:endParaRPr lang="en-US" dirty="0"/>
          </a:p>
          <a:p>
            <a:r>
              <a:rPr lang="en-US" dirty="0"/>
              <a:t>But, worse, if a bunch of elements hash to the same </a:t>
            </a:r>
            <a:r>
              <a:rPr lang="en-US" i="1" dirty="0"/>
              <a:t>area</a:t>
            </a:r>
            <a:r>
              <a:rPr lang="en-US" dirty="0"/>
              <a:t> of the table, they mess each other up! (Even though the hash function isn’t producing lots of collisions!)</a:t>
            </a:r>
          </a:p>
          <a:p>
            <a:endParaRPr lang="en-US" dirty="0"/>
          </a:p>
          <a:p>
            <a:r>
              <a:rPr lang="en-US" dirty="0"/>
              <a:t>This phenomenon is called primary clustering.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167388-8962-4310-A581-A0F12ED42FF3}" type="slidenum">
              <a:rPr lang="en-US"/>
              <a:pPr/>
              <a:t>73</a:t>
            </a:fld>
            <a:endParaRPr lang="en-US"/>
          </a:p>
        </p:txBody>
      </p:sp>
      <p:sp>
        <p:nvSpPr>
          <p:cNvPr id="186370" name="Rectangle 2"/>
          <p:cNvSpPr>
            <a:spLocks noGrp="1" noRot="1" noChangeAspect="1" noChangeArrowheads="1" noTextEdit="1"/>
          </p:cNvSpPr>
          <p:nvPr>
            <p:ph type="sldImg"/>
          </p:nvPr>
        </p:nvSpPr>
        <p:spPr>
          <a:xfrm>
            <a:off x="1143000" y="685800"/>
            <a:ext cx="4572000" cy="3429000"/>
          </a:xfrm>
          <a:ln/>
        </p:spPr>
      </p:sp>
      <p:sp>
        <p:nvSpPr>
          <p:cNvPr id="186371" name="Rectangle 3"/>
          <p:cNvSpPr>
            <a:spLocks noGrp="1" noChangeArrowheads="1"/>
          </p:cNvSpPr>
          <p:nvPr>
            <p:ph type="body" idx="1"/>
          </p:nvPr>
        </p:nvSpPr>
        <p:spPr>
          <a:xfrm>
            <a:off x="912203" y="4343401"/>
            <a:ext cx="5033596" cy="4114800"/>
          </a:xfrm>
        </p:spPr>
        <p:txBody>
          <a:bodyPr/>
          <a:lstStyle/>
          <a:p>
            <a:r>
              <a:rPr lang="en-US" dirty="0"/>
              <a:t>You can see that this works pretty well for an empty table and gets worse as the table fills up.</a:t>
            </a:r>
          </a:p>
          <a:p>
            <a:endParaRPr lang="en-US" dirty="0"/>
          </a:p>
          <a:p>
            <a:r>
              <a:rPr lang="en-US" dirty="0"/>
              <a:t>There’s another problem here. If a bunch of elements hash to the same spot, they mess each other up.</a:t>
            </a:r>
          </a:p>
          <a:p>
            <a:endParaRPr lang="en-US" dirty="0"/>
          </a:p>
          <a:p>
            <a:r>
              <a:rPr lang="en-US" dirty="0"/>
              <a:t>But, worse, if a bunch of elements hash to the same </a:t>
            </a:r>
            <a:r>
              <a:rPr lang="en-US" i="1" dirty="0"/>
              <a:t>area</a:t>
            </a:r>
            <a:r>
              <a:rPr lang="en-US" dirty="0"/>
              <a:t> of the table, they mess each other up! (Even though the hash function isn’t producing lots of collisions!)</a:t>
            </a:r>
          </a:p>
          <a:p>
            <a:endParaRPr lang="en-US" dirty="0"/>
          </a:p>
          <a:p>
            <a:r>
              <a:rPr lang="en-US" dirty="0"/>
              <a:t>This phenomenon is called primary clustering.</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00113" eaLnBrk="0" hangingPunct="0">
              <a:defRPr sz="2400">
                <a:solidFill>
                  <a:schemeClr val="tx1"/>
                </a:solidFill>
                <a:latin typeface="Times New Roman" pitchFamily="18" charset="-52"/>
              </a:defRPr>
            </a:lvl1pPr>
            <a:lvl2pPr marL="742950" indent="-285750" defTabSz="900113" eaLnBrk="0" hangingPunct="0">
              <a:defRPr sz="2400">
                <a:solidFill>
                  <a:schemeClr val="tx1"/>
                </a:solidFill>
                <a:latin typeface="Times New Roman" pitchFamily="18" charset="-52"/>
              </a:defRPr>
            </a:lvl2pPr>
            <a:lvl3pPr marL="1143000" indent="-228600" defTabSz="900113" eaLnBrk="0" hangingPunct="0">
              <a:defRPr sz="2400">
                <a:solidFill>
                  <a:schemeClr val="tx1"/>
                </a:solidFill>
                <a:latin typeface="Times New Roman" pitchFamily="18" charset="-52"/>
              </a:defRPr>
            </a:lvl3pPr>
            <a:lvl4pPr marL="1600200" indent="-228600" defTabSz="900113" eaLnBrk="0" hangingPunct="0">
              <a:defRPr sz="2400">
                <a:solidFill>
                  <a:schemeClr val="tx1"/>
                </a:solidFill>
                <a:latin typeface="Times New Roman" pitchFamily="18" charset="-52"/>
              </a:defRPr>
            </a:lvl4pPr>
            <a:lvl5pPr marL="2057400" indent="-228600" defTabSz="900113" eaLnBrk="0" hangingPunct="0">
              <a:defRPr sz="2400">
                <a:solidFill>
                  <a:schemeClr val="tx1"/>
                </a:solidFill>
                <a:latin typeface="Times New Roman" pitchFamily="18" charset="-52"/>
              </a:defRPr>
            </a:lvl5pPr>
            <a:lvl6pPr marL="2514600" indent="-228600" algn="ctr" defTabSz="900113" eaLnBrk="0" fontAlgn="base" hangingPunct="0">
              <a:spcBef>
                <a:spcPct val="0"/>
              </a:spcBef>
              <a:spcAft>
                <a:spcPct val="0"/>
              </a:spcAft>
              <a:defRPr sz="2400">
                <a:solidFill>
                  <a:schemeClr val="tx1"/>
                </a:solidFill>
                <a:latin typeface="Times New Roman" pitchFamily="18" charset="-52"/>
              </a:defRPr>
            </a:lvl6pPr>
            <a:lvl7pPr marL="2971800" indent="-228600" algn="ctr" defTabSz="900113" eaLnBrk="0" fontAlgn="base" hangingPunct="0">
              <a:spcBef>
                <a:spcPct val="0"/>
              </a:spcBef>
              <a:spcAft>
                <a:spcPct val="0"/>
              </a:spcAft>
              <a:defRPr sz="2400">
                <a:solidFill>
                  <a:schemeClr val="tx1"/>
                </a:solidFill>
                <a:latin typeface="Times New Roman" pitchFamily="18" charset="-52"/>
              </a:defRPr>
            </a:lvl7pPr>
            <a:lvl8pPr marL="3429000" indent="-228600" algn="ctr" defTabSz="900113" eaLnBrk="0" fontAlgn="base" hangingPunct="0">
              <a:spcBef>
                <a:spcPct val="0"/>
              </a:spcBef>
              <a:spcAft>
                <a:spcPct val="0"/>
              </a:spcAft>
              <a:defRPr sz="2400">
                <a:solidFill>
                  <a:schemeClr val="tx1"/>
                </a:solidFill>
                <a:latin typeface="Times New Roman" pitchFamily="18" charset="-52"/>
              </a:defRPr>
            </a:lvl8pPr>
            <a:lvl9pPr marL="3886200" indent="-228600" algn="ctr" defTabSz="900113" eaLnBrk="0" fontAlgn="base" hangingPunct="0">
              <a:spcBef>
                <a:spcPct val="0"/>
              </a:spcBef>
              <a:spcAft>
                <a:spcPct val="0"/>
              </a:spcAft>
              <a:defRPr sz="2400">
                <a:solidFill>
                  <a:schemeClr val="tx1"/>
                </a:solidFill>
                <a:latin typeface="Times New Roman" pitchFamily="18" charset="-52"/>
              </a:defRPr>
            </a:lvl9pPr>
          </a:lstStyle>
          <a:p>
            <a:pPr eaLnBrk="1" hangingPunct="1"/>
            <a:fld id="{707624B6-D143-414E-B8AD-C7359D4F4E9C}" type="slidenum">
              <a:rPr lang="en-US" sz="1200"/>
              <a:pPr eaLnBrk="1" hangingPunct="1"/>
              <a:t>76</a:t>
            </a:fld>
            <a:endParaRPr lang="en-US" sz="1200"/>
          </a:p>
        </p:txBody>
      </p:sp>
      <p:sp>
        <p:nvSpPr>
          <p:cNvPr id="74755" name="Rectangle 2"/>
          <p:cNvSpPr>
            <a:spLocks noGrp="1" noRot="1" noChangeAspect="1" noChangeArrowheads="1" noTextEdit="1"/>
          </p:cNvSpPr>
          <p:nvPr>
            <p:ph type="sldImg"/>
          </p:nvPr>
        </p:nvSpPr>
        <p:spPr>
          <a:xfrm>
            <a:off x="1143000" y="685800"/>
            <a:ext cx="4572000" cy="3429000"/>
          </a:xfrm>
          <a:ln/>
        </p:spPr>
      </p:sp>
      <p:sp>
        <p:nvSpPr>
          <p:cNvPr id="74756" name="Rectangle 3"/>
          <p:cNvSpPr>
            <a:spLocks noGrp="1" noChangeArrowheads="1"/>
          </p:cNvSpPr>
          <p:nvPr>
            <p:ph type="body" idx="1"/>
          </p:nvPr>
        </p:nvSpPr>
        <p:spPr>
          <a:xfrm>
            <a:off x="912203" y="4343401"/>
            <a:ext cx="5033596" cy="4114800"/>
          </a:xfrm>
          <a:noFill/>
        </p:spPr>
        <p:txBody>
          <a:bodyPr/>
          <a:lstStyle/>
          <a:p>
            <a:r>
              <a:rPr lang="en-US" smtClean="0"/>
              <a:t>We can actually calculate things more precisely than this, but let’s not.</a:t>
            </a:r>
          </a:p>
          <a:p>
            <a:endParaRPr lang="en-US" smtClean="0"/>
          </a:p>
          <a:p>
            <a:r>
              <a:rPr lang="en-US" smtClean="0"/>
              <a:t>Basically, this gets us optimal performance (actually, we _can_ do better).</a:t>
            </a:r>
          </a:p>
          <a:p>
            <a:endParaRPr lang="en-US" smtClean="0"/>
          </a:p>
          <a:p>
            <a:r>
              <a:rPr lang="en-US" smtClean="0"/>
              <a:t>Quadratic may be a better choice just to avoid the extra hash, however.</a:t>
            </a:r>
          </a:p>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D4F62A9-A2B6-4446-AEF8-F2DCA907F27E}" type="datetimeFigureOut">
              <a:rPr lang="en-IN" smtClean="0"/>
              <a:t>31-05-2023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3780670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D4F62A9-A2B6-4446-AEF8-F2DCA907F27E}" type="datetimeFigureOut">
              <a:rPr lang="en-IN" smtClean="0"/>
              <a:t>31-05-2023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304141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4F62A9-A2B6-4446-AEF8-F2DCA907F27E}" type="datetimeFigureOut">
              <a:rPr lang="en-IN" smtClean="0"/>
              <a:t>31-05-2023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4064014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D4F62A9-A2B6-4446-AEF8-F2DCA907F27E}" type="datetimeFigureOut">
              <a:rPr lang="en-IN" smtClean="0"/>
              <a:t>31-05-2023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2486613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D4F62A9-A2B6-4446-AEF8-F2DCA907F27E}" type="datetimeFigureOut">
              <a:rPr lang="en-IN" smtClean="0"/>
              <a:t>31-05-2023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1671510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D4F62A9-A2B6-4446-AEF8-F2DCA907F27E}" type="datetimeFigureOut">
              <a:rPr lang="en-IN" smtClean="0"/>
              <a:t>31-05-2023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2583541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F62A9-A2B6-4446-AEF8-F2DCA907F27E}" type="datetimeFigureOut">
              <a:rPr lang="en-IN" smtClean="0"/>
              <a:t>31-05-2023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35079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4F62A9-A2B6-4446-AEF8-F2DCA907F27E}" type="datetimeFigureOut">
              <a:rPr lang="en-IN" smtClean="0"/>
              <a:t>31-05-2023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4072028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4F62A9-A2B6-4446-AEF8-F2DCA907F27E}" type="datetimeFigureOut">
              <a:rPr lang="en-IN" smtClean="0"/>
              <a:t>31-05-2023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1976292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D4F62A9-A2B6-4446-AEF8-F2DCA907F27E}" type="datetimeFigureOut">
              <a:rPr lang="en-IN" smtClean="0"/>
              <a:t>31-05-2023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2696792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D4F62A9-A2B6-4446-AEF8-F2DCA907F27E}" type="datetimeFigureOut">
              <a:rPr lang="en-IN" smtClean="0"/>
              <a:t>31-05-2023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B9D695-E106-4CA1-ADCE-2F7FE982632F}" type="slidenum">
              <a:rPr lang="en-IN" smtClean="0"/>
              <a:t>‹#›</a:t>
            </a:fld>
            <a:endParaRPr lang="en-IN"/>
          </a:p>
        </p:txBody>
      </p:sp>
    </p:spTree>
    <p:extLst>
      <p:ext uri="{BB962C8B-B14F-4D97-AF65-F5344CB8AC3E}">
        <p14:creationId xmlns:p14="http://schemas.microsoft.com/office/powerpoint/2010/main" val="272970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IN"/>
          </a:p>
        </p:txBody>
      </p:sp>
      <p:sp>
        <p:nvSpPr>
          <p:cNvPr id="4" name="Rectangle 10"/>
          <p:cNvSpPr>
            <a:spLocks noGrp="1" noChangeArrowheads="1"/>
          </p:cNvSpPr>
          <p:nvPr>
            <p:ph type="dt" idx="10"/>
          </p:nvPr>
        </p:nvSpPr>
        <p:spPr>
          <a:ln/>
        </p:spPr>
        <p:txBody>
          <a:bodyPr/>
          <a:lstStyle>
            <a:lvl1pPr>
              <a:defRPr/>
            </a:lvl1pPr>
          </a:lstStyle>
          <a:p>
            <a:pPr>
              <a:defRPr/>
            </a:pPr>
            <a:endParaRPr lang="en-GB"/>
          </a:p>
        </p:txBody>
      </p:sp>
      <p:sp>
        <p:nvSpPr>
          <p:cNvPr id="5" name="Rectangle 11"/>
          <p:cNvSpPr>
            <a:spLocks noGrp="1" noChangeArrowheads="1"/>
          </p:cNvSpPr>
          <p:nvPr>
            <p:ph type="ftr" idx="11"/>
          </p:nvPr>
        </p:nvSpPr>
        <p:spPr>
          <a:ln/>
        </p:spPr>
        <p:txBody>
          <a:bodyPr/>
          <a:lstStyle>
            <a:lvl1pPr>
              <a:defRPr/>
            </a:lvl1pPr>
          </a:lstStyle>
          <a:p>
            <a:pPr>
              <a:defRPr/>
            </a:pPr>
            <a:endParaRPr lang="en-GB"/>
          </a:p>
        </p:txBody>
      </p:sp>
      <p:sp>
        <p:nvSpPr>
          <p:cNvPr id="6" name="Rectangle 12"/>
          <p:cNvSpPr>
            <a:spLocks noGrp="1" noChangeArrowheads="1"/>
          </p:cNvSpPr>
          <p:nvPr>
            <p:ph type="sldNum" idx="12"/>
          </p:nvPr>
        </p:nvSpPr>
        <p:spPr>
          <a:ln/>
        </p:spPr>
        <p:txBody>
          <a:bodyPr/>
          <a:lstStyle>
            <a:lvl1pPr>
              <a:defRPr/>
            </a:lvl1pPr>
          </a:lstStyle>
          <a:p>
            <a:pPr>
              <a:defRPr/>
            </a:pPr>
            <a:fld id="{3CAFEAA1-7B9C-4334-8FDE-DDC49D70AD36}" type="slidenum">
              <a:rPr lang="en-GB"/>
              <a:pPr>
                <a:defRPr/>
              </a:pPr>
              <a:t>‹#›</a:t>
            </a:fld>
            <a:endParaRPr lang="en-GB"/>
          </a:p>
        </p:txBody>
      </p:sp>
    </p:spTree>
    <p:extLst>
      <p:ext uri="{BB962C8B-B14F-4D97-AF65-F5344CB8AC3E}">
        <p14:creationId xmlns:p14="http://schemas.microsoft.com/office/powerpoint/2010/main" val="420767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10"/>
          <p:cNvSpPr>
            <a:spLocks noGrp="1" noChangeArrowheads="1"/>
          </p:cNvSpPr>
          <p:nvPr>
            <p:ph type="dt" idx="10"/>
          </p:nvPr>
        </p:nvSpPr>
        <p:spPr>
          <a:ln/>
        </p:spPr>
        <p:txBody>
          <a:bodyPr/>
          <a:lstStyle>
            <a:lvl1pPr>
              <a:defRPr/>
            </a:lvl1pPr>
          </a:lstStyle>
          <a:p>
            <a:pPr>
              <a:defRPr/>
            </a:pPr>
            <a:endParaRPr lang="en-GB"/>
          </a:p>
        </p:txBody>
      </p:sp>
      <p:sp>
        <p:nvSpPr>
          <p:cNvPr id="5" name="Rectangle 11"/>
          <p:cNvSpPr>
            <a:spLocks noGrp="1" noChangeArrowheads="1"/>
          </p:cNvSpPr>
          <p:nvPr>
            <p:ph type="ftr" idx="11"/>
          </p:nvPr>
        </p:nvSpPr>
        <p:spPr>
          <a:ln/>
        </p:spPr>
        <p:txBody>
          <a:bodyPr/>
          <a:lstStyle>
            <a:lvl1pPr>
              <a:defRPr/>
            </a:lvl1pPr>
          </a:lstStyle>
          <a:p>
            <a:pPr>
              <a:defRPr/>
            </a:pPr>
            <a:endParaRPr lang="en-GB"/>
          </a:p>
        </p:txBody>
      </p:sp>
      <p:sp>
        <p:nvSpPr>
          <p:cNvPr id="6" name="Rectangle 12"/>
          <p:cNvSpPr>
            <a:spLocks noGrp="1" noChangeArrowheads="1"/>
          </p:cNvSpPr>
          <p:nvPr>
            <p:ph type="sldNum" idx="12"/>
          </p:nvPr>
        </p:nvSpPr>
        <p:spPr>
          <a:ln/>
        </p:spPr>
        <p:txBody>
          <a:bodyPr/>
          <a:lstStyle>
            <a:lvl1pPr>
              <a:defRPr/>
            </a:lvl1pPr>
          </a:lstStyle>
          <a:p>
            <a:pPr>
              <a:defRPr/>
            </a:pPr>
            <a:fld id="{C30CEEC3-815A-4D57-B2E1-CBC16D363A82}" type="slidenum">
              <a:rPr lang="en-GB"/>
              <a:pPr>
                <a:defRPr/>
              </a:pPr>
              <a:t>‹#›</a:t>
            </a:fld>
            <a:endParaRPr lang="en-GB"/>
          </a:p>
        </p:txBody>
      </p:sp>
    </p:spTree>
    <p:extLst>
      <p:ext uri="{BB962C8B-B14F-4D97-AF65-F5344CB8AC3E}">
        <p14:creationId xmlns:p14="http://schemas.microsoft.com/office/powerpoint/2010/main" val="30794841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0"/>
          <p:cNvSpPr>
            <a:spLocks noGrp="1" noChangeArrowheads="1"/>
          </p:cNvSpPr>
          <p:nvPr>
            <p:ph type="dt" idx="10"/>
          </p:nvPr>
        </p:nvSpPr>
        <p:spPr>
          <a:ln/>
        </p:spPr>
        <p:txBody>
          <a:bodyPr/>
          <a:lstStyle>
            <a:lvl1pPr>
              <a:defRPr/>
            </a:lvl1pPr>
          </a:lstStyle>
          <a:p>
            <a:pPr>
              <a:defRPr/>
            </a:pPr>
            <a:endParaRPr lang="en-GB"/>
          </a:p>
        </p:txBody>
      </p:sp>
      <p:sp>
        <p:nvSpPr>
          <p:cNvPr id="5" name="Rectangle 11"/>
          <p:cNvSpPr>
            <a:spLocks noGrp="1" noChangeArrowheads="1"/>
          </p:cNvSpPr>
          <p:nvPr>
            <p:ph type="ftr" idx="11"/>
          </p:nvPr>
        </p:nvSpPr>
        <p:spPr>
          <a:ln/>
        </p:spPr>
        <p:txBody>
          <a:bodyPr/>
          <a:lstStyle>
            <a:lvl1pPr>
              <a:defRPr/>
            </a:lvl1pPr>
          </a:lstStyle>
          <a:p>
            <a:pPr>
              <a:defRPr/>
            </a:pPr>
            <a:endParaRPr lang="en-GB"/>
          </a:p>
        </p:txBody>
      </p:sp>
      <p:sp>
        <p:nvSpPr>
          <p:cNvPr id="6" name="Rectangle 12"/>
          <p:cNvSpPr>
            <a:spLocks noGrp="1" noChangeArrowheads="1"/>
          </p:cNvSpPr>
          <p:nvPr>
            <p:ph type="sldNum" idx="12"/>
          </p:nvPr>
        </p:nvSpPr>
        <p:spPr>
          <a:ln/>
        </p:spPr>
        <p:txBody>
          <a:bodyPr/>
          <a:lstStyle>
            <a:lvl1pPr>
              <a:defRPr/>
            </a:lvl1pPr>
          </a:lstStyle>
          <a:p>
            <a:pPr>
              <a:defRPr/>
            </a:pPr>
            <a:fld id="{07E3DB71-35C6-4CC3-ADBD-A5F26F732265}" type="slidenum">
              <a:rPr lang="en-GB"/>
              <a:pPr>
                <a:defRPr/>
              </a:pPr>
              <a:t>‹#›</a:t>
            </a:fld>
            <a:endParaRPr lang="en-GB"/>
          </a:p>
        </p:txBody>
      </p:sp>
    </p:spTree>
    <p:extLst>
      <p:ext uri="{BB962C8B-B14F-4D97-AF65-F5344CB8AC3E}">
        <p14:creationId xmlns:p14="http://schemas.microsoft.com/office/powerpoint/2010/main" val="946069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182688" y="2017713"/>
            <a:ext cx="3806825" cy="41100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5141913" y="2017713"/>
            <a:ext cx="3808412" cy="41100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10"/>
          <p:cNvSpPr>
            <a:spLocks noGrp="1" noChangeArrowheads="1"/>
          </p:cNvSpPr>
          <p:nvPr>
            <p:ph type="dt" idx="10"/>
          </p:nvPr>
        </p:nvSpPr>
        <p:spPr>
          <a:ln/>
        </p:spPr>
        <p:txBody>
          <a:bodyPr/>
          <a:lstStyle>
            <a:lvl1pPr>
              <a:defRPr/>
            </a:lvl1pPr>
          </a:lstStyle>
          <a:p>
            <a:pPr>
              <a:defRPr/>
            </a:pPr>
            <a:endParaRPr lang="en-GB"/>
          </a:p>
        </p:txBody>
      </p:sp>
      <p:sp>
        <p:nvSpPr>
          <p:cNvPr id="6" name="Rectangle 11"/>
          <p:cNvSpPr>
            <a:spLocks noGrp="1" noChangeArrowheads="1"/>
          </p:cNvSpPr>
          <p:nvPr>
            <p:ph type="ftr" idx="11"/>
          </p:nvPr>
        </p:nvSpPr>
        <p:spPr>
          <a:ln/>
        </p:spPr>
        <p:txBody>
          <a:bodyPr/>
          <a:lstStyle>
            <a:lvl1pPr>
              <a:defRPr/>
            </a:lvl1pPr>
          </a:lstStyle>
          <a:p>
            <a:pPr>
              <a:defRPr/>
            </a:pPr>
            <a:endParaRPr lang="en-GB"/>
          </a:p>
        </p:txBody>
      </p:sp>
      <p:sp>
        <p:nvSpPr>
          <p:cNvPr id="7" name="Rectangle 12"/>
          <p:cNvSpPr>
            <a:spLocks noGrp="1" noChangeArrowheads="1"/>
          </p:cNvSpPr>
          <p:nvPr>
            <p:ph type="sldNum" idx="12"/>
          </p:nvPr>
        </p:nvSpPr>
        <p:spPr>
          <a:ln/>
        </p:spPr>
        <p:txBody>
          <a:bodyPr/>
          <a:lstStyle>
            <a:lvl1pPr>
              <a:defRPr/>
            </a:lvl1pPr>
          </a:lstStyle>
          <a:p>
            <a:pPr>
              <a:defRPr/>
            </a:pPr>
            <a:fld id="{E7745B42-51A9-49A8-B478-9E2DD2FBD335}" type="slidenum">
              <a:rPr lang="en-GB"/>
              <a:pPr>
                <a:defRPr/>
              </a:pPr>
              <a:t>‹#›</a:t>
            </a:fld>
            <a:endParaRPr lang="en-GB"/>
          </a:p>
        </p:txBody>
      </p:sp>
    </p:spTree>
    <p:extLst>
      <p:ext uri="{BB962C8B-B14F-4D97-AF65-F5344CB8AC3E}">
        <p14:creationId xmlns:p14="http://schemas.microsoft.com/office/powerpoint/2010/main" val="2705619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10"/>
          <p:cNvSpPr>
            <a:spLocks noGrp="1" noChangeArrowheads="1"/>
          </p:cNvSpPr>
          <p:nvPr>
            <p:ph type="dt" idx="10"/>
          </p:nvPr>
        </p:nvSpPr>
        <p:spPr>
          <a:ln/>
        </p:spPr>
        <p:txBody>
          <a:bodyPr/>
          <a:lstStyle>
            <a:lvl1pPr>
              <a:defRPr/>
            </a:lvl1pPr>
          </a:lstStyle>
          <a:p>
            <a:pPr>
              <a:defRPr/>
            </a:pPr>
            <a:endParaRPr lang="en-GB"/>
          </a:p>
        </p:txBody>
      </p:sp>
      <p:sp>
        <p:nvSpPr>
          <p:cNvPr id="8" name="Rectangle 11"/>
          <p:cNvSpPr>
            <a:spLocks noGrp="1" noChangeArrowheads="1"/>
          </p:cNvSpPr>
          <p:nvPr>
            <p:ph type="ftr" idx="11"/>
          </p:nvPr>
        </p:nvSpPr>
        <p:spPr>
          <a:ln/>
        </p:spPr>
        <p:txBody>
          <a:bodyPr/>
          <a:lstStyle>
            <a:lvl1pPr>
              <a:defRPr/>
            </a:lvl1pPr>
          </a:lstStyle>
          <a:p>
            <a:pPr>
              <a:defRPr/>
            </a:pPr>
            <a:endParaRPr lang="en-GB"/>
          </a:p>
        </p:txBody>
      </p:sp>
      <p:sp>
        <p:nvSpPr>
          <p:cNvPr id="9" name="Rectangle 12"/>
          <p:cNvSpPr>
            <a:spLocks noGrp="1" noChangeArrowheads="1"/>
          </p:cNvSpPr>
          <p:nvPr>
            <p:ph type="sldNum" idx="12"/>
          </p:nvPr>
        </p:nvSpPr>
        <p:spPr>
          <a:ln/>
        </p:spPr>
        <p:txBody>
          <a:bodyPr/>
          <a:lstStyle>
            <a:lvl1pPr>
              <a:defRPr/>
            </a:lvl1pPr>
          </a:lstStyle>
          <a:p>
            <a:pPr>
              <a:defRPr/>
            </a:pPr>
            <a:fld id="{401D8A0E-4528-4F9F-8898-50CE33A5530F}" type="slidenum">
              <a:rPr lang="en-GB"/>
              <a:pPr>
                <a:defRPr/>
              </a:pPr>
              <a:t>‹#›</a:t>
            </a:fld>
            <a:endParaRPr lang="en-GB"/>
          </a:p>
        </p:txBody>
      </p:sp>
    </p:spTree>
    <p:extLst>
      <p:ext uri="{BB962C8B-B14F-4D97-AF65-F5344CB8AC3E}">
        <p14:creationId xmlns:p14="http://schemas.microsoft.com/office/powerpoint/2010/main" val="7826408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10"/>
          <p:cNvSpPr>
            <a:spLocks noGrp="1" noChangeArrowheads="1"/>
          </p:cNvSpPr>
          <p:nvPr>
            <p:ph type="dt" idx="10"/>
          </p:nvPr>
        </p:nvSpPr>
        <p:spPr>
          <a:ln/>
        </p:spPr>
        <p:txBody>
          <a:bodyPr/>
          <a:lstStyle>
            <a:lvl1pPr>
              <a:defRPr/>
            </a:lvl1pPr>
          </a:lstStyle>
          <a:p>
            <a:pPr>
              <a:defRPr/>
            </a:pPr>
            <a:endParaRPr lang="en-GB"/>
          </a:p>
        </p:txBody>
      </p:sp>
      <p:sp>
        <p:nvSpPr>
          <p:cNvPr id="4" name="Rectangle 11"/>
          <p:cNvSpPr>
            <a:spLocks noGrp="1" noChangeArrowheads="1"/>
          </p:cNvSpPr>
          <p:nvPr>
            <p:ph type="ftr" idx="11"/>
          </p:nvPr>
        </p:nvSpPr>
        <p:spPr>
          <a:ln/>
        </p:spPr>
        <p:txBody>
          <a:bodyPr/>
          <a:lstStyle>
            <a:lvl1pPr>
              <a:defRPr/>
            </a:lvl1pPr>
          </a:lstStyle>
          <a:p>
            <a:pPr>
              <a:defRPr/>
            </a:pPr>
            <a:endParaRPr lang="en-GB"/>
          </a:p>
        </p:txBody>
      </p:sp>
      <p:sp>
        <p:nvSpPr>
          <p:cNvPr id="5" name="Rectangle 12"/>
          <p:cNvSpPr>
            <a:spLocks noGrp="1" noChangeArrowheads="1"/>
          </p:cNvSpPr>
          <p:nvPr>
            <p:ph type="sldNum" idx="12"/>
          </p:nvPr>
        </p:nvSpPr>
        <p:spPr>
          <a:ln/>
        </p:spPr>
        <p:txBody>
          <a:bodyPr/>
          <a:lstStyle>
            <a:lvl1pPr>
              <a:defRPr/>
            </a:lvl1pPr>
          </a:lstStyle>
          <a:p>
            <a:pPr>
              <a:defRPr/>
            </a:pPr>
            <a:fld id="{19D698AC-4DD9-4EFD-8BD2-D94D15BF6EC8}" type="slidenum">
              <a:rPr lang="en-GB"/>
              <a:pPr>
                <a:defRPr/>
              </a:pPr>
              <a:t>‹#›</a:t>
            </a:fld>
            <a:endParaRPr lang="en-GB"/>
          </a:p>
        </p:txBody>
      </p:sp>
    </p:spTree>
    <p:extLst>
      <p:ext uri="{BB962C8B-B14F-4D97-AF65-F5344CB8AC3E}">
        <p14:creationId xmlns:p14="http://schemas.microsoft.com/office/powerpoint/2010/main" val="10893853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dt" idx="10"/>
          </p:nvPr>
        </p:nvSpPr>
        <p:spPr>
          <a:ln/>
        </p:spPr>
        <p:txBody>
          <a:bodyPr/>
          <a:lstStyle>
            <a:lvl1pPr>
              <a:defRPr/>
            </a:lvl1pPr>
          </a:lstStyle>
          <a:p>
            <a:pPr>
              <a:defRPr/>
            </a:pPr>
            <a:endParaRPr lang="en-GB"/>
          </a:p>
        </p:txBody>
      </p:sp>
      <p:sp>
        <p:nvSpPr>
          <p:cNvPr id="3" name="Rectangle 11"/>
          <p:cNvSpPr>
            <a:spLocks noGrp="1" noChangeArrowheads="1"/>
          </p:cNvSpPr>
          <p:nvPr>
            <p:ph type="ftr" idx="11"/>
          </p:nvPr>
        </p:nvSpPr>
        <p:spPr>
          <a:ln/>
        </p:spPr>
        <p:txBody>
          <a:bodyPr/>
          <a:lstStyle>
            <a:lvl1pPr>
              <a:defRPr/>
            </a:lvl1pPr>
          </a:lstStyle>
          <a:p>
            <a:pPr>
              <a:defRPr/>
            </a:pPr>
            <a:endParaRPr lang="en-GB"/>
          </a:p>
        </p:txBody>
      </p:sp>
      <p:sp>
        <p:nvSpPr>
          <p:cNvPr id="4" name="Rectangle 12"/>
          <p:cNvSpPr>
            <a:spLocks noGrp="1" noChangeArrowheads="1"/>
          </p:cNvSpPr>
          <p:nvPr>
            <p:ph type="sldNum" idx="12"/>
          </p:nvPr>
        </p:nvSpPr>
        <p:spPr>
          <a:ln/>
        </p:spPr>
        <p:txBody>
          <a:bodyPr/>
          <a:lstStyle>
            <a:lvl1pPr>
              <a:defRPr/>
            </a:lvl1pPr>
          </a:lstStyle>
          <a:p>
            <a:pPr>
              <a:defRPr/>
            </a:pPr>
            <a:fld id="{C05D8706-E386-43BA-8B89-84318EEF26C2}" type="slidenum">
              <a:rPr lang="en-GB"/>
              <a:pPr>
                <a:defRPr/>
              </a:pPr>
              <a:t>‹#›</a:t>
            </a:fld>
            <a:endParaRPr lang="en-GB"/>
          </a:p>
        </p:txBody>
      </p:sp>
    </p:spTree>
    <p:extLst>
      <p:ext uri="{BB962C8B-B14F-4D97-AF65-F5344CB8AC3E}">
        <p14:creationId xmlns:p14="http://schemas.microsoft.com/office/powerpoint/2010/main" val="35137662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0"/>
          <p:cNvSpPr>
            <a:spLocks noGrp="1" noChangeArrowheads="1"/>
          </p:cNvSpPr>
          <p:nvPr>
            <p:ph type="dt" idx="10"/>
          </p:nvPr>
        </p:nvSpPr>
        <p:spPr>
          <a:ln/>
        </p:spPr>
        <p:txBody>
          <a:bodyPr/>
          <a:lstStyle>
            <a:lvl1pPr>
              <a:defRPr/>
            </a:lvl1pPr>
          </a:lstStyle>
          <a:p>
            <a:pPr>
              <a:defRPr/>
            </a:pPr>
            <a:endParaRPr lang="en-GB"/>
          </a:p>
        </p:txBody>
      </p:sp>
      <p:sp>
        <p:nvSpPr>
          <p:cNvPr id="6" name="Rectangle 11"/>
          <p:cNvSpPr>
            <a:spLocks noGrp="1" noChangeArrowheads="1"/>
          </p:cNvSpPr>
          <p:nvPr>
            <p:ph type="ftr" idx="11"/>
          </p:nvPr>
        </p:nvSpPr>
        <p:spPr>
          <a:ln/>
        </p:spPr>
        <p:txBody>
          <a:bodyPr/>
          <a:lstStyle>
            <a:lvl1pPr>
              <a:defRPr/>
            </a:lvl1pPr>
          </a:lstStyle>
          <a:p>
            <a:pPr>
              <a:defRPr/>
            </a:pPr>
            <a:endParaRPr lang="en-GB"/>
          </a:p>
        </p:txBody>
      </p:sp>
      <p:sp>
        <p:nvSpPr>
          <p:cNvPr id="7" name="Rectangle 12"/>
          <p:cNvSpPr>
            <a:spLocks noGrp="1" noChangeArrowheads="1"/>
          </p:cNvSpPr>
          <p:nvPr>
            <p:ph type="sldNum" idx="12"/>
          </p:nvPr>
        </p:nvSpPr>
        <p:spPr>
          <a:ln/>
        </p:spPr>
        <p:txBody>
          <a:bodyPr/>
          <a:lstStyle>
            <a:lvl1pPr>
              <a:defRPr/>
            </a:lvl1pPr>
          </a:lstStyle>
          <a:p>
            <a:pPr>
              <a:defRPr/>
            </a:pPr>
            <a:fld id="{A2080C29-5C22-48F5-9268-989C68464BD6}" type="slidenum">
              <a:rPr lang="en-GB"/>
              <a:pPr>
                <a:defRPr/>
              </a:pPr>
              <a:t>‹#›</a:t>
            </a:fld>
            <a:endParaRPr lang="en-GB"/>
          </a:p>
        </p:txBody>
      </p:sp>
    </p:spTree>
    <p:extLst>
      <p:ext uri="{BB962C8B-B14F-4D97-AF65-F5344CB8AC3E}">
        <p14:creationId xmlns:p14="http://schemas.microsoft.com/office/powerpoint/2010/main" val="30423885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0"/>
          <p:cNvSpPr>
            <a:spLocks noGrp="1" noChangeArrowheads="1"/>
          </p:cNvSpPr>
          <p:nvPr>
            <p:ph type="dt" idx="10"/>
          </p:nvPr>
        </p:nvSpPr>
        <p:spPr>
          <a:ln/>
        </p:spPr>
        <p:txBody>
          <a:bodyPr/>
          <a:lstStyle>
            <a:lvl1pPr>
              <a:defRPr/>
            </a:lvl1pPr>
          </a:lstStyle>
          <a:p>
            <a:pPr>
              <a:defRPr/>
            </a:pPr>
            <a:endParaRPr lang="en-GB"/>
          </a:p>
        </p:txBody>
      </p:sp>
      <p:sp>
        <p:nvSpPr>
          <p:cNvPr id="6" name="Rectangle 11"/>
          <p:cNvSpPr>
            <a:spLocks noGrp="1" noChangeArrowheads="1"/>
          </p:cNvSpPr>
          <p:nvPr>
            <p:ph type="ftr" idx="11"/>
          </p:nvPr>
        </p:nvSpPr>
        <p:spPr>
          <a:ln/>
        </p:spPr>
        <p:txBody>
          <a:bodyPr/>
          <a:lstStyle>
            <a:lvl1pPr>
              <a:defRPr/>
            </a:lvl1pPr>
          </a:lstStyle>
          <a:p>
            <a:pPr>
              <a:defRPr/>
            </a:pPr>
            <a:endParaRPr lang="en-GB"/>
          </a:p>
        </p:txBody>
      </p:sp>
      <p:sp>
        <p:nvSpPr>
          <p:cNvPr id="7" name="Rectangle 12"/>
          <p:cNvSpPr>
            <a:spLocks noGrp="1" noChangeArrowheads="1"/>
          </p:cNvSpPr>
          <p:nvPr>
            <p:ph type="sldNum" idx="12"/>
          </p:nvPr>
        </p:nvSpPr>
        <p:spPr>
          <a:ln/>
        </p:spPr>
        <p:txBody>
          <a:bodyPr/>
          <a:lstStyle>
            <a:lvl1pPr>
              <a:defRPr/>
            </a:lvl1pPr>
          </a:lstStyle>
          <a:p>
            <a:pPr>
              <a:defRPr/>
            </a:pPr>
            <a:fld id="{CC7F62CD-4A22-4621-8AC4-6E79BFFD3F58}" type="slidenum">
              <a:rPr lang="en-GB"/>
              <a:pPr>
                <a:defRPr/>
              </a:pPr>
              <a:t>‹#›</a:t>
            </a:fld>
            <a:endParaRPr lang="en-GB"/>
          </a:p>
        </p:txBody>
      </p:sp>
    </p:spTree>
    <p:extLst>
      <p:ext uri="{BB962C8B-B14F-4D97-AF65-F5344CB8AC3E}">
        <p14:creationId xmlns:p14="http://schemas.microsoft.com/office/powerpoint/2010/main" val="17236015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10"/>
          <p:cNvSpPr>
            <a:spLocks noGrp="1" noChangeArrowheads="1"/>
          </p:cNvSpPr>
          <p:nvPr>
            <p:ph type="dt" idx="10"/>
          </p:nvPr>
        </p:nvSpPr>
        <p:spPr>
          <a:ln/>
        </p:spPr>
        <p:txBody>
          <a:bodyPr/>
          <a:lstStyle>
            <a:lvl1pPr>
              <a:defRPr/>
            </a:lvl1pPr>
          </a:lstStyle>
          <a:p>
            <a:pPr>
              <a:defRPr/>
            </a:pPr>
            <a:endParaRPr lang="en-GB"/>
          </a:p>
        </p:txBody>
      </p:sp>
      <p:sp>
        <p:nvSpPr>
          <p:cNvPr id="5" name="Rectangle 11"/>
          <p:cNvSpPr>
            <a:spLocks noGrp="1" noChangeArrowheads="1"/>
          </p:cNvSpPr>
          <p:nvPr>
            <p:ph type="ftr" idx="11"/>
          </p:nvPr>
        </p:nvSpPr>
        <p:spPr>
          <a:ln/>
        </p:spPr>
        <p:txBody>
          <a:bodyPr/>
          <a:lstStyle>
            <a:lvl1pPr>
              <a:defRPr/>
            </a:lvl1pPr>
          </a:lstStyle>
          <a:p>
            <a:pPr>
              <a:defRPr/>
            </a:pPr>
            <a:endParaRPr lang="en-GB"/>
          </a:p>
        </p:txBody>
      </p:sp>
      <p:sp>
        <p:nvSpPr>
          <p:cNvPr id="6" name="Rectangle 12"/>
          <p:cNvSpPr>
            <a:spLocks noGrp="1" noChangeArrowheads="1"/>
          </p:cNvSpPr>
          <p:nvPr>
            <p:ph type="sldNum" idx="12"/>
          </p:nvPr>
        </p:nvSpPr>
        <p:spPr>
          <a:ln/>
        </p:spPr>
        <p:txBody>
          <a:bodyPr/>
          <a:lstStyle>
            <a:lvl1pPr>
              <a:defRPr/>
            </a:lvl1pPr>
          </a:lstStyle>
          <a:p>
            <a:pPr>
              <a:defRPr/>
            </a:pPr>
            <a:fld id="{A02E8C1C-685B-4FE4-A5F3-B4BF520D8A73}" type="slidenum">
              <a:rPr lang="en-GB"/>
              <a:pPr>
                <a:defRPr/>
              </a:pPr>
              <a:t>‹#›</a:t>
            </a:fld>
            <a:endParaRPr lang="en-GB"/>
          </a:p>
        </p:txBody>
      </p:sp>
    </p:spTree>
    <p:extLst>
      <p:ext uri="{BB962C8B-B14F-4D97-AF65-F5344CB8AC3E}">
        <p14:creationId xmlns:p14="http://schemas.microsoft.com/office/powerpoint/2010/main" val="30243019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0875" y="214313"/>
            <a:ext cx="1949450" cy="5913437"/>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150938" y="214313"/>
            <a:ext cx="5697537" cy="59134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10"/>
          <p:cNvSpPr>
            <a:spLocks noGrp="1" noChangeArrowheads="1"/>
          </p:cNvSpPr>
          <p:nvPr>
            <p:ph type="dt" idx="10"/>
          </p:nvPr>
        </p:nvSpPr>
        <p:spPr>
          <a:ln/>
        </p:spPr>
        <p:txBody>
          <a:bodyPr/>
          <a:lstStyle>
            <a:lvl1pPr>
              <a:defRPr/>
            </a:lvl1pPr>
          </a:lstStyle>
          <a:p>
            <a:pPr>
              <a:defRPr/>
            </a:pPr>
            <a:endParaRPr lang="en-GB"/>
          </a:p>
        </p:txBody>
      </p:sp>
      <p:sp>
        <p:nvSpPr>
          <p:cNvPr id="5" name="Rectangle 11"/>
          <p:cNvSpPr>
            <a:spLocks noGrp="1" noChangeArrowheads="1"/>
          </p:cNvSpPr>
          <p:nvPr>
            <p:ph type="ftr" idx="11"/>
          </p:nvPr>
        </p:nvSpPr>
        <p:spPr>
          <a:ln/>
        </p:spPr>
        <p:txBody>
          <a:bodyPr/>
          <a:lstStyle>
            <a:lvl1pPr>
              <a:defRPr/>
            </a:lvl1pPr>
          </a:lstStyle>
          <a:p>
            <a:pPr>
              <a:defRPr/>
            </a:pPr>
            <a:endParaRPr lang="en-GB"/>
          </a:p>
        </p:txBody>
      </p:sp>
      <p:sp>
        <p:nvSpPr>
          <p:cNvPr id="6" name="Rectangle 12"/>
          <p:cNvSpPr>
            <a:spLocks noGrp="1" noChangeArrowheads="1"/>
          </p:cNvSpPr>
          <p:nvPr>
            <p:ph type="sldNum" idx="12"/>
          </p:nvPr>
        </p:nvSpPr>
        <p:spPr>
          <a:ln/>
        </p:spPr>
        <p:txBody>
          <a:bodyPr/>
          <a:lstStyle>
            <a:lvl1pPr>
              <a:defRPr/>
            </a:lvl1pPr>
          </a:lstStyle>
          <a:p>
            <a:pPr>
              <a:defRPr/>
            </a:pPr>
            <a:fld id="{8838420B-B094-4632-B6D6-78ED1B06342E}" type="slidenum">
              <a:rPr lang="en-GB"/>
              <a:pPr>
                <a:defRPr/>
              </a:pPr>
              <a:t>‹#›</a:t>
            </a:fld>
            <a:endParaRPr lang="en-GB"/>
          </a:p>
        </p:txBody>
      </p:sp>
    </p:spTree>
    <p:extLst>
      <p:ext uri="{BB962C8B-B14F-4D97-AF65-F5344CB8AC3E}">
        <p14:creationId xmlns:p14="http://schemas.microsoft.com/office/powerpoint/2010/main" val="34624776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88275" cy="1462087"/>
          </a:xfrm>
        </p:spPr>
        <p:txBody>
          <a:bodyPr/>
          <a:lstStyle/>
          <a:p>
            <a:r>
              <a:rPr lang="en-US" smtClean="0"/>
              <a:t>Click to edit Master title style</a:t>
            </a:r>
            <a:endParaRPr lang="en-IN"/>
          </a:p>
        </p:txBody>
      </p:sp>
      <p:sp>
        <p:nvSpPr>
          <p:cNvPr id="3" name="Table Placeholder 2"/>
          <p:cNvSpPr>
            <a:spLocks noGrp="1"/>
          </p:cNvSpPr>
          <p:nvPr>
            <p:ph type="tbl" idx="1"/>
          </p:nvPr>
        </p:nvSpPr>
        <p:spPr>
          <a:xfrm>
            <a:off x="1182688" y="2017713"/>
            <a:ext cx="7767637" cy="4110037"/>
          </a:xfrm>
        </p:spPr>
        <p:txBody>
          <a:bodyPr/>
          <a:lstStyle/>
          <a:p>
            <a:pPr lvl="0"/>
            <a:endParaRPr lang="en-IN" noProof="0" smtClean="0"/>
          </a:p>
        </p:txBody>
      </p:sp>
      <p:sp>
        <p:nvSpPr>
          <p:cNvPr id="4" name="Rectangle 10"/>
          <p:cNvSpPr>
            <a:spLocks noGrp="1" noChangeArrowheads="1"/>
          </p:cNvSpPr>
          <p:nvPr>
            <p:ph type="dt" idx="10"/>
          </p:nvPr>
        </p:nvSpPr>
        <p:spPr>
          <a:ln/>
        </p:spPr>
        <p:txBody>
          <a:bodyPr/>
          <a:lstStyle>
            <a:lvl1pPr>
              <a:defRPr/>
            </a:lvl1pPr>
          </a:lstStyle>
          <a:p>
            <a:pPr>
              <a:defRPr/>
            </a:pPr>
            <a:endParaRPr lang="en-GB"/>
          </a:p>
        </p:txBody>
      </p:sp>
      <p:sp>
        <p:nvSpPr>
          <p:cNvPr id="5" name="Rectangle 11"/>
          <p:cNvSpPr>
            <a:spLocks noGrp="1" noChangeArrowheads="1"/>
          </p:cNvSpPr>
          <p:nvPr>
            <p:ph type="ftr" idx="11"/>
          </p:nvPr>
        </p:nvSpPr>
        <p:spPr>
          <a:ln/>
        </p:spPr>
        <p:txBody>
          <a:bodyPr/>
          <a:lstStyle>
            <a:lvl1pPr>
              <a:defRPr/>
            </a:lvl1pPr>
          </a:lstStyle>
          <a:p>
            <a:pPr>
              <a:defRPr/>
            </a:pPr>
            <a:endParaRPr lang="en-GB"/>
          </a:p>
        </p:txBody>
      </p:sp>
      <p:sp>
        <p:nvSpPr>
          <p:cNvPr id="6" name="Rectangle 12"/>
          <p:cNvSpPr>
            <a:spLocks noGrp="1" noChangeArrowheads="1"/>
          </p:cNvSpPr>
          <p:nvPr>
            <p:ph type="sldNum" idx="12"/>
          </p:nvPr>
        </p:nvSpPr>
        <p:spPr>
          <a:ln/>
        </p:spPr>
        <p:txBody>
          <a:bodyPr/>
          <a:lstStyle>
            <a:lvl1pPr>
              <a:defRPr/>
            </a:lvl1pPr>
          </a:lstStyle>
          <a:p>
            <a:pPr>
              <a:defRPr/>
            </a:pPr>
            <a:fld id="{2FE3DDA2-72E0-4E57-9B07-1D6BFDDD417A}" type="slidenum">
              <a:rPr lang="en-GB"/>
              <a:pPr>
                <a:defRPr/>
              </a:pPr>
              <a:t>‹#›</a:t>
            </a:fld>
            <a:endParaRPr lang="en-GB"/>
          </a:p>
        </p:txBody>
      </p:sp>
    </p:spTree>
    <p:extLst>
      <p:ext uri="{BB962C8B-B14F-4D97-AF65-F5344CB8AC3E}">
        <p14:creationId xmlns:p14="http://schemas.microsoft.com/office/powerpoint/2010/main" val="15898266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88275" cy="1462087"/>
          </a:xfrm>
        </p:spPr>
        <p:txBody>
          <a:bodyPr/>
          <a:lstStyle/>
          <a:p>
            <a:r>
              <a:rPr lang="en-US" smtClean="0"/>
              <a:t>Click to edit Master title style</a:t>
            </a:r>
            <a:endParaRPr lang="en-IN"/>
          </a:p>
        </p:txBody>
      </p:sp>
      <p:sp>
        <p:nvSpPr>
          <p:cNvPr id="3" name="Text Placeholder 2"/>
          <p:cNvSpPr>
            <a:spLocks noGrp="1"/>
          </p:cNvSpPr>
          <p:nvPr>
            <p:ph type="body" sz="half" idx="1"/>
          </p:nvPr>
        </p:nvSpPr>
        <p:spPr>
          <a:xfrm>
            <a:off x="1182688" y="2017713"/>
            <a:ext cx="3806825" cy="41100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5141913" y="2017713"/>
            <a:ext cx="3808412" cy="41100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10"/>
          <p:cNvSpPr>
            <a:spLocks noGrp="1" noChangeArrowheads="1"/>
          </p:cNvSpPr>
          <p:nvPr>
            <p:ph type="dt" idx="10"/>
          </p:nvPr>
        </p:nvSpPr>
        <p:spPr>
          <a:ln/>
        </p:spPr>
        <p:txBody>
          <a:bodyPr/>
          <a:lstStyle>
            <a:lvl1pPr>
              <a:defRPr/>
            </a:lvl1pPr>
          </a:lstStyle>
          <a:p>
            <a:pPr>
              <a:defRPr/>
            </a:pPr>
            <a:endParaRPr lang="en-GB"/>
          </a:p>
        </p:txBody>
      </p:sp>
      <p:sp>
        <p:nvSpPr>
          <p:cNvPr id="6" name="Rectangle 11"/>
          <p:cNvSpPr>
            <a:spLocks noGrp="1" noChangeArrowheads="1"/>
          </p:cNvSpPr>
          <p:nvPr>
            <p:ph type="ftr" idx="11"/>
          </p:nvPr>
        </p:nvSpPr>
        <p:spPr>
          <a:ln/>
        </p:spPr>
        <p:txBody>
          <a:bodyPr/>
          <a:lstStyle>
            <a:lvl1pPr>
              <a:defRPr/>
            </a:lvl1pPr>
          </a:lstStyle>
          <a:p>
            <a:pPr>
              <a:defRPr/>
            </a:pPr>
            <a:endParaRPr lang="en-GB"/>
          </a:p>
        </p:txBody>
      </p:sp>
      <p:sp>
        <p:nvSpPr>
          <p:cNvPr id="7" name="Rectangle 12"/>
          <p:cNvSpPr>
            <a:spLocks noGrp="1" noChangeArrowheads="1"/>
          </p:cNvSpPr>
          <p:nvPr>
            <p:ph type="sldNum" idx="12"/>
          </p:nvPr>
        </p:nvSpPr>
        <p:spPr>
          <a:ln/>
        </p:spPr>
        <p:txBody>
          <a:bodyPr/>
          <a:lstStyle>
            <a:lvl1pPr>
              <a:defRPr/>
            </a:lvl1pPr>
          </a:lstStyle>
          <a:p>
            <a:pPr>
              <a:defRPr/>
            </a:pPr>
            <a:fld id="{94E58DEF-321B-40A2-940D-1496C8943B78}" type="slidenum">
              <a:rPr lang="en-GB"/>
              <a:pPr>
                <a:defRPr/>
              </a:pPr>
              <a:t>‹#›</a:t>
            </a:fld>
            <a:endParaRPr lang="en-GB"/>
          </a:p>
        </p:txBody>
      </p:sp>
    </p:spTree>
    <p:extLst>
      <p:ext uri="{BB962C8B-B14F-4D97-AF65-F5344CB8AC3E}">
        <p14:creationId xmlns:p14="http://schemas.microsoft.com/office/powerpoint/2010/main" val="8883060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390888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8084793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5350481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0639445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480698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1007377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084075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95904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494820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496972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166421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F62A9-A2B6-4446-AEF8-F2DCA907F27E}" type="datetimeFigureOut">
              <a:rPr lang="en-IN" smtClean="0"/>
              <a:t>31-05-2023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B9D695-E106-4CA1-ADCE-2F7FE982632F}" type="slidenum">
              <a:rPr lang="en-IN" smtClean="0"/>
              <a:t>‹#›</a:t>
            </a:fld>
            <a:endParaRPr lang="en-IN"/>
          </a:p>
        </p:txBody>
      </p:sp>
    </p:spTree>
    <p:extLst>
      <p:ext uri="{BB962C8B-B14F-4D97-AF65-F5344CB8AC3E}">
        <p14:creationId xmlns:p14="http://schemas.microsoft.com/office/powerpoint/2010/main" val="1237831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ChangeArrowheads="1"/>
          </p:cNvSpPr>
          <p:nvPr/>
        </p:nvSpPr>
        <p:spPr bwMode="auto">
          <a:xfrm>
            <a:off x="417513" y="10985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49263" fontAlgn="base">
              <a:lnSpc>
                <a:spcPct val="81000"/>
              </a:lnSpc>
              <a:spcBef>
                <a:spcPct val="0"/>
              </a:spcBef>
              <a:spcAft>
                <a:spcPct val="0"/>
              </a:spcAft>
              <a:buClr>
                <a:srgbClr val="000000"/>
              </a:buClr>
              <a:buSzPct val="100000"/>
              <a:buFont typeface="Arial" charset="0"/>
              <a:buNone/>
            </a:pPr>
            <a:endParaRPr lang="en-IN" smtClean="0">
              <a:solidFill>
                <a:srgbClr val="FFFFFF"/>
              </a:solidFill>
              <a:latin typeface="Arial" charset="0"/>
            </a:endParaRPr>
          </a:p>
        </p:txBody>
      </p:sp>
      <p:sp>
        <p:nvSpPr>
          <p:cNvPr id="1027" name="Rectangle 2"/>
          <p:cNvSpPr>
            <a:spLocks noChangeArrowheads="1"/>
          </p:cNvSpPr>
          <p:nvPr/>
        </p:nvSpPr>
        <p:spPr bwMode="auto">
          <a:xfrm>
            <a:off x="800100" y="10985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49263" fontAlgn="base">
              <a:lnSpc>
                <a:spcPct val="81000"/>
              </a:lnSpc>
              <a:spcBef>
                <a:spcPct val="0"/>
              </a:spcBef>
              <a:spcAft>
                <a:spcPct val="0"/>
              </a:spcAft>
              <a:buClr>
                <a:srgbClr val="000000"/>
              </a:buClr>
              <a:buSzPct val="100000"/>
              <a:buFont typeface="Arial" charset="0"/>
              <a:buNone/>
            </a:pPr>
            <a:endParaRPr lang="en-IN" smtClean="0">
              <a:solidFill>
                <a:srgbClr val="FFFFFF"/>
              </a:solidFill>
              <a:latin typeface="Arial" charset="0"/>
            </a:endParaRPr>
          </a:p>
        </p:txBody>
      </p:sp>
      <p:sp>
        <p:nvSpPr>
          <p:cNvPr id="1028" name="Rectangle 3"/>
          <p:cNvSpPr>
            <a:spLocks noChangeArrowheads="1"/>
          </p:cNvSpPr>
          <p:nvPr/>
        </p:nvSpPr>
        <p:spPr bwMode="auto">
          <a:xfrm>
            <a:off x="541338" y="15208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49263" fontAlgn="base">
              <a:lnSpc>
                <a:spcPct val="81000"/>
              </a:lnSpc>
              <a:spcBef>
                <a:spcPct val="0"/>
              </a:spcBef>
              <a:spcAft>
                <a:spcPct val="0"/>
              </a:spcAft>
              <a:buClr>
                <a:srgbClr val="000000"/>
              </a:buClr>
              <a:buSzPct val="100000"/>
              <a:buFont typeface="Arial" charset="0"/>
              <a:buNone/>
            </a:pPr>
            <a:endParaRPr lang="en-IN" smtClean="0">
              <a:solidFill>
                <a:srgbClr val="FFFFFF"/>
              </a:solidFill>
              <a:latin typeface="Arial" charset="0"/>
            </a:endParaRPr>
          </a:p>
        </p:txBody>
      </p:sp>
      <p:sp>
        <p:nvSpPr>
          <p:cNvPr id="1029" name="Rectangle 4"/>
          <p:cNvSpPr>
            <a:spLocks noChangeArrowheads="1"/>
          </p:cNvSpPr>
          <p:nvPr/>
        </p:nvSpPr>
        <p:spPr bwMode="auto">
          <a:xfrm>
            <a:off x="911225" y="15208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49263" fontAlgn="base">
              <a:lnSpc>
                <a:spcPct val="81000"/>
              </a:lnSpc>
              <a:spcBef>
                <a:spcPct val="0"/>
              </a:spcBef>
              <a:spcAft>
                <a:spcPct val="0"/>
              </a:spcAft>
              <a:buClr>
                <a:srgbClr val="000000"/>
              </a:buClr>
              <a:buSzPct val="100000"/>
              <a:buFont typeface="Arial" charset="0"/>
              <a:buNone/>
            </a:pPr>
            <a:endParaRPr lang="en-IN" smtClean="0">
              <a:solidFill>
                <a:srgbClr val="FFFFFF"/>
              </a:solidFill>
              <a:latin typeface="Arial" charset="0"/>
            </a:endParaRPr>
          </a:p>
        </p:txBody>
      </p:sp>
      <p:sp>
        <p:nvSpPr>
          <p:cNvPr id="1030" name="Rectangle 5"/>
          <p:cNvSpPr>
            <a:spLocks noChangeArrowheads="1"/>
          </p:cNvSpPr>
          <p:nvPr/>
        </p:nvSpPr>
        <p:spPr bwMode="auto">
          <a:xfrm>
            <a:off x="127000" y="14478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49263" fontAlgn="base">
              <a:lnSpc>
                <a:spcPct val="81000"/>
              </a:lnSpc>
              <a:spcBef>
                <a:spcPct val="0"/>
              </a:spcBef>
              <a:spcAft>
                <a:spcPct val="0"/>
              </a:spcAft>
              <a:buClr>
                <a:srgbClr val="000000"/>
              </a:buClr>
              <a:buSzPct val="100000"/>
              <a:buFont typeface="Arial" charset="0"/>
              <a:buNone/>
            </a:pPr>
            <a:endParaRPr lang="en-IN" smtClean="0">
              <a:solidFill>
                <a:srgbClr val="FFFFFF"/>
              </a:solidFill>
              <a:latin typeface="Arial" charset="0"/>
            </a:endParaRPr>
          </a:p>
        </p:txBody>
      </p:sp>
      <p:sp>
        <p:nvSpPr>
          <p:cNvPr id="1031" name="Rectangle 6"/>
          <p:cNvSpPr>
            <a:spLocks noChangeArrowheads="1"/>
          </p:cNvSpPr>
          <p:nvPr/>
        </p:nvSpPr>
        <p:spPr bwMode="auto">
          <a:xfrm>
            <a:off x="762000" y="99060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49263" fontAlgn="base">
              <a:lnSpc>
                <a:spcPct val="81000"/>
              </a:lnSpc>
              <a:spcBef>
                <a:spcPct val="0"/>
              </a:spcBef>
              <a:spcAft>
                <a:spcPct val="0"/>
              </a:spcAft>
              <a:buClr>
                <a:srgbClr val="000000"/>
              </a:buClr>
              <a:buSzPct val="100000"/>
              <a:buFont typeface="Arial" charset="0"/>
              <a:buNone/>
            </a:pPr>
            <a:endParaRPr lang="en-IN" smtClean="0">
              <a:solidFill>
                <a:srgbClr val="FFFFFF"/>
              </a:solidFill>
              <a:latin typeface="Arial" charset="0"/>
            </a:endParaRPr>
          </a:p>
        </p:txBody>
      </p:sp>
      <p:sp>
        <p:nvSpPr>
          <p:cNvPr id="1032" name="Rectangle 7"/>
          <p:cNvSpPr>
            <a:spLocks noChangeArrowheads="1"/>
          </p:cNvSpPr>
          <p:nvPr/>
        </p:nvSpPr>
        <p:spPr bwMode="auto">
          <a:xfrm>
            <a:off x="442913" y="1781175"/>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49263" fontAlgn="base">
              <a:lnSpc>
                <a:spcPct val="81000"/>
              </a:lnSpc>
              <a:spcBef>
                <a:spcPct val="0"/>
              </a:spcBef>
              <a:spcAft>
                <a:spcPct val="0"/>
              </a:spcAft>
              <a:buClr>
                <a:srgbClr val="000000"/>
              </a:buClr>
              <a:buSzPct val="100000"/>
              <a:buFont typeface="Arial" charset="0"/>
              <a:buNone/>
            </a:pPr>
            <a:endParaRPr lang="en-IN" smtClean="0">
              <a:solidFill>
                <a:srgbClr val="FFFFFF"/>
              </a:solidFill>
              <a:latin typeface="Arial" charset="0"/>
            </a:endParaRPr>
          </a:p>
        </p:txBody>
      </p:sp>
      <p:sp>
        <p:nvSpPr>
          <p:cNvPr id="1033" name="Rectangle 8"/>
          <p:cNvSpPr>
            <a:spLocks noGrp="1" noChangeArrowheads="1"/>
          </p:cNvSpPr>
          <p:nvPr>
            <p:ph type="title"/>
          </p:nvPr>
        </p:nvSpPr>
        <p:spPr bwMode="auto">
          <a:xfrm>
            <a:off x="1150938" y="214313"/>
            <a:ext cx="7788275" cy="1462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zh-TW" altLang="en-GB" smtClean="0"/>
              <a:t>請按一下鼠標，編輯標題文的格式。</a:t>
            </a:r>
          </a:p>
        </p:txBody>
      </p:sp>
      <p:sp>
        <p:nvSpPr>
          <p:cNvPr id="1034" name="Rectangle 9"/>
          <p:cNvSpPr>
            <a:spLocks noGrp="1" noChangeArrowheads="1"/>
          </p:cNvSpPr>
          <p:nvPr>
            <p:ph type="body" idx="1"/>
          </p:nvPr>
        </p:nvSpPr>
        <p:spPr bwMode="auto">
          <a:xfrm>
            <a:off x="1182688" y="2017713"/>
            <a:ext cx="7767637" cy="411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zh-TW" altLang="en-GB" smtClean="0"/>
              <a:t>請按鼠標，編輯大綱文字格式。</a:t>
            </a:r>
          </a:p>
          <a:p>
            <a:pPr lvl="1"/>
            <a:r>
              <a:rPr lang="zh-TW" altLang="en-GB" smtClean="0"/>
              <a:t>第二個大綱級</a:t>
            </a:r>
          </a:p>
          <a:p>
            <a:pPr lvl="2"/>
            <a:r>
              <a:rPr lang="zh-TW" altLang="en-GB" smtClean="0"/>
              <a:t>第三個大綱級</a:t>
            </a:r>
          </a:p>
          <a:p>
            <a:pPr lvl="3"/>
            <a:r>
              <a:rPr lang="zh-TW" altLang="en-GB" smtClean="0"/>
              <a:t>第四個大綱級</a:t>
            </a:r>
          </a:p>
          <a:p>
            <a:pPr lvl="4"/>
            <a:r>
              <a:rPr lang="zh-TW" altLang="en-GB" smtClean="0"/>
              <a:t>第五個大綱級</a:t>
            </a:r>
          </a:p>
          <a:p>
            <a:pPr lvl="4"/>
            <a:r>
              <a:rPr lang="zh-TW" altLang="en-GB" smtClean="0"/>
              <a:t>第六個大綱級</a:t>
            </a:r>
          </a:p>
          <a:p>
            <a:pPr lvl="4"/>
            <a:r>
              <a:rPr lang="zh-TW" altLang="en-GB" smtClean="0"/>
              <a:t>第七個大綱級</a:t>
            </a:r>
          </a:p>
          <a:p>
            <a:pPr lvl="4"/>
            <a:r>
              <a:rPr lang="zh-TW" altLang="en-GB" smtClean="0"/>
              <a:t>第八個大綱級</a:t>
            </a:r>
          </a:p>
          <a:p>
            <a:pPr lvl="4"/>
            <a:r>
              <a:rPr lang="zh-TW" altLang="en-GB" smtClean="0"/>
              <a:t>第九個大綱級</a:t>
            </a:r>
          </a:p>
        </p:txBody>
      </p:sp>
      <p:sp>
        <p:nvSpPr>
          <p:cNvPr id="2" name="Rectangle 10"/>
          <p:cNvSpPr>
            <a:spLocks noGrp="1" noChangeArrowheads="1"/>
          </p:cNvSpPr>
          <p:nvPr>
            <p:ph type="dt"/>
          </p:nvPr>
        </p:nvSpPr>
        <p:spPr bwMode="auto">
          <a:xfrm>
            <a:off x="1162050" y="6243638"/>
            <a:ext cx="1900238"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nSpc>
                <a:spcPct val="100000"/>
              </a:lnSpc>
              <a:buFont typeface="Tahoma"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400" smtClean="0">
                <a:solidFill>
                  <a:srgbClr val="000000"/>
                </a:solidFill>
                <a:latin typeface="+mn-lt"/>
              </a:defRPr>
            </a:lvl1pPr>
          </a:lstStyle>
          <a:p>
            <a:pPr defTabSz="449263" fontAlgn="base">
              <a:spcBef>
                <a:spcPct val="0"/>
              </a:spcBef>
              <a:spcAft>
                <a:spcPct val="0"/>
              </a:spcAft>
              <a:buClr>
                <a:srgbClr val="000000"/>
              </a:buClr>
              <a:buSzPct val="100000"/>
              <a:defRPr/>
            </a:pPr>
            <a:endParaRPr lang="en-GB"/>
          </a:p>
        </p:txBody>
      </p:sp>
      <p:sp>
        <p:nvSpPr>
          <p:cNvPr id="1035" name="Rectangle 11"/>
          <p:cNvSpPr>
            <a:spLocks noGrp="1" noChangeArrowheads="1"/>
          </p:cNvSpPr>
          <p:nvPr>
            <p:ph type="ftr"/>
          </p:nvPr>
        </p:nvSpPr>
        <p:spPr bwMode="auto">
          <a:xfrm>
            <a:off x="3657600" y="6243638"/>
            <a:ext cx="2890838"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ctr">
              <a:lnSpc>
                <a:spcPct val="100000"/>
              </a:lnSpc>
              <a:buFont typeface="Tahoma"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400" smtClean="0">
                <a:solidFill>
                  <a:srgbClr val="000000"/>
                </a:solidFill>
                <a:latin typeface="+mn-lt"/>
              </a:defRPr>
            </a:lvl1pPr>
          </a:lstStyle>
          <a:p>
            <a:pPr defTabSz="449263" fontAlgn="base">
              <a:spcBef>
                <a:spcPct val="0"/>
              </a:spcBef>
              <a:spcAft>
                <a:spcPct val="0"/>
              </a:spcAft>
              <a:buClr>
                <a:srgbClr val="000000"/>
              </a:buClr>
              <a:buSzPct val="100000"/>
              <a:defRPr/>
            </a:pPr>
            <a:endParaRPr lang="en-GB"/>
          </a:p>
        </p:txBody>
      </p:sp>
      <p:sp>
        <p:nvSpPr>
          <p:cNvPr id="1036" name="Rectangle 12"/>
          <p:cNvSpPr>
            <a:spLocks noGrp="1" noChangeArrowheads="1"/>
          </p:cNvSpPr>
          <p:nvPr>
            <p:ph type="sldNum"/>
          </p:nvPr>
        </p:nvSpPr>
        <p:spPr bwMode="auto">
          <a:xfrm>
            <a:off x="7042150" y="6243638"/>
            <a:ext cx="1900238"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lnSpc>
                <a:spcPct val="100000"/>
              </a:lnSpc>
              <a:buFont typeface="Tahoma"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400" smtClean="0">
                <a:solidFill>
                  <a:srgbClr val="000000"/>
                </a:solidFill>
                <a:latin typeface="+mn-lt"/>
              </a:defRPr>
            </a:lvl1pPr>
          </a:lstStyle>
          <a:p>
            <a:pPr defTabSz="449263" fontAlgn="base">
              <a:spcBef>
                <a:spcPct val="0"/>
              </a:spcBef>
              <a:spcAft>
                <a:spcPct val="0"/>
              </a:spcAft>
              <a:buClr>
                <a:srgbClr val="000000"/>
              </a:buClr>
              <a:buSzPct val="100000"/>
              <a:defRPr/>
            </a:pPr>
            <a:fld id="{76B74038-2FC0-4CE2-96F5-79FAFAA18F00}" type="slidenum">
              <a:rPr lang="en-GB"/>
              <a:pPr defTabSz="449263" fontAlgn="base">
                <a:spcBef>
                  <a:spcPct val="0"/>
                </a:spcBef>
                <a:spcAft>
                  <a:spcPct val="0"/>
                </a:spcAft>
                <a:buClr>
                  <a:srgbClr val="000000"/>
                </a:buClr>
                <a:buSzPct val="100000"/>
                <a:defRPr/>
              </a:pPr>
              <a:t>‹#›</a:t>
            </a:fld>
            <a:endParaRPr lang="en-GB"/>
          </a:p>
        </p:txBody>
      </p:sp>
    </p:spTree>
    <p:extLst>
      <p:ext uri="{BB962C8B-B14F-4D97-AF65-F5344CB8AC3E}">
        <p14:creationId xmlns:p14="http://schemas.microsoft.com/office/powerpoint/2010/main" val="9591197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449263" rtl="0" eaLnBrk="0" fontAlgn="base" hangingPunct="0">
        <a:lnSpc>
          <a:spcPct val="103000"/>
        </a:lnSpc>
        <a:spcBef>
          <a:spcPct val="0"/>
        </a:spcBef>
        <a:spcAft>
          <a:spcPct val="0"/>
        </a:spcAft>
        <a:buClr>
          <a:srgbClr val="333399"/>
        </a:buClr>
        <a:buSzPct val="100000"/>
        <a:buFont typeface="Tahoma" pitchFamily="34" charset="0"/>
        <a:defRPr sz="4400">
          <a:solidFill>
            <a:srgbClr val="333399"/>
          </a:solidFill>
          <a:latin typeface="+mj-lt"/>
          <a:ea typeface="+mj-ea"/>
          <a:cs typeface="+mj-cs"/>
        </a:defRPr>
      </a:lvl1pPr>
      <a:lvl2pPr algn="l" defTabSz="449263" rtl="0" eaLnBrk="0" fontAlgn="base" hangingPunct="0">
        <a:lnSpc>
          <a:spcPct val="103000"/>
        </a:lnSpc>
        <a:spcBef>
          <a:spcPct val="0"/>
        </a:spcBef>
        <a:spcAft>
          <a:spcPct val="0"/>
        </a:spcAft>
        <a:buClr>
          <a:srgbClr val="333399"/>
        </a:buClr>
        <a:buSzPct val="100000"/>
        <a:buFont typeface="Tahoma" pitchFamily="34" charset="0"/>
        <a:defRPr sz="4400">
          <a:solidFill>
            <a:srgbClr val="333399"/>
          </a:solidFill>
          <a:latin typeface="Tahoma" pitchFamily="34" charset="0"/>
          <a:ea typeface="新細明體" pitchFamily="18" charset="-120"/>
        </a:defRPr>
      </a:lvl2pPr>
      <a:lvl3pPr algn="l" defTabSz="449263" rtl="0" eaLnBrk="0" fontAlgn="base" hangingPunct="0">
        <a:lnSpc>
          <a:spcPct val="103000"/>
        </a:lnSpc>
        <a:spcBef>
          <a:spcPct val="0"/>
        </a:spcBef>
        <a:spcAft>
          <a:spcPct val="0"/>
        </a:spcAft>
        <a:buClr>
          <a:srgbClr val="333399"/>
        </a:buClr>
        <a:buSzPct val="100000"/>
        <a:buFont typeface="Tahoma" pitchFamily="34" charset="0"/>
        <a:defRPr sz="4400">
          <a:solidFill>
            <a:srgbClr val="333399"/>
          </a:solidFill>
          <a:latin typeface="Tahoma" pitchFamily="34" charset="0"/>
          <a:ea typeface="新細明體" pitchFamily="18" charset="-120"/>
        </a:defRPr>
      </a:lvl3pPr>
      <a:lvl4pPr algn="l" defTabSz="449263" rtl="0" eaLnBrk="0" fontAlgn="base" hangingPunct="0">
        <a:lnSpc>
          <a:spcPct val="103000"/>
        </a:lnSpc>
        <a:spcBef>
          <a:spcPct val="0"/>
        </a:spcBef>
        <a:spcAft>
          <a:spcPct val="0"/>
        </a:spcAft>
        <a:buClr>
          <a:srgbClr val="333399"/>
        </a:buClr>
        <a:buSzPct val="100000"/>
        <a:buFont typeface="Tahoma" pitchFamily="34" charset="0"/>
        <a:defRPr sz="4400">
          <a:solidFill>
            <a:srgbClr val="333399"/>
          </a:solidFill>
          <a:latin typeface="Tahoma" pitchFamily="34" charset="0"/>
          <a:ea typeface="新細明體" pitchFamily="18" charset="-120"/>
        </a:defRPr>
      </a:lvl4pPr>
      <a:lvl5pPr algn="l" defTabSz="449263" rtl="0" eaLnBrk="0" fontAlgn="base" hangingPunct="0">
        <a:lnSpc>
          <a:spcPct val="103000"/>
        </a:lnSpc>
        <a:spcBef>
          <a:spcPct val="0"/>
        </a:spcBef>
        <a:spcAft>
          <a:spcPct val="0"/>
        </a:spcAft>
        <a:buClr>
          <a:srgbClr val="333399"/>
        </a:buClr>
        <a:buSzPct val="100000"/>
        <a:buFont typeface="Tahoma" pitchFamily="34" charset="0"/>
        <a:defRPr sz="4400">
          <a:solidFill>
            <a:srgbClr val="333399"/>
          </a:solidFill>
          <a:latin typeface="Tahoma" pitchFamily="34" charset="0"/>
          <a:ea typeface="新細明體" pitchFamily="18" charset="-120"/>
        </a:defRPr>
      </a:lvl5pPr>
      <a:lvl6pPr marL="457200" algn="l" defTabSz="449263" rtl="0" fontAlgn="base">
        <a:lnSpc>
          <a:spcPct val="103000"/>
        </a:lnSpc>
        <a:spcBef>
          <a:spcPct val="0"/>
        </a:spcBef>
        <a:spcAft>
          <a:spcPct val="0"/>
        </a:spcAft>
        <a:buClr>
          <a:srgbClr val="333399"/>
        </a:buClr>
        <a:buSzPct val="100000"/>
        <a:buFont typeface="Tahoma" pitchFamily="34" charset="0"/>
        <a:defRPr sz="4400">
          <a:solidFill>
            <a:srgbClr val="333399"/>
          </a:solidFill>
          <a:latin typeface="Tahoma" pitchFamily="34" charset="0"/>
          <a:ea typeface="新細明體" pitchFamily="18" charset="-120"/>
        </a:defRPr>
      </a:lvl6pPr>
      <a:lvl7pPr marL="914400" algn="l" defTabSz="449263" rtl="0" fontAlgn="base">
        <a:lnSpc>
          <a:spcPct val="103000"/>
        </a:lnSpc>
        <a:spcBef>
          <a:spcPct val="0"/>
        </a:spcBef>
        <a:spcAft>
          <a:spcPct val="0"/>
        </a:spcAft>
        <a:buClr>
          <a:srgbClr val="333399"/>
        </a:buClr>
        <a:buSzPct val="100000"/>
        <a:buFont typeface="Tahoma" pitchFamily="34" charset="0"/>
        <a:defRPr sz="4400">
          <a:solidFill>
            <a:srgbClr val="333399"/>
          </a:solidFill>
          <a:latin typeface="Tahoma" pitchFamily="34" charset="0"/>
          <a:ea typeface="新細明體" pitchFamily="18" charset="-120"/>
        </a:defRPr>
      </a:lvl7pPr>
      <a:lvl8pPr marL="1371600" algn="l" defTabSz="449263" rtl="0" fontAlgn="base">
        <a:lnSpc>
          <a:spcPct val="103000"/>
        </a:lnSpc>
        <a:spcBef>
          <a:spcPct val="0"/>
        </a:spcBef>
        <a:spcAft>
          <a:spcPct val="0"/>
        </a:spcAft>
        <a:buClr>
          <a:srgbClr val="333399"/>
        </a:buClr>
        <a:buSzPct val="100000"/>
        <a:buFont typeface="Tahoma" pitchFamily="34" charset="0"/>
        <a:defRPr sz="4400">
          <a:solidFill>
            <a:srgbClr val="333399"/>
          </a:solidFill>
          <a:latin typeface="Tahoma" pitchFamily="34" charset="0"/>
          <a:ea typeface="新細明體" pitchFamily="18" charset="-120"/>
        </a:defRPr>
      </a:lvl8pPr>
      <a:lvl9pPr marL="1828800" algn="l" defTabSz="449263" rtl="0" fontAlgn="base">
        <a:lnSpc>
          <a:spcPct val="103000"/>
        </a:lnSpc>
        <a:spcBef>
          <a:spcPct val="0"/>
        </a:spcBef>
        <a:spcAft>
          <a:spcPct val="0"/>
        </a:spcAft>
        <a:buClr>
          <a:srgbClr val="333399"/>
        </a:buClr>
        <a:buSzPct val="100000"/>
        <a:buFont typeface="Tahoma" pitchFamily="34" charset="0"/>
        <a:defRPr sz="4400">
          <a:solidFill>
            <a:srgbClr val="333399"/>
          </a:solidFill>
          <a:latin typeface="Tahoma" pitchFamily="34" charset="0"/>
          <a:ea typeface="新細明體" pitchFamily="18" charset="-120"/>
        </a:defRPr>
      </a:lvl9pPr>
    </p:titleStyle>
    <p:bodyStyle>
      <a:lvl1pPr marL="338138" indent="-338138" algn="l" defTabSz="449263" rtl="0" eaLnBrk="0" fontAlgn="base" hangingPunct="0">
        <a:lnSpc>
          <a:spcPct val="103000"/>
        </a:lnSpc>
        <a:spcBef>
          <a:spcPts val="800"/>
        </a:spcBef>
        <a:spcAft>
          <a:spcPct val="0"/>
        </a:spcAft>
        <a:buClr>
          <a:srgbClr val="3333CC"/>
        </a:buClr>
        <a:buSzPct val="60000"/>
        <a:buFont typeface="Wingdings" pitchFamily="2" charset="2"/>
        <a:buChar char=""/>
        <a:defRPr sz="3200">
          <a:solidFill>
            <a:srgbClr val="000000"/>
          </a:solidFill>
          <a:latin typeface="+mn-lt"/>
          <a:ea typeface="+mn-ea"/>
          <a:cs typeface="+mn-cs"/>
        </a:defRPr>
      </a:lvl1pPr>
      <a:lvl2pPr marL="738188" indent="-280988" algn="l" defTabSz="449263" rtl="0" eaLnBrk="0" fontAlgn="base" hangingPunct="0">
        <a:lnSpc>
          <a:spcPct val="103000"/>
        </a:lnSpc>
        <a:spcBef>
          <a:spcPts val="700"/>
        </a:spcBef>
        <a:spcAft>
          <a:spcPct val="0"/>
        </a:spcAft>
        <a:buClr>
          <a:srgbClr val="FF0000"/>
        </a:buClr>
        <a:buSzPct val="55000"/>
        <a:buFont typeface="Wingdings" pitchFamily="2" charset="2"/>
        <a:buChar char=""/>
        <a:defRPr sz="2800">
          <a:solidFill>
            <a:srgbClr val="000000"/>
          </a:solidFill>
          <a:latin typeface="+mn-lt"/>
          <a:ea typeface="+mn-ea"/>
        </a:defRPr>
      </a:lvl2pPr>
      <a:lvl3pPr marL="1143000" indent="-228600" algn="l" defTabSz="449263" rtl="0" eaLnBrk="0" fontAlgn="base" hangingPunct="0">
        <a:lnSpc>
          <a:spcPct val="103000"/>
        </a:lnSpc>
        <a:spcBef>
          <a:spcPts val="600"/>
        </a:spcBef>
        <a:spcAft>
          <a:spcPct val="0"/>
        </a:spcAft>
        <a:buClr>
          <a:srgbClr val="3333CC"/>
        </a:buClr>
        <a:buSzPct val="50000"/>
        <a:buFont typeface="Wingdings" pitchFamily="2" charset="2"/>
        <a:buChar char=""/>
        <a:defRPr sz="2400">
          <a:solidFill>
            <a:srgbClr val="000000"/>
          </a:solidFill>
          <a:latin typeface="+mn-lt"/>
          <a:ea typeface="+mn-ea"/>
        </a:defRPr>
      </a:lvl3pPr>
      <a:lvl4pPr marL="1600200" indent="-228600" algn="l" defTabSz="449263" rtl="0" eaLnBrk="0" fontAlgn="base" hangingPunct="0">
        <a:lnSpc>
          <a:spcPct val="103000"/>
        </a:lnSpc>
        <a:spcBef>
          <a:spcPts val="500"/>
        </a:spcBef>
        <a:spcAft>
          <a:spcPct val="0"/>
        </a:spcAft>
        <a:buClr>
          <a:srgbClr val="FFCF01"/>
        </a:buClr>
        <a:buSzPct val="55000"/>
        <a:buFont typeface="Wingdings" pitchFamily="2" charset="2"/>
        <a:buChar char=""/>
        <a:defRPr sz="2000">
          <a:solidFill>
            <a:srgbClr val="000000"/>
          </a:solidFill>
          <a:latin typeface="+mn-lt"/>
          <a:ea typeface="+mn-ea"/>
        </a:defRPr>
      </a:lvl4pPr>
      <a:lvl5pPr marL="2057400" indent="-228600" algn="l" defTabSz="449263" rtl="0" eaLnBrk="0" fontAlgn="base" hangingPunct="0">
        <a:lnSpc>
          <a:spcPct val="103000"/>
        </a:lnSpc>
        <a:spcBef>
          <a:spcPts val="500"/>
        </a:spcBef>
        <a:spcAft>
          <a:spcPct val="0"/>
        </a:spcAft>
        <a:buClr>
          <a:srgbClr val="FFCF01"/>
        </a:buClr>
        <a:buSzPct val="50000"/>
        <a:buFont typeface="Wingdings" pitchFamily="2" charset="2"/>
        <a:buChar char=""/>
        <a:defRPr sz="2000">
          <a:solidFill>
            <a:srgbClr val="000000"/>
          </a:solidFill>
          <a:latin typeface="+mn-lt"/>
          <a:ea typeface="+mn-ea"/>
        </a:defRPr>
      </a:lvl5pPr>
      <a:lvl6pPr marL="2514600" indent="-228600" algn="l" defTabSz="449263" rtl="0" fontAlgn="base">
        <a:lnSpc>
          <a:spcPct val="103000"/>
        </a:lnSpc>
        <a:spcBef>
          <a:spcPts val="500"/>
        </a:spcBef>
        <a:spcAft>
          <a:spcPct val="0"/>
        </a:spcAft>
        <a:buClr>
          <a:srgbClr val="FFCF01"/>
        </a:buClr>
        <a:buSzPct val="50000"/>
        <a:buFont typeface="Wingdings" pitchFamily="2" charset="2"/>
        <a:buChar char=""/>
        <a:defRPr sz="2000">
          <a:solidFill>
            <a:srgbClr val="000000"/>
          </a:solidFill>
          <a:latin typeface="+mn-lt"/>
          <a:ea typeface="+mn-ea"/>
        </a:defRPr>
      </a:lvl6pPr>
      <a:lvl7pPr marL="2971800" indent="-228600" algn="l" defTabSz="449263" rtl="0" fontAlgn="base">
        <a:lnSpc>
          <a:spcPct val="103000"/>
        </a:lnSpc>
        <a:spcBef>
          <a:spcPts val="500"/>
        </a:spcBef>
        <a:spcAft>
          <a:spcPct val="0"/>
        </a:spcAft>
        <a:buClr>
          <a:srgbClr val="FFCF01"/>
        </a:buClr>
        <a:buSzPct val="50000"/>
        <a:buFont typeface="Wingdings" pitchFamily="2" charset="2"/>
        <a:buChar char=""/>
        <a:defRPr sz="2000">
          <a:solidFill>
            <a:srgbClr val="000000"/>
          </a:solidFill>
          <a:latin typeface="+mn-lt"/>
          <a:ea typeface="+mn-ea"/>
        </a:defRPr>
      </a:lvl7pPr>
      <a:lvl8pPr marL="3429000" indent="-228600" algn="l" defTabSz="449263" rtl="0" fontAlgn="base">
        <a:lnSpc>
          <a:spcPct val="103000"/>
        </a:lnSpc>
        <a:spcBef>
          <a:spcPts val="500"/>
        </a:spcBef>
        <a:spcAft>
          <a:spcPct val="0"/>
        </a:spcAft>
        <a:buClr>
          <a:srgbClr val="FFCF01"/>
        </a:buClr>
        <a:buSzPct val="50000"/>
        <a:buFont typeface="Wingdings" pitchFamily="2" charset="2"/>
        <a:buChar char=""/>
        <a:defRPr sz="2000">
          <a:solidFill>
            <a:srgbClr val="000000"/>
          </a:solidFill>
          <a:latin typeface="+mn-lt"/>
          <a:ea typeface="+mn-ea"/>
        </a:defRPr>
      </a:lvl8pPr>
      <a:lvl9pPr marL="3886200" indent="-228600" algn="l" defTabSz="449263" rtl="0" fontAlgn="base">
        <a:lnSpc>
          <a:spcPct val="103000"/>
        </a:lnSpc>
        <a:spcBef>
          <a:spcPts val="500"/>
        </a:spcBef>
        <a:spcAft>
          <a:spcPct val="0"/>
        </a:spcAft>
        <a:buClr>
          <a:srgbClr val="FFCF01"/>
        </a:buClr>
        <a:buSzPct val="50000"/>
        <a:buFont typeface="Wingdings" pitchFamily="2" charset="2"/>
        <a:buChar char=""/>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F62A9-A2B6-4446-AEF8-F2DCA907F27E}" type="datetimeFigureOut">
              <a:rPr lang="en-IN" smtClean="0">
                <a:solidFill>
                  <a:prstClr val="black">
                    <a:tint val="75000"/>
                  </a:prstClr>
                </a:solidFill>
              </a:rPr>
              <a:pPr/>
              <a:t>31-05-2023</a:t>
            </a:fld>
            <a:endParaRPr lang="en-IN">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B9D695-E106-4CA1-ADCE-2F7FE982632F}"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61149425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3.wmf"/><Relationship Id="rId4" Type="http://schemas.openxmlformats.org/officeDocument/2006/relationships/oleObject" Target="../embeddings/oleObject1.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6.wmf"/><Relationship Id="rId4" Type="http://schemas.openxmlformats.org/officeDocument/2006/relationships/oleObject" Target="../embeddings/oleObject3.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6600" b="1" dirty="0" smtClean="0">
                <a:solidFill>
                  <a:srgbClr val="FF0000"/>
                </a:solidFill>
              </a:rPr>
              <a:t>Hashing Techniques </a:t>
            </a:r>
            <a:endParaRPr lang="en-IN" sz="6600" b="1" dirty="0">
              <a:solidFill>
                <a:srgbClr val="FF0000"/>
              </a:solidFill>
            </a:endParaRPr>
          </a:p>
        </p:txBody>
      </p:sp>
    </p:spTree>
    <p:extLst>
      <p:ext uri="{BB962C8B-B14F-4D97-AF65-F5344CB8AC3E}">
        <p14:creationId xmlns:p14="http://schemas.microsoft.com/office/powerpoint/2010/main" val="37912659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idx="4294967295"/>
          </p:nvPr>
        </p:nvSpPr>
        <p:spPr>
          <a:xfrm>
            <a:off x="1150938" y="214313"/>
            <a:ext cx="7789862" cy="1463675"/>
          </a:xfrm>
        </p:spPr>
        <p:txBody>
          <a:bodyP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b="1" dirty="0" smtClean="0"/>
              <a:t>Origins of the Term</a:t>
            </a:r>
          </a:p>
        </p:txBody>
      </p:sp>
      <p:sp>
        <p:nvSpPr>
          <p:cNvPr id="9219" name="Rectangle 2"/>
          <p:cNvSpPr>
            <a:spLocks noGrp="1" noChangeArrowheads="1"/>
          </p:cNvSpPr>
          <p:nvPr>
            <p:ph type="body" idx="4294967295"/>
          </p:nvPr>
        </p:nvSpPr>
        <p:spPr>
          <a:xfrm>
            <a:off x="467544" y="2017713"/>
            <a:ext cx="8484369" cy="3608552"/>
          </a:xfrm>
        </p:spPr>
        <p:txBody>
          <a:bodyPr wrap="square">
            <a:spAutoFit/>
          </a:bodyPr>
          <a:lstStyle/>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The term "</a:t>
            </a:r>
            <a:r>
              <a:rPr lang="en-GB" altLang="zh-TW" dirty="0" smtClean="0">
                <a:solidFill>
                  <a:srgbClr val="3333CC"/>
                </a:solidFill>
              </a:rPr>
              <a:t>hash</a:t>
            </a:r>
            <a:r>
              <a:rPr lang="en-GB" altLang="zh-TW" dirty="0" smtClean="0"/>
              <a:t>" comes by way of analogy with its standard meaning in the physical world, to "</a:t>
            </a:r>
            <a:r>
              <a:rPr lang="en-GB" altLang="zh-TW" dirty="0" smtClean="0">
                <a:solidFill>
                  <a:srgbClr val="FF0000"/>
                </a:solidFill>
              </a:rPr>
              <a:t>chop and mix</a:t>
            </a:r>
            <a:r>
              <a:rPr lang="en-GB" altLang="zh-TW" dirty="0" smtClean="0"/>
              <a:t>.” </a:t>
            </a:r>
            <a:r>
              <a:rPr lang="en-GB" altLang="zh-TW" b="1" u="sng" dirty="0" smtClean="0"/>
              <a:t>D. Knuth</a:t>
            </a:r>
            <a:r>
              <a:rPr lang="en-GB" altLang="zh-TW" dirty="0" smtClean="0"/>
              <a:t> notes that </a:t>
            </a:r>
            <a:r>
              <a:rPr lang="en-GB" altLang="zh-TW" b="1" u="sng" dirty="0" smtClean="0"/>
              <a:t>Hans Peter </a:t>
            </a:r>
            <a:r>
              <a:rPr lang="en-GB" altLang="zh-TW" b="1" u="sng" dirty="0" err="1" smtClean="0"/>
              <a:t>Luhn</a:t>
            </a:r>
            <a:r>
              <a:rPr lang="en-GB" altLang="zh-TW" dirty="0" smtClean="0"/>
              <a:t> of IBM appears to have been the first to use the concept, in a memo dated January 1953; the term </a:t>
            </a:r>
            <a:r>
              <a:rPr lang="en-GB" altLang="zh-TW" dirty="0" smtClean="0">
                <a:solidFill>
                  <a:srgbClr val="3333CC"/>
                </a:solidFill>
              </a:rPr>
              <a:t>hash</a:t>
            </a:r>
            <a:r>
              <a:rPr lang="en-GB" altLang="zh-TW" dirty="0" smtClean="0"/>
              <a:t> came into use some ten years later.</a:t>
            </a:r>
          </a:p>
        </p:txBody>
      </p:sp>
    </p:spTree>
    <p:extLst>
      <p:ext uri="{BB962C8B-B14F-4D97-AF65-F5344CB8AC3E}">
        <p14:creationId xmlns:p14="http://schemas.microsoft.com/office/powerpoint/2010/main" val="36423507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6"/>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EB11A529-0A97-46CE-A18C-DF13BCCE0CD1}" type="slidenum">
              <a:rPr lang="en-US" sz="1400">
                <a:solidFill>
                  <a:prstClr val="black"/>
                </a:solidFill>
              </a:rPr>
              <a:pPr eaLnBrk="1" hangingPunct="1"/>
              <a:t>3</a:t>
            </a:fld>
            <a:endParaRPr lang="en-US" sz="1400">
              <a:solidFill>
                <a:prstClr val="black"/>
              </a:solidFill>
            </a:endParaRPr>
          </a:p>
        </p:txBody>
      </p:sp>
      <p:sp>
        <p:nvSpPr>
          <p:cNvPr id="3075" name="Rectangle 2"/>
          <p:cNvSpPr>
            <a:spLocks noGrp="1" noChangeArrowheads="1"/>
          </p:cNvSpPr>
          <p:nvPr>
            <p:ph type="title"/>
          </p:nvPr>
        </p:nvSpPr>
        <p:spPr>
          <a:xfrm>
            <a:off x="609600" y="533400"/>
            <a:ext cx="7772400" cy="1143000"/>
          </a:xfrm>
        </p:spPr>
        <p:txBody>
          <a:bodyPr/>
          <a:lstStyle/>
          <a:p>
            <a:pPr eaLnBrk="1" hangingPunct="1"/>
            <a:r>
              <a:rPr lang="en-US" smtClean="0"/>
              <a:t>Dictionary &amp; Search ADTs</a:t>
            </a:r>
          </a:p>
        </p:txBody>
      </p:sp>
      <p:sp>
        <p:nvSpPr>
          <p:cNvPr id="3076" name="Rectangle 3"/>
          <p:cNvSpPr>
            <a:spLocks noGrp="1" noChangeArrowheads="1"/>
          </p:cNvSpPr>
          <p:nvPr>
            <p:ph type="body" sz="half" idx="1"/>
          </p:nvPr>
        </p:nvSpPr>
        <p:spPr>
          <a:xfrm>
            <a:off x="685800" y="1600200"/>
            <a:ext cx="6934200" cy="4637112"/>
          </a:xfrm>
        </p:spPr>
        <p:txBody>
          <a:bodyPr>
            <a:normAutofit fontScale="92500" lnSpcReduction="10000"/>
          </a:bodyPr>
          <a:lstStyle/>
          <a:p>
            <a:pPr eaLnBrk="1" hangingPunct="1">
              <a:lnSpc>
                <a:spcPct val="90000"/>
              </a:lnSpc>
            </a:pPr>
            <a:r>
              <a:rPr lang="en-US" sz="2400" dirty="0" smtClean="0"/>
              <a:t>Operations</a:t>
            </a:r>
          </a:p>
          <a:p>
            <a:pPr lvl="1" eaLnBrk="1" hangingPunct="1">
              <a:lnSpc>
                <a:spcPct val="90000"/>
              </a:lnSpc>
            </a:pPr>
            <a:r>
              <a:rPr lang="en-US" sz="2000" dirty="0" smtClean="0"/>
              <a:t>create</a:t>
            </a:r>
          </a:p>
          <a:p>
            <a:pPr lvl="1" eaLnBrk="1" hangingPunct="1">
              <a:lnSpc>
                <a:spcPct val="90000"/>
              </a:lnSpc>
            </a:pPr>
            <a:r>
              <a:rPr lang="en-US" sz="2000" dirty="0" smtClean="0"/>
              <a:t>destroy</a:t>
            </a:r>
          </a:p>
          <a:p>
            <a:pPr lvl="1" eaLnBrk="1" hangingPunct="1">
              <a:lnSpc>
                <a:spcPct val="90000"/>
              </a:lnSpc>
            </a:pPr>
            <a:r>
              <a:rPr lang="en-US" sz="2000" dirty="0" smtClean="0">
                <a:solidFill>
                  <a:srgbClr val="FF0000"/>
                </a:solidFill>
              </a:rPr>
              <a:t>insert</a:t>
            </a:r>
          </a:p>
          <a:p>
            <a:pPr lvl="1" eaLnBrk="1" hangingPunct="1">
              <a:lnSpc>
                <a:spcPct val="90000"/>
              </a:lnSpc>
            </a:pPr>
            <a:r>
              <a:rPr lang="en-US" sz="2000" dirty="0" smtClean="0">
                <a:solidFill>
                  <a:srgbClr val="FF0000"/>
                </a:solidFill>
              </a:rPr>
              <a:t>find</a:t>
            </a:r>
          </a:p>
          <a:p>
            <a:pPr lvl="1" eaLnBrk="1" hangingPunct="1">
              <a:lnSpc>
                <a:spcPct val="90000"/>
              </a:lnSpc>
            </a:pPr>
            <a:r>
              <a:rPr lang="en-US" sz="2000" dirty="0" smtClean="0">
                <a:solidFill>
                  <a:srgbClr val="FF0000"/>
                </a:solidFill>
              </a:rPr>
              <a:t>delete</a:t>
            </a:r>
          </a:p>
          <a:p>
            <a:pPr eaLnBrk="1" hangingPunct="1">
              <a:lnSpc>
                <a:spcPct val="90000"/>
              </a:lnSpc>
            </a:pPr>
            <a:endParaRPr lang="en-US" sz="2400" dirty="0" smtClean="0"/>
          </a:p>
          <a:p>
            <a:pPr eaLnBrk="1" hangingPunct="1">
              <a:lnSpc>
                <a:spcPct val="90000"/>
              </a:lnSpc>
            </a:pPr>
            <a:endParaRPr lang="en-US" sz="2400" dirty="0"/>
          </a:p>
          <a:p>
            <a:pPr eaLnBrk="1" hangingPunct="1">
              <a:lnSpc>
                <a:spcPct val="90000"/>
              </a:lnSpc>
            </a:pPr>
            <a:endParaRPr lang="en-US" sz="2400" dirty="0" smtClean="0"/>
          </a:p>
          <a:p>
            <a:pPr eaLnBrk="1" hangingPunct="1">
              <a:lnSpc>
                <a:spcPct val="90000"/>
              </a:lnSpc>
            </a:pPr>
            <a:r>
              <a:rPr lang="en-US" sz="2400" dirty="0" smtClean="0">
                <a:solidFill>
                  <a:schemeClr val="accent2"/>
                </a:solidFill>
              </a:rPr>
              <a:t>Dictionary</a:t>
            </a:r>
            <a:r>
              <a:rPr lang="en-US" sz="2400" dirty="0" smtClean="0"/>
              <a:t>:  Stores </a:t>
            </a:r>
            <a:r>
              <a:rPr lang="en-US" sz="2400" i="1" dirty="0" smtClean="0">
                <a:solidFill>
                  <a:srgbClr val="339933"/>
                </a:solidFill>
              </a:rPr>
              <a:t>values</a:t>
            </a:r>
            <a:r>
              <a:rPr lang="en-US" sz="2400" dirty="0" smtClean="0"/>
              <a:t> associated with user-specified </a:t>
            </a:r>
            <a:r>
              <a:rPr lang="en-US" sz="2400" i="1" dirty="0" smtClean="0">
                <a:solidFill>
                  <a:srgbClr val="9900CC"/>
                </a:solidFill>
              </a:rPr>
              <a:t>keys</a:t>
            </a:r>
            <a:endParaRPr lang="en-US" sz="2400" dirty="0" smtClean="0"/>
          </a:p>
          <a:p>
            <a:pPr lvl="1" eaLnBrk="1" hangingPunct="1">
              <a:lnSpc>
                <a:spcPct val="90000"/>
              </a:lnSpc>
            </a:pPr>
            <a:r>
              <a:rPr lang="en-US" sz="2000" dirty="0" smtClean="0">
                <a:solidFill>
                  <a:srgbClr val="9900CC"/>
                </a:solidFill>
              </a:rPr>
              <a:t>keys</a:t>
            </a:r>
            <a:r>
              <a:rPr lang="en-US" sz="2000" dirty="0" smtClean="0"/>
              <a:t> may be any (homogenous) comparable type</a:t>
            </a:r>
          </a:p>
          <a:p>
            <a:pPr lvl="1" eaLnBrk="1" hangingPunct="1">
              <a:lnSpc>
                <a:spcPct val="90000"/>
              </a:lnSpc>
            </a:pPr>
            <a:r>
              <a:rPr lang="en-US" sz="2000" dirty="0" smtClean="0">
                <a:solidFill>
                  <a:srgbClr val="339933"/>
                </a:solidFill>
              </a:rPr>
              <a:t>values</a:t>
            </a:r>
            <a:r>
              <a:rPr lang="en-US" sz="2000" dirty="0" smtClean="0"/>
              <a:t> may be any (homogenous) type</a:t>
            </a:r>
          </a:p>
          <a:p>
            <a:pPr lvl="1" eaLnBrk="1" hangingPunct="1">
              <a:lnSpc>
                <a:spcPct val="90000"/>
              </a:lnSpc>
            </a:pPr>
            <a:r>
              <a:rPr lang="en-US" sz="2000" dirty="0" smtClean="0"/>
              <a:t>implementation: data field is a </a:t>
            </a:r>
            <a:r>
              <a:rPr lang="en-US" sz="2000" dirty="0" err="1" smtClean="0"/>
              <a:t>struct</a:t>
            </a:r>
            <a:r>
              <a:rPr lang="en-US" sz="2000" dirty="0" smtClean="0"/>
              <a:t> with two parts</a:t>
            </a:r>
          </a:p>
          <a:p>
            <a:pPr eaLnBrk="1" hangingPunct="1">
              <a:lnSpc>
                <a:spcPct val="90000"/>
              </a:lnSpc>
            </a:pPr>
            <a:r>
              <a:rPr lang="en-US" sz="2400" dirty="0" smtClean="0">
                <a:solidFill>
                  <a:srgbClr val="FF0000"/>
                </a:solidFill>
              </a:rPr>
              <a:t>Search ADT:  keys = values</a:t>
            </a:r>
          </a:p>
          <a:p>
            <a:pPr lvl="1" eaLnBrk="1" hangingPunct="1">
              <a:lnSpc>
                <a:spcPct val="90000"/>
              </a:lnSpc>
            </a:pPr>
            <a:endParaRPr lang="en-US" sz="2000" dirty="0" smtClean="0">
              <a:solidFill>
                <a:srgbClr val="FF0000"/>
              </a:solidFill>
            </a:endParaRPr>
          </a:p>
        </p:txBody>
      </p:sp>
      <p:sp>
        <p:nvSpPr>
          <p:cNvPr id="3077" name="Rectangle 4"/>
          <p:cNvSpPr>
            <a:spLocks noGrp="1" noChangeArrowheads="1"/>
          </p:cNvSpPr>
          <p:nvPr>
            <p:ph type="body" sz="half" idx="2"/>
          </p:nvPr>
        </p:nvSpPr>
        <p:spPr>
          <a:xfrm>
            <a:off x="4876800" y="1676400"/>
            <a:ext cx="3276600" cy="2209800"/>
          </a:xfrm>
          <a:ln w="12700">
            <a:solidFill>
              <a:schemeClr val="accent2"/>
            </a:solidFill>
            <a:miter lim="800000"/>
            <a:headEnd/>
            <a:tailEnd/>
          </a:ln>
        </p:spPr>
        <p:txBody>
          <a:bodyPr/>
          <a:lstStyle/>
          <a:p>
            <a:pPr marL="457200" indent="-457200" eaLnBrk="1" hangingPunct="1"/>
            <a:r>
              <a:rPr lang="en-US" sz="2000" smtClean="0">
                <a:solidFill>
                  <a:srgbClr val="9900CC"/>
                </a:solidFill>
              </a:rPr>
              <a:t>kim chi</a:t>
            </a:r>
            <a:endParaRPr lang="en-US" sz="2000" smtClean="0">
              <a:solidFill>
                <a:schemeClr val="accent2"/>
              </a:solidFill>
            </a:endParaRPr>
          </a:p>
          <a:p>
            <a:pPr marL="838200" lvl="1" indent="-381000" eaLnBrk="1" hangingPunct="1"/>
            <a:r>
              <a:rPr lang="en-US" sz="1800" smtClean="0">
                <a:solidFill>
                  <a:srgbClr val="339933"/>
                </a:solidFill>
              </a:rPr>
              <a:t>spicy cabbage</a:t>
            </a:r>
            <a:endParaRPr lang="en-US" sz="1800" smtClean="0">
              <a:solidFill>
                <a:schemeClr val="accent2"/>
              </a:solidFill>
            </a:endParaRPr>
          </a:p>
          <a:p>
            <a:pPr marL="457200" indent="-457200" eaLnBrk="1" hangingPunct="1"/>
            <a:r>
              <a:rPr lang="en-US" sz="2000" smtClean="0">
                <a:solidFill>
                  <a:srgbClr val="9900CC"/>
                </a:solidFill>
              </a:rPr>
              <a:t>kreplach</a:t>
            </a:r>
            <a:endParaRPr lang="en-US" sz="2000" smtClean="0">
              <a:solidFill>
                <a:schemeClr val="accent2"/>
              </a:solidFill>
            </a:endParaRPr>
          </a:p>
          <a:p>
            <a:pPr marL="838200" lvl="1" indent="-381000" eaLnBrk="1" hangingPunct="1"/>
            <a:r>
              <a:rPr lang="en-US" sz="1800" smtClean="0">
                <a:solidFill>
                  <a:srgbClr val="339933"/>
                </a:solidFill>
              </a:rPr>
              <a:t>tasty stuffed dough</a:t>
            </a:r>
            <a:endParaRPr lang="en-US" sz="1800" smtClean="0">
              <a:solidFill>
                <a:schemeClr val="accent2"/>
              </a:solidFill>
            </a:endParaRPr>
          </a:p>
          <a:p>
            <a:pPr marL="457200" indent="-457200" eaLnBrk="1" hangingPunct="1"/>
            <a:r>
              <a:rPr lang="en-US" sz="2000" smtClean="0">
                <a:solidFill>
                  <a:srgbClr val="9900CC"/>
                </a:solidFill>
              </a:rPr>
              <a:t>kiwi</a:t>
            </a:r>
            <a:endParaRPr lang="en-US" sz="2000" smtClean="0">
              <a:solidFill>
                <a:schemeClr val="accent2"/>
              </a:solidFill>
            </a:endParaRPr>
          </a:p>
          <a:p>
            <a:pPr marL="838200" lvl="1" indent="-381000" eaLnBrk="1" hangingPunct="1"/>
            <a:r>
              <a:rPr lang="en-US" sz="1800" smtClean="0">
                <a:solidFill>
                  <a:srgbClr val="339933"/>
                </a:solidFill>
              </a:rPr>
              <a:t>Australian fruit</a:t>
            </a:r>
            <a:endParaRPr lang="en-US" sz="1800" smtClean="0">
              <a:solidFill>
                <a:schemeClr val="accent2"/>
              </a:solidFill>
            </a:endParaRPr>
          </a:p>
          <a:p>
            <a:pPr marL="457200" indent="-457200" eaLnBrk="1" hangingPunct="1"/>
            <a:endParaRPr lang="en-US" sz="2000" smtClean="0">
              <a:solidFill>
                <a:schemeClr val="accent2"/>
              </a:solidFill>
            </a:endParaRPr>
          </a:p>
          <a:p>
            <a:pPr marL="838200" lvl="1" indent="-381000" eaLnBrk="1" hangingPunct="1"/>
            <a:endParaRPr lang="en-US" sz="1800" smtClean="0">
              <a:solidFill>
                <a:schemeClr val="accent2"/>
              </a:solidFill>
            </a:endParaRPr>
          </a:p>
        </p:txBody>
      </p:sp>
      <p:sp>
        <p:nvSpPr>
          <p:cNvPr id="3078" name="Line 5"/>
          <p:cNvSpPr>
            <a:spLocks noChangeShapeType="1"/>
          </p:cNvSpPr>
          <p:nvPr/>
        </p:nvSpPr>
        <p:spPr bwMode="auto">
          <a:xfrm>
            <a:off x="2667000" y="2438400"/>
            <a:ext cx="2209800" cy="1588"/>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solidFill>
                <a:prstClr val="black"/>
              </a:solidFill>
            </a:endParaRPr>
          </a:p>
        </p:txBody>
      </p:sp>
      <p:sp>
        <p:nvSpPr>
          <p:cNvPr id="3079" name="Text Box 6"/>
          <p:cNvSpPr txBox="1">
            <a:spLocks noChangeArrowheads="1"/>
          </p:cNvSpPr>
          <p:nvPr/>
        </p:nvSpPr>
        <p:spPr bwMode="auto">
          <a:xfrm>
            <a:off x="3521075" y="2106613"/>
            <a:ext cx="746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r>
              <a:rPr lang="en-US" sz="2000">
                <a:solidFill>
                  <a:srgbClr val="C0504D"/>
                </a:solidFill>
              </a:rPr>
              <a:t>insert</a:t>
            </a:r>
          </a:p>
        </p:txBody>
      </p:sp>
      <p:sp>
        <p:nvSpPr>
          <p:cNvPr id="3080" name="Line 7"/>
          <p:cNvSpPr>
            <a:spLocks noChangeShapeType="1"/>
          </p:cNvSpPr>
          <p:nvPr/>
        </p:nvSpPr>
        <p:spPr bwMode="auto">
          <a:xfrm flipH="1">
            <a:off x="2667000" y="3505200"/>
            <a:ext cx="2209800" cy="1588"/>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solidFill>
                <a:prstClr val="black"/>
              </a:solidFill>
            </a:endParaRPr>
          </a:p>
        </p:txBody>
      </p:sp>
      <p:sp>
        <p:nvSpPr>
          <p:cNvPr id="3081" name="Text Box 8"/>
          <p:cNvSpPr txBox="1">
            <a:spLocks noChangeArrowheads="1"/>
          </p:cNvSpPr>
          <p:nvPr/>
        </p:nvSpPr>
        <p:spPr bwMode="auto">
          <a:xfrm>
            <a:off x="3270250" y="3184525"/>
            <a:ext cx="16335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r>
              <a:rPr lang="en-US" sz="2000">
                <a:solidFill>
                  <a:srgbClr val="C0504D"/>
                </a:solidFill>
              </a:rPr>
              <a:t>find(</a:t>
            </a:r>
            <a:r>
              <a:rPr lang="en-US" sz="2000">
                <a:solidFill>
                  <a:srgbClr val="9900CC"/>
                </a:solidFill>
              </a:rPr>
              <a:t>kreplach</a:t>
            </a:r>
            <a:r>
              <a:rPr lang="en-US" sz="2000">
                <a:solidFill>
                  <a:srgbClr val="C0504D"/>
                </a:solidFill>
              </a:rPr>
              <a:t>)</a:t>
            </a:r>
          </a:p>
        </p:txBody>
      </p:sp>
      <p:sp>
        <p:nvSpPr>
          <p:cNvPr id="3082" name="Rectangle 9"/>
          <p:cNvSpPr>
            <a:spLocks noChangeArrowheads="1"/>
          </p:cNvSpPr>
          <p:nvPr/>
        </p:nvSpPr>
        <p:spPr bwMode="auto">
          <a:xfrm>
            <a:off x="2743200" y="2514600"/>
            <a:ext cx="21336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buFontTx/>
              <a:buChar char="•"/>
            </a:pPr>
            <a:r>
              <a:rPr lang="en-US" sz="1400">
                <a:solidFill>
                  <a:srgbClr val="C0504D"/>
                </a:solidFill>
              </a:rPr>
              <a:t>kohlrabi</a:t>
            </a:r>
            <a:endParaRPr lang="en-US" sz="1400">
              <a:solidFill>
                <a:srgbClr val="9900CC"/>
              </a:solidFill>
            </a:endParaRPr>
          </a:p>
          <a:p>
            <a:pPr eaLnBrk="0" hangingPunct="0"/>
            <a:r>
              <a:rPr lang="en-US" sz="1400">
                <a:solidFill>
                  <a:srgbClr val="C0504D"/>
                </a:solidFill>
              </a:rPr>
              <a:t>   - </a:t>
            </a:r>
            <a:r>
              <a:rPr lang="en-US" sz="1400">
                <a:solidFill>
                  <a:srgbClr val="008000"/>
                </a:solidFill>
              </a:rPr>
              <a:t>upscale tuber</a:t>
            </a:r>
            <a:endParaRPr lang="en-US" sz="1200">
              <a:solidFill>
                <a:srgbClr val="008000"/>
              </a:solidFill>
            </a:endParaRPr>
          </a:p>
        </p:txBody>
      </p:sp>
      <p:sp>
        <p:nvSpPr>
          <p:cNvPr id="3083" name="Rectangle 10"/>
          <p:cNvSpPr>
            <a:spLocks noChangeArrowheads="1"/>
          </p:cNvSpPr>
          <p:nvPr/>
        </p:nvSpPr>
        <p:spPr bwMode="auto">
          <a:xfrm>
            <a:off x="2286000" y="3581400"/>
            <a:ext cx="18288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buFontTx/>
              <a:buChar char="•"/>
            </a:pPr>
            <a:r>
              <a:rPr lang="en-US" sz="1400">
                <a:solidFill>
                  <a:srgbClr val="C0504D"/>
                </a:solidFill>
              </a:rPr>
              <a:t> </a:t>
            </a:r>
            <a:r>
              <a:rPr lang="en-US" sz="1400">
                <a:solidFill>
                  <a:srgbClr val="9900CC"/>
                </a:solidFill>
              </a:rPr>
              <a:t>kreplach</a:t>
            </a:r>
          </a:p>
          <a:p>
            <a:pPr eaLnBrk="0" hangingPunct="0"/>
            <a:r>
              <a:rPr lang="en-US" sz="1400">
                <a:solidFill>
                  <a:srgbClr val="C0504D"/>
                </a:solidFill>
              </a:rPr>
              <a:t>    - </a:t>
            </a:r>
            <a:r>
              <a:rPr lang="en-US" sz="1400">
                <a:solidFill>
                  <a:srgbClr val="008000"/>
                </a:solidFill>
              </a:rPr>
              <a:t>tasty stuffed dough</a:t>
            </a:r>
            <a:endParaRPr lang="en-US" sz="1400">
              <a:solidFill>
                <a:srgbClr val="008000"/>
              </a:solidFill>
              <a:latin typeface="Georgia" pitchFamily="18" charset="0"/>
            </a:endParaRPr>
          </a:p>
          <a:p>
            <a:pPr eaLnBrk="0" hangingPunct="0"/>
            <a:endParaRPr lang="en-US" sz="1400">
              <a:solidFill>
                <a:srgbClr val="C0504D"/>
              </a:solidFill>
            </a:endParaRPr>
          </a:p>
        </p:txBody>
      </p:sp>
    </p:spTree>
    <p:extLst>
      <p:ext uri="{BB962C8B-B14F-4D97-AF65-F5344CB8AC3E}">
        <p14:creationId xmlns:p14="http://schemas.microsoft.com/office/powerpoint/2010/main" val="9756119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IN" dirty="0"/>
          </a:p>
        </p:txBody>
      </p:sp>
      <p:sp>
        <p:nvSpPr>
          <p:cNvPr id="4" name="Text Box 3"/>
          <p:cNvSpPr txBox="1">
            <a:spLocks noChangeArrowheads="1"/>
          </p:cNvSpPr>
          <p:nvPr/>
        </p:nvSpPr>
        <p:spPr bwMode="auto">
          <a:xfrm>
            <a:off x="304800" y="990600"/>
            <a:ext cx="838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dirty="0">
                <a:solidFill>
                  <a:prstClr val="black"/>
                </a:solidFill>
                <a:latin typeface="Calibri"/>
              </a:rPr>
              <a:t>Time taken for a search depends on the </a:t>
            </a:r>
            <a:r>
              <a:rPr lang="en-US" sz="2400" b="1" dirty="0">
                <a:solidFill>
                  <a:srgbClr val="FF0000"/>
                </a:solidFill>
                <a:latin typeface="Calibri"/>
              </a:rPr>
              <a:t>size of the collection</a:t>
            </a:r>
          </a:p>
        </p:txBody>
      </p:sp>
      <p:sp>
        <p:nvSpPr>
          <p:cNvPr id="5" name="Text Box 4"/>
          <p:cNvSpPr txBox="1">
            <a:spLocks noChangeArrowheads="1"/>
          </p:cNvSpPr>
          <p:nvPr/>
        </p:nvSpPr>
        <p:spPr bwMode="auto">
          <a:xfrm>
            <a:off x="971600" y="2065194"/>
            <a:ext cx="67214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buFont typeface="Wingdings" pitchFamily="2" charset="2"/>
              <a:buChar char="Ø"/>
            </a:pPr>
            <a:r>
              <a:rPr lang="en-US" sz="2400" dirty="0">
                <a:solidFill>
                  <a:prstClr val="black"/>
                </a:solidFill>
                <a:latin typeface="Calibri"/>
              </a:rPr>
              <a:t>Binary Search O(log n)</a:t>
            </a:r>
          </a:p>
          <a:p>
            <a:pPr algn="just" eaLnBrk="1" hangingPunct="1">
              <a:buFont typeface="Wingdings" pitchFamily="2" charset="2"/>
              <a:buChar char="Ø"/>
            </a:pPr>
            <a:r>
              <a:rPr lang="en-US" sz="2400" dirty="0">
                <a:solidFill>
                  <a:prstClr val="black"/>
                </a:solidFill>
                <a:latin typeface="Calibri"/>
              </a:rPr>
              <a:t>Linear Search O (n)</a:t>
            </a:r>
          </a:p>
        </p:txBody>
      </p:sp>
      <p:sp>
        <p:nvSpPr>
          <p:cNvPr id="6" name="Text Box 5"/>
          <p:cNvSpPr txBox="1">
            <a:spLocks noChangeArrowheads="1"/>
          </p:cNvSpPr>
          <p:nvPr/>
        </p:nvSpPr>
        <p:spPr bwMode="auto">
          <a:xfrm>
            <a:off x="228600" y="35052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pPr>
            <a:r>
              <a:rPr lang="en-US" sz="2400" b="1" dirty="0">
                <a:solidFill>
                  <a:srgbClr val="CC0000"/>
                </a:solidFill>
                <a:latin typeface="Calibri"/>
              </a:rPr>
              <a:t>Hashing:</a:t>
            </a:r>
          </a:p>
        </p:txBody>
      </p:sp>
      <p:sp>
        <p:nvSpPr>
          <p:cNvPr id="7" name="Text Box 6"/>
          <p:cNvSpPr txBox="1">
            <a:spLocks noChangeArrowheads="1"/>
          </p:cNvSpPr>
          <p:nvPr/>
        </p:nvSpPr>
        <p:spPr bwMode="auto">
          <a:xfrm>
            <a:off x="228600" y="4419600"/>
            <a:ext cx="8534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dirty="0">
                <a:solidFill>
                  <a:prstClr val="black"/>
                </a:solidFill>
              </a:rPr>
              <a:t> </a:t>
            </a:r>
            <a:r>
              <a:rPr lang="en-US" sz="2400" dirty="0">
                <a:solidFill>
                  <a:prstClr val="black"/>
                </a:solidFill>
                <a:latin typeface="Calibri"/>
              </a:rPr>
              <a:t>Storage &amp; retrieval of data in an </a:t>
            </a:r>
            <a:r>
              <a:rPr lang="en-US" sz="2400" b="1" dirty="0">
                <a:solidFill>
                  <a:srgbClr val="FF0000"/>
                </a:solidFill>
                <a:latin typeface="Calibri"/>
              </a:rPr>
              <a:t>average time</a:t>
            </a:r>
            <a:r>
              <a:rPr lang="en-US" sz="2400" b="1" dirty="0">
                <a:solidFill>
                  <a:prstClr val="black"/>
                </a:solidFill>
                <a:latin typeface="Calibri"/>
              </a:rPr>
              <a:t>,</a:t>
            </a:r>
            <a:r>
              <a:rPr lang="en-US" sz="2400" dirty="0">
                <a:solidFill>
                  <a:prstClr val="black"/>
                </a:solidFill>
                <a:latin typeface="Calibri"/>
              </a:rPr>
              <a:t> does not depend on the collection size { </a:t>
            </a:r>
            <a:r>
              <a:rPr lang="en-US" sz="2400" b="1" dirty="0">
                <a:solidFill>
                  <a:prstClr val="black"/>
                </a:solidFill>
                <a:latin typeface="Calibri"/>
              </a:rPr>
              <a:t>O (1)</a:t>
            </a:r>
            <a:r>
              <a:rPr lang="en-US" sz="2400" dirty="0">
                <a:solidFill>
                  <a:prstClr val="black"/>
                </a:solidFill>
                <a:latin typeface="Calibri"/>
              </a:rPr>
              <a:t> }</a:t>
            </a:r>
          </a:p>
        </p:txBody>
      </p:sp>
    </p:spTree>
    <p:extLst>
      <p:ext uri="{BB962C8B-B14F-4D97-AF65-F5344CB8AC3E}">
        <p14:creationId xmlns:p14="http://schemas.microsoft.com/office/powerpoint/2010/main" val="2536139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09600" y="26064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smtClean="0">
                <a:solidFill>
                  <a:prstClr val="black"/>
                </a:solidFill>
              </a:rPr>
              <a:t>General Idea</a:t>
            </a:r>
            <a:endParaRPr lang="en-IN" dirty="0">
              <a:solidFill>
                <a:prstClr val="black"/>
              </a:solidFill>
            </a:endParaRPr>
          </a:p>
        </p:txBody>
      </p:sp>
      <p:sp>
        <p:nvSpPr>
          <p:cNvPr id="5" name="Content Placeholder 2"/>
          <p:cNvSpPr txBox="1">
            <a:spLocks/>
          </p:cNvSpPr>
          <p:nvPr/>
        </p:nvSpPr>
        <p:spPr>
          <a:xfrm>
            <a:off x="609600" y="1124744"/>
            <a:ext cx="8229600" cy="54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smtClean="0">
                <a:solidFill>
                  <a:prstClr val="black"/>
                </a:solidFill>
              </a:rPr>
              <a:t>The ideal hash table structure is merely an array of some </a:t>
            </a:r>
            <a:r>
              <a:rPr lang="en-US" sz="2400" b="1" dirty="0" smtClean="0">
                <a:solidFill>
                  <a:srgbClr val="FF0000"/>
                </a:solidFill>
              </a:rPr>
              <a:t>fixed size</a:t>
            </a:r>
            <a:r>
              <a:rPr lang="en-US" sz="2400" dirty="0" smtClean="0">
                <a:solidFill>
                  <a:prstClr val="black"/>
                </a:solidFill>
              </a:rPr>
              <a:t>, containing the items.</a:t>
            </a:r>
          </a:p>
          <a:p>
            <a:pPr>
              <a:lnSpc>
                <a:spcPct val="90000"/>
              </a:lnSpc>
            </a:pPr>
            <a:r>
              <a:rPr lang="en-US" sz="2400" dirty="0" smtClean="0">
                <a:solidFill>
                  <a:prstClr val="black"/>
                </a:solidFill>
              </a:rPr>
              <a:t>A stored item needs to have a data member, called </a:t>
            </a:r>
            <a:r>
              <a:rPr lang="en-US" sz="2400" b="1" i="1" dirty="0" smtClean="0">
                <a:solidFill>
                  <a:srgbClr val="FF0000"/>
                </a:solidFill>
              </a:rPr>
              <a:t>key</a:t>
            </a:r>
            <a:r>
              <a:rPr lang="en-US" sz="2400" dirty="0" smtClean="0">
                <a:solidFill>
                  <a:prstClr val="black"/>
                </a:solidFill>
              </a:rPr>
              <a:t>, that will be used in computing the index value for the item.</a:t>
            </a:r>
          </a:p>
          <a:p>
            <a:pPr lvl="1">
              <a:lnSpc>
                <a:spcPct val="90000"/>
              </a:lnSpc>
            </a:pPr>
            <a:r>
              <a:rPr lang="en-US" sz="2000" dirty="0" smtClean="0">
                <a:solidFill>
                  <a:prstClr val="black"/>
                </a:solidFill>
              </a:rPr>
              <a:t>Key could be an </a:t>
            </a:r>
            <a:r>
              <a:rPr lang="en-US" sz="2000" i="1" dirty="0" smtClean="0">
                <a:solidFill>
                  <a:prstClr val="black"/>
                </a:solidFill>
              </a:rPr>
              <a:t>integer</a:t>
            </a:r>
            <a:r>
              <a:rPr lang="en-US" sz="2000" dirty="0" smtClean="0">
                <a:solidFill>
                  <a:prstClr val="black"/>
                </a:solidFill>
              </a:rPr>
              <a:t>, a </a:t>
            </a:r>
            <a:r>
              <a:rPr lang="en-US" sz="2000" i="1" dirty="0" smtClean="0">
                <a:solidFill>
                  <a:prstClr val="black"/>
                </a:solidFill>
              </a:rPr>
              <a:t>string</a:t>
            </a:r>
            <a:r>
              <a:rPr lang="en-US" sz="2000" dirty="0" smtClean="0">
                <a:solidFill>
                  <a:prstClr val="black"/>
                </a:solidFill>
              </a:rPr>
              <a:t>, </a:t>
            </a:r>
            <a:r>
              <a:rPr lang="en-US" sz="2000" dirty="0" err="1" smtClean="0">
                <a:solidFill>
                  <a:prstClr val="black"/>
                </a:solidFill>
              </a:rPr>
              <a:t>etc</a:t>
            </a:r>
            <a:endParaRPr lang="en-US" sz="2000" dirty="0" smtClean="0">
              <a:solidFill>
                <a:prstClr val="black"/>
              </a:solidFill>
            </a:endParaRPr>
          </a:p>
          <a:p>
            <a:pPr lvl="1">
              <a:lnSpc>
                <a:spcPct val="90000"/>
              </a:lnSpc>
            </a:pPr>
            <a:r>
              <a:rPr lang="en-US" sz="2000" dirty="0" smtClean="0">
                <a:solidFill>
                  <a:prstClr val="black"/>
                </a:solidFill>
              </a:rPr>
              <a:t>e.g. a name or Id that is a part of a large employee structure </a:t>
            </a:r>
          </a:p>
          <a:p>
            <a:pPr>
              <a:lnSpc>
                <a:spcPct val="90000"/>
              </a:lnSpc>
            </a:pPr>
            <a:r>
              <a:rPr lang="en-US" sz="2400" dirty="0" smtClean="0">
                <a:solidFill>
                  <a:prstClr val="black"/>
                </a:solidFill>
              </a:rPr>
              <a:t>The size of the array is </a:t>
            </a:r>
            <a:r>
              <a:rPr lang="en-US" sz="2400" b="1" i="1" dirty="0" err="1" smtClean="0">
                <a:solidFill>
                  <a:srgbClr val="FF0000"/>
                </a:solidFill>
              </a:rPr>
              <a:t>TableSize</a:t>
            </a:r>
            <a:r>
              <a:rPr lang="en-US" sz="2400" dirty="0" smtClean="0">
                <a:solidFill>
                  <a:prstClr val="black"/>
                </a:solidFill>
              </a:rPr>
              <a:t>.</a:t>
            </a:r>
          </a:p>
          <a:p>
            <a:pPr>
              <a:lnSpc>
                <a:spcPct val="90000"/>
              </a:lnSpc>
            </a:pPr>
            <a:r>
              <a:rPr lang="en-US" sz="2400" dirty="0" smtClean="0">
                <a:solidFill>
                  <a:prstClr val="black"/>
                </a:solidFill>
              </a:rPr>
              <a:t>The items that are stored in the hash table are indexed by values from </a:t>
            </a:r>
            <a:r>
              <a:rPr lang="en-US" sz="2400" b="1" i="1" dirty="0" smtClean="0">
                <a:solidFill>
                  <a:srgbClr val="FF0000"/>
                </a:solidFill>
              </a:rPr>
              <a:t>0</a:t>
            </a:r>
            <a:r>
              <a:rPr lang="en-US" sz="2400" b="1" dirty="0" smtClean="0">
                <a:solidFill>
                  <a:srgbClr val="FF0000"/>
                </a:solidFill>
              </a:rPr>
              <a:t> to </a:t>
            </a:r>
            <a:r>
              <a:rPr lang="en-US" sz="2400" b="1" i="1" dirty="0" err="1" smtClean="0">
                <a:solidFill>
                  <a:srgbClr val="FF0000"/>
                </a:solidFill>
              </a:rPr>
              <a:t>TableSize</a:t>
            </a:r>
            <a:r>
              <a:rPr lang="en-US" sz="2400" b="1" i="1" dirty="0" smtClean="0">
                <a:solidFill>
                  <a:srgbClr val="FF0000"/>
                </a:solidFill>
              </a:rPr>
              <a:t> – 1</a:t>
            </a:r>
            <a:r>
              <a:rPr lang="en-US" sz="2400" dirty="0" smtClean="0">
                <a:solidFill>
                  <a:prstClr val="black"/>
                </a:solidFill>
              </a:rPr>
              <a:t>.</a:t>
            </a:r>
          </a:p>
          <a:p>
            <a:pPr>
              <a:lnSpc>
                <a:spcPct val="90000"/>
              </a:lnSpc>
            </a:pPr>
            <a:r>
              <a:rPr lang="en-US" sz="2400" dirty="0" smtClean="0">
                <a:solidFill>
                  <a:prstClr val="black"/>
                </a:solidFill>
              </a:rPr>
              <a:t>Each key is </a:t>
            </a:r>
            <a:r>
              <a:rPr lang="en-US" sz="2400" b="1" dirty="0" smtClean="0">
                <a:solidFill>
                  <a:srgbClr val="FF0000"/>
                </a:solidFill>
              </a:rPr>
              <a:t>mapped</a:t>
            </a:r>
            <a:r>
              <a:rPr lang="en-US" sz="2400" dirty="0" smtClean="0">
                <a:solidFill>
                  <a:prstClr val="black"/>
                </a:solidFill>
              </a:rPr>
              <a:t> into some number in the range 0 to </a:t>
            </a:r>
            <a:r>
              <a:rPr lang="en-US" sz="2400" i="1" dirty="0" err="1" smtClean="0">
                <a:solidFill>
                  <a:prstClr val="black"/>
                </a:solidFill>
              </a:rPr>
              <a:t>TableSize</a:t>
            </a:r>
            <a:r>
              <a:rPr lang="en-US" sz="2400" i="1" dirty="0" smtClean="0">
                <a:solidFill>
                  <a:prstClr val="black"/>
                </a:solidFill>
              </a:rPr>
              <a:t> – 1.</a:t>
            </a:r>
          </a:p>
          <a:p>
            <a:pPr>
              <a:lnSpc>
                <a:spcPct val="90000"/>
              </a:lnSpc>
            </a:pPr>
            <a:r>
              <a:rPr lang="en-US" sz="2400" dirty="0" smtClean="0">
                <a:solidFill>
                  <a:prstClr val="black"/>
                </a:solidFill>
              </a:rPr>
              <a:t>The mapping is called a </a:t>
            </a:r>
            <a:r>
              <a:rPr lang="en-US" sz="2400" b="1" i="1" dirty="0" smtClean="0">
                <a:solidFill>
                  <a:srgbClr val="FF0000"/>
                </a:solidFill>
              </a:rPr>
              <a:t>hash function</a:t>
            </a:r>
            <a:r>
              <a:rPr lang="en-US" sz="2400" dirty="0" smtClean="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21431796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30234"/>
            <a:ext cx="7910851" cy="5907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71928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idx="4294967295"/>
          </p:nvPr>
        </p:nvSpPr>
        <p:spPr>
          <a:xfrm>
            <a:off x="1150938" y="258763"/>
            <a:ext cx="7793037" cy="1465262"/>
          </a:xfrm>
        </p:spPr>
        <p:txBody>
          <a:bodyPr lIns="0" tIns="0" rIns="0" bIns="0" anchor="ctr">
            <a:spAutoFit/>
          </a:bodyPr>
          <a:lstStyle/>
          <a:p>
            <a:pPr eaLnBrk="1" hangingPunct="1">
              <a:lnSpc>
                <a:spcPct val="101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smtClean="0"/>
              <a:t>Concept of Hashing</a:t>
            </a:r>
          </a:p>
        </p:txBody>
      </p:sp>
      <p:sp>
        <p:nvSpPr>
          <p:cNvPr id="4099" name="Rectangle 2"/>
          <p:cNvSpPr>
            <a:spLocks noGrp="1" noChangeArrowheads="1"/>
          </p:cNvSpPr>
          <p:nvPr>
            <p:ph type="body" idx="4294967295"/>
          </p:nvPr>
        </p:nvSpPr>
        <p:spPr>
          <a:xfrm>
            <a:off x="1182688" y="2017713"/>
            <a:ext cx="7772400" cy="4079875"/>
          </a:xfrm>
        </p:spPr>
        <p:txBody>
          <a:bodyPr lIns="0" tIns="0" rIns="0" bIns="0">
            <a:spAutoFit/>
          </a:bodyPr>
          <a:lstStyle/>
          <a:p>
            <a:pPr eaLnBrk="1" hangingPunct="1">
              <a:lnSpc>
                <a:spcPct val="101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In CS, a </a:t>
            </a:r>
            <a:r>
              <a:rPr lang="en-GB" altLang="zh-TW" b="1" smtClean="0"/>
              <a:t>hash table</a:t>
            </a:r>
            <a:r>
              <a:rPr lang="en-GB" altLang="zh-TW" smtClean="0"/>
              <a:t>, or a </a:t>
            </a:r>
            <a:r>
              <a:rPr lang="en-GB" altLang="zh-TW" b="1" smtClean="0"/>
              <a:t>hash map</a:t>
            </a:r>
            <a:r>
              <a:rPr lang="en-GB" altLang="zh-TW" smtClean="0"/>
              <a:t>, is a data structure that associates keys (names) with values (attributes).</a:t>
            </a:r>
          </a:p>
          <a:p>
            <a:pPr lvl="1" eaLnBrk="1" hangingPunct="1">
              <a:lnSpc>
                <a:spcPct val="101000"/>
              </a:lnSpc>
              <a:buFont typeface="Wingdings" pitchFamily="2" charset="2"/>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GB" altLang="zh-TW" smtClean="0"/>
          </a:p>
          <a:p>
            <a:pPr lvl="1" eaLnBrk="1" hangingPunct="1">
              <a:lnSpc>
                <a:spcPct val="101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Look-Up Table</a:t>
            </a:r>
          </a:p>
          <a:p>
            <a:pPr lvl="1" eaLnBrk="1" hangingPunct="1">
              <a:lnSpc>
                <a:spcPct val="101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Dictionary</a:t>
            </a:r>
          </a:p>
          <a:p>
            <a:pPr lvl="1" eaLnBrk="1" hangingPunct="1">
              <a:lnSpc>
                <a:spcPct val="101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Cache</a:t>
            </a:r>
          </a:p>
          <a:p>
            <a:pPr lvl="1" eaLnBrk="1" hangingPunct="1">
              <a:lnSpc>
                <a:spcPct val="101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Extended Array</a:t>
            </a:r>
          </a:p>
        </p:txBody>
      </p:sp>
    </p:spTree>
    <p:extLst>
      <p:ext uri="{BB962C8B-B14F-4D97-AF65-F5344CB8AC3E}">
        <p14:creationId xmlns:p14="http://schemas.microsoft.com/office/powerpoint/2010/main" val="33738717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idx="4294967295"/>
          </p:nvPr>
        </p:nvSpPr>
        <p:spPr>
          <a:xfrm>
            <a:off x="1150938" y="258763"/>
            <a:ext cx="7793037" cy="1465262"/>
          </a:xfrm>
        </p:spPr>
        <p:txBody>
          <a:bodyPr lIns="0" tIns="0" rIns="0" bIns="0" anchor="ctr">
            <a:spAutoFit/>
          </a:bodyPr>
          <a:lstStyle/>
          <a:p>
            <a:pPr eaLnBrk="1" hangingPunct="1">
              <a:lnSpc>
                <a:spcPct val="101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smtClean="0"/>
              <a:t>Tables of logarithms</a:t>
            </a:r>
          </a:p>
        </p:txBody>
      </p:sp>
      <p:pic>
        <p:nvPicPr>
          <p:cNvPr id="512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9863" y="2160588"/>
            <a:ext cx="6650037" cy="44259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530097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idx="4294967295"/>
          </p:nvPr>
        </p:nvSpPr>
        <p:spPr>
          <a:xfrm>
            <a:off x="1150938" y="258763"/>
            <a:ext cx="7793037" cy="1465262"/>
          </a:xfrm>
        </p:spPr>
        <p:txBody>
          <a:bodyPr lIns="0" tIns="0" rIns="0" bIns="0" anchor="ctr">
            <a:spAutoFit/>
          </a:bodyPr>
          <a:lstStyle/>
          <a:p>
            <a:pPr eaLnBrk="1" hangingPunct="1">
              <a:lnSpc>
                <a:spcPct val="101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smtClean="0"/>
              <a:t>Example</a:t>
            </a:r>
          </a:p>
        </p:txBody>
      </p:sp>
      <p:sp>
        <p:nvSpPr>
          <p:cNvPr id="6147" name="Rectangle 2"/>
          <p:cNvSpPr>
            <a:spLocks noGrp="1" noChangeArrowheads="1"/>
          </p:cNvSpPr>
          <p:nvPr>
            <p:ph type="body" idx="4294967295"/>
          </p:nvPr>
        </p:nvSpPr>
        <p:spPr>
          <a:xfrm>
            <a:off x="720725" y="5759450"/>
            <a:ext cx="7772400" cy="871538"/>
          </a:xfrm>
        </p:spPr>
        <p:txBody>
          <a:bodyPr lIns="0" tIns="0" rIns="0" bIns="0">
            <a:spAutoFit/>
          </a:bodyPr>
          <a:lstStyle/>
          <a:p>
            <a:pPr eaLnBrk="1" hangingPunct="1">
              <a:lnSpc>
                <a:spcPct val="101000"/>
              </a:lnSpc>
              <a:buFont typeface="Wingdings" pitchFamily="2" charset="2"/>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A small phone book as a hash table.</a:t>
            </a:r>
          </a:p>
          <a:p>
            <a:pPr eaLnBrk="1" hangingPunct="1">
              <a:lnSpc>
                <a:spcPct val="101000"/>
              </a:lnSpc>
              <a:buFont typeface="Wingdings" pitchFamily="2" charset="2"/>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1800" dirty="0" smtClean="0">
                <a:solidFill>
                  <a:srgbClr val="808080"/>
                </a:solidFill>
              </a:rPr>
              <a:t>(Figure is from Wikipedia)</a:t>
            </a:r>
          </a:p>
        </p:txBody>
      </p:sp>
      <p:pic>
        <p:nvPicPr>
          <p:cNvPr id="61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0" y="1979613"/>
            <a:ext cx="7277100" cy="3429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2254283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idx="4294967295"/>
          </p:nvPr>
        </p:nvSpPr>
        <p:spPr>
          <a:xfrm>
            <a:off x="1150938" y="303213"/>
            <a:ext cx="7793037" cy="1465262"/>
          </a:xfrm>
        </p:spPr>
        <p:txBody>
          <a:bodyPr lIns="0" tIns="0" rIns="0" bIns="0" anchor="ct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smtClean="0"/>
              <a:t>Dictionaries</a:t>
            </a:r>
          </a:p>
        </p:txBody>
      </p:sp>
      <p:sp>
        <p:nvSpPr>
          <p:cNvPr id="7171" name="Rectangle 2"/>
          <p:cNvSpPr>
            <a:spLocks noGrp="1" noChangeArrowheads="1"/>
          </p:cNvSpPr>
          <p:nvPr>
            <p:ph type="body" idx="4294967295"/>
          </p:nvPr>
        </p:nvSpPr>
        <p:spPr>
          <a:xfrm>
            <a:off x="1182688" y="2017713"/>
            <a:ext cx="7772400" cy="3714750"/>
          </a:xfrm>
        </p:spPr>
        <p:txBody>
          <a:bodyPr lIns="0" tIns="0" rIns="0" bIns="0">
            <a:spAutoFit/>
          </a:bodyPr>
          <a:lstStyle/>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Collection of pairs.</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(key, value)</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Each pair has a unique key.</a:t>
            </a:r>
          </a:p>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Operations.</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solidFill>
                  <a:srgbClr val="FF0033"/>
                </a:solidFill>
              </a:rPr>
              <a:t>Get(theKey)</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solidFill>
                  <a:srgbClr val="FF0033"/>
                </a:solidFill>
              </a:rPr>
              <a:t>Delete(theKey)</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solidFill>
                  <a:srgbClr val="FF0033"/>
                </a:solidFill>
              </a:rPr>
              <a:t>Insert(theKey, theValue)</a:t>
            </a:r>
          </a:p>
        </p:txBody>
      </p:sp>
    </p:spTree>
    <p:extLst>
      <p:ext uri="{BB962C8B-B14F-4D97-AF65-F5344CB8AC3E}">
        <p14:creationId xmlns:p14="http://schemas.microsoft.com/office/powerpoint/2010/main" val="14858076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idx="4294967295"/>
          </p:nvPr>
        </p:nvSpPr>
        <p:spPr>
          <a:xfrm>
            <a:off x="1150938" y="303213"/>
            <a:ext cx="7793037" cy="1465262"/>
          </a:xfrm>
        </p:spPr>
        <p:txBody>
          <a:bodyPr lIns="0" tIns="0" rIns="0" bIns="0" anchor="ct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smtClean="0"/>
              <a:t>Just An Idea</a:t>
            </a:r>
          </a:p>
        </p:txBody>
      </p:sp>
      <p:sp>
        <p:nvSpPr>
          <p:cNvPr id="8195" name="Rectangle 2"/>
          <p:cNvSpPr>
            <a:spLocks noGrp="1" noChangeArrowheads="1"/>
          </p:cNvSpPr>
          <p:nvPr>
            <p:ph type="body" idx="4294967295"/>
          </p:nvPr>
        </p:nvSpPr>
        <p:spPr>
          <a:xfrm>
            <a:off x="1182688" y="2017713"/>
            <a:ext cx="7772400" cy="4122737"/>
          </a:xfrm>
        </p:spPr>
        <p:txBody>
          <a:bodyPr lIns="0" tIns="0" rIns="0" bIns="0">
            <a:spAutoFit/>
          </a:bodyPr>
          <a:lstStyle/>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Hash table : </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Collection of pairs, </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Lookup function (Hash function)</a:t>
            </a:r>
          </a:p>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Hash tables are often used to implement associative arrays,</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Worst-case time for </a:t>
            </a:r>
            <a:r>
              <a:rPr lang="en-GB" altLang="zh-TW" smtClean="0">
                <a:solidFill>
                  <a:srgbClr val="FF0033"/>
                </a:solidFill>
              </a:rPr>
              <a:t>Get</a:t>
            </a:r>
            <a:r>
              <a:rPr lang="en-GB" altLang="zh-TW" smtClean="0"/>
              <a:t>, </a:t>
            </a:r>
            <a:r>
              <a:rPr lang="en-GB" altLang="zh-TW" smtClean="0">
                <a:solidFill>
                  <a:srgbClr val="FF0033"/>
                </a:solidFill>
              </a:rPr>
              <a:t>Insert</a:t>
            </a:r>
            <a:r>
              <a:rPr lang="en-GB" altLang="zh-TW" smtClean="0"/>
              <a:t>, and </a:t>
            </a:r>
            <a:r>
              <a:rPr lang="en-GB" altLang="zh-TW" smtClean="0">
                <a:solidFill>
                  <a:srgbClr val="FF0033"/>
                </a:solidFill>
              </a:rPr>
              <a:t>Delete</a:t>
            </a:r>
            <a:r>
              <a:rPr lang="en-GB" altLang="zh-TW" smtClean="0"/>
              <a:t> is </a:t>
            </a:r>
            <a:r>
              <a:rPr lang="en-GB" altLang="zh-TW" smtClean="0">
                <a:solidFill>
                  <a:srgbClr val="FF0033"/>
                </a:solidFill>
              </a:rPr>
              <a:t>O(size).</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mtClean="0"/>
              <a:t>Expected time is </a:t>
            </a:r>
            <a:r>
              <a:rPr lang="en-GB" altLang="zh-TW" smtClean="0">
                <a:solidFill>
                  <a:srgbClr val="FF0033"/>
                </a:solidFill>
              </a:rPr>
              <a:t>O(1).</a:t>
            </a:r>
          </a:p>
        </p:txBody>
      </p:sp>
    </p:spTree>
    <p:extLst>
      <p:ext uri="{BB962C8B-B14F-4D97-AF65-F5344CB8AC3E}">
        <p14:creationId xmlns:p14="http://schemas.microsoft.com/office/powerpoint/2010/main" val="353470011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TW" smtClean="0"/>
              <a:t>Search vs. Hashing</a:t>
            </a:r>
          </a:p>
        </p:txBody>
      </p:sp>
      <p:sp>
        <p:nvSpPr>
          <p:cNvPr id="10243" name="Rectangle 3"/>
          <p:cNvSpPr>
            <a:spLocks noGrp="1" noChangeArrowheads="1"/>
          </p:cNvSpPr>
          <p:nvPr>
            <p:ph type="body" idx="1"/>
          </p:nvPr>
        </p:nvSpPr>
        <p:spPr/>
        <p:txBody>
          <a:bodyPr/>
          <a:lstStyle/>
          <a:p>
            <a:pPr eaLnBrk="1" hangingPunct="1"/>
            <a:r>
              <a:rPr lang="en-US" altLang="zh-TW" dirty="0" smtClean="0"/>
              <a:t>Search tree methods: key comparisons</a:t>
            </a:r>
          </a:p>
          <a:p>
            <a:pPr lvl="1" eaLnBrk="1" hangingPunct="1"/>
            <a:r>
              <a:rPr lang="en-US" altLang="zh-TW" dirty="0" smtClean="0"/>
              <a:t>Time complexity: O(size) or O(log n)</a:t>
            </a:r>
          </a:p>
          <a:p>
            <a:pPr eaLnBrk="1" hangingPunct="1"/>
            <a:r>
              <a:rPr lang="en-US" altLang="zh-TW" dirty="0" smtClean="0"/>
              <a:t>Hashing methods: hash functions</a:t>
            </a:r>
          </a:p>
          <a:p>
            <a:pPr lvl="1" eaLnBrk="1" hangingPunct="1"/>
            <a:r>
              <a:rPr lang="en-US" altLang="zh-TW" dirty="0" smtClean="0"/>
              <a:t>Expected time: O(1)</a:t>
            </a:r>
          </a:p>
          <a:p>
            <a:pPr eaLnBrk="1" hangingPunct="1"/>
            <a:r>
              <a:rPr lang="en-US" altLang="zh-TW" dirty="0" smtClean="0"/>
              <a:t>Types</a:t>
            </a:r>
          </a:p>
          <a:p>
            <a:pPr lvl="1" eaLnBrk="1" hangingPunct="1"/>
            <a:r>
              <a:rPr lang="en-US" altLang="zh-TW" dirty="0" smtClean="0"/>
              <a:t>Static hashing </a:t>
            </a:r>
          </a:p>
          <a:p>
            <a:pPr lvl="1" eaLnBrk="1" hangingPunct="1"/>
            <a:r>
              <a:rPr lang="en-US" altLang="zh-TW" dirty="0" smtClean="0"/>
              <a:t>Dynamic hashing </a:t>
            </a:r>
          </a:p>
        </p:txBody>
      </p:sp>
    </p:spTree>
    <p:extLst>
      <p:ext uri="{BB962C8B-B14F-4D97-AF65-F5344CB8AC3E}">
        <p14:creationId xmlns:p14="http://schemas.microsoft.com/office/powerpoint/2010/main" val="40406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TW" smtClean="0"/>
              <a:t>Static Hashing</a:t>
            </a:r>
          </a:p>
        </p:txBody>
      </p:sp>
      <p:sp>
        <p:nvSpPr>
          <p:cNvPr id="11267" name="Rectangle 3"/>
          <p:cNvSpPr>
            <a:spLocks noGrp="1" noChangeArrowheads="1"/>
          </p:cNvSpPr>
          <p:nvPr>
            <p:ph type="body" idx="1"/>
          </p:nvPr>
        </p:nvSpPr>
        <p:spPr/>
        <p:txBody>
          <a:bodyPr/>
          <a:lstStyle/>
          <a:p>
            <a:pPr eaLnBrk="1" hangingPunct="1"/>
            <a:r>
              <a:rPr lang="en-US" altLang="zh-TW" sz="2800" smtClean="0"/>
              <a:t>Key-value pairs are stored in a fixed size table called a </a:t>
            </a:r>
            <a:r>
              <a:rPr lang="en-US" altLang="zh-TW" sz="2800" i="1" smtClean="0">
                <a:solidFill>
                  <a:schemeClr val="accent2"/>
                </a:solidFill>
              </a:rPr>
              <a:t>hash table</a:t>
            </a:r>
            <a:r>
              <a:rPr lang="en-US" altLang="zh-TW" sz="2800" smtClean="0"/>
              <a:t>.</a:t>
            </a:r>
          </a:p>
          <a:p>
            <a:pPr lvl="1" eaLnBrk="1" hangingPunct="1"/>
            <a:r>
              <a:rPr lang="en-US" altLang="zh-TW" sz="2400" smtClean="0"/>
              <a:t>A hash table is partitioned into many </a:t>
            </a:r>
            <a:r>
              <a:rPr lang="en-US" altLang="zh-TW" sz="2400" b="1" i="1" smtClean="0">
                <a:solidFill>
                  <a:schemeClr val="accent2"/>
                </a:solidFill>
              </a:rPr>
              <a:t>buckets</a:t>
            </a:r>
            <a:r>
              <a:rPr lang="en-US" altLang="zh-TW" sz="2400" smtClean="0"/>
              <a:t>.</a:t>
            </a:r>
          </a:p>
          <a:p>
            <a:pPr lvl="1" eaLnBrk="1" hangingPunct="1"/>
            <a:r>
              <a:rPr lang="en-US" altLang="zh-TW" sz="2400" smtClean="0"/>
              <a:t>Each bucket has many </a:t>
            </a:r>
            <a:r>
              <a:rPr lang="en-US" altLang="zh-TW" sz="2400" b="1" i="1" smtClean="0">
                <a:solidFill>
                  <a:schemeClr val="accent2"/>
                </a:solidFill>
              </a:rPr>
              <a:t>slots</a:t>
            </a:r>
            <a:r>
              <a:rPr lang="en-US" altLang="zh-TW" sz="2400" smtClean="0"/>
              <a:t>.</a:t>
            </a:r>
          </a:p>
          <a:p>
            <a:pPr lvl="1" eaLnBrk="1" hangingPunct="1"/>
            <a:r>
              <a:rPr lang="en-US" altLang="zh-TW" sz="2400" smtClean="0"/>
              <a:t>Each slot holds one record.</a:t>
            </a:r>
          </a:p>
          <a:p>
            <a:pPr lvl="1" eaLnBrk="1" hangingPunct="1"/>
            <a:r>
              <a:rPr lang="en-US" altLang="zh-TW" sz="2400" smtClean="0"/>
              <a:t>A hash function f(x) transforms the identifier (key) into an address in the hash table</a:t>
            </a:r>
          </a:p>
        </p:txBody>
      </p:sp>
    </p:spTree>
    <p:extLst>
      <p:ext uri="{BB962C8B-B14F-4D97-AF65-F5344CB8AC3E}">
        <p14:creationId xmlns:p14="http://schemas.microsoft.com/office/powerpoint/2010/main" val="32257267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TW" dirty="0" smtClean="0"/>
              <a:t>Hash table</a:t>
            </a:r>
          </a:p>
        </p:txBody>
      </p:sp>
      <p:graphicFrame>
        <p:nvGraphicFramePr>
          <p:cNvPr id="159791" name="Group 47"/>
          <p:cNvGraphicFramePr>
            <a:graphicFrameLocks noGrp="1"/>
          </p:cNvGraphicFramePr>
          <p:nvPr>
            <p:ph idx="1"/>
          </p:nvPr>
        </p:nvGraphicFramePr>
        <p:xfrm>
          <a:off x="1836738" y="2851150"/>
          <a:ext cx="6053137" cy="3670458"/>
        </p:xfrm>
        <a:graphic>
          <a:graphicData uri="http://schemas.openxmlformats.org/drawingml/2006/table">
            <a:tbl>
              <a:tblPr/>
              <a:tblGrid>
                <a:gridCol w="1012825"/>
                <a:gridCol w="1081087"/>
                <a:gridCol w="3024188"/>
                <a:gridCol w="935037"/>
              </a:tblGrid>
              <a:tr h="690491">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dirty="0" smtClean="0">
                        <a:ln>
                          <a:noFill/>
                        </a:ln>
                        <a:solidFill>
                          <a:srgbClr val="000000"/>
                        </a:solidFill>
                        <a:effectLst/>
                        <a:latin typeface="Tahoma" pitchFamily="34" charset="0"/>
                        <a:ea typeface="新細明體" pitchFamily="18" charset="-12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smtClean="0">
                          <a:ln>
                            <a:noFill/>
                          </a:ln>
                          <a:solidFill>
                            <a:srgbClr val="000000"/>
                          </a:solidFill>
                          <a:effectLst/>
                          <a:latin typeface="Tahoma" pitchFamily="34" charset="0"/>
                          <a:ea typeface="新細明體" pitchFamily="18" charset="-120"/>
                        </a:rPr>
                        <a:t>.  .  .</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633">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dirty="0" smtClean="0">
                        <a:ln>
                          <a:noFill/>
                        </a:ln>
                        <a:solidFill>
                          <a:srgbClr val="000000"/>
                        </a:solidFill>
                        <a:effectLst/>
                        <a:latin typeface="Tahoma" pitchFamily="34" charset="0"/>
                        <a:ea typeface="新細明體" pitchFamily="18" charset="-12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613113">
                <a:tc>
                  <a:txBody>
                    <a:bodyPr/>
                    <a:lstStyle/>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dirty="0" smtClean="0">
                          <a:ln>
                            <a:noFill/>
                          </a:ln>
                          <a:solidFill>
                            <a:srgbClr val="000000"/>
                          </a:solidFill>
                          <a:effectLst/>
                          <a:latin typeface="Tahoma" pitchFamily="34" charset="0"/>
                          <a:ea typeface="新細明體" pitchFamily="18" charset="-120"/>
                        </a:rPr>
                        <a:t>.</a:t>
                      </a:r>
                    </a:p>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dirty="0" smtClean="0">
                          <a:ln>
                            <a:noFill/>
                          </a:ln>
                          <a:solidFill>
                            <a:srgbClr val="000000"/>
                          </a:solidFill>
                          <a:effectLst/>
                          <a:latin typeface="Tahoma" pitchFamily="34" charset="0"/>
                          <a:ea typeface="新細明體" pitchFamily="18" charset="-120"/>
                        </a:rPr>
                        <a:t>.</a:t>
                      </a:r>
                    </a:p>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dirty="0" smtClean="0">
                          <a:ln>
                            <a:noFill/>
                          </a:ln>
                          <a:solidFill>
                            <a:srgbClr val="000000"/>
                          </a:solidFill>
                          <a:effectLst/>
                          <a:latin typeface="Tahoma" pitchFamily="34" charset="0"/>
                          <a:ea typeface="新細明體" pitchFamily="18" charset="-120"/>
                        </a:rPr>
                        <a:t>.</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smtClean="0">
                          <a:ln>
                            <a:noFill/>
                          </a:ln>
                          <a:solidFill>
                            <a:srgbClr val="000000"/>
                          </a:solidFill>
                          <a:effectLst/>
                          <a:latin typeface="Tahoma" pitchFamily="34" charset="0"/>
                          <a:ea typeface="新細明體" pitchFamily="18" charset="-120"/>
                        </a:rPr>
                        <a:t>.</a:t>
                      </a:r>
                    </a:p>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smtClean="0">
                          <a:ln>
                            <a:noFill/>
                          </a:ln>
                          <a:solidFill>
                            <a:srgbClr val="000000"/>
                          </a:solidFill>
                          <a:effectLst/>
                          <a:latin typeface="Tahoma" pitchFamily="34" charset="0"/>
                          <a:ea typeface="新細明體" pitchFamily="18" charset="-120"/>
                        </a:rPr>
                        <a:t>.</a:t>
                      </a:r>
                    </a:p>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smtClean="0">
                          <a:ln>
                            <a:noFill/>
                          </a:ln>
                          <a:solidFill>
                            <a:srgbClr val="000000"/>
                          </a:solidFill>
                          <a:effectLst/>
                          <a:latin typeface="Tahoma" pitchFamily="34" charset="0"/>
                          <a:ea typeface="新細明體" pitchFamily="18" charset="-120"/>
                        </a:rPr>
                        <a:t>.</a:t>
                      </a: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smtClean="0">
                          <a:ln>
                            <a:noFill/>
                          </a:ln>
                          <a:solidFill>
                            <a:srgbClr val="000000"/>
                          </a:solidFill>
                          <a:effectLst/>
                          <a:latin typeface="Tahoma" pitchFamily="34" charset="0"/>
                          <a:ea typeface="新細明體" pitchFamily="18" charset="-120"/>
                        </a:rPr>
                        <a:t>.</a:t>
                      </a:r>
                    </a:p>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smtClean="0">
                          <a:ln>
                            <a:noFill/>
                          </a:ln>
                          <a:solidFill>
                            <a:srgbClr val="000000"/>
                          </a:solidFill>
                          <a:effectLst/>
                          <a:latin typeface="Tahoma" pitchFamily="34" charset="0"/>
                          <a:ea typeface="新細明體" pitchFamily="18" charset="-120"/>
                        </a:rPr>
                        <a:t>.</a:t>
                      </a:r>
                    </a:p>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smtClean="0">
                          <a:ln>
                            <a:noFill/>
                          </a:ln>
                          <a:solidFill>
                            <a:srgbClr val="000000"/>
                          </a:solidFill>
                          <a:effectLst/>
                          <a:latin typeface="Tahoma" pitchFamily="34" charset="0"/>
                          <a:ea typeface="新細明體" pitchFamily="18" charset="-120"/>
                        </a:rPr>
                        <a:t>.</a:t>
                      </a: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9063">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r>
                        <a:rPr kumimoji="0" lang="en-US" altLang="zh-TW" sz="2800" b="0" i="0" u="none" strike="noStrike" cap="none" normalizeH="0" baseline="0" smtClean="0">
                          <a:ln>
                            <a:noFill/>
                          </a:ln>
                          <a:solidFill>
                            <a:srgbClr val="000000"/>
                          </a:solidFill>
                          <a:effectLst/>
                          <a:latin typeface="Tahoma" pitchFamily="34" charset="0"/>
                          <a:ea typeface="新細明體" pitchFamily="18" charset="-120"/>
                        </a:rPr>
                        <a:t>.  .  .</a:t>
                      </a: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1" fontAlgn="base" latinLnBrk="0" hangingPunct="1">
                        <a:lnSpc>
                          <a:spcPct val="103000"/>
                        </a:lnSpc>
                        <a:spcBef>
                          <a:spcPts val="800"/>
                        </a:spcBef>
                        <a:spcAft>
                          <a:spcPct val="0"/>
                        </a:spcAft>
                        <a:buClr>
                          <a:srgbClr val="3333CC"/>
                        </a:buClr>
                        <a:buSzPct val="60000"/>
                        <a:buFont typeface="Wingdings" pitchFamily="2" charset="2"/>
                        <a:buNone/>
                        <a:tabLst/>
                      </a:pPr>
                      <a:endParaRPr kumimoji="0" lang="zh-TW" altLang="en-US" sz="2800" b="0" i="0" u="none" strike="noStrike" cap="none" normalizeH="0" baseline="0" smtClean="0">
                        <a:ln>
                          <a:noFill/>
                        </a:ln>
                        <a:solidFill>
                          <a:srgbClr val="000000"/>
                        </a:solidFill>
                        <a:effectLst/>
                        <a:latin typeface="Tahoma" pitchFamily="34" charset="0"/>
                        <a:ea typeface="新細明體" pitchFamily="18" charset="-12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18" name="Text Box 49"/>
          <p:cNvSpPr txBox="1">
            <a:spLocks noChangeArrowheads="1"/>
          </p:cNvSpPr>
          <p:nvPr/>
        </p:nvSpPr>
        <p:spPr bwMode="auto">
          <a:xfrm rot="5400000">
            <a:off x="-57150" y="4384675"/>
            <a:ext cx="1873250" cy="3873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eaLnBrk="1" hangingPunct="1">
              <a:spcBef>
                <a:spcPct val="50000"/>
              </a:spcBef>
            </a:pPr>
            <a:r>
              <a:rPr lang="en-US" altLang="zh-TW" sz="2400">
                <a:solidFill>
                  <a:schemeClr val="tx1"/>
                </a:solidFill>
              </a:rPr>
              <a:t>b buckets</a:t>
            </a:r>
          </a:p>
        </p:txBody>
      </p:sp>
      <p:sp>
        <p:nvSpPr>
          <p:cNvPr id="12319" name="Text Box 50"/>
          <p:cNvSpPr txBox="1">
            <a:spLocks noChangeArrowheads="1"/>
          </p:cNvSpPr>
          <p:nvPr/>
        </p:nvSpPr>
        <p:spPr bwMode="auto">
          <a:xfrm>
            <a:off x="1333500" y="2994025"/>
            <a:ext cx="360363" cy="3873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eaLnBrk="1" hangingPunct="1">
              <a:spcBef>
                <a:spcPct val="50000"/>
              </a:spcBef>
            </a:pPr>
            <a:r>
              <a:rPr lang="en-US" altLang="zh-TW" sz="2400">
                <a:solidFill>
                  <a:schemeClr val="tx1"/>
                </a:solidFill>
              </a:rPr>
              <a:t>0</a:t>
            </a:r>
          </a:p>
        </p:txBody>
      </p:sp>
      <p:sp>
        <p:nvSpPr>
          <p:cNvPr id="12320" name="Text Box 51"/>
          <p:cNvSpPr txBox="1">
            <a:spLocks noChangeArrowheads="1"/>
          </p:cNvSpPr>
          <p:nvPr/>
        </p:nvSpPr>
        <p:spPr bwMode="auto">
          <a:xfrm>
            <a:off x="1333500" y="3641725"/>
            <a:ext cx="360363" cy="3873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eaLnBrk="1" hangingPunct="1">
              <a:spcBef>
                <a:spcPct val="50000"/>
              </a:spcBef>
            </a:pPr>
            <a:r>
              <a:rPr lang="en-US" altLang="zh-TW" sz="2400">
                <a:solidFill>
                  <a:schemeClr val="tx1"/>
                </a:solidFill>
              </a:rPr>
              <a:t>1</a:t>
            </a:r>
          </a:p>
        </p:txBody>
      </p:sp>
      <p:sp>
        <p:nvSpPr>
          <p:cNvPr id="12321" name="Text Box 52"/>
          <p:cNvSpPr txBox="1">
            <a:spLocks noChangeArrowheads="1"/>
          </p:cNvSpPr>
          <p:nvPr/>
        </p:nvSpPr>
        <p:spPr bwMode="auto">
          <a:xfrm>
            <a:off x="1044575" y="6018213"/>
            <a:ext cx="792163" cy="3873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eaLnBrk="1" hangingPunct="1">
              <a:spcBef>
                <a:spcPct val="50000"/>
              </a:spcBef>
            </a:pPr>
            <a:r>
              <a:rPr lang="en-US" altLang="zh-TW" sz="2400">
                <a:solidFill>
                  <a:schemeClr val="tx1"/>
                </a:solidFill>
              </a:rPr>
              <a:t>b-1</a:t>
            </a:r>
          </a:p>
        </p:txBody>
      </p:sp>
      <p:sp>
        <p:nvSpPr>
          <p:cNvPr id="12322" name="Text Box 53"/>
          <p:cNvSpPr txBox="1">
            <a:spLocks noChangeArrowheads="1"/>
          </p:cNvSpPr>
          <p:nvPr/>
        </p:nvSpPr>
        <p:spPr bwMode="auto">
          <a:xfrm>
            <a:off x="2124075" y="2419350"/>
            <a:ext cx="360363" cy="3873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eaLnBrk="1" hangingPunct="1">
              <a:spcBef>
                <a:spcPct val="50000"/>
              </a:spcBef>
            </a:pPr>
            <a:r>
              <a:rPr lang="en-US" altLang="zh-TW" sz="2400">
                <a:solidFill>
                  <a:schemeClr val="tx1"/>
                </a:solidFill>
              </a:rPr>
              <a:t>0</a:t>
            </a:r>
          </a:p>
        </p:txBody>
      </p:sp>
      <p:sp>
        <p:nvSpPr>
          <p:cNvPr id="12323" name="Text Box 54"/>
          <p:cNvSpPr txBox="1">
            <a:spLocks noChangeArrowheads="1"/>
          </p:cNvSpPr>
          <p:nvPr/>
        </p:nvSpPr>
        <p:spPr bwMode="auto">
          <a:xfrm>
            <a:off x="3203575" y="2420938"/>
            <a:ext cx="360363" cy="3873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eaLnBrk="1" hangingPunct="1">
              <a:spcBef>
                <a:spcPct val="50000"/>
              </a:spcBef>
            </a:pPr>
            <a:r>
              <a:rPr lang="en-US" altLang="zh-TW" sz="2400">
                <a:solidFill>
                  <a:schemeClr val="tx1"/>
                </a:solidFill>
              </a:rPr>
              <a:t>1</a:t>
            </a:r>
          </a:p>
        </p:txBody>
      </p:sp>
      <p:sp>
        <p:nvSpPr>
          <p:cNvPr id="12324" name="Text Box 55"/>
          <p:cNvSpPr txBox="1">
            <a:spLocks noChangeArrowheads="1"/>
          </p:cNvSpPr>
          <p:nvPr/>
        </p:nvSpPr>
        <p:spPr bwMode="auto">
          <a:xfrm>
            <a:off x="7019925" y="2420938"/>
            <a:ext cx="792163" cy="3873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eaLnBrk="1" hangingPunct="1">
              <a:spcBef>
                <a:spcPct val="50000"/>
              </a:spcBef>
            </a:pPr>
            <a:r>
              <a:rPr lang="en-US" altLang="zh-TW" sz="2400">
                <a:solidFill>
                  <a:schemeClr val="tx1"/>
                </a:solidFill>
              </a:rPr>
              <a:t>s-1</a:t>
            </a:r>
          </a:p>
        </p:txBody>
      </p:sp>
      <p:sp>
        <p:nvSpPr>
          <p:cNvPr id="12325" name="Text Box 56"/>
          <p:cNvSpPr txBox="1">
            <a:spLocks noChangeArrowheads="1"/>
          </p:cNvSpPr>
          <p:nvPr/>
        </p:nvSpPr>
        <p:spPr bwMode="auto">
          <a:xfrm>
            <a:off x="4284663" y="1916113"/>
            <a:ext cx="1512887" cy="38735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eaLnBrk="1" hangingPunct="1">
              <a:spcBef>
                <a:spcPct val="50000"/>
              </a:spcBef>
            </a:pPr>
            <a:r>
              <a:rPr lang="en-US" altLang="zh-TW" sz="2400">
                <a:solidFill>
                  <a:schemeClr val="tx1"/>
                </a:solidFill>
              </a:rPr>
              <a:t>s slots</a:t>
            </a:r>
          </a:p>
        </p:txBody>
      </p:sp>
    </p:spTree>
    <p:extLst>
      <p:ext uri="{BB962C8B-B14F-4D97-AF65-F5344CB8AC3E}">
        <p14:creationId xmlns:p14="http://schemas.microsoft.com/office/powerpoint/2010/main" val="79316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2E136440-C857-43DC-B056-0031D8C6CD72}" type="slidenum">
              <a:rPr lang="en-US" sz="1400"/>
              <a:pPr eaLnBrk="1" hangingPunct="1"/>
              <a:t>15</a:t>
            </a:fld>
            <a:endParaRPr lang="en-US" sz="1400"/>
          </a:p>
        </p:txBody>
      </p:sp>
      <p:sp>
        <p:nvSpPr>
          <p:cNvPr id="5123" name="Rectangle 2"/>
          <p:cNvSpPr>
            <a:spLocks noGrp="1" noChangeArrowheads="1"/>
          </p:cNvSpPr>
          <p:nvPr>
            <p:ph type="title"/>
          </p:nvPr>
        </p:nvSpPr>
        <p:spPr>
          <a:xfrm>
            <a:off x="838200" y="304800"/>
            <a:ext cx="7772400" cy="1143000"/>
          </a:xfrm>
        </p:spPr>
        <p:txBody>
          <a:bodyPr/>
          <a:lstStyle/>
          <a:p>
            <a:pPr eaLnBrk="1" hangingPunct="1"/>
            <a:r>
              <a:rPr lang="en-US" smtClean="0"/>
              <a:t>Hash Tables: Basic Idea</a:t>
            </a:r>
          </a:p>
        </p:txBody>
      </p:sp>
      <p:sp>
        <p:nvSpPr>
          <p:cNvPr id="5124" name="Rectangle 3"/>
          <p:cNvSpPr>
            <a:spLocks noGrp="1" noChangeArrowheads="1"/>
          </p:cNvSpPr>
          <p:nvPr>
            <p:ph type="body" idx="1"/>
          </p:nvPr>
        </p:nvSpPr>
        <p:spPr>
          <a:xfrm>
            <a:off x="762000" y="1600200"/>
            <a:ext cx="7772400" cy="4114800"/>
          </a:xfrm>
        </p:spPr>
        <p:txBody>
          <a:bodyPr/>
          <a:lstStyle/>
          <a:p>
            <a:pPr eaLnBrk="1" hangingPunct="1"/>
            <a:r>
              <a:rPr lang="en-US" sz="2800" smtClean="0">
                <a:solidFill>
                  <a:srgbClr val="0000FF"/>
                </a:solidFill>
              </a:rPr>
              <a:t>Use a key (arbitrary string or number) to index directly into an array</a:t>
            </a:r>
            <a:r>
              <a:rPr lang="en-US" sz="2800" smtClean="0"/>
              <a:t> – O(1) time to access records</a:t>
            </a:r>
          </a:p>
          <a:p>
            <a:pPr lvl="1" eaLnBrk="1" hangingPunct="1"/>
            <a:r>
              <a:rPr lang="en-US" sz="2400" smtClean="0"/>
              <a:t>A[“kreplach”] = “tasty stuffed dough”</a:t>
            </a:r>
          </a:p>
          <a:p>
            <a:pPr lvl="1" eaLnBrk="1" hangingPunct="1"/>
            <a:r>
              <a:rPr lang="en-US" sz="2400" smtClean="0"/>
              <a:t>Need a </a:t>
            </a:r>
            <a:r>
              <a:rPr lang="en-US" sz="2400" i="1" smtClean="0">
                <a:solidFill>
                  <a:srgbClr val="0000FF"/>
                </a:solidFill>
              </a:rPr>
              <a:t>hash function</a:t>
            </a:r>
            <a:r>
              <a:rPr lang="en-US" sz="2400" smtClean="0"/>
              <a:t> to convert the key to an integer</a:t>
            </a:r>
          </a:p>
        </p:txBody>
      </p:sp>
      <p:graphicFrame>
        <p:nvGraphicFramePr>
          <p:cNvPr id="129028" name="Group 4"/>
          <p:cNvGraphicFramePr>
            <a:graphicFrameLocks noGrp="1"/>
          </p:cNvGraphicFramePr>
          <p:nvPr/>
        </p:nvGraphicFramePr>
        <p:xfrm>
          <a:off x="1981200" y="3810000"/>
          <a:ext cx="5486400" cy="2565400"/>
        </p:xfrm>
        <a:graphic>
          <a:graphicData uri="http://schemas.openxmlformats.org/drawingml/2006/table">
            <a:tbl>
              <a:tblPr/>
              <a:tblGrid>
                <a:gridCol w="685800"/>
                <a:gridCol w="1981200"/>
                <a:gridCol w="2819400"/>
              </a:tblGrid>
              <a:tr h="641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5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52"/>
                        </a:rPr>
                        <a:t>Key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52"/>
                        </a:rPr>
                        <a:t>Data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1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5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52"/>
                        </a:rPr>
                        <a:t>kim chi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52"/>
                        </a:rPr>
                        <a:t>spicy cabbage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1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5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52"/>
                        </a:rPr>
                        <a:t>kreplach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52"/>
                        </a:rPr>
                        <a:t>tasty stuffed dough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1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5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52"/>
                        </a:rPr>
                        <a:t>kiwi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52"/>
                        </a:rPr>
                        <a:t>Australian fruit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698304003"/>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376B7A2C-F6A9-470A-AEB5-3188EE5B2803}" type="slidenum">
              <a:rPr lang="en-US" sz="1400"/>
              <a:pPr eaLnBrk="1" hangingPunct="1"/>
              <a:t>16</a:t>
            </a:fld>
            <a:endParaRPr lang="en-US" sz="1400"/>
          </a:p>
        </p:txBody>
      </p:sp>
      <p:sp>
        <p:nvSpPr>
          <p:cNvPr id="6147" name="Rectangle 2"/>
          <p:cNvSpPr>
            <a:spLocks noGrp="1" noChangeArrowheads="1"/>
          </p:cNvSpPr>
          <p:nvPr>
            <p:ph type="title"/>
          </p:nvPr>
        </p:nvSpPr>
        <p:spPr>
          <a:xfrm>
            <a:off x="609600" y="304800"/>
            <a:ext cx="7772400" cy="1143000"/>
          </a:xfrm>
        </p:spPr>
        <p:txBody>
          <a:bodyPr/>
          <a:lstStyle/>
          <a:p>
            <a:pPr eaLnBrk="1" hangingPunct="1"/>
            <a:r>
              <a:rPr lang="en-US" smtClean="0"/>
              <a:t>Applications</a:t>
            </a:r>
          </a:p>
        </p:txBody>
      </p:sp>
      <p:sp>
        <p:nvSpPr>
          <p:cNvPr id="6148" name="Rectangle 3"/>
          <p:cNvSpPr>
            <a:spLocks noGrp="1" noChangeArrowheads="1"/>
          </p:cNvSpPr>
          <p:nvPr>
            <p:ph type="body" idx="1"/>
          </p:nvPr>
        </p:nvSpPr>
        <p:spPr>
          <a:xfrm>
            <a:off x="533400" y="1219200"/>
            <a:ext cx="8001000" cy="5257800"/>
          </a:xfrm>
        </p:spPr>
        <p:txBody>
          <a:bodyPr/>
          <a:lstStyle/>
          <a:p>
            <a:pPr eaLnBrk="1" hangingPunct="1"/>
            <a:r>
              <a:rPr lang="en-US" sz="2800" smtClean="0"/>
              <a:t>When log(</a:t>
            </a:r>
            <a:r>
              <a:rPr lang="en-US" sz="2800" i="1" smtClean="0"/>
              <a:t>n</a:t>
            </a:r>
            <a:r>
              <a:rPr lang="en-US" sz="2800" smtClean="0"/>
              <a:t>) is just too big…</a:t>
            </a:r>
          </a:p>
          <a:p>
            <a:pPr lvl="1" eaLnBrk="1" hangingPunct="1"/>
            <a:r>
              <a:rPr lang="en-US" sz="2400" smtClean="0"/>
              <a:t>Symbol tables in interpreters</a:t>
            </a:r>
          </a:p>
          <a:p>
            <a:pPr lvl="1" eaLnBrk="1" hangingPunct="1"/>
            <a:r>
              <a:rPr lang="en-US" sz="2400" smtClean="0"/>
              <a:t>Real-time databases (in core or on disk)</a:t>
            </a:r>
          </a:p>
          <a:p>
            <a:pPr lvl="2" eaLnBrk="1" hangingPunct="1"/>
            <a:r>
              <a:rPr lang="en-US" sz="2000" smtClean="0"/>
              <a:t>air traffic control</a:t>
            </a:r>
          </a:p>
          <a:p>
            <a:pPr lvl="2" eaLnBrk="1" hangingPunct="1"/>
            <a:r>
              <a:rPr lang="en-US" sz="2000" smtClean="0"/>
              <a:t>packet routing</a:t>
            </a:r>
          </a:p>
          <a:p>
            <a:pPr eaLnBrk="1" hangingPunct="1"/>
            <a:r>
              <a:rPr lang="en-US" sz="2800" smtClean="0"/>
              <a:t>When associative memory is needed…</a:t>
            </a:r>
          </a:p>
          <a:p>
            <a:pPr lvl="1" eaLnBrk="1" hangingPunct="1"/>
            <a:r>
              <a:rPr lang="en-US" sz="2400" smtClean="0"/>
              <a:t>Dynamic programming</a:t>
            </a:r>
          </a:p>
          <a:p>
            <a:pPr lvl="2" eaLnBrk="1" hangingPunct="1"/>
            <a:r>
              <a:rPr lang="en-US" sz="2000" smtClean="0"/>
              <a:t>cache results of previous computation</a:t>
            </a:r>
          </a:p>
          <a:p>
            <a:pPr lvl="2" eaLnBrk="1" hangingPunct="1">
              <a:buFontTx/>
              <a:buNone/>
            </a:pPr>
            <a:r>
              <a:rPr lang="en-US" sz="2000" b="1" smtClean="0">
                <a:solidFill>
                  <a:schemeClr val="accent2"/>
                </a:solidFill>
              </a:rPr>
              <a:t>f(x) </a:t>
            </a:r>
            <a:r>
              <a:rPr lang="en-US" sz="2000" b="1" smtClean="0">
                <a:solidFill>
                  <a:schemeClr val="accent2"/>
                </a:solidFill>
                <a:sym typeface="Wingdings" pitchFamily="2" charset="2"/>
              </a:rPr>
              <a:t>if ( Find(x) ) then Find(x) else f(x)</a:t>
            </a:r>
          </a:p>
          <a:p>
            <a:pPr lvl="2" eaLnBrk="1" hangingPunct="1"/>
            <a:r>
              <a:rPr lang="en-US" sz="2000" smtClean="0">
                <a:sym typeface="Wingdings" pitchFamily="2" charset="2"/>
              </a:rPr>
              <a:t>Chess endgames</a:t>
            </a:r>
          </a:p>
          <a:p>
            <a:pPr lvl="1" eaLnBrk="1" hangingPunct="1"/>
            <a:r>
              <a:rPr lang="en-US" sz="2400" smtClean="0"/>
              <a:t>Many text processing applications – e.g. Web</a:t>
            </a:r>
          </a:p>
          <a:p>
            <a:pPr lvl="2" eaLnBrk="1" hangingPunct="1">
              <a:buFontTx/>
              <a:buNone/>
            </a:pPr>
            <a:r>
              <a:rPr lang="en-US" sz="2000" b="1" smtClean="0">
                <a:solidFill>
                  <a:schemeClr val="accent2"/>
                </a:solidFill>
              </a:rPr>
              <a:t>$Status{$LastURL} = “visited”;</a:t>
            </a:r>
          </a:p>
          <a:p>
            <a:pPr eaLnBrk="1" hangingPunct="1"/>
            <a:endParaRPr lang="en-US" sz="2800" b="1" smtClean="0">
              <a:solidFill>
                <a:schemeClr val="accent2"/>
              </a:solidFill>
            </a:endParaRPr>
          </a:p>
        </p:txBody>
      </p:sp>
      <p:pic>
        <p:nvPicPr>
          <p:cNvPr id="6149" name="Picture 4" descr="http://www.rebel.nl/db-gk/endpos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667000"/>
            <a:ext cx="2047875"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53234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F7184145-A46A-46BC-B40D-B3D0F91BA393}" type="slidenum">
              <a:rPr lang="en-US" sz="1400"/>
              <a:pPr eaLnBrk="1" hangingPunct="1"/>
              <a:t>17</a:t>
            </a:fld>
            <a:endParaRPr lang="en-US" sz="1400"/>
          </a:p>
        </p:txBody>
      </p:sp>
      <p:sp>
        <p:nvSpPr>
          <p:cNvPr id="7171" name="Rectangle 2"/>
          <p:cNvSpPr>
            <a:spLocks noGrp="1" noChangeArrowheads="1"/>
          </p:cNvSpPr>
          <p:nvPr>
            <p:ph type="title"/>
          </p:nvPr>
        </p:nvSpPr>
        <p:spPr/>
        <p:txBody>
          <a:bodyPr>
            <a:normAutofit fontScale="90000"/>
          </a:bodyPr>
          <a:lstStyle/>
          <a:p>
            <a:pPr eaLnBrk="1" hangingPunct="1"/>
            <a:r>
              <a:rPr lang="en-US" sz="3600" smtClean="0"/>
              <a:t>How could you use hash tables to…</a:t>
            </a:r>
            <a:br>
              <a:rPr lang="en-US" sz="3600" smtClean="0"/>
            </a:br>
            <a:endParaRPr lang="en-US" sz="3600" smtClean="0"/>
          </a:p>
        </p:txBody>
      </p:sp>
      <p:sp>
        <p:nvSpPr>
          <p:cNvPr id="7172" name="Rectangle 3"/>
          <p:cNvSpPr>
            <a:spLocks noGrp="1" noChangeArrowheads="1"/>
          </p:cNvSpPr>
          <p:nvPr>
            <p:ph type="body" idx="1"/>
          </p:nvPr>
        </p:nvSpPr>
        <p:spPr>
          <a:xfrm>
            <a:off x="533400" y="1371600"/>
            <a:ext cx="8077200" cy="4876800"/>
          </a:xfrm>
        </p:spPr>
        <p:txBody>
          <a:bodyPr/>
          <a:lstStyle/>
          <a:p>
            <a:pPr eaLnBrk="1" hangingPunct="1"/>
            <a:r>
              <a:rPr lang="en-US" sz="2800" smtClean="0"/>
              <a:t>Implement a linked list of unique elements?</a:t>
            </a:r>
          </a:p>
          <a:p>
            <a:pPr eaLnBrk="1" hangingPunct="1"/>
            <a:endParaRPr lang="en-US" sz="2800" smtClean="0"/>
          </a:p>
          <a:p>
            <a:pPr eaLnBrk="1" hangingPunct="1"/>
            <a:endParaRPr lang="en-US" sz="2800" smtClean="0"/>
          </a:p>
          <a:p>
            <a:pPr eaLnBrk="1" hangingPunct="1"/>
            <a:r>
              <a:rPr lang="en-US" sz="2800" smtClean="0"/>
              <a:t>Create an index for a book?</a:t>
            </a:r>
          </a:p>
          <a:p>
            <a:pPr eaLnBrk="1" hangingPunct="1"/>
            <a:endParaRPr lang="en-US" sz="2800" smtClean="0"/>
          </a:p>
          <a:p>
            <a:pPr eaLnBrk="1" hangingPunct="1"/>
            <a:endParaRPr lang="en-US" sz="2800" smtClean="0"/>
          </a:p>
          <a:p>
            <a:pPr eaLnBrk="1" hangingPunct="1"/>
            <a:r>
              <a:rPr lang="en-US" sz="2800" smtClean="0"/>
              <a:t>Convert a document to a Sparse Boolean Vector (where each index represents a different word)?</a:t>
            </a:r>
          </a:p>
        </p:txBody>
      </p:sp>
    </p:spTree>
    <p:extLst>
      <p:ext uri="{BB962C8B-B14F-4D97-AF65-F5344CB8AC3E}">
        <p14:creationId xmlns:p14="http://schemas.microsoft.com/office/powerpoint/2010/main" val="19098562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228600" y="2286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Hash Table:</a:t>
            </a:r>
          </a:p>
        </p:txBody>
      </p:sp>
      <p:sp>
        <p:nvSpPr>
          <p:cNvPr id="15363" name="Text Box 3"/>
          <p:cNvSpPr txBox="1">
            <a:spLocks noChangeArrowheads="1"/>
          </p:cNvSpPr>
          <p:nvPr/>
        </p:nvSpPr>
        <p:spPr bwMode="auto">
          <a:xfrm>
            <a:off x="228600" y="914400"/>
            <a:ext cx="8610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Array of fixed size, whose indices are the </a:t>
            </a:r>
            <a:r>
              <a:rPr lang="en-US" sz="2400" b="1"/>
              <a:t>range of hash function</a:t>
            </a:r>
          </a:p>
        </p:txBody>
      </p:sp>
      <p:sp>
        <p:nvSpPr>
          <p:cNvPr id="15364" name="Text Box 4"/>
          <p:cNvSpPr txBox="1">
            <a:spLocks noChangeArrowheads="1"/>
          </p:cNvSpPr>
          <p:nvPr/>
        </p:nvSpPr>
        <p:spPr bwMode="auto">
          <a:xfrm>
            <a:off x="152400" y="20574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Hash Function:</a:t>
            </a:r>
          </a:p>
        </p:txBody>
      </p:sp>
      <p:sp>
        <p:nvSpPr>
          <p:cNvPr id="15365" name="Text Box 5"/>
          <p:cNvSpPr txBox="1">
            <a:spLocks noChangeArrowheads="1"/>
          </p:cNvSpPr>
          <p:nvPr/>
        </p:nvSpPr>
        <p:spPr bwMode="auto">
          <a:xfrm>
            <a:off x="228600" y="2895600"/>
            <a:ext cx="853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A </a:t>
            </a:r>
            <a:r>
              <a:rPr lang="en-US" sz="2400" b="1"/>
              <a:t>function</a:t>
            </a:r>
            <a:r>
              <a:rPr lang="en-US" sz="2400"/>
              <a:t> that takes an element {may be int, string} and </a:t>
            </a:r>
            <a:r>
              <a:rPr lang="en-US" sz="2400" b="1"/>
              <a:t>output an integer</a:t>
            </a:r>
            <a:r>
              <a:rPr lang="en-US" sz="2400"/>
              <a:t> in a certain range </a:t>
            </a:r>
          </a:p>
        </p:txBody>
      </p:sp>
      <p:sp>
        <p:nvSpPr>
          <p:cNvPr id="15366" name="Text Box 6"/>
          <p:cNvSpPr txBox="1">
            <a:spLocks noChangeArrowheads="1"/>
          </p:cNvSpPr>
          <p:nvPr/>
        </p:nvSpPr>
        <p:spPr bwMode="auto">
          <a:xfrm>
            <a:off x="228600" y="4114800"/>
            <a:ext cx="8458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This integer is used to </a:t>
            </a:r>
            <a:r>
              <a:rPr lang="en-US" sz="2400" b="1"/>
              <a:t>determine the location</a:t>
            </a:r>
            <a:r>
              <a:rPr lang="en-US" sz="2400"/>
              <a:t> in the table for that element  </a:t>
            </a:r>
          </a:p>
        </p:txBody>
      </p:sp>
      <p:sp>
        <p:nvSpPr>
          <p:cNvPr id="15367" name="Text Box 7"/>
          <p:cNvSpPr txBox="1">
            <a:spLocks noChangeArrowheads="1"/>
          </p:cNvSpPr>
          <p:nvPr/>
        </p:nvSpPr>
        <p:spPr bwMode="auto">
          <a:xfrm>
            <a:off x="3429000" y="50292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t>h(k) = k mod m </a:t>
            </a:r>
          </a:p>
        </p:txBody>
      </p:sp>
      <p:sp>
        <p:nvSpPr>
          <p:cNvPr id="15368" name="Text Box 8"/>
          <p:cNvSpPr txBox="1">
            <a:spLocks noChangeArrowheads="1"/>
          </p:cNvSpPr>
          <p:nvPr/>
        </p:nvSpPr>
        <p:spPr bwMode="auto">
          <a:xfrm>
            <a:off x="2590800" y="5805488"/>
            <a:ext cx="1752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rgbClr val="FF0000"/>
                </a:solidFill>
              </a:rPr>
              <a:t>Hash function</a:t>
            </a:r>
          </a:p>
        </p:txBody>
      </p:sp>
      <p:sp>
        <p:nvSpPr>
          <p:cNvPr id="15369" name="Text Box 9"/>
          <p:cNvSpPr txBox="1">
            <a:spLocks noChangeArrowheads="1"/>
          </p:cNvSpPr>
          <p:nvPr/>
        </p:nvSpPr>
        <p:spPr bwMode="auto">
          <a:xfrm>
            <a:off x="4648200" y="5805488"/>
            <a:ext cx="1143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rgbClr val="FF0000"/>
                </a:solidFill>
              </a:rPr>
              <a:t>Element</a:t>
            </a:r>
          </a:p>
        </p:txBody>
      </p:sp>
      <p:sp>
        <p:nvSpPr>
          <p:cNvPr id="15370" name="Text Box 10"/>
          <p:cNvSpPr txBox="1">
            <a:spLocks noChangeArrowheads="1"/>
          </p:cNvSpPr>
          <p:nvPr/>
        </p:nvSpPr>
        <p:spPr bwMode="auto">
          <a:xfrm>
            <a:off x="5943600" y="5791200"/>
            <a:ext cx="1447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b="1">
                <a:solidFill>
                  <a:srgbClr val="FF0000"/>
                </a:solidFill>
              </a:rPr>
              <a:t>Table Size </a:t>
            </a:r>
          </a:p>
        </p:txBody>
      </p:sp>
      <p:sp>
        <p:nvSpPr>
          <p:cNvPr id="15371" name="Line 11"/>
          <p:cNvSpPr>
            <a:spLocks noChangeShapeType="1"/>
          </p:cNvSpPr>
          <p:nvPr/>
        </p:nvSpPr>
        <p:spPr bwMode="auto">
          <a:xfrm flipV="1">
            <a:off x="3657600" y="5486400"/>
            <a:ext cx="0" cy="381000"/>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372" name="Line 12"/>
          <p:cNvSpPr>
            <a:spLocks noChangeShapeType="1"/>
          </p:cNvSpPr>
          <p:nvPr/>
        </p:nvSpPr>
        <p:spPr bwMode="auto">
          <a:xfrm flipH="1" flipV="1">
            <a:off x="4533900" y="5435600"/>
            <a:ext cx="381000" cy="381000"/>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5373" name="Line 13"/>
          <p:cNvSpPr>
            <a:spLocks noChangeShapeType="1"/>
          </p:cNvSpPr>
          <p:nvPr/>
        </p:nvSpPr>
        <p:spPr bwMode="auto">
          <a:xfrm flipH="1" flipV="1">
            <a:off x="5613400" y="5435600"/>
            <a:ext cx="457200" cy="304800"/>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202083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 calcmode="lin" valueType="num">
                                      <p:cBhvr additive="base">
                                        <p:cTn id="7" dur="500" fill="hold"/>
                                        <p:tgtEl>
                                          <p:spTgt spid="15362"/>
                                        </p:tgtEl>
                                        <p:attrNameLst>
                                          <p:attrName>ppt_x</p:attrName>
                                        </p:attrNameLst>
                                      </p:cBhvr>
                                      <p:tavLst>
                                        <p:tav tm="0">
                                          <p:val>
                                            <p:strVal val="#ppt_x"/>
                                          </p:val>
                                        </p:tav>
                                        <p:tav tm="100000">
                                          <p:val>
                                            <p:strVal val="#ppt_x"/>
                                          </p:val>
                                        </p:tav>
                                      </p:tavLst>
                                    </p:anim>
                                    <p:anim calcmode="lin" valueType="num">
                                      <p:cBhvr additive="base">
                                        <p:cTn id="8" dur="500" fill="hold"/>
                                        <p:tgtEl>
                                          <p:spTgt spid="1536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gtEl>
                                        <p:attrNameLst>
                                          <p:attrName>style.visibility</p:attrName>
                                        </p:attrNameLst>
                                      </p:cBhvr>
                                      <p:to>
                                        <p:strVal val="visible"/>
                                      </p:to>
                                    </p:set>
                                    <p:anim calcmode="lin" valueType="num">
                                      <p:cBhvr additive="base">
                                        <p:cTn id="13" dur="500" fill="hold"/>
                                        <p:tgtEl>
                                          <p:spTgt spid="15363"/>
                                        </p:tgtEl>
                                        <p:attrNameLst>
                                          <p:attrName>ppt_x</p:attrName>
                                        </p:attrNameLst>
                                      </p:cBhvr>
                                      <p:tavLst>
                                        <p:tav tm="0">
                                          <p:val>
                                            <p:strVal val="#ppt_x"/>
                                          </p:val>
                                        </p:tav>
                                        <p:tav tm="100000">
                                          <p:val>
                                            <p:strVal val="#ppt_x"/>
                                          </p:val>
                                        </p:tav>
                                      </p:tavLst>
                                    </p:anim>
                                    <p:anim calcmode="lin" valueType="num">
                                      <p:cBhvr additive="base">
                                        <p:cTn id="14"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4"/>
                                        </p:tgtEl>
                                        <p:attrNameLst>
                                          <p:attrName>style.visibility</p:attrName>
                                        </p:attrNameLst>
                                      </p:cBhvr>
                                      <p:to>
                                        <p:strVal val="visible"/>
                                      </p:to>
                                    </p:set>
                                    <p:anim calcmode="lin" valueType="num">
                                      <p:cBhvr additive="base">
                                        <p:cTn id="19" dur="500" fill="hold"/>
                                        <p:tgtEl>
                                          <p:spTgt spid="15364"/>
                                        </p:tgtEl>
                                        <p:attrNameLst>
                                          <p:attrName>ppt_x</p:attrName>
                                        </p:attrNameLst>
                                      </p:cBhvr>
                                      <p:tavLst>
                                        <p:tav tm="0">
                                          <p:val>
                                            <p:strVal val="#ppt_x"/>
                                          </p:val>
                                        </p:tav>
                                        <p:tav tm="100000">
                                          <p:val>
                                            <p:strVal val="#ppt_x"/>
                                          </p:val>
                                        </p:tav>
                                      </p:tavLst>
                                    </p:anim>
                                    <p:anim calcmode="lin" valueType="num">
                                      <p:cBhvr additive="base">
                                        <p:cTn id="20" dur="500" fill="hold"/>
                                        <p:tgtEl>
                                          <p:spTgt spid="1536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5"/>
                                        </p:tgtEl>
                                        <p:attrNameLst>
                                          <p:attrName>style.visibility</p:attrName>
                                        </p:attrNameLst>
                                      </p:cBhvr>
                                      <p:to>
                                        <p:strVal val="visible"/>
                                      </p:to>
                                    </p:set>
                                    <p:anim calcmode="lin" valueType="num">
                                      <p:cBhvr additive="base">
                                        <p:cTn id="25" dur="500" fill="hold"/>
                                        <p:tgtEl>
                                          <p:spTgt spid="15365"/>
                                        </p:tgtEl>
                                        <p:attrNameLst>
                                          <p:attrName>ppt_x</p:attrName>
                                        </p:attrNameLst>
                                      </p:cBhvr>
                                      <p:tavLst>
                                        <p:tav tm="0">
                                          <p:val>
                                            <p:strVal val="#ppt_x"/>
                                          </p:val>
                                        </p:tav>
                                        <p:tav tm="100000">
                                          <p:val>
                                            <p:strVal val="#ppt_x"/>
                                          </p:val>
                                        </p:tav>
                                      </p:tavLst>
                                    </p:anim>
                                    <p:anim calcmode="lin" valueType="num">
                                      <p:cBhvr additive="base">
                                        <p:cTn id="26" dur="500" fill="hold"/>
                                        <p:tgtEl>
                                          <p:spTgt spid="1536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66"/>
                                        </p:tgtEl>
                                        <p:attrNameLst>
                                          <p:attrName>style.visibility</p:attrName>
                                        </p:attrNameLst>
                                      </p:cBhvr>
                                      <p:to>
                                        <p:strVal val="visible"/>
                                      </p:to>
                                    </p:set>
                                    <p:anim calcmode="lin" valueType="num">
                                      <p:cBhvr additive="base">
                                        <p:cTn id="31" dur="500" fill="hold"/>
                                        <p:tgtEl>
                                          <p:spTgt spid="15366"/>
                                        </p:tgtEl>
                                        <p:attrNameLst>
                                          <p:attrName>ppt_x</p:attrName>
                                        </p:attrNameLst>
                                      </p:cBhvr>
                                      <p:tavLst>
                                        <p:tav tm="0">
                                          <p:val>
                                            <p:strVal val="#ppt_x"/>
                                          </p:val>
                                        </p:tav>
                                        <p:tav tm="100000">
                                          <p:val>
                                            <p:strVal val="#ppt_x"/>
                                          </p:val>
                                        </p:tav>
                                      </p:tavLst>
                                    </p:anim>
                                    <p:anim calcmode="lin" valueType="num">
                                      <p:cBhvr additive="base">
                                        <p:cTn id="32"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367"/>
                                        </p:tgtEl>
                                        <p:attrNameLst>
                                          <p:attrName>style.visibility</p:attrName>
                                        </p:attrNameLst>
                                      </p:cBhvr>
                                      <p:to>
                                        <p:strVal val="visible"/>
                                      </p:to>
                                    </p:set>
                                    <p:anim calcmode="lin" valueType="num">
                                      <p:cBhvr additive="base">
                                        <p:cTn id="37" dur="500" fill="hold"/>
                                        <p:tgtEl>
                                          <p:spTgt spid="15367"/>
                                        </p:tgtEl>
                                        <p:attrNameLst>
                                          <p:attrName>ppt_x</p:attrName>
                                        </p:attrNameLst>
                                      </p:cBhvr>
                                      <p:tavLst>
                                        <p:tav tm="0">
                                          <p:val>
                                            <p:strVal val="#ppt_x"/>
                                          </p:val>
                                        </p:tav>
                                        <p:tav tm="100000">
                                          <p:val>
                                            <p:strVal val="#ppt_x"/>
                                          </p:val>
                                        </p:tav>
                                      </p:tavLst>
                                    </p:anim>
                                    <p:anim calcmode="lin" valueType="num">
                                      <p:cBhvr additive="base">
                                        <p:cTn id="38"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371"/>
                                        </p:tgtEl>
                                        <p:attrNameLst>
                                          <p:attrName>style.visibility</p:attrName>
                                        </p:attrNameLst>
                                      </p:cBhvr>
                                      <p:to>
                                        <p:strVal val="visible"/>
                                      </p:to>
                                    </p:set>
                                    <p:anim calcmode="lin" valueType="num">
                                      <p:cBhvr additive="base">
                                        <p:cTn id="43" dur="500" fill="hold"/>
                                        <p:tgtEl>
                                          <p:spTgt spid="15371"/>
                                        </p:tgtEl>
                                        <p:attrNameLst>
                                          <p:attrName>ppt_x</p:attrName>
                                        </p:attrNameLst>
                                      </p:cBhvr>
                                      <p:tavLst>
                                        <p:tav tm="0">
                                          <p:val>
                                            <p:strVal val="#ppt_x"/>
                                          </p:val>
                                        </p:tav>
                                        <p:tav tm="100000">
                                          <p:val>
                                            <p:strVal val="#ppt_x"/>
                                          </p:val>
                                        </p:tav>
                                      </p:tavLst>
                                    </p:anim>
                                    <p:anim calcmode="lin" valueType="num">
                                      <p:cBhvr additive="base">
                                        <p:cTn id="44" dur="500" fill="hold"/>
                                        <p:tgtEl>
                                          <p:spTgt spid="1537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5368"/>
                                        </p:tgtEl>
                                        <p:attrNameLst>
                                          <p:attrName>style.visibility</p:attrName>
                                        </p:attrNameLst>
                                      </p:cBhvr>
                                      <p:to>
                                        <p:strVal val="visible"/>
                                      </p:to>
                                    </p:set>
                                    <p:anim calcmode="lin" valueType="num">
                                      <p:cBhvr additive="base">
                                        <p:cTn id="47" dur="500" fill="hold"/>
                                        <p:tgtEl>
                                          <p:spTgt spid="15368"/>
                                        </p:tgtEl>
                                        <p:attrNameLst>
                                          <p:attrName>ppt_x</p:attrName>
                                        </p:attrNameLst>
                                      </p:cBhvr>
                                      <p:tavLst>
                                        <p:tav tm="0">
                                          <p:val>
                                            <p:strVal val="#ppt_x"/>
                                          </p:val>
                                        </p:tav>
                                        <p:tav tm="100000">
                                          <p:val>
                                            <p:strVal val="#ppt_x"/>
                                          </p:val>
                                        </p:tav>
                                      </p:tavLst>
                                    </p:anim>
                                    <p:anim calcmode="lin" valueType="num">
                                      <p:cBhvr additive="base">
                                        <p:cTn id="48" dur="500" fill="hold"/>
                                        <p:tgtEl>
                                          <p:spTgt spid="1536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5372"/>
                                        </p:tgtEl>
                                        <p:attrNameLst>
                                          <p:attrName>style.visibility</p:attrName>
                                        </p:attrNameLst>
                                      </p:cBhvr>
                                      <p:to>
                                        <p:strVal val="visible"/>
                                      </p:to>
                                    </p:set>
                                    <p:anim calcmode="lin" valueType="num">
                                      <p:cBhvr additive="base">
                                        <p:cTn id="51" dur="500" fill="hold"/>
                                        <p:tgtEl>
                                          <p:spTgt spid="15372"/>
                                        </p:tgtEl>
                                        <p:attrNameLst>
                                          <p:attrName>ppt_x</p:attrName>
                                        </p:attrNameLst>
                                      </p:cBhvr>
                                      <p:tavLst>
                                        <p:tav tm="0">
                                          <p:val>
                                            <p:strVal val="#ppt_x"/>
                                          </p:val>
                                        </p:tav>
                                        <p:tav tm="100000">
                                          <p:val>
                                            <p:strVal val="#ppt_x"/>
                                          </p:val>
                                        </p:tav>
                                      </p:tavLst>
                                    </p:anim>
                                    <p:anim calcmode="lin" valueType="num">
                                      <p:cBhvr additive="base">
                                        <p:cTn id="52" dur="500" fill="hold"/>
                                        <p:tgtEl>
                                          <p:spTgt spid="1537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369"/>
                                        </p:tgtEl>
                                        <p:attrNameLst>
                                          <p:attrName>style.visibility</p:attrName>
                                        </p:attrNameLst>
                                      </p:cBhvr>
                                      <p:to>
                                        <p:strVal val="visible"/>
                                      </p:to>
                                    </p:set>
                                    <p:anim calcmode="lin" valueType="num">
                                      <p:cBhvr additive="base">
                                        <p:cTn id="55" dur="500" fill="hold"/>
                                        <p:tgtEl>
                                          <p:spTgt spid="15369"/>
                                        </p:tgtEl>
                                        <p:attrNameLst>
                                          <p:attrName>ppt_x</p:attrName>
                                        </p:attrNameLst>
                                      </p:cBhvr>
                                      <p:tavLst>
                                        <p:tav tm="0">
                                          <p:val>
                                            <p:strVal val="#ppt_x"/>
                                          </p:val>
                                        </p:tav>
                                        <p:tav tm="100000">
                                          <p:val>
                                            <p:strVal val="#ppt_x"/>
                                          </p:val>
                                        </p:tav>
                                      </p:tavLst>
                                    </p:anim>
                                    <p:anim calcmode="lin" valueType="num">
                                      <p:cBhvr additive="base">
                                        <p:cTn id="56" dur="500" fill="hold"/>
                                        <p:tgtEl>
                                          <p:spTgt spid="1536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5373"/>
                                        </p:tgtEl>
                                        <p:attrNameLst>
                                          <p:attrName>style.visibility</p:attrName>
                                        </p:attrNameLst>
                                      </p:cBhvr>
                                      <p:to>
                                        <p:strVal val="visible"/>
                                      </p:to>
                                    </p:set>
                                    <p:anim calcmode="lin" valueType="num">
                                      <p:cBhvr additive="base">
                                        <p:cTn id="59" dur="500" fill="hold"/>
                                        <p:tgtEl>
                                          <p:spTgt spid="15373"/>
                                        </p:tgtEl>
                                        <p:attrNameLst>
                                          <p:attrName>ppt_x</p:attrName>
                                        </p:attrNameLst>
                                      </p:cBhvr>
                                      <p:tavLst>
                                        <p:tav tm="0">
                                          <p:val>
                                            <p:strVal val="#ppt_x"/>
                                          </p:val>
                                        </p:tav>
                                        <p:tav tm="100000">
                                          <p:val>
                                            <p:strVal val="#ppt_x"/>
                                          </p:val>
                                        </p:tav>
                                      </p:tavLst>
                                    </p:anim>
                                    <p:anim calcmode="lin" valueType="num">
                                      <p:cBhvr additive="base">
                                        <p:cTn id="60" dur="500" fill="hold"/>
                                        <p:tgtEl>
                                          <p:spTgt spid="1537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5370"/>
                                        </p:tgtEl>
                                        <p:attrNameLst>
                                          <p:attrName>style.visibility</p:attrName>
                                        </p:attrNameLst>
                                      </p:cBhvr>
                                      <p:to>
                                        <p:strVal val="visible"/>
                                      </p:to>
                                    </p:set>
                                    <p:anim calcmode="lin" valueType="num">
                                      <p:cBhvr additive="base">
                                        <p:cTn id="63" dur="500" fill="hold"/>
                                        <p:tgtEl>
                                          <p:spTgt spid="15370"/>
                                        </p:tgtEl>
                                        <p:attrNameLst>
                                          <p:attrName>ppt_x</p:attrName>
                                        </p:attrNameLst>
                                      </p:cBhvr>
                                      <p:tavLst>
                                        <p:tav tm="0">
                                          <p:val>
                                            <p:strVal val="#ppt_x"/>
                                          </p:val>
                                        </p:tav>
                                        <p:tav tm="100000">
                                          <p:val>
                                            <p:strVal val="#ppt_x"/>
                                          </p:val>
                                        </p:tav>
                                      </p:tavLst>
                                    </p:anim>
                                    <p:anim calcmode="lin" valueType="num">
                                      <p:cBhvr additive="base">
                                        <p:cTn id="64" dur="500" fill="hold"/>
                                        <p:tgtEl>
                                          <p:spTgt spid="153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3" grpId="0"/>
      <p:bldP spid="15364" grpId="0"/>
      <p:bldP spid="15365" grpId="0"/>
      <p:bldP spid="15366" grpId="0"/>
      <p:bldP spid="15367" grpId="0"/>
      <p:bldP spid="15368" grpId="0"/>
      <p:bldP spid="15369" grpId="0"/>
      <p:bldP spid="15370" grpId="0"/>
      <p:bldP spid="15371" grpId="0" animBg="1"/>
      <p:bldP spid="15372" grpId="0" animBg="1"/>
      <p:bldP spid="1537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idx="4294967295"/>
          </p:nvPr>
        </p:nvSpPr>
        <p:spPr>
          <a:xfrm>
            <a:off x="1150938" y="303213"/>
            <a:ext cx="7793037" cy="1465262"/>
          </a:xfrm>
        </p:spPr>
        <p:txBody>
          <a:bodyPr lIns="0" tIns="0" rIns="0" bIns="0" anchor="ct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dirty="0" smtClean="0"/>
              <a:t>Choice of Hash Function</a:t>
            </a:r>
          </a:p>
        </p:txBody>
      </p:sp>
      <p:sp>
        <p:nvSpPr>
          <p:cNvPr id="22531" name="Rectangle 2"/>
          <p:cNvSpPr>
            <a:spLocks noGrp="1" noChangeArrowheads="1"/>
          </p:cNvSpPr>
          <p:nvPr>
            <p:ph type="body" idx="4294967295"/>
          </p:nvPr>
        </p:nvSpPr>
        <p:spPr>
          <a:xfrm>
            <a:off x="1182688" y="2017713"/>
            <a:ext cx="7772400" cy="4779898"/>
          </a:xfrm>
        </p:spPr>
        <p:txBody>
          <a:bodyPr lIns="0" tIns="0" rIns="0" bIns="0">
            <a:spAutoFit/>
          </a:bodyPr>
          <a:lstStyle/>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Requirements</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easy to compute</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minimal number of collisions</a:t>
            </a:r>
          </a:p>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If a hashing function groups key values together, this is called </a:t>
            </a:r>
            <a:r>
              <a:rPr lang="en-GB" altLang="zh-TW" dirty="0" smtClean="0">
                <a:solidFill>
                  <a:srgbClr val="3333CC"/>
                </a:solidFill>
              </a:rPr>
              <a:t>clustering</a:t>
            </a:r>
            <a:r>
              <a:rPr lang="en-GB" altLang="zh-TW" dirty="0" smtClean="0"/>
              <a:t> of the keys.</a:t>
            </a:r>
          </a:p>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A good hashing function </a:t>
            </a:r>
            <a:r>
              <a:rPr lang="en-GB" altLang="zh-TW" dirty="0" smtClean="0">
                <a:solidFill>
                  <a:srgbClr val="FF0000"/>
                </a:solidFill>
              </a:rPr>
              <a:t>distributes the key values uniformly </a:t>
            </a:r>
            <a:r>
              <a:rPr lang="en-GB" altLang="zh-TW" dirty="0" smtClean="0"/>
              <a:t>throughout the range.</a:t>
            </a:r>
          </a:p>
        </p:txBody>
      </p:sp>
    </p:spTree>
    <p:extLst>
      <p:ext uri="{BB962C8B-B14F-4D97-AF65-F5344CB8AC3E}">
        <p14:creationId xmlns:p14="http://schemas.microsoft.com/office/powerpoint/2010/main" val="23932161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idx="4294967295"/>
          </p:nvPr>
        </p:nvSpPr>
        <p:spPr>
          <a:xfrm>
            <a:off x="1150938" y="693738"/>
            <a:ext cx="7793037" cy="684212"/>
          </a:xfrm>
        </p:spPr>
        <p:txBody>
          <a:bodyPr lIns="0" tIns="0" rIns="0" bIns="0" anchor="ct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smtClean="0"/>
              <a:t>Some hash functions</a:t>
            </a:r>
          </a:p>
        </p:txBody>
      </p:sp>
      <p:sp>
        <p:nvSpPr>
          <p:cNvPr id="23555" name="Rectangle 2"/>
          <p:cNvSpPr>
            <a:spLocks noGrp="1" noChangeArrowheads="1"/>
          </p:cNvSpPr>
          <p:nvPr>
            <p:ph type="body" idx="4294967295"/>
          </p:nvPr>
        </p:nvSpPr>
        <p:spPr>
          <a:xfrm>
            <a:off x="179512" y="1844824"/>
            <a:ext cx="8775576" cy="5401735"/>
          </a:xfrm>
        </p:spPr>
        <p:txBody>
          <a:bodyPr wrap="square" lIns="0" tIns="0" rIns="0" bIns="0">
            <a:spAutoFit/>
          </a:bodyPr>
          <a:lstStyle/>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solidFill>
                  <a:srgbClr val="FF0000"/>
                </a:solidFill>
              </a:rPr>
              <a:t>Middle of square</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H(x):= return middle digits of x^2</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i="1" dirty="0"/>
              <a:t>k x k = 60 x 60 = 3600</a:t>
            </a:r>
            <a:br>
              <a:rPr lang="en-US" i="1" dirty="0"/>
            </a:br>
            <a:r>
              <a:rPr lang="en-US" i="1" dirty="0"/>
              <a:t>h(60) = 60, The hash value obtained is 60</a:t>
            </a:r>
            <a:endParaRPr lang="zh-TW" altLang="en-GB" sz="1800" b="1" dirty="0">
              <a:solidFill>
                <a:srgbClr val="808080"/>
              </a:solidFill>
            </a:endParaRPr>
          </a:p>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solidFill>
                  <a:srgbClr val="FF0000"/>
                </a:solidFill>
              </a:rPr>
              <a:t>Division</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H(k):= return </a:t>
            </a:r>
            <a:r>
              <a:rPr lang="en-GB" altLang="zh-TW" dirty="0"/>
              <a:t>k</a:t>
            </a:r>
            <a:r>
              <a:rPr lang="en-GB" altLang="zh-TW" dirty="0" smtClean="0"/>
              <a:t> % m</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da-DK" i="1" dirty="0"/>
              <a:t>k = 1276</a:t>
            </a:r>
            <a:r>
              <a:rPr lang="da-DK" dirty="0"/>
              <a:t/>
            </a:r>
            <a:br>
              <a:rPr lang="da-DK" dirty="0"/>
            </a:br>
            <a:r>
              <a:rPr lang="da-DK" i="1" dirty="0"/>
              <a:t>M = 11</a:t>
            </a:r>
            <a:r>
              <a:rPr lang="da-DK" dirty="0"/>
              <a:t/>
            </a:r>
            <a:br>
              <a:rPr lang="da-DK" dirty="0"/>
            </a:br>
            <a:r>
              <a:rPr lang="da-DK" i="1" dirty="0"/>
              <a:t>h(1276) = 1276 mod 11 </a:t>
            </a:r>
            <a:r>
              <a:rPr lang="da-DK" dirty="0"/>
              <a:t/>
            </a:r>
            <a:br>
              <a:rPr lang="da-DK" dirty="0"/>
            </a:br>
            <a:r>
              <a:rPr lang="da-DK" i="1" dirty="0"/>
              <a:t>             = 0</a:t>
            </a:r>
            <a:endParaRPr lang="en-GB" altLang="zh-TW" dirty="0" smtClean="0"/>
          </a:p>
          <a:p>
            <a:endParaRPr lang="zh-TW" altLang="en-GB" sz="2000" b="1" dirty="0" smtClean="0">
              <a:solidFill>
                <a:srgbClr val="808080"/>
              </a:solidFill>
            </a:endParaRPr>
          </a:p>
        </p:txBody>
      </p:sp>
    </p:spTree>
    <p:extLst>
      <p:ext uri="{BB962C8B-B14F-4D97-AF65-F5344CB8AC3E}">
        <p14:creationId xmlns:p14="http://schemas.microsoft.com/office/powerpoint/2010/main" val="408905101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zh-TW" dirty="0"/>
              <a:t>Some hash functions </a:t>
            </a:r>
            <a:r>
              <a:rPr lang="en-GB" altLang="zh-TW" dirty="0" smtClean="0"/>
              <a:t>….</a:t>
            </a:r>
            <a:endParaRPr lang="en-IN" dirty="0"/>
          </a:p>
        </p:txBody>
      </p:sp>
      <p:sp>
        <p:nvSpPr>
          <p:cNvPr id="3" name="Content Placeholder 2"/>
          <p:cNvSpPr>
            <a:spLocks noGrp="1"/>
          </p:cNvSpPr>
          <p:nvPr>
            <p:ph idx="1"/>
          </p:nvPr>
        </p:nvSpPr>
        <p:spPr>
          <a:xfrm>
            <a:off x="179512" y="2017713"/>
            <a:ext cx="8770813" cy="4110037"/>
          </a:xfrm>
        </p:spPr>
        <p:txBody>
          <a:bodyPr/>
          <a:lstStyle/>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a:solidFill>
                  <a:srgbClr val="FF0000"/>
                </a:solidFill>
              </a:rPr>
              <a:t>Multiplicative:</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a:t>H(x):= return the first few digits of the fractional part of x*k, where k is a fraction.</a:t>
            </a:r>
          </a:p>
          <a:p>
            <a:r>
              <a:rPr lang="en-US" dirty="0" smtClean="0"/>
              <a:t>This </a:t>
            </a:r>
            <a:r>
              <a:rPr lang="en-US" dirty="0"/>
              <a:t>method involves the following steps:</a:t>
            </a:r>
          </a:p>
          <a:p>
            <a:pPr lvl="1"/>
            <a:r>
              <a:rPr lang="en-US" sz="1600" b="1" dirty="0"/>
              <a:t>Choose a constant value A such that 0 &lt; A &lt; 1.</a:t>
            </a:r>
          </a:p>
          <a:p>
            <a:pPr lvl="1"/>
            <a:r>
              <a:rPr lang="en-US" sz="1600" b="1" dirty="0"/>
              <a:t>Multiply the key value with A.</a:t>
            </a:r>
          </a:p>
          <a:p>
            <a:pPr lvl="1"/>
            <a:r>
              <a:rPr lang="en-US" sz="1600" b="1" dirty="0"/>
              <a:t>Extract the fractional part of kA.</a:t>
            </a:r>
          </a:p>
          <a:p>
            <a:pPr lvl="1"/>
            <a:r>
              <a:rPr lang="en-US" sz="1600" b="1" dirty="0"/>
              <a:t>Multiply the result of the above step by the size of the hash table i.e. M.</a:t>
            </a:r>
          </a:p>
          <a:p>
            <a:pPr lvl="1"/>
            <a:r>
              <a:rPr lang="en-US" sz="1600" b="1" dirty="0"/>
              <a:t>The resulting hash value is obtained by taking the floor of the result obtained in step 4.</a:t>
            </a:r>
          </a:p>
          <a:p>
            <a:endParaRPr lang="en-IN" dirty="0"/>
          </a:p>
        </p:txBody>
      </p:sp>
    </p:spTree>
    <p:extLst>
      <p:ext uri="{BB962C8B-B14F-4D97-AF65-F5344CB8AC3E}">
        <p14:creationId xmlns:p14="http://schemas.microsoft.com/office/powerpoint/2010/main" val="30371980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844824"/>
            <a:ext cx="8554789" cy="4498950"/>
          </a:xfrm>
        </p:spPr>
        <p:txBody>
          <a:bodyPr/>
          <a:lstStyle/>
          <a:p>
            <a:r>
              <a:rPr lang="en-US" sz="2400" b="1" i="1" dirty="0"/>
              <a:t>h(K) = floor (M (kA mod 1))</a:t>
            </a:r>
            <a:endParaRPr lang="en-US" sz="2400" i="1" dirty="0"/>
          </a:p>
          <a:p>
            <a:r>
              <a:rPr lang="en-US" sz="2400" i="1" dirty="0"/>
              <a:t>Here</a:t>
            </a:r>
            <a:r>
              <a:rPr lang="en-US" sz="2400" i="1" dirty="0" smtClean="0"/>
              <a:t>,  </a:t>
            </a:r>
            <a:r>
              <a:rPr lang="en-US" sz="2400" b="1" i="1" dirty="0" smtClean="0"/>
              <a:t>M</a:t>
            </a:r>
            <a:r>
              <a:rPr lang="en-US" sz="2400" b="1" i="1" dirty="0"/>
              <a:t> </a:t>
            </a:r>
            <a:r>
              <a:rPr lang="en-US" sz="2400" i="1" dirty="0"/>
              <a:t>is the size of the hash </a:t>
            </a:r>
            <a:r>
              <a:rPr lang="en-US" sz="2400" i="1" dirty="0" smtClean="0"/>
              <a:t>table,</a:t>
            </a:r>
            <a:r>
              <a:rPr lang="en-US" sz="2400" i="1" dirty="0"/>
              <a:t/>
            </a:r>
            <a:br>
              <a:rPr lang="en-US" sz="2400" i="1" dirty="0"/>
            </a:br>
            <a:r>
              <a:rPr lang="en-US" sz="2400" b="1" i="1" dirty="0"/>
              <a:t>k </a:t>
            </a:r>
            <a:r>
              <a:rPr lang="en-US" sz="2400" i="1" dirty="0"/>
              <a:t>is the key </a:t>
            </a:r>
            <a:r>
              <a:rPr lang="en-US" sz="2400" i="1" dirty="0" smtClean="0"/>
              <a:t>value, </a:t>
            </a:r>
            <a:r>
              <a:rPr lang="en-US" sz="2400" b="1" i="1" dirty="0" smtClean="0"/>
              <a:t>A</a:t>
            </a:r>
            <a:r>
              <a:rPr lang="en-US" sz="2400" b="1" i="1" dirty="0"/>
              <a:t> </a:t>
            </a:r>
            <a:r>
              <a:rPr lang="en-US" sz="2400" i="1" dirty="0"/>
              <a:t>is a constant value.</a:t>
            </a:r>
          </a:p>
          <a:p>
            <a:r>
              <a:rPr lang="en-US" sz="2800" i="1" dirty="0" err="1" smtClean="0"/>
              <a:t>Eg</a:t>
            </a:r>
            <a:r>
              <a:rPr lang="en-US" sz="2800" i="1" dirty="0" smtClean="0"/>
              <a:t>. k </a:t>
            </a:r>
            <a:r>
              <a:rPr lang="en-US" sz="2800" i="1" dirty="0"/>
              <a:t>= </a:t>
            </a:r>
            <a:r>
              <a:rPr lang="en-US" sz="2800" i="1" dirty="0" smtClean="0"/>
              <a:t>12345  , A </a:t>
            </a:r>
            <a:r>
              <a:rPr lang="en-US" sz="2800" i="1" dirty="0"/>
              <a:t>= </a:t>
            </a:r>
            <a:r>
              <a:rPr lang="en-US" sz="2800" i="1" dirty="0" smtClean="0"/>
              <a:t>0.357840 , M </a:t>
            </a:r>
            <a:r>
              <a:rPr lang="en-US" sz="2800" i="1" dirty="0"/>
              <a:t>= 100</a:t>
            </a:r>
          </a:p>
          <a:p>
            <a:r>
              <a:rPr lang="en-US" sz="2800" i="1" dirty="0"/>
              <a:t>h(12345) = floor[ 100 (12345*0.357840 mod 1)]</a:t>
            </a:r>
            <a:br>
              <a:rPr lang="en-US" sz="2800" i="1" dirty="0"/>
            </a:br>
            <a:r>
              <a:rPr lang="en-US" sz="2800" i="1" dirty="0"/>
              <a:t>               = floor[ 100 (4417.5348 mod 1) ]</a:t>
            </a:r>
            <a:br>
              <a:rPr lang="en-US" sz="2800" i="1" dirty="0"/>
            </a:br>
            <a:r>
              <a:rPr lang="en-US" sz="2800" i="1" dirty="0"/>
              <a:t>               = floor[ 100 (0.5348) ]</a:t>
            </a:r>
            <a:br>
              <a:rPr lang="en-US" sz="2800" i="1" dirty="0"/>
            </a:br>
            <a:r>
              <a:rPr lang="en-US" sz="2800" i="1" dirty="0"/>
              <a:t>               = floor[ 53.48 </a:t>
            </a:r>
            <a:r>
              <a:rPr lang="en-US" sz="2800" i="1" dirty="0" smtClean="0"/>
              <a:t>] = </a:t>
            </a:r>
            <a:r>
              <a:rPr lang="en-US" sz="2800" i="1" dirty="0"/>
              <a:t>53</a:t>
            </a:r>
          </a:p>
          <a:p>
            <a:endParaRPr lang="en-IN" dirty="0"/>
          </a:p>
        </p:txBody>
      </p:sp>
      <p:sp>
        <p:nvSpPr>
          <p:cNvPr id="5" name="Title 1"/>
          <p:cNvSpPr>
            <a:spLocks noGrp="1"/>
          </p:cNvSpPr>
          <p:nvPr>
            <p:ph type="title"/>
          </p:nvPr>
        </p:nvSpPr>
        <p:spPr>
          <a:xfrm>
            <a:off x="1150938" y="214313"/>
            <a:ext cx="7788275" cy="1462087"/>
          </a:xfrm>
        </p:spPr>
        <p:txBody>
          <a:bodyPr/>
          <a:lstStyle/>
          <a:p>
            <a:r>
              <a:rPr lang="en-GB" altLang="zh-TW" dirty="0"/>
              <a:t>Some hash functions </a:t>
            </a:r>
            <a:r>
              <a:rPr lang="en-GB" altLang="zh-TW" dirty="0" smtClean="0"/>
              <a:t>….</a:t>
            </a:r>
            <a:endParaRPr lang="en-IN" dirty="0"/>
          </a:p>
        </p:txBody>
      </p:sp>
    </p:spTree>
    <p:extLst>
      <p:ext uri="{BB962C8B-B14F-4D97-AF65-F5344CB8AC3E}">
        <p14:creationId xmlns:p14="http://schemas.microsoft.com/office/powerpoint/2010/main" val="4437930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idx="4294967295"/>
          </p:nvPr>
        </p:nvSpPr>
        <p:spPr>
          <a:xfrm>
            <a:off x="1150938" y="693738"/>
            <a:ext cx="7793037" cy="684212"/>
          </a:xfrm>
        </p:spPr>
        <p:txBody>
          <a:bodyPr lIns="0" tIns="0" rIns="0" bIns="0" anchor="ct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dirty="0" smtClean="0"/>
              <a:t>Some hash functions…</a:t>
            </a:r>
          </a:p>
        </p:txBody>
      </p:sp>
      <p:sp>
        <p:nvSpPr>
          <p:cNvPr id="24579" name="Rectangle 2"/>
          <p:cNvSpPr>
            <a:spLocks noGrp="1" noChangeArrowheads="1"/>
          </p:cNvSpPr>
          <p:nvPr>
            <p:ph type="body" idx="4294967295"/>
          </p:nvPr>
        </p:nvSpPr>
        <p:spPr>
          <a:xfrm>
            <a:off x="179388" y="1916113"/>
            <a:ext cx="8780462" cy="5323124"/>
          </a:xfrm>
        </p:spPr>
        <p:txBody>
          <a:bodyPr lIns="0" tIns="0" rIns="0" bIns="0">
            <a:spAutoFit/>
          </a:bodyPr>
          <a:lstStyle/>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800" dirty="0" smtClean="0">
                <a:solidFill>
                  <a:srgbClr val="FF0000"/>
                </a:solidFill>
              </a:rPr>
              <a:t>Folding</a:t>
            </a:r>
            <a:r>
              <a:rPr lang="en-GB" altLang="zh-TW" dirty="0" smtClean="0">
                <a:solidFill>
                  <a:srgbClr val="FF0000"/>
                </a:solidFill>
              </a:rPr>
              <a:t>:</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400" dirty="0" smtClean="0"/>
              <a:t>Partition the identifier x into several parts, and add the parts together to obtain the hash address</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400" dirty="0" smtClean="0"/>
              <a:t>e.g. x=12320324111220; partition x into 123,203,241,112,20; then return the address 123+203+241+112+20=699</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400" dirty="0" smtClean="0"/>
              <a:t>Shift folding vs. folding at the boundaries</a:t>
            </a:r>
          </a:p>
          <a:p>
            <a:pPr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800" dirty="0" smtClean="0">
                <a:solidFill>
                  <a:srgbClr val="FF0000"/>
                </a:solidFill>
              </a:rPr>
              <a:t>Digit</a:t>
            </a:r>
            <a:r>
              <a:rPr lang="en-GB" altLang="zh-TW" dirty="0" smtClean="0">
                <a:solidFill>
                  <a:srgbClr val="FF0000"/>
                </a:solidFill>
              </a:rPr>
              <a:t> </a:t>
            </a:r>
            <a:r>
              <a:rPr lang="en-GB" altLang="zh-TW" sz="2800" dirty="0" smtClean="0">
                <a:solidFill>
                  <a:srgbClr val="FF0000"/>
                </a:solidFill>
              </a:rPr>
              <a:t>analysis</a:t>
            </a:r>
            <a:r>
              <a:rPr lang="en-GB" altLang="zh-TW" dirty="0" smtClean="0">
                <a:solidFill>
                  <a:srgbClr val="FF0000"/>
                </a:solidFill>
              </a:rPr>
              <a:t>:</a:t>
            </a:r>
          </a:p>
          <a:p>
            <a:pPr lvl="1" eaLnBrk="1" hangingPunct="1">
              <a:lnSpc>
                <a:spcPct val="10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400" dirty="0" smtClean="0">
                <a:solidFill>
                  <a:schemeClr val="accent2"/>
                </a:solidFill>
              </a:rPr>
              <a:t>If all the keys have been known in advance</a:t>
            </a:r>
            <a:r>
              <a:rPr lang="en-GB" altLang="zh-TW" sz="2400" dirty="0" smtClean="0"/>
              <a:t>, then we could delete the digits of keys having the most skewed distributions, and use the rest digits as hash address.</a:t>
            </a:r>
          </a:p>
          <a:p>
            <a:pPr lvl="1" eaLnBrk="1" hangingPunct="1">
              <a:lnSpc>
                <a:spcPct val="102000"/>
              </a:lnSpc>
              <a:buFont typeface="Wingdings" pitchFamily="2" charset="2"/>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GB" altLang="zh-TW" sz="2400" dirty="0" smtClean="0"/>
          </a:p>
        </p:txBody>
      </p:sp>
    </p:spTree>
    <p:extLst>
      <p:ext uri="{BB962C8B-B14F-4D97-AF65-F5344CB8AC3E}">
        <p14:creationId xmlns:p14="http://schemas.microsoft.com/office/powerpoint/2010/main" val="36058698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idx="4294967295"/>
          </p:nvPr>
        </p:nvSpPr>
        <p:spPr>
          <a:xfrm>
            <a:off x="1150938" y="693738"/>
            <a:ext cx="7793037" cy="684212"/>
          </a:xfrm>
        </p:spPr>
        <p:txBody>
          <a:bodyPr lIns="0" tIns="0" rIns="0" bIns="0" anchor="ct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smtClean="0"/>
              <a:t>Hashing By Division</a:t>
            </a:r>
          </a:p>
        </p:txBody>
      </p:sp>
      <p:sp>
        <p:nvSpPr>
          <p:cNvPr id="25603" name="Rectangle 2"/>
          <p:cNvSpPr>
            <a:spLocks noGrp="1" noChangeArrowheads="1"/>
          </p:cNvSpPr>
          <p:nvPr>
            <p:ph type="body" idx="4294967295"/>
          </p:nvPr>
        </p:nvSpPr>
        <p:spPr>
          <a:xfrm>
            <a:off x="755576" y="2017713"/>
            <a:ext cx="8199512" cy="3376694"/>
          </a:xfrm>
        </p:spPr>
        <p:txBody>
          <a:bodyPr wrap="square" lIns="0" tIns="0" rIns="0" bIns="0">
            <a:spAutoFit/>
          </a:bodyPr>
          <a:lstStyle/>
          <a:p>
            <a:pPr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Domain is all integers.</a:t>
            </a:r>
          </a:p>
          <a:p>
            <a:pPr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For a hash table of size </a:t>
            </a:r>
            <a:r>
              <a:rPr lang="en-GB" altLang="zh-TW" i="1" dirty="0" smtClean="0"/>
              <a:t>b</a:t>
            </a:r>
            <a:r>
              <a:rPr lang="en-GB" altLang="zh-TW" dirty="0" smtClean="0"/>
              <a:t>, the number of integers that get hashed into bucket </a:t>
            </a:r>
            <a:r>
              <a:rPr lang="en-GB" altLang="zh-TW" i="1" dirty="0" err="1" smtClean="0"/>
              <a:t>i</a:t>
            </a:r>
            <a:r>
              <a:rPr lang="en-GB" altLang="zh-TW" dirty="0" smtClean="0"/>
              <a:t> is approximately </a:t>
            </a:r>
            <a:r>
              <a:rPr lang="en-GB" altLang="zh-TW" b="1" dirty="0" smtClean="0">
                <a:solidFill>
                  <a:srgbClr val="3333CC"/>
                </a:solidFill>
              </a:rPr>
              <a:t>2</a:t>
            </a:r>
            <a:r>
              <a:rPr lang="en-GB" altLang="zh-TW" b="1" baseline="30000" dirty="0" smtClean="0">
                <a:solidFill>
                  <a:srgbClr val="3333CC"/>
                </a:solidFill>
              </a:rPr>
              <a:t>32</a:t>
            </a:r>
            <a:r>
              <a:rPr lang="en-GB" altLang="zh-TW" b="1" dirty="0" smtClean="0">
                <a:solidFill>
                  <a:srgbClr val="3333CC"/>
                </a:solidFill>
              </a:rPr>
              <a:t>/b</a:t>
            </a:r>
            <a:r>
              <a:rPr lang="en-GB" altLang="zh-TW" dirty="0" smtClean="0"/>
              <a:t>.</a:t>
            </a:r>
          </a:p>
          <a:p>
            <a:pPr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The division method results in a uniform hash function that maps approximately the same number of keys into each bucket.</a:t>
            </a:r>
          </a:p>
        </p:txBody>
      </p:sp>
    </p:spTree>
    <p:extLst>
      <p:ext uri="{BB962C8B-B14F-4D97-AF65-F5344CB8AC3E}">
        <p14:creationId xmlns:p14="http://schemas.microsoft.com/office/powerpoint/2010/main" val="35865616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idx="4294967295"/>
          </p:nvPr>
        </p:nvSpPr>
        <p:spPr>
          <a:xfrm>
            <a:off x="1150938" y="693738"/>
            <a:ext cx="7793037" cy="684212"/>
          </a:xfrm>
        </p:spPr>
        <p:txBody>
          <a:bodyPr lIns="0" tIns="0" rIns="0" bIns="0" anchor="ct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dirty="0" smtClean="0"/>
              <a:t>Hashing By Division …</a:t>
            </a:r>
          </a:p>
        </p:txBody>
      </p:sp>
      <p:sp>
        <p:nvSpPr>
          <p:cNvPr id="26627" name="Rectangle 2"/>
          <p:cNvSpPr>
            <a:spLocks noGrp="1" noChangeArrowheads="1"/>
          </p:cNvSpPr>
          <p:nvPr>
            <p:ph type="body" idx="4294967295"/>
          </p:nvPr>
        </p:nvSpPr>
        <p:spPr>
          <a:xfrm>
            <a:off x="1182688" y="2017713"/>
            <a:ext cx="7772400" cy="4959350"/>
          </a:xfrm>
        </p:spPr>
        <p:txBody>
          <a:bodyPr lIns="0" tIns="0" rIns="0" bIns="0">
            <a:spAutoFit/>
          </a:bodyPr>
          <a:lstStyle/>
          <a:p>
            <a:pPr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3600" dirty="0" smtClean="0"/>
              <a:t>In practice, keys tend to be correlated.</a:t>
            </a:r>
          </a:p>
          <a:p>
            <a:pPr lvl="1"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If divisor is an </a:t>
            </a:r>
            <a:r>
              <a:rPr lang="en-GB" altLang="zh-TW" dirty="0" smtClean="0">
                <a:solidFill>
                  <a:srgbClr val="FF0000"/>
                </a:solidFill>
              </a:rPr>
              <a:t>even number</a:t>
            </a:r>
            <a:r>
              <a:rPr lang="en-GB" altLang="zh-TW" dirty="0" smtClean="0"/>
              <a:t>, odd integers hash into odd home buckets and even integers into even home buckets</a:t>
            </a:r>
            <a:r>
              <a:rPr lang="en-GB" altLang="zh-TW" sz="2400" dirty="0" smtClean="0"/>
              <a:t>.</a:t>
            </a:r>
          </a:p>
          <a:p>
            <a:pPr lvl="2"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000" dirty="0" smtClean="0"/>
              <a:t>20%14 = 6, 30%14 = 2, 8%14 = 8</a:t>
            </a:r>
          </a:p>
          <a:p>
            <a:pPr lvl="2"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000" dirty="0" smtClean="0"/>
              <a:t>15%14 = 1, 3%14 = 3, 23%14 = 9</a:t>
            </a:r>
          </a:p>
          <a:p>
            <a:pPr lvl="1"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divisor is an </a:t>
            </a:r>
            <a:r>
              <a:rPr lang="en-GB" altLang="zh-TW" dirty="0" smtClean="0">
                <a:solidFill>
                  <a:srgbClr val="FF0000"/>
                </a:solidFill>
              </a:rPr>
              <a:t>odd number</a:t>
            </a:r>
            <a:r>
              <a:rPr lang="en-GB" altLang="zh-TW" dirty="0" smtClean="0"/>
              <a:t>, odd (even) integers may hash into any home.</a:t>
            </a:r>
          </a:p>
          <a:p>
            <a:pPr lvl="2"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000" dirty="0" smtClean="0"/>
              <a:t>20%15 = 5, 30%15 = 0, 8%15 = 8</a:t>
            </a:r>
          </a:p>
          <a:p>
            <a:pPr lvl="2"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sz="2000" dirty="0" smtClean="0"/>
              <a:t>15%15 = 0, 3%15 = 3, 23%15 = 8</a:t>
            </a:r>
          </a:p>
          <a:p>
            <a:pPr eaLnBrk="1" hangingPunct="1">
              <a:lnSpc>
                <a:spcPct val="92000"/>
              </a:lnSpc>
              <a:buFont typeface="Wingdings" pitchFamily="2" charset="2"/>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GB" altLang="zh-TW" sz="2000" dirty="0" smtClean="0"/>
          </a:p>
        </p:txBody>
      </p:sp>
    </p:spTree>
    <p:extLst>
      <p:ext uri="{BB962C8B-B14F-4D97-AF65-F5344CB8AC3E}">
        <p14:creationId xmlns:p14="http://schemas.microsoft.com/office/powerpoint/2010/main" val="32241330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idx="4294967295"/>
          </p:nvPr>
        </p:nvSpPr>
        <p:spPr>
          <a:xfrm>
            <a:off x="1150938" y="690525"/>
            <a:ext cx="7793037" cy="690638"/>
          </a:xfrm>
        </p:spPr>
        <p:txBody>
          <a:bodyPr lIns="0" tIns="0" rIns="0" bIns="0" anchor="ctr">
            <a:spAutoFit/>
          </a:bodyPr>
          <a:lstStyle/>
          <a:p>
            <a:pPr eaLnBrk="1" hangingPunct="1">
              <a:lnSpc>
                <a:spcPct val="102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zh-TW" dirty="0" smtClean="0"/>
              <a:t>Hashing By Division …</a:t>
            </a:r>
          </a:p>
        </p:txBody>
      </p:sp>
      <p:sp>
        <p:nvSpPr>
          <p:cNvPr id="27651" name="Rectangle 2"/>
          <p:cNvSpPr>
            <a:spLocks noGrp="1" noChangeArrowheads="1"/>
          </p:cNvSpPr>
          <p:nvPr>
            <p:ph type="body" idx="4294967295"/>
          </p:nvPr>
        </p:nvSpPr>
        <p:spPr>
          <a:xfrm>
            <a:off x="1182688" y="2017713"/>
            <a:ext cx="7772400" cy="4385431"/>
          </a:xfrm>
        </p:spPr>
        <p:txBody>
          <a:bodyPr lIns="0" tIns="0" rIns="0" bIns="0">
            <a:spAutoFit/>
          </a:bodyPr>
          <a:lstStyle/>
          <a:p>
            <a:pPr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Similar biased distribution of home buckets is seen in practice, when the divisor is a </a:t>
            </a:r>
            <a:r>
              <a:rPr lang="en-GB" altLang="zh-TW" dirty="0" smtClean="0">
                <a:solidFill>
                  <a:srgbClr val="FF0000"/>
                </a:solidFill>
              </a:rPr>
              <a:t>multiple of prime numbers </a:t>
            </a:r>
            <a:r>
              <a:rPr lang="en-GB" altLang="zh-TW" dirty="0" smtClean="0"/>
              <a:t>such as 3, 5, 7, …</a:t>
            </a:r>
          </a:p>
          <a:p>
            <a:pPr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The effect of each prime divisor p of b decreases as p gets larger.</a:t>
            </a:r>
          </a:p>
          <a:p>
            <a:pPr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Ideally, choose large prime number b.</a:t>
            </a:r>
          </a:p>
          <a:p>
            <a:pPr eaLnBrk="1" hangingPunct="1">
              <a:lnSpc>
                <a:spcPct val="92000"/>
              </a:lnSpc>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GB" altLang="zh-TW" dirty="0" smtClean="0"/>
              <a:t>Alternatively, choose b so that it has no prime factors smaller than 20.</a:t>
            </a:r>
          </a:p>
        </p:txBody>
      </p:sp>
    </p:spTree>
    <p:extLst>
      <p:ext uri="{BB962C8B-B14F-4D97-AF65-F5344CB8AC3E}">
        <p14:creationId xmlns:p14="http://schemas.microsoft.com/office/powerpoint/2010/main" val="3482821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658813" y="592138"/>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pPr algn="ctr" defTabSz="449263" fontAlgn="base">
              <a:lnSpc>
                <a:spcPct val="102000"/>
              </a:lnSpc>
              <a:spcBef>
                <a:spcPct val="0"/>
              </a:spcBef>
              <a:spcAft>
                <a:spcPct val="0"/>
              </a:spcAft>
              <a:buClr>
                <a:srgbClr val="333399"/>
              </a:buClr>
              <a:buSzPct val="100000"/>
              <a:buFont typeface="Tahoma"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4400" dirty="0" smtClean="0">
                <a:solidFill>
                  <a:srgbClr val="333399"/>
                </a:solidFill>
              </a:rPr>
              <a:t>Hash Algorithm via Division</a:t>
            </a:r>
          </a:p>
        </p:txBody>
      </p:sp>
      <p:sp>
        <p:nvSpPr>
          <p:cNvPr id="28675" name="Text Box 2"/>
          <p:cNvSpPr txBox="1">
            <a:spLocks noChangeArrowheads="1"/>
          </p:cNvSpPr>
          <p:nvPr/>
        </p:nvSpPr>
        <p:spPr bwMode="auto">
          <a:xfrm>
            <a:off x="809625" y="20447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a:solidFill>
                  <a:schemeClr val="bg1"/>
                </a:solidFill>
                <a:latin typeface="Arial" charset="0"/>
                <a:ea typeface="新細明體" pitchFamily="18" charset="-120"/>
              </a:defRPr>
            </a:lvl1pPr>
            <a:lvl2pPr marL="742950" indent="-285750" eaLnBrk="0" hangingPunct="0">
              <a:defRPr>
                <a:solidFill>
                  <a:schemeClr val="bg1"/>
                </a:solidFill>
                <a:latin typeface="Arial" charset="0"/>
                <a:ea typeface="新細明體" pitchFamily="18" charset="-120"/>
              </a:defRPr>
            </a:lvl2pPr>
            <a:lvl3pPr marL="1143000" indent="-228600" eaLnBrk="0" hangingPunct="0">
              <a:defRPr>
                <a:solidFill>
                  <a:schemeClr val="bg1"/>
                </a:solidFill>
                <a:latin typeface="Arial" charset="0"/>
                <a:ea typeface="新細明體" pitchFamily="18" charset="-120"/>
              </a:defRPr>
            </a:lvl3pPr>
            <a:lvl4pPr marL="1600200" indent="-228600" eaLnBrk="0" hangingPunct="0">
              <a:defRPr>
                <a:solidFill>
                  <a:schemeClr val="bg1"/>
                </a:solidFill>
                <a:latin typeface="Arial" charset="0"/>
                <a:ea typeface="新細明體" pitchFamily="18" charset="-120"/>
              </a:defRPr>
            </a:lvl4pPr>
            <a:lvl5pPr marL="2057400" indent="-228600" eaLnBrk="0" hangingPunct="0">
              <a:defRPr>
                <a:solidFill>
                  <a:schemeClr val="bg1"/>
                </a:solidFill>
                <a:latin typeface="Arial" charset="0"/>
                <a:ea typeface="新細明體" pitchFamily="18" charset="-120"/>
              </a:defRPr>
            </a:lvl5pPr>
            <a:lvl6pPr marL="25146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6pPr>
            <a:lvl7pPr marL="29718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7pPr>
            <a:lvl8pPr marL="34290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8pPr>
            <a:lvl9pPr marL="3886200" indent="-228600" defTabSz="449263" eaLnBrk="0" fontAlgn="base" hangingPunct="0">
              <a:lnSpc>
                <a:spcPct val="81000"/>
              </a:lnSpc>
              <a:spcBef>
                <a:spcPct val="0"/>
              </a:spcBef>
              <a:spcAft>
                <a:spcPct val="0"/>
              </a:spcAft>
              <a:buClr>
                <a:srgbClr val="000000"/>
              </a:buClr>
              <a:buSzPct val="100000"/>
              <a:buFont typeface="Arial" charset="0"/>
              <a:defRPr>
                <a:solidFill>
                  <a:schemeClr val="bg1"/>
                </a:solidFill>
                <a:latin typeface="Arial" charset="0"/>
                <a:ea typeface="新細明體" pitchFamily="18" charset="-120"/>
              </a:defRPr>
            </a:lvl9pPr>
          </a:lstStyle>
          <a:p>
            <a:pPr defTabSz="449263" eaLnBrk="1" fontAlgn="base" hangingPunct="1">
              <a:lnSpc>
                <a:spcPct val="81000"/>
              </a:lnSpc>
              <a:spcBef>
                <a:spcPct val="0"/>
              </a:spcBef>
              <a:spcAft>
                <a:spcPct val="0"/>
              </a:spcAft>
              <a:buClr>
                <a:srgbClr val="000000"/>
              </a:buClr>
              <a:buSzPct val="100000"/>
              <a:buFont typeface="Arial" charset="0"/>
              <a:buNone/>
            </a:pPr>
            <a:endParaRPr lang="en-IN" smtClean="0">
              <a:solidFill>
                <a:srgbClr val="FFFFFF"/>
              </a:solidFill>
            </a:endParaRPr>
          </a:p>
        </p:txBody>
      </p:sp>
      <p:sp>
        <p:nvSpPr>
          <p:cNvPr id="28676" name="Rectangle 3"/>
          <p:cNvSpPr>
            <a:spLocks noChangeArrowheads="1"/>
          </p:cNvSpPr>
          <p:nvPr/>
        </p:nvSpPr>
        <p:spPr bwMode="auto">
          <a:xfrm>
            <a:off x="468313" y="2205038"/>
            <a:ext cx="7388225" cy="430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160" tIns="46080" rIns="92160" bIns="46080"/>
          <a:lstStyle/>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void </a:t>
            </a:r>
            <a:r>
              <a:rPr lang="en-GB" sz="2000" b="1" dirty="0" err="1" smtClean="0">
                <a:solidFill>
                  <a:srgbClr val="000000"/>
                </a:solidFill>
                <a:latin typeface="Courier New" pitchFamily="49" charset="-52"/>
              </a:rPr>
              <a:t>init_table</a:t>
            </a:r>
            <a:r>
              <a:rPr lang="en-GB" sz="2000" b="1" dirty="0" smtClean="0">
                <a:solidFill>
                  <a:srgbClr val="000000"/>
                </a:solidFill>
                <a:latin typeface="Courier New" pitchFamily="49" charset="-52"/>
              </a:rPr>
              <a:t>(element </a:t>
            </a:r>
            <a:r>
              <a:rPr lang="en-GB" sz="2000" b="1" dirty="0" err="1" smtClean="0">
                <a:solidFill>
                  <a:srgbClr val="000000"/>
                </a:solidFill>
                <a:latin typeface="Courier New" pitchFamily="49" charset="-52"/>
              </a:rPr>
              <a:t>ht</a:t>
            </a:r>
            <a:r>
              <a:rPr lang="en-GB" sz="2000" b="1" dirty="0" smtClean="0">
                <a:solidFill>
                  <a:srgbClr val="000000"/>
                </a:solidFill>
                <a:latin typeface="Courier New" pitchFamily="49" charset="-52"/>
              </a:rPr>
              <a:t>[])</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  </a:t>
            </a:r>
            <a:r>
              <a:rPr lang="en-GB" sz="2000" b="1" dirty="0" err="1" smtClean="0">
                <a:solidFill>
                  <a:srgbClr val="000000"/>
                </a:solidFill>
                <a:latin typeface="Courier New" pitchFamily="49" charset="-52"/>
              </a:rPr>
              <a:t>int</a:t>
            </a:r>
            <a:r>
              <a:rPr lang="en-GB" sz="2000" b="1" dirty="0" smtClean="0">
                <a:solidFill>
                  <a:srgbClr val="000000"/>
                </a:solidFill>
                <a:latin typeface="Courier New" pitchFamily="49" charset="-52"/>
              </a:rPr>
              <a:t> </a:t>
            </a:r>
            <a:r>
              <a:rPr lang="en-GB" sz="2000" b="1" dirty="0" err="1" smtClean="0">
                <a:solidFill>
                  <a:srgbClr val="000000"/>
                </a:solidFill>
                <a:latin typeface="Courier New" pitchFamily="49" charset="-52"/>
              </a:rPr>
              <a:t>i</a:t>
            </a:r>
            <a:r>
              <a:rPr lang="en-GB" sz="2000" b="1" dirty="0" smtClean="0">
                <a:solidFill>
                  <a:srgbClr val="000000"/>
                </a:solidFill>
                <a:latin typeface="Courier New" pitchFamily="49" charset="-52"/>
              </a:rPr>
              <a:t>;</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  for (</a:t>
            </a:r>
            <a:r>
              <a:rPr lang="en-GB" sz="2000" b="1" dirty="0" err="1" smtClean="0">
                <a:solidFill>
                  <a:srgbClr val="000000"/>
                </a:solidFill>
                <a:latin typeface="Courier New" pitchFamily="49" charset="-52"/>
              </a:rPr>
              <a:t>i</a:t>
            </a:r>
            <a:r>
              <a:rPr lang="en-GB" sz="2000" b="1" dirty="0" smtClean="0">
                <a:solidFill>
                  <a:srgbClr val="000000"/>
                </a:solidFill>
                <a:latin typeface="Courier New" pitchFamily="49" charset="-52"/>
              </a:rPr>
              <a:t>=0; </a:t>
            </a:r>
            <a:r>
              <a:rPr lang="en-GB" sz="2000" b="1" dirty="0" err="1" smtClean="0">
                <a:solidFill>
                  <a:srgbClr val="000000"/>
                </a:solidFill>
                <a:latin typeface="Courier New" pitchFamily="49" charset="-52"/>
              </a:rPr>
              <a:t>i</a:t>
            </a:r>
            <a:r>
              <a:rPr lang="en-GB" sz="2000" b="1" dirty="0" smtClean="0">
                <a:solidFill>
                  <a:srgbClr val="000000"/>
                </a:solidFill>
                <a:latin typeface="Courier New" pitchFamily="49" charset="-52"/>
              </a:rPr>
              <a:t>&lt;TABLE_SIZE; </a:t>
            </a:r>
            <a:r>
              <a:rPr lang="en-GB" sz="2000" b="1" dirty="0" err="1" smtClean="0">
                <a:solidFill>
                  <a:srgbClr val="000000"/>
                </a:solidFill>
                <a:latin typeface="Courier New" pitchFamily="49" charset="-52"/>
              </a:rPr>
              <a:t>i</a:t>
            </a:r>
            <a:r>
              <a:rPr lang="en-GB" sz="2000" b="1" dirty="0" smtClean="0">
                <a:solidFill>
                  <a:srgbClr val="000000"/>
                </a:solidFill>
                <a:latin typeface="Courier New" pitchFamily="49" charset="-52"/>
              </a:rPr>
              <a:t>++)</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    </a:t>
            </a:r>
            <a:r>
              <a:rPr lang="en-GB" sz="2000" b="1" dirty="0" err="1" smtClean="0">
                <a:solidFill>
                  <a:srgbClr val="000000"/>
                </a:solidFill>
                <a:latin typeface="Courier New" pitchFamily="49" charset="-52"/>
              </a:rPr>
              <a:t>ht</a:t>
            </a:r>
            <a:r>
              <a:rPr lang="en-GB" sz="2000" b="1" dirty="0" smtClean="0">
                <a:solidFill>
                  <a:srgbClr val="000000"/>
                </a:solidFill>
                <a:latin typeface="Courier New" pitchFamily="49" charset="-52"/>
              </a:rPr>
              <a:t>[</a:t>
            </a:r>
            <a:r>
              <a:rPr lang="en-GB" sz="2000" b="1" dirty="0" err="1" smtClean="0">
                <a:solidFill>
                  <a:srgbClr val="000000"/>
                </a:solidFill>
                <a:latin typeface="Courier New" pitchFamily="49" charset="-52"/>
              </a:rPr>
              <a:t>i</a:t>
            </a:r>
            <a:r>
              <a:rPr lang="en-GB" sz="2000" b="1" dirty="0" smtClean="0">
                <a:solidFill>
                  <a:srgbClr val="000000"/>
                </a:solidFill>
                <a:latin typeface="Courier New" pitchFamily="49" charset="-52"/>
              </a:rPr>
              <a:t>].key[0]=NULL;</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endParaRPr lang="en-GB" sz="2000" b="1" dirty="0" smtClean="0">
              <a:solidFill>
                <a:srgbClr val="000000"/>
              </a:solidFill>
              <a:latin typeface="Courier New" pitchFamily="49" charset="-52"/>
            </a:endParaRP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err="1" smtClean="0">
                <a:solidFill>
                  <a:srgbClr val="000000"/>
                </a:solidFill>
                <a:latin typeface="Courier New" pitchFamily="49" charset="-52"/>
              </a:rPr>
              <a:t>int</a:t>
            </a:r>
            <a:r>
              <a:rPr lang="en-GB" sz="2000" b="1" dirty="0" smtClean="0">
                <a:solidFill>
                  <a:srgbClr val="000000"/>
                </a:solidFill>
                <a:latin typeface="Courier New" pitchFamily="49" charset="-52"/>
              </a:rPr>
              <a:t> transform(char *key)</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  </a:t>
            </a:r>
            <a:r>
              <a:rPr lang="en-GB" sz="2000" b="1" dirty="0" err="1" smtClean="0">
                <a:solidFill>
                  <a:srgbClr val="000000"/>
                </a:solidFill>
                <a:latin typeface="Courier New" pitchFamily="49" charset="-52"/>
              </a:rPr>
              <a:t>int</a:t>
            </a:r>
            <a:r>
              <a:rPr lang="en-GB" sz="2000" b="1" dirty="0" smtClean="0">
                <a:solidFill>
                  <a:srgbClr val="000000"/>
                </a:solidFill>
                <a:latin typeface="Courier New" pitchFamily="49" charset="-52"/>
              </a:rPr>
              <a:t> number=0;</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  while (*key) number += *key++;</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  return number;</a:t>
            </a:r>
          </a:p>
          <a:p>
            <a:pPr marL="341313" indent="-341313" defTabSz="449263" fontAlgn="base">
              <a:lnSpc>
                <a:spcPct val="70000"/>
              </a:lnSpc>
              <a:spcBef>
                <a:spcPts val="800"/>
              </a:spcBef>
              <a:spcAft>
                <a:spcPct val="0"/>
              </a:spcAft>
              <a:buClr>
                <a:srgbClr val="3333CC"/>
              </a:buClr>
              <a:buSzPct val="60000"/>
              <a:buFont typeface="Wingdings" pitchFamily="2" charset="2"/>
              <a:buNone/>
              <a:tabLst>
                <a:tab pos="341313" algn="l"/>
                <a:tab pos="788988" algn="l"/>
                <a:tab pos="1238250" algn="l"/>
                <a:tab pos="1687513" algn="l"/>
                <a:tab pos="2136775" algn="l"/>
                <a:tab pos="2586038" algn="l"/>
                <a:tab pos="3035300" algn="l"/>
                <a:tab pos="3484563" algn="l"/>
                <a:tab pos="3933825" algn="l"/>
                <a:tab pos="4383088" algn="l"/>
                <a:tab pos="4832350" algn="l"/>
                <a:tab pos="5281613" algn="l"/>
                <a:tab pos="5730875" algn="l"/>
                <a:tab pos="6180138" algn="l"/>
                <a:tab pos="6629400" algn="l"/>
                <a:tab pos="7078663" algn="l"/>
                <a:tab pos="7527925" algn="l"/>
                <a:tab pos="7977188" algn="l"/>
                <a:tab pos="8426450" algn="l"/>
                <a:tab pos="8875713" algn="l"/>
                <a:tab pos="9324975" algn="l"/>
              </a:tabLst>
            </a:pPr>
            <a:r>
              <a:rPr lang="en-GB" sz="2000" b="1" dirty="0" smtClean="0">
                <a:solidFill>
                  <a:srgbClr val="000000"/>
                </a:solidFill>
                <a:latin typeface="Courier New" pitchFamily="49" charset="-52"/>
              </a:rPr>
              <a:t>}</a:t>
            </a:r>
          </a:p>
        </p:txBody>
      </p:sp>
      <p:sp>
        <p:nvSpPr>
          <p:cNvPr id="28677" name="Rectangle 4"/>
          <p:cNvSpPr>
            <a:spLocks noChangeArrowheads="1"/>
          </p:cNvSpPr>
          <p:nvPr/>
        </p:nvSpPr>
        <p:spPr bwMode="auto">
          <a:xfrm>
            <a:off x="5148263" y="1989138"/>
            <a:ext cx="3843337" cy="1617662"/>
          </a:xfrm>
          <a:prstGeom prst="rect">
            <a:avLst/>
          </a:prstGeom>
          <a:noFill/>
          <a:ln w="126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160" tIns="46080" rIns="92160" bIns="46080">
            <a:spAutoFit/>
          </a:bodyPr>
          <a:lstStyle/>
          <a:p>
            <a:pPr defTabSz="449263" fontAlgn="base">
              <a:spcBef>
                <a:spcPct val="0"/>
              </a:spcBef>
              <a:spcAft>
                <a:spcPct val="0"/>
              </a:spcAft>
              <a:buClr>
                <a:srgbClr val="000000"/>
              </a:buClr>
              <a:buSzPct val="100000"/>
              <a:buFont typeface="Courier New" pitchFamily="49" charset="-5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b="1" smtClean="0">
                <a:solidFill>
                  <a:srgbClr val="000000"/>
                </a:solidFill>
                <a:latin typeface="Courier New" pitchFamily="49" charset="-52"/>
              </a:rPr>
              <a:t>int hash(char *key)</a:t>
            </a:r>
          </a:p>
          <a:p>
            <a:pPr defTabSz="449263" fontAlgn="base">
              <a:spcBef>
                <a:spcPct val="0"/>
              </a:spcBef>
              <a:spcAft>
                <a:spcPct val="0"/>
              </a:spcAft>
              <a:buClr>
                <a:srgbClr val="000000"/>
              </a:buClr>
              <a:buSzPct val="100000"/>
              <a:buFont typeface="Courier New" pitchFamily="49" charset="-5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b="1" smtClean="0">
                <a:solidFill>
                  <a:srgbClr val="000000"/>
                </a:solidFill>
                <a:latin typeface="Courier New" pitchFamily="49" charset="-52"/>
              </a:rPr>
              <a:t>{</a:t>
            </a:r>
          </a:p>
          <a:p>
            <a:pPr defTabSz="449263" fontAlgn="base">
              <a:spcBef>
                <a:spcPct val="0"/>
              </a:spcBef>
              <a:spcAft>
                <a:spcPct val="0"/>
              </a:spcAft>
              <a:buClr>
                <a:srgbClr val="000000"/>
              </a:buClr>
              <a:buSzPct val="100000"/>
              <a:buFont typeface="Courier New" pitchFamily="49" charset="-5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b="1" smtClean="0">
                <a:solidFill>
                  <a:srgbClr val="000000"/>
                </a:solidFill>
                <a:latin typeface="Courier New" pitchFamily="49" charset="-52"/>
              </a:rPr>
              <a:t>  return (transform(key)</a:t>
            </a:r>
          </a:p>
          <a:p>
            <a:pPr defTabSz="449263" fontAlgn="base">
              <a:spcBef>
                <a:spcPct val="0"/>
              </a:spcBef>
              <a:spcAft>
                <a:spcPct val="0"/>
              </a:spcAft>
              <a:buClr>
                <a:srgbClr val="000000"/>
              </a:buClr>
              <a:buSzPct val="100000"/>
              <a:buFont typeface="Courier New" pitchFamily="49" charset="-5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b="1" smtClean="0">
                <a:solidFill>
                  <a:srgbClr val="000000"/>
                </a:solidFill>
                <a:latin typeface="Courier New" pitchFamily="49" charset="-52"/>
              </a:rPr>
              <a:t>          % TABLE_SIZE);</a:t>
            </a:r>
          </a:p>
          <a:p>
            <a:pPr defTabSz="449263" fontAlgn="base">
              <a:spcBef>
                <a:spcPct val="0"/>
              </a:spcBef>
              <a:spcAft>
                <a:spcPct val="0"/>
              </a:spcAft>
              <a:buClr>
                <a:srgbClr val="000000"/>
              </a:buClr>
              <a:buSzPct val="100000"/>
              <a:buFont typeface="Courier New" pitchFamily="49" charset="-52"/>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b="1" smtClean="0">
                <a:solidFill>
                  <a:srgbClr val="000000"/>
                </a:solidFill>
                <a:latin typeface="Courier New" pitchFamily="49" charset="-52"/>
              </a:rPr>
              <a:t>}</a:t>
            </a:r>
          </a:p>
        </p:txBody>
      </p:sp>
    </p:spTree>
    <p:extLst>
      <p:ext uri="{BB962C8B-B14F-4D97-AF65-F5344CB8AC3E}">
        <p14:creationId xmlns:p14="http://schemas.microsoft.com/office/powerpoint/2010/main" val="100390538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Hash Function</a:t>
            </a:r>
            <a:endParaRPr lang="en-IN" dirty="0">
              <a:solidFill>
                <a:srgbClr val="FF0000"/>
              </a:solidFill>
            </a:endParaRPr>
          </a:p>
        </p:txBody>
      </p:sp>
      <p:sp>
        <p:nvSpPr>
          <p:cNvPr id="3" name="Content Placeholder 2"/>
          <p:cNvSpPr>
            <a:spLocks noGrp="1"/>
          </p:cNvSpPr>
          <p:nvPr>
            <p:ph idx="1"/>
          </p:nvPr>
        </p:nvSpPr>
        <p:spPr/>
        <p:txBody>
          <a:bodyPr/>
          <a:lstStyle/>
          <a:p>
            <a:r>
              <a:rPr lang="en-US" dirty="0" smtClean="0"/>
              <a:t>The hash function: </a:t>
            </a:r>
          </a:p>
          <a:p>
            <a:pPr lvl="1"/>
            <a:r>
              <a:rPr lang="en-US" dirty="0" smtClean="0"/>
              <a:t>must be simple to compute.</a:t>
            </a:r>
          </a:p>
          <a:p>
            <a:pPr lvl="1"/>
            <a:r>
              <a:rPr lang="en-US" dirty="0" smtClean="0"/>
              <a:t>must </a:t>
            </a:r>
            <a:r>
              <a:rPr lang="en-US" b="1" dirty="0" smtClean="0">
                <a:solidFill>
                  <a:srgbClr val="FF0000"/>
                </a:solidFill>
              </a:rPr>
              <a:t>distribute the keys evenly </a:t>
            </a:r>
            <a:r>
              <a:rPr lang="en-US" dirty="0" smtClean="0"/>
              <a:t>among the cells.</a:t>
            </a:r>
          </a:p>
          <a:p>
            <a:r>
              <a:rPr lang="en-US" dirty="0" smtClean="0"/>
              <a:t>If we know which keys will occur in advance we can write </a:t>
            </a:r>
            <a:r>
              <a:rPr lang="en-US" b="1" i="1" dirty="0" smtClean="0">
                <a:solidFill>
                  <a:srgbClr val="FF0000"/>
                </a:solidFill>
              </a:rPr>
              <a:t>perfect</a:t>
            </a:r>
            <a:r>
              <a:rPr lang="en-US" dirty="0" smtClean="0"/>
              <a:t> hash functions, but we don’t.</a:t>
            </a:r>
          </a:p>
          <a:p>
            <a:endParaRPr lang="en-IN" dirty="0"/>
          </a:p>
        </p:txBody>
      </p:sp>
    </p:spTree>
    <p:extLst>
      <p:ext uri="{BB962C8B-B14F-4D97-AF65-F5344CB8AC3E}">
        <p14:creationId xmlns:p14="http://schemas.microsoft.com/office/powerpoint/2010/main" val="91135345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sp>
        <p:nvSpPr>
          <p:cNvPr id="4" name="Rectangle 4"/>
          <p:cNvSpPr>
            <a:spLocks noGrp="1" noChangeArrowheads="1"/>
          </p:cNvSpPr>
          <p:nvPr>
            <p:ph type="title"/>
          </p:nvPr>
        </p:nvSpPr>
        <p:spPr/>
        <p:txBody>
          <a:bodyPr/>
          <a:lstStyle/>
          <a:p>
            <a:pPr eaLnBrk="1" hangingPunct="1"/>
            <a:r>
              <a:rPr lang="en-US" dirty="0" smtClean="0"/>
              <a:t>Example</a:t>
            </a:r>
          </a:p>
        </p:txBody>
      </p:sp>
      <p:sp>
        <p:nvSpPr>
          <p:cNvPr id="5" name="Slide Number Placeholder 4"/>
          <p:cNvSpPr>
            <a:spLocks noGrp="1"/>
          </p:cNvSpPr>
          <p:nvPr>
            <p:ph type="sldNum" sz="quarter" idx="12"/>
          </p:nvPr>
        </p:nvSpPr>
        <p:spPr>
          <a:xfrm>
            <a:off x="6011863" y="18923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fld id="{AF3FEF10-7AEB-460F-A3C8-421B29727DC0}" type="slidenum">
              <a:rPr lang="en-US" sz="1400">
                <a:solidFill>
                  <a:prstClr val="black"/>
                </a:solidFill>
              </a:rPr>
              <a:pPr eaLnBrk="1" hangingPunct="1"/>
              <a:t>29</a:t>
            </a:fld>
            <a:endParaRPr lang="en-US" sz="1400">
              <a:solidFill>
                <a:prstClr val="black"/>
              </a:solidFill>
            </a:endParaRPr>
          </a:p>
        </p:txBody>
      </p:sp>
      <p:sp>
        <p:nvSpPr>
          <p:cNvPr id="6" name="Rectangle 5"/>
          <p:cNvSpPr>
            <a:spLocks noChangeArrowheads="1"/>
          </p:cNvSpPr>
          <p:nvPr/>
        </p:nvSpPr>
        <p:spPr bwMode="auto">
          <a:xfrm>
            <a:off x="3995738" y="2276475"/>
            <a:ext cx="1081087" cy="2016125"/>
          </a:xfrm>
          <a:prstGeom prst="rect">
            <a:avLst/>
          </a:prstGeom>
          <a:solidFill>
            <a:srgbClr val="EAEAEA"/>
          </a:solidFill>
          <a:ln w="12700" algn="ctr">
            <a:solidFill>
              <a:schemeClr val="tx1"/>
            </a:solidFill>
            <a:miter lim="800000"/>
            <a:headEnd/>
            <a:tailEnd/>
          </a:ln>
        </p:spPr>
        <p:txBody>
          <a:bodyPr wrap="none" lIns="90000" tIns="46800" rIns="90000" bIns="46800" anchor="ctr"/>
          <a:lstStyle/>
          <a:p>
            <a:pPr algn="ctr"/>
            <a:r>
              <a:rPr lang="en-US" b="1">
                <a:solidFill>
                  <a:prstClr val="black"/>
                </a:solidFill>
                <a:latin typeface="Arial" charset="0"/>
              </a:rPr>
              <a:t>Hash</a:t>
            </a:r>
          </a:p>
          <a:p>
            <a:pPr algn="ctr"/>
            <a:r>
              <a:rPr lang="en-US" b="1">
                <a:solidFill>
                  <a:prstClr val="black"/>
                </a:solidFill>
                <a:latin typeface="Arial" charset="0"/>
              </a:rPr>
              <a:t>Function</a:t>
            </a:r>
          </a:p>
        </p:txBody>
      </p:sp>
      <p:sp>
        <p:nvSpPr>
          <p:cNvPr id="7" name="Line 16"/>
          <p:cNvSpPr>
            <a:spLocks noChangeShapeType="1"/>
          </p:cNvSpPr>
          <p:nvPr/>
        </p:nvSpPr>
        <p:spPr bwMode="auto">
          <a:xfrm>
            <a:off x="5076825" y="3357563"/>
            <a:ext cx="71913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IN">
              <a:solidFill>
                <a:prstClr val="black"/>
              </a:solidFill>
            </a:endParaRPr>
          </a:p>
        </p:txBody>
      </p:sp>
      <p:sp>
        <p:nvSpPr>
          <p:cNvPr id="8" name="Line 17"/>
          <p:cNvSpPr>
            <a:spLocks noChangeShapeType="1"/>
          </p:cNvSpPr>
          <p:nvPr/>
        </p:nvSpPr>
        <p:spPr bwMode="auto">
          <a:xfrm>
            <a:off x="3203575" y="3357563"/>
            <a:ext cx="79216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IN">
              <a:solidFill>
                <a:prstClr val="black"/>
              </a:solidFill>
            </a:endParaRPr>
          </a:p>
        </p:txBody>
      </p:sp>
      <p:sp>
        <p:nvSpPr>
          <p:cNvPr id="9" name="Text Box 22"/>
          <p:cNvSpPr txBox="1">
            <a:spLocks noChangeArrowheads="1"/>
          </p:cNvSpPr>
          <p:nvPr/>
        </p:nvSpPr>
        <p:spPr bwMode="auto">
          <a:xfrm>
            <a:off x="1457325" y="2205038"/>
            <a:ext cx="7778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b="1">
                <a:solidFill>
                  <a:prstClr val="black"/>
                </a:solidFill>
                <a:latin typeface="Arial" charset="0"/>
              </a:rPr>
              <a:t>Items</a:t>
            </a:r>
          </a:p>
        </p:txBody>
      </p:sp>
      <p:sp>
        <p:nvSpPr>
          <p:cNvPr id="10" name="Text Box 24"/>
          <p:cNvSpPr txBox="1">
            <a:spLocks noChangeArrowheads="1"/>
          </p:cNvSpPr>
          <p:nvPr/>
        </p:nvSpPr>
        <p:spPr bwMode="auto">
          <a:xfrm>
            <a:off x="3348038" y="2990850"/>
            <a:ext cx="536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key</a:t>
            </a:r>
          </a:p>
        </p:txBody>
      </p:sp>
      <p:sp>
        <p:nvSpPr>
          <p:cNvPr id="11" name="AutoShape 25"/>
          <p:cNvSpPr>
            <a:spLocks/>
          </p:cNvSpPr>
          <p:nvPr/>
        </p:nvSpPr>
        <p:spPr bwMode="auto">
          <a:xfrm rot="5400000">
            <a:off x="1331913" y="4076700"/>
            <a:ext cx="287338" cy="719137"/>
          </a:xfrm>
          <a:prstGeom prst="rightBrace">
            <a:avLst>
              <a:gd name="adj1" fmla="val 2085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tr-TR">
              <a:solidFill>
                <a:prstClr val="black"/>
              </a:solidFill>
            </a:endParaRPr>
          </a:p>
        </p:txBody>
      </p:sp>
      <p:sp>
        <p:nvSpPr>
          <p:cNvPr id="12" name="Text Box 26"/>
          <p:cNvSpPr txBox="1">
            <a:spLocks noChangeArrowheads="1"/>
          </p:cNvSpPr>
          <p:nvPr/>
        </p:nvSpPr>
        <p:spPr bwMode="auto">
          <a:xfrm>
            <a:off x="1155700" y="4527550"/>
            <a:ext cx="536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key</a:t>
            </a:r>
          </a:p>
        </p:txBody>
      </p:sp>
      <p:sp>
        <p:nvSpPr>
          <p:cNvPr id="13" name="Rectangle 36"/>
          <p:cNvSpPr>
            <a:spLocks noChangeArrowheads="1"/>
          </p:cNvSpPr>
          <p:nvPr/>
        </p:nvSpPr>
        <p:spPr bwMode="auto">
          <a:xfrm>
            <a:off x="6299200" y="486886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defRPr/>
            </a:pPr>
            <a:endParaRPr lang="tr-TR">
              <a:solidFill>
                <a:prstClr val="black"/>
              </a:solidFill>
              <a:latin typeface="Times New Roman" pitchFamily="18" charset="0"/>
            </a:endParaRPr>
          </a:p>
        </p:txBody>
      </p:sp>
      <p:sp>
        <p:nvSpPr>
          <p:cNvPr id="14" name="Rectangle 37"/>
          <p:cNvSpPr>
            <a:spLocks noChangeArrowheads="1"/>
          </p:cNvSpPr>
          <p:nvPr/>
        </p:nvSpPr>
        <p:spPr bwMode="auto">
          <a:xfrm>
            <a:off x="6299200" y="4508500"/>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defRPr/>
            </a:pPr>
            <a:endParaRPr lang="tr-TR">
              <a:solidFill>
                <a:prstClr val="black"/>
              </a:solidFill>
              <a:latin typeface="Times New Roman" pitchFamily="18" charset="0"/>
            </a:endParaRPr>
          </a:p>
        </p:txBody>
      </p:sp>
      <p:sp>
        <p:nvSpPr>
          <p:cNvPr id="15" name="Text Box 38"/>
          <p:cNvSpPr txBox="1">
            <a:spLocks noChangeArrowheads="1"/>
          </p:cNvSpPr>
          <p:nvPr/>
        </p:nvSpPr>
        <p:spPr bwMode="auto">
          <a:xfrm>
            <a:off x="6011863" y="162877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0</a:t>
            </a:r>
          </a:p>
        </p:txBody>
      </p:sp>
      <p:sp>
        <p:nvSpPr>
          <p:cNvPr id="16" name="Text Box 39"/>
          <p:cNvSpPr txBox="1">
            <a:spLocks noChangeArrowheads="1"/>
          </p:cNvSpPr>
          <p:nvPr/>
        </p:nvSpPr>
        <p:spPr bwMode="auto">
          <a:xfrm>
            <a:off x="6011863" y="198278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1</a:t>
            </a:r>
          </a:p>
        </p:txBody>
      </p:sp>
      <p:sp>
        <p:nvSpPr>
          <p:cNvPr id="17" name="Text Box 40"/>
          <p:cNvSpPr txBox="1">
            <a:spLocks noChangeArrowheads="1"/>
          </p:cNvSpPr>
          <p:nvPr/>
        </p:nvSpPr>
        <p:spPr bwMode="auto">
          <a:xfrm>
            <a:off x="6011863" y="234156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2</a:t>
            </a:r>
          </a:p>
        </p:txBody>
      </p:sp>
      <p:sp>
        <p:nvSpPr>
          <p:cNvPr id="18" name="Text Box 41"/>
          <p:cNvSpPr txBox="1">
            <a:spLocks noChangeArrowheads="1"/>
          </p:cNvSpPr>
          <p:nvPr/>
        </p:nvSpPr>
        <p:spPr bwMode="auto">
          <a:xfrm>
            <a:off x="6011863" y="270192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3</a:t>
            </a:r>
          </a:p>
        </p:txBody>
      </p:sp>
      <p:sp>
        <p:nvSpPr>
          <p:cNvPr id="19" name="Text Box 42"/>
          <p:cNvSpPr txBox="1">
            <a:spLocks noChangeArrowheads="1"/>
          </p:cNvSpPr>
          <p:nvPr/>
        </p:nvSpPr>
        <p:spPr bwMode="auto">
          <a:xfrm>
            <a:off x="6011863" y="306863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4</a:t>
            </a:r>
          </a:p>
        </p:txBody>
      </p:sp>
      <p:sp>
        <p:nvSpPr>
          <p:cNvPr id="20" name="Text Box 43"/>
          <p:cNvSpPr txBox="1">
            <a:spLocks noChangeArrowheads="1"/>
          </p:cNvSpPr>
          <p:nvPr/>
        </p:nvSpPr>
        <p:spPr bwMode="auto">
          <a:xfrm>
            <a:off x="6030913" y="3422650"/>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5</a:t>
            </a:r>
          </a:p>
        </p:txBody>
      </p:sp>
      <p:sp>
        <p:nvSpPr>
          <p:cNvPr id="21" name="Text Box 44"/>
          <p:cNvSpPr txBox="1">
            <a:spLocks noChangeArrowheads="1"/>
          </p:cNvSpPr>
          <p:nvPr/>
        </p:nvSpPr>
        <p:spPr bwMode="auto">
          <a:xfrm>
            <a:off x="6030913" y="3781425"/>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6</a:t>
            </a:r>
          </a:p>
        </p:txBody>
      </p:sp>
      <p:sp>
        <p:nvSpPr>
          <p:cNvPr id="22" name="Text Box 45"/>
          <p:cNvSpPr txBox="1">
            <a:spLocks noChangeArrowheads="1"/>
          </p:cNvSpPr>
          <p:nvPr/>
        </p:nvSpPr>
        <p:spPr bwMode="auto">
          <a:xfrm>
            <a:off x="6030913" y="4141788"/>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7</a:t>
            </a:r>
          </a:p>
        </p:txBody>
      </p:sp>
      <p:sp>
        <p:nvSpPr>
          <p:cNvPr id="23" name="Text Box 46"/>
          <p:cNvSpPr txBox="1">
            <a:spLocks noChangeArrowheads="1"/>
          </p:cNvSpPr>
          <p:nvPr/>
        </p:nvSpPr>
        <p:spPr bwMode="auto">
          <a:xfrm>
            <a:off x="6011863" y="4502150"/>
            <a:ext cx="307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8</a:t>
            </a:r>
          </a:p>
        </p:txBody>
      </p:sp>
      <p:sp>
        <p:nvSpPr>
          <p:cNvPr id="24" name="Text Box 47"/>
          <p:cNvSpPr txBox="1">
            <a:spLocks noChangeArrowheads="1"/>
          </p:cNvSpPr>
          <p:nvPr/>
        </p:nvSpPr>
        <p:spPr bwMode="auto">
          <a:xfrm>
            <a:off x="6011863" y="4868863"/>
            <a:ext cx="307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eaLnBrk="0" hangingPunct="0">
              <a:defRPr sz="2400">
                <a:solidFill>
                  <a:schemeClr val="tx1"/>
                </a:solidFill>
                <a:latin typeface="Times New Roman" charset="0"/>
              </a:defRPr>
            </a:lvl1pPr>
            <a:lvl2pPr marL="742950" indent="-285750" eaLnBrk="0" hangingPunct="0">
              <a:defRPr sz="2400">
                <a:solidFill>
                  <a:schemeClr val="tx1"/>
                </a:solidFill>
                <a:latin typeface="Times New Roman" charset="0"/>
              </a:defRPr>
            </a:lvl2pPr>
            <a:lvl3pPr marL="1143000" indent="-228600" eaLnBrk="0" hangingPunct="0">
              <a:defRPr sz="2400">
                <a:solidFill>
                  <a:schemeClr val="tx1"/>
                </a:solidFill>
                <a:latin typeface="Times New Roman" charset="0"/>
              </a:defRPr>
            </a:lvl3pPr>
            <a:lvl4pPr marL="1600200" indent="-228600" eaLnBrk="0" hangingPunct="0">
              <a:defRPr sz="2400">
                <a:solidFill>
                  <a:schemeClr val="tx1"/>
                </a:solidFill>
                <a:latin typeface="Times New Roman" charset="0"/>
              </a:defRPr>
            </a:lvl4pPr>
            <a:lvl5pPr marL="2057400" indent="-228600" eaLnBrk="0" hangingPunct="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pPr eaLnBrk="1" hangingPunct="1"/>
            <a:r>
              <a:rPr lang="en-US" sz="1800">
                <a:solidFill>
                  <a:prstClr val="black"/>
                </a:solidFill>
                <a:latin typeface="Arial" charset="0"/>
              </a:rPr>
              <a:t>9</a:t>
            </a:r>
          </a:p>
        </p:txBody>
      </p:sp>
      <p:sp>
        <p:nvSpPr>
          <p:cNvPr id="25" name="Rectangle 48"/>
          <p:cNvSpPr>
            <a:spLocks noChangeArrowheads="1"/>
          </p:cNvSpPr>
          <p:nvPr/>
        </p:nvSpPr>
        <p:spPr bwMode="auto">
          <a:xfrm>
            <a:off x="6299200" y="414972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lgn="ctr">
              <a:defRPr/>
            </a:pPr>
            <a:r>
              <a:rPr lang="en-US">
                <a:solidFill>
                  <a:prstClr val="black"/>
                </a:solidFill>
                <a:latin typeface="Arial" charset="0"/>
              </a:rPr>
              <a:t>mary 28200</a:t>
            </a:r>
          </a:p>
        </p:txBody>
      </p:sp>
      <p:sp>
        <p:nvSpPr>
          <p:cNvPr id="26" name="Rectangle 49"/>
          <p:cNvSpPr>
            <a:spLocks noChangeArrowheads="1"/>
          </p:cNvSpPr>
          <p:nvPr/>
        </p:nvSpPr>
        <p:spPr bwMode="auto">
          <a:xfrm>
            <a:off x="6299200" y="378936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lgn="ctr">
              <a:defRPr/>
            </a:pPr>
            <a:r>
              <a:rPr lang="en-US">
                <a:solidFill>
                  <a:prstClr val="black"/>
                </a:solidFill>
                <a:latin typeface="Arial" charset="0"/>
              </a:rPr>
              <a:t>dave 27500</a:t>
            </a:r>
          </a:p>
        </p:txBody>
      </p:sp>
      <p:sp>
        <p:nvSpPr>
          <p:cNvPr id="27" name="Rectangle 50"/>
          <p:cNvSpPr>
            <a:spLocks noChangeArrowheads="1"/>
          </p:cNvSpPr>
          <p:nvPr/>
        </p:nvSpPr>
        <p:spPr bwMode="auto">
          <a:xfrm>
            <a:off x="6299200" y="342741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defRPr/>
            </a:pPr>
            <a:endParaRPr lang="tr-TR">
              <a:solidFill>
                <a:prstClr val="black"/>
              </a:solidFill>
              <a:latin typeface="Times New Roman" pitchFamily="18" charset="0"/>
            </a:endParaRPr>
          </a:p>
        </p:txBody>
      </p:sp>
      <p:sp>
        <p:nvSpPr>
          <p:cNvPr id="28" name="Rectangle 51"/>
          <p:cNvSpPr>
            <a:spLocks noChangeArrowheads="1"/>
          </p:cNvSpPr>
          <p:nvPr/>
        </p:nvSpPr>
        <p:spPr bwMode="auto">
          <a:xfrm>
            <a:off x="6299200" y="3068638"/>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lgn="ctr">
              <a:defRPr/>
            </a:pPr>
            <a:r>
              <a:rPr lang="en-US">
                <a:solidFill>
                  <a:prstClr val="black"/>
                </a:solidFill>
                <a:latin typeface="Arial" charset="0"/>
              </a:rPr>
              <a:t>phil 31250</a:t>
            </a:r>
          </a:p>
        </p:txBody>
      </p:sp>
      <p:sp>
        <p:nvSpPr>
          <p:cNvPr id="29" name="Rectangle 52"/>
          <p:cNvSpPr>
            <a:spLocks noChangeArrowheads="1"/>
          </p:cNvSpPr>
          <p:nvPr/>
        </p:nvSpPr>
        <p:spPr bwMode="auto">
          <a:xfrm>
            <a:off x="6299200" y="270827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lgn="ctr">
              <a:defRPr/>
            </a:pPr>
            <a:r>
              <a:rPr lang="en-US">
                <a:solidFill>
                  <a:prstClr val="black"/>
                </a:solidFill>
                <a:latin typeface="Arial" charset="0"/>
              </a:rPr>
              <a:t>john 25000</a:t>
            </a:r>
          </a:p>
        </p:txBody>
      </p:sp>
      <p:sp>
        <p:nvSpPr>
          <p:cNvPr id="30" name="Rectangle 53"/>
          <p:cNvSpPr>
            <a:spLocks noChangeArrowheads="1"/>
          </p:cNvSpPr>
          <p:nvPr/>
        </p:nvSpPr>
        <p:spPr bwMode="auto">
          <a:xfrm>
            <a:off x="6299200" y="2347913"/>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defRPr/>
            </a:pPr>
            <a:endParaRPr lang="tr-TR">
              <a:solidFill>
                <a:prstClr val="black"/>
              </a:solidFill>
              <a:latin typeface="Times New Roman" pitchFamily="18" charset="0"/>
            </a:endParaRPr>
          </a:p>
        </p:txBody>
      </p:sp>
      <p:sp>
        <p:nvSpPr>
          <p:cNvPr id="31" name="Rectangle 54"/>
          <p:cNvSpPr>
            <a:spLocks noChangeArrowheads="1"/>
          </p:cNvSpPr>
          <p:nvPr/>
        </p:nvSpPr>
        <p:spPr bwMode="auto">
          <a:xfrm>
            <a:off x="6299200" y="1989138"/>
            <a:ext cx="2233613" cy="360362"/>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defRPr/>
            </a:pPr>
            <a:endParaRPr lang="tr-TR">
              <a:solidFill>
                <a:prstClr val="black"/>
              </a:solidFill>
              <a:latin typeface="Times New Roman" pitchFamily="18" charset="0"/>
            </a:endParaRPr>
          </a:p>
        </p:txBody>
      </p:sp>
      <p:sp>
        <p:nvSpPr>
          <p:cNvPr id="32" name="Rectangle 55"/>
          <p:cNvSpPr>
            <a:spLocks noChangeArrowheads="1"/>
          </p:cNvSpPr>
          <p:nvPr/>
        </p:nvSpPr>
        <p:spPr bwMode="auto">
          <a:xfrm>
            <a:off x="6299200" y="1628775"/>
            <a:ext cx="2233613" cy="360363"/>
          </a:xfrm>
          <a:prstGeom prst="rect">
            <a:avLst/>
          </a:prstGeom>
          <a:solidFill>
            <a:srgbClr val="EAEAEA"/>
          </a:solidFill>
          <a:ln w="12700" algn="ctr">
            <a:solidFill>
              <a:schemeClr val="tx1"/>
            </a:solidFill>
            <a:miter lim="800000"/>
            <a:headEnd/>
            <a:tailEnd/>
          </a:ln>
          <a:effectLst>
            <a:outerShdw dist="107763" dir="18900000" algn="ctr" rotWithShape="0">
              <a:schemeClr val="bg2">
                <a:alpha val="50000"/>
              </a:schemeClr>
            </a:outerShdw>
          </a:effectLst>
        </p:spPr>
        <p:txBody>
          <a:bodyPr wrap="none" lIns="90000" tIns="46800" rIns="90000" bIns="46800" anchor="ctr"/>
          <a:lstStyle/>
          <a:p>
            <a:pPr>
              <a:defRPr/>
            </a:pPr>
            <a:endParaRPr lang="tr-TR">
              <a:solidFill>
                <a:prstClr val="black"/>
              </a:solidFill>
              <a:latin typeface="Times New Roman" pitchFamily="18" charset="0"/>
            </a:endParaRPr>
          </a:p>
        </p:txBody>
      </p:sp>
    </p:spTree>
    <p:extLst>
      <p:ext uri="{BB962C8B-B14F-4D97-AF65-F5344CB8AC3E}">
        <p14:creationId xmlns:p14="http://schemas.microsoft.com/office/powerpoint/2010/main" val="24650787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7584" y="908720"/>
            <a:ext cx="7560840" cy="5217443"/>
          </a:xfrm>
        </p:spPr>
        <p:txBody>
          <a:bodyPr>
            <a:normAutofit fontScale="92500" lnSpcReduction="20000"/>
          </a:bodyPr>
          <a:lstStyle/>
          <a:p>
            <a:pPr marL="0" indent="0">
              <a:buNone/>
            </a:pPr>
            <a:r>
              <a:rPr lang="en-IN" dirty="0"/>
              <a:t>If  function is considered – one-to –one </a:t>
            </a:r>
          </a:p>
          <a:p>
            <a:pPr marL="0" indent="0">
              <a:buNone/>
            </a:pPr>
            <a:r>
              <a:rPr lang="en-IN" dirty="0"/>
              <a:t>				</a:t>
            </a:r>
            <a:r>
              <a:rPr lang="en-IN" dirty="0" smtClean="0"/>
              <a:t>      Many </a:t>
            </a:r>
            <a:r>
              <a:rPr lang="en-IN" dirty="0"/>
              <a:t>to one</a:t>
            </a:r>
          </a:p>
          <a:p>
            <a:pPr marL="0" indent="0">
              <a:buNone/>
            </a:pPr>
            <a:r>
              <a:rPr lang="en-IN" dirty="0" smtClean="0">
                <a:solidFill>
                  <a:srgbClr val="FF0000"/>
                </a:solidFill>
              </a:rPr>
              <a:t>h(x</a:t>
            </a:r>
            <a:r>
              <a:rPr lang="en-IN" dirty="0">
                <a:solidFill>
                  <a:srgbClr val="FF0000"/>
                </a:solidFill>
              </a:rPr>
              <a:t>)= x is one to one function</a:t>
            </a:r>
          </a:p>
          <a:p>
            <a:r>
              <a:rPr lang="en-IN" dirty="0"/>
              <a:t>This </a:t>
            </a:r>
            <a:r>
              <a:rPr lang="en-IN" dirty="0" smtClean="0"/>
              <a:t>may be many to </a:t>
            </a:r>
            <a:r>
              <a:rPr lang="en-IN" dirty="0"/>
              <a:t>one also</a:t>
            </a:r>
          </a:p>
          <a:p>
            <a:r>
              <a:rPr lang="en-IN" dirty="0"/>
              <a:t>Try to </a:t>
            </a:r>
            <a:r>
              <a:rPr lang="en-IN" dirty="0" smtClean="0"/>
              <a:t>modify </a:t>
            </a:r>
            <a:r>
              <a:rPr lang="en-IN" dirty="0"/>
              <a:t>the function in such a way that </a:t>
            </a:r>
          </a:p>
          <a:p>
            <a:pPr marL="0" indent="0">
              <a:buNone/>
            </a:pPr>
            <a:r>
              <a:rPr lang="en-IN" dirty="0" smtClean="0"/>
              <a:t>	h(x</a:t>
            </a:r>
            <a:r>
              <a:rPr lang="en-IN" dirty="0"/>
              <a:t>) mod </a:t>
            </a:r>
            <a:r>
              <a:rPr lang="en-IN" dirty="0" smtClean="0"/>
              <a:t>table size</a:t>
            </a:r>
          </a:p>
          <a:p>
            <a:pPr marL="0" indent="0">
              <a:buNone/>
            </a:pPr>
            <a:r>
              <a:rPr lang="en-IN" dirty="0"/>
              <a:t>	</a:t>
            </a:r>
            <a:r>
              <a:rPr lang="en-IN" dirty="0" smtClean="0"/>
              <a:t>h(x)mod </a:t>
            </a:r>
            <a:r>
              <a:rPr lang="en-IN" dirty="0"/>
              <a:t>10 </a:t>
            </a:r>
          </a:p>
          <a:p>
            <a:pPr marL="0" indent="0">
              <a:buNone/>
            </a:pPr>
            <a:r>
              <a:rPr lang="en-IN" dirty="0" smtClean="0"/>
              <a:t>Given the value  as  2,32,4,5,6,7,8,45</a:t>
            </a:r>
            <a:r>
              <a:rPr lang="en-IN" dirty="0"/>
              <a:t>,</a:t>
            </a:r>
          </a:p>
          <a:p>
            <a:pPr marL="0" indent="0">
              <a:buNone/>
            </a:pPr>
            <a:r>
              <a:rPr lang="en-IN" dirty="0" smtClean="0"/>
              <a:t>  	</a:t>
            </a:r>
            <a:r>
              <a:rPr lang="en-IN" dirty="0" smtClean="0">
                <a:solidFill>
                  <a:srgbClr val="FF0000"/>
                </a:solidFill>
              </a:rPr>
              <a:t>2 mod 10  = 2</a:t>
            </a:r>
            <a:endParaRPr lang="en-IN" dirty="0">
              <a:solidFill>
                <a:srgbClr val="FF0000"/>
              </a:solidFill>
            </a:endParaRPr>
          </a:p>
          <a:p>
            <a:pPr marL="0" indent="0">
              <a:buNone/>
            </a:pPr>
            <a:r>
              <a:rPr lang="en-IN" dirty="0" smtClean="0">
                <a:solidFill>
                  <a:srgbClr val="FF0000"/>
                </a:solidFill>
              </a:rPr>
              <a:t>	32 </a:t>
            </a:r>
            <a:r>
              <a:rPr lang="en-IN" dirty="0">
                <a:solidFill>
                  <a:srgbClr val="FF0000"/>
                </a:solidFill>
              </a:rPr>
              <a:t>mod 10 </a:t>
            </a:r>
            <a:r>
              <a:rPr lang="en-IN" dirty="0" smtClean="0">
                <a:solidFill>
                  <a:srgbClr val="FF0000"/>
                </a:solidFill>
              </a:rPr>
              <a:t>= 2 </a:t>
            </a:r>
          </a:p>
          <a:p>
            <a:pPr marL="0" indent="0">
              <a:buNone/>
            </a:pPr>
            <a:r>
              <a:rPr lang="en-IN" b="1" dirty="0" smtClean="0">
                <a:solidFill>
                  <a:srgbClr val="FF0000"/>
                </a:solidFill>
              </a:rPr>
              <a:t>where </a:t>
            </a:r>
            <a:r>
              <a:rPr lang="en-IN" b="1" smtClean="0">
                <a:solidFill>
                  <a:srgbClr val="FF0000"/>
                </a:solidFill>
              </a:rPr>
              <a:t>there is a </a:t>
            </a:r>
            <a:r>
              <a:rPr lang="en-IN" b="1" dirty="0" smtClean="0">
                <a:solidFill>
                  <a:srgbClr val="FF0000"/>
                </a:solidFill>
              </a:rPr>
              <a:t>collision</a:t>
            </a:r>
          </a:p>
          <a:p>
            <a:endParaRPr lang="en-IN" dirty="0"/>
          </a:p>
        </p:txBody>
      </p:sp>
    </p:spTree>
    <p:extLst>
      <p:ext uri="{BB962C8B-B14F-4D97-AF65-F5344CB8AC3E}">
        <p14:creationId xmlns:p14="http://schemas.microsoft.com/office/powerpoint/2010/main" val="2880957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2301BF3A-BD92-415E-AB0D-6730271EFB3F}" type="slidenum">
              <a:rPr lang="en-US" sz="1400">
                <a:solidFill>
                  <a:prstClr val="black"/>
                </a:solidFill>
              </a:rPr>
              <a:pPr eaLnBrk="1" hangingPunct="1"/>
              <a:t>31</a:t>
            </a:fld>
            <a:endParaRPr lang="en-US" sz="1400">
              <a:solidFill>
                <a:prstClr val="black"/>
              </a:solidFill>
            </a:endParaRPr>
          </a:p>
        </p:txBody>
      </p:sp>
      <p:sp>
        <p:nvSpPr>
          <p:cNvPr id="8195" name="Rectangle 2"/>
          <p:cNvSpPr>
            <a:spLocks noGrp="1" noChangeArrowheads="1"/>
          </p:cNvSpPr>
          <p:nvPr>
            <p:ph type="title"/>
          </p:nvPr>
        </p:nvSpPr>
        <p:spPr>
          <a:xfrm>
            <a:off x="609600" y="533400"/>
            <a:ext cx="8229600" cy="1143000"/>
          </a:xfrm>
        </p:spPr>
        <p:txBody>
          <a:bodyPr/>
          <a:lstStyle/>
          <a:p>
            <a:pPr eaLnBrk="1" hangingPunct="1"/>
            <a:r>
              <a:rPr lang="en-US" smtClean="0"/>
              <a:t>Properties of Good Hash Functions</a:t>
            </a:r>
          </a:p>
        </p:txBody>
      </p:sp>
      <p:sp>
        <p:nvSpPr>
          <p:cNvPr id="8196" name="Rectangle 3"/>
          <p:cNvSpPr>
            <a:spLocks noGrp="1" noChangeArrowheads="1"/>
          </p:cNvSpPr>
          <p:nvPr>
            <p:ph type="body" idx="1"/>
          </p:nvPr>
        </p:nvSpPr>
        <p:spPr>
          <a:xfrm>
            <a:off x="304800" y="1981200"/>
            <a:ext cx="8686800" cy="4114800"/>
          </a:xfrm>
        </p:spPr>
        <p:txBody>
          <a:bodyPr/>
          <a:lstStyle/>
          <a:p>
            <a:pPr eaLnBrk="1" hangingPunct="1">
              <a:lnSpc>
                <a:spcPct val="90000"/>
              </a:lnSpc>
            </a:pPr>
            <a:r>
              <a:rPr lang="en-US" dirty="0" smtClean="0"/>
              <a:t>Must return number 0, …, </a:t>
            </a:r>
            <a:r>
              <a:rPr lang="en-US" dirty="0" err="1" smtClean="0"/>
              <a:t>tablesize</a:t>
            </a:r>
            <a:endParaRPr lang="en-US" dirty="0" smtClean="0"/>
          </a:p>
          <a:p>
            <a:pPr eaLnBrk="1" hangingPunct="1">
              <a:lnSpc>
                <a:spcPct val="90000"/>
              </a:lnSpc>
            </a:pPr>
            <a:r>
              <a:rPr lang="en-US" dirty="0" smtClean="0"/>
              <a:t>Should be efficiently computable – O(1) time</a:t>
            </a:r>
          </a:p>
          <a:p>
            <a:pPr eaLnBrk="1" hangingPunct="1">
              <a:lnSpc>
                <a:spcPct val="90000"/>
              </a:lnSpc>
            </a:pPr>
            <a:r>
              <a:rPr lang="en-US" dirty="0" smtClean="0"/>
              <a:t>Should not</a:t>
            </a:r>
            <a:r>
              <a:rPr lang="en-US" dirty="0" smtClean="0">
                <a:solidFill>
                  <a:schemeClr val="accent2"/>
                </a:solidFill>
              </a:rPr>
              <a:t> waste space</a:t>
            </a:r>
            <a:r>
              <a:rPr lang="en-US" dirty="0" smtClean="0"/>
              <a:t> unnecessarily</a:t>
            </a:r>
          </a:p>
          <a:p>
            <a:pPr lvl="1" eaLnBrk="1" hangingPunct="1">
              <a:lnSpc>
                <a:spcPct val="90000"/>
              </a:lnSpc>
            </a:pPr>
            <a:r>
              <a:rPr lang="en-US" dirty="0" smtClean="0"/>
              <a:t>For every index, there is at least one key that hashes to it</a:t>
            </a:r>
          </a:p>
          <a:p>
            <a:pPr lvl="1" eaLnBrk="1" hangingPunct="1">
              <a:lnSpc>
                <a:spcPct val="90000"/>
              </a:lnSpc>
            </a:pPr>
            <a:r>
              <a:rPr lang="en-US" b="1" dirty="0" smtClean="0">
                <a:solidFill>
                  <a:srgbClr val="FF0000"/>
                </a:solidFill>
              </a:rPr>
              <a:t>Load factor lambda  </a:t>
            </a:r>
            <a:r>
              <a:rPr lang="en-US" b="1" dirty="0" smtClean="0">
                <a:solidFill>
                  <a:srgbClr val="FF0000"/>
                </a:solidFill>
                <a:sym typeface="Symbol" pitchFamily="18" charset="2"/>
              </a:rPr>
              <a:t></a:t>
            </a:r>
            <a:r>
              <a:rPr lang="en-US" b="1" dirty="0" smtClean="0">
                <a:solidFill>
                  <a:srgbClr val="FF0000"/>
                </a:solidFill>
              </a:rPr>
              <a:t> = (number of keys / </a:t>
            </a:r>
            <a:r>
              <a:rPr lang="en-US" b="1" dirty="0" err="1" smtClean="0">
                <a:solidFill>
                  <a:srgbClr val="FF0000"/>
                </a:solidFill>
              </a:rPr>
              <a:t>TableSize</a:t>
            </a:r>
            <a:r>
              <a:rPr lang="en-US" b="1" dirty="0" smtClean="0">
                <a:solidFill>
                  <a:srgbClr val="FF0000"/>
                </a:solidFill>
              </a:rPr>
              <a:t>)</a:t>
            </a:r>
          </a:p>
          <a:p>
            <a:pPr eaLnBrk="1" hangingPunct="1">
              <a:lnSpc>
                <a:spcPct val="90000"/>
              </a:lnSpc>
            </a:pPr>
            <a:r>
              <a:rPr lang="en-US" dirty="0" smtClean="0"/>
              <a:t>Should </a:t>
            </a:r>
            <a:r>
              <a:rPr lang="en-US" dirty="0" smtClean="0">
                <a:solidFill>
                  <a:schemeClr val="accent2"/>
                </a:solidFill>
              </a:rPr>
              <a:t>minimize</a:t>
            </a:r>
            <a:r>
              <a:rPr lang="en-US" dirty="0" smtClean="0"/>
              <a:t> </a:t>
            </a:r>
            <a:r>
              <a:rPr lang="en-US" dirty="0" smtClean="0">
                <a:solidFill>
                  <a:srgbClr val="0000FF"/>
                </a:solidFill>
              </a:rPr>
              <a:t>collisions</a:t>
            </a:r>
          </a:p>
          <a:p>
            <a:pPr lvl="1" eaLnBrk="1" hangingPunct="1">
              <a:lnSpc>
                <a:spcPct val="90000"/>
              </a:lnSpc>
              <a:buFontTx/>
              <a:buNone/>
            </a:pPr>
            <a:r>
              <a:rPr lang="en-US" dirty="0" smtClean="0"/>
              <a:t>= different keys hashing to same index</a:t>
            </a:r>
          </a:p>
        </p:txBody>
      </p:sp>
    </p:spTree>
    <p:extLst>
      <p:ext uri="{BB962C8B-B14F-4D97-AF65-F5344CB8AC3E}">
        <p14:creationId xmlns:p14="http://schemas.microsoft.com/office/powerpoint/2010/main" val="359266052"/>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71FA1242-AFA2-4EBD-93B1-B6B4AAE7FBE0}" type="slidenum">
              <a:rPr lang="en-US" sz="1400">
                <a:solidFill>
                  <a:prstClr val="black"/>
                </a:solidFill>
              </a:rPr>
              <a:pPr eaLnBrk="1" hangingPunct="1"/>
              <a:t>32</a:t>
            </a:fld>
            <a:endParaRPr lang="en-US" sz="1400">
              <a:solidFill>
                <a:prstClr val="black"/>
              </a:solidFill>
            </a:endParaRPr>
          </a:p>
        </p:txBody>
      </p:sp>
      <p:sp>
        <p:nvSpPr>
          <p:cNvPr id="9219" name="Rectangle 2"/>
          <p:cNvSpPr>
            <a:spLocks noGrp="1" noChangeArrowheads="1"/>
          </p:cNvSpPr>
          <p:nvPr>
            <p:ph type="title"/>
          </p:nvPr>
        </p:nvSpPr>
        <p:spPr>
          <a:xfrm>
            <a:off x="609600" y="304800"/>
            <a:ext cx="7772400" cy="1143000"/>
          </a:xfrm>
        </p:spPr>
        <p:txBody>
          <a:bodyPr/>
          <a:lstStyle/>
          <a:p>
            <a:pPr eaLnBrk="1" hangingPunct="1"/>
            <a:r>
              <a:rPr lang="en-US" smtClean="0"/>
              <a:t>Integer Keys</a:t>
            </a:r>
          </a:p>
        </p:txBody>
      </p:sp>
      <p:sp>
        <p:nvSpPr>
          <p:cNvPr id="9220" name="Rectangle 3"/>
          <p:cNvSpPr>
            <a:spLocks noGrp="1" noChangeArrowheads="1"/>
          </p:cNvSpPr>
          <p:nvPr>
            <p:ph type="body" idx="1"/>
          </p:nvPr>
        </p:nvSpPr>
        <p:spPr>
          <a:xfrm>
            <a:off x="685800" y="1524000"/>
            <a:ext cx="7772400" cy="4114800"/>
          </a:xfrm>
        </p:spPr>
        <p:txBody>
          <a:bodyPr/>
          <a:lstStyle/>
          <a:p>
            <a:pPr eaLnBrk="1" hangingPunct="1"/>
            <a:r>
              <a:rPr lang="en-US" sz="2800" smtClean="0"/>
              <a:t>Hash(x) = x % TableSize</a:t>
            </a:r>
          </a:p>
          <a:p>
            <a:pPr eaLnBrk="1" hangingPunct="1"/>
            <a:r>
              <a:rPr lang="en-US" sz="2800" smtClean="0"/>
              <a:t>Good idea to make TableSize </a:t>
            </a:r>
            <a:r>
              <a:rPr lang="en-US" sz="2800" i="1" smtClean="0">
                <a:solidFill>
                  <a:schemeClr val="accent2"/>
                </a:solidFill>
              </a:rPr>
              <a:t>prime</a:t>
            </a:r>
            <a:r>
              <a:rPr lang="en-US" sz="2800" smtClean="0"/>
              <a:t>.  </a:t>
            </a:r>
            <a:r>
              <a:rPr lang="en-US" sz="2800" smtClean="0">
                <a:solidFill>
                  <a:srgbClr val="FF0000"/>
                </a:solidFill>
              </a:rPr>
              <a:t>Why?</a:t>
            </a:r>
          </a:p>
          <a:p>
            <a:pPr eaLnBrk="1" hangingPunct="1"/>
            <a:endParaRPr lang="en-US" sz="2800" smtClean="0">
              <a:solidFill>
                <a:srgbClr val="FF0000"/>
              </a:solidFill>
            </a:endParaRPr>
          </a:p>
        </p:txBody>
      </p:sp>
    </p:spTree>
    <p:extLst>
      <p:ext uri="{BB962C8B-B14F-4D97-AF65-F5344CB8AC3E}">
        <p14:creationId xmlns:p14="http://schemas.microsoft.com/office/powerpoint/2010/main" val="28085164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E4A369EA-39CE-421D-B1DD-046C1F7BBE8E}" type="slidenum">
              <a:rPr lang="en-US" sz="1400">
                <a:solidFill>
                  <a:prstClr val="black"/>
                </a:solidFill>
              </a:rPr>
              <a:pPr eaLnBrk="1" hangingPunct="1"/>
              <a:t>33</a:t>
            </a:fld>
            <a:endParaRPr lang="en-US" sz="1400">
              <a:solidFill>
                <a:prstClr val="black"/>
              </a:solidFill>
            </a:endParaRPr>
          </a:p>
        </p:txBody>
      </p:sp>
      <p:sp>
        <p:nvSpPr>
          <p:cNvPr id="10243" name="Rectangle 2"/>
          <p:cNvSpPr>
            <a:spLocks noGrp="1" noChangeArrowheads="1"/>
          </p:cNvSpPr>
          <p:nvPr>
            <p:ph type="title"/>
          </p:nvPr>
        </p:nvSpPr>
        <p:spPr>
          <a:xfrm>
            <a:off x="685800" y="304800"/>
            <a:ext cx="7772400" cy="1143000"/>
          </a:xfrm>
        </p:spPr>
        <p:txBody>
          <a:bodyPr/>
          <a:lstStyle/>
          <a:p>
            <a:pPr eaLnBrk="1" hangingPunct="1"/>
            <a:r>
              <a:rPr lang="en-US" smtClean="0"/>
              <a:t>Integer Keys</a:t>
            </a:r>
          </a:p>
        </p:txBody>
      </p:sp>
      <p:sp>
        <p:nvSpPr>
          <p:cNvPr id="10244" name="Rectangle 3"/>
          <p:cNvSpPr>
            <a:spLocks noGrp="1" noChangeArrowheads="1"/>
          </p:cNvSpPr>
          <p:nvPr>
            <p:ph type="body" idx="1"/>
          </p:nvPr>
        </p:nvSpPr>
        <p:spPr>
          <a:xfrm>
            <a:off x="685800" y="1447800"/>
            <a:ext cx="8001000" cy="5181600"/>
          </a:xfrm>
        </p:spPr>
        <p:txBody>
          <a:bodyPr/>
          <a:lstStyle/>
          <a:p>
            <a:pPr eaLnBrk="1" hangingPunct="1"/>
            <a:r>
              <a:rPr lang="en-US" sz="2800" smtClean="0"/>
              <a:t>Hash(x) = x % TableSize</a:t>
            </a:r>
          </a:p>
          <a:p>
            <a:pPr eaLnBrk="1" hangingPunct="1"/>
            <a:r>
              <a:rPr lang="en-US" sz="2800" smtClean="0"/>
              <a:t>Good idea to make TableSize </a:t>
            </a:r>
            <a:r>
              <a:rPr lang="en-US" sz="2800" i="1" smtClean="0">
                <a:solidFill>
                  <a:schemeClr val="accent2"/>
                </a:solidFill>
              </a:rPr>
              <a:t>prime</a:t>
            </a:r>
            <a:r>
              <a:rPr lang="en-US" sz="2800" smtClean="0"/>
              <a:t>.  Why?</a:t>
            </a:r>
          </a:p>
          <a:p>
            <a:pPr lvl="1" eaLnBrk="1" hangingPunct="1"/>
            <a:r>
              <a:rPr lang="en-US" sz="2400" smtClean="0">
                <a:solidFill>
                  <a:schemeClr val="accent2"/>
                </a:solidFill>
              </a:rPr>
              <a:t>Because keys are typically not randomly distributed, but usually have some </a:t>
            </a:r>
            <a:r>
              <a:rPr lang="en-US" sz="2400" i="1" smtClean="0">
                <a:solidFill>
                  <a:schemeClr val="accent2"/>
                </a:solidFill>
              </a:rPr>
              <a:t>pattern</a:t>
            </a:r>
          </a:p>
          <a:p>
            <a:pPr lvl="2" eaLnBrk="1" hangingPunct="1"/>
            <a:r>
              <a:rPr lang="en-US" sz="2000" smtClean="0"/>
              <a:t>mostly even</a:t>
            </a:r>
          </a:p>
          <a:p>
            <a:pPr lvl="2" eaLnBrk="1" hangingPunct="1"/>
            <a:r>
              <a:rPr lang="en-US" sz="2000" smtClean="0"/>
              <a:t>mostly multiples of 10</a:t>
            </a:r>
          </a:p>
          <a:p>
            <a:pPr lvl="2" eaLnBrk="1" hangingPunct="1"/>
            <a:r>
              <a:rPr lang="en-US" sz="2000" smtClean="0"/>
              <a:t>in general: mostly multiples of some k</a:t>
            </a:r>
          </a:p>
          <a:p>
            <a:pPr lvl="1" eaLnBrk="1" hangingPunct="1"/>
            <a:r>
              <a:rPr lang="en-US" sz="2400" smtClean="0"/>
              <a:t>If k is a factor of TableSize, then only (TableSize/k) slots will ever be used!</a:t>
            </a:r>
          </a:p>
          <a:p>
            <a:pPr lvl="1" eaLnBrk="1" hangingPunct="1"/>
            <a:r>
              <a:rPr lang="en-US" sz="2400" smtClean="0"/>
              <a:t>Since the only factor of a prime number is itself, this phenomena only hurts in the (rare) case where k=TableSize</a:t>
            </a:r>
          </a:p>
        </p:txBody>
      </p:sp>
    </p:spTree>
    <p:extLst>
      <p:ext uri="{BB962C8B-B14F-4D97-AF65-F5344CB8AC3E}">
        <p14:creationId xmlns:p14="http://schemas.microsoft.com/office/powerpoint/2010/main" val="9632484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A9EF04B4-B132-4E1C-AC88-C6F35E39061D}" type="slidenum">
              <a:rPr lang="en-US" sz="1400">
                <a:solidFill>
                  <a:prstClr val="black"/>
                </a:solidFill>
              </a:rPr>
              <a:pPr eaLnBrk="1" hangingPunct="1"/>
              <a:t>34</a:t>
            </a:fld>
            <a:endParaRPr lang="en-US" sz="1400">
              <a:solidFill>
                <a:prstClr val="black"/>
              </a:solidFill>
            </a:endParaRPr>
          </a:p>
        </p:txBody>
      </p:sp>
      <p:sp>
        <p:nvSpPr>
          <p:cNvPr id="11267" name="Rectangle 2"/>
          <p:cNvSpPr>
            <a:spLocks noGrp="1" noChangeArrowheads="1"/>
          </p:cNvSpPr>
          <p:nvPr>
            <p:ph type="title"/>
          </p:nvPr>
        </p:nvSpPr>
        <p:spPr>
          <a:xfrm>
            <a:off x="685800" y="457200"/>
            <a:ext cx="7772400" cy="1143000"/>
          </a:xfrm>
        </p:spPr>
        <p:txBody>
          <a:bodyPr/>
          <a:lstStyle/>
          <a:p>
            <a:pPr eaLnBrk="1" hangingPunct="1"/>
            <a:r>
              <a:rPr lang="en-US" smtClean="0"/>
              <a:t>Strings as Keys</a:t>
            </a:r>
          </a:p>
        </p:txBody>
      </p:sp>
      <p:sp>
        <p:nvSpPr>
          <p:cNvPr id="11268" name="Rectangle 3"/>
          <p:cNvSpPr>
            <a:spLocks noGrp="1" noChangeArrowheads="1"/>
          </p:cNvSpPr>
          <p:nvPr>
            <p:ph type="body" idx="1"/>
          </p:nvPr>
        </p:nvSpPr>
        <p:spPr>
          <a:xfrm>
            <a:off x="304800" y="1828800"/>
            <a:ext cx="8458200" cy="4648200"/>
          </a:xfrm>
        </p:spPr>
        <p:txBody>
          <a:bodyPr/>
          <a:lstStyle/>
          <a:p>
            <a:pPr eaLnBrk="1" hangingPunct="1">
              <a:lnSpc>
                <a:spcPct val="90000"/>
              </a:lnSpc>
            </a:pPr>
            <a:r>
              <a:rPr lang="en-US" sz="2800" smtClean="0"/>
              <a:t>If keys are </a:t>
            </a:r>
            <a:r>
              <a:rPr lang="en-US" sz="2800" smtClean="0">
                <a:solidFill>
                  <a:srgbClr val="0000FF"/>
                </a:solidFill>
              </a:rPr>
              <a:t>strings</a:t>
            </a:r>
            <a:r>
              <a:rPr lang="en-US" sz="2800" smtClean="0"/>
              <a:t>, can get an integer by </a:t>
            </a:r>
            <a:r>
              <a:rPr lang="en-US" sz="2800" smtClean="0">
                <a:solidFill>
                  <a:srgbClr val="0000FF"/>
                </a:solidFill>
              </a:rPr>
              <a:t>adding up ASCII values of characters in </a:t>
            </a:r>
            <a:r>
              <a:rPr lang="en-US" sz="2800" i="1" smtClean="0">
                <a:solidFill>
                  <a:srgbClr val="0000FF"/>
                </a:solidFill>
              </a:rPr>
              <a:t>key</a:t>
            </a:r>
          </a:p>
          <a:p>
            <a:pPr lvl="1" eaLnBrk="1" hangingPunct="1">
              <a:lnSpc>
                <a:spcPct val="90000"/>
              </a:lnSpc>
              <a:buFontTx/>
              <a:buNone/>
            </a:pPr>
            <a:r>
              <a:rPr lang="en-US" sz="2400" smtClean="0">
                <a:latin typeface="Courier New" pitchFamily="49" charset="-52"/>
              </a:rPr>
              <a:t> for (i=0;i&lt;key.length();i++)</a:t>
            </a:r>
          </a:p>
          <a:p>
            <a:pPr lvl="1" eaLnBrk="1" hangingPunct="1">
              <a:lnSpc>
                <a:spcPct val="90000"/>
              </a:lnSpc>
              <a:buFontTx/>
              <a:buNone/>
            </a:pPr>
            <a:r>
              <a:rPr lang="en-US" sz="2400" smtClean="0">
                <a:latin typeface="Courier New" pitchFamily="49" charset="-52"/>
              </a:rPr>
              <a:t> 			hashVal += key.charAt(i);</a:t>
            </a:r>
          </a:p>
          <a:p>
            <a:pPr eaLnBrk="1" hangingPunct="1">
              <a:lnSpc>
                <a:spcPct val="90000"/>
              </a:lnSpc>
            </a:pPr>
            <a:endParaRPr lang="en-US" sz="2800" b="1" smtClean="0"/>
          </a:p>
          <a:p>
            <a:pPr eaLnBrk="1" hangingPunct="1">
              <a:lnSpc>
                <a:spcPct val="90000"/>
              </a:lnSpc>
            </a:pPr>
            <a:r>
              <a:rPr lang="en-US" sz="2800" b="1" smtClean="0"/>
              <a:t>Problem 1</a:t>
            </a:r>
            <a:r>
              <a:rPr lang="en-US" sz="2800" smtClean="0"/>
              <a:t>: What if </a:t>
            </a:r>
            <a:r>
              <a:rPr lang="en-US" sz="2800" i="1" smtClean="0"/>
              <a:t>TableSize</a:t>
            </a:r>
            <a:r>
              <a:rPr lang="en-US" sz="2800" smtClean="0"/>
              <a:t> is 10,000 and all keys are 8 or less characters long? </a:t>
            </a:r>
          </a:p>
          <a:p>
            <a:pPr lvl="1" eaLnBrk="1" hangingPunct="1">
              <a:lnSpc>
                <a:spcPct val="90000"/>
              </a:lnSpc>
            </a:pPr>
            <a:endParaRPr lang="en-US" sz="2600" smtClean="0"/>
          </a:p>
          <a:p>
            <a:pPr eaLnBrk="1" hangingPunct="1">
              <a:lnSpc>
                <a:spcPct val="90000"/>
              </a:lnSpc>
            </a:pPr>
            <a:r>
              <a:rPr lang="en-US" sz="2800" b="1" smtClean="0"/>
              <a:t>Problem 2</a:t>
            </a:r>
            <a:r>
              <a:rPr lang="en-US" sz="2800" smtClean="0"/>
              <a:t>: What if keys often contain the same characters (“abc”, “bca”, etc.)?</a:t>
            </a:r>
          </a:p>
        </p:txBody>
      </p:sp>
    </p:spTree>
    <p:extLst>
      <p:ext uri="{BB962C8B-B14F-4D97-AF65-F5344CB8AC3E}">
        <p14:creationId xmlns:p14="http://schemas.microsoft.com/office/powerpoint/2010/main" val="1208398963"/>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34447AAA-0054-49A4-AE63-EC6806E17BF9}" type="slidenum">
              <a:rPr lang="en-US" sz="1400">
                <a:solidFill>
                  <a:prstClr val="black"/>
                </a:solidFill>
              </a:rPr>
              <a:pPr eaLnBrk="1" hangingPunct="1"/>
              <a:t>35</a:t>
            </a:fld>
            <a:endParaRPr lang="en-US" sz="1400">
              <a:solidFill>
                <a:prstClr val="black"/>
              </a:solidFill>
            </a:endParaRPr>
          </a:p>
        </p:txBody>
      </p:sp>
      <p:sp>
        <p:nvSpPr>
          <p:cNvPr id="12291" name="Rectangle 2"/>
          <p:cNvSpPr>
            <a:spLocks noGrp="1" noChangeArrowheads="1"/>
          </p:cNvSpPr>
          <p:nvPr>
            <p:ph type="title"/>
          </p:nvPr>
        </p:nvSpPr>
        <p:spPr/>
        <p:txBody>
          <a:bodyPr/>
          <a:lstStyle/>
          <a:p>
            <a:pPr eaLnBrk="1" hangingPunct="1"/>
            <a:r>
              <a:rPr lang="en-US" smtClean="0"/>
              <a:t>Hashing Strings</a:t>
            </a:r>
          </a:p>
        </p:txBody>
      </p:sp>
      <p:sp>
        <p:nvSpPr>
          <p:cNvPr id="12292" name="Rectangle 3"/>
          <p:cNvSpPr>
            <a:spLocks noGrp="1" noChangeArrowheads="1"/>
          </p:cNvSpPr>
          <p:nvPr>
            <p:ph type="body" idx="1"/>
          </p:nvPr>
        </p:nvSpPr>
        <p:spPr>
          <a:xfrm>
            <a:off x="550863" y="1568450"/>
            <a:ext cx="8202612" cy="4686300"/>
          </a:xfrm>
        </p:spPr>
        <p:txBody>
          <a:bodyPr/>
          <a:lstStyle/>
          <a:p>
            <a:pPr marL="457200" indent="-457200" eaLnBrk="1" hangingPunct="1"/>
            <a:r>
              <a:rPr lang="en-US" sz="2800" smtClean="0"/>
              <a:t>Basic idea: consider string to be a integer (base 128):</a:t>
            </a:r>
          </a:p>
          <a:p>
            <a:pPr marL="838200" lvl="1" indent="-381000" eaLnBrk="1" hangingPunct="1">
              <a:buFontTx/>
              <a:buNone/>
            </a:pPr>
            <a:r>
              <a:rPr lang="en-US" sz="2600" smtClean="0">
                <a:solidFill>
                  <a:schemeClr val="accent2"/>
                </a:solidFill>
              </a:rPr>
              <a:t>Hash(“abc”) = (‘a’*128</a:t>
            </a:r>
            <a:r>
              <a:rPr lang="en-US" sz="2600" baseline="30000" smtClean="0">
                <a:solidFill>
                  <a:schemeClr val="accent2"/>
                </a:solidFill>
              </a:rPr>
              <a:t>2</a:t>
            </a:r>
            <a:r>
              <a:rPr lang="en-US" sz="2600" smtClean="0">
                <a:solidFill>
                  <a:schemeClr val="accent2"/>
                </a:solidFill>
              </a:rPr>
              <a:t> + ‘b’*128</a:t>
            </a:r>
            <a:r>
              <a:rPr lang="en-US" sz="2600" baseline="30000" smtClean="0">
                <a:solidFill>
                  <a:schemeClr val="accent2"/>
                </a:solidFill>
              </a:rPr>
              <a:t>1</a:t>
            </a:r>
            <a:r>
              <a:rPr lang="en-US" sz="2600" smtClean="0">
                <a:solidFill>
                  <a:schemeClr val="accent2"/>
                </a:solidFill>
              </a:rPr>
              <a:t> + ‘c’) % TableSize</a:t>
            </a:r>
            <a:endParaRPr lang="en-US" smtClean="0">
              <a:solidFill>
                <a:schemeClr val="accent2"/>
              </a:solidFill>
            </a:endParaRPr>
          </a:p>
          <a:p>
            <a:pPr marL="457200" indent="-457200" eaLnBrk="1" hangingPunct="1"/>
            <a:r>
              <a:rPr lang="en-US" sz="2800" smtClean="0"/>
              <a:t>Range of hash large, anagrams get different values</a:t>
            </a:r>
          </a:p>
          <a:p>
            <a:pPr marL="457200" indent="-457200" eaLnBrk="1" hangingPunct="1"/>
            <a:r>
              <a:rPr lang="en-US" sz="2800" b="1" smtClean="0"/>
              <a:t>Problem:</a:t>
            </a:r>
            <a:r>
              <a:rPr lang="en-US" sz="2800" smtClean="0"/>
              <a:t> although a char can hold 128 values (8 bits), only a subset of these values are commonly used (26 letters plus some special characters)</a:t>
            </a:r>
          </a:p>
          <a:p>
            <a:pPr marL="838200" lvl="1" indent="-381000" eaLnBrk="1" hangingPunct="1"/>
            <a:r>
              <a:rPr lang="en-US" smtClean="0"/>
              <a:t>So just use a smaller “base” </a:t>
            </a:r>
          </a:p>
          <a:p>
            <a:pPr marL="838200" lvl="1" indent="-381000" eaLnBrk="1" hangingPunct="1"/>
            <a:r>
              <a:rPr lang="en-US" sz="2600" smtClean="0">
                <a:solidFill>
                  <a:schemeClr val="accent2"/>
                </a:solidFill>
              </a:rPr>
              <a:t>Hash(“abc”) = (‘a’*32</a:t>
            </a:r>
            <a:r>
              <a:rPr lang="en-US" sz="2600" baseline="30000" smtClean="0">
                <a:solidFill>
                  <a:schemeClr val="accent2"/>
                </a:solidFill>
              </a:rPr>
              <a:t>2</a:t>
            </a:r>
            <a:r>
              <a:rPr lang="en-US" sz="2600" smtClean="0">
                <a:solidFill>
                  <a:schemeClr val="accent2"/>
                </a:solidFill>
              </a:rPr>
              <a:t> + ‘b’*32</a:t>
            </a:r>
            <a:r>
              <a:rPr lang="en-US" sz="2600" baseline="30000" smtClean="0">
                <a:solidFill>
                  <a:schemeClr val="accent2"/>
                </a:solidFill>
              </a:rPr>
              <a:t>1</a:t>
            </a:r>
            <a:r>
              <a:rPr lang="en-US" sz="2600" smtClean="0">
                <a:solidFill>
                  <a:schemeClr val="accent2"/>
                </a:solidFill>
              </a:rPr>
              <a:t> + ‘c’) % TableSize</a:t>
            </a:r>
          </a:p>
        </p:txBody>
      </p:sp>
    </p:spTree>
    <p:extLst>
      <p:ext uri="{BB962C8B-B14F-4D97-AF65-F5344CB8AC3E}">
        <p14:creationId xmlns:p14="http://schemas.microsoft.com/office/powerpoint/2010/main" val="2377441989"/>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52400" y="15240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Hashing:</a:t>
            </a:r>
          </a:p>
        </p:txBody>
      </p:sp>
      <p:sp>
        <p:nvSpPr>
          <p:cNvPr id="14339" name="Text Box 3"/>
          <p:cNvSpPr txBox="1">
            <a:spLocks noChangeArrowheads="1"/>
          </p:cNvSpPr>
          <p:nvPr/>
        </p:nvSpPr>
        <p:spPr bwMode="auto">
          <a:xfrm>
            <a:off x="152400" y="91440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Process of </a:t>
            </a:r>
            <a:r>
              <a:rPr lang="en-US" sz="2400" b="1"/>
              <a:t>mapping</a:t>
            </a:r>
            <a:r>
              <a:rPr lang="en-US" sz="2400"/>
              <a:t> a key value to a position in a table</a:t>
            </a:r>
          </a:p>
        </p:txBody>
      </p:sp>
      <p:sp>
        <p:nvSpPr>
          <p:cNvPr id="14340" name="Text Box 4"/>
          <p:cNvSpPr txBox="1">
            <a:spLocks noChangeArrowheads="1"/>
          </p:cNvSpPr>
          <p:nvPr/>
        </p:nvSpPr>
        <p:spPr bwMode="auto">
          <a:xfrm>
            <a:off x="152400" y="175260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Example:</a:t>
            </a:r>
            <a:r>
              <a:rPr lang="en-US" sz="2400" b="1"/>
              <a:t> 7, 18 , 41 , 34</a:t>
            </a:r>
          </a:p>
        </p:txBody>
      </p:sp>
      <p:sp>
        <p:nvSpPr>
          <p:cNvPr id="14341" name="Text Box 5"/>
          <p:cNvSpPr txBox="1">
            <a:spLocks noChangeArrowheads="1"/>
          </p:cNvSpPr>
          <p:nvPr/>
        </p:nvSpPr>
        <p:spPr bwMode="auto">
          <a:xfrm>
            <a:off x="1600200" y="3081338"/>
            <a:ext cx="1981200"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a:t>7 % 10 = </a:t>
            </a:r>
            <a:r>
              <a:rPr lang="en-US" sz="2400" b="1">
                <a:solidFill>
                  <a:srgbClr val="FF0000"/>
                </a:solidFill>
              </a:rPr>
              <a:t>7</a:t>
            </a:r>
          </a:p>
          <a:p>
            <a:pPr eaLnBrk="1" hangingPunct="1">
              <a:spcBef>
                <a:spcPct val="50000"/>
              </a:spcBef>
            </a:pPr>
            <a:r>
              <a:rPr lang="en-US" sz="2400"/>
              <a:t>18 % 10 = </a:t>
            </a:r>
            <a:r>
              <a:rPr lang="en-US" sz="2400" b="1">
                <a:solidFill>
                  <a:srgbClr val="FF0000"/>
                </a:solidFill>
              </a:rPr>
              <a:t>8</a:t>
            </a:r>
          </a:p>
          <a:p>
            <a:pPr eaLnBrk="1" hangingPunct="1">
              <a:spcBef>
                <a:spcPct val="50000"/>
              </a:spcBef>
            </a:pPr>
            <a:r>
              <a:rPr lang="en-US" sz="2400"/>
              <a:t>41 % 10 = </a:t>
            </a:r>
            <a:r>
              <a:rPr lang="en-US" sz="2400" b="1">
                <a:solidFill>
                  <a:srgbClr val="FF0000"/>
                </a:solidFill>
              </a:rPr>
              <a:t>1</a:t>
            </a:r>
          </a:p>
          <a:p>
            <a:pPr eaLnBrk="1" hangingPunct="1">
              <a:spcBef>
                <a:spcPct val="50000"/>
              </a:spcBef>
            </a:pPr>
            <a:r>
              <a:rPr lang="en-US" sz="2400"/>
              <a:t>34 % 10 = </a:t>
            </a:r>
            <a:r>
              <a:rPr lang="en-US" sz="2400" b="1">
                <a:solidFill>
                  <a:srgbClr val="FF0000"/>
                </a:solidFill>
              </a:rPr>
              <a:t>4</a:t>
            </a:r>
            <a:r>
              <a:rPr lang="en-US" sz="2400"/>
              <a:t> </a:t>
            </a:r>
          </a:p>
        </p:txBody>
      </p:sp>
      <p:graphicFrame>
        <p:nvGraphicFramePr>
          <p:cNvPr id="14366" name="Group 30"/>
          <p:cNvGraphicFramePr>
            <a:graphicFrameLocks noGrp="1"/>
          </p:cNvGraphicFramePr>
          <p:nvPr/>
        </p:nvGraphicFramePr>
        <p:xfrm>
          <a:off x="6324600" y="1454150"/>
          <a:ext cx="1752600" cy="5181600"/>
        </p:xfrm>
        <a:graphic>
          <a:graphicData uri="http://schemas.openxmlformats.org/drawingml/2006/table">
            <a:tbl>
              <a:tblPr/>
              <a:tblGrid>
                <a:gridCol w="1752600"/>
              </a:tblGrid>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41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34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4368" name="Group 32"/>
          <p:cNvGraphicFramePr>
            <a:graphicFrameLocks noGrp="1"/>
          </p:cNvGraphicFramePr>
          <p:nvPr/>
        </p:nvGraphicFramePr>
        <p:xfrm>
          <a:off x="5715000" y="1454150"/>
          <a:ext cx="609600" cy="5181600"/>
        </p:xfrm>
        <a:graphic>
          <a:graphicData uri="http://schemas.openxmlformats.org/drawingml/2006/table">
            <a:tbl>
              <a:tblPr/>
              <a:tblGrid>
                <a:gridCol w="609600"/>
              </a:tblGrid>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1887369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 calcmode="lin" valueType="num">
                                      <p:cBhvr additive="base">
                                        <p:cTn id="7" dur="500" fill="hold"/>
                                        <p:tgtEl>
                                          <p:spTgt spid="14338"/>
                                        </p:tgtEl>
                                        <p:attrNameLst>
                                          <p:attrName>ppt_x</p:attrName>
                                        </p:attrNameLst>
                                      </p:cBhvr>
                                      <p:tavLst>
                                        <p:tav tm="0">
                                          <p:val>
                                            <p:strVal val="#ppt_x"/>
                                          </p:val>
                                        </p:tav>
                                        <p:tav tm="100000">
                                          <p:val>
                                            <p:strVal val="#ppt_x"/>
                                          </p:val>
                                        </p:tav>
                                      </p:tavLst>
                                    </p:anim>
                                    <p:anim calcmode="lin" valueType="num">
                                      <p:cBhvr additive="base">
                                        <p:cTn id="8" dur="500" fill="hold"/>
                                        <p:tgtEl>
                                          <p:spTgt spid="1433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9"/>
                                        </p:tgtEl>
                                        <p:attrNameLst>
                                          <p:attrName>style.visibility</p:attrName>
                                        </p:attrNameLst>
                                      </p:cBhvr>
                                      <p:to>
                                        <p:strVal val="visible"/>
                                      </p:to>
                                    </p:set>
                                    <p:anim calcmode="lin" valueType="num">
                                      <p:cBhvr additive="base">
                                        <p:cTn id="13" dur="500" fill="hold"/>
                                        <p:tgtEl>
                                          <p:spTgt spid="14339"/>
                                        </p:tgtEl>
                                        <p:attrNameLst>
                                          <p:attrName>ppt_x</p:attrName>
                                        </p:attrNameLst>
                                      </p:cBhvr>
                                      <p:tavLst>
                                        <p:tav tm="0">
                                          <p:val>
                                            <p:strVal val="#ppt_x"/>
                                          </p:val>
                                        </p:tav>
                                        <p:tav tm="100000">
                                          <p:val>
                                            <p:strVal val="#ppt_x"/>
                                          </p:val>
                                        </p:tav>
                                      </p:tavLst>
                                    </p:anim>
                                    <p:anim calcmode="lin" valueType="num">
                                      <p:cBhvr additive="base">
                                        <p:cTn id="14" dur="500" fill="hold"/>
                                        <p:tgtEl>
                                          <p:spTgt spid="1433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340"/>
                                        </p:tgtEl>
                                        <p:attrNameLst>
                                          <p:attrName>style.visibility</p:attrName>
                                        </p:attrNameLst>
                                      </p:cBhvr>
                                      <p:to>
                                        <p:strVal val="visible"/>
                                      </p:to>
                                    </p:set>
                                    <p:anim calcmode="lin" valueType="num">
                                      <p:cBhvr additive="base">
                                        <p:cTn id="19" dur="500" fill="hold"/>
                                        <p:tgtEl>
                                          <p:spTgt spid="14340"/>
                                        </p:tgtEl>
                                        <p:attrNameLst>
                                          <p:attrName>ppt_x</p:attrName>
                                        </p:attrNameLst>
                                      </p:cBhvr>
                                      <p:tavLst>
                                        <p:tav tm="0">
                                          <p:val>
                                            <p:strVal val="#ppt_x"/>
                                          </p:val>
                                        </p:tav>
                                        <p:tav tm="100000">
                                          <p:val>
                                            <p:strVal val="#ppt_x"/>
                                          </p:val>
                                        </p:tav>
                                      </p:tavLst>
                                    </p:anim>
                                    <p:anim calcmode="lin" valueType="num">
                                      <p:cBhvr additive="base">
                                        <p:cTn id="20"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341"/>
                                        </p:tgtEl>
                                        <p:attrNameLst>
                                          <p:attrName>style.visibility</p:attrName>
                                        </p:attrNameLst>
                                      </p:cBhvr>
                                      <p:to>
                                        <p:strVal val="visible"/>
                                      </p:to>
                                    </p:set>
                                    <p:anim calcmode="lin" valueType="num">
                                      <p:cBhvr additive="base">
                                        <p:cTn id="25" dur="500" fill="hold"/>
                                        <p:tgtEl>
                                          <p:spTgt spid="14341"/>
                                        </p:tgtEl>
                                        <p:attrNameLst>
                                          <p:attrName>ppt_x</p:attrName>
                                        </p:attrNameLst>
                                      </p:cBhvr>
                                      <p:tavLst>
                                        <p:tav tm="0">
                                          <p:val>
                                            <p:strVal val="#ppt_x"/>
                                          </p:val>
                                        </p:tav>
                                        <p:tav tm="100000">
                                          <p:val>
                                            <p:strVal val="#ppt_x"/>
                                          </p:val>
                                        </p:tav>
                                      </p:tavLst>
                                    </p:anim>
                                    <p:anim calcmode="lin" valueType="num">
                                      <p:cBhvr additive="base">
                                        <p:cTn id="26" dur="500" fill="hold"/>
                                        <p:tgtEl>
                                          <p:spTgt spid="1434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4368"/>
                                        </p:tgtEl>
                                        <p:attrNameLst>
                                          <p:attrName>style.visibility</p:attrName>
                                        </p:attrNameLst>
                                      </p:cBhvr>
                                      <p:to>
                                        <p:strVal val="visible"/>
                                      </p:to>
                                    </p:set>
                                    <p:anim calcmode="lin" valueType="num">
                                      <p:cBhvr additive="base">
                                        <p:cTn id="31" dur="500" fill="hold"/>
                                        <p:tgtEl>
                                          <p:spTgt spid="14368"/>
                                        </p:tgtEl>
                                        <p:attrNameLst>
                                          <p:attrName>ppt_x</p:attrName>
                                        </p:attrNameLst>
                                      </p:cBhvr>
                                      <p:tavLst>
                                        <p:tav tm="0">
                                          <p:val>
                                            <p:strVal val="#ppt_x"/>
                                          </p:val>
                                        </p:tav>
                                        <p:tav tm="100000">
                                          <p:val>
                                            <p:strVal val="#ppt_x"/>
                                          </p:val>
                                        </p:tav>
                                      </p:tavLst>
                                    </p:anim>
                                    <p:anim calcmode="lin" valueType="num">
                                      <p:cBhvr additive="base">
                                        <p:cTn id="32" dur="500" fill="hold"/>
                                        <p:tgtEl>
                                          <p:spTgt spid="1436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4366"/>
                                        </p:tgtEl>
                                        <p:attrNameLst>
                                          <p:attrName>style.visibility</p:attrName>
                                        </p:attrNameLst>
                                      </p:cBhvr>
                                      <p:to>
                                        <p:strVal val="visible"/>
                                      </p:to>
                                    </p:set>
                                    <p:anim calcmode="lin" valueType="num">
                                      <p:cBhvr additive="base">
                                        <p:cTn id="35" dur="500" fill="hold"/>
                                        <p:tgtEl>
                                          <p:spTgt spid="14366"/>
                                        </p:tgtEl>
                                        <p:attrNameLst>
                                          <p:attrName>ppt_x</p:attrName>
                                        </p:attrNameLst>
                                      </p:cBhvr>
                                      <p:tavLst>
                                        <p:tav tm="0">
                                          <p:val>
                                            <p:strVal val="#ppt_x"/>
                                          </p:val>
                                        </p:tav>
                                        <p:tav tm="100000">
                                          <p:val>
                                            <p:strVal val="#ppt_x"/>
                                          </p:val>
                                        </p:tav>
                                      </p:tavLst>
                                    </p:anim>
                                    <p:anim calcmode="lin" valueType="num">
                                      <p:cBhvr additive="base">
                                        <p:cTn id="36" dur="500" fill="hold"/>
                                        <p:tgtEl>
                                          <p:spTgt spid="143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39" grpId="0"/>
      <p:bldP spid="14340" grpId="0"/>
      <p:bldP spid="1434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228600" y="228600"/>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IDEAL Hashing:</a:t>
            </a:r>
          </a:p>
        </p:txBody>
      </p:sp>
      <p:sp>
        <p:nvSpPr>
          <p:cNvPr id="13315" name="Text Box 3"/>
          <p:cNvSpPr txBox="1">
            <a:spLocks noChangeArrowheads="1"/>
          </p:cNvSpPr>
          <p:nvPr/>
        </p:nvSpPr>
        <p:spPr bwMode="auto">
          <a:xfrm>
            <a:off x="304800" y="10668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Hash Table is an array of some </a:t>
            </a:r>
            <a:r>
              <a:rPr lang="en-US" sz="2400" b="1"/>
              <a:t>fixed size</a:t>
            </a:r>
          </a:p>
        </p:txBody>
      </p:sp>
      <p:sp>
        <p:nvSpPr>
          <p:cNvPr id="13316" name="Text Box 4"/>
          <p:cNvSpPr txBox="1">
            <a:spLocks noChangeArrowheads="1"/>
          </p:cNvSpPr>
          <p:nvPr/>
        </p:nvSpPr>
        <p:spPr bwMode="auto">
          <a:xfrm>
            <a:off x="304800" y="1981200"/>
            <a:ext cx="723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Search is performed based on the</a:t>
            </a:r>
            <a:r>
              <a:rPr lang="en-US" sz="2400" b="1"/>
              <a:t> key</a:t>
            </a:r>
            <a:r>
              <a:rPr lang="en-US" sz="2400"/>
              <a:t> </a:t>
            </a:r>
          </a:p>
        </p:txBody>
      </p:sp>
      <p:sp>
        <p:nvSpPr>
          <p:cNvPr id="13317" name="Text Box 5"/>
          <p:cNvSpPr txBox="1">
            <a:spLocks noChangeArrowheads="1"/>
          </p:cNvSpPr>
          <p:nvPr/>
        </p:nvSpPr>
        <p:spPr bwMode="auto">
          <a:xfrm>
            <a:off x="304800" y="2971800"/>
            <a:ext cx="76962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buFont typeface="Wingdings" pitchFamily="2" charset="2"/>
              <a:buChar char="Ø"/>
            </a:pPr>
            <a:r>
              <a:rPr lang="en-US" sz="2400"/>
              <a:t> Each key is mapped into some position in the range    </a:t>
            </a:r>
          </a:p>
          <a:p>
            <a:pPr eaLnBrk="1" hangingPunct="1">
              <a:spcBef>
                <a:spcPct val="50000"/>
              </a:spcBef>
              <a:buFont typeface="Wingdings" pitchFamily="2" charset="2"/>
              <a:buNone/>
            </a:pPr>
            <a:r>
              <a:rPr lang="en-US" sz="2400"/>
              <a:t>   </a:t>
            </a:r>
            <a:r>
              <a:rPr lang="en-US" sz="2400" b="1">
                <a:solidFill>
                  <a:srgbClr val="FF0000"/>
                </a:solidFill>
              </a:rPr>
              <a:t>0 to table size - 1</a:t>
            </a:r>
          </a:p>
        </p:txBody>
      </p:sp>
      <p:sp>
        <p:nvSpPr>
          <p:cNvPr id="13318" name="Text Box 6"/>
          <p:cNvSpPr txBox="1">
            <a:spLocks noChangeArrowheads="1"/>
          </p:cNvSpPr>
          <p:nvPr/>
        </p:nvSpPr>
        <p:spPr bwMode="auto">
          <a:xfrm>
            <a:off x="152400" y="42672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Drawbacks:</a:t>
            </a:r>
          </a:p>
        </p:txBody>
      </p:sp>
      <p:sp>
        <p:nvSpPr>
          <p:cNvPr id="13319" name="Text Box 7"/>
          <p:cNvSpPr txBox="1">
            <a:spLocks noChangeArrowheads="1"/>
          </p:cNvSpPr>
          <p:nvPr/>
        </p:nvSpPr>
        <p:spPr bwMode="auto">
          <a:xfrm>
            <a:off x="228600" y="4953000"/>
            <a:ext cx="853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a:t>
            </a:r>
            <a:r>
              <a:rPr lang="en-US" sz="2400" b="1"/>
              <a:t>Waste too much space</a:t>
            </a:r>
            <a:r>
              <a:rPr lang="en-US" sz="2400"/>
              <a:t>, if universe is too </a:t>
            </a:r>
            <a:r>
              <a:rPr lang="en-US" sz="2400" b="1"/>
              <a:t>large</a:t>
            </a:r>
            <a:r>
              <a:rPr lang="en-US" sz="2400"/>
              <a:t> compared with actual number of elements to be stored</a:t>
            </a:r>
          </a:p>
        </p:txBody>
      </p:sp>
      <p:sp>
        <p:nvSpPr>
          <p:cNvPr id="13320" name="Text Box 8"/>
          <p:cNvSpPr txBox="1">
            <a:spLocks noChangeArrowheads="1"/>
          </p:cNvSpPr>
          <p:nvPr/>
        </p:nvSpPr>
        <p:spPr bwMode="auto">
          <a:xfrm>
            <a:off x="228600" y="60198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a:t>
            </a:r>
            <a:r>
              <a:rPr lang="en-US" sz="2400" b="1"/>
              <a:t>Collision </a:t>
            </a:r>
            <a:r>
              <a:rPr lang="en-US" sz="2400"/>
              <a:t>{i.e. Two keys may hash to same slot}</a:t>
            </a:r>
          </a:p>
        </p:txBody>
      </p:sp>
    </p:spTree>
    <p:extLst>
      <p:ext uri="{BB962C8B-B14F-4D97-AF65-F5344CB8AC3E}">
        <p14:creationId xmlns:p14="http://schemas.microsoft.com/office/powerpoint/2010/main" val="39084991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ppt_x"/>
                                          </p:val>
                                        </p:tav>
                                        <p:tav tm="100000">
                                          <p:val>
                                            <p:strVal val="#ppt_x"/>
                                          </p:val>
                                        </p:tav>
                                      </p:tavLst>
                                    </p:anim>
                                    <p:anim calcmode="lin" valueType="num">
                                      <p:cBhvr additive="base">
                                        <p:cTn id="8"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5"/>
                                        </p:tgtEl>
                                        <p:attrNameLst>
                                          <p:attrName>style.visibility</p:attrName>
                                        </p:attrNameLst>
                                      </p:cBhvr>
                                      <p:to>
                                        <p:strVal val="visible"/>
                                      </p:to>
                                    </p:set>
                                    <p:anim calcmode="lin" valueType="num">
                                      <p:cBhvr additive="base">
                                        <p:cTn id="13" dur="500" fill="hold"/>
                                        <p:tgtEl>
                                          <p:spTgt spid="13315"/>
                                        </p:tgtEl>
                                        <p:attrNameLst>
                                          <p:attrName>ppt_x</p:attrName>
                                        </p:attrNameLst>
                                      </p:cBhvr>
                                      <p:tavLst>
                                        <p:tav tm="0">
                                          <p:val>
                                            <p:strVal val="#ppt_x"/>
                                          </p:val>
                                        </p:tav>
                                        <p:tav tm="100000">
                                          <p:val>
                                            <p:strVal val="#ppt_x"/>
                                          </p:val>
                                        </p:tav>
                                      </p:tavLst>
                                    </p:anim>
                                    <p:anim calcmode="lin" valueType="num">
                                      <p:cBhvr additive="base">
                                        <p:cTn id="14" dur="500" fill="hold"/>
                                        <p:tgtEl>
                                          <p:spTgt spid="1331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6"/>
                                        </p:tgtEl>
                                        <p:attrNameLst>
                                          <p:attrName>style.visibility</p:attrName>
                                        </p:attrNameLst>
                                      </p:cBhvr>
                                      <p:to>
                                        <p:strVal val="visible"/>
                                      </p:to>
                                    </p:set>
                                    <p:anim calcmode="lin" valueType="num">
                                      <p:cBhvr additive="base">
                                        <p:cTn id="19" dur="500" fill="hold"/>
                                        <p:tgtEl>
                                          <p:spTgt spid="13316"/>
                                        </p:tgtEl>
                                        <p:attrNameLst>
                                          <p:attrName>ppt_x</p:attrName>
                                        </p:attrNameLst>
                                      </p:cBhvr>
                                      <p:tavLst>
                                        <p:tav tm="0">
                                          <p:val>
                                            <p:strVal val="#ppt_x"/>
                                          </p:val>
                                        </p:tav>
                                        <p:tav tm="100000">
                                          <p:val>
                                            <p:strVal val="#ppt_x"/>
                                          </p:val>
                                        </p:tav>
                                      </p:tavLst>
                                    </p:anim>
                                    <p:anim calcmode="lin" valueType="num">
                                      <p:cBhvr additive="base">
                                        <p:cTn id="20"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317"/>
                                        </p:tgtEl>
                                        <p:attrNameLst>
                                          <p:attrName>style.visibility</p:attrName>
                                        </p:attrNameLst>
                                      </p:cBhvr>
                                      <p:to>
                                        <p:strVal val="visible"/>
                                      </p:to>
                                    </p:set>
                                    <p:anim calcmode="lin" valueType="num">
                                      <p:cBhvr additive="base">
                                        <p:cTn id="25" dur="500" fill="hold"/>
                                        <p:tgtEl>
                                          <p:spTgt spid="13317"/>
                                        </p:tgtEl>
                                        <p:attrNameLst>
                                          <p:attrName>ppt_x</p:attrName>
                                        </p:attrNameLst>
                                      </p:cBhvr>
                                      <p:tavLst>
                                        <p:tav tm="0">
                                          <p:val>
                                            <p:strVal val="#ppt_x"/>
                                          </p:val>
                                        </p:tav>
                                        <p:tav tm="100000">
                                          <p:val>
                                            <p:strVal val="#ppt_x"/>
                                          </p:val>
                                        </p:tav>
                                      </p:tavLst>
                                    </p:anim>
                                    <p:anim calcmode="lin" valueType="num">
                                      <p:cBhvr additive="base">
                                        <p:cTn id="26" dur="500" fill="hold"/>
                                        <p:tgtEl>
                                          <p:spTgt spid="1331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318"/>
                                        </p:tgtEl>
                                        <p:attrNameLst>
                                          <p:attrName>style.visibility</p:attrName>
                                        </p:attrNameLst>
                                      </p:cBhvr>
                                      <p:to>
                                        <p:strVal val="visible"/>
                                      </p:to>
                                    </p:set>
                                    <p:anim calcmode="lin" valueType="num">
                                      <p:cBhvr additive="base">
                                        <p:cTn id="31" dur="500" fill="hold"/>
                                        <p:tgtEl>
                                          <p:spTgt spid="13318"/>
                                        </p:tgtEl>
                                        <p:attrNameLst>
                                          <p:attrName>ppt_x</p:attrName>
                                        </p:attrNameLst>
                                      </p:cBhvr>
                                      <p:tavLst>
                                        <p:tav tm="0">
                                          <p:val>
                                            <p:strVal val="#ppt_x"/>
                                          </p:val>
                                        </p:tav>
                                        <p:tav tm="100000">
                                          <p:val>
                                            <p:strVal val="#ppt_x"/>
                                          </p:val>
                                        </p:tav>
                                      </p:tavLst>
                                    </p:anim>
                                    <p:anim calcmode="lin" valueType="num">
                                      <p:cBhvr additive="base">
                                        <p:cTn id="32" dur="500" fill="hold"/>
                                        <p:tgtEl>
                                          <p:spTgt spid="13318"/>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19"/>
                                        </p:tgtEl>
                                        <p:attrNameLst>
                                          <p:attrName>style.visibility</p:attrName>
                                        </p:attrNameLst>
                                      </p:cBhvr>
                                      <p:to>
                                        <p:strVal val="visible"/>
                                      </p:to>
                                    </p:set>
                                    <p:anim calcmode="lin" valueType="num">
                                      <p:cBhvr additive="base">
                                        <p:cTn id="37" dur="500" fill="hold"/>
                                        <p:tgtEl>
                                          <p:spTgt spid="13319"/>
                                        </p:tgtEl>
                                        <p:attrNameLst>
                                          <p:attrName>ppt_x</p:attrName>
                                        </p:attrNameLst>
                                      </p:cBhvr>
                                      <p:tavLst>
                                        <p:tav tm="0">
                                          <p:val>
                                            <p:strVal val="#ppt_x"/>
                                          </p:val>
                                        </p:tav>
                                        <p:tav tm="100000">
                                          <p:val>
                                            <p:strVal val="#ppt_x"/>
                                          </p:val>
                                        </p:tav>
                                      </p:tavLst>
                                    </p:anim>
                                    <p:anim calcmode="lin" valueType="num">
                                      <p:cBhvr additive="base">
                                        <p:cTn id="38" dur="500" fill="hold"/>
                                        <p:tgtEl>
                                          <p:spTgt spid="13319"/>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320"/>
                                        </p:tgtEl>
                                        <p:attrNameLst>
                                          <p:attrName>style.visibility</p:attrName>
                                        </p:attrNameLst>
                                      </p:cBhvr>
                                      <p:to>
                                        <p:strVal val="visible"/>
                                      </p:to>
                                    </p:set>
                                    <p:anim calcmode="lin" valueType="num">
                                      <p:cBhvr additive="base">
                                        <p:cTn id="43" dur="500" fill="hold"/>
                                        <p:tgtEl>
                                          <p:spTgt spid="13320"/>
                                        </p:tgtEl>
                                        <p:attrNameLst>
                                          <p:attrName>ppt_x</p:attrName>
                                        </p:attrNameLst>
                                      </p:cBhvr>
                                      <p:tavLst>
                                        <p:tav tm="0">
                                          <p:val>
                                            <p:strVal val="#ppt_x"/>
                                          </p:val>
                                        </p:tav>
                                        <p:tav tm="100000">
                                          <p:val>
                                            <p:strVal val="#ppt_x"/>
                                          </p:val>
                                        </p:tav>
                                      </p:tavLst>
                                    </p:anim>
                                    <p:anim calcmode="lin" valueType="num">
                                      <p:cBhvr additive="base">
                                        <p:cTn id="44" dur="500" fill="hold"/>
                                        <p:tgtEl>
                                          <p:spTgt spid="13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5" grpId="0"/>
      <p:bldP spid="13316" grpId="0"/>
      <p:bldP spid="13317" grpId="0"/>
      <p:bldP spid="13318" grpId="0"/>
      <p:bldP spid="13319" grpId="0"/>
      <p:bldP spid="133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81000" y="228600"/>
            <a:ext cx="84582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Example:</a:t>
            </a:r>
            <a:r>
              <a:rPr lang="en-US" sz="2400"/>
              <a:t> To insert elements 80 , 40 , 65 , 24 , 58 , 35 , 98 </a:t>
            </a:r>
          </a:p>
          <a:p>
            <a:pPr eaLnBrk="1" hangingPunct="1">
              <a:spcBef>
                <a:spcPct val="50000"/>
              </a:spcBef>
            </a:pPr>
            <a:r>
              <a:rPr lang="en-US" sz="2400"/>
              <a:t>                 Table Size = 11</a:t>
            </a:r>
          </a:p>
        </p:txBody>
      </p:sp>
      <p:sp>
        <p:nvSpPr>
          <p:cNvPr id="12291" name="Text Box 3"/>
          <p:cNvSpPr txBox="1">
            <a:spLocks noChangeArrowheads="1"/>
          </p:cNvSpPr>
          <p:nvPr/>
        </p:nvSpPr>
        <p:spPr bwMode="auto">
          <a:xfrm>
            <a:off x="685800" y="1905000"/>
            <a:ext cx="24384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pPr>
            <a:r>
              <a:rPr lang="en-US" sz="2400"/>
              <a:t>80 % 11 = </a:t>
            </a:r>
            <a:r>
              <a:rPr lang="en-US" sz="2400" b="1">
                <a:solidFill>
                  <a:srgbClr val="FF0000"/>
                </a:solidFill>
              </a:rPr>
              <a:t>3</a:t>
            </a:r>
          </a:p>
          <a:p>
            <a:pPr algn="just" eaLnBrk="1" hangingPunct="1">
              <a:spcBef>
                <a:spcPct val="50000"/>
              </a:spcBef>
            </a:pPr>
            <a:r>
              <a:rPr lang="en-US" sz="2400"/>
              <a:t>40 % 11 = </a:t>
            </a:r>
            <a:r>
              <a:rPr lang="en-US" sz="2400" b="1">
                <a:solidFill>
                  <a:srgbClr val="FF0000"/>
                </a:solidFill>
              </a:rPr>
              <a:t>7</a:t>
            </a:r>
          </a:p>
          <a:p>
            <a:pPr algn="just" eaLnBrk="1" hangingPunct="1">
              <a:spcBef>
                <a:spcPct val="50000"/>
              </a:spcBef>
            </a:pPr>
            <a:r>
              <a:rPr lang="en-US" sz="2400"/>
              <a:t>65 % 11 = </a:t>
            </a:r>
            <a:r>
              <a:rPr lang="en-US" sz="2400" b="1">
                <a:solidFill>
                  <a:srgbClr val="FF0000"/>
                </a:solidFill>
              </a:rPr>
              <a:t>10</a:t>
            </a:r>
          </a:p>
          <a:p>
            <a:pPr algn="just" eaLnBrk="1" hangingPunct="1">
              <a:spcBef>
                <a:spcPct val="50000"/>
              </a:spcBef>
            </a:pPr>
            <a:r>
              <a:rPr lang="en-US" sz="2400"/>
              <a:t>24 % 11 = </a:t>
            </a:r>
            <a:r>
              <a:rPr lang="en-US" sz="2400" b="1">
                <a:solidFill>
                  <a:srgbClr val="FF0000"/>
                </a:solidFill>
              </a:rPr>
              <a:t>2</a:t>
            </a:r>
          </a:p>
          <a:p>
            <a:pPr algn="just" eaLnBrk="1" hangingPunct="1">
              <a:spcBef>
                <a:spcPct val="50000"/>
              </a:spcBef>
            </a:pPr>
            <a:r>
              <a:rPr lang="en-US" sz="2400"/>
              <a:t>58 % 11 = </a:t>
            </a:r>
            <a:r>
              <a:rPr lang="en-US" sz="2400" b="1">
                <a:solidFill>
                  <a:srgbClr val="FF0000"/>
                </a:solidFill>
              </a:rPr>
              <a:t>3</a:t>
            </a:r>
          </a:p>
          <a:p>
            <a:pPr algn="just" eaLnBrk="1" hangingPunct="1">
              <a:spcBef>
                <a:spcPct val="50000"/>
              </a:spcBef>
            </a:pPr>
            <a:r>
              <a:rPr lang="en-US" sz="2400"/>
              <a:t>35 % 11 = </a:t>
            </a:r>
            <a:r>
              <a:rPr lang="en-US" sz="2400" b="1">
                <a:solidFill>
                  <a:srgbClr val="FF0000"/>
                </a:solidFill>
              </a:rPr>
              <a:t>2</a:t>
            </a:r>
          </a:p>
          <a:p>
            <a:pPr algn="just" eaLnBrk="1" hangingPunct="1">
              <a:spcBef>
                <a:spcPct val="50000"/>
              </a:spcBef>
            </a:pPr>
            <a:r>
              <a:rPr lang="en-US" sz="2400"/>
              <a:t>98 % 11 = </a:t>
            </a:r>
            <a:r>
              <a:rPr lang="en-US" sz="2400" b="1">
                <a:solidFill>
                  <a:srgbClr val="FF0000"/>
                </a:solidFill>
              </a:rPr>
              <a:t>10</a:t>
            </a:r>
          </a:p>
        </p:txBody>
      </p:sp>
      <p:graphicFrame>
        <p:nvGraphicFramePr>
          <p:cNvPr id="12354" name="Group 66"/>
          <p:cNvGraphicFramePr>
            <a:graphicFrameLocks noGrp="1"/>
          </p:cNvGraphicFramePr>
          <p:nvPr/>
        </p:nvGraphicFramePr>
        <p:xfrm>
          <a:off x="6248400" y="914400"/>
          <a:ext cx="1752600" cy="5699562"/>
        </p:xfrm>
        <a:graphic>
          <a:graphicData uri="http://schemas.openxmlformats.org/drawingml/2006/table">
            <a:tbl>
              <a:tblPr/>
              <a:tblGrid>
                <a:gridCol w="1752600"/>
              </a:tblGrid>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24</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80</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40</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65</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2345" name="Group 57"/>
          <p:cNvGraphicFramePr>
            <a:graphicFrameLocks noGrp="1"/>
          </p:cNvGraphicFramePr>
          <p:nvPr/>
        </p:nvGraphicFramePr>
        <p:xfrm>
          <a:off x="5638800" y="914400"/>
          <a:ext cx="609600" cy="5699562"/>
        </p:xfrm>
        <a:graphic>
          <a:graphicData uri="http://schemas.openxmlformats.org/drawingml/2006/table">
            <a:tbl>
              <a:tblPr/>
              <a:tblGrid>
                <a:gridCol w="609600"/>
              </a:tblGrid>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2</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3</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4</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5</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7</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8</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9</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02">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10</a:t>
                      </a:r>
                    </a:p>
                  </a:txBody>
                  <a:tcPr marT="45711" marB="4571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50" name="Freeform 62"/>
          <p:cNvSpPr>
            <a:spLocks/>
          </p:cNvSpPr>
          <p:nvPr/>
        </p:nvSpPr>
        <p:spPr bwMode="auto">
          <a:xfrm>
            <a:off x="2438400" y="2108200"/>
            <a:ext cx="609600" cy="2209800"/>
          </a:xfrm>
          <a:custGeom>
            <a:avLst/>
            <a:gdLst>
              <a:gd name="T0" fmla="*/ 0 w 384"/>
              <a:gd name="T1" fmla="*/ 0 h 1392"/>
              <a:gd name="T2" fmla="*/ 967740000 w 384"/>
              <a:gd name="T3" fmla="*/ 1935480000 h 1392"/>
              <a:gd name="T4" fmla="*/ 0 w 384"/>
              <a:gd name="T5" fmla="*/ 2147483647 h 1392"/>
              <a:gd name="T6" fmla="*/ 0 60000 65536"/>
              <a:gd name="T7" fmla="*/ 0 60000 65536"/>
              <a:gd name="T8" fmla="*/ 0 60000 65536"/>
            </a:gdLst>
            <a:ahLst/>
            <a:cxnLst>
              <a:cxn ang="T6">
                <a:pos x="T0" y="T1"/>
              </a:cxn>
              <a:cxn ang="T7">
                <a:pos x="T2" y="T3"/>
              </a:cxn>
              <a:cxn ang="T8">
                <a:pos x="T4" y="T5"/>
              </a:cxn>
            </a:cxnLst>
            <a:rect l="0" t="0" r="r" b="b"/>
            <a:pathLst>
              <a:path w="384" h="1392">
                <a:moveTo>
                  <a:pt x="0" y="0"/>
                </a:moveTo>
                <a:cubicBezTo>
                  <a:pt x="192" y="268"/>
                  <a:pt x="384" y="536"/>
                  <a:pt x="384" y="768"/>
                </a:cubicBezTo>
                <a:cubicBezTo>
                  <a:pt x="384" y="1000"/>
                  <a:pt x="192" y="1196"/>
                  <a:pt x="0" y="1392"/>
                </a:cubicBezTo>
              </a:path>
            </a:pathLst>
          </a:custGeom>
          <a:noFill/>
          <a:ln w="19050" cmpd="sng">
            <a:solidFill>
              <a:srgbClr val="339966"/>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1" name="Freeform 63"/>
          <p:cNvSpPr>
            <a:spLocks/>
          </p:cNvSpPr>
          <p:nvPr/>
        </p:nvSpPr>
        <p:spPr bwMode="auto">
          <a:xfrm>
            <a:off x="2438400" y="3733800"/>
            <a:ext cx="381000" cy="1143000"/>
          </a:xfrm>
          <a:custGeom>
            <a:avLst/>
            <a:gdLst>
              <a:gd name="T0" fmla="*/ 0 w 240"/>
              <a:gd name="T1" fmla="*/ 0 h 720"/>
              <a:gd name="T2" fmla="*/ 604837500 w 240"/>
              <a:gd name="T3" fmla="*/ 967740000 h 720"/>
              <a:gd name="T4" fmla="*/ 0 w 240"/>
              <a:gd name="T5" fmla="*/ 1814512500 h 720"/>
              <a:gd name="T6" fmla="*/ 0 60000 65536"/>
              <a:gd name="T7" fmla="*/ 0 60000 65536"/>
              <a:gd name="T8" fmla="*/ 0 60000 65536"/>
            </a:gdLst>
            <a:ahLst/>
            <a:cxnLst>
              <a:cxn ang="T6">
                <a:pos x="T0" y="T1"/>
              </a:cxn>
              <a:cxn ang="T7">
                <a:pos x="T2" y="T3"/>
              </a:cxn>
              <a:cxn ang="T8">
                <a:pos x="T4" y="T5"/>
              </a:cxn>
            </a:cxnLst>
            <a:rect l="0" t="0" r="r" b="b"/>
            <a:pathLst>
              <a:path w="240" h="720">
                <a:moveTo>
                  <a:pt x="0" y="0"/>
                </a:moveTo>
                <a:cubicBezTo>
                  <a:pt x="120" y="132"/>
                  <a:pt x="240" y="264"/>
                  <a:pt x="240" y="384"/>
                </a:cubicBezTo>
                <a:cubicBezTo>
                  <a:pt x="240" y="504"/>
                  <a:pt x="120" y="612"/>
                  <a:pt x="0" y="720"/>
                </a:cubicBezTo>
              </a:path>
            </a:pathLst>
          </a:custGeom>
          <a:noFill/>
          <a:ln w="19050" cmpd="sng">
            <a:solidFill>
              <a:srgbClr val="993366"/>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2" name="Freeform 64"/>
          <p:cNvSpPr>
            <a:spLocks/>
          </p:cNvSpPr>
          <p:nvPr/>
        </p:nvSpPr>
        <p:spPr bwMode="auto">
          <a:xfrm>
            <a:off x="2616200" y="3200400"/>
            <a:ext cx="533400" cy="2209800"/>
          </a:xfrm>
          <a:custGeom>
            <a:avLst/>
            <a:gdLst>
              <a:gd name="T0" fmla="*/ 0 w 336"/>
              <a:gd name="T1" fmla="*/ 0 h 1392"/>
              <a:gd name="T2" fmla="*/ 846772500 w 336"/>
              <a:gd name="T3" fmla="*/ 1693545000 h 1392"/>
              <a:gd name="T4" fmla="*/ 0 w 336"/>
              <a:gd name="T5" fmla="*/ 2147483647 h 1392"/>
              <a:gd name="T6" fmla="*/ 0 60000 65536"/>
              <a:gd name="T7" fmla="*/ 0 60000 65536"/>
              <a:gd name="T8" fmla="*/ 0 60000 65536"/>
            </a:gdLst>
            <a:ahLst/>
            <a:cxnLst>
              <a:cxn ang="T6">
                <a:pos x="T0" y="T1"/>
              </a:cxn>
              <a:cxn ang="T7">
                <a:pos x="T2" y="T3"/>
              </a:cxn>
              <a:cxn ang="T8">
                <a:pos x="T4" y="T5"/>
              </a:cxn>
            </a:cxnLst>
            <a:rect l="0" t="0" r="r" b="b"/>
            <a:pathLst>
              <a:path w="336" h="1392">
                <a:moveTo>
                  <a:pt x="0" y="0"/>
                </a:moveTo>
                <a:cubicBezTo>
                  <a:pt x="168" y="220"/>
                  <a:pt x="336" y="440"/>
                  <a:pt x="336" y="672"/>
                </a:cubicBezTo>
                <a:cubicBezTo>
                  <a:pt x="336" y="904"/>
                  <a:pt x="168" y="1148"/>
                  <a:pt x="0" y="1392"/>
                </a:cubicBezTo>
              </a:path>
            </a:pathLst>
          </a:custGeom>
          <a:noFill/>
          <a:ln w="19050" cmpd="sng">
            <a:solidFill>
              <a:srgbClr val="FF00FF"/>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6" name="AutoShape 68"/>
          <p:cNvSpPr>
            <a:spLocks noChangeArrowheads="1"/>
          </p:cNvSpPr>
          <p:nvPr/>
        </p:nvSpPr>
        <p:spPr bwMode="auto">
          <a:xfrm>
            <a:off x="3810000" y="3048000"/>
            <a:ext cx="1295400" cy="1371600"/>
          </a:xfrm>
          <a:prstGeom prst="irregularSeal1">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Collision</a:t>
            </a:r>
          </a:p>
        </p:txBody>
      </p:sp>
      <p:sp>
        <p:nvSpPr>
          <p:cNvPr id="12357" name="Line 69"/>
          <p:cNvSpPr>
            <a:spLocks noChangeShapeType="1"/>
          </p:cNvSpPr>
          <p:nvPr/>
        </p:nvSpPr>
        <p:spPr bwMode="auto">
          <a:xfrm>
            <a:off x="3048000" y="3162300"/>
            <a:ext cx="914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8" name="Line 70"/>
          <p:cNvSpPr>
            <a:spLocks noChangeShapeType="1"/>
          </p:cNvSpPr>
          <p:nvPr/>
        </p:nvSpPr>
        <p:spPr bwMode="auto">
          <a:xfrm flipV="1">
            <a:off x="2819400" y="3962400"/>
            <a:ext cx="914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59" name="Line 71"/>
          <p:cNvSpPr>
            <a:spLocks noChangeShapeType="1"/>
          </p:cNvSpPr>
          <p:nvPr/>
        </p:nvSpPr>
        <p:spPr bwMode="auto">
          <a:xfrm flipV="1">
            <a:off x="3124200" y="4191000"/>
            <a:ext cx="914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16341195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ppt_x"/>
                                          </p:val>
                                        </p:tav>
                                        <p:tav tm="100000">
                                          <p:val>
                                            <p:strVal val="#ppt_x"/>
                                          </p:val>
                                        </p:tav>
                                      </p:tavLst>
                                    </p:anim>
                                    <p:anim calcmode="lin" valueType="num">
                                      <p:cBhvr additive="base">
                                        <p:cTn id="8" dur="500" fill="hold"/>
                                        <p:tgtEl>
                                          <p:spTgt spid="1229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1"/>
                                        </p:tgtEl>
                                        <p:attrNameLst>
                                          <p:attrName>style.visibility</p:attrName>
                                        </p:attrNameLst>
                                      </p:cBhvr>
                                      <p:to>
                                        <p:strVal val="visible"/>
                                      </p:to>
                                    </p:set>
                                    <p:anim calcmode="lin" valueType="num">
                                      <p:cBhvr additive="base">
                                        <p:cTn id="13" dur="500" fill="hold"/>
                                        <p:tgtEl>
                                          <p:spTgt spid="12291"/>
                                        </p:tgtEl>
                                        <p:attrNameLst>
                                          <p:attrName>ppt_x</p:attrName>
                                        </p:attrNameLst>
                                      </p:cBhvr>
                                      <p:tavLst>
                                        <p:tav tm="0">
                                          <p:val>
                                            <p:strVal val="#ppt_x"/>
                                          </p:val>
                                        </p:tav>
                                        <p:tav tm="100000">
                                          <p:val>
                                            <p:strVal val="#ppt_x"/>
                                          </p:val>
                                        </p:tav>
                                      </p:tavLst>
                                    </p:anim>
                                    <p:anim calcmode="lin" valueType="num">
                                      <p:cBhvr additive="base">
                                        <p:cTn id="14"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350"/>
                                        </p:tgtEl>
                                        <p:attrNameLst>
                                          <p:attrName>style.visibility</p:attrName>
                                        </p:attrNameLst>
                                      </p:cBhvr>
                                      <p:to>
                                        <p:strVal val="visible"/>
                                      </p:to>
                                    </p:set>
                                    <p:anim calcmode="lin" valueType="num">
                                      <p:cBhvr additive="base">
                                        <p:cTn id="19" dur="500" fill="hold"/>
                                        <p:tgtEl>
                                          <p:spTgt spid="12350"/>
                                        </p:tgtEl>
                                        <p:attrNameLst>
                                          <p:attrName>ppt_x</p:attrName>
                                        </p:attrNameLst>
                                      </p:cBhvr>
                                      <p:tavLst>
                                        <p:tav tm="0">
                                          <p:val>
                                            <p:strVal val="#ppt_x"/>
                                          </p:val>
                                        </p:tav>
                                        <p:tav tm="100000">
                                          <p:val>
                                            <p:strVal val="#ppt_x"/>
                                          </p:val>
                                        </p:tav>
                                      </p:tavLst>
                                    </p:anim>
                                    <p:anim calcmode="lin" valueType="num">
                                      <p:cBhvr additive="base">
                                        <p:cTn id="20" dur="500" fill="hold"/>
                                        <p:tgtEl>
                                          <p:spTgt spid="1235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352"/>
                                        </p:tgtEl>
                                        <p:attrNameLst>
                                          <p:attrName>style.visibility</p:attrName>
                                        </p:attrNameLst>
                                      </p:cBhvr>
                                      <p:to>
                                        <p:strVal val="visible"/>
                                      </p:to>
                                    </p:set>
                                    <p:anim calcmode="lin" valueType="num">
                                      <p:cBhvr additive="base">
                                        <p:cTn id="23" dur="500" fill="hold"/>
                                        <p:tgtEl>
                                          <p:spTgt spid="12352"/>
                                        </p:tgtEl>
                                        <p:attrNameLst>
                                          <p:attrName>ppt_x</p:attrName>
                                        </p:attrNameLst>
                                      </p:cBhvr>
                                      <p:tavLst>
                                        <p:tav tm="0">
                                          <p:val>
                                            <p:strVal val="#ppt_x"/>
                                          </p:val>
                                        </p:tav>
                                        <p:tav tm="100000">
                                          <p:val>
                                            <p:strVal val="#ppt_x"/>
                                          </p:val>
                                        </p:tav>
                                      </p:tavLst>
                                    </p:anim>
                                    <p:anim calcmode="lin" valueType="num">
                                      <p:cBhvr additive="base">
                                        <p:cTn id="24" dur="500" fill="hold"/>
                                        <p:tgtEl>
                                          <p:spTgt spid="1235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351"/>
                                        </p:tgtEl>
                                        <p:attrNameLst>
                                          <p:attrName>style.visibility</p:attrName>
                                        </p:attrNameLst>
                                      </p:cBhvr>
                                      <p:to>
                                        <p:strVal val="visible"/>
                                      </p:to>
                                    </p:set>
                                    <p:anim calcmode="lin" valueType="num">
                                      <p:cBhvr additive="base">
                                        <p:cTn id="27" dur="500" fill="hold"/>
                                        <p:tgtEl>
                                          <p:spTgt spid="12351"/>
                                        </p:tgtEl>
                                        <p:attrNameLst>
                                          <p:attrName>ppt_x</p:attrName>
                                        </p:attrNameLst>
                                      </p:cBhvr>
                                      <p:tavLst>
                                        <p:tav tm="0">
                                          <p:val>
                                            <p:strVal val="#ppt_x"/>
                                          </p:val>
                                        </p:tav>
                                        <p:tav tm="100000">
                                          <p:val>
                                            <p:strVal val="#ppt_x"/>
                                          </p:val>
                                        </p:tav>
                                      </p:tavLst>
                                    </p:anim>
                                    <p:anim calcmode="lin" valueType="num">
                                      <p:cBhvr additive="base">
                                        <p:cTn id="28" dur="500" fill="hold"/>
                                        <p:tgtEl>
                                          <p:spTgt spid="12351"/>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2357"/>
                                        </p:tgtEl>
                                        <p:attrNameLst>
                                          <p:attrName>style.visibility</p:attrName>
                                        </p:attrNameLst>
                                      </p:cBhvr>
                                      <p:to>
                                        <p:strVal val="visible"/>
                                      </p:to>
                                    </p:set>
                                    <p:anim calcmode="lin" valueType="num">
                                      <p:cBhvr additive="base">
                                        <p:cTn id="33" dur="500" fill="hold"/>
                                        <p:tgtEl>
                                          <p:spTgt spid="12357"/>
                                        </p:tgtEl>
                                        <p:attrNameLst>
                                          <p:attrName>ppt_x</p:attrName>
                                        </p:attrNameLst>
                                      </p:cBhvr>
                                      <p:tavLst>
                                        <p:tav tm="0">
                                          <p:val>
                                            <p:strVal val="#ppt_x"/>
                                          </p:val>
                                        </p:tav>
                                        <p:tav tm="100000">
                                          <p:val>
                                            <p:strVal val="#ppt_x"/>
                                          </p:val>
                                        </p:tav>
                                      </p:tavLst>
                                    </p:anim>
                                    <p:anim calcmode="lin" valueType="num">
                                      <p:cBhvr additive="base">
                                        <p:cTn id="34" dur="500" fill="hold"/>
                                        <p:tgtEl>
                                          <p:spTgt spid="1235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2358"/>
                                        </p:tgtEl>
                                        <p:attrNameLst>
                                          <p:attrName>style.visibility</p:attrName>
                                        </p:attrNameLst>
                                      </p:cBhvr>
                                      <p:to>
                                        <p:strVal val="visible"/>
                                      </p:to>
                                    </p:set>
                                    <p:anim calcmode="lin" valueType="num">
                                      <p:cBhvr additive="base">
                                        <p:cTn id="37" dur="500" fill="hold"/>
                                        <p:tgtEl>
                                          <p:spTgt spid="12358"/>
                                        </p:tgtEl>
                                        <p:attrNameLst>
                                          <p:attrName>ppt_x</p:attrName>
                                        </p:attrNameLst>
                                      </p:cBhvr>
                                      <p:tavLst>
                                        <p:tav tm="0">
                                          <p:val>
                                            <p:strVal val="#ppt_x"/>
                                          </p:val>
                                        </p:tav>
                                        <p:tav tm="100000">
                                          <p:val>
                                            <p:strVal val="#ppt_x"/>
                                          </p:val>
                                        </p:tav>
                                      </p:tavLst>
                                    </p:anim>
                                    <p:anim calcmode="lin" valueType="num">
                                      <p:cBhvr additive="base">
                                        <p:cTn id="38" dur="500" fill="hold"/>
                                        <p:tgtEl>
                                          <p:spTgt spid="1235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359"/>
                                        </p:tgtEl>
                                        <p:attrNameLst>
                                          <p:attrName>style.visibility</p:attrName>
                                        </p:attrNameLst>
                                      </p:cBhvr>
                                      <p:to>
                                        <p:strVal val="visible"/>
                                      </p:to>
                                    </p:set>
                                    <p:anim calcmode="lin" valueType="num">
                                      <p:cBhvr additive="base">
                                        <p:cTn id="41" dur="500" fill="hold"/>
                                        <p:tgtEl>
                                          <p:spTgt spid="12359"/>
                                        </p:tgtEl>
                                        <p:attrNameLst>
                                          <p:attrName>ppt_x</p:attrName>
                                        </p:attrNameLst>
                                      </p:cBhvr>
                                      <p:tavLst>
                                        <p:tav tm="0">
                                          <p:val>
                                            <p:strVal val="#ppt_x"/>
                                          </p:val>
                                        </p:tav>
                                        <p:tav tm="100000">
                                          <p:val>
                                            <p:strVal val="#ppt_x"/>
                                          </p:val>
                                        </p:tav>
                                      </p:tavLst>
                                    </p:anim>
                                    <p:anim calcmode="lin" valueType="num">
                                      <p:cBhvr additive="base">
                                        <p:cTn id="42" dur="500" fill="hold"/>
                                        <p:tgtEl>
                                          <p:spTgt spid="1235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356"/>
                                        </p:tgtEl>
                                        <p:attrNameLst>
                                          <p:attrName>style.visibility</p:attrName>
                                        </p:attrNameLst>
                                      </p:cBhvr>
                                      <p:to>
                                        <p:strVal val="visible"/>
                                      </p:to>
                                    </p:set>
                                    <p:anim calcmode="lin" valueType="num">
                                      <p:cBhvr additive="base">
                                        <p:cTn id="45" dur="500" fill="hold"/>
                                        <p:tgtEl>
                                          <p:spTgt spid="12356"/>
                                        </p:tgtEl>
                                        <p:attrNameLst>
                                          <p:attrName>ppt_x</p:attrName>
                                        </p:attrNameLst>
                                      </p:cBhvr>
                                      <p:tavLst>
                                        <p:tav tm="0">
                                          <p:val>
                                            <p:strVal val="#ppt_x"/>
                                          </p:val>
                                        </p:tav>
                                        <p:tav tm="100000">
                                          <p:val>
                                            <p:strVal val="#ppt_x"/>
                                          </p:val>
                                        </p:tav>
                                      </p:tavLst>
                                    </p:anim>
                                    <p:anim calcmode="lin" valueType="num">
                                      <p:cBhvr additive="base">
                                        <p:cTn id="46" dur="500" fill="hold"/>
                                        <p:tgtEl>
                                          <p:spTgt spid="12356"/>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12345"/>
                                        </p:tgtEl>
                                        <p:attrNameLst>
                                          <p:attrName>style.visibility</p:attrName>
                                        </p:attrNameLst>
                                      </p:cBhvr>
                                      <p:to>
                                        <p:strVal val="visible"/>
                                      </p:to>
                                    </p:set>
                                    <p:anim calcmode="lin" valueType="num">
                                      <p:cBhvr additive="base">
                                        <p:cTn id="51" dur="500" fill="hold"/>
                                        <p:tgtEl>
                                          <p:spTgt spid="12345"/>
                                        </p:tgtEl>
                                        <p:attrNameLst>
                                          <p:attrName>ppt_x</p:attrName>
                                        </p:attrNameLst>
                                      </p:cBhvr>
                                      <p:tavLst>
                                        <p:tav tm="0">
                                          <p:val>
                                            <p:strVal val="#ppt_x"/>
                                          </p:val>
                                        </p:tav>
                                        <p:tav tm="100000">
                                          <p:val>
                                            <p:strVal val="#ppt_x"/>
                                          </p:val>
                                        </p:tav>
                                      </p:tavLst>
                                    </p:anim>
                                    <p:anim calcmode="lin" valueType="num">
                                      <p:cBhvr additive="base">
                                        <p:cTn id="52" dur="500" fill="hold"/>
                                        <p:tgtEl>
                                          <p:spTgt spid="1234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2354"/>
                                        </p:tgtEl>
                                        <p:attrNameLst>
                                          <p:attrName>style.visibility</p:attrName>
                                        </p:attrNameLst>
                                      </p:cBhvr>
                                      <p:to>
                                        <p:strVal val="visible"/>
                                      </p:to>
                                    </p:set>
                                    <p:anim calcmode="lin" valueType="num">
                                      <p:cBhvr additive="base">
                                        <p:cTn id="55" dur="500" fill="hold"/>
                                        <p:tgtEl>
                                          <p:spTgt spid="12354"/>
                                        </p:tgtEl>
                                        <p:attrNameLst>
                                          <p:attrName>ppt_x</p:attrName>
                                        </p:attrNameLst>
                                      </p:cBhvr>
                                      <p:tavLst>
                                        <p:tav tm="0">
                                          <p:val>
                                            <p:strVal val="#ppt_x"/>
                                          </p:val>
                                        </p:tav>
                                        <p:tav tm="100000">
                                          <p:val>
                                            <p:strVal val="#ppt_x"/>
                                          </p:val>
                                        </p:tav>
                                      </p:tavLst>
                                    </p:anim>
                                    <p:anim calcmode="lin" valueType="num">
                                      <p:cBhvr additive="base">
                                        <p:cTn id="56" dur="500" fill="hold"/>
                                        <p:tgtEl>
                                          <p:spTgt spid="123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p:bldP spid="12350" grpId="0" animBg="1"/>
      <p:bldP spid="12351" grpId="0" animBg="1"/>
      <p:bldP spid="12352" grpId="0" animBg="1"/>
      <p:bldP spid="12356" grpId="0" animBg="1"/>
      <p:bldP spid="12357" grpId="0" animBg="1"/>
      <p:bldP spid="12358" grpId="0" animBg="1"/>
      <p:bldP spid="1235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764704"/>
            <a:ext cx="8208912"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41943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052736"/>
            <a:ext cx="7000875" cy="4128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26364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8931" y="1916832"/>
            <a:ext cx="7416824" cy="3416320"/>
          </a:xfrm>
          <a:prstGeom prst="rect">
            <a:avLst/>
          </a:prstGeom>
        </p:spPr>
        <p:txBody>
          <a:bodyPr wrap="square">
            <a:spAutoFit/>
          </a:bodyPr>
          <a:lstStyle/>
          <a:p>
            <a:r>
              <a:rPr lang="en-US" sz="3600" dirty="0"/>
              <a:t>The difference between the two has to do with whether collisions are stored outside the table (open hashing), or whether collisions result in storing one of the records at another slot in the table (closed hashing).</a:t>
            </a:r>
            <a:endParaRPr lang="en-IN" sz="3600" dirty="0"/>
          </a:p>
        </p:txBody>
      </p:sp>
      <p:sp>
        <p:nvSpPr>
          <p:cNvPr id="3" name="TextBox 2"/>
          <p:cNvSpPr txBox="1"/>
          <p:nvPr/>
        </p:nvSpPr>
        <p:spPr>
          <a:xfrm>
            <a:off x="683568" y="188640"/>
            <a:ext cx="7920880" cy="1446550"/>
          </a:xfrm>
          <a:prstGeom prst="rect">
            <a:avLst/>
          </a:prstGeom>
          <a:noFill/>
        </p:spPr>
        <p:txBody>
          <a:bodyPr wrap="square" rtlCol="0">
            <a:spAutoFit/>
          </a:bodyPr>
          <a:lstStyle/>
          <a:p>
            <a:pPr algn="ctr"/>
            <a:r>
              <a:rPr lang="en-US" sz="4400" dirty="0" smtClean="0">
                <a:solidFill>
                  <a:srgbClr val="FF0000"/>
                </a:solidFill>
              </a:rPr>
              <a:t>Difference between open and closed hashing</a:t>
            </a:r>
            <a:endParaRPr lang="en-IN" sz="4400" dirty="0">
              <a:solidFill>
                <a:srgbClr val="FF0000"/>
              </a:solidFill>
            </a:endParaRPr>
          </a:p>
        </p:txBody>
      </p:sp>
    </p:spTree>
    <p:extLst>
      <p:ext uri="{BB962C8B-B14F-4D97-AF65-F5344CB8AC3E}">
        <p14:creationId xmlns:p14="http://schemas.microsoft.com/office/powerpoint/2010/main" val="239189521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438400" y="762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t>Collision Handling Strategies</a:t>
            </a:r>
          </a:p>
        </p:txBody>
      </p:sp>
      <p:sp>
        <p:nvSpPr>
          <p:cNvPr id="11267" name="Text Box 3"/>
          <p:cNvSpPr txBox="1">
            <a:spLocks noChangeArrowheads="1"/>
          </p:cNvSpPr>
          <p:nvPr/>
        </p:nvSpPr>
        <p:spPr bwMode="auto">
          <a:xfrm>
            <a:off x="1981200" y="1447800"/>
            <a:ext cx="1676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2400" b="1">
                <a:solidFill>
                  <a:schemeClr val="accent2"/>
                </a:solidFill>
              </a:rPr>
              <a:t>Separate Chaining</a:t>
            </a:r>
          </a:p>
        </p:txBody>
      </p:sp>
      <p:sp>
        <p:nvSpPr>
          <p:cNvPr id="11268" name="Text Box 4"/>
          <p:cNvSpPr txBox="1">
            <a:spLocks noChangeArrowheads="1"/>
          </p:cNvSpPr>
          <p:nvPr/>
        </p:nvSpPr>
        <p:spPr bwMode="auto">
          <a:xfrm>
            <a:off x="4800600" y="1539875"/>
            <a:ext cx="2590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2400" b="1">
                <a:solidFill>
                  <a:schemeClr val="accent2"/>
                </a:solidFill>
              </a:rPr>
              <a:t>Open Addressing</a:t>
            </a:r>
          </a:p>
        </p:txBody>
      </p:sp>
      <p:sp>
        <p:nvSpPr>
          <p:cNvPr id="11269" name="Text Box 5"/>
          <p:cNvSpPr txBox="1">
            <a:spLocks noChangeArrowheads="1"/>
          </p:cNvSpPr>
          <p:nvPr/>
        </p:nvSpPr>
        <p:spPr bwMode="auto">
          <a:xfrm>
            <a:off x="5039292" y="2885745"/>
            <a:ext cx="3706688"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buFont typeface="Wingdings" pitchFamily="2" charset="2"/>
              <a:buChar char="Ø"/>
            </a:pPr>
            <a:r>
              <a:rPr lang="en-US" sz="2400" b="1" dirty="0">
                <a:solidFill>
                  <a:srgbClr val="CC0000"/>
                </a:solidFill>
              </a:rPr>
              <a:t>Linear Probing</a:t>
            </a:r>
          </a:p>
          <a:p>
            <a:pPr eaLnBrk="1" hangingPunct="1">
              <a:spcBef>
                <a:spcPct val="50000"/>
              </a:spcBef>
              <a:buFont typeface="Wingdings" pitchFamily="2" charset="2"/>
              <a:buChar char="Ø"/>
            </a:pPr>
            <a:r>
              <a:rPr lang="en-US" sz="2400" b="1" dirty="0">
                <a:solidFill>
                  <a:srgbClr val="CC0000"/>
                </a:solidFill>
              </a:rPr>
              <a:t>Quadratic Probing </a:t>
            </a:r>
          </a:p>
          <a:p>
            <a:pPr eaLnBrk="1" hangingPunct="1">
              <a:spcBef>
                <a:spcPct val="50000"/>
              </a:spcBef>
              <a:buFont typeface="Wingdings" pitchFamily="2" charset="2"/>
              <a:buChar char="Ø"/>
            </a:pPr>
            <a:r>
              <a:rPr lang="en-US" sz="2400" b="1" dirty="0">
                <a:solidFill>
                  <a:srgbClr val="CC0000"/>
                </a:solidFill>
              </a:rPr>
              <a:t>Double Hashing</a:t>
            </a:r>
          </a:p>
          <a:p>
            <a:pPr eaLnBrk="1" hangingPunct="1">
              <a:spcBef>
                <a:spcPct val="50000"/>
              </a:spcBef>
              <a:buFont typeface="Wingdings" pitchFamily="2" charset="2"/>
              <a:buChar char="Ø"/>
            </a:pPr>
            <a:r>
              <a:rPr lang="en-US" sz="2400" b="1" dirty="0">
                <a:solidFill>
                  <a:srgbClr val="CC0000"/>
                </a:solidFill>
              </a:rPr>
              <a:t>Rehashing</a:t>
            </a:r>
          </a:p>
        </p:txBody>
      </p:sp>
      <p:sp>
        <p:nvSpPr>
          <p:cNvPr id="11270" name="Line 6"/>
          <p:cNvSpPr>
            <a:spLocks noChangeShapeType="1"/>
          </p:cNvSpPr>
          <p:nvPr/>
        </p:nvSpPr>
        <p:spPr bwMode="auto">
          <a:xfrm>
            <a:off x="4572000" y="457200"/>
            <a:ext cx="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71" name="Line 7"/>
          <p:cNvSpPr>
            <a:spLocks noChangeShapeType="1"/>
          </p:cNvSpPr>
          <p:nvPr/>
        </p:nvSpPr>
        <p:spPr bwMode="auto">
          <a:xfrm flipH="1">
            <a:off x="2819400" y="914400"/>
            <a:ext cx="1752600" cy="5334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73" name="Line 9"/>
          <p:cNvSpPr>
            <a:spLocks noChangeShapeType="1"/>
          </p:cNvSpPr>
          <p:nvPr/>
        </p:nvSpPr>
        <p:spPr bwMode="auto">
          <a:xfrm>
            <a:off x="4572000" y="914400"/>
            <a:ext cx="1447800" cy="609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 name="TextBox 1"/>
          <p:cNvSpPr txBox="1"/>
          <p:nvPr/>
        </p:nvSpPr>
        <p:spPr>
          <a:xfrm>
            <a:off x="7062208" y="1766371"/>
            <a:ext cx="1800200" cy="369332"/>
          </a:xfrm>
          <a:prstGeom prst="rect">
            <a:avLst/>
          </a:prstGeom>
          <a:noFill/>
        </p:spPr>
        <p:txBody>
          <a:bodyPr wrap="square" rtlCol="0">
            <a:spAutoFit/>
          </a:bodyPr>
          <a:lstStyle/>
          <a:p>
            <a:r>
              <a:rPr lang="en-IN" b="1" dirty="0" smtClean="0">
                <a:solidFill>
                  <a:srgbClr val="FF00FF"/>
                </a:solidFill>
              </a:rPr>
              <a:t>Closed Hashing</a:t>
            </a:r>
            <a:endParaRPr lang="en-IN" b="1" dirty="0">
              <a:solidFill>
                <a:srgbClr val="FF00FF"/>
              </a:solidFill>
            </a:endParaRPr>
          </a:p>
        </p:txBody>
      </p:sp>
      <p:sp>
        <p:nvSpPr>
          <p:cNvPr id="10" name="TextBox 9"/>
          <p:cNvSpPr txBox="1"/>
          <p:nvPr/>
        </p:nvSpPr>
        <p:spPr>
          <a:xfrm>
            <a:off x="395536" y="1674296"/>
            <a:ext cx="1800200" cy="369332"/>
          </a:xfrm>
          <a:prstGeom prst="rect">
            <a:avLst/>
          </a:prstGeom>
          <a:noFill/>
        </p:spPr>
        <p:txBody>
          <a:bodyPr wrap="square" rtlCol="0">
            <a:spAutoFit/>
          </a:bodyPr>
          <a:lstStyle/>
          <a:p>
            <a:r>
              <a:rPr lang="en-IN" b="1" dirty="0" smtClean="0">
                <a:solidFill>
                  <a:srgbClr val="FF00FF"/>
                </a:solidFill>
              </a:rPr>
              <a:t>Open Hashing</a:t>
            </a:r>
            <a:endParaRPr lang="en-IN" b="1" dirty="0">
              <a:solidFill>
                <a:srgbClr val="FF00FF"/>
              </a:solidFill>
            </a:endParaRPr>
          </a:p>
        </p:txBody>
      </p:sp>
    </p:spTree>
    <p:extLst>
      <p:ext uri="{BB962C8B-B14F-4D97-AF65-F5344CB8AC3E}">
        <p14:creationId xmlns:p14="http://schemas.microsoft.com/office/powerpoint/2010/main" val="560545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70"/>
                                        </p:tgtEl>
                                        <p:attrNameLst>
                                          <p:attrName>style.visibility</p:attrName>
                                        </p:attrNameLst>
                                      </p:cBhvr>
                                      <p:to>
                                        <p:strVal val="visible"/>
                                      </p:to>
                                    </p:set>
                                    <p:anim calcmode="lin" valueType="num">
                                      <p:cBhvr additive="base">
                                        <p:cTn id="13" dur="500" fill="hold"/>
                                        <p:tgtEl>
                                          <p:spTgt spid="11270"/>
                                        </p:tgtEl>
                                        <p:attrNameLst>
                                          <p:attrName>ppt_x</p:attrName>
                                        </p:attrNameLst>
                                      </p:cBhvr>
                                      <p:tavLst>
                                        <p:tav tm="0">
                                          <p:val>
                                            <p:strVal val="#ppt_x"/>
                                          </p:val>
                                        </p:tav>
                                        <p:tav tm="100000">
                                          <p:val>
                                            <p:strVal val="#ppt_x"/>
                                          </p:val>
                                        </p:tav>
                                      </p:tavLst>
                                    </p:anim>
                                    <p:anim calcmode="lin" valueType="num">
                                      <p:cBhvr additive="base">
                                        <p:cTn id="14" dur="500" fill="hold"/>
                                        <p:tgtEl>
                                          <p:spTgt spid="1127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271"/>
                                        </p:tgtEl>
                                        <p:attrNameLst>
                                          <p:attrName>style.visibility</p:attrName>
                                        </p:attrNameLst>
                                      </p:cBhvr>
                                      <p:to>
                                        <p:strVal val="visible"/>
                                      </p:to>
                                    </p:set>
                                    <p:anim calcmode="lin" valueType="num">
                                      <p:cBhvr additive="base">
                                        <p:cTn id="17" dur="500" fill="hold"/>
                                        <p:tgtEl>
                                          <p:spTgt spid="11271"/>
                                        </p:tgtEl>
                                        <p:attrNameLst>
                                          <p:attrName>ppt_x</p:attrName>
                                        </p:attrNameLst>
                                      </p:cBhvr>
                                      <p:tavLst>
                                        <p:tav tm="0">
                                          <p:val>
                                            <p:strVal val="#ppt_x"/>
                                          </p:val>
                                        </p:tav>
                                        <p:tav tm="100000">
                                          <p:val>
                                            <p:strVal val="#ppt_x"/>
                                          </p:val>
                                        </p:tav>
                                      </p:tavLst>
                                    </p:anim>
                                    <p:anim calcmode="lin" valueType="num">
                                      <p:cBhvr additive="base">
                                        <p:cTn id="18" dur="500" fill="hold"/>
                                        <p:tgtEl>
                                          <p:spTgt spid="1127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273"/>
                                        </p:tgtEl>
                                        <p:attrNameLst>
                                          <p:attrName>style.visibility</p:attrName>
                                        </p:attrNameLst>
                                      </p:cBhvr>
                                      <p:to>
                                        <p:strVal val="visible"/>
                                      </p:to>
                                    </p:set>
                                    <p:anim calcmode="lin" valueType="num">
                                      <p:cBhvr additive="base">
                                        <p:cTn id="21" dur="500" fill="hold"/>
                                        <p:tgtEl>
                                          <p:spTgt spid="11273"/>
                                        </p:tgtEl>
                                        <p:attrNameLst>
                                          <p:attrName>ppt_x</p:attrName>
                                        </p:attrNameLst>
                                      </p:cBhvr>
                                      <p:tavLst>
                                        <p:tav tm="0">
                                          <p:val>
                                            <p:strVal val="#ppt_x"/>
                                          </p:val>
                                        </p:tav>
                                        <p:tav tm="100000">
                                          <p:val>
                                            <p:strVal val="#ppt_x"/>
                                          </p:val>
                                        </p:tav>
                                      </p:tavLst>
                                    </p:anim>
                                    <p:anim calcmode="lin" valueType="num">
                                      <p:cBhvr additive="base">
                                        <p:cTn id="22" dur="500" fill="hold"/>
                                        <p:tgtEl>
                                          <p:spTgt spid="11273"/>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267"/>
                                        </p:tgtEl>
                                        <p:attrNameLst>
                                          <p:attrName>style.visibility</p:attrName>
                                        </p:attrNameLst>
                                      </p:cBhvr>
                                      <p:to>
                                        <p:strVal val="visible"/>
                                      </p:to>
                                    </p:set>
                                    <p:anim calcmode="lin" valueType="num">
                                      <p:cBhvr additive="base">
                                        <p:cTn id="27" dur="500" fill="hold"/>
                                        <p:tgtEl>
                                          <p:spTgt spid="11267"/>
                                        </p:tgtEl>
                                        <p:attrNameLst>
                                          <p:attrName>ppt_x</p:attrName>
                                        </p:attrNameLst>
                                      </p:cBhvr>
                                      <p:tavLst>
                                        <p:tav tm="0">
                                          <p:val>
                                            <p:strVal val="#ppt_x"/>
                                          </p:val>
                                        </p:tav>
                                        <p:tav tm="100000">
                                          <p:val>
                                            <p:strVal val="#ppt_x"/>
                                          </p:val>
                                        </p:tav>
                                      </p:tavLst>
                                    </p:anim>
                                    <p:anim calcmode="lin" valueType="num">
                                      <p:cBhvr additive="base">
                                        <p:cTn id="28" dur="500" fill="hold"/>
                                        <p:tgtEl>
                                          <p:spTgt spid="11267"/>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268"/>
                                        </p:tgtEl>
                                        <p:attrNameLst>
                                          <p:attrName>style.visibility</p:attrName>
                                        </p:attrNameLst>
                                      </p:cBhvr>
                                      <p:to>
                                        <p:strVal val="visible"/>
                                      </p:to>
                                    </p:set>
                                    <p:anim calcmode="lin" valueType="num">
                                      <p:cBhvr additive="base">
                                        <p:cTn id="33" dur="500" fill="hold"/>
                                        <p:tgtEl>
                                          <p:spTgt spid="11268"/>
                                        </p:tgtEl>
                                        <p:attrNameLst>
                                          <p:attrName>ppt_x</p:attrName>
                                        </p:attrNameLst>
                                      </p:cBhvr>
                                      <p:tavLst>
                                        <p:tav tm="0">
                                          <p:val>
                                            <p:strVal val="#ppt_x"/>
                                          </p:val>
                                        </p:tav>
                                        <p:tav tm="100000">
                                          <p:val>
                                            <p:strVal val="#ppt_x"/>
                                          </p:val>
                                        </p:tav>
                                      </p:tavLst>
                                    </p:anim>
                                    <p:anim calcmode="lin" valueType="num">
                                      <p:cBhvr additive="base">
                                        <p:cTn id="34" dur="500" fill="hold"/>
                                        <p:tgtEl>
                                          <p:spTgt spid="11268"/>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1269"/>
                                        </p:tgtEl>
                                        <p:attrNameLst>
                                          <p:attrName>style.visibility</p:attrName>
                                        </p:attrNameLst>
                                      </p:cBhvr>
                                      <p:to>
                                        <p:strVal val="visible"/>
                                      </p:to>
                                    </p:set>
                                    <p:anim calcmode="lin" valueType="num">
                                      <p:cBhvr additive="base">
                                        <p:cTn id="39" dur="500" fill="hold"/>
                                        <p:tgtEl>
                                          <p:spTgt spid="11269"/>
                                        </p:tgtEl>
                                        <p:attrNameLst>
                                          <p:attrName>ppt_x</p:attrName>
                                        </p:attrNameLst>
                                      </p:cBhvr>
                                      <p:tavLst>
                                        <p:tav tm="0">
                                          <p:val>
                                            <p:strVal val="#ppt_x"/>
                                          </p:val>
                                        </p:tav>
                                        <p:tav tm="100000">
                                          <p:val>
                                            <p:strVal val="#ppt_x"/>
                                          </p:val>
                                        </p:tav>
                                      </p:tavLst>
                                    </p:anim>
                                    <p:anim calcmode="lin" valueType="num">
                                      <p:cBhvr additive="base">
                                        <p:cTn id="40" dur="500" fill="hold"/>
                                        <p:tgtEl>
                                          <p:spTgt spid="112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7" grpId="0"/>
      <p:bldP spid="11268" grpId="0"/>
      <p:bldP spid="11269" grpId="0"/>
      <p:bldP spid="11270" grpId="0" animBg="1"/>
      <p:bldP spid="11271" grpId="0" animBg="1"/>
      <p:bldP spid="1127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6825" y="939130"/>
            <a:ext cx="6610350" cy="501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56985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Chaining</a:t>
            </a:r>
            <a:endParaRPr lang="en-IN" dirty="0"/>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513" y="1484785"/>
            <a:ext cx="8751975"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20330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2568" y="2780928"/>
            <a:ext cx="8640960" cy="830997"/>
          </a:xfrm>
          <a:prstGeom prst="rect">
            <a:avLst/>
          </a:prstGeom>
          <a:noFill/>
        </p:spPr>
        <p:txBody>
          <a:bodyPr wrap="square" rtlCol="0">
            <a:spAutoFit/>
          </a:bodyPr>
          <a:lstStyle/>
          <a:p>
            <a:r>
              <a:rPr lang="en-US" sz="2400" dirty="0"/>
              <a:t>Let us consider a simple hash function as “</a:t>
            </a:r>
            <a:r>
              <a:rPr lang="en-US" sz="2400" b="1" dirty="0"/>
              <a:t>key mod 7</a:t>
            </a:r>
            <a:r>
              <a:rPr lang="en-US" sz="2400" dirty="0"/>
              <a:t>” and sequence of keys as 50, 700, 76, 85, 92, 73, 101. </a:t>
            </a:r>
            <a:endParaRPr lang="en-IN" sz="2400" dirty="0"/>
          </a:p>
        </p:txBody>
      </p:sp>
    </p:spTree>
    <p:extLst>
      <p:ext uri="{BB962C8B-B14F-4D97-AF65-F5344CB8AC3E}">
        <p14:creationId xmlns:p14="http://schemas.microsoft.com/office/powerpoint/2010/main" val="121717038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600" y="1019637"/>
            <a:ext cx="8100392"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02568" y="188640"/>
            <a:ext cx="8640960" cy="830997"/>
          </a:xfrm>
          <a:prstGeom prst="rect">
            <a:avLst/>
          </a:prstGeom>
          <a:noFill/>
        </p:spPr>
        <p:txBody>
          <a:bodyPr wrap="square" rtlCol="0">
            <a:spAutoFit/>
          </a:bodyPr>
          <a:lstStyle/>
          <a:p>
            <a:r>
              <a:rPr lang="en-US" sz="2400" dirty="0"/>
              <a:t>Let us consider a simple hash function as “</a:t>
            </a:r>
            <a:r>
              <a:rPr lang="en-US" sz="2400" b="1" dirty="0"/>
              <a:t>key mod 7</a:t>
            </a:r>
            <a:r>
              <a:rPr lang="en-US" sz="2400" dirty="0"/>
              <a:t>” and sequence of keys as 50, 700, 76, 85, 92, 73, 101. </a:t>
            </a:r>
            <a:endParaRPr lang="en-IN" sz="2400" dirty="0"/>
          </a:p>
        </p:txBody>
      </p:sp>
    </p:spTree>
    <p:extLst>
      <p:ext uri="{BB962C8B-B14F-4D97-AF65-F5344CB8AC3E}">
        <p14:creationId xmlns:p14="http://schemas.microsoft.com/office/powerpoint/2010/main" val="38721992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Advantages of Chaining</a:t>
            </a:r>
            <a:br>
              <a:rPr lang="en-IN" dirty="0" smtClean="0"/>
            </a:br>
            <a:endParaRPr lang="en-IN" dirty="0"/>
          </a:p>
        </p:txBody>
      </p:sp>
      <p:sp>
        <p:nvSpPr>
          <p:cNvPr id="3" name="Content Placeholder 2"/>
          <p:cNvSpPr>
            <a:spLocks noGrp="1"/>
          </p:cNvSpPr>
          <p:nvPr>
            <p:ph idx="1"/>
          </p:nvPr>
        </p:nvSpPr>
        <p:spPr>
          <a:xfrm>
            <a:off x="611560" y="980728"/>
            <a:ext cx="8229600" cy="5688632"/>
          </a:xfrm>
        </p:spPr>
        <p:txBody>
          <a:bodyPr>
            <a:normAutofit fontScale="85000" lnSpcReduction="20000"/>
          </a:bodyPr>
          <a:lstStyle/>
          <a:p>
            <a:r>
              <a:rPr lang="en-IN" b="1" dirty="0" smtClean="0">
                <a:solidFill>
                  <a:srgbClr val="FF0000"/>
                </a:solidFill>
              </a:rPr>
              <a:t>Simple </a:t>
            </a:r>
            <a:r>
              <a:rPr lang="en-IN" b="1" dirty="0">
                <a:solidFill>
                  <a:srgbClr val="FF0000"/>
                </a:solidFill>
              </a:rPr>
              <a:t>to Implement</a:t>
            </a:r>
          </a:p>
          <a:p>
            <a:r>
              <a:rPr lang="en-IN" dirty="0"/>
              <a:t>Separate chaining is a </a:t>
            </a:r>
            <a:r>
              <a:rPr lang="en-IN" b="1" dirty="0">
                <a:solidFill>
                  <a:srgbClr val="FF0000"/>
                </a:solidFill>
              </a:rPr>
              <a:t>very simple technique to implement </a:t>
            </a:r>
            <a:r>
              <a:rPr lang="en-IN" dirty="0"/>
              <a:t>compared to other data structures. </a:t>
            </a:r>
            <a:r>
              <a:rPr lang="en-IN" b="1" dirty="0">
                <a:solidFill>
                  <a:srgbClr val="FF0000"/>
                </a:solidFill>
              </a:rPr>
              <a:t>Input elements are just added to the corresponding linked list which the input has been hashed to.</a:t>
            </a:r>
            <a:r>
              <a:rPr lang="en-IN" dirty="0">
                <a:solidFill>
                  <a:srgbClr val="FF0000"/>
                </a:solidFill>
              </a:rPr>
              <a:t> </a:t>
            </a:r>
            <a:r>
              <a:rPr lang="en-IN" b="1" dirty="0">
                <a:solidFill>
                  <a:srgbClr val="FF0000"/>
                </a:solidFill>
              </a:rPr>
              <a:t>No collision occurs </a:t>
            </a:r>
            <a:r>
              <a:rPr lang="en-IN" dirty="0"/>
              <a:t>in the table as the cells hold linked information.</a:t>
            </a:r>
          </a:p>
          <a:p>
            <a:r>
              <a:rPr lang="en-IN" b="1" dirty="0">
                <a:solidFill>
                  <a:srgbClr val="FF0000"/>
                </a:solidFill>
              </a:rPr>
              <a:t>Hash Table Capacity Not Limited</a:t>
            </a:r>
          </a:p>
          <a:p>
            <a:r>
              <a:rPr lang="en-IN" dirty="0"/>
              <a:t>There is no issue with the table being filled to capacity, as </a:t>
            </a:r>
            <a:r>
              <a:rPr lang="en-IN" b="1" dirty="0">
                <a:solidFill>
                  <a:srgbClr val="FF0000"/>
                </a:solidFill>
              </a:rPr>
              <a:t>the table cells only hold linked information</a:t>
            </a:r>
            <a:r>
              <a:rPr lang="en-IN" b="1" dirty="0"/>
              <a:t>. </a:t>
            </a:r>
            <a:r>
              <a:rPr lang="en-IN" dirty="0"/>
              <a:t>New elements are just added to the corresponding chain</a:t>
            </a:r>
            <a:r>
              <a:rPr lang="en-IN" dirty="0" smtClean="0"/>
              <a:t>.</a:t>
            </a:r>
          </a:p>
          <a:p>
            <a:r>
              <a:rPr lang="en-IN" dirty="0"/>
              <a:t>The hash table can be of </a:t>
            </a:r>
            <a:r>
              <a:rPr lang="en-IN" b="1" dirty="0">
                <a:solidFill>
                  <a:srgbClr val="FF0000"/>
                </a:solidFill>
              </a:rPr>
              <a:t>theoretically infinite size</a:t>
            </a:r>
          </a:p>
          <a:p>
            <a:r>
              <a:rPr lang="en-IN" dirty="0"/>
              <a:t>The hash table will not get polluted</a:t>
            </a:r>
          </a:p>
          <a:p>
            <a:r>
              <a:rPr lang="en-IN" dirty="0"/>
              <a:t>When searching, it will </a:t>
            </a:r>
            <a:r>
              <a:rPr lang="en-IN" b="1" dirty="0">
                <a:solidFill>
                  <a:srgbClr val="FF0000"/>
                </a:solidFill>
              </a:rPr>
              <a:t>never search irrelevant </a:t>
            </a:r>
            <a:r>
              <a:rPr lang="en-IN" b="1" dirty="0" smtClean="0">
                <a:solidFill>
                  <a:srgbClr val="FF0000"/>
                </a:solidFill>
              </a:rPr>
              <a:t>information.</a:t>
            </a:r>
            <a:endParaRPr lang="en-IN" b="1" dirty="0">
              <a:solidFill>
                <a:srgbClr val="FF0000"/>
              </a:solidFill>
            </a:endParaRPr>
          </a:p>
          <a:p>
            <a:endParaRPr lang="en-IN" b="1" dirty="0">
              <a:solidFill>
                <a:srgbClr val="FF0000"/>
              </a:solidFill>
            </a:endParaRPr>
          </a:p>
          <a:p>
            <a:endParaRPr lang="en-IN" dirty="0"/>
          </a:p>
        </p:txBody>
      </p:sp>
    </p:spTree>
    <p:extLst>
      <p:ext uri="{BB962C8B-B14F-4D97-AF65-F5344CB8AC3E}">
        <p14:creationId xmlns:p14="http://schemas.microsoft.com/office/powerpoint/2010/main" val="29994229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Disadvantages	</a:t>
            </a:r>
            <a:endParaRPr lang="en-IN" dirty="0"/>
          </a:p>
        </p:txBody>
      </p:sp>
      <p:sp>
        <p:nvSpPr>
          <p:cNvPr id="3" name="Content Placeholder 2"/>
          <p:cNvSpPr>
            <a:spLocks noGrp="1"/>
          </p:cNvSpPr>
          <p:nvPr>
            <p:ph idx="1"/>
          </p:nvPr>
        </p:nvSpPr>
        <p:spPr/>
        <p:txBody>
          <a:bodyPr/>
          <a:lstStyle/>
          <a:p>
            <a:pPr>
              <a:lnSpc>
                <a:spcPct val="90000"/>
              </a:lnSpc>
            </a:pPr>
            <a:r>
              <a:rPr lang="en-US" dirty="0" smtClean="0"/>
              <a:t>Chaining has the disadvantage of using linked lists.</a:t>
            </a:r>
          </a:p>
          <a:p>
            <a:pPr lvl="1">
              <a:lnSpc>
                <a:spcPct val="90000"/>
              </a:lnSpc>
            </a:pPr>
            <a:r>
              <a:rPr lang="en-US" dirty="0" smtClean="0"/>
              <a:t>Requires the implementation of a </a:t>
            </a:r>
            <a:r>
              <a:rPr lang="en-US" b="1" dirty="0" smtClean="0">
                <a:solidFill>
                  <a:srgbClr val="FF0000"/>
                </a:solidFill>
              </a:rPr>
              <a:t>second data structure.</a:t>
            </a:r>
          </a:p>
          <a:p>
            <a:endParaRPr lang="en-IN" dirty="0"/>
          </a:p>
        </p:txBody>
      </p:sp>
    </p:spTree>
    <p:extLst>
      <p:ext uri="{BB962C8B-B14F-4D97-AF65-F5344CB8AC3E}">
        <p14:creationId xmlns:p14="http://schemas.microsoft.com/office/powerpoint/2010/main" val="167308553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C3A0D604-13FD-42C4-97ED-C80A61F1FF58}" type="slidenum">
              <a:rPr lang="en-US" sz="1400"/>
              <a:pPr eaLnBrk="1" hangingPunct="1"/>
              <a:t>49</a:t>
            </a:fld>
            <a:endParaRPr lang="en-US" sz="1400"/>
          </a:p>
        </p:txBody>
      </p:sp>
      <p:sp>
        <p:nvSpPr>
          <p:cNvPr id="21507" name="Rectangle 2"/>
          <p:cNvSpPr>
            <a:spLocks noGrp="1" noChangeArrowheads="1"/>
          </p:cNvSpPr>
          <p:nvPr>
            <p:ph type="title"/>
          </p:nvPr>
        </p:nvSpPr>
        <p:spPr/>
        <p:txBody>
          <a:bodyPr>
            <a:normAutofit fontScale="90000"/>
          </a:bodyPr>
          <a:lstStyle/>
          <a:p>
            <a:pPr eaLnBrk="1" hangingPunct="1"/>
            <a:r>
              <a:rPr lang="en-US" b="1" dirty="0" smtClean="0">
                <a:solidFill>
                  <a:srgbClr val="FF0000"/>
                </a:solidFill>
              </a:rPr>
              <a:t>Load Factor with Separate Chaining</a:t>
            </a:r>
          </a:p>
        </p:txBody>
      </p:sp>
      <p:sp>
        <p:nvSpPr>
          <p:cNvPr id="21508" name="Rectangle 3"/>
          <p:cNvSpPr>
            <a:spLocks noGrp="1" noChangeArrowheads="1"/>
          </p:cNvSpPr>
          <p:nvPr>
            <p:ph type="body" idx="1"/>
          </p:nvPr>
        </p:nvSpPr>
        <p:spPr/>
        <p:txBody>
          <a:bodyPr/>
          <a:lstStyle/>
          <a:p>
            <a:pPr eaLnBrk="1" hangingPunct="1"/>
            <a:r>
              <a:rPr lang="en-US" sz="2800" dirty="0" smtClean="0"/>
              <a:t>Search cost (assuming simple uniform hashing)</a:t>
            </a:r>
          </a:p>
          <a:p>
            <a:pPr lvl="1" eaLnBrk="1" hangingPunct="1"/>
            <a:r>
              <a:rPr lang="en-US" sz="2400" dirty="0" smtClean="0"/>
              <a:t>unsuccessful search:</a:t>
            </a:r>
          </a:p>
          <a:p>
            <a:pPr lvl="2" eaLnBrk="1" hangingPunct="1">
              <a:buFontTx/>
              <a:buNone/>
            </a:pPr>
            <a:r>
              <a:rPr lang="en-US" sz="2000" dirty="0" smtClean="0">
                <a:solidFill>
                  <a:srgbClr val="FF00FF"/>
                </a:solidFill>
              </a:rPr>
              <a:t>Whole list – average length </a:t>
            </a:r>
            <a:r>
              <a:rPr lang="en-US" sz="2000" b="1" dirty="0" smtClean="0">
                <a:solidFill>
                  <a:srgbClr val="FF00FF"/>
                </a:solidFill>
                <a:sym typeface="Symbol" pitchFamily="18" charset="2"/>
              </a:rPr>
              <a:t></a:t>
            </a:r>
            <a:r>
              <a:rPr lang="en-US" sz="2000" dirty="0" smtClean="0">
                <a:solidFill>
                  <a:srgbClr val="FF00FF"/>
                </a:solidFill>
              </a:rPr>
              <a:t> </a:t>
            </a:r>
          </a:p>
          <a:p>
            <a:pPr lvl="1" eaLnBrk="1" hangingPunct="1"/>
            <a:r>
              <a:rPr lang="en-US" sz="2400" dirty="0" smtClean="0"/>
              <a:t>successful search:</a:t>
            </a:r>
          </a:p>
          <a:p>
            <a:pPr lvl="2" eaLnBrk="1" hangingPunct="1">
              <a:buFontTx/>
              <a:buNone/>
            </a:pPr>
            <a:r>
              <a:rPr lang="en-US" sz="2000" dirty="0" smtClean="0">
                <a:solidFill>
                  <a:srgbClr val="FF00FF"/>
                </a:solidFill>
              </a:rPr>
              <a:t>Half the list – average length </a:t>
            </a:r>
            <a:r>
              <a:rPr lang="en-US" sz="2000" b="1" dirty="0" smtClean="0">
                <a:solidFill>
                  <a:srgbClr val="FF00FF"/>
                </a:solidFill>
                <a:sym typeface="Symbol" pitchFamily="18" charset="2"/>
              </a:rPr>
              <a:t>/2+1</a:t>
            </a:r>
            <a:r>
              <a:rPr lang="en-US" sz="2000" dirty="0" smtClean="0">
                <a:solidFill>
                  <a:srgbClr val="FF00FF"/>
                </a:solidFill>
              </a:rPr>
              <a:t> </a:t>
            </a:r>
          </a:p>
          <a:p>
            <a:pPr lvl="1" eaLnBrk="1" hangingPunct="1"/>
            <a:endParaRPr lang="en-US" sz="2400" dirty="0" smtClean="0">
              <a:solidFill>
                <a:schemeClr val="accent2"/>
              </a:solidFill>
            </a:endParaRPr>
          </a:p>
          <a:p>
            <a:pPr eaLnBrk="1" hangingPunct="1"/>
            <a:r>
              <a:rPr lang="en-US" sz="2800" dirty="0" smtClean="0"/>
              <a:t>Optimal load factor:</a:t>
            </a:r>
          </a:p>
          <a:p>
            <a:pPr lvl="1" eaLnBrk="1" hangingPunct="1"/>
            <a:r>
              <a:rPr lang="en-US" sz="2400" dirty="0" smtClean="0">
                <a:solidFill>
                  <a:srgbClr val="FF00FF"/>
                </a:solidFill>
              </a:rPr>
              <a:t>Zero!  But between ½ and 1 is fast and makes good use of memory.</a:t>
            </a:r>
          </a:p>
        </p:txBody>
      </p:sp>
    </p:spTree>
    <p:extLst>
      <p:ext uri="{BB962C8B-B14F-4D97-AF65-F5344CB8AC3E}">
        <p14:creationId xmlns:p14="http://schemas.microsoft.com/office/powerpoint/2010/main" val="192574115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050" y="1322040"/>
            <a:ext cx="68199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6056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228600" y="152400"/>
            <a:ext cx="373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Open Addressing:</a:t>
            </a:r>
          </a:p>
        </p:txBody>
      </p:sp>
      <p:sp>
        <p:nvSpPr>
          <p:cNvPr id="7171" name="Text Box 3"/>
          <p:cNvSpPr txBox="1">
            <a:spLocks noChangeArrowheads="1"/>
          </p:cNvSpPr>
          <p:nvPr/>
        </p:nvSpPr>
        <p:spPr bwMode="auto">
          <a:xfrm>
            <a:off x="228600" y="914400"/>
            <a:ext cx="8610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a:t>
            </a:r>
            <a:r>
              <a:rPr lang="en-US" sz="2400" b="1"/>
              <a:t>Relocate the key</a:t>
            </a:r>
            <a:r>
              <a:rPr lang="en-US" sz="2400"/>
              <a:t>, if it collides with </a:t>
            </a:r>
            <a:r>
              <a:rPr lang="en-US" sz="2400" b="1"/>
              <a:t>existing key</a:t>
            </a:r>
            <a:r>
              <a:rPr lang="en-US" sz="2400"/>
              <a:t> { Store k at an entry different from T [ h (k) ] }</a:t>
            </a:r>
          </a:p>
        </p:txBody>
      </p:sp>
      <p:sp>
        <p:nvSpPr>
          <p:cNvPr id="7172" name="Text Box 4"/>
          <p:cNvSpPr txBox="1">
            <a:spLocks noChangeArrowheads="1"/>
          </p:cNvSpPr>
          <p:nvPr/>
        </p:nvSpPr>
        <p:spPr bwMode="auto">
          <a:xfrm>
            <a:off x="152400" y="205740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solidFill>
                  <a:srgbClr val="FF0000"/>
                </a:solidFill>
              </a:rPr>
              <a:t>Insertion: </a:t>
            </a:r>
            <a:r>
              <a:rPr lang="en-US" sz="2400" b="1" dirty="0"/>
              <a:t>To insert key k, Compute h</a:t>
            </a:r>
            <a:r>
              <a:rPr lang="en-US" sz="2400" b="1" baseline="-25000" dirty="0"/>
              <a:t>0</a:t>
            </a:r>
            <a:r>
              <a:rPr lang="en-US" sz="2400" b="1" dirty="0"/>
              <a:t> (k)</a:t>
            </a:r>
            <a:endParaRPr lang="en-US" sz="2400" b="1" dirty="0">
              <a:solidFill>
                <a:srgbClr val="FF0000"/>
              </a:solidFill>
            </a:endParaRPr>
          </a:p>
        </p:txBody>
      </p:sp>
      <p:sp>
        <p:nvSpPr>
          <p:cNvPr id="7173" name="Text Box 5"/>
          <p:cNvSpPr txBox="1">
            <a:spLocks noChangeArrowheads="1"/>
          </p:cNvSpPr>
          <p:nvPr/>
        </p:nvSpPr>
        <p:spPr bwMode="auto">
          <a:xfrm>
            <a:off x="228600" y="266700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If T [ h</a:t>
            </a:r>
            <a:r>
              <a:rPr lang="en-US" sz="2400" b="1" baseline="-25000"/>
              <a:t>0</a:t>
            </a:r>
            <a:r>
              <a:rPr lang="en-US" sz="2400"/>
              <a:t> (k) ] = empty , insert key </a:t>
            </a:r>
          </a:p>
        </p:txBody>
      </p:sp>
      <p:sp>
        <p:nvSpPr>
          <p:cNvPr id="7174" name="Text Box 6"/>
          <p:cNvSpPr txBox="1">
            <a:spLocks noChangeArrowheads="1"/>
          </p:cNvSpPr>
          <p:nvPr/>
        </p:nvSpPr>
        <p:spPr bwMode="auto">
          <a:xfrm>
            <a:off x="228600" y="3429000"/>
            <a:ext cx="8458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If Collision occurs, probe alternative cells h</a:t>
            </a:r>
            <a:r>
              <a:rPr lang="en-US" sz="2400" b="1" baseline="-25000"/>
              <a:t>1</a:t>
            </a:r>
            <a:r>
              <a:rPr lang="en-US" sz="2400"/>
              <a:t> (k) , h</a:t>
            </a:r>
            <a:r>
              <a:rPr lang="en-US" sz="2400" b="1" baseline="-25000"/>
              <a:t>2</a:t>
            </a:r>
            <a:r>
              <a:rPr lang="en-US" sz="2400"/>
              <a:t> (K) … Until empty cell is found</a:t>
            </a:r>
          </a:p>
        </p:txBody>
      </p:sp>
      <p:sp>
        <p:nvSpPr>
          <p:cNvPr id="7175" name="Text Box 7"/>
          <p:cNvSpPr txBox="1">
            <a:spLocks noChangeArrowheads="1"/>
          </p:cNvSpPr>
          <p:nvPr/>
        </p:nvSpPr>
        <p:spPr bwMode="auto">
          <a:xfrm>
            <a:off x="2286000" y="4400550"/>
            <a:ext cx="4648200" cy="476250"/>
          </a:xfrm>
          <a:prstGeom prst="rect">
            <a:avLst/>
          </a:prstGeom>
          <a:noFill/>
          <a:ln w="19050">
            <a:solidFill>
              <a:srgbClr val="FF33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a:t>h</a:t>
            </a:r>
            <a:r>
              <a:rPr lang="en-US" sz="2400" b="1" baseline="-25000"/>
              <a:t>i</a:t>
            </a:r>
            <a:r>
              <a:rPr lang="en-US" sz="2400"/>
              <a:t> (k) = </a:t>
            </a:r>
            <a:r>
              <a:rPr lang="en-US" sz="2400" b="1">
                <a:solidFill>
                  <a:srgbClr val="FF0000"/>
                </a:solidFill>
              </a:rPr>
              <a:t>( </a:t>
            </a:r>
            <a:r>
              <a:rPr lang="en-US" sz="2400"/>
              <a:t>hash (k) + F (</a:t>
            </a:r>
            <a:r>
              <a:rPr lang="en-US" sz="2400" b="1"/>
              <a:t>i</a:t>
            </a:r>
            <a:r>
              <a:rPr lang="en-US" sz="2400"/>
              <a:t>) </a:t>
            </a:r>
            <a:r>
              <a:rPr lang="en-US" sz="2400" b="1">
                <a:solidFill>
                  <a:srgbClr val="FF0000"/>
                </a:solidFill>
              </a:rPr>
              <a:t>)</a:t>
            </a:r>
            <a:r>
              <a:rPr lang="en-US" sz="2400"/>
              <a:t> mod </a:t>
            </a:r>
            <a:r>
              <a:rPr lang="en-US" sz="2400" b="1"/>
              <a:t>m</a:t>
            </a:r>
          </a:p>
        </p:txBody>
      </p:sp>
      <p:sp>
        <p:nvSpPr>
          <p:cNvPr id="7176" name="Text Box 8"/>
          <p:cNvSpPr txBox="1">
            <a:spLocks noChangeArrowheads="1"/>
          </p:cNvSpPr>
          <p:nvPr/>
        </p:nvSpPr>
        <p:spPr bwMode="auto">
          <a:xfrm>
            <a:off x="3276600" y="5092700"/>
            <a:ext cx="2362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t>m = Table Size</a:t>
            </a:r>
          </a:p>
          <a:p>
            <a:pPr eaLnBrk="1" hangingPunct="1">
              <a:spcBef>
                <a:spcPct val="50000"/>
              </a:spcBef>
            </a:pPr>
            <a:r>
              <a:rPr lang="en-US" sz="2400" b="1"/>
              <a:t>i = 1 to m – 1</a:t>
            </a:r>
          </a:p>
          <a:p>
            <a:pPr eaLnBrk="1" hangingPunct="1">
              <a:spcBef>
                <a:spcPct val="50000"/>
              </a:spcBef>
            </a:pPr>
            <a:r>
              <a:rPr lang="en-US" sz="2400" b="1"/>
              <a:t>F (0) = 0</a:t>
            </a:r>
          </a:p>
        </p:txBody>
      </p:sp>
    </p:spTree>
    <p:extLst>
      <p:ext uri="{BB962C8B-B14F-4D97-AF65-F5344CB8AC3E}">
        <p14:creationId xmlns:p14="http://schemas.microsoft.com/office/powerpoint/2010/main" val="2636624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71"/>
                                        </p:tgtEl>
                                        <p:attrNameLst>
                                          <p:attrName>style.visibility</p:attrName>
                                        </p:attrNameLst>
                                      </p:cBhvr>
                                      <p:to>
                                        <p:strVal val="visible"/>
                                      </p:to>
                                    </p:set>
                                    <p:anim calcmode="lin" valueType="num">
                                      <p:cBhvr additive="base">
                                        <p:cTn id="13" dur="500" fill="hold"/>
                                        <p:tgtEl>
                                          <p:spTgt spid="7171"/>
                                        </p:tgtEl>
                                        <p:attrNameLst>
                                          <p:attrName>ppt_x</p:attrName>
                                        </p:attrNameLst>
                                      </p:cBhvr>
                                      <p:tavLst>
                                        <p:tav tm="0">
                                          <p:val>
                                            <p:strVal val="#ppt_x"/>
                                          </p:val>
                                        </p:tav>
                                        <p:tav tm="100000">
                                          <p:val>
                                            <p:strVal val="#ppt_x"/>
                                          </p:val>
                                        </p:tav>
                                      </p:tavLst>
                                    </p:anim>
                                    <p:anim calcmode="lin" valueType="num">
                                      <p:cBhvr additive="base">
                                        <p:cTn id="14"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2"/>
                                        </p:tgtEl>
                                        <p:attrNameLst>
                                          <p:attrName>style.visibility</p:attrName>
                                        </p:attrNameLst>
                                      </p:cBhvr>
                                      <p:to>
                                        <p:strVal val="visible"/>
                                      </p:to>
                                    </p:set>
                                    <p:anim calcmode="lin" valueType="num">
                                      <p:cBhvr additive="base">
                                        <p:cTn id="19" dur="500" fill="hold"/>
                                        <p:tgtEl>
                                          <p:spTgt spid="7172"/>
                                        </p:tgtEl>
                                        <p:attrNameLst>
                                          <p:attrName>ppt_x</p:attrName>
                                        </p:attrNameLst>
                                      </p:cBhvr>
                                      <p:tavLst>
                                        <p:tav tm="0">
                                          <p:val>
                                            <p:strVal val="#ppt_x"/>
                                          </p:val>
                                        </p:tav>
                                        <p:tav tm="100000">
                                          <p:val>
                                            <p:strVal val="#ppt_x"/>
                                          </p:val>
                                        </p:tav>
                                      </p:tavLst>
                                    </p:anim>
                                    <p:anim calcmode="lin" valueType="num">
                                      <p:cBhvr additive="base">
                                        <p:cTn id="20" dur="500" fill="hold"/>
                                        <p:tgtEl>
                                          <p:spTgt spid="717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73"/>
                                        </p:tgtEl>
                                        <p:attrNameLst>
                                          <p:attrName>style.visibility</p:attrName>
                                        </p:attrNameLst>
                                      </p:cBhvr>
                                      <p:to>
                                        <p:strVal val="visible"/>
                                      </p:to>
                                    </p:set>
                                    <p:anim calcmode="lin" valueType="num">
                                      <p:cBhvr additive="base">
                                        <p:cTn id="25" dur="500" fill="hold"/>
                                        <p:tgtEl>
                                          <p:spTgt spid="7173"/>
                                        </p:tgtEl>
                                        <p:attrNameLst>
                                          <p:attrName>ppt_x</p:attrName>
                                        </p:attrNameLst>
                                      </p:cBhvr>
                                      <p:tavLst>
                                        <p:tav tm="0">
                                          <p:val>
                                            <p:strVal val="#ppt_x"/>
                                          </p:val>
                                        </p:tav>
                                        <p:tav tm="100000">
                                          <p:val>
                                            <p:strVal val="#ppt_x"/>
                                          </p:val>
                                        </p:tav>
                                      </p:tavLst>
                                    </p:anim>
                                    <p:anim calcmode="lin" valueType="num">
                                      <p:cBhvr additive="base">
                                        <p:cTn id="26" dur="500" fill="hold"/>
                                        <p:tgtEl>
                                          <p:spTgt spid="7173"/>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174"/>
                                        </p:tgtEl>
                                        <p:attrNameLst>
                                          <p:attrName>style.visibility</p:attrName>
                                        </p:attrNameLst>
                                      </p:cBhvr>
                                      <p:to>
                                        <p:strVal val="visible"/>
                                      </p:to>
                                    </p:set>
                                    <p:anim calcmode="lin" valueType="num">
                                      <p:cBhvr additive="base">
                                        <p:cTn id="31" dur="500" fill="hold"/>
                                        <p:tgtEl>
                                          <p:spTgt spid="7174"/>
                                        </p:tgtEl>
                                        <p:attrNameLst>
                                          <p:attrName>ppt_x</p:attrName>
                                        </p:attrNameLst>
                                      </p:cBhvr>
                                      <p:tavLst>
                                        <p:tav tm="0">
                                          <p:val>
                                            <p:strVal val="#ppt_x"/>
                                          </p:val>
                                        </p:tav>
                                        <p:tav tm="100000">
                                          <p:val>
                                            <p:strVal val="#ppt_x"/>
                                          </p:val>
                                        </p:tav>
                                      </p:tavLst>
                                    </p:anim>
                                    <p:anim calcmode="lin" valueType="num">
                                      <p:cBhvr additive="base">
                                        <p:cTn id="32" dur="500" fill="hold"/>
                                        <p:tgtEl>
                                          <p:spTgt spid="717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175"/>
                                        </p:tgtEl>
                                        <p:attrNameLst>
                                          <p:attrName>style.visibility</p:attrName>
                                        </p:attrNameLst>
                                      </p:cBhvr>
                                      <p:to>
                                        <p:strVal val="visible"/>
                                      </p:to>
                                    </p:set>
                                    <p:anim calcmode="lin" valueType="num">
                                      <p:cBhvr additive="base">
                                        <p:cTn id="37" dur="500" fill="hold"/>
                                        <p:tgtEl>
                                          <p:spTgt spid="7175"/>
                                        </p:tgtEl>
                                        <p:attrNameLst>
                                          <p:attrName>ppt_x</p:attrName>
                                        </p:attrNameLst>
                                      </p:cBhvr>
                                      <p:tavLst>
                                        <p:tav tm="0">
                                          <p:val>
                                            <p:strVal val="#ppt_x"/>
                                          </p:val>
                                        </p:tav>
                                        <p:tav tm="100000">
                                          <p:val>
                                            <p:strVal val="#ppt_x"/>
                                          </p:val>
                                        </p:tav>
                                      </p:tavLst>
                                    </p:anim>
                                    <p:anim calcmode="lin" valueType="num">
                                      <p:cBhvr additive="base">
                                        <p:cTn id="38" dur="500" fill="hold"/>
                                        <p:tgtEl>
                                          <p:spTgt spid="7175"/>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176"/>
                                        </p:tgtEl>
                                        <p:attrNameLst>
                                          <p:attrName>style.visibility</p:attrName>
                                        </p:attrNameLst>
                                      </p:cBhvr>
                                      <p:to>
                                        <p:strVal val="visible"/>
                                      </p:to>
                                    </p:set>
                                    <p:anim calcmode="lin" valueType="num">
                                      <p:cBhvr additive="base">
                                        <p:cTn id="43" dur="500" fill="hold"/>
                                        <p:tgtEl>
                                          <p:spTgt spid="7176"/>
                                        </p:tgtEl>
                                        <p:attrNameLst>
                                          <p:attrName>ppt_x</p:attrName>
                                        </p:attrNameLst>
                                      </p:cBhvr>
                                      <p:tavLst>
                                        <p:tav tm="0">
                                          <p:val>
                                            <p:strVal val="#ppt_x"/>
                                          </p:val>
                                        </p:tav>
                                        <p:tav tm="100000">
                                          <p:val>
                                            <p:strVal val="#ppt_x"/>
                                          </p:val>
                                        </p:tav>
                                      </p:tavLst>
                                    </p:anim>
                                    <p:anim calcmode="lin" valueType="num">
                                      <p:cBhvr additive="base">
                                        <p:cTn id="44" dur="500" fill="hold"/>
                                        <p:tgtEl>
                                          <p:spTgt spid="71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7171" grpId="0"/>
      <p:bldP spid="7172" grpId="0"/>
      <p:bldP spid="7173" grpId="0"/>
      <p:bldP spid="7174" grpId="0"/>
      <p:bldP spid="7175" grpId="0" animBg="1"/>
      <p:bldP spid="717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solidFill>
                  <a:srgbClr val="FF00FF"/>
                </a:solidFill>
              </a:rPr>
              <a:t>Closed Hashing I  :  LINEAR </a:t>
            </a:r>
            <a:r>
              <a:rPr lang="en-IN" b="1" dirty="0">
                <a:solidFill>
                  <a:srgbClr val="FF00FF"/>
                </a:solidFill>
              </a:rPr>
              <a:t>PROBING</a:t>
            </a:r>
            <a:br>
              <a:rPr lang="en-IN" b="1" dirty="0">
                <a:solidFill>
                  <a:srgbClr val="FF00FF"/>
                </a:solidFill>
              </a:rPr>
            </a:br>
            <a:endParaRPr lang="en-IN" b="1" dirty="0">
              <a:solidFill>
                <a:srgbClr val="FF00FF"/>
              </a:solidFill>
            </a:endParaRPr>
          </a:p>
        </p:txBody>
      </p:sp>
      <p:sp>
        <p:nvSpPr>
          <p:cNvPr id="3" name="Content Placeholder 2"/>
          <p:cNvSpPr>
            <a:spLocks noGrp="1"/>
          </p:cNvSpPr>
          <p:nvPr>
            <p:ph idx="1"/>
          </p:nvPr>
        </p:nvSpPr>
        <p:spPr/>
        <p:txBody>
          <a:bodyPr/>
          <a:lstStyle/>
          <a:p>
            <a:r>
              <a:rPr lang="en-IN" b="1" dirty="0">
                <a:solidFill>
                  <a:srgbClr val="FF0000"/>
                </a:solidFill>
              </a:rPr>
              <a:t>Linear probing </a:t>
            </a:r>
            <a:r>
              <a:rPr lang="en-IN" dirty="0"/>
              <a:t>is a scheme in computer programming for </a:t>
            </a:r>
            <a:r>
              <a:rPr lang="en-IN" b="1" dirty="0">
                <a:solidFill>
                  <a:srgbClr val="FF0000"/>
                </a:solidFill>
              </a:rPr>
              <a:t>resolving </a:t>
            </a:r>
            <a:r>
              <a:rPr lang="en-IN" b="1" dirty="0" smtClean="0">
                <a:solidFill>
                  <a:srgbClr val="FF0000"/>
                </a:solidFill>
                <a:effectLst/>
              </a:rPr>
              <a:t>collisions</a:t>
            </a:r>
            <a:r>
              <a:rPr lang="en-IN" dirty="0"/>
              <a:t> in </a:t>
            </a:r>
            <a:r>
              <a:rPr lang="en-IN" dirty="0" smtClean="0">
                <a:effectLst/>
              </a:rPr>
              <a:t>hash tables</a:t>
            </a:r>
            <a:r>
              <a:rPr lang="en-IN" dirty="0"/>
              <a:t>, </a:t>
            </a:r>
            <a:r>
              <a:rPr lang="en-IN" dirty="0" smtClean="0">
                <a:effectLst/>
              </a:rPr>
              <a:t>data structures</a:t>
            </a:r>
            <a:r>
              <a:rPr lang="en-IN" dirty="0"/>
              <a:t> for maintaining a </a:t>
            </a:r>
            <a:r>
              <a:rPr lang="en-IN" b="1" dirty="0">
                <a:solidFill>
                  <a:srgbClr val="FF0000"/>
                </a:solidFill>
              </a:rPr>
              <a:t>collection of </a:t>
            </a:r>
            <a:r>
              <a:rPr lang="en-IN" b="1" dirty="0" smtClean="0">
                <a:solidFill>
                  <a:srgbClr val="FF0000"/>
                </a:solidFill>
                <a:effectLst/>
              </a:rPr>
              <a:t>key–value pairs</a:t>
            </a:r>
            <a:r>
              <a:rPr lang="en-IN" b="1" dirty="0">
                <a:solidFill>
                  <a:srgbClr val="FF0000"/>
                </a:solidFill>
              </a:rPr>
              <a:t> and looking up the value associated with a given </a:t>
            </a:r>
            <a:r>
              <a:rPr lang="en-IN" b="1" dirty="0" smtClean="0">
                <a:solidFill>
                  <a:srgbClr val="FF0000"/>
                </a:solidFill>
              </a:rPr>
              <a:t>key.</a:t>
            </a:r>
          </a:p>
          <a:p>
            <a:endParaRPr lang="en-IN" b="1" dirty="0">
              <a:solidFill>
                <a:srgbClr val="FF0000"/>
              </a:solidFill>
            </a:endParaRPr>
          </a:p>
        </p:txBody>
      </p:sp>
    </p:spTree>
    <p:extLst>
      <p:ext uri="{BB962C8B-B14F-4D97-AF65-F5344CB8AC3E}">
        <p14:creationId xmlns:p14="http://schemas.microsoft.com/office/powerpoint/2010/main" val="400273750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228600" y="152400"/>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FF0000"/>
                </a:solidFill>
              </a:rPr>
              <a:t>Linear Probing:</a:t>
            </a:r>
          </a:p>
        </p:txBody>
      </p:sp>
      <p:sp>
        <p:nvSpPr>
          <p:cNvPr id="6147" name="Text Box 3"/>
          <p:cNvSpPr txBox="1">
            <a:spLocks noChangeArrowheads="1"/>
          </p:cNvSpPr>
          <p:nvPr/>
        </p:nvSpPr>
        <p:spPr bwMode="auto">
          <a:xfrm>
            <a:off x="228600" y="914400"/>
            <a:ext cx="815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buFont typeface="Wingdings" pitchFamily="2" charset="2"/>
              <a:buChar char="Ø"/>
            </a:pPr>
            <a:r>
              <a:rPr lang="en-US" sz="2400"/>
              <a:t> Cells are probed sequentially with wrap around</a:t>
            </a:r>
          </a:p>
        </p:txBody>
      </p:sp>
      <p:sp>
        <p:nvSpPr>
          <p:cNvPr id="6148" name="Text Box 4"/>
          <p:cNvSpPr txBox="1">
            <a:spLocks noChangeArrowheads="1"/>
          </p:cNvSpPr>
          <p:nvPr/>
        </p:nvSpPr>
        <p:spPr bwMode="auto">
          <a:xfrm>
            <a:off x="3352800" y="2047875"/>
            <a:ext cx="1524000" cy="466725"/>
          </a:xfrm>
          <a:prstGeom prst="rect">
            <a:avLst/>
          </a:prstGeom>
          <a:solidFill>
            <a:srgbClr val="FF00FF"/>
          </a:solidFill>
          <a:ln w="9525">
            <a:solidFill>
              <a:schemeClr val="tx1"/>
            </a:solidFill>
            <a:miter lim="800000"/>
            <a:headEnd/>
            <a:tailEnd/>
          </a:ln>
          <a:effectLs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2400" b="1" dirty="0">
                <a:solidFill>
                  <a:schemeClr val="bg1"/>
                </a:solidFill>
              </a:rPr>
              <a:t>F ( </a:t>
            </a:r>
            <a:r>
              <a:rPr lang="en-US" sz="2400" b="1" dirty="0" err="1">
                <a:solidFill>
                  <a:schemeClr val="bg1"/>
                </a:solidFill>
              </a:rPr>
              <a:t>i</a:t>
            </a:r>
            <a:r>
              <a:rPr lang="en-US" sz="2400" b="1" dirty="0">
                <a:solidFill>
                  <a:schemeClr val="bg1"/>
                </a:solidFill>
              </a:rPr>
              <a:t> ) = </a:t>
            </a:r>
            <a:r>
              <a:rPr lang="en-US" sz="2400" b="1" dirty="0" err="1">
                <a:solidFill>
                  <a:schemeClr val="bg1"/>
                </a:solidFill>
              </a:rPr>
              <a:t>i</a:t>
            </a:r>
            <a:r>
              <a:rPr lang="en-US" sz="2400" b="1" dirty="0">
                <a:solidFill>
                  <a:schemeClr val="bg1"/>
                </a:solidFill>
              </a:rPr>
              <a:t>  </a:t>
            </a:r>
          </a:p>
        </p:txBody>
      </p:sp>
      <p:sp>
        <p:nvSpPr>
          <p:cNvPr id="6149" name="Text Box 5"/>
          <p:cNvSpPr txBox="1">
            <a:spLocks noChangeArrowheads="1"/>
          </p:cNvSpPr>
          <p:nvPr/>
        </p:nvSpPr>
        <p:spPr bwMode="auto">
          <a:xfrm>
            <a:off x="228600" y="3190875"/>
            <a:ext cx="8763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After searching cell hash (k) in the array look in hash (k) + 1 , hash (k) + 2 …etc</a:t>
            </a:r>
          </a:p>
        </p:txBody>
      </p:sp>
      <p:sp>
        <p:nvSpPr>
          <p:cNvPr id="6150" name="Text Box 6"/>
          <p:cNvSpPr txBox="1">
            <a:spLocks noChangeArrowheads="1"/>
          </p:cNvSpPr>
          <p:nvPr/>
        </p:nvSpPr>
        <p:spPr bwMode="auto">
          <a:xfrm>
            <a:off x="2133600" y="4791075"/>
            <a:ext cx="4572000" cy="466725"/>
          </a:xfrm>
          <a:prstGeom prst="rect">
            <a:avLst/>
          </a:prstGeom>
          <a:solidFill>
            <a:srgbClr val="FF00FF"/>
          </a:solidFill>
          <a:ln w="9525">
            <a:solidFill>
              <a:schemeClr val="tx1"/>
            </a:solidFill>
            <a:miter lim="800000"/>
            <a:headEnd/>
            <a:tailEnd/>
          </a:ln>
          <a:effectLs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2400" b="1" dirty="0">
                <a:solidFill>
                  <a:schemeClr val="bg1"/>
                </a:solidFill>
              </a:rPr>
              <a:t>h </a:t>
            </a:r>
            <a:r>
              <a:rPr lang="en-US" sz="2400" b="1" baseline="-25000" dirty="0" err="1">
                <a:solidFill>
                  <a:schemeClr val="bg1"/>
                </a:solidFill>
              </a:rPr>
              <a:t>i</a:t>
            </a:r>
            <a:r>
              <a:rPr lang="en-US" sz="2400" b="1" baseline="-25000" dirty="0">
                <a:solidFill>
                  <a:schemeClr val="bg1"/>
                </a:solidFill>
              </a:rPr>
              <a:t> </a:t>
            </a:r>
            <a:r>
              <a:rPr lang="en-US" sz="2400" b="1" dirty="0">
                <a:solidFill>
                  <a:schemeClr val="bg1"/>
                </a:solidFill>
              </a:rPr>
              <a:t>( k )</a:t>
            </a:r>
            <a:r>
              <a:rPr lang="en-US" sz="2400" dirty="0">
                <a:solidFill>
                  <a:schemeClr val="bg1"/>
                </a:solidFill>
              </a:rPr>
              <a:t> = (hash (k) + </a:t>
            </a:r>
            <a:r>
              <a:rPr lang="en-US" sz="2400" dirty="0" err="1">
                <a:solidFill>
                  <a:schemeClr val="bg1"/>
                </a:solidFill>
              </a:rPr>
              <a:t>i</a:t>
            </a:r>
            <a:r>
              <a:rPr lang="en-US" sz="2400" dirty="0">
                <a:solidFill>
                  <a:schemeClr val="bg1"/>
                </a:solidFill>
              </a:rPr>
              <a:t> ) mod m</a:t>
            </a:r>
          </a:p>
        </p:txBody>
      </p:sp>
    </p:spTree>
    <p:extLst>
      <p:ext uri="{BB962C8B-B14F-4D97-AF65-F5344CB8AC3E}">
        <p14:creationId xmlns:p14="http://schemas.microsoft.com/office/powerpoint/2010/main" val="1379434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147"/>
                                        </p:tgtEl>
                                        <p:attrNameLst>
                                          <p:attrName>style.visibility</p:attrName>
                                        </p:attrNameLst>
                                      </p:cBhvr>
                                      <p:to>
                                        <p:strVal val="visible"/>
                                      </p:to>
                                    </p:set>
                                    <p:anim calcmode="lin" valueType="num">
                                      <p:cBhvr additive="base">
                                        <p:cTn id="13" dur="500" fill="hold"/>
                                        <p:tgtEl>
                                          <p:spTgt spid="6147"/>
                                        </p:tgtEl>
                                        <p:attrNameLst>
                                          <p:attrName>ppt_x</p:attrName>
                                        </p:attrNameLst>
                                      </p:cBhvr>
                                      <p:tavLst>
                                        <p:tav tm="0">
                                          <p:val>
                                            <p:strVal val="#ppt_x"/>
                                          </p:val>
                                        </p:tav>
                                        <p:tav tm="100000">
                                          <p:val>
                                            <p:strVal val="#ppt_x"/>
                                          </p:val>
                                        </p:tav>
                                      </p:tavLst>
                                    </p:anim>
                                    <p:anim calcmode="lin" valueType="num">
                                      <p:cBhvr additive="base">
                                        <p:cTn id="14"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48"/>
                                        </p:tgtEl>
                                        <p:attrNameLst>
                                          <p:attrName>style.visibility</p:attrName>
                                        </p:attrNameLst>
                                      </p:cBhvr>
                                      <p:to>
                                        <p:strVal val="visible"/>
                                      </p:to>
                                    </p:set>
                                    <p:anim calcmode="lin" valueType="num">
                                      <p:cBhvr additive="base">
                                        <p:cTn id="19" dur="500" fill="hold"/>
                                        <p:tgtEl>
                                          <p:spTgt spid="6148"/>
                                        </p:tgtEl>
                                        <p:attrNameLst>
                                          <p:attrName>ppt_x</p:attrName>
                                        </p:attrNameLst>
                                      </p:cBhvr>
                                      <p:tavLst>
                                        <p:tav tm="0">
                                          <p:val>
                                            <p:strVal val="#ppt_x"/>
                                          </p:val>
                                        </p:tav>
                                        <p:tav tm="100000">
                                          <p:val>
                                            <p:strVal val="#ppt_x"/>
                                          </p:val>
                                        </p:tav>
                                      </p:tavLst>
                                    </p:anim>
                                    <p:anim calcmode="lin" valueType="num">
                                      <p:cBhvr additive="base">
                                        <p:cTn id="20"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149"/>
                                        </p:tgtEl>
                                        <p:attrNameLst>
                                          <p:attrName>style.visibility</p:attrName>
                                        </p:attrNameLst>
                                      </p:cBhvr>
                                      <p:to>
                                        <p:strVal val="visible"/>
                                      </p:to>
                                    </p:set>
                                    <p:anim calcmode="lin" valueType="num">
                                      <p:cBhvr additive="base">
                                        <p:cTn id="25" dur="500" fill="hold"/>
                                        <p:tgtEl>
                                          <p:spTgt spid="6149"/>
                                        </p:tgtEl>
                                        <p:attrNameLst>
                                          <p:attrName>ppt_x</p:attrName>
                                        </p:attrNameLst>
                                      </p:cBhvr>
                                      <p:tavLst>
                                        <p:tav tm="0">
                                          <p:val>
                                            <p:strVal val="#ppt_x"/>
                                          </p:val>
                                        </p:tav>
                                        <p:tav tm="100000">
                                          <p:val>
                                            <p:strVal val="#ppt_x"/>
                                          </p:val>
                                        </p:tav>
                                      </p:tavLst>
                                    </p:anim>
                                    <p:anim calcmode="lin" valueType="num">
                                      <p:cBhvr additive="base">
                                        <p:cTn id="26" dur="500" fill="hold"/>
                                        <p:tgtEl>
                                          <p:spTgt spid="614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150"/>
                                        </p:tgtEl>
                                        <p:attrNameLst>
                                          <p:attrName>style.visibility</p:attrName>
                                        </p:attrNameLst>
                                      </p:cBhvr>
                                      <p:to>
                                        <p:strVal val="visible"/>
                                      </p:to>
                                    </p:set>
                                    <p:anim calcmode="lin" valueType="num">
                                      <p:cBhvr additive="base">
                                        <p:cTn id="31" dur="500" fill="hold"/>
                                        <p:tgtEl>
                                          <p:spTgt spid="6150"/>
                                        </p:tgtEl>
                                        <p:attrNameLst>
                                          <p:attrName>ppt_x</p:attrName>
                                        </p:attrNameLst>
                                      </p:cBhvr>
                                      <p:tavLst>
                                        <p:tav tm="0">
                                          <p:val>
                                            <p:strVal val="#ppt_x"/>
                                          </p:val>
                                        </p:tav>
                                        <p:tav tm="100000">
                                          <p:val>
                                            <p:strVal val="#ppt_x"/>
                                          </p:val>
                                        </p:tav>
                                      </p:tavLst>
                                    </p:anim>
                                    <p:anim calcmode="lin" valueType="num">
                                      <p:cBhvr additive="base">
                                        <p:cTn id="32"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147" grpId="0"/>
      <p:bldP spid="6148" grpId="0" animBg="1"/>
      <p:bldP spid="6149" grpId="0"/>
      <p:bldP spid="615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28600" y="228600"/>
            <a:ext cx="830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FF0000"/>
                </a:solidFill>
              </a:rPr>
              <a:t>Example:</a:t>
            </a:r>
            <a:r>
              <a:rPr lang="en-US" sz="2400"/>
              <a:t> </a:t>
            </a:r>
            <a:r>
              <a:rPr lang="en-US" sz="2400" b="1"/>
              <a:t>89 , 18 , 49 , 58 , 69</a:t>
            </a:r>
          </a:p>
        </p:txBody>
      </p:sp>
      <p:sp>
        <p:nvSpPr>
          <p:cNvPr id="17411" name="Text Box 3"/>
          <p:cNvSpPr txBox="1">
            <a:spLocks noChangeArrowheads="1"/>
          </p:cNvSpPr>
          <p:nvPr/>
        </p:nvSpPr>
        <p:spPr bwMode="auto">
          <a:xfrm>
            <a:off x="2699792" y="1197985"/>
            <a:ext cx="2895600" cy="466725"/>
          </a:xfrm>
          <a:prstGeom prst="rect">
            <a:avLst/>
          </a:prstGeom>
          <a:solidFill>
            <a:srgbClr val="FF00FF"/>
          </a:solidFill>
          <a:ln w="9525">
            <a:solidFill>
              <a:schemeClr val="tx1"/>
            </a:solidFill>
            <a:miter lim="800000"/>
            <a:headEnd/>
            <a:tailEnd/>
          </a:ln>
          <a:effectLs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sz="2400" b="1" dirty="0">
                <a:solidFill>
                  <a:schemeClr val="bg1"/>
                </a:solidFill>
              </a:rPr>
              <a:t>h ( k ) = k mod 10</a:t>
            </a:r>
          </a:p>
        </p:txBody>
      </p:sp>
      <p:graphicFrame>
        <p:nvGraphicFramePr>
          <p:cNvPr id="17466" name="Group 58"/>
          <p:cNvGraphicFramePr>
            <a:graphicFrameLocks noGrp="1"/>
          </p:cNvGraphicFramePr>
          <p:nvPr/>
        </p:nvGraphicFramePr>
        <p:xfrm>
          <a:off x="7543800" y="838200"/>
          <a:ext cx="685800" cy="5181600"/>
        </p:xfrm>
        <a:graphic>
          <a:graphicData uri="http://schemas.openxmlformats.org/drawingml/2006/table">
            <a:tbl>
              <a:tblPr/>
              <a:tblGrid>
                <a:gridCol w="685800"/>
              </a:tblGrid>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49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58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69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89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7465" name="Group 57"/>
          <p:cNvGraphicFramePr>
            <a:graphicFrameLocks noGrp="1"/>
          </p:cNvGraphicFramePr>
          <p:nvPr/>
        </p:nvGraphicFramePr>
        <p:xfrm>
          <a:off x="6934200" y="838200"/>
          <a:ext cx="609600" cy="5181600"/>
        </p:xfrm>
        <a:graphic>
          <a:graphicData uri="http://schemas.openxmlformats.org/drawingml/2006/table">
            <a:tbl>
              <a:tblPr/>
              <a:tblGrid>
                <a:gridCol w="609600"/>
              </a:tblGrid>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64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7464" name="Text Box 56"/>
          <p:cNvSpPr txBox="1">
            <a:spLocks noChangeArrowheads="1"/>
          </p:cNvSpPr>
          <p:nvPr/>
        </p:nvSpPr>
        <p:spPr bwMode="auto">
          <a:xfrm>
            <a:off x="2819400" y="2438400"/>
            <a:ext cx="1981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t>89 % 10 = </a:t>
            </a:r>
            <a:r>
              <a:rPr lang="en-US" sz="2400" b="1">
                <a:solidFill>
                  <a:srgbClr val="FF0000"/>
                </a:solidFill>
              </a:rPr>
              <a:t>9</a:t>
            </a:r>
          </a:p>
          <a:p>
            <a:pPr eaLnBrk="1" hangingPunct="1">
              <a:spcBef>
                <a:spcPct val="50000"/>
              </a:spcBef>
            </a:pPr>
            <a:r>
              <a:rPr lang="en-US" sz="2400" b="1"/>
              <a:t>18 % 10 = </a:t>
            </a:r>
            <a:r>
              <a:rPr lang="en-US" sz="2400" b="1">
                <a:solidFill>
                  <a:srgbClr val="CC0000"/>
                </a:solidFill>
              </a:rPr>
              <a:t>8</a:t>
            </a:r>
          </a:p>
          <a:p>
            <a:pPr eaLnBrk="1" hangingPunct="1">
              <a:spcBef>
                <a:spcPct val="50000"/>
              </a:spcBef>
            </a:pPr>
            <a:r>
              <a:rPr lang="en-US" sz="2400" b="1"/>
              <a:t>49 % 10 = </a:t>
            </a:r>
            <a:r>
              <a:rPr lang="en-US" sz="2400" b="1">
                <a:solidFill>
                  <a:srgbClr val="FF0000"/>
                </a:solidFill>
              </a:rPr>
              <a:t>9</a:t>
            </a:r>
          </a:p>
          <a:p>
            <a:pPr eaLnBrk="1" hangingPunct="1">
              <a:spcBef>
                <a:spcPct val="50000"/>
              </a:spcBef>
            </a:pPr>
            <a:r>
              <a:rPr lang="en-US" sz="2400" b="1"/>
              <a:t>58 % 10 = </a:t>
            </a:r>
            <a:r>
              <a:rPr lang="en-US" sz="2400" b="1">
                <a:solidFill>
                  <a:srgbClr val="CC0000"/>
                </a:solidFill>
              </a:rPr>
              <a:t>8</a:t>
            </a:r>
          </a:p>
          <a:p>
            <a:pPr eaLnBrk="1" hangingPunct="1">
              <a:spcBef>
                <a:spcPct val="50000"/>
              </a:spcBef>
            </a:pPr>
            <a:r>
              <a:rPr lang="en-US" sz="2400" b="1"/>
              <a:t>69 % 10 = </a:t>
            </a:r>
            <a:r>
              <a:rPr lang="en-US" sz="2400" b="1">
                <a:solidFill>
                  <a:srgbClr val="FF0000"/>
                </a:solidFill>
              </a:rPr>
              <a:t>9</a:t>
            </a:r>
          </a:p>
        </p:txBody>
      </p:sp>
    </p:spTree>
    <p:extLst>
      <p:ext uri="{BB962C8B-B14F-4D97-AF65-F5344CB8AC3E}">
        <p14:creationId xmlns:p14="http://schemas.microsoft.com/office/powerpoint/2010/main" val="935623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 calcmode="lin" valueType="num">
                                      <p:cBhvr additive="base">
                                        <p:cTn id="7" dur="500" fill="hold"/>
                                        <p:tgtEl>
                                          <p:spTgt spid="17410"/>
                                        </p:tgtEl>
                                        <p:attrNameLst>
                                          <p:attrName>ppt_x</p:attrName>
                                        </p:attrNameLst>
                                      </p:cBhvr>
                                      <p:tavLst>
                                        <p:tav tm="0">
                                          <p:val>
                                            <p:strVal val="#ppt_x"/>
                                          </p:val>
                                        </p:tav>
                                        <p:tav tm="100000">
                                          <p:val>
                                            <p:strVal val="#ppt_x"/>
                                          </p:val>
                                        </p:tav>
                                      </p:tavLst>
                                    </p:anim>
                                    <p:anim calcmode="lin" valueType="num">
                                      <p:cBhvr additive="base">
                                        <p:cTn id="8" dur="500" fill="hold"/>
                                        <p:tgtEl>
                                          <p:spTgt spid="174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gtEl>
                                        <p:attrNameLst>
                                          <p:attrName>style.visibility</p:attrName>
                                        </p:attrNameLst>
                                      </p:cBhvr>
                                      <p:to>
                                        <p:strVal val="visible"/>
                                      </p:to>
                                    </p:set>
                                    <p:anim calcmode="lin" valueType="num">
                                      <p:cBhvr additive="base">
                                        <p:cTn id="13" dur="500" fill="hold"/>
                                        <p:tgtEl>
                                          <p:spTgt spid="17411"/>
                                        </p:tgtEl>
                                        <p:attrNameLst>
                                          <p:attrName>ppt_x</p:attrName>
                                        </p:attrNameLst>
                                      </p:cBhvr>
                                      <p:tavLst>
                                        <p:tav tm="0">
                                          <p:val>
                                            <p:strVal val="#ppt_x"/>
                                          </p:val>
                                        </p:tav>
                                        <p:tav tm="100000">
                                          <p:val>
                                            <p:strVal val="#ppt_x"/>
                                          </p:val>
                                        </p:tav>
                                      </p:tavLst>
                                    </p:anim>
                                    <p:anim calcmode="lin" valueType="num">
                                      <p:cBhvr additive="base">
                                        <p:cTn id="14" dur="500" fill="hold"/>
                                        <p:tgtEl>
                                          <p:spTgt spid="1741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464"/>
                                        </p:tgtEl>
                                        <p:attrNameLst>
                                          <p:attrName>style.visibility</p:attrName>
                                        </p:attrNameLst>
                                      </p:cBhvr>
                                      <p:to>
                                        <p:strVal val="visible"/>
                                      </p:to>
                                    </p:set>
                                    <p:anim calcmode="lin" valueType="num">
                                      <p:cBhvr additive="base">
                                        <p:cTn id="19" dur="500" fill="hold"/>
                                        <p:tgtEl>
                                          <p:spTgt spid="17464"/>
                                        </p:tgtEl>
                                        <p:attrNameLst>
                                          <p:attrName>ppt_x</p:attrName>
                                        </p:attrNameLst>
                                      </p:cBhvr>
                                      <p:tavLst>
                                        <p:tav tm="0">
                                          <p:val>
                                            <p:strVal val="#ppt_x"/>
                                          </p:val>
                                        </p:tav>
                                        <p:tav tm="100000">
                                          <p:val>
                                            <p:strVal val="#ppt_x"/>
                                          </p:val>
                                        </p:tav>
                                      </p:tavLst>
                                    </p:anim>
                                    <p:anim calcmode="lin" valueType="num">
                                      <p:cBhvr additive="base">
                                        <p:cTn id="20" dur="500" fill="hold"/>
                                        <p:tgtEl>
                                          <p:spTgt spid="1746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7466"/>
                                        </p:tgtEl>
                                        <p:attrNameLst>
                                          <p:attrName>style.visibility</p:attrName>
                                        </p:attrNameLst>
                                      </p:cBhvr>
                                      <p:to>
                                        <p:strVal val="visible"/>
                                      </p:to>
                                    </p:set>
                                    <p:anim calcmode="lin" valueType="num">
                                      <p:cBhvr additive="base">
                                        <p:cTn id="25" dur="500" fill="hold"/>
                                        <p:tgtEl>
                                          <p:spTgt spid="17466"/>
                                        </p:tgtEl>
                                        <p:attrNameLst>
                                          <p:attrName>ppt_x</p:attrName>
                                        </p:attrNameLst>
                                      </p:cBhvr>
                                      <p:tavLst>
                                        <p:tav tm="0">
                                          <p:val>
                                            <p:strVal val="#ppt_x"/>
                                          </p:val>
                                        </p:tav>
                                        <p:tav tm="100000">
                                          <p:val>
                                            <p:strVal val="#ppt_x"/>
                                          </p:val>
                                        </p:tav>
                                      </p:tavLst>
                                    </p:anim>
                                    <p:anim calcmode="lin" valueType="num">
                                      <p:cBhvr additive="base">
                                        <p:cTn id="26" dur="500" fill="hold"/>
                                        <p:tgtEl>
                                          <p:spTgt spid="1746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7465"/>
                                        </p:tgtEl>
                                        <p:attrNameLst>
                                          <p:attrName>style.visibility</p:attrName>
                                        </p:attrNameLst>
                                      </p:cBhvr>
                                      <p:to>
                                        <p:strVal val="visible"/>
                                      </p:to>
                                    </p:set>
                                    <p:anim calcmode="lin" valueType="num">
                                      <p:cBhvr additive="base">
                                        <p:cTn id="29" dur="500" fill="hold"/>
                                        <p:tgtEl>
                                          <p:spTgt spid="17465"/>
                                        </p:tgtEl>
                                        <p:attrNameLst>
                                          <p:attrName>ppt_x</p:attrName>
                                        </p:attrNameLst>
                                      </p:cBhvr>
                                      <p:tavLst>
                                        <p:tav tm="0">
                                          <p:val>
                                            <p:strVal val="#ppt_x"/>
                                          </p:val>
                                        </p:tav>
                                        <p:tav tm="100000">
                                          <p:val>
                                            <p:strVal val="#ppt_x"/>
                                          </p:val>
                                        </p:tav>
                                      </p:tavLst>
                                    </p:anim>
                                    <p:anim calcmode="lin" valueType="num">
                                      <p:cBhvr additive="base">
                                        <p:cTn id="30" dur="500" fill="hold"/>
                                        <p:tgtEl>
                                          <p:spTgt spid="174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P spid="17411" grpId="0" animBg="1"/>
      <p:bldP spid="1746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260648"/>
            <a:ext cx="8507288" cy="6192688"/>
          </a:xfrm>
        </p:spPr>
        <p:txBody>
          <a:bodyPr>
            <a:normAutofit fontScale="92500"/>
          </a:bodyPr>
          <a:lstStyle/>
          <a:p>
            <a:r>
              <a:rPr lang="en-IN" dirty="0"/>
              <a:t>linear probing is a form of </a:t>
            </a:r>
            <a:r>
              <a:rPr lang="en-IN" b="1" dirty="0">
                <a:solidFill>
                  <a:srgbClr val="FF0000"/>
                </a:solidFill>
              </a:rPr>
              <a:t>open addressing</a:t>
            </a:r>
            <a:r>
              <a:rPr lang="en-IN" dirty="0"/>
              <a:t>. </a:t>
            </a:r>
          </a:p>
          <a:p>
            <a:r>
              <a:rPr lang="en-IN" dirty="0"/>
              <a:t>In these schemes, </a:t>
            </a:r>
            <a:r>
              <a:rPr lang="en-IN" b="1" dirty="0">
                <a:solidFill>
                  <a:srgbClr val="FF0000"/>
                </a:solidFill>
              </a:rPr>
              <a:t>each cell of a hash table stores a single key–value pair.</a:t>
            </a:r>
          </a:p>
          <a:p>
            <a:r>
              <a:rPr lang="en-IN" dirty="0"/>
              <a:t> When the hash function causes a collision by mapping a new key to a cell of the hash table that is already occupied by another key, linear probing searches the table for the </a:t>
            </a:r>
            <a:r>
              <a:rPr lang="en-IN" b="1" dirty="0">
                <a:solidFill>
                  <a:srgbClr val="FF0000"/>
                </a:solidFill>
              </a:rPr>
              <a:t>closest following free location and inserts </a:t>
            </a:r>
            <a:r>
              <a:rPr lang="en-IN" dirty="0"/>
              <a:t>the new key there.</a:t>
            </a:r>
          </a:p>
          <a:p>
            <a:pPr marL="0" indent="0">
              <a:buNone/>
            </a:pPr>
            <a:r>
              <a:rPr lang="en-IN" dirty="0" smtClean="0"/>
              <a:t> </a:t>
            </a:r>
            <a:r>
              <a:rPr lang="en-IN" b="1" i="1" dirty="0">
                <a:solidFill>
                  <a:srgbClr val="FF0000"/>
                </a:solidFill>
              </a:rPr>
              <a:t>h(x) =x mod size of array </a:t>
            </a:r>
            <a:r>
              <a:rPr lang="en-IN" b="1" i="1" dirty="0" smtClean="0">
                <a:solidFill>
                  <a:srgbClr val="FF0000"/>
                </a:solidFill>
              </a:rPr>
              <a:t> </a:t>
            </a:r>
            <a:endParaRPr lang="en-IN" b="1" i="1" dirty="0">
              <a:solidFill>
                <a:srgbClr val="FF0000"/>
              </a:solidFill>
            </a:endParaRPr>
          </a:p>
          <a:p>
            <a:pPr marL="0" indent="0">
              <a:buNone/>
            </a:pPr>
            <a:r>
              <a:rPr lang="en-IN" b="1" i="1" u="sng" dirty="0" smtClean="0"/>
              <a:t>if collision occurs</a:t>
            </a:r>
          </a:p>
          <a:p>
            <a:pPr marL="0" indent="0">
              <a:buNone/>
            </a:pPr>
            <a:r>
              <a:rPr lang="en-IN" b="1" dirty="0" smtClean="0"/>
              <a:t>       h(x</a:t>
            </a:r>
            <a:r>
              <a:rPr lang="en-IN" b="1" dirty="0"/>
              <a:t>) =[ h(x) +f(i</a:t>
            </a:r>
            <a:r>
              <a:rPr lang="en-IN" b="1" dirty="0" smtClean="0"/>
              <a:t>)] </a:t>
            </a:r>
            <a:r>
              <a:rPr lang="en-IN" b="1" dirty="0"/>
              <a:t>mod size</a:t>
            </a:r>
            <a:endParaRPr lang="en-IN" dirty="0"/>
          </a:p>
          <a:p>
            <a:pPr marL="0" indent="0">
              <a:buNone/>
            </a:pPr>
            <a:r>
              <a:rPr lang="en-IN" b="1" dirty="0" smtClean="0"/>
              <a:t>                    where f(i</a:t>
            </a:r>
            <a:r>
              <a:rPr lang="en-IN" b="1" dirty="0"/>
              <a:t>)= </a:t>
            </a:r>
            <a:r>
              <a:rPr lang="en-IN" b="1" dirty="0" smtClean="0"/>
              <a:t>i, </a:t>
            </a:r>
            <a:r>
              <a:rPr lang="en-IN" b="1" dirty="0"/>
              <a:t>where i =0,1,2,3,…</a:t>
            </a:r>
            <a:endParaRPr lang="en-IN" dirty="0"/>
          </a:p>
          <a:p>
            <a:endParaRPr lang="en-IN" dirty="0"/>
          </a:p>
        </p:txBody>
      </p:sp>
    </p:spTree>
    <p:extLst>
      <p:ext uri="{BB962C8B-B14F-4D97-AF65-F5344CB8AC3E}">
        <p14:creationId xmlns:p14="http://schemas.microsoft.com/office/powerpoint/2010/main" val="345748097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980728"/>
            <a:ext cx="8219256" cy="5145435"/>
          </a:xfrm>
        </p:spPr>
        <p:txBody>
          <a:bodyPr>
            <a:normAutofit/>
          </a:bodyPr>
          <a:lstStyle/>
          <a:p>
            <a:pPr>
              <a:lnSpc>
                <a:spcPct val="90000"/>
              </a:lnSpc>
            </a:pPr>
            <a:r>
              <a:rPr lang="en-US" dirty="0" smtClean="0"/>
              <a:t>In linear probing, collisions are resolved by </a:t>
            </a:r>
            <a:r>
              <a:rPr lang="en-US" b="1" dirty="0" smtClean="0">
                <a:solidFill>
                  <a:srgbClr val="FF0000"/>
                </a:solidFill>
              </a:rPr>
              <a:t>sequentially scanning an array </a:t>
            </a:r>
            <a:r>
              <a:rPr lang="en-US" dirty="0" smtClean="0"/>
              <a:t>(with wrap around) </a:t>
            </a:r>
            <a:r>
              <a:rPr lang="en-US" b="1" dirty="0" smtClean="0">
                <a:solidFill>
                  <a:srgbClr val="FF0000"/>
                </a:solidFill>
              </a:rPr>
              <a:t>until an empty cell is found</a:t>
            </a:r>
            <a:r>
              <a:rPr lang="en-US" dirty="0" smtClean="0"/>
              <a:t>.</a:t>
            </a:r>
          </a:p>
          <a:p>
            <a:pPr lvl="1">
              <a:lnSpc>
                <a:spcPct val="90000"/>
              </a:lnSpc>
            </a:pPr>
            <a:r>
              <a:rPr lang="en-US" dirty="0" smtClean="0"/>
              <a:t>i.e.</a:t>
            </a:r>
            <a:r>
              <a:rPr lang="en-US" i="1" dirty="0" smtClean="0"/>
              <a:t> f</a:t>
            </a:r>
            <a:r>
              <a:rPr lang="en-US" dirty="0" smtClean="0"/>
              <a:t> is a linear function of </a:t>
            </a:r>
            <a:r>
              <a:rPr lang="en-US" i="1" dirty="0" smtClean="0"/>
              <a:t>i</a:t>
            </a:r>
            <a:r>
              <a:rPr lang="en-US" dirty="0" smtClean="0"/>
              <a:t>, typically </a:t>
            </a:r>
            <a:r>
              <a:rPr lang="en-US" i="1" dirty="0" smtClean="0"/>
              <a:t>f(i)= i</a:t>
            </a:r>
            <a:r>
              <a:rPr lang="en-US" dirty="0" smtClean="0"/>
              <a:t>.</a:t>
            </a:r>
          </a:p>
          <a:p>
            <a:pPr>
              <a:lnSpc>
                <a:spcPct val="90000"/>
              </a:lnSpc>
            </a:pPr>
            <a:r>
              <a:rPr lang="en-US" b="1" i="1" u="sng" dirty="0" smtClean="0"/>
              <a:t>Example: </a:t>
            </a:r>
          </a:p>
          <a:p>
            <a:pPr lvl="1">
              <a:lnSpc>
                <a:spcPct val="90000"/>
              </a:lnSpc>
            </a:pPr>
            <a:r>
              <a:rPr lang="en-US" dirty="0" smtClean="0"/>
              <a:t>Insert items with keys: 89, 18, 49, 58, 9 into an empty hash table. </a:t>
            </a:r>
          </a:p>
          <a:p>
            <a:pPr lvl="1">
              <a:lnSpc>
                <a:spcPct val="90000"/>
              </a:lnSpc>
            </a:pPr>
            <a:r>
              <a:rPr lang="en-US" dirty="0" smtClean="0"/>
              <a:t>Table size is 10. </a:t>
            </a:r>
          </a:p>
          <a:p>
            <a:pPr lvl="1">
              <a:lnSpc>
                <a:spcPct val="90000"/>
              </a:lnSpc>
            </a:pPr>
            <a:r>
              <a:rPr lang="en-US" b="1" dirty="0" smtClean="0"/>
              <a:t>Hash function is      hash(x) = x mod 10. </a:t>
            </a:r>
          </a:p>
          <a:p>
            <a:pPr lvl="2">
              <a:lnSpc>
                <a:spcPct val="90000"/>
              </a:lnSpc>
            </a:pPr>
            <a:r>
              <a:rPr lang="en-US" i="1" dirty="0" smtClean="0"/>
              <a:t>f(i) = i</a:t>
            </a:r>
            <a:r>
              <a:rPr lang="en-US" dirty="0" smtClean="0"/>
              <a:t>; </a:t>
            </a:r>
          </a:p>
          <a:p>
            <a:endParaRPr lang="en-IN" dirty="0"/>
          </a:p>
        </p:txBody>
      </p:sp>
    </p:spTree>
    <p:extLst>
      <p:ext uri="{BB962C8B-B14F-4D97-AF65-F5344CB8AC3E}">
        <p14:creationId xmlns:p14="http://schemas.microsoft.com/office/powerpoint/2010/main" val="398465709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197380"/>
            <a:ext cx="8064896" cy="5928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312595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IN" dirty="0"/>
              <a:t>Lookups are performed in the same way, by </a:t>
            </a:r>
            <a:r>
              <a:rPr lang="en-IN" b="1" dirty="0">
                <a:solidFill>
                  <a:srgbClr val="FF0000"/>
                </a:solidFill>
              </a:rPr>
              <a:t>searching the table sequentially starting at the position given by the hash </a:t>
            </a:r>
            <a:r>
              <a:rPr lang="en-IN" b="1" dirty="0" smtClean="0">
                <a:solidFill>
                  <a:srgbClr val="FF0000"/>
                </a:solidFill>
              </a:rPr>
              <a:t>function           ( h(x</a:t>
            </a:r>
            <a:r>
              <a:rPr lang="en-IN" b="1" dirty="0">
                <a:solidFill>
                  <a:srgbClr val="FF0000"/>
                </a:solidFill>
              </a:rPr>
              <a:t>) mod </a:t>
            </a:r>
            <a:r>
              <a:rPr lang="en-IN" b="1" dirty="0" smtClean="0">
                <a:solidFill>
                  <a:srgbClr val="FF0000"/>
                </a:solidFill>
              </a:rPr>
              <a:t>size )</a:t>
            </a:r>
            <a:r>
              <a:rPr lang="en-IN" dirty="0" smtClean="0"/>
              <a:t>, </a:t>
            </a:r>
            <a:r>
              <a:rPr lang="en-IN" dirty="0"/>
              <a:t>until finding a cell with a </a:t>
            </a:r>
            <a:r>
              <a:rPr lang="en-IN" b="1" dirty="0">
                <a:solidFill>
                  <a:srgbClr val="FF0000"/>
                </a:solidFill>
              </a:rPr>
              <a:t>matching key or an empty cell</a:t>
            </a:r>
            <a:r>
              <a:rPr lang="en-IN" b="1" dirty="0"/>
              <a:t>.</a:t>
            </a:r>
          </a:p>
          <a:p>
            <a:endParaRPr lang="en-IN" dirty="0"/>
          </a:p>
        </p:txBody>
      </p:sp>
    </p:spTree>
    <p:extLst>
      <p:ext uri="{BB962C8B-B14F-4D97-AF65-F5344CB8AC3E}">
        <p14:creationId xmlns:p14="http://schemas.microsoft.com/office/powerpoint/2010/main" val="7749876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830997"/>
            <a:ext cx="7848872" cy="5927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99592" y="0"/>
            <a:ext cx="7848872" cy="830997"/>
          </a:xfrm>
          <a:prstGeom prst="rect">
            <a:avLst/>
          </a:prstGeom>
          <a:noFill/>
        </p:spPr>
        <p:txBody>
          <a:bodyPr wrap="square" rtlCol="0">
            <a:spAutoFit/>
          </a:bodyPr>
          <a:lstStyle/>
          <a:p>
            <a:r>
              <a:rPr lang="en-US" sz="2400" dirty="0"/>
              <a:t>Let us consider a simple hash function as “key mod 7” and a sequence of keys as 50, 700, 76, 85, 92, 73, 101. </a:t>
            </a:r>
            <a:endParaRPr lang="en-IN" sz="2400" dirty="0"/>
          </a:p>
        </p:txBody>
      </p:sp>
    </p:spTree>
    <p:extLst>
      <p:ext uri="{BB962C8B-B14F-4D97-AF65-F5344CB8AC3E}">
        <p14:creationId xmlns:p14="http://schemas.microsoft.com/office/powerpoint/2010/main" val="252572717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228600" y="1524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solidFill>
                  <a:srgbClr val="CC0000"/>
                </a:solidFill>
              </a:rPr>
              <a:t>Drawbacks:</a:t>
            </a:r>
          </a:p>
        </p:txBody>
      </p:sp>
      <p:sp>
        <p:nvSpPr>
          <p:cNvPr id="5123" name="Text Box 3"/>
          <p:cNvSpPr txBox="1">
            <a:spLocks noChangeArrowheads="1"/>
          </p:cNvSpPr>
          <p:nvPr/>
        </p:nvSpPr>
        <p:spPr bwMode="auto">
          <a:xfrm>
            <a:off x="238512" y="764704"/>
            <a:ext cx="8725976"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IN" sz="2400" dirty="0"/>
              <a:t>Clustering of element in particular location .The time taken to check will be more.</a:t>
            </a:r>
          </a:p>
          <a:p>
            <a:pPr algn="just" eaLnBrk="1" hangingPunct="1">
              <a:spcBef>
                <a:spcPct val="50000"/>
              </a:spcBef>
              <a:buFont typeface="Wingdings" pitchFamily="2" charset="2"/>
              <a:buChar char="Ø"/>
            </a:pPr>
            <a:r>
              <a:rPr lang="en-US" sz="2400" dirty="0" smtClean="0"/>
              <a:t> Encounter </a:t>
            </a:r>
            <a:r>
              <a:rPr lang="en-US" sz="2400" b="1" dirty="0">
                <a:solidFill>
                  <a:srgbClr val="FF0000"/>
                </a:solidFill>
              </a:rPr>
              <a:t>Primary Clustering</a:t>
            </a:r>
            <a:r>
              <a:rPr lang="en-US" sz="2400" dirty="0"/>
              <a:t> { blocks of contiguously occupied table entries</a:t>
            </a:r>
            <a:r>
              <a:rPr lang="en-US" sz="2400" dirty="0" smtClean="0"/>
              <a:t>}</a:t>
            </a:r>
          </a:p>
          <a:p>
            <a:pPr algn="just" eaLnBrk="1" hangingPunct="1">
              <a:spcBef>
                <a:spcPct val="50000"/>
              </a:spcBef>
              <a:buFont typeface="Wingdings" pitchFamily="2" charset="2"/>
              <a:buChar char="Ø"/>
            </a:pPr>
            <a:r>
              <a:rPr lang="en-US" sz="2400" dirty="0" smtClean="0">
                <a:solidFill>
                  <a:srgbClr val="FF00FF"/>
                </a:solidFill>
              </a:rPr>
              <a:t>Many </a:t>
            </a:r>
            <a:r>
              <a:rPr lang="en-US" sz="2400" dirty="0">
                <a:solidFill>
                  <a:srgbClr val="FF00FF"/>
                </a:solidFill>
              </a:rPr>
              <a:t>consecutive elements form groups and it starts taking time to find a free slot or to search for an element</a:t>
            </a:r>
            <a:r>
              <a:rPr lang="en-US" sz="2400" dirty="0"/>
              <a:t>.</a:t>
            </a:r>
            <a:endParaRPr lang="en-US" sz="2400" dirty="0" smtClean="0"/>
          </a:p>
          <a:p>
            <a:pPr algn="just" eaLnBrk="1" hangingPunct="1">
              <a:spcBef>
                <a:spcPct val="50000"/>
              </a:spcBef>
              <a:buFont typeface="Wingdings" pitchFamily="2" charset="2"/>
              <a:buChar char="Ø"/>
            </a:pPr>
            <a:r>
              <a:rPr lang="en-US" sz="2400" dirty="0"/>
              <a:t>If h ( k ) falls in Cluster , Cluster will </a:t>
            </a:r>
            <a:r>
              <a:rPr lang="en-US" sz="2400" b="1" dirty="0" smtClean="0"/>
              <a:t>definitely </a:t>
            </a:r>
            <a:r>
              <a:rPr lang="en-US" sz="2400" b="1" dirty="0"/>
              <a:t>grow in size by </a:t>
            </a:r>
            <a:r>
              <a:rPr lang="en-US" sz="2400" b="1" dirty="0" smtClean="0"/>
              <a:t>one</a:t>
            </a:r>
          </a:p>
          <a:p>
            <a:pPr algn="just" eaLnBrk="1" hangingPunct="1">
              <a:spcBef>
                <a:spcPct val="50000"/>
              </a:spcBef>
              <a:buFont typeface="Wingdings" pitchFamily="2" charset="2"/>
              <a:buChar char="Ø"/>
            </a:pPr>
            <a:r>
              <a:rPr lang="en-US" sz="2400" dirty="0"/>
              <a:t>If </a:t>
            </a:r>
            <a:r>
              <a:rPr lang="en-US" sz="2400" b="1" dirty="0"/>
              <a:t>two Cluster</a:t>
            </a:r>
            <a:r>
              <a:rPr lang="en-US" sz="2400" dirty="0"/>
              <a:t> separated by one entry, inserting one key into cluster can merge two cluster, So cluster size increase drastically by single </a:t>
            </a:r>
            <a:r>
              <a:rPr lang="en-US" sz="2400" dirty="0" smtClean="0"/>
              <a:t>insertion</a:t>
            </a:r>
          </a:p>
          <a:p>
            <a:pPr algn="just" eaLnBrk="1" hangingPunct="1">
              <a:spcBef>
                <a:spcPct val="50000"/>
              </a:spcBef>
              <a:buFont typeface="Wingdings" pitchFamily="2" charset="2"/>
              <a:buChar char="Ø"/>
            </a:pPr>
            <a:r>
              <a:rPr lang="en-US" sz="2400" dirty="0"/>
              <a:t>Large Cluster are easy </a:t>
            </a:r>
            <a:r>
              <a:rPr lang="en-US" sz="2400" b="1" dirty="0"/>
              <a:t>targets for </a:t>
            </a:r>
            <a:r>
              <a:rPr lang="en-US" sz="2400" b="1" dirty="0" smtClean="0"/>
              <a:t>Collision</a:t>
            </a:r>
            <a:endParaRPr lang="en-US" sz="2400" dirty="0"/>
          </a:p>
        </p:txBody>
      </p:sp>
    </p:spTree>
    <p:extLst>
      <p:ext uri="{BB962C8B-B14F-4D97-AF65-F5344CB8AC3E}">
        <p14:creationId xmlns:p14="http://schemas.microsoft.com/office/powerpoint/2010/main" val="17219316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3"/>
                                        </p:tgtEl>
                                        <p:attrNameLst>
                                          <p:attrName>style.visibility</p:attrName>
                                        </p:attrNameLst>
                                      </p:cBhvr>
                                      <p:to>
                                        <p:strVal val="visible"/>
                                      </p:to>
                                    </p:set>
                                    <p:anim calcmode="lin" valueType="num">
                                      <p:cBhvr additive="base">
                                        <p:cTn id="13" dur="500" fill="hold"/>
                                        <p:tgtEl>
                                          <p:spTgt spid="5123"/>
                                        </p:tgtEl>
                                        <p:attrNameLst>
                                          <p:attrName>ppt_x</p:attrName>
                                        </p:attrNameLst>
                                      </p:cBhvr>
                                      <p:tavLst>
                                        <p:tav tm="0">
                                          <p:val>
                                            <p:strVal val="#ppt_x"/>
                                          </p:val>
                                        </p:tav>
                                        <p:tav tm="100000">
                                          <p:val>
                                            <p:strVal val="#ppt_x"/>
                                          </p:val>
                                        </p:tav>
                                      </p:tavLst>
                                    </p:anim>
                                    <p:anim calcmode="lin" valueType="num">
                                      <p:cBhvr additive="base">
                                        <p:cTn id="14"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435280" cy="5793507"/>
          </a:xfrm>
        </p:spPr>
        <p:txBody>
          <a:bodyPr>
            <a:normAutofit/>
          </a:bodyPr>
          <a:lstStyle/>
          <a:p>
            <a:pPr marL="0" indent="0">
              <a:buNone/>
            </a:pPr>
            <a:r>
              <a:rPr lang="en-IN" b="1" dirty="0" smtClean="0"/>
              <a:t>Drawbacks….</a:t>
            </a:r>
            <a:endParaRPr lang="en-IN" b="1" dirty="0"/>
          </a:p>
          <a:p>
            <a:r>
              <a:rPr lang="en-US" dirty="0" smtClean="0"/>
              <a:t>As long as table is big enough, a free cell can always be found, but the time to do so can get quite large.</a:t>
            </a:r>
          </a:p>
          <a:p>
            <a:r>
              <a:rPr lang="en-US" dirty="0" smtClean="0"/>
              <a:t>Any key that hashes into the cluster </a:t>
            </a:r>
            <a:r>
              <a:rPr lang="en-US" dirty="0" smtClean="0">
                <a:solidFill>
                  <a:srgbClr val="FF0000"/>
                </a:solidFill>
              </a:rPr>
              <a:t>will require several attempts to resolve the collision</a:t>
            </a:r>
            <a:r>
              <a:rPr lang="en-US" dirty="0" smtClean="0"/>
              <a:t>, and then it will add to the cluster</a:t>
            </a:r>
            <a:endParaRPr lang="en-IN" dirty="0"/>
          </a:p>
          <a:p>
            <a:r>
              <a:rPr lang="en-IN" dirty="0"/>
              <a:t>So to avoid this we go for </a:t>
            </a:r>
            <a:r>
              <a:rPr lang="en-IN" b="1" dirty="0">
                <a:solidFill>
                  <a:srgbClr val="FF0000"/>
                </a:solidFill>
              </a:rPr>
              <a:t>quadrating probing</a:t>
            </a:r>
          </a:p>
          <a:p>
            <a:pPr marL="0" indent="0">
              <a:buNone/>
            </a:pPr>
            <a:r>
              <a:rPr lang="en-IN" dirty="0"/>
              <a:t> </a:t>
            </a:r>
          </a:p>
          <a:p>
            <a:endParaRPr lang="en-IN" dirty="0"/>
          </a:p>
        </p:txBody>
      </p:sp>
    </p:spTree>
    <p:extLst>
      <p:ext uri="{BB962C8B-B14F-4D97-AF65-F5344CB8AC3E}">
        <p14:creationId xmlns:p14="http://schemas.microsoft.com/office/powerpoint/2010/main" val="308647602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EC49048E-28DB-40F1-9ADD-9FEAF49644DD}" type="slidenum">
              <a:rPr lang="en-US" sz="1400"/>
              <a:pPr eaLnBrk="1" hangingPunct="1"/>
              <a:t>62</a:t>
            </a:fld>
            <a:endParaRPr lang="en-US" sz="1400"/>
          </a:p>
        </p:txBody>
      </p:sp>
      <p:sp>
        <p:nvSpPr>
          <p:cNvPr id="27651" name="Rectangle 2"/>
          <p:cNvSpPr>
            <a:spLocks noGrp="1" noChangeArrowheads="1"/>
          </p:cNvSpPr>
          <p:nvPr>
            <p:ph type="title"/>
          </p:nvPr>
        </p:nvSpPr>
        <p:spPr/>
        <p:txBody>
          <a:bodyPr/>
          <a:lstStyle/>
          <a:p>
            <a:pPr eaLnBrk="1" hangingPunct="1"/>
            <a:r>
              <a:rPr lang="en-US" dirty="0" smtClean="0">
                <a:solidFill>
                  <a:srgbClr val="FF00FF"/>
                </a:solidFill>
              </a:rPr>
              <a:t>Load Factor in Linear Probing</a:t>
            </a:r>
          </a:p>
        </p:txBody>
      </p:sp>
      <p:sp>
        <p:nvSpPr>
          <p:cNvPr id="27652" name="Rectangle 3"/>
          <p:cNvSpPr>
            <a:spLocks noGrp="1" noChangeArrowheads="1"/>
          </p:cNvSpPr>
          <p:nvPr>
            <p:ph type="body" idx="1"/>
          </p:nvPr>
        </p:nvSpPr>
        <p:spPr>
          <a:xfrm>
            <a:off x="533400" y="1828800"/>
            <a:ext cx="8153400" cy="4648200"/>
          </a:xfrm>
        </p:spPr>
        <p:txBody>
          <a:bodyPr/>
          <a:lstStyle/>
          <a:p>
            <a:pPr eaLnBrk="1" hangingPunct="1">
              <a:lnSpc>
                <a:spcPct val="90000"/>
              </a:lnSpc>
            </a:pPr>
            <a:r>
              <a:rPr lang="en-US" sz="2800" smtClean="0"/>
              <a:t>For </a:t>
            </a:r>
            <a:r>
              <a:rPr lang="en-US" sz="2800" i="1" smtClean="0"/>
              <a:t>any</a:t>
            </a:r>
            <a:r>
              <a:rPr lang="en-US" sz="2800" smtClean="0"/>
              <a:t> </a:t>
            </a:r>
            <a:r>
              <a:rPr lang="en-US" sz="2800" smtClean="0">
                <a:sym typeface="Symbol" pitchFamily="18" charset="2"/>
              </a:rPr>
              <a:t> &lt; 1, linear probing will find an empty slot</a:t>
            </a:r>
          </a:p>
          <a:p>
            <a:pPr eaLnBrk="1" hangingPunct="1">
              <a:lnSpc>
                <a:spcPct val="90000"/>
              </a:lnSpc>
            </a:pPr>
            <a:r>
              <a:rPr lang="en-US" sz="2800" smtClean="0">
                <a:sym typeface="Symbol" pitchFamily="18" charset="2"/>
              </a:rPr>
              <a:t>Search cost (assuming simple uniform hashing)</a:t>
            </a:r>
          </a:p>
          <a:p>
            <a:pPr lvl="1" eaLnBrk="1" hangingPunct="1">
              <a:lnSpc>
                <a:spcPct val="90000"/>
              </a:lnSpc>
            </a:pPr>
            <a:r>
              <a:rPr lang="en-US" sz="2400" smtClean="0">
                <a:sym typeface="Symbol" pitchFamily="18" charset="2"/>
              </a:rPr>
              <a:t>successful search:</a:t>
            </a:r>
          </a:p>
          <a:p>
            <a:pPr lvl="1" eaLnBrk="1" hangingPunct="1">
              <a:lnSpc>
                <a:spcPct val="90000"/>
              </a:lnSpc>
            </a:pPr>
            <a:endParaRPr lang="en-US" sz="2400" smtClean="0"/>
          </a:p>
          <a:p>
            <a:pPr lvl="1" eaLnBrk="1" hangingPunct="1">
              <a:lnSpc>
                <a:spcPct val="90000"/>
              </a:lnSpc>
            </a:pPr>
            <a:endParaRPr lang="en-US" sz="2400" smtClean="0"/>
          </a:p>
          <a:p>
            <a:pPr lvl="1" eaLnBrk="1" hangingPunct="1">
              <a:lnSpc>
                <a:spcPct val="90000"/>
              </a:lnSpc>
            </a:pPr>
            <a:r>
              <a:rPr lang="en-US" sz="2400" smtClean="0"/>
              <a:t>unsuccessful search:</a:t>
            </a:r>
          </a:p>
          <a:p>
            <a:pPr lvl="1" eaLnBrk="1" hangingPunct="1">
              <a:lnSpc>
                <a:spcPct val="90000"/>
              </a:lnSpc>
            </a:pPr>
            <a:endParaRPr lang="en-US" sz="2400" smtClean="0"/>
          </a:p>
          <a:p>
            <a:pPr lvl="1" eaLnBrk="1" hangingPunct="1">
              <a:lnSpc>
                <a:spcPct val="90000"/>
              </a:lnSpc>
            </a:pPr>
            <a:endParaRPr lang="en-US" sz="2400" smtClean="0"/>
          </a:p>
          <a:p>
            <a:pPr eaLnBrk="1" hangingPunct="1">
              <a:lnSpc>
                <a:spcPct val="90000"/>
              </a:lnSpc>
            </a:pPr>
            <a:endParaRPr lang="en-US" sz="2800" smtClean="0"/>
          </a:p>
          <a:p>
            <a:pPr eaLnBrk="1" hangingPunct="1">
              <a:lnSpc>
                <a:spcPct val="90000"/>
              </a:lnSpc>
            </a:pPr>
            <a:r>
              <a:rPr lang="en-US" sz="2800" smtClean="0"/>
              <a:t>Performance quickly degrades for </a:t>
            </a:r>
            <a:r>
              <a:rPr lang="en-US" sz="2800" smtClean="0">
                <a:sym typeface="Symbol" pitchFamily="18" charset="2"/>
              </a:rPr>
              <a:t> &gt; 1/2</a:t>
            </a:r>
          </a:p>
        </p:txBody>
      </p:sp>
      <p:graphicFrame>
        <p:nvGraphicFramePr>
          <p:cNvPr id="27653" name="Object 4"/>
          <p:cNvGraphicFramePr>
            <a:graphicFrameLocks noChangeAspect="1"/>
          </p:cNvGraphicFramePr>
          <p:nvPr/>
        </p:nvGraphicFramePr>
        <p:xfrm>
          <a:off x="4114800" y="4267200"/>
          <a:ext cx="2159000" cy="1076325"/>
        </p:xfrm>
        <a:graphic>
          <a:graphicData uri="http://schemas.openxmlformats.org/presentationml/2006/ole">
            <mc:AlternateContent xmlns:mc="http://schemas.openxmlformats.org/markup-compatibility/2006">
              <mc:Choice xmlns:v="urn:schemas-microsoft-com:vml" Requires="v">
                <p:oleObj spid="_x0000_s1174" name="Equation" r:id="rId4" imgW="965200" imgH="482600" progId="Equation.3">
                  <p:embed/>
                </p:oleObj>
              </mc:Choice>
              <mc:Fallback>
                <p:oleObj name="Equation" r:id="rId4" imgW="965200" imgH="482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4267200"/>
                        <a:ext cx="2159000" cy="1076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4" name="Object 5"/>
          <p:cNvGraphicFramePr>
            <a:graphicFrameLocks noChangeAspect="1"/>
          </p:cNvGraphicFramePr>
          <p:nvPr/>
        </p:nvGraphicFramePr>
        <p:xfrm>
          <a:off x="3810000" y="2971800"/>
          <a:ext cx="2016125" cy="1022350"/>
        </p:xfrm>
        <a:graphic>
          <a:graphicData uri="http://schemas.openxmlformats.org/presentationml/2006/ole">
            <mc:AlternateContent xmlns:mc="http://schemas.openxmlformats.org/markup-compatibility/2006">
              <mc:Choice xmlns:v="urn:schemas-microsoft-com:vml" Requires="v">
                <p:oleObj spid="_x0000_s1175" name="Equation" r:id="rId6" imgW="901700" imgH="457200" progId="Equation.3">
                  <p:embed/>
                </p:oleObj>
              </mc:Choice>
              <mc:Fallback>
                <p:oleObj name="Equation" r:id="rId6" imgW="9017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2971800"/>
                        <a:ext cx="2016125"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853016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E270878-2B31-4FDB-97BD-F5722D126005}" type="slidenum">
              <a:rPr lang="en-US"/>
              <a:pPr/>
              <a:t>63</a:t>
            </a:fld>
            <a:endParaRPr lang="en-US"/>
          </a:p>
        </p:txBody>
      </p:sp>
      <p:sp>
        <p:nvSpPr>
          <p:cNvPr id="175106" name="Rectangle 2"/>
          <p:cNvSpPr>
            <a:spLocks noGrp="1" noChangeArrowheads="1"/>
          </p:cNvSpPr>
          <p:nvPr>
            <p:ph type="title"/>
          </p:nvPr>
        </p:nvSpPr>
        <p:spPr>
          <a:xfrm>
            <a:off x="251520" y="188640"/>
            <a:ext cx="8686800" cy="1085850"/>
          </a:xfrm>
        </p:spPr>
        <p:txBody>
          <a:bodyPr>
            <a:normAutofit fontScale="90000"/>
          </a:bodyPr>
          <a:lstStyle/>
          <a:p>
            <a:r>
              <a:rPr lang="en-IN" b="1" dirty="0">
                <a:solidFill>
                  <a:srgbClr val="FF00FF"/>
                </a:solidFill>
              </a:rPr>
              <a:t>Closed Hashing </a:t>
            </a:r>
            <a:r>
              <a:rPr lang="en-IN" b="1" dirty="0" smtClean="0">
                <a:solidFill>
                  <a:srgbClr val="FF00FF"/>
                </a:solidFill>
              </a:rPr>
              <a:t>II :</a:t>
            </a:r>
            <a:r>
              <a:rPr lang="en-US" b="1" dirty="0" smtClean="0">
                <a:solidFill>
                  <a:srgbClr val="FF00FF"/>
                </a:solidFill>
              </a:rPr>
              <a:t> </a:t>
            </a:r>
            <a:r>
              <a:rPr lang="en-US" b="1" dirty="0">
                <a:solidFill>
                  <a:srgbClr val="FF00FF"/>
                </a:solidFill>
              </a:rPr>
              <a:t>Quadratic Probing</a:t>
            </a:r>
          </a:p>
        </p:txBody>
      </p:sp>
      <p:sp>
        <p:nvSpPr>
          <p:cNvPr id="175107" name="Rectangle 3"/>
          <p:cNvSpPr>
            <a:spLocks noGrp="1" noChangeArrowheads="1"/>
          </p:cNvSpPr>
          <p:nvPr>
            <p:ph type="body" idx="1"/>
          </p:nvPr>
        </p:nvSpPr>
        <p:spPr>
          <a:xfrm>
            <a:off x="533400" y="1268760"/>
            <a:ext cx="8382000" cy="4979640"/>
          </a:xfrm>
        </p:spPr>
        <p:txBody>
          <a:bodyPr>
            <a:normAutofit fontScale="92500" lnSpcReduction="10000"/>
          </a:bodyPr>
          <a:lstStyle/>
          <a:p>
            <a:pPr marL="0" indent="0">
              <a:buNone/>
            </a:pPr>
            <a:r>
              <a:rPr lang="en-IN" sz="2800" dirty="0"/>
              <a:t> </a:t>
            </a:r>
          </a:p>
          <a:p>
            <a:r>
              <a:rPr lang="en-IN" sz="2800" b="1" dirty="0" smtClean="0"/>
              <a:t>h(x</a:t>
            </a:r>
            <a:r>
              <a:rPr lang="en-IN" sz="2800" b="1" dirty="0"/>
              <a:t>) =[ h(x) +f(</a:t>
            </a:r>
            <a:r>
              <a:rPr lang="en-IN" sz="2800" b="1" dirty="0" err="1"/>
              <a:t>i</a:t>
            </a:r>
            <a:r>
              <a:rPr lang="en-IN" sz="2800" b="1" dirty="0"/>
              <a:t>)] mod size</a:t>
            </a:r>
            <a:endParaRPr lang="en-IN" sz="2800" dirty="0"/>
          </a:p>
          <a:p>
            <a:pPr marL="0" indent="0">
              <a:buNone/>
            </a:pPr>
            <a:r>
              <a:rPr lang="en-IN" sz="2800" b="1" dirty="0"/>
              <a:t>      </a:t>
            </a:r>
            <a:r>
              <a:rPr lang="en-IN" sz="2800" b="1" dirty="0">
                <a:solidFill>
                  <a:srgbClr val="FF0000"/>
                </a:solidFill>
              </a:rPr>
              <a:t>where f[</a:t>
            </a:r>
            <a:r>
              <a:rPr lang="en-IN" sz="2800" b="1" dirty="0" err="1">
                <a:solidFill>
                  <a:srgbClr val="FF0000"/>
                </a:solidFill>
              </a:rPr>
              <a:t>i</a:t>
            </a:r>
            <a:r>
              <a:rPr lang="en-IN" sz="2800" b="1" dirty="0">
                <a:solidFill>
                  <a:srgbClr val="FF0000"/>
                </a:solidFill>
              </a:rPr>
              <a:t>)= i^2, </a:t>
            </a:r>
            <a:r>
              <a:rPr lang="en-IN" sz="2800" b="1" dirty="0"/>
              <a:t>where </a:t>
            </a:r>
            <a:r>
              <a:rPr lang="en-IN" sz="2800" b="1" dirty="0" err="1"/>
              <a:t>i</a:t>
            </a:r>
            <a:r>
              <a:rPr lang="en-IN" sz="2800" b="1" dirty="0"/>
              <a:t> =0,1,2,3,…</a:t>
            </a:r>
            <a:endParaRPr lang="en-IN" sz="2800" dirty="0"/>
          </a:p>
          <a:p>
            <a:pPr marL="0" indent="0">
              <a:buNone/>
            </a:pPr>
            <a:r>
              <a:rPr lang="en-IN" sz="2800" dirty="0"/>
              <a:t> </a:t>
            </a:r>
            <a:endParaRPr lang="en-IN" sz="2800" dirty="0" smtClean="0"/>
          </a:p>
          <a:p>
            <a:r>
              <a:rPr lang="en-US" sz="2800" dirty="0" smtClean="0"/>
              <a:t>Main Idea: Spread out the search for an empty slot – </a:t>
            </a:r>
            <a:br>
              <a:rPr lang="en-US" sz="2800" dirty="0" smtClean="0"/>
            </a:br>
            <a:r>
              <a:rPr lang="en-US" sz="2800" dirty="0" smtClean="0">
                <a:solidFill>
                  <a:srgbClr val="0000FF"/>
                </a:solidFill>
              </a:rPr>
              <a:t>Increment by i</a:t>
            </a:r>
            <a:r>
              <a:rPr lang="en-US" sz="2800" baseline="30000" dirty="0" smtClean="0">
                <a:solidFill>
                  <a:srgbClr val="0000FF"/>
                </a:solidFill>
              </a:rPr>
              <a:t>2</a:t>
            </a:r>
            <a:r>
              <a:rPr lang="en-US" sz="2800" dirty="0" smtClean="0">
                <a:solidFill>
                  <a:srgbClr val="0000FF"/>
                </a:solidFill>
              </a:rPr>
              <a:t> instead of </a:t>
            </a:r>
            <a:r>
              <a:rPr lang="en-US" sz="2800" dirty="0" err="1" smtClean="0">
                <a:solidFill>
                  <a:srgbClr val="0000FF"/>
                </a:solidFill>
              </a:rPr>
              <a:t>i</a:t>
            </a:r>
            <a:r>
              <a:rPr lang="en-US" sz="2800" dirty="0" smtClean="0">
                <a:solidFill>
                  <a:srgbClr val="0000FF"/>
                </a:solidFill>
              </a:rPr>
              <a:t> </a:t>
            </a:r>
          </a:p>
          <a:p>
            <a:r>
              <a:rPr lang="en-US" sz="3000" b="1" dirty="0" smtClean="0">
                <a:solidFill>
                  <a:srgbClr val="FF0000"/>
                </a:solidFill>
              </a:rPr>
              <a:t>h</a:t>
            </a:r>
            <a:r>
              <a:rPr lang="en-US" sz="3000" b="1" baseline="-25000" dirty="0" smtClean="0">
                <a:solidFill>
                  <a:srgbClr val="FF0000"/>
                </a:solidFill>
              </a:rPr>
              <a:t>i</a:t>
            </a:r>
            <a:r>
              <a:rPr lang="en-US" sz="3000" b="1" dirty="0" smtClean="0">
                <a:solidFill>
                  <a:srgbClr val="FF0000"/>
                </a:solidFill>
              </a:rPr>
              <a:t>(X</a:t>
            </a:r>
            <a:r>
              <a:rPr lang="en-US" sz="3000" b="1" dirty="0">
                <a:solidFill>
                  <a:srgbClr val="FF0000"/>
                </a:solidFill>
              </a:rPr>
              <a:t>) = (Hash(X) + i</a:t>
            </a:r>
            <a:r>
              <a:rPr lang="en-US" sz="3000" b="1" baseline="30000" dirty="0">
                <a:solidFill>
                  <a:srgbClr val="FF0000"/>
                </a:solidFill>
              </a:rPr>
              <a:t>2</a:t>
            </a:r>
            <a:r>
              <a:rPr lang="en-US" sz="3000" b="1" dirty="0">
                <a:solidFill>
                  <a:srgbClr val="FF0000"/>
                </a:solidFill>
              </a:rPr>
              <a:t>) % </a:t>
            </a:r>
            <a:r>
              <a:rPr lang="en-US" sz="3000" b="1" i="1" dirty="0" smtClean="0">
                <a:solidFill>
                  <a:srgbClr val="FF0000"/>
                </a:solidFill>
              </a:rPr>
              <a:t>Table Size  , i=0,1,2,3…</a:t>
            </a:r>
            <a:r>
              <a:rPr lang="en-US" sz="3000" i="1" dirty="0" smtClean="0">
                <a:solidFill>
                  <a:srgbClr val="0000FF"/>
                </a:solidFill>
              </a:rPr>
              <a:t>..,</a:t>
            </a:r>
            <a:endParaRPr lang="en-US" sz="3000" i="1" dirty="0">
              <a:solidFill>
                <a:srgbClr val="0000FF"/>
              </a:solidFill>
            </a:endParaRPr>
          </a:p>
          <a:p>
            <a:pPr lvl="1">
              <a:buFontTx/>
              <a:buNone/>
            </a:pPr>
            <a:r>
              <a:rPr lang="en-US" sz="2600" dirty="0"/>
              <a:t>h</a:t>
            </a:r>
            <a:r>
              <a:rPr lang="en-US" sz="2600" baseline="-25000" dirty="0"/>
              <a:t>0</a:t>
            </a:r>
            <a:r>
              <a:rPr lang="en-US" sz="2600" dirty="0"/>
              <a:t>(X) = Hash(X) % </a:t>
            </a:r>
            <a:r>
              <a:rPr lang="en-US" sz="2600" dirty="0" smtClean="0"/>
              <a:t>Table Size  </a:t>
            </a:r>
            <a:endParaRPr lang="en-US" sz="2600" dirty="0"/>
          </a:p>
          <a:p>
            <a:pPr lvl="1">
              <a:buFontTx/>
              <a:buNone/>
            </a:pPr>
            <a:r>
              <a:rPr lang="en-US" sz="2600" dirty="0"/>
              <a:t>h</a:t>
            </a:r>
            <a:r>
              <a:rPr lang="en-US" sz="2600" baseline="-25000" dirty="0"/>
              <a:t>1</a:t>
            </a:r>
            <a:r>
              <a:rPr lang="en-US" sz="2600" dirty="0"/>
              <a:t>(X) = </a:t>
            </a:r>
            <a:r>
              <a:rPr lang="en-US" sz="2600" dirty="0" smtClean="0"/>
              <a:t>[Hash(X</a:t>
            </a:r>
            <a:r>
              <a:rPr lang="en-US" sz="2600" dirty="0"/>
              <a:t>) + </a:t>
            </a:r>
            <a:r>
              <a:rPr lang="en-US" sz="2600" dirty="0" smtClean="0"/>
              <a:t>1] </a:t>
            </a:r>
            <a:r>
              <a:rPr lang="en-US" sz="2600" dirty="0"/>
              <a:t>% </a:t>
            </a:r>
            <a:r>
              <a:rPr lang="en-US" sz="2600" dirty="0" smtClean="0"/>
              <a:t>Table Size</a:t>
            </a:r>
            <a:endParaRPr lang="en-US" sz="2600" dirty="0"/>
          </a:p>
          <a:p>
            <a:pPr lvl="1">
              <a:buFontTx/>
              <a:buNone/>
            </a:pPr>
            <a:r>
              <a:rPr lang="en-US" sz="2600" dirty="0"/>
              <a:t>h</a:t>
            </a:r>
            <a:r>
              <a:rPr lang="en-US" sz="2600" baseline="-25000" dirty="0"/>
              <a:t>2</a:t>
            </a:r>
            <a:r>
              <a:rPr lang="en-US" sz="2600" dirty="0"/>
              <a:t>(X) = </a:t>
            </a:r>
            <a:r>
              <a:rPr lang="en-US" sz="2600" dirty="0" smtClean="0"/>
              <a:t>[Hash(X</a:t>
            </a:r>
            <a:r>
              <a:rPr lang="en-US" sz="2600" dirty="0"/>
              <a:t>) + </a:t>
            </a:r>
            <a:r>
              <a:rPr lang="en-US" sz="2600" dirty="0" smtClean="0"/>
              <a:t>4] </a:t>
            </a:r>
            <a:r>
              <a:rPr lang="en-US" sz="2600" dirty="0"/>
              <a:t>% </a:t>
            </a:r>
            <a:r>
              <a:rPr lang="en-US" sz="2600" dirty="0" smtClean="0"/>
              <a:t>Table Size</a:t>
            </a:r>
            <a:endParaRPr lang="en-US" sz="2600" dirty="0"/>
          </a:p>
          <a:p>
            <a:pPr lvl="1">
              <a:buFontTx/>
              <a:buNone/>
            </a:pPr>
            <a:r>
              <a:rPr lang="en-US" sz="2600" dirty="0"/>
              <a:t>h</a:t>
            </a:r>
            <a:r>
              <a:rPr lang="en-US" sz="2600" baseline="-25000" dirty="0"/>
              <a:t>3</a:t>
            </a:r>
            <a:r>
              <a:rPr lang="en-US" sz="2600" dirty="0"/>
              <a:t>(X) = </a:t>
            </a:r>
            <a:r>
              <a:rPr lang="en-US" sz="2600" dirty="0" smtClean="0"/>
              <a:t>[Hash(X</a:t>
            </a:r>
            <a:r>
              <a:rPr lang="en-US" sz="2600" dirty="0"/>
              <a:t>) + </a:t>
            </a:r>
            <a:r>
              <a:rPr lang="en-US" sz="2600" dirty="0" smtClean="0"/>
              <a:t>9] </a:t>
            </a:r>
            <a:r>
              <a:rPr lang="en-US" sz="2600" dirty="0"/>
              <a:t>% </a:t>
            </a:r>
            <a:r>
              <a:rPr lang="en-US" sz="2600" dirty="0" smtClean="0"/>
              <a:t>Table Size</a:t>
            </a:r>
            <a:endParaRPr lang="en-US" sz="2600" dirty="0"/>
          </a:p>
          <a:p>
            <a:endParaRPr lang="en-US" sz="2800" dirty="0"/>
          </a:p>
        </p:txBody>
      </p:sp>
    </p:spTree>
    <p:extLst>
      <p:ext uri="{BB962C8B-B14F-4D97-AF65-F5344CB8AC3E}">
        <p14:creationId xmlns:p14="http://schemas.microsoft.com/office/powerpoint/2010/main" val="2311029980"/>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5"/>
          <p:cNvSpPr>
            <a:spLocks noGrp="1"/>
          </p:cNvSpPr>
          <p:nvPr>
            <p:ph type="sldNum" sz="quarter" idx="12"/>
          </p:nvPr>
        </p:nvSpPr>
        <p:spPr/>
        <p:txBody>
          <a:bodyPr/>
          <a:lstStyle/>
          <a:p>
            <a:fld id="{804E7114-DAE7-429C-B9D2-6A64F129DEE2}" type="slidenum">
              <a:rPr lang="en-US"/>
              <a:pPr/>
              <a:t>64</a:t>
            </a:fld>
            <a:endParaRPr lang="en-US"/>
          </a:p>
        </p:txBody>
      </p:sp>
      <p:sp>
        <p:nvSpPr>
          <p:cNvPr id="176130" name="Rectangle 2"/>
          <p:cNvSpPr>
            <a:spLocks noGrp="1" noChangeArrowheads="1"/>
          </p:cNvSpPr>
          <p:nvPr>
            <p:ph type="title"/>
          </p:nvPr>
        </p:nvSpPr>
        <p:spPr>
          <a:xfrm>
            <a:off x="676300" y="188640"/>
            <a:ext cx="7486600" cy="531912"/>
          </a:xfrm>
        </p:spPr>
        <p:txBody>
          <a:bodyPr>
            <a:normAutofit fontScale="90000"/>
          </a:bodyPr>
          <a:lstStyle/>
          <a:p>
            <a:r>
              <a:rPr lang="en-US" sz="3600" dirty="0" smtClean="0"/>
              <a:t/>
            </a:r>
            <a:br>
              <a:rPr lang="en-US" sz="3600" dirty="0" smtClean="0"/>
            </a:br>
            <a:r>
              <a:rPr lang="en-US" sz="3600" dirty="0" smtClean="0"/>
              <a:t>Quadratic </a:t>
            </a:r>
            <a:r>
              <a:rPr lang="en-US" sz="3600" dirty="0"/>
              <a:t>Probing </a:t>
            </a:r>
            <a:r>
              <a:rPr lang="en-US" dirty="0" smtClean="0"/>
              <a:t/>
            </a:r>
            <a:br>
              <a:rPr lang="en-US" dirty="0" smtClean="0"/>
            </a:br>
            <a:r>
              <a:rPr lang="en-US" sz="2700" dirty="0" smtClean="0"/>
              <a:t>Example</a:t>
            </a:r>
            <a:r>
              <a:rPr lang="en-US" sz="2700" dirty="0"/>
              <a:t>:  insert </a:t>
            </a:r>
            <a:r>
              <a:rPr lang="en-US" sz="2700" dirty="0" smtClean="0"/>
              <a:t>14,8,21,2,7 </a:t>
            </a:r>
            <a:r>
              <a:rPr lang="en-US" sz="2700" dirty="0"/>
              <a:t>with size m=7</a:t>
            </a:r>
          </a:p>
        </p:txBody>
      </p:sp>
      <p:sp>
        <p:nvSpPr>
          <p:cNvPr id="176131" name="Text Box 3"/>
          <p:cNvSpPr txBox="1">
            <a:spLocks noChangeArrowheads="1"/>
          </p:cNvSpPr>
          <p:nvPr/>
        </p:nvSpPr>
        <p:spPr bwMode="auto">
          <a:xfrm>
            <a:off x="60325" y="6137275"/>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probes:</a:t>
            </a:r>
          </a:p>
        </p:txBody>
      </p:sp>
      <p:sp>
        <p:nvSpPr>
          <p:cNvPr id="176132" name="Rectangle 4"/>
          <p:cNvSpPr>
            <a:spLocks noChangeArrowheads="1"/>
          </p:cNvSpPr>
          <p:nvPr/>
        </p:nvSpPr>
        <p:spPr bwMode="auto">
          <a:xfrm>
            <a:off x="2152650" y="21685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6133" name="Rectangle 5"/>
          <p:cNvSpPr>
            <a:spLocks noChangeArrowheads="1"/>
          </p:cNvSpPr>
          <p:nvPr/>
        </p:nvSpPr>
        <p:spPr bwMode="auto">
          <a:xfrm>
            <a:off x="2152650" y="26892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4" name="Rectangle 6"/>
          <p:cNvSpPr>
            <a:spLocks noChangeArrowheads="1"/>
          </p:cNvSpPr>
          <p:nvPr/>
        </p:nvSpPr>
        <p:spPr bwMode="auto">
          <a:xfrm>
            <a:off x="2152650" y="32067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5" name="Rectangle 7"/>
          <p:cNvSpPr>
            <a:spLocks noChangeArrowheads="1"/>
          </p:cNvSpPr>
          <p:nvPr/>
        </p:nvSpPr>
        <p:spPr bwMode="auto">
          <a:xfrm>
            <a:off x="2152650" y="42545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6" name="Rectangle 8"/>
          <p:cNvSpPr>
            <a:spLocks noChangeArrowheads="1"/>
          </p:cNvSpPr>
          <p:nvPr/>
        </p:nvSpPr>
        <p:spPr bwMode="auto">
          <a:xfrm>
            <a:off x="2152650" y="47752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7" name="Rectangle 9"/>
          <p:cNvSpPr>
            <a:spLocks noChangeArrowheads="1"/>
          </p:cNvSpPr>
          <p:nvPr/>
        </p:nvSpPr>
        <p:spPr bwMode="auto">
          <a:xfrm>
            <a:off x="2152650" y="52943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6138" name="Rectangle 10"/>
          <p:cNvSpPr>
            <a:spLocks noChangeArrowheads="1"/>
          </p:cNvSpPr>
          <p:nvPr/>
        </p:nvSpPr>
        <p:spPr bwMode="auto">
          <a:xfrm>
            <a:off x="2152650" y="37338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39" name="Text Box 11"/>
          <p:cNvSpPr txBox="1">
            <a:spLocks noChangeArrowheads="1"/>
          </p:cNvSpPr>
          <p:nvPr/>
        </p:nvSpPr>
        <p:spPr bwMode="auto">
          <a:xfrm>
            <a:off x="1916113" y="3683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6140" name="Text Box 12"/>
          <p:cNvSpPr txBox="1">
            <a:spLocks noChangeArrowheads="1"/>
          </p:cNvSpPr>
          <p:nvPr/>
        </p:nvSpPr>
        <p:spPr bwMode="auto">
          <a:xfrm>
            <a:off x="1916113" y="31575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6141" name="Text Box 13"/>
          <p:cNvSpPr txBox="1">
            <a:spLocks noChangeArrowheads="1"/>
          </p:cNvSpPr>
          <p:nvPr/>
        </p:nvSpPr>
        <p:spPr bwMode="auto">
          <a:xfrm>
            <a:off x="1916113" y="2641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6142" name="Text Box 14"/>
          <p:cNvSpPr txBox="1">
            <a:spLocks noChangeArrowheads="1"/>
          </p:cNvSpPr>
          <p:nvPr/>
        </p:nvSpPr>
        <p:spPr bwMode="auto">
          <a:xfrm>
            <a:off x="1916113" y="212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6143" name="Text Box 15"/>
          <p:cNvSpPr txBox="1">
            <a:spLocks noChangeArrowheads="1"/>
          </p:cNvSpPr>
          <p:nvPr/>
        </p:nvSpPr>
        <p:spPr bwMode="auto">
          <a:xfrm>
            <a:off x="1909763" y="52339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6144" name="Text Box 16"/>
          <p:cNvSpPr txBox="1">
            <a:spLocks noChangeArrowheads="1"/>
          </p:cNvSpPr>
          <p:nvPr/>
        </p:nvSpPr>
        <p:spPr bwMode="auto">
          <a:xfrm>
            <a:off x="1909763" y="47164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6145" name="Text Box 17"/>
          <p:cNvSpPr txBox="1">
            <a:spLocks noChangeArrowheads="1"/>
          </p:cNvSpPr>
          <p:nvPr/>
        </p:nvSpPr>
        <p:spPr bwMode="auto">
          <a:xfrm>
            <a:off x="1909763" y="41989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6146" name="Text Box 18"/>
          <p:cNvSpPr txBox="1">
            <a:spLocks noChangeArrowheads="1"/>
          </p:cNvSpPr>
          <p:nvPr/>
        </p:nvSpPr>
        <p:spPr bwMode="auto">
          <a:xfrm>
            <a:off x="1711325" y="135890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14</a:t>
            </a:r>
            <a:r>
              <a:rPr lang="en-US" dirty="0"/>
              <a:t>)</a:t>
            </a:r>
          </a:p>
          <a:p>
            <a:pPr eaLnBrk="0" hangingPunct="0"/>
            <a:r>
              <a:rPr lang="en-US" sz="2000" dirty="0"/>
              <a:t>14%7 = 0</a:t>
            </a:r>
          </a:p>
        </p:txBody>
      </p:sp>
      <p:sp>
        <p:nvSpPr>
          <p:cNvPr id="176147" name="Text Box 19"/>
          <p:cNvSpPr txBox="1">
            <a:spLocks noChangeArrowheads="1"/>
          </p:cNvSpPr>
          <p:nvPr/>
        </p:nvSpPr>
        <p:spPr bwMode="auto">
          <a:xfrm>
            <a:off x="2257425" y="59309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6148" name="Rectangle 20"/>
          <p:cNvSpPr>
            <a:spLocks noChangeArrowheads="1"/>
          </p:cNvSpPr>
          <p:nvPr/>
        </p:nvSpPr>
        <p:spPr bwMode="auto">
          <a:xfrm>
            <a:off x="3565525" y="21685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6149" name="Rectangle 21"/>
          <p:cNvSpPr>
            <a:spLocks noChangeArrowheads="1"/>
          </p:cNvSpPr>
          <p:nvPr/>
        </p:nvSpPr>
        <p:spPr bwMode="auto">
          <a:xfrm>
            <a:off x="3565525" y="26892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6150" name="Rectangle 22"/>
          <p:cNvSpPr>
            <a:spLocks noChangeArrowheads="1"/>
          </p:cNvSpPr>
          <p:nvPr/>
        </p:nvSpPr>
        <p:spPr bwMode="auto">
          <a:xfrm>
            <a:off x="3565525" y="42545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51" name="Rectangle 23"/>
          <p:cNvSpPr>
            <a:spLocks noChangeArrowheads="1"/>
          </p:cNvSpPr>
          <p:nvPr/>
        </p:nvSpPr>
        <p:spPr bwMode="auto">
          <a:xfrm>
            <a:off x="3565525" y="47752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6152" name="Rectangle 24"/>
          <p:cNvSpPr>
            <a:spLocks noChangeArrowheads="1"/>
          </p:cNvSpPr>
          <p:nvPr/>
        </p:nvSpPr>
        <p:spPr bwMode="auto">
          <a:xfrm>
            <a:off x="3565525" y="52943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53" name="Rectangle 25"/>
          <p:cNvSpPr>
            <a:spLocks noChangeArrowheads="1"/>
          </p:cNvSpPr>
          <p:nvPr/>
        </p:nvSpPr>
        <p:spPr bwMode="auto">
          <a:xfrm>
            <a:off x="3565525" y="37338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54" name="Text Box 26"/>
          <p:cNvSpPr txBox="1">
            <a:spLocks noChangeArrowheads="1"/>
          </p:cNvSpPr>
          <p:nvPr/>
        </p:nvSpPr>
        <p:spPr bwMode="auto">
          <a:xfrm>
            <a:off x="3327400" y="3683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6155" name="Text Box 27"/>
          <p:cNvSpPr txBox="1">
            <a:spLocks noChangeArrowheads="1"/>
          </p:cNvSpPr>
          <p:nvPr/>
        </p:nvSpPr>
        <p:spPr bwMode="auto">
          <a:xfrm>
            <a:off x="3327400" y="31575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6156" name="Text Box 28"/>
          <p:cNvSpPr txBox="1">
            <a:spLocks noChangeArrowheads="1"/>
          </p:cNvSpPr>
          <p:nvPr/>
        </p:nvSpPr>
        <p:spPr bwMode="auto">
          <a:xfrm>
            <a:off x="3327400" y="2641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6157" name="Text Box 29"/>
          <p:cNvSpPr txBox="1">
            <a:spLocks noChangeArrowheads="1"/>
          </p:cNvSpPr>
          <p:nvPr/>
        </p:nvSpPr>
        <p:spPr bwMode="auto">
          <a:xfrm>
            <a:off x="3327400" y="212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6158" name="Text Box 30"/>
          <p:cNvSpPr txBox="1">
            <a:spLocks noChangeArrowheads="1"/>
          </p:cNvSpPr>
          <p:nvPr/>
        </p:nvSpPr>
        <p:spPr bwMode="auto">
          <a:xfrm>
            <a:off x="3321050" y="52339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6159" name="Text Box 31"/>
          <p:cNvSpPr txBox="1">
            <a:spLocks noChangeArrowheads="1"/>
          </p:cNvSpPr>
          <p:nvPr/>
        </p:nvSpPr>
        <p:spPr bwMode="auto">
          <a:xfrm>
            <a:off x="3321050" y="47164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6160" name="Text Box 32"/>
          <p:cNvSpPr txBox="1">
            <a:spLocks noChangeArrowheads="1"/>
          </p:cNvSpPr>
          <p:nvPr/>
        </p:nvSpPr>
        <p:spPr bwMode="auto">
          <a:xfrm>
            <a:off x="3321050" y="41989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6161" name="Text Box 33"/>
          <p:cNvSpPr txBox="1">
            <a:spLocks noChangeArrowheads="1"/>
          </p:cNvSpPr>
          <p:nvPr/>
        </p:nvSpPr>
        <p:spPr bwMode="auto">
          <a:xfrm>
            <a:off x="3203575" y="13589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8</a:t>
            </a:r>
            <a:r>
              <a:rPr lang="en-US"/>
              <a:t>)</a:t>
            </a:r>
          </a:p>
          <a:p>
            <a:pPr eaLnBrk="0" hangingPunct="0"/>
            <a:r>
              <a:rPr lang="en-US" sz="2000"/>
              <a:t>8%7 = 1</a:t>
            </a:r>
          </a:p>
        </p:txBody>
      </p:sp>
      <p:sp>
        <p:nvSpPr>
          <p:cNvPr id="176162" name="Text Box 34"/>
          <p:cNvSpPr txBox="1">
            <a:spLocks noChangeArrowheads="1"/>
          </p:cNvSpPr>
          <p:nvPr/>
        </p:nvSpPr>
        <p:spPr bwMode="auto">
          <a:xfrm>
            <a:off x="3668713" y="59309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6163" name="Rectangle 35"/>
          <p:cNvSpPr>
            <a:spLocks noChangeArrowheads="1"/>
          </p:cNvSpPr>
          <p:nvPr/>
        </p:nvSpPr>
        <p:spPr bwMode="auto">
          <a:xfrm>
            <a:off x="4983163" y="2168525"/>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6164" name="Rectangle 36"/>
          <p:cNvSpPr>
            <a:spLocks noChangeArrowheads="1"/>
          </p:cNvSpPr>
          <p:nvPr/>
        </p:nvSpPr>
        <p:spPr bwMode="auto">
          <a:xfrm>
            <a:off x="4983163" y="2689225"/>
            <a:ext cx="522287"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6165" name="Rectangle 37"/>
          <p:cNvSpPr>
            <a:spLocks noChangeArrowheads="1"/>
          </p:cNvSpPr>
          <p:nvPr/>
        </p:nvSpPr>
        <p:spPr bwMode="auto">
          <a:xfrm>
            <a:off x="4983163" y="3206750"/>
            <a:ext cx="522287"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66" name="Rectangle 38"/>
          <p:cNvSpPr>
            <a:spLocks noChangeArrowheads="1"/>
          </p:cNvSpPr>
          <p:nvPr/>
        </p:nvSpPr>
        <p:spPr bwMode="auto">
          <a:xfrm>
            <a:off x="4983163" y="425450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6167" name="Rectangle 39"/>
          <p:cNvSpPr>
            <a:spLocks noChangeArrowheads="1"/>
          </p:cNvSpPr>
          <p:nvPr/>
        </p:nvSpPr>
        <p:spPr bwMode="auto">
          <a:xfrm>
            <a:off x="4983163" y="5294313"/>
            <a:ext cx="522287"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68" name="Rectangle 40"/>
          <p:cNvSpPr>
            <a:spLocks noChangeArrowheads="1"/>
          </p:cNvSpPr>
          <p:nvPr/>
        </p:nvSpPr>
        <p:spPr bwMode="auto">
          <a:xfrm>
            <a:off x="4983163" y="373380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69" name="Text Box 41"/>
          <p:cNvSpPr txBox="1">
            <a:spLocks noChangeArrowheads="1"/>
          </p:cNvSpPr>
          <p:nvPr/>
        </p:nvSpPr>
        <p:spPr bwMode="auto">
          <a:xfrm>
            <a:off x="4746625" y="3683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6170" name="Text Box 42"/>
          <p:cNvSpPr txBox="1">
            <a:spLocks noChangeArrowheads="1"/>
          </p:cNvSpPr>
          <p:nvPr/>
        </p:nvSpPr>
        <p:spPr bwMode="auto">
          <a:xfrm>
            <a:off x="4746625" y="31575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6171" name="Text Box 43"/>
          <p:cNvSpPr txBox="1">
            <a:spLocks noChangeArrowheads="1"/>
          </p:cNvSpPr>
          <p:nvPr/>
        </p:nvSpPr>
        <p:spPr bwMode="auto">
          <a:xfrm>
            <a:off x="4746625" y="2641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6172" name="Text Box 44"/>
          <p:cNvSpPr txBox="1">
            <a:spLocks noChangeArrowheads="1"/>
          </p:cNvSpPr>
          <p:nvPr/>
        </p:nvSpPr>
        <p:spPr bwMode="auto">
          <a:xfrm>
            <a:off x="4746625" y="212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6173" name="Text Box 45"/>
          <p:cNvSpPr txBox="1">
            <a:spLocks noChangeArrowheads="1"/>
          </p:cNvSpPr>
          <p:nvPr/>
        </p:nvSpPr>
        <p:spPr bwMode="auto">
          <a:xfrm>
            <a:off x="4740275" y="52339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6174" name="Text Box 46"/>
          <p:cNvSpPr txBox="1">
            <a:spLocks noChangeArrowheads="1"/>
          </p:cNvSpPr>
          <p:nvPr/>
        </p:nvSpPr>
        <p:spPr bwMode="auto">
          <a:xfrm>
            <a:off x="4740275" y="47164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6175" name="Text Box 47"/>
          <p:cNvSpPr txBox="1">
            <a:spLocks noChangeArrowheads="1"/>
          </p:cNvSpPr>
          <p:nvPr/>
        </p:nvSpPr>
        <p:spPr bwMode="auto">
          <a:xfrm>
            <a:off x="4740275" y="41989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6176" name="Text Box 48"/>
          <p:cNvSpPr txBox="1">
            <a:spLocks noChangeArrowheads="1"/>
          </p:cNvSpPr>
          <p:nvPr/>
        </p:nvSpPr>
        <p:spPr bwMode="auto">
          <a:xfrm>
            <a:off x="4545013" y="135890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21</a:t>
            </a:r>
            <a:r>
              <a:rPr lang="en-US"/>
              <a:t>)</a:t>
            </a:r>
          </a:p>
          <a:p>
            <a:pPr eaLnBrk="0" hangingPunct="0"/>
            <a:r>
              <a:rPr lang="en-US" sz="2000"/>
              <a:t>21%7 =0</a:t>
            </a:r>
          </a:p>
        </p:txBody>
      </p:sp>
      <p:sp>
        <p:nvSpPr>
          <p:cNvPr id="176177" name="Text Box 49"/>
          <p:cNvSpPr txBox="1">
            <a:spLocks noChangeArrowheads="1"/>
          </p:cNvSpPr>
          <p:nvPr/>
        </p:nvSpPr>
        <p:spPr bwMode="auto">
          <a:xfrm>
            <a:off x="5087938" y="59309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3</a:t>
            </a:r>
          </a:p>
        </p:txBody>
      </p:sp>
      <p:sp>
        <p:nvSpPr>
          <p:cNvPr id="176178" name="Rectangle 50"/>
          <p:cNvSpPr>
            <a:spLocks noChangeArrowheads="1"/>
          </p:cNvSpPr>
          <p:nvPr/>
        </p:nvSpPr>
        <p:spPr bwMode="auto">
          <a:xfrm>
            <a:off x="6400800" y="26892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6179" name="Rectangle 51"/>
          <p:cNvSpPr>
            <a:spLocks noChangeArrowheads="1"/>
          </p:cNvSpPr>
          <p:nvPr/>
        </p:nvSpPr>
        <p:spPr bwMode="auto">
          <a:xfrm>
            <a:off x="6400800" y="32067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76180" name="Rectangle 52"/>
          <p:cNvSpPr>
            <a:spLocks noChangeArrowheads="1"/>
          </p:cNvSpPr>
          <p:nvPr/>
        </p:nvSpPr>
        <p:spPr bwMode="auto">
          <a:xfrm>
            <a:off x="6400800" y="42545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6181" name="Rectangle 53"/>
          <p:cNvSpPr>
            <a:spLocks noChangeArrowheads="1"/>
          </p:cNvSpPr>
          <p:nvPr/>
        </p:nvSpPr>
        <p:spPr bwMode="auto">
          <a:xfrm>
            <a:off x="6400800" y="47752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82" name="Rectangle 54"/>
          <p:cNvSpPr>
            <a:spLocks noChangeArrowheads="1"/>
          </p:cNvSpPr>
          <p:nvPr/>
        </p:nvSpPr>
        <p:spPr bwMode="auto">
          <a:xfrm>
            <a:off x="6400800" y="52943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83" name="Rectangle 55"/>
          <p:cNvSpPr>
            <a:spLocks noChangeArrowheads="1"/>
          </p:cNvSpPr>
          <p:nvPr/>
        </p:nvSpPr>
        <p:spPr bwMode="auto">
          <a:xfrm>
            <a:off x="6400800" y="37338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84" name="Text Box 56"/>
          <p:cNvSpPr txBox="1">
            <a:spLocks noChangeArrowheads="1"/>
          </p:cNvSpPr>
          <p:nvPr/>
        </p:nvSpPr>
        <p:spPr bwMode="auto">
          <a:xfrm>
            <a:off x="6162675" y="36830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6185" name="Text Box 57"/>
          <p:cNvSpPr txBox="1">
            <a:spLocks noChangeArrowheads="1"/>
          </p:cNvSpPr>
          <p:nvPr/>
        </p:nvSpPr>
        <p:spPr bwMode="auto">
          <a:xfrm>
            <a:off x="6162675" y="31575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6186" name="Text Box 58"/>
          <p:cNvSpPr txBox="1">
            <a:spLocks noChangeArrowheads="1"/>
          </p:cNvSpPr>
          <p:nvPr/>
        </p:nvSpPr>
        <p:spPr bwMode="auto">
          <a:xfrm>
            <a:off x="6162675" y="26416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6187" name="Text Box 59"/>
          <p:cNvSpPr txBox="1">
            <a:spLocks noChangeArrowheads="1"/>
          </p:cNvSpPr>
          <p:nvPr/>
        </p:nvSpPr>
        <p:spPr bwMode="auto">
          <a:xfrm>
            <a:off x="6162675" y="21240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6188" name="Text Box 60"/>
          <p:cNvSpPr txBox="1">
            <a:spLocks noChangeArrowheads="1"/>
          </p:cNvSpPr>
          <p:nvPr/>
        </p:nvSpPr>
        <p:spPr bwMode="auto">
          <a:xfrm>
            <a:off x="6157913" y="52339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6189" name="Text Box 61"/>
          <p:cNvSpPr txBox="1">
            <a:spLocks noChangeArrowheads="1"/>
          </p:cNvSpPr>
          <p:nvPr/>
        </p:nvSpPr>
        <p:spPr bwMode="auto">
          <a:xfrm>
            <a:off x="6157913" y="47164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6190" name="Text Box 62"/>
          <p:cNvSpPr txBox="1">
            <a:spLocks noChangeArrowheads="1"/>
          </p:cNvSpPr>
          <p:nvPr/>
        </p:nvSpPr>
        <p:spPr bwMode="auto">
          <a:xfrm>
            <a:off x="6157913" y="41989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6191" name="Text Box 63"/>
          <p:cNvSpPr txBox="1">
            <a:spLocks noChangeArrowheads="1"/>
          </p:cNvSpPr>
          <p:nvPr/>
        </p:nvSpPr>
        <p:spPr bwMode="auto">
          <a:xfrm>
            <a:off x="6038850" y="13589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2</a:t>
            </a:r>
            <a:r>
              <a:rPr lang="en-US" dirty="0"/>
              <a:t>)</a:t>
            </a:r>
          </a:p>
          <a:p>
            <a:pPr eaLnBrk="0" hangingPunct="0"/>
            <a:r>
              <a:rPr lang="en-US" sz="2000" dirty="0"/>
              <a:t>2%7 = 2</a:t>
            </a:r>
          </a:p>
        </p:txBody>
      </p:sp>
      <p:sp>
        <p:nvSpPr>
          <p:cNvPr id="176192" name="Text Box 64"/>
          <p:cNvSpPr txBox="1">
            <a:spLocks noChangeArrowheads="1"/>
          </p:cNvSpPr>
          <p:nvPr/>
        </p:nvSpPr>
        <p:spPr bwMode="auto">
          <a:xfrm>
            <a:off x="6505575" y="59309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6193" name="Rectangle 65"/>
          <p:cNvSpPr>
            <a:spLocks noChangeArrowheads="1"/>
          </p:cNvSpPr>
          <p:nvPr/>
        </p:nvSpPr>
        <p:spPr bwMode="auto">
          <a:xfrm>
            <a:off x="3565525" y="32067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6194" name="Rectangle 66"/>
          <p:cNvSpPr>
            <a:spLocks noChangeArrowheads="1"/>
          </p:cNvSpPr>
          <p:nvPr/>
        </p:nvSpPr>
        <p:spPr bwMode="auto">
          <a:xfrm>
            <a:off x="4983163" y="4775200"/>
            <a:ext cx="522287"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6195" name="Rectangle 67"/>
          <p:cNvSpPr>
            <a:spLocks noChangeArrowheads="1"/>
          </p:cNvSpPr>
          <p:nvPr/>
        </p:nvSpPr>
        <p:spPr bwMode="auto">
          <a:xfrm>
            <a:off x="6400800" y="21685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Tree>
    <p:extLst>
      <p:ext uri="{BB962C8B-B14F-4D97-AF65-F5344CB8AC3E}">
        <p14:creationId xmlns:p14="http://schemas.microsoft.com/office/powerpoint/2010/main" val="54866020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lide Number Placeholder 5"/>
          <p:cNvSpPr>
            <a:spLocks noGrp="1"/>
          </p:cNvSpPr>
          <p:nvPr>
            <p:ph type="sldNum" sz="quarter" idx="12"/>
          </p:nvPr>
        </p:nvSpPr>
        <p:spPr/>
        <p:txBody>
          <a:bodyPr/>
          <a:lstStyle/>
          <a:p>
            <a:fld id="{7581D39D-31E5-47D2-9E59-5858417CE972}" type="slidenum">
              <a:rPr lang="en-US"/>
              <a:pPr/>
              <a:t>65</a:t>
            </a:fld>
            <a:endParaRPr lang="en-US"/>
          </a:p>
        </p:txBody>
      </p:sp>
      <p:sp>
        <p:nvSpPr>
          <p:cNvPr id="178178" name="Rectangle 2"/>
          <p:cNvSpPr>
            <a:spLocks noGrp="1" noChangeArrowheads="1"/>
          </p:cNvSpPr>
          <p:nvPr>
            <p:ph type="title"/>
          </p:nvPr>
        </p:nvSpPr>
        <p:spPr>
          <a:xfrm>
            <a:off x="685800" y="304800"/>
            <a:ext cx="7772400" cy="1143000"/>
          </a:xfrm>
        </p:spPr>
        <p:txBody>
          <a:bodyPr/>
          <a:lstStyle/>
          <a:p>
            <a:r>
              <a:rPr lang="en-US"/>
              <a:t>Problem With Quadratic Probing</a:t>
            </a:r>
          </a:p>
        </p:txBody>
      </p:sp>
      <p:sp>
        <p:nvSpPr>
          <p:cNvPr id="178179" name="Text Box 3"/>
          <p:cNvSpPr txBox="1">
            <a:spLocks noChangeArrowheads="1"/>
          </p:cNvSpPr>
          <p:nvPr/>
        </p:nvSpPr>
        <p:spPr bwMode="auto">
          <a:xfrm>
            <a:off x="60325" y="6137275"/>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probes:</a:t>
            </a:r>
          </a:p>
        </p:txBody>
      </p:sp>
      <p:sp>
        <p:nvSpPr>
          <p:cNvPr id="178180" name="Rectangle 4"/>
          <p:cNvSpPr>
            <a:spLocks noChangeArrowheads="1"/>
          </p:cNvSpPr>
          <p:nvPr/>
        </p:nvSpPr>
        <p:spPr bwMode="auto">
          <a:xfrm>
            <a:off x="161925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181" name="Rectangle 5"/>
          <p:cNvSpPr>
            <a:spLocks noChangeArrowheads="1"/>
          </p:cNvSpPr>
          <p:nvPr/>
        </p:nvSpPr>
        <p:spPr bwMode="auto">
          <a:xfrm>
            <a:off x="161925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2" name="Rectangle 6"/>
          <p:cNvSpPr>
            <a:spLocks noChangeArrowheads="1"/>
          </p:cNvSpPr>
          <p:nvPr/>
        </p:nvSpPr>
        <p:spPr bwMode="auto">
          <a:xfrm>
            <a:off x="161925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3" name="Rectangle 7"/>
          <p:cNvSpPr>
            <a:spLocks noChangeArrowheads="1"/>
          </p:cNvSpPr>
          <p:nvPr/>
        </p:nvSpPr>
        <p:spPr bwMode="auto">
          <a:xfrm>
            <a:off x="161925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4" name="Rectangle 8"/>
          <p:cNvSpPr>
            <a:spLocks noChangeArrowheads="1"/>
          </p:cNvSpPr>
          <p:nvPr/>
        </p:nvSpPr>
        <p:spPr bwMode="auto">
          <a:xfrm>
            <a:off x="161925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5" name="Rectangle 9"/>
          <p:cNvSpPr>
            <a:spLocks noChangeArrowheads="1"/>
          </p:cNvSpPr>
          <p:nvPr/>
        </p:nvSpPr>
        <p:spPr bwMode="auto">
          <a:xfrm>
            <a:off x="161925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8186" name="Rectangle 10"/>
          <p:cNvSpPr>
            <a:spLocks noChangeArrowheads="1"/>
          </p:cNvSpPr>
          <p:nvPr/>
        </p:nvSpPr>
        <p:spPr bwMode="auto">
          <a:xfrm>
            <a:off x="161925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87" name="Text Box 11"/>
          <p:cNvSpPr txBox="1">
            <a:spLocks noChangeArrowheads="1"/>
          </p:cNvSpPr>
          <p:nvPr/>
        </p:nvSpPr>
        <p:spPr bwMode="auto">
          <a:xfrm>
            <a:off x="1382713"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188" name="Text Box 12"/>
          <p:cNvSpPr txBox="1">
            <a:spLocks noChangeArrowheads="1"/>
          </p:cNvSpPr>
          <p:nvPr/>
        </p:nvSpPr>
        <p:spPr bwMode="auto">
          <a:xfrm>
            <a:off x="1382713"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189" name="Text Box 13"/>
          <p:cNvSpPr txBox="1">
            <a:spLocks noChangeArrowheads="1"/>
          </p:cNvSpPr>
          <p:nvPr/>
        </p:nvSpPr>
        <p:spPr bwMode="auto">
          <a:xfrm>
            <a:off x="1382713"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190" name="Text Box 14"/>
          <p:cNvSpPr txBox="1">
            <a:spLocks noChangeArrowheads="1"/>
          </p:cNvSpPr>
          <p:nvPr/>
        </p:nvSpPr>
        <p:spPr bwMode="auto">
          <a:xfrm>
            <a:off x="1382713"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191" name="Text Box 15"/>
          <p:cNvSpPr txBox="1">
            <a:spLocks noChangeArrowheads="1"/>
          </p:cNvSpPr>
          <p:nvPr/>
        </p:nvSpPr>
        <p:spPr bwMode="auto">
          <a:xfrm>
            <a:off x="137636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192" name="Text Box 16"/>
          <p:cNvSpPr txBox="1">
            <a:spLocks noChangeArrowheads="1"/>
          </p:cNvSpPr>
          <p:nvPr/>
        </p:nvSpPr>
        <p:spPr bwMode="auto">
          <a:xfrm>
            <a:off x="137636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193" name="Text Box 17"/>
          <p:cNvSpPr txBox="1">
            <a:spLocks noChangeArrowheads="1"/>
          </p:cNvSpPr>
          <p:nvPr/>
        </p:nvSpPr>
        <p:spPr bwMode="auto">
          <a:xfrm>
            <a:off x="137636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194" name="Text Box 18"/>
          <p:cNvSpPr txBox="1">
            <a:spLocks noChangeArrowheads="1"/>
          </p:cNvSpPr>
          <p:nvPr/>
        </p:nvSpPr>
        <p:spPr bwMode="auto">
          <a:xfrm>
            <a:off x="1177925" y="142875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14</a:t>
            </a:r>
            <a:r>
              <a:rPr lang="en-US"/>
              <a:t>)</a:t>
            </a:r>
          </a:p>
          <a:p>
            <a:pPr eaLnBrk="0" hangingPunct="0"/>
            <a:r>
              <a:rPr lang="en-US" sz="2000"/>
              <a:t>14%7 = 0</a:t>
            </a:r>
          </a:p>
        </p:txBody>
      </p:sp>
      <p:sp>
        <p:nvSpPr>
          <p:cNvPr id="178195" name="Text Box 19"/>
          <p:cNvSpPr txBox="1">
            <a:spLocks noChangeArrowheads="1"/>
          </p:cNvSpPr>
          <p:nvPr/>
        </p:nvSpPr>
        <p:spPr bwMode="auto">
          <a:xfrm>
            <a:off x="172402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8196" name="Rectangle 20"/>
          <p:cNvSpPr>
            <a:spLocks noChangeArrowheads="1"/>
          </p:cNvSpPr>
          <p:nvPr/>
        </p:nvSpPr>
        <p:spPr bwMode="auto">
          <a:xfrm>
            <a:off x="3032125"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197" name="Rectangle 21"/>
          <p:cNvSpPr>
            <a:spLocks noChangeArrowheads="1"/>
          </p:cNvSpPr>
          <p:nvPr/>
        </p:nvSpPr>
        <p:spPr bwMode="auto">
          <a:xfrm>
            <a:off x="3032125"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8198" name="Rectangle 22"/>
          <p:cNvSpPr>
            <a:spLocks noChangeArrowheads="1"/>
          </p:cNvSpPr>
          <p:nvPr/>
        </p:nvSpPr>
        <p:spPr bwMode="auto">
          <a:xfrm>
            <a:off x="3032125"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199" name="Rectangle 23"/>
          <p:cNvSpPr>
            <a:spLocks noChangeArrowheads="1"/>
          </p:cNvSpPr>
          <p:nvPr/>
        </p:nvSpPr>
        <p:spPr bwMode="auto">
          <a:xfrm>
            <a:off x="3032125"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8200" name="Rectangle 24"/>
          <p:cNvSpPr>
            <a:spLocks noChangeArrowheads="1"/>
          </p:cNvSpPr>
          <p:nvPr/>
        </p:nvSpPr>
        <p:spPr bwMode="auto">
          <a:xfrm>
            <a:off x="3032125"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01" name="Rectangle 25"/>
          <p:cNvSpPr>
            <a:spLocks noChangeArrowheads="1"/>
          </p:cNvSpPr>
          <p:nvPr/>
        </p:nvSpPr>
        <p:spPr bwMode="auto">
          <a:xfrm>
            <a:off x="3032125"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02" name="Text Box 26"/>
          <p:cNvSpPr txBox="1">
            <a:spLocks noChangeArrowheads="1"/>
          </p:cNvSpPr>
          <p:nvPr/>
        </p:nvSpPr>
        <p:spPr bwMode="auto">
          <a:xfrm>
            <a:off x="2794000"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203" name="Text Box 27"/>
          <p:cNvSpPr txBox="1">
            <a:spLocks noChangeArrowheads="1"/>
          </p:cNvSpPr>
          <p:nvPr/>
        </p:nvSpPr>
        <p:spPr bwMode="auto">
          <a:xfrm>
            <a:off x="2794000"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204" name="Text Box 28"/>
          <p:cNvSpPr txBox="1">
            <a:spLocks noChangeArrowheads="1"/>
          </p:cNvSpPr>
          <p:nvPr/>
        </p:nvSpPr>
        <p:spPr bwMode="auto">
          <a:xfrm>
            <a:off x="2794000"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205" name="Text Box 29"/>
          <p:cNvSpPr txBox="1">
            <a:spLocks noChangeArrowheads="1"/>
          </p:cNvSpPr>
          <p:nvPr/>
        </p:nvSpPr>
        <p:spPr bwMode="auto">
          <a:xfrm>
            <a:off x="2794000"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206" name="Text Box 30"/>
          <p:cNvSpPr txBox="1">
            <a:spLocks noChangeArrowheads="1"/>
          </p:cNvSpPr>
          <p:nvPr/>
        </p:nvSpPr>
        <p:spPr bwMode="auto">
          <a:xfrm>
            <a:off x="2787650"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207" name="Text Box 31"/>
          <p:cNvSpPr txBox="1">
            <a:spLocks noChangeArrowheads="1"/>
          </p:cNvSpPr>
          <p:nvPr/>
        </p:nvSpPr>
        <p:spPr bwMode="auto">
          <a:xfrm>
            <a:off x="2787650"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208" name="Text Box 32"/>
          <p:cNvSpPr txBox="1">
            <a:spLocks noChangeArrowheads="1"/>
          </p:cNvSpPr>
          <p:nvPr/>
        </p:nvSpPr>
        <p:spPr bwMode="auto">
          <a:xfrm>
            <a:off x="2787650"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209" name="Text Box 33"/>
          <p:cNvSpPr txBox="1">
            <a:spLocks noChangeArrowheads="1"/>
          </p:cNvSpPr>
          <p:nvPr/>
        </p:nvSpPr>
        <p:spPr bwMode="auto">
          <a:xfrm>
            <a:off x="2670175" y="142875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8</a:t>
            </a:r>
            <a:r>
              <a:rPr lang="en-US"/>
              <a:t>)</a:t>
            </a:r>
          </a:p>
          <a:p>
            <a:pPr eaLnBrk="0" hangingPunct="0"/>
            <a:r>
              <a:rPr lang="en-US" sz="2000"/>
              <a:t>8%7 = 1</a:t>
            </a:r>
          </a:p>
        </p:txBody>
      </p:sp>
      <p:sp>
        <p:nvSpPr>
          <p:cNvPr id="178210" name="Text Box 34"/>
          <p:cNvSpPr txBox="1">
            <a:spLocks noChangeArrowheads="1"/>
          </p:cNvSpPr>
          <p:nvPr/>
        </p:nvSpPr>
        <p:spPr bwMode="auto">
          <a:xfrm>
            <a:off x="3135313"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8211" name="Rectangle 35"/>
          <p:cNvSpPr>
            <a:spLocks noChangeArrowheads="1"/>
          </p:cNvSpPr>
          <p:nvPr/>
        </p:nvSpPr>
        <p:spPr bwMode="auto">
          <a:xfrm>
            <a:off x="4449763" y="2238375"/>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212" name="Rectangle 36"/>
          <p:cNvSpPr>
            <a:spLocks noChangeArrowheads="1"/>
          </p:cNvSpPr>
          <p:nvPr/>
        </p:nvSpPr>
        <p:spPr bwMode="auto">
          <a:xfrm>
            <a:off x="4449763" y="2759075"/>
            <a:ext cx="522287"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8213" name="Rectangle 37"/>
          <p:cNvSpPr>
            <a:spLocks noChangeArrowheads="1"/>
          </p:cNvSpPr>
          <p:nvPr/>
        </p:nvSpPr>
        <p:spPr bwMode="auto">
          <a:xfrm>
            <a:off x="4449763" y="3276600"/>
            <a:ext cx="522287"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14" name="Rectangle 38"/>
          <p:cNvSpPr>
            <a:spLocks noChangeArrowheads="1"/>
          </p:cNvSpPr>
          <p:nvPr/>
        </p:nvSpPr>
        <p:spPr bwMode="auto">
          <a:xfrm>
            <a:off x="4449763" y="43243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8215" name="Rectangle 39"/>
          <p:cNvSpPr>
            <a:spLocks noChangeArrowheads="1"/>
          </p:cNvSpPr>
          <p:nvPr/>
        </p:nvSpPr>
        <p:spPr bwMode="auto">
          <a:xfrm>
            <a:off x="4449763" y="5364163"/>
            <a:ext cx="522287"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16" name="Rectangle 40"/>
          <p:cNvSpPr>
            <a:spLocks noChangeArrowheads="1"/>
          </p:cNvSpPr>
          <p:nvPr/>
        </p:nvSpPr>
        <p:spPr bwMode="auto">
          <a:xfrm>
            <a:off x="4449763" y="38036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17" name="Text Box 41"/>
          <p:cNvSpPr txBox="1">
            <a:spLocks noChangeArrowheads="1"/>
          </p:cNvSpPr>
          <p:nvPr/>
        </p:nvSpPr>
        <p:spPr bwMode="auto">
          <a:xfrm>
            <a:off x="421322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218" name="Text Box 42"/>
          <p:cNvSpPr txBox="1">
            <a:spLocks noChangeArrowheads="1"/>
          </p:cNvSpPr>
          <p:nvPr/>
        </p:nvSpPr>
        <p:spPr bwMode="auto">
          <a:xfrm>
            <a:off x="421322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219" name="Text Box 43"/>
          <p:cNvSpPr txBox="1">
            <a:spLocks noChangeArrowheads="1"/>
          </p:cNvSpPr>
          <p:nvPr/>
        </p:nvSpPr>
        <p:spPr bwMode="auto">
          <a:xfrm>
            <a:off x="421322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220" name="Text Box 44"/>
          <p:cNvSpPr txBox="1">
            <a:spLocks noChangeArrowheads="1"/>
          </p:cNvSpPr>
          <p:nvPr/>
        </p:nvSpPr>
        <p:spPr bwMode="auto">
          <a:xfrm>
            <a:off x="421322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221" name="Text Box 45"/>
          <p:cNvSpPr txBox="1">
            <a:spLocks noChangeArrowheads="1"/>
          </p:cNvSpPr>
          <p:nvPr/>
        </p:nvSpPr>
        <p:spPr bwMode="auto">
          <a:xfrm>
            <a:off x="4206875"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222" name="Text Box 46"/>
          <p:cNvSpPr txBox="1">
            <a:spLocks noChangeArrowheads="1"/>
          </p:cNvSpPr>
          <p:nvPr/>
        </p:nvSpPr>
        <p:spPr bwMode="auto">
          <a:xfrm>
            <a:off x="4206875"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223" name="Text Box 47"/>
          <p:cNvSpPr txBox="1">
            <a:spLocks noChangeArrowheads="1"/>
          </p:cNvSpPr>
          <p:nvPr/>
        </p:nvSpPr>
        <p:spPr bwMode="auto">
          <a:xfrm>
            <a:off x="4206875"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224" name="Text Box 48"/>
          <p:cNvSpPr txBox="1">
            <a:spLocks noChangeArrowheads="1"/>
          </p:cNvSpPr>
          <p:nvPr/>
        </p:nvSpPr>
        <p:spPr bwMode="auto">
          <a:xfrm>
            <a:off x="4011613" y="1428750"/>
            <a:ext cx="108715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i="1" dirty="0"/>
              <a:t>insert(</a:t>
            </a:r>
            <a:r>
              <a:rPr lang="en-US" i="1" dirty="0">
                <a:solidFill>
                  <a:srgbClr val="FF0000"/>
                </a:solidFill>
              </a:rPr>
              <a:t>21</a:t>
            </a:r>
            <a:r>
              <a:rPr lang="en-US" i="1" dirty="0"/>
              <a:t>)</a:t>
            </a:r>
          </a:p>
          <a:p>
            <a:pPr eaLnBrk="0" hangingPunct="0"/>
            <a:r>
              <a:rPr lang="en-US" sz="2000" i="1" dirty="0"/>
              <a:t>21%7 =0</a:t>
            </a:r>
          </a:p>
        </p:txBody>
      </p:sp>
      <p:sp>
        <p:nvSpPr>
          <p:cNvPr id="178225" name="Text Box 49"/>
          <p:cNvSpPr txBox="1">
            <a:spLocks noChangeArrowheads="1"/>
          </p:cNvSpPr>
          <p:nvPr/>
        </p:nvSpPr>
        <p:spPr bwMode="auto">
          <a:xfrm>
            <a:off x="4554538"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3</a:t>
            </a:r>
          </a:p>
        </p:txBody>
      </p:sp>
      <p:sp>
        <p:nvSpPr>
          <p:cNvPr id="178226" name="Rectangle 50"/>
          <p:cNvSpPr>
            <a:spLocks noChangeArrowheads="1"/>
          </p:cNvSpPr>
          <p:nvPr/>
        </p:nvSpPr>
        <p:spPr bwMode="auto">
          <a:xfrm>
            <a:off x="586740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8227" name="Rectangle 51"/>
          <p:cNvSpPr>
            <a:spLocks noChangeArrowheads="1"/>
          </p:cNvSpPr>
          <p:nvPr/>
        </p:nvSpPr>
        <p:spPr bwMode="auto">
          <a:xfrm>
            <a:off x="586740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78228" name="Rectangle 52"/>
          <p:cNvSpPr>
            <a:spLocks noChangeArrowheads="1"/>
          </p:cNvSpPr>
          <p:nvPr/>
        </p:nvSpPr>
        <p:spPr bwMode="auto">
          <a:xfrm>
            <a:off x="586740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8229" name="Rectangle 53"/>
          <p:cNvSpPr>
            <a:spLocks noChangeArrowheads="1"/>
          </p:cNvSpPr>
          <p:nvPr/>
        </p:nvSpPr>
        <p:spPr bwMode="auto">
          <a:xfrm>
            <a:off x="586740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30" name="Rectangle 54"/>
          <p:cNvSpPr>
            <a:spLocks noChangeArrowheads="1"/>
          </p:cNvSpPr>
          <p:nvPr/>
        </p:nvSpPr>
        <p:spPr bwMode="auto">
          <a:xfrm>
            <a:off x="586740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31" name="Rectangle 55"/>
          <p:cNvSpPr>
            <a:spLocks noChangeArrowheads="1"/>
          </p:cNvSpPr>
          <p:nvPr/>
        </p:nvSpPr>
        <p:spPr bwMode="auto">
          <a:xfrm>
            <a:off x="586740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32" name="Text Box 56"/>
          <p:cNvSpPr txBox="1">
            <a:spLocks noChangeArrowheads="1"/>
          </p:cNvSpPr>
          <p:nvPr/>
        </p:nvSpPr>
        <p:spPr bwMode="auto">
          <a:xfrm>
            <a:off x="562927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233" name="Text Box 57"/>
          <p:cNvSpPr txBox="1">
            <a:spLocks noChangeArrowheads="1"/>
          </p:cNvSpPr>
          <p:nvPr/>
        </p:nvSpPr>
        <p:spPr bwMode="auto">
          <a:xfrm>
            <a:off x="562927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234" name="Text Box 58"/>
          <p:cNvSpPr txBox="1">
            <a:spLocks noChangeArrowheads="1"/>
          </p:cNvSpPr>
          <p:nvPr/>
        </p:nvSpPr>
        <p:spPr bwMode="auto">
          <a:xfrm>
            <a:off x="562927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235" name="Text Box 59"/>
          <p:cNvSpPr txBox="1">
            <a:spLocks noChangeArrowheads="1"/>
          </p:cNvSpPr>
          <p:nvPr/>
        </p:nvSpPr>
        <p:spPr bwMode="auto">
          <a:xfrm>
            <a:off x="562927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236" name="Text Box 60"/>
          <p:cNvSpPr txBox="1">
            <a:spLocks noChangeArrowheads="1"/>
          </p:cNvSpPr>
          <p:nvPr/>
        </p:nvSpPr>
        <p:spPr bwMode="auto">
          <a:xfrm>
            <a:off x="562451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237" name="Text Box 61"/>
          <p:cNvSpPr txBox="1">
            <a:spLocks noChangeArrowheads="1"/>
          </p:cNvSpPr>
          <p:nvPr/>
        </p:nvSpPr>
        <p:spPr bwMode="auto">
          <a:xfrm>
            <a:off x="562451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238" name="Text Box 62"/>
          <p:cNvSpPr txBox="1">
            <a:spLocks noChangeArrowheads="1"/>
          </p:cNvSpPr>
          <p:nvPr/>
        </p:nvSpPr>
        <p:spPr bwMode="auto">
          <a:xfrm>
            <a:off x="562451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239" name="Text Box 63"/>
          <p:cNvSpPr txBox="1">
            <a:spLocks noChangeArrowheads="1"/>
          </p:cNvSpPr>
          <p:nvPr/>
        </p:nvSpPr>
        <p:spPr bwMode="auto">
          <a:xfrm>
            <a:off x="5505450" y="142875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2</a:t>
            </a:r>
            <a:r>
              <a:rPr lang="en-US" dirty="0"/>
              <a:t>)</a:t>
            </a:r>
          </a:p>
          <a:p>
            <a:pPr eaLnBrk="0" hangingPunct="0"/>
            <a:r>
              <a:rPr lang="en-US" sz="2000" dirty="0"/>
              <a:t>2%7 = 2</a:t>
            </a:r>
          </a:p>
        </p:txBody>
      </p:sp>
      <p:sp>
        <p:nvSpPr>
          <p:cNvPr id="178240" name="Text Box 64"/>
          <p:cNvSpPr txBox="1">
            <a:spLocks noChangeArrowheads="1"/>
          </p:cNvSpPr>
          <p:nvPr/>
        </p:nvSpPr>
        <p:spPr bwMode="auto">
          <a:xfrm>
            <a:off x="597217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78241" name="Rectangle 65"/>
          <p:cNvSpPr>
            <a:spLocks noChangeArrowheads="1"/>
          </p:cNvSpPr>
          <p:nvPr/>
        </p:nvSpPr>
        <p:spPr bwMode="auto">
          <a:xfrm>
            <a:off x="3032125"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78242" name="Rectangle 66"/>
          <p:cNvSpPr>
            <a:spLocks noChangeArrowheads="1"/>
          </p:cNvSpPr>
          <p:nvPr/>
        </p:nvSpPr>
        <p:spPr bwMode="auto">
          <a:xfrm>
            <a:off x="4449763" y="4845050"/>
            <a:ext cx="522287"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43" name="Rectangle 67"/>
          <p:cNvSpPr>
            <a:spLocks noChangeArrowheads="1"/>
          </p:cNvSpPr>
          <p:nvPr/>
        </p:nvSpPr>
        <p:spPr bwMode="auto">
          <a:xfrm>
            <a:off x="586740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244" name="Rectangle 68"/>
          <p:cNvSpPr>
            <a:spLocks noChangeArrowheads="1"/>
          </p:cNvSpPr>
          <p:nvPr/>
        </p:nvSpPr>
        <p:spPr bwMode="auto">
          <a:xfrm>
            <a:off x="7372350" y="27781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78245" name="Rectangle 69"/>
          <p:cNvSpPr>
            <a:spLocks noChangeArrowheads="1"/>
          </p:cNvSpPr>
          <p:nvPr/>
        </p:nvSpPr>
        <p:spPr bwMode="auto">
          <a:xfrm>
            <a:off x="7372350" y="32956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78246" name="Rectangle 70"/>
          <p:cNvSpPr>
            <a:spLocks noChangeArrowheads="1"/>
          </p:cNvSpPr>
          <p:nvPr/>
        </p:nvSpPr>
        <p:spPr bwMode="auto">
          <a:xfrm>
            <a:off x="7372350" y="43434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78247" name="Rectangle 71"/>
          <p:cNvSpPr>
            <a:spLocks noChangeArrowheads="1"/>
          </p:cNvSpPr>
          <p:nvPr/>
        </p:nvSpPr>
        <p:spPr bwMode="auto">
          <a:xfrm>
            <a:off x="7372350" y="48641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48" name="Rectangle 72"/>
          <p:cNvSpPr>
            <a:spLocks noChangeArrowheads="1"/>
          </p:cNvSpPr>
          <p:nvPr/>
        </p:nvSpPr>
        <p:spPr bwMode="auto">
          <a:xfrm>
            <a:off x="7372350" y="53832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49" name="Rectangle 73"/>
          <p:cNvSpPr>
            <a:spLocks noChangeArrowheads="1"/>
          </p:cNvSpPr>
          <p:nvPr/>
        </p:nvSpPr>
        <p:spPr bwMode="auto">
          <a:xfrm>
            <a:off x="7372350" y="38227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78250" name="Text Box 74"/>
          <p:cNvSpPr txBox="1">
            <a:spLocks noChangeArrowheads="1"/>
          </p:cNvSpPr>
          <p:nvPr/>
        </p:nvSpPr>
        <p:spPr bwMode="auto">
          <a:xfrm>
            <a:off x="7134225" y="37719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78251" name="Text Box 75"/>
          <p:cNvSpPr txBox="1">
            <a:spLocks noChangeArrowheads="1"/>
          </p:cNvSpPr>
          <p:nvPr/>
        </p:nvSpPr>
        <p:spPr bwMode="auto">
          <a:xfrm>
            <a:off x="7134225" y="32464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78252" name="Text Box 76"/>
          <p:cNvSpPr txBox="1">
            <a:spLocks noChangeArrowheads="1"/>
          </p:cNvSpPr>
          <p:nvPr/>
        </p:nvSpPr>
        <p:spPr bwMode="auto">
          <a:xfrm>
            <a:off x="7134225" y="27305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78253" name="Text Box 77"/>
          <p:cNvSpPr txBox="1">
            <a:spLocks noChangeArrowheads="1"/>
          </p:cNvSpPr>
          <p:nvPr/>
        </p:nvSpPr>
        <p:spPr bwMode="auto">
          <a:xfrm>
            <a:off x="7134225" y="2212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78254" name="Text Box 78"/>
          <p:cNvSpPr txBox="1">
            <a:spLocks noChangeArrowheads="1"/>
          </p:cNvSpPr>
          <p:nvPr/>
        </p:nvSpPr>
        <p:spPr bwMode="auto">
          <a:xfrm>
            <a:off x="7129463" y="53228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78255" name="Text Box 79"/>
          <p:cNvSpPr txBox="1">
            <a:spLocks noChangeArrowheads="1"/>
          </p:cNvSpPr>
          <p:nvPr/>
        </p:nvSpPr>
        <p:spPr bwMode="auto">
          <a:xfrm>
            <a:off x="7129463" y="48053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78256" name="Text Box 80"/>
          <p:cNvSpPr txBox="1">
            <a:spLocks noChangeArrowheads="1"/>
          </p:cNvSpPr>
          <p:nvPr/>
        </p:nvSpPr>
        <p:spPr bwMode="auto">
          <a:xfrm>
            <a:off x="7129463" y="4287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78257" name="Text Box 81"/>
          <p:cNvSpPr txBox="1">
            <a:spLocks noChangeArrowheads="1"/>
          </p:cNvSpPr>
          <p:nvPr/>
        </p:nvSpPr>
        <p:spPr bwMode="auto">
          <a:xfrm>
            <a:off x="7010400" y="14478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7</a:t>
            </a:r>
            <a:r>
              <a:rPr lang="en-US"/>
              <a:t>)</a:t>
            </a:r>
          </a:p>
          <a:p>
            <a:pPr eaLnBrk="0" hangingPunct="0"/>
            <a:r>
              <a:rPr lang="en-US" sz="2000"/>
              <a:t>7%7 = 0</a:t>
            </a:r>
          </a:p>
        </p:txBody>
      </p:sp>
      <p:sp>
        <p:nvSpPr>
          <p:cNvPr id="178258" name="Rectangle 82"/>
          <p:cNvSpPr>
            <a:spLocks noChangeArrowheads="1"/>
          </p:cNvSpPr>
          <p:nvPr/>
        </p:nvSpPr>
        <p:spPr bwMode="auto">
          <a:xfrm>
            <a:off x="7372350" y="22574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78259" name="Text Box 83"/>
          <p:cNvSpPr txBox="1">
            <a:spLocks noChangeArrowheads="1"/>
          </p:cNvSpPr>
          <p:nvPr/>
        </p:nvSpPr>
        <p:spPr bwMode="auto">
          <a:xfrm>
            <a:off x="7315200" y="6019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solidFill>
                  <a:srgbClr val="FF0000"/>
                </a:solidFill>
              </a:rPr>
              <a:t>??</a:t>
            </a:r>
          </a:p>
        </p:txBody>
      </p:sp>
    </p:spTree>
    <p:extLst>
      <p:ext uri="{BB962C8B-B14F-4D97-AF65-F5344CB8AC3E}">
        <p14:creationId xmlns:p14="http://schemas.microsoft.com/office/powerpoint/2010/main" val="90393999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507288" cy="5937523"/>
          </a:xfrm>
        </p:spPr>
        <p:txBody>
          <a:bodyPr>
            <a:normAutofit fontScale="92500" lnSpcReduction="10000"/>
          </a:bodyPr>
          <a:lstStyle/>
          <a:p>
            <a:pPr marL="0" indent="0">
              <a:buNone/>
            </a:pPr>
            <a:r>
              <a:rPr lang="en-IN" b="1" dirty="0" smtClean="0">
                <a:solidFill>
                  <a:srgbClr val="FF0000"/>
                </a:solidFill>
              </a:rPr>
              <a:t>Limitations:</a:t>
            </a:r>
          </a:p>
          <a:p>
            <a:r>
              <a:rPr lang="en-IN" dirty="0" smtClean="0"/>
              <a:t>In the Above example the process is never ending and </a:t>
            </a:r>
            <a:r>
              <a:rPr lang="en-IN" dirty="0" smtClean="0">
                <a:solidFill>
                  <a:srgbClr val="FF0000"/>
                </a:solidFill>
              </a:rPr>
              <a:t>the no : of probes increases </a:t>
            </a:r>
            <a:r>
              <a:rPr lang="en-IN" dirty="0" smtClean="0"/>
              <a:t>but to identify a cell  and to store the element is not possible </a:t>
            </a:r>
          </a:p>
          <a:p>
            <a:r>
              <a:rPr lang="en-IN" dirty="0"/>
              <a:t>In the case of quadratic probing, the situation is </a:t>
            </a:r>
            <a:r>
              <a:rPr lang="en-IN" dirty="0">
                <a:solidFill>
                  <a:srgbClr val="FF0000"/>
                </a:solidFill>
              </a:rPr>
              <a:t>even more drastic</a:t>
            </a:r>
            <a:r>
              <a:rPr lang="en-IN" dirty="0" smtClean="0"/>
              <a:t>.</a:t>
            </a:r>
          </a:p>
          <a:p>
            <a:r>
              <a:rPr lang="en-IN" dirty="0" smtClean="0"/>
              <a:t>There </a:t>
            </a:r>
            <a:r>
              <a:rPr lang="en-IN" dirty="0"/>
              <a:t>is </a:t>
            </a:r>
            <a:r>
              <a:rPr lang="en-IN" dirty="0">
                <a:solidFill>
                  <a:srgbClr val="FF0000"/>
                </a:solidFill>
              </a:rPr>
              <a:t>no guarantee of finding an empty cell once the table gets more than half full</a:t>
            </a:r>
            <a:r>
              <a:rPr lang="en-IN" dirty="0"/>
              <a:t>, or even before the table gets half full if the table size is not prime. </a:t>
            </a:r>
          </a:p>
          <a:p>
            <a:r>
              <a:rPr lang="en-IN" dirty="0"/>
              <a:t>So an empty key space can always be found as long as at most </a:t>
            </a:r>
            <a:r>
              <a:rPr lang="en-IN" dirty="0" smtClean="0"/>
              <a:t>(n </a:t>
            </a:r>
            <a:r>
              <a:rPr lang="en-IN" dirty="0"/>
              <a:t>/ 2</a:t>
            </a:r>
            <a:r>
              <a:rPr lang="en-IN" dirty="0" smtClean="0"/>
              <a:t>),(with size of the table is n) </a:t>
            </a:r>
            <a:r>
              <a:rPr lang="en-IN" dirty="0"/>
              <a:t>locations are filled, i.e., the hash table is not more than half full.</a:t>
            </a:r>
          </a:p>
        </p:txBody>
      </p:sp>
    </p:spTree>
    <p:extLst>
      <p:ext uri="{BB962C8B-B14F-4D97-AF65-F5344CB8AC3E}">
        <p14:creationId xmlns:p14="http://schemas.microsoft.com/office/powerpoint/2010/main" val="223991995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803" y="765343"/>
            <a:ext cx="8424936" cy="5327954"/>
          </a:xfrm>
        </p:spPr>
        <p:txBody>
          <a:bodyPr>
            <a:normAutofit fontScale="77500" lnSpcReduction="20000"/>
          </a:bodyPr>
          <a:lstStyle/>
          <a:p>
            <a:pPr marL="514350" indent="-514350">
              <a:buAutoNum type="arabicPeriod"/>
            </a:pPr>
            <a:r>
              <a:rPr lang="en-IN" dirty="0" smtClean="0"/>
              <a:t>Get </a:t>
            </a:r>
            <a:r>
              <a:rPr lang="en-IN" dirty="0"/>
              <a:t>the key </a:t>
            </a:r>
            <a:r>
              <a:rPr lang="en-IN" dirty="0" smtClean="0"/>
              <a:t>hash key k </a:t>
            </a:r>
          </a:p>
          <a:p>
            <a:pPr marL="514350" indent="-514350">
              <a:buAutoNum type="arabicPeriod"/>
            </a:pPr>
            <a:r>
              <a:rPr lang="en-IN" dirty="0" smtClean="0"/>
              <a:t>Set </a:t>
            </a:r>
            <a:r>
              <a:rPr lang="en-IN" dirty="0"/>
              <a:t>counter j = 0 </a:t>
            </a:r>
            <a:endParaRPr lang="en-IN" dirty="0" smtClean="0"/>
          </a:p>
          <a:p>
            <a:pPr marL="0" indent="0">
              <a:buNone/>
            </a:pPr>
            <a:r>
              <a:rPr lang="en-IN" dirty="0" smtClean="0"/>
              <a:t>3</a:t>
            </a:r>
            <a:r>
              <a:rPr lang="en-IN" dirty="0"/>
              <a:t>. Compute hash function h[k] = k % SIZE </a:t>
            </a:r>
            <a:endParaRPr lang="en-IN" dirty="0" smtClean="0"/>
          </a:p>
          <a:p>
            <a:pPr marL="0" indent="0">
              <a:buNone/>
            </a:pPr>
            <a:r>
              <a:rPr lang="en-IN" dirty="0" smtClean="0"/>
              <a:t>4</a:t>
            </a:r>
            <a:r>
              <a:rPr lang="en-IN" dirty="0"/>
              <a:t>. If </a:t>
            </a:r>
            <a:r>
              <a:rPr lang="en-IN" dirty="0" smtClean="0"/>
              <a:t>hash table[h[k</a:t>
            </a:r>
            <a:r>
              <a:rPr lang="en-IN" dirty="0"/>
              <a:t>]] is empty </a:t>
            </a:r>
            <a:endParaRPr lang="en-IN" dirty="0" smtClean="0"/>
          </a:p>
          <a:p>
            <a:pPr marL="0" indent="0">
              <a:buNone/>
            </a:pPr>
            <a:r>
              <a:rPr lang="en-IN" dirty="0"/>
              <a:t>	</a:t>
            </a:r>
            <a:r>
              <a:rPr lang="en-IN" dirty="0" smtClean="0"/>
              <a:t>(</a:t>
            </a:r>
            <a:r>
              <a:rPr lang="en-IN" dirty="0"/>
              <a:t>4.1) Insert key k at </a:t>
            </a:r>
            <a:r>
              <a:rPr lang="en-IN" dirty="0" smtClean="0"/>
              <a:t>hash table[h[k</a:t>
            </a:r>
            <a:r>
              <a:rPr lang="en-IN" dirty="0"/>
              <a:t>]] </a:t>
            </a:r>
            <a:endParaRPr lang="en-IN" dirty="0" smtClean="0"/>
          </a:p>
          <a:p>
            <a:pPr marL="0" indent="0">
              <a:buNone/>
            </a:pPr>
            <a:r>
              <a:rPr lang="en-IN" dirty="0"/>
              <a:t>	</a:t>
            </a:r>
            <a:r>
              <a:rPr lang="en-IN" dirty="0" smtClean="0"/>
              <a:t>(</a:t>
            </a:r>
            <a:r>
              <a:rPr lang="en-IN" dirty="0"/>
              <a:t>4.2) Stop </a:t>
            </a:r>
            <a:endParaRPr lang="en-IN" dirty="0" smtClean="0"/>
          </a:p>
          <a:p>
            <a:pPr marL="0" indent="0">
              <a:buNone/>
            </a:pPr>
            <a:r>
              <a:rPr lang="en-IN" dirty="0"/>
              <a:t>	</a:t>
            </a:r>
            <a:r>
              <a:rPr lang="en-IN" dirty="0" smtClean="0"/>
              <a:t>Else </a:t>
            </a:r>
          </a:p>
          <a:p>
            <a:pPr marL="0" indent="0">
              <a:buNone/>
            </a:pPr>
            <a:r>
              <a:rPr lang="en-IN" dirty="0"/>
              <a:t>	</a:t>
            </a:r>
            <a:r>
              <a:rPr lang="en-IN" dirty="0" smtClean="0"/>
              <a:t>(</a:t>
            </a:r>
            <a:r>
              <a:rPr lang="en-IN" dirty="0"/>
              <a:t>4.3) The key space at </a:t>
            </a:r>
            <a:r>
              <a:rPr lang="en-IN" dirty="0" smtClean="0"/>
              <a:t>hash table[h[k</a:t>
            </a:r>
            <a:r>
              <a:rPr lang="en-IN" dirty="0"/>
              <a:t>]] </a:t>
            </a:r>
            <a:r>
              <a:rPr lang="en-IN" dirty="0" smtClean="0"/>
              <a:t>is occupied</a:t>
            </a:r>
            <a:r>
              <a:rPr lang="en-IN" dirty="0"/>
              <a:t>, so we </a:t>
            </a:r>
            <a:r>
              <a:rPr lang="en-IN" dirty="0" smtClean="0"/>
              <a:t>	need </a:t>
            </a:r>
            <a:r>
              <a:rPr lang="en-IN" dirty="0"/>
              <a:t>to find the next </a:t>
            </a:r>
            <a:r>
              <a:rPr lang="en-IN" dirty="0" smtClean="0"/>
              <a:t>available key </a:t>
            </a:r>
            <a:r>
              <a:rPr lang="en-IN" dirty="0"/>
              <a:t>space </a:t>
            </a:r>
            <a:endParaRPr lang="en-IN" dirty="0" smtClean="0"/>
          </a:p>
          <a:p>
            <a:pPr marL="0" indent="0">
              <a:buNone/>
            </a:pPr>
            <a:r>
              <a:rPr lang="en-IN" dirty="0"/>
              <a:t>	</a:t>
            </a:r>
            <a:r>
              <a:rPr lang="en-IN" dirty="0" smtClean="0"/>
              <a:t>(</a:t>
            </a:r>
            <a:r>
              <a:rPr lang="en-IN" dirty="0"/>
              <a:t>4.4) Increment j </a:t>
            </a:r>
            <a:endParaRPr lang="en-IN" dirty="0" smtClean="0"/>
          </a:p>
          <a:p>
            <a:pPr marL="0" indent="0">
              <a:buNone/>
            </a:pPr>
            <a:r>
              <a:rPr lang="en-IN" dirty="0"/>
              <a:t>	</a:t>
            </a:r>
            <a:r>
              <a:rPr lang="en-IN" dirty="0" smtClean="0"/>
              <a:t>(</a:t>
            </a:r>
            <a:r>
              <a:rPr lang="en-IN" dirty="0"/>
              <a:t>4.5) Compute new hash function h[k] = ( k + j * j ) % </a:t>
            </a:r>
            <a:r>
              <a:rPr lang="en-IN" dirty="0" smtClean="0"/>
              <a:t>SIZE </a:t>
            </a:r>
          </a:p>
          <a:p>
            <a:pPr marL="0" indent="0">
              <a:buNone/>
            </a:pPr>
            <a:r>
              <a:rPr lang="en-IN" dirty="0"/>
              <a:t>	</a:t>
            </a:r>
            <a:r>
              <a:rPr lang="en-IN" dirty="0" smtClean="0"/>
              <a:t>(</a:t>
            </a:r>
            <a:r>
              <a:rPr lang="en-IN" dirty="0"/>
              <a:t>4.6) Repeat Step 4 till j is equal to the SIZE of hash table </a:t>
            </a:r>
            <a:endParaRPr lang="en-IN" dirty="0" smtClean="0"/>
          </a:p>
          <a:p>
            <a:pPr marL="0" indent="0">
              <a:buNone/>
            </a:pPr>
            <a:r>
              <a:rPr lang="en-IN" dirty="0" smtClean="0"/>
              <a:t>5</a:t>
            </a:r>
            <a:r>
              <a:rPr lang="en-IN" dirty="0"/>
              <a:t>. The hash table is full </a:t>
            </a:r>
            <a:endParaRPr lang="en-IN" dirty="0" smtClean="0"/>
          </a:p>
          <a:p>
            <a:pPr marL="0" indent="0">
              <a:buNone/>
            </a:pPr>
            <a:r>
              <a:rPr lang="en-IN" dirty="0" smtClean="0"/>
              <a:t>6</a:t>
            </a:r>
            <a:r>
              <a:rPr lang="en-IN" dirty="0"/>
              <a:t>. Stop</a:t>
            </a:r>
          </a:p>
        </p:txBody>
      </p:sp>
    </p:spTree>
    <p:extLst>
      <p:ext uri="{BB962C8B-B14F-4D97-AF65-F5344CB8AC3E}">
        <p14:creationId xmlns:p14="http://schemas.microsoft.com/office/powerpoint/2010/main" val="306416697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55DF9554-8016-4F3E-8274-8979593C5538}" type="slidenum">
              <a:rPr lang="en-US" sz="1400"/>
              <a:pPr eaLnBrk="1" hangingPunct="1"/>
              <a:t>68</a:t>
            </a:fld>
            <a:endParaRPr lang="en-US" sz="1400"/>
          </a:p>
        </p:txBody>
      </p:sp>
      <p:sp>
        <p:nvSpPr>
          <p:cNvPr id="32771" name="Rectangle 2"/>
          <p:cNvSpPr>
            <a:spLocks noGrp="1" noChangeArrowheads="1"/>
          </p:cNvSpPr>
          <p:nvPr>
            <p:ph type="title"/>
          </p:nvPr>
        </p:nvSpPr>
        <p:spPr/>
        <p:txBody>
          <a:bodyPr/>
          <a:lstStyle/>
          <a:p>
            <a:pPr eaLnBrk="1" hangingPunct="1"/>
            <a:r>
              <a:rPr lang="en-US" dirty="0" smtClean="0">
                <a:solidFill>
                  <a:srgbClr val="FF00FF"/>
                </a:solidFill>
              </a:rPr>
              <a:t>Load Factor in Quadratic Probing</a:t>
            </a:r>
          </a:p>
        </p:txBody>
      </p:sp>
      <p:sp>
        <p:nvSpPr>
          <p:cNvPr id="32772" name="Rectangle 3"/>
          <p:cNvSpPr>
            <a:spLocks noGrp="1" noChangeArrowheads="1"/>
          </p:cNvSpPr>
          <p:nvPr>
            <p:ph type="body" idx="1"/>
          </p:nvPr>
        </p:nvSpPr>
        <p:spPr>
          <a:xfrm>
            <a:off x="533400" y="1828800"/>
            <a:ext cx="8077200" cy="4876800"/>
          </a:xfrm>
        </p:spPr>
        <p:txBody>
          <a:bodyPr/>
          <a:lstStyle/>
          <a:p>
            <a:pPr eaLnBrk="1" hangingPunct="1"/>
            <a:r>
              <a:rPr lang="en-US" b="1" smtClean="0"/>
              <a:t>Theorem</a:t>
            </a:r>
            <a:r>
              <a:rPr lang="en-US" smtClean="0"/>
              <a:t>: </a:t>
            </a:r>
            <a:r>
              <a:rPr lang="en-US" smtClean="0">
                <a:solidFill>
                  <a:srgbClr val="006600"/>
                </a:solidFill>
              </a:rPr>
              <a:t>If TableSize is prime and</a:t>
            </a:r>
            <a:r>
              <a:rPr lang="en-US" smtClean="0"/>
              <a:t> </a:t>
            </a:r>
            <a:r>
              <a:rPr lang="en-US" smtClean="0">
                <a:solidFill>
                  <a:srgbClr val="008000"/>
                </a:solidFill>
                <a:sym typeface="Symbol" pitchFamily="18" charset="2"/>
              </a:rPr>
              <a:t>  ½, quadratic probing </a:t>
            </a:r>
            <a:r>
              <a:rPr lang="en-US" i="1" smtClean="0">
                <a:solidFill>
                  <a:srgbClr val="008000"/>
                </a:solidFill>
                <a:sym typeface="Symbol" pitchFamily="18" charset="2"/>
              </a:rPr>
              <a:t>will</a:t>
            </a:r>
            <a:r>
              <a:rPr lang="en-US" smtClean="0">
                <a:solidFill>
                  <a:srgbClr val="008000"/>
                </a:solidFill>
                <a:sym typeface="Symbol" pitchFamily="18" charset="2"/>
              </a:rPr>
              <a:t> find an empty slot</a:t>
            </a:r>
            <a:r>
              <a:rPr lang="en-US" smtClean="0">
                <a:sym typeface="Symbol" pitchFamily="18" charset="2"/>
              </a:rPr>
              <a:t>; </a:t>
            </a:r>
            <a:r>
              <a:rPr lang="en-US" smtClean="0">
                <a:solidFill>
                  <a:srgbClr val="FF0000"/>
                </a:solidFill>
                <a:sym typeface="Symbol" pitchFamily="18" charset="2"/>
              </a:rPr>
              <a:t>for greater , </a:t>
            </a:r>
            <a:r>
              <a:rPr lang="en-US" i="1" smtClean="0">
                <a:solidFill>
                  <a:srgbClr val="FF0000"/>
                </a:solidFill>
                <a:sym typeface="Symbol" pitchFamily="18" charset="2"/>
              </a:rPr>
              <a:t>might not</a:t>
            </a:r>
          </a:p>
          <a:p>
            <a:pPr eaLnBrk="1" hangingPunct="1"/>
            <a:r>
              <a:rPr lang="en-US" smtClean="0">
                <a:sym typeface="Symbol" pitchFamily="18" charset="2"/>
              </a:rPr>
              <a:t>With load factors near ½ the expected number of probes is empirically near </a:t>
            </a:r>
            <a:r>
              <a:rPr lang="en-US" i="1" smtClean="0">
                <a:sym typeface="Symbol" pitchFamily="18" charset="2"/>
              </a:rPr>
              <a:t>optimal</a:t>
            </a:r>
            <a:r>
              <a:rPr lang="en-US" smtClean="0">
                <a:sym typeface="Symbol" pitchFamily="18" charset="2"/>
              </a:rPr>
              <a:t> – no exact analysis known</a:t>
            </a:r>
          </a:p>
          <a:p>
            <a:pPr eaLnBrk="1" hangingPunct="1"/>
            <a:r>
              <a:rPr lang="en-US" smtClean="0"/>
              <a:t>Don’t get clustering from </a:t>
            </a:r>
            <a:r>
              <a:rPr lang="en-US" i="1" smtClean="0"/>
              <a:t>similar</a:t>
            </a:r>
            <a:r>
              <a:rPr lang="en-US" smtClean="0"/>
              <a:t> keys (</a:t>
            </a:r>
            <a:r>
              <a:rPr lang="en-US" b="1" smtClean="0"/>
              <a:t>primary</a:t>
            </a:r>
            <a:r>
              <a:rPr lang="en-US" smtClean="0"/>
              <a:t> clustering), still get clustering from </a:t>
            </a:r>
            <a:r>
              <a:rPr lang="en-US" i="1" smtClean="0">
                <a:solidFill>
                  <a:srgbClr val="FF0000"/>
                </a:solidFill>
              </a:rPr>
              <a:t>identical</a:t>
            </a:r>
            <a:r>
              <a:rPr lang="en-US" smtClean="0">
                <a:solidFill>
                  <a:srgbClr val="FF0000"/>
                </a:solidFill>
              </a:rPr>
              <a:t> keys </a:t>
            </a:r>
            <a:r>
              <a:rPr lang="en-US" smtClean="0"/>
              <a:t>(</a:t>
            </a:r>
            <a:r>
              <a:rPr lang="en-US" b="1" smtClean="0"/>
              <a:t>secondary</a:t>
            </a:r>
            <a:r>
              <a:rPr lang="en-US" smtClean="0"/>
              <a:t> clustering)</a:t>
            </a:r>
          </a:p>
          <a:p>
            <a:pPr eaLnBrk="1" hangingPunct="1">
              <a:buFontTx/>
              <a:buNone/>
            </a:pPr>
            <a:endParaRPr lang="en-US" smtClean="0"/>
          </a:p>
          <a:p>
            <a:pPr lvl="1" eaLnBrk="1" hangingPunct="1"/>
            <a:endParaRPr lang="en-US" smtClean="0"/>
          </a:p>
        </p:txBody>
      </p:sp>
    </p:spTree>
    <p:extLst>
      <p:ext uri="{BB962C8B-B14F-4D97-AF65-F5344CB8AC3E}">
        <p14:creationId xmlns:p14="http://schemas.microsoft.com/office/powerpoint/2010/main" val="3876576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fontScale="90000"/>
          </a:bodyPr>
          <a:lstStyle/>
          <a:p>
            <a:r>
              <a:rPr lang="en-US" b="1" dirty="0">
                <a:solidFill>
                  <a:srgbClr val="FF00FF"/>
                </a:solidFill>
              </a:rPr>
              <a:t>Closed </a:t>
            </a:r>
            <a:r>
              <a:rPr lang="en-US" b="1" dirty="0" smtClean="0">
                <a:solidFill>
                  <a:srgbClr val="FF00FF"/>
                </a:solidFill>
              </a:rPr>
              <a:t>Hashing III :  </a:t>
            </a:r>
            <a:r>
              <a:rPr lang="en-IN" b="1" dirty="0" smtClean="0">
                <a:solidFill>
                  <a:srgbClr val="FF00FF"/>
                </a:solidFill>
              </a:rPr>
              <a:t>Double Hashing</a:t>
            </a:r>
            <a:endParaRPr lang="en-IN" b="1" dirty="0">
              <a:solidFill>
                <a:srgbClr val="FF00FF"/>
              </a:solidFill>
            </a:endParaRPr>
          </a:p>
        </p:txBody>
      </p:sp>
      <p:sp>
        <p:nvSpPr>
          <p:cNvPr id="8" name="Rectangle 7"/>
          <p:cNvSpPr/>
          <p:nvPr/>
        </p:nvSpPr>
        <p:spPr>
          <a:xfrm>
            <a:off x="200168" y="908720"/>
            <a:ext cx="8620304" cy="5262979"/>
          </a:xfrm>
          <a:prstGeom prst="rect">
            <a:avLst/>
          </a:prstGeom>
        </p:spPr>
        <p:txBody>
          <a:bodyPr wrap="square">
            <a:spAutoFit/>
          </a:bodyPr>
          <a:lstStyle/>
          <a:p>
            <a:r>
              <a:rPr lang="en-IN" b="1" dirty="0"/>
              <a:t>Double hashing is a collision resolving technique in Open Addressed Hash tables. Double </a:t>
            </a:r>
            <a:r>
              <a:rPr lang="en-IN" b="1" dirty="0" smtClean="0"/>
              <a:t>hashing uses the idea of applying a </a:t>
            </a:r>
            <a:r>
              <a:rPr lang="en-IN" b="1" dirty="0"/>
              <a:t>second hash function to key when a collision occurs.</a:t>
            </a:r>
          </a:p>
          <a:p>
            <a:endParaRPr lang="en-IN" b="1" dirty="0"/>
          </a:p>
          <a:p>
            <a:r>
              <a:rPr lang="en-IN" sz="2400" b="1" i="1" dirty="0"/>
              <a:t>Double hashing can be done using :</a:t>
            </a:r>
          </a:p>
          <a:p>
            <a:r>
              <a:rPr lang="en-IN" sz="2400" b="1" dirty="0">
                <a:solidFill>
                  <a:srgbClr val="FF0000"/>
                </a:solidFill>
              </a:rPr>
              <a:t>(hash1(key) + i * hash2(key)) % TABLE_SIZE</a:t>
            </a:r>
          </a:p>
          <a:p>
            <a:endParaRPr lang="en-IN" b="1" dirty="0" smtClean="0"/>
          </a:p>
          <a:p>
            <a:r>
              <a:rPr lang="en-IN" b="1" dirty="0" smtClean="0"/>
              <a:t>Here </a:t>
            </a:r>
            <a:r>
              <a:rPr lang="en-IN" b="1" dirty="0"/>
              <a:t>hash1() and hash2() are hash functions and </a:t>
            </a:r>
            <a:r>
              <a:rPr lang="en-IN" b="1" dirty="0" smtClean="0"/>
              <a:t>TABLE_SIZE is </a:t>
            </a:r>
            <a:r>
              <a:rPr lang="en-IN" b="1" dirty="0"/>
              <a:t>size of hash table.</a:t>
            </a:r>
          </a:p>
          <a:p>
            <a:r>
              <a:rPr lang="en-IN" b="1" dirty="0"/>
              <a:t>(We repeat by increasing i when collision occurs)</a:t>
            </a:r>
          </a:p>
          <a:p>
            <a:endParaRPr lang="en-IN" b="1" dirty="0"/>
          </a:p>
          <a:p>
            <a:r>
              <a:rPr lang="en-IN" b="1" i="1" u="sng" dirty="0">
                <a:solidFill>
                  <a:schemeClr val="tx2"/>
                </a:solidFill>
              </a:rPr>
              <a:t>First </a:t>
            </a:r>
            <a:r>
              <a:rPr lang="en-IN" b="1" i="1" u="sng" dirty="0" smtClean="0">
                <a:solidFill>
                  <a:schemeClr val="tx2"/>
                </a:solidFill>
              </a:rPr>
              <a:t>Hash </a:t>
            </a:r>
            <a:r>
              <a:rPr lang="en-IN" b="1" i="1" u="sng" dirty="0">
                <a:solidFill>
                  <a:schemeClr val="tx2"/>
                </a:solidFill>
              </a:rPr>
              <a:t>function </a:t>
            </a:r>
            <a:r>
              <a:rPr lang="en-IN" b="1" dirty="0"/>
              <a:t>is </a:t>
            </a:r>
            <a:r>
              <a:rPr lang="en-IN" sz="2400" b="1" dirty="0" smtClean="0"/>
              <a:t>:     </a:t>
            </a:r>
            <a:r>
              <a:rPr lang="en-IN" sz="2400" b="1" dirty="0" smtClean="0">
                <a:solidFill>
                  <a:srgbClr val="FF0000"/>
                </a:solidFill>
              </a:rPr>
              <a:t>hash1(key</a:t>
            </a:r>
            <a:r>
              <a:rPr lang="en-IN" sz="2400" b="1" dirty="0">
                <a:solidFill>
                  <a:srgbClr val="FF0000"/>
                </a:solidFill>
              </a:rPr>
              <a:t>) = key % TABLE_SIZE</a:t>
            </a:r>
          </a:p>
          <a:p>
            <a:endParaRPr lang="en-IN" b="1" dirty="0"/>
          </a:p>
          <a:p>
            <a:r>
              <a:rPr lang="en-IN" b="1" i="1" u="sng" dirty="0" smtClean="0">
                <a:solidFill>
                  <a:schemeClr val="tx2"/>
                </a:solidFill>
              </a:rPr>
              <a:t>Second Hash </a:t>
            </a:r>
            <a:r>
              <a:rPr lang="en-IN" b="1" i="1" u="sng" dirty="0">
                <a:solidFill>
                  <a:schemeClr val="tx2"/>
                </a:solidFill>
              </a:rPr>
              <a:t>function is </a:t>
            </a:r>
            <a:r>
              <a:rPr lang="en-IN" sz="2400" b="1" dirty="0">
                <a:solidFill>
                  <a:schemeClr val="accent3">
                    <a:lumMod val="50000"/>
                  </a:schemeClr>
                </a:solidFill>
              </a:rPr>
              <a:t>: </a:t>
            </a:r>
            <a:r>
              <a:rPr lang="en-IN" sz="2400" b="1" dirty="0" smtClean="0">
                <a:solidFill>
                  <a:schemeClr val="accent3">
                    <a:lumMod val="50000"/>
                  </a:schemeClr>
                </a:solidFill>
              </a:rPr>
              <a:t>  </a:t>
            </a:r>
            <a:r>
              <a:rPr lang="en-IN" sz="2400" b="1" dirty="0" smtClean="0">
                <a:solidFill>
                  <a:srgbClr val="FF0000"/>
                </a:solidFill>
              </a:rPr>
              <a:t>hash2(key</a:t>
            </a:r>
            <a:r>
              <a:rPr lang="en-IN" sz="2400" b="1" dirty="0">
                <a:solidFill>
                  <a:srgbClr val="FF0000"/>
                </a:solidFill>
              </a:rPr>
              <a:t>) = PRIME – (key % PRIME</a:t>
            </a:r>
            <a:r>
              <a:rPr lang="en-IN" sz="2400" b="1" dirty="0">
                <a:solidFill>
                  <a:schemeClr val="accent3">
                    <a:lumMod val="50000"/>
                  </a:schemeClr>
                </a:solidFill>
              </a:rPr>
              <a:t>) </a:t>
            </a:r>
            <a:endParaRPr lang="en-IN" sz="2400" b="1" dirty="0" smtClean="0">
              <a:solidFill>
                <a:schemeClr val="accent3">
                  <a:lumMod val="50000"/>
                </a:schemeClr>
              </a:solidFill>
            </a:endParaRPr>
          </a:p>
          <a:p>
            <a:r>
              <a:rPr lang="en-IN" sz="2400" b="1" dirty="0">
                <a:solidFill>
                  <a:schemeClr val="accent3">
                    <a:lumMod val="50000"/>
                  </a:schemeClr>
                </a:solidFill>
              </a:rPr>
              <a:t> </a:t>
            </a:r>
            <a:r>
              <a:rPr lang="en-IN" b="1" dirty="0" smtClean="0"/>
              <a:t>where </a:t>
            </a:r>
            <a:r>
              <a:rPr lang="en-IN" b="1" dirty="0"/>
              <a:t>PRIME is a </a:t>
            </a:r>
            <a:r>
              <a:rPr lang="en-IN" b="1" i="1" dirty="0"/>
              <a:t>prime smaller than the TABLE_SIZE.</a:t>
            </a:r>
          </a:p>
          <a:p>
            <a:pPr lvl="1"/>
            <a:endParaRPr lang="en-IN" b="1" i="1" dirty="0"/>
          </a:p>
          <a:p>
            <a:r>
              <a:rPr lang="en-IN" b="1" i="1" dirty="0">
                <a:solidFill>
                  <a:srgbClr val="FF0000"/>
                </a:solidFill>
              </a:rPr>
              <a:t>A good second Hash function is:</a:t>
            </a:r>
          </a:p>
          <a:p>
            <a:r>
              <a:rPr lang="en-IN" b="1" dirty="0" smtClean="0"/>
              <a:t>- It </a:t>
            </a:r>
            <a:r>
              <a:rPr lang="en-IN" b="1" dirty="0"/>
              <a:t>must never evaluate to zero</a:t>
            </a:r>
          </a:p>
          <a:p>
            <a:r>
              <a:rPr lang="en-IN" b="1" dirty="0" smtClean="0"/>
              <a:t>- Must </a:t>
            </a:r>
            <a:r>
              <a:rPr lang="en-IN" b="1" dirty="0"/>
              <a:t>make sure that all cells can be probed</a:t>
            </a:r>
          </a:p>
        </p:txBody>
      </p:sp>
    </p:spTree>
    <p:extLst>
      <p:ext uri="{BB962C8B-B14F-4D97-AF65-F5344CB8AC3E}">
        <p14:creationId xmlns:p14="http://schemas.microsoft.com/office/powerpoint/2010/main" val="202635397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52FEAD00-D73B-4904-8810-86D427B19E7C}" type="slidenum">
              <a:rPr lang="en-US"/>
              <a:pPr/>
              <a:t>70</a:t>
            </a:fld>
            <a:endParaRPr lang="en-US"/>
          </a:p>
        </p:txBody>
      </p:sp>
      <p:sp>
        <p:nvSpPr>
          <p:cNvPr id="182274" name="Rectangle 2"/>
          <p:cNvSpPr>
            <a:spLocks noGrp="1" noChangeArrowheads="1"/>
          </p:cNvSpPr>
          <p:nvPr>
            <p:ph type="title"/>
          </p:nvPr>
        </p:nvSpPr>
        <p:spPr>
          <a:xfrm>
            <a:off x="381000" y="0"/>
            <a:ext cx="8458200" cy="1143000"/>
          </a:xfrm>
        </p:spPr>
        <p:txBody>
          <a:bodyPr/>
          <a:lstStyle/>
          <a:p>
            <a:r>
              <a:rPr lang="en-US" sz="3600" dirty="0"/>
              <a:t>Closed Hashing III: </a:t>
            </a:r>
            <a:r>
              <a:rPr lang="en-US" sz="3600" dirty="0">
                <a:solidFill>
                  <a:srgbClr val="0000FF"/>
                </a:solidFill>
              </a:rPr>
              <a:t>Double Hashing</a:t>
            </a:r>
          </a:p>
        </p:txBody>
      </p:sp>
      <p:sp>
        <p:nvSpPr>
          <p:cNvPr id="182275" name="Rectangle 3"/>
          <p:cNvSpPr>
            <a:spLocks noGrp="1" noChangeArrowheads="1"/>
          </p:cNvSpPr>
          <p:nvPr>
            <p:ph type="body" idx="1"/>
          </p:nvPr>
        </p:nvSpPr>
        <p:spPr>
          <a:xfrm>
            <a:off x="685800" y="990600"/>
            <a:ext cx="8077200" cy="5606752"/>
          </a:xfrm>
        </p:spPr>
        <p:txBody>
          <a:bodyPr/>
          <a:lstStyle/>
          <a:p>
            <a:r>
              <a:rPr lang="en-US" sz="2800" b="1" dirty="0"/>
              <a:t>Idea</a:t>
            </a:r>
            <a:r>
              <a:rPr lang="en-US" sz="2800" dirty="0"/>
              <a:t>: Spread out the search for an empty slot by using a second hash function</a:t>
            </a:r>
          </a:p>
          <a:p>
            <a:pPr lvl="1"/>
            <a:r>
              <a:rPr lang="en-US" sz="2400" i="1" dirty="0"/>
              <a:t>No primary or secondary clustering</a:t>
            </a:r>
            <a:endParaRPr lang="en-US" sz="2400" i="1" dirty="0">
              <a:solidFill>
                <a:srgbClr val="FF0000"/>
              </a:solidFill>
            </a:endParaRPr>
          </a:p>
          <a:p>
            <a:r>
              <a:rPr lang="en-US" sz="3000" dirty="0">
                <a:solidFill>
                  <a:srgbClr val="FF0000"/>
                </a:solidFill>
              </a:rPr>
              <a:t>h</a:t>
            </a:r>
            <a:r>
              <a:rPr lang="en-US" sz="3000" baseline="-25000" dirty="0">
                <a:solidFill>
                  <a:srgbClr val="FF0000"/>
                </a:solidFill>
              </a:rPr>
              <a:t>i</a:t>
            </a:r>
            <a:r>
              <a:rPr lang="en-US" sz="3000" dirty="0">
                <a:solidFill>
                  <a:srgbClr val="FF0000"/>
                </a:solidFill>
              </a:rPr>
              <a:t>(X) = (Hash</a:t>
            </a:r>
            <a:r>
              <a:rPr lang="en-US" sz="2600" baseline="-25000" dirty="0">
                <a:solidFill>
                  <a:srgbClr val="FF0000"/>
                </a:solidFill>
              </a:rPr>
              <a:t>1</a:t>
            </a:r>
            <a:r>
              <a:rPr lang="en-US" sz="3000" dirty="0">
                <a:solidFill>
                  <a:srgbClr val="FF0000"/>
                </a:solidFill>
              </a:rPr>
              <a:t>(X) + </a:t>
            </a:r>
            <a:r>
              <a:rPr lang="en-US" sz="3000" dirty="0" smtClean="0">
                <a:solidFill>
                  <a:srgbClr val="FF0000"/>
                </a:solidFill>
              </a:rPr>
              <a:t>i</a:t>
            </a:r>
            <a:r>
              <a:rPr lang="en-US" sz="3000" dirty="0" smtClean="0">
                <a:solidFill>
                  <a:srgbClr val="FF0000"/>
                </a:solidFill>
                <a:sym typeface="r_symbol" pitchFamily="49" charset="2"/>
              </a:rPr>
              <a:t>*</a:t>
            </a:r>
            <a:r>
              <a:rPr lang="en-US" sz="3000" dirty="0" smtClean="0">
                <a:solidFill>
                  <a:srgbClr val="FF0000"/>
                </a:solidFill>
              </a:rPr>
              <a:t>Hash</a:t>
            </a:r>
            <a:r>
              <a:rPr lang="en-US" sz="3000" baseline="-25000" dirty="0" smtClean="0">
                <a:solidFill>
                  <a:srgbClr val="FF0000"/>
                </a:solidFill>
              </a:rPr>
              <a:t>2</a:t>
            </a:r>
            <a:r>
              <a:rPr lang="en-US" sz="3000" dirty="0" smtClean="0">
                <a:solidFill>
                  <a:srgbClr val="FF0000"/>
                </a:solidFill>
              </a:rPr>
              <a:t>(X</a:t>
            </a:r>
            <a:r>
              <a:rPr lang="en-US" sz="3000" dirty="0">
                <a:solidFill>
                  <a:srgbClr val="FF0000"/>
                </a:solidFill>
              </a:rPr>
              <a:t>)) mod </a:t>
            </a:r>
            <a:r>
              <a:rPr lang="en-US" sz="3000" i="1" dirty="0" smtClean="0">
                <a:solidFill>
                  <a:srgbClr val="FF0000"/>
                </a:solidFill>
              </a:rPr>
              <a:t>Table Size   </a:t>
            </a:r>
            <a:endParaRPr lang="en-US" sz="3000" i="1" dirty="0">
              <a:solidFill>
                <a:srgbClr val="FF0000"/>
              </a:solidFill>
            </a:endParaRPr>
          </a:p>
          <a:p>
            <a:pPr lvl="1">
              <a:buFontTx/>
              <a:buNone/>
            </a:pPr>
            <a:r>
              <a:rPr lang="en-US" sz="2600" dirty="0">
                <a:solidFill>
                  <a:srgbClr val="FF0000"/>
                </a:solidFill>
              </a:rPr>
              <a:t>for</a:t>
            </a:r>
            <a:r>
              <a:rPr lang="en-US" sz="2600" i="1" dirty="0">
                <a:solidFill>
                  <a:srgbClr val="FF0000"/>
                </a:solidFill>
              </a:rPr>
              <a:t> </a:t>
            </a:r>
            <a:r>
              <a:rPr lang="en-US" sz="2600" dirty="0">
                <a:solidFill>
                  <a:srgbClr val="FF0000"/>
                </a:solidFill>
              </a:rPr>
              <a:t>i = 0, 1, 2, … </a:t>
            </a:r>
          </a:p>
          <a:p>
            <a:r>
              <a:rPr lang="en-US" sz="3000" dirty="0"/>
              <a:t>Good choice of Hash</a:t>
            </a:r>
            <a:r>
              <a:rPr lang="en-US" sz="3000" baseline="-25000" dirty="0"/>
              <a:t>2</a:t>
            </a:r>
            <a:r>
              <a:rPr lang="en-US" sz="3000" dirty="0"/>
              <a:t>(X) can guarantee does not get “stuck” as long as </a:t>
            </a:r>
            <a:r>
              <a:rPr lang="en-US" sz="2800" dirty="0">
                <a:sym typeface="Symbol" pitchFamily="18" charset="2"/>
              </a:rPr>
              <a:t> &lt; 1</a:t>
            </a:r>
            <a:endParaRPr lang="en-US" sz="3000" dirty="0"/>
          </a:p>
          <a:p>
            <a:pPr lvl="1"/>
            <a:r>
              <a:rPr lang="en-US" sz="2600" dirty="0"/>
              <a:t>Integer keys:</a:t>
            </a:r>
            <a:br>
              <a:rPr lang="en-US" sz="2600" dirty="0"/>
            </a:br>
            <a:r>
              <a:rPr lang="en-US" sz="2600" b="1" dirty="0">
                <a:solidFill>
                  <a:srgbClr val="0000FF"/>
                </a:solidFill>
              </a:rPr>
              <a:t>Hash</a:t>
            </a:r>
            <a:r>
              <a:rPr lang="en-US" sz="2600" b="1" baseline="-25000" dirty="0">
                <a:solidFill>
                  <a:srgbClr val="0000FF"/>
                </a:solidFill>
              </a:rPr>
              <a:t>2</a:t>
            </a:r>
            <a:r>
              <a:rPr lang="en-US" sz="2600" b="1" dirty="0">
                <a:solidFill>
                  <a:srgbClr val="0000FF"/>
                </a:solidFill>
              </a:rPr>
              <a:t>(X) = R – (X mod R)</a:t>
            </a:r>
            <a:br>
              <a:rPr lang="en-US" sz="2600" b="1" dirty="0">
                <a:solidFill>
                  <a:srgbClr val="0000FF"/>
                </a:solidFill>
              </a:rPr>
            </a:br>
            <a:r>
              <a:rPr lang="en-US" b="1" dirty="0">
                <a:solidFill>
                  <a:srgbClr val="0000FF"/>
                </a:solidFill>
              </a:rPr>
              <a:t>where R is a prime smaller than </a:t>
            </a:r>
            <a:r>
              <a:rPr lang="en-US" b="1" i="1" dirty="0" smtClean="0">
                <a:solidFill>
                  <a:srgbClr val="0000FF"/>
                </a:solidFill>
              </a:rPr>
              <a:t>Table Size   </a:t>
            </a:r>
            <a:endParaRPr lang="en-US" b="1" dirty="0">
              <a:solidFill>
                <a:srgbClr val="0000FF"/>
              </a:solidFill>
            </a:endParaRPr>
          </a:p>
          <a:p>
            <a:endParaRPr lang="en-US" sz="2800" b="1" dirty="0"/>
          </a:p>
        </p:txBody>
      </p:sp>
    </p:spTree>
    <p:extLst>
      <p:ext uri="{BB962C8B-B14F-4D97-AF65-F5344CB8AC3E}">
        <p14:creationId xmlns:p14="http://schemas.microsoft.com/office/powerpoint/2010/main" val="524931106"/>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7" y="260648"/>
            <a:ext cx="8496945"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68423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lide Number Placeholder 5"/>
          <p:cNvSpPr>
            <a:spLocks noGrp="1"/>
          </p:cNvSpPr>
          <p:nvPr>
            <p:ph type="sldNum" sz="quarter" idx="12"/>
          </p:nvPr>
        </p:nvSpPr>
        <p:spPr/>
        <p:txBody>
          <a:bodyPr/>
          <a:lstStyle/>
          <a:p>
            <a:fld id="{95B4092B-831D-4CA6-8579-B90419A996F2}" type="slidenum">
              <a:rPr lang="en-US"/>
              <a:pPr/>
              <a:t>72</a:t>
            </a:fld>
            <a:endParaRPr lang="en-US"/>
          </a:p>
        </p:txBody>
      </p:sp>
      <p:sp>
        <p:nvSpPr>
          <p:cNvPr id="183298" name="Rectangle 2"/>
          <p:cNvSpPr>
            <a:spLocks noGrp="1" noChangeArrowheads="1"/>
          </p:cNvSpPr>
          <p:nvPr>
            <p:ph type="title"/>
          </p:nvPr>
        </p:nvSpPr>
        <p:spPr>
          <a:xfrm>
            <a:off x="762000" y="0"/>
            <a:ext cx="7772400" cy="1143000"/>
          </a:xfrm>
        </p:spPr>
        <p:txBody>
          <a:bodyPr/>
          <a:lstStyle/>
          <a:p>
            <a:r>
              <a:rPr lang="en-US"/>
              <a:t>Double Hashing Example</a:t>
            </a:r>
          </a:p>
        </p:txBody>
      </p:sp>
      <p:sp>
        <p:nvSpPr>
          <p:cNvPr id="183299" name="Text Box 3"/>
          <p:cNvSpPr txBox="1">
            <a:spLocks noChangeArrowheads="1"/>
          </p:cNvSpPr>
          <p:nvPr/>
        </p:nvSpPr>
        <p:spPr bwMode="auto">
          <a:xfrm>
            <a:off x="60325" y="6137275"/>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probes:</a:t>
            </a:r>
          </a:p>
        </p:txBody>
      </p:sp>
      <p:sp>
        <p:nvSpPr>
          <p:cNvPr id="183300" name="Rectangle 4"/>
          <p:cNvSpPr>
            <a:spLocks noChangeArrowheads="1"/>
          </p:cNvSpPr>
          <p:nvPr/>
        </p:nvSpPr>
        <p:spPr bwMode="auto">
          <a:xfrm>
            <a:off x="161925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01" name="Rectangle 5"/>
          <p:cNvSpPr>
            <a:spLocks noChangeArrowheads="1"/>
          </p:cNvSpPr>
          <p:nvPr/>
        </p:nvSpPr>
        <p:spPr bwMode="auto">
          <a:xfrm>
            <a:off x="161925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2" name="Rectangle 6"/>
          <p:cNvSpPr>
            <a:spLocks noChangeArrowheads="1"/>
          </p:cNvSpPr>
          <p:nvPr/>
        </p:nvSpPr>
        <p:spPr bwMode="auto">
          <a:xfrm>
            <a:off x="161925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3" name="Rectangle 7"/>
          <p:cNvSpPr>
            <a:spLocks noChangeArrowheads="1"/>
          </p:cNvSpPr>
          <p:nvPr/>
        </p:nvSpPr>
        <p:spPr bwMode="auto">
          <a:xfrm>
            <a:off x="161925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4" name="Rectangle 8"/>
          <p:cNvSpPr>
            <a:spLocks noChangeArrowheads="1"/>
          </p:cNvSpPr>
          <p:nvPr/>
        </p:nvSpPr>
        <p:spPr bwMode="auto">
          <a:xfrm>
            <a:off x="161925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5" name="Rectangle 9"/>
          <p:cNvSpPr>
            <a:spLocks noChangeArrowheads="1"/>
          </p:cNvSpPr>
          <p:nvPr/>
        </p:nvSpPr>
        <p:spPr bwMode="auto">
          <a:xfrm>
            <a:off x="161925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3306" name="Rectangle 10"/>
          <p:cNvSpPr>
            <a:spLocks noChangeArrowheads="1"/>
          </p:cNvSpPr>
          <p:nvPr/>
        </p:nvSpPr>
        <p:spPr bwMode="auto">
          <a:xfrm>
            <a:off x="161925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07" name="Text Box 11"/>
          <p:cNvSpPr txBox="1">
            <a:spLocks noChangeArrowheads="1"/>
          </p:cNvSpPr>
          <p:nvPr/>
        </p:nvSpPr>
        <p:spPr bwMode="auto">
          <a:xfrm>
            <a:off x="1382713"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08" name="Text Box 12"/>
          <p:cNvSpPr txBox="1">
            <a:spLocks noChangeArrowheads="1"/>
          </p:cNvSpPr>
          <p:nvPr/>
        </p:nvSpPr>
        <p:spPr bwMode="auto">
          <a:xfrm>
            <a:off x="1382713"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09" name="Text Box 13"/>
          <p:cNvSpPr txBox="1">
            <a:spLocks noChangeArrowheads="1"/>
          </p:cNvSpPr>
          <p:nvPr/>
        </p:nvSpPr>
        <p:spPr bwMode="auto">
          <a:xfrm>
            <a:off x="1382713"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10" name="Text Box 14"/>
          <p:cNvSpPr txBox="1">
            <a:spLocks noChangeArrowheads="1"/>
          </p:cNvSpPr>
          <p:nvPr/>
        </p:nvSpPr>
        <p:spPr bwMode="auto">
          <a:xfrm>
            <a:off x="1382713"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11" name="Text Box 15"/>
          <p:cNvSpPr txBox="1">
            <a:spLocks noChangeArrowheads="1"/>
          </p:cNvSpPr>
          <p:nvPr/>
        </p:nvSpPr>
        <p:spPr bwMode="auto">
          <a:xfrm>
            <a:off x="137636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12" name="Text Box 16"/>
          <p:cNvSpPr txBox="1">
            <a:spLocks noChangeArrowheads="1"/>
          </p:cNvSpPr>
          <p:nvPr/>
        </p:nvSpPr>
        <p:spPr bwMode="auto">
          <a:xfrm>
            <a:off x="137636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13" name="Text Box 17"/>
          <p:cNvSpPr txBox="1">
            <a:spLocks noChangeArrowheads="1"/>
          </p:cNvSpPr>
          <p:nvPr/>
        </p:nvSpPr>
        <p:spPr bwMode="auto">
          <a:xfrm>
            <a:off x="137636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14" name="Text Box 18"/>
          <p:cNvSpPr txBox="1">
            <a:spLocks noChangeArrowheads="1"/>
          </p:cNvSpPr>
          <p:nvPr/>
        </p:nvSpPr>
        <p:spPr bwMode="auto">
          <a:xfrm>
            <a:off x="1128713" y="99060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14</a:t>
            </a:r>
            <a:r>
              <a:rPr lang="en-US"/>
              <a:t>)</a:t>
            </a:r>
          </a:p>
          <a:p>
            <a:pPr eaLnBrk="0" hangingPunct="0"/>
            <a:r>
              <a:rPr lang="en-US" sz="2000"/>
              <a:t>14%7 = 0</a:t>
            </a:r>
          </a:p>
        </p:txBody>
      </p:sp>
      <p:sp>
        <p:nvSpPr>
          <p:cNvPr id="183315" name="Text Box 19"/>
          <p:cNvSpPr txBox="1">
            <a:spLocks noChangeArrowheads="1"/>
          </p:cNvSpPr>
          <p:nvPr/>
        </p:nvSpPr>
        <p:spPr bwMode="auto">
          <a:xfrm>
            <a:off x="172402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3316" name="Rectangle 20"/>
          <p:cNvSpPr>
            <a:spLocks noChangeArrowheads="1"/>
          </p:cNvSpPr>
          <p:nvPr/>
        </p:nvSpPr>
        <p:spPr bwMode="auto">
          <a:xfrm>
            <a:off x="3032125"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17" name="Rectangle 21"/>
          <p:cNvSpPr>
            <a:spLocks noChangeArrowheads="1"/>
          </p:cNvSpPr>
          <p:nvPr/>
        </p:nvSpPr>
        <p:spPr bwMode="auto">
          <a:xfrm>
            <a:off x="3032125"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3318" name="Rectangle 22"/>
          <p:cNvSpPr>
            <a:spLocks noChangeArrowheads="1"/>
          </p:cNvSpPr>
          <p:nvPr/>
        </p:nvSpPr>
        <p:spPr bwMode="auto">
          <a:xfrm>
            <a:off x="3032125"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19" name="Rectangle 23"/>
          <p:cNvSpPr>
            <a:spLocks noChangeArrowheads="1"/>
          </p:cNvSpPr>
          <p:nvPr/>
        </p:nvSpPr>
        <p:spPr bwMode="auto">
          <a:xfrm>
            <a:off x="3032125"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3320" name="Rectangle 24"/>
          <p:cNvSpPr>
            <a:spLocks noChangeArrowheads="1"/>
          </p:cNvSpPr>
          <p:nvPr/>
        </p:nvSpPr>
        <p:spPr bwMode="auto">
          <a:xfrm>
            <a:off x="3032125"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21" name="Rectangle 25"/>
          <p:cNvSpPr>
            <a:spLocks noChangeArrowheads="1"/>
          </p:cNvSpPr>
          <p:nvPr/>
        </p:nvSpPr>
        <p:spPr bwMode="auto">
          <a:xfrm>
            <a:off x="3032125"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22" name="Text Box 26"/>
          <p:cNvSpPr txBox="1">
            <a:spLocks noChangeArrowheads="1"/>
          </p:cNvSpPr>
          <p:nvPr/>
        </p:nvSpPr>
        <p:spPr bwMode="auto">
          <a:xfrm>
            <a:off x="2794000"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23" name="Text Box 27"/>
          <p:cNvSpPr txBox="1">
            <a:spLocks noChangeArrowheads="1"/>
          </p:cNvSpPr>
          <p:nvPr/>
        </p:nvSpPr>
        <p:spPr bwMode="auto">
          <a:xfrm>
            <a:off x="2794000"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24" name="Text Box 28"/>
          <p:cNvSpPr txBox="1">
            <a:spLocks noChangeArrowheads="1"/>
          </p:cNvSpPr>
          <p:nvPr/>
        </p:nvSpPr>
        <p:spPr bwMode="auto">
          <a:xfrm>
            <a:off x="2794000"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25" name="Text Box 29"/>
          <p:cNvSpPr txBox="1">
            <a:spLocks noChangeArrowheads="1"/>
          </p:cNvSpPr>
          <p:nvPr/>
        </p:nvSpPr>
        <p:spPr bwMode="auto">
          <a:xfrm>
            <a:off x="2794000"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26" name="Text Box 30"/>
          <p:cNvSpPr txBox="1">
            <a:spLocks noChangeArrowheads="1"/>
          </p:cNvSpPr>
          <p:nvPr/>
        </p:nvSpPr>
        <p:spPr bwMode="auto">
          <a:xfrm>
            <a:off x="2787650"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27" name="Text Box 31"/>
          <p:cNvSpPr txBox="1">
            <a:spLocks noChangeArrowheads="1"/>
          </p:cNvSpPr>
          <p:nvPr/>
        </p:nvSpPr>
        <p:spPr bwMode="auto">
          <a:xfrm>
            <a:off x="2787650"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28" name="Text Box 32"/>
          <p:cNvSpPr txBox="1">
            <a:spLocks noChangeArrowheads="1"/>
          </p:cNvSpPr>
          <p:nvPr/>
        </p:nvSpPr>
        <p:spPr bwMode="auto">
          <a:xfrm>
            <a:off x="2787650"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29" name="Text Box 33"/>
          <p:cNvSpPr txBox="1">
            <a:spLocks noChangeArrowheads="1"/>
          </p:cNvSpPr>
          <p:nvPr/>
        </p:nvSpPr>
        <p:spPr bwMode="auto">
          <a:xfrm>
            <a:off x="2620963" y="9906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8</a:t>
            </a:r>
            <a:r>
              <a:rPr lang="en-US"/>
              <a:t>)</a:t>
            </a:r>
          </a:p>
          <a:p>
            <a:pPr eaLnBrk="0" hangingPunct="0"/>
            <a:r>
              <a:rPr lang="en-US" sz="2000"/>
              <a:t>8%7 = 1</a:t>
            </a:r>
          </a:p>
        </p:txBody>
      </p:sp>
      <p:sp>
        <p:nvSpPr>
          <p:cNvPr id="183330" name="Text Box 34"/>
          <p:cNvSpPr txBox="1">
            <a:spLocks noChangeArrowheads="1"/>
          </p:cNvSpPr>
          <p:nvPr/>
        </p:nvSpPr>
        <p:spPr bwMode="auto">
          <a:xfrm>
            <a:off x="3135313"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3331" name="Rectangle 35"/>
          <p:cNvSpPr>
            <a:spLocks noChangeArrowheads="1"/>
          </p:cNvSpPr>
          <p:nvPr/>
        </p:nvSpPr>
        <p:spPr bwMode="auto">
          <a:xfrm>
            <a:off x="4449763" y="2238375"/>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32" name="Rectangle 36"/>
          <p:cNvSpPr>
            <a:spLocks noChangeArrowheads="1"/>
          </p:cNvSpPr>
          <p:nvPr/>
        </p:nvSpPr>
        <p:spPr bwMode="auto">
          <a:xfrm>
            <a:off x="4449763" y="2759075"/>
            <a:ext cx="522287"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3333" name="Rectangle 37"/>
          <p:cNvSpPr>
            <a:spLocks noChangeArrowheads="1"/>
          </p:cNvSpPr>
          <p:nvPr/>
        </p:nvSpPr>
        <p:spPr bwMode="auto">
          <a:xfrm>
            <a:off x="4449763" y="3276600"/>
            <a:ext cx="522287"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34" name="Rectangle 38"/>
          <p:cNvSpPr>
            <a:spLocks noChangeArrowheads="1"/>
          </p:cNvSpPr>
          <p:nvPr/>
        </p:nvSpPr>
        <p:spPr bwMode="auto">
          <a:xfrm>
            <a:off x="4449763" y="43243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3335" name="Rectangle 39"/>
          <p:cNvSpPr>
            <a:spLocks noChangeArrowheads="1"/>
          </p:cNvSpPr>
          <p:nvPr/>
        </p:nvSpPr>
        <p:spPr bwMode="auto">
          <a:xfrm>
            <a:off x="4449763" y="5364163"/>
            <a:ext cx="522287"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36" name="Rectangle 40"/>
          <p:cNvSpPr>
            <a:spLocks noChangeArrowheads="1"/>
          </p:cNvSpPr>
          <p:nvPr/>
        </p:nvSpPr>
        <p:spPr bwMode="auto">
          <a:xfrm>
            <a:off x="4449763" y="38036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37" name="Text Box 41"/>
          <p:cNvSpPr txBox="1">
            <a:spLocks noChangeArrowheads="1"/>
          </p:cNvSpPr>
          <p:nvPr/>
        </p:nvSpPr>
        <p:spPr bwMode="auto">
          <a:xfrm>
            <a:off x="421322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38" name="Text Box 42"/>
          <p:cNvSpPr txBox="1">
            <a:spLocks noChangeArrowheads="1"/>
          </p:cNvSpPr>
          <p:nvPr/>
        </p:nvSpPr>
        <p:spPr bwMode="auto">
          <a:xfrm>
            <a:off x="421322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39" name="Text Box 43"/>
          <p:cNvSpPr txBox="1">
            <a:spLocks noChangeArrowheads="1"/>
          </p:cNvSpPr>
          <p:nvPr/>
        </p:nvSpPr>
        <p:spPr bwMode="auto">
          <a:xfrm>
            <a:off x="421322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40" name="Text Box 44"/>
          <p:cNvSpPr txBox="1">
            <a:spLocks noChangeArrowheads="1"/>
          </p:cNvSpPr>
          <p:nvPr/>
        </p:nvSpPr>
        <p:spPr bwMode="auto">
          <a:xfrm>
            <a:off x="421322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41" name="Text Box 45"/>
          <p:cNvSpPr txBox="1">
            <a:spLocks noChangeArrowheads="1"/>
          </p:cNvSpPr>
          <p:nvPr/>
        </p:nvSpPr>
        <p:spPr bwMode="auto">
          <a:xfrm>
            <a:off x="4206875"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42" name="Text Box 46"/>
          <p:cNvSpPr txBox="1">
            <a:spLocks noChangeArrowheads="1"/>
          </p:cNvSpPr>
          <p:nvPr/>
        </p:nvSpPr>
        <p:spPr bwMode="auto">
          <a:xfrm>
            <a:off x="4206875"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43" name="Text Box 47"/>
          <p:cNvSpPr txBox="1">
            <a:spLocks noChangeArrowheads="1"/>
          </p:cNvSpPr>
          <p:nvPr/>
        </p:nvSpPr>
        <p:spPr bwMode="auto">
          <a:xfrm>
            <a:off x="4206875"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44" name="Text Box 48"/>
          <p:cNvSpPr txBox="1">
            <a:spLocks noChangeArrowheads="1"/>
          </p:cNvSpPr>
          <p:nvPr/>
        </p:nvSpPr>
        <p:spPr bwMode="auto">
          <a:xfrm>
            <a:off x="3933825" y="990600"/>
            <a:ext cx="14255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21</a:t>
            </a:r>
            <a:r>
              <a:rPr lang="en-US"/>
              <a:t>)</a:t>
            </a:r>
          </a:p>
          <a:p>
            <a:pPr eaLnBrk="0" hangingPunct="0"/>
            <a:r>
              <a:rPr lang="en-US" sz="2000"/>
              <a:t>21%7 =0</a:t>
            </a:r>
          </a:p>
          <a:p>
            <a:pPr eaLnBrk="0" hangingPunct="0"/>
            <a:r>
              <a:rPr lang="en-US" sz="2000"/>
              <a:t>5-(21%5)=4</a:t>
            </a:r>
          </a:p>
        </p:txBody>
      </p:sp>
      <p:sp>
        <p:nvSpPr>
          <p:cNvPr id="183345" name="Text Box 49"/>
          <p:cNvSpPr txBox="1">
            <a:spLocks noChangeArrowheads="1"/>
          </p:cNvSpPr>
          <p:nvPr/>
        </p:nvSpPr>
        <p:spPr bwMode="auto">
          <a:xfrm>
            <a:off x="4554538"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2</a:t>
            </a:r>
          </a:p>
        </p:txBody>
      </p:sp>
      <p:sp>
        <p:nvSpPr>
          <p:cNvPr id="183346" name="Rectangle 50"/>
          <p:cNvSpPr>
            <a:spLocks noChangeArrowheads="1"/>
          </p:cNvSpPr>
          <p:nvPr/>
        </p:nvSpPr>
        <p:spPr bwMode="auto">
          <a:xfrm>
            <a:off x="586740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3347" name="Rectangle 51"/>
          <p:cNvSpPr>
            <a:spLocks noChangeArrowheads="1"/>
          </p:cNvSpPr>
          <p:nvPr/>
        </p:nvSpPr>
        <p:spPr bwMode="auto">
          <a:xfrm>
            <a:off x="586740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83348" name="Rectangle 52"/>
          <p:cNvSpPr>
            <a:spLocks noChangeArrowheads="1"/>
          </p:cNvSpPr>
          <p:nvPr/>
        </p:nvSpPr>
        <p:spPr bwMode="auto">
          <a:xfrm>
            <a:off x="586740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3349" name="Rectangle 53"/>
          <p:cNvSpPr>
            <a:spLocks noChangeArrowheads="1"/>
          </p:cNvSpPr>
          <p:nvPr/>
        </p:nvSpPr>
        <p:spPr bwMode="auto">
          <a:xfrm>
            <a:off x="586740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50" name="Rectangle 54"/>
          <p:cNvSpPr>
            <a:spLocks noChangeArrowheads="1"/>
          </p:cNvSpPr>
          <p:nvPr/>
        </p:nvSpPr>
        <p:spPr bwMode="auto">
          <a:xfrm>
            <a:off x="586740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51" name="Rectangle 55"/>
          <p:cNvSpPr>
            <a:spLocks noChangeArrowheads="1"/>
          </p:cNvSpPr>
          <p:nvPr/>
        </p:nvSpPr>
        <p:spPr bwMode="auto">
          <a:xfrm>
            <a:off x="586740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52" name="Text Box 56"/>
          <p:cNvSpPr txBox="1">
            <a:spLocks noChangeArrowheads="1"/>
          </p:cNvSpPr>
          <p:nvPr/>
        </p:nvSpPr>
        <p:spPr bwMode="auto">
          <a:xfrm>
            <a:off x="562927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53" name="Text Box 57"/>
          <p:cNvSpPr txBox="1">
            <a:spLocks noChangeArrowheads="1"/>
          </p:cNvSpPr>
          <p:nvPr/>
        </p:nvSpPr>
        <p:spPr bwMode="auto">
          <a:xfrm>
            <a:off x="562927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54" name="Text Box 58"/>
          <p:cNvSpPr txBox="1">
            <a:spLocks noChangeArrowheads="1"/>
          </p:cNvSpPr>
          <p:nvPr/>
        </p:nvSpPr>
        <p:spPr bwMode="auto">
          <a:xfrm>
            <a:off x="562927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55" name="Text Box 59"/>
          <p:cNvSpPr txBox="1">
            <a:spLocks noChangeArrowheads="1"/>
          </p:cNvSpPr>
          <p:nvPr/>
        </p:nvSpPr>
        <p:spPr bwMode="auto">
          <a:xfrm>
            <a:off x="562927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56" name="Text Box 60"/>
          <p:cNvSpPr txBox="1">
            <a:spLocks noChangeArrowheads="1"/>
          </p:cNvSpPr>
          <p:nvPr/>
        </p:nvSpPr>
        <p:spPr bwMode="auto">
          <a:xfrm>
            <a:off x="562451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57" name="Text Box 61"/>
          <p:cNvSpPr txBox="1">
            <a:spLocks noChangeArrowheads="1"/>
          </p:cNvSpPr>
          <p:nvPr/>
        </p:nvSpPr>
        <p:spPr bwMode="auto">
          <a:xfrm>
            <a:off x="562451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58" name="Text Box 62"/>
          <p:cNvSpPr txBox="1">
            <a:spLocks noChangeArrowheads="1"/>
          </p:cNvSpPr>
          <p:nvPr/>
        </p:nvSpPr>
        <p:spPr bwMode="auto">
          <a:xfrm>
            <a:off x="562451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59" name="Text Box 63"/>
          <p:cNvSpPr txBox="1">
            <a:spLocks noChangeArrowheads="1"/>
          </p:cNvSpPr>
          <p:nvPr/>
        </p:nvSpPr>
        <p:spPr bwMode="auto">
          <a:xfrm>
            <a:off x="5456238" y="9906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2</a:t>
            </a:r>
            <a:r>
              <a:rPr lang="en-US"/>
              <a:t>)</a:t>
            </a:r>
          </a:p>
          <a:p>
            <a:pPr eaLnBrk="0" hangingPunct="0"/>
            <a:r>
              <a:rPr lang="en-US" sz="2000"/>
              <a:t>2%7 = 2</a:t>
            </a:r>
          </a:p>
        </p:txBody>
      </p:sp>
      <p:sp>
        <p:nvSpPr>
          <p:cNvPr id="183360" name="Text Box 64"/>
          <p:cNvSpPr txBox="1">
            <a:spLocks noChangeArrowheads="1"/>
          </p:cNvSpPr>
          <p:nvPr/>
        </p:nvSpPr>
        <p:spPr bwMode="auto">
          <a:xfrm>
            <a:off x="597217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3361" name="Rectangle 65"/>
          <p:cNvSpPr>
            <a:spLocks noChangeArrowheads="1"/>
          </p:cNvSpPr>
          <p:nvPr/>
        </p:nvSpPr>
        <p:spPr bwMode="auto">
          <a:xfrm>
            <a:off x="3032125"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3362" name="Rectangle 66"/>
          <p:cNvSpPr>
            <a:spLocks noChangeArrowheads="1"/>
          </p:cNvSpPr>
          <p:nvPr/>
        </p:nvSpPr>
        <p:spPr bwMode="auto">
          <a:xfrm>
            <a:off x="4449763" y="4845050"/>
            <a:ext cx="522287"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63" name="Rectangle 67"/>
          <p:cNvSpPr>
            <a:spLocks noChangeArrowheads="1"/>
          </p:cNvSpPr>
          <p:nvPr/>
        </p:nvSpPr>
        <p:spPr bwMode="auto">
          <a:xfrm>
            <a:off x="586740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64" name="Rectangle 68"/>
          <p:cNvSpPr>
            <a:spLocks noChangeArrowheads="1"/>
          </p:cNvSpPr>
          <p:nvPr/>
        </p:nvSpPr>
        <p:spPr bwMode="auto">
          <a:xfrm>
            <a:off x="7372350" y="27781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3365" name="Rectangle 69"/>
          <p:cNvSpPr>
            <a:spLocks noChangeArrowheads="1"/>
          </p:cNvSpPr>
          <p:nvPr/>
        </p:nvSpPr>
        <p:spPr bwMode="auto">
          <a:xfrm>
            <a:off x="7372350" y="32956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83366" name="Rectangle 70"/>
          <p:cNvSpPr>
            <a:spLocks noChangeArrowheads="1"/>
          </p:cNvSpPr>
          <p:nvPr/>
        </p:nvSpPr>
        <p:spPr bwMode="auto">
          <a:xfrm>
            <a:off x="7372350" y="43434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3367" name="Rectangle 71"/>
          <p:cNvSpPr>
            <a:spLocks noChangeArrowheads="1"/>
          </p:cNvSpPr>
          <p:nvPr/>
        </p:nvSpPr>
        <p:spPr bwMode="auto">
          <a:xfrm>
            <a:off x="7372350" y="486410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68" name="Rectangle 72"/>
          <p:cNvSpPr>
            <a:spLocks noChangeArrowheads="1"/>
          </p:cNvSpPr>
          <p:nvPr/>
        </p:nvSpPr>
        <p:spPr bwMode="auto">
          <a:xfrm>
            <a:off x="7372350" y="53832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69" name="Rectangle 73"/>
          <p:cNvSpPr>
            <a:spLocks noChangeArrowheads="1"/>
          </p:cNvSpPr>
          <p:nvPr/>
        </p:nvSpPr>
        <p:spPr bwMode="auto">
          <a:xfrm>
            <a:off x="7372350" y="38227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3370" name="Text Box 74"/>
          <p:cNvSpPr txBox="1">
            <a:spLocks noChangeArrowheads="1"/>
          </p:cNvSpPr>
          <p:nvPr/>
        </p:nvSpPr>
        <p:spPr bwMode="auto">
          <a:xfrm>
            <a:off x="7134225" y="37719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3371" name="Text Box 75"/>
          <p:cNvSpPr txBox="1">
            <a:spLocks noChangeArrowheads="1"/>
          </p:cNvSpPr>
          <p:nvPr/>
        </p:nvSpPr>
        <p:spPr bwMode="auto">
          <a:xfrm>
            <a:off x="7134225" y="32464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3372" name="Text Box 76"/>
          <p:cNvSpPr txBox="1">
            <a:spLocks noChangeArrowheads="1"/>
          </p:cNvSpPr>
          <p:nvPr/>
        </p:nvSpPr>
        <p:spPr bwMode="auto">
          <a:xfrm>
            <a:off x="7134225" y="27305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3373" name="Text Box 77"/>
          <p:cNvSpPr txBox="1">
            <a:spLocks noChangeArrowheads="1"/>
          </p:cNvSpPr>
          <p:nvPr/>
        </p:nvSpPr>
        <p:spPr bwMode="auto">
          <a:xfrm>
            <a:off x="7134225" y="2212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3374" name="Text Box 78"/>
          <p:cNvSpPr txBox="1">
            <a:spLocks noChangeArrowheads="1"/>
          </p:cNvSpPr>
          <p:nvPr/>
        </p:nvSpPr>
        <p:spPr bwMode="auto">
          <a:xfrm>
            <a:off x="7129463" y="53228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3375" name="Text Box 79"/>
          <p:cNvSpPr txBox="1">
            <a:spLocks noChangeArrowheads="1"/>
          </p:cNvSpPr>
          <p:nvPr/>
        </p:nvSpPr>
        <p:spPr bwMode="auto">
          <a:xfrm>
            <a:off x="7129463" y="48053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3376" name="Text Box 80"/>
          <p:cNvSpPr txBox="1">
            <a:spLocks noChangeArrowheads="1"/>
          </p:cNvSpPr>
          <p:nvPr/>
        </p:nvSpPr>
        <p:spPr bwMode="auto">
          <a:xfrm>
            <a:off x="7129463" y="4287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3377" name="Text Box 81"/>
          <p:cNvSpPr txBox="1">
            <a:spLocks noChangeArrowheads="1"/>
          </p:cNvSpPr>
          <p:nvPr/>
        </p:nvSpPr>
        <p:spPr bwMode="auto">
          <a:xfrm>
            <a:off x="6856413" y="1009650"/>
            <a:ext cx="1250663"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7</a:t>
            </a:r>
            <a:r>
              <a:rPr lang="en-US" dirty="0"/>
              <a:t>)</a:t>
            </a:r>
          </a:p>
          <a:p>
            <a:pPr eaLnBrk="0" hangingPunct="0"/>
            <a:r>
              <a:rPr lang="en-US" sz="2000" dirty="0"/>
              <a:t>7%7 = 0</a:t>
            </a:r>
          </a:p>
          <a:p>
            <a:pPr eaLnBrk="0" hangingPunct="0"/>
            <a:r>
              <a:rPr lang="en-US" sz="2000" dirty="0"/>
              <a:t>5-</a:t>
            </a:r>
            <a:r>
              <a:rPr lang="en-US" sz="2000" dirty="0" smtClean="0"/>
              <a:t>(7%5)=3</a:t>
            </a:r>
            <a:endParaRPr lang="en-US" sz="2000" dirty="0"/>
          </a:p>
        </p:txBody>
      </p:sp>
      <p:sp>
        <p:nvSpPr>
          <p:cNvPr id="183378" name="Rectangle 82"/>
          <p:cNvSpPr>
            <a:spLocks noChangeArrowheads="1"/>
          </p:cNvSpPr>
          <p:nvPr/>
        </p:nvSpPr>
        <p:spPr bwMode="auto">
          <a:xfrm>
            <a:off x="7372350" y="22574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3379" name="Text Box 83"/>
          <p:cNvSpPr txBox="1">
            <a:spLocks noChangeArrowheads="1"/>
          </p:cNvSpPr>
          <p:nvPr/>
        </p:nvSpPr>
        <p:spPr bwMode="auto">
          <a:xfrm>
            <a:off x="7315200" y="6019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solidFill>
                  <a:srgbClr val="FF0000"/>
                </a:solidFill>
              </a:rPr>
              <a:t>??</a:t>
            </a:r>
          </a:p>
        </p:txBody>
      </p:sp>
      <p:sp>
        <p:nvSpPr>
          <p:cNvPr id="2" name="TextBox 1"/>
          <p:cNvSpPr txBox="1"/>
          <p:nvPr/>
        </p:nvSpPr>
        <p:spPr>
          <a:xfrm>
            <a:off x="3841750" y="1872734"/>
            <a:ext cx="1787525" cy="369332"/>
          </a:xfrm>
          <a:prstGeom prst="rect">
            <a:avLst/>
          </a:prstGeom>
          <a:noFill/>
        </p:spPr>
        <p:txBody>
          <a:bodyPr wrap="square" rtlCol="0">
            <a:spAutoFit/>
          </a:bodyPr>
          <a:lstStyle/>
          <a:p>
            <a:r>
              <a:rPr lang="en-IN" dirty="0" smtClean="0"/>
              <a:t>(0+1*4)%7=4</a:t>
            </a:r>
            <a:endParaRPr lang="en-IN" dirty="0"/>
          </a:p>
        </p:txBody>
      </p:sp>
    </p:spTree>
    <p:extLst>
      <p:ext uri="{BB962C8B-B14F-4D97-AF65-F5344CB8AC3E}">
        <p14:creationId xmlns:p14="http://schemas.microsoft.com/office/powerpoint/2010/main" val="203926968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lide Number Placeholder 5"/>
          <p:cNvSpPr>
            <a:spLocks noGrp="1"/>
          </p:cNvSpPr>
          <p:nvPr>
            <p:ph type="sldNum" sz="quarter" idx="12"/>
          </p:nvPr>
        </p:nvSpPr>
        <p:spPr/>
        <p:txBody>
          <a:bodyPr/>
          <a:lstStyle/>
          <a:p>
            <a:fld id="{FC217246-278A-48CD-BCAC-9D5846A0AA78}" type="slidenum">
              <a:rPr lang="en-US"/>
              <a:pPr/>
              <a:t>73</a:t>
            </a:fld>
            <a:endParaRPr lang="en-US"/>
          </a:p>
        </p:txBody>
      </p:sp>
      <p:sp>
        <p:nvSpPr>
          <p:cNvPr id="185346" name="Rectangle 2"/>
          <p:cNvSpPr>
            <a:spLocks noGrp="1" noChangeArrowheads="1"/>
          </p:cNvSpPr>
          <p:nvPr>
            <p:ph type="title"/>
          </p:nvPr>
        </p:nvSpPr>
        <p:spPr>
          <a:xfrm>
            <a:off x="762000" y="0"/>
            <a:ext cx="7772400" cy="1143000"/>
          </a:xfrm>
        </p:spPr>
        <p:txBody>
          <a:bodyPr/>
          <a:lstStyle/>
          <a:p>
            <a:r>
              <a:rPr lang="en-US"/>
              <a:t>Double Hashing Example</a:t>
            </a:r>
          </a:p>
        </p:txBody>
      </p:sp>
      <p:sp>
        <p:nvSpPr>
          <p:cNvPr id="185347" name="Text Box 3"/>
          <p:cNvSpPr txBox="1">
            <a:spLocks noChangeArrowheads="1"/>
          </p:cNvSpPr>
          <p:nvPr/>
        </p:nvSpPr>
        <p:spPr bwMode="auto">
          <a:xfrm>
            <a:off x="60325" y="6137275"/>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probes:</a:t>
            </a:r>
          </a:p>
        </p:txBody>
      </p:sp>
      <p:sp>
        <p:nvSpPr>
          <p:cNvPr id="185348" name="Rectangle 4"/>
          <p:cNvSpPr>
            <a:spLocks noChangeArrowheads="1"/>
          </p:cNvSpPr>
          <p:nvPr/>
        </p:nvSpPr>
        <p:spPr bwMode="auto">
          <a:xfrm>
            <a:off x="161925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349" name="Rectangle 5"/>
          <p:cNvSpPr>
            <a:spLocks noChangeArrowheads="1"/>
          </p:cNvSpPr>
          <p:nvPr/>
        </p:nvSpPr>
        <p:spPr bwMode="auto">
          <a:xfrm>
            <a:off x="161925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0" name="Rectangle 6"/>
          <p:cNvSpPr>
            <a:spLocks noChangeArrowheads="1"/>
          </p:cNvSpPr>
          <p:nvPr/>
        </p:nvSpPr>
        <p:spPr bwMode="auto">
          <a:xfrm>
            <a:off x="161925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1" name="Rectangle 7"/>
          <p:cNvSpPr>
            <a:spLocks noChangeArrowheads="1"/>
          </p:cNvSpPr>
          <p:nvPr/>
        </p:nvSpPr>
        <p:spPr bwMode="auto">
          <a:xfrm>
            <a:off x="161925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2" name="Rectangle 8"/>
          <p:cNvSpPr>
            <a:spLocks noChangeArrowheads="1"/>
          </p:cNvSpPr>
          <p:nvPr/>
        </p:nvSpPr>
        <p:spPr bwMode="auto">
          <a:xfrm>
            <a:off x="161925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3" name="Rectangle 9"/>
          <p:cNvSpPr>
            <a:spLocks noChangeArrowheads="1"/>
          </p:cNvSpPr>
          <p:nvPr/>
        </p:nvSpPr>
        <p:spPr bwMode="auto">
          <a:xfrm>
            <a:off x="161925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5354" name="Rectangle 10"/>
          <p:cNvSpPr>
            <a:spLocks noChangeArrowheads="1"/>
          </p:cNvSpPr>
          <p:nvPr/>
        </p:nvSpPr>
        <p:spPr bwMode="auto">
          <a:xfrm>
            <a:off x="161925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55" name="Text Box 11"/>
          <p:cNvSpPr txBox="1">
            <a:spLocks noChangeArrowheads="1"/>
          </p:cNvSpPr>
          <p:nvPr/>
        </p:nvSpPr>
        <p:spPr bwMode="auto">
          <a:xfrm>
            <a:off x="1382713"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356" name="Text Box 12"/>
          <p:cNvSpPr txBox="1">
            <a:spLocks noChangeArrowheads="1"/>
          </p:cNvSpPr>
          <p:nvPr/>
        </p:nvSpPr>
        <p:spPr bwMode="auto">
          <a:xfrm>
            <a:off x="1382713"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357" name="Text Box 13"/>
          <p:cNvSpPr txBox="1">
            <a:spLocks noChangeArrowheads="1"/>
          </p:cNvSpPr>
          <p:nvPr/>
        </p:nvSpPr>
        <p:spPr bwMode="auto">
          <a:xfrm>
            <a:off x="1382713"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358" name="Text Box 14"/>
          <p:cNvSpPr txBox="1">
            <a:spLocks noChangeArrowheads="1"/>
          </p:cNvSpPr>
          <p:nvPr/>
        </p:nvSpPr>
        <p:spPr bwMode="auto">
          <a:xfrm>
            <a:off x="1382713"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359" name="Text Box 15"/>
          <p:cNvSpPr txBox="1">
            <a:spLocks noChangeArrowheads="1"/>
          </p:cNvSpPr>
          <p:nvPr/>
        </p:nvSpPr>
        <p:spPr bwMode="auto">
          <a:xfrm>
            <a:off x="137636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360" name="Text Box 16"/>
          <p:cNvSpPr txBox="1">
            <a:spLocks noChangeArrowheads="1"/>
          </p:cNvSpPr>
          <p:nvPr/>
        </p:nvSpPr>
        <p:spPr bwMode="auto">
          <a:xfrm>
            <a:off x="137636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361" name="Text Box 17"/>
          <p:cNvSpPr txBox="1">
            <a:spLocks noChangeArrowheads="1"/>
          </p:cNvSpPr>
          <p:nvPr/>
        </p:nvSpPr>
        <p:spPr bwMode="auto">
          <a:xfrm>
            <a:off x="137636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362" name="Text Box 18"/>
          <p:cNvSpPr txBox="1">
            <a:spLocks noChangeArrowheads="1"/>
          </p:cNvSpPr>
          <p:nvPr/>
        </p:nvSpPr>
        <p:spPr bwMode="auto">
          <a:xfrm>
            <a:off x="1128713" y="990600"/>
            <a:ext cx="13684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14</a:t>
            </a:r>
            <a:r>
              <a:rPr lang="en-US"/>
              <a:t>)</a:t>
            </a:r>
          </a:p>
          <a:p>
            <a:pPr eaLnBrk="0" hangingPunct="0"/>
            <a:r>
              <a:rPr lang="en-US" sz="2000"/>
              <a:t>14%7 = 0</a:t>
            </a:r>
          </a:p>
        </p:txBody>
      </p:sp>
      <p:sp>
        <p:nvSpPr>
          <p:cNvPr id="185363" name="Text Box 19"/>
          <p:cNvSpPr txBox="1">
            <a:spLocks noChangeArrowheads="1"/>
          </p:cNvSpPr>
          <p:nvPr/>
        </p:nvSpPr>
        <p:spPr bwMode="auto">
          <a:xfrm>
            <a:off x="172402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5364" name="Rectangle 20"/>
          <p:cNvSpPr>
            <a:spLocks noChangeArrowheads="1"/>
          </p:cNvSpPr>
          <p:nvPr/>
        </p:nvSpPr>
        <p:spPr bwMode="auto">
          <a:xfrm>
            <a:off x="3032125"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365" name="Rectangle 21"/>
          <p:cNvSpPr>
            <a:spLocks noChangeArrowheads="1"/>
          </p:cNvSpPr>
          <p:nvPr/>
        </p:nvSpPr>
        <p:spPr bwMode="auto">
          <a:xfrm>
            <a:off x="3032125"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5366" name="Rectangle 22"/>
          <p:cNvSpPr>
            <a:spLocks noChangeArrowheads="1"/>
          </p:cNvSpPr>
          <p:nvPr/>
        </p:nvSpPr>
        <p:spPr bwMode="auto">
          <a:xfrm>
            <a:off x="3032125"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67" name="Rectangle 23"/>
          <p:cNvSpPr>
            <a:spLocks noChangeArrowheads="1"/>
          </p:cNvSpPr>
          <p:nvPr/>
        </p:nvSpPr>
        <p:spPr bwMode="auto">
          <a:xfrm>
            <a:off x="3032125"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5368" name="Rectangle 24"/>
          <p:cNvSpPr>
            <a:spLocks noChangeArrowheads="1"/>
          </p:cNvSpPr>
          <p:nvPr/>
        </p:nvSpPr>
        <p:spPr bwMode="auto">
          <a:xfrm>
            <a:off x="3032125"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69" name="Rectangle 25"/>
          <p:cNvSpPr>
            <a:spLocks noChangeArrowheads="1"/>
          </p:cNvSpPr>
          <p:nvPr/>
        </p:nvSpPr>
        <p:spPr bwMode="auto">
          <a:xfrm>
            <a:off x="3032125"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70" name="Text Box 26"/>
          <p:cNvSpPr txBox="1">
            <a:spLocks noChangeArrowheads="1"/>
          </p:cNvSpPr>
          <p:nvPr/>
        </p:nvSpPr>
        <p:spPr bwMode="auto">
          <a:xfrm>
            <a:off x="2794000"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371" name="Text Box 27"/>
          <p:cNvSpPr txBox="1">
            <a:spLocks noChangeArrowheads="1"/>
          </p:cNvSpPr>
          <p:nvPr/>
        </p:nvSpPr>
        <p:spPr bwMode="auto">
          <a:xfrm>
            <a:off x="2794000"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372" name="Text Box 28"/>
          <p:cNvSpPr txBox="1">
            <a:spLocks noChangeArrowheads="1"/>
          </p:cNvSpPr>
          <p:nvPr/>
        </p:nvSpPr>
        <p:spPr bwMode="auto">
          <a:xfrm>
            <a:off x="2794000"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373" name="Text Box 29"/>
          <p:cNvSpPr txBox="1">
            <a:spLocks noChangeArrowheads="1"/>
          </p:cNvSpPr>
          <p:nvPr/>
        </p:nvSpPr>
        <p:spPr bwMode="auto">
          <a:xfrm>
            <a:off x="2794000"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374" name="Text Box 30"/>
          <p:cNvSpPr txBox="1">
            <a:spLocks noChangeArrowheads="1"/>
          </p:cNvSpPr>
          <p:nvPr/>
        </p:nvSpPr>
        <p:spPr bwMode="auto">
          <a:xfrm>
            <a:off x="2787650"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375" name="Text Box 31"/>
          <p:cNvSpPr txBox="1">
            <a:spLocks noChangeArrowheads="1"/>
          </p:cNvSpPr>
          <p:nvPr/>
        </p:nvSpPr>
        <p:spPr bwMode="auto">
          <a:xfrm>
            <a:off x="2787650"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376" name="Text Box 32"/>
          <p:cNvSpPr txBox="1">
            <a:spLocks noChangeArrowheads="1"/>
          </p:cNvSpPr>
          <p:nvPr/>
        </p:nvSpPr>
        <p:spPr bwMode="auto">
          <a:xfrm>
            <a:off x="2787650"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377" name="Text Box 33"/>
          <p:cNvSpPr txBox="1">
            <a:spLocks noChangeArrowheads="1"/>
          </p:cNvSpPr>
          <p:nvPr/>
        </p:nvSpPr>
        <p:spPr bwMode="auto">
          <a:xfrm>
            <a:off x="2620963" y="9906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8</a:t>
            </a:r>
            <a:r>
              <a:rPr lang="en-US"/>
              <a:t>)</a:t>
            </a:r>
          </a:p>
          <a:p>
            <a:pPr eaLnBrk="0" hangingPunct="0"/>
            <a:r>
              <a:rPr lang="en-US" sz="2000"/>
              <a:t>8%7 = 1</a:t>
            </a:r>
          </a:p>
        </p:txBody>
      </p:sp>
      <p:sp>
        <p:nvSpPr>
          <p:cNvPr id="185378" name="Text Box 34"/>
          <p:cNvSpPr txBox="1">
            <a:spLocks noChangeArrowheads="1"/>
          </p:cNvSpPr>
          <p:nvPr/>
        </p:nvSpPr>
        <p:spPr bwMode="auto">
          <a:xfrm>
            <a:off x="3135313"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5379" name="Rectangle 35"/>
          <p:cNvSpPr>
            <a:spLocks noChangeArrowheads="1"/>
          </p:cNvSpPr>
          <p:nvPr/>
        </p:nvSpPr>
        <p:spPr bwMode="auto">
          <a:xfrm>
            <a:off x="4449763" y="2238375"/>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380" name="Rectangle 36"/>
          <p:cNvSpPr>
            <a:spLocks noChangeArrowheads="1"/>
          </p:cNvSpPr>
          <p:nvPr/>
        </p:nvSpPr>
        <p:spPr bwMode="auto">
          <a:xfrm>
            <a:off x="4449763" y="2759075"/>
            <a:ext cx="522287"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5381" name="Rectangle 37"/>
          <p:cNvSpPr>
            <a:spLocks noChangeArrowheads="1"/>
          </p:cNvSpPr>
          <p:nvPr/>
        </p:nvSpPr>
        <p:spPr bwMode="auto">
          <a:xfrm>
            <a:off x="4449763" y="3276600"/>
            <a:ext cx="522287"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82" name="Rectangle 38"/>
          <p:cNvSpPr>
            <a:spLocks noChangeArrowheads="1"/>
          </p:cNvSpPr>
          <p:nvPr/>
        </p:nvSpPr>
        <p:spPr bwMode="auto">
          <a:xfrm>
            <a:off x="4449763" y="43243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5383" name="Rectangle 39"/>
          <p:cNvSpPr>
            <a:spLocks noChangeArrowheads="1"/>
          </p:cNvSpPr>
          <p:nvPr/>
        </p:nvSpPr>
        <p:spPr bwMode="auto">
          <a:xfrm>
            <a:off x="4449763" y="5364163"/>
            <a:ext cx="522287"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84" name="Rectangle 40"/>
          <p:cNvSpPr>
            <a:spLocks noChangeArrowheads="1"/>
          </p:cNvSpPr>
          <p:nvPr/>
        </p:nvSpPr>
        <p:spPr bwMode="auto">
          <a:xfrm>
            <a:off x="4449763" y="3803650"/>
            <a:ext cx="522287"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85" name="Text Box 41"/>
          <p:cNvSpPr txBox="1">
            <a:spLocks noChangeArrowheads="1"/>
          </p:cNvSpPr>
          <p:nvPr/>
        </p:nvSpPr>
        <p:spPr bwMode="auto">
          <a:xfrm>
            <a:off x="421322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386" name="Text Box 42"/>
          <p:cNvSpPr txBox="1">
            <a:spLocks noChangeArrowheads="1"/>
          </p:cNvSpPr>
          <p:nvPr/>
        </p:nvSpPr>
        <p:spPr bwMode="auto">
          <a:xfrm>
            <a:off x="421322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387" name="Text Box 43"/>
          <p:cNvSpPr txBox="1">
            <a:spLocks noChangeArrowheads="1"/>
          </p:cNvSpPr>
          <p:nvPr/>
        </p:nvSpPr>
        <p:spPr bwMode="auto">
          <a:xfrm>
            <a:off x="421322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388" name="Text Box 44"/>
          <p:cNvSpPr txBox="1">
            <a:spLocks noChangeArrowheads="1"/>
          </p:cNvSpPr>
          <p:nvPr/>
        </p:nvSpPr>
        <p:spPr bwMode="auto">
          <a:xfrm>
            <a:off x="421322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389" name="Text Box 45"/>
          <p:cNvSpPr txBox="1">
            <a:spLocks noChangeArrowheads="1"/>
          </p:cNvSpPr>
          <p:nvPr/>
        </p:nvSpPr>
        <p:spPr bwMode="auto">
          <a:xfrm>
            <a:off x="4206875"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390" name="Text Box 46"/>
          <p:cNvSpPr txBox="1">
            <a:spLocks noChangeArrowheads="1"/>
          </p:cNvSpPr>
          <p:nvPr/>
        </p:nvSpPr>
        <p:spPr bwMode="auto">
          <a:xfrm>
            <a:off x="4206875"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391" name="Text Box 47"/>
          <p:cNvSpPr txBox="1">
            <a:spLocks noChangeArrowheads="1"/>
          </p:cNvSpPr>
          <p:nvPr/>
        </p:nvSpPr>
        <p:spPr bwMode="auto">
          <a:xfrm>
            <a:off x="4206875"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392" name="Text Box 48"/>
          <p:cNvSpPr txBox="1">
            <a:spLocks noChangeArrowheads="1"/>
          </p:cNvSpPr>
          <p:nvPr/>
        </p:nvSpPr>
        <p:spPr bwMode="auto">
          <a:xfrm>
            <a:off x="3933825" y="990600"/>
            <a:ext cx="151035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dirty="0"/>
              <a:t>insert(</a:t>
            </a:r>
            <a:r>
              <a:rPr lang="en-US" dirty="0">
                <a:solidFill>
                  <a:srgbClr val="FF0000"/>
                </a:solidFill>
              </a:rPr>
              <a:t>21</a:t>
            </a:r>
            <a:r>
              <a:rPr lang="en-US" dirty="0"/>
              <a:t>)</a:t>
            </a:r>
          </a:p>
          <a:p>
            <a:pPr eaLnBrk="0" hangingPunct="0"/>
            <a:r>
              <a:rPr lang="en-US" sz="2000" dirty="0"/>
              <a:t>21%7 =0</a:t>
            </a:r>
          </a:p>
          <a:p>
            <a:pPr eaLnBrk="0" hangingPunct="0"/>
            <a:r>
              <a:rPr lang="en-US" sz="2000" dirty="0" smtClean="0"/>
              <a:t>5-1(21%5</a:t>
            </a:r>
            <a:r>
              <a:rPr lang="en-US" sz="2000" dirty="0"/>
              <a:t>)=4</a:t>
            </a:r>
          </a:p>
        </p:txBody>
      </p:sp>
      <p:sp>
        <p:nvSpPr>
          <p:cNvPr id="185393" name="Text Box 49"/>
          <p:cNvSpPr txBox="1">
            <a:spLocks noChangeArrowheads="1"/>
          </p:cNvSpPr>
          <p:nvPr/>
        </p:nvSpPr>
        <p:spPr bwMode="auto">
          <a:xfrm>
            <a:off x="4554538"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2</a:t>
            </a:r>
          </a:p>
        </p:txBody>
      </p:sp>
      <p:sp>
        <p:nvSpPr>
          <p:cNvPr id="185394" name="Rectangle 50"/>
          <p:cNvSpPr>
            <a:spLocks noChangeArrowheads="1"/>
          </p:cNvSpPr>
          <p:nvPr/>
        </p:nvSpPr>
        <p:spPr bwMode="auto">
          <a:xfrm>
            <a:off x="5867400" y="275907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5395" name="Rectangle 51"/>
          <p:cNvSpPr>
            <a:spLocks noChangeArrowheads="1"/>
          </p:cNvSpPr>
          <p:nvPr/>
        </p:nvSpPr>
        <p:spPr bwMode="auto">
          <a:xfrm>
            <a:off x="5867400"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85396" name="Rectangle 52"/>
          <p:cNvSpPr>
            <a:spLocks noChangeArrowheads="1"/>
          </p:cNvSpPr>
          <p:nvPr/>
        </p:nvSpPr>
        <p:spPr bwMode="auto">
          <a:xfrm>
            <a:off x="5867400" y="43243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5397" name="Rectangle 53"/>
          <p:cNvSpPr>
            <a:spLocks noChangeArrowheads="1"/>
          </p:cNvSpPr>
          <p:nvPr/>
        </p:nvSpPr>
        <p:spPr bwMode="auto">
          <a:xfrm>
            <a:off x="5867400" y="4845050"/>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98" name="Rectangle 54"/>
          <p:cNvSpPr>
            <a:spLocks noChangeArrowheads="1"/>
          </p:cNvSpPr>
          <p:nvPr/>
        </p:nvSpPr>
        <p:spPr bwMode="auto">
          <a:xfrm>
            <a:off x="5867400" y="536416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399" name="Rectangle 55"/>
          <p:cNvSpPr>
            <a:spLocks noChangeArrowheads="1"/>
          </p:cNvSpPr>
          <p:nvPr/>
        </p:nvSpPr>
        <p:spPr bwMode="auto">
          <a:xfrm>
            <a:off x="5867400" y="380365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400" name="Text Box 56"/>
          <p:cNvSpPr txBox="1">
            <a:spLocks noChangeArrowheads="1"/>
          </p:cNvSpPr>
          <p:nvPr/>
        </p:nvSpPr>
        <p:spPr bwMode="auto">
          <a:xfrm>
            <a:off x="5629275" y="37528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401" name="Text Box 57"/>
          <p:cNvSpPr txBox="1">
            <a:spLocks noChangeArrowheads="1"/>
          </p:cNvSpPr>
          <p:nvPr/>
        </p:nvSpPr>
        <p:spPr bwMode="auto">
          <a:xfrm>
            <a:off x="5629275" y="32273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402" name="Text Box 58"/>
          <p:cNvSpPr txBox="1">
            <a:spLocks noChangeArrowheads="1"/>
          </p:cNvSpPr>
          <p:nvPr/>
        </p:nvSpPr>
        <p:spPr bwMode="auto">
          <a:xfrm>
            <a:off x="5629275" y="271145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403" name="Text Box 59"/>
          <p:cNvSpPr txBox="1">
            <a:spLocks noChangeArrowheads="1"/>
          </p:cNvSpPr>
          <p:nvPr/>
        </p:nvSpPr>
        <p:spPr bwMode="auto">
          <a:xfrm>
            <a:off x="5629275" y="219392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404" name="Text Box 60"/>
          <p:cNvSpPr txBox="1">
            <a:spLocks noChangeArrowheads="1"/>
          </p:cNvSpPr>
          <p:nvPr/>
        </p:nvSpPr>
        <p:spPr bwMode="auto">
          <a:xfrm>
            <a:off x="5624513" y="5303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405" name="Text Box 61"/>
          <p:cNvSpPr txBox="1">
            <a:spLocks noChangeArrowheads="1"/>
          </p:cNvSpPr>
          <p:nvPr/>
        </p:nvSpPr>
        <p:spPr bwMode="auto">
          <a:xfrm>
            <a:off x="5624513" y="478631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406" name="Text Box 62"/>
          <p:cNvSpPr txBox="1">
            <a:spLocks noChangeArrowheads="1"/>
          </p:cNvSpPr>
          <p:nvPr/>
        </p:nvSpPr>
        <p:spPr bwMode="auto">
          <a:xfrm>
            <a:off x="5624513" y="42687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407" name="Text Box 63"/>
          <p:cNvSpPr txBox="1">
            <a:spLocks noChangeArrowheads="1"/>
          </p:cNvSpPr>
          <p:nvPr/>
        </p:nvSpPr>
        <p:spPr bwMode="auto">
          <a:xfrm>
            <a:off x="5456238" y="990600"/>
            <a:ext cx="1216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t>insert(</a:t>
            </a:r>
            <a:r>
              <a:rPr lang="en-US">
                <a:solidFill>
                  <a:srgbClr val="FF0000"/>
                </a:solidFill>
              </a:rPr>
              <a:t>2</a:t>
            </a:r>
            <a:r>
              <a:rPr lang="en-US"/>
              <a:t>)</a:t>
            </a:r>
          </a:p>
          <a:p>
            <a:pPr eaLnBrk="0" hangingPunct="0"/>
            <a:r>
              <a:rPr lang="en-US" sz="2000"/>
              <a:t>2%7 = 2</a:t>
            </a:r>
          </a:p>
        </p:txBody>
      </p:sp>
      <p:sp>
        <p:nvSpPr>
          <p:cNvPr id="185408" name="Text Box 64"/>
          <p:cNvSpPr txBox="1">
            <a:spLocks noChangeArrowheads="1"/>
          </p:cNvSpPr>
          <p:nvPr/>
        </p:nvSpPr>
        <p:spPr bwMode="auto">
          <a:xfrm>
            <a:off x="5972175" y="6000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t>1</a:t>
            </a:r>
          </a:p>
        </p:txBody>
      </p:sp>
      <p:sp>
        <p:nvSpPr>
          <p:cNvPr id="185409" name="Rectangle 65"/>
          <p:cNvSpPr>
            <a:spLocks noChangeArrowheads="1"/>
          </p:cNvSpPr>
          <p:nvPr/>
        </p:nvSpPr>
        <p:spPr bwMode="auto">
          <a:xfrm>
            <a:off x="3032125" y="327660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solidFill>
                <a:srgbClr val="FF0000"/>
              </a:solidFill>
            </a:endParaRPr>
          </a:p>
        </p:txBody>
      </p:sp>
      <p:sp>
        <p:nvSpPr>
          <p:cNvPr id="185410" name="Rectangle 66"/>
          <p:cNvSpPr>
            <a:spLocks noChangeArrowheads="1"/>
          </p:cNvSpPr>
          <p:nvPr/>
        </p:nvSpPr>
        <p:spPr bwMode="auto">
          <a:xfrm>
            <a:off x="4449763" y="4845050"/>
            <a:ext cx="522287"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411" name="Rectangle 67"/>
          <p:cNvSpPr>
            <a:spLocks noChangeArrowheads="1"/>
          </p:cNvSpPr>
          <p:nvPr/>
        </p:nvSpPr>
        <p:spPr bwMode="auto">
          <a:xfrm>
            <a:off x="5867400" y="223837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412" name="Rectangle 68"/>
          <p:cNvSpPr>
            <a:spLocks noChangeArrowheads="1"/>
          </p:cNvSpPr>
          <p:nvPr/>
        </p:nvSpPr>
        <p:spPr bwMode="auto">
          <a:xfrm>
            <a:off x="7372350" y="2778125"/>
            <a:ext cx="520700" cy="5175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8</a:t>
            </a:r>
          </a:p>
        </p:txBody>
      </p:sp>
      <p:sp>
        <p:nvSpPr>
          <p:cNvPr id="185413" name="Rectangle 69"/>
          <p:cNvSpPr>
            <a:spLocks noChangeArrowheads="1"/>
          </p:cNvSpPr>
          <p:nvPr/>
        </p:nvSpPr>
        <p:spPr bwMode="auto">
          <a:xfrm>
            <a:off x="7372350" y="3295650"/>
            <a:ext cx="520700" cy="522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a:t>
            </a:r>
          </a:p>
        </p:txBody>
      </p:sp>
      <p:sp>
        <p:nvSpPr>
          <p:cNvPr id="185414" name="Rectangle 70"/>
          <p:cNvSpPr>
            <a:spLocks noChangeArrowheads="1"/>
          </p:cNvSpPr>
          <p:nvPr/>
        </p:nvSpPr>
        <p:spPr bwMode="auto">
          <a:xfrm>
            <a:off x="7372350" y="43434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21</a:t>
            </a:r>
          </a:p>
        </p:txBody>
      </p:sp>
      <p:sp>
        <p:nvSpPr>
          <p:cNvPr id="185415" name="Rectangle 71"/>
          <p:cNvSpPr>
            <a:spLocks noChangeArrowheads="1"/>
          </p:cNvSpPr>
          <p:nvPr/>
        </p:nvSpPr>
        <p:spPr bwMode="auto">
          <a:xfrm>
            <a:off x="7359650" y="3804443"/>
            <a:ext cx="520700" cy="5191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dirty="0"/>
              <a:t>7</a:t>
            </a:r>
          </a:p>
        </p:txBody>
      </p:sp>
      <p:sp>
        <p:nvSpPr>
          <p:cNvPr id="185416" name="Rectangle 72"/>
          <p:cNvSpPr>
            <a:spLocks noChangeArrowheads="1"/>
          </p:cNvSpPr>
          <p:nvPr/>
        </p:nvSpPr>
        <p:spPr bwMode="auto">
          <a:xfrm>
            <a:off x="7372350" y="5383213"/>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417" name="Rectangle 73"/>
          <p:cNvSpPr>
            <a:spLocks noChangeArrowheads="1"/>
          </p:cNvSpPr>
          <p:nvPr/>
        </p:nvSpPr>
        <p:spPr bwMode="auto">
          <a:xfrm>
            <a:off x="7372350" y="3822700"/>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
        <p:nvSpPr>
          <p:cNvPr id="185418" name="Text Box 74"/>
          <p:cNvSpPr txBox="1">
            <a:spLocks noChangeArrowheads="1"/>
          </p:cNvSpPr>
          <p:nvPr/>
        </p:nvSpPr>
        <p:spPr bwMode="auto">
          <a:xfrm>
            <a:off x="7134225" y="37719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3</a:t>
            </a:r>
          </a:p>
        </p:txBody>
      </p:sp>
      <p:sp>
        <p:nvSpPr>
          <p:cNvPr id="185419" name="Text Box 75"/>
          <p:cNvSpPr txBox="1">
            <a:spLocks noChangeArrowheads="1"/>
          </p:cNvSpPr>
          <p:nvPr/>
        </p:nvSpPr>
        <p:spPr bwMode="auto">
          <a:xfrm>
            <a:off x="7134225" y="32464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2</a:t>
            </a:r>
          </a:p>
        </p:txBody>
      </p:sp>
      <p:sp>
        <p:nvSpPr>
          <p:cNvPr id="185420" name="Text Box 76"/>
          <p:cNvSpPr txBox="1">
            <a:spLocks noChangeArrowheads="1"/>
          </p:cNvSpPr>
          <p:nvPr/>
        </p:nvSpPr>
        <p:spPr bwMode="auto">
          <a:xfrm>
            <a:off x="7134225" y="2730500"/>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1</a:t>
            </a:r>
          </a:p>
        </p:txBody>
      </p:sp>
      <p:sp>
        <p:nvSpPr>
          <p:cNvPr id="185421" name="Text Box 77"/>
          <p:cNvSpPr txBox="1">
            <a:spLocks noChangeArrowheads="1"/>
          </p:cNvSpPr>
          <p:nvPr/>
        </p:nvSpPr>
        <p:spPr bwMode="auto">
          <a:xfrm>
            <a:off x="7134225" y="22129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0</a:t>
            </a:r>
          </a:p>
        </p:txBody>
      </p:sp>
      <p:sp>
        <p:nvSpPr>
          <p:cNvPr id="185422" name="Text Box 78"/>
          <p:cNvSpPr txBox="1">
            <a:spLocks noChangeArrowheads="1"/>
          </p:cNvSpPr>
          <p:nvPr/>
        </p:nvSpPr>
        <p:spPr bwMode="auto">
          <a:xfrm>
            <a:off x="7129463" y="532288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6</a:t>
            </a:r>
          </a:p>
        </p:txBody>
      </p:sp>
      <p:sp>
        <p:nvSpPr>
          <p:cNvPr id="185423" name="Text Box 79"/>
          <p:cNvSpPr txBox="1">
            <a:spLocks noChangeArrowheads="1"/>
          </p:cNvSpPr>
          <p:nvPr/>
        </p:nvSpPr>
        <p:spPr bwMode="auto">
          <a:xfrm>
            <a:off x="7129463" y="4805363"/>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5</a:t>
            </a:r>
          </a:p>
        </p:txBody>
      </p:sp>
      <p:sp>
        <p:nvSpPr>
          <p:cNvPr id="185424" name="Text Box 80"/>
          <p:cNvSpPr txBox="1">
            <a:spLocks noChangeArrowheads="1"/>
          </p:cNvSpPr>
          <p:nvPr/>
        </p:nvSpPr>
        <p:spPr bwMode="auto">
          <a:xfrm>
            <a:off x="7129463" y="4287838"/>
            <a:ext cx="298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sz="1800"/>
              <a:t>4</a:t>
            </a:r>
          </a:p>
        </p:txBody>
      </p:sp>
      <p:sp>
        <p:nvSpPr>
          <p:cNvPr id="185425" name="Text Box 81"/>
          <p:cNvSpPr txBox="1">
            <a:spLocks noChangeArrowheads="1"/>
          </p:cNvSpPr>
          <p:nvPr/>
        </p:nvSpPr>
        <p:spPr bwMode="auto">
          <a:xfrm>
            <a:off x="6856413" y="1009650"/>
            <a:ext cx="931665"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400" dirty="0"/>
              <a:t>insert(</a:t>
            </a:r>
            <a:r>
              <a:rPr lang="en-US" sz="1400" dirty="0">
                <a:solidFill>
                  <a:srgbClr val="FF0000"/>
                </a:solidFill>
              </a:rPr>
              <a:t>7</a:t>
            </a:r>
            <a:r>
              <a:rPr lang="en-US" sz="1400" dirty="0"/>
              <a:t>)</a:t>
            </a:r>
          </a:p>
          <a:p>
            <a:pPr eaLnBrk="0" hangingPunct="0"/>
            <a:r>
              <a:rPr lang="en-US" sz="1400" dirty="0"/>
              <a:t>7%7 = </a:t>
            </a:r>
            <a:r>
              <a:rPr lang="en-US" sz="1400" dirty="0" smtClean="0"/>
              <a:t>0 +</a:t>
            </a:r>
            <a:endParaRPr lang="en-US" sz="1400" dirty="0"/>
          </a:p>
          <a:p>
            <a:pPr eaLnBrk="0" hangingPunct="0"/>
            <a:r>
              <a:rPr lang="en-US" sz="1400" dirty="0"/>
              <a:t>5-</a:t>
            </a:r>
            <a:r>
              <a:rPr lang="en-US" sz="1400" dirty="0" smtClean="0"/>
              <a:t>(7%5)=3</a:t>
            </a:r>
          </a:p>
          <a:p>
            <a:pPr eaLnBrk="0" hangingPunct="0"/>
            <a:r>
              <a:rPr lang="en-US" sz="2000" dirty="0" smtClean="0"/>
              <a:t> </a:t>
            </a:r>
            <a:endParaRPr lang="en-US" sz="2000" dirty="0"/>
          </a:p>
        </p:txBody>
      </p:sp>
      <p:sp>
        <p:nvSpPr>
          <p:cNvPr id="185426" name="Rectangle 82"/>
          <p:cNvSpPr>
            <a:spLocks noChangeArrowheads="1"/>
          </p:cNvSpPr>
          <p:nvPr/>
        </p:nvSpPr>
        <p:spPr bwMode="auto">
          <a:xfrm>
            <a:off x="7372350" y="2257425"/>
            <a:ext cx="520700" cy="520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r>
              <a:rPr lang="en-US"/>
              <a:t>14</a:t>
            </a:r>
          </a:p>
        </p:txBody>
      </p:sp>
      <p:sp>
        <p:nvSpPr>
          <p:cNvPr id="185427" name="Text Box 83"/>
          <p:cNvSpPr txBox="1">
            <a:spLocks noChangeArrowheads="1"/>
          </p:cNvSpPr>
          <p:nvPr/>
        </p:nvSpPr>
        <p:spPr bwMode="auto">
          <a:xfrm>
            <a:off x="7315200" y="6019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solidFill>
                  <a:srgbClr val="FF0000"/>
                </a:solidFill>
              </a:rPr>
              <a:t>4</a:t>
            </a:r>
          </a:p>
        </p:txBody>
      </p:sp>
      <p:sp>
        <p:nvSpPr>
          <p:cNvPr id="88" name="Rectangle 72"/>
          <p:cNvSpPr>
            <a:spLocks noChangeArrowheads="1"/>
          </p:cNvSpPr>
          <p:nvPr/>
        </p:nvSpPr>
        <p:spPr bwMode="auto">
          <a:xfrm>
            <a:off x="7380312" y="4850929"/>
            <a:ext cx="520700" cy="5222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a:p>
        </p:txBody>
      </p:sp>
    </p:spTree>
    <p:extLst>
      <p:ext uri="{BB962C8B-B14F-4D97-AF65-F5344CB8AC3E}">
        <p14:creationId xmlns:p14="http://schemas.microsoft.com/office/powerpoint/2010/main" val="171300968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579296" cy="5937523"/>
          </a:xfrm>
        </p:spPr>
        <p:txBody>
          <a:bodyPr/>
          <a:lstStyle/>
          <a:p>
            <a:r>
              <a:rPr lang="en-IN" dirty="0" smtClean="0">
                <a:solidFill>
                  <a:srgbClr val="FF0000"/>
                </a:solidFill>
              </a:rPr>
              <a:t>Advantages:</a:t>
            </a:r>
          </a:p>
          <a:p>
            <a:pPr marL="0" indent="0">
              <a:buNone/>
            </a:pPr>
            <a:r>
              <a:rPr lang="en-IN" dirty="0"/>
              <a:t>skip values give different search paths for keys that </a:t>
            </a:r>
            <a:r>
              <a:rPr lang="en-IN" dirty="0" smtClean="0"/>
              <a:t>collide.</a:t>
            </a:r>
          </a:p>
          <a:p>
            <a:r>
              <a:rPr lang="en-IN" dirty="0">
                <a:solidFill>
                  <a:srgbClr val="FF0000"/>
                </a:solidFill>
              </a:rPr>
              <a:t>Disadvantage: </a:t>
            </a:r>
            <a:endParaRPr lang="en-IN" dirty="0" smtClean="0">
              <a:solidFill>
                <a:srgbClr val="FF0000"/>
              </a:solidFill>
            </a:endParaRPr>
          </a:p>
          <a:p>
            <a:pPr marL="0" indent="0">
              <a:buNone/>
            </a:pPr>
            <a:r>
              <a:rPr lang="en-IN" dirty="0" smtClean="0"/>
              <a:t>delete </a:t>
            </a:r>
            <a:r>
              <a:rPr lang="en-IN" dirty="0"/>
              <a:t>cumbersome to implement</a:t>
            </a:r>
          </a:p>
        </p:txBody>
      </p:sp>
    </p:spTree>
    <p:extLst>
      <p:ext uri="{BB962C8B-B14F-4D97-AF65-F5344CB8AC3E}">
        <p14:creationId xmlns:p14="http://schemas.microsoft.com/office/powerpoint/2010/main" val="84923731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FF0000"/>
                </a:solidFill>
              </a:rPr>
              <a:t>Home work</a:t>
            </a:r>
            <a:r>
              <a:rPr lang="en-US" dirty="0" smtClean="0"/>
              <a:t> : Hashing  problem</a:t>
            </a:r>
            <a:endParaRPr lang="en-IN" dirty="0"/>
          </a:p>
        </p:txBody>
      </p:sp>
      <p:sp>
        <p:nvSpPr>
          <p:cNvPr id="3" name="Content Placeholder 2"/>
          <p:cNvSpPr>
            <a:spLocks noGrp="1"/>
          </p:cNvSpPr>
          <p:nvPr>
            <p:ph idx="1"/>
          </p:nvPr>
        </p:nvSpPr>
        <p:spPr/>
        <p:txBody>
          <a:bodyPr/>
          <a:lstStyle/>
          <a:p>
            <a:pPr marL="0" indent="0">
              <a:buNone/>
            </a:pPr>
            <a:r>
              <a:rPr lang="en-US" dirty="0" smtClean="0"/>
              <a:t>Given the following input (3471, 1323, 6173, 4199, 4344, 9679,1989) and a hash function h(x)= x mod 10 show the resulting </a:t>
            </a:r>
          </a:p>
          <a:p>
            <a:pPr marL="0" indent="0">
              <a:buNone/>
            </a:pPr>
            <a:r>
              <a:rPr lang="en-US" dirty="0" smtClean="0"/>
              <a:t>A) Separate chaining hash table</a:t>
            </a:r>
          </a:p>
          <a:p>
            <a:pPr marL="0" indent="0">
              <a:buNone/>
            </a:pPr>
            <a:r>
              <a:rPr lang="en-US" dirty="0" smtClean="0"/>
              <a:t>B) Hash table using Linear Probing</a:t>
            </a:r>
          </a:p>
          <a:p>
            <a:pPr marL="0" indent="0">
              <a:buNone/>
            </a:pPr>
            <a:r>
              <a:rPr lang="en-US" dirty="0" smtClean="0"/>
              <a:t>C) Hash table using Quadratic Probing</a:t>
            </a:r>
          </a:p>
          <a:p>
            <a:pPr marL="0" indent="0">
              <a:buNone/>
            </a:pPr>
            <a:r>
              <a:rPr lang="en-US" dirty="0" smtClean="0"/>
              <a:t>D) Hash table with second Hash function </a:t>
            </a:r>
          </a:p>
          <a:p>
            <a:pPr marL="0" indent="0">
              <a:buNone/>
            </a:pPr>
            <a:r>
              <a:rPr lang="en-US" dirty="0"/>
              <a:t> </a:t>
            </a:r>
            <a:r>
              <a:rPr lang="en-US" dirty="0" smtClean="0"/>
              <a:t>             h</a:t>
            </a:r>
            <a:r>
              <a:rPr lang="en-US" baseline="-25000" dirty="0" smtClean="0"/>
              <a:t>2</a:t>
            </a:r>
            <a:r>
              <a:rPr lang="en-US" dirty="0" smtClean="0"/>
              <a:t>(x) = 7- ( x mod 7 )</a:t>
            </a:r>
            <a:endParaRPr lang="en-IN" dirty="0"/>
          </a:p>
        </p:txBody>
      </p:sp>
    </p:spTree>
    <p:extLst>
      <p:ext uri="{BB962C8B-B14F-4D97-AF65-F5344CB8AC3E}">
        <p14:creationId xmlns:p14="http://schemas.microsoft.com/office/powerpoint/2010/main" val="49323346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p:spPr>
        <p:txBody>
          <a:bodyPr/>
          <a:lstStyle>
            <a:lvl1pPr eaLnBrk="0" hangingPunct="0">
              <a:defRPr sz="2400">
                <a:solidFill>
                  <a:schemeClr val="tx1"/>
                </a:solidFill>
                <a:latin typeface="Times New Roman" pitchFamily="18" charset="-52"/>
              </a:defRPr>
            </a:lvl1pPr>
            <a:lvl2pPr marL="742950" indent="-285750" eaLnBrk="0" hangingPunct="0">
              <a:defRPr sz="2400">
                <a:solidFill>
                  <a:schemeClr val="tx1"/>
                </a:solidFill>
                <a:latin typeface="Times New Roman" pitchFamily="18" charset="-52"/>
              </a:defRPr>
            </a:lvl2pPr>
            <a:lvl3pPr marL="1143000" indent="-228600" eaLnBrk="0" hangingPunct="0">
              <a:defRPr sz="2400">
                <a:solidFill>
                  <a:schemeClr val="tx1"/>
                </a:solidFill>
                <a:latin typeface="Times New Roman" pitchFamily="18" charset="-52"/>
              </a:defRPr>
            </a:lvl3pPr>
            <a:lvl4pPr marL="1600200" indent="-228600" eaLnBrk="0" hangingPunct="0">
              <a:defRPr sz="2400">
                <a:solidFill>
                  <a:schemeClr val="tx1"/>
                </a:solidFill>
                <a:latin typeface="Times New Roman" pitchFamily="18" charset="-52"/>
              </a:defRPr>
            </a:lvl4pPr>
            <a:lvl5pPr marL="2057400" indent="-228600" eaLnBrk="0" hangingPunct="0">
              <a:defRPr sz="2400">
                <a:solidFill>
                  <a:schemeClr val="tx1"/>
                </a:solidFill>
                <a:latin typeface="Times New Roman" pitchFamily="18" charset="-52"/>
              </a:defRPr>
            </a:lvl5pPr>
            <a:lvl6pPr marL="2514600" indent="-228600" algn="ctr" eaLnBrk="0" fontAlgn="base" hangingPunct="0">
              <a:spcBef>
                <a:spcPct val="0"/>
              </a:spcBef>
              <a:spcAft>
                <a:spcPct val="0"/>
              </a:spcAft>
              <a:defRPr sz="2400">
                <a:solidFill>
                  <a:schemeClr val="tx1"/>
                </a:solidFill>
                <a:latin typeface="Times New Roman" pitchFamily="18" charset="-52"/>
              </a:defRPr>
            </a:lvl6pPr>
            <a:lvl7pPr marL="2971800" indent="-228600" algn="ctr" eaLnBrk="0" fontAlgn="base" hangingPunct="0">
              <a:spcBef>
                <a:spcPct val="0"/>
              </a:spcBef>
              <a:spcAft>
                <a:spcPct val="0"/>
              </a:spcAft>
              <a:defRPr sz="2400">
                <a:solidFill>
                  <a:schemeClr val="tx1"/>
                </a:solidFill>
                <a:latin typeface="Times New Roman" pitchFamily="18" charset="-52"/>
              </a:defRPr>
            </a:lvl7pPr>
            <a:lvl8pPr marL="3429000" indent="-228600" algn="ctr" eaLnBrk="0" fontAlgn="base" hangingPunct="0">
              <a:spcBef>
                <a:spcPct val="0"/>
              </a:spcBef>
              <a:spcAft>
                <a:spcPct val="0"/>
              </a:spcAft>
              <a:defRPr sz="2400">
                <a:solidFill>
                  <a:schemeClr val="tx1"/>
                </a:solidFill>
                <a:latin typeface="Times New Roman" pitchFamily="18" charset="-52"/>
              </a:defRPr>
            </a:lvl8pPr>
            <a:lvl9pPr marL="3886200" indent="-228600" algn="ctr" eaLnBrk="0" fontAlgn="base" hangingPunct="0">
              <a:spcBef>
                <a:spcPct val="0"/>
              </a:spcBef>
              <a:spcAft>
                <a:spcPct val="0"/>
              </a:spcAft>
              <a:defRPr sz="2400">
                <a:solidFill>
                  <a:schemeClr val="tx1"/>
                </a:solidFill>
                <a:latin typeface="Times New Roman" pitchFamily="18" charset="-52"/>
              </a:defRPr>
            </a:lvl9pPr>
          </a:lstStyle>
          <a:p>
            <a:pPr eaLnBrk="1" hangingPunct="1"/>
            <a:fld id="{8797CDD2-E7D7-47BD-B901-8A29B05DAA9A}" type="slidenum">
              <a:rPr lang="en-US" sz="1400"/>
              <a:pPr eaLnBrk="1" hangingPunct="1"/>
              <a:t>76</a:t>
            </a:fld>
            <a:endParaRPr lang="en-US" sz="1400"/>
          </a:p>
        </p:txBody>
      </p:sp>
      <p:sp>
        <p:nvSpPr>
          <p:cNvPr id="36867" name="Rectangle 2"/>
          <p:cNvSpPr>
            <a:spLocks noGrp="1" noChangeArrowheads="1"/>
          </p:cNvSpPr>
          <p:nvPr>
            <p:ph type="title"/>
          </p:nvPr>
        </p:nvSpPr>
        <p:spPr>
          <a:xfrm>
            <a:off x="685800" y="304800"/>
            <a:ext cx="7772400" cy="1143000"/>
          </a:xfrm>
        </p:spPr>
        <p:txBody>
          <a:bodyPr/>
          <a:lstStyle/>
          <a:p>
            <a:pPr eaLnBrk="1" hangingPunct="1"/>
            <a:r>
              <a:rPr lang="en-US" dirty="0" smtClean="0">
                <a:solidFill>
                  <a:srgbClr val="FF00FF"/>
                </a:solidFill>
              </a:rPr>
              <a:t>Load Factor in Double Hashing</a:t>
            </a:r>
          </a:p>
        </p:txBody>
      </p:sp>
      <p:sp>
        <p:nvSpPr>
          <p:cNvPr id="36868" name="Rectangle 3"/>
          <p:cNvSpPr>
            <a:spLocks noGrp="1" noChangeArrowheads="1"/>
          </p:cNvSpPr>
          <p:nvPr>
            <p:ph type="body" idx="1"/>
          </p:nvPr>
        </p:nvSpPr>
        <p:spPr>
          <a:xfrm>
            <a:off x="533400" y="1676400"/>
            <a:ext cx="8077200" cy="4114800"/>
          </a:xfrm>
        </p:spPr>
        <p:txBody>
          <a:bodyPr/>
          <a:lstStyle/>
          <a:p>
            <a:pPr eaLnBrk="1" hangingPunct="1">
              <a:lnSpc>
                <a:spcPct val="90000"/>
              </a:lnSpc>
            </a:pPr>
            <a:r>
              <a:rPr lang="en-US" sz="2400" smtClean="0"/>
              <a:t>For </a:t>
            </a:r>
            <a:r>
              <a:rPr lang="en-US" sz="2400" i="1" smtClean="0"/>
              <a:t>any</a:t>
            </a:r>
            <a:r>
              <a:rPr lang="en-US" sz="2400" smtClean="0"/>
              <a:t> </a:t>
            </a:r>
            <a:r>
              <a:rPr lang="en-US" sz="2400" smtClean="0">
                <a:sym typeface="Symbol" pitchFamily="18" charset="2"/>
              </a:rPr>
              <a:t> &lt; 1, double hashing will find an empty slot (given appropriate table size and hash</a:t>
            </a:r>
            <a:r>
              <a:rPr lang="en-US" sz="2400" baseline="-25000" smtClean="0">
                <a:sym typeface="Symbol" pitchFamily="18" charset="2"/>
              </a:rPr>
              <a:t>2</a:t>
            </a:r>
            <a:r>
              <a:rPr lang="en-US" sz="2400" smtClean="0">
                <a:sym typeface="Symbol" pitchFamily="18" charset="2"/>
              </a:rPr>
              <a:t>)</a:t>
            </a:r>
          </a:p>
          <a:p>
            <a:pPr eaLnBrk="1" hangingPunct="1">
              <a:lnSpc>
                <a:spcPct val="90000"/>
              </a:lnSpc>
            </a:pPr>
            <a:r>
              <a:rPr lang="en-US" sz="2400" smtClean="0">
                <a:sym typeface="Symbol" pitchFamily="18" charset="2"/>
              </a:rPr>
              <a:t>Search cost approaches optimal (random re-hash):</a:t>
            </a:r>
          </a:p>
          <a:p>
            <a:pPr lvl="1" eaLnBrk="1" hangingPunct="1">
              <a:lnSpc>
                <a:spcPct val="90000"/>
              </a:lnSpc>
            </a:pPr>
            <a:r>
              <a:rPr lang="en-US" sz="2000" smtClean="0">
                <a:sym typeface="Symbol" pitchFamily="18" charset="2"/>
              </a:rPr>
              <a:t>successful search:</a:t>
            </a:r>
          </a:p>
          <a:p>
            <a:pPr lvl="1" eaLnBrk="1" hangingPunct="1">
              <a:lnSpc>
                <a:spcPct val="90000"/>
              </a:lnSpc>
            </a:pPr>
            <a:endParaRPr lang="en-US" sz="2000" smtClean="0"/>
          </a:p>
          <a:p>
            <a:pPr lvl="1" eaLnBrk="1" hangingPunct="1">
              <a:lnSpc>
                <a:spcPct val="90000"/>
              </a:lnSpc>
            </a:pPr>
            <a:endParaRPr lang="en-US" sz="2000" smtClean="0"/>
          </a:p>
          <a:p>
            <a:pPr lvl="1" eaLnBrk="1" hangingPunct="1">
              <a:lnSpc>
                <a:spcPct val="90000"/>
              </a:lnSpc>
            </a:pPr>
            <a:r>
              <a:rPr lang="en-US" sz="2000" smtClean="0"/>
              <a:t>unsuccessful search:</a:t>
            </a:r>
          </a:p>
          <a:p>
            <a:pPr lvl="1" eaLnBrk="1" hangingPunct="1">
              <a:lnSpc>
                <a:spcPct val="90000"/>
              </a:lnSpc>
            </a:pPr>
            <a:endParaRPr lang="en-US" sz="2000" smtClean="0"/>
          </a:p>
          <a:p>
            <a:pPr eaLnBrk="1" hangingPunct="1">
              <a:lnSpc>
                <a:spcPct val="90000"/>
              </a:lnSpc>
            </a:pPr>
            <a:endParaRPr lang="en-US" sz="2400" smtClean="0"/>
          </a:p>
          <a:p>
            <a:pPr eaLnBrk="1" hangingPunct="1">
              <a:lnSpc>
                <a:spcPct val="90000"/>
              </a:lnSpc>
            </a:pPr>
            <a:r>
              <a:rPr lang="en-US" sz="2400" smtClean="0"/>
              <a:t>No primary clustering and no secondary clustering</a:t>
            </a:r>
            <a:endParaRPr lang="en-US" sz="2400" b="1" smtClean="0"/>
          </a:p>
          <a:p>
            <a:pPr eaLnBrk="1" hangingPunct="1">
              <a:lnSpc>
                <a:spcPct val="90000"/>
              </a:lnSpc>
            </a:pPr>
            <a:r>
              <a:rPr lang="en-US" sz="2400" smtClean="0">
                <a:solidFill>
                  <a:schemeClr val="accent2"/>
                </a:solidFill>
              </a:rPr>
              <a:t>Still becomes costly as </a:t>
            </a:r>
            <a:r>
              <a:rPr lang="en-US" sz="2400" smtClean="0">
                <a:solidFill>
                  <a:schemeClr val="accent2"/>
                </a:solidFill>
                <a:sym typeface="Symbol" pitchFamily="18" charset="2"/>
              </a:rPr>
              <a:t></a:t>
            </a:r>
            <a:r>
              <a:rPr lang="en-US" sz="2400" smtClean="0">
                <a:solidFill>
                  <a:schemeClr val="accent2"/>
                </a:solidFill>
              </a:rPr>
              <a:t> nears 1. </a:t>
            </a:r>
            <a:endParaRPr lang="en-US" sz="2400" smtClean="0">
              <a:solidFill>
                <a:schemeClr val="accent2"/>
              </a:solidFill>
              <a:sym typeface="Symbol" pitchFamily="18" charset="2"/>
            </a:endParaRPr>
          </a:p>
          <a:p>
            <a:pPr lvl="1" eaLnBrk="1" hangingPunct="1">
              <a:lnSpc>
                <a:spcPct val="90000"/>
              </a:lnSpc>
            </a:pPr>
            <a:endParaRPr lang="en-US" sz="2000" smtClean="0"/>
          </a:p>
        </p:txBody>
      </p:sp>
      <p:graphicFrame>
        <p:nvGraphicFramePr>
          <p:cNvPr id="36869" name="Object 4"/>
          <p:cNvGraphicFramePr>
            <a:graphicFrameLocks noChangeAspect="1"/>
          </p:cNvGraphicFramePr>
          <p:nvPr/>
        </p:nvGraphicFramePr>
        <p:xfrm>
          <a:off x="3733800" y="3886200"/>
          <a:ext cx="763588" cy="876300"/>
        </p:xfrm>
        <a:graphic>
          <a:graphicData uri="http://schemas.openxmlformats.org/presentationml/2006/ole">
            <mc:AlternateContent xmlns:mc="http://schemas.openxmlformats.org/markup-compatibility/2006">
              <mc:Choice xmlns:v="urn:schemas-microsoft-com:vml" Requires="v">
                <p:oleObj spid="_x0000_s2198" name="Equation" r:id="rId4" imgW="342751" imgH="393529" progId="Equation.3">
                  <p:embed/>
                </p:oleObj>
              </mc:Choice>
              <mc:Fallback>
                <p:oleObj name="Equation" r:id="rId4" imgW="342751" imgH="39352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886200"/>
                        <a:ext cx="763588"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0" name="Object 5"/>
          <p:cNvGraphicFramePr>
            <a:graphicFrameLocks noChangeAspect="1"/>
          </p:cNvGraphicFramePr>
          <p:nvPr/>
        </p:nvGraphicFramePr>
        <p:xfrm>
          <a:off x="3581400" y="2819400"/>
          <a:ext cx="1389063" cy="876300"/>
        </p:xfrm>
        <a:graphic>
          <a:graphicData uri="http://schemas.openxmlformats.org/presentationml/2006/ole">
            <mc:AlternateContent xmlns:mc="http://schemas.openxmlformats.org/markup-compatibility/2006">
              <mc:Choice xmlns:v="urn:schemas-microsoft-com:vml" Requires="v">
                <p:oleObj spid="_x0000_s2199" name="Equation" r:id="rId6" imgW="622030" imgH="393529" progId="Equation.3">
                  <p:embed/>
                </p:oleObj>
              </mc:Choice>
              <mc:Fallback>
                <p:oleObj name="Equation" r:id="rId6" imgW="622030" imgH="393529"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2819400"/>
                        <a:ext cx="1389063"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1" name="AutoShape 6"/>
          <p:cNvSpPr>
            <a:spLocks noChangeArrowheads="1"/>
          </p:cNvSpPr>
          <p:nvPr/>
        </p:nvSpPr>
        <p:spPr bwMode="auto">
          <a:xfrm>
            <a:off x="5562600" y="3657600"/>
            <a:ext cx="2057400" cy="914400"/>
          </a:xfrm>
          <a:prstGeom prst="wedgeRoundRectCallout">
            <a:avLst>
              <a:gd name="adj1" fmla="val -65972"/>
              <a:gd name="adj2" fmla="val -91667"/>
              <a:gd name="adj3" fmla="val 16667"/>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r>
              <a:rPr lang="en-US" b="1"/>
              <a:t>Note natural logarithm!</a:t>
            </a:r>
          </a:p>
        </p:txBody>
      </p:sp>
    </p:spTree>
    <p:extLst>
      <p:ext uri="{BB962C8B-B14F-4D97-AF65-F5344CB8AC3E}">
        <p14:creationId xmlns:p14="http://schemas.microsoft.com/office/powerpoint/2010/main" val="256931997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30846" y="1988840"/>
            <a:ext cx="6910908" cy="3816429"/>
          </a:xfrm>
          <a:prstGeom prst="rect">
            <a:avLst/>
          </a:prstGeom>
          <a:noFill/>
        </p:spPr>
        <p:txBody>
          <a:bodyPr wrap="square" rtlCol="0">
            <a:spAutoFit/>
          </a:bodyPr>
          <a:lstStyle/>
          <a:p>
            <a:pPr algn="just"/>
            <a:r>
              <a:rPr lang="en-US" sz="2200" dirty="0">
                <a:solidFill>
                  <a:srgbClr val="FF0000"/>
                </a:solidFill>
              </a:rPr>
              <a:t>Linear probing </a:t>
            </a:r>
            <a:r>
              <a:rPr lang="en-US" sz="2200" dirty="0"/>
              <a:t>has the best cache performance but </a:t>
            </a:r>
            <a:r>
              <a:rPr lang="en-US" sz="2200" dirty="0">
                <a:solidFill>
                  <a:srgbClr val="FF0000"/>
                </a:solidFill>
              </a:rPr>
              <a:t>suffers from clustering</a:t>
            </a:r>
            <a:r>
              <a:rPr lang="en-US" sz="2200" dirty="0"/>
              <a:t>. One more advantage of Linear probing is </a:t>
            </a:r>
            <a:r>
              <a:rPr lang="en-US" sz="2200" dirty="0">
                <a:solidFill>
                  <a:srgbClr val="FF0000"/>
                </a:solidFill>
              </a:rPr>
              <a:t>easy</a:t>
            </a:r>
            <a:r>
              <a:rPr lang="en-US" sz="2200" dirty="0"/>
              <a:t> to compute</a:t>
            </a:r>
            <a:r>
              <a:rPr lang="en-US" sz="2200" dirty="0" smtClean="0"/>
              <a:t>.</a:t>
            </a:r>
          </a:p>
          <a:p>
            <a:pPr algn="just"/>
            <a:endParaRPr lang="en-US" sz="2200" dirty="0"/>
          </a:p>
          <a:p>
            <a:pPr algn="just"/>
            <a:r>
              <a:rPr lang="en-US" sz="2200" dirty="0"/>
              <a:t>Quadratic probing lies between the two in terms of </a:t>
            </a:r>
            <a:r>
              <a:rPr lang="en-US" sz="2200" dirty="0">
                <a:solidFill>
                  <a:srgbClr val="FF0000"/>
                </a:solidFill>
              </a:rPr>
              <a:t>cache performance and clustering.</a:t>
            </a:r>
          </a:p>
          <a:p>
            <a:pPr algn="just"/>
            <a:endParaRPr lang="en-US" sz="2200" dirty="0" smtClean="0"/>
          </a:p>
          <a:p>
            <a:pPr algn="just"/>
            <a:r>
              <a:rPr lang="en-US" sz="2200" dirty="0" smtClean="0"/>
              <a:t>Double </a:t>
            </a:r>
            <a:r>
              <a:rPr lang="en-US" sz="2200" dirty="0"/>
              <a:t>hashing has </a:t>
            </a:r>
            <a:r>
              <a:rPr lang="en-US" sz="2200" dirty="0">
                <a:solidFill>
                  <a:srgbClr val="FF0000"/>
                </a:solidFill>
              </a:rPr>
              <a:t>poor cache </a:t>
            </a:r>
            <a:r>
              <a:rPr lang="en-US" sz="2200" dirty="0"/>
              <a:t>performance but </a:t>
            </a:r>
            <a:r>
              <a:rPr lang="en-US" sz="2200" dirty="0">
                <a:solidFill>
                  <a:srgbClr val="FF0000"/>
                </a:solidFill>
              </a:rPr>
              <a:t>no clustering. </a:t>
            </a:r>
            <a:r>
              <a:rPr lang="en-US" sz="2200" dirty="0"/>
              <a:t>Double hashing requires </a:t>
            </a:r>
            <a:r>
              <a:rPr lang="en-US" sz="2200" dirty="0">
                <a:solidFill>
                  <a:srgbClr val="FF0000"/>
                </a:solidFill>
              </a:rPr>
              <a:t>more computation</a:t>
            </a:r>
            <a:r>
              <a:rPr lang="en-US" sz="2200" dirty="0"/>
              <a:t> time as two hash functions need to be computed.</a:t>
            </a:r>
          </a:p>
          <a:p>
            <a:endParaRPr lang="en-IN" sz="2200" dirty="0"/>
          </a:p>
        </p:txBody>
      </p:sp>
      <p:sp>
        <p:nvSpPr>
          <p:cNvPr id="5" name="TextBox 4"/>
          <p:cNvSpPr txBox="1"/>
          <p:nvPr/>
        </p:nvSpPr>
        <p:spPr>
          <a:xfrm>
            <a:off x="1981200" y="838200"/>
            <a:ext cx="5410200" cy="646331"/>
          </a:xfrm>
          <a:prstGeom prst="rect">
            <a:avLst/>
          </a:prstGeom>
          <a:noFill/>
        </p:spPr>
        <p:txBody>
          <a:bodyPr wrap="square" rtlCol="0">
            <a:spAutoFit/>
          </a:bodyPr>
          <a:lstStyle/>
          <a:p>
            <a:pPr algn="ctr"/>
            <a:r>
              <a:rPr lang="en-IN" sz="3600" dirty="0">
                <a:solidFill>
                  <a:srgbClr val="FF0000"/>
                </a:solidFill>
              </a:rPr>
              <a:t>C</a:t>
            </a:r>
            <a:r>
              <a:rPr lang="en-IN" sz="3600" dirty="0" smtClean="0">
                <a:solidFill>
                  <a:srgbClr val="FF0000"/>
                </a:solidFill>
              </a:rPr>
              <a:t>omparison</a:t>
            </a:r>
            <a:endParaRPr lang="en-IN" sz="3600" dirty="0">
              <a:solidFill>
                <a:srgbClr val="FF0000"/>
              </a:solidFill>
            </a:endParaRPr>
          </a:p>
        </p:txBody>
      </p:sp>
    </p:spTree>
    <p:extLst>
      <p:ext uri="{BB962C8B-B14F-4D97-AF65-F5344CB8AC3E}">
        <p14:creationId xmlns:p14="http://schemas.microsoft.com/office/powerpoint/2010/main" val="300917075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28504860"/>
              </p:ext>
            </p:extLst>
          </p:nvPr>
        </p:nvGraphicFramePr>
        <p:xfrm>
          <a:off x="323528" y="404813"/>
          <a:ext cx="8496944" cy="6244901"/>
        </p:xfrm>
        <a:graphic>
          <a:graphicData uri="http://schemas.openxmlformats.org/drawingml/2006/table">
            <a:tbl>
              <a:tblPr/>
              <a:tblGrid>
                <a:gridCol w="594785"/>
                <a:gridCol w="4078534"/>
                <a:gridCol w="3823625"/>
              </a:tblGrid>
              <a:tr h="213156">
                <a:tc>
                  <a:txBody>
                    <a:bodyPr/>
                    <a:lstStyle/>
                    <a:p>
                      <a:pPr algn="l" fontAlgn="base"/>
                      <a:r>
                        <a:rPr lang="en-IN" sz="1800" b="0" dirty="0" err="1">
                          <a:effectLst/>
                        </a:rPr>
                        <a:t>S.No</a:t>
                      </a:r>
                      <a:r>
                        <a:rPr lang="en-IN" sz="1800" b="0" dirty="0">
                          <a:effectLst/>
                        </a:rPr>
                        <a:t>.</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IN" sz="2400" b="1" dirty="0">
                          <a:effectLst/>
                        </a:rPr>
                        <a:t>Separate Chaining</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IN" sz="2400" b="1" dirty="0">
                          <a:effectLst/>
                        </a:rPr>
                        <a:t>Open Addressing</a:t>
                      </a:r>
                      <a:endParaRPr lang="en-IN" sz="2400" b="0" dirty="0">
                        <a:effectLst/>
                      </a:endParaRP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500020">
                <a:tc>
                  <a:txBody>
                    <a:bodyPr/>
                    <a:lstStyle/>
                    <a:p>
                      <a:pPr algn="l" fontAlgn="base"/>
                      <a:r>
                        <a:rPr lang="en-IN" sz="1800" b="0" dirty="0">
                          <a:effectLst/>
                        </a:rPr>
                        <a:t>1.</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Chaining is Simpler to implement.</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Open Addressing requires more computation.</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786885">
                <a:tc>
                  <a:txBody>
                    <a:bodyPr/>
                    <a:lstStyle/>
                    <a:p>
                      <a:pPr algn="l" fontAlgn="base"/>
                      <a:r>
                        <a:rPr lang="en-IN" sz="1800" b="0">
                          <a:effectLst/>
                        </a:rPr>
                        <a:t>2.</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In chaining, Hash table never fills up, we can always add more elements to chain.</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In open addressing, table may become full.</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786885">
                <a:tc>
                  <a:txBody>
                    <a:bodyPr/>
                    <a:lstStyle/>
                    <a:p>
                      <a:pPr algn="l" fontAlgn="base"/>
                      <a:r>
                        <a:rPr lang="en-IN" sz="1800" b="0">
                          <a:effectLst/>
                        </a:rPr>
                        <a:t>3.</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Chaining is Less sensitive to the hash function or load factors.</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Open addressing requires extra care for to avoid clustering and load factor.</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1073749">
                <a:tc>
                  <a:txBody>
                    <a:bodyPr/>
                    <a:lstStyle/>
                    <a:p>
                      <a:pPr algn="l" fontAlgn="base"/>
                      <a:r>
                        <a:rPr lang="en-IN" sz="1800" b="0">
                          <a:effectLst/>
                        </a:rPr>
                        <a:t>4.</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dirty="0">
                          <a:effectLst/>
                        </a:rPr>
                        <a:t>Chaining is mostly used when it is unknown how many and how frequently keys may be inserted or deleted.</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Open addressing is used when the frequency and number of keys is known.</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1073749">
                <a:tc>
                  <a:txBody>
                    <a:bodyPr/>
                    <a:lstStyle/>
                    <a:p>
                      <a:pPr algn="l" fontAlgn="base"/>
                      <a:r>
                        <a:rPr lang="en-IN" sz="1800" b="0">
                          <a:effectLst/>
                        </a:rPr>
                        <a:t>5.</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Cache performance of chaining is not good as keys are stored using linked list.</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Open addressing provides better cache performance as everything is stored in the same table.</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786885">
                <a:tc>
                  <a:txBody>
                    <a:bodyPr/>
                    <a:lstStyle/>
                    <a:p>
                      <a:pPr algn="l" fontAlgn="base"/>
                      <a:r>
                        <a:rPr lang="en-IN" sz="1800" b="0">
                          <a:effectLst/>
                        </a:rPr>
                        <a:t>6.</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Wastage of Space (Some Parts of hash table in chaining are never used).</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c>
                  <a:txBody>
                    <a:bodyPr/>
                    <a:lstStyle/>
                    <a:p>
                      <a:pPr algn="l" fontAlgn="base"/>
                      <a:r>
                        <a:rPr lang="en-US" sz="1800" b="0">
                          <a:effectLst/>
                        </a:rPr>
                        <a:t>In Open addressing, a slot can be used even if an input doesn’t map to it.</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w="9525" cap="flat" cmpd="sng" algn="ctr">
                      <a:solidFill>
                        <a:srgbClr val="EDEDED"/>
                      </a:solidFill>
                      <a:prstDash val="solid"/>
                      <a:round/>
                      <a:headEnd type="none" w="med" len="med"/>
                      <a:tailEnd type="none" w="med" len="med"/>
                    </a:lnB>
                    <a:solidFill>
                      <a:srgbClr val="FFFFFF"/>
                    </a:solidFill>
                  </a:tcPr>
                </a:tc>
              </a:tr>
              <a:tr h="500020">
                <a:tc>
                  <a:txBody>
                    <a:bodyPr/>
                    <a:lstStyle/>
                    <a:p>
                      <a:pPr algn="l" fontAlgn="base"/>
                      <a:r>
                        <a:rPr lang="en-IN" sz="1800" b="0">
                          <a:effectLst/>
                        </a:rPr>
                        <a:t>7.</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a:noFill/>
                    </a:lnB>
                    <a:solidFill>
                      <a:srgbClr val="FFFFFF"/>
                    </a:solidFill>
                  </a:tcPr>
                </a:tc>
                <a:tc>
                  <a:txBody>
                    <a:bodyPr/>
                    <a:lstStyle/>
                    <a:p>
                      <a:pPr algn="l" fontAlgn="base"/>
                      <a:r>
                        <a:rPr lang="en-US" sz="1800" b="0">
                          <a:effectLst/>
                        </a:rPr>
                        <a:t>Chaining uses extra space for links.</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a:noFill/>
                    </a:lnB>
                    <a:solidFill>
                      <a:srgbClr val="FFFFFF"/>
                    </a:solidFill>
                  </a:tcPr>
                </a:tc>
                <a:tc>
                  <a:txBody>
                    <a:bodyPr/>
                    <a:lstStyle/>
                    <a:p>
                      <a:pPr algn="l" fontAlgn="base"/>
                      <a:r>
                        <a:rPr lang="en-US" sz="1800" b="0" dirty="0">
                          <a:effectLst/>
                        </a:rPr>
                        <a:t>No links in Open addressing</a:t>
                      </a:r>
                    </a:p>
                  </a:txBody>
                  <a:tcPr marL="69724" marR="69724" marT="34862" marB="34862" anchor="ctr">
                    <a:lnL>
                      <a:noFill/>
                    </a:lnL>
                    <a:lnR>
                      <a:noFill/>
                    </a:lnR>
                    <a:lnT w="9525" cap="flat" cmpd="sng" algn="ctr">
                      <a:solidFill>
                        <a:srgbClr val="EDEDED"/>
                      </a:solidFill>
                      <a:prstDash val="solid"/>
                      <a:round/>
                      <a:headEnd type="none" w="med" len="med"/>
                      <a:tailEnd type="none" w="med" len="med"/>
                    </a:lnT>
                    <a:lnB>
                      <a:noFill/>
                    </a:lnB>
                    <a:solidFill>
                      <a:srgbClr val="FFFFFF"/>
                    </a:solidFill>
                  </a:tcPr>
                </a:tc>
              </a:tr>
            </a:tbl>
          </a:graphicData>
        </a:graphic>
      </p:graphicFrame>
    </p:spTree>
    <p:extLst>
      <p:ext uri="{BB962C8B-B14F-4D97-AF65-F5344CB8AC3E}">
        <p14:creationId xmlns:p14="http://schemas.microsoft.com/office/powerpoint/2010/main" val="117618133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924944"/>
            <a:ext cx="8229600" cy="1143000"/>
          </a:xfrm>
        </p:spPr>
        <p:txBody>
          <a:bodyPr>
            <a:normAutofit/>
          </a:bodyPr>
          <a:lstStyle/>
          <a:p>
            <a:r>
              <a:rPr lang="en-IN" sz="6600" b="1" dirty="0" smtClean="0">
                <a:solidFill>
                  <a:srgbClr val="FF0000"/>
                </a:solidFill>
              </a:rPr>
              <a:t>Rehashing</a:t>
            </a:r>
            <a:endParaRPr lang="en-IN" sz="6600" b="1" dirty="0">
              <a:solidFill>
                <a:srgbClr val="FF0000"/>
              </a:solidFill>
            </a:endParaRPr>
          </a:p>
        </p:txBody>
      </p:sp>
    </p:spTree>
    <p:extLst>
      <p:ext uri="{BB962C8B-B14F-4D97-AF65-F5344CB8AC3E}">
        <p14:creationId xmlns:p14="http://schemas.microsoft.com/office/powerpoint/2010/main" val="86246671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Rehashing</a:t>
            </a:r>
            <a:endParaRPr lang="en-IN" dirty="0"/>
          </a:p>
        </p:txBody>
      </p:sp>
      <p:sp>
        <p:nvSpPr>
          <p:cNvPr id="4" name="Content Placeholder 3"/>
          <p:cNvSpPr>
            <a:spLocks noGrp="1"/>
          </p:cNvSpPr>
          <p:nvPr>
            <p:ph idx="1"/>
          </p:nvPr>
        </p:nvSpPr>
        <p:spPr/>
        <p:txBody>
          <a:bodyPr/>
          <a:lstStyle/>
          <a:p>
            <a:endParaRPr lang="en-IN"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196752"/>
            <a:ext cx="4283546" cy="5462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120" y="1196753"/>
            <a:ext cx="3998908" cy="5462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434021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692696"/>
            <a:ext cx="7586676" cy="5243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687686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When shall we go for rehashing ?</a:t>
            </a:r>
            <a:endParaRPr lang="en-IN" dirty="0">
              <a:solidFill>
                <a:srgbClr val="FF0000"/>
              </a:solidFill>
            </a:endParaRPr>
          </a:p>
        </p:txBody>
      </p:sp>
      <p:sp>
        <p:nvSpPr>
          <p:cNvPr id="3" name="Content Placeholder 2"/>
          <p:cNvSpPr>
            <a:spLocks noGrp="1"/>
          </p:cNvSpPr>
          <p:nvPr>
            <p:ph idx="1"/>
          </p:nvPr>
        </p:nvSpPr>
        <p:spPr>
          <a:xfrm>
            <a:off x="467544" y="2204864"/>
            <a:ext cx="8229600" cy="3345235"/>
          </a:xfrm>
        </p:spPr>
        <p:txBody>
          <a:bodyPr/>
          <a:lstStyle/>
          <a:p>
            <a:r>
              <a:rPr lang="en-IN" dirty="0" smtClean="0"/>
              <a:t>As and when the hash table is </a:t>
            </a:r>
            <a:r>
              <a:rPr lang="en-IN" dirty="0" smtClean="0">
                <a:solidFill>
                  <a:srgbClr val="FF0000"/>
                </a:solidFill>
              </a:rPr>
              <a:t>half full</a:t>
            </a:r>
          </a:p>
          <a:p>
            <a:r>
              <a:rPr lang="en-IN" dirty="0" smtClean="0"/>
              <a:t>During </a:t>
            </a:r>
            <a:r>
              <a:rPr lang="en-IN" dirty="0" smtClean="0">
                <a:solidFill>
                  <a:srgbClr val="FF0000"/>
                </a:solidFill>
              </a:rPr>
              <a:t>Insertion failure</a:t>
            </a:r>
          </a:p>
          <a:p>
            <a:r>
              <a:rPr lang="en-IN" dirty="0" smtClean="0"/>
              <a:t>Reaches particular</a:t>
            </a:r>
            <a:r>
              <a:rPr lang="en-IN" dirty="0" smtClean="0">
                <a:solidFill>
                  <a:srgbClr val="FF0000"/>
                </a:solidFill>
              </a:rPr>
              <a:t> load factor</a:t>
            </a:r>
          </a:p>
          <a:p>
            <a:endParaRPr lang="en-IN" dirty="0"/>
          </a:p>
        </p:txBody>
      </p:sp>
    </p:spTree>
    <p:extLst>
      <p:ext uri="{BB962C8B-B14F-4D97-AF65-F5344CB8AC3E}">
        <p14:creationId xmlns:p14="http://schemas.microsoft.com/office/powerpoint/2010/main" val="269284629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152400" y="152400"/>
            <a:ext cx="7924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3200" b="1" dirty="0">
                <a:solidFill>
                  <a:srgbClr val="CC0000"/>
                </a:solidFill>
                <a:latin typeface="+mn-lt"/>
              </a:rPr>
              <a:t>Rehashing:</a:t>
            </a:r>
          </a:p>
        </p:txBody>
      </p:sp>
      <p:sp>
        <p:nvSpPr>
          <p:cNvPr id="23555" name="Text Box 3"/>
          <p:cNvSpPr txBox="1">
            <a:spLocks noChangeArrowheads="1"/>
          </p:cNvSpPr>
          <p:nvPr/>
        </p:nvSpPr>
        <p:spPr bwMode="auto">
          <a:xfrm>
            <a:off x="228600" y="1981200"/>
            <a:ext cx="838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Build a new table that is about </a:t>
            </a:r>
            <a:r>
              <a:rPr lang="en-US" sz="2400" b="1">
                <a:solidFill>
                  <a:srgbClr val="FF0000"/>
                </a:solidFill>
              </a:rPr>
              <a:t>twice as big</a:t>
            </a:r>
            <a:r>
              <a:rPr lang="en-US" sz="2400"/>
              <a:t> </a:t>
            </a:r>
            <a:r>
              <a:rPr lang="en-US" sz="2400">
                <a:solidFill>
                  <a:srgbClr val="FF0000"/>
                </a:solidFill>
              </a:rPr>
              <a:t>as old one</a:t>
            </a:r>
          </a:p>
        </p:txBody>
      </p:sp>
      <p:sp>
        <p:nvSpPr>
          <p:cNvPr id="23556" name="Text Box 4"/>
          <p:cNvSpPr txBox="1">
            <a:spLocks noChangeArrowheads="1"/>
          </p:cNvSpPr>
          <p:nvPr/>
        </p:nvSpPr>
        <p:spPr bwMode="auto">
          <a:xfrm>
            <a:off x="228600" y="28194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Compute </a:t>
            </a:r>
            <a:r>
              <a:rPr lang="en-US" sz="2400" b="1"/>
              <a:t>new hash function</a:t>
            </a:r>
          </a:p>
        </p:txBody>
      </p:sp>
      <p:sp>
        <p:nvSpPr>
          <p:cNvPr id="23557" name="Text Box 5"/>
          <p:cNvSpPr txBox="1">
            <a:spLocks noChangeArrowheads="1"/>
          </p:cNvSpPr>
          <p:nvPr/>
        </p:nvSpPr>
        <p:spPr bwMode="auto">
          <a:xfrm>
            <a:off x="228600" y="381000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Compute </a:t>
            </a:r>
            <a:r>
              <a:rPr lang="en-US" sz="2400" b="1"/>
              <a:t>new hash value</a:t>
            </a:r>
            <a:r>
              <a:rPr lang="en-US" sz="2400"/>
              <a:t> for each non-deleted element</a:t>
            </a:r>
          </a:p>
        </p:txBody>
      </p:sp>
      <p:sp>
        <p:nvSpPr>
          <p:cNvPr id="23558" name="Text Box 6"/>
          <p:cNvSpPr txBox="1">
            <a:spLocks noChangeArrowheads="1"/>
          </p:cNvSpPr>
          <p:nvPr/>
        </p:nvSpPr>
        <p:spPr bwMode="auto">
          <a:xfrm>
            <a:off x="228600" y="4800600"/>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buFont typeface="Wingdings" pitchFamily="2" charset="2"/>
              <a:buChar char="Ø"/>
            </a:pPr>
            <a:r>
              <a:rPr lang="en-US" sz="2400"/>
              <a:t> Insert it in the new table</a:t>
            </a:r>
          </a:p>
        </p:txBody>
      </p:sp>
      <p:sp>
        <p:nvSpPr>
          <p:cNvPr id="23559" name="Text Box 7"/>
          <p:cNvSpPr txBox="1">
            <a:spLocks noChangeArrowheads="1"/>
          </p:cNvSpPr>
          <p:nvPr/>
        </p:nvSpPr>
        <p:spPr bwMode="auto">
          <a:xfrm>
            <a:off x="304800" y="1066800"/>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t>Steps to be followed:</a:t>
            </a:r>
          </a:p>
        </p:txBody>
      </p:sp>
    </p:spTree>
    <p:extLst>
      <p:ext uri="{BB962C8B-B14F-4D97-AF65-F5344CB8AC3E}">
        <p14:creationId xmlns:p14="http://schemas.microsoft.com/office/powerpoint/2010/main" val="4172057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9"/>
                                        </p:tgtEl>
                                        <p:attrNameLst>
                                          <p:attrName>style.visibility</p:attrName>
                                        </p:attrNameLst>
                                      </p:cBhvr>
                                      <p:to>
                                        <p:strVal val="visible"/>
                                      </p:to>
                                    </p:set>
                                    <p:anim calcmode="lin" valueType="num">
                                      <p:cBhvr additive="base">
                                        <p:cTn id="7" dur="500" fill="hold"/>
                                        <p:tgtEl>
                                          <p:spTgt spid="23559"/>
                                        </p:tgtEl>
                                        <p:attrNameLst>
                                          <p:attrName>ppt_x</p:attrName>
                                        </p:attrNameLst>
                                      </p:cBhvr>
                                      <p:tavLst>
                                        <p:tav tm="0">
                                          <p:val>
                                            <p:strVal val="#ppt_x"/>
                                          </p:val>
                                        </p:tav>
                                        <p:tav tm="100000">
                                          <p:val>
                                            <p:strVal val="#ppt_x"/>
                                          </p:val>
                                        </p:tav>
                                      </p:tavLst>
                                    </p:anim>
                                    <p:anim calcmode="lin" valueType="num">
                                      <p:cBhvr additive="base">
                                        <p:cTn id="8"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5"/>
                                        </p:tgtEl>
                                        <p:attrNameLst>
                                          <p:attrName>style.visibility</p:attrName>
                                        </p:attrNameLst>
                                      </p:cBhvr>
                                      <p:to>
                                        <p:strVal val="visible"/>
                                      </p:to>
                                    </p:set>
                                    <p:anim calcmode="lin" valueType="num">
                                      <p:cBhvr additive="base">
                                        <p:cTn id="13" dur="500" fill="hold"/>
                                        <p:tgtEl>
                                          <p:spTgt spid="23555"/>
                                        </p:tgtEl>
                                        <p:attrNameLst>
                                          <p:attrName>ppt_x</p:attrName>
                                        </p:attrNameLst>
                                      </p:cBhvr>
                                      <p:tavLst>
                                        <p:tav tm="0">
                                          <p:val>
                                            <p:strVal val="#ppt_x"/>
                                          </p:val>
                                        </p:tav>
                                        <p:tav tm="100000">
                                          <p:val>
                                            <p:strVal val="#ppt_x"/>
                                          </p:val>
                                        </p:tav>
                                      </p:tavLst>
                                    </p:anim>
                                    <p:anim calcmode="lin" valueType="num">
                                      <p:cBhvr additive="base">
                                        <p:cTn id="14" dur="500" fill="hold"/>
                                        <p:tgtEl>
                                          <p:spTgt spid="2355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6"/>
                                        </p:tgtEl>
                                        <p:attrNameLst>
                                          <p:attrName>style.visibility</p:attrName>
                                        </p:attrNameLst>
                                      </p:cBhvr>
                                      <p:to>
                                        <p:strVal val="visible"/>
                                      </p:to>
                                    </p:set>
                                    <p:anim calcmode="lin" valueType="num">
                                      <p:cBhvr additive="base">
                                        <p:cTn id="19" dur="500" fill="hold"/>
                                        <p:tgtEl>
                                          <p:spTgt spid="23556"/>
                                        </p:tgtEl>
                                        <p:attrNameLst>
                                          <p:attrName>ppt_x</p:attrName>
                                        </p:attrNameLst>
                                      </p:cBhvr>
                                      <p:tavLst>
                                        <p:tav tm="0">
                                          <p:val>
                                            <p:strVal val="#ppt_x"/>
                                          </p:val>
                                        </p:tav>
                                        <p:tav tm="100000">
                                          <p:val>
                                            <p:strVal val="#ppt_x"/>
                                          </p:val>
                                        </p:tav>
                                      </p:tavLst>
                                    </p:anim>
                                    <p:anim calcmode="lin" valueType="num">
                                      <p:cBhvr additive="base">
                                        <p:cTn id="20" dur="500" fill="hold"/>
                                        <p:tgtEl>
                                          <p:spTgt spid="2355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557"/>
                                        </p:tgtEl>
                                        <p:attrNameLst>
                                          <p:attrName>style.visibility</p:attrName>
                                        </p:attrNameLst>
                                      </p:cBhvr>
                                      <p:to>
                                        <p:strVal val="visible"/>
                                      </p:to>
                                    </p:set>
                                    <p:anim calcmode="lin" valueType="num">
                                      <p:cBhvr additive="base">
                                        <p:cTn id="25" dur="500" fill="hold"/>
                                        <p:tgtEl>
                                          <p:spTgt spid="23557"/>
                                        </p:tgtEl>
                                        <p:attrNameLst>
                                          <p:attrName>ppt_x</p:attrName>
                                        </p:attrNameLst>
                                      </p:cBhvr>
                                      <p:tavLst>
                                        <p:tav tm="0">
                                          <p:val>
                                            <p:strVal val="#ppt_x"/>
                                          </p:val>
                                        </p:tav>
                                        <p:tav tm="100000">
                                          <p:val>
                                            <p:strVal val="#ppt_x"/>
                                          </p:val>
                                        </p:tav>
                                      </p:tavLst>
                                    </p:anim>
                                    <p:anim calcmode="lin" valueType="num">
                                      <p:cBhvr additive="base">
                                        <p:cTn id="26" dur="500" fill="hold"/>
                                        <p:tgtEl>
                                          <p:spTgt spid="2355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558"/>
                                        </p:tgtEl>
                                        <p:attrNameLst>
                                          <p:attrName>style.visibility</p:attrName>
                                        </p:attrNameLst>
                                      </p:cBhvr>
                                      <p:to>
                                        <p:strVal val="visible"/>
                                      </p:to>
                                    </p:set>
                                    <p:anim calcmode="lin" valueType="num">
                                      <p:cBhvr additive="base">
                                        <p:cTn id="31" dur="500" fill="hold"/>
                                        <p:tgtEl>
                                          <p:spTgt spid="23558"/>
                                        </p:tgtEl>
                                        <p:attrNameLst>
                                          <p:attrName>ppt_x</p:attrName>
                                        </p:attrNameLst>
                                      </p:cBhvr>
                                      <p:tavLst>
                                        <p:tav tm="0">
                                          <p:val>
                                            <p:strVal val="#ppt_x"/>
                                          </p:val>
                                        </p:tav>
                                        <p:tav tm="100000">
                                          <p:val>
                                            <p:strVal val="#ppt_x"/>
                                          </p:val>
                                        </p:tav>
                                      </p:tavLst>
                                    </p:anim>
                                    <p:anim calcmode="lin" valueType="num">
                                      <p:cBhvr additive="base">
                                        <p:cTn id="32" dur="500" fill="hold"/>
                                        <p:tgtEl>
                                          <p:spTgt spid="235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p:bldP spid="23556" grpId="0"/>
      <p:bldP spid="23557" grpId="0"/>
      <p:bldP spid="23558" grpId="0"/>
      <p:bldP spid="2355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228600" y="228600"/>
            <a:ext cx="830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dirty="0">
                <a:solidFill>
                  <a:srgbClr val="FF0000"/>
                </a:solidFill>
              </a:rPr>
              <a:t>Example:</a:t>
            </a:r>
            <a:r>
              <a:rPr lang="en-US" sz="2400" dirty="0"/>
              <a:t> </a:t>
            </a:r>
            <a:r>
              <a:rPr lang="en-US" sz="2400" b="1" dirty="0"/>
              <a:t>13 , 15 , 24 , 6 </a:t>
            </a:r>
            <a:r>
              <a:rPr lang="en-US" sz="2400" b="1" dirty="0" smtClean="0"/>
              <a:t>, 23</a:t>
            </a:r>
            <a:endParaRPr lang="en-US" sz="2400" b="1" dirty="0"/>
          </a:p>
        </p:txBody>
      </p:sp>
      <p:graphicFrame>
        <p:nvGraphicFramePr>
          <p:cNvPr id="22587" name="Group 59"/>
          <p:cNvGraphicFramePr>
            <a:graphicFrameLocks noGrp="1"/>
          </p:cNvGraphicFramePr>
          <p:nvPr/>
        </p:nvGraphicFramePr>
        <p:xfrm>
          <a:off x="7315200" y="2397125"/>
          <a:ext cx="685800" cy="3627435"/>
        </p:xfrm>
        <a:graphic>
          <a:graphicData uri="http://schemas.openxmlformats.org/drawingml/2006/table">
            <a:tbl>
              <a:tblPr/>
              <a:tblGrid>
                <a:gridCol w="685800"/>
              </a:tblGrid>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6</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15</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24</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13</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2584" name="Group 56"/>
          <p:cNvGraphicFramePr>
            <a:graphicFrameLocks noGrp="1"/>
          </p:cNvGraphicFramePr>
          <p:nvPr/>
        </p:nvGraphicFramePr>
        <p:xfrm>
          <a:off x="6705600" y="2397125"/>
          <a:ext cx="609600" cy="3627435"/>
        </p:xfrm>
        <a:graphic>
          <a:graphicData uri="http://schemas.openxmlformats.org/drawingml/2006/table">
            <a:tbl>
              <a:tblPr/>
              <a:tblGrid>
                <a:gridCol w="609600"/>
              </a:tblGrid>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2</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3</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4</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5</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2579" name="Text Box 51"/>
          <p:cNvSpPr txBox="1">
            <a:spLocks noChangeArrowheads="1"/>
          </p:cNvSpPr>
          <p:nvPr/>
        </p:nvSpPr>
        <p:spPr bwMode="auto">
          <a:xfrm>
            <a:off x="2819400" y="2971800"/>
            <a:ext cx="1981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t>13 % 7 = </a:t>
            </a:r>
            <a:r>
              <a:rPr lang="en-US" sz="2400" b="1">
                <a:solidFill>
                  <a:srgbClr val="FF0000"/>
                </a:solidFill>
              </a:rPr>
              <a:t>6</a:t>
            </a:r>
          </a:p>
          <a:p>
            <a:pPr eaLnBrk="1" hangingPunct="1">
              <a:spcBef>
                <a:spcPct val="50000"/>
              </a:spcBef>
            </a:pPr>
            <a:r>
              <a:rPr lang="en-US" sz="2400" b="1"/>
              <a:t>6 % 7 = </a:t>
            </a:r>
            <a:r>
              <a:rPr lang="en-US" sz="2400" b="1">
                <a:solidFill>
                  <a:srgbClr val="FF0000"/>
                </a:solidFill>
              </a:rPr>
              <a:t>6</a:t>
            </a:r>
          </a:p>
          <a:p>
            <a:pPr eaLnBrk="1" hangingPunct="1">
              <a:spcBef>
                <a:spcPct val="50000"/>
              </a:spcBef>
            </a:pPr>
            <a:r>
              <a:rPr lang="en-US" sz="2400" b="1"/>
              <a:t>15 % 7 = </a:t>
            </a:r>
            <a:r>
              <a:rPr lang="en-US" sz="2400" b="1">
                <a:solidFill>
                  <a:srgbClr val="FF0000"/>
                </a:solidFill>
              </a:rPr>
              <a:t>1</a:t>
            </a:r>
          </a:p>
          <a:p>
            <a:pPr eaLnBrk="1" hangingPunct="1">
              <a:spcBef>
                <a:spcPct val="50000"/>
              </a:spcBef>
            </a:pPr>
            <a:r>
              <a:rPr lang="en-US" sz="2400" b="1"/>
              <a:t>24 % 7 = </a:t>
            </a:r>
            <a:r>
              <a:rPr lang="en-US" sz="2400" b="1">
                <a:solidFill>
                  <a:srgbClr val="FF0000"/>
                </a:solidFill>
              </a:rPr>
              <a:t>3</a:t>
            </a:r>
          </a:p>
          <a:p>
            <a:pPr eaLnBrk="1" hangingPunct="1">
              <a:spcBef>
                <a:spcPct val="50000"/>
              </a:spcBef>
            </a:pPr>
            <a:r>
              <a:rPr lang="en-US" sz="2400" b="1"/>
              <a:t>23 % 7 = </a:t>
            </a:r>
            <a:r>
              <a:rPr lang="en-US" sz="2400" b="1">
                <a:solidFill>
                  <a:srgbClr val="FF0000"/>
                </a:solidFill>
              </a:rPr>
              <a:t>2</a:t>
            </a:r>
          </a:p>
        </p:txBody>
      </p:sp>
      <p:sp>
        <p:nvSpPr>
          <p:cNvPr id="22580" name="Text Box 52"/>
          <p:cNvSpPr txBox="1">
            <a:spLocks noChangeArrowheads="1"/>
          </p:cNvSpPr>
          <p:nvPr/>
        </p:nvSpPr>
        <p:spPr bwMode="auto">
          <a:xfrm>
            <a:off x="1676400" y="838200"/>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t>Table Size = 7</a:t>
            </a:r>
          </a:p>
        </p:txBody>
      </p:sp>
      <p:sp>
        <p:nvSpPr>
          <p:cNvPr id="22581" name="Text Box 53"/>
          <p:cNvSpPr txBox="1">
            <a:spLocks noChangeArrowheads="1"/>
          </p:cNvSpPr>
          <p:nvPr/>
        </p:nvSpPr>
        <p:spPr bwMode="auto">
          <a:xfrm>
            <a:off x="1676400" y="1371600"/>
            <a:ext cx="48006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a:t>Hash Function </a:t>
            </a:r>
            <a:r>
              <a:rPr lang="en-US" sz="2400" b="1">
                <a:solidFill>
                  <a:srgbClr val="FF0000"/>
                </a:solidFill>
              </a:rPr>
              <a:t>h(x) = x mod 7</a:t>
            </a:r>
            <a:r>
              <a:rPr lang="en-US" sz="2400"/>
              <a:t>     </a:t>
            </a:r>
          </a:p>
          <a:p>
            <a:pPr eaLnBrk="1" hangingPunct="1">
              <a:spcBef>
                <a:spcPct val="50000"/>
              </a:spcBef>
            </a:pPr>
            <a:r>
              <a:rPr lang="en-US" sz="2400"/>
              <a:t>    {</a:t>
            </a:r>
            <a:r>
              <a:rPr lang="en-US" sz="2400" b="1"/>
              <a:t>Linear probing is used</a:t>
            </a:r>
            <a:r>
              <a:rPr lang="en-US" sz="2400"/>
              <a:t>}</a:t>
            </a:r>
          </a:p>
        </p:txBody>
      </p:sp>
    </p:spTree>
    <p:extLst>
      <p:ext uri="{BB962C8B-B14F-4D97-AF65-F5344CB8AC3E}">
        <p14:creationId xmlns:p14="http://schemas.microsoft.com/office/powerpoint/2010/main" val="25088316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additive="base">
                                        <p:cTn id="7" dur="500" fill="hold"/>
                                        <p:tgtEl>
                                          <p:spTgt spid="22530"/>
                                        </p:tgtEl>
                                        <p:attrNameLst>
                                          <p:attrName>ppt_x</p:attrName>
                                        </p:attrNameLst>
                                      </p:cBhvr>
                                      <p:tavLst>
                                        <p:tav tm="0">
                                          <p:val>
                                            <p:strVal val="#ppt_x"/>
                                          </p:val>
                                        </p:tav>
                                        <p:tav tm="100000">
                                          <p:val>
                                            <p:strVal val="#ppt_x"/>
                                          </p:val>
                                        </p:tav>
                                      </p:tavLst>
                                    </p:anim>
                                    <p:anim calcmode="lin" valueType="num">
                                      <p:cBhvr additive="base">
                                        <p:cTn id="8" dur="500" fill="hold"/>
                                        <p:tgtEl>
                                          <p:spTgt spid="2253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80"/>
                                        </p:tgtEl>
                                        <p:attrNameLst>
                                          <p:attrName>style.visibility</p:attrName>
                                        </p:attrNameLst>
                                      </p:cBhvr>
                                      <p:to>
                                        <p:strVal val="visible"/>
                                      </p:to>
                                    </p:set>
                                    <p:anim calcmode="lin" valueType="num">
                                      <p:cBhvr additive="base">
                                        <p:cTn id="13" dur="500" fill="hold"/>
                                        <p:tgtEl>
                                          <p:spTgt spid="22580"/>
                                        </p:tgtEl>
                                        <p:attrNameLst>
                                          <p:attrName>ppt_x</p:attrName>
                                        </p:attrNameLst>
                                      </p:cBhvr>
                                      <p:tavLst>
                                        <p:tav tm="0">
                                          <p:val>
                                            <p:strVal val="#ppt_x"/>
                                          </p:val>
                                        </p:tav>
                                        <p:tav tm="100000">
                                          <p:val>
                                            <p:strVal val="#ppt_x"/>
                                          </p:val>
                                        </p:tav>
                                      </p:tavLst>
                                    </p:anim>
                                    <p:anim calcmode="lin" valueType="num">
                                      <p:cBhvr additive="base">
                                        <p:cTn id="14" dur="500" fill="hold"/>
                                        <p:tgtEl>
                                          <p:spTgt spid="2258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81"/>
                                        </p:tgtEl>
                                        <p:attrNameLst>
                                          <p:attrName>style.visibility</p:attrName>
                                        </p:attrNameLst>
                                      </p:cBhvr>
                                      <p:to>
                                        <p:strVal val="visible"/>
                                      </p:to>
                                    </p:set>
                                    <p:anim calcmode="lin" valueType="num">
                                      <p:cBhvr additive="base">
                                        <p:cTn id="19" dur="500" fill="hold"/>
                                        <p:tgtEl>
                                          <p:spTgt spid="22581"/>
                                        </p:tgtEl>
                                        <p:attrNameLst>
                                          <p:attrName>ppt_x</p:attrName>
                                        </p:attrNameLst>
                                      </p:cBhvr>
                                      <p:tavLst>
                                        <p:tav tm="0">
                                          <p:val>
                                            <p:strVal val="#ppt_x"/>
                                          </p:val>
                                        </p:tav>
                                        <p:tav tm="100000">
                                          <p:val>
                                            <p:strVal val="#ppt_x"/>
                                          </p:val>
                                        </p:tav>
                                      </p:tavLst>
                                    </p:anim>
                                    <p:anim calcmode="lin" valueType="num">
                                      <p:cBhvr additive="base">
                                        <p:cTn id="20" dur="500" fill="hold"/>
                                        <p:tgtEl>
                                          <p:spTgt spid="2258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79"/>
                                        </p:tgtEl>
                                        <p:attrNameLst>
                                          <p:attrName>style.visibility</p:attrName>
                                        </p:attrNameLst>
                                      </p:cBhvr>
                                      <p:to>
                                        <p:strVal val="visible"/>
                                      </p:to>
                                    </p:set>
                                    <p:anim calcmode="lin" valueType="num">
                                      <p:cBhvr additive="base">
                                        <p:cTn id="25" dur="500" fill="hold"/>
                                        <p:tgtEl>
                                          <p:spTgt spid="22579"/>
                                        </p:tgtEl>
                                        <p:attrNameLst>
                                          <p:attrName>ppt_x</p:attrName>
                                        </p:attrNameLst>
                                      </p:cBhvr>
                                      <p:tavLst>
                                        <p:tav tm="0">
                                          <p:val>
                                            <p:strVal val="#ppt_x"/>
                                          </p:val>
                                        </p:tav>
                                        <p:tav tm="100000">
                                          <p:val>
                                            <p:strVal val="#ppt_x"/>
                                          </p:val>
                                        </p:tav>
                                      </p:tavLst>
                                    </p:anim>
                                    <p:anim calcmode="lin" valueType="num">
                                      <p:cBhvr additive="base">
                                        <p:cTn id="26" dur="500" fill="hold"/>
                                        <p:tgtEl>
                                          <p:spTgt spid="2257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2584"/>
                                        </p:tgtEl>
                                        <p:attrNameLst>
                                          <p:attrName>style.visibility</p:attrName>
                                        </p:attrNameLst>
                                      </p:cBhvr>
                                      <p:to>
                                        <p:strVal val="visible"/>
                                      </p:to>
                                    </p:set>
                                    <p:anim calcmode="lin" valueType="num">
                                      <p:cBhvr additive="base">
                                        <p:cTn id="31" dur="500" fill="hold"/>
                                        <p:tgtEl>
                                          <p:spTgt spid="22584"/>
                                        </p:tgtEl>
                                        <p:attrNameLst>
                                          <p:attrName>ppt_x</p:attrName>
                                        </p:attrNameLst>
                                      </p:cBhvr>
                                      <p:tavLst>
                                        <p:tav tm="0">
                                          <p:val>
                                            <p:strVal val="#ppt_x"/>
                                          </p:val>
                                        </p:tav>
                                        <p:tav tm="100000">
                                          <p:val>
                                            <p:strVal val="#ppt_x"/>
                                          </p:val>
                                        </p:tav>
                                      </p:tavLst>
                                    </p:anim>
                                    <p:anim calcmode="lin" valueType="num">
                                      <p:cBhvr additive="base">
                                        <p:cTn id="32" dur="500" fill="hold"/>
                                        <p:tgtEl>
                                          <p:spTgt spid="22584"/>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2587"/>
                                        </p:tgtEl>
                                        <p:attrNameLst>
                                          <p:attrName>style.visibility</p:attrName>
                                        </p:attrNameLst>
                                      </p:cBhvr>
                                      <p:to>
                                        <p:strVal val="visible"/>
                                      </p:to>
                                    </p:set>
                                    <p:anim calcmode="lin" valueType="num">
                                      <p:cBhvr additive="base">
                                        <p:cTn id="35" dur="500" fill="hold"/>
                                        <p:tgtEl>
                                          <p:spTgt spid="22587"/>
                                        </p:tgtEl>
                                        <p:attrNameLst>
                                          <p:attrName>ppt_x</p:attrName>
                                        </p:attrNameLst>
                                      </p:cBhvr>
                                      <p:tavLst>
                                        <p:tav tm="0">
                                          <p:val>
                                            <p:strVal val="#ppt_x"/>
                                          </p:val>
                                        </p:tav>
                                        <p:tav tm="100000">
                                          <p:val>
                                            <p:strVal val="#ppt_x"/>
                                          </p:val>
                                        </p:tav>
                                      </p:tavLst>
                                    </p:anim>
                                    <p:anim calcmode="lin" valueType="num">
                                      <p:cBhvr additive="base">
                                        <p:cTn id="36" dur="500" fill="hold"/>
                                        <p:tgtEl>
                                          <p:spTgt spid="225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79" grpId="0"/>
      <p:bldP spid="22580" grpId="0"/>
      <p:bldP spid="2258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152400" y="228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Insert element 23:</a:t>
            </a:r>
          </a:p>
        </p:txBody>
      </p:sp>
      <p:graphicFrame>
        <p:nvGraphicFramePr>
          <p:cNvPr id="21507" name="Group 3"/>
          <p:cNvGraphicFramePr>
            <a:graphicFrameLocks noGrp="1"/>
          </p:cNvGraphicFramePr>
          <p:nvPr/>
        </p:nvGraphicFramePr>
        <p:xfrm>
          <a:off x="1600200" y="1482725"/>
          <a:ext cx="685800" cy="3627435"/>
        </p:xfrm>
        <a:graphic>
          <a:graphicData uri="http://schemas.openxmlformats.org/drawingml/2006/table">
            <a:tbl>
              <a:tblPr/>
              <a:tblGrid>
                <a:gridCol w="685800"/>
              </a:tblGrid>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6</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15</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23</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24</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13</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1525" name="Group 21"/>
          <p:cNvGraphicFramePr>
            <a:graphicFrameLocks noGrp="1"/>
          </p:cNvGraphicFramePr>
          <p:nvPr/>
        </p:nvGraphicFramePr>
        <p:xfrm>
          <a:off x="990600" y="1482725"/>
          <a:ext cx="609600" cy="3627435"/>
        </p:xfrm>
        <a:graphic>
          <a:graphicData uri="http://schemas.openxmlformats.org/drawingml/2006/table">
            <a:tbl>
              <a:tblPr/>
              <a:tblGrid>
                <a:gridCol w="609600"/>
              </a:tblGrid>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2</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3</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4</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5</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205">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1543" name="Text Box 39"/>
          <p:cNvSpPr txBox="1">
            <a:spLocks noChangeArrowheads="1"/>
          </p:cNvSpPr>
          <p:nvPr/>
        </p:nvSpPr>
        <p:spPr bwMode="auto">
          <a:xfrm>
            <a:off x="2768600" y="2606675"/>
            <a:ext cx="56546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r>
              <a:rPr lang="en-US" sz="2400"/>
              <a:t>Table size is 70% Full {</a:t>
            </a:r>
            <a:r>
              <a:rPr lang="en-US" sz="2400" b="1">
                <a:solidFill>
                  <a:srgbClr val="FF0000"/>
                </a:solidFill>
              </a:rPr>
              <a:t>Create new table of size 17</a:t>
            </a:r>
            <a:r>
              <a:rPr lang="en-US" sz="2400"/>
              <a:t>}</a:t>
            </a:r>
          </a:p>
        </p:txBody>
      </p:sp>
      <p:sp>
        <p:nvSpPr>
          <p:cNvPr id="21544" name="Line 40"/>
          <p:cNvSpPr>
            <a:spLocks noChangeShapeType="1"/>
          </p:cNvSpPr>
          <p:nvPr/>
        </p:nvSpPr>
        <p:spPr bwMode="auto">
          <a:xfrm>
            <a:off x="2286000" y="28194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26274277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500" fill="hold"/>
                                        <p:tgtEl>
                                          <p:spTgt spid="21506"/>
                                        </p:tgtEl>
                                        <p:attrNameLst>
                                          <p:attrName>ppt_x</p:attrName>
                                        </p:attrNameLst>
                                      </p:cBhvr>
                                      <p:tavLst>
                                        <p:tav tm="0">
                                          <p:val>
                                            <p:strVal val="#ppt_x"/>
                                          </p:val>
                                        </p:tav>
                                        <p:tav tm="100000">
                                          <p:val>
                                            <p:strVal val="#ppt_x"/>
                                          </p:val>
                                        </p:tav>
                                      </p:tavLst>
                                    </p:anim>
                                    <p:anim calcmode="lin" valueType="num">
                                      <p:cBhvr additive="base">
                                        <p:cTn id="8" dur="500" fill="hold"/>
                                        <p:tgtEl>
                                          <p:spTgt spid="2150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1525"/>
                                        </p:tgtEl>
                                        <p:attrNameLst>
                                          <p:attrName>style.visibility</p:attrName>
                                        </p:attrNameLst>
                                      </p:cBhvr>
                                      <p:to>
                                        <p:strVal val="visible"/>
                                      </p:to>
                                    </p:set>
                                    <p:anim calcmode="lin" valueType="num">
                                      <p:cBhvr additive="base">
                                        <p:cTn id="13" dur="500" fill="hold"/>
                                        <p:tgtEl>
                                          <p:spTgt spid="21525"/>
                                        </p:tgtEl>
                                        <p:attrNameLst>
                                          <p:attrName>ppt_x</p:attrName>
                                        </p:attrNameLst>
                                      </p:cBhvr>
                                      <p:tavLst>
                                        <p:tav tm="0">
                                          <p:val>
                                            <p:strVal val="#ppt_x"/>
                                          </p:val>
                                        </p:tav>
                                        <p:tav tm="100000">
                                          <p:val>
                                            <p:strVal val="#ppt_x"/>
                                          </p:val>
                                        </p:tav>
                                      </p:tavLst>
                                    </p:anim>
                                    <p:anim calcmode="lin" valueType="num">
                                      <p:cBhvr additive="base">
                                        <p:cTn id="14" dur="500" fill="hold"/>
                                        <p:tgtEl>
                                          <p:spTgt spid="2152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1507"/>
                                        </p:tgtEl>
                                        <p:attrNameLst>
                                          <p:attrName>style.visibility</p:attrName>
                                        </p:attrNameLst>
                                      </p:cBhvr>
                                      <p:to>
                                        <p:strVal val="visible"/>
                                      </p:to>
                                    </p:set>
                                    <p:anim calcmode="lin" valueType="num">
                                      <p:cBhvr additive="base">
                                        <p:cTn id="17" dur="500" fill="hold"/>
                                        <p:tgtEl>
                                          <p:spTgt spid="21507"/>
                                        </p:tgtEl>
                                        <p:attrNameLst>
                                          <p:attrName>ppt_x</p:attrName>
                                        </p:attrNameLst>
                                      </p:cBhvr>
                                      <p:tavLst>
                                        <p:tav tm="0">
                                          <p:val>
                                            <p:strVal val="#ppt_x"/>
                                          </p:val>
                                        </p:tav>
                                        <p:tav tm="100000">
                                          <p:val>
                                            <p:strVal val="#ppt_x"/>
                                          </p:val>
                                        </p:tav>
                                      </p:tavLst>
                                    </p:anim>
                                    <p:anim calcmode="lin" valueType="num">
                                      <p:cBhvr additive="base">
                                        <p:cTn id="18"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1544"/>
                                        </p:tgtEl>
                                        <p:attrNameLst>
                                          <p:attrName>style.visibility</p:attrName>
                                        </p:attrNameLst>
                                      </p:cBhvr>
                                      <p:to>
                                        <p:strVal val="visible"/>
                                      </p:to>
                                    </p:set>
                                    <p:anim calcmode="lin" valueType="num">
                                      <p:cBhvr additive="base">
                                        <p:cTn id="23" dur="500" fill="hold"/>
                                        <p:tgtEl>
                                          <p:spTgt spid="21544"/>
                                        </p:tgtEl>
                                        <p:attrNameLst>
                                          <p:attrName>ppt_x</p:attrName>
                                        </p:attrNameLst>
                                      </p:cBhvr>
                                      <p:tavLst>
                                        <p:tav tm="0">
                                          <p:val>
                                            <p:strVal val="#ppt_x"/>
                                          </p:val>
                                        </p:tav>
                                        <p:tav tm="100000">
                                          <p:val>
                                            <p:strVal val="#ppt_x"/>
                                          </p:val>
                                        </p:tav>
                                      </p:tavLst>
                                    </p:anim>
                                    <p:anim calcmode="lin" valueType="num">
                                      <p:cBhvr additive="base">
                                        <p:cTn id="24" dur="500" fill="hold"/>
                                        <p:tgtEl>
                                          <p:spTgt spid="2154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543"/>
                                        </p:tgtEl>
                                        <p:attrNameLst>
                                          <p:attrName>style.visibility</p:attrName>
                                        </p:attrNameLst>
                                      </p:cBhvr>
                                      <p:to>
                                        <p:strVal val="visible"/>
                                      </p:to>
                                    </p:set>
                                    <p:anim calcmode="lin" valueType="num">
                                      <p:cBhvr additive="base">
                                        <p:cTn id="27" dur="500" fill="hold"/>
                                        <p:tgtEl>
                                          <p:spTgt spid="21543"/>
                                        </p:tgtEl>
                                        <p:attrNameLst>
                                          <p:attrName>ppt_x</p:attrName>
                                        </p:attrNameLst>
                                      </p:cBhvr>
                                      <p:tavLst>
                                        <p:tav tm="0">
                                          <p:val>
                                            <p:strVal val="#ppt_x"/>
                                          </p:val>
                                        </p:tav>
                                        <p:tav tm="100000">
                                          <p:val>
                                            <p:strVal val="#ppt_x"/>
                                          </p:val>
                                        </p:tav>
                                      </p:tavLst>
                                    </p:anim>
                                    <p:anim calcmode="lin" valueType="num">
                                      <p:cBhvr additive="base">
                                        <p:cTn id="28" dur="500" fill="hold"/>
                                        <p:tgtEl>
                                          <p:spTgt spid="215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43" grpId="0"/>
      <p:bldP spid="2154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152400" y="3810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400" b="1">
                <a:solidFill>
                  <a:srgbClr val="CC0000"/>
                </a:solidFill>
              </a:rPr>
              <a:t>New hash Table:</a:t>
            </a:r>
          </a:p>
        </p:txBody>
      </p:sp>
      <p:graphicFrame>
        <p:nvGraphicFramePr>
          <p:cNvPr id="20548" name="Group 68"/>
          <p:cNvGraphicFramePr>
            <a:graphicFrameLocks noGrp="1"/>
          </p:cNvGraphicFramePr>
          <p:nvPr/>
        </p:nvGraphicFramePr>
        <p:xfrm>
          <a:off x="6705600" y="228600"/>
          <a:ext cx="685800" cy="6218244"/>
        </p:xfrm>
        <a:graphic>
          <a:graphicData uri="http://schemas.openxmlformats.org/drawingml/2006/table">
            <a:tbl>
              <a:tblPr/>
              <a:tblGrid>
                <a:gridCol w="685800"/>
              </a:tblGrid>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6</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23</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24</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13</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FF0000"/>
                          </a:solidFill>
                          <a:effectLst/>
                          <a:latin typeface="Arial" charset="0"/>
                          <a:cs typeface="Arial" charset="0"/>
                        </a:rPr>
                        <a:t>15</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smtClean="0">
                        <a:ln>
                          <a:noFill/>
                        </a:ln>
                        <a:solidFill>
                          <a:srgbClr val="FF0000"/>
                        </a:solidFill>
                        <a:effectLst/>
                        <a:latin typeface="Arial" charset="0"/>
                        <a:cs typeface="Arial" charset="0"/>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0533" name="Group 53"/>
          <p:cNvGraphicFramePr>
            <a:graphicFrameLocks noGrp="1"/>
          </p:cNvGraphicFramePr>
          <p:nvPr/>
        </p:nvGraphicFramePr>
        <p:xfrm>
          <a:off x="6096000" y="228600"/>
          <a:ext cx="609600" cy="6218244"/>
        </p:xfrm>
        <a:graphic>
          <a:graphicData uri="http://schemas.openxmlformats.org/drawingml/2006/table">
            <a:tbl>
              <a:tblPr/>
              <a:tblGrid>
                <a:gridCol w="609600"/>
              </a:tblGrid>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6</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7</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8</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13</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14</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15</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8187">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Arial" charset="0"/>
                          <a:cs typeface="Arial" charset="0"/>
                        </a:rPr>
                        <a:t>16</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0549" name="Text Box 69"/>
          <p:cNvSpPr txBox="1">
            <a:spLocks noChangeArrowheads="1"/>
          </p:cNvSpPr>
          <p:nvPr/>
        </p:nvSpPr>
        <p:spPr bwMode="auto">
          <a:xfrm>
            <a:off x="1828800" y="12954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pPr>
            <a:r>
              <a:rPr lang="en-US" sz="2400" b="1"/>
              <a:t>h (x) = x mod 17 </a:t>
            </a:r>
          </a:p>
        </p:txBody>
      </p:sp>
      <p:sp>
        <p:nvSpPr>
          <p:cNvPr id="20550" name="Text Box 70"/>
          <p:cNvSpPr txBox="1">
            <a:spLocks noChangeArrowheads="1"/>
          </p:cNvSpPr>
          <p:nvPr/>
        </p:nvSpPr>
        <p:spPr bwMode="auto">
          <a:xfrm>
            <a:off x="1981200" y="2514600"/>
            <a:ext cx="2667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eaLnBrk="1" hangingPunct="1">
              <a:spcBef>
                <a:spcPct val="50000"/>
              </a:spcBef>
            </a:pPr>
            <a:r>
              <a:rPr lang="en-US" sz="2400" b="1"/>
              <a:t>6 % 17 = </a:t>
            </a:r>
            <a:r>
              <a:rPr lang="en-US" sz="2400" b="1">
                <a:solidFill>
                  <a:srgbClr val="FF0000"/>
                </a:solidFill>
              </a:rPr>
              <a:t>6</a:t>
            </a:r>
          </a:p>
          <a:p>
            <a:pPr algn="just" eaLnBrk="1" hangingPunct="1">
              <a:spcBef>
                <a:spcPct val="50000"/>
              </a:spcBef>
            </a:pPr>
            <a:r>
              <a:rPr lang="en-US" sz="2400" b="1"/>
              <a:t>15 % 17 = </a:t>
            </a:r>
            <a:r>
              <a:rPr lang="en-US" sz="2400" b="1">
                <a:solidFill>
                  <a:srgbClr val="FF0000"/>
                </a:solidFill>
              </a:rPr>
              <a:t>15</a:t>
            </a:r>
          </a:p>
          <a:p>
            <a:pPr algn="just" eaLnBrk="1" hangingPunct="1">
              <a:spcBef>
                <a:spcPct val="50000"/>
              </a:spcBef>
            </a:pPr>
            <a:r>
              <a:rPr lang="en-US" sz="2400" b="1"/>
              <a:t>23 % 17 = </a:t>
            </a:r>
            <a:r>
              <a:rPr lang="en-US" sz="2400" b="1">
                <a:solidFill>
                  <a:srgbClr val="FF0000"/>
                </a:solidFill>
              </a:rPr>
              <a:t>6</a:t>
            </a:r>
          </a:p>
          <a:p>
            <a:pPr algn="just" eaLnBrk="1" hangingPunct="1">
              <a:spcBef>
                <a:spcPct val="50000"/>
              </a:spcBef>
            </a:pPr>
            <a:r>
              <a:rPr lang="en-US" sz="2400" b="1"/>
              <a:t>24 % 17 = </a:t>
            </a:r>
            <a:r>
              <a:rPr lang="en-US" sz="2400" b="1">
                <a:solidFill>
                  <a:srgbClr val="FF0000"/>
                </a:solidFill>
              </a:rPr>
              <a:t>7</a:t>
            </a:r>
          </a:p>
          <a:p>
            <a:pPr algn="just" eaLnBrk="1" hangingPunct="1">
              <a:spcBef>
                <a:spcPct val="50000"/>
              </a:spcBef>
            </a:pPr>
            <a:r>
              <a:rPr lang="en-US" sz="2400" b="1"/>
              <a:t>13 % 17 = </a:t>
            </a:r>
            <a:r>
              <a:rPr lang="en-US" sz="2400" b="1">
                <a:solidFill>
                  <a:srgbClr val="FF0000"/>
                </a:solidFill>
              </a:rPr>
              <a:t>13</a:t>
            </a:r>
          </a:p>
        </p:txBody>
      </p:sp>
    </p:spTree>
    <p:extLst>
      <p:ext uri="{BB962C8B-B14F-4D97-AF65-F5344CB8AC3E}">
        <p14:creationId xmlns:p14="http://schemas.microsoft.com/office/powerpoint/2010/main" val="23422572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additive="base">
                                        <p:cTn id="7" dur="500" fill="hold"/>
                                        <p:tgtEl>
                                          <p:spTgt spid="20482"/>
                                        </p:tgtEl>
                                        <p:attrNameLst>
                                          <p:attrName>ppt_x</p:attrName>
                                        </p:attrNameLst>
                                      </p:cBhvr>
                                      <p:tavLst>
                                        <p:tav tm="0">
                                          <p:val>
                                            <p:strVal val="#ppt_x"/>
                                          </p:val>
                                        </p:tav>
                                        <p:tav tm="100000">
                                          <p:val>
                                            <p:strVal val="#ppt_x"/>
                                          </p:val>
                                        </p:tav>
                                      </p:tavLst>
                                    </p:anim>
                                    <p:anim calcmode="lin" valueType="num">
                                      <p:cBhvr additive="base">
                                        <p:cTn id="8"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549"/>
                                        </p:tgtEl>
                                        <p:attrNameLst>
                                          <p:attrName>style.visibility</p:attrName>
                                        </p:attrNameLst>
                                      </p:cBhvr>
                                      <p:to>
                                        <p:strVal val="visible"/>
                                      </p:to>
                                    </p:set>
                                    <p:anim calcmode="lin" valueType="num">
                                      <p:cBhvr additive="base">
                                        <p:cTn id="13" dur="500" fill="hold"/>
                                        <p:tgtEl>
                                          <p:spTgt spid="20549"/>
                                        </p:tgtEl>
                                        <p:attrNameLst>
                                          <p:attrName>ppt_x</p:attrName>
                                        </p:attrNameLst>
                                      </p:cBhvr>
                                      <p:tavLst>
                                        <p:tav tm="0">
                                          <p:val>
                                            <p:strVal val="#ppt_x"/>
                                          </p:val>
                                        </p:tav>
                                        <p:tav tm="100000">
                                          <p:val>
                                            <p:strVal val="#ppt_x"/>
                                          </p:val>
                                        </p:tav>
                                      </p:tavLst>
                                    </p:anim>
                                    <p:anim calcmode="lin" valueType="num">
                                      <p:cBhvr additive="base">
                                        <p:cTn id="14" dur="500" fill="hold"/>
                                        <p:tgtEl>
                                          <p:spTgt spid="2054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550"/>
                                        </p:tgtEl>
                                        <p:attrNameLst>
                                          <p:attrName>style.visibility</p:attrName>
                                        </p:attrNameLst>
                                      </p:cBhvr>
                                      <p:to>
                                        <p:strVal val="visible"/>
                                      </p:to>
                                    </p:set>
                                    <p:anim calcmode="lin" valueType="num">
                                      <p:cBhvr additive="base">
                                        <p:cTn id="19" dur="500" fill="hold"/>
                                        <p:tgtEl>
                                          <p:spTgt spid="20550"/>
                                        </p:tgtEl>
                                        <p:attrNameLst>
                                          <p:attrName>ppt_x</p:attrName>
                                        </p:attrNameLst>
                                      </p:cBhvr>
                                      <p:tavLst>
                                        <p:tav tm="0">
                                          <p:val>
                                            <p:strVal val="#ppt_x"/>
                                          </p:val>
                                        </p:tav>
                                        <p:tav tm="100000">
                                          <p:val>
                                            <p:strVal val="#ppt_x"/>
                                          </p:val>
                                        </p:tav>
                                      </p:tavLst>
                                    </p:anim>
                                    <p:anim calcmode="lin" valueType="num">
                                      <p:cBhvr additive="base">
                                        <p:cTn id="20" dur="500" fill="hold"/>
                                        <p:tgtEl>
                                          <p:spTgt spid="2055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0533"/>
                                        </p:tgtEl>
                                        <p:attrNameLst>
                                          <p:attrName>style.visibility</p:attrName>
                                        </p:attrNameLst>
                                      </p:cBhvr>
                                      <p:to>
                                        <p:strVal val="visible"/>
                                      </p:to>
                                    </p:set>
                                    <p:anim calcmode="lin" valueType="num">
                                      <p:cBhvr additive="base">
                                        <p:cTn id="25" dur="500" fill="hold"/>
                                        <p:tgtEl>
                                          <p:spTgt spid="20533"/>
                                        </p:tgtEl>
                                        <p:attrNameLst>
                                          <p:attrName>ppt_x</p:attrName>
                                        </p:attrNameLst>
                                      </p:cBhvr>
                                      <p:tavLst>
                                        <p:tav tm="0">
                                          <p:val>
                                            <p:strVal val="#ppt_x"/>
                                          </p:val>
                                        </p:tav>
                                        <p:tav tm="100000">
                                          <p:val>
                                            <p:strVal val="#ppt_x"/>
                                          </p:val>
                                        </p:tav>
                                      </p:tavLst>
                                    </p:anim>
                                    <p:anim calcmode="lin" valueType="num">
                                      <p:cBhvr additive="base">
                                        <p:cTn id="26" dur="500" fill="hold"/>
                                        <p:tgtEl>
                                          <p:spTgt spid="2053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0548"/>
                                        </p:tgtEl>
                                        <p:attrNameLst>
                                          <p:attrName>style.visibility</p:attrName>
                                        </p:attrNameLst>
                                      </p:cBhvr>
                                      <p:to>
                                        <p:strVal val="visible"/>
                                      </p:to>
                                    </p:set>
                                    <p:anim calcmode="lin" valueType="num">
                                      <p:cBhvr additive="base">
                                        <p:cTn id="29" dur="500" fill="hold"/>
                                        <p:tgtEl>
                                          <p:spTgt spid="20548"/>
                                        </p:tgtEl>
                                        <p:attrNameLst>
                                          <p:attrName>ppt_x</p:attrName>
                                        </p:attrNameLst>
                                      </p:cBhvr>
                                      <p:tavLst>
                                        <p:tav tm="0">
                                          <p:val>
                                            <p:strVal val="#ppt_x"/>
                                          </p:val>
                                        </p:tav>
                                        <p:tav tm="100000">
                                          <p:val>
                                            <p:strVal val="#ppt_x"/>
                                          </p:val>
                                        </p:tav>
                                      </p:tavLst>
                                    </p:anim>
                                    <p:anim calcmode="lin" valueType="num">
                                      <p:cBhvr additive="base">
                                        <p:cTn id="30" dur="500" fill="hold"/>
                                        <p:tgtEl>
                                          <p:spTgt spid="205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549" grpId="0"/>
      <p:bldP spid="2055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Excercise</a:t>
            </a:r>
            <a:endParaRPr lang="en-IN" dirty="0"/>
          </a:p>
        </p:txBody>
      </p:sp>
      <p:sp>
        <p:nvSpPr>
          <p:cNvPr id="3" name="Content Placeholder 2"/>
          <p:cNvSpPr>
            <a:spLocks noGrp="1"/>
          </p:cNvSpPr>
          <p:nvPr>
            <p:ph idx="1"/>
          </p:nvPr>
        </p:nvSpPr>
        <p:spPr/>
        <p:txBody>
          <a:bodyPr/>
          <a:lstStyle/>
          <a:p>
            <a:r>
              <a:rPr lang="en-IN" dirty="0" smtClean="0"/>
              <a:t>Insert the following numbers  </a:t>
            </a:r>
            <a:r>
              <a:rPr lang="en-IN" b="1" dirty="0" smtClean="0"/>
              <a:t>2111, 1371</a:t>
            </a:r>
            <a:r>
              <a:rPr lang="en-IN" b="1" dirty="0"/>
              <a:t>, </a:t>
            </a:r>
            <a:r>
              <a:rPr lang="en-IN" b="1" dirty="0" smtClean="0"/>
              <a:t>2123</a:t>
            </a:r>
            <a:r>
              <a:rPr lang="en-IN" b="1" dirty="0"/>
              <a:t>, </a:t>
            </a:r>
            <a:r>
              <a:rPr lang="en-IN" b="1" dirty="0" smtClean="0"/>
              <a:t>1443</a:t>
            </a:r>
            <a:r>
              <a:rPr lang="en-IN" b="1" dirty="0"/>
              <a:t>, </a:t>
            </a:r>
            <a:r>
              <a:rPr lang="en-IN" b="1" dirty="0" smtClean="0"/>
              <a:t>5699</a:t>
            </a:r>
            <a:r>
              <a:rPr lang="en-IN" b="1" dirty="0"/>
              <a:t>, </a:t>
            </a:r>
            <a:r>
              <a:rPr lang="en-IN" b="1" dirty="0" smtClean="0"/>
              <a:t>7086</a:t>
            </a:r>
            <a:r>
              <a:rPr lang="en-IN" b="1" dirty="0"/>
              <a:t>, </a:t>
            </a:r>
            <a:r>
              <a:rPr lang="en-IN" b="1" dirty="0" smtClean="0"/>
              <a:t>1919</a:t>
            </a:r>
            <a:r>
              <a:rPr lang="en-IN" dirty="0" smtClean="0"/>
              <a:t> using the hash </a:t>
            </a:r>
            <a:r>
              <a:rPr lang="en-IN" dirty="0"/>
              <a:t>function h(X)=X mod </a:t>
            </a:r>
            <a:r>
              <a:rPr lang="en-IN" dirty="0" smtClean="0"/>
              <a:t>11. Find out the result of open </a:t>
            </a:r>
            <a:r>
              <a:rPr lang="en-IN" dirty="0"/>
              <a:t>addressing hash table using </a:t>
            </a:r>
            <a:r>
              <a:rPr lang="en-IN" dirty="0" smtClean="0">
                <a:solidFill>
                  <a:srgbClr val="FF0000"/>
                </a:solidFill>
              </a:rPr>
              <a:t>any of the probing</a:t>
            </a:r>
            <a:r>
              <a:rPr lang="en-IN" dirty="0"/>
              <a:t>. </a:t>
            </a:r>
            <a:r>
              <a:rPr lang="en-IN" dirty="0" smtClean="0"/>
              <a:t>Identify the need for rehashing and display the final result </a:t>
            </a:r>
            <a:r>
              <a:rPr lang="en-IN" dirty="0"/>
              <a:t>of </a:t>
            </a:r>
            <a:r>
              <a:rPr lang="en-IN" dirty="0" smtClean="0"/>
              <a:t>rehashing</a:t>
            </a:r>
            <a:endParaRPr lang="en-IN" dirty="0"/>
          </a:p>
        </p:txBody>
      </p:sp>
    </p:spTree>
    <p:extLst>
      <p:ext uri="{BB962C8B-B14F-4D97-AF65-F5344CB8AC3E}">
        <p14:creationId xmlns:p14="http://schemas.microsoft.com/office/powerpoint/2010/main" val="292874966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1700808"/>
            <a:ext cx="8856984" cy="4136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960572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RANDOM PROBING</a:t>
            </a:r>
            <a:endParaRPr lang="en-IN" dirty="0"/>
          </a:p>
        </p:txBody>
      </p:sp>
      <p:sp>
        <p:nvSpPr>
          <p:cNvPr id="3" name="Content Placeholder 2"/>
          <p:cNvSpPr>
            <a:spLocks noGrp="1"/>
          </p:cNvSpPr>
          <p:nvPr>
            <p:ph idx="1"/>
          </p:nvPr>
        </p:nvSpPr>
        <p:spPr/>
        <p:txBody>
          <a:bodyPr/>
          <a:lstStyle/>
          <a:p>
            <a:r>
              <a:rPr lang="en-IN" dirty="0" smtClean="0"/>
              <a:t>Hash fun </a:t>
            </a:r>
            <a:r>
              <a:rPr lang="en-IN" b="1" dirty="0" smtClean="0">
                <a:solidFill>
                  <a:srgbClr val="FF0000"/>
                </a:solidFill>
              </a:rPr>
              <a:t>H(x)= ( key mod 11) +1</a:t>
            </a:r>
          </a:p>
          <a:p>
            <a:r>
              <a:rPr lang="en-IN" dirty="0" smtClean="0"/>
              <a:t>When collision occurs</a:t>
            </a:r>
          </a:p>
          <a:p>
            <a:r>
              <a:rPr lang="en-IN" b="1" dirty="0" smtClean="0">
                <a:solidFill>
                  <a:srgbClr val="FF0000"/>
                </a:solidFill>
              </a:rPr>
              <a:t>H(x)= (</a:t>
            </a:r>
            <a:r>
              <a:rPr lang="en-IN" b="1" dirty="0" err="1" smtClean="0">
                <a:solidFill>
                  <a:srgbClr val="FF0000"/>
                </a:solidFill>
              </a:rPr>
              <a:t>i+p</a:t>
            </a:r>
            <a:r>
              <a:rPr lang="en-IN" b="1" dirty="0" smtClean="0">
                <a:solidFill>
                  <a:srgbClr val="FF0000"/>
                </a:solidFill>
              </a:rPr>
              <a:t>)% m +1 </a:t>
            </a:r>
            <a:r>
              <a:rPr lang="en-IN" dirty="0" smtClean="0"/>
              <a:t>where </a:t>
            </a:r>
            <a:r>
              <a:rPr lang="en-IN" dirty="0" err="1" smtClean="0"/>
              <a:t>i</a:t>
            </a:r>
            <a:r>
              <a:rPr lang="en-IN" dirty="0" smtClean="0"/>
              <a:t> is the index value and p is the prime no, m is the size of the hash table</a:t>
            </a:r>
          </a:p>
          <a:p>
            <a:pPr marL="0" indent="0">
              <a:buNone/>
            </a:pPr>
            <a:r>
              <a:rPr lang="en-IN" dirty="0" smtClean="0"/>
              <a:t> </a:t>
            </a:r>
            <a:endParaRPr lang="en-IN" dirty="0"/>
          </a:p>
        </p:txBody>
      </p:sp>
    </p:spTree>
    <p:extLst>
      <p:ext uri="{BB962C8B-B14F-4D97-AF65-F5344CB8AC3E}">
        <p14:creationId xmlns:p14="http://schemas.microsoft.com/office/powerpoint/2010/main" val="308675855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906888" cy="5890666"/>
          </a:xfrm>
        </p:spPr>
        <p:txBody>
          <a:bodyPr>
            <a:normAutofit/>
          </a:bodyPr>
          <a:lstStyle/>
          <a:p>
            <a:r>
              <a:rPr lang="en-IN" dirty="0" err="1" smtClean="0"/>
              <a:t>Eg</a:t>
            </a:r>
            <a:r>
              <a:rPr lang="en-IN" dirty="0" smtClean="0"/>
              <a:t>. </a:t>
            </a:r>
            <a:br>
              <a:rPr lang="en-IN" dirty="0" smtClean="0"/>
            </a:br>
            <a:r>
              <a:rPr lang="en-IN" dirty="0" smtClean="0"/>
              <a:t>Insert 23</a:t>
            </a:r>
            <a:br>
              <a:rPr lang="en-IN" dirty="0" smtClean="0"/>
            </a:br>
            <a:r>
              <a:rPr lang="en-IN" dirty="0" err="1" smtClean="0"/>
              <a:t>i</a:t>
            </a:r>
            <a:r>
              <a:rPr lang="en-IN" dirty="0" smtClean="0"/>
              <a:t>=(23%11)+1=2</a:t>
            </a:r>
            <a:br>
              <a:rPr lang="en-IN" dirty="0" smtClean="0"/>
            </a:br>
            <a:r>
              <a:rPr lang="en-IN" dirty="0" smtClean="0">
                <a:solidFill>
                  <a:srgbClr val="FF0000"/>
                </a:solidFill>
              </a:rPr>
              <a:t>Insert 45</a:t>
            </a:r>
            <a:r>
              <a:rPr lang="en-IN" dirty="0" smtClean="0"/>
              <a:t/>
            </a:r>
            <a:br>
              <a:rPr lang="en-IN" dirty="0" smtClean="0"/>
            </a:br>
            <a:r>
              <a:rPr lang="en-IN" dirty="0" err="1" smtClean="0"/>
              <a:t>i</a:t>
            </a:r>
            <a:r>
              <a:rPr lang="en-IN" dirty="0" smtClean="0"/>
              <a:t>=(45%11)+1=2</a:t>
            </a:r>
            <a:br>
              <a:rPr lang="en-IN" dirty="0" smtClean="0"/>
            </a:br>
            <a:r>
              <a:rPr lang="en-IN" dirty="0" smtClean="0">
                <a:solidFill>
                  <a:srgbClr val="FF0000"/>
                </a:solidFill>
              </a:rPr>
              <a:t>collision</a:t>
            </a:r>
            <a:r>
              <a:rPr lang="en-IN" dirty="0" smtClean="0"/>
              <a:t> occurs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44130749"/>
              </p:ext>
            </p:extLst>
          </p:nvPr>
        </p:nvGraphicFramePr>
        <p:xfrm>
          <a:off x="6228184" y="1700808"/>
          <a:ext cx="2160240" cy="4079240"/>
        </p:xfrm>
        <a:graphic>
          <a:graphicData uri="http://schemas.openxmlformats.org/drawingml/2006/table">
            <a:tbl>
              <a:tblPr firstRow="1" bandRow="1">
                <a:tableStyleId>{5C22544A-7EE6-4342-B048-85BDC9FD1C3A}</a:tableStyleId>
              </a:tblPr>
              <a:tblGrid>
                <a:gridCol w="1080120"/>
                <a:gridCol w="1080120"/>
              </a:tblGrid>
              <a:tr h="370840">
                <a:tc>
                  <a:txBody>
                    <a:bodyPr/>
                    <a:lstStyle/>
                    <a:p>
                      <a:r>
                        <a:rPr lang="en-IN" dirty="0" smtClean="0"/>
                        <a:t>0</a:t>
                      </a:r>
                      <a:endParaRPr lang="en-IN" dirty="0"/>
                    </a:p>
                  </a:txBody>
                  <a:tcPr/>
                </a:tc>
                <a:tc>
                  <a:txBody>
                    <a:bodyPr/>
                    <a:lstStyle/>
                    <a:p>
                      <a:endParaRPr lang="en-IN" dirty="0"/>
                    </a:p>
                  </a:txBody>
                  <a:tcPr/>
                </a:tc>
              </a:tr>
              <a:tr h="370840">
                <a:tc>
                  <a:txBody>
                    <a:bodyPr/>
                    <a:lstStyle/>
                    <a:p>
                      <a:r>
                        <a:rPr lang="en-IN" dirty="0" smtClean="0"/>
                        <a:t>1</a:t>
                      </a:r>
                      <a:endParaRPr lang="en-IN" dirty="0"/>
                    </a:p>
                  </a:txBody>
                  <a:tcPr/>
                </a:tc>
                <a:tc>
                  <a:txBody>
                    <a:bodyPr/>
                    <a:lstStyle/>
                    <a:p>
                      <a:endParaRPr lang="en-IN"/>
                    </a:p>
                  </a:txBody>
                  <a:tcPr/>
                </a:tc>
              </a:tr>
              <a:tr h="370840">
                <a:tc>
                  <a:txBody>
                    <a:bodyPr/>
                    <a:lstStyle/>
                    <a:p>
                      <a:r>
                        <a:rPr lang="en-IN" dirty="0" smtClean="0"/>
                        <a:t>2</a:t>
                      </a:r>
                      <a:endParaRPr lang="en-IN" dirty="0"/>
                    </a:p>
                  </a:txBody>
                  <a:tcPr/>
                </a:tc>
                <a:tc>
                  <a:txBody>
                    <a:bodyPr/>
                    <a:lstStyle/>
                    <a:p>
                      <a:r>
                        <a:rPr lang="en-IN" dirty="0" smtClean="0"/>
                        <a:t>23</a:t>
                      </a:r>
                      <a:endParaRPr lang="en-IN" dirty="0"/>
                    </a:p>
                  </a:txBody>
                  <a:tcPr/>
                </a:tc>
              </a:tr>
              <a:tr h="370840">
                <a:tc>
                  <a:txBody>
                    <a:bodyPr/>
                    <a:lstStyle/>
                    <a:p>
                      <a:r>
                        <a:rPr lang="en-IN" dirty="0" smtClean="0"/>
                        <a:t>3</a:t>
                      </a:r>
                      <a:endParaRPr lang="en-IN" dirty="0"/>
                    </a:p>
                  </a:txBody>
                  <a:tcPr/>
                </a:tc>
                <a:tc>
                  <a:txBody>
                    <a:bodyPr/>
                    <a:lstStyle/>
                    <a:p>
                      <a:endParaRPr lang="en-IN"/>
                    </a:p>
                  </a:txBody>
                  <a:tcPr/>
                </a:tc>
              </a:tr>
              <a:tr h="370840">
                <a:tc>
                  <a:txBody>
                    <a:bodyPr/>
                    <a:lstStyle/>
                    <a:p>
                      <a:r>
                        <a:rPr lang="en-IN" dirty="0" smtClean="0"/>
                        <a:t>4</a:t>
                      </a:r>
                      <a:endParaRPr lang="en-IN" dirty="0"/>
                    </a:p>
                  </a:txBody>
                  <a:tcPr/>
                </a:tc>
                <a:tc>
                  <a:txBody>
                    <a:bodyPr/>
                    <a:lstStyle/>
                    <a:p>
                      <a:endParaRPr lang="en-IN"/>
                    </a:p>
                  </a:txBody>
                  <a:tcPr/>
                </a:tc>
              </a:tr>
              <a:tr h="370840">
                <a:tc>
                  <a:txBody>
                    <a:bodyPr/>
                    <a:lstStyle/>
                    <a:p>
                      <a:r>
                        <a:rPr lang="en-IN" dirty="0" smtClean="0"/>
                        <a:t>5</a:t>
                      </a:r>
                      <a:endParaRPr lang="en-IN" dirty="0"/>
                    </a:p>
                  </a:txBody>
                  <a:tcPr/>
                </a:tc>
                <a:tc>
                  <a:txBody>
                    <a:bodyPr/>
                    <a:lstStyle/>
                    <a:p>
                      <a:endParaRPr lang="en-IN"/>
                    </a:p>
                  </a:txBody>
                  <a:tcPr/>
                </a:tc>
              </a:tr>
              <a:tr h="370840">
                <a:tc>
                  <a:txBody>
                    <a:bodyPr/>
                    <a:lstStyle/>
                    <a:p>
                      <a:r>
                        <a:rPr lang="en-IN" dirty="0" smtClean="0"/>
                        <a:t>6</a:t>
                      </a:r>
                      <a:endParaRPr lang="en-IN" dirty="0"/>
                    </a:p>
                  </a:txBody>
                  <a:tcPr/>
                </a:tc>
                <a:tc>
                  <a:txBody>
                    <a:bodyPr/>
                    <a:lstStyle/>
                    <a:p>
                      <a:endParaRPr lang="en-IN"/>
                    </a:p>
                  </a:txBody>
                  <a:tcPr/>
                </a:tc>
              </a:tr>
              <a:tr h="370840">
                <a:tc>
                  <a:txBody>
                    <a:bodyPr/>
                    <a:lstStyle/>
                    <a:p>
                      <a:r>
                        <a:rPr lang="en-IN" dirty="0" smtClean="0"/>
                        <a:t>7</a:t>
                      </a:r>
                      <a:endParaRPr lang="en-IN" dirty="0"/>
                    </a:p>
                  </a:txBody>
                  <a:tcPr/>
                </a:tc>
                <a:tc>
                  <a:txBody>
                    <a:bodyPr/>
                    <a:lstStyle/>
                    <a:p>
                      <a:endParaRPr lang="en-IN"/>
                    </a:p>
                  </a:txBody>
                  <a:tcPr/>
                </a:tc>
              </a:tr>
              <a:tr h="370840">
                <a:tc>
                  <a:txBody>
                    <a:bodyPr/>
                    <a:lstStyle/>
                    <a:p>
                      <a:r>
                        <a:rPr lang="en-IN" dirty="0" smtClean="0"/>
                        <a:t>8</a:t>
                      </a:r>
                      <a:endParaRPr lang="en-IN" dirty="0"/>
                    </a:p>
                  </a:txBody>
                  <a:tcPr/>
                </a:tc>
                <a:tc>
                  <a:txBody>
                    <a:bodyPr/>
                    <a:lstStyle/>
                    <a:p>
                      <a:endParaRPr lang="en-IN"/>
                    </a:p>
                  </a:txBody>
                  <a:tcPr/>
                </a:tc>
              </a:tr>
              <a:tr h="370840">
                <a:tc>
                  <a:txBody>
                    <a:bodyPr/>
                    <a:lstStyle/>
                    <a:p>
                      <a:r>
                        <a:rPr lang="en-IN" dirty="0" smtClean="0"/>
                        <a:t>9</a:t>
                      </a:r>
                      <a:endParaRPr lang="en-IN" dirty="0"/>
                    </a:p>
                  </a:txBody>
                  <a:tcPr/>
                </a:tc>
                <a:tc>
                  <a:txBody>
                    <a:bodyPr/>
                    <a:lstStyle/>
                    <a:p>
                      <a:endParaRPr lang="en-IN"/>
                    </a:p>
                  </a:txBody>
                  <a:tcPr/>
                </a:tc>
              </a:tr>
              <a:tr h="370840">
                <a:tc>
                  <a:txBody>
                    <a:bodyPr/>
                    <a:lstStyle/>
                    <a:p>
                      <a:r>
                        <a:rPr lang="en-IN" dirty="0" smtClean="0"/>
                        <a:t>10</a:t>
                      </a:r>
                      <a:endParaRPr lang="en-IN" dirty="0"/>
                    </a:p>
                  </a:txBody>
                  <a:tcPr/>
                </a:tc>
                <a:tc>
                  <a:txBody>
                    <a:bodyPr/>
                    <a:lstStyle/>
                    <a:p>
                      <a:endParaRPr lang="en-IN" dirty="0"/>
                    </a:p>
                  </a:txBody>
                  <a:tcPr/>
                </a:tc>
              </a:tr>
            </a:tbl>
          </a:graphicData>
        </a:graphic>
      </p:graphicFrame>
    </p:spTree>
    <p:extLst>
      <p:ext uri="{BB962C8B-B14F-4D97-AF65-F5344CB8AC3E}">
        <p14:creationId xmlns:p14="http://schemas.microsoft.com/office/powerpoint/2010/main" val="4803319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330824" cy="5890666"/>
          </a:xfrm>
        </p:spPr>
        <p:txBody>
          <a:bodyPr>
            <a:normAutofit fontScale="90000"/>
          </a:bodyPr>
          <a:lstStyle/>
          <a:p>
            <a:r>
              <a:rPr lang="en-IN" dirty="0" smtClean="0"/>
              <a:t>When collision</a:t>
            </a:r>
            <a:br>
              <a:rPr lang="en-IN" dirty="0" smtClean="0"/>
            </a:br>
            <a:r>
              <a:rPr lang="en-IN" dirty="0" err="1" smtClean="0">
                <a:solidFill>
                  <a:srgbClr val="FF0000"/>
                </a:solidFill>
              </a:rPr>
              <a:t>i</a:t>
            </a:r>
            <a:r>
              <a:rPr lang="en-IN" dirty="0" smtClean="0">
                <a:solidFill>
                  <a:srgbClr val="FF0000"/>
                </a:solidFill>
              </a:rPr>
              <a:t>=(</a:t>
            </a:r>
            <a:r>
              <a:rPr lang="en-IN" dirty="0" err="1" smtClean="0">
                <a:solidFill>
                  <a:srgbClr val="FF0000"/>
                </a:solidFill>
              </a:rPr>
              <a:t>i+P</a:t>
            </a:r>
            <a:r>
              <a:rPr lang="en-IN" dirty="0" smtClean="0">
                <a:solidFill>
                  <a:srgbClr val="FF0000"/>
                </a:solidFill>
              </a:rPr>
              <a:t>)%11+1</a:t>
            </a:r>
            <a:r>
              <a:rPr lang="en-IN" dirty="0" smtClean="0"/>
              <a:t/>
            </a:r>
            <a:br>
              <a:rPr lang="en-IN" dirty="0" smtClean="0"/>
            </a:br>
            <a:r>
              <a:rPr lang="en-IN" dirty="0" smtClean="0"/>
              <a:t>=(2+5)%11+1=8</a:t>
            </a:r>
            <a:br>
              <a:rPr lang="en-IN" dirty="0" smtClean="0"/>
            </a:br>
            <a:r>
              <a:rPr lang="en-IN" dirty="0" smtClean="0"/>
              <a:t>=(8+5)%11+1=3</a:t>
            </a:r>
            <a:br>
              <a:rPr lang="en-IN" dirty="0" smtClean="0"/>
            </a:br>
            <a:r>
              <a:rPr lang="en-IN" dirty="0" smtClean="0"/>
              <a:t>=(3+5)%11+1=9</a:t>
            </a:r>
            <a:br>
              <a:rPr lang="en-IN" dirty="0" smtClean="0"/>
            </a:br>
            <a:r>
              <a:rPr lang="en-IN" dirty="0" smtClean="0"/>
              <a:t>=(9+5)%11+1=4</a:t>
            </a:r>
            <a:br>
              <a:rPr lang="en-IN" dirty="0" smtClean="0"/>
            </a:br>
            <a:r>
              <a:rPr lang="en-IN" dirty="0" smtClean="0"/>
              <a:t>(4+5)%11+1=10</a:t>
            </a:r>
            <a:br>
              <a:rPr lang="en-IN" dirty="0" smtClean="0"/>
            </a:br>
            <a:r>
              <a:rPr lang="en-IN" dirty="0" smtClean="0"/>
              <a:t>(10+5)%11+1=5</a:t>
            </a:r>
            <a:br>
              <a:rPr lang="en-IN" dirty="0" smtClean="0"/>
            </a:br>
            <a:r>
              <a:rPr lang="en-IN" dirty="0" smtClean="0"/>
              <a:t>(5+5)%11+1=11</a:t>
            </a:r>
            <a:br>
              <a:rPr lang="en-IN" dirty="0" smtClean="0"/>
            </a:br>
            <a:r>
              <a:rPr lang="en-IN" dirty="0" smtClean="0"/>
              <a:t>(11+5)%11+1=6</a:t>
            </a:r>
            <a:br>
              <a:rPr lang="en-IN" dirty="0" smtClean="0"/>
            </a:br>
            <a:endParaRPr lang="en-IN" dirty="0"/>
          </a:p>
        </p:txBody>
      </p:sp>
      <p:graphicFrame>
        <p:nvGraphicFramePr>
          <p:cNvPr id="4" name="Content Placeholder 3"/>
          <p:cNvGraphicFramePr>
            <a:graphicFrameLocks/>
          </p:cNvGraphicFramePr>
          <p:nvPr>
            <p:extLst>
              <p:ext uri="{D42A27DB-BD31-4B8C-83A1-F6EECF244321}">
                <p14:modId xmlns:p14="http://schemas.microsoft.com/office/powerpoint/2010/main" val="2181830571"/>
              </p:ext>
            </p:extLst>
          </p:nvPr>
        </p:nvGraphicFramePr>
        <p:xfrm>
          <a:off x="6228184" y="1700808"/>
          <a:ext cx="2160240" cy="4079240"/>
        </p:xfrm>
        <a:graphic>
          <a:graphicData uri="http://schemas.openxmlformats.org/drawingml/2006/table">
            <a:tbl>
              <a:tblPr firstRow="1" bandRow="1">
                <a:tableStyleId>{5C22544A-7EE6-4342-B048-85BDC9FD1C3A}</a:tableStyleId>
              </a:tblPr>
              <a:tblGrid>
                <a:gridCol w="1080120"/>
                <a:gridCol w="1080120"/>
              </a:tblGrid>
              <a:tr h="370840">
                <a:tc>
                  <a:txBody>
                    <a:bodyPr/>
                    <a:lstStyle/>
                    <a:p>
                      <a:r>
                        <a:rPr lang="en-IN" dirty="0" smtClean="0"/>
                        <a:t>0</a:t>
                      </a:r>
                      <a:endParaRPr lang="en-IN" dirty="0"/>
                    </a:p>
                  </a:txBody>
                  <a:tcPr/>
                </a:tc>
                <a:tc>
                  <a:txBody>
                    <a:bodyPr/>
                    <a:lstStyle/>
                    <a:p>
                      <a:endParaRPr lang="en-IN" dirty="0"/>
                    </a:p>
                  </a:txBody>
                  <a:tcPr/>
                </a:tc>
              </a:tr>
              <a:tr h="370840">
                <a:tc>
                  <a:txBody>
                    <a:bodyPr/>
                    <a:lstStyle/>
                    <a:p>
                      <a:r>
                        <a:rPr lang="en-IN" dirty="0" smtClean="0"/>
                        <a:t>1</a:t>
                      </a:r>
                      <a:endParaRPr lang="en-IN" dirty="0"/>
                    </a:p>
                  </a:txBody>
                  <a:tcPr/>
                </a:tc>
                <a:tc>
                  <a:txBody>
                    <a:bodyPr/>
                    <a:lstStyle/>
                    <a:p>
                      <a:endParaRPr lang="en-IN"/>
                    </a:p>
                  </a:txBody>
                  <a:tcPr/>
                </a:tc>
              </a:tr>
              <a:tr h="370840">
                <a:tc>
                  <a:txBody>
                    <a:bodyPr/>
                    <a:lstStyle/>
                    <a:p>
                      <a:r>
                        <a:rPr lang="en-IN" dirty="0" smtClean="0"/>
                        <a:t>2</a:t>
                      </a:r>
                      <a:endParaRPr lang="en-IN" dirty="0"/>
                    </a:p>
                  </a:txBody>
                  <a:tcPr/>
                </a:tc>
                <a:tc>
                  <a:txBody>
                    <a:bodyPr/>
                    <a:lstStyle/>
                    <a:p>
                      <a:r>
                        <a:rPr lang="en-IN" dirty="0" smtClean="0"/>
                        <a:t>23</a:t>
                      </a:r>
                      <a:endParaRPr lang="en-IN" dirty="0"/>
                    </a:p>
                  </a:txBody>
                  <a:tcPr/>
                </a:tc>
              </a:tr>
              <a:tr h="370840">
                <a:tc>
                  <a:txBody>
                    <a:bodyPr/>
                    <a:lstStyle/>
                    <a:p>
                      <a:r>
                        <a:rPr lang="en-IN" dirty="0" smtClean="0"/>
                        <a:t>3</a:t>
                      </a:r>
                      <a:endParaRPr lang="en-IN" dirty="0"/>
                    </a:p>
                  </a:txBody>
                  <a:tcPr/>
                </a:tc>
                <a:tc>
                  <a:txBody>
                    <a:bodyPr/>
                    <a:lstStyle/>
                    <a:p>
                      <a:r>
                        <a:rPr lang="en-IN" dirty="0" smtClean="0"/>
                        <a:t>56</a:t>
                      </a:r>
                      <a:endParaRPr lang="en-IN" dirty="0"/>
                    </a:p>
                  </a:txBody>
                  <a:tcPr/>
                </a:tc>
              </a:tr>
              <a:tr h="370840">
                <a:tc>
                  <a:txBody>
                    <a:bodyPr/>
                    <a:lstStyle/>
                    <a:p>
                      <a:r>
                        <a:rPr lang="en-IN" dirty="0" smtClean="0"/>
                        <a:t>4</a:t>
                      </a:r>
                      <a:endParaRPr lang="en-IN" dirty="0"/>
                    </a:p>
                  </a:txBody>
                  <a:tcPr/>
                </a:tc>
                <a:tc>
                  <a:txBody>
                    <a:bodyPr/>
                    <a:lstStyle/>
                    <a:p>
                      <a:r>
                        <a:rPr lang="en-IN" dirty="0" smtClean="0"/>
                        <a:t>78</a:t>
                      </a:r>
                      <a:endParaRPr lang="en-IN" dirty="0"/>
                    </a:p>
                  </a:txBody>
                  <a:tcPr/>
                </a:tc>
              </a:tr>
              <a:tr h="370840">
                <a:tc>
                  <a:txBody>
                    <a:bodyPr/>
                    <a:lstStyle/>
                    <a:p>
                      <a:r>
                        <a:rPr lang="en-IN" dirty="0" smtClean="0"/>
                        <a:t>5</a:t>
                      </a:r>
                      <a:endParaRPr lang="en-IN" dirty="0"/>
                    </a:p>
                  </a:txBody>
                  <a:tcPr/>
                </a:tc>
                <a:tc>
                  <a:txBody>
                    <a:bodyPr/>
                    <a:lstStyle/>
                    <a:p>
                      <a:endParaRPr lang="en-IN"/>
                    </a:p>
                  </a:txBody>
                  <a:tcPr/>
                </a:tc>
              </a:tr>
              <a:tr h="370840">
                <a:tc>
                  <a:txBody>
                    <a:bodyPr/>
                    <a:lstStyle/>
                    <a:p>
                      <a:r>
                        <a:rPr lang="en-IN" dirty="0" smtClean="0"/>
                        <a:t>6</a:t>
                      </a:r>
                      <a:endParaRPr lang="en-IN" dirty="0"/>
                    </a:p>
                  </a:txBody>
                  <a:tcPr/>
                </a:tc>
                <a:tc>
                  <a:txBody>
                    <a:bodyPr/>
                    <a:lstStyle/>
                    <a:p>
                      <a:endParaRPr lang="en-IN"/>
                    </a:p>
                  </a:txBody>
                  <a:tcPr/>
                </a:tc>
              </a:tr>
              <a:tr h="370840">
                <a:tc>
                  <a:txBody>
                    <a:bodyPr/>
                    <a:lstStyle/>
                    <a:p>
                      <a:r>
                        <a:rPr lang="en-IN" dirty="0" smtClean="0"/>
                        <a:t>7</a:t>
                      </a:r>
                      <a:endParaRPr lang="en-IN" dirty="0"/>
                    </a:p>
                  </a:txBody>
                  <a:tcPr/>
                </a:tc>
                <a:tc>
                  <a:txBody>
                    <a:bodyPr/>
                    <a:lstStyle/>
                    <a:p>
                      <a:endParaRPr lang="en-IN"/>
                    </a:p>
                  </a:txBody>
                  <a:tcPr/>
                </a:tc>
              </a:tr>
              <a:tr h="370840">
                <a:tc>
                  <a:txBody>
                    <a:bodyPr/>
                    <a:lstStyle/>
                    <a:p>
                      <a:r>
                        <a:rPr lang="en-IN" dirty="0" smtClean="0"/>
                        <a:t>8</a:t>
                      </a:r>
                      <a:endParaRPr lang="en-IN" dirty="0"/>
                    </a:p>
                  </a:txBody>
                  <a:tcPr/>
                </a:tc>
                <a:tc>
                  <a:txBody>
                    <a:bodyPr/>
                    <a:lstStyle/>
                    <a:p>
                      <a:r>
                        <a:rPr lang="en-IN" dirty="0" smtClean="0"/>
                        <a:t>45</a:t>
                      </a:r>
                      <a:endParaRPr lang="en-IN" dirty="0"/>
                    </a:p>
                  </a:txBody>
                  <a:tcPr/>
                </a:tc>
              </a:tr>
              <a:tr h="370840">
                <a:tc>
                  <a:txBody>
                    <a:bodyPr/>
                    <a:lstStyle/>
                    <a:p>
                      <a:r>
                        <a:rPr lang="en-IN" dirty="0" smtClean="0"/>
                        <a:t>9</a:t>
                      </a:r>
                      <a:endParaRPr lang="en-IN" dirty="0"/>
                    </a:p>
                  </a:txBody>
                  <a:tcPr/>
                </a:tc>
                <a:tc>
                  <a:txBody>
                    <a:bodyPr/>
                    <a:lstStyle/>
                    <a:p>
                      <a:r>
                        <a:rPr lang="en-IN" dirty="0" smtClean="0"/>
                        <a:t>67</a:t>
                      </a:r>
                      <a:endParaRPr lang="en-IN" dirty="0"/>
                    </a:p>
                  </a:txBody>
                  <a:tcPr/>
                </a:tc>
              </a:tr>
              <a:tr h="370840">
                <a:tc>
                  <a:txBody>
                    <a:bodyPr/>
                    <a:lstStyle/>
                    <a:p>
                      <a:r>
                        <a:rPr lang="en-IN" dirty="0" smtClean="0"/>
                        <a:t>10</a:t>
                      </a:r>
                      <a:endParaRPr lang="en-IN" dirty="0"/>
                    </a:p>
                  </a:txBody>
                  <a:tcPr/>
                </a:tc>
                <a:tc>
                  <a:txBody>
                    <a:bodyPr/>
                    <a:lstStyle/>
                    <a:p>
                      <a:r>
                        <a:rPr lang="en-IN" dirty="0" smtClean="0"/>
                        <a:t>89</a:t>
                      </a:r>
                      <a:endParaRPr lang="en-IN" dirty="0"/>
                    </a:p>
                  </a:txBody>
                  <a:tcPr/>
                </a:tc>
              </a:tr>
            </a:tbl>
          </a:graphicData>
        </a:graphic>
      </p:graphicFrame>
    </p:spTree>
    <p:extLst>
      <p:ext uri="{BB962C8B-B14F-4D97-AF65-F5344CB8AC3E}">
        <p14:creationId xmlns:p14="http://schemas.microsoft.com/office/powerpoint/2010/main" val="370564962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solidFill>
                  <a:srgbClr val="FF00FF"/>
                </a:solidFill>
              </a:rPr>
              <a:t>Draw backs</a:t>
            </a:r>
          </a:p>
          <a:p>
            <a:r>
              <a:rPr lang="en-IN" dirty="0" smtClean="0"/>
              <a:t>Random sequence Generated for a particular hash value forms sub cluster because of the selection of the prime number.</a:t>
            </a:r>
          </a:p>
          <a:p>
            <a:r>
              <a:rPr lang="en-IN" dirty="0" smtClean="0"/>
              <a:t>This can be handled by either </a:t>
            </a:r>
            <a:r>
              <a:rPr lang="en-IN" dirty="0" smtClean="0">
                <a:solidFill>
                  <a:srgbClr val="FF0000"/>
                </a:solidFill>
              </a:rPr>
              <a:t>rehashing </a:t>
            </a:r>
            <a:r>
              <a:rPr lang="en-IN" dirty="0" smtClean="0"/>
              <a:t>or </a:t>
            </a:r>
            <a:r>
              <a:rPr lang="en-IN" dirty="0" smtClean="0">
                <a:solidFill>
                  <a:srgbClr val="FF0000"/>
                </a:solidFill>
              </a:rPr>
              <a:t>double hashing</a:t>
            </a:r>
          </a:p>
          <a:p>
            <a:endParaRPr lang="en-IN" dirty="0"/>
          </a:p>
        </p:txBody>
      </p:sp>
    </p:spTree>
    <p:extLst>
      <p:ext uri="{BB962C8B-B14F-4D97-AF65-F5344CB8AC3E}">
        <p14:creationId xmlns:p14="http://schemas.microsoft.com/office/powerpoint/2010/main" val="18587252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預設簡報設計">
      <a:majorFont>
        <a:latin typeface="Tahoma"/>
        <a:ea typeface="新細明體"/>
        <a:cs typeface=""/>
      </a:majorFont>
      <a:minorFont>
        <a:latin typeface="Tahom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81000"/>
          </a:lnSpc>
          <a:spcBef>
            <a:spcPct val="0"/>
          </a:spcBef>
          <a:spcAft>
            <a:spcPct val="0"/>
          </a:spcAft>
          <a:buClr>
            <a:srgbClr val="000000"/>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新細明體" pitchFamily="18" charset="-12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81000"/>
          </a:lnSpc>
          <a:spcBef>
            <a:spcPct val="0"/>
          </a:spcBef>
          <a:spcAft>
            <a:spcPct val="0"/>
          </a:spcAft>
          <a:buClr>
            <a:srgbClr val="000000"/>
          </a:buClr>
          <a:buSzPct val="100000"/>
          <a:buFont typeface="Arial" charset="0"/>
          <a:buNone/>
          <a:tabLst/>
          <a:defRPr kumimoji="0" lang="en-GB" sz="1800" b="0" i="0" u="none" strike="noStrike" cap="none" normalizeH="0" baseline="0" smtClean="0">
            <a:ln>
              <a:noFill/>
            </a:ln>
            <a:solidFill>
              <a:schemeClr val="bg1"/>
            </a:solidFill>
            <a:effectLst/>
            <a:latin typeface="Arial" charset="0"/>
            <a:ea typeface="新細明體" pitchFamily="18" charset="-120"/>
          </a:defRPr>
        </a:defPPr>
      </a:lstStyle>
    </a:lnDef>
  </a:objectDefaults>
  <a:extraClrSchemeLst>
    <a:extraClrScheme>
      <a:clrScheme name="預設簡報設計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預設簡報設計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預設簡報設計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預設簡報設計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1697</TotalTime>
  <Words>5082</Words>
  <Application>Microsoft Office PowerPoint</Application>
  <PresentationFormat>On-screen Show (4:3)</PresentationFormat>
  <Paragraphs>1033</Paragraphs>
  <Slides>92</Slides>
  <Notes>25</Notes>
  <HiddenSlides>3</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92</vt:i4>
      </vt:variant>
    </vt:vector>
  </HeadingPairs>
  <TitlesOfParts>
    <vt:vector size="96" baseType="lpstr">
      <vt:lpstr>Office Theme</vt:lpstr>
      <vt:lpstr>預設簡報設計</vt:lpstr>
      <vt:lpstr>1_Office Theme</vt:lpstr>
      <vt:lpstr>Equation</vt:lpstr>
      <vt:lpstr>Hashing Techniques </vt:lpstr>
      <vt:lpstr>Origins of the Term</vt:lpstr>
      <vt:lpstr>Dictionary &amp; Search ADTs</vt:lpstr>
      <vt:lpstr>PowerPoint Presentation</vt:lpstr>
      <vt:lpstr>PowerPoint Presentation</vt:lpstr>
      <vt:lpstr>PowerPoint Presentation</vt:lpstr>
      <vt:lpstr>Concept of Hashing</vt:lpstr>
      <vt:lpstr>Tables of logarithms</vt:lpstr>
      <vt:lpstr>Example</vt:lpstr>
      <vt:lpstr>Dictionaries</vt:lpstr>
      <vt:lpstr>Just An Idea</vt:lpstr>
      <vt:lpstr>Search vs. Hashing</vt:lpstr>
      <vt:lpstr>Static Hashing</vt:lpstr>
      <vt:lpstr>Hash table</vt:lpstr>
      <vt:lpstr>Hash Tables: Basic Idea</vt:lpstr>
      <vt:lpstr>Applications</vt:lpstr>
      <vt:lpstr>How could you use hash tables to… </vt:lpstr>
      <vt:lpstr>PowerPoint Presentation</vt:lpstr>
      <vt:lpstr>Choice of Hash Function</vt:lpstr>
      <vt:lpstr>Some hash functions</vt:lpstr>
      <vt:lpstr>Some hash functions ….</vt:lpstr>
      <vt:lpstr>Some hash functions ….</vt:lpstr>
      <vt:lpstr>Some hash functions…</vt:lpstr>
      <vt:lpstr>Hashing By Division</vt:lpstr>
      <vt:lpstr>Hashing By Division …</vt:lpstr>
      <vt:lpstr>Hashing By Division …</vt:lpstr>
      <vt:lpstr>PowerPoint Presentation</vt:lpstr>
      <vt:lpstr>Hash Function</vt:lpstr>
      <vt:lpstr>Example</vt:lpstr>
      <vt:lpstr>PowerPoint Presentation</vt:lpstr>
      <vt:lpstr>Properties of Good Hash Functions</vt:lpstr>
      <vt:lpstr>Integer Keys</vt:lpstr>
      <vt:lpstr>Integer Keys</vt:lpstr>
      <vt:lpstr>Strings as Keys</vt:lpstr>
      <vt:lpstr>Hashing Strings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Chaining</vt:lpstr>
      <vt:lpstr>PowerPoint Presentation</vt:lpstr>
      <vt:lpstr>PowerPoint Presentation</vt:lpstr>
      <vt:lpstr>Advantages of Chaining </vt:lpstr>
      <vt:lpstr>Disadvantages </vt:lpstr>
      <vt:lpstr>Load Factor with Separate Chaining</vt:lpstr>
      <vt:lpstr>PowerPoint Presentation</vt:lpstr>
      <vt:lpstr>PowerPoint Presentation</vt:lpstr>
      <vt:lpstr>Closed Hashing I  :  LINEAR PROBING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Load Factor in Linear Probing</vt:lpstr>
      <vt:lpstr>Closed Hashing II : Quadratic Probing</vt:lpstr>
      <vt:lpstr> Quadratic Probing  Example:  insert 14,8,21,2,7 with size m=7</vt:lpstr>
      <vt:lpstr>Problem With Quadratic Probing</vt:lpstr>
      <vt:lpstr>PowerPoint Presentation</vt:lpstr>
      <vt:lpstr>PowerPoint Presentation</vt:lpstr>
      <vt:lpstr>Load Factor in Quadratic Probing</vt:lpstr>
      <vt:lpstr>Closed Hashing III :  Double Hashing</vt:lpstr>
      <vt:lpstr>Closed Hashing III: Double Hashing</vt:lpstr>
      <vt:lpstr>PowerPoint Presentation</vt:lpstr>
      <vt:lpstr>Double Hashing Example</vt:lpstr>
      <vt:lpstr>Double Hashing Example</vt:lpstr>
      <vt:lpstr>PowerPoint Presentation</vt:lpstr>
      <vt:lpstr>Home work : Hashing  problem</vt:lpstr>
      <vt:lpstr>Load Factor in Double Hashing</vt:lpstr>
      <vt:lpstr>PowerPoint Presentation</vt:lpstr>
      <vt:lpstr>PowerPoint Presentation</vt:lpstr>
      <vt:lpstr>Rehashing</vt:lpstr>
      <vt:lpstr>Rehashing</vt:lpstr>
      <vt:lpstr>PowerPoint Presentation</vt:lpstr>
      <vt:lpstr>When shall we go for rehashing ?</vt:lpstr>
      <vt:lpstr>PowerPoint Presentation</vt:lpstr>
      <vt:lpstr>PowerPoint Presentation</vt:lpstr>
      <vt:lpstr>PowerPoint Presentation</vt:lpstr>
      <vt:lpstr>PowerPoint Presentation</vt:lpstr>
      <vt:lpstr>Excercise</vt:lpstr>
      <vt:lpstr>PowerPoint Presentation</vt:lpstr>
      <vt:lpstr>RANDOM PROBING</vt:lpstr>
      <vt:lpstr>Eg.  Insert 23 i=(23%11)+1=2 Insert 45 i=(45%11)+1=2 collision occurs</vt:lpstr>
      <vt:lpstr>When collision i=(i+P)%11+1 =(2+5)%11+1=8 =(8+5)%11+1=3 =(3+5)%11+1=9 =(9+5)%11+1=4 (4+5)%11+1=10 (10+5)%11+1=5 (5+5)%11+1=11 (11+5)%11+1=6 </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HP</cp:lastModifiedBy>
  <cp:revision>105</cp:revision>
  <dcterms:created xsi:type="dcterms:W3CDTF">2020-02-04T06:55:54Z</dcterms:created>
  <dcterms:modified xsi:type="dcterms:W3CDTF">2023-05-31T03:52:50Z</dcterms:modified>
</cp:coreProperties>
</file>