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71" r:id="rId10"/>
    <p:sldId id="268" r:id="rId11"/>
    <p:sldId id="270" r:id="rId12"/>
    <p:sldId id="272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7" d="100"/>
          <a:sy n="67" d="100"/>
        </p:scale>
        <p:origin x="-1392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621A-FC45-4638-AAF8-4E9C4CA56959}" type="datetimeFigureOut">
              <a:rPr lang="en-IN" smtClean="0"/>
              <a:t>26-04-2023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E52-9B73-4934-9BD1-9BA9479E89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441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621A-FC45-4638-AAF8-4E9C4CA56959}" type="datetimeFigureOut">
              <a:rPr lang="en-IN" smtClean="0"/>
              <a:t>26-04-2023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E52-9B73-4934-9BD1-9BA9479E89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8867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621A-FC45-4638-AAF8-4E9C4CA56959}" type="datetimeFigureOut">
              <a:rPr lang="en-IN" smtClean="0"/>
              <a:t>26-04-2023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E52-9B73-4934-9BD1-9BA9479E89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3753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621A-FC45-4638-AAF8-4E9C4CA56959}" type="datetimeFigureOut">
              <a:rPr lang="en-IN" smtClean="0"/>
              <a:t>26-04-2023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E52-9B73-4934-9BD1-9BA9479E89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77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621A-FC45-4638-AAF8-4E9C4CA56959}" type="datetimeFigureOut">
              <a:rPr lang="en-IN" smtClean="0"/>
              <a:t>26-04-2023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E52-9B73-4934-9BD1-9BA9479E89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448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621A-FC45-4638-AAF8-4E9C4CA56959}" type="datetimeFigureOut">
              <a:rPr lang="en-IN" smtClean="0"/>
              <a:t>26-04-2023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E52-9B73-4934-9BD1-9BA9479E89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6927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621A-FC45-4638-AAF8-4E9C4CA56959}" type="datetimeFigureOut">
              <a:rPr lang="en-IN" smtClean="0"/>
              <a:t>26-04-2023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E52-9B73-4934-9BD1-9BA9479E89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145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621A-FC45-4638-AAF8-4E9C4CA56959}" type="datetimeFigureOut">
              <a:rPr lang="en-IN" smtClean="0"/>
              <a:t>26-04-2023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E52-9B73-4934-9BD1-9BA9479E89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205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621A-FC45-4638-AAF8-4E9C4CA56959}" type="datetimeFigureOut">
              <a:rPr lang="en-IN" smtClean="0"/>
              <a:t>26-04-2023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E52-9B73-4934-9BD1-9BA9479E89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271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621A-FC45-4638-AAF8-4E9C4CA56959}" type="datetimeFigureOut">
              <a:rPr lang="en-IN" smtClean="0"/>
              <a:t>26-04-2023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E52-9B73-4934-9BD1-9BA9479E89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622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621A-FC45-4638-AAF8-4E9C4CA56959}" type="datetimeFigureOut">
              <a:rPr lang="en-IN" smtClean="0"/>
              <a:t>26-04-2023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E52-9B73-4934-9BD1-9BA9479E89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438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F621A-FC45-4638-AAF8-4E9C4CA56959}" type="datetimeFigureOut">
              <a:rPr lang="en-IN" smtClean="0"/>
              <a:t>26-04-2023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C81E52-9B73-4934-9BD1-9BA9479E89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773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Properties of Binary Tree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9052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850106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PROPERTY  1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/>
              <a:t>The </a:t>
            </a:r>
            <a:r>
              <a:rPr lang="en-US" b="1" dirty="0"/>
              <a:t>maximum number of nodes at level ‘l’ of a binary tree is 2</a:t>
            </a:r>
            <a:r>
              <a:rPr lang="en-US" b="1" baseline="30000" dirty="0"/>
              <a:t>l</a:t>
            </a:r>
            <a:r>
              <a:rPr lang="en-US" b="1" dirty="0"/>
              <a:t>: </a:t>
            </a:r>
          </a:p>
          <a:p>
            <a:pPr fontAlgn="base"/>
            <a:r>
              <a:rPr lang="en-US" b="1" dirty="0"/>
              <a:t>Note: </a:t>
            </a:r>
            <a:r>
              <a:rPr lang="en-US" dirty="0"/>
              <a:t>Here level is the number of nodes on the path from the root to the node (including root and node). The level of the root is 0</a:t>
            </a:r>
          </a:p>
          <a:p>
            <a:pPr fontAlgn="base"/>
            <a:r>
              <a:rPr lang="en-US" dirty="0"/>
              <a:t>This can be proved by induction:</a:t>
            </a:r>
          </a:p>
          <a:p>
            <a:pPr fontAlgn="base"/>
            <a:r>
              <a:rPr lang="en-US" dirty="0"/>
              <a:t>For root, l = 0, number of nodes = 2</a:t>
            </a:r>
            <a:r>
              <a:rPr lang="en-US" baseline="30000" dirty="0"/>
              <a:t>0</a:t>
            </a:r>
            <a:r>
              <a:rPr lang="en-US" dirty="0"/>
              <a:t> = 1 </a:t>
            </a:r>
            <a:br>
              <a:rPr lang="en-US" dirty="0"/>
            </a:br>
            <a:r>
              <a:rPr lang="en-US" dirty="0"/>
              <a:t>Assume that the maximum number of nodes on level ‘l’ is 2</a:t>
            </a:r>
            <a:r>
              <a:rPr lang="en-US" baseline="30000" dirty="0"/>
              <a:t>l</a:t>
            </a:r>
            <a:r>
              <a:rPr lang="en-US" dirty="0"/>
              <a:t> </a:t>
            </a:r>
            <a:br>
              <a:rPr lang="en-US" dirty="0"/>
            </a:br>
            <a:r>
              <a:rPr lang="en-US" dirty="0"/>
              <a:t>Since in a Binary tree every node has at most 2 children, the next level would have twice nodes, i.e. 2 * 2</a:t>
            </a:r>
            <a:r>
              <a:rPr lang="en-US" baseline="30000" dirty="0"/>
              <a:t>l</a:t>
            </a:r>
            <a:r>
              <a:rPr lang="en-US" dirty="0"/>
              <a:t>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0825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850106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PROPERTY  </a:t>
            </a:r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589240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 smtClean="0"/>
              <a:t>The</a:t>
            </a:r>
            <a:r>
              <a:rPr lang="en-US" b="1" dirty="0"/>
              <a:t> Maximum number of nodes in a binary tree of height ‘h’ is 2</a:t>
            </a:r>
            <a:r>
              <a:rPr lang="en-US" b="1" baseline="30000" dirty="0"/>
              <a:t>h</a:t>
            </a:r>
            <a:r>
              <a:rPr lang="en-US" b="1" dirty="0"/>
              <a:t> – 1:</a:t>
            </a:r>
          </a:p>
          <a:p>
            <a:pPr algn="just" fontAlgn="base"/>
            <a:r>
              <a:rPr lang="en-US" b="1" dirty="0"/>
              <a:t>Note: </a:t>
            </a:r>
            <a:r>
              <a:rPr lang="en-US" dirty="0"/>
              <a:t>Here the height of a tree is the maximum number of nodes on the root-to-leaf path. The height of a tree with a single node is considered as 1</a:t>
            </a:r>
          </a:p>
          <a:p>
            <a:pPr algn="just" fontAlgn="base"/>
            <a:r>
              <a:rPr lang="en-US" dirty="0"/>
              <a:t>This result can be derived from point 2 above. A tree has maximum nodes if all levels have maximum nodes. So the maximum number of nodes in a binary tree of height h is 1 + 2 + 4 + .. + 2</a:t>
            </a:r>
            <a:r>
              <a:rPr lang="en-US" baseline="30000" dirty="0"/>
              <a:t>h-1</a:t>
            </a:r>
            <a:r>
              <a:rPr lang="en-US" dirty="0"/>
              <a:t>. This is a simple geometric series with h terms and the sum of this series is 2</a:t>
            </a:r>
            <a:r>
              <a:rPr lang="en-US" baseline="30000" dirty="0"/>
              <a:t>h</a:t>
            </a:r>
            <a:r>
              <a:rPr lang="en-US" dirty="0"/>
              <a:t>– 1. </a:t>
            </a:r>
          </a:p>
          <a:p>
            <a:pPr algn="just" fontAlgn="base"/>
            <a:r>
              <a:rPr lang="en-US" dirty="0"/>
              <a:t>In some books, the height of the root is considered as 0. In this convention, the above formula becomes 2</a:t>
            </a:r>
            <a:r>
              <a:rPr lang="en-US" baseline="30000" dirty="0"/>
              <a:t>h+1</a:t>
            </a:r>
            <a:r>
              <a:rPr lang="en-US" dirty="0"/>
              <a:t> – 1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1706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PROPERTY  </a:t>
            </a:r>
            <a:r>
              <a:rPr lang="en-US" b="1" dirty="0" smtClean="0">
                <a:solidFill>
                  <a:srgbClr val="FF0000"/>
                </a:solidFill>
              </a:rPr>
              <a:t>3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 fontScale="85000" lnSpcReduction="20000"/>
          </a:bodyPr>
          <a:lstStyle/>
          <a:p>
            <a:pPr fontAlgn="base"/>
            <a:r>
              <a:rPr lang="en-US" b="1" dirty="0" smtClean="0"/>
              <a:t> </a:t>
            </a:r>
            <a:r>
              <a:rPr lang="en-US" b="1" dirty="0"/>
              <a:t>In a Binary Tree with N nodes, the minimum possible height or the minimum number of levels is Log</a:t>
            </a:r>
            <a:r>
              <a:rPr lang="en-US" b="1" baseline="-25000" dirty="0"/>
              <a:t>2</a:t>
            </a:r>
            <a:r>
              <a:rPr lang="en-US" b="1" dirty="0"/>
              <a:t>(N+1):</a:t>
            </a:r>
          </a:p>
          <a:p>
            <a:pPr fontAlgn="base"/>
            <a:r>
              <a:rPr lang="en-US" dirty="0"/>
              <a:t>Each level should have at least one element, so the height cannot be more than N. A binary tree of height ‘h’ can have a maximum of 2</a:t>
            </a:r>
            <a:r>
              <a:rPr lang="en-US" baseline="30000" dirty="0"/>
              <a:t>h</a:t>
            </a:r>
            <a:r>
              <a:rPr lang="en-US" dirty="0"/>
              <a:t> – 1 nodes (previous property). So the number of nodes will be less than or equal to this maximum value</a:t>
            </a:r>
          </a:p>
          <a:p>
            <a:pPr fontAlgn="base"/>
            <a:r>
              <a:rPr lang="en-US" dirty="0"/>
              <a:t>N &lt;=  2</a:t>
            </a:r>
            <a:r>
              <a:rPr lang="en-US" baseline="30000" dirty="0"/>
              <a:t>h</a:t>
            </a:r>
            <a:r>
              <a:rPr lang="en-US" dirty="0"/>
              <a:t> – 1</a:t>
            </a:r>
            <a:br>
              <a:rPr lang="en-US" dirty="0"/>
            </a:br>
            <a:r>
              <a:rPr lang="en-US" dirty="0"/>
              <a:t>2</a:t>
            </a:r>
            <a:r>
              <a:rPr lang="en-US" baseline="30000" dirty="0"/>
              <a:t>h</a:t>
            </a:r>
            <a:r>
              <a:rPr lang="en-US" dirty="0"/>
              <a:t> &gt;= N+1</a:t>
            </a:r>
            <a:br>
              <a:rPr lang="en-US" dirty="0"/>
            </a:br>
            <a:r>
              <a:rPr lang="en-US" dirty="0"/>
              <a:t>log</a:t>
            </a:r>
            <a:r>
              <a:rPr lang="en-US" baseline="-25000" dirty="0"/>
              <a:t>2</a:t>
            </a:r>
            <a:r>
              <a:rPr lang="en-US" dirty="0"/>
              <a:t>(2</a:t>
            </a:r>
            <a:r>
              <a:rPr lang="en-US" baseline="30000" dirty="0"/>
              <a:t>h</a:t>
            </a:r>
            <a:r>
              <a:rPr lang="en-US" dirty="0"/>
              <a:t>) &gt;= log</a:t>
            </a:r>
            <a:r>
              <a:rPr lang="en-US" baseline="-25000" dirty="0"/>
              <a:t>2</a:t>
            </a:r>
            <a:r>
              <a:rPr lang="en-US" dirty="0"/>
              <a:t>(N+1)           (Taking log both sides)</a:t>
            </a:r>
            <a:br>
              <a:rPr lang="en-US" dirty="0"/>
            </a:br>
            <a:r>
              <a:rPr lang="en-US" dirty="0"/>
              <a:t>hlog</a:t>
            </a:r>
            <a:r>
              <a:rPr lang="en-US" baseline="-25000" dirty="0"/>
              <a:t>2</a:t>
            </a:r>
            <a:r>
              <a:rPr lang="en-US" dirty="0"/>
              <a:t>2 &gt;= log</a:t>
            </a:r>
            <a:r>
              <a:rPr lang="en-US" baseline="-25000" dirty="0"/>
              <a:t>2</a:t>
            </a:r>
            <a:r>
              <a:rPr lang="en-US" dirty="0"/>
              <a:t>(N+1)       (h is an integer)</a:t>
            </a:r>
            <a:br>
              <a:rPr lang="en-US" dirty="0"/>
            </a:br>
            <a:r>
              <a:rPr lang="en-US" dirty="0"/>
              <a:t>h  &gt;= | log</a:t>
            </a:r>
            <a:r>
              <a:rPr lang="en-US" baseline="-25000" dirty="0"/>
              <a:t>2</a:t>
            </a:r>
            <a:r>
              <a:rPr lang="en-US" dirty="0"/>
              <a:t>(N+1) |</a:t>
            </a:r>
          </a:p>
          <a:p>
            <a:pPr fontAlgn="base"/>
            <a:r>
              <a:rPr lang="en-US" dirty="0"/>
              <a:t>So the minimum height possible is | log</a:t>
            </a:r>
            <a:r>
              <a:rPr lang="en-US" baseline="-25000" dirty="0"/>
              <a:t>2</a:t>
            </a:r>
            <a:r>
              <a:rPr lang="en-US" dirty="0"/>
              <a:t>(N+1) |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6256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PROPERTY  </a:t>
            </a:r>
            <a:r>
              <a:rPr lang="en-US" b="1" dirty="0" smtClean="0">
                <a:solidFill>
                  <a:srgbClr val="FF0000"/>
                </a:solidFill>
              </a:rPr>
              <a:t>4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600200"/>
            <a:ext cx="8856984" cy="4525963"/>
          </a:xfrm>
        </p:spPr>
        <p:txBody>
          <a:bodyPr>
            <a:normAutofit fontScale="92500" lnSpcReduction="10000"/>
          </a:bodyPr>
          <a:lstStyle/>
          <a:p>
            <a:pPr fontAlgn="base"/>
            <a:r>
              <a:rPr lang="en-US" b="1" dirty="0" smtClean="0"/>
              <a:t> </a:t>
            </a:r>
            <a:r>
              <a:rPr lang="en-US" b="1" dirty="0"/>
              <a:t>A Binary Tree with L leaves has at least | Log</a:t>
            </a:r>
            <a:r>
              <a:rPr lang="en-US" b="1" baseline="-25000" dirty="0"/>
              <a:t>2</a:t>
            </a:r>
            <a:r>
              <a:rPr lang="en-US" b="1" dirty="0"/>
              <a:t>L |+ 1   levels:</a:t>
            </a:r>
          </a:p>
          <a:p>
            <a:pPr fontAlgn="base"/>
            <a:r>
              <a:rPr lang="en-US" dirty="0"/>
              <a:t>A Binary tree has the maximum number of leaves (and a minimum number of levels) when all levels are fully filled. Let all leaves be at level l, then below is valid for the number of leaves L</a:t>
            </a:r>
          </a:p>
          <a:p>
            <a:pPr fontAlgn="base"/>
            <a:r>
              <a:rPr lang="en-US" dirty="0"/>
              <a:t>L   &lt;=  2</a:t>
            </a:r>
            <a:r>
              <a:rPr lang="en-US" baseline="30000" dirty="0"/>
              <a:t>l-1</a:t>
            </a:r>
            <a:r>
              <a:rPr lang="en-US" dirty="0"/>
              <a:t>  [From </a:t>
            </a:r>
            <a:r>
              <a:rPr lang="en-US" dirty="0" smtClean="0"/>
              <a:t>Property  </a:t>
            </a:r>
            <a:r>
              <a:rPr lang="en-US" dirty="0"/>
              <a:t>1] [Note: Here, consider level of root node as 1]</a:t>
            </a:r>
            <a:br>
              <a:rPr lang="en-US" dirty="0"/>
            </a:br>
            <a:r>
              <a:rPr lang="en-US" dirty="0"/>
              <a:t>l =   | Log</a:t>
            </a:r>
            <a:r>
              <a:rPr lang="en-US" baseline="-25000" dirty="0"/>
              <a:t>2</a:t>
            </a:r>
            <a:r>
              <a:rPr lang="en-US" dirty="0"/>
              <a:t>L | + 1 </a:t>
            </a:r>
            <a:br>
              <a:rPr lang="en-US" dirty="0"/>
            </a:br>
            <a:r>
              <a:rPr lang="en-US" dirty="0"/>
              <a:t>where l is the minimum number of levels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6272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850106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PROPERTY  </a:t>
            </a:r>
            <a:r>
              <a:rPr lang="en-US" b="1" dirty="0" smtClean="0">
                <a:solidFill>
                  <a:srgbClr val="FF0000"/>
                </a:solidFill>
              </a:rPr>
              <a:t>5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6093296"/>
          </a:xfrm>
        </p:spPr>
        <p:txBody>
          <a:bodyPr>
            <a:normAutofit fontScale="92500" lnSpcReduction="20000"/>
          </a:bodyPr>
          <a:lstStyle/>
          <a:p>
            <a:pPr fontAlgn="base"/>
            <a:r>
              <a:rPr lang="en-US" b="1" dirty="0" smtClean="0"/>
              <a:t>In </a:t>
            </a:r>
            <a:r>
              <a:rPr lang="en-US" b="1" dirty="0"/>
              <a:t>a Binary tree where every node has 0 or 2 children, the number of leaf nodes is always one more than nodes with two children:</a:t>
            </a:r>
          </a:p>
          <a:p>
            <a:pPr fontAlgn="base"/>
            <a:r>
              <a:rPr lang="en-US" dirty="0"/>
              <a:t>L = T + 1</a:t>
            </a:r>
            <a:br>
              <a:rPr lang="en-US" dirty="0"/>
            </a:br>
            <a:r>
              <a:rPr lang="en-US" dirty="0"/>
              <a:t>Where L = Number of leaf nodes</a:t>
            </a:r>
            <a:br>
              <a:rPr lang="en-US" dirty="0"/>
            </a:br>
            <a:r>
              <a:rPr lang="en-US" dirty="0"/>
              <a:t>T = Number of internal nodes with two children</a:t>
            </a:r>
          </a:p>
          <a:p>
            <a:pPr marL="0" indent="0" fontAlgn="base">
              <a:buNone/>
            </a:pPr>
            <a:r>
              <a:rPr lang="en-US" b="1" i="1" dirty="0">
                <a:solidFill>
                  <a:srgbClr val="FF0000"/>
                </a:solidFill>
              </a:rPr>
              <a:t>Proof:</a:t>
            </a:r>
          </a:p>
          <a:p>
            <a:pPr fontAlgn="base"/>
            <a:r>
              <a:rPr lang="en-US" i="1" dirty="0"/>
              <a:t>No. of leaf nodes (L) i.e. total elements present at the bottom of tree = 2</a:t>
            </a:r>
            <a:r>
              <a:rPr lang="en-US" i="1" baseline="30000" dirty="0"/>
              <a:t>h-1</a:t>
            </a:r>
            <a:r>
              <a:rPr lang="en-US" i="1" dirty="0"/>
              <a:t> (h is height of tree)</a:t>
            </a:r>
            <a:br>
              <a:rPr lang="en-US" i="1" dirty="0"/>
            </a:br>
            <a:r>
              <a:rPr lang="en-US" i="1" dirty="0"/>
              <a:t>No. of internal nodes = {total no. of nodes} – {leaf nodes} = { 2</a:t>
            </a:r>
            <a:r>
              <a:rPr lang="en-US" i="1" baseline="30000" dirty="0"/>
              <a:t>h</a:t>
            </a:r>
            <a:r>
              <a:rPr lang="en-US" i="1" dirty="0"/>
              <a:t> – 1 } – {2</a:t>
            </a:r>
            <a:r>
              <a:rPr lang="en-US" i="1" baseline="30000" dirty="0"/>
              <a:t>h-1</a:t>
            </a:r>
            <a:r>
              <a:rPr lang="en-US" i="1" dirty="0"/>
              <a:t>} = 2</a:t>
            </a:r>
            <a:r>
              <a:rPr lang="en-US" i="1" baseline="30000" dirty="0"/>
              <a:t>h-1</a:t>
            </a:r>
            <a:r>
              <a:rPr lang="en-US" i="1" dirty="0"/>
              <a:t> (2-1) – 1 = 2</a:t>
            </a:r>
            <a:r>
              <a:rPr lang="en-US" i="1" baseline="30000" dirty="0"/>
              <a:t>h-1</a:t>
            </a:r>
            <a:r>
              <a:rPr lang="en-US" i="1" dirty="0"/>
              <a:t> – 1</a:t>
            </a:r>
            <a:br>
              <a:rPr lang="en-US" i="1" dirty="0"/>
            </a:br>
            <a:r>
              <a:rPr lang="en-US" i="1" dirty="0"/>
              <a:t>So , L = 2</a:t>
            </a:r>
            <a:r>
              <a:rPr lang="en-US" i="1" baseline="30000" dirty="0"/>
              <a:t>h-1</a:t>
            </a:r>
            <a:r>
              <a:rPr lang="en-US" i="1" dirty="0"/>
              <a:t/>
            </a:r>
            <a:br>
              <a:rPr lang="en-US" i="1" dirty="0"/>
            </a:br>
            <a:r>
              <a:rPr lang="en-US" i="1" baseline="30000" dirty="0"/>
              <a:t>        </a:t>
            </a:r>
            <a:r>
              <a:rPr lang="en-US" i="1" dirty="0"/>
              <a:t>T = 2</a:t>
            </a:r>
            <a:r>
              <a:rPr lang="en-US" i="1" baseline="30000" dirty="0"/>
              <a:t>h-1</a:t>
            </a:r>
            <a:r>
              <a:rPr lang="en-US" i="1" dirty="0"/>
              <a:t> – 1</a:t>
            </a:r>
          </a:p>
          <a:p>
            <a:pPr fontAlgn="base"/>
            <a:r>
              <a:rPr lang="en-US" i="1" dirty="0"/>
              <a:t>Therefore L = T + </a:t>
            </a:r>
            <a:r>
              <a:rPr lang="en-US" i="1" dirty="0" smtClean="0"/>
              <a:t>1 Hence </a:t>
            </a:r>
            <a:r>
              <a:rPr lang="en-US" i="1" dirty="0"/>
              <a:t>proved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4181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PROPERTY  </a:t>
            </a:r>
            <a:r>
              <a:rPr lang="en-US" b="1" dirty="0" smtClean="0">
                <a:solidFill>
                  <a:srgbClr val="FF0000"/>
                </a:solidFill>
              </a:rPr>
              <a:t>6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en-US" b="1" dirty="0" smtClean="0"/>
              <a:t> </a:t>
            </a:r>
            <a:r>
              <a:rPr lang="en-US" b="1" dirty="0"/>
              <a:t>In a non-empty binary tree, if n is the total number of nodes and e is the total number of edges, then e = n-1:</a:t>
            </a:r>
          </a:p>
          <a:p>
            <a:pPr fontAlgn="base"/>
            <a:r>
              <a:rPr lang="en-US" dirty="0"/>
              <a:t>Every node in a binary tree has exactly one parent with the exception of the root node. So if n is the total number of nodes then n-1 nodes have exactly one parent. There is only one edge between any child and its parent. So the total number of edges is n-1.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7937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PROPERTY  </a:t>
            </a:r>
            <a:r>
              <a:rPr lang="en-US" b="1" dirty="0" smtClean="0">
                <a:solidFill>
                  <a:srgbClr val="FF0000"/>
                </a:solidFill>
              </a:rPr>
              <a:t>7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/>
          <a:lstStyle/>
          <a:p>
            <a:r>
              <a:rPr lang="en-US" b="1" dirty="0" smtClean="0"/>
              <a:t>For any non empty binary tree, if n is the number of nodes and e is the number of edges then n=e+1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562989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3952273"/>
              </p:ext>
            </p:extLst>
          </p:nvPr>
        </p:nvGraphicFramePr>
        <p:xfrm>
          <a:off x="457200" y="333375"/>
          <a:ext cx="8229600" cy="22250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Number of Nodes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 of Edges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N=e+!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1=0+1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2=1+1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3=2+!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n’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n’-1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n’=(n’-1)+1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67544" y="2780928"/>
            <a:ext cx="828092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Let the above is true for any number of nodes n’.  Thus n’ =e’+1.</a:t>
            </a:r>
          </a:p>
          <a:p>
            <a:r>
              <a:rPr lang="en-US" sz="2400" dirty="0" smtClean="0"/>
              <a:t>Now, if we add one more node into the binary tree having n’ nodes, then it will increase one more edge in the binary tree.  Thus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n’+1 = (e’+1) +1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         = ((n’-1)+1)+1               where e’ = n’-1</a:t>
            </a:r>
          </a:p>
          <a:p>
            <a:r>
              <a:rPr lang="en-US" sz="2400" dirty="0" smtClean="0"/>
              <a:t>Therefore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    n’+1 = ( n’+1-1)+1</a:t>
            </a:r>
          </a:p>
          <a:p>
            <a:r>
              <a:rPr lang="en-US" sz="2400" dirty="0" smtClean="0"/>
              <a:t>This implies that, if the formula is true for any n, then it is also true for n+1.</a:t>
            </a:r>
          </a:p>
          <a:p>
            <a:r>
              <a:rPr lang="en-US" sz="2400" dirty="0" smtClean="0"/>
              <a:t>Hence n= e+1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527574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PROPERTY  </a:t>
            </a:r>
            <a:r>
              <a:rPr lang="en-US" b="1" dirty="0" smtClean="0">
                <a:solidFill>
                  <a:srgbClr val="FF0000"/>
                </a:solidFill>
              </a:rPr>
              <a:t>8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/>
          <a:lstStyle/>
          <a:p>
            <a:r>
              <a:rPr lang="en-US" dirty="0" smtClean="0"/>
              <a:t>For any non empty binary tree, if n</a:t>
            </a:r>
            <a:r>
              <a:rPr lang="en-US" baseline="-25000" dirty="0" smtClean="0"/>
              <a:t>0</a:t>
            </a:r>
            <a:r>
              <a:rPr lang="en-US" dirty="0" smtClean="0"/>
              <a:t> is the number of leaf nodes ( degree = 0 ) and n</a:t>
            </a:r>
            <a:r>
              <a:rPr lang="en-US" baseline="-25000" dirty="0" smtClean="0"/>
              <a:t>2</a:t>
            </a:r>
            <a:r>
              <a:rPr lang="en-US" dirty="0" smtClean="0"/>
              <a:t> be the number of internal nodes(degree = 2) then </a:t>
            </a:r>
          </a:p>
          <a:p>
            <a:pPr marL="0" indent="0">
              <a:buNone/>
            </a:pPr>
            <a:r>
              <a:rPr lang="en-US" dirty="0" smtClean="0"/>
              <a:t>           n</a:t>
            </a:r>
            <a:r>
              <a:rPr lang="en-US" baseline="-25000" dirty="0" smtClean="0"/>
              <a:t>0</a:t>
            </a:r>
            <a:r>
              <a:rPr lang="en-US" dirty="0" smtClean="0"/>
              <a:t>=n</a:t>
            </a:r>
            <a:r>
              <a:rPr lang="en-US" baseline="-25000" dirty="0" smtClean="0"/>
              <a:t>2</a:t>
            </a:r>
            <a:r>
              <a:rPr lang="en-US" dirty="0" smtClean="0"/>
              <a:t>+1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0400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32"/>
            <a:ext cx="8229600" cy="6009531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Proof :</a:t>
            </a:r>
          </a:p>
          <a:p>
            <a:pPr marL="0" indent="0">
              <a:buNone/>
            </a:pPr>
            <a:r>
              <a:rPr lang="en-US" dirty="0" smtClean="0"/>
              <a:t>Suppose n is the total number of nodes in T and n1 is the number of  nodes having degree 0&lt;=t&lt;=2, so we have n=n</a:t>
            </a:r>
            <a:r>
              <a:rPr lang="en-US" baseline="-25000" dirty="0" smtClean="0"/>
              <a:t>0</a:t>
            </a:r>
            <a:r>
              <a:rPr lang="en-US" dirty="0" smtClean="0"/>
              <a:t>+n</a:t>
            </a:r>
            <a:r>
              <a:rPr lang="en-US" baseline="-25000" dirty="0" smtClean="0"/>
              <a:t>1</a:t>
            </a:r>
            <a:r>
              <a:rPr lang="en-US" dirty="0" smtClean="0"/>
              <a:t>+n</a:t>
            </a:r>
            <a:r>
              <a:rPr lang="en-US" baseline="-25000" dirty="0" smtClean="0"/>
              <a:t>2</a:t>
            </a:r>
          </a:p>
          <a:p>
            <a:pPr marL="0" indent="0">
              <a:buNone/>
            </a:pPr>
            <a:r>
              <a:rPr lang="en-US" dirty="0" smtClean="0"/>
              <a:t>As t is the binary tree and no other kind of nodes are possible</a:t>
            </a:r>
          </a:p>
          <a:p>
            <a:pPr marL="0" indent="0">
              <a:buNone/>
            </a:pPr>
            <a:r>
              <a:rPr lang="en-US" dirty="0" smtClean="0"/>
              <a:t>Let e be the number of edges in T then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e= n</a:t>
            </a:r>
            <a:r>
              <a:rPr lang="en-US" baseline="-25000" dirty="0" smtClean="0"/>
              <a:t>0</a:t>
            </a:r>
            <a:r>
              <a:rPr lang="en-US" dirty="0" smtClean="0"/>
              <a:t> x 0 +n</a:t>
            </a:r>
            <a:r>
              <a:rPr lang="en-US" baseline="-25000" dirty="0" smtClean="0"/>
              <a:t>1</a:t>
            </a:r>
            <a:r>
              <a:rPr lang="en-US" dirty="0" smtClean="0"/>
              <a:t> x 1 +n</a:t>
            </a:r>
            <a:r>
              <a:rPr lang="en-US" baseline="-25000" dirty="0" smtClean="0"/>
              <a:t>2</a:t>
            </a:r>
            <a:r>
              <a:rPr lang="en-US" dirty="0" smtClean="0"/>
              <a:t> x 2 = n</a:t>
            </a:r>
            <a:r>
              <a:rPr lang="en-US" baseline="-25000" dirty="0" smtClean="0"/>
              <a:t>1</a:t>
            </a:r>
            <a:r>
              <a:rPr lang="en-US" dirty="0" smtClean="0"/>
              <a:t>+2n</a:t>
            </a:r>
            <a:r>
              <a:rPr lang="en-US" baseline="-25000" dirty="0" smtClean="0"/>
              <a:t>2</a:t>
            </a:r>
          </a:p>
          <a:p>
            <a:pPr marL="0" indent="0">
              <a:buNone/>
            </a:pPr>
            <a:r>
              <a:rPr lang="en-US" dirty="0" smtClean="0"/>
              <a:t>We know that n=e +1 =&gt; 1 +n</a:t>
            </a:r>
            <a:r>
              <a:rPr lang="en-US" baseline="-25000" dirty="0" smtClean="0"/>
              <a:t>1</a:t>
            </a:r>
            <a:r>
              <a:rPr lang="en-US" dirty="0" smtClean="0"/>
              <a:t>+2n</a:t>
            </a:r>
            <a:r>
              <a:rPr lang="en-US" baseline="-25000" dirty="0" smtClean="0"/>
              <a:t>2</a:t>
            </a:r>
            <a:r>
              <a:rPr lang="en-US" dirty="0" smtClean="0"/>
              <a:t> = n</a:t>
            </a:r>
            <a:r>
              <a:rPr lang="en-US" baseline="-25000" dirty="0" smtClean="0"/>
              <a:t>0</a:t>
            </a:r>
            <a:r>
              <a:rPr lang="en-US" dirty="0" smtClean="0"/>
              <a:t>+n</a:t>
            </a:r>
            <a:r>
              <a:rPr lang="en-US" baseline="-25000" dirty="0" smtClean="0"/>
              <a:t>1</a:t>
            </a:r>
            <a:r>
              <a:rPr lang="en-US" dirty="0" smtClean="0"/>
              <a:t>+n</a:t>
            </a:r>
            <a:r>
              <a:rPr lang="en-US" baseline="-25000" dirty="0" smtClean="0"/>
              <a:t>2</a:t>
            </a:r>
          </a:p>
          <a:p>
            <a:pPr marL="0" indent="0">
              <a:buNone/>
            </a:pPr>
            <a:r>
              <a:rPr lang="en-US" dirty="0" smtClean="0"/>
              <a:t>=&gt; </a:t>
            </a:r>
            <a:r>
              <a:rPr lang="en-US" dirty="0" smtClean="0">
                <a:solidFill>
                  <a:srgbClr val="FF0000"/>
                </a:solidFill>
              </a:rPr>
              <a:t>n</a:t>
            </a:r>
            <a:r>
              <a:rPr lang="en-US" baseline="-25000" dirty="0" smtClean="0">
                <a:solidFill>
                  <a:srgbClr val="FF0000"/>
                </a:solidFill>
              </a:rPr>
              <a:t>0 </a:t>
            </a:r>
            <a:r>
              <a:rPr lang="en-US" dirty="0" smtClean="0">
                <a:solidFill>
                  <a:srgbClr val="FF0000"/>
                </a:solidFill>
              </a:rPr>
              <a:t>= n</a:t>
            </a:r>
            <a:r>
              <a:rPr lang="en-US" baseline="-25000" dirty="0" smtClean="0">
                <a:solidFill>
                  <a:srgbClr val="FF0000"/>
                </a:solidFill>
              </a:rPr>
              <a:t>2 </a:t>
            </a:r>
            <a:r>
              <a:rPr lang="en-US" dirty="0" smtClean="0">
                <a:solidFill>
                  <a:srgbClr val="FF0000"/>
                </a:solidFill>
              </a:rPr>
              <a:t>+1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baseline="-25000" dirty="0"/>
          </a:p>
          <a:p>
            <a:pPr marL="0" indent="0">
              <a:buNone/>
            </a:pPr>
            <a:endParaRPr lang="en-US" baseline="-25000" dirty="0"/>
          </a:p>
          <a:p>
            <a:pPr marL="0" indent="0">
              <a:buNone/>
            </a:pPr>
            <a:endParaRPr lang="en-US" baseline="-25000" dirty="0"/>
          </a:p>
          <a:p>
            <a:pPr marL="0" indent="0">
              <a:buNone/>
            </a:pPr>
            <a:endParaRPr lang="en-IN" baseline="-25000" dirty="0"/>
          </a:p>
        </p:txBody>
      </p:sp>
    </p:spTree>
    <p:extLst>
      <p:ext uri="{BB962C8B-B14F-4D97-AF65-F5344CB8AC3E}">
        <p14:creationId xmlns:p14="http://schemas.microsoft.com/office/powerpoint/2010/main" val="3354907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PROPERTY  </a:t>
            </a:r>
            <a:r>
              <a:rPr lang="en-US" b="1" dirty="0" smtClean="0">
                <a:solidFill>
                  <a:srgbClr val="FF0000"/>
                </a:solidFill>
              </a:rPr>
              <a:t>9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The total number of binary trees possible  with n number of nodes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+1</m:t>
                          </m:r>
                        </m:den>
                      </m:f>
                      <m:r>
                        <a:rPr lang="en-US" i="1" smtClean="0">
                          <a:latin typeface="Cambria Math"/>
                        </a:rPr>
                        <m:t>+</m:t>
                      </m:r>
                      <m:r>
                        <a:rPr lang="en-US" b="0" i="1" smtClean="0">
                          <a:latin typeface="Cambria Math"/>
                        </a:rPr>
                        <m:t>2</m:t>
                      </m:r>
                      <m:r>
                        <a:rPr lang="en-US" b="0" i="1" smtClean="0">
                          <a:latin typeface="Cambria Math"/>
                        </a:rPr>
                        <m:t>𝑛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𝐶𝑛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8434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522</Words>
  <Application>Microsoft Office PowerPoint</Application>
  <PresentationFormat>On-screen Show (4:3)</PresentationFormat>
  <Paragraphs>69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Properties of Binary Tree</vt:lpstr>
      <vt:lpstr>PROPERTY  1</vt:lpstr>
      <vt:lpstr>PROPERTY  2</vt:lpstr>
      <vt:lpstr>PROPERTY  3</vt:lpstr>
      <vt:lpstr>PROPERTY  4</vt:lpstr>
      <vt:lpstr>PROPERTY  5</vt:lpstr>
      <vt:lpstr>PROPERTY  6</vt:lpstr>
      <vt:lpstr>PROPERTY  7</vt:lpstr>
      <vt:lpstr>PowerPoint Presentation</vt:lpstr>
      <vt:lpstr>PROPERTY  8</vt:lpstr>
      <vt:lpstr>PowerPoint Presentation</vt:lpstr>
      <vt:lpstr>PROPERTY  9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Properties of Binary Tree</dc:title>
  <dc:creator>HP</dc:creator>
  <cp:lastModifiedBy>HP</cp:lastModifiedBy>
  <cp:revision>13</cp:revision>
  <dcterms:created xsi:type="dcterms:W3CDTF">2023-04-25T12:53:09Z</dcterms:created>
  <dcterms:modified xsi:type="dcterms:W3CDTF">2023-04-26T02:29:16Z</dcterms:modified>
</cp:coreProperties>
</file>