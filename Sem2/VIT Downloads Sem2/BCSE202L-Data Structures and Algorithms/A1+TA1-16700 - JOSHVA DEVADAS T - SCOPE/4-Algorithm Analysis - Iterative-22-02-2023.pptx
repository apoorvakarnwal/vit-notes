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8"/>
  </p:notesMasterIdLst>
  <p:sldIdLst>
    <p:sldId id="256" r:id="rId2"/>
    <p:sldId id="257" r:id="rId3"/>
    <p:sldId id="258" r:id="rId4"/>
    <p:sldId id="259" r:id="rId5"/>
    <p:sldId id="281" r:id="rId6"/>
    <p:sldId id="279" r:id="rId7"/>
    <p:sldId id="280" r:id="rId8"/>
    <p:sldId id="260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78" r:id="rId19"/>
    <p:sldId id="277" r:id="rId20"/>
    <p:sldId id="292" r:id="rId21"/>
    <p:sldId id="261" r:id="rId22"/>
    <p:sldId id="356" r:id="rId23"/>
    <p:sldId id="363" r:id="rId24"/>
    <p:sldId id="314" r:id="rId25"/>
    <p:sldId id="262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315" r:id="rId46"/>
    <p:sldId id="263" r:id="rId47"/>
    <p:sldId id="316" r:id="rId48"/>
    <p:sldId id="317" r:id="rId49"/>
    <p:sldId id="318" r:id="rId50"/>
    <p:sldId id="319" r:id="rId51"/>
    <p:sldId id="320" r:id="rId52"/>
    <p:sldId id="321" r:id="rId53"/>
    <p:sldId id="322" r:id="rId54"/>
    <p:sldId id="323" r:id="rId55"/>
    <p:sldId id="324" r:id="rId56"/>
    <p:sldId id="325" r:id="rId57"/>
    <p:sldId id="326" r:id="rId58"/>
    <p:sldId id="327" r:id="rId59"/>
    <p:sldId id="328" r:id="rId60"/>
    <p:sldId id="329" r:id="rId61"/>
    <p:sldId id="330" r:id="rId62"/>
    <p:sldId id="331" r:id="rId63"/>
    <p:sldId id="332" r:id="rId64"/>
    <p:sldId id="333" r:id="rId65"/>
    <p:sldId id="334" r:id="rId66"/>
    <p:sldId id="264" r:id="rId67"/>
    <p:sldId id="357" r:id="rId68"/>
    <p:sldId id="265" r:id="rId69"/>
    <p:sldId id="358" r:id="rId70"/>
    <p:sldId id="266" r:id="rId71"/>
    <p:sldId id="365" r:id="rId72"/>
    <p:sldId id="364" r:id="rId73"/>
    <p:sldId id="366" r:id="rId74"/>
    <p:sldId id="359" r:id="rId75"/>
    <p:sldId id="367" r:id="rId76"/>
    <p:sldId id="267" r:id="rId77"/>
    <p:sldId id="335" r:id="rId78"/>
    <p:sldId id="352" r:id="rId79"/>
    <p:sldId id="361" r:id="rId80"/>
    <p:sldId id="353" r:id="rId81"/>
    <p:sldId id="354" r:id="rId82"/>
    <p:sldId id="362" r:id="rId83"/>
    <p:sldId id="355" r:id="rId84"/>
    <p:sldId id="337" r:id="rId85"/>
    <p:sldId id="338" r:id="rId86"/>
    <p:sldId id="336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8" r:id="rId96"/>
    <p:sldId id="349" r:id="rId97"/>
    <p:sldId id="347" r:id="rId98"/>
    <p:sldId id="350" r:id="rId99"/>
    <p:sldId id="351" r:id="rId100"/>
    <p:sldId id="270" r:id="rId101"/>
    <p:sldId id="276" r:id="rId102"/>
    <p:sldId id="271" r:id="rId103"/>
    <p:sldId id="275" r:id="rId104"/>
    <p:sldId id="272" r:id="rId105"/>
    <p:sldId id="273" r:id="rId106"/>
    <p:sldId id="274" r:id="rId10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819E32-E8C1-4744-9746-A4DE863AAB09}" type="datetimeFigureOut">
              <a:rPr lang="en-IN" smtClean="0"/>
              <a:t>28-02-2023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997CEA-C169-457F-A364-CA8ECDE73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857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E5936-7AB0-4B22-AB54-8426B119BBAE}" type="datetime1">
              <a:rPr lang="en-IN" smtClean="0"/>
              <a:t>28-02-2023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980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151F-4DDB-42F6-AEBD-B008D8E7DC6D}" type="datetime1">
              <a:rPr lang="en-IN" smtClean="0"/>
              <a:t>28-02-2023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893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F2932-0278-4626-92E6-CDA71DB123E8}" type="datetime1">
              <a:rPr lang="en-IN" smtClean="0"/>
              <a:t>28-02-2023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218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9F23-8D2B-4E8B-9338-979DC288E55C}" type="datetime1">
              <a:rPr lang="en-IN" smtClean="0"/>
              <a:t>28-02-2023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305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B249F-717D-4708-B310-C90238C84234}" type="datetime1">
              <a:rPr lang="en-IN" smtClean="0"/>
              <a:t>28-02-2023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820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3E95-6B1C-4A1A-9A54-A90BABAD637A}" type="datetime1">
              <a:rPr lang="en-IN" smtClean="0"/>
              <a:t>28-02-2023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188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5C696-B706-4112-8F89-DF58BE6A1DD2}" type="datetime1">
              <a:rPr lang="en-IN" smtClean="0"/>
              <a:t>28-02-2023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83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723DB-9D78-4E86-8292-BDDD7970D9C5}" type="datetime1">
              <a:rPr lang="en-IN" smtClean="0"/>
              <a:t>28-02-2023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51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1494-7DDB-40E1-8A01-8912EA088749}" type="datetime1">
              <a:rPr lang="en-IN" smtClean="0"/>
              <a:t>28-02-2023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553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10EF7-715A-43E1-89C5-AE4FB5E9B9A8}" type="datetime1">
              <a:rPr lang="en-IN" smtClean="0"/>
              <a:t>28-02-2023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42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C2153-95FA-4634-AECD-D20BCC5DB0E7}" type="datetime1">
              <a:rPr lang="en-IN" smtClean="0"/>
              <a:t>28-02-2023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561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145BA-7F87-4A91-B394-0DFC6675D71F}" type="datetime1">
              <a:rPr lang="en-IN" smtClean="0"/>
              <a:t>28-02-2023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E480C-3906-4F97-90C0-5DC7E2EFD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613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wmf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Iterative Algorithm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03F6219-A2CB-76A0-8291-16B63F2F0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85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What is f(n)</a:t>
            </a:r>
          </a:p>
          <a:p>
            <a:r>
              <a:rPr lang="en-IN" dirty="0"/>
              <a:t>How to find it</a:t>
            </a:r>
          </a:p>
          <a:p>
            <a:pPr marL="0" indent="0">
              <a:buNone/>
            </a:pPr>
            <a:r>
              <a:rPr lang="en-IN" dirty="0"/>
              <a:t>Two Types of algorithm</a:t>
            </a:r>
          </a:p>
          <a:p>
            <a:pPr lvl="1"/>
            <a:r>
              <a:rPr lang="en-IN" dirty="0"/>
              <a:t>Iterative</a:t>
            </a:r>
          </a:p>
          <a:p>
            <a:pPr lvl="2"/>
            <a:r>
              <a:rPr lang="en-IN" dirty="0"/>
              <a:t>No of time loop executes</a:t>
            </a:r>
          </a:p>
          <a:p>
            <a:pPr lvl="1"/>
            <a:r>
              <a:rPr lang="en-IN" dirty="0"/>
              <a:t>Recursion</a:t>
            </a:r>
          </a:p>
          <a:p>
            <a:pPr lvl="2"/>
            <a:r>
              <a:rPr lang="en-IN" dirty="0"/>
              <a:t>Backward Substitution</a:t>
            </a:r>
          </a:p>
          <a:p>
            <a:pPr lvl="2"/>
            <a:r>
              <a:rPr lang="en-IN" dirty="0"/>
              <a:t>Recursive Trees</a:t>
            </a:r>
          </a:p>
          <a:p>
            <a:pPr lvl="2"/>
            <a:r>
              <a:rPr lang="en-IN" dirty="0"/>
              <a:t>Masters Theorem</a:t>
            </a:r>
          </a:p>
          <a:p>
            <a:pPr lvl="2"/>
            <a:endParaRPr lang="en-IN" dirty="0"/>
          </a:p>
          <a:p>
            <a:pPr marL="914400" lvl="2" indent="0">
              <a:buNone/>
            </a:pPr>
            <a:r>
              <a:rPr lang="en-IN" dirty="0"/>
              <a:t>NOTE: CONSTANT O(1)</a:t>
            </a:r>
          </a:p>
        </p:txBody>
      </p:sp>
      <p:graphicFrame>
        <p:nvGraphicFramePr>
          <p:cNvPr id="4" name="Object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513343843"/>
              </p:ext>
            </p:extLst>
          </p:nvPr>
        </p:nvGraphicFramePr>
        <p:xfrm>
          <a:off x="4799832" y="1772816"/>
          <a:ext cx="4236664" cy="2538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Paint Shop Pro Image" r:id="rId3" imgW="7619512" imgH="4565854" progId="PaintShopPro">
                  <p:embed/>
                </p:oleObj>
              </mc:Choice>
              <mc:Fallback>
                <p:oleObj name="Paint Shop Pro Image" r:id="rId3" imgW="7619512" imgH="4565854" progId="PaintShopPro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832" y="1772816"/>
                        <a:ext cx="4236664" cy="25382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16DE105-7FE0-EC2D-2277-5A23BF001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89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Algorithms for computing the</a:t>
            </a:r>
            <a:br>
              <a:rPr lang="en-IN" dirty="0"/>
            </a:br>
            <a:r>
              <a:rPr lang="en-IN" dirty="0"/>
              <a:t>Factorial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32856"/>
            <a:ext cx="41764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int</a:t>
            </a:r>
            <a:r>
              <a:rPr lang="en-IN" dirty="0"/>
              <a:t> factorial (</a:t>
            </a:r>
            <a:r>
              <a:rPr lang="en-IN" dirty="0" err="1"/>
              <a:t>int</a:t>
            </a:r>
            <a:r>
              <a:rPr lang="en-IN" dirty="0"/>
              <a:t> n)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	If (n &lt;= 1)</a:t>
            </a:r>
          </a:p>
          <a:p>
            <a:r>
              <a:rPr lang="en-IN" dirty="0"/>
              <a:t>	     return 1;</a:t>
            </a:r>
          </a:p>
          <a:p>
            <a:r>
              <a:rPr lang="en-IN" dirty="0"/>
              <a:t>	else</a:t>
            </a:r>
          </a:p>
          <a:p>
            <a:r>
              <a:rPr lang="en-IN" dirty="0"/>
              <a:t>	      return n *factorial(n-1);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23928" y="1717357"/>
            <a:ext cx="48965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int</a:t>
            </a:r>
            <a:r>
              <a:rPr lang="en-IN" dirty="0"/>
              <a:t> factorial (</a:t>
            </a:r>
            <a:r>
              <a:rPr lang="en-IN" dirty="0" err="1"/>
              <a:t>int</a:t>
            </a:r>
            <a:r>
              <a:rPr lang="en-IN" dirty="0"/>
              <a:t> n)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	if (n&lt;=1)</a:t>
            </a:r>
          </a:p>
          <a:p>
            <a:r>
              <a:rPr lang="en-IN" dirty="0"/>
              <a:t>		return 1;</a:t>
            </a:r>
          </a:p>
          <a:p>
            <a:r>
              <a:rPr lang="en-IN" dirty="0"/>
              <a:t>	else {</a:t>
            </a:r>
          </a:p>
          <a:p>
            <a:r>
              <a:rPr lang="en-IN" dirty="0"/>
              <a:t>		fact = 1;</a:t>
            </a:r>
          </a:p>
          <a:p>
            <a:r>
              <a:rPr lang="nn-NO" dirty="0"/>
              <a:t>		for (k=2; k&lt;=n; k++)</a:t>
            </a:r>
          </a:p>
          <a:p>
            <a:r>
              <a:rPr lang="en-IN" dirty="0"/>
              <a:t>		fact *= k;</a:t>
            </a:r>
          </a:p>
          <a:p>
            <a:r>
              <a:rPr lang="en-IN" dirty="0"/>
              <a:t>		return fact;</a:t>
            </a:r>
          </a:p>
          <a:p>
            <a:r>
              <a:rPr lang="en-IN" dirty="0"/>
              <a:t>		}</a:t>
            </a:r>
          </a:p>
          <a:p>
            <a:r>
              <a:rPr lang="en-IN" dirty="0"/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4A7D8D28-9916-1EF9-B71F-9421D1B94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91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539552" y="2132856"/>
            <a:ext cx="28083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Function()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     </a:t>
            </a:r>
            <a:r>
              <a:rPr lang="en-IN" dirty="0" err="1"/>
              <a:t>int</a:t>
            </a:r>
            <a:r>
              <a:rPr lang="en-IN" dirty="0"/>
              <a:t> I;</a:t>
            </a:r>
          </a:p>
          <a:p>
            <a:r>
              <a:rPr lang="en-IN" dirty="0"/>
              <a:t>         for(</a:t>
            </a:r>
            <a:r>
              <a:rPr lang="en-IN" dirty="0" err="1"/>
              <a:t>i</a:t>
            </a:r>
            <a:r>
              <a:rPr lang="en-IN" dirty="0"/>
              <a:t>=1 to n)</a:t>
            </a:r>
          </a:p>
          <a:p>
            <a:r>
              <a:rPr lang="en-IN" dirty="0"/>
              <a:t>            print(“Hello”);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3848" y="2132855"/>
            <a:ext cx="28083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Function()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</a:t>
            </a:r>
            <a:r>
              <a:rPr lang="en-IN" dirty="0"/>
              <a:t>;</a:t>
            </a:r>
          </a:p>
          <a:p>
            <a:r>
              <a:rPr lang="en-IN" dirty="0"/>
              <a:t>      for(</a:t>
            </a:r>
            <a:r>
              <a:rPr lang="en-IN" dirty="0" err="1"/>
              <a:t>i</a:t>
            </a:r>
            <a:r>
              <a:rPr lang="en-IN" dirty="0"/>
              <a:t>=1 to n)</a:t>
            </a:r>
          </a:p>
          <a:p>
            <a:r>
              <a:rPr lang="en-IN" dirty="0"/>
              <a:t>      for(j=1 to n)</a:t>
            </a:r>
          </a:p>
          <a:p>
            <a:r>
              <a:rPr lang="en-IN" dirty="0"/>
              <a:t>           print(“Hello”);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0112" y="1994356"/>
            <a:ext cx="28083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Function()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</a:t>
            </a:r>
            <a:r>
              <a:rPr lang="en-IN" dirty="0"/>
              <a:t>;</a:t>
            </a:r>
          </a:p>
          <a:p>
            <a:r>
              <a:rPr lang="en-IN" dirty="0"/>
              <a:t>      for(</a:t>
            </a:r>
            <a:r>
              <a:rPr lang="en-IN" dirty="0" err="1"/>
              <a:t>i</a:t>
            </a:r>
            <a:r>
              <a:rPr lang="en-IN" dirty="0"/>
              <a:t>=1 to n)</a:t>
            </a:r>
          </a:p>
          <a:p>
            <a:r>
              <a:rPr lang="en-IN" dirty="0"/>
              <a:t>      for(j=1 to n)</a:t>
            </a:r>
          </a:p>
          <a:p>
            <a:r>
              <a:rPr lang="en-IN" dirty="0"/>
              <a:t>      for(k=1 to n)</a:t>
            </a:r>
          </a:p>
          <a:p>
            <a:r>
              <a:rPr lang="en-IN" dirty="0"/>
              <a:t>           print(“Hello”);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552" y="4653136"/>
            <a:ext cx="74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O(n)  		                 O(n</a:t>
            </a:r>
            <a:r>
              <a:rPr lang="en-IN" baseline="30000" dirty="0"/>
              <a:t>2</a:t>
            </a:r>
            <a:r>
              <a:rPr lang="en-IN" dirty="0"/>
              <a:t>)		        O(n</a:t>
            </a:r>
            <a:r>
              <a:rPr lang="en-IN" baseline="30000" dirty="0"/>
              <a:t>3</a:t>
            </a:r>
            <a:r>
              <a:rPr lang="en-IN" dirty="0"/>
              <a:t>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A25E6BF-6159-DE66-A4D1-96ADBB67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088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/>
              <a:t>	while(s&lt;=</a:t>
            </a:r>
            <a:r>
              <a:rPr lang="en-IN" dirty="0"/>
              <a:t>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</a:t>
            </a:r>
          </a:p>
          <a:p>
            <a:pPr marL="0" indent="0">
              <a:buNone/>
            </a:pPr>
            <a:r>
              <a:rPr lang="en-IN" dirty="0"/>
              <a:t>i	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1AE5E3D-F8E8-F638-7517-409C5D8E4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63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</a:t>
            </a:r>
          </a:p>
          <a:p>
            <a:pPr marL="0" indent="0">
              <a:buNone/>
            </a:pPr>
            <a:r>
              <a:rPr lang="en-IN" dirty="0"/>
              <a:t>i	1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AC1CDCA-157C-3BCB-BC2D-2367C947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969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</a:t>
            </a:r>
          </a:p>
          <a:p>
            <a:pPr marL="0" indent="0">
              <a:buNone/>
            </a:pPr>
            <a:r>
              <a:rPr lang="en-IN" dirty="0"/>
              <a:t>i	1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A2A9939-3A9D-22AE-2271-1B918CA8B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1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</a:t>
            </a:r>
          </a:p>
          <a:p>
            <a:pPr marL="0" indent="0">
              <a:buNone/>
            </a:pPr>
            <a:r>
              <a:rPr lang="en-IN" dirty="0"/>
              <a:t>i	1	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B30431E-D801-7C1D-1644-2BE90B4D5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14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</a:t>
            </a:r>
          </a:p>
          <a:p>
            <a:pPr marL="0" indent="0">
              <a:buNone/>
            </a:pPr>
            <a:r>
              <a:rPr lang="en-IN" dirty="0"/>
              <a:t>i	1	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B2E273A-2C31-DCBD-54CB-A3BE32912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52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</a:t>
            </a:r>
          </a:p>
          <a:p>
            <a:pPr marL="0" indent="0">
              <a:buNone/>
            </a:pPr>
            <a:r>
              <a:rPr lang="en-IN" dirty="0"/>
              <a:t>i	1	2	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A511CF1-0B56-36D3-068B-F187FB826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139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6</a:t>
            </a:r>
          </a:p>
          <a:p>
            <a:pPr marL="0" indent="0">
              <a:buNone/>
            </a:pPr>
            <a:r>
              <a:rPr lang="en-IN" dirty="0"/>
              <a:t>i	1	2	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97C62B1-D971-7AFF-DBB9-AE1089F46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698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6</a:t>
            </a:r>
          </a:p>
          <a:p>
            <a:pPr marL="0" indent="0">
              <a:buNone/>
            </a:pPr>
            <a:r>
              <a:rPr lang="en-IN" dirty="0"/>
              <a:t>i	1	2	3	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BEDDBD6-388E-6E41-9D56-0B5FE97FE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635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6	10</a:t>
            </a:r>
          </a:p>
          <a:p>
            <a:pPr marL="0" indent="0">
              <a:buNone/>
            </a:pPr>
            <a:r>
              <a:rPr lang="en-IN" dirty="0"/>
              <a:t>i	1	2	3	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CB1E256-B735-5018-1D9A-BEF83B608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081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6	10</a:t>
            </a:r>
          </a:p>
          <a:p>
            <a:pPr marL="0" indent="0">
              <a:buNone/>
            </a:pPr>
            <a:r>
              <a:rPr lang="en-IN" dirty="0"/>
              <a:t>i	1	2	3	4	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0FAF192-9909-AB1A-E5CB-63F4FD306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63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6	10	15</a:t>
            </a:r>
          </a:p>
          <a:p>
            <a:pPr marL="0" indent="0">
              <a:buNone/>
            </a:pPr>
            <a:r>
              <a:rPr lang="en-IN" dirty="0"/>
              <a:t>i	1	2	3	4	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297CA88-1E56-C4A1-1582-8C25B0075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17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6	10	15</a:t>
            </a:r>
          </a:p>
          <a:p>
            <a:pPr marL="0" indent="0">
              <a:buNone/>
            </a:pPr>
            <a:r>
              <a:rPr lang="en-IN" dirty="0"/>
              <a:t>i	1	2	3	4	5	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44662C0-8D8E-1C20-C5A9-D6A3EC96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804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6	10	15	21</a:t>
            </a:r>
          </a:p>
          <a:p>
            <a:pPr marL="0" indent="0">
              <a:buNone/>
            </a:pPr>
            <a:r>
              <a:rPr lang="en-IN" dirty="0"/>
              <a:t>i	1	2	3	4	5	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075C6DA-F606-5B86-305D-71B447073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5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while(S&lt;=n)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6	10	15	21</a:t>
            </a:r>
          </a:p>
          <a:p>
            <a:pPr marL="0" indent="0">
              <a:buNone/>
            </a:pPr>
            <a:r>
              <a:rPr lang="en-IN" dirty="0"/>
              <a:t>i	1	2	3	4	5	6.........n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3268702-9070-59EE-3B45-03D85B77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53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i=1, s=1;</a:t>
            </a:r>
          </a:p>
          <a:p>
            <a:pPr marL="0" indent="0">
              <a:buNone/>
            </a:pPr>
            <a:r>
              <a:rPr lang="en-IN" dirty="0"/>
              <a:t>	while(</a:t>
            </a:r>
            <a:r>
              <a:rPr lang="en-IN" dirty="0" err="1"/>
              <a:t>i</a:t>
            </a:r>
            <a:r>
              <a:rPr lang="en-IN" dirty="0"/>
              <a:t>&lt;=n)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i++;</a:t>
            </a:r>
          </a:p>
          <a:p>
            <a:pPr marL="0" indent="0">
              <a:buNone/>
            </a:pPr>
            <a:r>
              <a:rPr lang="en-IN" dirty="0"/>
              <a:t>		s=</a:t>
            </a:r>
            <a:r>
              <a:rPr lang="en-IN" dirty="0" err="1"/>
              <a:t>s+i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S	1	3	6	10	15	21……n(n+1)/2</a:t>
            </a:r>
          </a:p>
          <a:p>
            <a:pPr marL="0" indent="0">
              <a:buNone/>
            </a:pPr>
            <a:r>
              <a:rPr lang="en-IN" dirty="0"/>
              <a:t>i	1	2	3	4	5	6.........n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1377231-AEEA-092C-1EAB-4ECF2396C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53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i=1, s=1;</a:t>
                </a:r>
              </a:p>
              <a:p>
                <a:pPr marL="0" indent="0">
                  <a:buNone/>
                </a:pPr>
                <a:r>
                  <a:rPr lang="en-IN" dirty="0"/>
                  <a:t>	while(s&lt;=n)</a:t>
                </a:r>
              </a:p>
              <a:p>
                <a:pPr marL="0" indent="0">
                  <a:buNone/>
                </a:pPr>
                <a:r>
                  <a:rPr lang="en-IN" dirty="0"/>
                  <a:t>	{</a:t>
                </a:r>
              </a:p>
              <a:p>
                <a:pPr marL="0" indent="0">
                  <a:buNone/>
                </a:pPr>
                <a:r>
                  <a:rPr lang="en-IN" dirty="0"/>
                  <a:t>		i++;</a:t>
                </a:r>
              </a:p>
              <a:p>
                <a:pPr marL="0" indent="0">
                  <a:buNone/>
                </a:pPr>
                <a:r>
                  <a:rPr lang="en-IN" dirty="0"/>
                  <a:t>		s=</a:t>
                </a:r>
                <a:r>
                  <a:rPr lang="en-IN" dirty="0" err="1"/>
                  <a:t>s+i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	</a:t>
                </a:r>
                <a:r>
                  <a:rPr lang="en-IN" dirty="0" err="1"/>
                  <a:t>printf</a:t>
                </a:r>
                <a:r>
                  <a:rPr lang="en-IN" dirty="0"/>
                  <a:t>(“hello”)</a:t>
                </a:r>
              </a:p>
              <a:p>
                <a:pPr marL="0" indent="0">
                  <a:buNone/>
                </a:pPr>
                <a:r>
                  <a:rPr lang="en-IN" dirty="0"/>
                  <a:t>	}</a:t>
                </a:r>
              </a:p>
              <a:p>
                <a:pPr marL="0" indent="0">
                  <a:buNone/>
                </a:pPr>
                <a:r>
                  <a:rPr lang="en-IN" dirty="0"/>
                  <a:t>}</a:t>
                </a:r>
              </a:p>
              <a:p>
                <a:pPr marL="0" indent="0">
                  <a:buNone/>
                </a:pPr>
                <a:r>
                  <a:rPr lang="en-IN" dirty="0"/>
                  <a:t>S	1	3	6	10	15	21……n(n+1)/2</a:t>
                </a:r>
              </a:p>
              <a:p>
                <a:pPr marL="0" indent="0">
                  <a:buNone/>
                </a:pPr>
                <a:r>
                  <a:rPr lang="en-IN" dirty="0"/>
                  <a:t>i	1	2	3	4	5	6.........k</a:t>
                </a:r>
              </a:p>
              <a:p>
                <a:pPr marL="0" indent="0">
                  <a:buNone/>
                </a:pPr>
                <a:r>
                  <a:rPr lang="en-IN" dirty="0"/>
                  <a:t>K(K+1)/2 &gt;=n</a:t>
                </a:r>
              </a:p>
              <a:p>
                <a:pPr marL="0" indent="0">
                  <a:buNone/>
                </a:pPr>
                <a:r>
                  <a:rPr lang="en-IN" dirty="0"/>
                  <a:t>(K</a:t>
                </a:r>
                <a:r>
                  <a:rPr lang="en-IN" baseline="30000" dirty="0"/>
                  <a:t>2</a:t>
                </a:r>
                <a:r>
                  <a:rPr lang="en-IN" dirty="0"/>
                  <a:t>+k)/2&gt;=n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Which means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𝐾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IN" b="0" i="1" smtClean="0">
                        <a:latin typeface="Cambria Math"/>
                      </a:rPr>
                      <m:t>=</m:t>
                    </m:r>
                    <m:r>
                      <a:rPr lang="en-IN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r>
                  <a:rPr lang="en-IN" dirty="0"/>
                  <a:t>	        k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IN" b="0" i="1" smtClean="0"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IN" dirty="0"/>
                  <a:t>                       </a:t>
                </a:r>
                <a:r>
                  <a:rPr lang="en-IN" dirty="0" err="1"/>
                  <a:t>ie</a:t>
                </a:r>
                <a:r>
                  <a:rPr lang="en-IN" dirty="0"/>
                  <a:t>   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IN" b="0" i="1" smtClean="0"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3" t="-18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1DDAEB8-8DEC-4ADA-B498-AE5658D3E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79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i=1;</a:t>
            </a:r>
          </a:p>
          <a:p>
            <a:pPr marL="0" indent="0">
              <a:buNone/>
            </a:pPr>
            <a:r>
              <a:rPr lang="en-IN" dirty="0"/>
              <a:t>	for(</a:t>
            </a:r>
            <a:r>
              <a:rPr lang="en-IN" dirty="0" err="1"/>
              <a:t>i</a:t>
            </a:r>
            <a:r>
              <a:rPr lang="en-IN" dirty="0"/>
              <a:t>=1;i</a:t>
            </a:r>
            <a:r>
              <a:rPr lang="en-IN" baseline="30000" dirty="0"/>
              <a:t>2</a:t>
            </a:r>
            <a:r>
              <a:rPr lang="en-IN" dirty="0"/>
              <a:t>&lt;=</a:t>
            </a:r>
            <a:r>
              <a:rPr lang="en-IN" dirty="0" err="1"/>
              <a:t>n;i</a:t>
            </a:r>
            <a:r>
              <a:rPr lang="en-IN" dirty="0"/>
              <a:t>++)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3771607-C75C-E309-E37C-40B60DE39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808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i=1;</a:t>
            </a:r>
          </a:p>
          <a:p>
            <a:pPr marL="0" indent="0">
              <a:buNone/>
            </a:pPr>
            <a:r>
              <a:rPr lang="en-IN" dirty="0"/>
              <a:t>	for(</a:t>
            </a:r>
            <a:r>
              <a:rPr lang="en-IN" dirty="0" err="1"/>
              <a:t>i</a:t>
            </a:r>
            <a:r>
              <a:rPr lang="en-IN" dirty="0"/>
              <a:t>=1;i</a:t>
            </a:r>
            <a:r>
              <a:rPr lang="en-IN" baseline="30000" dirty="0"/>
              <a:t>2</a:t>
            </a:r>
            <a:r>
              <a:rPr lang="en-IN" dirty="0"/>
              <a:t>&lt;=</a:t>
            </a:r>
            <a:r>
              <a:rPr lang="en-IN" dirty="0" err="1"/>
              <a:t>n;i</a:t>
            </a:r>
            <a:r>
              <a:rPr lang="en-IN" dirty="0"/>
              <a:t>++)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 smtClean="0"/>
              <a:t>}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3771607-C75C-E309-E37C-40B60DE39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125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i=1;</a:t>
                </a:r>
              </a:p>
              <a:p>
                <a:pPr marL="0" indent="0">
                  <a:buNone/>
                </a:pPr>
                <a:r>
                  <a:rPr lang="en-IN" dirty="0"/>
                  <a:t>	for(</a:t>
                </a:r>
                <a:r>
                  <a:rPr lang="en-IN" dirty="0" err="1"/>
                  <a:t>i</a:t>
                </a:r>
                <a:r>
                  <a:rPr lang="en-IN" dirty="0"/>
                  <a:t>=1;i</a:t>
                </a:r>
                <a:r>
                  <a:rPr lang="en-IN" baseline="30000" dirty="0"/>
                  <a:t>2</a:t>
                </a:r>
                <a:r>
                  <a:rPr lang="en-IN" dirty="0"/>
                  <a:t>&lt;=</a:t>
                </a:r>
                <a:r>
                  <a:rPr lang="en-IN" dirty="0" err="1"/>
                  <a:t>n;i</a:t>
                </a:r>
                <a:r>
                  <a:rPr lang="en-IN" dirty="0"/>
                  <a:t>++)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}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/>
                            </a:rPr>
                            <m:t>𝑖</m:t>
                          </m:r>
                        </m:e>
                        <m:sup>
                          <m:r>
                            <a:rPr lang="en-IN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IN" b="0" i="1" smtClean="0">
                          <a:latin typeface="Cambria Math"/>
                        </a:rPr>
                        <m:t>≤</m:t>
                      </m:r>
                      <m:r>
                        <a:rPr lang="en-IN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or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/>
                      </a:rPr>
                      <m:t>                                   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/>
                      </a:rPr>
                      <m:t>i</m:t>
                    </m:r>
                    <m:r>
                      <a:rPr lang="en-IN" b="0" i="0" smtClean="0">
                        <a:latin typeface="Cambria Math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IN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IN" b="0" i="1" smtClean="0"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endParaRPr lang="en-IN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3771607-C75C-E309-E37C-40B60DE39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741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</a:t>
            </a:r>
          </a:p>
          <a:p>
            <a:pPr marL="0" indent="0">
              <a:buNone/>
            </a:pPr>
            <a:r>
              <a:rPr lang="en-IN" dirty="0"/>
              <a:t>J</a:t>
            </a:r>
          </a:p>
          <a:p>
            <a:pPr marL="0" indent="0">
              <a:buNone/>
            </a:pPr>
            <a:r>
              <a:rPr lang="en-IN" dirty="0"/>
              <a:t>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22520A7-4AD8-BD8D-1F4F-F47464DA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428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</a:t>
            </a:r>
          </a:p>
          <a:p>
            <a:pPr marL="0" indent="0">
              <a:buNone/>
            </a:pPr>
            <a:r>
              <a:rPr lang="en-IN" dirty="0"/>
              <a:t>J</a:t>
            </a:r>
          </a:p>
          <a:p>
            <a:pPr marL="0" indent="0">
              <a:buNone/>
            </a:pPr>
            <a:r>
              <a:rPr lang="en-IN" dirty="0"/>
              <a:t>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CFEDBA3-5AC3-EE27-DABD-80EF774B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04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</a:t>
            </a:r>
          </a:p>
          <a:p>
            <a:pPr marL="0" indent="0">
              <a:buNone/>
            </a:pPr>
            <a:r>
              <a:rPr lang="en-IN" dirty="0"/>
              <a:t>J	1</a:t>
            </a:r>
          </a:p>
          <a:p>
            <a:pPr marL="0" indent="0">
              <a:buNone/>
            </a:pPr>
            <a:r>
              <a:rPr lang="en-IN" dirty="0"/>
              <a:t>K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ECC54A9-A049-795C-E6F6-4895B9E1F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474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</a:t>
            </a:r>
          </a:p>
          <a:p>
            <a:pPr marL="0" indent="0">
              <a:buNone/>
            </a:pPr>
            <a:r>
              <a:rPr lang="en-IN" dirty="0"/>
              <a:t>J	1</a:t>
            </a:r>
          </a:p>
          <a:p>
            <a:pPr marL="0" indent="0">
              <a:buNone/>
            </a:pPr>
            <a:r>
              <a:rPr lang="en-IN" dirty="0"/>
              <a:t>K	1*100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F5E547B-1826-FCA9-6B6E-5C4588A7E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22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</a:t>
            </a:r>
          </a:p>
          <a:p>
            <a:pPr marL="0" indent="0">
              <a:buNone/>
            </a:pPr>
            <a:r>
              <a:rPr lang="en-IN" dirty="0"/>
              <a:t>J	1	</a:t>
            </a:r>
          </a:p>
          <a:p>
            <a:pPr marL="0" indent="0">
              <a:buNone/>
            </a:pPr>
            <a:r>
              <a:rPr lang="en-IN" dirty="0"/>
              <a:t>K	1*100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0B0B56B-13D2-B678-71B8-059066812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2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</a:t>
            </a:r>
          </a:p>
          <a:p>
            <a:pPr marL="0" indent="0">
              <a:buNone/>
            </a:pPr>
            <a:r>
              <a:rPr lang="en-IN" dirty="0"/>
              <a:t>J	1	2</a:t>
            </a:r>
          </a:p>
          <a:p>
            <a:pPr marL="0" indent="0">
              <a:buNone/>
            </a:pPr>
            <a:r>
              <a:rPr lang="en-IN" dirty="0"/>
              <a:t>K	1*100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86FDA22-0897-526F-03F7-D7B049064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28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</a:t>
            </a:r>
          </a:p>
          <a:p>
            <a:pPr marL="0" indent="0">
              <a:buNone/>
            </a:pPr>
            <a:r>
              <a:rPr lang="en-IN" dirty="0"/>
              <a:t>J	1	2</a:t>
            </a:r>
          </a:p>
          <a:p>
            <a:pPr marL="0" indent="0">
              <a:buNone/>
            </a:pPr>
            <a:r>
              <a:rPr lang="en-IN" dirty="0"/>
              <a:t>K	1*100	2*100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ED0A21D-E181-312B-463E-C9E5D19E1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95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</a:t>
            </a:r>
          </a:p>
          <a:p>
            <a:pPr marL="0" indent="0">
              <a:buNone/>
            </a:pPr>
            <a:r>
              <a:rPr lang="en-IN" dirty="0"/>
              <a:t>J	1	2</a:t>
            </a:r>
          </a:p>
          <a:p>
            <a:pPr marL="0" indent="0">
              <a:buNone/>
            </a:pPr>
            <a:r>
              <a:rPr lang="en-IN" dirty="0"/>
              <a:t>K	1*100	2*100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93C2669-1D54-0B0F-E5B1-A4F80BB09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005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</a:t>
            </a:r>
          </a:p>
          <a:p>
            <a:pPr marL="0" indent="0">
              <a:buNone/>
            </a:pPr>
            <a:r>
              <a:rPr lang="en-IN" dirty="0"/>
              <a:t>J	1	2	3</a:t>
            </a:r>
          </a:p>
          <a:p>
            <a:pPr marL="0" indent="0">
              <a:buNone/>
            </a:pPr>
            <a:r>
              <a:rPr lang="en-IN" dirty="0"/>
              <a:t>K	1*100	2*100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29C5C8D-CC05-F7DA-3595-8F7B012C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20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</a:t>
            </a:r>
          </a:p>
          <a:p>
            <a:pPr marL="0" indent="0">
              <a:buNone/>
            </a:pPr>
            <a:r>
              <a:rPr lang="en-IN" dirty="0"/>
              <a:t>J	1	2	3</a:t>
            </a:r>
          </a:p>
          <a:p>
            <a:pPr marL="0" indent="0">
              <a:buNone/>
            </a:pPr>
            <a:r>
              <a:rPr lang="en-IN" dirty="0"/>
              <a:t>K	1*100	2*100	3*100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2BD9BD6-D502-1667-DD34-38D3C35EF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404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</a:t>
            </a:r>
          </a:p>
          <a:p>
            <a:pPr marL="0" indent="0">
              <a:buNone/>
            </a:pPr>
            <a:r>
              <a:rPr lang="en-IN" dirty="0"/>
              <a:t>J	1	2	3</a:t>
            </a:r>
          </a:p>
          <a:p>
            <a:pPr marL="0" indent="0">
              <a:buNone/>
            </a:pPr>
            <a:r>
              <a:rPr lang="en-IN" dirty="0"/>
              <a:t>K	1*100	2*100	3*100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E32BDD7-F627-18A7-891D-E76EA332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05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</a:t>
            </a:r>
          </a:p>
          <a:p>
            <a:pPr marL="0" indent="0">
              <a:buNone/>
            </a:pPr>
            <a:r>
              <a:rPr lang="en-IN" dirty="0"/>
              <a:t>J	1	2	3	4</a:t>
            </a:r>
          </a:p>
          <a:p>
            <a:pPr marL="0" indent="0">
              <a:buNone/>
            </a:pPr>
            <a:r>
              <a:rPr lang="en-IN" dirty="0"/>
              <a:t>K	1*100	2*100	3*100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CA943DA-D9F7-F8B7-A3FE-091AFF636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51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</a:t>
            </a:r>
          </a:p>
          <a:p>
            <a:pPr marL="0" indent="0">
              <a:buNone/>
            </a:pPr>
            <a:r>
              <a:rPr lang="en-IN" dirty="0"/>
              <a:t>J	1	2	3	4</a:t>
            </a:r>
          </a:p>
          <a:p>
            <a:pPr marL="0" indent="0">
              <a:buNone/>
            </a:pPr>
            <a:r>
              <a:rPr lang="en-IN" dirty="0"/>
              <a:t>K	1*100	2*100	3*100	4*100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893F211-A4DF-D0D0-9123-21416418D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0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	5</a:t>
            </a:r>
          </a:p>
          <a:p>
            <a:pPr marL="0" indent="0">
              <a:buNone/>
            </a:pPr>
            <a:r>
              <a:rPr lang="en-IN" dirty="0"/>
              <a:t>J	1	2	3	4</a:t>
            </a:r>
          </a:p>
          <a:p>
            <a:pPr marL="0" indent="0">
              <a:buNone/>
            </a:pPr>
            <a:r>
              <a:rPr lang="en-IN" dirty="0"/>
              <a:t>K	1*100	2*100	3*100	4*100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13B21DC-7E1B-F238-4B1A-5F59B802F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35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	5</a:t>
            </a:r>
          </a:p>
          <a:p>
            <a:pPr marL="0" indent="0">
              <a:buNone/>
            </a:pPr>
            <a:r>
              <a:rPr lang="en-IN" dirty="0"/>
              <a:t>J	1	2	3	4	5</a:t>
            </a:r>
          </a:p>
          <a:p>
            <a:pPr marL="0" indent="0">
              <a:buNone/>
            </a:pPr>
            <a:r>
              <a:rPr lang="en-IN" dirty="0"/>
              <a:t>K	1*100	2*100	3*100	4*100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B8AEAA3-B677-F723-2B2D-1CC4EB32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00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	5</a:t>
            </a:r>
          </a:p>
          <a:p>
            <a:pPr marL="0" indent="0">
              <a:buNone/>
            </a:pPr>
            <a:r>
              <a:rPr lang="en-IN" dirty="0"/>
              <a:t>J	1	2	3	4	5</a:t>
            </a:r>
          </a:p>
          <a:p>
            <a:pPr marL="0" indent="0">
              <a:buNone/>
            </a:pPr>
            <a:r>
              <a:rPr lang="en-IN" dirty="0"/>
              <a:t>K	1*100	2*100	3*100	4*100	5*100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2E52140-D7D4-932A-4251-878300CC1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28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	5…………….n</a:t>
            </a:r>
          </a:p>
          <a:p>
            <a:pPr marL="0" indent="0">
              <a:buNone/>
            </a:pPr>
            <a:r>
              <a:rPr lang="en-IN" dirty="0"/>
              <a:t>J	1	2	3	4	5</a:t>
            </a:r>
          </a:p>
          <a:p>
            <a:pPr marL="0" indent="0">
              <a:buNone/>
            </a:pPr>
            <a:r>
              <a:rPr lang="en-IN" dirty="0"/>
              <a:t>K	1*100	2*100	3*100	4*100	5*100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A86673E-76A3-B51F-DBEB-CF0F5373E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11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	5…………….n</a:t>
            </a:r>
          </a:p>
          <a:p>
            <a:pPr marL="0" indent="0">
              <a:buNone/>
            </a:pPr>
            <a:r>
              <a:rPr lang="en-IN" dirty="0"/>
              <a:t>J	1	2	3	4	5…………….n</a:t>
            </a:r>
          </a:p>
          <a:p>
            <a:pPr marL="0" indent="0">
              <a:buNone/>
            </a:pPr>
            <a:r>
              <a:rPr lang="en-IN" dirty="0"/>
              <a:t>K	1*100	2*100	3*100	4*100	5*100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304CCE4-0117-FE60-CF98-625B850E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680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	5…………….n</a:t>
            </a:r>
          </a:p>
          <a:p>
            <a:pPr marL="0" indent="0">
              <a:buNone/>
            </a:pPr>
            <a:r>
              <a:rPr lang="en-IN" dirty="0"/>
              <a:t>J	1	2	3	4	5…………….n</a:t>
            </a:r>
          </a:p>
          <a:p>
            <a:pPr marL="0" indent="0">
              <a:buNone/>
            </a:pPr>
            <a:r>
              <a:rPr lang="en-IN" dirty="0"/>
              <a:t>K	1*100	2*100	3*100	4*100	5*100…….n*100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F19F326-FB24-B59A-1F0B-E48E7D63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49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	5…………….n</a:t>
            </a:r>
          </a:p>
          <a:p>
            <a:pPr marL="0" indent="0">
              <a:buNone/>
            </a:pPr>
            <a:r>
              <a:rPr lang="en-IN" dirty="0"/>
              <a:t>J	1	2	3	4	5…………….n</a:t>
            </a:r>
          </a:p>
          <a:p>
            <a:pPr marL="0" indent="0">
              <a:buNone/>
            </a:pPr>
            <a:r>
              <a:rPr lang="en-IN" dirty="0"/>
              <a:t>K	1*100	2*100	3*100	4*100	5*100…….n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1*100+2*100+3*100+4*100+……n*100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A7A127A-9E03-DF1B-9EBD-C57DCDF33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943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	5…………….n</a:t>
            </a:r>
          </a:p>
          <a:p>
            <a:pPr marL="0" indent="0">
              <a:buNone/>
            </a:pPr>
            <a:r>
              <a:rPr lang="en-IN" dirty="0"/>
              <a:t>J	1	2	3	4	5…………….n</a:t>
            </a:r>
          </a:p>
          <a:p>
            <a:pPr marL="0" indent="0">
              <a:buNone/>
            </a:pPr>
            <a:r>
              <a:rPr lang="en-IN" dirty="0"/>
              <a:t>K	1*100	2*100	3*100	4*100	5*100…….n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1*100+2*100+3*100+4*100+……n*100</a:t>
            </a:r>
          </a:p>
          <a:p>
            <a:pPr marL="0" indent="0">
              <a:buNone/>
            </a:pPr>
            <a:r>
              <a:rPr lang="en-IN" dirty="0"/>
              <a:t>100(1+2+3+4+……………n)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6B65C6D-21EA-08CF-4E7A-87739A3C3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14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I,j,k,n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for(i=1;i&lt;=</a:t>
            </a:r>
            <a:r>
              <a:rPr lang="en-IN" dirty="0" err="1"/>
              <a:t>n;i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for(j=1;j&lt;=</a:t>
            </a:r>
            <a:r>
              <a:rPr lang="en-IN" dirty="0" err="1"/>
              <a:t>i;j</a:t>
            </a:r>
            <a:r>
              <a:rPr lang="en-IN" dirty="0"/>
              <a:t>++){</a:t>
            </a:r>
          </a:p>
          <a:p>
            <a:pPr marL="0" indent="0">
              <a:buNone/>
            </a:pPr>
            <a:r>
              <a:rPr lang="en-IN" dirty="0"/>
              <a:t>			for(k=1;k&lt;=100;k++){</a:t>
            </a:r>
          </a:p>
          <a:p>
            <a:pPr marL="0" indent="0">
              <a:buNone/>
            </a:pPr>
            <a:r>
              <a:rPr lang="en-IN" dirty="0"/>
              <a:t>				print(“Hello”);</a:t>
            </a:r>
          </a:p>
          <a:p>
            <a:pPr marL="0" indent="0">
              <a:buNone/>
            </a:pPr>
            <a:r>
              <a:rPr lang="en-IN" dirty="0"/>
              <a:t>						}</a:t>
            </a:r>
          </a:p>
          <a:p>
            <a:pPr marL="0" indent="0">
              <a:buNone/>
            </a:pPr>
            <a:r>
              <a:rPr lang="en-IN" dirty="0"/>
              <a:t>				}</a:t>
            </a:r>
          </a:p>
          <a:p>
            <a:pPr marL="0" indent="0">
              <a:buNone/>
            </a:pPr>
            <a:r>
              <a:rPr lang="en-IN" dirty="0"/>
              <a:t>			}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1	2	3	4	5…………….n</a:t>
            </a:r>
          </a:p>
          <a:p>
            <a:pPr marL="0" indent="0">
              <a:buNone/>
            </a:pPr>
            <a:r>
              <a:rPr lang="en-IN" dirty="0"/>
              <a:t>J	1	2	3	4	5…………….n</a:t>
            </a:r>
          </a:p>
          <a:p>
            <a:pPr marL="0" indent="0">
              <a:buNone/>
            </a:pPr>
            <a:r>
              <a:rPr lang="en-IN" dirty="0"/>
              <a:t>K	1*100	2*100	3*100	4*100	5*100…….n * 100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1*100+2*100+3*100+4*100+……n*100</a:t>
            </a:r>
          </a:p>
          <a:p>
            <a:pPr marL="0" indent="0">
              <a:buNone/>
            </a:pPr>
            <a:r>
              <a:rPr lang="en-IN" dirty="0"/>
              <a:t>100(1+2+3+4+……………n)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779912" y="5877272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n(n+1)/2 </a:t>
            </a:r>
            <a:r>
              <a:rPr lang="en-IN" dirty="0" err="1"/>
              <a:t>ie</a:t>
            </a:r>
            <a:r>
              <a:rPr lang="en-IN" dirty="0"/>
              <a:t> O(n</a:t>
            </a:r>
            <a:r>
              <a:rPr lang="en-IN" baseline="30000" dirty="0"/>
              <a:t>2</a:t>
            </a:r>
            <a:r>
              <a:rPr lang="en-IN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A8CEBCF-F742-F611-83D7-8C9D3442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763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</a:t>
                </a:r>
              </a:p>
              <a:p>
                <a:pPr marL="0" indent="0">
                  <a:buNone/>
                </a:pPr>
                <a:r>
                  <a:rPr lang="en-IN" dirty="0"/>
                  <a:t>J</a:t>
                </a:r>
              </a:p>
              <a:p>
                <a:pPr marL="0" indent="0">
                  <a:buNone/>
                </a:pPr>
                <a:r>
                  <a:rPr lang="en-IN" dirty="0"/>
                  <a:t>K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842EA8A-03EE-BA47-75E0-5A032B7C4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59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</a:t>
                </a:r>
              </a:p>
              <a:p>
                <a:pPr marL="0" indent="0">
                  <a:buNone/>
                </a:pPr>
                <a:r>
                  <a:rPr lang="en-IN" dirty="0"/>
                  <a:t>J</a:t>
                </a:r>
              </a:p>
              <a:p>
                <a:pPr marL="0" indent="0">
                  <a:buNone/>
                </a:pPr>
                <a:r>
                  <a:rPr lang="en-IN" dirty="0"/>
                  <a:t>K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68049BB-DBA2-CA82-8657-911818299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376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</a:t>
                </a:r>
              </a:p>
              <a:p>
                <a:pPr marL="0" indent="0">
                  <a:buNone/>
                </a:pPr>
                <a:r>
                  <a:rPr lang="en-IN" dirty="0"/>
                  <a:t>J	1</a:t>
                </a:r>
              </a:p>
              <a:p>
                <a:pPr marL="0" indent="0">
                  <a:buNone/>
                </a:pPr>
                <a:r>
                  <a:rPr lang="en-IN" dirty="0"/>
                  <a:t>K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618A31B-2432-4FE2-3478-CB90B1AED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60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</a:t>
                </a:r>
              </a:p>
              <a:p>
                <a:pPr marL="0" indent="0">
                  <a:buNone/>
                </a:pPr>
                <a:r>
                  <a:rPr lang="en-IN" dirty="0"/>
                  <a:t>J	1</a:t>
                </a:r>
              </a:p>
              <a:p>
                <a:pPr marL="0" indent="0">
                  <a:buNone/>
                </a:pPr>
                <a:r>
                  <a:rPr lang="en-IN" dirty="0"/>
                  <a:t>K	1*n/2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45E494B-1FFC-6669-C7F0-4390035E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306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</a:t>
                </a:r>
              </a:p>
              <a:p>
                <a:pPr marL="0" indent="0">
                  <a:buNone/>
                </a:pPr>
                <a:r>
                  <a:rPr lang="en-IN" dirty="0"/>
                  <a:t>J	1</a:t>
                </a:r>
              </a:p>
              <a:p>
                <a:pPr marL="0" indent="0">
                  <a:buNone/>
                </a:pPr>
                <a:r>
                  <a:rPr lang="en-IN" dirty="0"/>
                  <a:t>K	1*n/2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3FFBD27-3739-AFF7-19FE-E46770F95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57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</a:t>
                </a:r>
              </a:p>
              <a:p>
                <a:pPr marL="0" indent="0">
                  <a:buNone/>
                </a:pPr>
                <a:r>
                  <a:rPr lang="en-IN" dirty="0"/>
                  <a:t>J	1	4</a:t>
                </a:r>
              </a:p>
              <a:p>
                <a:pPr marL="0" indent="0">
                  <a:buNone/>
                </a:pPr>
                <a:r>
                  <a:rPr lang="en-IN" dirty="0"/>
                  <a:t>K	1*n/2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189E756-3EB7-2B59-C26E-060706AB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259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</a:t>
                </a:r>
              </a:p>
              <a:p>
                <a:pPr marL="0" indent="0">
                  <a:buNone/>
                </a:pPr>
                <a:r>
                  <a:rPr lang="en-IN" dirty="0"/>
                  <a:t>J	1	4</a:t>
                </a:r>
              </a:p>
              <a:p>
                <a:pPr marL="0" indent="0">
                  <a:buNone/>
                </a:pPr>
                <a:r>
                  <a:rPr lang="en-IN" dirty="0"/>
                  <a:t>K	1*n/2	4*n/2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C791A78-AC39-BDD3-7B54-79B2AF28B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110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</a:t>
                </a:r>
              </a:p>
              <a:p>
                <a:pPr marL="0" indent="0">
                  <a:buNone/>
                </a:pPr>
                <a:r>
                  <a:rPr lang="en-IN" dirty="0"/>
                  <a:t>J	1	4</a:t>
                </a:r>
              </a:p>
              <a:p>
                <a:pPr marL="0" indent="0">
                  <a:buNone/>
                </a:pPr>
                <a:r>
                  <a:rPr lang="en-IN" dirty="0"/>
                  <a:t>K	1*n/2	4*n/2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A2B543C-31A1-F66E-9F59-E31EA9E8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014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</a:t>
                </a:r>
              </a:p>
              <a:p>
                <a:pPr marL="0" indent="0">
                  <a:buNone/>
                </a:pPr>
                <a:r>
                  <a:rPr lang="en-IN" dirty="0"/>
                  <a:t>J	1	4	9</a:t>
                </a:r>
              </a:p>
              <a:p>
                <a:pPr marL="0" indent="0">
                  <a:buNone/>
                </a:pPr>
                <a:r>
                  <a:rPr lang="en-IN" dirty="0"/>
                  <a:t>K	1*n/2	4*n/2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02E3FE3-A4C7-9E67-CBF8-D5E919683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9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</a:t>
                </a:r>
              </a:p>
              <a:p>
                <a:pPr marL="0" indent="0">
                  <a:buNone/>
                </a:pPr>
                <a:r>
                  <a:rPr lang="en-IN" dirty="0"/>
                  <a:t>J	1	4	9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D17EEE0-C3C9-BD87-F851-16CD2FAEC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13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</a:t>
                </a:r>
              </a:p>
              <a:p>
                <a:pPr marL="0" indent="0">
                  <a:buNone/>
                </a:pPr>
                <a:r>
                  <a:rPr lang="en-IN" dirty="0"/>
                  <a:t>J	1	4	9	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	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923898E-3BC0-AAA7-271C-221F495FF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8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</a:t>
                </a:r>
              </a:p>
              <a:p>
                <a:pPr marL="0" indent="0">
                  <a:buNone/>
                </a:pPr>
                <a:r>
                  <a:rPr lang="en-IN" dirty="0"/>
                  <a:t>J	1	4	9	16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	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E9D9BBB-0DB5-8F8B-1411-734028EEA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912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</a:t>
                </a:r>
              </a:p>
              <a:p>
                <a:pPr marL="0" indent="0">
                  <a:buNone/>
                </a:pPr>
                <a:r>
                  <a:rPr lang="en-IN" dirty="0"/>
                  <a:t>J	1	4	9	16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	16*n/2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4BB19EE-239A-4B6F-5EB7-FF4BF9EA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3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	5</a:t>
                </a:r>
              </a:p>
              <a:p>
                <a:pPr marL="0" indent="0">
                  <a:buNone/>
                </a:pPr>
                <a:r>
                  <a:rPr lang="en-IN" dirty="0"/>
                  <a:t>J	1	4	9	16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	16*n/2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EB7D601-50A7-1D41-B79C-E4829CE2A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562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	5</a:t>
                </a:r>
              </a:p>
              <a:p>
                <a:pPr marL="0" indent="0">
                  <a:buNone/>
                </a:pPr>
                <a:r>
                  <a:rPr lang="en-IN" dirty="0"/>
                  <a:t>J	1	4	9	16	25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	16*n/2	25*n/2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8C9E710-F75B-3946-DB9E-897F7FE61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567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	5</a:t>
                </a:r>
              </a:p>
              <a:p>
                <a:pPr marL="0" indent="0">
                  <a:buNone/>
                </a:pPr>
                <a:r>
                  <a:rPr lang="en-IN" dirty="0"/>
                  <a:t>J	1	4	9	16	25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	16*n/2	25*n/2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813258E-16CF-3453-53FB-ABB433256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76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	5…………………….n</a:t>
                </a:r>
              </a:p>
              <a:p>
                <a:pPr marL="0" indent="0">
                  <a:buNone/>
                </a:pPr>
                <a:r>
                  <a:rPr lang="en-IN" dirty="0"/>
                  <a:t>J	1	4	9	16	25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	16*n/2	25*n/2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EF9BAE5-CC82-7BCD-745B-21F04059D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343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	5…………………….n</a:t>
                </a:r>
              </a:p>
              <a:p>
                <a:pPr marL="0" indent="0">
                  <a:buNone/>
                </a:pPr>
                <a:r>
                  <a:rPr lang="en-IN" dirty="0"/>
                  <a:t>J	1	4	9	16	25…………………..n</a:t>
                </a:r>
                <a:r>
                  <a:rPr lang="en-IN" baseline="30000" dirty="0"/>
                  <a:t>2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	16*n/2	25*n/2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1F18129-63F0-A59A-7965-CF5E5923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75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	5…………………….n</a:t>
                </a:r>
              </a:p>
              <a:p>
                <a:pPr marL="0" indent="0">
                  <a:buNone/>
                </a:pPr>
                <a:r>
                  <a:rPr lang="en-IN" dirty="0"/>
                  <a:t>J	1	4	9	16	25…………………..n</a:t>
                </a:r>
                <a:r>
                  <a:rPr lang="en-IN" baseline="30000" dirty="0"/>
                  <a:t>2</a:t>
                </a:r>
              </a:p>
              <a:p>
                <a:pPr marL="0" indent="0">
                  <a:buNone/>
                </a:pPr>
                <a:r>
                  <a:rPr lang="en-IN" dirty="0"/>
                  <a:t>K	1*n/2	4*n/2	9*n/2	16*n/2	25*n/2…………..n</a:t>
                </a:r>
                <a:r>
                  <a:rPr lang="en-IN" baseline="30000" dirty="0"/>
                  <a:t>2</a:t>
                </a:r>
                <a:r>
                  <a:rPr lang="en-IN" dirty="0"/>
                  <a:t>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7602B85-6331-7872-65D6-2A32FBA61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72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188640"/>
                <a:ext cx="8229600" cy="4525963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int</a:t>
                </a:r>
                <a:r>
                  <a:rPr lang="en-IN" dirty="0"/>
                  <a:t> </a:t>
                </a:r>
                <a:r>
                  <a:rPr lang="en-IN" dirty="0" err="1"/>
                  <a:t>I,j,k,n</a:t>
                </a:r>
                <a:r>
                  <a:rPr lang="en-IN" dirty="0"/>
                  <a:t>;</a:t>
                </a:r>
              </a:p>
              <a:p>
                <a:pPr marL="0" indent="0">
                  <a:buNone/>
                </a:pPr>
                <a:r>
                  <a:rPr lang="en-IN" dirty="0"/>
                  <a:t>	for(i=1;i&lt;=</a:t>
                </a:r>
                <a:r>
                  <a:rPr lang="en-IN" dirty="0" err="1"/>
                  <a:t>n;i</a:t>
                </a:r>
                <a:r>
                  <a:rPr lang="en-IN" dirty="0"/>
                  <a:t>++){</a:t>
                </a:r>
              </a:p>
              <a:p>
                <a:pPr marL="0" indent="0">
                  <a:buNone/>
                </a:pPr>
                <a:r>
                  <a:rPr lang="en-IN" dirty="0"/>
                  <a:t>		for(j=1;j&lt;=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;j++){</a:t>
                </a:r>
              </a:p>
              <a:p>
                <a:pPr marL="0" indent="0">
                  <a:buNone/>
                </a:pPr>
                <a:r>
                  <a:rPr lang="en-IN" dirty="0"/>
                  <a:t>			for(k=1;k&lt;=n/2;k++){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				}</a:t>
                </a:r>
              </a:p>
              <a:p>
                <a:pPr marL="0" indent="0">
                  <a:buNone/>
                </a:pPr>
                <a:r>
                  <a:rPr lang="en-IN" dirty="0"/>
                  <a:t>				}</a:t>
                </a:r>
              </a:p>
              <a:p>
                <a:pPr marL="0" indent="0">
                  <a:buNone/>
                </a:pPr>
                <a:r>
                  <a:rPr lang="en-IN" dirty="0"/>
                  <a:t>			}</a:t>
                </a:r>
              </a:p>
              <a:p>
                <a:pPr marL="0" indent="0">
                  <a:buNone/>
                </a:pPr>
                <a:r>
                  <a:rPr lang="en-IN" dirty="0"/>
                  <a:t>		}</a:t>
                </a:r>
              </a:p>
              <a:p>
                <a:pPr marL="0" indent="0">
                  <a:buNone/>
                </a:pPr>
                <a:r>
                  <a:rPr lang="en-IN" dirty="0"/>
                  <a:t>I	1	2	3	4	5…………………….n</a:t>
                </a:r>
              </a:p>
              <a:p>
                <a:pPr marL="0" indent="0">
                  <a:buNone/>
                </a:pPr>
                <a:r>
                  <a:rPr lang="en-IN" dirty="0"/>
                  <a:t>J	1	4	9	16	25…………………..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K	1*n/2	4*n/2	9*n/2	16*n/2	25*n/2…………..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*n/2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88640"/>
                <a:ext cx="8229600" cy="4525963"/>
              </a:xfrm>
              <a:blipFill rotWithShape="1">
                <a:blip r:embed="rId2"/>
                <a:stretch>
                  <a:fillRect l="-963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496500" y="4653136"/>
            <a:ext cx="685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1*n/2	4*n/2	9*n/2	16*n/2	25*n/2…………..n</a:t>
            </a:r>
            <a:r>
              <a:rPr lang="en-IN" baseline="30000" dirty="0"/>
              <a:t>2</a:t>
            </a:r>
            <a:r>
              <a:rPr lang="en-IN" dirty="0"/>
              <a:t>*n/2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25456" y="5025824"/>
                <a:ext cx="68580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n/2(1+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IN" b="0" i="1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IN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IN" b="0" i="1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IN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+…..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dirty="0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IN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56" y="5025824"/>
                <a:ext cx="685800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711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25456" y="5661248"/>
                <a:ext cx="728690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800" dirty="0"/>
                  <a:t>n/2[(n(n+1)(2n+1)/6]                 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IN" sz="2800" i="1" dirty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IN" sz="2800" b="0" i="1" dirty="0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IN" sz="2800" dirty="0"/>
                  <a:t>)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56" y="5661248"/>
                <a:ext cx="7286904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1672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C317D1AC-0BF8-7B7B-EF48-3CE7DE6A8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22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for(i=1;i&lt;</a:t>
            </a:r>
            <a:r>
              <a:rPr lang="en-IN" dirty="0" err="1"/>
              <a:t>n;i</a:t>
            </a:r>
            <a:r>
              <a:rPr lang="en-IN" dirty="0"/>
              <a:t>=i*</a:t>
            </a:r>
            <a:r>
              <a:rPr lang="en-IN" dirty="0">
                <a:solidFill>
                  <a:srgbClr val="FF0000"/>
                </a:solidFill>
              </a:rPr>
              <a:t>2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11DB7B6-F349-10DF-5001-75A4BBD1A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55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IN" dirty="0"/>
                  <a:t>Function(){</a:t>
                </a:r>
              </a:p>
              <a:p>
                <a:pPr marL="0" indent="0">
                  <a:buNone/>
                </a:pPr>
                <a:r>
                  <a:rPr lang="en-IN" dirty="0"/>
                  <a:t>	for(i=1;i&lt;</a:t>
                </a:r>
                <a:r>
                  <a:rPr lang="en-IN" dirty="0" err="1"/>
                  <a:t>n;i</a:t>
                </a:r>
                <a:r>
                  <a:rPr lang="en-IN" dirty="0"/>
                  <a:t>=i*</a:t>
                </a:r>
                <a:r>
                  <a:rPr lang="en-IN" dirty="0">
                    <a:solidFill>
                      <a:srgbClr val="FF0000"/>
                    </a:solidFill>
                  </a:rPr>
                  <a:t>2</a:t>
                </a:r>
                <a:r>
                  <a:rPr lang="en-IN" dirty="0"/>
                  <a:t>)</a:t>
                </a:r>
              </a:p>
              <a:p>
                <a:pPr marL="0" indent="0">
                  <a:buNone/>
                </a:pPr>
                <a:r>
                  <a:rPr lang="en-IN" dirty="0"/>
                  <a:t>		</a:t>
                </a:r>
                <a:r>
                  <a:rPr lang="en-IN" dirty="0" err="1"/>
                  <a:t>printf</a:t>
                </a:r>
                <a:r>
                  <a:rPr lang="en-IN" dirty="0"/>
                  <a:t>(“hello”);</a:t>
                </a:r>
              </a:p>
              <a:p>
                <a:pPr marL="0" indent="0">
                  <a:buNone/>
                </a:pPr>
                <a:r>
                  <a:rPr lang="en-IN" dirty="0"/>
                  <a:t>	}</a:t>
                </a:r>
              </a:p>
              <a:p>
                <a:pPr marL="0" indent="0">
                  <a:buNone/>
                </a:pPr>
                <a:r>
                  <a:rPr lang="en-IN" dirty="0"/>
                  <a:t> </a:t>
                </a:r>
                <a:r>
                  <a:rPr lang="en-IN" dirty="0" err="1"/>
                  <a:t>i</a:t>
                </a:r>
                <a:r>
                  <a:rPr lang="en-IN" dirty="0"/>
                  <a:t>=1	2	4	8	16	n</a:t>
                </a:r>
              </a:p>
              <a:p>
                <a:pPr marL="0" indent="0">
                  <a:buNone/>
                </a:pPr>
                <a:r>
                  <a:rPr lang="en-I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IN" dirty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IN" dirty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dirty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IN" dirty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IN" dirty="0"/>
                  <a:t>=n</a:t>
                </a:r>
              </a:p>
              <a:p>
                <a:pPr marL="0" indent="0">
                  <a:buNone/>
                </a:pPr>
                <a:r>
                  <a:rPr lang="en-IN" dirty="0"/>
                  <a:t>K=log(n)        O(log</a:t>
                </a:r>
                <a:r>
                  <a:rPr lang="en-IN" baseline="-25000" dirty="0"/>
                  <a:t>2</a:t>
                </a:r>
                <a:r>
                  <a:rPr lang="en-IN" dirty="0"/>
                  <a:t>n)……. O(log</a:t>
                </a:r>
                <a:r>
                  <a:rPr lang="en-IN" baseline="-25000" dirty="0"/>
                  <a:t>3</a:t>
                </a:r>
                <a:r>
                  <a:rPr lang="en-IN" dirty="0"/>
                  <a:t>n)….. O(log</a:t>
                </a:r>
                <a:r>
                  <a:rPr lang="en-IN" baseline="-25000" dirty="0"/>
                  <a:t>10</a:t>
                </a:r>
                <a:r>
                  <a:rPr lang="en-IN" dirty="0"/>
                  <a:t>n)</a:t>
                </a:r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04" t="-35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11DB7B6-F349-10DF-5001-75A4BBD1A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292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for(i=n/2;i&lt;=</a:t>
            </a:r>
            <a:r>
              <a:rPr lang="en-IN" dirty="0" err="1"/>
              <a:t>n;i</a:t>
            </a:r>
            <a:r>
              <a:rPr lang="en-IN" dirty="0"/>
              <a:t>++) 		  			for(j=1;j&lt;=n/2;j++) 		      			for(k=1;k&lt;=</a:t>
            </a:r>
            <a:r>
              <a:rPr lang="en-IN" dirty="0" err="1"/>
              <a:t>n;k</a:t>
            </a:r>
            <a:r>
              <a:rPr lang="en-IN" dirty="0"/>
              <a:t>=k*2) 						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14F9558-1955-557A-A529-3F58FC76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74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for(i=n/2;i&lt;=</a:t>
            </a:r>
            <a:r>
              <a:rPr lang="en-IN" dirty="0" err="1"/>
              <a:t>n;i</a:t>
            </a:r>
            <a:r>
              <a:rPr lang="en-IN" dirty="0"/>
              <a:t>++)                        …n/2</a:t>
            </a:r>
          </a:p>
          <a:p>
            <a:pPr marL="0" indent="0">
              <a:buNone/>
            </a:pPr>
            <a:r>
              <a:rPr lang="en-IN" dirty="0"/>
              <a:t>		  for(j=1;j&lt;=n/2;j++)                      …n/2</a:t>
            </a:r>
          </a:p>
          <a:p>
            <a:pPr marL="0" indent="0">
              <a:buNone/>
            </a:pPr>
            <a:r>
              <a:rPr lang="en-IN" dirty="0"/>
              <a:t>		      for(k=1;k&lt;=</a:t>
            </a:r>
            <a:r>
              <a:rPr lang="en-IN" dirty="0" err="1"/>
              <a:t>n;k</a:t>
            </a:r>
            <a:r>
              <a:rPr lang="en-IN" dirty="0"/>
              <a:t>=k*2)            ... log</a:t>
            </a:r>
            <a:r>
              <a:rPr lang="en-IN" baseline="-25000" dirty="0"/>
              <a:t>2</a:t>
            </a:r>
            <a:r>
              <a:rPr lang="en-IN" dirty="0"/>
              <a:t>n</a:t>
            </a:r>
          </a:p>
          <a:p>
            <a:pPr marL="0" indent="0">
              <a:buNone/>
            </a:pPr>
            <a:r>
              <a:rPr lang="en-IN" dirty="0"/>
              <a:t>					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n/2 * n/2 * log</a:t>
            </a:r>
            <a:r>
              <a:rPr lang="en-IN" baseline="-25000" dirty="0"/>
              <a:t>2</a:t>
            </a:r>
            <a:r>
              <a:rPr lang="en-IN" dirty="0"/>
              <a:t>n  = O(n</a:t>
            </a:r>
            <a:r>
              <a:rPr lang="en-IN" baseline="30000" dirty="0"/>
              <a:t>2</a:t>
            </a:r>
            <a:r>
              <a:rPr lang="en-IN" dirty="0"/>
              <a:t> log</a:t>
            </a:r>
            <a:r>
              <a:rPr lang="en-IN" baseline="-25000" dirty="0"/>
              <a:t>2</a:t>
            </a:r>
            <a:r>
              <a:rPr lang="en-IN" dirty="0"/>
              <a:t>n)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14F9558-1955-557A-A529-3F58FC76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3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for(i=n/2;i&lt;=</a:t>
            </a:r>
            <a:r>
              <a:rPr lang="en-IN" dirty="0" err="1"/>
              <a:t>n;i</a:t>
            </a:r>
            <a:r>
              <a:rPr lang="en-IN" dirty="0"/>
              <a:t>++) 		 			for(j=1;j&lt;=</a:t>
            </a:r>
            <a:r>
              <a:rPr lang="en-IN" dirty="0" err="1"/>
              <a:t>n;j</a:t>
            </a:r>
            <a:r>
              <a:rPr lang="en-IN" dirty="0"/>
              <a:t>=2*j)</a:t>
            </a:r>
          </a:p>
          <a:p>
            <a:pPr marL="0" indent="0">
              <a:buNone/>
            </a:pPr>
            <a:r>
              <a:rPr lang="en-IN" dirty="0"/>
              <a:t>		for(k=1;k&lt;=</a:t>
            </a:r>
            <a:r>
              <a:rPr lang="en-IN" dirty="0" err="1"/>
              <a:t>n;k</a:t>
            </a:r>
            <a:r>
              <a:rPr lang="en-IN" dirty="0"/>
              <a:t>=k*2)</a:t>
            </a:r>
          </a:p>
          <a:p>
            <a:pPr marL="0" indent="0">
              <a:buNone/>
            </a:pPr>
            <a:r>
              <a:rPr lang="en-IN" dirty="0"/>
              <a:t>		    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657059F-1603-0502-7223-6992CC9E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250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Some answers are saying </a:t>
            </a:r>
            <a:endParaRPr lang="en-IN" dirty="0" smtClean="0"/>
          </a:p>
          <a:p>
            <a:r>
              <a:rPr lang="en-IN" dirty="0" smtClean="0"/>
              <a:t>log^2(n</a:t>
            </a:r>
            <a:r>
              <a:rPr lang="en-IN" dirty="0"/>
              <a:t>) = log(n)×log(n) = log(n)^</a:t>
            </a:r>
            <a:r>
              <a:rPr lang="en-IN" dirty="0" smtClean="0"/>
              <a:t>2</a:t>
            </a:r>
          </a:p>
          <a:p>
            <a:r>
              <a:rPr lang="en-IN" dirty="0" smtClean="0"/>
              <a:t> </a:t>
            </a:r>
            <a:r>
              <a:rPr lang="en-IN" dirty="0"/>
              <a:t>while some are saying </a:t>
            </a:r>
            <a:endParaRPr lang="en-IN" dirty="0" smtClean="0"/>
          </a:p>
          <a:p>
            <a:r>
              <a:rPr lang="en-IN" dirty="0" smtClean="0"/>
              <a:t>(</a:t>
            </a:r>
            <a:r>
              <a:rPr lang="en-IN" dirty="0"/>
              <a:t>log^2)n = </a:t>
            </a:r>
            <a:r>
              <a:rPr lang="en-IN" dirty="0">
                <a:solidFill>
                  <a:srgbClr val="FF0000"/>
                </a:solidFill>
              </a:rPr>
              <a:t>log(log(n)) ≠ log(n)^2.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42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for(i=n/2;i&lt;=</a:t>
            </a:r>
            <a:r>
              <a:rPr lang="en-IN" dirty="0" err="1"/>
              <a:t>n;i</a:t>
            </a:r>
            <a:r>
              <a:rPr lang="en-IN" dirty="0"/>
              <a:t>++) 		 			for(j=1;j&lt;=</a:t>
            </a:r>
            <a:r>
              <a:rPr lang="en-IN" dirty="0" err="1"/>
              <a:t>n;j</a:t>
            </a:r>
            <a:r>
              <a:rPr lang="en-IN" dirty="0"/>
              <a:t>=2*j)</a:t>
            </a:r>
          </a:p>
          <a:p>
            <a:pPr marL="0" indent="0">
              <a:buNone/>
            </a:pPr>
            <a:r>
              <a:rPr lang="en-IN" dirty="0"/>
              <a:t>		for(k=1;k&lt;=</a:t>
            </a:r>
            <a:r>
              <a:rPr lang="en-IN" dirty="0" err="1"/>
              <a:t>n;k</a:t>
            </a:r>
            <a:r>
              <a:rPr lang="en-IN" dirty="0"/>
              <a:t>=k*2)</a:t>
            </a:r>
          </a:p>
          <a:p>
            <a:pPr marL="0" indent="0">
              <a:buNone/>
            </a:pPr>
            <a:r>
              <a:rPr lang="en-IN" dirty="0"/>
              <a:t>		    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657059F-1603-0502-7223-6992CC9E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103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for(i=n/2;i&lt;=</a:t>
            </a:r>
            <a:r>
              <a:rPr lang="en-IN" dirty="0" err="1"/>
              <a:t>n;i</a:t>
            </a:r>
            <a:r>
              <a:rPr lang="en-IN" dirty="0"/>
              <a:t>++) 		 			for(j=1;j&lt;=</a:t>
            </a:r>
            <a:r>
              <a:rPr lang="en-IN" dirty="0" err="1"/>
              <a:t>n;j</a:t>
            </a:r>
            <a:r>
              <a:rPr lang="en-IN" dirty="0"/>
              <a:t>=2*j)</a:t>
            </a:r>
          </a:p>
          <a:p>
            <a:pPr marL="0" indent="0">
              <a:buNone/>
            </a:pPr>
            <a:r>
              <a:rPr lang="en-IN" dirty="0"/>
              <a:t>		for(k=1;k&lt;=</a:t>
            </a:r>
            <a:r>
              <a:rPr lang="en-IN" dirty="0" err="1"/>
              <a:t>n;k</a:t>
            </a:r>
            <a:r>
              <a:rPr lang="en-IN" dirty="0"/>
              <a:t>=k*2)</a:t>
            </a:r>
          </a:p>
          <a:p>
            <a:pPr marL="0" indent="0">
              <a:buNone/>
            </a:pPr>
            <a:r>
              <a:rPr lang="en-IN" dirty="0"/>
              <a:t>		    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US" dirty="0" smtClean="0"/>
              <a:t>O(n/2*(log</a:t>
            </a:r>
            <a:r>
              <a:rPr lang="en-US" baseline="-25000" dirty="0" smtClean="0"/>
              <a:t>2</a:t>
            </a:r>
            <a:r>
              <a:rPr lang="en-US" dirty="0" smtClean="0"/>
              <a:t>n)*(log</a:t>
            </a:r>
            <a:r>
              <a:rPr lang="en-US" baseline="-25000" dirty="0" smtClean="0"/>
              <a:t>2</a:t>
            </a:r>
            <a:r>
              <a:rPr lang="en-US" dirty="0" smtClean="0"/>
              <a:t>n)) =O(n*(log</a:t>
            </a:r>
            <a:r>
              <a:rPr lang="en-US" baseline="-25000" dirty="0" smtClean="0"/>
              <a:t>2</a:t>
            </a:r>
            <a:r>
              <a:rPr lang="en-US" dirty="0" smtClean="0"/>
              <a:t>n)</a:t>
            </a:r>
            <a:r>
              <a:rPr lang="en-US" baseline="30000" dirty="0" smtClean="0"/>
              <a:t>2</a:t>
            </a:r>
            <a:r>
              <a:rPr lang="en-US" dirty="0" smtClean="0"/>
              <a:t>)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657059F-1603-0502-7223-6992CC9E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61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for(i=n/2;i&lt;=</a:t>
            </a:r>
            <a:r>
              <a:rPr lang="en-IN" dirty="0" err="1"/>
              <a:t>n;i</a:t>
            </a:r>
            <a:r>
              <a:rPr lang="en-IN" dirty="0"/>
              <a:t>++)                        …n/2</a:t>
            </a:r>
          </a:p>
          <a:p>
            <a:pPr marL="0" indent="0">
              <a:buNone/>
            </a:pPr>
            <a:r>
              <a:rPr lang="en-IN" dirty="0"/>
              <a:t>		  for(j=1;j&lt;=n/2;j++)                      …n/2</a:t>
            </a:r>
          </a:p>
          <a:p>
            <a:pPr marL="0" indent="0">
              <a:buNone/>
            </a:pPr>
            <a:r>
              <a:rPr lang="en-IN" dirty="0"/>
              <a:t>		      for(k=1;k&lt;=</a:t>
            </a:r>
            <a:r>
              <a:rPr lang="en-IN" dirty="0" err="1"/>
              <a:t>n;k</a:t>
            </a:r>
            <a:r>
              <a:rPr lang="en-IN" dirty="0"/>
              <a:t>=k*2)      </a:t>
            </a:r>
            <a:r>
              <a:rPr lang="en-IN" dirty="0" smtClean="0"/>
              <a:t>     </a:t>
            </a:r>
            <a:r>
              <a:rPr lang="en-IN" dirty="0"/>
              <a:t>... log</a:t>
            </a:r>
            <a:r>
              <a:rPr lang="en-IN" baseline="-25000" dirty="0"/>
              <a:t>2</a:t>
            </a:r>
            <a:r>
              <a:rPr lang="en-IN" dirty="0"/>
              <a:t>n</a:t>
            </a:r>
          </a:p>
          <a:p>
            <a:pPr marL="0" indent="0">
              <a:buNone/>
            </a:pPr>
            <a:r>
              <a:rPr lang="en-IN" dirty="0"/>
              <a:t>				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smtClean="0"/>
              <a:t>}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14F9558-1955-557A-A529-3F58FC76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984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i,j,k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	for(i=n/2;i&lt;=</a:t>
            </a:r>
            <a:r>
              <a:rPr lang="en-IN" dirty="0" err="1"/>
              <a:t>n;i</a:t>
            </a:r>
            <a:r>
              <a:rPr lang="en-IN" dirty="0"/>
              <a:t>++)                        …n/2</a:t>
            </a:r>
          </a:p>
          <a:p>
            <a:pPr marL="0" indent="0">
              <a:buNone/>
            </a:pPr>
            <a:r>
              <a:rPr lang="en-IN" dirty="0"/>
              <a:t>		  for(j=1;j&lt;=n/2;j++)                      …n/2</a:t>
            </a:r>
          </a:p>
          <a:p>
            <a:pPr marL="0" indent="0">
              <a:buNone/>
            </a:pPr>
            <a:r>
              <a:rPr lang="en-IN" dirty="0"/>
              <a:t>		      for(k=1;k&lt;=</a:t>
            </a:r>
            <a:r>
              <a:rPr lang="en-IN" dirty="0" err="1"/>
              <a:t>n;k</a:t>
            </a:r>
            <a:r>
              <a:rPr lang="en-IN" dirty="0"/>
              <a:t>=k*2)            ... log</a:t>
            </a:r>
            <a:r>
              <a:rPr lang="en-IN" baseline="-25000" dirty="0"/>
              <a:t>2</a:t>
            </a:r>
            <a:r>
              <a:rPr lang="en-IN" dirty="0"/>
              <a:t>n</a:t>
            </a:r>
          </a:p>
          <a:p>
            <a:pPr marL="0" indent="0">
              <a:buNone/>
            </a:pPr>
            <a:r>
              <a:rPr lang="en-IN" dirty="0"/>
              <a:t>					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n/2 * n/2 * log</a:t>
            </a:r>
            <a:r>
              <a:rPr lang="en-IN" baseline="-25000" dirty="0"/>
              <a:t>2</a:t>
            </a:r>
            <a:r>
              <a:rPr lang="en-IN" dirty="0"/>
              <a:t>n  = O(n</a:t>
            </a:r>
            <a:r>
              <a:rPr lang="en-IN" baseline="30000" dirty="0"/>
              <a:t>2</a:t>
            </a:r>
            <a:r>
              <a:rPr lang="en-IN" dirty="0"/>
              <a:t> log</a:t>
            </a:r>
            <a:r>
              <a:rPr lang="en-IN" baseline="-25000" dirty="0"/>
              <a:t>2</a:t>
            </a:r>
            <a:r>
              <a:rPr lang="en-IN" dirty="0"/>
              <a:t>n)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14F9558-1955-557A-A529-3F58FC76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61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	for(i=1;i&lt;=</a:t>
            </a:r>
            <a:r>
              <a:rPr lang="en-IN" dirty="0" err="1"/>
              <a:t>n,i</a:t>
            </a:r>
            <a:r>
              <a:rPr lang="en-IN" dirty="0"/>
              <a:t>++)</a:t>
            </a:r>
          </a:p>
          <a:p>
            <a:pPr marL="0" indent="0">
              <a:buNone/>
            </a:pPr>
            <a:r>
              <a:rPr lang="en-IN" dirty="0"/>
              <a:t>			for(j=</a:t>
            </a:r>
            <a:r>
              <a:rPr lang="en-IN" dirty="0" err="1"/>
              <a:t>i;j</a:t>
            </a:r>
            <a:r>
              <a:rPr lang="en-IN" dirty="0"/>
              <a:t>&lt;=</a:t>
            </a:r>
            <a:r>
              <a:rPr lang="en-IN" dirty="0" err="1"/>
              <a:t>n;j</a:t>
            </a:r>
            <a:r>
              <a:rPr lang="en-IN" dirty="0"/>
              <a:t>=</a:t>
            </a:r>
            <a:r>
              <a:rPr lang="en-IN" dirty="0" err="1"/>
              <a:t>j+i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				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	</a:t>
            </a:r>
          </a:p>
          <a:p>
            <a:pPr marL="0" indent="0">
              <a:buNone/>
            </a:pPr>
            <a:r>
              <a:rPr lang="en-IN" dirty="0"/>
              <a:t>J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F97E9AD-09C2-01EF-DEC3-2461665D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48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84784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Function(){</a:t>
            </a:r>
          </a:p>
          <a:p>
            <a:pPr marL="0" indent="0">
              <a:buNone/>
            </a:pPr>
            <a:r>
              <a:rPr lang="en-IN" dirty="0"/>
              <a:t>		for(i=1;i&lt;=</a:t>
            </a:r>
            <a:r>
              <a:rPr lang="en-IN" dirty="0" err="1"/>
              <a:t>n,i</a:t>
            </a:r>
            <a:r>
              <a:rPr lang="en-IN" dirty="0"/>
              <a:t>++)</a:t>
            </a:r>
          </a:p>
          <a:p>
            <a:pPr marL="0" indent="0">
              <a:buNone/>
            </a:pPr>
            <a:r>
              <a:rPr lang="en-IN" dirty="0"/>
              <a:t>			</a:t>
            </a:r>
            <a:r>
              <a:rPr lang="en-IN" dirty="0" smtClean="0"/>
              <a:t>for(j=</a:t>
            </a:r>
            <a:r>
              <a:rPr lang="en-IN" dirty="0" err="1"/>
              <a:t>i</a:t>
            </a:r>
            <a:r>
              <a:rPr lang="en-IN" dirty="0" err="1" smtClean="0"/>
              <a:t>;j</a:t>
            </a:r>
            <a:r>
              <a:rPr lang="en-IN" dirty="0"/>
              <a:t>&lt;=</a:t>
            </a:r>
            <a:r>
              <a:rPr lang="en-IN" dirty="0" err="1"/>
              <a:t>n;j</a:t>
            </a:r>
            <a:r>
              <a:rPr lang="en-IN" dirty="0"/>
              <a:t>=</a:t>
            </a:r>
            <a:r>
              <a:rPr lang="en-IN" dirty="0" err="1"/>
              <a:t>j+i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				</a:t>
            </a:r>
            <a:r>
              <a:rPr lang="en-IN" dirty="0" err="1"/>
              <a:t>printf</a:t>
            </a:r>
            <a:r>
              <a:rPr lang="en-IN" dirty="0"/>
              <a:t>(“hello”);</a:t>
            </a:r>
          </a:p>
          <a:p>
            <a:pPr marL="0" indent="0">
              <a:buNone/>
            </a:pPr>
            <a:r>
              <a:rPr lang="en-IN" dirty="0"/>
              <a:t>		}</a:t>
            </a:r>
          </a:p>
          <a:p>
            <a:pPr marL="0" indent="0">
              <a:buNone/>
            </a:pPr>
            <a:r>
              <a:rPr lang="en-IN" dirty="0"/>
              <a:t>i=1	2	3	4</a:t>
            </a:r>
          </a:p>
          <a:p>
            <a:pPr marL="0" indent="0">
              <a:buNone/>
            </a:pPr>
            <a:r>
              <a:rPr lang="en-IN" dirty="0"/>
              <a:t>J=n	n/2	n/3	n/4</a:t>
            </a:r>
          </a:p>
          <a:p>
            <a:pPr marL="0" indent="0">
              <a:buNone/>
            </a:pPr>
            <a:r>
              <a:rPr lang="en-IN" dirty="0" err="1"/>
              <a:t>n+n</a:t>
            </a:r>
            <a:r>
              <a:rPr lang="en-IN" dirty="0"/>
              <a:t>/2+n/3+……n/n)</a:t>
            </a:r>
          </a:p>
          <a:p>
            <a:pPr marL="0" indent="0">
              <a:buNone/>
            </a:pPr>
            <a:r>
              <a:rPr lang="en-IN" dirty="0"/>
              <a:t>n(1+1/2+1/3+1/4+……..1/n)</a:t>
            </a:r>
          </a:p>
          <a:p>
            <a:pPr marL="0" indent="0">
              <a:buNone/>
            </a:pPr>
            <a:r>
              <a:rPr lang="en-IN" dirty="0"/>
              <a:t>n(</a:t>
            </a:r>
            <a:r>
              <a:rPr lang="en-IN" dirty="0" err="1"/>
              <a:t>logn</a:t>
            </a:r>
            <a:r>
              <a:rPr lang="en-IN" dirty="0"/>
              <a:t>)   =&gt;  O(n </a:t>
            </a:r>
            <a:r>
              <a:rPr lang="en-IN" dirty="0" err="1"/>
              <a:t>logn</a:t>
            </a:r>
            <a:r>
              <a:rPr lang="en-IN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16A8BDE-4908-805B-643E-24EB0784C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661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602632" cy="452596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Function()</a:t>
            </a:r>
          </a:p>
          <a:p>
            <a:pPr marL="0" indent="0">
              <a:buNone/>
            </a:pPr>
            <a:r>
              <a:rPr lang="en-IN" dirty="0"/>
              <a:t>{ while(n&gt;1)</a:t>
            </a:r>
          </a:p>
          <a:p>
            <a:pPr marL="0" indent="0">
              <a:buNone/>
            </a:pPr>
            <a:r>
              <a:rPr lang="en-IN" dirty="0"/>
              <a:t>  { n=n/2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FA58C29-57F8-FFC6-399B-F62DCE5FA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089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602632" cy="452596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Function()</a:t>
            </a:r>
          </a:p>
          <a:p>
            <a:pPr marL="0" indent="0">
              <a:buNone/>
            </a:pPr>
            <a:r>
              <a:rPr lang="en-IN" dirty="0"/>
              <a:t>{ while(n&gt;1)</a:t>
            </a:r>
          </a:p>
          <a:p>
            <a:pPr marL="0" indent="0">
              <a:buNone/>
            </a:pPr>
            <a:r>
              <a:rPr lang="en-IN" dirty="0"/>
              <a:t>  { n=n/2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212232" y="1628800"/>
            <a:ext cx="49601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IN" dirty="0"/>
              <a:t>Assume n&gt;=2</a:t>
            </a:r>
          </a:p>
          <a:p>
            <a:pPr marL="0" indent="0">
              <a:buFont typeface="Arial" pitchFamily="34" charset="0"/>
              <a:buNone/>
            </a:pPr>
            <a:r>
              <a:rPr lang="en-IN" dirty="0"/>
              <a:t>  n=2</a:t>
            </a:r>
            <a:r>
              <a:rPr lang="en-IN" baseline="30000" dirty="0"/>
              <a:t>1                  </a:t>
            </a:r>
            <a:r>
              <a:rPr lang="en-IN" dirty="0"/>
              <a:t>– 1 time </a:t>
            </a:r>
          </a:p>
          <a:p>
            <a:pPr marL="0" indent="0">
              <a:buNone/>
            </a:pPr>
            <a:r>
              <a:rPr lang="en-IN" dirty="0"/>
              <a:t> n=2</a:t>
            </a:r>
            <a:r>
              <a:rPr lang="en-IN" baseline="30000" dirty="0"/>
              <a:t>2                  </a:t>
            </a:r>
            <a:r>
              <a:rPr lang="en-IN" dirty="0"/>
              <a:t>– 2 times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n=2</a:t>
            </a:r>
            <a:r>
              <a:rPr lang="en-IN" baseline="30000" dirty="0"/>
              <a:t>k                  </a:t>
            </a:r>
            <a:r>
              <a:rPr lang="en-IN" dirty="0"/>
              <a:t>– k times</a:t>
            </a:r>
          </a:p>
          <a:p>
            <a:pPr marL="0" indent="0">
              <a:buNone/>
            </a:pPr>
            <a:r>
              <a:rPr lang="en-IN" dirty="0"/>
              <a:t>K=log</a:t>
            </a:r>
            <a:r>
              <a:rPr lang="en-IN" baseline="-25000" dirty="0"/>
              <a:t>2</a:t>
            </a:r>
            <a:r>
              <a:rPr lang="en-IN" dirty="0"/>
              <a:t>n </a:t>
            </a:r>
          </a:p>
          <a:p>
            <a:pPr marL="0" indent="0">
              <a:buNone/>
            </a:pPr>
            <a:r>
              <a:rPr lang="en-IN" dirty="0"/>
              <a:t>O(log</a:t>
            </a:r>
            <a:r>
              <a:rPr lang="en-IN" baseline="-25000" dirty="0"/>
              <a:t>2</a:t>
            </a:r>
            <a:r>
              <a:rPr lang="en-IN" dirty="0"/>
              <a:t>n)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FA58C29-57F8-FFC6-399B-F62DCE5FA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79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42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76672"/>
            <a:ext cx="3672408" cy="59046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Function()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n=2</a:t>
            </a:r>
            <a:r>
              <a:rPr lang="en-IN" baseline="30000" dirty="0"/>
              <a:t>2</a:t>
            </a:r>
            <a:r>
              <a:rPr lang="en-IN" baseline="66000" dirty="0"/>
              <a:t>k</a:t>
            </a:r>
          </a:p>
          <a:p>
            <a:pPr marL="0" indent="0">
              <a:buNone/>
            </a:pPr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=1;i&lt;=</a:t>
            </a:r>
            <a:r>
              <a:rPr lang="en-IN" dirty="0" err="1"/>
              <a:t>n;i</a:t>
            </a:r>
            <a:r>
              <a:rPr lang="en-IN" dirty="0"/>
              <a:t>++)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j=2;</a:t>
            </a:r>
          </a:p>
          <a:p>
            <a:pPr marL="0" indent="0">
              <a:buNone/>
            </a:pPr>
            <a:r>
              <a:rPr lang="en-IN" dirty="0"/>
              <a:t>   while(j&lt;=n)</a:t>
            </a:r>
          </a:p>
          <a:p>
            <a:pPr marL="0" indent="0">
              <a:buNone/>
            </a:pPr>
            <a:r>
              <a:rPr lang="en-IN" dirty="0"/>
              <a:t>{   j=j</a:t>
            </a:r>
            <a:r>
              <a:rPr lang="en-IN" baseline="30000" dirty="0"/>
              <a:t>2</a:t>
            </a:r>
            <a:r>
              <a:rPr lang="en-IN" dirty="0"/>
              <a:t> </a:t>
            </a:r>
            <a:endParaRPr lang="en-IN" baseline="30000" dirty="0"/>
          </a:p>
          <a:p>
            <a:pPr marL="0" indent="0">
              <a:buNone/>
            </a:pPr>
            <a:r>
              <a:rPr lang="en-IN" dirty="0"/>
              <a:t>    print (“Hello”)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499992" y="1124744"/>
            <a:ext cx="2160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/>
              <a:t>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581E4FEF-C5C0-DDF4-5787-E6D9E3CD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503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196752"/>
            <a:ext cx="24482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K=1</a:t>
            </a:r>
          </a:p>
          <a:p>
            <a:r>
              <a:rPr lang="en-US" sz="2800" dirty="0"/>
              <a:t>N=4</a:t>
            </a:r>
          </a:p>
          <a:p>
            <a:r>
              <a:rPr lang="en-US" sz="2800" dirty="0"/>
              <a:t>J=2,2</a:t>
            </a:r>
            <a:r>
              <a:rPr lang="en-US" sz="2800" baseline="30000" dirty="0"/>
              <a:t>2</a:t>
            </a:r>
            <a:r>
              <a:rPr lang="en-US" sz="2800" dirty="0"/>
              <a:t>( 2times)</a:t>
            </a:r>
          </a:p>
          <a:p>
            <a:r>
              <a:rPr lang="en-US" sz="2800" dirty="0"/>
              <a:t>N*2 times</a:t>
            </a:r>
            <a:endParaRPr lang="en-IN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2771800" y="1124743"/>
            <a:ext cx="28083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K=2</a:t>
            </a:r>
          </a:p>
          <a:p>
            <a:r>
              <a:rPr lang="en-US" sz="2800" dirty="0"/>
              <a:t>N=16</a:t>
            </a:r>
          </a:p>
          <a:p>
            <a:r>
              <a:rPr lang="en-US" sz="2800" dirty="0"/>
              <a:t>J=2, 2</a:t>
            </a:r>
            <a:r>
              <a:rPr lang="en-US" sz="2800" baseline="30000" dirty="0"/>
              <a:t>2</a:t>
            </a:r>
            <a:r>
              <a:rPr lang="en-US" sz="2800" dirty="0"/>
              <a:t>,2</a:t>
            </a:r>
            <a:r>
              <a:rPr lang="en-US" sz="2800" baseline="30000" dirty="0"/>
              <a:t>4</a:t>
            </a:r>
            <a:r>
              <a:rPr lang="en-US" sz="2800" dirty="0"/>
              <a:t>(3times)</a:t>
            </a:r>
          </a:p>
          <a:p>
            <a:r>
              <a:rPr lang="en-US" sz="2800" dirty="0"/>
              <a:t>N*3 times</a:t>
            </a:r>
            <a:endParaRPr lang="en-IN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652120" y="1124743"/>
            <a:ext cx="33843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K=3</a:t>
            </a:r>
          </a:p>
          <a:p>
            <a:r>
              <a:rPr lang="en-US" sz="2800" dirty="0"/>
              <a:t>N=2</a:t>
            </a:r>
            <a:r>
              <a:rPr lang="en-US" sz="2800" baseline="30000" dirty="0"/>
              <a:t>8</a:t>
            </a:r>
          </a:p>
          <a:p>
            <a:r>
              <a:rPr lang="en-US" sz="2800" dirty="0"/>
              <a:t>J=2,2</a:t>
            </a:r>
            <a:r>
              <a:rPr lang="en-US" sz="2800" baseline="30000" dirty="0"/>
              <a:t>2</a:t>
            </a:r>
            <a:r>
              <a:rPr lang="en-US" sz="2800" dirty="0"/>
              <a:t>,2</a:t>
            </a:r>
            <a:r>
              <a:rPr lang="en-US" sz="2800" baseline="30000" dirty="0"/>
              <a:t>4</a:t>
            </a:r>
            <a:r>
              <a:rPr lang="en-US" sz="2800" dirty="0"/>
              <a:t>,2</a:t>
            </a:r>
            <a:r>
              <a:rPr lang="en-US" sz="2800" baseline="30000" dirty="0"/>
              <a:t>8</a:t>
            </a:r>
            <a:r>
              <a:rPr lang="en-US" sz="2800" dirty="0"/>
              <a:t>(4times)</a:t>
            </a:r>
          </a:p>
          <a:p>
            <a:r>
              <a:rPr lang="en-US" sz="2800" dirty="0"/>
              <a:t>N*4 times</a:t>
            </a:r>
            <a:endParaRPr lang="en-IN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2411760" y="3429000"/>
            <a:ext cx="34563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n*(k+1) times</a:t>
            </a:r>
          </a:p>
          <a:p>
            <a:r>
              <a:rPr lang="en-US" sz="2800" dirty="0"/>
              <a:t>n=2</a:t>
            </a:r>
            <a:r>
              <a:rPr lang="en-US" sz="2800" baseline="30000" dirty="0"/>
              <a:t>2</a:t>
            </a:r>
            <a:r>
              <a:rPr lang="en-US" sz="2800" baseline="60000" dirty="0"/>
              <a:t>k</a:t>
            </a:r>
          </a:p>
          <a:p>
            <a:r>
              <a:rPr lang="en-US" sz="2800" dirty="0"/>
              <a:t>Log </a:t>
            </a:r>
            <a:r>
              <a:rPr lang="en-US" sz="2800" baseline="-25000" dirty="0"/>
              <a:t>2</a:t>
            </a:r>
            <a:r>
              <a:rPr lang="en-US" sz="2800" dirty="0"/>
              <a:t>n = 2</a:t>
            </a:r>
            <a:r>
              <a:rPr lang="en-US" sz="2800" baseline="30000" dirty="0"/>
              <a:t>k</a:t>
            </a:r>
          </a:p>
          <a:p>
            <a:r>
              <a:rPr lang="en-US" sz="2800" dirty="0"/>
              <a:t>Log </a:t>
            </a:r>
            <a:r>
              <a:rPr lang="en-US" sz="2800" dirty="0" err="1"/>
              <a:t>log</a:t>
            </a:r>
            <a:r>
              <a:rPr lang="en-US" sz="2800" dirty="0"/>
              <a:t> n = k</a:t>
            </a:r>
          </a:p>
          <a:p>
            <a:r>
              <a:rPr lang="en-US" sz="2800" dirty="0"/>
              <a:t>n(log </a:t>
            </a:r>
            <a:r>
              <a:rPr lang="en-US" sz="2800" dirty="0" err="1"/>
              <a:t>log</a:t>
            </a:r>
            <a:r>
              <a:rPr lang="en-US" sz="2800" dirty="0"/>
              <a:t> n+1)</a:t>
            </a:r>
          </a:p>
          <a:p>
            <a:r>
              <a:rPr lang="en-US" sz="2800" dirty="0"/>
              <a:t>O(n log </a:t>
            </a:r>
            <a:r>
              <a:rPr lang="en-US" sz="2800" dirty="0" err="1"/>
              <a:t>log</a:t>
            </a:r>
            <a:r>
              <a:rPr lang="en-US" sz="2800" dirty="0"/>
              <a:t> n)</a:t>
            </a:r>
            <a:endParaRPr lang="en-IN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A44AAC6F-DF96-E777-F425-1B002F50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05660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199AF4A2-0D9D-FE53-B904-AA5B0B00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BD6F893-FEEB-D5A0-9E85-5CCA5F36CEB8}"/>
              </a:ext>
            </a:extLst>
          </p:cNvPr>
          <p:cNvSpPr txBox="1"/>
          <p:nvPr/>
        </p:nvSpPr>
        <p:spPr>
          <a:xfrm>
            <a:off x="827584" y="2785489"/>
            <a:ext cx="78592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Solving the Recurrence Relations</a:t>
            </a:r>
            <a:endParaRPr lang="en-IN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16137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5656" y="1916832"/>
            <a:ext cx="56166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Recursive Algorithms Analysis</a:t>
            </a:r>
            <a:endParaRPr lang="en-IN" sz="4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5EC12656-90D2-BDA6-C7F2-C06F604BC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4736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</a:t>
            </a:r>
          </a:p>
          <a:p>
            <a:pPr marL="0" indent="0">
              <a:buNone/>
            </a:pPr>
            <a:r>
              <a:rPr lang="en-IN" dirty="0"/>
              <a:t>	return(function(n-1))		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1A2AA512-DF95-BC96-1286-0F962C6D4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78986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719A62A3-46A5-C4A3-BED9-405428214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34673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2AC69357-36EE-5C91-27C6-5E5794FC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25611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BC3D772F-2273-5284-B89F-7DA6CB30D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47057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3CD92ADB-159C-CE63-888A-46C35EAE7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3149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961C8871-A073-A938-D014-9D675F458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89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75946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521F2920-8C2D-1F3F-578A-5092A102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28385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T(n-2)=1+T(n-3)			</a:t>
            </a:r>
            <a:r>
              <a:rPr lang="en-IN" dirty="0" err="1"/>
              <a:t>eq</a:t>
            </a:r>
            <a:r>
              <a:rPr lang="en-IN" dirty="0"/>
              <a:t>(3)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C3BCC94E-A18A-E2CC-4306-95D250FC4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82181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T(n-2)=1+T(n-3)			</a:t>
            </a:r>
            <a:r>
              <a:rPr lang="en-IN" dirty="0" err="1"/>
              <a:t>eq</a:t>
            </a:r>
            <a:r>
              <a:rPr lang="en-IN" dirty="0"/>
              <a:t>(3)</a:t>
            </a:r>
          </a:p>
          <a:p>
            <a:pPr marL="0" indent="0">
              <a:buNone/>
            </a:pPr>
            <a:r>
              <a:rPr lang="en-IN" dirty="0"/>
              <a:t>Backward substitution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A9906F8B-C3C4-DDFB-15F4-6FE0D2B15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863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712968" cy="64087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T(n-2)=1+T(n-3)			</a:t>
            </a:r>
            <a:r>
              <a:rPr lang="en-IN" dirty="0" err="1"/>
              <a:t>eq</a:t>
            </a:r>
            <a:r>
              <a:rPr lang="en-IN" dirty="0"/>
              <a:t>(3)</a:t>
            </a:r>
          </a:p>
          <a:p>
            <a:pPr marL="0" indent="0">
              <a:buNone/>
            </a:pPr>
            <a:r>
              <a:rPr lang="en-IN" dirty="0"/>
              <a:t>Backward substitution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(2) in 1  T(n) = I+[1+T[n-2]] = 2+T[n-2]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23D0248E-3440-D405-4D26-733B92A7E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76778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T(n-2)=1+T(n-3)			</a:t>
            </a:r>
            <a:r>
              <a:rPr lang="en-IN" dirty="0" err="1"/>
              <a:t>eq</a:t>
            </a:r>
            <a:r>
              <a:rPr lang="en-IN" dirty="0"/>
              <a:t>(3)</a:t>
            </a:r>
          </a:p>
          <a:p>
            <a:pPr marL="0" indent="0">
              <a:buNone/>
            </a:pPr>
            <a:r>
              <a:rPr lang="en-IN" dirty="0"/>
              <a:t>Backward substitution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(2) in 1  T(n) = I+[1+T[n-2]] = 2+T[n-2]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(3) in 2   T(n)=2+[1+T[n-3]] = 3+T[n-3]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9A6E1C21-6572-0DE7-3B9C-D234634A2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29618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T(n-2)=1+T(n-3)			</a:t>
            </a:r>
            <a:r>
              <a:rPr lang="en-IN" dirty="0" err="1"/>
              <a:t>eq</a:t>
            </a:r>
            <a:r>
              <a:rPr lang="en-IN" dirty="0"/>
              <a:t>(3)</a:t>
            </a:r>
          </a:p>
          <a:p>
            <a:pPr marL="0" indent="0">
              <a:buNone/>
            </a:pPr>
            <a:r>
              <a:rPr lang="en-IN" dirty="0"/>
              <a:t>Backward substitution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(2) in 1  T(n) = I+[1+T[n-2]] = 2+T[n-2]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(3) in 2   T(n)=2+[1+T[n-3]] = 3+T[n-3]</a:t>
            </a:r>
          </a:p>
          <a:p>
            <a:pPr marL="0" indent="0">
              <a:buNone/>
            </a:pPr>
            <a:r>
              <a:rPr lang="en-IN" dirty="0"/>
              <a:t>K+T[n-k]				</a:t>
            </a:r>
            <a:r>
              <a:rPr lang="en-IN" dirty="0" err="1"/>
              <a:t>eq</a:t>
            </a:r>
            <a:r>
              <a:rPr lang="en-IN" dirty="0"/>
              <a:t>(4)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A0335C84-49D8-56FA-4EE4-AFC700431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18028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T(n-2)=1+T(n-3)			</a:t>
            </a:r>
            <a:r>
              <a:rPr lang="en-IN" dirty="0" err="1"/>
              <a:t>eq</a:t>
            </a:r>
            <a:r>
              <a:rPr lang="en-IN" dirty="0"/>
              <a:t>(3)</a:t>
            </a:r>
          </a:p>
          <a:p>
            <a:pPr marL="0" indent="0">
              <a:buNone/>
            </a:pPr>
            <a:r>
              <a:rPr lang="en-IN" dirty="0"/>
              <a:t>Backward substitution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(2) in 1  T(n) = I+[1+T[n-2]] = 2+T[n-2]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(3) in 2   T(n)=2+[1+T[n-3]] = 3+T[n-3]</a:t>
            </a:r>
          </a:p>
          <a:p>
            <a:pPr marL="0" indent="0">
              <a:buNone/>
            </a:pPr>
            <a:r>
              <a:rPr lang="en-IN" dirty="0"/>
              <a:t>K+T[n-k]				</a:t>
            </a:r>
            <a:r>
              <a:rPr lang="en-IN" dirty="0" err="1"/>
              <a:t>eq</a:t>
            </a:r>
            <a:r>
              <a:rPr lang="en-IN" dirty="0"/>
              <a:t>(4)</a:t>
            </a:r>
          </a:p>
          <a:p>
            <a:pPr marL="0" indent="0">
              <a:buNone/>
            </a:pPr>
            <a:r>
              <a:rPr lang="en-IN" dirty="0"/>
              <a:t>When n-k=1 loop stop so k=n-1 substitute in </a:t>
            </a:r>
            <a:r>
              <a:rPr lang="en-IN" dirty="0" err="1"/>
              <a:t>eq</a:t>
            </a:r>
            <a:r>
              <a:rPr lang="en-IN" dirty="0"/>
              <a:t>(4)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D09D7827-F596-74C6-62AC-1F3636784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18028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T(n-2)=1+T(n-3)			</a:t>
            </a:r>
            <a:r>
              <a:rPr lang="en-IN" dirty="0" err="1"/>
              <a:t>eq</a:t>
            </a:r>
            <a:r>
              <a:rPr lang="en-IN" dirty="0"/>
              <a:t>(3)</a:t>
            </a:r>
          </a:p>
          <a:p>
            <a:pPr marL="0" indent="0">
              <a:buNone/>
            </a:pPr>
            <a:r>
              <a:rPr lang="en-IN" dirty="0"/>
              <a:t>Backward substitution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(2) in 1  T(n) = I+[1+T[n-2]] = 2+T[n-2]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(3) in 2   T(n)=2+[1+T[n-3]] = 3+T[n-3]</a:t>
            </a:r>
          </a:p>
          <a:p>
            <a:pPr marL="0" indent="0">
              <a:buNone/>
            </a:pPr>
            <a:r>
              <a:rPr lang="en-IN" dirty="0"/>
              <a:t>K+T[n-k]</a:t>
            </a:r>
          </a:p>
          <a:p>
            <a:pPr marL="0" indent="0">
              <a:buNone/>
            </a:pPr>
            <a:r>
              <a:rPr lang="en-IN" dirty="0"/>
              <a:t>When n-k=1 loop stop so k=n-1 substitute in </a:t>
            </a:r>
            <a:r>
              <a:rPr lang="en-IN" dirty="0" err="1"/>
              <a:t>eq</a:t>
            </a:r>
            <a:r>
              <a:rPr lang="en-IN" dirty="0"/>
              <a:t>(4)</a:t>
            </a:r>
          </a:p>
          <a:p>
            <a:pPr marL="0" indent="0">
              <a:buNone/>
            </a:pPr>
            <a:r>
              <a:rPr lang="en-IN" dirty="0"/>
              <a:t>n-1+T[n-[n-1]]]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5061C25D-E7F8-0B22-3E12-4C3B2367E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287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T(n-2)=1+T(n-3)			</a:t>
            </a:r>
            <a:r>
              <a:rPr lang="en-IN" dirty="0" err="1"/>
              <a:t>eq</a:t>
            </a:r>
            <a:r>
              <a:rPr lang="en-IN" dirty="0"/>
              <a:t>(3)</a:t>
            </a:r>
          </a:p>
          <a:p>
            <a:pPr marL="0" indent="0">
              <a:buNone/>
            </a:pPr>
            <a:r>
              <a:rPr lang="en-IN" dirty="0"/>
              <a:t>Backward substitution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(2) in 1  T(n) = I+[1+T[n-2]] = 2+T[n-2]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(3) in 2   T(n)=2+[1+T[n-3]] = 3+T[n-3]</a:t>
            </a:r>
          </a:p>
          <a:p>
            <a:pPr marL="0" indent="0">
              <a:buNone/>
            </a:pPr>
            <a:r>
              <a:rPr lang="en-IN" dirty="0"/>
              <a:t>K+T[n-k]</a:t>
            </a:r>
          </a:p>
          <a:p>
            <a:pPr marL="0" indent="0">
              <a:buNone/>
            </a:pPr>
            <a:r>
              <a:rPr lang="en-IN" dirty="0"/>
              <a:t>When n-k=1 loop stop so k=n-1 substitute in </a:t>
            </a:r>
            <a:r>
              <a:rPr lang="en-IN" dirty="0" err="1"/>
              <a:t>eq</a:t>
            </a:r>
            <a:r>
              <a:rPr lang="en-IN" dirty="0"/>
              <a:t>(4)</a:t>
            </a:r>
          </a:p>
          <a:p>
            <a:pPr marL="0" indent="0">
              <a:buNone/>
            </a:pPr>
            <a:r>
              <a:rPr lang="en-IN" dirty="0"/>
              <a:t>n-1+T[n-[n-1]]]</a:t>
            </a:r>
          </a:p>
          <a:p>
            <a:pPr marL="0" indent="0">
              <a:buNone/>
            </a:pPr>
            <a:r>
              <a:rPr lang="en-IN" dirty="0"/>
              <a:t>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8A75694E-B28D-7FAF-B697-8471B5677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97214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229600" cy="640871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Function(n){</a:t>
            </a:r>
          </a:p>
          <a:p>
            <a:pPr marL="0" indent="0">
              <a:buNone/>
            </a:pPr>
            <a:r>
              <a:rPr lang="en-IN" dirty="0"/>
              <a:t>	if(n&gt;1)				T(1)</a:t>
            </a:r>
          </a:p>
          <a:p>
            <a:pPr marL="0" indent="0">
              <a:buNone/>
            </a:pPr>
            <a:r>
              <a:rPr lang="en-IN" dirty="0"/>
              <a:t>	return(function(n-1))		T(n-1)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T(n)=1+T(n-1)			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To find T(n-1) substitute  n-1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T(n-1)=1+T(n-2)			</a:t>
            </a:r>
            <a:r>
              <a:rPr lang="en-IN" dirty="0" err="1"/>
              <a:t>eq</a:t>
            </a:r>
            <a:r>
              <a:rPr lang="en-IN" dirty="0"/>
              <a:t>(2)</a:t>
            </a:r>
          </a:p>
          <a:p>
            <a:pPr marL="0" indent="0">
              <a:buNone/>
            </a:pPr>
            <a:r>
              <a:rPr lang="en-IN" dirty="0"/>
              <a:t>To find T(n-2) substitute  n-2 to all n in </a:t>
            </a:r>
            <a:r>
              <a:rPr lang="en-IN" dirty="0" err="1"/>
              <a:t>eq</a:t>
            </a:r>
            <a:r>
              <a:rPr lang="en-IN" dirty="0"/>
              <a:t>(1)</a:t>
            </a:r>
          </a:p>
          <a:p>
            <a:pPr marL="0" indent="0">
              <a:buNone/>
            </a:pPr>
            <a:r>
              <a:rPr lang="en-IN" dirty="0"/>
              <a:t>T(n-2)=1+T(n-3)			</a:t>
            </a:r>
            <a:r>
              <a:rPr lang="en-IN" dirty="0" err="1"/>
              <a:t>eq</a:t>
            </a:r>
            <a:r>
              <a:rPr lang="en-IN" dirty="0"/>
              <a:t>(3)</a:t>
            </a:r>
          </a:p>
          <a:p>
            <a:pPr marL="0" indent="0">
              <a:buNone/>
            </a:pPr>
            <a:r>
              <a:rPr lang="en-IN" dirty="0"/>
              <a:t>Backward substitution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(2) in 1  T(n) = I+[1+T[n-2]] = 2+T[n-2]</a:t>
            </a:r>
          </a:p>
          <a:p>
            <a:pPr marL="0" indent="0">
              <a:buNone/>
            </a:pPr>
            <a:r>
              <a:rPr lang="en-IN" dirty="0"/>
              <a:t>Substitute </a:t>
            </a:r>
            <a:r>
              <a:rPr lang="en-IN" dirty="0" err="1"/>
              <a:t>eq</a:t>
            </a:r>
            <a:r>
              <a:rPr lang="en-IN" dirty="0"/>
              <a:t>(3) in 2   T(n)=2+[1+T[n-3]] = 3+T[n-3]</a:t>
            </a:r>
          </a:p>
          <a:p>
            <a:pPr marL="0" indent="0">
              <a:buNone/>
            </a:pPr>
            <a:r>
              <a:rPr lang="en-IN" dirty="0"/>
              <a:t>K+T[n-k]</a:t>
            </a:r>
          </a:p>
          <a:p>
            <a:pPr marL="0" indent="0">
              <a:buNone/>
            </a:pPr>
            <a:r>
              <a:rPr lang="en-IN" dirty="0"/>
              <a:t>When n-k=1 loop stop so k=n-1 substitute in </a:t>
            </a:r>
            <a:r>
              <a:rPr lang="en-IN" dirty="0" err="1"/>
              <a:t>eq</a:t>
            </a:r>
            <a:r>
              <a:rPr lang="en-IN" dirty="0"/>
              <a:t>(4)</a:t>
            </a:r>
          </a:p>
          <a:p>
            <a:pPr marL="0" indent="0">
              <a:buNone/>
            </a:pPr>
            <a:r>
              <a:rPr lang="en-IN" dirty="0"/>
              <a:t>n-1+T[n-[n-1]]]</a:t>
            </a:r>
          </a:p>
          <a:p>
            <a:pPr marL="0" indent="0">
              <a:buNone/>
            </a:pPr>
            <a:r>
              <a:rPr lang="en-IN" dirty="0"/>
              <a:t>n</a:t>
            </a:r>
          </a:p>
          <a:p>
            <a:pPr marL="0" indent="0">
              <a:buNone/>
            </a:pPr>
            <a:r>
              <a:rPr lang="en-IN" dirty="0"/>
              <a:t>O(n)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C9DEDEB3-53D3-C737-8861-A930B67B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99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37551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T(n)=</a:t>
            </a:r>
            <a:r>
              <a:rPr lang="en-IN" dirty="0" err="1"/>
              <a:t>n+T</a:t>
            </a:r>
            <a:r>
              <a:rPr lang="en-IN" dirty="0"/>
              <a:t>(n-1)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33855BF-E539-E5FC-4FD3-66D7D6984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100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40960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Algorithms for computing the</a:t>
            </a:r>
            <a:br>
              <a:rPr lang="en-IN" dirty="0"/>
            </a:br>
            <a:r>
              <a:rPr lang="en-IN" dirty="0"/>
              <a:t>Factorial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32856"/>
            <a:ext cx="59401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int</a:t>
            </a:r>
            <a:r>
              <a:rPr lang="en-IN" dirty="0"/>
              <a:t> factorial (</a:t>
            </a:r>
            <a:r>
              <a:rPr lang="en-IN" dirty="0" err="1"/>
              <a:t>int</a:t>
            </a:r>
            <a:r>
              <a:rPr lang="en-IN" dirty="0"/>
              <a:t> n)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	If (n &lt;= 1)</a:t>
            </a:r>
          </a:p>
          <a:p>
            <a:r>
              <a:rPr lang="en-IN" dirty="0"/>
              <a:t>		return 1;</a:t>
            </a:r>
          </a:p>
          <a:p>
            <a:r>
              <a:rPr lang="en-IN" dirty="0"/>
              <a:t>	else</a:t>
            </a:r>
          </a:p>
          <a:p>
            <a:r>
              <a:rPr lang="en-IN" dirty="0"/>
              <a:t>		return n * factorial(n-1);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47456" y="1717357"/>
            <a:ext cx="48965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int</a:t>
            </a:r>
            <a:r>
              <a:rPr lang="en-IN" dirty="0"/>
              <a:t> factorial (</a:t>
            </a:r>
            <a:r>
              <a:rPr lang="en-IN" dirty="0" err="1"/>
              <a:t>int</a:t>
            </a:r>
            <a:r>
              <a:rPr lang="en-IN" dirty="0"/>
              <a:t> n)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	if (n&lt;=1)</a:t>
            </a:r>
          </a:p>
          <a:p>
            <a:r>
              <a:rPr lang="en-IN" dirty="0"/>
              <a:t>		return 1;</a:t>
            </a:r>
          </a:p>
          <a:p>
            <a:r>
              <a:rPr lang="en-IN" dirty="0"/>
              <a:t>	else {</a:t>
            </a:r>
          </a:p>
          <a:p>
            <a:r>
              <a:rPr lang="en-IN" dirty="0"/>
              <a:t>		fact = 1;</a:t>
            </a:r>
          </a:p>
          <a:p>
            <a:r>
              <a:rPr lang="nn-NO" dirty="0"/>
              <a:t>		for (k=2; k&lt;=n; k++)</a:t>
            </a:r>
          </a:p>
          <a:p>
            <a:r>
              <a:rPr lang="en-IN" dirty="0"/>
              <a:t>		fact =fact* k;</a:t>
            </a:r>
          </a:p>
          <a:p>
            <a:r>
              <a:rPr lang="en-IN" dirty="0"/>
              <a:t>		return fact;</a:t>
            </a:r>
          </a:p>
          <a:p>
            <a:r>
              <a:rPr lang="en-IN" dirty="0"/>
              <a:t>		}</a:t>
            </a:r>
          </a:p>
          <a:p>
            <a:r>
              <a:rPr lang="en-IN" dirty="0"/>
              <a:t>	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F946A631-C3A5-C930-3594-93D8C5D1E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101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62564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Theorem</a:t>
            </a:r>
          </a:p>
        </p:txBody>
      </p:sp>
      <p:sp>
        <p:nvSpPr>
          <p:cNvPr id="10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Let T(n) be </a:t>
            </a:r>
            <a:r>
              <a:rPr lang="en-US" sz="2800" u="sng" dirty="0"/>
              <a:t>a monotonically increasing</a:t>
            </a:r>
            <a:r>
              <a:rPr lang="en-US" sz="2800" dirty="0"/>
              <a:t> function that satisfies</a:t>
            </a:r>
          </a:p>
          <a:p>
            <a:pPr>
              <a:buFont typeface="Arial" charset="0"/>
              <a:buNone/>
            </a:pPr>
            <a:r>
              <a:rPr lang="en-US" sz="2800" dirty="0"/>
              <a:t>                    T(n) = a T(n/b) + f(n)</a:t>
            </a:r>
          </a:p>
          <a:p>
            <a:pPr>
              <a:buFont typeface="Arial" charset="0"/>
              <a:buNone/>
            </a:pPr>
            <a:r>
              <a:rPr lang="en-US" sz="2800" dirty="0"/>
              <a:t>                    T(1) = c</a:t>
            </a:r>
          </a:p>
          <a:p>
            <a:pPr>
              <a:buFont typeface="Arial" charset="0"/>
              <a:buNone/>
            </a:pPr>
            <a:r>
              <a:rPr lang="en-US" sz="2800" dirty="0"/>
              <a:t>	where a </a:t>
            </a:r>
            <a:r>
              <a:rPr lang="en-US" sz="2800" dirty="0">
                <a:sym typeface="Symbol" pitchFamily="18" charset="2"/>
              </a:rPr>
              <a:t> </a:t>
            </a:r>
            <a:r>
              <a:rPr lang="en-US" sz="2800" dirty="0"/>
              <a:t>1, b</a:t>
            </a:r>
            <a:r>
              <a:rPr lang="en-US" sz="2800" dirty="0">
                <a:sym typeface="Symbol" pitchFamily="18" charset="2"/>
              </a:rPr>
              <a:t>  </a:t>
            </a:r>
            <a:r>
              <a:rPr lang="en-US" sz="2800" dirty="0"/>
              <a:t>2, c&gt;0.  If f(n) is </a:t>
            </a:r>
            <a:r>
              <a:rPr lang="en-US" sz="2800" dirty="0">
                <a:sym typeface="Symbol" pitchFamily="18" charset="2"/>
              </a:rPr>
              <a:t></a:t>
            </a:r>
            <a:r>
              <a:rPr lang="en-US" sz="2800" dirty="0"/>
              <a:t>(</a:t>
            </a:r>
            <a:r>
              <a:rPr lang="en-US" sz="2800" dirty="0" err="1"/>
              <a:t>n</a:t>
            </a:r>
            <a:r>
              <a:rPr lang="en-US" sz="2800" baseline="30000" dirty="0" err="1"/>
              <a:t>d</a:t>
            </a:r>
            <a:r>
              <a:rPr lang="en-US" sz="2800" dirty="0"/>
              <a:t>) where d</a:t>
            </a:r>
            <a:r>
              <a:rPr lang="en-US" sz="2800" dirty="0">
                <a:sym typeface="Symbol" pitchFamily="18" charset="2"/>
              </a:rPr>
              <a:t>  </a:t>
            </a:r>
            <a:r>
              <a:rPr lang="en-US" sz="2800" dirty="0"/>
              <a:t>0 then</a:t>
            </a:r>
          </a:p>
          <a:p>
            <a:pPr>
              <a:buFont typeface="Arial" charset="0"/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74763" y="4572000"/>
          <a:ext cx="672623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26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53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8097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91444" marR="91444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if a &lt;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sz="2400" b="0" baseline="30000" dirty="0" err="1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400" b="0" baseline="30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T(n)</a:t>
                      </a:r>
                      <a:r>
                        <a:rPr lang="en-US" sz="2400" dirty="0"/>
                        <a:t> =</a:t>
                      </a:r>
                    </a:p>
                  </a:txBody>
                  <a:tcPr marL="91444" marR="91444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If a =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sz="2400" b="0" baseline="30000" dirty="0" err="1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400" b="0" baseline="30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91444" marR="91444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if </a:t>
                      </a: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/>
                        </a:rPr>
                        <a:t>a &gt; </a:t>
                      </a:r>
                      <a:r>
                        <a:rPr kumimoji="0" lang="en-U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/>
                        </a:rPr>
                        <a:t>b</a:t>
                      </a:r>
                      <a:r>
                        <a:rPr kumimoji="0" lang="en-US" sz="2400" b="0" i="0" u="none" strike="noStrike" kern="1200" cap="none" spc="0" normalizeH="0" baseline="3000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/>
                        </a:rPr>
                        <a:t>d</a:t>
                      </a:r>
                      <a:endParaRPr lang="en-US" sz="2400" b="0" baseline="30000" dirty="0">
                        <a:solidFill>
                          <a:schemeClr val="tx1"/>
                        </a:solidFill>
                      </a:endParaRPr>
                    </a:p>
                  </a:txBody>
                  <a:tcPr marL="91444" marR="91444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Left Brace 4"/>
          <p:cNvSpPr/>
          <p:nvPr/>
        </p:nvSpPr>
        <p:spPr>
          <a:xfrm>
            <a:off x="3733800" y="4572000"/>
            <a:ext cx="381000" cy="121920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026" name="Object 26"/>
          <p:cNvGraphicFramePr>
            <a:graphicFrameLocks noChangeAspect="1"/>
          </p:cNvGraphicFramePr>
          <p:nvPr/>
        </p:nvGraphicFramePr>
        <p:xfrm>
          <a:off x="4419600" y="5562600"/>
          <a:ext cx="114141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Formula" r:id="rId3" imgW="576720" imgH="196920" progId="Equation.Ribbit">
                  <p:embed/>
                </p:oleObj>
              </mc:Choice>
              <mc:Fallback>
                <p:oleObj name="Formula" r:id="rId3" imgW="576720" imgH="196920" progId="Equation.Ribbi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562600"/>
                        <a:ext cx="1141413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7"/>
          <p:cNvGraphicFramePr>
            <a:graphicFrameLocks noChangeAspect="1"/>
          </p:cNvGraphicFramePr>
          <p:nvPr/>
        </p:nvGraphicFramePr>
        <p:xfrm>
          <a:off x="4400550" y="5029200"/>
          <a:ext cx="139065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Formula" r:id="rId5" imgW="702360" imgH="196920" progId="Equation.Ribbit">
                  <p:embed/>
                </p:oleObj>
              </mc:Choice>
              <mc:Fallback>
                <p:oleObj name="Formula" r:id="rId5" imgW="702360" imgH="196920" progId="Equation.Ribbi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550" y="5029200"/>
                        <a:ext cx="1390650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28"/>
          <p:cNvGraphicFramePr>
            <a:graphicFrameLocks noChangeAspect="1"/>
          </p:cNvGraphicFramePr>
          <p:nvPr/>
        </p:nvGraphicFramePr>
        <p:xfrm>
          <a:off x="4368800" y="4487863"/>
          <a:ext cx="7366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Formula" r:id="rId7" imgW="371160" imgH="196920" progId="Equation.Ribbit">
                  <p:embed/>
                </p:oleObj>
              </mc:Choice>
              <mc:Fallback>
                <p:oleObj name="Formula" r:id="rId7" imgW="371160" imgH="196920" progId="Equation.Ribbi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800" y="4487863"/>
                        <a:ext cx="73660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CB20CE1B-A0D0-70E2-D30B-E0B8EBCB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102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59003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Review: Analysis of Merge Sort</a:t>
            </a:r>
          </a:p>
        </p:txBody>
      </p:sp>
      <p:sp>
        <p:nvSpPr>
          <p:cNvPr id="73933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defTabSz="6338888">
              <a:buFont typeface="Times New Roman" charset="0"/>
              <a:buNone/>
              <a:tabLst>
                <a:tab pos="2114550" algn="l"/>
                <a:tab pos="4110038" algn="l"/>
              </a:tabLst>
            </a:pPr>
            <a:r>
              <a:rPr lang="en-US" u="sng"/>
              <a:t>Statement			Effort</a:t>
            </a:r>
            <a:endParaRPr lang="en-US"/>
          </a:p>
          <a:p>
            <a:pPr defTabSz="6338888">
              <a:buFont typeface="Times New Roman" charset="0"/>
              <a:buNone/>
              <a:tabLst>
                <a:tab pos="2114550" algn="l"/>
                <a:tab pos="4110038" algn="l"/>
              </a:tabLst>
            </a:pPr>
            <a:endParaRPr lang="en-US"/>
          </a:p>
          <a:p>
            <a:pPr defTabSz="6338888">
              <a:buFont typeface="Times New Roman" charset="0"/>
              <a:buNone/>
              <a:tabLst>
                <a:tab pos="2114550" algn="l"/>
                <a:tab pos="4110038" algn="l"/>
              </a:tabLst>
            </a:pPr>
            <a:endParaRPr lang="en-US"/>
          </a:p>
          <a:p>
            <a:pPr defTabSz="6338888">
              <a:buFont typeface="Times New Roman" charset="0"/>
              <a:buNone/>
              <a:tabLst>
                <a:tab pos="2114550" algn="l"/>
                <a:tab pos="4110038" algn="l"/>
              </a:tabLst>
            </a:pPr>
            <a:endParaRPr lang="en-US"/>
          </a:p>
          <a:p>
            <a:pPr defTabSz="6338888">
              <a:buFont typeface="Times New Roman" charset="0"/>
              <a:buNone/>
              <a:tabLst>
                <a:tab pos="2114550" algn="l"/>
                <a:tab pos="4110038" algn="l"/>
              </a:tabLst>
            </a:pPr>
            <a:endParaRPr lang="en-US"/>
          </a:p>
          <a:p>
            <a:pPr defTabSz="6338888">
              <a:lnSpc>
                <a:spcPct val="120000"/>
              </a:lnSpc>
              <a:tabLst>
                <a:tab pos="2114550" algn="l"/>
                <a:tab pos="4110038" algn="l"/>
              </a:tabLst>
            </a:pPr>
            <a:r>
              <a:rPr lang="en-US" sz="2800"/>
              <a:t>So T(n) = 	</a:t>
            </a:r>
            <a:r>
              <a:rPr lang="en-US" sz="2800">
                <a:sym typeface="Symbol" pitchFamily="18" charset="2"/>
              </a:rPr>
              <a:t>(1) when n = 1, and 	             	</a:t>
            </a:r>
            <a:r>
              <a:rPr lang="en-US" sz="2800"/>
              <a:t>2T(n/2) + </a:t>
            </a:r>
            <a:r>
              <a:rPr lang="en-US" sz="2800">
                <a:sym typeface="Symbol" pitchFamily="18" charset="2"/>
              </a:rPr>
              <a:t>(n) when n &gt; 1</a:t>
            </a:r>
          </a:p>
          <a:p>
            <a:pPr defTabSz="6338888">
              <a:lnSpc>
                <a:spcPct val="120000"/>
              </a:lnSpc>
              <a:tabLst>
                <a:tab pos="2114550" algn="l"/>
                <a:tab pos="4110038" algn="l"/>
              </a:tabLst>
            </a:pPr>
            <a:r>
              <a:rPr lang="en-US" sz="2800">
                <a:sym typeface="Symbol" pitchFamily="18" charset="2"/>
              </a:rPr>
              <a:t>This expression is a </a:t>
            </a:r>
            <a:r>
              <a:rPr lang="en-US" sz="2800" i="1">
                <a:solidFill>
                  <a:schemeClr val="tx2"/>
                </a:solidFill>
                <a:sym typeface="Symbol" pitchFamily="18" charset="2"/>
              </a:rPr>
              <a:t>recurrence</a:t>
            </a:r>
            <a:endParaRPr lang="en-US" sz="2800">
              <a:solidFill>
                <a:schemeClr val="tx2"/>
              </a:solidFill>
              <a:sym typeface="Symbol" pitchFamily="18" charset="2"/>
            </a:endParaRPr>
          </a:p>
        </p:txBody>
      </p:sp>
      <p:sp>
        <p:nvSpPr>
          <p:cNvPr id="739332" name="Rectangle 1028"/>
          <p:cNvSpPr>
            <a:spLocks noChangeArrowheads="1"/>
          </p:cNvSpPr>
          <p:nvPr/>
        </p:nvSpPr>
        <p:spPr bwMode="auto">
          <a:xfrm>
            <a:off x="457200" y="2117725"/>
            <a:ext cx="822960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tabLst>
                <a:tab pos="6627813" algn="l"/>
              </a:tabLst>
            </a:pPr>
            <a:r>
              <a:rPr lang="en-US" b="1" i="0">
                <a:latin typeface="Courier New" pitchFamily="49" charset="0"/>
              </a:rPr>
              <a:t>MergeSort(A, left, right) {	T(n)</a:t>
            </a:r>
          </a:p>
          <a:p>
            <a:pPr>
              <a:tabLst>
                <a:tab pos="6627813" algn="l"/>
              </a:tabLst>
            </a:pPr>
            <a:r>
              <a:rPr lang="en-US" b="1" i="0">
                <a:latin typeface="Courier New" pitchFamily="49" charset="0"/>
              </a:rPr>
              <a:t>   if (left &lt; right) {	</a:t>
            </a:r>
            <a:r>
              <a:rPr lang="en-US" b="1" i="0">
                <a:latin typeface="Courier New" pitchFamily="49" charset="0"/>
                <a:sym typeface="Symbol" pitchFamily="18" charset="2"/>
              </a:rPr>
              <a:t>(1)</a:t>
            </a:r>
            <a:endParaRPr lang="en-US" b="1" i="0">
              <a:latin typeface="Courier New" pitchFamily="49" charset="0"/>
            </a:endParaRPr>
          </a:p>
          <a:p>
            <a:pPr>
              <a:tabLst>
                <a:tab pos="6627813" algn="l"/>
              </a:tabLst>
            </a:pPr>
            <a:r>
              <a:rPr lang="en-US" b="1" i="0">
                <a:latin typeface="Courier New" pitchFamily="49" charset="0"/>
              </a:rPr>
              <a:t>      mid = floor((left + right) / 2);	   </a:t>
            </a:r>
            <a:r>
              <a:rPr lang="en-US" b="1" i="0">
                <a:latin typeface="Courier New" pitchFamily="49" charset="0"/>
                <a:sym typeface="Symbol" pitchFamily="18" charset="2"/>
              </a:rPr>
              <a:t>(1)</a:t>
            </a:r>
            <a:endParaRPr lang="en-US" b="1" i="0">
              <a:latin typeface="Courier New" pitchFamily="49" charset="0"/>
            </a:endParaRPr>
          </a:p>
          <a:p>
            <a:pPr>
              <a:tabLst>
                <a:tab pos="6627813" algn="l"/>
              </a:tabLst>
            </a:pPr>
            <a:r>
              <a:rPr lang="en-US" b="1" i="0">
                <a:latin typeface="Courier New" pitchFamily="49" charset="0"/>
              </a:rPr>
              <a:t>      MergeSort(A, left, mid);	   T(n/2)</a:t>
            </a:r>
          </a:p>
          <a:p>
            <a:pPr>
              <a:tabLst>
                <a:tab pos="6627813" algn="l"/>
              </a:tabLst>
            </a:pPr>
            <a:r>
              <a:rPr lang="en-US" b="1" i="0">
                <a:latin typeface="Courier New" pitchFamily="49" charset="0"/>
              </a:rPr>
              <a:t>      MergeSort(A, mid+1, right);	   T(n/2)</a:t>
            </a:r>
          </a:p>
          <a:p>
            <a:pPr>
              <a:tabLst>
                <a:tab pos="6627813" algn="l"/>
              </a:tabLst>
            </a:pPr>
            <a:r>
              <a:rPr lang="en-US" b="1" i="0">
                <a:latin typeface="Courier New" pitchFamily="49" charset="0"/>
              </a:rPr>
              <a:t>      Merge(A, left, mid, right);	   </a:t>
            </a:r>
            <a:r>
              <a:rPr lang="en-US" b="1" i="0">
                <a:latin typeface="Courier New" pitchFamily="49" charset="0"/>
                <a:sym typeface="Symbol" pitchFamily="18" charset="2"/>
              </a:rPr>
              <a:t>(n)</a:t>
            </a:r>
            <a:endParaRPr lang="en-US" b="1" i="0">
              <a:latin typeface="Courier New" pitchFamily="49" charset="0"/>
            </a:endParaRPr>
          </a:p>
          <a:p>
            <a:pPr>
              <a:tabLst>
                <a:tab pos="6627813" algn="l"/>
              </a:tabLst>
            </a:pPr>
            <a:r>
              <a:rPr lang="en-US" b="1" i="0">
                <a:latin typeface="Courier New" pitchFamily="49" charset="0"/>
              </a:rPr>
              <a:t>   }</a:t>
            </a:r>
          </a:p>
          <a:p>
            <a:pPr>
              <a:tabLst>
                <a:tab pos="6627813" algn="l"/>
              </a:tabLst>
            </a:pPr>
            <a:r>
              <a:rPr lang="en-US" b="1" i="0">
                <a:latin typeface="Courier New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B7A67B83-09F7-9C75-7F23-532F5BAE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103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57361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Theorem: Example 1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057400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Let T(n) = T(n/2) + ½ n</a:t>
            </a:r>
            <a:r>
              <a:rPr lang="en-US" sz="2000" baseline="30000" dirty="0"/>
              <a:t>2</a:t>
            </a:r>
            <a:r>
              <a:rPr lang="en-US" sz="2000" dirty="0"/>
              <a:t> + n.  What are the parameters?</a:t>
            </a:r>
          </a:p>
          <a:p>
            <a:pPr>
              <a:buFont typeface="Arial" charset="0"/>
              <a:buNone/>
            </a:pPr>
            <a:r>
              <a:rPr lang="en-US" sz="2000" dirty="0"/>
              <a:t>	          a =</a:t>
            </a:r>
          </a:p>
          <a:p>
            <a:pPr>
              <a:buFont typeface="Arial" charset="0"/>
              <a:buNone/>
            </a:pPr>
            <a:r>
              <a:rPr lang="en-US" sz="2000" dirty="0"/>
              <a:t>	          b =</a:t>
            </a:r>
          </a:p>
          <a:p>
            <a:pPr>
              <a:buFont typeface="Arial" charset="0"/>
              <a:buNone/>
            </a:pPr>
            <a:r>
              <a:rPr lang="en-US" sz="2000" dirty="0"/>
              <a:t>	          d =</a:t>
            </a:r>
          </a:p>
          <a:p>
            <a:pPr>
              <a:buFont typeface="Arial" charset="0"/>
              <a:buNone/>
            </a:pPr>
            <a:r>
              <a:rPr lang="en-US" sz="2000" dirty="0"/>
              <a:t>	Therefore, which condition applies?</a:t>
            </a:r>
            <a:r>
              <a:rPr lang="en-US" dirty="0"/>
              <a:t>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1905000" y="19812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1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905000" y="22860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2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905000" y="26670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2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914400" y="3657600"/>
            <a:ext cx="6400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1 &lt; 2</a:t>
            </a:r>
            <a:r>
              <a:rPr lang="en-US" sz="2000" baseline="30000" dirty="0">
                <a:latin typeface="+mn-lt"/>
                <a:cs typeface="+mn-cs"/>
              </a:rPr>
              <a:t>2</a:t>
            </a:r>
            <a:r>
              <a:rPr lang="en-US" sz="2000" dirty="0">
                <a:latin typeface="+mn-lt"/>
                <a:cs typeface="+mn-cs"/>
              </a:rPr>
              <a:t>, case 1 applies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533400" y="4191000"/>
            <a:ext cx="8001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  <a:cs typeface="+mn-cs"/>
              </a:rPr>
              <a:t>We conclude that</a:t>
            </a:r>
          </a:p>
          <a:p>
            <a:pPr marL="342900" indent="-342900" algn="ctr" eaLnBrk="0" hangingPunct="0">
              <a:spcBef>
                <a:spcPct val="20000"/>
              </a:spcBef>
              <a:defRPr/>
            </a:pPr>
            <a:r>
              <a:rPr lang="en-US" sz="2800" dirty="0">
                <a:latin typeface="+mn-lt"/>
                <a:cs typeface="+mn-cs"/>
              </a:rPr>
              <a:t>T(n) </a:t>
            </a:r>
            <a:r>
              <a:rPr lang="en-US" sz="2800" dirty="0">
                <a:latin typeface="+mn-lt"/>
                <a:cs typeface="+mn-cs"/>
                <a:sym typeface="Symbol"/>
              </a:rPr>
              <a:t> </a:t>
            </a:r>
            <a:r>
              <a:rPr lang="en-US" sz="2800" dirty="0">
                <a:latin typeface="+mn-lt"/>
                <a:cs typeface="+mn-cs"/>
              </a:rPr>
              <a:t>(</a:t>
            </a:r>
            <a:r>
              <a:rPr lang="en-US" sz="2800" dirty="0" err="1">
                <a:latin typeface="+mn-lt"/>
                <a:cs typeface="+mn-cs"/>
              </a:rPr>
              <a:t>n</a:t>
            </a:r>
            <a:r>
              <a:rPr lang="en-US" sz="2800" baseline="30000" dirty="0" err="1">
                <a:latin typeface="+mn-lt"/>
                <a:cs typeface="+mn-cs"/>
              </a:rPr>
              <a:t>d</a:t>
            </a:r>
            <a:r>
              <a:rPr lang="en-US" sz="2800" dirty="0">
                <a:latin typeface="+mn-lt"/>
                <a:cs typeface="+mn-cs"/>
              </a:rPr>
              <a:t>) = </a:t>
            </a:r>
            <a:r>
              <a:rPr lang="en-US" sz="2800" dirty="0">
                <a:latin typeface="+mn-lt"/>
                <a:sym typeface="Symbol"/>
              </a:rPr>
              <a:t> </a:t>
            </a:r>
            <a:r>
              <a:rPr lang="en-US" sz="2800" dirty="0">
                <a:latin typeface="+mn-lt"/>
                <a:cs typeface="+mn-cs"/>
              </a:rPr>
              <a:t>(n</a:t>
            </a:r>
            <a:r>
              <a:rPr lang="en-US" sz="2800" baseline="30000" dirty="0">
                <a:latin typeface="+mn-lt"/>
                <a:cs typeface="+mn-cs"/>
              </a:rPr>
              <a:t>2</a:t>
            </a:r>
            <a:r>
              <a:rPr lang="en-US" sz="2800" dirty="0">
                <a:latin typeface="+mn-lt"/>
                <a:cs typeface="+mn-cs"/>
              </a:rPr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268134BC-2A4E-00A4-4084-76217157D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104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52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Theorem: Example 2</a:t>
            </a:r>
          </a:p>
        </p:txBody>
      </p:sp>
      <p:sp>
        <p:nvSpPr>
          <p:cNvPr id="3076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057400"/>
          </a:xfrm>
        </p:spPr>
        <p:txBody>
          <a:bodyPr>
            <a:normAutofit lnSpcReduction="10000"/>
          </a:bodyPr>
          <a:lstStyle/>
          <a:p>
            <a:r>
              <a:rPr lang="en-US" sz="2000"/>
              <a:t>Let T(n)= 2 T(n/4) + </a:t>
            </a:r>
            <a:r>
              <a:rPr lang="en-US" sz="2000">
                <a:sym typeface="Symbol" pitchFamily="18" charset="2"/>
              </a:rPr>
              <a:t></a:t>
            </a:r>
            <a:r>
              <a:rPr lang="en-US" sz="2000"/>
              <a:t>n + 42.  What are the parameters?</a:t>
            </a:r>
          </a:p>
          <a:p>
            <a:pPr>
              <a:buFont typeface="Arial" charset="0"/>
              <a:buNone/>
            </a:pPr>
            <a:r>
              <a:rPr lang="en-US" sz="2000"/>
              <a:t>	          a =</a:t>
            </a:r>
          </a:p>
          <a:p>
            <a:pPr>
              <a:buFont typeface="Arial" charset="0"/>
              <a:buNone/>
            </a:pPr>
            <a:r>
              <a:rPr lang="en-US" sz="2000"/>
              <a:t>	          b =</a:t>
            </a:r>
          </a:p>
          <a:p>
            <a:pPr>
              <a:buFont typeface="Arial" charset="0"/>
              <a:buNone/>
            </a:pPr>
            <a:r>
              <a:rPr lang="en-US" sz="2000"/>
              <a:t>	          d =</a:t>
            </a:r>
          </a:p>
          <a:p>
            <a:pPr>
              <a:buFont typeface="Arial" charset="0"/>
              <a:buNone/>
            </a:pPr>
            <a:r>
              <a:rPr lang="en-US" sz="2000"/>
              <a:t>	Therefore, which condition applies?</a:t>
            </a:r>
            <a:r>
              <a:rPr lang="en-US"/>
              <a:t>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1905000" y="19812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2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905000" y="22860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4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905000" y="26670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1/2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914400" y="3657600"/>
            <a:ext cx="6400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2 = 4</a:t>
            </a:r>
            <a:r>
              <a:rPr lang="en-US" sz="2000" baseline="30000" dirty="0">
                <a:latin typeface="+mn-lt"/>
                <a:cs typeface="+mn-cs"/>
              </a:rPr>
              <a:t>1/2</a:t>
            </a:r>
            <a:r>
              <a:rPr lang="en-US" sz="2000" dirty="0">
                <a:latin typeface="+mn-lt"/>
                <a:cs typeface="+mn-cs"/>
              </a:rPr>
              <a:t>, case 2 applies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533400" y="4191000"/>
            <a:ext cx="8001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  <a:cs typeface="+mn-cs"/>
              </a:rPr>
              <a:t>We conclude that</a:t>
            </a:r>
          </a:p>
        </p:txBody>
      </p:sp>
      <p:graphicFrame>
        <p:nvGraphicFramePr>
          <p:cNvPr id="3074" name="Object 9"/>
          <p:cNvGraphicFramePr>
            <a:graphicFrameLocks noChangeAspect="1"/>
          </p:cNvGraphicFramePr>
          <p:nvPr/>
        </p:nvGraphicFramePr>
        <p:xfrm>
          <a:off x="2578100" y="4724400"/>
          <a:ext cx="39751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Formula" r:id="rId3" imgW="2005560" imgH="190800" progId="Equation.Ribbit">
                  <p:embed/>
                </p:oleObj>
              </mc:Choice>
              <mc:Fallback>
                <p:oleObj name="Formula" r:id="rId3" imgW="2005560" imgH="190800" progId="Equation.Ribbi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4724400"/>
                        <a:ext cx="39751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70BD6AAC-5CA3-C414-770B-40332FB5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105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348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Theorem: Example 3</a:t>
            </a:r>
          </a:p>
        </p:txBody>
      </p:sp>
      <p:sp>
        <p:nvSpPr>
          <p:cNvPr id="4100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057400"/>
          </a:xfrm>
        </p:spPr>
        <p:txBody>
          <a:bodyPr>
            <a:normAutofit lnSpcReduction="10000"/>
          </a:bodyPr>
          <a:lstStyle/>
          <a:p>
            <a:r>
              <a:rPr lang="en-US" sz="2000"/>
              <a:t>Let T(n)= 3 T(n/2) + </a:t>
            </a:r>
            <a:r>
              <a:rPr lang="en-US" sz="2000">
                <a:sym typeface="Symbol" pitchFamily="18" charset="2"/>
              </a:rPr>
              <a:t>3/4</a:t>
            </a:r>
            <a:r>
              <a:rPr lang="en-US" sz="2000"/>
              <a:t>n + 1.  What are the parameters?</a:t>
            </a:r>
          </a:p>
          <a:p>
            <a:pPr>
              <a:buFont typeface="Arial" charset="0"/>
              <a:buNone/>
            </a:pPr>
            <a:r>
              <a:rPr lang="en-US" sz="2000"/>
              <a:t>	          a =</a:t>
            </a:r>
          </a:p>
          <a:p>
            <a:pPr>
              <a:buFont typeface="Arial" charset="0"/>
              <a:buNone/>
            </a:pPr>
            <a:r>
              <a:rPr lang="en-US" sz="2000"/>
              <a:t>	          b =</a:t>
            </a:r>
          </a:p>
          <a:p>
            <a:pPr>
              <a:buFont typeface="Arial" charset="0"/>
              <a:buNone/>
            </a:pPr>
            <a:r>
              <a:rPr lang="en-US" sz="2000"/>
              <a:t>	          d =</a:t>
            </a:r>
          </a:p>
          <a:p>
            <a:pPr>
              <a:buFont typeface="Arial" charset="0"/>
              <a:buNone/>
            </a:pPr>
            <a:r>
              <a:rPr lang="en-US" sz="2000"/>
              <a:t>	Therefore, which condition applies?</a:t>
            </a:r>
            <a:r>
              <a:rPr lang="en-US"/>
              <a:t>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1905000" y="19812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3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905000" y="22860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2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905000" y="26670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1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914400" y="3657600"/>
            <a:ext cx="6400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2000" dirty="0">
                <a:latin typeface="+mn-lt"/>
                <a:cs typeface="+mn-cs"/>
              </a:rPr>
              <a:t>3 &gt; 2</a:t>
            </a:r>
            <a:r>
              <a:rPr lang="en-US" sz="2000" baseline="30000" dirty="0">
                <a:latin typeface="+mn-lt"/>
                <a:cs typeface="+mn-cs"/>
              </a:rPr>
              <a:t>1</a:t>
            </a:r>
            <a:r>
              <a:rPr lang="en-US" sz="2000" dirty="0">
                <a:latin typeface="+mn-lt"/>
                <a:cs typeface="+mn-cs"/>
              </a:rPr>
              <a:t>, case 3 applies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533400" y="4191000"/>
            <a:ext cx="8001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  <a:cs typeface="+mn-cs"/>
              </a:rPr>
              <a:t>We conclude that</a:t>
            </a:r>
          </a:p>
        </p:txBody>
      </p:sp>
      <p:graphicFrame>
        <p:nvGraphicFramePr>
          <p:cNvPr id="4098" name="Object 11"/>
          <p:cNvGraphicFramePr>
            <a:graphicFrameLocks noChangeAspect="1"/>
          </p:cNvGraphicFramePr>
          <p:nvPr/>
        </p:nvGraphicFramePr>
        <p:xfrm>
          <a:off x="2895600" y="4572000"/>
          <a:ext cx="35179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Formula" r:id="rId3" imgW="1774440" imgH="190800" progId="Equation.Ribbit">
                  <p:embed/>
                </p:oleObj>
              </mc:Choice>
              <mc:Fallback>
                <p:oleObj name="Formula" r:id="rId3" imgW="1774440" imgH="190800" progId="Equation.Ribbi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2000"/>
                        <a:ext cx="35179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CDFED830-E235-70BF-56B3-582942281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480C-3906-4F97-90C0-5DC7E2EFDDF7}" type="slidenum">
              <a:rPr lang="en-IN" smtClean="0"/>
              <a:t>106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21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2430</TotalTime>
  <Words>798</Words>
  <Application>Microsoft Office PowerPoint</Application>
  <PresentationFormat>On-screen Show (4:3)</PresentationFormat>
  <Paragraphs>1326</Paragraphs>
  <Slides>106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106</vt:i4>
      </vt:variant>
    </vt:vector>
  </HeadingPairs>
  <TitlesOfParts>
    <vt:vector size="109" baseType="lpstr">
      <vt:lpstr>Office Theme</vt:lpstr>
      <vt:lpstr>Paint Shop Pro Image</vt:lpstr>
      <vt:lpstr>Formula</vt:lpstr>
      <vt:lpstr>Iterative Algorithm Analysis</vt:lpstr>
      <vt:lpstr>PowerPoint Presentation</vt:lpstr>
      <vt:lpstr>Algorithms for computing the Factorial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Algorithms for computing the Factorial</vt:lpstr>
      <vt:lpstr>Master Theorem</vt:lpstr>
      <vt:lpstr>Review: Analysis of Merge Sort</vt:lpstr>
      <vt:lpstr>Master Theorem: Example 1</vt:lpstr>
      <vt:lpstr>Master Theorem: Example 2</vt:lpstr>
      <vt:lpstr>Master Theorem: Example 3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 Analysis</dc:title>
  <dc:creator>Admin</dc:creator>
  <cp:lastModifiedBy>HP</cp:lastModifiedBy>
  <cp:revision>76</cp:revision>
  <dcterms:created xsi:type="dcterms:W3CDTF">2019-01-07T17:33:49Z</dcterms:created>
  <dcterms:modified xsi:type="dcterms:W3CDTF">2023-02-28T13:51:51Z</dcterms:modified>
</cp:coreProperties>
</file>