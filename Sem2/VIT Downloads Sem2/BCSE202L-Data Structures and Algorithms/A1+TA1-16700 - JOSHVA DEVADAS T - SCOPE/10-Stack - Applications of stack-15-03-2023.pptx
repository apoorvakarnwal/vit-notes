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303" r:id="rId3"/>
    <p:sldId id="293" r:id="rId4"/>
    <p:sldId id="295" r:id="rId5"/>
    <p:sldId id="296" r:id="rId6"/>
    <p:sldId id="257" r:id="rId7"/>
    <p:sldId id="259" r:id="rId8"/>
    <p:sldId id="297" r:id="rId9"/>
    <p:sldId id="300" r:id="rId10"/>
    <p:sldId id="298" r:id="rId11"/>
    <p:sldId id="299" r:id="rId12"/>
    <p:sldId id="260" r:id="rId13"/>
    <p:sldId id="261" r:id="rId14"/>
    <p:sldId id="262" r:id="rId15"/>
    <p:sldId id="263" r:id="rId16"/>
    <p:sldId id="264" r:id="rId17"/>
    <p:sldId id="266" r:id="rId18"/>
    <p:sldId id="285" r:id="rId19"/>
    <p:sldId id="294" r:id="rId20"/>
    <p:sldId id="304" r:id="rId21"/>
    <p:sldId id="305" r:id="rId22"/>
    <p:sldId id="301" r:id="rId23"/>
    <p:sldId id="274" r:id="rId24"/>
    <p:sldId id="276" r:id="rId25"/>
    <p:sldId id="286" r:id="rId26"/>
    <p:sldId id="302" r:id="rId27"/>
    <p:sldId id="287" r:id="rId28"/>
    <p:sldId id="291" r:id="rId29"/>
    <p:sldId id="289" r:id="rId30"/>
    <p:sldId id="290" r:id="rId31"/>
    <p:sldId id="288" r:id="rId32"/>
    <p:sldId id="292" r:id="rId33"/>
    <p:sldId id="306" r:id="rId34"/>
    <p:sldId id="307" r:id="rId35"/>
    <p:sldId id="279" r:id="rId36"/>
    <p:sldId id="278" r:id="rId37"/>
  </p:sldIdLst>
  <p:sldSz cx="9144000" cy="6858000" type="screen4x3"/>
  <p:notesSz cx="6950075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1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defTabSz="925513">
              <a:defRPr sz="1200" i="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2525"/>
            <a:ext cx="30114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 i="0"/>
            </a:lvl1pPr>
          </a:lstStyle>
          <a:p>
            <a:fld id="{48ED5EA6-6E0B-40FA-9FA0-23D1EA4F2D7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33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4A958-782D-44D8-8545-6C0DA84BCEB6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0"/>
            <a:ext cx="5559425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24472-FBA5-4674-88DD-52915E6757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4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51494" indent="-289036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56145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18602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81060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F6289BD9-CFC9-4A0C-81B9-FA01A02771B4}" type="slidenum">
              <a:rPr lang="en-US" altLang="en-US" smtClean="0">
                <a:solidFill>
                  <a:schemeClr val="tx1"/>
                </a:solidFill>
                <a:ea typeface="MS PGothic" pitchFamily="34" charset="-128"/>
              </a:rPr>
              <a:pPr/>
              <a:t>4</a:t>
            </a:fld>
            <a:endParaRPr lang="en-US" altLang="en-US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51494" indent="-289036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56145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18602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81060" indent="-231229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651907A5-DCF8-48B0-9504-778E32E7B1E2}" type="slidenum">
              <a:rPr lang="en-US" altLang="en-US" smtClean="0">
                <a:solidFill>
                  <a:schemeClr val="tx1"/>
                </a:solidFill>
                <a:ea typeface="MS PGothic" pitchFamily="34" charset="-128"/>
              </a:rPr>
              <a:pPr/>
              <a:t>5</a:t>
            </a:fld>
            <a:endParaRPr lang="en-US" altLang="en-US">
              <a:solidFill>
                <a:schemeClr val="tx1"/>
              </a:solidFill>
              <a:ea typeface="MS PGothic" pitchFamily="34" charset="-128"/>
            </a:endParaRPr>
          </a:p>
        </p:txBody>
      </p:sp>
      <p:sp>
        <p:nvSpPr>
          <p:cNvPr id="3072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02BEB5-848F-4927-8E77-8DF83A336A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7FAC45-F25A-47FA-BBD2-0254FC23EA9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97F08-EDC7-44D5-BD5A-DAABA9C64F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350F0-BB31-4AF8-8108-38F1069CE4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59C2E-1330-4760-8118-EF658E1283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FBF51-4849-410C-8FA3-071B44D3F4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567B0-0A8E-4745-A70C-1754A03341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16482E-DA64-4B4B-9EA5-3F4C0A7BDB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D5121-1336-48AB-80B2-D40EA9FF41D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613C30-3876-4761-8DDC-61310C3F89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EE138-1376-4AC7-BAFC-40E1171541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fld id="{920653EA-76DA-4744-8A7D-842F0171EED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295400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rgbClr val="FF00FF"/>
                </a:solidFill>
              </a:rPr>
              <a:t>Stack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1752600"/>
          </a:xfrm>
        </p:spPr>
        <p:txBody>
          <a:bodyPr/>
          <a:lstStyle/>
          <a:p>
            <a:r>
              <a:rPr lang="en-US" sz="2400" dirty="0"/>
              <a:t>Array and Linked List based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5BFFEE-27E9-F0C1-98E8-7313722A9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/>
          <a:lstStyle/>
          <a:p>
            <a:pPr algn="just"/>
            <a:r>
              <a:rPr lang="en-US" b="1" i="0" dirty="0">
                <a:solidFill>
                  <a:srgbClr val="E00D50"/>
                </a:solidFill>
                <a:effectLst/>
                <a:latin typeface="Open Sans" panose="020B0606030504020204" pitchFamily="34" charset="0"/>
              </a:rPr>
              <a:t>What is a Stack?</a:t>
            </a: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Stack is a linear data structure in which the insertion and deletion operations are performed at only one end.</a:t>
            </a: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In a stack, adding and removing of elements are performed at a single position which is known as "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top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". That means, a new element is added at top of the stack and an element is removed from the top of the stack. </a:t>
            </a: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In stack, the insertion and deletion operations are performed based on </a:t>
            </a:r>
            <a:r>
              <a:rPr lang="en-US" sz="28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LIFO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 (Last In First Out) principle.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24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26" y="1219200"/>
            <a:ext cx="8108950" cy="481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0"/>
            <a:ext cx="2987675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143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is a Stack?</a:t>
            </a:r>
          </a:p>
          <a:p>
            <a:pPr lvl="1" eaLnBrk="1" hangingPunct="1"/>
            <a:r>
              <a:rPr lang="en-US" altLang="en-US" dirty="0"/>
              <a:t>A stack is a data structure of ordered items such that items can be inserted and removed </a:t>
            </a:r>
            <a:r>
              <a:rPr lang="en-US" altLang="en-US" dirty="0">
                <a:solidFill>
                  <a:srgbClr val="FF0000"/>
                </a:solidFill>
              </a:rPr>
              <a:t>only at one end.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8955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7239000" cy="4267200"/>
          </a:xfrm>
        </p:spPr>
        <p:txBody>
          <a:bodyPr/>
          <a:lstStyle/>
          <a:p>
            <a:pPr eaLnBrk="1" hangingPunct="1"/>
            <a:r>
              <a:rPr lang="en-US" altLang="en-US" dirty="0"/>
              <a:t>What can we do with a stack?</a:t>
            </a: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</a:rPr>
              <a:t>push</a:t>
            </a:r>
            <a:r>
              <a:rPr lang="en-US" altLang="en-US" dirty="0"/>
              <a:t> - place an item on the stack</a:t>
            </a: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</a:rPr>
              <a:t>pop</a:t>
            </a:r>
            <a:r>
              <a:rPr lang="en-US" altLang="en-US" dirty="0"/>
              <a:t> - Look at the item on top of the stack and remove it</a:t>
            </a:r>
          </a:p>
        </p:txBody>
      </p:sp>
    </p:spTree>
    <p:extLst>
      <p:ext uri="{BB962C8B-B14F-4D97-AF65-F5344CB8AC3E}">
        <p14:creationId xmlns:p14="http://schemas.microsoft.com/office/powerpoint/2010/main" val="187212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is a data structure that stores data in such a way that the last piece of data stored, is the first one retrieved</a:t>
            </a:r>
          </a:p>
          <a:p>
            <a:pPr lvl="1"/>
            <a:r>
              <a:rPr lang="en-US" dirty="0"/>
              <a:t>also called last-in, first-out ( </a:t>
            </a:r>
            <a:r>
              <a:rPr lang="en-US" b="1" dirty="0">
                <a:solidFill>
                  <a:srgbClr val="FF0000"/>
                </a:solidFill>
              </a:rPr>
              <a:t>LIFO</a:t>
            </a:r>
            <a:r>
              <a:rPr lang="en-US" dirty="0"/>
              <a:t> )</a:t>
            </a:r>
          </a:p>
          <a:p>
            <a:r>
              <a:rPr lang="en-US" dirty="0"/>
              <a:t>Only access to the stack is the top element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886200"/>
            <a:ext cx="165735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Primary operations: </a:t>
            </a:r>
            <a:r>
              <a:rPr lang="en-US" altLang="en-US" dirty="0">
                <a:solidFill>
                  <a:srgbClr val="FF0000"/>
                </a:solidFill>
              </a:rPr>
              <a:t>Push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rgbClr val="FF0000"/>
                </a:solidFill>
              </a:rPr>
              <a:t>Pop</a:t>
            </a:r>
          </a:p>
          <a:p>
            <a:r>
              <a:rPr lang="en-US" i="1" dirty="0">
                <a:solidFill>
                  <a:srgbClr val="FF0000"/>
                </a:solidFill>
              </a:rPr>
              <a:t>Push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the operation to place a new item at the top of the stack</a:t>
            </a:r>
          </a:p>
          <a:p>
            <a:r>
              <a:rPr lang="en-US" i="1" dirty="0">
                <a:solidFill>
                  <a:srgbClr val="FF0000"/>
                </a:solidFill>
              </a:rPr>
              <a:t>Pop</a:t>
            </a:r>
          </a:p>
          <a:p>
            <a:pPr lvl="1"/>
            <a:r>
              <a:rPr lang="en-US" dirty="0"/>
              <a:t>the operation to remove the next item from the top of the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altLang="en-US" dirty="0"/>
              <a:t>Push and Pop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00100"/>
            <a:ext cx="78486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Push</a:t>
            </a:r>
          </a:p>
          <a:p>
            <a:pPr lvl="1" eaLnBrk="1" hangingPunct="1"/>
            <a:r>
              <a:rPr lang="en-US" altLang="en-US" dirty="0"/>
              <a:t>Add an element to the top of the stack</a:t>
            </a:r>
          </a:p>
          <a:p>
            <a:pPr eaLnBrk="1" hangingPunct="1"/>
            <a:r>
              <a:rPr lang="en-US" altLang="en-US" dirty="0"/>
              <a:t>Pop</a:t>
            </a:r>
          </a:p>
          <a:p>
            <a:pPr lvl="1" eaLnBrk="1" hangingPunct="1"/>
            <a:r>
              <a:rPr lang="en-US" altLang="en-US" dirty="0"/>
              <a:t>Remove the element at the top of the stack</a:t>
            </a:r>
          </a:p>
        </p:txBody>
      </p:sp>
      <p:grpSp>
        <p:nvGrpSpPr>
          <p:cNvPr id="12292" name="Group 4"/>
          <p:cNvGrpSpPr>
            <a:grpSpLocks/>
          </p:cNvGrpSpPr>
          <p:nvPr/>
        </p:nvGrpSpPr>
        <p:grpSpPr bwMode="auto">
          <a:xfrm>
            <a:off x="3322638" y="5529263"/>
            <a:ext cx="914400" cy="336550"/>
            <a:chOff x="3648" y="3388"/>
            <a:chExt cx="576" cy="212"/>
          </a:xfrm>
        </p:grpSpPr>
        <p:sp>
          <p:nvSpPr>
            <p:cNvPr id="12341" name="Rectangle 5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42" name="Text Box 6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  <p:sp>
        <p:nvSpPr>
          <p:cNvPr id="12293" name="Line 7"/>
          <p:cNvSpPr>
            <a:spLocks noChangeShapeType="1"/>
          </p:cNvSpPr>
          <p:nvPr/>
        </p:nvSpPr>
        <p:spPr bwMode="auto">
          <a:xfrm flipV="1">
            <a:off x="274638" y="5986463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2294" name="Text Box 8"/>
          <p:cNvSpPr txBox="1">
            <a:spLocks noChangeArrowheads="1"/>
          </p:cNvSpPr>
          <p:nvPr/>
        </p:nvSpPr>
        <p:spPr bwMode="auto">
          <a:xfrm>
            <a:off x="198438" y="5605463"/>
            <a:ext cx="547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top</a:t>
            </a:r>
          </a:p>
        </p:txBody>
      </p:sp>
      <p:sp>
        <p:nvSpPr>
          <p:cNvPr id="12295" name="Text Box 9"/>
          <p:cNvSpPr txBox="1">
            <a:spLocks noChangeArrowheads="1"/>
          </p:cNvSpPr>
          <p:nvPr/>
        </p:nvSpPr>
        <p:spPr bwMode="auto">
          <a:xfrm>
            <a:off x="869950" y="4005263"/>
            <a:ext cx="1538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empty stack</a:t>
            </a:r>
          </a:p>
        </p:txBody>
      </p:sp>
      <p:grpSp>
        <p:nvGrpSpPr>
          <p:cNvPr id="12296" name="Group 10"/>
          <p:cNvGrpSpPr>
            <a:grpSpLocks/>
          </p:cNvGrpSpPr>
          <p:nvPr/>
        </p:nvGrpSpPr>
        <p:grpSpPr bwMode="auto">
          <a:xfrm>
            <a:off x="655638" y="4538663"/>
            <a:ext cx="1905000" cy="1447800"/>
            <a:chOff x="672" y="3216"/>
            <a:chExt cx="1200" cy="912"/>
          </a:xfrm>
        </p:grpSpPr>
        <p:sp>
          <p:nvSpPr>
            <p:cNvPr id="12336" name="Line 11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7" name="Line 12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8" name="Line 13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9" name="Line 14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40" name="Line 15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297" name="Group 16"/>
          <p:cNvGrpSpPr>
            <a:grpSpLocks/>
          </p:cNvGrpSpPr>
          <p:nvPr/>
        </p:nvGrpSpPr>
        <p:grpSpPr bwMode="auto">
          <a:xfrm>
            <a:off x="2332038" y="5300663"/>
            <a:ext cx="685800" cy="396875"/>
            <a:chOff x="1440" y="3888"/>
            <a:chExt cx="432" cy="250"/>
          </a:xfrm>
        </p:grpSpPr>
        <p:sp>
          <p:nvSpPr>
            <p:cNvPr id="12334" name="Line 17"/>
            <p:cNvSpPr>
              <a:spLocks noChangeShapeType="1"/>
            </p:cNvSpPr>
            <p:nvPr/>
          </p:nvSpPr>
          <p:spPr bwMode="auto">
            <a:xfrm flipV="1">
              <a:off x="1488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35" name="Text Box 18"/>
            <p:cNvSpPr txBox="1">
              <a:spLocks noChangeArrowheads="1"/>
            </p:cNvSpPr>
            <p:nvPr/>
          </p:nvSpPr>
          <p:spPr bwMode="auto">
            <a:xfrm>
              <a:off x="1440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298" name="Group 19"/>
          <p:cNvGrpSpPr>
            <a:grpSpLocks/>
          </p:cNvGrpSpPr>
          <p:nvPr/>
        </p:nvGrpSpPr>
        <p:grpSpPr bwMode="auto">
          <a:xfrm>
            <a:off x="2789238" y="4538663"/>
            <a:ext cx="1905000" cy="1447800"/>
            <a:chOff x="672" y="3216"/>
            <a:chExt cx="1200" cy="912"/>
          </a:xfrm>
        </p:grpSpPr>
        <p:sp>
          <p:nvSpPr>
            <p:cNvPr id="12329" name="Line 20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0" name="Line 21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1" name="Line 22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2" name="Line 23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33" name="Line 24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299" name="Group 25"/>
          <p:cNvGrpSpPr>
            <a:grpSpLocks/>
          </p:cNvGrpSpPr>
          <p:nvPr/>
        </p:nvGrpSpPr>
        <p:grpSpPr bwMode="auto">
          <a:xfrm>
            <a:off x="4389438" y="4843463"/>
            <a:ext cx="685800" cy="396875"/>
            <a:chOff x="2736" y="3888"/>
            <a:chExt cx="432" cy="250"/>
          </a:xfrm>
        </p:grpSpPr>
        <p:sp>
          <p:nvSpPr>
            <p:cNvPr id="12327" name="Line 26"/>
            <p:cNvSpPr>
              <a:spLocks noChangeShapeType="1"/>
            </p:cNvSpPr>
            <p:nvPr/>
          </p:nvSpPr>
          <p:spPr bwMode="auto">
            <a:xfrm flipV="1">
              <a:off x="2784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28" name="Text Box 27"/>
            <p:cNvSpPr txBox="1">
              <a:spLocks noChangeArrowheads="1"/>
            </p:cNvSpPr>
            <p:nvPr/>
          </p:nvSpPr>
          <p:spPr bwMode="auto">
            <a:xfrm>
              <a:off x="2736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300" name="Group 28"/>
          <p:cNvGrpSpPr>
            <a:grpSpLocks/>
          </p:cNvGrpSpPr>
          <p:nvPr/>
        </p:nvGrpSpPr>
        <p:grpSpPr bwMode="auto">
          <a:xfrm>
            <a:off x="4846638" y="4538663"/>
            <a:ext cx="1905000" cy="1447800"/>
            <a:chOff x="672" y="3216"/>
            <a:chExt cx="1200" cy="912"/>
          </a:xfrm>
        </p:grpSpPr>
        <p:sp>
          <p:nvSpPr>
            <p:cNvPr id="12322" name="Line 29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3" name="Line 30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4" name="Line 31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5" name="Line 32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26" name="Line 33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301" name="Group 34"/>
          <p:cNvGrpSpPr>
            <a:grpSpLocks/>
          </p:cNvGrpSpPr>
          <p:nvPr/>
        </p:nvGrpSpPr>
        <p:grpSpPr bwMode="auto">
          <a:xfrm>
            <a:off x="6599238" y="5300663"/>
            <a:ext cx="685800" cy="396875"/>
            <a:chOff x="4128" y="3888"/>
            <a:chExt cx="432" cy="250"/>
          </a:xfrm>
        </p:grpSpPr>
        <p:sp>
          <p:nvSpPr>
            <p:cNvPr id="12320" name="Line 35"/>
            <p:cNvSpPr>
              <a:spLocks noChangeShapeType="1"/>
            </p:cNvSpPr>
            <p:nvPr/>
          </p:nvSpPr>
          <p:spPr bwMode="auto">
            <a:xfrm flipV="1">
              <a:off x="4176" y="412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2321" name="Text Box 36"/>
            <p:cNvSpPr txBox="1">
              <a:spLocks noChangeArrowheads="1"/>
            </p:cNvSpPr>
            <p:nvPr/>
          </p:nvSpPr>
          <p:spPr bwMode="auto">
            <a:xfrm>
              <a:off x="4128" y="3888"/>
              <a:ext cx="3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folHlink"/>
                  </a:solidFill>
                  <a:latin typeface="Tahoma" pitchFamily="34" charset="0"/>
                </a:rPr>
                <a:t>top</a:t>
              </a:r>
            </a:p>
          </p:txBody>
        </p:sp>
      </p:grpSp>
      <p:grpSp>
        <p:nvGrpSpPr>
          <p:cNvPr id="12302" name="Group 37"/>
          <p:cNvGrpSpPr>
            <a:grpSpLocks/>
          </p:cNvGrpSpPr>
          <p:nvPr/>
        </p:nvGrpSpPr>
        <p:grpSpPr bwMode="auto">
          <a:xfrm>
            <a:off x="7056438" y="4538663"/>
            <a:ext cx="1905000" cy="1447800"/>
            <a:chOff x="672" y="3216"/>
            <a:chExt cx="1200" cy="912"/>
          </a:xfrm>
        </p:grpSpPr>
        <p:sp>
          <p:nvSpPr>
            <p:cNvPr id="12315" name="Line 38"/>
            <p:cNvSpPr>
              <a:spLocks noChangeShapeType="1"/>
            </p:cNvSpPr>
            <p:nvPr/>
          </p:nvSpPr>
          <p:spPr bwMode="auto">
            <a:xfrm>
              <a:off x="672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6" name="Line 39"/>
            <p:cNvSpPr>
              <a:spLocks noChangeShapeType="1"/>
            </p:cNvSpPr>
            <p:nvPr/>
          </p:nvSpPr>
          <p:spPr bwMode="auto">
            <a:xfrm>
              <a:off x="864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7" name="Line 40"/>
            <p:cNvSpPr>
              <a:spLocks noChangeShapeType="1"/>
            </p:cNvSpPr>
            <p:nvPr/>
          </p:nvSpPr>
          <p:spPr bwMode="auto">
            <a:xfrm>
              <a:off x="864" y="4128"/>
              <a:ext cx="816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8" name="Line 41"/>
            <p:cNvSpPr>
              <a:spLocks noChangeShapeType="1"/>
            </p:cNvSpPr>
            <p:nvPr/>
          </p:nvSpPr>
          <p:spPr bwMode="auto">
            <a:xfrm flipV="1">
              <a:off x="1680" y="3216"/>
              <a:ext cx="0" cy="912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319" name="Line 42"/>
            <p:cNvSpPr>
              <a:spLocks noChangeShapeType="1"/>
            </p:cNvSpPr>
            <p:nvPr/>
          </p:nvSpPr>
          <p:spPr bwMode="auto">
            <a:xfrm>
              <a:off x="1680" y="3216"/>
              <a:ext cx="192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303" name="Text Box 43"/>
          <p:cNvSpPr txBox="1">
            <a:spLocks noChangeArrowheads="1"/>
          </p:cNvSpPr>
          <p:nvPr/>
        </p:nvSpPr>
        <p:spPr bwMode="auto">
          <a:xfrm>
            <a:off x="2678113" y="4005263"/>
            <a:ext cx="205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push an element</a:t>
            </a:r>
          </a:p>
        </p:txBody>
      </p:sp>
      <p:sp>
        <p:nvSpPr>
          <p:cNvPr id="12304" name="Text Box 44"/>
          <p:cNvSpPr txBox="1">
            <a:spLocks noChangeArrowheads="1"/>
          </p:cNvSpPr>
          <p:nvPr/>
        </p:nvSpPr>
        <p:spPr bwMode="auto">
          <a:xfrm>
            <a:off x="5003800" y="4005263"/>
            <a:ext cx="166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push another</a:t>
            </a:r>
          </a:p>
        </p:txBody>
      </p:sp>
      <p:grpSp>
        <p:nvGrpSpPr>
          <p:cNvPr id="12305" name="Group 45"/>
          <p:cNvGrpSpPr>
            <a:grpSpLocks/>
          </p:cNvGrpSpPr>
          <p:nvPr/>
        </p:nvGrpSpPr>
        <p:grpSpPr bwMode="auto">
          <a:xfrm>
            <a:off x="5354638" y="5510213"/>
            <a:ext cx="914400" cy="336550"/>
            <a:chOff x="3648" y="3388"/>
            <a:chExt cx="576" cy="212"/>
          </a:xfrm>
        </p:grpSpPr>
        <p:sp>
          <p:nvSpPr>
            <p:cNvPr id="12313" name="Rectangle 46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4" name="Text Box 47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  <p:grpSp>
        <p:nvGrpSpPr>
          <p:cNvPr id="12306" name="Group 48"/>
          <p:cNvGrpSpPr>
            <a:grpSpLocks/>
          </p:cNvGrpSpPr>
          <p:nvPr/>
        </p:nvGrpSpPr>
        <p:grpSpPr bwMode="auto">
          <a:xfrm>
            <a:off x="5367338" y="5065713"/>
            <a:ext cx="914400" cy="336550"/>
            <a:chOff x="3648" y="3388"/>
            <a:chExt cx="576" cy="212"/>
          </a:xfrm>
        </p:grpSpPr>
        <p:sp>
          <p:nvSpPr>
            <p:cNvPr id="12311" name="Rectangle 49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2" name="Text Box 50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B</a:t>
              </a:r>
            </a:p>
          </p:txBody>
        </p:sp>
      </p:grpSp>
      <p:sp>
        <p:nvSpPr>
          <p:cNvPr id="12307" name="Text Box 51"/>
          <p:cNvSpPr txBox="1">
            <a:spLocks noChangeArrowheads="1"/>
          </p:cNvSpPr>
          <p:nvPr/>
        </p:nvSpPr>
        <p:spPr bwMode="auto">
          <a:xfrm>
            <a:off x="7677150" y="4005263"/>
            <a:ext cx="6016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US" altLang="en-US">
                <a:solidFill>
                  <a:schemeClr val="folHlink"/>
                </a:solidFill>
                <a:latin typeface="Tahoma" pitchFamily="34" charset="0"/>
              </a:rPr>
              <a:t>pop</a:t>
            </a:r>
          </a:p>
        </p:txBody>
      </p:sp>
      <p:grpSp>
        <p:nvGrpSpPr>
          <p:cNvPr id="12308" name="Group 52"/>
          <p:cNvGrpSpPr>
            <a:grpSpLocks/>
          </p:cNvGrpSpPr>
          <p:nvPr/>
        </p:nvGrpSpPr>
        <p:grpSpPr bwMode="auto">
          <a:xfrm>
            <a:off x="7589838" y="5478463"/>
            <a:ext cx="914400" cy="336550"/>
            <a:chOff x="3648" y="3388"/>
            <a:chExt cx="576" cy="212"/>
          </a:xfrm>
        </p:grpSpPr>
        <p:sp>
          <p:nvSpPr>
            <p:cNvPr id="12309" name="Rectangle 53"/>
            <p:cNvSpPr>
              <a:spLocks noChangeArrowheads="1"/>
            </p:cNvSpPr>
            <p:nvPr/>
          </p:nvSpPr>
          <p:spPr bwMode="auto">
            <a:xfrm>
              <a:off x="3648" y="3408"/>
              <a:ext cx="576" cy="192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50000"/>
                </a:spcBef>
              </a:pPr>
              <a:endParaRPr lang="en-IN" altLang="en-US"/>
            </a:p>
          </p:txBody>
        </p:sp>
        <p:sp>
          <p:nvSpPr>
            <p:cNvPr id="12310" name="Text Box 54"/>
            <p:cNvSpPr txBox="1">
              <a:spLocks noChangeArrowheads="1"/>
            </p:cNvSpPr>
            <p:nvPr/>
          </p:nvSpPr>
          <p:spPr bwMode="auto">
            <a:xfrm>
              <a:off x="3822" y="3388"/>
              <a:ext cx="2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zh-CN" sz="1600">
                  <a:solidFill>
                    <a:schemeClr val="bg1"/>
                  </a:solidFill>
                  <a:latin typeface="Tahoma" pitchFamily="34" charset="0"/>
                  <a:ea typeface="SimSun" pitchFamily="2" charset="-122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378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2192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12192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2286000" y="22098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1219200" y="5105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1219200" y="4648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1219200" y="4191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08" name="Line 12"/>
          <p:cNvSpPr>
            <a:spLocks noChangeShapeType="1"/>
          </p:cNvSpPr>
          <p:nvPr/>
        </p:nvSpPr>
        <p:spPr bwMode="auto">
          <a:xfrm>
            <a:off x="1219200" y="3733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1600200" y="5105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1600200" y="46482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1600200" y="4191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1600200" y="37338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2590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2574925" y="4151313"/>
            <a:ext cx="1022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push(M)</a:t>
            </a:r>
          </a:p>
        </p:txBody>
      </p:sp>
      <p:sp>
        <p:nvSpPr>
          <p:cNvPr id="4117" name="Line 21"/>
          <p:cNvSpPr>
            <a:spLocks noChangeShapeType="1"/>
          </p:cNvSpPr>
          <p:nvPr/>
        </p:nvSpPr>
        <p:spPr bwMode="auto">
          <a:xfrm>
            <a:off x="4038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8" name="Line 22"/>
          <p:cNvSpPr>
            <a:spLocks noChangeShapeType="1"/>
          </p:cNvSpPr>
          <p:nvPr/>
        </p:nvSpPr>
        <p:spPr bwMode="auto">
          <a:xfrm>
            <a:off x="40386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19" name="Line 23"/>
          <p:cNvSpPr>
            <a:spLocks noChangeShapeType="1"/>
          </p:cNvSpPr>
          <p:nvPr/>
        </p:nvSpPr>
        <p:spPr bwMode="auto">
          <a:xfrm>
            <a:off x="51054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0" name="Line 24"/>
          <p:cNvSpPr>
            <a:spLocks noChangeShapeType="1"/>
          </p:cNvSpPr>
          <p:nvPr/>
        </p:nvSpPr>
        <p:spPr bwMode="auto">
          <a:xfrm>
            <a:off x="40386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1" name="Line 25"/>
          <p:cNvSpPr>
            <a:spLocks noChangeShapeType="1"/>
          </p:cNvSpPr>
          <p:nvPr/>
        </p:nvSpPr>
        <p:spPr bwMode="auto">
          <a:xfrm>
            <a:off x="40386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2" name="Line 26"/>
          <p:cNvSpPr>
            <a:spLocks noChangeShapeType="1"/>
          </p:cNvSpPr>
          <p:nvPr/>
        </p:nvSpPr>
        <p:spPr bwMode="auto">
          <a:xfrm>
            <a:off x="40386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3" name="Line 27"/>
          <p:cNvSpPr>
            <a:spLocks noChangeShapeType="1"/>
          </p:cNvSpPr>
          <p:nvPr/>
        </p:nvSpPr>
        <p:spPr bwMode="auto">
          <a:xfrm>
            <a:off x="40386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4" name="Text Box 28"/>
          <p:cNvSpPr txBox="1">
            <a:spLocks noChangeArrowheads="1"/>
          </p:cNvSpPr>
          <p:nvPr/>
        </p:nvSpPr>
        <p:spPr bwMode="auto">
          <a:xfrm>
            <a:off x="44196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auto">
          <a:xfrm>
            <a:off x="441960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4419600" y="4267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4419600" y="3810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4128" name="Line 32"/>
          <p:cNvSpPr>
            <a:spLocks noChangeShapeType="1"/>
          </p:cNvSpPr>
          <p:nvPr/>
        </p:nvSpPr>
        <p:spPr bwMode="auto">
          <a:xfrm>
            <a:off x="4038600" y="3352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4419600" y="335280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M</a:t>
            </a:r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5638800" y="3810000"/>
            <a:ext cx="1143000" cy="304800"/>
          </a:xfrm>
          <a:prstGeom prst="rightArrow">
            <a:avLst>
              <a:gd name="adj1" fmla="val 50000"/>
              <a:gd name="adj2" fmla="val 9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5486400" y="4191000"/>
            <a:ext cx="1409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item = pop()</a:t>
            </a:r>
          </a:p>
          <a:p>
            <a:r>
              <a:rPr lang="en-US" i="0"/>
              <a:t>item = M</a:t>
            </a:r>
          </a:p>
        </p:txBody>
      </p:sp>
      <p:sp>
        <p:nvSpPr>
          <p:cNvPr id="4132" name="Line 36"/>
          <p:cNvSpPr>
            <a:spLocks noChangeShapeType="1"/>
          </p:cNvSpPr>
          <p:nvPr/>
        </p:nvSpPr>
        <p:spPr bwMode="auto">
          <a:xfrm>
            <a:off x="71628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auto">
          <a:xfrm>
            <a:off x="7162800" y="56388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4" name="Line 38"/>
          <p:cNvSpPr>
            <a:spLocks noChangeShapeType="1"/>
          </p:cNvSpPr>
          <p:nvPr/>
        </p:nvSpPr>
        <p:spPr bwMode="auto">
          <a:xfrm>
            <a:off x="8229600" y="22860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5" name="Line 39"/>
          <p:cNvSpPr>
            <a:spLocks noChangeShapeType="1"/>
          </p:cNvSpPr>
          <p:nvPr/>
        </p:nvSpPr>
        <p:spPr bwMode="auto">
          <a:xfrm>
            <a:off x="7162800" y="518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6" name="Line 40"/>
          <p:cNvSpPr>
            <a:spLocks noChangeShapeType="1"/>
          </p:cNvSpPr>
          <p:nvPr/>
        </p:nvSpPr>
        <p:spPr bwMode="auto">
          <a:xfrm>
            <a:off x="7162800" y="4724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7" name="Line 41"/>
          <p:cNvSpPr>
            <a:spLocks noChangeShapeType="1"/>
          </p:cNvSpPr>
          <p:nvPr/>
        </p:nvSpPr>
        <p:spPr bwMode="auto">
          <a:xfrm>
            <a:off x="7162800" y="4267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8" name="Line 42"/>
          <p:cNvSpPr>
            <a:spLocks noChangeShapeType="1"/>
          </p:cNvSpPr>
          <p:nvPr/>
        </p:nvSpPr>
        <p:spPr bwMode="auto">
          <a:xfrm>
            <a:off x="7162800" y="3810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39" name="Text Box 43"/>
          <p:cNvSpPr txBox="1">
            <a:spLocks noChangeArrowheads="1"/>
          </p:cNvSpPr>
          <p:nvPr/>
        </p:nvSpPr>
        <p:spPr bwMode="auto">
          <a:xfrm>
            <a:off x="7543800" y="51816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140" name="Text Box 44"/>
          <p:cNvSpPr txBox="1">
            <a:spLocks noChangeArrowheads="1"/>
          </p:cNvSpPr>
          <p:nvPr/>
        </p:nvSpPr>
        <p:spPr bwMode="auto">
          <a:xfrm>
            <a:off x="7543800" y="4724400"/>
            <a:ext cx="33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X</a:t>
            </a:r>
          </a:p>
        </p:txBody>
      </p:sp>
      <p:sp>
        <p:nvSpPr>
          <p:cNvPr id="4141" name="Text Box 45"/>
          <p:cNvSpPr txBox="1">
            <a:spLocks noChangeArrowheads="1"/>
          </p:cNvSpPr>
          <p:nvPr/>
        </p:nvSpPr>
        <p:spPr bwMode="auto">
          <a:xfrm>
            <a:off x="7543800" y="4267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R</a:t>
            </a:r>
          </a:p>
        </p:txBody>
      </p:sp>
      <p:sp>
        <p:nvSpPr>
          <p:cNvPr id="4142" name="Text Box 46"/>
          <p:cNvSpPr txBox="1">
            <a:spLocks noChangeArrowheads="1"/>
          </p:cNvSpPr>
          <p:nvPr/>
        </p:nvSpPr>
        <p:spPr bwMode="auto">
          <a:xfrm>
            <a:off x="7543800" y="3810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3790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8" y="1628775"/>
            <a:ext cx="9123362" cy="4248150"/>
          </a:xfrm>
        </p:spPr>
      </p:pic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fld id="{F7A14B14-083D-49B4-B3FB-FCB1C4524219}" type="slidenum">
              <a:rPr lang="en-US" altLang="en-US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8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Problem:</a:t>
            </a:r>
          </a:p>
          <a:p>
            <a:pPr lvl="1" eaLnBrk="1" hangingPunct="1"/>
            <a:r>
              <a:rPr lang="en-US" altLang="en-US" dirty="0"/>
              <a:t>What happens if we try to pop an item off the stack when the stack is empty?</a:t>
            </a:r>
          </a:p>
          <a:p>
            <a:pPr lvl="2" eaLnBrk="1" hangingPunct="1"/>
            <a:r>
              <a:rPr lang="en-US" altLang="en-US" dirty="0"/>
              <a:t>This is called a </a:t>
            </a:r>
            <a:r>
              <a:rPr lang="en-US" altLang="en-US" dirty="0">
                <a:solidFill>
                  <a:srgbClr val="FF0000"/>
                </a:solidFill>
              </a:rPr>
              <a:t>stack underflow</a:t>
            </a:r>
            <a:r>
              <a:rPr lang="en-US" altLang="en-US" dirty="0"/>
              <a:t>.  The pop method needs some way of telling us that this has happened.  </a:t>
            </a:r>
          </a:p>
        </p:txBody>
      </p:sp>
    </p:spTree>
    <p:extLst>
      <p:ext uri="{BB962C8B-B14F-4D97-AF65-F5344CB8AC3E}">
        <p14:creationId xmlns:p14="http://schemas.microsoft.com/office/powerpoint/2010/main" val="80224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a Stack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At least three different ways to implement a stack</a:t>
            </a:r>
          </a:p>
          <a:p>
            <a:pPr lvl="1">
              <a:lnSpc>
                <a:spcPct val="90000"/>
              </a:lnSpc>
            </a:pPr>
            <a:r>
              <a:rPr lang="en-US"/>
              <a:t>array</a:t>
            </a:r>
          </a:p>
          <a:p>
            <a:pPr lvl="1">
              <a:lnSpc>
                <a:spcPct val="90000"/>
              </a:lnSpc>
            </a:pPr>
            <a:r>
              <a:rPr lang="en-US"/>
              <a:t>vector</a:t>
            </a:r>
          </a:p>
          <a:p>
            <a:pPr lvl="1">
              <a:lnSpc>
                <a:spcPct val="90000"/>
              </a:lnSpc>
            </a:pPr>
            <a:r>
              <a:rPr lang="en-US"/>
              <a:t>linked list</a:t>
            </a:r>
          </a:p>
          <a:p>
            <a:pPr>
              <a:lnSpc>
                <a:spcPct val="90000"/>
              </a:lnSpc>
            </a:pPr>
            <a:r>
              <a:rPr lang="en-US"/>
              <a:t>Which method to use depends on the application</a:t>
            </a:r>
          </a:p>
          <a:p>
            <a:pPr lvl="1">
              <a:lnSpc>
                <a:spcPct val="90000"/>
              </a:lnSpc>
            </a:pPr>
            <a:r>
              <a:rPr lang="en-US"/>
              <a:t>what advantages and disadvantages does each implementation have?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Implementing Stacks: Array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Advantages</a:t>
            </a:r>
          </a:p>
          <a:p>
            <a:pPr lvl="1"/>
            <a:r>
              <a:rPr lang="en-US" sz="2400" dirty="0"/>
              <a:t>best performance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Disadvantage</a:t>
            </a:r>
          </a:p>
          <a:p>
            <a:pPr lvl="1"/>
            <a:r>
              <a:rPr lang="en-US" sz="2400" dirty="0"/>
              <a:t>fixed size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Basic implementation</a:t>
            </a:r>
          </a:p>
          <a:p>
            <a:pPr lvl="1"/>
            <a:r>
              <a:rPr lang="en-US" sz="2400" dirty="0"/>
              <a:t>initially empty array</a:t>
            </a:r>
          </a:p>
          <a:p>
            <a:pPr lvl="1"/>
            <a:r>
              <a:rPr lang="en-US" sz="2400" dirty="0"/>
              <a:t>field to record where the next data gets placed into</a:t>
            </a:r>
          </a:p>
          <a:p>
            <a:pPr lvl="1"/>
            <a:r>
              <a:rPr lang="en-US" sz="2400" dirty="0"/>
              <a:t>if array is full, push() returns false</a:t>
            </a:r>
          </a:p>
          <a:p>
            <a:pPr lvl="2"/>
            <a:r>
              <a:rPr lang="en-US" sz="2000" dirty="0"/>
              <a:t>otherwise adds it into the correct spot</a:t>
            </a:r>
          </a:p>
          <a:p>
            <a:pPr lvl="1"/>
            <a:r>
              <a:rPr lang="en-US" sz="2400" dirty="0"/>
              <a:t>if array is empty, pop() returns null</a:t>
            </a:r>
          </a:p>
          <a:p>
            <a:pPr lvl="2"/>
            <a:r>
              <a:rPr lang="en-US" sz="2000" dirty="0"/>
              <a:t>otherwise removes the next(top) item in the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Stack Class (array based)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Variable top;</a:t>
            </a:r>
          </a:p>
          <a:p>
            <a:pPr>
              <a:buFontTx/>
              <a:buNone/>
            </a:pPr>
            <a:r>
              <a:rPr lang="en-US" sz="2000" dirty="0"/>
              <a:t>Variable MAX;</a:t>
            </a:r>
          </a:p>
          <a:p>
            <a:pPr>
              <a:buFontTx/>
              <a:buNone/>
            </a:pPr>
            <a:r>
              <a:rPr lang="en-US" sz="2000" dirty="0"/>
              <a:t>variable stack[MAX];</a:t>
            </a:r>
          </a:p>
          <a:p>
            <a:pPr>
              <a:buFontTx/>
              <a:buNone/>
            </a:pPr>
            <a:r>
              <a:rPr lang="en-US" sz="2000" dirty="0"/>
              <a:t>     </a:t>
            </a:r>
          </a:p>
          <a:p>
            <a:pPr>
              <a:buFontTx/>
              <a:buNone/>
            </a:pPr>
            <a:r>
              <a:rPr lang="en-US" sz="2000" dirty="0"/>
              <a:t>top=-1; </a:t>
            </a:r>
          </a:p>
          <a:p>
            <a:pPr>
              <a:buFontTx/>
              <a:buNone/>
            </a:pPr>
            <a:r>
              <a:rPr lang="en-US" sz="2000" dirty="0"/>
              <a:t>max=4; </a:t>
            </a:r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r>
              <a:rPr lang="en-US" sz="2000" dirty="0"/>
              <a:t>full()</a:t>
            </a:r>
          </a:p>
          <a:p>
            <a:pPr>
              <a:buFontTx/>
              <a:buNone/>
            </a:pPr>
            <a:r>
              <a:rPr lang="en-US" sz="2000" dirty="0"/>
              <a:t>empty()</a:t>
            </a:r>
          </a:p>
          <a:p>
            <a:pPr>
              <a:buFontTx/>
              <a:buNone/>
            </a:pPr>
            <a:r>
              <a:rPr lang="en-US" sz="2000" dirty="0"/>
              <a:t>push(</a:t>
            </a:r>
            <a:r>
              <a:rPr lang="en-US" sz="2000" dirty="0" err="1"/>
              <a:t>int</a:t>
            </a:r>
            <a:r>
              <a:rPr lang="en-US" sz="2000" dirty="0"/>
              <a:t> value)</a:t>
            </a:r>
          </a:p>
          <a:p>
            <a:pPr>
              <a:buFontTx/>
              <a:buNone/>
            </a:pPr>
            <a:r>
              <a:rPr lang="en-US" sz="2000" dirty="0"/>
              <a:t>pop()</a:t>
            </a:r>
          </a:p>
          <a:p>
            <a:pPr>
              <a:buFontTx/>
              <a:buNone/>
            </a:pPr>
            <a:r>
              <a:rPr lang="en-US" sz="2000" dirty="0"/>
              <a:t>display()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push()</a:t>
            </a:r>
            <a:r>
              <a:rPr lang="en-US"/>
              <a:t> Method (array based)</a:t>
            </a:r>
            <a:endParaRPr lang="en-US" i="1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 dirty="0"/>
              <a:t>void push(</a:t>
            </a:r>
            <a:r>
              <a:rPr lang="en-US" sz="2000" dirty="0" err="1"/>
              <a:t>int</a:t>
            </a:r>
            <a:r>
              <a:rPr lang="en-US" sz="2000" dirty="0"/>
              <a:t> value)</a:t>
            </a:r>
          </a:p>
          <a:p>
            <a:pPr>
              <a:buFontTx/>
              <a:buNone/>
            </a:pPr>
            <a:r>
              <a:rPr lang="en-US" sz="2000" dirty="0"/>
              <a:t>             {      </a:t>
            </a:r>
          </a:p>
          <a:p>
            <a:pPr>
              <a:buFontTx/>
              <a:buNone/>
            </a:pPr>
            <a:r>
              <a:rPr lang="en-US" sz="2000" dirty="0"/>
              <a:t>                      top++;</a:t>
            </a:r>
          </a:p>
          <a:p>
            <a:pPr>
              <a:buFontTx/>
              <a:buNone/>
            </a:pPr>
            <a:r>
              <a:rPr lang="en-US" sz="2000" dirty="0"/>
              <a:t>                      a[top]= value;                               </a:t>
            </a:r>
          </a:p>
          <a:p>
            <a:pPr>
              <a:buFontTx/>
              <a:buNone/>
            </a:pPr>
            <a:r>
              <a:rPr lang="en-US" sz="2000" dirty="0"/>
              <a:t>             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022" y="2590800"/>
            <a:ext cx="4933950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pop() </a:t>
            </a:r>
            <a:r>
              <a:rPr lang="en-US" dirty="0"/>
              <a:t>Method (array based)</a:t>
            </a:r>
            <a:endParaRPr lang="en-US" i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 dirty="0"/>
              <a:t>char pop()</a:t>
            </a:r>
          </a:p>
          <a:p>
            <a:pPr>
              <a:buFontTx/>
              <a:buNone/>
            </a:pPr>
            <a:r>
              <a:rPr lang="en-US" sz="2000" dirty="0"/>
              <a:t>             {</a:t>
            </a:r>
          </a:p>
          <a:p>
            <a:pPr>
              <a:buFontTx/>
              <a:buNone/>
            </a:pPr>
            <a:r>
              <a:rPr lang="en-US" sz="2000" dirty="0"/>
              <a:t>                 char temp;</a:t>
            </a:r>
          </a:p>
          <a:p>
            <a:pPr>
              <a:buFontTx/>
              <a:buNone/>
            </a:pPr>
            <a:r>
              <a:rPr lang="en-US" sz="2000" dirty="0"/>
              <a:t>                 temp=a[top];</a:t>
            </a:r>
          </a:p>
          <a:p>
            <a:pPr>
              <a:buFontTx/>
              <a:buNone/>
            </a:pPr>
            <a:r>
              <a:rPr lang="en-US" sz="2000" dirty="0"/>
              <a:t>                 top--;</a:t>
            </a:r>
          </a:p>
          <a:p>
            <a:pPr>
              <a:buFontTx/>
              <a:buNone/>
            </a:pPr>
            <a:r>
              <a:rPr lang="en-US" sz="2000" dirty="0"/>
              <a:t>                 return temp;</a:t>
            </a:r>
          </a:p>
          <a:p>
            <a:pPr>
              <a:buFontTx/>
              <a:buNone/>
            </a:pPr>
            <a:r>
              <a:rPr lang="en-US" sz="2000" dirty="0"/>
              <a:t>              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828800"/>
            <a:ext cx="5276850" cy="235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Remaining Methods (array based)</a:t>
            </a:r>
            <a:endParaRPr lang="en-US" sz="4000" i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000" dirty="0" err="1"/>
              <a:t>bool</a:t>
            </a:r>
            <a:r>
              <a:rPr lang="en-US" sz="2000" dirty="0"/>
              <a:t> empty(){</a:t>
            </a:r>
          </a:p>
          <a:p>
            <a:pPr>
              <a:buFontTx/>
              <a:buNone/>
            </a:pPr>
            <a:r>
              <a:rPr lang="en-US" sz="2000" dirty="0"/>
              <a:t>                 if (top==-1)</a:t>
            </a:r>
          </a:p>
          <a:p>
            <a:pPr>
              <a:buFontTx/>
              <a:buNone/>
            </a:pPr>
            <a:r>
              <a:rPr lang="en-US" sz="2000" dirty="0"/>
              <a:t>                    return true;</a:t>
            </a:r>
          </a:p>
          <a:p>
            <a:pPr>
              <a:buFontTx/>
              <a:buNone/>
            </a:pPr>
            <a:r>
              <a:rPr lang="en-US" sz="2000" dirty="0"/>
              <a:t>                 else</a:t>
            </a:r>
          </a:p>
          <a:p>
            <a:pPr>
              <a:buFontTx/>
              <a:buNone/>
            </a:pPr>
            <a:r>
              <a:rPr lang="en-US" sz="2000" dirty="0"/>
              <a:t>                    return false;</a:t>
            </a:r>
          </a:p>
          <a:p>
            <a:pPr>
              <a:buFontTx/>
              <a:buNone/>
            </a:pPr>
            <a:r>
              <a:rPr lang="en-US" sz="2000" dirty="0"/>
              <a:t>             } </a:t>
            </a:r>
          </a:p>
          <a:p>
            <a:pPr>
              <a:buFontTx/>
              <a:buNone/>
            </a:pP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667000"/>
            <a:ext cx="1524000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37" y="2819400"/>
            <a:ext cx="1457325" cy="25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0" y="1447800"/>
            <a:ext cx="358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dirty="0" err="1"/>
              <a:t>bool</a:t>
            </a:r>
            <a:r>
              <a:rPr lang="en-US" dirty="0"/>
              <a:t> full(){</a:t>
            </a:r>
          </a:p>
          <a:p>
            <a:pPr>
              <a:buFontTx/>
              <a:buNone/>
            </a:pPr>
            <a:r>
              <a:rPr lang="en-US" dirty="0"/>
              <a:t>                  if (top==max)</a:t>
            </a:r>
          </a:p>
          <a:p>
            <a:pPr>
              <a:buFontTx/>
              <a:buNone/>
            </a:pPr>
            <a:r>
              <a:rPr lang="en-US" dirty="0"/>
              <a:t>                      return true;</a:t>
            </a:r>
          </a:p>
          <a:p>
            <a:pPr>
              <a:buFontTx/>
              <a:buNone/>
            </a:pPr>
            <a:r>
              <a:rPr lang="en-US" dirty="0"/>
              <a:t>                  else</a:t>
            </a:r>
          </a:p>
          <a:p>
            <a:pPr>
              <a:buFontTx/>
              <a:buNone/>
            </a:pPr>
            <a:r>
              <a:rPr lang="en-US" dirty="0"/>
              <a:t>                       return false;</a:t>
            </a:r>
          </a:p>
          <a:p>
            <a:pPr>
              <a:buFontTx/>
              <a:buNone/>
            </a:pPr>
            <a:r>
              <a:rPr lang="en-US" dirty="0"/>
              <a:t>             }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/>
              <a:t>void display()</a:t>
            </a:r>
          </a:p>
          <a:p>
            <a:pPr>
              <a:buNone/>
            </a:pPr>
            <a:r>
              <a:rPr lang="en-US" sz="1600" dirty="0"/>
              <a:t>              {</a:t>
            </a:r>
          </a:p>
          <a:p>
            <a:pPr>
              <a:buNone/>
            </a:pPr>
            <a:r>
              <a:rPr lang="en-US" sz="1600" dirty="0"/>
              <a:t>                   if (top==-1)</a:t>
            </a:r>
          </a:p>
          <a:p>
            <a:pPr>
              <a:buNone/>
            </a:pPr>
            <a:r>
              <a:rPr lang="en-US" sz="1600" dirty="0"/>
              <a:t>                      </a:t>
            </a:r>
            <a:r>
              <a:rPr lang="en-US" sz="1600" dirty="0" err="1"/>
              <a:t>cout</a:t>
            </a:r>
            <a:r>
              <a:rPr lang="en-US" sz="1600" dirty="0"/>
              <a:t>&lt;&lt;"\n No elements in stack \n";       </a:t>
            </a:r>
          </a:p>
          <a:p>
            <a:pPr>
              <a:buNone/>
            </a:pPr>
            <a:r>
              <a:rPr lang="en-US" sz="1600" dirty="0"/>
              <a:t>                   else</a:t>
            </a:r>
          </a:p>
          <a:p>
            <a:pPr>
              <a:buNone/>
            </a:pPr>
            <a:r>
              <a:rPr lang="en-US" sz="1600" dirty="0"/>
              <a:t>                   {</a:t>
            </a:r>
          </a:p>
          <a:p>
            <a:pPr>
              <a:buNone/>
            </a:pPr>
            <a:r>
              <a:rPr lang="en-US" sz="1600" dirty="0"/>
              <a:t>                       </a:t>
            </a:r>
            <a:r>
              <a:rPr lang="en-US" sz="1600" dirty="0" err="1"/>
              <a:t>cout</a:t>
            </a:r>
            <a:r>
              <a:rPr lang="en-US" sz="1600" dirty="0"/>
              <a:t>&lt;&lt;"The elements in stack are:";</a:t>
            </a:r>
          </a:p>
          <a:p>
            <a:pPr>
              <a:buNone/>
            </a:pPr>
            <a:r>
              <a:rPr lang="en-US" sz="1600" dirty="0"/>
              <a:t>                       for (int </a:t>
            </a:r>
            <a:r>
              <a:rPr lang="en-US" sz="1600" dirty="0" err="1"/>
              <a:t>i</a:t>
            </a:r>
            <a:r>
              <a:rPr lang="en-US" sz="1600" dirty="0"/>
              <a:t>=</a:t>
            </a:r>
            <a:r>
              <a:rPr lang="en-US" sz="1600" dirty="0" err="1"/>
              <a:t>top;i</a:t>
            </a:r>
            <a:r>
              <a:rPr lang="en-US" sz="1600" dirty="0"/>
              <a:t>&gt;=0;i--)</a:t>
            </a:r>
          </a:p>
          <a:p>
            <a:pPr>
              <a:buNone/>
            </a:pPr>
            <a:r>
              <a:rPr lang="en-US" sz="1600" dirty="0"/>
              <a:t>                           </a:t>
            </a:r>
            <a:r>
              <a:rPr lang="en-US" sz="1600" dirty="0" err="1"/>
              <a:t>cout</a:t>
            </a:r>
            <a:r>
              <a:rPr lang="en-US" sz="1600" dirty="0"/>
              <a:t>&lt;&lt;"\n"&lt;&lt;a[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</a:p>
          <a:p>
            <a:pPr>
              <a:buNone/>
            </a:pPr>
            <a:r>
              <a:rPr lang="en-US" sz="1600" dirty="0"/>
              <a:t>                   }</a:t>
            </a:r>
          </a:p>
          <a:p>
            <a:pPr>
              <a:buNone/>
            </a:pPr>
            <a:r>
              <a:rPr lang="en-US" sz="1600" dirty="0"/>
              <a:t>              }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Remaining Methods (array based)</a:t>
            </a:r>
            <a:endParaRPr lang="en-US" sz="40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dirty="0">
                <a:solidFill>
                  <a:srgbClr val="FF0000"/>
                </a:solidFill>
              </a:rPr>
              <a:t>Array implementation - Algorithm</a:t>
            </a:r>
            <a:endParaRPr lang="en-IN" sz="3200" dirty="0">
              <a:solidFill>
                <a:srgbClr val="FF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7061" y="1219200"/>
            <a:ext cx="7907339" cy="5518381"/>
            <a:chOff x="178272" y="985838"/>
            <a:chExt cx="8186267" cy="6134867"/>
          </a:xfrm>
        </p:grpSpPr>
        <p:sp>
          <p:nvSpPr>
            <p:cNvPr id="5" name="Rectangle 7"/>
            <p:cNvSpPr>
              <a:spLocks noChangeArrowheads="1"/>
            </p:cNvSpPr>
            <p:nvPr/>
          </p:nvSpPr>
          <p:spPr bwMode="auto">
            <a:xfrm>
              <a:off x="178272" y="1125538"/>
              <a:ext cx="3888903" cy="2874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1800" dirty="0"/>
                <a:t>begin procedure </a:t>
              </a:r>
              <a:r>
                <a:rPr lang="en-US" altLang="en-US" sz="1800" b="1" dirty="0">
                  <a:solidFill>
                    <a:srgbClr val="FF0000"/>
                  </a:solidFill>
                </a:rPr>
                <a:t>push</a:t>
              </a:r>
              <a:r>
                <a:rPr lang="en-US" altLang="en-US" sz="1800" dirty="0"/>
                <a:t>: stack, data</a:t>
              </a:r>
            </a:p>
            <a:p>
              <a:endParaRPr lang="en-US" altLang="en-US" sz="1800" dirty="0"/>
            </a:p>
            <a:p>
              <a:r>
                <a:rPr lang="en-US" altLang="en-US" sz="1800" dirty="0"/>
                <a:t>   if stack </a:t>
              </a:r>
              <a:r>
                <a:rPr lang="en-US" altLang="en-US" sz="1800" dirty="0" err="1"/>
                <a:t>isfull</a:t>
              </a:r>
              <a:endParaRPr lang="en-US" altLang="en-US" sz="1800" dirty="0"/>
            </a:p>
            <a:p>
              <a:r>
                <a:rPr lang="en-US" altLang="en-US" sz="1800" dirty="0"/>
                <a:t>      return null</a:t>
              </a:r>
            </a:p>
            <a:p>
              <a:r>
                <a:rPr lang="en-US" altLang="en-US" sz="1800" dirty="0"/>
                <a:t>   </a:t>
              </a:r>
              <a:r>
                <a:rPr lang="en-US" altLang="en-US" sz="1800" dirty="0" err="1"/>
                <a:t>endif</a:t>
              </a:r>
              <a:endParaRPr lang="en-US" altLang="en-US" sz="1800" dirty="0"/>
            </a:p>
            <a:p>
              <a:r>
                <a:rPr lang="en-US" altLang="en-US" sz="1800" dirty="0"/>
                <a:t>   </a:t>
              </a:r>
            </a:p>
            <a:p>
              <a:r>
                <a:rPr lang="en-US" altLang="en-US" sz="1800" dirty="0"/>
                <a:t>   top ← top + 1</a:t>
              </a:r>
            </a:p>
            <a:p>
              <a:r>
                <a:rPr lang="en-US" altLang="en-US" sz="1800" dirty="0"/>
                <a:t>   stack[top] ← data</a:t>
              </a:r>
            </a:p>
            <a:p>
              <a:r>
                <a:rPr lang="en-US" altLang="en-US" sz="1800" dirty="0"/>
                <a:t>end procedure</a:t>
              </a:r>
              <a:endParaRPr lang="en-IN" altLang="en-US" sz="1800" dirty="0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4858331" y="985838"/>
              <a:ext cx="3506207" cy="318208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1800" dirty="0"/>
                <a:t>begin procedure </a:t>
              </a:r>
              <a:r>
                <a:rPr lang="en-US" altLang="en-US" sz="1800" b="1" dirty="0">
                  <a:solidFill>
                    <a:srgbClr val="FF0000"/>
                  </a:solidFill>
                </a:rPr>
                <a:t>pop</a:t>
              </a:r>
              <a:r>
                <a:rPr lang="en-US" altLang="en-US" sz="1800" dirty="0"/>
                <a:t>: stack</a:t>
              </a:r>
            </a:p>
            <a:p>
              <a:endParaRPr lang="en-US" altLang="en-US" sz="1800" dirty="0"/>
            </a:p>
            <a:p>
              <a:r>
                <a:rPr lang="en-US" altLang="en-US" sz="1800" dirty="0"/>
                <a:t>   if stack </a:t>
              </a:r>
              <a:r>
                <a:rPr lang="en-US" altLang="en-US" sz="1800" dirty="0" err="1"/>
                <a:t>isempty</a:t>
              </a:r>
              <a:endParaRPr lang="en-US" altLang="en-US" sz="1800" dirty="0"/>
            </a:p>
            <a:p>
              <a:r>
                <a:rPr lang="en-US" altLang="en-US" sz="1800" dirty="0"/>
                <a:t>      return null</a:t>
              </a:r>
            </a:p>
            <a:p>
              <a:r>
                <a:rPr lang="en-US" altLang="en-US" sz="1800" dirty="0"/>
                <a:t>   </a:t>
              </a:r>
              <a:r>
                <a:rPr lang="en-US" altLang="en-US" sz="1800" dirty="0" err="1"/>
                <a:t>endif</a:t>
              </a:r>
              <a:endParaRPr lang="en-US" altLang="en-US" sz="1800" dirty="0"/>
            </a:p>
            <a:p>
              <a:r>
                <a:rPr lang="en-US" altLang="en-US" sz="1800" dirty="0"/>
                <a:t>   </a:t>
              </a:r>
            </a:p>
            <a:p>
              <a:r>
                <a:rPr lang="en-US" altLang="en-US" sz="1800" dirty="0"/>
                <a:t>   data ← stack[top]</a:t>
              </a:r>
            </a:p>
            <a:p>
              <a:r>
                <a:rPr lang="en-US" altLang="en-US" sz="1800" dirty="0"/>
                <a:t>   top ← top - 1</a:t>
              </a:r>
            </a:p>
            <a:p>
              <a:r>
                <a:rPr lang="en-US" altLang="en-US" sz="1800" dirty="0"/>
                <a:t>   return data</a:t>
              </a:r>
            </a:p>
            <a:p>
              <a:r>
                <a:rPr lang="en-US" altLang="en-US" sz="1800" dirty="0"/>
                <a:t>end procedure</a:t>
              </a:r>
              <a:endParaRPr lang="en-IN" altLang="en-US" sz="1800" dirty="0"/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178272" y="4246563"/>
              <a:ext cx="3890492" cy="28741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1800" dirty="0"/>
                <a:t>begin procedure </a:t>
              </a:r>
              <a:r>
                <a:rPr lang="en-US" altLang="en-US" sz="1800" b="1" dirty="0" err="1">
                  <a:solidFill>
                    <a:srgbClr val="FF0000"/>
                  </a:solidFill>
                </a:rPr>
                <a:t>isfull</a:t>
              </a:r>
              <a:endParaRPr lang="en-US" altLang="en-US" sz="1800" b="1" dirty="0">
                <a:solidFill>
                  <a:srgbClr val="FF0000"/>
                </a:solidFill>
              </a:endParaRPr>
            </a:p>
            <a:p>
              <a:endParaRPr lang="en-US" altLang="en-US" sz="1800" dirty="0"/>
            </a:p>
            <a:p>
              <a:r>
                <a:rPr lang="en-US" altLang="en-US" sz="1800" dirty="0"/>
                <a:t>   if top equals to MAXSIZE</a:t>
              </a:r>
            </a:p>
            <a:p>
              <a:r>
                <a:rPr lang="en-US" altLang="en-US" sz="1800" dirty="0"/>
                <a:t>      return true</a:t>
              </a:r>
            </a:p>
            <a:p>
              <a:r>
                <a:rPr lang="en-US" altLang="en-US" sz="1800" dirty="0"/>
                <a:t>   else</a:t>
              </a:r>
            </a:p>
            <a:p>
              <a:r>
                <a:rPr lang="en-US" altLang="en-US" sz="1800" dirty="0"/>
                <a:t>      return false</a:t>
              </a:r>
            </a:p>
            <a:p>
              <a:r>
                <a:rPr lang="en-US" altLang="en-US" sz="1800" dirty="0"/>
                <a:t>   </a:t>
              </a:r>
              <a:r>
                <a:rPr lang="en-US" altLang="en-US" sz="1800" dirty="0" err="1"/>
                <a:t>endif</a:t>
              </a:r>
              <a:endParaRPr lang="en-US" altLang="en-US" sz="1800" dirty="0"/>
            </a:p>
            <a:p>
              <a:r>
                <a:rPr lang="en-US" altLang="en-US" sz="1800" dirty="0"/>
                <a:t>  </a:t>
              </a:r>
            </a:p>
            <a:p>
              <a:r>
                <a:rPr lang="en-US" altLang="en-US" sz="1800" dirty="0"/>
                <a:t>end procedure</a:t>
              </a:r>
              <a:endParaRPr lang="en-IN" altLang="en-US" sz="1800" dirty="0"/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4829749" y="4246563"/>
              <a:ext cx="3534790" cy="2874142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1800" dirty="0"/>
                <a:t>begin procedure </a:t>
              </a:r>
              <a:r>
                <a:rPr lang="en-US" altLang="en-US" sz="1800" b="1" dirty="0" err="1">
                  <a:solidFill>
                    <a:srgbClr val="FF0000"/>
                  </a:solidFill>
                </a:rPr>
                <a:t>isempty</a:t>
              </a:r>
              <a:endParaRPr lang="en-US" altLang="en-US" sz="1800" b="1" dirty="0">
                <a:solidFill>
                  <a:srgbClr val="FF0000"/>
                </a:solidFill>
              </a:endParaRPr>
            </a:p>
            <a:p>
              <a:endParaRPr lang="en-US" altLang="en-US" sz="1800" dirty="0"/>
            </a:p>
            <a:p>
              <a:r>
                <a:rPr lang="en-US" altLang="en-US" sz="1800" dirty="0"/>
                <a:t>   if top less than 0</a:t>
              </a:r>
            </a:p>
            <a:p>
              <a:r>
                <a:rPr lang="en-US" altLang="en-US" sz="1800" dirty="0"/>
                <a:t>      return true</a:t>
              </a:r>
            </a:p>
            <a:p>
              <a:r>
                <a:rPr lang="en-US" altLang="en-US" sz="1800" dirty="0"/>
                <a:t>   else</a:t>
              </a:r>
            </a:p>
            <a:p>
              <a:r>
                <a:rPr lang="en-US" altLang="en-US" sz="1800" dirty="0"/>
                <a:t>      return false</a:t>
              </a:r>
            </a:p>
            <a:p>
              <a:r>
                <a:rPr lang="en-US" altLang="en-US" sz="1800" dirty="0"/>
                <a:t>   </a:t>
              </a:r>
              <a:r>
                <a:rPr lang="en-US" altLang="en-US" sz="1800" dirty="0" err="1"/>
                <a:t>endif</a:t>
              </a:r>
              <a:endParaRPr lang="en-US" altLang="en-US" sz="1800" dirty="0"/>
            </a:p>
            <a:p>
              <a:r>
                <a:rPr lang="en-US" altLang="en-US" sz="1800" dirty="0"/>
                <a:t>  </a:t>
              </a:r>
            </a:p>
            <a:p>
              <a:r>
                <a:rPr lang="en-US" altLang="en-US" sz="1800" dirty="0"/>
                <a:t>end procedure</a:t>
              </a:r>
              <a:endParaRPr lang="en-I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030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D32E34B-CC74-2E8A-6920-578EBA2D23C1}"/>
              </a:ext>
            </a:extLst>
          </p:cNvPr>
          <p:cNvSpPr txBox="1"/>
          <p:nvPr/>
        </p:nvSpPr>
        <p:spPr>
          <a:xfrm>
            <a:off x="4572000" y="192054"/>
            <a:ext cx="4724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 switch(choice){</a:t>
            </a:r>
          </a:p>
          <a:p>
            <a:pPr marL="0" indent="0">
              <a:buNone/>
            </a:pPr>
            <a:r>
              <a:rPr lang="en-IN" sz="1800" dirty="0"/>
              <a:t>	 case 1: </a:t>
            </a:r>
            <a:r>
              <a:rPr lang="en-IN" sz="1800" dirty="0" err="1"/>
              <a:t>printf</a:t>
            </a:r>
            <a:r>
              <a:rPr lang="en-IN" sz="1800" dirty="0"/>
              <a:t>("Enter the value to be insert: ");</a:t>
            </a:r>
          </a:p>
          <a:p>
            <a:pPr marL="0" indent="0">
              <a:buNone/>
            </a:pPr>
            <a:r>
              <a:rPr lang="en-IN" sz="1800" dirty="0"/>
              <a:t>		 </a:t>
            </a:r>
            <a:r>
              <a:rPr lang="en-IN" sz="1800" dirty="0" err="1"/>
              <a:t>scanf</a:t>
            </a:r>
            <a:r>
              <a:rPr lang="en-IN" sz="1800" dirty="0"/>
              <a:t>("%</a:t>
            </a:r>
            <a:r>
              <a:rPr lang="en-IN" sz="1800" dirty="0" err="1"/>
              <a:t>d",&amp;value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		 push(value);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2: pop();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3: display();</a:t>
            </a:r>
          </a:p>
          <a:p>
            <a:pPr marL="0" indent="0">
              <a:buNone/>
            </a:pPr>
            <a:r>
              <a:rPr lang="en-IN" sz="1800" dirty="0"/>
              <a:t>		 break;</a:t>
            </a:r>
          </a:p>
          <a:p>
            <a:pPr marL="0" indent="0">
              <a:buNone/>
            </a:pPr>
            <a:r>
              <a:rPr lang="en-IN" sz="1800" dirty="0"/>
              <a:t>	 case 4: exit(0);</a:t>
            </a:r>
          </a:p>
          <a:p>
            <a:pPr marL="0" indent="0">
              <a:buNone/>
            </a:pPr>
            <a:r>
              <a:rPr lang="en-IN" sz="1800" dirty="0"/>
              <a:t>	 default: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nWrong</a:t>
            </a:r>
            <a:r>
              <a:rPr lang="en-IN" sz="1800" dirty="0"/>
              <a:t> selection!!! Try again!!!");</a:t>
            </a:r>
          </a:p>
          <a:p>
            <a:pPr marL="0" indent="0">
              <a:buNone/>
            </a:pPr>
            <a:r>
              <a:rPr lang="en-IN" sz="1800" dirty="0"/>
              <a:t>      }</a:t>
            </a:r>
          </a:p>
          <a:p>
            <a:pPr marL="0" indent="0">
              <a:buNone/>
            </a:pPr>
            <a:r>
              <a:rPr lang="en-IN" sz="1800" dirty="0"/>
              <a:t>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96F4A2B-D00E-0BBD-4E18-FFA82CDCAB36}"/>
              </a:ext>
            </a:extLst>
          </p:cNvPr>
          <p:cNvSpPr txBox="1"/>
          <p:nvPr/>
        </p:nvSpPr>
        <p:spPr>
          <a:xfrm>
            <a:off x="152400" y="290899"/>
            <a:ext cx="457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#include&lt;stdio.h&gt;</a:t>
            </a:r>
          </a:p>
          <a:p>
            <a:pPr marL="0" indent="0">
              <a:buNone/>
            </a:pPr>
            <a:r>
              <a:rPr lang="en-IN" sz="1800" dirty="0"/>
              <a:t>#include&lt;conio.h&gt;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#define SIZE 10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void push(int);</a:t>
            </a:r>
          </a:p>
          <a:p>
            <a:pPr marL="0" indent="0">
              <a:buNone/>
            </a:pPr>
            <a:r>
              <a:rPr lang="en-IN" sz="1800" dirty="0"/>
              <a:t>void pop();</a:t>
            </a:r>
          </a:p>
          <a:p>
            <a:pPr marL="0" indent="0">
              <a:buNone/>
            </a:pPr>
            <a:r>
              <a:rPr lang="en-IN" sz="1800" dirty="0"/>
              <a:t>void display();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int stack[SIZE], top = -1;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void main()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int value, choice;</a:t>
            </a:r>
          </a:p>
          <a:p>
            <a:pPr marL="0" indent="0">
              <a:buNone/>
            </a:pPr>
            <a:r>
              <a:rPr lang="en-IN" sz="1800" dirty="0"/>
              <a:t>   </a:t>
            </a:r>
            <a:r>
              <a:rPr lang="en-IN" sz="1800" dirty="0" err="1"/>
              <a:t>clrscr</a:t>
            </a:r>
            <a:r>
              <a:rPr lang="en-IN" sz="1800" dirty="0"/>
              <a:t>();</a:t>
            </a:r>
          </a:p>
          <a:p>
            <a:pPr marL="0" indent="0">
              <a:buNone/>
            </a:pPr>
            <a:r>
              <a:rPr lang="en-IN" sz="1800" dirty="0"/>
              <a:t>   while(1){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("\n\n***** MENU *****\n");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("1. Push\n2. Pop\n3. Display\n4. Exit");</a:t>
            </a:r>
            <a:endParaRPr lang="en-IN" sz="1800" u="sng" dirty="0"/>
          </a:p>
          <a:p>
            <a:pPr marL="0" indent="0">
              <a:buNone/>
            </a:pPr>
            <a:r>
              <a:rPr lang="en-IN" sz="1800" u="sng" dirty="0"/>
              <a:t>      </a:t>
            </a:r>
            <a:r>
              <a:rPr lang="en-IN" sz="1800" u="sng" dirty="0" err="1"/>
              <a:t>printf</a:t>
            </a:r>
            <a:r>
              <a:rPr lang="en-IN" sz="1800" u="sng" dirty="0"/>
              <a:t>("\</a:t>
            </a:r>
            <a:r>
              <a:rPr lang="en-IN" sz="1800" u="sng" dirty="0" err="1"/>
              <a:t>nEnter</a:t>
            </a:r>
            <a:r>
              <a:rPr lang="en-IN" sz="1800" u="sng" dirty="0"/>
              <a:t> your choice: ");</a:t>
            </a:r>
          </a:p>
          <a:p>
            <a:pPr marL="0" indent="0">
              <a:buNone/>
            </a:pPr>
            <a:r>
              <a:rPr lang="en-IN" sz="1800" u="sng" dirty="0"/>
              <a:t>      </a:t>
            </a:r>
            <a:r>
              <a:rPr lang="en-IN" sz="1800" u="sng" dirty="0" err="1"/>
              <a:t>scanf</a:t>
            </a:r>
            <a:r>
              <a:rPr lang="en-IN" sz="1800" u="sng" dirty="0"/>
              <a:t>("%</a:t>
            </a:r>
            <a:r>
              <a:rPr lang="en-IN" sz="1800" u="sng" dirty="0" err="1"/>
              <a:t>d",&amp;choice</a:t>
            </a:r>
            <a:r>
              <a:rPr lang="en-IN" sz="1800" u="sng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7590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DDAB687-BCBF-89E0-8706-AF756BB74D5A}"/>
              </a:ext>
            </a:extLst>
          </p:cNvPr>
          <p:cNvSpPr txBox="1"/>
          <p:nvPr/>
        </p:nvSpPr>
        <p:spPr>
          <a:xfrm>
            <a:off x="4572000" y="838200"/>
            <a:ext cx="457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void pop(){</a:t>
            </a:r>
          </a:p>
          <a:p>
            <a:pPr marL="0" indent="0">
              <a:buNone/>
            </a:pPr>
            <a:r>
              <a:rPr lang="en-IN" sz="1800" dirty="0"/>
              <a:t>   if(top == -1)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nStack</a:t>
            </a:r>
            <a:r>
              <a:rPr lang="en-IN" sz="1800" dirty="0"/>
              <a:t> is Empty!!! Deletion is not possible!!!");</a:t>
            </a:r>
          </a:p>
          <a:p>
            <a:pPr marL="0" indent="0">
              <a:buNone/>
            </a:pPr>
            <a:r>
              <a:rPr lang="en-IN" sz="1800" dirty="0"/>
              <a:t>   else{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nDeleted</a:t>
            </a:r>
            <a:r>
              <a:rPr lang="en-IN" sz="1800" dirty="0"/>
              <a:t> : %d", stack[top]);</a:t>
            </a:r>
          </a:p>
          <a:p>
            <a:pPr marL="0" indent="0">
              <a:buNone/>
            </a:pPr>
            <a:r>
              <a:rPr lang="en-IN" sz="1800" dirty="0"/>
              <a:t>      top--;</a:t>
            </a:r>
          </a:p>
          <a:p>
            <a:pPr marL="0" indent="0">
              <a:buNone/>
            </a:pPr>
            <a:r>
              <a:rPr lang="en-IN" sz="1800" dirty="0"/>
              <a:t>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r>
              <a:rPr lang="en-IN" sz="1800" dirty="0"/>
              <a:t>void display(){</a:t>
            </a:r>
          </a:p>
          <a:p>
            <a:pPr marL="0" indent="0">
              <a:buNone/>
            </a:pPr>
            <a:r>
              <a:rPr lang="en-IN" sz="1800" dirty="0"/>
              <a:t>   if(top == -1)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nStack</a:t>
            </a:r>
            <a:r>
              <a:rPr lang="en-IN" sz="1800" dirty="0"/>
              <a:t> is Empty!!!");</a:t>
            </a:r>
          </a:p>
          <a:p>
            <a:pPr marL="0" indent="0">
              <a:buNone/>
            </a:pPr>
            <a:r>
              <a:rPr lang="en-IN" sz="1800" dirty="0"/>
              <a:t>   else{</a:t>
            </a:r>
          </a:p>
          <a:p>
            <a:pPr marL="0" indent="0">
              <a:buNone/>
            </a:pPr>
            <a:r>
              <a:rPr lang="en-IN" sz="1800" dirty="0"/>
              <a:t>      int </a:t>
            </a:r>
            <a:r>
              <a:rPr lang="en-IN" sz="1800" dirty="0" err="1"/>
              <a:t>i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nStack</a:t>
            </a:r>
            <a:r>
              <a:rPr lang="en-IN" sz="1800" dirty="0"/>
              <a:t> elements are:\n");</a:t>
            </a:r>
          </a:p>
          <a:p>
            <a:pPr marL="0" indent="0">
              <a:buNone/>
            </a:pPr>
            <a:r>
              <a:rPr lang="en-IN" sz="1800" dirty="0"/>
              <a:t>      for(</a:t>
            </a:r>
            <a:r>
              <a:rPr lang="en-IN" sz="1800" dirty="0" err="1"/>
              <a:t>i</a:t>
            </a:r>
            <a:r>
              <a:rPr lang="en-IN" sz="1800" dirty="0"/>
              <a:t>=top; </a:t>
            </a:r>
            <a:r>
              <a:rPr lang="en-IN" sz="1800" dirty="0" err="1"/>
              <a:t>i</a:t>
            </a:r>
            <a:r>
              <a:rPr lang="en-IN" sz="1800" dirty="0"/>
              <a:t>&gt;=0; </a:t>
            </a:r>
            <a:r>
              <a:rPr lang="en-IN" sz="1800" dirty="0" err="1"/>
              <a:t>i</a:t>
            </a:r>
            <a:r>
              <a:rPr lang="en-IN" sz="1800" dirty="0"/>
              <a:t>--)</a:t>
            </a:r>
          </a:p>
          <a:p>
            <a:pPr marL="0" indent="0">
              <a:buNone/>
            </a:pPr>
            <a:r>
              <a:rPr lang="en-IN" sz="1800" dirty="0"/>
              <a:t>	 </a:t>
            </a:r>
            <a:r>
              <a:rPr lang="en-IN" sz="1800" dirty="0" err="1"/>
              <a:t>printf</a:t>
            </a:r>
            <a:r>
              <a:rPr lang="en-IN" sz="1800" dirty="0"/>
              <a:t>("%d\</a:t>
            </a:r>
            <a:r>
              <a:rPr lang="en-IN" sz="1800" dirty="0" err="1"/>
              <a:t>n",stack</a:t>
            </a:r>
            <a:r>
              <a:rPr lang="en-IN" sz="1800" dirty="0"/>
              <a:t>[</a:t>
            </a:r>
            <a:r>
              <a:rPr lang="en-IN" sz="1800" dirty="0" err="1"/>
              <a:t>i</a:t>
            </a:r>
            <a:r>
              <a:rPr lang="en-IN" sz="1800" dirty="0"/>
              <a:t>]);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207506E-7891-2747-0869-F5C131A35130}"/>
              </a:ext>
            </a:extLst>
          </p:cNvPr>
          <p:cNvSpPr txBox="1"/>
          <p:nvPr/>
        </p:nvSpPr>
        <p:spPr>
          <a:xfrm>
            <a:off x="76200" y="1524000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/>
              <a:t>void push(int value){</a:t>
            </a:r>
          </a:p>
          <a:p>
            <a:pPr marL="0" indent="0">
              <a:buNone/>
            </a:pPr>
            <a:r>
              <a:rPr lang="en-IN" sz="1800" dirty="0"/>
              <a:t>   if(top == SIZE-1)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nStack</a:t>
            </a:r>
            <a:r>
              <a:rPr lang="en-IN" sz="1800" dirty="0"/>
              <a:t> is Full!!! Insertion is not possible!!!");</a:t>
            </a:r>
          </a:p>
          <a:p>
            <a:pPr marL="0" indent="0">
              <a:buNone/>
            </a:pPr>
            <a:r>
              <a:rPr lang="en-IN" sz="1800" dirty="0"/>
              <a:t>   else{</a:t>
            </a:r>
          </a:p>
          <a:p>
            <a:pPr marL="0" indent="0">
              <a:buNone/>
            </a:pPr>
            <a:r>
              <a:rPr lang="en-IN" sz="1800" dirty="0"/>
              <a:t>      top++;</a:t>
            </a:r>
          </a:p>
          <a:p>
            <a:pPr marL="0" indent="0">
              <a:buNone/>
            </a:pPr>
            <a:r>
              <a:rPr lang="en-IN" sz="1800" dirty="0"/>
              <a:t>      stack[top] = value;</a:t>
            </a:r>
          </a:p>
          <a:p>
            <a:pPr marL="0" indent="0">
              <a:buNone/>
            </a:pPr>
            <a:r>
              <a:rPr lang="en-IN" sz="1800" dirty="0"/>
              <a:t>      </a:t>
            </a:r>
            <a:r>
              <a:rPr lang="en-IN" sz="1800" dirty="0" err="1"/>
              <a:t>printf</a:t>
            </a:r>
            <a:r>
              <a:rPr lang="en-IN" sz="1800" dirty="0"/>
              <a:t>("\</a:t>
            </a:r>
            <a:r>
              <a:rPr lang="en-IN" sz="1800" dirty="0" err="1"/>
              <a:t>nInsertion</a:t>
            </a:r>
            <a:r>
              <a:rPr lang="en-IN" sz="1800" dirty="0"/>
              <a:t> success!!!");</a:t>
            </a:r>
          </a:p>
          <a:p>
            <a:pPr marL="0" indent="0">
              <a:buNone/>
            </a:pPr>
            <a:r>
              <a:rPr lang="en-IN" sz="1800" dirty="0"/>
              <a:t>   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67DB56D-581E-AA80-C245-F44262EE8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610225"/>
            <a:ext cx="31257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1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Implementing Stack Using Linked List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22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Implementing a Stack: Linked List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Advantages</a:t>
            </a:r>
            <a:r>
              <a:rPr lang="en-US" sz="2800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always constant time to push or pop an element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can grow to an infinite size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Disadvantages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the common case is the slowest of all the implementations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can grow to an infinite size</a:t>
            </a:r>
          </a:p>
          <a:p>
            <a:pPr>
              <a:lnSpc>
                <a:spcPct val="80000"/>
              </a:lnSpc>
            </a:pPr>
            <a:r>
              <a:rPr lang="en-US" sz="2800" dirty="0">
                <a:solidFill>
                  <a:srgbClr val="FF0000"/>
                </a:solidFill>
              </a:rPr>
              <a:t>Basic implementation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list is initially empty</a:t>
            </a:r>
          </a:p>
          <a:p>
            <a:pPr lvl="1">
              <a:lnSpc>
                <a:spcPct val="80000"/>
              </a:lnSpc>
            </a:pPr>
            <a:r>
              <a:rPr lang="en-US" sz="2400" i="1" dirty="0"/>
              <a:t>push()</a:t>
            </a:r>
            <a:r>
              <a:rPr lang="en-US" sz="2400" dirty="0"/>
              <a:t> method adds a new item to the head of the list</a:t>
            </a:r>
          </a:p>
          <a:p>
            <a:pPr lvl="1">
              <a:lnSpc>
                <a:spcPct val="80000"/>
              </a:lnSpc>
            </a:pPr>
            <a:r>
              <a:rPr lang="en-US" sz="2400" i="1" dirty="0"/>
              <a:t>pop()</a:t>
            </a:r>
            <a:r>
              <a:rPr lang="en-US" sz="2400" dirty="0"/>
              <a:t> method removes the head of the list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Stack Class (list based)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dirty="0" err="1">
                <a:latin typeface="Arial" charset="0"/>
                <a:cs typeface="Times New Roman" pitchFamily="18" charset="0"/>
              </a:rPr>
              <a:t>struct</a:t>
            </a: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NodeType</a:t>
            </a:r>
            <a:r>
              <a:rPr lang="en-US" dirty="0">
                <a:latin typeface="Arial" charset="0"/>
                <a:cs typeface="Times New Roman" pitchFamily="18" charset="0"/>
              </a:rPr>
              <a:t> {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 </a:t>
            </a:r>
            <a:r>
              <a:rPr lang="en-US" dirty="0" err="1">
                <a:latin typeface="Arial" charset="0"/>
                <a:cs typeface="Times New Roman" pitchFamily="18" charset="0"/>
              </a:rPr>
              <a:t>ItemType</a:t>
            </a:r>
            <a:r>
              <a:rPr lang="en-US" dirty="0">
                <a:latin typeface="Arial" charset="0"/>
                <a:cs typeface="Times New Roman" pitchFamily="18" charset="0"/>
              </a:rPr>
              <a:t> info;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 </a:t>
            </a:r>
            <a:r>
              <a:rPr lang="en-US" dirty="0" err="1">
                <a:latin typeface="Arial" charset="0"/>
                <a:cs typeface="Times New Roman" pitchFamily="18" charset="0"/>
              </a:rPr>
              <a:t>NodeType</a:t>
            </a:r>
            <a:r>
              <a:rPr lang="en-US" dirty="0">
                <a:latin typeface="Arial" charset="0"/>
                <a:cs typeface="Times New Roman" pitchFamily="18" charset="0"/>
              </a:rPr>
              <a:t>* next;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};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dirty="0">
              <a:latin typeface="Arial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 err="1">
                <a:latin typeface="Arial" charset="0"/>
                <a:cs typeface="Times New Roman" pitchFamily="18" charset="0"/>
              </a:rPr>
              <a:t>struct</a:t>
            </a:r>
            <a:r>
              <a:rPr lang="en-US" dirty="0">
                <a:latin typeface="Arial" charset="0"/>
                <a:cs typeface="Times New Roman" pitchFamily="18" charset="0"/>
              </a:rPr>
              <a:t> stack{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		</a:t>
            </a:r>
            <a:r>
              <a:rPr lang="en-US" dirty="0" err="1">
                <a:latin typeface="Arial" charset="0"/>
                <a:cs typeface="Times New Roman" pitchFamily="18" charset="0"/>
              </a:rPr>
              <a:t>int</a:t>
            </a:r>
            <a:r>
              <a:rPr lang="en-US" dirty="0">
                <a:latin typeface="Arial" charset="0"/>
                <a:cs typeface="Times New Roman" pitchFamily="18" charset="0"/>
              </a:rPr>
              <a:t> data;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    stack *link;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}*top;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dirty="0">
              <a:latin typeface="Arial" charset="0"/>
              <a:cs typeface="Times New Roman" pitchFamily="18" charset="0"/>
            </a:endParaRPr>
          </a:p>
          <a:p>
            <a:pPr>
              <a:buFontTx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r>
              <a:rPr lang="en-US">
                <a:ea typeface="MS Mincho" charset="-128"/>
              </a:rPr>
              <a:t>First and last stack elements</a:t>
            </a:r>
            <a:r>
              <a:rPr lang="en-US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r>
              <a:rPr lang="en-US">
                <a:ea typeface="MS Mincho" charset="-128"/>
              </a:rPr>
              <a:t>We need a data member to store the pointer to the top of the stack</a:t>
            </a:r>
            <a:r>
              <a:rPr lang="en-US"/>
              <a:t> </a:t>
            </a:r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  <a:p>
            <a:r>
              <a:rPr lang="en-US">
                <a:ea typeface="MS Mincho" charset="-128"/>
              </a:rPr>
              <a:t>The </a:t>
            </a:r>
            <a:r>
              <a:rPr lang="en-US" i="1">
                <a:ea typeface="MS Mincho" charset="-128"/>
              </a:rPr>
              <a:t>next</a:t>
            </a:r>
            <a:r>
              <a:rPr lang="en-US">
                <a:ea typeface="MS Mincho" charset="-128"/>
              </a:rPr>
              <a:t> element of the last node should contain the value </a:t>
            </a:r>
            <a:r>
              <a:rPr lang="en-US" i="1">
                <a:ea typeface="MS Mincho" charset="-128"/>
              </a:rPr>
              <a:t>NULL</a:t>
            </a:r>
            <a:endParaRPr lang="en-US" i="1"/>
          </a:p>
        </p:txBody>
      </p:sp>
      <p:pic>
        <p:nvPicPr>
          <p:cNvPr id="8196" name="Picture 4" descr="C:\WINDOWS\TEMP\MACJOBS\JPEGS\CHAP05\P269.jpg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2819400" y="2362200"/>
            <a:ext cx="3352800" cy="1704975"/>
          </a:xfrm>
          <a:prstGeom prst="rect">
            <a:avLst/>
          </a:prstGeom>
          <a:noFill/>
        </p:spPr>
      </p:pic>
      <p:pic>
        <p:nvPicPr>
          <p:cNvPr id="8197" name="Picture 5" descr="C:\WINDOWS\TEMP\MACJOBS\JPEGS\CHAP05\P269c.jpg"/>
          <p:cNvPicPr>
            <a:picLocks noChangeAspect="1" noChangeArrowheads="1"/>
          </p:cNvPicPr>
          <p:nvPr/>
        </p:nvPicPr>
        <p:blipFill>
          <a:blip r:embed="rId3" cstate="print">
            <a:lum bright="-18000"/>
          </a:blip>
          <a:srcRect/>
          <a:stretch>
            <a:fillRect/>
          </a:stretch>
        </p:blipFill>
        <p:spPr bwMode="auto">
          <a:xfrm>
            <a:off x="2590800" y="5181600"/>
            <a:ext cx="4495800" cy="14541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7" y="1600200"/>
            <a:ext cx="2409825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0" y="2824163"/>
            <a:ext cx="392430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19600"/>
            <a:ext cx="562927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05400" y="1600200"/>
            <a:ext cx="403860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dirty="0" err="1">
                <a:cs typeface="Times New Roman" pitchFamily="18" charset="0"/>
              </a:rPr>
              <a:t>struct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stacknode</a:t>
            </a:r>
            <a:r>
              <a:rPr lang="en-US" dirty="0">
                <a:cs typeface="Times New Roman" pitchFamily="18" charset="0"/>
              </a:rPr>
              <a:t>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cs typeface="Times New Roman" pitchFamily="18" charset="0"/>
              </a:rPr>
              <a:t>	</a:t>
            </a:r>
            <a:r>
              <a:rPr lang="en-US" dirty="0" err="1">
                <a:cs typeface="Times New Roman" pitchFamily="18" charset="0"/>
              </a:rPr>
              <a:t>int</a:t>
            </a:r>
            <a:r>
              <a:rPr lang="en-US" dirty="0">
                <a:cs typeface="Times New Roman" pitchFamily="18" charset="0"/>
              </a:rPr>
              <a:t> data;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cs typeface="Times New Roman" pitchFamily="18" charset="0"/>
              </a:rPr>
              <a:t>      </a:t>
            </a:r>
            <a:r>
              <a:rPr lang="en-US" dirty="0" err="1">
                <a:cs typeface="Times New Roman" pitchFamily="18" charset="0"/>
              </a:rPr>
              <a:t>stacknode</a:t>
            </a:r>
            <a:r>
              <a:rPr lang="en-US" dirty="0">
                <a:cs typeface="Times New Roman" pitchFamily="18" charset="0"/>
              </a:rPr>
              <a:t> *next;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dirty="0">
                <a:cs typeface="Times New Roman" pitchFamily="18" charset="0"/>
              </a:rPr>
              <a:t>}*top;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3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Push(data)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push(</a:t>
            </a:r>
            <a:r>
              <a:rPr lang="en-US" dirty="0" err="1"/>
              <a:t>int</a:t>
            </a:r>
            <a:r>
              <a:rPr lang="en-US" dirty="0"/>
              <a:t> n)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NodeType</a:t>
            </a:r>
            <a:r>
              <a:rPr lang="en-US" dirty="0">
                <a:latin typeface="Arial" charset="0"/>
                <a:cs typeface="Times New Roman" pitchFamily="18" charset="0"/>
              </a:rPr>
              <a:t>&lt;</a:t>
            </a:r>
            <a:r>
              <a:rPr lang="en-US" dirty="0" err="1">
                <a:latin typeface="Arial" charset="0"/>
                <a:cs typeface="Times New Roman" pitchFamily="18" charset="0"/>
              </a:rPr>
              <a:t>ItemType</a:t>
            </a:r>
            <a:r>
              <a:rPr lang="en-US" dirty="0">
                <a:latin typeface="Arial" charset="0"/>
                <a:cs typeface="Times New Roman" pitchFamily="18" charset="0"/>
              </a:rPr>
              <a:t>&gt;* location;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Arial" charset="0"/>
                <a:cs typeface="Times New Roman" pitchFamily="18" charset="0"/>
              </a:rPr>
              <a:t> </a:t>
            </a:r>
            <a:r>
              <a:rPr lang="en-US" dirty="0">
                <a:latin typeface="Arial" charset="0"/>
                <a:cs typeface="Times New Roman" pitchFamily="18" charset="0"/>
              </a:rPr>
              <a:t> location = new </a:t>
            </a:r>
            <a:r>
              <a:rPr lang="en-US" dirty="0" err="1">
                <a:latin typeface="Arial" charset="0"/>
                <a:cs typeface="Times New Roman" pitchFamily="18" charset="0"/>
              </a:rPr>
              <a:t>NodeType</a:t>
            </a:r>
            <a:r>
              <a:rPr lang="en-US" dirty="0">
                <a:latin typeface="Arial" charset="0"/>
                <a:cs typeface="Times New Roman" pitchFamily="18" charset="0"/>
              </a:rPr>
              <a:t>&lt;</a:t>
            </a:r>
            <a:r>
              <a:rPr lang="en-US" dirty="0" err="1">
                <a:latin typeface="Arial" charset="0"/>
                <a:cs typeface="Times New Roman" pitchFamily="18" charset="0"/>
              </a:rPr>
              <a:t>ItemType</a:t>
            </a:r>
            <a:r>
              <a:rPr lang="en-US" dirty="0">
                <a:latin typeface="Arial" charset="0"/>
                <a:cs typeface="Times New Roman" pitchFamily="18" charset="0"/>
              </a:rPr>
              <a:t>&gt;;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location-&gt;info = </a:t>
            </a:r>
            <a:r>
              <a:rPr lang="en-US" dirty="0" err="1">
                <a:latin typeface="Arial" charset="0"/>
                <a:cs typeface="Times New Roman" pitchFamily="18" charset="0"/>
              </a:rPr>
              <a:t>newItem</a:t>
            </a:r>
            <a:r>
              <a:rPr lang="en-US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location-&gt;next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 = location;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buNone/>
            </a:pPr>
            <a:r>
              <a:rPr lang="en-US" dirty="0"/>
              <a:t> 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Push(data)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7432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push(</a:t>
            </a:r>
            <a:r>
              <a:rPr lang="en-US" dirty="0" err="1"/>
              <a:t>int</a:t>
            </a:r>
            <a:r>
              <a:rPr lang="en-US" dirty="0"/>
              <a:t> n)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stack *q;</a:t>
            </a:r>
          </a:p>
          <a:p>
            <a:pPr>
              <a:buNone/>
            </a:pPr>
            <a:r>
              <a:rPr lang="en-US" dirty="0"/>
              <a:t> q=new stack;</a:t>
            </a:r>
          </a:p>
          <a:p>
            <a:pPr>
              <a:buNone/>
            </a:pPr>
            <a:r>
              <a:rPr lang="en-US" dirty="0"/>
              <a:t> q-&gt;link=top;</a:t>
            </a:r>
          </a:p>
          <a:p>
            <a:pPr>
              <a:buNone/>
            </a:pPr>
            <a:r>
              <a:rPr lang="en-US" dirty="0"/>
              <a:t> q-&gt;data=n;</a:t>
            </a:r>
          </a:p>
          <a:p>
            <a:pPr>
              <a:buNone/>
            </a:pPr>
            <a:r>
              <a:rPr lang="en-US" dirty="0"/>
              <a:t> top=q;</a:t>
            </a:r>
          </a:p>
          <a:p>
            <a:pPr>
              <a:buNone/>
            </a:pPr>
            <a:r>
              <a:rPr lang="en-US" dirty="0"/>
              <a:t>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838200"/>
          </a:xfrm>
        </p:spPr>
        <p:txBody>
          <a:bodyPr/>
          <a:lstStyle/>
          <a:p>
            <a:r>
              <a:rPr lang="en-US" dirty="0">
                <a:ea typeface="MS Mincho" charset="-128"/>
              </a:rPr>
              <a:t>Popping the top element</a:t>
            </a:r>
            <a:endParaRPr lang="en-US" dirty="0"/>
          </a:p>
        </p:txBody>
      </p:sp>
      <p:pic>
        <p:nvPicPr>
          <p:cNvPr id="16387" name="Picture 3" descr="C:\WINDOWS\TEMP\MACJOBS\JPEGS\CHAP05\P276b.jpg"/>
          <p:cNvPicPr>
            <a:picLocks noChangeAspect="1" noChangeArrowheads="1"/>
          </p:cNvPicPr>
          <p:nvPr/>
        </p:nvPicPr>
        <p:blipFill>
          <a:blip r:embed="rId2" cstate="print">
            <a:lum bright="-12000"/>
          </a:blip>
          <a:srcRect/>
          <a:stretch>
            <a:fillRect/>
          </a:stretch>
        </p:blipFill>
        <p:spPr bwMode="auto">
          <a:xfrm>
            <a:off x="2057400" y="1031823"/>
            <a:ext cx="5365750" cy="53528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3733800" cy="2362200"/>
          </a:xfrm>
        </p:spPr>
        <p:txBody>
          <a:bodyPr/>
          <a:lstStyle/>
          <a:p>
            <a:pPr algn="l"/>
            <a:r>
              <a:rPr lang="en-US">
                <a:ea typeface="MS Mincho" charset="-128"/>
              </a:rPr>
              <a:t>Popping the top element</a:t>
            </a:r>
            <a:br>
              <a:rPr lang="en-US">
                <a:ea typeface="MS Mincho" charset="-128"/>
              </a:rPr>
            </a:br>
            <a:r>
              <a:rPr lang="en-US"/>
              <a:t>(cont.)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838200" y="3505200"/>
            <a:ext cx="25908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Need to use a temporary pointer </a:t>
            </a:r>
          </a:p>
        </p:txBody>
      </p:sp>
      <p:pic>
        <p:nvPicPr>
          <p:cNvPr id="18436" name="Picture 4" descr="C:\WINDOWS\TEMP\MACJOBS\JPEGS\CHAP05\P278.jpg"/>
          <p:cNvPicPr>
            <a:picLocks noChangeAspect="1" noChangeArrowheads="1"/>
          </p:cNvPicPr>
          <p:nvPr/>
        </p:nvPicPr>
        <p:blipFill>
          <a:blip r:embed="rId2" cstate="print">
            <a:lum bright="-18000"/>
          </a:blip>
          <a:srcRect/>
          <a:stretch>
            <a:fillRect/>
          </a:stretch>
        </p:blipFill>
        <p:spPr bwMode="auto">
          <a:xfrm>
            <a:off x="4572000" y="304800"/>
            <a:ext cx="3563938" cy="617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buNone/>
            </a:pPr>
            <a:r>
              <a:rPr lang="en-US" dirty="0"/>
              <a:t>pop()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item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-&gt;info;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tempPtr</a:t>
            </a:r>
            <a:r>
              <a:rPr lang="en-US" dirty="0">
                <a:latin typeface="Arial" charset="0"/>
                <a:cs typeface="Times New Roman" pitchFamily="18" charset="0"/>
              </a:rPr>
              <a:t>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-&gt;next;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s-ES_tradnl" dirty="0" err="1">
                <a:latin typeface="Arial" charset="0"/>
                <a:cs typeface="Times New Roman" pitchFamily="18" charset="0"/>
              </a:rPr>
              <a:t>delete</a:t>
            </a:r>
            <a:r>
              <a:rPr lang="es-ES_tradnl" dirty="0">
                <a:latin typeface="Arial" charset="0"/>
                <a:cs typeface="Times New Roman" pitchFamily="18" charset="0"/>
              </a:rPr>
              <a:t> </a:t>
            </a:r>
            <a:r>
              <a:rPr lang="es-ES_tradnl" dirty="0" err="1">
                <a:latin typeface="Arial" charset="0"/>
                <a:cs typeface="Times New Roman" pitchFamily="18" charset="0"/>
              </a:rPr>
              <a:t>tempPtr</a:t>
            </a:r>
            <a:r>
              <a:rPr lang="es-ES_tradnl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s-ES_tradnl" dirty="0">
                <a:latin typeface="Arial" charset="0"/>
                <a:ea typeface="MS Mincho" charset="-128"/>
              </a:rPr>
              <a:t>}</a:t>
            </a:r>
            <a:r>
              <a:rPr lang="en-US" dirty="0">
                <a:latin typeface="Arial" charset="0"/>
              </a:rPr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pop()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item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-&gt;info;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tempPtr</a:t>
            </a:r>
            <a:r>
              <a:rPr lang="en-US" dirty="0">
                <a:latin typeface="Arial" charset="0"/>
                <a:cs typeface="Times New Roman" pitchFamily="18" charset="0"/>
              </a:rPr>
              <a:t>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 = </a:t>
            </a:r>
            <a:r>
              <a:rPr lang="en-US" dirty="0" err="1">
                <a:latin typeface="Arial" charset="0"/>
                <a:cs typeface="Times New Roman" pitchFamily="18" charset="0"/>
              </a:rPr>
              <a:t>topPtr</a:t>
            </a:r>
            <a:r>
              <a:rPr lang="en-US" dirty="0">
                <a:latin typeface="Arial" charset="0"/>
                <a:cs typeface="Times New Roman" pitchFamily="18" charset="0"/>
              </a:rPr>
              <a:t>-&gt;next;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es-ES_tradnl" dirty="0" err="1">
                <a:latin typeface="Arial" charset="0"/>
                <a:cs typeface="Times New Roman" pitchFamily="18" charset="0"/>
              </a:rPr>
              <a:t>delete</a:t>
            </a:r>
            <a:r>
              <a:rPr lang="es-ES_tradnl" dirty="0">
                <a:latin typeface="Arial" charset="0"/>
                <a:cs typeface="Times New Roman" pitchFamily="18" charset="0"/>
              </a:rPr>
              <a:t> </a:t>
            </a:r>
            <a:r>
              <a:rPr lang="es-ES_tradnl" dirty="0" err="1">
                <a:latin typeface="Arial" charset="0"/>
                <a:cs typeface="Times New Roman" pitchFamily="18" charset="0"/>
              </a:rPr>
              <a:t>tempPtr</a:t>
            </a:r>
            <a:r>
              <a:rPr lang="es-ES_tradnl" dirty="0">
                <a:latin typeface="Arial" charset="0"/>
                <a:cs typeface="Times New Roman" pitchFamily="18" charset="0"/>
              </a:rPr>
              <a:t>;</a:t>
            </a:r>
            <a:endParaRPr lang="en-US" dirty="0">
              <a:latin typeface="Arial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s-ES_tradnl" dirty="0">
                <a:latin typeface="Arial" charset="0"/>
                <a:ea typeface="MS Mincho" charset="-128"/>
              </a:rPr>
              <a:t>}</a:t>
            </a:r>
            <a:r>
              <a:rPr lang="en-US" dirty="0">
                <a:latin typeface="Arial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64C9BDD-236D-965A-05F0-37D9F9C2DDC3}"/>
              </a:ext>
            </a:extLst>
          </p:cNvPr>
          <p:cNvSpPr txBox="1"/>
          <p:nvPr/>
        </p:nvSpPr>
        <p:spPr>
          <a:xfrm>
            <a:off x="4294682" y="381000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switch(choice){</a:t>
            </a:r>
          </a:p>
          <a:p>
            <a:r>
              <a:rPr lang="en-IN" dirty="0"/>
              <a:t>	 case 1: </a:t>
            </a:r>
            <a:r>
              <a:rPr lang="en-IN" dirty="0" err="1"/>
              <a:t>printf</a:t>
            </a:r>
            <a:r>
              <a:rPr lang="en-IN" dirty="0"/>
              <a:t>("Enter the value to be insert: ");</a:t>
            </a:r>
          </a:p>
          <a:p>
            <a:r>
              <a:rPr lang="en-IN" dirty="0"/>
              <a:t>		 </a:t>
            </a:r>
            <a:r>
              <a:rPr lang="en-IN" dirty="0" err="1"/>
              <a:t>scanf</a:t>
            </a:r>
            <a:r>
              <a:rPr lang="en-IN" dirty="0"/>
              <a:t>("%d", &amp;value);</a:t>
            </a:r>
          </a:p>
          <a:p>
            <a:r>
              <a:rPr lang="en-IN" dirty="0"/>
              <a:t>		 push(value);</a:t>
            </a:r>
          </a:p>
          <a:p>
            <a:r>
              <a:rPr lang="en-IN" dirty="0"/>
              <a:t>		 break;</a:t>
            </a:r>
          </a:p>
          <a:p>
            <a:r>
              <a:rPr lang="en-IN" dirty="0"/>
              <a:t>	 case 2: pop(); break;</a:t>
            </a:r>
          </a:p>
          <a:p>
            <a:r>
              <a:rPr lang="en-IN" dirty="0"/>
              <a:t>	 case 3: display(); break;</a:t>
            </a:r>
          </a:p>
          <a:p>
            <a:r>
              <a:rPr lang="en-IN" dirty="0"/>
              <a:t>	 case 4: exit(0);</a:t>
            </a:r>
          </a:p>
          <a:p>
            <a:r>
              <a:rPr lang="en-IN" dirty="0"/>
              <a:t>	 default: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nWrong</a:t>
            </a:r>
            <a:r>
              <a:rPr lang="en-IN" dirty="0"/>
              <a:t> selection!!! Please try again!!!\n");</a:t>
            </a:r>
          </a:p>
          <a:p>
            <a:r>
              <a:rPr lang="en-IN" dirty="0"/>
              <a:t>      }</a:t>
            </a:r>
          </a:p>
          <a:p>
            <a:r>
              <a:rPr lang="en-IN" dirty="0"/>
              <a:t>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93C8DC4-440E-E0FB-243D-8C8E82FCC10E}"/>
              </a:ext>
            </a:extLst>
          </p:cNvPr>
          <p:cNvSpPr txBox="1"/>
          <p:nvPr/>
        </p:nvSpPr>
        <p:spPr>
          <a:xfrm>
            <a:off x="304800" y="197346"/>
            <a:ext cx="5715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#include&lt;stdio.h&gt;</a:t>
            </a:r>
          </a:p>
          <a:p>
            <a:r>
              <a:rPr lang="en-IN" dirty="0"/>
              <a:t>#include&lt;conio.h&gt;</a:t>
            </a:r>
          </a:p>
          <a:p>
            <a:r>
              <a:rPr lang="en-IN" dirty="0"/>
              <a:t>struct Node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int data;</a:t>
            </a:r>
          </a:p>
          <a:p>
            <a:r>
              <a:rPr lang="en-IN" dirty="0"/>
              <a:t>   struct Node *next;</a:t>
            </a:r>
          </a:p>
          <a:p>
            <a:r>
              <a:rPr lang="en-IN" dirty="0"/>
              <a:t>}*top = NULL;</a:t>
            </a:r>
          </a:p>
          <a:p>
            <a:endParaRPr lang="en-IN" dirty="0"/>
          </a:p>
          <a:p>
            <a:r>
              <a:rPr lang="en-IN" dirty="0"/>
              <a:t>void push(int);</a:t>
            </a:r>
          </a:p>
          <a:p>
            <a:r>
              <a:rPr lang="en-IN" dirty="0"/>
              <a:t>void pop();</a:t>
            </a:r>
          </a:p>
          <a:p>
            <a:r>
              <a:rPr lang="en-IN" dirty="0"/>
              <a:t>void display();</a:t>
            </a:r>
          </a:p>
          <a:p>
            <a:endParaRPr lang="en-IN" dirty="0"/>
          </a:p>
          <a:p>
            <a:r>
              <a:rPr lang="en-IN" dirty="0"/>
              <a:t>void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int choice, value;</a:t>
            </a:r>
          </a:p>
          <a:p>
            <a:r>
              <a:rPr lang="en-IN" dirty="0"/>
              <a:t>   </a:t>
            </a:r>
            <a:r>
              <a:rPr lang="en-IN" dirty="0" err="1"/>
              <a:t>clrscr</a:t>
            </a:r>
            <a:r>
              <a:rPr lang="en-IN" dirty="0"/>
              <a:t>();</a:t>
            </a:r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("\n:: Stack using Linked List ::\n");</a:t>
            </a:r>
          </a:p>
          <a:p>
            <a:r>
              <a:rPr lang="en-IN" dirty="0"/>
              <a:t>   while(1){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("\n****** MENU ******\n");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("1. Push\n2. Pop\n3. Display\n4. Exit\n");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("Enter your choice: ");</a:t>
            </a:r>
          </a:p>
          <a:p>
            <a:r>
              <a:rPr lang="en-IN" dirty="0"/>
              <a:t>      </a:t>
            </a:r>
            <a:r>
              <a:rPr lang="en-IN" dirty="0" err="1"/>
              <a:t>scanf</a:t>
            </a:r>
            <a:r>
              <a:rPr lang="en-IN" dirty="0"/>
              <a:t>("%</a:t>
            </a:r>
            <a:r>
              <a:rPr lang="en-IN" dirty="0" err="1"/>
              <a:t>d",&amp;choice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6216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D00412C-E7B7-BF90-3430-7B6D6B015353}"/>
              </a:ext>
            </a:extLst>
          </p:cNvPr>
          <p:cNvSpPr txBox="1"/>
          <p:nvPr/>
        </p:nvSpPr>
        <p:spPr>
          <a:xfrm>
            <a:off x="228600" y="0"/>
            <a:ext cx="64008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push(int value)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struct Node *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</a:t>
            </a:r>
            <a:r>
              <a:rPr lang="en-IN" dirty="0" err="1"/>
              <a:t>newNode</a:t>
            </a:r>
            <a:r>
              <a:rPr lang="en-IN" dirty="0"/>
              <a:t> = (struct Node*)malloc(</a:t>
            </a:r>
            <a:r>
              <a:rPr lang="en-IN" dirty="0" err="1"/>
              <a:t>sizeof</a:t>
            </a:r>
            <a:r>
              <a:rPr lang="en-IN" dirty="0"/>
              <a:t>(struct Node));</a:t>
            </a:r>
          </a:p>
          <a:p>
            <a:r>
              <a:rPr lang="en-IN" dirty="0"/>
              <a:t>   </a:t>
            </a:r>
            <a:r>
              <a:rPr lang="en-IN" dirty="0" err="1"/>
              <a:t>newNode</a:t>
            </a:r>
            <a:r>
              <a:rPr lang="en-IN" dirty="0"/>
              <a:t>-&gt;data = value;</a:t>
            </a:r>
          </a:p>
          <a:p>
            <a:r>
              <a:rPr lang="en-IN" dirty="0"/>
              <a:t>   if(top == NULL)</a:t>
            </a:r>
          </a:p>
          <a:p>
            <a:r>
              <a:rPr lang="en-IN" dirty="0"/>
              <a:t>      </a:t>
            </a:r>
            <a:r>
              <a:rPr lang="en-IN" dirty="0" err="1"/>
              <a:t>newNode</a:t>
            </a:r>
            <a:r>
              <a:rPr lang="en-IN" dirty="0"/>
              <a:t>-&gt;next = NULL;</a:t>
            </a:r>
          </a:p>
          <a:p>
            <a:r>
              <a:rPr lang="en-IN" dirty="0"/>
              <a:t>   else</a:t>
            </a:r>
          </a:p>
          <a:p>
            <a:r>
              <a:rPr lang="en-IN" dirty="0"/>
              <a:t>      </a:t>
            </a:r>
            <a:r>
              <a:rPr lang="en-IN" dirty="0" err="1"/>
              <a:t>newNode</a:t>
            </a:r>
            <a:r>
              <a:rPr lang="en-IN" dirty="0"/>
              <a:t>-&gt;next = top;</a:t>
            </a:r>
          </a:p>
          <a:p>
            <a:r>
              <a:rPr lang="en-IN" dirty="0"/>
              <a:t>   top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nInsertion</a:t>
            </a:r>
            <a:r>
              <a:rPr lang="en-IN" dirty="0"/>
              <a:t> is Success!!!\n");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void pop()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if(top == NULL)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nStack</a:t>
            </a:r>
            <a:r>
              <a:rPr lang="en-IN" dirty="0"/>
              <a:t> is Empty!!!\n");</a:t>
            </a:r>
          </a:p>
          <a:p>
            <a:r>
              <a:rPr lang="en-IN" dirty="0"/>
              <a:t>   else{</a:t>
            </a:r>
          </a:p>
          <a:p>
            <a:r>
              <a:rPr lang="en-IN" dirty="0"/>
              <a:t>      struct Node *temp = top;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nDeleted</a:t>
            </a:r>
            <a:r>
              <a:rPr lang="en-IN" dirty="0"/>
              <a:t> element: %d", temp-&gt;data);</a:t>
            </a:r>
          </a:p>
          <a:p>
            <a:r>
              <a:rPr lang="en-IN" dirty="0"/>
              <a:t>      top = temp-&gt;next;</a:t>
            </a:r>
          </a:p>
          <a:p>
            <a:r>
              <a:rPr lang="en-IN" dirty="0"/>
              <a:t>      free(temp);</a:t>
            </a:r>
          </a:p>
          <a:p>
            <a:r>
              <a:rPr lang="en-IN" dirty="0"/>
              <a:t> 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255EDC-7424-2C2E-4402-33DB39EAD219}"/>
              </a:ext>
            </a:extLst>
          </p:cNvPr>
          <p:cNvSpPr txBox="1"/>
          <p:nvPr/>
        </p:nvSpPr>
        <p:spPr>
          <a:xfrm>
            <a:off x="4876800" y="1219200"/>
            <a:ext cx="4191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display()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if(top == NULL)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nStack</a:t>
            </a:r>
            <a:r>
              <a:rPr lang="en-IN" dirty="0"/>
              <a:t> is Empty!!!\n");</a:t>
            </a:r>
          </a:p>
          <a:p>
            <a:r>
              <a:rPr lang="en-IN" dirty="0"/>
              <a:t>   else{</a:t>
            </a:r>
          </a:p>
          <a:p>
            <a:r>
              <a:rPr lang="en-IN" dirty="0"/>
              <a:t>      struct Node *temp = top;</a:t>
            </a:r>
          </a:p>
          <a:p>
            <a:r>
              <a:rPr lang="en-IN" dirty="0"/>
              <a:t>      while(temp-&gt;next != NULL){</a:t>
            </a:r>
          </a:p>
          <a:p>
            <a:r>
              <a:rPr lang="en-IN" dirty="0"/>
              <a:t>	 </a:t>
            </a:r>
            <a:r>
              <a:rPr lang="en-IN" dirty="0" err="1"/>
              <a:t>printf</a:t>
            </a:r>
            <a:r>
              <a:rPr lang="en-IN" dirty="0"/>
              <a:t>("%d---&gt;",temp-&gt;data);</a:t>
            </a:r>
          </a:p>
          <a:p>
            <a:r>
              <a:rPr lang="en-IN" dirty="0"/>
              <a:t>	 temp = temp -&gt; next;</a:t>
            </a:r>
          </a:p>
          <a:p>
            <a:r>
              <a:rPr lang="en-IN" dirty="0"/>
              <a:t>      }</a:t>
            </a:r>
          </a:p>
          <a:p>
            <a:r>
              <a:rPr lang="en-IN" dirty="0"/>
              <a:t>      </a:t>
            </a:r>
            <a:r>
              <a:rPr lang="en-IN" dirty="0" err="1"/>
              <a:t>printf</a:t>
            </a:r>
            <a:r>
              <a:rPr lang="en-IN" dirty="0"/>
              <a:t>("%d---&gt;</a:t>
            </a:r>
            <a:r>
              <a:rPr lang="en-IN" dirty="0" err="1"/>
              <a:t>NULL",temp</a:t>
            </a:r>
            <a:r>
              <a:rPr lang="en-IN" dirty="0"/>
              <a:t>-&gt;data);</a:t>
            </a:r>
          </a:p>
          <a:p>
            <a:r>
              <a:rPr lang="en-IN" dirty="0"/>
              <a:t>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7699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4000"/>
              <a:t>Reverse Polish Notation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2362200"/>
          </a:xfrm>
        </p:spPr>
        <p:txBody>
          <a:bodyPr/>
          <a:lstStyle/>
          <a:p>
            <a:r>
              <a:rPr lang="en-US" sz="2800"/>
              <a:t>Way of inputting numbers to a calculator</a:t>
            </a:r>
          </a:p>
          <a:p>
            <a:pPr lvl="1"/>
            <a:r>
              <a:rPr lang="en-US" sz="2400"/>
              <a:t>(5 + 3) * 6 becomes 5 3 + 6 *</a:t>
            </a:r>
          </a:p>
          <a:p>
            <a:pPr lvl="1"/>
            <a:r>
              <a:rPr lang="en-US" sz="2400"/>
              <a:t>5 + 3 * 6 becomes 5 3 6 * +</a:t>
            </a:r>
          </a:p>
          <a:p>
            <a:r>
              <a:rPr lang="en-US" sz="2800"/>
              <a:t>We can use a stack to implement this</a:t>
            </a:r>
          </a:p>
          <a:p>
            <a:pPr lvl="1"/>
            <a:r>
              <a:rPr lang="en-US" sz="2400"/>
              <a:t>consider 5 3 + 6 *</a:t>
            </a:r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1371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0" name="Line 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2133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1371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1371600" y="4800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16002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5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1600200" y="4800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3</a:t>
            </a:r>
          </a:p>
        </p:txBody>
      </p:sp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22860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3"/>
          <p:cNvSpPr>
            <a:spLocks noChangeShapeType="1"/>
          </p:cNvSpPr>
          <p:nvPr/>
        </p:nvSpPr>
        <p:spPr bwMode="auto">
          <a:xfrm>
            <a:off x="31242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8" name="Line 14"/>
          <p:cNvSpPr>
            <a:spLocks noChangeShapeType="1"/>
          </p:cNvSpPr>
          <p:nvPr/>
        </p:nvSpPr>
        <p:spPr bwMode="auto">
          <a:xfrm>
            <a:off x="3124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9" name="Line 15"/>
          <p:cNvSpPr>
            <a:spLocks noChangeShapeType="1"/>
          </p:cNvSpPr>
          <p:nvPr/>
        </p:nvSpPr>
        <p:spPr bwMode="auto">
          <a:xfrm>
            <a:off x="38862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0" name="Line 16"/>
          <p:cNvSpPr>
            <a:spLocks noChangeShapeType="1"/>
          </p:cNvSpPr>
          <p:nvPr/>
        </p:nvSpPr>
        <p:spPr bwMode="auto">
          <a:xfrm>
            <a:off x="3124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2" name="Text Box 18"/>
          <p:cNvSpPr txBox="1">
            <a:spLocks noChangeArrowheads="1"/>
          </p:cNvSpPr>
          <p:nvPr/>
        </p:nvSpPr>
        <p:spPr bwMode="auto">
          <a:xfrm>
            <a:off x="33528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8</a:t>
            </a:r>
          </a:p>
        </p:txBody>
      </p:sp>
      <p:sp>
        <p:nvSpPr>
          <p:cNvPr id="26644" name="AutoShape 20"/>
          <p:cNvSpPr>
            <a:spLocks noChangeArrowheads="1"/>
          </p:cNvSpPr>
          <p:nvPr/>
        </p:nvSpPr>
        <p:spPr bwMode="auto">
          <a:xfrm>
            <a:off x="40386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2438400" y="4343400"/>
            <a:ext cx="3175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+</a:t>
            </a:r>
          </a:p>
        </p:txBody>
      </p:sp>
      <p:sp>
        <p:nvSpPr>
          <p:cNvPr id="26646" name="Line 22"/>
          <p:cNvSpPr>
            <a:spLocks noChangeShapeType="1"/>
          </p:cNvSpPr>
          <p:nvPr/>
        </p:nvSpPr>
        <p:spPr bwMode="auto">
          <a:xfrm>
            <a:off x="48768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7" name="Line 23"/>
          <p:cNvSpPr>
            <a:spLocks noChangeShapeType="1"/>
          </p:cNvSpPr>
          <p:nvPr/>
        </p:nvSpPr>
        <p:spPr bwMode="auto">
          <a:xfrm>
            <a:off x="48768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>
            <a:off x="56388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9" name="Line 25"/>
          <p:cNvSpPr>
            <a:spLocks noChangeShapeType="1"/>
          </p:cNvSpPr>
          <p:nvPr/>
        </p:nvSpPr>
        <p:spPr bwMode="auto">
          <a:xfrm>
            <a:off x="48768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0" name="Line 26"/>
          <p:cNvSpPr>
            <a:spLocks noChangeShapeType="1"/>
          </p:cNvSpPr>
          <p:nvPr/>
        </p:nvSpPr>
        <p:spPr bwMode="auto">
          <a:xfrm>
            <a:off x="4876800" y="4800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5105400" y="5181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8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5105400" y="48006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6</a:t>
            </a:r>
          </a:p>
        </p:txBody>
      </p:sp>
      <p:sp>
        <p:nvSpPr>
          <p:cNvPr id="26653" name="AutoShape 29"/>
          <p:cNvSpPr>
            <a:spLocks noChangeArrowheads="1"/>
          </p:cNvSpPr>
          <p:nvPr/>
        </p:nvSpPr>
        <p:spPr bwMode="auto">
          <a:xfrm>
            <a:off x="5791200" y="4648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5943600" y="4419600"/>
            <a:ext cx="273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*</a:t>
            </a:r>
          </a:p>
        </p:txBody>
      </p:sp>
      <p:sp>
        <p:nvSpPr>
          <p:cNvPr id="26655" name="Text Box 31"/>
          <p:cNvSpPr txBox="1">
            <a:spLocks noChangeArrowheads="1"/>
          </p:cNvSpPr>
          <p:nvPr/>
        </p:nvSpPr>
        <p:spPr bwMode="auto">
          <a:xfrm>
            <a:off x="4191000" y="4343400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6</a:t>
            </a:r>
          </a:p>
        </p:txBody>
      </p:sp>
      <p:sp>
        <p:nvSpPr>
          <p:cNvPr id="26656" name="Line 32"/>
          <p:cNvSpPr>
            <a:spLocks noChangeShapeType="1"/>
          </p:cNvSpPr>
          <p:nvPr/>
        </p:nvSpPr>
        <p:spPr bwMode="auto">
          <a:xfrm>
            <a:off x="6705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7" name="Line 33"/>
          <p:cNvSpPr>
            <a:spLocks noChangeShapeType="1"/>
          </p:cNvSpPr>
          <p:nvPr/>
        </p:nvSpPr>
        <p:spPr bwMode="auto">
          <a:xfrm>
            <a:off x="6705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8" name="Line 34"/>
          <p:cNvSpPr>
            <a:spLocks noChangeShapeType="1"/>
          </p:cNvSpPr>
          <p:nvPr/>
        </p:nvSpPr>
        <p:spPr bwMode="auto">
          <a:xfrm>
            <a:off x="7467600" y="36576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59" name="Line 35"/>
          <p:cNvSpPr>
            <a:spLocks noChangeShapeType="1"/>
          </p:cNvSpPr>
          <p:nvPr/>
        </p:nvSpPr>
        <p:spPr bwMode="auto">
          <a:xfrm>
            <a:off x="6705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60" name="Text Box 36"/>
          <p:cNvSpPr txBox="1">
            <a:spLocks noChangeArrowheads="1"/>
          </p:cNvSpPr>
          <p:nvPr/>
        </p:nvSpPr>
        <p:spPr bwMode="auto">
          <a:xfrm>
            <a:off x="6934200" y="5181600"/>
            <a:ext cx="43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0"/>
              <a:t>48</a:t>
            </a:r>
          </a:p>
        </p:txBody>
      </p:sp>
      <p:sp>
        <p:nvSpPr>
          <p:cNvPr id="26661" name="Rectangle 37"/>
          <p:cNvSpPr>
            <a:spLocks noChangeArrowheads="1"/>
          </p:cNvSpPr>
          <p:nvPr/>
        </p:nvSpPr>
        <p:spPr bwMode="auto">
          <a:xfrm>
            <a:off x="533400" y="58674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400" i="0"/>
              <a:t>try doing 5 3 6 * 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/>
              <a:t>Stack Applications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r>
              <a:rPr lang="en-US" dirty="0"/>
              <a:t>Stacks are a very common data structure</a:t>
            </a:r>
          </a:p>
          <a:p>
            <a:pPr lvl="1"/>
            <a:r>
              <a:rPr lang="en-US" dirty="0"/>
              <a:t>compilers</a:t>
            </a:r>
          </a:p>
          <a:p>
            <a:pPr lvl="2"/>
            <a:r>
              <a:rPr lang="en-US" dirty="0"/>
              <a:t>parsing data between delimiters (brackets)</a:t>
            </a:r>
          </a:p>
          <a:p>
            <a:pPr lvl="1"/>
            <a:r>
              <a:rPr lang="en-US" dirty="0"/>
              <a:t>operating systems (Memory Management)</a:t>
            </a:r>
          </a:p>
          <a:p>
            <a:pPr lvl="2"/>
            <a:r>
              <a:rPr lang="en-US" dirty="0"/>
              <a:t>program stack</a:t>
            </a:r>
          </a:p>
          <a:p>
            <a:pPr lvl="1"/>
            <a:r>
              <a:rPr lang="en-US" dirty="0"/>
              <a:t>virtual machines</a:t>
            </a:r>
          </a:p>
          <a:p>
            <a:pPr lvl="2"/>
            <a:r>
              <a:rPr lang="en-US" dirty="0"/>
              <a:t>manipulating numbers( Expression Evaluation)</a:t>
            </a:r>
          </a:p>
          <a:p>
            <a:pPr lvl="3"/>
            <a:r>
              <a:rPr lang="en-US" dirty="0"/>
              <a:t>pop 2 numbers off stack, do work (such as add)</a:t>
            </a:r>
          </a:p>
          <a:p>
            <a:pPr lvl="3"/>
            <a:r>
              <a:rPr lang="en-US" dirty="0"/>
              <a:t>push result back on stack and repeat</a:t>
            </a:r>
          </a:p>
          <a:p>
            <a:pPr lvl="1"/>
            <a:r>
              <a:rPr lang="en-US" dirty="0"/>
              <a:t>artificial intelligence</a:t>
            </a:r>
          </a:p>
          <a:p>
            <a:pPr lvl="2"/>
            <a:r>
              <a:rPr lang="en-US" dirty="0"/>
              <a:t>Back Tracking( Game </a:t>
            </a:r>
            <a:r>
              <a:rPr lang="en-US" dirty="0" err="1"/>
              <a:t>playing,finding</a:t>
            </a:r>
            <a:r>
              <a:rPr lang="en-US" dirty="0"/>
              <a:t> a path, exhaustive search )</a:t>
            </a:r>
          </a:p>
        </p:txBody>
      </p:sp>
    </p:spTree>
    <p:extLst>
      <p:ext uri="{BB962C8B-B14F-4D97-AF65-F5344CB8AC3E}">
        <p14:creationId xmlns:p14="http://schemas.microsoft.com/office/powerpoint/2010/main" val="408582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1563</Words>
  <Application>Microsoft Office PowerPoint</Application>
  <PresentationFormat>On-screen Show (4:3)</PresentationFormat>
  <Paragraphs>402</Paragraphs>
  <Slides>36</Slides>
  <Notes>2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Default Design</vt:lpstr>
      <vt:lpstr>Stack</vt:lpstr>
      <vt:lpstr>PowerPoint Presentation</vt:lpstr>
      <vt:lpstr>PowerPoint Presentation</vt:lpstr>
      <vt:lpstr>Stacks</vt:lpstr>
      <vt:lpstr>Stacks</vt:lpstr>
      <vt:lpstr>Stack</vt:lpstr>
      <vt:lpstr>Stack</vt:lpstr>
      <vt:lpstr>Push and Pop</vt:lpstr>
      <vt:lpstr>Stack</vt:lpstr>
      <vt:lpstr>PowerPoint Presentation</vt:lpstr>
      <vt:lpstr>Stacks</vt:lpstr>
      <vt:lpstr>Implementing a Stack</vt:lpstr>
      <vt:lpstr>Implementing Stacks: Array</vt:lpstr>
      <vt:lpstr>Stack Class (array based)</vt:lpstr>
      <vt:lpstr>push() Method (array based)</vt:lpstr>
      <vt:lpstr>pop() Method (array based)</vt:lpstr>
      <vt:lpstr>Remaining Methods (array based)</vt:lpstr>
      <vt:lpstr>Remaining Methods (array based)</vt:lpstr>
      <vt:lpstr>Array implementation - Algorithm</vt:lpstr>
      <vt:lpstr>PowerPoint Presentation</vt:lpstr>
      <vt:lpstr>PowerPoint Presentation</vt:lpstr>
      <vt:lpstr>Implementing Stack Using Linked List</vt:lpstr>
      <vt:lpstr>Implementing a Stack: Linked List</vt:lpstr>
      <vt:lpstr>Stack Class (list based)</vt:lpstr>
      <vt:lpstr>First and last stack elements </vt:lpstr>
      <vt:lpstr>PowerPoint Presentation</vt:lpstr>
      <vt:lpstr>Push(data)</vt:lpstr>
      <vt:lpstr>Push(data)</vt:lpstr>
      <vt:lpstr>Popping the top element</vt:lpstr>
      <vt:lpstr>Popping the top element (cont.)</vt:lpstr>
      <vt:lpstr>Pop()</vt:lpstr>
      <vt:lpstr>PowerPoint Presentation</vt:lpstr>
      <vt:lpstr>PowerPoint Presentation</vt:lpstr>
      <vt:lpstr>PowerPoint Presentation</vt:lpstr>
      <vt:lpstr>Reverse Polish Notation</vt:lpstr>
      <vt:lpstr>Stack Applications</vt:lpstr>
    </vt:vector>
  </TitlesOfParts>
  <Company>University of Wisconsin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mattmcc</dc:creator>
  <cp:lastModifiedBy>HP</cp:lastModifiedBy>
  <cp:revision>76</cp:revision>
  <dcterms:created xsi:type="dcterms:W3CDTF">2002-06-24T19:49:42Z</dcterms:created>
  <dcterms:modified xsi:type="dcterms:W3CDTF">2023-03-14T02:30:32Z</dcterms:modified>
</cp:coreProperties>
</file>