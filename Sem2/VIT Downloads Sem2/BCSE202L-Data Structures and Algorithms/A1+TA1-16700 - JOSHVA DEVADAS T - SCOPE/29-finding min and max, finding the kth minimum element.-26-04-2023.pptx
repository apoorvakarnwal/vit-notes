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8" r:id="rId4"/>
    <p:sldId id="259" r:id="rId5"/>
    <p:sldId id="261" r:id="rId6"/>
    <p:sldId id="260" r:id="rId7"/>
    <p:sldId id="262" r:id="rId8"/>
    <p:sldId id="263" r:id="rId9"/>
    <p:sldId id="264"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452"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5E4F1090-28A4-4354-9C8A-14C6EAE932DD}" type="datetimeFigureOut">
              <a:rPr lang="en-IN" smtClean="0"/>
              <a:t>20-09-2022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EC2542F-924D-4212-8587-8D788C9EA659}" type="slidenum">
              <a:rPr lang="en-IN" smtClean="0"/>
              <a:t>‹#›</a:t>
            </a:fld>
            <a:endParaRPr lang="en-IN"/>
          </a:p>
        </p:txBody>
      </p:sp>
    </p:spTree>
    <p:extLst>
      <p:ext uri="{BB962C8B-B14F-4D97-AF65-F5344CB8AC3E}">
        <p14:creationId xmlns:p14="http://schemas.microsoft.com/office/powerpoint/2010/main" val="2605801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E4F1090-28A4-4354-9C8A-14C6EAE932DD}" type="datetimeFigureOut">
              <a:rPr lang="en-IN" smtClean="0"/>
              <a:t>20-09-2022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EC2542F-924D-4212-8587-8D788C9EA659}" type="slidenum">
              <a:rPr lang="en-IN" smtClean="0"/>
              <a:t>‹#›</a:t>
            </a:fld>
            <a:endParaRPr lang="en-IN"/>
          </a:p>
        </p:txBody>
      </p:sp>
    </p:spTree>
    <p:extLst>
      <p:ext uri="{BB962C8B-B14F-4D97-AF65-F5344CB8AC3E}">
        <p14:creationId xmlns:p14="http://schemas.microsoft.com/office/powerpoint/2010/main" val="38342926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E4F1090-28A4-4354-9C8A-14C6EAE932DD}" type="datetimeFigureOut">
              <a:rPr lang="en-IN" smtClean="0"/>
              <a:t>20-09-2022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EC2542F-924D-4212-8587-8D788C9EA659}" type="slidenum">
              <a:rPr lang="en-IN" smtClean="0"/>
              <a:t>‹#›</a:t>
            </a:fld>
            <a:endParaRPr lang="en-IN"/>
          </a:p>
        </p:txBody>
      </p:sp>
    </p:spTree>
    <p:extLst>
      <p:ext uri="{BB962C8B-B14F-4D97-AF65-F5344CB8AC3E}">
        <p14:creationId xmlns:p14="http://schemas.microsoft.com/office/powerpoint/2010/main" val="3791746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5E4F1090-28A4-4354-9C8A-14C6EAE932DD}" type="datetimeFigureOut">
              <a:rPr lang="en-IN" smtClean="0"/>
              <a:t>20-09-2022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EC2542F-924D-4212-8587-8D788C9EA659}" type="slidenum">
              <a:rPr lang="en-IN" smtClean="0"/>
              <a:t>‹#›</a:t>
            </a:fld>
            <a:endParaRPr lang="en-IN"/>
          </a:p>
        </p:txBody>
      </p:sp>
    </p:spTree>
    <p:extLst>
      <p:ext uri="{BB962C8B-B14F-4D97-AF65-F5344CB8AC3E}">
        <p14:creationId xmlns:p14="http://schemas.microsoft.com/office/powerpoint/2010/main" val="1810891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5E4F1090-28A4-4354-9C8A-14C6EAE932DD}" type="datetimeFigureOut">
              <a:rPr lang="en-IN" smtClean="0"/>
              <a:t>20-09-2022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EC2542F-924D-4212-8587-8D788C9EA659}" type="slidenum">
              <a:rPr lang="en-IN" smtClean="0"/>
              <a:t>‹#›</a:t>
            </a:fld>
            <a:endParaRPr lang="en-IN"/>
          </a:p>
        </p:txBody>
      </p:sp>
    </p:spTree>
    <p:extLst>
      <p:ext uri="{BB962C8B-B14F-4D97-AF65-F5344CB8AC3E}">
        <p14:creationId xmlns:p14="http://schemas.microsoft.com/office/powerpoint/2010/main" val="2094862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5E4F1090-28A4-4354-9C8A-14C6EAE932DD}" type="datetimeFigureOut">
              <a:rPr lang="en-IN" smtClean="0"/>
              <a:t>20-09-2022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EC2542F-924D-4212-8587-8D788C9EA659}" type="slidenum">
              <a:rPr lang="en-IN" smtClean="0"/>
              <a:t>‹#›</a:t>
            </a:fld>
            <a:endParaRPr lang="en-IN"/>
          </a:p>
        </p:txBody>
      </p:sp>
    </p:spTree>
    <p:extLst>
      <p:ext uri="{BB962C8B-B14F-4D97-AF65-F5344CB8AC3E}">
        <p14:creationId xmlns:p14="http://schemas.microsoft.com/office/powerpoint/2010/main" val="9214784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4F1090-28A4-4354-9C8A-14C6EAE932DD}" type="datetimeFigureOut">
              <a:rPr lang="en-IN" smtClean="0"/>
              <a:t>20-09-2022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EC2542F-924D-4212-8587-8D788C9EA659}" type="slidenum">
              <a:rPr lang="en-IN" smtClean="0"/>
              <a:t>‹#›</a:t>
            </a:fld>
            <a:endParaRPr lang="en-IN"/>
          </a:p>
        </p:txBody>
      </p:sp>
    </p:spTree>
    <p:extLst>
      <p:ext uri="{BB962C8B-B14F-4D97-AF65-F5344CB8AC3E}">
        <p14:creationId xmlns:p14="http://schemas.microsoft.com/office/powerpoint/2010/main" val="18626232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E4F1090-28A4-4354-9C8A-14C6EAE932DD}" type="datetimeFigureOut">
              <a:rPr lang="en-IN" smtClean="0"/>
              <a:t>20-09-2022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EC2542F-924D-4212-8587-8D788C9EA659}" type="slidenum">
              <a:rPr lang="en-IN" smtClean="0"/>
              <a:t>‹#›</a:t>
            </a:fld>
            <a:endParaRPr lang="en-IN"/>
          </a:p>
        </p:txBody>
      </p:sp>
    </p:spTree>
    <p:extLst>
      <p:ext uri="{BB962C8B-B14F-4D97-AF65-F5344CB8AC3E}">
        <p14:creationId xmlns:p14="http://schemas.microsoft.com/office/powerpoint/2010/main" val="1053055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E4F1090-28A4-4354-9C8A-14C6EAE932DD}" type="datetimeFigureOut">
              <a:rPr lang="en-IN" smtClean="0"/>
              <a:t>20-09-2022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EC2542F-924D-4212-8587-8D788C9EA659}" type="slidenum">
              <a:rPr lang="en-IN" smtClean="0"/>
              <a:t>‹#›</a:t>
            </a:fld>
            <a:endParaRPr lang="en-IN"/>
          </a:p>
        </p:txBody>
      </p:sp>
    </p:spTree>
    <p:extLst>
      <p:ext uri="{BB962C8B-B14F-4D97-AF65-F5344CB8AC3E}">
        <p14:creationId xmlns:p14="http://schemas.microsoft.com/office/powerpoint/2010/main" val="20857619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E4F1090-28A4-4354-9C8A-14C6EAE932DD}" type="datetimeFigureOut">
              <a:rPr lang="en-IN" smtClean="0"/>
              <a:t>20-09-2022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EC2542F-924D-4212-8587-8D788C9EA659}" type="slidenum">
              <a:rPr lang="en-IN" smtClean="0"/>
              <a:t>‹#›</a:t>
            </a:fld>
            <a:endParaRPr lang="en-IN"/>
          </a:p>
        </p:txBody>
      </p:sp>
    </p:spTree>
    <p:extLst>
      <p:ext uri="{BB962C8B-B14F-4D97-AF65-F5344CB8AC3E}">
        <p14:creationId xmlns:p14="http://schemas.microsoft.com/office/powerpoint/2010/main" val="14595819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E4F1090-28A4-4354-9C8A-14C6EAE932DD}" type="datetimeFigureOut">
              <a:rPr lang="en-IN" smtClean="0"/>
              <a:t>20-09-2022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EC2542F-924D-4212-8587-8D788C9EA659}" type="slidenum">
              <a:rPr lang="en-IN" smtClean="0"/>
              <a:t>‹#›</a:t>
            </a:fld>
            <a:endParaRPr lang="en-IN"/>
          </a:p>
        </p:txBody>
      </p:sp>
    </p:spTree>
    <p:extLst>
      <p:ext uri="{BB962C8B-B14F-4D97-AF65-F5344CB8AC3E}">
        <p14:creationId xmlns:p14="http://schemas.microsoft.com/office/powerpoint/2010/main" val="1903352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4F1090-28A4-4354-9C8A-14C6EAE932DD}" type="datetimeFigureOut">
              <a:rPr lang="en-IN" smtClean="0"/>
              <a:t>20-09-2022</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C2542F-924D-4212-8587-8D788C9EA659}" type="slidenum">
              <a:rPr lang="en-IN" smtClean="0"/>
              <a:t>‹#›</a:t>
            </a:fld>
            <a:endParaRPr lang="en-IN"/>
          </a:p>
        </p:txBody>
      </p:sp>
    </p:spTree>
    <p:extLst>
      <p:ext uri="{BB962C8B-B14F-4D97-AF65-F5344CB8AC3E}">
        <p14:creationId xmlns:p14="http://schemas.microsoft.com/office/powerpoint/2010/main" val="15994938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81316" y="2398240"/>
            <a:ext cx="7424856" cy="769441"/>
          </a:xfrm>
          <a:prstGeom prst="rect">
            <a:avLst/>
          </a:prstGeom>
          <a:noFill/>
        </p:spPr>
        <p:txBody>
          <a:bodyPr wrap="square" rtlCol="0">
            <a:spAutoFit/>
          </a:bodyPr>
          <a:lstStyle/>
          <a:p>
            <a:r>
              <a:rPr lang="en-IN" sz="4400" b="1" dirty="0" smtClean="0">
                <a:solidFill>
                  <a:srgbClr val="FF00FF"/>
                </a:solidFill>
              </a:rPr>
              <a:t>Finding the </a:t>
            </a:r>
            <a:r>
              <a:rPr lang="en-IN" sz="4400" b="1" dirty="0" err="1" smtClean="0">
                <a:solidFill>
                  <a:srgbClr val="FF00FF"/>
                </a:solidFill>
              </a:rPr>
              <a:t>K</a:t>
            </a:r>
            <a:r>
              <a:rPr lang="en-IN" sz="4400" b="1" baseline="30000" dirty="0" err="1" smtClean="0">
                <a:solidFill>
                  <a:srgbClr val="FF00FF"/>
                </a:solidFill>
              </a:rPr>
              <a:t>th</a:t>
            </a:r>
            <a:r>
              <a:rPr lang="en-IN" sz="4400" b="1" dirty="0" smtClean="0">
                <a:solidFill>
                  <a:srgbClr val="FF00FF"/>
                </a:solidFill>
              </a:rPr>
              <a:t> Smallest in BST</a:t>
            </a:r>
            <a:endParaRPr lang="en-IN" sz="4400" b="1" dirty="0">
              <a:solidFill>
                <a:srgbClr val="FF00FF"/>
              </a:solidFill>
            </a:endParaRPr>
          </a:p>
        </p:txBody>
      </p:sp>
    </p:spTree>
    <p:extLst>
      <p:ext uri="{BB962C8B-B14F-4D97-AF65-F5344CB8AC3E}">
        <p14:creationId xmlns:p14="http://schemas.microsoft.com/office/powerpoint/2010/main" val="346889338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46624" y="188640"/>
            <a:ext cx="7704856" cy="2246769"/>
          </a:xfrm>
          <a:prstGeom prst="rect">
            <a:avLst/>
          </a:prstGeom>
        </p:spPr>
        <p:txBody>
          <a:bodyPr wrap="square">
            <a:spAutoFit/>
          </a:bodyPr>
          <a:lstStyle/>
          <a:p>
            <a:r>
              <a:rPr lang="en-US" sz="2800" dirty="0" smtClean="0"/>
              <a:t>Given the root of a binary search tree and K as input, find </a:t>
            </a:r>
            <a:r>
              <a:rPr lang="en-US" sz="2800" dirty="0" err="1" smtClean="0"/>
              <a:t>K</a:t>
            </a:r>
            <a:r>
              <a:rPr lang="en-US" sz="2800" baseline="30000" dirty="0" err="1" smtClean="0"/>
              <a:t>th</a:t>
            </a:r>
            <a:r>
              <a:rPr lang="en-US" sz="2800" dirty="0" smtClean="0"/>
              <a:t> smallest element in BST. </a:t>
            </a:r>
          </a:p>
          <a:p>
            <a:r>
              <a:rPr lang="en-US" sz="2800" dirty="0" smtClean="0"/>
              <a:t>For example, in the following BST, if k = 3, then the output should be 10, and if k = 5, then the output should be 14.</a:t>
            </a:r>
            <a:endParaRPr lang="en-IN" sz="28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2443401"/>
            <a:ext cx="4680520" cy="393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237152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1560" y="476672"/>
            <a:ext cx="8280920" cy="5016758"/>
          </a:xfrm>
          <a:prstGeom prst="rect">
            <a:avLst/>
          </a:prstGeom>
        </p:spPr>
        <p:txBody>
          <a:bodyPr wrap="square">
            <a:spAutoFit/>
          </a:bodyPr>
          <a:lstStyle/>
          <a:p>
            <a:r>
              <a:rPr lang="en-US" sz="3200" b="1" dirty="0" smtClean="0">
                <a:solidFill>
                  <a:srgbClr val="FF0000"/>
                </a:solidFill>
              </a:rPr>
              <a:t>Method : </a:t>
            </a:r>
            <a:r>
              <a:rPr lang="en-US" sz="3200" dirty="0" smtClean="0"/>
              <a:t>Using </a:t>
            </a:r>
            <a:r>
              <a:rPr lang="en-US" sz="3200" dirty="0" err="1" smtClean="0"/>
              <a:t>Inorder</a:t>
            </a:r>
            <a:r>
              <a:rPr lang="en-US" sz="3200" dirty="0" smtClean="0"/>
              <a:t> Traversal (O(n) time and O(h) auxiliary space) </a:t>
            </a:r>
          </a:p>
          <a:p>
            <a:endParaRPr lang="en-US" sz="3200" dirty="0" smtClean="0"/>
          </a:p>
          <a:p>
            <a:pPr marL="457200" indent="-457200">
              <a:buFont typeface="Arial" pitchFamily="34" charset="0"/>
              <a:buChar char="•"/>
            </a:pPr>
            <a:r>
              <a:rPr lang="en-US" sz="3200" dirty="0" smtClean="0"/>
              <a:t>The In-order Traversal of a BST traverses the nodes in increasing order. </a:t>
            </a:r>
          </a:p>
          <a:p>
            <a:pPr marL="457200" indent="-457200">
              <a:buFont typeface="Arial" pitchFamily="34" charset="0"/>
              <a:buChar char="•"/>
            </a:pPr>
            <a:r>
              <a:rPr lang="en-US" sz="3200" dirty="0" smtClean="0"/>
              <a:t>So the idea is to traverse the tree in </a:t>
            </a:r>
            <a:r>
              <a:rPr lang="en-US" sz="3200" dirty="0" err="1" smtClean="0"/>
              <a:t>Inorder</a:t>
            </a:r>
            <a:r>
              <a:rPr lang="en-US" sz="3200" dirty="0" smtClean="0"/>
              <a:t>. While traversing, keep track of the count of the nodes visited. </a:t>
            </a:r>
          </a:p>
          <a:p>
            <a:pPr marL="457200" indent="-457200">
              <a:buFont typeface="Arial" pitchFamily="34" charset="0"/>
              <a:buChar char="•"/>
            </a:pPr>
            <a:r>
              <a:rPr lang="en-US" sz="3200" dirty="0" smtClean="0"/>
              <a:t>If the count becomes k, print the node. </a:t>
            </a:r>
          </a:p>
          <a:p>
            <a:endParaRPr lang="en-US" sz="3200" dirty="0"/>
          </a:p>
        </p:txBody>
      </p:sp>
    </p:spTree>
    <p:extLst>
      <p:ext uri="{BB962C8B-B14F-4D97-AF65-F5344CB8AC3E}">
        <p14:creationId xmlns:p14="http://schemas.microsoft.com/office/powerpoint/2010/main" val="33066301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23528" y="260648"/>
            <a:ext cx="8820472" cy="624786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smtClean="0">
                <a:ln>
                  <a:noFill/>
                </a:ln>
                <a:solidFill>
                  <a:srgbClr val="008200"/>
                </a:solidFill>
                <a:effectLst/>
                <a:latin typeface="Consolas" pitchFamily="49" charset="0"/>
                <a:cs typeface="Arial" pitchFamily="34" charset="0"/>
              </a:rPr>
              <a:t>// A simple </a:t>
            </a:r>
            <a:r>
              <a:rPr kumimoji="0" lang="en-US" sz="1400" b="0" i="0" u="none" strike="noStrike" cap="none" normalizeH="0" baseline="0" dirty="0" err="1" smtClean="0">
                <a:ln>
                  <a:noFill/>
                </a:ln>
                <a:solidFill>
                  <a:srgbClr val="008200"/>
                </a:solidFill>
                <a:effectLst/>
                <a:latin typeface="Consolas" pitchFamily="49" charset="0"/>
                <a:cs typeface="Arial" pitchFamily="34" charset="0"/>
              </a:rPr>
              <a:t>inorder</a:t>
            </a:r>
            <a:r>
              <a:rPr kumimoji="0" lang="en-US" sz="1400" b="0" i="0" u="none" strike="noStrike" cap="none" normalizeH="0" baseline="0" dirty="0" smtClean="0">
                <a:ln>
                  <a:noFill/>
                </a:ln>
                <a:solidFill>
                  <a:srgbClr val="008200"/>
                </a:solidFill>
                <a:effectLst/>
                <a:latin typeface="Consolas" pitchFamily="49" charset="0"/>
                <a:cs typeface="Arial" pitchFamily="34" charset="0"/>
              </a:rPr>
              <a:t> traversal based C++ program</a:t>
            </a:r>
            <a:endParaRPr kumimoji="0" lang="en-US" sz="1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smtClean="0">
                <a:ln>
                  <a:noFill/>
                </a:ln>
                <a:solidFill>
                  <a:srgbClr val="008200"/>
                </a:solidFill>
                <a:effectLst/>
                <a:latin typeface="Consolas" pitchFamily="49" charset="0"/>
                <a:cs typeface="Arial" pitchFamily="34" charset="0"/>
              </a:rPr>
              <a:t>// to find k-</a:t>
            </a:r>
            <a:r>
              <a:rPr kumimoji="0" lang="en-US" sz="1400" b="0" i="0" u="none" strike="noStrike" cap="none" normalizeH="0" baseline="0" dirty="0" err="1" smtClean="0">
                <a:ln>
                  <a:noFill/>
                </a:ln>
                <a:solidFill>
                  <a:srgbClr val="008200"/>
                </a:solidFill>
                <a:effectLst/>
                <a:latin typeface="Consolas" pitchFamily="49" charset="0"/>
                <a:cs typeface="Arial" pitchFamily="34" charset="0"/>
              </a:rPr>
              <a:t>th</a:t>
            </a:r>
            <a:r>
              <a:rPr kumimoji="0" lang="en-US" sz="1400" b="0" i="0" u="none" strike="noStrike" cap="none" normalizeH="0" baseline="0" dirty="0" smtClean="0">
                <a:ln>
                  <a:noFill/>
                </a:ln>
                <a:solidFill>
                  <a:srgbClr val="008200"/>
                </a:solidFill>
                <a:effectLst/>
                <a:latin typeface="Consolas" pitchFamily="49" charset="0"/>
                <a:cs typeface="Arial" pitchFamily="34" charset="0"/>
              </a:rPr>
              <a:t> smallest element in a BST.</a:t>
            </a:r>
            <a:endParaRPr kumimoji="0" lang="en-US" sz="1400" b="0" i="0" u="none" strike="noStrike" cap="none" normalizeH="0" baseline="0" dirty="0" smtClean="0">
              <a:ln>
                <a:noFill/>
              </a:ln>
              <a:solidFill>
                <a:schemeClr val="tx1"/>
              </a:solidFill>
              <a:effectLst/>
              <a:latin typeface="Arial" pitchFamily="34" charset="0"/>
              <a:cs typeface="Arial" pitchFamily="34" charset="0"/>
            </a:endParaRPr>
          </a:p>
          <a:p>
            <a:pPr lvl="0" eaLnBrk="0" fontAlgn="base" hangingPunct="0">
              <a:spcBef>
                <a:spcPct val="0"/>
              </a:spcBef>
              <a:spcAft>
                <a:spcPct val="0"/>
              </a:spcAft>
            </a:pPr>
            <a:r>
              <a:rPr lang="en-US" dirty="0">
                <a:solidFill>
                  <a:srgbClr val="40424E"/>
                </a:solidFill>
                <a:latin typeface="Consolas" pitchFamily="49" charset="0"/>
                <a:cs typeface="Arial" pitchFamily="34" charset="0"/>
              </a:rPr>
              <a:t>#include &lt;</a:t>
            </a:r>
            <a:r>
              <a:rPr lang="en-US" dirty="0" err="1">
                <a:solidFill>
                  <a:srgbClr val="40424E"/>
                </a:solidFill>
                <a:latin typeface="Consolas" pitchFamily="49" charset="0"/>
                <a:cs typeface="Arial" pitchFamily="34" charset="0"/>
              </a:rPr>
              <a:t>stdio.h</a:t>
            </a:r>
            <a:r>
              <a:rPr lang="en-US" dirty="0">
                <a:solidFill>
                  <a:srgbClr val="40424E"/>
                </a:solidFill>
                <a:latin typeface="Consolas" pitchFamily="49" charset="0"/>
                <a:cs typeface="Arial" pitchFamily="34" charset="0"/>
              </a:rPr>
              <a:t>&gt;</a:t>
            </a:r>
          </a:p>
          <a:p>
            <a:pPr lvl="0" eaLnBrk="0" fontAlgn="base" hangingPunct="0">
              <a:spcBef>
                <a:spcPct val="0"/>
              </a:spcBef>
              <a:spcAft>
                <a:spcPct val="0"/>
              </a:spcAft>
            </a:pPr>
            <a:r>
              <a:rPr lang="en-US" dirty="0" smtClean="0">
                <a:solidFill>
                  <a:srgbClr val="40424E"/>
                </a:solidFill>
                <a:latin typeface="Consolas" pitchFamily="49" charset="0"/>
                <a:cs typeface="Arial" pitchFamily="34" charset="0"/>
              </a:rPr>
              <a:t> </a:t>
            </a:r>
            <a:r>
              <a:rPr lang="en-US" dirty="0" err="1" smtClean="0">
                <a:solidFill>
                  <a:srgbClr val="40424E"/>
                </a:solidFill>
                <a:latin typeface="Consolas" pitchFamily="49" charset="0"/>
                <a:cs typeface="Arial" pitchFamily="34" charset="0"/>
              </a:rPr>
              <a:t>typedef</a:t>
            </a:r>
            <a:r>
              <a:rPr lang="en-US" dirty="0" smtClean="0">
                <a:solidFill>
                  <a:srgbClr val="40424E"/>
                </a:solidFill>
                <a:latin typeface="Consolas" pitchFamily="49" charset="0"/>
                <a:cs typeface="Arial" pitchFamily="34" charset="0"/>
              </a:rPr>
              <a:t> </a:t>
            </a:r>
            <a:r>
              <a:rPr lang="en-US" dirty="0" err="1">
                <a:solidFill>
                  <a:srgbClr val="40424E"/>
                </a:solidFill>
                <a:latin typeface="Consolas" pitchFamily="49" charset="0"/>
                <a:cs typeface="Arial" pitchFamily="34" charset="0"/>
              </a:rPr>
              <a:t>struct</a:t>
            </a:r>
            <a:r>
              <a:rPr lang="en-US" dirty="0">
                <a:solidFill>
                  <a:srgbClr val="40424E"/>
                </a:solidFill>
                <a:latin typeface="Consolas" pitchFamily="49" charset="0"/>
                <a:cs typeface="Arial" pitchFamily="34" charset="0"/>
              </a:rPr>
              <a:t> Node {</a:t>
            </a:r>
          </a:p>
          <a:p>
            <a:pPr lvl="0" eaLnBrk="0" fontAlgn="base" hangingPunct="0">
              <a:spcBef>
                <a:spcPct val="0"/>
              </a:spcBef>
              <a:spcAft>
                <a:spcPct val="0"/>
              </a:spcAft>
            </a:pPr>
            <a:r>
              <a:rPr lang="en-US" dirty="0">
                <a:solidFill>
                  <a:srgbClr val="40424E"/>
                </a:solidFill>
                <a:latin typeface="Consolas" pitchFamily="49" charset="0"/>
                <a:cs typeface="Arial" pitchFamily="34" charset="0"/>
              </a:rPr>
              <a:t>    </a:t>
            </a:r>
            <a:r>
              <a:rPr lang="en-US" dirty="0" err="1">
                <a:solidFill>
                  <a:srgbClr val="40424E"/>
                </a:solidFill>
                <a:latin typeface="Consolas" pitchFamily="49" charset="0"/>
                <a:cs typeface="Arial" pitchFamily="34" charset="0"/>
              </a:rPr>
              <a:t>int</a:t>
            </a:r>
            <a:r>
              <a:rPr lang="en-US" dirty="0">
                <a:solidFill>
                  <a:srgbClr val="40424E"/>
                </a:solidFill>
                <a:latin typeface="Consolas" pitchFamily="49" charset="0"/>
                <a:cs typeface="Arial" pitchFamily="34" charset="0"/>
              </a:rPr>
              <a:t> data;</a:t>
            </a:r>
          </a:p>
          <a:p>
            <a:pPr lvl="0" eaLnBrk="0" fontAlgn="base" hangingPunct="0">
              <a:spcBef>
                <a:spcPct val="0"/>
              </a:spcBef>
              <a:spcAft>
                <a:spcPct val="0"/>
              </a:spcAft>
            </a:pPr>
            <a:r>
              <a:rPr lang="en-US" dirty="0">
                <a:solidFill>
                  <a:srgbClr val="40424E"/>
                </a:solidFill>
                <a:latin typeface="Consolas" pitchFamily="49" charset="0"/>
                <a:cs typeface="Arial" pitchFamily="34" charset="0"/>
              </a:rPr>
              <a:t>    </a:t>
            </a:r>
            <a:r>
              <a:rPr lang="en-US" dirty="0" err="1">
                <a:solidFill>
                  <a:srgbClr val="40424E"/>
                </a:solidFill>
                <a:latin typeface="Consolas" pitchFamily="49" charset="0"/>
                <a:cs typeface="Arial" pitchFamily="34" charset="0"/>
              </a:rPr>
              <a:t>struct</a:t>
            </a:r>
            <a:r>
              <a:rPr lang="en-US" dirty="0">
                <a:solidFill>
                  <a:srgbClr val="40424E"/>
                </a:solidFill>
                <a:latin typeface="Consolas" pitchFamily="49" charset="0"/>
                <a:cs typeface="Arial" pitchFamily="34" charset="0"/>
              </a:rPr>
              <a:t> Node *left, *right;</a:t>
            </a:r>
          </a:p>
          <a:p>
            <a:pPr lvl="0" eaLnBrk="0" fontAlgn="base" hangingPunct="0">
              <a:spcBef>
                <a:spcPct val="0"/>
              </a:spcBef>
              <a:spcAft>
                <a:spcPct val="0"/>
              </a:spcAft>
            </a:pPr>
            <a:r>
              <a:rPr lang="en-US" dirty="0">
                <a:solidFill>
                  <a:srgbClr val="40424E"/>
                </a:solidFill>
                <a:latin typeface="Consolas" pitchFamily="49" charset="0"/>
                <a:cs typeface="Arial" pitchFamily="34" charset="0"/>
              </a:rPr>
              <a:t>} Node;</a:t>
            </a:r>
          </a:p>
          <a:p>
            <a:pPr lvl="0" eaLnBrk="0" fontAlgn="base" hangingPunct="0">
              <a:spcBef>
                <a:spcPct val="0"/>
              </a:spcBef>
              <a:spcAft>
                <a:spcPct val="0"/>
              </a:spcAft>
            </a:pPr>
            <a:r>
              <a:rPr lang="en-US" dirty="0">
                <a:solidFill>
                  <a:srgbClr val="40424E"/>
                </a:solidFill>
                <a:latin typeface="Consolas" pitchFamily="49" charset="0"/>
                <a:cs typeface="Arial" pitchFamily="34" charset="0"/>
              </a:rPr>
              <a:t> </a:t>
            </a:r>
            <a:r>
              <a:rPr lang="en-US" dirty="0" err="1" smtClean="0">
                <a:solidFill>
                  <a:srgbClr val="FF0000"/>
                </a:solidFill>
                <a:latin typeface="Consolas" pitchFamily="49" charset="0"/>
                <a:cs typeface="Arial" pitchFamily="34" charset="0"/>
              </a:rPr>
              <a:t>struct</a:t>
            </a:r>
            <a:r>
              <a:rPr lang="en-US" dirty="0" smtClean="0">
                <a:solidFill>
                  <a:srgbClr val="FF0000"/>
                </a:solidFill>
                <a:latin typeface="Consolas" pitchFamily="49" charset="0"/>
                <a:cs typeface="Arial" pitchFamily="34" charset="0"/>
              </a:rPr>
              <a:t> </a:t>
            </a:r>
            <a:r>
              <a:rPr lang="en-US" dirty="0">
                <a:solidFill>
                  <a:srgbClr val="FF0000"/>
                </a:solidFill>
                <a:latin typeface="Consolas" pitchFamily="49" charset="0"/>
                <a:cs typeface="Arial" pitchFamily="34" charset="0"/>
              </a:rPr>
              <a:t>Node* </a:t>
            </a:r>
            <a:r>
              <a:rPr lang="en-US" dirty="0" err="1">
                <a:solidFill>
                  <a:srgbClr val="FF0000"/>
                </a:solidFill>
                <a:latin typeface="Consolas" pitchFamily="49" charset="0"/>
                <a:cs typeface="Arial" pitchFamily="34" charset="0"/>
              </a:rPr>
              <a:t>new_node</a:t>
            </a:r>
            <a:r>
              <a:rPr lang="en-US" dirty="0">
                <a:solidFill>
                  <a:srgbClr val="FF0000"/>
                </a:solidFill>
                <a:latin typeface="Consolas" pitchFamily="49" charset="0"/>
                <a:cs typeface="Arial" pitchFamily="34" charset="0"/>
              </a:rPr>
              <a:t>(</a:t>
            </a:r>
            <a:r>
              <a:rPr lang="en-US" dirty="0" err="1">
                <a:solidFill>
                  <a:srgbClr val="FF0000"/>
                </a:solidFill>
                <a:latin typeface="Consolas" pitchFamily="49" charset="0"/>
                <a:cs typeface="Arial" pitchFamily="34" charset="0"/>
              </a:rPr>
              <a:t>int</a:t>
            </a:r>
            <a:r>
              <a:rPr lang="en-US" dirty="0">
                <a:solidFill>
                  <a:srgbClr val="FF0000"/>
                </a:solidFill>
                <a:latin typeface="Consolas" pitchFamily="49" charset="0"/>
                <a:cs typeface="Arial" pitchFamily="34" charset="0"/>
              </a:rPr>
              <a:t> x)</a:t>
            </a:r>
          </a:p>
          <a:p>
            <a:pPr lvl="0" eaLnBrk="0" fontAlgn="base" hangingPunct="0">
              <a:spcBef>
                <a:spcPct val="0"/>
              </a:spcBef>
              <a:spcAft>
                <a:spcPct val="0"/>
              </a:spcAft>
            </a:pPr>
            <a:r>
              <a:rPr lang="en-US" dirty="0" smtClean="0">
                <a:solidFill>
                  <a:srgbClr val="40424E"/>
                </a:solidFill>
                <a:latin typeface="Consolas" pitchFamily="49" charset="0"/>
                <a:cs typeface="Arial" pitchFamily="34" charset="0"/>
              </a:rPr>
              <a:t>{   </a:t>
            </a:r>
            <a:r>
              <a:rPr lang="en-US" dirty="0" err="1">
                <a:solidFill>
                  <a:srgbClr val="40424E"/>
                </a:solidFill>
                <a:latin typeface="Consolas" pitchFamily="49" charset="0"/>
                <a:cs typeface="Arial" pitchFamily="34" charset="0"/>
              </a:rPr>
              <a:t>struct</a:t>
            </a:r>
            <a:r>
              <a:rPr lang="en-US" dirty="0">
                <a:solidFill>
                  <a:srgbClr val="40424E"/>
                </a:solidFill>
                <a:latin typeface="Consolas" pitchFamily="49" charset="0"/>
                <a:cs typeface="Arial" pitchFamily="34" charset="0"/>
              </a:rPr>
              <a:t> Node* p = </a:t>
            </a:r>
            <a:r>
              <a:rPr lang="en-US" dirty="0" err="1">
                <a:solidFill>
                  <a:srgbClr val="40424E"/>
                </a:solidFill>
                <a:latin typeface="Consolas" pitchFamily="49" charset="0"/>
                <a:cs typeface="Arial" pitchFamily="34" charset="0"/>
              </a:rPr>
              <a:t>malloc</a:t>
            </a:r>
            <a:r>
              <a:rPr lang="en-US" dirty="0">
                <a:solidFill>
                  <a:srgbClr val="40424E"/>
                </a:solidFill>
                <a:latin typeface="Consolas" pitchFamily="49" charset="0"/>
                <a:cs typeface="Arial" pitchFamily="34" charset="0"/>
              </a:rPr>
              <a:t>(</a:t>
            </a:r>
            <a:r>
              <a:rPr lang="en-US" dirty="0" err="1">
                <a:solidFill>
                  <a:srgbClr val="40424E"/>
                </a:solidFill>
                <a:latin typeface="Consolas" pitchFamily="49" charset="0"/>
                <a:cs typeface="Arial" pitchFamily="34" charset="0"/>
              </a:rPr>
              <a:t>sizeof</a:t>
            </a:r>
            <a:r>
              <a:rPr lang="en-US" dirty="0">
                <a:solidFill>
                  <a:srgbClr val="40424E"/>
                </a:solidFill>
                <a:latin typeface="Consolas" pitchFamily="49" charset="0"/>
                <a:cs typeface="Arial" pitchFamily="34" charset="0"/>
              </a:rPr>
              <a:t>(</a:t>
            </a:r>
            <a:r>
              <a:rPr lang="en-US" dirty="0" err="1">
                <a:solidFill>
                  <a:srgbClr val="40424E"/>
                </a:solidFill>
                <a:latin typeface="Consolas" pitchFamily="49" charset="0"/>
                <a:cs typeface="Arial" pitchFamily="34" charset="0"/>
              </a:rPr>
              <a:t>struct</a:t>
            </a:r>
            <a:r>
              <a:rPr lang="en-US" dirty="0">
                <a:solidFill>
                  <a:srgbClr val="40424E"/>
                </a:solidFill>
                <a:latin typeface="Consolas" pitchFamily="49" charset="0"/>
                <a:cs typeface="Arial" pitchFamily="34" charset="0"/>
              </a:rPr>
              <a:t> Node));</a:t>
            </a:r>
          </a:p>
          <a:p>
            <a:pPr lvl="0" eaLnBrk="0" fontAlgn="base" hangingPunct="0">
              <a:spcBef>
                <a:spcPct val="0"/>
              </a:spcBef>
              <a:spcAft>
                <a:spcPct val="0"/>
              </a:spcAft>
            </a:pPr>
            <a:r>
              <a:rPr lang="en-US" dirty="0">
                <a:solidFill>
                  <a:srgbClr val="40424E"/>
                </a:solidFill>
                <a:latin typeface="Consolas" pitchFamily="49" charset="0"/>
                <a:cs typeface="Arial" pitchFamily="34" charset="0"/>
              </a:rPr>
              <a:t>    p-&gt;data = x;</a:t>
            </a:r>
          </a:p>
          <a:p>
            <a:pPr lvl="0" eaLnBrk="0" fontAlgn="base" hangingPunct="0">
              <a:spcBef>
                <a:spcPct val="0"/>
              </a:spcBef>
              <a:spcAft>
                <a:spcPct val="0"/>
              </a:spcAft>
            </a:pPr>
            <a:r>
              <a:rPr lang="en-US" dirty="0">
                <a:solidFill>
                  <a:srgbClr val="40424E"/>
                </a:solidFill>
                <a:latin typeface="Consolas" pitchFamily="49" charset="0"/>
                <a:cs typeface="Arial" pitchFamily="34" charset="0"/>
              </a:rPr>
              <a:t>    p-&gt;left = NULL;</a:t>
            </a:r>
          </a:p>
          <a:p>
            <a:pPr lvl="0" eaLnBrk="0" fontAlgn="base" hangingPunct="0">
              <a:spcBef>
                <a:spcPct val="0"/>
              </a:spcBef>
              <a:spcAft>
                <a:spcPct val="0"/>
              </a:spcAft>
            </a:pPr>
            <a:r>
              <a:rPr lang="en-US" dirty="0">
                <a:solidFill>
                  <a:srgbClr val="40424E"/>
                </a:solidFill>
                <a:latin typeface="Consolas" pitchFamily="49" charset="0"/>
                <a:cs typeface="Arial" pitchFamily="34" charset="0"/>
              </a:rPr>
              <a:t>    p-&gt;right = NULL;</a:t>
            </a:r>
          </a:p>
          <a:p>
            <a:pPr lvl="0" eaLnBrk="0" fontAlgn="base" hangingPunct="0">
              <a:spcBef>
                <a:spcPct val="0"/>
              </a:spcBef>
              <a:spcAft>
                <a:spcPct val="0"/>
              </a:spcAft>
            </a:pPr>
            <a:r>
              <a:rPr lang="en-US" dirty="0">
                <a:solidFill>
                  <a:srgbClr val="40424E"/>
                </a:solidFill>
                <a:latin typeface="Consolas" pitchFamily="49" charset="0"/>
                <a:cs typeface="Arial" pitchFamily="34" charset="0"/>
              </a:rPr>
              <a:t>    return p;</a:t>
            </a:r>
          </a:p>
          <a:p>
            <a:pPr lvl="0" eaLnBrk="0" fontAlgn="base" hangingPunct="0">
              <a:spcBef>
                <a:spcPct val="0"/>
              </a:spcBef>
              <a:spcAft>
                <a:spcPct val="0"/>
              </a:spcAft>
            </a:pPr>
            <a:r>
              <a:rPr lang="en-US" dirty="0">
                <a:solidFill>
                  <a:srgbClr val="40424E"/>
                </a:solidFill>
                <a:latin typeface="Consolas" pitchFamily="49" charset="0"/>
                <a:cs typeface="Arial" pitchFamily="34" charset="0"/>
              </a:rPr>
              <a:t>}</a:t>
            </a:r>
          </a:p>
          <a:p>
            <a:pPr lvl="0" eaLnBrk="0" fontAlgn="base" hangingPunct="0">
              <a:spcBef>
                <a:spcPct val="0"/>
              </a:spcBef>
              <a:spcAft>
                <a:spcPct val="0"/>
              </a:spcAft>
            </a:pPr>
            <a:r>
              <a:rPr lang="en-US" dirty="0" smtClean="0">
                <a:solidFill>
                  <a:srgbClr val="FF0000"/>
                </a:solidFill>
                <a:latin typeface="Consolas" pitchFamily="49" charset="0"/>
                <a:cs typeface="Arial" pitchFamily="34" charset="0"/>
              </a:rPr>
              <a:t>Node</a:t>
            </a:r>
            <a:r>
              <a:rPr lang="en-US" dirty="0">
                <a:solidFill>
                  <a:srgbClr val="FF0000"/>
                </a:solidFill>
                <a:latin typeface="Consolas" pitchFamily="49" charset="0"/>
                <a:cs typeface="Arial" pitchFamily="34" charset="0"/>
              </a:rPr>
              <a:t>* insert(Node* root, </a:t>
            </a:r>
            <a:r>
              <a:rPr lang="en-US" dirty="0" err="1">
                <a:solidFill>
                  <a:srgbClr val="FF0000"/>
                </a:solidFill>
                <a:latin typeface="Consolas" pitchFamily="49" charset="0"/>
                <a:cs typeface="Arial" pitchFamily="34" charset="0"/>
              </a:rPr>
              <a:t>int</a:t>
            </a:r>
            <a:r>
              <a:rPr lang="en-US" dirty="0">
                <a:solidFill>
                  <a:srgbClr val="FF0000"/>
                </a:solidFill>
                <a:latin typeface="Consolas" pitchFamily="49" charset="0"/>
                <a:cs typeface="Arial" pitchFamily="34" charset="0"/>
              </a:rPr>
              <a:t> x)</a:t>
            </a:r>
          </a:p>
          <a:p>
            <a:pPr lvl="0" eaLnBrk="0" fontAlgn="base" hangingPunct="0">
              <a:spcBef>
                <a:spcPct val="0"/>
              </a:spcBef>
              <a:spcAft>
                <a:spcPct val="0"/>
              </a:spcAft>
            </a:pPr>
            <a:r>
              <a:rPr lang="en-US" dirty="0" smtClean="0">
                <a:solidFill>
                  <a:srgbClr val="40424E"/>
                </a:solidFill>
                <a:latin typeface="Consolas" pitchFamily="49" charset="0"/>
                <a:cs typeface="Arial" pitchFamily="34" charset="0"/>
              </a:rPr>
              <a:t>{    </a:t>
            </a:r>
            <a:r>
              <a:rPr lang="en-US" dirty="0">
                <a:solidFill>
                  <a:srgbClr val="40424E"/>
                </a:solidFill>
                <a:latin typeface="Consolas" pitchFamily="49" charset="0"/>
                <a:cs typeface="Arial" pitchFamily="34" charset="0"/>
              </a:rPr>
              <a:t>if (root == NULL)</a:t>
            </a:r>
          </a:p>
          <a:p>
            <a:pPr lvl="0" eaLnBrk="0" fontAlgn="base" hangingPunct="0">
              <a:spcBef>
                <a:spcPct val="0"/>
              </a:spcBef>
              <a:spcAft>
                <a:spcPct val="0"/>
              </a:spcAft>
            </a:pPr>
            <a:r>
              <a:rPr lang="en-US" dirty="0">
                <a:solidFill>
                  <a:srgbClr val="40424E"/>
                </a:solidFill>
                <a:latin typeface="Consolas" pitchFamily="49" charset="0"/>
                <a:cs typeface="Arial" pitchFamily="34" charset="0"/>
              </a:rPr>
              <a:t>        return </a:t>
            </a:r>
            <a:r>
              <a:rPr lang="en-US" dirty="0" err="1">
                <a:solidFill>
                  <a:srgbClr val="40424E"/>
                </a:solidFill>
                <a:latin typeface="Consolas" pitchFamily="49" charset="0"/>
                <a:cs typeface="Arial" pitchFamily="34" charset="0"/>
              </a:rPr>
              <a:t>new_node</a:t>
            </a:r>
            <a:r>
              <a:rPr lang="en-US" dirty="0">
                <a:solidFill>
                  <a:srgbClr val="40424E"/>
                </a:solidFill>
                <a:latin typeface="Consolas" pitchFamily="49" charset="0"/>
                <a:cs typeface="Arial" pitchFamily="34" charset="0"/>
              </a:rPr>
              <a:t>(x);</a:t>
            </a:r>
          </a:p>
          <a:p>
            <a:pPr lvl="0" eaLnBrk="0" fontAlgn="base" hangingPunct="0">
              <a:spcBef>
                <a:spcPct val="0"/>
              </a:spcBef>
              <a:spcAft>
                <a:spcPct val="0"/>
              </a:spcAft>
            </a:pPr>
            <a:r>
              <a:rPr lang="en-US" dirty="0">
                <a:solidFill>
                  <a:srgbClr val="40424E"/>
                </a:solidFill>
                <a:latin typeface="Consolas" pitchFamily="49" charset="0"/>
                <a:cs typeface="Arial" pitchFamily="34" charset="0"/>
              </a:rPr>
              <a:t>    if (x &lt; root-&gt;data)</a:t>
            </a:r>
          </a:p>
          <a:p>
            <a:pPr lvl="0" eaLnBrk="0" fontAlgn="base" hangingPunct="0">
              <a:spcBef>
                <a:spcPct val="0"/>
              </a:spcBef>
              <a:spcAft>
                <a:spcPct val="0"/>
              </a:spcAft>
            </a:pPr>
            <a:r>
              <a:rPr lang="en-US" dirty="0">
                <a:solidFill>
                  <a:srgbClr val="40424E"/>
                </a:solidFill>
                <a:latin typeface="Consolas" pitchFamily="49" charset="0"/>
                <a:cs typeface="Arial" pitchFamily="34" charset="0"/>
              </a:rPr>
              <a:t>        root-&gt;left = insert(root-&gt;left, x);</a:t>
            </a:r>
          </a:p>
          <a:p>
            <a:pPr lvl="0" eaLnBrk="0" fontAlgn="base" hangingPunct="0">
              <a:spcBef>
                <a:spcPct val="0"/>
              </a:spcBef>
              <a:spcAft>
                <a:spcPct val="0"/>
              </a:spcAft>
            </a:pPr>
            <a:r>
              <a:rPr lang="en-US" dirty="0">
                <a:solidFill>
                  <a:srgbClr val="40424E"/>
                </a:solidFill>
                <a:latin typeface="Consolas" pitchFamily="49" charset="0"/>
                <a:cs typeface="Arial" pitchFamily="34" charset="0"/>
              </a:rPr>
              <a:t>    else if (x &gt; root-&gt;data)</a:t>
            </a:r>
          </a:p>
          <a:p>
            <a:pPr lvl="0" eaLnBrk="0" fontAlgn="base" hangingPunct="0">
              <a:spcBef>
                <a:spcPct val="0"/>
              </a:spcBef>
              <a:spcAft>
                <a:spcPct val="0"/>
              </a:spcAft>
            </a:pPr>
            <a:r>
              <a:rPr lang="en-US" dirty="0">
                <a:solidFill>
                  <a:srgbClr val="40424E"/>
                </a:solidFill>
                <a:latin typeface="Consolas" pitchFamily="49" charset="0"/>
                <a:cs typeface="Arial" pitchFamily="34" charset="0"/>
              </a:rPr>
              <a:t>        root-&gt;right = insert(root-&gt;right, x);</a:t>
            </a:r>
          </a:p>
          <a:p>
            <a:pPr lvl="0" eaLnBrk="0" fontAlgn="base" hangingPunct="0">
              <a:spcBef>
                <a:spcPct val="0"/>
              </a:spcBef>
              <a:spcAft>
                <a:spcPct val="0"/>
              </a:spcAft>
            </a:pPr>
            <a:r>
              <a:rPr lang="en-US" dirty="0">
                <a:solidFill>
                  <a:srgbClr val="40424E"/>
                </a:solidFill>
                <a:latin typeface="Consolas" pitchFamily="49" charset="0"/>
                <a:cs typeface="Arial" pitchFamily="34" charset="0"/>
              </a:rPr>
              <a:t>    return root;</a:t>
            </a:r>
          </a:p>
          <a:p>
            <a:pPr lvl="0" eaLnBrk="0" fontAlgn="base" hangingPunct="0">
              <a:spcBef>
                <a:spcPct val="0"/>
              </a:spcBef>
              <a:spcAft>
                <a:spcPct val="0"/>
              </a:spcAft>
            </a:pPr>
            <a:r>
              <a:rPr lang="en-US" dirty="0">
                <a:solidFill>
                  <a:srgbClr val="40424E"/>
                </a:solidFill>
                <a:latin typeface="Consolas" pitchFamily="49" charset="0"/>
                <a:cs typeface="Arial" pitchFamily="34" charset="0"/>
              </a:rPr>
              <a:t>}</a:t>
            </a:r>
            <a:r>
              <a:rPr kumimoji="0" lang="en-US" sz="1800" b="0" i="0" u="none" strike="noStrike" cap="none" normalizeH="0" baseline="0" dirty="0" smtClean="0">
                <a:ln>
                  <a:noFill/>
                </a:ln>
                <a:solidFill>
                  <a:srgbClr val="40424E"/>
                </a:solidFill>
                <a:effectLst/>
                <a:latin typeface="Consolas" pitchFamily="49" charset="0"/>
                <a:cs typeface="Arial" pitchFamily="34" charset="0"/>
              </a:rPr>
              <a:t> </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93276988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95536" y="117693"/>
            <a:ext cx="7848872" cy="6247864"/>
          </a:xfrm>
          <a:prstGeom prst="rect">
            <a:avLst/>
          </a:prstGeom>
        </p:spPr>
        <p:txBody>
          <a:bodyPr wrap="square">
            <a:spAutoFit/>
          </a:bodyPr>
          <a:lstStyle/>
          <a:p>
            <a:r>
              <a:rPr lang="en-US" sz="2000" dirty="0"/>
              <a:t>// Function to find </a:t>
            </a:r>
            <a:r>
              <a:rPr lang="en-US" sz="2000" dirty="0" err="1"/>
              <a:t>k'th</a:t>
            </a:r>
            <a:r>
              <a:rPr lang="en-US" sz="2000" dirty="0"/>
              <a:t> smallest element in BST</a:t>
            </a:r>
          </a:p>
          <a:p>
            <a:r>
              <a:rPr lang="en-US" sz="2000" dirty="0"/>
              <a:t>// Here count denotes the number of nodes processed so far</a:t>
            </a:r>
          </a:p>
          <a:p>
            <a:r>
              <a:rPr lang="en-US" sz="2000" dirty="0" err="1"/>
              <a:t>int</a:t>
            </a:r>
            <a:r>
              <a:rPr lang="en-US" sz="2000" dirty="0"/>
              <a:t> count = 0;</a:t>
            </a:r>
          </a:p>
          <a:p>
            <a:r>
              <a:rPr lang="en-US" sz="2000" dirty="0">
                <a:solidFill>
                  <a:srgbClr val="FF0000"/>
                </a:solidFill>
              </a:rPr>
              <a:t>Node* </a:t>
            </a:r>
            <a:r>
              <a:rPr lang="en-US" sz="2000" dirty="0" err="1">
                <a:solidFill>
                  <a:srgbClr val="FF0000"/>
                </a:solidFill>
              </a:rPr>
              <a:t>kthSmallest</a:t>
            </a:r>
            <a:r>
              <a:rPr lang="en-US" sz="2000" dirty="0">
                <a:solidFill>
                  <a:srgbClr val="FF0000"/>
                </a:solidFill>
              </a:rPr>
              <a:t>(Node* root, </a:t>
            </a:r>
            <a:r>
              <a:rPr lang="en-US" sz="2000" dirty="0" err="1">
                <a:solidFill>
                  <a:srgbClr val="FF0000"/>
                </a:solidFill>
              </a:rPr>
              <a:t>int</a:t>
            </a:r>
            <a:r>
              <a:rPr lang="en-US" sz="2000" dirty="0">
                <a:solidFill>
                  <a:srgbClr val="FF0000"/>
                </a:solidFill>
              </a:rPr>
              <a:t> k)</a:t>
            </a:r>
          </a:p>
          <a:p>
            <a:r>
              <a:rPr lang="en-US" sz="2000" dirty="0"/>
              <a:t>{</a:t>
            </a:r>
          </a:p>
          <a:p>
            <a:r>
              <a:rPr lang="en-US" sz="2000" dirty="0"/>
              <a:t>    // base case</a:t>
            </a:r>
          </a:p>
          <a:p>
            <a:r>
              <a:rPr lang="en-US" sz="2000" dirty="0"/>
              <a:t>    if (root == NULL)</a:t>
            </a:r>
          </a:p>
          <a:p>
            <a:r>
              <a:rPr lang="en-US" sz="2000" dirty="0"/>
              <a:t>        return NULL;</a:t>
            </a:r>
          </a:p>
          <a:p>
            <a:r>
              <a:rPr lang="en-US" sz="2000" dirty="0"/>
              <a:t> </a:t>
            </a:r>
            <a:r>
              <a:rPr lang="en-US" sz="2000" dirty="0" smtClean="0"/>
              <a:t>    </a:t>
            </a:r>
            <a:r>
              <a:rPr lang="en-US" sz="2000" dirty="0"/>
              <a:t>// search in left subtree</a:t>
            </a:r>
          </a:p>
          <a:p>
            <a:r>
              <a:rPr lang="en-US" sz="2000" dirty="0"/>
              <a:t>    Node* left = </a:t>
            </a:r>
            <a:r>
              <a:rPr lang="en-US" sz="2000" dirty="0" err="1"/>
              <a:t>kthSmallest</a:t>
            </a:r>
            <a:r>
              <a:rPr lang="en-US" sz="2000" dirty="0"/>
              <a:t>(root-&gt;left, k);</a:t>
            </a:r>
          </a:p>
          <a:p>
            <a:r>
              <a:rPr lang="en-US" sz="2000" dirty="0"/>
              <a:t> </a:t>
            </a:r>
            <a:r>
              <a:rPr lang="en-US" sz="2000" dirty="0" smtClean="0"/>
              <a:t>    </a:t>
            </a:r>
            <a:r>
              <a:rPr lang="en-US" sz="2000" dirty="0"/>
              <a:t>// if </a:t>
            </a:r>
            <a:r>
              <a:rPr lang="en-US" sz="2000" dirty="0" err="1"/>
              <a:t>k'th</a:t>
            </a:r>
            <a:r>
              <a:rPr lang="en-US" sz="2000" dirty="0"/>
              <a:t> smallest is found in left subtree, return it</a:t>
            </a:r>
          </a:p>
          <a:p>
            <a:r>
              <a:rPr lang="en-US" sz="2000" dirty="0"/>
              <a:t>    if (left != NULL)</a:t>
            </a:r>
          </a:p>
          <a:p>
            <a:r>
              <a:rPr lang="en-US" sz="2000" dirty="0"/>
              <a:t>        return left;</a:t>
            </a:r>
          </a:p>
          <a:p>
            <a:r>
              <a:rPr lang="en-US" sz="2000" dirty="0"/>
              <a:t> </a:t>
            </a:r>
            <a:r>
              <a:rPr lang="en-US" sz="2000" dirty="0" smtClean="0"/>
              <a:t>    </a:t>
            </a:r>
            <a:r>
              <a:rPr lang="en-US" sz="2000" dirty="0"/>
              <a:t>// if current element is </a:t>
            </a:r>
            <a:r>
              <a:rPr lang="en-US" sz="2000" dirty="0" err="1"/>
              <a:t>k'th</a:t>
            </a:r>
            <a:r>
              <a:rPr lang="en-US" sz="2000" dirty="0"/>
              <a:t> smallest, return it</a:t>
            </a:r>
          </a:p>
          <a:p>
            <a:r>
              <a:rPr lang="en-US" sz="2000" dirty="0" smtClean="0">
                <a:solidFill>
                  <a:srgbClr val="FF0000"/>
                </a:solidFill>
              </a:rPr>
              <a:t>    </a:t>
            </a:r>
            <a:r>
              <a:rPr lang="en-US" sz="2000" dirty="0" err="1" smtClean="0">
                <a:solidFill>
                  <a:srgbClr val="FF0000"/>
                </a:solidFill>
              </a:rPr>
              <a:t>printf</a:t>
            </a:r>
            <a:r>
              <a:rPr lang="en-US" sz="2000" dirty="0">
                <a:solidFill>
                  <a:srgbClr val="FF0000"/>
                </a:solidFill>
              </a:rPr>
              <a:t>("%d ",root-&gt;data);</a:t>
            </a:r>
          </a:p>
          <a:p>
            <a:r>
              <a:rPr lang="en-US" sz="2000" dirty="0"/>
              <a:t>    count++; </a:t>
            </a:r>
            <a:endParaRPr lang="en-US" sz="2000" dirty="0" smtClean="0"/>
          </a:p>
          <a:p>
            <a:r>
              <a:rPr lang="en-US" sz="2000" dirty="0" smtClean="0"/>
              <a:t>if </a:t>
            </a:r>
            <a:r>
              <a:rPr lang="en-US" sz="2000" dirty="0"/>
              <a:t>(count == k)</a:t>
            </a:r>
          </a:p>
          <a:p>
            <a:r>
              <a:rPr lang="en-US" sz="2000" dirty="0"/>
              <a:t>        return root;</a:t>
            </a:r>
          </a:p>
          <a:p>
            <a:r>
              <a:rPr lang="en-US" sz="2000" dirty="0"/>
              <a:t> </a:t>
            </a:r>
            <a:r>
              <a:rPr lang="en-US" sz="2000" dirty="0" smtClean="0"/>
              <a:t>    </a:t>
            </a:r>
            <a:r>
              <a:rPr lang="en-US" sz="2000" dirty="0"/>
              <a:t>// else search in right subtree</a:t>
            </a:r>
          </a:p>
          <a:p>
            <a:r>
              <a:rPr lang="en-US" sz="2000" dirty="0"/>
              <a:t>    return </a:t>
            </a:r>
            <a:r>
              <a:rPr lang="en-US" sz="2000" dirty="0" err="1"/>
              <a:t>kthSmallest</a:t>
            </a:r>
            <a:r>
              <a:rPr lang="en-US" sz="2000" dirty="0"/>
              <a:t>(root-&gt;right, k</a:t>
            </a:r>
            <a:r>
              <a:rPr lang="en-US" sz="2000" dirty="0" smtClean="0"/>
              <a:t>);}</a:t>
            </a:r>
            <a:endParaRPr lang="en-US" sz="2000" dirty="0"/>
          </a:p>
        </p:txBody>
      </p:sp>
    </p:spTree>
    <p:extLst>
      <p:ext uri="{BB962C8B-B14F-4D97-AF65-F5344CB8AC3E}">
        <p14:creationId xmlns:p14="http://schemas.microsoft.com/office/powerpoint/2010/main" val="8994994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3232" y="9560"/>
            <a:ext cx="7488832" cy="2862322"/>
          </a:xfrm>
          <a:prstGeom prst="rect">
            <a:avLst/>
          </a:prstGeom>
        </p:spPr>
        <p:txBody>
          <a:bodyPr wrap="square">
            <a:spAutoFit/>
          </a:bodyPr>
          <a:lstStyle/>
          <a:p>
            <a:r>
              <a:rPr lang="en-IN" sz="2000" dirty="0">
                <a:solidFill>
                  <a:srgbClr val="FF0000"/>
                </a:solidFill>
              </a:rPr>
              <a:t>// Function to print </a:t>
            </a:r>
            <a:r>
              <a:rPr lang="en-IN" sz="2000" dirty="0" err="1">
                <a:solidFill>
                  <a:srgbClr val="FF0000"/>
                </a:solidFill>
              </a:rPr>
              <a:t>k'th</a:t>
            </a:r>
            <a:r>
              <a:rPr lang="en-IN" sz="2000" dirty="0">
                <a:solidFill>
                  <a:srgbClr val="FF0000"/>
                </a:solidFill>
              </a:rPr>
              <a:t> smallest element in BST</a:t>
            </a:r>
          </a:p>
          <a:p>
            <a:r>
              <a:rPr lang="en-IN" sz="2000" dirty="0"/>
              <a:t>void </a:t>
            </a:r>
            <a:r>
              <a:rPr lang="en-IN" sz="2000" dirty="0" err="1"/>
              <a:t>printKthSmallest</a:t>
            </a:r>
            <a:r>
              <a:rPr lang="en-IN" sz="2000" dirty="0"/>
              <a:t>(Node* root, </a:t>
            </a:r>
            <a:r>
              <a:rPr lang="en-IN" sz="2000" dirty="0" err="1"/>
              <a:t>int</a:t>
            </a:r>
            <a:r>
              <a:rPr lang="en-IN" sz="2000" dirty="0"/>
              <a:t> k)</a:t>
            </a:r>
          </a:p>
          <a:p>
            <a:r>
              <a:rPr lang="en-IN" sz="2000" dirty="0" smtClean="0"/>
              <a:t>{  </a:t>
            </a:r>
            <a:r>
              <a:rPr lang="en-IN" sz="2000" dirty="0"/>
              <a:t>// maintain index to count number of nodes processed so far</a:t>
            </a:r>
          </a:p>
          <a:p>
            <a:r>
              <a:rPr lang="en-IN" sz="2000" dirty="0"/>
              <a:t>    Node* res = </a:t>
            </a:r>
            <a:r>
              <a:rPr lang="en-IN" sz="2000" dirty="0" err="1"/>
              <a:t>kthSmallest</a:t>
            </a:r>
            <a:r>
              <a:rPr lang="en-IN" sz="2000" dirty="0"/>
              <a:t>(root, k);</a:t>
            </a:r>
          </a:p>
          <a:p>
            <a:r>
              <a:rPr lang="en-IN" sz="2000" dirty="0"/>
              <a:t>    if (res == NULL)</a:t>
            </a:r>
          </a:p>
          <a:p>
            <a:r>
              <a:rPr lang="en-IN" sz="2000" dirty="0"/>
              <a:t>        </a:t>
            </a:r>
            <a:r>
              <a:rPr lang="en-IN" sz="2000" dirty="0" err="1"/>
              <a:t>printf</a:t>
            </a:r>
            <a:r>
              <a:rPr lang="en-IN" sz="2000" dirty="0"/>
              <a:t>("There are less than k nodes in the BST");</a:t>
            </a:r>
          </a:p>
          <a:p>
            <a:r>
              <a:rPr lang="en-IN" sz="2000" dirty="0"/>
              <a:t>    else</a:t>
            </a:r>
          </a:p>
          <a:p>
            <a:r>
              <a:rPr lang="en-IN" sz="2000" dirty="0"/>
              <a:t>        </a:t>
            </a:r>
            <a:r>
              <a:rPr lang="en-IN" sz="2000" dirty="0" err="1"/>
              <a:t>printf</a:t>
            </a:r>
            <a:r>
              <a:rPr lang="en-IN" sz="2000" dirty="0"/>
              <a:t>("K-</a:t>
            </a:r>
            <a:r>
              <a:rPr lang="en-IN" sz="2000" dirty="0" err="1"/>
              <a:t>th</a:t>
            </a:r>
            <a:r>
              <a:rPr lang="en-IN" sz="2000" dirty="0"/>
              <a:t> Smallest Element is %d", res-&gt;data);</a:t>
            </a:r>
          </a:p>
          <a:p>
            <a:r>
              <a:rPr lang="en-IN" sz="2000" dirty="0"/>
              <a:t>}</a:t>
            </a:r>
            <a:endParaRPr lang="en-IN" sz="2000" dirty="0" smtClean="0"/>
          </a:p>
        </p:txBody>
      </p:sp>
      <p:sp>
        <p:nvSpPr>
          <p:cNvPr id="4" name="Rectangle 3"/>
          <p:cNvSpPr/>
          <p:nvPr/>
        </p:nvSpPr>
        <p:spPr>
          <a:xfrm>
            <a:off x="3563888" y="2657958"/>
            <a:ext cx="5400600" cy="4093428"/>
          </a:xfrm>
          <a:prstGeom prst="rect">
            <a:avLst/>
          </a:prstGeom>
        </p:spPr>
        <p:txBody>
          <a:bodyPr wrap="square">
            <a:spAutoFit/>
          </a:bodyPr>
          <a:lstStyle/>
          <a:p>
            <a:r>
              <a:rPr lang="en-IN" sz="2000" dirty="0">
                <a:solidFill>
                  <a:srgbClr val="FF0000"/>
                </a:solidFill>
              </a:rPr>
              <a:t>// main function</a:t>
            </a:r>
          </a:p>
          <a:p>
            <a:r>
              <a:rPr lang="en-IN" sz="2000" dirty="0" err="1"/>
              <a:t>int</a:t>
            </a:r>
            <a:r>
              <a:rPr lang="en-IN" sz="2000" dirty="0"/>
              <a:t> main()</a:t>
            </a:r>
          </a:p>
          <a:p>
            <a:r>
              <a:rPr lang="en-IN" sz="2000" dirty="0" smtClean="0"/>
              <a:t>{    </a:t>
            </a:r>
            <a:r>
              <a:rPr lang="en-IN" sz="2000" dirty="0"/>
              <a:t>Node* root = NULL;</a:t>
            </a:r>
          </a:p>
          <a:p>
            <a:r>
              <a:rPr lang="en-IN" sz="2000" dirty="0"/>
              <a:t>    </a:t>
            </a:r>
            <a:r>
              <a:rPr lang="en-IN" sz="2000" dirty="0" err="1"/>
              <a:t>int</a:t>
            </a:r>
            <a:r>
              <a:rPr lang="en-IN" sz="2000" dirty="0"/>
              <a:t> keys[] = { 20, 8, 22, 4, 12, 10, 14 ,33, 11, 29};</a:t>
            </a:r>
          </a:p>
          <a:p>
            <a:r>
              <a:rPr lang="en-IN" sz="2000" dirty="0"/>
              <a:t>    </a:t>
            </a:r>
            <a:r>
              <a:rPr lang="en-IN" sz="2000" dirty="0" err="1"/>
              <a:t>int</a:t>
            </a:r>
            <a:r>
              <a:rPr lang="en-IN" sz="2000" dirty="0"/>
              <a:t> </a:t>
            </a:r>
            <a:r>
              <a:rPr lang="en-IN" sz="2000" dirty="0" err="1"/>
              <a:t>keys_size</a:t>
            </a:r>
            <a:r>
              <a:rPr lang="en-IN" sz="2000" dirty="0"/>
              <a:t> = </a:t>
            </a:r>
            <a:r>
              <a:rPr lang="en-IN" sz="2000" dirty="0" err="1"/>
              <a:t>sizeof</a:t>
            </a:r>
            <a:r>
              <a:rPr lang="en-IN" sz="2000" dirty="0"/>
              <a:t>(keys) / </a:t>
            </a:r>
            <a:r>
              <a:rPr lang="en-IN" sz="2000" dirty="0" err="1"/>
              <a:t>sizeof</a:t>
            </a:r>
            <a:r>
              <a:rPr lang="en-IN" sz="2000" dirty="0"/>
              <a:t>(keys[0]);</a:t>
            </a:r>
          </a:p>
          <a:p>
            <a:r>
              <a:rPr lang="en-IN" sz="2000" dirty="0"/>
              <a:t> </a:t>
            </a:r>
          </a:p>
          <a:p>
            <a:r>
              <a:rPr lang="en-IN" sz="2000" dirty="0"/>
              <a:t>    for (</a:t>
            </a:r>
            <a:r>
              <a:rPr lang="en-IN" sz="2000" dirty="0" err="1"/>
              <a:t>int</a:t>
            </a:r>
            <a:r>
              <a:rPr lang="en-IN" sz="2000" dirty="0"/>
              <a:t> </a:t>
            </a:r>
            <a:r>
              <a:rPr lang="en-IN" sz="2000" dirty="0" err="1"/>
              <a:t>i</a:t>
            </a:r>
            <a:r>
              <a:rPr lang="en-IN" sz="2000" dirty="0"/>
              <a:t> = 0; </a:t>
            </a:r>
            <a:r>
              <a:rPr lang="en-IN" sz="2000" dirty="0" err="1"/>
              <a:t>i</a:t>
            </a:r>
            <a:r>
              <a:rPr lang="en-IN" sz="2000" dirty="0"/>
              <a:t> &lt; </a:t>
            </a:r>
            <a:r>
              <a:rPr lang="en-IN" sz="2000" dirty="0" err="1"/>
              <a:t>keys_size</a:t>
            </a:r>
            <a:r>
              <a:rPr lang="en-IN" sz="2000" dirty="0"/>
              <a:t>; </a:t>
            </a:r>
            <a:r>
              <a:rPr lang="en-IN" sz="2000" dirty="0" err="1"/>
              <a:t>i</a:t>
            </a:r>
            <a:r>
              <a:rPr lang="en-IN" sz="2000" dirty="0"/>
              <a:t>++)</a:t>
            </a:r>
          </a:p>
          <a:p>
            <a:r>
              <a:rPr lang="en-IN" sz="2000" dirty="0"/>
              <a:t>        root = insert(root, keys[</a:t>
            </a:r>
            <a:r>
              <a:rPr lang="en-IN" sz="2000" dirty="0" err="1"/>
              <a:t>i</a:t>
            </a:r>
            <a:r>
              <a:rPr lang="en-IN" sz="2000" dirty="0"/>
              <a:t>]);</a:t>
            </a:r>
          </a:p>
          <a:p>
            <a:r>
              <a:rPr lang="en-IN" sz="2000" dirty="0"/>
              <a:t> </a:t>
            </a:r>
          </a:p>
          <a:p>
            <a:r>
              <a:rPr lang="en-IN" sz="2000" dirty="0"/>
              <a:t>    </a:t>
            </a:r>
            <a:r>
              <a:rPr lang="en-IN" sz="2000" dirty="0" err="1"/>
              <a:t>int</a:t>
            </a:r>
            <a:r>
              <a:rPr lang="en-IN" sz="2000" dirty="0"/>
              <a:t> k = 5;</a:t>
            </a:r>
          </a:p>
          <a:p>
            <a:r>
              <a:rPr lang="en-IN" sz="2000" dirty="0"/>
              <a:t>    </a:t>
            </a:r>
            <a:r>
              <a:rPr lang="en-IN" sz="2000" dirty="0" err="1"/>
              <a:t>printKthSmallest</a:t>
            </a:r>
            <a:r>
              <a:rPr lang="en-IN" sz="2000" dirty="0"/>
              <a:t>(root, k);</a:t>
            </a:r>
          </a:p>
          <a:p>
            <a:r>
              <a:rPr lang="en-IN" sz="2000" dirty="0"/>
              <a:t>    return 0;</a:t>
            </a:r>
          </a:p>
          <a:p>
            <a:r>
              <a:rPr lang="en-IN" sz="2000" dirty="0"/>
              <a:t>}</a:t>
            </a:r>
          </a:p>
        </p:txBody>
      </p:sp>
    </p:spTree>
    <p:extLst>
      <p:ext uri="{BB962C8B-B14F-4D97-AF65-F5344CB8AC3E}">
        <p14:creationId xmlns:p14="http://schemas.microsoft.com/office/powerpoint/2010/main" val="264804812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43608" y="2311425"/>
            <a:ext cx="7200800" cy="1077218"/>
          </a:xfrm>
          <a:prstGeom prst="rect">
            <a:avLst/>
          </a:prstGeom>
          <a:noFill/>
        </p:spPr>
        <p:txBody>
          <a:bodyPr wrap="square" rtlCol="0">
            <a:spAutoFit/>
          </a:bodyPr>
          <a:lstStyle/>
          <a:p>
            <a:r>
              <a:rPr lang="en-US" sz="3200" dirty="0" smtClean="0"/>
              <a:t>Dictionary Implementation Using a BST</a:t>
            </a:r>
          </a:p>
          <a:p>
            <a:endParaRPr lang="en-IN" sz="3200" dirty="0"/>
          </a:p>
        </p:txBody>
      </p:sp>
    </p:spTree>
    <p:extLst>
      <p:ext uri="{BB962C8B-B14F-4D97-AF65-F5344CB8AC3E}">
        <p14:creationId xmlns:p14="http://schemas.microsoft.com/office/powerpoint/2010/main" val="371342704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7544" y="764704"/>
            <a:ext cx="8208912" cy="5663089"/>
          </a:xfrm>
          <a:prstGeom prst="rect">
            <a:avLst/>
          </a:prstGeom>
        </p:spPr>
        <p:txBody>
          <a:bodyPr wrap="square">
            <a:spAutoFit/>
          </a:bodyPr>
          <a:lstStyle/>
          <a:p>
            <a:pPr marL="285750" indent="-285750">
              <a:spcAft>
                <a:spcPts val="1200"/>
              </a:spcAft>
              <a:buFont typeface="Arial" pitchFamily="34" charset="0"/>
              <a:buChar char="•"/>
            </a:pPr>
            <a:r>
              <a:rPr lang="en-US" sz="2400" dirty="0" smtClean="0"/>
              <a:t>A simple implementation for the Dictionary ADT can be based on sorted or unsorted lists.</a:t>
            </a:r>
          </a:p>
          <a:p>
            <a:pPr marL="285750" indent="-285750">
              <a:spcAft>
                <a:spcPts val="1200"/>
              </a:spcAft>
              <a:buFont typeface="Arial" pitchFamily="34" charset="0"/>
              <a:buChar char="•"/>
            </a:pPr>
            <a:r>
              <a:rPr lang="en-US" sz="2400" dirty="0" smtClean="0"/>
              <a:t> When implementing the dictionary with an unsorted list, inserting a new record into the dictionary can be performed quickly by putting it at the end of the list.</a:t>
            </a:r>
          </a:p>
          <a:p>
            <a:pPr marL="285750" indent="-285750">
              <a:spcAft>
                <a:spcPts val="1200"/>
              </a:spcAft>
              <a:buFont typeface="Arial" pitchFamily="34" charset="0"/>
              <a:buChar char="•"/>
            </a:pPr>
            <a:r>
              <a:rPr lang="en-US" sz="2400" dirty="0" smtClean="0"/>
              <a:t> However, searching an unsorted list for a particular record requires Θ(n) time in the average case. </a:t>
            </a:r>
          </a:p>
          <a:p>
            <a:pPr marL="285750" indent="-285750">
              <a:spcAft>
                <a:spcPts val="1200"/>
              </a:spcAft>
              <a:buFont typeface="Arial" pitchFamily="34" charset="0"/>
              <a:buChar char="•"/>
            </a:pPr>
            <a:r>
              <a:rPr lang="en-US" sz="2400" dirty="0" smtClean="0"/>
              <a:t>For a large database, this is probably much too slow. Alternatively, the records can be stored in a sorted list. </a:t>
            </a:r>
          </a:p>
          <a:p>
            <a:pPr marL="285750" indent="-285750">
              <a:spcAft>
                <a:spcPts val="1200"/>
              </a:spcAft>
              <a:buFont typeface="Arial" pitchFamily="34" charset="0"/>
              <a:buChar char="•"/>
            </a:pPr>
            <a:r>
              <a:rPr lang="en-US" sz="2400" dirty="0" smtClean="0"/>
              <a:t>If the list is implemented using a linked list, then no speedup to the search operation will result from storing the records in sorted order. </a:t>
            </a:r>
          </a:p>
          <a:p>
            <a:endParaRPr lang="en-US" sz="2400" dirty="0" smtClean="0"/>
          </a:p>
        </p:txBody>
      </p:sp>
    </p:spTree>
    <p:extLst>
      <p:ext uri="{BB962C8B-B14F-4D97-AF65-F5344CB8AC3E}">
        <p14:creationId xmlns:p14="http://schemas.microsoft.com/office/powerpoint/2010/main" val="179079066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99592" y="2866296"/>
            <a:ext cx="7920880" cy="3200876"/>
          </a:xfrm>
          <a:prstGeom prst="rect">
            <a:avLst/>
          </a:prstGeom>
        </p:spPr>
        <p:txBody>
          <a:bodyPr wrap="square">
            <a:spAutoFit/>
          </a:bodyPr>
          <a:lstStyle/>
          <a:p>
            <a:pPr marL="285750" indent="-285750">
              <a:spcAft>
                <a:spcPts val="1200"/>
              </a:spcAft>
              <a:buFont typeface="Arial" pitchFamily="34" charset="0"/>
              <a:buChar char="•"/>
            </a:pPr>
            <a:r>
              <a:rPr lang="en-US" sz="2400" dirty="0" smtClean="0"/>
              <a:t>Is there some way to organize a collection of records so that inserting records and searching for records can both be done quickly? We can do this with a binary search tree (BST). </a:t>
            </a:r>
          </a:p>
          <a:p>
            <a:pPr marL="285750" indent="-285750">
              <a:buFont typeface="Arial" pitchFamily="34" charset="0"/>
              <a:buChar char="•"/>
            </a:pPr>
            <a:r>
              <a:rPr lang="en-US" sz="2400" dirty="0" smtClean="0"/>
              <a:t>The advantage of using the BST is that all major operations (insert, search, and remove) are Θ(</a:t>
            </a:r>
            <a:r>
              <a:rPr lang="en-US" sz="2400" dirty="0" err="1" smtClean="0"/>
              <a:t>logn</a:t>
            </a:r>
            <a:r>
              <a:rPr lang="en-US" sz="2400" dirty="0" smtClean="0"/>
              <a:t>) in the average case. Of course, if the tree is badly balanced, then the cost can be as bad as Θ(n).</a:t>
            </a:r>
          </a:p>
        </p:txBody>
      </p:sp>
      <p:sp>
        <p:nvSpPr>
          <p:cNvPr id="3" name="Rectangle 2"/>
          <p:cNvSpPr/>
          <p:nvPr/>
        </p:nvSpPr>
        <p:spPr>
          <a:xfrm>
            <a:off x="873696" y="224880"/>
            <a:ext cx="7946776" cy="2677656"/>
          </a:xfrm>
          <a:prstGeom prst="rect">
            <a:avLst/>
          </a:prstGeom>
        </p:spPr>
        <p:txBody>
          <a:bodyPr wrap="square">
            <a:spAutoFit/>
          </a:bodyPr>
          <a:lstStyle/>
          <a:p>
            <a:pPr marL="285750" indent="-285750">
              <a:buFont typeface="Arial" pitchFamily="34" charset="0"/>
              <a:buChar char="•"/>
            </a:pPr>
            <a:r>
              <a:rPr lang="en-US" sz="2400" dirty="0" smtClean="0"/>
              <a:t>On the other hand, if we use a sorted array-based list to implement the dictionary, then binary search can be used to find a record in only Θ(</a:t>
            </a:r>
            <a:r>
              <a:rPr lang="en-US" sz="2400" dirty="0" err="1" smtClean="0"/>
              <a:t>logn</a:t>
            </a:r>
            <a:r>
              <a:rPr lang="en-US" sz="2400" dirty="0" smtClean="0"/>
              <a:t>) time.</a:t>
            </a:r>
          </a:p>
          <a:p>
            <a:pPr marL="285750" indent="-285750">
              <a:spcAft>
                <a:spcPts val="1200"/>
              </a:spcAft>
              <a:buFont typeface="Arial" pitchFamily="34" charset="0"/>
              <a:buChar char="•"/>
            </a:pPr>
            <a:r>
              <a:rPr lang="en-US" sz="2400" dirty="0" smtClean="0"/>
              <a:t> However, insertion will now require Θ(n) time on average because, once the proper location for the new record in the sorted list has been found, many records might be shifted to make room for the new record.</a:t>
            </a:r>
          </a:p>
        </p:txBody>
      </p:sp>
    </p:spTree>
    <p:extLst>
      <p:ext uri="{BB962C8B-B14F-4D97-AF65-F5344CB8AC3E}">
        <p14:creationId xmlns:p14="http://schemas.microsoft.com/office/powerpoint/2010/main" val="14967700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226</TotalTime>
  <Words>857</Words>
  <Application>Microsoft Office PowerPoint</Application>
  <PresentationFormat>On-screen Show (4:3)</PresentationFormat>
  <Paragraphs>83</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HP</cp:lastModifiedBy>
  <cp:revision>13</cp:revision>
  <dcterms:created xsi:type="dcterms:W3CDTF">2021-04-25T15:15:35Z</dcterms:created>
  <dcterms:modified xsi:type="dcterms:W3CDTF">2022-09-20T09:46:59Z</dcterms:modified>
</cp:coreProperties>
</file>