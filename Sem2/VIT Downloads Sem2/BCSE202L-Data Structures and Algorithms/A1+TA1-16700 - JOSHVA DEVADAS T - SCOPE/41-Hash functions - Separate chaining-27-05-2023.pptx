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2" r:id="rId16"/>
    <p:sldId id="273" r:id="rId17"/>
    <p:sldId id="274" r:id="rId18"/>
    <p:sldId id="275" r:id="rId19"/>
    <p:sldId id="276" r:id="rId20"/>
    <p:sldId id="277" r:id="rId21"/>
    <p:sldId id="278" r:id="rId22"/>
    <p:sldId id="279" r:id="rId23"/>
    <p:sldId id="280" r:id="rId24"/>
    <p:sldId id="281" r:id="rId25"/>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bg1"/>
        </a:solidFill>
        <a:latin typeface="Times New Roman" pitchFamily="16" charset="0"/>
        <a:ea typeface="+mn-ea"/>
        <a:cs typeface="Arial Unicode MS" charset="0"/>
      </a:defRPr>
    </a:lvl1pPr>
    <a:lvl2pPr marL="457200" algn="l" rtl="0" eaLnBrk="0" fontAlgn="base" hangingPunct="0">
      <a:spcBef>
        <a:spcPct val="0"/>
      </a:spcBef>
      <a:spcAft>
        <a:spcPct val="0"/>
      </a:spcAft>
      <a:defRPr kern="1200">
        <a:solidFill>
          <a:schemeClr val="bg1"/>
        </a:solidFill>
        <a:latin typeface="Times New Roman" pitchFamily="16" charset="0"/>
        <a:ea typeface="+mn-ea"/>
        <a:cs typeface="Arial Unicode MS" charset="0"/>
      </a:defRPr>
    </a:lvl2pPr>
    <a:lvl3pPr marL="914400" algn="l" rtl="0" eaLnBrk="0" fontAlgn="base" hangingPunct="0">
      <a:spcBef>
        <a:spcPct val="0"/>
      </a:spcBef>
      <a:spcAft>
        <a:spcPct val="0"/>
      </a:spcAft>
      <a:defRPr kern="1200">
        <a:solidFill>
          <a:schemeClr val="bg1"/>
        </a:solidFill>
        <a:latin typeface="Times New Roman" pitchFamily="16" charset="0"/>
        <a:ea typeface="+mn-ea"/>
        <a:cs typeface="Arial Unicode MS" charset="0"/>
      </a:defRPr>
    </a:lvl3pPr>
    <a:lvl4pPr marL="1371600" algn="l" rtl="0" eaLnBrk="0" fontAlgn="base" hangingPunct="0">
      <a:spcBef>
        <a:spcPct val="0"/>
      </a:spcBef>
      <a:spcAft>
        <a:spcPct val="0"/>
      </a:spcAft>
      <a:defRPr kern="1200">
        <a:solidFill>
          <a:schemeClr val="bg1"/>
        </a:solidFill>
        <a:latin typeface="Times New Roman" pitchFamily="16" charset="0"/>
        <a:ea typeface="+mn-ea"/>
        <a:cs typeface="Arial Unicode MS" charset="0"/>
      </a:defRPr>
    </a:lvl4pPr>
    <a:lvl5pPr marL="1828800" algn="l" rtl="0" eaLnBrk="0" fontAlgn="base" hangingPunct="0">
      <a:spcBef>
        <a:spcPct val="0"/>
      </a:spcBef>
      <a:spcAft>
        <a:spcPct val="0"/>
      </a:spcAft>
      <a:defRPr kern="1200">
        <a:solidFill>
          <a:schemeClr val="bg1"/>
        </a:solidFill>
        <a:latin typeface="Times New Roman" pitchFamily="16" charset="0"/>
        <a:ea typeface="+mn-ea"/>
        <a:cs typeface="Arial Unicode MS" charset="0"/>
      </a:defRPr>
    </a:lvl5pPr>
    <a:lvl6pPr marL="2286000" algn="l" defTabSz="914400" rtl="0" eaLnBrk="1" latinLnBrk="0" hangingPunct="1">
      <a:defRPr kern="1200">
        <a:solidFill>
          <a:schemeClr val="bg1"/>
        </a:solidFill>
        <a:latin typeface="Times New Roman" pitchFamily="16" charset="0"/>
        <a:ea typeface="+mn-ea"/>
        <a:cs typeface="Arial Unicode MS" charset="0"/>
      </a:defRPr>
    </a:lvl6pPr>
    <a:lvl7pPr marL="2743200" algn="l" defTabSz="914400" rtl="0" eaLnBrk="1" latinLnBrk="0" hangingPunct="1">
      <a:defRPr kern="1200">
        <a:solidFill>
          <a:schemeClr val="bg1"/>
        </a:solidFill>
        <a:latin typeface="Times New Roman" pitchFamily="16" charset="0"/>
        <a:ea typeface="+mn-ea"/>
        <a:cs typeface="Arial Unicode MS" charset="0"/>
      </a:defRPr>
    </a:lvl7pPr>
    <a:lvl8pPr marL="3200400" algn="l" defTabSz="914400" rtl="0" eaLnBrk="1" latinLnBrk="0" hangingPunct="1">
      <a:defRPr kern="1200">
        <a:solidFill>
          <a:schemeClr val="bg1"/>
        </a:solidFill>
        <a:latin typeface="Times New Roman" pitchFamily="16" charset="0"/>
        <a:ea typeface="+mn-ea"/>
        <a:cs typeface="Arial Unicode MS" charset="0"/>
      </a:defRPr>
    </a:lvl8pPr>
    <a:lvl9pPr marL="3657600" algn="l" defTabSz="914400" rtl="0" eaLnBrk="1" latinLnBrk="0" hangingPunct="1">
      <a:defRPr kern="1200">
        <a:solidFill>
          <a:schemeClr val="bg1"/>
        </a:solidFill>
        <a:latin typeface="Times New Roman" pitchFamily="16" charset="0"/>
        <a:ea typeface="+mn-ea"/>
        <a:cs typeface="Arial Unicode MS"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122" y="16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9" name="AutoShape 1"/>
          <p:cNvSpPr>
            <a:spLocks noChangeArrowheads="1"/>
          </p:cNvSpPr>
          <p:nvPr/>
        </p:nvSpPr>
        <p:spPr bwMode="auto">
          <a:xfrm>
            <a:off x="0" y="0"/>
            <a:ext cx="6858000" cy="9144000"/>
          </a:xfrm>
          <a:prstGeom prst="roundRect">
            <a:avLst>
              <a:gd name="adj" fmla="val 23"/>
            </a:avLst>
          </a:prstGeom>
          <a:solidFill>
            <a:srgbClr val="FFFFFF"/>
          </a:solidFill>
          <a:ln w="9525">
            <a:noFill/>
            <a:round/>
            <a:headEnd/>
            <a:tailEnd/>
          </a:ln>
        </p:spPr>
        <p:txBody>
          <a:bodyPr wrap="none" anchor="ctr"/>
          <a:lstStyle/>
          <a:p>
            <a:pPr>
              <a:defRPr/>
            </a:pPr>
            <a:endParaRPr lang="en-US">
              <a:cs typeface="+mn-cs"/>
            </a:endParaRPr>
          </a:p>
        </p:txBody>
      </p:sp>
      <p:sp>
        <p:nvSpPr>
          <p:cNvPr id="29699" name="Rectangle 2"/>
          <p:cNvSpPr>
            <a:spLocks noGrp="1" noRot="1" noChangeAspect="1" noChangeArrowheads="1" noTextEdit="1"/>
          </p:cNvSpPr>
          <p:nvPr>
            <p:ph type="sldImg"/>
          </p:nvPr>
        </p:nvSpPr>
        <p:spPr bwMode="auto">
          <a:xfrm>
            <a:off x="1149350" y="692150"/>
            <a:ext cx="4559300" cy="3416300"/>
          </a:xfrm>
          <a:prstGeom prst="rect">
            <a:avLst/>
          </a:prstGeom>
          <a:solidFill>
            <a:srgbClr val="FFFFFF"/>
          </a:solidFill>
          <a:ln w="9525">
            <a:solidFill>
              <a:srgbClr val="000000"/>
            </a:solidFill>
            <a:miter lim="800000"/>
            <a:headEnd/>
            <a:tailEnd/>
          </a:ln>
        </p:spPr>
      </p:sp>
      <p:sp>
        <p:nvSpPr>
          <p:cNvPr id="2051" name="Rectangle 3"/>
          <p:cNvSpPr txBox="1">
            <a:spLocks noGrp="1" noChangeArrowheads="1"/>
          </p:cNvSpPr>
          <p:nvPr>
            <p:ph type="body" idx="1"/>
          </p:nvPr>
        </p:nvSpPr>
        <p:spPr bwMode="auto">
          <a:xfrm>
            <a:off x="914400" y="4343400"/>
            <a:ext cx="5029200" cy="4114800"/>
          </a:xfrm>
          <a:prstGeom prst="rect">
            <a:avLst/>
          </a:prstGeom>
          <a:noFill/>
          <a:ln w="9525">
            <a:noFill/>
            <a:miter lim="800000"/>
            <a:headEnd/>
            <a:tailEnd/>
          </a:ln>
        </p:spPr>
        <p:txBody>
          <a:bodyPr vert="horz" wrap="square" lIns="90360" tIns="44280" rIns="90360" bIns="44280" numCol="1" anchor="t" anchorCtr="0" compatLnSpc="1">
            <a:prstTxWarp prst="textNoShape">
              <a:avLst/>
            </a:prstTxWarp>
          </a:bodyPr>
          <a:lstStyle/>
          <a:p>
            <a:pPr lvl="0"/>
            <a:endParaRPr lang="en-US" noProof="0" smtClean="0"/>
          </a:p>
        </p:txBody>
      </p:sp>
      <p:sp>
        <p:nvSpPr>
          <p:cNvPr id="2052" name="AutoShape 4"/>
          <p:cNvSpPr>
            <a:spLocks noChangeArrowheads="1"/>
          </p:cNvSpPr>
          <p:nvPr/>
        </p:nvSpPr>
        <p:spPr bwMode="auto">
          <a:xfrm>
            <a:off x="5737225" y="698500"/>
            <a:ext cx="488950" cy="457200"/>
          </a:xfrm>
          <a:prstGeom prst="roundRect">
            <a:avLst>
              <a:gd name="adj" fmla="val 347"/>
            </a:avLst>
          </a:prstGeom>
          <a:noFill/>
          <a:ln w="9525">
            <a:noFill/>
            <a:round/>
            <a:headEnd/>
            <a:tailEnd/>
          </a:ln>
        </p:spPr>
        <p:txBody>
          <a:bodyPr wrap="none" lIns="90360" tIns="44280" rIns="90360" bIns="44280">
            <a:spAutoFit/>
          </a:bodyPr>
          <a:lstStyle/>
          <a:p>
            <a:pPr>
              <a:lnSpc>
                <a:spcPct val="95000"/>
              </a:lnSpc>
              <a:buClr>
                <a:srgbClr val="618FFD"/>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fld id="{F520809F-9CC5-4F85-8749-78AF844B71C7}" type="slidenum">
              <a:rPr lang="en-GB" sz="2400">
                <a:solidFill>
                  <a:srgbClr val="618FFD"/>
                </a:solidFill>
                <a:cs typeface="+mn-cs"/>
              </a:rPr>
              <a:pPr>
                <a:lnSpc>
                  <a:spcPct val="95000"/>
                </a:lnSpc>
                <a:buClr>
                  <a:srgbClr val="618FFD"/>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t>‹#›</a:t>
            </a:fld>
            <a:endParaRPr lang="en-GB" sz="2400">
              <a:solidFill>
                <a:srgbClr val="618FFD"/>
              </a:solidFill>
              <a:cs typeface="+mn-cs"/>
            </a:endParaRPr>
          </a:p>
        </p:txBody>
      </p:sp>
    </p:spTree>
    <p:extLst>
      <p:ext uri="{BB962C8B-B14F-4D97-AF65-F5344CB8AC3E}">
        <p14:creationId xmlns:p14="http://schemas.microsoft.com/office/powerpoint/2010/main" val="305640126"/>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6"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smtClean="0">
                <a:latin typeface="Arial" charset="0"/>
                <a:cs typeface="Arial Unicode MS" charset="0"/>
              </a:rPr>
              <a:t>This lecture introduces hash tables, which are an array-based method for implementing a Dictionary. You should recall that we have seen dictionaries implemented in other ways, for example with a binary search tree. The abstract properties of a dictionary remain the same: We can insert items in the dictionary, and each item has a key associated with it. When we want to retrieve an item, we specify only the key, and the retrieval process finds the associated data.</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smtClean="0">
                <a:latin typeface="Arial" charset="0"/>
                <a:cs typeface="Arial Unicode MS" charset="0"/>
              </a:rPr>
              <a:t>What we do now is use an array to implement the dictionary. The array is an array of records. In this example, we could store up to 701 records in the array.</a:t>
            </a:r>
          </a:p>
        </p:txBody>
      </p:sp>
      <p:sp>
        <p:nvSpPr>
          <p:cNvPr id="31747"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Each record in the array contains two parts. The first part is a number that we'll use for the key of the item. We could use something else for the keys, such as a string. But for a hash table, numbers make the most convenient keys.</a:t>
            </a:r>
          </a:p>
        </p:txBody>
      </p:sp>
      <p:sp>
        <p:nvSpPr>
          <p:cNvPr id="32771"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The numbers might be identification numbers of some sort, and the rest of the record contains information about a person. So the pattern that you see here is the same pattern that you've seen in other dictionaries: Each entry in the dictionary has a key (in this case an identifying number) and some associated data.</a:t>
            </a:r>
          </a:p>
        </p:txBody>
      </p:sp>
      <p:sp>
        <p:nvSpPr>
          <p:cNvPr id="33795"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When a hash table is being used as a dictionary, some of the array locations are in use, and other spots are "empty", waiting for a new entry to come along.</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Oftentimes, the empty spots are identified by a special key. For example, if all our identification numbers are positive, then we could use 0 as the Number that indicates an empty spot.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With this drawing, locations [0], [4], [6], and maybe some others would all have Number=0.</a:t>
            </a:r>
          </a:p>
        </p:txBody>
      </p:sp>
      <p:sp>
        <p:nvSpPr>
          <p:cNvPr id="34819"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In order to insert a new entry, the key of the entry must somehow be converted to an index in the array. For our example, we must convert the key number into an index between 0 and 700. The conversion process is called </a:t>
            </a:r>
            <a:r>
              <a:rPr lang="en-GB" u="sng" smtClean="0">
                <a:latin typeface="Arial" charset="0"/>
                <a:cs typeface="Arial Unicode MS" charset="0"/>
              </a:rPr>
              <a:t>hashing</a:t>
            </a:r>
            <a:r>
              <a:rPr lang="en-GB" smtClean="0">
                <a:latin typeface="Arial" charset="0"/>
                <a:cs typeface="Arial Unicode MS" charset="0"/>
              </a:rPr>
              <a:t> and the index is called the </a:t>
            </a:r>
            <a:r>
              <a:rPr lang="en-GB" u="sng" smtClean="0">
                <a:latin typeface="Arial" charset="0"/>
                <a:cs typeface="Arial Unicode MS" charset="0"/>
              </a:rPr>
              <a:t>hash value</a:t>
            </a:r>
            <a:r>
              <a:rPr lang="en-GB" smtClean="0">
                <a:latin typeface="Arial" charset="0"/>
                <a:cs typeface="Arial Unicode MS" charset="0"/>
              </a:rPr>
              <a:t> of the key.</a:t>
            </a:r>
          </a:p>
        </p:txBody>
      </p:sp>
      <p:sp>
        <p:nvSpPr>
          <p:cNvPr id="35843"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There are many ways to create hash values. Here is a typical approach. </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a. Take the key mod 701 (which could be anywhere from 0 to 700).</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So, quick, what is (580,625,685 mod 701) ?</a:t>
            </a:r>
          </a:p>
        </p:txBody>
      </p:sp>
      <p:sp>
        <p:nvSpPr>
          <p:cNvPr id="36867"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Three.</a:t>
            </a:r>
          </a:p>
        </p:txBody>
      </p:sp>
      <p:sp>
        <p:nvSpPr>
          <p:cNvPr id="37891"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So, this new item will be placed at location [3] of the array.</a:t>
            </a:r>
          </a:p>
        </p:txBody>
      </p:sp>
      <p:sp>
        <p:nvSpPr>
          <p:cNvPr id="38915"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938"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The hash value is always used to find the location for the record.</a:t>
            </a:r>
          </a:p>
        </p:txBody>
      </p:sp>
      <p:sp>
        <p:nvSpPr>
          <p:cNvPr id="39939"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Sometimes, two different records might end up with the same hash value.</a:t>
            </a:r>
          </a:p>
        </p:txBody>
      </p:sp>
      <p:sp>
        <p:nvSpPr>
          <p:cNvPr id="40963"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This is called a </a:t>
            </a:r>
            <a:r>
              <a:rPr lang="en-GB" u="sng" smtClean="0">
                <a:latin typeface="Arial" charset="0"/>
                <a:cs typeface="Arial Unicode MS" charset="0"/>
              </a:rPr>
              <a:t>collision</a:t>
            </a:r>
            <a:r>
              <a:rPr lang="en-GB" smtClean="0">
                <a:latin typeface="Arial" charset="0"/>
                <a:cs typeface="Arial Unicode MS" charset="0"/>
              </a:rPr>
              <a:t>.</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When a collision occurs, the insertion process will move forward through the array until an empty spot is found. Sometimes you will have a second collision...</a:t>
            </a:r>
          </a:p>
        </p:txBody>
      </p:sp>
      <p:sp>
        <p:nvSpPr>
          <p:cNvPr id="41987"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...and a third collision...</a:t>
            </a:r>
          </a:p>
        </p:txBody>
      </p:sp>
      <p:sp>
        <p:nvSpPr>
          <p:cNvPr id="43011"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034"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But if there are any empty spots, eventually you will reach an empty spot, and the new item is inserted here.</a:t>
            </a:r>
          </a:p>
        </p:txBody>
      </p:sp>
      <p:sp>
        <p:nvSpPr>
          <p:cNvPr id="44035"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The new record is always placed in the first available empty spot, after the hash value.</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p:txBody>
      </p:sp>
      <p:sp>
        <p:nvSpPr>
          <p:cNvPr id="45059"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It is fairly easy to search for a particular item based on its key.</a:t>
            </a:r>
          </a:p>
        </p:txBody>
      </p:sp>
      <p:sp>
        <p:nvSpPr>
          <p:cNvPr id="47107"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130"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Start by computing the hash value, which is 2 in this case. Then check location 2. If location 2 has a different key than the one you are looking for, then move forward...</a:t>
            </a:r>
          </a:p>
        </p:txBody>
      </p:sp>
      <p:sp>
        <p:nvSpPr>
          <p:cNvPr id="48131"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...if the next location is not the one we are looking for, then keep moving forward...</a:t>
            </a:r>
          </a:p>
        </p:txBody>
      </p:sp>
      <p:sp>
        <p:nvSpPr>
          <p:cNvPr id="49155"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Keep moving forward until you find the sought-after key...</a:t>
            </a:r>
          </a:p>
        </p:txBody>
      </p:sp>
      <p:sp>
        <p:nvSpPr>
          <p:cNvPr id="50179"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In this case we find the key at location [5].</a:t>
            </a:r>
          </a:p>
        </p:txBody>
      </p:sp>
      <p:sp>
        <p:nvSpPr>
          <p:cNvPr id="51203"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The data from location [5] can then be copied to to provide the result of the search function.</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What happens if a search reaches an empty spot?  In that case, it can</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halt and indicate that the key was not in the hash table.</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p:txBody>
      </p:sp>
      <p:sp>
        <p:nvSpPr>
          <p:cNvPr id="52227"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Records can be deleted from a hash table...</a:t>
            </a:r>
          </a:p>
        </p:txBody>
      </p:sp>
      <p:sp>
        <p:nvSpPr>
          <p:cNvPr id="53251"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But the spot of the deleted record cannot be left as an ordinary empty spot, since that would interfere with searches.  (Remember that a search can stop when it reaches an empty spot.)</a:t>
            </a:r>
          </a:p>
        </p:txBody>
      </p:sp>
      <p:sp>
        <p:nvSpPr>
          <p:cNvPr id="54275"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Instead we must somehow mark the location as "a location that used to have something here, but no longer does."</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We might do this by using some other special value for the Number field of the record.</a:t>
            </a: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smtClean="0">
              <a:latin typeface="Arial" charset="0"/>
              <a:cs typeface="Arial Unicode MS" charset="0"/>
            </a:endParaRPr>
          </a:p>
          <a:p>
            <a:pPr>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In any case, a search can not stop when it reaches "a location that used to have something here". A search can only stop when it reaches a true empty spot.</a:t>
            </a:r>
          </a:p>
        </p:txBody>
      </p:sp>
      <p:sp>
        <p:nvSpPr>
          <p:cNvPr id="55299"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Text Box 1"/>
          <p:cNvSpPr txBox="1">
            <a:spLocks noGrp="1" noChangeArrowheads="1"/>
          </p:cNvSpPr>
          <p:nvPr>
            <p:ph type="body"/>
          </p:nvPr>
        </p:nvSpPr>
        <p:spPr>
          <a:noFill/>
          <a:ln/>
        </p:spPr>
        <p:txBody>
          <a:bodyPr>
            <a:spAutoFit/>
          </a:bodyPr>
          <a:lstStyle/>
          <a:p>
            <a:pPr>
              <a:lnSpc>
                <a:spcPct val="93000"/>
              </a:lnSpc>
              <a:spcBef>
                <a:spcPts val="450"/>
              </a:spcBef>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latin typeface="Arial" charset="0"/>
                <a:cs typeface="Arial Unicode MS" charset="0"/>
              </a:rPr>
              <a:t>A quick summary . . .</a:t>
            </a:r>
          </a:p>
        </p:txBody>
      </p:sp>
      <p:sp>
        <p:nvSpPr>
          <p:cNvPr id="56323" name="Rectangle 2"/>
          <p:cNvSpPr>
            <a:spLocks noGrp="1" noRot="1" noChangeAspect="1" noChangeArrowheads="1" noTextEdit="1"/>
          </p:cNvSpPr>
          <p:nvPr>
            <p:ph type="sldImg" idx="1"/>
          </p:nvPr>
        </p:nvSpPr>
        <p:spPr>
          <a:xfrm>
            <a:off x="1150938" y="692150"/>
            <a:ext cx="4556125" cy="3416300"/>
          </a:xfr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08413"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981200"/>
            <a:ext cx="3810000" cy="41132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19850" y="342900"/>
            <a:ext cx="2036763" cy="57515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0" y="342900"/>
            <a:ext cx="5962650" cy="57515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304800" y="342900"/>
            <a:ext cx="7770813" cy="1141413"/>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08413" cy="411321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6613" y="1981200"/>
            <a:ext cx="3810000" cy="4113213"/>
          </a:xfrm>
        </p:spPr>
        <p:txBody>
          <a:bodyPr/>
          <a:lstStyle/>
          <a:p>
            <a:pPr lvl="0"/>
            <a:endParaRPr lang="en-US" noProof="0" smtClean="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4B"/>
            </a:gs>
            <a:gs pos="100000">
              <a:srgbClr val="0000FF"/>
            </a:gs>
          </a:gsLst>
          <a:lin ang="5400000" scaled="1"/>
        </a:gradFill>
        <a:effectLst/>
      </p:bgPr>
    </p:bg>
    <p:spTree>
      <p:nvGrpSpPr>
        <p:cNvPr id="1" name=""/>
        <p:cNvGrpSpPr/>
        <p:nvPr/>
      </p:nvGrpSpPr>
      <p:grpSpPr>
        <a:xfrm>
          <a:off x="0" y="0"/>
          <a:ext cx="0" cy="0"/>
          <a:chOff x="0" y="0"/>
          <a:chExt cx="0" cy="0"/>
        </a:xfrm>
      </p:grpSpPr>
      <p:sp>
        <p:nvSpPr>
          <p:cNvPr id="1025" name="AutoShape 1"/>
          <p:cNvSpPr>
            <a:spLocks noChangeArrowheads="1"/>
          </p:cNvSpPr>
          <p:nvPr/>
        </p:nvSpPr>
        <p:spPr bwMode="auto">
          <a:xfrm>
            <a:off x="0" y="1524000"/>
            <a:ext cx="9131300" cy="114300"/>
          </a:xfrm>
          <a:prstGeom prst="roundRect">
            <a:avLst>
              <a:gd name="adj" fmla="val 1389"/>
            </a:avLst>
          </a:prstGeom>
          <a:gradFill rotWithShape="0">
            <a:gsLst>
              <a:gs pos="0">
                <a:srgbClr val="00CECE"/>
              </a:gs>
              <a:gs pos="100000">
                <a:srgbClr val="002929"/>
              </a:gs>
            </a:gsLst>
            <a:lin ang="10800000" scaled="1"/>
          </a:gradFill>
          <a:ln w="9525">
            <a:noFill/>
            <a:round/>
            <a:headEnd/>
            <a:tailEnd/>
          </a:ln>
        </p:spPr>
        <p:txBody>
          <a:bodyPr wrap="none" anchor="ctr"/>
          <a:lstStyle/>
          <a:p>
            <a:pPr>
              <a:defRPr/>
            </a:pPr>
            <a:endParaRPr lang="en-US">
              <a:cs typeface="+mn-cs"/>
            </a:endParaRPr>
          </a:p>
        </p:txBody>
      </p:sp>
      <p:sp>
        <p:nvSpPr>
          <p:cNvPr id="1026" name="AutoShape 2"/>
          <p:cNvSpPr>
            <a:spLocks noChangeArrowheads="1"/>
          </p:cNvSpPr>
          <p:nvPr/>
        </p:nvSpPr>
        <p:spPr bwMode="auto">
          <a:xfrm>
            <a:off x="0" y="1733550"/>
            <a:ext cx="9131300" cy="38100"/>
          </a:xfrm>
          <a:prstGeom prst="roundRect">
            <a:avLst>
              <a:gd name="adj" fmla="val 4167"/>
            </a:avLst>
          </a:prstGeom>
          <a:gradFill rotWithShape="0">
            <a:gsLst>
              <a:gs pos="0">
                <a:srgbClr val="E4E4E7"/>
              </a:gs>
              <a:gs pos="100000">
                <a:srgbClr val="000020"/>
              </a:gs>
            </a:gsLst>
            <a:lin ang="10800000" scaled="1"/>
          </a:gradFill>
          <a:ln w="9525">
            <a:noFill/>
            <a:round/>
            <a:headEnd/>
            <a:tailEnd/>
          </a:ln>
        </p:spPr>
        <p:txBody>
          <a:bodyPr wrap="none" anchor="ctr"/>
          <a:lstStyle/>
          <a:p>
            <a:pPr>
              <a:defRPr/>
            </a:pPr>
            <a:endParaRPr lang="en-US">
              <a:cs typeface="+mn-cs"/>
            </a:endParaRPr>
          </a:p>
        </p:txBody>
      </p:sp>
      <p:sp>
        <p:nvSpPr>
          <p:cNvPr id="2052" name="Rectangle 3"/>
          <p:cNvSpPr>
            <a:spLocks noGrp="1" noChangeArrowheads="1"/>
          </p:cNvSpPr>
          <p:nvPr>
            <p:ph type="title"/>
          </p:nvPr>
        </p:nvSpPr>
        <p:spPr bwMode="auto">
          <a:xfrm>
            <a:off x="304800" y="342900"/>
            <a:ext cx="7770813" cy="1141413"/>
          </a:xfrm>
          <a:prstGeom prst="rect">
            <a:avLst/>
          </a:prstGeom>
          <a:noFill/>
          <a:ln w="9525">
            <a:noFill/>
            <a:miter lim="800000"/>
            <a:headEnd/>
            <a:tailEnd/>
          </a:ln>
        </p:spPr>
        <p:txBody>
          <a:bodyPr vert="horz" wrap="square" lIns="90360" tIns="44280" rIns="90360" bIns="44280" numCol="1" anchor="ctr" anchorCtr="0" compatLnSpc="1">
            <a:prstTxWarp prst="textNoShape">
              <a:avLst/>
            </a:prstTxWarp>
          </a:bodyPr>
          <a:lstStyle/>
          <a:p>
            <a:pPr lvl="0"/>
            <a:r>
              <a:rPr lang="en-GB" smtClean="0"/>
              <a:t>Click to edit the title text format</a:t>
            </a:r>
          </a:p>
        </p:txBody>
      </p:sp>
      <p:sp>
        <p:nvSpPr>
          <p:cNvPr id="1028" name="Rectangle 4"/>
          <p:cNvSpPr>
            <a:spLocks noGrp="1" noChangeArrowheads="1"/>
          </p:cNvSpPr>
          <p:nvPr>
            <p:ph type="body" idx="1"/>
          </p:nvPr>
        </p:nvSpPr>
        <p:spPr bwMode="auto">
          <a:xfrm>
            <a:off x="685800" y="1981200"/>
            <a:ext cx="7770813" cy="4113213"/>
          </a:xfrm>
          <a:prstGeom prst="rect">
            <a:avLst/>
          </a:prstGeom>
          <a:noFill/>
          <a:ln w="9525">
            <a:noFill/>
            <a:miter lim="800000"/>
            <a:headEnd/>
            <a:tailEnd/>
          </a:ln>
          <a:effectLst/>
        </p:spPr>
        <p:txBody>
          <a:bodyPr vert="horz" wrap="square" lIns="90360" tIns="44280" rIns="90360" bIns="44280" numCol="1" anchor="t" anchorCtr="0" compatLnSpc="1">
            <a:prstTxWarp prst="textNoShape">
              <a:avLst/>
            </a:prstTxWarp>
          </a:bodyPr>
          <a:lstStyle/>
          <a:p>
            <a:pPr lvl="0"/>
            <a:r>
              <a:rPr lang="en-GB" smtClean="0"/>
              <a:t>Click to edit the outline text format</a:t>
            </a:r>
          </a:p>
          <a:p>
            <a:pPr lvl="1"/>
            <a:r>
              <a:rPr lang="en-GB" smtClean="0"/>
              <a:t>Second Outline Level</a:t>
            </a:r>
          </a:p>
          <a:p>
            <a:pPr lvl="2"/>
            <a:r>
              <a:rPr lang="en-GB" smtClean="0"/>
              <a:t>Third Outline Level</a:t>
            </a:r>
          </a:p>
          <a:p>
            <a:pPr lvl="3"/>
            <a:r>
              <a:rPr lang="en-GB" smtClean="0"/>
              <a:t>Fourth Outline Level</a:t>
            </a:r>
          </a:p>
          <a:p>
            <a:pPr lvl="4"/>
            <a:r>
              <a:rPr lang="en-GB" smtClean="0"/>
              <a:t>Fifth Outline Level</a:t>
            </a:r>
          </a:p>
          <a:p>
            <a:pPr lvl="4"/>
            <a:r>
              <a:rPr lang="en-GB" smtClean="0"/>
              <a:t>Sixth Outline Level</a:t>
            </a:r>
          </a:p>
          <a:p>
            <a:pPr lvl="4"/>
            <a:r>
              <a:rPr lang="en-GB" smtClean="0"/>
              <a:t>Seventh Outline Level</a:t>
            </a:r>
          </a:p>
          <a:p>
            <a:pPr lvl="4"/>
            <a:r>
              <a:rPr lang="en-GB" smtClean="0"/>
              <a:t>Eighth Outline Level</a:t>
            </a:r>
          </a:p>
          <a:p>
            <a:pPr lvl="4"/>
            <a:r>
              <a:rPr lang="en-GB" smtClean="0"/>
              <a:t>Ninth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0" fontAlgn="base" hangingPunct="0">
        <a:spcBef>
          <a:spcPct val="0"/>
        </a:spcBef>
        <a:spcAft>
          <a:spcPct val="0"/>
        </a:spcAft>
        <a:buClr>
          <a:srgbClr val="00CECE"/>
        </a:buClr>
        <a:buSzPct val="100000"/>
        <a:buFont typeface="Times New Roman" pitchFamily="16" charset="0"/>
        <a:defRPr sz="4400">
          <a:solidFill>
            <a:srgbClr val="00CECE"/>
          </a:solidFill>
          <a:latin typeface="+mj-lt"/>
          <a:ea typeface="+mj-ea"/>
          <a:cs typeface="+mj-cs"/>
        </a:defRPr>
      </a:lvl1pPr>
      <a:lvl2pPr algn="l" defTabSz="457200" rtl="0" eaLnBrk="0" fontAlgn="base" hangingPunct="0">
        <a:spcBef>
          <a:spcPct val="0"/>
        </a:spcBef>
        <a:spcAft>
          <a:spcPct val="0"/>
        </a:spcAft>
        <a:buClr>
          <a:srgbClr val="00CECE"/>
        </a:buClr>
        <a:buSzPct val="100000"/>
        <a:buFont typeface="Times New Roman" pitchFamily="16" charset="0"/>
        <a:defRPr sz="4400">
          <a:solidFill>
            <a:srgbClr val="00CECE"/>
          </a:solidFill>
          <a:latin typeface="Times New Roman" pitchFamily="16" charset="0"/>
          <a:cs typeface="Arial Unicode MS" charset="0"/>
        </a:defRPr>
      </a:lvl2pPr>
      <a:lvl3pPr algn="l" defTabSz="457200" rtl="0" eaLnBrk="0" fontAlgn="base" hangingPunct="0">
        <a:spcBef>
          <a:spcPct val="0"/>
        </a:spcBef>
        <a:spcAft>
          <a:spcPct val="0"/>
        </a:spcAft>
        <a:buClr>
          <a:srgbClr val="00CECE"/>
        </a:buClr>
        <a:buSzPct val="100000"/>
        <a:buFont typeface="Times New Roman" pitchFamily="16" charset="0"/>
        <a:defRPr sz="4400">
          <a:solidFill>
            <a:srgbClr val="00CECE"/>
          </a:solidFill>
          <a:latin typeface="Times New Roman" pitchFamily="16" charset="0"/>
          <a:cs typeface="Arial Unicode MS" charset="0"/>
        </a:defRPr>
      </a:lvl3pPr>
      <a:lvl4pPr algn="l" defTabSz="457200" rtl="0" eaLnBrk="0" fontAlgn="base" hangingPunct="0">
        <a:spcBef>
          <a:spcPct val="0"/>
        </a:spcBef>
        <a:spcAft>
          <a:spcPct val="0"/>
        </a:spcAft>
        <a:buClr>
          <a:srgbClr val="00CECE"/>
        </a:buClr>
        <a:buSzPct val="100000"/>
        <a:buFont typeface="Times New Roman" pitchFamily="16" charset="0"/>
        <a:defRPr sz="4400">
          <a:solidFill>
            <a:srgbClr val="00CECE"/>
          </a:solidFill>
          <a:latin typeface="Times New Roman" pitchFamily="16" charset="0"/>
          <a:cs typeface="Arial Unicode MS" charset="0"/>
        </a:defRPr>
      </a:lvl4pPr>
      <a:lvl5pPr algn="l" defTabSz="457200" rtl="0" eaLnBrk="0" fontAlgn="base" hangingPunct="0">
        <a:spcBef>
          <a:spcPct val="0"/>
        </a:spcBef>
        <a:spcAft>
          <a:spcPct val="0"/>
        </a:spcAft>
        <a:buClr>
          <a:srgbClr val="00CECE"/>
        </a:buClr>
        <a:buSzPct val="100000"/>
        <a:buFont typeface="Times New Roman" pitchFamily="16" charset="0"/>
        <a:defRPr sz="4400">
          <a:solidFill>
            <a:srgbClr val="00CECE"/>
          </a:solidFill>
          <a:latin typeface="Times New Roman" pitchFamily="16" charset="0"/>
          <a:cs typeface="Arial Unicode MS" charset="0"/>
        </a:defRPr>
      </a:lvl5pPr>
      <a:lvl6pPr marL="457200" algn="l" defTabSz="457200" rtl="0" eaLnBrk="0" fontAlgn="base" hangingPunct="0">
        <a:spcBef>
          <a:spcPct val="0"/>
        </a:spcBef>
        <a:spcAft>
          <a:spcPct val="0"/>
        </a:spcAft>
        <a:buClr>
          <a:srgbClr val="00CECE"/>
        </a:buClr>
        <a:buSzPct val="100000"/>
        <a:buFont typeface="Times New Roman" pitchFamily="16" charset="0"/>
        <a:defRPr sz="4400">
          <a:solidFill>
            <a:srgbClr val="000000"/>
          </a:solidFill>
          <a:latin typeface="Times New Roman" pitchFamily="16" charset="0"/>
          <a:cs typeface="Arial Unicode MS" charset="0"/>
        </a:defRPr>
      </a:lvl6pPr>
      <a:lvl7pPr marL="914400" algn="l" defTabSz="457200" rtl="0" eaLnBrk="0" fontAlgn="base" hangingPunct="0">
        <a:spcBef>
          <a:spcPct val="0"/>
        </a:spcBef>
        <a:spcAft>
          <a:spcPct val="0"/>
        </a:spcAft>
        <a:buClr>
          <a:srgbClr val="00CECE"/>
        </a:buClr>
        <a:buSzPct val="100000"/>
        <a:buFont typeface="Times New Roman" pitchFamily="16" charset="0"/>
        <a:defRPr sz="4400">
          <a:solidFill>
            <a:srgbClr val="000000"/>
          </a:solidFill>
          <a:latin typeface="Times New Roman" pitchFamily="16" charset="0"/>
          <a:cs typeface="Arial Unicode MS" charset="0"/>
        </a:defRPr>
      </a:lvl7pPr>
      <a:lvl8pPr marL="1371600" algn="l" defTabSz="457200" rtl="0" eaLnBrk="0" fontAlgn="base" hangingPunct="0">
        <a:spcBef>
          <a:spcPct val="0"/>
        </a:spcBef>
        <a:spcAft>
          <a:spcPct val="0"/>
        </a:spcAft>
        <a:buClr>
          <a:srgbClr val="00CECE"/>
        </a:buClr>
        <a:buSzPct val="100000"/>
        <a:buFont typeface="Times New Roman" pitchFamily="16" charset="0"/>
        <a:defRPr sz="4400">
          <a:solidFill>
            <a:srgbClr val="000000"/>
          </a:solidFill>
          <a:latin typeface="Times New Roman" pitchFamily="16" charset="0"/>
          <a:cs typeface="Arial Unicode MS" charset="0"/>
        </a:defRPr>
      </a:lvl8pPr>
      <a:lvl9pPr marL="1828800" algn="l" defTabSz="457200" rtl="0" eaLnBrk="0" fontAlgn="base" hangingPunct="0">
        <a:spcBef>
          <a:spcPct val="0"/>
        </a:spcBef>
        <a:spcAft>
          <a:spcPct val="0"/>
        </a:spcAft>
        <a:buClr>
          <a:srgbClr val="00CECE"/>
        </a:buClr>
        <a:buSzPct val="100000"/>
        <a:buFont typeface="Times New Roman" pitchFamily="16" charset="0"/>
        <a:defRPr sz="4400">
          <a:solidFill>
            <a:srgbClr val="000000"/>
          </a:solidFill>
          <a:latin typeface="Times New Roman" pitchFamily="16" charset="0"/>
          <a:cs typeface="Arial Unicode MS" charset="0"/>
        </a:defRPr>
      </a:lvl9pPr>
    </p:titleStyle>
    <p:bodyStyle>
      <a:lvl1pPr marL="341313" indent="-341313" algn="l" defTabSz="457200" rtl="0" eaLnBrk="0" fontAlgn="base" hangingPunct="0">
        <a:spcBef>
          <a:spcPts val="800"/>
        </a:spcBef>
        <a:spcAft>
          <a:spcPct val="0"/>
        </a:spcAft>
        <a:buClr>
          <a:srgbClr val="00CECE"/>
        </a:buClr>
        <a:buSzPct val="75000"/>
        <a:buFont typeface="Monotype Sorts" charset="2"/>
        <a:buChar char=""/>
        <a:defRPr sz="3200">
          <a:solidFill>
            <a:srgbClr val="E0E0E0"/>
          </a:solidFill>
          <a:effectLst>
            <a:outerShdw blurRad="38100" dist="38100" dir="2700000" algn="tl">
              <a:srgbClr val="000000"/>
            </a:outerShdw>
          </a:effectLst>
          <a:latin typeface="+mn-lt"/>
          <a:ea typeface="+mn-ea"/>
          <a:cs typeface="+mn-cs"/>
        </a:defRPr>
      </a:lvl1pPr>
      <a:lvl2pPr marL="741363" indent="-284163" algn="l" defTabSz="457200" rtl="0" eaLnBrk="0" fontAlgn="base" hangingPunct="0">
        <a:spcBef>
          <a:spcPts val="700"/>
        </a:spcBef>
        <a:spcAft>
          <a:spcPct val="0"/>
        </a:spcAft>
        <a:buClr>
          <a:srgbClr val="00CECE"/>
        </a:buClr>
        <a:buSzPct val="75000"/>
        <a:buFont typeface="Monotype Sorts" charset="2"/>
        <a:buChar char=""/>
        <a:defRPr sz="2800">
          <a:solidFill>
            <a:srgbClr val="E0E0E0"/>
          </a:solidFill>
          <a:effectLst>
            <a:outerShdw blurRad="38100" dist="38100" dir="2700000" algn="tl">
              <a:srgbClr val="000000"/>
            </a:outerShdw>
          </a:effectLst>
          <a:latin typeface="+mn-lt"/>
          <a:cs typeface="+mn-cs"/>
        </a:defRPr>
      </a:lvl2pPr>
      <a:lvl3pPr marL="1143000" indent="-228600" algn="l" defTabSz="457200" rtl="0" eaLnBrk="0" fontAlgn="base" hangingPunct="0">
        <a:spcBef>
          <a:spcPts val="600"/>
        </a:spcBef>
        <a:spcAft>
          <a:spcPct val="0"/>
        </a:spcAft>
        <a:buClr>
          <a:srgbClr val="00CECE"/>
        </a:buClr>
        <a:buSzPct val="65000"/>
        <a:buFont typeface="Monotype Sorts" charset="2"/>
        <a:buChar char=""/>
        <a:defRPr sz="2400">
          <a:solidFill>
            <a:srgbClr val="E0E0E0"/>
          </a:solidFill>
          <a:effectLst>
            <a:outerShdw blurRad="38100" dist="38100" dir="2700000" algn="tl">
              <a:srgbClr val="000000"/>
            </a:outerShdw>
          </a:effectLst>
          <a:latin typeface="+mn-lt"/>
          <a:cs typeface="+mn-cs"/>
        </a:defRPr>
      </a:lvl3pPr>
      <a:lvl4pPr marL="1600200" indent="-228600" algn="l" defTabSz="457200" rtl="0" eaLnBrk="0" fontAlgn="base" hangingPunct="0">
        <a:spcBef>
          <a:spcPts val="500"/>
        </a:spcBef>
        <a:spcAft>
          <a:spcPct val="0"/>
        </a:spcAft>
        <a:buClr>
          <a:srgbClr val="00CECE"/>
        </a:buClr>
        <a:buSzPct val="65000"/>
        <a:buFont typeface="Monotype Sorts" charset="2"/>
        <a:buChar char=""/>
        <a:defRPr sz="2000">
          <a:solidFill>
            <a:srgbClr val="E0E0E0"/>
          </a:solidFill>
          <a:effectLst>
            <a:outerShdw blurRad="38100" dist="38100" dir="2700000" algn="tl">
              <a:srgbClr val="000000"/>
            </a:outerShdw>
          </a:effectLst>
          <a:latin typeface="+mn-lt"/>
          <a:cs typeface="+mn-cs"/>
        </a:defRPr>
      </a:lvl4pPr>
      <a:lvl5pPr marL="2057400" indent="-228600" algn="l" defTabSz="457200" rtl="0" eaLnBrk="0" fontAlgn="base" hangingPunct="0">
        <a:spcBef>
          <a:spcPts val="500"/>
        </a:spcBef>
        <a:spcAft>
          <a:spcPct val="0"/>
        </a:spcAft>
        <a:buClr>
          <a:srgbClr val="00CECE"/>
        </a:buClr>
        <a:buSzPct val="65000"/>
        <a:buFont typeface="Monotype Sorts" charset="2"/>
        <a:buChar char=""/>
        <a:defRPr sz="2000">
          <a:solidFill>
            <a:srgbClr val="E0E0E0"/>
          </a:solidFill>
          <a:effectLst>
            <a:outerShdw blurRad="38100" dist="38100" dir="2700000" algn="tl">
              <a:srgbClr val="000000"/>
            </a:outerShdw>
          </a:effectLst>
          <a:latin typeface="+mn-lt"/>
          <a:cs typeface="+mn-cs"/>
        </a:defRPr>
      </a:lvl5pPr>
      <a:lvl6pPr marL="2514600" indent="-228600" algn="l" defTabSz="457200" rtl="0" eaLnBrk="0" fontAlgn="base" hangingPunct="0">
        <a:spcBef>
          <a:spcPts val="500"/>
        </a:spcBef>
        <a:spcAft>
          <a:spcPct val="0"/>
        </a:spcAft>
        <a:buClr>
          <a:srgbClr val="00CECE"/>
        </a:buClr>
        <a:buSzPct val="65000"/>
        <a:buFont typeface="Monotype Sorts" charset="2"/>
        <a:buChar char=""/>
        <a:defRPr sz="2000">
          <a:solidFill>
            <a:srgbClr val="E0E0E0"/>
          </a:solidFill>
          <a:effectLst>
            <a:outerShdw blurRad="38100" dist="38100" dir="2700000" algn="tl">
              <a:srgbClr val="000000"/>
            </a:outerShdw>
          </a:effectLst>
          <a:latin typeface="+mn-lt"/>
          <a:cs typeface="+mn-cs"/>
        </a:defRPr>
      </a:lvl6pPr>
      <a:lvl7pPr marL="2971800" indent="-228600" algn="l" defTabSz="457200" rtl="0" eaLnBrk="0" fontAlgn="base" hangingPunct="0">
        <a:spcBef>
          <a:spcPts val="500"/>
        </a:spcBef>
        <a:spcAft>
          <a:spcPct val="0"/>
        </a:spcAft>
        <a:buClr>
          <a:srgbClr val="00CECE"/>
        </a:buClr>
        <a:buSzPct val="65000"/>
        <a:buFont typeface="Monotype Sorts" charset="2"/>
        <a:buChar char=""/>
        <a:defRPr sz="2000">
          <a:solidFill>
            <a:srgbClr val="E0E0E0"/>
          </a:solidFill>
          <a:effectLst>
            <a:outerShdw blurRad="38100" dist="38100" dir="2700000" algn="tl">
              <a:srgbClr val="000000"/>
            </a:outerShdw>
          </a:effectLst>
          <a:latin typeface="+mn-lt"/>
          <a:cs typeface="+mn-cs"/>
        </a:defRPr>
      </a:lvl7pPr>
      <a:lvl8pPr marL="3429000" indent="-228600" algn="l" defTabSz="457200" rtl="0" eaLnBrk="0" fontAlgn="base" hangingPunct="0">
        <a:spcBef>
          <a:spcPts val="500"/>
        </a:spcBef>
        <a:spcAft>
          <a:spcPct val="0"/>
        </a:spcAft>
        <a:buClr>
          <a:srgbClr val="00CECE"/>
        </a:buClr>
        <a:buSzPct val="65000"/>
        <a:buFont typeface="Monotype Sorts" charset="2"/>
        <a:buChar char=""/>
        <a:defRPr sz="2000">
          <a:solidFill>
            <a:srgbClr val="E0E0E0"/>
          </a:solidFill>
          <a:effectLst>
            <a:outerShdw blurRad="38100" dist="38100" dir="2700000" algn="tl">
              <a:srgbClr val="000000"/>
            </a:outerShdw>
          </a:effectLst>
          <a:latin typeface="+mn-lt"/>
          <a:cs typeface="+mn-cs"/>
        </a:defRPr>
      </a:lvl8pPr>
      <a:lvl9pPr marL="3886200" indent="-228600" algn="l" defTabSz="457200" rtl="0" eaLnBrk="0" fontAlgn="base" hangingPunct="0">
        <a:spcBef>
          <a:spcPts val="500"/>
        </a:spcBef>
        <a:spcAft>
          <a:spcPct val="0"/>
        </a:spcAft>
        <a:buClr>
          <a:srgbClr val="00CECE"/>
        </a:buClr>
        <a:buSzPct val="65000"/>
        <a:buFont typeface="Monotype Sorts" charset="2"/>
        <a:buChar char=""/>
        <a:defRPr sz="2000">
          <a:solidFill>
            <a:srgbClr val="E0E0E0"/>
          </a:solidFill>
          <a:effectLst>
            <a:outerShdw blurRad="38100" dist="38100" dir="2700000" algn="tl">
              <a:srgbClr val="000000"/>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4.wmf"/><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wmf"/><Relationship Id="rId5" Type="http://schemas.openxmlformats.org/officeDocument/2006/relationships/image" Target="../media/image2.wmf"/><Relationship Id="rId4" Type="http://schemas.openxmlformats.org/officeDocument/2006/relationships/image" Target="../media/image1.wmf"/></Relationships>
</file>

<file path=ppt/slides/_rels/slide9.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 Id="rId9" Type="http://schemas.openxmlformats.org/officeDocument/2006/relationships/image" Target="../media/image7.wmf"/></Relationships>
</file>

<file path=ppt/slides/_rels/slide12.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 Id="rId9" Type="http://schemas.openxmlformats.org/officeDocument/2006/relationships/image" Target="../media/image7.wmf"/></Relationships>
</file>

<file path=ppt/slides/_rels/slide13.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19.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2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2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2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What is a Hash Table ?</a:t>
            </a:r>
          </a:p>
        </p:txBody>
      </p:sp>
      <p:sp>
        <p:nvSpPr>
          <p:cNvPr id="3075" name="Rectangle 2"/>
          <p:cNvSpPr>
            <a:spLocks noGrp="1" noChangeArrowheads="1"/>
          </p:cNvSpPr>
          <p:nvPr>
            <p:ph type="body" idx="1"/>
          </p:nvPr>
        </p:nvSpPr>
        <p:spPr>
          <a:xfrm>
            <a:off x="685800" y="1981200"/>
            <a:ext cx="47577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effectLst/>
              </a:rPr>
              <a:t>The simplest kind of hash table is an array of records.</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effectLst/>
              </a:rPr>
              <a:t>This example has 701 records.</a:t>
            </a:r>
          </a:p>
        </p:txBody>
      </p:sp>
      <p:sp>
        <p:nvSpPr>
          <p:cNvPr id="3076" name="AutoShape 3"/>
          <p:cNvSpPr>
            <a:spLocks noChangeArrowheads="1"/>
          </p:cNvSpPr>
          <p:nvPr/>
        </p:nvSpPr>
        <p:spPr bwMode="auto">
          <a:xfrm>
            <a:off x="1062038" y="4683125"/>
            <a:ext cx="6046787" cy="785813"/>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3077" name="Line 4"/>
          <p:cNvSpPr>
            <a:spLocks noChangeShapeType="1"/>
          </p:cNvSpPr>
          <p:nvPr/>
        </p:nvSpPr>
        <p:spPr bwMode="auto">
          <a:xfrm>
            <a:off x="1974850" y="4679950"/>
            <a:ext cx="1588" cy="792163"/>
          </a:xfrm>
          <a:prstGeom prst="line">
            <a:avLst/>
          </a:prstGeom>
          <a:noFill/>
          <a:ln w="12600">
            <a:solidFill>
              <a:srgbClr val="E0E0E0"/>
            </a:solidFill>
            <a:round/>
            <a:headEnd/>
            <a:tailEnd/>
          </a:ln>
        </p:spPr>
        <p:txBody>
          <a:bodyPr/>
          <a:lstStyle/>
          <a:p>
            <a:endParaRPr lang="en-US"/>
          </a:p>
        </p:txBody>
      </p:sp>
      <p:sp>
        <p:nvSpPr>
          <p:cNvPr id="3078" name="Line 5"/>
          <p:cNvSpPr>
            <a:spLocks noChangeShapeType="1"/>
          </p:cNvSpPr>
          <p:nvPr/>
        </p:nvSpPr>
        <p:spPr bwMode="auto">
          <a:xfrm>
            <a:off x="2889250" y="4679950"/>
            <a:ext cx="1588" cy="792163"/>
          </a:xfrm>
          <a:prstGeom prst="line">
            <a:avLst/>
          </a:prstGeom>
          <a:noFill/>
          <a:ln w="12600">
            <a:solidFill>
              <a:srgbClr val="E0E0E0"/>
            </a:solidFill>
            <a:round/>
            <a:headEnd/>
            <a:tailEnd/>
          </a:ln>
        </p:spPr>
        <p:txBody>
          <a:bodyPr/>
          <a:lstStyle/>
          <a:p>
            <a:endParaRPr lang="en-US"/>
          </a:p>
        </p:txBody>
      </p:sp>
      <p:sp>
        <p:nvSpPr>
          <p:cNvPr id="3079" name="Line 6"/>
          <p:cNvSpPr>
            <a:spLocks noChangeShapeType="1"/>
          </p:cNvSpPr>
          <p:nvPr/>
        </p:nvSpPr>
        <p:spPr bwMode="auto">
          <a:xfrm>
            <a:off x="3802063" y="4679950"/>
            <a:ext cx="1587" cy="792163"/>
          </a:xfrm>
          <a:prstGeom prst="line">
            <a:avLst/>
          </a:prstGeom>
          <a:noFill/>
          <a:ln w="12600">
            <a:solidFill>
              <a:srgbClr val="E0E0E0"/>
            </a:solidFill>
            <a:round/>
            <a:headEnd/>
            <a:tailEnd/>
          </a:ln>
        </p:spPr>
        <p:txBody>
          <a:bodyPr/>
          <a:lstStyle/>
          <a:p>
            <a:endParaRPr lang="en-US"/>
          </a:p>
        </p:txBody>
      </p:sp>
      <p:sp>
        <p:nvSpPr>
          <p:cNvPr id="3080" name="Line 7"/>
          <p:cNvSpPr>
            <a:spLocks noChangeShapeType="1"/>
          </p:cNvSpPr>
          <p:nvPr/>
        </p:nvSpPr>
        <p:spPr bwMode="auto">
          <a:xfrm>
            <a:off x="4718050" y="4683125"/>
            <a:ext cx="1588" cy="784225"/>
          </a:xfrm>
          <a:prstGeom prst="line">
            <a:avLst/>
          </a:prstGeom>
          <a:noFill/>
          <a:ln w="12600">
            <a:solidFill>
              <a:srgbClr val="E0E0E0"/>
            </a:solidFill>
            <a:round/>
            <a:headEnd/>
            <a:tailEnd/>
          </a:ln>
        </p:spPr>
        <p:txBody>
          <a:bodyPr/>
          <a:lstStyle/>
          <a:p>
            <a:endParaRPr lang="en-US"/>
          </a:p>
        </p:txBody>
      </p:sp>
      <p:sp>
        <p:nvSpPr>
          <p:cNvPr id="3081" name="Line 8"/>
          <p:cNvSpPr>
            <a:spLocks noChangeShapeType="1"/>
          </p:cNvSpPr>
          <p:nvPr/>
        </p:nvSpPr>
        <p:spPr bwMode="auto">
          <a:xfrm>
            <a:off x="5632450" y="4683125"/>
            <a:ext cx="1588" cy="784225"/>
          </a:xfrm>
          <a:prstGeom prst="line">
            <a:avLst/>
          </a:prstGeom>
          <a:noFill/>
          <a:ln w="12600">
            <a:solidFill>
              <a:srgbClr val="E0E0E0"/>
            </a:solidFill>
            <a:round/>
            <a:headEnd/>
            <a:tailEnd/>
          </a:ln>
        </p:spPr>
        <p:txBody>
          <a:bodyPr/>
          <a:lstStyle/>
          <a:p>
            <a:endParaRPr lang="en-US"/>
          </a:p>
        </p:txBody>
      </p:sp>
      <p:sp>
        <p:nvSpPr>
          <p:cNvPr id="3082" name="Line 9"/>
          <p:cNvSpPr>
            <a:spLocks noChangeShapeType="1"/>
          </p:cNvSpPr>
          <p:nvPr/>
        </p:nvSpPr>
        <p:spPr bwMode="auto">
          <a:xfrm>
            <a:off x="6546850" y="4678363"/>
            <a:ext cx="1588" cy="793750"/>
          </a:xfrm>
          <a:prstGeom prst="line">
            <a:avLst/>
          </a:prstGeom>
          <a:noFill/>
          <a:ln w="12600">
            <a:solidFill>
              <a:srgbClr val="E0E0E0"/>
            </a:solidFill>
            <a:round/>
            <a:headEnd/>
            <a:tailEnd/>
          </a:ln>
        </p:spPr>
        <p:txBody>
          <a:bodyPr/>
          <a:lstStyle/>
          <a:p>
            <a:endParaRPr lang="en-US"/>
          </a:p>
        </p:txBody>
      </p:sp>
      <p:sp>
        <p:nvSpPr>
          <p:cNvPr id="3083" name="AutoShape 10"/>
          <p:cNvSpPr>
            <a:spLocks noChangeArrowheads="1"/>
          </p:cNvSpPr>
          <p:nvPr/>
        </p:nvSpPr>
        <p:spPr bwMode="auto">
          <a:xfrm>
            <a:off x="1182688" y="4217988"/>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3084" name="AutoShape 11"/>
          <p:cNvSpPr>
            <a:spLocks noChangeArrowheads="1"/>
          </p:cNvSpPr>
          <p:nvPr/>
        </p:nvSpPr>
        <p:spPr bwMode="auto">
          <a:xfrm>
            <a:off x="2043113" y="4217988"/>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3085" name="AutoShape 12"/>
          <p:cNvSpPr>
            <a:spLocks noChangeArrowheads="1"/>
          </p:cNvSpPr>
          <p:nvPr/>
        </p:nvSpPr>
        <p:spPr bwMode="auto">
          <a:xfrm>
            <a:off x="2957513" y="4217988"/>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3086" name="AutoShape 13"/>
          <p:cNvSpPr>
            <a:spLocks noChangeArrowheads="1"/>
          </p:cNvSpPr>
          <p:nvPr/>
        </p:nvSpPr>
        <p:spPr bwMode="auto">
          <a:xfrm>
            <a:off x="383857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3087" name="AutoShape 14"/>
          <p:cNvSpPr>
            <a:spLocks noChangeArrowheads="1"/>
          </p:cNvSpPr>
          <p:nvPr/>
        </p:nvSpPr>
        <p:spPr bwMode="auto">
          <a:xfrm>
            <a:off x="475297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3088" name="AutoShape 15"/>
          <p:cNvSpPr>
            <a:spLocks noChangeArrowheads="1"/>
          </p:cNvSpPr>
          <p:nvPr/>
        </p:nvSpPr>
        <p:spPr bwMode="auto">
          <a:xfrm>
            <a:off x="572452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3089" name="AutoShape 16"/>
          <p:cNvSpPr>
            <a:spLocks noChangeArrowheads="1"/>
          </p:cNvSpPr>
          <p:nvPr/>
        </p:nvSpPr>
        <p:spPr bwMode="auto">
          <a:xfrm>
            <a:off x="450850" y="5565775"/>
            <a:ext cx="2995613"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An array of records</a:t>
            </a:r>
          </a:p>
        </p:txBody>
      </p:sp>
      <p:sp>
        <p:nvSpPr>
          <p:cNvPr id="3090" name="AutoShape 17"/>
          <p:cNvSpPr>
            <a:spLocks noChangeArrowheads="1"/>
          </p:cNvSpPr>
          <p:nvPr/>
        </p:nvSpPr>
        <p:spPr bwMode="auto">
          <a:xfrm>
            <a:off x="7891463" y="4683125"/>
            <a:ext cx="901700" cy="785813"/>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3091" name="Freeform 18"/>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3092" name="AutoShape 19"/>
          <p:cNvSpPr>
            <a:spLocks noChangeArrowheads="1"/>
          </p:cNvSpPr>
          <p:nvPr/>
        </p:nvSpPr>
        <p:spPr bwMode="auto">
          <a:xfrm>
            <a:off x="7132638" y="4846638"/>
            <a:ext cx="608012"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sp>
        <p:nvSpPr>
          <p:cNvPr id="3093" name="AutoShape 20"/>
          <p:cNvSpPr>
            <a:spLocks noChangeArrowheads="1"/>
          </p:cNvSpPr>
          <p:nvPr/>
        </p:nvSpPr>
        <p:spPr bwMode="auto">
          <a:xfrm>
            <a:off x="8047038" y="4221163"/>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What is a Hash Table ?</a:t>
            </a:r>
          </a:p>
        </p:txBody>
      </p:sp>
      <p:sp>
        <p:nvSpPr>
          <p:cNvPr id="4099"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Each record has a special field, called its </a:t>
            </a:r>
            <a:r>
              <a:rPr lang="en-GB" u="sng" smtClean="0">
                <a:solidFill>
                  <a:srgbClr val="FF8000"/>
                </a:solidFill>
                <a:effectLst/>
              </a:rPr>
              <a:t>key</a:t>
            </a:r>
            <a:r>
              <a:rPr lang="en-GB" smtClean="0">
                <a:effectLst/>
              </a:rPr>
              <a:t>.</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In this example, the key is a long integer field called </a:t>
            </a:r>
            <a:r>
              <a:rPr lang="en-GB" sz="2400" smtClean="0">
                <a:effectLst/>
                <a:latin typeface="Arial" charset="0"/>
              </a:rPr>
              <a:t>Number</a:t>
            </a:r>
            <a:r>
              <a:rPr lang="en-GB" smtClean="0">
                <a:effectLst/>
              </a:rPr>
              <a:t>.</a:t>
            </a:r>
          </a:p>
        </p:txBody>
      </p:sp>
      <p:sp>
        <p:nvSpPr>
          <p:cNvPr id="4100" name="AutoShape 3"/>
          <p:cNvSpPr>
            <a:spLocks noChangeArrowheads="1"/>
          </p:cNvSpPr>
          <p:nvPr/>
        </p:nvSpPr>
        <p:spPr bwMode="auto">
          <a:xfrm>
            <a:off x="1062038" y="4683125"/>
            <a:ext cx="6046787" cy="785813"/>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4101" name="Line 4"/>
          <p:cNvSpPr>
            <a:spLocks noChangeShapeType="1"/>
          </p:cNvSpPr>
          <p:nvPr/>
        </p:nvSpPr>
        <p:spPr bwMode="auto">
          <a:xfrm>
            <a:off x="1974850" y="4679950"/>
            <a:ext cx="1588" cy="792163"/>
          </a:xfrm>
          <a:prstGeom prst="line">
            <a:avLst/>
          </a:prstGeom>
          <a:noFill/>
          <a:ln w="12600">
            <a:solidFill>
              <a:srgbClr val="E0E0E0"/>
            </a:solidFill>
            <a:round/>
            <a:headEnd/>
            <a:tailEnd/>
          </a:ln>
        </p:spPr>
        <p:txBody>
          <a:bodyPr/>
          <a:lstStyle/>
          <a:p>
            <a:endParaRPr lang="en-US"/>
          </a:p>
        </p:txBody>
      </p:sp>
      <p:sp>
        <p:nvSpPr>
          <p:cNvPr id="4102" name="Line 5"/>
          <p:cNvSpPr>
            <a:spLocks noChangeShapeType="1"/>
          </p:cNvSpPr>
          <p:nvPr/>
        </p:nvSpPr>
        <p:spPr bwMode="auto">
          <a:xfrm>
            <a:off x="2889250" y="4679950"/>
            <a:ext cx="1588" cy="792163"/>
          </a:xfrm>
          <a:prstGeom prst="line">
            <a:avLst/>
          </a:prstGeom>
          <a:noFill/>
          <a:ln w="12600">
            <a:solidFill>
              <a:srgbClr val="E0E0E0"/>
            </a:solidFill>
            <a:round/>
            <a:headEnd/>
            <a:tailEnd/>
          </a:ln>
        </p:spPr>
        <p:txBody>
          <a:bodyPr/>
          <a:lstStyle/>
          <a:p>
            <a:endParaRPr lang="en-US"/>
          </a:p>
        </p:txBody>
      </p:sp>
      <p:sp>
        <p:nvSpPr>
          <p:cNvPr id="4103" name="Line 6"/>
          <p:cNvSpPr>
            <a:spLocks noChangeShapeType="1"/>
          </p:cNvSpPr>
          <p:nvPr/>
        </p:nvSpPr>
        <p:spPr bwMode="auto">
          <a:xfrm>
            <a:off x="3802063" y="4679950"/>
            <a:ext cx="1587" cy="792163"/>
          </a:xfrm>
          <a:prstGeom prst="line">
            <a:avLst/>
          </a:prstGeom>
          <a:noFill/>
          <a:ln w="12600">
            <a:solidFill>
              <a:srgbClr val="E0E0E0"/>
            </a:solidFill>
            <a:round/>
            <a:headEnd/>
            <a:tailEnd/>
          </a:ln>
        </p:spPr>
        <p:txBody>
          <a:bodyPr/>
          <a:lstStyle/>
          <a:p>
            <a:endParaRPr lang="en-US"/>
          </a:p>
        </p:txBody>
      </p:sp>
      <p:sp>
        <p:nvSpPr>
          <p:cNvPr id="4104" name="Line 7"/>
          <p:cNvSpPr>
            <a:spLocks noChangeShapeType="1"/>
          </p:cNvSpPr>
          <p:nvPr/>
        </p:nvSpPr>
        <p:spPr bwMode="auto">
          <a:xfrm>
            <a:off x="4718050" y="4683125"/>
            <a:ext cx="1588" cy="784225"/>
          </a:xfrm>
          <a:prstGeom prst="line">
            <a:avLst/>
          </a:prstGeom>
          <a:noFill/>
          <a:ln w="12600">
            <a:solidFill>
              <a:srgbClr val="E0E0E0"/>
            </a:solidFill>
            <a:round/>
            <a:headEnd/>
            <a:tailEnd/>
          </a:ln>
        </p:spPr>
        <p:txBody>
          <a:bodyPr/>
          <a:lstStyle/>
          <a:p>
            <a:endParaRPr lang="en-US"/>
          </a:p>
        </p:txBody>
      </p:sp>
      <p:sp>
        <p:nvSpPr>
          <p:cNvPr id="4105" name="Line 8"/>
          <p:cNvSpPr>
            <a:spLocks noChangeShapeType="1"/>
          </p:cNvSpPr>
          <p:nvPr/>
        </p:nvSpPr>
        <p:spPr bwMode="auto">
          <a:xfrm>
            <a:off x="5632450" y="4683125"/>
            <a:ext cx="1588" cy="784225"/>
          </a:xfrm>
          <a:prstGeom prst="line">
            <a:avLst/>
          </a:prstGeom>
          <a:noFill/>
          <a:ln w="12600">
            <a:solidFill>
              <a:srgbClr val="E0E0E0"/>
            </a:solidFill>
            <a:round/>
            <a:headEnd/>
            <a:tailEnd/>
          </a:ln>
        </p:spPr>
        <p:txBody>
          <a:bodyPr/>
          <a:lstStyle/>
          <a:p>
            <a:endParaRPr lang="en-US"/>
          </a:p>
        </p:txBody>
      </p:sp>
      <p:sp>
        <p:nvSpPr>
          <p:cNvPr id="4106" name="Line 9"/>
          <p:cNvSpPr>
            <a:spLocks noChangeShapeType="1"/>
          </p:cNvSpPr>
          <p:nvPr/>
        </p:nvSpPr>
        <p:spPr bwMode="auto">
          <a:xfrm>
            <a:off x="6546850" y="4678363"/>
            <a:ext cx="1588" cy="793750"/>
          </a:xfrm>
          <a:prstGeom prst="line">
            <a:avLst/>
          </a:prstGeom>
          <a:noFill/>
          <a:ln w="12600">
            <a:solidFill>
              <a:srgbClr val="E0E0E0"/>
            </a:solidFill>
            <a:round/>
            <a:headEnd/>
            <a:tailEnd/>
          </a:ln>
        </p:spPr>
        <p:txBody>
          <a:bodyPr/>
          <a:lstStyle/>
          <a:p>
            <a:endParaRPr lang="en-US"/>
          </a:p>
        </p:txBody>
      </p:sp>
      <p:sp>
        <p:nvSpPr>
          <p:cNvPr id="4107" name="AutoShape 10"/>
          <p:cNvSpPr>
            <a:spLocks noChangeArrowheads="1"/>
          </p:cNvSpPr>
          <p:nvPr/>
        </p:nvSpPr>
        <p:spPr bwMode="auto">
          <a:xfrm>
            <a:off x="1182688" y="4217988"/>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4108" name="AutoShape 11"/>
          <p:cNvSpPr>
            <a:spLocks noChangeArrowheads="1"/>
          </p:cNvSpPr>
          <p:nvPr/>
        </p:nvSpPr>
        <p:spPr bwMode="auto">
          <a:xfrm>
            <a:off x="2043113" y="4217988"/>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4109" name="AutoShape 12"/>
          <p:cNvSpPr>
            <a:spLocks noChangeArrowheads="1"/>
          </p:cNvSpPr>
          <p:nvPr/>
        </p:nvSpPr>
        <p:spPr bwMode="auto">
          <a:xfrm>
            <a:off x="2957513" y="4217988"/>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4110" name="AutoShape 13"/>
          <p:cNvSpPr>
            <a:spLocks noChangeArrowheads="1"/>
          </p:cNvSpPr>
          <p:nvPr/>
        </p:nvSpPr>
        <p:spPr bwMode="auto">
          <a:xfrm>
            <a:off x="383857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4111" name="AutoShape 14"/>
          <p:cNvSpPr>
            <a:spLocks noChangeArrowheads="1"/>
          </p:cNvSpPr>
          <p:nvPr/>
        </p:nvSpPr>
        <p:spPr bwMode="auto">
          <a:xfrm>
            <a:off x="475297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4112" name="AutoShape 15"/>
          <p:cNvSpPr>
            <a:spLocks noChangeArrowheads="1"/>
          </p:cNvSpPr>
          <p:nvPr/>
        </p:nvSpPr>
        <p:spPr bwMode="auto">
          <a:xfrm>
            <a:off x="572452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4113" name="AutoShape 16"/>
          <p:cNvSpPr>
            <a:spLocks noChangeArrowheads="1"/>
          </p:cNvSpPr>
          <p:nvPr/>
        </p:nvSpPr>
        <p:spPr bwMode="auto">
          <a:xfrm>
            <a:off x="7891463" y="4683125"/>
            <a:ext cx="901700" cy="785813"/>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4114" name="Freeform 17"/>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4115" name="AutoShape 18"/>
          <p:cNvSpPr>
            <a:spLocks noChangeArrowheads="1"/>
          </p:cNvSpPr>
          <p:nvPr/>
        </p:nvSpPr>
        <p:spPr bwMode="auto">
          <a:xfrm>
            <a:off x="7132638" y="4846638"/>
            <a:ext cx="608012"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sp>
        <p:nvSpPr>
          <p:cNvPr id="4116" name="AutoShape 19"/>
          <p:cNvSpPr>
            <a:spLocks noChangeArrowheads="1"/>
          </p:cNvSpPr>
          <p:nvPr/>
        </p:nvSpPr>
        <p:spPr bwMode="auto">
          <a:xfrm>
            <a:off x="8047038" y="4221163"/>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sp>
        <p:nvSpPr>
          <p:cNvPr id="4117" name="AutoShape 2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4118" name="Freeform 21"/>
          <p:cNvSpPr>
            <a:spLocks noChangeArrowheads="1"/>
          </p:cNvSpPr>
          <p:nvPr/>
        </p:nvSpPr>
        <p:spPr bwMode="auto">
          <a:xfrm>
            <a:off x="4724400" y="914400"/>
            <a:ext cx="1295400" cy="4572000"/>
          </a:xfrm>
          <a:custGeom>
            <a:avLst/>
            <a:gdLst>
              <a:gd name="T0" fmla="*/ 0 w 3600"/>
              <a:gd name="T1" fmla="*/ 10372 h 12701"/>
              <a:gd name="T2" fmla="*/ 3599 w 3600"/>
              <a:gd name="T3" fmla="*/ 0 h 12701"/>
              <a:gd name="T4" fmla="*/ 3599 w 3600"/>
              <a:gd name="T5" fmla="*/ 6985 h 12701"/>
              <a:gd name="T6" fmla="*/ 0 w 3600"/>
              <a:gd name="T7" fmla="*/ 12700 h 12701"/>
              <a:gd name="T8" fmla="*/ 0 w 3600"/>
              <a:gd name="T9" fmla="*/ 10372 h 12701"/>
              <a:gd name="T10" fmla="*/ 0 60000 65536"/>
              <a:gd name="T11" fmla="*/ 0 60000 65536"/>
              <a:gd name="T12" fmla="*/ 0 60000 65536"/>
              <a:gd name="T13" fmla="*/ 0 60000 65536"/>
              <a:gd name="T14" fmla="*/ 0 60000 65536"/>
              <a:gd name="T15" fmla="*/ 0 w 3600"/>
              <a:gd name="T16" fmla="*/ 0 h 12701"/>
              <a:gd name="T17" fmla="*/ 3600 w 3600"/>
              <a:gd name="T18" fmla="*/ 12701 h 12701"/>
            </a:gdLst>
            <a:ahLst/>
            <a:cxnLst>
              <a:cxn ang="T10">
                <a:pos x="T0" y="T1"/>
              </a:cxn>
              <a:cxn ang="T11">
                <a:pos x="T2" y="T3"/>
              </a:cxn>
              <a:cxn ang="T12">
                <a:pos x="T4" y="T5"/>
              </a:cxn>
              <a:cxn ang="T13">
                <a:pos x="T6" y="T7"/>
              </a:cxn>
              <a:cxn ang="T14">
                <a:pos x="T8" y="T9"/>
              </a:cxn>
            </a:cxnLst>
            <a:rect l="T15" t="T16" r="T17" b="T18"/>
            <a:pathLst>
              <a:path w="3600" h="12701">
                <a:moveTo>
                  <a:pt x="0" y="10372"/>
                </a:moveTo>
                <a:lnTo>
                  <a:pt x="3599" y="0"/>
                </a:lnTo>
                <a:lnTo>
                  <a:pt x="3599" y="6985"/>
                </a:lnTo>
                <a:lnTo>
                  <a:pt x="0" y="12700"/>
                </a:lnTo>
                <a:lnTo>
                  <a:pt x="0" y="10372"/>
                </a:lnTo>
              </a:path>
            </a:pathLst>
          </a:custGeom>
          <a:gradFill rotWithShape="0">
            <a:gsLst>
              <a:gs pos="0">
                <a:srgbClr val="8080FF"/>
              </a:gs>
              <a:gs pos="100000">
                <a:srgbClr val="26264B"/>
              </a:gs>
            </a:gsLst>
            <a:lin ang="5400000" scaled="1"/>
          </a:gradFill>
          <a:ln w="12600">
            <a:solidFill>
              <a:srgbClr val="E0E0E0"/>
            </a:solidFill>
            <a:round/>
            <a:headEnd/>
            <a:tailEnd/>
          </a:ln>
        </p:spPr>
        <p:txBody>
          <a:bodyPr wrap="none" anchor="ctr"/>
          <a:lstStyle/>
          <a:p>
            <a:endParaRPr lang="en-US"/>
          </a:p>
        </p:txBody>
      </p:sp>
      <p:sp>
        <p:nvSpPr>
          <p:cNvPr id="4119" name="Freeform 22"/>
          <p:cNvSpPr>
            <a:spLocks noChangeArrowheads="1"/>
          </p:cNvSpPr>
          <p:nvPr/>
        </p:nvSpPr>
        <p:spPr bwMode="auto">
          <a:xfrm>
            <a:off x="4724400" y="3386138"/>
            <a:ext cx="3910013" cy="2100262"/>
          </a:xfrm>
          <a:custGeom>
            <a:avLst/>
            <a:gdLst>
              <a:gd name="T0" fmla="*/ 0 w 10863"/>
              <a:gd name="T1" fmla="*/ 5834 h 5835"/>
              <a:gd name="T2" fmla="*/ 3629 w 10863"/>
              <a:gd name="T3" fmla="*/ 0 h 5835"/>
              <a:gd name="T4" fmla="*/ 10862 w 10863"/>
              <a:gd name="T5" fmla="*/ 0 h 5835"/>
              <a:gd name="T6" fmla="*/ 2540 w 10863"/>
              <a:gd name="T7" fmla="*/ 5834 h 5835"/>
              <a:gd name="T8" fmla="*/ 0 w 10863"/>
              <a:gd name="T9" fmla="*/ 5834 h 5835"/>
              <a:gd name="T10" fmla="*/ 0 60000 65536"/>
              <a:gd name="T11" fmla="*/ 0 60000 65536"/>
              <a:gd name="T12" fmla="*/ 0 60000 65536"/>
              <a:gd name="T13" fmla="*/ 0 60000 65536"/>
              <a:gd name="T14" fmla="*/ 0 60000 65536"/>
              <a:gd name="T15" fmla="*/ 0 w 10863"/>
              <a:gd name="T16" fmla="*/ 0 h 5835"/>
              <a:gd name="T17" fmla="*/ 10863 w 10863"/>
              <a:gd name="T18" fmla="*/ 5835 h 5835"/>
            </a:gdLst>
            <a:ahLst/>
            <a:cxnLst>
              <a:cxn ang="T10">
                <a:pos x="T0" y="T1"/>
              </a:cxn>
              <a:cxn ang="T11">
                <a:pos x="T2" y="T3"/>
              </a:cxn>
              <a:cxn ang="T12">
                <a:pos x="T4" y="T5"/>
              </a:cxn>
              <a:cxn ang="T13">
                <a:pos x="T6" y="T7"/>
              </a:cxn>
              <a:cxn ang="T14">
                <a:pos x="T8" y="T9"/>
              </a:cxn>
            </a:cxnLst>
            <a:rect l="T15" t="T16" r="T17" b="T18"/>
            <a:pathLst>
              <a:path w="10863" h="5835">
                <a:moveTo>
                  <a:pt x="0" y="5834"/>
                </a:moveTo>
                <a:lnTo>
                  <a:pt x="3629" y="0"/>
                </a:lnTo>
                <a:lnTo>
                  <a:pt x="10862" y="0"/>
                </a:lnTo>
                <a:lnTo>
                  <a:pt x="2540" y="5834"/>
                </a:lnTo>
                <a:lnTo>
                  <a:pt x="0" y="5834"/>
                </a:lnTo>
              </a:path>
            </a:pathLst>
          </a:custGeom>
          <a:gradFill rotWithShape="0">
            <a:gsLst>
              <a:gs pos="0">
                <a:srgbClr val="8080FF"/>
              </a:gs>
              <a:gs pos="100000">
                <a:srgbClr val="26264B"/>
              </a:gs>
            </a:gsLst>
            <a:lin ang="8100000" scaled="1"/>
          </a:gradFill>
          <a:ln w="12600">
            <a:solidFill>
              <a:srgbClr val="E0E0E0"/>
            </a:solidFill>
            <a:round/>
            <a:headEnd/>
            <a:tailEnd/>
          </a:ln>
        </p:spPr>
        <p:txBody>
          <a:bodyPr wrap="none" anchor="ctr"/>
          <a:lstStyle/>
          <a:p>
            <a:endParaRPr lang="en-US"/>
          </a:p>
        </p:txBody>
      </p:sp>
      <p:sp>
        <p:nvSpPr>
          <p:cNvPr id="4120" name="AutoShape 23"/>
          <p:cNvSpPr>
            <a:spLocks noChangeArrowheads="1"/>
          </p:cNvSpPr>
          <p:nvPr/>
        </p:nvSpPr>
        <p:spPr bwMode="auto">
          <a:xfrm>
            <a:off x="6900863" y="460375"/>
            <a:ext cx="696912" cy="433388"/>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[ 4 ]</a:t>
            </a:r>
          </a:p>
        </p:txBody>
      </p:sp>
      <p:sp>
        <p:nvSpPr>
          <p:cNvPr id="4121" name="AutoShape 24"/>
          <p:cNvSpPr>
            <a:spLocks noChangeArrowheads="1"/>
          </p:cNvSpPr>
          <p:nvPr/>
        </p:nvSpPr>
        <p:spPr bwMode="auto">
          <a:xfrm>
            <a:off x="6156325" y="1103313"/>
            <a:ext cx="2503488"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506643548</a:t>
            </a:r>
          </a:p>
        </p:txBody>
      </p:sp>
    </p:spTree>
  </p:cSld>
  <p:clrMapOvr>
    <a:masterClrMapping/>
  </p:clrMapOvr>
  <p:transition>
    <p:strips dir="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What is a Hash Table ?</a:t>
            </a:r>
          </a:p>
        </p:txBody>
      </p:sp>
      <p:sp>
        <p:nvSpPr>
          <p:cNvPr id="5123"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The number might be a person's identification number, and the rest of the record has information about the person.</a:t>
            </a:r>
          </a:p>
        </p:txBody>
      </p:sp>
      <p:sp>
        <p:nvSpPr>
          <p:cNvPr id="5124" name="AutoShape 3"/>
          <p:cNvSpPr>
            <a:spLocks noChangeArrowheads="1"/>
          </p:cNvSpPr>
          <p:nvPr/>
        </p:nvSpPr>
        <p:spPr bwMode="auto">
          <a:xfrm>
            <a:off x="1062038" y="4683125"/>
            <a:ext cx="6046787" cy="785813"/>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5125" name="Line 4"/>
          <p:cNvSpPr>
            <a:spLocks noChangeShapeType="1"/>
          </p:cNvSpPr>
          <p:nvPr/>
        </p:nvSpPr>
        <p:spPr bwMode="auto">
          <a:xfrm>
            <a:off x="1974850" y="4679950"/>
            <a:ext cx="1588" cy="792163"/>
          </a:xfrm>
          <a:prstGeom prst="line">
            <a:avLst/>
          </a:prstGeom>
          <a:noFill/>
          <a:ln w="12600">
            <a:solidFill>
              <a:srgbClr val="E0E0E0"/>
            </a:solidFill>
            <a:round/>
            <a:headEnd/>
            <a:tailEnd/>
          </a:ln>
        </p:spPr>
        <p:txBody>
          <a:bodyPr/>
          <a:lstStyle/>
          <a:p>
            <a:endParaRPr lang="en-US"/>
          </a:p>
        </p:txBody>
      </p:sp>
      <p:sp>
        <p:nvSpPr>
          <p:cNvPr id="5126" name="Line 5"/>
          <p:cNvSpPr>
            <a:spLocks noChangeShapeType="1"/>
          </p:cNvSpPr>
          <p:nvPr/>
        </p:nvSpPr>
        <p:spPr bwMode="auto">
          <a:xfrm>
            <a:off x="2889250" y="4679950"/>
            <a:ext cx="1588" cy="792163"/>
          </a:xfrm>
          <a:prstGeom prst="line">
            <a:avLst/>
          </a:prstGeom>
          <a:noFill/>
          <a:ln w="12600">
            <a:solidFill>
              <a:srgbClr val="E0E0E0"/>
            </a:solidFill>
            <a:round/>
            <a:headEnd/>
            <a:tailEnd/>
          </a:ln>
        </p:spPr>
        <p:txBody>
          <a:bodyPr/>
          <a:lstStyle/>
          <a:p>
            <a:endParaRPr lang="en-US"/>
          </a:p>
        </p:txBody>
      </p:sp>
      <p:sp>
        <p:nvSpPr>
          <p:cNvPr id="5127" name="Line 6"/>
          <p:cNvSpPr>
            <a:spLocks noChangeShapeType="1"/>
          </p:cNvSpPr>
          <p:nvPr/>
        </p:nvSpPr>
        <p:spPr bwMode="auto">
          <a:xfrm>
            <a:off x="3802063" y="4679950"/>
            <a:ext cx="1587" cy="792163"/>
          </a:xfrm>
          <a:prstGeom prst="line">
            <a:avLst/>
          </a:prstGeom>
          <a:noFill/>
          <a:ln w="12600">
            <a:solidFill>
              <a:srgbClr val="E0E0E0"/>
            </a:solidFill>
            <a:round/>
            <a:headEnd/>
            <a:tailEnd/>
          </a:ln>
        </p:spPr>
        <p:txBody>
          <a:bodyPr/>
          <a:lstStyle/>
          <a:p>
            <a:endParaRPr lang="en-US"/>
          </a:p>
        </p:txBody>
      </p:sp>
      <p:sp>
        <p:nvSpPr>
          <p:cNvPr id="5128" name="Line 7"/>
          <p:cNvSpPr>
            <a:spLocks noChangeShapeType="1"/>
          </p:cNvSpPr>
          <p:nvPr/>
        </p:nvSpPr>
        <p:spPr bwMode="auto">
          <a:xfrm>
            <a:off x="4718050" y="4683125"/>
            <a:ext cx="1588" cy="784225"/>
          </a:xfrm>
          <a:prstGeom prst="line">
            <a:avLst/>
          </a:prstGeom>
          <a:noFill/>
          <a:ln w="12600">
            <a:solidFill>
              <a:srgbClr val="E0E0E0"/>
            </a:solidFill>
            <a:round/>
            <a:headEnd/>
            <a:tailEnd/>
          </a:ln>
        </p:spPr>
        <p:txBody>
          <a:bodyPr/>
          <a:lstStyle/>
          <a:p>
            <a:endParaRPr lang="en-US"/>
          </a:p>
        </p:txBody>
      </p:sp>
      <p:sp>
        <p:nvSpPr>
          <p:cNvPr id="5129" name="Line 8"/>
          <p:cNvSpPr>
            <a:spLocks noChangeShapeType="1"/>
          </p:cNvSpPr>
          <p:nvPr/>
        </p:nvSpPr>
        <p:spPr bwMode="auto">
          <a:xfrm>
            <a:off x="5632450" y="4683125"/>
            <a:ext cx="1588" cy="784225"/>
          </a:xfrm>
          <a:prstGeom prst="line">
            <a:avLst/>
          </a:prstGeom>
          <a:noFill/>
          <a:ln w="12600">
            <a:solidFill>
              <a:srgbClr val="E0E0E0"/>
            </a:solidFill>
            <a:round/>
            <a:headEnd/>
            <a:tailEnd/>
          </a:ln>
        </p:spPr>
        <p:txBody>
          <a:bodyPr/>
          <a:lstStyle/>
          <a:p>
            <a:endParaRPr lang="en-US"/>
          </a:p>
        </p:txBody>
      </p:sp>
      <p:sp>
        <p:nvSpPr>
          <p:cNvPr id="5130" name="Line 9"/>
          <p:cNvSpPr>
            <a:spLocks noChangeShapeType="1"/>
          </p:cNvSpPr>
          <p:nvPr/>
        </p:nvSpPr>
        <p:spPr bwMode="auto">
          <a:xfrm>
            <a:off x="6546850" y="4678363"/>
            <a:ext cx="1588" cy="793750"/>
          </a:xfrm>
          <a:prstGeom prst="line">
            <a:avLst/>
          </a:prstGeom>
          <a:noFill/>
          <a:ln w="12600">
            <a:solidFill>
              <a:srgbClr val="E0E0E0"/>
            </a:solidFill>
            <a:round/>
            <a:headEnd/>
            <a:tailEnd/>
          </a:ln>
        </p:spPr>
        <p:txBody>
          <a:bodyPr/>
          <a:lstStyle/>
          <a:p>
            <a:endParaRPr lang="en-US"/>
          </a:p>
        </p:txBody>
      </p:sp>
      <p:sp>
        <p:nvSpPr>
          <p:cNvPr id="5131" name="AutoShape 10"/>
          <p:cNvSpPr>
            <a:spLocks noChangeArrowheads="1"/>
          </p:cNvSpPr>
          <p:nvPr/>
        </p:nvSpPr>
        <p:spPr bwMode="auto">
          <a:xfrm>
            <a:off x="1182688" y="4217988"/>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5132" name="AutoShape 11"/>
          <p:cNvSpPr>
            <a:spLocks noChangeArrowheads="1"/>
          </p:cNvSpPr>
          <p:nvPr/>
        </p:nvSpPr>
        <p:spPr bwMode="auto">
          <a:xfrm>
            <a:off x="2043113" y="4217988"/>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5133" name="AutoShape 12"/>
          <p:cNvSpPr>
            <a:spLocks noChangeArrowheads="1"/>
          </p:cNvSpPr>
          <p:nvPr/>
        </p:nvSpPr>
        <p:spPr bwMode="auto">
          <a:xfrm>
            <a:off x="2957513" y="4217988"/>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5134" name="AutoShape 13"/>
          <p:cNvSpPr>
            <a:spLocks noChangeArrowheads="1"/>
          </p:cNvSpPr>
          <p:nvPr/>
        </p:nvSpPr>
        <p:spPr bwMode="auto">
          <a:xfrm>
            <a:off x="383857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5135" name="AutoShape 14"/>
          <p:cNvSpPr>
            <a:spLocks noChangeArrowheads="1"/>
          </p:cNvSpPr>
          <p:nvPr/>
        </p:nvSpPr>
        <p:spPr bwMode="auto">
          <a:xfrm>
            <a:off x="475297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5136" name="AutoShape 15"/>
          <p:cNvSpPr>
            <a:spLocks noChangeArrowheads="1"/>
          </p:cNvSpPr>
          <p:nvPr/>
        </p:nvSpPr>
        <p:spPr bwMode="auto">
          <a:xfrm>
            <a:off x="5724525" y="4217988"/>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5137" name="AutoShape 16"/>
          <p:cNvSpPr>
            <a:spLocks noChangeArrowheads="1"/>
          </p:cNvSpPr>
          <p:nvPr/>
        </p:nvSpPr>
        <p:spPr bwMode="auto">
          <a:xfrm>
            <a:off x="7891463" y="4683125"/>
            <a:ext cx="901700" cy="785813"/>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5138" name="Freeform 17"/>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5139" name="AutoShape 18"/>
          <p:cNvSpPr>
            <a:spLocks noChangeArrowheads="1"/>
          </p:cNvSpPr>
          <p:nvPr/>
        </p:nvSpPr>
        <p:spPr bwMode="auto">
          <a:xfrm>
            <a:off x="7132638" y="4835525"/>
            <a:ext cx="608012"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sp>
        <p:nvSpPr>
          <p:cNvPr id="5140" name="AutoShape 19"/>
          <p:cNvSpPr>
            <a:spLocks noChangeArrowheads="1"/>
          </p:cNvSpPr>
          <p:nvPr/>
        </p:nvSpPr>
        <p:spPr bwMode="auto">
          <a:xfrm>
            <a:off x="8047038" y="4221163"/>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sp>
        <p:nvSpPr>
          <p:cNvPr id="5141" name="AutoShape 2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5142" name="Freeform 21"/>
          <p:cNvSpPr>
            <a:spLocks noChangeArrowheads="1"/>
          </p:cNvSpPr>
          <p:nvPr/>
        </p:nvSpPr>
        <p:spPr bwMode="auto">
          <a:xfrm>
            <a:off x="4724400" y="914400"/>
            <a:ext cx="1295400" cy="4572000"/>
          </a:xfrm>
          <a:custGeom>
            <a:avLst/>
            <a:gdLst>
              <a:gd name="T0" fmla="*/ 0 w 3600"/>
              <a:gd name="T1" fmla="*/ 10372 h 12701"/>
              <a:gd name="T2" fmla="*/ 3599 w 3600"/>
              <a:gd name="T3" fmla="*/ 0 h 12701"/>
              <a:gd name="T4" fmla="*/ 3599 w 3600"/>
              <a:gd name="T5" fmla="*/ 6985 h 12701"/>
              <a:gd name="T6" fmla="*/ 0 w 3600"/>
              <a:gd name="T7" fmla="*/ 12700 h 12701"/>
              <a:gd name="T8" fmla="*/ 0 w 3600"/>
              <a:gd name="T9" fmla="*/ 10372 h 12701"/>
              <a:gd name="T10" fmla="*/ 0 60000 65536"/>
              <a:gd name="T11" fmla="*/ 0 60000 65536"/>
              <a:gd name="T12" fmla="*/ 0 60000 65536"/>
              <a:gd name="T13" fmla="*/ 0 60000 65536"/>
              <a:gd name="T14" fmla="*/ 0 60000 65536"/>
              <a:gd name="T15" fmla="*/ 0 w 3600"/>
              <a:gd name="T16" fmla="*/ 0 h 12701"/>
              <a:gd name="T17" fmla="*/ 3600 w 3600"/>
              <a:gd name="T18" fmla="*/ 12701 h 12701"/>
            </a:gdLst>
            <a:ahLst/>
            <a:cxnLst>
              <a:cxn ang="T10">
                <a:pos x="T0" y="T1"/>
              </a:cxn>
              <a:cxn ang="T11">
                <a:pos x="T2" y="T3"/>
              </a:cxn>
              <a:cxn ang="T12">
                <a:pos x="T4" y="T5"/>
              </a:cxn>
              <a:cxn ang="T13">
                <a:pos x="T6" y="T7"/>
              </a:cxn>
              <a:cxn ang="T14">
                <a:pos x="T8" y="T9"/>
              </a:cxn>
            </a:cxnLst>
            <a:rect l="T15" t="T16" r="T17" b="T18"/>
            <a:pathLst>
              <a:path w="3600" h="12701">
                <a:moveTo>
                  <a:pt x="0" y="10372"/>
                </a:moveTo>
                <a:lnTo>
                  <a:pt x="3599" y="0"/>
                </a:lnTo>
                <a:lnTo>
                  <a:pt x="3599" y="6985"/>
                </a:lnTo>
                <a:lnTo>
                  <a:pt x="0" y="12700"/>
                </a:lnTo>
                <a:lnTo>
                  <a:pt x="0" y="10372"/>
                </a:lnTo>
              </a:path>
            </a:pathLst>
          </a:custGeom>
          <a:gradFill rotWithShape="0">
            <a:gsLst>
              <a:gs pos="0">
                <a:srgbClr val="8080FF"/>
              </a:gs>
              <a:gs pos="100000">
                <a:srgbClr val="26264B"/>
              </a:gs>
            </a:gsLst>
            <a:lin ang="5400000" scaled="1"/>
          </a:gradFill>
          <a:ln w="12600">
            <a:solidFill>
              <a:srgbClr val="E0E0E0"/>
            </a:solidFill>
            <a:round/>
            <a:headEnd/>
            <a:tailEnd/>
          </a:ln>
        </p:spPr>
        <p:txBody>
          <a:bodyPr wrap="none" anchor="ctr"/>
          <a:lstStyle/>
          <a:p>
            <a:endParaRPr lang="en-US"/>
          </a:p>
        </p:txBody>
      </p:sp>
      <p:sp>
        <p:nvSpPr>
          <p:cNvPr id="5143" name="Freeform 22"/>
          <p:cNvSpPr>
            <a:spLocks noChangeArrowheads="1"/>
          </p:cNvSpPr>
          <p:nvPr/>
        </p:nvSpPr>
        <p:spPr bwMode="auto">
          <a:xfrm>
            <a:off x="4724400" y="3386138"/>
            <a:ext cx="3910013" cy="2100262"/>
          </a:xfrm>
          <a:custGeom>
            <a:avLst/>
            <a:gdLst>
              <a:gd name="T0" fmla="*/ 0 w 10863"/>
              <a:gd name="T1" fmla="*/ 5834 h 5835"/>
              <a:gd name="T2" fmla="*/ 3629 w 10863"/>
              <a:gd name="T3" fmla="*/ 0 h 5835"/>
              <a:gd name="T4" fmla="*/ 10862 w 10863"/>
              <a:gd name="T5" fmla="*/ 0 h 5835"/>
              <a:gd name="T6" fmla="*/ 2540 w 10863"/>
              <a:gd name="T7" fmla="*/ 5834 h 5835"/>
              <a:gd name="T8" fmla="*/ 0 w 10863"/>
              <a:gd name="T9" fmla="*/ 5834 h 5835"/>
              <a:gd name="T10" fmla="*/ 0 60000 65536"/>
              <a:gd name="T11" fmla="*/ 0 60000 65536"/>
              <a:gd name="T12" fmla="*/ 0 60000 65536"/>
              <a:gd name="T13" fmla="*/ 0 60000 65536"/>
              <a:gd name="T14" fmla="*/ 0 60000 65536"/>
              <a:gd name="T15" fmla="*/ 0 w 10863"/>
              <a:gd name="T16" fmla="*/ 0 h 5835"/>
              <a:gd name="T17" fmla="*/ 10863 w 10863"/>
              <a:gd name="T18" fmla="*/ 5835 h 5835"/>
            </a:gdLst>
            <a:ahLst/>
            <a:cxnLst>
              <a:cxn ang="T10">
                <a:pos x="T0" y="T1"/>
              </a:cxn>
              <a:cxn ang="T11">
                <a:pos x="T2" y="T3"/>
              </a:cxn>
              <a:cxn ang="T12">
                <a:pos x="T4" y="T5"/>
              </a:cxn>
              <a:cxn ang="T13">
                <a:pos x="T6" y="T7"/>
              </a:cxn>
              <a:cxn ang="T14">
                <a:pos x="T8" y="T9"/>
              </a:cxn>
            </a:cxnLst>
            <a:rect l="T15" t="T16" r="T17" b="T18"/>
            <a:pathLst>
              <a:path w="10863" h="5835">
                <a:moveTo>
                  <a:pt x="0" y="5834"/>
                </a:moveTo>
                <a:lnTo>
                  <a:pt x="3629" y="0"/>
                </a:lnTo>
                <a:lnTo>
                  <a:pt x="10862" y="0"/>
                </a:lnTo>
                <a:lnTo>
                  <a:pt x="2540" y="5834"/>
                </a:lnTo>
                <a:lnTo>
                  <a:pt x="0" y="5834"/>
                </a:lnTo>
              </a:path>
            </a:pathLst>
          </a:custGeom>
          <a:gradFill rotWithShape="0">
            <a:gsLst>
              <a:gs pos="0">
                <a:srgbClr val="8080FF"/>
              </a:gs>
              <a:gs pos="100000">
                <a:srgbClr val="26264B"/>
              </a:gs>
            </a:gsLst>
            <a:lin ang="8100000" scaled="1"/>
          </a:gradFill>
          <a:ln w="12600">
            <a:solidFill>
              <a:srgbClr val="E0E0E0"/>
            </a:solidFill>
            <a:round/>
            <a:headEnd/>
            <a:tailEnd/>
          </a:ln>
        </p:spPr>
        <p:txBody>
          <a:bodyPr wrap="none" anchor="ctr"/>
          <a:lstStyle/>
          <a:p>
            <a:endParaRPr lang="en-US"/>
          </a:p>
        </p:txBody>
      </p:sp>
      <p:sp>
        <p:nvSpPr>
          <p:cNvPr id="5144" name="AutoShape 23"/>
          <p:cNvSpPr>
            <a:spLocks noChangeArrowheads="1"/>
          </p:cNvSpPr>
          <p:nvPr/>
        </p:nvSpPr>
        <p:spPr bwMode="auto">
          <a:xfrm>
            <a:off x="6900863" y="390525"/>
            <a:ext cx="696912" cy="433388"/>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[ 4 ]</a:t>
            </a:r>
          </a:p>
        </p:txBody>
      </p:sp>
      <p:sp>
        <p:nvSpPr>
          <p:cNvPr id="5145" name="AutoShape 24"/>
          <p:cNvSpPr>
            <a:spLocks noChangeArrowheads="1"/>
          </p:cNvSpPr>
          <p:nvPr/>
        </p:nvSpPr>
        <p:spPr bwMode="auto">
          <a:xfrm>
            <a:off x="6156325" y="1103313"/>
            <a:ext cx="2503488"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506643548</a:t>
            </a:r>
          </a:p>
        </p:txBody>
      </p:sp>
      <p:pic>
        <p:nvPicPr>
          <p:cNvPr id="5146" name="Picture 25"/>
          <p:cNvPicPr>
            <a:picLocks noChangeAspect="1" noChangeArrowheads="1"/>
          </p:cNvPicPr>
          <p:nvPr/>
        </p:nvPicPr>
        <p:blipFill>
          <a:blip r:embed="rId3"/>
          <a:srcRect r="35484" b="42001"/>
          <a:stretch>
            <a:fillRect/>
          </a:stretch>
        </p:blipFill>
        <p:spPr bwMode="auto">
          <a:xfrm>
            <a:off x="6459538" y="1562100"/>
            <a:ext cx="1633537" cy="1600200"/>
          </a:xfrm>
          <a:prstGeom prst="rect">
            <a:avLst/>
          </a:prstGeom>
          <a:noFill/>
          <a:ln w="9525">
            <a:noFill/>
            <a:miter lim="800000"/>
            <a:headEnd/>
            <a:tailEnd/>
          </a:ln>
        </p:spPr>
      </p:pic>
    </p:spTree>
  </p:cSld>
  <p:clrMapOvr>
    <a:masterClrMapping/>
  </p:clrMapOvr>
  <p:transition>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What is a Hash Table ?</a:t>
            </a:r>
          </a:p>
        </p:txBody>
      </p:sp>
      <p:sp>
        <p:nvSpPr>
          <p:cNvPr id="6147" name="Rectangle 2"/>
          <p:cNvSpPr>
            <a:spLocks noGrp="1" noChangeArrowheads="1"/>
          </p:cNvSpPr>
          <p:nvPr>
            <p:ph type="body" idx="1"/>
          </p:nvPr>
        </p:nvSpPr>
        <p:spPr>
          <a:xfrm>
            <a:off x="685800" y="1981200"/>
            <a:ext cx="47577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When a hash table is in use, some spots contain valid records, and other spots are "empty".</a:t>
            </a:r>
          </a:p>
        </p:txBody>
      </p:sp>
      <p:sp>
        <p:nvSpPr>
          <p:cNvPr id="6148" name="AutoShape 3"/>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6149" name="Line 4"/>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6150" name="Line 5"/>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6151" name="Line 6"/>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6152" name="Line 7"/>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6153" name="Line 8"/>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6154" name="Line 9"/>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6155" name="AutoShape 10"/>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6156" name="AutoShape 11"/>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6157" name="AutoShape 12"/>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6158" name="AutoShape 13"/>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6159" name="AutoShape 14"/>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6160" name="AutoShape 15"/>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6161" name="AutoShape 16"/>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6162" name="AutoShape 17"/>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6163" name="Group 18"/>
          <p:cNvGrpSpPr>
            <a:grpSpLocks/>
          </p:cNvGrpSpPr>
          <p:nvPr/>
        </p:nvGrpSpPr>
        <p:grpSpPr bwMode="auto">
          <a:xfrm>
            <a:off x="4598988" y="5475288"/>
            <a:ext cx="674687" cy="517525"/>
            <a:chOff x="2897" y="3449"/>
            <a:chExt cx="425" cy="326"/>
          </a:xfrm>
        </p:grpSpPr>
        <p:sp>
          <p:nvSpPr>
            <p:cNvPr id="6176" name="AutoShape 19"/>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6177" name="Picture 20"/>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6164" name="Group 21"/>
          <p:cNvGrpSpPr>
            <a:grpSpLocks/>
          </p:cNvGrpSpPr>
          <p:nvPr/>
        </p:nvGrpSpPr>
        <p:grpSpPr bwMode="auto">
          <a:xfrm>
            <a:off x="2822575" y="5449888"/>
            <a:ext cx="674688" cy="568325"/>
            <a:chOff x="1778" y="3433"/>
            <a:chExt cx="425" cy="358"/>
          </a:xfrm>
        </p:grpSpPr>
        <p:sp>
          <p:nvSpPr>
            <p:cNvPr id="6174" name="AutoShape 22"/>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6175" name="Picture 23"/>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6165" name="Group 24"/>
          <p:cNvGrpSpPr>
            <a:grpSpLocks/>
          </p:cNvGrpSpPr>
          <p:nvPr/>
        </p:nvGrpSpPr>
        <p:grpSpPr bwMode="auto">
          <a:xfrm>
            <a:off x="1906588" y="5445125"/>
            <a:ext cx="620712" cy="576263"/>
            <a:chOff x="1201" y="3430"/>
            <a:chExt cx="391" cy="363"/>
          </a:xfrm>
        </p:grpSpPr>
        <p:sp>
          <p:nvSpPr>
            <p:cNvPr id="6172" name="AutoShape 25"/>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6173" name="Picture 26"/>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6166" name="Group 27"/>
          <p:cNvGrpSpPr>
            <a:grpSpLocks/>
          </p:cNvGrpSpPr>
          <p:nvPr/>
        </p:nvGrpSpPr>
        <p:grpSpPr bwMode="auto">
          <a:xfrm>
            <a:off x="7764463" y="5480050"/>
            <a:ext cx="725487" cy="506413"/>
            <a:chOff x="4891" y="3452"/>
            <a:chExt cx="457" cy="319"/>
          </a:xfrm>
        </p:grpSpPr>
        <p:sp>
          <p:nvSpPr>
            <p:cNvPr id="6170" name="AutoShape 28"/>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6171" name="Picture 29"/>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6167" name="Group 30"/>
          <p:cNvGrpSpPr>
            <a:grpSpLocks/>
          </p:cNvGrpSpPr>
          <p:nvPr/>
        </p:nvGrpSpPr>
        <p:grpSpPr bwMode="auto">
          <a:xfrm>
            <a:off x="6596063" y="4014788"/>
            <a:ext cx="1309687" cy="2830512"/>
            <a:chOff x="4155" y="2529"/>
            <a:chExt cx="825" cy="1783"/>
          </a:xfrm>
        </p:grpSpPr>
        <p:sp>
          <p:nvSpPr>
            <p:cNvPr id="6168" name="Freeform 31"/>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6169" name="AutoShape 32"/>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spTree>
  </p:cSld>
  <p:clrMapOvr>
    <a:masterClrMapping/>
  </p:clrMapOvr>
  <p:transition>
    <p:strips dir="l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Inserting a New Record</a:t>
            </a:r>
          </a:p>
        </p:txBody>
      </p:sp>
      <p:sp>
        <p:nvSpPr>
          <p:cNvPr id="7171" name="Rectangle 2"/>
          <p:cNvSpPr>
            <a:spLocks noGrp="1" noChangeArrowheads="1"/>
          </p:cNvSpPr>
          <p:nvPr>
            <p:ph type="body" idx="1"/>
          </p:nvPr>
        </p:nvSpPr>
        <p:spPr>
          <a:xfrm>
            <a:off x="685800" y="1981200"/>
            <a:ext cx="47577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In order to insert a new record, the </a:t>
            </a:r>
            <a:r>
              <a:rPr lang="en-GB" b="1" u="sng" smtClean="0">
                <a:solidFill>
                  <a:srgbClr val="FF8000"/>
                </a:solidFill>
                <a:effectLst/>
              </a:rPr>
              <a:t>key</a:t>
            </a:r>
            <a:r>
              <a:rPr lang="en-GB" smtClean="0">
                <a:effectLst/>
              </a:rPr>
              <a:t> must somehow be </a:t>
            </a:r>
            <a:r>
              <a:rPr lang="en-GB" b="1" u="sng" smtClean="0">
                <a:solidFill>
                  <a:srgbClr val="FF8000"/>
                </a:solidFill>
                <a:effectLst/>
              </a:rPr>
              <a:t>converted to</a:t>
            </a:r>
            <a:r>
              <a:rPr lang="en-GB" b="1" smtClean="0">
                <a:solidFill>
                  <a:srgbClr val="FF8000"/>
                </a:solidFill>
                <a:effectLst/>
              </a:rPr>
              <a:t> </a:t>
            </a:r>
            <a:r>
              <a:rPr lang="en-GB" smtClean="0">
                <a:effectLst/>
              </a:rPr>
              <a:t>an array </a:t>
            </a:r>
            <a:r>
              <a:rPr lang="en-GB" b="1" u="sng" smtClean="0">
                <a:solidFill>
                  <a:srgbClr val="FF8000"/>
                </a:solidFill>
                <a:effectLst/>
              </a:rPr>
              <a:t>index</a:t>
            </a:r>
            <a:r>
              <a:rPr lang="en-GB" smtClean="0">
                <a:effectLst/>
              </a:rPr>
              <a:t>.</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The index is called the </a:t>
            </a:r>
            <a:r>
              <a:rPr lang="en-GB" b="1" u="sng" smtClean="0">
                <a:solidFill>
                  <a:srgbClr val="FF8000"/>
                </a:solidFill>
                <a:effectLst/>
              </a:rPr>
              <a:t>hash value</a:t>
            </a:r>
            <a:r>
              <a:rPr lang="en-GB" b="1" smtClean="0">
                <a:solidFill>
                  <a:srgbClr val="FF8000"/>
                </a:solidFill>
                <a:effectLst/>
              </a:rPr>
              <a:t> </a:t>
            </a:r>
            <a:r>
              <a:rPr lang="en-GB" smtClean="0">
                <a:effectLst/>
              </a:rPr>
              <a:t>of the key.</a:t>
            </a:r>
          </a:p>
        </p:txBody>
      </p:sp>
      <p:sp>
        <p:nvSpPr>
          <p:cNvPr id="7172" name="AutoShape 3"/>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7173" name="Line 4"/>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7174" name="Line 5"/>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7175" name="Line 6"/>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7176" name="Line 7"/>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7177" name="Line 8"/>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7178" name="Line 9"/>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7179" name="AutoShape 10"/>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7180" name="AutoShape 11"/>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7181" name="AutoShape 12"/>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7182" name="AutoShape 13"/>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7183" name="AutoShape 14"/>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7184" name="AutoShape 15"/>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7185" name="AutoShape 16"/>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7186" name="AutoShape 17"/>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7187" name="Group 18"/>
          <p:cNvGrpSpPr>
            <a:grpSpLocks/>
          </p:cNvGrpSpPr>
          <p:nvPr/>
        </p:nvGrpSpPr>
        <p:grpSpPr bwMode="auto">
          <a:xfrm>
            <a:off x="4598988" y="5475288"/>
            <a:ext cx="674687" cy="517525"/>
            <a:chOff x="2897" y="3449"/>
            <a:chExt cx="425" cy="326"/>
          </a:xfrm>
        </p:grpSpPr>
        <p:sp>
          <p:nvSpPr>
            <p:cNvPr id="7204" name="AutoShape 19"/>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7205" name="Picture 20"/>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7188" name="Group 21"/>
          <p:cNvGrpSpPr>
            <a:grpSpLocks/>
          </p:cNvGrpSpPr>
          <p:nvPr/>
        </p:nvGrpSpPr>
        <p:grpSpPr bwMode="auto">
          <a:xfrm>
            <a:off x="2822575" y="5449888"/>
            <a:ext cx="674688" cy="568325"/>
            <a:chOff x="1778" y="3433"/>
            <a:chExt cx="425" cy="358"/>
          </a:xfrm>
        </p:grpSpPr>
        <p:sp>
          <p:nvSpPr>
            <p:cNvPr id="7202" name="AutoShape 22"/>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7203" name="Picture 23"/>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7189" name="Group 24"/>
          <p:cNvGrpSpPr>
            <a:grpSpLocks/>
          </p:cNvGrpSpPr>
          <p:nvPr/>
        </p:nvGrpSpPr>
        <p:grpSpPr bwMode="auto">
          <a:xfrm>
            <a:off x="1906588" y="5445125"/>
            <a:ext cx="620712" cy="576263"/>
            <a:chOff x="1201" y="3430"/>
            <a:chExt cx="391" cy="363"/>
          </a:xfrm>
        </p:grpSpPr>
        <p:sp>
          <p:nvSpPr>
            <p:cNvPr id="7200" name="AutoShape 25"/>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7201" name="Picture 26"/>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7190" name="Group 27"/>
          <p:cNvGrpSpPr>
            <a:grpSpLocks/>
          </p:cNvGrpSpPr>
          <p:nvPr/>
        </p:nvGrpSpPr>
        <p:grpSpPr bwMode="auto">
          <a:xfrm>
            <a:off x="7764463" y="5480050"/>
            <a:ext cx="725487" cy="506413"/>
            <a:chOff x="4891" y="3452"/>
            <a:chExt cx="457" cy="319"/>
          </a:xfrm>
        </p:grpSpPr>
        <p:sp>
          <p:nvSpPr>
            <p:cNvPr id="7198" name="AutoShape 28"/>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7199" name="Picture 29"/>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7191" name="Group 30"/>
          <p:cNvGrpSpPr>
            <a:grpSpLocks/>
          </p:cNvGrpSpPr>
          <p:nvPr/>
        </p:nvGrpSpPr>
        <p:grpSpPr bwMode="auto">
          <a:xfrm>
            <a:off x="6596063" y="4014788"/>
            <a:ext cx="1309687" cy="2830512"/>
            <a:chOff x="4155" y="2529"/>
            <a:chExt cx="825" cy="1783"/>
          </a:xfrm>
        </p:grpSpPr>
        <p:sp>
          <p:nvSpPr>
            <p:cNvPr id="7196" name="Freeform 31"/>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7197" name="AutoShape 32"/>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sp>
        <p:nvSpPr>
          <p:cNvPr id="7192" name="AutoShape 33"/>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7193" name="Picture 34"/>
          <p:cNvPicPr>
            <a:picLocks noChangeAspect="1" noChangeArrowheads="1"/>
          </p:cNvPicPr>
          <p:nvPr/>
        </p:nvPicPr>
        <p:blipFill>
          <a:blip r:embed="rId7"/>
          <a:srcRect l="50792" b="42131"/>
          <a:stretch>
            <a:fillRect/>
          </a:stretch>
        </p:blipFill>
        <p:spPr bwMode="auto">
          <a:xfrm>
            <a:off x="6342063" y="1416050"/>
            <a:ext cx="2119312" cy="1903413"/>
          </a:xfrm>
          <a:prstGeom prst="rect">
            <a:avLst/>
          </a:prstGeom>
          <a:noFill/>
          <a:ln w="9525">
            <a:noFill/>
            <a:miter lim="800000"/>
            <a:headEnd/>
            <a:tailEnd/>
          </a:ln>
        </p:spPr>
      </p:pic>
      <p:sp>
        <p:nvSpPr>
          <p:cNvPr id="7194" name="Oval 35"/>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7195" name="AutoShape 36"/>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580625685</a:t>
            </a:r>
          </a:p>
        </p:txBody>
      </p:sp>
    </p:spTree>
  </p:cSld>
  <p:clrMapOvr>
    <a:masterClrMapping/>
  </p:clrMapOvr>
  <p:transition>
    <p:randomBa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Inserting a New Record</a:t>
            </a:r>
          </a:p>
        </p:txBody>
      </p:sp>
      <p:sp>
        <p:nvSpPr>
          <p:cNvPr id="8195" name="Rectangle 2"/>
          <p:cNvSpPr>
            <a:spLocks noGrp="1" noChangeArrowheads="1"/>
          </p:cNvSpPr>
          <p:nvPr>
            <p:ph type="body" idx="1"/>
          </p:nvPr>
        </p:nvSpPr>
        <p:spPr>
          <a:xfrm>
            <a:off x="685800" y="1981200"/>
            <a:ext cx="47577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Typical way create a hash value:</a:t>
            </a:r>
          </a:p>
        </p:txBody>
      </p:sp>
      <p:sp>
        <p:nvSpPr>
          <p:cNvPr id="8196" name="AutoShape 3"/>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8197" name="Line 4"/>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8198" name="Line 5"/>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8199" name="Line 6"/>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8200" name="Line 7"/>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8201" name="Line 8"/>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8202" name="Line 9"/>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8203" name="AutoShape 10"/>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8204" name="AutoShape 11"/>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8205" name="AutoShape 12"/>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8206" name="AutoShape 13"/>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8207" name="AutoShape 14"/>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8208" name="AutoShape 15"/>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8209" name="AutoShape 16"/>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8210" name="AutoShape 17"/>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8211" name="Group 18"/>
          <p:cNvGrpSpPr>
            <a:grpSpLocks/>
          </p:cNvGrpSpPr>
          <p:nvPr/>
        </p:nvGrpSpPr>
        <p:grpSpPr bwMode="auto">
          <a:xfrm>
            <a:off x="4598988" y="5475288"/>
            <a:ext cx="674687" cy="517525"/>
            <a:chOff x="2897" y="3449"/>
            <a:chExt cx="425" cy="326"/>
          </a:xfrm>
        </p:grpSpPr>
        <p:sp>
          <p:nvSpPr>
            <p:cNvPr id="8230" name="AutoShape 19"/>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8231" name="Picture 20"/>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8212" name="Group 21"/>
          <p:cNvGrpSpPr>
            <a:grpSpLocks/>
          </p:cNvGrpSpPr>
          <p:nvPr/>
        </p:nvGrpSpPr>
        <p:grpSpPr bwMode="auto">
          <a:xfrm>
            <a:off x="2822575" y="5449888"/>
            <a:ext cx="674688" cy="568325"/>
            <a:chOff x="1778" y="3433"/>
            <a:chExt cx="425" cy="358"/>
          </a:xfrm>
        </p:grpSpPr>
        <p:sp>
          <p:nvSpPr>
            <p:cNvPr id="8228" name="AutoShape 22"/>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8229" name="Picture 23"/>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8213" name="Group 24"/>
          <p:cNvGrpSpPr>
            <a:grpSpLocks/>
          </p:cNvGrpSpPr>
          <p:nvPr/>
        </p:nvGrpSpPr>
        <p:grpSpPr bwMode="auto">
          <a:xfrm>
            <a:off x="1906588" y="5445125"/>
            <a:ext cx="620712" cy="576263"/>
            <a:chOff x="1201" y="3430"/>
            <a:chExt cx="391" cy="363"/>
          </a:xfrm>
        </p:grpSpPr>
        <p:sp>
          <p:nvSpPr>
            <p:cNvPr id="8226" name="AutoShape 25"/>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8227" name="Picture 26"/>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8214" name="Group 27"/>
          <p:cNvGrpSpPr>
            <a:grpSpLocks/>
          </p:cNvGrpSpPr>
          <p:nvPr/>
        </p:nvGrpSpPr>
        <p:grpSpPr bwMode="auto">
          <a:xfrm>
            <a:off x="7764463" y="5480050"/>
            <a:ext cx="725487" cy="506413"/>
            <a:chOff x="4891" y="3452"/>
            <a:chExt cx="457" cy="319"/>
          </a:xfrm>
        </p:grpSpPr>
        <p:sp>
          <p:nvSpPr>
            <p:cNvPr id="8224" name="AutoShape 28"/>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8225" name="Picture 29"/>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8215" name="Group 30"/>
          <p:cNvGrpSpPr>
            <a:grpSpLocks/>
          </p:cNvGrpSpPr>
          <p:nvPr/>
        </p:nvGrpSpPr>
        <p:grpSpPr bwMode="auto">
          <a:xfrm>
            <a:off x="6596063" y="4014788"/>
            <a:ext cx="1309687" cy="2830512"/>
            <a:chOff x="4155" y="2529"/>
            <a:chExt cx="825" cy="1783"/>
          </a:xfrm>
        </p:grpSpPr>
        <p:sp>
          <p:nvSpPr>
            <p:cNvPr id="8222" name="Freeform 31"/>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8223" name="AutoShape 32"/>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sp>
        <p:nvSpPr>
          <p:cNvPr id="8216" name="AutoShape 33"/>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8217" name="Picture 34"/>
          <p:cNvPicPr>
            <a:picLocks noChangeAspect="1" noChangeArrowheads="1"/>
          </p:cNvPicPr>
          <p:nvPr/>
        </p:nvPicPr>
        <p:blipFill>
          <a:blip r:embed="rId7"/>
          <a:srcRect l="50792" b="42131"/>
          <a:stretch>
            <a:fillRect/>
          </a:stretch>
        </p:blipFill>
        <p:spPr bwMode="auto">
          <a:xfrm>
            <a:off x="6342063" y="1416050"/>
            <a:ext cx="2119312" cy="1903413"/>
          </a:xfrm>
          <a:prstGeom prst="rect">
            <a:avLst/>
          </a:prstGeom>
          <a:noFill/>
          <a:ln w="9525">
            <a:noFill/>
            <a:miter lim="800000"/>
            <a:headEnd/>
            <a:tailEnd/>
          </a:ln>
        </p:spPr>
      </p:pic>
      <p:sp>
        <p:nvSpPr>
          <p:cNvPr id="8218" name="Oval 35"/>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8219" name="AutoShape 36"/>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580625685</a:t>
            </a:r>
          </a:p>
        </p:txBody>
      </p:sp>
      <p:sp>
        <p:nvSpPr>
          <p:cNvPr id="8220" name="AutoShape 37"/>
          <p:cNvSpPr>
            <a:spLocks noChangeArrowheads="1"/>
          </p:cNvSpPr>
          <p:nvPr/>
        </p:nvSpPr>
        <p:spPr bwMode="auto">
          <a:xfrm>
            <a:off x="1190625" y="3005138"/>
            <a:ext cx="2751138" cy="433387"/>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(Number mod 701) </a:t>
            </a:r>
          </a:p>
        </p:txBody>
      </p:sp>
      <p:sp>
        <p:nvSpPr>
          <p:cNvPr id="8221" name="Text Box 38"/>
          <p:cNvSpPr txBox="1">
            <a:spLocks noChangeArrowheads="1"/>
          </p:cNvSpPr>
          <p:nvPr/>
        </p:nvSpPr>
        <p:spPr bwMode="auto">
          <a:xfrm>
            <a:off x="617538" y="3733800"/>
            <a:ext cx="6450012" cy="519113"/>
          </a:xfrm>
          <a:prstGeom prst="rect">
            <a:avLst/>
          </a:prstGeom>
          <a:noFill/>
          <a:ln w="9525">
            <a:noFill/>
            <a:miter lim="800000"/>
            <a:headEnd/>
            <a:tailEnd/>
          </a:ln>
        </p:spPr>
        <p:txBody>
          <a:bodyPr lIns="90360" tIns="44280" rIns="90360" bIns="44280">
            <a:spAutoFit/>
          </a:bodyPr>
          <a:lstStyle/>
          <a:p>
            <a:pPr>
              <a:lnSpc>
                <a:spcPct val="99000"/>
              </a:lnSpc>
              <a:buClr>
                <a:srgbClr val="00FF00"/>
              </a:buClr>
              <a:buSzPct val="100000"/>
              <a:buFont typeface="Monotype Corsiva" pitchFamily="6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solidFill>
                  <a:srgbClr val="00FF00"/>
                </a:solidFill>
                <a:latin typeface="Monotype Corsiva" pitchFamily="64" charset="0"/>
              </a:rPr>
              <a:t>What is (580625685 mod 701)  ?</a:t>
            </a:r>
          </a:p>
        </p:txBody>
      </p:sp>
    </p:spTree>
  </p:cSld>
  <p:clrMapOvr>
    <a:masterClrMapping/>
  </p:clrMapOvr>
  <p:transition>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Inserting a New Record</a:t>
            </a:r>
          </a:p>
        </p:txBody>
      </p:sp>
      <p:sp>
        <p:nvSpPr>
          <p:cNvPr id="9219" name="Rectangle 2"/>
          <p:cNvSpPr>
            <a:spLocks noGrp="1" noChangeArrowheads="1"/>
          </p:cNvSpPr>
          <p:nvPr>
            <p:ph type="body" idx="1"/>
          </p:nvPr>
        </p:nvSpPr>
        <p:spPr>
          <a:xfrm>
            <a:off x="685800" y="1981200"/>
            <a:ext cx="475773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Typical way to create a hash value:</a:t>
            </a:r>
          </a:p>
        </p:txBody>
      </p:sp>
      <p:sp>
        <p:nvSpPr>
          <p:cNvPr id="9220" name="AutoShape 3"/>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9221" name="Line 4"/>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9222" name="Line 5"/>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9223" name="Line 6"/>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9224" name="Line 7"/>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9225" name="Line 8"/>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9226" name="Line 9"/>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9227" name="AutoShape 10"/>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9228" name="AutoShape 11"/>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9229" name="AutoShape 12"/>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9230" name="AutoShape 13"/>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9231" name="AutoShape 14"/>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9232" name="AutoShape 15"/>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9233" name="AutoShape 16"/>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9234" name="AutoShape 17"/>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9235" name="Group 18"/>
          <p:cNvGrpSpPr>
            <a:grpSpLocks/>
          </p:cNvGrpSpPr>
          <p:nvPr/>
        </p:nvGrpSpPr>
        <p:grpSpPr bwMode="auto">
          <a:xfrm>
            <a:off x="4598988" y="5475288"/>
            <a:ext cx="674687" cy="517525"/>
            <a:chOff x="2897" y="3449"/>
            <a:chExt cx="425" cy="326"/>
          </a:xfrm>
        </p:grpSpPr>
        <p:sp>
          <p:nvSpPr>
            <p:cNvPr id="9256" name="AutoShape 19"/>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9257" name="Picture 20"/>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9236" name="Group 21"/>
          <p:cNvGrpSpPr>
            <a:grpSpLocks/>
          </p:cNvGrpSpPr>
          <p:nvPr/>
        </p:nvGrpSpPr>
        <p:grpSpPr bwMode="auto">
          <a:xfrm>
            <a:off x="2822575" y="5449888"/>
            <a:ext cx="674688" cy="568325"/>
            <a:chOff x="1778" y="3433"/>
            <a:chExt cx="425" cy="358"/>
          </a:xfrm>
        </p:grpSpPr>
        <p:sp>
          <p:nvSpPr>
            <p:cNvPr id="9254" name="AutoShape 22"/>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9255" name="Picture 23"/>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9237" name="Group 24"/>
          <p:cNvGrpSpPr>
            <a:grpSpLocks/>
          </p:cNvGrpSpPr>
          <p:nvPr/>
        </p:nvGrpSpPr>
        <p:grpSpPr bwMode="auto">
          <a:xfrm>
            <a:off x="1906588" y="5445125"/>
            <a:ext cx="620712" cy="576263"/>
            <a:chOff x="1201" y="3430"/>
            <a:chExt cx="391" cy="363"/>
          </a:xfrm>
        </p:grpSpPr>
        <p:sp>
          <p:nvSpPr>
            <p:cNvPr id="9252" name="AutoShape 25"/>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9253" name="Picture 26"/>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9238" name="Group 27"/>
          <p:cNvGrpSpPr>
            <a:grpSpLocks/>
          </p:cNvGrpSpPr>
          <p:nvPr/>
        </p:nvGrpSpPr>
        <p:grpSpPr bwMode="auto">
          <a:xfrm>
            <a:off x="7764463" y="5480050"/>
            <a:ext cx="725487" cy="506413"/>
            <a:chOff x="4891" y="3452"/>
            <a:chExt cx="457" cy="319"/>
          </a:xfrm>
        </p:grpSpPr>
        <p:sp>
          <p:nvSpPr>
            <p:cNvPr id="9250" name="AutoShape 28"/>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9251" name="Picture 29"/>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9239" name="Group 30"/>
          <p:cNvGrpSpPr>
            <a:grpSpLocks/>
          </p:cNvGrpSpPr>
          <p:nvPr/>
        </p:nvGrpSpPr>
        <p:grpSpPr bwMode="auto">
          <a:xfrm>
            <a:off x="6596063" y="4014788"/>
            <a:ext cx="1309687" cy="2830512"/>
            <a:chOff x="4155" y="2529"/>
            <a:chExt cx="825" cy="1783"/>
          </a:xfrm>
        </p:grpSpPr>
        <p:sp>
          <p:nvSpPr>
            <p:cNvPr id="9248" name="Freeform 31"/>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9249" name="AutoShape 32"/>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sp>
        <p:nvSpPr>
          <p:cNvPr id="9240" name="AutoShape 33"/>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9241" name="Picture 34"/>
          <p:cNvPicPr>
            <a:picLocks noChangeAspect="1" noChangeArrowheads="1"/>
          </p:cNvPicPr>
          <p:nvPr/>
        </p:nvPicPr>
        <p:blipFill>
          <a:blip r:embed="rId7"/>
          <a:srcRect l="50792" b="42131"/>
          <a:stretch>
            <a:fillRect/>
          </a:stretch>
        </p:blipFill>
        <p:spPr bwMode="auto">
          <a:xfrm>
            <a:off x="6342063" y="1416050"/>
            <a:ext cx="2119312" cy="1903413"/>
          </a:xfrm>
          <a:prstGeom prst="rect">
            <a:avLst/>
          </a:prstGeom>
          <a:noFill/>
          <a:ln w="9525">
            <a:noFill/>
            <a:miter lim="800000"/>
            <a:headEnd/>
            <a:tailEnd/>
          </a:ln>
        </p:spPr>
      </p:pic>
      <p:sp>
        <p:nvSpPr>
          <p:cNvPr id="9242" name="Oval 35"/>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9243" name="AutoShape 36"/>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580625685</a:t>
            </a:r>
          </a:p>
        </p:txBody>
      </p:sp>
      <p:sp>
        <p:nvSpPr>
          <p:cNvPr id="9244" name="AutoShape 37"/>
          <p:cNvSpPr>
            <a:spLocks noChangeArrowheads="1"/>
          </p:cNvSpPr>
          <p:nvPr/>
        </p:nvSpPr>
        <p:spPr bwMode="auto">
          <a:xfrm>
            <a:off x="1190625" y="3005138"/>
            <a:ext cx="2751138" cy="433387"/>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t>(Number mod 701) </a:t>
            </a:r>
          </a:p>
        </p:txBody>
      </p:sp>
      <p:sp>
        <p:nvSpPr>
          <p:cNvPr id="9245" name="Text Box 38"/>
          <p:cNvSpPr txBox="1">
            <a:spLocks noChangeArrowheads="1"/>
          </p:cNvSpPr>
          <p:nvPr/>
        </p:nvSpPr>
        <p:spPr bwMode="auto">
          <a:xfrm>
            <a:off x="617538" y="3733800"/>
            <a:ext cx="6450012" cy="519113"/>
          </a:xfrm>
          <a:prstGeom prst="rect">
            <a:avLst/>
          </a:prstGeom>
          <a:noFill/>
          <a:ln w="9525">
            <a:noFill/>
            <a:miter lim="800000"/>
            <a:headEnd/>
            <a:tailEnd/>
          </a:ln>
        </p:spPr>
        <p:txBody>
          <a:bodyPr lIns="90360" tIns="44280" rIns="90360" bIns="44280">
            <a:spAutoFit/>
          </a:bodyPr>
          <a:lstStyle/>
          <a:p>
            <a:pPr>
              <a:lnSpc>
                <a:spcPct val="99000"/>
              </a:lnSpc>
              <a:buClr>
                <a:srgbClr val="00FF00"/>
              </a:buClr>
              <a:buSzPct val="100000"/>
              <a:buFont typeface="Monotype Corsiva" pitchFamily="64"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a:solidFill>
                  <a:srgbClr val="00FF00"/>
                </a:solidFill>
                <a:latin typeface="Monotype Corsiva" pitchFamily="64" charset="0"/>
              </a:rPr>
              <a:t>What is (580625685 mod 701) ?</a:t>
            </a:r>
          </a:p>
        </p:txBody>
      </p:sp>
      <p:sp>
        <p:nvSpPr>
          <p:cNvPr id="9246" name="Freeform 39"/>
          <p:cNvSpPr>
            <a:spLocks noChangeArrowheads="1"/>
          </p:cNvSpPr>
          <p:nvPr/>
        </p:nvSpPr>
        <p:spPr bwMode="auto">
          <a:xfrm>
            <a:off x="7662863" y="3089275"/>
            <a:ext cx="1257300" cy="1004888"/>
          </a:xfrm>
          <a:custGeom>
            <a:avLst/>
            <a:gdLst>
              <a:gd name="T0" fmla="*/ 0 w 3493"/>
              <a:gd name="T1" fmla="*/ 2453 h 2793"/>
              <a:gd name="T2" fmla="*/ 488 w 3493"/>
              <a:gd name="T3" fmla="*/ 2792 h 2793"/>
              <a:gd name="T4" fmla="*/ 3004 w 3493"/>
              <a:gd name="T5" fmla="*/ 2792 h 2793"/>
              <a:gd name="T6" fmla="*/ 3492 w 3493"/>
              <a:gd name="T7" fmla="*/ 2453 h 2793"/>
              <a:gd name="T8" fmla="*/ 3492 w 3493"/>
              <a:gd name="T9" fmla="*/ 704 h 2793"/>
              <a:gd name="T10" fmla="*/ 3004 w 3493"/>
              <a:gd name="T11" fmla="*/ 364 h 2793"/>
              <a:gd name="T12" fmla="*/ 1396 w 3493"/>
              <a:gd name="T13" fmla="*/ 364 h 2793"/>
              <a:gd name="T14" fmla="*/ 239 w 3493"/>
              <a:gd name="T15" fmla="*/ 0 h 2793"/>
              <a:gd name="T16" fmla="*/ 552 w 3493"/>
              <a:gd name="T17" fmla="*/ 364 h 2793"/>
              <a:gd name="T18" fmla="*/ 488 w 3493"/>
              <a:gd name="T19" fmla="*/ 364 h 2793"/>
              <a:gd name="T20" fmla="*/ 0 w 3493"/>
              <a:gd name="T21" fmla="*/ 704 h 2793"/>
              <a:gd name="T22" fmla="*/ 0 w 3493"/>
              <a:gd name="T23" fmla="*/ 2453 h 27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93"/>
              <a:gd name="T37" fmla="*/ 0 h 2793"/>
              <a:gd name="T38" fmla="*/ 3493 w 3493"/>
              <a:gd name="T39" fmla="*/ 2793 h 279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93" h="2793">
                <a:moveTo>
                  <a:pt x="0" y="2453"/>
                </a:moveTo>
                <a:cubicBezTo>
                  <a:pt x="0" y="2792"/>
                  <a:pt x="0" y="2792"/>
                  <a:pt x="488" y="2792"/>
                </a:cubicBezTo>
                <a:lnTo>
                  <a:pt x="3004" y="2792"/>
                </a:lnTo>
                <a:cubicBezTo>
                  <a:pt x="3492" y="2792"/>
                  <a:pt x="3492" y="2792"/>
                  <a:pt x="3492" y="2453"/>
                </a:cubicBezTo>
                <a:lnTo>
                  <a:pt x="3492" y="704"/>
                </a:lnTo>
                <a:cubicBezTo>
                  <a:pt x="3492" y="364"/>
                  <a:pt x="3492" y="364"/>
                  <a:pt x="3004" y="364"/>
                </a:cubicBezTo>
                <a:lnTo>
                  <a:pt x="1396" y="364"/>
                </a:lnTo>
                <a:lnTo>
                  <a:pt x="239" y="0"/>
                </a:lnTo>
                <a:lnTo>
                  <a:pt x="552" y="364"/>
                </a:lnTo>
                <a:lnTo>
                  <a:pt x="488" y="364"/>
                </a:lnTo>
                <a:cubicBezTo>
                  <a:pt x="0" y="364"/>
                  <a:pt x="0" y="364"/>
                  <a:pt x="0" y="704"/>
                </a:cubicBezTo>
                <a:lnTo>
                  <a:pt x="0" y="2453"/>
                </a:lnTo>
              </a:path>
            </a:pathLst>
          </a:custGeom>
          <a:solidFill>
            <a:srgbClr val="0000FF"/>
          </a:solidFill>
          <a:ln w="12600">
            <a:solidFill>
              <a:srgbClr val="E0E0E0"/>
            </a:solidFill>
            <a:round/>
            <a:headEnd/>
            <a:tailEnd/>
          </a:ln>
        </p:spPr>
        <p:txBody>
          <a:bodyPr wrap="none" anchor="ctr"/>
          <a:lstStyle/>
          <a:p>
            <a:endParaRPr lang="en-US"/>
          </a:p>
        </p:txBody>
      </p:sp>
      <p:sp>
        <p:nvSpPr>
          <p:cNvPr id="9247" name="AutoShape 40"/>
          <p:cNvSpPr>
            <a:spLocks noChangeArrowheads="1"/>
          </p:cNvSpPr>
          <p:nvPr/>
        </p:nvSpPr>
        <p:spPr bwMode="auto">
          <a:xfrm>
            <a:off x="8162925" y="3416300"/>
            <a:ext cx="409575" cy="579438"/>
          </a:xfrm>
          <a:prstGeom prst="roundRect">
            <a:avLst>
              <a:gd name="adj" fmla="val 384"/>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a:solidFill>
                  <a:schemeClr val="tx1"/>
                </a:solidFill>
              </a:rPr>
              <a:t>3</a:t>
            </a:r>
          </a:p>
        </p:txBody>
      </p:sp>
    </p:spTree>
  </p:cSld>
  <p:clrMapOvr>
    <a:masterClrMapping/>
  </p:clrMapOvr>
  <p:transition>
    <p:checke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Inserting a New Record</a:t>
            </a:r>
          </a:p>
        </p:txBody>
      </p:sp>
      <p:sp>
        <p:nvSpPr>
          <p:cNvPr id="10243"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The hash value is used for the location of the new record.</a:t>
            </a:r>
          </a:p>
        </p:txBody>
      </p:sp>
      <p:sp>
        <p:nvSpPr>
          <p:cNvPr id="10244"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0245" name="AutoShape 4"/>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10246" name="Picture 5"/>
          <p:cNvPicPr>
            <a:picLocks noChangeAspect="1" noChangeArrowheads="1"/>
          </p:cNvPicPr>
          <p:nvPr/>
        </p:nvPicPr>
        <p:blipFill>
          <a:blip r:embed="rId3"/>
          <a:srcRect l="50792" b="42131"/>
          <a:stretch>
            <a:fillRect/>
          </a:stretch>
        </p:blipFill>
        <p:spPr bwMode="auto">
          <a:xfrm>
            <a:off x="6342063" y="1416050"/>
            <a:ext cx="2119312" cy="1903413"/>
          </a:xfrm>
          <a:prstGeom prst="rect">
            <a:avLst/>
          </a:prstGeom>
          <a:noFill/>
          <a:ln w="9525">
            <a:noFill/>
            <a:miter lim="800000"/>
            <a:headEnd/>
            <a:tailEnd/>
          </a:ln>
        </p:spPr>
      </p:pic>
      <p:sp>
        <p:nvSpPr>
          <p:cNvPr id="10247" name="Oval 6"/>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10248" name="AutoShape 7"/>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580625685</a:t>
            </a:r>
          </a:p>
        </p:txBody>
      </p:sp>
      <p:sp>
        <p:nvSpPr>
          <p:cNvPr id="10249" name="AutoShape 8"/>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0250" name="Line 9"/>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0251" name="Line 10"/>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0252" name="Line 11"/>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0253" name="Line 12"/>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0254" name="Line 13"/>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0255" name="Line 14"/>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0256" name="AutoShape 15"/>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0257" name="AutoShape 16"/>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0258" name="AutoShape 17"/>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0259" name="AutoShape 18"/>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0260" name="AutoShape 19"/>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0261" name="AutoShape 20"/>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0262" name="AutoShape 21"/>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0263" name="AutoShape 22"/>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0264" name="Group 23"/>
          <p:cNvGrpSpPr>
            <a:grpSpLocks/>
          </p:cNvGrpSpPr>
          <p:nvPr/>
        </p:nvGrpSpPr>
        <p:grpSpPr bwMode="auto">
          <a:xfrm>
            <a:off x="4598988" y="5475288"/>
            <a:ext cx="674687" cy="517525"/>
            <a:chOff x="2897" y="3449"/>
            <a:chExt cx="425" cy="326"/>
          </a:xfrm>
        </p:grpSpPr>
        <p:sp>
          <p:nvSpPr>
            <p:cNvPr id="10282" name="AutoShape 24"/>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0283" name="Picture 25"/>
            <p:cNvPicPr>
              <a:picLocks noChangeAspect="1" noChangeArrowheads="1"/>
            </p:cNvPicPr>
            <p:nvPr/>
          </p:nvPicPr>
          <p:blipFill>
            <a:blip r:embed="rId4"/>
            <a:srcRect r="35909" b="42468"/>
            <a:stretch>
              <a:fillRect/>
            </a:stretch>
          </p:blipFill>
          <p:spPr bwMode="auto">
            <a:xfrm>
              <a:off x="2945" y="3524"/>
              <a:ext cx="257" cy="252"/>
            </a:xfrm>
            <a:prstGeom prst="rect">
              <a:avLst/>
            </a:prstGeom>
            <a:noFill/>
            <a:ln w="9525">
              <a:noFill/>
              <a:miter lim="800000"/>
              <a:headEnd/>
              <a:tailEnd/>
            </a:ln>
          </p:spPr>
        </p:pic>
      </p:grpSp>
      <p:grpSp>
        <p:nvGrpSpPr>
          <p:cNvPr id="10265" name="Group 26"/>
          <p:cNvGrpSpPr>
            <a:grpSpLocks/>
          </p:cNvGrpSpPr>
          <p:nvPr/>
        </p:nvGrpSpPr>
        <p:grpSpPr bwMode="auto">
          <a:xfrm>
            <a:off x="2822575" y="5449888"/>
            <a:ext cx="674688" cy="568325"/>
            <a:chOff x="1778" y="3433"/>
            <a:chExt cx="425" cy="358"/>
          </a:xfrm>
        </p:grpSpPr>
        <p:sp>
          <p:nvSpPr>
            <p:cNvPr id="10280" name="AutoShape 27"/>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0281" name="Picture 28"/>
            <p:cNvPicPr>
              <a:picLocks noChangeAspect="1" noChangeArrowheads="1"/>
            </p:cNvPicPr>
            <p:nvPr/>
          </p:nvPicPr>
          <p:blipFill>
            <a:blip r:embed="rId5"/>
            <a:srcRect/>
            <a:stretch>
              <a:fillRect/>
            </a:stretch>
          </p:blipFill>
          <p:spPr bwMode="auto">
            <a:xfrm>
              <a:off x="1806" y="3488"/>
              <a:ext cx="327" cy="304"/>
            </a:xfrm>
            <a:prstGeom prst="rect">
              <a:avLst/>
            </a:prstGeom>
            <a:noFill/>
            <a:ln w="9525">
              <a:noFill/>
              <a:miter lim="800000"/>
              <a:headEnd/>
              <a:tailEnd/>
            </a:ln>
          </p:spPr>
        </p:pic>
      </p:grpSp>
      <p:grpSp>
        <p:nvGrpSpPr>
          <p:cNvPr id="10266" name="Group 29"/>
          <p:cNvGrpSpPr>
            <a:grpSpLocks/>
          </p:cNvGrpSpPr>
          <p:nvPr/>
        </p:nvGrpSpPr>
        <p:grpSpPr bwMode="auto">
          <a:xfrm>
            <a:off x="1906588" y="5445125"/>
            <a:ext cx="620712" cy="576263"/>
            <a:chOff x="1201" y="3430"/>
            <a:chExt cx="391" cy="363"/>
          </a:xfrm>
        </p:grpSpPr>
        <p:sp>
          <p:nvSpPr>
            <p:cNvPr id="10278" name="AutoShape 30"/>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0279" name="Picture 31"/>
            <p:cNvPicPr>
              <a:picLocks noChangeAspect="1" noChangeArrowheads="1"/>
            </p:cNvPicPr>
            <p:nvPr/>
          </p:nvPicPr>
          <p:blipFill>
            <a:blip r:embed="rId6"/>
            <a:srcRect/>
            <a:stretch>
              <a:fillRect/>
            </a:stretch>
          </p:blipFill>
          <p:spPr bwMode="auto">
            <a:xfrm>
              <a:off x="1219" y="3493"/>
              <a:ext cx="335" cy="301"/>
            </a:xfrm>
            <a:prstGeom prst="rect">
              <a:avLst/>
            </a:prstGeom>
            <a:noFill/>
            <a:ln w="9525">
              <a:noFill/>
              <a:miter lim="800000"/>
              <a:headEnd/>
              <a:tailEnd/>
            </a:ln>
          </p:spPr>
        </p:pic>
      </p:grpSp>
      <p:grpSp>
        <p:nvGrpSpPr>
          <p:cNvPr id="10267" name="Group 32"/>
          <p:cNvGrpSpPr>
            <a:grpSpLocks/>
          </p:cNvGrpSpPr>
          <p:nvPr/>
        </p:nvGrpSpPr>
        <p:grpSpPr bwMode="auto">
          <a:xfrm>
            <a:off x="7764463" y="5480050"/>
            <a:ext cx="725487" cy="506413"/>
            <a:chOff x="4891" y="3452"/>
            <a:chExt cx="457" cy="319"/>
          </a:xfrm>
        </p:grpSpPr>
        <p:sp>
          <p:nvSpPr>
            <p:cNvPr id="10276" name="AutoShape 33"/>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0277" name="Picture 34"/>
            <p:cNvPicPr>
              <a:picLocks noChangeAspect="1" noChangeArrowheads="1"/>
            </p:cNvPicPr>
            <p:nvPr/>
          </p:nvPicPr>
          <p:blipFill>
            <a:blip r:embed="rId7"/>
            <a:srcRect b="53267"/>
            <a:stretch>
              <a:fillRect/>
            </a:stretch>
          </p:blipFill>
          <p:spPr bwMode="auto">
            <a:xfrm>
              <a:off x="4891" y="3500"/>
              <a:ext cx="458" cy="272"/>
            </a:xfrm>
            <a:prstGeom prst="rect">
              <a:avLst/>
            </a:prstGeom>
            <a:noFill/>
            <a:ln w="9525">
              <a:noFill/>
              <a:miter lim="800000"/>
              <a:headEnd/>
              <a:tailEnd/>
            </a:ln>
          </p:spPr>
        </p:pic>
      </p:grpSp>
      <p:sp>
        <p:nvSpPr>
          <p:cNvPr id="10268" name="Freeform 35"/>
          <p:cNvSpPr>
            <a:spLocks noChangeArrowheads="1"/>
          </p:cNvSpPr>
          <p:nvPr/>
        </p:nvSpPr>
        <p:spPr bwMode="auto">
          <a:xfrm>
            <a:off x="3586163" y="914400"/>
            <a:ext cx="2433637" cy="5227638"/>
          </a:xfrm>
          <a:custGeom>
            <a:avLst/>
            <a:gdLst>
              <a:gd name="T0" fmla="*/ 0 w 6761"/>
              <a:gd name="T1" fmla="*/ 12291 h 14523"/>
              <a:gd name="T2" fmla="*/ 6760 w 6761"/>
              <a:gd name="T3" fmla="*/ 0 h 14523"/>
              <a:gd name="T4" fmla="*/ 6760 w 6761"/>
              <a:gd name="T5" fmla="*/ 6985 h 14523"/>
              <a:gd name="T6" fmla="*/ 0 w 6761"/>
              <a:gd name="T7" fmla="*/ 14522 h 14523"/>
              <a:gd name="T8" fmla="*/ 0 w 6761"/>
              <a:gd name="T9" fmla="*/ 12291 h 14523"/>
              <a:gd name="T10" fmla="*/ 0 60000 65536"/>
              <a:gd name="T11" fmla="*/ 0 60000 65536"/>
              <a:gd name="T12" fmla="*/ 0 60000 65536"/>
              <a:gd name="T13" fmla="*/ 0 60000 65536"/>
              <a:gd name="T14" fmla="*/ 0 60000 65536"/>
              <a:gd name="T15" fmla="*/ 0 w 6761"/>
              <a:gd name="T16" fmla="*/ 0 h 14523"/>
              <a:gd name="T17" fmla="*/ 6761 w 6761"/>
              <a:gd name="T18" fmla="*/ 14523 h 14523"/>
            </a:gdLst>
            <a:ahLst/>
            <a:cxnLst>
              <a:cxn ang="T10">
                <a:pos x="T0" y="T1"/>
              </a:cxn>
              <a:cxn ang="T11">
                <a:pos x="T2" y="T3"/>
              </a:cxn>
              <a:cxn ang="T12">
                <a:pos x="T4" y="T5"/>
              </a:cxn>
              <a:cxn ang="T13">
                <a:pos x="T6" y="T7"/>
              </a:cxn>
              <a:cxn ang="T14">
                <a:pos x="T8" y="T9"/>
              </a:cxn>
            </a:cxnLst>
            <a:rect l="T15" t="T16" r="T17" b="T18"/>
            <a:pathLst>
              <a:path w="6761" h="14523">
                <a:moveTo>
                  <a:pt x="0" y="12291"/>
                </a:moveTo>
                <a:lnTo>
                  <a:pt x="6760" y="0"/>
                </a:lnTo>
                <a:lnTo>
                  <a:pt x="6760" y="6985"/>
                </a:lnTo>
                <a:lnTo>
                  <a:pt x="0" y="14522"/>
                </a:lnTo>
                <a:lnTo>
                  <a:pt x="0" y="12291"/>
                </a:lnTo>
              </a:path>
            </a:pathLst>
          </a:custGeom>
          <a:gradFill rotWithShape="0">
            <a:gsLst>
              <a:gs pos="0">
                <a:srgbClr val="8080FF"/>
              </a:gs>
              <a:gs pos="100000">
                <a:srgbClr val="26264B"/>
              </a:gs>
            </a:gsLst>
            <a:lin ang="5400000" scaled="1"/>
          </a:gradFill>
          <a:ln w="12600">
            <a:solidFill>
              <a:srgbClr val="E0E0E0"/>
            </a:solidFill>
            <a:round/>
            <a:headEnd/>
            <a:tailEnd/>
          </a:ln>
        </p:spPr>
        <p:txBody>
          <a:bodyPr wrap="none" anchor="ctr"/>
          <a:lstStyle/>
          <a:p>
            <a:endParaRPr lang="en-US"/>
          </a:p>
        </p:txBody>
      </p:sp>
      <p:grpSp>
        <p:nvGrpSpPr>
          <p:cNvPr id="10269" name="Group 36"/>
          <p:cNvGrpSpPr>
            <a:grpSpLocks/>
          </p:cNvGrpSpPr>
          <p:nvPr/>
        </p:nvGrpSpPr>
        <p:grpSpPr bwMode="auto">
          <a:xfrm>
            <a:off x="6596063" y="4014788"/>
            <a:ext cx="1309687" cy="2830512"/>
            <a:chOff x="4155" y="2529"/>
            <a:chExt cx="825" cy="1783"/>
          </a:xfrm>
        </p:grpSpPr>
        <p:sp>
          <p:nvSpPr>
            <p:cNvPr id="10274" name="Freeform 37"/>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0275" name="AutoShape 38"/>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sp>
        <p:nvSpPr>
          <p:cNvPr id="10270" name="Freeform 39"/>
          <p:cNvSpPr>
            <a:spLocks noChangeArrowheads="1"/>
          </p:cNvSpPr>
          <p:nvPr/>
        </p:nvSpPr>
        <p:spPr bwMode="auto">
          <a:xfrm>
            <a:off x="3576638" y="3386138"/>
            <a:ext cx="5057775" cy="2744787"/>
          </a:xfrm>
          <a:custGeom>
            <a:avLst/>
            <a:gdLst>
              <a:gd name="T0" fmla="*/ 0 w 14051"/>
              <a:gd name="T1" fmla="*/ 7625 h 7626"/>
              <a:gd name="T2" fmla="*/ 6818 w 14051"/>
              <a:gd name="T3" fmla="*/ 0 h 7626"/>
              <a:gd name="T4" fmla="*/ 14050 w 14051"/>
              <a:gd name="T5" fmla="*/ 0 h 7626"/>
              <a:gd name="T6" fmla="*/ 2540 w 14051"/>
              <a:gd name="T7" fmla="*/ 7625 h 7626"/>
              <a:gd name="T8" fmla="*/ 0 w 14051"/>
              <a:gd name="T9" fmla="*/ 7625 h 7626"/>
              <a:gd name="T10" fmla="*/ 0 60000 65536"/>
              <a:gd name="T11" fmla="*/ 0 60000 65536"/>
              <a:gd name="T12" fmla="*/ 0 60000 65536"/>
              <a:gd name="T13" fmla="*/ 0 60000 65536"/>
              <a:gd name="T14" fmla="*/ 0 60000 65536"/>
              <a:gd name="T15" fmla="*/ 0 w 14051"/>
              <a:gd name="T16" fmla="*/ 0 h 7626"/>
              <a:gd name="T17" fmla="*/ 14051 w 14051"/>
              <a:gd name="T18" fmla="*/ 7626 h 7626"/>
            </a:gdLst>
            <a:ahLst/>
            <a:cxnLst>
              <a:cxn ang="T10">
                <a:pos x="T0" y="T1"/>
              </a:cxn>
              <a:cxn ang="T11">
                <a:pos x="T2" y="T3"/>
              </a:cxn>
              <a:cxn ang="T12">
                <a:pos x="T4" y="T5"/>
              </a:cxn>
              <a:cxn ang="T13">
                <a:pos x="T6" y="T7"/>
              </a:cxn>
              <a:cxn ang="T14">
                <a:pos x="T8" y="T9"/>
              </a:cxn>
            </a:cxnLst>
            <a:rect l="T15" t="T16" r="T17" b="T18"/>
            <a:pathLst>
              <a:path w="14051" h="7626">
                <a:moveTo>
                  <a:pt x="0" y="7625"/>
                </a:moveTo>
                <a:lnTo>
                  <a:pt x="6818" y="0"/>
                </a:lnTo>
                <a:lnTo>
                  <a:pt x="14050" y="0"/>
                </a:lnTo>
                <a:lnTo>
                  <a:pt x="2540" y="7625"/>
                </a:lnTo>
                <a:lnTo>
                  <a:pt x="0" y="7625"/>
                </a:lnTo>
              </a:path>
            </a:pathLst>
          </a:custGeom>
          <a:gradFill rotWithShape="0">
            <a:gsLst>
              <a:gs pos="0">
                <a:srgbClr val="8080FF"/>
              </a:gs>
              <a:gs pos="100000">
                <a:srgbClr val="26264B"/>
              </a:gs>
            </a:gsLst>
            <a:lin ang="8100000" scaled="1"/>
          </a:gradFill>
          <a:ln w="12600">
            <a:solidFill>
              <a:srgbClr val="E0E0E0"/>
            </a:solidFill>
            <a:round/>
            <a:headEnd/>
            <a:tailEnd/>
          </a:ln>
        </p:spPr>
        <p:txBody>
          <a:bodyPr wrap="none" anchor="ctr"/>
          <a:lstStyle/>
          <a:p>
            <a:endParaRPr lang="en-US"/>
          </a:p>
        </p:txBody>
      </p:sp>
      <p:grpSp>
        <p:nvGrpSpPr>
          <p:cNvPr id="10271" name="Group 40"/>
          <p:cNvGrpSpPr>
            <a:grpSpLocks/>
          </p:cNvGrpSpPr>
          <p:nvPr/>
        </p:nvGrpSpPr>
        <p:grpSpPr bwMode="auto">
          <a:xfrm>
            <a:off x="7662863" y="3089275"/>
            <a:ext cx="1255712" cy="1003300"/>
            <a:chOff x="4827" y="1946"/>
            <a:chExt cx="791" cy="632"/>
          </a:xfrm>
        </p:grpSpPr>
        <p:sp>
          <p:nvSpPr>
            <p:cNvPr id="10272" name="Freeform 41"/>
            <p:cNvSpPr>
              <a:spLocks noChangeArrowheads="1"/>
            </p:cNvSpPr>
            <p:nvPr/>
          </p:nvSpPr>
          <p:spPr bwMode="auto">
            <a:xfrm>
              <a:off x="4827" y="1946"/>
              <a:ext cx="792" cy="633"/>
            </a:xfrm>
            <a:custGeom>
              <a:avLst/>
              <a:gdLst>
                <a:gd name="T0" fmla="*/ 0 w 3493"/>
                <a:gd name="T1" fmla="*/ 2453 h 2793"/>
                <a:gd name="T2" fmla="*/ 488 w 3493"/>
                <a:gd name="T3" fmla="*/ 2792 h 2793"/>
                <a:gd name="T4" fmla="*/ 3004 w 3493"/>
                <a:gd name="T5" fmla="*/ 2792 h 2793"/>
                <a:gd name="T6" fmla="*/ 3492 w 3493"/>
                <a:gd name="T7" fmla="*/ 2453 h 2793"/>
                <a:gd name="T8" fmla="*/ 3492 w 3493"/>
                <a:gd name="T9" fmla="*/ 704 h 2793"/>
                <a:gd name="T10" fmla="*/ 3004 w 3493"/>
                <a:gd name="T11" fmla="*/ 364 h 2793"/>
                <a:gd name="T12" fmla="*/ 1396 w 3493"/>
                <a:gd name="T13" fmla="*/ 364 h 2793"/>
                <a:gd name="T14" fmla="*/ 239 w 3493"/>
                <a:gd name="T15" fmla="*/ 0 h 2793"/>
                <a:gd name="T16" fmla="*/ 552 w 3493"/>
                <a:gd name="T17" fmla="*/ 364 h 2793"/>
                <a:gd name="T18" fmla="*/ 488 w 3493"/>
                <a:gd name="T19" fmla="*/ 364 h 2793"/>
                <a:gd name="T20" fmla="*/ 0 w 3493"/>
                <a:gd name="T21" fmla="*/ 704 h 2793"/>
                <a:gd name="T22" fmla="*/ 0 w 3493"/>
                <a:gd name="T23" fmla="*/ 2453 h 27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493"/>
                <a:gd name="T37" fmla="*/ 0 h 2793"/>
                <a:gd name="T38" fmla="*/ 3493 w 3493"/>
                <a:gd name="T39" fmla="*/ 2793 h 279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493" h="2793">
                  <a:moveTo>
                    <a:pt x="0" y="2453"/>
                  </a:moveTo>
                  <a:cubicBezTo>
                    <a:pt x="0" y="2792"/>
                    <a:pt x="0" y="2792"/>
                    <a:pt x="488" y="2792"/>
                  </a:cubicBezTo>
                  <a:lnTo>
                    <a:pt x="3004" y="2792"/>
                  </a:lnTo>
                  <a:cubicBezTo>
                    <a:pt x="3492" y="2792"/>
                    <a:pt x="3492" y="2792"/>
                    <a:pt x="3492" y="2453"/>
                  </a:cubicBezTo>
                  <a:lnTo>
                    <a:pt x="3492" y="704"/>
                  </a:lnTo>
                  <a:cubicBezTo>
                    <a:pt x="3492" y="364"/>
                    <a:pt x="3492" y="364"/>
                    <a:pt x="3004" y="364"/>
                  </a:cubicBezTo>
                  <a:lnTo>
                    <a:pt x="1396" y="364"/>
                  </a:lnTo>
                  <a:lnTo>
                    <a:pt x="239" y="0"/>
                  </a:lnTo>
                  <a:lnTo>
                    <a:pt x="552" y="364"/>
                  </a:lnTo>
                  <a:lnTo>
                    <a:pt x="488" y="364"/>
                  </a:lnTo>
                  <a:cubicBezTo>
                    <a:pt x="0" y="364"/>
                    <a:pt x="0" y="364"/>
                    <a:pt x="0" y="704"/>
                  </a:cubicBezTo>
                  <a:lnTo>
                    <a:pt x="0" y="2453"/>
                  </a:lnTo>
                </a:path>
              </a:pathLst>
            </a:custGeom>
            <a:solidFill>
              <a:srgbClr val="0000FF"/>
            </a:solidFill>
            <a:ln w="12600">
              <a:solidFill>
                <a:srgbClr val="E0E0E0"/>
              </a:solidFill>
              <a:round/>
              <a:headEnd/>
              <a:tailEnd/>
            </a:ln>
          </p:spPr>
          <p:txBody>
            <a:bodyPr wrap="none" anchor="ctr"/>
            <a:lstStyle/>
            <a:p>
              <a:endParaRPr lang="en-US"/>
            </a:p>
          </p:txBody>
        </p:sp>
        <p:sp>
          <p:nvSpPr>
            <p:cNvPr id="10273" name="AutoShape 42"/>
            <p:cNvSpPr>
              <a:spLocks noChangeArrowheads="1"/>
            </p:cNvSpPr>
            <p:nvPr/>
          </p:nvSpPr>
          <p:spPr bwMode="auto">
            <a:xfrm>
              <a:off x="5021" y="2152"/>
              <a:ext cx="429" cy="365"/>
            </a:xfrm>
            <a:prstGeom prst="roundRect">
              <a:avLst>
                <a:gd name="adj" fmla="val 273"/>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a:solidFill>
                    <a:schemeClr val="tx1"/>
                  </a:solidFill>
                </a:rPr>
                <a:t>[3]</a:t>
              </a:r>
            </a:p>
          </p:txBody>
        </p:sp>
      </p:grpSp>
    </p:spTree>
  </p:cSld>
  <p:clrMapOvr>
    <a:masterClrMapping/>
  </p:clrMapOvr>
  <p:transition spd="slow">
    <p:strips dir="l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Inserting a New Record</a:t>
            </a:r>
          </a:p>
        </p:txBody>
      </p:sp>
      <p:sp>
        <p:nvSpPr>
          <p:cNvPr id="11267"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The hash value is used for the location of the new record.</a:t>
            </a:r>
          </a:p>
        </p:txBody>
      </p:sp>
      <p:sp>
        <p:nvSpPr>
          <p:cNvPr id="11268"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1269"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1270"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1271"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1272"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1273"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1274"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1275"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1276"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1277"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1278"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1279"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1280"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1281"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1282"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1283"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1284" name="Group 19"/>
          <p:cNvGrpSpPr>
            <a:grpSpLocks/>
          </p:cNvGrpSpPr>
          <p:nvPr/>
        </p:nvGrpSpPr>
        <p:grpSpPr bwMode="auto">
          <a:xfrm>
            <a:off x="4598988" y="5475288"/>
            <a:ext cx="674687" cy="517525"/>
            <a:chOff x="2897" y="3449"/>
            <a:chExt cx="425" cy="326"/>
          </a:xfrm>
        </p:grpSpPr>
        <p:sp>
          <p:nvSpPr>
            <p:cNvPr id="11300"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1301"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1285" name="Group 22"/>
          <p:cNvGrpSpPr>
            <a:grpSpLocks/>
          </p:cNvGrpSpPr>
          <p:nvPr/>
        </p:nvGrpSpPr>
        <p:grpSpPr bwMode="auto">
          <a:xfrm>
            <a:off x="2822575" y="5449888"/>
            <a:ext cx="674688" cy="568325"/>
            <a:chOff x="1778" y="3433"/>
            <a:chExt cx="425" cy="358"/>
          </a:xfrm>
        </p:grpSpPr>
        <p:sp>
          <p:nvSpPr>
            <p:cNvPr id="11298"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1299"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1286" name="Group 25"/>
          <p:cNvGrpSpPr>
            <a:grpSpLocks/>
          </p:cNvGrpSpPr>
          <p:nvPr/>
        </p:nvGrpSpPr>
        <p:grpSpPr bwMode="auto">
          <a:xfrm>
            <a:off x="1906588" y="5445125"/>
            <a:ext cx="620712" cy="576263"/>
            <a:chOff x="1201" y="3430"/>
            <a:chExt cx="391" cy="363"/>
          </a:xfrm>
        </p:grpSpPr>
        <p:sp>
          <p:nvSpPr>
            <p:cNvPr id="11296"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1297"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1287" name="Group 28"/>
          <p:cNvGrpSpPr>
            <a:grpSpLocks/>
          </p:cNvGrpSpPr>
          <p:nvPr/>
        </p:nvGrpSpPr>
        <p:grpSpPr bwMode="auto">
          <a:xfrm>
            <a:off x="7764463" y="5480050"/>
            <a:ext cx="725487" cy="506413"/>
            <a:chOff x="4891" y="3452"/>
            <a:chExt cx="457" cy="319"/>
          </a:xfrm>
        </p:grpSpPr>
        <p:sp>
          <p:nvSpPr>
            <p:cNvPr id="11294"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1295"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1288" name="Group 31"/>
          <p:cNvGrpSpPr>
            <a:grpSpLocks/>
          </p:cNvGrpSpPr>
          <p:nvPr/>
        </p:nvGrpSpPr>
        <p:grpSpPr bwMode="auto">
          <a:xfrm>
            <a:off x="6596063" y="4014788"/>
            <a:ext cx="1309687" cy="2830512"/>
            <a:chOff x="4155" y="2529"/>
            <a:chExt cx="825" cy="1783"/>
          </a:xfrm>
        </p:grpSpPr>
        <p:sp>
          <p:nvSpPr>
            <p:cNvPr id="11292"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1293"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1289" name="Group 34"/>
          <p:cNvGrpSpPr>
            <a:grpSpLocks/>
          </p:cNvGrpSpPr>
          <p:nvPr/>
        </p:nvGrpSpPr>
        <p:grpSpPr bwMode="auto">
          <a:xfrm>
            <a:off x="3713163" y="5465763"/>
            <a:ext cx="620712" cy="557212"/>
            <a:chOff x="2339" y="3443"/>
            <a:chExt cx="391" cy="351"/>
          </a:xfrm>
        </p:grpSpPr>
        <p:pic>
          <p:nvPicPr>
            <p:cNvPr id="11290"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1291"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spTree>
  </p:cSld>
  <p:clrMapOvr>
    <a:masterClrMapping/>
  </p:clrMapOvr>
  <p:transition>
    <p:strips dir="l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Collisions</a:t>
            </a:r>
          </a:p>
        </p:txBody>
      </p:sp>
      <p:sp>
        <p:nvSpPr>
          <p:cNvPr id="12291"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Here is another new record to insert, with a hash value of 2.</a:t>
            </a:r>
          </a:p>
        </p:txBody>
      </p:sp>
      <p:sp>
        <p:nvSpPr>
          <p:cNvPr id="12292"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2293"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2294"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2295"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2296"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2297"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2298"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2299"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2300"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2301"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2302"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2303"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2304"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2305"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2306"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2307"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2308" name="Group 19"/>
          <p:cNvGrpSpPr>
            <a:grpSpLocks/>
          </p:cNvGrpSpPr>
          <p:nvPr/>
        </p:nvGrpSpPr>
        <p:grpSpPr bwMode="auto">
          <a:xfrm>
            <a:off x="4598988" y="5475288"/>
            <a:ext cx="674687" cy="517525"/>
            <a:chOff x="2897" y="3449"/>
            <a:chExt cx="425" cy="326"/>
          </a:xfrm>
        </p:grpSpPr>
        <p:sp>
          <p:nvSpPr>
            <p:cNvPr id="12332"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2333"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2309" name="Group 22"/>
          <p:cNvGrpSpPr>
            <a:grpSpLocks/>
          </p:cNvGrpSpPr>
          <p:nvPr/>
        </p:nvGrpSpPr>
        <p:grpSpPr bwMode="auto">
          <a:xfrm>
            <a:off x="2822575" y="5449888"/>
            <a:ext cx="674688" cy="568325"/>
            <a:chOff x="1778" y="3433"/>
            <a:chExt cx="425" cy="358"/>
          </a:xfrm>
        </p:grpSpPr>
        <p:sp>
          <p:nvSpPr>
            <p:cNvPr id="12330"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2331"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2310" name="Group 25"/>
          <p:cNvGrpSpPr>
            <a:grpSpLocks/>
          </p:cNvGrpSpPr>
          <p:nvPr/>
        </p:nvGrpSpPr>
        <p:grpSpPr bwMode="auto">
          <a:xfrm>
            <a:off x="1906588" y="5445125"/>
            <a:ext cx="620712" cy="576263"/>
            <a:chOff x="1201" y="3430"/>
            <a:chExt cx="391" cy="363"/>
          </a:xfrm>
        </p:grpSpPr>
        <p:sp>
          <p:nvSpPr>
            <p:cNvPr id="12328"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2329"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2311" name="Group 28"/>
          <p:cNvGrpSpPr>
            <a:grpSpLocks/>
          </p:cNvGrpSpPr>
          <p:nvPr/>
        </p:nvGrpSpPr>
        <p:grpSpPr bwMode="auto">
          <a:xfrm>
            <a:off x="7764463" y="5480050"/>
            <a:ext cx="725487" cy="506413"/>
            <a:chOff x="4891" y="3452"/>
            <a:chExt cx="457" cy="319"/>
          </a:xfrm>
        </p:grpSpPr>
        <p:sp>
          <p:nvSpPr>
            <p:cNvPr id="12326"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2327"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2312" name="Group 31"/>
          <p:cNvGrpSpPr>
            <a:grpSpLocks/>
          </p:cNvGrpSpPr>
          <p:nvPr/>
        </p:nvGrpSpPr>
        <p:grpSpPr bwMode="auto">
          <a:xfrm>
            <a:off x="6596063" y="4014788"/>
            <a:ext cx="1309687" cy="2830512"/>
            <a:chOff x="4155" y="2529"/>
            <a:chExt cx="825" cy="1783"/>
          </a:xfrm>
        </p:grpSpPr>
        <p:sp>
          <p:nvSpPr>
            <p:cNvPr id="12324"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2325"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2313" name="Group 34"/>
          <p:cNvGrpSpPr>
            <a:grpSpLocks/>
          </p:cNvGrpSpPr>
          <p:nvPr/>
        </p:nvGrpSpPr>
        <p:grpSpPr bwMode="auto">
          <a:xfrm>
            <a:off x="3713163" y="5465763"/>
            <a:ext cx="620712" cy="557212"/>
            <a:chOff x="2339" y="3443"/>
            <a:chExt cx="391" cy="351"/>
          </a:xfrm>
        </p:grpSpPr>
        <p:pic>
          <p:nvPicPr>
            <p:cNvPr id="12322"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2323"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sp>
        <p:nvSpPr>
          <p:cNvPr id="12314" name="AutoShape 37"/>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12315" name="Picture 38"/>
          <p:cNvPicPr>
            <a:picLocks noChangeAspect="1" noChangeArrowheads="1"/>
          </p:cNvPicPr>
          <p:nvPr/>
        </p:nvPicPr>
        <p:blipFill>
          <a:blip r:embed="rId8"/>
          <a:srcRect/>
          <a:stretch>
            <a:fillRect/>
          </a:stretch>
        </p:blipFill>
        <p:spPr bwMode="auto">
          <a:xfrm>
            <a:off x="6375400" y="1558925"/>
            <a:ext cx="1873250" cy="1727200"/>
          </a:xfrm>
          <a:prstGeom prst="rect">
            <a:avLst/>
          </a:prstGeom>
          <a:noFill/>
          <a:ln w="9525">
            <a:noFill/>
            <a:miter lim="800000"/>
            <a:headEnd/>
            <a:tailEnd/>
          </a:ln>
        </p:spPr>
      </p:pic>
      <p:sp>
        <p:nvSpPr>
          <p:cNvPr id="12316" name="Oval 39"/>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12317" name="AutoShape 40"/>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701466868</a:t>
            </a:r>
          </a:p>
        </p:txBody>
      </p:sp>
      <p:sp>
        <p:nvSpPr>
          <p:cNvPr id="12318" name="Line 41"/>
          <p:cNvSpPr>
            <a:spLocks noChangeShapeType="1"/>
          </p:cNvSpPr>
          <p:nvPr/>
        </p:nvSpPr>
        <p:spPr bwMode="auto">
          <a:xfrm flipH="1">
            <a:off x="3300413" y="2376488"/>
            <a:ext cx="2724150" cy="2432050"/>
          </a:xfrm>
          <a:prstGeom prst="line">
            <a:avLst/>
          </a:prstGeom>
          <a:noFill/>
          <a:ln w="50760">
            <a:solidFill>
              <a:srgbClr val="FF8000"/>
            </a:solidFill>
            <a:round/>
            <a:headEnd/>
            <a:tailEnd type="triangle" w="med" len="med"/>
          </a:ln>
        </p:spPr>
        <p:txBody>
          <a:bodyPr/>
          <a:lstStyle/>
          <a:p>
            <a:endParaRPr lang="en-US"/>
          </a:p>
        </p:txBody>
      </p:sp>
      <p:grpSp>
        <p:nvGrpSpPr>
          <p:cNvPr id="12319" name="Group 42"/>
          <p:cNvGrpSpPr>
            <a:grpSpLocks/>
          </p:cNvGrpSpPr>
          <p:nvPr/>
        </p:nvGrpSpPr>
        <p:grpSpPr bwMode="auto">
          <a:xfrm>
            <a:off x="7323138" y="3090863"/>
            <a:ext cx="1800225" cy="1290637"/>
            <a:chOff x="4613" y="1947"/>
            <a:chExt cx="1134" cy="813"/>
          </a:xfrm>
        </p:grpSpPr>
        <p:sp>
          <p:nvSpPr>
            <p:cNvPr id="12320" name="Freeform 43"/>
            <p:cNvSpPr>
              <a:spLocks noChangeArrowheads="1"/>
            </p:cNvSpPr>
            <p:nvPr/>
          </p:nvSpPr>
          <p:spPr bwMode="auto">
            <a:xfrm>
              <a:off x="4613" y="1947"/>
              <a:ext cx="1134" cy="814"/>
            </a:xfrm>
            <a:custGeom>
              <a:avLst/>
              <a:gdLst>
                <a:gd name="T0" fmla="*/ 0 w 5002"/>
                <a:gd name="T1" fmla="*/ 3153 h 3590"/>
                <a:gd name="T2" fmla="*/ 699 w 5002"/>
                <a:gd name="T3" fmla="*/ 3589 h 3590"/>
                <a:gd name="T4" fmla="*/ 4302 w 5002"/>
                <a:gd name="T5" fmla="*/ 3589 h 3590"/>
                <a:gd name="T6" fmla="*/ 5001 w 5002"/>
                <a:gd name="T7" fmla="*/ 3153 h 3590"/>
                <a:gd name="T8" fmla="*/ 5001 w 5002"/>
                <a:gd name="T9" fmla="*/ 904 h 3590"/>
                <a:gd name="T10" fmla="*/ 4302 w 5002"/>
                <a:gd name="T11" fmla="*/ 468 h 3590"/>
                <a:gd name="T12" fmla="*/ 1999 w 5002"/>
                <a:gd name="T13" fmla="*/ 468 h 3590"/>
                <a:gd name="T14" fmla="*/ 342 w 5002"/>
                <a:gd name="T15" fmla="*/ 0 h 3590"/>
                <a:gd name="T16" fmla="*/ 791 w 5002"/>
                <a:gd name="T17" fmla="*/ 468 h 3590"/>
                <a:gd name="T18" fmla="*/ 699 w 5002"/>
                <a:gd name="T19" fmla="*/ 468 h 3590"/>
                <a:gd name="T20" fmla="*/ 0 w 5002"/>
                <a:gd name="T21" fmla="*/ 904 h 3590"/>
                <a:gd name="T22" fmla="*/ 0 w 5002"/>
                <a:gd name="T23" fmla="*/ 3153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12321" name="AutoShape 44"/>
            <p:cNvSpPr>
              <a:spLocks noChangeArrowheads="1"/>
            </p:cNvSpPr>
            <p:nvPr/>
          </p:nvSpPr>
          <p:spPr bwMode="auto">
            <a:xfrm>
              <a:off x="4614" y="1947"/>
              <a:ext cx="1134" cy="814"/>
            </a:xfrm>
            <a:prstGeom prst="roundRect">
              <a:avLst>
                <a:gd name="adj" fmla="val 120"/>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My hash</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value is [2].</a:t>
              </a:r>
            </a:p>
          </p:txBody>
        </p:sp>
      </p:grpSp>
    </p:spTree>
  </p:cSld>
  <p:clrMapOvr>
    <a:masterClrMapping/>
  </p:clrMapOvr>
  <p:transition>
    <p:strips dir="l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Collisions</a:t>
            </a:r>
          </a:p>
        </p:txBody>
      </p:sp>
      <p:sp>
        <p:nvSpPr>
          <p:cNvPr id="13315"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This is called a </a:t>
            </a:r>
            <a:r>
              <a:rPr lang="en-GB" b="1" u="sng" smtClean="0">
                <a:solidFill>
                  <a:srgbClr val="FF8000"/>
                </a:solidFill>
                <a:effectLst/>
              </a:rPr>
              <a:t>collision</a:t>
            </a:r>
            <a:r>
              <a:rPr lang="en-GB" smtClean="0">
                <a:effectLst/>
              </a:rPr>
              <a:t>, because there is already another valid record at [2].</a:t>
            </a:r>
          </a:p>
        </p:txBody>
      </p:sp>
      <p:sp>
        <p:nvSpPr>
          <p:cNvPr id="13316"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3317"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3318"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3319"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3320"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3321"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3322"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3323"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3324"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3325"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3326"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3327"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3328"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3329"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3330"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3331"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3332" name="Group 19"/>
          <p:cNvGrpSpPr>
            <a:grpSpLocks/>
          </p:cNvGrpSpPr>
          <p:nvPr/>
        </p:nvGrpSpPr>
        <p:grpSpPr bwMode="auto">
          <a:xfrm>
            <a:off x="4598988" y="5475288"/>
            <a:ext cx="674687" cy="517525"/>
            <a:chOff x="2897" y="3449"/>
            <a:chExt cx="425" cy="326"/>
          </a:xfrm>
        </p:grpSpPr>
        <p:sp>
          <p:nvSpPr>
            <p:cNvPr id="13357"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3358"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3333" name="Group 22"/>
          <p:cNvGrpSpPr>
            <a:grpSpLocks/>
          </p:cNvGrpSpPr>
          <p:nvPr/>
        </p:nvGrpSpPr>
        <p:grpSpPr bwMode="auto">
          <a:xfrm>
            <a:off x="2822575" y="5449888"/>
            <a:ext cx="674688" cy="568325"/>
            <a:chOff x="1778" y="3433"/>
            <a:chExt cx="425" cy="358"/>
          </a:xfrm>
        </p:grpSpPr>
        <p:sp>
          <p:nvSpPr>
            <p:cNvPr id="13355"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3356"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3334" name="Group 25"/>
          <p:cNvGrpSpPr>
            <a:grpSpLocks/>
          </p:cNvGrpSpPr>
          <p:nvPr/>
        </p:nvGrpSpPr>
        <p:grpSpPr bwMode="auto">
          <a:xfrm>
            <a:off x="1906588" y="5445125"/>
            <a:ext cx="620712" cy="576263"/>
            <a:chOff x="1201" y="3430"/>
            <a:chExt cx="391" cy="363"/>
          </a:xfrm>
        </p:grpSpPr>
        <p:sp>
          <p:nvSpPr>
            <p:cNvPr id="13353"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3354"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3335" name="Group 28"/>
          <p:cNvGrpSpPr>
            <a:grpSpLocks/>
          </p:cNvGrpSpPr>
          <p:nvPr/>
        </p:nvGrpSpPr>
        <p:grpSpPr bwMode="auto">
          <a:xfrm>
            <a:off x="7764463" y="5480050"/>
            <a:ext cx="725487" cy="506413"/>
            <a:chOff x="4891" y="3452"/>
            <a:chExt cx="457" cy="319"/>
          </a:xfrm>
        </p:grpSpPr>
        <p:sp>
          <p:nvSpPr>
            <p:cNvPr id="13351"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3352"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3336" name="Group 31"/>
          <p:cNvGrpSpPr>
            <a:grpSpLocks/>
          </p:cNvGrpSpPr>
          <p:nvPr/>
        </p:nvGrpSpPr>
        <p:grpSpPr bwMode="auto">
          <a:xfrm>
            <a:off x="6596063" y="4014788"/>
            <a:ext cx="1309687" cy="2830512"/>
            <a:chOff x="4155" y="2529"/>
            <a:chExt cx="825" cy="1783"/>
          </a:xfrm>
        </p:grpSpPr>
        <p:sp>
          <p:nvSpPr>
            <p:cNvPr id="13349"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3350"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3337" name="Group 34"/>
          <p:cNvGrpSpPr>
            <a:grpSpLocks/>
          </p:cNvGrpSpPr>
          <p:nvPr/>
        </p:nvGrpSpPr>
        <p:grpSpPr bwMode="auto">
          <a:xfrm>
            <a:off x="3713163" y="5465763"/>
            <a:ext cx="620712" cy="557212"/>
            <a:chOff x="2339" y="3443"/>
            <a:chExt cx="391" cy="351"/>
          </a:xfrm>
        </p:grpSpPr>
        <p:pic>
          <p:nvPicPr>
            <p:cNvPr id="13347"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3348"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sp>
        <p:nvSpPr>
          <p:cNvPr id="13338" name="AutoShape 37"/>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13339" name="Picture 38"/>
          <p:cNvPicPr>
            <a:picLocks noChangeAspect="1" noChangeArrowheads="1"/>
          </p:cNvPicPr>
          <p:nvPr/>
        </p:nvPicPr>
        <p:blipFill>
          <a:blip r:embed="rId8"/>
          <a:srcRect/>
          <a:stretch>
            <a:fillRect/>
          </a:stretch>
        </p:blipFill>
        <p:spPr bwMode="auto">
          <a:xfrm>
            <a:off x="6375400" y="1558925"/>
            <a:ext cx="1873250" cy="1727200"/>
          </a:xfrm>
          <a:prstGeom prst="rect">
            <a:avLst/>
          </a:prstGeom>
          <a:noFill/>
          <a:ln w="9525">
            <a:noFill/>
            <a:miter lim="800000"/>
            <a:headEnd/>
            <a:tailEnd/>
          </a:ln>
        </p:spPr>
      </p:pic>
      <p:sp>
        <p:nvSpPr>
          <p:cNvPr id="13340" name="Oval 39"/>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13341" name="AutoShape 40"/>
          <p:cNvSpPr>
            <a:spLocks noChangeArrowheads="1"/>
          </p:cNvSpPr>
          <p:nvPr/>
        </p:nvSpPr>
        <p:spPr bwMode="auto">
          <a:xfrm>
            <a:off x="6156325" y="1103313"/>
            <a:ext cx="2255838" cy="366712"/>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701466868</a:t>
            </a:r>
          </a:p>
        </p:txBody>
      </p:sp>
      <p:pic>
        <p:nvPicPr>
          <p:cNvPr id="13342" name="Picture 41"/>
          <p:cNvPicPr>
            <a:picLocks noChangeAspect="1" noChangeArrowheads="1"/>
          </p:cNvPicPr>
          <p:nvPr/>
        </p:nvPicPr>
        <p:blipFill>
          <a:blip r:embed="rId9"/>
          <a:srcRect t="67757" r="46098"/>
          <a:stretch>
            <a:fillRect/>
          </a:stretch>
        </p:blipFill>
        <p:spPr bwMode="auto">
          <a:xfrm>
            <a:off x="3343275" y="5910263"/>
            <a:ext cx="1304925" cy="769937"/>
          </a:xfrm>
          <a:prstGeom prst="rect">
            <a:avLst/>
          </a:prstGeom>
          <a:noFill/>
          <a:ln w="9525">
            <a:noFill/>
            <a:miter lim="800000"/>
            <a:headEnd/>
            <a:tailEnd/>
          </a:ln>
        </p:spPr>
      </p:pic>
      <p:grpSp>
        <p:nvGrpSpPr>
          <p:cNvPr id="13343" name="Group 42"/>
          <p:cNvGrpSpPr>
            <a:grpSpLocks/>
          </p:cNvGrpSpPr>
          <p:nvPr/>
        </p:nvGrpSpPr>
        <p:grpSpPr bwMode="auto">
          <a:xfrm>
            <a:off x="169863" y="3181350"/>
            <a:ext cx="3976687" cy="1709738"/>
            <a:chOff x="107" y="2004"/>
            <a:chExt cx="2505" cy="1077"/>
          </a:xfrm>
        </p:grpSpPr>
        <p:sp>
          <p:nvSpPr>
            <p:cNvPr id="14379" name="AutoShape 43"/>
            <p:cNvSpPr>
              <a:spLocks noChangeArrowheads="1"/>
            </p:cNvSpPr>
            <p:nvPr/>
          </p:nvSpPr>
          <p:spPr bwMode="auto">
            <a:xfrm>
              <a:off x="107" y="2004"/>
              <a:ext cx="2506" cy="1078"/>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cs typeface="+mn-cs"/>
              </a:endParaRPr>
            </a:p>
          </p:txBody>
        </p:sp>
        <p:sp>
          <p:nvSpPr>
            <p:cNvPr id="13346" name="AutoShape 44"/>
            <p:cNvSpPr>
              <a:spLocks noChangeArrowheads="1"/>
            </p:cNvSpPr>
            <p:nvPr/>
          </p:nvSpPr>
          <p:spPr bwMode="auto">
            <a:xfrm>
              <a:off x="152" y="2049"/>
              <a:ext cx="2416" cy="988"/>
            </a:xfrm>
            <a:prstGeom prst="roundRect">
              <a:avLst>
                <a:gd name="adj" fmla="val 97"/>
              </a:avLst>
            </a:prstGeom>
            <a:noFill/>
            <a:ln w="9525">
              <a:noFill/>
              <a:round/>
              <a:headEnd/>
              <a:tailEnd/>
            </a:ln>
          </p:spPr>
          <p:txBody>
            <a:bodyPr lIns="90360" tIns="44280" rIns="90360" bIns="44280" anchor="ctr" anchorCtr="1"/>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a:solidFill>
                    <a:schemeClr val="tx1"/>
                  </a:solidFill>
                </a:rPr>
                <a:t>When a collision occurs,</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a:solidFill>
                    <a:schemeClr val="tx1"/>
                  </a:solidFill>
                </a:rPr>
                <a:t>move forward until you</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a:solidFill>
                    <a:schemeClr val="tx1"/>
                  </a:solidFill>
                </a:rPr>
                <a:t>find an empty spot.</a:t>
              </a:r>
            </a:p>
          </p:txBody>
        </p:sp>
      </p:grpSp>
      <p:sp>
        <p:nvSpPr>
          <p:cNvPr id="13344" name="Line 45"/>
          <p:cNvSpPr>
            <a:spLocks noChangeShapeType="1"/>
          </p:cNvSpPr>
          <p:nvPr/>
        </p:nvSpPr>
        <p:spPr bwMode="auto">
          <a:xfrm flipH="1">
            <a:off x="4189413" y="2376488"/>
            <a:ext cx="1835150" cy="2449512"/>
          </a:xfrm>
          <a:prstGeom prst="line">
            <a:avLst/>
          </a:prstGeom>
          <a:noFill/>
          <a:ln w="50760">
            <a:solidFill>
              <a:srgbClr val="FF8000"/>
            </a:solidFill>
            <a:round/>
            <a:headEnd/>
            <a:tailEnd type="triangle" w="med" len="med"/>
          </a:ln>
        </p:spPr>
        <p:txBody>
          <a:bodyPr/>
          <a:lstStyle/>
          <a:p>
            <a:endParaRPr lang="en-US"/>
          </a:p>
        </p:txBody>
      </p:sp>
    </p:spTree>
  </p:cSld>
  <p:clrMapOvr>
    <a:masterClrMapping/>
  </p:clrMapOvr>
  <p:transition>
    <p:strips dir="l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Collisions</a:t>
            </a:r>
          </a:p>
        </p:txBody>
      </p:sp>
      <p:sp>
        <p:nvSpPr>
          <p:cNvPr id="14339"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This is called a </a:t>
            </a:r>
            <a:r>
              <a:rPr lang="en-GB" b="1" u="sng" smtClean="0">
                <a:solidFill>
                  <a:srgbClr val="FF8000"/>
                </a:solidFill>
                <a:effectLst/>
              </a:rPr>
              <a:t>collision</a:t>
            </a:r>
            <a:r>
              <a:rPr lang="en-GB" smtClean="0">
                <a:effectLst/>
              </a:rPr>
              <a:t>, because there is already another valid record at [2].</a:t>
            </a:r>
          </a:p>
        </p:txBody>
      </p:sp>
      <p:sp>
        <p:nvSpPr>
          <p:cNvPr id="14340"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4341"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4342"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4343"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4344"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4345"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4346"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4347"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4348"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4349"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4350"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4351"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4352"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4353"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4354"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4355"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4356" name="Group 19"/>
          <p:cNvGrpSpPr>
            <a:grpSpLocks/>
          </p:cNvGrpSpPr>
          <p:nvPr/>
        </p:nvGrpSpPr>
        <p:grpSpPr bwMode="auto">
          <a:xfrm>
            <a:off x="4598988" y="5475288"/>
            <a:ext cx="674687" cy="517525"/>
            <a:chOff x="2897" y="3449"/>
            <a:chExt cx="425" cy="326"/>
          </a:xfrm>
        </p:grpSpPr>
        <p:sp>
          <p:nvSpPr>
            <p:cNvPr id="14381"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4382"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4357" name="Group 22"/>
          <p:cNvGrpSpPr>
            <a:grpSpLocks/>
          </p:cNvGrpSpPr>
          <p:nvPr/>
        </p:nvGrpSpPr>
        <p:grpSpPr bwMode="auto">
          <a:xfrm>
            <a:off x="2822575" y="5449888"/>
            <a:ext cx="674688" cy="568325"/>
            <a:chOff x="1778" y="3433"/>
            <a:chExt cx="425" cy="358"/>
          </a:xfrm>
        </p:grpSpPr>
        <p:sp>
          <p:nvSpPr>
            <p:cNvPr id="14379"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4380"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4358" name="Group 25"/>
          <p:cNvGrpSpPr>
            <a:grpSpLocks/>
          </p:cNvGrpSpPr>
          <p:nvPr/>
        </p:nvGrpSpPr>
        <p:grpSpPr bwMode="auto">
          <a:xfrm>
            <a:off x="1906588" y="5445125"/>
            <a:ext cx="620712" cy="576263"/>
            <a:chOff x="1201" y="3430"/>
            <a:chExt cx="391" cy="363"/>
          </a:xfrm>
        </p:grpSpPr>
        <p:sp>
          <p:nvSpPr>
            <p:cNvPr id="14377"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4378"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4359" name="Group 28"/>
          <p:cNvGrpSpPr>
            <a:grpSpLocks/>
          </p:cNvGrpSpPr>
          <p:nvPr/>
        </p:nvGrpSpPr>
        <p:grpSpPr bwMode="auto">
          <a:xfrm>
            <a:off x="7764463" y="5480050"/>
            <a:ext cx="725487" cy="506413"/>
            <a:chOff x="4891" y="3452"/>
            <a:chExt cx="457" cy="319"/>
          </a:xfrm>
        </p:grpSpPr>
        <p:sp>
          <p:nvSpPr>
            <p:cNvPr id="14375"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4376"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4360" name="Group 31"/>
          <p:cNvGrpSpPr>
            <a:grpSpLocks/>
          </p:cNvGrpSpPr>
          <p:nvPr/>
        </p:nvGrpSpPr>
        <p:grpSpPr bwMode="auto">
          <a:xfrm>
            <a:off x="6596063" y="4014788"/>
            <a:ext cx="1309687" cy="2830512"/>
            <a:chOff x="4155" y="2529"/>
            <a:chExt cx="825" cy="1783"/>
          </a:xfrm>
        </p:grpSpPr>
        <p:sp>
          <p:nvSpPr>
            <p:cNvPr id="14373"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4374"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4361" name="Group 34"/>
          <p:cNvGrpSpPr>
            <a:grpSpLocks/>
          </p:cNvGrpSpPr>
          <p:nvPr/>
        </p:nvGrpSpPr>
        <p:grpSpPr bwMode="auto">
          <a:xfrm>
            <a:off x="3713163" y="5465763"/>
            <a:ext cx="620712" cy="557212"/>
            <a:chOff x="2339" y="3443"/>
            <a:chExt cx="391" cy="351"/>
          </a:xfrm>
        </p:grpSpPr>
        <p:pic>
          <p:nvPicPr>
            <p:cNvPr id="14371"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4372"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sp>
        <p:nvSpPr>
          <p:cNvPr id="14362" name="AutoShape 37"/>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14363" name="Picture 38"/>
          <p:cNvPicPr>
            <a:picLocks noChangeAspect="1" noChangeArrowheads="1"/>
          </p:cNvPicPr>
          <p:nvPr/>
        </p:nvPicPr>
        <p:blipFill>
          <a:blip r:embed="rId8"/>
          <a:srcRect/>
          <a:stretch>
            <a:fillRect/>
          </a:stretch>
        </p:blipFill>
        <p:spPr bwMode="auto">
          <a:xfrm>
            <a:off x="6375400" y="1558925"/>
            <a:ext cx="1873250" cy="1727200"/>
          </a:xfrm>
          <a:prstGeom prst="rect">
            <a:avLst/>
          </a:prstGeom>
          <a:noFill/>
          <a:ln w="9525">
            <a:noFill/>
            <a:miter lim="800000"/>
            <a:headEnd/>
            <a:tailEnd/>
          </a:ln>
        </p:spPr>
      </p:pic>
      <p:sp>
        <p:nvSpPr>
          <p:cNvPr id="14364" name="Oval 39"/>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14365" name="AutoShape 40"/>
          <p:cNvSpPr>
            <a:spLocks noChangeArrowheads="1"/>
          </p:cNvSpPr>
          <p:nvPr/>
        </p:nvSpPr>
        <p:spPr bwMode="auto">
          <a:xfrm>
            <a:off x="6156325" y="1103313"/>
            <a:ext cx="2255838" cy="366712"/>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701466868</a:t>
            </a:r>
          </a:p>
        </p:txBody>
      </p:sp>
      <p:pic>
        <p:nvPicPr>
          <p:cNvPr id="14366" name="Picture 41"/>
          <p:cNvPicPr>
            <a:picLocks noChangeAspect="1" noChangeArrowheads="1"/>
          </p:cNvPicPr>
          <p:nvPr/>
        </p:nvPicPr>
        <p:blipFill>
          <a:blip r:embed="rId9"/>
          <a:srcRect t="67757" r="46098"/>
          <a:stretch>
            <a:fillRect/>
          </a:stretch>
        </p:blipFill>
        <p:spPr bwMode="auto">
          <a:xfrm>
            <a:off x="4249738" y="5910263"/>
            <a:ext cx="1304925" cy="769937"/>
          </a:xfrm>
          <a:prstGeom prst="rect">
            <a:avLst/>
          </a:prstGeom>
          <a:noFill/>
          <a:ln w="9525">
            <a:noFill/>
            <a:miter lim="800000"/>
            <a:headEnd/>
            <a:tailEnd/>
          </a:ln>
        </p:spPr>
      </p:pic>
      <p:grpSp>
        <p:nvGrpSpPr>
          <p:cNvPr id="14367" name="Group 42"/>
          <p:cNvGrpSpPr>
            <a:grpSpLocks/>
          </p:cNvGrpSpPr>
          <p:nvPr/>
        </p:nvGrpSpPr>
        <p:grpSpPr bwMode="auto">
          <a:xfrm>
            <a:off x="169863" y="3181350"/>
            <a:ext cx="3976687" cy="1709738"/>
            <a:chOff x="107" y="2004"/>
            <a:chExt cx="2505" cy="1077"/>
          </a:xfrm>
        </p:grpSpPr>
        <p:sp>
          <p:nvSpPr>
            <p:cNvPr id="15403" name="AutoShape 43"/>
            <p:cNvSpPr>
              <a:spLocks noChangeArrowheads="1"/>
            </p:cNvSpPr>
            <p:nvPr/>
          </p:nvSpPr>
          <p:spPr bwMode="auto">
            <a:xfrm>
              <a:off x="107" y="2004"/>
              <a:ext cx="2506" cy="1078"/>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cs typeface="+mn-cs"/>
              </a:endParaRPr>
            </a:p>
          </p:txBody>
        </p:sp>
        <p:sp>
          <p:nvSpPr>
            <p:cNvPr id="14370" name="AutoShape 44"/>
            <p:cNvSpPr>
              <a:spLocks noChangeArrowheads="1"/>
            </p:cNvSpPr>
            <p:nvPr/>
          </p:nvSpPr>
          <p:spPr bwMode="auto">
            <a:xfrm>
              <a:off x="152" y="2049"/>
              <a:ext cx="2416" cy="988"/>
            </a:xfrm>
            <a:prstGeom prst="roundRect">
              <a:avLst>
                <a:gd name="adj" fmla="val 97"/>
              </a:avLst>
            </a:prstGeom>
            <a:noFill/>
            <a:ln w="9525">
              <a:noFill/>
              <a:round/>
              <a:headEnd/>
              <a:tailEnd/>
            </a:ln>
          </p:spPr>
          <p:txBody>
            <a:bodyPr lIns="90360" tIns="44280" rIns="90360" bIns="44280" anchor="ctr" anchorCtr="1"/>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a:solidFill>
                    <a:schemeClr val="tx1"/>
                  </a:solidFill>
                </a:rPr>
                <a:t>When a collision occurs,</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a:solidFill>
                    <a:schemeClr val="tx1"/>
                  </a:solidFill>
                </a:rPr>
                <a:t>move forward until you</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a:solidFill>
                    <a:schemeClr val="tx1"/>
                  </a:solidFill>
                </a:rPr>
                <a:t>find an empty spot.</a:t>
              </a:r>
            </a:p>
          </p:txBody>
        </p:sp>
      </p:grpSp>
      <p:sp>
        <p:nvSpPr>
          <p:cNvPr id="14368" name="Line 45"/>
          <p:cNvSpPr>
            <a:spLocks noChangeShapeType="1"/>
          </p:cNvSpPr>
          <p:nvPr/>
        </p:nvSpPr>
        <p:spPr bwMode="auto">
          <a:xfrm flipH="1">
            <a:off x="4878388" y="2376488"/>
            <a:ext cx="1146175" cy="2522537"/>
          </a:xfrm>
          <a:prstGeom prst="line">
            <a:avLst/>
          </a:prstGeom>
          <a:noFill/>
          <a:ln w="50760">
            <a:solidFill>
              <a:srgbClr val="FF8000"/>
            </a:solidFill>
            <a:round/>
            <a:headEnd/>
            <a:tailEnd type="triangle" w="med" len="med"/>
          </a:ln>
        </p:spPr>
        <p:txBody>
          <a:bodyPr/>
          <a:lstStyle/>
          <a:p>
            <a:endParaRPr lang="en-US"/>
          </a:p>
        </p:txBody>
      </p:sp>
    </p:spTree>
  </p:cSld>
  <p:clrMapOvr>
    <a:masterClrMapping/>
  </p:clrMapOvr>
  <p:transition>
    <p:strips dir="l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Collisions</a:t>
            </a:r>
          </a:p>
        </p:txBody>
      </p:sp>
      <p:sp>
        <p:nvSpPr>
          <p:cNvPr id="15363"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This is called a </a:t>
            </a:r>
            <a:r>
              <a:rPr lang="en-GB" b="1" u="sng" smtClean="0">
                <a:solidFill>
                  <a:srgbClr val="FF8000"/>
                </a:solidFill>
                <a:effectLst/>
              </a:rPr>
              <a:t>collision</a:t>
            </a:r>
            <a:r>
              <a:rPr lang="en-GB" smtClean="0">
                <a:effectLst/>
              </a:rPr>
              <a:t>, because there is already another valid record at [2].</a:t>
            </a:r>
          </a:p>
        </p:txBody>
      </p:sp>
      <p:sp>
        <p:nvSpPr>
          <p:cNvPr id="15364"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5365"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5366"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5367"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5368"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5369"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5370"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5371"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5372"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5373"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5374"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5375"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5376"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5377"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5378"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5379"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5380" name="Group 19"/>
          <p:cNvGrpSpPr>
            <a:grpSpLocks/>
          </p:cNvGrpSpPr>
          <p:nvPr/>
        </p:nvGrpSpPr>
        <p:grpSpPr bwMode="auto">
          <a:xfrm>
            <a:off x="4598988" y="5475288"/>
            <a:ext cx="674687" cy="517525"/>
            <a:chOff x="2897" y="3449"/>
            <a:chExt cx="425" cy="326"/>
          </a:xfrm>
        </p:grpSpPr>
        <p:sp>
          <p:nvSpPr>
            <p:cNvPr id="15404"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5405"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5381" name="Group 22"/>
          <p:cNvGrpSpPr>
            <a:grpSpLocks/>
          </p:cNvGrpSpPr>
          <p:nvPr/>
        </p:nvGrpSpPr>
        <p:grpSpPr bwMode="auto">
          <a:xfrm>
            <a:off x="2822575" y="5449888"/>
            <a:ext cx="674688" cy="568325"/>
            <a:chOff x="1778" y="3433"/>
            <a:chExt cx="425" cy="358"/>
          </a:xfrm>
        </p:grpSpPr>
        <p:sp>
          <p:nvSpPr>
            <p:cNvPr id="15402"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5403"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5382" name="Group 25"/>
          <p:cNvGrpSpPr>
            <a:grpSpLocks/>
          </p:cNvGrpSpPr>
          <p:nvPr/>
        </p:nvGrpSpPr>
        <p:grpSpPr bwMode="auto">
          <a:xfrm>
            <a:off x="1906588" y="5445125"/>
            <a:ext cx="620712" cy="576263"/>
            <a:chOff x="1201" y="3430"/>
            <a:chExt cx="391" cy="363"/>
          </a:xfrm>
        </p:grpSpPr>
        <p:sp>
          <p:nvSpPr>
            <p:cNvPr id="15400"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5401"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5383" name="Group 28"/>
          <p:cNvGrpSpPr>
            <a:grpSpLocks/>
          </p:cNvGrpSpPr>
          <p:nvPr/>
        </p:nvGrpSpPr>
        <p:grpSpPr bwMode="auto">
          <a:xfrm>
            <a:off x="7764463" y="5480050"/>
            <a:ext cx="725487" cy="506413"/>
            <a:chOff x="4891" y="3452"/>
            <a:chExt cx="457" cy="319"/>
          </a:xfrm>
        </p:grpSpPr>
        <p:sp>
          <p:nvSpPr>
            <p:cNvPr id="15398"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5399"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5384" name="Group 31"/>
          <p:cNvGrpSpPr>
            <a:grpSpLocks/>
          </p:cNvGrpSpPr>
          <p:nvPr/>
        </p:nvGrpSpPr>
        <p:grpSpPr bwMode="auto">
          <a:xfrm>
            <a:off x="6596063" y="4014788"/>
            <a:ext cx="1309687" cy="2830512"/>
            <a:chOff x="4155" y="2529"/>
            <a:chExt cx="825" cy="1783"/>
          </a:xfrm>
        </p:grpSpPr>
        <p:sp>
          <p:nvSpPr>
            <p:cNvPr id="15396"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5397"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5385" name="Group 34"/>
          <p:cNvGrpSpPr>
            <a:grpSpLocks/>
          </p:cNvGrpSpPr>
          <p:nvPr/>
        </p:nvGrpSpPr>
        <p:grpSpPr bwMode="auto">
          <a:xfrm>
            <a:off x="3713163" y="5465763"/>
            <a:ext cx="620712" cy="557212"/>
            <a:chOff x="2339" y="3443"/>
            <a:chExt cx="391" cy="351"/>
          </a:xfrm>
        </p:grpSpPr>
        <p:pic>
          <p:nvPicPr>
            <p:cNvPr id="15394"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5395"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sp>
        <p:nvSpPr>
          <p:cNvPr id="15386" name="AutoShape 37"/>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pic>
        <p:nvPicPr>
          <p:cNvPr id="15387" name="Picture 38"/>
          <p:cNvPicPr>
            <a:picLocks noChangeAspect="1" noChangeArrowheads="1"/>
          </p:cNvPicPr>
          <p:nvPr/>
        </p:nvPicPr>
        <p:blipFill>
          <a:blip r:embed="rId8"/>
          <a:srcRect/>
          <a:stretch>
            <a:fillRect/>
          </a:stretch>
        </p:blipFill>
        <p:spPr bwMode="auto">
          <a:xfrm>
            <a:off x="6375400" y="1558925"/>
            <a:ext cx="1873250" cy="1727200"/>
          </a:xfrm>
          <a:prstGeom prst="rect">
            <a:avLst/>
          </a:prstGeom>
          <a:noFill/>
          <a:ln w="9525">
            <a:noFill/>
            <a:miter lim="800000"/>
            <a:headEnd/>
            <a:tailEnd/>
          </a:ln>
        </p:spPr>
      </p:pic>
      <p:sp>
        <p:nvSpPr>
          <p:cNvPr id="15388" name="Oval 39"/>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15389" name="AutoShape 40"/>
          <p:cNvSpPr>
            <a:spLocks noChangeArrowheads="1"/>
          </p:cNvSpPr>
          <p:nvPr/>
        </p:nvSpPr>
        <p:spPr bwMode="auto">
          <a:xfrm>
            <a:off x="6156325" y="1103313"/>
            <a:ext cx="2255838" cy="366712"/>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701466868</a:t>
            </a:r>
          </a:p>
        </p:txBody>
      </p:sp>
      <p:grpSp>
        <p:nvGrpSpPr>
          <p:cNvPr id="15390" name="Group 41"/>
          <p:cNvGrpSpPr>
            <a:grpSpLocks/>
          </p:cNvGrpSpPr>
          <p:nvPr/>
        </p:nvGrpSpPr>
        <p:grpSpPr bwMode="auto">
          <a:xfrm>
            <a:off x="169863" y="3181350"/>
            <a:ext cx="3976687" cy="1709738"/>
            <a:chOff x="107" y="2004"/>
            <a:chExt cx="2505" cy="1077"/>
          </a:xfrm>
        </p:grpSpPr>
        <p:sp>
          <p:nvSpPr>
            <p:cNvPr id="16426" name="AutoShape 42"/>
            <p:cNvSpPr>
              <a:spLocks noChangeArrowheads="1"/>
            </p:cNvSpPr>
            <p:nvPr/>
          </p:nvSpPr>
          <p:spPr bwMode="auto">
            <a:xfrm>
              <a:off x="107" y="2004"/>
              <a:ext cx="2506" cy="1078"/>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cs typeface="+mn-cs"/>
              </a:endParaRPr>
            </a:p>
          </p:txBody>
        </p:sp>
        <p:sp>
          <p:nvSpPr>
            <p:cNvPr id="15393" name="AutoShape 43"/>
            <p:cNvSpPr>
              <a:spLocks noChangeArrowheads="1"/>
            </p:cNvSpPr>
            <p:nvPr/>
          </p:nvSpPr>
          <p:spPr bwMode="auto">
            <a:xfrm>
              <a:off x="152" y="2049"/>
              <a:ext cx="2416" cy="988"/>
            </a:xfrm>
            <a:prstGeom prst="roundRect">
              <a:avLst>
                <a:gd name="adj" fmla="val 97"/>
              </a:avLst>
            </a:prstGeom>
            <a:noFill/>
            <a:ln w="9525">
              <a:noFill/>
              <a:round/>
              <a:headEnd/>
              <a:tailEnd/>
            </a:ln>
          </p:spPr>
          <p:txBody>
            <a:bodyPr lIns="90360" tIns="44280" rIns="90360" bIns="44280" anchor="ctr" anchorCtr="1"/>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dirty="0"/>
                <a:t>When a collision occurs,</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dirty="0"/>
                <a:t>move forward until you</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dirty="0"/>
                <a:t>find an empty spot.</a:t>
              </a:r>
            </a:p>
          </p:txBody>
        </p:sp>
      </p:grpSp>
      <p:sp>
        <p:nvSpPr>
          <p:cNvPr id="15391" name="Line 44"/>
          <p:cNvSpPr>
            <a:spLocks noChangeShapeType="1"/>
          </p:cNvSpPr>
          <p:nvPr/>
        </p:nvSpPr>
        <p:spPr bwMode="auto">
          <a:xfrm flipH="1">
            <a:off x="5749925" y="2376488"/>
            <a:ext cx="274638" cy="2449512"/>
          </a:xfrm>
          <a:prstGeom prst="line">
            <a:avLst/>
          </a:prstGeom>
          <a:noFill/>
          <a:ln w="50760">
            <a:solidFill>
              <a:srgbClr val="FF8000"/>
            </a:solidFill>
            <a:round/>
            <a:headEnd/>
            <a:tailEnd type="triangle" w="med" len="med"/>
          </a:ln>
        </p:spPr>
        <p:txBody>
          <a:bodyPr/>
          <a:lstStyle/>
          <a:p>
            <a:endParaRPr lang="en-US"/>
          </a:p>
        </p:txBody>
      </p:sp>
    </p:spTree>
  </p:cSld>
  <p:clrMapOvr>
    <a:masterClrMapping/>
  </p:clrMapOvr>
  <p:transition>
    <p:strips dir="l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Collisions</a:t>
            </a:r>
          </a:p>
        </p:txBody>
      </p:sp>
      <p:sp>
        <p:nvSpPr>
          <p:cNvPr id="16387"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This is called a </a:t>
            </a:r>
            <a:r>
              <a:rPr lang="en-GB" b="1" u="sng" smtClean="0">
                <a:solidFill>
                  <a:srgbClr val="FF8000"/>
                </a:solidFill>
                <a:effectLst/>
              </a:rPr>
              <a:t>collision</a:t>
            </a:r>
            <a:r>
              <a:rPr lang="en-GB" smtClean="0">
                <a:effectLst/>
              </a:rPr>
              <a:t>, because there is already another valid record at [2].</a:t>
            </a:r>
          </a:p>
        </p:txBody>
      </p:sp>
      <p:sp>
        <p:nvSpPr>
          <p:cNvPr id="16388"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6389"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6390"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6391"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6392"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6393"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6394"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6395"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6396"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6397"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6398"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6399"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6400"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6401"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6402"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6403"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6404" name="Group 19"/>
          <p:cNvGrpSpPr>
            <a:grpSpLocks/>
          </p:cNvGrpSpPr>
          <p:nvPr/>
        </p:nvGrpSpPr>
        <p:grpSpPr bwMode="auto">
          <a:xfrm>
            <a:off x="4598988" y="5475288"/>
            <a:ext cx="674687" cy="517525"/>
            <a:chOff x="2897" y="3449"/>
            <a:chExt cx="425" cy="326"/>
          </a:xfrm>
        </p:grpSpPr>
        <p:sp>
          <p:nvSpPr>
            <p:cNvPr id="16426"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6427"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6405" name="Group 22"/>
          <p:cNvGrpSpPr>
            <a:grpSpLocks/>
          </p:cNvGrpSpPr>
          <p:nvPr/>
        </p:nvGrpSpPr>
        <p:grpSpPr bwMode="auto">
          <a:xfrm>
            <a:off x="2822575" y="5449888"/>
            <a:ext cx="674688" cy="568325"/>
            <a:chOff x="1778" y="3433"/>
            <a:chExt cx="425" cy="358"/>
          </a:xfrm>
        </p:grpSpPr>
        <p:sp>
          <p:nvSpPr>
            <p:cNvPr id="16424"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6425"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6406" name="Group 25"/>
          <p:cNvGrpSpPr>
            <a:grpSpLocks/>
          </p:cNvGrpSpPr>
          <p:nvPr/>
        </p:nvGrpSpPr>
        <p:grpSpPr bwMode="auto">
          <a:xfrm>
            <a:off x="1906588" y="5445125"/>
            <a:ext cx="620712" cy="576263"/>
            <a:chOff x="1201" y="3430"/>
            <a:chExt cx="391" cy="363"/>
          </a:xfrm>
        </p:grpSpPr>
        <p:sp>
          <p:nvSpPr>
            <p:cNvPr id="16422"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6423"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6407" name="Group 28"/>
          <p:cNvGrpSpPr>
            <a:grpSpLocks/>
          </p:cNvGrpSpPr>
          <p:nvPr/>
        </p:nvGrpSpPr>
        <p:grpSpPr bwMode="auto">
          <a:xfrm>
            <a:off x="7764463" y="5480050"/>
            <a:ext cx="725487" cy="506413"/>
            <a:chOff x="4891" y="3452"/>
            <a:chExt cx="457" cy="319"/>
          </a:xfrm>
        </p:grpSpPr>
        <p:sp>
          <p:nvSpPr>
            <p:cNvPr id="16420"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6421"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6408" name="Group 31"/>
          <p:cNvGrpSpPr>
            <a:grpSpLocks/>
          </p:cNvGrpSpPr>
          <p:nvPr/>
        </p:nvGrpSpPr>
        <p:grpSpPr bwMode="auto">
          <a:xfrm>
            <a:off x="6596063" y="4014788"/>
            <a:ext cx="1309687" cy="2830512"/>
            <a:chOff x="4155" y="2529"/>
            <a:chExt cx="825" cy="1783"/>
          </a:xfrm>
        </p:grpSpPr>
        <p:sp>
          <p:nvSpPr>
            <p:cNvPr id="16418"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6419"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6409" name="Group 34"/>
          <p:cNvGrpSpPr>
            <a:grpSpLocks/>
          </p:cNvGrpSpPr>
          <p:nvPr/>
        </p:nvGrpSpPr>
        <p:grpSpPr bwMode="auto">
          <a:xfrm>
            <a:off x="3713163" y="5465763"/>
            <a:ext cx="620712" cy="557212"/>
            <a:chOff x="2339" y="3443"/>
            <a:chExt cx="391" cy="351"/>
          </a:xfrm>
        </p:grpSpPr>
        <p:pic>
          <p:nvPicPr>
            <p:cNvPr id="16416"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6417"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16410" name="Group 37"/>
          <p:cNvGrpSpPr>
            <a:grpSpLocks/>
          </p:cNvGrpSpPr>
          <p:nvPr/>
        </p:nvGrpSpPr>
        <p:grpSpPr bwMode="auto">
          <a:xfrm>
            <a:off x="5548313" y="5454650"/>
            <a:ext cx="620712" cy="549275"/>
            <a:chOff x="3495" y="3436"/>
            <a:chExt cx="391" cy="346"/>
          </a:xfrm>
        </p:grpSpPr>
        <p:pic>
          <p:nvPicPr>
            <p:cNvPr id="16414"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16415"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grpSp>
        <p:nvGrpSpPr>
          <p:cNvPr id="16411" name="Group 40"/>
          <p:cNvGrpSpPr>
            <a:grpSpLocks/>
          </p:cNvGrpSpPr>
          <p:nvPr/>
        </p:nvGrpSpPr>
        <p:grpSpPr bwMode="auto">
          <a:xfrm>
            <a:off x="169863" y="3181350"/>
            <a:ext cx="3976687" cy="1709738"/>
            <a:chOff x="107" y="2004"/>
            <a:chExt cx="2505" cy="1077"/>
          </a:xfrm>
        </p:grpSpPr>
        <p:sp>
          <p:nvSpPr>
            <p:cNvPr id="17449" name="AutoShape 41"/>
            <p:cNvSpPr>
              <a:spLocks noChangeArrowheads="1"/>
            </p:cNvSpPr>
            <p:nvPr/>
          </p:nvSpPr>
          <p:spPr bwMode="auto">
            <a:xfrm>
              <a:off x="107" y="2004"/>
              <a:ext cx="2506" cy="1078"/>
            </a:xfrm>
            <a:prstGeom prst="roundRect">
              <a:avLst>
                <a:gd name="adj" fmla="val 12523"/>
              </a:avLst>
            </a:prstGeom>
            <a:solidFill>
              <a:srgbClr val="8080FF"/>
            </a:solidFill>
            <a:ln w="12600">
              <a:solidFill>
                <a:srgbClr val="000000"/>
              </a:solidFill>
              <a:round/>
              <a:headEnd/>
              <a:tailEnd/>
            </a:ln>
            <a:effectLst>
              <a:outerShdw dist="107933" dir="2700000" algn="ctr" rotWithShape="0">
                <a:srgbClr val="000000">
                  <a:alpha val="50000"/>
                </a:srgbClr>
              </a:outerShdw>
            </a:effectLst>
          </p:spPr>
          <p:txBody>
            <a:bodyPr wrap="none" anchor="ctr"/>
            <a:lstStyle/>
            <a:p>
              <a:pPr>
                <a:defRPr/>
              </a:pPr>
              <a:endParaRPr lang="en-US">
                <a:cs typeface="+mn-cs"/>
              </a:endParaRPr>
            </a:p>
          </p:txBody>
        </p:sp>
        <p:sp>
          <p:nvSpPr>
            <p:cNvPr id="16413" name="AutoShape 42"/>
            <p:cNvSpPr>
              <a:spLocks noChangeArrowheads="1"/>
            </p:cNvSpPr>
            <p:nvPr/>
          </p:nvSpPr>
          <p:spPr bwMode="auto">
            <a:xfrm>
              <a:off x="152" y="2049"/>
              <a:ext cx="2416" cy="988"/>
            </a:xfrm>
            <a:prstGeom prst="roundRect">
              <a:avLst>
                <a:gd name="adj" fmla="val 97"/>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dirty="0"/>
                <a:t>The new record goes</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800" b="1" dirty="0"/>
                <a:t>in the empty spot.</a:t>
              </a:r>
            </a:p>
          </p:txBody>
        </p:sp>
      </p:grpSp>
    </p:spTree>
  </p:cSld>
  <p:clrMapOvr>
    <a:masterClrMapping/>
  </p:clrMapOvr>
  <p:transition>
    <p:strips dir="l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Searching for a Key</a:t>
            </a:r>
          </a:p>
        </p:txBody>
      </p:sp>
      <p:sp>
        <p:nvSpPr>
          <p:cNvPr id="18435" name="Rectangle 2"/>
          <p:cNvSpPr>
            <a:spLocks noGrp="1" noChangeArrowheads="1"/>
          </p:cNvSpPr>
          <p:nvPr>
            <p:ph type="body" idx="1"/>
          </p:nvPr>
        </p:nvSpPr>
        <p:spPr>
          <a:xfrm>
            <a:off x="685800" y="1774825"/>
            <a:ext cx="4525963"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The data that's attached to a key can be found fairly quickly.</a:t>
            </a:r>
          </a:p>
        </p:txBody>
      </p:sp>
      <p:sp>
        <p:nvSpPr>
          <p:cNvPr id="18436"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8437"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8438"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8439"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8440"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8441"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8442"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8443"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8444"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8445"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8446"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8447"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8448"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8449"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8450"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8451"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8452" name="Group 19"/>
          <p:cNvGrpSpPr>
            <a:grpSpLocks/>
          </p:cNvGrpSpPr>
          <p:nvPr/>
        </p:nvGrpSpPr>
        <p:grpSpPr bwMode="auto">
          <a:xfrm>
            <a:off x="4598988" y="5475288"/>
            <a:ext cx="674687" cy="517525"/>
            <a:chOff x="2897" y="3449"/>
            <a:chExt cx="425" cy="326"/>
          </a:xfrm>
        </p:grpSpPr>
        <p:sp>
          <p:nvSpPr>
            <p:cNvPr id="18474"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8475"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8453" name="Group 22"/>
          <p:cNvGrpSpPr>
            <a:grpSpLocks/>
          </p:cNvGrpSpPr>
          <p:nvPr/>
        </p:nvGrpSpPr>
        <p:grpSpPr bwMode="auto">
          <a:xfrm>
            <a:off x="2822575" y="5449888"/>
            <a:ext cx="674688" cy="568325"/>
            <a:chOff x="1778" y="3433"/>
            <a:chExt cx="425" cy="358"/>
          </a:xfrm>
        </p:grpSpPr>
        <p:sp>
          <p:nvSpPr>
            <p:cNvPr id="18472"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8473"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8454" name="Group 25"/>
          <p:cNvGrpSpPr>
            <a:grpSpLocks/>
          </p:cNvGrpSpPr>
          <p:nvPr/>
        </p:nvGrpSpPr>
        <p:grpSpPr bwMode="auto">
          <a:xfrm>
            <a:off x="1906588" y="5445125"/>
            <a:ext cx="620712" cy="576263"/>
            <a:chOff x="1201" y="3430"/>
            <a:chExt cx="391" cy="363"/>
          </a:xfrm>
        </p:grpSpPr>
        <p:sp>
          <p:nvSpPr>
            <p:cNvPr id="18470"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8471"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8455" name="Group 28"/>
          <p:cNvGrpSpPr>
            <a:grpSpLocks/>
          </p:cNvGrpSpPr>
          <p:nvPr/>
        </p:nvGrpSpPr>
        <p:grpSpPr bwMode="auto">
          <a:xfrm>
            <a:off x="7764463" y="5480050"/>
            <a:ext cx="725487" cy="506413"/>
            <a:chOff x="4891" y="3452"/>
            <a:chExt cx="457" cy="319"/>
          </a:xfrm>
        </p:grpSpPr>
        <p:sp>
          <p:nvSpPr>
            <p:cNvPr id="18468"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8469"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8456" name="Group 31"/>
          <p:cNvGrpSpPr>
            <a:grpSpLocks/>
          </p:cNvGrpSpPr>
          <p:nvPr/>
        </p:nvGrpSpPr>
        <p:grpSpPr bwMode="auto">
          <a:xfrm>
            <a:off x="6596063" y="4014788"/>
            <a:ext cx="1309687" cy="2830512"/>
            <a:chOff x="4155" y="2529"/>
            <a:chExt cx="825" cy="1783"/>
          </a:xfrm>
        </p:grpSpPr>
        <p:sp>
          <p:nvSpPr>
            <p:cNvPr id="18466"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8467"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8457" name="Group 34"/>
          <p:cNvGrpSpPr>
            <a:grpSpLocks/>
          </p:cNvGrpSpPr>
          <p:nvPr/>
        </p:nvGrpSpPr>
        <p:grpSpPr bwMode="auto">
          <a:xfrm>
            <a:off x="3713163" y="5465763"/>
            <a:ext cx="620712" cy="557212"/>
            <a:chOff x="2339" y="3443"/>
            <a:chExt cx="391" cy="351"/>
          </a:xfrm>
        </p:grpSpPr>
        <p:pic>
          <p:nvPicPr>
            <p:cNvPr id="18464"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8465"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18458" name="Group 37"/>
          <p:cNvGrpSpPr>
            <a:grpSpLocks/>
          </p:cNvGrpSpPr>
          <p:nvPr/>
        </p:nvGrpSpPr>
        <p:grpSpPr bwMode="auto">
          <a:xfrm>
            <a:off x="5548313" y="5454650"/>
            <a:ext cx="620712" cy="549275"/>
            <a:chOff x="3495" y="3436"/>
            <a:chExt cx="391" cy="346"/>
          </a:xfrm>
        </p:grpSpPr>
        <p:pic>
          <p:nvPicPr>
            <p:cNvPr id="18462"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18463"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
        <p:nvSpPr>
          <p:cNvPr id="18459" name="AutoShape 4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18460" name="Oval 41"/>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18461" name="AutoShape 42"/>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701466868</a:t>
            </a:r>
          </a:p>
        </p:txBody>
      </p:sp>
    </p:spTree>
  </p:cSld>
  <p:clrMapOvr>
    <a:masterClrMapping/>
  </p:clrMapOvr>
  <p:transition>
    <p:pull dir="l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Searching for a Key</a:t>
            </a:r>
          </a:p>
        </p:txBody>
      </p:sp>
      <p:sp>
        <p:nvSpPr>
          <p:cNvPr id="19459" name="Rectangle 2"/>
          <p:cNvSpPr>
            <a:spLocks noGrp="1" noChangeArrowheads="1"/>
          </p:cNvSpPr>
          <p:nvPr>
            <p:ph type="body" idx="1"/>
          </p:nvPr>
        </p:nvSpPr>
        <p:spPr>
          <a:xfrm>
            <a:off x="685800" y="1774825"/>
            <a:ext cx="510222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effectLst/>
              </a:rPr>
              <a:t>Calculate the hash value.</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effectLst/>
              </a:rPr>
              <a:t>Check that location of the array for the key.</a:t>
            </a:r>
          </a:p>
        </p:txBody>
      </p:sp>
      <p:sp>
        <p:nvSpPr>
          <p:cNvPr id="19460"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19461"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9462"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19463"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19464"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19465"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19466"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19467"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19468"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19469"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19470"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19471"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19472"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19473"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19474"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19475"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19476" name="Group 19"/>
          <p:cNvGrpSpPr>
            <a:grpSpLocks/>
          </p:cNvGrpSpPr>
          <p:nvPr/>
        </p:nvGrpSpPr>
        <p:grpSpPr bwMode="auto">
          <a:xfrm>
            <a:off x="4598988" y="5475288"/>
            <a:ext cx="674687" cy="517525"/>
            <a:chOff x="2897" y="3449"/>
            <a:chExt cx="425" cy="326"/>
          </a:xfrm>
        </p:grpSpPr>
        <p:sp>
          <p:nvSpPr>
            <p:cNvPr id="19504"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19505"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19477" name="Group 22"/>
          <p:cNvGrpSpPr>
            <a:grpSpLocks/>
          </p:cNvGrpSpPr>
          <p:nvPr/>
        </p:nvGrpSpPr>
        <p:grpSpPr bwMode="auto">
          <a:xfrm>
            <a:off x="2822575" y="5449888"/>
            <a:ext cx="674688" cy="568325"/>
            <a:chOff x="1778" y="3433"/>
            <a:chExt cx="425" cy="358"/>
          </a:xfrm>
        </p:grpSpPr>
        <p:sp>
          <p:nvSpPr>
            <p:cNvPr id="19502"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19503"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19478" name="Group 25"/>
          <p:cNvGrpSpPr>
            <a:grpSpLocks/>
          </p:cNvGrpSpPr>
          <p:nvPr/>
        </p:nvGrpSpPr>
        <p:grpSpPr bwMode="auto">
          <a:xfrm>
            <a:off x="1906588" y="5445125"/>
            <a:ext cx="620712" cy="576263"/>
            <a:chOff x="1201" y="3430"/>
            <a:chExt cx="391" cy="363"/>
          </a:xfrm>
        </p:grpSpPr>
        <p:sp>
          <p:nvSpPr>
            <p:cNvPr id="19500"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19501"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19479" name="Group 28"/>
          <p:cNvGrpSpPr>
            <a:grpSpLocks/>
          </p:cNvGrpSpPr>
          <p:nvPr/>
        </p:nvGrpSpPr>
        <p:grpSpPr bwMode="auto">
          <a:xfrm>
            <a:off x="7764463" y="5480050"/>
            <a:ext cx="725487" cy="506413"/>
            <a:chOff x="4891" y="3452"/>
            <a:chExt cx="457" cy="319"/>
          </a:xfrm>
        </p:grpSpPr>
        <p:sp>
          <p:nvSpPr>
            <p:cNvPr id="19498"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19499"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19480" name="Group 31"/>
          <p:cNvGrpSpPr>
            <a:grpSpLocks/>
          </p:cNvGrpSpPr>
          <p:nvPr/>
        </p:nvGrpSpPr>
        <p:grpSpPr bwMode="auto">
          <a:xfrm>
            <a:off x="6596063" y="4014788"/>
            <a:ext cx="1309687" cy="2830512"/>
            <a:chOff x="4155" y="2529"/>
            <a:chExt cx="825" cy="1783"/>
          </a:xfrm>
        </p:grpSpPr>
        <p:sp>
          <p:nvSpPr>
            <p:cNvPr id="19496"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19497"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19481" name="Group 34"/>
          <p:cNvGrpSpPr>
            <a:grpSpLocks/>
          </p:cNvGrpSpPr>
          <p:nvPr/>
        </p:nvGrpSpPr>
        <p:grpSpPr bwMode="auto">
          <a:xfrm>
            <a:off x="3713163" y="5465763"/>
            <a:ext cx="620712" cy="557212"/>
            <a:chOff x="2339" y="3443"/>
            <a:chExt cx="391" cy="351"/>
          </a:xfrm>
        </p:grpSpPr>
        <p:pic>
          <p:nvPicPr>
            <p:cNvPr id="19494"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19495"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19482" name="Group 37"/>
          <p:cNvGrpSpPr>
            <a:grpSpLocks/>
          </p:cNvGrpSpPr>
          <p:nvPr/>
        </p:nvGrpSpPr>
        <p:grpSpPr bwMode="auto">
          <a:xfrm>
            <a:off x="5548313" y="5454650"/>
            <a:ext cx="620712" cy="549275"/>
            <a:chOff x="3495" y="3436"/>
            <a:chExt cx="391" cy="346"/>
          </a:xfrm>
        </p:grpSpPr>
        <p:pic>
          <p:nvPicPr>
            <p:cNvPr id="19492"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19493"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
        <p:nvSpPr>
          <p:cNvPr id="19483" name="AutoShape 4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19484" name="Oval 41"/>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19485" name="AutoShape 42"/>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701466868</a:t>
            </a:r>
          </a:p>
        </p:txBody>
      </p:sp>
      <p:grpSp>
        <p:nvGrpSpPr>
          <p:cNvPr id="19486" name="Group 43"/>
          <p:cNvGrpSpPr>
            <a:grpSpLocks/>
          </p:cNvGrpSpPr>
          <p:nvPr/>
        </p:nvGrpSpPr>
        <p:grpSpPr bwMode="auto">
          <a:xfrm>
            <a:off x="7323138" y="3090863"/>
            <a:ext cx="1800225" cy="1290637"/>
            <a:chOff x="4613" y="1947"/>
            <a:chExt cx="1134" cy="813"/>
          </a:xfrm>
        </p:grpSpPr>
        <p:sp>
          <p:nvSpPr>
            <p:cNvPr id="19490" name="Freeform 44"/>
            <p:cNvSpPr>
              <a:spLocks noChangeArrowheads="1"/>
            </p:cNvSpPr>
            <p:nvPr/>
          </p:nvSpPr>
          <p:spPr bwMode="auto">
            <a:xfrm>
              <a:off x="4613" y="1947"/>
              <a:ext cx="1134" cy="814"/>
            </a:xfrm>
            <a:custGeom>
              <a:avLst/>
              <a:gdLst>
                <a:gd name="T0" fmla="*/ 0 w 5002"/>
                <a:gd name="T1" fmla="*/ 3153 h 3590"/>
                <a:gd name="T2" fmla="*/ 699 w 5002"/>
                <a:gd name="T3" fmla="*/ 3589 h 3590"/>
                <a:gd name="T4" fmla="*/ 4302 w 5002"/>
                <a:gd name="T5" fmla="*/ 3589 h 3590"/>
                <a:gd name="T6" fmla="*/ 5001 w 5002"/>
                <a:gd name="T7" fmla="*/ 3153 h 3590"/>
                <a:gd name="T8" fmla="*/ 5001 w 5002"/>
                <a:gd name="T9" fmla="*/ 904 h 3590"/>
                <a:gd name="T10" fmla="*/ 4302 w 5002"/>
                <a:gd name="T11" fmla="*/ 468 h 3590"/>
                <a:gd name="T12" fmla="*/ 1999 w 5002"/>
                <a:gd name="T13" fmla="*/ 468 h 3590"/>
                <a:gd name="T14" fmla="*/ 342 w 5002"/>
                <a:gd name="T15" fmla="*/ 0 h 3590"/>
                <a:gd name="T16" fmla="*/ 791 w 5002"/>
                <a:gd name="T17" fmla="*/ 468 h 3590"/>
                <a:gd name="T18" fmla="*/ 699 w 5002"/>
                <a:gd name="T19" fmla="*/ 468 h 3590"/>
                <a:gd name="T20" fmla="*/ 0 w 5002"/>
                <a:gd name="T21" fmla="*/ 904 h 3590"/>
                <a:gd name="T22" fmla="*/ 0 w 5002"/>
                <a:gd name="T23" fmla="*/ 3153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19491" name="AutoShape 45"/>
            <p:cNvSpPr>
              <a:spLocks noChangeArrowheads="1"/>
            </p:cNvSpPr>
            <p:nvPr/>
          </p:nvSpPr>
          <p:spPr bwMode="auto">
            <a:xfrm>
              <a:off x="4614" y="1947"/>
              <a:ext cx="1134" cy="814"/>
            </a:xfrm>
            <a:prstGeom prst="roundRect">
              <a:avLst>
                <a:gd name="adj" fmla="val 120"/>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My hash</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value is [2].</a:t>
              </a:r>
            </a:p>
          </p:txBody>
        </p:sp>
      </p:grpSp>
      <p:grpSp>
        <p:nvGrpSpPr>
          <p:cNvPr id="19487" name="Group 46"/>
          <p:cNvGrpSpPr>
            <a:grpSpLocks/>
          </p:cNvGrpSpPr>
          <p:nvPr/>
        </p:nvGrpSpPr>
        <p:grpSpPr bwMode="auto">
          <a:xfrm>
            <a:off x="3036888" y="4070350"/>
            <a:ext cx="1363662" cy="771525"/>
            <a:chOff x="1913" y="2564"/>
            <a:chExt cx="859" cy="486"/>
          </a:xfrm>
        </p:grpSpPr>
        <p:sp>
          <p:nvSpPr>
            <p:cNvPr id="19488" name="Freeform 47"/>
            <p:cNvSpPr>
              <a:spLocks noChangeArrowheads="1"/>
            </p:cNvSpPr>
            <p:nvPr/>
          </p:nvSpPr>
          <p:spPr bwMode="auto">
            <a:xfrm>
              <a:off x="1913" y="2564"/>
              <a:ext cx="860" cy="487"/>
            </a:xfrm>
            <a:custGeom>
              <a:avLst/>
              <a:gdLst>
                <a:gd name="T0" fmla="*/ 0 w 3793"/>
                <a:gd name="T1" fmla="*/ 261 h 2148"/>
                <a:gd name="T2" fmla="*/ 530 w 3793"/>
                <a:gd name="T3" fmla="*/ 0 h 2148"/>
                <a:gd name="T4" fmla="*/ 3262 w 3793"/>
                <a:gd name="T5" fmla="*/ 0 h 2148"/>
                <a:gd name="T6" fmla="*/ 3792 w 3793"/>
                <a:gd name="T7" fmla="*/ 261 h 2148"/>
                <a:gd name="T8" fmla="*/ 3792 w 3793"/>
                <a:gd name="T9" fmla="*/ 1606 h 2148"/>
                <a:gd name="T10" fmla="*/ 3262 w 3793"/>
                <a:gd name="T11" fmla="*/ 1867 h 2148"/>
                <a:gd name="T12" fmla="*/ 1515 w 3793"/>
                <a:gd name="T13" fmla="*/ 1867 h 2148"/>
                <a:gd name="T14" fmla="*/ 259 w 3793"/>
                <a:gd name="T15" fmla="*/ 2147 h 2148"/>
                <a:gd name="T16" fmla="*/ 600 w 3793"/>
                <a:gd name="T17" fmla="*/ 1867 h 2148"/>
                <a:gd name="T18" fmla="*/ 530 w 3793"/>
                <a:gd name="T19" fmla="*/ 1867 h 2148"/>
                <a:gd name="T20" fmla="*/ 0 w 3793"/>
                <a:gd name="T21" fmla="*/ 1606 h 2148"/>
                <a:gd name="T22" fmla="*/ 0 w 3793"/>
                <a:gd name="T23" fmla="*/ 261 h 2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93"/>
                <a:gd name="T37" fmla="*/ 0 h 2148"/>
                <a:gd name="T38" fmla="*/ 3793 w 3793"/>
                <a:gd name="T39" fmla="*/ 2148 h 2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93" h="2148">
                  <a:moveTo>
                    <a:pt x="0" y="261"/>
                  </a:moveTo>
                  <a:cubicBezTo>
                    <a:pt x="0" y="0"/>
                    <a:pt x="0" y="0"/>
                    <a:pt x="530" y="0"/>
                  </a:cubicBezTo>
                  <a:lnTo>
                    <a:pt x="3262" y="0"/>
                  </a:lnTo>
                  <a:cubicBezTo>
                    <a:pt x="3792" y="0"/>
                    <a:pt x="3792" y="0"/>
                    <a:pt x="3792" y="261"/>
                  </a:cubicBezTo>
                  <a:lnTo>
                    <a:pt x="3792" y="1606"/>
                  </a:lnTo>
                  <a:cubicBezTo>
                    <a:pt x="3792" y="1867"/>
                    <a:pt x="3792" y="1867"/>
                    <a:pt x="3262" y="1867"/>
                  </a:cubicBezTo>
                  <a:lnTo>
                    <a:pt x="1515" y="1867"/>
                  </a:lnTo>
                  <a:lnTo>
                    <a:pt x="259" y="2147"/>
                  </a:lnTo>
                  <a:lnTo>
                    <a:pt x="600" y="1867"/>
                  </a:lnTo>
                  <a:lnTo>
                    <a:pt x="530" y="1867"/>
                  </a:lnTo>
                  <a:cubicBezTo>
                    <a:pt x="0" y="1867"/>
                    <a:pt x="0" y="1867"/>
                    <a:pt x="0" y="1606"/>
                  </a:cubicBezTo>
                  <a:lnTo>
                    <a:pt x="0" y="261"/>
                  </a:lnTo>
                </a:path>
              </a:pathLst>
            </a:custGeom>
            <a:solidFill>
              <a:srgbClr val="0000FF"/>
            </a:solidFill>
            <a:ln w="12600">
              <a:solidFill>
                <a:srgbClr val="E0E0E0"/>
              </a:solidFill>
              <a:round/>
              <a:headEnd/>
              <a:tailEnd/>
            </a:ln>
          </p:spPr>
          <p:txBody>
            <a:bodyPr wrap="none" anchor="ctr"/>
            <a:lstStyle/>
            <a:p>
              <a:endParaRPr lang="en-US"/>
            </a:p>
          </p:txBody>
        </p:sp>
        <p:sp>
          <p:nvSpPr>
            <p:cNvPr id="19489" name="AutoShape 48"/>
            <p:cNvSpPr>
              <a:spLocks noChangeArrowheads="1"/>
            </p:cNvSpPr>
            <p:nvPr/>
          </p:nvSpPr>
          <p:spPr bwMode="auto">
            <a:xfrm>
              <a:off x="1913" y="2564"/>
              <a:ext cx="860" cy="487"/>
            </a:xfrm>
            <a:prstGeom prst="roundRect">
              <a:avLst>
                <a:gd name="adj" fmla="val 204"/>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Not me</a:t>
              </a:r>
              <a:r>
                <a:rPr lang="en-GB" sz="2400" b="1" dirty="0">
                  <a:solidFill>
                    <a:schemeClr val="tx1"/>
                  </a:solidFill>
                </a:rPr>
                <a:t>.</a:t>
              </a:r>
            </a:p>
          </p:txBody>
        </p:sp>
      </p:grpSp>
    </p:spTree>
  </p:cSld>
  <p:clrMapOvr>
    <a:masterClrMapping/>
  </p:clrMapOvr>
  <p:transition>
    <p:randomBar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Searching for a Key</a:t>
            </a:r>
          </a:p>
        </p:txBody>
      </p:sp>
      <p:sp>
        <p:nvSpPr>
          <p:cNvPr id="20483" name="Rectangle 2"/>
          <p:cNvSpPr>
            <a:spLocks noGrp="1" noChangeArrowheads="1"/>
          </p:cNvSpPr>
          <p:nvPr>
            <p:ph type="body" idx="1"/>
          </p:nvPr>
        </p:nvSpPr>
        <p:spPr>
          <a:xfrm>
            <a:off x="765175" y="1774825"/>
            <a:ext cx="510222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Keep moving forward until you find the key, or you reach an empty spot.</a:t>
            </a:r>
          </a:p>
        </p:txBody>
      </p:sp>
      <p:sp>
        <p:nvSpPr>
          <p:cNvPr id="20484"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20485"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0486"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20487"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20488"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20489"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20490"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20491"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20492"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20493"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20494"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20495"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20496"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20497"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20498"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0499"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20500" name="Group 19"/>
          <p:cNvGrpSpPr>
            <a:grpSpLocks/>
          </p:cNvGrpSpPr>
          <p:nvPr/>
        </p:nvGrpSpPr>
        <p:grpSpPr bwMode="auto">
          <a:xfrm>
            <a:off x="4598988" y="5475288"/>
            <a:ext cx="674687" cy="517525"/>
            <a:chOff x="2897" y="3449"/>
            <a:chExt cx="425" cy="326"/>
          </a:xfrm>
        </p:grpSpPr>
        <p:sp>
          <p:nvSpPr>
            <p:cNvPr id="20528"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20529"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20501" name="Group 22"/>
          <p:cNvGrpSpPr>
            <a:grpSpLocks/>
          </p:cNvGrpSpPr>
          <p:nvPr/>
        </p:nvGrpSpPr>
        <p:grpSpPr bwMode="auto">
          <a:xfrm>
            <a:off x="2822575" y="5449888"/>
            <a:ext cx="674688" cy="568325"/>
            <a:chOff x="1778" y="3433"/>
            <a:chExt cx="425" cy="358"/>
          </a:xfrm>
        </p:grpSpPr>
        <p:sp>
          <p:nvSpPr>
            <p:cNvPr id="20526"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20527"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20502" name="Group 25"/>
          <p:cNvGrpSpPr>
            <a:grpSpLocks/>
          </p:cNvGrpSpPr>
          <p:nvPr/>
        </p:nvGrpSpPr>
        <p:grpSpPr bwMode="auto">
          <a:xfrm>
            <a:off x="1906588" y="5445125"/>
            <a:ext cx="620712" cy="576263"/>
            <a:chOff x="1201" y="3430"/>
            <a:chExt cx="391" cy="363"/>
          </a:xfrm>
        </p:grpSpPr>
        <p:sp>
          <p:nvSpPr>
            <p:cNvPr id="20524"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20525"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20503" name="Group 28"/>
          <p:cNvGrpSpPr>
            <a:grpSpLocks/>
          </p:cNvGrpSpPr>
          <p:nvPr/>
        </p:nvGrpSpPr>
        <p:grpSpPr bwMode="auto">
          <a:xfrm>
            <a:off x="7764463" y="5480050"/>
            <a:ext cx="725487" cy="506413"/>
            <a:chOff x="4891" y="3452"/>
            <a:chExt cx="457" cy="319"/>
          </a:xfrm>
        </p:grpSpPr>
        <p:sp>
          <p:nvSpPr>
            <p:cNvPr id="20522"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20523"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20504" name="Group 31"/>
          <p:cNvGrpSpPr>
            <a:grpSpLocks/>
          </p:cNvGrpSpPr>
          <p:nvPr/>
        </p:nvGrpSpPr>
        <p:grpSpPr bwMode="auto">
          <a:xfrm>
            <a:off x="6596063" y="4014788"/>
            <a:ext cx="1309687" cy="2830512"/>
            <a:chOff x="4155" y="2529"/>
            <a:chExt cx="825" cy="1783"/>
          </a:xfrm>
        </p:grpSpPr>
        <p:sp>
          <p:nvSpPr>
            <p:cNvPr id="20520"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20521"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20505" name="Group 34"/>
          <p:cNvGrpSpPr>
            <a:grpSpLocks/>
          </p:cNvGrpSpPr>
          <p:nvPr/>
        </p:nvGrpSpPr>
        <p:grpSpPr bwMode="auto">
          <a:xfrm>
            <a:off x="3713163" y="5465763"/>
            <a:ext cx="620712" cy="557212"/>
            <a:chOff x="2339" y="3443"/>
            <a:chExt cx="391" cy="351"/>
          </a:xfrm>
        </p:grpSpPr>
        <p:pic>
          <p:nvPicPr>
            <p:cNvPr id="20518"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20519"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20506" name="Group 37"/>
          <p:cNvGrpSpPr>
            <a:grpSpLocks/>
          </p:cNvGrpSpPr>
          <p:nvPr/>
        </p:nvGrpSpPr>
        <p:grpSpPr bwMode="auto">
          <a:xfrm>
            <a:off x="5548313" y="5454650"/>
            <a:ext cx="620712" cy="549275"/>
            <a:chOff x="3495" y="3436"/>
            <a:chExt cx="391" cy="346"/>
          </a:xfrm>
        </p:grpSpPr>
        <p:pic>
          <p:nvPicPr>
            <p:cNvPr id="20516"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20517"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
        <p:nvSpPr>
          <p:cNvPr id="20507" name="AutoShape 4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20508" name="Oval 41"/>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20509" name="AutoShape 42"/>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701466868</a:t>
            </a:r>
          </a:p>
        </p:txBody>
      </p:sp>
      <p:grpSp>
        <p:nvGrpSpPr>
          <p:cNvPr id="20510" name="Group 43"/>
          <p:cNvGrpSpPr>
            <a:grpSpLocks/>
          </p:cNvGrpSpPr>
          <p:nvPr/>
        </p:nvGrpSpPr>
        <p:grpSpPr bwMode="auto">
          <a:xfrm>
            <a:off x="7323138" y="3090863"/>
            <a:ext cx="1800225" cy="1290637"/>
            <a:chOff x="4613" y="1947"/>
            <a:chExt cx="1134" cy="813"/>
          </a:xfrm>
        </p:grpSpPr>
        <p:sp>
          <p:nvSpPr>
            <p:cNvPr id="20514" name="Freeform 44"/>
            <p:cNvSpPr>
              <a:spLocks noChangeArrowheads="1"/>
            </p:cNvSpPr>
            <p:nvPr/>
          </p:nvSpPr>
          <p:spPr bwMode="auto">
            <a:xfrm>
              <a:off x="4613" y="1947"/>
              <a:ext cx="1134" cy="814"/>
            </a:xfrm>
            <a:custGeom>
              <a:avLst/>
              <a:gdLst>
                <a:gd name="T0" fmla="*/ 0 w 5002"/>
                <a:gd name="T1" fmla="*/ 3153 h 3590"/>
                <a:gd name="T2" fmla="*/ 699 w 5002"/>
                <a:gd name="T3" fmla="*/ 3589 h 3590"/>
                <a:gd name="T4" fmla="*/ 4302 w 5002"/>
                <a:gd name="T5" fmla="*/ 3589 h 3590"/>
                <a:gd name="T6" fmla="*/ 5001 w 5002"/>
                <a:gd name="T7" fmla="*/ 3153 h 3590"/>
                <a:gd name="T8" fmla="*/ 5001 w 5002"/>
                <a:gd name="T9" fmla="*/ 904 h 3590"/>
                <a:gd name="T10" fmla="*/ 4302 w 5002"/>
                <a:gd name="T11" fmla="*/ 468 h 3590"/>
                <a:gd name="T12" fmla="*/ 1999 w 5002"/>
                <a:gd name="T13" fmla="*/ 468 h 3590"/>
                <a:gd name="T14" fmla="*/ 342 w 5002"/>
                <a:gd name="T15" fmla="*/ 0 h 3590"/>
                <a:gd name="T16" fmla="*/ 791 w 5002"/>
                <a:gd name="T17" fmla="*/ 468 h 3590"/>
                <a:gd name="T18" fmla="*/ 699 w 5002"/>
                <a:gd name="T19" fmla="*/ 468 h 3590"/>
                <a:gd name="T20" fmla="*/ 0 w 5002"/>
                <a:gd name="T21" fmla="*/ 904 h 3590"/>
                <a:gd name="T22" fmla="*/ 0 w 5002"/>
                <a:gd name="T23" fmla="*/ 3153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20515" name="AutoShape 45"/>
            <p:cNvSpPr>
              <a:spLocks noChangeArrowheads="1"/>
            </p:cNvSpPr>
            <p:nvPr/>
          </p:nvSpPr>
          <p:spPr bwMode="auto">
            <a:xfrm>
              <a:off x="4614" y="1947"/>
              <a:ext cx="1134" cy="814"/>
            </a:xfrm>
            <a:prstGeom prst="roundRect">
              <a:avLst>
                <a:gd name="adj" fmla="val 120"/>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My hash</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value is [2].</a:t>
              </a:r>
            </a:p>
          </p:txBody>
        </p:sp>
      </p:grpSp>
      <p:grpSp>
        <p:nvGrpSpPr>
          <p:cNvPr id="20511" name="Group 46"/>
          <p:cNvGrpSpPr>
            <a:grpSpLocks/>
          </p:cNvGrpSpPr>
          <p:nvPr/>
        </p:nvGrpSpPr>
        <p:grpSpPr bwMode="auto">
          <a:xfrm>
            <a:off x="3910013" y="4070350"/>
            <a:ext cx="1363662" cy="771525"/>
            <a:chOff x="2463" y="2564"/>
            <a:chExt cx="859" cy="486"/>
          </a:xfrm>
        </p:grpSpPr>
        <p:sp>
          <p:nvSpPr>
            <p:cNvPr id="20512" name="Freeform 47"/>
            <p:cNvSpPr>
              <a:spLocks noChangeArrowheads="1"/>
            </p:cNvSpPr>
            <p:nvPr/>
          </p:nvSpPr>
          <p:spPr bwMode="auto">
            <a:xfrm>
              <a:off x="2463" y="2564"/>
              <a:ext cx="860" cy="487"/>
            </a:xfrm>
            <a:custGeom>
              <a:avLst/>
              <a:gdLst>
                <a:gd name="T0" fmla="*/ 0 w 3794"/>
                <a:gd name="T1" fmla="*/ 261 h 2148"/>
                <a:gd name="T2" fmla="*/ 530 w 3794"/>
                <a:gd name="T3" fmla="*/ 0 h 2148"/>
                <a:gd name="T4" fmla="*/ 3263 w 3794"/>
                <a:gd name="T5" fmla="*/ 0 h 2148"/>
                <a:gd name="T6" fmla="*/ 3793 w 3794"/>
                <a:gd name="T7" fmla="*/ 261 h 2148"/>
                <a:gd name="T8" fmla="*/ 3793 w 3794"/>
                <a:gd name="T9" fmla="*/ 1606 h 2148"/>
                <a:gd name="T10" fmla="*/ 3263 w 3794"/>
                <a:gd name="T11" fmla="*/ 1867 h 2148"/>
                <a:gd name="T12" fmla="*/ 1516 w 3794"/>
                <a:gd name="T13" fmla="*/ 1867 h 2148"/>
                <a:gd name="T14" fmla="*/ 260 w 3794"/>
                <a:gd name="T15" fmla="*/ 2147 h 2148"/>
                <a:gd name="T16" fmla="*/ 600 w 3794"/>
                <a:gd name="T17" fmla="*/ 1867 h 2148"/>
                <a:gd name="T18" fmla="*/ 530 w 3794"/>
                <a:gd name="T19" fmla="*/ 1867 h 2148"/>
                <a:gd name="T20" fmla="*/ 0 w 3794"/>
                <a:gd name="T21" fmla="*/ 1606 h 2148"/>
                <a:gd name="T22" fmla="*/ 0 w 3794"/>
                <a:gd name="T23" fmla="*/ 261 h 2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94"/>
                <a:gd name="T37" fmla="*/ 0 h 2148"/>
                <a:gd name="T38" fmla="*/ 3794 w 3794"/>
                <a:gd name="T39" fmla="*/ 2148 h 2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94" h="2148">
                  <a:moveTo>
                    <a:pt x="0" y="261"/>
                  </a:moveTo>
                  <a:cubicBezTo>
                    <a:pt x="0" y="0"/>
                    <a:pt x="0" y="0"/>
                    <a:pt x="530" y="0"/>
                  </a:cubicBezTo>
                  <a:lnTo>
                    <a:pt x="3263" y="0"/>
                  </a:lnTo>
                  <a:cubicBezTo>
                    <a:pt x="3793" y="0"/>
                    <a:pt x="3793" y="0"/>
                    <a:pt x="3793" y="261"/>
                  </a:cubicBezTo>
                  <a:lnTo>
                    <a:pt x="3793" y="1606"/>
                  </a:lnTo>
                  <a:cubicBezTo>
                    <a:pt x="3793" y="1867"/>
                    <a:pt x="3793" y="1867"/>
                    <a:pt x="3263" y="1867"/>
                  </a:cubicBezTo>
                  <a:lnTo>
                    <a:pt x="1516" y="1867"/>
                  </a:lnTo>
                  <a:lnTo>
                    <a:pt x="260" y="2147"/>
                  </a:lnTo>
                  <a:lnTo>
                    <a:pt x="600" y="1867"/>
                  </a:lnTo>
                  <a:lnTo>
                    <a:pt x="530" y="1867"/>
                  </a:lnTo>
                  <a:cubicBezTo>
                    <a:pt x="0" y="1867"/>
                    <a:pt x="0" y="1867"/>
                    <a:pt x="0" y="1606"/>
                  </a:cubicBezTo>
                  <a:lnTo>
                    <a:pt x="0" y="261"/>
                  </a:lnTo>
                </a:path>
              </a:pathLst>
            </a:custGeom>
            <a:solidFill>
              <a:srgbClr val="0000FF"/>
            </a:solidFill>
            <a:ln w="12600">
              <a:solidFill>
                <a:srgbClr val="E0E0E0"/>
              </a:solidFill>
              <a:round/>
              <a:headEnd/>
              <a:tailEnd/>
            </a:ln>
          </p:spPr>
          <p:txBody>
            <a:bodyPr wrap="none" anchor="ctr"/>
            <a:lstStyle/>
            <a:p>
              <a:endParaRPr lang="en-US"/>
            </a:p>
          </p:txBody>
        </p:sp>
        <p:sp>
          <p:nvSpPr>
            <p:cNvPr id="20513" name="AutoShape 48"/>
            <p:cNvSpPr>
              <a:spLocks noChangeArrowheads="1"/>
            </p:cNvSpPr>
            <p:nvPr/>
          </p:nvSpPr>
          <p:spPr bwMode="auto">
            <a:xfrm>
              <a:off x="2463" y="2564"/>
              <a:ext cx="860" cy="487"/>
            </a:xfrm>
            <a:prstGeom prst="roundRect">
              <a:avLst>
                <a:gd name="adj" fmla="val 204"/>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Not me.</a:t>
              </a:r>
            </a:p>
          </p:txBody>
        </p:sp>
      </p:grpSp>
    </p:spTree>
  </p:cSld>
  <p:clrMapOvr>
    <a:masterClrMapping/>
  </p:clrMapOvr>
  <p:transition>
    <p:check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Searching for a Key</a:t>
            </a:r>
          </a:p>
        </p:txBody>
      </p:sp>
      <p:sp>
        <p:nvSpPr>
          <p:cNvPr id="21507" name="Rectangle 2"/>
          <p:cNvSpPr>
            <a:spLocks noGrp="1" noChangeArrowheads="1"/>
          </p:cNvSpPr>
          <p:nvPr>
            <p:ph type="body" idx="1"/>
          </p:nvPr>
        </p:nvSpPr>
        <p:spPr>
          <a:xfrm>
            <a:off x="685800" y="1774825"/>
            <a:ext cx="510222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Keep moving forward until you find the key, or you reach an empty spot.</a:t>
            </a:r>
          </a:p>
        </p:txBody>
      </p:sp>
      <p:sp>
        <p:nvSpPr>
          <p:cNvPr id="21508"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21509"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1510"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21511"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21512"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21513"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21514"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21515"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21516"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21517"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21518"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21519"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21520"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21521"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21522"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1523"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21524" name="Group 19"/>
          <p:cNvGrpSpPr>
            <a:grpSpLocks/>
          </p:cNvGrpSpPr>
          <p:nvPr/>
        </p:nvGrpSpPr>
        <p:grpSpPr bwMode="auto">
          <a:xfrm>
            <a:off x="4598988" y="5475288"/>
            <a:ext cx="674687" cy="517525"/>
            <a:chOff x="2897" y="3449"/>
            <a:chExt cx="425" cy="326"/>
          </a:xfrm>
        </p:grpSpPr>
        <p:sp>
          <p:nvSpPr>
            <p:cNvPr id="21552"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21553"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21525" name="Group 22"/>
          <p:cNvGrpSpPr>
            <a:grpSpLocks/>
          </p:cNvGrpSpPr>
          <p:nvPr/>
        </p:nvGrpSpPr>
        <p:grpSpPr bwMode="auto">
          <a:xfrm>
            <a:off x="2822575" y="5449888"/>
            <a:ext cx="674688" cy="568325"/>
            <a:chOff x="1778" y="3433"/>
            <a:chExt cx="425" cy="358"/>
          </a:xfrm>
        </p:grpSpPr>
        <p:sp>
          <p:nvSpPr>
            <p:cNvPr id="21550"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21551"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21526" name="Group 25"/>
          <p:cNvGrpSpPr>
            <a:grpSpLocks/>
          </p:cNvGrpSpPr>
          <p:nvPr/>
        </p:nvGrpSpPr>
        <p:grpSpPr bwMode="auto">
          <a:xfrm>
            <a:off x="1906588" y="5445125"/>
            <a:ext cx="620712" cy="576263"/>
            <a:chOff x="1201" y="3430"/>
            <a:chExt cx="391" cy="363"/>
          </a:xfrm>
        </p:grpSpPr>
        <p:sp>
          <p:nvSpPr>
            <p:cNvPr id="21548"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21549"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21527" name="Group 28"/>
          <p:cNvGrpSpPr>
            <a:grpSpLocks/>
          </p:cNvGrpSpPr>
          <p:nvPr/>
        </p:nvGrpSpPr>
        <p:grpSpPr bwMode="auto">
          <a:xfrm>
            <a:off x="7764463" y="5480050"/>
            <a:ext cx="725487" cy="506413"/>
            <a:chOff x="4891" y="3452"/>
            <a:chExt cx="457" cy="319"/>
          </a:xfrm>
        </p:grpSpPr>
        <p:sp>
          <p:nvSpPr>
            <p:cNvPr id="21546"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21547"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21528" name="Group 31"/>
          <p:cNvGrpSpPr>
            <a:grpSpLocks/>
          </p:cNvGrpSpPr>
          <p:nvPr/>
        </p:nvGrpSpPr>
        <p:grpSpPr bwMode="auto">
          <a:xfrm>
            <a:off x="6596063" y="4014788"/>
            <a:ext cx="1309687" cy="2830512"/>
            <a:chOff x="4155" y="2529"/>
            <a:chExt cx="825" cy="1783"/>
          </a:xfrm>
        </p:grpSpPr>
        <p:sp>
          <p:nvSpPr>
            <p:cNvPr id="21544"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21545"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21529" name="Group 34"/>
          <p:cNvGrpSpPr>
            <a:grpSpLocks/>
          </p:cNvGrpSpPr>
          <p:nvPr/>
        </p:nvGrpSpPr>
        <p:grpSpPr bwMode="auto">
          <a:xfrm>
            <a:off x="3713163" y="5465763"/>
            <a:ext cx="620712" cy="557212"/>
            <a:chOff x="2339" y="3443"/>
            <a:chExt cx="391" cy="351"/>
          </a:xfrm>
        </p:grpSpPr>
        <p:pic>
          <p:nvPicPr>
            <p:cNvPr id="21542"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21543"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21530" name="Group 37"/>
          <p:cNvGrpSpPr>
            <a:grpSpLocks/>
          </p:cNvGrpSpPr>
          <p:nvPr/>
        </p:nvGrpSpPr>
        <p:grpSpPr bwMode="auto">
          <a:xfrm>
            <a:off x="5548313" y="5454650"/>
            <a:ext cx="620712" cy="549275"/>
            <a:chOff x="3495" y="3436"/>
            <a:chExt cx="391" cy="346"/>
          </a:xfrm>
        </p:grpSpPr>
        <p:pic>
          <p:nvPicPr>
            <p:cNvPr id="21540"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21541"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
        <p:nvSpPr>
          <p:cNvPr id="21531" name="AutoShape 4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21532" name="Oval 41"/>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21533" name="AutoShape 42"/>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701466868</a:t>
            </a:r>
          </a:p>
        </p:txBody>
      </p:sp>
      <p:grpSp>
        <p:nvGrpSpPr>
          <p:cNvPr id="21534" name="Group 43"/>
          <p:cNvGrpSpPr>
            <a:grpSpLocks/>
          </p:cNvGrpSpPr>
          <p:nvPr/>
        </p:nvGrpSpPr>
        <p:grpSpPr bwMode="auto">
          <a:xfrm>
            <a:off x="7323138" y="3090863"/>
            <a:ext cx="1800225" cy="1290637"/>
            <a:chOff x="4613" y="1947"/>
            <a:chExt cx="1134" cy="813"/>
          </a:xfrm>
        </p:grpSpPr>
        <p:sp>
          <p:nvSpPr>
            <p:cNvPr id="21538" name="Freeform 44"/>
            <p:cNvSpPr>
              <a:spLocks noChangeArrowheads="1"/>
            </p:cNvSpPr>
            <p:nvPr/>
          </p:nvSpPr>
          <p:spPr bwMode="auto">
            <a:xfrm>
              <a:off x="4613" y="1947"/>
              <a:ext cx="1134" cy="814"/>
            </a:xfrm>
            <a:custGeom>
              <a:avLst/>
              <a:gdLst>
                <a:gd name="T0" fmla="*/ 0 w 5002"/>
                <a:gd name="T1" fmla="*/ 3153 h 3590"/>
                <a:gd name="T2" fmla="*/ 699 w 5002"/>
                <a:gd name="T3" fmla="*/ 3589 h 3590"/>
                <a:gd name="T4" fmla="*/ 4302 w 5002"/>
                <a:gd name="T5" fmla="*/ 3589 h 3590"/>
                <a:gd name="T6" fmla="*/ 5001 w 5002"/>
                <a:gd name="T7" fmla="*/ 3153 h 3590"/>
                <a:gd name="T8" fmla="*/ 5001 w 5002"/>
                <a:gd name="T9" fmla="*/ 904 h 3590"/>
                <a:gd name="T10" fmla="*/ 4302 w 5002"/>
                <a:gd name="T11" fmla="*/ 468 h 3590"/>
                <a:gd name="T12" fmla="*/ 1999 w 5002"/>
                <a:gd name="T13" fmla="*/ 468 h 3590"/>
                <a:gd name="T14" fmla="*/ 342 w 5002"/>
                <a:gd name="T15" fmla="*/ 0 h 3590"/>
                <a:gd name="T16" fmla="*/ 791 w 5002"/>
                <a:gd name="T17" fmla="*/ 468 h 3590"/>
                <a:gd name="T18" fmla="*/ 699 w 5002"/>
                <a:gd name="T19" fmla="*/ 468 h 3590"/>
                <a:gd name="T20" fmla="*/ 0 w 5002"/>
                <a:gd name="T21" fmla="*/ 904 h 3590"/>
                <a:gd name="T22" fmla="*/ 0 w 5002"/>
                <a:gd name="T23" fmla="*/ 3153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21539" name="AutoShape 45"/>
            <p:cNvSpPr>
              <a:spLocks noChangeArrowheads="1"/>
            </p:cNvSpPr>
            <p:nvPr/>
          </p:nvSpPr>
          <p:spPr bwMode="auto">
            <a:xfrm>
              <a:off x="4614" y="1947"/>
              <a:ext cx="1134" cy="814"/>
            </a:xfrm>
            <a:prstGeom prst="roundRect">
              <a:avLst>
                <a:gd name="adj" fmla="val 120"/>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My hash</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value is [2].</a:t>
              </a:r>
            </a:p>
          </p:txBody>
        </p:sp>
      </p:grpSp>
      <p:grpSp>
        <p:nvGrpSpPr>
          <p:cNvPr id="21535" name="Group 46"/>
          <p:cNvGrpSpPr>
            <a:grpSpLocks/>
          </p:cNvGrpSpPr>
          <p:nvPr/>
        </p:nvGrpSpPr>
        <p:grpSpPr bwMode="auto">
          <a:xfrm>
            <a:off x="4765675" y="4070350"/>
            <a:ext cx="1363663" cy="771525"/>
            <a:chOff x="3002" y="2564"/>
            <a:chExt cx="859" cy="486"/>
          </a:xfrm>
        </p:grpSpPr>
        <p:sp>
          <p:nvSpPr>
            <p:cNvPr id="21536" name="Freeform 47"/>
            <p:cNvSpPr>
              <a:spLocks noChangeArrowheads="1"/>
            </p:cNvSpPr>
            <p:nvPr/>
          </p:nvSpPr>
          <p:spPr bwMode="auto">
            <a:xfrm>
              <a:off x="3002" y="2564"/>
              <a:ext cx="860" cy="487"/>
            </a:xfrm>
            <a:custGeom>
              <a:avLst/>
              <a:gdLst>
                <a:gd name="T0" fmla="*/ 0 w 3793"/>
                <a:gd name="T1" fmla="*/ 261 h 2148"/>
                <a:gd name="T2" fmla="*/ 530 w 3793"/>
                <a:gd name="T3" fmla="*/ 0 h 2148"/>
                <a:gd name="T4" fmla="*/ 3262 w 3793"/>
                <a:gd name="T5" fmla="*/ 0 h 2148"/>
                <a:gd name="T6" fmla="*/ 3792 w 3793"/>
                <a:gd name="T7" fmla="*/ 261 h 2148"/>
                <a:gd name="T8" fmla="*/ 3792 w 3793"/>
                <a:gd name="T9" fmla="*/ 1606 h 2148"/>
                <a:gd name="T10" fmla="*/ 3262 w 3793"/>
                <a:gd name="T11" fmla="*/ 1867 h 2148"/>
                <a:gd name="T12" fmla="*/ 1515 w 3793"/>
                <a:gd name="T13" fmla="*/ 1867 h 2148"/>
                <a:gd name="T14" fmla="*/ 259 w 3793"/>
                <a:gd name="T15" fmla="*/ 2147 h 2148"/>
                <a:gd name="T16" fmla="*/ 600 w 3793"/>
                <a:gd name="T17" fmla="*/ 1867 h 2148"/>
                <a:gd name="T18" fmla="*/ 530 w 3793"/>
                <a:gd name="T19" fmla="*/ 1867 h 2148"/>
                <a:gd name="T20" fmla="*/ 0 w 3793"/>
                <a:gd name="T21" fmla="*/ 1606 h 2148"/>
                <a:gd name="T22" fmla="*/ 0 w 3793"/>
                <a:gd name="T23" fmla="*/ 261 h 2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93"/>
                <a:gd name="T37" fmla="*/ 0 h 2148"/>
                <a:gd name="T38" fmla="*/ 3793 w 3793"/>
                <a:gd name="T39" fmla="*/ 2148 h 2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93" h="2148">
                  <a:moveTo>
                    <a:pt x="0" y="261"/>
                  </a:moveTo>
                  <a:cubicBezTo>
                    <a:pt x="0" y="0"/>
                    <a:pt x="0" y="0"/>
                    <a:pt x="530" y="0"/>
                  </a:cubicBezTo>
                  <a:lnTo>
                    <a:pt x="3262" y="0"/>
                  </a:lnTo>
                  <a:cubicBezTo>
                    <a:pt x="3792" y="0"/>
                    <a:pt x="3792" y="0"/>
                    <a:pt x="3792" y="261"/>
                  </a:cubicBezTo>
                  <a:lnTo>
                    <a:pt x="3792" y="1606"/>
                  </a:lnTo>
                  <a:cubicBezTo>
                    <a:pt x="3792" y="1867"/>
                    <a:pt x="3792" y="1867"/>
                    <a:pt x="3262" y="1867"/>
                  </a:cubicBezTo>
                  <a:lnTo>
                    <a:pt x="1515" y="1867"/>
                  </a:lnTo>
                  <a:lnTo>
                    <a:pt x="259" y="2147"/>
                  </a:lnTo>
                  <a:lnTo>
                    <a:pt x="600" y="1867"/>
                  </a:lnTo>
                  <a:lnTo>
                    <a:pt x="530" y="1867"/>
                  </a:lnTo>
                  <a:cubicBezTo>
                    <a:pt x="0" y="1867"/>
                    <a:pt x="0" y="1867"/>
                    <a:pt x="0" y="1606"/>
                  </a:cubicBezTo>
                  <a:lnTo>
                    <a:pt x="0" y="261"/>
                  </a:lnTo>
                </a:path>
              </a:pathLst>
            </a:custGeom>
            <a:solidFill>
              <a:srgbClr val="0000FF"/>
            </a:solidFill>
            <a:ln w="12600">
              <a:solidFill>
                <a:srgbClr val="E0E0E0"/>
              </a:solidFill>
              <a:round/>
              <a:headEnd/>
              <a:tailEnd/>
            </a:ln>
          </p:spPr>
          <p:txBody>
            <a:bodyPr wrap="none" anchor="ctr"/>
            <a:lstStyle/>
            <a:p>
              <a:endParaRPr lang="en-US"/>
            </a:p>
          </p:txBody>
        </p:sp>
        <p:sp>
          <p:nvSpPr>
            <p:cNvPr id="21537" name="AutoShape 48"/>
            <p:cNvSpPr>
              <a:spLocks noChangeArrowheads="1"/>
            </p:cNvSpPr>
            <p:nvPr/>
          </p:nvSpPr>
          <p:spPr bwMode="auto">
            <a:xfrm>
              <a:off x="3002" y="2564"/>
              <a:ext cx="860" cy="487"/>
            </a:xfrm>
            <a:prstGeom prst="roundRect">
              <a:avLst>
                <a:gd name="adj" fmla="val 204"/>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Not me.</a:t>
              </a:r>
            </a:p>
          </p:txBody>
        </p:sp>
      </p:grpSp>
    </p:spTree>
  </p:cSld>
  <p:clrMapOvr>
    <a:masterClrMapping/>
  </p:clrMapOvr>
  <p:transition>
    <p:check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Searching for a Key</a:t>
            </a:r>
          </a:p>
        </p:txBody>
      </p:sp>
      <p:sp>
        <p:nvSpPr>
          <p:cNvPr id="22531" name="Rectangle 2"/>
          <p:cNvSpPr>
            <a:spLocks noGrp="1" noChangeArrowheads="1"/>
          </p:cNvSpPr>
          <p:nvPr>
            <p:ph type="body" idx="1"/>
          </p:nvPr>
        </p:nvSpPr>
        <p:spPr>
          <a:xfrm>
            <a:off x="685800" y="1774825"/>
            <a:ext cx="510222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effectLst/>
              </a:rPr>
              <a:t>Keep moving forward until you find the key, or you reach an empty spot.</a:t>
            </a:r>
          </a:p>
        </p:txBody>
      </p:sp>
      <p:sp>
        <p:nvSpPr>
          <p:cNvPr id="22532"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22533"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2534"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22535"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22536"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22537"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22538"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22539"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22540"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22541"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22542"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22543"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22544"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22545"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22546"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2547"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22548" name="Group 19"/>
          <p:cNvGrpSpPr>
            <a:grpSpLocks/>
          </p:cNvGrpSpPr>
          <p:nvPr/>
        </p:nvGrpSpPr>
        <p:grpSpPr bwMode="auto">
          <a:xfrm>
            <a:off x="4598988" y="5475288"/>
            <a:ext cx="674687" cy="517525"/>
            <a:chOff x="2897" y="3449"/>
            <a:chExt cx="425" cy="326"/>
          </a:xfrm>
        </p:grpSpPr>
        <p:sp>
          <p:nvSpPr>
            <p:cNvPr id="22576"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22577"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22549" name="Group 22"/>
          <p:cNvGrpSpPr>
            <a:grpSpLocks/>
          </p:cNvGrpSpPr>
          <p:nvPr/>
        </p:nvGrpSpPr>
        <p:grpSpPr bwMode="auto">
          <a:xfrm>
            <a:off x="2822575" y="5449888"/>
            <a:ext cx="674688" cy="568325"/>
            <a:chOff x="1778" y="3433"/>
            <a:chExt cx="425" cy="358"/>
          </a:xfrm>
        </p:grpSpPr>
        <p:sp>
          <p:nvSpPr>
            <p:cNvPr id="22574"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22575"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22550" name="Group 25"/>
          <p:cNvGrpSpPr>
            <a:grpSpLocks/>
          </p:cNvGrpSpPr>
          <p:nvPr/>
        </p:nvGrpSpPr>
        <p:grpSpPr bwMode="auto">
          <a:xfrm>
            <a:off x="1906588" y="5445125"/>
            <a:ext cx="620712" cy="576263"/>
            <a:chOff x="1201" y="3430"/>
            <a:chExt cx="391" cy="363"/>
          </a:xfrm>
        </p:grpSpPr>
        <p:sp>
          <p:nvSpPr>
            <p:cNvPr id="22572"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22573"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22551" name="Group 28"/>
          <p:cNvGrpSpPr>
            <a:grpSpLocks/>
          </p:cNvGrpSpPr>
          <p:nvPr/>
        </p:nvGrpSpPr>
        <p:grpSpPr bwMode="auto">
          <a:xfrm>
            <a:off x="7764463" y="5480050"/>
            <a:ext cx="725487" cy="506413"/>
            <a:chOff x="4891" y="3452"/>
            <a:chExt cx="457" cy="319"/>
          </a:xfrm>
        </p:grpSpPr>
        <p:sp>
          <p:nvSpPr>
            <p:cNvPr id="22570"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22571"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22552" name="Group 31"/>
          <p:cNvGrpSpPr>
            <a:grpSpLocks/>
          </p:cNvGrpSpPr>
          <p:nvPr/>
        </p:nvGrpSpPr>
        <p:grpSpPr bwMode="auto">
          <a:xfrm>
            <a:off x="6596063" y="4014788"/>
            <a:ext cx="1309687" cy="2830512"/>
            <a:chOff x="4155" y="2529"/>
            <a:chExt cx="825" cy="1783"/>
          </a:xfrm>
        </p:grpSpPr>
        <p:sp>
          <p:nvSpPr>
            <p:cNvPr id="22568"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22569"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22553" name="Group 34"/>
          <p:cNvGrpSpPr>
            <a:grpSpLocks/>
          </p:cNvGrpSpPr>
          <p:nvPr/>
        </p:nvGrpSpPr>
        <p:grpSpPr bwMode="auto">
          <a:xfrm>
            <a:off x="3713163" y="5465763"/>
            <a:ext cx="620712" cy="557212"/>
            <a:chOff x="2339" y="3443"/>
            <a:chExt cx="391" cy="351"/>
          </a:xfrm>
        </p:grpSpPr>
        <p:pic>
          <p:nvPicPr>
            <p:cNvPr id="22566"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22567"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22554" name="Group 37"/>
          <p:cNvGrpSpPr>
            <a:grpSpLocks/>
          </p:cNvGrpSpPr>
          <p:nvPr/>
        </p:nvGrpSpPr>
        <p:grpSpPr bwMode="auto">
          <a:xfrm>
            <a:off x="5548313" y="5454650"/>
            <a:ext cx="620712" cy="549275"/>
            <a:chOff x="3495" y="3436"/>
            <a:chExt cx="391" cy="346"/>
          </a:xfrm>
        </p:grpSpPr>
        <p:pic>
          <p:nvPicPr>
            <p:cNvPr id="22564"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22565"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
        <p:nvSpPr>
          <p:cNvPr id="22555" name="AutoShape 4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22556" name="Oval 41"/>
          <p:cNvSpPr>
            <a:spLocks noChangeArrowheads="1"/>
          </p:cNvSpPr>
          <p:nvPr/>
        </p:nvSpPr>
        <p:spPr bwMode="auto">
          <a:xfrm>
            <a:off x="6864350" y="895350"/>
            <a:ext cx="1874838" cy="858838"/>
          </a:xfrm>
          <a:prstGeom prst="ellipse">
            <a:avLst/>
          </a:prstGeom>
          <a:solidFill>
            <a:srgbClr val="0000FF"/>
          </a:solidFill>
          <a:ln w="12600">
            <a:solidFill>
              <a:srgbClr val="E0E0E0"/>
            </a:solidFill>
            <a:round/>
            <a:headEnd/>
            <a:tailEnd/>
          </a:ln>
        </p:spPr>
        <p:txBody>
          <a:bodyPr wrap="none" anchor="ctr"/>
          <a:lstStyle/>
          <a:p>
            <a:endParaRPr lang="en-US"/>
          </a:p>
        </p:txBody>
      </p:sp>
      <p:sp>
        <p:nvSpPr>
          <p:cNvPr id="22557" name="AutoShape 42"/>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701466868</a:t>
            </a:r>
          </a:p>
        </p:txBody>
      </p:sp>
      <p:grpSp>
        <p:nvGrpSpPr>
          <p:cNvPr id="22558" name="Group 43"/>
          <p:cNvGrpSpPr>
            <a:grpSpLocks/>
          </p:cNvGrpSpPr>
          <p:nvPr/>
        </p:nvGrpSpPr>
        <p:grpSpPr bwMode="auto">
          <a:xfrm>
            <a:off x="7323138" y="3090863"/>
            <a:ext cx="1800225" cy="1290637"/>
            <a:chOff x="4613" y="1947"/>
            <a:chExt cx="1134" cy="813"/>
          </a:xfrm>
        </p:grpSpPr>
        <p:sp>
          <p:nvSpPr>
            <p:cNvPr id="22562" name="Freeform 44"/>
            <p:cNvSpPr>
              <a:spLocks noChangeArrowheads="1"/>
            </p:cNvSpPr>
            <p:nvPr/>
          </p:nvSpPr>
          <p:spPr bwMode="auto">
            <a:xfrm>
              <a:off x="4613" y="1947"/>
              <a:ext cx="1134" cy="814"/>
            </a:xfrm>
            <a:custGeom>
              <a:avLst/>
              <a:gdLst>
                <a:gd name="T0" fmla="*/ 0 w 5002"/>
                <a:gd name="T1" fmla="*/ 3153 h 3590"/>
                <a:gd name="T2" fmla="*/ 699 w 5002"/>
                <a:gd name="T3" fmla="*/ 3589 h 3590"/>
                <a:gd name="T4" fmla="*/ 4302 w 5002"/>
                <a:gd name="T5" fmla="*/ 3589 h 3590"/>
                <a:gd name="T6" fmla="*/ 5001 w 5002"/>
                <a:gd name="T7" fmla="*/ 3153 h 3590"/>
                <a:gd name="T8" fmla="*/ 5001 w 5002"/>
                <a:gd name="T9" fmla="*/ 904 h 3590"/>
                <a:gd name="T10" fmla="*/ 4302 w 5002"/>
                <a:gd name="T11" fmla="*/ 468 h 3590"/>
                <a:gd name="T12" fmla="*/ 1999 w 5002"/>
                <a:gd name="T13" fmla="*/ 468 h 3590"/>
                <a:gd name="T14" fmla="*/ 342 w 5002"/>
                <a:gd name="T15" fmla="*/ 0 h 3590"/>
                <a:gd name="T16" fmla="*/ 791 w 5002"/>
                <a:gd name="T17" fmla="*/ 468 h 3590"/>
                <a:gd name="T18" fmla="*/ 699 w 5002"/>
                <a:gd name="T19" fmla="*/ 468 h 3590"/>
                <a:gd name="T20" fmla="*/ 0 w 5002"/>
                <a:gd name="T21" fmla="*/ 904 h 3590"/>
                <a:gd name="T22" fmla="*/ 0 w 5002"/>
                <a:gd name="T23" fmla="*/ 3153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22563" name="AutoShape 45"/>
            <p:cNvSpPr>
              <a:spLocks noChangeArrowheads="1"/>
            </p:cNvSpPr>
            <p:nvPr/>
          </p:nvSpPr>
          <p:spPr bwMode="auto">
            <a:xfrm>
              <a:off x="4614" y="1947"/>
              <a:ext cx="1134" cy="814"/>
            </a:xfrm>
            <a:prstGeom prst="roundRect">
              <a:avLst>
                <a:gd name="adj" fmla="val 120"/>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My hash</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value is [2].</a:t>
              </a:r>
            </a:p>
          </p:txBody>
        </p:sp>
      </p:grpSp>
      <p:grpSp>
        <p:nvGrpSpPr>
          <p:cNvPr id="22559" name="Group 46"/>
          <p:cNvGrpSpPr>
            <a:grpSpLocks/>
          </p:cNvGrpSpPr>
          <p:nvPr/>
        </p:nvGrpSpPr>
        <p:grpSpPr bwMode="auto">
          <a:xfrm>
            <a:off x="5673725" y="4070350"/>
            <a:ext cx="1363663" cy="771525"/>
            <a:chOff x="3574" y="2564"/>
            <a:chExt cx="859" cy="486"/>
          </a:xfrm>
        </p:grpSpPr>
        <p:sp>
          <p:nvSpPr>
            <p:cNvPr id="22560" name="Freeform 47"/>
            <p:cNvSpPr>
              <a:spLocks noChangeArrowheads="1"/>
            </p:cNvSpPr>
            <p:nvPr/>
          </p:nvSpPr>
          <p:spPr bwMode="auto">
            <a:xfrm>
              <a:off x="3574" y="2564"/>
              <a:ext cx="860" cy="487"/>
            </a:xfrm>
            <a:custGeom>
              <a:avLst/>
              <a:gdLst>
                <a:gd name="T0" fmla="*/ 0 w 3794"/>
                <a:gd name="T1" fmla="*/ 261 h 2148"/>
                <a:gd name="T2" fmla="*/ 530 w 3794"/>
                <a:gd name="T3" fmla="*/ 0 h 2148"/>
                <a:gd name="T4" fmla="*/ 3263 w 3794"/>
                <a:gd name="T5" fmla="*/ 0 h 2148"/>
                <a:gd name="T6" fmla="*/ 3793 w 3794"/>
                <a:gd name="T7" fmla="*/ 261 h 2148"/>
                <a:gd name="T8" fmla="*/ 3793 w 3794"/>
                <a:gd name="T9" fmla="*/ 1606 h 2148"/>
                <a:gd name="T10" fmla="*/ 3263 w 3794"/>
                <a:gd name="T11" fmla="*/ 1867 h 2148"/>
                <a:gd name="T12" fmla="*/ 1516 w 3794"/>
                <a:gd name="T13" fmla="*/ 1867 h 2148"/>
                <a:gd name="T14" fmla="*/ 260 w 3794"/>
                <a:gd name="T15" fmla="*/ 2147 h 2148"/>
                <a:gd name="T16" fmla="*/ 600 w 3794"/>
                <a:gd name="T17" fmla="*/ 1867 h 2148"/>
                <a:gd name="T18" fmla="*/ 530 w 3794"/>
                <a:gd name="T19" fmla="*/ 1867 h 2148"/>
                <a:gd name="T20" fmla="*/ 0 w 3794"/>
                <a:gd name="T21" fmla="*/ 1606 h 2148"/>
                <a:gd name="T22" fmla="*/ 0 w 3794"/>
                <a:gd name="T23" fmla="*/ 261 h 2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94"/>
                <a:gd name="T37" fmla="*/ 0 h 2148"/>
                <a:gd name="T38" fmla="*/ 3794 w 3794"/>
                <a:gd name="T39" fmla="*/ 2148 h 2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94" h="2148">
                  <a:moveTo>
                    <a:pt x="0" y="261"/>
                  </a:moveTo>
                  <a:cubicBezTo>
                    <a:pt x="0" y="0"/>
                    <a:pt x="0" y="0"/>
                    <a:pt x="530" y="0"/>
                  </a:cubicBezTo>
                  <a:lnTo>
                    <a:pt x="3263" y="0"/>
                  </a:lnTo>
                  <a:cubicBezTo>
                    <a:pt x="3793" y="0"/>
                    <a:pt x="3793" y="0"/>
                    <a:pt x="3793" y="261"/>
                  </a:cubicBezTo>
                  <a:lnTo>
                    <a:pt x="3793" y="1606"/>
                  </a:lnTo>
                  <a:cubicBezTo>
                    <a:pt x="3793" y="1867"/>
                    <a:pt x="3793" y="1867"/>
                    <a:pt x="3263" y="1867"/>
                  </a:cubicBezTo>
                  <a:lnTo>
                    <a:pt x="1516" y="1867"/>
                  </a:lnTo>
                  <a:lnTo>
                    <a:pt x="260" y="2147"/>
                  </a:lnTo>
                  <a:lnTo>
                    <a:pt x="600" y="1867"/>
                  </a:lnTo>
                  <a:lnTo>
                    <a:pt x="530" y="1867"/>
                  </a:lnTo>
                  <a:cubicBezTo>
                    <a:pt x="0" y="1867"/>
                    <a:pt x="0" y="1867"/>
                    <a:pt x="0" y="1606"/>
                  </a:cubicBezTo>
                  <a:lnTo>
                    <a:pt x="0" y="261"/>
                  </a:lnTo>
                </a:path>
              </a:pathLst>
            </a:custGeom>
            <a:solidFill>
              <a:srgbClr val="0000FF"/>
            </a:solidFill>
            <a:ln w="12600">
              <a:solidFill>
                <a:srgbClr val="E0E0E0"/>
              </a:solidFill>
              <a:round/>
              <a:headEnd/>
              <a:tailEnd/>
            </a:ln>
          </p:spPr>
          <p:txBody>
            <a:bodyPr wrap="none" anchor="ctr"/>
            <a:lstStyle/>
            <a:p>
              <a:endParaRPr lang="en-US"/>
            </a:p>
          </p:txBody>
        </p:sp>
        <p:sp>
          <p:nvSpPr>
            <p:cNvPr id="22561" name="AutoShape 48"/>
            <p:cNvSpPr>
              <a:spLocks noChangeArrowheads="1"/>
            </p:cNvSpPr>
            <p:nvPr/>
          </p:nvSpPr>
          <p:spPr bwMode="auto">
            <a:xfrm>
              <a:off x="3574" y="2564"/>
              <a:ext cx="860" cy="487"/>
            </a:xfrm>
            <a:prstGeom prst="roundRect">
              <a:avLst>
                <a:gd name="adj" fmla="val 204"/>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Yes!</a:t>
              </a:r>
            </a:p>
          </p:txBody>
        </p:sp>
      </p:grpSp>
    </p:spTree>
  </p:cSld>
  <p:clrMapOvr>
    <a:masterClrMapping/>
  </p:clrMapOvr>
  <p:transition>
    <p:check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Searching for a Key</a:t>
            </a:r>
          </a:p>
        </p:txBody>
      </p:sp>
      <p:sp>
        <p:nvSpPr>
          <p:cNvPr id="23555" name="Rectangle 2"/>
          <p:cNvSpPr>
            <a:spLocks noGrp="1" noChangeArrowheads="1"/>
          </p:cNvSpPr>
          <p:nvPr>
            <p:ph type="body" idx="1"/>
          </p:nvPr>
        </p:nvSpPr>
        <p:spPr>
          <a:xfrm>
            <a:off x="685800" y="1774825"/>
            <a:ext cx="510222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When the item is found, the information can be copied to the necessary location.</a:t>
            </a:r>
          </a:p>
        </p:txBody>
      </p:sp>
      <p:sp>
        <p:nvSpPr>
          <p:cNvPr id="23556"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23557"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3558"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23559"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23560"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23561"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23562"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23563"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23564"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23565"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23566"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23567"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23568"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23569"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23570"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3571"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23572" name="Group 19"/>
          <p:cNvGrpSpPr>
            <a:grpSpLocks/>
          </p:cNvGrpSpPr>
          <p:nvPr/>
        </p:nvGrpSpPr>
        <p:grpSpPr bwMode="auto">
          <a:xfrm>
            <a:off x="4598988" y="5475288"/>
            <a:ext cx="674687" cy="517525"/>
            <a:chOff x="2897" y="3449"/>
            <a:chExt cx="425" cy="326"/>
          </a:xfrm>
        </p:grpSpPr>
        <p:sp>
          <p:nvSpPr>
            <p:cNvPr id="23606"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23607"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23573" name="Group 22"/>
          <p:cNvGrpSpPr>
            <a:grpSpLocks/>
          </p:cNvGrpSpPr>
          <p:nvPr/>
        </p:nvGrpSpPr>
        <p:grpSpPr bwMode="auto">
          <a:xfrm>
            <a:off x="2822575" y="5449888"/>
            <a:ext cx="674688" cy="568325"/>
            <a:chOff x="1778" y="3433"/>
            <a:chExt cx="425" cy="358"/>
          </a:xfrm>
        </p:grpSpPr>
        <p:sp>
          <p:nvSpPr>
            <p:cNvPr id="23604"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23605"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23574" name="Group 25"/>
          <p:cNvGrpSpPr>
            <a:grpSpLocks/>
          </p:cNvGrpSpPr>
          <p:nvPr/>
        </p:nvGrpSpPr>
        <p:grpSpPr bwMode="auto">
          <a:xfrm>
            <a:off x="1906588" y="5445125"/>
            <a:ext cx="620712" cy="576263"/>
            <a:chOff x="1201" y="3430"/>
            <a:chExt cx="391" cy="363"/>
          </a:xfrm>
        </p:grpSpPr>
        <p:sp>
          <p:nvSpPr>
            <p:cNvPr id="23602"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23603"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23575" name="Group 28"/>
          <p:cNvGrpSpPr>
            <a:grpSpLocks/>
          </p:cNvGrpSpPr>
          <p:nvPr/>
        </p:nvGrpSpPr>
        <p:grpSpPr bwMode="auto">
          <a:xfrm>
            <a:off x="7764463" y="5480050"/>
            <a:ext cx="725487" cy="506413"/>
            <a:chOff x="4891" y="3452"/>
            <a:chExt cx="457" cy="319"/>
          </a:xfrm>
        </p:grpSpPr>
        <p:sp>
          <p:nvSpPr>
            <p:cNvPr id="23600"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23601"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23576" name="Group 31"/>
          <p:cNvGrpSpPr>
            <a:grpSpLocks/>
          </p:cNvGrpSpPr>
          <p:nvPr/>
        </p:nvGrpSpPr>
        <p:grpSpPr bwMode="auto">
          <a:xfrm>
            <a:off x="6596063" y="4014788"/>
            <a:ext cx="1309687" cy="2830512"/>
            <a:chOff x="4155" y="2529"/>
            <a:chExt cx="825" cy="1783"/>
          </a:xfrm>
        </p:grpSpPr>
        <p:sp>
          <p:nvSpPr>
            <p:cNvPr id="23598"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23599"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23577" name="Group 34"/>
          <p:cNvGrpSpPr>
            <a:grpSpLocks/>
          </p:cNvGrpSpPr>
          <p:nvPr/>
        </p:nvGrpSpPr>
        <p:grpSpPr bwMode="auto">
          <a:xfrm>
            <a:off x="3713163" y="5465763"/>
            <a:ext cx="620712" cy="557212"/>
            <a:chOff x="2339" y="3443"/>
            <a:chExt cx="391" cy="351"/>
          </a:xfrm>
        </p:grpSpPr>
        <p:pic>
          <p:nvPicPr>
            <p:cNvPr id="23596"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23597"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23578" name="Group 37"/>
          <p:cNvGrpSpPr>
            <a:grpSpLocks/>
          </p:cNvGrpSpPr>
          <p:nvPr/>
        </p:nvGrpSpPr>
        <p:grpSpPr bwMode="auto">
          <a:xfrm>
            <a:off x="5548313" y="5454650"/>
            <a:ext cx="620712" cy="549275"/>
            <a:chOff x="3495" y="3436"/>
            <a:chExt cx="391" cy="346"/>
          </a:xfrm>
        </p:grpSpPr>
        <p:pic>
          <p:nvPicPr>
            <p:cNvPr id="23594"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23595"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
        <p:nvSpPr>
          <p:cNvPr id="23579" name="AutoShape 40"/>
          <p:cNvSpPr>
            <a:spLocks noChangeArrowheads="1"/>
          </p:cNvSpPr>
          <p:nvPr/>
        </p:nvSpPr>
        <p:spPr bwMode="auto">
          <a:xfrm>
            <a:off x="6029325" y="912813"/>
            <a:ext cx="2589213" cy="2474912"/>
          </a:xfrm>
          <a:prstGeom prst="roundRect">
            <a:avLst>
              <a:gd name="adj" fmla="val 60"/>
            </a:avLst>
          </a:prstGeom>
          <a:solidFill>
            <a:srgbClr val="8080FF"/>
          </a:solidFill>
          <a:ln w="12600">
            <a:solidFill>
              <a:srgbClr val="E0E0E0"/>
            </a:solidFill>
            <a:round/>
            <a:headEnd/>
            <a:tailEnd/>
          </a:ln>
        </p:spPr>
        <p:txBody>
          <a:bodyPr wrap="none" anchor="ctr"/>
          <a:lstStyle/>
          <a:p>
            <a:endParaRPr lang="en-US"/>
          </a:p>
        </p:txBody>
      </p:sp>
      <p:sp>
        <p:nvSpPr>
          <p:cNvPr id="23580" name="AutoShape 41"/>
          <p:cNvSpPr>
            <a:spLocks noChangeArrowheads="1"/>
          </p:cNvSpPr>
          <p:nvPr/>
        </p:nvSpPr>
        <p:spPr bwMode="auto">
          <a:xfrm>
            <a:off x="6156325" y="1103313"/>
            <a:ext cx="2271713" cy="433387"/>
          </a:xfrm>
          <a:prstGeom prst="roundRect">
            <a:avLst>
              <a:gd name="adj" fmla="val 431"/>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Number </a:t>
            </a:r>
            <a:r>
              <a:rPr lang="en-GB" sz="1600" b="1">
                <a:solidFill>
                  <a:schemeClr val="tx1"/>
                </a:solidFill>
              </a:rPr>
              <a:t>701466868</a:t>
            </a:r>
          </a:p>
        </p:txBody>
      </p:sp>
      <p:grpSp>
        <p:nvGrpSpPr>
          <p:cNvPr id="23581" name="Group 42"/>
          <p:cNvGrpSpPr>
            <a:grpSpLocks/>
          </p:cNvGrpSpPr>
          <p:nvPr/>
        </p:nvGrpSpPr>
        <p:grpSpPr bwMode="auto">
          <a:xfrm>
            <a:off x="7323138" y="3090863"/>
            <a:ext cx="1800225" cy="1290637"/>
            <a:chOff x="4613" y="1947"/>
            <a:chExt cx="1134" cy="813"/>
          </a:xfrm>
        </p:grpSpPr>
        <p:sp>
          <p:nvSpPr>
            <p:cNvPr id="23592" name="Freeform 43"/>
            <p:cNvSpPr>
              <a:spLocks noChangeArrowheads="1"/>
            </p:cNvSpPr>
            <p:nvPr/>
          </p:nvSpPr>
          <p:spPr bwMode="auto">
            <a:xfrm>
              <a:off x="4613" y="1947"/>
              <a:ext cx="1134" cy="814"/>
            </a:xfrm>
            <a:custGeom>
              <a:avLst/>
              <a:gdLst>
                <a:gd name="T0" fmla="*/ 0 w 5002"/>
                <a:gd name="T1" fmla="*/ 3153 h 3590"/>
                <a:gd name="T2" fmla="*/ 699 w 5002"/>
                <a:gd name="T3" fmla="*/ 3589 h 3590"/>
                <a:gd name="T4" fmla="*/ 4302 w 5002"/>
                <a:gd name="T5" fmla="*/ 3589 h 3590"/>
                <a:gd name="T6" fmla="*/ 5001 w 5002"/>
                <a:gd name="T7" fmla="*/ 3153 h 3590"/>
                <a:gd name="T8" fmla="*/ 5001 w 5002"/>
                <a:gd name="T9" fmla="*/ 904 h 3590"/>
                <a:gd name="T10" fmla="*/ 4302 w 5002"/>
                <a:gd name="T11" fmla="*/ 468 h 3590"/>
                <a:gd name="T12" fmla="*/ 1999 w 5002"/>
                <a:gd name="T13" fmla="*/ 468 h 3590"/>
                <a:gd name="T14" fmla="*/ 342 w 5002"/>
                <a:gd name="T15" fmla="*/ 0 h 3590"/>
                <a:gd name="T16" fmla="*/ 791 w 5002"/>
                <a:gd name="T17" fmla="*/ 468 h 3590"/>
                <a:gd name="T18" fmla="*/ 699 w 5002"/>
                <a:gd name="T19" fmla="*/ 468 h 3590"/>
                <a:gd name="T20" fmla="*/ 0 w 5002"/>
                <a:gd name="T21" fmla="*/ 904 h 3590"/>
                <a:gd name="T22" fmla="*/ 0 w 5002"/>
                <a:gd name="T23" fmla="*/ 3153 h 35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002"/>
                <a:gd name="T37" fmla="*/ 0 h 3590"/>
                <a:gd name="T38" fmla="*/ 5002 w 5002"/>
                <a:gd name="T39" fmla="*/ 3590 h 35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002" h="3590">
                  <a:moveTo>
                    <a:pt x="0" y="3153"/>
                  </a:moveTo>
                  <a:cubicBezTo>
                    <a:pt x="0" y="3589"/>
                    <a:pt x="0" y="3589"/>
                    <a:pt x="699" y="3589"/>
                  </a:cubicBezTo>
                  <a:lnTo>
                    <a:pt x="4302" y="3589"/>
                  </a:lnTo>
                  <a:cubicBezTo>
                    <a:pt x="5001" y="3589"/>
                    <a:pt x="5001" y="3589"/>
                    <a:pt x="5001" y="3153"/>
                  </a:cubicBezTo>
                  <a:lnTo>
                    <a:pt x="5001" y="904"/>
                  </a:lnTo>
                  <a:cubicBezTo>
                    <a:pt x="5001" y="468"/>
                    <a:pt x="5001" y="468"/>
                    <a:pt x="4302" y="468"/>
                  </a:cubicBezTo>
                  <a:lnTo>
                    <a:pt x="1999" y="468"/>
                  </a:lnTo>
                  <a:lnTo>
                    <a:pt x="342" y="0"/>
                  </a:lnTo>
                  <a:lnTo>
                    <a:pt x="791" y="468"/>
                  </a:lnTo>
                  <a:lnTo>
                    <a:pt x="699" y="468"/>
                  </a:lnTo>
                  <a:cubicBezTo>
                    <a:pt x="0" y="468"/>
                    <a:pt x="0" y="468"/>
                    <a:pt x="0" y="904"/>
                  </a:cubicBezTo>
                  <a:lnTo>
                    <a:pt x="0" y="3153"/>
                  </a:lnTo>
                </a:path>
              </a:pathLst>
            </a:custGeom>
            <a:solidFill>
              <a:srgbClr val="0000FF"/>
            </a:solidFill>
            <a:ln w="12600">
              <a:solidFill>
                <a:srgbClr val="E0E0E0"/>
              </a:solidFill>
              <a:round/>
              <a:headEnd/>
              <a:tailEnd/>
            </a:ln>
          </p:spPr>
          <p:txBody>
            <a:bodyPr wrap="none" anchor="ctr"/>
            <a:lstStyle/>
            <a:p>
              <a:endParaRPr lang="en-US"/>
            </a:p>
          </p:txBody>
        </p:sp>
        <p:sp>
          <p:nvSpPr>
            <p:cNvPr id="23593" name="AutoShape 44"/>
            <p:cNvSpPr>
              <a:spLocks noChangeArrowheads="1"/>
            </p:cNvSpPr>
            <p:nvPr/>
          </p:nvSpPr>
          <p:spPr bwMode="auto">
            <a:xfrm>
              <a:off x="4614" y="1947"/>
              <a:ext cx="1134" cy="814"/>
            </a:xfrm>
            <a:prstGeom prst="roundRect">
              <a:avLst>
                <a:gd name="adj" fmla="val 120"/>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My hash</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value is [2].</a:t>
              </a:r>
            </a:p>
          </p:txBody>
        </p:sp>
      </p:grpSp>
      <p:grpSp>
        <p:nvGrpSpPr>
          <p:cNvPr id="23582" name="Group 45"/>
          <p:cNvGrpSpPr>
            <a:grpSpLocks/>
          </p:cNvGrpSpPr>
          <p:nvPr/>
        </p:nvGrpSpPr>
        <p:grpSpPr bwMode="auto">
          <a:xfrm>
            <a:off x="5673725" y="4070350"/>
            <a:ext cx="1363663" cy="771525"/>
            <a:chOff x="3574" y="2564"/>
            <a:chExt cx="859" cy="486"/>
          </a:xfrm>
        </p:grpSpPr>
        <p:sp>
          <p:nvSpPr>
            <p:cNvPr id="23590" name="Freeform 46"/>
            <p:cNvSpPr>
              <a:spLocks noChangeArrowheads="1"/>
            </p:cNvSpPr>
            <p:nvPr/>
          </p:nvSpPr>
          <p:spPr bwMode="auto">
            <a:xfrm>
              <a:off x="3574" y="2564"/>
              <a:ext cx="860" cy="487"/>
            </a:xfrm>
            <a:custGeom>
              <a:avLst/>
              <a:gdLst>
                <a:gd name="T0" fmla="*/ 0 w 3794"/>
                <a:gd name="T1" fmla="*/ 261 h 2148"/>
                <a:gd name="T2" fmla="*/ 530 w 3794"/>
                <a:gd name="T3" fmla="*/ 0 h 2148"/>
                <a:gd name="T4" fmla="*/ 3263 w 3794"/>
                <a:gd name="T5" fmla="*/ 0 h 2148"/>
                <a:gd name="T6" fmla="*/ 3793 w 3794"/>
                <a:gd name="T7" fmla="*/ 261 h 2148"/>
                <a:gd name="T8" fmla="*/ 3793 w 3794"/>
                <a:gd name="T9" fmla="*/ 1606 h 2148"/>
                <a:gd name="T10" fmla="*/ 3263 w 3794"/>
                <a:gd name="T11" fmla="*/ 1867 h 2148"/>
                <a:gd name="T12" fmla="*/ 1516 w 3794"/>
                <a:gd name="T13" fmla="*/ 1867 h 2148"/>
                <a:gd name="T14" fmla="*/ 260 w 3794"/>
                <a:gd name="T15" fmla="*/ 2147 h 2148"/>
                <a:gd name="T16" fmla="*/ 600 w 3794"/>
                <a:gd name="T17" fmla="*/ 1867 h 2148"/>
                <a:gd name="T18" fmla="*/ 530 w 3794"/>
                <a:gd name="T19" fmla="*/ 1867 h 2148"/>
                <a:gd name="T20" fmla="*/ 0 w 3794"/>
                <a:gd name="T21" fmla="*/ 1606 h 2148"/>
                <a:gd name="T22" fmla="*/ 0 w 3794"/>
                <a:gd name="T23" fmla="*/ 261 h 2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94"/>
                <a:gd name="T37" fmla="*/ 0 h 2148"/>
                <a:gd name="T38" fmla="*/ 3794 w 3794"/>
                <a:gd name="T39" fmla="*/ 2148 h 21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94" h="2148">
                  <a:moveTo>
                    <a:pt x="0" y="261"/>
                  </a:moveTo>
                  <a:cubicBezTo>
                    <a:pt x="0" y="0"/>
                    <a:pt x="0" y="0"/>
                    <a:pt x="530" y="0"/>
                  </a:cubicBezTo>
                  <a:lnTo>
                    <a:pt x="3263" y="0"/>
                  </a:lnTo>
                  <a:cubicBezTo>
                    <a:pt x="3793" y="0"/>
                    <a:pt x="3793" y="0"/>
                    <a:pt x="3793" y="261"/>
                  </a:cubicBezTo>
                  <a:lnTo>
                    <a:pt x="3793" y="1606"/>
                  </a:lnTo>
                  <a:cubicBezTo>
                    <a:pt x="3793" y="1867"/>
                    <a:pt x="3793" y="1867"/>
                    <a:pt x="3263" y="1867"/>
                  </a:cubicBezTo>
                  <a:lnTo>
                    <a:pt x="1516" y="1867"/>
                  </a:lnTo>
                  <a:lnTo>
                    <a:pt x="260" y="2147"/>
                  </a:lnTo>
                  <a:lnTo>
                    <a:pt x="600" y="1867"/>
                  </a:lnTo>
                  <a:lnTo>
                    <a:pt x="530" y="1867"/>
                  </a:lnTo>
                  <a:cubicBezTo>
                    <a:pt x="0" y="1867"/>
                    <a:pt x="0" y="1867"/>
                    <a:pt x="0" y="1606"/>
                  </a:cubicBezTo>
                  <a:lnTo>
                    <a:pt x="0" y="261"/>
                  </a:lnTo>
                </a:path>
              </a:pathLst>
            </a:custGeom>
            <a:solidFill>
              <a:srgbClr val="0000FF"/>
            </a:solidFill>
            <a:ln w="12600">
              <a:solidFill>
                <a:srgbClr val="E0E0E0"/>
              </a:solidFill>
              <a:round/>
              <a:headEnd/>
              <a:tailEnd/>
            </a:ln>
          </p:spPr>
          <p:txBody>
            <a:bodyPr wrap="none" anchor="ctr"/>
            <a:lstStyle/>
            <a:p>
              <a:endParaRPr lang="en-US"/>
            </a:p>
          </p:txBody>
        </p:sp>
        <p:sp>
          <p:nvSpPr>
            <p:cNvPr id="23591" name="AutoShape 47"/>
            <p:cNvSpPr>
              <a:spLocks noChangeArrowheads="1"/>
            </p:cNvSpPr>
            <p:nvPr/>
          </p:nvSpPr>
          <p:spPr bwMode="auto">
            <a:xfrm>
              <a:off x="3574" y="2564"/>
              <a:ext cx="860" cy="487"/>
            </a:xfrm>
            <a:prstGeom prst="roundRect">
              <a:avLst>
                <a:gd name="adj" fmla="val 204"/>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Yes!</a:t>
              </a:r>
            </a:p>
          </p:txBody>
        </p:sp>
      </p:grpSp>
      <p:grpSp>
        <p:nvGrpSpPr>
          <p:cNvPr id="23583" name="Group 48"/>
          <p:cNvGrpSpPr>
            <a:grpSpLocks/>
          </p:cNvGrpSpPr>
          <p:nvPr/>
        </p:nvGrpSpPr>
        <p:grpSpPr bwMode="auto">
          <a:xfrm>
            <a:off x="4862513" y="4027488"/>
            <a:ext cx="796925" cy="1377950"/>
            <a:chOff x="3063" y="2537"/>
            <a:chExt cx="502" cy="868"/>
          </a:xfrm>
        </p:grpSpPr>
        <p:sp>
          <p:nvSpPr>
            <p:cNvPr id="23588" name="AutoShape 49"/>
            <p:cNvSpPr>
              <a:spLocks noChangeArrowheads="1"/>
            </p:cNvSpPr>
            <p:nvPr/>
          </p:nvSpPr>
          <p:spPr bwMode="auto">
            <a:xfrm>
              <a:off x="3063" y="2537"/>
              <a:ext cx="503" cy="869"/>
            </a:xfrm>
            <a:prstGeom prst="roundRect">
              <a:avLst>
                <a:gd name="adj" fmla="val 199"/>
              </a:avLst>
            </a:prstGeom>
            <a:noFill/>
            <a:ln w="50760">
              <a:noFill/>
              <a:round/>
              <a:headEnd/>
              <a:tailEnd/>
            </a:ln>
          </p:spPr>
          <p:txBody>
            <a:bodyPr wrap="none" anchor="ctr"/>
            <a:lstStyle/>
            <a:p>
              <a:endParaRPr lang="en-US"/>
            </a:p>
          </p:txBody>
        </p:sp>
        <p:sp>
          <p:nvSpPr>
            <p:cNvPr id="23589" name="Freeform 50"/>
            <p:cNvSpPr>
              <a:spLocks noChangeArrowheads="1"/>
            </p:cNvSpPr>
            <p:nvPr/>
          </p:nvSpPr>
          <p:spPr bwMode="auto">
            <a:xfrm>
              <a:off x="3063" y="2537"/>
              <a:ext cx="503" cy="869"/>
            </a:xfrm>
            <a:custGeom>
              <a:avLst/>
              <a:gdLst>
                <a:gd name="T0" fmla="*/ 0 w 2219"/>
                <a:gd name="T1" fmla="*/ 0 h 3834"/>
                <a:gd name="T2" fmla="*/ 3 w 2219"/>
                <a:gd name="T3" fmla="*/ 201 h 3834"/>
                <a:gd name="T4" fmla="*/ 12 w 2219"/>
                <a:gd name="T5" fmla="*/ 401 h 3834"/>
                <a:gd name="T6" fmla="*/ 27 w 2219"/>
                <a:gd name="T7" fmla="*/ 600 h 3834"/>
                <a:gd name="T8" fmla="*/ 48 w 2219"/>
                <a:gd name="T9" fmla="*/ 797 h 3834"/>
                <a:gd name="T10" fmla="*/ 76 w 2219"/>
                <a:gd name="T11" fmla="*/ 992 h 3834"/>
                <a:gd name="T12" fmla="*/ 109 w 2219"/>
                <a:gd name="T13" fmla="*/ 1184 h 3834"/>
                <a:gd name="T14" fmla="*/ 147 w 2219"/>
                <a:gd name="T15" fmla="*/ 1374 h 3834"/>
                <a:gd name="T16" fmla="*/ 192 w 2219"/>
                <a:gd name="T17" fmla="*/ 1559 h 3834"/>
                <a:gd name="T18" fmla="*/ 242 w 2219"/>
                <a:gd name="T19" fmla="*/ 1740 h 3834"/>
                <a:gd name="T20" fmla="*/ 297 w 2219"/>
                <a:gd name="T21" fmla="*/ 1917 h 3834"/>
                <a:gd name="T22" fmla="*/ 358 w 2219"/>
                <a:gd name="T23" fmla="*/ 2088 h 3834"/>
                <a:gd name="T24" fmla="*/ 424 w 2219"/>
                <a:gd name="T25" fmla="*/ 2253 h 3834"/>
                <a:gd name="T26" fmla="*/ 494 w 2219"/>
                <a:gd name="T27" fmla="*/ 2412 h 3834"/>
                <a:gd name="T28" fmla="*/ 570 w 2219"/>
                <a:gd name="T29" fmla="*/ 2565 h 3834"/>
                <a:gd name="T30" fmla="*/ 650 w 2219"/>
                <a:gd name="T31" fmla="*/ 2710 h 3834"/>
                <a:gd name="T32" fmla="*/ 734 w 2219"/>
                <a:gd name="T33" fmla="*/ 2848 h 3834"/>
                <a:gd name="T34" fmla="*/ 822 w 2219"/>
                <a:gd name="T35" fmla="*/ 2979 h 3834"/>
                <a:gd name="T36" fmla="*/ 914 w 2219"/>
                <a:gd name="T37" fmla="*/ 3101 h 3834"/>
                <a:gd name="T38" fmla="*/ 1010 w 2219"/>
                <a:gd name="T39" fmla="*/ 3215 h 3834"/>
                <a:gd name="T40" fmla="*/ 1109 w 2219"/>
                <a:gd name="T41" fmla="*/ 3319 h 3834"/>
                <a:gd name="T42" fmla="*/ 1211 w 2219"/>
                <a:gd name="T43" fmla="*/ 3415 h 3834"/>
                <a:gd name="T44" fmla="*/ 1316 w 2219"/>
                <a:gd name="T45" fmla="*/ 3502 h 3834"/>
                <a:gd name="T46" fmla="*/ 1423 w 2219"/>
                <a:gd name="T47" fmla="*/ 3578 h 3834"/>
                <a:gd name="T48" fmla="*/ 1533 w 2219"/>
                <a:gd name="T49" fmla="*/ 3645 h 3834"/>
                <a:gd name="T50" fmla="*/ 1644 w 2219"/>
                <a:gd name="T51" fmla="*/ 3702 h 3834"/>
                <a:gd name="T52" fmla="*/ 1757 w 2219"/>
                <a:gd name="T53" fmla="*/ 3749 h 3834"/>
                <a:gd name="T54" fmla="*/ 1871 w 2219"/>
                <a:gd name="T55" fmla="*/ 3786 h 3834"/>
                <a:gd name="T56" fmla="*/ 1986 w 2219"/>
                <a:gd name="T57" fmla="*/ 3812 h 3834"/>
                <a:gd name="T58" fmla="*/ 2102 w 2219"/>
                <a:gd name="T59" fmla="*/ 3828 h 3834"/>
                <a:gd name="T60" fmla="*/ 2218 w 2219"/>
                <a:gd name="T61" fmla="*/ 3833 h 383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219"/>
                <a:gd name="T94" fmla="*/ 0 h 3834"/>
                <a:gd name="T95" fmla="*/ 2219 w 2219"/>
                <a:gd name="T96" fmla="*/ 3834 h 383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219" h="3834">
                  <a:moveTo>
                    <a:pt x="0" y="0"/>
                  </a:moveTo>
                  <a:lnTo>
                    <a:pt x="3" y="201"/>
                  </a:lnTo>
                  <a:lnTo>
                    <a:pt x="12" y="401"/>
                  </a:lnTo>
                  <a:lnTo>
                    <a:pt x="27" y="600"/>
                  </a:lnTo>
                  <a:lnTo>
                    <a:pt x="48" y="797"/>
                  </a:lnTo>
                  <a:lnTo>
                    <a:pt x="76" y="992"/>
                  </a:lnTo>
                  <a:lnTo>
                    <a:pt x="109" y="1184"/>
                  </a:lnTo>
                  <a:lnTo>
                    <a:pt x="147" y="1374"/>
                  </a:lnTo>
                  <a:lnTo>
                    <a:pt x="192" y="1559"/>
                  </a:lnTo>
                  <a:lnTo>
                    <a:pt x="242" y="1740"/>
                  </a:lnTo>
                  <a:lnTo>
                    <a:pt x="297" y="1917"/>
                  </a:lnTo>
                  <a:lnTo>
                    <a:pt x="358" y="2088"/>
                  </a:lnTo>
                  <a:lnTo>
                    <a:pt x="424" y="2253"/>
                  </a:lnTo>
                  <a:lnTo>
                    <a:pt x="494" y="2412"/>
                  </a:lnTo>
                  <a:lnTo>
                    <a:pt x="570" y="2565"/>
                  </a:lnTo>
                  <a:lnTo>
                    <a:pt x="650" y="2710"/>
                  </a:lnTo>
                  <a:lnTo>
                    <a:pt x="734" y="2848"/>
                  </a:lnTo>
                  <a:lnTo>
                    <a:pt x="822" y="2979"/>
                  </a:lnTo>
                  <a:lnTo>
                    <a:pt x="914" y="3101"/>
                  </a:lnTo>
                  <a:lnTo>
                    <a:pt x="1010" y="3215"/>
                  </a:lnTo>
                  <a:lnTo>
                    <a:pt x="1109" y="3319"/>
                  </a:lnTo>
                  <a:lnTo>
                    <a:pt x="1211" y="3415"/>
                  </a:lnTo>
                  <a:lnTo>
                    <a:pt x="1316" y="3502"/>
                  </a:lnTo>
                  <a:lnTo>
                    <a:pt x="1423" y="3578"/>
                  </a:lnTo>
                  <a:lnTo>
                    <a:pt x="1533" y="3645"/>
                  </a:lnTo>
                  <a:lnTo>
                    <a:pt x="1644" y="3702"/>
                  </a:lnTo>
                  <a:lnTo>
                    <a:pt x="1757" y="3749"/>
                  </a:lnTo>
                  <a:lnTo>
                    <a:pt x="1871" y="3786"/>
                  </a:lnTo>
                  <a:lnTo>
                    <a:pt x="1986" y="3812"/>
                  </a:lnTo>
                  <a:lnTo>
                    <a:pt x="2102" y="3828"/>
                  </a:lnTo>
                  <a:lnTo>
                    <a:pt x="2218" y="3833"/>
                  </a:lnTo>
                </a:path>
              </a:pathLst>
            </a:custGeom>
            <a:noFill/>
            <a:ln w="50760">
              <a:solidFill>
                <a:srgbClr val="FF8000"/>
              </a:solidFill>
              <a:round/>
              <a:headEnd/>
              <a:tailEnd/>
            </a:ln>
          </p:spPr>
          <p:txBody>
            <a:bodyPr/>
            <a:lstStyle/>
            <a:p>
              <a:endParaRPr lang="en-US"/>
            </a:p>
          </p:txBody>
        </p:sp>
      </p:grpSp>
      <p:grpSp>
        <p:nvGrpSpPr>
          <p:cNvPr id="23584" name="Group 51"/>
          <p:cNvGrpSpPr>
            <a:grpSpLocks/>
          </p:cNvGrpSpPr>
          <p:nvPr/>
        </p:nvGrpSpPr>
        <p:grpSpPr bwMode="auto">
          <a:xfrm>
            <a:off x="4862513" y="2868613"/>
            <a:ext cx="1050925" cy="1122362"/>
            <a:chOff x="3063" y="1807"/>
            <a:chExt cx="662" cy="707"/>
          </a:xfrm>
        </p:grpSpPr>
        <p:sp>
          <p:nvSpPr>
            <p:cNvPr id="23586" name="AutoShape 52"/>
            <p:cNvSpPr>
              <a:spLocks noChangeArrowheads="1"/>
            </p:cNvSpPr>
            <p:nvPr/>
          </p:nvSpPr>
          <p:spPr bwMode="auto">
            <a:xfrm>
              <a:off x="3063" y="1807"/>
              <a:ext cx="663" cy="708"/>
            </a:xfrm>
            <a:prstGeom prst="roundRect">
              <a:avLst>
                <a:gd name="adj" fmla="val 148"/>
              </a:avLst>
            </a:prstGeom>
            <a:noFill/>
            <a:ln w="50760">
              <a:noFill/>
              <a:round/>
              <a:headEnd/>
              <a:tailEnd type="triangle" w="med" len="med"/>
            </a:ln>
          </p:spPr>
          <p:txBody>
            <a:bodyPr wrap="none" anchor="ctr"/>
            <a:lstStyle/>
            <a:p>
              <a:endParaRPr lang="en-US"/>
            </a:p>
          </p:txBody>
        </p:sp>
        <p:sp>
          <p:nvSpPr>
            <p:cNvPr id="23587" name="Freeform 53"/>
            <p:cNvSpPr>
              <a:spLocks/>
            </p:cNvSpPr>
            <p:nvPr/>
          </p:nvSpPr>
          <p:spPr bwMode="auto">
            <a:xfrm>
              <a:off x="3063" y="1807"/>
              <a:ext cx="663" cy="708"/>
            </a:xfrm>
            <a:custGeom>
              <a:avLst/>
              <a:gdLst>
                <a:gd name="T0" fmla="*/ 2921 w 2922"/>
                <a:gd name="T1" fmla="*/ 0 h 3123"/>
                <a:gd name="T2" fmla="*/ 2768 w 2922"/>
                <a:gd name="T3" fmla="*/ 4 h 3123"/>
                <a:gd name="T4" fmla="*/ 2616 w 2922"/>
                <a:gd name="T5" fmla="*/ 17 h 3123"/>
                <a:gd name="T6" fmla="*/ 2464 w 2922"/>
                <a:gd name="T7" fmla="*/ 38 h 3123"/>
                <a:gd name="T8" fmla="*/ 2314 w 2922"/>
                <a:gd name="T9" fmla="*/ 68 h 3123"/>
                <a:gd name="T10" fmla="*/ 2165 w 2922"/>
                <a:gd name="T11" fmla="*/ 106 h 3123"/>
                <a:gd name="T12" fmla="*/ 2018 w 2922"/>
                <a:gd name="T13" fmla="*/ 153 h 3123"/>
                <a:gd name="T14" fmla="*/ 1874 w 2922"/>
                <a:gd name="T15" fmla="*/ 207 h 3123"/>
                <a:gd name="T16" fmla="*/ 1733 w 2922"/>
                <a:gd name="T17" fmla="*/ 270 h 3123"/>
                <a:gd name="T18" fmla="*/ 1595 w 2922"/>
                <a:gd name="T19" fmla="*/ 340 h 3123"/>
                <a:gd name="T20" fmla="*/ 1461 w 2922"/>
                <a:gd name="T21" fmla="*/ 418 h 3123"/>
                <a:gd name="T22" fmla="*/ 1330 w 2922"/>
                <a:gd name="T23" fmla="*/ 504 h 3123"/>
                <a:gd name="T24" fmla="*/ 1204 w 2922"/>
                <a:gd name="T25" fmla="*/ 596 h 3123"/>
                <a:gd name="T26" fmla="*/ 1083 w 2922"/>
                <a:gd name="T27" fmla="*/ 696 h 3123"/>
                <a:gd name="T28" fmla="*/ 966 w 2922"/>
                <a:gd name="T29" fmla="*/ 802 h 3123"/>
                <a:gd name="T30" fmla="*/ 856 w 2922"/>
                <a:gd name="T31" fmla="*/ 914 h 3123"/>
                <a:gd name="T32" fmla="*/ 750 w 2922"/>
                <a:gd name="T33" fmla="*/ 1033 h 3123"/>
                <a:gd name="T34" fmla="*/ 651 w 2922"/>
                <a:gd name="T35" fmla="*/ 1157 h 3123"/>
                <a:gd name="T36" fmla="*/ 558 w 2922"/>
                <a:gd name="T37" fmla="*/ 1287 h 3123"/>
                <a:gd name="T38" fmla="*/ 471 w 2922"/>
                <a:gd name="T39" fmla="*/ 1422 h 3123"/>
                <a:gd name="T40" fmla="*/ 391 w 2922"/>
                <a:gd name="T41" fmla="*/ 1561 h 3123"/>
                <a:gd name="T42" fmla="*/ 318 w 2922"/>
                <a:gd name="T43" fmla="*/ 1705 h 3123"/>
                <a:gd name="T44" fmla="*/ 253 w 2922"/>
                <a:gd name="T45" fmla="*/ 1852 h 3123"/>
                <a:gd name="T46" fmla="*/ 194 w 2922"/>
                <a:gd name="T47" fmla="*/ 2003 h 3123"/>
                <a:gd name="T48" fmla="*/ 143 w 2922"/>
                <a:gd name="T49" fmla="*/ 2157 h 3123"/>
                <a:gd name="T50" fmla="*/ 100 w 2922"/>
                <a:gd name="T51" fmla="*/ 2314 h 3123"/>
                <a:gd name="T52" fmla="*/ 64 w 2922"/>
                <a:gd name="T53" fmla="*/ 2473 h 3123"/>
                <a:gd name="T54" fmla="*/ 36 w 2922"/>
                <a:gd name="T55" fmla="*/ 2634 h 3123"/>
                <a:gd name="T56" fmla="*/ 16 w 2922"/>
                <a:gd name="T57" fmla="*/ 2796 h 3123"/>
                <a:gd name="T58" fmla="*/ 4 w 2922"/>
                <a:gd name="T59" fmla="*/ 2959 h 3123"/>
                <a:gd name="T60" fmla="*/ 0 w 2922"/>
                <a:gd name="T61" fmla="*/ 3122 h 312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922"/>
                <a:gd name="T94" fmla="*/ 0 h 3123"/>
                <a:gd name="T95" fmla="*/ 2922 w 2922"/>
                <a:gd name="T96" fmla="*/ 3123 h 3123"/>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922" h="3123">
                  <a:moveTo>
                    <a:pt x="2921" y="0"/>
                  </a:moveTo>
                  <a:lnTo>
                    <a:pt x="2768" y="4"/>
                  </a:lnTo>
                  <a:lnTo>
                    <a:pt x="2616" y="17"/>
                  </a:lnTo>
                  <a:lnTo>
                    <a:pt x="2464" y="38"/>
                  </a:lnTo>
                  <a:lnTo>
                    <a:pt x="2314" y="68"/>
                  </a:lnTo>
                  <a:lnTo>
                    <a:pt x="2165" y="106"/>
                  </a:lnTo>
                  <a:lnTo>
                    <a:pt x="2018" y="153"/>
                  </a:lnTo>
                  <a:lnTo>
                    <a:pt x="1874" y="207"/>
                  </a:lnTo>
                  <a:lnTo>
                    <a:pt x="1733" y="270"/>
                  </a:lnTo>
                  <a:lnTo>
                    <a:pt x="1595" y="340"/>
                  </a:lnTo>
                  <a:lnTo>
                    <a:pt x="1461" y="418"/>
                  </a:lnTo>
                  <a:lnTo>
                    <a:pt x="1330" y="504"/>
                  </a:lnTo>
                  <a:lnTo>
                    <a:pt x="1204" y="596"/>
                  </a:lnTo>
                  <a:lnTo>
                    <a:pt x="1083" y="696"/>
                  </a:lnTo>
                  <a:lnTo>
                    <a:pt x="966" y="802"/>
                  </a:lnTo>
                  <a:lnTo>
                    <a:pt x="856" y="914"/>
                  </a:lnTo>
                  <a:lnTo>
                    <a:pt x="750" y="1033"/>
                  </a:lnTo>
                  <a:lnTo>
                    <a:pt x="651" y="1157"/>
                  </a:lnTo>
                  <a:lnTo>
                    <a:pt x="558" y="1287"/>
                  </a:lnTo>
                  <a:lnTo>
                    <a:pt x="471" y="1422"/>
                  </a:lnTo>
                  <a:lnTo>
                    <a:pt x="391" y="1561"/>
                  </a:lnTo>
                  <a:lnTo>
                    <a:pt x="318" y="1705"/>
                  </a:lnTo>
                  <a:lnTo>
                    <a:pt x="253" y="1852"/>
                  </a:lnTo>
                  <a:lnTo>
                    <a:pt x="194" y="2003"/>
                  </a:lnTo>
                  <a:lnTo>
                    <a:pt x="143" y="2157"/>
                  </a:lnTo>
                  <a:lnTo>
                    <a:pt x="100" y="2314"/>
                  </a:lnTo>
                  <a:lnTo>
                    <a:pt x="64" y="2473"/>
                  </a:lnTo>
                  <a:lnTo>
                    <a:pt x="36" y="2634"/>
                  </a:lnTo>
                  <a:lnTo>
                    <a:pt x="16" y="2796"/>
                  </a:lnTo>
                  <a:lnTo>
                    <a:pt x="4" y="2959"/>
                  </a:lnTo>
                  <a:lnTo>
                    <a:pt x="0" y="3122"/>
                  </a:lnTo>
                </a:path>
              </a:pathLst>
            </a:custGeom>
            <a:noFill/>
            <a:ln w="50760">
              <a:solidFill>
                <a:srgbClr val="FF8000"/>
              </a:solidFill>
              <a:round/>
              <a:headEnd type="triangle" w="med" len="med"/>
              <a:tailEnd/>
            </a:ln>
          </p:spPr>
          <p:txBody>
            <a:bodyPr/>
            <a:lstStyle/>
            <a:p>
              <a:endParaRPr lang="en-US"/>
            </a:p>
          </p:txBody>
        </p:sp>
      </p:grpSp>
      <p:pic>
        <p:nvPicPr>
          <p:cNvPr id="23585" name="Picture 54"/>
          <p:cNvPicPr>
            <a:picLocks noChangeAspect="1" noChangeArrowheads="1"/>
          </p:cNvPicPr>
          <p:nvPr/>
        </p:nvPicPr>
        <p:blipFill>
          <a:blip r:embed="rId8"/>
          <a:srcRect/>
          <a:stretch>
            <a:fillRect/>
          </a:stretch>
        </p:blipFill>
        <p:spPr bwMode="auto">
          <a:xfrm>
            <a:off x="6375400" y="1558925"/>
            <a:ext cx="1873250" cy="1727200"/>
          </a:xfrm>
          <a:prstGeom prst="rect">
            <a:avLst/>
          </a:prstGeom>
          <a:noFill/>
          <a:ln w="9525">
            <a:noFill/>
            <a:miter lim="800000"/>
            <a:headEnd/>
            <a:tailEnd/>
          </a:ln>
        </p:spPr>
      </p:pic>
    </p:spTree>
  </p:cSld>
  <p:clrMapOvr>
    <a:masterClrMapping/>
  </p:clrMapOvr>
  <p:transition>
    <p:check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Deleting a Record</a:t>
            </a:r>
          </a:p>
        </p:txBody>
      </p:sp>
      <p:sp>
        <p:nvSpPr>
          <p:cNvPr id="24579" name="Rectangle 2"/>
          <p:cNvSpPr>
            <a:spLocks noGrp="1" noChangeArrowheads="1"/>
          </p:cNvSpPr>
          <p:nvPr>
            <p:ph type="body" idx="1"/>
          </p:nvPr>
        </p:nvSpPr>
        <p:spPr>
          <a:xfrm>
            <a:off x="685800" y="1774825"/>
            <a:ext cx="7442200"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smtClean="0">
                <a:effectLst/>
              </a:rPr>
              <a:t>Records may also be deleted from a hash table.</a:t>
            </a:r>
          </a:p>
        </p:txBody>
      </p:sp>
      <p:sp>
        <p:nvSpPr>
          <p:cNvPr id="24580"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24581"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4582"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24583"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24584"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24585"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24586"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24587"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24588"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24589"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24590"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24591"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24592"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24593"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24594"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4595"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24596" name="Group 19"/>
          <p:cNvGrpSpPr>
            <a:grpSpLocks/>
          </p:cNvGrpSpPr>
          <p:nvPr/>
        </p:nvGrpSpPr>
        <p:grpSpPr bwMode="auto">
          <a:xfrm>
            <a:off x="4598988" y="5475288"/>
            <a:ext cx="674687" cy="517525"/>
            <a:chOff x="2897" y="3449"/>
            <a:chExt cx="425" cy="326"/>
          </a:xfrm>
        </p:grpSpPr>
        <p:sp>
          <p:nvSpPr>
            <p:cNvPr id="24618" name="AutoShape 20"/>
            <p:cNvSpPr>
              <a:spLocks noChangeArrowheads="1"/>
            </p:cNvSpPr>
            <p:nvPr/>
          </p:nvSpPr>
          <p:spPr bwMode="auto">
            <a:xfrm>
              <a:off x="2897" y="3449"/>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506643548</a:t>
              </a:r>
            </a:p>
          </p:txBody>
        </p:sp>
        <p:pic>
          <p:nvPicPr>
            <p:cNvPr id="24619" name="Picture 21"/>
            <p:cNvPicPr>
              <a:picLocks noChangeAspect="1" noChangeArrowheads="1"/>
            </p:cNvPicPr>
            <p:nvPr/>
          </p:nvPicPr>
          <p:blipFill>
            <a:blip r:embed="rId3"/>
            <a:srcRect r="35909" b="42468"/>
            <a:stretch>
              <a:fillRect/>
            </a:stretch>
          </p:blipFill>
          <p:spPr bwMode="auto">
            <a:xfrm>
              <a:off x="2945" y="3524"/>
              <a:ext cx="257" cy="252"/>
            </a:xfrm>
            <a:prstGeom prst="rect">
              <a:avLst/>
            </a:prstGeom>
            <a:noFill/>
            <a:ln w="9525">
              <a:noFill/>
              <a:miter lim="800000"/>
              <a:headEnd/>
              <a:tailEnd/>
            </a:ln>
          </p:spPr>
        </p:pic>
      </p:grpSp>
      <p:grpSp>
        <p:nvGrpSpPr>
          <p:cNvPr id="24597" name="Group 22"/>
          <p:cNvGrpSpPr>
            <a:grpSpLocks/>
          </p:cNvGrpSpPr>
          <p:nvPr/>
        </p:nvGrpSpPr>
        <p:grpSpPr bwMode="auto">
          <a:xfrm>
            <a:off x="2822575" y="5449888"/>
            <a:ext cx="674688" cy="568325"/>
            <a:chOff x="1778" y="3433"/>
            <a:chExt cx="425" cy="358"/>
          </a:xfrm>
        </p:grpSpPr>
        <p:sp>
          <p:nvSpPr>
            <p:cNvPr id="24616" name="AutoShape 23"/>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24617" name="Picture 24"/>
            <p:cNvPicPr>
              <a:picLocks noChangeAspect="1" noChangeArrowheads="1"/>
            </p:cNvPicPr>
            <p:nvPr/>
          </p:nvPicPr>
          <p:blipFill>
            <a:blip r:embed="rId4"/>
            <a:srcRect/>
            <a:stretch>
              <a:fillRect/>
            </a:stretch>
          </p:blipFill>
          <p:spPr bwMode="auto">
            <a:xfrm>
              <a:off x="1806" y="3488"/>
              <a:ext cx="327" cy="304"/>
            </a:xfrm>
            <a:prstGeom prst="rect">
              <a:avLst/>
            </a:prstGeom>
            <a:noFill/>
            <a:ln w="9525">
              <a:noFill/>
              <a:miter lim="800000"/>
              <a:headEnd/>
              <a:tailEnd/>
            </a:ln>
          </p:spPr>
        </p:pic>
      </p:grpSp>
      <p:grpSp>
        <p:nvGrpSpPr>
          <p:cNvPr id="24598" name="Group 25"/>
          <p:cNvGrpSpPr>
            <a:grpSpLocks/>
          </p:cNvGrpSpPr>
          <p:nvPr/>
        </p:nvGrpSpPr>
        <p:grpSpPr bwMode="auto">
          <a:xfrm>
            <a:off x="1906588" y="5445125"/>
            <a:ext cx="620712" cy="576263"/>
            <a:chOff x="1201" y="3430"/>
            <a:chExt cx="391" cy="363"/>
          </a:xfrm>
        </p:grpSpPr>
        <p:sp>
          <p:nvSpPr>
            <p:cNvPr id="24614" name="AutoShape 26"/>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24615" name="Picture 27"/>
            <p:cNvPicPr>
              <a:picLocks noChangeAspect="1" noChangeArrowheads="1"/>
            </p:cNvPicPr>
            <p:nvPr/>
          </p:nvPicPr>
          <p:blipFill>
            <a:blip r:embed="rId5"/>
            <a:srcRect/>
            <a:stretch>
              <a:fillRect/>
            </a:stretch>
          </p:blipFill>
          <p:spPr bwMode="auto">
            <a:xfrm>
              <a:off x="1219" y="3493"/>
              <a:ext cx="335" cy="301"/>
            </a:xfrm>
            <a:prstGeom prst="rect">
              <a:avLst/>
            </a:prstGeom>
            <a:noFill/>
            <a:ln w="9525">
              <a:noFill/>
              <a:miter lim="800000"/>
              <a:headEnd/>
              <a:tailEnd/>
            </a:ln>
          </p:spPr>
        </p:pic>
      </p:grpSp>
      <p:grpSp>
        <p:nvGrpSpPr>
          <p:cNvPr id="24599" name="Group 28"/>
          <p:cNvGrpSpPr>
            <a:grpSpLocks/>
          </p:cNvGrpSpPr>
          <p:nvPr/>
        </p:nvGrpSpPr>
        <p:grpSpPr bwMode="auto">
          <a:xfrm>
            <a:off x="7764463" y="5480050"/>
            <a:ext cx="725487" cy="506413"/>
            <a:chOff x="4891" y="3452"/>
            <a:chExt cx="457" cy="319"/>
          </a:xfrm>
        </p:grpSpPr>
        <p:sp>
          <p:nvSpPr>
            <p:cNvPr id="24612" name="AutoShape 29"/>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24613" name="Picture 30"/>
            <p:cNvPicPr>
              <a:picLocks noChangeAspect="1" noChangeArrowheads="1"/>
            </p:cNvPicPr>
            <p:nvPr/>
          </p:nvPicPr>
          <p:blipFill>
            <a:blip r:embed="rId6"/>
            <a:srcRect b="53267"/>
            <a:stretch>
              <a:fillRect/>
            </a:stretch>
          </p:blipFill>
          <p:spPr bwMode="auto">
            <a:xfrm>
              <a:off x="4891" y="3500"/>
              <a:ext cx="458" cy="272"/>
            </a:xfrm>
            <a:prstGeom prst="rect">
              <a:avLst/>
            </a:prstGeom>
            <a:noFill/>
            <a:ln w="9525">
              <a:noFill/>
              <a:miter lim="800000"/>
              <a:headEnd/>
              <a:tailEnd/>
            </a:ln>
          </p:spPr>
        </p:pic>
      </p:grpSp>
      <p:grpSp>
        <p:nvGrpSpPr>
          <p:cNvPr id="24600" name="Group 31"/>
          <p:cNvGrpSpPr>
            <a:grpSpLocks/>
          </p:cNvGrpSpPr>
          <p:nvPr/>
        </p:nvGrpSpPr>
        <p:grpSpPr bwMode="auto">
          <a:xfrm>
            <a:off x="6596063" y="4014788"/>
            <a:ext cx="1309687" cy="2830512"/>
            <a:chOff x="4155" y="2529"/>
            <a:chExt cx="825" cy="1783"/>
          </a:xfrm>
        </p:grpSpPr>
        <p:sp>
          <p:nvSpPr>
            <p:cNvPr id="24610" name="Freeform 32"/>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24611" name="AutoShape 33"/>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24601" name="Group 34"/>
          <p:cNvGrpSpPr>
            <a:grpSpLocks/>
          </p:cNvGrpSpPr>
          <p:nvPr/>
        </p:nvGrpSpPr>
        <p:grpSpPr bwMode="auto">
          <a:xfrm>
            <a:off x="3713163" y="5465763"/>
            <a:ext cx="620712" cy="557212"/>
            <a:chOff x="2339" y="3443"/>
            <a:chExt cx="391" cy="351"/>
          </a:xfrm>
        </p:grpSpPr>
        <p:pic>
          <p:nvPicPr>
            <p:cNvPr id="24608" name="Picture 35"/>
            <p:cNvPicPr>
              <a:picLocks noChangeAspect="1" noChangeArrowheads="1"/>
            </p:cNvPicPr>
            <p:nvPr/>
          </p:nvPicPr>
          <p:blipFill>
            <a:blip r:embed="rId7"/>
            <a:srcRect l="51314" b="42641"/>
            <a:stretch>
              <a:fillRect/>
            </a:stretch>
          </p:blipFill>
          <p:spPr bwMode="auto">
            <a:xfrm>
              <a:off x="2369" y="3495"/>
              <a:ext cx="334" cy="300"/>
            </a:xfrm>
            <a:prstGeom prst="rect">
              <a:avLst/>
            </a:prstGeom>
            <a:noFill/>
            <a:ln w="9525">
              <a:noFill/>
              <a:miter lim="800000"/>
              <a:headEnd/>
              <a:tailEnd/>
            </a:ln>
          </p:spPr>
        </p:pic>
        <p:sp>
          <p:nvSpPr>
            <p:cNvPr id="24609" name="AutoShape 36"/>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24602" name="Group 37"/>
          <p:cNvGrpSpPr>
            <a:grpSpLocks/>
          </p:cNvGrpSpPr>
          <p:nvPr/>
        </p:nvGrpSpPr>
        <p:grpSpPr bwMode="auto">
          <a:xfrm>
            <a:off x="5548313" y="5454650"/>
            <a:ext cx="620712" cy="549275"/>
            <a:chOff x="3495" y="3436"/>
            <a:chExt cx="391" cy="346"/>
          </a:xfrm>
        </p:grpSpPr>
        <p:pic>
          <p:nvPicPr>
            <p:cNvPr id="24606" name="Picture 38"/>
            <p:cNvPicPr>
              <a:picLocks noChangeAspect="1" noChangeArrowheads="1"/>
            </p:cNvPicPr>
            <p:nvPr/>
          </p:nvPicPr>
          <p:blipFill>
            <a:blip r:embed="rId8"/>
            <a:srcRect/>
            <a:stretch>
              <a:fillRect/>
            </a:stretch>
          </p:blipFill>
          <p:spPr bwMode="auto">
            <a:xfrm>
              <a:off x="3530" y="3511"/>
              <a:ext cx="295" cy="272"/>
            </a:xfrm>
            <a:prstGeom prst="rect">
              <a:avLst/>
            </a:prstGeom>
            <a:noFill/>
            <a:ln w="9525">
              <a:noFill/>
              <a:miter lim="800000"/>
              <a:headEnd/>
              <a:tailEnd/>
            </a:ln>
          </p:spPr>
        </p:pic>
        <p:sp>
          <p:nvSpPr>
            <p:cNvPr id="24607" name="AutoShape 39"/>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grpSp>
        <p:nvGrpSpPr>
          <p:cNvPr id="24603" name="Group 40"/>
          <p:cNvGrpSpPr>
            <a:grpSpLocks/>
          </p:cNvGrpSpPr>
          <p:nvPr/>
        </p:nvGrpSpPr>
        <p:grpSpPr bwMode="auto">
          <a:xfrm>
            <a:off x="4676775" y="3746500"/>
            <a:ext cx="1770063" cy="1169988"/>
            <a:chOff x="2946" y="2360"/>
            <a:chExt cx="1115" cy="737"/>
          </a:xfrm>
        </p:grpSpPr>
        <p:sp>
          <p:nvSpPr>
            <p:cNvPr id="24604" name="Freeform 41"/>
            <p:cNvSpPr>
              <a:spLocks noChangeArrowheads="1"/>
            </p:cNvSpPr>
            <p:nvPr/>
          </p:nvSpPr>
          <p:spPr bwMode="auto">
            <a:xfrm>
              <a:off x="2946" y="2360"/>
              <a:ext cx="1116" cy="738"/>
            </a:xfrm>
            <a:custGeom>
              <a:avLst/>
              <a:gdLst>
                <a:gd name="T0" fmla="*/ 0 w 4922"/>
                <a:gd name="T1" fmla="*/ 395 h 3255"/>
                <a:gd name="T2" fmla="*/ 688 w 4922"/>
                <a:gd name="T3" fmla="*/ 0 h 3255"/>
                <a:gd name="T4" fmla="*/ 4233 w 4922"/>
                <a:gd name="T5" fmla="*/ 0 h 3255"/>
                <a:gd name="T6" fmla="*/ 4921 w 4922"/>
                <a:gd name="T7" fmla="*/ 395 h 3255"/>
                <a:gd name="T8" fmla="*/ 4921 w 4922"/>
                <a:gd name="T9" fmla="*/ 2434 h 3255"/>
                <a:gd name="T10" fmla="*/ 4233 w 4922"/>
                <a:gd name="T11" fmla="*/ 2829 h 3255"/>
                <a:gd name="T12" fmla="*/ 1967 w 4922"/>
                <a:gd name="T13" fmla="*/ 2829 h 3255"/>
                <a:gd name="T14" fmla="*/ 337 w 4922"/>
                <a:gd name="T15" fmla="*/ 3254 h 3255"/>
                <a:gd name="T16" fmla="*/ 778 w 4922"/>
                <a:gd name="T17" fmla="*/ 2829 h 3255"/>
                <a:gd name="T18" fmla="*/ 688 w 4922"/>
                <a:gd name="T19" fmla="*/ 2829 h 3255"/>
                <a:gd name="T20" fmla="*/ 0 w 4922"/>
                <a:gd name="T21" fmla="*/ 2434 h 3255"/>
                <a:gd name="T22" fmla="*/ 0 w 4922"/>
                <a:gd name="T23" fmla="*/ 395 h 3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922"/>
                <a:gd name="T37" fmla="*/ 0 h 3255"/>
                <a:gd name="T38" fmla="*/ 4922 w 4922"/>
                <a:gd name="T39" fmla="*/ 3255 h 3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922" h="3255">
                  <a:moveTo>
                    <a:pt x="0" y="395"/>
                  </a:moveTo>
                  <a:cubicBezTo>
                    <a:pt x="0" y="0"/>
                    <a:pt x="0" y="0"/>
                    <a:pt x="688" y="0"/>
                  </a:cubicBezTo>
                  <a:lnTo>
                    <a:pt x="4233" y="0"/>
                  </a:lnTo>
                  <a:cubicBezTo>
                    <a:pt x="4921" y="0"/>
                    <a:pt x="4921" y="0"/>
                    <a:pt x="4921" y="395"/>
                  </a:cubicBezTo>
                  <a:lnTo>
                    <a:pt x="4921" y="2434"/>
                  </a:lnTo>
                  <a:cubicBezTo>
                    <a:pt x="4921" y="2829"/>
                    <a:pt x="4921" y="2829"/>
                    <a:pt x="4233" y="2829"/>
                  </a:cubicBezTo>
                  <a:lnTo>
                    <a:pt x="1967" y="2829"/>
                  </a:lnTo>
                  <a:lnTo>
                    <a:pt x="337" y="3254"/>
                  </a:lnTo>
                  <a:lnTo>
                    <a:pt x="778" y="2829"/>
                  </a:lnTo>
                  <a:lnTo>
                    <a:pt x="688" y="2829"/>
                  </a:lnTo>
                  <a:cubicBezTo>
                    <a:pt x="0" y="2829"/>
                    <a:pt x="0" y="2829"/>
                    <a:pt x="0" y="2434"/>
                  </a:cubicBezTo>
                  <a:lnTo>
                    <a:pt x="0" y="395"/>
                  </a:lnTo>
                </a:path>
              </a:pathLst>
            </a:custGeom>
            <a:solidFill>
              <a:srgbClr val="0000FF"/>
            </a:solidFill>
            <a:ln w="12600">
              <a:solidFill>
                <a:srgbClr val="E0E0E0"/>
              </a:solidFill>
              <a:round/>
              <a:headEnd/>
              <a:tailEnd/>
            </a:ln>
          </p:spPr>
          <p:txBody>
            <a:bodyPr wrap="none" anchor="ctr"/>
            <a:lstStyle/>
            <a:p>
              <a:endParaRPr lang="en-US"/>
            </a:p>
          </p:txBody>
        </p:sp>
        <p:sp>
          <p:nvSpPr>
            <p:cNvPr id="24605" name="AutoShape 42"/>
            <p:cNvSpPr>
              <a:spLocks noChangeArrowheads="1"/>
            </p:cNvSpPr>
            <p:nvPr/>
          </p:nvSpPr>
          <p:spPr bwMode="auto">
            <a:xfrm>
              <a:off x="2946" y="2360"/>
              <a:ext cx="1116" cy="738"/>
            </a:xfrm>
            <a:prstGeom prst="roundRect">
              <a:avLst>
                <a:gd name="adj" fmla="val 134"/>
              </a:avLst>
            </a:prstGeom>
            <a:noFill/>
            <a:ln w="9525">
              <a:noFill/>
              <a:round/>
              <a:headEnd/>
              <a:tailEnd/>
            </a:ln>
          </p:spPr>
          <p:txBody>
            <a:bodyPr lIns="90360" tIns="44280" rIns="90360" bIns="44280" anchor="ctr"/>
            <a:lstStyle/>
            <a:p>
              <a:pPr algn="ctr">
                <a:lnSpc>
                  <a:spcPct val="95000"/>
                </a:lnSpc>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Please</a:t>
              </a:r>
            </a:p>
            <a:p>
              <a:pPr algn="ctr">
                <a:buClr>
                  <a:srgbClr val="E0E0E0"/>
                </a:buClr>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a:t>delete me.</a:t>
              </a:r>
            </a:p>
          </p:txBody>
        </p:sp>
      </p:grpSp>
    </p:spTree>
  </p:cSld>
  <p:clrMapOvr>
    <a:masterClrMapping/>
  </p:clrMapOvr>
  <p:transition>
    <p:pull dir="l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Deleting a Record</a:t>
            </a:r>
          </a:p>
        </p:txBody>
      </p:sp>
      <p:sp>
        <p:nvSpPr>
          <p:cNvPr id="25603" name="Rectangle 2"/>
          <p:cNvSpPr>
            <a:spLocks noGrp="1" noChangeArrowheads="1"/>
          </p:cNvSpPr>
          <p:nvPr>
            <p:ph type="body" idx="1"/>
          </p:nvPr>
        </p:nvSpPr>
        <p:spPr>
          <a:xfrm>
            <a:off x="685800" y="1774825"/>
            <a:ext cx="8294688"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Records may also be deleted from a hash table.</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But the location must not be left as an ordinary "empty spot" since that could interfere with searches.</a:t>
            </a:r>
          </a:p>
        </p:txBody>
      </p:sp>
      <p:sp>
        <p:nvSpPr>
          <p:cNvPr id="25604" name="Freeform 3"/>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25605" name="AutoShape 4"/>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5606" name="Line 5"/>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25607" name="Line 6"/>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25608" name="Line 7"/>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25609" name="Line 8"/>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25610" name="Line 9"/>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25611" name="Line 10"/>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25612" name="AutoShape 11"/>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25613" name="AutoShape 12"/>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25614" name="AutoShape 13"/>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25615" name="AutoShape 14"/>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25616" name="AutoShape 15"/>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25617" name="AutoShape 16"/>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25618" name="AutoShape 17"/>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5619" name="AutoShape 18"/>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25620" name="Group 19"/>
          <p:cNvGrpSpPr>
            <a:grpSpLocks/>
          </p:cNvGrpSpPr>
          <p:nvPr/>
        </p:nvGrpSpPr>
        <p:grpSpPr bwMode="auto">
          <a:xfrm>
            <a:off x="2822575" y="5449888"/>
            <a:ext cx="674688" cy="568325"/>
            <a:chOff x="1778" y="3433"/>
            <a:chExt cx="425" cy="358"/>
          </a:xfrm>
        </p:grpSpPr>
        <p:sp>
          <p:nvSpPr>
            <p:cNvPr id="25636" name="AutoShape 20"/>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25637" name="Picture 21"/>
            <p:cNvPicPr>
              <a:picLocks noChangeAspect="1" noChangeArrowheads="1"/>
            </p:cNvPicPr>
            <p:nvPr/>
          </p:nvPicPr>
          <p:blipFill>
            <a:blip r:embed="rId3"/>
            <a:srcRect/>
            <a:stretch>
              <a:fillRect/>
            </a:stretch>
          </p:blipFill>
          <p:spPr bwMode="auto">
            <a:xfrm>
              <a:off x="1806" y="3488"/>
              <a:ext cx="327" cy="304"/>
            </a:xfrm>
            <a:prstGeom prst="rect">
              <a:avLst/>
            </a:prstGeom>
            <a:noFill/>
            <a:ln w="9525">
              <a:noFill/>
              <a:miter lim="800000"/>
              <a:headEnd/>
              <a:tailEnd/>
            </a:ln>
          </p:spPr>
        </p:pic>
      </p:grpSp>
      <p:grpSp>
        <p:nvGrpSpPr>
          <p:cNvPr id="25621" name="Group 22"/>
          <p:cNvGrpSpPr>
            <a:grpSpLocks/>
          </p:cNvGrpSpPr>
          <p:nvPr/>
        </p:nvGrpSpPr>
        <p:grpSpPr bwMode="auto">
          <a:xfrm>
            <a:off x="1906588" y="5445125"/>
            <a:ext cx="620712" cy="576263"/>
            <a:chOff x="1201" y="3430"/>
            <a:chExt cx="391" cy="363"/>
          </a:xfrm>
        </p:grpSpPr>
        <p:sp>
          <p:nvSpPr>
            <p:cNvPr id="25634" name="AutoShape 23"/>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25635" name="Picture 24"/>
            <p:cNvPicPr>
              <a:picLocks noChangeAspect="1" noChangeArrowheads="1"/>
            </p:cNvPicPr>
            <p:nvPr/>
          </p:nvPicPr>
          <p:blipFill>
            <a:blip r:embed="rId4"/>
            <a:srcRect/>
            <a:stretch>
              <a:fillRect/>
            </a:stretch>
          </p:blipFill>
          <p:spPr bwMode="auto">
            <a:xfrm>
              <a:off x="1219" y="3493"/>
              <a:ext cx="335" cy="301"/>
            </a:xfrm>
            <a:prstGeom prst="rect">
              <a:avLst/>
            </a:prstGeom>
            <a:noFill/>
            <a:ln w="9525">
              <a:noFill/>
              <a:miter lim="800000"/>
              <a:headEnd/>
              <a:tailEnd/>
            </a:ln>
          </p:spPr>
        </p:pic>
      </p:grpSp>
      <p:grpSp>
        <p:nvGrpSpPr>
          <p:cNvPr id="25622" name="Group 25"/>
          <p:cNvGrpSpPr>
            <a:grpSpLocks/>
          </p:cNvGrpSpPr>
          <p:nvPr/>
        </p:nvGrpSpPr>
        <p:grpSpPr bwMode="auto">
          <a:xfrm>
            <a:off x="7764463" y="5480050"/>
            <a:ext cx="725487" cy="506413"/>
            <a:chOff x="4891" y="3452"/>
            <a:chExt cx="457" cy="319"/>
          </a:xfrm>
        </p:grpSpPr>
        <p:sp>
          <p:nvSpPr>
            <p:cNvPr id="25632" name="AutoShape 26"/>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25633" name="Picture 27"/>
            <p:cNvPicPr>
              <a:picLocks noChangeAspect="1" noChangeArrowheads="1"/>
            </p:cNvPicPr>
            <p:nvPr/>
          </p:nvPicPr>
          <p:blipFill>
            <a:blip r:embed="rId5"/>
            <a:srcRect b="53267"/>
            <a:stretch>
              <a:fillRect/>
            </a:stretch>
          </p:blipFill>
          <p:spPr bwMode="auto">
            <a:xfrm>
              <a:off x="4891" y="3500"/>
              <a:ext cx="458" cy="272"/>
            </a:xfrm>
            <a:prstGeom prst="rect">
              <a:avLst/>
            </a:prstGeom>
            <a:noFill/>
            <a:ln w="9525">
              <a:noFill/>
              <a:miter lim="800000"/>
              <a:headEnd/>
              <a:tailEnd/>
            </a:ln>
          </p:spPr>
        </p:pic>
      </p:grpSp>
      <p:grpSp>
        <p:nvGrpSpPr>
          <p:cNvPr id="25623" name="Group 28"/>
          <p:cNvGrpSpPr>
            <a:grpSpLocks/>
          </p:cNvGrpSpPr>
          <p:nvPr/>
        </p:nvGrpSpPr>
        <p:grpSpPr bwMode="auto">
          <a:xfrm>
            <a:off x="6596063" y="4014788"/>
            <a:ext cx="1309687" cy="2830512"/>
            <a:chOff x="4155" y="2529"/>
            <a:chExt cx="825" cy="1783"/>
          </a:xfrm>
        </p:grpSpPr>
        <p:sp>
          <p:nvSpPr>
            <p:cNvPr id="25630" name="Freeform 29"/>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25631" name="AutoShape 30"/>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25624" name="Group 31"/>
          <p:cNvGrpSpPr>
            <a:grpSpLocks/>
          </p:cNvGrpSpPr>
          <p:nvPr/>
        </p:nvGrpSpPr>
        <p:grpSpPr bwMode="auto">
          <a:xfrm>
            <a:off x="3713163" y="5465763"/>
            <a:ext cx="620712" cy="557212"/>
            <a:chOff x="2339" y="3443"/>
            <a:chExt cx="391" cy="351"/>
          </a:xfrm>
        </p:grpSpPr>
        <p:pic>
          <p:nvPicPr>
            <p:cNvPr id="25628" name="Picture 32"/>
            <p:cNvPicPr>
              <a:picLocks noChangeAspect="1" noChangeArrowheads="1"/>
            </p:cNvPicPr>
            <p:nvPr/>
          </p:nvPicPr>
          <p:blipFill>
            <a:blip r:embed="rId6"/>
            <a:srcRect l="51314" b="42641"/>
            <a:stretch>
              <a:fillRect/>
            </a:stretch>
          </p:blipFill>
          <p:spPr bwMode="auto">
            <a:xfrm>
              <a:off x="2369" y="3495"/>
              <a:ext cx="334" cy="300"/>
            </a:xfrm>
            <a:prstGeom prst="rect">
              <a:avLst/>
            </a:prstGeom>
            <a:noFill/>
            <a:ln w="9525">
              <a:noFill/>
              <a:miter lim="800000"/>
              <a:headEnd/>
              <a:tailEnd/>
            </a:ln>
          </p:spPr>
        </p:pic>
        <p:sp>
          <p:nvSpPr>
            <p:cNvPr id="25629" name="AutoShape 33"/>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25625" name="Group 34"/>
          <p:cNvGrpSpPr>
            <a:grpSpLocks/>
          </p:cNvGrpSpPr>
          <p:nvPr/>
        </p:nvGrpSpPr>
        <p:grpSpPr bwMode="auto">
          <a:xfrm>
            <a:off x="5548313" y="5454650"/>
            <a:ext cx="620712" cy="549275"/>
            <a:chOff x="3495" y="3436"/>
            <a:chExt cx="391" cy="346"/>
          </a:xfrm>
        </p:grpSpPr>
        <p:pic>
          <p:nvPicPr>
            <p:cNvPr id="25626" name="Picture 35"/>
            <p:cNvPicPr>
              <a:picLocks noChangeAspect="1" noChangeArrowheads="1"/>
            </p:cNvPicPr>
            <p:nvPr/>
          </p:nvPicPr>
          <p:blipFill>
            <a:blip r:embed="rId7"/>
            <a:srcRect/>
            <a:stretch>
              <a:fillRect/>
            </a:stretch>
          </p:blipFill>
          <p:spPr bwMode="auto">
            <a:xfrm>
              <a:off x="3530" y="3511"/>
              <a:ext cx="295" cy="272"/>
            </a:xfrm>
            <a:prstGeom prst="rect">
              <a:avLst/>
            </a:prstGeom>
            <a:noFill/>
            <a:ln w="9525">
              <a:noFill/>
              <a:miter lim="800000"/>
              <a:headEnd/>
              <a:tailEnd/>
            </a:ln>
          </p:spPr>
        </p:pic>
        <p:sp>
          <p:nvSpPr>
            <p:cNvPr id="25627" name="AutoShape 36"/>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Tree>
  </p:cSld>
  <p:clrMapOvr>
    <a:masterClrMapping/>
  </p:clrMapOvr>
  <p:transition>
    <p:pull dir="l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p:nvPr>
        </p:nvSpPr>
        <p:spPr>
          <a:xfrm>
            <a:off x="304800" y="342900"/>
            <a:ext cx="7772400" cy="1143000"/>
          </a:xfrm>
        </p:spPr>
        <p:txBody>
          <a:bodyP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mtClean="0"/>
              <a:t>Deleting a Record</a:t>
            </a:r>
          </a:p>
        </p:txBody>
      </p:sp>
      <p:sp>
        <p:nvSpPr>
          <p:cNvPr id="26627" name="Freeform 2"/>
          <p:cNvSpPr>
            <a:spLocks noChangeArrowheads="1"/>
          </p:cNvSpPr>
          <p:nvPr/>
        </p:nvSpPr>
        <p:spPr bwMode="auto">
          <a:xfrm>
            <a:off x="6818313" y="3355975"/>
            <a:ext cx="1309687" cy="2830513"/>
          </a:xfrm>
          <a:custGeom>
            <a:avLst/>
            <a:gdLst>
              <a:gd name="T0" fmla="*/ 1473 w 3639"/>
              <a:gd name="T1" fmla="*/ 0 h 7864"/>
              <a:gd name="T2" fmla="*/ 0 w 3639"/>
              <a:gd name="T3" fmla="*/ 4211 h 7864"/>
              <a:gd name="T4" fmla="*/ 445 w 3639"/>
              <a:gd name="T5" fmla="*/ 4917 h 7864"/>
              <a:gd name="T6" fmla="*/ 189 w 3639"/>
              <a:gd name="T7" fmla="*/ 5411 h 7864"/>
              <a:gd name="T8" fmla="*/ 1067 w 3639"/>
              <a:gd name="T9" fmla="*/ 7863 h 7864"/>
              <a:gd name="T10" fmla="*/ 3638 w 3639"/>
              <a:gd name="T11" fmla="*/ 5146 h 7864"/>
              <a:gd name="T12" fmla="*/ 1473 w 3639"/>
              <a:gd name="T13" fmla="*/ 0 h 7864"/>
              <a:gd name="T14" fmla="*/ 0 60000 65536"/>
              <a:gd name="T15" fmla="*/ 0 60000 65536"/>
              <a:gd name="T16" fmla="*/ 0 60000 65536"/>
              <a:gd name="T17" fmla="*/ 0 60000 65536"/>
              <a:gd name="T18" fmla="*/ 0 60000 65536"/>
              <a:gd name="T19" fmla="*/ 0 60000 65536"/>
              <a:gd name="T20" fmla="*/ 0 60000 65536"/>
              <a:gd name="T21" fmla="*/ 0 w 3639"/>
              <a:gd name="T22" fmla="*/ 0 h 7864"/>
              <a:gd name="T23" fmla="*/ 3639 w 3639"/>
              <a:gd name="T24" fmla="*/ 7864 h 7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39" h="7864">
                <a:moveTo>
                  <a:pt x="1473" y="0"/>
                </a:moveTo>
                <a:lnTo>
                  <a:pt x="0" y="4211"/>
                </a:lnTo>
                <a:lnTo>
                  <a:pt x="445" y="4917"/>
                </a:lnTo>
                <a:lnTo>
                  <a:pt x="189" y="5411"/>
                </a:lnTo>
                <a:lnTo>
                  <a:pt x="1067" y="7863"/>
                </a:lnTo>
                <a:lnTo>
                  <a:pt x="3638" y="5146"/>
                </a:lnTo>
                <a:lnTo>
                  <a:pt x="1473" y="0"/>
                </a:lnTo>
              </a:path>
            </a:pathLst>
          </a:custGeom>
          <a:noFill/>
          <a:ln w="9525">
            <a:noFill/>
            <a:round/>
            <a:headEnd/>
            <a:tailEnd/>
          </a:ln>
        </p:spPr>
        <p:txBody>
          <a:bodyPr/>
          <a:lstStyle/>
          <a:p>
            <a:endParaRPr lang="en-US"/>
          </a:p>
        </p:txBody>
      </p:sp>
      <p:sp>
        <p:nvSpPr>
          <p:cNvPr id="26628" name="AutoShape 3"/>
          <p:cNvSpPr>
            <a:spLocks noChangeArrowheads="1"/>
          </p:cNvSpPr>
          <p:nvPr/>
        </p:nvSpPr>
        <p:spPr bwMode="auto">
          <a:xfrm>
            <a:off x="839788" y="5341938"/>
            <a:ext cx="6046787"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6629" name="Line 4"/>
          <p:cNvSpPr>
            <a:spLocks noChangeShapeType="1"/>
          </p:cNvSpPr>
          <p:nvPr/>
        </p:nvSpPr>
        <p:spPr bwMode="auto">
          <a:xfrm>
            <a:off x="1752600" y="5338763"/>
            <a:ext cx="1588" cy="792162"/>
          </a:xfrm>
          <a:prstGeom prst="line">
            <a:avLst/>
          </a:prstGeom>
          <a:noFill/>
          <a:ln w="12600">
            <a:solidFill>
              <a:srgbClr val="E0E0E0"/>
            </a:solidFill>
            <a:round/>
            <a:headEnd/>
            <a:tailEnd/>
          </a:ln>
        </p:spPr>
        <p:txBody>
          <a:bodyPr/>
          <a:lstStyle/>
          <a:p>
            <a:endParaRPr lang="en-US"/>
          </a:p>
        </p:txBody>
      </p:sp>
      <p:sp>
        <p:nvSpPr>
          <p:cNvPr id="26630" name="Line 5"/>
          <p:cNvSpPr>
            <a:spLocks noChangeShapeType="1"/>
          </p:cNvSpPr>
          <p:nvPr/>
        </p:nvSpPr>
        <p:spPr bwMode="auto">
          <a:xfrm>
            <a:off x="2667000" y="5338763"/>
            <a:ext cx="1588" cy="792162"/>
          </a:xfrm>
          <a:prstGeom prst="line">
            <a:avLst/>
          </a:prstGeom>
          <a:noFill/>
          <a:ln w="12600">
            <a:solidFill>
              <a:srgbClr val="E0E0E0"/>
            </a:solidFill>
            <a:round/>
            <a:headEnd/>
            <a:tailEnd/>
          </a:ln>
        </p:spPr>
        <p:txBody>
          <a:bodyPr/>
          <a:lstStyle/>
          <a:p>
            <a:endParaRPr lang="en-US"/>
          </a:p>
        </p:txBody>
      </p:sp>
      <p:sp>
        <p:nvSpPr>
          <p:cNvPr id="26631" name="Line 6"/>
          <p:cNvSpPr>
            <a:spLocks noChangeShapeType="1"/>
          </p:cNvSpPr>
          <p:nvPr/>
        </p:nvSpPr>
        <p:spPr bwMode="auto">
          <a:xfrm>
            <a:off x="3579813" y="5338763"/>
            <a:ext cx="1587" cy="792162"/>
          </a:xfrm>
          <a:prstGeom prst="line">
            <a:avLst/>
          </a:prstGeom>
          <a:noFill/>
          <a:ln w="12600">
            <a:solidFill>
              <a:srgbClr val="E0E0E0"/>
            </a:solidFill>
            <a:round/>
            <a:headEnd/>
            <a:tailEnd/>
          </a:ln>
        </p:spPr>
        <p:txBody>
          <a:bodyPr/>
          <a:lstStyle/>
          <a:p>
            <a:endParaRPr lang="en-US"/>
          </a:p>
        </p:txBody>
      </p:sp>
      <p:sp>
        <p:nvSpPr>
          <p:cNvPr id="26632" name="Line 7"/>
          <p:cNvSpPr>
            <a:spLocks noChangeShapeType="1"/>
          </p:cNvSpPr>
          <p:nvPr/>
        </p:nvSpPr>
        <p:spPr bwMode="auto">
          <a:xfrm>
            <a:off x="4495800" y="5341938"/>
            <a:ext cx="1588" cy="784225"/>
          </a:xfrm>
          <a:prstGeom prst="line">
            <a:avLst/>
          </a:prstGeom>
          <a:noFill/>
          <a:ln w="12600">
            <a:solidFill>
              <a:srgbClr val="E0E0E0"/>
            </a:solidFill>
            <a:round/>
            <a:headEnd/>
            <a:tailEnd/>
          </a:ln>
        </p:spPr>
        <p:txBody>
          <a:bodyPr/>
          <a:lstStyle/>
          <a:p>
            <a:endParaRPr lang="en-US"/>
          </a:p>
        </p:txBody>
      </p:sp>
      <p:sp>
        <p:nvSpPr>
          <p:cNvPr id="26633" name="Line 8"/>
          <p:cNvSpPr>
            <a:spLocks noChangeShapeType="1"/>
          </p:cNvSpPr>
          <p:nvPr/>
        </p:nvSpPr>
        <p:spPr bwMode="auto">
          <a:xfrm>
            <a:off x="5410200" y="5341938"/>
            <a:ext cx="1588" cy="784225"/>
          </a:xfrm>
          <a:prstGeom prst="line">
            <a:avLst/>
          </a:prstGeom>
          <a:noFill/>
          <a:ln w="12600">
            <a:solidFill>
              <a:srgbClr val="E0E0E0"/>
            </a:solidFill>
            <a:round/>
            <a:headEnd/>
            <a:tailEnd/>
          </a:ln>
        </p:spPr>
        <p:txBody>
          <a:bodyPr/>
          <a:lstStyle/>
          <a:p>
            <a:endParaRPr lang="en-US"/>
          </a:p>
        </p:txBody>
      </p:sp>
      <p:sp>
        <p:nvSpPr>
          <p:cNvPr id="26634" name="Line 9"/>
          <p:cNvSpPr>
            <a:spLocks noChangeShapeType="1"/>
          </p:cNvSpPr>
          <p:nvPr/>
        </p:nvSpPr>
        <p:spPr bwMode="auto">
          <a:xfrm>
            <a:off x="6324600" y="5337175"/>
            <a:ext cx="1588" cy="793750"/>
          </a:xfrm>
          <a:prstGeom prst="line">
            <a:avLst/>
          </a:prstGeom>
          <a:noFill/>
          <a:ln w="12600">
            <a:solidFill>
              <a:srgbClr val="E0E0E0"/>
            </a:solidFill>
            <a:round/>
            <a:headEnd/>
            <a:tailEnd/>
          </a:ln>
        </p:spPr>
        <p:txBody>
          <a:bodyPr/>
          <a:lstStyle/>
          <a:p>
            <a:endParaRPr lang="en-US"/>
          </a:p>
        </p:txBody>
      </p:sp>
      <p:sp>
        <p:nvSpPr>
          <p:cNvPr id="26635" name="AutoShape 10"/>
          <p:cNvSpPr>
            <a:spLocks noChangeArrowheads="1"/>
          </p:cNvSpPr>
          <p:nvPr/>
        </p:nvSpPr>
        <p:spPr bwMode="auto">
          <a:xfrm>
            <a:off x="960438" y="4876800"/>
            <a:ext cx="725487"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[ 0 ]</a:t>
            </a:r>
          </a:p>
        </p:txBody>
      </p:sp>
      <p:sp>
        <p:nvSpPr>
          <p:cNvPr id="26636" name="AutoShape 11"/>
          <p:cNvSpPr>
            <a:spLocks noChangeArrowheads="1"/>
          </p:cNvSpPr>
          <p:nvPr/>
        </p:nvSpPr>
        <p:spPr bwMode="auto">
          <a:xfrm>
            <a:off x="18208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[ 1 ]</a:t>
            </a:r>
          </a:p>
        </p:txBody>
      </p:sp>
      <p:sp>
        <p:nvSpPr>
          <p:cNvPr id="26637" name="AutoShape 12"/>
          <p:cNvSpPr>
            <a:spLocks noChangeArrowheads="1"/>
          </p:cNvSpPr>
          <p:nvPr/>
        </p:nvSpPr>
        <p:spPr bwMode="auto">
          <a:xfrm>
            <a:off x="2735263" y="4876800"/>
            <a:ext cx="725487"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[ 2 ]</a:t>
            </a:r>
          </a:p>
        </p:txBody>
      </p:sp>
      <p:sp>
        <p:nvSpPr>
          <p:cNvPr id="26638" name="AutoShape 13"/>
          <p:cNvSpPr>
            <a:spLocks noChangeArrowheads="1"/>
          </p:cNvSpPr>
          <p:nvPr/>
        </p:nvSpPr>
        <p:spPr bwMode="auto">
          <a:xfrm>
            <a:off x="36163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[ 3 ]</a:t>
            </a:r>
          </a:p>
        </p:txBody>
      </p:sp>
      <p:sp>
        <p:nvSpPr>
          <p:cNvPr id="26639" name="AutoShape 14"/>
          <p:cNvSpPr>
            <a:spLocks noChangeArrowheads="1"/>
          </p:cNvSpPr>
          <p:nvPr/>
        </p:nvSpPr>
        <p:spPr bwMode="auto">
          <a:xfrm>
            <a:off x="453072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[ 4 ]</a:t>
            </a:r>
          </a:p>
        </p:txBody>
      </p:sp>
      <p:sp>
        <p:nvSpPr>
          <p:cNvPr id="26640" name="AutoShape 15"/>
          <p:cNvSpPr>
            <a:spLocks noChangeArrowheads="1"/>
          </p:cNvSpPr>
          <p:nvPr/>
        </p:nvSpPr>
        <p:spPr bwMode="auto">
          <a:xfrm>
            <a:off x="5502275" y="4876800"/>
            <a:ext cx="725488" cy="457200"/>
          </a:xfrm>
          <a:prstGeom prst="roundRect">
            <a:avLst>
              <a:gd name="adj" fmla="val 347"/>
            </a:avLst>
          </a:prstGeom>
          <a:noFill/>
          <a:ln w="9525">
            <a:noFill/>
            <a:round/>
            <a:headEnd/>
            <a:tailEnd/>
          </a:ln>
        </p:spPr>
        <p:txBody>
          <a:bodyPr wrap="none" lIns="90360" tIns="44280" rIns="90360" bIns="44280">
            <a:spAutoFit/>
          </a:bodyPr>
          <a:lstStyle/>
          <a:p>
            <a:pPr algn="ct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[ 5 ]</a:t>
            </a:r>
          </a:p>
        </p:txBody>
      </p:sp>
      <p:sp>
        <p:nvSpPr>
          <p:cNvPr id="26641" name="AutoShape 16"/>
          <p:cNvSpPr>
            <a:spLocks noChangeArrowheads="1"/>
          </p:cNvSpPr>
          <p:nvPr/>
        </p:nvSpPr>
        <p:spPr bwMode="auto">
          <a:xfrm>
            <a:off x="7669213" y="5341938"/>
            <a:ext cx="901700" cy="785812"/>
          </a:xfrm>
          <a:prstGeom prst="roundRect">
            <a:avLst>
              <a:gd name="adj" fmla="val 199"/>
            </a:avLst>
          </a:prstGeom>
          <a:solidFill>
            <a:srgbClr val="8080FF"/>
          </a:solidFill>
          <a:ln w="12600">
            <a:solidFill>
              <a:srgbClr val="E0E0E0"/>
            </a:solidFill>
            <a:round/>
            <a:headEnd/>
            <a:tailEnd/>
          </a:ln>
        </p:spPr>
        <p:txBody>
          <a:bodyPr wrap="none" anchor="ctr"/>
          <a:lstStyle/>
          <a:p>
            <a:endParaRPr lang="en-US"/>
          </a:p>
        </p:txBody>
      </p:sp>
      <p:sp>
        <p:nvSpPr>
          <p:cNvPr id="26642" name="AutoShape 17"/>
          <p:cNvSpPr>
            <a:spLocks noChangeArrowheads="1"/>
          </p:cNvSpPr>
          <p:nvPr/>
        </p:nvSpPr>
        <p:spPr bwMode="auto">
          <a:xfrm>
            <a:off x="7824788" y="4879975"/>
            <a:ext cx="981075" cy="457200"/>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[ 700]</a:t>
            </a:r>
          </a:p>
        </p:txBody>
      </p:sp>
      <p:grpSp>
        <p:nvGrpSpPr>
          <p:cNvPr id="26643" name="Group 18"/>
          <p:cNvGrpSpPr>
            <a:grpSpLocks/>
          </p:cNvGrpSpPr>
          <p:nvPr/>
        </p:nvGrpSpPr>
        <p:grpSpPr bwMode="auto">
          <a:xfrm>
            <a:off x="2822575" y="5449888"/>
            <a:ext cx="674688" cy="568325"/>
            <a:chOff x="1778" y="3433"/>
            <a:chExt cx="425" cy="358"/>
          </a:xfrm>
        </p:grpSpPr>
        <p:sp>
          <p:nvSpPr>
            <p:cNvPr id="26661" name="AutoShape 19"/>
            <p:cNvSpPr>
              <a:spLocks noChangeArrowheads="1"/>
            </p:cNvSpPr>
            <p:nvPr/>
          </p:nvSpPr>
          <p:spPr bwMode="auto">
            <a:xfrm>
              <a:off x="1778" y="3433"/>
              <a:ext cx="426"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233667136</a:t>
              </a:r>
            </a:p>
          </p:txBody>
        </p:sp>
        <p:pic>
          <p:nvPicPr>
            <p:cNvPr id="26662" name="Picture 20"/>
            <p:cNvPicPr>
              <a:picLocks noChangeAspect="1" noChangeArrowheads="1"/>
            </p:cNvPicPr>
            <p:nvPr/>
          </p:nvPicPr>
          <p:blipFill>
            <a:blip r:embed="rId3"/>
            <a:srcRect/>
            <a:stretch>
              <a:fillRect/>
            </a:stretch>
          </p:blipFill>
          <p:spPr bwMode="auto">
            <a:xfrm>
              <a:off x="1806" y="3488"/>
              <a:ext cx="327" cy="304"/>
            </a:xfrm>
            <a:prstGeom prst="rect">
              <a:avLst/>
            </a:prstGeom>
            <a:noFill/>
            <a:ln w="9525">
              <a:noFill/>
              <a:miter lim="800000"/>
              <a:headEnd/>
              <a:tailEnd/>
            </a:ln>
          </p:spPr>
        </p:pic>
      </p:grpSp>
      <p:grpSp>
        <p:nvGrpSpPr>
          <p:cNvPr id="26644" name="Group 21"/>
          <p:cNvGrpSpPr>
            <a:grpSpLocks/>
          </p:cNvGrpSpPr>
          <p:nvPr/>
        </p:nvGrpSpPr>
        <p:grpSpPr bwMode="auto">
          <a:xfrm>
            <a:off x="1906588" y="5445125"/>
            <a:ext cx="620712" cy="576263"/>
            <a:chOff x="1201" y="3430"/>
            <a:chExt cx="391" cy="363"/>
          </a:xfrm>
        </p:grpSpPr>
        <p:sp>
          <p:nvSpPr>
            <p:cNvPr id="26659" name="AutoShape 22"/>
            <p:cNvSpPr>
              <a:spLocks noChangeArrowheads="1"/>
            </p:cNvSpPr>
            <p:nvPr/>
          </p:nvSpPr>
          <p:spPr bwMode="auto">
            <a:xfrm>
              <a:off x="1201" y="3430"/>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281942902</a:t>
              </a:r>
            </a:p>
          </p:txBody>
        </p:sp>
        <p:pic>
          <p:nvPicPr>
            <p:cNvPr id="26660" name="Picture 23"/>
            <p:cNvPicPr>
              <a:picLocks noChangeAspect="1" noChangeArrowheads="1"/>
            </p:cNvPicPr>
            <p:nvPr/>
          </p:nvPicPr>
          <p:blipFill>
            <a:blip r:embed="rId4"/>
            <a:srcRect/>
            <a:stretch>
              <a:fillRect/>
            </a:stretch>
          </p:blipFill>
          <p:spPr bwMode="auto">
            <a:xfrm>
              <a:off x="1219" y="3493"/>
              <a:ext cx="335" cy="301"/>
            </a:xfrm>
            <a:prstGeom prst="rect">
              <a:avLst/>
            </a:prstGeom>
            <a:noFill/>
            <a:ln w="9525">
              <a:noFill/>
              <a:miter lim="800000"/>
              <a:headEnd/>
              <a:tailEnd/>
            </a:ln>
          </p:spPr>
        </p:pic>
      </p:grpSp>
      <p:grpSp>
        <p:nvGrpSpPr>
          <p:cNvPr id="26645" name="Group 24"/>
          <p:cNvGrpSpPr>
            <a:grpSpLocks/>
          </p:cNvGrpSpPr>
          <p:nvPr/>
        </p:nvGrpSpPr>
        <p:grpSpPr bwMode="auto">
          <a:xfrm>
            <a:off x="7764463" y="5480050"/>
            <a:ext cx="725487" cy="506413"/>
            <a:chOff x="4891" y="3452"/>
            <a:chExt cx="457" cy="319"/>
          </a:xfrm>
        </p:grpSpPr>
        <p:sp>
          <p:nvSpPr>
            <p:cNvPr id="26657" name="AutoShape 25"/>
            <p:cNvSpPr>
              <a:spLocks noChangeArrowheads="1"/>
            </p:cNvSpPr>
            <p:nvPr/>
          </p:nvSpPr>
          <p:spPr bwMode="auto">
            <a:xfrm>
              <a:off x="4928" y="3452"/>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155778322</a:t>
              </a:r>
            </a:p>
          </p:txBody>
        </p:sp>
        <p:pic>
          <p:nvPicPr>
            <p:cNvPr id="26658" name="Picture 26"/>
            <p:cNvPicPr>
              <a:picLocks noChangeAspect="1" noChangeArrowheads="1"/>
            </p:cNvPicPr>
            <p:nvPr/>
          </p:nvPicPr>
          <p:blipFill>
            <a:blip r:embed="rId5"/>
            <a:srcRect b="53267"/>
            <a:stretch>
              <a:fillRect/>
            </a:stretch>
          </p:blipFill>
          <p:spPr bwMode="auto">
            <a:xfrm>
              <a:off x="4891" y="3500"/>
              <a:ext cx="458" cy="272"/>
            </a:xfrm>
            <a:prstGeom prst="rect">
              <a:avLst/>
            </a:prstGeom>
            <a:noFill/>
            <a:ln w="9525">
              <a:noFill/>
              <a:miter lim="800000"/>
              <a:headEnd/>
              <a:tailEnd/>
            </a:ln>
          </p:spPr>
        </p:pic>
      </p:grpSp>
      <p:grpSp>
        <p:nvGrpSpPr>
          <p:cNvPr id="26646" name="Group 27"/>
          <p:cNvGrpSpPr>
            <a:grpSpLocks/>
          </p:cNvGrpSpPr>
          <p:nvPr/>
        </p:nvGrpSpPr>
        <p:grpSpPr bwMode="auto">
          <a:xfrm>
            <a:off x="6596063" y="4014788"/>
            <a:ext cx="1309687" cy="2830512"/>
            <a:chOff x="4155" y="2529"/>
            <a:chExt cx="825" cy="1783"/>
          </a:xfrm>
        </p:grpSpPr>
        <p:sp>
          <p:nvSpPr>
            <p:cNvPr id="26655" name="Freeform 28"/>
            <p:cNvSpPr>
              <a:spLocks noChangeArrowheads="1"/>
            </p:cNvSpPr>
            <p:nvPr/>
          </p:nvSpPr>
          <p:spPr bwMode="auto">
            <a:xfrm>
              <a:off x="4155" y="2529"/>
              <a:ext cx="826" cy="1784"/>
            </a:xfrm>
            <a:custGeom>
              <a:avLst/>
              <a:gdLst>
                <a:gd name="T0" fmla="*/ 1475 w 3644"/>
                <a:gd name="T1" fmla="*/ 0 h 7868"/>
                <a:gd name="T2" fmla="*/ 0 w 3644"/>
                <a:gd name="T3" fmla="*/ 4213 h 7868"/>
                <a:gd name="T4" fmla="*/ 445 w 3644"/>
                <a:gd name="T5" fmla="*/ 4920 h 7868"/>
                <a:gd name="T6" fmla="*/ 189 w 3644"/>
                <a:gd name="T7" fmla="*/ 5414 h 7868"/>
                <a:gd name="T8" fmla="*/ 1068 w 3644"/>
                <a:gd name="T9" fmla="*/ 7867 h 7868"/>
                <a:gd name="T10" fmla="*/ 3643 w 3644"/>
                <a:gd name="T11" fmla="*/ 5149 h 7868"/>
                <a:gd name="T12" fmla="*/ 1475 w 3644"/>
                <a:gd name="T13" fmla="*/ 0 h 7868"/>
                <a:gd name="T14" fmla="*/ 0 60000 65536"/>
                <a:gd name="T15" fmla="*/ 0 60000 65536"/>
                <a:gd name="T16" fmla="*/ 0 60000 65536"/>
                <a:gd name="T17" fmla="*/ 0 60000 65536"/>
                <a:gd name="T18" fmla="*/ 0 60000 65536"/>
                <a:gd name="T19" fmla="*/ 0 60000 65536"/>
                <a:gd name="T20" fmla="*/ 0 60000 65536"/>
                <a:gd name="T21" fmla="*/ 0 w 3644"/>
                <a:gd name="T22" fmla="*/ 0 h 7868"/>
                <a:gd name="T23" fmla="*/ 3644 w 3644"/>
                <a:gd name="T24" fmla="*/ 7868 h 78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644" h="7868">
                  <a:moveTo>
                    <a:pt x="1475" y="0"/>
                  </a:moveTo>
                  <a:lnTo>
                    <a:pt x="0" y="4213"/>
                  </a:lnTo>
                  <a:lnTo>
                    <a:pt x="445" y="4920"/>
                  </a:lnTo>
                  <a:lnTo>
                    <a:pt x="189" y="5414"/>
                  </a:lnTo>
                  <a:lnTo>
                    <a:pt x="1068" y="7867"/>
                  </a:lnTo>
                  <a:lnTo>
                    <a:pt x="3643" y="5149"/>
                  </a:lnTo>
                  <a:lnTo>
                    <a:pt x="1475" y="0"/>
                  </a:lnTo>
                </a:path>
              </a:pathLst>
            </a:custGeom>
            <a:noFill/>
            <a:ln w="9525">
              <a:noFill/>
              <a:round/>
              <a:headEnd/>
              <a:tailEnd/>
            </a:ln>
          </p:spPr>
          <p:txBody>
            <a:bodyPr/>
            <a:lstStyle/>
            <a:p>
              <a:endParaRPr lang="en-US"/>
            </a:p>
          </p:txBody>
        </p:sp>
        <p:sp>
          <p:nvSpPr>
            <p:cNvPr id="26656" name="AutoShape 29"/>
            <p:cNvSpPr>
              <a:spLocks noChangeArrowheads="1"/>
            </p:cNvSpPr>
            <p:nvPr/>
          </p:nvSpPr>
          <p:spPr bwMode="auto">
            <a:xfrm>
              <a:off x="4353" y="3461"/>
              <a:ext cx="383" cy="288"/>
            </a:xfrm>
            <a:prstGeom prst="roundRect">
              <a:avLst>
                <a:gd name="adj" fmla="val 347"/>
              </a:avLst>
            </a:prstGeom>
            <a:noFill/>
            <a:ln w="9525">
              <a:noFill/>
              <a:round/>
              <a:headEnd/>
              <a:tailEnd/>
            </a:ln>
          </p:spPr>
          <p:txBody>
            <a:bodyPr wrap="none" lIns="90360" tIns="44280" rIns="90360" bIns="4428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a:solidFill>
                    <a:schemeClr val="tx1"/>
                  </a:solidFill>
                </a:rPr>
                <a:t>. . .</a:t>
              </a:r>
            </a:p>
          </p:txBody>
        </p:sp>
      </p:grpSp>
      <p:grpSp>
        <p:nvGrpSpPr>
          <p:cNvPr id="26647" name="Group 30"/>
          <p:cNvGrpSpPr>
            <a:grpSpLocks/>
          </p:cNvGrpSpPr>
          <p:nvPr/>
        </p:nvGrpSpPr>
        <p:grpSpPr bwMode="auto">
          <a:xfrm>
            <a:off x="3713163" y="5465763"/>
            <a:ext cx="620712" cy="557212"/>
            <a:chOff x="2339" y="3443"/>
            <a:chExt cx="391" cy="351"/>
          </a:xfrm>
        </p:grpSpPr>
        <p:pic>
          <p:nvPicPr>
            <p:cNvPr id="26653" name="Picture 31"/>
            <p:cNvPicPr>
              <a:picLocks noChangeAspect="1" noChangeArrowheads="1"/>
            </p:cNvPicPr>
            <p:nvPr/>
          </p:nvPicPr>
          <p:blipFill>
            <a:blip r:embed="rId6"/>
            <a:srcRect l="51314" b="42641"/>
            <a:stretch>
              <a:fillRect/>
            </a:stretch>
          </p:blipFill>
          <p:spPr bwMode="auto">
            <a:xfrm>
              <a:off x="2369" y="3495"/>
              <a:ext cx="334" cy="300"/>
            </a:xfrm>
            <a:prstGeom prst="rect">
              <a:avLst/>
            </a:prstGeom>
            <a:noFill/>
            <a:ln w="9525">
              <a:noFill/>
              <a:miter lim="800000"/>
              <a:headEnd/>
              <a:tailEnd/>
            </a:ln>
          </p:spPr>
        </p:pic>
        <p:sp>
          <p:nvSpPr>
            <p:cNvPr id="26654" name="AutoShape 32"/>
            <p:cNvSpPr>
              <a:spLocks noChangeArrowheads="1"/>
            </p:cNvSpPr>
            <p:nvPr/>
          </p:nvSpPr>
          <p:spPr bwMode="auto">
            <a:xfrm>
              <a:off x="2339" y="3443"/>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580625685</a:t>
              </a:r>
            </a:p>
          </p:txBody>
        </p:sp>
      </p:grpSp>
      <p:grpSp>
        <p:nvGrpSpPr>
          <p:cNvPr id="26648" name="Group 33"/>
          <p:cNvGrpSpPr>
            <a:grpSpLocks/>
          </p:cNvGrpSpPr>
          <p:nvPr/>
        </p:nvGrpSpPr>
        <p:grpSpPr bwMode="auto">
          <a:xfrm>
            <a:off x="5548313" y="5454650"/>
            <a:ext cx="620712" cy="549275"/>
            <a:chOff x="3495" y="3436"/>
            <a:chExt cx="391" cy="346"/>
          </a:xfrm>
        </p:grpSpPr>
        <p:pic>
          <p:nvPicPr>
            <p:cNvPr id="26651" name="Picture 34"/>
            <p:cNvPicPr>
              <a:picLocks noChangeAspect="1" noChangeArrowheads="1"/>
            </p:cNvPicPr>
            <p:nvPr/>
          </p:nvPicPr>
          <p:blipFill>
            <a:blip r:embed="rId7"/>
            <a:srcRect/>
            <a:stretch>
              <a:fillRect/>
            </a:stretch>
          </p:blipFill>
          <p:spPr bwMode="auto">
            <a:xfrm>
              <a:off x="3530" y="3511"/>
              <a:ext cx="295" cy="272"/>
            </a:xfrm>
            <a:prstGeom prst="rect">
              <a:avLst/>
            </a:prstGeom>
            <a:noFill/>
            <a:ln w="9525">
              <a:noFill/>
              <a:miter lim="800000"/>
              <a:headEnd/>
              <a:tailEnd/>
            </a:ln>
          </p:spPr>
        </p:pic>
        <p:sp>
          <p:nvSpPr>
            <p:cNvPr id="26652" name="AutoShape 35"/>
            <p:cNvSpPr>
              <a:spLocks noChangeArrowheads="1"/>
            </p:cNvSpPr>
            <p:nvPr/>
          </p:nvSpPr>
          <p:spPr bwMode="auto">
            <a:xfrm>
              <a:off x="3495" y="3436"/>
              <a:ext cx="392" cy="62"/>
            </a:xfrm>
            <a:prstGeom prst="roundRect">
              <a:avLst>
                <a:gd name="adj" fmla="val 1611"/>
              </a:avLst>
            </a:prstGeom>
            <a:noFill/>
            <a:ln w="9525">
              <a:noFill/>
              <a:round/>
              <a:headEnd/>
              <a:tailEnd/>
            </a:ln>
          </p:spPr>
          <p:txBody>
            <a:bodyPr wrap="none" lIns="23760" tIns="11160" rIns="23760" bIns="11160">
              <a:spAutoFit/>
            </a:bodyPr>
            <a:lstStyle/>
            <a:p>
              <a:pPr>
                <a:lnSpc>
                  <a:spcPct val="93000"/>
                </a:lnSpc>
                <a:buClr>
                  <a:srgbClr val="E0E0E0"/>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00" b="1">
                  <a:solidFill>
                    <a:schemeClr val="tx1"/>
                  </a:solidFill>
                </a:rPr>
                <a:t>Number 701466868</a:t>
              </a:r>
            </a:p>
          </p:txBody>
        </p:sp>
      </p:grpSp>
      <p:sp>
        <p:nvSpPr>
          <p:cNvPr id="26649" name="AutoShape 36"/>
          <p:cNvSpPr>
            <a:spLocks noChangeArrowheads="1"/>
          </p:cNvSpPr>
          <p:nvPr/>
        </p:nvSpPr>
        <p:spPr bwMode="auto">
          <a:xfrm>
            <a:off x="4484688" y="5332413"/>
            <a:ext cx="901700" cy="785812"/>
          </a:xfrm>
          <a:prstGeom prst="roundRect">
            <a:avLst>
              <a:gd name="adj" fmla="val 199"/>
            </a:avLst>
          </a:prstGeom>
          <a:blipFill dpi="0" rotWithShape="0">
            <a:blip r:embed="rId8"/>
            <a:srcRect/>
            <a:tile tx="0" ty="0" sx="100000" sy="100000" flip="none" algn="tl"/>
          </a:blipFill>
          <a:ln w="12600">
            <a:solidFill>
              <a:srgbClr val="000020"/>
            </a:solidFill>
            <a:round/>
            <a:headEnd/>
            <a:tailEnd/>
          </a:ln>
        </p:spPr>
        <p:txBody>
          <a:bodyPr wrap="none" anchor="ctr"/>
          <a:lstStyle/>
          <a:p>
            <a:endParaRPr lang="en-US"/>
          </a:p>
        </p:txBody>
      </p:sp>
      <p:sp>
        <p:nvSpPr>
          <p:cNvPr id="26650" name="Rectangle 37"/>
          <p:cNvSpPr>
            <a:spLocks noGrp="1" noChangeArrowheads="1"/>
          </p:cNvSpPr>
          <p:nvPr>
            <p:ph type="body" idx="1"/>
          </p:nvPr>
        </p:nvSpPr>
        <p:spPr>
          <a:xfrm>
            <a:off x="685800" y="1774825"/>
            <a:ext cx="8277225" cy="4114800"/>
          </a:xfrm>
        </p:spPr>
        <p:txBody>
          <a:bodyPr/>
          <a:lstStyle/>
          <a:p>
            <a:pPr>
              <a:lnSpc>
                <a:spcPct val="95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Records may also be deleted from a hash table.</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But the location must not be left as an ordinary "empty spot" since that could interfere with searches.</a:t>
            </a:r>
          </a:p>
          <a:p>
            <a:pPr>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effectLst/>
              </a:rPr>
              <a:t>The location must be marked in some special way so that a search can tell that the spot used to have something in it.</a:t>
            </a:r>
          </a:p>
        </p:txBody>
      </p:sp>
    </p:spTree>
  </p:cSld>
  <p:clrMapOvr>
    <a:masterClrMapping/>
  </p:clrMapOvr>
  <p:transition>
    <p:pull dir="l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1"/>
          <p:cNvSpPr>
            <a:spLocks noGrp="1" noChangeArrowheads="1"/>
          </p:cNvSpPr>
          <p:nvPr>
            <p:ph type="body"/>
          </p:nvPr>
        </p:nvSpPr>
        <p:spPr>
          <a:xfrm>
            <a:off x="685800" y="1981200"/>
            <a:ext cx="7772400" cy="4195763"/>
          </a:xfrm>
          <a:noFill/>
        </p:spPr>
        <p:txBody>
          <a:bodyPr anchor="t"/>
          <a:lstStyle/>
          <a:p>
            <a:pPr marL="341313" indent="-341313">
              <a:lnSpc>
                <a:spcPct val="95000"/>
              </a:lnSpc>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smtClean="0">
                <a:solidFill>
                  <a:srgbClr val="E0E0E0"/>
                </a:solidFill>
              </a:rPr>
              <a:t>Hash tables store a collection of records with keys.</a:t>
            </a:r>
          </a:p>
          <a:p>
            <a:pPr marL="341313" indent="-341313">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smtClean="0">
                <a:solidFill>
                  <a:srgbClr val="E0E0E0"/>
                </a:solidFill>
              </a:rPr>
              <a:t>The location of a record depends on the hash value of the record's key.</a:t>
            </a:r>
          </a:p>
          <a:p>
            <a:pPr marL="341313" indent="-341313">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smtClean="0">
                <a:solidFill>
                  <a:srgbClr val="E0E0E0"/>
                </a:solidFill>
              </a:rPr>
              <a:t>When a collision occurs, the next available location is used.</a:t>
            </a:r>
          </a:p>
          <a:p>
            <a:pPr marL="341313" indent="-341313">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smtClean="0">
                <a:solidFill>
                  <a:srgbClr val="E0E0E0"/>
                </a:solidFill>
              </a:rPr>
              <a:t>Searching for a particular key is generally quick.</a:t>
            </a:r>
          </a:p>
          <a:p>
            <a:pPr marL="341313" indent="-341313">
              <a:spcBef>
                <a:spcPts val="700"/>
              </a:spcBef>
              <a:buSzPct val="75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GB" sz="2800" smtClean="0">
                <a:solidFill>
                  <a:srgbClr val="E0E0E0"/>
                </a:solidFill>
              </a:rPr>
              <a:t>When an item is deleted, the location must be marked in a special way, so that the searches know that the spot used to be used.</a:t>
            </a:r>
          </a:p>
        </p:txBody>
      </p:sp>
      <p:pic>
        <p:nvPicPr>
          <p:cNvPr id="27651" name="Picture 2"/>
          <p:cNvPicPr>
            <a:picLocks noChangeAspect="1" noChangeArrowheads="1"/>
          </p:cNvPicPr>
          <p:nvPr/>
        </p:nvPicPr>
        <p:blipFill>
          <a:blip r:embed="rId3"/>
          <a:srcRect l="21889"/>
          <a:stretch>
            <a:fillRect/>
          </a:stretch>
        </p:blipFill>
        <p:spPr bwMode="auto">
          <a:xfrm>
            <a:off x="41275" y="0"/>
            <a:ext cx="1625600" cy="1833563"/>
          </a:xfrm>
          <a:prstGeom prst="rect">
            <a:avLst/>
          </a:prstGeom>
          <a:noFill/>
          <a:ln w="9525">
            <a:noFill/>
            <a:miter lim="800000"/>
            <a:headEnd/>
            <a:tailEnd/>
          </a:ln>
        </p:spPr>
      </p:pic>
      <p:sp>
        <p:nvSpPr>
          <p:cNvPr id="28675" name="Rectangle 3"/>
          <p:cNvSpPr>
            <a:spLocks noGrp="1" noChangeArrowheads="1"/>
          </p:cNvSpPr>
          <p:nvPr>
            <p:ph type="title" idx="1"/>
          </p:nvPr>
        </p:nvSpPr>
        <p:spPr>
          <a:xfrm>
            <a:off x="304800" y="342900"/>
            <a:ext cx="7772400" cy="1143000"/>
          </a:xfrm>
          <a:noFill/>
        </p:spPr>
        <p:txBody>
          <a:bodyPr anchor="ctr"/>
          <a:lstStyle/>
          <a:p>
            <a:pPr marL="0" indent="0">
              <a:lnSpc>
                <a:spcPct val="95000"/>
              </a:lnSpc>
              <a:spcBef>
                <a:spcPct val="0"/>
              </a:spcBef>
              <a:buSzPct val="100000"/>
              <a:buFont typeface="Times New Roman" pitchFamily="16"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GB" sz="4400" smtClean="0">
                <a:solidFill>
                  <a:srgbClr val="00CECE"/>
                </a:solidFill>
                <a:effectLst/>
              </a:rPr>
              <a:t>   Summary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28673">
                                            <p:txEl>
                                              <p:pRg st="0" end="0"/>
                                            </p:txEl>
                                          </p:spTgt>
                                        </p:tgtEl>
                                        <p:attrNameLst>
                                          <p:attrName>style.visibility</p:attrName>
                                        </p:attrNameLst>
                                      </p:cBhvr>
                                      <p:to>
                                        <p:strVal val="visible"/>
                                      </p:to>
                                    </p:set>
                                    <p:animEffect transition="in" filter="randombar(vertical)">
                                      <p:cBhvr>
                                        <p:cTn id="7" dur="500"/>
                                        <p:tgtEl>
                                          <p:spTgt spid="286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28673">
                                            <p:txEl>
                                              <p:pRg st="1" end="1"/>
                                            </p:txEl>
                                          </p:spTgt>
                                        </p:tgtEl>
                                        <p:attrNameLst>
                                          <p:attrName>style.visibility</p:attrName>
                                        </p:attrNameLst>
                                      </p:cBhvr>
                                      <p:to>
                                        <p:strVal val="visible"/>
                                      </p:to>
                                    </p:set>
                                    <p:animEffect transition="in" filter="randombar(vertical)">
                                      <p:cBhvr>
                                        <p:cTn id="12" dur="500"/>
                                        <p:tgtEl>
                                          <p:spTgt spid="2867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28673">
                                            <p:txEl>
                                              <p:pRg st="2" end="2"/>
                                            </p:txEl>
                                          </p:spTgt>
                                        </p:tgtEl>
                                        <p:attrNameLst>
                                          <p:attrName>style.visibility</p:attrName>
                                        </p:attrNameLst>
                                      </p:cBhvr>
                                      <p:to>
                                        <p:strVal val="visible"/>
                                      </p:to>
                                    </p:set>
                                    <p:animEffect transition="in" filter="randombar(vertical)">
                                      <p:cBhvr>
                                        <p:cTn id="17" dur="500"/>
                                        <p:tgtEl>
                                          <p:spTgt spid="2867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5" fill="hold" grpId="0" nodeType="clickEffect">
                                  <p:stCondLst>
                                    <p:cond delay="0"/>
                                  </p:stCondLst>
                                  <p:childTnLst>
                                    <p:set>
                                      <p:cBhvr>
                                        <p:cTn id="21" dur="1" fill="hold">
                                          <p:stCondLst>
                                            <p:cond delay="0"/>
                                          </p:stCondLst>
                                        </p:cTn>
                                        <p:tgtEl>
                                          <p:spTgt spid="28673">
                                            <p:txEl>
                                              <p:pRg st="3" end="3"/>
                                            </p:txEl>
                                          </p:spTgt>
                                        </p:tgtEl>
                                        <p:attrNameLst>
                                          <p:attrName>style.visibility</p:attrName>
                                        </p:attrNameLst>
                                      </p:cBhvr>
                                      <p:to>
                                        <p:strVal val="visible"/>
                                      </p:to>
                                    </p:set>
                                    <p:animEffect transition="in" filter="randombar(vertical)">
                                      <p:cBhvr>
                                        <p:cTn id="22" dur="500"/>
                                        <p:tgtEl>
                                          <p:spTgt spid="2867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5" fill="hold" grpId="0" nodeType="clickEffect">
                                  <p:stCondLst>
                                    <p:cond delay="0"/>
                                  </p:stCondLst>
                                  <p:childTnLst>
                                    <p:set>
                                      <p:cBhvr>
                                        <p:cTn id="26" dur="1" fill="hold">
                                          <p:stCondLst>
                                            <p:cond delay="0"/>
                                          </p:stCondLst>
                                        </p:cTn>
                                        <p:tgtEl>
                                          <p:spTgt spid="28673">
                                            <p:txEl>
                                              <p:pRg st="4" end="4"/>
                                            </p:txEl>
                                          </p:spTgt>
                                        </p:tgtEl>
                                        <p:attrNameLst>
                                          <p:attrName>style.visibility</p:attrName>
                                        </p:attrNameLst>
                                      </p:cBhvr>
                                      <p:to>
                                        <p:strVal val="visible"/>
                                      </p:to>
                                    </p:set>
                                    <p:animEffect transition="in" filter="randombar(vertical)">
                                      <p:cBhvr>
                                        <p:cTn id="27" dur="500"/>
                                        <p:tgtEl>
                                          <p:spTgt spid="2867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3" grpId="0" build="p" autoUpdateAnimBg="0"/>
    </p:bld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Unicode MS"/>
      </a:majorFont>
      <a:minorFont>
        <a:latin typeface="Times New Roman"/>
        <a:ea typeface=""/>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800" b="0" i="0" u="none" strike="noStrike" cap="none" normalizeH="0" baseline="0" smtClean="0">
            <a:ln>
              <a:noFill/>
            </a:ln>
            <a:solidFill>
              <a:schemeClr val="bg1"/>
            </a:solidFill>
            <a:effectLst/>
            <a:latin typeface="Times New Roman"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800" b="0" i="0" u="none" strike="noStrike" cap="none" normalizeH="0" baseline="0" smtClean="0">
            <a:ln>
              <a:noFill/>
            </a:ln>
            <a:solidFill>
              <a:schemeClr val="bg1"/>
            </a:solidFill>
            <a:effectLst/>
            <a:latin typeface="Times New Roman"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TotalTime>
  <Words>2366</Words>
  <Application>Microsoft Office PowerPoint</Application>
  <PresentationFormat>On-screen Show (4:3)</PresentationFormat>
  <Paragraphs>443</Paragraphs>
  <Slides>24</Slides>
  <Notes>24</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What is a Hash Table ?</vt:lpstr>
      <vt:lpstr>What is a Hash Table ?</vt:lpstr>
      <vt:lpstr>What is a Hash Table ?</vt:lpstr>
      <vt:lpstr>What is a Hash Table ?</vt:lpstr>
      <vt:lpstr>Inserting a New Record</vt:lpstr>
      <vt:lpstr>Inserting a New Record</vt:lpstr>
      <vt:lpstr>Inserting a New Record</vt:lpstr>
      <vt:lpstr>Inserting a New Record</vt:lpstr>
      <vt:lpstr>Inserting a New Record</vt:lpstr>
      <vt:lpstr>Collisions</vt:lpstr>
      <vt:lpstr>Collisions</vt:lpstr>
      <vt:lpstr>Collisions</vt:lpstr>
      <vt:lpstr>Collisions</vt:lpstr>
      <vt:lpstr>Collisions</vt:lpstr>
      <vt:lpstr>Searching for a Key</vt:lpstr>
      <vt:lpstr>Searching for a Key</vt:lpstr>
      <vt:lpstr>Searching for a Key</vt:lpstr>
      <vt:lpstr>Searching for a Key</vt:lpstr>
      <vt:lpstr>Searching for a Key</vt:lpstr>
      <vt:lpstr>Searching for a Key</vt:lpstr>
      <vt:lpstr>Deleting a Record</vt:lpstr>
      <vt:lpstr>Deleting a Record</vt:lpstr>
      <vt:lpstr>Deleting a Record</vt:lpstr>
      <vt:lpstr>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Hash Tables</dc:title>
  <dc:creator>VIT-Laptop</dc:creator>
  <cp:lastModifiedBy>HP</cp:lastModifiedBy>
  <cp:revision>9</cp:revision>
  <dcterms:modified xsi:type="dcterms:W3CDTF">2023-05-30T16:21:54Z</dcterms:modified>
</cp:coreProperties>
</file>