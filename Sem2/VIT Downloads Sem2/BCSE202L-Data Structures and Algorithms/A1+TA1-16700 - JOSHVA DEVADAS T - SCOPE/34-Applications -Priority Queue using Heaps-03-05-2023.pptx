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6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47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70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52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06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60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27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2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5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3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6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F1E6-1B1F-44CE-8E39-B92F7393EC30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7A0B6-6453-48CE-83CB-1448FF3FE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19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Application of Heap Data Structure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Priority Queues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0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Priority Queue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Priority </a:t>
            </a:r>
            <a:r>
              <a:rPr lang="en-IN" dirty="0"/>
              <a:t>Queue is similar to queue where we insert an element from the back and remove an element from front, but with a </a:t>
            </a:r>
            <a:r>
              <a:rPr lang="en-IN" dirty="0">
                <a:solidFill>
                  <a:srgbClr val="FF0000"/>
                </a:solidFill>
              </a:rPr>
              <a:t>one difference </a:t>
            </a:r>
            <a:r>
              <a:rPr lang="en-IN" dirty="0"/>
              <a:t>that the logical order of elements in the </a:t>
            </a:r>
            <a:r>
              <a:rPr lang="en-IN" dirty="0">
                <a:solidFill>
                  <a:srgbClr val="FF0000"/>
                </a:solidFill>
              </a:rPr>
              <a:t>priority queue depends on the priority of the elements</a:t>
            </a:r>
            <a:r>
              <a:rPr lang="en-IN" dirty="0"/>
              <a:t>. </a:t>
            </a:r>
            <a:endParaRPr lang="en-IN" dirty="0" smtClean="0"/>
          </a:p>
          <a:p>
            <a:pPr algn="just"/>
            <a:r>
              <a:rPr lang="en-IN" dirty="0" smtClean="0"/>
              <a:t>The </a:t>
            </a:r>
            <a:r>
              <a:rPr lang="en-IN" dirty="0"/>
              <a:t>element with </a:t>
            </a:r>
            <a:r>
              <a:rPr lang="en-IN" dirty="0">
                <a:solidFill>
                  <a:srgbClr val="FF0000"/>
                </a:solidFill>
              </a:rPr>
              <a:t>highest priority will be moved to the front of the queue and one with lowest priority will move to the back </a:t>
            </a:r>
            <a:r>
              <a:rPr lang="en-IN" dirty="0"/>
              <a:t>of the queue. </a:t>
            </a:r>
            <a:endParaRPr lang="en-IN" dirty="0" smtClean="0"/>
          </a:p>
          <a:p>
            <a:pPr algn="just"/>
            <a:r>
              <a:rPr lang="en-IN" dirty="0" smtClean="0"/>
              <a:t>Thus </a:t>
            </a:r>
            <a:r>
              <a:rPr lang="en-IN" dirty="0"/>
              <a:t>it is possible that when you </a:t>
            </a:r>
            <a:r>
              <a:rPr lang="en-IN" dirty="0" err="1">
                <a:solidFill>
                  <a:srgbClr val="FF0000"/>
                </a:solidFill>
              </a:rPr>
              <a:t>enqueue</a:t>
            </a:r>
            <a:r>
              <a:rPr lang="en-IN" dirty="0"/>
              <a:t> an element at the back in the queue, it can </a:t>
            </a:r>
            <a:r>
              <a:rPr lang="en-IN" dirty="0">
                <a:solidFill>
                  <a:srgbClr val="FF0000"/>
                </a:solidFill>
              </a:rPr>
              <a:t>move to front </a:t>
            </a:r>
            <a:r>
              <a:rPr lang="en-IN" dirty="0"/>
              <a:t>because of its highest priority.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23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</a:t>
            </a:r>
            <a:r>
              <a:rPr lang="en-IN" b="1" dirty="0" smtClean="0"/>
              <a:t>:</a:t>
            </a:r>
          </a:p>
          <a:p>
            <a:pPr algn="just"/>
            <a:r>
              <a:rPr lang="en-IN" dirty="0" smtClean="0"/>
              <a:t>Let’s </a:t>
            </a:r>
            <a:r>
              <a:rPr lang="en-IN" dirty="0"/>
              <a:t>say we have an array of 5 elements : </a:t>
            </a:r>
            <a:r>
              <a:rPr lang="en-IN" dirty="0" smtClean="0"/>
              <a:t>     {</a:t>
            </a:r>
            <a:r>
              <a:rPr lang="en-IN" dirty="0"/>
              <a:t>4, 8, 1, 7, 3} and we have to insert all the elements in the </a:t>
            </a:r>
            <a:r>
              <a:rPr lang="en-IN" dirty="0">
                <a:solidFill>
                  <a:srgbClr val="FF0000"/>
                </a:solidFill>
              </a:rPr>
              <a:t>max-priority queue</a:t>
            </a:r>
            <a:r>
              <a:rPr lang="en-IN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180" y="2420888"/>
            <a:ext cx="3888432" cy="4133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808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Naive Approach</a:t>
            </a:r>
            <a:r>
              <a:rPr lang="en-IN" b="1" dirty="0" smtClean="0"/>
              <a:t>:</a:t>
            </a:r>
          </a:p>
          <a:p>
            <a:pPr lvl="1"/>
            <a:r>
              <a:rPr lang="en-IN" dirty="0" smtClean="0"/>
              <a:t>Suppose </a:t>
            </a:r>
            <a:r>
              <a:rPr lang="en-IN" dirty="0"/>
              <a:t>we have N elements and we have to insert these elements in the priority queue. </a:t>
            </a:r>
            <a:endParaRPr lang="en-IN" dirty="0" smtClean="0"/>
          </a:p>
          <a:p>
            <a:pPr lvl="1"/>
            <a:r>
              <a:rPr lang="en-IN" dirty="0" smtClean="0"/>
              <a:t>We </a:t>
            </a:r>
            <a:r>
              <a:rPr lang="en-IN" dirty="0"/>
              <a:t>can use list and can insert elements in O(N) time and can </a:t>
            </a:r>
            <a:r>
              <a:rPr lang="en-IN" dirty="0">
                <a:solidFill>
                  <a:srgbClr val="FF0000"/>
                </a:solidFill>
              </a:rPr>
              <a:t>sort</a:t>
            </a:r>
            <a:r>
              <a:rPr lang="en-IN" dirty="0"/>
              <a:t> them to maintain a priority queue in </a:t>
            </a:r>
            <a:r>
              <a:rPr lang="en-IN" dirty="0" smtClean="0"/>
              <a:t>  O(N </a:t>
            </a:r>
            <a:r>
              <a:rPr lang="en-IN" dirty="0" err="1"/>
              <a:t>logN</a:t>
            </a:r>
            <a:r>
              <a:rPr lang="en-IN" dirty="0"/>
              <a:t> ) time.</a:t>
            </a:r>
          </a:p>
          <a:p>
            <a:pPr marL="0" indent="0">
              <a:buNone/>
            </a:pPr>
            <a:r>
              <a:rPr lang="en-IN" b="1" dirty="0"/>
              <a:t>Efficient Approach</a:t>
            </a:r>
            <a:r>
              <a:rPr lang="en-IN" b="1" dirty="0" smtClean="0"/>
              <a:t>:</a:t>
            </a:r>
          </a:p>
          <a:p>
            <a:pPr lvl="1"/>
            <a:r>
              <a:rPr lang="en-IN" dirty="0" smtClean="0"/>
              <a:t>We </a:t>
            </a:r>
            <a:r>
              <a:rPr lang="en-IN" dirty="0"/>
              <a:t>can use </a:t>
            </a:r>
            <a:r>
              <a:rPr lang="en-IN" dirty="0">
                <a:solidFill>
                  <a:srgbClr val="FF0000"/>
                </a:solidFill>
              </a:rPr>
              <a:t>heaps</a:t>
            </a:r>
            <a:r>
              <a:rPr lang="en-IN" dirty="0"/>
              <a:t> to implement the priority queue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 </a:t>
            </a:r>
            <a:r>
              <a:rPr lang="en-IN" dirty="0"/>
              <a:t>It will take </a:t>
            </a:r>
            <a:r>
              <a:rPr lang="en-IN" dirty="0">
                <a:solidFill>
                  <a:srgbClr val="FF0000"/>
                </a:solidFill>
              </a:rPr>
              <a:t>O(log N)</a:t>
            </a:r>
            <a:r>
              <a:rPr lang="en-IN" dirty="0"/>
              <a:t> time to insert and delete each element in the priority queue.</a:t>
            </a:r>
          </a:p>
          <a:p>
            <a:pPr lvl="1"/>
            <a:r>
              <a:rPr lang="en-IN" dirty="0"/>
              <a:t>Based on heap structure, priority queue also has two types </a:t>
            </a:r>
            <a:r>
              <a:rPr lang="en-IN" dirty="0">
                <a:solidFill>
                  <a:srgbClr val="FF0000"/>
                </a:solidFill>
              </a:rPr>
              <a:t>max- priority queue </a:t>
            </a:r>
            <a:r>
              <a:rPr lang="en-IN" dirty="0"/>
              <a:t>and </a:t>
            </a:r>
            <a:r>
              <a:rPr lang="en-IN" dirty="0">
                <a:solidFill>
                  <a:srgbClr val="FF0000"/>
                </a:solidFill>
              </a:rPr>
              <a:t>min - priority queue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83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Max Priority Q</a:t>
            </a:r>
            <a:r>
              <a:rPr lang="en-IN" dirty="0"/>
              <a:t>ueue is based on the structure of </a:t>
            </a:r>
            <a:r>
              <a:rPr lang="en-IN" dirty="0">
                <a:solidFill>
                  <a:srgbClr val="FF0000"/>
                </a:solidFill>
              </a:rPr>
              <a:t>max heap </a:t>
            </a:r>
            <a:r>
              <a:rPr lang="en-IN" dirty="0"/>
              <a:t>and can perform following operations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maximum(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) :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It returns maximum element from the Arr.</a:t>
            </a:r>
            <a:br>
              <a:rPr lang="en-IN" dirty="0"/>
            </a:br>
            <a:r>
              <a:rPr lang="en-IN" b="1" dirty="0" err="1">
                <a:solidFill>
                  <a:srgbClr val="FF0000"/>
                </a:solidFill>
              </a:rPr>
              <a:t>extract_maximum</a:t>
            </a:r>
            <a:r>
              <a:rPr lang="en-IN" b="1" dirty="0">
                <a:solidFill>
                  <a:srgbClr val="FF0000"/>
                </a:solidFill>
              </a:rPr>
              <a:t> 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)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- It removes and return the maximum element from the Arr.</a:t>
            </a:r>
            <a:br>
              <a:rPr lang="en-IN" dirty="0"/>
            </a:br>
            <a:r>
              <a:rPr lang="en-IN" b="1" dirty="0" err="1">
                <a:solidFill>
                  <a:srgbClr val="FF0000"/>
                </a:solidFill>
              </a:rPr>
              <a:t>increase_val</a:t>
            </a:r>
            <a:r>
              <a:rPr lang="en-IN" b="1" dirty="0">
                <a:solidFill>
                  <a:srgbClr val="FF0000"/>
                </a:solidFill>
              </a:rPr>
              <a:t> 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, </a:t>
            </a:r>
            <a:r>
              <a:rPr lang="en-IN" b="1" dirty="0" err="1">
                <a:solidFill>
                  <a:srgbClr val="FF0000"/>
                </a:solidFill>
              </a:rPr>
              <a:t>i</a:t>
            </a:r>
            <a:r>
              <a:rPr lang="en-IN" b="1" dirty="0">
                <a:solidFill>
                  <a:srgbClr val="FF0000"/>
                </a:solidFill>
              </a:rPr>
              <a:t> , </a:t>
            </a:r>
            <a:r>
              <a:rPr lang="en-IN" b="1" dirty="0" err="1">
                <a:solidFill>
                  <a:srgbClr val="FF0000"/>
                </a:solidFill>
              </a:rPr>
              <a:t>val</a:t>
            </a:r>
            <a:r>
              <a:rPr lang="en-IN" b="1" dirty="0">
                <a:solidFill>
                  <a:srgbClr val="FF0000"/>
                </a:solidFill>
              </a:rPr>
              <a:t>)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- It increases the key of element stored at index </a:t>
            </a:r>
            <a:r>
              <a:rPr lang="en-IN" dirty="0" err="1"/>
              <a:t>i</a:t>
            </a:r>
            <a:r>
              <a:rPr lang="en-IN" dirty="0"/>
              <a:t> in </a:t>
            </a:r>
            <a:r>
              <a:rPr lang="en-IN" dirty="0" err="1"/>
              <a:t>Arr</a:t>
            </a:r>
            <a:r>
              <a:rPr lang="en-IN" dirty="0"/>
              <a:t> to new value </a:t>
            </a:r>
            <a:r>
              <a:rPr lang="en-IN" b="1" dirty="0"/>
              <a:t>val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 err="1">
                <a:solidFill>
                  <a:srgbClr val="FF0000"/>
                </a:solidFill>
              </a:rPr>
              <a:t>insert_val</a:t>
            </a:r>
            <a:r>
              <a:rPr lang="en-IN" b="1" dirty="0">
                <a:solidFill>
                  <a:srgbClr val="FF0000"/>
                </a:solidFill>
              </a:rPr>
              <a:t> 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, </a:t>
            </a:r>
            <a:r>
              <a:rPr lang="en-IN" b="1" dirty="0" err="1">
                <a:solidFill>
                  <a:srgbClr val="FF0000"/>
                </a:solidFill>
              </a:rPr>
              <a:t>val</a:t>
            </a:r>
            <a:r>
              <a:rPr lang="en-IN" b="1" dirty="0">
                <a:solidFill>
                  <a:srgbClr val="FF0000"/>
                </a:solidFill>
              </a:rPr>
              <a:t> )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- It inserts the element with value </a:t>
            </a:r>
            <a:r>
              <a:rPr lang="en-IN" b="1" dirty="0" err="1"/>
              <a:t>val</a:t>
            </a:r>
            <a:r>
              <a:rPr lang="en-IN" dirty="0"/>
              <a:t> in Arr.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40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Maximum :</a:t>
            </a: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maximum(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 ])</a:t>
            </a:r>
          </a:p>
          <a:p>
            <a:pPr marL="0" indent="0">
              <a:buNone/>
            </a:pPr>
            <a:r>
              <a:rPr lang="en-US" dirty="0" smtClean="0"/>
              <a:t>    {</a:t>
            </a:r>
          </a:p>
          <a:p>
            <a:pPr marL="0" indent="0">
              <a:buNone/>
            </a:pPr>
            <a:r>
              <a:rPr lang="en-US" dirty="0" smtClean="0"/>
              <a:t>        return </a:t>
            </a:r>
            <a:r>
              <a:rPr lang="en-US" dirty="0" err="1" smtClean="0"/>
              <a:t>Arr</a:t>
            </a:r>
            <a:r>
              <a:rPr lang="en-US" dirty="0" smtClean="0"/>
              <a:t>[ 1 ];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//</a:t>
            </a:r>
            <a:r>
              <a:rPr lang="en-US" sz="2000" dirty="0" smtClean="0"/>
              <a:t>as the maximum element is the root element in the max heap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Complexity: O(1)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71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06477"/>
            <a:ext cx="8856984" cy="646288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Extract Maximum: </a:t>
            </a:r>
            <a:r>
              <a:rPr lang="en-US" dirty="0" smtClean="0"/>
              <a:t>In this operation, the maximum element will be returned and the last element of heap will be placed at index 1 and </a:t>
            </a:r>
            <a:r>
              <a:rPr lang="en-US" dirty="0" err="1" smtClean="0"/>
              <a:t>max_heapify</a:t>
            </a:r>
            <a:r>
              <a:rPr lang="en-US" dirty="0" smtClean="0"/>
              <a:t> will be performed on node 1 as placing last element on index 1 will violate the property of max-heap.</a:t>
            </a:r>
          </a:p>
          <a:p>
            <a:pPr marL="0" indent="0">
              <a:buNone/>
            </a:pP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 smtClean="0"/>
              <a:t>extract_maximum</a:t>
            </a:r>
            <a:r>
              <a:rPr lang="en-US" sz="3600" dirty="0" smtClean="0"/>
              <a:t> (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 smtClean="0"/>
              <a:t>Arr</a:t>
            </a:r>
            <a:r>
              <a:rPr lang="en-US" sz="3600" dirty="0" smtClean="0"/>
              <a:t>[ ])</a:t>
            </a:r>
          </a:p>
          <a:p>
            <a:pPr marL="0" indent="0">
              <a:buNone/>
            </a:pPr>
            <a:r>
              <a:rPr lang="en-US" sz="3600" dirty="0" smtClean="0"/>
              <a:t>{</a:t>
            </a:r>
          </a:p>
          <a:p>
            <a:pPr marL="0" indent="0">
              <a:buNone/>
            </a:pPr>
            <a:r>
              <a:rPr lang="en-US" sz="3600" dirty="0" smtClean="0"/>
              <a:t>    if(length == 0)</a:t>
            </a:r>
          </a:p>
          <a:p>
            <a:pPr marL="0" indent="0">
              <a:buNone/>
            </a:pPr>
            <a:r>
              <a:rPr lang="en-US" sz="3600" dirty="0" smtClean="0"/>
              <a:t>    {   </a:t>
            </a:r>
            <a:r>
              <a:rPr lang="en-US" sz="3600" dirty="0" err="1" smtClean="0"/>
              <a:t>cout</a:t>
            </a:r>
            <a:r>
              <a:rPr lang="en-US" sz="3600" dirty="0" smtClean="0"/>
              <a:t>&lt;&lt; “Can’t remove element as queue is empty”;</a:t>
            </a:r>
          </a:p>
          <a:p>
            <a:pPr marL="0" indent="0">
              <a:buNone/>
            </a:pPr>
            <a:r>
              <a:rPr lang="en-US" sz="3600" dirty="0" smtClean="0"/>
              <a:t>        return -1;</a:t>
            </a:r>
          </a:p>
          <a:p>
            <a:pPr marL="0" indent="0">
              <a:buNone/>
            </a:pPr>
            <a:r>
              <a:rPr lang="en-US" sz="3600" dirty="0" smtClean="0"/>
              <a:t>    }</a:t>
            </a:r>
          </a:p>
          <a:p>
            <a:pPr marL="0" indent="0">
              <a:buNone/>
            </a:pPr>
            <a:r>
              <a:rPr lang="en-US" sz="3600" dirty="0" smtClean="0"/>
              <a:t>    </a:t>
            </a:r>
            <a:r>
              <a:rPr lang="en-US" sz="3600" dirty="0" err="1" smtClean="0"/>
              <a:t>int</a:t>
            </a:r>
            <a:r>
              <a:rPr lang="en-US" sz="3600" dirty="0" smtClean="0"/>
              <a:t> max = </a:t>
            </a:r>
            <a:r>
              <a:rPr lang="en-US" sz="3600" dirty="0" err="1" smtClean="0"/>
              <a:t>Arr</a:t>
            </a:r>
            <a:r>
              <a:rPr lang="en-US" sz="3600" dirty="0" smtClean="0"/>
              <a:t>[1];</a:t>
            </a:r>
          </a:p>
          <a:p>
            <a:pPr marL="0" indent="0">
              <a:buNone/>
            </a:pPr>
            <a:r>
              <a:rPr lang="en-US" sz="3600" dirty="0" smtClean="0"/>
              <a:t>    </a:t>
            </a:r>
            <a:r>
              <a:rPr lang="en-US" sz="3600" dirty="0" err="1" smtClean="0"/>
              <a:t>Arr</a:t>
            </a:r>
            <a:r>
              <a:rPr lang="en-US" sz="3600" dirty="0" smtClean="0"/>
              <a:t>[1] = </a:t>
            </a:r>
            <a:r>
              <a:rPr lang="en-US" sz="3600" dirty="0" err="1" smtClean="0"/>
              <a:t>Arr</a:t>
            </a:r>
            <a:r>
              <a:rPr lang="en-US" sz="3600" dirty="0" smtClean="0"/>
              <a:t>[length];</a:t>
            </a:r>
          </a:p>
          <a:p>
            <a:pPr marL="0" indent="0">
              <a:buNone/>
            </a:pPr>
            <a:r>
              <a:rPr lang="en-US" sz="3600" dirty="0" smtClean="0"/>
              <a:t>    length = length -1;</a:t>
            </a:r>
          </a:p>
          <a:p>
            <a:pPr marL="0" indent="0">
              <a:buNone/>
            </a:pPr>
            <a:r>
              <a:rPr lang="en-US" sz="3600" dirty="0" smtClean="0"/>
              <a:t>    </a:t>
            </a:r>
            <a:r>
              <a:rPr lang="en-US" sz="3600" dirty="0" err="1" smtClean="0"/>
              <a:t>max_heapify</a:t>
            </a:r>
            <a:r>
              <a:rPr lang="en-US" sz="3600" dirty="0" smtClean="0"/>
              <a:t>(</a:t>
            </a:r>
            <a:r>
              <a:rPr lang="en-US" sz="3600" dirty="0" err="1" smtClean="0"/>
              <a:t>Arr</a:t>
            </a:r>
            <a:r>
              <a:rPr lang="en-US" sz="3600" dirty="0" smtClean="0"/>
              <a:t>, 1);</a:t>
            </a:r>
          </a:p>
          <a:p>
            <a:pPr marL="0" indent="0">
              <a:buNone/>
            </a:pPr>
            <a:r>
              <a:rPr lang="en-US" sz="3600" dirty="0" smtClean="0"/>
              <a:t>    return max;</a:t>
            </a:r>
          </a:p>
          <a:p>
            <a:pPr marL="0" indent="0">
              <a:buNone/>
            </a:pPr>
            <a:r>
              <a:rPr lang="en-US" sz="3600" dirty="0" smtClean="0"/>
              <a:t>}                                                                </a:t>
            </a:r>
            <a:r>
              <a:rPr lang="en-US" b="1" dirty="0" smtClean="0">
                <a:solidFill>
                  <a:srgbClr val="FF0000"/>
                </a:solidFill>
              </a:rPr>
              <a:t>Complexity: O(</a:t>
            </a:r>
            <a:r>
              <a:rPr lang="en-US" b="1" dirty="0" err="1" smtClean="0">
                <a:solidFill>
                  <a:srgbClr val="FF0000"/>
                </a:solidFill>
              </a:rPr>
              <a:t>logN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77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000" b="1" dirty="0" smtClean="0">
                <a:solidFill>
                  <a:srgbClr val="FF0000"/>
                </a:solidFill>
              </a:rPr>
              <a:t>Increase Value: </a:t>
            </a:r>
            <a:r>
              <a:rPr lang="en-US" sz="6000" dirty="0" smtClean="0"/>
              <a:t>In case increasing value of any node, may violate the property of max-heap, so we will swap the parent’s value with the node’s value until we get a larger value on parent node.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6500" dirty="0" smtClean="0"/>
              <a:t>void </a:t>
            </a:r>
            <a:r>
              <a:rPr lang="en-US" sz="6500" dirty="0" err="1" smtClean="0"/>
              <a:t>increase_value</a:t>
            </a:r>
            <a:r>
              <a:rPr lang="en-US" sz="6500" dirty="0" smtClean="0"/>
              <a:t> (</a:t>
            </a:r>
            <a:r>
              <a:rPr lang="en-US" sz="6500" dirty="0" err="1" smtClean="0"/>
              <a:t>int</a:t>
            </a:r>
            <a:r>
              <a:rPr lang="en-US" sz="6500" dirty="0" smtClean="0"/>
              <a:t> </a:t>
            </a:r>
            <a:r>
              <a:rPr lang="en-US" sz="6500" dirty="0" err="1" smtClean="0"/>
              <a:t>Arr</a:t>
            </a:r>
            <a:r>
              <a:rPr lang="en-US" sz="6500" dirty="0" smtClean="0"/>
              <a:t>[ ], </a:t>
            </a:r>
            <a:r>
              <a:rPr lang="en-US" sz="6500" dirty="0" err="1" smtClean="0"/>
              <a:t>int</a:t>
            </a:r>
            <a:r>
              <a:rPr lang="en-US" sz="6500" dirty="0" smtClean="0"/>
              <a:t> </a:t>
            </a:r>
            <a:r>
              <a:rPr lang="en-US" sz="6500" dirty="0" err="1" smtClean="0"/>
              <a:t>i</a:t>
            </a:r>
            <a:r>
              <a:rPr lang="en-US" sz="6500" dirty="0" smtClean="0"/>
              <a:t>, </a:t>
            </a:r>
            <a:r>
              <a:rPr lang="en-US" sz="6500" dirty="0" err="1" smtClean="0"/>
              <a:t>int</a:t>
            </a:r>
            <a:r>
              <a:rPr lang="en-US" sz="6500" dirty="0" smtClean="0"/>
              <a:t> </a:t>
            </a:r>
            <a:r>
              <a:rPr lang="en-US" sz="6500" dirty="0" err="1" smtClean="0"/>
              <a:t>val</a:t>
            </a:r>
            <a:r>
              <a:rPr lang="en-US" sz="6500" dirty="0" smtClean="0"/>
              <a:t>)</a:t>
            </a:r>
          </a:p>
          <a:p>
            <a:pPr marL="0" indent="0">
              <a:buNone/>
            </a:pPr>
            <a:r>
              <a:rPr lang="en-US" sz="6500" dirty="0" smtClean="0"/>
              <a:t>{</a:t>
            </a:r>
          </a:p>
          <a:p>
            <a:pPr marL="0" indent="0">
              <a:buNone/>
            </a:pPr>
            <a:r>
              <a:rPr lang="en-US" sz="6500" dirty="0" smtClean="0"/>
              <a:t>    if(</a:t>
            </a:r>
            <a:r>
              <a:rPr lang="en-US" sz="6500" dirty="0" err="1" smtClean="0"/>
              <a:t>val</a:t>
            </a:r>
            <a:r>
              <a:rPr lang="en-US" sz="6500" dirty="0" smtClean="0"/>
              <a:t> &lt; 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 ])</a:t>
            </a:r>
          </a:p>
          <a:p>
            <a:pPr marL="0" indent="0">
              <a:buNone/>
            </a:pPr>
            <a:r>
              <a:rPr lang="en-US" sz="6500" dirty="0" smtClean="0"/>
              <a:t>    { </a:t>
            </a:r>
            <a:r>
              <a:rPr lang="en-US" sz="6500" dirty="0" err="1" smtClean="0"/>
              <a:t>cout</a:t>
            </a:r>
            <a:r>
              <a:rPr lang="en-US" sz="6500" dirty="0" smtClean="0"/>
              <a:t>&lt;&lt;”New value is less than current value, </a:t>
            </a:r>
            <a:r>
              <a:rPr lang="en-US" sz="6500" dirty="0" smtClean="0"/>
              <a:t>No need to   </a:t>
            </a:r>
          </a:p>
          <a:p>
            <a:pPr marL="0" indent="0">
              <a:buNone/>
            </a:pPr>
            <a:r>
              <a:rPr lang="en-US" sz="6500" dirty="0"/>
              <a:t> </a:t>
            </a:r>
            <a:r>
              <a:rPr lang="en-US" sz="6500" dirty="0" smtClean="0"/>
              <a:t>                     </a:t>
            </a:r>
            <a:r>
              <a:rPr lang="en-US" sz="6500" dirty="0" smtClean="0"/>
              <a:t>swap” </a:t>
            </a:r>
            <a:r>
              <a:rPr lang="en-US" sz="6500" dirty="0" smtClean="0"/>
              <a:t>&lt;&lt;</a:t>
            </a:r>
            <a:r>
              <a:rPr lang="en-US" sz="6500" dirty="0" err="1" smtClean="0"/>
              <a:t>endl</a:t>
            </a:r>
            <a:r>
              <a:rPr lang="en-US" sz="6500" dirty="0" smtClean="0"/>
              <a:t>;</a:t>
            </a:r>
          </a:p>
          <a:p>
            <a:pPr marL="0" indent="0">
              <a:buNone/>
            </a:pPr>
            <a:r>
              <a:rPr lang="en-US" sz="6500" dirty="0" smtClean="0"/>
              <a:t>        return;</a:t>
            </a:r>
          </a:p>
          <a:p>
            <a:pPr marL="0" indent="0">
              <a:buNone/>
            </a:pPr>
            <a:r>
              <a:rPr lang="en-US" sz="6500" dirty="0" smtClean="0"/>
              <a:t>    }</a:t>
            </a:r>
          </a:p>
          <a:p>
            <a:pPr marL="0" indent="0">
              <a:buNone/>
            </a:pPr>
            <a:r>
              <a:rPr lang="en-US" sz="6500" dirty="0" smtClean="0"/>
              <a:t>    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 ] = </a:t>
            </a:r>
            <a:r>
              <a:rPr lang="en-US" sz="6500" dirty="0" err="1" smtClean="0"/>
              <a:t>val</a:t>
            </a:r>
            <a:r>
              <a:rPr lang="en-US" sz="6500" dirty="0" smtClean="0"/>
              <a:t>;</a:t>
            </a:r>
          </a:p>
          <a:p>
            <a:pPr marL="0" indent="0">
              <a:buNone/>
            </a:pPr>
            <a:r>
              <a:rPr lang="en-US" sz="6500" dirty="0" smtClean="0"/>
              <a:t>    while( </a:t>
            </a:r>
            <a:r>
              <a:rPr lang="en-US" sz="6500" dirty="0" err="1" smtClean="0"/>
              <a:t>i</a:t>
            </a:r>
            <a:r>
              <a:rPr lang="en-US" sz="6500" dirty="0" smtClean="0"/>
              <a:t> &gt; 1 and 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/2 ] &lt; 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 ])        // Bubble up</a:t>
            </a:r>
          </a:p>
          <a:p>
            <a:pPr marL="0" indent="0">
              <a:buNone/>
            </a:pPr>
            <a:r>
              <a:rPr lang="en-US" sz="6500" dirty="0" smtClean="0"/>
              <a:t>    {  </a:t>
            </a:r>
            <a:r>
              <a:rPr lang="en-US" sz="6500" dirty="0" smtClean="0"/>
              <a:t>swap (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/2 ], </a:t>
            </a:r>
            <a:r>
              <a:rPr lang="en-US" sz="6500" dirty="0" err="1" smtClean="0"/>
              <a:t>Arr</a:t>
            </a:r>
            <a:r>
              <a:rPr lang="en-US" sz="6500" dirty="0" smtClean="0"/>
              <a:t>[ </a:t>
            </a:r>
            <a:r>
              <a:rPr lang="en-US" sz="6500" dirty="0" err="1" smtClean="0"/>
              <a:t>i</a:t>
            </a:r>
            <a:r>
              <a:rPr lang="en-US" sz="6500" dirty="0" smtClean="0"/>
              <a:t> ]);</a:t>
            </a:r>
          </a:p>
          <a:p>
            <a:pPr marL="0" indent="0">
              <a:buNone/>
            </a:pPr>
            <a:r>
              <a:rPr lang="en-US" sz="6500" dirty="0" smtClean="0"/>
              <a:t>        </a:t>
            </a:r>
            <a:r>
              <a:rPr lang="en-US" sz="6500" dirty="0" err="1" smtClean="0"/>
              <a:t>i</a:t>
            </a:r>
            <a:r>
              <a:rPr lang="en-US" sz="6500" dirty="0" smtClean="0"/>
              <a:t> = </a:t>
            </a:r>
            <a:r>
              <a:rPr lang="en-US" sz="6500" dirty="0" err="1" smtClean="0"/>
              <a:t>i</a:t>
            </a:r>
            <a:r>
              <a:rPr lang="en-US" sz="6500" dirty="0" smtClean="0"/>
              <a:t>/2;</a:t>
            </a:r>
          </a:p>
          <a:p>
            <a:pPr marL="0" indent="0">
              <a:buNone/>
            </a:pPr>
            <a:r>
              <a:rPr lang="en-US" sz="6500" dirty="0" smtClean="0"/>
              <a:t>    }</a:t>
            </a:r>
          </a:p>
          <a:p>
            <a:pPr marL="0" indent="0">
              <a:buNone/>
            </a:pPr>
            <a:r>
              <a:rPr lang="en-US" sz="6500" dirty="0" smtClean="0"/>
              <a:t>}      </a:t>
            </a:r>
            <a:r>
              <a:rPr lang="en-US" sz="4400" dirty="0" smtClean="0"/>
              <a:t>                </a:t>
            </a:r>
            <a:r>
              <a:rPr lang="en-US" sz="4400" dirty="0" smtClean="0"/>
              <a:t>                                   </a:t>
            </a:r>
            <a:r>
              <a:rPr lang="en-US" sz="4500" b="1" dirty="0" smtClean="0">
                <a:solidFill>
                  <a:srgbClr val="FF0000"/>
                </a:solidFill>
              </a:rPr>
              <a:t>Complexity : O(log N</a:t>
            </a:r>
            <a:r>
              <a:rPr lang="en-US" sz="45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IN" sz="4500" dirty="0"/>
          </a:p>
        </p:txBody>
      </p:sp>
    </p:spTree>
    <p:extLst>
      <p:ext uri="{BB962C8B-B14F-4D97-AF65-F5344CB8AC3E}">
        <p14:creationId xmlns:p14="http://schemas.microsoft.com/office/powerpoint/2010/main" val="227399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6632"/>
            <a:ext cx="8712968" cy="6624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Insert Value :</a:t>
            </a:r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insert_value</a:t>
            </a:r>
            <a:r>
              <a:rPr lang="en-US" dirty="0" smtClean="0"/>
              <a:t>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 ],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length = length + 1;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Arr</a:t>
            </a:r>
            <a:r>
              <a:rPr lang="en-US" dirty="0" smtClean="0"/>
              <a:t>[ length ] = -1;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//assuming all the numbers   </a:t>
            </a:r>
            <a:r>
              <a:rPr lang="en-US" dirty="0" smtClean="0"/>
              <a:t>greater </a:t>
            </a:r>
            <a:r>
              <a:rPr lang="en-US" dirty="0" smtClean="0"/>
              <a:t>than 0 	are to be inserted in queue.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increase_val</a:t>
            </a:r>
            <a:r>
              <a:rPr lang="en-US" dirty="0" smtClean="0"/>
              <a:t> (</a:t>
            </a:r>
            <a:r>
              <a:rPr lang="en-US" dirty="0" err="1" smtClean="0"/>
              <a:t>Arr</a:t>
            </a:r>
            <a:r>
              <a:rPr lang="en-US" dirty="0" smtClean="0"/>
              <a:t>, length, </a:t>
            </a:r>
            <a:r>
              <a:rPr lang="en-US" dirty="0" err="1" smtClean="0"/>
              <a:t>val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Complexity: O(log N)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94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44" y="188640"/>
            <a:ext cx="911105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Example:</a:t>
            </a:r>
            <a:endParaRPr lang="en-IN" dirty="0"/>
          </a:p>
          <a:p>
            <a:r>
              <a:rPr lang="en-IN" sz="2800" dirty="0"/>
              <a:t>Initially there are 5 elements in priority queue.</a:t>
            </a:r>
            <a:br>
              <a:rPr lang="en-IN" sz="2800" dirty="0"/>
            </a:br>
            <a:r>
              <a:rPr lang="en-IN" sz="2800" b="1" dirty="0"/>
              <a:t>Operation:</a:t>
            </a:r>
            <a:r>
              <a:rPr lang="en-IN" sz="2800" dirty="0"/>
              <a:t> Insert Value(</a:t>
            </a:r>
            <a:r>
              <a:rPr lang="en-IN" sz="2800" dirty="0" err="1"/>
              <a:t>Arr</a:t>
            </a:r>
            <a:r>
              <a:rPr lang="en-IN" sz="2800" dirty="0"/>
              <a:t>, 6)</a:t>
            </a:r>
            <a:br>
              <a:rPr lang="en-IN" sz="2800" dirty="0"/>
            </a:br>
            <a:endParaRPr lang="en-IN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062163"/>
            <a:ext cx="8591550" cy="3239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72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88640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Operation: Extract Maximum:</a:t>
            </a:r>
          </a:p>
          <a:p>
            <a:pPr algn="just"/>
            <a:r>
              <a:rPr lang="en-US" sz="2400" dirty="0" smtClean="0"/>
              <a:t>In the diagram below, after removing 8 and placing 4 at node 1, violates the property of max-priority queue. So </a:t>
            </a:r>
            <a:r>
              <a:rPr lang="en-US" sz="2400" dirty="0" err="1" smtClean="0"/>
              <a:t>max_heapify</a:t>
            </a:r>
            <a:r>
              <a:rPr lang="en-US" sz="2400" dirty="0" smtClean="0"/>
              <a:t>(</a:t>
            </a:r>
            <a:r>
              <a:rPr lang="en-US" sz="2400" dirty="0" err="1" smtClean="0"/>
              <a:t>Arr</a:t>
            </a:r>
            <a:r>
              <a:rPr lang="en-US" sz="2400" dirty="0" smtClean="0"/>
              <a:t>, 1) will be performed which will maintain the property of max - priority queue.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76872"/>
            <a:ext cx="858505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11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548680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As discussed above, like heaps we can use priority queues </a:t>
            </a:r>
            <a:r>
              <a:rPr lang="en-US" sz="3200" dirty="0" smtClean="0">
                <a:solidFill>
                  <a:srgbClr val="FF0000"/>
                </a:solidFill>
              </a:rPr>
              <a:t>in scheduling of jobs</a:t>
            </a:r>
            <a:r>
              <a:rPr lang="en-US" sz="3200" dirty="0" smtClean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When there are N jobs in queue, each having its own priority.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If the job with </a:t>
            </a:r>
            <a:r>
              <a:rPr lang="en-US" sz="3200" dirty="0" smtClean="0">
                <a:solidFill>
                  <a:srgbClr val="FF0000"/>
                </a:solidFill>
              </a:rPr>
              <a:t>maximum priority </a:t>
            </a:r>
            <a:r>
              <a:rPr lang="en-US" sz="3200" dirty="0" smtClean="0"/>
              <a:t>will be completed first and will be removed from the queue, [</a:t>
            </a:r>
            <a:r>
              <a:rPr lang="en-US" sz="3200" i="1" dirty="0" smtClean="0"/>
              <a:t>we can use priority queue’s operation </a:t>
            </a:r>
            <a:r>
              <a:rPr lang="en-US" sz="3200" i="1" dirty="0" err="1" smtClean="0">
                <a:solidFill>
                  <a:srgbClr val="FF0000"/>
                </a:solidFill>
              </a:rPr>
              <a:t>extract_maximum</a:t>
            </a:r>
            <a:r>
              <a:rPr lang="en-US" sz="3200" i="1" dirty="0" smtClean="0"/>
              <a:t> here</a:t>
            </a:r>
            <a:r>
              <a:rPr lang="en-US" sz="3200" dirty="0" smtClean="0"/>
              <a:t>].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 If at every instant we have to add a new job in the queue, we can use </a:t>
            </a:r>
            <a:r>
              <a:rPr lang="en-US" sz="3200" dirty="0" err="1" smtClean="0">
                <a:solidFill>
                  <a:srgbClr val="FF0000"/>
                </a:solidFill>
              </a:rPr>
              <a:t>insert_value</a:t>
            </a:r>
            <a:r>
              <a:rPr lang="en-US" sz="3200" dirty="0" smtClean="0"/>
              <a:t> operation as it will insert the element in O(log N) and will also maintain the property of max heap.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624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476672"/>
            <a:ext cx="871296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Now, let’s give you a problem to ponder on:</a:t>
            </a:r>
          </a:p>
          <a:p>
            <a:pPr marL="514350" indent="-514350">
              <a:buAutoNum type="arabicParenR"/>
            </a:pPr>
            <a:r>
              <a:rPr lang="en-US" sz="3200" dirty="0" smtClean="0"/>
              <a:t>How will you perform below operations for </a:t>
            </a:r>
            <a:r>
              <a:rPr lang="en-US" sz="3200" b="1" dirty="0" smtClean="0">
                <a:solidFill>
                  <a:srgbClr val="FF0000"/>
                </a:solidFill>
              </a:rPr>
              <a:t>min priority queue?</a:t>
            </a:r>
          </a:p>
          <a:p>
            <a:pPr marL="514350" indent="-514350">
              <a:buAutoNum type="arabicParenR"/>
            </a:pPr>
            <a:endParaRPr lang="en-US" sz="3200" b="1" dirty="0" smtClean="0">
              <a:solidFill>
                <a:srgbClr val="FF0000"/>
              </a:solidFill>
            </a:endParaRPr>
          </a:p>
          <a:p>
            <a:r>
              <a:rPr lang="en-US" sz="3200" dirty="0" smtClean="0"/>
              <a:t>a. </a:t>
            </a:r>
            <a:r>
              <a:rPr lang="en-US" sz="3200" b="1" dirty="0" smtClean="0">
                <a:solidFill>
                  <a:srgbClr val="FF0000"/>
                </a:solidFill>
              </a:rPr>
              <a:t>minimum (</a:t>
            </a:r>
            <a:r>
              <a:rPr lang="en-US" sz="3200" b="1" dirty="0" err="1" smtClean="0">
                <a:solidFill>
                  <a:srgbClr val="FF0000"/>
                </a:solidFill>
              </a:rPr>
              <a:t>Arr</a:t>
            </a:r>
            <a:r>
              <a:rPr lang="en-US" sz="3200" b="1" dirty="0" smtClean="0">
                <a:solidFill>
                  <a:srgbClr val="FF0000"/>
                </a:solidFill>
              </a:rPr>
              <a:t>) </a:t>
            </a:r>
            <a:r>
              <a:rPr lang="en-US" sz="3200" dirty="0" smtClean="0"/>
              <a:t>- return minimum element from Arr.</a:t>
            </a:r>
          </a:p>
          <a:p>
            <a:r>
              <a:rPr lang="en-US" sz="3200" dirty="0" smtClean="0"/>
              <a:t>b. </a:t>
            </a:r>
            <a:r>
              <a:rPr lang="en-US" sz="3200" b="1" dirty="0" err="1" smtClean="0">
                <a:solidFill>
                  <a:srgbClr val="FF0000"/>
                </a:solidFill>
              </a:rPr>
              <a:t>extract_minimum</a:t>
            </a:r>
            <a:r>
              <a:rPr lang="en-US" sz="3200" b="1" dirty="0" smtClean="0">
                <a:solidFill>
                  <a:srgbClr val="FF0000"/>
                </a:solidFill>
              </a:rPr>
              <a:t> (</a:t>
            </a:r>
            <a:r>
              <a:rPr lang="en-US" sz="3200" b="1" dirty="0" err="1" smtClean="0">
                <a:solidFill>
                  <a:srgbClr val="FF0000"/>
                </a:solidFill>
              </a:rPr>
              <a:t>Arr</a:t>
            </a:r>
            <a:r>
              <a:rPr lang="en-US" sz="3200" b="1" dirty="0" smtClean="0">
                <a:solidFill>
                  <a:srgbClr val="FF0000"/>
                </a:solidFill>
              </a:rPr>
              <a:t>) </a:t>
            </a:r>
            <a:r>
              <a:rPr lang="en-US" sz="3200" dirty="0" smtClean="0"/>
              <a:t>- removes and returns minimum element from Arr.</a:t>
            </a:r>
          </a:p>
          <a:p>
            <a:r>
              <a:rPr lang="en-US" sz="3200" dirty="0" smtClean="0"/>
              <a:t>c. </a:t>
            </a:r>
            <a:r>
              <a:rPr lang="en-US" sz="3200" b="1" dirty="0" err="1" smtClean="0">
                <a:solidFill>
                  <a:srgbClr val="FF0000"/>
                </a:solidFill>
              </a:rPr>
              <a:t>decrease_value</a:t>
            </a:r>
            <a:r>
              <a:rPr lang="en-US" sz="3200" b="1" dirty="0" smtClean="0">
                <a:solidFill>
                  <a:srgbClr val="FF0000"/>
                </a:solidFill>
              </a:rPr>
              <a:t> (</a:t>
            </a:r>
            <a:r>
              <a:rPr lang="en-US" sz="3200" b="1" dirty="0" err="1" smtClean="0">
                <a:solidFill>
                  <a:srgbClr val="FF0000"/>
                </a:solidFill>
              </a:rPr>
              <a:t>Arr</a:t>
            </a:r>
            <a:r>
              <a:rPr lang="en-US" sz="3200" b="1" dirty="0" smtClean="0">
                <a:solidFill>
                  <a:srgbClr val="FF0000"/>
                </a:solidFill>
              </a:rPr>
              <a:t>, </a:t>
            </a:r>
            <a:r>
              <a:rPr lang="en-US" sz="3200" b="1" dirty="0" err="1" smtClean="0">
                <a:solidFill>
                  <a:srgbClr val="FF0000"/>
                </a:solidFill>
              </a:rPr>
              <a:t>i</a:t>
            </a:r>
            <a:r>
              <a:rPr lang="en-US" sz="3200" b="1" dirty="0" smtClean="0">
                <a:solidFill>
                  <a:srgbClr val="FF0000"/>
                </a:solidFill>
              </a:rPr>
              <a:t>, </a:t>
            </a:r>
            <a:r>
              <a:rPr lang="en-US" sz="3200" b="1" dirty="0" err="1" smtClean="0">
                <a:solidFill>
                  <a:srgbClr val="FF0000"/>
                </a:solidFill>
              </a:rPr>
              <a:t>val</a:t>
            </a:r>
            <a:r>
              <a:rPr lang="en-US" sz="3200" b="1" dirty="0" smtClean="0">
                <a:solidFill>
                  <a:srgbClr val="FF0000"/>
                </a:solidFill>
              </a:rPr>
              <a:t>) </a:t>
            </a:r>
            <a:r>
              <a:rPr lang="en-US" sz="3200" dirty="0" smtClean="0"/>
              <a:t>- decrease value of element index at </a:t>
            </a:r>
            <a:r>
              <a:rPr lang="en-US" sz="3200" dirty="0" err="1" smtClean="0"/>
              <a:t>i</a:t>
            </a:r>
            <a:r>
              <a:rPr lang="en-US" sz="3200" dirty="0" smtClean="0"/>
              <a:t> in </a:t>
            </a:r>
            <a:r>
              <a:rPr lang="en-US" sz="3200" dirty="0" err="1" smtClean="0"/>
              <a:t>Arr</a:t>
            </a:r>
            <a:r>
              <a:rPr lang="en-US" sz="3200" dirty="0" smtClean="0"/>
              <a:t> to val. It is assumed that </a:t>
            </a:r>
            <a:r>
              <a:rPr lang="en-US" sz="3200" dirty="0" err="1" smtClean="0"/>
              <a:t>val</a:t>
            </a:r>
            <a:r>
              <a:rPr lang="en-US" sz="3200" dirty="0" smtClean="0"/>
              <a:t> is at least as small as current value of </a:t>
            </a:r>
            <a:r>
              <a:rPr lang="en-US" sz="3200" dirty="0" err="1" smtClean="0"/>
              <a:t>Arr</a:t>
            </a:r>
            <a:r>
              <a:rPr lang="en-US" sz="3200" dirty="0" smtClean="0"/>
              <a:t>[</a:t>
            </a:r>
            <a:r>
              <a:rPr lang="en-US" sz="3200" dirty="0" err="1" smtClean="0"/>
              <a:t>i</a:t>
            </a:r>
            <a:r>
              <a:rPr lang="en-US" sz="3200" dirty="0" smtClean="0"/>
              <a:t>].</a:t>
            </a:r>
          </a:p>
          <a:p>
            <a:r>
              <a:rPr lang="en-US" sz="3200" dirty="0" smtClean="0"/>
              <a:t>d. </a:t>
            </a:r>
            <a:r>
              <a:rPr lang="en-US" sz="3200" b="1" dirty="0" err="1" smtClean="0">
                <a:solidFill>
                  <a:srgbClr val="FF0000"/>
                </a:solidFill>
              </a:rPr>
              <a:t>insert_value</a:t>
            </a:r>
            <a:r>
              <a:rPr lang="en-US" sz="3200" b="1" dirty="0" smtClean="0">
                <a:solidFill>
                  <a:srgbClr val="FF0000"/>
                </a:solidFill>
              </a:rPr>
              <a:t> (</a:t>
            </a:r>
            <a:r>
              <a:rPr lang="en-US" sz="3200" b="1" dirty="0" err="1" smtClean="0">
                <a:solidFill>
                  <a:srgbClr val="FF0000"/>
                </a:solidFill>
              </a:rPr>
              <a:t>Arr</a:t>
            </a:r>
            <a:r>
              <a:rPr lang="en-US" sz="3200" b="1" dirty="0" smtClean="0">
                <a:solidFill>
                  <a:srgbClr val="FF0000"/>
                </a:solidFill>
              </a:rPr>
              <a:t>, </a:t>
            </a:r>
            <a:r>
              <a:rPr lang="en-US" sz="3200" b="1" dirty="0" err="1" smtClean="0">
                <a:solidFill>
                  <a:srgbClr val="FF0000"/>
                </a:solidFill>
              </a:rPr>
              <a:t>val</a:t>
            </a:r>
            <a:r>
              <a:rPr lang="en-US" sz="3200" b="1" dirty="0" smtClean="0">
                <a:solidFill>
                  <a:srgbClr val="FF0000"/>
                </a:solidFill>
              </a:rPr>
              <a:t>) </a:t>
            </a:r>
            <a:r>
              <a:rPr lang="en-US" sz="3200" dirty="0" smtClean="0"/>
              <a:t>- insert value in Arr.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695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3140968"/>
            <a:ext cx="74168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dirty="0" smtClean="0"/>
              <a:t>Wishing you all the Best</a:t>
            </a:r>
          </a:p>
        </p:txBody>
      </p:sp>
    </p:spTree>
    <p:extLst>
      <p:ext uri="{BB962C8B-B14F-4D97-AF65-F5344CB8AC3E}">
        <p14:creationId xmlns:p14="http://schemas.microsoft.com/office/powerpoint/2010/main" val="219401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854</Words>
  <Application>Microsoft Office PowerPoint</Application>
  <PresentationFormat>On-screen Show (4:3)</PresentationFormat>
  <Paragraphs>81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Application of Heap Data Structure</vt:lpstr>
      <vt:lpstr>Priority Queue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Heap Data Structure</dc:title>
  <dc:creator>HP</dc:creator>
  <cp:lastModifiedBy>HP</cp:lastModifiedBy>
  <cp:revision>13</cp:revision>
  <dcterms:created xsi:type="dcterms:W3CDTF">2022-09-29T02:21:36Z</dcterms:created>
  <dcterms:modified xsi:type="dcterms:W3CDTF">2022-10-05T03:43:37Z</dcterms:modified>
</cp:coreProperties>
</file>