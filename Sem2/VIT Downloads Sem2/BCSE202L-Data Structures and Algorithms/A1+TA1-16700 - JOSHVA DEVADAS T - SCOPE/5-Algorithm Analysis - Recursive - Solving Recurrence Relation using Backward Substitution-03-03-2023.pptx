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2" r:id="rId4"/>
    <p:sldId id="258" r:id="rId5"/>
    <p:sldId id="259" r:id="rId6"/>
    <p:sldId id="264" r:id="rId7"/>
    <p:sldId id="269" r:id="rId8"/>
    <p:sldId id="267" r:id="rId9"/>
    <p:sldId id="268" r:id="rId10"/>
    <p:sldId id="276" r:id="rId11"/>
    <p:sldId id="277" r:id="rId12"/>
    <p:sldId id="285" r:id="rId13"/>
    <p:sldId id="284" r:id="rId14"/>
    <p:sldId id="261" r:id="rId15"/>
    <p:sldId id="263" r:id="rId16"/>
    <p:sldId id="266" r:id="rId17"/>
    <p:sldId id="271" r:id="rId18"/>
    <p:sldId id="272" r:id="rId19"/>
    <p:sldId id="279" r:id="rId20"/>
    <p:sldId id="281" r:id="rId21"/>
    <p:sldId id="283" r:id="rId22"/>
    <p:sldId id="273" r:id="rId23"/>
    <p:sldId id="274" r:id="rId24"/>
    <p:sldId id="275" r:id="rId25"/>
    <p:sldId id="270" r:id="rId26"/>
    <p:sldId id="278" r:id="rId27"/>
    <p:sldId id="280" r:id="rId28"/>
    <p:sldId id="286" r:id="rId29"/>
    <p:sldId id="287" r:id="rId30"/>
    <p:sldId id="288" r:id="rId31"/>
    <p:sldId id="289" r:id="rId32"/>
    <p:sldId id="29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-660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0BCE3A-3C33-A0D3-72E9-73EFA3043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E6B8733-5958-34FF-B2EA-DFC8BB8CC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A007E1D-F05D-BD82-9A9B-7E60CE691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2B17-7269-457A-92AD-324AEAB0D20F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8E55CAD-B970-65F1-179C-9E774AE1D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44ED37B-7EE2-D6FA-245A-9ACF4800F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C484-431B-49BD-A153-70DFFE2B4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633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27CAFC-4C54-BD0B-0AA2-F793009AB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DC5883-C60B-5C79-CE51-A4D385F8E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AEC510-E9BA-F7EA-C271-BED07D04F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2B17-7269-457A-92AD-324AEAB0D20F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0810E0C-E8A1-7529-8F5E-1008A6D15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541320B-EBBE-7939-879F-6A03A8621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C484-431B-49BD-A153-70DFFE2B4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885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A68C38-540F-B9AF-A56D-C6F5169EA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837BEC7-37EB-3A59-B839-D695AE263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2436DA1-3C8C-D2BA-9183-87CE46819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2B17-7269-457A-92AD-324AEAB0D20F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BCDEC8E-91CB-8616-278D-2733128E4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2D43B5C-1FDA-F3F8-2367-1D90B3428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C484-431B-49BD-A153-70DFFE2B4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365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31BDDA-6A0B-45C1-8F03-7F5DECA3E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F1F9CC-ECC4-8B3E-58AE-4586F0559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4CFE97E-13B5-43EC-69F7-DDE22C723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AABB630-521F-A807-87DF-653DC1163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2B17-7269-457A-92AD-324AEAB0D20F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8726BCC-1236-6C16-0FD3-B2A7CC91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623C190-E37B-9C32-AB54-2C3617AA3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C484-431B-49BD-A153-70DFFE2B4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344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973C7F-1D59-0C57-7C61-4FD0C577A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2C2BD00-E3EB-F7EF-7037-F778353DB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57539CF-1BED-6496-DBBA-6618005BA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0F57ECB-E69E-46D5-5879-40E622738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0096210-57BA-5D8A-6039-F6B18377A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DEFFF70-6F28-448E-5928-73C22339B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2B17-7269-457A-92AD-324AEAB0D20F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9742357-8C45-65AC-A926-A901A271C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B921A6D-DA60-BC9F-68E2-5C8280445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C484-431B-49BD-A153-70DFFE2B4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36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B57893-149F-B222-BF84-6CE0FD2E4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4BD101C-ED3A-1577-70CF-B8F1CA8C5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2B17-7269-457A-92AD-324AEAB0D20F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2CFC249-ABF2-1098-E47B-C05CE7D45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798DC57-89E3-A3A6-4A13-38170D261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C484-431B-49BD-A153-70DFFE2B4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033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2CE71B20-9426-16C6-0ECC-3D7D525FC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2B17-7269-457A-92AD-324AEAB0D20F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E89009D-0EE9-B292-35CC-8329462DA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6ABFE48-D541-41C5-C4D4-1B7BCF844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C484-431B-49BD-A153-70DFFE2B4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432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B2DFB8-3779-51E2-066F-8D97AD51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66B09AE-B4D4-9112-D5EE-D23F34182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9F365B9-DC37-4F7E-2D5A-A62996BE2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57CAA43-4270-F7FB-AD0E-C0A30D440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2B17-7269-457A-92AD-324AEAB0D20F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DBAF451-B746-04D8-EC9E-DB4D980C3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7C49D17-92A3-6887-C42C-148F9FE7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C484-431B-49BD-A153-70DFFE2B4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05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6F3D36-5337-D4A5-5D44-D4BFF21DF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979BB6DD-108D-01E9-C3B0-B4ADE731EA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468FD8D-E194-E6ED-47DE-336583B93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A6F928B-D8A1-9B0E-C454-03C3098A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2B17-7269-457A-92AD-324AEAB0D20F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1E3C03C-75EE-9664-F88D-F3D2D947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F5988D9-388D-7C83-76BC-DD9F90230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C484-431B-49BD-A153-70DFFE2B4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61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0E6BD5-5AA7-753B-9A34-9B5858D8E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D18E532-01F3-FC30-7D8D-056CAF19A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7779F2D-6672-0E1E-894C-1C003937D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2B17-7269-457A-92AD-324AEAB0D20F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89F4D3A-55F8-6F1D-AA19-B91D7ABA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88CBF7C-2A36-33EF-DFE9-494F63E91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C484-431B-49BD-A153-70DFFE2B4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343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F347882-F2E1-A925-9BF0-020253C1C7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3FD87A5-479A-FE38-E98E-92CE218F2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08B1AE3-6FAF-8B88-E0F7-1D1B9132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2B17-7269-457A-92AD-324AEAB0D20F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75BF56-7C10-D97B-BE48-DAD4A64EB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329393-5DF9-44BC-EAA1-F518D5F7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C484-431B-49BD-A153-70DFFE2B4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11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2BABF5A-0ACF-7004-2618-50F3E2834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E627DE9-3E3E-1398-1CEB-B0D2214D2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BDD9DCE-236E-99A0-943F-3DA8A1A96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E2B17-7269-457A-92AD-324AEAB0D20F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EED4DAE-7CA2-E93D-1F44-30D144B7C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F4E825-1D30-3893-4A78-DE4E3CBB0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6C484-431B-49BD-A153-70DFFE2B4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945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408F1C-57CB-E198-89F8-EB2958ED8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Solving recursive functions by      forming recurrence relation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958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C14506-30E4-5FF2-33F4-D13CF4D25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Decreasing function example 1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C989F50-EAC4-458D-CB61-F23F912CA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448" y="2143640"/>
            <a:ext cx="3913530" cy="4238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4109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FF1FA0-A451-AC42-999F-C419A2588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xmlns="" id="{7B671FFE-0A12-7B29-071A-8E7949627D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9200" y="734798"/>
            <a:ext cx="5384800" cy="5770808"/>
          </a:xfrm>
        </p:spPr>
      </p:pic>
    </p:spTree>
    <p:extLst>
      <p:ext uri="{BB962C8B-B14F-4D97-AF65-F5344CB8AC3E}">
        <p14:creationId xmlns:p14="http://schemas.microsoft.com/office/powerpoint/2010/main" val="231154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9A8E85-908C-6F04-BA43-5BAC9E2D3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137D2987-09A9-8911-D28A-E07D079850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7950" y="657678"/>
            <a:ext cx="8257736" cy="5542643"/>
          </a:xfrm>
        </p:spPr>
      </p:pic>
    </p:spTree>
    <p:extLst>
      <p:ext uri="{BB962C8B-B14F-4D97-AF65-F5344CB8AC3E}">
        <p14:creationId xmlns:p14="http://schemas.microsoft.com/office/powerpoint/2010/main" val="506704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49C65B27-0B65-4D5A-B4CD-96A81F3D7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189" y="641576"/>
            <a:ext cx="7285312" cy="5574847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C0094A6C-7B0C-5D3F-F9F2-35D61D1B4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707" y="2716455"/>
            <a:ext cx="4352293" cy="14250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BFBF8A0-82CF-0728-8DAB-05A6A3674669}"/>
              </a:ext>
            </a:extLst>
          </p:cNvPr>
          <p:cNvSpPr txBox="1"/>
          <p:nvPr/>
        </p:nvSpPr>
        <p:spPr>
          <a:xfrm>
            <a:off x="7839707" y="2180492"/>
            <a:ext cx="3048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recurrence Relation 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9024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0978E6-81ED-5A7A-0ED2-5B3AB325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Decreasing function Example 2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7EA8EC1-1910-D1EE-839C-4F56F469B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015" y="1592214"/>
            <a:ext cx="3918585" cy="462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48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EFFDB32-BDB3-E55C-9224-A1679DAB0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925" y="381000"/>
            <a:ext cx="653415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958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396E5E-33AE-2A86-C7E3-203E1DD07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D891130-E0C0-9268-B02A-82A62E12F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626" y="332252"/>
            <a:ext cx="5823734" cy="619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300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F967906-37CC-056E-1761-563C7C804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130" y="920920"/>
            <a:ext cx="6237330" cy="54033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61CC378-6FCF-7047-81E7-6F2648A22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151" y="2900581"/>
            <a:ext cx="4759016" cy="217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8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B9C340-BA2C-CF61-E1A6-F289FF86B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Dividing function example 1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245DC9A-4177-F3D7-9DCD-0820BCDF1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687" y="1429413"/>
            <a:ext cx="4512625" cy="506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51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A032EE-5D3E-5C18-2994-FFA0DFF24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878F679-0EF2-96F8-CCBC-B782AE036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4" y="517413"/>
            <a:ext cx="6958024" cy="55619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4958285-F199-68C1-8290-ADA70B26E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323" y="2829717"/>
            <a:ext cx="4531861" cy="211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1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E299C95A-2C87-94B5-8D6E-AFB0381D6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999" y="1778206"/>
            <a:ext cx="3817257" cy="49336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FACE6750-4720-3CCB-3214-BB18CAF55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Dividing function example 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034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649F31-35C7-33A3-5544-A377E974C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EEF5B1E-1090-0683-87A1-776B01C4D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560" y="1465331"/>
            <a:ext cx="4670879" cy="523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70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8B3221D-5B18-BD38-FC4E-4CA4948E0DBE}"/>
              </a:ext>
            </a:extLst>
          </p:cNvPr>
          <p:cNvSpPr txBox="1"/>
          <p:nvPr/>
        </p:nvSpPr>
        <p:spPr>
          <a:xfrm>
            <a:off x="5080934" y="77846"/>
            <a:ext cx="6586491" cy="128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+mj-lt"/>
                <a:ea typeface="+mj-ea"/>
                <a:cs typeface="+mj-cs"/>
              </a:rPr>
              <a:t>Solving Recurrence Relation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AC3AD40-777C-68C0-F9A3-285853262013}"/>
              </a:ext>
            </a:extLst>
          </p:cNvPr>
          <p:cNvSpPr txBox="1"/>
          <p:nvPr/>
        </p:nvSpPr>
        <p:spPr>
          <a:xfrm>
            <a:off x="4942369" y="2220685"/>
            <a:ext cx="6586489" cy="4122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The following are the methods by  which we can solve the recurrence relation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Backward Substitution Method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Recursion Tree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Masters Theorem</a:t>
            </a:r>
          </a:p>
        </p:txBody>
      </p:sp>
      <p:pic>
        <p:nvPicPr>
          <p:cNvPr id="5" name="Picture 4" descr="Small tree">
            <a:extLst>
              <a:ext uri="{FF2B5EF4-FFF2-40B4-BE49-F238E27FC236}">
                <a16:creationId xmlns:a16="http://schemas.microsoft.com/office/drawing/2014/main" xmlns="" id="{265C4963-8E95-C634-DEC8-EECB4F71F9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104" r="36777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A7F400EE-A8A5-48AF-B4D6-291B52C6F0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CCD2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85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22FBC1-7612-00F7-846D-825A26016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44" y="0"/>
            <a:ext cx="11170920" cy="63368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Backward substitution method ex:1</a:t>
            </a:r>
            <a:endParaRPr lang="en-IN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001FDAA3-1A19-44E4-3D69-D9E40924A353}"/>
                  </a:ext>
                </a:extLst>
              </p:cNvPr>
              <p:cNvSpPr txBox="1"/>
              <p:nvPr/>
            </p:nvSpPr>
            <p:spPr>
              <a:xfrm>
                <a:off x="618514" y="640753"/>
                <a:ext cx="4980428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T(n) = T(n-1) + 1            ……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1</a:t>
                </a:r>
              </a:p>
              <a:p>
                <a:r>
                  <a:rPr lang="en-IN" sz="2400" dirty="0"/>
                  <a:t>Sub T(n-1)from </a:t>
                </a:r>
                <a:r>
                  <a:rPr lang="en-IN" sz="2400" dirty="0" err="1"/>
                  <a:t>eqn</a:t>
                </a:r>
                <a:r>
                  <a:rPr lang="en-IN" sz="2400" b="1" dirty="0">
                    <a:solidFill>
                      <a:srgbClr val="FF0000"/>
                    </a:solidFill>
                  </a:rPr>
                  <a:t> B </a:t>
                </a:r>
                <a:r>
                  <a:rPr lang="en-IN" sz="2400" dirty="0"/>
                  <a:t>in 1</a:t>
                </a:r>
              </a:p>
              <a:p>
                <a:r>
                  <a:rPr lang="en-IN" sz="2400" dirty="0"/>
                  <a:t>T(n)    =    [T(n-2)+1] + 1</a:t>
                </a:r>
              </a:p>
              <a:p>
                <a:r>
                  <a:rPr lang="en-IN" sz="2400" dirty="0"/>
                  <a:t>           = T(n-2) +2</a:t>
                </a:r>
              </a:p>
              <a:p>
                <a:r>
                  <a:rPr lang="en-IN" sz="2400" dirty="0"/>
                  <a:t>Sub T(n-2)from </a:t>
                </a:r>
                <a:r>
                  <a:rPr lang="en-IN" sz="2400" dirty="0" err="1"/>
                  <a:t>eqn</a:t>
                </a:r>
                <a:r>
                  <a:rPr lang="en-IN" sz="2400" dirty="0"/>
                  <a:t> </a:t>
                </a:r>
                <a:r>
                  <a:rPr lang="en-IN" sz="2400" b="1" dirty="0">
                    <a:solidFill>
                      <a:srgbClr val="FF0000"/>
                    </a:solidFill>
                  </a:rPr>
                  <a:t>C</a:t>
                </a:r>
                <a:r>
                  <a:rPr lang="en-IN" sz="2400" dirty="0"/>
                  <a:t> in 1</a:t>
                </a:r>
              </a:p>
              <a:p>
                <a:r>
                  <a:rPr lang="en-IN" sz="2400" dirty="0"/>
                  <a:t>T(n) = [ T(n-3)+1] +2</a:t>
                </a:r>
              </a:p>
              <a:p>
                <a:r>
                  <a:rPr lang="en-IN" sz="2400" dirty="0"/>
                  <a:t>       = T(n-3) + 3</a:t>
                </a:r>
              </a:p>
              <a:p>
                <a:pPr algn="ctr"/>
                <a:r>
                  <a:rPr lang="en-IN" sz="2400" dirty="0"/>
                  <a:t>……………. ( continue for K times)</a:t>
                </a:r>
              </a:p>
              <a:p>
                <a:r>
                  <a:rPr lang="en-IN" sz="2400" dirty="0"/>
                  <a:t>T(n)= T(n-k) + k………..</a:t>
                </a:r>
                <a:r>
                  <a:rPr lang="en-IN" sz="2400" b="1" dirty="0">
                    <a:solidFill>
                      <a:srgbClr val="FF0000"/>
                    </a:solidFill>
                  </a:rPr>
                  <a:t>2</a:t>
                </a:r>
              </a:p>
              <a:p>
                <a:r>
                  <a:rPr lang="en-IN" sz="2400" dirty="0">
                    <a:solidFill>
                      <a:srgbClr val="FF0000"/>
                    </a:solidFill>
                  </a:rPr>
                  <a:t>Assume n-k=1 </a:t>
                </a:r>
                <a:r>
                  <a:rPr lang="en-IN" sz="2400" dirty="0"/>
                  <a:t>=&gt; k=n-1    </a:t>
                </a:r>
              </a:p>
              <a:p>
                <a:r>
                  <a:rPr lang="en-IN" sz="2400" dirty="0"/>
                  <a:t>Now Eqn. 2 becomes</a:t>
                </a:r>
              </a:p>
              <a:p>
                <a:r>
                  <a:rPr lang="en-IN" sz="2400" dirty="0"/>
                  <a:t>T(n) = T(n-(n-1)) +n-1</a:t>
                </a:r>
              </a:p>
              <a:p>
                <a:r>
                  <a:rPr lang="en-IN" sz="2400" dirty="0"/>
                  <a:t>        = T(1)+n -1</a:t>
                </a:r>
              </a:p>
              <a:p>
                <a:r>
                  <a:rPr lang="en-IN" sz="2400" dirty="0"/>
                  <a:t>        = 1 + n -1</a:t>
                </a:r>
              </a:p>
              <a:p>
                <a:r>
                  <a:rPr lang="en-IN" sz="2400" dirty="0"/>
                  <a:t>        = 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01FDAA3-1A19-44E4-3D69-D9E40924A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14" y="640753"/>
                <a:ext cx="4980428" cy="6001643"/>
              </a:xfrm>
              <a:prstGeom prst="rect">
                <a:avLst/>
              </a:prstGeom>
              <a:blipFill rotWithShape="1">
                <a:blip r:embed="rId2"/>
                <a:stretch>
                  <a:fillRect l="-1836" t="-812" b="-4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2ABDA77-9341-9FF2-1A31-E76AE74BF21F}"/>
              </a:ext>
            </a:extLst>
          </p:cNvPr>
          <p:cNvSpPr txBox="1"/>
          <p:nvPr/>
        </p:nvSpPr>
        <p:spPr>
          <a:xfrm>
            <a:off x="6724357" y="2025748"/>
            <a:ext cx="40514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T(n)=T(n-1) +1  …………….</a:t>
            </a:r>
            <a:r>
              <a:rPr lang="en-US" b="1" dirty="0">
                <a:solidFill>
                  <a:srgbClr val="FF0000"/>
                </a:solidFill>
              </a:rPr>
              <a:t>A</a:t>
            </a:r>
          </a:p>
          <a:p>
            <a:r>
              <a:rPr lang="en-US" dirty="0"/>
              <a:t>T(n-1) = T((n-1)-1)+1 =T(n-2)+1 ……</a:t>
            </a:r>
            <a:r>
              <a:rPr lang="en-US" b="1" dirty="0">
                <a:solidFill>
                  <a:srgbClr val="FF0000"/>
                </a:solidFill>
              </a:rPr>
              <a:t>B</a:t>
            </a:r>
          </a:p>
          <a:p>
            <a:r>
              <a:rPr lang="en-US" dirty="0"/>
              <a:t>T(n-2)= T(n-3) +1 ……………..</a:t>
            </a:r>
            <a:r>
              <a:rPr lang="en-US" b="1" dirty="0">
                <a:solidFill>
                  <a:srgbClr val="FF0000"/>
                </a:solidFill>
              </a:rPr>
              <a:t>C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T(n-k) = T(n-(k+1)) +1 ………….   </a:t>
            </a:r>
            <a:r>
              <a:rPr lang="en-US" b="1" dirty="0">
                <a:solidFill>
                  <a:srgbClr val="FF0000"/>
                </a:solidFill>
              </a:rPr>
              <a:t>D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4468464-08DA-55F9-7246-B4DD428FF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538" y="264664"/>
            <a:ext cx="4727918" cy="154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480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22FBC1-7612-00F7-846D-825A26016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55" y="0"/>
            <a:ext cx="10515600" cy="6774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Backward substitution method ex:2</a:t>
            </a:r>
            <a:endParaRPr lang="en-IN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001FDAA3-1A19-44E4-3D69-D9E40924A353}"/>
                  </a:ext>
                </a:extLst>
              </p:cNvPr>
              <p:cNvSpPr txBox="1"/>
              <p:nvPr/>
            </p:nvSpPr>
            <p:spPr>
              <a:xfrm>
                <a:off x="365760" y="565273"/>
                <a:ext cx="6682154" cy="5878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T(n) = T(n-1) + n            ……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1</a:t>
                </a:r>
              </a:p>
              <a:p>
                <a:r>
                  <a:rPr lang="en-IN" sz="2400" dirty="0"/>
                  <a:t>Sub T(n-1)from </a:t>
                </a:r>
                <a:r>
                  <a:rPr lang="en-IN" sz="2400" dirty="0" err="1"/>
                  <a:t>eqn</a:t>
                </a:r>
                <a:r>
                  <a:rPr lang="en-IN" sz="2400" b="1" dirty="0">
                    <a:solidFill>
                      <a:srgbClr val="FF0000"/>
                    </a:solidFill>
                  </a:rPr>
                  <a:t> B </a:t>
                </a:r>
                <a:r>
                  <a:rPr lang="en-IN" sz="2400" dirty="0"/>
                  <a:t>in 1</a:t>
                </a:r>
              </a:p>
              <a:p>
                <a:r>
                  <a:rPr lang="en-IN" sz="2400" dirty="0"/>
                  <a:t>T(n)    =    [T(n-2)+(n-1)] + n</a:t>
                </a:r>
              </a:p>
              <a:p>
                <a:r>
                  <a:rPr lang="en-IN" sz="2400" dirty="0"/>
                  <a:t>           = T(n-2) +(n-1)+ n   ……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2</a:t>
                </a:r>
                <a:r>
                  <a:rPr lang="en-IN" sz="2400" dirty="0"/>
                  <a:t>// don’t add </a:t>
                </a:r>
              </a:p>
              <a:p>
                <a:r>
                  <a:rPr lang="en-IN" sz="2400" dirty="0"/>
                  <a:t>Sub T(n-2)from </a:t>
                </a:r>
                <a:r>
                  <a:rPr lang="en-IN" sz="2400" dirty="0" err="1"/>
                  <a:t>eqn</a:t>
                </a:r>
                <a:r>
                  <a:rPr lang="en-IN" sz="2400" dirty="0"/>
                  <a:t> </a:t>
                </a:r>
                <a:r>
                  <a:rPr lang="en-IN" sz="2400" b="1" dirty="0">
                    <a:solidFill>
                      <a:srgbClr val="FF0000"/>
                    </a:solidFill>
                  </a:rPr>
                  <a:t>C</a:t>
                </a:r>
                <a:r>
                  <a:rPr lang="en-IN" sz="2400" dirty="0"/>
                  <a:t> in 1</a:t>
                </a:r>
              </a:p>
              <a:p>
                <a:r>
                  <a:rPr lang="en-IN" sz="2400" dirty="0"/>
                  <a:t>T(n) = [ T(n-3)+(n-2)] +(n-1)+n</a:t>
                </a:r>
              </a:p>
              <a:p>
                <a:r>
                  <a:rPr lang="en-IN" sz="2400" dirty="0"/>
                  <a:t>       = T(n-3) + (n-2)+(n-1)+n  ………..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3</a:t>
                </a:r>
              </a:p>
              <a:p>
                <a:pPr algn="ctr"/>
                <a:r>
                  <a:rPr lang="en-IN" sz="2400" dirty="0"/>
                  <a:t>……………. ( continue for K times)</a:t>
                </a:r>
              </a:p>
              <a:p>
                <a:r>
                  <a:rPr lang="en-IN" sz="2400" dirty="0"/>
                  <a:t>T(n)= n+(n-1)+(n-2)+…..+(n-k)+T(n-(k+1))  </a:t>
                </a:r>
                <a:r>
                  <a:rPr lang="en-IN" sz="2400" dirty="0" smtClean="0"/>
                  <a:t>………..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4</a:t>
                </a:r>
              </a:p>
              <a:p>
                <a:r>
                  <a:rPr lang="en-IN" sz="2400" dirty="0">
                    <a:solidFill>
                      <a:srgbClr val="FF0000"/>
                    </a:solidFill>
                  </a:rPr>
                  <a:t>Assume n-(k+1) =1 </a:t>
                </a:r>
                <a:r>
                  <a:rPr lang="en-IN" sz="2400" dirty="0"/>
                  <a:t>=&gt; n-k-1 =1</a:t>
                </a:r>
              </a:p>
              <a:p>
                <a:r>
                  <a:rPr lang="en-IN" sz="2400" dirty="0"/>
                  <a:t>    then k=n-2;</a:t>
                </a:r>
              </a:p>
              <a:p>
                <a:r>
                  <a:rPr lang="en-IN" sz="2400" dirty="0"/>
                  <a:t>Now Eqn. 4 becomes</a:t>
                </a:r>
              </a:p>
              <a:p>
                <a:r>
                  <a:rPr lang="en-IN" sz="2400" dirty="0"/>
                  <a:t>T(n) = T(n-(n-2+1)) +(n-(n-2))+…….+(n-2)+(n-1)+n</a:t>
                </a:r>
              </a:p>
              <a:p>
                <a:r>
                  <a:rPr lang="en-IN" sz="2400" dirty="0"/>
                  <a:t>        = 1+2+3+……(n-2)+(n-1)+n</a:t>
                </a:r>
              </a:p>
              <a:p>
                <a:r>
                  <a:rPr lang="en-IN" sz="2400" dirty="0"/>
                  <a:t>        = n(n+1)/2      =    O(n</a:t>
                </a:r>
                <a:r>
                  <a:rPr lang="en-IN" sz="2400" baseline="30000" dirty="0"/>
                  <a:t>2</a:t>
                </a:r>
                <a:r>
                  <a:rPr lang="en-IN" sz="2400" dirty="0"/>
                  <a:t>)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01FDAA3-1A19-44E4-3D69-D9E40924A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565273"/>
                <a:ext cx="6682154" cy="5878532"/>
              </a:xfrm>
              <a:prstGeom prst="rect">
                <a:avLst/>
              </a:prstGeom>
              <a:blipFill rotWithShape="1">
                <a:blip r:embed="rId2"/>
                <a:stretch>
                  <a:fillRect l="-1369" t="-934" b="-14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2ABDA77-9341-9FF2-1A31-E76AE74BF21F}"/>
              </a:ext>
            </a:extLst>
          </p:cNvPr>
          <p:cNvSpPr txBox="1"/>
          <p:nvPr/>
        </p:nvSpPr>
        <p:spPr>
          <a:xfrm>
            <a:off x="6724357" y="1661745"/>
            <a:ext cx="5317588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T(n)=T(n-1) +n  …………….</a:t>
            </a:r>
            <a:r>
              <a:rPr lang="en-US" sz="2800" b="1" dirty="0">
                <a:solidFill>
                  <a:srgbClr val="FF0000"/>
                </a:solidFill>
              </a:rPr>
              <a:t>A</a:t>
            </a:r>
            <a:r>
              <a:rPr lang="en-US" sz="2800" dirty="0"/>
              <a:t>  ( given )</a:t>
            </a:r>
          </a:p>
          <a:p>
            <a:r>
              <a:rPr lang="en-US" dirty="0"/>
              <a:t>T(n-1) = T((n-1)-1)+n-1 =T(n-2)+(n-1) ……</a:t>
            </a:r>
            <a:r>
              <a:rPr lang="en-US" sz="2800" b="1" dirty="0">
                <a:solidFill>
                  <a:srgbClr val="FF0000"/>
                </a:solidFill>
              </a:rPr>
              <a:t>B</a:t>
            </a:r>
          </a:p>
          <a:p>
            <a:r>
              <a:rPr lang="en-US" dirty="0"/>
              <a:t>T(n-2)= T(n-3) +(n-2)……………..</a:t>
            </a:r>
            <a:r>
              <a:rPr lang="en-US" sz="2800" b="1" dirty="0">
                <a:solidFill>
                  <a:srgbClr val="FF0000"/>
                </a:solidFill>
              </a:rPr>
              <a:t>C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T(n-k) = T(n-(k+1))+ (n-k</a:t>
            </a:r>
            <a:r>
              <a:rPr lang="en-US" dirty="0" smtClean="0"/>
              <a:t>) ………… </a:t>
            </a:r>
            <a:r>
              <a:rPr lang="en-US" sz="2800" b="1" dirty="0" smtClean="0">
                <a:solidFill>
                  <a:srgbClr val="FF0000"/>
                </a:solidFill>
              </a:rPr>
              <a:t>D</a:t>
            </a:r>
            <a:endParaRPr lang="en-IN" sz="2800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C9F474B-A44A-4A41-0967-D5427AF91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874" y="278297"/>
            <a:ext cx="3790071" cy="138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5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22FBC1-7612-00F7-846D-825A26016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88" y="99564"/>
            <a:ext cx="10515600" cy="46486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Backward substitution method:3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01FDAA3-1A19-44E4-3D69-D9E40924A353}"/>
              </a:ext>
            </a:extLst>
          </p:cNvPr>
          <p:cNvSpPr txBox="1"/>
          <p:nvPr/>
        </p:nvSpPr>
        <p:spPr>
          <a:xfrm>
            <a:off x="177688" y="564433"/>
            <a:ext cx="9369083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T(n) = T(n-1) + </a:t>
            </a:r>
            <a:r>
              <a:rPr lang="en-US" sz="2400" dirty="0" err="1"/>
              <a:t>logn</a:t>
            </a:r>
            <a:r>
              <a:rPr lang="en-US" sz="2400" dirty="0"/>
              <a:t>            ……1</a:t>
            </a:r>
          </a:p>
          <a:p>
            <a:r>
              <a:rPr lang="en-IN" sz="2400" dirty="0"/>
              <a:t>Sub T(n-1)from </a:t>
            </a:r>
            <a:r>
              <a:rPr lang="en-IN" sz="2400" dirty="0" err="1"/>
              <a:t>eqn</a:t>
            </a:r>
            <a:r>
              <a:rPr lang="en-IN" sz="2400" b="1" dirty="0">
                <a:solidFill>
                  <a:srgbClr val="FF0000"/>
                </a:solidFill>
              </a:rPr>
              <a:t> B </a:t>
            </a:r>
            <a:r>
              <a:rPr lang="en-IN" sz="2400" dirty="0"/>
              <a:t>in 1</a:t>
            </a:r>
          </a:p>
          <a:p>
            <a:r>
              <a:rPr lang="en-IN" sz="2400" dirty="0"/>
              <a:t>T(n)    =    [T(n-2)+log(n-1)] + </a:t>
            </a:r>
            <a:r>
              <a:rPr lang="en-IN" sz="2400" dirty="0" err="1"/>
              <a:t>logn</a:t>
            </a:r>
            <a:endParaRPr lang="en-IN" sz="2400" dirty="0"/>
          </a:p>
          <a:p>
            <a:r>
              <a:rPr lang="en-IN" sz="2400" dirty="0"/>
              <a:t>           = T(n-2) +log(n-1)+ </a:t>
            </a:r>
            <a:r>
              <a:rPr lang="en-IN" sz="2400" dirty="0" err="1"/>
              <a:t>logn</a:t>
            </a:r>
            <a:r>
              <a:rPr lang="en-IN" sz="2400" dirty="0"/>
              <a:t>   ……2// don’t add </a:t>
            </a:r>
          </a:p>
          <a:p>
            <a:r>
              <a:rPr lang="en-IN" sz="2400" dirty="0"/>
              <a:t>Sub T(n-2)from </a:t>
            </a:r>
            <a:r>
              <a:rPr lang="en-IN" sz="2400" dirty="0" err="1"/>
              <a:t>eqn</a:t>
            </a:r>
            <a:r>
              <a:rPr lang="en-IN" sz="2400" dirty="0"/>
              <a:t> </a:t>
            </a:r>
            <a:r>
              <a:rPr lang="en-IN" sz="2400" b="1" dirty="0">
                <a:solidFill>
                  <a:srgbClr val="FF0000"/>
                </a:solidFill>
              </a:rPr>
              <a:t>C</a:t>
            </a:r>
            <a:r>
              <a:rPr lang="en-IN" sz="2400" dirty="0"/>
              <a:t> in 1</a:t>
            </a:r>
          </a:p>
          <a:p>
            <a:r>
              <a:rPr lang="en-IN" sz="2400" dirty="0"/>
              <a:t>T(n) = [ T(n-3)+log(n-2)] +log(n-1)+</a:t>
            </a:r>
            <a:r>
              <a:rPr lang="en-IN" sz="2400" dirty="0" err="1"/>
              <a:t>logn</a:t>
            </a:r>
            <a:endParaRPr lang="en-IN" sz="2400" dirty="0"/>
          </a:p>
          <a:p>
            <a:r>
              <a:rPr lang="en-IN" sz="2400" dirty="0"/>
              <a:t>       = T(n-3) + log(n-2) + log(n-1) + </a:t>
            </a:r>
            <a:r>
              <a:rPr lang="en-IN" sz="2400" dirty="0" err="1"/>
              <a:t>logn</a:t>
            </a:r>
            <a:r>
              <a:rPr lang="en-IN" sz="2400" dirty="0"/>
              <a:t>  ………..3</a:t>
            </a:r>
          </a:p>
          <a:p>
            <a:pPr algn="ctr"/>
            <a:r>
              <a:rPr lang="en-IN" sz="2400" dirty="0"/>
              <a:t>……………. ( continue for K times)</a:t>
            </a:r>
          </a:p>
          <a:p>
            <a:r>
              <a:rPr lang="en-IN" sz="2400" dirty="0"/>
              <a:t>T(n)= T(n-k) + (log(n-(k-1))+(log(n-k-2))+…..+log(n-1) +</a:t>
            </a:r>
            <a:r>
              <a:rPr lang="en-IN" sz="2400" dirty="0" err="1"/>
              <a:t>logn</a:t>
            </a:r>
            <a:r>
              <a:rPr lang="en-IN" sz="2400" dirty="0"/>
              <a:t>………..4</a:t>
            </a:r>
          </a:p>
          <a:p>
            <a:r>
              <a:rPr lang="en-IN" sz="2400" dirty="0"/>
              <a:t>Therefore </a:t>
            </a:r>
            <a:r>
              <a:rPr lang="en-IN" sz="2400" dirty="0">
                <a:solidFill>
                  <a:srgbClr val="FF0000"/>
                </a:solidFill>
              </a:rPr>
              <a:t>T(n-k) = T(n-(k+1))+log(n-k)  ………….  Using D</a:t>
            </a:r>
          </a:p>
          <a:p>
            <a:r>
              <a:rPr lang="en-IN" sz="2400" dirty="0"/>
              <a:t>Assume that n-(k+1)=1 =&gt; n-k-1=1 =&gt; k=n-2 ……………5</a:t>
            </a:r>
          </a:p>
          <a:p>
            <a:r>
              <a:rPr lang="en-IN" sz="2400" dirty="0"/>
              <a:t>   Now Eqn. 4 becomes</a:t>
            </a:r>
          </a:p>
          <a:p>
            <a:r>
              <a:rPr lang="en-IN" sz="2400" dirty="0"/>
              <a:t>T(n) = T(n-(n-2+1)) +log(n-(n-2))+…….+log(n-2)+log(n-1)+</a:t>
            </a:r>
            <a:r>
              <a:rPr lang="en-IN" sz="2400" dirty="0" err="1"/>
              <a:t>logn</a:t>
            </a:r>
            <a:endParaRPr lang="en-IN" sz="2400" dirty="0"/>
          </a:p>
          <a:p>
            <a:r>
              <a:rPr lang="en-IN" sz="2400" dirty="0"/>
              <a:t>        =log1+log2+log3+……+log(n-2)+log(n-1)+log n</a:t>
            </a:r>
          </a:p>
          <a:p>
            <a:r>
              <a:rPr lang="en-IN" sz="2400" dirty="0"/>
              <a:t>        = log(1*2*3*4*………*n)</a:t>
            </a:r>
          </a:p>
          <a:p>
            <a:r>
              <a:rPr lang="en-IN" sz="2400" dirty="0"/>
              <a:t>        = log n! = </a:t>
            </a:r>
            <a:r>
              <a:rPr lang="en-IN" sz="2400" dirty="0" err="1"/>
              <a:t>logn</a:t>
            </a:r>
            <a:r>
              <a:rPr lang="en-IN" sz="2400" baseline="30000" dirty="0" err="1"/>
              <a:t>n</a:t>
            </a:r>
            <a:endParaRPr lang="en-IN" sz="2400" baseline="30000" dirty="0"/>
          </a:p>
          <a:p>
            <a:r>
              <a:rPr lang="en-IN" sz="2400" dirty="0"/>
              <a:t>          O(</a:t>
            </a:r>
            <a:r>
              <a:rPr lang="en-IN" sz="2400" dirty="0" err="1"/>
              <a:t>nlog</a:t>
            </a:r>
            <a:r>
              <a:rPr lang="en-IN" sz="2400" dirty="0"/>
              <a:t> 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2ABDA77-9341-9FF2-1A31-E76AE74BF21F}"/>
              </a:ext>
            </a:extLst>
          </p:cNvPr>
          <p:cNvSpPr txBox="1"/>
          <p:nvPr/>
        </p:nvSpPr>
        <p:spPr>
          <a:xfrm>
            <a:off x="6930180" y="1293375"/>
            <a:ext cx="52331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T(n)=T(n-1) +</a:t>
            </a:r>
            <a:r>
              <a:rPr lang="en-US" dirty="0" err="1"/>
              <a:t>logn</a:t>
            </a:r>
            <a:r>
              <a:rPr lang="en-US" dirty="0"/>
              <a:t>  …………….A</a:t>
            </a:r>
          </a:p>
          <a:p>
            <a:r>
              <a:rPr lang="en-US" dirty="0"/>
              <a:t>T(n-1) = T((n-1)-1)+log(n-1) =T(n-2)+log(n-1 )……B</a:t>
            </a:r>
          </a:p>
          <a:p>
            <a:r>
              <a:rPr lang="en-US" dirty="0"/>
              <a:t>T(n-2)= T(n-3) +log(n-2)……………..C</a:t>
            </a:r>
          </a:p>
          <a:p>
            <a:endParaRPr lang="en-US" dirty="0"/>
          </a:p>
          <a:p>
            <a:r>
              <a:rPr lang="en-US" dirty="0"/>
              <a:t>……….</a:t>
            </a:r>
          </a:p>
          <a:p>
            <a:r>
              <a:rPr lang="en-US" dirty="0"/>
              <a:t>T(n-k)= T(n-(k+1)) + log(n-k) ………….D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7339884-859C-B4E9-D1AF-596E9FBF5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262" y="0"/>
            <a:ext cx="4131212" cy="129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776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ACA564-F6FE-5C90-5B08-219A2CE9F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4020"/>
          </a:xfrm>
        </p:spPr>
        <p:txBody>
          <a:bodyPr/>
          <a:lstStyle/>
          <a:p>
            <a:r>
              <a:rPr lang="en-US" dirty="0"/>
              <a:t>For decreasing function, we observe that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D5370554-384D-93BC-FD3D-5CE71CFFE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2865" y="1287840"/>
            <a:ext cx="6183337" cy="511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332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70E1A1-45C2-7964-D40D-4D0FAC701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0806"/>
            <a:ext cx="10515600" cy="67850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Backward substitution method ex:4</a:t>
            </a:r>
            <a:endParaRPr lang="en-IN" dirty="0"/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xmlns="" id="{FCEB30E1-9E87-CB26-5ACD-55A9A5146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24" y="849309"/>
            <a:ext cx="6836902" cy="548727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T(n) = T(n/2)+1   ---------= 1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T(n)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[T(n/2</a:t>
            </a:r>
            <a:r>
              <a:rPr lang="en-US" sz="3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)+1] +1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=T(n/2</a:t>
            </a:r>
            <a:r>
              <a:rPr lang="en-US" sz="3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)+2 ------------2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T(n)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T(n/2</a:t>
            </a:r>
            <a:r>
              <a:rPr lang="en-US" sz="3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)+3  ---------3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…..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T(n)=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T(n/2</a:t>
            </a:r>
            <a:r>
              <a:rPr lang="en-US" sz="3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)+k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Assume that n/2</a:t>
            </a:r>
            <a:r>
              <a:rPr lang="en-US" sz="3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=1 =&gt; n= 2</a:t>
            </a:r>
            <a:r>
              <a:rPr lang="en-US" sz="3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  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K=log</a:t>
            </a:r>
            <a:r>
              <a:rPr lang="en-US" sz="32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06D01E1-4483-2B8B-BC4C-028950217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789" y="170806"/>
            <a:ext cx="3949587" cy="18394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4970A5A-0E55-5310-93EB-B1BD49A92953}"/>
              </a:ext>
            </a:extLst>
          </p:cNvPr>
          <p:cNvSpPr txBox="1"/>
          <p:nvPr/>
        </p:nvSpPr>
        <p:spPr>
          <a:xfrm>
            <a:off x="7413674" y="2967335"/>
            <a:ext cx="62038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T(n) = T(1)+log n</a:t>
            </a:r>
          </a:p>
          <a:p>
            <a:r>
              <a:rPr lang="pt-BR" sz="3200" dirty="0"/>
              <a:t>        = 1 + log n</a:t>
            </a:r>
          </a:p>
          <a:p>
            <a:r>
              <a:rPr lang="pt-BR" sz="3200" dirty="0"/>
              <a:t>      O(log n)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6974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AC4D447-E7EE-3FAC-BDE2-3B94F5600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532" y="187326"/>
            <a:ext cx="3814339" cy="14448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xmlns="" id="{FF61BF49-815F-941B-7E6A-D4ACA0087B7D}"/>
              </a:ext>
            </a:extLst>
          </p:cNvPr>
          <p:cNvSpPr txBox="1">
            <a:spLocks/>
          </p:cNvSpPr>
          <p:nvPr/>
        </p:nvSpPr>
        <p:spPr>
          <a:xfrm>
            <a:off x="162129" y="83375"/>
            <a:ext cx="11445710" cy="680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0000"/>
                </a:solidFill>
              </a:rPr>
              <a:t>Backward substitution method:5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xmlns="" id="{83E6FD5A-1731-C455-E9A1-27240D1C1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145" y="789959"/>
            <a:ext cx="7687643" cy="55779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T(n) = T(n/2)+n   ---------= 1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T(n)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[T(n/2</a:t>
            </a:r>
            <a:r>
              <a:rPr lang="en-US" sz="2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)+n/2] +n = T(n/2</a:t>
            </a:r>
            <a:r>
              <a:rPr lang="en-US" sz="2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)+n/2+n </a:t>
            </a:r>
            <a:r>
              <a:rPr lang="en-US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-----------2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T(n)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T(n/2</a:t>
            </a:r>
            <a:r>
              <a:rPr lang="en-US" sz="2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)+n/2</a:t>
            </a:r>
            <a:r>
              <a:rPr lang="en-US" sz="2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+n/2+n ---------3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…..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T(n)= T(n/2</a:t>
            </a:r>
            <a:r>
              <a:rPr lang="en-US" sz="2800" baseline="30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)+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n/2</a:t>
            </a:r>
            <a:r>
              <a:rPr lang="en-US" sz="2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k-1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+…. n/2</a:t>
            </a:r>
            <a:r>
              <a:rPr lang="en-US" sz="2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</a:t>
            </a:r>
            <a:r>
              <a:rPr lang="en-US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n/2+n------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Assume that n/2</a:t>
            </a:r>
            <a:r>
              <a:rPr lang="en-US" sz="2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=1 =&gt; n= 2</a:t>
            </a:r>
            <a:r>
              <a:rPr lang="en-US" sz="2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  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K=log</a:t>
            </a:r>
            <a:r>
              <a:rPr lang="en-US" sz="2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T(n) = T(1)+n[1/2</a:t>
            </a:r>
            <a:r>
              <a:rPr lang="en-US" sz="2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k-1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+1/2</a:t>
            </a:r>
            <a:r>
              <a:rPr lang="en-US" sz="2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k-2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+…….1/2 +1]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= 1 + n[1+1] = 1+2n  =      O(n)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5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488303-76BB-0116-1F26-C370A17C7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– H/w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DC8ED95-A694-E286-7700-EED291CEE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386" y="365125"/>
            <a:ext cx="5646157" cy="6127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3056B78-212E-DAEA-9804-F7D1133E7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40" y="2422638"/>
            <a:ext cx="4819650" cy="166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7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B6EF9E-4DE4-F4C9-A99A-3B131D3C7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26" y="250341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Solving recurrence relation  using 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recursive trees Method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434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5B6D81-5D3F-752A-65F5-7D2DB2A37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179629" cy="1325563"/>
          </a:xfrm>
        </p:spPr>
        <p:txBody>
          <a:bodyPr/>
          <a:lstStyle/>
          <a:p>
            <a:r>
              <a:rPr lang="en-US" dirty="0"/>
              <a:t>Solve the given recurrence </a:t>
            </a:r>
            <a:br>
              <a:rPr lang="en-US" dirty="0"/>
            </a:br>
            <a:r>
              <a:rPr lang="en-US" dirty="0"/>
              <a:t>relation  using </a:t>
            </a:r>
            <a:r>
              <a:rPr lang="en-US" dirty="0">
                <a:solidFill>
                  <a:srgbClr val="FF0000"/>
                </a:solidFill>
              </a:rPr>
              <a:t>recursive trees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9ABBAF1-C70C-4D91-2CB6-2C82B9705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0" y="265601"/>
            <a:ext cx="4048341" cy="1325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36856C1-9C10-7F12-8755-86A2BEEB9140}"/>
              </a:ext>
            </a:extLst>
          </p:cNvPr>
          <p:cNvSpPr txBox="1"/>
          <p:nvPr/>
        </p:nvSpPr>
        <p:spPr>
          <a:xfrm>
            <a:off x="281354" y="2553335"/>
            <a:ext cx="62038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time taken for this </a:t>
            </a:r>
            <a:r>
              <a:rPr lang="en-US" sz="2800" dirty="0" err="1"/>
              <a:t>alg</a:t>
            </a:r>
            <a:r>
              <a:rPr lang="en-US" sz="2800" dirty="0"/>
              <a:t> is</a:t>
            </a:r>
          </a:p>
          <a:p>
            <a:r>
              <a:rPr lang="en-US" sz="2800" dirty="0"/>
              <a:t>=1.1.1.1  ……..   ( n times)</a:t>
            </a:r>
          </a:p>
          <a:p>
            <a:r>
              <a:rPr lang="en-US" sz="2800" dirty="0"/>
              <a:t>=n</a:t>
            </a:r>
          </a:p>
          <a:p>
            <a:r>
              <a:rPr lang="en-US" sz="2800" dirty="0"/>
              <a:t>O(n)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8305C9FA-DD40-DF9C-7C51-7EE17564C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261" y="1790212"/>
            <a:ext cx="5478596" cy="378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79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C4DAE8D-0EB0-EF4C-F760-56081B629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350" y="1690688"/>
            <a:ext cx="6438900" cy="460057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5DB31A20-7D2F-4F61-14BE-4AABF28CD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14" y="365125"/>
            <a:ext cx="10515600" cy="1325563"/>
          </a:xfrm>
        </p:spPr>
        <p:txBody>
          <a:bodyPr/>
          <a:lstStyle/>
          <a:p>
            <a:r>
              <a:rPr lang="en-US" dirty="0"/>
              <a:t>Solve the given recurrence </a:t>
            </a:r>
            <a:br>
              <a:rPr lang="en-US" dirty="0"/>
            </a:br>
            <a:r>
              <a:rPr lang="en-US" dirty="0"/>
              <a:t>relation  using </a:t>
            </a:r>
            <a:r>
              <a:rPr lang="en-US" dirty="0">
                <a:solidFill>
                  <a:srgbClr val="FF0000"/>
                </a:solidFill>
              </a:rPr>
              <a:t>recursive trees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55583AB-1AE3-9383-C67A-04B9ED4C0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179" y="307240"/>
            <a:ext cx="3790071" cy="13834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9D5BCD4-7928-3E87-F68A-8A6411882C4F}"/>
              </a:ext>
            </a:extLst>
          </p:cNvPr>
          <p:cNvSpPr txBox="1"/>
          <p:nvPr/>
        </p:nvSpPr>
        <p:spPr>
          <a:xfrm>
            <a:off x="234462" y="3105209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The time taken for this </a:t>
            </a:r>
            <a:r>
              <a:rPr lang="en-US" sz="3200" dirty="0" err="1"/>
              <a:t>alg</a:t>
            </a:r>
            <a:r>
              <a:rPr lang="en-US" sz="3200" dirty="0"/>
              <a:t> is</a:t>
            </a:r>
          </a:p>
          <a:p>
            <a:r>
              <a:rPr lang="en-US" sz="3200" dirty="0"/>
              <a:t>=n+(n-1)+(n-2)+…..+ 1</a:t>
            </a:r>
          </a:p>
          <a:p>
            <a:r>
              <a:rPr lang="en-US" sz="3200" dirty="0"/>
              <a:t>=n(n+1)/2</a:t>
            </a:r>
          </a:p>
          <a:p>
            <a:r>
              <a:rPr lang="en-US" sz="3200" dirty="0"/>
              <a:t>=O(n</a:t>
            </a:r>
            <a:r>
              <a:rPr lang="en-US" sz="3200" baseline="30000" dirty="0"/>
              <a:t>2</a:t>
            </a:r>
            <a:r>
              <a:rPr lang="en-US" sz="3200" dirty="0"/>
              <a:t>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67524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B9F7F4-9155-13FC-EFE2-F644BBF7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3868"/>
            <a:ext cx="10515600" cy="1325563"/>
          </a:xfrm>
        </p:spPr>
        <p:txBody>
          <a:bodyPr/>
          <a:lstStyle/>
          <a:p>
            <a:r>
              <a:rPr lang="en-US" dirty="0"/>
              <a:t>Solve the given recurrence </a:t>
            </a:r>
            <a:br>
              <a:rPr lang="en-US" dirty="0"/>
            </a:br>
            <a:r>
              <a:rPr lang="en-US" dirty="0"/>
              <a:t>relation  using </a:t>
            </a:r>
            <a:r>
              <a:rPr lang="en-US" dirty="0">
                <a:solidFill>
                  <a:srgbClr val="FF0000"/>
                </a:solidFill>
              </a:rPr>
              <a:t>recursive trees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BB8CF9A-13F6-BA1D-FFC4-0678704AE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492" y="2014537"/>
            <a:ext cx="5158154" cy="45089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F46A9D7-EC66-DA69-0B10-386CB96C26A6}"/>
              </a:ext>
            </a:extLst>
          </p:cNvPr>
          <p:cNvSpPr txBox="1"/>
          <p:nvPr/>
        </p:nvSpPr>
        <p:spPr>
          <a:xfrm>
            <a:off x="281353" y="2553335"/>
            <a:ext cx="635859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time taken for this </a:t>
            </a:r>
            <a:r>
              <a:rPr lang="en-US" sz="2800" dirty="0" err="1"/>
              <a:t>alg</a:t>
            </a:r>
            <a:r>
              <a:rPr lang="en-US" sz="2800" dirty="0"/>
              <a:t> is</a:t>
            </a:r>
          </a:p>
          <a:p>
            <a:r>
              <a:rPr lang="en-US" sz="2800" dirty="0"/>
              <a:t>=</a:t>
            </a:r>
            <a:r>
              <a:rPr lang="en-US" sz="2800" dirty="0" err="1"/>
              <a:t>logn</a:t>
            </a:r>
            <a:r>
              <a:rPr lang="en-US" sz="2800" dirty="0"/>
              <a:t> + log(n-1)+log(n-2)+…….+ log2+ log 1 </a:t>
            </a:r>
          </a:p>
          <a:p>
            <a:r>
              <a:rPr lang="en-US" sz="2800" dirty="0"/>
              <a:t>=log(n*(n-1)*(n-2)*……2 *1))</a:t>
            </a:r>
          </a:p>
          <a:p>
            <a:r>
              <a:rPr lang="en-US" sz="2800" dirty="0"/>
              <a:t>=log(n!)</a:t>
            </a:r>
          </a:p>
          <a:p>
            <a:r>
              <a:rPr lang="en-US" sz="2800" dirty="0"/>
              <a:t>=O(</a:t>
            </a:r>
            <a:r>
              <a:rPr lang="en-US" sz="2800" dirty="0" err="1"/>
              <a:t>logn</a:t>
            </a:r>
            <a:r>
              <a:rPr lang="en-US" sz="2800" baseline="30000" dirty="0" err="1"/>
              <a:t>n</a:t>
            </a:r>
            <a:r>
              <a:rPr lang="en-US" sz="2800" dirty="0"/>
              <a:t>)</a:t>
            </a:r>
          </a:p>
          <a:p>
            <a:r>
              <a:rPr lang="en-US" sz="2800" dirty="0"/>
              <a:t>=O(</a:t>
            </a:r>
            <a:r>
              <a:rPr lang="en-US" sz="2800" dirty="0" err="1"/>
              <a:t>nlogn</a:t>
            </a:r>
            <a:r>
              <a:rPr lang="en-US" sz="2800" dirty="0"/>
              <a:t>)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2F1F627-FB9E-A678-E208-2BE31CC04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492" y="113394"/>
            <a:ext cx="5158154" cy="172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060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F388C0C8-EDBD-D5F8-481A-E51D2DDE14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2132" y="2149362"/>
            <a:ext cx="8248650" cy="3790950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9EC6DFCA-B15C-0BF8-3982-81F70A66D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Solve the given recurrence </a:t>
            </a:r>
            <a:br>
              <a:rPr lang="en-US" dirty="0"/>
            </a:br>
            <a:r>
              <a:rPr lang="en-US" dirty="0"/>
              <a:t>relation  using </a:t>
            </a:r>
            <a:r>
              <a:rPr lang="en-US" dirty="0">
                <a:solidFill>
                  <a:srgbClr val="FF0000"/>
                </a:solidFill>
              </a:rPr>
              <a:t>recursive trees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E39BC4C-FE94-3825-AC33-FD7107930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829" y="365125"/>
            <a:ext cx="3949587" cy="18394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7D47047-AA65-9F0C-8E27-7FD1B3E63BBE}"/>
              </a:ext>
            </a:extLst>
          </p:cNvPr>
          <p:cNvSpPr txBox="1"/>
          <p:nvPr/>
        </p:nvSpPr>
        <p:spPr>
          <a:xfrm>
            <a:off x="451023" y="3911023"/>
            <a:ext cx="45148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The time taken for this </a:t>
            </a:r>
            <a:r>
              <a:rPr lang="en-US" sz="3600" dirty="0" err="1"/>
              <a:t>alg</a:t>
            </a:r>
            <a:r>
              <a:rPr lang="en-US" sz="3600" dirty="0"/>
              <a:t> is</a:t>
            </a:r>
          </a:p>
          <a:p>
            <a:endParaRPr lang="en-US" sz="3600" dirty="0"/>
          </a:p>
          <a:p>
            <a:r>
              <a:rPr lang="en-US" sz="3600" dirty="0"/>
              <a:t>O(</a:t>
            </a:r>
            <a:r>
              <a:rPr lang="en-US" sz="3600" dirty="0" err="1"/>
              <a:t>logn</a:t>
            </a:r>
            <a:r>
              <a:rPr lang="en-US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211189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E93DACFC-527D-C61C-8984-D102A394F4E7}"/>
                  </a:ext>
                </a:extLst>
              </p:cNvPr>
              <p:cNvSpPr txBox="1"/>
              <p:nvPr/>
            </p:nvSpPr>
            <p:spPr>
              <a:xfrm>
                <a:off x="548640" y="2067951"/>
                <a:ext cx="5024846" cy="35128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total time required is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= n + n/2 + n/3 + ………..+ n/2</a:t>
                </a:r>
                <a:r>
                  <a:rPr lang="en-US" sz="2400" baseline="30000" dirty="0"/>
                  <a:t>k </a:t>
                </a:r>
                <a:r>
                  <a:rPr lang="en-US" sz="2400" dirty="0"/>
                  <a:t> </a:t>
                </a:r>
              </a:p>
              <a:p>
                <a:endParaRPr lang="en-US" sz="2400" baseline="30000" dirty="0"/>
              </a:p>
              <a:p>
                <a:r>
                  <a:rPr lang="en-US" sz="2400" dirty="0"/>
                  <a:t>=n (1 +1/2 +1/2</a:t>
                </a:r>
                <a:r>
                  <a:rPr lang="en-US" sz="2400" baseline="30000" dirty="0"/>
                  <a:t>2</a:t>
                </a:r>
                <a:r>
                  <a:rPr lang="en-US" sz="2400" dirty="0"/>
                  <a:t> +…………1/2</a:t>
                </a:r>
                <a:r>
                  <a:rPr lang="en-US" sz="2400" baseline="30000" dirty="0"/>
                  <a:t>k</a:t>
                </a:r>
                <a:r>
                  <a:rPr lang="en-US" sz="2400" dirty="0"/>
                  <a:t> )</a:t>
                </a:r>
              </a:p>
              <a:p>
                <a:endParaRPr lang="en-US" baseline="30000" dirty="0"/>
              </a:p>
              <a:p>
                <a:r>
                  <a:rPr lang="en-US" dirty="0"/>
                  <a:t>= </a:t>
                </a:r>
                <a:r>
                  <a:rPr lang="en-US" sz="2800" dirty="0"/>
                  <a:t>n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IN" sz="2800" i="1" smtClean="0">
                            <a:effectLst/>
                            <a:latin typeface="Cambria Math"/>
                          </a:rPr>
                        </m:ctrlPr>
                      </m:naryPr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  <m:e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1/2^</m:t>
                        </m:r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nary>
                  </m:oMath>
                </a14:m>
                <a:endParaRPr lang="en-US" sz="2800" dirty="0"/>
              </a:p>
              <a:p>
                <a:r>
                  <a:rPr lang="en-US" sz="2800" dirty="0"/>
                  <a:t>=n .1</a:t>
                </a:r>
              </a:p>
              <a:p>
                <a:r>
                  <a:rPr lang="en-US" sz="2800" dirty="0"/>
                  <a:t>O(n)</a:t>
                </a:r>
              </a:p>
              <a:p>
                <a:endParaRPr lang="en-IN" baseline="30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3DACFC-527D-C61C-8984-D102A394F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2067951"/>
                <a:ext cx="5024846" cy="3512821"/>
              </a:xfrm>
              <a:prstGeom prst="rect">
                <a:avLst/>
              </a:prstGeom>
              <a:blipFill>
                <a:blip r:embed="rId2"/>
                <a:stretch>
                  <a:fillRect l="-2427" t="-13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8FA19DB-7D2D-445C-9599-2EAD7F2AA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551" y="2397735"/>
            <a:ext cx="6467475" cy="360997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xmlns="" id="{FC7D916D-A45A-9E46-5C50-25CAE5677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087" y="382552"/>
            <a:ext cx="10515600" cy="1325563"/>
          </a:xfrm>
        </p:spPr>
        <p:txBody>
          <a:bodyPr/>
          <a:lstStyle/>
          <a:p>
            <a:r>
              <a:rPr lang="en-US" dirty="0"/>
              <a:t>Solve the given recurrence </a:t>
            </a:r>
            <a:br>
              <a:rPr lang="en-US" dirty="0"/>
            </a:br>
            <a:r>
              <a:rPr lang="en-US" dirty="0"/>
              <a:t>relation  using </a:t>
            </a:r>
            <a:r>
              <a:rPr lang="en-US" dirty="0">
                <a:solidFill>
                  <a:srgbClr val="FF0000"/>
                </a:solidFill>
              </a:rPr>
              <a:t>recursive trees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642B4234-AE5F-9A57-14D3-F35D5E6FE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4365" y="382552"/>
            <a:ext cx="4124490" cy="156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864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D5478303-0A7E-BE75-9FEE-708825E07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Solve the given recurrence </a:t>
            </a:r>
            <a:br>
              <a:rPr lang="en-US" dirty="0"/>
            </a:br>
            <a:r>
              <a:rPr lang="en-US" dirty="0"/>
              <a:t>relation  using </a:t>
            </a:r>
            <a:r>
              <a:rPr lang="en-US" dirty="0">
                <a:solidFill>
                  <a:srgbClr val="FF0000"/>
                </a:solidFill>
              </a:rPr>
              <a:t>recursive trees   - Homework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081B81A9-1462-166E-4901-808B3F7E76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911405"/>
            <a:ext cx="4180114" cy="1880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5680BBC-DA19-D259-CD1C-EFB4A1427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950" y="1806062"/>
            <a:ext cx="7886700" cy="442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9721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3F1CB3-DF75-8F86-C33C-62898923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289" y="219982"/>
            <a:ext cx="10515600" cy="85407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Masters Theorem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9B10E94-15CB-FFF5-96B3-F2FC6B621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89" y="1433512"/>
            <a:ext cx="11815239" cy="457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769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9F2F9BFE-E922-9376-A82A-EFF7EA689B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64234"/>
                <a:ext cx="10515600" cy="57127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Solve the given Recurrence Relation using Masters theorem</a:t>
                </a:r>
              </a:p>
              <a:p>
                <a:pPr marL="0" indent="0">
                  <a:buNone/>
                </a:pPr>
                <a:r>
                  <a:rPr lang="en-US" dirty="0"/>
                  <a:t>T(n) = 3T(n/2)+n</a:t>
                </a:r>
                <a:r>
                  <a:rPr lang="en-US" baseline="30000" dirty="0"/>
                  <a:t>2</a:t>
                </a:r>
              </a:p>
              <a:p>
                <a:pPr marL="0" indent="0">
                  <a:buNone/>
                </a:pPr>
                <a:endParaRPr lang="en-US" baseline="30000" dirty="0"/>
              </a:p>
              <a:p>
                <a:pPr marL="0" indent="0">
                  <a:buNone/>
                </a:pPr>
                <a:r>
                  <a:rPr lang="en-US" dirty="0"/>
                  <a:t> a=3; b=2 ; k=2 ; p=0;</a:t>
                </a:r>
              </a:p>
              <a:p>
                <a:pPr marL="0" indent="0">
                  <a:buNone/>
                </a:pPr>
                <a:r>
                  <a:rPr lang="en-US" dirty="0"/>
                  <a:t>     3 &lt; 2</a:t>
                </a:r>
                <a:r>
                  <a:rPr lang="en-US" baseline="30000" dirty="0"/>
                  <a:t> 2</a:t>
                </a:r>
                <a:r>
                  <a:rPr lang="en-US" dirty="0"/>
                  <a:t>   =&gt;  Case 3 satisfied, </a:t>
                </a:r>
                <a:r>
                  <a:rPr lang="en-US" dirty="0" err="1"/>
                  <a:t>i.e</a:t>
                </a:r>
                <a:r>
                  <a:rPr lang="en-US" dirty="0"/>
                  <a:t> a &lt; b</a:t>
                </a:r>
                <a:r>
                  <a:rPr lang="en-US" baseline="30000" dirty="0"/>
                  <a:t>k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baseline="30000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Since p=0 , Case 3a holds </a:t>
                </a:r>
              </a:p>
              <a:p>
                <a:pPr marL="0" indent="0">
                  <a:buNone/>
                </a:pPr>
                <a:r>
                  <a:rPr lang="en-US" dirty="0"/>
                  <a:t>Therefore  T(n) =</a:t>
                </a:r>
                <a:r>
                  <a:rPr lang="en-IN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b="0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dirty="0"/>
                  <a:t>log </a:t>
                </a:r>
                <a:r>
                  <a:rPr lang="en-IN" baseline="30000" dirty="0"/>
                  <a:t>0</a:t>
                </a:r>
                <a:r>
                  <a:rPr lang="en-IN" dirty="0"/>
                  <a:t> n ) =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 baseline="30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dirty="0"/>
                  <a:t>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2F9BFE-E922-9376-A82A-EFF7EA689B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64234"/>
                <a:ext cx="10515600" cy="5712729"/>
              </a:xfrm>
              <a:blipFill>
                <a:blip r:embed="rId2"/>
                <a:stretch>
                  <a:fillRect l="-1217" t="-17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073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EF116AF2-CC30-A4EB-6A7D-FF9987A116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Solve the given Recurrence Relation using Masters theorem</a:t>
                </a:r>
              </a:p>
              <a:p>
                <a:pPr marL="0" indent="0">
                  <a:buNone/>
                </a:pPr>
                <a:r>
                  <a:rPr lang="en-US" dirty="0"/>
                  <a:t>T(n) = 4T(n/2)+n</a:t>
                </a:r>
                <a:r>
                  <a:rPr lang="en-US" baseline="30000" dirty="0"/>
                  <a:t>2</a:t>
                </a:r>
              </a:p>
              <a:p>
                <a:pPr marL="0" indent="0">
                  <a:buNone/>
                </a:pPr>
                <a:endParaRPr lang="en-US" baseline="30000" dirty="0"/>
              </a:p>
              <a:p>
                <a:pPr marL="0" indent="0">
                  <a:buNone/>
                </a:pPr>
                <a:r>
                  <a:rPr lang="en-US" dirty="0"/>
                  <a:t> a=4; b=2 ; k=2 ; p=0;</a:t>
                </a:r>
              </a:p>
              <a:p>
                <a:pPr marL="0" indent="0">
                  <a:buNone/>
                </a:pPr>
                <a:r>
                  <a:rPr lang="en-US" dirty="0"/>
                  <a:t>     4= 2</a:t>
                </a:r>
                <a:r>
                  <a:rPr lang="en-US" baseline="30000" dirty="0"/>
                  <a:t> 2</a:t>
                </a:r>
                <a:r>
                  <a:rPr lang="en-US" dirty="0"/>
                  <a:t>   =&gt;  Case 2 satisfied, </a:t>
                </a:r>
                <a:r>
                  <a:rPr lang="en-US" dirty="0" err="1"/>
                  <a:t>i.e</a:t>
                </a:r>
                <a:r>
                  <a:rPr lang="en-US" dirty="0"/>
                  <a:t> a = b</a:t>
                </a:r>
                <a:r>
                  <a:rPr lang="en-US" baseline="30000" dirty="0"/>
                  <a:t>k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baseline="30000" dirty="0"/>
                  <a:t> </a:t>
                </a:r>
                <a:r>
                  <a:rPr lang="en-US" dirty="0"/>
                  <a:t>Since p=0 , Case 2a holds </a:t>
                </a:r>
              </a:p>
              <a:p>
                <a:pPr marL="0" indent="0">
                  <a:buNone/>
                </a:pPr>
                <a:r>
                  <a:rPr lang="en-US" dirty="0"/>
                  <a:t>Therefore  T(n) =</a:t>
                </a:r>
                <a:r>
                  <a:rPr lang="en-IN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𝑛𝑙𝑜𝑔</m:t>
                    </m:r>
                    <m:r>
                      <a:rPr lang="en-US" sz="28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800" b="0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4 </m:t>
                    </m:r>
                  </m:oMath>
                </a14:m>
                <a:r>
                  <a:rPr lang="en-IN" dirty="0"/>
                  <a:t>log </a:t>
                </a:r>
                <a:r>
                  <a:rPr lang="en-IN" baseline="30000" dirty="0"/>
                  <a:t>0+1</a:t>
                </a:r>
                <a:r>
                  <a:rPr lang="en-IN" dirty="0"/>
                  <a:t> n ) =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 baseline="30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dirty="0"/>
                  <a:t>log n) </a:t>
                </a:r>
              </a:p>
              <a:p>
                <a:pPr marL="0" indent="0">
                  <a:buNone/>
                </a:pPr>
                <a:endParaRPr lang="en-US" baseline="30000" dirty="0"/>
              </a:p>
              <a:p>
                <a:pPr marL="0" indent="0">
                  <a:buNone/>
                </a:pPr>
                <a:endParaRPr lang="en-US" baseline="30000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116AF2-CC30-A4EB-6A7D-FF9987A116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39219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xmlns="" id="{32764437-685A-52C5-DFBE-93C404EB85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1253331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Solve the given Recurrence Relation using Masters theorem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T(n) = T(n/2)+n</a:t>
                </a:r>
                <a:r>
                  <a:rPr lang="en-US" baseline="30000" dirty="0"/>
                  <a:t>2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baseline="30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 a=1; b=2 ; k=2 ; p=0;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     1&lt; 2</a:t>
                </a:r>
                <a:r>
                  <a:rPr lang="en-US" baseline="30000" dirty="0"/>
                  <a:t> 2</a:t>
                </a:r>
                <a:r>
                  <a:rPr lang="en-US" dirty="0"/>
                  <a:t>   =&gt;  Case 3 satisfied, </a:t>
                </a:r>
                <a:r>
                  <a:rPr lang="en-US" dirty="0" err="1"/>
                  <a:t>i.e</a:t>
                </a:r>
                <a:r>
                  <a:rPr lang="en-US" dirty="0"/>
                  <a:t> a &lt; b</a:t>
                </a:r>
                <a:r>
                  <a:rPr lang="en-US" baseline="30000" dirty="0"/>
                  <a:t>k</a:t>
                </a:r>
                <a:r>
                  <a:rPr lang="en-US" dirty="0"/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aseline="30000" dirty="0"/>
                  <a:t> </a:t>
                </a:r>
                <a:r>
                  <a:rPr lang="en-US" dirty="0"/>
                  <a:t>Since p=0 , Case 3a holds </a:t>
                </a:r>
              </a:p>
              <a:p>
                <a:pPr marL="0" indent="0">
                  <a:buNone/>
                </a:pPr>
                <a:r>
                  <a:rPr lang="en-US" dirty="0"/>
                  <a:t>Therefore  T(n) =</a:t>
                </a:r>
                <a:r>
                  <a:rPr lang="en-I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lang="en-IN" baseline="30000" dirty="0"/>
                  <a:t>0</a:t>
                </a:r>
                <a:r>
                  <a:rPr lang="en-IN" dirty="0"/>
                  <a:t>n ) =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 baseline="30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dirty="0"/>
                  <a:t>log</a:t>
                </a:r>
                <a:r>
                  <a:rPr lang="en-IN" baseline="30000" dirty="0"/>
                  <a:t>0</a:t>
                </a:r>
                <a:r>
                  <a:rPr lang="en-IN" dirty="0"/>
                  <a:t> n) =</a:t>
                </a:r>
                <a:r>
                  <a:rPr lang="en-I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 baseline="30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dirty="0"/>
                  <a:t>)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baseline="30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baseline="30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2764437-685A-52C5-DFBE-93C404EB8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253331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217" t="-23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718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1933F40-9D83-4829-99AD-711780A9C975}">
  <we:reference id="4b785c87-866c-4bad-85d8-5d1ae467ac9a" version="3.1.0.0" store="EXCatalog" storeType="EXCatalog"/>
  <we:alternateReferences>
    <we:reference id="WA104381909" version="3.1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1162</TotalTime>
  <Words>1144</Words>
  <Application>Microsoft Office PowerPoint</Application>
  <PresentationFormat>Custom</PresentationFormat>
  <Paragraphs>163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Solving recursive functions by      forming recurrence relation</vt:lpstr>
      <vt:lpstr>Decreasing function example 1</vt:lpstr>
      <vt:lpstr>PowerPoint Presentation</vt:lpstr>
      <vt:lpstr>PowerPoint Presentation</vt:lpstr>
      <vt:lpstr>PowerPoint Presentation</vt:lpstr>
      <vt:lpstr>Decreasing function Example 2</vt:lpstr>
      <vt:lpstr>PowerPoint Presentation</vt:lpstr>
      <vt:lpstr>PowerPoint Presentation</vt:lpstr>
      <vt:lpstr>PowerPoint Presentation</vt:lpstr>
      <vt:lpstr>Dividing function example 1</vt:lpstr>
      <vt:lpstr>PowerPoint Presentation</vt:lpstr>
      <vt:lpstr>Dividing function example  2</vt:lpstr>
      <vt:lpstr>PowerPoint Presentation</vt:lpstr>
      <vt:lpstr>PowerPoint Presentation</vt:lpstr>
      <vt:lpstr>Backward substitution method ex:1</vt:lpstr>
      <vt:lpstr>Backward substitution method ex:2</vt:lpstr>
      <vt:lpstr>Backward substitution method:3</vt:lpstr>
      <vt:lpstr>For decreasing function, we observe that</vt:lpstr>
      <vt:lpstr>Backward substitution method ex:4</vt:lpstr>
      <vt:lpstr>PowerPoint Presentation</vt:lpstr>
      <vt:lpstr>Exercise – H/w </vt:lpstr>
      <vt:lpstr>Solving recurrence relation  using  recursive trees Method</vt:lpstr>
      <vt:lpstr>Solve the given recurrence  relation  using recursive trees</vt:lpstr>
      <vt:lpstr>Solve the given recurrence  relation  using recursive trees</vt:lpstr>
      <vt:lpstr>Solve the given recurrence  relation  using recursive trees</vt:lpstr>
      <vt:lpstr>Solve the given recurrence  relation  using recursive trees</vt:lpstr>
      <vt:lpstr>Solve the given recurrence  relation  using recursive trees</vt:lpstr>
      <vt:lpstr>Solve the given recurrence  relation  using recursive trees   - Homework</vt:lpstr>
      <vt:lpstr>Masters Theorem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recurrence relations</dc:title>
  <dc:creator>Joshva Devadas</dc:creator>
  <cp:lastModifiedBy>HP</cp:lastModifiedBy>
  <cp:revision>60</cp:revision>
  <dcterms:created xsi:type="dcterms:W3CDTF">2022-08-09T16:49:11Z</dcterms:created>
  <dcterms:modified xsi:type="dcterms:W3CDTF">2023-03-01T01:49:05Z</dcterms:modified>
</cp:coreProperties>
</file>