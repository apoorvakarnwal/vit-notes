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71" r:id="rId3"/>
    <p:sldId id="257" r:id="rId4"/>
    <p:sldId id="258" r:id="rId5"/>
    <p:sldId id="259" r:id="rId6"/>
    <p:sldId id="260" r:id="rId7"/>
    <p:sldId id="261" r:id="rId8"/>
    <p:sldId id="262" r:id="rId9"/>
    <p:sldId id="263" r:id="rId10"/>
    <p:sldId id="270" r:id="rId11"/>
    <p:sldId id="264" r:id="rId12"/>
    <p:sldId id="265" r:id="rId13"/>
    <p:sldId id="266" r:id="rId14"/>
    <p:sldId id="267" r:id="rId15"/>
    <p:sldId id="268" r:id="rId16"/>
    <p:sldId id="286" r:id="rId17"/>
    <p:sldId id="287"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 id="28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277C68-FF72-4E07-8737-E3C1439AC43D}" type="datetimeFigureOut">
              <a:rPr lang="en-IN" smtClean="0"/>
              <a:t>19-03-2023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4A5BEB4-A6C5-463D-AC88-9C1CE6CA418F}" type="slidenum">
              <a:rPr lang="en-IN" smtClean="0"/>
              <a:t>‹#›</a:t>
            </a:fld>
            <a:endParaRPr lang="en-IN"/>
          </a:p>
        </p:txBody>
      </p:sp>
    </p:spTree>
    <p:extLst>
      <p:ext uri="{BB962C8B-B14F-4D97-AF65-F5344CB8AC3E}">
        <p14:creationId xmlns:p14="http://schemas.microsoft.com/office/powerpoint/2010/main" val="2459612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4A5BEB4-A6C5-463D-AC88-9C1CE6CA418F}" type="slidenum">
              <a:rPr lang="en-IN" smtClean="0"/>
              <a:t>4</a:t>
            </a:fld>
            <a:endParaRPr lang="en-IN"/>
          </a:p>
        </p:txBody>
      </p:sp>
    </p:spTree>
    <p:extLst>
      <p:ext uri="{BB962C8B-B14F-4D97-AF65-F5344CB8AC3E}">
        <p14:creationId xmlns:p14="http://schemas.microsoft.com/office/powerpoint/2010/main" val="1135988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652C023-CA9E-49EA-BD64-7FA620DB1BB6}" type="datetimeFigureOut">
              <a:rPr lang="en-IN" smtClean="0"/>
              <a:t>18-03-2023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275528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652C023-CA9E-49EA-BD64-7FA620DB1BB6}" type="datetimeFigureOut">
              <a:rPr lang="en-IN" smtClean="0"/>
              <a:t>18-03-2023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4000432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652C023-CA9E-49EA-BD64-7FA620DB1BB6}" type="datetimeFigureOut">
              <a:rPr lang="en-IN" smtClean="0"/>
              <a:t>18-03-2023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4139475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652C023-CA9E-49EA-BD64-7FA620DB1BB6}" type="datetimeFigureOut">
              <a:rPr lang="en-IN" smtClean="0"/>
              <a:t>18-03-2023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2987416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652C023-CA9E-49EA-BD64-7FA620DB1BB6}" type="datetimeFigureOut">
              <a:rPr lang="en-IN" smtClean="0"/>
              <a:t>18-03-2023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1912395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652C023-CA9E-49EA-BD64-7FA620DB1BB6}" type="datetimeFigureOut">
              <a:rPr lang="en-IN" smtClean="0"/>
              <a:t>18-03-2023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2710249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52C023-CA9E-49EA-BD64-7FA620DB1BB6}" type="datetimeFigureOut">
              <a:rPr lang="en-IN" smtClean="0"/>
              <a:t>18-03-2023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3557285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52C023-CA9E-49EA-BD64-7FA620DB1BB6}" type="datetimeFigureOut">
              <a:rPr lang="en-IN" smtClean="0"/>
              <a:t>18-03-2023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24785619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652C023-CA9E-49EA-BD64-7FA620DB1BB6}" type="datetimeFigureOut">
              <a:rPr lang="en-IN" smtClean="0"/>
              <a:t>18-03-2023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1155043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652C023-CA9E-49EA-BD64-7FA620DB1BB6}" type="datetimeFigureOut">
              <a:rPr lang="en-IN" smtClean="0"/>
              <a:t>18-03-2023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1610919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652C023-CA9E-49EA-BD64-7FA620DB1BB6}" type="datetimeFigureOut">
              <a:rPr lang="en-IN" smtClean="0"/>
              <a:t>18-03-2023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F979BB-76F4-4901-AAF0-5DE811F2CA89}" type="slidenum">
              <a:rPr lang="en-IN" smtClean="0"/>
              <a:t>‹#›</a:t>
            </a:fld>
            <a:endParaRPr lang="en-IN"/>
          </a:p>
        </p:txBody>
      </p:sp>
    </p:spTree>
    <p:extLst>
      <p:ext uri="{BB962C8B-B14F-4D97-AF65-F5344CB8AC3E}">
        <p14:creationId xmlns:p14="http://schemas.microsoft.com/office/powerpoint/2010/main" val="1638574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52C023-CA9E-49EA-BD64-7FA620DB1BB6}" type="datetimeFigureOut">
              <a:rPr lang="en-IN" smtClean="0"/>
              <a:t>18-03-2023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F979BB-76F4-4901-AAF0-5DE811F2CA89}" type="slidenum">
              <a:rPr lang="en-IN" smtClean="0"/>
              <a:t>‹#›</a:t>
            </a:fld>
            <a:endParaRPr lang="en-IN"/>
          </a:p>
        </p:txBody>
      </p:sp>
    </p:spTree>
    <p:extLst>
      <p:ext uri="{BB962C8B-B14F-4D97-AF65-F5344CB8AC3E}">
        <p14:creationId xmlns:p14="http://schemas.microsoft.com/office/powerpoint/2010/main" val="21557154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dirty="0"/>
              <a:t>Circular Queues  and </a:t>
            </a:r>
            <a:br>
              <a:rPr lang="en-IN" dirty="0"/>
            </a:br>
            <a:r>
              <a:rPr lang="en-IN" dirty="0"/>
              <a:t>Double ended Queues</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695642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 Queue</a:t>
            </a:r>
          </a:p>
        </p:txBody>
      </p:sp>
      <p:sp>
        <p:nvSpPr>
          <p:cNvPr id="3" name="Content Placeholder 2"/>
          <p:cNvSpPr>
            <a:spLocks noGrp="1"/>
          </p:cNvSpPr>
          <p:nvPr>
            <p:ph idx="1"/>
          </p:nvPr>
        </p:nvSpPr>
        <p:spPr/>
        <p:txBody>
          <a:bodyPr/>
          <a:lstStyle/>
          <a:p>
            <a:r>
              <a:rPr lang="en-US" dirty="0"/>
              <a:t>Circular Queue is a linear data structure in which the operations are performed based on FIFO (First In First Out) principle and the </a:t>
            </a:r>
            <a:r>
              <a:rPr lang="en-US" dirty="0">
                <a:solidFill>
                  <a:srgbClr val="FF0000"/>
                </a:solidFill>
              </a:rPr>
              <a:t>last position is connected back to the first position </a:t>
            </a:r>
            <a:r>
              <a:rPr lang="en-US" dirty="0"/>
              <a:t>to make a circle.</a:t>
            </a:r>
            <a:endParaRPr lang="en-IN"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8184" y="3717032"/>
            <a:ext cx="2637036" cy="2487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80678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Circular queue avoids the wastage of space in arrays.</a:t>
            </a:r>
          </a:p>
          <a:p>
            <a:r>
              <a:rPr lang="en-US" dirty="0"/>
              <a:t/>
            </a:r>
            <a:br>
              <a:rPr lang="en-US" dirty="0"/>
            </a:b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566988"/>
            <a:ext cx="335280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217633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How Circular Queue Works ?</a:t>
            </a:r>
            <a:endParaRPr lang="en-IN" dirty="0"/>
          </a:p>
        </p:txBody>
      </p:sp>
      <p:sp>
        <p:nvSpPr>
          <p:cNvPr id="3" name="Content Placeholder 2"/>
          <p:cNvSpPr>
            <a:spLocks noGrp="1"/>
          </p:cNvSpPr>
          <p:nvPr>
            <p:ph idx="1"/>
          </p:nvPr>
        </p:nvSpPr>
        <p:spPr/>
        <p:txBody>
          <a:bodyPr>
            <a:normAutofit lnSpcReduction="10000"/>
          </a:bodyPr>
          <a:lstStyle/>
          <a:p>
            <a:r>
              <a:rPr lang="en-US" dirty="0"/>
              <a:t>Circular Queue works by the process of circular increment i.e. when we try to increment the pointer and we reach the end of the queue, we start from the beginning of the queue.</a:t>
            </a:r>
          </a:p>
          <a:p>
            <a:r>
              <a:rPr lang="en-US" dirty="0"/>
              <a:t>Here, the circular increment is performed by </a:t>
            </a:r>
            <a:r>
              <a:rPr lang="en-US" dirty="0">
                <a:solidFill>
                  <a:srgbClr val="FF0000"/>
                </a:solidFill>
              </a:rPr>
              <a:t>modulo division </a:t>
            </a:r>
            <a:r>
              <a:rPr lang="en-US" dirty="0"/>
              <a:t>with the queue size. That is,</a:t>
            </a:r>
          </a:p>
          <a:p>
            <a:pPr marL="0" indent="0">
              <a:buNone/>
            </a:pPr>
            <a:r>
              <a:rPr lang="en-US" dirty="0"/>
              <a:t>       if REAR + 1 == 5 (overflow!), </a:t>
            </a:r>
          </a:p>
          <a:p>
            <a:pPr marL="0" indent="0">
              <a:buNone/>
            </a:pPr>
            <a:r>
              <a:rPr lang="en-US" dirty="0"/>
              <a:t>         REAR = (REAR + 1)%5 = 0 (start of queue)</a:t>
            </a:r>
            <a:endParaRPr lang="en-IN" dirty="0"/>
          </a:p>
        </p:txBody>
      </p:sp>
    </p:spTree>
    <p:extLst>
      <p:ext uri="{BB962C8B-B14F-4D97-AF65-F5344CB8AC3E}">
        <p14:creationId xmlns:p14="http://schemas.microsoft.com/office/powerpoint/2010/main" val="34129448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b="1" dirty="0"/>
              <a:t>Circular Queue Operations</a:t>
            </a:r>
            <a:br>
              <a:rPr lang="en-US" b="1" dirty="0"/>
            </a:br>
            <a:endParaRPr lang="en-IN" dirty="0"/>
          </a:p>
        </p:txBody>
      </p:sp>
      <p:sp>
        <p:nvSpPr>
          <p:cNvPr id="3" name="Content Placeholder 2"/>
          <p:cNvSpPr>
            <a:spLocks noGrp="1"/>
          </p:cNvSpPr>
          <p:nvPr>
            <p:ph idx="1"/>
          </p:nvPr>
        </p:nvSpPr>
        <p:spPr/>
        <p:txBody>
          <a:bodyPr>
            <a:normAutofit/>
          </a:bodyPr>
          <a:lstStyle/>
          <a:p>
            <a:endParaRPr lang="en-IN" dirty="0"/>
          </a:p>
          <a:p>
            <a:pPr marL="0" indent="0">
              <a:buNone/>
            </a:pPr>
            <a:r>
              <a:rPr lang="en-US" dirty="0"/>
              <a:t>The circular queue work as follows:</a:t>
            </a:r>
          </a:p>
          <a:p>
            <a:r>
              <a:rPr lang="en-US" dirty="0" smtClean="0"/>
              <a:t>Two </a:t>
            </a:r>
            <a:r>
              <a:rPr lang="en-US" dirty="0"/>
              <a:t>pointers</a:t>
            </a:r>
            <a:r>
              <a:rPr lang="en-US" dirty="0">
                <a:solidFill>
                  <a:srgbClr val="FF0000"/>
                </a:solidFill>
              </a:rPr>
              <a:t> FRONT</a:t>
            </a:r>
            <a:r>
              <a:rPr lang="en-US" dirty="0"/>
              <a:t> and </a:t>
            </a:r>
            <a:r>
              <a:rPr lang="en-US" dirty="0">
                <a:solidFill>
                  <a:srgbClr val="FF0000"/>
                </a:solidFill>
              </a:rPr>
              <a:t>REAR</a:t>
            </a:r>
          </a:p>
          <a:p>
            <a:r>
              <a:rPr lang="en-US" dirty="0"/>
              <a:t>FRONT track the first element of the queue</a:t>
            </a:r>
          </a:p>
          <a:p>
            <a:r>
              <a:rPr lang="en-US" dirty="0"/>
              <a:t>REAR track the last elements of the queue</a:t>
            </a:r>
          </a:p>
          <a:p>
            <a:r>
              <a:rPr lang="en-US" dirty="0">
                <a:solidFill>
                  <a:srgbClr val="FF0000"/>
                </a:solidFill>
              </a:rPr>
              <a:t>initially</a:t>
            </a:r>
            <a:r>
              <a:rPr lang="en-US" dirty="0"/>
              <a:t>, set value of </a:t>
            </a:r>
            <a:r>
              <a:rPr lang="en-US" dirty="0">
                <a:solidFill>
                  <a:srgbClr val="FF0000"/>
                </a:solidFill>
              </a:rPr>
              <a:t>FRONT and REAR to -1</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7950" y="25936"/>
            <a:ext cx="2686050"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105051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lstStyle/>
          <a:p>
            <a:pPr marL="0" indent="0">
              <a:buNone/>
            </a:pPr>
            <a:r>
              <a:rPr lang="en-US" b="1" dirty="0">
                <a:solidFill>
                  <a:srgbClr val="000099"/>
                </a:solidFill>
              </a:rPr>
              <a:t> </a:t>
            </a:r>
            <a:r>
              <a:rPr lang="en-US" b="1" dirty="0" err="1">
                <a:solidFill>
                  <a:srgbClr val="000099"/>
                </a:solidFill>
              </a:rPr>
              <a:t>Enqueue</a:t>
            </a:r>
            <a:r>
              <a:rPr lang="en-US" b="1" dirty="0">
                <a:solidFill>
                  <a:srgbClr val="000099"/>
                </a:solidFill>
              </a:rPr>
              <a:t> Operation:</a:t>
            </a:r>
          </a:p>
          <a:p>
            <a:pPr marL="0" indent="0">
              <a:buNone/>
            </a:pPr>
            <a:endParaRPr lang="en-US" b="1" dirty="0">
              <a:solidFill>
                <a:srgbClr val="000099"/>
              </a:solidFill>
            </a:endParaRPr>
          </a:p>
          <a:p>
            <a:r>
              <a:rPr lang="en-US" dirty="0"/>
              <a:t>C</a:t>
            </a:r>
            <a:r>
              <a:rPr lang="en-US" dirty="0" smtClean="0"/>
              <a:t>heck </a:t>
            </a:r>
            <a:r>
              <a:rPr lang="en-US" dirty="0"/>
              <a:t>if the </a:t>
            </a:r>
            <a:r>
              <a:rPr lang="en-US" b="1" dirty="0">
                <a:solidFill>
                  <a:srgbClr val="FF0000"/>
                </a:solidFill>
              </a:rPr>
              <a:t>Q</a:t>
            </a:r>
            <a:r>
              <a:rPr lang="en-US" b="1" dirty="0" smtClean="0">
                <a:solidFill>
                  <a:srgbClr val="FF0000"/>
                </a:solidFill>
              </a:rPr>
              <a:t>ueue </a:t>
            </a:r>
            <a:r>
              <a:rPr lang="en-US" b="1" dirty="0">
                <a:solidFill>
                  <a:srgbClr val="FF0000"/>
                </a:solidFill>
              </a:rPr>
              <a:t>is full</a:t>
            </a:r>
          </a:p>
          <a:p>
            <a:r>
              <a:rPr lang="en-US" dirty="0"/>
              <a:t>for the first element, set value of FRONT to 0</a:t>
            </a:r>
          </a:p>
          <a:p>
            <a:r>
              <a:rPr lang="en-US" dirty="0"/>
              <a:t>C</a:t>
            </a:r>
            <a:r>
              <a:rPr lang="en-US" dirty="0" smtClean="0"/>
              <a:t>ircularly </a:t>
            </a:r>
            <a:r>
              <a:rPr lang="en-US" dirty="0"/>
              <a:t>increase the REAR index by 1 (i.e. if the rear reaches the end, next it would be at the start of the queue)</a:t>
            </a:r>
          </a:p>
          <a:p>
            <a:r>
              <a:rPr lang="en-US" dirty="0" smtClean="0"/>
              <a:t>Add </a:t>
            </a:r>
            <a:r>
              <a:rPr lang="en-US" dirty="0"/>
              <a:t>the new element in the position pointed to by REAR</a:t>
            </a:r>
            <a:endParaRPr lang="en-IN" dirty="0"/>
          </a:p>
        </p:txBody>
      </p:sp>
    </p:spTree>
    <p:extLst>
      <p:ext uri="{BB962C8B-B14F-4D97-AF65-F5344CB8AC3E}">
        <p14:creationId xmlns:p14="http://schemas.microsoft.com/office/powerpoint/2010/main" val="37653391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pPr marL="0" indent="0">
              <a:buNone/>
            </a:pPr>
            <a:r>
              <a:rPr lang="en-US" b="1" dirty="0" err="1">
                <a:solidFill>
                  <a:srgbClr val="000099"/>
                </a:solidFill>
              </a:rPr>
              <a:t>Dequeue</a:t>
            </a:r>
            <a:r>
              <a:rPr lang="en-US" b="1" dirty="0">
                <a:solidFill>
                  <a:srgbClr val="000099"/>
                </a:solidFill>
              </a:rPr>
              <a:t> Operation:</a:t>
            </a:r>
          </a:p>
          <a:p>
            <a:pPr marL="0" indent="0">
              <a:buNone/>
            </a:pPr>
            <a:endParaRPr lang="en-US" b="1" dirty="0">
              <a:solidFill>
                <a:srgbClr val="000099"/>
              </a:solidFill>
            </a:endParaRPr>
          </a:p>
          <a:p>
            <a:r>
              <a:rPr lang="en-US" dirty="0"/>
              <a:t>C</a:t>
            </a:r>
            <a:r>
              <a:rPr lang="en-US" dirty="0" smtClean="0"/>
              <a:t>heck </a:t>
            </a:r>
            <a:r>
              <a:rPr lang="en-US" dirty="0"/>
              <a:t>if the </a:t>
            </a:r>
            <a:r>
              <a:rPr lang="en-US" dirty="0" smtClean="0">
                <a:solidFill>
                  <a:srgbClr val="FF0000"/>
                </a:solidFill>
              </a:rPr>
              <a:t>Queue </a:t>
            </a:r>
            <a:r>
              <a:rPr lang="en-US" dirty="0">
                <a:solidFill>
                  <a:srgbClr val="FF0000"/>
                </a:solidFill>
              </a:rPr>
              <a:t>is empty</a:t>
            </a:r>
          </a:p>
          <a:p>
            <a:r>
              <a:rPr lang="en-US" dirty="0"/>
              <a:t>return the value pointed by FRONT</a:t>
            </a:r>
          </a:p>
          <a:p>
            <a:r>
              <a:rPr lang="en-US" dirty="0" smtClean="0"/>
              <a:t>Circularly </a:t>
            </a:r>
            <a:r>
              <a:rPr lang="en-US" dirty="0">
                <a:solidFill>
                  <a:srgbClr val="FF0000"/>
                </a:solidFill>
              </a:rPr>
              <a:t>increase the FRONT index by 1</a:t>
            </a:r>
          </a:p>
          <a:p>
            <a:r>
              <a:rPr lang="en-US" dirty="0" smtClean="0"/>
              <a:t>If it is the </a:t>
            </a:r>
            <a:r>
              <a:rPr lang="en-US" dirty="0" smtClean="0">
                <a:solidFill>
                  <a:srgbClr val="FF0000"/>
                </a:solidFill>
              </a:rPr>
              <a:t>Last </a:t>
            </a:r>
            <a:r>
              <a:rPr lang="en-US" dirty="0">
                <a:solidFill>
                  <a:srgbClr val="FF0000"/>
                </a:solidFill>
              </a:rPr>
              <a:t>element, reset the values of FRONT and REAR to -1</a:t>
            </a:r>
            <a:endParaRPr lang="en-IN" dirty="0">
              <a:solidFill>
                <a:srgbClr val="FF0000"/>
              </a:solidFill>
            </a:endParaRPr>
          </a:p>
        </p:txBody>
      </p:sp>
    </p:spTree>
    <p:extLst>
      <p:ext uri="{BB962C8B-B14F-4D97-AF65-F5344CB8AC3E}">
        <p14:creationId xmlns:p14="http://schemas.microsoft.com/office/powerpoint/2010/main" val="4263626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t>However, the check for </a:t>
            </a:r>
            <a:r>
              <a:rPr lang="en-US" dirty="0">
                <a:solidFill>
                  <a:srgbClr val="FF0000"/>
                </a:solidFill>
              </a:rPr>
              <a:t>full queue </a:t>
            </a:r>
            <a:r>
              <a:rPr lang="en-US" dirty="0"/>
              <a:t>has a new additional case:</a:t>
            </a:r>
          </a:p>
          <a:p>
            <a:pPr marL="0" indent="0">
              <a:buNone/>
            </a:pPr>
            <a:endParaRPr lang="en-US" dirty="0"/>
          </a:p>
          <a:p>
            <a:pPr marL="0" indent="0">
              <a:buNone/>
            </a:pPr>
            <a:r>
              <a:rPr lang="en-US" dirty="0"/>
              <a:t>Case 1: FRONT = 0 &amp;&amp; REAR == SIZE - 1</a:t>
            </a:r>
          </a:p>
          <a:p>
            <a:pPr marL="0" indent="0">
              <a:buNone/>
            </a:pPr>
            <a:r>
              <a:rPr lang="en-US" dirty="0"/>
              <a:t>Case 2: FRONT = REAR + 1</a:t>
            </a:r>
          </a:p>
          <a:p>
            <a:pPr marL="0" indent="0">
              <a:buNone/>
            </a:pPr>
            <a:r>
              <a:rPr lang="en-US" dirty="0"/>
              <a:t>The second case happens when REAR starts from 0 due to circular increment and when its value is just 1 less than FRONT, the queue is full.</a:t>
            </a:r>
            <a:endParaRPr lang="en-IN" dirty="0"/>
          </a:p>
        </p:txBody>
      </p:sp>
    </p:spTree>
    <p:extLst>
      <p:ext uri="{BB962C8B-B14F-4D97-AF65-F5344CB8AC3E}">
        <p14:creationId xmlns:p14="http://schemas.microsoft.com/office/powerpoint/2010/main" val="31996619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410" y="620688"/>
            <a:ext cx="4095750" cy="512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4342" y="0"/>
            <a:ext cx="3619500" cy="4464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34342" y="4540313"/>
            <a:ext cx="3619500" cy="15567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45065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548680"/>
            <a:ext cx="8643864" cy="576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605011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188640"/>
            <a:ext cx="7488832" cy="6740307"/>
          </a:xfrm>
          <a:prstGeom prst="rect">
            <a:avLst/>
          </a:prstGeom>
        </p:spPr>
        <p:txBody>
          <a:bodyPr wrap="square">
            <a:spAutoFit/>
          </a:bodyPr>
          <a:lstStyle/>
          <a:p>
            <a:r>
              <a:rPr lang="en-IN" sz="2400" dirty="0"/>
              <a:t>// Circular Queue implementation in C</a:t>
            </a:r>
          </a:p>
          <a:p>
            <a:r>
              <a:rPr lang="en-IN" sz="2400" dirty="0"/>
              <a:t> #include &lt;</a:t>
            </a:r>
            <a:r>
              <a:rPr lang="en-IN" sz="2400" dirty="0" err="1"/>
              <a:t>stdio.h</a:t>
            </a:r>
            <a:r>
              <a:rPr lang="en-IN" sz="2400" dirty="0"/>
              <a:t>&gt;</a:t>
            </a:r>
          </a:p>
          <a:p>
            <a:r>
              <a:rPr lang="en-IN" sz="2400" dirty="0"/>
              <a:t>#define SIZE 5</a:t>
            </a:r>
          </a:p>
          <a:p>
            <a:r>
              <a:rPr lang="en-IN" sz="2400" dirty="0" err="1"/>
              <a:t>int</a:t>
            </a:r>
            <a:r>
              <a:rPr lang="en-IN" sz="2400" dirty="0"/>
              <a:t> items[SIZE];</a:t>
            </a:r>
          </a:p>
          <a:p>
            <a:r>
              <a:rPr lang="en-IN" sz="2400" dirty="0" err="1"/>
              <a:t>int</a:t>
            </a:r>
            <a:r>
              <a:rPr lang="en-IN" sz="2400" dirty="0"/>
              <a:t> front = -1, rear = -1;</a:t>
            </a:r>
          </a:p>
          <a:p>
            <a:r>
              <a:rPr lang="en-IN" sz="2400" dirty="0"/>
              <a:t> </a:t>
            </a:r>
          </a:p>
          <a:p>
            <a:r>
              <a:rPr lang="en-IN" sz="2400" dirty="0"/>
              <a:t>// Check if the queue is full</a:t>
            </a:r>
          </a:p>
          <a:p>
            <a:r>
              <a:rPr lang="en-IN" sz="2400" dirty="0" err="1">
                <a:solidFill>
                  <a:srgbClr val="FF0000"/>
                </a:solidFill>
              </a:rPr>
              <a:t>int</a:t>
            </a:r>
            <a:r>
              <a:rPr lang="en-IN" sz="2400" dirty="0">
                <a:solidFill>
                  <a:srgbClr val="FF0000"/>
                </a:solidFill>
              </a:rPr>
              <a:t> </a:t>
            </a:r>
            <a:r>
              <a:rPr lang="en-IN" sz="2400" dirty="0" err="1">
                <a:solidFill>
                  <a:srgbClr val="FF0000"/>
                </a:solidFill>
              </a:rPr>
              <a:t>isFull</a:t>
            </a:r>
            <a:r>
              <a:rPr lang="en-IN" sz="2400" dirty="0">
                <a:solidFill>
                  <a:srgbClr val="FF0000"/>
                </a:solidFill>
              </a:rPr>
              <a:t>() </a:t>
            </a:r>
            <a:r>
              <a:rPr lang="en-IN" sz="2400" dirty="0"/>
              <a:t>{</a:t>
            </a:r>
          </a:p>
          <a:p>
            <a:r>
              <a:rPr lang="en-IN" sz="2400" dirty="0"/>
              <a:t>  if ((front == rear + 1) || (front == 0 &amp;&amp; rear == SIZE - 1)) </a:t>
            </a:r>
            <a:r>
              <a:rPr lang="en-IN" sz="2400" dirty="0" smtClean="0"/>
              <a:t>  </a:t>
            </a:r>
          </a:p>
          <a:p>
            <a:r>
              <a:rPr lang="en-IN" sz="2400" dirty="0"/>
              <a:t> </a:t>
            </a:r>
            <a:r>
              <a:rPr lang="en-IN" sz="2400" dirty="0" smtClean="0"/>
              <a:t>           </a:t>
            </a:r>
            <a:r>
              <a:rPr lang="en-IN" sz="2400" dirty="0" smtClean="0"/>
              <a:t>return </a:t>
            </a:r>
            <a:r>
              <a:rPr lang="en-IN" sz="2400" dirty="0"/>
              <a:t>1;</a:t>
            </a:r>
          </a:p>
          <a:p>
            <a:r>
              <a:rPr lang="en-IN" sz="2400" dirty="0"/>
              <a:t>  return 0;</a:t>
            </a:r>
          </a:p>
          <a:p>
            <a:r>
              <a:rPr lang="en-IN" sz="2400" dirty="0"/>
              <a:t>}</a:t>
            </a:r>
          </a:p>
          <a:p>
            <a:r>
              <a:rPr lang="en-IN" sz="2400" dirty="0"/>
              <a:t> </a:t>
            </a:r>
          </a:p>
          <a:p>
            <a:r>
              <a:rPr lang="en-IN" sz="2400" dirty="0"/>
              <a:t>// Check if the queue is empty</a:t>
            </a:r>
          </a:p>
          <a:p>
            <a:r>
              <a:rPr lang="en-IN" sz="2400" dirty="0" err="1">
                <a:solidFill>
                  <a:srgbClr val="FF0000"/>
                </a:solidFill>
              </a:rPr>
              <a:t>int</a:t>
            </a:r>
            <a:r>
              <a:rPr lang="en-IN" sz="2400" dirty="0">
                <a:solidFill>
                  <a:srgbClr val="FF0000"/>
                </a:solidFill>
              </a:rPr>
              <a:t> </a:t>
            </a:r>
            <a:r>
              <a:rPr lang="en-IN" sz="2400" dirty="0" err="1">
                <a:solidFill>
                  <a:srgbClr val="FF0000"/>
                </a:solidFill>
              </a:rPr>
              <a:t>isEmpty</a:t>
            </a:r>
            <a:r>
              <a:rPr lang="en-IN" sz="2400" dirty="0">
                <a:solidFill>
                  <a:srgbClr val="FF0000"/>
                </a:solidFill>
              </a:rPr>
              <a:t>() </a:t>
            </a:r>
            <a:r>
              <a:rPr lang="en-IN" sz="2400" dirty="0"/>
              <a:t>{</a:t>
            </a:r>
          </a:p>
          <a:p>
            <a:r>
              <a:rPr lang="en-IN" sz="2400" dirty="0"/>
              <a:t>  if (front == -1</a:t>
            </a:r>
            <a:r>
              <a:rPr lang="en-IN" sz="2400" dirty="0" smtClean="0"/>
              <a:t>)    </a:t>
            </a:r>
            <a:r>
              <a:rPr lang="en-IN" sz="2400" dirty="0"/>
              <a:t>return 1;</a:t>
            </a:r>
          </a:p>
          <a:p>
            <a:r>
              <a:rPr lang="en-IN" sz="2400" dirty="0"/>
              <a:t>  return 0;</a:t>
            </a:r>
          </a:p>
          <a:p>
            <a:r>
              <a:rPr lang="en-IN" sz="2400" dirty="0"/>
              <a:t>}</a:t>
            </a:r>
          </a:p>
        </p:txBody>
      </p:sp>
    </p:spTree>
    <p:extLst>
      <p:ext uri="{BB962C8B-B14F-4D97-AF65-F5344CB8AC3E}">
        <p14:creationId xmlns:p14="http://schemas.microsoft.com/office/powerpoint/2010/main" val="407148014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15616" y="332656"/>
            <a:ext cx="7056784" cy="5693866"/>
          </a:xfrm>
          <a:prstGeom prst="rect">
            <a:avLst/>
          </a:prstGeom>
        </p:spPr>
        <p:txBody>
          <a:bodyPr wrap="square">
            <a:spAutoFit/>
          </a:bodyPr>
          <a:lstStyle/>
          <a:p>
            <a:endParaRPr lang="en-IN" sz="2800" dirty="0"/>
          </a:p>
          <a:p>
            <a:r>
              <a:rPr lang="en-IN" sz="2800" dirty="0"/>
              <a:t>// </a:t>
            </a:r>
            <a:r>
              <a:rPr lang="en-IN" sz="2800" b="1" dirty="0">
                <a:solidFill>
                  <a:srgbClr val="FF0000"/>
                </a:solidFill>
              </a:rPr>
              <a:t>Adding an element</a:t>
            </a:r>
          </a:p>
          <a:p>
            <a:r>
              <a:rPr lang="en-IN" sz="2800" dirty="0"/>
              <a:t>void </a:t>
            </a:r>
            <a:r>
              <a:rPr lang="en-IN" sz="2800" dirty="0" err="1">
                <a:solidFill>
                  <a:srgbClr val="FF0000"/>
                </a:solidFill>
              </a:rPr>
              <a:t>enQueue</a:t>
            </a:r>
            <a:r>
              <a:rPr lang="en-IN" sz="2800" dirty="0">
                <a:solidFill>
                  <a:srgbClr val="FF0000"/>
                </a:solidFill>
              </a:rPr>
              <a:t>(</a:t>
            </a:r>
            <a:r>
              <a:rPr lang="en-IN" sz="2800" dirty="0" err="1">
                <a:solidFill>
                  <a:srgbClr val="FF0000"/>
                </a:solidFill>
              </a:rPr>
              <a:t>int</a:t>
            </a:r>
            <a:r>
              <a:rPr lang="en-IN" sz="2800" dirty="0">
                <a:solidFill>
                  <a:srgbClr val="FF0000"/>
                </a:solidFill>
              </a:rPr>
              <a:t> element) </a:t>
            </a:r>
            <a:r>
              <a:rPr lang="en-IN" sz="2800" dirty="0"/>
              <a:t>{</a:t>
            </a:r>
          </a:p>
          <a:p>
            <a:r>
              <a:rPr lang="en-IN" sz="2800" dirty="0"/>
              <a:t>  if (</a:t>
            </a:r>
            <a:r>
              <a:rPr lang="en-IN" sz="2800" dirty="0" err="1"/>
              <a:t>isFull</a:t>
            </a:r>
            <a:r>
              <a:rPr lang="en-IN" sz="2800" dirty="0"/>
              <a:t>())</a:t>
            </a:r>
          </a:p>
          <a:p>
            <a:r>
              <a:rPr lang="en-IN" sz="2800" dirty="0"/>
              <a:t>    </a:t>
            </a:r>
            <a:r>
              <a:rPr lang="en-IN" sz="2800" dirty="0" err="1"/>
              <a:t>printf</a:t>
            </a:r>
            <a:r>
              <a:rPr lang="en-IN" sz="2800" dirty="0"/>
              <a:t>("\n Queue is full!! \n");</a:t>
            </a:r>
          </a:p>
          <a:p>
            <a:r>
              <a:rPr lang="en-IN" sz="2800" dirty="0"/>
              <a:t>  else {</a:t>
            </a:r>
          </a:p>
          <a:p>
            <a:r>
              <a:rPr lang="en-IN" sz="2800" dirty="0"/>
              <a:t>    if (front == -1</a:t>
            </a:r>
            <a:r>
              <a:rPr lang="en-IN" sz="2800" dirty="0" smtClean="0"/>
              <a:t>)</a:t>
            </a:r>
          </a:p>
          <a:p>
            <a:r>
              <a:rPr lang="en-IN" sz="2800" dirty="0"/>
              <a:t> </a:t>
            </a:r>
            <a:r>
              <a:rPr lang="en-IN" sz="2800" dirty="0" smtClean="0"/>
              <a:t>          </a:t>
            </a:r>
            <a:r>
              <a:rPr lang="en-IN" sz="2800" dirty="0" smtClean="0"/>
              <a:t> </a:t>
            </a:r>
            <a:r>
              <a:rPr lang="en-IN" sz="2800" dirty="0"/>
              <a:t>front = 0;</a:t>
            </a:r>
          </a:p>
          <a:p>
            <a:r>
              <a:rPr lang="en-IN" sz="2800" dirty="0"/>
              <a:t>    rear = (rear + 1) % SIZE;</a:t>
            </a:r>
          </a:p>
          <a:p>
            <a:r>
              <a:rPr lang="en-IN" sz="2800" dirty="0"/>
              <a:t>    items[rear] = element;</a:t>
            </a:r>
          </a:p>
          <a:p>
            <a:r>
              <a:rPr lang="en-IN" sz="2800" dirty="0"/>
              <a:t>    </a:t>
            </a:r>
            <a:r>
              <a:rPr lang="en-IN" sz="2800" dirty="0" err="1"/>
              <a:t>printf</a:t>
            </a:r>
            <a:r>
              <a:rPr lang="en-IN" sz="2800" dirty="0"/>
              <a:t>("\n Inserted -&gt; %d", element);</a:t>
            </a:r>
          </a:p>
          <a:p>
            <a:r>
              <a:rPr lang="en-IN" sz="2800" dirty="0"/>
              <a:t>  }</a:t>
            </a:r>
          </a:p>
          <a:p>
            <a:r>
              <a:rPr lang="en-IN" sz="2800" dirty="0"/>
              <a:t>}</a:t>
            </a:r>
          </a:p>
        </p:txBody>
      </p:sp>
    </p:spTree>
    <p:extLst>
      <p:ext uri="{BB962C8B-B14F-4D97-AF65-F5344CB8AC3E}">
        <p14:creationId xmlns:p14="http://schemas.microsoft.com/office/powerpoint/2010/main" val="1752363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44624"/>
            <a:ext cx="8676456" cy="6740307"/>
          </a:xfrm>
          <a:prstGeom prst="rect">
            <a:avLst/>
          </a:prstGeom>
        </p:spPr>
        <p:txBody>
          <a:bodyPr wrap="square">
            <a:spAutoFit/>
          </a:bodyPr>
          <a:lstStyle/>
          <a:p>
            <a:r>
              <a:rPr lang="en-IN" sz="2400" dirty="0">
                <a:solidFill>
                  <a:srgbClr val="000099"/>
                </a:solidFill>
              </a:rPr>
              <a:t>// </a:t>
            </a:r>
            <a:r>
              <a:rPr lang="en-IN" sz="2400" b="1" dirty="0">
                <a:solidFill>
                  <a:srgbClr val="FF0000"/>
                </a:solidFill>
              </a:rPr>
              <a:t>Removing an element</a:t>
            </a:r>
          </a:p>
          <a:p>
            <a:r>
              <a:rPr lang="en-IN" sz="2400" dirty="0" err="1"/>
              <a:t>int</a:t>
            </a:r>
            <a:r>
              <a:rPr lang="en-IN" sz="2400" dirty="0"/>
              <a:t> </a:t>
            </a:r>
            <a:r>
              <a:rPr lang="en-IN" sz="2400" dirty="0" err="1">
                <a:solidFill>
                  <a:srgbClr val="FF0000"/>
                </a:solidFill>
              </a:rPr>
              <a:t>deQueue</a:t>
            </a:r>
            <a:r>
              <a:rPr lang="en-IN" sz="2400" dirty="0">
                <a:solidFill>
                  <a:srgbClr val="FF0000"/>
                </a:solidFill>
              </a:rPr>
              <a:t>() </a:t>
            </a:r>
            <a:r>
              <a:rPr lang="en-IN" sz="2400" dirty="0"/>
              <a:t>{</a:t>
            </a:r>
          </a:p>
          <a:p>
            <a:r>
              <a:rPr lang="en-IN" sz="2400" dirty="0"/>
              <a:t>  </a:t>
            </a:r>
            <a:r>
              <a:rPr lang="en-IN" sz="2400" dirty="0" err="1"/>
              <a:t>int</a:t>
            </a:r>
            <a:r>
              <a:rPr lang="en-IN" sz="2400" dirty="0"/>
              <a:t> element;</a:t>
            </a:r>
          </a:p>
          <a:p>
            <a:r>
              <a:rPr lang="en-IN" sz="2400" dirty="0"/>
              <a:t>  if (</a:t>
            </a:r>
            <a:r>
              <a:rPr lang="en-IN" sz="2400" dirty="0" err="1"/>
              <a:t>isEmpty</a:t>
            </a:r>
            <a:r>
              <a:rPr lang="en-IN" sz="2400" dirty="0" smtClean="0"/>
              <a:t>())</a:t>
            </a:r>
          </a:p>
          <a:p>
            <a:r>
              <a:rPr lang="en-IN" sz="2400" dirty="0"/>
              <a:t> </a:t>
            </a:r>
            <a:r>
              <a:rPr lang="en-IN" sz="2400" dirty="0" smtClean="0"/>
              <a:t> {    </a:t>
            </a:r>
            <a:r>
              <a:rPr lang="en-IN" sz="2400" dirty="0" err="1"/>
              <a:t>printf</a:t>
            </a:r>
            <a:r>
              <a:rPr lang="en-IN" sz="2400" dirty="0"/>
              <a:t>("\n Queue is empty !! \n");     return (-1);</a:t>
            </a:r>
          </a:p>
          <a:p>
            <a:r>
              <a:rPr lang="en-IN" sz="2400" dirty="0"/>
              <a:t>  } </a:t>
            </a:r>
            <a:endParaRPr lang="en-IN" sz="2400" dirty="0" smtClean="0"/>
          </a:p>
          <a:p>
            <a:r>
              <a:rPr lang="en-IN" sz="2400" dirty="0" smtClean="0"/>
              <a:t> else </a:t>
            </a:r>
          </a:p>
          <a:p>
            <a:r>
              <a:rPr lang="en-IN" sz="2400" dirty="0"/>
              <a:t> </a:t>
            </a:r>
            <a:r>
              <a:rPr lang="en-IN" sz="2400" dirty="0" smtClean="0"/>
              <a:t> </a:t>
            </a:r>
            <a:r>
              <a:rPr lang="en-IN" sz="2400" dirty="0" smtClean="0"/>
              <a:t>{   </a:t>
            </a:r>
            <a:r>
              <a:rPr lang="en-IN" sz="2400" dirty="0"/>
              <a:t>element = items[front];</a:t>
            </a:r>
          </a:p>
          <a:p>
            <a:r>
              <a:rPr lang="en-IN" sz="2400" dirty="0"/>
              <a:t>    </a:t>
            </a:r>
            <a:r>
              <a:rPr lang="en-IN" sz="2400" dirty="0" smtClean="0"/>
              <a:t>  if </a:t>
            </a:r>
            <a:r>
              <a:rPr lang="en-IN" sz="2400" dirty="0"/>
              <a:t>(front == rear)    /*  one element */</a:t>
            </a:r>
          </a:p>
          <a:p>
            <a:r>
              <a:rPr lang="en-IN" sz="2400" dirty="0"/>
              <a:t>  </a:t>
            </a:r>
            <a:r>
              <a:rPr lang="en-IN" sz="2400" dirty="0" smtClean="0"/>
              <a:t>    {  </a:t>
            </a:r>
            <a:r>
              <a:rPr lang="en-IN" sz="2400" dirty="0"/>
              <a:t>front = -1;     // </a:t>
            </a:r>
            <a:r>
              <a:rPr lang="en-IN" sz="2400" dirty="0">
                <a:solidFill>
                  <a:srgbClr val="FF0000"/>
                </a:solidFill>
              </a:rPr>
              <a:t>Q has only one element, so we reset the queue</a:t>
            </a:r>
          </a:p>
          <a:p>
            <a:r>
              <a:rPr lang="en-IN" sz="2400" dirty="0"/>
              <a:t>      </a:t>
            </a:r>
            <a:r>
              <a:rPr lang="en-IN" sz="2400" dirty="0" smtClean="0"/>
              <a:t>    rear </a:t>
            </a:r>
            <a:r>
              <a:rPr lang="en-IN" sz="2400" dirty="0"/>
              <a:t>= -1;      //  </a:t>
            </a:r>
            <a:r>
              <a:rPr lang="en-IN" sz="2400" dirty="0">
                <a:solidFill>
                  <a:srgbClr val="FF0000"/>
                </a:solidFill>
              </a:rPr>
              <a:t>after </a:t>
            </a:r>
            <a:r>
              <a:rPr lang="en-IN" sz="2400" dirty="0" err="1">
                <a:solidFill>
                  <a:srgbClr val="FF0000"/>
                </a:solidFill>
              </a:rPr>
              <a:t>dequeing</a:t>
            </a:r>
            <a:r>
              <a:rPr lang="en-IN" sz="2400" dirty="0">
                <a:solidFill>
                  <a:srgbClr val="FF0000"/>
                </a:solidFill>
              </a:rPr>
              <a:t> it</a:t>
            </a:r>
            <a:r>
              <a:rPr lang="en-IN" sz="2400" dirty="0"/>
              <a:t>.</a:t>
            </a:r>
          </a:p>
          <a:p>
            <a:r>
              <a:rPr lang="en-IN" sz="2400" dirty="0"/>
              <a:t>    </a:t>
            </a:r>
            <a:r>
              <a:rPr lang="en-IN" sz="2400" dirty="0" smtClean="0"/>
              <a:t>  } </a:t>
            </a:r>
            <a:endParaRPr lang="en-IN" sz="2400" dirty="0"/>
          </a:p>
          <a:p>
            <a:r>
              <a:rPr lang="en-IN" sz="2400" dirty="0" smtClean="0"/>
              <a:t>      else </a:t>
            </a:r>
            <a:endParaRPr lang="en-IN" sz="2400" dirty="0"/>
          </a:p>
          <a:p>
            <a:r>
              <a:rPr lang="en-IN" sz="2400" dirty="0"/>
              <a:t>      { </a:t>
            </a:r>
            <a:r>
              <a:rPr lang="en-IN" sz="2400" dirty="0" smtClean="0"/>
              <a:t>   front </a:t>
            </a:r>
            <a:r>
              <a:rPr lang="en-IN" sz="2400" dirty="0"/>
              <a:t>= (front + 1) % SIZE; </a:t>
            </a:r>
            <a:r>
              <a:rPr lang="en-IN" sz="2400" dirty="0" smtClean="0"/>
              <a:t>   }</a:t>
            </a:r>
            <a:endParaRPr lang="en-IN" sz="2400" dirty="0"/>
          </a:p>
          <a:p>
            <a:r>
              <a:rPr lang="en-IN" sz="2400" dirty="0"/>
              <a:t> </a:t>
            </a:r>
            <a:r>
              <a:rPr lang="en-IN" sz="2400" dirty="0" err="1" smtClean="0"/>
              <a:t>printf</a:t>
            </a:r>
            <a:r>
              <a:rPr lang="en-IN" sz="2400" dirty="0"/>
              <a:t>("\n Deleted element -&gt; %d \n", element);</a:t>
            </a:r>
          </a:p>
          <a:p>
            <a:r>
              <a:rPr lang="en-IN" sz="2400" dirty="0"/>
              <a:t> </a:t>
            </a:r>
            <a:r>
              <a:rPr lang="en-IN" sz="2400" dirty="0" smtClean="0"/>
              <a:t>return </a:t>
            </a:r>
            <a:r>
              <a:rPr lang="en-IN" sz="2400" dirty="0"/>
              <a:t>(element);    </a:t>
            </a:r>
          </a:p>
          <a:p>
            <a:r>
              <a:rPr lang="en-IN" sz="2400" dirty="0" smtClean="0"/>
              <a:t>  } </a:t>
            </a:r>
          </a:p>
          <a:p>
            <a:r>
              <a:rPr lang="en-IN" sz="2400" dirty="0" smtClean="0"/>
              <a:t> </a:t>
            </a:r>
            <a:r>
              <a:rPr lang="en-IN" sz="2400" dirty="0"/>
              <a:t>}</a:t>
            </a:r>
          </a:p>
        </p:txBody>
      </p:sp>
    </p:spTree>
    <p:extLst>
      <p:ext uri="{BB962C8B-B14F-4D97-AF65-F5344CB8AC3E}">
        <p14:creationId xmlns:p14="http://schemas.microsoft.com/office/powerpoint/2010/main" val="3836829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620688"/>
            <a:ext cx="6840760" cy="5632311"/>
          </a:xfrm>
          <a:prstGeom prst="rect">
            <a:avLst/>
          </a:prstGeom>
        </p:spPr>
        <p:txBody>
          <a:bodyPr wrap="square">
            <a:spAutoFit/>
          </a:bodyPr>
          <a:lstStyle/>
          <a:p>
            <a:r>
              <a:rPr lang="en-IN" sz="2400" b="1" dirty="0">
                <a:solidFill>
                  <a:srgbClr val="FF0000"/>
                </a:solidFill>
              </a:rPr>
              <a:t>// Display the queue</a:t>
            </a:r>
          </a:p>
          <a:p>
            <a:r>
              <a:rPr lang="en-IN" sz="2400" dirty="0"/>
              <a:t>void </a:t>
            </a:r>
            <a:r>
              <a:rPr lang="en-IN" sz="2400" dirty="0">
                <a:solidFill>
                  <a:srgbClr val="FF0000"/>
                </a:solidFill>
              </a:rPr>
              <a:t>display() </a:t>
            </a:r>
            <a:endParaRPr lang="en-IN" sz="2400" dirty="0" smtClean="0">
              <a:solidFill>
                <a:srgbClr val="FF0000"/>
              </a:solidFill>
            </a:endParaRPr>
          </a:p>
          <a:p>
            <a:r>
              <a:rPr lang="en-IN" sz="2400" dirty="0" smtClean="0"/>
              <a:t>{ </a:t>
            </a:r>
            <a:r>
              <a:rPr lang="en-IN" sz="2400" dirty="0" err="1" smtClean="0"/>
              <a:t>int</a:t>
            </a:r>
            <a:r>
              <a:rPr lang="en-IN" sz="2400" dirty="0" smtClean="0"/>
              <a:t> </a:t>
            </a:r>
            <a:r>
              <a:rPr lang="en-IN" sz="2400" dirty="0" err="1"/>
              <a:t>i</a:t>
            </a:r>
            <a:r>
              <a:rPr lang="en-IN" sz="2400" dirty="0"/>
              <a:t>;</a:t>
            </a:r>
          </a:p>
          <a:p>
            <a:r>
              <a:rPr lang="en-IN" sz="2400" dirty="0"/>
              <a:t>  if (</a:t>
            </a:r>
            <a:r>
              <a:rPr lang="en-IN" sz="2400" dirty="0" err="1"/>
              <a:t>isEmpty</a:t>
            </a:r>
            <a:r>
              <a:rPr lang="en-IN" sz="2400" dirty="0"/>
              <a:t>())</a:t>
            </a:r>
          </a:p>
          <a:p>
            <a:r>
              <a:rPr lang="en-IN" sz="2400" dirty="0" smtClean="0"/>
              <a:t>        </a:t>
            </a:r>
            <a:r>
              <a:rPr lang="en-IN" sz="2400" dirty="0" err="1"/>
              <a:t>printf</a:t>
            </a:r>
            <a:r>
              <a:rPr lang="en-IN" sz="2400" dirty="0"/>
              <a:t>(" \n Empty Queue\n");</a:t>
            </a:r>
          </a:p>
          <a:p>
            <a:r>
              <a:rPr lang="en-IN" sz="2400" dirty="0"/>
              <a:t>  else </a:t>
            </a:r>
            <a:endParaRPr lang="en-IN" sz="2400" dirty="0" smtClean="0"/>
          </a:p>
          <a:p>
            <a:r>
              <a:rPr lang="en-IN" sz="2400" dirty="0"/>
              <a:t> </a:t>
            </a:r>
            <a:r>
              <a:rPr lang="en-IN" sz="2400" dirty="0" smtClean="0"/>
              <a:t> </a:t>
            </a:r>
            <a:r>
              <a:rPr lang="en-IN" sz="2400" dirty="0" smtClean="0"/>
              <a:t>{ </a:t>
            </a:r>
            <a:r>
              <a:rPr lang="en-IN" sz="2400" dirty="0" err="1" smtClean="0"/>
              <a:t>printf</a:t>
            </a:r>
            <a:r>
              <a:rPr lang="en-IN" sz="2400" dirty="0"/>
              <a:t>("\n Front -&gt; %d ", front);</a:t>
            </a:r>
          </a:p>
          <a:p>
            <a:r>
              <a:rPr lang="en-IN" sz="2400" dirty="0"/>
              <a:t>    </a:t>
            </a:r>
            <a:r>
              <a:rPr lang="en-IN" sz="2400" dirty="0" err="1"/>
              <a:t>printf</a:t>
            </a:r>
            <a:r>
              <a:rPr lang="en-IN" sz="2400" dirty="0"/>
              <a:t>("\n Items -&gt; ");</a:t>
            </a:r>
          </a:p>
          <a:p>
            <a:r>
              <a:rPr lang="en-IN" sz="2400" dirty="0"/>
              <a:t>    for (</a:t>
            </a:r>
            <a:r>
              <a:rPr lang="en-IN" sz="2400" dirty="0" err="1"/>
              <a:t>i</a:t>
            </a:r>
            <a:r>
              <a:rPr lang="en-IN" sz="2400" dirty="0"/>
              <a:t> = front; </a:t>
            </a:r>
            <a:r>
              <a:rPr lang="en-IN" sz="2400" dirty="0" err="1"/>
              <a:t>i</a:t>
            </a:r>
            <a:r>
              <a:rPr lang="en-IN" sz="2400" dirty="0"/>
              <a:t> != rear; </a:t>
            </a:r>
            <a:r>
              <a:rPr lang="en-IN" sz="2400" dirty="0" err="1"/>
              <a:t>i</a:t>
            </a:r>
            <a:r>
              <a:rPr lang="en-IN" sz="2400" dirty="0"/>
              <a:t> = (</a:t>
            </a:r>
            <a:r>
              <a:rPr lang="en-IN" sz="2400" dirty="0" err="1"/>
              <a:t>i</a:t>
            </a:r>
            <a:r>
              <a:rPr lang="en-IN" sz="2400" dirty="0"/>
              <a:t> + 1) % SIZE) {</a:t>
            </a:r>
          </a:p>
          <a:p>
            <a:r>
              <a:rPr lang="en-IN" sz="2400" dirty="0"/>
              <a:t>  </a:t>
            </a:r>
            <a:r>
              <a:rPr lang="en-IN" sz="2400" dirty="0" smtClean="0"/>
              <a:t>        </a:t>
            </a:r>
            <a:r>
              <a:rPr lang="en-IN" sz="2400" dirty="0" err="1"/>
              <a:t>printf</a:t>
            </a:r>
            <a:r>
              <a:rPr lang="en-IN" sz="2400" dirty="0"/>
              <a:t>("%d ", items[</a:t>
            </a:r>
            <a:r>
              <a:rPr lang="en-IN" sz="2400" dirty="0" err="1"/>
              <a:t>i</a:t>
            </a:r>
            <a:r>
              <a:rPr lang="en-IN" sz="2400" dirty="0"/>
              <a:t>]);</a:t>
            </a:r>
          </a:p>
          <a:p>
            <a:r>
              <a:rPr lang="en-IN" sz="2400" dirty="0"/>
              <a:t>    }</a:t>
            </a:r>
          </a:p>
          <a:p>
            <a:r>
              <a:rPr lang="en-IN" sz="2400" dirty="0"/>
              <a:t>    </a:t>
            </a:r>
            <a:r>
              <a:rPr lang="en-IN" sz="2400" dirty="0" err="1"/>
              <a:t>printf</a:t>
            </a:r>
            <a:r>
              <a:rPr lang="en-IN" sz="2400" dirty="0"/>
              <a:t>("%d ", items[</a:t>
            </a:r>
            <a:r>
              <a:rPr lang="en-IN" sz="2400" dirty="0" err="1"/>
              <a:t>i</a:t>
            </a:r>
            <a:r>
              <a:rPr lang="en-IN" sz="2400" dirty="0"/>
              <a:t>]);</a:t>
            </a:r>
          </a:p>
          <a:p>
            <a:r>
              <a:rPr lang="en-IN" sz="2400" dirty="0"/>
              <a:t>    </a:t>
            </a:r>
            <a:r>
              <a:rPr lang="en-IN" sz="2400" dirty="0" err="1"/>
              <a:t>printf</a:t>
            </a:r>
            <a:r>
              <a:rPr lang="en-IN" sz="2400" dirty="0"/>
              <a:t>("\n Rear -&gt; %d \n", rear);</a:t>
            </a:r>
          </a:p>
          <a:p>
            <a:r>
              <a:rPr lang="en-IN" sz="2400" dirty="0"/>
              <a:t>  }</a:t>
            </a:r>
          </a:p>
          <a:p>
            <a:r>
              <a:rPr lang="en-IN" sz="2400" dirty="0"/>
              <a:t>}</a:t>
            </a:r>
          </a:p>
        </p:txBody>
      </p:sp>
    </p:spTree>
    <p:extLst>
      <p:ext uri="{BB962C8B-B14F-4D97-AF65-F5344CB8AC3E}">
        <p14:creationId xmlns:p14="http://schemas.microsoft.com/office/powerpoint/2010/main" val="914110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1784" y="557972"/>
            <a:ext cx="8172400" cy="5632311"/>
          </a:xfrm>
          <a:prstGeom prst="rect">
            <a:avLst/>
          </a:prstGeom>
        </p:spPr>
        <p:txBody>
          <a:bodyPr wrap="square">
            <a:spAutoFit/>
          </a:bodyPr>
          <a:lstStyle/>
          <a:p>
            <a:r>
              <a:rPr lang="en-IN" sz="2400" dirty="0" err="1"/>
              <a:t>int</a:t>
            </a:r>
            <a:r>
              <a:rPr lang="en-IN" sz="2400" dirty="0"/>
              <a:t> main() {</a:t>
            </a:r>
          </a:p>
          <a:p>
            <a:r>
              <a:rPr lang="en-IN" sz="2400" dirty="0"/>
              <a:t>  // Fails because front = -1</a:t>
            </a:r>
          </a:p>
          <a:p>
            <a:r>
              <a:rPr lang="en-IN" sz="2400" dirty="0"/>
              <a:t>  </a:t>
            </a:r>
            <a:r>
              <a:rPr lang="en-IN" sz="2400" dirty="0" err="1"/>
              <a:t>deQueue</a:t>
            </a:r>
            <a:r>
              <a:rPr lang="en-IN" sz="2400" dirty="0"/>
              <a:t>();      </a:t>
            </a:r>
            <a:r>
              <a:rPr lang="en-IN" sz="2400" dirty="0" err="1"/>
              <a:t>enQueue</a:t>
            </a:r>
            <a:r>
              <a:rPr lang="en-IN" sz="2400" dirty="0"/>
              <a:t>(1);</a:t>
            </a:r>
          </a:p>
          <a:p>
            <a:r>
              <a:rPr lang="en-IN" sz="2400" dirty="0"/>
              <a:t>  </a:t>
            </a:r>
            <a:r>
              <a:rPr lang="en-IN" sz="2400" dirty="0" err="1"/>
              <a:t>enQueue</a:t>
            </a:r>
            <a:r>
              <a:rPr lang="en-IN" sz="2400" dirty="0"/>
              <a:t>(2);   </a:t>
            </a:r>
            <a:r>
              <a:rPr lang="en-IN" sz="2400" dirty="0" err="1"/>
              <a:t>enQueue</a:t>
            </a:r>
            <a:r>
              <a:rPr lang="en-IN" sz="2400" dirty="0"/>
              <a:t>(3);</a:t>
            </a:r>
          </a:p>
          <a:p>
            <a:r>
              <a:rPr lang="en-IN" sz="2400" dirty="0"/>
              <a:t>  </a:t>
            </a:r>
            <a:r>
              <a:rPr lang="en-IN" sz="2400" dirty="0" err="1"/>
              <a:t>enQueue</a:t>
            </a:r>
            <a:r>
              <a:rPr lang="en-IN" sz="2400" dirty="0"/>
              <a:t>(4);   </a:t>
            </a:r>
            <a:r>
              <a:rPr lang="en-IN" sz="2400" dirty="0" err="1"/>
              <a:t>enQueue</a:t>
            </a:r>
            <a:r>
              <a:rPr lang="en-IN" sz="2400" dirty="0"/>
              <a:t>(5);</a:t>
            </a:r>
          </a:p>
          <a:p>
            <a:r>
              <a:rPr lang="en-IN" sz="2400" dirty="0"/>
              <a:t>  // Fails to </a:t>
            </a:r>
            <a:r>
              <a:rPr lang="en-IN" sz="2400" dirty="0" err="1"/>
              <a:t>enqueue</a:t>
            </a:r>
            <a:r>
              <a:rPr lang="en-IN" sz="2400" dirty="0"/>
              <a:t> because front == 0 &amp;&amp; rear == SIZE - 1</a:t>
            </a:r>
          </a:p>
          <a:p>
            <a:r>
              <a:rPr lang="en-IN" sz="2400" dirty="0"/>
              <a:t>  </a:t>
            </a:r>
            <a:r>
              <a:rPr lang="en-IN" sz="2400" dirty="0" err="1"/>
              <a:t>enQueue</a:t>
            </a:r>
            <a:r>
              <a:rPr lang="en-IN" sz="2400" dirty="0"/>
              <a:t>(6);</a:t>
            </a:r>
          </a:p>
          <a:p>
            <a:r>
              <a:rPr lang="en-IN" sz="2400" dirty="0"/>
              <a:t>  display();</a:t>
            </a:r>
          </a:p>
          <a:p>
            <a:r>
              <a:rPr lang="en-IN" sz="2400" dirty="0"/>
              <a:t>  </a:t>
            </a:r>
            <a:r>
              <a:rPr lang="en-IN" sz="2400" dirty="0" err="1"/>
              <a:t>deQueue</a:t>
            </a:r>
            <a:r>
              <a:rPr lang="en-IN" sz="2400" dirty="0"/>
              <a:t>();</a:t>
            </a:r>
          </a:p>
          <a:p>
            <a:r>
              <a:rPr lang="en-US" sz="2400" dirty="0"/>
              <a:t>  display();</a:t>
            </a:r>
          </a:p>
          <a:p>
            <a:r>
              <a:rPr lang="en-US" sz="2400" dirty="0"/>
              <a:t>  </a:t>
            </a:r>
            <a:r>
              <a:rPr lang="en-US" sz="2400" dirty="0" err="1"/>
              <a:t>enQueue</a:t>
            </a:r>
            <a:r>
              <a:rPr lang="en-US" sz="2400" dirty="0"/>
              <a:t>(7); </a:t>
            </a:r>
          </a:p>
          <a:p>
            <a:r>
              <a:rPr lang="en-US" sz="2400" dirty="0"/>
              <a:t>display(); </a:t>
            </a:r>
          </a:p>
          <a:p>
            <a:r>
              <a:rPr lang="en-US" sz="2400" dirty="0"/>
              <a:t>// Fails to </a:t>
            </a:r>
            <a:r>
              <a:rPr lang="en-US" sz="2400" dirty="0" err="1"/>
              <a:t>enqueue</a:t>
            </a:r>
            <a:r>
              <a:rPr lang="en-US" sz="2400" dirty="0"/>
              <a:t> because front == rear + 1 </a:t>
            </a:r>
          </a:p>
          <a:p>
            <a:r>
              <a:rPr lang="en-US" sz="2400" dirty="0"/>
              <a:t>   </a:t>
            </a:r>
            <a:r>
              <a:rPr lang="en-US" sz="2400" dirty="0" err="1"/>
              <a:t>enQueue</a:t>
            </a:r>
            <a:r>
              <a:rPr lang="en-US" sz="2400" dirty="0"/>
              <a:t>(8); </a:t>
            </a:r>
          </a:p>
          <a:p>
            <a:r>
              <a:rPr lang="en-US" sz="2400" dirty="0"/>
              <a:t>   return 0; }</a:t>
            </a:r>
            <a:r>
              <a:rPr lang="en-IN" sz="2400" dirty="0"/>
              <a:t>  }</a:t>
            </a:r>
          </a:p>
        </p:txBody>
      </p:sp>
      <p:sp>
        <p:nvSpPr>
          <p:cNvPr id="4" name="Rectangle 3"/>
          <p:cNvSpPr/>
          <p:nvPr/>
        </p:nvSpPr>
        <p:spPr>
          <a:xfrm>
            <a:off x="4427984" y="188640"/>
            <a:ext cx="4572000" cy="369332"/>
          </a:xfrm>
          <a:prstGeom prst="rect">
            <a:avLst/>
          </a:prstGeom>
        </p:spPr>
        <p:txBody>
          <a:bodyPr>
            <a:spAutoFit/>
          </a:bodyPr>
          <a:lstStyle/>
          <a:p>
            <a:r>
              <a:rPr lang="en-US" dirty="0"/>
              <a:t> </a:t>
            </a:r>
            <a:endParaRPr lang="en-IN" dirty="0"/>
          </a:p>
        </p:txBody>
      </p:sp>
    </p:spTree>
    <p:extLst>
      <p:ext uri="{BB962C8B-B14F-4D97-AF65-F5344CB8AC3E}">
        <p14:creationId xmlns:p14="http://schemas.microsoft.com/office/powerpoint/2010/main" val="36755508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443479"/>
            <a:ext cx="8424936" cy="6001643"/>
          </a:xfrm>
          <a:prstGeom prst="rect">
            <a:avLst/>
          </a:prstGeom>
        </p:spPr>
        <p:txBody>
          <a:bodyPr wrap="square">
            <a:spAutoFit/>
          </a:bodyPr>
          <a:lstStyle/>
          <a:p>
            <a:r>
              <a:rPr lang="en-IN" sz="3200" dirty="0">
                <a:solidFill>
                  <a:srgbClr val="FF0000"/>
                </a:solidFill>
              </a:rPr>
              <a:t>Narrate the following operations in a circular queue of size 9.  Show the status of circular queue for each of the print operation</a:t>
            </a:r>
          </a:p>
          <a:p>
            <a:endParaRPr lang="en-IN" sz="3200" dirty="0"/>
          </a:p>
          <a:p>
            <a:r>
              <a:rPr lang="en-IN" sz="3200" dirty="0"/>
              <a:t>for (</a:t>
            </a:r>
            <a:r>
              <a:rPr lang="en-IN" sz="3200" dirty="0" err="1"/>
              <a:t>int</a:t>
            </a:r>
            <a:r>
              <a:rPr lang="en-IN" sz="3200" dirty="0"/>
              <a:t> k = 0; k &lt;= 8; k++)</a:t>
            </a:r>
          </a:p>
          <a:p>
            <a:r>
              <a:rPr lang="en-IN" sz="3200" dirty="0"/>
              <a:t>     </a:t>
            </a:r>
            <a:r>
              <a:rPr lang="en-IN" sz="3200" dirty="0" err="1"/>
              <a:t>printf</a:t>
            </a:r>
            <a:r>
              <a:rPr lang="en-IN" sz="3200" dirty="0"/>
              <a:t>(</a:t>
            </a:r>
            <a:r>
              <a:rPr lang="en-IN" sz="3200" dirty="0" err="1"/>
              <a:t>enqueue</a:t>
            </a:r>
            <a:r>
              <a:rPr lang="en-IN" sz="3200" dirty="0"/>
              <a:t>(k));</a:t>
            </a:r>
          </a:p>
          <a:p>
            <a:r>
              <a:rPr lang="en-IN" sz="3200" dirty="0"/>
              <a:t>for (int k = 0; k &lt; 5; k++)</a:t>
            </a:r>
          </a:p>
          <a:p>
            <a:r>
              <a:rPr lang="en-IN" sz="3200" dirty="0"/>
              <a:t>{</a:t>
            </a:r>
          </a:p>
          <a:p>
            <a:r>
              <a:rPr lang="en-IN" sz="3200" dirty="0"/>
              <a:t>   </a:t>
            </a:r>
            <a:r>
              <a:rPr lang="en-IN" sz="3200" dirty="0" err="1"/>
              <a:t>printf</a:t>
            </a:r>
            <a:r>
              <a:rPr lang="en-IN" sz="3200" dirty="0"/>
              <a:t>(</a:t>
            </a:r>
            <a:r>
              <a:rPr lang="en-IN" sz="3200" dirty="0" err="1"/>
              <a:t>enqueue</a:t>
            </a:r>
            <a:r>
              <a:rPr lang="en-IN" sz="3200" dirty="0"/>
              <a:t>(</a:t>
            </a:r>
            <a:r>
              <a:rPr lang="en-IN" sz="3200" dirty="0" err="1"/>
              <a:t>dequeue</a:t>
            </a:r>
            <a:r>
              <a:rPr lang="en-IN" sz="3200" dirty="0"/>
              <a:t>()));   </a:t>
            </a:r>
          </a:p>
          <a:p>
            <a:r>
              <a:rPr lang="en-IN" sz="3200" dirty="0"/>
              <a:t>   </a:t>
            </a:r>
            <a:r>
              <a:rPr lang="en-IN" sz="3200" dirty="0" err="1"/>
              <a:t>printf</a:t>
            </a:r>
            <a:r>
              <a:rPr lang="en-IN" sz="3200" dirty="0"/>
              <a:t>(</a:t>
            </a:r>
            <a:r>
              <a:rPr lang="en-IN" sz="3200" dirty="0" err="1"/>
              <a:t>dequeue</a:t>
            </a:r>
            <a:r>
              <a:rPr lang="en-IN" sz="3200" dirty="0"/>
              <a:t>());</a:t>
            </a:r>
          </a:p>
          <a:p>
            <a:r>
              <a:rPr lang="en-IN" sz="3200" dirty="0"/>
              <a:t>   </a:t>
            </a:r>
            <a:r>
              <a:rPr lang="en-IN" sz="3200" dirty="0" err="1"/>
              <a:t>printf</a:t>
            </a:r>
            <a:r>
              <a:rPr lang="en-IN" sz="3200" dirty="0"/>
              <a:t>(</a:t>
            </a:r>
            <a:r>
              <a:rPr lang="en-IN" sz="3200" dirty="0" err="1"/>
              <a:t>dequeue</a:t>
            </a:r>
            <a:r>
              <a:rPr lang="en-IN" sz="3200" dirty="0"/>
              <a:t>());</a:t>
            </a:r>
          </a:p>
          <a:p>
            <a:r>
              <a:rPr lang="en-IN" sz="3200" dirty="0"/>
              <a:t>               }			</a:t>
            </a:r>
          </a:p>
        </p:txBody>
      </p:sp>
    </p:spTree>
    <p:extLst>
      <p:ext uri="{BB962C8B-B14F-4D97-AF65-F5344CB8AC3E}">
        <p14:creationId xmlns:p14="http://schemas.microsoft.com/office/powerpoint/2010/main" val="14207930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9552" y="404664"/>
            <a:ext cx="7056784" cy="6001643"/>
          </a:xfrm>
          <a:prstGeom prst="rect">
            <a:avLst/>
          </a:prstGeom>
        </p:spPr>
        <p:txBody>
          <a:bodyPr wrap="square">
            <a:spAutoFit/>
          </a:bodyPr>
          <a:lstStyle/>
          <a:p>
            <a:pPr algn="just"/>
            <a:r>
              <a:rPr lang="en-IN" sz="3200" dirty="0">
                <a:solidFill>
                  <a:srgbClr val="FF0000"/>
                </a:solidFill>
              </a:rPr>
              <a:t>With neat diagrams represent all the following operations on a queue of size 5.  </a:t>
            </a:r>
          </a:p>
          <a:p>
            <a:pPr algn="just"/>
            <a:r>
              <a:rPr lang="en-IN" sz="3200" dirty="0">
                <a:solidFill>
                  <a:srgbClr val="FF0000"/>
                </a:solidFill>
              </a:rPr>
              <a:t> Justify the output after each operation </a:t>
            </a:r>
          </a:p>
          <a:p>
            <a:endParaRPr lang="en-IN" sz="3200" dirty="0"/>
          </a:p>
          <a:p>
            <a:r>
              <a:rPr lang="en-IN" sz="3200" dirty="0" err="1"/>
              <a:t>dequeue</a:t>
            </a:r>
            <a:r>
              <a:rPr lang="en-IN" sz="3200" dirty="0"/>
              <a:t>(), </a:t>
            </a:r>
          </a:p>
          <a:p>
            <a:r>
              <a:rPr lang="en-IN" sz="3200" dirty="0" err="1"/>
              <a:t>enqueue</a:t>
            </a:r>
            <a:r>
              <a:rPr lang="en-IN" sz="3200" dirty="0"/>
              <a:t>(X), </a:t>
            </a:r>
          </a:p>
          <a:p>
            <a:r>
              <a:rPr lang="en-IN" sz="3200" dirty="0" err="1"/>
              <a:t>enqueue</a:t>
            </a:r>
            <a:r>
              <a:rPr lang="en-IN" sz="3200" dirty="0"/>
              <a:t>(B), </a:t>
            </a:r>
          </a:p>
          <a:p>
            <a:r>
              <a:rPr lang="en-IN" sz="3200" dirty="0" err="1"/>
              <a:t>dequeue</a:t>
            </a:r>
            <a:r>
              <a:rPr lang="en-IN" sz="3200" dirty="0"/>
              <a:t>(), </a:t>
            </a:r>
          </a:p>
          <a:p>
            <a:r>
              <a:rPr lang="en-IN" sz="3200" dirty="0" err="1"/>
              <a:t>enqueue</a:t>
            </a:r>
            <a:r>
              <a:rPr lang="en-IN" sz="3200" dirty="0"/>
              <a:t>(K), </a:t>
            </a:r>
          </a:p>
          <a:p>
            <a:r>
              <a:rPr lang="en-IN" sz="3200" dirty="0"/>
              <a:t>display(), </a:t>
            </a:r>
          </a:p>
          <a:p>
            <a:r>
              <a:rPr lang="en-IN" sz="3200" dirty="0" err="1"/>
              <a:t>dequeue</a:t>
            </a:r>
            <a:r>
              <a:rPr lang="en-IN" sz="3200" dirty="0"/>
              <a:t>(), </a:t>
            </a:r>
          </a:p>
          <a:p>
            <a:r>
              <a:rPr lang="en-IN" sz="3200" dirty="0"/>
              <a:t>display()</a:t>
            </a:r>
          </a:p>
        </p:txBody>
      </p:sp>
    </p:spTree>
    <p:extLst>
      <p:ext uri="{BB962C8B-B14F-4D97-AF65-F5344CB8AC3E}">
        <p14:creationId xmlns:p14="http://schemas.microsoft.com/office/powerpoint/2010/main" val="3853374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Double Ended Queues</a:t>
            </a:r>
          </a:p>
        </p:txBody>
      </p:sp>
      <p:sp>
        <p:nvSpPr>
          <p:cNvPr id="3" name="Rectangle 2"/>
          <p:cNvSpPr/>
          <p:nvPr/>
        </p:nvSpPr>
        <p:spPr>
          <a:xfrm>
            <a:off x="683568" y="1196752"/>
            <a:ext cx="8208912" cy="1569660"/>
          </a:xfrm>
          <a:prstGeom prst="rect">
            <a:avLst/>
          </a:prstGeom>
        </p:spPr>
        <p:txBody>
          <a:bodyPr wrap="square">
            <a:spAutoFit/>
          </a:bodyPr>
          <a:lstStyle/>
          <a:p>
            <a:pPr algn="just"/>
            <a:r>
              <a:rPr lang="en-US" sz="2400" dirty="0" err="1"/>
              <a:t>Deque</a:t>
            </a:r>
            <a:r>
              <a:rPr lang="en-US" sz="2400" dirty="0"/>
              <a:t> or Double Ended Queue is a type of queue in which insertion and removal of elements can be performed </a:t>
            </a:r>
            <a:r>
              <a:rPr lang="en-US" sz="2400" dirty="0">
                <a:solidFill>
                  <a:srgbClr val="FF0000"/>
                </a:solidFill>
              </a:rPr>
              <a:t>from either from the front or rear. </a:t>
            </a:r>
            <a:r>
              <a:rPr lang="en-US" sz="2400" dirty="0"/>
              <a:t>Thus, it does not follow FIFO rule (First In First Out).</a:t>
            </a:r>
            <a:endParaRPr lang="en-IN" sz="2400" dirty="0"/>
          </a:p>
        </p:txBody>
      </p:sp>
      <p:pic>
        <p:nvPicPr>
          <p:cNvPr id="6146" name="Picture 2" descr="representation of deque data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848" y="2766412"/>
            <a:ext cx="8102402" cy="1297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88902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67544" y="260648"/>
            <a:ext cx="8424936" cy="4893647"/>
          </a:xfrm>
          <a:prstGeom prst="rect">
            <a:avLst/>
          </a:prstGeom>
        </p:spPr>
        <p:txBody>
          <a:bodyPr wrap="square">
            <a:spAutoFit/>
          </a:bodyPr>
          <a:lstStyle/>
          <a:p>
            <a:r>
              <a:rPr lang="en-US" sz="2400" b="1" dirty="0">
                <a:solidFill>
                  <a:srgbClr val="FF0000"/>
                </a:solidFill>
              </a:rPr>
              <a:t>Operations on a </a:t>
            </a:r>
            <a:r>
              <a:rPr lang="en-US" sz="2400" b="1" dirty="0" err="1">
                <a:solidFill>
                  <a:srgbClr val="FF0000"/>
                </a:solidFill>
              </a:rPr>
              <a:t>Deque</a:t>
            </a:r>
            <a:endParaRPr lang="en-US" sz="2400" b="1" dirty="0">
              <a:solidFill>
                <a:srgbClr val="FF0000"/>
              </a:solidFill>
            </a:endParaRPr>
          </a:p>
          <a:p>
            <a:r>
              <a:rPr lang="en-US" sz="2400" dirty="0"/>
              <a:t>In a </a:t>
            </a:r>
            <a:r>
              <a:rPr lang="en-US" sz="2400" dirty="0">
                <a:solidFill>
                  <a:srgbClr val="FF0000"/>
                </a:solidFill>
              </a:rPr>
              <a:t>circular array</a:t>
            </a:r>
            <a:r>
              <a:rPr lang="en-US" sz="2400" dirty="0"/>
              <a:t>, if the array is full, we </a:t>
            </a:r>
            <a:r>
              <a:rPr lang="en-US" sz="2400" dirty="0">
                <a:solidFill>
                  <a:srgbClr val="FF0000"/>
                </a:solidFill>
              </a:rPr>
              <a:t>start from the beginning</a:t>
            </a:r>
            <a:r>
              <a:rPr lang="en-US" sz="2400" dirty="0"/>
              <a:t>.</a:t>
            </a:r>
          </a:p>
          <a:p>
            <a:endParaRPr lang="en-US" sz="2400" dirty="0"/>
          </a:p>
          <a:p>
            <a:r>
              <a:rPr lang="en-US" sz="2400" dirty="0"/>
              <a:t>But in a </a:t>
            </a:r>
            <a:r>
              <a:rPr lang="en-US" sz="2400" dirty="0">
                <a:solidFill>
                  <a:srgbClr val="FF0000"/>
                </a:solidFill>
              </a:rPr>
              <a:t>linear array </a:t>
            </a:r>
            <a:r>
              <a:rPr lang="en-US" sz="2400" dirty="0"/>
              <a:t>implementation, if the array is full, </a:t>
            </a:r>
            <a:r>
              <a:rPr lang="en-US" sz="2400" dirty="0">
                <a:solidFill>
                  <a:srgbClr val="FF0000"/>
                </a:solidFill>
              </a:rPr>
              <a:t>no more elements can be inserted</a:t>
            </a:r>
            <a:r>
              <a:rPr lang="en-US" sz="2400" dirty="0"/>
              <a:t>. In each of the operations below, if the array is full, "overflow message" is thrown.</a:t>
            </a:r>
          </a:p>
          <a:p>
            <a:endParaRPr lang="en-US" sz="2400" dirty="0"/>
          </a:p>
          <a:p>
            <a:r>
              <a:rPr lang="en-US" sz="2400" dirty="0"/>
              <a:t>Before performing the following operations, these steps are followed.</a:t>
            </a:r>
          </a:p>
          <a:p>
            <a:endParaRPr lang="en-US" sz="2400" dirty="0"/>
          </a:p>
          <a:p>
            <a:r>
              <a:rPr lang="en-US" sz="2400" dirty="0"/>
              <a:t>Take an array (</a:t>
            </a:r>
            <a:r>
              <a:rPr lang="en-US" sz="2400" dirty="0" err="1"/>
              <a:t>deque</a:t>
            </a:r>
            <a:r>
              <a:rPr lang="en-US" sz="2400" dirty="0"/>
              <a:t>) of size n.</a:t>
            </a:r>
          </a:p>
          <a:p>
            <a:r>
              <a:rPr lang="en-US" sz="2400" dirty="0"/>
              <a:t>Set two pointers at the first position and set front = -1 and rear = 0.</a:t>
            </a:r>
            <a:endParaRPr lang="en-IN" sz="2400" dirty="0"/>
          </a:p>
        </p:txBody>
      </p:sp>
      <p:pic>
        <p:nvPicPr>
          <p:cNvPr id="7170" name="Picture 2" descr="initialize an array and pointers for deque oper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5176" y="4725144"/>
            <a:ext cx="4697077" cy="234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01273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332656"/>
            <a:ext cx="4572000" cy="1200329"/>
          </a:xfrm>
          <a:prstGeom prst="rect">
            <a:avLst/>
          </a:prstGeom>
        </p:spPr>
        <p:txBody>
          <a:bodyPr>
            <a:spAutoFit/>
          </a:bodyPr>
          <a:lstStyle/>
          <a:p>
            <a:r>
              <a:rPr lang="en-US" sz="3600" b="1" dirty="0">
                <a:solidFill>
                  <a:srgbClr val="FF0000"/>
                </a:solidFill>
              </a:rPr>
              <a:t>1. Insert at the Front</a:t>
            </a:r>
          </a:p>
          <a:p>
            <a:r>
              <a:rPr lang="en-US" dirty="0"/>
              <a:t>This operation adds an element at the front.</a:t>
            </a:r>
          </a:p>
          <a:p>
            <a:r>
              <a:rPr lang="en-US" dirty="0"/>
              <a:t>Check the position of front</a:t>
            </a:r>
          </a:p>
        </p:txBody>
      </p:sp>
      <p:pic>
        <p:nvPicPr>
          <p:cNvPr id="8194" name="Picture 2" descr="check the position of fro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6576" y="17552"/>
            <a:ext cx="3941490" cy="174596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34955" y="1578851"/>
            <a:ext cx="4664803" cy="369332"/>
          </a:xfrm>
          <a:prstGeom prst="rect">
            <a:avLst/>
          </a:prstGeom>
        </p:spPr>
        <p:txBody>
          <a:bodyPr wrap="none">
            <a:spAutoFit/>
          </a:bodyPr>
          <a:lstStyle/>
          <a:p>
            <a:r>
              <a:rPr lang="en-US" dirty="0"/>
              <a:t>2. If front &lt; 1, reinitialize front = n-1 (last index).</a:t>
            </a:r>
          </a:p>
        </p:txBody>
      </p:sp>
      <p:pic>
        <p:nvPicPr>
          <p:cNvPr id="8196" name="Picture 4" descr="if front is less than 1 shift front to the en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7536" y="1412776"/>
            <a:ext cx="4176464" cy="185005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27584" y="5005823"/>
            <a:ext cx="4572000" cy="646331"/>
          </a:xfrm>
          <a:prstGeom prst="rect">
            <a:avLst/>
          </a:prstGeom>
        </p:spPr>
        <p:txBody>
          <a:bodyPr>
            <a:spAutoFit/>
          </a:bodyPr>
          <a:lstStyle/>
          <a:p>
            <a:r>
              <a:rPr lang="en-US" dirty="0"/>
              <a:t>3. Else, decrease front by 1.</a:t>
            </a:r>
          </a:p>
          <a:p>
            <a:r>
              <a:rPr lang="en-US" dirty="0"/>
              <a:t>Add the new key 5 into array[front].</a:t>
            </a:r>
          </a:p>
        </p:txBody>
      </p:sp>
      <p:sp>
        <p:nvSpPr>
          <p:cNvPr id="6" name="Rectangle 5"/>
          <p:cNvSpPr/>
          <p:nvPr/>
        </p:nvSpPr>
        <p:spPr>
          <a:xfrm>
            <a:off x="6156176" y="3059668"/>
            <a:ext cx="2159502" cy="369332"/>
          </a:xfrm>
          <a:prstGeom prst="rect">
            <a:avLst/>
          </a:prstGeom>
        </p:spPr>
        <p:txBody>
          <a:bodyPr wrap="none">
            <a:spAutoFit/>
          </a:bodyPr>
          <a:lstStyle/>
          <a:p>
            <a:r>
              <a:rPr lang="en-US" dirty="0"/>
              <a:t>Shift front to the end</a:t>
            </a:r>
            <a:endParaRPr lang="en-IN" dirty="0"/>
          </a:p>
        </p:txBody>
      </p:sp>
      <p:pic>
        <p:nvPicPr>
          <p:cNvPr id="8198" name="Picture 6" descr="Insert element at the position of fron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7696" y="3564641"/>
            <a:ext cx="4712529" cy="208751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678038" y="5467488"/>
            <a:ext cx="2718565" cy="369332"/>
          </a:xfrm>
          <a:prstGeom prst="rect">
            <a:avLst/>
          </a:prstGeom>
        </p:spPr>
        <p:txBody>
          <a:bodyPr wrap="none">
            <a:spAutoFit/>
          </a:bodyPr>
          <a:lstStyle/>
          <a:p>
            <a:r>
              <a:rPr lang="en-US" dirty="0"/>
              <a:t>Insert the element at Front</a:t>
            </a:r>
            <a:endParaRPr lang="en-IN" dirty="0"/>
          </a:p>
        </p:txBody>
      </p:sp>
    </p:spTree>
    <p:extLst>
      <p:ext uri="{BB962C8B-B14F-4D97-AF65-F5344CB8AC3E}">
        <p14:creationId xmlns:p14="http://schemas.microsoft.com/office/powerpoint/2010/main" val="31463757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260648"/>
            <a:ext cx="4572000" cy="1292662"/>
          </a:xfrm>
          <a:prstGeom prst="rect">
            <a:avLst/>
          </a:prstGeom>
        </p:spPr>
        <p:txBody>
          <a:bodyPr>
            <a:spAutoFit/>
          </a:bodyPr>
          <a:lstStyle/>
          <a:p>
            <a:r>
              <a:rPr lang="en-US" sz="2400" b="1" dirty="0">
                <a:solidFill>
                  <a:srgbClr val="FF0000"/>
                </a:solidFill>
              </a:rPr>
              <a:t>2. Insert at the Rear</a:t>
            </a:r>
          </a:p>
          <a:p>
            <a:r>
              <a:rPr lang="en-US" dirty="0"/>
              <a:t>This operation adds an element to the rear.</a:t>
            </a:r>
          </a:p>
          <a:p>
            <a:endParaRPr lang="en-US" dirty="0"/>
          </a:p>
          <a:p>
            <a:r>
              <a:rPr lang="en-US" dirty="0"/>
              <a:t>1. Check if the array is full</a:t>
            </a:r>
            <a:endParaRPr lang="en-IN" dirty="0"/>
          </a:p>
        </p:txBody>
      </p:sp>
      <p:pic>
        <p:nvPicPr>
          <p:cNvPr id="9218" name="Picture 2" descr="check if deque is fu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260648"/>
            <a:ext cx="3909228" cy="173167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826908" y="1807656"/>
            <a:ext cx="2119491" cy="369332"/>
          </a:xfrm>
          <a:prstGeom prst="rect">
            <a:avLst/>
          </a:prstGeom>
        </p:spPr>
        <p:txBody>
          <a:bodyPr wrap="none">
            <a:spAutoFit/>
          </a:bodyPr>
          <a:lstStyle/>
          <a:p>
            <a:r>
              <a:rPr lang="en-US" dirty="0"/>
              <a:t>Check if </a:t>
            </a:r>
            <a:r>
              <a:rPr lang="en-US" dirty="0" err="1"/>
              <a:t>deque</a:t>
            </a:r>
            <a:r>
              <a:rPr lang="en-US" dirty="0"/>
              <a:t> is full</a:t>
            </a:r>
            <a:endParaRPr lang="en-IN" dirty="0"/>
          </a:p>
        </p:txBody>
      </p:sp>
      <p:sp>
        <p:nvSpPr>
          <p:cNvPr id="4" name="Rectangle 3"/>
          <p:cNvSpPr/>
          <p:nvPr/>
        </p:nvSpPr>
        <p:spPr>
          <a:xfrm>
            <a:off x="467544" y="2174656"/>
            <a:ext cx="4572000" cy="646331"/>
          </a:xfrm>
          <a:prstGeom prst="rect">
            <a:avLst/>
          </a:prstGeom>
        </p:spPr>
        <p:txBody>
          <a:bodyPr>
            <a:spAutoFit/>
          </a:bodyPr>
          <a:lstStyle/>
          <a:p>
            <a:r>
              <a:rPr lang="en-US" dirty="0"/>
              <a:t>2. If the </a:t>
            </a:r>
            <a:r>
              <a:rPr lang="en-US" dirty="0" err="1"/>
              <a:t>deque</a:t>
            </a:r>
            <a:r>
              <a:rPr lang="en-US" dirty="0"/>
              <a:t> is full, reinitialize rear = 0.</a:t>
            </a:r>
          </a:p>
          <a:p>
            <a:r>
              <a:rPr lang="en-US" dirty="0"/>
              <a:t>3. Else, increase rear by 1</a:t>
            </a:r>
            <a:endParaRPr lang="en-IN" dirty="0"/>
          </a:p>
        </p:txBody>
      </p:sp>
      <p:pic>
        <p:nvPicPr>
          <p:cNvPr id="9220" name="Picture 4" descr="if deque is not full increase re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9544" y="2497821"/>
            <a:ext cx="3590925" cy="15906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150676" y="3903830"/>
            <a:ext cx="1773627" cy="369332"/>
          </a:xfrm>
          <a:prstGeom prst="rect">
            <a:avLst/>
          </a:prstGeom>
        </p:spPr>
        <p:txBody>
          <a:bodyPr wrap="none">
            <a:spAutoFit/>
          </a:bodyPr>
          <a:lstStyle/>
          <a:p>
            <a:r>
              <a:rPr lang="en-IN" dirty="0"/>
              <a:t>Increase the rear</a:t>
            </a:r>
          </a:p>
        </p:txBody>
      </p:sp>
      <p:sp>
        <p:nvSpPr>
          <p:cNvPr id="6" name="Rectangle 5"/>
          <p:cNvSpPr/>
          <p:nvPr/>
        </p:nvSpPr>
        <p:spPr>
          <a:xfrm>
            <a:off x="683568" y="4509120"/>
            <a:ext cx="3623877" cy="369332"/>
          </a:xfrm>
          <a:prstGeom prst="rect">
            <a:avLst/>
          </a:prstGeom>
        </p:spPr>
        <p:txBody>
          <a:bodyPr wrap="none">
            <a:spAutoFit/>
          </a:bodyPr>
          <a:lstStyle/>
          <a:p>
            <a:r>
              <a:rPr lang="en-US" dirty="0"/>
              <a:t>4. Add the new key 5 into array[rear]</a:t>
            </a:r>
            <a:endParaRPr lang="en-IN" dirty="0"/>
          </a:p>
        </p:txBody>
      </p:sp>
      <p:pic>
        <p:nvPicPr>
          <p:cNvPr id="9222" name="Picture 6" descr="insert element at the rea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040" y="4273162"/>
            <a:ext cx="4079750" cy="18072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345238" y="5895706"/>
            <a:ext cx="2601161" cy="369332"/>
          </a:xfrm>
          <a:prstGeom prst="rect">
            <a:avLst/>
          </a:prstGeom>
        </p:spPr>
        <p:txBody>
          <a:bodyPr wrap="none">
            <a:spAutoFit/>
          </a:bodyPr>
          <a:lstStyle/>
          <a:p>
            <a:r>
              <a:rPr lang="en-US" dirty="0"/>
              <a:t>Insert the element at rear</a:t>
            </a:r>
            <a:endParaRPr lang="en-IN" dirty="0"/>
          </a:p>
        </p:txBody>
      </p:sp>
    </p:spTree>
    <p:extLst>
      <p:ext uri="{BB962C8B-B14F-4D97-AF65-F5344CB8AC3E}">
        <p14:creationId xmlns:p14="http://schemas.microsoft.com/office/powerpoint/2010/main" val="7817462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332656"/>
            <a:ext cx="3262111" cy="461665"/>
          </a:xfrm>
          <a:prstGeom prst="rect">
            <a:avLst/>
          </a:prstGeom>
        </p:spPr>
        <p:txBody>
          <a:bodyPr wrap="none">
            <a:spAutoFit/>
          </a:bodyPr>
          <a:lstStyle/>
          <a:p>
            <a:r>
              <a:rPr lang="en-US" sz="2400" b="1" dirty="0">
                <a:solidFill>
                  <a:srgbClr val="FF0000"/>
                </a:solidFill>
              </a:rPr>
              <a:t>3. Delete from the Front</a:t>
            </a:r>
            <a:endParaRPr lang="en-IN" sz="2400" b="1" dirty="0">
              <a:solidFill>
                <a:srgbClr val="FF0000"/>
              </a:solidFill>
            </a:endParaRPr>
          </a:p>
        </p:txBody>
      </p:sp>
      <p:sp>
        <p:nvSpPr>
          <p:cNvPr id="3" name="Rectangle 2"/>
          <p:cNvSpPr/>
          <p:nvPr/>
        </p:nvSpPr>
        <p:spPr>
          <a:xfrm>
            <a:off x="467544" y="849477"/>
            <a:ext cx="5904656" cy="923330"/>
          </a:xfrm>
          <a:prstGeom prst="rect">
            <a:avLst/>
          </a:prstGeom>
        </p:spPr>
        <p:txBody>
          <a:bodyPr wrap="square">
            <a:spAutoFit/>
          </a:bodyPr>
          <a:lstStyle/>
          <a:p>
            <a:r>
              <a:rPr lang="en-US" dirty="0"/>
              <a:t>The operation deletes an element from the front.</a:t>
            </a:r>
          </a:p>
          <a:p>
            <a:endParaRPr lang="en-US" dirty="0"/>
          </a:p>
          <a:p>
            <a:r>
              <a:rPr lang="en-US" dirty="0"/>
              <a:t>1. Check if the </a:t>
            </a:r>
            <a:r>
              <a:rPr lang="en-US" dirty="0" err="1"/>
              <a:t>deque</a:t>
            </a:r>
            <a:r>
              <a:rPr lang="en-US" dirty="0"/>
              <a:t> is empty.</a:t>
            </a:r>
          </a:p>
        </p:txBody>
      </p:sp>
      <p:pic>
        <p:nvPicPr>
          <p:cNvPr id="1026" name="Picture 2" descr="check if deque is emp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6468" y="61462"/>
            <a:ext cx="3828932" cy="169610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83518" y="1572901"/>
            <a:ext cx="2423036" cy="369332"/>
          </a:xfrm>
          <a:prstGeom prst="rect">
            <a:avLst/>
          </a:prstGeom>
        </p:spPr>
        <p:txBody>
          <a:bodyPr wrap="none">
            <a:spAutoFit/>
          </a:bodyPr>
          <a:lstStyle/>
          <a:p>
            <a:r>
              <a:rPr lang="en-US" dirty="0"/>
              <a:t>Check if </a:t>
            </a:r>
            <a:r>
              <a:rPr lang="en-US" dirty="0" err="1"/>
              <a:t>deque</a:t>
            </a:r>
            <a:r>
              <a:rPr lang="en-US" dirty="0"/>
              <a:t> is empty</a:t>
            </a:r>
            <a:endParaRPr lang="en-IN" dirty="0"/>
          </a:p>
        </p:txBody>
      </p:sp>
      <p:sp>
        <p:nvSpPr>
          <p:cNvPr id="5" name="Rectangle 4"/>
          <p:cNvSpPr/>
          <p:nvPr/>
        </p:nvSpPr>
        <p:spPr>
          <a:xfrm>
            <a:off x="546078" y="1993371"/>
            <a:ext cx="6186161" cy="2031325"/>
          </a:xfrm>
          <a:prstGeom prst="rect">
            <a:avLst/>
          </a:prstGeom>
        </p:spPr>
        <p:txBody>
          <a:bodyPr wrap="square">
            <a:spAutoFit/>
          </a:bodyPr>
          <a:lstStyle/>
          <a:p>
            <a:r>
              <a:rPr lang="en-US" dirty="0"/>
              <a:t>2. If the </a:t>
            </a:r>
            <a:r>
              <a:rPr lang="en-US" dirty="0" err="1"/>
              <a:t>deque</a:t>
            </a:r>
            <a:r>
              <a:rPr lang="en-US" dirty="0"/>
              <a:t> is empty (i.e. front = -1), deletion cannot be performed (underflow condition).</a:t>
            </a:r>
          </a:p>
          <a:p>
            <a:r>
              <a:rPr lang="en-US" dirty="0"/>
              <a:t>3. If the </a:t>
            </a:r>
            <a:r>
              <a:rPr lang="en-US" dirty="0" err="1"/>
              <a:t>deque</a:t>
            </a:r>
            <a:r>
              <a:rPr lang="en-US" dirty="0"/>
              <a:t> has only one element (i.e. front = rear), set                    </a:t>
            </a:r>
          </a:p>
          <a:p>
            <a:r>
              <a:rPr lang="en-US" dirty="0"/>
              <a:t>                 front = -1 and rear = -1.</a:t>
            </a:r>
          </a:p>
          <a:p>
            <a:r>
              <a:rPr lang="en-US" dirty="0"/>
              <a:t>4. Else if front is at the end (i.e. front = n - 1), set go to the front</a:t>
            </a:r>
          </a:p>
          <a:p>
            <a:r>
              <a:rPr lang="en-US" dirty="0"/>
              <a:t>                 front = 0.</a:t>
            </a:r>
          </a:p>
          <a:p>
            <a:r>
              <a:rPr lang="en-US" dirty="0"/>
              <a:t>5. Else, front = front + 1.</a:t>
            </a:r>
            <a:endParaRPr lang="en-IN" dirty="0"/>
          </a:p>
        </p:txBody>
      </p:sp>
      <p:pic>
        <p:nvPicPr>
          <p:cNvPr id="1028" name="Picture 4" descr="increase the index of fro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936" y="3611066"/>
            <a:ext cx="5170958" cy="229058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653533" y="6165304"/>
            <a:ext cx="1855764" cy="369332"/>
          </a:xfrm>
          <a:prstGeom prst="rect">
            <a:avLst/>
          </a:prstGeom>
        </p:spPr>
        <p:txBody>
          <a:bodyPr wrap="none">
            <a:spAutoFit/>
          </a:bodyPr>
          <a:lstStyle/>
          <a:p>
            <a:r>
              <a:rPr lang="en-IN" dirty="0"/>
              <a:t>Increase the front</a:t>
            </a:r>
          </a:p>
        </p:txBody>
      </p:sp>
    </p:spTree>
    <p:extLst>
      <p:ext uri="{BB962C8B-B14F-4D97-AF65-F5344CB8AC3E}">
        <p14:creationId xmlns:p14="http://schemas.microsoft.com/office/powerpoint/2010/main" val="21891711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332656"/>
            <a:ext cx="4572000" cy="1569660"/>
          </a:xfrm>
          <a:prstGeom prst="rect">
            <a:avLst/>
          </a:prstGeom>
        </p:spPr>
        <p:txBody>
          <a:bodyPr>
            <a:spAutoFit/>
          </a:bodyPr>
          <a:lstStyle/>
          <a:p>
            <a:r>
              <a:rPr lang="en-US" sz="2400" b="1" dirty="0">
                <a:solidFill>
                  <a:srgbClr val="FF0000"/>
                </a:solidFill>
              </a:rPr>
              <a:t>4. Delete from the Rear</a:t>
            </a:r>
          </a:p>
          <a:p>
            <a:r>
              <a:rPr lang="en-US" dirty="0"/>
              <a:t>This operation deletes an element from the rear.</a:t>
            </a:r>
          </a:p>
          <a:p>
            <a:endParaRPr lang="en-US" dirty="0"/>
          </a:p>
          <a:p>
            <a:r>
              <a:rPr lang="en-US" dirty="0"/>
              <a:t>1. Check if the </a:t>
            </a:r>
            <a:r>
              <a:rPr lang="en-US" dirty="0" err="1"/>
              <a:t>deque</a:t>
            </a:r>
            <a:r>
              <a:rPr lang="en-US" dirty="0"/>
              <a:t> is empty.</a:t>
            </a:r>
          </a:p>
        </p:txBody>
      </p:sp>
      <p:pic>
        <p:nvPicPr>
          <p:cNvPr id="2050" name="Picture 2" descr="check if deque is emp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8469" y="124775"/>
            <a:ext cx="4482058" cy="198542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508104" y="1902316"/>
            <a:ext cx="2423036" cy="369332"/>
          </a:xfrm>
          <a:prstGeom prst="rect">
            <a:avLst/>
          </a:prstGeom>
        </p:spPr>
        <p:txBody>
          <a:bodyPr wrap="none">
            <a:spAutoFit/>
          </a:bodyPr>
          <a:lstStyle/>
          <a:p>
            <a:r>
              <a:rPr lang="en-US" dirty="0"/>
              <a:t>Check if </a:t>
            </a:r>
            <a:r>
              <a:rPr lang="en-US" dirty="0" err="1"/>
              <a:t>deque</a:t>
            </a:r>
            <a:r>
              <a:rPr lang="en-US" dirty="0"/>
              <a:t> is empty</a:t>
            </a:r>
            <a:endParaRPr lang="en-IN" dirty="0"/>
          </a:p>
        </p:txBody>
      </p:sp>
      <p:sp>
        <p:nvSpPr>
          <p:cNvPr id="4" name="Rectangle 3"/>
          <p:cNvSpPr/>
          <p:nvPr/>
        </p:nvSpPr>
        <p:spPr>
          <a:xfrm>
            <a:off x="140648" y="2337192"/>
            <a:ext cx="6751994" cy="2585323"/>
          </a:xfrm>
          <a:prstGeom prst="rect">
            <a:avLst/>
          </a:prstGeom>
        </p:spPr>
        <p:txBody>
          <a:bodyPr wrap="square">
            <a:spAutoFit/>
          </a:bodyPr>
          <a:lstStyle/>
          <a:p>
            <a:r>
              <a:rPr lang="en-US" dirty="0"/>
              <a:t>2. If the </a:t>
            </a:r>
            <a:r>
              <a:rPr lang="en-US" dirty="0" err="1"/>
              <a:t>deque</a:t>
            </a:r>
            <a:r>
              <a:rPr lang="en-US" dirty="0"/>
              <a:t> is empty (i.e. front = -1), deletion cannot be performed (underflow condition).</a:t>
            </a:r>
          </a:p>
          <a:p>
            <a:r>
              <a:rPr lang="en-US" dirty="0"/>
              <a:t>3. If the </a:t>
            </a:r>
            <a:r>
              <a:rPr lang="en-US" dirty="0" err="1"/>
              <a:t>deque</a:t>
            </a:r>
            <a:r>
              <a:rPr lang="en-US" dirty="0"/>
              <a:t> has only one element (i.e. front = rear), </a:t>
            </a:r>
          </a:p>
          <a:p>
            <a:r>
              <a:rPr lang="en-US" dirty="0"/>
              <a:t>	set front = -1 and rear = -1, </a:t>
            </a:r>
          </a:p>
          <a:p>
            <a:r>
              <a:rPr lang="en-US" dirty="0"/>
              <a:t>else (follow the steps below)</a:t>
            </a:r>
          </a:p>
          <a:p>
            <a:r>
              <a:rPr lang="en-US" dirty="0"/>
              <a:t>4. If rear is at the front (i.e. rear = 0)</a:t>
            </a:r>
          </a:p>
          <a:p>
            <a:r>
              <a:rPr lang="en-US" dirty="0"/>
              <a:t>                 rear = n - 1.</a:t>
            </a:r>
          </a:p>
          <a:p>
            <a:r>
              <a:rPr lang="en-US" dirty="0"/>
              <a:t>5. Else,</a:t>
            </a:r>
          </a:p>
          <a:p>
            <a:r>
              <a:rPr lang="en-US" dirty="0"/>
              <a:t>                 rear = rear - 1.</a:t>
            </a:r>
          </a:p>
        </p:txBody>
      </p:sp>
      <p:pic>
        <p:nvPicPr>
          <p:cNvPr id="2052" name="Picture 4" descr="decrease the position of rea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2840" y="3933056"/>
            <a:ext cx="4897688" cy="216953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411034" y="5733256"/>
            <a:ext cx="1852174" cy="369332"/>
          </a:xfrm>
          <a:prstGeom prst="rect">
            <a:avLst/>
          </a:prstGeom>
        </p:spPr>
        <p:txBody>
          <a:bodyPr wrap="none">
            <a:spAutoFit/>
          </a:bodyPr>
          <a:lstStyle/>
          <a:p>
            <a:r>
              <a:rPr lang="en-IN" dirty="0"/>
              <a:t>Decrease the rear</a:t>
            </a:r>
          </a:p>
        </p:txBody>
      </p:sp>
    </p:spTree>
    <p:extLst>
      <p:ext uri="{BB962C8B-B14F-4D97-AF65-F5344CB8AC3E}">
        <p14:creationId xmlns:p14="http://schemas.microsoft.com/office/powerpoint/2010/main" val="4318156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1124744"/>
            <a:ext cx="8424936" cy="3970318"/>
          </a:xfrm>
          <a:prstGeom prst="rect">
            <a:avLst/>
          </a:prstGeom>
        </p:spPr>
        <p:txBody>
          <a:bodyPr wrap="square">
            <a:spAutoFit/>
          </a:bodyPr>
          <a:lstStyle/>
          <a:p>
            <a:r>
              <a:rPr lang="en-US" sz="2800" dirty="0">
                <a:solidFill>
                  <a:srgbClr val="FF0000"/>
                </a:solidFill>
              </a:rPr>
              <a:t>5. Check Empty</a:t>
            </a:r>
          </a:p>
          <a:p>
            <a:r>
              <a:rPr lang="en-US" sz="2800" dirty="0"/>
              <a:t>This operation checks if the </a:t>
            </a:r>
            <a:r>
              <a:rPr lang="en-US" sz="2800" dirty="0" err="1"/>
              <a:t>deque</a:t>
            </a:r>
            <a:r>
              <a:rPr lang="en-US" sz="2800" dirty="0"/>
              <a:t> is empty. </a:t>
            </a:r>
          </a:p>
          <a:p>
            <a:r>
              <a:rPr lang="en-US" sz="2800" dirty="0"/>
              <a:t>If front = -1, </a:t>
            </a:r>
          </a:p>
          <a:p>
            <a:r>
              <a:rPr lang="en-US" sz="2800" dirty="0"/>
              <a:t>     the </a:t>
            </a:r>
            <a:r>
              <a:rPr lang="en-US" sz="2800" dirty="0" err="1"/>
              <a:t>deque</a:t>
            </a:r>
            <a:r>
              <a:rPr lang="en-US" sz="2800" dirty="0"/>
              <a:t> is empty.</a:t>
            </a:r>
          </a:p>
          <a:p>
            <a:endParaRPr lang="en-US" sz="2800" dirty="0"/>
          </a:p>
          <a:p>
            <a:r>
              <a:rPr lang="en-US" sz="2800" dirty="0">
                <a:solidFill>
                  <a:srgbClr val="FF0000"/>
                </a:solidFill>
              </a:rPr>
              <a:t>6. Check Full</a:t>
            </a:r>
          </a:p>
          <a:p>
            <a:r>
              <a:rPr lang="en-US" sz="2800" dirty="0"/>
              <a:t>This operation checks if the </a:t>
            </a:r>
            <a:r>
              <a:rPr lang="en-US" sz="2800" dirty="0" err="1"/>
              <a:t>deque</a:t>
            </a:r>
            <a:r>
              <a:rPr lang="en-US" sz="2800" dirty="0"/>
              <a:t> is full. </a:t>
            </a:r>
          </a:p>
          <a:p>
            <a:r>
              <a:rPr lang="en-US" sz="2800" dirty="0"/>
              <a:t>    If (front = 0 and rear = n – 1) OR (front = rear + 1) </a:t>
            </a:r>
          </a:p>
          <a:p>
            <a:r>
              <a:rPr lang="en-US" sz="2800" dirty="0"/>
              <a:t>	the </a:t>
            </a:r>
            <a:r>
              <a:rPr lang="en-US" sz="2800" dirty="0" err="1"/>
              <a:t>deque</a:t>
            </a:r>
            <a:r>
              <a:rPr lang="en-US" sz="2800" dirty="0"/>
              <a:t> is full.</a:t>
            </a:r>
            <a:endParaRPr lang="en-IN" sz="2800" dirty="0"/>
          </a:p>
        </p:txBody>
      </p:sp>
    </p:spTree>
    <p:extLst>
      <p:ext uri="{BB962C8B-B14F-4D97-AF65-F5344CB8AC3E}">
        <p14:creationId xmlns:p14="http://schemas.microsoft.com/office/powerpoint/2010/main" val="23201056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9592" y="58847"/>
            <a:ext cx="6984776" cy="6740307"/>
          </a:xfrm>
          <a:prstGeom prst="rect">
            <a:avLst/>
          </a:prstGeom>
        </p:spPr>
        <p:txBody>
          <a:bodyPr wrap="square">
            <a:spAutoFit/>
          </a:bodyPr>
          <a:lstStyle/>
          <a:p>
            <a:r>
              <a:rPr lang="en-IN" dirty="0"/>
              <a:t>// </a:t>
            </a:r>
            <a:r>
              <a:rPr lang="en-IN" dirty="0" err="1"/>
              <a:t>Deque</a:t>
            </a:r>
            <a:r>
              <a:rPr lang="en-IN" dirty="0"/>
              <a:t> implementation in C</a:t>
            </a:r>
          </a:p>
          <a:p>
            <a:r>
              <a:rPr lang="en-IN" dirty="0"/>
              <a:t>#include &lt;</a:t>
            </a:r>
            <a:r>
              <a:rPr lang="en-IN" dirty="0" err="1"/>
              <a:t>stdio.h</a:t>
            </a:r>
            <a:r>
              <a:rPr lang="en-IN" dirty="0"/>
              <a:t>&gt;</a:t>
            </a:r>
          </a:p>
          <a:p>
            <a:r>
              <a:rPr lang="en-IN" dirty="0"/>
              <a:t>#define MAX 10</a:t>
            </a:r>
          </a:p>
          <a:p>
            <a:r>
              <a:rPr lang="en-IN" dirty="0"/>
              <a:t>void </a:t>
            </a:r>
            <a:r>
              <a:rPr lang="en-IN" dirty="0" err="1"/>
              <a:t>addFront</a:t>
            </a:r>
            <a:r>
              <a:rPr lang="en-IN" dirty="0"/>
              <a:t>(</a:t>
            </a:r>
            <a:r>
              <a:rPr lang="en-IN" dirty="0" err="1"/>
              <a:t>int</a:t>
            </a:r>
            <a:r>
              <a:rPr lang="en-IN" dirty="0"/>
              <a:t> *, </a:t>
            </a:r>
            <a:r>
              <a:rPr lang="en-IN" dirty="0" err="1"/>
              <a:t>int</a:t>
            </a:r>
            <a:r>
              <a:rPr lang="en-IN" dirty="0"/>
              <a:t>, </a:t>
            </a:r>
            <a:r>
              <a:rPr lang="en-IN" dirty="0" err="1"/>
              <a:t>int</a:t>
            </a:r>
            <a:r>
              <a:rPr lang="en-IN" dirty="0"/>
              <a:t> *, </a:t>
            </a:r>
            <a:r>
              <a:rPr lang="en-IN" dirty="0" err="1"/>
              <a:t>int</a:t>
            </a:r>
            <a:r>
              <a:rPr lang="en-IN" dirty="0"/>
              <a:t> *);</a:t>
            </a:r>
          </a:p>
          <a:p>
            <a:r>
              <a:rPr lang="en-IN" dirty="0"/>
              <a:t>void </a:t>
            </a:r>
            <a:r>
              <a:rPr lang="en-IN" dirty="0" err="1"/>
              <a:t>addRear</a:t>
            </a:r>
            <a:r>
              <a:rPr lang="en-IN" dirty="0"/>
              <a:t>(</a:t>
            </a:r>
            <a:r>
              <a:rPr lang="en-IN" dirty="0" err="1"/>
              <a:t>int</a:t>
            </a:r>
            <a:r>
              <a:rPr lang="en-IN" dirty="0"/>
              <a:t> *, </a:t>
            </a:r>
            <a:r>
              <a:rPr lang="en-IN" dirty="0" err="1"/>
              <a:t>int</a:t>
            </a:r>
            <a:r>
              <a:rPr lang="en-IN" dirty="0"/>
              <a:t>, </a:t>
            </a:r>
            <a:r>
              <a:rPr lang="en-IN" dirty="0" err="1"/>
              <a:t>int</a:t>
            </a:r>
            <a:r>
              <a:rPr lang="en-IN" dirty="0"/>
              <a:t> *, </a:t>
            </a:r>
            <a:r>
              <a:rPr lang="en-IN" dirty="0" err="1"/>
              <a:t>int</a:t>
            </a:r>
            <a:r>
              <a:rPr lang="en-IN" dirty="0"/>
              <a:t> *);</a:t>
            </a:r>
          </a:p>
          <a:p>
            <a:r>
              <a:rPr lang="en-IN" dirty="0" err="1"/>
              <a:t>int</a:t>
            </a:r>
            <a:r>
              <a:rPr lang="en-IN" dirty="0"/>
              <a:t> </a:t>
            </a:r>
            <a:r>
              <a:rPr lang="en-IN" dirty="0" err="1"/>
              <a:t>delFront</a:t>
            </a:r>
            <a:r>
              <a:rPr lang="en-IN" dirty="0"/>
              <a:t>(</a:t>
            </a:r>
            <a:r>
              <a:rPr lang="en-IN" dirty="0" err="1"/>
              <a:t>int</a:t>
            </a:r>
            <a:r>
              <a:rPr lang="en-IN" dirty="0"/>
              <a:t> *, </a:t>
            </a:r>
            <a:r>
              <a:rPr lang="en-IN" dirty="0" err="1"/>
              <a:t>int</a:t>
            </a:r>
            <a:r>
              <a:rPr lang="en-IN" dirty="0"/>
              <a:t> *, </a:t>
            </a:r>
            <a:r>
              <a:rPr lang="en-IN" dirty="0" err="1"/>
              <a:t>int</a:t>
            </a:r>
            <a:r>
              <a:rPr lang="en-IN" dirty="0"/>
              <a:t> *);</a:t>
            </a:r>
          </a:p>
          <a:p>
            <a:r>
              <a:rPr lang="en-IN" dirty="0" err="1"/>
              <a:t>int</a:t>
            </a:r>
            <a:r>
              <a:rPr lang="en-IN" dirty="0"/>
              <a:t> </a:t>
            </a:r>
            <a:r>
              <a:rPr lang="en-IN" dirty="0" err="1"/>
              <a:t>delRear</a:t>
            </a:r>
            <a:r>
              <a:rPr lang="en-IN" dirty="0"/>
              <a:t>(</a:t>
            </a:r>
            <a:r>
              <a:rPr lang="en-IN" dirty="0" err="1"/>
              <a:t>int</a:t>
            </a:r>
            <a:r>
              <a:rPr lang="en-IN" dirty="0"/>
              <a:t> *, </a:t>
            </a:r>
            <a:r>
              <a:rPr lang="en-IN" dirty="0" err="1"/>
              <a:t>int</a:t>
            </a:r>
            <a:r>
              <a:rPr lang="en-IN" dirty="0"/>
              <a:t> *, </a:t>
            </a:r>
            <a:r>
              <a:rPr lang="en-IN" dirty="0" err="1"/>
              <a:t>int</a:t>
            </a:r>
            <a:r>
              <a:rPr lang="en-IN" dirty="0"/>
              <a:t> *);</a:t>
            </a:r>
          </a:p>
          <a:p>
            <a:r>
              <a:rPr lang="en-IN" dirty="0"/>
              <a:t>void display(</a:t>
            </a:r>
            <a:r>
              <a:rPr lang="en-IN" dirty="0" err="1"/>
              <a:t>int</a:t>
            </a:r>
            <a:r>
              <a:rPr lang="en-IN" dirty="0"/>
              <a:t> *);</a:t>
            </a:r>
          </a:p>
          <a:p>
            <a:r>
              <a:rPr lang="en-IN" dirty="0" err="1"/>
              <a:t>int</a:t>
            </a:r>
            <a:r>
              <a:rPr lang="en-IN" dirty="0"/>
              <a:t> count(</a:t>
            </a:r>
            <a:r>
              <a:rPr lang="en-IN" dirty="0" err="1"/>
              <a:t>int</a:t>
            </a:r>
            <a:r>
              <a:rPr lang="en-IN" dirty="0"/>
              <a:t> *);</a:t>
            </a:r>
          </a:p>
          <a:p>
            <a:r>
              <a:rPr lang="en-IN" dirty="0"/>
              <a:t> </a:t>
            </a:r>
          </a:p>
          <a:p>
            <a:r>
              <a:rPr lang="en-IN" dirty="0" err="1"/>
              <a:t>int</a:t>
            </a:r>
            <a:r>
              <a:rPr lang="en-IN" dirty="0"/>
              <a:t> main() {</a:t>
            </a:r>
          </a:p>
          <a:p>
            <a:r>
              <a:rPr lang="en-IN" dirty="0"/>
              <a:t>  </a:t>
            </a:r>
            <a:r>
              <a:rPr lang="en-IN" dirty="0" err="1"/>
              <a:t>int</a:t>
            </a:r>
            <a:r>
              <a:rPr lang="en-IN" dirty="0"/>
              <a:t> </a:t>
            </a:r>
            <a:r>
              <a:rPr lang="en-IN" dirty="0" err="1"/>
              <a:t>arr</a:t>
            </a:r>
            <a:r>
              <a:rPr lang="en-IN" dirty="0"/>
              <a:t>[MAX];</a:t>
            </a:r>
          </a:p>
          <a:p>
            <a:r>
              <a:rPr lang="en-IN" dirty="0"/>
              <a:t>  </a:t>
            </a:r>
            <a:r>
              <a:rPr lang="en-IN" dirty="0" err="1"/>
              <a:t>int</a:t>
            </a:r>
            <a:r>
              <a:rPr lang="en-IN" dirty="0"/>
              <a:t> front, rear, </a:t>
            </a:r>
            <a:r>
              <a:rPr lang="en-IN" dirty="0" err="1"/>
              <a:t>i</a:t>
            </a:r>
            <a:r>
              <a:rPr lang="en-IN" dirty="0"/>
              <a:t>, n;</a:t>
            </a:r>
          </a:p>
          <a:p>
            <a:r>
              <a:rPr lang="en-IN" dirty="0"/>
              <a:t> </a:t>
            </a:r>
          </a:p>
          <a:p>
            <a:r>
              <a:rPr lang="en-IN" dirty="0"/>
              <a:t>  front = rear = -1;</a:t>
            </a:r>
          </a:p>
          <a:p>
            <a:r>
              <a:rPr lang="en-IN" dirty="0"/>
              <a:t>  for (</a:t>
            </a:r>
            <a:r>
              <a:rPr lang="en-IN" dirty="0" err="1"/>
              <a:t>i</a:t>
            </a:r>
            <a:r>
              <a:rPr lang="en-IN" dirty="0"/>
              <a:t> = 0; </a:t>
            </a:r>
            <a:r>
              <a:rPr lang="en-IN" dirty="0" err="1"/>
              <a:t>i</a:t>
            </a:r>
            <a:r>
              <a:rPr lang="en-IN" dirty="0"/>
              <a:t> &lt; MAX; </a:t>
            </a:r>
            <a:r>
              <a:rPr lang="en-IN" dirty="0" err="1"/>
              <a:t>i</a:t>
            </a:r>
            <a:r>
              <a:rPr lang="en-IN" dirty="0"/>
              <a:t>++)</a:t>
            </a:r>
          </a:p>
          <a:p>
            <a:r>
              <a:rPr lang="en-IN" dirty="0"/>
              <a:t>    </a:t>
            </a:r>
            <a:r>
              <a:rPr lang="en-IN" dirty="0" err="1"/>
              <a:t>arr</a:t>
            </a:r>
            <a:r>
              <a:rPr lang="en-IN" dirty="0"/>
              <a:t>[</a:t>
            </a:r>
            <a:r>
              <a:rPr lang="en-IN" dirty="0" err="1"/>
              <a:t>i</a:t>
            </a:r>
            <a:r>
              <a:rPr lang="en-IN" dirty="0"/>
              <a:t>] = 0;</a:t>
            </a:r>
          </a:p>
          <a:p>
            <a:r>
              <a:rPr lang="en-IN" dirty="0"/>
              <a:t> </a:t>
            </a:r>
          </a:p>
          <a:p>
            <a:r>
              <a:rPr lang="en-IN" dirty="0"/>
              <a:t>  </a:t>
            </a:r>
            <a:r>
              <a:rPr lang="en-IN" dirty="0" err="1"/>
              <a:t>addRear</a:t>
            </a:r>
            <a:r>
              <a:rPr lang="en-IN" dirty="0"/>
              <a:t>(</a:t>
            </a:r>
            <a:r>
              <a:rPr lang="en-IN" dirty="0" err="1"/>
              <a:t>arr</a:t>
            </a:r>
            <a:r>
              <a:rPr lang="en-IN" dirty="0"/>
              <a:t>, 5, &amp;front, &amp;rear);</a:t>
            </a:r>
          </a:p>
          <a:p>
            <a:r>
              <a:rPr lang="en-IN" dirty="0"/>
              <a:t>  </a:t>
            </a:r>
            <a:r>
              <a:rPr lang="en-IN" dirty="0" err="1"/>
              <a:t>addFront</a:t>
            </a:r>
            <a:r>
              <a:rPr lang="en-IN" dirty="0"/>
              <a:t>(</a:t>
            </a:r>
            <a:r>
              <a:rPr lang="en-IN" dirty="0" err="1"/>
              <a:t>arr</a:t>
            </a:r>
            <a:r>
              <a:rPr lang="en-IN" dirty="0"/>
              <a:t>, 12, &amp;front, &amp;rear);</a:t>
            </a:r>
          </a:p>
          <a:p>
            <a:r>
              <a:rPr lang="en-IN" dirty="0"/>
              <a:t>  </a:t>
            </a:r>
            <a:r>
              <a:rPr lang="en-IN" dirty="0" err="1"/>
              <a:t>addRear</a:t>
            </a:r>
            <a:r>
              <a:rPr lang="en-IN" dirty="0"/>
              <a:t>(</a:t>
            </a:r>
            <a:r>
              <a:rPr lang="en-IN" dirty="0" err="1"/>
              <a:t>arr</a:t>
            </a:r>
            <a:r>
              <a:rPr lang="en-IN" dirty="0"/>
              <a:t>, 11, &amp;front, &amp;rear);</a:t>
            </a:r>
          </a:p>
          <a:p>
            <a:r>
              <a:rPr lang="en-IN" dirty="0"/>
              <a:t>  </a:t>
            </a:r>
            <a:r>
              <a:rPr lang="en-IN" dirty="0" err="1"/>
              <a:t>addFront</a:t>
            </a:r>
            <a:r>
              <a:rPr lang="en-IN" dirty="0"/>
              <a:t>(</a:t>
            </a:r>
            <a:r>
              <a:rPr lang="en-IN" dirty="0" err="1"/>
              <a:t>arr</a:t>
            </a:r>
            <a:r>
              <a:rPr lang="en-IN" dirty="0"/>
              <a:t>, 5, &amp;front, &amp;rear);</a:t>
            </a:r>
          </a:p>
          <a:p>
            <a:r>
              <a:rPr lang="en-IN" dirty="0"/>
              <a:t>  </a:t>
            </a:r>
            <a:r>
              <a:rPr lang="en-IN" dirty="0" err="1"/>
              <a:t>addRear</a:t>
            </a:r>
            <a:r>
              <a:rPr lang="en-IN" dirty="0"/>
              <a:t>(</a:t>
            </a:r>
            <a:r>
              <a:rPr lang="en-IN" dirty="0" err="1"/>
              <a:t>arr</a:t>
            </a:r>
            <a:r>
              <a:rPr lang="en-IN" dirty="0"/>
              <a:t>, 6, &amp;front, &amp;rear);</a:t>
            </a:r>
          </a:p>
          <a:p>
            <a:r>
              <a:rPr lang="en-IN" dirty="0"/>
              <a:t>  </a:t>
            </a:r>
            <a:r>
              <a:rPr lang="en-IN" dirty="0" err="1"/>
              <a:t>addFront</a:t>
            </a:r>
            <a:r>
              <a:rPr lang="en-IN" dirty="0"/>
              <a:t>(</a:t>
            </a:r>
            <a:r>
              <a:rPr lang="en-IN" dirty="0" err="1"/>
              <a:t>arr</a:t>
            </a:r>
            <a:r>
              <a:rPr lang="en-IN" dirty="0"/>
              <a:t>, 8, &amp;front, &amp;rear);</a:t>
            </a:r>
          </a:p>
        </p:txBody>
      </p:sp>
    </p:spTree>
    <p:extLst>
      <p:ext uri="{BB962C8B-B14F-4D97-AF65-F5344CB8AC3E}">
        <p14:creationId xmlns:p14="http://schemas.microsoft.com/office/powerpoint/2010/main" val="41223286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6232" y="113968"/>
            <a:ext cx="7560840" cy="6740307"/>
          </a:xfrm>
          <a:prstGeom prst="rect">
            <a:avLst/>
          </a:prstGeom>
        </p:spPr>
        <p:txBody>
          <a:bodyPr wrap="square">
            <a:spAutoFit/>
          </a:bodyPr>
          <a:lstStyle/>
          <a:p>
            <a:r>
              <a:rPr lang="en-IN" dirty="0" err="1"/>
              <a:t>printf</a:t>
            </a:r>
            <a:r>
              <a:rPr lang="en-IN" dirty="0"/>
              <a:t>("\</a:t>
            </a:r>
            <a:r>
              <a:rPr lang="en-IN" dirty="0" err="1"/>
              <a:t>nElements</a:t>
            </a:r>
            <a:r>
              <a:rPr lang="en-IN" dirty="0"/>
              <a:t> in a </a:t>
            </a:r>
            <a:r>
              <a:rPr lang="en-IN" dirty="0" err="1"/>
              <a:t>deque</a:t>
            </a:r>
            <a:r>
              <a:rPr lang="en-IN" dirty="0"/>
              <a:t>: ");</a:t>
            </a:r>
          </a:p>
          <a:p>
            <a:r>
              <a:rPr lang="en-IN" dirty="0"/>
              <a:t>  display(</a:t>
            </a:r>
            <a:r>
              <a:rPr lang="en-IN" dirty="0" err="1"/>
              <a:t>arr</a:t>
            </a:r>
            <a:r>
              <a:rPr lang="en-IN" dirty="0"/>
              <a:t>);</a:t>
            </a:r>
          </a:p>
          <a:p>
            <a:r>
              <a:rPr lang="en-IN" dirty="0"/>
              <a:t> </a:t>
            </a:r>
          </a:p>
          <a:p>
            <a:r>
              <a:rPr lang="en-IN" dirty="0"/>
              <a:t>  </a:t>
            </a:r>
            <a:r>
              <a:rPr lang="en-IN" dirty="0" err="1"/>
              <a:t>i</a:t>
            </a:r>
            <a:r>
              <a:rPr lang="en-IN" dirty="0"/>
              <a:t> = </a:t>
            </a:r>
            <a:r>
              <a:rPr lang="en-IN" dirty="0" err="1"/>
              <a:t>delFront</a:t>
            </a:r>
            <a:r>
              <a:rPr lang="en-IN" dirty="0"/>
              <a:t>(</a:t>
            </a:r>
            <a:r>
              <a:rPr lang="en-IN" dirty="0" err="1"/>
              <a:t>arr</a:t>
            </a:r>
            <a:r>
              <a:rPr lang="en-IN" dirty="0"/>
              <a:t>, &amp;front, &amp;rear);</a:t>
            </a:r>
          </a:p>
          <a:p>
            <a:r>
              <a:rPr lang="en-IN" dirty="0"/>
              <a:t>  </a:t>
            </a:r>
            <a:r>
              <a:rPr lang="en-IN" dirty="0" err="1"/>
              <a:t>printf</a:t>
            </a:r>
            <a:r>
              <a:rPr lang="en-IN" dirty="0"/>
              <a:t>("\</a:t>
            </a:r>
            <a:r>
              <a:rPr lang="en-IN" dirty="0" err="1"/>
              <a:t>nremoved</a:t>
            </a:r>
            <a:r>
              <a:rPr lang="en-IN" dirty="0"/>
              <a:t> item: %d", </a:t>
            </a:r>
            <a:r>
              <a:rPr lang="en-IN" dirty="0" err="1"/>
              <a:t>i</a:t>
            </a:r>
            <a:r>
              <a:rPr lang="en-IN" dirty="0"/>
              <a:t>);</a:t>
            </a:r>
          </a:p>
          <a:p>
            <a:r>
              <a:rPr lang="en-IN" dirty="0"/>
              <a:t> </a:t>
            </a:r>
          </a:p>
          <a:p>
            <a:r>
              <a:rPr lang="en-IN" dirty="0"/>
              <a:t>  </a:t>
            </a:r>
            <a:r>
              <a:rPr lang="en-IN" dirty="0" err="1"/>
              <a:t>printf</a:t>
            </a:r>
            <a:r>
              <a:rPr lang="en-IN" dirty="0"/>
              <a:t>("\</a:t>
            </a:r>
            <a:r>
              <a:rPr lang="en-IN" dirty="0" err="1"/>
              <a:t>nElements</a:t>
            </a:r>
            <a:r>
              <a:rPr lang="en-IN" dirty="0"/>
              <a:t> in a </a:t>
            </a:r>
            <a:r>
              <a:rPr lang="en-IN" dirty="0" err="1"/>
              <a:t>deque</a:t>
            </a:r>
            <a:r>
              <a:rPr lang="en-IN" dirty="0"/>
              <a:t> after deletion: ");</a:t>
            </a:r>
          </a:p>
          <a:p>
            <a:r>
              <a:rPr lang="en-IN" dirty="0"/>
              <a:t>  display(</a:t>
            </a:r>
            <a:r>
              <a:rPr lang="en-IN" dirty="0" err="1"/>
              <a:t>arr</a:t>
            </a:r>
            <a:r>
              <a:rPr lang="en-IN" dirty="0"/>
              <a:t>);</a:t>
            </a:r>
          </a:p>
          <a:p>
            <a:r>
              <a:rPr lang="en-IN" dirty="0"/>
              <a:t> </a:t>
            </a:r>
          </a:p>
          <a:p>
            <a:r>
              <a:rPr lang="en-IN" dirty="0"/>
              <a:t>  </a:t>
            </a:r>
            <a:r>
              <a:rPr lang="en-IN" dirty="0" err="1"/>
              <a:t>addRear</a:t>
            </a:r>
            <a:r>
              <a:rPr lang="en-IN" dirty="0"/>
              <a:t>(</a:t>
            </a:r>
            <a:r>
              <a:rPr lang="en-IN" dirty="0" err="1"/>
              <a:t>arr</a:t>
            </a:r>
            <a:r>
              <a:rPr lang="en-IN" dirty="0"/>
              <a:t>, 16, &amp;front, &amp;rear);</a:t>
            </a:r>
          </a:p>
          <a:p>
            <a:r>
              <a:rPr lang="en-IN" dirty="0"/>
              <a:t>  </a:t>
            </a:r>
            <a:r>
              <a:rPr lang="en-IN" dirty="0" err="1"/>
              <a:t>addRear</a:t>
            </a:r>
            <a:r>
              <a:rPr lang="en-IN" dirty="0"/>
              <a:t>(</a:t>
            </a:r>
            <a:r>
              <a:rPr lang="en-IN" dirty="0" err="1"/>
              <a:t>arr</a:t>
            </a:r>
            <a:r>
              <a:rPr lang="en-IN" dirty="0"/>
              <a:t>, 7, &amp;front, &amp;rear);</a:t>
            </a:r>
          </a:p>
          <a:p>
            <a:r>
              <a:rPr lang="en-IN" dirty="0"/>
              <a:t> </a:t>
            </a:r>
          </a:p>
          <a:p>
            <a:r>
              <a:rPr lang="en-IN" dirty="0"/>
              <a:t>  </a:t>
            </a:r>
            <a:r>
              <a:rPr lang="en-IN" dirty="0" err="1"/>
              <a:t>printf</a:t>
            </a:r>
            <a:r>
              <a:rPr lang="en-IN" dirty="0"/>
              <a:t>("\</a:t>
            </a:r>
            <a:r>
              <a:rPr lang="en-IN" dirty="0" err="1"/>
              <a:t>nElements</a:t>
            </a:r>
            <a:r>
              <a:rPr lang="en-IN" dirty="0"/>
              <a:t> in a </a:t>
            </a:r>
            <a:r>
              <a:rPr lang="en-IN" dirty="0" err="1"/>
              <a:t>deque</a:t>
            </a:r>
            <a:r>
              <a:rPr lang="en-IN" dirty="0"/>
              <a:t> after addition: ");</a:t>
            </a:r>
          </a:p>
          <a:p>
            <a:r>
              <a:rPr lang="en-IN" dirty="0"/>
              <a:t>  display(</a:t>
            </a:r>
            <a:r>
              <a:rPr lang="en-IN" dirty="0" err="1"/>
              <a:t>arr</a:t>
            </a:r>
            <a:r>
              <a:rPr lang="en-IN" dirty="0"/>
              <a:t>);</a:t>
            </a:r>
          </a:p>
          <a:p>
            <a:r>
              <a:rPr lang="en-IN" dirty="0"/>
              <a:t> </a:t>
            </a:r>
          </a:p>
          <a:p>
            <a:r>
              <a:rPr lang="en-IN" dirty="0"/>
              <a:t>  </a:t>
            </a:r>
            <a:r>
              <a:rPr lang="en-IN" dirty="0" err="1"/>
              <a:t>i</a:t>
            </a:r>
            <a:r>
              <a:rPr lang="en-IN" dirty="0"/>
              <a:t> = </a:t>
            </a:r>
            <a:r>
              <a:rPr lang="en-IN" dirty="0" err="1"/>
              <a:t>delRear</a:t>
            </a:r>
            <a:r>
              <a:rPr lang="en-IN" dirty="0"/>
              <a:t>(</a:t>
            </a:r>
            <a:r>
              <a:rPr lang="en-IN" dirty="0" err="1"/>
              <a:t>arr</a:t>
            </a:r>
            <a:r>
              <a:rPr lang="en-IN" dirty="0"/>
              <a:t>, &amp;front, &amp;rear);</a:t>
            </a:r>
          </a:p>
          <a:p>
            <a:r>
              <a:rPr lang="en-IN" dirty="0"/>
              <a:t>  </a:t>
            </a:r>
            <a:r>
              <a:rPr lang="en-IN" dirty="0" err="1"/>
              <a:t>printf</a:t>
            </a:r>
            <a:r>
              <a:rPr lang="en-IN" dirty="0"/>
              <a:t>("\</a:t>
            </a:r>
            <a:r>
              <a:rPr lang="en-IN" dirty="0" err="1"/>
              <a:t>nremoved</a:t>
            </a:r>
            <a:r>
              <a:rPr lang="en-IN" dirty="0"/>
              <a:t> item: %d", </a:t>
            </a:r>
            <a:r>
              <a:rPr lang="en-IN" dirty="0" err="1"/>
              <a:t>i</a:t>
            </a:r>
            <a:r>
              <a:rPr lang="en-IN" dirty="0"/>
              <a:t>);</a:t>
            </a:r>
          </a:p>
          <a:p>
            <a:r>
              <a:rPr lang="en-IN" dirty="0"/>
              <a:t> </a:t>
            </a:r>
          </a:p>
          <a:p>
            <a:r>
              <a:rPr lang="en-IN" dirty="0"/>
              <a:t>  </a:t>
            </a:r>
            <a:r>
              <a:rPr lang="en-IN" dirty="0" err="1"/>
              <a:t>printf</a:t>
            </a:r>
            <a:r>
              <a:rPr lang="en-IN" dirty="0"/>
              <a:t>("\</a:t>
            </a:r>
            <a:r>
              <a:rPr lang="en-IN" dirty="0" err="1"/>
              <a:t>nElements</a:t>
            </a:r>
            <a:r>
              <a:rPr lang="en-IN" dirty="0"/>
              <a:t> in a </a:t>
            </a:r>
            <a:r>
              <a:rPr lang="en-IN" dirty="0" err="1"/>
              <a:t>deque</a:t>
            </a:r>
            <a:r>
              <a:rPr lang="en-IN" dirty="0"/>
              <a:t> after deletion: ");</a:t>
            </a:r>
          </a:p>
          <a:p>
            <a:r>
              <a:rPr lang="en-IN" dirty="0"/>
              <a:t>  display(</a:t>
            </a:r>
            <a:r>
              <a:rPr lang="en-IN" dirty="0" err="1"/>
              <a:t>arr</a:t>
            </a:r>
            <a:r>
              <a:rPr lang="en-IN" dirty="0"/>
              <a:t>);</a:t>
            </a:r>
          </a:p>
          <a:p>
            <a:r>
              <a:rPr lang="en-IN" dirty="0"/>
              <a:t> </a:t>
            </a:r>
          </a:p>
          <a:p>
            <a:r>
              <a:rPr lang="en-IN" dirty="0"/>
              <a:t>  n = count(</a:t>
            </a:r>
            <a:r>
              <a:rPr lang="en-IN" dirty="0" err="1"/>
              <a:t>arr</a:t>
            </a:r>
            <a:r>
              <a:rPr lang="en-IN" dirty="0"/>
              <a:t>);</a:t>
            </a:r>
          </a:p>
          <a:p>
            <a:r>
              <a:rPr lang="en-IN" dirty="0"/>
              <a:t>  </a:t>
            </a:r>
            <a:r>
              <a:rPr lang="en-IN" dirty="0" err="1"/>
              <a:t>printf</a:t>
            </a:r>
            <a:r>
              <a:rPr lang="en-IN" dirty="0"/>
              <a:t>("\</a:t>
            </a:r>
            <a:r>
              <a:rPr lang="en-IN" dirty="0" err="1"/>
              <a:t>nTotal</a:t>
            </a:r>
            <a:r>
              <a:rPr lang="en-IN" dirty="0"/>
              <a:t> number of elements in </a:t>
            </a:r>
            <a:r>
              <a:rPr lang="en-IN" dirty="0" err="1"/>
              <a:t>deque</a:t>
            </a:r>
            <a:r>
              <a:rPr lang="en-IN" dirty="0"/>
              <a:t>: %d", n);</a:t>
            </a:r>
          </a:p>
          <a:p>
            <a:r>
              <a:rPr lang="en-IN" dirty="0"/>
              <a:t>}</a:t>
            </a:r>
          </a:p>
        </p:txBody>
      </p:sp>
    </p:spTree>
    <p:extLst>
      <p:ext uri="{BB962C8B-B14F-4D97-AF65-F5344CB8AC3E}">
        <p14:creationId xmlns:p14="http://schemas.microsoft.com/office/powerpoint/2010/main" val="9020609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260648"/>
            <a:ext cx="5544616" cy="5078313"/>
          </a:xfrm>
          <a:prstGeom prst="rect">
            <a:avLst/>
          </a:prstGeom>
        </p:spPr>
        <p:txBody>
          <a:bodyPr wrap="square">
            <a:spAutoFit/>
          </a:bodyPr>
          <a:lstStyle/>
          <a:p>
            <a:r>
              <a:rPr lang="en-IN" dirty="0"/>
              <a:t>void </a:t>
            </a:r>
            <a:r>
              <a:rPr lang="en-IN" dirty="0" err="1"/>
              <a:t>addFront</a:t>
            </a:r>
            <a:r>
              <a:rPr lang="en-IN" dirty="0"/>
              <a:t>(int *</a:t>
            </a:r>
            <a:r>
              <a:rPr lang="en-IN" dirty="0" err="1"/>
              <a:t>arr</a:t>
            </a:r>
            <a:r>
              <a:rPr lang="en-IN" dirty="0"/>
              <a:t>, int item, int *</a:t>
            </a:r>
            <a:r>
              <a:rPr lang="en-IN" dirty="0" err="1"/>
              <a:t>pfront</a:t>
            </a:r>
            <a:r>
              <a:rPr lang="en-IN" dirty="0"/>
              <a:t>, int *</a:t>
            </a:r>
            <a:r>
              <a:rPr lang="en-IN" dirty="0" err="1"/>
              <a:t>prear</a:t>
            </a:r>
            <a:r>
              <a:rPr lang="en-IN" dirty="0"/>
              <a:t>)</a:t>
            </a:r>
          </a:p>
          <a:p>
            <a:r>
              <a:rPr lang="en-IN" dirty="0"/>
              <a:t> {</a:t>
            </a:r>
          </a:p>
          <a:p>
            <a:r>
              <a:rPr lang="en-IN" dirty="0"/>
              <a:t>  </a:t>
            </a:r>
            <a:r>
              <a:rPr lang="en-IN" dirty="0" err="1"/>
              <a:t>int</a:t>
            </a:r>
            <a:r>
              <a:rPr lang="en-IN" dirty="0"/>
              <a:t> </a:t>
            </a:r>
            <a:r>
              <a:rPr lang="en-IN" dirty="0" err="1"/>
              <a:t>i</a:t>
            </a:r>
            <a:r>
              <a:rPr lang="en-IN" dirty="0"/>
              <a:t>, k, c;</a:t>
            </a:r>
          </a:p>
          <a:p>
            <a:r>
              <a:rPr lang="en-IN" dirty="0"/>
              <a:t> </a:t>
            </a:r>
          </a:p>
          <a:p>
            <a:r>
              <a:rPr lang="en-IN" dirty="0"/>
              <a:t>  if (*</a:t>
            </a:r>
            <a:r>
              <a:rPr lang="en-IN" dirty="0" err="1"/>
              <a:t>pfront</a:t>
            </a:r>
            <a:r>
              <a:rPr lang="en-IN" dirty="0"/>
              <a:t> == 0 &amp;&amp; *</a:t>
            </a:r>
            <a:r>
              <a:rPr lang="en-IN" dirty="0" err="1"/>
              <a:t>prear</a:t>
            </a:r>
            <a:r>
              <a:rPr lang="en-IN" dirty="0"/>
              <a:t> == MAX - 1)</a:t>
            </a:r>
          </a:p>
          <a:p>
            <a:r>
              <a:rPr lang="en-IN" dirty="0"/>
              <a:t> {</a:t>
            </a:r>
          </a:p>
          <a:p>
            <a:r>
              <a:rPr lang="en-IN" dirty="0"/>
              <a:t>    </a:t>
            </a:r>
            <a:r>
              <a:rPr lang="en-IN" dirty="0" err="1"/>
              <a:t>printf</a:t>
            </a:r>
            <a:r>
              <a:rPr lang="en-IN" dirty="0"/>
              <a:t>("\</a:t>
            </a:r>
            <a:r>
              <a:rPr lang="en-IN" dirty="0" err="1"/>
              <a:t>nDeque</a:t>
            </a:r>
            <a:r>
              <a:rPr lang="en-IN" dirty="0"/>
              <a:t> is full.\n");</a:t>
            </a:r>
          </a:p>
          <a:p>
            <a:r>
              <a:rPr lang="en-IN" dirty="0"/>
              <a:t>    return;</a:t>
            </a:r>
          </a:p>
          <a:p>
            <a:r>
              <a:rPr lang="en-IN" dirty="0"/>
              <a:t>  }</a:t>
            </a:r>
          </a:p>
          <a:p>
            <a:r>
              <a:rPr lang="en-IN" dirty="0"/>
              <a:t> </a:t>
            </a:r>
          </a:p>
          <a:p>
            <a:r>
              <a:rPr lang="en-IN" dirty="0"/>
              <a:t>  if (*</a:t>
            </a:r>
            <a:r>
              <a:rPr lang="en-IN" dirty="0" err="1"/>
              <a:t>pfront</a:t>
            </a:r>
            <a:r>
              <a:rPr lang="en-IN" dirty="0"/>
              <a:t> == -1)</a:t>
            </a:r>
          </a:p>
          <a:p>
            <a:r>
              <a:rPr lang="en-IN" dirty="0"/>
              <a:t> {</a:t>
            </a:r>
          </a:p>
          <a:p>
            <a:r>
              <a:rPr lang="en-IN" dirty="0"/>
              <a:t>    *</a:t>
            </a:r>
            <a:r>
              <a:rPr lang="en-IN" dirty="0" err="1"/>
              <a:t>pfront</a:t>
            </a:r>
            <a:r>
              <a:rPr lang="en-IN" dirty="0"/>
              <a:t> = *</a:t>
            </a:r>
            <a:r>
              <a:rPr lang="en-IN" dirty="0" err="1"/>
              <a:t>prear</a:t>
            </a:r>
            <a:r>
              <a:rPr lang="en-IN" dirty="0"/>
              <a:t> = 0;</a:t>
            </a:r>
          </a:p>
          <a:p>
            <a:r>
              <a:rPr lang="en-IN" dirty="0"/>
              <a:t>    </a:t>
            </a:r>
            <a:r>
              <a:rPr lang="en-IN" dirty="0" err="1"/>
              <a:t>arr</a:t>
            </a:r>
            <a:r>
              <a:rPr lang="en-IN" dirty="0"/>
              <a:t>[*</a:t>
            </a:r>
            <a:r>
              <a:rPr lang="en-IN" dirty="0" err="1"/>
              <a:t>pfront</a:t>
            </a:r>
            <a:r>
              <a:rPr lang="en-IN" dirty="0"/>
              <a:t>] = item;</a:t>
            </a:r>
          </a:p>
          <a:p>
            <a:r>
              <a:rPr lang="en-IN" dirty="0"/>
              <a:t>    return;</a:t>
            </a:r>
          </a:p>
          <a:p>
            <a:r>
              <a:rPr lang="en-IN" dirty="0"/>
              <a:t>  }</a:t>
            </a:r>
          </a:p>
          <a:p>
            <a:r>
              <a:rPr lang="en-IN" dirty="0"/>
              <a:t> </a:t>
            </a:r>
          </a:p>
          <a:p>
            <a:r>
              <a:rPr lang="en-IN" dirty="0"/>
              <a:t>  </a:t>
            </a:r>
          </a:p>
        </p:txBody>
      </p:sp>
      <p:sp>
        <p:nvSpPr>
          <p:cNvPr id="3" name="Rectangle 2"/>
          <p:cNvSpPr/>
          <p:nvPr/>
        </p:nvSpPr>
        <p:spPr>
          <a:xfrm>
            <a:off x="4427984" y="775737"/>
            <a:ext cx="4320480" cy="4801314"/>
          </a:xfrm>
          <a:prstGeom prst="rect">
            <a:avLst/>
          </a:prstGeom>
        </p:spPr>
        <p:txBody>
          <a:bodyPr wrap="square">
            <a:spAutoFit/>
          </a:bodyPr>
          <a:lstStyle/>
          <a:p>
            <a:r>
              <a:rPr lang="en-IN" dirty="0"/>
              <a:t>if (*</a:t>
            </a:r>
            <a:r>
              <a:rPr lang="en-IN" dirty="0" err="1"/>
              <a:t>prear</a:t>
            </a:r>
            <a:r>
              <a:rPr lang="en-IN" dirty="0"/>
              <a:t> != MAX - 1) {</a:t>
            </a:r>
          </a:p>
          <a:p>
            <a:r>
              <a:rPr lang="en-IN" dirty="0"/>
              <a:t>    c = count(</a:t>
            </a:r>
            <a:r>
              <a:rPr lang="en-IN" dirty="0" err="1"/>
              <a:t>arr</a:t>
            </a:r>
            <a:r>
              <a:rPr lang="en-IN" dirty="0"/>
              <a:t>);</a:t>
            </a:r>
          </a:p>
          <a:p>
            <a:r>
              <a:rPr lang="en-IN" dirty="0"/>
              <a:t>    k = *</a:t>
            </a:r>
            <a:r>
              <a:rPr lang="en-IN" dirty="0" err="1"/>
              <a:t>prear</a:t>
            </a:r>
            <a:r>
              <a:rPr lang="en-IN" dirty="0"/>
              <a:t> + 1;</a:t>
            </a:r>
          </a:p>
          <a:p>
            <a:r>
              <a:rPr lang="en-IN" dirty="0"/>
              <a:t>    for (</a:t>
            </a:r>
            <a:r>
              <a:rPr lang="en-IN" dirty="0" err="1"/>
              <a:t>i</a:t>
            </a:r>
            <a:r>
              <a:rPr lang="en-IN" dirty="0"/>
              <a:t> = 1; </a:t>
            </a:r>
            <a:r>
              <a:rPr lang="en-IN" dirty="0" err="1"/>
              <a:t>i</a:t>
            </a:r>
            <a:r>
              <a:rPr lang="en-IN" dirty="0"/>
              <a:t> &lt;= c; </a:t>
            </a:r>
            <a:r>
              <a:rPr lang="en-IN" dirty="0" err="1"/>
              <a:t>i</a:t>
            </a:r>
            <a:r>
              <a:rPr lang="en-IN" dirty="0"/>
              <a:t>++) {</a:t>
            </a:r>
          </a:p>
          <a:p>
            <a:r>
              <a:rPr lang="en-IN" dirty="0"/>
              <a:t>      </a:t>
            </a:r>
            <a:r>
              <a:rPr lang="en-IN" dirty="0" err="1"/>
              <a:t>arr</a:t>
            </a:r>
            <a:r>
              <a:rPr lang="en-IN" dirty="0"/>
              <a:t>[k] = </a:t>
            </a:r>
            <a:r>
              <a:rPr lang="en-IN" dirty="0" err="1"/>
              <a:t>arr</a:t>
            </a:r>
            <a:r>
              <a:rPr lang="en-IN" dirty="0"/>
              <a:t>[k - 1];</a:t>
            </a:r>
          </a:p>
          <a:p>
            <a:r>
              <a:rPr lang="en-IN" dirty="0"/>
              <a:t>      k--;</a:t>
            </a:r>
          </a:p>
          <a:p>
            <a:r>
              <a:rPr lang="en-IN" dirty="0"/>
              <a:t>    }</a:t>
            </a:r>
          </a:p>
          <a:p>
            <a:r>
              <a:rPr lang="en-IN" dirty="0"/>
              <a:t>    </a:t>
            </a:r>
            <a:r>
              <a:rPr lang="en-IN" dirty="0" err="1"/>
              <a:t>arr</a:t>
            </a:r>
            <a:r>
              <a:rPr lang="en-IN" dirty="0"/>
              <a:t>[k] = item;</a:t>
            </a:r>
          </a:p>
          <a:p>
            <a:r>
              <a:rPr lang="en-IN" dirty="0"/>
              <a:t>    *</a:t>
            </a:r>
            <a:r>
              <a:rPr lang="en-IN" dirty="0" err="1"/>
              <a:t>pfront</a:t>
            </a:r>
            <a:r>
              <a:rPr lang="en-IN" dirty="0"/>
              <a:t> = k;</a:t>
            </a:r>
          </a:p>
          <a:p>
            <a:r>
              <a:rPr lang="en-IN" dirty="0"/>
              <a:t>    (*</a:t>
            </a:r>
            <a:r>
              <a:rPr lang="en-IN" dirty="0" err="1"/>
              <a:t>prear</a:t>
            </a:r>
            <a:r>
              <a:rPr lang="en-IN" dirty="0"/>
              <a:t>)++;</a:t>
            </a:r>
          </a:p>
          <a:p>
            <a:r>
              <a:rPr lang="en-IN" dirty="0"/>
              <a:t>  } </a:t>
            </a:r>
          </a:p>
          <a:p>
            <a:r>
              <a:rPr lang="en-IN" dirty="0"/>
              <a:t>  else </a:t>
            </a:r>
          </a:p>
          <a:p>
            <a:r>
              <a:rPr lang="en-IN" dirty="0"/>
              <a:t>  {</a:t>
            </a:r>
          </a:p>
          <a:p>
            <a:r>
              <a:rPr lang="en-IN" dirty="0"/>
              <a:t>    (*</a:t>
            </a:r>
            <a:r>
              <a:rPr lang="en-IN" dirty="0" err="1"/>
              <a:t>pfront</a:t>
            </a:r>
            <a:r>
              <a:rPr lang="en-IN" dirty="0"/>
              <a:t>)--;</a:t>
            </a:r>
          </a:p>
          <a:p>
            <a:r>
              <a:rPr lang="en-IN" dirty="0"/>
              <a:t>    </a:t>
            </a:r>
            <a:r>
              <a:rPr lang="en-IN" dirty="0" err="1"/>
              <a:t>arr</a:t>
            </a:r>
            <a:r>
              <a:rPr lang="en-IN" dirty="0"/>
              <a:t>[*</a:t>
            </a:r>
            <a:r>
              <a:rPr lang="en-IN" dirty="0" err="1"/>
              <a:t>pfront</a:t>
            </a:r>
            <a:r>
              <a:rPr lang="en-IN" dirty="0"/>
              <a:t>] = item;</a:t>
            </a:r>
          </a:p>
          <a:p>
            <a:r>
              <a:rPr lang="en-IN" dirty="0"/>
              <a:t>  }</a:t>
            </a:r>
          </a:p>
          <a:p>
            <a:r>
              <a:rPr lang="en-IN" dirty="0"/>
              <a:t>}</a:t>
            </a:r>
          </a:p>
        </p:txBody>
      </p:sp>
    </p:spTree>
    <p:extLst>
      <p:ext uri="{BB962C8B-B14F-4D97-AF65-F5344CB8AC3E}">
        <p14:creationId xmlns:p14="http://schemas.microsoft.com/office/powerpoint/2010/main" val="27533780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240" y="260648"/>
            <a:ext cx="8334200" cy="4524315"/>
          </a:xfrm>
          <a:prstGeom prst="rect">
            <a:avLst/>
          </a:prstGeom>
        </p:spPr>
        <p:txBody>
          <a:bodyPr wrap="square">
            <a:spAutoFit/>
          </a:bodyPr>
          <a:lstStyle/>
          <a:p>
            <a:r>
              <a:rPr lang="en-IN" dirty="0"/>
              <a:t>void </a:t>
            </a:r>
            <a:r>
              <a:rPr lang="en-IN" dirty="0" err="1"/>
              <a:t>addRear</a:t>
            </a:r>
            <a:r>
              <a:rPr lang="en-IN" dirty="0"/>
              <a:t>(</a:t>
            </a:r>
            <a:r>
              <a:rPr lang="en-IN" dirty="0" err="1"/>
              <a:t>int</a:t>
            </a:r>
            <a:r>
              <a:rPr lang="en-IN" dirty="0"/>
              <a:t> *</a:t>
            </a:r>
            <a:r>
              <a:rPr lang="en-IN" dirty="0" err="1"/>
              <a:t>arr</a:t>
            </a:r>
            <a:r>
              <a:rPr lang="en-IN" dirty="0"/>
              <a:t>, </a:t>
            </a:r>
            <a:r>
              <a:rPr lang="en-IN" dirty="0" err="1"/>
              <a:t>int</a:t>
            </a:r>
            <a:r>
              <a:rPr lang="en-IN" dirty="0"/>
              <a:t> item, </a:t>
            </a:r>
            <a:r>
              <a:rPr lang="en-IN" dirty="0" err="1"/>
              <a:t>int</a:t>
            </a:r>
            <a:r>
              <a:rPr lang="en-IN" dirty="0"/>
              <a:t> *</a:t>
            </a:r>
            <a:r>
              <a:rPr lang="en-IN" dirty="0" err="1"/>
              <a:t>pfront</a:t>
            </a:r>
            <a:r>
              <a:rPr lang="en-IN" dirty="0"/>
              <a:t>, </a:t>
            </a:r>
            <a:r>
              <a:rPr lang="en-IN" dirty="0" err="1"/>
              <a:t>int</a:t>
            </a:r>
            <a:r>
              <a:rPr lang="en-IN" dirty="0"/>
              <a:t> *</a:t>
            </a:r>
            <a:r>
              <a:rPr lang="en-IN" dirty="0" err="1"/>
              <a:t>prear</a:t>
            </a:r>
            <a:r>
              <a:rPr lang="en-IN" dirty="0"/>
              <a:t>) {</a:t>
            </a:r>
          </a:p>
          <a:p>
            <a:r>
              <a:rPr lang="en-IN" dirty="0"/>
              <a:t>  </a:t>
            </a:r>
            <a:r>
              <a:rPr lang="en-IN" dirty="0" err="1"/>
              <a:t>int</a:t>
            </a:r>
            <a:r>
              <a:rPr lang="en-IN" dirty="0"/>
              <a:t> </a:t>
            </a:r>
            <a:r>
              <a:rPr lang="en-IN" dirty="0" err="1"/>
              <a:t>i</a:t>
            </a:r>
            <a:r>
              <a:rPr lang="en-IN" dirty="0"/>
              <a:t>, k;</a:t>
            </a:r>
          </a:p>
          <a:p>
            <a:endParaRPr lang="en-IN" dirty="0"/>
          </a:p>
          <a:p>
            <a:r>
              <a:rPr lang="en-IN" dirty="0"/>
              <a:t>  if (*</a:t>
            </a:r>
            <a:r>
              <a:rPr lang="en-IN" dirty="0" err="1"/>
              <a:t>pfront</a:t>
            </a:r>
            <a:r>
              <a:rPr lang="en-IN" dirty="0"/>
              <a:t> == 0 &amp;&amp; *</a:t>
            </a:r>
            <a:r>
              <a:rPr lang="en-IN" dirty="0" err="1"/>
              <a:t>prear</a:t>
            </a:r>
            <a:r>
              <a:rPr lang="en-IN" dirty="0"/>
              <a:t> == MAX - 1)</a:t>
            </a:r>
          </a:p>
          <a:p>
            <a:r>
              <a:rPr lang="en-IN" dirty="0"/>
              <a:t> {</a:t>
            </a:r>
          </a:p>
          <a:p>
            <a:r>
              <a:rPr lang="en-IN" dirty="0"/>
              <a:t>    </a:t>
            </a:r>
            <a:r>
              <a:rPr lang="en-IN" dirty="0" err="1"/>
              <a:t>printf</a:t>
            </a:r>
            <a:r>
              <a:rPr lang="en-IN" dirty="0"/>
              <a:t>("\</a:t>
            </a:r>
            <a:r>
              <a:rPr lang="en-IN" dirty="0" err="1"/>
              <a:t>nDeque</a:t>
            </a:r>
            <a:r>
              <a:rPr lang="en-IN" dirty="0"/>
              <a:t> is full.\n");</a:t>
            </a:r>
          </a:p>
          <a:p>
            <a:r>
              <a:rPr lang="en-IN" dirty="0"/>
              <a:t>    return;</a:t>
            </a:r>
          </a:p>
          <a:p>
            <a:r>
              <a:rPr lang="en-IN" dirty="0"/>
              <a:t>  }</a:t>
            </a:r>
          </a:p>
          <a:p>
            <a:endParaRPr lang="en-IN" dirty="0"/>
          </a:p>
          <a:p>
            <a:r>
              <a:rPr lang="en-IN" dirty="0"/>
              <a:t>  if (*</a:t>
            </a:r>
            <a:r>
              <a:rPr lang="en-IN" dirty="0" err="1"/>
              <a:t>pfront</a:t>
            </a:r>
            <a:r>
              <a:rPr lang="en-IN" dirty="0"/>
              <a:t> == -1) </a:t>
            </a:r>
          </a:p>
          <a:p>
            <a:r>
              <a:rPr lang="en-IN" dirty="0"/>
              <a:t>{</a:t>
            </a:r>
          </a:p>
          <a:p>
            <a:r>
              <a:rPr lang="en-IN" dirty="0"/>
              <a:t>    *</a:t>
            </a:r>
            <a:r>
              <a:rPr lang="en-IN" dirty="0" err="1"/>
              <a:t>prear</a:t>
            </a:r>
            <a:r>
              <a:rPr lang="en-IN" dirty="0"/>
              <a:t> = *</a:t>
            </a:r>
            <a:r>
              <a:rPr lang="en-IN" dirty="0" err="1"/>
              <a:t>pfront</a:t>
            </a:r>
            <a:r>
              <a:rPr lang="en-IN" dirty="0"/>
              <a:t> = 0;</a:t>
            </a:r>
          </a:p>
          <a:p>
            <a:r>
              <a:rPr lang="en-IN" dirty="0"/>
              <a:t>    </a:t>
            </a:r>
            <a:r>
              <a:rPr lang="en-IN" dirty="0" err="1"/>
              <a:t>arr</a:t>
            </a:r>
            <a:r>
              <a:rPr lang="en-IN" dirty="0"/>
              <a:t>[*</a:t>
            </a:r>
            <a:r>
              <a:rPr lang="en-IN" dirty="0" err="1"/>
              <a:t>prear</a:t>
            </a:r>
            <a:r>
              <a:rPr lang="en-IN" dirty="0"/>
              <a:t>] = item;</a:t>
            </a:r>
          </a:p>
          <a:p>
            <a:r>
              <a:rPr lang="en-IN" dirty="0"/>
              <a:t>    return;</a:t>
            </a:r>
          </a:p>
          <a:p>
            <a:r>
              <a:rPr lang="en-IN" dirty="0"/>
              <a:t>  }</a:t>
            </a:r>
          </a:p>
          <a:p>
            <a:endParaRPr lang="en-IN" dirty="0"/>
          </a:p>
        </p:txBody>
      </p:sp>
      <p:sp>
        <p:nvSpPr>
          <p:cNvPr id="3" name="Rectangle 2"/>
          <p:cNvSpPr/>
          <p:nvPr/>
        </p:nvSpPr>
        <p:spPr>
          <a:xfrm>
            <a:off x="4283968" y="1305341"/>
            <a:ext cx="4572000" cy="4801314"/>
          </a:xfrm>
          <a:prstGeom prst="rect">
            <a:avLst/>
          </a:prstGeom>
        </p:spPr>
        <p:txBody>
          <a:bodyPr>
            <a:spAutoFit/>
          </a:bodyPr>
          <a:lstStyle/>
          <a:p>
            <a:r>
              <a:rPr lang="en-IN" dirty="0"/>
              <a:t> if (*</a:t>
            </a:r>
            <a:r>
              <a:rPr lang="en-IN" dirty="0" err="1"/>
              <a:t>prear</a:t>
            </a:r>
            <a:r>
              <a:rPr lang="en-IN" dirty="0"/>
              <a:t> == MAX - 1)</a:t>
            </a:r>
          </a:p>
          <a:p>
            <a:r>
              <a:rPr lang="en-IN" dirty="0"/>
              <a:t> {</a:t>
            </a:r>
          </a:p>
          <a:p>
            <a:r>
              <a:rPr lang="en-IN" dirty="0"/>
              <a:t>    k = *</a:t>
            </a:r>
            <a:r>
              <a:rPr lang="en-IN" dirty="0" err="1"/>
              <a:t>pfront</a:t>
            </a:r>
            <a:r>
              <a:rPr lang="en-IN" dirty="0"/>
              <a:t> - 1;</a:t>
            </a:r>
          </a:p>
          <a:p>
            <a:r>
              <a:rPr lang="en-IN" dirty="0"/>
              <a:t>    for (</a:t>
            </a:r>
            <a:r>
              <a:rPr lang="en-IN" dirty="0" err="1"/>
              <a:t>i</a:t>
            </a:r>
            <a:r>
              <a:rPr lang="en-IN" dirty="0"/>
              <a:t> = *</a:t>
            </a:r>
            <a:r>
              <a:rPr lang="en-IN" dirty="0" err="1"/>
              <a:t>pfront</a:t>
            </a:r>
            <a:r>
              <a:rPr lang="en-IN" dirty="0"/>
              <a:t> - 1; </a:t>
            </a:r>
            <a:r>
              <a:rPr lang="en-IN" dirty="0" err="1"/>
              <a:t>i</a:t>
            </a:r>
            <a:r>
              <a:rPr lang="en-IN" dirty="0"/>
              <a:t> &lt; *</a:t>
            </a:r>
            <a:r>
              <a:rPr lang="en-IN" dirty="0" err="1"/>
              <a:t>prear</a:t>
            </a:r>
            <a:r>
              <a:rPr lang="en-IN" dirty="0"/>
              <a:t>; </a:t>
            </a:r>
            <a:r>
              <a:rPr lang="en-IN" dirty="0" err="1"/>
              <a:t>i</a:t>
            </a:r>
            <a:r>
              <a:rPr lang="en-IN" dirty="0"/>
              <a:t>++) </a:t>
            </a:r>
          </a:p>
          <a:p>
            <a:r>
              <a:rPr lang="en-IN" dirty="0"/>
              <a:t>    {</a:t>
            </a:r>
          </a:p>
          <a:p>
            <a:r>
              <a:rPr lang="en-IN" dirty="0"/>
              <a:t>    	  k = </a:t>
            </a:r>
            <a:r>
              <a:rPr lang="en-IN" dirty="0" err="1"/>
              <a:t>i</a:t>
            </a:r>
            <a:r>
              <a:rPr lang="en-IN" dirty="0"/>
              <a:t>;</a:t>
            </a:r>
          </a:p>
          <a:p>
            <a:r>
              <a:rPr lang="en-IN" dirty="0"/>
              <a:t>                    if (k == MAX - 1)</a:t>
            </a:r>
          </a:p>
          <a:p>
            <a:r>
              <a:rPr lang="en-IN" dirty="0"/>
              <a:t>	        </a:t>
            </a:r>
            <a:r>
              <a:rPr lang="en-IN" dirty="0" err="1"/>
              <a:t>arr</a:t>
            </a:r>
            <a:r>
              <a:rPr lang="en-IN" dirty="0"/>
              <a:t>[k] = 0;</a:t>
            </a:r>
          </a:p>
          <a:p>
            <a:r>
              <a:rPr lang="en-IN" dirty="0"/>
              <a:t>                   else</a:t>
            </a:r>
          </a:p>
          <a:p>
            <a:r>
              <a:rPr lang="en-IN" dirty="0"/>
              <a:t>	        </a:t>
            </a:r>
            <a:r>
              <a:rPr lang="en-IN" dirty="0" err="1"/>
              <a:t>arr</a:t>
            </a:r>
            <a:r>
              <a:rPr lang="en-IN" dirty="0"/>
              <a:t>[k] = </a:t>
            </a:r>
            <a:r>
              <a:rPr lang="en-IN" dirty="0" err="1"/>
              <a:t>arr</a:t>
            </a:r>
            <a:r>
              <a:rPr lang="en-IN" dirty="0"/>
              <a:t>[</a:t>
            </a:r>
            <a:r>
              <a:rPr lang="en-IN" dirty="0" err="1"/>
              <a:t>i</a:t>
            </a:r>
            <a:r>
              <a:rPr lang="en-IN" dirty="0"/>
              <a:t> + 1];</a:t>
            </a:r>
          </a:p>
          <a:p>
            <a:r>
              <a:rPr lang="en-IN" dirty="0"/>
              <a:t>    }</a:t>
            </a:r>
          </a:p>
          <a:p>
            <a:r>
              <a:rPr lang="en-IN" dirty="0"/>
              <a:t>    (*</a:t>
            </a:r>
            <a:r>
              <a:rPr lang="en-IN" dirty="0" err="1"/>
              <a:t>prear</a:t>
            </a:r>
            <a:r>
              <a:rPr lang="en-IN" dirty="0"/>
              <a:t>)--;</a:t>
            </a:r>
          </a:p>
          <a:p>
            <a:r>
              <a:rPr lang="en-IN" dirty="0"/>
              <a:t>    (*</a:t>
            </a:r>
            <a:r>
              <a:rPr lang="en-IN" dirty="0" err="1"/>
              <a:t>pfront</a:t>
            </a:r>
            <a:r>
              <a:rPr lang="en-IN" dirty="0"/>
              <a:t>)--;</a:t>
            </a:r>
          </a:p>
          <a:p>
            <a:r>
              <a:rPr lang="en-IN" dirty="0"/>
              <a:t>  }</a:t>
            </a:r>
          </a:p>
          <a:p>
            <a:r>
              <a:rPr lang="en-IN" dirty="0"/>
              <a:t>  (*</a:t>
            </a:r>
            <a:r>
              <a:rPr lang="en-IN" dirty="0" err="1"/>
              <a:t>prear</a:t>
            </a:r>
            <a:r>
              <a:rPr lang="en-IN" dirty="0"/>
              <a:t>)++;</a:t>
            </a:r>
          </a:p>
          <a:p>
            <a:r>
              <a:rPr lang="en-IN" dirty="0"/>
              <a:t>  </a:t>
            </a:r>
            <a:r>
              <a:rPr lang="en-IN" dirty="0" err="1"/>
              <a:t>arr</a:t>
            </a:r>
            <a:r>
              <a:rPr lang="en-IN" dirty="0"/>
              <a:t>[*</a:t>
            </a:r>
            <a:r>
              <a:rPr lang="en-IN" dirty="0" err="1"/>
              <a:t>prear</a:t>
            </a:r>
            <a:r>
              <a:rPr lang="en-IN" dirty="0"/>
              <a:t>] = item;</a:t>
            </a:r>
          </a:p>
          <a:p>
            <a:r>
              <a:rPr lang="en-IN" dirty="0"/>
              <a:t>}</a:t>
            </a:r>
          </a:p>
        </p:txBody>
      </p:sp>
    </p:spTree>
    <p:extLst>
      <p:ext uri="{BB962C8B-B14F-4D97-AF65-F5344CB8AC3E}">
        <p14:creationId xmlns:p14="http://schemas.microsoft.com/office/powerpoint/2010/main" val="30981777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1640" y="404665"/>
            <a:ext cx="6462464" cy="5355312"/>
          </a:xfrm>
          <a:prstGeom prst="rect">
            <a:avLst/>
          </a:prstGeom>
        </p:spPr>
        <p:txBody>
          <a:bodyPr wrap="square">
            <a:spAutoFit/>
          </a:bodyPr>
          <a:lstStyle/>
          <a:p>
            <a:r>
              <a:rPr lang="en-IN" dirty="0" err="1"/>
              <a:t>int</a:t>
            </a:r>
            <a:r>
              <a:rPr lang="en-IN" dirty="0"/>
              <a:t> </a:t>
            </a:r>
            <a:r>
              <a:rPr lang="en-IN" dirty="0" err="1"/>
              <a:t>delFront</a:t>
            </a:r>
            <a:r>
              <a:rPr lang="en-IN" dirty="0"/>
              <a:t>(</a:t>
            </a:r>
            <a:r>
              <a:rPr lang="en-IN" dirty="0" err="1"/>
              <a:t>int</a:t>
            </a:r>
            <a:r>
              <a:rPr lang="en-IN" dirty="0"/>
              <a:t> *</a:t>
            </a:r>
            <a:r>
              <a:rPr lang="en-IN" dirty="0" err="1"/>
              <a:t>arr</a:t>
            </a:r>
            <a:r>
              <a:rPr lang="en-IN" dirty="0"/>
              <a:t>, </a:t>
            </a:r>
            <a:r>
              <a:rPr lang="en-IN" dirty="0" err="1"/>
              <a:t>int</a:t>
            </a:r>
            <a:r>
              <a:rPr lang="en-IN" dirty="0"/>
              <a:t> *</a:t>
            </a:r>
            <a:r>
              <a:rPr lang="en-IN" dirty="0" err="1"/>
              <a:t>pfront</a:t>
            </a:r>
            <a:r>
              <a:rPr lang="en-IN" dirty="0"/>
              <a:t>, </a:t>
            </a:r>
            <a:r>
              <a:rPr lang="en-IN" dirty="0" err="1"/>
              <a:t>int</a:t>
            </a:r>
            <a:r>
              <a:rPr lang="en-IN" dirty="0"/>
              <a:t> *</a:t>
            </a:r>
            <a:r>
              <a:rPr lang="en-IN" dirty="0" err="1"/>
              <a:t>prear</a:t>
            </a:r>
            <a:r>
              <a:rPr lang="en-IN" dirty="0"/>
              <a:t>) {</a:t>
            </a:r>
          </a:p>
          <a:p>
            <a:r>
              <a:rPr lang="en-IN" dirty="0"/>
              <a:t>  </a:t>
            </a:r>
            <a:r>
              <a:rPr lang="en-IN" dirty="0" err="1"/>
              <a:t>int</a:t>
            </a:r>
            <a:r>
              <a:rPr lang="en-IN" dirty="0"/>
              <a:t> item;</a:t>
            </a:r>
          </a:p>
          <a:p>
            <a:r>
              <a:rPr lang="en-IN" dirty="0"/>
              <a:t> </a:t>
            </a:r>
          </a:p>
          <a:p>
            <a:r>
              <a:rPr lang="en-IN" dirty="0"/>
              <a:t>  if (*</a:t>
            </a:r>
            <a:r>
              <a:rPr lang="en-IN" dirty="0" err="1"/>
              <a:t>pfront</a:t>
            </a:r>
            <a:r>
              <a:rPr lang="en-IN" dirty="0"/>
              <a:t> == -1)</a:t>
            </a:r>
          </a:p>
          <a:p>
            <a:r>
              <a:rPr lang="en-IN" dirty="0"/>
              <a:t> {</a:t>
            </a:r>
          </a:p>
          <a:p>
            <a:r>
              <a:rPr lang="en-IN" dirty="0"/>
              <a:t>    </a:t>
            </a:r>
            <a:r>
              <a:rPr lang="en-IN" dirty="0" err="1"/>
              <a:t>printf</a:t>
            </a:r>
            <a:r>
              <a:rPr lang="en-IN" dirty="0"/>
              <a:t>("\</a:t>
            </a:r>
            <a:r>
              <a:rPr lang="en-IN" dirty="0" err="1"/>
              <a:t>nDeque</a:t>
            </a:r>
            <a:r>
              <a:rPr lang="en-IN" dirty="0"/>
              <a:t> is empty.\n");</a:t>
            </a:r>
          </a:p>
          <a:p>
            <a:r>
              <a:rPr lang="en-IN" dirty="0"/>
              <a:t>    return 0;</a:t>
            </a:r>
          </a:p>
          <a:p>
            <a:r>
              <a:rPr lang="en-IN" dirty="0"/>
              <a:t>  }</a:t>
            </a:r>
          </a:p>
          <a:p>
            <a:r>
              <a:rPr lang="en-IN" dirty="0"/>
              <a:t> </a:t>
            </a:r>
          </a:p>
          <a:p>
            <a:r>
              <a:rPr lang="en-IN" dirty="0"/>
              <a:t>  item = </a:t>
            </a:r>
            <a:r>
              <a:rPr lang="en-IN" dirty="0" err="1"/>
              <a:t>arr</a:t>
            </a:r>
            <a:r>
              <a:rPr lang="en-IN" dirty="0"/>
              <a:t>[*</a:t>
            </a:r>
            <a:r>
              <a:rPr lang="en-IN" dirty="0" err="1"/>
              <a:t>pfront</a:t>
            </a:r>
            <a:r>
              <a:rPr lang="en-IN" dirty="0"/>
              <a:t>];</a:t>
            </a:r>
          </a:p>
          <a:p>
            <a:r>
              <a:rPr lang="en-IN" dirty="0"/>
              <a:t>  </a:t>
            </a:r>
            <a:r>
              <a:rPr lang="en-IN" dirty="0" err="1"/>
              <a:t>arr</a:t>
            </a:r>
            <a:r>
              <a:rPr lang="en-IN" dirty="0"/>
              <a:t>[*</a:t>
            </a:r>
            <a:r>
              <a:rPr lang="en-IN" dirty="0" err="1"/>
              <a:t>pfront</a:t>
            </a:r>
            <a:r>
              <a:rPr lang="en-IN" dirty="0"/>
              <a:t>] = 0;</a:t>
            </a:r>
          </a:p>
          <a:p>
            <a:r>
              <a:rPr lang="en-IN" dirty="0"/>
              <a:t> </a:t>
            </a:r>
          </a:p>
          <a:p>
            <a:r>
              <a:rPr lang="en-IN" dirty="0"/>
              <a:t>  if (*</a:t>
            </a:r>
            <a:r>
              <a:rPr lang="en-IN" dirty="0" err="1"/>
              <a:t>pfront</a:t>
            </a:r>
            <a:r>
              <a:rPr lang="en-IN" dirty="0"/>
              <a:t> == *</a:t>
            </a:r>
            <a:r>
              <a:rPr lang="en-IN" dirty="0" err="1"/>
              <a:t>prear</a:t>
            </a:r>
            <a:r>
              <a:rPr lang="en-IN" dirty="0"/>
              <a:t>)</a:t>
            </a:r>
          </a:p>
          <a:p>
            <a:r>
              <a:rPr lang="en-IN" dirty="0"/>
              <a:t>    *</a:t>
            </a:r>
            <a:r>
              <a:rPr lang="en-IN" dirty="0" err="1"/>
              <a:t>pfront</a:t>
            </a:r>
            <a:r>
              <a:rPr lang="en-IN" dirty="0"/>
              <a:t> = *</a:t>
            </a:r>
            <a:r>
              <a:rPr lang="en-IN" dirty="0" err="1"/>
              <a:t>prear</a:t>
            </a:r>
            <a:r>
              <a:rPr lang="en-IN" dirty="0"/>
              <a:t> = -1;</a:t>
            </a:r>
          </a:p>
          <a:p>
            <a:r>
              <a:rPr lang="en-IN" dirty="0"/>
              <a:t>  else</a:t>
            </a:r>
          </a:p>
          <a:p>
            <a:r>
              <a:rPr lang="en-IN" dirty="0"/>
              <a:t>    (*</a:t>
            </a:r>
            <a:r>
              <a:rPr lang="en-IN" dirty="0" err="1"/>
              <a:t>pfront</a:t>
            </a:r>
            <a:r>
              <a:rPr lang="en-IN" dirty="0"/>
              <a:t>)++;</a:t>
            </a:r>
          </a:p>
          <a:p>
            <a:r>
              <a:rPr lang="en-IN" dirty="0"/>
              <a:t> </a:t>
            </a:r>
          </a:p>
          <a:p>
            <a:r>
              <a:rPr lang="en-IN" dirty="0"/>
              <a:t>  return item;</a:t>
            </a:r>
          </a:p>
          <a:p>
            <a:r>
              <a:rPr lang="en-IN" dirty="0"/>
              <a:t>}</a:t>
            </a:r>
          </a:p>
        </p:txBody>
      </p:sp>
    </p:spTree>
    <p:extLst>
      <p:ext uri="{BB962C8B-B14F-4D97-AF65-F5344CB8AC3E}">
        <p14:creationId xmlns:p14="http://schemas.microsoft.com/office/powerpoint/2010/main" val="38014399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9512" y="620688"/>
            <a:ext cx="4572000" cy="4801314"/>
          </a:xfrm>
          <a:prstGeom prst="rect">
            <a:avLst/>
          </a:prstGeom>
        </p:spPr>
        <p:txBody>
          <a:bodyPr>
            <a:spAutoFit/>
          </a:bodyPr>
          <a:lstStyle/>
          <a:p>
            <a:endParaRPr lang="en-IN" dirty="0"/>
          </a:p>
          <a:p>
            <a:r>
              <a:rPr lang="en-IN" dirty="0" err="1"/>
              <a:t>int</a:t>
            </a:r>
            <a:r>
              <a:rPr lang="en-IN" dirty="0"/>
              <a:t> </a:t>
            </a:r>
            <a:r>
              <a:rPr lang="en-IN" dirty="0" err="1"/>
              <a:t>delRear</a:t>
            </a:r>
            <a:r>
              <a:rPr lang="en-IN" dirty="0"/>
              <a:t>(</a:t>
            </a:r>
            <a:r>
              <a:rPr lang="en-IN" dirty="0" err="1"/>
              <a:t>int</a:t>
            </a:r>
            <a:r>
              <a:rPr lang="en-IN" dirty="0"/>
              <a:t> *</a:t>
            </a:r>
            <a:r>
              <a:rPr lang="en-IN" dirty="0" err="1"/>
              <a:t>arr</a:t>
            </a:r>
            <a:r>
              <a:rPr lang="en-IN" dirty="0"/>
              <a:t>, </a:t>
            </a:r>
            <a:r>
              <a:rPr lang="en-IN" dirty="0" err="1"/>
              <a:t>int</a:t>
            </a:r>
            <a:r>
              <a:rPr lang="en-IN" dirty="0"/>
              <a:t> *</a:t>
            </a:r>
            <a:r>
              <a:rPr lang="en-IN" dirty="0" err="1"/>
              <a:t>pfront</a:t>
            </a:r>
            <a:r>
              <a:rPr lang="en-IN" dirty="0"/>
              <a:t>, </a:t>
            </a:r>
            <a:r>
              <a:rPr lang="en-IN" dirty="0" err="1"/>
              <a:t>int</a:t>
            </a:r>
            <a:r>
              <a:rPr lang="en-IN" dirty="0"/>
              <a:t> *</a:t>
            </a:r>
            <a:r>
              <a:rPr lang="en-IN" dirty="0" err="1"/>
              <a:t>prear</a:t>
            </a:r>
            <a:r>
              <a:rPr lang="en-IN" dirty="0"/>
              <a:t>) </a:t>
            </a:r>
          </a:p>
          <a:p>
            <a:r>
              <a:rPr lang="en-IN" dirty="0"/>
              <a:t>{</a:t>
            </a:r>
          </a:p>
          <a:p>
            <a:r>
              <a:rPr lang="en-IN" dirty="0"/>
              <a:t>  </a:t>
            </a:r>
            <a:r>
              <a:rPr lang="en-IN" dirty="0" err="1"/>
              <a:t>int</a:t>
            </a:r>
            <a:r>
              <a:rPr lang="en-IN" dirty="0"/>
              <a:t> item;</a:t>
            </a:r>
          </a:p>
          <a:p>
            <a:endParaRPr lang="en-IN" dirty="0"/>
          </a:p>
          <a:p>
            <a:r>
              <a:rPr lang="en-IN" dirty="0"/>
              <a:t>  if (*</a:t>
            </a:r>
            <a:r>
              <a:rPr lang="en-IN" dirty="0" err="1"/>
              <a:t>pfront</a:t>
            </a:r>
            <a:r>
              <a:rPr lang="en-IN" dirty="0"/>
              <a:t> == -1) {</a:t>
            </a:r>
          </a:p>
          <a:p>
            <a:r>
              <a:rPr lang="en-IN" dirty="0"/>
              <a:t>    </a:t>
            </a:r>
            <a:r>
              <a:rPr lang="en-IN" dirty="0" err="1"/>
              <a:t>printf</a:t>
            </a:r>
            <a:r>
              <a:rPr lang="en-IN" dirty="0"/>
              <a:t>("\</a:t>
            </a:r>
            <a:r>
              <a:rPr lang="en-IN" dirty="0" err="1"/>
              <a:t>nDeque</a:t>
            </a:r>
            <a:r>
              <a:rPr lang="en-IN" dirty="0"/>
              <a:t> is empty.\n");</a:t>
            </a:r>
          </a:p>
          <a:p>
            <a:r>
              <a:rPr lang="en-IN" dirty="0"/>
              <a:t>    return 0;</a:t>
            </a:r>
          </a:p>
          <a:p>
            <a:r>
              <a:rPr lang="en-IN" dirty="0"/>
              <a:t>  }</a:t>
            </a:r>
          </a:p>
          <a:p>
            <a:endParaRPr lang="en-IN" dirty="0"/>
          </a:p>
          <a:p>
            <a:r>
              <a:rPr lang="en-IN" dirty="0"/>
              <a:t>  item = </a:t>
            </a:r>
            <a:r>
              <a:rPr lang="en-IN" dirty="0" err="1"/>
              <a:t>arr</a:t>
            </a:r>
            <a:r>
              <a:rPr lang="en-IN" dirty="0"/>
              <a:t>[*</a:t>
            </a:r>
            <a:r>
              <a:rPr lang="en-IN" dirty="0" err="1"/>
              <a:t>prear</a:t>
            </a:r>
            <a:r>
              <a:rPr lang="en-IN" dirty="0"/>
              <a:t>];</a:t>
            </a:r>
          </a:p>
          <a:p>
            <a:r>
              <a:rPr lang="en-IN" dirty="0"/>
              <a:t>  </a:t>
            </a:r>
            <a:r>
              <a:rPr lang="en-IN" dirty="0" err="1"/>
              <a:t>arr</a:t>
            </a:r>
            <a:r>
              <a:rPr lang="en-IN" dirty="0"/>
              <a:t>[*</a:t>
            </a:r>
            <a:r>
              <a:rPr lang="en-IN" dirty="0" err="1"/>
              <a:t>prear</a:t>
            </a:r>
            <a:r>
              <a:rPr lang="en-IN" dirty="0"/>
              <a:t>] = 0;</a:t>
            </a:r>
          </a:p>
          <a:p>
            <a:r>
              <a:rPr lang="en-IN" dirty="0"/>
              <a:t>  (*</a:t>
            </a:r>
            <a:r>
              <a:rPr lang="en-IN" dirty="0" err="1"/>
              <a:t>prear</a:t>
            </a:r>
            <a:r>
              <a:rPr lang="en-IN" dirty="0"/>
              <a:t>)--;</a:t>
            </a:r>
          </a:p>
          <a:p>
            <a:r>
              <a:rPr lang="en-IN" dirty="0"/>
              <a:t>  if (*</a:t>
            </a:r>
            <a:r>
              <a:rPr lang="en-IN" dirty="0" err="1"/>
              <a:t>prear</a:t>
            </a:r>
            <a:r>
              <a:rPr lang="en-IN" dirty="0"/>
              <a:t> == -1)</a:t>
            </a:r>
          </a:p>
          <a:p>
            <a:r>
              <a:rPr lang="en-IN" dirty="0"/>
              <a:t>    *</a:t>
            </a:r>
            <a:r>
              <a:rPr lang="en-IN" dirty="0" err="1"/>
              <a:t>pfront</a:t>
            </a:r>
            <a:r>
              <a:rPr lang="en-IN" dirty="0"/>
              <a:t> = -1;</a:t>
            </a:r>
          </a:p>
          <a:p>
            <a:r>
              <a:rPr lang="en-IN" dirty="0"/>
              <a:t>  return item;</a:t>
            </a:r>
          </a:p>
          <a:p>
            <a:r>
              <a:rPr lang="en-IN" dirty="0"/>
              <a:t>}</a:t>
            </a:r>
          </a:p>
        </p:txBody>
      </p:sp>
      <p:sp>
        <p:nvSpPr>
          <p:cNvPr id="3" name="Rectangle 2"/>
          <p:cNvSpPr/>
          <p:nvPr/>
        </p:nvSpPr>
        <p:spPr>
          <a:xfrm>
            <a:off x="4427984" y="620688"/>
            <a:ext cx="4901600" cy="5632311"/>
          </a:xfrm>
          <a:prstGeom prst="rect">
            <a:avLst/>
          </a:prstGeom>
        </p:spPr>
        <p:txBody>
          <a:bodyPr wrap="square">
            <a:spAutoFit/>
          </a:bodyPr>
          <a:lstStyle/>
          <a:p>
            <a:r>
              <a:rPr lang="en-IN" dirty="0"/>
              <a:t>void display(</a:t>
            </a:r>
            <a:r>
              <a:rPr lang="en-IN" dirty="0" err="1"/>
              <a:t>int</a:t>
            </a:r>
            <a:r>
              <a:rPr lang="en-IN" dirty="0"/>
              <a:t> *</a:t>
            </a:r>
            <a:r>
              <a:rPr lang="en-IN" dirty="0" err="1"/>
              <a:t>arr</a:t>
            </a:r>
            <a:r>
              <a:rPr lang="en-IN" dirty="0"/>
              <a:t>)</a:t>
            </a:r>
          </a:p>
          <a:p>
            <a:r>
              <a:rPr lang="en-IN" dirty="0"/>
              <a:t> {</a:t>
            </a:r>
          </a:p>
          <a:p>
            <a:r>
              <a:rPr lang="en-IN" dirty="0"/>
              <a:t>  </a:t>
            </a:r>
            <a:r>
              <a:rPr lang="en-IN" dirty="0" err="1"/>
              <a:t>int</a:t>
            </a:r>
            <a:r>
              <a:rPr lang="en-IN" dirty="0"/>
              <a:t> </a:t>
            </a:r>
            <a:r>
              <a:rPr lang="en-IN" dirty="0" err="1"/>
              <a:t>i</a:t>
            </a:r>
            <a:r>
              <a:rPr lang="en-IN" dirty="0"/>
              <a:t>;</a:t>
            </a:r>
          </a:p>
          <a:p>
            <a:endParaRPr lang="en-IN" dirty="0"/>
          </a:p>
          <a:p>
            <a:r>
              <a:rPr lang="en-IN" dirty="0"/>
              <a:t>  </a:t>
            </a:r>
            <a:r>
              <a:rPr lang="en-IN" dirty="0" err="1"/>
              <a:t>printf</a:t>
            </a:r>
            <a:r>
              <a:rPr lang="en-IN" dirty="0"/>
              <a:t>("\n front:  ");</a:t>
            </a:r>
          </a:p>
          <a:p>
            <a:r>
              <a:rPr lang="en-IN" dirty="0"/>
              <a:t>  for (</a:t>
            </a:r>
            <a:r>
              <a:rPr lang="en-IN" dirty="0" err="1"/>
              <a:t>i</a:t>
            </a:r>
            <a:r>
              <a:rPr lang="en-IN" dirty="0"/>
              <a:t> = 0; </a:t>
            </a:r>
            <a:r>
              <a:rPr lang="en-IN" dirty="0" err="1"/>
              <a:t>i</a:t>
            </a:r>
            <a:r>
              <a:rPr lang="en-IN" dirty="0"/>
              <a:t> &lt; MAX; </a:t>
            </a:r>
            <a:r>
              <a:rPr lang="en-IN" dirty="0" err="1"/>
              <a:t>i</a:t>
            </a:r>
            <a:r>
              <a:rPr lang="en-IN" dirty="0"/>
              <a:t>++)</a:t>
            </a:r>
          </a:p>
          <a:p>
            <a:r>
              <a:rPr lang="en-IN" dirty="0"/>
              <a:t>    </a:t>
            </a:r>
            <a:r>
              <a:rPr lang="en-IN" dirty="0" err="1"/>
              <a:t>printf</a:t>
            </a:r>
            <a:r>
              <a:rPr lang="en-IN" dirty="0"/>
              <a:t>("  %d", </a:t>
            </a:r>
            <a:r>
              <a:rPr lang="en-IN" dirty="0" err="1"/>
              <a:t>arr</a:t>
            </a:r>
            <a:r>
              <a:rPr lang="en-IN" dirty="0"/>
              <a:t>[</a:t>
            </a:r>
            <a:r>
              <a:rPr lang="en-IN" dirty="0" err="1"/>
              <a:t>i</a:t>
            </a:r>
            <a:r>
              <a:rPr lang="en-IN" dirty="0"/>
              <a:t>]);</a:t>
            </a:r>
          </a:p>
          <a:p>
            <a:r>
              <a:rPr lang="en-IN" dirty="0"/>
              <a:t>  </a:t>
            </a:r>
            <a:r>
              <a:rPr lang="en-IN" dirty="0" err="1"/>
              <a:t>printf</a:t>
            </a:r>
            <a:r>
              <a:rPr lang="en-IN" dirty="0"/>
              <a:t>("  :rear");</a:t>
            </a:r>
          </a:p>
          <a:p>
            <a:r>
              <a:rPr lang="en-IN" dirty="0"/>
              <a:t>}</a:t>
            </a:r>
          </a:p>
          <a:p>
            <a:endParaRPr lang="en-IN" dirty="0"/>
          </a:p>
          <a:p>
            <a:r>
              <a:rPr lang="en-IN" dirty="0" err="1"/>
              <a:t>int</a:t>
            </a:r>
            <a:r>
              <a:rPr lang="en-IN" dirty="0"/>
              <a:t> count(</a:t>
            </a:r>
            <a:r>
              <a:rPr lang="en-IN" dirty="0" err="1"/>
              <a:t>int</a:t>
            </a:r>
            <a:r>
              <a:rPr lang="en-IN" dirty="0"/>
              <a:t> *</a:t>
            </a:r>
            <a:r>
              <a:rPr lang="en-IN" dirty="0" err="1"/>
              <a:t>arr</a:t>
            </a:r>
            <a:r>
              <a:rPr lang="en-IN" dirty="0"/>
              <a:t>) </a:t>
            </a:r>
          </a:p>
          <a:p>
            <a:r>
              <a:rPr lang="en-IN" dirty="0"/>
              <a:t>{</a:t>
            </a:r>
          </a:p>
          <a:p>
            <a:r>
              <a:rPr lang="en-IN" dirty="0"/>
              <a:t>   </a:t>
            </a:r>
            <a:r>
              <a:rPr lang="en-IN" dirty="0" err="1"/>
              <a:t>int</a:t>
            </a:r>
            <a:r>
              <a:rPr lang="en-IN" dirty="0"/>
              <a:t> c = 0, </a:t>
            </a:r>
            <a:r>
              <a:rPr lang="en-IN" dirty="0" err="1"/>
              <a:t>i</a:t>
            </a:r>
            <a:r>
              <a:rPr lang="en-IN" dirty="0"/>
              <a:t>;</a:t>
            </a:r>
          </a:p>
          <a:p>
            <a:r>
              <a:rPr lang="en-IN" dirty="0"/>
              <a:t>  for (</a:t>
            </a:r>
            <a:r>
              <a:rPr lang="en-IN" dirty="0" err="1"/>
              <a:t>i</a:t>
            </a:r>
            <a:r>
              <a:rPr lang="en-IN" dirty="0"/>
              <a:t> = 0; </a:t>
            </a:r>
            <a:r>
              <a:rPr lang="en-IN" dirty="0" err="1"/>
              <a:t>i</a:t>
            </a:r>
            <a:r>
              <a:rPr lang="en-IN" dirty="0"/>
              <a:t> &lt; MAX; </a:t>
            </a:r>
            <a:r>
              <a:rPr lang="en-IN" dirty="0" err="1"/>
              <a:t>i</a:t>
            </a:r>
            <a:r>
              <a:rPr lang="en-IN" dirty="0"/>
              <a:t>++) </a:t>
            </a:r>
          </a:p>
          <a:p>
            <a:r>
              <a:rPr lang="en-IN" dirty="0"/>
              <a:t>  {</a:t>
            </a:r>
          </a:p>
          <a:p>
            <a:r>
              <a:rPr lang="en-IN" dirty="0"/>
              <a:t>    if (</a:t>
            </a:r>
            <a:r>
              <a:rPr lang="en-IN" dirty="0" err="1"/>
              <a:t>arr</a:t>
            </a:r>
            <a:r>
              <a:rPr lang="en-IN" dirty="0"/>
              <a:t>[</a:t>
            </a:r>
            <a:r>
              <a:rPr lang="en-IN" dirty="0" err="1"/>
              <a:t>i</a:t>
            </a:r>
            <a:r>
              <a:rPr lang="en-IN" dirty="0"/>
              <a:t>] != 0)</a:t>
            </a:r>
          </a:p>
          <a:p>
            <a:r>
              <a:rPr lang="en-IN" dirty="0"/>
              <a:t>      </a:t>
            </a:r>
            <a:r>
              <a:rPr lang="en-IN" dirty="0" err="1"/>
              <a:t>c++</a:t>
            </a:r>
            <a:r>
              <a:rPr lang="en-IN" dirty="0"/>
              <a:t>;</a:t>
            </a:r>
          </a:p>
          <a:p>
            <a:r>
              <a:rPr lang="en-IN" dirty="0"/>
              <a:t>  }</a:t>
            </a:r>
          </a:p>
          <a:p>
            <a:r>
              <a:rPr lang="en-IN" dirty="0"/>
              <a:t>  return c;</a:t>
            </a:r>
          </a:p>
          <a:p>
            <a:r>
              <a:rPr lang="en-IN" dirty="0"/>
              <a:t>}</a:t>
            </a:r>
          </a:p>
        </p:txBody>
      </p:sp>
    </p:spTree>
    <p:extLst>
      <p:ext uri="{BB962C8B-B14F-4D97-AF65-F5344CB8AC3E}">
        <p14:creationId xmlns:p14="http://schemas.microsoft.com/office/powerpoint/2010/main" val="13647738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2264</TotalTime>
  <Words>1811</Words>
  <Application>Microsoft Office PowerPoint</Application>
  <PresentationFormat>On-screen Show (4:3)</PresentationFormat>
  <Paragraphs>371</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Circular Queues  and  Double ended Queues</vt:lpstr>
      <vt:lpstr>Circular Queue</vt:lpstr>
      <vt:lpstr>PowerPoint Presentation</vt:lpstr>
      <vt:lpstr>How Circular Queue Works ?</vt:lpstr>
      <vt:lpstr>Circular Queue Operations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Double Ended Queues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Circular Queues  and  Double ended Queues</dc:title>
  <dc:creator>Admin</dc:creator>
  <cp:lastModifiedBy>HP</cp:lastModifiedBy>
  <cp:revision>32</cp:revision>
  <dcterms:created xsi:type="dcterms:W3CDTF">2021-03-02T10:10:59Z</dcterms:created>
  <dcterms:modified xsi:type="dcterms:W3CDTF">2023-03-19T11:36:59Z</dcterms:modified>
</cp:coreProperties>
</file>