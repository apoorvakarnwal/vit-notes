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8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7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33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84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24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86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6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5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1898F-CD24-4CFC-9932-90788C1510B5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3CE46-32F6-43A7-BD95-3CEFC8263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8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Expression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69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964488" cy="57935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en-US" sz="3400" dirty="0"/>
              <a:t>. While there are still tokens to be read in,</a:t>
            </a:r>
          </a:p>
          <a:p>
            <a:pPr marL="0" indent="0">
              <a:buNone/>
            </a:pPr>
            <a:r>
              <a:rPr lang="en-US" sz="3400" dirty="0"/>
              <a:t>   1.1 Get the next token.</a:t>
            </a:r>
          </a:p>
          <a:p>
            <a:pPr marL="0" indent="0">
              <a:buNone/>
            </a:pPr>
            <a:r>
              <a:rPr lang="en-US" sz="3400" dirty="0"/>
              <a:t>   1.2 If the token is:</a:t>
            </a:r>
          </a:p>
          <a:p>
            <a:pPr marL="0" indent="0">
              <a:buNone/>
            </a:pPr>
            <a:r>
              <a:rPr lang="en-US" sz="3400" dirty="0"/>
              <a:t>       1.2.1 A </a:t>
            </a:r>
            <a:r>
              <a:rPr lang="en-US" sz="3400" b="1" dirty="0">
                <a:solidFill>
                  <a:srgbClr val="FF0000"/>
                </a:solidFill>
              </a:rPr>
              <a:t>number</a:t>
            </a:r>
            <a:r>
              <a:rPr lang="en-US" sz="3400" dirty="0"/>
              <a:t>: </a:t>
            </a:r>
            <a:r>
              <a:rPr lang="en-US" sz="3400" b="1" dirty="0">
                <a:solidFill>
                  <a:srgbClr val="003399"/>
                </a:solidFill>
              </a:rPr>
              <a:t>push</a:t>
            </a:r>
            <a:r>
              <a:rPr lang="en-US" sz="3400" dirty="0"/>
              <a:t> it onto the value stack.</a:t>
            </a:r>
          </a:p>
          <a:p>
            <a:pPr marL="0" indent="0">
              <a:buNone/>
            </a:pPr>
            <a:r>
              <a:rPr lang="en-US" sz="3400" dirty="0"/>
              <a:t>       1.2.2 A </a:t>
            </a:r>
            <a:r>
              <a:rPr lang="en-US" sz="3400" b="1" dirty="0">
                <a:solidFill>
                  <a:srgbClr val="FF0000"/>
                </a:solidFill>
              </a:rPr>
              <a:t>variable</a:t>
            </a:r>
            <a:r>
              <a:rPr lang="en-US" sz="3400" dirty="0"/>
              <a:t>: </a:t>
            </a:r>
            <a:r>
              <a:rPr lang="en-US" sz="3400" b="1" dirty="0">
                <a:solidFill>
                  <a:srgbClr val="003399"/>
                </a:solidFill>
              </a:rPr>
              <a:t>get its value, and push </a:t>
            </a:r>
            <a:r>
              <a:rPr lang="en-US" sz="3400" dirty="0"/>
              <a:t>onto the value stack.</a:t>
            </a:r>
          </a:p>
          <a:p>
            <a:pPr marL="0" indent="0">
              <a:buNone/>
            </a:pPr>
            <a:r>
              <a:rPr lang="en-US" sz="3400" dirty="0"/>
              <a:t>       1.2.3 A </a:t>
            </a:r>
            <a:r>
              <a:rPr lang="en-US" sz="3400" b="1" dirty="0">
                <a:solidFill>
                  <a:srgbClr val="FF0000"/>
                </a:solidFill>
              </a:rPr>
              <a:t>left parenthesis</a:t>
            </a:r>
            <a:r>
              <a:rPr lang="en-US" sz="3400" dirty="0"/>
              <a:t>: </a:t>
            </a:r>
            <a:r>
              <a:rPr lang="en-US" sz="3400" b="1" dirty="0">
                <a:solidFill>
                  <a:srgbClr val="003399"/>
                </a:solidFill>
              </a:rPr>
              <a:t>push</a:t>
            </a:r>
            <a:r>
              <a:rPr lang="en-US" sz="3400" dirty="0"/>
              <a:t> it onto the operator stack.</a:t>
            </a:r>
          </a:p>
          <a:p>
            <a:pPr marL="0" indent="0">
              <a:buNone/>
            </a:pPr>
            <a:r>
              <a:rPr lang="en-US" sz="3400" dirty="0"/>
              <a:t>       1.2.4 A </a:t>
            </a:r>
            <a:r>
              <a:rPr lang="en-US" sz="3400" b="1" dirty="0">
                <a:solidFill>
                  <a:srgbClr val="FF0000"/>
                </a:solidFill>
              </a:rPr>
              <a:t>right parenthesis</a:t>
            </a:r>
            <a:r>
              <a:rPr lang="en-US" sz="3400" dirty="0"/>
              <a:t>:</a:t>
            </a:r>
          </a:p>
          <a:p>
            <a:pPr marL="0" indent="0">
              <a:buNone/>
            </a:pPr>
            <a:r>
              <a:rPr lang="en-US" sz="3400" dirty="0"/>
              <a:t>         A) While the thing on top of the operator stack is not a </a:t>
            </a:r>
          </a:p>
          <a:p>
            <a:pPr marL="0" indent="0">
              <a:buNone/>
            </a:pPr>
            <a:r>
              <a:rPr lang="en-US" sz="3400" dirty="0"/>
              <a:t>           left parenthesis,</a:t>
            </a:r>
          </a:p>
          <a:p>
            <a:pPr marL="0" indent="0">
              <a:buNone/>
            </a:pPr>
            <a:r>
              <a:rPr lang="en-US" sz="3400" dirty="0"/>
              <a:t>             </a:t>
            </a:r>
            <a:r>
              <a:rPr lang="en-US" sz="3100" dirty="0"/>
              <a:t>a</a:t>
            </a:r>
            <a:r>
              <a:rPr lang="en-US" sz="3100" b="1" dirty="0"/>
              <a:t>. Pop the operator </a:t>
            </a:r>
            <a:r>
              <a:rPr lang="en-US" sz="3100" dirty="0"/>
              <a:t>from the operator stack.</a:t>
            </a:r>
          </a:p>
          <a:p>
            <a:pPr marL="0" indent="0">
              <a:buNone/>
            </a:pPr>
            <a:r>
              <a:rPr lang="en-US" sz="3100" dirty="0"/>
              <a:t>              b</a:t>
            </a:r>
            <a:r>
              <a:rPr lang="en-US" sz="3100" b="1" dirty="0">
                <a:solidFill>
                  <a:srgbClr val="003399"/>
                </a:solidFill>
              </a:rPr>
              <a:t>. Pop the value stack twice</a:t>
            </a:r>
            <a:r>
              <a:rPr lang="en-US" sz="3100" dirty="0"/>
              <a:t>, getting two operands.</a:t>
            </a:r>
          </a:p>
          <a:p>
            <a:pPr marL="0" indent="0">
              <a:buNone/>
            </a:pPr>
            <a:r>
              <a:rPr lang="en-US" sz="3100" dirty="0"/>
              <a:t>              c. </a:t>
            </a:r>
            <a:r>
              <a:rPr lang="en-US" sz="3100" b="1" dirty="0">
                <a:solidFill>
                  <a:srgbClr val="003399"/>
                </a:solidFill>
              </a:rPr>
              <a:t>Apply</a:t>
            </a:r>
            <a:r>
              <a:rPr lang="en-US" sz="3100" dirty="0"/>
              <a:t> the operator to the operands, in the correct order.</a:t>
            </a:r>
          </a:p>
          <a:p>
            <a:pPr marL="0" indent="0">
              <a:buNone/>
            </a:pPr>
            <a:r>
              <a:rPr lang="en-US" sz="3100" dirty="0"/>
              <a:t>              d. Push the result onto the value stack.</a:t>
            </a:r>
          </a:p>
          <a:p>
            <a:pPr marL="0" indent="0">
              <a:buNone/>
            </a:pPr>
            <a:r>
              <a:rPr lang="en-US" sz="3400" dirty="0"/>
              <a:t>        B) </a:t>
            </a:r>
            <a:r>
              <a:rPr lang="en-US" sz="3400" b="1" dirty="0">
                <a:solidFill>
                  <a:srgbClr val="003399"/>
                </a:solidFill>
              </a:rPr>
              <a:t>Pop the left parenthesis </a:t>
            </a:r>
            <a:r>
              <a:rPr lang="en-US" sz="3400" dirty="0"/>
              <a:t>from the operator stack, and </a:t>
            </a:r>
            <a:r>
              <a:rPr lang="en-US" sz="3400" b="1" dirty="0">
                <a:solidFill>
                  <a:srgbClr val="003399"/>
                </a:solidFill>
              </a:rPr>
              <a:t>discard it.</a:t>
            </a:r>
            <a:endParaRPr lang="en-IN" sz="3400" b="1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81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60648"/>
            <a:ext cx="8928992" cy="5865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1.2.5 An </a:t>
            </a:r>
            <a:r>
              <a:rPr lang="en-US" b="1" dirty="0">
                <a:solidFill>
                  <a:srgbClr val="FF0000"/>
                </a:solidFill>
              </a:rPr>
              <a:t>operator</a:t>
            </a:r>
            <a:r>
              <a:rPr lang="en-US" dirty="0"/>
              <a:t> (call it this Op):</a:t>
            </a:r>
          </a:p>
          <a:p>
            <a:pPr marL="0" indent="0">
              <a:buNone/>
            </a:pPr>
            <a:r>
              <a:rPr lang="en-US" dirty="0"/>
              <a:t>   a) While the operator stack is not empty, and the top thing on the  operator stack has the </a:t>
            </a:r>
            <a:r>
              <a:rPr lang="en-US" b="1" dirty="0">
                <a:solidFill>
                  <a:srgbClr val="003399"/>
                </a:solidFill>
              </a:rPr>
              <a:t>same or greater precedence </a:t>
            </a:r>
            <a:r>
              <a:rPr lang="en-US" dirty="0"/>
              <a:t>as </a:t>
            </a:r>
            <a:r>
              <a:rPr lang="en-US" dirty="0" err="1"/>
              <a:t>thisOp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sz="2400" dirty="0"/>
              <a:t>       1. </a:t>
            </a:r>
            <a:r>
              <a:rPr lang="en-US" sz="2400" b="1" dirty="0">
                <a:solidFill>
                  <a:srgbClr val="003399"/>
                </a:solidFill>
              </a:rPr>
              <a:t>Pop</a:t>
            </a:r>
            <a:r>
              <a:rPr lang="en-US" sz="2400" dirty="0"/>
              <a:t> the operator from the operator stack.</a:t>
            </a:r>
          </a:p>
          <a:p>
            <a:pPr marL="0" indent="0">
              <a:buNone/>
            </a:pPr>
            <a:r>
              <a:rPr lang="en-US" sz="2400" dirty="0"/>
              <a:t>       2. </a:t>
            </a:r>
            <a:r>
              <a:rPr lang="en-US" sz="2400" b="1" dirty="0">
                <a:solidFill>
                  <a:srgbClr val="003399"/>
                </a:solidFill>
              </a:rPr>
              <a:t>Pop</a:t>
            </a:r>
            <a:r>
              <a:rPr lang="en-US" sz="2400" dirty="0"/>
              <a:t> the value stack twice, getting two operands.</a:t>
            </a:r>
          </a:p>
          <a:p>
            <a:pPr marL="0" indent="0">
              <a:buNone/>
            </a:pPr>
            <a:r>
              <a:rPr lang="en-US" sz="2400" dirty="0"/>
              <a:t>       3. </a:t>
            </a:r>
            <a:r>
              <a:rPr lang="en-US" sz="2400" b="1" dirty="0">
                <a:solidFill>
                  <a:srgbClr val="003399"/>
                </a:solidFill>
              </a:rPr>
              <a:t>Apply </a:t>
            </a:r>
            <a:r>
              <a:rPr lang="en-US" sz="2400" dirty="0"/>
              <a:t>the operator to the operands, in the correct order.</a:t>
            </a:r>
          </a:p>
          <a:p>
            <a:pPr marL="0" indent="0">
              <a:buNone/>
            </a:pPr>
            <a:r>
              <a:rPr lang="en-US" sz="2400" dirty="0"/>
              <a:t>       4. </a:t>
            </a:r>
            <a:r>
              <a:rPr lang="en-US" sz="2400" b="1" dirty="0">
                <a:solidFill>
                  <a:srgbClr val="003399"/>
                </a:solidFill>
              </a:rPr>
              <a:t>Push the result </a:t>
            </a:r>
            <a:r>
              <a:rPr lang="en-US" sz="2400" dirty="0"/>
              <a:t>onto the value stack.</a:t>
            </a:r>
          </a:p>
          <a:p>
            <a:pPr marL="0" indent="0">
              <a:buNone/>
            </a:pPr>
            <a:r>
              <a:rPr lang="en-US" dirty="0"/>
              <a:t>   b) </a:t>
            </a:r>
            <a:r>
              <a:rPr lang="en-US" b="1" dirty="0">
                <a:solidFill>
                  <a:srgbClr val="003399"/>
                </a:solidFill>
              </a:rPr>
              <a:t>Push </a:t>
            </a:r>
            <a:r>
              <a:rPr lang="en-US" b="1" dirty="0" err="1">
                <a:solidFill>
                  <a:srgbClr val="003399"/>
                </a:solidFill>
              </a:rPr>
              <a:t>thisOp</a:t>
            </a:r>
            <a:r>
              <a:rPr lang="en-US" b="1" dirty="0">
                <a:solidFill>
                  <a:srgbClr val="003399"/>
                </a:solidFill>
              </a:rPr>
              <a:t> </a:t>
            </a:r>
            <a:r>
              <a:rPr lang="en-US" dirty="0"/>
              <a:t>onto the operator stack.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03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While the operator stack is not empty,</a:t>
            </a:r>
          </a:p>
          <a:p>
            <a:pPr marL="400050" lvl="1" indent="0">
              <a:buNone/>
            </a:pPr>
            <a:r>
              <a:rPr lang="en-US" dirty="0"/>
              <a:t>    a. Pop the operator from the operator stack.</a:t>
            </a:r>
          </a:p>
          <a:p>
            <a:pPr marL="400050" lvl="1" indent="0">
              <a:buNone/>
            </a:pPr>
            <a:r>
              <a:rPr lang="en-US" dirty="0"/>
              <a:t>    b. Pop the value stack twice, getting two operands.</a:t>
            </a:r>
          </a:p>
          <a:p>
            <a:pPr marL="400050" lvl="1" indent="0">
              <a:buNone/>
            </a:pPr>
            <a:r>
              <a:rPr lang="en-US" dirty="0"/>
              <a:t>    c. Apply the operator to the operands, in the correct order.</a:t>
            </a:r>
          </a:p>
          <a:p>
            <a:pPr marL="400050" lvl="1" indent="0">
              <a:buNone/>
            </a:pPr>
            <a:r>
              <a:rPr lang="en-US" dirty="0"/>
              <a:t>    d. Push the result onto the value stack.</a:t>
            </a:r>
          </a:p>
          <a:p>
            <a:pPr marL="0" indent="0" algn="just">
              <a:buNone/>
            </a:pPr>
            <a:r>
              <a:rPr lang="en-US" dirty="0"/>
              <a:t>3. At this point the operator stack should be empty, and </a:t>
            </a:r>
            <a:r>
              <a:rPr lang="en-US"/>
              <a:t>the value stack </a:t>
            </a:r>
            <a:r>
              <a:rPr lang="en-US" dirty="0"/>
              <a:t>should have only one value in it, which is the final result.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73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40768"/>
            <a:ext cx="8582334" cy="4474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115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9135"/>
            <a:ext cx="8325941" cy="3942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264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348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Expression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11</cp:revision>
  <dcterms:created xsi:type="dcterms:W3CDTF">2021-02-26T01:51:01Z</dcterms:created>
  <dcterms:modified xsi:type="dcterms:W3CDTF">2023-03-14T02:40:38Z</dcterms:modified>
</cp:coreProperties>
</file>