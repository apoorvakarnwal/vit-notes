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25"/>
  </p:notesMasterIdLst>
  <p:sldIdLst>
    <p:sldId id="462" r:id="rId2"/>
    <p:sldId id="348" r:id="rId3"/>
    <p:sldId id="401" r:id="rId4"/>
    <p:sldId id="439" r:id="rId5"/>
    <p:sldId id="440" r:id="rId6"/>
    <p:sldId id="451" r:id="rId7"/>
    <p:sldId id="452" r:id="rId8"/>
    <p:sldId id="453" r:id="rId9"/>
    <p:sldId id="454" r:id="rId10"/>
    <p:sldId id="455" r:id="rId11"/>
    <p:sldId id="456" r:id="rId12"/>
    <p:sldId id="457" r:id="rId13"/>
    <p:sldId id="458" r:id="rId14"/>
    <p:sldId id="459" r:id="rId15"/>
    <p:sldId id="460" r:id="rId16"/>
    <p:sldId id="461" r:id="rId17"/>
    <p:sldId id="412" r:id="rId18"/>
    <p:sldId id="413" r:id="rId19"/>
    <p:sldId id="416" r:id="rId20"/>
    <p:sldId id="417" r:id="rId21"/>
    <p:sldId id="418" r:id="rId22"/>
    <p:sldId id="419" r:id="rId23"/>
    <p:sldId id="42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0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5" autoAdjust="0"/>
    <p:restoredTop sz="94660"/>
  </p:normalViewPr>
  <p:slideViewPr>
    <p:cSldViewPr>
      <p:cViewPr varScale="1">
        <p:scale>
          <a:sx n="85" d="100"/>
          <a:sy n="85" d="100"/>
        </p:scale>
        <p:origin x="147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CF98F6-046C-4A61-A4DD-0818A66BB8A0}" type="datetimeFigureOut">
              <a:rPr lang="en-IN" smtClean="0"/>
              <a:t>17-04-2023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BE6B3-2D16-4A1B-99C8-9BB68DB86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2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04C-D7CF-4861-95F0-3F5ACF508755}" type="datetimeFigureOut">
              <a:rPr lang="en-US" dirty="0"/>
              <a:t>17-Apr-23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C42F-EA91-460E-9436-9A6C9B1CB0C6}" type="datetimeFigureOut">
              <a:rPr lang="en-US" dirty="0"/>
              <a:t>17-Apr-23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933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23D4350-0632-4F67-B357-AFC21C62564D}" type="datetimeFigureOut">
              <a:rPr lang="en-US" dirty="0"/>
              <a:t>17-Apr-23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84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9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6CED-B3EE-49D9-9922-CBB48E543356}" type="datetimeFigureOut">
              <a:rPr lang="en-US" dirty="0"/>
              <a:t>17-Apr-23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6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9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8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822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15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4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51F38EA-B09F-4C97-9264-D1353869D1EA}" type="datetimeFigureOut">
              <a:rPr lang="en-US" dirty="0"/>
              <a:t>17-Apr-23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Oval 9"/>
          <p:cNvSpPr/>
          <p:nvPr userDrawn="1"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2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67544" y="836712"/>
            <a:ext cx="8136904" cy="1295400"/>
          </a:xfrm>
        </p:spPr>
        <p:txBody>
          <a:bodyPr>
            <a:normAutofit fontScale="90000"/>
          </a:bodyPr>
          <a:lstStyle/>
          <a:p>
            <a:pPr marL="18288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Data Structures and </a:t>
            </a:r>
            <a:r>
              <a:rPr lang="en-US" dirty="0" smtClean="0">
                <a:solidFill>
                  <a:srgbClr val="C00000"/>
                </a:solidFill>
              </a:rPr>
              <a:t>Algorithms (</a:t>
            </a:r>
            <a:r>
              <a:rPr lang="en-US" dirty="0">
                <a:solidFill>
                  <a:srgbClr val="C00000"/>
                </a:solidFill>
              </a:rPr>
              <a:t>BCSE202L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br>
              <a:rPr lang="en-US" dirty="0" smtClean="0">
                <a:solidFill>
                  <a:srgbClr val="C00000"/>
                </a:solidFill>
              </a:rPr>
            </a:br>
            <a:endParaRPr lang="en-US" sz="3975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99" name="Subtitle 4"/>
          <p:cNvSpPr>
            <a:spLocks noGrp="1"/>
          </p:cNvSpPr>
          <p:nvPr>
            <p:ph type="subTitle" idx="1"/>
          </p:nvPr>
        </p:nvSpPr>
        <p:spPr>
          <a:xfrm>
            <a:off x="2483768" y="4941168"/>
            <a:ext cx="4267200" cy="1219200"/>
          </a:xfrm>
        </p:spPr>
        <p:txBody>
          <a:bodyPr/>
          <a:lstStyle/>
          <a:p>
            <a:r>
              <a:rPr lang="en-US" altLang="en-US" sz="4000" b="1" dirty="0" smtClean="0">
                <a:solidFill>
                  <a:srgbClr val="002060"/>
                </a:solidFill>
              </a:rPr>
              <a:t>Dr. Priyanka N</a:t>
            </a:r>
          </a:p>
        </p:txBody>
      </p:sp>
      <p:sp>
        <p:nvSpPr>
          <p:cNvPr id="2" name="Rectangle 1"/>
          <p:cNvSpPr/>
          <p:nvPr/>
        </p:nvSpPr>
        <p:spPr>
          <a:xfrm>
            <a:off x="1907704" y="3140968"/>
            <a:ext cx="3700463" cy="7699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i="1" dirty="0">
                <a:solidFill>
                  <a:schemeClr val="accent6">
                    <a:lumMod val="50000"/>
                  </a:schemeClr>
                </a:solidFill>
              </a:rPr>
              <a:t>Module 2: List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3368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1008112"/>
          </a:xfrm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Types of Lists: Doubly Linked List</a:t>
            </a:r>
            <a:endParaRPr lang="en-IN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18418"/>
            <a:ext cx="8229600" cy="4525963"/>
          </a:xfrm>
          <a:prstGeom prst="rect">
            <a:avLst/>
          </a:prstGeom>
        </p:spPr>
        <p:txBody>
          <a:bodyPr/>
          <a:lstStyle/>
          <a:p>
            <a:pPr marL="365760" lvl="1" indent="0">
              <a:buNone/>
            </a:pPr>
            <a:r>
              <a:rPr lang="en-US" alt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Doubly linked list</a:t>
            </a:r>
          </a:p>
          <a:p>
            <a:pPr lvl="2" eaLnBrk="1" hangingPunct="1">
              <a:buSzPct val="100000"/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Pointers exist between adjacent nodes in both directions.</a:t>
            </a:r>
          </a:p>
          <a:p>
            <a:pPr lvl="2" eaLnBrk="1" hangingPunct="1">
              <a:buSzPct val="100000"/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list can be traversed either forward or backward.</a:t>
            </a:r>
          </a:p>
          <a:p>
            <a:pPr lvl="2" eaLnBrk="1" hangingPunct="1">
              <a:buSzPct val="100000"/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Usually two pointers are maintained to keep track of the list, </a:t>
            </a:r>
            <a:r>
              <a:rPr lang="en-US" alt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en-US" alt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en-US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tail</a:t>
            </a:r>
            <a:r>
              <a:rPr lang="en-US" alt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2</a:t>
            </a:fld>
            <a:endParaRPr lang="en-IN"/>
          </a:p>
        </p:txBody>
      </p:sp>
      <p:grpSp>
        <p:nvGrpSpPr>
          <p:cNvPr id="64" name="Group 33"/>
          <p:cNvGrpSpPr>
            <a:grpSpLocks/>
          </p:cNvGrpSpPr>
          <p:nvPr/>
        </p:nvGrpSpPr>
        <p:grpSpPr bwMode="auto">
          <a:xfrm>
            <a:off x="533400" y="3581400"/>
            <a:ext cx="8307388" cy="1524000"/>
            <a:chOff x="336" y="2256"/>
            <a:chExt cx="5233" cy="960"/>
          </a:xfrm>
        </p:grpSpPr>
        <p:grpSp>
          <p:nvGrpSpPr>
            <p:cNvPr id="65" name="Group 28"/>
            <p:cNvGrpSpPr>
              <a:grpSpLocks/>
            </p:cNvGrpSpPr>
            <p:nvPr/>
          </p:nvGrpSpPr>
          <p:grpSpPr bwMode="auto">
            <a:xfrm>
              <a:off x="576" y="2880"/>
              <a:ext cx="4993" cy="336"/>
              <a:chOff x="287" y="2352"/>
              <a:chExt cx="4993" cy="336"/>
            </a:xfrm>
          </p:grpSpPr>
          <p:sp>
            <p:nvSpPr>
              <p:cNvPr id="70" name="Rectangle 5"/>
              <p:cNvSpPr>
                <a:spLocks noChangeArrowheads="1"/>
              </p:cNvSpPr>
              <p:nvPr/>
            </p:nvSpPr>
            <p:spPr bwMode="auto">
              <a:xfrm>
                <a:off x="720" y="2352"/>
                <a:ext cx="864" cy="3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412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71" name="Rectangle 6"/>
              <p:cNvSpPr>
                <a:spLocks noChangeArrowheads="1"/>
              </p:cNvSpPr>
              <p:nvPr/>
            </p:nvSpPr>
            <p:spPr bwMode="auto">
              <a:xfrm>
                <a:off x="2256" y="2352"/>
                <a:ext cx="864" cy="3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412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72" name="Rectangle 7"/>
              <p:cNvSpPr>
                <a:spLocks noChangeArrowheads="1"/>
              </p:cNvSpPr>
              <p:nvPr/>
            </p:nvSpPr>
            <p:spPr bwMode="auto">
              <a:xfrm>
                <a:off x="3744" y="2352"/>
                <a:ext cx="864" cy="3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412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73" name="Line 8"/>
              <p:cNvSpPr>
                <a:spLocks noChangeShapeType="1"/>
              </p:cNvSpPr>
              <p:nvPr/>
            </p:nvSpPr>
            <p:spPr bwMode="auto">
              <a:xfrm>
                <a:off x="1488" y="2592"/>
                <a:ext cx="768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 type="oval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4" name="Line 9"/>
              <p:cNvSpPr>
                <a:spLocks noChangeShapeType="1"/>
              </p:cNvSpPr>
              <p:nvPr/>
            </p:nvSpPr>
            <p:spPr bwMode="auto">
              <a:xfrm>
                <a:off x="2976" y="2592"/>
                <a:ext cx="768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 type="oval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5" name="Line 10"/>
              <p:cNvSpPr>
                <a:spLocks noChangeShapeType="1"/>
              </p:cNvSpPr>
              <p:nvPr/>
            </p:nvSpPr>
            <p:spPr bwMode="auto">
              <a:xfrm>
                <a:off x="4512" y="2592"/>
                <a:ext cx="768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 type="oval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6" name="Line 11"/>
              <p:cNvSpPr>
                <a:spLocks noChangeShapeType="1"/>
              </p:cNvSpPr>
              <p:nvPr/>
            </p:nvSpPr>
            <p:spPr bwMode="auto">
              <a:xfrm>
                <a:off x="1392" y="2352"/>
                <a:ext cx="0" cy="33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7" name="Line 12"/>
              <p:cNvSpPr>
                <a:spLocks noChangeShapeType="1"/>
              </p:cNvSpPr>
              <p:nvPr/>
            </p:nvSpPr>
            <p:spPr bwMode="auto">
              <a:xfrm>
                <a:off x="2880" y="2352"/>
                <a:ext cx="0" cy="33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8" name="Line 13"/>
              <p:cNvSpPr>
                <a:spLocks noChangeShapeType="1"/>
              </p:cNvSpPr>
              <p:nvPr/>
            </p:nvSpPr>
            <p:spPr bwMode="auto">
              <a:xfrm>
                <a:off x="4368" y="2352"/>
                <a:ext cx="0" cy="33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79" name="Text Box 14"/>
              <p:cNvSpPr txBox="1">
                <a:spLocks noChangeArrowheads="1"/>
              </p:cNvSpPr>
              <p:nvPr/>
            </p:nvSpPr>
            <p:spPr bwMode="auto">
              <a:xfrm>
                <a:off x="1056" y="235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Arial" charset="0"/>
                  </a:rPr>
                  <a:t>A</a:t>
                </a:r>
              </a:p>
            </p:txBody>
          </p:sp>
          <p:sp>
            <p:nvSpPr>
              <p:cNvPr id="80" name="Text Box 15"/>
              <p:cNvSpPr txBox="1">
                <a:spLocks noChangeArrowheads="1"/>
              </p:cNvSpPr>
              <p:nvPr/>
            </p:nvSpPr>
            <p:spPr bwMode="auto">
              <a:xfrm>
                <a:off x="2544" y="235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Arial" charset="0"/>
                  </a:rPr>
                  <a:t>B</a:t>
                </a:r>
              </a:p>
            </p:txBody>
          </p:sp>
          <p:sp>
            <p:nvSpPr>
              <p:cNvPr id="81" name="Text Box 16"/>
              <p:cNvSpPr txBox="1">
                <a:spLocks noChangeArrowheads="1"/>
              </p:cNvSpPr>
              <p:nvPr/>
            </p:nvSpPr>
            <p:spPr bwMode="auto">
              <a:xfrm>
                <a:off x="3984" y="2352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2400">
                    <a:latin typeface="Arial" charset="0"/>
                  </a:rPr>
                  <a:t>C</a:t>
                </a:r>
              </a:p>
            </p:txBody>
          </p:sp>
          <p:sp>
            <p:nvSpPr>
              <p:cNvPr id="82" name="Line 17"/>
              <p:cNvSpPr>
                <a:spLocks noChangeShapeType="1"/>
              </p:cNvSpPr>
              <p:nvPr/>
            </p:nvSpPr>
            <p:spPr bwMode="auto">
              <a:xfrm>
                <a:off x="912" y="2352"/>
                <a:ext cx="0" cy="33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3" name="Line 18"/>
              <p:cNvSpPr>
                <a:spLocks noChangeShapeType="1"/>
              </p:cNvSpPr>
              <p:nvPr/>
            </p:nvSpPr>
            <p:spPr bwMode="auto">
              <a:xfrm>
                <a:off x="2448" y="2352"/>
                <a:ext cx="0" cy="33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4" name="Line 19"/>
              <p:cNvSpPr>
                <a:spLocks noChangeShapeType="1"/>
              </p:cNvSpPr>
              <p:nvPr/>
            </p:nvSpPr>
            <p:spPr bwMode="auto">
              <a:xfrm>
                <a:off x="3984" y="2352"/>
                <a:ext cx="0" cy="33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5" name="Line 21"/>
              <p:cNvSpPr>
                <a:spLocks noChangeShapeType="1"/>
              </p:cNvSpPr>
              <p:nvPr/>
            </p:nvSpPr>
            <p:spPr bwMode="auto">
              <a:xfrm>
                <a:off x="287" y="2589"/>
                <a:ext cx="432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6" name="Line 23"/>
              <p:cNvSpPr>
                <a:spLocks noChangeShapeType="1"/>
              </p:cNvSpPr>
              <p:nvPr/>
            </p:nvSpPr>
            <p:spPr bwMode="auto">
              <a:xfrm>
                <a:off x="3120" y="2448"/>
                <a:ext cx="768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 type="arrow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7" name="Line 24"/>
              <p:cNvSpPr>
                <a:spLocks noChangeShapeType="1"/>
              </p:cNvSpPr>
              <p:nvPr/>
            </p:nvSpPr>
            <p:spPr bwMode="auto">
              <a:xfrm>
                <a:off x="1584" y="2448"/>
                <a:ext cx="768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 type="arrow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8" name="Line 26"/>
              <p:cNvSpPr>
                <a:spLocks noChangeShapeType="1"/>
              </p:cNvSpPr>
              <p:nvPr/>
            </p:nvSpPr>
            <p:spPr bwMode="auto">
              <a:xfrm flipH="1">
                <a:off x="4608" y="2448"/>
                <a:ext cx="624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9" name="Line 27"/>
              <p:cNvSpPr>
                <a:spLocks noChangeShapeType="1"/>
              </p:cNvSpPr>
              <p:nvPr/>
            </p:nvSpPr>
            <p:spPr bwMode="auto">
              <a:xfrm flipH="1">
                <a:off x="288" y="2448"/>
                <a:ext cx="528" cy="0"/>
              </a:xfrm>
              <a:prstGeom prst="line">
                <a:avLst/>
              </a:prstGeom>
              <a:noFill/>
              <a:ln w="31750">
                <a:solidFill>
                  <a:schemeClr val="accent5">
                    <a:lumMod val="75000"/>
                  </a:schemeClr>
                </a:solidFill>
                <a:round/>
                <a:headEnd type="oval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66" name="Oval 29"/>
            <p:cNvSpPr>
              <a:spLocks noChangeArrowheads="1"/>
            </p:cNvSpPr>
            <p:nvPr/>
          </p:nvSpPr>
          <p:spPr bwMode="auto">
            <a:xfrm>
              <a:off x="336" y="2256"/>
              <a:ext cx="768" cy="240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sz="1800" dirty="0">
                  <a:solidFill>
                    <a:srgbClr val="002060"/>
                  </a:solidFill>
                  <a:latin typeface="Arial" charset="0"/>
                </a:rPr>
                <a:t>head</a:t>
              </a:r>
            </a:p>
          </p:txBody>
        </p:sp>
        <p:sp>
          <p:nvSpPr>
            <p:cNvPr id="67" name="Line 30"/>
            <p:cNvSpPr>
              <a:spLocks noChangeShapeType="1"/>
            </p:cNvSpPr>
            <p:nvPr/>
          </p:nvSpPr>
          <p:spPr bwMode="auto">
            <a:xfrm>
              <a:off x="720" y="2496"/>
              <a:ext cx="336" cy="38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Oval 31"/>
            <p:cNvSpPr>
              <a:spLocks noChangeArrowheads="1"/>
            </p:cNvSpPr>
            <p:nvPr/>
          </p:nvSpPr>
          <p:spPr bwMode="auto">
            <a:xfrm>
              <a:off x="4752" y="2256"/>
              <a:ext cx="768" cy="240"/>
            </a:xfrm>
            <a:prstGeom prst="ellipse">
              <a:avLst/>
            </a:prstGeom>
            <a:solidFill>
              <a:srgbClr val="CCFFFF"/>
            </a:solidFill>
            <a:ln w="3175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en-US" sz="1800" dirty="0">
                  <a:solidFill>
                    <a:srgbClr val="002060"/>
                  </a:solidFill>
                  <a:latin typeface="Arial" charset="0"/>
                </a:rPr>
                <a:t>tail</a:t>
              </a:r>
            </a:p>
          </p:txBody>
        </p:sp>
        <p:sp>
          <p:nvSpPr>
            <p:cNvPr id="69" name="Line 32"/>
            <p:cNvSpPr>
              <a:spLocks noChangeShapeType="1"/>
            </p:cNvSpPr>
            <p:nvPr/>
          </p:nvSpPr>
          <p:spPr bwMode="auto">
            <a:xfrm flipH="1">
              <a:off x="4800" y="2496"/>
              <a:ext cx="384" cy="384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9940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1008112"/>
          </a:xfrm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Defining a Node of a Doubly Linked </a:t>
            </a:r>
            <a:r>
              <a:rPr lang="en-US" sz="4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</a:t>
            </a:r>
            <a:endParaRPr lang="en-IN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3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67544" y="1111804"/>
            <a:ext cx="835292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node of doubly linked list (DLL) consists </a:t>
            </a:r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three fields</a:t>
            </a:r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Item (or) Data</a:t>
            </a:r>
            <a:endParaRPr lang="en-IN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Pointer of </a:t>
            </a:r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next </a:t>
            </a: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node in DLL</a:t>
            </a:r>
          </a:p>
          <a:p>
            <a:pPr marL="342900" indent="-342900">
              <a:buClr>
                <a:schemeClr val="accent6">
                  <a:lumMod val="75000"/>
                </a:schemeClr>
              </a:buClr>
              <a:buFont typeface="Arial" pitchFamily="34" charset="0"/>
              <a:buChar char="•"/>
            </a:pPr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Pointer of the </a:t>
            </a: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previous node </a:t>
            </a:r>
            <a:r>
              <a:rPr lang="en-IN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2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DLL</a:t>
            </a:r>
            <a:endParaRPr lang="en-IN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1560" y="4077072"/>
            <a:ext cx="7920880" cy="1754326"/>
          </a:xfrm>
          <a:prstGeom prst="rect">
            <a:avLst/>
          </a:prstGeom>
          <a:solidFill>
            <a:schemeClr val="accent5">
              <a:lumMod val="20000"/>
              <a:lumOff val="80000"/>
              <a:alpha val="52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</a:t>
            </a:r>
          </a:p>
          <a:p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IN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data;</a:t>
            </a:r>
          </a:p>
          <a:p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IN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*next; </a:t>
            </a:r>
            <a:r>
              <a:rPr lang="en-IN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Pointer to next node in DLL</a:t>
            </a:r>
          </a:p>
          <a:p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IN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</a:t>
            </a:r>
            <a:r>
              <a:rPr lang="en-IN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IN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Pointer to previous node in DLL</a:t>
            </a:r>
          </a:p>
          <a:p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5436096" y="2704740"/>
            <a:ext cx="1864082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444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38" name="Line 7"/>
          <p:cNvSpPr>
            <a:spLocks noChangeShapeType="1"/>
          </p:cNvSpPr>
          <p:nvPr/>
        </p:nvSpPr>
        <p:spPr bwMode="auto">
          <a:xfrm>
            <a:off x="7147778" y="3009540"/>
            <a:ext cx="941040" cy="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9" name="Line 11"/>
          <p:cNvSpPr>
            <a:spLocks noChangeShapeType="1"/>
          </p:cNvSpPr>
          <p:nvPr/>
        </p:nvSpPr>
        <p:spPr bwMode="auto">
          <a:xfrm>
            <a:off x="6919178" y="2704740"/>
            <a:ext cx="0" cy="5334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" name="TextBox 39"/>
          <p:cNvSpPr txBox="1"/>
          <p:nvPr/>
        </p:nvSpPr>
        <p:spPr>
          <a:xfrm>
            <a:off x="6076042" y="2786774"/>
            <a:ext cx="84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002060"/>
                </a:solidFill>
              </a:rPr>
              <a:t>Data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55296" y="3140968"/>
            <a:ext cx="9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next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76042" y="2335408"/>
            <a:ext cx="75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node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90" y="3624299"/>
            <a:ext cx="5916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How to define a node of a doubly linked list (DLL)?</a:t>
            </a:r>
            <a:endParaRPr lang="en-IN" sz="2000" b="1" dirty="0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5940152" y="2704740"/>
            <a:ext cx="0" cy="5334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 flipH="1">
            <a:off x="4860032" y="3009540"/>
            <a:ext cx="882011" cy="0"/>
          </a:xfrm>
          <a:prstGeom prst="line">
            <a:avLst/>
          </a:prstGeom>
          <a:noFill/>
          <a:ln w="38100">
            <a:solidFill>
              <a:schemeClr val="accent5">
                <a:lumMod val="75000"/>
              </a:schemeClr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5401095" y="3140968"/>
            <a:ext cx="957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>
                <a:solidFill>
                  <a:srgbClr val="002060"/>
                </a:solidFill>
              </a:rPr>
              <a:t>prev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5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3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7" grpId="0"/>
      <p:bldP spid="16" grpId="0" animBg="1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Doubly 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inked List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26957" y="980728"/>
            <a:ext cx="8737531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Doubly linked list is a collection of nodes linked together in a sequential 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way.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Doubly linked list is almost similar to singly linked list except it contains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two address or reference fields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where one of the address field contains reference of the next node and other contains reference of the previous node.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First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and last node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a linked list contains a terminator generally a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value, that determines the start and end of the list.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Doubly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linked list is sometimes also referred as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bi-directional linked list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since it allows traversal of nodes in both direction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Since doubly linked list allows the traversal of nodes in both 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direction, we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can keep track of both first and last nodes. </a:t>
            </a:r>
          </a:p>
        </p:txBody>
      </p:sp>
      <p:pic>
        <p:nvPicPr>
          <p:cNvPr id="66562" name="Picture 2" descr="Doubly linked list repres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331" y="4725144"/>
            <a:ext cx="6048672" cy="1440160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42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476672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Double versus Single Linked List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5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66369" y="1556792"/>
            <a:ext cx="8737531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Advantages over singly linked </a:t>
            </a:r>
            <a:r>
              <a:rPr lang="en-I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</a:p>
          <a:p>
            <a:endParaRPr lang="en-IN" sz="9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arenR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DLL can be traversed in both forward and backward 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direction.</a:t>
            </a:r>
          </a:p>
          <a:p>
            <a:pPr marL="342900" indent="-342900">
              <a:buAutoNum type="arabicParenR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delete operation in DLL is more efficient if pointer to the node to be deleted is given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AutoNum type="arabicParenR"/>
            </a:pP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9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Disadvantages </a:t>
            </a:r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over singly linked </a:t>
            </a:r>
            <a:r>
              <a:rPr lang="en-I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  <a:endParaRPr lang="en-IN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arenR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node of DLL 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require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extra space for an previous pointer.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arenR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operations require an extra pointer previous to be maintained.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83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7504" y="508122"/>
            <a:ext cx="9289032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Doubly Linked List: Insertion at any Position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83346" y="6520259"/>
            <a:ext cx="480060" cy="365125"/>
          </a:xfrm>
        </p:spPr>
        <p:txBody>
          <a:bodyPr/>
          <a:lstStyle/>
          <a:p>
            <a:fld id="{2412D51A-C1C7-4F6F-ADB4-90C3724E8DB4}" type="slidenum">
              <a:rPr lang="en-IN" smtClean="0"/>
              <a:t>6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1156194"/>
            <a:ext cx="85689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Steps to insert a new node </a:t>
            </a:r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at n</a:t>
            </a:r>
            <a:r>
              <a:rPr lang="en-IN" b="1" baseline="30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position in a Doubly 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linked </a:t>
            </a:r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list.</a:t>
            </a:r>
          </a:p>
          <a:p>
            <a:endParaRPr lang="en-IN" sz="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Traverse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N-1 node in the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list, where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 is the position to insert. Say </a:t>
            </a:r>
            <a:r>
              <a:rPr lang="en-IN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now points to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IN" baseline="30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node.</a:t>
            </a:r>
          </a:p>
          <a:p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02" name="Picture 2" descr="Insertion of new node in a doubly linked list Step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236314"/>
            <a:ext cx="5362575" cy="1296144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382045" y="3768807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Create a </a:t>
            </a:r>
            <a:r>
              <a:rPr lang="en-IN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that is to be inserted and assign some data to its data field.</a:t>
            </a:r>
          </a:p>
        </p:txBody>
      </p:sp>
      <p:pic>
        <p:nvPicPr>
          <p:cNvPr id="51204" name="Picture 4" descr="Insertion of new node in a doubly linked list Step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442" y="4396554"/>
            <a:ext cx="5362575" cy="1728192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39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7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908720"/>
            <a:ext cx="8568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Connect the next address field of </a:t>
            </a:r>
            <a:r>
              <a:rPr lang="en-IN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node pointed by next address field of </a:t>
            </a:r>
            <a:r>
              <a:rPr lang="en-IN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node.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2045" y="3705999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Connect the previous address field of </a:t>
            </a:r>
            <a:r>
              <a:rPr lang="en-IN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with the </a:t>
            </a:r>
            <a:r>
              <a:rPr lang="en-IN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node.</a:t>
            </a:r>
          </a:p>
        </p:txBody>
      </p:sp>
      <p:pic>
        <p:nvPicPr>
          <p:cNvPr id="56322" name="Picture 2" descr="Insertion of new node in a doubly linked list Step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00808"/>
            <a:ext cx="5904656" cy="1800200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24" name="Picture 4" descr="Insertion of new node in a doubly linked list Step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77" y="4149080"/>
            <a:ext cx="5904656" cy="1944216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20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8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908720"/>
            <a:ext cx="85689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5: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Check if </a:t>
            </a:r>
            <a:r>
              <a:rPr lang="en-IN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temp-&gt;next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 not 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then, connect the previous address field of node pointed by </a:t>
            </a:r>
            <a:r>
              <a:rPr lang="en-IN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temp-&gt;next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2045" y="3705999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6: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Connect the next address field of </a:t>
            </a:r>
            <a:r>
              <a:rPr lang="en-IN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node to </a:t>
            </a:r>
            <a:r>
              <a:rPr lang="en-IN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.</a:t>
            </a:r>
            <a:endParaRPr lang="en-IN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7346" name="Picture 2" descr="Insertion of new node in a doubly linked 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69" y="1681047"/>
            <a:ext cx="5819775" cy="1945957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48" name="Picture 4" descr="Insertion of new node in a doubly linked list Step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500" y="4093625"/>
            <a:ext cx="5791200" cy="1921168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98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9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1412776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Step 7: </a:t>
            </a: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Final </a:t>
            </a:r>
            <a:r>
              <a:rPr lang="en-IN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doubly linked list looks like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8370" name="Picture 2" descr="Insertion of new node in a doubly linked 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48880"/>
            <a:ext cx="6638925" cy="1800200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08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10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71412" y="908720"/>
            <a:ext cx="8640960" cy="529375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stdlib.h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fontAlgn="base"/>
            <a:endParaRPr lang="en-IN" sz="13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node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             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</a:t>
            </a:r>
            <a:r>
              <a:rPr lang="en-IN" sz="13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Basic structure of Node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fontAlgn="base"/>
            <a:r>
              <a:rPr lang="en-IN" sz="13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data;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 next;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}*head, *last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fontAlgn="base"/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data;</a:t>
            </a:r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head = NULL;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last = NULL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fontAlgn="base"/>
            <a:endParaRPr lang="en-IN" sz="13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the total number of nodes in list: ");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("%d", &amp;n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createList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(n);   		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function to create double linked list</a:t>
            </a:r>
          </a:p>
          <a:p>
            <a:pPr fontAlgn="base"/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displayList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();			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IN" sz="13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 display the list</a:t>
            </a:r>
          </a:p>
          <a:p>
            <a:pPr fontAlgn="base"/>
            <a:endParaRPr lang="en-IN" sz="13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the position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and data to 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insert new node: ");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 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", 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n, &amp;data);                </a:t>
            </a:r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insert_position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(data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n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    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function to insert node at any position</a:t>
            </a:r>
          </a:p>
          <a:p>
            <a:pPr fontAlgn="base"/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displayList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return 0;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930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11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67544" y="908721"/>
            <a:ext cx="8280920" cy="53285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IN" sz="12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createList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i,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if(n &gt;= 1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){            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Creates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and links the head node */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en-IN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head 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= 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*)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));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data of 1 node: ");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("%d", &amp;data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head-&gt;data =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head-&gt;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NULL;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head-&gt;next = NULL;</a:t>
            </a:r>
          </a:p>
          <a:p>
            <a:pPr fontAlgn="base"/>
            <a:endParaRPr lang="en-IN" sz="9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last = head;</a:t>
            </a:r>
          </a:p>
          <a:p>
            <a:pPr fontAlgn="base"/>
            <a:endParaRPr lang="en-IN" sz="9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for(i=2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i&lt;=n; i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++){   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Creates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and links rest of the n-1 nodes */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= 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*)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));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data of %d node: ", i);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("%d", &amp;data);</a:t>
            </a:r>
          </a:p>
          <a:p>
            <a:pPr fontAlgn="base"/>
            <a:endParaRPr lang="en-IN" sz="9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-&gt;data =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last;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Links new node with the previous node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-&gt;next = NULL;</a:t>
            </a:r>
          </a:p>
          <a:p>
            <a:pPr fontAlgn="base"/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last-&gt;next =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//Links previous node with the new node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last =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//Makes new node as last/previous node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("\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nDOUBLY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LINKED LIST CREATED SUCCESSFULLY\n");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5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12</a:t>
            </a:fld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5536" y="1268760"/>
            <a:ext cx="8136904" cy="507831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IN" sz="12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insert_position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data,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position)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node *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*temp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if(head == NULL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){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("Error, List is empty!\n");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else{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temp = head;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if(temp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!=NULL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){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*)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node));</a:t>
            </a:r>
          </a:p>
          <a:p>
            <a:pPr fontAlgn="base"/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-&gt;data =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-&gt;next = temp-&gt;next;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//Connects new node with n+1th node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temp;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Connects new node with n-1th node</a:t>
            </a:r>
          </a:p>
          <a:p>
            <a:pPr fontAlgn="base"/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if(temp-&gt;next != NULL)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{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      temp-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&gt;next-&gt;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Connects n+1th node with new node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en-IN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            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temp-&gt;next =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        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Connects n-1th node with new node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en-IN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("NODE INSERTED SUCCESSFULLY AT %d POSITION\n", position);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else{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("Error, Invalid position\n");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708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oubly Linked 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Insertion at any Position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13</a:t>
            </a:fld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5536" y="1124744"/>
            <a:ext cx="8136904" cy="526297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IN" sz="1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displayList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 temp;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 = 1;</a:t>
            </a:r>
          </a:p>
          <a:p>
            <a:pPr fontAlgn="base"/>
            <a:endParaRPr lang="en-IN" sz="1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if(head == NULL)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("List is empty.\n");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temp = head;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("DATA IN THE LIST:\n");</a:t>
            </a:r>
          </a:p>
          <a:p>
            <a:pPr fontAlgn="base"/>
            <a:endParaRPr lang="en-IN" sz="1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while(temp != NULL)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("DATA of %d node = %d\n", n, temp-&gt;data</a:t>
            </a:r>
            <a:r>
              <a:rPr lang="en-IN" sz="1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IN" sz="1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n++;</a:t>
            </a:r>
          </a:p>
          <a:p>
            <a:pPr fontAlgn="base"/>
            <a:endParaRPr lang="en-IN" sz="1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4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Moves the current pointer to next node */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temp = temp-&gt;next;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IN" sz="14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11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Few Exercises to Try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08551" y="1196752"/>
            <a:ext cx="882794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 doubly linked list write </a:t>
            </a:r>
            <a:r>
              <a:rPr lang="en-IN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function </a:t>
            </a: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to:</a:t>
            </a:r>
          </a:p>
          <a:p>
            <a:pPr algn="just"/>
            <a:endParaRPr lang="en-IN" sz="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SzPct val="130000"/>
              <a:buFont typeface="Arial" pitchFamily="34" charset="0"/>
              <a:buChar char="•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Insert a node at front of the list and at end of the list.</a:t>
            </a:r>
          </a:p>
          <a:p>
            <a:pPr lvl="2" algn="just">
              <a:buClr>
                <a:srgbClr val="C00000"/>
              </a:buClr>
              <a:buSzPct val="130000"/>
            </a:pPr>
            <a:r>
              <a:rPr lang="en-IN" sz="2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nsert_front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(data);</a:t>
            </a:r>
          </a:p>
          <a:p>
            <a:pPr lvl="2" algn="just">
              <a:buClr>
                <a:srgbClr val="C00000"/>
              </a:buClr>
              <a:buSzPct val="130000"/>
            </a:pPr>
            <a:r>
              <a:rPr lang="en-IN" sz="2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nsert_end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(data);</a:t>
            </a:r>
          </a:p>
          <a:p>
            <a:pPr lvl="2" algn="just">
              <a:buClr>
                <a:srgbClr val="C00000"/>
              </a:buClr>
              <a:buSzPct val="130000"/>
            </a:pP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delete_front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(data</a:t>
            </a:r>
            <a:r>
              <a:rPr lang="en-IN" sz="2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 algn="just">
              <a:buClr>
                <a:srgbClr val="C00000"/>
              </a:buClr>
              <a:buSzPct val="130000"/>
            </a:pP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delete_end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(data</a:t>
            </a:r>
            <a:r>
              <a:rPr lang="en-IN" sz="2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algn="just">
              <a:buClr>
                <a:srgbClr val="C00000"/>
              </a:buClr>
              <a:buSzPct val="120000"/>
            </a:pPr>
            <a:endParaRPr lang="en-IN" sz="24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Sort the DLL in ascending order.</a:t>
            </a:r>
            <a:endParaRPr lang="en-IN" sz="24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buClr>
                <a:srgbClr val="C00000"/>
              </a:buClr>
              <a:buSzPct val="120000"/>
            </a:pPr>
            <a:endParaRPr lang="en-IN" sz="2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marL="285750" lvl="0" indent="-285750">
              <a:buClr>
                <a:srgbClr val="C00000"/>
              </a:buClr>
              <a:buSzPct val="120000"/>
              <a:buFont typeface="Arial" pitchFamily="34" charset="0"/>
              <a:buChar char="•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Count the number of nodes in the given DLL.</a:t>
            </a:r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rgbClr val="C00000"/>
              </a:buClr>
              <a:buSzPct val="120000"/>
            </a:pPr>
            <a:endParaRPr lang="en-IN" sz="2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45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1008112"/>
          </a:xfrm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en-US" sz="4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Lists: Circular Linked List</a:t>
            </a:r>
            <a:endParaRPr lang="en-IN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65760" lvl="1" indent="0" eaLnBrk="1" hangingPunct="1">
              <a:buNone/>
            </a:pPr>
            <a:r>
              <a:rPr lang="en-US" alt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Circular linked list</a:t>
            </a:r>
          </a:p>
          <a:p>
            <a:pPr lvl="2">
              <a:buFont typeface="Arial" pitchFamily="34" charset="0"/>
              <a:buChar char="•"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pointer from the last element in the list points back to the first element.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15</a:t>
            </a:fld>
            <a:endParaRPr lang="en-IN"/>
          </a:p>
        </p:txBody>
      </p:sp>
      <p:grpSp>
        <p:nvGrpSpPr>
          <p:cNvPr id="35" name="Group 21"/>
          <p:cNvGrpSpPr>
            <a:grpSpLocks/>
          </p:cNvGrpSpPr>
          <p:nvPr/>
        </p:nvGrpSpPr>
        <p:grpSpPr bwMode="auto">
          <a:xfrm>
            <a:off x="609600" y="3962400"/>
            <a:ext cx="8001000" cy="1447800"/>
            <a:chOff x="288" y="1872"/>
            <a:chExt cx="5040" cy="912"/>
          </a:xfrm>
        </p:grpSpPr>
        <p:sp>
          <p:nvSpPr>
            <p:cNvPr id="38" name="Rectangle 5"/>
            <p:cNvSpPr>
              <a:spLocks noChangeArrowheads="1"/>
            </p:cNvSpPr>
            <p:nvPr/>
          </p:nvSpPr>
          <p:spPr bwMode="auto">
            <a:xfrm>
              <a:off x="768" y="1872"/>
              <a:ext cx="864" cy="3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412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altLang="en-US"/>
            </a:p>
          </p:txBody>
        </p:sp>
        <p:sp>
          <p:nvSpPr>
            <p:cNvPr id="39" name="Rectangle 6"/>
            <p:cNvSpPr>
              <a:spLocks noChangeArrowheads="1"/>
            </p:cNvSpPr>
            <p:nvPr/>
          </p:nvSpPr>
          <p:spPr bwMode="auto">
            <a:xfrm>
              <a:off x="2304" y="1872"/>
              <a:ext cx="864" cy="3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412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altLang="en-US"/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3792" y="1872"/>
              <a:ext cx="864" cy="3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412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altLang="en-US"/>
            </a:p>
          </p:txBody>
        </p:sp>
        <p:sp>
          <p:nvSpPr>
            <p:cNvPr id="41" name="Line 8"/>
            <p:cNvSpPr>
              <a:spLocks noChangeShapeType="1"/>
            </p:cNvSpPr>
            <p:nvPr/>
          </p:nvSpPr>
          <p:spPr bwMode="auto">
            <a:xfrm>
              <a:off x="1536" y="2064"/>
              <a:ext cx="768" cy="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 type="oval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" name="Line 9"/>
            <p:cNvSpPr>
              <a:spLocks noChangeShapeType="1"/>
            </p:cNvSpPr>
            <p:nvPr/>
          </p:nvSpPr>
          <p:spPr bwMode="auto">
            <a:xfrm>
              <a:off x="3024" y="2064"/>
              <a:ext cx="768" cy="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 type="oval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" name="Line 10"/>
            <p:cNvSpPr>
              <a:spLocks noChangeShapeType="1"/>
            </p:cNvSpPr>
            <p:nvPr/>
          </p:nvSpPr>
          <p:spPr bwMode="auto">
            <a:xfrm>
              <a:off x="4560" y="2064"/>
              <a:ext cx="768" cy="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" name="Line 11"/>
            <p:cNvSpPr>
              <a:spLocks noChangeShapeType="1"/>
            </p:cNvSpPr>
            <p:nvPr/>
          </p:nvSpPr>
          <p:spPr bwMode="auto">
            <a:xfrm>
              <a:off x="1440" y="1872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5" name="Line 12"/>
            <p:cNvSpPr>
              <a:spLocks noChangeShapeType="1"/>
            </p:cNvSpPr>
            <p:nvPr/>
          </p:nvSpPr>
          <p:spPr bwMode="auto">
            <a:xfrm>
              <a:off x="2928" y="1872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4416" y="1872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7" name="Text Box 14"/>
            <p:cNvSpPr txBox="1">
              <a:spLocks noChangeArrowheads="1"/>
            </p:cNvSpPr>
            <p:nvPr/>
          </p:nvSpPr>
          <p:spPr bwMode="auto">
            <a:xfrm>
              <a:off x="1008" y="18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Arial" charset="0"/>
                </a:rPr>
                <a:t>A</a:t>
              </a: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2496" y="18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Arial" charset="0"/>
                </a:rPr>
                <a:t>B</a:t>
              </a: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3984" y="18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eaLnBrk="0" fontAlgn="base" hangingPunct="0"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400">
                  <a:latin typeface="Arial" charset="0"/>
                </a:rPr>
                <a:t>C</a:t>
              </a:r>
            </a:p>
          </p:txBody>
        </p:sp>
        <p:sp>
          <p:nvSpPr>
            <p:cNvPr id="50" name="Line 17"/>
            <p:cNvSpPr>
              <a:spLocks noChangeShapeType="1"/>
            </p:cNvSpPr>
            <p:nvPr/>
          </p:nvSpPr>
          <p:spPr bwMode="auto">
            <a:xfrm>
              <a:off x="5328" y="2064"/>
              <a:ext cx="0" cy="72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 flipH="1">
              <a:off x="288" y="2784"/>
              <a:ext cx="5040" cy="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 flipV="1">
              <a:off x="288" y="2064"/>
              <a:ext cx="0" cy="72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3" name="Line 20"/>
            <p:cNvSpPr>
              <a:spLocks noChangeShapeType="1"/>
            </p:cNvSpPr>
            <p:nvPr/>
          </p:nvSpPr>
          <p:spPr bwMode="auto">
            <a:xfrm>
              <a:off x="288" y="2064"/>
              <a:ext cx="480" cy="0"/>
            </a:xfrm>
            <a:prstGeom prst="line">
              <a:avLst/>
            </a:prstGeom>
            <a:noFill/>
            <a:ln w="3175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cxnSp>
        <p:nvCxnSpPr>
          <p:cNvPr id="54" name="Elbow Connector 53"/>
          <p:cNvCxnSpPr/>
          <p:nvPr/>
        </p:nvCxnSpPr>
        <p:spPr>
          <a:xfrm rot="16200000" flipH="1">
            <a:off x="687575" y="3519176"/>
            <a:ext cx="716105" cy="580101"/>
          </a:xfrm>
          <a:prstGeom prst="bentConnector2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03316" y="3039343"/>
            <a:ext cx="85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head</a:t>
            </a:r>
            <a:endParaRPr lang="en-IN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86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Circular 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inked List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26957" y="980728"/>
            <a:ext cx="873753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circular linked list is basically a linear linked list that may be </a:t>
            </a:r>
            <a:r>
              <a:rPr lang="en-IN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single-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IN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double-linked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only difference is that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there is no any NULL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value terminating the list.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fact in the list every node points to the next node and last node points to the first node, thus forming a circle. Since it forms a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circle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 end to stop 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is called as </a:t>
            </a:r>
            <a:r>
              <a:rPr lang="en-IN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circular linked list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 circular linked list there can be no starting or ending node, whole node can be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traversed from any node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order to traverse the circular linked </a:t>
            </a: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list,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only once we need to traverse entire list until the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starting node is not traversed again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IN" sz="20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circular linked list can be implemented using both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singly linked list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doubly linked list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497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Circular linked 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17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1052736"/>
            <a:ext cx="4481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Basic structure of </a:t>
            </a:r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singly circular 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linked </a:t>
            </a:r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list: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9394" name="Picture 2" descr="Singly circular linked li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72816"/>
            <a:ext cx="6624735" cy="1440160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67544" y="3429000"/>
            <a:ext cx="2837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Doubly circular 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linked </a:t>
            </a:r>
            <a:r>
              <a:rPr lang="en-IN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list:</a:t>
            </a:r>
            <a:endParaRPr lang="en-IN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9396" name="Picture 4" descr="Doubly circular linked li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221088"/>
            <a:ext cx="6624735" cy="1512168"/>
          </a:xfrm>
          <a:prstGeom prst="rect">
            <a:avLst/>
          </a:prstGeom>
          <a:noFill/>
          <a:ln w="31750">
            <a:solidFill>
              <a:schemeClr val="dk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25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Circular linked 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18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51520" y="764704"/>
            <a:ext cx="844949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C00000"/>
              </a:buClr>
            </a:pPr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Advantages of a Circular linked list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Entire list can be traversed from any node.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Circular lists are the required data structure when we want a list to be accessed in a circle or loop.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Despite of being singly circular linked list we can easily traverse to its previous node, which is not possible in singly linked list.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rgbClr val="C00000"/>
              </a:buClr>
            </a:pPr>
            <a:r>
              <a:rPr lang="en-IN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Disadvantages </a:t>
            </a:r>
            <a:r>
              <a:rPr lang="en-IN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Circular linked list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Circular list are complex as compared to singly linked lists.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Reversing of circular list is complex as compared to singly or doubly lists.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 not traversed carefully, then we could end up in an infinite loop.</a:t>
            </a:r>
          </a:p>
          <a:p>
            <a:pPr marL="342900" indent="-342900" algn="just">
              <a:buClr>
                <a:srgbClr val="C00000"/>
              </a:buClr>
              <a:buFont typeface="Arial" pitchFamily="34" charset="0"/>
              <a:buChar char="•"/>
            </a:pPr>
            <a:r>
              <a:rPr lang="en-IN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Like singly and doubly lists circular linked lists also doesn’t supports direct accessing of elements.</a:t>
            </a:r>
          </a:p>
        </p:txBody>
      </p:sp>
    </p:spTree>
    <p:extLst>
      <p:ext uri="{BB962C8B-B14F-4D97-AF65-F5344CB8AC3E}">
        <p14:creationId xmlns:p14="http://schemas.microsoft.com/office/powerpoint/2010/main" val="265089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1008112"/>
          </a:xfrm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en-US" sz="4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Operations on circular linked list</a:t>
            </a:r>
            <a:endParaRPr lang="en-IN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19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63695" y="1124744"/>
            <a:ext cx="75608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Creation of list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Traversal of list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Insertion of node</a:t>
            </a:r>
          </a:p>
          <a:p>
            <a:pPr marL="1257300" lvl="2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At the beginning of list</a:t>
            </a:r>
          </a:p>
          <a:p>
            <a:pPr marL="1257300" lvl="2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At any position in the list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Deletion of node</a:t>
            </a:r>
          </a:p>
          <a:p>
            <a:pPr marL="1257300" lvl="2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Deletion of first node</a:t>
            </a:r>
          </a:p>
          <a:p>
            <a:pPr marL="1257300" lvl="2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Deletion of node from middle of the list</a:t>
            </a:r>
          </a:p>
          <a:p>
            <a:pPr marL="1257300" lvl="2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Deletion of last node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Counting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total number of nodes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Arial" pitchFamily="34" charset="0"/>
              <a:buChar char="•"/>
            </a:pPr>
            <a:r>
              <a:rPr lang="en-IN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Reversing </a:t>
            </a: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of list</a:t>
            </a:r>
          </a:p>
        </p:txBody>
      </p:sp>
    </p:spTree>
    <p:extLst>
      <p:ext uri="{BB962C8B-B14F-4D97-AF65-F5344CB8AC3E}">
        <p14:creationId xmlns:p14="http://schemas.microsoft.com/office/powerpoint/2010/main" val="31974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764704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2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Creation and Traversal of a Circular List</a:t>
            </a:r>
            <a: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20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95536" y="1700808"/>
            <a:ext cx="8233036" cy="4493538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stdlib.h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fontAlgn="base"/>
            <a:endParaRPr lang="en-IN" sz="13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Basic </a:t>
            </a:r>
            <a:r>
              <a:rPr lang="en-IN" sz="13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structure of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 */</a:t>
            </a:r>
          </a:p>
          <a:p>
            <a:pPr fontAlgn="base"/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{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data;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 next;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}*head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fontAlgn="base"/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data;</a:t>
            </a:r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head = NULL;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en-IN" sz="13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the total number of nodes in list: ");</a:t>
            </a: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("%d", &amp;n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3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createList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(n);   		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function to create circular linked list</a:t>
            </a:r>
          </a:p>
          <a:p>
            <a:pPr fontAlgn="base"/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3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displayList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();			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IN" sz="13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 display the list</a:t>
            </a:r>
          </a:p>
          <a:p>
            <a:pPr fontAlgn="base"/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fontAlgn="base"/>
            <a:r>
              <a:rPr lang="en-IN" sz="13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3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fontAlgn="base"/>
            <a:r>
              <a:rPr lang="en-IN" sz="13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IN" sz="13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70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Circular Linked 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Creation of List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21</a:t>
            </a:fld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23528" y="1196752"/>
            <a:ext cx="8233036" cy="544764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IN" sz="12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createList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i,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*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if(n &gt;= 1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){                      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Creates and links the head node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head 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= 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*)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node));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data of 1 node: ");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("%d", &amp;data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head-&gt;data =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head-&gt;next = NULL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head;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for(i=2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i&lt;=n; i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++){      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/*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Creates and links rest of the n-1 nodes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*)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malloc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sizeof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node));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("Enter data of %d node: ", i);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("%d", &amp;data);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-&gt;data = data;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-&gt;next = NULL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&gt;next =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//Links the previous node with newly created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</a:t>
            </a:r>
            <a:endParaRPr lang="en-IN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newNode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;     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Moves the previous node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ahead</a:t>
            </a:r>
            <a:endParaRPr lang="en-IN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prevNode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&gt;next =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head; </a:t>
            </a:r>
            <a:r>
              <a:rPr lang="en-IN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//Links the last node with first </a:t>
            </a:r>
            <a:r>
              <a:rPr lang="en-IN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IN" sz="12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("\</a:t>
            </a:r>
            <a:r>
              <a:rPr lang="en-IN" sz="12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nCIRCULAR</a:t>
            </a:r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LINKED LIST CREATED SUCCESSFULLY\n</a:t>
            </a:r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");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fontAlgn="base"/>
            <a:r>
              <a:rPr lang="en-IN" sz="12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2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IN" sz="12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4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Circular Linked 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ist: Traversal of List</a:t>
            </a:r>
            <a: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22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95536" y="1412776"/>
            <a:ext cx="8233036" cy="483209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540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IN" sz="1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displayList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node *current;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n = 1;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if(head == NULL)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("List is empty.\n");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current = head;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("DATA IN THE LIST:\n");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do {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IN" sz="1400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("Data %d = %d\n", n, current-&gt;data);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current = current-&gt;next;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n++;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}while(current != head);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fontAlgn="base"/>
            <a:r>
              <a:rPr lang="en-IN" sz="1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 </a:t>
            </a:r>
            <a:endParaRPr lang="en-IN" sz="14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85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6480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6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Few Exercises to Try Out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D51A-C1C7-4F6F-ADB4-90C3724E8DB4}" type="slidenum">
              <a:rPr lang="en-IN" smtClean="0"/>
              <a:t>23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08551" y="1196752"/>
            <a:ext cx="882794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 circular linked list write </a:t>
            </a:r>
            <a:r>
              <a:rPr lang="en-IN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function </a:t>
            </a:r>
            <a:r>
              <a:rPr lang="en-IN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to:</a:t>
            </a:r>
          </a:p>
          <a:p>
            <a:pPr algn="just"/>
            <a:endParaRPr lang="en-IN" sz="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Clr>
                <a:srgbClr val="C00000"/>
              </a:buClr>
              <a:buSzPct val="130000"/>
              <a:buFont typeface="Arial" pitchFamily="34" charset="0"/>
              <a:buChar char="•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Insert a node at any position of the list and delete from the beginning of the list.</a:t>
            </a:r>
          </a:p>
          <a:p>
            <a:pPr lvl="2" algn="just">
              <a:buClr>
                <a:srgbClr val="C00000"/>
              </a:buClr>
              <a:buSzPct val="130000"/>
            </a:pP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insert_position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data,position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2" algn="just">
              <a:buClr>
                <a:srgbClr val="C00000"/>
              </a:buClr>
              <a:buSzPct val="130000"/>
            </a:pPr>
            <a:r>
              <a:rPr lang="en-IN" sz="2400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delete_front</a:t>
            </a:r>
            <a:r>
              <a:rPr lang="en-IN" sz="2400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2" algn="just">
              <a:buClr>
                <a:srgbClr val="C00000"/>
              </a:buClr>
              <a:buSzPct val="130000"/>
            </a:pPr>
            <a:endParaRPr lang="en-IN" sz="24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marL="342900" lvl="0" indent="-342900" algn="just">
              <a:buClr>
                <a:srgbClr val="C00000"/>
              </a:buClr>
              <a:buSzPct val="130000"/>
              <a:buFont typeface="Arial" pitchFamily="34" charset="0"/>
              <a:buChar char="•"/>
            </a:pPr>
            <a:r>
              <a:rPr lang="en-IN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Reverse the given circular linked link.</a:t>
            </a:r>
            <a:endParaRPr lang="en-IN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 algn="just">
              <a:buClr>
                <a:srgbClr val="C00000"/>
              </a:buClr>
              <a:buSzPct val="130000"/>
            </a:pPr>
            <a:endParaRPr lang="en-IN" sz="2400" dirty="0" smtClean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38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12402</TotalTime>
  <Words>1881</Words>
  <Application>Microsoft Office PowerPoint</Application>
  <PresentationFormat>On-screen Show (4:3)</PresentationFormat>
  <Paragraphs>335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 New</vt:lpstr>
      <vt:lpstr>Rockwell</vt:lpstr>
      <vt:lpstr>Rockwell Condensed</vt:lpstr>
      <vt:lpstr>Times New Roman</vt:lpstr>
      <vt:lpstr>Wingdings</vt:lpstr>
      <vt:lpstr>Wood Type</vt:lpstr>
      <vt:lpstr>Data Structures and Algorithms (BCSE202L) </vt:lpstr>
      <vt:lpstr>Types of Lists: Doubly Linked List</vt:lpstr>
      <vt:lpstr>Defining a Node of a Doubly Linked List</vt:lpstr>
      <vt:lpstr>Doubly Linked List </vt:lpstr>
      <vt:lpstr>Double versus Single Linked List </vt:lpstr>
      <vt:lpstr> Doubly Linked List: Insertion at any Position </vt:lpstr>
      <vt:lpstr>Doubly Linked List: Insertion at any Position </vt:lpstr>
      <vt:lpstr>Doubly Linked List: Insertion at any Position </vt:lpstr>
      <vt:lpstr>Doubly Linked List: Insertion at any Position </vt:lpstr>
      <vt:lpstr>Doubly Linked List: Insertion at any Position </vt:lpstr>
      <vt:lpstr>Doubly Linked List: Insertion at any Position </vt:lpstr>
      <vt:lpstr>Doubly Linked List: Insertion at any Position </vt:lpstr>
      <vt:lpstr>Doubly Linked List: Insertion at any Position </vt:lpstr>
      <vt:lpstr>Few Exercises to Try Out</vt:lpstr>
      <vt:lpstr>Types of Lists: Circular Linked List</vt:lpstr>
      <vt:lpstr>Circular Linked List </vt:lpstr>
      <vt:lpstr>Circular linked list: </vt:lpstr>
      <vt:lpstr>Circular linked list: </vt:lpstr>
      <vt:lpstr>Operations on circular linked list</vt:lpstr>
      <vt:lpstr>Creation and Traversal of a Circular List </vt:lpstr>
      <vt:lpstr>Circular Linked List: Creation of List </vt:lpstr>
      <vt:lpstr>Circular Linked List: Traversal of List </vt:lpstr>
      <vt:lpstr>Few Exercises to Try Out</vt:lpstr>
    </vt:vector>
  </TitlesOfParts>
  <Company>IIT Kharagpur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and Data Structures</dc:title>
  <dc:creator>Debasis Samanta</dc:creator>
  <cp:lastModifiedBy>Windows User</cp:lastModifiedBy>
  <cp:revision>399</cp:revision>
  <dcterms:created xsi:type="dcterms:W3CDTF">2016-12-06T07:31:32Z</dcterms:created>
  <dcterms:modified xsi:type="dcterms:W3CDTF">2023-04-17T09:11:28Z</dcterms:modified>
</cp:coreProperties>
</file>