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258" r:id="rId2"/>
    <p:sldId id="293" r:id="rId3"/>
    <p:sldId id="294" r:id="rId4"/>
    <p:sldId id="295" r:id="rId5"/>
    <p:sldId id="261" r:id="rId6"/>
    <p:sldId id="277" r:id="rId7"/>
    <p:sldId id="279" r:id="rId8"/>
    <p:sldId id="296" r:id="rId9"/>
    <p:sldId id="298" r:id="rId10"/>
    <p:sldId id="299" r:id="rId11"/>
    <p:sldId id="300" r:id="rId12"/>
    <p:sldId id="304" r:id="rId13"/>
    <p:sldId id="306" r:id="rId14"/>
    <p:sldId id="307" r:id="rId15"/>
    <p:sldId id="309" r:id="rId16"/>
    <p:sldId id="310" r:id="rId17"/>
    <p:sldId id="308" r:id="rId18"/>
    <p:sldId id="311" r:id="rId19"/>
    <p:sldId id="30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98" autoAdjust="0"/>
  </p:normalViewPr>
  <p:slideViewPr>
    <p:cSldViewPr>
      <p:cViewPr varScale="1">
        <p:scale>
          <a:sx n="82" d="100"/>
          <a:sy n="82" d="100"/>
        </p:scale>
        <p:origin x="140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0B87E-5AAD-49CA-B993-E1F22CB4EB9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A89F0-4C61-49F4-AB7B-83D744A4C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2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4871E70-E517-44E8-B179-8521CADDB8C5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Searc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2689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BCS202P- Data Structures and Algorithms Lab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3152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Dr. Priyanka N</a:t>
            </a:r>
          </a:p>
          <a:p>
            <a:r>
              <a:rPr lang="en-US" dirty="0" smtClean="0"/>
              <a:t>Assistant Professor Senior Grade 1</a:t>
            </a:r>
          </a:p>
          <a:p>
            <a:r>
              <a:rPr lang="en-US" dirty="0" smtClean="0"/>
              <a:t>School of Computer Science &amp; Engineering</a:t>
            </a:r>
          </a:p>
          <a:p>
            <a:r>
              <a:rPr lang="en-US" dirty="0" smtClean="0"/>
              <a:t>VIT, Vellore.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3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1248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BCS202P- Data Structures and Algorithms Lab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15616" y="1850064"/>
            <a:ext cx="7723584" cy="3667168"/>
          </a:xfrm>
        </p:spPr>
        <p:txBody>
          <a:bodyPr/>
          <a:lstStyle/>
          <a:p>
            <a:pPr algn="ctr"/>
            <a:r>
              <a:rPr lang="en-GB" dirty="0" smtClean="0"/>
              <a:t>COURSE OBJECTIVE</a:t>
            </a:r>
          </a:p>
          <a:p>
            <a:pPr algn="ctr"/>
            <a:endParaRPr lang="en-GB" dirty="0"/>
          </a:p>
          <a:p>
            <a:pPr algn="just"/>
            <a:r>
              <a:rPr lang="en-GB" dirty="0" smtClean="0"/>
              <a:t>1</a:t>
            </a:r>
            <a:r>
              <a:rPr lang="en-GB" dirty="0"/>
              <a:t>. To impart basic concepts of data structures and algorithms.</a:t>
            </a:r>
          </a:p>
          <a:p>
            <a:pPr algn="just"/>
            <a:r>
              <a:rPr lang="en-GB" dirty="0"/>
              <a:t>2. To differentiate linear, non-linear data structures and their operations.</a:t>
            </a:r>
          </a:p>
          <a:p>
            <a:pPr algn="just"/>
            <a:r>
              <a:rPr lang="en-GB" dirty="0"/>
              <a:t>3. To comprehend the necessity of time complexity in algorithms.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36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1248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BCS202P- Data Structures and Algorithms Lab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15616" y="1850064"/>
            <a:ext cx="7723584" cy="3667168"/>
          </a:xfrm>
        </p:spPr>
        <p:txBody>
          <a:bodyPr/>
          <a:lstStyle/>
          <a:p>
            <a:pPr algn="ctr"/>
            <a:r>
              <a:rPr lang="en-GB" dirty="0" smtClean="0"/>
              <a:t>COURSE OUTCOMES</a:t>
            </a:r>
          </a:p>
          <a:p>
            <a:pPr algn="ctr"/>
            <a:endParaRPr lang="en-GB" dirty="0" smtClean="0"/>
          </a:p>
          <a:p>
            <a:pPr algn="just"/>
            <a:r>
              <a:rPr lang="en-GB" dirty="0"/>
              <a:t>1. Apply appropriate data structures to find solutions to practical problems.</a:t>
            </a:r>
          </a:p>
          <a:p>
            <a:pPr algn="just"/>
            <a:r>
              <a:rPr lang="en-GB" dirty="0"/>
              <a:t>2. Identify suitable algorithms for solving the given problems.</a:t>
            </a:r>
          </a:p>
        </p:txBody>
      </p:sp>
    </p:spTree>
    <p:extLst>
      <p:ext uri="{BB962C8B-B14F-4D97-AF65-F5344CB8AC3E}">
        <p14:creationId xmlns:p14="http://schemas.microsoft.com/office/powerpoint/2010/main" val="14507244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BCS202P- Data Structures and Algorithms </a:t>
            </a:r>
            <a:r>
              <a:rPr lang="en-US" b="1" dirty="0" smtClean="0"/>
              <a:t>Lab - Experiments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72816"/>
            <a:ext cx="7344816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788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/>
              <a:t>BCS202L- Data Structures and Algorithms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7818072" cy="4800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Text Books: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Mark A. Weiss, Data Structures &amp; Algorithm Analysis in C++, 4 </a:t>
            </a:r>
            <a:r>
              <a:rPr lang="en-GB" sz="2000" dirty="0" err="1"/>
              <a:t>th</a:t>
            </a:r>
            <a:r>
              <a:rPr lang="en-GB" sz="2000" dirty="0"/>
              <a:t> Edition, </a:t>
            </a:r>
            <a:r>
              <a:rPr lang="en-GB" sz="2000" dirty="0" smtClean="0"/>
              <a:t>2013,Pearson Education.</a:t>
            </a:r>
            <a:endParaRPr lang="en-US" sz="2000" dirty="0"/>
          </a:p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Reference Books: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/>
              <a:t>Alfred V. Aho, Jeffrey D. Ullman and John E. Hopcroft, Data Structures and </a:t>
            </a:r>
            <a:r>
              <a:rPr lang="en-GB" sz="2000" dirty="0" smtClean="0"/>
              <a:t>Algorithms,1983</a:t>
            </a:r>
            <a:r>
              <a:rPr lang="en-GB" sz="2000" dirty="0"/>
              <a:t>, Pearson Education.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Horowitz</a:t>
            </a:r>
            <a:r>
              <a:rPr lang="en-GB" sz="2000" dirty="0"/>
              <a:t>, Sahni and S. Anderson-Freed, Fundamentals of Data Structures in C, </a:t>
            </a:r>
            <a:r>
              <a:rPr lang="en-GB" sz="2000" dirty="0" smtClean="0"/>
              <a:t>2008, 2</a:t>
            </a:r>
            <a:r>
              <a:rPr lang="en-GB" sz="2000" baseline="30000" dirty="0" smtClean="0"/>
              <a:t>nd</a:t>
            </a:r>
            <a:r>
              <a:rPr lang="en-GB" sz="2000" dirty="0" smtClean="0"/>
              <a:t>  </a:t>
            </a:r>
            <a:r>
              <a:rPr lang="en-GB" sz="2000" dirty="0"/>
              <a:t>Edition, Universities Press.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Thomas </a:t>
            </a:r>
            <a:r>
              <a:rPr lang="en-GB" sz="2000" dirty="0"/>
              <a:t>H. Cormen, C.E. Leiserson, R L. Rivest and C. Stein, Introduction </a:t>
            </a:r>
            <a:r>
              <a:rPr lang="en-GB" sz="2000" dirty="0" smtClean="0"/>
              <a:t>to Algorithms</a:t>
            </a:r>
            <a:r>
              <a:rPr lang="en-GB" sz="2000" dirty="0"/>
              <a:t>, 2009, </a:t>
            </a:r>
            <a:r>
              <a:rPr lang="en-GB" sz="2000" dirty="0" smtClean="0"/>
              <a:t>3</a:t>
            </a:r>
            <a:r>
              <a:rPr lang="en-GB" sz="2000" baseline="30000" dirty="0" smtClean="0"/>
              <a:t>rd</a:t>
            </a:r>
            <a:r>
              <a:rPr lang="en-GB" sz="2000" dirty="0" smtClean="0"/>
              <a:t>  </a:t>
            </a:r>
            <a:r>
              <a:rPr lang="en-GB" sz="2000" dirty="0"/>
              <a:t>Edition, MIT Press.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455813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16632"/>
            <a:ext cx="7498080" cy="864096"/>
          </a:xfrm>
        </p:spPr>
        <p:txBody>
          <a:bodyPr/>
          <a:lstStyle/>
          <a:p>
            <a:pPr algn="ctr"/>
            <a:r>
              <a:rPr lang="en-IN" dirty="0"/>
              <a:t>Basic </a:t>
            </a:r>
            <a:r>
              <a:rPr lang="en-IN" dirty="0" smtClean="0"/>
              <a:t>Terminologies in 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043608" y="980728"/>
            <a:ext cx="7920880" cy="5735244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>
                <a:solidFill>
                  <a:srgbClr val="00B050"/>
                </a:solidFill>
              </a:rPr>
              <a:t>Data:  </a:t>
            </a:r>
            <a:r>
              <a:rPr lang="en-US" sz="2400" dirty="0">
                <a:solidFill>
                  <a:schemeClr val="tx1"/>
                </a:solidFill>
              </a:rPr>
              <a:t>Data  are simply values  or sets of values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</a:rPr>
              <a:t>Data </a:t>
            </a:r>
            <a:r>
              <a:rPr lang="en-US" sz="2400" dirty="0" smtClean="0">
                <a:solidFill>
                  <a:srgbClr val="00B050"/>
                </a:solidFill>
              </a:rPr>
              <a:t>items</a:t>
            </a:r>
            <a:r>
              <a:rPr lang="en-US" sz="2400" dirty="0">
                <a:solidFill>
                  <a:srgbClr val="00B050"/>
                </a:solidFill>
              </a:rPr>
              <a:t>:  </a:t>
            </a:r>
            <a:r>
              <a:rPr lang="en-US" sz="2400" dirty="0">
                <a:solidFill>
                  <a:schemeClr val="tx1"/>
                </a:solidFill>
              </a:rPr>
              <a:t>Data items refers to a single unit of values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00B050"/>
                </a:solidFill>
              </a:rPr>
              <a:t>Group: </a:t>
            </a:r>
            <a:r>
              <a:rPr lang="en-US" sz="2400" dirty="0" smtClean="0">
                <a:solidFill>
                  <a:schemeClr val="tx1"/>
                </a:solidFill>
              </a:rPr>
              <a:t>Data </a:t>
            </a:r>
            <a:r>
              <a:rPr lang="en-US" sz="2400" dirty="0">
                <a:solidFill>
                  <a:schemeClr val="tx1"/>
                </a:solidFill>
              </a:rPr>
              <a:t>items that are divided  into sub-items are called </a:t>
            </a:r>
            <a:r>
              <a:rPr lang="en-US" sz="2400" dirty="0">
                <a:solidFill>
                  <a:srgbClr val="00B050"/>
                </a:solidFill>
              </a:rPr>
              <a:t>Group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items.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00B050"/>
                </a:solidFill>
              </a:rPr>
              <a:t>Elementary items: </a:t>
            </a:r>
            <a:r>
              <a:rPr lang="en-US" sz="2400" dirty="0" smtClean="0">
                <a:solidFill>
                  <a:schemeClr val="tx1"/>
                </a:solidFill>
              </a:rPr>
              <a:t>Data </a:t>
            </a:r>
            <a:r>
              <a:rPr lang="en-US" sz="2400" dirty="0">
                <a:solidFill>
                  <a:schemeClr val="tx1"/>
                </a:solidFill>
              </a:rPr>
              <a:t>items that are not able to divide  into sub-items are called Elementary items.  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</a:rPr>
              <a:t>Entity: </a:t>
            </a:r>
            <a:r>
              <a:rPr lang="en-US" sz="2400" dirty="0">
                <a:solidFill>
                  <a:schemeClr val="tx1"/>
                </a:solidFill>
              </a:rPr>
              <a:t>An  entity is something that has certain attributes or </a:t>
            </a:r>
            <a:r>
              <a:rPr lang="en-US" sz="2400" dirty="0" smtClean="0">
                <a:solidFill>
                  <a:schemeClr val="tx1"/>
                </a:solidFill>
              </a:rPr>
              <a:t>properties </a:t>
            </a:r>
            <a:r>
              <a:rPr lang="en-US" sz="2400" dirty="0">
                <a:solidFill>
                  <a:schemeClr val="tx1"/>
                </a:solidFill>
              </a:rPr>
              <a:t>which  may be assigned </a:t>
            </a:r>
            <a:r>
              <a:rPr lang="en-US" sz="2400" dirty="0" smtClean="0">
                <a:solidFill>
                  <a:schemeClr val="tx1"/>
                </a:solidFill>
              </a:rPr>
              <a:t>values</a:t>
            </a:r>
            <a:r>
              <a:rPr lang="en-US" sz="2400" dirty="0">
                <a:solidFill>
                  <a:schemeClr val="tx1"/>
                </a:solidFill>
              </a:rPr>
              <a:t>.  The values  may be </a:t>
            </a:r>
            <a:r>
              <a:rPr lang="en-US" sz="2400" dirty="0" smtClean="0">
                <a:solidFill>
                  <a:schemeClr val="tx1"/>
                </a:solidFill>
              </a:rPr>
              <a:t>either </a:t>
            </a:r>
            <a:r>
              <a:rPr lang="en-US" sz="2400" dirty="0">
                <a:solidFill>
                  <a:schemeClr val="tx1"/>
                </a:solidFill>
              </a:rPr>
              <a:t>numeric or non-numeric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</a:rPr>
              <a:t>Field</a:t>
            </a:r>
            <a:r>
              <a:rPr lang="en-US" sz="2400" dirty="0">
                <a:solidFill>
                  <a:schemeClr val="tx1"/>
                </a:solidFill>
              </a:rPr>
              <a:t> is a single </a:t>
            </a:r>
            <a:r>
              <a:rPr lang="en-US" sz="2400" dirty="0" smtClean="0">
                <a:solidFill>
                  <a:schemeClr val="tx1"/>
                </a:solidFill>
              </a:rPr>
              <a:t>elementary </a:t>
            </a:r>
            <a:r>
              <a:rPr lang="en-US" sz="2400" dirty="0">
                <a:solidFill>
                  <a:schemeClr val="tx1"/>
                </a:solidFill>
              </a:rPr>
              <a:t>unit of information representing an attribute of an entity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</a:rPr>
              <a:t>Record </a:t>
            </a:r>
            <a:r>
              <a:rPr lang="en-US" sz="2400" dirty="0">
                <a:solidFill>
                  <a:schemeClr val="tx1"/>
                </a:solidFill>
              </a:rPr>
              <a:t>is the collection of </a:t>
            </a:r>
            <a:r>
              <a:rPr lang="en-US" sz="2400" dirty="0" smtClean="0">
                <a:solidFill>
                  <a:schemeClr val="tx1"/>
                </a:solidFill>
              </a:rPr>
              <a:t>field </a:t>
            </a:r>
            <a:r>
              <a:rPr lang="en-US" sz="2400" dirty="0">
                <a:solidFill>
                  <a:schemeClr val="tx1"/>
                </a:solidFill>
              </a:rPr>
              <a:t>values of a given  entity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</a:rPr>
              <a:t>File </a:t>
            </a:r>
            <a:r>
              <a:rPr lang="en-US" sz="2400" dirty="0">
                <a:solidFill>
                  <a:schemeClr val="tx1"/>
                </a:solidFill>
              </a:rPr>
              <a:t>is the collection of records of the entities in a given entity set.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42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2" descr="Image result for data structure typ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624" y="609601"/>
            <a:ext cx="77343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093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Implementation of Searching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268760"/>
            <a:ext cx="7818072" cy="5472608"/>
          </a:xfrm>
        </p:spPr>
        <p:txBody>
          <a:bodyPr/>
          <a:lstStyle/>
          <a:p>
            <a:r>
              <a:rPr lang="en-IN" dirty="0" smtClean="0"/>
              <a:t>Linear Search</a:t>
            </a:r>
          </a:p>
          <a:p>
            <a:pPr lvl="1" algn="just"/>
            <a:r>
              <a:rPr lang="en-US" dirty="0"/>
              <a:t>Linear search is a very simple search algorithm. In this type of search, a sequential search is made over all items one by one. Every item is checked and if a match is found then that particular item is returned, otherwise the search continues till the end of the data collection.</a:t>
            </a:r>
          </a:p>
          <a:p>
            <a:pPr lvl="1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869160"/>
            <a:ext cx="7704022" cy="182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8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3649" y="980728"/>
            <a:ext cx="676875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Segoe UI"/>
              </a:rPr>
              <a:t>Linear search( array[], search element</a:t>
            </a:r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)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{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for </a:t>
            </a:r>
            <a:r>
              <a:rPr lang="en-US" sz="2400" dirty="0" err="1" smtClean="0">
                <a:solidFill>
                  <a:prstClr val="black"/>
                </a:solidFill>
                <a:latin typeface="Segoe UI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=1 to n do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{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    if( array[</a:t>
            </a:r>
            <a:r>
              <a:rPr lang="en-US" sz="2400" dirty="0" err="1" smtClean="0">
                <a:solidFill>
                  <a:prstClr val="black"/>
                </a:solidFill>
                <a:latin typeface="Segoe UI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]==search element)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	{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         	     return i;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	}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 }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      return 0;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Segoe UI"/>
              </a:rPr>
              <a:t>}</a:t>
            </a:r>
          </a:p>
          <a:p>
            <a:endParaRPr lang="en-US" dirty="0">
              <a:solidFill>
                <a:prstClr val="black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454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Binary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Binary search is a fast search </a:t>
            </a:r>
            <a:r>
              <a:rPr lang="en-US" dirty="0" smtClean="0"/>
              <a:t>algorithm </a:t>
            </a:r>
            <a:r>
              <a:rPr lang="en-US" dirty="0"/>
              <a:t>works on the principle of </a:t>
            </a:r>
            <a:r>
              <a:rPr lang="en-US" dirty="0">
                <a:solidFill>
                  <a:srgbClr val="FF0000"/>
                </a:solidFill>
              </a:rPr>
              <a:t>divide and </a:t>
            </a:r>
            <a:r>
              <a:rPr lang="en-US" dirty="0" smtClean="0">
                <a:solidFill>
                  <a:srgbClr val="FF0000"/>
                </a:solidFill>
              </a:rPr>
              <a:t>conquer,</a:t>
            </a:r>
          </a:p>
          <a:p>
            <a:pPr algn="just"/>
            <a:r>
              <a:rPr lang="en-US" dirty="0" smtClean="0"/>
              <a:t>Data should be compulsory </a:t>
            </a:r>
            <a:r>
              <a:rPr lang="en-US" dirty="0"/>
              <a:t>in the sorted 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98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How Binary Search Works?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052736"/>
            <a:ext cx="7746064" cy="554461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Binary search looks for a particular item by </a:t>
            </a:r>
            <a:r>
              <a:rPr lang="en-US" dirty="0">
                <a:solidFill>
                  <a:srgbClr val="FF0000"/>
                </a:solidFill>
              </a:rPr>
              <a:t>comparing the middle most item </a:t>
            </a:r>
            <a:r>
              <a:rPr lang="en-US" dirty="0"/>
              <a:t>of the collection. If a match occurs, then the index of item is returned. </a:t>
            </a:r>
          </a:p>
          <a:p>
            <a:pPr algn="just"/>
            <a:r>
              <a:rPr lang="en-US" dirty="0"/>
              <a:t>If the </a:t>
            </a:r>
            <a:r>
              <a:rPr lang="en-US" dirty="0">
                <a:solidFill>
                  <a:srgbClr val="FF0000"/>
                </a:solidFill>
              </a:rPr>
              <a:t>middle item is greater than the item</a:t>
            </a:r>
            <a:r>
              <a:rPr lang="en-US" dirty="0"/>
              <a:t>, then the item is searched in the sub-array </a:t>
            </a:r>
            <a:r>
              <a:rPr lang="en-US" dirty="0">
                <a:solidFill>
                  <a:srgbClr val="FF0000"/>
                </a:solidFill>
              </a:rPr>
              <a:t>to the left of the middle</a:t>
            </a:r>
            <a:r>
              <a:rPr lang="en-US" dirty="0"/>
              <a:t> item. </a:t>
            </a:r>
          </a:p>
          <a:p>
            <a:pPr algn="just"/>
            <a:r>
              <a:rPr lang="en-US" dirty="0"/>
              <a:t>Otherwise, the item is searched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in the sub-array </a:t>
            </a:r>
            <a:r>
              <a:rPr lang="en-US" dirty="0">
                <a:solidFill>
                  <a:srgbClr val="FF0000"/>
                </a:solidFill>
              </a:rPr>
              <a:t>to the right of the middle item</a:t>
            </a:r>
            <a:r>
              <a:rPr lang="en-US" dirty="0"/>
              <a:t>. This process continues on the sub-array as well until the size of the subarray reduces to zero.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66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332656"/>
            <a:ext cx="7962088" cy="6336704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 smtClean="0">
                <a:solidFill>
                  <a:srgbClr val="00B050"/>
                </a:solidFill>
                <a:latin typeface="Segoe UI"/>
              </a:rPr>
              <a:t>Binary </a:t>
            </a:r>
            <a:r>
              <a:rPr lang="en-US" b="1" dirty="0">
                <a:solidFill>
                  <a:srgbClr val="00B050"/>
                </a:solidFill>
                <a:latin typeface="Segoe UI"/>
              </a:rPr>
              <a:t>search( array[], </a:t>
            </a:r>
            <a:r>
              <a:rPr lang="en-US" b="1" dirty="0" smtClean="0">
                <a:solidFill>
                  <a:srgbClr val="00B050"/>
                </a:solidFill>
                <a:latin typeface="Segoe UI"/>
              </a:rPr>
              <a:t>x, Low, high, mid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)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{</a:t>
            </a:r>
          </a:p>
          <a:p>
            <a:pPr marL="82296" indent="0">
              <a:buNone/>
            </a:pPr>
            <a:r>
              <a:rPr lang="en-US" dirty="0" smtClean="0">
                <a:solidFill>
                  <a:prstClr val="black"/>
                </a:solidFill>
                <a:latin typeface="Segoe UI"/>
              </a:rPr>
              <a:t>	Low=1, high=n;</a:t>
            </a:r>
          </a:p>
          <a:p>
            <a:pPr marL="82296" indent="0">
              <a:buNone/>
            </a:pPr>
            <a:r>
              <a:rPr lang="en-US" dirty="0" smtClean="0">
                <a:solidFill>
                  <a:prstClr val="black"/>
                </a:solidFill>
                <a:latin typeface="Segoe UI"/>
              </a:rPr>
              <a:t>	While(low&lt;=high)    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     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{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mid=(low+high)/2</a:t>
            </a:r>
            <a:r>
              <a:rPr lang="en-US" dirty="0" smtClean="0">
                <a:solidFill>
                  <a:srgbClr val="FF0000"/>
                </a:solidFill>
                <a:latin typeface="Segoe UI"/>
              </a:rPr>
              <a:t>;// Finding mid value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if(x==a[mid])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	return mid;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else if(x&lt;a[mid])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	high=mid-1;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else</a:t>
            </a: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		low=mid+1;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	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}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pPr marL="82296" indent="0">
              <a:buNone/>
            </a:pPr>
            <a:r>
              <a:rPr lang="en-US" dirty="0">
                <a:solidFill>
                  <a:prstClr val="black"/>
                </a:solidFill>
                <a:latin typeface="Segoe UI"/>
              </a:rPr>
              <a:t>           </a:t>
            </a:r>
            <a:r>
              <a:rPr lang="en-US" dirty="0" smtClean="0">
                <a:solidFill>
                  <a:prstClr val="black"/>
                </a:solidFill>
                <a:latin typeface="Segoe UI"/>
              </a:rPr>
              <a:t>return 0;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pPr marL="82296" indent="0">
              <a:buNone/>
            </a:pPr>
            <a:r>
              <a:rPr lang="en-US" dirty="0" smtClean="0">
                <a:solidFill>
                  <a:prstClr val="black"/>
                </a:solidFill>
                <a:latin typeface="Segoe UI"/>
              </a:rPr>
              <a:t>}</a:t>
            </a:r>
            <a:endParaRPr lang="en-US" dirty="0">
              <a:solidFill>
                <a:prstClr val="black"/>
              </a:solidFill>
              <a:latin typeface="Segoe U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57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Binary Search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318165" y="1401682"/>
            <a:ext cx="7639111" cy="2880320"/>
          </a:xfrm>
        </p:spPr>
        <p:txBody>
          <a:bodyPr>
            <a:normAutofit/>
          </a:bodyPr>
          <a:lstStyle/>
          <a:p>
            <a:pPr algn="l"/>
            <a:endParaRPr lang="en-US" sz="2200" dirty="0" smtClean="0"/>
          </a:p>
          <a:p>
            <a:pPr algn="just"/>
            <a:r>
              <a:rPr lang="en-US" sz="2200" dirty="0" smtClean="0">
                <a:solidFill>
                  <a:srgbClr val="FF0000"/>
                </a:solidFill>
              </a:rPr>
              <a:t>For </a:t>
            </a:r>
            <a:r>
              <a:rPr lang="en-US" sz="2200" dirty="0">
                <a:solidFill>
                  <a:srgbClr val="FF0000"/>
                </a:solidFill>
              </a:rPr>
              <a:t>a binary search to work, it is mandatory for the target array to be sorted.  </a:t>
            </a:r>
            <a:endParaRPr lang="en-US" sz="2200" dirty="0" smtClean="0">
              <a:solidFill>
                <a:srgbClr val="FF0000"/>
              </a:solidFill>
            </a:endParaRPr>
          </a:p>
          <a:p>
            <a:pPr algn="l"/>
            <a:endParaRPr lang="en-US" sz="2200" b="1" dirty="0" smtClean="0">
              <a:solidFill>
                <a:srgbClr val="00B050"/>
              </a:solidFill>
            </a:endParaRPr>
          </a:p>
          <a:p>
            <a:pPr algn="l"/>
            <a:r>
              <a:rPr lang="en-US" sz="2200" b="1" dirty="0" smtClean="0">
                <a:solidFill>
                  <a:srgbClr val="00B050"/>
                </a:solidFill>
              </a:rPr>
              <a:t>Example</a:t>
            </a:r>
            <a:r>
              <a:rPr lang="en-US" sz="2200" b="1" dirty="0">
                <a:solidFill>
                  <a:srgbClr val="00B050"/>
                </a:solidFill>
              </a:rPr>
              <a:t>: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algn="l"/>
            <a:endParaRPr lang="en-US" sz="2200" b="1" dirty="0" smtClean="0">
              <a:solidFill>
                <a:srgbClr val="00B05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B050"/>
                </a:solidFill>
              </a:rPr>
              <a:t>The </a:t>
            </a:r>
            <a:r>
              <a:rPr lang="en-US" sz="2200" dirty="0">
                <a:solidFill>
                  <a:srgbClr val="00B050"/>
                </a:solidFill>
              </a:rPr>
              <a:t>following is our </a:t>
            </a:r>
            <a:r>
              <a:rPr lang="en-US" sz="2200" dirty="0" smtClean="0">
                <a:solidFill>
                  <a:srgbClr val="00B050"/>
                </a:solidFill>
              </a:rPr>
              <a:t>sorted array </a:t>
            </a:r>
            <a:r>
              <a:rPr lang="en-US" sz="2200" dirty="0">
                <a:solidFill>
                  <a:srgbClr val="00B050"/>
                </a:solidFill>
              </a:rPr>
              <a:t>and let us assume that we need to search the location of value 31 using binary search.</a:t>
            </a:r>
          </a:p>
          <a:p>
            <a:pPr algn="l"/>
            <a:endParaRPr lang="en-US" sz="2200" dirty="0"/>
          </a:p>
        </p:txBody>
      </p:sp>
      <p:pic>
        <p:nvPicPr>
          <p:cNvPr id="4098" name="Picture 2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5036510"/>
            <a:ext cx="7363203" cy="146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2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331639" y="3789040"/>
            <a:ext cx="7338831" cy="2695870"/>
          </a:xfrm>
        </p:spPr>
        <p:txBody>
          <a:bodyPr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First, we shall determine half of the array by using this formula </a:t>
            </a:r>
            <a:r>
              <a:rPr lang="en-US" sz="2200" b="1" dirty="0" smtClean="0">
                <a:solidFill>
                  <a:schemeClr val="tx1"/>
                </a:solidFill>
              </a:rPr>
              <a:t>−</a:t>
            </a: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altLang="en-US" sz="2400" b="1" dirty="0">
                <a:solidFill>
                  <a:srgbClr val="00B050"/>
                </a:solidFill>
              </a:rPr>
              <a:t>mid = </a:t>
            </a:r>
            <a:r>
              <a:rPr lang="en-US" altLang="en-US" sz="2400" b="1" dirty="0" smtClean="0">
                <a:solidFill>
                  <a:srgbClr val="00B050"/>
                </a:solidFill>
              </a:rPr>
              <a:t>(low </a:t>
            </a:r>
            <a:r>
              <a:rPr lang="en-US" altLang="en-US" sz="2400" b="1" dirty="0">
                <a:solidFill>
                  <a:srgbClr val="00B050"/>
                </a:solidFill>
              </a:rPr>
              <a:t>+ </a:t>
            </a:r>
            <a:r>
              <a:rPr lang="en-US" altLang="en-US" sz="2400" b="1" dirty="0" smtClean="0">
                <a:solidFill>
                  <a:srgbClr val="00B050"/>
                </a:solidFill>
              </a:rPr>
              <a:t>high) / </a:t>
            </a:r>
            <a:r>
              <a:rPr lang="en-US" altLang="en-US" sz="2400" b="1" dirty="0">
                <a:solidFill>
                  <a:srgbClr val="00B050"/>
                </a:solidFill>
              </a:rPr>
              <a:t>2 </a:t>
            </a:r>
            <a:endParaRPr lang="en-US" altLang="en-US" sz="2400" b="1" dirty="0" smtClean="0">
              <a:solidFill>
                <a:srgbClr val="00B050"/>
              </a:solidFill>
            </a:endParaRPr>
          </a:p>
          <a:p>
            <a:pPr algn="ctr"/>
            <a:endParaRPr lang="en-US" altLang="en-US" sz="2400" b="1" dirty="0">
              <a:solidFill>
                <a:srgbClr val="00B050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Here it is, </a:t>
            </a:r>
            <a:r>
              <a:rPr lang="en-US" sz="2200" b="1" dirty="0" smtClean="0">
                <a:solidFill>
                  <a:schemeClr val="tx1"/>
                </a:solidFill>
              </a:rPr>
              <a:t>(0 </a:t>
            </a:r>
            <a:r>
              <a:rPr lang="en-US" sz="2200" b="1" dirty="0">
                <a:solidFill>
                  <a:schemeClr val="tx1"/>
                </a:solidFill>
              </a:rPr>
              <a:t>+ </a:t>
            </a:r>
            <a:r>
              <a:rPr lang="en-US" sz="2200" b="1" dirty="0" smtClean="0">
                <a:solidFill>
                  <a:schemeClr val="tx1"/>
                </a:solidFill>
              </a:rPr>
              <a:t>9)/ </a:t>
            </a:r>
            <a:r>
              <a:rPr lang="en-US" sz="2200" b="1" dirty="0">
                <a:solidFill>
                  <a:schemeClr val="tx1"/>
                </a:solidFill>
              </a:rPr>
              <a:t>2 = 4 (integer value of 4.5). </a:t>
            </a:r>
            <a:endParaRPr lang="en-US" sz="2200" b="1" dirty="0" smtClean="0">
              <a:solidFill>
                <a:schemeClr val="tx1"/>
              </a:solidFill>
            </a:endParaRPr>
          </a:p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So</a:t>
            </a:r>
            <a:r>
              <a:rPr lang="en-US" sz="2200" b="1" dirty="0">
                <a:solidFill>
                  <a:schemeClr val="tx1"/>
                </a:solidFill>
              </a:rPr>
              <a:t>, 4 is the mid of the array</a:t>
            </a:r>
            <a:r>
              <a:rPr lang="en-US" sz="2200" b="1" dirty="0">
                <a:solidFill>
                  <a:srgbClr val="00B050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5123" name="Picture 3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51912"/>
            <a:ext cx="6472103" cy="187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32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115616" y="1435608"/>
            <a:ext cx="7848872" cy="264146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Now we compare the value stored at location 4, with the value being searched, i.e. 31.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We </a:t>
            </a:r>
            <a:r>
              <a:rPr lang="en-US" sz="2400" dirty="0">
                <a:solidFill>
                  <a:schemeClr val="tx1"/>
                </a:solidFill>
              </a:rPr>
              <a:t>find that the value at location 4 is 27, which is not a match.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As </a:t>
            </a:r>
            <a:r>
              <a:rPr lang="en-US" sz="2400" dirty="0">
                <a:solidFill>
                  <a:schemeClr val="tx1"/>
                </a:solidFill>
              </a:rPr>
              <a:t>the value is greater than 27 and we have a sorted array, so we also know that the target value must be in the upper portion of the array.</a:t>
            </a:r>
          </a:p>
        </p:txBody>
      </p:sp>
      <p:pic>
        <p:nvPicPr>
          <p:cNvPr id="6146" name="Picture 2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869160"/>
            <a:ext cx="6582780" cy="13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48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43934"/>
            <a:ext cx="7498080" cy="936794"/>
          </a:xfrm>
        </p:spPr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115616" y="1124744"/>
            <a:ext cx="7776864" cy="3240360"/>
          </a:xfrm>
        </p:spPr>
        <p:txBody>
          <a:bodyPr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We change our low to mid + 1 and find the new mid value again.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 dirty="0">
                <a:solidFill>
                  <a:srgbClr val="00B050"/>
                </a:solidFill>
              </a:rPr>
              <a:t>low = mid + 1 </a:t>
            </a:r>
            <a:endParaRPr lang="en-US" altLang="en-US" sz="2200" b="1" dirty="0" smtClean="0">
              <a:solidFill>
                <a:srgbClr val="00B050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 dirty="0" smtClean="0">
                <a:solidFill>
                  <a:srgbClr val="00B050"/>
                </a:solidFill>
              </a:rPr>
              <a:t>High = remains same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 dirty="0" smtClean="0">
                <a:solidFill>
                  <a:srgbClr val="00B050"/>
                </a:solidFill>
              </a:rPr>
              <a:t>mid </a:t>
            </a:r>
            <a:r>
              <a:rPr lang="en-US" altLang="en-US" sz="2200" b="1" dirty="0">
                <a:solidFill>
                  <a:srgbClr val="00B050"/>
                </a:solidFill>
              </a:rPr>
              <a:t>= </a:t>
            </a:r>
            <a:r>
              <a:rPr lang="en-US" altLang="en-US" sz="2200" b="1" dirty="0" smtClean="0">
                <a:solidFill>
                  <a:srgbClr val="00B050"/>
                </a:solidFill>
              </a:rPr>
              <a:t>(low </a:t>
            </a:r>
            <a:r>
              <a:rPr lang="en-US" altLang="en-US" sz="2200" b="1" dirty="0">
                <a:solidFill>
                  <a:srgbClr val="00B050"/>
                </a:solidFill>
              </a:rPr>
              <a:t>+ </a:t>
            </a:r>
            <a:r>
              <a:rPr lang="en-US" altLang="en-US" sz="2200" b="1" dirty="0" smtClean="0">
                <a:solidFill>
                  <a:srgbClr val="00B050"/>
                </a:solidFill>
              </a:rPr>
              <a:t>high) / </a:t>
            </a:r>
            <a:r>
              <a:rPr lang="en-US" altLang="en-US" sz="2200" b="1" dirty="0">
                <a:solidFill>
                  <a:srgbClr val="00B050"/>
                </a:solidFill>
              </a:rPr>
              <a:t>2 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solidFill>
                  <a:schemeClr val="tx1"/>
                </a:solidFill>
              </a:rPr>
              <a:t>Low=4+1=5; mid=(5+9)/2=7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solidFill>
                  <a:schemeClr val="tx1"/>
                </a:solidFill>
              </a:rPr>
              <a:t>Our </a:t>
            </a:r>
            <a:r>
              <a:rPr lang="en-US" sz="2200" dirty="0">
                <a:solidFill>
                  <a:schemeClr val="tx1"/>
                </a:solidFill>
              </a:rPr>
              <a:t>new mid is 7 now. We compare the value stored at location 7 with our target value 31.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" y="43934"/>
            <a:ext cx="184731" cy="3693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1" name="Picture 3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509120"/>
            <a:ext cx="5879372" cy="172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53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259632" y="404664"/>
            <a:ext cx="7632847" cy="259228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value stored at location 7 is not a match, rather it is more than what we are looking for. So, the value must be in the lower part from this location.</a:t>
            </a:r>
          </a:p>
          <a:p>
            <a:pPr algn="l"/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Hence</a:t>
            </a:r>
            <a:r>
              <a:rPr lang="en-US" sz="2400" dirty="0">
                <a:solidFill>
                  <a:schemeClr val="tx1"/>
                </a:solidFill>
              </a:rPr>
              <a:t>, we calculate the mid again. This time it is 5.</a:t>
            </a:r>
          </a:p>
          <a:p>
            <a:endParaRPr lang="en-US" dirty="0"/>
          </a:p>
        </p:txBody>
      </p:sp>
      <p:pic>
        <p:nvPicPr>
          <p:cNvPr id="8194" name="Picture 2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356992"/>
            <a:ext cx="7416824" cy="109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Binary sear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797152"/>
            <a:ext cx="7416824" cy="145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37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475655" y="1052736"/>
            <a:ext cx="7214409" cy="338437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compare the value stored at location 5 with our target value. We find that it is a match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We </a:t>
            </a:r>
            <a:r>
              <a:rPr lang="en-US" sz="2400" dirty="0">
                <a:solidFill>
                  <a:schemeClr val="tx1"/>
                </a:solidFill>
              </a:rPr>
              <a:t>conclude that the target value 31 is stored at location 5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Binary search halves the searchable items and thus reduces the count of comparisons to be made to very less numbers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9218" name="Picture 2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869160"/>
            <a:ext cx="5441821" cy="112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08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 smtClean="0"/>
              <a:t>Visualization of Linear and Binary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endParaRPr lang="en-US" dirty="0" smtClean="0">
              <a:hlinkClick r:id="rId2"/>
            </a:endParaRPr>
          </a:p>
          <a:p>
            <a:pPr marL="82296" indent="0">
              <a:buNone/>
            </a:pPr>
            <a:endParaRPr lang="en-US" dirty="0">
              <a:hlinkClick r:id="rId2"/>
            </a:endParaRPr>
          </a:p>
          <a:p>
            <a:pPr marL="82296" indent="0">
              <a:buNone/>
            </a:pPr>
            <a:endParaRPr lang="en-US" dirty="0" smtClean="0">
              <a:hlinkClick r:id="rId2"/>
            </a:endParaRPr>
          </a:p>
          <a:p>
            <a:pPr marL="82296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://www.cs.usfca.edu/~galles/visualization/Search.html</a:t>
            </a:r>
            <a:endParaRPr lang="en-US" dirty="0"/>
          </a:p>
          <a:p>
            <a:pPr marL="8229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25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2553</TotalTime>
  <Words>925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Gill Sans MT</vt:lpstr>
      <vt:lpstr>Segoe UI</vt:lpstr>
      <vt:lpstr>Verdana</vt:lpstr>
      <vt:lpstr>Wingdings 2</vt:lpstr>
      <vt:lpstr>Solstice</vt:lpstr>
      <vt:lpstr>BCS202P- Data Structures and Algorithms Lab</vt:lpstr>
      <vt:lpstr>BCS202P- Data Structures and Algorithms Lab</vt:lpstr>
      <vt:lpstr>BCS202P- Data Structures and Algorithms Lab</vt:lpstr>
      <vt:lpstr>BCS202P- Data Structures and Algorithms Lab - Experiments</vt:lpstr>
      <vt:lpstr>BCS202L- Data Structures and Algorithms</vt:lpstr>
      <vt:lpstr>Basic Terminologies in DS</vt:lpstr>
      <vt:lpstr>PowerPoint Presentation</vt:lpstr>
      <vt:lpstr>Implementation of Searching Algorithm</vt:lpstr>
      <vt:lpstr>PowerPoint Presentation</vt:lpstr>
      <vt:lpstr>Binary Search</vt:lpstr>
      <vt:lpstr>How Binary Search Works?</vt:lpstr>
      <vt:lpstr>PowerPoint Presentation</vt:lpstr>
      <vt:lpstr>How Binary Search Works?</vt:lpstr>
      <vt:lpstr>Binary Search</vt:lpstr>
      <vt:lpstr>Binary Search</vt:lpstr>
      <vt:lpstr>Binary Search</vt:lpstr>
      <vt:lpstr>PowerPoint Presentation</vt:lpstr>
      <vt:lpstr>Binary Search</vt:lpstr>
      <vt:lpstr>Visualization of Linear and Binary Search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Introduction to Cryptography             (4 Hours)</dc:title>
  <dc:creator>Jamuna</dc:creator>
  <cp:lastModifiedBy>Windows User</cp:lastModifiedBy>
  <cp:revision>38</cp:revision>
  <dcterms:created xsi:type="dcterms:W3CDTF">2022-07-07T04:52:06Z</dcterms:created>
  <dcterms:modified xsi:type="dcterms:W3CDTF">2023-03-09T04:51:08Z</dcterms:modified>
</cp:coreProperties>
</file>