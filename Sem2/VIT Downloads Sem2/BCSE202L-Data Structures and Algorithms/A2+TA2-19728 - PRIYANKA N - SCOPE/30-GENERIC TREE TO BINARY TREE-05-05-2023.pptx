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68" r:id="rId3"/>
    <p:sldId id="256" r:id="rId4"/>
    <p:sldId id="295" r:id="rId5"/>
    <p:sldId id="296" r:id="rId6"/>
    <p:sldId id="297" r:id="rId7"/>
    <p:sldId id="298" r:id="rId8"/>
    <p:sldId id="300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8" r:id="rId17"/>
    <p:sldId id="272" r:id="rId18"/>
    <p:sldId id="273" r:id="rId19"/>
    <p:sldId id="274" r:id="rId20"/>
    <p:sldId id="275" r:id="rId21"/>
    <p:sldId id="279" r:id="rId22"/>
    <p:sldId id="276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9" r:id="rId31"/>
    <p:sldId id="290" r:id="rId32"/>
    <p:sldId id="291" r:id="rId33"/>
    <p:sldId id="293" r:id="rId34"/>
    <p:sldId id="29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339883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/>
            </a:lvl1pPr>
          </a:lstStyle>
          <a:p>
            <a:fld id="{20CFF937-8279-4983-973C-5AE30BD3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1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0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975784" y="459898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/>
            </a:lvl1pPr>
          </a:lstStyle>
          <a:p>
            <a:fld id="{20CFF937-8279-4983-973C-5AE30BD3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41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7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/>
          <p:cNvCxnSpPr/>
          <p:nvPr/>
        </p:nvCxnSpPr>
        <p:spPr>
          <a:xfrm rot="5400000">
            <a:off x="3742796" y="4045480"/>
            <a:ext cx="470852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/>
            </a:lvl1pPr>
          </a:lstStyle>
          <a:p>
            <a:fld id="{20CFF937-8279-4983-973C-5AE30BD3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3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4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8"/>
          <p:cNvCxnSpPr/>
          <p:nvPr/>
        </p:nvCxnSpPr>
        <p:spPr>
          <a:xfrm rot="5400000">
            <a:off x="911754" y="3580343"/>
            <a:ext cx="557847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/>
            </a:lvl1pPr>
          </a:lstStyle>
          <a:p>
            <a:fld id="{20CFF937-8279-4983-973C-5AE30BD3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5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7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75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/>
            </a:lvl1pPr>
          </a:lstStyle>
          <a:p>
            <a:fld id="{20CFF937-8279-4983-973C-5AE30BD3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15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339883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rgbClr val="292934"/>
                </a:solidFill>
              </a:defRPr>
            </a:lvl1pPr>
          </a:lstStyle>
          <a:p>
            <a:pPr>
              <a:defRPr/>
            </a:pPr>
            <a:fld id="{1ACC4B9F-C5DD-45F1-AC2D-6E50F025F0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8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40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975784" y="459898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A40E497-144A-426A-BA58-174D419A78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12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89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/>
          <p:cNvCxnSpPr/>
          <p:nvPr/>
        </p:nvCxnSpPr>
        <p:spPr>
          <a:xfrm rot="5400000">
            <a:off x="3742796" y="4045480"/>
            <a:ext cx="470852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rgbClr val="292934"/>
                </a:solidFill>
              </a:defRPr>
            </a:lvl1pPr>
          </a:lstStyle>
          <a:p>
            <a:pPr>
              <a:defRPr/>
            </a:pPr>
            <a:fld id="{102CCDCA-B2B7-44BB-B596-D401B2DDBD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2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48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6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8"/>
          <p:cNvCxnSpPr/>
          <p:nvPr/>
        </p:nvCxnSpPr>
        <p:spPr>
          <a:xfrm rot="5400000">
            <a:off x="911754" y="3580343"/>
            <a:ext cx="557847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rgbClr val="292934"/>
                </a:solidFill>
              </a:defRPr>
            </a:lvl1pPr>
          </a:lstStyle>
          <a:p>
            <a:pPr>
              <a:defRPr/>
            </a:pPr>
            <a:fld id="{8A7B4953-D450-4157-A77F-863781B2D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02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70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599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978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table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480800" y="6548438"/>
            <a:ext cx="1422400" cy="3286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rgbClr val="292934"/>
                </a:solidFill>
              </a:defRPr>
            </a:lvl1pPr>
          </a:lstStyle>
          <a:p>
            <a:pPr>
              <a:defRPr/>
            </a:pPr>
            <a:fld id="{3ECE1A27-712A-4B70-8158-D8A3819E7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9051"/>
            <a:ext cx="3860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rgbClr val="FFFFFF"/>
                </a:solidFill>
                <a:latin typeface="Tahoma" charset="0"/>
                <a:cs typeface="+mn-cs"/>
              </a:defRPr>
            </a:lvl1pPr>
          </a:lstStyle>
          <a:p>
            <a:fld id="{25DE7A97-7E8D-4F98-BC75-B91297AF1152}" type="datetimeFigureOut">
              <a:rPr lang="en-US" smtClean="0"/>
              <a:t>05-May-23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9051"/>
            <a:ext cx="54864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rgbClr val="FFFFFF"/>
                </a:solidFill>
                <a:latin typeface="Tahoma" charset="0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182563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365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9051"/>
            <a:ext cx="3860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rgbClr val="FFFFFF"/>
                </a:solidFill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9051"/>
            <a:ext cx="54864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rgbClr val="FFFFFF"/>
                </a:solidFill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7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182563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365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422401"/>
            <a:ext cx="10464800" cy="1927225"/>
          </a:xfrm>
        </p:spPr>
        <p:txBody>
          <a:bodyPr/>
          <a:lstStyle/>
          <a:p>
            <a:pPr algn="ctr"/>
            <a:r>
              <a:rPr lang="en-US" dirty="0" smtClean="0"/>
              <a:t>binary tree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388533" y="4275667"/>
            <a:ext cx="8534400" cy="1752600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rgbClr val="002060"/>
                </a:solidFill>
              </a:rPr>
              <a:t>Dr.Priyanka</a:t>
            </a:r>
            <a:r>
              <a:rPr lang="en-US" b="1" dirty="0" smtClean="0">
                <a:solidFill>
                  <a:srgbClr val="002060"/>
                </a:solidFill>
              </a:rPr>
              <a:t> N</a:t>
            </a:r>
          </a:p>
          <a:p>
            <a:pPr algn="ctr"/>
            <a:r>
              <a:rPr lang="en-US" b="1" dirty="0" smtClean="0">
                <a:solidFill>
                  <a:srgbClr val="002060"/>
                </a:solidFill>
              </a:rPr>
              <a:t>Assistant Professor Senior Grade 1</a:t>
            </a:r>
          </a:p>
          <a:p>
            <a:pPr algn="ctr"/>
            <a:r>
              <a:rPr lang="en-US" b="1" dirty="0" smtClean="0">
                <a:solidFill>
                  <a:srgbClr val="002060"/>
                </a:solidFill>
              </a:rPr>
              <a:t>SCOPE</a:t>
            </a:r>
          </a:p>
          <a:p>
            <a:pPr algn="ctr"/>
            <a:r>
              <a:rPr lang="en-US" b="1" dirty="0" smtClean="0">
                <a:solidFill>
                  <a:srgbClr val="002060"/>
                </a:solidFill>
              </a:rPr>
              <a:t>VIT University - Vellore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Convert General tree to binary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200150" y="838201"/>
            <a:ext cx="7543800" cy="715963"/>
          </a:xfrm>
        </p:spPr>
        <p:txBody>
          <a:bodyPr/>
          <a:lstStyle/>
          <a:p>
            <a:r>
              <a:rPr lang="en-US" altLang="en-US" b="1" dirty="0" smtClean="0"/>
              <a:t>Rules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047749" y="1866901"/>
            <a:ext cx="10315575" cy="4411663"/>
          </a:xfrm>
        </p:spPr>
        <p:txBody>
          <a:bodyPr/>
          <a:lstStyle/>
          <a:p>
            <a:pPr algn="just"/>
            <a:r>
              <a:rPr lang="en-US" altLang="en-US" sz="3600" dirty="0" smtClean="0"/>
              <a:t>The root of the Binary Tree is the Root of the Generic Tree</a:t>
            </a:r>
          </a:p>
          <a:p>
            <a:pPr algn="just"/>
            <a:r>
              <a:rPr lang="en-US" altLang="en-US" sz="3600" dirty="0" smtClean="0"/>
              <a:t>The left child of a node in the Generic Tree is the Left child of that node in the Binary Tree</a:t>
            </a:r>
          </a:p>
          <a:p>
            <a:pPr algn="just"/>
            <a:r>
              <a:rPr lang="en-US" altLang="en-US" sz="3600" dirty="0" smtClean="0"/>
              <a:t>The right sibling of any node in the Generic Tree is the Right child of that node in the Binary Tree</a:t>
            </a:r>
          </a:p>
        </p:txBody>
      </p:sp>
    </p:spTree>
    <p:extLst>
      <p:ext uri="{BB962C8B-B14F-4D97-AF65-F5344CB8AC3E}">
        <p14:creationId xmlns:p14="http://schemas.microsoft.com/office/powerpoint/2010/main" val="306389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809750" y="1076326"/>
            <a:ext cx="7543800" cy="715963"/>
          </a:xfrm>
        </p:spPr>
        <p:txBody>
          <a:bodyPr/>
          <a:lstStyle/>
          <a:p>
            <a:r>
              <a:rPr lang="en-US" altLang="en-US" b="1" dirty="0" smtClean="0"/>
              <a:t>Generic Tree (N-array Tree)</a:t>
            </a:r>
          </a:p>
        </p:txBody>
      </p:sp>
      <p:pic>
        <p:nvPicPr>
          <p:cNvPr id="6147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8" t="4993" r="2870" b="12080"/>
          <a:stretch>
            <a:fillRect/>
          </a:stretch>
        </p:blipFill>
        <p:spPr>
          <a:xfrm>
            <a:off x="1914525" y="2428876"/>
            <a:ext cx="7869238" cy="4276725"/>
          </a:xfrm>
        </p:spPr>
      </p:pic>
    </p:spTree>
    <p:extLst>
      <p:ext uri="{BB962C8B-B14F-4D97-AF65-F5344CB8AC3E}">
        <p14:creationId xmlns:p14="http://schemas.microsoft.com/office/powerpoint/2010/main" val="320924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850465" y="599017"/>
            <a:ext cx="3730625" cy="715963"/>
          </a:xfrm>
        </p:spPr>
        <p:txBody>
          <a:bodyPr/>
          <a:lstStyle/>
          <a:p>
            <a:pPr algn="ctr"/>
            <a:r>
              <a:rPr lang="en-US" altLang="en-US" b="1" dirty="0" smtClean="0"/>
              <a:t>Binary Tree</a:t>
            </a:r>
          </a:p>
        </p:txBody>
      </p:sp>
      <p:pic>
        <p:nvPicPr>
          <p:cNvPr id="7171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6"/>
          <a:stretch>
            <a:fillRect/>
          </a:stretch>
        </p:blipFill>
        <p:spPr>
          <a:xfrm>
            <a:off x="4385732" y="1524001"/>
            <a:ext cx="7628467" cy="5246193"/>
          </a:xfrm>
        </p:spPr>
      </p:pic>
      <p:pic>
        <p:nvPicPr>
          <p:cNvPr id="4" name="Content Placeholder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8" t="4993" r="2870" b="12080"/>
          <a:stretch>
            <a:fillRect/>
          </a:stretch>
        </p:blipFill>
        <p:spPr bwMode="auto">
          <a:xfrm>
            <a:off x="263527" y="1556810"/>
            <a:ext cx="3842808" cy="3235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67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49250" y="978959"/>
            <a:ext cx="6246283" cy="715963"/>
          </a:xfrm>
        </p:spPr>
        <p:txBody>
          <a:bodyPr/>
          <a:lstStyle/>
          <a:p>
            <a:r>
              <a:rPr lang="en-US" altLang="en-US" b="1" dirty="0" smtClean="0"/>
              <a:t>Generic Tree(N-array Tree)</a:t>
            </a:r>
          </a:p>
        </p:txBody>
      </p:sp>
      <p:pic>
        <p:nvPicPr>
          <p:cNvPr id="819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999191"/>
            <a:ext cx="6934200" cy="3481388"/>
          </a:xfrm>
        </p:spPr>
      </p:pic>
      <p:pic>
        <p:nvPicPr>
          <p:cNvPr id="4" name="Content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483" y="2360084"/>
            <a:ext cx="5204103" cy="449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769225" y="1125009"/>
            <a:ext cx="3068108" cy="71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b="1" smtClean="0"/>
              <a:t>Binary Tree</a:t>
            </a:r>
            <a:endParaRPr lang="en-US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78019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General </a:t>
            </a:r>
            <a:r>
              <a:rPr lang="en-US" dirty="0" err="1" smtClean="0"/>
              <a:t>tRAVERSALS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9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Preorder: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Postorder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8" y="2025420"/>
            <a:ext cx="7255101" cy="12153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88" y="3953695"/>
            <a:ext cx="6320299" cy="4972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781" y="4522696"/>
            <a:ext cx="2840525" cy="43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1866"/>
            <a:ext cx="10972800" cy="90593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Preorder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3926"/>
            <a:ext cx="10972800" cy="48768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STEPS: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03" y="1458099"/>
            <a:ext cx="5229489" cy="20452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012" y="1734749"/>
            <a:ext cx="6267988" cy="15935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299" y="4081002"/>
            <a:ext cx="6088748" cy="255753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099734" y="2065859"/>
            <a:ext cx="1143000" cy="10329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302000" y="1981192"/>
            <a:ext cx="2302933" cy="16171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01133" y="2031993"/>
            <a:ext cx="1430867" cy="127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2599" y="1904993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T1</a:t>
            </a:r>
            <a:endParaRPr lang="en-US" b="1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2963333" y="191346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T2</a:t>
            </a:r>
            <a:endParaRPr lang="en-US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41334" y="2116659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T3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9072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797"/>
            <a:ext cx="10972800" cy="711203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4598"/>
            <a:ext cx="10972800" cy="5088467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STEPS: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36" y="880534"/>
            <a:ext cx="5324631" cy="24788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0954"/>
            <a:ext cx="6267988" cy="15935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676" y="4094374"/>
            <a:ext cx="5785677" cy="259060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556003" y="1600187"/>
            <a:ext cx="2370666" cy="19219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319870" y="1659463"/>
            <a:ext cx="1176865" cy="11684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78932" y="1625595"/>
            <a:ext cx="1439335" cy="13631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3532" y="1413926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T1</a:t>
            </a:r>
            <a:endParaRPr lang="en-US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2446866" y="1371594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T2</a:t>
            </a:r>
            <a:endParaRPr lang="en-US"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4902199" y="1337724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T3</a:t>
            </a:r>
            <a:endParaRPr lang="en-US" b="1" i="1" dirty="0"/>
          </a:p>
        </p:txBody>
      </p:sp>
      <p:sp>
        <p:nvSpPr>
          <p:cNvPr id="15" name="Oval 14"/>
          <p:cNvSpPr/>
          <p:nvPr/>
        </p:nvSpPr>
        <p:spPr>
          <a:xfrm>
            <a:off x="4385736" y="2192867"/>
            <a:ext cx="1066798" cy="1219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862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Inorder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Inorder traversal </a:t>
            </a:r>
            <a:r>
              <a:rPr lang="en-US" sz="3200" dirty="0">
                <a:solidFill>
                  <a:srgbClr val="0070C0"/>
                </a:solidFill>
              </a:rPr>
              <a:t>does not have a natural definition </a:t>
            </a:r>
            <a:r>
              <a:rPr lang="en-US" sz="3200" dirty="0"/>
              <a:t>for the general tree, because there is no particular number of children for an internal </a:t>
            </a:r>
            <a:r>
              <a:rPr lang="en-US" sz="3200" dirty="0" smtClean="0"/>
              <a:t>node</a:t>
            </a:r>
          </a:p>
          <a:p>
            <a:pPr algn="just"/>
            <a:r>
              <a:rPr lang="en-US" sz="3200" b="1" dirty="0" smtClean="0">
                <a:solidFill>
                  <a:srgbClr val="7030A0"/>
                </a:solidFill>
              </a:rPr>
              <a:t>Method 1:</a:t>
            </a:r>
            <a:r>
              <a:rPr lang="en-US" sz="3200" dirty="0" smtClean="0"/>
              <a:t>  Visit </a:t>
            </a:r>
            <a:r>
              <a:rPr lang="en-US" sz="3200" dirty="0"/>
              <a:t>the leftmost subtree in </a:t>
            </a:r>
            <a:r>
              <a:rPr lang="en-US" sz="3200" dirty="0" err="1"/>
              <a:t>inorder</a:t>
            </a:r>
            <a:r>
              <a:rPr lang="en-US" sz="3200" dirty="0"/>
              <a:t>, then the root, then visit the remaining subtrees in </a:t>
            </a:r>
            <a:r>
              <a:rPr lang="en-US" sz="3200" dirty="0" err="1" smtClean="0"/>
              <a:t>inorder</a:t>
            </a:r>
            <a:endParaRPr lang="en-US" sz="3200" dirty="0" smtClean="0"/>
          </a:p>
          <a:p>
            <a:pPr algn="just"/>
            <a:r>
              <a:rPr lang="en-US" sz="3200" b="1" dirty="0">
                <a:solidFill>
                  <a:srgbClr val="7030A0"/>
                </a:solidFill>
              </a:rPr>
              <a:t>Method 2: </a:t>
            </a:r>
            <a:r>
              <a:rPr lang="en-US" sz="3200" dirty="0" smtClean="0"/>
              <a:t>Visit </a:t>
            </a:r>
            <a:r>
              <a:rPr lang="en-US" sz="3200" dirty="0"/>
              <a:t>all the children except the last then the root and finally the last child </a:t>
            </a:r>
            <a:r>
              <a:rPr lang="en-US" sz="3200" dirty="0" smtClean="0"/>
              <a:t>recursively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2407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err="1" smtClean="0"/>
              <a:t>ConSTRUCT</a:t>
            </a:r>
            <a:r>
              <a:rPr lang="en-US" sz="4800" dirty="0" smtClean="0"/>
              <a:t> </a:t>
            </a:r>
            <a:r>
              <a:rPr lang="en-US" sz="4800" dirty="0"/>
              <a:t>binary </a:t>
            </a:r>
            <a:r>
              <a:rPr lang="en-US" sz="4800" dirty="0" smtClean="0"/>
              <a:t>tree FROM PREORDER AND INORDER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7137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791" y="1955799"/>
            <a:ext cx="10759020" cy="374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16467" y="1219200"/>
            <a:ext cx="10972800" cy="4876800"/>
          </a:xfrm>
        </p:spPr>
        <p:txBody>
          <a:bodyPr/>
          <a:lstStyle/>
          <a:p>
            <a:r>
              <a:rPr lang="en-US" sz="3600" dirty="0"/>
              <a:t>Inorder traversal is a special traversal that helps us to identify a node and its left and right </a:t>
            </a:r>
            <a:r>
              <a:rPr lang="en-US" sz="3600" dirty="0" smtClean="0"/>
              <a:t>subtree </a:t>
            </a:r>
          </a:p>
          <a:p>
            <a:r>
              <a:rPr lang="en-US" sz="3600" dirty="0"/>
              <a:t>Preorder traversal always gives us the root node as the first </a:t>
            </a:r>
            <a:r>
              <a:rPr lang="en-US" sz="3600" dirty="0" smtClean="0"/>
              <a:t>element</a:t>
            </a:r>
            <a:endParaRPr lang="en-US" sz="3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161" y="3652309"/>
            <a:ext cx="6040438" cy="27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3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16467" y="1219200"/>
            <a:ext cx="10972800" cy="4876800"/>
          </a:xfrm>
        </p:spPr>
        <p:txBody>
          <a:bodyPr/>
          <a:lstStyle/>
          <a:p>
            <a:r>
              <a:rPr lang="en-US" sz="3600" dirty="0"/>
              <a:t>Inorder traversal is a special traversal that helps us to identify a node and its left and right </a:t>
            </a:r>
            <a:r>
              <a:rPr lang="en-US" sz="3600" dirty="0" smtClean="0"/>
              <a:t>subtree </a:t>
            </a:r>
          </a:p>
          <a:p>
            <a:r>
              <a:rPr lang="en-US" sz="3600" dirty="0"/>
              <a:t>Preorder traversal always gives us the root node as the first </a:t>
            </a:r>
            <a:r>
              <a:rPr lang="en-US" sz="3600" dirty="0" smtClean="0"/>
              <a:t>element</a:t>
            </a:r>
            <a:endParaRPr lang="en-US" sz="3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161" y="3652309"/>
            <a:ext cx="6040438" cy="27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2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2743201" y="4572001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743200" y="5410200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015067" y="5401734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STEPS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66" y="1216555"/>
            <a:ext cx="10181167" cy="28813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38585"/>
              </p:ext>
            </p:extLst>
          </p:nvPr>
        </p:nvGraphicFramePr>
        <p:xfrm>
          <a:off x="1964269" y="4631266"/>
          <a:ext cx="4334934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22489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366876"/>
              </p:ext>
            </p:extLst>
          </p:nvPr>
        </p:nvGraphicFramePr>
        <p:xfrm>
          <a:off x="1947335" y="5452535"/>
          <a:ext cx="4334934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22489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682066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5486400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Preorder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4114800" y="4461933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4842933" y="4453466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3998" y="4216400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10</a:t>
            </a:r>
            <a:endParaRPr lang="en-US" b="1" dirty="0"/>
          </a:p>
        </p:txBody>
      </p:sp>
      <p:sp>
        <p:nvSpPr>
          <p:cNvPr id="17" name="Oval 16"/>
          <p:cNvSpPr/>
          <p:nvPr/>
        </p:nvSpPr>
        <p:spPr>
          <a:xfrm>
            <a:off x="9939866" y="5037666"/>
            <a:ext cx="1134534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60,30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8212666" y="4986867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20</a:t>
            </a:r>
            <a:endParaRPr lang="en-US" b="1" dirty="0"/>
          </a:p>
        </p:txBody>
      </p:sp>
      <p:sp>
        <p:nvSpPr>
          <p:cNvPr id="19" name="Oval 18"/>
          <p:cNvSpPr/>
          <p:nvPr/>
        </p:nvSpPr>
        <p:spPr>
          <a:xfrm>
            <a:off x="8737599" y="5842000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50</a:t>
            </a:r>
            <a:endParaRPr lang="en-US" b="1" dirty="0"/>
          </a:p>
        </p:txBody>
      </p:sp>
      <p:sp>
        <p:nvSpPr>
          <p:cNvPr id="20" name="Oval 19"/>
          <p:cNvSpPr/>
          <p:nvPr/>
        </p:nvSpPr>
        <p:spPr>
          <a:xfrm>
            <a:off x="7645399" y="5816600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40</a:t>
            </a:r>
            <a:endParaRPr lang="en-US" b="1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184400" y="6138333"/>
            <a:ext cx="3987800" cy="1693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3"/>
            <a:endCxn id="18" idx="0"/>
          </p:cNvCxnSpPr>
          <p:nvPr/>
        </p:nvCxnSpPr>
        <p:spPr>
          <a:xfrm flipH="1">
            <a:off x="8538633" y="4780087"/>
            <a:ext cx="700838" cy="2067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5"/>
            <a:endCxn id="17" idx="0"/>
          </p:cNvCxnSpPr>
          <p:nvPr/>
        </p:nvCxnSpPr>
        <p:spPr>
          <a:xfrm>
            <a:off x="9700458" y="4780087"/>
            <a:ext cx="806675" cy="25757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8" idx="3"/>
            <a:endCxn id="20" idx="0"/>
          </p:cNvCxnSpPr>
          <p:nvPr/>
        </p:nvCxnSpPr>
        <p:spPr>
          <a:xfrm flipH="1">
            <a:off x="7971366" y="5550554"/>
            <a:ext cx="336773" cy="2660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 flipV="1">
            <a:off x="8675793" y="5642187"/>
            <a:ext cx="380153" cy="19981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0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4927598" y="3843868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743201" y="3005669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743200" y="3843868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015067" y="3835402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STEPS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538158"/>
              </p:ext>
            </p:extLst>
          </p:nvPr>
        </p:nvGraphicFramePr>
        <p:xfrm>
          <a:off x="1964269" y="3064934"/>
          <a:ext cx="4334934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22489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82380"/>
              </p:ext>
            </p:extLst>
          </p:nvPr>
        </p:nvGraphicFramePr>
        <p:xfrm>
          <a:off x="1955803" y="3903130"/>
          <a:ext cx="4334934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22489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115734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3920068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Preorder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4114800" y="2895601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4842933" y="2887134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3998" y="26500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10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8212666" y="3420535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20</a:t>
            </a:r>
            <a:endParaRPr lang="en-US" b="1" dirty="0"/>
          </a:p>
        </p:txBody>
      </p:sp>
      <p:sp>
        <p:nvSpPr>
          <p:cNvPr id="19" name="Oval 18"/>
          <p:cNvSpPr/>
          <p:nvPr/>
        </p:nvSpPr>
        <p:spPr>
          <a:xfrm>
            <a:off x="8737599" y="42756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50</a:t>
            </a:r>
            <a:endParaRPr lang="en-US" b="1" dirty="0"/>
          </a:p>
        </p:txBody>
      </p:sp>
      <p:sp>
        <p:nvSpPr>
          <p:cNvPr id="20" name="Oval 19"/>
          <p:cNvSpPr/>
          <p:nvPr/>
        </p:nvSpPr>
        <p:spPr>
          <a:xfrm>
            <a:off x="7645399" y="42502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40</a:t>
            </a:r>
            <a:endParaRPr lang="en-US" b="1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184400" y="4572001"/>
            <a:ext cx="3987800" cy="1693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3"/>
            <a:endCxn id="18" idx="0"/>
          </p:cNvCxnSpPr>
          <p:nvPr/>
        </p:nvCxnSpPr>
        <p:spPr>
          <a:xfrm flipH="1">
            <a:off x="8538633" y="3213755"/>
            <a:ext cx="700838" cy="2067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5"/>
          </p:cNvCxnSpPr>
          <p:nvPr/>
        </p:nvCxnSpPr>
        <p:spPr>
          <a:xfrm>
            <a:off x="9700458" y="3213755"/>
            <a:ext cx="806675" cy="25757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8" idx="3"/>
            <a:endCxn id="20" idx="0"/>
          </p:cNvCxnSpPr>
          <p:nvPr/>
        </p:nvCxnSpPr>
        <p:spPr>
          <a:xfrm flipH="1">
            <a:off x="7971366" y="3984222"/>
            <a:ext cx="336773" cy="2660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 flipV="1">
            <a:off x="8675793" y="4075855"/>
            <a:ext cx="380153" cy="19981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168465" y="3505202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r>
              <a:rPr lang="en-US" b="1" dirty="0" smtClean="0"/>
              <a:t>0</a:t>
            </a:r>
            <a:endParaRPr lang="en-US" b="1" dirty="0"/>
          </a:p>
        </p:txBody>
      </p:sp>
      <p:sp>
        <p:nvSpPr>
          <p:cNvPr id="27" name="Oval 26"/>
          <p:cNvSpPr/>
          <p:nvPr/>
        </p:nvSpPr>
        <p:spPr>
          <a:xfrm>
            <a:off x="9770534" y="4318001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r>
              <a:rPr lang="en-US" b="1" dirty="0" smtClean="0"/>
              <a:t>0</a:t>
            </a:r>
            <a:endParaRPr lang="en-US" b="1" dirty="0"/>
          </a:p>
        </p:txBody>
      </p:sp>
      <p:cxnSp>
        <p:nvCxnSpPr>
          <p:cNvPr id="28" name="Straight Connector 27"/>
          <p:cNvCxnSpPr>
            <a:stCxn id="27" idx="0"/>
          </p:cNvCxnSpPr>
          <p:nvPr/>
        </p:nvCxnSpPr>
        <p:spPr>
          <a:xfrm flipV="1">
            <a:off x="10096501" y="4143589"/>
            <a:ext cx="255693" cy="174412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29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Try it on your own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15116"/>
              </p:ext>
            </p:extLst>
          </p:nvPr>
        </p:nvGraphicFramePr>
        <p:xfrm>
          <a:off x="1989669" y="3149600"/>
          <a:ext cx="4334934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22489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48230"/>
              </p:ext>
            </p:extLst>
          </p:nvPr>
        </p:nvGraphicFramePr>
        <p:xfrm>
          <a:off x="1981203" y="3903133"/>
          <a:ext cx="4334934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22489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2201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115734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3920068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Preorder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557" y="2206624"/>
            <a:ext cx="3533775" cy="295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8865" y="1388535"/>
            <a:ext cx="10913533" cy="1927225"/>
          </a:xfrm>
        </p:spPr>
        <p:txBody>
          <a:bodyPr/>
          <a:lstStyle/>
          <a:p>
            <a:pPr algn="just"/>
            <a:r>
              <a:rPr lang="en-US" sz="4800" dirty="0" err="1" smtClean="0"/>
              <a:t>ConSTRUCT</a:t>
            </a:r>
            <a:r>
              <a:rPr lang="en-US" sz="4800" dirty="0" smtClean="0"/>
              <a:t> </a:t>
            </a:r>
            <a:r>
              <a:rPr lang="en-US" sz="4800" dirty="0"/>
              <a:t>binary </a:t>
            </a:r>
            <a:r>
              <a:rPr lang="en-US" sz="4800" dirty="0" smtClean="0"/>
              <a:t>tree FROM POSTORDER AND INORDER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18292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16467" y="1219199"/>
            <a:ext cx="10972800" cy="5342467"/>
          </a:xfrm>
        </p:spPr>
        <p:txBody>
          <a:bodyPr/>
          <a:lstStyle/>
          <a:p>
            <a:r>
              <a:rPr lang="en-US" sz="3600" dirty="0"/>
              <a:t>Inorder traversal is a special traversal that helps us to identify a node and its left and right </a:t>
            </a:r>
            <a:r>
              <a:rPr lang="en-US" sz="3600" dirty="0" smtClean="0"/>
              <a:t>subtree </a:t>
            </a:r>
          </a:p>
          <a:p>
            <a:r>
              <a:rPr lang="en-US" sz="3600" dirty="0" err="1" smtClean="0"/>
              <a:t>Postorder</a:t>
            </a:r>
            <a:r>
              <a:rPr lang="en-US" sz="3600" dirty="0" smtClean="0"/>
              <a:t> </a:t>
            </a:r>
            <a:r>
              <a:rPr lang="en-US" sz="3600" dirty="0"/>
              <a:t>traversal always gives us the root node as the </a:t>
            </a:r>
            <a:r>
              <a:rPr lang="en-US" sz="3600" dirty="0" smtClean="0"/>
              <a:t>last element</a:t>
            </a:r>
            <a:endParaRPr lang="en-US" sz="3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139042"/>
              </p:ext>
            </p:extLst>
          </p:nvPr>
        </p:nvGraphicFramePr>
        <p:xfrm>
          <a:off x="2819400" y="4224865"/>
          <a:ext cx="4495800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939119"/>
              </p:ext>
            </p:extLst>
          </p:nvPr>
        </p:nvGraphicFramePr>
        <p:xfrm>
          <a:off x="2802471" y="5266263"/>
          <a:ext cx="4478864" cy="55880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59858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15697932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257949413"/>
                    </a:ext>
                  </a:extLst>
                </a:gridCol>
              </a:tblGrid>
              <a:tr h="5588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4360334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Inorder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[Left, Root,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1997" y="5190068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3230563"/>
            <a:ext cx="4207933" cy="347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8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3141131" y="2683935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26668" y="3733803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STEPS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10199"/>
              </p:ext>
            </p:extLst>
          </p:nvPr>
        </p:nvGraphicFramePr>
        <p:xfrm>
          <a:off x="2023532" y="2709332"/>
          <a:ext cx="4495800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78842"/>
              </p:ext>
            </p:extLst>
          </p:nvPr>
        </p:nvGraphicFramePr>
        <p:xfrm>
          <a:off x="2006603" y="3750730"/>
          <a:ext cx="4478864" cy="55880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59858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15697932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257949413"/>
                    </a:ext>
                  </a:extLst>
                </a:gridCol>
              </a:tblGrid>
              <a:tr h="5588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8933" y="2836334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392006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Postorder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141133" y="2573868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699934" y="2590801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3998" y="26500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8051799" y="3437468"/>
            <a:ext cx="1126067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4,2</a:t>
            </a:r>
            <a:endParaRPr lang="en-US" b="1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2200486" y="4512734"/>
            <a:ext cx="4116494" cy="84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3"/>
            <a:endCxn id="18" idx="0"/>
          </p:cNvCxnSpPr>
          <p:nvPr/>
        </p:nvCxnSpPr>
        <p:spPr>
          <a:xfrm flipH="1">
            <a:off x="8538633" y="3213755"/>
            <a:ext cx="700838" cy="2067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5"/>
          </p:cNvCxnSpPr>
          <p:nvPr/>
        </p:nvCxnSpPr>
        <p:spPr>
          <a:xfrm>
            <a:off x="9700458" y="3213755"/>
            <a:ext cx="806675" cy="25757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36667" y="3496734"/>
            <a:ext cx="1684866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7,5,8,3,6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1532485" y="2296068"/>
            <a:ext cx="1659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[Left subtree]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97595" y="2329935"/>
            <a:ext cx="1826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[Right </a:t>
            </a:r>
            <a:r>
              <a:rPr lang="en-US" b="1" dirty="0">
                <a:solidFill>
                  <a:srgbClr val="FF0000"/>
                </a:solidFill>
              </a:rPr>
              <a:t>subtree</a:t>
            </a:r>
            <a:r>
              <a:rPr lang="en-US" b="1" dirty="0" smtClean="0">
                <a:solidFill>
                  <a:srgbClr val="FF0000"/>
                </a:solidFill>
              </a:rPr>
              <a:t>]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28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/>
        </p:nvSpPr>
        <p:spPr>
          <a:xfrm>
            <a:off x="2565398" y="2700868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2548464" y="3733802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141131" y="2683935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26668" y="3733803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STEPS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10199"/>
              </p:ext>
            </p:extLst>
          </p:nvPr>
        </p:nvGraphicFramePr>
        <p:xfrm>
          <a:off x="2023532" y="2709332"/>
          <a:ext cx="4495800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78842"/>
              </p:ext>
            </p:extLst>
          </p:nvPr>
        </p:nvGraphicFramePr>
        <p:xfrm>
          <a:off x="2006603" y="3750730"/>
          <a:ext cx="4478864" cy="55880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59858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15697932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257949413"/>
                    </a:ext>
                  </a:extLst>
                </a:gridCol>
              </a:tblGrid>
              <a:tr h="5588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8933" y="2836334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392006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Postorder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141133" y="2573868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699934" y="2590801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3998" y="26500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8102600" y="3420535"/>
            <a:ext cx="651933" cy="516465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2200486" y="4512734"/>
            <a:ext cx="4116494" cy="84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3"/>
            <a:endCxn id="18" idx="0"/>
          </p:cNvCxnSpPr>
          <p:nvPr/>
        </p:nvCxnSpPr>
        <p:spPr>
          <a:xfrm flipH="1">
            <a:off x="8538633" y="3213755"/>
            <a:ext cx="700838" cy="2067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5"/>
          </p:cNvCxnSpPr>
          <p:nvPr/>
        </p:nvCxnSpPr>
        <p:spPr>
          <a:xfrm>
            <a:off x="9700458" y="3213755"/>
            <a:ext cx="806675" cy="25757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36667" y="3496734"/>
            <a:ext cx="1684866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7,5,8,3,6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1532485" y="2296068"/>
            <a:ext cx="1659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[Left subtree]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97595" y="2329935"/>
            <a:ext cx="1826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[Right </a:t>
            </a:r>
            <a:r>
              <a:rPr lang="en-US" b="1" dirty="0">
                <a:solidFill>
                  <a:srgbClr val="FF0000"/>
                </a:solidFill>
              </a:rPr>
              <a:t>subtree</a:t>
            </a:r>
            <a:r>
              <a:rPr lang="en-US" b="1" dirty="0" smtClean="0">
                <a:solidFill>
                  <a:srgbClr val="FF0000"/>
                </a:solidFill>
              </a:rPr>
              <a:t>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80867" y="4191002"/>
            <a:ext cx="651933" cy="516465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cxnSp>
        <p:nvCxnSpPr>
          <p:cNvPr id="20" name="Straight Connector 19"/>
          <p:cNvCxnSpPr>
            <a:stCxn id="18" idx="4"/>
          </p:cNvCxnSpPr>
          <p:nvPr/>
        </p:nvCxnSpPr>
        <p:spPr>
          <a:xfrm flipH="1">
            <a:off x="8081433" y="3937000"/>
            <a:ext cx="347134" cy="23706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44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/>
        </p:nvSpPr>
        <p:spPr>
          <a:xfrm>
            <a:off x="5393265" y="2726269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342465" y="3716869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565398" y="2700868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2548464" y="3733802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141131" y="2683935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26668" y="3733803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STEPS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10199"/>
              </p:ext>
            </p:extLst>
          </p:nvPr>
        </p:nvGraphicFramePr>
        <p:xfrm>
          <a:off x="2023532" y="2709332"/>
          <a:ext cx="4495800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78842"/>
              </p:ext>
            </p:extLst>
          </p:nvPr>
        </p:nvGraphicFramePr>
        <p:xfrm>
          <a:off x="2006603" y="3750730"/>
          <a:ext cx="4478864" cy="55880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59858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15697932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257949413"/>
                    </a:ext>
                  </a:extLst>
                </a:gridCol>
              </a:tblGrid>
              <a:tr h="5588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8933" y="2836334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392006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Postorder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141133" y="2573868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699934" y="2590801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3998" y="26500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8102600" y="3420535"/>
            <a:ext cx="651933" cy="516465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2200486" y="4512734"/>
            <a:ext cx="4116494" cy="84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3"/>
            <a:endCxn id="18" idx="0"/>
          </p:cNvCxnSpPr>
          <p:nvPr/>
        </p:nvCxnSpPr>
        <p:spPr>
          <a:xfrm flipH="1">
            <a:off x="8538633" y="3213755"/>
            <a:ext cx="700838" cy="2067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5"/>
          </p:cNvCxnSpPr>
          <p:nvPr/>
        </p:nvCxnSpPr>
        <p:spPr>
          <a:xfrm>
            <a:off x="9700458" y="3213755"/>
            <a:ext cx="806675" cy="25757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202334" y="3479801"/>
            <a:ext cx="702733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1532485" y="2296068"/>
            <a:ext cx="1659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[Left subtree]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97595" y="2329935"/>
            <a:ext cx="1826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[Right </a:t>
            </a:r>
            <a:r>
              <a:rPr lang="en-US" b="1" dirty="0">
                <a:solidFill>
                  <a:srgbClr val="FF0000"/>
                </a:solidFill>
              </a:rPr>
              <a:t>subtree</a:t>
            </a:r>
            <a:r>
              <a:rPr lang="en-US" b="1" dirty="0" smtClean="0">
                <a:solidFill>
                  <a:srgbClr val="FF0000"/>
                </a:solidFill>
              </a:rPr>
              <a:t>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80867" y="4191002"/>
            <a:ext cx="651933" cy="516465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cxnSp>
        <p:nvCxnSpPr>
          <p:cNvPr id="20" name="Straight Connector 19"/>
          <p:cNvCxnSpPr>
            <a:stCxn id="18" idx="4"/>
          </p:cNvCxnSpPr>
          <p:nvPr/>
        </p:nvCxnSpPr>
        <p:spPr>
          <a:xfrm flipH="1">
            <a:off x="8081433" y="3937000"/>
            <a:ext cx="347134" cy="23706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364134" y="4394201"/>
            <a:ext cx="1134532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7,5,8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10845800" y="4326467"/>
            <a:ext cx="702733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3" name="Straight Connector 32"/>
          <p:cNvCxnSpPr>
            <a:endCxn id="32" idx="0"/>
          </p:cNvCxnSpPr>
          <p:nvPr/>
        </p:nvCxnSpPr>
        <p:spPr>
          <a:xfrm>
            <a:off x="10682591" y="4009621"/>
            <a:ext cx="514576" cy="3168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9" idx="0"/>
          </p:cNvCxnSpPr>
          <p:nvPr/>
        </p:nvCxnSpPr>
        <p:spPr>
          <a:xfrm flipH="1">
            <a:off x="9931400" y="3950355"/>
            <a:ext cx="412525" cy="4438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69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/>
          <p:cNvSpPr/>
          <p:nvPr/>
        </p:nvSpPr>
        <p:spPr>
          <a:xfrm>
            <a:off x="4250267" y="2709335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16400" y="3725335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5393265" y="2726269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342465" y="3716869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565398" y="2700868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2548464" y="3733802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141131" y="2683935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26668" y="3733803"/>
            <a:ext cx="592667" cy="558800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STEPS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10199"/>
              </p:ext>
            </p:extLst>
          </p:nvPr>
        </p:nvGraphicFramePr>
        <p:xfrm>
          <a:off x="2023532" y="2709332"/>
          <a:ext cx="4495800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78842"/>
              </p:ext>
            </p:extLst>
          </p:nvPr>
        </p:nvGraphicFramePr>
        <p:xfrm>
          <a:off x="2006603" y="3750730"/>
          <a:ext cx="4478864" cy="55880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59858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156979327"/>
                    </a:ext>
                  </a:extLst>
                </a:gridCol>
                <a:gridCol w="559858">
                  <a:extLst>
                    <a:ext uri="{9D8B030D-6E8A-4147-A177-3AD203B41FA5}">
                      <a16:colId xmlns:a16="http://schemas.microsoft.com/office/drawing/2014/main" val="4257949413"/>
                    </a:ext>
                  </a:extLst>
                </a:gridCol>
              </a:tblGrid>
              <a:tr h="5588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8933" y="2836334"/>
            <a:ext cx="109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Inorder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6467" y="392006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Postorder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141133" y="2573868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699934" y="2590801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3998" y="26500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8102600" y="3420535"/>
            <a:ext cx="651933" cy="516465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2200486" y="4512734"/>
            <a:ext cx="4116494" cy="84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6" idx="3"/>
            <a:endCxn id="18" idx="0"/>
          </p:cNvCxnSpPr>
          <p:nvPr/>
        </p:nvCxnSpPr>
        <p:spPr>
          <a:xfrm flipH="1">
            <a:off x="8538633" y="3213755"/>
            <a:ext cx="700838" cy="2067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5"/>
          </p:cNvCxnSpPr>
          <p:nvPr/>
        </p:nvCxnSpPr>
        <p:spPr>
          <a:xfrm>
            <a:off x="9700458" y="3213755"/>
            <a:ext cx="806675" cy="25757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202334" y="3479801"/>
            <a:ext cx="702733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1456285" y="2338401"/>
            <a:ext cx="1659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[Left subtree]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97595" y="2329935"/>
            <a:ext cx="1826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[Right </a:t>
            </a:r>
            <a:r>
              <a:rPr lang="en-US" b="1" dirty="0">
                <a:solidFill>
                  <a:srgbClr val="FF0000"/>
                </a:solidFill>
              </a:rPr>
              <a:t>subtree</a:t>
            </a:r>
            <a:r>
              <a:rPr lang="en-US" b="1" dirty="0" smtClean="0">
                <a:solidFill>
                  <a:srgbClr val="FF0000"/>
                </a:solidFill>
              </a:rPr>
              <a:t>]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80867" y="4191002"/>
            <a:ext cx="651933" cy="516465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cxnSp>
        <p:nvCxnSpPr>
          <p:cNvPr id="20" name="Straight Connector 19"/>
          <p:cNvCxnSpPr>
            <a:stCxn id="18" idx="4"/>
          </p:cNvCxnSpPr>
          <p:nvPr/>
        </p:nvCxnSpPr>
        <p:spPr>
          <a:xfrm flipH="1">
            <a:off x="8081433" y="3937000"/>
            <a:ext cx="347134" cy="23706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25001" y="4419601"/>
            <a:ext cx="745066" cy="5587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10845800" y="4326467"/>
            <a:ext cx="702733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3" name="Straight Connector 32"/>
          <p:cNvCxnSpPr>
            <a:endCxn id="32" idx="0"/>
          </p:cNvCxnSpPr>
          <p:nvPr/>
        </p:nvCxnSpPr>
        <p:spPr>
          <a:xfrm>
            <a:off x="10682591" y="4009621"/>
            <a:ext cx="514576" cy="3168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9" idx="0"/>
          </p:cNvCxnSpPr>
          <p:nvPr/>
        </p:nvCxnSpPr>
        <p:spPr>
          <a:xfrm flipH="1">
            <a:off x="9931400" y="3950355"/>
            <a:ext cx="412525" cy="4438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083800" y="5207001"/>
            <a:ext cx="702733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8</a:t>
            </a:r>
            <a:endParaRPr lang="en-US" b="1" dirty="0"/>
          </a:p>
        </p:txBody>
      </p:sp>
      <p:sp>
        <p:nvSpPr>
          <p:cNvPr id="38" name="Oval 37"/>
          <p:cNvSpPr/>
          <p:nvPr/>
        </p:nvSpPr>
        <p:spPr>
          <a:xfrm>
            <a:off x="8771467" y="5088467"/>
            <a:ext cx="702733" cy="5333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</a:t>
            </a:r>
            <a:endParaRPr lang="en-US" b="1" dirty="0"/>
          </a:p>
        </p:txBody>
      </p:sp>
      <p:cxnSp>
        <p:nvCxnSpPr>
          <p:cNvPr id="39" name="Straight Connector 38"/>
          <p:cNvCxnSpPr>
            <a:stCxn id="38" idx="0"/>
            <a:endCxn id="29" idx="3"/>
          </p:cNvCxnSpPr>
          <p:nvPr/>
        </p:nvCxnSpPr>
        <p:spPr>
          <a:xfrm flipV="1">
            <a:off x="9122834" y="4896566"/>
            <a:ext cx="511279" cy="19190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37" idx="0"/>
          </p:cNvCxnSpPr>
          <p:nvPr/>
        </p:nvCxnSpPr>
        <p:spPr>
          <a:xfrm>
            <a:off x="9962925" y="4957889"/>
            <a:ext cx="472242" cy="249112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039161" y="2287603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[Root]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9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Try it on your own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1026" name="Picture 2" descr="Example of Binary Tree from inorder and postorder traversa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6" t="12800" r="12597" b="11822"/>
          <a:stretch/>
        </p:blipFill>
        <p:spPr bwMode="auto">
          <a:xfrm>
            <a:off x="2108200" y="1608666"/>
            <a:ext cx="7112000" cy="414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13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8865" y="1388535"/>
            <a:ext cx="10913533" cy="1927225"/>
          </a:xfrm>
        </p:spPr>
        <p:txBody>
          <a:bodyPr/>
          <a:lstStyle/>
          <a:p>
            <a:pPr algn="just"/>
            <a:r>
              <a:rPr lang="en-US" sz="4800" dirty="0" err="1" smtClean="0"/>
              <a:t>ConSTRUCT</a:t>
            </a:r>
            <a:r>
              <a:rPr lang="en-US" sz="4800" dirty="0" smtClean="0"/>
              <a:t> binary tree FROM PREORDER AND POSTORDER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1648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6541"/>
              </p:ext>
            </p:extLst>
          </p:nvPr>
        </p:nvGraphicFramePr>
        <p:xfrm>
          <a:off x="2963333" y="2785527"/>
          <a:ext cx="4495797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2726263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[Root, Left,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064" y="3784597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946" y="1784349"/>
            <a:ext cx="4120291" cy="437091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750654"/>
              </p:ext>
            </p:extLst>
          </p:nvPr>
        </p:nvGraphicFramePr>
        <p:xfrm>
          <a:off x="2971799" y="3843861"/>
          <a:ext cx="4495797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67266" y="778933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Given Preorder and </a:t>
            </a:r>
            <a:r>
              <a:rPr lang="en-US" dirty="0" err="1" smtClean="0">
                <a:solidFill>
                  <a:srgbClr val="C00000"/>
                </a:solidFill>
              </a:rPr>
              <a:t>Postorder</a:t>
            </a:r>
            <a:r>
              <a:rPr lang="en-US" dirty="0" smtClean="0">
                <a:solidFill>
                  <a:srgbClr val="C00000"/>
                </a:solidFill>
              </a:rPr>
              <a:t> construct Full Binary tree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3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2971800" y="2937934"/>
            <a:ext cx="499533" cy="397934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51134" y="3945469"/>
            <a:ext cx="482599" cy="474132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38498"/>
              </p:ext>
            </p:extLst>
          </p:nvPr>
        </p:nvGraphicFramePr>
        <p:xfrm>
          <a:off x="2963334" y="2853260"/>
          <a:ext cx="4495797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2726263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[Root, Left,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064" y="3784597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71283"/>
          <a:stretch/>
        </p:blipFill>
        <p:spPr>
          <a:xfrm>
            <a:off x="7618413" y="3012017"/>
            <a:ext cx="4120291" cy="125518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422078"/>
              </p:ext>
            </p:extLst>
          </p:nvPr>
        </p:nvGraphicFramePr>
        <p:xfrm>
          <a:off x="2946398" y="3886195"/>
          <a:ext cx="4495797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3" name="Oval Callout 2"/>
          <p:cNvSpPr/>
          <p:nvPr/>
        </p:nvSpPr>
        <p:spPr>
          <a:xfrm>
            <a:off x="2878667" y="2235199"/>
            <a:ext cx="1100667" cy="516467"/>
          </a:xfrm>
          <a:prstGeom prst="wedgeEllipse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 smtClean="0">
                <a:solidFill>
                  <a:schemeClr val="tx1"/>
                </a:solidFill>
              </a:rPr>
              <a:t>Root</a:t>
            </a:r>
            <a:endParaRPr lang="en-US" sz="2000" b="1" i="1" dirty="0">
              <a:solidFill>
                <a:schemeClr val="tx1"/>
              </a:solidFill>
            </a:endParaRPr>
          </a:p>
        </p:txBody>
      </p:sp>
      <p:sp>
        <p:nvSpPr>
          <p:cNvPr id="13" name="Oval Callout 12"/>
          <p:cNvSpPr/>
          <p:nvPr/>
        </p:nvSpPr>
        <p:spPr>
          <a:xfrm rot="10291444">
            <a:off x="6476999" y="4580465"/>
            <a:ext cx="1100667" cy="516467"/>
          </a:xfrm>
          <a:prstGeom prst="wedgeEllipse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 smtClean="0">
                <a:solidFill>
                  <a:schemeClr val="tx1"/>
                </a:solidFill>
              </a:rPr>
              <a:t>Root</a:t>
            </a:r>
            <a:endParaRPr lang="en-US" sz="2000" b="1" i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67266" y="778933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 1: Find root node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9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2971800" y="2937934"/>
            <a:ext cx="499533" cy="397934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51134" y="3945469"/>
            <a:ext cx="482599" cy="474132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266" y="778933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 2: Find Left and Right subtree of the root node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38498"/>
              </p:ext>
            </p:extLst>
          </p:nvPr>
        </p:nvGraphicFramePr>
        <p:xfrm>
          <a:off x="2963334" y="2853260"/>
          <a:ext cx="4495797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2726263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[Root, Left,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064" y="3784597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422078"/>
              </p:ext>
            </p:extLst>
          </p:nvPr>
        </p:nvGraphicFramePr>
        <p:xfrm>
          <a:off x="2946398" y="3886195"/>
          <a:ext cx="4495797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019801" y="4842933"/>
            <a:ext cx="1498600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Right</a:t>
            </a:r>
            <a:endParaRPr lang="en-US" sz="3200" b="1" dirty="0"/>
          </a:p>
        </p:txBody>
      </p:sp>
      <p:sp>
        <p:nvSpPr>
          <p:cNvPr id="14" name="Rectangle 13"/>
          <p:cNvSpPr/>
          <p:nvPr/>
        </p:nvSpPr>
        <p:spPr>
          <a:xfrm>
            <a:off x="3200401" y="2065867"/>
            <a:ext cx="1151466" cy="4487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Left</a:t>
            </a:r>
            <a:endParaRPr lang="en-US" sz="320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6731000" y="4470400"/>
            <a:ext cx="4233" cy="3640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08400" y="2523067"/>
            <a:ext cx="0" cy="3217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936067" y="2700867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428067" y="3742267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291668" y="3318933"/>
            <a:ext cx="1430865" cy="702734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42267" y="3302001"/>
            <a:ext cx="431800" cy="728132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77865" y="25484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6" name="Oval 25"/>
          <p:cNvSpPr/>
          <p:nvPr/>
        </p:nvSpPr>
        <p:spPr>
          <a:xfrm>
            <a:off x="9660465" y="3530601"/>
            <a:ext cx="1574802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3,6,8,9,7</a:t>
            </a:r>
            <a:endParaRPr lang="en-US" b="1" dirty="0"/>
          </a:p>
        </p:txBody>
      </p:sp>
      <p:sp>
        <p:nvSpPr>
          <p:cNvPr id="27" name="Oval 26"/>
          <p:cNvSpPr/>
          <p:nvPr/>
        </p:nvSpPr>
        <p:spPr>
          <a:xfrm>
            <a:off x="8229600" y="3539068"/>
            <a:ext cx="1100665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2,4,5</a:t>
            </a:r>
            <a:endParaRPr lang="en-US" b="1" dirty="0"/>
          </a:p>
        </p:txBody>
      </p:sp>
      <p:cxnSp>
        <p:nvCxnSpPr>
          <p:cNvPr id="31" name="Straight Connector 30"/>
          <p:cNvCxnSpPr>
            <a:stCxn id="25" idx="3"/>
            <a:endCxn id="27" idx="0"/>
          </p:cNvCxnSpPr>
          <p:nvPr/>
        </p:nvCxnSpPr>
        <p:spPr>
          <a:xfrm flipH="1">
            <a:off x="8779933" y="3112155"/>
            <a:ext cx="493405" cy="42691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5" idx="5"/>
            <a:endCxn id="26" idx="0"/>
          </p:cNvCxnSpPr>
          <p:nvPr/>
        </p:nvCxnSpPr>
        <p:spPr>
          <a:xfrm>
            <a:off x="9734325" y="3112155"/>
            <a:ext cx="713541" cy="4184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6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3124199" y="3022600"/>
            <a:ext cx="499533" cy="397934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123268" y="3970869"/>
            <a:ext cx="482599" cy="474132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266" y="778933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STEP 3: Repeat the process on left subtree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212996"/>
              </p:ext>
            </p:extLst>
          </p:nvPr>
        </p:nvGraphicFramePr>
        <p:xfrm>
          <a:off x="3141134" y="2912526"/>
          <a:ext cx="1498599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2726263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[Root, Left,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064" y="3784597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52793"/>
              </p:ext>
            </p:extLst>
          </p:nvPr>
        </p:nvGraphicFramePr>
        <p:xfrm>
          <a:off x="3115730" y="3886196"/>
          <a:ext cx="1498599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87581257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58776604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1358042517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276601" y="4817533"/>
            <a:ext cx="1498600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Right</a:t>
            </a:r>
            <a:endParaRPr lang="en-US" sz="3200" b="1" dirty="0"/>
          </a:p>
        </p:txBody>
      </p:sp>
      <p:sp>
        <p:nvSpPr>
          <p:cNvPr id="14" name="Rectangle 13"/>
          <p:cNvSpPr/>
          <p:nvPr/>
        </p:nvSpPr>
        <p:spPr>
          <a:xfrm>
            <a:off x="3318934" y="2065867"/>
            <a:ext cx="1151466" cy="4487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Left</a:t>
            </a:r>
            <a:endParaRPr lang="en-US" sz="320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843867" y="4461934"/>
            <a:ext cx="8467" cy="3555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860800" y="2556934"/>
            <a:ext cx="0" cy="3217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903133" y="3369733"/>
            <a:ext cx="431800" cy="651935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403601" y="3361267"/>
            <a:ext cx="440266" cy="660400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77865" y="2548468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6" name="Oval 25"/>
          <p:cNvSpPr/>
          <p:nvPr/>
        </p:nvSpPr>
        <p:spPr>
          <a:xfrm>
            <a:off x="9660465" y="3530601"/>
            <a:ext cx="1574802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3,6,8,9,7</a:t>
            </a:r>
            <a:endParaRPr lang="en-US" b="1" dirty="0"/>
          </a:p>
        </p:txBody>
      </p:sp>
      <p:cxnSp>
        <p:nvCxnSpPr>
          <p:cNvPr id="31" name="Straight Connector 30"/>
          <p:cNvCxnSpPr>
            <a:stCxn id="25" idx="3"/>
            <a:endCxn id="27" idx="0"/>
          </p:cNvCxnSpPr>
          <p:nvPr/>
        </p:nvCxnSpPr>
        <p:spPr>
          <a:xfrm flipH="1">
            <a:off x="8779933" y="3112155"/>
            <a:ext cx="493405" cy="42691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5" idx="5"/>
            <a:endCxn id="26" idx="0"/>
          </p:cNvCxnSpPr>
          <p:nvPr/>
        </p:nvCxnSpPr>
        <p:spPr>
          <a:xfrm>
            <a:off x="9734325" y="3112155"/>
            <a:ext cx="713541" cy="4184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772401" y="45212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8906934" y="45212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8348134" y="3564469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34" name="Straight Connector 33"/>
          <p:cNvCxnSpPr>
            <a:stCxn id="32" idx="0"/>
            <a:endCxn id="33" idx="5"/>
          </p:cNvCxnSpPr>
          <p:nvPr/>
        </p:nvCxnSpPr>
        <p:spPr>
          <a:xfrm flipH="1" flipV="1">
            <a:off x="8998542" y="4106475"/>
            <a:ext cx="289392" cy="41472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3"/>
          </p:cNvCxnSpPr>
          <p:nvPr/>
        </p:nvCxnSpPr>
        <p:spPr>
          <a:xfrm flipH="1">
            <a:off x="8128001" y="4106475"/>
            <a:ext cx="331725" cy="42319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60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2943225" y="2690284"/>
            <a:ext cx="499533" cy="397934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922309" y="3821644"/>
            <a:ext cx="482599" cy="474132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266" y="778933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STEP </a:t>
            </a:r>
            <a:r>
              <a:rPr lang="en-US" dirty="0" smtClean="0">
                <a:solidFill>
                  <a:srgbClr val="C00000"/>
                </a:solidFill>
              </a:rPr>
              <a:t>4: </a:t>
            </a:r>
            <a:r>
              <a:rPr lang="en-US" dirty="0">
                <a:solidFill>
                  <a:srgbClr val="C00000"/>
                </a:solidFill>
              </a:rPr>
              <a:t>Repeat the process on </a:t>
            </a:r>
            <a:r>
              <a:rPr lang="en-US" dirty="0" smtClean="0">
                <a:solidFill>
                  <a:srgbClr val="C00000"/>
                </a:solidFill>
              </a:rPr>
              <a:t>Right </a:t>
            </a:r>
            <a:r>
              <a:rPr lang="en-US" dirty="0">
                <a:solidFill>
                  <a:srgbClr val="C00000"/>
                </a:solidFill>
              </a:rPr>
              <a:t>subtree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337348"/>
              </p:ext>
            </p:extLst>
          </p:nvPr>
        </p:nvGraphicFramePr>
        <p:xfrm>
          <a:off x="2944284" y="2596085"/>
          <a:ext cx="2497665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2726263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[Root, Left,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064" y="3784597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42817"/>
              </p:ext>
            </p:extLst>
          </p:nvPr>
        </p:nvGraphicFramePr>
        <p:xfrm>
          <a:off x="2917823" y="3762370"/>
          <a:ext cx="2497665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933826" y="4738158"/>
            <a:ext cx="1498600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Right</a:t>
            </a:r>
            <a:endParaRPr lang="en-US" sz="3200" b="1" dirty="0"/>
          </a:p>
        </p:txBody>
      </p:sp>
      <p:sp>
        <p:nvSpPr>
          <p:cNvPr id="14" name="Rectangle 13"/>
          <p:cNvSpPr/>
          <p:nvPr/>
        </p:nvSpPr>
        <p:spPr>
          <a:xfrm>
            <a:off x="3105151" y="1846792"/>
            <a:ext cx="1151466" cy="4487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Left</a:t>
            </a:r>
            <a:endParaRPr lang="en-US" sz="320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654550" y="4356100"/>
            <a:ext cx="4233" cy="3640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79825" y="2284942"/>
            <a:ext cx="0" cy="3217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686300" y="3009900"/>
            <a:ext cx="457200" cy="895351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66067" y="3035301"/>
            <a:ext cx="429683" cy="908049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882465" y="1891243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9231840" y="2901951"/>
            <a:ext cx="855135" cy="631824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  <a:endParaRPr lang="en-US" b="1" dirty="0"/>
          </a:p>
        </p:txBody>
      </p:sp>
      <p:cxnSp>
        <p:nvCxnSpPr>
          <p:cNvPr id="28" name="Straight Connector 27"/>
          <p:cNvCxnSpPr>
            <a:stCxn id="23" idx="3"/>
            <a:endCxn id="33" idx="0"/>
          </p:cNvCxnSpPr>
          <p:nvPr/>
        </p:nvCxnSpPr>
        <p:spPr>
          <a:xfrm flipH="1">
            <a:off x="7167034" y="2454930"/>
            <a:ext cx="810904" cy="61423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3" idx="5"/>
            <a:endCxn id="24" idx="0"/>
          </p:cNvCxnSpPr>
          <p:nvPr/>
        </p:nvCxnSpPr>
        <p:spPr>
          <a:xfrm>
            <a:off x="8438925" y="2454930"/>
            <a:ext cx="1220483" cy="44702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210301" y="40259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7344834" y="40259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6786034" y="3069169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34" name="Straight Connector 33"/>
          <p:cNvCxnSpPr>
            <a:stCxn id="32" idx="0"/>
            <a:endCxn id="33" idx="5"/>
          </p:cNvCxnSpPr>
          <p:nvPr/>
        </p:nvCxnSpPr>
        <p:spPr>
          <a:xfrm flipH="1" flipV="1">
            <a:off x="7436442" y="3611175"/>
            <a:ext cx="289392" cy="41472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3"/>
          </p:cNvCxnSpPr>
          <p:nvPr/>
        </p:nvCxnSpPr>
        <p:spPr>
          <a:xfrm flipH="1">
            <a:off x="6565901" y="3611175"/>
            <a:ext cx="331725" cy="42319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583084" y="3959227"/>
            <a:ext cx="1075266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6,8,9</a:t>
            </a:r>
            <a:endParaRPr lang="en-US" b="1" dirty="0"/>
          </a:p>
        </p:txBody>
      </p:sp>
      <p:sp>
        <p:nvSpPr>
          <p:cNvPr id="51" name="Oval 50"/>
          <p:cNvSpPr/>
          <p:nvPr/>
        </p:nvSpPr>
        <p:spPr>
          <a:xfrm>
            <a:off x="10173759" y="38735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</a:t>
            </a:r>
            <a:endParaRPr lang="en-US" b="1" dirty="0"/>
          </a:p>
        </p:txBody>
      </p:sp>
      <p:cxnSp>
        <p:nvCxnSpPr>
          <p:cNvPr id="52" name="Straight Connector 51"/>
          <p:cNvCxnSpPr>
            <a:stCxn id="50" idx="0"/>
            <a:endCxn id="24" idx="3"/>
          </p:cNvCxnSpPr>
          <p:nvPr/>
        </p:nvCxnSpPr>
        <p:spPr>
          <a:xfrm flipV="1">
            <a:off x="9120717" y="3441247"/>
            <a:ext cx="236355" cy="5179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51" idx="0"/>
            <a:endCxn id="24" idx="5"/>
          </p:cNvCxnSpPr>
          <p:nvPr/>
        </p:nvCxnSpPr>
        <p:spPr>
          <a:xfrm flipH="1" flipV="1">
            <a:off x="9961743" y="3441247"/>
            <a:ext cx="593016" cy="4322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4389967" y="3618442"/>
            <a:ext cx="25400" cy="846667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0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3000375" y="2880784"/>
            <a:ext cx="499533" cy="397934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036484" y="3897844"/>
            <a:ext cx="482599" cy="474132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266" y="778933"/>
            <a:ext cx="10972800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STEP </a:t>
            </a:r>
            <a:r>
              <a:rPr lang="en-US" dirty="0" smtClean="0">
                <a:solidFill>
                  <a:srgbClr val="C00000"/>
                </a:solidFill>
              </a:rPr>
              <a:t>4: </a:t>
            </a:r>
            <a:r>
              <a:rPr lang="en-US" dirty="0">
                <a:solidFill>
                  <a:srgbClr val="C00000"/>
                </a:solidFill>
              </a:rPr>
              <a:t>Repeat the process on </a:t>
            </a:r>
            <a:r>
              <a:rPr lang="en-US" dirty="0" smtClean="0">
                <a:solidFill>
                  <a:srgbClr val="C00000"/>
                </a:solidFill>
              </a:rPr>
              <a:t>Right </a:t>
            </a:r>
            <a:r>
              <a:rPr lang="en-US" dirty="0">
                <a:solidFill>
                  <a:srgbClr val="C00000"/>
                </a:solidFill>
              </a:rPr>
              <a:t>subtree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901925"/>
              </p:ext>
            </p:extLst>
          </p:nvPr>
        </p:nvGraphicFramePr>
        <p:xfrm>
          <a:off x="3001434" y="2777060"/>
          <a:ext cx="1498599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2186887121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9282184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956548390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9797" y="2726263"/>
            <a:ext cx="17949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Preorder</a:t>
            </a: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[Root, Left, Right]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064" y="3784597"/>
            <a:ext cx="21505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Postorder</a:t>
            </a:r>
            <a:endParaRPr lang="en-US" b="1" dirty="0" smtClean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[</a:t>
            </a:r>
            <a:r>
              <a:rPr lang="en-US" sz="1400" b="1" dirty="0" smtClean="0">
                <a:solidFill>
                  <a:srgbClr val="FF0000"/>
                </a:solidFill>
              </a:rPr>
              <a:t>Left, Right,</a:t>
            </a:r>
            <a:r>
              <a:rPr lang="en-US" sz="1400" b="1" dirty="0">
                <a:solidFill>
                  <a:srgbClr val="FF0000"/>
                </a:solidFill>
              </a:rPr>
              <a:t> Root</a:t>
            </a:r>
            <a:r>
              <a:rPr lang="en-US" sz="1400" b="1" dirty="0" smtClean="0">
                <a:solidFill>
                  <a:srgbClr val="FF0000"/>
                </a:solidFill>
              </a:rPr>
              <a:t>]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409354"/>
              </p:ext>
            </p:extLst>
          </p:nvPr>
        </p:nvGraphicFramePr>
        <p:xfrm>
          <a:off x="3032123" y="3838570"/>
          <a:ext cx="1498599" cy="5842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9533">
                  <a:extLst>
                    <a:ext uri="{9D8B030D-6E8A-4147-A177-3AD203B41FA5}">
                      <a16:colId xmlns:a16="http://schemas.microsoft.com/office/drawing/2014/main" val="324514453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153014665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954936729"/>
                    </a:ext>
                  </a:extLst>
                </a:gridCol>
              </a:tblGrid>
              <a:tr h="5842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4012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133726" y="4776258"/>
            <a:ext cx="1498600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Right</a:t>
            </a:r>
            <a:endParaRPr lang="en-US" sz="3200" b="1" dirty="0"/>
          </a:p>
        </p:txBody>
      </p:sp>
      <p:sp>
        <p:nvSpPr>
          <p:cNvPr id="14" name="Rectangle 13"/>
          <p:cNvSpPr/>
          <p:nvPr/>
        </p:nvSpPr>
        <p:spPr>
          <a:xfrm>
            <a:off x="3181351" y="1970617"/>
            <a:ext cx="1151466" cy="4487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Left</a:t>
            </a:r>
            <a:endParaRPr lang="en-US" sz="320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797300" y="4394200"/>
            <a:ext cx="4233" cy="3640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27450" y="2446867"/>
            <a:ext cx="0" cy="3217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771900" y="3209925"/>
            <a:ext cx="409575" cy="809627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248025" y="3216276"/>
            <a:ext cx="494242" cy="803274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882465" y="1891243"/>
            <a:ext cx="651933" cy="660400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9231840" y="2901951"/>
            <a:ext cx="855135" cy="631824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3</a:t>
            </a:r>
            <a:endParaRPr lang="en-US" b="1" dirty="0"/>
          </a:p>
        </p:txBody>
      </p:sp>
      <p:cxnSp>
        <p:nvCxnSpPr>
          <p:cNvPr id="28" name="Straight Connector 27"/>
          <p:cNvCxnSpPr>
            <a:stCxn id="23" idx="3"/>
            <a:endCxn id="33" idx="0"/>
          </p:cNvCxnSpPr>
          <p:nvPr/>
        </p:nvCxnSpPr>
        <p:spPr>
          <a:xfrm flipH="1">
            <a:off x="7167034" y="2454930"/>
            <a:ext cx="810904" cy="61423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3" idx="5"/>
            <a:endCxn id="24" idx="0"/>
          </p:cNvCxnSpPr>
          <p:nvPr/>
        </p:nvCxnSpPr>
        <p:spPr>
          <a:xfrm>
            <a:off x="8438925" y="2454930"/>
            <a:ext cx="1220483" cy="44702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210301" y="40259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7344834" y="40259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6786034" y="3069169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34" name="Straight Connector 33"/>
          <p:cNvCxnSpPr>
            <a:stCxn id="32" idx="0"/>
            <a:endCxn id="33" idx="5"/>
          </p:cNvCxnSpPr>
          <p:nvPr/>
        </p:nvCxnSpPr>
        <p:spPr>
          <a:xfrm flipH="1" flipV="1">
            <a:off x="7436442" y="3611175"/>
            <a:ext cx="289392" cy="41472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3"/>
          </p:cNvCxnSpPr>
          <p:nvPr/>
        </p:nvCxnSpPr>
        <p:spPr>
          <a:xfrm flipH="1">
            <a:off x="6565901" y="3611175"/>
            <a:ext cx="331725" cy="42319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745009" y="3978277"/>
            <a:ext cx="713316" cy="574673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</a:t>
            </a:r>
            <a:endParaRPr lang="en-US" b="1" dirty="0"/>
          </a:p>
        </p:txBody>
      </p:sp>
      <p:sp>
        <p:nvSpPr>
          <p:cNvPr id="51" name="Oval 50"/>
          <p:cNvSpPr/>
          <p:nvPr/>
        </p:nvSpPr>
        <p:spPr>
          <a:xfrm>
            <a:off x="10173759" y="3873502"/>
            <a:ext cx="762000" cy="634999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</a:t>
            </a:r>
            <a:endParaRPr lang="en-US" b="1" dirty="0"/>
          </a:p>
        </p:txBody>
      </p:sp>
      <p:cxnSp>
        <p:nvCxnSpPr>
          <p:cNvPr id="52" name="Straight Connector 51"/>
          <p:cNvCxnSpPr>
            <a:stCxn id="50" idx="0"/>
            <a:endCxn id="24" idx="3"/>
          </p:cNvCxnSpPr>
          <p:nvPr/>
        </p:nvCxnSpPr>
        <p:spPr>
          <a:xfrm flipV="1">
            <a:off x="9120717" y="3441247"/>
            <a:ext cx="236355" cy="51798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51" idx="0"/>
            <a:endCxn id="24" idx="5"/>
          </p:cNvCxnSpPr>
          <p:nvPr/>
        </p:nvCxnSpPr>
        <p:spPr>
          <a:xfrm flipH="1" flipV="1">
            <a:off x="9961743" y="3441247"/>
            <a:ext cx="593016" cy="4322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202084" y="4883152"/>
            <a:ext cx="713316" cy="574673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35" name="Oval 34"/>
          <p:cNvSpPr/>
          <p:nvPr/>
        </p:nvSpPr>
        <p:spPr>
          <a:xfrm>
            <a:off x="9259359" y="4902202"/>
            <a:ext cx="713316" cy="574673"/>
          </a:xfrm>
          <a:prstGeom prst="ellipse">
            <a:avLst/>
          </a:prstGeom>
          <a:solidFill>
            <a:schemeClr val="bg2"/>
          </a:solidFill>
          <a:ln w="381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37" name="Straight Connector 36"/>
          <p:cNvCxnSpPr>
            <a:stCxn id="35" idx="0"/>
            <a:endCxn id="50" idx="5"/>
          </p:cNvCxnSpPr>
          <p:nvPr/>
        </p:nvCxnSpPr>
        <p:spPr>
          <a:xfrm flipH="1" flipV="1">
            <a:off x="9353862" y="4468791"/>
            <a:ext cx="262155" cy="43341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endCxn id="50" idx="3"/>
          </p:cNvCxnSpPr>
          <p:nvPr/>
        </p:nvCxnSpPr>
        <p:spPr>
          <a:xfrm flipV="1">
            <a:off x="8587317" y="4468791"/>
            <a:ext cx="262155" cy="41436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572250" y="5628217"/>
            <a:ext cx="4305299" cy="80115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n w="0"/>
                <a:solidFill>
                  <a:schemeClr val="tx1"/>
                </a:solidFill>
              </a:rPr>
              <a:t>Final Binary Tree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7303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817881"/>
            <a:ext cx="10972800" cy="423333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Try it on your own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8438" y="1625084"/>
            <a:ext cx="10910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Preorder: </a:t>
            </a:r>
            <a:r>
              <a:rPr lang="en-US" sz="3600" b="1" dirty="0">
                <a:solidFill>
                  <a:srgbClr val="343434"/>
                </a:solidFill>
                <a:latin typeface="roboto"/>
              </a:rPr>
              <a:t>50, 25, 12, 37, 30, 40, 75, 62, 60, 70, </a:t>
            </a:r>
            <a:r>
              <a:rPr lang="en-US" sz="3600" b="1" dirty="0" smtClean="0">
                <a:solidFill>
                  <a:srgbClr val="343434"/>
                </a:solidFill>
                <a:latin typeface="roboto"/>
              </a:rPr>
              <a:t>87</a:t>
            </a:r>
          </a:p>
          <a:p>
            <a:r>
              <a:rPr lang="sv-SE" sz="3600" b="1" dirty="0" smtClean="0">
                <a:solidFill>
                  <a:srgbClr val="002060"/>
                </a:solidFill>
              </a:rPr>
              <a:t>Postorder:</a:t>
            </a:r>
            <a:r>
              <a:rPr lang="sv-SE" sz="3600" b="1" dirty="0" smtClean="0"/>
              <a:t> 12</a:t>
            </a:r>
            <a:r>
              <a:rPr lang="sv-SE" sz="3600" b="1" dirty="0"/>
              <a:t>, 30, 40, 37, 25, 60, 70, 62, 87, 75, 50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2905125"/>
            <a:ext cx="5753100" cy="348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6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1. Algorithm Analysis -PK-Final</Template>
  <TotalTime>1599</TotalTime>
  <Words>776</Words>
  <Application>Microsoft Office PowerPoint</Application>
  <PresentationFormat>Widescreen</PresentationFormat>
  <Paragraphs>385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roboto</vt:lpstr>
      <vt:lpstr>Tahoma</vt:lpstr>
      <vt:lpstr>Clarity</vt:lpstr>
      <vt:lpstr>1_Clarity</vt:lpstr>
      <vt:lpstr>binary tree</vt:lpstr>
      <vt:lpstr>Convert General tree to binary tree</vt:lpstr>
      <vt:lpstr>Rules</vt:lpstr>
      <vt:lpstr>Generic Tree (N-array Tree)</vt:lpstr>
      <vt:lpstr>Binary Tree</vt:lpstr>
      <vt:lpstr>Generic Tree(N-array Tree)</vt:lpstr>
      <vt:lpstr>General tRAVERSALS</vt:lpstr>
      <vt:lpstr>RULES</vt:lpstr>
      <vt:lpstr>Preorder Traversal</vt:lpstr>
      <vt:lpstr>Postorder Traversal</vt:lpstr>
      <vt:lpstr>Inorder Traversal</vt:lpstr>
      <vt:lpstr>ConSTRUCT binary tree FROM PREORDER AND INORDER</vt:lpstr>
      <vt:lpstr>Example:</vt:lpstr>
      <vt:lpstr>STEPS</vt:lpstr>
      <vt:lpstr>STEPS</vt:lpstr>
      <vt:lpstr>STEPS</vt:lpstr>
      <vt:lpstr>STEPS</vt:lpstr>
      <vt:lpstr>Try it on your own</vt:lpstr>
      <vt:lpstr>ConSTRUCT binary tree FROM POSTORDER AND INORDER</vt:lpstr>
      <vt:lpstr>STEPS</vt:lpstr>
      <vt:lpstr>STEPS</vt:lpstr>
      <vt:lpstr>STEPS</vt:lpstr>
      <vt:lpstr>STEPS</vt:lpstr>
      <vt:lpstr>STEPS</vt:lpstr>
      <vt:lpstr>Try it on your own</vt:lpstr>
      <vt:lpstr>ConSTRUCT binary tree FROM PREORDER AND POSTORDER</vt:lpstr>
      <vt:lpstr>Given Preorder and Postorder construct Full Binary tree</vt:lpstr>
      <vt:lpstr>STEP 1: Find root node</vt:lpstr>
      <vt:lpstr>STEP 2: Find Left and Right subtree of the root node</vt:lpstr>
      <vt:lpstr>STEP 3: Repeat the process on left subtree</vt:lpstr>
      <vt:lpstr>STEP 4: Repeat the process on Right subtree</vt:lpstr>
      <vt:lpstr>STEP 4: Repeat the process on Right subtree</vt:lpstr>
      <vt:lpstr>Try it on your 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trees</dc:title>
  <dc:creator>Keerthika P</dc:creator>
  <cp:lastModifiedBy>Windows User</cp:lastModifiedBy>
  <cp:revision>69</cp:revision>
  <dcterms:created xsi:type="dcterms:W3CDTF">2023-04-29T11:06:45Z</dcterms:created>
  <dcterms:modified xsi:type="dcterms:W3CDTF">2023-05-05T05:50:02Z</dcterms:modified>
</cp:coreProperties>
</file>