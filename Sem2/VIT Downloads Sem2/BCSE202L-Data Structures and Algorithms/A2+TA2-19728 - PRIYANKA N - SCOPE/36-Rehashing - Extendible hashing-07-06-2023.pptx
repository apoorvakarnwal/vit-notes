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34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82266" y="99440"/>
            <a:ext cx="437946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6858" y="1340865"/>
            <a:ext cx="7684134" cy="3028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435" y="1413764"/>
              <a:ext cx="210312" cy="2103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0435" y="1338706"/>
              <a:ext cx="307095" cy="2863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440" y="233172"/>
              <a:ext cx="2811780" cy="11064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4804" y="233172"/>
              <a:ext cx="826008" cy="11064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88080" y="233172"/>
              <a:ext cx="5439156" cy="11064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9104" y="827531"/>
              <a:ext cx="3272028" cy="1106424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553083" y="363473"/>
            <a:ext cx="716788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110" marR="5080" indent="-2265045">
              <a:lnSpc>
                <a:spcPct val="100000"/>
              </a:lnSpc>
              <a:spcBef>
                <a:spcPts val="100"/>
              </a:spcBef>
            </a:pPr>
            <a:r>
              <a:rPr sz="3900" b="1" spc="130" dirty="0">
                <a:latin typeface="Trebuchet MS"/>
                <a:cs typeface="Trebuchet MS"/>
              </a:rPr>
              <a:t>BCS202L-</a:t>
            </a:r>
            <a:r>
              <a:rPr sz="3900" b="1" spc="-110" dirty="0">
                <a:latin typeface="Trebuchet MS"/>
                <a:cs typeface="Trebuchet MS"/>
              </a:rPr>
              <a:t> </a:t>
            </a:r>
            <a:r>
              <a:rPr sz="3900" b="1" spc="160" dirty="0">
                <a:latin typeface="Trebuchet MS"/>
                <a:cs typeface="Trebuchet MS"/>
              </a:rPr>
              <a:t>Data</a:t>
            </a:r>
            <a:r>
              <a:rPr sz="3900" b="1" spc="-90" dirty="0">
                <a:latin typeface="Trebuchet MS"/>
                <a:cs typeface="Trebuchet MS"/>
              </a:rPr>
              <a:t> </a:t>
            </a:r>
            <a:r>
              <a:rPr sz="3900" b="1" spc="30" dirty="0">
                <a:latin typeface="Trebuchet MS"/>
                <a:cs typeface="Trebuchet MS"/>
              </a:rPr>
              <a:t>Structures</a:t>
            </a:r>
            <a:r>
              <a:rPr sz="3900" b="1" spc="-110" dirty="0">
                <a:latin typeface="Trebuchet MS"/>
                <a:cs typeface="Trebuchet MS"/>
              </a:rPr>
              <a:t> </a:t>
            </a:r>
            <a:r>
              <a:rPr sz="3900" b="1" spc="-20" dirty="0">
                <a:latin typeface="Trebuchet MS"/>
                <a:cs typeface="Trebuchet MS"/>
              </a:rPr>
              <a:t>and </a:t>
            </a:r>
            <a:r>
              <a:rPr sz="3900" b="1" spc="-1160" dirty="0">
                <a:latin typeface="Trebuchet MS"/>
                <a:cs typeface="Trebuchet MS"/>
              </a:rPr>
              <a:t> </a:t>
            </a:r>
            <a:r>
              <a:rPr sz="3900" b="1" spc="100" dirty="0">
                <a:latin typeface="Trebuchet MS"/>
                <a:cs typeface="Trebuchet MS"/>
              </a:rPr>
              <a:t>Algorithms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7076" y="3765359"/>
            <a:ext cx="5790565" cy="19354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600" spc="-100" dirty="0" err="1" smtClean="0">
                <a:solidFill>
                  <a:srgbClr val="310D04"/>
                </a:solidFill>
                <a:latin typeface="Trebuchet MS"/>
                <a:cs typeface="Trebuchet MS"/>
              </a:rPr>
              <a:t>Dr.Priyanka</a:t>
            </a:r>
            <a:r>
              <a:rPr sz="2600" spc="-100" dirty="0" smtClean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Assistant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Professor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Senior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Grade</a:t>
            </a:r>
            <a:r>
              <a:rPr sz="2600" spc="-5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415" dirty="0">
                <a:solidFill>
                  <a:srgbClr val="310D04"/>
                </a:solidFill>
                <a:latin typeface="Trebuchet MS"/>
                <a:cs typeface="Trebuchet MS"/>
              </a:rPr>
              <a:t>1</a:t>
            </a:r>
            <a:endParaRPr sz="2600" dirty="0">
              <a:latin typeface="Trebuchet MS"/>
              <a:cs typeface="Trebuchet MS"/>
            </a:endParaRPr>
          </a:p>
          <a:p>
            <a:pPr marL="12700" marR="5080">
              <a:lnSpc>
                <a:spcPct val="111700"/>
              </a:lnSpc>
              <a:spcBef>
                <a:spcPts val="340"/>
              </a:spcBef>
            </a:pPr>
            <a:r>
              <a:rPr sz="2600" spc="-50" dirty="0">
                <a:solidFill>
                  <a:srgbClr val="310D04"/>
                </a:solidFill>
                <a:latin typeface="Trebuchet MS"/>
                <a:cs typeface="Trebuchet MS"/>
              </a:rPr>
              <a:t>Schoo</a:t>
            </a:r>
            <a:r>
              <a:rPr sz="2600" spc="-200" dirty="0">
                <a:solidFill>
                  <a:srgbClr val="310D04"/>
                </a:solidFill>
                <a:latin typeface="Trebuchet MS"/>
                <a:cs typeface="Trebuchet MS"/>
              </a:rPr>
              <a:t>l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10D04"/>
                </a:solidFill>
                <a:latin typeface="Trebuchet MS"/>
                <a:cs typeface="Trebuchet MS"/>
              </a:rPr>
              <a:t>of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310D04"/>
                </a:solidFill>
                <a:latin typeface="Trebuchet MS"/>
                <a:cs typeface="Trebuchet MS"/>
              </a:rPr>
              <a:t>Comp</a:t>
            </a:r>
            <a:r>
              <a:rPr sz="2600" spc="-15" dirty="0">
                <a:solidFill>
                  <a:srgbClr val="310D04"/>
                </a:solidFill>
                <a:latin typeface="Trebuchet MS"/>
                <a:cs typeface="Trebuchet MS"/>
              </a:rPr>
              <a:t>u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ter</a:t>
            </a:r>
            <a:r>
              <a:rPr sz="2600" spc="-9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45" dirty="0">
                <a:solidFill>
                  <a:srgbClr val="310D04"/>
                </a:solidFill>
                <a:latin typeface="Trebuchet MS"/>
                <a:cs typeface="Trebuchet MS"/>
              </a:rPr>
              <a:t>Science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10" dirty="0">
                <a:solidFill>
                  <a:srgbClr val="310D04"/>
                </a:solidFill>
                <a:latin typeface="Trebuchet MS"/>
                <a:cs typeface="Trebuchet MS"/>
              </a:rPr>
              <a:t>&amp;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235" dirty="0">
                <a:solidFill>
                  <a:srgbClr val="310D04"/>
                </a:solidFill>
                <a:latin typeface="Trebuchet MS"/>
                <a:cs typeface="Trebuchet MS"/>
              </a:rPr>
              <a:t>g</a:t>
            </a:r>
            <a:r>
              <a:rPr sz="2600" spc="-130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20" dirty="0">
                <a:solidFill>
                  <a:srgbClr val="310D04"/>
                </a:solidFill>
                <a:latin typeface="Trebuchet MS"/>
                <a:cs typeface="Trebuchet MS"/>
              </a:rPr>
              <a:t>nee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r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85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145" dirty="0">
                <a:solidFill>
                  <a:srgbClr val="310D04"/>
                </a:solidFill>
                <a:latin typeface="Trebuchet MS"/>
                <a:cs typeface="Trebuchet MS"/>
              </a:rPr>
              <a:t>g  </a:t>
            </a:r>
            <a:r>
              <a:rPr sz="3900" spc="-232" baseline="-5341" dirty="0">
                <a:solidFill>
                  <a:srgbClr val="310D04"/>
                </a:solidFill>
                <a:latin typeface="Trebuchet MS"/>
                <a:cs typeface="Trebuchet MS"/>
              </a:rPr>
              <a:t>VIT,</a:t>
            </a:r>
            <a:r>
              <a:rPr sz="2600" spc="-155" dirty="0">
                <a:solidFill>
                  <a:srgbClr val="310D04"/>
                </a:solidFill>
                <a:latin typeface="Trebuchet MS"/>
                <a:cs typeface="Trebuchet MS"/>
              </a:rPr>
              <a:t>Vellore.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1912" y="144780"/>
              <a:ext cx="2599943" cy="10241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9207" y="144780"/>
              <a:ext cx="765048" cy="10241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6575" y="144780"/>
              <a:ext cx="5021580" cy="1024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4363" y="693419"/>
              <a:ext cx="3020567" cy="1024127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b="1" spc="125" dirty="0">
                <a:latin typeface="Trebuchet MS"/>
                <a:cs typeface="Trebuchet MS"/>
              </a:rPr>
              <a:t>BCS202L-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spc="145" dirty="0">
                <a:latin typeface="Trebuchet MS"/>
                <a:cs typeface="Trebuchet MS"/>
              </a:rPr>
              <a:t>Data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Structures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and </a:t>
            </a:r>
            <a:r>
              <a:rPr b="1" spc="-1070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Algorithms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04975" y="1712442"/>
            <a:ext cx="6291580" cy="42938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1:</a:t>
            </a:r>
            <a:r>
              <a:rPr sz="3500" spc="-8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27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200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370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r>
              <a:rPr sz="3500" spc="-125" dirty="0">
                <a:solidFill>
                  <a:srgbClr val="006FC0"/>
                </a:solidFill>
                <a:latin typeface="Trebuchet MS"/>
                <a:cs typeface="Trebuchet MS"/>
              </a:rPr>
              <a:t>orithm</a:t>
            </a:r>
            <a:r>
              <a:rPr sz="3500" spc="-4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Ana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ysis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2: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Linea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 Data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Structu</a:t>
            </a:r>
            <a:r>
              <a:rPr sz="3500" spc="-175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Module-3: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95" dirty="0">
                <a:solidFill>
                  <a:srgbClr val="006FC0"/>
                </a:solidFill>
                <a:latin typeface="Trebuchet MS"/>
                <a:cs typeface="Trebuchet MS"/>
              </a:rPr>
              <a:t>Searching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20" dirty="0">
                <a:solidFill>
                  <a:srgbClr val="006FC0"/>
                </a:solidFill>
                <a:latin typeface="Trebuchet MS"/>
                <a:cs typeface="Trebuchet MS"/>
              </a:rPr>
              <a:t>Sorting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Module-4:Trees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5: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" dirty="0">
                <a:solidFill>
                  <a:srgbClr val="006FC0"/>
                </a:solidFill>
                <a:latin typeface="Trebuchet MS"/>
                <a:cs typeface="Trebuchet MS"/>
              </a:rPr>
              <a:t>Gr</a:t>
            </a:r>
            <a:r>
              <a:rPr sz="3500" spc="-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phs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6: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Hashing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7: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He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ps</a:t>
            </a:r>
            <a:r>
              <a:rPr sz="35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dirty="0">
                <a:solidFill>
                  <a:srgbClr val="006FC0"/>
                </a:solidFill>
                <a:latin typeface="Trebuchet MS"/>
                <a:cs typeface="Trebuchet MS"/>
              </a:rPr>
              <a:t>VL</a:t>
            </a:r>
            <a:r>
              <a:rPr sz="3500" spc="-5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5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3500" spc="-5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ees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3609" y="116662"/>
              <a:ext cx="7992872" cy="65526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1912" y="144780"/>
              <a:ext cx="2599943" cy="10241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9207" y="144780"/>
              <a:ext cx="765048" cy="10241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6575" y="144780"/>
              <a:ext cx="5021580" cy="1024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4363" y="693419"/>
              <a:ext cx="3020567" cy="1024127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b="1" spc="125" dirty="0">
                <a:latin typeface="Trebuchet MS"/>
                <a:cs typeface="Trebuchet MS"/>
              </a:rPr>
              <a:t>BCS202L-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spc="145" dirty="0">
                <a:latin typeface="Trebuchet MS"/>
                <a:cs typeface="Trebuchet MS"/>
              </a:rPr>
              <a:t>Data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Structures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and </a:t>
            </a:r>
            <a:r>
              <a:rPr b="1" spc="-1070" dirty="0">
                <a:latin typeface="Trebuchet MS"/>
                <a:cs typeface="Trebuchet MS"/>
              </a:rPr>
              <a:t> </a:t>
            </a:r>
            <a:r>
              <a:rPr b="1" spc="90" dirty="0">
                <a:latin typeface="Trebuchet MS"/>
                <a:cs typeface="Trebuchet MS"/>
              </a:rPr>
              <a:t>Algorithms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04975" y="1645412"/>
            <a:ext cx="224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solidFill>
                  <a:srgbClr val="006FC0"/>
                </a:solidFill>
                <a:latin typeface="Trebuchet MS"/>
                <a:cs typeface="Trebuchet MS"/>
              </a:rPr>
              <a:t>Text</a:t>
            </a:r>
            <a:r>
              <a:rPr sz="3200" b="1" spc="-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9880" y="2215337"/>
            <a:ext cx="72047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175" dirty="0">
                <a:solidFill>
                  <a:srgbClr val="3891A7"/>
                </a:solidFill>
                <a:latin typeface="Trebuchet MS"/>
                <a:cs typeface="Trebuchet MS"/>
              </a:rPr>
              <a:t>1.	</a:t>
            </a:r>
            <a:r>
              <a:rPr sz="2000" spc="135" dirty="0">
                <a:latin typeface="Trebuchet MS"/>
                <a:cs typeface="Trebuchet MS"/>
              </a:rPr>
              <a:t>M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50" dirty="0">
                <a:latin typeface="Trebuchet MS"/>
                <a:cs typeface="Trebuchet MS"/>
              </a:rPr>
              <a:t>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W</a:t>
            </a:r>
            <a:r>
              <a:rPr sz="2000" spc="-130" dirty="0">
                <a:latin typeface="Trebuchet MS"/>
                <a:cs typeface="Trebuchet MS"/>
              </a:rPr>
              <a:t>eiss,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ta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ru</a:t>
            </a:r>
            <a:r>
              <a:rPr sz="2000" spc="-80" dirty="0">
                <a:latin typeface="Trebuchet MS"/>
                <a:cs typeface="Trebuchet MS"/>
              </a:rPr>
              <a:t>c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u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&amp;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215" dirty="0">
                <a:latin typeface="Trebuchet MS"/>
                <a:cs typeface="Trebuchet MS"/>
              </a:rPr>
              <a:t>g</a:t>
            </a:r>
            <a:r>
              <a:rPr sz="2000" spc="25" dirty="0">
                <a:latin typeface="Trebuchet MS"/>
                <a:cs typeface="Trebuchet MS"/>
              </a:rPr>
              <a:t>o</a:t>
            </a:r>
            <a:r>
              <a:rPr sz="2000" spc="10" dirty="0">
                <a:latin typeface="Trebuchet MS"/>
                <a:cs typeface="Trebuchet MS"/>
              </a:rPr>
              <a:t>r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70" dirty="0">
                <a:latin typeface="Trebuchet MS"/>
                <a:cs typeface="Trebuchet MS"/>
              </a:rPr>
              <a:t>h</a:t>
            </a:r>
            <a:r>
              <a:rPr sz="2000" spc="-114" dirty="0">
                <a:latin typeface="Trebuchet MS"/>
                <a:cs typeface="Trebuchet MS"/>
              </a:rPr>
              <a:t>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na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80" dirty="0">
                <a:latin typeface="Trebuchet MS"/>
                <a:cs typeface="Trebuchet MS"/>
              </a:rPr>
              <a:t>ys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++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4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114" dirty="0">
                <a:latin typeface="Trebuchet MS"/>
                <a:cs typeface="Trebuchet MS"/>
              </a:rPr>
              <a:t>Edition,</a:t>
            </a:r>
            <a:r>
              <a:rPr sz="2000" spc="-2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2013,Pearson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4975" y="2895345"/>
            <a:ext cx="33166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006FC0"/>
                </a:solidFill>
                <a:latin typeface="Trebuchet MS"/>
                <a:cs typeface="Trebuchet MS"/>
              </a:rPr>
              <a:t>Reference</a:t>
            </a:r>
            <a:r>
              <a:rPr sz="3200" b="1" spc="-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9080" y="3465398"/>
            <a:ext cx="734568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8485" indent="-51562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AutoNum type="arabicPeriod"/>
              <a:tabLst>
                <a:tab pos="578485" algn="l"/>
                <a:tab pos="579120" algn="l"/>
                <a:tab pos="1358265" algn="l"/>
                <a:tab pos="3025775" algn="l"/>
                <a:tab pos="4234815" algn="l"/>
                <a:tab pos="4742180" algn="l"/>
                <a:tab pos="5335270" algn="l"/>
              </a:tabLst>
            </a:pPr>
            <a:r>
              <a:rPr sz="2000" spc="-85" dirty="0">
                <a:latin typeface="Trebuchet MS"/>
                <a:cs typeface="Trebuchet MS"/>
              </a:rPr>
              <a:t>Alfred	</a:t>
            </a:r>
            <a:r>
              <a:rPr sz="2000" spc="-265" dirty="0">
                <a:latin typeface="Trebuchet MS"/>
                <a:cs typeface="Trebuchet MS"/>
              </a:rPr>
              <a:t>V.</a:t>
            </a:r>
            <a:r>
              <a:rPr sz="2000" spc="33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Aho,</a:t>
            </a:r>
            <a:r>
              <a:rPr sz="2000" spc="31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Jeffrey	</a:t>
            </a:r>
            <a:r>
              <a:rPr sz="2000" spc="-95" dirty="0">
                <a:latin typeface="Trebuchet MS"/>
                <a:cs typeface="Trebuchet MS"/>
              </a:rPr>
              <a:t>D.</a:t>
            </a:r>
            <a:r>
              <a:rPr sz="2000" spc="3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Ullman	</a:t>
            </a:r>
            <a:r>
              <a:rPr sz="2000" spc="-130" dirty="0">
                <a:latin typeface="Trebuchet MS"/>
                <a:cs typeface="Trebuchet MS"/>
              </a:rPr>
              <a:t>and	</a:t>
            </a:r>
            <a:r>
              <a:rPr sz="2000" spc="-170" dirty="0">
                <a:latin typeface="Trebuchet MS"/>
                <a:cs typeface="Trebuchet MS"/>
              </a:rPr>
              <a:t>John	</a:t>
            </a:r>
            <a:r>
              <a:rPr sz="2000" spc="-185" dirty="0">
                <a:latin typeface="Trebuchet MS"/>
                <a:cs typeface="Trebuchet MS"/>
              </a:rPr>
              <a:t>E.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Hopcroft,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</a:pPr>
            <a:r>
              <a:rPr sz="2000" spc="-80" dirty="0">
                <a:latin typeface="Trebuchet MS"/>
                <a:cs typeface="Trebuchet MS"/>
              </a:rPr>
              <a:t>Structures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Algorithms,1983,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Pearson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  <a:p>
            <a:pPr marL="578485" marR="9334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3295650" algn="l"/>
              </a:tabLst>
            </a:pPr>
            <a:r>
              <a:rPr sz="2000" spc="-65" dirty="0">
                <a:latin typeface="Trebuchet MS"/>
                <a:cs typeface="Trebuchet MS"/>
              </a:rPr>
              <a:t>Horowitz,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Sahni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and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S.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Anderson-Freed,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Fundamentals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of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Data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Struct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spc="-30" dirty="0">
                <a:latin typeface="Trebuchet MS"/>
                <a:cs typeface="Trebuchet MS"/>
              </a:rPr>
              <a:t>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2008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</a:t>
            </a:r>
            <a:r>
              <a:rPr sz="1950" spc="-60" baseline="25641" dirty="0">
                <a:latin typeface="Trebuchet MS"/>
                <a:cs typeface="Trebuchet MS"/>
              </a:rPr>
              <a:t>n</a:t>
            </a:r>
            <a:r>
              <a:rPr sz="1950" spc="-75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on,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90" dirty="0">
                <a:latin typeface="Trebuchet MS"/>
                <a:cs typeface="Trebuchet MS"/>
              </a:rPr>
              <a:t>ersities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57848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1529715" algn="l"/>
                <a:tab pos="5873750" algn="l"/>
                <a:tab pos="6365875" algn="l"/>
              </a:tabLst>
            </a:pPr>
            <a:r>
              <a:rPr sz="2000" spc="-65" dirty="0">
                <a:latin typeface="Trebuchet MS"/>
                <a:cs typeface="Trebuchet MS"/>
              </a:rPr>
              <a:t>Thomas	</a:t>
            </a:r>
            <a:r>
              <a:rPr sz="2000" spc="-75" dirty="0">
                <a:latin typeface="Trebuchet MS"/>
                <a:cs typeface="Trebuchet MS"/>
              </a:rPr>
              <a:t>H.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Cormen,</a:t>
            </a:r>
            <a:r>
              <a:rPr sz="2000" spc="2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C.E.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Leiserson,</a:t>
            </a:r>
            <a:r>
              <a:rPr sz="2000" spc="22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R</a:t>
            </a:r>
            <a:r>
              <a:rPr sz="2000" spc="40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L.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Rivest	</a:t>
            </a:r>
            <a:r>
              <a:rPr sz="2000" spc="-135" dirty="0">
                <a:latin typeface="Trebuchet MS"/>
                <a:cs typeface="Trebuchet MS"/>
              </a:rPr>
              <a:t>and	</a:t>
            </a:r>
            <a:r>
              <a:rPr sz="2000" spc="-25" dirty="0">
                <a:latin typeface="Trebuchet MS"/>
                <a:cs typeface="Trebuchet MS"/>
              </a:rPr>
              <a:t>C.</a:t>
            </a:r>
            <a:r>
              <a:rPr sz="2000" spc="1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Stein,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  <a:tabLst>
                <a:tab pos="445579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oduc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40" dirty="0">
                <a:latin typeface="Trebuchet MS"/>
                <a:cs typeface="Trebuchet MS"/>
              </a:rPr>
              <a:t>i</a:t>
            </a:r>
            <a:r>
              <a:rPr sz="2000" spc="-80" dirty="0">
                <a:latin typeface="Trebuchet MS"/>
                <a:cs typeface="Trebuchet MS"/>
              </a:rPr>
              <a:t>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Al</a:t>
            </a:r>
            <a:r>
              <a:rPr sz="2000" spc="-85" dirty="0">
                <a:latin typeface="Trebuchet MS"/>
                <a:cs typeface="Trebuchet MS"/>
              </a:rPr>
              <a:t>g</a:t>
            </a:r>
            <a:r>
              <a:rPr sz="2000" spc="-60" dirty="0">
                <a:latin typeface="Trebuchet MS"/>
                <a:cs typeface="Trebuchet MS"/>
              </a:rPr>
              <a:t>orit</a:t>
            </a:r>
            <a:r>
              <a:rPr sz="2000" spc="-7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m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2009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3</a:t>
            </a:r>
            <a:r>
              <a:rPr sz="1950" spc="-52" baseline="25641" dirty="0">
                <a:latin typeface="Trebuchet MS"/>
                <a:cs typeface="Trebuchet MS"/>
              </a:rPr>
              <a:t>r</a:t>
            </a:r>
            <a:r>
              <a:rPr sz="1950" spc="-22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MIT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9400" y="6095"/>
              <a:ext cx="4439411" cy="113690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147186" y="140969"/>
            <a:ext cx="378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Module</a:t>
            </a:r>
            <a:r>
              <a:rPr sz="4000" spc="-85" dirty="0"/>
              <a:t> </a:t>
            </a:r>
            <a:r>
              <a:rPr sz="4000" spc="-350" dirty="0"/>
              <a:t>6:</a:t>
            </a:r>
            <a:r>
              <a:rPr sz="4000" spc="-490" dirty="0"/>
              <a:t> </a:t>
            </a:r>
            <a:r>
              <a:rPr sz="4000" spc="-165" dirty="0"/>
              <a:t>Hashing</a:t>
            </a:r>
            <a:endParaRPr sz="4000"/>
          </a:p>
        </p:txBody>
      </p:sp>
      <p:sp>
        <p:nvSpPr>
          <p:cNvPr id="16" name="object 16"/>
          <p:cNvSpPr txBox="1"/>
          <p:nvPr/>
        </p:nvSpPr>
        <p:spPr>
          <a:xfrm>
            <a:off x="1276858" y="835217"/>
            <a:ext cx="5998210" cy="449389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75" dirty="0">
                <a:latin typeface="Trebuchet MS"/>
                <a:cs typeface="Trebuchet MS"/>
              </a:rPr>
              <a:t>Hash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15" dirty="0">
                <a:latin typeface="Trebuchet MS"/>
                <a:cs typeface="Trebuchet MS"/>
              </a:rPr>
              <a:t>Op</a:t>
            </a:r>
            <a:r>
              <a:rPr sz="2800" spc="2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Hashing(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FF0000"/>
                </a:solidFill>
                <a:latin typeface="Trebuchet MS"/>
                <a:cs typeface="Trebuchet MS"/>
              </a:rPr>
              <a:t>Clo</a:t>
            </a:r>
            <a:r>
              <a:rPr sz="2800" b="1" spc="8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b="1" spc="-30" dirty="0">
                <a:solidFill>
                  <a:srgbClr val="FF0000"/>
                </a:solidFill>
                <a:latin typeface="Trebuchet MS"/>
                <a:cs typeface="Trebuchet MS"/>
              </a:rPr>
              <a:t>ed</a:t>
            </a:r>
            <a:r>
              <a:rPr sz="2800" b="1" spc="-3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b="1" spc="1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b="1" spc="-35" dirty="0">
                <a:solidFill>
                  <a:srgbClr val="FF0000"/>
                </a:solidFill>
                <a:latin typeface="Trebuchet MS"/>
                <a:cs typeface="Trebuchet MS"/>
              </a:rPr>
              <a:t>es</a:t>
            </a:r>
            <a:r>
              <a:rPr sz="2800" b="1" spc="-4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b="1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0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Se</a:t>
            </a:r>
            <a:r>
              <a:rPr sz="2400" spc="-135" dirty="0">
                <a:latin typeface="Trebuchet MS"/>
                <a:cs typeface="Trebuchet MS"/>
              </a:rPr>
              <a:t>pa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85" dirty="0">
                <a:latin typeface="Trebuchet MS"/>
                <a:cs typeface="Trebuchet MS"/>
              </a:rPr>
              <a:t>ate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Chaining</a:t>
            </a:r>
            <a:endParaRPr sz="24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25" dirty="0">
                <a:latin typeface="Trebuchet MS"/>
                <a:cs typeface="Trebuchet MS"/>
              </a:rPr>
              <a:t>Clos</a:t>
            </a:r>
            <a:r>
              <a:rPr sz="2800" spc="-2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Hashi</a:t>
            </a:r>
            <a:r>
              <a:rPr sz="2800" spc="-105" dirty="0">
                <a:latin typeface="Trebuchet MS"/>
                <a:cs typeface="Trebuchet MS"/>
              </a:rPr>
              <a:t>n</a:t>
            </a:r>
            <a:r>
              <a:rPr sz="2800" spc="-220" dirty="0">
                <a:latin typeface="Trebuchet MS"/>
                <a:cs typeface="Trebuchet MS"/>
              </a:rPr>
              <a:t>g</a:t>
            </a:r>
            <a:r>
              <a:rPr sz="2800" spc="-13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2800" b="1" spc="95" dirty="0">
                <a:solidFill>
                  <a:srgbClr val="FF0000"/>
                </a:solidFill>
                <a:latin typeface="Trebuchet MS"/>
                <a:cs typeface="Trebuchet MS"/>
              </a:rPr>
              <a:t>Open</a:t>
            </a:r>
            <a:r>
              <a:rPr sz="2800" b="1" spc="-3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b="1" spc="1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ess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800" b="1" spc="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Linea</a:t>
            </a:r>
            <a:r>
              <a:rPr sz="2400" spc="-100" dirty="0">
                <a:latin typeface="Trebuchet MS"/>
                <a:cs typeface="Trebuchet MS"/>
              </a:rPr>
              <a:t>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14" dirty="0">
                <a:latin typeface="Trebuchet MS"/>
                <a:cs typeface="Trebuchet MS"/>
              </a:rPr>
              <a:t>obing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Quadr</a:t>
            </a:r>
            <a:r>
              <a:rPr sz="2400" spc="-65" dirty="0">
                <a:latin typeface="Trebuchet MS"/>
                <a:cs typeface="Trebuchet MS"/>
              </a:rPr>
              <a:t>a</a:t>
            </a:r>
            <a:r>
              <a:rPr sz="2400" spc="-160" dirty="0">
                <a:latin typeface="Trebuchet MS"/>
                <a:cs typeface="Trebuchet MS"/>
              </a:rPr>
              <a:t>ti</a:t>
            </a:r>
            <a:r>
              <a:rPr sz="2400" spc="-140" dirty="0">
                <a:latin typeface="Trebuchet MS"/>
                <a:cs typeface="Trebuchet MS"/>
              </a:rPr>
              <a:t>c</a:t>
            </a:r>
            <a:r>
              <a:rPr sz="2400" spc="-60" dirty="0">
                <a:latin typeface="Trebuchet MS"/>
                <a:cs typeface="Trebuchet MS"/>
              </a:rPr>
              <a:t> P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14" dirty="0">
                <a:latin typeface="Trebuchet MS"/>
                <a:cs typeface="Trebuchet MS"/>
              </a:rPr>
              <a:t>obing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Double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Hashing</a:t>
            </a:r>
            <a:endParaRPr sz="24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7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10" dirty="0">
                <a:solidFill>
                  <a:srgbClr val="00AF50"/>
                </a:solidFill>
                <a:latin typeface="Trebuchet MS"/>
                <a:cs typeface="Trebuchet MS"/>
              </a:rPr>
              <a:t>Rehashing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-15" dirty="0">
                <a:solidFill>
                  <a:srgbClr val="00AF50"/>
                </a:solidFill>
                <a:latin typeface="Trebuchet MS"/>
                <a:cs typeface="Trebuchet MS"/>
              </a:rPr>
              <a:t>Extendible</a:t>
            </a:r>
            <a:r>
              <a:rPr sz="3200" b="1" spc="-1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65" dirty="0">
                <a:solidFill>
                  <a:srgbClr val="00AF50"/>
                </a:solidFill>
                <a:latin typeface="Trebuchet MS"/>
                <a:cs typeface="Trebuchet MS"/>
              </a:rPr>
              <a:t>Hashing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9999" y="0"/>
              <a:ext cx="2459736" cy="100126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04259" y="99440"/>
            <a:ext cx="1873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Rehashing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6858" y="854709"/>
            <a:ext cx="7682865" cy="574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6350" indent="-283845" algn="just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spc="20" dirty="0">
                <a:latin typeface="Trebuchet MS"/>
                <a:cs typeface="Trebuchet MS"/>
              </a:rPr>
              <a:t>When</a:t>
            </a:r>
            <a:r>
              <a:rPr sz="3000" spc="2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hash</a:t>
            </a:r>
            <a:r>
              <a:rPr sz="3000" spc="-155" dirty="0">
                <a:latin typeface="Trebuchet MS"/>
                <a:cs typeface="Trebuchet MS"/>
              </a:rPr>
              <a:t> </a:t>
            </a:r>
            <a:r>
              <a:rPr sz="3000" spc="-220" dirty="0">
                <a:latin typeface="Trebuchet MS"/>
                <a:cs typeface="Trebuchet MS"/>
              </a:rPr>
              <a:t>table</a:t>
            </a:r>
            <a:r>
              <a:rPr sz="3000" spc="-21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becomes</a:t>
            </a:r>
            <a:r>
              <a:rPr sz="3000" spc="-130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too</a:t>
            </a:r>
            <a:r>
              <a:rPr sz="3000" spc="830" dirty="0">
                <a:latin typeface="Trebuchet MS"/>
                <a:cs typeface="Trebuchet MS"/>
              </a:rPr>
              <a:t> </a:t>
            </a:r>
            <a:r>
              <a:rPr sz="3000" spc="-280" dirty="0">
                <a:latin typeface="Trebuchet MS"/>
                <a:cs typeface="Trebuchet MS"/>
              </a:rPr>
              <a:t>full,</a:t>
            </a:r>
            <a:r>
              <a:rPr sz="3000" spc="34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running </a:t>
            </a:r>
            <a:r>
              <a:rPr sz="3000" spc="-135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time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380" dirty="0">
                <a:latin typeface="Trebuchet MS"/>
                <a:cs typeface="Trebuchet MS"/>
              </a:rPr>
              <a:t>f</a:t>
            </a:r>
            <a:r>
              <a:rPr sz="3000" spc="30" dirty="0">
                <a:latin typeface="Trebuchet MS"/>
                <a:cs typeface="Trebuchet MS"/>
              </a:rPr>
              <a:t>or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operations</a:t>
            </a:r>
            <a:r>
              <a:rPr sz="3000" spc="-90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will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ta</a:t>
            </a:r>
            <a:r>
              <a:rPr sz="3000" spc="-285" dirty="0">
                <a:latin typeface="Trebuchet MS"/>
                <a:cs typeface="Trebuchet MS"/>
              </a:rPr>
              <a:t>k</a:t>
            </a:r>
            <a:r>
              <a:rPr sz="3000" spc="-200" dirty="0">
                <a:latin typeface="Trebuchet MS"/>
                <a:cs typeface="Trebuchet MS"/>
              </a:rPr>
              <a:t>e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mo</a:t>
            </a:r>
            <a:r>
              <a:rPr sz="3000" spc="-85" dirty="0">
                <a:latin typeface="Trebuchet MS"/>
                <a:cs typeface="Trebuchet MS"/>
              </a:rPr>
              <a:t>r</a:t>
            </a:r>
            <a:r>
              <a:rPr sz="3000" spc="-200" dirty="0">
                <a:latin typeface="Trebuchet MS"/>
                <a:cs typeface="Trebuchet MS"/>
              </a:rPr>
              <a:t>e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tim</a:t>
            </a:r>
            <a:r>
              <a:rPr sz="3000" spc="-140" dirty="0">
                <a:latin typeface="Trebuchet MS"/>
                <a:cs typeface="Trebuchet MS"/>
              </a:rPr>
              <a:t>e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b="1" spc="40" dirty="0">
                <a:solidFill>
                  <a:srgbClr val="FF0000"/>
                </a:solidFill>
                <a:latin typeface="Trebuchet MS"/>
                <a:cs typeface="Trebuchet MS"/>
              </a:rPr>
              <a:t>For </a:t>
            </a:r>
            <a:r>
              <a:rPr sz="3000" b="1" spc="5" dirty="0">
                <a:solidFill>
                  <a:srgbClr val="FF0000"/>
                </a:solidFill>
                <a:latin typeface="Trebuchet MS"/>
                <a:cs typeface="Trebuchet MS"/>
              </a:rPr>
              <a:t>Example: </a:t>
            </a:r>
            <a:r>
              <a:rPr sz="3000" spc="-95" dirty="0">
                <a:latin typeface="Trebuchet MS"/>
                <a:cs typeface="Trebuchet MS"/>
              </a:rPr>
              <a:t>Insertions </a:t>
            </a:r>
            <a:r>
              <a:rPr sz="3000" spc="-190" dirty="0">
                <a:latin typeface="Trebuchet MS"/>
                <a:cs typeface="Trebuchet MS"/>
              </a:rPr>
              <a:t>might </a:t>
            </a:r>
            <a:r>
              <a:rPr sz="3000" spc="-270" dirty="0">
                <a:latin typeface="Trebuchet MS"/>
                <a:cs typeface="Trebuchet MS"/>
              </a:rPr>
              <a:t>fail </a:t>
            </a:r>
            <a:r>
              <a:rPr sz="3000" spc="-105" dirty="0">
                <a:latin typeface="Trebuchet MS"/>
                <a:cs typeface="Trebuchet MS"/>
              </a:rPr>
              <a:t>for </a:t>
            </a:r>
            <a:r>
              <a:rPr sz="3000" spc="-130" dirty="0">
                <a:latin typeface="Trebuchet MS"/>
                <a:cs typeface="Trebuchet MS"/>
              </a:rPr>
              <a:t>closed </a:t>
            </a:r>
            <a:r>
              <a:rPr sz="3000" spc="-125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hashing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wit</a:t>
            </a:r>
            <a:r>
              <a:rPr sz="3000" spc="-170" dirty="0">
                <a:latin typeface="Trebuchet MS"/>
                <a:cs typeface="Trebuchet MS"/>
              </a:rPr>
              <a:t>h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quadratic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40" dirty="0">
                <a:latin typeface="Trebuchet MS"/>
                <a:cs typeface="Trebuchet MS"/>
              </a:rPr>
              <a:t>r</a:t>
            </a:r>
            <a:r>
              <a:rPr sz="3000" spc="-114" dirty="0">
                <a:latin typeface="Trebuchet MS"/>
                <a:cs typeface="Trebuchet MS"/>
              </a:rPr>
              <a:t>esolutio</a:t>
            </a:r>
            <a:r>
              <a:rPr sz="3000" spc="-140" dirty="0">
                <a:latin typeface="Trebuchet MS"/>
                <a:cs typeface="Trebuchet MS"/>
              </a:rPr>
              <a:t>n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>
              <a:latin typeface="Trebuchet MS"/>
              <a:cs typeface="Trebuchet MS"/>
            </a:endParaRPr>
          </a:p>
          <a:p>
            <a:pPr marL="295910" marR="5715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spc="-165" dirty="0">
                <a:latin typeface="Trebuchet MS"/>
                <a:cs typeface="Trebuchet MS"/>
              </a:rPr>
              <a:t>To </a:t>
            </a:r>
            <a:r>
              <a:rPr sz="3000" spc="-125" dirty="0">
                <a:latin typeface="Trebuchet MS"/>
                <a:cs typeface="Trebuchet MS"/>
              </a:rPr>
              <a:t>overcome </a:t>
            </a:r>
            <a:r>
              <a:rPr sz="3000" spc="-150" dirty="0">
                <a:latin typeface="Trebuchet MS"/>
                <a:cs typeface="Trebuchet MS"/>
              </a:rPr>
              <a:t>this </a:t>
            </a:r>
            <a:r>
              <a:rPr sz="3000" spc="-185" dirty="0">
                <a:latin typeface="Trebuchet MS"/>
                <a:cs typeface="Trebuchet MS"/>
              </a:rPr>
              <a:t>type</a:t>
            </a:r>
            <a:r>
              <a:rPr sz="3000" spc="-180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of </a:t>
            </a:r>
            <a:r>
              <a:rPr sz="3000" spc="-155" dirty="0">
                <a:latin typeface="Trebuchet MS"/>
                <a:cs typeface="Trebuchet MS"/>
              </a:rPr>
              <a:t>situation </a:t>
            </a:r>
            <a:r>
              <a:rPr sz="3000" spc="-150" dirty="0">
                <a:latin typeface="Trebuchet MS"/>
                <a:cs typeface="Trebuchet MS"/>
              </a:rPr>
              <a:t>Rehashing </a:t>
            </a:r>
            <a:r>
              <a:rPr sz="3000" spc="-145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technique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is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use</a:t>
            </a:r>
            <a:r>
              <a:rPr sz="3000" spc="-155" dirty="0">
                <a:latin typeface="Trebuchet MS"/>
                <a:cs typeface="Trebuchet MS"/>
              </a:rPr>
              <a:t>d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spc="229" dirty="0">
                <a:latin typeface="Trebuchet MS"/>
                <a:cs typeface="Trebuchet MS"/>
              </a:rPr>
              <a:t>A </a:t>
            </a:r>
            <a:r>
              <a:rPr sz="3000" spc="-150" dirty="0">
                <a:latin typeface="Trebuchet MS"/>
                <a:cs typeface="Trebuchet MS"/>
              </a:rPr>
              <a:t>solution, </a:t>
            </a:r>
            <a:r>
              <a:rPr sz="3000" spc="-225" dirty="0">
                <a:latin typeface="Trebuchet MS"/>
                <a:cs typeface="Trebuchet MS"/>
              </a:rPr>
              <a:t>then, </a:t>
            </a:r>
            <a:r>
              <a:rPr sz="3000" spc="-130" dirty="0">
                <a:latin typeface="Trebuchet MS"/>
                <a:cs typeface="Trebuchet MS"/>
              </a:rPr>
              <a:t>is </a:t>
            </a:r>
            <a:r>
              <a:rPr sz="3000" spc="-75" dirty="0">
                <a:latin typeface="Trebuchet MS"/>
                <a:cs typeface="Trebuchet MS"/>
              </a:rPr>
              <a:t>to </a:t>
            </a:r>
            <a:r>
              <a:rPr sz="3000" spc="-180" dirty="0">
                <a:latin typeface="Trebuchet MS"/>
                <a:cs typeface="Trebuchet MS"/>
              </a:rPr>
              <a:t>build </a:t>
            </a:r>
            <a:r>
              <a:rPr sz="3000" spc="-130" dirty="0">
                <a:latin typeface="Trebuchet MS"/>
                <a:cs typeface="Trebuchet MS"/>
              </a:rPr>
              <a:t>another </a:t>
            </a:r>
            <a:r>
              <a:rPr sz="3000" spc="-220" dirty="0">
                <a:latin typeface="Trebuchet MS"/>
                <a:cs typeface="Trebuchet MS"/>
              </a:rPr>
              <a:t>table </a:t>
            </a:r>
            <a:r>
              <a:rPr sz="3000" spc="-204" dirty="0">
                <a:latin typeface="Trebuchet MS"/>
                <a:cs typeface="Trebuchet MS"/>
              </a:rPr>
              <a:t>that </a:t>
            </a:r>
            <a:r>
              <a:rPr sz="3000" spc="-130" dirty="0">
                <a:latin typeface="Trebuchet MS"/>
                <a:cs typeface="Trebuchet MS"/>
              </a:rPr>
              <a:t>is </a:t>
            </a:r>
            <a:r>
              <a:rPr sz="3000" spc="-89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about</a:t>
            </a:r>
            <a:r>
              <a:rPr sz="3000" spc="-145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twice</a:t>
            </a:r>
            <a:r>
              <a:rPr sz="3000" spc="-165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as</a:t>
            </a:r>
            <a:r>
              <a:rPr sz="3000" spc="-175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big</a:t>
            </a:r>
            <a:r>
              <a:rPr sz="3000" spc="-195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(</a:t>
            </a:r>
            <a:r>
              <a:rPr sz="3000" spc="-150" dirty="0">
                <a:solidFill>
                  <a:srgbClr val="FF0000"/>
                </a:solidFill>
                <a:latin typeface="Trebuchet MS"/>
                <a:cs typeface="Trebuchet MS"/>
              </a:rPr>
              <a:t>with</a:t>
            </a:r>
            <a:r>
              <a:rPr sz="3000" spc="6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220" dirty="0">
                <a:solidFill>
                  <a:srgbClr val="FF0000"/>
                </a:solidFill>
                <a:latin typeface="Trebuchet MS"/>
                <a:cs typeface="Trebuchet MS"/>
              </a:rPr>
              <a:t>an</a:t>
            </a:r>
            <a:r>
              <a:rPr sz="3000" spc="4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160" dirty="0">
                <a:solidFill>
                  <a:srgbClr val="FF0000"/>
                </a:solidFill>
                <a:latin typeface="Trebuchet MS"/>
                <a:cs typeface="Trebuchet MS"/>
              </a:rPr>
              <a:t>associated</a:t>
            </a:r>
            <a:r>
              <a:rPr sz="3000" spc="5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155" dirty="0">
                <a:solidFill>
                  <a:srgbClr val="FF0000"/>
                </a:solidFill>
                <a:latin typeface="Trebuchet MS"/>
                <a:cs typeface="Trebuchet MS"/>
              </a:rPr>
              <a:t>new </a:t>
            </a:r>
            <a:r>
              <a:rPr sz="300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160" dirty="0">
                <a:solidFill>
                  <a:srgbClr val="FF0000"/>
                </a:solidFill>
                <a:latin typeface="Trebuchet MS"/>
                <a:cs typeface="Trebuchet MS"/>
              </a:rPr>
              <a:t>hash</a:t>
            </a:r>
            <a:r>
              <a:rPr sz="3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160" dirty="0">
                <a:solidFill>
                  <a:srgbClr val="FF0000"/>
                </a:solidFill>
                <a:latin typeface="Trebuchet MS"/>
                <a:cs typeface="Trebuchet MS"/>
              </a:rPr>
              <a:t>function)</a:t>
            </a:r>
            <a:r>
              <a:rPr sz="3000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and</a:t>
            </a:r>
            <a:r>
              <a:rPr sz="3000" spc="-19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scan</a:t>
            </a:r>
            <a:r>
              <a:rPr sz="3000" spc="-16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down</a:t>
            </a:r>
            <a:r>
              <a:rPr sz="3000" spc="72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the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entire </a:t>
            </a:r>
            <a:r>
              <a:rPr sz="3000" spc="-160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original</a:t>
            </a:r>
            <a:r>
              <a:rPr sz="3000" spc="-150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hash</a:t>
            </a:r>
            <a:r>
              <a:rPr sz="3000" spc="-155" dirty="0">
                <a:latin typeface="Trebuchet MS"/>
                <a:cs typeface="Trebuchet MS"/>
              </a:rPr>
              <a:t> </a:t>
            </a:r>
            <a:r>
              <a:rPr sz="3000" spc="-245" dirty="0">
                <a:latin typeface="Trebuchet MS"/>
                <a:cs typeface="Trebuchet MS"/>
              </a:rPr>
              <a:t>table,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computing</a:t>
            </a:r>
            <a:r>
              <a:rPr sz="3000" spc="-15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the</a:t>
            </a:r>
            <a:r>
              <a:rPr sz="3000" spc="-175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new</a:t>
            </a:r>
            <a:r>
              <a:rPr sz="3000" spc="-150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hash </a:t>
            </a:r>
            <a:r>
              <a:rPr sz="3000" spc="-155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value</a:t>
            </a:r>
            <a:r>
              <a:rPr sz="3000" spc="-20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for</a:t>
            </a:r>
            <a:r>
              <a:rPr sz="3000" spc="-10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each</a:t>
            </a:r>
            <a:r>
              <a:rPr sz="3000" spc="-20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(</a:t>
            </a:r>
            <a:r>
              <a:rPr sz="3000" b="1" spc="-25" dirty="0">
                <a:solidFill>
                  <a:srgbClr val="FF0000"/>
                </a:solidFill>
                <a:latin typeface="Trebuchet MS"/>
                <a:cs typeface="Trebuchet MS"/>
              </a:rPr>
              <a:t>non</a:t>
            </a:r>
            <a:r>
              <a:rPr sz="3000" b="1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b="1" spc="-50" dirty="0">
                <a:solidFill>
                  <a:srgbClr val="FF0000"/>
                </a:solidFill>
                <a:latin typeface="Trebuchet MS"/>
                <a:cs typeface="Trebuchet MS"/>
              </a:rPr>
              <a:t>deleted</a:t>
            </a:r>
            <a:r>
              <a:rPr sz="3000" spc="-50" dirty="0">
                <a:latin typeface="Trebuchet MS"/>
                <a:cs typeface="Trebuchet MS"/>
              </a:rPr>
              <a:t>)</a:t>
            </a:r>
            <a:r>
              <a:rPr sz="3000" spc="-4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element</a:t>
            </a:r>
            <a:r>
              <a:rPr sz="3000" spc="-185" dirty="0">
                <a:latin typeface="Trebuchet MS"/>
                <a:cs typeface="Trebuchet MS"/>
              </a:rPr>
              <a:t> </a:t>
            </a:r>
            <a:r>
              <a:rPr sz="3000" spc="-200" dirty="0">
                <a:latin typeface="Trebuchet MS"/>
                <a:cs typeface="Trebuchet MS"/>
              </a:rPr>
              <a:t>and </a:t>
            </a:r>
            <a:r>
              <a:rPr sz="3000" spc="-19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inse</a:t>
            </a:r>
            <a:r>
              <a:rPr sz="3000" spc="-50" dirty="0">
                <a:latin typeface="Trebuchet MS"/>
                <a:cs typeface="Trebuchet MS"/>
              </a:rPr>
              <a:t>r</a:t>
            </a:r>
            <a:r>
              <a:rPr sz="3000" spc="-190" dirty="0">
                <a:latin typeface="Trebuchet MS"/>
                <a:cs typeface="Trebuchet MS"/>
              </a:rPr>
              <a:t>ting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it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in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the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n</a:t>
            </a:r>
            <a:r>
              <a:rPr sz="3000" spc="-215" dirty="0">
                <a:latin typeface="Trebuchet MS"/>
                <a:cs typeface="Trebuchet MS"/>
              </a:rPr>
              <a:t>e</a:t>
            </a:r>
            <a:r>
              <a:rPr sz="3000" spc="-75" dirty="0">
                <a:latin typeface="Trebuchet MS"/>
                <a:cs typeface="Trebuchet MS"/>
              </a:rPr>
              <a:t>w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tabl</a:t>
            </a:r>
            <a:r>
              <a:rPr sz="3000" spc="-190" dirty="0">
                <a:latin typeface="Trebuchet MS"/>
                <a:cs typeface="Trebuchet MS"/>
              </a:rPr>
              <a:t>e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50945" y="107442"/>
            <a:ext cx="22879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10" dirty="0">
                <a:solidFill>
                  <a:srgbClr val="000000"/>
                </a:solidFill>
              </a:rPr>
              <a:t>Reh</a:t>
            </a:r>
            <a:r>
              <a:rPr sz="4400" spc="-190" dirty="0">
                <a:solidFill>
                  <a:srgbClr val="000000"/>
                </a:solidFill>
              </a:rPr>
              <a:t>a</a:t>
            </a:r>
            <a:r>
              <a:rPr sz="4400" spc="-225" dirty="0">
                <a:solidFill>
                  <a:srgbClr val="000000"/>
                </a:solidFill>
              </a:rPr>
              <a:t>shing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1266571" y="1067815"/>
            <a:ext cx="5121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2655" algn="l"/>
              </a:tabLst>
            </a:pPr>
            <a:r>
              <a:rPr sz="2400" spc="-135" dirty="0">
                <a:latin typeface="Trebuchet MS"/>
                <a:cs typeface="Trebuchet MS"/>
              </a:rPr>
              <a:t>Le</a:t>
            </a:r>
            <a:r>
              <a:rPr sz="2400" spc="-100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80" dirty="0">
                <a:latin typeface="Trebuchet MS"/>
                <a:cs typeface="Trebuchet MS"/>
              </a:rPr>
              <a:t>us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consider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f(</a:t>
            </a:r>
            <a:r>
              <a:rPr sz="2400" spc="-155" dirty="0">
                <a:latin typeface="Trebuchet MS"/>
                <a:cs typeface="Trebuchet MS"/>
              </a:rPr>
              <a:t>x</a:t>
            </a:r>
            <a:r>
              <a:rPr sz="2400" spc="-110" dirty="0">
                <a:latin typeface="Trebuchet MS"/>
                <a:cs typeface="Trebuchet MS"/>
              </a:rPr>
              <a:t>)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3600" b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125" dirty="0">
                <a:solidFill>
                  <a:srgbClr val="00AF50"/>
                </a:solidFill>
                <a:latin typeface="Trebuchet MS"/>
                <a:cs typeface="Trebuchet MS"/>
              </a:rPr>
              <a:t>%</a:t>
            </a:r>
            <a:r>
              <a:rPr sz="3600" b="1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-125" dirty="0">
                <a:solidFill>
                  <a:srgbClr val="00AF50"/>
                </a:solidFill>
                <a:latin typeface="Trebuchet MS"/>
                <a:cs typeface="Trebuchet MS"/>
              </a:rPr>
              <a:t>7</a:t>
            </a:r>
            <a:r>
              <a:rPr sz="3600" b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80" dirty="0">
                <a:latin typeface="Trebuchet MS"/>
                <a:cs typeface="Trebuchet MS"/>
              </a:rPr>
              <a:t>n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90421" y="2022562"/>
          <a:ext cx="3906517" cy="719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931">
                <a:tc>
                  <a:txBody>
                    <a:bodyPr/>
                    <a:lstStyle/>
                    <a:p>
                      <a:pPr marR="6350" algn="ctr">
                        <a:lnSpc>
                          <a:spcPts val="271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271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0495" algn="ctr">
                        <a:lnSpc>
                          <a:spcPts val="2710"/>
                        </a:lnSpc>
                      </a:pPr>
                      <a:r>
                        <a:rPr sz="2400" b="1" spc="-9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13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ts val="2710"/>
                        </a:lnSpc>
                      </a:pPr>
                      <a:r>
                        <a:rPr sz="2400" b="1" spc="-8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2710"/>
                        </a:lnSpc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8110" algn="ctr">
                        <a:lnSpc>
                          <a:spcPts val="2710"/>
                        </a:lnSpc>
                      </a:pPr>
                      <a:r>
                        <a:rPr sz="2400" b="1" spc="-8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24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78">
                <a:tc>
                  <a:txBody>
                    <a:bodyPr/>
                    <a:lstStyle/>
                    <a:p>
                      <a:pPr marR="75565" algn="ctr">
                        <a:lnSpc>
                          <a:spcPts val="2730"/>
                        </a:lnSpc>
                      </a:pPr>
                      <a:r>
                        <a:rPr sz="2400" spc="-130" dirty="0">
                          <a:latin typeface="Trebuchet MS"/>
                          <a:cs typeface="Trebuchet MS"/>
                        </a:rPr>
                        <a:t>f(x)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=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1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algn="ctr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3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93720" y="3076955"/>
          <a:ext cx="3591559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981451" y="5150865"/>
          <a:ext cx="3591559" cy="7416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266571" y="3262121"/>
            <a:ext cx="715200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39205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App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yi</a:t>
            </a:r>
            <a:r>
              <a:rPr sz="1800" spc="-90" dirty="0">
                <a:solidFill>
                  <a:srgbClr val="FF0000"/>
                </a:solidFill>
                <a:latin typeface="Trebuchet MS"/>
                <a:cs typeface="Trebuchet MS"/>
              </a:rPr>
              <a:t>ng  Linear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probing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tabLst>
                <a:tab pos="1849120" algn="l"/>
              </a:tabLst>
            </a:pPr>
            <a:r>
              <a:rPr sz="2400" spc="-170" dirty="0">
                <a:latin typeface="Trebuchet MS"/>
                <a:cs typeface="Trebuchet MS"/>
              </a:rPr>
              <a:t>F</a:t>
            </a:r>
            <a:r>
              <a:rPr sz="2400" spc="25" dirty="0">
                <a:latin typeface="Trebuchet MS"/>
                <a:cs typeface="Trebuchet MS"/>
              </a:rPr>
              <a:t>or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Exa</a:t>
            </a:r>
            <a:r>
              <a:rPr sz="2400" spc="-175" dirty="0">
                <a:latin typeface="Trebuchet MS"/>
                <a:cs typeface="Trebuchet MS"/>
              </a:rPr>
              <a:t>m</a:t>
            </a:r>
            <a:r>
              <a:rPr sz="2400" spc="-160" dirty="0">
                <a:latin typeface="Trebuchet MS"/>
                <a:cs typeface="Trebuchet MS"/>
              </a:rPr>
              <a:t>ple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60" dirty="0">
                <a:latin typeface="Trebuchet MS"/>
                <a:cs typeface="Trebuchet MS"/>
              </a:rPr>
              <a:t>: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60" dirty="0">
                <a:latin typeface="Trebuchet MS"/>
                <a:cs typeface="Trebuchet MS"/>
              </a:rPr>
              <a:t>i</a:t>
            </a:r>
            <a:r>
              <a:rPr sz="2400" spc="-290" dirty="0">
                <a:latin typeface="Trebuchet MS"/>
                <a:cs typeface="Trebuchet MS"/>
              </a:rPr>
              <a:t>f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23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i</a:t>
            </a:r>
            <a:r>
              <a:rPr sz="2400" spc="-125" dirty="0">
                <a:latin typeface="Trebuchet MS"/>
                <a:cs typeface="Trebuchet MS"/>
              </a:rPr>
              <a:t>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inse</a:t>
            </a:r>
            <a:r>
              <a:rPr sz="2400" spc="-4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te</a:t>
            </a:r>
            <a:r>
              <a:rPr sz="2400" spc="-114" dirty="0">
                <a:latin typeface="Trebuchet MS"/>
                <a:cs typeface="Trebuchet MS"/>
              </a:rPr>
              <a:t>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in</a:t>
            </a:r>
            <a:r>
              <a:rPr sz="2400" spc="-140" dirty="0">
                <a:latin typeface="Trebuchet MS"/>
                <a:cs typeface="Trebuchet MS"/>
              </a:rPr>
              <a:t>t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t</a:t>
            </a:r>
            <a:r>
              <a:rPr sz="2400" spc="-235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bl</a:t>
            </a:r>
            <a:r>
              <a:rPr sz="2400" spc="-140" dirty="0">
                <a:latin typeface="Trebuchet MS"/>
                <a:cs typeface="Trebuchet MS"/>
              </a:rPr>
              <a:t>e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r>
              <a:rPr sz="2400" spc="-31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esul</a:t>
            </a:r>
            <a:r>
              <a:rPr sz="2400" spc="-114" dirty="0">
                <a:latin typeface="Trebuchet MS"/>
                <a:cs typeface="Trebuchet MS"/>
              </a:rPr>
              <a:t>t</a:t>
            </a:r>
            <a:r>
              <a:rPr sz="2400" spc="-140" dirty="0">
                <a:latin typeface="Trebuchet MS"/>
                <a:cs typeface="Trebuchet MS"/>
              </a:rPr>
              <a:t>ing  </a:t>
            </a:r>
            <a:r>
              <a:rPr sz="2400" spc="-175" dirty="0">
                <a:latin typeface="Trebuchet MS"/>
                <a:cs typeface="Trebuchet MS"/>
              </a:rPr>
              <a:t>table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will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almost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full(70%),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new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table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will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be </a:t>
            </a:r>
            <a:r>
              <a:rPr sz="2400" spc="-145" dirty="0">
                <a:latin typeface="Trebuchet MS"/>
                <a:cs typeface="Trebuchet MS"/>
              </a:rPr>
              <a:t> created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66442" y="3549015"/>
            <a:ext cx="865505" cy="280670"/>
          </a:xfrm>
          <a:custGeom>
            <a:avLst/>
            <a:gdLst/>
            <a:ahLst/>
            <a:cxnLst/>
            <a:rect l="l" t="t" r="r" b="b"/>
            <a:pathLst>
              <a:path w="865505" h="280670">
                <a:moveTo>
                  <a:pt x="838175" y="26993"/>
                </a:moveTo>
                <a:lnTo>
                  <a:pt x="0" y="271399"/>
                </a:lnTo>
                <a:lnTo>
                  <a:pt x="2666" y="280543"/>
                </a:lnTo>
                <a:lnTo>
                  <a:pt x="840813" y="36145"/>
                </a:lnTo>
                <a:lnTo>
                  <a:pt x="847329" y="29275"/>
                </a:lnTo>
                <a:lnTo>
                  <a:pt x="838175" y="26993"/>
                </a:lnTo>
                <a:close/>
              </a:path>
              <a:path w="865505" h="280670">
                <a:moveTo>
                  <a:pt x="857758" y="22098"/>
                </a:moveTo>
                <a:lnTo>
                  <a:pt x="854963" y="22098"/>
                </a:lnTo>
                <a:lnTo>
                  <a:pt x="857631" y="31242"/>
                </a:lnTo>
                <a:lnTo>
                  <a:pt x="840813" y="36145"/>
                </a:lnTo>
                <a:lnTo>
                  <a:pt x="792226" y="87376"/>
                </a:lnTo>
                <a:lnTo>
                  <a:pt x="790320" y="89281"/>
                </a:lnTo>
                <a:lnTo>
                  <a:pt x="790447" y="92329"/>
                </a:lnTo>
                <a:lnTo>
                  <a:pt x="794257" y="95885"/>
                </a:lnTo>
                <a:lnTo>
                  <a:pt x="797306" y="95885"/>
                </a:lnTo>
                <a:lnTo>
                  <a:pt x="799083" y="93980"/>
                </a:lnTo>
                <a:lnTo>
                  <a:pt x="865377" y="24002"/>
                </a:lnTo>
                <a:lnTo>
                  <a:pt x="857758" y="22098"/>
                </a:lnTo>
                <a:close/>
              </a:path>
              <a:path w="865505" h="280670">
                <a:moveTo>
                  <a:pt x="847329" y="29275"/>
                </a:moveTo>
                <a:lnTo>
                  <a:pt x="840813" y="36145"/>
                </a:lnTo>
                <a:lnTo>
                  <a:pt x="857631" y="31242"/>
                </a:lnTo>
                <a:lnTo>
                  <a:pt x="855218" y="31242"/>
                </a:lnTo>
                <a:lnTo>
                  <a:pt x="847329" y="29275"/>
                </a:lnTo>
                <a:close/>
              </a:path>
              <a:path w="865505" h="280670">
                <a:moveTo>
                  <a:pt x="852932" y="23368"/>
                </a:moveTo>
                <a:lnTo>
                  <a:pt x="847329" y="29275"/>
                </a:lnTo>
                <a:lnTo>
                  <a:pt x="855218" y="31242"/>
                </a:lnTo>
                <a:lnTo>
                  <a:pt x="852932" y="23368"/>
                </a:lnTo>
                <a:close/>
              </a:path>
              <a:path w="865505" h="280670">
                <a:moveTo>
                  <a:pt x="855334" y="23368"/>
                </a:moveTo>
                <a:lnTo>
                  <a:pt x="852932" y="23368"/>
                </a:lnTo>
                <a:lnTo>
                  <a:pt x="855218" y="31242"/>
                </a:lnTo>
                <a:lnTo>
                  <a:pt x="857631" y="31242"/>
                </a:lnTo>
                <a:lnTo>
                  <a:pt x="855334" y="23368"/>
                </a:lnTo>
                <a:close/>
              </a:path>
              <a:path w="865505" h="280670">
                <a:moveTo>
                  <a:pt x="854963" y="22098"/>
                </a:moveTo>
                <a:lnTo>
                  <a:pt x="838175" y="26993"/>
                </a:lnTo>
                <a:lnTo>
                  <a:pt x="847329" y="29275"/>
                </a:lnTo>
                <a:lnTo>
                  <a:pt x="852932" y="23368"/>
                </a:lnTo>
                <a:lnTo>
                  <a:pt x="855334" y="23368"/>
                </a:lnTo>
                <a:lnTo>
                  <a:pt x="854963" y="22098"/>
                </a:lnTo>
                <a:close/>
              </a:path>
              <a:path w="865505" h="280670">
                <a:moveTo>
                  <a:pt x="769365" y="0"/>
                </a:moveTo>
                <a:lnTo>
                  <a:pt x="766699" y="1650"/>
                </a:lnTo>
                <a:lnTo>
                  <a:pt x="765428" y="6731"/>
                </a:lnTo>
                <a:lnTo>
                  <a:pt x="767080" y="9271"/>
                </a:lnTo>
                <a:lnTo>
                  <a:pt x="838175" y="26993"/>
                </a:lnTo>
                <a:lnTo>
                  <a:pt x="854963" y="22098"/>
                </a:lnTo>
                <a:lnTo>
                  <a:pt x="857758" y="22098"/>
                </a:lnTo>
                <a:lnTo>
                  <a:pt x="769365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0480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-30480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34866" y="-233426"/>
            <a:ext cx="26822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10" dirty="0">
                <a:solidFill>
                  <a:srgbClr val="000000"/>
                </a:solidFill>
                <a:latin typeface="Trebuchet MS"/>
                <a:cs typeface="Trebuchet MS"/>
              </a:rPr>
              <a:t>Rehashing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6858" y="548386"/>
            <a:ext cx="14560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320" dirty="0">
                <a:solidFill>
                  <a:srgbClr val="FF0000"/>
                </a:solidFill>
                <a:latin typeface="Trebuchet MS"/>
                <a:cs typeface="Trebuchet MS"/>
              </a:rPr>
              <a:t>IDE</a:t>
            </a:r>
            <a:r>
              <a:rPr sz="3200" b="1" spc="4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200" b="1" spc="-310" dirty="0">
                <a:solidFill>
                  <a:srgbClr val="FF0000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5747" y="548386"/>
            <a:ext cx="5903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5" dirty="0">
                <a:latin typeface="Trebuchet MS"/>
                <a:cs typeface="Trebuchet MS"/>
              </a:rPr>
              <a:t>The</a:t>
            </a:r>
            <a:r>
              <a:rPr sz="3200" spc="6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size</a:t>
            </a:r>
            <a:r>
              <a:rPr sz="3200" spc="7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this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t</a:t>
            </a:r>
            <a:r>
              <a:rPr sz="3200" spc="-305" dirty="0">
                <a:latin typeface="Trebuchet MS"/>
                <a:cs typeface="Trebuchet MS"/>
              </a:rPr>
              <a:t>a</a:t>
            </a:r>
            <a:r>
              <a:rPr sz="3200" spc="-280" dirty="0">
                <a:latin typeface="Trebuchet MS"/>
                <a:cs typeface="Trebuchet MS"/>
              </a:rPr>
              <a:t>b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1</a:t>
            </a:r>
            <a:r>
              <a:rPr sz="3200" spc="-90" dirty="0">
                <a:latin typeface="Trebuchet MS"/>
                <a:cs typeface="Trebuchet MS"/>
              </a:rPr>
              <a:t>7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27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because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1276858" y="1036065"/>
            <a:ext cx="7684134" cy="302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algn="just">
              <a:lnSpc>
                <a:spcPct val="100000"/>
              </a:lnSpc>
              <a:spcBef>
                <a:spcPts val="105"/>
              </a:spcBef>
            </a:pPr>
            <a:r>
              <a:rPr b="0" spc="-160" dirty="0">
                <a:solidFill>
                  <a:srgbClr val="000000"/>
                </a:solidFill>
                <a:latin typeface="Trebuchet MS"/>
                <a:cs typeface="Trebuchet MS"/>
              </a:rPr>
              <a:t>this </a:t>
            </a:r>
            <a:r>
              <a:rPr b="0" spc="-135" dirty="0">
                <a:solidFill>
                  <a:srgbClr val="000000"/>
                </a:solidFill>
                <a:latin typeface="Trebuchet MS"/>
                <a:cs typeface="Trebuchet MS"/>
              </a:rPr>
              <a:t>is </a:t>
            </a:r>
            <a:r>
              <a:rPr b="0" spc="-190" dirty="0">
                <a:solidFill>
                  <a:srgbClr val="000000"/>
                </a:solidFill>
                <a:latin typeface="Trebuchet MS"/>
                <a:cs typeface="Trebuchet MS"/>
              </a:rPr>
              <a:t>the </a:t>
            </a:r>
            <a:r>
              <a:rPr b="0" spc="-170" dirty="0">
                <a:solidFill>
                  <a:srgbClr val="000000"/>
                </a:solidFill>
                <a:latin typeface="Trebuchet MS"/>
                <a:cs typeface="Trebuchet MS"/>
              </a:rPr>
              <a:t>first </a:t>
            </a:r>
            <a:r>
              <a:rPr b="0" spc="-155" dirty="0">
                <a:solidFill>
                  <a:srgbClr val="000000"/>
                </a:solidFill>
                <a:latin typeface="Trebuchet MS"/>
                <a:cs typeface="Trebuchet MS"/>
              </a:rPr>
              <a:t>prime </a:t>
            </a:r>
            <a:r>
              <a:rPr b="0" spc="-220" dirty="0">
                <a:solidFill>
                  <a:srgbClr val="000000"/>
                </a:solidFill>
                <a:latin typeface="Trebuchet MS"/>
                <a:cs typeface="Trebuchet MS"/>
              </a:rPr>
              <a:t>that </a:t>
            </a:r>
            <a:r>
              <a:rPr b="0" spc="-145" dirty="0">
                <a:solidFill>
                  <a:srgbClr val="000000"/>
                </a:solidFill>
                <a:latin typeface="Trebuchet MS"/>
                <a:cs typeface="Trebuchet MS"/>
              </a:rPr>
              <a:t>is </a:t>
            </a:r>
            <a:r>
              <a:rPr spc="-40" dirty="0"/>
              <a:t>twice </a:t>
            </a:r>
            <a:r>
              <a:rPr spc="-10" dirty="0"/>
              <a:t>as </a:t>
            </a:r>
            <a:r>
              <a:rPr dirty="0"/>
              <a:t>large </a:t>
            </a:r>
            <a:r>
              <a:rPr spc="5" dirty="0"/>
              <a:t> </a:t>
            </a:r>
            <a:r>
              <a:rPr spc="-10" dirty="0"/>
              <a:t>as</a:t>
            </a:r>
            <a:r>
              <a:rPr spc="-95" dirty="0"/>
              <a:t> </a:t>
            </a:r>
            <a:r>
              <a:rPr spc="-25" dirty="0"/>
              <a:t>the</a:t>
            </a:r>
            <a:r>
              <a:rPr spc="-80" dirty="0"/>
              <a:t> </a:t>
            </a:r>
            <a:r>
              <a:rPr spc="5" dirty="0"/>
              <a:t>old</a:t>
            </a:r>
            <a:r>
              <a:rPr spc="-100" dirty="0"/>
              <a:t> </a:t>
            </a:r>
            <a:r>
              <a:rPr spc="-30" dirty="0"/>
              <a:t>table</a:t>
            </a:r>
            <a:r>
              <a:rPr spc="-95" dirty="0"/>
              <a:t> </a:t>
            </a:r>
            <a:r>
              <a:rPr spc="-105" dirty="0"/>
              <a:t>size.</a:t>
            </a:r>
          </a:p>
          <a:p>
            <a:pPr marL="29591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b="0" spc="-9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b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60" dirty="0">
                <a:solidFill>
                  <a:srgbClr val="000000"/>
                </a:solidFill>
                <a:latin typeface="Trebuchet MS"/>
                <a:cs typeface="Trebuchet MS"/>
              </a:rPr>
              <a:t>new</a:t>
            </a:r>
            <a:r>
              <a:rPr b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70" dirty="0">
                <a:solidFill>
                  <a:srgbClr val="000000"/>
                </a:solidFill>
                <a:latin typeface="Trebuchet MS"/>
                <a:cs typeface="Trebuchet MS"/>
              </a:rPr>
              <a:t>hash</a:t>
            </a:r>
            <a:r>
              <a:rPr b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75" dirty="0">
                <a:solidFill>
                  <a:srgbClr val="000000"/>
                </a:solidFill>
                <a:latin typeface="Trebuchet MS"/>
                <a:cs typeface="Trebuchet MS"/>
              </a:rPr>
              <a:t>function</a:t>
            </a:r>
            <a:r>
              <a:rPr b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35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b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80" dirty="0">
                <a:solidFill>
                  <a:srgbClr val="000000"/>
                </a:solidFill>
                <a:latin typeface="Trebuchet MS"/>
                <a:cs typeface="Trebuchet MS"/>
              </a:rPr>
              <a:t>then</a:t>
            </a:r>
            <a:r>
              <a:rPr b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10" dirty="0">
                <a:latin typeface="Trebuchet MS"/>
                <a:cs typeface="Trebuchet MS"/>
              </a:rPr>
              <a:t>h(x)</a:t>
            </a:r>
            <a:r>
              <a:rPr b="0" spc="5" dirty="0">
                <a:latin typeface="Trebuchet MS"/>
                <a:cs typeface="Trebuchet MS"/>
              </a:rPr>
              <a:t> </a:t>
            </a:r>
            <a:r>
              <a:rPr b="0" spc="190" dirty="0">
                <a:latin typeface="Trebuchet MS"/>
                <a:cs typeface="Trebuchet MS"/>
              </a:rPr>
              <a:t>=</a:t>
            </a:r>
            <a:r>
              <a:rPr b="0" spc="20" dirty="0">
                <a:latin typeface="Trebuchet MS"/>
                <a:cs typeface="Trebuchet MS"/>
              </a:rPr>
              <a:t> </a:t>
            </a:r>
            <a:r>
              <a:rPr b="0" spc="-5" dirty="0">
                <a:latin typeface="Trebuchet MS"/>
                <a:cs typeface="Trebuchet MS"/>
              </a:rPr>
              <a:t>x</a:t>
            </a:r>
            <a:r>
              <a:rPr b="0" spc="30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mod</a:t>
            </a:r>
          </a:p>
          <a:p>
            <a:pPr marL="295910" marR="5715" algn="just">
              <a:lnSpc>
                <a:spcPct val="100000"/>
              </a:lnSpc>
              <a:spcBef>
                <a:spcPts val="5"/>
              </a:spcBef>
            </a:pPr>
            <a:r>
              <a:rPr b="0" spc="-215" dirty="0">
                <a:latin typeface="Trebuchet MS"/>
                <a:cs typeface="Trebuchet MS"/>
              </a:rPr>
              <a:t>17</a:t>
            </a:r>
            <a:r>
              <a:rPr b="0" spc="-21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r>
              <a:rPr b="0" spc="12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95" dirty="0">
                <a:solidFill>
                  <a:srgbClr val="000000"/>
                </a:solidFill>
                <a:latin typeface="Trebuchet MS"/>
                <a:cs typeface="Trebuchet MS"/>
              </a:rPr>
              <a:t>The </a:t>
            </a:r>
            <a:r>
              <a:rPr b="0" spc="-114" dirty="0">
                <a:solidFill>
                  <a:srgbClr val="000000"/>
                </a:solidFill>
                <a:latin typeface="Trebuchet MS"/>
                <a:cs typeface="Trebuchet MS"/>
              </a:rPr>
              <a:t>old </a:t>
            </a:r>
            <a:r>
              <a:rPr b="0" spc="-240" dirty="0">
                <a:solidFill>
                  <a:srgbClr val="000000"/>
                </a:solidFill>
                <a:latin typeface="Trebuchet MS"/>
                <a:cs typeface="Trebuchet MS"/>
              </a:rPr>
              <a:t>table</a:t>
            </a:r>
            <a:r>
              <a:rPr b="0" spc="484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35" dirty="0">
                <a:solidFill>
                  <a:srgbClr val="000000"/>
                </a:solidFill>
                <a:latin typeface="Trebuchet MS"/>
                <a:cs typeface="Trebuchet MS"/>
              </a:rPr>
              <a:t>is </a:t>
            </a:r>
            <a:r>
              <a:rPr b="0" spc="-215" dirty="0">
                <a:solidFill>
                  <a:srgbClr val="000000"/>
                </a:solidFill>
                <a:latin typeface="Trebuchet MS"/>
                <a:cs typeface="Trebuchet MS"/>
              </a:rPr>
              <a:t>scanned, </a:t>
            </a:r>
            <a:r>
              <a:rPr b="0" spc="-210" dirty="0">
                <a:solidFill>
                  <a:srgbClr val="000000"/>
                </a:solidFill>
                <a:latin typeface="Trebuchet MS"/>
                <a:cs typeface="Trebuchet MS"/>
              </a:rPr>
              <a:t>and </a:t>
            </a:r>
            <a:r>
              <a:rPr b="0" spc="-185" dirty="0">
                <a:solidFill>
                  <a:srgbClr val="000000"/>
                </a:solidFill>
                <a:latin typeface="Trebuchet MS"/>
                <a:cs typeface="Trebuchet MS"/>
              </a:rPr>
              <a:t>elements </a:t>
            </a:r>
            <a:r>
              <a:rPr b="0" spc="-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275" dirty="0">
                <a:solidFill>
                  <a:srgbClr val="000000"/>
                </a:solidFill>
                <a:latin typeface="Trebuchet MS"/>
                <a:cs typeface="Trebuchet MS"/>
              </a:rPr>
              <a:t>6, </a:t>
            </a:r>
            <a:r>
              <a:rPr b="0" spc="-210" dirty="0">
                <a:solidFill>
                  <a:srgbClr val="000000"/>
                </a:solidFill>
                <a:latin typeface="Trebuchet MS"/>
                <a:cs typeface="Trebuchet MS"/>
              </a:rPr>
              <a:t>15, 23, 24, and</a:t>
            </a:r>
            <a:r>
              <a:rPr b="0" spc="-204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85" dirty="0">
                <a:solidFill>
                  <a:srgbClr val="000000"/>
                </a:solidFill>
                <a:latin typeface="Trebuchet MS"/>
                <a:cs typeface="Trebuchet MS"/>
              </a:rPr>
              <a:t>13 </a:t>
            </a:r>
            <a:r>
              <a:rPr b="0" spc="-195" dirty="0">
                <a:solidFill>
                  <a:srgbClr val="000000"/>
                </a:solidFill>
                <a:latin typeface="Trebuchet MS"/>
                <a:cs typeface="Trebuchet MS"/>
              </a:rPr>
              <a:t>are </a:t>
            </a:r>
            <a:r>
              <a:rPr b="0" spc="-140" dirty="0">
                <a:solidFill>
                  <a:srgbClr val="000000"/>
                </a:solidFill>
                <a:latin typeface="Trebuchet MS"/>
                <a:cs typeface="Trebuchet MS"/>
              </a:rPr>
              <a:t>inserted </a:t>
            </a:r>
            <a:r>
              <a:rPr b="0" spc="-135" dirty="0">
                <a:solidFill>
                  <a:srgbClr val="000000"/>
                </a:solidFill>
                <a:latin typeface="Trebuchet MS"/>
                <a:cs typeface="Trebuchet MS"/>
              </a:rPr>
              <a:t>into </a:t>
            </a:r>
            <a:r>
              <a:rPr b="0" spc="-190" dirty="0">
                <a:solidFill>
                  <a:srgbClr val="000000"/>
                </a:solidFill>
                <a:latin typeface="Trebuchet MS"/>
                <a:cs typeface="Trebuchet MS"/>
              </a:rPr>
              <a:t>the </a:t>
            </a:r>
            <a:r>
              <a:rPr b="0" spc="-1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180" dirty="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b="0" spc="-225" dirty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b="0" spc="-80" dirty="0">
                <a:solidFill>
                  <a:srgbClr val="000000"/>
                </a:solidFill>
                <a:latin typeface="Trebuchet MS"/>
                <a:cs typeface="Trebuchet MS"/>
              </a:rPr>
              <a:t>w</a:t>
            </a:r>
            <a:r>
              <a:rPr b="0" spc="-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b="0" spc="-265" dirty="0">
                <a:solidFill>
                  <a:srgbClr val="000000"/>
                </a:solidFill>
                <a:latin typeface="Trebuchet MS"/>
                <a:cs typeface="Trebuchet MS"/>
              </a:rPr>
              <a:t>tab</a:t>
            </a:r>
            <a:r>
              <a:rPr b="0" spc="-155" dirty="0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b="0" spc="-150" dirty="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b="0" spc="-47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284494"/>
              </p:ext>
            </p:extLst>
          </p:nvPr>
        </p:nvGraphicFramePr>
        <p:xfrm>
          <a:off x="1064691" y="4414011"/>
          <a:ext cx="7693017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579365" y="5453583"/>
            <a:ext cx="7270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rebuchet MS"/>
                <a:cs typeface="Trebuchet MS"/>
              </a:rPr>
              <a:t>Linear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5" dirty="0">
                <a:latin typeface="Trebuchet MS"/>
                <a:cs typeface="Trebuchet MS"/>
              </a:rPr>
              <a:t>p</a:t>
            </a:r>
            <a:r>
              <a:rPr sz="1800" spc="-95" dirty="0">
                <a:latin typeface="Trebuchet MS"/>
                <a:cs typeface="Trebuchet MS"/>
              </a:rPr>
              <a:t>r</a:t>
            </a:r>
            <a:r>
              <a:rPr sz="1800" spc="-85" dirty="0">
                <a:latin typeface="Trebuchet MS"/>
                <a:cs typeface="Trebuchet MS"/>
              </a:rPr>
              <a:t>obing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93641" y="5140452"/>
            <a:ext cx="458470" cy="361315"/>
          </a:xfrm>
          <a:custGeom>
            <a:avLst/>
            <a:gdLst/>
            <a:ahLst/>
            <a:cxnLst/>
            <a:rect l="l" t="t" r="r" b="b"/>
            <a:pathLst>
              <a:path w="458470" h="361314">
                <a:moveTo>
                  <a:pt x="154686" y="285877"/>
                </a:moveTo>
                <a:lnTo>
                  <a:pt x="22809" y="22136"/>
                </a:lnTo>
                <a:lnTo>
                  <a:pt x="83947" y="62103"/>
                </a:lnTo>
                <a:lnTo>
                  <a:pt x="86995" y="61468"/>
                </a:lnTo>
                <a:lnTo>
                  <a:pt x="89789" y="57150"/>
                </a:lnTo>
                <a:lnTo>
                  <a:pt x="89154" y="54102"/>
                </a:lnTo>
                <a:lnTo>
                  <a:pt x="15862" y="6223"/>
                </a:lnTo>
                <a:lnTo>
                  <a:pt x="6350" y="0"/>
                </a:lnTo>
                <a:lnTo>
                  <a:pt x="127" y="96139"/>
                </a:lnTo>
                <a:lnTo>
                  <a:pt x="0" y="98806"/>
                </a:lnTo>
                <a:lnTo>
                  <a:pt x="1905" y="100965"/>
                </a:lnTo>
                <a:lnTo>
                  <a:pt x="4572" y="101219"/>
                </a:lnTo>
                <a:lnTo>
                  <a:pt x="7239" y="101346"/>
                </a:lnTo>
                <a:lnTo>
                  <a:pt x="9525" y="99314"/>
                </a:lnTo>
                <a:lnTo>
                  <a:pt x="9690" y="96139"/>
                </a:lnTo>
                <a:lnTo>
                  <a:pt x="14224" y="26314"/>
                </a:lnTo>
                <a:lnTo>
                  <a:pt x="146050" y="290131"/>
                </a:lnTo>
                <a:lnTo>
                  <a:pt x="154686" y="285877"/>
                </a:lnTo>
                <a:close/>
              </a:path>
              <a:path w="458470" h="361314">
                <a:moveTo>
                  <a:pt x="458343" y="114173"/>
                </a:moveTo>
                <a:lnTo>
                  <a:pt x="457454" y="111760"/>
                </a:lnTo>
                <a:lnTo>
                  <a:pt x="426618" y="30099"/>
                </a:lnTo>
                <a:lnTo>
                  <a:pt x="423418" y="21590"/>
                </a:lnTo>
                <a:lnTo>
                  <a:pt x="361696" y="95631"/>
                </a:lnTo>
                <a:lnTo>
                  <a:pt x="360045" y="97663"/>
                </a:lnTo>
                <a:lnTo>
                  <a:pt x="360299" y="100584"/>
                </a:lnTo>
                <a:lnTo>
                  <a:pt x="362331" y="102235"/>
                </a:lnTo>
                <a:lnTo>
                  <a:pt x="364236" y="104013"/>
                </a:lnTo>
                <a:lnTo>
                  <a:pt x="367284" y="103759"/>
                </a:lnTo>
                <a:lnTo>
                  <a:pt x="368935" y="101727"/>
                </a:lnTo>
                <a:lnTo>
                  <a:pt x="414134" y="47485"/>
                </a:lnTo>
                <a:lnTo>
                  <a:pt x="361696" y="359219"/>
                </a:lnTo>
                <a:lnTo>
                  <a:pt x="371094" y="360807"/>
                </a:lnTo>
                <a:lnTo>
                  <a:pt x="423545" y="48971"/>
                </a:lnTo>
                <a:lnTo>
                  <a:pt x="448564" y="115062"/>
                </a:lnTo>
                <a:lnTo>
                  <a:pt x="449453" y="117475"/>
                </a:lnTo>
                <a:lnTo>
                  <a:pt x="452247" y="118745"/>
                </a:lnTo>
                <a:lnTo>
                  <a:pt x="454660" y="117856"/>
                </a:lnTo>
                <a:lnTo>
                  <a:pt x="457200" y="116967"/>
                </a:lnTo>
                <a:lnTo>
                  <a:pt x="458343" y="114173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09999" y="0"/>
              <a:ext cx="2459736" cy="100126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04259" y="99440"/>
            <a:ext cx="1873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Rehashing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6858" y="763072"/>
            <a:ext cx="7684134" cy="42170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125" dirty="0">
                <a:latin typeface="Trebuchet MS"/>
                <a:cs typeface="Trebuchet MS"/>
              </a:rPr>
              <a:t>Go</a:t>
            </a:r>
            <a:r>
              <a:rPr sz="3200" spc="-80" dirty="0">
                <a:latin typeface="Trebuchet MS"/>
                <a:cs typeface="Trebuchet MS"/>
              </a:rPr>
              <a:t> to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eha</a:t>
            </a:r>
            <a:r>
              <a:rPr sz="3200" spc="-145" dirty="0">
                <a:latin typeface="Trebuchet MS"/>
                <a:cs typeface="Trebuchet MS"/>
              </a:rPr>
              <a:t>s</a:t>
            </a:r>
            <a:r>
              <a:rPr sz="3200" spc="-235" dirty="0">
                <a:latin typeface="Trebuchet MS"/>
                <a:cs typeface="Trebuchet MS"/>
              </a:rPr>
              <a:t>h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endParaRPr sz="3200" dirty="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525" dirty="0" smtClean="0">
                <a:latin typeface="Trebuchet MS"/>
                <a:cs typeface="Trebuchet MS"/>
              </a:rPr>
              <a:t>W</a:t>
            </a:r>
            <a:r>
              <a:rPr sz="2800" spc="-160" dirty="0" smtClean="0">
                <a:latin typeface="Trebuchet MS"/>
                <a:cs typeface="Trebuchet MS"/>
              </a:rPr>
              <a:t>h</a:t>
            </a:r>
            <a:r>
              <a:rPr sz="2800" spc="-155" dirty="0" smtClean="0">
                <a:latin typeface="Trebuchet MS"/>
                <a:cs typeface="Trebuchet MS"/>
              </a:rPr>
              <a:t>e</a:t>
            </a:r>
            <a:r>
              <a:rPr sz="2800" spc="-135" dirty="0" smtClean="0">
                <a:latin typeface="Trebuchet MS"/>
                <a:cs typeface="Trebuchet MS"/>
              </a:rPr>
              <a:t>n</a:t>
            </a:r>
            <a:r>
              <a:rPr sz="2800" spc="-80" dirty="0" smtClean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table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</a:t>
            </a:r>
            <a:r>
              <a:rPr sz="2800" spc="-145" dirty="0">
                <a:latin typeface="Trebuchet MS"/>
                <a:cs typeface="Trebuchet MS"/>
              </a:rPr>
              <a:t>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40" dirty="0">
                <a:latin typeface="Trebuchet MS"/>
                <a:cs typeface="Trebuchet MS"/>
              </a:rPr>
              <a:t>half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full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240" dirty="0">
                <a:latin typeface="Trebuchet MS"/>
                <a:cs typeface="Trebuchet MS"/>
              </a:rPr>
              <a:t>W</a:t>
            </a:r>
            <a:r>
              <a:rPr sz="2800" spc="155" dirty="0">
                <a:latin typeface="Trebuchet MS"/>
                <a:cs typeface="Trebuchet MS"/>
              </a:rPr>
              <a:t>h</a:t>
            </a:r>
            <a:r>
              <a:rPr sz="2800" spc="-160" dirty="0">
                <a:latin typeface="Trebuchet MS"/>
                <a:cs typeface="Trebuchet MS"/>
              </a:rPr>
              <a:t>en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n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in</a:t>
            </a:r>
            <a:r>
              <a:rPr sz="2800" spc="-125" dirty="0">
                <a:latin typeface="Trebuchet MS"/>
                <a:cs typeface="Trebuchet MS"/>
              </a:rPr>
              <a:t>s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20" dirty="0">
                <a:latin typeface="Trebuchet MS"/>
                <a:cs typeface="Trebuchet MS"/>
              </a:rPr>
              <a:t>r</a:t>
            </a:r>
            <a:r>
              <a:rPr sz="2800" spc="-95" dirty="0">
                <a:latin typeface="Trebuchet MS"/>
                <a:cs typeface="Trebuchet MS"/>
              </a:rPr>
              <a:t>ti</a:t>
            </a:r>
            <a:r>
              <a:rPr sz="2800" spc="-140" dirty="0">
                <a:latin typeface="Trebuchet MS"/>
                <a:cs typeface="Trebuchet MS"/>
              </a:rPr>
              <a:t>o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54" dirty="0">
                <a:latin typeface="Trebuchet MS"/>
                <a:cs typeface="Trebuchet MS"/>
              </a:rPr>
              <a:t>f</a:t>
            </a:r>
            <a:r>
              <a:rPr sz="2800" spc="-375" dirty="0">
                <a:latin typeface="Trebuchet MS"/>
                <a:cs typeface="Trebuchet MS"/>
              </a:rPr>
              <a:t>a</a:t>
            </a:r>
            <a:r>
              <a:rPr sz="2800" spc="-140" dirty="0">
                <a:latin typeface="Trebuchet MS"/>
                <a:cs typeface="Trebuchet MS"/>
              </a:rPr>
              <a:t>il</a:t>
            </a:r>
            <a:r>
              <a:rPr sz="2800" spc="-190" dirty="0">
                <a:latin typeface="Trebuchet MS"/>
                <a:cs typeface="Trebuchet MS"/>
              </a:rPr>
              <a:t>s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240" dirty="0">
                <a:latin typeface="Trebuchet MS"/>
                <a:cs typeface="Trebuchet MS"/>
              </a:rPr>
              <a:t>W</a:t>
            </a:r>
            <a:r>
              <a:rPr sz="2800" spc="155" dirty="0">
                <a:latin typeface="Trebuchet MS"/>
                <a:cs typeface="Trebuchet MS"/>
              </a:rPr>
              <a:t>h</a:t>
            </a:r>
            <a:r>
              <a:rPr sz="2800" spc="-160" dirty="0">
                <a:latin typeface="Trebuchet MS"/>
                <a:cs typeface="Trebuchet MS"/>
              </a:rPr>
              <a:t>en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table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eache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loa</a:t>
            </a:r>
            <a:r>
              <a:rPr sz="2800" spc="-175" dirty="0">
                <a:latin typeface="Trebuchet MS"/>
                <a:cs typeface="Trebuchet MS"/>
              </a:rPr>
              <a:t>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54" dirty="0">
                <a:latin typeface="Trebuchet MS"/>
                <a:cs typeface="Trebuchet MS"/>
              </a:rPr>
              <a:t>f</a:t>
            </a:r>
            <a:r>
              <a:rPr sz="2800" spc="-375" dirty="0">
                <a:latin typeface="Trebuchet MS"/>
                <a:cs typeface="Trebuchet MS"/>
              </a:rPr>
              <a:t>a</a:t>
            </a:r>
            <a:r>
              <a:rPr sz="2800" spc="-95" dirty="0">
                <a:latin typeface="Trebuchet MS"/>
                <a:cs typeface="Trebuchet MS"/>
              </a:rPr>
              <a:t>ct</a:t>
            </a:r>
            <a:r>
              <a:rPr sz="2800" spc="-110" dirty="0">
                <a:latin typeface="Trebuchet MS"/>
                <a:cs typeface="Trebuchet MS"/>
              </a:rPr>
              <a:t>o</a:t>
            </a:r>
            <a:r>
              <a:rPr sz="2800" spc="-260" dirty="0">
                <a:latin typeface="Trebuchet MS"/>
                <a:cs typeface="Trebuchet MS"/>
              </a:rPr>
              <a:t>r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  <a:p>
            <a:pPr marL="295910" indent="-283845" algn="just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5" dirty="0">
                <a:latin typeface="Trebuchet MS"/>
                <a:cs typeface="Trebuchet MS"/>
              </a:rPr>
              <a:t>Time</a:t>
            </a:r>
            <a:r>
              <a:rPr sz="3200" spc="-484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T</a:t>
            </a:r>
            <a:r>
              <a:rPr sz="3200" spc="-200" dirty="0">
                <a:latin typeface="Trebuchet MS"/>
                <a:cs typeface="Trebuchet MS"/>
              </a:rPr>
              <a:t>aking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Operat</a:t>
            </a:r>
            <a:r>
              <a:rPr sz="3200" spc="-50" dirty="0">
                <a:latin typeface="Trebuchet MS"/>
                <a:cs typeface="Trebuchet MS"/>
              </a:rPr>
              <a:t>i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endParaRPr sz="3200" dirty="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40" dirty="0">
                <a:latin typeface="Trebuchet MS"/>
                <a:cs typeface="Trebuchet MS"/>
              </a:rPr>
              <a:t>Running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time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O(N), </a:t>
            </a:r>
            <a:r>
              <a:rPr sz="3200" spc="-165" dirty="0">
                <a:latin typeface="Trebuchet MS"/>
                <a:cs typeface="Trebuchet MS"/>
              </a:rPr>
              <a:t>since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there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are</a:t>
            </a:r>
            <a:r>
              <a:rPr sz="3200" spc="-190" dirty="0">
                <a:latin typeface="Trebuchet MS"/>
                <a:cs typeface="Trebuchet MS"/>
              </a:rPr>
              <a:t> </a:t>
            </a:r>
            <a:r>
              <a:rPr sz="3200" spc="455" dirty="0">
                <a:latin typeface="Trebuchet MS"/>
                <a:cs typeface="Trebuchet MS"/>
              </a:rPr>
              <a:t>N </a:t>
            </a:r>
            <a:r>
              <a:rPr sz="3200" spc="459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elements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rehash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and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table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size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is 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r</a:t>
            </a:r>
            <a:r>
              <a:rPr sz="3200" spc="-160" dirty="0">
                <a:latin typeface="Trebuchet MS"/>
                <a:cs typeface="Trebuchet MS"/>
              </a:rPr>
              <a:t>ough</a:t>
            </a:r>
            <a:r>
              <a:rPr sz="3200" spc="-120" dirty="0">
                <a:latin typeface="Trebuchet MS"/>
                <a:cs typeface="Trebuchet MS"/>
              </a:rPr>
              <a:t>l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2</a:t>
            </a:r>
            <a:r>
              <a:rPr sz="3200" spc="459" dirty="0">
                <a:latin typeface="Trebuchet MS"/>
                <a:cs typeface="Trebuchet MS"/>
              </a:rPr>
              <a:t>N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5140" y="0"/>
              <a:ext cx="4029456" cy="100126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Extendib</a:t>
            </a:r>
            <a:r>
              <a:rPr spc="-114" dirty="0"/>
              <a:t>l</a:t>
            </a:r>
            <a:r>
              <a:rPr spc="-240" dirty="0"/>
              <a:t>e</a:t>
            </a:r>
            <a:r>
              <a:rPr spc="-100" dirty="0"/>
              <a:t> </a:t>
            </a:r>
            <a:r>
              <a:rPr spc="-210" dirty="0"/>
              <a:t>hashing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6858" y="857758"/>
            <a:ext cx="7683500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715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90" dirty="0">
                <a:latin typeface="Trebuchet MS"/>
                <a:cs typeface="Trebuchet MS"/>
              </a:rPr>
              <a:t>Main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Hash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table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is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stored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in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Main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memory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buckets </a:t>
            </a:r>
            <a:r>
              <a:rPr sz="2400" spc="-71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sto</a:t>
            </a:r>
            <a:r>
              <a:rPr sz="2400" spc="-85" dirty="0">
                <a:latin typeface="Trebuchet MS"/>
                <a:cs typeface="Trebuchet MS"/>
              </a:rPr>
              <a:t>r</a:t>
            </a:r>
            <a:r>
              <a:rPr sz="2400" spc="-140" dirty="0">
                <a:latin typeface="Trebuchet MS"/>
                <a:cs typeface="Trebuchet MS"/>
              </a:rPr>
              <a:t>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disk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145" dirty="0">
                <a:latin typeface="Trebuchet MS"/>
                <a:cs typeface="Trebuchet MS"/>
              </a:rPr>
              <a:t>Each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value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in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hash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table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pointer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bucket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in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</a:pPr>
            <a:r>
              <a:rPr sz="2400" spc="-95" dirty="0">
                <a:latin typeface="Trebuchet MS"/>
                <a:cs typeface="Trebuchet MS"/>
              </a:rPr>
              <a:t>secondary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memory.</a:t>
            </a:r>
            <a:endParaRPr sz="2400">
              <a:latin typeface="Trebuchet MS"/>
              <a:cs typeface="Trebuchet MS"/>
            </a:endParaRPr>
          </a:p>
          <a:p>
            <a:pPr marL="295910" marR="571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55" dirty="0">
                <a:latin typeface="Trebuchet MS"/>
                <a:cs typeface="Trebuchet MS"/>
              </a:rPr>
              <a:t>Hash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function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is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applied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on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input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value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generate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 </a:t>
            </a:r>
            <a:r>
              <a:rPr sz="2400" spc="-70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buc</a:t>
            </a:r>
            <a:r>
              <a:rPr sz="2400" spc="-175" dirty="0">
                <a:latin typeface="Trebuchet MS"/>
                <a:cs typeface="Trebuchet MS"/>
              </a:rPr>
              <a:t>k</a:t>
            </a:r>
            <a:r>
              <a:rPr sz="2400" spc="-160" dirty="0">
                <a:latin typeface="Trebuchet MS"/>
                <a:cs typeface="Trebuchet MS"/>
              </a:rPr>
              <a:t>et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pointer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per</a:t>
            </a:r>
            <a:r>
              <a:rPr sz="2400" spc="-140" dirty="0">
                <a:latin typeface="Trebuchet MS"/>
                <a:cs typeface="Trebuchet MS"/>
              </a:rPr>
              <a:t>f</a:t>
            </a:r>
            <a:r>
              <a:rPr sz="2400" spc="-30" dirty="0">
                <a:latin typeface="Trebuchet MS"/>
                <a:cs typeface="Trebuchet MS"/>
              </a:rPr>
              <a:t>orm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oper</a:t>
            </a:r>
            <a:r>
              <a:rPr sz="2400" spc="-110" dirty="0">
                <a:latin typeface="Trebuchet MS"/>
                <a:cs typeface="Trebuchet MS"/>
              </a:rPr>
              <a:t>a</a:t>
            </a:r>
            <a:r>
              <a:rPr sz="2400" spc="-160" dirty="0">
                <a:latin typeface="Trebuchet MS"/>
                <a:cs typeface="Trebuchet MS"/>
              </a:rPr>
              <a:t>ti</a:t>
            </a:r>
            <a:r>
              <a:rPr sz="2400" spc="-45" dirty="0">
                <a:latin typeface="Trebuchet MS"/>
                <a:cs typeface="Trebuchet MS"/>
              </a:rPr>
              <a:t>on</a:t>
            </a:r>
            <a:r>
              <a:rPr sz="2400" spc="-40" dirty="0">
                <a:latin typeface="Trebuchet MS"/>
                <a:cs typeface="Trebuchet MS"/>
              </a:rPr>
              <a:t>s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341496" y="3566667"/>
          <a:ext cx="959485" cy="2225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211195" y="6118656"/>
            <a:ext cx="151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Main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Hash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85" dirty="0">
                <a:latin typeface="Trebuchet MS"/>
                <a:cs typeface="Trebuchet MS"/>
              </a:rPr>
              <a:t>T</a:t>
            </a:r>
            <a:r>
              <a:rPr sz="1800" spc="-135" dirty="0">
                <a:latin typeface="Trebuchet MS"/>
                <a:cs typeface="Trebuchet MS"/>
              </a:rPr>
              <a:t>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83455" y="3344290"/>
            <a:ext cx="2838450" cy="2689860"/>
            <a:chOff x="4283455" y="3344290"/>
            <a:chExt cx="2838450" cy="2689860"/>
          </a:xfrm>
        </p:grpSpPr>
        <p:sp>
          <p:nvSpPr>
            <p:cNvPr id="20" name="object 20"/>
            <p:cNvSpPr/>
            <p:nvPr/>
          </p:nvSpPr>
          <p:spPr>
            <a:xfrm>
              <a:off x="5930773" y="3356990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1080122" y="0"/>
                  </a:moveTo>
                  <a:lnTo>
                    <a:pt x="0" y="0"/>
                  </a:lnTo>
                  <a:lnTo>
                    <a:pt x="0" y="360045"/>
                  </a:lnTo>
                  <a:lnTo>
                    <a:pt x="1080122" y="360045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30773" y="3356990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0" y="360045"/>
                  </a:moveTo>
                  <a:lnTo>
                    <a:pt x="1080122" y="360045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4554" y="3869435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1080122" y="0"/>
                  </a:moveTo>
                  <a:lnTo>
                    <a:pt x="0" y="0"/>
                  </a:lnTo>
                  <a:lnTo>
                    <a:pt x="0" y="360044"/>
                  </a:lnTo>
                  <a:lnTo>
                    <a:pt x="1080122" y="360044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4554" y="3869435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0" y="360044"/>
                  </a:moveTo>
                  <a:lnTo>
                    <a:pt x="1080122" y="360044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4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64554" y="4365116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1080122" y="0"/>
                  </a:moveTo>
                  <a:lnTo>
                    <a:pt x="0" y="0"/>
                  </a:lnTo>
                  <a:lnTo>
                    <a:pt x="0" y="360044"/>
                  </a:lnTo>
                  <a:lnTo>
                    <a:pt x="1080122" y="360044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64554" y="4365116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0" y="360044"/>
                  </a:moveTo>
                  <a:lnTo>
                    <a:pt x="1080122" y="360044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4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28944" y="509993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1080122" y="0"/>
                  </a:moveTo>
                  <a:lnTo>
                    <a:pt x="0" y="0"/>
                  </a:lnTo>
                  <a:lnTo>
                    <a:pt x="0" y="360045"/>
                  </a:lnTo>
                  <a:lnTo>
                    <a:pt x="1080122" y="360045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28944" y="509993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0" y="360045"/>
                  </a:moveTo>
                  <a:lnTo>
                    <a:pt x="1080122" y="360045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28944" y="5661240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1080122" y="0"/>
                  </a:moveTo>
                  <a:lnTo>
                    <a:pt x="0" y="0"/>
                  </a:lnTo>
                  <a:lnTo>
                    <a:pt x="0" y="360045"/>
                  </a:lnTo>
                  <a:lnTo>
                    <a:pt x="1080122" y="360045"/>
                  </a:lnTo>
                  <a:lnTo>
                    <a:pt x="108012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28944" y="5661240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4" h="360045">
                  <a:moveTo>
                    <a:pt x="0" y="360045"/>
                  </a:moveTo>
                  <a:lnTo>
                    <a:pt x="1080122" y="360045"/>
                  </a:lnTo>
                  <a:lnTo>
                    <a:pt x="1080122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3456" y="3496690"/>
              <a:ext cx="1745614" cy="2385695"/>
            </a:xfrm>
            <a:custGeom>
              <a:avLst/>
              <a:gdLst/>
              <a:ahLst/>
              <a:cxnLst/>
              <a:rect l="l" t="t" r="r" b="b"/>
              <a:pathLst>
                <a:path w="1745614" h="2385695">
                  <a:moveTo>
                    <a:pt x="1647317" y="1048385"/>
                  </a:moveTo>
                  <a:lnTo>
                    <a:pt x="1639239" y="1043686"/>
                  </a:lnTo>
                  <a:lnTo>
                    <a:pt x="1564005" y="999871"/>
                  </a:lnTo>
                  <a:lnTo>
                    <a:pt x="1561719" y="998601"/>
                  </a:lnTo>
                  <a:lnTo>
                    <a:pt x="1558925" y="999363"/>
                  </a:lnTo>
                  <a:lnTo>
                    <a:pt x="1557528" y="1001522"/>
                  </a:lnTo>
                  <a:lnTo>
                    <a:pt x="1556258" y="1003808"/>
                  </a:lnTo>
                  <a:lnTo>
                    <a:pt x="1557020" y="1006729"/>
                  </a:lnTo>
                  <a:lnTo>
                    <a:pt x="1559306" y="1008126"/>
                  </a:lnTo>
                  <a:lnTo>
                    <a:pt x="1620253" y="1043686"/>
                  </a:lnTo>
                  <a:lnTo>
                    <a:pt x="508" y="1043686"/>
                  </a:lnTo>
                  <a:lnTo>
                    <a:pt x="508" y="1053211"/>
                  </a:lnTo>
                  <a:lnTo>
                    <a:pt x="1620253" y="1053211"/>
                  </a:lnTo>
                  <a:lnTo>
                    <a:pt x="1559306" y="1088771"/>
                  </a:lnTo>
                  <a:lnTo>
                    <a:pt x="1557020" y="1090041"/>
                  </a:lnTo>
                  <a:lnTo>
                    <a:pt x="1556258" y="1092962"/>
                  </a:lnTo>
                  <a:lnTo>
                    <a:pt x="1557528" y="1095248"/>
                  </a:lnTo>
                  <a:lnTo>
                    <a:pt x="1558925" y="1097534"/>
                  </a:lnTo>
                  <a:lnTo>
                    <a:pt x="1561719" y="1098296"/>
                  </a:lnTo>
                  <a:lnTo>
                    <a:pt x="1564005" y="1097026"/>
                  </a:lnTo>
                  <a:lnTo>
                    <a:pt x="1639049" y="1053211"/>
                  </a:lnTo>
                  <a:lnTo>
                    <a:pt x="1647317" y="1048385"/>
                  </a:lnTo>
                  <a:close/>
                </a:path>
                <a:path w="1745614" h="2385695">
                  <a:moveTo>
                    <a:pt x="1647317" y="552704"/>
                  </a:moveTo>
                  <a:lnTo>
                    <a:pt x="1639023" y="549021"/>
                  </a:lnTo>
                  <a:lnTo>
                    <a:pt x="1559306" y="513588"/>
                  </a:lnTo>
                  <a:lnTo>
                    <a:pt x="1556893" y="512445"/>
                  </a:lnTo>
                  <a:lnTo>
                    <a:pt x="1554099" y="513588"/>
                  </a:lnTo>
                  <a:lnTo>
                    <a:pt x="1552956" y="516001"/>
                  </a:lnTo>
                  <a:lnTo>
                    <a:pt x="1551940" y="518287"/>
                  </a:lnTo>
                  <a:lnTo>
                    <a:pt x="1552956" y="521208"/>
                  </a:lnTo>
                  <a:lnTo>
                    <a:pt x="1555369" y="522224"/>
                  </a:lnTo>
                  <a:lnTo>
                    <a:pt x="1619808" y="550951"/>
                  </a:lnTo>
                  <a:lnTo>
                    <a:pt x="0" y="728091"/>
                  </a:lnTo>
                  <a:lnTo>
                    <a:pt x="1016" y="737489"/>
                  </a:lnTo>
                  <a:lnTo>
                    <a:pt x="1620824" y="560476"/>
                  </a:lnTo>
                  <a:lnTo>
                    <a:pt x="1564132" y="602361"/>
                  </a:lnTo>
                  <a:lnTo>
                    <a:pt x="1562100" y="604012"/>
                  </a:lnTo>
                  <a:lnTo>
                    <a:pt x="1561592" y="606933"/>
                  </a:lnTo>
                  <a:lnTo>
                    <a:pt x="1563116" y="609092"/>
                  </a:lnTo>
                  <a:lnTo>
                    <a:pt x="1564767" y="611251"/>
                  </a:lnTo>
                  <a:lnTo>
                    <a:pt x="1567688" y="611632"/>
                  </a:lnTo>
                  <a:lnTo>
                    <a:pt x="1569847" y="610108"/>
                  </a:lnTo>
                  <a:lnTo>
                    <a:pt x="1647317" y="552704"/>
                  </a:lnTo>
                  <a:close/>
                </a:path>
                <a:path w="1745614" h="2385695">
                  <a:moveTo>
                    <a:pt x="1647317" y="40259"/>
                  </a:moveTo>
                  <a:lnTo>
                    <a:pt x="1639023" y="36576"/>
                  </a:lnTo>
                  <a:lnTo>
                    <a:pt x="1559306" y="1143"/>
                  </a:lnTo>
                  <a:lnTo>
                    <a:pt x="1556893" y="0"/>
                  </a:lnTo>
                  <a:lnTo>
                    <a:pt x="1554099" y="1143"/>
                  </a:lnTo>
                  <a:lnTo>
                    <a:pt x="1552956" y="3556"/>
                  </a:lnTo>
                  <a:lnTo>
                    <a:pt x="1551940" y="5842"/>
                  </a:lnTo>
                  <a:lnTo>
                    <a:pt x="1552956" y="8763"/>
                  </a:lnTo>
                  <a:lnTo>
                    <a:pt x="1555369" y="9779"/>
                  </a:lnTo>
                  <a:lnTo>
                    <a:pt x="1619808" y="38506"/>
                  </a:lnTo>
                  <a:lnTo>
                    <a:pt x="0" y="215646"/>
                  </a:lnTo>
                  <a:lnTo>
                    <a:pt x="1016" y="225044"/>
                  </a:lnTo>
                  <a:lnTo>
                    <a:pt x="1620862" y="48031"/>
                  </a:lnTo>
                  <a:lnTo>
                    <a:pt x="1562100" y="91579"/>
                  </a:lnTo>
                  <a:lnTo>
                    <a:pt x="1561592" y="94488"/>
                  </a:lnTo>
                  <a:lnTo>
                    <a:pt x="1563116" y="96647"/>
                  </a:lnTo>
                  <a:lnTo>
                    <a:pt x="1564767" y="98806"/>
                  </a:lnTo>
                  <a:lnTo>
                    <a:pt x="1567688" y="99187"/>
                  </a:lnTo>
                  <a:lnTo>
                    <a:pt x="1569847" y="97663"/>
                  </a:lnTo>
                  <a:lnTo>
                    <a:pt x="1647317" y="40259"/>
                  </a:lnTo>
                  <a:close/>
                </a:path>
                <a:path w="1745614" h="2385695">
                  <a:moveTo>
                    <a:pt x="1745488" y="2344572"/>
                  </a:moveTo>
                  <a:lnTo>
                    <a:pt x="1667637" y="2287727"/>
                  </a:lnTo>
                  <a:lnTo>
                    <a:pt x="1665478" y="2286177"/>
                  </a:lnTo>
                  <a:lnTo>
                    <a:pt x="1662557" y="2286635"/>
                  </a:lnTo>
                  <a:lnTo>
                    <a:pt x="1659509" y="2290889"/>
                  </a:lnTo>
                  <a:lnTo>
                    <a:pt x="1659890" y="2293861"/>
                  </a:lnTo>
                  <a:lnTo>
                    <a:pt x="1719046" y="2337066"/>
                  </a:lnTo>
                  <a:lnTo>
                    <a:pt x="1016" y="2159812"/>
                  </a:lnTo>
                  <a:lnTo>
                    <a:pt x="0" y="2169287"/>
                  </a:lnTo>
                  <a:lnTo>
                    <a:pt x="1718106" y="2346553"/>
                  </a:lnTo>
                  <a:lnTo>
                    <a:pt x="1651381" y="2376754"/>
                  </a:lnTo>
                  <a:lnTo>
                    <a:pt x="1650365" y="2379573"/>
                  </a:lnTo>
                  <a:lnTo>
                    <a:pt x="1651381" y="2381974"/>
                  </a:lnTo>
                  <a:lnTo>
                    <a:pt x="1652524" y="2384361"/>
                  </a:lnTo>
                  <a:lnTo>
                    <a:pt x="1655318" y="2385428"/>
                  </a:lnTo>
                  <a:lnTo>
                    <a:pt x="1737156" y="2348344"/>
                  </a:lnTo>
                  <a:lnTo>
                    <a:pt x="1745488" y="2344572"/>
                  </a:lnTo>
                  <a:close/>
                </a:path>
                <a:path w="1745614" h="2385695">
                  <a:moveTo>
                    <a:pt x="1745488" y="1783207"/>
                  </a:moveTo>
                  <a:lnTo>
                    <a:pt x="1737423" y="1778508"/>
                  </a:lnTo>
                  <a:lnTo>
                    <a:pt x="1662303" y="1734693"/>
                  </a:lnTo>
                  <a:lnTo>
                    <a:pt x="1660017" y="1733423"/>
                  </a:lnTo>
                  <a:lnTo>
                    <a:pt x="1657096" y="1734185"/>
                  </a:lnTo>
                  <a:lnTo>
                    <a:pt x="1655699" y="1736471"/>
                  </a:lnTo>
                  <a:lnTo>
                    <a:pt x="1654429" y="1738630"/>
                  </a:lnTo>
                  <a:lnTo>
                    <a:pt x="1655191" y="1741551"/>
                  </a:lnTo>
                  <a:lnTo>
                    <a:pt x="1657477" y="1742948"/>
                  </a:lnTo>
                  <a:lnTo>
                    <a:pt x="1718424" y="1778508"/>
                  </a:lnTo>
                  <a:lnTo>
                    <a:pt x="508" y="1778508"/>
                  </a:lnTo>
                  <a:lnTo>
                    <a:pt x="508" y="1788033"/>
                  </a:lnTo>
                  <a:lnTo>
                    <a:pt x="1718424" y="1788033"/>
                  </a:lnTo>
                  <a:lnTo>
                    <a:pt x="1657477" y="1823593"/>
                  </a:lnTo>
                  <a:lnTo>
                    <a:pt x="1655191" y="1824990"/>
                  </a:lnTo>
                  <a:lnTo>
                    <a:pt x="1654429" y="1827784"/>
                  </a:lnTo>
                  <a:lnTo>
                    <a:pt x="1655699" y="1830070"/>
                  </a:lnTo>
                  <a:lnTo>
                    <a:pt x="1657096" y="1832356"/>
                  </a:lnTo>
                  <a:lnTo>
                    <a:pt x="1660017" y="1833118"/>
                  </a:lnTo>
                  <a:lnTo>
                    <a:pt x="1662303" y="1831848"/>
                  </a:lnTo>
                  <a:lnTo>
                    <a:pt x="1737233" y="1788033"/>
                  </a:lnTo>
                  <a:lnTo>
                    <a:pt x="1745488" y="1783207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44310" y="6190589"/>
            <a:ext cx="1821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B</a:t>
            </a:r>
            <a:r>
              <a:rPr sz="1800" spc="-80" dirty="0">
                <a:latin typeface="Trebuchet MS"/>
                <a:cs typeface="Trebuchet MS"/>
              </a:rPr>
              <a:t>uc</a:t>
            </a:r>
            <a:r>
              <a:rPr sz="1800" spc="-125" dirty="0">
                <a:latin typeface="Trebuchet MS"/>
                <a:cs typeface="Trebuchet MS"/>
              </a:rPr>
              <a:t>k</a:t>
            </a:r>
            <a:r>
              <a:rPr sz="1800" spc="-90" dirty="0">
                <a:latin typeface="Trebuchet MS"/>
                <a:cs typeface="Trebuchet MS"/>
              </a:rPr>
              <a:t>ets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i</a:t>
            </a:r>
            <a:r>
              <a:rPr sz="1800" spc="-135" dirty="0">
                <a:latin typeface="Trebuchet MS"/>
                <a:cs typeface="Trebuchet MS"/>
              </a:rPr>
              <a:t>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the  </a:t>
            </a:r>
            <a:r>
              <a:rPr sz="1800" spc="-85" dirty="0">
                <a:latin typeface="Trebuchet MS"/>
                <a:cs typeface="Trebuchet MS"/>
              </a:rPr>
              <a:t>sec</a:t>
            </a:r>
            <a:r>
              <a:rPr sz="1800" spc="-65" dirty="0">
                <a:latin typeface="Trebuchet MS"/>
                <a:cs typeface="Trebuchet MS"/>
              </a:rPr>
              <a:t>onda</a:t>
            </a:r>
            <a:r>
              <a:rPr sz="1800" spc="-15" dirty="0">
                <a:latin typeface="Trebuchet MS"/>
                <a:cs typeface="Trebuchet MS"/>
              </a:rPr>
              <a:t>r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me</a:t>
            </a:r>
            <a:r>
              <a:rPr sz="1800" spc="-50" dirty="0">
                <a:latin typeface="Trebuchet MS"/>
                <a:cs typeface="Trebuchet MS"/>
              </a:rPr>
              <a:t>m</a:t>
            </a:r>
            <a:r>
              <a:rPr sz="1800" spc="-30" dirty="0">
                <a:latin typeface="Trebuchet MS"/>
                <a:cs typeface="Trebuchet MS"/>
              </a:rPr>
              <a:t>o</a:t>
            </a:r>
            <a:r>
              <a:rPr sz="1800" spc="50" dirty="0">
                <a:latin typeface="Trebuchet MS"/>
                <a:cs typeface="Trebuchet MS"/>
              </a:rPr>
              <a:t>r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927" y="0"/>
              <a:ext cx="2346960" cy="105308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66571" y="76580"/>
            <a:ext cx="17100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5" dirty="0"/>
              <a:t>E</a:t>
            </a:r>
            <a:r>
              <a:rPr sz="3900" spc="-65" dirty="0"/>
              <a:t>x</a:t>
            </a:r>
            <a:r>
              <a:rPr sz="3900" spc="-300" dirty="0"/>
              <a:t>am</a:t>
            </a:r>
            <a:r>
              <a:rPr sz="3900" spc="-235" dirty="0"/>
              <a:t>p</a:t>
            </a:r>
            <a:r>
              <a:rPr sz="3900" spc="-285" dirty="0"/>
              <a:t>le</a:t>
            </a:r>
            <a:endParaRPr sz="3900"/>
          </a:p>
        </p:txBody>
      </p:sp>
      <p:grpSp>
        <p:nvGrpSpPr>
          <p:cNvPr id="16" name="object 16"/>
          <p:cNvGrpSpPr/>
          <p:nvPr/>
        </p:nvGrpSpPr>
        <p:grpSpPr>
          <a:xfrm>
            <a:off x="3275838" y="2961385"/>
            <a:ext cx="3537585" cy="3463290"/>
            <a:chOff x="3275838" y="2961385"/>
            <a:chExt cx="3537585" cy="346329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75838" y="3178213"/>
              <a:ext cx="3537204" cy="32461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12180" y="2961385"/>
              <a:ext cx="578485" cy="325755"/>
            </a:xfrm>
            <a:custGeom>
              <a:avLst/>
              <a:gdLst/>
              <a:ahLst/>
              <a:cxnLst/>
              <a:rect l="l" t="t" r="r" b="b"/>
              <a:pathLst>
                <a:path w="578484" h="325754">
                  <a:moveTo>
                    <a:pt x="53467" y="237743"/>
                  </a:moveTo>
                  <a:lnTo>
                    <a:pt x="50546" y="238505"/>
                  </a:lnTo>
                  <a:lnTo>
                    <a:pt x="49275" y="240791"/>
                  </a:lnTo>
                  <a:lnTo>
                    <a:pt x="0" y="323596"/>
                  </a:lnTo>
                  <a:lnTo>
                    <a:pt x="96266" y="325754"/>
                  </a:lnTo>
                  <a:lnTo>
                    <a:pt x="98933" y="325754"/>
                  </a:lnTo>
                  <a:lnTo>
                    <a:pt x="101092" y="323723"/>
                  </a:lnTo>
                  <a:lnTo>
                    <a:pt x="101116" y="323214"/>
                  </a:lnTo>
                  <a:lnTo>
                    <a:pt x="10541" y="323214"/>
                  </a:lnTo>
                  <a:lnTo>
                    <a:pt x="5969" y="314833"/>
                  </a:lnTo>
                  <a:lnTo>
                    <a:pt x="21301" y="306331"/>
                  </a:lnTo>
                  <a:lnTo>
                    <a:pt x="57404" y="245617"/>
                  </a:lnTo>
                  <a:lnTo>
                    <a:pt x="58800" y="243331"/>
                  </a:lnTo>
                  <a:lnTo>
                    <a:pt x="58039" y="240411"/>
                  </a:lnTo>
                  <a:lnTo>
                    <a:pt x="55753" y="239140"/>
                  </a:lnTo>
                  <a:lnTo>
                    <a:pt x="53467" y="237743"/>
                  </a:lnTo>
                  <a:close/>
                </a:path>
                <a:path w="578484" h="325754">
                  <a:moveTo>
                    <a:pt x="21301" y="306331"/>
                  </a:moveTo>
                  <a:lnTo>
                    <a:pt x="5969" y="314833"/>
                  </a:lnTo>
                  <a:lnTo>
                    <a:pt x="10541" y="323214"/>
                  </a:lnTo>
                  <a:lnTo>
                    <a:pt x="13747" y="321437"/>
                  </a:lnTo>
                  <a:lnTo>
                    <a:pt x="12319" y="321437"/>
                  </a:lnTo>
                  <a:lnTo>
                    <a:pt x="8382" y="314325"/>
                  </a:lnTo>
                  <a:lnTo>
                    <a:pt x="16548" y="314325"/>
                  </a:lnTo>
                  <a:lnTo>
                    <a:pt x="21301" y="306331"/>
                  </a:lnTo>
                  <a:close/>
                </a:path>
                <a:path w="578484" h="325754">
                  <a:moveTo>
                    <a:pt x="25891" y="314703"/>
                  </a:moveTo>
                  <a:lnTo>
                    <a:pt x="10541" y="323214"/>
                  </a:lnTo>
                  <a:lnTo>
                    <a:pt x="101116" y="323214"/>
                  </a:lnTo>
                  <a:lnTo>
                    <a:pt x="101219" y="318388"/>
                  </a:lnTo>
                  <a:lnTo>
                    <a:pt x="99187" y="316229"/>
                  </a:lnTo>
                  <a:lnTo>
                    <a:pt x="96520" y="316229"/>
                  </a:lnTo>
                  <a:lnTo>
                    <a:pt x="25891" y="314703"/>
                  </a:lnTo>
                  <a:close/>
                </a:path>
                <a:path w="578484" h="325754">
                  <a:moveTo>
                    <a:pt x="8382" y="314325"/>
                  </a:moveTo>
                  <a:lnTo>
                    <a:pt x="12319" y="321437"/>
                  </a:lnTo>
                  <a:lnTo>
                    <a:pt x="16444" y="314499"/>
                  </a:lnTo>
                  <a:lnTo>
                    <a:pt x="8382" y="314325"/>
                  </a:lnTo>
                  <a:close/>
                </a:path>
                <a:path w="578484" h="325754">
                  <a:moveTo>
                    <a:pt x="16444" y="314499"/>
                  </a:moveTo>
                  <a:lnTo>
                    <a:pt x="12319" y="321437"/>
                  </a:lnTo>
                  <a:lnTo>
                    <a:pt x="13747" y="321437"/>
                  </a:lnTo>
                  <a:lnTo>
                    <a:pt x="25891" y="314703"/>
                  </a:lnTo>
                  <a:lnTo>
                    <a:pt x="16444" y="314499"/>
                  </a:lnTo>
                  <a:close/>
                </a:path>
                <a:path w="578484" h="325754">
                  <a:moveTo>
                    <a:pt x="573786" y="0"/>
                  </a:moveTo>
                  <a:lnTo>
                    <a:pt x="21301" y="306331"/>
                  </a:lnTo>
                  <a:lnTo>
                    <a:pt x="16444" y="314499"/>
                  </a:lnTo>
                  <a:lnTo>
                    <a:pt x="25891" y="314703"/>
                  </a:lnTo>
                  <a:lnTo>
                    <a:pt x="578358" y="8381"/>
                  </a:lnTo>
                  <a:lnTo>
                    <a:pt x="573786" y="0"/>
                  </a:lnTo>
                  <a:close/>
                </a:path>
                <a:path w="578484" h="325754">
                  <a:moveTo>
                    <a:pt x="16548" y="314325"/>
                  </a:moveTo>
                  <a:lnTo>
                    <a:pt x="8382" y="314325"/>
                  </a:lnTo>
                  <a:lnTo>
                    <a:pt x="16444" y="314499"/>
                  </a:lnTo>
                  <a:lnTo>
                    <a:pt x="16548" y="314325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83944" y="5614517"/>
            <a:ext cx="1661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Trebuchet MS"/>
                <a:cs typeface="Trebuchet MS"/>
              </a:rPr>
              <a:t>Each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lea</a:t>
            </a:r>
            <a:r>
              <a:rPr sz="1800" spc="-140" dirty="0">
                <a:latin typeface="Trebuchet MS"/>
                <a:cs typeface="Trebuchet MS"/>
              </a:rPr>
              <a:t>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has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up</a:t>
            </a:r>
            <a:r>
              <a:rPr sz="1800" spc="-35" dirty="0">
                <a:latin typeface="Trebuchet MS"/>
                <a:cs typeface="Trebuchet MS"/>
              </a:rPr>
              <a:t> 4  </a:t>
            </a:r>
            <a:r>
              <a:rPr sz="1800" spc="-45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elements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36802" y="925509"/>
            <a:ext cx="7729855" cy="3937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80390" indent="-284480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580390" algn="l"/>
                <a:tab pos="581025" algn="l"/>
              </a:tabLst>
            </a:pPr>
            <a:r>
              <a:rPr sz="2400" spc="-125" dirty="0">
                <a:latin typeface="Trebuchet MS"/>
                <a:cs typeface="Trebuchet MS"/>
              </a:rPr>
              <a:t>Inpu</a:t>
            </a:r>
            <a:r>
              <a:rPr sz="2400" spc="-100" dirty="0">
                <a:latin typeface="Trebuchet MS"/>
                <a:cs typeface="Trebuchet MS"/>
              </a:rPr>
              <a:t>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o</a:t>
            </a:r>
            <a:r>
              <a:rPr sz="2400" spc="-50" dirty="0">
                <a:latin typeface="Trebuchet MS"/>
                <a:cs typeface="Trebuchet MS"/>
              </a:rPr>
              <a:t>u</a:t>
            </a:r>
            <a:r>
              <a:rPr sz="2400" spc="15" dirty="0">
                <a:latin typeface="Trebuchet MS"/>
                <a:cs typeface="Trebuchet MS"/>
              </a:rPr>
              <a:t>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data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consists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o</a:t>
            </a:r>
            <a:r>
              <a:rPr sz="2400" spc="-105" dirty="0">
                <a:latin typeface="Trebuchet MS"/>
                <a:cs typeface="Trebuchet MS"/>
              </a:rPr>
              <a:t>f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s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170" dirty="0">
                <a:latin typeface="Trebuchet MS"/>
                <a:cs typeface="Trebuchet MS"/>
              </a:rPr>
              <a:t>v</a:t>
            </a:r>
            <a:r>
              <a:rPr sz="2400" spc="-125" dirty="0">
                <a:latin typeface="Trebuchet MS"/>
                <a:cs typeface="Trebuchet MS"/>
              </a:rPr>
              <a:t>er</a:t>
            </a:r>
            <a:r>
              <a:rPr sz="2400" spc="-150" dirty="0">
                <a:latin typeface="Trebuchet MS"/>
                <a:cs typeface="Trebuchet MS"/>
              </a:rPr>
              <a:t>a</a:t>
            </a:r>
            <a:r>
              <a:rPr sz="2400" spc="-185" dirty="0">
                <a:latin typeface="Trebuchet MS"/>
                <a:cs typeface="Trebuchet MS"/>
              </a:rPr>
              <a:t>l</a:t>
            </a:r>
            <a:r>
              <a:rPr sz="2400" spc="-65" dirty="0">
                <a:latin typeface="Trebuchet MS"/>
                <a:cs typeface="Trebuchet MS"/>
              </a:rPr>
              <a:t> 6</a:t>
            </a:r>
            <a:r>
              <a:rPr sz="2400" spc="-105" dirty="0">
                <a:latin typeface="Trebuchet MS"/>
                <a:cs typeface="Trebuchet MS"/>
              </a:rPr>
              <a:t>-</a:t>
            </a:r>
            <a:r>
              <a:rPr sz="2400" spc="-150" dirty="0">
                <a:latin typeface="Trebuchet MS"/>
                <a:cs typeface="Trebuchet MS"/>
              </a:rPr>
              <a:t>bit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integer</a:t>
            </a:r>
            <a:r>
              <a:rPr sz="2400" spc="-110" dirty="0">
                <a:latin typeface="Trebuchet MS"/>
                <a:cs typeface="Trebuchet MS"/>
              </a:rPr>
              <a:t>s</a:t>
            </a:r>
            <a:r>
              <a:rPr sz="2400" spc="-35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580390" indent="-28448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580390" algn="l"/>
                <a:tab pos="581025" algn="l"/>
              </a:tabLst>
            </a:pPr>
            <a:r>
              <a:rPr sz="2400" spc="-315" dirty="0">
                <a:latin typeface="Trebuchet MS"/>
                <a:cs typeface="Trebuchet MS"/>
              </a:rPr>
              <a:t>T</a:t>
            </a:r>
            <a:r>
              <a:rPr sz="2400" spc="40" dirty="0">
                <a:latin typeface="Trebuchet MS"/>
                <a:cs typeface="Trebuchet MS"/>
              </a:rPr>
              <a:t>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sto</a:t>
            </a:r>
            <a:r>
              <a:rPr sz="2400" spc="-8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105" dirty="0">
                <a:latin typeface="Trebuchet MS"/>
                <a:cs typeface="Trebuchet MS"/>
              </a:rPr>
              <a:t>se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values</a:t>
            </a:r>
            <a:r>
              <a:rPr sz="2400" spc="-105" dirty="0">
                <a:latin typeface="Trebuchet MS"/>
                <a:cs typeface="Trebuchet MS"/>
              </a:rPr>
              <a:t>?</a:t>
            </a:r>
            <a:r>
              <a:rPr sz="2400" spc="-85" dirty="0"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  <a:p>
            <a:pPr marL="580390" marR="177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580390" algn="l"/>
                <a:tab pos="581025" algn="l"/>
              </a:tabLst>
            </a:pP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root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“tree”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contains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four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pointers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determined </a:t>
            </a:r>
            <a:r>
              <a:rPr sz="2400" spc="-70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b</a:t>
            </a:r>
            <a:r>
              <a:rPr sz="2400" spc="-130" dirty="0">
                <a:latin typeface="Trebuchet MS"/>
                <a:cs typeface="Trebuchet MS"/>
              </a:rPr>
              <a:t>y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leadin</a:t>
            </a:r>
            <a:r>
              <a:rPr sz="2400" spc="-175" dirty="0">
                <a:latin typeface="Trebuchet MS"/>
                <a:cs typeface="Trebuchet MS"/>
              </a:rPr>
              <a:t>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</a:t>
            </a:r>
            <a:r>
              <a:rPr sz="2400" spc="-185" dirty="0">
                <a:latin typeface="Trebuchet MS"/>
                <a:cs typeface="Trebuchet MS"/>
              </a:rPr>
              <a:t>w</a:t>
            </a:r>
            <a:r>
              <a:rPr sz="2400" spc="35" dirty="0">
                <a:latin typeface="Trebuchet MS"/>
                <a:cs typeface="Trebuchet MS"/>
              </a:rPr>
              <a:t>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bits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o</a:t>
            </a:r>
            <a:r>
              <a:rPr sz="2400" spc="-105" dirty="0">
                <a:latin typeface="Trebuchet MS"/>
                <a:cs typeface="Trebuchet MS"/>
              </a:rPr>
              <a:t>f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dat</a:t>
            </a:r>
            <a:r>
              <a:rPr sz="2400" spc="-204" dirty="0">
                <a:latin typeface="Trebuchet MS"/>
                <a:cs typeface="Trebuchet MS"/>
              </a:rPr>
              <a:t>a</a:t>
            </a:r>
            <a:r>
              <a:rPr sz="2400" spc="-35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R="1554480" algn="r">
              <a:lnSpc>
                <a:spcPct val="100000"/>
              </a:lnSpc>
              <a:spcBef>
                <a:spcPts val="1480"/>
              </a:spcBef>
            </a:pPr>
            <a:r>
              <a:rPr sz="1800" spc="90" dirty="0">
                <a:latin typeface="Trebuchet MS"/>
                <a:cs typeface="Trebuchet MS"/>
              </a:rPr>
              <a:t>ROOT</a:t>
            </a:r>
            <a:endParaRPr sz="1800">
              <a:latin typeface="Trebuchet MS"/>
              <a:cs typeface="Trebuchet MS"/>
            </a:endParaRPr>
          </a:p>
          <a:p>
            <a:pPr marL="25400" marR="6181725">
              <a:lnSpc>
                <a:spcPct val="100000"/>
              </a:lnSpc>
              <a:spcBef>
                <a:spcPts val="1415"/>
              </a:spcBef>
            </a:pPr>
            <a:r>
              <a:rPr sz="1800" spc="85" dirty="0">
                <a:latin typeface="Trebuchet MS"/>
                <a:cs typeface="Trebuchet MS"/>
              </a:rPr>
              <a:t>D- </a:t>
            </a:r>
            <a:r>
              <a:rPr sz="1800" spc="-25" dirty="0">
                <a:latin typeface="Trebuchet MS"/>
                <a:cs typeface="Trebuchet MS"/>
              </a:rPr>
              <a:t>Number </a:t>
            </a:r>
            <a:r>
              <a:rPr sz="1800" spc="-95" dirty="0">
                <a:latin typeface="Trebuchet MS"/>
                <a:cs typeface="Trebuchet MS"/>
              </a:rPr>
              <a:t>of 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bits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used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00" dirty="0">
                <a:latin typeface="Trebuchet MS"/>
                <a:cs typeface="Trebuchet MS"/>
              </a:rPr>
              <a:t>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the  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oot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n</a:t>
            </a:r>
            <a:r>
              <a:rPr sz="1800" spc="-105" dirty="0">
                <a:latin typeface="Trebuchet MS"/>
                <a:cs typeface="Trebuchet MS"/>
              </a:rPr>
              <a:t>umbe</a:t>
            </a:r>
            <a:r>
              <a:rPr sz="1800" spc="10" dirty="0">
                <a:latin typeface="Trebuchet MS"/>
                <a:cs typeface="Trebuchet MS"/>
              </a:rPr>
              <a:t>r 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entries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i</a:t>
            </a:r>
            <a:r>
              <a:rPr sz="1800" spc="-135" dirty="0">
                <a:latin typeface="Trebuchet MS"/>
                <a:cs typeface="Trebuchet MS"/>
              </a:rPr>
              <a:t>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25400" marR="6423025">
              <a:lnSpc>
                <a:spcPct val="75000"/>
              </a:lnSpc>
              <a:spcBef>
                <a:spcPts val="545"/>
              </a:spcBef>
            </a:pPr>
            <a:r>
              <a:rPr sz="1800" spc="-180" dirty="0">
                <a:latin typeface="Trebuchet MS"/>
                <a:cs typeface="Trebuchet MS"/>
              </a:rPr>
              <a:t>lea</a:t>
            </a:r>
            <a:r>
              <a:rPr sz="1800" spc="-140" dirty="0">
                <a:latin typeface="Trebuchet MS"/>
                <a:cs typeface="Trebuchet MS"/>
              </a:rPr>
              <a:t>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shou</a:t>
            </a:r>
            <a:r>
              <a:rPr sz="1800" spc="-35" dirty="0">
                <a:latin typeface="Trebuchet MS"/>
                <a:cs typeface="Trebuchet MS"/>
              </a:rPr>
              <a:t>l</a:t>
            </a:r>
            <a:r>
              <a:rPr sz="1800" spc="-90" dirty="0">
                <a:latin typeface="Trebuchet MS"/>
                <a:cs typeface="Trebuchet MS"/>
              </a:rPr>
              <a:t>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be  </a:t>
            </a:r>
            <a:r>
              <a:rPr sz="2700" spc="82" baseline="-16975" dirty="0">
                <a:latin typeface="Trebuchet MS"/>
                <a:cs typeface="Trebuchet MS"/>
              </a:rPr>
              <a:t>2</a:t>
            </a:r>
            <a:r>
              <a:rPr sz="1200" spc="55" dirty="0">
                <a:latin typeface="Trebuchet MS"/>
                <a:cs typeface="Trebuchet MS"/>
              </a:rPr>
              <a:t>D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927" y="0"/>
              <a:ext cx="2346960" cy="105308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66571" y="76580"/>
            <a:ext cx="17100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5" dirty="0"/>
              <a:t>E</a:t>
            </a:r>
            <a:r>
              <a:rPr sz="3900" spc="-65" dirty="0"/>
              <a:t>x</a:t>
            </a:r>
            <a:r>
              <a:rPr sz="3900" spc="-300" dirty="0"/>
              <a:t>am</a:t>
            </a:r>
            <a:r>
              <a:rPr sz="3900" spc="-235" dirty="0"/>
              <a:t>p</a:t>
            </a:r>
            <a:r>
              <a:rPr sz="3900" spc="-285" dirty="0"/>
              <a:t>le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493011" y="929766"/>
            <a:ext cx="743330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6545" algn="l"/>
              </a:tabLst>
            </a:pPr>
            <a:r>
              <a:rPr sz="2400" spc="-80" dirty="0">
                <a:latin typeface="Trebuchet MS"/>
                <a:cs typeface="Trebuchet MS"/>
              </a:rPr>
              <a:t>Insert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key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100100, </a:t>
            </a:r>
            <a:r>
              <a:rPr sz="2400" spc="-160" dirty="0">
                <a:latin typeface="Trebuchet MS"/>
                <a:cs typeface="Trebuchet MS"/>
              </a:rPr>
              <a:t>it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points </a:t>
            </a:r>
            <a:r>
              <a:rPr sz="2400" spc="-60" dirty="0">
                <a:latin typeface="Trebuchet MS"/>
                <a:cs typeface="Trebuchet MS"/>
              </a:rPr>
              <a:t>to </a:t>
            </a:r>
            <a:r>
              <a:rPr sz="2400" spc="-114" dirty="0">
                <a:latin typeface="Trebuchet MS"/>
                <a:cs typeface="Trebuchet MS"/>
              </a:rPr>
              <a:t>third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250" dirty="0">
                <a:latin typeface="Trebuchet MS"/>
                <a:cs typeface="Trebuchet MS"/>
              </a:rPr>
              <a:t>leaf,</a:t>
            </a:r>
            <a:r>
              <a:rPr sz="2400" spc="-24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but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is 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already </a:t>
            </a:r>
            <a:r>
              <a:rPr sz="2400" spc="-225" dirty="0">
                <a:latin typeface="Trebuchet MS"/>
                <a:cs typeface="Trebuchet MS"/>
              </a:rPr>
              <a:t>full, </a:t>
            </a:r>
            <a:r>
              <a:rPr sz="2400" spc="-10" dirty="0">
                <a:latin typeface="Trebuchet MS"/>
                <a:cs typeface="Trebuchet MS"/>
              </a:rPr>
              <a:t>so </a:t>
            </a:r>
            <a:r>
              <a:rPr sz="2400" spc="-135" dirty="0">
                <a:latin typeface="Trebuchet MS"/>
                <a:cs typeface="Trebuchet MS"/>
              </a:rPr>
              <a:t>split </a:t>
            </a:r>
            <a:r>
              <a:rPr sz="2400" spc="-120" dirty="0">
                <a:latin typeface="Trebuchet MS"/>
                <a:cs typeface="Trebuchet MS"/>
              </a:rPr>
              <a:t>this </a:t>
            </a:r>
            <a:r>
              <a:rPr sz="2400" spc="-220" dirty="0">
                <a:latin typeface="Trebuchet MS"/>
                <a:cs typeface="Trebuchet MS"/>
              </a:rPr>
              <a:t>leaf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into </a:t>
            </a:r>
            <a:r>
              <a:rPr sz="2400" spc="-80" dirty="0">
                <a:latin typeface="Trebuchet MS"/>
                <a:cs typeface="Trebuchet MS"/>
              </a:rPr>
              <a:t>two </a:t>
            </a:r>
            <a:r>
              <a:rPr sz="2400" spc="-204" dirty="0">
                <a:latin typeface="Trebuchet MS"/>
                <a:cs typeface="Trebuchet MS"/>
              </a:rPr>
              <a:t>leaves, </a:t>
            </a:r>
            <a:r>
              <a:rPr sz="2400" spc="-120" dirty="0">
                <a:latin typeface="Trebuchet MS"/>
                <a:cs typeface="Trebuchet MS"/>
              </a:rPr>
              <a:t>which </a:t>
            </a:r>
            <a:r>
              <a:rPr sz="2400" spc="-150" dirty="0">
                <a:latin typeface="Trebuchet MS"/>
                <a:cs typeface="Trebuchet MS"/>
              </a:rPr>
              <a:t>are 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de</a:t>
            </a:r>
            <a:r>
              <a:rPr sz="2400" spc="-110" dirty="0">
                <a:latin typeface="Trebuchet MS"/>
                <a:cs typeface="Trebuchet MS"/>
              </a:rPr>
              <a:t>t</a:t>
            </a:r>
            <a:r>
              <a:rPr sz="2400" spc="-120" dirty="0">
                <a:latin typeface="Trebuchet MS"/>
                <a:cs typeface="Trebuchet MS"/>
              </a:rPr>
              <a:t>ermined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b</a:t>
            </a:r>
            <a:r>
              <a:rPr sz="2400" spc="-130" dirty="0">
                <a:latin typeface="Trebuchet MS"/>
                <a:cs typeface="Trebuchet MS"/>
              </a:rPr>
              <a:t>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first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</a:t>
            </a:r>
            <a:r>
              <a:rPr sz="2400" spc="-12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bit</a:t>
            </a:r>
            <a:r>
              <a:rPr sz="2400" spc="-50" dirty="0">
                <a:latin typeface="Trebuchet MS"/>
                <a:cs typeface="Trebuchet MS"/>
              </a:rPr>
              <a:t>s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1594" y="2492895"/>
            <a:ext cx="7587615" cy="3390265"/>
            <a:chOff x="1331594" y="2492895"/>
            <a:chExt cx="7587615" cy="339026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2044" y="2492895"/>
              <a:ext cx="3987164" cy="3200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1594" y="2636875"/>
              <a:ext cx="3537204" cy="32461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68798" y="4459223"/>
              <a:ext cx="495300" cy="100330"/>
            </a:xfrm>
            <a:custGeom>
              <a:avLst/>
              <a:gdLst/>
              <a:ahLst/>
              <a:cxnLst/>
              <a:rect l="l" t="t" r="r" b="b"/>
              <a:pathLst>
                <a:path w="495300" h="100329">
                  <a:moveTo>
                    <a:pt x="476413" y="49847"/>
                  </a:moveTo>
                  <a:lnTo>
                    <a:pt x="407288" y="90169"/>
                  </a:lnTo>
                  <a:lnTo>
                    <a:pt x="405002" y="91567"/>
                  </a:lnTo>
                  <a:lnTo>
                    <a:pt x="404240" y="94487"/>
                  </a:lnTo>
                  <a:lnTo>
                    <a:pt x="405511" y="96774"/>
                  </a:lnTo>
                  <a:lnTo>
                    <a:pt x="406908" y="99059"/>
                  </a:lnTo>
                  <a:lnTo>
                    <a:pt x="409828" y="99821"/>
                  </a:lnTo>
                  <a:lnTo>
                    <a:pt x="412114" y="98425"/>
                  </a:lnTo>
                  <a:lnTo>
                    <a:pt x="487242" y="54609"/>
                  </a:lnTo>
                  <a:lnTo>
                    <a:pt x="485901" y="54609"/>
                  </a:lnTo>
                  <a:lnTo>
                    <a:pt x="485901" y="53975"/>
                  </a:lnTo>
                  <a:lnTo>
                    <a:pt x="483488" y="53975"/>
                  </a:lnTo>
                  <a:lnTo>
                    <a:pt x="476413" y="49847"/>
                  </a:lnTo>
                  <a:close/>
                </a:path>
                <a:path w="495300" h="100329">
                  <a:moveTo>
                    <a:pt x="468248" y="45084"/>
                  </a:moveTo>
                  <a:lnTo>
                    <a:pt x="0" y="45084"/>
                  </a:lnTo>
                  <a:lnTo>
                    <a:pt x="0" y="54609"/>
                  </a:lnTo>
                  <a:lnTo>
                    <a:pt x="468249" y="54609"/>
                  </a:lnTo>
                  <a:lnTo>
                    <a:pt x="476413" y="49847"/>
                  </a:lnTo>
                  <a:lnTo>
                    <a:pt x="468248" y="45084"/>
                  </a:lnTo>
                  <a:close/>
                </a:path>
                <a:path w="495300" h="100329">
                  <a:moveTo>
                    <a:pt x="487046" y="45084"/>
                  </a:moveTo>
                  <a:lnTo>
                    <a:pt x="485901" y="45084"/>
                  </a:lnTo>
                  <a:lnTo>
                    <a:pt x="485901" y="54609"/>
                  </a:lnTo>
                  <a:lnTo>
                    <a:pt x="487242" y="54609"/>
                  </a:lnTo>
                  <a:lnTo>
                    <a:pt x="495300" y="49911"/>
                  </a:lnTo>
                  <a:lnTo>
                    <a:pt x="487046" y="45084"/>
                  </a:lnTo>
                  <a:close/>
                </a:path>
                <a:path w="495300" h="100329">
                  <a:moveTo>
                    <a:pt x="483488" y="45719"/>
                  </a:moveTo>
                  <a:lnTo>
                    <a:pt x="476413" y="49847"/>
                  </a:lnTo>
                  <a:lnTo>
                    <a:pt x="483488" y="53975"/>
                  </a:lnTo>
                  <a:lnTo>
                    <a:pt x="483488" y="45719"/>
                  </a:lnTo>
                  <a:close/>
                </a:path>
                <a:path w="495300" h="100329">
                  <a:moveTo>
                    <a:pt x="485901" y="45719"/>
                  </a:moveTo>
                  <a:lnTo>
                    <a:pt x="483488" y="45719"/>
                  </a:lnTo>
                  <a:lnTo>
                    <a:pt x="483488" y="53975"/>
                  </a:lnTo>
                  <a:lnTo>
                    <a:pt x="485901" y="53975"/>
                  </a:lnTo>
                  <a:lnTo>
                    <a:pt x="485901" y="45719"/>
                  </a:lnTo>
                  <a:close/>
                </a:path>
                <a:path w="495300" h="100329">
                  <a:moveTo>
                    <a:pt x="409828" y="0"/>
                  </a:moveTo>
                  <a:lnTo>
                    <a:pt x="406908" y="762"/>
                  </a:lnTo>
                  <a:lnTo>
                    <a:pt x="405511" y="3048"/>
                  </a:lnTo>
                  <a:lnTo>
                    <a:pt x="404240" y="5333"/>
                  </a:lnTo>
                  <a:lnTo>
                    <a:pt x="405002" y="8255"/>
                  </a:lnTo>
                  <a:lnTo>
                    <a:pt x="407288" y="9525"/>
                  </a:lnTo>
                  <a:lnTo>
                    <a:pt x="476413" y="49847"/>
                  </a:lnTo>
                  <a:lnTo>
                    <a:pt x="483488" y="45719"/>
                  </a:lnTo>
                  <a:lnTo>
                    <a:pt x="485901" y="45719"/>
                  </a:lnTo>
                  <a:lnTo>
                    <a:pt x="485901" y="45084"/>
                  </a:lnTo>
                  <a:lnTo>
                    <a:pt x="487046" y="45084"/>
                  </a:lnTo>
                  <a:lnTo>
                    <a:pt x="412114" y="1269"/>
                  </a:lnTo>
                  <a:lnTo>
                    <a:pt x="40982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927" y="0"/>
              <a:ext cx="2346960" cy="105308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66571" y="76580"/>
            <a:ext cx="17100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5" dirty="0"/>
              <a:t>E</a:t>
            </a:r>
            <a:r>
              <a:rPr sz="3900" spc="-65" dirty="0"/>
              <a:t>x</a:t>
            </a:r>
            <a:r>
              <a:rPr sz="3900" spc="-300" dirty="0"/>
              <a:t>am</a:t>
            </a:r>
            <a:r>
              <a:rPr sz="3900" spc="-235" dirty="0"/>
              <a:t>p</a:t>
            </a:r>
            <a:r>
              <a:rPr sz="3900" spc="-285" dirty="0"/>
              <a:t>le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493011" y="929766"/>
            <a:ext cx="74352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 algn="just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6545" algn="l"/>
              </a:tabLst>
            </a:pPr>
            <a:r>
              <a:rPr sz="2400" spc="-80" dirty="0">
                <a:latin typeface="Trebuchet MS"/>
                <a:cs typeface="Trebuchet MS"/>
              </a:rPr>
              <a:t>Insert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key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000000, </a:t>
            </a:r>
            <a:r>
              <a:rPr sz="2400" spc="-160" dirty="0">
                <a:latin typeface="Trebuchet MS"/>
                <a:cs typeface="Trebuchet MS"/>
              </a:rPr>
              <a:t>it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points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to </a:t>
            </a:r>
            <a:r>
              <a:rPr sz="2400" spc="-130" dirty="0">
                <a:latin typeface="Trebuchet MS"/>
                <a:cs typeface="Trebuchet MS"/>
              </a:rPr>
              <a:t>first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250" dirty="0">
                <a:latin typeface="Trebuchet MS"/>
                <a:cs typeface="Trebuchet MS"/>
              </a:rPr>
              <a:t>leaf,</a:t>
            </a:r>
            <a:r>
              <a:rPr sz="2400" spc="-24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but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it</a:t>
            </a:r>
            <a:r>
              <a:rPr sz="2400" spc="4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is 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already </a:t>
            </a:r>
            <a:r>
              <a:rPr sz="2400" spc="-225" dirty="0">
                <a:latin typeface="Trebuchet MS"/>
                <a:cs typeface="Trebuchet MS"/>
              </a:rPr>
              <a:t>full, </a:t>
            </a:r>
            <a:r>
              <a:rPr sz="2400" spc="-10" dirty="0">
                <a:latin typeface="Trebuchet MS"/>
                <a:cs typeface="Trebuchet MS"/>
              </a:rPr>
              <a:t>so </a:t>
            </a:r>
            <a:r>
              <a:rPr sz="2400" spc="-135" dirty="0">
                <a:latin typeface="Trebuchet MS"/>
                <a:cs typeface="Trebuchet MS"/>
              </a:rPr>
              <a:t>split </a:t>
            </a:r>
            <a:r>
              <a:rPr sz="2400" spc="-120" dirty="0">
                <a:latin typeface="Trebuchet MS"/>
                <a:cs typeface="Trebuchet MS"/>
              </a:rPr>
              <a:t>this </a:t>
            </a:r>
            <a:r>
              <a:rPr sz="2400" spc="-220" dirty="0">
                <a:latin typeface="Trebuchet MS"/>
                <a:cs typeface="Trebuchet MS"/>
              </a:rPr>
              <a:t>leaf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into </a:t>
            </a:r>
            <a:r>
              <a:rPr sz="2400" spc="-80" dirty="0">
                <a:latin typeface="Trebuchet MS"/>
                <a:cs typeface="Trebuchet MS"/>
              </a:rPr>
              <a:t>two </a:t>
            </a:r>
            <a:r>
              <a:rPr sz="2400" spc="-204" dirty="0">
                <a:latin typeface="Trebuchet MS"/>
                <a:cs typeface="Trebuchet MS"/>
              </a:rPr>
              <a:t>leaves, </a:t>
            </a:r>
            <a:r>
              <a:rPr sz="2400" spc="-120" dirty="0">
                <a:latin typeface="Trebuchet MS"/>
                <a:cs typeface="Trebuchet MS"/>
              </a:rPr>
              <a:t>which </a:t>
            </a:r>
            <a:r>
              <a:rPr sz="2400" spc="-150" dirty="0">
                <a:latin typeface="Trebuchet MS"/>
                <a:cs typeface="Trebuchet MS"/>
              </a:rPr>
              <a:t>are 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de</a:t>
            </a:r>
            <a:r>
              <a:rPr sz="2400" spc="-110" dirty="0">
                <a:latin typeface="Trebuchet MS"/>
                <a:cs typeface="Trebuchet MS"/>
              </a:rPr>
              <a:t>t</a:t>
            </a:r>
            <a:r>
              <a:rPr sz="2400" spc="-120" dirty="0">
                <a:latin typeface="Trebuchet MS"/>
                <a:cs typeface="Trebuchet MS"/>
              </a:rPr>
              <a:t>ermined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b</a:t>
            </a:r>
            <a:r>
              <a:rPr sz="2400" spc="-130" dirty="0">
                <a:latin typeface="Trebuchet MS"/>
                <a:cs typeface="Trebuchet MS"/>
              </a:rPr>
              <a:t>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first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</a:t>
            </a:r>
            <a:r>
              <a:rPr sz="2400" spc="-12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ee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bit</a:t>
            </a:r>
            <a:r>
              <a:rPr sz="2400" spc="-50" dirty="0">
                <a:latin typeface="Trebuchet MS"/>
                <a:cs typeface="Trebuchet MS"/>
              </a:rPr>
              <a:t>s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2418854"/>
            <a:ext cx="8820785" cy="3200400"/>
            <a:chOff x="0" y="2418854"/>
            <a:chExt cx="8820785" cy="320040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76521" y="2564904"/>
              <a:ext cx="4643882" cy="3054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2418854"/>
              <a:ext cx="3987165" cy="32004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707891" y="4315205"/>
              <a:ext cx="469265" cy="100330"/>
            </a:xfrm>
            <a:custGeom>
              <a:avLst/>
              <a:gdLst/>
              <a:ahLst/>
              <a:cxnLst/>
              <a:rect l="l" t="t" r="r" b="b"/>
              <a:pathLst>
                <a:path w="469264" h="100329">
                  <a:moveTo>
                    <a:pt x="449852" y="49911"/>
                  </a:moveTo>
                  <a:lnTo>
                    <a:pt x="380619" y="90297"/>
                  </a:lnTo>
                  <a:lnTo>
                    <a:pt x="378333" y="91567"/>
                  </a:lnTo>
                  <a:lnTo>
                    <a:pt x="377571" y="94488"/>
                  </a:lnTo>
                  <a:lnTo>
                    <a:pt x="378968" y="96774"/>
                  </a:lnTo>
                  <a:lnTo>
                    <a:pt x="380238" y="99060"/>
                  </a:lnTo>
                  <a:lnTo>
                    <a:pt x="383159" y="99822"/>
                  </a:lnTo>
                  <a:lnTo>
                    <a:pt x="385445" y="98425"/>
                  </a:lnTo>
                  <a:lnTo>
                    <a:pt x="460687" y="54610"/>
                  </a:lnTo>
                  <a:lnTo>
                    <a:pt x="459232" y="54610"/>
                  </a:lnTo>
                  <a:lnTo>
                    <a:pt x="459232" y="53975"/>
                  </a:lnTo>
                  <a:lnTo>
                    <a:pt x="456819" y="53975"/>
                  </a:lnTo>
                  <a:lnTo>
                    <a:pt x="449852" y="49911"/>
                  </a:lnTo>
                  <a:close/>
                </a:path>
                <a:path w="469264" h="100329">
                  <a:moveTo>
                    <a:pt x="441579" y="45085"/>
                  </a:moveTo>
                  <a:lnTo>
                    <a:pt x="0" y="45085"/>
                  </a:lnTo>
                  <a:lnTo>
                    <a:pt x="0" y="54610"/>
                  </a:lnTo>
                  <a:lnTo>
                    <a:pt x="441796" y="54610"/>
                  </a:lnTo>
                  <a:lnTo>
                    <a:pt x="449852" y="49911"/>
                  </a:lnTo>
                  <a:lnTo>
                    <a:pt x="441579" y="45085"/>
                  </a:lnTo>
                  <a:close/>
                </a:path>
                <a:path w="469264" h="100329">
                  <a:moveTo>
                    <a:pt x="460469" y="45085"/>
                  </a:moveTo>
                  <a:lnTo>
                    <a:pt x="459232" y="45085"/>
                  </a:lnTo>
                  <a:lnTo>
                    <a:pt x="459232" y="54610"/>
                  </a:lnTo>
                  <a:lnTo>
                    <a:pt x="460687" y="54610"/>
                  </a:lnTo>
                  <a:lnTo>
                    <a:pt x="468757" y="49911"/>
                  </a:lnTo>
                  <a:lnTo>
                    <a:pt x="460469" y="45085"/>
                  </a:lnTo>
                  <a:close/>
                </a:path>
                <a:path w="469264" h="100329">
                  <a:moveTo>
                    <a:pt x="456819" y="45847"/>
                  </a:moveTo>
                  <a:lnTo>
                    <a:pt x="449852" y="49911"/>
                  </a:lnTo>
                  <a:lnTo>
                    <a:pt x="456819" y="53975"/>
                  </a:lnTo>
                  <a:lnTo>
                    <a:pt x="456819" y="45847"/>
                  </a:lnTo>
                  <a:close/>
                </a:path>
                <a:path w="469264" h="100329">
                  <a:moveTo>
                    <a:pt x="459232" y="45847"/>
                  </a:moveTo>
                  <a:lnTo>
                    <a:pt x="456819" y="45847"/>
                  </a:lnTo>
                  <a:lnTo>
                    <a:pt x="456819" y="53975"/>
                  </a:lnTo>
                  <a:lnTo>
                    <a:pt x="459232" y="53975"/>
                  </a:lnTo>
                  <a:lnTo>
                    <a:pt x="459232" y="45847"/>
                  </a:lnTo>
                  <a:close/>
                </a:path>
                <a:path w="469264" h="100329">
                  <a:moveTo>
                    <a:pt x="383159" y="0"/>
                  </a:moveTo>
                  <a:lnTo>
                    <a:pt x="380238" y="762"/>
                  </a:lnTo>
                  <a:lnTo>
                    <a:pt x="378968" y="3048"/>
                  </a:lnTo>
                  <a:lnTo>
                    <a:pt x="377571" y="5334"/>
                  </a:lnTo>
                  <a:lnTo>
                    <a:pt x="378333" y="8255"/>
                  </a:lnTo>
                  <a:lnTo>
                    <a:pt x="380619" y="9525"/>
                  </a:lnTo>
                  <a:lnTo>
                    <a:pt x="449852" y="49911"/>
                  </a:lnTo>
                  <a:lnTo>
                    <a:pt x="456819" y="45847"/>
                  </a:lnTo>
                  <a:lnTo>
                    <a:pt x="459232" y="45847"/>
                  </a:lnTo>
                  <a:lnTo>
                    <a:pt x="459232" y="45085"/>
                  </a:lnTo>
                  <a:lnTo>
                    <a:pt x="460469" y="45085"/>
                  </a:lnTo>
                  <a:lnTo>
                    <a:pt x="385445" y="1397"/>
                  </a:lnTo>
                  <a:lnTo>
                    <a:pt x="383159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5140" y="0"/>
              <a:ext cx="4029456" cy="100126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Extendib</a:t>
            </a:r>
            <a:r>
              <a:rPr spc="-114" dirty="0"/>
              <a:t>l</a:t>
            </a:r>
            <a:r>
              <a:rPr spc="-240" dirty="0"/>
              <a:t>e</a:t>
            </a:r>
            <a:r>
              <a:rPr spc="-100" dirty="0"/>
              <a:t> </a:t>
            </a:r>
            <a:r>
              <a:rPr spc="-210" dirty="0"/>
              <a:t>hashing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76858" y="763072"/>
            <a:ext cx="7523480" cy="310578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60" dirty="0">
                <a:latin typeface="Trebuchet MS"/>
                <a:cs typeface="Trebuchet MS"/>
              </a:rPr>
              <a:t>Advantages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65" dirty="0">
                <a:latin typeface="Trebuchet MS"/>
                <a:cs typeface="Trebuchet MS"/>
              </a:rPr>
              <a:t>Simple</a:t>
            </a:r>
            <a:endParaRPr sz="2800">
              <a:latin typeface="Trebuchet MS"/>
              <a:cs typeface="Trebuchet MS"/>
            </a:endParaRPr>
          </a:p>
          <a:p>
            <a:pPr marL="570230" marR="5080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35" dirty="0">
                <a:latin typeface="Trebuchet MS"/>
                <a:cs typeface="Trebuchet MS"/>
              </a:rPr>
              <a:t>Quick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access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time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for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insert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and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find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operations </a:t>
            </a:r>
            <a:r>
              <a:rPr sz="2800" spc="-83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</a:t>
            </a:r>
            <a:r>
              <a:rPr sz="2800" spc="-210" dirty="0">
                <a:latin typeface="Trebuchet MS"/>
                <a:cs typeface="Trebuchet MS"/>
              </a:rPr>
              <a:t>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l</a:t>
            </a:r>
            <a:r>
              <a:rPr sz="2800" spc="-330" dirty="0">
                <a:latin typeface="Trebuchet MS"/>
                <a:cs typeface="Trebuchet MS"/>
              </a:rPr>
              <a:t>a</a:t>
            </a:r>
            <a:r>
              <a:rPr sz="2800" spc="-85" dirty="0">
                <a:latin typeface="Trebuchet MS"/>
                <a:cs typeface="Trebuchet MS"/>
              </a:rPr>
              <a:t>r</a:t>
            </a:r>
            <a:r>
              <a:rPr sz="2800" spc="-120" dirty="0">
                <a:latin typeface="Trebuchet MS"/>
                <a:cs typeface="Trebuchet MS"/>
              </a:rPr>
              <a:t>g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databases.</a:t>
            </a:r>
            <a:endParaRPr sz="2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0" dirty="0">
                <a:latin typeface="Trebuchet MS"/>
                <a:cs typeface="Trebuchet MS"/>
              </a:rPr>
              <a:t>Disadvantages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85" dirty="0">
                <a:latin typeface="Trebuchet MS"/>
                <a:cs typeface="Trebuchet MS"/>
              </a:rPr>
              <a:t>Not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suitable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when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more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duplicates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are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taken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585</Words>
  <Application>Microsoft Office PowerPoint</Application>
  <PresentationFormat>On-screen Show (4:3)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Segoe UI Symbol</vt:lpstr>
      <vt:lpstr>Times New Roman</vt:lpstr>
      <vt:lpstr>Trebuchet MS</vt:lpstr>
      <vt:lpstr>Verdana</vt:lpstr>
      <vt:lpstr>Office Theme</vt:lpstr>
      <vt:lpstr>BCS202L- Data Structures and  Algorithms</vt:lpstr>
      <vt:lpstr>BCS202L- Data Structures and  Algorithms</vt:lpstr>
      <vt:lpstr>PowerPoint Presentation</vt:lpstr>
      <vt:lpstr>BCS202L- Data Structures and  Algorithms</vt:lpstr>
      <vt:lpstr>Module 6: Hashing</vt:lpstr>
      <vt:lpstr>Rehashing</vt:lpstr>
      <vt:lpstr>Rehashing</vt:lpstr>
      <vt:lpstr>Rehashing</vt:lpstr>
      <vt:lpstr>Rehashing</vt:lpstr>
      <vt:lpstr>Extendible hashing</vt:lpstr>
      <vt:lpstr>Example</vt:lpstr>
      <vt:lpstr>Example</vt:lpstr>
      <vt:lpstr>Example</vt:lpstr>
      <vt:lpstr>Extendible hashing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Introduction to Cryptography             (4 Hours)</dc:title>
  <dc:creator>Jamuna</dc:creator>
  <cp:lastModifiedBy>Windows User</cp:lastModifiedBy>
  <cp:revision>4</cp:revision>
  <dcterms:created xsi:type="dcterms:W3CDTF">2023-05-26T05:46:56Z</dcterms:created>
  <dcterms:modified xsi:type="dcterms:W3CDTF">2023-05-31T10:04:36Z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2023-05-26T00:00:00Z</vt:filetime>
  </property>
</Properties>
</file>