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75" r:id="rId4"/>
    <p:sldId id="276" r:id="rId5"/>
    <p:sldId id="277" r:id="rId6"/>
    <p:sldId id="278" r:id="rId7"/>
    <p:sldId id="279" r:id="rId8"/>
    <p:sldId id="280" r:id="rId9"/>
    <p:sldId id="273" r:id="rId10"/>
    <p:sldId id="282" r:id="rId11"/>
    <p:sldId id="284" r:id="rId12"/>
    <p:sldId id="283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70" autoAdjust="0"/>
  </p:normalViewPr>
  <p:slideViewPr>
    <p:cSldViewPr snapToGrid="0">
      <p:cViewPr varScale="1">
        <p:scale>
          <a:sx n="85" d="100"/>
          <a:sy n="85" d="100"/>
        </p:scale>
        <p:origin x="432" y="53"/>
      </p:cViewPr>
      <p:guideLst/>
    </p:cSldViewPr>
  </p:slideViewPr>
  <p:outlineViewPr>
    <p:cViewPr>
      <p:scale>
        <a:sx n="33" d="100"/>
        <a:sy n="33" d="100"/>
      </p:scale>
      <p:origin x="0" y="-1056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3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9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9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3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8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6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3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8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6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3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31DB9-D2B4-4927-8951-5C46544135B2}" type="datetimeFigureOut">
              <a:rPr lang="en-US" smtClean="0"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51DDF-8557-4DA0-A544-FD5B188E2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8695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Data Structures and </a:t>
            </a:r>
            <a:r>
              <a:rPr lang="en-US" b="1" dirty="0" smtClean="0">
                <a:solidFill>
                  <a:srgbClr val="C00000"/>
                </a:solidFill>
              </a:rPr>
              <a:t>Algorithms (</a:t>
            </a:r>
            <a:r>
              <a:rPr lang="en-US" b="1" dirty="0">
                <a:solidFill>
                  <a:srgbClr val="C00000"/>
                </a:solidFill>
              </a:rPr>
              <a:t>BCSE202L</a:t>
            </a:r>
            <a:r>
              <a:rPr lang="en-US" b="1" dirty="0" smtClean="0">
                <a:solidFill>
                  <a:srgbClr val="C00000"/>
                </a:solidFill>
              </a:rPr>
              <a:t>)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sz="5300" b="1" i="1" dirty="0" smtClean="0">
                <a:solidFill>
                  <a:schemeClr val="accent6">
                    <a:lumMod val="50000"/>
                  </a:schemeClr>
                </a:solidFill>
              </a:rPr>
              <a:t>Module 1: </a:t>
            </a:r>
            <a:r>
              <a:rPr lang="en-US" sz="5300" b="1" i="1" dirty="0">
                <a:solidFill>
                  <a:schemeClr val="accent6">
                    <a:lumMod val="50000"/>
                  </a:schemeClr>
                </a:solidFill>
              </a:rPr>
              <a:t>Algorithm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574339" y="4480355"/>
            <a:ext cx="4043083" cy="539656"/>
          </a:xfrm>
        </p:spPr>
        <p:txBody>
          <a:bodyPr>
            <a:noAutofit/>
          </a:bodyPr>
          <a:lstStyle/>
          <a:p>
            <a:pPr algn="r"/>
            <a:r>
              <a:rPr lang="en-US" sz="3500" b="1" dirty="0" smtClean="0">
                <a:solidFill>
                  <a:srgbClr val="002060"/>
                </a:solidFill>
              </a:rPr>
              <a:t>Dr. Priyanka N</a:t>
            </a:r>
            <a:endParaRPr lang="en-US" sz="3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17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Asymptotic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730187"/>
            <a:ext cx="10884050" cy="4733365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Asymptotic notations are the mathematical notations used to describe the running time of an algorithm when the input tends towards a particular value or a limiting </a:t>
            </a:r>
            <a:r>
              <a:rPr lang="en-US" sz="3600" dirty="0" smtClean="0"/>
              <a:t>value</a:t>
            </a:r>
          </a:p>
          <a:p>
            <a:r>
              <a:rPr lang="en-US" sz="3600" dirty="0"/>
              <a:t>There are </a:t>
            </a:r>
            <a:r>
              <a:rPr lang="en-US" sz="3600"/>
              <a:t>mainly </a:t>
            </a:r>
            <a:r>
              <a:rPr lang="en-US" sz="3600" smtClean="0"/>
              <a:t>three</a:t>
            </a:r>
            <a:r>
              <a:rPr lang="en-US" sz="3600" smtClean="0"/>
              <a:t> </a:t>
            </a:r>
            <a:r>
              <a:rPr lang="en-US" sz="3600" dirty="0"/>
              <a:t>asymptotic notations: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3600" dirty="0"/>
              <a:t>Big-O </a:t>
            </a:r>
            <a:r>
              <a:rPr lang="en-US" sz="3600" dirty="0" smtClean="0"/>
              <a:t>notation </a:t>
            </a:r>
            <a:r>
              <a:rPr lang="en-US" sz="3600" dirty="0"/>
              <a:t>(</a:t>
            </a:r>
            <a:r>
              <a:rPr lang="el-GR" sz="3600" dirty="0"/>
              <a:t>Ο </a:t>
            </a:r>
            <a:r>
              <a:rPr lang="en-US" sz="3600" dirty="0"/>
              <a:t>Notation)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3600" dirty="0"/>
              <a:t>Omega </a:t>
            </a:r>
            <a:r>
              <a:rPr lang="en-US" sz="3600" dirty="0" smtClean="0"/>
              <a:t>notation </a:t>
            </a:r>
            <a:r>
              <a:rPr lang="en-US" sz="3600" dirty="0"/>
              <a:t>(</a:t>
            </a:r>
            <a:r>
              <a:rPr lang="el-GR" sz="3600" dirty="0"/>
              <a:t>Ω </a:t>
            </a:r>
            <a:r>
              <a:rPr lang="en-US" sz="3600" dirty="0"/>
              <a:t>Notation)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3600" dirty="0"/>
              <a:t>Theta </a:t>
            </a:r>
            <a:r>
              <a:rPr lang="en-US" sz="3600" dirty="0" smtClean="0"/>
              <a:t>notation </a:t>
            </a:r>
            <a:r>
              <a:rPr lang="en-US" sz="3600" dirty="0"/>
              <a:t>(</a:t>
            </a:r>
            <a:r>
              <a:rPr lang="el-GR" sz="3600" dirty="0"/>
              <a:t>θ </a:t>
            </a:r>
            <a:r>
              <a:rPr lang="en-US" sz="3600" dirty="0"/>
              <a:t>Notation</a:t>
            </a:r>
            <a:r>
              <a:rPr lang="en-US" sz="3600" dirty="0" smtClean="0"/>
              <a:t>)</a:t>
            </a:r>
          </a:p>
          <a:p>
            <a:pPr marL="1371600" lvl="3" indent="0">
              <a:buNone/>
            </a:pPr>
            <a:endParaRPr lang="en-US" sz="2800" dirty="0"/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5453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Big-O Notation (O-notation)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407459"/>
            <a:ext cx="10884050" cy="505609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Big-O notation represents the upper bound of the running time of an </a:t>
            </a:r>
            <a:r>
              <a:rPr lang="en-US" dirty="0" smtClean="0"/>
              <a:t>algorithm</a:t>
            </a:r>
          </a:p>
          <a:p>
            <a:pPr algn="just"/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gives the worst-case complexity or the longest amount of time an algorithm can possibly take to </a:t>
            </a:r>
            <a:r>
              <a:rPr lang="en-US" dirty="0" smtClean="0"/>
              <a:t>complete</a:t>
            </a:r>
          </a:p>
          <a:p>
            <a:pPr algn="just"/>
            <a:r>
              <a:rPr lang="en-US" b="1" dirty="0"/>
              <a:t>Mathematical Representation of Big-O Notation</a:t>
            </a:r>
            <a:r>
              <a:rPr lang="en-US" b="1" dirty="0" smtClean="0"/>
              <a:t>: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above expression can be described as a function f(n) </a:t>
            </a:r>
            <a:r>
              <a:rPr lang="en-US" dirty="0" smtClean="0"/>
              <a:t>belonging </a:t>
            </a:r>
            <a:r>
              <a:rPr lang="en-US" dirty="0"/>
              <a:t>to the set O(g(n)) if there exists a positive constant c such that it lies between 0 and </a:t>
            </a:r>
            <a:r>
              <a:rPr lang="en-US" dirty="0" err="1" smtClean="0"/>
              <a:t>c.g</a:t>
            </a:r>
            <a:r>
              <a:rPr lang="en-US" dirty="0" smtClean="0"/>
              <a:t>(n</a:t>
            </a:r>
            <a:r>
              <a:rPr lang="en-US" dirty="0"/>
              <a:t>), for sufficiently large </a:t>
            </a:r>
            <a:r>
              <a:rPr lang="en-US" dirty="0" smtClean="0"/>
              <a:t>n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1930" y="3541058"/>
            <a:ext cx="8579223" cy="1255058"/>
          </a:xfrm>
          <a:prstGeom prst="rect">
            <a:avLst/>
          </a:prstGeom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O(g(n)) = { f(n): there exist positive constants c and n</a:t>
            </a:r>
            <a:r>
              <a:rPr lang="en-US" sz="2800" b="1" baseline="-25000" dirty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such that 0 ≤ f(n) ≤ </a:t>
            </a:r>
            <a:r>
              <a:rPr lang="en-US" sz="2800" b="1" dirty="0" err="1" smtClean="0">
                <a:solidFill>
                  <a:schemeClr val="accent6">
                    <a:lumMod val="50000"/>
                  </a:schemeClr>
                </a:solidFill>
              </a:rPr>
              <a:t>c.g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(n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) for all n ≥ n</a:t>
            </a:r>
            <a:r>
              <a:rPr lang="en-US" sz="2800" b="1" baseline="-25000" dirty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94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Big-O Notation (O-notation)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14" y="1545857"/>
            <a:ext cx="4389120" cy="47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1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23396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Omega notation (</a:t>
            </a:r>
            <a:r>
              <a:rPr lang="el-GR" b="1" dirty="0">
                <a:solidFill>
                  <a:srgbClr val="FF0000"/>
                </a:solidFill>
              </a:rPr>
              <a:t>Ω </a:t>
            </a:r>
            <a:r>
              <a:rPr lang="en-US" b="1" dirty="0">
                <a:solidFill>
                  <a:srgbClr val="FF0000"/>
                </a:solidFill>
              </a:rPr>
              <a:t>Notation)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407459"/>
            <a:ext cx="10884050" cy="505609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Omega notation represents the lower bound of the running time of an </a:t>
            </a:r>
            <a:r>
              <a:rPr lang="en-US" dirty="0" smtClean="0"/>
              <a:t>algorithm</a:t>
            </a:r>
          </a:p>
          <a:p>
            <a:pPr algn="just"/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provides the </a:t>
            </a:r>
            <a:r>
              <a:rPr lang="en-US" dirty="0" smtClean="0"/>
              <a:t>best-case </a:t>
            </a:r>
            <a:r>
              <a:rPr lang="en-US" dirty="0"/>
              <a:t>complexity of an </a:t>
            </a:r>
            <a:r>
              <a:rPr lang="en-US" dirty="0" smtClean="0"/>
              <a:t>algorithm </a:t>
            </a:r>
          </a:p>
          <a:p>
            <a:pPr algn="just"/>
            <a:r>
              <a:rPr lang="en-US" b="1" dirty="0" smtClean="0"/>
              <a:t>Mathematical </a:t>
            </a:r>
            <a:r>
              <a:rPr lang="en-US" b="1" dirty="0"/>
              <a:t>Representation of Omega Notation</a:t>
            </a:r>
            <a:r>
              <a:rPr lang="en-US" b="1" dirty="0" smtClean="0"/>
              <a:t>: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/>
              <a:t>The above expression can be described as a function f(n) </a:t>
            </a:r>
            <a:r>
              <a:rPr lang="en-US" dirty="0" smtClean="0"/>
              <a:t>belonging </a:t>
            </a:r>
            <a:r>
              <a:rPr lang="en-US" dirty="0"/>
              <a:t>to the set Ω(g(n)) if there exists a positive constant c such that it lies above </a:t>
            </a:r>
            <a:r>
              <a:rPr lang="en-US" dirty="0" err="1" smtClean="0"/>
              <a:t>c.g</a:t>
            </a:r>
            <a:r>
              <a:rPr lang="en-US" dirty="0" smtClean="0"/>
              <a:t>(n</a:t>
            </a:r>
            <a:r>
              <a:rPr lang="en-US" dirty="0"/>
              <a:t>), for sufficiently large </a:t>
            </a:r>
            <a:r>
              <a:rPr lang="en-US" dirty="0" smtClean="0"/>
              <a:t>n</a:t>
            </a:r>
            <a:endParaRPr lang="en-US" dirty="0"/>
          </a:p>
          <a:p>
            <a:pPr algn="just"/>
            <a:r>
              <a:rPr lang="en-US" dirty="0"/>
              <a:t>For any value of n, the minimum time required by the algorithm is given by Omega Ω(g(n</a:t>
            </a:r>
            <a:r>
              <a:rPr lang="en-US" dirty="0" smtClean="0"/>
              <a:t>))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61247" y="2725270"/>
            <a:ext cx="8579223" cy="1255058"/>
          </a:xfrm>
          <a:prstGeom prst="rect">
            <a:avLst/>
          </a:prstGeom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l-GR" sz="2800" b="1" dirty="0" smtClean="0">
                <a:solidFill>
                  <a:schemeClr val="accent6">
                    <a:lumMod val="50000"/>
                  </a:schemeClr>
                </a:solidFill>
              </a:rPr>
              <a:t>Ω(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g(n)) = { f(n): there exist positive constants c and n</a:t>
            </a:r>
            <a:r>
              <a:rPr lang="en-US" sz="2800" b="1" baseline="-25000" dirty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        such that 0 ≤ cg(n) ≤ f(n) for all n ≥ n</a:t>
            </a:r>
            <a:r>
              <a:rPr lang="en-US" sz="2800" b="1" baseline="-25000" dirty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} 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00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23396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Omega notation (</a:t>
            </a:r>
            <a:r>
              <a:rPr lang="el-GR" b="1" dirty="0">
                <a:solidFill>
                  <a:srgbClr val="FF0000"/>
                </a:solidFill>
              </a:rPr>
              <a:t>Ω </a:t>
            </a:r>
            <a:r>
              <a:rPr lang="en-US" b="1" dirty="0">
                <a:solidFill>
                  <a:srgbClr val="FF0000"/>
                </a:solidFill>
              </a:rPr>
              <a:t>Notation)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888" y="1390184"/>
            <a:ext cx="4656737" cy="505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23396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Theta Notation (</a:t>
            </a:r>
            <a:r>
              <a:rPr lang="el-GR" b="1" dirty="0">
                <a:solidFill>
                  <a:srgbClr val="FF0000"/>
                </a:solidFill>
              </a:rPr>
              <a:t>Θ-</a:t>
            </a:r>
            <a:r>
              <a:rPr lang="en-US" b="1" dirty="0">
                <a:solidFill>
                  <a:srgbClr val="FF0000"/>
                </a:solidFill>
              </a:rPr>
              <a:t>notation)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407459"/>
            <a:ext cx="10884050" cy="505609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Theta notation encloses the function from above and </a:t>
            </a:r>
            <a:r>
              <a:rPr lang="en-US" dirty="0" smtClean="0"/>
              <a:t>below</a:t>
            </a:r>
          </a:p>
          <a:p>
            <a:pPr algn="just"/>
            <a:r>
              <a:rPr lang="en-US" dirty="0" smtClean="0"/>
              <a:t>Since </a:t>
            </a:r>
            <a:r>
              <a:rPr lang="en-US" dirty="0"/>
              <a:t>it represents the upper and the lower bound of the running time of an algorithm, it is used for analyzing the average-case complexity of an </a:t>
            </a:r>
            <a:r>
              <a:rPr lang="en-US" dirty="0" smtClean="0"/>
              <a:t>algorithm</a:t>
            </a:r>
          </a:p>
          <a:p>
            <a:pPr algn="just"/>
            <a:r>
              <a:rPr lang="en-US" b="1" dirty="0" smtClean="0"/>
              <a:t>Mathematical </a:t>
            </a:r>
            <a:r>
              <a:rPr lang="en-US" b="1" dirty="0"/>
              <a:t>Representation of Omega Notation</a:t>
            </a:r>
            <a:r>
              <a:rPr lang="en-US" b="1" dirty="0" smtClean="0"/>
              <a:t>: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/>
              <a:t>The above expression can be described as a function f(n) belongs to the set Θ(g(n)) if there exist positive constants c1 and c2 such that it can be </a:t>
            </a:r>
            <a:r>
              <a:rPr lang="en-US" dirty="0" smtClean="0"/>
              <a:t>sandwiched </a:t>
            </a:r>
            <a:r>
              <a:rPr lang="en-US" dirty="0"/>
              <a:t>between </a:t>
            </a:r>
            <a:r>
              <a:rPr lang="en-US" dirty="0" smtClean="0"/>
              <a:t>c1.g(n</a:t>
            </a:r>
            <a:r>
              <a:rPr lang="en-US" dirty="0"/>
              <a:t>) and </a:t>
            </a:r>
            <a:r>
              <a:rPr lang="en-US" dirty="0" smtClean="0"/>
              <a:t>c2.g(n</a:t>
            </a:r>
            <a:r>
              <a:rPr lang="en-US" dirty="0"/>
              <a:t>), for sufficiently large </a:t>
            </a:r>
            <a:r>
              <a:rPr lang="en-US" dirty="0" smtClean="0"/>
              <a:t>n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If a function f(n) lies anywhere in between </a:t>
            </a:r>
            <a:r>
              <a:rPr lang="en-US" dirty="0" smtClean="0"/>
              <a:t>c1.g(n</a:t>
            </a:r>
            <a:r>
              <a:rPr lang="en-US" dirty="0"/>
              <a:t>) and </a:t>
            </a:r>
            <a:r>
              <a:rPr lang="en-US" dirty="0" smtClean="0"/>
              <a:t>c2.g(n</a:t>
            </a:r>
            <a:r>
              <a:rPr lang="en-US" dirty="0"/>
              <a:t>) for all n ≥ n</a:t>
            </a:r>
            <a:r>
              <a:rPr lang="en-US" baseline="-25000" dirty="0"/>
              <a:t>0</a:t>
            </a:r>
            <a:r>
              <a:rPr lang="en-US" dirty="0"/>
              <a:t>, then f(n) is said to be asymptotically tight </a:t>
            </a:r>
            <a:r>
              <a:rPr lang="en-US" dirty="0" smtClean="0"/>
              <a:t>bound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95718" y="2913529"/>
            <a:ext cx="8579223" cy="1255058"/>
          </a:xfrm>
          <a:prstGeom prst="rect">
            <a:avLst/>
          </a:prstGeom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Θ(g(n)) = { f(n): there exist positive constants c1, c2 and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n</a:t>
            </a:r>
            <a:r>
              <a:rPr lang="en-US" sz="2800" b="1" baseline="-25000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 such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that 0 ≤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c1.g(n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) ≤ f(n) ≤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c2.g(n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) for all n ≥ n</a:t>
            </a:r>
            <a:r>
              <a:rPr lang="en-US" sz="2800" b="1" baseline="-25000" dirty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82423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23396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Theta Notation (</a:t>
            </a:r>
            <a:r>
              <a:rPr lang="el-GR" b="1" dirty="0">
                <a:solidFill>
                  <a:srgbClr val="FF0000"/>
                </a:solidFill>
              </a:rPr>
              <a:t>Θ-</a:t>
            </a:r>
            <a:r>
              <a:rPr lang="en-US" b="1" dirty="0">
                <a:solidFill>
                  <a:srgbClr val="FF0000"/>
                </a:solidFill>
              </a:rPr>
              <a:t>notation)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730" y="1085523"/>
            <a:ext cx="5394960" cy="57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1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1247905" cy="7473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Worst-case, Average-case, Best-case, and Amortized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730187"/>
            <a:ext cx="10884050" cy="473336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Generally, we perform the following types of analysis</a:t>
            </a:r>
            <a:r>
              <a:rPr lang="en-US" dirty="0" smtClean="0"/>
              <a:t>:</a:t>
            </a:r>
          </a:p>
          <a:p>
            <a:pPr marL="1030288" lvl="1" indent="-457200" algn="just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rgbClr val="002060"/>
                </a:solidFill>
              </a:rPr>
              <a:t>Worst-case</a:t>
            </a:r>
            <a:r>
              <a:rPr lang="en-US" sz="2800" dirty="0" smtClean="0"/>
              <a:t> </a:t>
            </a:r>
            <a:r>
              <a:rPr lang="en-US" sz="2800" dirty="0"/>
              <a:t>− The maximum number of steps taken on any instance of size </a:t>
            </a:r>
            <a:r>
              <a:rPr lang="en-US" sz="2800" dirty="0" smtClean="0"/>
              <a:t>a</a:t>
            </a:r>
            <a:endParaRPr lang="en-US" sz="2800" dirty="0"/>
          </a:p>
          <a:p>
            <a:pPr marL="1030288" lvl="1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2060"/>
                </a:solidFill>
              </a:rPr>
              <a:t>Best-case</a:t>
            </a:r>
            <a:r>
              <a:rPr lang="en-US" sz="2800" dirty="0"/>
              <a:t> − The minimum number of steps taken on any instance of size </a:t>
            </a:r>
            <a:r>
              <a:rPr lang="en-US" sz="2800" dirty="0" smtClean="0"/>
              <a:t>a</a:t>
            </a:r>
            <a:endParaRPr lang="en-US" sz="2800" dirty="0"/>
          </a:p>
          <a:p>
            <a:pPr marL="1030288" lvl="1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2060"/>
                </a:solidFill>
              </a:rPr>
              <a:t>Average case </a:t>
            </a:r>
            <a:r>
              <a:rPr lang="en-US" sz="2800" dirty="0"/>
              <a:t>− An average number of steps taken on any instance of size </a:t>
            </a:r>
            <a:r>
              <a:rPr lang="en-US" sz="2800" dirty="0" smtClean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1578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1247905" cy="74739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Worst-case Time </a:t>
            </a:r>
            <a:r>
              <a:rPr lang="en-US" b="1" dirty="0">
                <a:solidFill>
                  <a:srgbClr val="FF0000"/>
                </a:solidFill>
              </a:rP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730187"/>
            <a:ext cx="10884050" cy="473336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This denotes the </a:t>
            </a:r>
            <a:r>
              <a:rPr lang="en-US" dirty="0" smtClean="0"/>
              <a:t>behavior </a:t>
            </a:r>
            <a:r>
              <a:rPr lang="en-US" dirty="0"/>
              <a:t>of an algorithm with respect to the </a:t>
            </a:r>
            <a:r>
              <a:rPr lang="en-US" dirty="0" smtClean="0"/>
              <a:t>worst possible case </a:t>
            </a:r>
            <a:r>
              <a:rPr lang="en-US" dirty="0"/>
              <a:t>of the input </a:t>
            </a:r>
            <a:r>
              <a:rPr lang="en-US" dirty="0" smtClean="0"/>
              <a:t>instance 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worst-case running time of an algorithm is an upper </a:t>
            </a:r>
            <a:r>
              <a:rPr lang="en-US" dirty="0" smtClean="0"/>
              <a:t>bound on </a:t>
            </a:r>
            <a:r>
              <a:rPr lang="en-US" dirty="0"/>
              <a:t>the running time for any </a:t>
            </a:r>
            <a:r>
              <a:rPr lang="en-US" dirty="0" smtClean="0"/>
              <a:t>input </a:t>
            </a:r>
          </a:p>
          <a:p>
            <a:pPr algn="just"/>
            <a:r>
              <a:rPr lang="en-US" dirty="0"/>
              <a:t>H</a:t>
            </a:r>
            <a:r>
              <a:rPr lang="en-US" dirty="0" smtClean="0"/>
              <a:t>aving </a:t>
            </a:r>
            <a:r>
              <a:rPr lang="en-US" dirty="0"/>
              <a:t>the knowledge of worst-case running </a:t>
            </a:r>
            <a:r>
              <a:rPr lang="en-US" dirty="0" smtClean="0"/>
              <a:t>time gives </a:t>
            </a:r>
            <a:r>
              <a:rPr lang="en-US" dirty="0"/>
              <a:t>us an assurance that the algorithm will never go beyond this time </a:t>
            </a:r>
            <a:r>
              <a:rPr lang="en-US" dirty="0" smtClean="0"/>
              <a:t>limit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67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1247905" cy="74739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Average-case Time </a:t>
            </a:r>
            <a:r>
              <a:rPr lang="en-US" b="1" dirty="0">
                <a:solidFill>
                  <a:srgbClr val="FF0000"/>
                </a:solidFill>
              </a:rP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730187"/>
            <a:ext cx="10884050" cy="473336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average-case running time of an algorithm is an estimate </a:t>
            </a:r>
            <a:r>
              <a:rPr lang="en-US" dirty="0" smtClean="0"/>
              <a:t>of the </a:t>
            </a:r>
            <a:r>
              <a:rPr lang="en-US" dirty="0"/>
              <a:t>running time for an ‘average’ </a:t>
            </a:r>
            <a:r>
              <a:rPr lang="en-US" dirty="0" smtClean="0"/>
              <a:t>input 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specifies the expected </a:t>
            </a:r>
            <a:r>
              <a:rPr lang="en-US" dirty="0" smtClean="0"/>
              <a:t>behavior </a:t>
            </a:r>
            <a:r>
              <a:rPr lang="en-US" dirty="0"/>
              <a:t>of the algorithm </a:t>
            </a:r>
            <a:r>
              <a:rPr lang="en-US" dirty="0" smtClean="0"/>
              <a:t>when the </a:t>
            </a:r>
            <a:r>
              <a:rPr lang="en-US" dirty="0"/>
              <a:t>input is randomly drawn from a given </a:t>
            </a:r>
            <a:r>
              <a:rPr lang="en-US" dirty="0" smtClean="0"/>
              <a:t>distribution</a:t>
            </a:r>
          </a:p>
          <a:p>
            <a:pPr algn="just"/>
            <a:r>
              <a:rPr lang="en-US" dirty="0" smtClean="0"/>
              <a:t>Average-case </a:t>
            </a:r>
            <a:r>
              <a:rPr lang="en-US" dirty="0"/>
              <a:t>running time assumes </a:t>
            </a:r>
            <a:r>
              <a:rPr lang="en-US" dirty="0" smtClean="0"/>
              <a:t>that all </a:t>
            </a:r>
            <a:r>
              <a:rPr lang="en-US" dirty="0"/>
              <a:t>inputs of a given size are equally </a:t>
            </a:r>
            <a:r>
              <a:rPr lang="en-US" dirty="0" smtClean="0"/>
              <a:t>likely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14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593725"/>
            <a:ext cx="11247905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Best-case </a:t>
            </a:r>
            <a:r>
              <a:rPr lang="en-US" b="1" dirty="0" smtClean="0">
                <a:solidFill>
                  <a:srgbClr val="FF0000"/>
                </a:solidFill>
              </a:rPr>
              <a:t>Time </a:t>
            </a:r>
            <a:r>
              <a:rPr lang="en-US" b="1" dirty="0">
                <a:solidFill>
                  <a:srgbClr val="FF0000"/>
                </a:solidFill>
              </a:rP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15" y="1730187"/>
            <a:ext cx="10884050" cy="473336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term ‘best-case performance’ is used to </a:t>
            </a:r>
            <a:r>
              <a:rPr lang="en-US" dirty="0" smtClean="0"/>
              <a:t>analyze </a:t>
            </a:r>
            <a:r>
              <a:rPr lang="en-US" dirty="0"/>
              <a:t>an algorithm </a:t>
            </a:r>
            <a:r>
              <a:rPr lang="en-US" dirty="0" smtClean="0"/>
              <a:t>under optimal conditions 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the best case for a simple linear search on an array occurs </a:t>
            </a:r>
            <a:r>
              <a:rPr lang="en-US" dirty="0" smtClean="0"/>
              <a:t>when the </a:t>
            </a:r>
            <a:r>
              <a:rPr lang="en-US" dirty="0"/>
              <a:t>desired element is the first in the </a:t>
            </a:r>
            <a:r>
              <a:rPr lang="en-US" dirty="0" smtClean="0"/>
              <a:t>list </a:t>
            </a:r>
          </a:p>
          <a:p>
            <a:pPr algn="just"/>
            <a:r>
              <a:rPr lang="en-US" dirty="0" smtClean="0"/>
              <a:t>However</a:t>
            </a:r>
            <a:r>
              <a:rPr lang="en-US" dirty="0"/>
              <a:t>, while developing and choosing an algorithm to </a:t>
            </a:r>
            <a:r>
              <a:rPr lang="en-US" dirty="0" smtClean="0"/>
              <a:t>solve a </a:t>
            </a:r>
            <a:r>
              <a:rPr lang="en-US" dirty="0"/>
              <a:t>problem, we hardly base our decision on the best-case </a:t>
            </a:r>
            <a:r>
              <a:rPr lang="en-US" dirty="0" smtClean="0"/>
              <a:t>performance 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always </a:t>
            </a:r>
            <a:r>
              <a:rPr lang="en-US" dirty="0" smtClean="0"/>
              <a:t>recommended to </a:t>
            </a:r>
            <a:r>
              <a:rPr lang="en-US" dirty="0"/>
              <a:t>improve the average performance and the worst-case performance of an </a:t>
            </a:r>
            <a:r>
              <a:rPr lang="en-US" dirty="0" smtClean="0"/>
              <a:t>algorithm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15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683" y="181349"/>
            <a:ext cx="10853457" cy="747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Order of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4045" y="5110730"/>
            <a:ext cx="9386047" cy="1256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of </a:t>
            </a:r>
            <a:r>
              <a:rPr lang="en-US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1&lt;</a:t>
            </a:r>
            <a:r>
              <a:rPr lang="en-IN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logn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&lt;√n&lt;n&lt;</a:t>
            </a:r>
            <a:r>
              <a:rPr lang="en-IN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&lt;n</a:t>
            </a:r>
            <a:r>
              <a:rPr lang="en-IN" sz="28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&lt;n</a:t>
            </a:r>
            <a:r>
              <a:rPr lang="en-IN" sz="28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&lt;……2</a:t>
            </a:r>
            <a:r>
              <a:rPr lang="en-IN" sz="28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3</a:t>
            </a:r>
            <a:r>
              <a:rPr lang="en-IN" sz="28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baseline="30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11" t="9616" r="4321"/>
          <a:stretch/>
        </p:blipFill>
        <p:spPr>
          <a:xfrm>
            <a:off x="2734235" y="1255057"/>
            <a:ext cx="5495364" cy="364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1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20335</TotalTime>
  <Words>734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Wingdings 2</vt:lpstr>
      <vt:lpstr>Office Theme</vt:lpstr>
      <vt:lpstr>Data Structures and Algorithms (BCSE202L) Module 1: Algorithm Analysis</vt:lpstr>
      <vt:lpstr>Asymptotic Notations</vt:lpstr>
      <vt:lpstr>Big-O Notation (O-notation)</vt:lpstr>
      <vt:lpstr>Big-O Notation (O-notation)</vt:lpstr>
      <vt:lpstr>Omega notation (Ω Notation)</vt:lpstr>
      <vt:lpstr>Omega notation (Ω Notation)</vt:lpstr>
      <vt:lpstr>Theta Notation (Θ-notation)</vt:lpstr>
      <vt:lpstr>Theta Notation (Θ-notation)</vt:lpstr>
      <vt:lpstr>Worst-case, Average-case, Best-case, and Amortized Time Complexity</vt:lpstr>
      <vt:lpstr>Worst-case Time Complexity</vt:lpstr>
      <vt:lpstr>Average-case Time Complexity</vt:lpstr>
      <vt:lpstr>Best-case Time Complexity</vt:lpstr>
      <vt:lpstr>Order of Growth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(BCSE202L)</dc:title>
  <dc:creator>Windows User</dc:creator>
  <cp:lastModifiedBy>Windows User</cp:lastModifiedBy>
  <cp:revision>53</cp:revision>
  <dcterms:created xsi:type="dcterms:W3CDTF">2023-01-05T07:39:54Z</dcterms:created>
  <dcterms:modified xsi:type="dcterms:W3CDTF">2023-02-21T13:39:38Z</dcterms:modified>
</cp:coreProperties>
</file>