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2A40DBC-919C-478D-A97D-76B84417BECA}" type="datetimeFigureOut">
              <a:rPr lang="en-IN" smtClean="0"/>
              <a:t>21-02-2023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513EE9-F129-4285-832C-0F21BDA7C534}" type="slidenum">
              <a:rPr lang="en-IN" smtClean="0"/>
              <a:t>‹#›</a:t>
            </a:fld>
            <a:endParaRPr lang="en-IN"/>
          </a:p>
        </p:txBody>
      </p:sp>
    </p:spTree>
    <p:extLst>
      <p:ext uri="{BB962C8B-B14F-4D97-AF65-F5344CB8AC3E}">
        <p14:creationId xmlns:p14="http://schemas.microsoft.com/office/powerpoint/2010/main" val="2646166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2A40DBC-919C-478D-A97D-76B84417BECA}" type="datetimeFigureOut">
              <a:rPr lang="en-IN" smtClean="0"/>
              <a:t>21-02-2023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513EE9-F129-4285-832C-0F21BDA7C534}" type="slidenum">
              <a:rPr lang="en-IN" smtClean="0"/>
              <a:t>‹#›</a:t>
            </a:fld>
            <a:endParaRPr lang="en-IN"/>
          </a:p>
        </p:txBody>
      </p:sp>
    </p:spTree>
    <p:extLst>
      <p:ext uri="{BB962C8B-B14F-4D97-AF65-F5344CB8AC3E}">
        <p14:creationId xmlns:p14="http://schemas.microsoft.com/office/powerpoint/2010/main" val="2430951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2A40DBC-919C-478D-A97D-76B84417BECA}" type="datetimeFigureOut">
              <a:rPr lang="en-IN" smtClean="0"/>
              <a:t>21-02-2023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513EE9-F129-4285-832C-0F21BDA7C534}" type="slidenum">
              <a:rPr lang="en-IN" smtClean="0"/>
              <a:t>‹#›</a:t>
            </a:fld>
            <a:endParaRPr lang="en-IN"/>
          </a:p>
        </p:txBody>
      </p:sp>
    </p:spTree>
    <p:extLst>
      <p:ext uri="{BB962C8B-B14F-4D97-AF65-F5344CB8AC3E}">
        <p14:creationId xmlns:p14="http://schemas.microsoft.com/office/powerpoint/2010/main" val="3418310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2A40DBC-919C-478D-A97D-76B84417BECA}" type="datetimeFigureOut">
              <a:rPr lang="en-IN" smtClean="0"/>
              <a:t>21-02-2023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513EE9-F129-4285-832C-0F21BDA7C534}" type="slidenum">
              <a:rPr lang="en-IN" smtClean="0"/>
              <a:t>‹#›</a:t>
            </a:fld>
            <a:endParaRPr lang="en-IN"/>
          </a:p>
        </p:txBody>
      </p:sp>
    </p:spTree>
    <p:extLst>
      <p:ext uri="{BB962C8B-B14F-4D97-AF65-F5344CB8AC3E}">
        <p14:creationId xmlns:p14="http://schemas.microsoft.com/office/powerpoint/2010/main" val="1245703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2A40DBC-919C-478D-A97D-76B84417BECA}" type="datetimeFigureOut">
              <a:rPr lang="en-IN" smtClean="0"/>
              <a:t>21-02-2023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A513EE9-F129-4285-832C-0F21BDA7C534}" type="slidenum">
              <a:rPr lang="en-IN" smtClean="0"/>
              <a:t>‹#›</a:t>
            </a:fld>
            <a:endParaRPr lang="en-IN"/>
          </a:p>
        </p:txBody>
      </p:sp>
    </p:spTree>
    <p:extLst>
      <p:ext uri="{BB962C8B-B14F-4D97-AF65-F5344CB8AC3E}">
        <p14:creationId xmlns:p14="http://schemas.microsoft.com/office/powerpoint/2010/main" val="1784910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2A40DBC-919C-478D-A97D-76B84417BECA}" type="datetimeFigureOut">
              <a:rPr lang="en-IN" smtClean="0"/>
              <a:t>21-02-2023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A513EE9-F129-4285-832C-0F21BDA7C534}" type="slidenum">
              <a:rPr lang="en-IN" smtClean="0"/>
              <a:t>‹#›</a:t>
            </a:fld>
            <a:endParaRPr lang="en-IN"/>
          </a:p>
        </p:txBody>
      </p:sp>
    </p:spTree>
    <p:extLst>
      <p:ext uri="{BB962C8B-B14F-4D97-AF65-F5344CB8AC3E}">
        <p14:creationId xmlns:p14="http://schemas.microsoft.com/office/powerpoint/2010/main" val="4261300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A40DBC-919C-478D-A97D-76B84417BECA}" type="datetimeFigureOut">
              <a:rPr lang="en-IN" smtClean="0"/>
              <a:t>21-02-2023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A513EE9-F129-4285-832C-0F21BDA7C534}" type="slidenum">
              <a:rPr lang="en-IN" smtClean="0"/>
              <a:t>‹#›</a:t>
            </a:fld>
            <a:endParaRPr lang="en-IN"/>
          </a:p>
        </p:txBody>
      </p:sp>
    </p:spTree>
    <p:extLst>
      <p:ext uri="{BB962C8B-B14F-4D97-AF65-F5344CB8AC3E}">
        <p14:creationId xmlns:p14="http://schemas.microsoft.com/office/powerpoint/2010/main" val="3964272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2A40DBC-919C-478D-A97D-76B84417BECA}" type="datetimeFigureOut">
              <a:rPr lang="en-IN" smtClean="0"/>
              <a:t>21-02-2023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513EE9-F129-4285-832C-0F21BDA7C534}" type="slidenum">
              <a:rPr lang="en-IN" smtClean="0"/>
              <a:t>‹#›</a:t>
            </a:fld>
            <a:endParaRPr lang="en-IN"/>
          </a:p>
        </p:txBody>
      </p:sp>
    </p:spTree>
    <p:extLst>
      <p:ext uri="{BB962C8B-B14F-4D97-AF65-F5344CB8AC3E}">
        <p14:creationId xmlns:p14="http://schemas.microsoft.com/office/powerpoint/2010/main" val="865479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2A40DBC-919C-478D-A97D-76B84417BECA}" type="datetimeFigureOut">
              <a:rPr lang="en-IN" smtClean="0"/>
              <a:t>21-02-2023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513EE9-F129-4285-832C-0F21BDA7C534}" type="slidenum">
              <a:rPr lang="en-IN" smtClean="0"/>
              <a:t>‹#›</a:t>
            </a:fld>
            <a:endParaRPr lang="en-IN"/>
          </a:p>
        </p:txBody>
      </p:sp>
    </p:spTree>
    <p:extLst>
      <p:ext uri="{BB962C8B-B14F-4D97-AF65-F5344CB8AC3E}">
        <p14:creationId xmlns:p14="http://schemas.microsoft.com/office/powerpoint/2010/main" val="3001043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2A40DBC-919C-478D-A97D-76B84417BECA}" type="datetimeFigureOut">
              <a:rPr lang="en-IN" smtClean="0"/>
              <a:t>21-02-2023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513EE9-F129-4285-832C-0F21BDA7C534}" type="slidenum">
              <a:rPr lang="en-IN" smtClean="0"/>
              <a:t>‹#›</a:t>
            </a:fld>
            <a:endParaRPr lang="en-IN"/>
          </a:p>
        </p:txBody>
      </p:sp>
    </p:spTree>
    <p:extLst>
      <p:ext uri="{BB962C8B-B14F-4D97-AF65-F5344CB8AC3E}">
        <p14:creationId xmlns:p14="http://schemas.microsoft.com/office/powerpoint/2010/main" val="2639462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2A40DBC-919C-478D-A97D-76B84417BECA}" type="datetimeFigureOut">
              <a:rPr lang="en-IN" smtClean="0"/>
              <a:t>21-02-2023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513EE9-F129-4285-832C-0F21BDA7C534}" type="slidenum">
              <a:rPr lang="en-IN" smtClean="0"/>
              <a:t>‹#›</a:t>
            </a:fld>
            <a:endParaRPr lang="en-IN"/>
          </a:p>
        </p:txBody>
      </p:sp>
    </p:spTree>
    <p:extLst>
      <p:ext uri="{BB962C8B-B14F-4D97-AF65-F5344CB8AC3E}">
        <p14:creationId xmlns:p14="http://schemas.microsoft.com/office/powerpoint/2010/main" val="2257811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A40DBC-919C-478D-A97D-76B84417BECA}" type="datetimeFigureOut">
              <a:rPr lang="en-IN" smtClean="0"/>
              <a:t>21-02-2023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513EE9-F129-4285-832C-0F21BDA7C534}" type="slidenum">
              <a:rPr lang="en-IN" smtClean="0"/>
              <a:t>‹#›</a:t>
            </a:fld>
            <a:endParaRPr lang="en-IN"/>
          </a:p>
        </p:txBody>
      </p:sp>
    </p:spTree>
    <p:extLst>
      <p:ext uri="{BB962C8B-B14F-4D97-AF65-F5344CB8AC3E}">
        <p14:creationId xmlns:p14="http://schemas.microsoft.com/office/powerpoint/2010/main" val="1140174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t>Asymptotic Notation</a:t>
            </a:r>
            <a:endParaRPr lang="en-IN" dirty="0"/>
          </a:p>
        </p:txBody>
      </p:sp>
    </p:spTree>
    <p:extLst>
      <p:ext uri="{BB962C8B-B14F-4D97-AF65-F5344CB8AC3E}">
        <p14:creationId xmlns:p14="http://schemas.microsoft.com/office/powerpoint/2010/main" val="1966608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IN" sz="4800" b="1" dirty="0"/>
              <a:t>Asymptotic Notations</a:t>
            </a:r>
            <a:r>
              <a:rPr lang="en-IN" sz="4800" dirty="0"/>
              <a:t> are the expressions that are used to represent the complexity of an algorithm</a:t>
            </a:r>
            <a:r>
              <a:rPr lang="en-IN" sz="4800" dirty="0" smtClean="0"/>
              <a:t>.</a:t>
            </a:r>
          </a:p>
          <a:p>
            <a:pPr marL="0" indent="0" algn="just">
              <a:buNone/>
            </a:pPr>
            <a:endParaRPr lang="en-IN" sz="4800" dirty="0"/>
          </a:p>
          <a:p>
            <a:endParaRPr lang="en-IN" dirty="0"/>
          </a:p>
        </p:txBody>
      </p:sp>
    </p:spTree>
    <p:extLst>
      <p:ext uri="{BB962C8B-B14F-4D97-AF65-F5344CB8AC3E}">
        <p14:creationId xmlns:p14="http://schemas.microsoft.com/office/powerpoint/2010/main" val="318774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5766" y="872037"/>
            <a:ext cx="10515600" cy="4351338"/>
          </a:xfrm>
        </p:spPr>
        <p:txBody>
          <a:bodyPr/>
          <a:lstStyle/>
          <a:p>
            <a:pPr marL="0" indent="0">
              <a:buNone/>
            </a:pPr>
            <a:r>
              <a:rPr lang="en-IN" dirty="0" smtClean="0"/>
              <a:t>There </a:t>
            </a:r>
            <a:r>
              <a:rPr lang="en-IN" dirty="0"/>
              <a:t>are three </a:t>
            </a:r>
            <a:r>
              <a:rPr lang="en-IN" b="1" dirty="0"/>
              <a:t>types of analysis</a:t>
            </a:r>
            <a:r>
              <a:rPr lang="en-IN" dirty="0"/>
              <a:t> that we perform on a particular algorithm</a:t>
            </a:r>
            <a:r>
              <a:rPr lang="en-IN" dirty="0" smtClean="0"/>
              <a:t>.</a:t>
            </a:r>
          </a:p>
          <a:p>
            <a:r>
              <a:rPr lang="en-IN" b="1" dirty="0" smtClean="0"/>
              <a:t>Best </a:t>
            </a:r>
            <a:r>
              <a:rPr lang="en-IN" b="1" dirty="0"/>
              <a:t>Case</a:t>
            </a:r>
            <a:r>
              <a:rPr lang="en-IN" dirty="0"/>
              <a:t>: In which we analyse the performance of an algorithm for the input, for which the algorithm takes less time or space.</a:t>
            </a:r>
          </a:p>
          <a:p>
            <a:r>
              <a:rPr lang="en-IN" b="1" dirty="0"/>
              <a:t>Worst Case</a:t>
            </a:r>
            <a:r>
              <a:rPr lang="en-IN" dirty="0"/>
              <a:t>: In which we analyse the performance of an algorithm for the input, for which the algorithm takes long time or space.</a:t>
            </a:r>
          </a:p>
          <a:p>
            <a:r>
              <a:rPr lang="en-IN" b="1" dirty="0"/>
              <a:t>Average Case</a:t>
            </a:r>
            <a:r>
              <a:rPr lang="en-IN" dirty="0"/>
              <a:t>: In which we analyse the performance of an algorithm for the input, for which the algorithm takes time or space that lies between best and worst case.</a:t>
            </a:r>
          </a:p>
          <a:p>
            <a:endParaRPr lang="en-IN" dirty="0"/>
          </a:p>
        </p:txBody>
      </p:sp>
    </p:spTree>
    <p:extLst>
      <p:ext uri="{BB962C8B-B14F-4D97-AF65-F5344CB8AC3E}">
        <p14:creationId xmlns:p14="http://schemas.microsoft.com/office/powerpoint/2010/main" val="3248901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Data Structure Asymptotic Notation</a:t>
            </a:r>
            <a:r>
              <a:rPr lang="en-IN" dirty="0"/>
              <a:t/>
            </a:r>
            <a:br>
              <a:rPr lang="en-IN" dirty="0"/>
            </a:br>
            <a:endParaRPr lang="en-IN" dirty="0"/>
          </a:p>
        </p:txBody>
      </p:sp>
      <p:sp>
        <p:nvSpPr>
          <p:cNvPr id="3" name="Content Placeholder 2"/>
          <p:cNvSpPr>
            <a:spLocks noGrp="1"/>
          </p:cNvSpPr>
          <p:nvPr>
            <p:ph idx="1"/>
          </p:nvPr>
        </p:nvSpPr>
        <p:spPr/>
        <p:txBody>
          <a:bodyPr/>
          <a:lstStyle/>
          <a:p>
            <a:pPr marL="0" indent="0">
              <a:buNone/>
            </a:pPr>
            <a:r>
              <a:rPr lang="en-IN" dirty="0"/>
              <a:t>1. </a:t>
            </a:r>
            <a:r>
              <a:rPr lang="en-IN" b="1" dirty="0"/>
              <a:t>Big-O Notation (Ο) </a:t>
            </a:r>
            <a:r>
              <a:rPr lang="en-IN" dirty="0"/>
              <a:t>– Big O notation specifically describes worst case scenario.</a:t>
            </a:r>
            <a:br>
              <a:rPr lang="en-IN" dirty="0"/>
            </a:br>
            <a:r>
              <a:rPr lang="en-IN" dirty="0"/>
              <a:t>2. </a:t>
            </a:r>
            <a:r>
              <a:rPr lang="en-IN" b="1" dirty="0"/>
              <a:t>Omega Notation (Ω) </a:t>
            </a:r>
            <a:r>
              <a:rPr lang="en-IN" dirty="0"/>
              <a:t>– Omega(Ω) notation specifically describes best case scenario.</a:t>
            </a:r>
            <a:br>
              <a:rPr lang="en-IN" dirty="0"/>
            </a:br>
            <a:r>
              <a:rPr lang="en-IN" dirty="0"/>
              <a:t>3. </a:t>
            </a:r>
            <a:r>
              <a:rPr lang="en-IN" b="1" dirty="0"/>
              <a:t>Theta Notation (θ) </a:t>
            </a:r>
            <a:r>
              <a:rPr lang="en-IN" dirty="0"/>
              <a:t>– This notation represents the average complexity of an algorithm.</a:t>
            </a:r>
          </a:p>
        </p:txBody>
      </p:sp>
    </p:spTree>
    <p:extLst>
      <p:ext uri="{BB962C8B-B14F-4D97-AF65-F5344CB8AC3E}">
        <p14:creationId xmlns:p14="http://schemas.microsoft.com/office/powerpoint/2010/main" val="3294741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Big-O Notation (Ο)</a:t>
            </a:r>
            <a:r>
              <a:rPr lang="en-IN" dirty="0"/>
              <a:t/>
            </a:r>
            <a:br>
              <a:rPr lang="en-IN" dirty="0"/>
            </a:br>
            <a:endParaRPr lang="en-IN" dirty="0"/>
          </a:p>
        </p:txBody>
      </p:sp>
      <p:sp>
        <p:nvSpPr>
          <p:cNvPr id="3" name="Content Placeholder 2"/>
          <p:cNvSpPr>
            <a:spLocks noGrp="1"/>
          </p:cNvSpPr>
          <p:nvPr>
            <p:ph idx="1"/>
          </p:nvPr>
        </p:nvSpPr>
        <p:spPr/>
        <p:txBody>
          <a:bodyPr/>
          <a:lstStyle/>
          <a:p>
            <a:r>
              <a:rPr lang="en-IN" dirty="0"/>
              <a:t>Big O notation specifically describes worst case scenario. It represents the upper bound running time complexity of an algorithm. </a:t>
            </a:r>
            <a:endParaRPr lang="en-IN" dirty="0" smtClean="0"/>
          </a:p>
          <a:p>
            <a:r>
              <a:rPr lang="en-IN" dirty="0"/>
              <a:t>Lets take few examples to understand how we represent the time and space complexity using </a:t>
            </a:r>
            <a:r>
              <a:rPr lang="en-IN" b="1" dirty="0"/>
              <a:t>Big O notation</a:t>
            </a:r>
            <a:r>
              <a:rPr lang="en-IN" dirty="0"/>
              <a:t>.</a:t>
            </a:r>
          </a:p>
          <a:p>
            <a:r>
              <a:rPr lang="en-IN" b="1" dirty="0"/>
              <a:t>O(1) </a:t>
            </a:r>
            <a:r>
              <a:rPr lang="en-IN" dirty="0"/>
              <a:t/>
            </a:r>
            <a:br>
              <a:rPr lang="en-IN" dirty="0"/>
            </a:br>
            <a:r>
              <a:rPr lang="en-IN" dirty="0"/>
              <a:t>The following step will always execute in same time(or space) regardless of the size of input data.</a:t>
            </a:r>
          </a:p>
          <a:p>
            <a:endParaRPr lang="en-IN" dirty="0"/>
          </a:p>
        </p:txBody>
      </p:sp>
    </p:spTree>
    <p:extLst>
      <p:ext uri="{BB962C8B-B14F-4D97-AF65-F5344CB8AC3E}">
        <p14:creationId xmlns:p14="http://schemas.microsoft.com/office/powerpoint/2010/main" val="1629184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O(n</a:t>
            </a:r>
            <a:r>
              <a:rPr lang="en-IN" b="1" dirty="0" smtClean="0"/>
              <a:t>)</a:t>
            </a:r>
            <a:r>
              <a:rPr lang="en-IN" dirty="0"/>
              <a:t/>
            </a:r>
            <a:br>
              <a:rPr lang="en-IN" dirty="0"/>
            </a:br>
            <a:r>
              <a:rPr lang="en-IN" dirty="0"/>
              <a:t>The execution time will depend on the size of array. When the size of the array increases, the execution time will also increase in the same proportion (linearly</a:t>
            </a:r>
            <a:r>
              <a:rPr lang="en-IN" dirty="0" smtClean="0"/>
              <a:t>)</a:t>
            </a:r>
          </a:p>
          <a:p>
            <a:r>
              <a:rPr lang="en-IN" b="1" dirty="0"/>
              <a:t>O(n^2)</a:t>
            </a:r>
            <a:endParaRPr lang="en-IN" dirty="0"/>
          </a:p>
          <a:p>
            <a:r>
              <a:rPr lang="en-IN" dirty="0"/>
              <a:t>Big O notation O(n^2) represents the complexity of an algorithm, whose performance is directly proportional to the square of the size of the input data.</a:t>
            </a:r>
          </a:p>
          <a:p>
            <a:endParaRPr lang="en-IN" dirty="0"/>
          </a:p>
          <a:p>
            <a:endParaRPr lang="en-IN" dirty="0"/>
          </a:p>
        </p:txBody>
      </p:sp>
    </p:spTree>
    <p:extLst>
      <p:ext uri="{BB962C8B-B14F-4D97-AF65-F5344CB8AC3E}">
        <p14:creationId xmlns:p14="http://schemas.microsoft.com/office/powerpoint/2010/main" val="2018858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Similarly there are other Big O notations such as:</a:t>
            </a:r>
            <a:br>
              <a:rPr lang="en-IN" dirty="0"/>
            </a:br>
            <a:r>
              <a:rPr lang="en-IN" dirty="0"/>
              <a:t>logarithmic growth O(log n), log-linear growth O(n log n), exponential growth O(2^n) and factorial growth O(n!).</a:t>
            </a:r>
          </a:p>
          <a:p>
            <a:endParaRPr lang="en-IN" dirty="0"/>
          </a:p>
        </p:txBody>
      </p:sp>
    </p:spTree>
    <p:extLst>
      <p:ext uri="{BB962C8B-B14F-4D97-AF65-F5344CB8AC3E}">
        <p14:creationId xmlns:p14="http://schemas.microsoft.com/office/powerpoint/2010/main" val="2849287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sz="4400" dirty="0"/>
              <a:t>O(1) &lt; O(log n) &lt; O (n) &lt; O(n log n) &lt; O(n^2) &lt; O (n^3)&lt; O(2^n) &lt; O(n!)</a:t>
            </a:r>
          </a:p>
          <a:p>
            <a:endParaRPr lang="en-IN" sz="4400" dirty="0"/>
          </a:p>
        </p:txBody>
      </p:sp>
    </p:spTree>
    <p:extLst>
      <p:ext uri="{BB962C8B-B14F-4D97-AF65-F5344CB8AC3E}">
        <p14:creationId xmlns:p14="http://schemas.microsoft.com/office/powerpoint/2010/main" val="2316009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162594" y="1188720"/>
            <a:ext cx="9117875" cy="4808061"/>
          </a:xfrm>
          <a:prstGeom prst="rect">
            <a:avLst/>
          </a:prstGeom>
        </p:spPr>
      </p:pic>
    </p:spTree>
    <p:extLst>
      <p:ext uri="{BB962C8B-B14F-4D97-AF65-F5344CB8AC3E}">
        <p14:creationId xmlns:p14="http://schemas.microsoft.com/office/powerpoint/2010/main" val="307716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Omega Notation (Ω)</a:t>
            </a:r>
            <a:r>
              <a:rPr lang="en-IN" dirty="0"/>
              <a:t/>
            </a:r>
            <a:br>
              <a:rPr lang="en-IN" dirty="0"/>
            </a:br>
            <a:endParaRPr lang="en-IN" dirty="0"/>
          </a:p>
        </p:txBody>
      </p:sp>
      <p:sp>
        <p:nvSpPr>
          <p:cNvPr id="3" name="Content Placeholder 2"/>
          <p:cNvSpPr>
            <a:spLocks noGrp="1"/>
          </p:cNvSpPr>
          <p:nvPr>
            <p:ph idx="1"/>
          </p:nvPr>
        </p:nvSpPr>
        <p:spPr/>
        <p:txBody>
          <a:bodyPr/>
          <a:lstStyle/>
          <a:p>
            <a:pPr algn="just"/>
            <a:r>
              <a:rPr lang="en-IN" dirty="0"/>
              <a:t>Omega notation specifically describes best case scenario. </a:t>
            </a:r>
            <a:endParaRPr lang="en-IN" dirty="0" smtClean="0"/>
          </a:p>
          <a:p>
            <a:pPr algn="just"/>
            <a:r>
              <a:rPr lang="en-IN" dirty="0" smtClean="0"/>
              <a:t>It </a:t>
            </a:r>
            <a:r>
              <a:rPr lang="en-IN" dirty="0"/>
              <a:t>represents the lower bound running time complexity of an algorithm. </a:t>
            </a:r>
            <a:endParaRPr lang="en-IN" dirty="0" smtClean="0"/>
          </a:p>
          <a:p>
            <a:pPr algn="just"/>
            <a:r>
              <a:rPr lang="en-IN" dirty="0" smtClean="0"/>
              <a:t>So </a:t>
            </a:r>
            <a:r>
              <a:rPr lang="en-IN" dirty="0"/>
              <a:t>if we represent a complexity of an algorithm in Omega notation, it means that the </a:t>
            </a:r>
            <a:r>
              <a:rPr lang="en-IN" b="1" dirty="0"/>
              <a:t>algorithm cannot be completed in less time than this</a:t>
            </a:r>
            <a:r>
              <a:rPr lang="en-IN" dirty="0"/>
              <a:t>, it would at-least take the time represented by Omega notation or it can take more (when not in best case scenario).</a:t>
            </a:r>
            <a:br>
              <a:rPr lang="en-IN" dirty="0"/>
            </a:br>
            <a:endParaRPr lang="en-IN" dirty="0"/>
          </a:p>
        </p:txBody>
      </p:sp>
    </p:spTree>
    <p:extLst>
      <p:ext uri="{BB962C8B-B14F-4D97-AF65-F5344CB8AC3E}">
        <p14:creationId xmlns:p14="http://schemas.microsoft.com/office/powerpoint/2010/main" val="433318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757487" y="2082006"/>
            <a:ext cx="6677025" cy="3838575"/>
          </a:xfrm>
          <a:prstGeom prst="rect">
            <a:avLst/>
          </a:prstGeom>
        </p:spPr>
      </p:pic>
    </p:spTree>
    <p:extLst>
      <p:ext uri="{BB962C8B-B14F-4D97-AF65-F5344CB8AC3E}">
        <p14:creationId xmlns:p14="http://schemas.microsoft.com/office/powerpoint/2010/main" val="379327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Theta Notation (θ)</a:t>
            </a:r>
            <a:r>
              <a:rPr lang="en-IN" dirty="0"/>
              <a:t/>
            </a:r>
            <a:br>
              <a:rPr lang="en-IN" dirty="0"/>
            </a:br>
            <a:endParaRPr lang="en-IN" dirty="0"/>
          </a:p>
        </p:txBody>
      </p:sp>
      <p:sp>
        <p:nvSpPr>
          <p:cNvPr id="3" name="Content Placeholder 2"/>
          <p:cNvSpPr>
            <a:spLocks noGrp="1"/>
          </p:cNvSpPr>
          <p:nvPr>
            <p:ph idx="1"/>
          </p:nvPr>
        </p:nvSpPr>
        <p:spPr/>
        <p:txBody>
          <a:bodyPr/>
          <a:lstStyle/>
          <a:p>
            <a:r>
              <a:rPr lang="en-IN" dirty="0"/>
              <a:t>This notation describes both upper bound and lower bound of an algorithm so we can say that it defines exact asymptotic behaviour. </a:t>
            </a:r>
            <a:endParaRPr lang="en-IN" dirty="0" smtClean="0"/>
          </a:p>
          <a:p>
            <a:r>
              <a:rPr lang="en-IN" dirty="0" smtClean="0"/>
              <a:t>In </a:t>
            </a:r>
            <a:r>
              <a:rPr lang="en-IN" dirty="0"/>
              <a:t>the real case scenario the algorithm not always run on best and worst cases, the average running time lies between best and worst and can be represented by the theta notation.</a:t>
            </a:r>
            <a:br>
              <a:rPr lang="en-IN" dirty="0"/>
            </a:br>
            <a:endParaRPr lang="en-IN" dirty="0"/>
          </a:p>
        </p:txBody>
      </p:sp>
    </p:spTree>
    <p:extLst>
      <p:ext uri="{BB962C8B-B14F-4D97-AF65-F5344CB8AC3E}">
        <p14:creationId xmlns:p14="http://schemas.microsoft.com/office/powerpoint/2010/main" val="1559548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32411" y="836023"/>
            <a:ext cx="9379132" cy="5055983"/>
          </a:xfrm>
          <a:prstGeom prst="rect">
            <a:avLst/>
          </a:prstGeom>
        </p:spPr>
      </p:pic>
    </p:spTree>
    <p:extLst>
      <p:ext uri="{BB962C8B-B14F-4D97-AF65-F5344CB8AC3E}">
        <p14:creationId xmlns:p14="http://schemas.microsoft.com/office/powerpoint/2010/main" val="2038938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516</Words>
  <Application>Microsoft Office PowerPoint</Application>
  <PresentationFormat>Widescreen</PresentationFormat>
  <Paragraphs>24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Asymptotic Notation</vt:lpstr>
      <vt:lpstr>PowerPoint Presentation</vt:lpstr>
      <vt:lpstr>PowerPoint Presentation</vt:lpstr>
      <vt:lpstr>Types of Data Structure Asymptotic Notation </vt:lpstr>
      <vt:lpstr>Big-O Notation (Ο) </vt:lpstr>
      <vt:lpstr>PowerPoint Presentation</vt:lpstr>
      <vt:lpstr>PowerPoint Presentation</vt:lpstr>
      <vt:lpstr>PowerPoint Presentation</vt:lpstr>
      <vt:lpstr>PowerPoint Presentation</vt:lpstr>
      <vt:lpstr>Omega Notation (Ω) </vt:lpstr>
      <vt:lpstr>PowerPoint Presentation</vt:lpstr>
      <vt:lpstr>Theta Notation (θ)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Asymptotic Notation</dc:title>
  <dc:creator>ADMIN</dc:creator>
  <cp:lastModifiedBy>ADMIN</cp:lastModifiedBy>
  <cp:revision>3</cp:revision>
  <dcterms:created xsi:type="dcterms:W3CDTF">2023-02-21T17:13:03Z</dcterms:created>
  <dcterms:modified xsi:type="dcterms:W3CDTF">2023-02-21T17:28:15Z</dcterms:modified>
</cp:coreProperties>
</file>