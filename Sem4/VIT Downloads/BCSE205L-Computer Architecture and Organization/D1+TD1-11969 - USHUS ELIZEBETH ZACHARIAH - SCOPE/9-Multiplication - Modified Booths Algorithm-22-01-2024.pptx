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  <p:sldMasterId id="2147483804" r:id="rId2"/>
    <p:sldMasterId id="2147483816" r:id="rId3"/>
    <p:sldMasterId id="2147483828" r:id="rId4"/>
  </p:sldMasterIdLst>
  <p:sldIdLst>
    <p:sldId id="256" r:id="rId5"/>
    <p:sldId id="257" r:id="rId6"/>
    <p:sldId id="258" r:id="rId7"/>
    <p:sldId id="259" r:id="rId8"/>
    <p:sldId id="261" r:id="rId9"/>
    <p:sldId id="274" r:id="rId10"/>
    <p:sldId id="262" r:id="rId11"/>
    <p:sldId id="278" r:id="rId12"/>
    <p:sldId id="267" r:id="rId13"/>
    <p:sldId id="264" r:id="rId14"/>
    <p:sldId id="265" r:id="rId15"/>
    <p:sldId id="272" r:id="rId16"/>
    <p:sldId id="275" r:id="rId17"/>
    <p:sldId id="273" r:id="rId18"/>
    <p:sldId id="270" r:id="rId19"/>
    <p:sldId id="263" r:id="rId20"/>
    <p:sldId id="276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717" autoAdjust="0"/>
  </p:normalViewPr>
  <p:slideViewPr>
    <p:cSldViewPr>
      <p:cViewPr>
        <p:scale>
          <a:sx n="66" d="100"/>
          <a:sy n="66" d="100"/>
        </p:scale>
        <p:origin x="-14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932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815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714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703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029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265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3388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242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1211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241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445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6077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553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149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1151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2426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856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497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698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411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31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478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3936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9939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0995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892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620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8801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5290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2453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97139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941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758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DE5A0762-B7F4-4DA4-BE2A-4E91B0C4D1BC}" type="datetimeFigureOut">
              <a:rPr lang="en-IN" smtClean="0"/>
              <a:t>18-01-2024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1F7E3A10-6D86-4CAE-A267-D98AE663A79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572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03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3BDF9-BF6B-4147-8CCC-F018D4582C31}" type="datetimeFigureOut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18-01-2024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3E93-6846-47E8-896F-33A5781A3784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70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13185"/>
            <a:ext cx="7772400" cy="4571999"/>
          </a:xfrm>
        </p:spPr>
        <p:txBody>
          <a:bodyPr/>
          <a:lstStyle/>
          <a:p>
            <a:r>
              <a:rPr lang="en-IN" sz="60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M</a:t>
            </a:r>
            <a:r>
              <a:rPr lang="en-IN" sz="40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odified</a:t>
            </a:r>
            <a:r>
              <a:rPr lang="en-IN" sz="60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 B</a:t>
            </a:r>
            <a:r>
              <a:rPr lang="en-IN" sz="40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ooth’s</a:t>
            </a:r>
            <a:r>
              <a:rPr lang="en-IN" sz="60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 A</a:t>
            </a:r>
            <a:r>
              <a:rPr lang="en-IN" sz="40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lgorithm</a:t>
            </a:r>
            <a:endParaRPr lang="en-IN" sz="4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192" y="5661248"/>
            <a:ext cx="2664296" cy="432048"/>
          </a:xfrm>
        </p:spPr>
        <p:txBody>
          <a:bodyPr>
            <a:normAutofit/>
          </a:bodyPr>
          <a:lstStyle/>
          <a:p>
            <a:r>
              <a:rPr lang="en-IN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Ushus E Zachariah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20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70C0"/>
                </a:solidFill>
              </a:rPr>
              <a:t>O</a:t>
            </a:r>
            <a:r>
              <a:rPr lang="en-IN" sz="2400" dirty="0" smtClean="0">
                <a:solidFill>
                  <a:srgbClr val="0070C0"/>
                </a:solidFill>
              </a:rPr>
              <a:t>verview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smtClean="0"/>
              <a:t>Recap – Booth’s Multiplication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smtClean="0"/>
              <a:t>Modified Booth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03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427168" cy="900018"/>
          </a:xfrm>
        </p:spPr>
        <p:txBody>
          <a:bodyPr>
            <a:normAutofit/>
          </a:bodyPr>
          <a:lstStyle/>
          <a:p>
            <a:r>
              <a:rPr lang="en-IN" sz="2400" dirty="0" smtClean="0">
                <a:solidFill>
                  <a:srgbClr val="0070C0"/>
                </a:solidFill>
              </a:rPr>
              <a:t>B</a:t>
            </a:r>
            <a:r>
              <a:rPr lang="en-IN" sz="2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ooth’s</a:t>
            </a:r>
            <a:r>
              <a:rPr lang="en-IN" sz="2400" dirty="0" smtClean="0">
                <a:solidFill>
                  <a:srgbClr val="0070C0"/>
                </a:solidFill>
              </a:rPr>
              <a:t> M</a:t>
            </a:r>
            <a:r>
              <a:rPr lang="en-IN" sz="1800" dirty="0" smtClean="0">
                <a:solidFill>
                  <a:srgbClr val="0070C0"/>
                </a:solidFill>
              </a:rPr>
              <a:t>ultiplication</a:t>
            </a:r>
            <a:r>
              <a:rPr lang="en-IN" sz="2400" dirty="0" smtClean="0">
                <a:solidFill>
                  <a:srgbClr val="0070C0"/>
                </a:solidFill>
              </a:rPr>
              <a:t>  A</a:t>
            </a:r>
            <a:r>
              <a:rPr lang="en-IN" sz="2000" dirty="0" smtClean="0">
                <a:solidFill>
                  <a:srgbClr val="0070C0"/>
                </a:solidFill>
              </a:rPr>
              <a:t>lgorithm</a:t>
            </a:r>
            <a:endParaRPr lang="en-IN" sz="20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9"/>
            <a:ext cx="8856984" cy="551723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H="1">
            <a:off x="2090738" y="2133600"/>
            <a:ext cx="4448175" cy="1588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3870325" y="2095500"/>
            <a:ext cx="1588" cy="2982913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H="1">
            <a:off x="2090738" y="5116513"/>
            <a:ext cx="4448175" cy="1587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2090738" y="2735263"/>
            <a:ext cx="1779587" cy="1587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H="1">
            <a:off x="2090738" y="3338513"/>
            <a:ext cx="4448175" cy="1587"/>
          </a:xfrm>
          <a:prstGeom prst="line">
            <a:avLst/>
          </a:prstGeom>
          <a:noFill/>
          <a:ln w="25400">
            <a:solidFill>
              <a:srgbClr val="0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484438" y="2292350"/>
            <a:ext cx="9699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Multiplier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327275" y="2867025"/>
            <a:ext cx="28098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Bit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2665413" y="2867025"/>
            <a:ext cx="53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 i="1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033713" y="2867025"/>
            <a:ext cx="2809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Bit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3371850" y="2863850"/>
            <a:ext cx="53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 i="1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532188" y="2876550"/>
            <a:ext cx="127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3451225" y="2863850"/>
            <a:ext cx="8096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079875" y="2422525"/>
            <a:ext cx="1603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V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237038" y="2422525"/>
            <a:ext cx="22748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ersion of multiplicand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4446588" y="2684463"/>
            <a:ext cx="1546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selected by bit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5884863" y="2684463"/>
            <a:ext cx="539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 i="1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i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2457450" y="33909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3346450" y="38354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3346450" y="33909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2457450" y="38354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3346450" y="42799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2457450" y="42799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2457450" y="47244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3346450" y="4724400"/>
            <a:ext cx="1349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4891088" y="3416300"/>
            <a:ext cx="1349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5257800" y="3416300"/>
            <a:ext cx="27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 M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0" name="Rectangle 31"/>
          <p:cNvSpPr>
            <a:spLocks noChangeArrowheads="1"/>
          </p:cNvSpPr>
          <p:nvPr/>
        </p:nvSpPr>
        <p:spPr bwMode="auto">
          <a:xfrm>
            <a:off x="4891088" y="3860800"/>
            <a:ext cx="1349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1" name="Rectangle 32"/>
          <p:cNvSpPr>
            <a:spLocks noChangeArrowheads="1"/>
          </p:cNvSpPr>
          <p:nvPr/>
        </p:nvSpPr>
        <p:spPr bwMode="auto">
          <a:xfrm>
            <a:off x="4706938" y="3860800"/>
            <a:ext cx="14128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2" name="Rectangle 33"/>
          <p:cNvSpPr>
            <a:spLocks noChangeArrowheads="1"/>
          </p:cNvSpPr>
          <p:nvPr/>
        </p:nvSpPr>
        <p:spPr bwMode="auto">
          <a:xfrm>
            <a:off x="5257800" y="3860800"/>
            <a:ext cx="27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 M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3" name="Rectangle 35"/>
          <p:cNvSpPr>
            <a:spLocks noChangeArrowheads="1"/>
          </p:cNvSpPr>
          <p:nvPr/>
        </p:nvSpPr>
        <p:spPr bwMode="auto">
          <a:xfrm>
            <a:off x="4891088" y="4306888"/>
            <a:ext cx="1349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4" name="Rectangle 36"/>
          <p:cNvSpPr>
            <a:spLocks noChangeArrowheads="1"/>
          </p:cNvSpPr>
          <p:nvPr/>
        </p:nvSpPr>
        <p:spPr bwMode="auto">
          <a:xfrm>
            <a:off x="4710113" y="4322763"/>
            <a:ext cx="13176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CA" sz="1900">
                <a:solidFill>
                  <a:srgbClr val="000000"/>
                </a:solidFill>
                <a:latin typeface="Nimbus Roman No9 L"/>
                <a:ea typeface="SimSun" pitchFamily="2" charset="-122"/>
                <a:sym typeface="Symbol" pitchFamily="18" charset="2"/>
              </a:rPr>
              <a:t></a:t>
            </a:r>
            <a:endParaRPr lang="zh-CN" altLang="en-CA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5" name="Rectangle 37"/>
          <p:cNvSpPr>
            <a:spLocks noChangeArrowheads="1"/>
          </p:cNvSpPr>
          <p:nvPr/>
        </p:nvSpPr>
        <p:spPr bwMode="auto">
          <a:xfrm>
            <a:off x="5257800" y="4306888"/>
            <a:ext cx="27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 M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4891088" y="4751388"/>
            <a:ext cx="1349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7" name="Rectangle 40"/>
          <p:cNvSpPr>
            <a:spLocks noChangeArrowheads="1"/>
          </p:cNvSpPr>
          <p:nvPr/>
        </p:nvSpPr>
        <p:spPr bwMode="auto">
          <a:xfrm>
            <a:off x="5257800" y="4751388"/>
            <a:ext cx="271463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9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 M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8" name="Rectangle 42"/>
          <p:cNvSpPr>
            <a:spLocks noChangeArrowheads="1"/>
          </p:cNvSpPr>
          <p:nvPr/>
        </p:nvSpPr>
        <p:spPr bwMode="auto">
          <a:xfrm>
            <a:off x="2026444" y="6062663"/>
            <a:ext cx="36877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21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Booth multiplier recoding table.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9" name="Text Box 177"/>
          <p:cNvSpPr txBox="1">
            <a:spLocks noChangeArrowheads="1"/>
          </p:cNvSpPr>
          <p:nvPr/>
        </p:nvSpPr>
        <p:spPr bwMode="auto">
          <a:xfrm>
            <a:off x="5029200" y="33528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X</a:t>
            </a:r>
            <a:endParaRPr lang="en-US" altLang="zh-CN">
              <a:latin typeface="Cambria" pitchFamily="18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40" name="Text Box 178"/>
          <p:cNvSpPr txBox="1">
            <a:spLocks noChangeArrowheads="1"/>
          </p:cNvSpPr>
          <p:nvPr/>
        </p:nvSpPr>
        <p:spPr bwMode="auto">
          <a:xfrm>
            <a:off x="5029200" y="3810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X</a:t>
            </a:r>
            <a:endParaRPr lang="en-US" altLang="zh-CN">
              <a:latin typeface="Cambria" pitchFamily="18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41" name="Text Box 179"/>
          <p:cNvSpPr txBox="1">
            <a:spLocks noChangeArrowheads="1"/>
          </p:cNvSpPr>
          <p:nvPr/>
        </p:nvSpPr>
        <p:spPr bwMode="auto">
          <a:xfrm>
            <a:off x="50292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X</a:t>
            </a:r>
            <a:endParaRPr lang="en-US" altLang="zh-CN">
              <a:latin typeface="Cambria" pitchFamily="18" charset="0"/>
              <a:ea typeface="SimSun" pitchFamily="2" charset="-122"/>
              <a:cs typeface="Arial" pitchFamily="34" charset="0"/>
            </a:endParaRPr>
          </a:p>
        </p:txBody>
      </p:sp>
      <p:sp>
        <p:nvSpPr>
          <p:cNvPr id="42" name="Text Box 180"/>
          <p:cNvSpPr txBox="1">
            <a:spLocks noChangeArrowheads="1"/>
          </p:cNvSpPr>
          <p:nvPr/>
        </p:nvSpPr>
        <p:spPr bwMode="auto">
          <a:xfrm>
            <a:off x="5029200" y="47244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X</a:t>
            </a:r>
            <a:endParaRPr lang="en-US" altLang="zh-CN">
              <a:latin typeface="Cambria" pitchFamily="18" charset="0"/>
              <a:ea typeface="SimSun" pitchFamily="2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03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70C0"/>
                </a:solidFill>
              </a:rPr>
              <a:t>E</a:t>
            </a:r>
            <a:r>
              <a:rPr lang="en-IN" sz="2400" dirty="0" smtClean="0">
                <a:solidFill>
                  <a:srgbClr val="0070C0"/>
                </a:solidFill>
              </a:rPr>
              <a:t>xample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828800" y="5105400"/>
            <a:ext cx="41243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6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Booth multiplication with a negative multiplier.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584825" y="31845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5337175" y="31845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596063" y="29368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4325938" y="31845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573588" y="31845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21238" y="31845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089525" y="31845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832475" y="31845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100763" y="31845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6348413" y="31845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4325938" y="29368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 dirty="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 dirty="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573588" y="29368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821238" y="29368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5089525" y="29368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5337175" y="29368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 dirty="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 dirty="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5584825" y="29368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5832475" y="29368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6100763" y="29368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3" name="Rectangle 23"/>
          <p:cNvSpPr>
            <a:spLocks noChangeArrowheads="1"/>
          </p:cNvSpPr>
          <p:nvPr/>
        </p:nvSpPr>
        <p:spPr bwMode="auto">
          <a:xfrm>
            <a:off x="6348413" y="29368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6596063" y="26066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5" name="Rectangle 25"/>
          <p:cNvSpPr>
            <a:spLocks noChangeArrowheads="1"/>
          </p:cNvSpPr>
          <p:nvPr/>
        </p:nvSpPr>
        <p:spPr bwMode="auto">
          <a:xfrm>
            <a:off x="5584825" y="26066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6348413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6100763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5832475" y="23590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9" name="Rectangle 29"/>
          <p:cNvSpPr>
            <a:spLocks noChangeArrowheads="1"/>
          </p:cNvSpPr>
          <p:nvPr/>
        </p:nvSpPr>
        <p:spPr bwMode="auto">
          <a:xfrm>
            <a:off x="5584825" y="23590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0" name="Rectangle 30"/>
          <p:cNvSpPr>
            <a:spLocks noChangeArrowheads="1"/>
          </p:cNvSpPr>
          <p:nvPr/>
        </p:nvSpPr>
        <p:spPr bwMode="auto">
          <a:xfrm>
            <a:off x="4325938" y="34321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1" name="Rectangle 31"/>
          <p:cNvSpPr>
            <a:spLocks noChangeArrowheads="1"/>
          </p:cNvSpPr>
          <p:nvPr/>
        </p:nvSpPr>
        <p:spPr bwMode="auto">
          <a:xfrm>
            <a:off x="4573588" y="34321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2" name="Rectangle 32"/>
          <p:cNvSpPr>
            <a:spLocks noChangeArrowheads="1"/>
          </p:cNvSpPr>
          <p:nvPr/>
        </p:nvSpPr>
        <p:spPr bwMode="auto">
          <a:xfrm>
            <a:off x="4821238" y="34321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3" name="Rectangle 33"/>
          <p:cNvSpPr>
            <a:spLocks noChangeArrowheads="1"/>
          </p:cNvSpPr>
          <p:nvPr/>
        </p:nvSpPr>
        <p:spPr bwMode="auto">
          <a:xfrm>
            <a:off x="5089525" y="34321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4" name="Rectangle 34"/>
          <p:cNvSpPr>
            <a:spLocks noChangeArrowheads="1"/>
          </p:cNvSpPr>
          <p:nvPr/>
        </p:nvSpPr>
        <p:spPr bwMode="auto">
          <a:xfrm>
            <a:off x="5337175" y="34321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5" name="Rectangle 35"/>
          <p:cNvSpPr>
            <a:spLocks noChangeArrowheads="1"/>
          </p:cNvSpPr>
          <p:nvPr/>
        </p:nvSpPr>
        <p:spPr bwMode="auto">
          <a:xfrm>
            <a:off x="5584825" y="34321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6" name="Rectangle 36"/>
          <p:cNvSpPr>
            <a:spLocks noChangeArrowheads="1"/>
          </p:cNvSpPr>
          <p:nvPr/>
        </p:nvSpPr>
        <p:spPr bwMode="auto">
          <a:xfrm>
            <a:off x="5832475" y="34321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7" name="Rectangle 37"/>
          <p:cNvSpPr>
            <a:spLocks noChangeArrowheads="1"/>
          </p:cNvSpPr>
          <p:nvPr/>
        </p:nvSpPr>
        <p:spPr bwMode="auto">
          <a:xfrm>
            <a:off x="5832475" y="36798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8" name="Rectangle 38"/>
          <p:cNvSpPr>
            <a:spLocks noChangeArrowheads="1"/>
          </p:cNvSpPr>
          <p:nvPr/>
        </p:nvSpPr>
        <p:spPr bwMode="auto">
          <a:xfrm>
            <a:off x="5584825" y="36798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9" name="Rectangle 39"/>
          <p:cNvSpPr>
            <a:spLocks noChangeArrowheads="1"/>
          </p:cNvSpPr>
          <p:nvPr/>
        </p:nvSpPr>
        <p:spPr bwMode="auto">
          <a:xfrm>
            <a:off x="5337175" y="36798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0" name="Rectangle 40"/>
          <p:cNvSpPr>
            <a:spLocks noChangeArrowheads="1"/>
          </p:cNvSpPr>
          <p:nvPr/>
        </p:nvSpPr>
        <p:spPr bwMode="auto">
          <a:xfrm>
            <a:off x="5089525" y="36798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1" name="Rectangle 41"/>
          <p:cNvSpPr>
            <a:spLocks noChangeArrowheads="1"/>
          </p:cNvSpPr>
          <p:nvPr/>
        </p:nvSpPr>
        <p:spPr bwMode="auto">
          <a:xfrm>
            <a:off x="4821238" y="36798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2" name="Rectangle 42"/>
          <p:cNvSpPr>
            <a:spLocks noChangeArrowheads="1"/>
          </p:cNvSpPr>
          <p:nvPr/>
        </p:nvSpPr>
        <p:spPr bwMode="auto">
          <a:xfrm>
            <a:off x="4573588" y="36798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3" name="Rectangle 43"/>
          <p:cNvSpPr>
            <a:spLocks noChangeArrowheads="1"/>
          </p:cNvSpPr>
          <p:nvPr/>
        </p:nvSpPr>
        <p:spPr bwMode="auto">
          <a:xfrm>
            <a:off x="4325938" y="36798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4" name="Rectangle 44"/>
          <p:cNvSpPr>
            <a:spLocks noChangeArrowheads="1"/>
          </p:cNvSpPr>
          <p:nvPr/>
        </p:nvSpPr>
        <p:spPr bwMode="auto">
          <a:xfrm>
            <a:off x="4325938" y="39497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FFFF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5" name="Rectangle 45"/>
          <p:cNvSpPr>
            <a:spLocks noChangeArrowheads="1"/>
          </p:cNvSpPr>
          <p:nvPr/>
        </p:nvSpPr>
        <p:spPr bwMode="auto">
          <a:xfrm>
            <a:off x="4573588" y="39497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4821238" y="3949700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7" name="Rectangle 47"/>
          <p:cNvSpPr>
            <a:spLocks noChangeArrowheads="1"/>
          </p:cNvSpPr>
          <p:nvPr/>
        </p:nvSpPr>
        <p:spPr bwMode="auto">
          <a:xfrm>
            <a:off x="5089525" y="39497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8" name="Rectangle 48"/>
          <p:cNvSpPr>
            <a:spLocks noChangeArrowheads="1"/>
          </p:cNvSpPr>
          <p:nvPr/>
        </p:nvSpPr>
        <p:spPr bwMode="auto">
          <a:xfrm>
            <a:off x="5337175" y="39497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9" name="Rectangle 49"/>
          <p:cNvSpPr>
            <a:spLocks noChangeArrowheads="1"/>
          </p:cNvSpPr>
          <p:nvPr/>
        </p:nvSpPr>
        <p:spPr bwMode="auto">
          <a:xfrm>
            <a:off x="5584825" y="3949700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0" name="Rectangle 50"/>
          <p:cNvSpPr>
            <a:spLocks noChangeArrowheads="1"/>
          </p:cNvSpPr>
          <p:nvPr/>
        </p:nvSpPr>
        <p:spPr bwMode="auto">
          <a:xfrm>
            <a:off x="6596063" y="4259263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1" name="Rectangle 51"/>
          <p:cNvSpPr>
            <a:spLocks noChangeArrowheads="1"/>
          </p:cNvSpPr>
          <p:nvPr/>
        </p:nvSpPr>
        <p:spPr bwMode="auto">
          <a:xfrm>
            <a:off x="6348413" y="4259263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2" name="Rectangle 52"/>
          <p:cNvSpPr>
            <a:spLocks noChangeArrowheads="1"/>
          </p:cNvSpPr>
          <p:nvPr/>
        </p:nvSpPr>
        <p:spPr bwMode="auto">
          <a:xfrm>
            <a:off x="6100763" y="4259263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3" name="Rectangle 53"/>
          <p:cNvSpPr>
            <a:spLocks noChangeArrowheads="1"/>
          </p:cNvSpPr>
          <p:nvPr/>
        </p:nvSpPr>
        <p:spPr bwMode="auto">
          <a:xfrm>
            <a:off x="5832475" y="4259263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4" name="Rectangle 54"/>
          <p:cNvSpPr>
            <a:spLocks noChangeArrowheads="1"/>
          </p:cNvSpPr>
          <p:nvPr/>
        </p:nvSpPr>
        <p:spPr bwMode="auto">
          <a:xfrm>
            <a:off x="5089525" y="4259263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5" name="Rectangle 55"/>
          <p:cNvSpPr>
            <a:spLocks noChangeArrowheads="1"/>
          </p:cNvSpPr>
          <p:nvPr/>
        </p:nvSpPr>
        <p:spPr bwMode="auto">
          <a:xfrm>
            <a:off x="5584825" y="4259263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6" name="Rectangle 56"/>
          <p:cNvSpPr>
            <a:spLocks noChangeArrowheads="1"/>
          </p:cNvSpPr>
          <p:nvPr/>
        </p:nvSpPr>
        <p:spPr bwMode="auto">
          <a:xfrm>
            <a:off x="5337175" y="4259263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7" name="Rectangle 57"/>
          <p:cNvSpPr>
            <a:spLocks noChangeArrowheads="1"/>
          </p:cNvSpPr>
          <p:nvPr/>
        </p:nvSpPr>
        <p:spPr bwMode="auto">
          <a:xfrm>
            <a:off x="4821238" y="4259263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8" name="Rectangle 58"/>
          <p:cNvSpPr>
            <a:spLocks noChangeArrowheads="1"/>
          </p:cNvSpPr>
          <p:nvPr/>
        </p:nvSpPr>
        <p:spPr bwMode="auto">
          <a:xfrm>
            <a:off x="4573588" y="4259263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9" name="Rectangle 59"/>
          <p:cNvSpPr>
            <a:spLocks noChangeArrowheads="1"/>
          </p:cNvSpPr>
          <p:nvPr/>
        </p:nvSpPr>
        <p:spPr bwMode="auto">
          <a:xfrm>
            <a:off x="4325938" y="4259263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0" name="Rectangle 60"/>
          <p:cNvSpPr>
            <a:spLocks noChangeArrowheads="1"/>
          </p:cNvSpPr>
          <p:nvPr/>
        </p:nvSpPr>
        <p:spPr bwMode="auto">
          <a:xfrm>
            <a:off x="6100763" y="34321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1" name="Rectangle 61"/>
          <p:cNvSpPr>
            <a:spLocks noChangeArrowheads="1"/>
          </p:cNvSpPr>
          <p:nvPr/>
        </p:nvSpPr>
        <p:spPr bwMode="auto">
          <a:xfrm>
            <a:off x="6596063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2" name="Rectangle 62"/>
          <p:cNvSpPr>
            <a:spLocks noChangeArrowheads="1"/>
          </p:cNvSpPr>
          <p:nvPr/>
        </p:nvSpPr>
        <p:spPr bwMode="auto">
          <a:xfrm>
            <a:off x="1746250" y="235902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3" name="Rectangle 63"/>
          <p:cNvSpPr>
            <a:spLocks noChangeArrowheads="1"/>
          </p:cNvSpPr>
          <p:nvPr/>
        </p:nvSpPr>
        <p:spPr bwMode="auto">
          <a:xfrm>
            <a:off x="2014538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4" name="Rectangle 64"/>
          <p:cNvSpPr>
            <a:spLocks noChangeArrowheads="1"/>
          </p:cNvSpPr>
          <p:nvPr/>
        </p:nvSpPr>
        <p:spPr bwMode="auto">
          <a:xfrm>
            <a:off x="2262188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5" name="Rectangle 65"/>
          <p:cNvSpPr>
            <a:spLocks noChangeArrowheads="1"/>
          </p:cNvSpPr>
          <p:nvPr/>
        </p:nvSpPr>
        <p:spPr bwMode="auto">
          <a:xfrm>
            <a:off x="2509838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6" name="Rectangle 66"/>
          <p:cNvSpPr>
            <a:spLocks noChangeArrowheads="1"/>
          </p:cNvSpPr>
          <p:nvPr/>
        </p:nvSpPr>
        <p:spPr bwMode="auto">
          <a:xfrm>
            <a:off x="2757488" y="235902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7" name="Rectangle 67"/>
          <p:cNvSpPr>
            <a:spLocks noChangeArrowheads="1"/>
          </p:cNvSpPr>
          <p:nvPr/>
        </p:nvSpPr>
        <p:spPr bwMode="auto">
          <a:xfrm>
            <a:off x="1746250" y="26066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8" name="Rectangle 68"/>
          <p:cNvSpPr>
            <a:spLocks noChangeArrowheads="1"/>
          </p:cNvSpPr>
          <p:nvPr/>
        </p:nvSpPr>
        <p:spPr bwMode="auto">
          <a:xfrm>
            <a:off x="2014538" y="26066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69" name="Rectangle 69"/>
          <p:cNvSpPr>
            <a:spLocks noChangeArrowheads="1"/>
          </p:cNvSpPr>
          <p:nvPr/>
        </p:nvSpPr>
        <p:spPr bwMode="auto">
          <a:xfrm>
            <a:off x="2262188" y="26066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0" name="Rectangle 70"/>
          <p:cNvSpPr>
            <a:spLocks noChangeArrowheads="1"/>
          </p:cNvSpPr>
          <p:nvPr/>
        </p:nvSpPr>
        <p:spPr bwMode="auto">
          <a:xfrm>
            <a:off x="2509838" y="26066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1" name="Rectangle 71"/>
          <p:cNvSpPr>
            <a:spLocks noChangeArrowheads="1"/>
          </p:cNvSpPr>
          <p:nvPr/>
        </p:nvSpPr>
        <p:spPr bwMode="auto">
          <a:xfrm>
            <a:off x="2757488" y="26066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2" name="Line 72"/>
          <p:cNvSpPr>
            <a:spLocks noChangeShapeType="1"/>
          </p:cNvSpPr>
          <p:nvPr/>
        </p:nvSpPr>
        <p:spPr bwMode="auto">
          <a:xfrm flipH="1">
            <a:off x="1457325" y="2895600"/>
            <a:ext cx="152717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3" name="Line 73"/>
          <p:cNvSpPr>
            <a:spLocks noChangeShapeType="1"/>
          </p:cNvSpPr>
          <p:nvPr/>
        </p:nvSpPr>
        <p:spPr bwMode="auto">
          <a:xfrm>
            <a:off x="5481638" y="2895600"/>
            <a:ext cx="1279525" cy="15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4" name="Rectangle 74"/>
          <p:cNvSpPr>
            <a:spLocks noChangeArrowheads="1"/>
          </p:cNvSpPr>
          <p:nvPr/>
        </p:nvSpPr>
        <p:spPr bwMode="auto">
          <a:xfrm>
            <a:off x="3355975" y="2627313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6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5" name="Rectangle 75"/>
          <p:cNvSpPr>
            <a:spLocks noChangeArrowheads="1"/>
          </p:cNvSpPr>
          <p:nvPr/>
        </p:nvSpPr>
        <p:spPr bwMode="auto">
          <a:xfrm>
            <a:off x="3252788" y="2627313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6" name="Rectangle 76"/>
          <p:cNvSpPr>
            <a:spLocks noChangeArrowheads="1"/>
          </p:cNvSpPr>
          <p:nvPr/>
        </p:nvSpPr>
        <p:spPr bwMode="auto">
          <a:xfrm>
            <a:off x="3190875" y="2627313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(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7" name="Rectangle 77"/>
          <p:cNvSpPr>
            <a:spLocks noChangeArrowheads="1"/>
          </p:cNvSpPr>
          <p:nvPr/>
        </p:nvSpPr>
        <p:spPr bwMode="auto">
          <a:xfrm>
            <a:off x="3459163" y="2627313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)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8" name="Rectangle 78"/>
          <p:cNvSpPr>
            <a:spLocks noChangeArrowheads="1"/>
          </p:cNvSpPr>
          <p:nvPr/>
        </p:nvSpPr>
        <p:spPr bwMode="auto">
          <a:xfrm>
            <a:off x="3294063" y="2359025"/>
            <a:ext cx="2127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13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9" name="Rectangle 79"/>
          <p:cNvSpPr>
            <a:spLocks noChangeArrowheads="1"/>
          </p:cNvSpPr>
          <p:nvPr/>
        </p:nvSpPr>
        <p:spPr bwMode="auto">
          <a:xfrm>
            <a:off x="3170238" y="2359025"/>
            <a:ext cx="111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+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0" name="Rectangle 80"/>
          <p:cNvSpPr>
            <a:spLocks noChangeArrowheads="1"/>
          </p:cNvSpPr>
          <p:nvPr/>
        </p:nvSpPr>
        <p:spPr bwMode="auto">
          <a:xfrm>
            <a:off x="3087688" y="2359025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(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1" name="Rectangle 81"/>
          <p:cNvSpPr>
            <a:spLocks noChangeArrowheads="1"/>
          </p:cNvSpPr>
          <p:nvPr/>
        </p:nvSpPr>
        <p:spPr bwMode="auto">
          <a:xfrm>
            <a:off x="3479800" y="2359025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)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2" name="Rectangle 82"/>
          <p:cNvSpPr>
            <a:spLocks noChangeArrowheads="1"/>
          </p:cNvSpPr>
          <p:nvPr/>
        </p:nvSpPr>
        <p:spPr bwMode="auto">
          <a:xfrm>
            <a:off x="1539875" y="2627313"/>
            <a:ext cx="1397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X</a:t>
            </a:r>
            <a:endParaRPr lang="en-CA" altLang="zh-CN" sz="2400"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83" name="Freeform 83"/>
          <p:cNvSpPr>
            <a:spLocks/>
          </p:cNvSpPr>
          <p:nvPr/>
        </p:nvSpPr>
        <p:spPr bwMode="auto">
          <a:xfrm>
            <a:off x="4325938" y="2462213"/>
            <a:ext cx="495300" cy="288925"/>
          </a:xfrm>
          <a:custGeom>
            <a:avLst/>
            <a:gdLst>
              <a:gd name="T0" fmla="*/ 0 w 24"/>
              <a:gd name="T1" fmla="*/ 61913 h 14"/>
              <a:gd name="T2" fmla="*/ 350838 w 24"/>
              <a:gd name="T3" fmla="*/ 61913 h 14"/>
              <a:gd name="T4" fmla="*/ 350838 w 24"/>
              <a:gd name="T5" fmla="*/ 0 h 14"/>
              <a:gd name="T6" fmla="*/ 495300 w 24"/>
              <a:gd name="T7" fmla="*/ 144463 h 14"/>
              <a:gd name="T8" fmla="*/ 350838 w 24"/>
              <a:gd name="T9" fmla="*/ 288925 h 14"/>
              <a:gd name="T10" fmla="*/ 350838 w 24"/>
              <a:gd name="T11" fmla="*/ 206375 h 14"/>
              <a:gd name="T12" fmla="*/ 0 w 24"/>
              <a:gd name="T13" fmla="*/ 206375 h 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4"/>
              <a:gd name="T23" fmla="*/ 24 w 24"/>
              <a:gd name="T24" fmla="*/ 14 h 1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4">
                <a:moveTo>
                  <a:pt x="0" y="3"/>
                </a:moveTo>
                <a:lnTo>
                  <a:pt x="17" y="3"/>
                </a:lnTo>
                <a:lnTo>
                  <a:pt x="17" y="0"/>
                </a:lnTo>
                <a:lnTo>
                  <a:pt x="24" y="7"/>
                </a:lnTo>
                <a:lnTo>
                  <a:pt x="17" y="14"/>
                </a:lnTo>
                <a:lnTo>
                  <a:pt x="17" y="10"/>
                </a:lnTo>
                <a:lnTo>
                  <a:pt x="0" y="10"/>
                </a:lnTo>
              </a:path>
            </a:pathLst>
          </a:custGeom>
          <a:noFill/>
          <a:ln w="20638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4" name="Rectangle 84"/>
          <p:cNvSpPr>
            <a:spLocks noChangeArrowheads="1"/>
          </p:cNvSpPr>
          <p:nvPr/>
        </p:nvSpPr>
        <p:spPr bwMode="auto">
          <a:xfrm>
            <a:off x="7112000" y="4259263"/>
            <a:ext cx="2127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78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5" name="Rectangle 85"/>
          <p:cNvSpPr>
            <a:spLocks noChangeArrowheads="1"/>
          </p:cNvSpPr>
          <p:nvPr/>
        </p:nvSpPr>
        <p:spPr bwMode="auto">
          <a:xfrm>
            <a:off x="7008813" y="4259263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6" name="Rectangle 86"/>
          <p:cNvSpPr>
            <a:spLocks noChangeArrowheads="1"/>
          </p:cNvSpPr>
          <p:nvPr/>
        </p:nvSpPr>
        <p:spPr bwMode="auto">
          <a:xfrm>
            <a:off x="6926263" y="4259263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(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7" name="Rectangle 87"/>
          <p:cNvSpPr>
            <a:spLocks noChangeArrowheads="1"/>
          </p:cNvSpPr>
          <p:nvPr/>
        </p:nvSpPr>
        <p:spPr bwMode="auto">
          <a:xfrm>
            <a:off x="7318375" y="4259263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Symbol" pitchFamily="18" charset="2"/>
                <a:ea typeface="SimSun" pitchFamily="2" charset="-122"/>
              </a:rPr>
              <a:t>)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8" name="Rectangle 88"/>
          <p:cNvSpPr>
            <a:spLocks noChangeArrowheads="1"/>
          </p:cNvSpPr>
          <p:nvPr/>
        </p:nvSpPr>
        <p:spPr bwMode="auto">
          <a:xfrm>
            <a:off x="5997575" y="2606675"/>
            <a:ext cx="2174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+1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9" name="Rectangle 89"/>
          <p:cNvSpPr>
            <a:spLocks noChangeArrowheads="1"/>
          </p:cNvSpPr>
          <p:nvPr/>
        </p:nvSpPr>
        <p:spPr bwMode="auto">
          <a:xfrm>
            <a:off x="5832475" y="2606675"/>
            <a:ext cx="10636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0" name="Rectangle 90"/>
          <p:cNvSpPr>
            <a:spLocks noChangeArrowheads="1"/>
          </p:cNvSpPr>
          <p:nvPr/>
        </p:nvSpPr>
        <p:spPr bwMode="auto">
          <a:xfrm>
            <a:off x="5749925" y="2606675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1" name="Rectangle 91"/>
          <p:cNvSpPr>
            <a:spLocks noChangeArrowheads="1"/>
          </p:cNvSpPr>
          <p:nvPr/>
        </p:nvSpPr>
        <p:spPr bwMode="auto">
          <a:xfrm>
            <a:off x="6348413" y="2606675"/>
            <a:ext cx="1063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2" name="Rectangle 92"/>
          <p:cNvSpPr>
            <a:spLocks noChangeArrowheads="1"/>
          </p:cNvSpPr>
          <p:nvPr/>
        </p:nvSpPr>
        <p:spPr bwMode="auto">
          <a:xfrm>
            <a:off x="6265863" y="2606675"/>
            <a:ext cx="635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CA" altLang="zh-CN" sz="15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-</a:t>
            </a:r>
            <a:endParaRPr lang="en-CA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3" name="Line 93"/>
          <p:cNvSpPr>
            <a:spLocks noChangeShapeType="1"/>
          </p:cNvSpPr>
          <p:nvPr/>
        </p:nvSpPr>
        <p:spPr bwMode="auto">
          <a:xfrm>
            <a:off x="4202113" y="4217988"/>
            <a:ext cx="2559050" cy="158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28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370" y="0"/>
            <a:ext cx="7355160" cy="900018"/>
          </a:xfrm>
        </p:spPr>
        <p:txBody>
          <a:bodyPr>
            <a:normAutofit/>
          </a:bodyPr>
          <a:lstStyle/>
          <a:p>
            <a:r>
              <a:rPr lang="en-IN" sz="2400" dirty="0" smtClean="0">
                <a:solidFill>
                  <a:srgbClr val="0070C0"/>
                </a:solidFill>
              </a:rPr>
              <a:t>B</a:t>
            </a:r>
            <a:r>
              <a:rPr lang="en-IN" sz="1800" dirty="0" smtClean="0">
                <a:solidFill>
                  <a:srgbClr val="0070C0"/>
                </a:solidFill>
              </a:rPr>
              <a:t>it</a:t>
            </a:r>
            <a:r>
              <a:rPr lang="en-IN" sz="2400" dirty="0" smtClean="0">
                <a:solidFill>
                  <a:srgbClr val="0070C0"/>
                </a:solidFill>
              </a:rPr>
              <a:t> P</a:t>
            </a:r>
            <a:r>
              <a:rPr lang="en-IN" sz="1800" dirty="0" smtClean="0">
                <a:solidFill>
                  <a:srgbClr val="0070C0"/>
                </a:solidFill>
              </a:rPr>
              <a:t>air</a:t>
            </a:r>
            <a:r>
              <a:rPr lang="en-IN" sz="2400" dirty="0" smtClean="0">
                <a:solidFill>
                  <a:srgbClr val="0070C0"/>
                </a:solidFill>
              </a:rPr>
              <a:t> r</a:t>
            </a:r>
            <a:r>
              <a:rPr lang="en-IN" sz="1800" dirty="0" smtClean="0">
                <a:solidFill>
                  <a:srgbClr val="0070C0"/>
                </a:solidFill>
              </a:rPr>
              <a:t>ecording</a:t>
            </a:r>
            <a:r>
              <a:rPr lang="en-IN" sz="2400" dirty="0" smtClean="0">
                <a:solidFill>
                  <a:srgbClr val="0070C0"/>
                </a:solidFill>
              </a:rPr>
              <a:t> o</a:t>
            </a:r>
            <a:r>
              <a:rPr lang="en-IN" sz="1800" dirty="0" smtClean="0">
                <a:solidFill>
                  <a:srgbClr val="0070C0"/>
                </a:solidFill>
              </a:rPr>
              <a:t>f</a:t>
            </a:r>
            <a:r>
              <a:rPr lang="en-IN" sz="2400" dirty="0" smtClean="0">
                <a:solidFill>
                  <a:srgbClr val="0070C0"/>
                </a:solidFill>
              </a:rPr>
              <a:t> M</a:t>
            </a:r>
            <a:r>
              <a:rPr lang="en-IN" sz="1800" dirty="0" smtClean="0">
                <a:solidFill>
                  <a:srgbClr val="0070C0"/>
                </a:solidFill>
              </a:rPr>
              <a:t>ultipliers  </a:t>
            </a:r>
            <a:br>
              <a:rPr lang="en-IN" sz="1800" dirty="0" smtClean="0">
                <a:solidFill>
                  <a:srgbClr val="0070C0"/>
                </a:solidFill>
              </a:rPr>
            </a:br>
            <a:r>
              <a:rPr lang="en-IN" sz="1800" dirty="0" smtClean="0">
                <a:solidFill>
                  <a:srgbClr val="0070C0"/>
                </a:solidFill>
              </a:rPr>
              <a:t>(Modified Booths Algorithm )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4" name="Freeform 4"/>
          <p:cNvSpPr>
            <a:spLocks/>
          </p:cNvSpPr>
          <p:nvPr/>
        </p:nvSpPr>
        <p:spPr bwMode="auto">
          <a:xfrm>
            <a:off x="2686050" y="3900488"/>
            <a:ext cx="474663" cy="47625"/>
          </a:xfrm>
          <a:custGeom>
            <a:avLst/>
            <a:gdLst>
              <a:gd name="T0" fmla="*/ 474663 w 30"/>
              <a:gd name="T1" fmla="*/ 0 h 3"/>
              <a:gd name="T2" fmla="*/ 474663 w 30"/>
              <a:gd name="T3" fmla="*/ 47625 h 3"/>
              <a:gd name="T4" fmla="*/ 0 w 30"/>
              <a:gd name="T5" fmla="*/ 47625 h 3"/>
              <a:gd name="T6" fmla="*/ 0 w 30"/>
              <a:gd name="T7" fmla="*/ 0 h 3"/>
              <a:gd name="T8" fmla="*/ 0 60000 65536"/>
              <a:gd name="T9" fmla="*/ 0 60000 65536"/>
              <a:gd name="T10" fmla="*/ 0 60000 65536"/>
              <a:gd name="T11" fmla="*/ 0 60000 65536"/>
              <a:gd name="T12" fmla="*/ 0 w 30"/>
              <a:gd name="T13" fmla="*/ 0 h 3"/>
              <a:gd name="T14" fmla="*/ 30 w 30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0" h="3">
                <a:moveTo>
                  <a:pt x="30" y="0"/>
                </a:moveTo>
                <a:lnTo>
                  <a:pt x="30" y="3"/>
                </a:lnTo>
                <a:lnTo>
                  <a:pt x="0" y="3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3840163" y="3900488"/>
            <a:ext cx="490537" cy="47625"/>
          </a:xfrm>
          <a:custGeom>
            <a:avLst/>
            <a:gdLst>
              <a:gd name="T0" fmla="*/ 490537 w 31"/>
              <a:gd name="T1" fmla="*/ 0 h 3"/>
              <a:gd name="T2" fmla="*/ 490537 w 31"/>
              <a:gd name="T3" fmla="*/ 47625 h 3"/>
              <a:gd name="T4" fmla="*/ 0 w 31"/>
              <a:gd name="T5" fmla="*/ 47625 h 3"/>
              <a:gd name="T6" fmla="*/ 0 w 31"/>
              <a:gd name="T7" fmla="*/ 0 h 3"/>
              <a:gd name="T8" fmla="*/ 0 60000 65536"/>
              <a:gd name="T9" fmla="*/ 0 60000 65536"/>
              <a:gd name="T10" fmla="*/ 0 60000 65536"/>
              <a:gd name="T11" fmla="*/ 0 60000 65536"/>
              <a:gd name="T12" fmla="*/ 0 w 31"/>
              <a:gd name="T13" fmla="*/ 0 h 3"/>
              <a:gd name="T14" fmla="*/ 31 w 31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" h="3">
                <a:moveTo>
                  <a:pt x="31" y="0"/>
                </a:moveTo>
                <a:lnTo>
                  <a:pt x="31" y="3"/>
                </a:lnTo>
                <a:lnTo>
                  <a:pt x="0" y="3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651250" y="37417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571875" y="3741738"/>
            <a:ext cx="8976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+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367088" y="37417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287713" y="37322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000000"/>
                </a:solidFill>
                <a:latin typeface="Nimbus Roman No9 L"/>
                <a:ea typeface="SimSun" pitchFamily="2" charset="-122"/>
                <a:sym typeface="Symbol" pitchFamily="18" charset="2"/>
              </a:rPr>
              <a:t></a:t>
            </a:r>
            <a:endParaRPr lang="zh-CN" altLang="en-US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971675" y="4884737"/>
            <a:ext cx="37750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100">
                <a:solidFill>
                  <a:srgbClr val="000000"/>
                </a:solidFill>
                <a:latin typeface="Nimbus Sans L"/>
                <a:ea typeface="SimSun" pitchFamily="2" charset="-122"/>
              </a:rPr>
              <a:t>(a)  Example of bit-pair recoding derived from Booth recoding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473575" y="3125788"/>
            <a:ext cx="188913" cy="188912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 sz="1200">
              <a:latin typeface="Cambria" pitchFamily="18" charset="0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4537075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4221163" y="37417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3049588" y="37417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749550" y="37417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3049588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3351213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3635375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3919538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4221163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2765425" y="31242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2701925" y="3125788"/>
            <a:ext cx="190500" cy="188912"/>
          </a:xfrm>
          <a:prstGeom prst="rect">
            <a:avLst/>
          </a:prstGeom>
          <a:noFill/>
          <a:ln w="158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 sz="1200">
              <a:latin typeface="Cambria" pitchFamily="18" charset="0"/>
            </a:endParaRPr>
          </a:p>
        </p:txBody>
      </p:sp>
      <p:sp>
        <p:nvSpPr>
          <p:cNvPr id="23" name="Freeform 24"/>
          <p:cNvSpPr>
            <a:spLocks/>
          </p:cNvSpPr>
          <p:nvPr/>
        </p:nvSpPr>
        <p:spPr bwMode="auto">
          <a:xfrm>
            <a:off x="4741863" y="3155950"/>
            <a:ext cx="95250" cy="63500"/>
          </a:xfrm>
          <a:custGeom>
            <a:avLst/>
            <a:gdLst>
              <a:gd name="T0" fmla="*/ 79375 w 6"/>
              <a:gd name="T1" fmla="*/ 0 h 4"/>
              <a:gd name="T2" fmla="*/ 0 w 6"/>
              <a:gd name="T3" fmla="*/ 63500 h 4"/>
              <a:gd name="T4" fmla="*/ 95250 w 6"/>
              <a:gd name="T5" fmla="*/ 47625 h 4"/>
              <a:gd name="T6" fmla="*/ 79375 w 6"/>
              <a:gd name="T7" fmla="*/ 31750 h 4"/>
              <a:gd name="T8" fmla="*/ 79375 w 6"/>
              <a:gd name="T9" fmla="*/ 0 h 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4"/>
              <a:gd name="T17" fmla="*/ 6 w 6"/>
              <a:gd name="T18" fmla="*/ 4 h 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4">
                <a:moveTo>
                  <a:pt x="5" y="0"/>
                </a:moveTo>
                <a:lnTo>
                  <a:pt x="0" y="4"/>
                </a:lnTo>
                <a:lnTo>
                  <a:pt x="6" y="3"/>
                </a:lnTo>
                <a:lnTo>
                  <a:pt x="5" y="2"/>
                </a:lnTo>
                <a:lnTo>
                  <a:pt x="5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25"/>
          <p:cNvSpPr>
            <a:spLocks/>
          </p:cNvSpPr>
          <p:nvPr/>
        </p:nvSpPr>
        <p:spPr bwMode="auto">
          <a:xfrm>
            <a:off x="4741863" y="3155950"/>
            <a:ext cx="95250" cy="63500"/>
          </a:xfrm>
          <a:custGeom>
            <a:avLst/>
            <a:gdLst>
              <a:gd name="T0" fmla="*/ 79375 w 60"/>
              <a:gd name="T1" fmla="*/ 0 h 40"/>
              <a:gd name="T2" fmla="*/ 0 w 60"/>
              <a:gd name="T3" fmla="*/ 63500 h 40"/>
              <a:gd name="T4" fmla="*/ 95250 w 60"/>
              <a:gd name="T5" fmla="*/ 47625 h 40"/>
              <a:gd name="T6" fmla="*/ 79375 w 60"/>
              <a:gd name="T7" fmla="*/ 31750 h 40"/>
              <a:gd name="T8" fmla="*/ 79375 w 60"/>
              <a:gd name="T9" fmla="*/ 0 h 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40"/>
              <a:gd name="T17" fmla="*/ 60 w 60"/>
              <a:gd name="T18" fmla="*/ 40 h 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40">
                <a:moveTo>
                  <a:pt x="50" y="0"/>
                </a:moveTo>
                <a:lnTo>
                  <a:pt x="0" y="40"/>
                </a:lnTo>
                <a:lnTo>
                  <a:pt x="60" y="30"/>
                </a:lnTo>
                <a:lnTo>
                  <a:pt x="50" y="20"/>
                </a:lnTo>
                <a:lnTo>
                  <a:pt x="5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 flipV="1">
            <a:off x="4837113" y="3094038"/>
            <a:ext cx="268287" cy="936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" name="Freeform 27"/>
          <p:cNvSpPr>
            <a:spLocks/>
          </p:cNvSpPr>
          <p:nvPr/>
        </p:nvSpPr>
        <p:spPr bwMode="auto">
          <a:xfrm>
            <a:off x="2511425" y="3155950"/>
            <a:ext cx="95250" cy="47625"/>
          </a:xfrm>
          <a:custGeom>
            <a:avLst/>
            <a:gdLst>
              <a:gd name="T0" fmla="*/ 0 w 6"/>
              <a:gd name="T1" fmla="*/ 47625 h 3"/>
              <a:gd name="T2" fmla="*/ 95250 w 6"/>
              <a:gd name="T3" fmla="*/ 47625 h 3"/>
              <a:gd name="T4" fmla="*/ 15875 w 6"/>
              <a:gd name="T5" fmla="*/ 0 h 3"/>
              <a:gd name="T6" fmla="*/ 15875 w 6"/>
              <a:gd name="T7" fmla="*/ 15875 h 3"/>
              <a:gd name="T8" fmla="*/ 0 w 6"/>
              <a:gd name="T9" fmla="*/ 47625 h 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"/>
              <a:gd name="T16" fmla="*/ 0 h 3"/>
              <a:gd name="T17" fmla="*/ 6 w 6"/>
              <a:gd name="T18" fmla="*/ 3 h 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" h="3">
                <a:moveTo>
                  <a:pt x="0" y="3"/>
                </a:moveTo>
                <a:lnTo>
                  <a:pt x="6" y="3"/>
                </a:ln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27" name="Freeform 28"/>
          <p:cNvSpPr>
            <a:spLocks/>
          </p:cNvSpPr>
          <p:nvPr/>
        </p:nvSpPr>
        <p:spPr bwMode="auto">
          <a:xfrm>
            <a:off x="2511425" y="3155950"/>
            <a:ext cx="95250" cy="47625"/>
          </a:xfrm>
          <a:custGeom>
            <a:avLst/>
            <a:gdLst>
              <a:gd name="T0" fmla="*/ 0 w 60"/>
              <a:gd name="T1" fmla="*/ 47625 h 30"/>
              <a:gd name="T2" fmla="*/ 95250 w 60"/>
              <a:gd name="T3" fmla="*/ 47625 h 30"/>
              <a:gd name="T4" fmla="*/ 15875 w 60"/>
              <a:gd name="T5" fmla="*/ 0 h 30"/>
              <a:gd name="T6" fmla="*/ 15875 w 60"/>
              <a:gd name="T7" fmla="*/ 15875 h 30"/>
              <a:gd name="T8" fmla="*/ 0 w 60"/>
              <a:gd name="T9" fmla="*/ 47625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0"/>
              <a:gd name="T16" fmla="*/ 0 h 30"/>
              <a:gd name="T17" fmla="*/ 60 w 6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0" h="30">
                <a:moveTo>
                  <a:pt x="0" y="30"/>
                </a:moveTo>
                <a:lnTo>
                  <a:pt x="60" y="30"/>
                </a:lnTo>
                <a:lnTo>
                  <a:pt x="10" y="0"/>
                </a:lnTo>
                <a:lnTo>
                  <a:pt x="10" y="10"/>
                </a:lnTo>
                <a:lnTo>
                  <a:pt x="0" y="3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 sz="1200"/>
          </a:p>
        </p:txBody>
      </p:sp>
      <p:sp>
        <p:nvSpPr>
          <p:cNvPr id="28" name="Line 29"/>
          <p:cNvSpPr>
            <a:spLocks noChangeShapeType="1"/>
          </p:cNvSpPr>
          <p:nvPr/>
        </p:nvSpPr>
        <p:spPr bwMode="auto">
          <a:xfrm flipH="1" flipV="1">
            <a:off x="2290763" y="3094038"/>
            <a:ext cx="220662" cy="777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3049588" y="4373563"/>
            <a:ext cx="7778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1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0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30" name="Freeform 31"/>
          <p:cNvSpPr>
            <a:spLocks/>
          </p:cNvSpPr>
          <p:nvPr/>
        </p:nvSpPr>
        <p:spPr bwMode="auto">
          <a:xfrm>
            <a:off x="3651250" y="4216400"/>
            <a:ext cx="47625" cy="95250"/>
          </a:xfrm>
          <a:custGeom>
            <a:avLst/>
            <a:gdLst>
              <a:gd name="T0" fmla="*/ 0 w 3"/>
              <a:gd name="T1" fmla="*/ 0 h 6"/>
              <a:gd name="T2" fmla="*/ 15875 w 3"/>
              <a:gd name="T3" fmla="*/ 95250 h 6"/>
              <a:gd name="T4" fmla="*/ 47625 w 3"/>
              <a:gd name="T5" fmla="*/ 0 h 6"/>
              <a:gd name="T6" fmla="*/ 15875 w 3"/>
              <a:gd name="T7" fmla="*/ 0 h 6"/>
              <a:gd name="T8" fmla="*/ 0 w 3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"/>
              <a:gd name="T16" fmla="*/ 0 h 6"/>
              <a:gd name="T17" fmla="*/ 3 w 3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" h="6">
                <a:moveTo>
                  <a:pt x="0" y="0"/>
                </a:moveTo>
                <a:lnTo>
                  <a:pt x="1" y="6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31" name="Freeform 32"/>
          <p:cNvSpPr>
            <a:spLocks/>
          </p:cNvSpPr>
          <p:nvPr/>
        </p:nvSpPr>
        <p:spPr bwMode="auto">
          <a:xfrm>
            <a:off x="3651250" y="4216400"/>
            <a:ext cx="47625" cy="95250"/>
          </a:xfrm>
          <a:custGeom>
            <a:avLst/>
            <a:gdLst>
              <a:gd name="T0" fmla="*/ 0 w 30"/>
              <a:gd name="T1" fmla="*/ 0 h 60"/>
              <a:gd name="T2" fmla="*/ 15875 w 30"/>
              <a:gd name="T3" fmla="*/ 95250 h 60"/>
              <a:gd name="T4" fmla="*/ 47625 w 30"/>
              <a:gd name="T5" fmla="*/ 0 h 60"/>
              <a:gd name="T6" fmla="*/ 15875 w 30"/>
              <a:gd name="T7" fmla="*/ 0 h 60"/>
              <a:gd name="T8" fmla="*/ 0 w 30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60"/>
              <a:gd name="T17" fmla="*/ 30 w 3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60">
                <a:moveTo>
                  <a:pt x="0" y="0"/>
                </a:moveTo>
                <a:lnTo>
                  <a:pt x="10" y="60"/>
                </a:lnTo>
                <a:lnTo>
                  <a:pt x="30" y="0"/>
                </a:lnTo>
                <a:lnTo>
                  <a:pt x="1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 sz="1200"/>
          </a:p>
        </p:txBody>
      </p:sp>
      <p:sp>
        <p:nvSpPr>
          <p:cNvPr id="32" name="Line 33"/>
          <p:cNvSpPr>
            <a:spLocks noChangeShapeType="1"/>
          </p:cNvSpPr>
          <p:nvPr/>
        </p:nvSpPr>
        <p:spPr bwMode="auto">
          <a:xfrm flipV="1">
            <a:off x="3667125" y="3948113"/>
            <a:ext cx="1588" cy="2682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33" name="Freeform 34"/>
          <p:cNvSpPr>
            <a:spLocks/>
          </p:cNvSpPr>
          <p:nvPr/>
        </p:nvSpPr>
        <p:spPr bwMode="auto">
          <a:xfrm>
            <a:off x="4235450" y="4216400"/>
            <a:ext cx="31750" cy="95250"/>
          </a:xfrm>
          <a:custGeom>
            <a:avLst/>
            <a:gdLst>
              <a:gd name="T0" fmla="*/ 0 w 2"/>
              <a:gd name="T1" fmla="*/ 0 h 6"/>
              <a:gd name="T2" fmla="*/ 15875 w 2"/>
              <a:gd name="T3" fmla="*/ 95250 h 6"/>
              <a:gd name="T4" fmla="*/ 31750 w 2"/>
              <a:gd name="T5" fmla="*/ 0 h 6"/>
              <a:gd name="T6" fmla="*/ 15875 w 2"/>
              <a:gd name="T7" fmla="*/ 0 h 6"/>
              <a:gd name="T8" fmla="*/ 0 w 2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"/>
              <a:gd name="T16" fmla="*/ 0 h 6"/>
              <a:gd name="T17" fmla="*/ 2 w 2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" h="6">
                <a:moveTo>
                  <a:pt x="0" y="0"/>
                </a:moveTo>
                <a:lnTo>
                  <a:pt x="1" y="6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34" name="Freeform 35"/>
          <p:cNvSpPr>
            <a:spLocks/>
          </p:cNvSpPr>
          <p:nvPr/>
        </p:nvSpPr>
        <p:spPr bwMode="auto">
          <a:xfrm>
            <a:off x="4235450" y="4216400"/>
            <a:ext cx="31750" cy="95250"/>
          </a:xfrm>
          <a:custGeom>
            <a:avLst/>
            <a:gdLst>
              <a:gd name="T0" fmla="*/ 0 w 20"/>
              <a:gd name="T1" fmla="*/ 0 h 60"/>
              <a:gd name="T2" fmla="*/ 15875 w 20"/>
              <a:gd name="T3" fmla="*/ 95250 h 60"/>
              <a:gd name="T4" fmla="*/ 31750 w 20"/>
              <a:gd name="T5" fmla="*/ 0 h 60"/>
              <a:gd name="T6" fmla="*/ 15875 w 20"/>
              <a:gd name="T7" fmla="*/ 0 h 60"/>
              <a:gd name="T8" fmla="*/ 0 w 20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"/>
              <a:gd name="T16" fmla="*/ 0 h 60"/>
              <a:gd name="T17" fmla="*/ 20 w 2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" h="60">
                <a:moveTo>
                  <a:pt x="0" y="0"/>
                </a:moveTo>
                <a:lnTo>
                  <a:pt x="10" y="60"/>
                </a:lnTo>
                <a:lnTo>
                  <a:pt x="20" y="0"/>
                </a:lnTo>
                <a:lnTo>
                  <a:pt x="1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 sz="1200"/>
          </a:p>
        </p:txBody>
      </p:sp>
      <p:sp>
        <p:nvSpPr>
          <p:cNvPr id="35" name="Line 36"/>
          <p:cNvSpPr>
            <a:spLocks noChangeShapeType="1"/>
          </p:cNvSpPr>
          <p:nvPr/>
        </p:nvSpPr>
        <p:spPr bwMode="auto">
          <a:xfrm flipV="1">
            <a:off x="4251325" y="3948113"/>
            <a:ext cx="1588" cy="2682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36" name="Freeform 37"/>
          <p:cNvSpPr>
            <a:spLocks/>
          </p:cNvSpPr>
          <p:nvPr/>
        </p:nvSpPr>
        <p:spPr bwMode="auto">
          <a:xfrm>
            <a:off x="3065463" y="4216400"/>
            <a:ext cx="47625" cy="95250"/>
          </a:xfrm>
          <a:custGeom>
            <a:avLst/>
            <a:gdLst>
              <a:gd name="T0" fmla="*/ 0 w 3"/>
              <a:gd name="T1" fmla="*/ 0 h 6"/>
              <a:gd name="T2" fmla="*/ 31750 w 3"/>
              <a:gd name="T3" fmla="*/ 95250 h 6"/>
              <a:gd name="T4" fmla="*/ 47625 w 3"/>
              <a:gd name="T5" fmla="*/ 0 h 6"/>
              <a:gd name="T6" fmla="*/ 31750 w 3"/>
              <a:gd name="T7" fmla="*/ 0 h 6"/>
              <a:gd name="T8" fmla="*/ 0 w 3"/>
              <a:gd name="T9" fmla="*/ 0 h 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"/>
              <a:gd name="T16" fmla="*/ 0 h 6"/>
              <a:gd name="T17" fmla="*/ 3 w 3"/>
              <a:gd name="T18" fmla="*/ 6 h 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" h="6">
                <a:moveTo>
                  <a:pt x="0" y="0"/>
                </a:moveTo>
                <a:lnTo>
                  <a:pt x="2" y="6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37" name="Freeform 38"/>
          <p:cNvSpPr>
            <a:spLocks/>
          </p:cNvSpPr>
          <p:nvPr/>
        </p:nvSpPr>
        <p:spPr bwMode="auto">
          <a:xfrm>
            <a:off x="3065463" y="4216400"/>
            <a:ext cx="47625" cy="95250"/>
          </a:xfrm>
          <a:custGeom>
            <a:avLst/>
            <a:gdLst>
              <a:gd name="T0" fmla="*/ 0 w 30"/>
              <a:gd name="T1" fmla="*/ 0 h 60"/>
              <a:gd name="T2" fmla="*/ 31750 w 30"/>
              <a:gd name="T3" fmla="*/ 95250 h 60"/>
              <a:gd name="T4" fmla="*/ 47625 w 30"/>
              <a:gd name="T5" fmla="*/ 0 h 60"/>
              <a:gd name="T6" fmla="*/ 31750 w 30"/>
              <a:gd name="T7" fmla="*/ 0 h 60"/>
              <a:gd name="T8" fmla="*/ 0 w 30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60"/>
              <a:gd name="T17" fmla="*/ 30 w 30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60">
                <a:moveTo>
                  <a:pt x="0" y="0"/>
                </a:moveTo>
                <a:lnTo>
                  <a:pt x="20" y="60"/>
                </a:lnTo>
                <a:lnTo>
                  <a:pt x="30" y="0"/>
                </a:lnTo>
                <a:lnTo>
                  <a:pt x="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 sz="1200"/>
          </a:p>
        </p:txBody>
      </p:sp>
      <p:sp>
        <p:nvSpPr>
          <p:cNvPr id="38" name="Line 39"/>
          <p:cNvSpPr>
            <a:spLocks noChangeShapeType="1"/>
          </p:cNvSpPr>
          <p:nvPr/>
        </p:nvSpPr>
        <p:spPr bwMode="auto">
          <a:xfrm flipV="1">
            <a:off x="3097213" y="3948113"/>
            <a:ext cx="1587" cy="2682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39" name="Freeform 40"/>
          <p:cNvSpPr>
            <a:spLocks/>
          </p:cNvSpPr>
          <p:nvPr/>
        </p:nvSpPr>
        <p:spPr bwMode="auto">
          <a:xfrm>
            <a:off x="3255963" y="3900488"/>
            <a:ext cx="490537" cy="47625"/>
          </a:xfrm>
          <a:custGeom>
            <a:avLst/>
            <a:gdLst>
              <a:gd name="T0" fmla="*/ 490537 w 31"/>
              <a:gd name="T1" fmla="*/ 0 h 3"/>
              <a:gd name="T2" fmla="*/ 490537 w 31"/>
              <a:gd name="T3" fmla="*/ 47625 h 3"/>
              <a:gd name="T4" fmla="*/ 0 w 31"/>
              <a:gd name="T5" fmla="*/ 47625 h 3"/>
              <a:gd name="T6" fmla="*/ 0 w 31"/>
              <a:gd name="T7" fmla="*/ 0 h 3"/>
              <a:gd name="T8" fmla="*/ 0 60000 65536"/>
              <a:gd name="T9" fmla="*/ 0 60000 65536"/>
              <a:gd name="T10" fmla="*/ 0 60000 65536"/>
              <a:gd name="T11" fmla="*/ 0 60000 65536"/>
              <a:gd name="T12" fmla="*/ 0 w 31"/>
              <a:gd name="T13" fmla="*/ 0 h 3"/>
              <a:gd name="T14" fmla="*/ 31 w 31"/>
              <a:gd name="T15" fmla="*/ 3 h 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" h="3">
                <a:moveTo>
                  <a:pt x="31" y="0"/>
                </a:moveTo>
                <a:lnTo>
                  <a:pt x="31" y="3"/>
                </a:lnTo>
                <a:lnTo>
                  <a:pt x="0" y="3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auto">
          <a:xfrm>
            <a:off x="3935413" y="37417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2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1" name="Freeform 43"/>
          <p:cNvSpPr>
            <a:spLocks/>
          </p:cNvSpPr>
          <p:nvPr/>
        </p:nvSpPr>
        <p:spPr bwMode="auto">
          <a:xfrm>
            <a:off x="3556000" y="3378200"/>
            <a:ext cx="222250" cy="284163"/>
          </a:xfrm>
          <a:custGeom>
            <a:avLst/>
            <a:gdLst>
              <a:gd name="T0" fmla="*/ 174625 w 14"/>
              <a:gd name="T1" fmla="*/ 0 h 18"/>
              <a:gd name="T2" fmla="*/ 174625 w 14"/>
              <a:gd name="T3" fmla="*/ 173655 h 18"/>
              <a:gd name="T4" fmla="*/ 222250 w 14"/>
              <a:gd name="T5" fmla="*/ 173655 h 18"/>
              <a:gd name="T6" fmla="*/ 111125 w 14"/>
              <a:gd name="T7" fmla="*/ 284163 h 18"/>
              <a:gd name="T8" fmla="*/ 0 w 14"/>
              <a:gd name="T9" fmla="*/ 173655 h 18"/>
              <a:gd name="T10" fmla="*/ 63500 w 14"/>
              <a:gd name="T11" fmla="*/ 173655 h 18"/>
              <a:gd name="T12" fmla="*/ 63500 w 14"/>
              <a:gd name="T13" fmla="*/ 0 h 1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"/>
              <a:gd name="T22" fmla="*/ 0 h 18"/>
              <a:gd name="T23" fmla="*/ 14 w 14"/>
              <a:gd name="T24" fmla="*/ 18 h 1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" h="18">
                <a:moveTo>
                  <a:pt x="11" y="0"/>
                </a:moveTo>
                <a:lnTo>
                  <a:pt x="11" y="11"/>
                </a:lnTo>
                <a:lnTo>
                  <a:pt x="14" y="11"/>
                </a:lnTo>
                <a:lnTo>
                  <a:pt x="7" y="18"/>
                </a:lnTo>
                <a:lnTo>
                  <a:pt x="0" y="11"/>
                </a:lnTo>
                <a:lnTo>
                  <a:pt x="4" y="11"/>
                </a:lnTo>
                <a:lnTo>
                  <a:pt x="4" y="0"/>
                </a:lnTo>
              </a:path>
            </a:pathLst>
          </a:custGeom>
          <a:noFill/>
          <a:ln w="15875">
            <a:solidFill>
              <a:srgbClr val="00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 sz="1200"/>
          </a:p>
        </p:txBody>
      </p:sp>
      <p:sp>
        <p:nvSpPr>
          <p:cNvPr id="42" name="Rectangle 44"/>
          <p:cNvSpPr>
            <a:spLocks noChangeArrowheads="1"/>
          </p:cNvSpPr>
          <p:nvPr/>
        </p:nvSpPr>
        <p:spPr bwMode="auto">
          <a:xfrm>
            <a:off x="4251325" y="4357688"/>
            <a:ext cx="777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1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2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3" name="Rectangle 45"/>
          <p:cNvSpPr>
            <a:spLocks noChangeArrowheads="1"/>
          </p:cNvSpPr>
          <p:nvPr/>
        </p:nvSpPr>
        <p:spPr bwMode="auto">
          <a:xfrm>
            <a:off x="3667125" y="4357688"/>
            <a:ext cx="777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zh-CN" sz="1100">
                <a:solidFill>
                  <a:srgbClr val="000000"/>
                </a:solidFill>
                <a:latin typeface="Nimbus Roman No9 L"/>
                <a:ea typeface="SimSun" pitchFamily="2" charset="-122"/>
              </a:rPr>
              <a:t>1</a:t>
            </a:r>
            <a:endParaRPr lang="en-US" altLang="zh-CN" sz="24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3581400" y="43418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000000"/>
                </a:solidFill>
                <a:latin typeface="Nimbus Roman No9 L"/>
                <a:ea typeface="SimSun" pitchFamily="2" charset="-122"/>
                <a:sym typeface="Symbol" pitchFamily="18" charset="2"/>
              </a:rPr>
              <a:t></a:t>
            </a:r>
            <a:endParaRPr lang="zh-CN" altLang="en-US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5" name="Rectangle 47"/>
          <p:cNvSpPr>
            <a:spLocks noChangeArrowheads="1"/>
          </p:cNvSpPr>
          <p:nvPr/>
        </p:nvSpPr>
        <p:spPr bwMode="auto">
          <a:xfrm>
            <a:off x="4171950" y="43529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000000"/>
                </a:solidFill>
                <a:latin typeface="Nimbus Roman No9 L"/>
                <a:ea typeface="SimSun" pitchFamily="2" charset="-122"/>
                <a:sym typeface="Symbol" pitchFamily="18" charset="2"/>
              </a:rPr>
              <a:t></a:t>
            </a:r>
            <a:endParaRPr lang="zh-CN" altLang="en-US" sz="1200"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46" name="Rectangle 48"/>
          <p:cNvSpPr>
            <a:spLocks noChangeArrowheads="1"/>
          </p:cNvSpPr>
          <p:nvPr/>
        </p:nvSpPr>
        <p:spPr bwMode="auto">
          <a:xfrm>
            <a:off x="3859213" y="37353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zh-CN" altLang="en-US" sz="1200">
                <a:solidFill>
                  <a:srgbClr val="000000"/>
                </a:solidFill>
                <a:latin typeface="Nimbus Roman No9 L"/>
                <a:ea typeface="SimSun" pitchFamily="2" charset="-122"/>
                <a:sym typeface="Symbol" pitchFamily="18" charset="2"/>
              </a:rPr>
              <a:t></a:t>
            </a:r>
            <a:endParaRPr lang="zh-CN" altLang="en-US" sz="1200">
              <a:latin typeface="Times New Roman" pitchFamily="18" charset="0"/>
              <a:ea typeface="SimSun" pitchFamily="2" charset="-122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807214"/>
            <a:ext cx="1658256" cy="298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3" y="2795588"/>
            <a:ext cx="1079500" cy="29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950333"/>
              </p:ext>
            </p:extLst>
          </p:nvPr>
        </p:nvGraphicFramePr>
        <p:xfrm>
          <a:off x="1475656" y="1124744"/>
          <a:ext cx="614434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086"/>
                <a:gridCol w="1536086"/>
                <a:gridCol w="1536086"/>
                <a:gridCol w="1536086"/>
              </a:tblGrid>
              <a:tr h="32403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24036"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+1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</a:tr>
              <a:tr h="32403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2403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13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/>
      <p:bldP spid="43" grpId="0"/>
      <p:bldP spid="44" grpId="0"/>
      <p:bldP spid="45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Modified Booths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Guarantees that the maximum number of summands that must be added is n/2 for n-bit operands. </a:t>
            </a:r>
          </a:p>
          <a:p>
            <a:r>
              <a:rPr lang="en-IN" sz="2400" dirty="0" smtClean="0"/>
              <a:t>Bit pair recoding technique</a:t>
            </a:r>
          </a:p>
          <a:p>
            <a:r>
              <a:rPr lang="en-IN" sz="2400" dirty="0" smtClean="0"/>
              <a:t>Observe the following:</a:t>
            </a:r>
          </a:p>
          <a:p>
            <a:pPr lvl="1"/>
            <a:r>
              <a:rPr lang="en-IN" sz="2000" dirty="0" smtClean="0"/>
              <a:t>The pair (+1, -1) is equivalent to the pair (0, +1)</a:t>
            </a:r>
          </a:p>
          <a:p>
            <a:pPr lvl="1"/>
            <a:r>
              <a:rPr lang="en-IN" sz="2000" dirty="0" smtClean="0"/>
              <a:t>(+1, 0) is equivalent to (0, +2)</a:t>
            </a:r>
          </a:p>
          <a:p>
            <a:pPr lvl="1"/>
            <a:r>
              <a:rPr lang="en-IN" sz="2000" dirty="0" smtClean="0"/>
              <a:t>(-1, +1) is equivalent to (0, -1)</a:t>
            </a:r>
          </a:p>
          <a:p>
            <a:pPr marL="457200" lvl="1" indent="0">
              <a:buNone/>
            </a:pPr>
            <a:r>
              <a:rPr lang="en-IN" sz="2400" dirty="0" smtClean="0"/>
              <a:t>Examines 3 bits at a time.</a:t>
            </a:r>
          </a:p>
          <a:p>
            <a:pPr marL="457200" lvl="1" indent="0">
              <a:buNone/>
            </a:pPr>
            <a:endParaRPr lang="en-IN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941168"/>
            <a:ext cx="5976664" cy="1277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35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70C0"/>
                </a:solidFill>
              </a:rPr>
              <a:t>E</a:t>
            </a:r>
            <a:r>
              <a:rPr lang="en-IN" sz="2400" dirty="0" smtClean="0">
                <a:solidFill>
                  <a:srgbClr val="0070C0"/>
                </a:solidFill>
              </a:rPr>
              <a:t>xample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Convert the Following Multiplier bits  in to Modified Booth Recording Formats</a:t>
            </a:r>
          </a:p>
          <a:p>
            <a:endParaRPr lang="en-IN" dirty="0" smtClean="0"/>
          </a:p>
          <a:p>
            <a:pPr marL="457200" indent="-457200">
              <a:buFont typeface="+mj-lt"/>
              <a:buAutoNum type="arabicPeriod"/>
            </a:pPr>
            <a:r>
              <a:rPr lang="en-IN" dirty="0" smtClean="0"/>
              <a:t>00101       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11001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/>
              <a:t>00111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01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25" y="3315122"/>
            <a:ext cx="4752528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76672"/>
            <a:ext cx="4556001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966419"/>
            <a:ext cx="3067050" cy="210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3" y="476672"/>
            <a:ext cx="3876675" cy="173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213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964488" cy="792088"/>
          </a:xfrm>
        </p:spPr>
        <p:txBody>
          <a:bodyPr>
            <a:noAutofit/>
          </a:bodyPr>
          <a:lstStyle/>
          <a:p>
            <a:r>
              <a:rPr lang="en-IN" dirty="0" smtClean="0">
                <a:solidFill>
                  <a:srgbClr val="0070C0"/>
                </a:solidFill>
              </a:rPr>
              <a:t>B</a:t>
            </a:r>
            <a:r>
              <a:rPr lang="en-IN" sz="3200" dirty="0" smtClean="0">
                <a:solidFill>
                  <a:srgbClr val="0070C0"/>
                </a:solidFill>
              </a:rPr>
              <a:t>it</a:t>
            </a:r>
            <a:r>
              <a:rPr lang="en-IN" dirty="0" smtClean="0">
                <a:solidFill>
                  <a:srgbClr val="0070C0"/>
                </a:solidFill>
              </a:rPr>
              <a:t> P</a:t>
            </a:r>
            <a:r>
              <a:rPr lang="en-IN" sz="3200" dirty="0" smtClean="0">
                <a:solidFill>
                  <a:srgbClr val="0070C0"/>
                </a:solidFill>
              </a:rPr>
              <a:t>AIR</a:t>
            </a:r>
            <a:r>
              <a:rPr lang="en-IN" dirty="0" smtClean="0">
                <a:solidFill>
                  <a:srgbClr val="0070C0"/>
                </a:solidFill>
              </a:rPr>
              <a:t> R</a:t>
            </a:r>
            <a:r>
              <a:rPr lang="en-IN" sz="3200" dirty="0" smtClean="0">
                <a:solidFill>
                  <a:srgbClr val="0070C0"/>
                </a:solidFill>
              </a:rPr>
              <a:t>ecording</a:t>
            </a:r>
            <a:r>
              <a:rPr lang="en-IN" dirty="0" smtClean="0">
                <a:solidFill>
                  <a:srgbClr val="0070C0"/>
                </a:solidFill>
              </a:rPr>
              <a:t> T</a:t>
            </a:r>
            <a:r>
              <a:rPr lang="en-IN" sz="3200" dirty="0" smtClean="0">
                <a:solidFill>
                  <a:srgbClr val="0070C0"/>
                </a:solidFill>
              </a:rPr>
              <a:t>ABLE</a:t>
            </a:r>
            <a:endParaRPr lang="en-IN" sz="3600" dirty="0">
              <a:solidFill>
                <a:srgbClr val="0070C0"/>
              </a:solidFill>
            </a:endParaRPr>
          </a:p>
        </p:txBody>
      </p:sp>
      <p:graphicFrame>
        <p:nvGraphicFramePr>
          <p:cNvPr id="3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18263"/>
              </p:ext>
            </p:extLst>
          </p:nvPr>
        </p:nvGraphicFramePr>
        <p:xfrm>
          <a:off x="755576" y="1052736"/>
          <a:ext cx="4968552" cy="68049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5284">
                  <a:extLst>
                    <a:ext uri="{9D8B030D-6E8A-4147-A177-3AD203B41FA5}">
                      <a16:colId xmlns="" xmlns:a16="http://schemas.microsoft.com/office/drawing/2014/main" val="2684291325"/>
                    </a:ext>
                  </a:extLst>
                </a:gridCol>
                <a:gridCol w="615021">
                  <a:extLst>
                    <a:ext uri="{9D8B030D-6E8A-4147-A177-3AD203B41FA5}">
                      <a16:colId xmlns="" xmlns:a16="http://schemas.microsoft.com/office/drawing/2014/main" val="1514266256"/>
                    </a:ext>
                  </a:extLst>
                </a:gridCol>
                <a:gridCol w="1303991">
                  <a:extLst>
                    <a:ext uri="{9D8B030D-6E8A-4147-A177-3AD203B41FA5}">
                      <a16:colId xmlns="" xmlns:a16="http://schemas.microsoft.com/office/drawing/2014/main" val="2767119949"/>
                    </a:ext>
                  </a:extLst>
                </a:gridCol>
                <a:gridCol w="217132">
                  <a:extLst>
                    <a:ext uri="{9D8B030D-6E8A-4147-A177-3AD203B41FA5}">
                      <a16:colId xmlns="" xmlns:a16="http://schemas.microsoft.com/office/drawing/2014/main" val="1395471271"/>
                    </a:ext>
                  </a:extLst>
                </a:gridCol>
                <a:gridCol w="214916">
                  <a:extLst>
                    <a:ext uri="{9D8B030D-6E8A-4147-A177-3AD203B41FA5}">
                      <a16:colId xmlns="" xmlns:a16="http://schemas.microsoft.com/office/drawing/2014/main" val="2050668756"/>
                    </a:ext>
                  </a:extLst>
                </a:gridCol>
                <a:gridCol w="1872208">
                  <a:extLst>
                    <a:ext uri="{9D8B030D-6E8A-4147-A177-3AD203B41FA5}">
                      <a16:colId xmlns="" xmlns:a16="http://schemas.microsoft.com/office/drawing/2014/main" val="3420682123"/>
                    </a:ext>
                  </a:extLst>
                </a:gridCol>
              </a:tblGrid>
              <a:tr h="731802"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Multiplier</a:t>
                      </a:r>
                      <a:r>
                        <a:rPr lang="en-IN" sz="16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Bit-Pair</a:t>
                      </a:r>
                      <a:endParaRPr lang="en-IN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Multiplier</a:t>
                      </a:r>
                      <a:r>
                        <a:rPr lang="en-IN" sz="16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bit on the right      </a:t>
                      </a:r>
                      <a:r>
                        <a:rPr lang="en-IN" sz="1600" baseline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</a:t>
                      </a:r>
                      <a:r>
                        <a:rPr lang="en-IN" sz="16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– 1</a:t>
                      </a:r>
                      <a:endParaRPr lang="en-IN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IN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Booth’s </a:t>
                      </a:r>
                      <a:r>
                        <a:rPr lang="en-IN" sz="160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Repres</a:t>
                      </a:r>
                      <a:r>
                        <a:rPr lang="en-IN" sz="16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-enation</a:t>
                      </a:r>
                      <a:endParaRPr lang="en-IN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n-IN" sz="2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Multiplicand selected</a:t>
                      </a:r>
                      <a:r>
                        <a:rPr lang="en-IN" sz="1600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at position </a:t>
                      </a:r>
                      <a:r>
                        <a:rPr lang="en-IN" sz="1600" baseline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</a:t>
                      </a:r>
                      <a:endParaRPr lang="en-IN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06986680"/>
                  </a:ext>
                </a:extLst>
              </a:tr>
              <a:tr h="78156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i</a:t>
                      </a:r>
                      <a:r>
                        <a:rPr lang="en-IN" sz="1600" dirty="0"/>
                        <a:t> + 1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i</a:t>
                      </a:r>
                      <a:endParaRPr lang="en-IN" sz="16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08800320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71793375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+ 1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71269730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+1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50887157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+ 2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19243494"/>
                  </a:ext>
                </a:extLst>
              </a:tr>
              <a:tr h="75586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- 2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94072848"/>
                  </a:ext>
                </a:extLst>
              </a:tr>
              <a:tr h="75586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- 1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5041051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-1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33109733"/>
                  </a:ext>
                </a:extLst>
              </a:tr>
              <a:tr h="41992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0 x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808725978"/>
                  </a:ext>
                </a:extLst>
              </a:tr>
            </a:tbl>
          </a:graphicData>
        </a:graphic>
      </p:graphicFrame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740" y="2137023"/>
            <a:ext cx="2580710" cy="194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24328" y="6503738"/>
            <a:ext cx="1337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smtClean="0"/>
              <a:t>Reference; I Malaserene &amp; </a:t>
            </a:r>
            <a:r>
              <a:rPr lang="en-IN" sz="800" dirty="0" err="1" smtClean="0"/>
              <a:t>Saritha</a:t>
            </a:r>
            <a:r>
              <a:rPr lang="en-IN" sz="800" dirty="0" smtClean="0"/>
              <a:t> V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336085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Modified Booth’s Algorithm</a:t>
            </a:r>
            <a:endParaRPr lang="en-IN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98978"/>
            <a:ext cx="7871986" cy="2154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704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19" y="1623528"/>
            <a:ext cx="7227812" cy="3153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Modified Booth’s Algorithm</a:t>
            </a:r>
            <a:endParaRPr lang="en-IN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196679" y="2717304"/>
            <a:ext cx="3831705" cy="251189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732240" y="5234880"/>
            <a:ext cx="241854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rgbClr val="FF0000"/>
                </a:solidFill>
              </a:rPr>
              <a:t>Insert zero after left shifting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flipH="1">
            <a:off x="3904436" y="2520617"/>
            <a:ext cx="360040" cy="43204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55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62074"/>
          </a:xfrm>
        </p:spPr>
        <p:txBody>
          <a:bodyPr>
            <a:noAutofit/>
          </a:bodyPr>
          <a:lstStyle/>
          <a:p>
            <a:r>
              <a:rPr lang="en-IN" sz="3200" dirty="0" smtClean="0"/>
              <a:t>Multiplication requiring only n/2 summands</a:t>
            </a:r>
            <a:endParaRPr lang="en-IN" sz="3200" dirty="0"/>
          </a:p>
        </p:txBody>
      </p:sp>
      <p:pic>
        <p:nvPicPr>
          <p:cNvPr id="3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4" y="722177"/>
            <a:ext cx="2660791" cy="17295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786" y="1529959"/>
            <a:ext cx="3021070" cy="30857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459" y="1711938"/>
            <a:ext cx="3256947" cy="230425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" y="2451691"/>
            <a:ext cx="2660791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907" y="4020642"/>
            <a:ext cx="3415470" cy="2346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2123728" y="4493528"/>
            <a:ext cx="3190410" cy="755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white"/>
                </a:solidFill>
              </a:rPr>
              <a:t>+2</a:t>
            </a:r>
            <a:r>
              <a:rPr lang="en-IN" dirty="0">
                <a:solidFill>
                  <a:prstClr val="white"/>
                </a:solidFill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prstClr val="white"/>
                </a:solidFill>
              </a:rPr>
              <a:t>( left shift )</a:t>
            </a:r>
          </a:p>
          <a:p>
            <a:pPr algn="ctr">
              <a:defRPr/>
            </a:pPr>
            <a:r>
              <a:rPr lang="en-IN" dirty="0">
                <a:solidFill>
                  <a:prstClr val="white"/>
                </a:solidFill>
              </a:rPr>
              <a:t>-2</a:t>
            </a:r>
            <a:r>
              <a:rPr lang="en-IN" dirty="0">
                <a:solidFill>
                  <a:prstClr val="white"/>
                </a:solidFill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prstClr val="white"/>
                </a:solidFill>
              </a:rPr>
              <a:t>( left shift +2’s </a:t>
            </a:r>
            <a:r>
              <a:rPr lang="en-IN" sz="2000" dirty="0">
                <a:solidFill>
                  <a:prstClr val="white"/>
                </a:solidFill>
              </a:rPr>
              <a:t>complement)</a:t>
            </a:r>
          </a:p>
        </p:txBody>
      </p:sp>
      <p:sp>
        <p:nvSpPr>
          <p:cNvPr id="9" name="Text Box 60"/>
          <p:cNvSpPr txBox="1">
            <a:spLocks noChangeArrowheads="1"/>
          </p:cNvSpPr>
          <p:nvPr/>
        </p:nvSpPr>
        <p:spPr bwMode="auto">
          <a:xfrm>
            <a:off x="6970960" y="460567"/>
            <a:ext cx="17054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1 </a:t>
            </a:r>
            <a:r>
              <a:rPr lang="en-US" altLang="en-US" sz="2000" dirty="0">
                <a:solidFill>
                  <a:prstClr val="black"/>
                </a:solidFill>
              </a:rPr>
              <a:t>1 1 0 1 0  </a:t>
            </a:r>
            <a:r>
              <a:rPr lang="en-US" altLang="en-US" sz="2800" dirty="0">
                <a:solidFill>
                  <a:srgbClr val="FF0000"/>
                </a:solidFill>
              </a:rPr>
              <a:t>0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Right Brace 9"/>
          <p:cNvSpPr/>
          <p:nvPr/>
        </p:nvSpPr>
        <p:spPr>
          <a:xfrm rot="5400000">
            <a:off x="7498358" y="873403"/>
            <a:ext cx="504056" cy="5291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35877" y="1394651"/>
            <a:ext cx="504056" cy="4494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2" name="Right Brace 11"/>
          <p:cNvSpPr/>
          <p:nvPr/>
        </p:nvSpPr>
        <p:spPr>
          <a:xfrm rot="5400000">
            <a:off x="7947946" y="772484"/>
            <a:ext cx="504056" cy="7525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510892" y="1362187"/>
            <a:ext cx="504056" cy="4494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14" name="Right Brace 13"/>
          <p:cNvSpPr/>
          <p:nvPr/>
        </p:nvSpPr>
        <p:spPr>
          <a:xfrm rot="5400000">
            <a:off x="7095166" y="897403"/>
            <a:ext cx="504056" cy="52912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35091" y="1345896"/>
            <a:ext cx="504056" cy="4494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7259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105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multiplier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IN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284984"/>
            <a:ext cx="4968552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628953"/>
              </p:ext>
            </p:extLst>
          </p:nvPr>
        </p:nvGraphicFramePr>
        <p:xfrm>
          <a:off x="1475658" y="1844823"/>
          <a:ext cx="604867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6"/>
                <a:gridCol w="576066"/>
                <a:gridCol w="864096"/>
                <a:gridCol w="864096"/>
                <a:gridCol w="864096"/>
                <a:gridCol w="864096"/>
                <a:gridCol w="864096"/>
              </a:tblGrid>
              <a:tr h="336038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smtClean="0">
                          <a:solidFill>
                            <a:schemeClr val="tx1"/>
                          </a:solidFill>
                        </a:rPr>
                        <a:t>0(Qn+1)</a:t>
                      </a:r>
                      <a:endParaRPr lang="en-IN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smtClean="0">
                          <a:solidFill>
                            <a:srgbClr val="FFFF00"/>
                          </a:solidFill>
                        </a:rPr>
                        <a:t>1</a:t>
                      </a:r>
                      <a:endParaRPr lang="en-IN" u="sng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FF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36038"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b="1" u="sng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en-US" b="1" u="sng" dirty="0" smtClean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b="1" u="sng" dirty="0" err="1" smtClean="0">
                          <a:solidFill>
                            <a:srgbClr val="FF0000"/>
                          </a:solidFill>
                        </a:rPr>
                        <a:t>Qn</a:t>
                      </a:r>
                      <a:r>
                        <a:rPr lang="en-US" b="1" u="sng" dirty="0" smtClean="0">
                          <a:solidFill>
                            <a:srgbClr val="FF0000"/>
                          </a:solidFill>
                        </a:rPr>
                        <a:t>=1)</a:t>
                      </a:r>
                      <a:r>
                        <a:rPr lang="en-US" b="1" u="sng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b="1" u="sng" baseline="0" dirty="0" smtClean="0">
                          <a:solidFill>
                            <a:srgbClr val="FF0000"/>
                          </a:solidFill>
                        </a:rPr>
                        <a:t>0(Qn+10</a:t>
                      </a:r>
                      <a:endParaRPr lang="en-IN" b="1" u="sng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IN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36038"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en-IN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+2</a:t>
                      </a:r>
                      <a:endParaRPr lang="en-IN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IN" b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657058"/>
              </p:ext>
            </p:extLst>
          </p:nvPr>
        </p:nvGraphicFramePr>
        <p:xfrm>
          <a:off x="1524000" y="332656"/>
          <a:ext cx="513623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7842"/>
                <a:gridCol w="2858390"/>
              </a:tblGrid>
              <a:tr h="866367">
                <a:tc>
                  <a:txBody>
                    <a:bodyPr/>
                    <a:lstStyle/>
                    <a:p>
                      <a:r>
                        <a:rPr lang="en-US" dirty="0" smtClean="0"/>
                        <a:t>1) 110110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2) 101100=[-1 , -1, 0]</a:t>
                      </a:r>
                      <a:br>
                        <a:rPr lang="en-US" dirty="0" smtClean="0"/>
                      </a:br>
                      <a:r>
                        <a:rPr lang="en-US" dirty="0" smtClean="0"/>
                        <a:t>3) 011011=[+2,</a:t>
                      </a:r>
                      <a:r>
                        <a:rPr lang="en-US" baseline="0" dirty="0" smtClean="0"/>
                        <a:t> -1, -1]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Bit pair recording format for</a:t>
                      </a:r>
                      <a:r>
                        <a:rPr lang="en-US" baseline="0" dirty="0" smtClean="0"/>
                        <a:t> the multiplier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43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Modified Booth’s Multiplication - Example</a:t>
            </a:r>
            <a:endParaRPr lang="en-IN" dirty="0"/>
          </a:p>
        </p:txBody>
      </p:sp>
      <p:sp>
        <p:nvSpPr>
          <p:cNvPr id="3" name="Rectangle 106"/>
          <p:cNvSpPr>
            <a:spLocks noChangeArrowheads="1"/>
          </p:cNvSpPr>
          <p:nvPr/>
        </p:nvSpPr>
        <p:spPr bwMode="auto">
          <a:xfrm>
            <a:off x="7084787" y="3450453"/>
            <a:ext cx="7920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7112083" y="4682353"/>
            <a:ext cx="7920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Rectangle 104"/>
          <p:cNvSpPr>
            <a:spLocks noChangeArrowheads="1"/>
          </p:cNvSpPr>
          <p:nvPr/>
        </p:nvSpPr>
        <p:spPr bwMode="auto">
          <a:xfrm>
            <a:off x="7098855" y="2104253"/>
            <a:ext cx="7920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Text Box 50"/>
          <p:cNvSpPr txBox="1">
            <a:spLocks noChangeArrowheads="1"/>
          </p:cNvSpPr>
          <p:nvPr/>
        </p:nvSpPr>
        <p:spPr bwMode="auto">
          <a:xfrm>
            <a:off x="5810516" y="1712141"/>
            <a:ext cx="3241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7" name="Text Box 51"/>
          <p:cNvSpPr txBox="1">
            <a:spLocks noChangeArrowheads="1"/>
          </p:cNvSpPr>
          <p:nvPr/>
        </p:nvSpPr>
        <p:spPr bwMode="auto">
          <a:xfrm>
            <a:off x="6790689" y="1712141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Q</a:t>
            </a:r>
          </a:p>
        </p:txBody>
      </p:sp>
      <p:sp>
        <p:nvSpPr>
          <p:cNvPr id="8" name="Text Box 52"/>
          <p:cNvSpPr txBox="1">
            <a:spLocks noChangeArrowheads="1"/>
          </p:cNvSpPr>
          <p:nvPr/>
        </p:nvSpPr>
        <p:spPr bwMode="auto">
          <a:xfrm>
            <a:off x="7470139" y="1686741"/>
            <a:ext cx="5212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dirty="0">
                <a:solidFill>
                  <a:prstClr val="black"/>
                </a:solidFill>
              </a:rPr>
              <a:t>Q </a:t>
            </a:r>
            <a:r>
              <a:rPr lang="en-US" altLang="en-US" b="1" baseline="-25000" dirty="0">
                <a:solidFill>
                  <a:prstClr val="black"/>
                </a:solidFill>
              </a:rPr>
              <a:t>-1</a:t>
            </a:r>
            <a:endParaRPr lang="en-US" altLang="en-US" b="1" dirty="0">
              <a:solidFill>
                <a:prstClr val="black"/>
              </a:solidFill>
            </a:endParaRPr>
          </a:p>
        </p:txBody>
      </p:sp>
      <p:sp>
        <p:nvSpPr>
          <p:cNvPr id="9" name="Text Box 53"/>
          <p:cNvSpPr txBox="1">
            <a:spLocks noChangeArrowheads="1"/>
          </p:cNvSpPr>
          <p:nvPr/>
        </p:nvSpPr>
        <p:spPr bwMode="auto">
          <a:xfrm>
            <a:off x="8416289" y="1672453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solidFill>
                  <a:prstClr val="black"/>
                </a:solidFill>
              </a:rPr>
              <a:t>SC</a:t>
            </a:r>
          </a:p>
        </p:txBody>
      </p:sp>
      <p:sp>
        <p:nvSpPr>
          <p:cNvPr id="10" name="Text Box 54"/>
          <p:cNvSpPr txBox="1">
            <a:spLocks noChangeArrowheads="1"/>
          </p:cNvSpPr>
          <p:nvPr/>
        </p:nvSpPr>
        <p:spPr bwMode="auto">
          <a:xfrm>
            <a:off x="4269739" y="1699441"/>
            <a:ext cx="1238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>
                <a:solidFill>
                  <a:prstClr val="black"/>
                </a:solidFill>
              </a:rPr>
              <a:t>Comment</a:t>
            </a:r>
          </a:p>
        </p:txBody>
      </p:sp>
      <p:sp>
        <p:nvSpPr>
          <p:cNvPr id="11" name="Text Box 58"/>
          <p:cNvSpPr txBox="1">
            <a:spLocks noChangeArrowheads="1"/>
          </p:cNvSpPr>
          <p:nvPr/>
        </p:nvSpPr>
        <p:spPr bwMode="auto">
          <a:xfrm>
            <a:off x="5579207" y="2078853"/>
            <a:ext cx="1006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000000</a:t>
            </a:r>
          </a:p>
        </p:txBody>
      </p:sp>
      <p:sp>
        <p:nvSpPr>
          <p:cNvPr id="12" name="Text Box 60"/>
          <p:cNvSpPr txBox="1">
            <a:spLocks noChangeArrowheads="1"/>
          </p:cNvSpPr>
          <p:nvPr/>
        </p:nvSpPr>
        <p:spPr bwMode="auto">
          <a:xfrm>
            <a:off x="6489452" y="2067521"/>
            <a:ext cx="9630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110011</a:t>
            </a:r>
          </a:p>
        </p:txBody>
      </p:sp>
      <p:sp>
        <p:nvSpPr>
          <p:cNvPr id="13" name="Text Box 61"/>
          <p:cNvSpPr txBox="1">
            <a:spLocks noChangeArrowheads="1"/>
          </p:cNvSpPr>
          <p:nvPr/>
        </p:nvSpPr>
        <p:spPr bwMode="auto">
          <a:xfrm>
            <a:off x="5565139" y="2418578"/>
            <a:ext cx="1066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001001</a:t>
            </a:r>
          </a:p>
        </p:txBody>
      </p:sp>
      <p:sp>
        <p:nvSpPr>
          <p:cNvPr id="14" name="Text Box 62"/>
          <p:cNvSpPr txBox="1">
            <a:spLocks noChangeArrowheads="1"/>
          </p:cNvSpPr>
          <p:nvPr/>
        </p:nvSpPr>
        <p:spPr bwMode="auto">
          <a:xfrm>
            <a:off x="5565139" y="2799578"/>
            <a:ext cx="1006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001001</a:t>
            </a:r>
          </a:p>
        </p:txBody>
      </p:sp>
      <p:sp>
        <p:nvSpPr>
          <p:cNvPr id="15" name="Text Box 63"/>
          <p:cNvSpPr txBox="1">
            <a:spLocks noChangeArrowheads="1"/>
          </p:cNvSpPr>
          <p:nvPr/>
        </p:nvSpPr>
        <p:spPr bwMode="auto">
          <a:xfrm>
            <a:off x="5565139" y="3120253"/>
            <a:ext cx="974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000100</a:t>
            </a:r>
          </a:p>
        </p:txBody>
      </p:sp>
      <p:sp>
        <p:nvSpPr>
          <p:cNvPr id="16" name="Text Box 64"/>
          <p:cNvSpPr txBox="1">
            <a:spLocks noChangeArrowheads="1"/>
          </p:cNvSpPr>
          <p:nvPr/>
        </p:nvSpPr>
        <p:spPr bwMode="auto">
          <a:xfrm>
            <a:off x="6504205" y="3104378"/>
            <a:ext cx="9602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111001</a:t>
            </a:r>
          </a:p>
        </p:txBody>
      </p:sp>
      <p:sp>
        <p:nvSpPr>
          <p:cNvPr id="17" name="Text Box 65"/>
          <p:cNvSpPr txBox="1">
            <a:spLocks noChangeArrowheads="1"/>
          </p:cNvSpPr>
          <p:nvPr/>
        </p:nvSpPr>
        <p:spPr bwMode="auto">
          <a:xfrm>
            <a:off x="5565139" y="34091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000010</a:t>
            </a:r>
          </a:p>
        </p:txBody>
      </p:sp>
      <p:sp>
        <p:nvSpPr>
          <p:cNvPr id="18" name="Text Box 66"/>
          <p:cNvSpPr txBox="1">
            <a:spLocks noChangeArrowheads="1"/>
          </p:cNvSpPr>
          <p:nvPr/>
        </p:nvSpPr>
        <p:spPr bwMode="auto">
          <a:xfrm>
            <a:off x="6489452" y="3409178"/>
            <a:ext cx="105688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011100</a:t>
            </a:r>
          </a:p>
        </p:txBody>
      </p:sp>
      <p:sp>
        <p:nvSpPr>
          <p:cNvPr id="19" name="Text Box 67"/>
          <p:cNvSpPr txBox="1">
            <a:spLocks noChangeArrowheads="1"/>
          </p:cNvSpPr>
          <p:nvPr/>
        </p:nvSpPr>
        <p:spPr bwMode="auto">
          <a:xfrm>
            <a:off x="5565139" y="37139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110111</a:t>
            </a:r>
          </a:p>
        </p:txBody>
      </p:sp>
      <p:sp>
        <p:nvSpPr>
          <p:cNvPr id="20" name="Text Box 68"/>
          <p:cNvSpPr txBox="1">
            <a:spLocks noChangeArrowheads="1"/>
          </p:cNvSpPr>
          <p:nvPr/>
        </p:nvSpPr>
        <p:spPr bwMode="auto">
          <a:xfrm>
            <a:off x="5565139" y="40187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111001</a:t>
            </a:r>
          </a:p>
        </p:txBody>
      </p:sp>
      <p:sp>
        <p:nvSpPr>
          <p:cNvPr id="21" name="Text Box 69"/>
          <p:cNvSpPr txBox="1">
            <a:spLocks noChangeArrowheads="1"/>
          </p:cNvSpPr>
          <p:nvPr/>
        </p:nvSpPr>
        <p:spPr bwMode="auto">
          <a:xfrm>
            <a:off x="5565139" y="43235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111100</a:t>
            </a:r>
          </a:p>
        </p:txBody>
      </p:sp>
      <p:sp>
        <p:nvSpPr>
          <p:cNvPr id="22" name="Text Box 70"/>
          <p:cNvSpPr txBox="1">
            <a:spLocks noChangeArrowheads="1"/>
          </p:cNvSpPr>
          <p:nvPr/>
        </p:nvSpPr>
        <p:spPr bwMode="auto">
          <a:xfrm>
            <a:off x="6539454" y="4323578"/>
            <a:ext cx="1006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101110</a:t>
            </a:r>
          </a:p>
        </p:txBody>
      </p:sp>
      <p:sp>
        <p:nvSpPr>
          <p:cNvPr id="23" name="Text Box 71"/>
          <p:cNvSpPr txBox="1">
            <a:spLocks noChangeArrowheads="1"/>
          </p:cNvSpPr>
          <p:nvPr/>
        </p:nvSpPr>
        <p:spPr bwMode="auto">
          <a:xfrm>
            <a:off x="5565139" y="46283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111110</a:t>
            </a:r>
          </a:p>
        </p:txBody>
      </p:sp>
      <p:sp>
        <p:nvSpPr>
          <p:cNvPr id="24" name="Text Box 72"/>
          <p:cNvSpPr txBox="1">
            <a:spLocks noChangeArrowheads="1"/>
          </p:cNvSpPr>
          <p:nvPr/>
        </p:nvSpPr>
        <p:spPr bwMode="auto">
          <a:xfrm>
            <a:off x="6517853" y="4628378"/>
            <a:ext cx="9761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010111</a:t>
            </a:r>
          </a:p>
        </p:txBody>
      </p:sp>
      <p:sp>
        <p:nvSpPr>
          <p:cNvPr id="25" name="Text Box 73"/>
          <p:cNvSpPr txBox="1">
            <a:spLocks noChangeArrowheads="1"/>
          </p:cNvSpPr>
          <p:nvPr/>
        </p:nvSpPr>
        <p:spPr bwMode="auto">
          <a:xfrm>
            <a:off x="5565139" y="49331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001001</a:t>
            </a:r>
          </a:p>
        </p:txBody>
      </p:sp>
      <p:sp>
        <p:nvSpPr>
          <p:cNvPr id="26" name="Text Box 74"/>
          <p:cNvSpPr txBox="1">
            <a:spLocks noChangeArrowheads="1"/>
          </p:cNvSpPr>
          <p:nvPr/>
        </p:nvSpPr>
        <p:spPr bwMode="auto">
          <a:xfrm>
            <a:off x="5565139" y="5237978"/>
            <a:ext cx="10509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000111</a:t>
            </a:r>
          </a:p>
        </p:txBody>
      </p:sp>
      <p:sp>
        <p:nvSpPr>
          <p:cNvPr id="27" name="Text Box 75"/>
          <p:cNvSpPr txBox="1">
            <a:spLocks noChangeArrowheads="1"/>
          </p:cNvSpPr>
          <p:nvPr/>
        </p:nvSpPr>
        <p:spPr bwMode="auto">
          <a:xfrm>
            <a:off x="5565139" y="554277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000011</a:t>
            </a:r>
          </a:p>
        </p:txBody>
      </p:sp>
      <p:sp>
        <p:nvSpPr>
          <p:cNvPr id="28" name="Text Box 76"/>
          <p:cNvSpPr txBox="1">
            <a:spLocks noChangeArrowheads="1"/>
          </p:cNvSpPr>
          <p:nvPr/>
        </p:nvSpPr>
        <p:spPr bwMode="auto">
          <a:xfrm>
            <a:off x="6539454" y="5542778"/>
            <a:ext cx="1006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101011</a:t>
            </a:r>
          </a:p>
        </p:txBody>
      </p:sp>
      <p:sp>
        <p:nvSpPr>
          <p:cNvPr id="29" name="Line 77"/>
          <p:cNvSpPr>
            <a:spLocks noChangeShapeType="1"/>
          </p:cNvSpPr>
          <p:nvPr/>
        </p:nvSpPr>
        <p:spPr bwMode="auto">
          <a:xfrm>
            <a:off x="5628639" y="282815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30" name="Line 78"/>
          <p:cNvSpPr>
            <a:spLocks noChangeShapeType="1"/>
          </p:cNvSpPr>
          <p:nvPr/>
        </p:nvSpPr>
        <p:spPr bwMode="auto">
          <a:xfrm>
            <a:off x="5641339" y="407275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31" name="Line 79"/>
          <p:cNvSpPr>
            <a:spLocks noChangeShapeType="1"/>
          </p:cNvSpPr>
          <p:nvPr/>
        </p:nvSpPr>
        <p:spPr bwMode="auto">
          <a:xfrm>
            <a:off x="5641339" y="527925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32" name="Text Box 80"/>
          <p:cNvSpPr txBox="1">
            <a:spLocks noChangeArrowheads="1"/>
          </p:cNvSpPr>
          <p:nvPr/>
        </p:nvSpPr>
        <p:spPr bwMode="auto">
          <a:xfrm>
            <a:off x="7622539" y="203757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33" name="Text Box 81"/>
          <p:cNvSpPr txBox="1">
            <a:spLocks noChangeArrowheads="1"/>
          </p:cNvSpPr>
          <p:nvPr/>
        </p:nvSpPr>
        <p:spPr bwMode="auto">
          <a:xfrm>
            <a:off x="8460739" y="2053453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3</a:t>
            </a:r>
          </a:p>
        </p:txBody>
      </p:sp>
      <p:sp>
        <p:nvSpPr>
          <p:cNvPr id="34" name="Text Box 82"/>
          <p:cNvSpPr txBox="1">
            <a:spLocks noChangeArrowheads="1"/>
          </p:cNvSpPr>
          <p:nvPr/>
        </p:nvSpPr>
        <p:spPr bwMode="auto">
          <a:xfrm>
            <a:off x="7622539" y="310437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35" name="Text Box 84"/>
          <p:cNvSpPr txBox="1">
            <a:spLocks noChangeArrowheads="1"/>
          </p:cNvSpPr>
          <p:nvPr/>
        </p:nvSpPr>
        <p:spPr bwMode="auto">
          <a:xfrm>
            <a:off x="7622539" y="340917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36" name="Text Box 85"/>
          <p:cNvSpPr txBox="1">
            <a:spLocks noChangeArrowheads="1"/>
          </p:cNvSpPr>
          <p:nvPr/>
        </p:nvSpPr>
        <p:spPr bwMode="auto">
          <a:xfrm>
            <a:off x="8460739" y="3409178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2</a:t>
            </a:r>
          </a:p>
        </p:txBody>
      </p:sp>
      <p:sp>
        <p:nvSpPr>
          <p:cNvPr id="37" name="Text Box 86"/>
          <p:cNvSpPr txBox="1">
            <a:spLocks noChangeArrowheads="1"/>
          </p:cNvSpPr>
          <p:nvPr/>
        </p:nvSpPr>
        <p:spPr bwMode="auto">
          <a:xfrm>
            <a:off x="7622539" y="432357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38" name="Text Box 87"/>
          <p:cNvSpPr txBox="1">
            <a:spLocks noChangeArrowheads="1"/>
          </p:cNvSpPr>
          <p:nvPr/>
        </p:nvSpPr>
        <p:spPr bwMode="auto">
          <a:xfrm>
            <a:off x="7622539" y="460297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39" name="Text Box 88"/>
          <p:cNvSpPr txBox="1">
            <a:spLocks noChangeArrowheads="1"/>
          </p:cNvSpPr>
          <p:nvPr/>
        </p:nvSpPr>
        <p:spPr bwMode="auto">
          <a:xfrm>
            <a:off x="7622539" y="554277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40" name="Text Box 91"/>
          <p:cNvSpPr txBox="1">
            <a:spLocks noChangeArrowheads="1"/>
          </p:cNvSpPr>
          <p:nvPr/>
        </p:nvSpPr>
        <p:spPr bwMode="auto">
          <a:xfrm>
            <a:off x="8389302" y="4590278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41" name="Line 92"/>
          <p:cNvSpPr>
            <a:spLocks noChangeShapeType="1"/>
          </p:cNvSpPr>
          <p:nvPr/>
        </p:nvSpPr>
        <p:spPr bwMode="auto">
          <a:xfrm>
            <a:off x="4269739" y="2053453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2" name="Text Box 93"/>
          <p:cNvSpPr txBox="1">
            <a:spLocks noChangeArrowheads="1"/>
          </p:cNvSpPr>
          <p:nvPr/>
        </p:nvSpPr>
        <p:spPr bwMode="auto">
          <a:xfrm>
            <a:off x="4225289" y="2434453"/>
            <a:ext cx="12208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Subtract M</a:t>
            </a:r>
          </a:p>
        </p:txBody>
      </p:sp>
      <p:sp>
        <p:nvSpPr>
          <p:cNvPr id="43" name="Text Box 94"/>
          <p:cNvSpPr txBox="1">
            <a:spLocks noChangeArrowheads="1"/>
          </p:cNvSpPr>
          <p:nvPr/>
        </p:nvSpPr>
        <p:spPr bwMode="auto">
          <a:xfrm>
            <a:off x="4225289" y="3731441"/>
            <a:ext cx="8114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Add M</a:t>
            </a:r>
          </a:p>
        </p:txBody>
      </p:sp>
      <p:sp>
        <p:nvSpPr>
          <p:cNvPr id="44" name="Text Box 95"/>
          <p:cNvSpPr txBox="1">
            <a:spLocks noChangeArrowheads="1"/>
          </p:cNvSpPr>
          <p:nvPr/>
        </p:nvSpPr>
        <p:spPr bwMode="auto">
          <a:xfrm>
            <a:off x="4193539" y="4949053"/>
            <a:ext cx="12208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prstClr val="black"/>
                </a:solidFill>
              </a:rPr>
              <a:t>Subtract M</a:t>
            </a:r>
          </a:p>
        </p:txBody>
      </p:sp>
      <p:sp>
        <p:nvSpPr>
          <p:cNvPr id="45" name="Text Box 96"/>
          <p:cNvSpPr txBox="1">
            <a:spLocks noChangeArrowheads="1"/>
          </p:cNvSpPr>
          <p:nvPr/>
        </p:nvSpPr>
        <p:spPr bwMode="auto">
          <a:xfrm>
            <a:off x="4225289" y="3121841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prstClr val="black"/>
                </a:solidFill>
              </a:rPr>
              <a:t>Ashr</a:t>
            </a:r>
          </a:p>
        </p:txBody>
      </p:sp>
      <p:sp>
        <p:nvSpPr>
          <p:cNvPr id="46" name="Text Box 97"/>
          <p:cNvSpPr txBox="1">
            <a:spLocks noChangeArrowheads="1"/>
          </p:cNvSpPr>
          <p:nvPr/>
        </p:nvSpPr>
        <p:spPr bwMode="auto">
          <a:xfrm>
            <a:off x="4225289" y="3439341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prstClr val="black"/>
                </a:solidFill>
              </a:rPr>
              <a:t>Ashr</a:t>
            </a:r>
          </a:p>
        </p:txBody>
      </p:sp>
      <p:sp>
        <p:nvSpPr>
          <p:cNvPr id="47" name="Text Box 98"/>
          <p:cNvSpPr txBox="1">
            <a:spLocks noChangeArrowheads="1"/>
          </p:cNvSpPr>
          <p:nvPr/>
        </p:nvSpPr>
        <p:spPr bwMode="auto">
          <a:xfrm>
            <a:off x="4225289" y="4353741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prstClr val="black"/>
                </a:solidFill>
              </a:rPr>
              <a:t>Ashr</a:t>
            </a:r>
          </a:p>
        </p:txBody>
      </p:sp>
      <p:sp>
        <p:nvSpPr>
          <p:cNvPr id="48" name="Text Box 99"/>
          <p:cNvSpPr txBox="1">
            <a:spLocks noChangeArrowheads="1"/>
          </p:cNvSpPr>
          <p:nvPr/>
        </p:nvSpPr>
        <p:spPr bwMode="auto">
          <a:xfrm>
            <a:off x="4250689" y="5547541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prstClr val="black"/>
                </a:solidFill>
              </a:rPr>
              <a:t>Ashr</a:t>
            </a:r>
          </a:p>
        </p:txBody>
      </p:sp>
      <p:sp>
        <p:nvSpPr>
          <p:cNvPr id="49" name="Text Box 110"/>
          <p:cNvSpPr txBox="1">
            <a:spLocks noChangeArrowheads="1"/>
          </p:cNvSpPr>
          <p:nvPr/>
        </p:nvSpPr>
        <p:spPr bwMode="auto">
          <a:xfrm>
            <a:off x="4206239" y="4620441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prstClr val="black"/>
                </a:solidFill>
              </a:rPr>
              <a:t>Ashr</a:t>
            </a:r>
          </a:p>
        </p:txBody>
      </p:sp>
      <p:sp>
        <p:nvSpPr>
          <p:cNvPr id="50" name="Text Box 75"/>
          <p:cNvSpPr txBox="1">
            <a:spLocks noChangeArrowheads="1"/>
          </p:cNvSpPr>
          <p:nvPr/>
        </p:nvSpPr>
        <p:spPr bwMode="auto">
          <a:xfrm>
            <a:off x="5567411" y="5763418"/>
            <a:ext cx="974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000001</a:t>
            </a:r>
          </a:p>
        </p:txBody>
      </p:sp>
      <p:sp>
        <p:nvSpPr>
          <p:cNvPr id="51" name="Text Box 76"/>
          <p:cNvSpPr txBox="1">
            <a:spLocks noChangeArrowheads="1"/>
          </p:cNvSpPr>
          <p:nvPr/>
        </p:nvSpPr>
        <p:spPr bwMode="auto">
          <a:xfrm>
            <a:off x="6541726" y="5763418"/>
            <a:ext cx="10068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prstClr val="black"/>
                </a:solidFill>
              </a:rPr>
              <a:t>110101</a:t>
            </a:r>
          </a:p>
        </p:txBody>
      </p:sp>
      <p:sp>
        <p:nvSpPr>
          <p:cNvPr id="52" name="Text Box 88"/>
          <p:cNvSpPr txBox="1">
            <a:spLocks noChangeArrowheads="1"/>
          </p:cNvSpPr>
          <p:nvPr/>
        </p:nvSpPr>
        <p:spPr bwMode="auto">
          <a:xfrm>
            <a:off x="7624811" y="5763418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3" name="Text Box 89"/>
          <p:cNvSpPr txBox="1">
            <a:spLocks noChangeArrowheads="1"/>
          </p:cNvSpPr>
          <p:nvPr/>
        </p:nvSpPr>
        <p:spPr bwMode="auto">
          <a:xfrm>
            <a:off x="8442374" y="5779293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54" name="Text Box 99"/>
          <p:cNvSpPr txBox="1">
            <a:spLocks noChangeArrowheads="1"/>
          </p:cNvSpPr>
          <p:nvPr/>
        </p:nvSpPr>
        <p:spPr bwMode="auto">
          <a:xfrm>
            <a:off x="4252961" y="5768181"/>
            <a:ext cx="654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>
                <a:solidFill>
                  <a:prstClr val="black"/>
                </a:solidFill>
              </a:rPr>
              <a:t>Ashr</a:t>
            </a:r>
          </a:p>
        </p:txBody>
      </p:sp>
      <p:pic>
        <p:nvPicPr>
          <p:cNvPr id="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104377"/>
            <a:ext cx="2807220" cy="1943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6" name="Group 55"/>
          <p:cNvGrpSpPr>
            <a:grpSpLocks/>
          </p:cNvGrpSpPr>
          <p:nvPr/>
        </p:nvGrpSpPr>
        <p:grpSpPr bwMode="auto">
          <a:xfrm>
            <a:off x="775244" y="1333522"/>
            <a:ext cx="2874963" cy="757238"/>
            <a:chOff x="2950" y="590"/>
            <a:chExt cx="1811" cy="477"/>
          </a:xfrm>
        </p:grpSpPr>
        <p:sp>
          <p:nvSpPr>
            <p:cNvPr id="57" name="Text Box 49"/>
            <p:cNvSpPr txBox="1">
              <a:spLocks noChangeArrowheads="1"/>
            </p:cNvSpPr>
            <p:nvPr/>
          </p:nvSpPr>
          <p:spPr bwMode="auto">
            <a:xfrm>
              <a:off x="2950" y="590"/>
              <a:ext cx="1811" cy="4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en-US" dirty="0">
                  <a:solidFill>
                    <a:prstClr val="black"/>
                  </a:solidFill>
                </a:rPr>
                <a:t>Example: -9 </a:t>
              </a:r>
              <a:r>
                <a:rPr lang="en-US" altLang="en-US" dirty="0">
                  <a:solidFill>
                    <a:prstClr val="black"/>
                  </a:solidFill>
                  <a:cs typeface="Arial" panose="020B0604020202020204" pitchFamily="34" charset="0"/>
                </a:rPr>
                <a:t>× -13 = 117</a:t>
              </a:r>
            </a:p>
            <a:p>
              <a:pPr>
                <a:lnSpc>
                  <a:spcPct val="120000"/>
                </a:lnSpc>
              </a:pPr>
              <a:r>
                <a:rPr lang="en-US" altLang="en-US" dirty="0">
                  <a:solidFill>
                    <a:prstClr val="black"/>
                  </a:solidFill>
                  <a:cs typeface="Arial" panose="020B0604020202020204" pitchFamily="34" charset="0"/>
                </a:rPr>
                <a:t>M = 110111, M + 1 = 001001</a:t>
              </a:r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>
              <a:off x="3747" y="863"/>
              <a:ext cx="192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N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757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IN" dirty="0" smtClean="0"/>
              <a:t>References</a:t>
            </a: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panose="020B0604020202020204" pitchFamily="34" charset="0"/>
              <a:buNone/>
            </a:pPr>
            <a:r>
              <a:rPr lang="en-US" altLang="en-US" smtClean="0"/>
              <a:t>Text Book</a:t>
            </a:r>
          </a:p>
          <a:p>
            <a:pPr algn="just"/>
            <a:r>
              <a:rPr lang="en-US" altLang="en-US" smtClean="0"/>
              <a:t>William Stallings “Computer Organization and architecture” Prentice Hall, 7th edition, 2006</a:t>
            </a:r>
          </a:p>
          <a:p>
            <a:pPr algn="just"/>
            <a:r>
              <a:rPr lang="en-US" altLang="en-US" smtClean="0"/>
              <a:t>Carl Hamacher, Zvonko Vranesic, Sofwat Zaky, “Computer Organization”, 5</a:t>
            </a:r>
            <a:r>
              <a:rPr lang="en-US" altLang="en-US" baseline="30000" smtClean="0"/>
              <a:t>th</a:t>
            </a:r>
            <a:r>
              <a:rPr lang="en-US" altLang="en-US" smtClean="0"/>
              <a:t> edition, Mc Graw Hill.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153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7620000" cy="5937523"/>
          </a:xfrm>
        </p:spPr>
        <p:txBody>
          <a:bodyPr/>
          <a:lstStyle/>
          <a:p>
            <a:r>
              <a:rPr lang="en-US" dirty="0" smtClean="0"/>
              <a:t>1)A= 010111(Multiplicand)</a:t>
            </a:r>
          </a:p>
          <a:p>
            <a:r>
              <a:rPr lang="en-US" dirty="0" smtClean="0"/>
              <a:t>B= 110110(multiplier)</a:t>
            </a:r>
          </a:p>
          <a:p>
            <a:endParaRPr lang="en-US" dirty="0"/>
          </a:p>
          <a:p>
            <a:r>
              <a:rPr lang="en-US" dirty="0" smtClean="0"/>
              <a:t>2)</a:t>
            </a:r>
          </a:p>
          <a:p>
            <a:r>
              <a:rPr lang="en-US" dirty="0" smtClean="0"/>
              <a:t>A=110011</a:t>
            </a:r>
          </a:p>
          <a:p>
            <a:r>
              <a:rPr lang="en-US" dirty="0" smtClean="0"/>
              <a:t>B= 101100</a:t>
            </a:r>
          </a:p>
          <a:p>
            <a:endParaRPr lang="en-US" dirty="0"/>
          </a:p>
          <a:p>
            <a:r>
              <a:rPr lang="en-US" dirty="0" smtClean="0"/>
              <a:t>3)</a:t>
            </a:r>
          </a:p>
          <a:p>
            <a:r>
              <a:rPr lang="en-US" dirty="0" smtClean="0"/>
              <a:t>A=110101</a:t>
            </a:r>
          </a:p>
          <a:p>
            <a:r>
              <a:rPr lang="en-US" dirty="0" smtClean="0"/>
              <a:t>B=011011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644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147248" cy="470073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838450"/>
            <a:ext cx="6840760" cy="3110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439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04865"/>
            <a:ext cx="6696744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76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1086</TotalTime>
  <Words>594</Words>
  <Application>Microsoft Office PowerPoint</Application>
  <PresentationFormat>On-screen Show (4:3)</PresentationFormat>
  <Paragraphs>302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Essential</vt:lpstr>
      <vt:lpstr>Office Theme</vt:lpstr>
      <vt:lpstr>1_Office Theme</vt:lpstr>
      <vt:lpstr>2_Office Theme</vt:lpstr>
      <vt:lpstr>Modified Booth’s Algorithm</vt:lpstr>
      <vt:lpstr>Overview</vt:lpstr>
      <vt:lpstr>Booth’s Multiplication  Algorithm</vt:lpstr>
      <vt:lpstr>Example</vt:lpstr>
      <vt:lpstr>Bit Pair recording of Multipliers   (Modified Booths Algorithm )</vt:lpstr>
      <vt:lpstr>Modified Booths Algorithm</vt:lpstr>
      <vt:lpstr>Example</vt:lpstr>
      <vt:lpstr>PowerPoint Presentation</vt:lpstr>
      <vt:lpstr>Bit PAIR Recording TABLE</vt:lpstr>
      <vt:lpstr>Modified Booth’s Algorithm</vt:lpstr>
      <vt:lpstr>Modified Booth’s Algorithm</vt:lpstr>
      <vt:lpstr>Multiplication requiring only n/2 summands</vt:lpstr>
      <vt:lpstr>     multiplier  </vt:lpstr>
      <vt:lpstr>Modified Booth’s Multiplication - Example</vt:lpstr>
      <vt:lpstr>References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</dc:title>
  <dc:creator>HP</dc:creator>
  <cp:lastModifiedBy>admin</cp:lastModifiedBy>
  <cp:revision>20</cp:revision>
  <dcterms:created xsi:type="dcterms:W3CDTF">2017-09-12T00:14:47Z</dcterms:created>
  <dcterms:modified xsi:type="dcterms:W3CDTF">2024-01-18T05:09:45Z</dcterms:modified>
</cp:coreProperties>
</file>