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5165" r:id="rId2"/>
  </p:sldMasterIdLst>
  <p:notesMasterIdLst>
    <p:notesMasterId r:id="rId19"/>
  </p:notesMasterIdLst>
  <p:handoutMasterIdLst>
    <p:handoutMasterId r:id="rId20"/>
  </p:handoutMasterIdLst>
  <p:sldIdLst>
    <p:sldId id="1735" r:id="rId3"/>
    <p:sldId id="1736" r:id="rId4"/>
    <p:sldId id="1737" r:id="rId5"/>
    <p:sldId id="1738" r:id="rId6"/>
    <p:sldId id="1742" r:id="rId7"/>
    <p:sldId id="1741" r:id="rId8"/>
    <p:sldId id="1746" r:id="rId9"/>
    <p:sldId id="1747" r:id="rId10"/>
    <p:sldId id="1724" r:id="rId11"/>
    <p:sldId id="1704" r:id="rId12"/>
    <p:sldId id="1714" r:id="rId13"/>
    <p:sldId id="1520" r:id="rId14"/>
    <p:sldId id="1745" r:id="rId15"/>
    <p:sldId id="1744" r:id="rId16"/>
    <p:sldId id="1521" r:id="rId17"/>
    <p:sldId id="1522" r:id="rId18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  <a:srgbClr val="008000"/>
    <a:srgbClr val="28A834"/>
    <a:srgbClr val="F0F0F0"/>
    <a:srgbClr val="E1D1FD"/>
    <a:srgbClr val="996600"/>
    <a:srgbClr val="FF3300"/>
    <a:srgbClr val="00FF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5033" autoAdjust="0"/>
  </p:normalViewPr>
  <p:slideViewPr>
    <p:cSldViewPr>
      <p:cViewPr>
        <p:scale>
          <a:sx n="77" d="100"/>
          <a:sy n="77" d="100"/>
        </p:scale>
        <p:origin x="-252" y="-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E43A61-8650-4667-B3DE-BA4087FADA3B}" type="doc">
      <dgm:prSet loTypeId="urn:microsoft.com/office/officeart/2005/8/layout/h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084C5D-9E61-4163-B158-D8B997351D90}">
      <dgm:prSet phldrT="[Text]"/>
      <dgm:spPr/>
      <dgm:t>
        <a:bodyPr/>
        <a:lstStyle/>
        <a:p>
          <a:r>
            <a:rPr lang="en-US" dirty="0">
              <a:latin typeface="+mj-lt"/>
            </a:rPr>
            <a:t>Pros</a:t>
          </a:r>
        </a:p>
      </dgm:t>
    </dgm:pt>
    <dgm:pt modelId="{396D3C58-4988-495C-BBCF-9A92F4738B0F}" type="parTrans" cxnId="{88A74222-7E86-4466-BB9C-381BF7C3EF78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FE025B0A-5FE9-4103-AAD4-49CF18806186}" type="sibTrans" cxnId="{88A74222-7E86-4466-BB9C-381BF7C3EF78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5D4CF450-B557-46F0-87D8-D9392142C484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8000"/>
              </a:solidFill>
              <a:latin typeface="+mj-lt"/>
            </a:rPr>
            <a:t>Hardwired Control Unit is fast since it use of combinational circuits to generate signals </a:t>
          </a:r>
          <a:endParaRPr lang="en-US" dirty="0">
            <a:solidFill>
              <a:srgbClr val="008000"/>
            </a:solidFill>
            <a:latin typeface="+mj-lt"/>
          </a:endParaRPr>
        </a:p>
      </dgm:t>
    </dgm:pt>
    <dgm:pt modelId="{6913493D-12E8-40CE-8D2C-7339A1415C62}" type="parTrans" cxnId="{FCAD2821-E8C4-4197-89B1-A6769CAE09A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AA2BACB1-AB06-472A-B02A-17D0229C9E61}" type="sibTrans" cxnId="{FCAD2821-E8C4-4197-89B1-A6769CAE09A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80C4EDA4-10F9-49C1-8445-44C0AFCAF772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8000"/>
              </a:solidFill>
              <a:latin typeface="+mj-lt"/>
            </a:rPr>
            <a:t>It depends on number of gates, how much delay can occur in generation of control signals</a:t>
          </a:r>
          <a:endParaRPr lang="en-US" dirty="0">
            <a:solidFill>
              <a:srgbClr val="008000"/>
            </a:solidFill>
            <a:latin typeface="+mj-lt"/>
          </a:endParaRPr>
        </a:p>
      </dgm:t>
    </dgm:pt>
    <dgm:pt modelId="{54C54774-6A31-4003-B523-3DB19F87B65A}" type="parTrans" cxnId="{64A94815-C47B-4341-893F-737FC8B32ED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44666419-45DC-4D5F-A3FC-5F1C5F59FCF5}" type="sibTrans" cxnId="{64A94815-C47B-4341-893F-737FC8B32ED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74CC9BD3-9FE4-4198-9E9B-204753122A01}">
      <dgm:prSet phldrT="[Text]"/>
      <dgm:spPr/>
      <dgm:t>
        <a:bodyPr/>
        <a:lstStyle/>
        <a:p>
          <a:r>
            <a:rPr lang="en-US" dirty="0">
              <a:latin typeface="+mj-lt"/>
            </a:rPr>
            <a:t>Cons</a:t>
          </a:r>
        </a:p>
      </dgm:t>
    </dgm:pt>
    <dgm:pt modelId="{39A40A09-A988-4E53-8F14-A6FF8E2D2258}" type="parTrans" cxnId="{EC4C8E65-882A-4B5B-9540-BE3494AF6DE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A4EAF62F-F7B5-46B5-88A5-C6AB4656BFF7}" type="sibTrans" cxnId="{EC4C8E65-882A-4B5B-9540-BE3494AF6DE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7D67371-8F03-4386-AF62-8A6A316D4E8F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33CC"/>
              </a:solidFill>
              <a:latin typeface="+mj-lt"/>
            </a:rPr>
            <a:t>The complexity of the design increases as we require more control signals to be generated (need of more encoders &amp; decoders)</a:t>
          </a:r>
          <a:endParaRPr lang="en-US" dirty="0">
            <a:solidFill>
              <a:srgbClr val="0033CC"/>
            </a:solidFill>
            <a:latin typeface="+mj-lt"/>
          </a:endParaRPr>
        </a:p>
      </dgm:t>
    </dgm:pt>
    <dgm:pt modelId="{D8C929B8-D2CC-436B-A54B-D2FF6810B834}" type="parTrans" cxnId="{669F6B41-9D7A-4DA2-A0A9-0F5AE9B69E6E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77D54A58-4ECA-46BC-B560-DFBCF02025EA}" type="sibTrans" cxnId="{669F6B41-9D7A-4DA2-A0A9-0F5AE9B69E6E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3DA214E6-3B7C-4FB4-A584-955A79AE0AB0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33CC"/>
              </a:solidFill>
              <a:latin typeface="+mj-lt"/>
            </a:rPr>
            <a:t>Modifications in the control signals are very difficult because it requires rearranging of wires in the hardware circuit</a:t>
          </a:r>
          <a:endParaRPr lang="en-US" dirty="0">
            <a:solidFill>
              <a:srgbClr val="0033CC"/>
            </a:solidFill>
            <a:latin typeface="+mj-lt"/>
          </a:endParaRPr>
        </a:p>
      </dgm:t>
    </dgm:pt>
    <dgm:pt modelId="{416BA4F5-23FA-41AB-9498-4E0438B4350A}" type="parTrans" cxnId="{FDFA8848-7E79-4CAE-812C-E9BF2E4827B7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C3DE115A-9F49-4EB7-BB2B-D3C35AB64531}" type="sibTrans" cxnId="{FDFA8848-7E79-4CAE-812C-E9BF2E4827B7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5ACA7F64-44B9-48D5-8D48-CE2E7822768A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8000"/>
              </a:solidFill>
              <a:latin typeface="+mj-lt"/>
            </a:rPr>
            <a:t>It can be optimized to produce the fast mode of operation</a:t>
          </a:r>
          <a:endParaRPr lang="en-US" dirty="0">
            <a:solidFill>
              <a:srgbClr val="008000"/>
            </a:solidFill>
            <a:latin typeface="+mj-lt"/>
          </a:endParaRPr>
        </a:p>
      </dgm:t>
    </dgm:pt>
    <dgm:pt modelId="{E34D65B7-76E0-4CCF-817C-4CC484F79403}" type="parTrans" cxnId="{1F5F2124-E52B-4FD5-A5B0-4E8B3F93BFC5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98DF1D75-4EDD-4468-9ADD-5C21F2C71EC3}" type="sibTrans" cxnId="{1F5F2124-E52B-4FD5-A5B0-4E8B3F93BFC5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E0D4AC52-B337-409A-9C15-3FF6FE83AA4B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8000"/>
              </a:solidFill>
              <a:latin typeface="+mj-lt"/>
            </a:rPr>
            <a:t>Faster than micro- programmed control unit</a:t>
          </a:r>
          <a:endParaRPr lang="en-US" dirty="0">
            <a:solidFill>
              <a:srgbClr val="008000"/>
            </a:solidFill>
            <a:latin typeface="+mj-lt"/>
          </a:endParaRPr>
        </a:p>
      </dgm:t>
    </dgm:pt>
    <dgm:pt modelId="{8C872BBD-66B1-43CA-809C-7B80FA9899B6}" type="parTrans" cxnId="{DACEF6C8-7030-4C53-B2F4-AAC32D17EB5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7A289624-F0E5-46D6-8A06-D280FFD502DF}" type="sibTrans" cxnId="{DACEF6C8-7030-4C53-B2F4-AAC32D17EB5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DF5FBD25-B476-40C8-8CC7-C66E950EA594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33CC"/>
              </a:solidFill>
              <a:latin typeface="+mj-lt"/>
            </a:rPr>
            <a:t>Adding a new feature is difficult &amp; complex</a:t>
          </a:r>
          <a:endParaRPr lang="en-US" dirty="0">
            <a:solidFill>
              <a:srgbClr val="0033CC"/>
            </a:solidFill>
            <a:latin typeface="+mj-lt"/>
          </a:endParaRPr>
        </a:p>
      </dgm:t>
    </dgm:pt>
    <dgm:pt modelId="{5485DD46-DE27-4CC5-A173-B9B1F55E16CC}" type="parTrans" cxnId="{63E34F08-8858-46E7-802F-A1D72FD6003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6DEE19B5-DF5A-43A2-AB83-56C39B751804}" type="sibTrans" cxnId="{63E34F08-8858-46E7-802F-A1D72FD6003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F7984857-F499-4447-BC56-6207F5FAEA7E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33CC"/>
              </a:solidFill>
              <a:latin typeface="+mj-lt"/>
            </a:rPr>
            <a:t>Difficult to test &amp; correct mistakes in the original design</a:t>
          </a:r>
          <a:endParaRPr lang="en-US" dirty="0">
            <a:solidFill>
              <a:srgbClr val="0033CC"/>
            </a:solidFill>
            <a:latin typeface="+mj-lt"/>
          </a:endParaRPr>
        </a:p>
      </dgm:t>
    </dgm:pt>
    <dgm:pt modelId="{F1653577-DCE7-483F-BA35-EE3965EDC0D7}" type="parTrans" cxnId="{14FCF86B-FF4E-440E-9F33-1EF6661274F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430B7E2-1AD0-4BC2-9E2F-F802C48DD290}" type="sibTrans" cxnId="{14FCF86B-FF4E-440E-9F33-1EF6661274F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6401BCB-7F97-47AF-B12A-AAD23AA44660}">
      <dgm:prSet phldrT="[Text]"/>
      <dgm:spPr/>
      <dgm:t>
        <a:bodyPr/>
        <a:lstStyle/>
        <a:p>
          <a:pPr algn="just"/>
          <a:r>
            <a:rPr lang="en-US" b="0" i="0" dirty="0">
              <a:solidFill>
                <a:srgbClr val="0033CC"/>
              </a:solidFill>
              <a:latin typeface="+mj-lt"/>
            </a:rPr>
            <a:t>It is Expensive</a:t>
          </a:r>
          <a:endParaRPr lang="en-US" dirty="0">
            <a:solidFill>
              <a:srgbClr val="0033CC"/>
            </a:solidFill>
            <a:latin typeface="+mj-lt"/>
          </a:endParaRPr>
        </a:p>
      </dgm:t>
    </dgm:pt>
    <dgm:pt modelId="{C9676F65-A6BA-497E-B59D-41E3FA4315E2}" type="parTrans" cxnId="{561A6144-729A-4A47-B96D-41450906E9E3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C3E32A8D-4616-442F-BF01-605C8392C32C}" type="sibTrans" cxnId="{561A6144-729A-4A47-B96D-41450906E9E3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A1CDCEE7-AD65-4BF3-8CE5-363467EC2603}">
      <dgm:prSet phldrT="[Text]"/>
      <dgm:spPr/>
      <dgm:t>
        <a:bodyPr/>
        <a:lstStyle/>
        <a:p>
          <a:pPr algn="just"/>
          <a:r>
            <a:rPr lang="en-US" dirty="0">
              <a:solidFill>
                <a:srgbClr val="008000"/>
              </a:solidFill>
              <a:latin typeface="+mj-lt"/>
            </a:rPr>
            <a:t>RISC processors, with their simpler instruction format, typically use hardwired control units</a:t>
          </a:r>
        </a:p>
      </dgm:t>
    </dgm:pt>
    <dgm:pt modelId="{1EFB9C1D-6A8C-41A3-A895-269EB8423486}" type="parTrans" cxnId="{7250EA8A-734D-4944-9B52-65BA001FC8C3}">
      <dgm:prSet/>
      <dgm:spPr/>
      <dgm:t>
        <a:bodyPr/>
        <a:lstStyle/>
        <a:p>
          <a:endParaRPr lang="en-US"/>
        </a:p>
      </dgm:t>
    </dgm:pt>
    <dgm:pt modelId="{637E008F-155B-4A86-83E2-783B1B9DBDCB}" type="sibTrans" cxnId="{7250EA8A-734D-4944-9B52-65BA001FC8C3}">
      <dgm:prSet/>
      <dgm:spPr/>
      <dgm:t>
        <a:bodyPr/>
        <a:lstStyle/>
        <a:p>
          <a:endParaRPr lang="en-US"/>
        </a:p>
      </dgm:t>
    </dgm:pt>
    <dgm:pt modelId="{EDEF343A-014C-4540-9223-55404F8D3102}" type="pres">
      <dgm:prSet presAssocID="{40E43A61-8650-4667-B3DE-BA4087FADA3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2F128BE-47F6-498F-91C9-9CDB3BA21E7F}" type="pres">
      <dgm:prSet presAssocID="{7D084C5D-9E61-4163-B158-D8B997351D90}" presName="composite" presStyleCnt="0"/>
      <dgm:spPr/>
    </dgm:pt>
    <dgm:pt modelId="{C68D9F2C-035F-4551-AD96-93B5AC23A092}" type="pres">
      <dgm:prSet presAssocID="{7D084C5D-9E61-4163-B158-D8B997351D90}" presName="parTx" presStyleLbl="alignNode1" presStyleIdx="0" presStyleCnt="2" custScaleX="1194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877785-00C4-4983-985B-D36A83063443}" type="pres">
      <dgm:prSet presAssocID="{7D084C5D-9E61-4163-B158-D8B997351D90}" presName="desTx" presStyleLbl="alignAccFollowNode1" presStyleIdx="0" presStyleCnt="2" custScaleX="1207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24259F-08DB-414D-829C-78D648BD079A}" type="pres">
      <dgm:prSet presAssocID="{FE025B0A-5FE9-4103-AAD4-49CF18806186}" presName="space" presStyleCnt="0"/>
      <dgm:spPr/>
    </dgm:pt>
    <dgm:pt modelId="{150F2E2E-D199-4F1F-AF56-8331C217DCEA}" type="pres">
      <dgm:prSet presAssocID="{74CC9BD3-9FE4-4198-9E9B-204753122A01}" presName="composite" presStyleCnt="0"/>
      <dgm:spPr/>
    </dgm:pt>
    <dgm:pt modelId="{FD87E235-4329-4510-9220-9B075876B765}" type="pres">
      <dgm:prSet presAssocID="{74CC9BD3-9FE4-4198-9E9B-204753122A01}" presName="parTx" presStyleLbl="alignNode1" presStyleIdx="1" presStyleCnt="2" custScaleX="12121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8EE2DF-3308-4E85-868A-AC219466FB14}" type="pres">
      <dgm:prSet presAssocID="{74CC9BD3-9FE4-4198-9E9B-204753122A01}" presName="desTx" presStyleLbl="alignAccFollowNode1" presStyleIdx="1" presStyleCnt="2" custScaleX="120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8A74222-7E86-4466-BB9C-381BF7C3EF78}" srcId="{40E43A61-8650-4667-B3DE-BA4087FADA3B}" destId="{7D084C5D-9E61-4163-B158-D8B997351D90}" srcOrd="0" destOrd="0" parTransId="{396D3C58-4988-495C-BBCF-9A92F4738B0F}" sibTransId="{FE025B0A-5FE9-4103-AAD4-49CF18806186}"/>
    <dgm:cxn modelId="{FCAD2821-E8C4-4197-89B1-A6769CAE09AC}" srcId="{7D084C5D-9E61-4163-B158-D8B997351D90}" destId="{5D4CF450-B557-46F0-87D8-D9392142C484}" srcOrd="0" destOrd="0" parTransId="{6913493D-12E8-40CE-8D2C-7339A1415C62}" sibTransId="{AA2BACB1-AB06-472A-B02A-17D0229C9E61}"/>
    <dgm:cxn modelId="{669F6B41-9D7A-4DA2-A0A9-0F5AE9B69E6E}" srcId="{74CC9BD3-9FE4-4198-9E9B-204753122A01}" destId="{07D67371-8F03-4386-AF62-8A6A316D4E8F}" srcOrd="0" destOrd="0" parTransId="{D8C929B8-D2CC-436B-A54B-D2FF6810B834}" sibTransId="{77D54A58-4ECA-46BC-B560-DFBCF02025EA}"/>
    <dgm:cxn modelId="{B45B907A-C599-4193-9B2D-E6C2CE86BEA7}" type="presOf" srcId="{07D67371-8F03-4386-AF62-8A6A316D4E8F}" destId="{C08EE2DF-3308-4E85-868A-AC219466FB14}" srcOrd="0" destOrd="0" presId="urn:microsoft.com/office/officeart/2005/8/layout/hList1"/>
    <dgm:cxn modelId="{7250EA8A-734D-4944-9B52-65BA001FC8C3}" srcId="{7D084C5D-9E61-4163-B158-D8B997351D90}" destId="{A1CDCEE7-AD65-4BF3-8CE5-363467EC2603}" srcOrd="4" destOrd="0" parTransId="{1EFB9C1D-6A8C-41A3-A895-269EB8423486}" sibTransId="{637E008F-155B-4A86-83E2-783B1B9DBDCB}"/>
    <dgm:cxn modelId="{47509DDF-3A1F-494F-B08F-AD4D29BAC12F}" type="presOf" srcId="{26401BCB-7F97-47AF-B12A-AAD23AA44660}" destId="{C08EE2DF-3308-4E85-868A-AC219466FB14}" srcOrd="0" destOrd="4" presId="urn:microsoft.com/office/officeart/2005/8/layout/hList1"/>
    <dgm:cxn modelId="{0AAEB97B-C0C5-47CB-A053-F65CB34C037A}" type="presOf" srcId="{E0D4AC52-B337-409A-9C15-3FF6FE83AA4B}" destId="{FE877785-00C4-4983-985B-D36A83063443}" srcOrd="0" destOrd="3" presId="urn:microsoft.com/office/officeart/2005/8/layout/hList1"/>
    <dgm:cxn modelId="{DACEF6C8-7030-4C53-B2F4-AAC32D17EB5A}" srcId="{7D084C5D-9E61-4163-B158-D8B997351D90}" destId="{E0D4AC52-B337-409A-9C15-3FF6FE83AA4B}" srcOrd="3" destOrd="0" parTransId="{8C872BBD-66B1-43CA-809C-7B80FA9899B6}" sibTransId="{7A289624-F0E5-46D6-8A06-D280FFD502DF}"/>
    <dgm:cxn modelId="{D58A3D51-71D8-4FC0-8E31-B79FE65B8A1E}" type="presOf" srcId="{74CC9BD3-9FE4-4198-9E9B-204753122A01}" destId="{FD87E235-4329-4510-9220-9B075876B765}" srcOrd="0" destOrd="0" presId="urn:microsoft.com/office/officeart/2005/8/layout/hList1"/>
    <dgm:cxn modelId="{955531AA-30CD-4B44-9225-EE817240B5A8}" type="presOf" srcId="{40E43A61-8650-4667-B3DE-BA4087FADA3B}" destId="{EDEF343A-014C-4540-9223-55404F8D3102}" srcOrd="0" destOrd="0" presId="urn:microsoft.com/office/officeart/2005/8/layout/hList1"/>
    <dgm:cxn modelId="{FDFA8848-7E79-4CAE-812C-E9BF2E4827B7}" srcId="{74CC9BD3-9FE4-4198-9E9B-204753122A01}" destId="{3DA214E6-3B7C-4FB4-A584-955A79AE0AB0}" srcOrd="1" destOrd="0" parTransId="{416BA4F5-23FA-41AB-9498-4E0438B4350A}" sibTransId="{C3DE115A-9F49-4EB7-BB2B-D3C35AB64531}"/>
    <dgm:cxn modelId="{54E45595-2C67-4000-AB76-EB50B1CA1AB8}" type="presOf" srcId="{5D4CF450-B557-46F0-87D8-D9392142C484}" destId="{FE877785-00C4-4983-985B-D36A83063443}" srcOrd="0" destOrd="0" presId="urn:microsoft.com/office/officeart/2005/8/layout/hList1"/>
    <dgm:cxn modelId="{8CDF46B0-0CFC-42FF-8606-50FEB6E5FD66}" type="presOf" srcId="{3DA214E6-3B7C-4FB4-A584-955A79AE0AB0}" destId="{C08EE2DF-3308-4E85-868A-AC219466FB14}" srcOrd="0" destOrd="1" presId="urn:microsoft.com/office/officeart/2005/8/layout/hList1"/>
    <dgm:cxn modelId="{B4DCD191-336E-4457-97A4-C213D507E127}" type="presOf" srcId="{DF5FBD25-B476-40C8-8CC7-C66E950EA594}" destId="{C08EE2DF-3308-4E85-868A-AC219466FB14}" srcOrd="0" destOrd="2" presId="urn:microsoft.com/office/officeart/2005/8/layout/hList1"/>
    <dgm:cxn modelId="{561A6144-729A-4A47-B96D-41450906E9E3}" srcId="{74CC9BD3-9FE4-4198-9E9B-204753122A01}" destId="{26401BCB-7F97-47AF-B12A-AAD23AA44660}" srcOrd="4" destOrd="0" parTransId="{C9676F65-A6BA-497E-B59D-41E3FA4315E2}" sibTransId="{C3E32A8D-4616-442F-BF01-605C8392C32C}"/>
    <dgm:cxn modelId="{73854B33-A28D-476C-9D56-F1237492A79D}" type="presOf" srcId="{5ACA7F64-44B9-48D5-8D48-CE2E7822768A}" destId="{FE877785-00C4-4983-985B-D36A83063443}" srcOrd="0" destOrd="2" presId="urn:microsoft.com/office/officeart/2005/8/layout/hList1"/>
    <dgm:cxn modelId="{C9B17633-369C-4ECF-911E-CA13D6ADCAAA}" type="presOf" srcId="{7D084C5D-9E61-4163-B158-D8B997351D90}" destId="{C68D9F2C-035F-4551-AD96-93B5AC23A092}" srcOrd="0" destOrd="0" presId="urn:microsoft.com/office/officeart/2005/8/layout/hList1"/>
    <dgm:cxn modelId="{8C9F02CA-2B3F-40DE-98B1-7C0429A396B5}" type="presOf" srcId="{F7984857-F499-4447-BC56-6207F5FAEA7E}" destId="{C08EE2DF-3308-4E85-868A-AC219466FB14}" srcOrd="0" destOrd="3" presId="urn:microsoft.com/office/officeart/2005/8/layout/hList1"/>
    <dgm:cxn modelId="{A47D2CD5-6EE6-4B2A-A87E-2124A9A5FDB5}" type="presOf" srcId="{A1CDCEE7-AD65-4BF3-8CE5-363467EC2603}" destId="{FE877785-00C4-4983-985B-D36A83063443}" srcOrd="0" destOrd="4" presId="urn:microsoft.com/office/officeart/2005/8/layout/hList1"/>
    <dgm:cxn modelId="{EC4C8E65-882A-4B5B-9540-BE3494AF6DEA}" srcId="{40E43A61-8650-4667-B3DE-BA4087FADA3B}" destId="{74CC9BD3-9FE4-4198-9E9B-204753122A01}" srcOrd="1" destOrd="0" parTransId="{39A40A09-A988-4E53-8F14-A6FF8E2D2258}" sibTransId="{A4EAF62F-F7B5-46B5-88A5-C6AB4656BFF7}"/>
    <dgm:cxn modelId="{1F5F2124-E52B-4FD5-A5B0-4E8B3F93BFC5}" srcId="{7D084C5D-9E61-4163-B158-D8B997351D90}" destId="{5ACA7F64-44B9-48D5-8D48-CE2E7822768A}" srcOrd="2" destOrd="0" parTransId="{E34D65B7-76E0-4CCF-817C-4CC484F79403}" sibTransId="{98DF1D75-4EDD-4468-9ADD-5C21F2C71EC3}"/>
    <dgm:cxn modelId="{66842B83-27DB-4E37-8F37-D8DBA7457133}" type="presOf" srcId="{80C4EDA4-10F9-49C1-8445-44C0AFCAF772}" destId="{FE877785-00C4-4983-985B-D36A83063443}" srcOrd="0" destOrd="1" presId="urn:microsoft.com/office/officeart/2005/8/layout/hList1"/>
    <dgm:cxn modelId="{63E34F08-8858-46E7-802F-A1D72FD6003C}" srcId="{74CC9BD3-9FE4-4198-9E9B-204753122A01}" destId="{DF5FBD25-B476-40C8-8CC7-C66E950EA594}" srcOrd="2" destOrd="0" parTransId="{5485DD46-DE27-4CC5-A173-B9B1F55E16CC}" sibTransId="{6DEE19B5-DF5A-43A2-AB83-56C39B751804}"/>
    <dgm:cxn modelId="{14FCF86B-FF4E-440E-9F33-1EF6661274FA}" srcId="{74CC9BD3-9FE4-4198-9E9B-204753122A01}" destId="{F7984857-F499-4447-BC56-6207F5FAEA7E}" srcOrd="3" destOrd="0" parTransId="{F1653577-DCE7-483F-BA35-EE3965EDC0D7}" sibTransId="{0430B7E2-1AD0-4BC2-9E2F-F802C48DD290}"/>
    <dgm:cxn modelId="{64A94815-C47B-4341-893F-737FC8B32EDB}" srcId="{7D084C5D-9E61-4163-B158-D8B997351D90}" destId="{80C4EDA4-10F9-49C1-8445-44C0AFCAF772}" srcOrd="1" destOrd="0" parTransId="{54C54774-6A31-4003-B523-3DB19F87B65A}" sibTransId="{44666419-45DC-4D5F-A3FC-5F1C5F59FCF5}"/>
    <dgm:cxn modelId="{4734E1AB-583C-4163-B564-F76B24A4DF3C}" type="presParOf" srcId="{EDEF343A-014C-4540-9223-55404F8D3102}" destId="{F2F128BE-47F6-498F-91C9-9CDB3BA21E7F}" srcOrd="0" destOrd="0" presId="urn:microsoft.com/office/officeart/2005/8/layout/hList1"/>
    <dgm:cxn modelId="{14E98D6E-4FB3-48F1-BBAC-9D98B48B3FD2}" type="presParOf" srcId="{F2F128BE-47F6-498F-91C9-9CDB3BA21E7F}" destId="{C68D9F2C-035F-4551-AD96-93B5AC23A092}" srcOrd="0" destOrd="0" presId="urn:microsoft.com/office/officeart/2005/8/layout/hList1"/>
    <dgm:cxn modelId="{1537D735-FEC0-4E9C-947B-DB1EF3F3B643}" type="presParOf" srcId="{F2F128BE-47F6-498F-91C9-9CDB3BA21E7F}" destId="{FE877785-00C4-4983-985B-D36A83063443}" srcOrd="1" destOrd="0" presId="urn:microsoft.com/office/officeart/2005/8/layout/hList1"/>
    <dgm:cxn modelId="{D1270B86-4CEE-40CF-87CA-B383768106EB}" type="presParOf" srcId="{EDEF343A-014C-4540-9223-55404F8D3102}" destId="{FC24259F-08DB-414D-829C-78D648BD079A}" srcOrd="1" destOrd="0" presId="urn:microsoft.com/office/officeart/2005/8/layout/hList1"/>
    <dgm:cxn modelId="{2C308938-1BAD-4BC2-ACA7-AF3F03E68C3C}" type="presParOf" srcId="{EDEF343A-014C-4540-9223-55404F8D3102}" destId="{150F2E2E-D199-4F1F-AF56-8331C217DCEA}" srcOrd="2" destOrd="0" presId="urn:microsoft.com/office/officeart/2005/8/layout/hList1"/>
    <dgm:cxn modelId="{6B9A73EF-7786-4920-B70A-067DDF456C4B}" type="presParOf" srcId="{150F2E2E-D199-4F1F-AF56-8331C217DCEA}" destId="{FD87E235-4329-4510-9220-9B075876B765}" srcOrd="0" destOrd="0" presId="urn:microsoft.com/office/officeart/2005/8/layout/hList1"/>
    <dgm:cxn modelId="{09635BA0-E3D5-457A-BD84-3F02ED87030F}" type="presParOf" srcId="{150F2E2E-D199-4F1F-AF56-8331C217DCEA}" destId="{C08EE2DF-3308-4E85-868A-AC219466FB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D9F2C-035F-4551-AD96-93B5AC23A092}">
      <dsp:nvSpPr>
        <dsp:cNvPr id="0" name=""/>
        <dsp:cNvSpPr/>
      </dsp:nvSpPr>
      <dsp:spPr>
        <a:xfrm>
          <a:off x="23342" y="478292"/>
          <a:ext cx="4231545" cy="547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latin typeface="+mj-lt"/>
            </a:rPr>
            <a:t>Pros</a:t>
          </a:r>
        </a:p>
      </dsp:txBody>
      <dsp:txXfrm>
        <a:off x="23342" y="478292"/>
        <a:ext cx="4231545" cy="547200"/>
      </dsp:txXfrm>
    </dsp:sp>
    <dsp:sp modelId="{FE877785-00C4-4983-985B-D36A83063443}">
      <dsp:nvSpPr>
        <dsp:cNvPr id="0" name=""/>
        <dsp:cNvSpPr/>
      </dsp:nvSpPr>
      <dsp:spPr>
        <a:xfrm>
          <a:off x="885" y="1025492"/>
          <a:ext cx="4276459" cy="42838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8000"/>
              </a:solidFill>
              <a:latin typeface="+mj-lt"/>
            </a:rPr>
            <a:t>Hardwired Control Unit is fast since it use of combinational circuits to generate signals </a:t>
          </a:r>
          <a:endParaRPr lang="en-US" sz="1900" kern="1200" dirty="0">
            <a:solidFill>
              <a:srgbClr val="008000"/>
            </a:solidFill>
            <a:latin typeface="+mj-lt"/>
          </a:endParaRP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8000"/>
              </a:solidFill>
              <a:latin typeface="+mj-lt"/>
            </a:rPr>
            <a:t>It depends on number of gates, how much delay can occur in generation of control signals</a:t>
          </a:r>
          <a:endParaRPr lang="en-US" sz="1900" kern="1200" dirty="0">
            <a:solidFill>
              <a:srgbClr val="008000"/>
            </a:solidFill>
            <a:latin typeface="+mj-lt"/>
          </a:endParaRP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8000"/>
              </a:solidFill>
              <a:latin typeface="+mj-lt"/>
            </a:rPr>
            <a:t>It can be optimized to produce the fast mode of operation</a:t>
          </a:r>
          <a:endParaRPr lang="en-US" sz="1900" kern="1200" dirty="0">
            <a:solidFill>
              <a:srgbClr val="008000"/>
            </a:solidFill>
            <a:latin typeface="+mj-lt"/>
          </a:endParaRP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8000"/>
              </a:solidFill>
              <a:latin typeface="+mj-lt"/>
            </a:rPr>
            <a:t>Faster than micro- programmed control unit</a:t>
          </a:r>
          <a:endParaRPr lang="en-US" sz="1900" kern="1200" dirty="0">
            <a:solidFill>
              <a:srgbClr val="008000"/>
            </a:solidFill>
            <a:latin typeface="+mj-lt"/>
          </a:endParaRP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>
              <a:solidFill>
                <a:srgbClr val="008000"/>
              </a:solidFill>
              <a:latin typeface="+mj-lt"/>
            </a:rPr>
            <a:t>RISC processors, with their simpler instruction format, typically use hardwired control units</a:t>
          </a:r>
        </a:p>
      </dsp:txBody>
      <dsp:txXfrm>
        <a:off x="885" y="1025492"/>
        <a:ext cx="4276459" cy="4283819"/>
      </dsp:txXfrm>
    </dsp:sp>
    <dsp:sp modelId="{FD87E235-4329-4510-9220-9B075876B765}">
      <dsp:nvSpPr>
        <dsp:cNvPr id="0" name=""/>
        <dsp:cNvSpPr/>
      </dsp:nvSpPr>
      <dsp:spPr>
        <a:xfrm>
          <a:off x="4773240" y="478292"/>
          <a:ext cx="4293674" cy="547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latin typeface="+mj-lt"/>
            </a:rPr>
            <a:t>Cons</a:t>
          </a:r>
        </a:p>
      </dsp:txBody>
      <dsp:txXfrm>
        <a:off x="4773240" y="478292"/>
        <a:ext cx="4293674" cy="547200"/>
      </dsp:txXfrm>
    </dsp:sp>
    <dsp:sp modelId="{C08EE2DF-3308-4E85-868A-AC219466FB14}">
      <dsp:nvSpPr>
        <dsp:cNvPr id="0" name=""/>
        <dsp:cNvSpPr/>
      </dsp:nvSpPr>
      <dsp:spPr>
        <a:xfrm>
          <a:off x="4784451" y="1025492"/>
          <a:ext cx="4271252" cy="42838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33CC"/>
              </a:solidFill>
              <a:latin typeface="+mj-lt"/>
            </a:rPr>
            <a:t>The complexity of the design increases as we require more control signals to be generated (need of more encoders &amp; decoders)</a:t>
          </a:r>
          <a:endParaRPr lang="en-US" sz="1900" kern="1200" dirty="0">
            <a:solidFill>
              <a:srgbClr val="0033CC"/>
            </a:solidFill>
            <a:latin typeface="+mj-lt"/>
          </a:endParaRP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33CC"/>
              </a:solidFill>
              <a:latin typeface="+mj-lt"/>
            </a:rPr>
            <a:t>Modifications in the control signals are very difficult because it requires rearranging of wires in the hardware circuit</a:t>
          </a:r>
          <a:endParaRPr lang="en-US" sz="1900" kern="1200" dirty="0">
            <a:solidFill>
              <a:srgbClr val="0033CC"/>
            </a:solidFill>
            <a:latin typeface="+mj-lt"/>
          </a:endParaRP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33CC"/>
              </a:solidFill>
              <a:latin typeface="+mj-lt"/>
            </a:rPr>
            <a:t>Adding a new feature is difficult &amp; complex</a:t>
          </a:r>
          <a:endParaRPr lang="en-US" sz="1900" kern="1200" dirty="0">
            <a:solidFill>
              <a:srgbClr val="0033CC"/>
            </a:solidFill>
            <a:latin typeface="+mj-lt"/>
          </a:endParaRP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33CC"/>
              </a:solidFill>
              <a:latin typeface="+mj-lt"/>
            </a:rPr>
            <a:t>Difficult to test &amp; correct mistakes in the original design</a:t>
          </a:r>
          <a:endParaRPr lang="en-US" sz="1900" kern="1200" dirty="0">
            <a:solidFill>
              <a:srgbClr val="0033CC"/>
            </a:solidFill>
            <a:latin typeface="+mj-lt"/>
          </a:endParaRP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>
              <a:solidFill>
                <a:srgbClr val="0033CC"/>
              </a:solidFill>
              <a:latin typeface="+mj-lt"/>
            </a:rPr>
            <a:t>It is Expensive</a:t>
          </a:r>
          <a:endParaRPr lang="en-US" sz="1900" kern="1200" dirty="0">
            <a:solidFill>
              <a:srgbClr val="0033CC"/>
            </a:solidFill>
            <a:latin typeface="+mj-lt"/>
          </a:endParaRPr>
        </a:p>
      </dsp:txBody>
      <dsp:txXfrm>
        <a:off x="4784451" y="1025492"/>
        <a:ext cx="4271252" cy="428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C99ADA1-D804-47F2-9697-95DD6C46FA44}" type="datetimeFigureOut">
              <a:rPr lang="en-US"/>
              <a:pPr>
                <a:defRPr/>
              </a:pPr>
              <a:t>2/23/2023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8C24AC2-3D6B-4394-9DBC-AB7643FD9D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72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2:32:3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2:46:1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2:46:17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2:46:20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2:46:37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24575,'0'-8'0,"0"-2"-8191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8AC6BDB-566E-41DD-9C5C-D81625026DF9}" type="datetimeFigureOut">
              <a:rPr lang="en-US"/>
              <a:pPr>
                <a:defRPr/>
              </a:pPr>
              <a:t>2/23/2023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411E28E-AD95-4735-ADE2-EA412C8A7B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229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411E28E-AD95-4735-ADE2-EA412C8A7B9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81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0"/>
            <a:ext cx="11568608" cy="593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565979"/>
            <a:ext cx="3124200" cy="597397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</a:schemeClr>
              </a:gs>
              <a:gs pos="38000">
                <a:schemeClr val="accent3">
                  <a:lumMod val="50000"/>
                </a:schemeClr>
              </a:gs>
              <a:gs pos="69000">
                <a:schemeClr val="accent3">
                  <a:lumMod val="50000"/>
                </a:schemeClr>
              </a:gs>
              <a:gs pos="97000">
                <a:schemeClr val="accent3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 prst="slope"/>
          </a:sp3d>
        </p:spPr>
        <p:txBody>
          <a:bodyPr>
            <a:spAutoFit/>
          </a:bodyPr>
          <a:lstStyle/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0" y="593725"/>
            <a:ext cx="3124200" cy="5946223"/>
          </a:xfrm>
          <a:noFill/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6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1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8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191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4200" y="685799"/>
            <a:ext cx="9067800" cy="5773311"/>
          </a:xfrm>
          <a:solidFill>
            <a:schemeClr val="bg1"/>
          </a:solidFill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631018" y="10629"/>
            <a:ext cx="11549268" cy="6300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7" t="7149" r="12796" b="11909"/>
          <a:stretch>
            <a:fillRect/>
          </a:stretch>
        </p:blipFill>
        <p:spPr bwMode="auto">
          <a:xfrm>
            <a:off x="33338" y="0"/>
            <a:ext cx="576262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673100" y="0"/>
            <a:ext cx="115189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565979"/>
            <a:ext cx="3124200" cy="597397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</a:schemeClr>
              </a:gs>
              <a:gs pos="38000">
                <a:schemeClr val="accent3">
                  <a:lumMod val="50000"/>
                </a:schemeClr>
              </a:gs>
              <a:gs pos="69000">
                <a:schemeClr val="accent3">
                  <a:lumMod val="50000"/>
                </a:schemeClr>
              </a:gs>
              <a:gs pos="97000">
                <a:schemeClr val="accent3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 prst="slope"/>
          </a:sp3d>
        </p:spPr>
        <p:txBody>
          <a:bodyPr>
            <a:spAutoFit/>
          </a:bodyPr>
          <a:lstStyle/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>
              <a:latin typeface="+mj-lt"/>
            </a:endParaRPr>
          </a:p>
          <a:p>
            <a:pPr>
              <a:defRPr/>
            </a:pPr>
            <a:endParaRPr lang="en-IN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0" y="593725"/>
            <a:ext cx="3124200" cy="5946223"/>
          </a:xfrm>
          <a:noFill/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919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8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9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1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3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5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8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82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0"/>
            <a:ext cx="10560496" cy="593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solidFill>
            <a:schemeClr val="bg1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2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0"/>
            <a:ext cx="10560496" cy="593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8" indent="0">
              <a:buNone/>
              <a:defRPr sz="2000" b="1"/>
            </a:lvl2pPr>
            <a:lvl3pPr marL="914457" indent="0">
              <a:buNone/>
              <a:defRPr sz="1800" b="1"/>
            </a:lvl3pPr>
            <a:lvl4pPr marL="1371685" indent="0">
              <a:buNone/>
              <a:defRPr sz="1600" b="1"/>
            </a:lvl4pPr>
            <a:lvl5pPr marL="1828913" indent="0">
              <a:buNone/>
              <a:defRPr sz="1600" b="1"/>
            </a:lvl5pPr>
            <a:lvl6pPr marL="2286142" indent="0">
              <a:buNone/>
              <a:defRPr sz="1600" b="1"/>
            </a:lvl6pPr>
            <a:lvl7pPr marL="2743370" indent="0">
              <a:buNone/>
              <a:defRPr sz="1600" b="1"/>
            </a:lvl7pPr>
            <a:lvl8pPr marL="3200598" indent="0">
              <a:buNone/>
              <a:defRPr sz="1600" b="1"/>
            </a:lvl8pPr>
            <a:lvl9pPr marL="36578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8" indent="0">
              <a:buNone/>
              <a:defRPr sz="2000" b="1"/>
            </a:lvl2pPr>
            <a:lvl3pPr marL="914457" indent="0">
              <a:buNone/>
              <a:defRPr sz="1800" b="1"/>
            </a:lvl3pPr>
            <a:lvl4pPr marL="1371685" indent="0">
              <a:buNone/>
              <a:defRPr sz="1600" b="1"/>
            </a:lvl4pPr>
            <a:lvl5pPr marL="1828913" indent="0">
              <a:buNone/>
              <a:defRPr sz="1600" b="1"/>
            </a:lvl5pPr>
            <a:lvl6pPr marL="2286142" indent="0">
              <a:buNone/>
              <a:defRPr sz="1600" b="1"/>
            </a:lvl6pPr>
            <a:lvl7pPr marL="2743370" indent="0">
              <a:buNone/>
              <a:defRPr sz="1600" b="1"/>
            </a:lvl7pPr>
            <a:lvl8pPr marL="3200598" indent="0">
              <a:buNone/>
              <a:defRPr sz="1600" b="1"/>
            </a:lvl8pPr>
            <a:lvl9pPr marL="36578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949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0"/>
            <a:ext cx="10560496" cy="593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663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47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1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28" indent="0">
              <a:buNone/>
              <a:defRPr sz="1200"/>
            </a:lvl2pPr>
            <a:lvl3pPr marL="914457" indent="0">
              <a:buNone/>
              <a:defRPr sz="1000"/>
            </a:lvl3pPr>
            <a:lvl4pPr marL="1371685" indent="0">
              <a:buNone/>
              <a:defRPr sz="900"/>
            </a:lvl4pPr>
            <a:lvl5pPr marL="1828913" indent="0">
              <a:buNone/>
              <a:defRPr sz="900"/>
            </a:lvl5pPr>
            <a:lvl6pPr marL="2286142" indent="0">
              <a:buNone/>
              <a:defRPr sz="900"/>
            </a:lvl6pPr>
            <a:lvl7pPr marL="2743370" indent="0">
              <a:buNone/>
              <a:defRPr sz="900"/>
            </a:lvl7pPr>
            <a:lvl8pPr marL="3200598" indent="0">
              <a:buNone/>
              <a:defRPr sz="900"/>
            </a:lvl8pPr>
            <a:lvl9pPr marL="365782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559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28" indent="0">
              <a:buNone/>
              <a:defRPr sz="2800"/>
            </a:lvl2pPr>
            <a:lvl3pPr marL="914457" indent="0">
              <a:buNone/>
              <a:defRPr sz="2400"/>
            </a:lvl3pPr>
            <a:lvl4pPr marL="1371685" indent="0">
              <a:buNone/>
              <a:defRPr sz="2000"/>
            </a:lvl4pPr>
            <a:lvl5pPr marL="1828913" indent="0">
              <a:buNone/>
              <a:defRPr sz="2000"/>
            </a:lvl5pPr>
            <a:lvl6pPr marL="2286142" indent="0">
              <a:buNone/>
              <a:defRPr sz="2000"/>
            </a:lvl6pPr>
            <a:lvl7pPr marL="2743370" indent="0">
              <a:buNone/>
              <a:defRPr sz="2000"/>
            </a:lvl7pPr>
            <a:lvl8pPr marL="3200598" indent="0">
              <a:buNone/>
              <a:defRPr sz="2000"/>
            </a:lvl8pPr>
            <a:lvl9pPr marL="3657827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28" indent="0">
              <a:buNone/>
              <a:defRPr sz="1200"/>
            </a:lvl2pPr>
            <a:lvl3pPr marL="914457" indent="0">
              <a:buNone/>
              <a:defRPr sz="1000"/>
            </a:lvl3pPr>
            <a:lvl4pPr marL="1371685" indent="0">
              <a:buNone/>
              <a:defRPr sz="900"/>
            </a:lvl4pPr>
            <a:lvl5pPr marL="1828913" indent="0">
              <a:buNone/>
              <a:defRPr sz="900"/>
            </a:lvl5pPr>
            <a:lvl6pPr marL="2286142" indent="0">
              <a:buNone/>
              <a:defRPr sz="900"/>
            </a:lvl6pPr>
            <a:lvl7pPr marL="2743370" indent="0">
              <a:buNone/>
              <a:defRPr sz="900"/>
            </a:lvl7pPr>
            <a:lvl8pPr marL="3200598" indent="0">
              <a:buNone/>
              <a:defRPr sz="900"/>
            </a:lvl8pPr>
            <a:lvl9pPr marL="365782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63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0"/>
            <a:ext cx="10560496" cy="593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233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4548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3D430-9CE2-4505-AC4C-215D42B85A0B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8A3BE-ED99-415F-95BE-232F1D0448C3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0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D78B3-565F-422F-91BD-0717AC314B62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ECF3E-D85F-4D07-AB0C-C3BBB7B752B8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574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E3814-73FD-457E-ACC6-9343E12EF139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06F2C-00DA-4E4B-BCB7-28B197F93CE4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820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98C54-C722-475C-B6ED-B0C67B453360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4E8BA-F221-46E6-A778-5700A9BAE350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441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9B7B2-6BA4-457D-865C-DD015A7961F7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CD8D5-8F08-4771-ACFF-5B9CCC914F3A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736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33412-EC2A-43A9-97F3-8E70EC9C3DFC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BE9C5-7CB7-48E8-9A15-C32C0EE67F28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72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091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F44D-D64E-4682-9A05-A8FCF2343C01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06AC-D283-4650-A898-6A3BEFC35D4C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6569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70959-5942-42A3-A34C-494EC56D5505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A3CA2A-D374-4289-B799-A16601989F19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8325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41841-6490-4769-870B-B5786FC9266E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571D5-93C7-4A8D-AACD-AF2D0B4DD562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6286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0ADD6-6113-44D9-A365-06062258C548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6E767C-71B3-4158-8EDD-BD8E2C96612C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730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338" y="593725"/>
            <a:ext cx="12192000" cy="5959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631018" y="10629"/>
            <a:ext cx="11549268" cy="6300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8" name="Picture 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7" t="7149" r="12796" b="11909"/>
          <a:stretch>
            <a:fillRect/>
          </a:stretch>
        </p:blipFill>
        <p:spPr bwMode="auto">
          <a:xfrm>
            <a:off x="33338" y="0"/>
            <a:ext cx="576262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673100" y="0"/>
            <a:ext cx="115189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pic>
        <p:nvPicPr>
          <p:cNvPr id="11" name="Picture 9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7" t="7149" r="12796" b="11909"/>
          <a:stretch>
            <a:fillRect/>
          </a:stretch>
        </p:blipFill>
        <p:spPr bwMode="auto">
          <a:xfrm>
            <a:off x="11920538" y="6519863"/>
            <a:ext cx="334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7"/>
          <p:cNvSpPr>
            <a:spLocks noChangeArrowheads="1"/>
          </p:cNvSpPr>
          <p:nvPr userDrawn="1"/>
        </p:nvSpPr>
        <p:spPr bwMode="auto">
          <a:xfrm>
            <a:off x="33188" y="6453336"/>
            <a:ext cx="11887200" cy="40011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GB" sz="1200" b="1" dirty="0">
                <a:solidFill>
                  <a:schemeClr val="bg1"/>
                </a:solidFill>
                <a:latin typeface="+mj-lt"/>
              </a:rPr>
              <a:t>Dr M Rajasekhara Babu, </a:t>
            </a:r>
            <a:r>
              <a:rPr lang="en-GB" sz="1100" b="1" dirty="0">
                <a:solidFill>
                  <a:schemeClr val="bg1"/>
                </a:solidFill>
                <a:latin typeface="+mj-lt"/>
              </a:rPr>
              <a:t>School of </a:t>
            </a:r>
            <a:r>
              <a:rPr lang="en-GB" sz="1100" b="1" baseline="0" dirty="0">
                <a:solidFill>
                  <a:schemeClr val="bg1"/>
                </a:solidFill>
                <a:latin typeface="+mj-lt"/>
              </a:rPr>
              <a:t> C.S.E, </a:t>
            </a:r>
            <a:r>
              <a:rPr lang="en-GB" sz="1100" b="1" dirty="0">
                <a:solidFill>
                  <a:schemeClr val="bg1"/>
                </a:solidFill>
                <a:latin typeface="+mj-lt"/>
              </a:rPr>
              <a:t>Vellore Institute of Technology (VIT)-Vellore-1</a:t>
            </a:r>
            <a:r>
              <a:rPr lang="en-GB" sz="1200" b="1" dirty="0">
                <a:solidFill>
                  <a:schemeClr val="bg1"/>
                </a:solidFill>
                <a:latin typeface="+mj-lt"/>
              </a:rPr>
              <a:t>4; 	</a:t>
            </a:r>
            <a:fld id="{7908E563-0110-43E8-BD90-836FE2BA9863}" type="datetime5">
              <a:rPr lang="en-GB" sz="1400" b="1" smtClean="0">
                <a:solidFill>
                  <a:srgbClr val="FFFF00"/>
                </a:solidFill>
                <a:latin typeface="+mj-lt"/>
              </a:rPr>
              <a:pPr algn="ctr" eaLnBrk="1" hangingPunct="1">
                <a:defRPr/>
              </a:pPr>
              <a:t>23-Feb-23</a:t>
            </a:fld>
            <a:r>
              <a:rPr lang="en-GB" sz="1400" b="1" dirty="0">
                <a:solidFill>
                  <a:srgbClr val="FFFF00"/>
                </a:solidFill>
                <a:latin typeface="+mj-lt"/>
              </a:rPr>
              <a:t> </a:t>
            </a:r>
            <a:fld id="{1BBAE77D-7613-44BB-B038-99BBB11A8AF9}" type="datetime12">
              <a:rPr lang="en-GB" sz="1600" b="1" smtClean="0">
                <a:solidFill>
                  <a:srgbClr val="FFFF00"/>
                </a:solidFill>
                <a:latin typeface="+mj-lt"/>
              </a:rPr>
              <a:pPr algn="ctr" eaLnBrk="1" hangingPunct="1">
                <a:defRPr/>
              </a:pPr>
              <a:t>10:57 AM</a:t>
            </a:fld>
            <a:r>
              <a:rPr lang="en-GB" sz="1600" b="1" dirty="0">
                <a:solidFill>
                  <a:srgbClr val="FFFF00"/>
                </a:solidFill>
                <a:latin typeface="+mj-lt"/>
              </a:rPr>
              <a:t>  	</a:t>
            </a:r>
            <a:r>
              <a:rPr lang="en-GB" sz="1800" b="1" dirty="0">
                <a:solidFill>
                  <a:schemeClr val="bg1"/>
                </a:solidFill>
                <a:latin typeface="+mj-lt"/>
              </a:rPr>
              <a:t>S</a:t>
            </a:r>
            <a:r>
              <a:rPr lang="en-GB" sz="1050" b="1" dirty="0">
                <a:solidFill>
                  <a:schemeClr val="bg1"/>
                </a:solidFill>
                <a:latin typeface="+mj-lt"/>
              </a:rPr>
              <a:t>lide.</a:t>
            </a:r>
            <a:r>
              <a:rPr lang="en-GB" sz="1050" b="1" dirty="0">
                <a:solidFill>
                  <a:srgbClr val="FFFF00"/>
                </a:solidFill>
                <a:latin typeface="+mj-lt"/>
              </a:rPr>
              <a:t> </a:t>
            </a:r>
            <a:fld id="{0FC681CD-C586-4DC2-A25B-E541FE953D8E}" type="slidenum">
              <a:rPr lang="en-US" sz="2000" b="1" smtClean="0">
                <a:solidFill>
                  <a:srgbClr val="FFFF00"/>
                </a:solidFill>
                <a:latin typeface="+mj-lt"/>
              </a:rPr>
              <a:pPr algn="ctr" eaLnBrk="1" hangingPunct="1">
                <a:defRPr/>
              </a:pPr>
              <a:t>‹#›</a:t>
            </a:fld>
            <a:endParaRPr lang="en-US" sz="1600" b="1" dirty="0">
              <a:solidFill>
                <a:srgbClr val="FFFF00"/>
              </a:solidFill>
              <a:latin typeface="+mj-lt"/>
            </a:endParaRPr>
          </a:p>
        </p:txBody>
      </p:sp>
      <p:pic>
        <p:nvPicPr>
          <p:cNvPr id="13" name="Picture 9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7" t="7149" r="12796" b="11909"/>
          <a:stretch>
            <a:fillRect/>
          </a:stretch>
        </p:blipFill>
        <p:spPr bwMode="auto">
          <a:xfrm>
            <a:off x="11953726" y="6453336"/>
            <a:ext cx="334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63" r:id="rId1"/>
    <p:sldLayoutId id="2147485153" r:id="rId2"/>
    <p:sldLayoutId id="2147485164" r:id="rId3"/>
    <p:sldLayoutId id="2147485154" r:id="rId4"/>
    <p:sldLayoutId id="2147485155" r:id="rId5"/>
    <p:sldLayoutId id="2147485156" r:id="rId6"/>
    <p:sldLayoutId id="2147485157" r:id="rId7"/>
    <p:sldLayoutId id="2147485158" r:id="rId8"/>
    <p:sldLayoutId id="2147485159" r:id="rId9"/>
    <p:sldLayoutId id="2147485160" r:id="rId10"/>
    <p:sldLayoutId id="2147485161" r:id="rId11"/>
    <p:sldLayoutId id="2147485162" r:id="rId12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2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57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85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91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0000FF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008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030A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40315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40315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756" indent="-228614" algn="l" defTabSz="91445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84" indent="-228614" algn="l" defTabSz="91445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13" indent="-228614" algn="l" defTabSz="91445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41" indent="-228614" algn="l" defTabSz="91445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8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7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5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13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42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70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98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27" algn="l" defTabSz="91445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38ABCA-384C-4C30-A8B5-8D9DCFE18A27}" type="datetimeFigureOut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23-02-2023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EC3F0B-D9E2-40E4-A730-AA0C91C5C040}" type="slidenum">
              <a:rPr lang="en-I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2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66" r:id="rId1"/>
    <p:sldLayoutId id="2147485167" r:id="rId2"/>
    <p:sldLayoutId id="2147485168" r:id="rId3"/>
    <p:sldLayoutId id="2147485169" r:id="rId4"/>
    <p:sldLayoutId id="2147485170" r:id="rId5"/>
    <p:sldLayoutId id="2147485171" r:id="rId6"/>
    <p:sldLayoutId id="2147485172" r:id="rId7"/>
    <p:sldLayoutId id="2147485173" r:id="rId8"/>
    <p:sldLayoutId id="2147485174" r:id="rId9"/>
    <p:sldLayoutId id="2147485175" r:id="rId10"/>
    <p:sldLayoutId id="2147485176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45.png"/><Relationship Id="rId3" Type="http://schemas.openxmlformats.org/officeDocument/2006/relationships/image" Target="../media/image38.png"/><Relationship Id="rId21" Type="http://schemas.openxmlformats.org/officeDocument/2006/relationships/image" Target="../media/image40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44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9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4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png"/><Relationship Id="rId13" Type="http://schemas.openxmlformats.org/officeDocument/2006/relationships/image" Target="../media/image490.png"/><Relationship Id="rId18" Type="http://schemas.openxmlformats.org/officeDocument/2006/relationships/image" Target="../media/image54.png"/><Relationship Id="rId3" Type="http://schemas.openxmlformats.org/officeDocument/2006/relationships/image" Target="../media/image391.png"/><Relationship Id="rId21" Type="http://schemas.openxmlformats.org/officeDocument/2006/relationships/image" Target="../media/image57.png"/><Relationship Id="rId7" Type="http://schemas.openxmlformats.org/officeDocument/2006/relationships/image" Target="../media/image431.png"/><Relationship Id="rId12" Type="http://schemas.openxmlformats.org/officeDocument/2006/relationships/image" Target="../media/image481.png"/><Relationship Id="rId17" Type="http://schemas.openxmlformats.org/officeDocument/2006/relationships/image" Target="../media/image53.png"/><Relationship Id="rId2" Type="http://schemas.openxmlformats.org/officeDocument/2006/relationships/image" Target="../media/image381.png"/><Relationship Id="rId16" Type="http://schemas.openxmlformats.org/officeDocument/2006/relationships/image" Target="../media/image52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1.png"/><Relationship Id="rId11" Type="http://schemas.openxmlformats.org/officeDocument/2006/relationships/image" Target="../media/image470.png"/><Relationship Id="rId5" Type="http://schemas.openxmlformats.org/officeDocument/2006/relationships/image" Target="../media/image411.png"/><Relationship Id="rId15" Type="http://schemas.openxmlformats.org/officeDocument/2006/relationships/image" Target="../media/image51.png"/><Relationship Id="rId10" Type="http://schemas.openxmlformats.org/officeDocument/2006/relationships/image" Target="../media/image461.png"/><Relationship Id="rId19" Type="http://schemas.openxmlformats.org/officeDocument/2006/relationships/image" Target="../media/image55.png"/><Relationship Id="rId4" Type="http://schemas.openxmlformats.org/officeDocument/2006/relationships/image" Target="../media/image401.png"/><Relationship Id="rId9" Type="http://schemas.openxmlformats.org/officeDocument/2006/relationships/image" Target="../media/image451.png"/><Relationship Id="rId14" Type="http://schemas.openxmlformats.org/officeDocument/2006/relationships/image" Target="../media/image50.png"/><Relationship Id="rId22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33.emf"/><Relationship Id="rId9" Type="http://schemas.openxmlformats.org/officeDocument/2006/relationships/image" Target="../media/image3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30.png"/><Relationship Id="rId18" Type="http://schemas.openxmlformats.org/officeDocument/2006/relationships/image" Target="../media/image121.png"/><Relationship Id="rId26" Type="http://schemas.openxmlformats.org/officeDocument/2006/relationships/image" Target="../media/image350.png"/><Relationship Id="rId3" Type="http://schemas.openxmlformats.org/officeDocument/2006/relationships/image" Target="../media/image130.png"/><Relationship Id="rId21" Type="http://schemas.openxmlformats.org/officeDocument/2006/relationships/image" Target="../media/image300.png"/><Relationship Id="rId7" Type="http://schemas.openxmlformats.org/officeDocument/2006/relationships/image" Target="../media/image170.png"/><Relationship Id="rId12" Type="http://schemas.openxmlformats.org/officeDocument/2006/relationships/image" Target="../media/image220.png"/><Relationship Id="rId17" Type="http://schemas.openxmlformats.org/officeDocument/2006/relationships/image" Target="../media/image270.png"/><Relationship Id="rId25" Type="http://schemas.openxmlformats.org/officeDocument/2006/relationships/image" Target="../media/image340.png"/><Relationship Id="rId16" Type="http://schemas.openxmlformats.org/officeDocument/2006/relationships/image" Target="../media/image260.png"/><Relationship Id="rId20" Type="http://schemas.openxmlformats.org/officeDocument/2006/relationships/image" Target="../media/image2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0.png"/><Relationship Id="rId11" Type="http://schemas.openxmlformats.org/officeDocument/2006/relationships/image" Target="../media/image210.png"/><Relationship Id="rId24" Type="http://schemas.openxmlformats.org/officeDocument/2006/relationships/image" Target="../media/image320.png"/><Relationship Id="rId5" Type="http://schemas.openxmlformats.org/officeDocument/2006/relationships/image" Target="../media/image150.png"/><Relationship Id="rId15" Type="http://schemas.openxmlformats.org/officeDocument/2006/relationships/image" Target="../media/image250.png"/><Relationship Id="rId23" Type="http://schemas.openxmlformats.org/officeDocument/2006/relationships/image" Target="../media/image330.png"/><Relationship Id="rId28" Type="http://schemas.openxmlformats.org/officeDocument/2006/relationships/image" Target="../media/image370.png"/><Relationship Id="rId10" Type="http://schemas.openxmlformats.org/officeDocument/2006/relationships/image" Target="../media/image200.png"/><Relationship Id="rId19" Type="http://schemas.openxmlformats.org/officeDocument/2006/relationships/image" Target="../media/image28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40.png"/><Relationship Id="rId22" Type="http://schemas.openxmlformats.org/officeDocument/2006/relationships/image" Target="../media/image310.png"/><Relationship Id="rId27" Type="http://schemas.openxmlformats.org/officeDocument/2006/relationships/image" Target="../media/image3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13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12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Control unit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dirty="0"/>
              <a:t>Control unit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CDAF3E91-17BA-E1C4-3C2A-A14D97425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4650" y="762436"/>
            <a:ext cx="4466884" cy="5604600"/>
          </a:xfrm>
        </p:spPr>
        <p:txBody>
          <a:bodyPr/>
          <a:lstStyle/>
          <a:p>
            <a:r>
              <a:rPr lang="en-US" sz="2800" dirty="0"/>
              <a:t>Provides control signals for the operation and coordination of all processor   components.</a:t>
            </a:r>
            <a:endParaRPr lang="en-US" sz="2400" dirty="0"/>
          </a:p>
          <a:p>
            <a:pPr lvl="1"/>
            <a:r>
              <a:rPr lang="en-US" dirty="0"/>
              <a:t>Is at the heart of the processor</a:t>
            </a:r>
            <a:endParaRPr lang="en-US" sz="2400" dirty="0"/>
          </a:p>
          <a:p>
            <a:r>
              <a:rPr lang="en-US" sz="2800" dirty="0"/>
              <a:t>Manages the computer’s     resources and orchestrates     the performance of its     functional parts in response </a:t>
            </a:r>
          </a:p>
          <a:p>
            <a:pPr marL="0" indent="0">
              <a:buNone/>
            </a:pPr>
            <a:r>
              <a:rPr lang="en-US" sz="2800" dirty="0"/>
              <a:t>    to those instructions</a:t>
            </a:r>
            <a:endParaRPr lang="en-GB" alt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="" xmlns:a16="http://schemas.microsoft.com/office/drawing/2014/main" id="{54EF5F7F-8F83-C555-EC41-BBC1DB320CE2}"/>
              </a:ext>
            </a:extLst>
          </p:cNvPr>
          <p:cNvSpPr/>
          <p:nvPr/>
        </p:nvSpPr>
        <p:spPr>
          <a:xfrm>
            <a:off x="7951671" y="803300"/>
            <a:ext cx="2018822" cy="1866067"/>
          </a:xfrm>
          <a:prstGeom prst="flowChartConnector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50">
            <a:extLst>
              <a:ext uri="{FF2B5EF4-FFF2-40B4-BE49-F238E27FC236}">
                <a16:creationId xmlns="" xmlns:a16="http://schemas.microsoft.com/office/drawing/2014/main" id="{C8F803F3-4658-4AA2-7FA7-9859C9CB7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6661" y="1559265"/>
            <a:ext cx="688790" cy="619681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System </a:t>
            </a:r>
          </a:p>
          <a:p>
            <a:pPr algn="ctr">
              <a:defRPr/>
            </a:pPr>
            <a:r>
              <a:rPr lang="en-US" sz="1200" dirty="0">
                <a:latin typeface="+mj-lt"/>
              </a:rPr>
              <a:t>bus</a:t>
            </a:r>
          </a:p>
        </p:txBody>
      </p:sp>
      <p:sp>
        <p:nvSpPr>
          <p:cNvPr id="14" name="Oval 50">
            <a:extLst>
              <a:ext uri="{FF2B5EF4-FFF2-40B4-BE49-F238E27FC236}">
                <a16:creationId xmlns="" xmlns:a16="http://schemas.microsoft.com/office/drawing/2014/main" id="{12957617-9F4D-20A1-02BF-329A9989D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592" y="1133000"/>
            <a:ext cx="688790" cy="641174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Main </a:t>
            </a:r>
          </a:p>
          <a:p>
            <a:pPr algn="ctr">
              <a:defRPr/>
            </a:pPr>
            <a:r>
              <a:rPr lang="en-US" sz="1200" dirty="0">
                <a:latin typeface="+mj-lt"/>
              </a:rPr>
              <a:t>  memory</a:t>
            </a:r>
          </a:p>
        </p:txBody>
      </p:sp>
      <p:sp>
        <p:nvSpPr>
          <p:cNvPr id="13" name="Oval 50">
            <a:extLst>
              <a:ext uri="{FF2B5EF4-FFF2-40B4-BE49-F238E27FC236}">
                <a16:creationId xmlns="" xmlns:a16="http://schemas.microsoft.com/office/drawing/2014/main" id="{37495CA0-3EAF-E729-A64B-0DC2E51CD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4729" y="1124601"/>
            <a:ext cx="688790" cy="619681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I/O</a:t>
            </a:r>
            <a:endParaRPr lang="en-US" sz="1600" dirty="0">
              <a:latin typeface="+mj-lt"/>
            </a:endParaRPr>
          </a:p>
        </p:txBody>
      </p:sp>
      <p:sp>
        <p:nvSpPr>
          <p:cNvPr id="16" name="Oval 50">
            <a:extLst>
              <a:ext uri="{FF2B5EF4-FFF2-40B4-BE49-F238E27FC236}">
                <a16:creationId xmlns="" xmlns:a16="http://schemas.microsoft.com/office/drawing/2014/main" id="{5F45D33F-9CBF-A677-D4D9-67C802EF8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586" y="2027031"/>
            <a:ext cx="688791" cy="6096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CPU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="" xmlns:a16="http://schemas.microsoft.com/office/drawing/2014/main" id="{106B7FB1-DFFA-F96E-46EE-0AE471311628}"/>
              </a:ext>
            </a:extLst>
          </p:cNvPr>
          <p:cNvSpPr/>
          <p:nvPr/>
        </p:nvSpPr>
        <p:spPr>
          <a:xfrm>
            <a:off x="10168151" y="3018806"/>
            <a:ext cx="2018822" cy="1866067"/>
          </a:xfrm>
          <a:prstGeom prst="flowChartConnector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Oval 50">
            <a:extLst>
              <a:ext uri="{FF2B5EF4-FFF2-40B4-BE49-F238E27FC236}">
                <a16:creationId xmlns="" xmlns:a16="http://schemas.microsoft.com/office/drawing/2014/main" id="{2A285CF6-0E04-EC11-84E8-D17E055B0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1453" y="3775064"/>
            <a:ext cx="688790" cy="619681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Internal </a:t>
            </a:r>
          </a:p>
          <a:p>
            <a:pPr algn="ctr">
              <a:defRPr/>
            </a:pPr>
            <a:r>
              <a:rPr lang="en-US" sz="1200" dirty="0">
                <a:latin typeface="+mj-lt"/>
              </a:rPr>
              <a:t>bus</a:t>
            </a:r>
          </a:p>
        </p:txBody>
      </p:sp>
      <p:sp>
        <p:nvSpPr>
          <p:cNvPr id="31" name="Oval 50">
            <a:extLst>
              <a:ext uri="{FF2B5EF4-FFF2-40B4-BE49-F238E27FC236}">
                <a16:creationId xmlns="" xmlns:a16="http://schemas.microsoft.com/office/drawing/2014/main" id="{48AD27EE-BC1B-AC3F-98DE-E9C987BF5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3384" y="3348799"/>
            <a:ext cx="688790" cy="641174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ALU</a:t>
            </a:r>
            <a:endParaRPr lang="en-US" sz="1600" dirty="0">
              <a:latin typeface="+mj-lt"/>
            </a:endParaRPr>
          </a:p>
        </p:txBody>
      </p:sp>
      <p:sp>
        <p:nvSpPr>
          <p:cNvPr id="32" name="Oval 50">
            <a:extLst>
              <a:ext uri="{FF2B5EF4-FFF2-40B4-BE49-F238E27FC236}">
                <a16:creationId xmlns="" xmlns:a16="http://schemas.microsoft.com/office/drawing/2014/main" id="{F1E74C78-9185-FCDE-DFF6-FF86E3E33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9521" y="3340400"/>
            <a:ext cx="688790" cy="619681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Registers</a:t>
            </a:r>
          </a:p>
        </p:txBody>
      </p:sp>
      <p:sp>
        <p:nvSpPr>
          <p:cNvPr id="33" name="Oval 50">
            <a:extLst>
              <a:ext uri="{FF2B5EF4-FFF2-40B4-BE49-F238E27FC236}">
                <a16:creationId xmlns="" xmlns:a16="http://schemas.microsoft.com/office/drawing/2014/main" id="{B8D35BF4-1D7F-4249-592D-62AA0E72D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0227" y="4259844"/>
            <a:ext cx="688791" cy="56787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Control </a:t>
            </a:r>
          </a:p>
          <a:p>
            <a:pPr algn="ctr">
              <a:defRPr/>
            </a:pPr>
            <a:r>
              <a:rPr lang="en-US" sz="1200" dirty="0">
                <a:latin typeface="+mj-lt"/>
              </a:rPr>
              <a:t>unit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3B8CC853-C430-3883-882D-6C207F47B75B}"/>
              </a:ext>
            </a:extLst>
          </p:cNvPr>
          <p:cNvSpPr txBox="1"/>
          <p:nvPr/>
        </p:nvSpPr>
        <p:spPr>
          <a:xfrm>
            <a:off x="10690245" y="3022255"/>
            <a:ext cx="918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dirty="0">
                <a:solidFill>
                  <a:schemeClr val="lt1"/>
                </a:solidFill>
                <a:latin typeface="+mj-lt"/>
                <a:cs typeface="+mn-cs"/>
              </a:rPr>
              <a:t>   CPU</a:t>
            </a:r>
          </a:p>
        </p:txBody>
      </p:sp>
      <p:sp>
        <p:nvSpPr>
          <p:cNvPr id="35" name="Flowchart: Connector 34">
            <a:extLst>
              <a:ext uri="{FF2B5EF4-FFF2-40B4-BE49-F238E27FC236}">
                <a16:creationId xmlns="" xmlns:a16="http://schemas.microsoft.com/office/drawing/2014/main" id="{7CA6C9EC-FF1C-013B-CF9D-0AB2ACDC2E70}"/>
              </a:ext>
            </a:extLst>
          </p:cNvPr>
          <p:cNvSpPr/>
          <p:nvPr/>
        </p:nvSpPr>
        <p:spPr>
          <a:xfrm>
            <a:off x="7923225" y="4617871"/>
            <a:ext cx="2018822" cy="1866067"/>
          </a:xfrm>
          <a:prstGeom prst="flowChartConnector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Oval 50">
            <a:extLst>
              <a:ext uri="{FF2B5EF4-FFF2-40B4-BE49-F238E27FC236}">
                <a16:creationId xmlns="" xmlns:a16="http://schemas.microsoft.com/office/drawing/2014/main" id="{2CCD6F87-3E48-3089-727A-B8DC27B4F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6527" y="5238968"/>
            <a:ext cx="892921" cy="754843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Control unit </a:t>
            </a:r>
          </a:p>
          <a:p>
            <a:pPr algn="ctr">
              <a:defRPr/>
            </a:pPr>
            <a:r>
              <a:rPr lang="en-US" sz="1200" dirty="0">
                <a:latin typeface="+mj-lt"/>
              </a:rPr>
              <a:t>Registers &amp; </a:t>
            </a:r>
          </a:p>
          <a:p>
            <a:pPr algn="ctr">
              <a:defRPr/>
            </a:pPr>
            <a:r>
              <a:rPr lang="en-US" sz="1200" dirty="0">
                <a:latin typeface="+mj-lt"/>
              </a:rPr>
              <a:t>decoders</a:t>
            </a:r>
          </a:p>
        </p:txBody>
      </p:sp>
      <p:sp>
        <p:nvSpPr>
          <p:cNvPr id="38" name="Oval 50">
            <a:extLst>
              <a:ext uri="{FF2B5EF4-FFF2-40B4-BE49-F238E27FC236}">
                <a16:creationId xmlns="" xmlns:a16="http://schemas.microsoft.com/office/drawing/2014/main" id="{B50E6B0F-00EC-9973-BF32-DD23A48C7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9580" y="4794597"/>
            <a:ext cx="768050" cy="690303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  Sequencing</a:t>
            </a:r>
          </a:p>
          <a:p>
            <a:pPr algn="ctr">
              <a:defRPr/>
            </a:pPr>
            <a:r>
              <a:rPr lang="en-US" sz="1200" dirty="0">
                <a:latin typeface="+mj-lt"/>
              </a:rPr>
              <a:t>logic</a:t>
            </a:r>
          </a:p>
        </p:txBody>
      </p:sp>
      <p:sp>
        <p:nvSpPr>
          <p:cNvPr id="39" name="Oval 50">
            <a:extLst>
              <a:ext uri="{FF2B5EF4-FFF2-40B4-BE49-F238E27FC236}">
                <a16:creationId xmlns="" xmlns:a16="http://schemas.microsoft.com/office/drawing/2014/main" id="{FEAEC2B1-ABEF-4356-E0B8-1E6439E3A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358" y="5916068"/>
            <a:ext cx="688791" cy="56787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US" sz="1200" dirty="0">
                <a:latin typeface="+mj-lt"/>
              </a:rPr>
              <a:t>Control </a:t>
            </a:r>
          </a:p>
          <a:p>
            <a:pPr algn="ctr">
              <a:defRPr/>
            </a:pPr>
            <a:r>
              <a:rPr lang="en-US" sz="1200" dirty="0">
                <a:latin typeface="+mj-lt"/>
              </a:rPr>
              <a:t>memory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81214A7D-F3A0-E3CA-C628-50CC38E87409}"/>
              </a:ext>
            </a:extLst>
          </p:cNvPr>
          <p:cNvSpPr txBox="1"/>
          <p:nvPr/>
        </p:nvSpPr>
        <p:spPr>
          <a:xfrm>
            <a:off x="8378558" y="4576967"/>
            <a:ext cx="1106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dirty="0">
                <a:solidFill>
                  <a:schemeClr val="lt1"/>
                </a:solidFill>
                <a:latin typeface="+mj-lt"/>
                <a:cs typeface="+mn-cs"/>
              </a:rPr>
              <a:t>CONTROL UNIT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="" xmlns:a16="http://schemas.microsoft.com/office/drawing/2014/main" id="{D8933164-4655-47BD-095C-57D82D17D38C}"/>
              </a:ext>
            </a:extLst>
          </p:cNvPr>
          <p:cNvCxnSpPr>
            <a:cxnSpLocks/>
            <a:stCxn id="16" idx="0"/>
          </p:cNvCxnSpPr>
          <p:nvPr/>
        </p:nvCxnSpPr>
        <p:spPr>
          <a:xfrm>
            <a:off x="9030982" y="2027031"/>
            <a:ext cx="2143640" cy="982485"/>
          </a:xfrm>
          <a:prstGeom prst="line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="" xmlns:a16="http://schemas.microsoft.com/office/drawing/2014/main" id="{D4AA791C-C6B3-1F54-5999-3B41C874E2E7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8787457" y="2547357"/>
            <a:ext cx="1757332" cy="2131613"/>
          </a:xfrm>
          <a:prstGeom prst="line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="" xmlns:a16="http://schemas.microsoft.com/office/drawing/2014/main" id="{E0DC50CB-6EBE-32F6-C9ED-04A1F91DEE4B}"/>
              </a:ext>
            </a:extLst>
          </p:cNvPr>
          <p:cNvCxnSpPr>
            <a:cxnSpLocks/>
          </p:cNvCxnSpPr>
          <p:nvPr/>
        </p:nvCxnSpPr>
        <p:spPr>
          <a:xfrm flipV="1">
            <a:off x="8576527" y="4256457"/>
            <a:ext cx="2616857" cy="392164"/>
          </a:xfrm>
          <a:prstGeom prst="line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="" xmlns:a16="http://schemas.microsoft.com/office/drawing/2014/main" id="{AD5ADA0F-6B0B-C11E-7CB8-9268EA88AB6C}"/>
              </a:ext>
            </a:extLst>
          </p:cNvPr>
          <p:cNvCxnSpPr>
            <a:cxnSpLocks/>
          </p:cNvCxnSpPr>
          <p:nvPr/>
        </p:nvCxnSpPr>
        <p:spPr>
          <a:xfrm flipV="1">
            <a:off x="9392987" y="4830569"/>
            <a:ext cx="1895070" cy="1552240"/>
          </a:xfrm>
          <a:prstGeom prst="line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98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14" grpId="0" animBg="1"/>
      <p:bldP spid="13" grpId="0" animBg="1"/>
      <p:bldP spid="1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 animBg="1"/>
      <p:bldP spid="36" grpId="0" animBg="1"/>
      <p:bldP spid="38" grpId="0" animBg="1"/>
      <p:bldP spid="39" grpId="0" animBg="1"/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000DD0BA-A591-6398-066B-EE3410ACD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00EFE7B8-B653-2E19-D07E-BA4BAB17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Control unit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E88C9B2-7B1E-802B-C53D-A95FCCD005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dirty="0"/>
              <a:t>control unit</a:t>
            </a:r>
          </a:p>
          <a:p>
            <a:r>
              <a:rPr lang="en-GB" altLang="en-US" dirty="0"/>
              <a:t>Inputs and Outputs</a:t>
            </a:r>
          </a:p>
          <a:p>
            <a:endParaRPr lang="en-GB" altLang="en-US" dirty="0"/>
          </a:p>
          <a:p>
            <a:endParaRPr lang="en-IN" dirty="0"/>
          </a:p>
        </p:txBody>
      </p:sp>
      <p:sp>
        <p:nvSpPr>
          <p:cNvPr id="5" name="Flowchart: Process 4">
            <a:extLst>
              <a:ext uri="{FF2B5EF4-FFF2-40B4-BE49-F238E27FC236}">
                <a16:creationId xmlns="" xmlns:a16="http://schemas.microsoft.com/office/drawing/2014/main" id="{578A69EE-E98D-2BEF-156D-A7626C1D3037}"/>
              </a:ext>
            </a:extLst>
          </p:cNvPr>
          <p:cNvSpPr/>
          <p:nvPr/>
        </p:nvSpPr>
        <p:spPr>
          <a:xfrm>
            <a:off x="6240016" y="2852936"/>
            <a:ext cx="2304256" cy="2160240"/>
          </a:xfrm>
          <a:prstGeom prst="flowChart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+mj-lt"/>
              </a:rPr>
              <a:t>Control</a:t>
            </a:r>
          </a:p>
          <a:p>
            <a:pPr algn="ctr"/>
            <a:r>
              <a:rPr lang="en-IN" sz="1600" dirty="0">
                <a:latin typeface="+mj-lt"/>
              </a:rPr>
              <a:t>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A96BE005-AC92-4702-6DAD-928A833440C5}"/>
              </a:ext>
            </a:extLst>
          </p:cNvPr>
          <p:cNvSpPr/>
          <p:nvPr/>
        </p:nvSpPr>
        <p:spPr>
          <a:xfrm>
            <a:off x="6564052" y="1700808"/>
            <a:ext cx="1656184" cy="2880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+mj-lt"/>
              </a:rPr>
              <a:t>Instruction register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F8005CC-2C70-CD37-F743-1074CA38E8FE}"/>
              </a:ext>
            </a:extLst>
          </p:cNvPr>
          <p:cNvSpPr/>
          <p:nvPr/>
        </p:nvSpPr>
        <p:spPr>
          <a:xfrm rot="16200000">
            <a:off x="8976320" y="3212976"/>
            <a:ext cx="3312368" cy="2880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+mj-lt"/>
              </a:rPr>
              <a:t>Control bus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="" xmlns:a16="http://schemas.microsoft.com/office/drawing/2014/main" id="{9E544B16-CBBA-CDA0-1CF2-EC378545D105}"/>
              </a:ext>
            </a:extLst>
          </p:cNvPr>
          <p:cNvSpPr/>
          <p:nvPr/>
        </p:nvSpPr>
        <p:spPr>
          <a:xfrm rot="5400000">
            <a:off x="6948060" y="2144892"/>
            <a:ext cx="816159" cy="504056"/>
          </a:xfrm>
          <a:prstGeom prst="rightArrow">
            <a:avLst>
              <a:gd name="adj1" fmla="val 27846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="" xmlns:a16="http://schemas.microsoft.com/office/drawing/2014/main" id="{5471FAE1-A0D5-8205-E1D7-F56426F6591B}"/>
              </a:ext>
            </a:extLst>
          </p:cNvPr>
          <p:cNvSpPr/>
          <p:nvPr/>
        </p:nvSpPr>
        <p:spPr>
          <a:xfrm>
            <a:off x="8544272" y="3062780"/>
            <a:ext cx="816159" cy="504056"/>
          </a:xfrm>
          <a:prstGeom prst="rightArrow">
            <a:avLst>
              <a:gd name="adj1" fmla="val 27846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="" xmlns:a16="http://schemas.microsoft.com/office/drawing/2014/main" id="{9B7A24E5-EB6E-5E1D-E259-4E3A33F6A6CF}"/>
              </a:ext>
            </a:extLst>
          </p:cNvPr>
          <p:cNvSpPr/>
          <p:nvPr/>
        </p:nvSpPr>
        <p:spPr>
          <a:xfrm rot="10800000">
            <a:off x="8544272" y="3789040"/>
            <a:ext cx="1917438" cy="504056"/>
          </a:xfrm>
          <a:prstGeom prst="rightArrow">
            <a:avLst>
              <a:gd name="adj1" fmla="val 27846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="" xmlns:a16="http://schemas.microsoft.com/office/drawing/2014/main" id="{BC801E29-1C72-6D92-165B-13638486611C}"/>
              </a:ext>
            </a:extLst>
          </p:cNvPr>
          <p:cNvSpPr/>
          <p:nvPr/>
        </p:nvSpPr>
        <p:spPr>
          <a:xfrm>
            <a:off x="8538203" y="4509120"/>
            <a:ext cx="1917438" cy="504056"/>
          </a:xfrm>
          <a:prstGeom prst="rightArrow">
            <a:avLst>
              <a:gd name="adj1" fmla="val 27846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EA6F10F7-70C9-CBFC-662A-756BCBC6C8C1}"/>
              </a:ext>
            </a:extLst>
          </p:cNvPr>
          <p:cNvCxnSpPr/>
          <p:nvPr/>
        </p:nvCxnSpPr>
        <p:spPr>
          <a:xfrm>
            <a:off x="5519936" y="3062780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69C57ACE-6424-8C6E-EFC2-3BEDA64ABB29}"/>
              </a:ext>
            </a:extLst>
          </p:cNvPr>
          <p:cNvCxnSpPr/>
          <p:nvPr/>
        </p:nvCxnSpPr>
        <p:spPr>
          <a:xfrm>
            <a:off x="5519936" y="3717032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90B9556C-4D0F-F7F4-940E-698DDB686D25}"/>
              </a:ext>
            </a:extLst>
          </p:cNvPr>
          <p:cNvCxnSpPr/>
          <p:nvPr/>
        </p:nvCxnSpPr>
        <p:spPr>
          <a:xfrm>
            <a:off x="5519936" y="4653136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4AC618A-2B0C-5A6F-7709-CEF3B4312CB7}"/>
              </a:ext>
            </a:extLst>
          </p:cNvPr>
          <p:cNvSpPr txBox="1"/>
          <p:nvPr/>
        </p:nvSpPr>
        <p:spPr>
          <a:xfrm>
            <a:off x="8543778" y="2705890"/>
            <a:ext cx="1128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Control signals with CPU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B53EDCD-B317-3ED4-1DEC-7777851900E5}"/>
              </a:ext>
            </a:extLst>
          </p:cNvPr>
          <p:cNvSpPr txBox="1"/>
          <p:nvPr/>
        </p:nvSpPr>
        <p:spPr>
          <a:xfrm>
            <a:off x="8976313" y="3566836"/>
            <a:ext cx="162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Control signals from control bus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CE6449E9-7C55-2C7B-72E9-FA5EF957A2A1}"/>
              </a:ext>
            </a:extLst>
          </p:cNvPr>
          <p:cNvSpPr txBox="1"/>
          <p:nvPr/>
        </p:nvSpPr>
        <p:spPr>
          <a:xfrm>
            <a:off x="8976313" y="4788523"/>
            <a:ext cx="173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Control signals to control bus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FADC7924-15EC-098B-005F-C8760E5FC1FE}"/>
              </a:ext>
            </a:extLst>
          </p:cNvPr>
          <p:cNvSpPr txBox="1"/>
          <p:nvPr/>
        </p:nvSpPr>
        <p:spPr>
          <a:xfrm>
            <a:off x="5210446" y="3210877"/>
            <a:ext cx="1068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Flags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3A42D9AC-8E9B-7492-3212-7CED02D9BC7A}"/>
              </a:ext>
            </a:extLst>
          </p:cNvPr>
          <p:cNvSpPr txBox="1"/>
          <p:nvPr/>
        </p:nvSpPr>
        <p:spPr>
          <a:xfrm>
            <a:off x="5012831" y="4514842"/>
            <a:ext cx="759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Clock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A45BE46-28B4-D79A-53F4-5338332DEB7C}"/>
              </a:ext>
            </a:extLst>
          </p:cNvPr>
          <p:cNvCxnSpPr>
            <a:cxnSpLocks/>
          </p:cNvCxnSpPr>
          <p:nvPr/>
        </p:nvCxnSpPr>
        <p:spPr>
          <a:xfrm>
            <a:off x="5879976" y="3212976"/>
            <a:ext cx="0" cy="35386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Content Placeholder 1">
            <a:extLst>
              <a:ext uri="{FF2B5EF4-FFF2-40B4-BE49-F238E27FC236}">
                <a16:creationId xmlns="" xmlns:a16="http://schemas.microsoft.com/office/drawing/2014/main" id="{67D582B9-46C6-0A00-8BB8-2F7C4ECFE49D}"/>
              </a:ext>
            </a:extLst>
          </p:cNvPr>
          <p:cNvSpPr txBox="1">
            <a:spLocks/>
          </p:cNvSpPr>
          <p:nvPr/>
        </p:nvSpPr>
        <p:spPr bwMode="auto">
          <a:xfrm>
            <a:off x="3162710" y="637863"/>
            <a:ext cx="9067800" cy="57733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008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315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315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756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84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13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41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Inputs</a:t>
            </a:r>
          </a:p>
          <a:p>
            <a:pPr lvl="1"/>
            <a:r>
              <a:rPr lang="en-GB" altLang="en-US" dirty="0"/>
              <a:t>Instruction register</a:t>
            </a:r>
          </a:p>
          <a:p>
            <a:pPr lvl="1"/>
            <a:r>
              <a:rPr lang="en-GB" altLang="en-US" dirty="0"/>
              <a:t>Flags</a:t>
            </a:r>
          </a:p>
          <a:p>
            <a:pPr lvl="1"/>
            <a:r>
              <a:rPr lang="en-GB" altLang="en-US" dirty="0"/>
              <a:t>Clock</a:t>
            </a:r>
          </a:p>
          <a:p>
            <a:pPr lvl="1"/>
            <a:r>
              <a:rPr lang="en-US" altLang="en-US" dirty="0"/>
              <a:t>Control signals from </a:t>
            </a:r>
          </a:p>
          <a:p>
            <a:pPr marL="457200" lvl="1" indent="0">
              <a:buNone/>
            </a:pPr>
            <a:r>
              <a:rPr lang="en-US" altLang="en-US" dirty="0"/>
              <a:t>   control bus</a:t>
            </a:r>
          </a:p>
          <a:p>
            <a:r>
              <a:rPr lang="en-GB" altLang="en-US" dirty="0"/>
              <a:t>Outputs</a:t>
            </a:r>
          </a:p>
          <a:p>
            <a:pPr lvl="1"/>
            <a:r>
              <a:rPr lang="en-US" altLang="en-US" dirty="0"/>
              <a:t>Control signals within </a:t>
            </a:r>
          </a:p>
          <a:p>
            <a:pPr marL="457200" lvl="1" indent="0">
              <a:buNone/>
            </a:pPr>
            <a:r>
              <a:rPr lang="en-US" altLang="en-US" dirty="0"/>
              <a:t>   the processor</a:t>
            </a:r>
          </a:p>
          <a:p>
            <a:pPr lvl="1"/>
            <a:r>
              <a:rPr lang="en-US" altLang="en-US" dirty="0"/>
              <a:t>Control signals to control </a:t>
            </a:r>
          </a:p>
          <a:p>
            <a:pPr marL="457200" lvl="1" indent="0">
              <a:buNone/>
            </a:pPr>
            <a:r>
              <a:rPr lang="en-US" altLang="en-US" dirty="0"/>
              <a:t>   bus</a:t>
            </a:r>
            <a:endParaRPr lang="en-GB" altLang="en-US" dirty="0"/>
          </a:p>
          <a:p>
            <a:pPr marL="457200" lvl="1" indent="0">
              <a:buNone/>
            </a:pPr>
            <a:endParaRPr lang="en-GB" altLang="en-US" dirty="0"/>
          </a:p>
        </p:txBody>
      </p:sp>
      <p:sp>
        <p:nvSpPr>
          <p:cNvPr id="22" name="Flowchart: Process 21">
            <a:extLst>
              <a:ext uri="{FF2B5EF4-FFF2-40B4-BE49-F238E27FC236}">
                <a16:creationId xmlns="" xmlns:a16="http://schemas.microsoft.com/office/drawing/2014/main" id="{054AED17-AB0F-DBE1-8334-D17DA1D995C1}"/>
              </a:ext>
            </a:extLst>
          </p:cNvPr>
          <p:cNvSpPr/>
          <p:nvPr/>
        </p:nvSpPr>
        <p:spPr>
          <a:xfrm>
            <a:off x="7929705" y="1796784"/>
            <a:ext cx="2304256" cy="2160240"/>
          </a:xfrm>
          <a:prstGeom prst="flowChart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+mj-lt"/>
              </a:rPr>
              <a:t>Control</a:t>
            </a:r>
          </a:p>
          <a:p>
            <a:pPr algn="ctr"/>
            <a:r>
              <a:rPr lang="en-IN" sz="1600" dirty="0">
                <a:latin typeface="+mj-lt"/>
              </a:rPr>
              <a:t>unit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98EECF20-172B-BAFA-42CD-20273358FF32}"/>
              </a:ext>
            </a:extLst>
          </p:cNvPr>
          <p:cNvSpPr/>
          <p:nvPr/>
        </p:nvSpPr>
        <p:spPr>
          <a:xfrm>
            <a:off x="8193625" y="700690"/>
            <a:ext cx="1656184" cy="2880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+mj-lt"/>
              </a:rPr>
              <a:t>Instruction register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BC7D2205-F7EF-DD94-A531-77CFCB2A6326}"/>
              </a:ext>
            </a:extLst>
          </p:cNvPr>
          <p:cNvSpPr/>
          <p:nvPr/>
        </p:nvSpPr>
        <p:spPr>
          <a:xfrm rot="16200000">
            <a:off x="10353771" y="2175122"/>
            <a:ext cx="3312368" cy="2880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+mj-lt"/>
              </a:rPr>
              <a:t>Control bus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="" xmlns:a16="http://schemas.microsoft.com/office/drawing/2014/main" id="{E3009AEE-3798-23BF-F45D-1062A25E7473}"/>
              </a:ext>
            </a:extLst>
          </p:cNvPr>
          <p:cNvSpPr/>
          <p:nvPr/>
        </p:nvSpPr>
        <p:spPr>
          <a:xfrm rot="5400000">
            <a:off x="8655039" y="1144774"/>
            <a:ext cx="816159" cy="504056"/>
          </a:xfrm>
          <a:prstGeom prst="rightArrow">
            <a:avLst>
              <a:gd name="adj1" fmla="val 27846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="" xmlns:a16="http://schemas.microsoft.com/office/drawing/2014/main" id="{FAECFDA1-9F07-FE99-C941-3619685D8F9F}"/>
              </a:ext>
            </a:extLst>
          </p:cNvPr>
          <p:cNvSpPr/>
          <p:nvPr/>
        </p:nvSpPr>
        <p:spPr>
          <a:xfrm>
            <a:off x="10233961" y="1725307"/>
            <a:ext cx="982970" cy="504056"/>
          </a:xfrm>
          <a:prstGeom prst="rightArrow">
            <a:avLst>
              <a:gd name="adj1" fmla="val 27846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="" xmlns:a16="http://schemas.microsoft.com/office/drawing/2014/main" id="{A50BF83B-E058-CBB2-C873-40D5C3DCFE6B}"/>
              </a:ext>
            </a:extLst>
          </p:cNvPr>
          <p:cNvSpPr/>
          <p:nvPr/>
        </p:nvSpPr>
        <p:spPr>
          <a:xfrm rot="10800000">
            <a:off x="10195451" y="2449488"/>
            <a:ext cx="1664728" cy="504056"/>
          </a:xfrm>
          <a:prstGeom prst="rightArrow">
            <a:avLst>
              <a:gd name="adj1" fmla="val 27846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="" xmlns:a16="http://schemas.microsoft.com/office/drawing/2014/main" id="{5A217D14-A954-4FCF-0C69-05674854FA8C}"/>
              </a:ext>
            </a:extLst>
          </p:cNvPr>
          <p:cNvSpPr/>
          <p:nvPr/>
        </p:nvSpPr>
        <p:spPr>
          <a:xfrm>
            <a:off x="10233960" y="3137878"/>
            <a:ext cx="1652203" cy="504056"/>
          </a:xfrm>
          <a:prstGeom prst="rightArrow">
            <a:avLst>
              <a:gd name="adj1" fmla="val 27846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99FA25A0-181C-C14B-4EE5-C7CABA39A7E4}"/>
              </a:ext>
            </a:extLst>
          </p:cNvPr>
          <p:cNvCxnSpPr/>
          <p:nvPr/>
        </p:nvCxnSpPr>
        <p:spPr>
          <a:xfrm>
            <a:off x="7209625" y="1988840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EB19701B-EDC0-5A55-E021-682077E8502B}"/>
              </a:ext>
            </a:extLst>
          </p:cNvPr>
          <p:cNvCxnSpPr/>
          <p:nvPr/>
        </p:nvCxnSpPr>
        <p:spPr>
          <a:xfrm>
            <a:off x="7198651" y="2564904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="" xmlns:a16="http://schemas.microsoft.com/office/drawing/2014/main" id="{63C87232-D161-FA03-3257-C440B43CF94C}"/>
              </a:ext>
            </a:extLst>
          </p:cNvPr>
          <p:cNvCxnSpPr/>
          <p:nvPr/>
        </p:nvCxnSpPr>
        <p:spPr>
          <a:xfrm>
            <a:off x="7198651" y="3552902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7ECBC7C4-9028-4AD2-27C4-0BC286010171}"/>
              </a:ext>
            </a:extLst>
          </p:cNvPr>
          <p:cNvSpPr txBox="1"/>
          <p:nvPr/>
        </p:nvSpPr>
        <p:spPr>
          <a:xfrm>
            <a:off x="10129093" y="1423939"/>
            <a:ext cx="1660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Control signals within CPU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0A371538-AEC8-434B-BFF1-824FF21D3806}"/>
              </a:ext>
            </a:extLst>
          </p:cNvPr>
          <p:cNvSpPr txBox="1"/>
          <p:nvPr/>
        </p:nvSpPr>
        <p:spPr>
          <a:xfrm>
            <a:off x="10465732" y="2229363"/>
            <a:ext cx="162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Control signals from control bus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6BAC4029-1864-3622-1C54-FCF648E86FD1}"/>
              </a:ext>
            </a:extLst>
          </p:cNvPr>
          <p:cNvSpPr txBox="1"/>
          <p:nvPr/>
        </p:nvSpPr>
        <p:spPr>
          <a:xfrm>
            <a:off x="10272471" y="3420578"/>
            <a:ext cx="1734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Control signals to control bus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BC780EB0-2D2D-D632-9552-7827A047472D}"/>
              </a:ext>
            </a:extLst>
          </p:cNvPr>
          <p:cNvSpPr txBox="1"/>
          <p:nvPr/>
        </p:nvSpPr>
        <p:spPr>
          <a:xfrm>
            <a:off x="7024651" y="2106805"/>
            <a:ext cx="1068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Flags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2B1BB82B-F1B4-CF04-DEBA-20648ACEF912}"/>
              </a:ext>
            </a:extLst>
          </p:cNvPr>
          <p:cNvSpPr txBox="1"/>
          <p:nvPr/>
        </p:nvSpPr>
        <p:spPr>
          <a:xfrm>
            <a:off x="6698461" y="3414402"/>
            <a:ext cx="759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</a:rPr>
              <a:t>Clock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="" xmlns:a16="http://schemas.microsoft.com/office/drawing/2014/main" id="{E1A38778-F298-BB38-67D9-CA92D2EFE9AA}"/>
              </a:ext>
            </a:extLst>
          </p:cNvPr>
          <p:cNvCxnSpPr>
            <a:cxnSpLocks/>
          </p:cNvCxnSpPr>
          <p:nvPr/>
        </p:nvCxnSpPr>
        <p:spPr>
          <a:xfrm>
            <a:off x="7558691" y="2052433"/>
            <a:ext cx="0" cy="35386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2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2" grpId="0"/>
      <p:bldP spid="33" grpId="0"/>
      <p:bldP spid="34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Clock</a:t>
            </a:r>
          </a:p>
          <a:p>
            <a:pPr lvl="1"/>
            <a:r>
              <a:rPr lang="en-US" dirty="0"/>
              <a:t>This is how the control unit “keeps time.” The control unit causes one micro-operation (or a set of simultaneous micro-operations) to be performed for each clock pulse.</a:t>
            </a:r>
          </a:p>
          <a:p>
            <a:pPr lvl="1"/>
            <a:r>
              <a:rPr lang="en-US" dirty="0"/>
              <a:t>This is sometimes referred to as the processor cycle time, or the clock cycle time.</a:t>
            </a:r>
          </a:p>
          <a:p>
            <a:r>
              <a:rPr lang="en-US" dirty="0"/>
              <a:t>Instruction register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opcode</a:t>
            </a:r>
            <a:r>
              <a:rPr lang="en-US" dirty="0"/>
              <a:t> and addressing mode of the current instruction are used to determine which micro-operations to perform during the execute cycle</a:t>
            </a:r>
            <a:endParaRPr lang="en-GB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unit inputs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dirty="0"/>
              <a:t>control unit</a:t>
            </a:r>
          </a:p>
          <a:p>
            <a:r>
              <a:rPr lang="en-GB" altLang="en-US" dirty="0"/>
              <a:t>Inputs and Outputs</a:t>
            </a:r>
          </a:p>
          <a:p>
            <a:pPr lvl="1"/>
            <a:r>
              <a:rPr lang="en-GB" altLang="en-US" dirty="0"/>
              <a:t>Inputs</a:t>
            </a:r>
          </a:p>
          <a:p>
            <a:pPr lvl="2"/>
            <a:r>
              <a:rPr lang="en-GB" altLang="en-US" dirty="0"/>
              <a:t>Clock</a:t>
            </a:r>
          </a:p>
          <a:p>
            <a:pPr lvl="2"/>
            <a:r>
              <a:rPr lang="en-GB" altLang="en-US" dirty="0"/>
              <a:t>Instruction Register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71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  <a:p>
            <a:pPr lvl="1"/>
            <a:r>
              <a:rPr lang="en-US" dirty="0"/>
              <a:t>These are needed by the control unit to determine the status of the processor and the outcome of previous ALU operations. </a:t>
            </a:r>
          </a:p>
          <a:p>
            <a:pPr lvl="1"/>
            <a:r>
              <a:rPr lang="en-US" dirty="0"/>
              <a:t>For example</a:t>
            </a:r>
          </a:p>
          <a:p>
            <a:pPr lvl="2"/>
            <a:r>
              <a:rPr lang="en-US" dirty="0"/>
              <a:t>for the increment-and-skip-if-zero (ISZ) instruction, the control unit will increment the PC if the zero flag is set.</a:t>
            </a:r>
          </a:p>
          <a:p>
            <a:r>
              <a:rPr lang="en-US" dirty="0"/>
              <a:t>Control signals from control bus</a:t>
            </a:r>
          </a:p>
          <a:p>
            <a:pPr lvl="1"/>
            <a:r>
              <a:rPr lang="en-US" dirty="0"/>
              <a:t>The control bus portion of the system bus provides signals to the control unit</a:t>
            </a:r>
            <a:endParaRPr lang="en-GB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unit inputs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dirty="0"/>
              <a:t>control unit</a:t>
            </a:r>
          </a:p>
          <a:p>
            <a:r>
              <a:rPr lang="en-GB" altLang="en-US" dirty="0"/>
              <a:t>Inputs and Outputs</a:t>
            </a:r>
          </a:p>
          <a:p>
            <a:pPr lvl="1"/>
            <a:r>
              <a:rPr lang="en-GB" altLang="en-US" dirty="0"/>
              <a:t>Inputs</a:t>
            </a:r>
          </a:p>
          <a:p>
            <a:pPr lvl="2"/>
            <a:r>
              <a:rPr lang="en-GB" altLang="en-US" dirty="0"/>
              <a:t>Clock</a:t>
            </a:r>
          </a:p>
          <a:p>
            <a:pPr lvl="2"/>
            <a:r>
              <a:rPr lang="en-GB" altLang="en-US" dirty="0"/>
              <a:t>Instruction Register</a:t>
            </a:r>
          </a:p>
          <a:p>
            <a:pPr lvl="2"/>
            <a:r>
              <a:rPr lang="en-IN" dirty="0"/>
              <a:t>Flags</a:t>
            </a:r>
          </a:p>
          <a:p>
            <a:pPr lvl="2"/>
            <a:r>
              <a:rPr lang="en-US" dirty="0"/>
              <a:t>Control signals from control bus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95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signals within the processor</a:t>
            </a:r>
          </a:p>
          <a:p>
            <a:pPr lvl="1"/>
            <a:r>
              <a:rPr lang="en-US" dirty="0"/>
              <a:t>These are two types</a:t>
            </a:r>
          </a:p>
          <a:p>
            <a:pPr lvl="2"/>
            <a:r>
              <a:rPr lang="en-US" dirty="0"/>
              <a:t>Those that cause data to be moved from one register to another, and </a:t>
            </a:r>
          </a:p>
          <a:p>
            <a:pPr lvl="2"/>
            <a:r>
              <a:rPr lang="en-US" dirty="0"/>
              <a:t>Those that activate specific ALU functions.</a:t>
            </a:r>
          </a:p>
          <a:p>
            <a:r>
              <a:rPr lang="en-US" dirty="0"/>
              <a:t>Control signals to control bus</a:t>
            </a:r>
          </a:p>
          <a:p>
            <a:pPr lvl="1"/>
            <a:r>
              <a:rPr lang="en-US" dirty="0"/>
              <a:t>These are also of two types</a:t>
            </a:r>
          </a:p>
          <a:p>
            <a:pPr lvl="2"/>
            <a:r>
              <a:rPr lang="en-US" dirty="0"/>
              <a:t>Control signals to memory and </a:t>
            </a:r>
          </a:p>
          <a:p>
            <a:pPr lvl="2"/>
            <a:r>
              <a:rPr lang="en-US" dirty="0"/>
              <a:t>Control signals to the I/O modules</a:t>
            </a:r>
            <a:endParaRPr lang="en-GB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unit outputs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dirty="0"/>
              <a:t>control unit</a:t>
            </a:r>
          </a:p>
          <a:p>
            <a:r>
              <a:rPr lang="en-GB" altLang="en-US" dirty="0"/>
              <a:t>Inputs and Outputs</a:t>
            </a:r>
          </a:p>
          <a:p>
            <a:pPr lvl="1"/>
            <a:r>
              <a:rPr lang="en-GB" altLang="en-US" dirty="0"/>
              <a:t>Inputs</a:t>
            </a:r>
          </a:p>
          <a:p>
            <a:pPr lvl="2"/>
            <a:r>
              <a:rPr lang="en-GB" altLang="en-US" dirty="0"/>
              <a:t>Clock</a:t>
            </a:r>
          </a:p>
          <a:p>
            <a:pPr lvl="2"/>
            <a:r>
              <a:rPr lang="en-GB" altLang="en-US" dirty="0"/>
              <a:t>Instruction Register</a:t>
            </a:r>
          </a:p>
          <a:p>
            <a:pPr lvl="2"/>
            <a:r>
              <a:rPr lang="en-IN" dirty="0"/>
              <a:t>Flags</a:t>
            </a:r>
          </a:p>
          <a:p>
            <a:pPr lvl="2"/>
            <a:r>
              <a:rPr lang="en-US" dirty="0"/>
              <a:t>Control signals from control bus</a:t>
            </a:r>
          </a:p>
          <a:p>
            <a:pPr lvl="1"/>
            <a:r>
              <a:rPr lang="en-US" dirty="0"/>
              <a:t>Outputs</a:t>
            </a:r>
          </a:p>
          <a:p>
            <a:pPr lvl="2"/>
            <a:r>
              <a:rPr lang="en-US" dirty="0"/>
              <a:t>Control signals within the processor</a:t>
            </a:r>
          </a:p>
          <a:p>
            <a:pPr lvl="2"/>
            <a:r>
              <a:rPr lang="en-US" dirty="0"/>
              <a:t>Control signals to control bus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43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approaches to the implementation of the control unit. </a:t>
            </a:r>
          </a:p>
          <a:p>
            <a:r>
              <a:rPr lang="en-US" dirty="0"/>
              <a:t>Most of these fall into one of two categories</a:t>
            </a:r>
          </a:p>
          <a:p>
            <a:pPr lvl="1"/>
            <a:r>
              <a:rPr lang="en-GB" altLang="en-US" dirty="0"/>
              <a:t>Hardwired implementation</a:t>
            </a:r>
          </a:p>
          <a:p>
            <a:pPr lvl="1"/>
            <a:r>
              <a:rPr lang="en-GB" altLang="en-US" dirty="0" err="1"/>
              <a:t>Microprogrammed</a:t>
            </a:r>
            <a:r>
              <a:rPr lang="en-GB" altLang="en-US" dirty="0"/>
              <a:t> implementation</a:t>
            </a:r>
          </a:p>
          <a:p>
            <a:r>
              <a:rPr lang="en-GB" altLang="en-US" dirty="0"/>
              <a:t>Hardwired Control Unit</a:t>
            </a:r>
          </a:p>
          <a:p>
            <a:pPr lvl="1"/>
            <a:r>
              <a:rPr lang="en-GB" altLang="en-US" dirty="0"/>
              <a:t> </a:t>
            </a:r>
            <a:r>
              <a:rPr lang="en-US" dirty="0"/>
              <a:t>In a hardwired implementation, the control unit is essentially a state machine circuit. </a:t>
            </a:r>
          </a:p>
          <a:p>
            <a:pPr lvl="1"/>
            <a:r>
              <a:rPr lang="en-US" dirty="0"/>
              <a:t>Its input logic signals are transformed into a set of output logic signals, which are the control signals</a:t>
            </a:r>
          </a:p>
          <a:p>
            <a:endParaRPr lang="en-GB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Implementation of Control unit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dirty="0"/>
              <a:t>Control Unit (C.U.)</a:t>
            </a:r>
          </a:p>
          <a:p>
            <a:r>
              <a:rPr lang="en-GB" altLang="en-US" dirty="0"/>
              <a:t>Inputs and Outputs</a:t>
            </a:r>
          </a:p>
          <a:p>
            <a:pPr lvl="1"/>
            <a:r>
              <a:rPr lang="en-GB" altLang="en-US" dirty="0"/>
              <a:t>Inputs</a:t>
            </a:r>
          </a:p>
          <a:p>
            <a:pPr lvl="2"/>
            <a:r>
              <a:rPr lang="en-GB" altLang="en-US" dirty="0"/>
              <a:t>Clock</a:t>
            </a:r>
          </a:p>
          <a:p>
            <a:pPr lvl="2"/>
            <a:r>
              <a:rPr lang="en-GB" altLang="en-US" dirty="0"/>
              <a:t>Instruction Register</a:t>
            </a:r>
          </a:p>
          <a:p>
            <a:pPr lvl="2"/>
            <a:r>
              <a:rPr lang="en-IN" dirty="0"/>
              <a:t>Flags</a:t>
            </a:r>
          </a:p>
          <a:p>
            <a:pPr lvl="2"/>
            <a:r>
              <a:rPr lang="en-US" dirty="0"/>
              <a:t>Control signals from control bus</a:t>
            </a:r>
          </a:p>
          <a:p>
            <a:pPr lvl="1"/>
            <a:r>
              <a:rPr lang="en-US" dirty="0"/>
              <a:t>Outputs</a:t>
            </a:r>
          </a:p>
          <a:p>
            <a:pPr lvl="2"/>
            <a:r>
              <a:rPr lang="en-US" dirty="0"/>
              <a:t>Control signals within the processor</a:t>
            </a:r>
          </a:p>
          <a:p>
            <a:pPr lvl="2"/>
            <a:r>
              <a:rPr lang="en-US" dirty="0"/>
              <a:t>Control signals to control bus</a:t>
            </a:r>
          </a:p>
          <a:p>
            <a:r>
              <a:rPr lang="en-US" dirty="0"/>
              <a:t>Implementation of CU</a:t>
            </a:r>
          </a:p>
          <a:p>
            <a:pPr lvl="1"/>
            <a:r>
              <a:rPr lang="en-US" dirty="0"/>
              <a:t>Hardwired</a:t>
            </a:r>
          </a:p>
          <a:p>
            <a:pPr lvl="1"/>
            <a:r>
              <a:rPr lang="en-US" dirty="0"/>
              <a:t>Micro Programmed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94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8C5F766D-FB9D-66D3-95CE-7F04FD45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Use of Data Path Conditions in Control Signal Logic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58D0E2C-A97F-85FD-9320-ABCB0D9059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Control Unit</a:t>
            </a:r>
          </a:p>
          <a:p>
            <a:r>
              <a:rPr lang="en-US" altLang="en-US" sz="2000" dirty="0"/>
              <a:t>Use of Data Path Conditions in Control Signal Logic</a:t>
            </a:r>
            <a:endParaRPr lang="en-US" altLang="en-US" dirty="0"/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8">
                <a:extLst>
                  <a:ext uri="{FF2B5EF4-FFF2-40B4-BE49-F238E27FC236}">
                    <a16:creationId xmlns="" xmlns:a16="http://schemas.microsoft.com/office/drawing/2014/main" id="{6A1C54A3-D3FF-BA0C-19A0-3AD9F4F17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92209" y="907321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𝐼𝑛𝑐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4, 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𝑅𝑒𝑎𝑑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6A1C54A3-D3FF-BA0C-19A0-3AD9F4F17C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2209" y="907321"/>
                <a:ext cx="1447800" cy="307777"/>
              </a:xfrm>
              <a:prstGeom prst="rect">
                <a:avLst/>
              </a:prstGeom>
              <a:blipFill>
                <a:blip r:embed="rId2"/>
                <a:stretch>
                  <a:fillRect r="-552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9">
            <a:extLst>
              <a:ext uri="{FF2B5EF4-FFF2-40B4-BE49-F238E27FC236}">
                <a16:creationId xmlns="" xmlns:a16="http://schemas.microsoft.com/office/drawing/2014/main" id="{CCD20BC2-BF28-6E9C-A39F-B95066E3E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2520" y="865893"/>
            <a:ext cx="152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T0.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="" xmlns:a16="http://schemas.microsoft.com/office/drawing/2014/main" id="{331F1FDC-F5BC-A9EC-5E18-01978D333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147" y="1222424"/>
            <a:ext cx="152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T1.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BF937E71-6EA5-2551-A5B6-6640E82E3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8720" y="1541500"/>
            <a:ext cx="1371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T2.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="" xmlns:a16="http://schemas.microsoft.com/office/drawing/2014/main" id="{6D7F27DB-B6C7-8EAF-2513-A7938D929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3520" y="601227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8">
                <a:extLst>
                  <a:ext uri="{FF2B5EF4-FFF2-40B4-BE49-F238E27FC236}">
                    <a16:creationId xmlns="" xmlns:a16="http://schemas.microsoft.com/office/drawing/2014/main" id="{6E446684-3197-950C-B834-D70900717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1373" y="1217417"/>
                <a:ext cx="207920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𝑊𝑎𝑖𝑡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Rectangle 8">
                <a:extLst>
                  <a:ext uri="{FF2B5EF4-FFF2-40B4-BE49-F238E27FC236}">
                    <a16:creationId xmlns:a16="http://schemas.microsoft.com/office/drawing/2014/main" id="{6E446684-3197-950C-B834-D70900717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1373" y="1217417"/>
                <a:ext cx="207920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8">
                <a:extLst>
                  <a:ext uri="{FF2B5EF4-FFF2-40B4-BE49-F238E27FC236}">
                    <a16:creationId xmlns="" xmlns:a16="http://schemas.microsoft.com/office/drawing/2014/main" id="{7F5CAC86-A4D4-B1C9-4B39-8FC0A6B79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078" y="1530112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𝐼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Rectangle 8">
                <a:extLst>
                  <a:ext uri="{FF2B5EF4-FFF2-40B4-BE49-F238E27FC236}">
                    <a16:creationId xmlns:a16="http://schemas.microsoft.com/office/drawing/2014/main" id="{7F5CAC86-A4D4-B1C9-4B39-8FC0A6B79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6078" y="1530112"/>
                <a:ext cx="1447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34">
            <a:extLst>
              <a:ext uri="{FF2B5EF4-FFF2-40B4-BE49-F238E27FC236}">
                <a16:creationId xmlns="" xmlns:a16="http://schemas.microsoft.com/office/drawing/2014/main" id="{9613290C-74AB-B841-8DD6-0F58C167D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135" y="612213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8">
                <a:extLst>
                  <a:ext uri="{FF2B5EF4-FFF2-40B4-BE49-F238E27FC236}">
                    <a16:creationId xmlns="" xmlns:a16="http://schemas.microsoft.com/office/drawing/2014/main" id="{92405C94-9734-6A12-8E50-A985AA96F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5086" y="2495553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𝐺𝑟𝑏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Rectangle 8">
                <a:extLst>
                  <a:ext uri="{FF2B5EF4-FFF2-40B4-BE49-F238E27FC236}">
                    <a16:creationId xmlns:a16="http://schemas.microsoft.com/office/drawing/2014/main" id="{92405C94-9734-6A12-8E50-A985AA96FE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5086" y="2495553"/>
                <a:ext cx="144780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9">
            <a:extLst>
              <a:ext uri="{FF2B5EF4-FFF2-40B4-BE49-F238E27FC236}">
                <a16:creationId xmlns="" xmlns:a16="http://schemas.microsoft.com/office/drawing/2014/main" id="{0E9A2A5E-A632-DDB8-5BED-19C198AC7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674" y="2519604"/>
            <a:ext cx="1447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T3.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="" xmlns:a16="http://schemas.microsoft.com/office/drawing/2014/main" id="{56DDF417-D617-9256-CE2A-7D833B1CE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3574" y="2841160"/>
            <a:ext cx="152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T4.</a:t>
            </a:r>
          </a:p>
        </p:txBody>
      </p:sp>
      <p:sp>
        <p:nvSpPr>
          <p:cNvPr id="24" name="Rectangle 11">
            <a:extLst>
              <a:ext uri="{FF2B5EF4-FFF2-40B4-BE49-F238E27FC236}">
                <a16:creationId xmlns="" xmlns:a16="http://schemas.microsoft.com/office/drawing/2014/main" id="{DE9522B7-B648-D6A7-EAD0-38663FF07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869" y="3170079"/>
            <a:ext cx="1371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T5.</a:t>
            </a:r>
          </a:p>
        </p:txBody>
      </p:sp>
      <p:sp>
        <p:nvSpPr>
          <p:cNvPr id="25" name="TextBox 34">
            <a:extLst>
              <a:ext uri="{FF2B5EF4-FFF2-40B4-BE49-F238E27FC236}">
                <a16:creationId xmlns="" xmlns:a16="http://schemas.microsoft.com/office/drawing/2014/main" id="{63F01D0B-C327-F722-C63F-9B2C32DB9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228" y="2190480"/>
            <a:ext cx="11068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8">
                <a:extLst>
                  <a:ext uri="{FF2B5EF4-FFF2-40B4-BE49-F238E27FC236}">
                    <a16:creationId xmlns="" xmlns:a16="http://schemas.microsoft.com/office/drawing/2014/main" id="{B17E8CEC-3DD8-B778-12DE-DABF4C206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4520" y="2848882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𝐺𝑟𝑐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𝐴𝐷𝐷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Rectangle 8">
                <a:extLst>
                  <a:ext uri="{FF2B5EF4-FFF2-40B4-BE49-F238E27FC236}">
                    <a16:creationId xmlns:a16="http://schemas.microsoft.com/office/drawing/2014/main" id="{B17E8CEC-3DD8-B778-12DE-DABF4C206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4520" y="2848882"/>
                <a:ext cx="1447800" cy="307777"/>
              </a:xfrm>
              <a:prstGeom prst="rect">
                <a:avLst/>
              </a:prstGeom>
              <a:blipFill>
                <a:blip r:embed="rId6"/>
                <a:stretch>
                  <a:fillRect r="-67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8">
                <a:extLst>
                  <a:ext uri="{FF2B5EF4-FFF2-40B4-BE49-F238E27FC236}">
                    <a16:creationId xmlns="" xmlns:a16="http://schemas.microsoft.com/office/drawing/2014/main" id="{55E6D741-2F50-1BE5-A3FB-95A4DC725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4520" y="3174931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𝐺𝑟𝑎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𝐸𝑛𝑑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7" name="Rectangle 8">
                <a:extLst>
                  <a:ext uri="{FF2B5EF4-FFF2-40B4-BE49-F238E27FC236}">
                    <a16:creationId xmlns:a16="http://schemas.microsoft.com/office/drawing/2014/main" id="{55E6D741-2F50-1BE5-A3FB-95A4DC725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4520" y="3174931"/>
                <a:ext cx="1447800" cy="307777"/>
              </a:xfrm>
              <a:prstGeom prst="rect">
                <a:avLst/>
              </a:prstGeom>
              <a:blipFill>
                <a:blip r:embed="rId7"/>
                <a:stretch>
                  <a:fillRect r="-67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34">
            <a:extLst>
              <a:ext uri="{FF2B5EF4-FFF2-40B4-BE49-F238E27FC236}">
                <a16:creationId xmlns="" xmlns:a16="http://schemas.microsoft.com/office/drawing/2014/main" id="{A21614D0-366A-EA9A-25BE-45AC60EBE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029" y="2199601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8">
                <a:extLst>
                  <a:ext uri="{FF2B5EF4-FFF2-40B4-BE49-F238E27FC236}">
                    <a16:creationId xmlns="" xmlns:a16="http://schemas.microsoft.com/office/drawing/2014/main" id="{AB229ED3-7AEA-7B5D-4901-AE9780A01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0696" y="2545706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𝐺𝑟𝑏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Rectangle 8">
                <a:extLst>
                  <a:ext uri="{FF2B5EF4-FFF2-40B4-BE49-F238E27FC236}">
                    <a16:creationId xmlns:a16="http://schemas.microsoft.com/office/drawing/2014/main" id="{AB229ED3-7AEA-7B5D-4901-AE9780A0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0696" y="2545706"/>
                <a:ext cx="144780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8">
                <a:extLst>
                  <a:ext uri="{FF2B5EF4-FFF2-40B4-BE49-F238E27FC236}">
                    <a16:creationId xmlns="" xmlns:a16="http://schemas.microsoft.com/office/drawing/2014/main" id="{576A5BA6-3944-D9A3-2320-17D3070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0241" y="2846915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𝑐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𝐴𝐷𝐷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Rectangle 8">
                <a:extLst>
                  <a:ext uri="{FF2B5EF4-FFF2-40B4-BE49-F238E27FC236}">
                    <a16:creationId xmlns:a16="http://schemas.microsoft.com/office/drawing/2014/main" id="{576A5BA6-3944-D9A3-2320-17D307067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0241" y="2846915"/>
                <a:ext cx="1447800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8">
                <a:extLst>
                  <a:ext uri="{FF2B5EF4-FFF2-40B4-BE49-F238E27FC236}">
                    <a16:creationId xmlns="" xmlns:a16="http://schemas.microsoft.com/office/drawing/2014/main" id="{F42FB6C9-C280-AC95-C985-7523E1983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0009" y="3149263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𝐺𝑟𝑎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𝐸𝑛𝑑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5" name="Rectangle 8">
                <a:extLst>
                  <a:ext uri="{FF2B5EF4-FFF2-40B4-BE49-F238E27FC236}">
                    <a16:creationId xmlns:a16="http://schemas.microsoft.com/office/drawing/2014/main" id="{F42FB6C9-C280-AC95-C985-7523E19830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0009" y="3149263"/>
                <a:ext cx="1447800" cy="307777"/>
              </a:xfrm>
              <a:prstGeom prst="rect">
                <a:avLst/>
              </a:prstGeom>
              <a:blipFill>
                <a:blip r:embed="rId7"/>
                <a:stretch>
                  <a:fillRect r="-67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4">
            <a:extLst>
              <a:ext uri="{FF2B5EF4-FFF2-40B4-BE49-F238E27FC236}">
                <a16:creationId xmlns="" xmlns:a16="http://schemas.microsoft.com/office/drawing/2014/main" id="{4226C020-6395-F55F-D811-A4CC94CDE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680" y="2244403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8">
                <a:extLst>
                  <a:ext uri="{FF2B5EF4-FFF2-40B4-BE49-F238E27FC236}">
                    <a16:creationId xmlns="" xmlns:a16="http://schemas.microsoft.com/office/drawing/2014/main" id="{030D287C-0C7E-F316-017D-ED8DEA686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1166" y="4192271"/>
                <a:ext cx="1443714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altLang="en-US" sz="1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𝐺𝑟𝑏</m:t>
                      </m:r>
                      <m:r>
                        <a:rPr lang="en-GB" altLang="en-US" sz="1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𝐵𝐴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7" name="Rectangle 8">
                <a:extLst>
                  <a:ext uri="{FF2B5EF4-FFF2-40B4-BE49-F238E27FC236}">
                    <a16:creationId xmlns:a16="http://schemas.microsoft.com/office/drawing/2014/main" id="{030D287C-0C7E-F316-017D-ED8DEA6867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1166" y="4192271"/>
                <a:ext cx="144371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9">
            <a:extLst>
              <a:ext uri="{FF2B5EF4-FFF2-40B4-BE49-F238E27FC236}">
                <a16:creationId xmlns="" xmlns:a16="http://schemas.microsoft.com/office/drawing/2014/main" id="{E14AC069-85C1-A7AF-1678-E7204D589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149" y="4171693"/>
            <a:ext cx="14010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T3.</a:t>
            </a:r>
          </a:p>
        </p:txBody>
      </p:sp>
      <p:sp>
        <p:nvSpPr>
          <p:cNvPr id="39" name="Rectangle 10">
            <a:extLst>
              <a:ext uri="{FF2B5EF4-FFF2-40B4-BE49-F238E27FC236}">
                <a16:creationId xmlns="" xmlns:a16="http://schemas.microsoft.com/office/drawing/2014/main" id="{2BB99A6F-B539-F990-759D-BAD351F49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2544" y="4490084"/>
            <a:ext cx="1486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T4.</a:t>
            </a:r>
          </a:p>
        </p:txBody>
      </p:sp>
      <p:sp>
        <p:nvSpPr>
          <p:cNvPr id="40" name="Rectangle 11">
            <a:extLst>
              <a:ext uri="{FF2B5EF4-FFF2-40B4-BE49-F238E27FC236}">
                <a16:creationId xmlns="" xmlns:a16="http://schemas.microsoft.com/office/drawing/2014/main" id="{B0313064-34EB-AA4A-1CAC-58A7BE7F7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549" y="4787667"/>
            <a:ext cx="13193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T5.</a:t>
            </a:r>
          </a:p>
        </p:txBody>
      </p:sp>
      <p:sp>
        <p:nvSpPr>
          <p:cNvPr id="41" name="TextBox 34">
            <a:extLst>
              <a:ext uri="{FF2B5EF4-FFF2-40B4-BE49-F238E27FC236}">
                <a16:creationId xmlns="" xmlns:a16="http://schemas.microsoft.com/office/drawing/2014/main" id="{3B9E4D4E-712D-9812-F920-B4B29B89D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299" y="3837252"/>
            <a:ext cx="1066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8">
                <a:extLst>
                  <a:ext uri="{FF2B5EF4-FFF2-40B4-BE49-F238E27FC236}">
                    <a16:creationId xmlns="" xmlns:a16="http://schemas.microsoft.com/office/drawing/2014/main" id="{C28F31C1-C765-FB15-C1B9-7681F662B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8936" y="4439985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𝑐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𝐴𝐷𝐷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2" name="Rectangle 8">
                <a:extLst>
                  <a:ext uri="{FF2B5EF4-FFF2-40B4-BE49-F238E27FC236}">
                    <a16:creationId xmlns:a16="http://schemas.microsoft.com/office/drawing/2014/main" id="{C28F31C1-C765-FB15-C1B9-7681F662B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8936" y="4439985"/>
                <a:ext cx="1447800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8">
                <a:extLst>
                  <a:ext uri="{FF2B5EF4-FFF2-40B4-BE49-F238E27FC236}">
                    <a16:creationId xmlns="" xmlns:a16="http://schemas.microsoft.com/office/drawing/2014/main" id="{BF139625-08E4-D6AB-CB0B-4F39D6966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240" y="4713785"/>
                <a:ext cx="148612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3" name="Rectangle 8">
                <a:extLst>
                  <a:ext uri="{FF2B5EF4-FFF2-40B4-BE49-F238E27FC236}">
                    <a16:creationId xmlns:a16="http://schemas.microsoft.com/office/drawing/2014/main" id="{BF139625-08E4-D6AB-CB0B-4F39D6966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6240" y="4713785"/>
                <a:ext cx="148612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34">
            <a:extLst>
              <a:ext uri="{FF2B5EF4-FFF2-40B4-BE49-F238E27FC236}">
                <a16:creationId xmlns="" xmlns:a16="http://schemas.microsoft.com/office/drawing/2014/main" id="{B9AA4EB8-AF76-5AFD-C6D6-61731251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7874" y="3865978"/>
            <a:ext cx="19294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8">
                <a:extLst>
                  <a:ext uri="{FF2B5EF4-FFF2-40B4-BE49-F238E27FC236}">
                    <a16:creationId xmlns="" xmlns:a16="http://schemas.microsoft.com/office/drawing/2014/main" id="{C3F5FA61-05C5-CA7F-2EB8-185B4A1E1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4784" y="4186829"/>
                <a:ext cx="130092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𝑐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𝐿𝑑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5" name="Rectangle 8">
                <a:extLst>
                  <a:ext uri="{FF2B5EF4-FFF2-40B4-BE49-F238E27FC236}">
                    <a16:creationId xmlns:a16="http://schemas.microsoft.com/office/drawing/2014/main" id="{C3F5FA61-05C5-CA7F-2EB8-185B4A1E17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4784" y="4186829"/>
                <a:ext cx="130092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8">
                <a:extLst>
                  <a:ext uri="{FF2B5EF4-FFF2-40B4-BE49-F238E27FC236}">
                    <a16:creationId xmlns="" xmlns:a16="http://schemas.microsoft.com/office/drawing/2014/main" id="{76DF4F02-0BC1-6D3E-C785-9A106A221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0819" y="4448249"/>
                <a:ext cx="326160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=0→(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𝐺𝑟𝑐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𝐿𝑑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0" name="Rectangle 8">
                <a:extLst>
                  <a:ext uri="{FF2B5EF4-FFF2-40B4-BE49-F238E27FC236}">
                    <a16:creationId xmlns:a16="http://schemas.microsoft.com/office/drawing/2014/main" id="{76DF4F02-0BC1-6D3E-C785-9A106A221B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0819" y="4448249"/>
                <a:ext cx="3261606" cy="307777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8">
                <a:extLst>
                  <a:ext uri="{FF2B5EF4-FFF2-40B4-BE49-F238E27FC236}">
                    <a16:creationId xmlns="" xmlns:a16="http://schemas.microsoft.com/office/drawing/2014/main" id="{532D4D1D-2131-09B3-3608-EA3BE133C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8655" y="4721643"/>
                <a:ext cx="166155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𝐺𝑟𝑏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1" name="Rectangle 8">
                <a:extLst>
                  <a:ext uri="{FF2B5EF4-FFF2-40B4-BE49-F238E27FC236}">
                    <a16:creationId xmlns:a16="http://schemas.microsoft.com/office/drawing/2014/main" id="{532D4D1D-2131-09B3-3608-EA3BE133C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8655" y="4721643"/>
                <a:ext cx="166155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34">
            <a:extLst>
              <a:ext uri="{FF2B5EF4-FFF2-40B4-BE49-F238E27FC236}">
                <a16:creationId xmlns="" xmlns:a16="http://schemas.microsoft.com/office/drawing/2014/main" id="{EEC2EAB6-22CB-429B-51DD-649EB5EC5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438" y="3854544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p:sp>
        <p:nvSpPr>
          <p:cNvPr id="53" name="TextBox 34">
            <a:extLst>
              <a:ext uri="{FF2B5EF4-FFF2-40B4-BE49-F238E27FC236}">
                <a16:creationId xmlns="" xmlns:a16="http://schemas.microsoft.com/office/drawing/2014/main" id="{E9EB31A0-17D7-1DF2-DB01-6C81851C4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650" y="1857237"/>
            <a:ext cx="27543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addi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p:sp>
        <p:nvSpPr>
          <p:cNvPr id="54" name="TextBox 34">
            <a:extLst>
              <a:ext uri="{FF2B5EF4-FFF2-40B4-BE49-F238E27FC236}">
                <a16:creationId xmlns="" xmlns:a16="http://schemas.microsoft.com/office/drawing/2014/main" id="{1F856E77-1434-DCE9-8F99-A15E5F1CE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1395" y="3522420"/>
            <a:ext cx="21528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shr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p:sp>
        <p:nvSpPr>
          <p:cNvPr id="55" name="Rectangle 11">
            <a:extLst>
              <a:ext uri="{FF2B5EF4-FFF2-40B4-BE49-F238E27FC236}">
                <a16:creationId xmlns="" xmlns:a16="http://schemas.microsoft.com/office/drawing/2014/main" id="{C9CBF598-23CF-222C-F50C-17791D8D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957" y="5075613"/>
            <a:ext cx="13049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8">
                <a:extLst>
                  <a:ext uri="{FF2B5EF4-FFF2-40B4-BE49-F238E27FC236}">
                    <a16:creationId xmlns="" xmlns:a16="http://schemas.microsoft.com/office/drawing/2014/main" id="{B6BA0EEB-F039-C39C-5A09-B039D52BC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8188" y="5002389"/>
                <a:ext cx="133847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𝐺𝑟𝑎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𝑊𝑟𝑖𝑡𝑒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6" name="Rectangle 8">
                <a:extLst>
                  <a:ext uri="{FF2B5EF4-FFF2-40B4-BE49-F238E27FC236}">
                    <a16:creationId xmlns:a16="http://schemas.microsoft.com/office/drawing/2014/main" id="{B6BA0EEB-F039-C39C-5A09-B039D52BC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8188" y="5002389"/>
                <a:ext cx="1338471" cy="307777"/>
              </a:xfrm>
              <a:prstGeom prst="rect">
                <a:avLst/>
              </a:prstGeom>
              <a:blipFill>
                <a:blip r:embed="rId16"/>
                <a:stretch>
                  <a:fillRect r="-424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11">
            <a:extLst>
              <a:ext uri="{FF2B5EF4-FFF2-40B4-BE49-F238E27FC236}">
                <a16:creationId xmlns="" xmlns:a16="http://schemas.microsoft.com/office/drawing/2014/main" id="{681A3F3A-8973-734C-F323-79D2AAAC0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458" y="5335840"/>
            <a:ext cx="13193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8">
                <a:extLst>
                  <a:ext uri="{FF2B5EF4-FFF2-40B4-BE49-F238E27FC236}">
                    <a16:creationId xmlns="" xmlns:a16="http://schemas.microsoft.com/office/drawing/2014/main" id="{012FBF5C-9505-5488-1927-BCF4BD0EB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1403" y="5314094"/>
                <a:ext cx="161717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𝑊𝑎𝑖𝑡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𝐸𝑛𝑑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Rectangle 8">
                <a:extLst>
                  <a:ext uri="{FF2B5EF4-FFF2-40B4-BE49-F238E27FC236}">
                    <a16:creationId xmlns:a16="http://schemas.microsoft.com/office/drawing/2014/main" id="{012FBF5C-9505-5488-1927-BCF4BD0EB0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1403" y="5314094"/>
                <a:ext cx="1617176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8">
                <a:extLst>
                  <a:ext uri="{FF2B5EF4-FFF2-40B4-BE49-F238E27FC236}">
                    <a16:creationId xmlns="" xmlns:a16="http://schemas.microsoft.com/office/drawing/2014/main" id="{BCDCAD6A-14B0-E018-7854-E38123F56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2317" y="5005071"/>
                <a:ext cx="356721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GB" altLang="en-US" sz="1400" b="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     </a:t>
                </a:r>
                <a14:m>
                  <m:oMath xmlns:m="http://schemas.openxmlformats.org/officeDocument/2006/math"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≠0→</m:t>
                    </m:r>
                    <m:r>
                      <a:rPr lang="en-IN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     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𝑜𝑢𝑡</m:t>
                        </m:r>
                      </m:sub>
                    </m:sSub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𝑆𝐻𝑅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𝑖𝑛</m:t>
                        </m:r>
                      </m:sub>
                    </m:sSub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𝐷𝑒𝑐𝑟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𝐺𝑜𝑡𝑜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7)</m:t>
                    </m:r>
                  </m:oMath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9" name="Rectangle 8">
                <a:extLst>
                  <a:ext uri="{FF2B5EF4-FFF2-40B4-BE49-F238E27FC236}">
                    <a16:creationId xmlns:a16="http://schemas.microsoft.com/office/drawing/2014/main" id="{BCDCAD6A-14B0-E018-7854-E38123F56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2317" y="5005071"/>
                <a:ext cx="3567217" cy="307777"/>
              </a:xfrm>
              <a:prstGeom prst="rect">
                <a:avLst/>
              </a:prstGeom>
              <a:blipFill>
                <a:blip r:embed="rId18"/>
                <a:stretch>
                  <a:fillRect b="-78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8">
                <a:extLst>
                  <a:ext uri="{FF2B5EF4-FFF2-40B4-BE49-F238E27FC236}">
                    <a16:creationId xmlns="" xmlns:a16="http://schemas.microsoft.com/office/drawing/2014/main" id="{0C7329DF-808C-A8F7-10E1-4B7DBC622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19077" y="5309047"/>
                <a:ext cx="356983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𝐺𝑟𝑎</m:t>
                      </m:r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𝐸𝑛𝑑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8">
                <a:extLst>
                  <a:ext uri="{FF2B5EF4-FFF2-40B4-BE49-F238E27FC236}">
                    <a16:creationId xmlns:a16="http://schemas.microsoft.com/office/drawing/2014/main" id="{0C7329DF-808C-A8F7-10E1-4B7DBC6225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9077" y="5309047"/>
                <a:ext cx="3569837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34">
            <a:extLst>
              <a:ext uri="{FF2B5EF4-FFF2-40B4-BE49-F238E27FC236}">
                <a16:creationId xmlns="" xmlns:a16="http://schemas.microsoft.com/office/drawing/2014/main" id="{CE381269-B138-FB20-4C15-D59442208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457" y="1837905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add</a:t>
            </a:r>
          </a:p>
        </p:txBody>
      </p:sp>
      <p:sp>
        <p:nvSpPr>
          <p:cNvPr id="62" name="TextBox 34">
            <a:extLst>
              <a:ext uri="{FF2B5EF4-FFF2-40B4-BE49-F238E27FC236}">
                <a16:creationId xmlns="" xmlns:a16="http://schemas.microsoft.com/office/drawing/2014/main" id="{0FEAC04B-A478-526E-1616-8406CA73F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678" y="3568216"/>
            <a:ext cx="20792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st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5E61DFA-0C50-2966-8DE1-8591D04343A3}"/>
              </a:ext>
            </a:extLst>
          </p:cNvPr>
          <p:cNvSpPr txBox="1"/>
          <p:nvPr/>
        </p:nvSpPr>
        <p:spPr>
          <a:xfrm>
            <a:off x="3604758" y="5749318"/>
            <a:ext cx="4889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Grc</a:t>
            </a:r>
            <a:r>
              <a:rPr lang="en-I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T4.add+T4.(n=0).</a:t>
            </a:r>
            <a:r>
              <a:rPr lang="en-IN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</a:t>
            </a:r>
            <a:r>
              <a:rPr lang="en-I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+…</a:t>
            </a:r>
          </a:p>
        </p:txBody>
      </p:sp>
      <p:sp>
        <p:nvSpPr>
          <p:cNvPr id="10" name="Oval 9"/>
          <p:cNvSpPr/>
          <p:nvPr/>
        </p:nvSpPr>
        <p:spPr>
          <a:xfrm>
            <a:off x="5394103" y="1259967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9" name="Oval 48"/>
          <p:cNvSpPr/>
          <p:nvPr/>
        </p:nvSpPr>
        <p:spPr>
          <a:xfrm>
            <a:off x="4137304" y="1261102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D24743DA-9CE7-8E07-54A9-F6138169DAB0}"/>
                  </a:ext>
                </a:extLst>
              </p:cNvPr>
              <p:cNvSpPr txBox="1"/>
              <p:nvPr/>
            </p:nvSpPr>
            <p:spPr>
              <a:xfrm>
                <a:off x="8410059" y="673850"/>
                <a:ext cx="5418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8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4743DA-9CE7-8E07-54A9-F6138169D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059" y="673850"/>
                <a:ext cx="541843" cy="369332"/>
              </a:xfrm>
              <a:prstGeom prst="rect">
                <a:avLst/>
              </a:prstGeom>
              <a:blipFill>
                <a:blip r:embed="rId20"/>
                <a:stretch>
                  <a:fillRect r="-34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98D492DE-3CAD-0BDF-5B64-0BBCFF28EDD0}"/>
              </a:ext>
            </a:extLst>
          </p:cNvPr>
          <p:cNvSpPr txBox="1"/>
          <p:nvPr/>
        </p:nvSpPr>
        <p:spPr>
          <a:xfrm>
            <a:off x="10594509" y="1139681"/>
            <a:ext cx="799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0000FF"/>
                </a:solidFill>
                <a:latin typeface="+mj-lt"/>
              </a:rPr>
              <a:t>AND</a:t>
            </a:r>
            <a:endParaRPr lang="en-GB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1077CCA2-86F7-8270-1895-575DDAB99D9C}"/>
              </a:ext>
            </a:extLst>
          </p:cNvPr>
          <p:cNvSpPr txBox="1"/>
          <p:nvPr/>
        </p:nvSpPr>
        <p:spPr>
          <a:xfrm>
            <a:off x="11172411" y="1140368"/>
            <a:ext cx="1019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0000FF"/>
                </a:solidFill>
                <a:latin typeface="+mj-lt"/>
              </a:rPr>
              <a:t>OR Gate</a:t>
            </a:r>
            <a:endParaRPr lang="en-GB" dirty="0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53C80306-D729-6A64-7E35-76D443A21148}"/>
              </a:ext>
            </a:extLst>
          </p:cNvPr>
          <p:cNvSpPr/>
          <p:nvPr/>
        </p:nvSpPr>
        <p:spPr>
          <a:xfrm>
            <a:off x="4388936" y="3214387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D955216E-24D7-FF7E-9508-25A2A3AA7031}"/>
              </a:ext>
            </a:extLst>
          </p:cNvPr>
          <p:cNvSpPr/>
          <p:nvPr/>
        </p:nvSpPr>
        <p:spPr>
          <a:xfrm>
            <a:off x="3278405" y="3199866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705DABFD-D285-C1F8-F546-A3D489DFE36D}"/>
              </a:ext>
            </a:extLst>
          </p:cNvPr>
          <p:cNvSpPr/>
          <p:nvPr/>
        </p:nvSpPr>
        <p:spPr>
          <a:xfrm>
            <a:off x="6840009" y="3177457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6" name="Oval 65">
            <a:extLst>
              <a:ext uri="{FF2B5EF4-FFF2-40B4-BE49-F238E27FC236}">
                <a16:creationId xmlns="" xmlns:a16="http://schemas.microsoft.com/office/drawing/2014/main" id="{36CA63EC-CB99-DDE4-9ACE-74FE6BEBA34A}"/>
              </a:ext>
            </a:extLst>
          </p:cNvPr>
          <p:cNvSpPr/>
          <p:nvPr/>
        </p:nvSpPr>
        <p:spPr>
          <a:xfrm>
            <a:off x="4456114" y="4756979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7" name="Oval 66">
            <a:extLst>
              <a:ext uri="{FF2B5EF4-FFF2-40B4-BE49-F238E27FC236}">
                <a16:creationId xmlns="" xmlns:a16="http://schemas.microsoft.com/office/drawing/2014/main" id="{31F3AF1F-2CD0-9922-C594-ED8B11601FF0}"/>
              </a:ext>
            </a:extLst>
          </p:cNvPr>
          <p:cNvSpPr/>
          <p:nvPr/>
        </p:nvSpPr>
        <p:spPr>
          <a:xfrm>
            <a:off x="3287324" y="4808526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8" name="Oval 67">
            <a:extLst>
              <a:ext uri="{FF2B5EF4-FFF2-40B4-BE49-F238E27FC236}">
                <a16:creationId xmlns="" xmlns:a16="http://schemas.microsoft.com/office/drawing/2014/main" id="{6A877D91-7C21-BB27-927F-18AB94B96C4E}"/>
              </a:ext>
            </a:extLst>
          </p:cNvPr>
          <p:cNvSpPr/>
          <p:nvPr/>
        </p:nvSpPr>
        <p:spPr>
          <a:xfrm>
            <a:off x="7705812" y="5040878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9" name="Oval 68">
            <a:extLst>
              <a:ext uri="{FF2B5EF4-FFF2-40B4-BE49-F238E27FC236}">
                <a16:creationId xmlns="" xmlns:a16="http://schemas.microsoft.com/office/drawing/2014/main" id="{4D5C7D14-B778-BBC6-246B-26233EDBB030}"/>
              </a:ext>
            </a:extLst>
          </p:cNvPr>
          <p:cNvSpPr/>
          <p:nvPr/>
        </p:nvSpPr>
        <p:spPr>
          <a:xfrm>
            <a:off x="3301732" y="5081936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0" name="Oval 69">
            <a:extLst>
              <a:ext uri="{FF2B5EF4-FFF2-40B4-BE49-F238E27FC236}">
                <a16:creationId xmlns="" xmlns:a16="http://schemas.microsoft.com/office/drawing/2014/main" id="{20F9C9EA-6154-83E0-66A7-29F99ECB36B4}"/>
              </a:ext>
            </a:extLst>
          </p:cNvPr>
          <p:cNvSpPr/>
          <p:nvPr/>
        </p:nvSpPr>
        <p:spPr>
          <a:xfrm>
            <a:off x="6719077" y="5344537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1" name="Oval 70">
            <a:extLst>
              <a:ext uri="{FF2B5EF4-FFF2-40B4-BE49-F238E27FC236}">
                <a16:creationId xmlns="" xmlns:a16="http://schemas.microsoft.com/office/drawing/2014/main" id="{1289800F-7E7B-9EDC-3FE5-2F6E2160B60A}"/>
              </a:ext>
            </a:extLst>
          </p:cNvPr>
          <p:cNvSpPr/>
          <p:nvPr/>
        </p:nvSpPr>
        <p:spPr>
          <a:xfrm>
            <a:off x="3300709" y="5390417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" name="Flowchart: Delay 10">
            <a:extLst>
              <a:ext uri="{FF2B5EF4-FFF2-40B4-BE49-F238E27FC236}">
                <a16:creationId xmlns="" xmlns:a16="http://schemas.microsoft.com/office/drawing/2014/main" id="{E1FCFE0E-7AFF-385B-27E8-A7BE2ADC2DCF}"/>
              </a:ext>
            </a:extLst>
          </p:cNvPr>
          <p:cNvSpPr/>
          <p:nvPr/>
        </p:nvSpPr>
        <p:spPr>
          <a:xfrm>
            <a:off x="10807803" y="735890"/>
            <a:ext cx="364613" cy="42125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Flowchart: Stored Data 13">
            <a:extLst>
              <a:ext uri="{FF2B5EF4-FFF2-40B4-BE49-F238E27FC236}">
                <a16:creationId xmlns="" xmlns:a16="http://schemas.microsoft.com/office/drawing/2014/main" id="{6C7A49CC-C0B0-A135-EF34-F643641AC38E}"/>
              </a:ext>
            </a:extLst>
          </p:cNvPr>
          <p:cNvSpPr/>
          <p:nvPr/>
        </p:nvSpPr>
        <p:spPr>
          <a:xfrm flipH="1">
            <a:off x="11480957" y="752077"/>
            <a:ext cx="402502" cy="388883"/>
          </a:xfrm>
          <a:prstGeom prst="flowChartOnlineStorag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="" xmlns:a16="http://schemas.microsoft.com/office/drawing/2014/main" id="{EE99D570-1B1F-0288-1C40-AD4F2FF94CB7}"/>
                  </a:ext>
                </a:extLst>
              </p:cNvPr>
              <p:cNvSpPr txBox="1"/>
              <p:nvPr/>
            </p:nvSpPr>
            <p:spPr>
              <a:xfrm>
                <a:off x="8816941" y="693723"/>
                <a:ext cx="5821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E99D570-1B1F-0288-1C40-AD4F2FF94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941" y="693723"/>
                <a:ext cx="58215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="" xmlns:a16="http://schemas.microsoft.com/office/drawing/2014/main" id="{D3BB5F90-AEEC-4931-92C4-98C59560254D}"/>
                  </a:ext>
                </a:extLst>
              </p:cNvPr>
              <p:cNvSpPr txBox="1"/>
              <p:nvPr/>
            </p:nvSpPr>
            <p:spPr>
              <a:xfrm>
                <a:off x="9926623" y="727865"/>
                <a:ext cx="3853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3BB5F90-AEEC-4931-92C4-98C595602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623" y="727865"/>
                <a:ext cx="385375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10">
            <a:extLst>
              <a:ext uri="{FF2B5EF4-FFF2-40B4-BE49-F238E27FC236}">
                <a16:creationId xmlns="" xmlns:a16="http://schemas.microsoft.com/office/drawing/2014/main" id="{C7BFD74C-0594-DB4B-EF15-046E37511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147" y="1222830"/>
            <a:ext cx="152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="" xmlns:a16="http://schemas.microsoft.com/office/drawing/2014/main" id="{86BD8B37-56E6-F260-44F2-40605813B2D0}"/>
                  </a:ext>
                </a:extLst>
              </p:cNvPr>
              <p:cNvSpPr txBox="1"/>
              <p:nvPr/>
            </p:nvSpPr>
            <p:spPr>
              <a:xfrm>
                <a:off x="8816941" y="969453"/>
                <a:ext cx="5821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6BD8B37-56E6-F260-44F2-40605813B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941" y="969453"/>
                <a:ext cx="58215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11">
            <a:extLst>
              <a:ext uri="{FF2B5EF4-FFF2-40B4-BE49-F238E27FC236}">
                <a16:creationId xmlns="" xmlns:a16="http://schemas.microsoft.com/office/drawing/2014/main" id="{F791C70B-ADA6-45A4-7128-5806D966D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869" y="3170079"/>
            <a:ext cx="1371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T5.</a:t>
            </a:r>
          </a:p>
        </p:txBody>
      </p:sp>
      <p:sp>
        <p:nvSpPr>
          <p:cNvPr id="92" name="Oval 91">
            <a:extLst>
              <a:ext uri="{FF2B5EF4-FFF2-40B4-BE49-F238E27FC236}">
                <a16:creationId xmlns="" xmlns:a16="http://schemas.microsoft.com/office/drawing/2014/main" id="{24CF3272-2993-80FB-245C-D5D3F2820430}"/>
              </a:ext>
            </a:extLst>
          </p:cNvPr>
          <p:cNvSpPr/>
          <p:nvPr/>
        </p:nvSpPr>
        <p:spPr>
          <a:xfrm>
            <a:off x="4883857" y="1903872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3" name="TextBox 34">
            <a:extLst>
              <a:ext uri="{FF2B5EF4-FFF2-40B4-BE49-F238E27FC236}">
                <a16:creationId xmlns="" xmlns:a16="http://schemas.microsoft.com/office/drawing/2014/main" id="{FC43DD7E-BED9-30EA-51A2-CCC247972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753" y="1838458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add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="" xmlns:a16="http://schemas.microsoft.com/office/drawing/2014/main" id="{A06E3893-BC58-1F91-5D56-14E75926BA91}"/>
                  </a:ext>
                </a:extLst>
              </p:cNvPr>
              <p:cNvSpPr txBox="1"/>
              <p:nvPr/>
            </p:nvSpPr>
            <p:spPr>
              <a:xfrm>
                <a:off x="9914951" y="1061209"/>
                <a:ext cx="3853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06E3893-BC58-1F91-5D56-14E75926B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951" y="1061209"/>
                <a:ext cx="385375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11">
            <a:extLst>
              <a:ext uri="{FF2B5EF4-FFF2-40B4-BE49-F238E27FC236}">
                <a16:creationId xmlns="" xmlns:a16="http://schemas.microsoft.com/office/drawing/2014/main" id="{27838E2D-D140-D16F-9AA4-92ABA9562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869" y="3177509"/>
            <a:ext cx="1371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T5.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="" xmlns:a16="http://schemas.microsoft.com/office/drawing/2014/main" id="{FAAF3C3E-44FE-EA85-0D5E-864606743CAC}"/>
                  </a:ext>
                </a:extLst>
              </p:cNvPr>
              <p:cNvSpPr txBox="1"/>
              <p:nvPr/>
            </p:nvSpPr>
            <p:spPr>
              <a:xfrm>
                <a:off x="8816941" y="1245183"/>
                <a:ext cx="5821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AAF3C3E-44FE-EA85-0D5E-864606743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941" y="1245183"/>
                <a:ext cx="582154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="" xmlns:a16="http://schemas.microsoft.com/office/drawing/2014/main" id="{72E64CF4-8066-6F0F-A4E7-0640D58B0EAD}"/>
              </a:ext>
            </a:extLst>
          </p:cNvPr>
          <p:cNvSpPr/>
          <p:nvPr/>
        </p:nvSpPr>
        <p:spPr>
          <a:xfrm>
            <a:off x="7142233" y="1894913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3" name="TextBox 34">
            <a:extLst>
              <a:ext uri="{FF2B5EF4-FFF2-40B4-BE49-F238E27FC236}">
                <a16:creationId xmlns="" xmlns:a16="http://schemas.microsoft.com/office/drawing/2014/main" id="{77D25BB3-3A0E-83CD-DC26-6F09EE677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650" y="1868695"/>
            <a:ext cx="27543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addi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="" xmlns:a16="http://schemas.microsoft.com/office/drawing/2014/main" id="{4F88EC18-83F8-3D0D-E097-988C0E02FEDC}"/>
                  </a:ext>
                </a:extLst>
              </p:cNvPr>
              <p:cNvSpPr txBox="1"/>
              <p:nvPr/>
            </p:nvSpPr>
            <p:spPr>
              <a:xfrm>
                <a:off x="9914158" y="1334226"/>
                <a:ext cx="3853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F88EC18-83F8-3D0D-E097-988C0E02F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158" y="1334226"/>
                <a:ext cx="385375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="" xmlns:a16="http://schemas.microsoft.com/office/drawing/2014/main" id="{E243CB58-136F-174A-73BE-82BCDA89B222}"/>
                  </a:ext>
                </a:extLst>
              </p:cNvPr>
              <p:cNvSpPr txBox="1"/>
              <p:nvPr/>
            </p:nvSpPr>
            <p:spPr>
              <a:xfrm>
                <a:off x="8835247" y="1539848"/>
                <a:ext cx="5821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43CB58-136F-174A-73BE-82BCDA89B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247" y="1539848"/>
                <a:ext cx="582154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1">
            <a:extLst>
              <a:ext uri="{FF2B5EF4-FFF2-40B4-BE49-F238E27FC236}">
                <a16:creationId xmlns="" xmlns:a16="http://schemas.microsoft.com/office/drawing/2014/main" id="{78C23EEF-2E28-3F2A-AE2E-A1932B7BD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549" y="4798007"/>
            <a:ext cx="13193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T5.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="" xmlns:a16="http://schemas.microsoft.com/office/drawing/2014/main" id="{BE9F470A-5BEE-272D-2651-1221C11D2850}"/>
              </a:ext>
            </a:extLst>
          </p:cNvPr>
          <p:cNvSpPr/>
          <p:nvPr/>
        </p:nvSpPr>
        <p:spPr>
          <a:xfrm>
            <a:off x="4776929" y="3638459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9" name="TextBox 34">
            <a:extLst>
              <a:ext uri="{FF2B5EF4-FFF2-40B4-BE49-F238E27FC236}">
                <a16:creationId xmlns="" xmlns:a16="http://schemas.microsoft.com/office/drawing/2014/main" id="{17C6E93F-500D-CD78-FFAC-27D96DEB0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3162" y="3578512"/>
            <a:ext cx="20792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st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="" xmlns:a16="http://schemas.microsoft.com/office/drawing/2014/main" id="{711D9593-37BC-D33B-757C-22B9C3CA0934}"/>
                  </a:ext>
                </a:extLst>
              </p:cNvPr>
              <p:cNvSpPr txBox="1"/>
              <p:nvPr/>
            </p:nvSpPr>
            <p:spPr>
              <a:xfrm>
                <a:off x="9903539" y="1567411"/>
                <a:ext cx="3853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11D9593-37BC-D33B-757C-22B9C3CA0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539" y="1567411"/>
                <a:ext cx="385375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ectangle 11">
            <a:extLst>
              <a:ext uri="{FF2B5EF4-FFF2-40B4-BE49-F238E27FC236}">
                <a16:creationId xmlns="" xmlns:a16="http://schemas.microsoft.com/office/drawing/2014/main" id="{7F4628E2-C978-CF3D-DD18-AD86DC8BA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507" y="5075613"/>
            <a:ext cx="13049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="" xmlns:a16="http://schemas.microsoft.com/office/drawing/2014/main" id="{2197941C-890D-43E4-49B1-0BDA7859E90D}"/>
                  </a:ext>
                </a:extLst>
              </p:cNvPr>
              <p:cNvSpPr txBox="1"/>
              <p:nvPr/>
            </p:nvSpPr>
            <p:spPr>
              <a:xfrm>
                <a:off x="8835247" y="1854819"/>
                <a:ext cx="5821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2197941C-890D-43E4-49B1-0BDA7859E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247" y="1854819"/>
                <a:ext cx="582154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Oval 113">
            <a:extLst>
              <a:ext uri="{FF2B5EF4-FFF2-40B4-BE49-F238E27FC236}">
                <a16:creationId xmlns="" xmlns:a16="http://schemas.microsoft.com/office/drawing/2014/main" id="{CBF44E0A-15F5-12C9-D61A-740ECA56BD8B}"/>
              </a:ext>
            </a:extLst>
          </p:cNvPr>
          <p:cNvSpPr/>
          <p:nvPr/>
        </p:nvSpPr>
        <p:spPr>
          <a:xfrm>
            <a:off x="7157395" y="3566836"/>
            <a:ext cx="534401" cy="28659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5" name="TextBox 34">
            <a:extLst>
              <a:ext uri="{FF2B5EF4-FFF2-40B4-BE49-F238E27FC236}">
                <a16:creationId xmlns="" xmlns:a16="http://schemas.microsoft.com/office/drawing/2014/main" id="{6FB2EC51-7677-07A4-1BE0-3C94748E3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324" y="3522420"/>
            <a:ext cx="21528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shr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="" xmlns:a16="http://schemas.microsoft.com/office/drawing/2014/main" id="{C837BEA6-920D-B070-79C9-BAD18C66D5E2}"/>
                  </a:ext>
                </a:extLst>
              </p:cNvPr>
              <p:cNvSpPr txBox="1"/>
              <p:nvPr/>
            </p:nvSpPr>
            <p:spPr>
              <a:xfrm>
                <a:off x="9903539" y="1880239"/>
                <a:ext cx="3853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837BEA6-920D-B070-79C9-BAD18C66D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539" y="1880239"/>
                <a:ext cx="385375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Rectangle 11">
            <a:extLst>
              <a:ext uri="{FF2B5EF4-FFF2-40B4-BE49-F238E27FC236}">
                <a16:creationId xmlns="" xmlns:a16="http://schemas.microsoft.com/office/drawing/2014/main" id="{FB0F09AC-9BA6-C195-4E89-0B9DAC806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458" y="5326105"/>
            <a:ext cx="13193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T7.</a:t>
            </a:r>
          </a:p>
        </p:txBody>
      </p:sp>
      <p:sp>
        <p:nvSpPr>
          <p:cNvPr id="118" name="TextBox 34">
            <a:extLst>
              <a:ext uri="{FF2B5EF4-FFF2-40B4-BE49-F238E27FC236}">
                <a16:creationId xmlns="" xmlns:a16="http://schemas.microsoft.com/office/drawing/2014/main" id="{4FD745EE-21BA-A9F1-632D-B621A0E6C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428" y="3522340"/>
            <a:ext cx="21528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shr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="" xmlns:a16="http://schemas.microsoft.com/office/drawing/2014/main" id="{CFF92DAC-5A95-3948-513D-7EA8B4D64E0D}"/>
                  </a:ext>
                </a:extLst>
              </p:cNvPr>
              <p:cNvSpPr txBox="1"/>
              <p:nvPr/>
            </p:nvSpPr>
            <p:spPr>
              <a:xfrm>
                <a:off x="9903539" y="2164432"/>
                <a:ext cx="3853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CFF92DAC-5A95-3948-513D-7EA8B4D64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539" y="2164432"/>
                <a:ext cx="385375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="" xmlns:a16="http://schemas.microsoft.com/office/drawing/2014/main" id="{CA00B085-2DDD-B5A1-E207-974D8F622496}"/>
                  </a:ext>
                </a:extLst>
              </p:cNvPr>
              <p:cNvSpPr txBox="1"/>
              <p:nvPr/>
            </p:nvSpPr>
            <p:spPr>
              <a:xfrm>
                <a:off x="8835247" y="2139556"/>
                <a:ext cx="5821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CA00B085-2DDD-B5A1-E207-974D8F622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247" y="2139556"/>
                <a:ext cx="582154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99381A-B372-157E-36F0-9ABD2CD6EF6F}"/>
              </a:ext>
            </a:extLst>
          </p:cNvPr>
          <p:cNvSpPr txBox="1"/>
          <p:nvPr/>
        </p:nvSpPr>
        <p:spPr>
          <a:xfrm>
            <a:off x="8740883" y="2870462"/>
            <a:ext cx="2613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+mj-lt"/>
              </a:rPr>
              <a:t>Boolean Expression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="" xmlns:a16="http://schemas.microsoft.com/office/drawing/2014/main" id="{3C6EC4A6-7793-6AC0-2722-6E602007113D}"/>
              </a:ext>
            </a:extLst>
          </p:cNvPr>
          <p:cNvSpPr/>
          <p:nvPr/>
        </p:nvSpPr>
        <p:spPr>
          <a:xfrm rot="16200000">
            <a:off x="9511642" y="1678618"/>
            <a:ext cx="330483" cy="2079204"/>
          </a:xfrm>
          <a:prstGeom prst="leftBrace">
            <a:avLst/>
          </a:prstGeom>
          <a:ln w="1905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1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3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8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3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44444E-6 L 0.40716 -0.07152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52" y="-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1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22222E-6 L 0.48112 -0.30995 " pathEditMode="relative" rAng="0" ptsTypes="AA">
                                      <p:cBhvr>
                                        <p:cTn id="215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49" y="-1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0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59259E-6 L 0.37995 -0.12176 " pathEditMode="relative" rAng="0" ptsTypes="AA">
                                      <p:cBhvr>
                                        <p:cTn id="229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97" y="-6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48112 -0.2706 " pathEditMode="relative" rAng="0" ptsTypes="AA">
                                      <p:cBhvr>
                                        <p:cTn id="252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49" y="-1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7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0.18998 -0.08657 " pathEditMode="relative" rAng="0" ptsTypes="AA">
                                      <p:cBhvr>
                                        <p:cTn id="266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2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7.40741E-7 L 0.48138 -0.46713 " pathEditMode="relative" rAng="0" ptsTypes="AA">
                                      <p:cBhvr>
                                        <p:cTn id="294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62" y="-2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9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6 L 0.38008 -0.29838 " pathEditMode="relative" rAng="0" ptsTypes="AA">
                                      <p:cBhvr>
                                        <p:cTn id="308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97" y="-1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2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0 L 0.48151 -0.45972 " pathEditMode="relative" rAng="0" ptsTypes="AA">
                                      <p:cBhvr>
                                        <p:cTn id="336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76" y="-22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1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44444E-6 L 0.1875 -0.2456 " pathEditMode="relative" rAng="0" ptsTypes="AA">
                                      <p:cBhvr>
                                        <p:cTn id="350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-1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4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07407E-6 L 0.48073 -0.45486 " pathEditMode="relative" rAng="0" ptsTypes="AA">
                                      <p:cBhvr>
                                        <p:cTn id="378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36" y="-2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0.18958 -0.19768 " pathEditMode="relative" rAng="0" ptsTypes="AA">
                                      <p:cBhvr>
                                        <p:cTn id="387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79" y="-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00"/>
                            </p:stCondLst>
                            <p:childTnLst>
                              <p:par>
                                <p:cTn id="4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8" grpId="0"/>
      <p:bldP spid="19" grpId="0"/>
      <p:bldP spid="21" grpId="0"/>
      <p:bldP spid="22" grpId="0"/>
      <p:bldP spid="23" grpId="0"/>
      <p:bldP spid="24" grpId="0"/>
      <p:bldP spid="26" grpId="0"/>
      <p:bldP spid="27" grpId="0"/>
      <p:bldP spid="29" grpId="0"/>
      <p:bldP spid="34" grpId="0"/>
      <p:bldP spid="35" grpId="0"/>
      <p:bldP spid="37" grpId="0"/>
      <p:bldP spid="38" grpId="0"/>
      <p:bldP spid="39" grpId="0"/>
      <p:bldP spid="40" grpId="0"/>
      <p:bldP spid="42" grpId="0"/>
      <p:bldP spid="43" grpId="0"/>
      <p:bldP spid="45" grpId="0"/>
      <p:bldP spid="50" grpId="0"/>
      <p:bldP spid="51" grpId="0"/>
      <p:bldP spid="55" grpId="0"/>
      <p:bldP spid="56" grpId="0"/>
      <p:bldP spid="57" grpId="0"/>
      <p:bldP spid="58" grpId="0"/>
      <p:bldP spid="59" grpId="0"/>
      <p:bldP spid="60" grpId="0"/>
      <p:bldP spid="10" grpId="0" animBg="1"/>
      <p:bldP spid="49" grpId="0" animBg="1"/>
      <p:bldP spid="12" grpId="0"/>
      <p:bldP spid="46" grpId="0"/>
      <p:bldP spid="48" grpId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11" grpId="0" animBg="1"/>
      <p:bldP spid="14" grpId="0" animBg="1"/>
      <p:bldP spid="82" grpId="0"/>
      <p:bldP spid="87" grpId="0"/>
      <p:bldP spid="88" grpId="0"/>
      <p:bldP spid="88" grpId="1"/>
      <p:bldP spid="89" grpId="0"/>
      <p:bldP spid="91" grpId="0"/>
      <p:bldP spid="91" grpId="1"/>
      <p:bldP spid="92" grpId="0" animBg="1"/>
      <p:bldP spid="93" grpId="0"/>
      <p:bldP spid="93" grpId="1"/>
      <p:bldP spid="93" grpId="2"/>
      <p:bldP spid="95" grpId="0"/>
      <p:bldP spid="100" grpId="0"/>
      <p:bldP spid="100" grpId="1"/>
      <p:bldP spid="101" grpId="0"/>
      <p:bldP spid="102" grpId="0" animBg="1"/>
      <p:bldP spid="103" grpId="0"/>
      <p:bldP spid="103" grpId="1"/>
      <p:bldP spid="103" grpId="2"/>
      <p:bldP spid="104" grpId="0"/>
      <p:bldP spid="105" grpId="0"/>
      <p:bldP spid="107" grpId="0"/>
      <p:bldP spid="107" grpId="1"/>
      <p:bldP spid="108" grpId="0" animBg="1"/>
      <p:bldP spid="109" grpId="0"/>
      <p:bldP spid="109" grpId="1"/>
      <p:bldP spid="109" grpId="2"/>
      <p:bldP spid="110" grpId="0"/>
      <p:bldP spid="112" grpId="0"/>
      <p:bldP spid="112" grpId="1"/>
      <p:bldP spid="113" grpId="0"/>
      <p:bldP spid="114" grpId="0" animBg="1"/>
      <p:bldP spid="115" grpId="0"/>
      <p:bldP spid="115" grpId="1"/>
      <p:bldP spid="115" grpId="2"/>
      <p:bldP spid="116" grpId="0"/>
      <p:bldP spid="117" grpId="0"/>
      <p:bldP spid="117" grpId="1"/>
      <p:bldP spid="118" grpId="0"/>
      <p:bldP spid="118" grpId="1"/>
      <p:bldP spid="118" grpId="2"/>
      <p:bldP spid="119" grpId="0"/>
      <p:bldP spid="120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6A7F0AC8-1C18-41C0-ED1E-6B33F84B3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0" y="680181"/>
            <a:ext cx="9067800" cy="5773311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578D1999-E3DC-F63B-0F4A-DC75EC01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Use of Data Path Conditions in Control Signal Logic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BD33FCB-2134-5E59-976E-24B19FCC2E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Control Unit</a:t>
            </a:r>
          </a:p>
          <a:p>
            <a:r>
              <a:rPr lang="en-US" altLang="en-US" sz="2000" dirty="0"/>
              <a:t>Use of Data Path Conditions in Control Signal Logic</a:t>
            </a:r>
            <a:endParaRPr lang="en-US" altLang="en-US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090BDB0D-C3F2-D6DB-31AC-865EDCB09A1A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5439955" y="3052319"/>
            <a:ext cx="0" cy="31257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EC257A2A-3C55-10CC-5F27-1AB0B88CCE9A}"/>
              </a:ext>
            </a:extLst>
          </p:cNvPr>
          <p:cNvCxnSpPr>
            <a:cxnSpLocks/>
            <a:stCxn id="52" idx="2"/>
          </p:cNvCxnSpPr>
          <p:nvPr/>
        </p:nvCxnSpPr>
        <p:spPr>
          <a:xfrm>
            <a:off x="6550059" y="3040368"/>
            <a:ext cx="1" cy="31377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517A0A47-BE1A-1115-8466-448D57E9FBBB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7647523" y="3048957"/>
            <a:ext cx="15305" cy="312915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F7262BFA-3AB1-61B4-0FA1-09589035E919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8812492" y="3054894"/>
            <a:ext cx="0" cy="312322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32E91180-FDE0-47E3-F4CF-122E156E628E}"/>
              </a:ext>
            </a:extLst>
          </p:cNvPr>
          <p:cNvCxnSpPr/>
          <p:nvPr/>
        </p:nvCxnSpPr>
        <p:spPr>
          <a:xfrm>
            <a:off x="4688162" y="3713235"/>
            <a:ext cx="483156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6C4A6E49-30CD-5D8F-1DD5-58DC9B1C018F}"/>
              </a:ext>
            </a:extLst>
          </p:cNvPr>
          <p:cNvCxnSpPr>
            <a:cxnSpLocks/>
          </p:cNvCxnSpPr>
          <p:nvPr/>
        </p:nvCxnSpPr>
        <p:spPr>
          <a:xfrm>
            <a:off x="6550060" y="3435631"/>
            <a:ext cx="2969671" cy="0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="" xmlns:a16="http://schemas.microsoft.com/office/drawing/2014/main" id="{2D1E3FF2-CF49-A350-2BA7-66FFBAAE37E0}"/>
              </a:ext>
            </a:extLst>
          </p:cNvPr>
          <p:cNvCxnSpPr>
            <a:cxnSpLocks/>
          </p:cNvCxnSpPr>
          <p:nvPr/>
        </p:nvCxnSpPr>
        <p:spPr>
          <a:xfrm>
            <a:off x="5439955" y="3225787"/>
            <a:ext cx="4058022" cy="14992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="" xmlns:a16="http://schemas.microsoft.com/office/drawing/2014/main" id="{14AEBDC2-FADF-F4F8-9F05-461829BADDCC}"/>
              </a:ext>
            </a:extLst>
          </p:cNvPr>
          <p:cNvSpPr/>
          <p:nvPr/>
        </p:nvSpPr>
        <p:spPr>
          <a:xfrm>
            <a:off x="5414682" y="3199375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7B1CA223-1C1E-3AE0-83F9-8946F2F25D68}"/>
              </a:ext>
            </a:extLst>
          </p:cNvPr>
          <p:cNvSpPr/>
          <p:nvPr/>
        </p:nvSpPr>
        <p:spPr>
          <a:xfrm>
            <a:off x="6514055" y="3399253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46861958-AC3E-39CD-8660-6E623ED5A14A}"/>
              </a:ext>
            </a:extLst>
          </p:cNvPr>
          <p:cNvSpPr/>
          <p:nvPr/>
        </p:nvSpPr>
        <p:spPr>
          <a:xfrm>
            <a:off x="4652365" y="3677231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>
            <a:extLst>
              <a:ext uri="{FF2B5EF4-FFF2-40B4-BE49-F238E27FC236}">
                <a16:creationId xmlns="" xmlns:a16="http://schemas.microsoft.com/office/drawing/2014/main" id="{D83C0571-9D13-33E4-0F44-5E41508DA739}"/>
              </a:ext>
            </a:extLst>
          </p:cNvPr>
          <p:cNvCxnSpPr>
            <a:cxnSpLocks/>
          </p:cNvCxnSpPr>
          <p:nvPr/>
        </p:nvCxnSpPr>
        <p:spPr>
          <a:xfrm>
            <a:off x="6546582" y="3980769"/>
            <a:ext cx="2969671" cy="13891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="" xmlns:a16="http://schemas.microsoft.com/office/drawing/2014/main" id="{91738EA2-C482-A6BA-602E-F643971E1C4D}"/>
              </a:ext>
            </a:extLst>
          </p:cNvPr>
          <p:cNvSpPr/>
          <p:nvPr/>
        </p:nvSpPr>
        <p:spPr>
          <a:xfrm>
            <a:off x="6510578" y="3944765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>
            <a:extLst>
              <a:ext uri="{FF2B5EF4-FFF2-40B4-BE49-F238E27FC236}">
                <a16:creationId xmlns="" xmlns:a16="http://schemas.microsoft.com/office/drawing/2014/main" id="{334E9048-479C-E387-C2E6-E15EFF54A616}"/>
              </a:ext>
            </a:extLst>
          </p:cNvPr>
          <p:cNvCxnSpPr>
            <a:cxnSpLocks/>
          </p:cNvCxnSpPr>
          <p:nvPr/>
        </p:nvCxnSpPr>
        <p:spPr>
          <a:xfrm>
            <a:off x="4688162" y="4347311"/>
            <a:ext cx="4831568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0BBF65F5-70A6-9598-89FC-48E5CBA6E93D}"/>
              </a:ext>
            </a:extLst>
          </p:cNvPr>
          <p:cNvSpPr/>
          <p:nvPr/>
        </p:nvSpPr>
        <p:spPr>
          <a:xfrm>
            <a:off x="4652365" y="4311307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="" xmlns:a16="http://schemas.microsoft.com/office/drawing/2014/main" id="{EDE65B60-F06C-61B7-6337-DD59E111B24E}"/>
                  </a:ext>
                </a:extLst>
              </p:cNvPr>
              <p:cNvSpPr/>
              <p:nvPr/>
            </p:nvSpPr>
            <p:spPr>
              <a:xfrm>
                <a:off x="5079915" y="2671954"/>
                <a:ext cx="720080" cy="380365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DE65B60-F06C-61B7-6337-DD59E111B2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915" y="2671954"/>
                <a:ext cx="720080" cy="3803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="" xmlns:a16="http://schemas.microsoft.com/office/drawing/2014/main" id="{7E616C72-D096-C354-B3AB-73F8C3F01130}"/>
                  </a:ext>
                </a:extLst>
              </p:cNvPr>
              <p:cNvSpPr/>
              <p:nvPr/>
            </p:nvSpPr>
            <p:spPr>
              <a:xfrm>
                <a:off x="6190019" y="2660003"/>
                <a:ext cx="720080" cy="380365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E616C72-D096-C354-B3AB-73F8C3F01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019" y="2660003"/>
                <a:ext cx="720080" cy="3803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="" xmlns:a16="http://schemas.microsoft.com/office/drawing/2014/main" id="{E68B1066-E6C2-7E3C-B3EA-19A850D106A2}"/>
                  </a:ext>
                </a:extLst>
              </p:cNvPr>
              <p:cNvSpPr/>
              <p:nvPr/>
            </p:nvSpPr>
            <p:spPr>
              <a:xfrm>
                <a:off x="7287483" y="2668592"/>
                <a:ext cx="720080" cy="380365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68B1066-E6C2-7E3C-B3EA-19A850D10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483" y="2668592"/>
                <a:ext cx="720080" cy="3803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="" xmlns:a16="http://schemas.microsoft.com/office/drawing/2014/main" id="{0BA72B42-D444-0019-598A-4A8BAA28D42E}"/>
                  </a:ext>
                </a:extLst>
              </p:cNvPr>
              <p:cNvSpPr/>
              <p:nvPr/>
            </p:nvSpPr>
            <p:spPr>
              <a:xfrm>
                <a:off x="8452452" y="2674529"/>
                <a:ext cx="720080" cy="380365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BA72B42-D444-0019-598A-4A8BAA28D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452" y="2674529"/>
                <a:ext cx="720080" cy="3803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D4C81935-5E4E-6617-ACBD-C98562614150}"/>
              </a:ext>
            </a:extLst>
          </p:cNvPr>
          <p:cNvSpPr/>
          <p:nvPr/>
        </p:nvSpPr>
        <p:spPr>
          <a:xfrm>
            <a:off x="3937203" y="3531679"/>
            <a:ext cx="720080" cy="3803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+mj-lt"/>
              </a:rPr>
              <a:t>add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="" xmlns:a16="http://schemas.microsoft.com/office/drawing/2014/main" id="{5669FD9B-E9E5-E8B4-0E8E-D18FB8D574FB}"/>
              </a:ext>
            </a:extLst>
          </p:cNvPr>
          <p:cNvSpPr/>
          <p:nvPr/>
        </p:nvSpPr>
        <p:spPr>
          <a:xfrm>
            <a:off x="3932079" y="4121124"/>
            <a:ext cx="720080" cy="3803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+mj-lt"/>
              </a:rPr>
              <a:t>addi</a:t>
            </a:r>
            <a:endParaRPr lang="en-GB" dirty="0">
              <a:latin typeface="+mj-lt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A2EA77D3-61D9-6C42-6F0E-1676A66719B1}"/>
              </a:ext>
            </a:extLst>
          </p:cNvPr>
          <p:cNvSpPr/>
          <p:nvPr/>
        </p:nvSpPr>
        <p:spPr>
          <a:xfrm>
            <a:off x="3921942" y="4806991"/>
            <a:ext cx="720080" cy="3803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+mj-lt"/>
              </a:rPr>
              <a:t>shr</a:t>
            </a:r>
            <a:endParaRPr lang="en-GB" dirty="0">
              <a:latin typeface="+mj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="" xmlns:a16="http://schemas.microsoft.com/office/drawing/2014/main" id="{CC9719E6-440F-1940-7C25-1160B2AC696B}"/>
              </a:ext>
            </a:extLst>
          </p:cNvPr>
          <p:cNvSpPr/>
          <p:nvPr/>
        </p:nvSpPr>
        <p:spPr>
          <a:xfrm>
            <a:off x="3913956" y="5884527"/>
            <a:ext cx="720080" cy="3803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+mj-lt"/>
              </a:rPr>
              <a:t>st</a:t>
            </a:r>
            <a:endParaRPr lang="en-GB" dirty="0">
              <a:latin typeface="+mj-lt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="" xmlns:a16="http://schemas.microsoft.com/office/drawing/2014/main" id="{F69950A4-FABC-D1BC-E0EA-D39E9F724EEE}"/>
              </a:ext>
            </a:extLst>
          </p:cNvPr>
          <p:cNvCxnSpPr/>
          <p:nvPr/>
        </p:nvCxnSpPr>
        <p:spPr>
          <a:xfrm>
            <a:off x="4666408" y="5007505"/>
            <a:ext cx="483156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="" xmlns:a16="http://schemas.microsoft.com/office/drawing/2014/main" id="{C0416BE2-B55E-A70C-6ADC-715889C0A08D}"/>
              </a:ext>
            </a:extLst>
          </p:cNvPr>
          <p:cNvSpPr/>
          <p:nvPr/>
        </p:nvSpPr>
        <p:spPr>
          <a:xfrm>
            <a:off x="4630611" y="4971501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9" name="Straight Connector 68">
            <a:extLst>
              <a:ext uri="{FF2B5EF4-FFF2-40B4-BE49-F238E27FC236}">
                <a16:creationId xmlns="" xmlns:a16="http://schemas.microsoft.com/office/drawing/2014/main" id="{D7B1B5ED-46C8-25FD-343C-DE2F8B337B56}"/>
              </a:ext>
            </a:extLst>
          </p:cNvPr>
          <p:cNvCxnSpPr/>
          <p:nvPr/>
        </p:nvCxnSpPr>
        <p:spPr>
          <a:xfrm>
            <a:off x="4675024" y="6062472"/>
            <a:ext cx="483156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="" xmlns:a16="http://schemas.microsoft.com/office/drawing/2014/main" id="{33AE9FAA-1C9C-C407-E55A-D15970867ED7}"/>
              </a:ext>
            </a:extLst>
          </p:cNvPr>
          <p:cNvSpPr/>
          <p:nvPr/>
        </p:nvSpPr>
        <p:spPr>
          <a:xfrm>
            <a:off x="4639227" y="6026468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Straight Connector 70">
            <a:extLst>
              <a:ext uri="{FF2B5EF4-FFF2-40B4-BE49-F238E27FC236}">
                <a16:creationId xmlns="" xmlns:a16="http://schemas.microsoft.com/office/drawing/2014/main" id="{4B1B5BAA-3627-2D1B-E956-8C41F9D9E4F0}"/>
              </a:ext>
            </a:extLst>
          </p:cNvPr>
          <p:cNvCxnSpPr>
            <a:cxnSpLocks/>
          </p:cNvCxnSpPr>
          <p:nvPr/>
        </p:nvCxnSpPr>
        <p:spPr>
          <a:xfrm>
            <a:off x="7645800" y="4678883"/>
            <a:ext cx="1870453" cy="6033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="" xmlns:a16="http://schemas.microsoft.com/office/drawing/2014/main" id="{3A7A7594-F0F6-D4DD-8E6E-81E6A951BC9D}"/>
              </a:ext>
            </a:extLst>
          </p:cNvPr>
          <p:cNvSpPr/>
          <p:nvPr/>
        </p:nvSpPr>
        <p:spPr>
          <a:xfrm>
            <a:off x="7609796" y="4642879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4" name="Straight Connector 73">
            <a:extLst>
              <a:ext uri="{FF2B5EF4-FFF2-40B4-BE49-F238E27FC236}">
                <a16:creationId xmlns="" xmlns:a16="http://schemas.microsoft.com/office/drawing/2014/main" id="{22B0AC9D-C5A1-1C61-95CF-8FA485829EAF}"/>
              </a:ext>
            </a:extLst>
          </p:cNvPr>
          <p:cNvCxnSpPr>
            <a:cxnSpLocks/>
          </p:cNvCxnSpPr>
          <p:nvPr/>
        </p:nvCxnSpPr>
        <p:spPr>
          <a:xfrm>
            <a:off x="8812492" y="5309106"/>
            <a:ext cx="685485" cy="0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="" xmlns:a16="http://schemas.microsoft.com/office/drawing/2014/main" id="{322E7873-506D-1979-FC4C-82CFFA03D8CF}"/>
              </a:ext>
            </a:extLst>
          </p:cNvPr>
          <p:cNvSpPr/>
          <p:nvPr/>
        </p:nvSpPr>
        <p:spPr>
          <a:xfrm>
            <a:off x="8776488" y="5273102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Straight Connector 76">
            <a:extLst>
              <a:ext uri="{FF2B5EF4-FFF2-40B4-BE49-F238E27FC236}">
                <a16:creationId xmlns="" xmlns:a16="http://schemas.microsoft.com/office/drawing/2014/main" id="{79D1B8CB-9D2B-AD84-23BD-24F3BB5064B6}"/>
              </a:ext>
            </a:extLst>
          </p:cNvPr>
          <p:cNvCxnSpPr>
            <a:cxnSpLocks/>
          </p:cNvCxnSpPr>
          <p:nvPr/>
        </p:nvCxnSpPr>
        <p:spPr>
          <a:xfrm>
            <a:off x="6570644" y="5773511"/>
            <a:ext cx="2939477" cy="0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="" xmlns:a16="http://schemas.microsoft.com/office/drawing/2014/main" id="{C59C11D1-E9E1-AFC8-8929-F78D78750C89}"/>
              </a:ext>
            </a:extLst>
          </p:cNvPr>
          <p:cNvSpPr/>
          <p:nvPr/>
        </p:nvSpPr>
        <p:spPr>
          <a:xfrm>
            <a:off x="6534640" y="5737507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Flowchart: Delay 79">
            <a:extLst>
              <a:ext uri="{FF2B5EF4-FFF2-40B4-BE49-F238E27FC236}">
                <a16:creationId xmlns="" xmlns:a16="http://schemas.microsoft.com/office/drawing/2014/main" id="{3EFA691D-61B5-2447-084E-F6FEB1E01682}"/>
              </a:ext>
            </a:extLst>
          </p:cNvPr>
          <p:cNvSpPr/>
          <p:nvPr/>
        </p:nvSpPr>
        <p:spPr>
          <a:xfrm>
            <a:off x="9502679" y="3337934"/>
            <a:ext cx="364613" cy="42125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81" name="Flowchart: Delay 80">
            <a:extLst>
              <a:ext uri="{FF2B5EF4-FFF2-40B4-BE49-F238E27FC236}">
                <a16:creationId xmlns="" xmlns:a16="http://schemas.microsoft.com/office/drawing/2014/main" id="{3170DE78-386A-4827-92C7-798F93C08B84}"/>
              </a:ext>
            </a:extLst>
          </p:cNvPr>
          <p:cNvSpPr/>
          <p:nvPr/>
        </p:nvSpPr>
        <p:spPr>
          <a:xfrm>
            <a:off x="9515157" y="3941040"/>
            <a:ext cx="364613" cy="42125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82" name="Flowchart: Delay 81">
            <a:extLst>
              <a:ext uri="{FF2B5EF4-FFF2-40B4-BE49-F238E27FC236}">
                <a16:creationId xmlns="" xmlns:a16="http://schemas.microsoft.com/office/drawing/2014/main" id="{2638EB7B-9524-C289-EFDC-F16C6345BA33}"/>
              </a:ext>
            </a:extLst>
          </p:cNvPr>
          <p:cNvSpPr/>
          <p:nvPr/>
        </p:nvSpPr>
        <p:spPr>
          <a:xfrm>
            <a:off x="9499789" y="4643775"/>
            <a:ext cx="364613" cy="42125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83" name="Flowchart: Delay 82">
            <a:extLst>
              <a:ext uri="{FF2B5EF4-FFF2-40B4-BE49-F238E27FC236}">
                <a16:creationId xmlns="" xmlns:a16="http://schemas.microsoft.com/office/drawing/2014/main" id="{5552C48F-4499-2A04-7114-6C38888A9E58}"/>
              </a:ext>
            </a:extLst>
          </p:cNvPr>
          <p:cNvSpPr/>
          <p:nvPr/>
        </p:nvSpPr>
        <p:spPr>
          <a:xfrm>
            <a:off x="9515157" y="5683994"/>
            <a:ext cx="364613" cy="42125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="" xmlns:a16="http://schemas.microsoft.com/office/drawing/2014/main" id="{AA21CBDE-2053-794A-47FC-94E5A636C3F8}"/>
              </a:ext>
            </a:extLst>
          </p:cNvPr>
          <p:cNvSpPr/>
          <p:nvPr/>
        </p:nvSpPr>
        <p:spPr>
          <a:xfrm>
            <a:off x="8920504" y="4971501"/>
            <a:ext cx="72008" cy="7200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5" name="Straight Connector 84">
            <a:extLst>
              <a:ext uri="{FF2B5EF4-FFF2-40B4-BE49-F238E27FC236}">
                <a16:creationId xmlns="" xmlns:a16="http://schemas.microsoft.com/office/drawing/2014/main" id="{349B8145-0934-3D51-6715-CA127004990B}"/>
              </a:ext>
            </a:extLst>
          </p:cNvPr>
          <p:cNvCxnSpPr>
            <a:cxnSpLocks/>
          </p:cNvCxnSpPr>
          <p:nvPr/>
        </p:nvCxnSpPr>
        <p:spPr>
          <a:xfrm>
            <a:off x="8956508" y="5032343"/>
            <a:ext cx="0" cy="481518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="" xmlns:a16="http://schemas.microsoft.com/office/drawing/2014/main" id="{0C314591-8077-BA98-282B-A3CF1EE83956}"/>
              </a:ext>
            </a:extLst>
          </p:cNvPr>
          <p:cNvCxnSpPr>
            <a:cxnSpLocks/>
          </p:cNvCxnSpPr>
          <p:nvPr/>
        </p:nvCxnSpPr>
        <p:spPr>
          <a:xfrm>
            <a:off x="8956508" y="5513861"/>
            <a:ext cx="54146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Flowchart: Delay 91">
            <a:extLst>
              <a:ext uri="{FF2B5EF4-FFF2-40B4-BE49-F238E27FC236}">
                <a16:creationId xmlns="" xmlns:a16="http://schemas.microsoft.com/office/drawing/2014/main" id="{F271A9B8-402B-2441-63F6-530D3165284C}"/>
              </a:ext>
            </a:extLst>
          </p:cNvPr>
          <p:cNvSpPr/>
          <p:nvPr/>
        </p:nvSpPr>
        <p:spPr>
          <a:xfrm>
            <a:off x="9499789" y="5182765"/>
            <a:ext cx="364613" cy="42125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="" xmlns:a16="http://schemas.microsoft.com/office/drawing/2014/main" id="{7C436EDF-BE95-1637-C969-0FBC67F1AC6B}"/>
                  </a:ext>
                </a:extLst>
              </p:cNvPr>
              <p:cNvSpPr txBox="1"/>
              <p:nvPr/>
            </p:nvSpPr>
            <p:spPr>
              <a:xfrm>
                <a:off x="3063752" y="815701"/>
                <a:ext cx="22679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8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altLang="en-US" sz="18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         +</m:t>
                      </m:r>
                    </m:oMath>
                  </m:oMathPara>
                </a14:m>
                <a:endParaRPr lang="en-GB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C436EDF-BE95-1637-C969-0FBC67F1A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52" y="815701"/>
                <a:ext cx="2267983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="" xmlns:a16="http://schemas.microsoft.com/office/drawing/2014/main" id="{3A4D0C45-CF06-987E-D925-EB9DCC9E6F3B}"/>
                  </a:ext>
                </a:extLst>
              </p:cNvPr>
              <p:cNvSpPr txBox="1"/>
              <p:nvPr/>
            </p:nvSpPr>
            <p:spPr>
              <a:xfrm>
                <a:off x="3106038" y="1097897"/>
                <a:ext cx="26046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GB" altLang="en-US" b="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altLang="en-US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altLang="en-US" b="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GB" altLang="en-US" b="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GB" altLang="en-US" b="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+</m:t>
                      </m:r>
                    </m:oMath>
                  </m:oMathPara>
                </a14:m>
                <a:endParaRPr lang="en-GB" altLang="en-US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A4D0C45-CF06-987E-D925-EB9DCC9E6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038" y="1097897"/>
                <a:ext cx="2604606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="" xmlns:a16="http://schemas.microsoft.com/office/drawing/2014/main" id="{BF11EA18-7921-75EA-BB06-023055AD04CF}"/>
                  </a:ext>
                </a:extLst>
              </p:cNvPr>
              <p:cNvSpPr txBox="1"/>
              <p:nvPr/>
            </p:nvSpPr>
            <p:spPr>
              <a:xfrm>
                <a:off x="2622802" y="1387996"/>
                <a:ext cx="3567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8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 =</m:t>
                          </m:r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𝑎𝑑𝑖</m:t>
                      </m:r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  +</m:t>
                      </m:r>
                    </m:oMath>
                  </m:oMathPara>
                </a14:m>
                <a:endParaRPr lang="en-US" altLang="en-US" sz="18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F11EA18-7921-75EA-BB06-023055AD0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802" y="1387996"/>
                <a:ext cx="3567217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="" xmlns:a16="http://schemas.microsoft.com/office/drawing/2014/main" id="{2839B70A-E5CD-980F-42B3-306D67E3E21C}"/>
                  </a:ext>
                </a:extLst>
              </p:cNvPr>
              <p:cNvSpPr txBox="1"/>
              <p:nvPr/>
            </p:nvSpPr>
            <p:spPr>
              <a:xfrm>
                <a:off x="2602968" y="2240694"/>
                <a:ext cx="3567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8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 =</m:t>
                          </m:r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     +</m:t>
                      </m:r>
                    </m:oMath>
                  </m:oMathPara>
                </a14:m>
                <a:endParaRPr lang="en-US" altLang="en-US" sz="18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839B70A-E5CD-980F-42B3-306D67E3E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968" y="2240694"/>
                <a:ext cx="3567217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="" xmlns:a16="http://schemas.microsoft.com/office/drawing/2014/main" id="{E35A5B2A-2A22-233A-2525-E73F88321068}"/>
                  </a:ext>
                </a:extLst>
              </p:cNvPr>
              <p:cNvSpPr txBox="1"/>
              <p:nvPr/>
            </p:nvSpPr>
            <p:spPr>
              <a:xfrm>
                <a:off x="2621446" y="1688570"/>
                <a:ext cx="3567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8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𝑠h𝑟</m:t>
                      </m:r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 +</m:t>
                      </m:r>
                    </m:oMath>
                  </m:oMathPara>
                </a14:m>
                <a:endParaRPr lang="en-US" altLang="en-US" sz="18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35A5B2A-2A22-233A-2525-E73F88321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446" y="1688570"/>
                <a:ext cx="3567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="" xmlns:a16="http://schemas.microsoft.com/office/drawing/2014/main" id="{B95316DC-4A73-0B00-C002-572715264A78}"/>
                  </a:ext>
                </a:extLst>
              </p:cNvPr>
              <p:cNvSpPr txBox="1"/>
              <p:nvPr/>
            </p:nvSpPr>
            <p:spPr>
              <a:xfrm>
                <a:off x="2612207" y="1941953"/>
                <a:ext cx="3567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8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𝑠h𝑟</m:t>
                      </m:r>
                      <m:r>
                        <a:rPr lang="en-GB" alt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 +</m:t>
                      </m:r>
                    </m:oMath>
                  </m:oMathPara>
                </a14:m>
                <a:endParaRPr lang="en-US" altLang="en-US" sz="18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95316DC-4A73-0B00-C002-572715264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207" y="1941953"/>
                <a:ext cx="3567217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="" xmlns:a16="http://schemas.microsoft.com/office/drawing/2014/main" id="{08C9C513-BEA9-0B80-7F8F-057B1AEE261D}"/>
              </a:ext>
            </a:extLst>
          </p:cNvPr>
          <p:cNvSpPr txBox="1"/>
          <p:nvPr/>
        </p:nvSpPr>
        <p:spPr>
          <a:xfrm>
            <a:off x="5331735" y="1243591"/>
            <a:ext cx="799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0000FF"/>
                </a:solidFill>
                <a:latin typeface="+mj-lt"/>
              </a:rPr>
              <a:t>AND</a:t>
            </a:r>
            <a:endParaRPr lang="en-GB" dirty="0">
              <a:latin typeface="+mj-lt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B54231DD-BEDA-EA64-D5EB-2A4A271D135F}"/>
              </a:ext>
            </a:extLst>
          </p:cNvPr>
          <p:cNvSpPr txBox="1"/>
          <p:nvPr/>
        </p:nvSpPr>
        <p:spPr>
          <a:xfrm>
            <a:off x="5910342" y="1253365"/>
            <a:ext cx="1019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0000FF"/>
                </a:solidFill>
                <a:latin typeface="+mj-lt"/>
              </a:rPr>
              <a:t>OR Gate</a:t>
            </a:r>
            <a:endParaRPr lang="en-GB" dirty="0">
              <a:latin typeface="+mj-lt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="" xmlns:a16="http://schemas.microsoft.com/office/drawing/2014/main" id="{6457EBA1-D9F7-2963-362F-52DBD035FEDB}"/>
              </a:ext>
            </a:extLst>
          </p:cNvPr>
          <p:cNvCxnSpPr>
            <a:cxnSpLocks/>
          </p:cNvCxnSpPr>
          <p:nvPr/>
        </p:nvCxnSpPr>
        <p:spPr>
          <a:xfrm>
            <a:off x="10632504" y="3225787"/>
            <a:ext cx="0" cy="790986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="" xmlns:a16="http://schemas.microsoft.com/office/drawing/2014/main" id="{EAE164E1-2930-ECE4-BB03-7F59E34EBF51}"/>
              </a:ext>
            </a:extLst>
          </p:cNvPr>
          <p:cNvCxnSpPr/>
          <p:nvPr/>
        </p:nvCxnSpPr>
        <p:spPr>
          <a:xfrm>
            <a:off x="10632504" y="4016773"/>
            <a:ext cx="360040" cy="0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="" xmlns:a16="http://schemas.microsoft.com/office/drawing/2014/main" id="{3E90803A-F8DD-AF81-2079-7B09358D35CF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9867292" y="3548563"/>
            <a:ext cx="68007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="" xmlns:a16="http://schemas.microsoft.com/office/drawing/2014/main" id="{26E5BAC9-FC83-38EC-A019-89A06604A00C}"/>
              </a:ext>
            </a:extLst>
          </p:cNvPr>
          <p:cNvCxnSpPr>
            <a:cxnSpLocks/>
          </p:cNvCxnSpPr>
          <p:nvPr/>
        </p:nvCxnSpPr>
        <p:spPr>
          <a:xfrm flipV="1">
            <a:off x="10547371" y="3548563"/>
            <a:ext cx="0" cy="572561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="" xmlns:a16="http://schemas.microsoft.com/office/drawing/2014/main" id="{16FCFB4D-F22F-FF27-C3F3-57A58F6A99C3}"/>
              </a:ext>
            </a:extLst>
          </p:cNvPr>
          <p:cNvCxnSpPr>
            <a:cxnSpLocks/>
          </p:cNvCxnSpPr>
          <p:nvPr/>
        </p:nvCxnSpPr>
        <p:spPr>
          <a:xfrm flipV="1">
            <a:off x="10535076" y="4116972"/>
            <a:ext cx="486432" cy="3432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="" xmlns:a16="http://schemas.microsoft.com/office/drawing/2014/main" id="{3FE98929-1CB1-3659-8371-7068CD4F0270}"/>
              </a:ext>
            </a:extLst>
          </p:cNvPr>
          <p:cNvCxnSpPr>
            <a:cxnSpLocks/>
            <a:stCxn id="81" idx="3"/>
          </p:cNvCxnSpPr>
          <p:nvPr/>
        </p:nvCxnSpPr>
        <p:spPr>
          <a:xfrm>
            <a:off x="9879770" y="4151669"/>
            <a:ext cx="619594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="" xmlns:a16="http://schemas.microsoft.com/office/drawing/2014/main" id="{B968BB8C-A375-423C-1770-1098AB322F55}"/>
              </a:ext>
            </a:extLst>
          </p:cNvPr>
          <p:cNvCxnSpPr>
            <a:cxnSpLocks/>
          </p:cNvCxnSpPr>
          <p:nvPr/>
        </p:nvCxnSpPr>
        <p:spPr>
          <a:xfrm>
            <a:off x="10487593" y="4225505"/>
            <a:ext cx="54621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="" xmlns:a16="http://schemas.microsoft.com/office/drawing/2014/main" id="{2A4401DB-CF04-CFF4-60DD-D60758F70115}"/>
              </a:ext>
            </a:extLst>
          </p:cNvPr>
          <p:cNvCxnSpPr>
            <a:cxnSpLocks/>
          </p:cNvCxnSpPr>
          <p:nvPr/>
        </p:nvCxnSpPr>
        <p:spPr>
          <a:xfrm>
            <a:off x="10499364" y="4151669"/>
            <a:ext cx="0" cy="738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="" xmlns:a16="http://schemas.microsoft.com/office/drawing/2014/main" id="{E47841DC-93B3-51ED-360E-11939FA0E2FB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9864402" y="4854404"/>
            <a:ext cx="634962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="" xmlns:a16="http://schemas.microsoft.com/office/drawing/2014/main" id="{7E92E579-ECB9-93CA-A979-057E7228C873}"/>
              </a:ext>
            </a:extLst>
          </p:cNvPr>
          <p:cNvCxnSpPr>
            <a:cxnSpLocks/>
            <a:stCxn id="83" idx="3"/>
          </p:cNvCxnSpPr>
          <p:nvPr/>
        </p:nvCxnSpPr>
        <p:spPr>
          <a:xfrm>
            <a:off x="9879770" y="5894623"/>
            <a:ext cx="752734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="" xmlns:a16="http://schemas.microsoft.com/office/drawing/2014/main" id="{765A4E83-0421-487D-3F42-844BFC2F1D27}"/>
              </a:ext>
            </a:extLst>
          </p:cNvPr>
          <p:cNvCxnSpPr>
            <a:cxnSpLocks/>
          </p:cNvCxnSpPr>
          <p:nvPr/>
        </p:nvCxnSpPr>
        <p:spPr>
          <a:xfrm>
            <a:off x="10623781" y="4601065"/>
            <a:ext cx="8723" cy="1293558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="" xmlns:a16="http://schemas.microsoft.com/office/drawing/2014/main" id="{5146A198-1254-BCA6-D215-4DDB28711997}"/>
              </a:ext>
            </a:extLst>
          </p:cNvPr>
          <p:cNvCxnSpPr>
            <a:cxnSpLocks/>
          </p:cNvCxnSpPr>
          <p:nvPr/>
        </p:nvCxnSpPr>
        <p:spPr>
          <a:xfrm>
            <a:off x="10611486" y="4603126"/>
            <a:ext cx="410022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="" xmlns:a16="http://schemas.microsoft.com/office/drawing/2014/main" id="{D0358263-134C-BC29-E26B-4E055E88BBA8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9864402" y="5393394"/>
            <a:ext cx="68296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="" xmlns:a16="http://schemas.microsoft.com/office/drawing/2014/main" id="{957F7BBB-7E06-00F7-577E-5CE12397E060}"/>
              </a:ext>
            </a:extLst>
          </p:cNvPr>
          <p:cNvCxnSpPr>
            <a:cxnSpLocks/>
          </p:cNvCxnSpPr>
          <p:nvPr/>
        </p:nvCxnSpPr>
        <p:spPr>
          <a:xfrm flipV="1">
            <a:off x="10547371" y="4501489"/>
            <a:ext cx="0" cy="89190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="" xmlns:a16="http://schemas.microsoft.com/office/drawing/2014/main" id="{CDD875B1-93CB-5E20-31D1-F87CE78EAB0A}"/>
              </a:ext>
            </a:extLst>
          </p:cNvPr>
          <p:cNvCxnSpPr>
            <a:cxnSpLocks/>
          </p:cNvCxnSpPr>
          <p:nvPr/>
        </p:nvCxnSpPr>
        <p:spPr>
          <a:xfrm>
            <a:off x="10535076" y="4501489"/>
            <a:ext cx="49820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="" xmlns:a16="http://schemas.microsoft.com/office/drawing/2014/main" id="{EB7D7900-1EE2-97F1-AA8B-C210A13F60DD}"/>
              </a:ext>
            </a:extLst>
          </p:cNvPr>
          <p:cNvCxnSpPr>
            <a:cxnSpLocks/>
          </p:cNvCxnSpPr>
          <p:nvPr/>
        </p:nvCxnSpPr>
        <p:spPr>
          <a:xfrm flipV="1">
            <a:off x="10488488" y="4362298"/>
            <a:ext cx="0" cy="49210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="" xmlns:a16="http://schemas.microsoft.com/office/drawing/2014/main" id="{381E2452-9A70-AA4C-9CF2-CCD0096DA345}"/>
              </a:ext>
            </a:extLst>
          </p:cNvPr>
          <p:cNvCxnSpPr>
            <a:cxnSpLocks/>
            <a:endCxn id="112" idx="3"/>
          </p:cNvCxnSpPr>
          <p:nvPr/>
        </p:nvCxnSpPr>
        <p:spPr>
          <a:xfrm>
            <a:off x="10476193" y="4362297"/>
            <a:ext cx="569381" cy="1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="" xmlns:a16="http://schemas.microsoft.com/office/drawing/2014/main" id="{88E241E8-C49D-1BE6-D0E2-FF4EE7233D5B}"/>
              </a:ext>
            </a:extLst>
          </p:cNvPr>
          <p:cNvCxnSpPr>
            <a:cxnSpLocks/>
          </p:cNvCxnSpPr>
          <p:nvPr/>
        </p:nvCxnSpPr>
        <p:spPr>
          <a:xfrm>
            <a:off x="11795844" y="4362298"/>
            <a:ext cx="2717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="" xmlns:a16="http://schemas.microsoft.com/office/drawing/2014/main" id="{A252742B-2A4C-D84C-59BB-12BB740C9E4C}"/>
                  </a:ext>
                </a:extLst>
              </p:cNvPr>
              <p:cNvSpPr txBox="1"/>
              <p:nvPr/>
            </p:nvSpPr>
            <p:spPr>
              <a:xfrm>
                <a:off x="9111525" y="3166602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252742B-2A4C-D84C-59BB-12BB740C9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1525" y="3166602"/>
                <a:ext cx="51796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="" xmlns:a16="http://schemas.microsoft.com/office/drawing/2014/main" id="{687DA3BB-8721-0399-CD73-3EBE7F2AA839}"/>
                  </a:ext>
                </a:extLst>
              </p:cNvPr>
              <p:cNvSpPr txBox="1"/>
              <p:nvPr/>
            </p:nvSpPr>
            <p:spPr>
              <a:xfrm>
                <a:off x="9116015" y="2933936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687DA3BB-8721-0399-CD73-3EBE7F2AA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015" y="2933936"/>
                <a:ext cx="51796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="" xmlns:a16="http://schemas.microsoft.com/office/drawing/2014/main" id="{71C80B15-E4D9-1418-9CF2-EA251B93CA01}"/>
                  </a:ext>
                </a:extLst>
              </p:cNvPr>
              <p:cNvSpPr txBox="1"/>
              <p:nvPr/>
            </p:nvSpPr>
            <p:spPr>
              <a:xfrm>
                <a:off x="9058741" y="3722033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71C80B15-E4D9-1418-9CF2-EA251B93C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741" y="3722033"/>
                <a:ext cx="51796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="" xmlns:a16="http://schemas.microsoft.com/office/drawing/2014/main" id="{DE7D8D58-0767-B3BE-D776-1C93B9FA3143}"/>
                  </a:ext>
                </a:extLst>
              </p:cNvPr>
              <p:cNvSpPr txBox="1"/>
              <p:nvPr/>
            </p:nvSpPr>
            <p:spPr>
              <a:xfrm>
                <a:off x="8988633" y="4058056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𝑎𝑑𝑑𝑖</m:t>
                      </m:r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DE7D8D58-0767-B3BE-D776-1C93B9FA3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633" y="4058056"/>
                <a:ext cx="51796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="" xmlns:a16="http://schemas.microsoft.com/office/drawing/2014/main" id="{B7A03E6E-36E7-4BAA-3A6C-A9F715A2486C}"/>
                  </a:ext>
                </a:extLst>
              </p:cNvPr>
              <p:cNvSpPr txBox="1"/>
              <p:nvPr/>
            </p:nvSpPr>
            <p:spPr>
              <a:xfrm>
                <a:off x="8997594" y="4423803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B7A03E6E-36E7-4BAA-3A6C-A9F715A2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594" y="4423803"/>
                <a:ext cx="517960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="" xmlns:a16="http://schemas.microsoft.com/office/drawing/2014/main" id="{23E0FD4B-A3F1-D017-6A6F-99C5FC9A8F68}"/>
                  </a:ext>
                </a:extLst>
              </p:cNvPr>
              <p:cNvSpPr txBox="1"/>
              <p:nvPr/>
            </p:nvSpPr>
            <p:spPr>
              <a:xfrm>
                <a:off x="8998044" y="4756131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𝑠h𝑟</m:t>
                      </m:r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23E0FD4B-A3F1-D017-6A6F-99C5FC9A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044" y="4756131"/>
                <a:ext cx="517960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="" xmlns:a16="http://schemas.microsoft.com/office/drawing/2014/main" id="{05E46D5B-237C-DD9D-1296-5D77C9FDAFFE}"/>
                  </a:ext>
                </a:extLst>
              </p:cNvPr>
              <p:cNvSpPr txBox="1"/>
              <p:nvPr/>
            </p:nvSpPr>
            <p:spPr>
              <a:xfrm>
                <a:off x="9017832" y="5031432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05E46D5B-237C-DD9D-1296-5D77C9FD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832" y="5031432"/>
                <a:ext cx="517960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="" xmlns:a16="http://schemas.microsoft.com/office/drawing/2014/main" id="{C1D31305-DAEE-AF2E-C835-D4E17B900327}"/>
                  </a:ext>
                </a:extLst>
              </p:cNvPr>
              <p:cNvSpPr txBox="1"/>
              <p:nvPr/>
            </p:nvSpPr>
            <p:spPr>
              <a:xfrm>
                <a:off x="8980923" y="5265878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𝑠h𝑟</m:t>
                      </m:r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1D31305-DAEE-AF2E-C835-D4E17B900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923" y="5265878"/>
                <a:ext cx="517960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="" xmlns:a16="http://schemas.microsoft.com/office/drawing/2014/main" id="{B5D765BC-CDC1-8B1F-A1D9-3CA17659FBD0}"/>
                  </a:ext>
                </a:extLst>
              </p:cNvPr>
              <p:cNvSpPr txBox="1"/>
              <p:nvPr/>
            </p:nvSpPr>
            <p:spPr>
              <a:xfrm>
                <a:off x="8993884" y="5484915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B5D765BC-CDC1-8B1F-A1D9-3CA17659F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884" y="5484915"/>
                <a:ext cx="51796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="" xmlns:a16="http://schemas.microsoft.com/office/drawing/2014/main" id="{1BEDA785-1FC7-70BC-25D1-5A5DDC4EF80E}"/>
                  </a:ext>
                </a:extLst>
              </p:cNvPr>
              <p:cNvSpPr txBox="1"/>
              <p:nvPr/>
            </p:nvSpPr>
            <p:spPr>
              <a:xfrm>
                <a:off x="8993915" y="5794503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𝑠𝑡</m:t>
                      </m:r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1BEDA785-1FC7-70BC-25D1-5A5DDC4EF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915" y="5794503"/>
                <a:ext cx="517960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="" xmlns:a16="http://schemas.microsoft.com/office/drawing/2014/main" id="{5A676792-7F74-D507-E8BC-7B80C6042641}"/>
                  </a:ext>
                </a:extLst>
              </p:cNvPr>
              <p:cNvSpPr txBox="1"/>
              <p:nvPr/>
            </p:nvSpPr>
            <p:spPr>
              <a:xfrm>
                <a:off x="11715062" y="4029810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A676792-7F74-D507-E8BC-7B80C6042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062" y="4029810"/>
                <a:ext cx="517960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Flowchart: Stored Data 111">
            <a:extLst>
              <a:ext uri="{FF2B5EF4-FFF2-40B4-BE49-F238E27FC236}">
                <a16:creationId xmlns="" xmlns:a16="http://schemas.microsoft.com/office/drawing/2014/main" id="{E4D5BB3E-FF60-826F-3551-A8A6E343CCDC}"/>
              </a:ext>
            </a:extLst>
          </p:cNvPr>
          <p:cNvSpPr/>
          <p:nvPr/>
        </p:nvSpPr>
        <p:spPr>
          <a:xfrm flipH="1">
            <a:off x="10895520" y="3945201"/>
            <a:ext cx="900324" cy="834193"/>
          </a:xfrm>
          <a:prstGeom prst="flowChartOnlineStorag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="" xmlns:a16="http://schemas.microsoft.com/office/drawing/2014/main" id="{2962FBC5-C8C5-3ADD-FEDF-81293520DDFB}"/>
                  </a:ext>
                </a:extLst>
              </p:cNvPr>
              <p:cNvSpPr txBox="1"/>
              <p:nvPr/>
            </p:nvSpPr>
            <p:spPr>
              <a:xfrm>
                <a:off x="9049361" y="3453746"/>
                <a:ext cx="5179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𝑎𝑑𝑑</m:t>
                      </m:r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2962FBC5-C8C5-3ADD-FEDF-81293520D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361" y="3453746"/>
                <a:ext cx="517960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307C4F22-5029-C5C9-7890-4F87FC2E8A59}"/>
              </a:ext>
            </a:extLst>
          </p:cNvPr>
          <p:cNvCxnSpPr>
            <a:cxnSpLocks/>
          </p:cNvCxnSpPr>
          <p:nvPr/>
        </p:nvCxnSpPr>
        <p:spPr>
          <a:xfrm flipV="1">
            <a:off x="9434597" y="3233283"/>
            <a:ext cx="1197907" cy="8240"/>
          </a:xfrm>
          <a:prstGeom prst="line">
            <a:avLst/>
          </a:prstGeom>
          <a:ln w="28575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Delay 4">
            <a:extLst>
              <a:ext uri="{FF2B5EF4-FFF2-40B4-BE49-F238E27FC236}">
                <a16:creationId xmlns="" xmlns:a16="http://schemas.microsoft.com/office/drawing/2014/main" id="{67D4F5E9-4323-8801-D816-64965DD8FF9A}"/>
              </a:ext>
            </a:extLst>
          </p:cNvPr>
          <p:cNvSpPr/>
          <p:nvPr/>
        </p:nvSpPr>
        <p:spPr>
          <a:xfrm>
            <a:off x="5503731" y="875342"/>
            <a:ext cx="364613" cy="42125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7" name="Flowchart: Stored Data 6">
            <a:extLst>
              <a:ext uri="{FF2B5EF4-FFF2-40B4-BE49-F238E27FC236}">
                <a16:creationId xmlns="" xmlns:a16="http://schemas.microsoft.com/office/drawing/2014/main" id="{EABDBA53-F2D3-42B2-74C6-74F611871F8B}"/>
              </a:ext>
            </a:extLst>
          </p:cNvPr>
          <p:cNvSpPr/>
          <p:nvPr/>
        </p:nvSpPr>
        <p:spPr>
          <a:xfrm flipH="1">
            <a:off x="6245700" y="900449"/>
            <a:ext cx="402502" cy="388883"/>
          </a:xfrm>
          <a:prstGeom prst="flowChartOnlineStorag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23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000"/>
                            </p:stCondLst>
                            <p:childTnLst>
                              <p:par>
                                <p:cTn id="2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000"/>
                            </p:stCondLst>
                            <p:childTnLst>
                              <p:par>
                                <p:cTn id="2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500"/>
                            </p:stCondLst>
                            <p:childTnLst>
                              <p:par>
                                <p:cTn id="2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000"/>
                            </p:stCondLst>
                            <p:childTnLst>
                              <p:par>
                                <p:cTn id="2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500"/>
                            </p:stCondLst>
                            <p:childTnLst>
                              <p:par>
                                <p:cTn id="2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000"/>
                            </p:stCondLst>
                            <p:childTnLst>
                              <p:par>
                                <p:cTn id="2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500"/>
                            </p:stCondLst>
                            <p:childTnLst>
                              <p:par>
                                <p:cTn id="3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"/>
                            </p:stCondLst>
                            <p:childTnLst>
                              <p:par>
                                <p:cTn id="3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00"/>
                            </p:stCondLst>
                            <p:childTnLst>
                              <p:par>
                                <p:cTn id="3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1000"/>
                            </p:stCondLst>
                            <p:childTnLst>
                              <p:par>
                                <p:cTn id="3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500"/>
                            </p:stCondLst>
                            <p:childTnLst>
                              <p:par>
                                <p:cTn id="3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500"/>
                            </p:stCondLst>
                            <p:childTnLst>
                              <p:par>
                                <p:cTn id="3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000"/>
                            </p:stCondLst>
                            <p:childTnLst>
                              <p:par>
                                <p:cTn id="3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00"/>
                            </p:stCondLst>
                            <p:childTnLst>
                              <p:par>
                                <p:cTn id="3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8" grpId="0" animBg="1"/>
      <p:bldP spid="40" grpId="0" animBg="1"/>
      <p:bldP spid="49" grpId="0" animBg="1"/>
      <p:bldP spid="52" grpId="0" animBg="1"/>
      <p:bldP spid="56" grpId="0" animBg="1"/>
      <p:bldP spid="60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70" grpId="0" animBg="1"/>
      <p:bldP spid="72" grpId="0" animBg="1"/>
      <p:bldP spid="75" grpId="0" animBg="1"/>
      <p:bldP spid="78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92" grpId="0" animBg="1"/>
      <p:bldP spid="102" grpId="0"/>
      <p:bldP spid="103" grpId="0"/>
      <p:bldP spid="104" grpId="0"/>
      <p:bldP spid="105" grpId="0"/>
      <p:bldP spid="106" grpId="0"/>
      <p:bldP spid="107" grpId="0"/>
      <p:bldP spid="109" grpId="0"/>
      <p:bldP spid="111" grpId="0"/>
      <p:bldP spid="181" grpId="0"/>
      <p:bldP spid="182" grpId="0"/>
      <p:bldP spid="183" grpId="0"/>
      <p:bldP spid="184" grpId="0"/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12" grpId="0" animBg="1"/>
      <p:bldP spid="203" grpId="0"/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2AA77EC5-DFC4-6526-8DE5-AD967295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Generation of the logic for </a:t>
            </a:r>
            <a:r>
              <a:rPr lang="en-US" altLang="en-US" dirty="0" err="1"/>
              <a:t>PCin</a:t>
            </a:r>
            <a:r>
              <a:rPr lang="en-US" altLang="en-US" dirty="0"/>
              <a:t> and </a:t>
            </a:r>
            <a:r>
              <a:rPr lang="en-US" altLang="en-US" dirty="0" err="1"/>
              <a:t>Gra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03A9E7A-55B0-50D7-CFC8-51849A80B3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sz="1800" dirty="0"/>
              <a:t>Control Unit (C.U.)</a:t>
            </a:r>
          </a:p>
          <a:p>
            <a:r>
              <a:rPr lang="en-GB" altLang="en-US" sz="1800" dirty="0"/>
              <a:t>Inputs and Outputs</a:t>
            </a:r>
          </a:p>
          <a:p>
            <a:pPr lvl="1"/>
            <a:r>
              <a:rPr lang="en-GB" altLang="en-US" sz="1600" dirty="0"/>
              <a:t>Inputs</a:t>
            </a:r>
          </a:p>
          <a:p>
            <a:pPr lvl="1"/>
            <a:r>
              <a:rPr lang="en-US" sz="1600" dirty="0"/>
              <a:t>Outputs</a:t>
            </a:r>
          </a:p>
          <a:p>
            <a:r>
              <a:rPr lang="en-US" sz="1800" dirty="0"/>
              <a:t>Implementation of CU</a:t>
            </a:r>
          </a:p>
          <a:p>
            <a:pPr lvl="1"/>
            <a:r>
              <a:rPr lang="en-US" sz="1600" dirty="0"/>
              <a:t>Hardwired</a:t>
            </a:r>
          </a:p>
          <a:p>
            <a:pPr lvl="1"/>
            <a:r>
              <a:rPr lang="en-US" sz="1600" dirty="0"/>
              <a:t>Micro Programmed</a:t>
            </a:r>
          </a:p>
          <a:p>
            <a:r>
              <a:rPr lang="en-US" sz="1800" dirty="0"/>
              <a:t>Hardwired Control Unit</a:t>
            </a:r>
          </a:p>
          <a:p>
            <a:pPr lvl="1"/>
            <a:r>
              <a:rPr lang="en-US" sz="1600" dirty="0"/>
              <a:t>Control sequence</a:t>
            </a:r>
          </a:p>
          <a:p>
            <a:pPr lvl="1"/>
            <a:r>
              <a:rPr lang="en-US" sz="1600" dirty="0"/>
              <a:t>Boolean expression for control signal</a:t>
            </a:r>
          </a:p>
          <a:p>
            <a:pPr lvl="1"/>
            <a:r>
              <a:rPr lang="en-US" sz="1600" dirty="0"/>
              <a:t>Circuitry design for control signal </a:t>
            </a:r>
            <a:r>
              <a:rPr lang="en-US" sz="1600" dirty="0" err="1"/>
              <a:t>Cout</a:t>
            </a:r>
            <a:endParaRPr lang="en-US" sz="1600" dirty="0"/>
          </a:p>
          <a:p>
            <a:pPr lvl="2"/>
            <a:r>
              <a:rPr lang="en-IN" sz="1400" dirty="0"/>
              <a:t>Examples</a:t>
            </a:r>
          </a:p>
        </p:txBody>
      </p:sp>
      <p:sp>
        <p:nvSpPr>
          <p:cNvPr id="8" name="Flowchart: Stored Data 7">
            <a:extLst>
              <a:ext uri="{FF2B5EF4-FFF2-40B4-BE49-F238E27FC236}">
                <a16:creationId xmlns="" xmlns:a16="http://schemas.microsoft.com/office/drawing/2014/main" id="{81880467-DBE3-14F8-231D-9830BEA5CC32}"/>
              </a:ext>
            </a:extLst>
          </p:cNvPr>
          <p:cNvSpPr/>
          <p:nvPr/>
        </p:nvSpPr>
        <p:spPr>
          <a:xfrm flipH="1">
            <a:off x="8451570" y="1633363"/>
            <a:ext cx="1660603" cy="1102451"/>
          </a:xfrm>
          <a:prstGeom prst="flowChartOnlineStorag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="" xmlns:a16="http://schemas.microsoft.com/office/drawing/2014/main" id="{E3734E92-6ECF-FE09-BDF1-2AE833911692}"/>
                  </a:ext>
                </a:extLst>
              </p14:cNvPr>
              <p14:cNvContentPartPr/>
              <p14:nvPr/>
            </p14:nvContentPartPr>
            <p14:xfrm>
              <a:off x="5502829" y="1745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E3734E92-6ECF-FE09-BDF1-2AE8339116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0589" y="1733138"/>
                <a:ext cx="24840" cy="24840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5FE0E7A8-5857-E4A6-8D2B-D3C4A82FF5B8}"/>
              </a:ext>
            </a:extLst>
          </p:cNvPr>
          <p:cNvCxnSpPr/>
          <p:nvPr/>
        </p:nvCxnSpPr>
        <p:spPr>
          <a:xfrm>
            <a:off x="7228617" y="1500834"/>
            <a:ext cx="1440160" cy="46167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="" xmlns:a16="http://schemas.microsoft.com/office/drawing/2014/main" id="{C6F2B3B1-3F9A-A559-FADE-17A18D3DA45F}"/>
              </a:ext>
            </a:extLst>
          </p:cNvPr>
          <p:cNvCxnSpPr>
            <a:cxnSpLocks/>
          </p:cNvCxnSpPr>
          <p:nvPr/>
        </p:nvCxnSpPr>
        <p:spPr>
          <a:xfrm flipV="1">
            <a:off x="7228617" y="2472977"/>
            <a:ext cx="1480583" cy="39536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Delay 34">
            <a:extLst>
              <a:ext uri="{FF2B5EF4-FFF2-40B4-BE49-F238E27FC236}">
                <a16:creationId xmlns="" xmlns:a16="http://schemas.microsoft.com/office/drawing/2014/main" id="{42C57CBE-10E1-FD0A-A5A3-B7DD434CBE99}"/>
              </a:ext>
            </a:extLst>
          </p:cNvPr>
          <p:cNvSpPr/>
          <p:nvPr/>
        </p:nvSpPr>
        <p:spPr>
          <a:xfrm>
            <a:off x="6156281" y="2318454"/>
            <a:ext cx="1029816" cy="1015288"/>
          </a:xfrm>
          <a:prstGeom prst="flowChartDelay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="" xmlns:a16="http://schemas.microsoft.com/office/drawing/2014/main" id="{9D165D64-6B60-4C6A-1BD1-F6DDD40506D4}"/>
              </a:ext>
            </a:extLst>
          </p:cNvPr>
          <p:cNvGrpSpPr/>
          <p:nvPr/>
        </p:nvGrpSpPr>
        <p:grpSpPr>
          <a:xfrm>
            <a:off x="6566989" y="2410658"/>
            <a:ext cx="16920" cy="360"/>
            <a:chOff x="6566989" y="2410658"/>
            <a:chExt cx="1692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2" name="Ink 41">
                  <a:extLst>
                    <a:ext uri="{FF2B5EF4-FFF2-40B4-BE49-F238E27FC236}">
                      <a16:creationId xmlns="" xmlns:a16="http://schemas.microsoft.com/office/drawing/2014/main" id="{8C082A28-4ACC-C3B9-5169-1C06A4EAC8B9}"/>
                    </a:ext>
                  </a:extLst>
                </p14:cNvPr>
                <p14:cNvContentPartPr/>
                <p14:nvPr/>
              </p14:nvContentPartPr>
              <p14:xfrm>
                <a:off x="6566989" y="2410658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xmlns:p14="http://schemas.microsoft.com/office/powerpoint/2010/main" xmlns="" id="{8C082A28-4ACC-C3B9-5169-1C06A4EAC8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54749" y="2398418"/>
                  <a:ext cx="24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3" name="Ink 42">
                  <a:extLst>
                    <a:ext uri="{FF2B5EF4-FFF2-40B4-BE49-F238E27FC236}">
                      <a16:creationId xmlns="" xmlns:a16="http://schemas.microsoft.com/office/drawing/2014/main" id="{681EF762-2C56-B6D7-E913-D7CBB26D4E05}"/>
                    </a:ext>
                  </a:extLst>
                </p14:cNvPr>
                <p14:cNvContentPartPr/>
                <p14:nvPr/>
              </p14:nvContentPartPr>
              <p14:xfrm>
                <a:off x="6583549" y="2410658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xmlns:p14="http://schemas.microsoft.com/office/powerpoint/2010/main" xmlns="" id="{681EF762-2C56-B6D7-E913-D7CBB26D4E0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71309" y="2398418"/>
                  <a:ext cx="2484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5" name="Ink 44">
                <a:extLst>
                  <a:ext uri="{FF2B5EF4-FFF2-40B4-BE49-F238E27FC236}">
                    <a16:creationId xmlns="" xmlns:a16="http://schemas.microsoft.com/office/drawing/2014/main" id="{C89B6433-6B7C-357A-7DDC-32411C4D6D61}"/>
                  </a:ext>
                </a:extLst>
              </p14:cNvPr>
              <p14:cNvContentPartPr/>
              <p14:nvPr/>
            </p14:nvContentPartPr>
            <p14:xfrm>
              <a:off x="9060709" y="2826098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C89B6433-6B7C-357A-7DDC-32411C4D6D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48469" y="2813858"/>
                <a:ext cx="248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7" name="Ink 46">
                <a:extLst>
                  <a:ext uri="{FF2B5EF4-FFF2-40B4-BE49-F238E27FC236}">
                    <a16:creationId xmlns="" xmlns:a16="http://schemas.microsoft.com/office/drawing/2014/main" id="{4AC59ACF-1584-0F40-1D55-BCCE46D10B72}"/>
                  </a:ext>
                </a:extLst>
              </p14:cNvPr>
              <p14:cNvContentPartPr/>
              <p14:nvPr/>
            </p14:nvContentPartPr>
            <p14:xfrm>
              <a:off x="6882709" y="3451418"/>
              <a:ext cx="360" cy="6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xmlns:p14="http://schemas.microsoft.com/office/powerpoint/2010/main" xmlns="" id="{4AC59ACF-1584-0F40-1D55-BCCE46D10B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70469" y="3442418"/>
                <a:ext cx="24840" cy="28080"/>
              </a:xfrm>
              <a:prstGeom prst="rect">
                <a:avLst/>
              </a:prstGeom>
            </p:spPr>
          </p:pic>
        </mc:Fallback>
      </mc:AlternateContent>
      <p:cxnSp>
        <p:nvCxnSpPr>
          <p:cNvPr id="55" name="Connector: Elbow 54">
            <a:extLst>
              <a:ext uri="{FF2B5EF4-FFF2-40B4-BE49-F238E27FC236}">
                <a16:creationId xmlns="" xmlns:a16="http://schemas.microsoft.com/office/drawing/2014/main" id="{9CD00089-95CE-576E-2F90-DD763C23F3CF}"/>
              </a:ext>
            </a:extLst>
          </p:cNvPr>
          <p:cNvCxnSpPr>
            <a:cxnSpLocks/>
          </p:cNvCxnSpPr>
          <p:nvPr/>
        </p:nvCxnSpPr>
        <p:spPr>
          <a:xfrm>
            <a:off x="7008174" y="4082599"/>
            <a:ext cx="1660603" cy="53794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="" xmlns:a16="http://schemas.microsoft.com/office/drawing/2014/main" id="{D75FD451-0B50-1EB6-FF68-779AF0B058A3}"/>
              </a:ext>
            </a:extLst>
          </p:cNvPr>
          <p:cNvCxnSpPr>
            <a:cxnSpLocks/>
          </p:cNvCxnSpPr>
          <p:nvPr/>
        </p:nvCxnSpPr>
        <p:spPr>
          <a:xfrm flipV="1">
            <a:off x="7008174" y="5058471"/>
            <a:ext cx="1629069" cy="4082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lowchart: Delay 64">
            <a:extLst>
              <a:ext uri="{FF2B5EF4-FFF2-40B4-BE49-F238E27FC236}">
                <a16:creationId xmlns="" xmlns:a16="http://schemas.microsoft.com/office/drawing/2014/main" id="{F225250B-D8B7-B2C0-81D4-899DDB1960A3}"/>
              </a:ext>
            </a:extLst>
          </p:cNvPr>
          <p:cNvSpPr/>
          <p:nvPr/>
        </p:nvSpPr>
        <p:spPr>
          <a:xfrm>
            <a:off x="6156281" y="3710010"/>
            <a:ext cx="925616" cy="1015288"/>
          </a:xfrm>
          <a:prstGeom prst="flowChartDelay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Flowchart: Delay 65">
            <a:extLst>
              <a:ext uri="{FF2B5EF4-FFF2-40B4-BE49-F238E27FC236}">
                <a16:creationId xmlns="" xmlns:a16="http://schemas.microsoft.com/office/drawing/2014/main" id="{235EF6DF-3FFC-DA69-0182-2DB1E4A5801A}"/>
              </a:ext>
            </a:extLst>
          </p:cNvPr>
          <p:cNvSpPr/>
          <p:nvPr/>
        </p:nvSpPr>
        <p:spPr>
          <a:xfrm>
            <a:off x="6156280" y="5018352"/>
            <a:ext cx="851893" cy="1015288"/>
          </a:xfrm>
          <a:prstGeom prst="flowChartDelay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="" xmlns:a16="http://schemas.microsoft.com/office/drawing/2014/main" id="{ECC371D4-41ED-B04B-6267-E34F433EB912}"/>
              </a:ext>
            </a:extLst>
          </p:cNvPr>
          <p:cNvCxnSpPr>
            <a:cxnSpLocks/>
          </p:cNvCxnSpPr>
          <p:nvPr/>
        </p:nvCxnSpPr>
        <p:spPr>
          <a:xfrm>
            <a:off x="5605732" y="2595194"/>
            <a:ext cx="5505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="" xmlns:a16="http://schemas.microsoft.com/office/drawing/2014/main" id="{948474C8-9D82-BDAF-D451-F375D4DC1AB1}"/>
              </a:ext>
            </a:extLst>
          </p:cNvPr>
          <p:cNvCxnSpPr>
            <a:cxnSpLocks/>
          </p:cNvCxnSpPr>
          <p:nvPr/>
        </p:nvCxnSpPr>
        <p:spPr>
          <a:xfrm>
            <a:off x="5605732" y="3140968"/>
            <a:ext cx="615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="" xmlns:a16="http://schemas.microsoft.com/office/drawing/2014/main" id="{0BEE66A4-671C-D491-33AE-E08B4ECD0545}"/>
              </a:ext>
            </a:extLst>
          </p:cNvPr>
          <p:cNvCxnSpPr>
            <a:cxnSpLocks/>
          </p:cNvCxnSpPr>
          <p:nvPr/>
        </p:nvCxnSpPr>
        <p:spPr>
          <a:xfrm>
            <a:off x="5605732" y="3933056"/>
            <a:ext cx="5829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="" xmlns:a16="http://schemas.microsoft.com/office/drawing/2014/main" id="{A0A7B905-4F9A-5B95-EF4D-9FB68561A960}"/>
              </a:ext>
            </a:extLst>
          </p:cNvPr>
          <p:cNvCxnSpPr>
            <a:cxnSpLocks/>
          </p:cNvCxnSpPr>
          <p:nvPr/>
        </p:nvCxnSpPr>
        <p:spPr>
          <a:xfrm>
            <a:off x="5638166" y="4597059"/>
            <a:ext cx="5829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="" xmlns:a16="http://schemas.microsoft.com/office/drawing/2014/main" id="{E6C503B7-EA19-C0A5-0886-A74BE30BDC0B}"/>
              </a:ext>
            </a:extLst>
          </p:cNvPr>
          <p:cNvCxnSpPr>
            <a:cxnSpLocks/>
          </p:cNvCxnSpPr>
          <p:nvPr/>
        </p:nvCxnSpPr>
        <p:spPr>
          <a:xfrm>
            <a:off x="5638166" y="5258170"/>
            <a:ext cx="5829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="" xmlns:a16="http://schemas.microsoft.com/office/drawing/2014/main" id="{79A8FDA5-E399-D4CB-2718-A915192F2948}"/>
              </a:ext>
            </a:extLst>
          </p:cNvPr>
          <p:cNvCxnSpPr>
            <a:cxnSpLocks/>
          </p:cNvCxnSpPr>
          <p:nvPr/>
        </p:nvCxnSpPr>
        <p:spPr>
          <a:xfrm>
            <a:off x="5638166" y="5877272"/>
            <a:ext cx="518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="" xmlns:a16="http://schemas.microsoft.com/office/drawing/2014/main" id="{8BC7F891-0100-7B49-68E9-E3714F90A57F}"/>
              </a:ext>
            </a:extLst>
          </p:cNvPr>
          <p:cNvCxnSpPr>
            <a:cxnSpLocks/>
          </p:cNvCxnSpPr>
          <p:nvPr/>
        </p:nvCxnSpPr>
        <p:spPr>
          <a:xfrm>
            <a:off x="10079918" y="2184589"/>
            <a:ext cx="5829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="" xmlns:a16="http://schemas.microsoft.com/office/drawing/2014/main" id="{CEF3F124-FE4D-AB6E-D4B7-FB18FFB4EB75}"/>
              </a:ext>
            </a:extLst>
          </p:cNvPr>
          <p:cNvCxnSpPr>
            <a:cxnSpLocks/>
          </p:cNvCxnSpPr>
          <p:nvPr/>
        </p:nvCxnSpPr>
        <p:spPr>
          <a:xfrm>
            <a:off x="10079918" y="4814808"/>
            <a:ext cx="5829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="" xmlns:a16="http://schemas.microsoft.com/office/drawing/2014/main" id="{70C92D0D-2AA4-A842-3808-2ED421A397E8}"/>
              </a:ext>
            </a:extLst>
          </p:cNvPr>
          <p:cNvCxnSpPr>
            <a:cxnSpLocks/>
          </p:cNvCxnSpPr>
          <p:nvPr/>
        </p:nvCxnSpPr>
        <p:spPr>
          <a:xfrm flipV="1">
            <a:off x="3890356" y="4351571"/>
            <a:ext cx="556378" cy="20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="" xmlns:a16="http://schemas.microsoft.com/office/drawing/2014/main" id="{1DA4E456-9677-B9B3-1844-B755629DE5C6}"/>
              </a:ext>
            </a:extLst>
          </p:cNvPr>
          <p:cNvCxnSpPr>
            <a:cxnSpLocks/>
          </p:cNvCxnSpPr>
          <p:nvPr/>
        </p:nvCxnSpPr>
        <p:spPr>
          <a:xfrm flipV="1">
            <a:off x="3935760" y="4793777"/>
            <a:ext cx="510974" cy="210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="" xmlns:a16="http://schemas.microsoft.com/office/drawing/2014/main" id="{09937F94-0F7A-65F4-0A11-83BB1F793272}"/>
              </a:ext>
            </a:extLst>
          </p:cNvPr>
          <p:cNvSpPr txBox="1"/>
          <p:nvPr/>
        </p:nvSpPr>
        <p:spPr>
          <a:xfrm>
            <a:off x="3307375" y="4177367"/>
            <a:ext cx="594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add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="" xmlns:a16="http://schemas.microsoft.com/office/drawing/2014/main" id="{66F431C0-7AEF-EF44-F6A9-FF765FC1C2B4}"/>
              </a:ext>
            </a:extLst>
          </p:cNvPr>
          <p:cNvSpPr txBox="1"/>
          <p:nvPr/>
        </p:nvSpPr>
        <p:spPr>
          <a:xfrm>
            <a:off x="3302834" y="4551626"/>
            <a:ext cx="787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+mj-lt"/>
              </a:rPr>
              <a:t>add</a:t>
            </a:r>
            <a:r>
              <a:rPr lang="en-IN" sz="2000" dirty="0" err="1"/>
              <a:t>i</a:t>
            </a:r>
            <a:endParaRPr lang="en-IN" sz="2000" dirty="0"/>
          </a:p>
        </p:txBody>
      </p:sp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78354DEC-59C7-C9D3-1AF4-542049885B2C}"/>
              </a:ext>
            </a:extLst>
          </p:cNvPr>
          <p:cNvSpPr txBox="1"/>
          <p:nvPr/>
        </p:nvSpPr>
        <p:spPr>
          <a:xfrm>
            <a:off x="10669975" y="1976316"/>
            <a:ext cx="833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+mj-lt"/>
              </a:rPr>
              <a:t>C</a:t>
            </a:r>
            <a:r>
              <a:rPr lang="en-IN" dirty="0" err="1">
                <a:latin typeface="+mj-lt"/>
              </a:rPr>
              <a:t>out</a:t>
            </a:r>
            <a:endParaRPr lang="en-IN" dirty="0">
              <a:latin typeface="+mj-lt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85CB707E-3D54-3014-012F-CF9E6016F603}"/>
              </a:ext>
            </a:extLst>
          </p:cNvPr>
          <p:cNvSpPr txBox="1"/>
          <p:nvPr/>
        </p:nvSpPr>
        <p:spPr>
          <a:xfrm>
            <a:off x="10669975" y="4630142"/>
            <a:ext cx="77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+mj-lt"/>
              </a:rPr>
              <a:t>Gra</a:t>
            </a:r>
            <a:endParaRPr lang="en-IN" dirty="0">
              <a:latin typeface="+mj-lt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="" xmlns:a16="http://schemas.microsoft.com/office/drawing/2014/main" id="{0FC799B2-74BC-08DF-C1D6-367193006E9D}"/>
              </a:ext>
            </a:extLst>
          </p:cNvPr>
          <p:cNvSpPr txBox="1"/>
          <p:nvPr/>
        </p:nvSpPr>
        <p:spPr>
          <a:xfrm>
            <a:off x="6843327" y="1310987"/>
            <a:ext cx="1169916" cy="37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="" xmlns:a16="http://schemas.microsoft.com/office/drawing/2014/main" id="{676ACB0B-F285-3018-A437-BC5B16CFA235}"/>
              </a:ext>
            </a:extLst>
          </p:cNvPr>
          <p:cNvSpPr txBox="1"/>
          <p:nvPr/>
        </p:nvSpPr>
        <p:spPr>
          <a:xfrm>
            <a:off x="5200679" y="2423277"/>
            <a:ext cx="754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="" xmlns:a16="http://schemas.microsoft.com/office/drawing/2014/main" id="{616A0A62-D01A-23B0-6216-A119832BA3D1}"/>
              </a:ext>
            </a:extLst>
          </p:cNvPr>
          <p:cNvSpPr txBox="1"/>
          <p:nvPr/>
        </p:nvSpPr>
        <p:spPr>
          <a:xfrm>
            <a:off x="5070855" y="2956302"/>
            <a:ext cx="65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add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="" xmlns:a16="http://schemas.microsoft.com/office/drawing/2014/main" id="{FA15F0B8-A709-5F9E-7797-CFC192E745FD}"/>
              </a:ext>
            </a:extLst>
          </p:cNvPr>
          <p:cNvSpPr txBox="1"/>
          <p:nvPr/>
        </p:nvSpPr>
        <p:spPr>
          <a:xfrm>
            <a:off x="5206389" y="3716490"/>
            <a:ext cx="92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T5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="" xmlns:a16="http://schemas.microsoft.com/office/drawing/2014/main" id="{1A29DDB0-F521-4864-DD47-82AA5254E4D1}"/>
              </a:ext>
            </a:extLst>
          </p:cNvPr>
          <p:cNvSpPr txBox="1"/>
          <p:nvPr/>
        </p:nvSpPr>
        <p:spPr>
          <a:xfrm>
            <a:off x="5245692" y="505847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T7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="" xmlns:a16="http://schemas.microsoft.com/office/drawing/2014/main" id="{84447CBC-F07C-AD55-98EB-DB297491FDDA}"/>
              </a:ext>
            </a:extLst>
          </p:cNvPr>
          <p:cNvSpPr txBox="1"/>
          <p:nvPr/>
        </p:nvSpPr>
        <p:spPr>
          <a:xfrm>
            <a:off x="5300815" y="5688211"/>
            <a:ext cx="97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Id</a:t>
            </a:r>
          </a:p>
        </p:txBody>
      </p:sp>
      <p:sp>
        <p:nvSpPr>
          <p:cNvPr id="115" name="Flowchart: Stored Data 114">
            <a:extLst>
              <a:ext uri="{FF2B5EF4-FFF2-40B4-BE49-F238E27FC236}">
                <a16:creationId xmlns="" xmlns:a16="http://schemas.microsoft.com/office/drawing/2014/main" id="{8C45764E-041E-8B86-2391-F5EB3FF5F840}"/>
              </a:ext>
            </a:extLst>
          </p:cNvPr>
          <p:cNvSpPr/>
          <p:nvPr/>
        </p:nvSpPr>
        <p:spPr>
          <a:xfrm flipH="1">
            <a:off x="8402492" y="4288282"/>
            <a:ext cx="1660603" cy="1102451"/>
          </a:xfrm>
          <a:prstGeom prst="flowChartOnlineStorag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Flowchart: Stored Data 115">
            <a:extLst>
              <a:ext uri="{FF2B5EF4-FFF2-40B4-BE49-F238E27FC236}">
                <a16:creationId xmlns="" xmlns:a16="http://schemas.microsoft.com/office/drawing/2014/main" id="{C9D800F9-E955-013B-12D8-C037BD9C7C72}"/>
              </a:ext>
            </a:extLst>
          </p:cNvPr>
          <p:cNvSpPr/>
          <p:nvPr/>
        </p:nvSpPr>
        <p:spPr>
          <a:xfrm flipH="1">
            <a:off x="4003444" y="4054349"/>
            <a:ext cx="1660603" cy="1067060"/>
          </a:xfrm>
          <a:prstGeom prst="flowChartOnlineStorag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EEB04969-6523-19F6-0169-9D1BCF439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9" name="Flowchart: Stored Data 8">
            <a:extLst>
              <a:ext uri="{FF2B5EF4-FFF2-40B4-BE49-F238E27FC236}">
                <a16:creationId xmlns="" xmlns:a16="http://schemas.microsoft.com/office/drawing/2014/main" id="{92DC787F-85FA-F58E-648D-E2AE45646C88}"/>
              </a:ext>
            </a:extLst>
          </p:cNvPr>
          <p:cNvSpPr/>
          <p:nvPr/>
        </p:nvSpPr>
        <p:spPr>
          <a:xfrm flipH="1">
            <a:off x="8603970" y="1785763"/>
            <a:ext cx="1660603" cy="1102451"/>
          </a:xfrm>
          <a:prstGeom prst="flowChartOnlineStorag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Connector: Elbow 10">
            <a:extLst>
              <a:ext uri="{FF2B5EF4-FFF2-40B4-BE49-F238E27FC236}">
                <a16:creationId xmlns="" xmlns:a16="http://schemas.microsoft.com/office/drawing/2014/main" id="{5AC627CE-D004-2A40-B301-C20B40886A68}"/>
              </a:ext>
            </a:extLst>
          </p:cNvPr>
          <p:cNvCxnSpPr/>
          <p:nvPr/>
        </p:nvCxnSpPr>
        <p:spPr>
          <a:xfrm>
            <a:off x="7381017" y="1653234"/>
            <a:ext cx="1440160" cy="461673"/>
          </a:xfrm>
          <a:prstGeom prst="bentConnector3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="" xmlns:a16="http://schemas.microsoft.com/office/drawing/2014/main" id="{F34CE1F7-2CAA-9A94-A3E9-90CCA1AD098D}"/>
              </a:ext>
            </a:extLst>
          </p:cNvPr>
          <p:cNvCxnSpPr>
            <a:cxnSpLocks/>
          </p:cNvCxnSpPr>
          <p:nvPr/>
        </p:nvCxnSpPr>
        <p:spPr>
          <a:xfrm flipV="1">
            <a:off x="7280599" y="2625377"/>
            <a:ext cx="1581001" cy="33092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Flowchart: Delay 12">
            <a:extLst>
              <a:ext uri="{FF2B5EF4-FFF2-40B4-BE49-F238E27FC236}">
                <a16:creationId xmlns="" xmlns:a16="http://schemas.microsoft.com/office/drawing/2014/main" id="{C16D90E6-A41F-9232-2AA0-92F86261121E}"/>
              </a:ext>
            </a:extLst>
          </p:cNvPr>
          <p:cNvSpPr/>
          <p:nvPr/>
        </p:nvSpPr>
        <p:spPr>
          <a:xfrm>
            <a:off x="6319927" y="2569304"/>
            <a:ext cx="960672" cy="101528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="" xmlns:a16="http://schemas.microsoft.com/office/drawing/2014/main" id="{D3FE44D4-31DC-3CC0-C161-4E03ACCE0BDC}"/>
              </a:ext>
            </a:extLst>
          </p:cNvPr>
          <p:cNvCxnSpPr>
            <a:cxnSpLocks/>
          </p:cNvCxnSpPr>
          <p:nvPr/>
        </p:nvCxnSpPr>
        <p:spPr>
          <a:xfrm>
            <a:off x="7160574" y="4234999"/>
            <a:ext cx="1660603" cy="53794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="" xmlns:a16="http://schemas.microsoft.com/office/drawing/2014/main" id="{6BEAF0B4-8785-C5FC-5EE5-97C73C50F42E}"/>
              </a:ext>
            </a:extLst>
          </p:cNvPr>
          <p:cNvCxnSpPr>
            <a:cxnSpLocks/>
          </p:cNvCxnSpPr>
          <p:nvPr/>
        </p:nvCxnSpPr>
        <p:spPr>
          <a:xfrm flipV="1">
            <a:off x="7160574" y="5210871"/>
            <a:ext cx="1629069" cy="40821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Flowchart: Delay 21">
            <a:extLst>
              <a:ext uri="{FF2B5EF4-FFF2-40B4-BE49-F238E27FC236}">
                <a16:creationId xmlns="" xmlns:a16="http://schemas.microsoft.com/office/drawing/2014/main" id="{16F5246F-3BEC-EF8B-C85C-775F66109306}"/>
              </a:ext>
            </a:extLst>
          </p:cNvPr>
          <p:cNvSpPr/>
          <p:nvPr/>
        </p:nvSpPr>
        <p:spPr>
          <a:xfrm>
            <a:off x="6308681" y="3862410"/>
            <a:ext cx="925616" cy="101528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Delay 22">
            <a:extLst>
              <a:ext uri="{FF2B5EF4-FFF2-40B4-BE49-F238E27FC236}">
                <a16:creationId xmlns="" xmlns:a16="http://schemas.microsoft.com/office/drawing/2014/main" id="{19D11CF4-AB13-8B2F-7D7C-EB96DD762A8E}"/>
              </a:ext>
            </a:extLst>
          </p:cNvPr>
          <p:cNvSpPr/>
          <p:nvPr/>
        </p:nvSpPr>
        <p:spPr>
          <a:xfrm>
            <a:off x="6308680" y="5170752"/>
            <a:ext cx="851893" cy="1015288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EBB5DE25-EDB0-E111-C6BF-38C5398C053C}"/>
              </a:ext>
            </a:extLst>
          </p:cNvPr>
          <p:cNvCxnSpPr>
            <a:cxnSpLocks/>
          </p:cNvCxnSpPr>
          <p:nvPr/>
        </p:nvCxnSpPr>
        <p:spPr>
          <a:xfrm>
            <a:off x="5758132" y="2747594"/>
            <a:ext cx="55054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FE7BDCEC-F0AF-E731-9851-DBE6510115CF}"/>
              </a:ext>
            </a:extLst>
          </p:cNvPr>
          <p:cNvCxnSpPr>
            <a:cxnSpLocks/>
          </p:cNvCxnSpPr>
          <p:nvPr/>
        </p:nvCxnSpPr>
        <p:spPr>
          <a:xfrm>
            <a:off x="5758132" y="3293368"/>
            <a:ext cx="55054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F126596C-605E-5EA3-AFFE-8569F2A6C2BB}"/>
              </a:ext>
            </a:extLst>
          </p:cNvPr>
          <p:cNvCxnSpPr>
            <a:cxnSpLocks/>
          </p:cNvCxnSpPr>
          <p:nvPr/>
        </p:nvCxnSpPr>
        <p:spPr>
          <a:xfrm>
            <a:off x="5758132" y="4085456"/>
            <a:ext cx="55054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46596052-CEAD-3436-8127-E54B5CB87BF5}"/>
              </a:ext>
            </a:extLst>
          </p:cNvPr>
          <p:cNvCxnSpPr>
            <a:cxnSpLocks/>
          </p:cNvCxnSpPr>
          <p:nvPr/>
        </p:nvCxnSpPr>
        <p:spPr>
          <a:xfrm>
            <a:off x="5790566" y="4749459"/>
            <a:ext cx="518114" cy="2348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5B5DB41F-281D-C642-F025-75BB3CFF18EF}"/>
              </a:ext>
            </a:extLst>
          </p:cNvPr>
          <p:cNvCxnSpPr>
            <a:cxnSpLocks/>
          </p:cNvCxnSpPr>
          <p:nvPr/>
        </p:nvCxnSpPr>
        <p:spPr>
          <a:xfrm>
            <a:off x="5825205" y="5428944"/>
            <a:ext cx="475111" cy="72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C3EBC137-161C-337B-5898-0618DEE93E86}"/>
              </a:ext>
            </a:extLst>
          </p:cNvPr>
          <p:cNvCxnSpPr>
            <a:cxnSpLocks/>
          </p:cNvCxnSpPr>
          <p:nvPr/>
        </p:nvCxnSpPr>
        <p:spPr>
          <a:xfrm>
            <a:off x="5790566" y="6029672"/>
            <a:ext cx="51811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DA6743A5-26C6-7ADE-3EB5-A4FCA1C0928C}"/>
              </a:ext>
            </a:extLst>
          </p:cNvPr>
          <p:cNvCxnSpPr>
            <a:cxnSpLocks/>
          </p:cNvCxnSpPr>
          <p:nvPr/>
        </p:nvCxnSpPr>
        <p:spPr>
          <a:xfrm>
            <a:off x="10232318" y="2336989"/>
            <a:ext cx="58298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089222F9-FFC9-D5F2-8748-EC2C2C3F81D3}"/>
              </a:ext>
            </a:extLst>
          </p:cNvPr>
          <p:cNvCxnSpPr>
            <a:cxnSpLocks/>
          </p:cNvCxnSpPr>
          <p:nvPr/>
        </p:nvCxnSpPr>
        <p:spPr>
          <a:xfrm>
            <a:off x="10232318" y="4967208"/>
            <a:ext cx="58298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="" xmlns:a16="http://schemas.microsoft.com/office/drawing/2014/main" id="{700821E0-8236-F12F-C449-15900CD4E711}"/>
              </a:ext>
            </a:extLst>
          </p:cNvPr>
          <p:cNvCxnSpPr>
            <a:cxnSpLocks/>
          </p:cNvCxnSpPr>
          <p:nvPr/>
        </p:nvCxnSpPr>
        <p:spPr>
          <a:xfrm flipV="1">
            <a:off x="4042756" y="4524635"/>
            <a:ext cx="350881" cy="2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="" xmlns:a16="http://schemas.microsoft.com/office/drawing/2014/main" id="{C52A1D09-6E5C-294C-B42D-4B4D6B6D9CA1}"/>
              </a:ext>
            </a:extLst>
          </p:cNvPr>
          <p:cNvCxnSpPr>
            <a:cxnSpLocks/>
          </p:cNvCxnSpPr>
          <p:nvPr/>
        </p:nvCxnSpPr>
        <p:spPr>
          <a:xfrm>
            <a:off x="4049821" y="4951736"/>
            <a:ext cx="34381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6F907FD6-F8ED-1C91-FCC1-82E6608170B7}"/>
              </a:ext>
            </a:extLst>
          </p:cNvPr>
          <p:cNvSpPr txBox="1"/>
          <p:nvPr/>
        </p:nvSpPr>
        <p:spPr>
          <a:xfrm>
            <a:off x="3459775" y="4329767"/>
            <a:ext cx="594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33CC"/>
                </a:solidFill>
                <a:latin typeface="+mj-lt"/>
              </a:rPr>
              <a:t>add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DE30D409-E0BD-E64E-25DC-8D9F4B64BB41}"/>
              </a:ext>
            </a:extLst>
          </p:cNvPr>
          <p:cNvSpPr txBox="1"/>
          <p:nvPr/>
        </p:nvSpPr>
        <p:spPr>
          <a:xfrm>
            <a:off x="3455234" y="4704026"/>
            <a:ext cx="787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0033CC"/>
                </a:solidFill>
                <a:latin typeface="+mj-lt"/>
              </a:rPr>
              <a:t>add</a:t>
            </a:r>
            <a:r>
              <a:rPr lang="en-IN" sz="2000" dirty="0" err="1">
                <a:solidFill>
                  <a:srgbClr val="0033CC"/>
                </a:solidFill>
              </a:rPr>
              <a:t>i</a:t>
            </a:r>
            <a:endParaRPr lang="en-IN" sz="2000" dirty="0">
              <a:solidFill>
                <a:srgbClr val="0033CC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8D89914E-81D1-00EC-23D2-0F3DE805C7DA}"/>
              </a:ext>
            </a:extLst>
          </p:cNvPr>
          <p:cNvSpPr txBox="1"/>
          <p:nvPr/>
        </p:nvSpPr>
        <p:spPr>
          <a:xfrm>
            <a:off x="10822375" y="2128716"/>
            <a:ext cx="833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0033CC"/>
                </a:solidFill>
                <a:latin typeface="+mj-lt"/>
              </a:rPr>
              <a:t>C</a:t>
            </a:r>
            <a:r>
              <a:rPr lang="en-IN" dirty="0" err="1">
                <a:solidFill>
                  <a:srgbClr val="0033CC"/>
                </a:solidFill>
                <a:latin typeface="+mj-lt"/>
              </a:rPr>
              <a:t>out</a:t>
            </a:r>
            <a:endParaRPr lang="en-IN" dirty="0">
              <a:solidFill>
                <a:srgbClr val="0033CC"/>
              </a:solidFill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C43A2D2-970F-6416-5288-81F9AA4C78BA}"/>
              </a:ext>
            </a:extLst>
          </p:cNvPr>
          <p:cNvSpPr txBox="1"/>
          <p:nvPr/>
        </p:nvSpPr>
        <p:spPr>
          <a:xfrm>
            <a:off x="10822375" y="4782542"/>
            <a:ext cx="77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0033CC"/>
                </a:solidFill>
                <a:latin typeface="+mj-lt"/>
              </a:rPr>
              <a:t>Gra</a:t>
            </a:r>
            <a:endParaRPr lang="en-IN" dirty="0">
              <a:solidFill>
                <a:srgbClr val="0033CC"/>
              </a:solidFill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9BD63644-F749-B4F1-749E-2EDDF44EF358}"/>
              </a:ext>
            </a:extLst>
          </p:cNvPr>
          <p:cNvSpPr txBox="1"/>
          <p:nvPr/>
        </p:nvSpPr>
        <p:spPr>
          <a:xfrm>
            <a:off x="6995727" y="1463387"/>
            <a:ext cx="1169916" cy="37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</a:rPr>
              <a:t>T1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15E78DC3-7737-B8E9-DD9E-11D67DE5770B}"/>
              </a:ext>
            </a:extLst>
          </p:cNvPr>
          <p:cNvSpPr txBox="1"/>
          <p:nvPr/>
        </p:nvSpPr>
        <p:spPr>
          <a:xfrm>
            <a:off x="5353079" y="2575677"/>
            <a:ext cx="754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  <a:latin typeface="+mj-lt"/>
              </a:rPr>
              <a:t>T5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16E76D2-25AE-5FC8-CBCD-677C0F60AAA5}"/>
              </a:ext>
            </a:extLst>
          </p:cNvPr>
          <p:cNvSpPr txBox="1"/>
          <p:nvPr/>
        </p:nvSpPr>
        <p:spPr>
          <a:xfrm>
            <a:off x="5223255" y="3108702"/>
            <a:ext cx="65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  <a:latin typeface="+mj-lt"/>
              </a:rPr>
              <a:t>add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8C757BAF-C747-9363-20F5-66082F7D5ADD}"/>
              </a:ext>
            </a:extLst>
          </p:cNvPr>
          <p:cNvSpPr txBox="1"/>
          <p:nvPr/>
        </p:nvSpPr>
        <p:spPr>
          <a:xfrm>
            <a:off x="5245728" y="3868344"/>
            <a:ext cx="92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</a:rPr>
              <a:t> T5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37D330C3-4218-C86E-B223-E2169445C06E}"/>
              </a:ext>
            </a:extLst>
          </p:cNvPr>
          <p:cNvSpPr txBox="1"/>
          <p:nvPr/>
        </p:nvSpPr>
        <p:spPr>
          <a:xfrm>
            <a:off x="5398092" y="521087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  <a:latin typeface="+mj-lt"/>
              </a:rPr>
              <a:t> T7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8C42B23C-6EEB-CA68-A015-7B55023B5744}"/>
              </a:ext>
            </a:extLst>
          </p:cNvPr>
          <p:cNvSpPr txBox="1"/>
          <p:nvPr/>
        </p:nvSpPr>
        <p:spPr>
          <a:xfrm>
            <a:off x="5449684" y="5824527"/>
            <a:ext cx="97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33CC"/>
                </a:solidFill>
                <a:latin typeface="+mj-lt"/>
              </a:rPr>
              <a:t>Id</a:t>
            </a:r>
          </a:p>
        </p:txBody>
      </p:sp>
      <p:sp>
        <p:nvSpPr>
          <p:cNvPr id="53" name="Flowchart: Stored Data 52">
            <a:extLst>
              <a:ext uri="{FF2B5EF4-FFF2-40B4-BE49-F238E27FC236}">
                <a16:creationId xmlns="" xmlns:a16="http://schemas.microsoft.com/office/drawing/2014/main" id="{068773F4-F331-4FD4-C42F-595F015ADF23}"/>
              </a:ext>
            </a:extLst>
          </p:cNvPr>
          <p:cNvSpPr/>
          <p:nvPr/>
        </p:nvSpPr>
        <p:spPr>
          <a:xfrm flipH="1">
            <a:off x="8554892" y="4440682"/>
            <a:ext cx="1660603" cy="1102451"/>
          </a:xfrm>
          <a:prstGeom prst="flowChartOnlineStorag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Flowchart: Stored Data 53">
            <a:extLst>
              <a:ext uri="{FF2B5EF4-FFF2-40B4-BE49-F238E27FC236}">
                <a16:creationId xmlns="" xmlns:a16="http://schemas.microsoft.com/office/drawing/2014/main" id="{0CA9BBD7-9915-10C0-843F-996F7D49F1A2}"/>
              </a:ext>
            </a:extLst>
          </p:cNvPr>
          <p:cNvSpPr/>
          <p:nvPr/>
        </p:nvSpPr>
        <p:spPr>
          <a:xfrm flipH="1">
            <a:off x="4155844" y="4206749"/>
            <a:ext cx="1660603" cy="1067060"/>
          </a:xfrm>
          <a:prstGeom prst="flowChartOnlineStorag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738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E3AFCA48-7129-9711-5840-36CD023D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39E7042E-5045-5809-DCBC-B0C6F712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j-lt"/>
              </a:rPr>
              <a:t>Overview of Control Unit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A24FBC4-DCDA-B0C7-BC7C-FF3B06450B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sz="1800" dirty="0"/>
              <a:t>Control Unit (C.U.)</a:t>
            </a:r>
          </a:p>
          <a:p>
            <a:r>
              <a:rPr lang="en-GB" altLang="en-US" sz="1800" dirty="0"/>
              <a:t>Inputs and Outputs</a:t>
            </a:r>
          </a:p>
          <a:p>
            <a:pPr lvl="1"/>
            <a:r>
              <a:rPr lang="en-GB" altLang="en-US" sz="1600" dirty="0"/>
              <a:t>Inputs</a:t>
            </a:r>
          </a:p>
          <a:p>
            <a:pPr lvl="1"/>
            <a:r>
              <a:rPr lang="en-US" sz="1600" dirty="0"/>
              <a:t>Outputs</a:t>
            </a:r>
          </a:p>
          <a:p>
            <a:r>
              <a:rPr lang="en-US" sz="1800" dirty="0"/>
              <a:t>Implementation of CU</a:t>
            </a:r>
          </a:p>
          <a:p>
            <a:pPr lvl="1"/>
            <a:r>
              <a:rPr lang="en-US" sz="1600" dirty="0"/>
              <a:t>Hardwired</a:t>
            </a:r>
          </a:p>
          <a:p>
            <a:pPr lvl="1"/>
            <a:r>
              <a:rPr lang="en-US" sz="1600" dirty="0"/>
              <a:t>Micro Programmed</a:t>
            </a:r>
          </a:p>
          <a:p>
            <a:r>
              <a:rPr lang="en-US" sz="1800" dirty="0"/>
              <a:t>Hardwired Control Unit</a:t>
            </a:r>
          </a:p>
          <a:p>
            <a:pPr lvl="1"/>
            <a:r>
              <a:rPr lang="en-US" sz="1600" dirty="0"/>
              <a:t>Control sequence</a:t>
            </a:r>
          </a:p>
          <a:p>
            <a:pPr lvl="1"/>
            <a:r>
              <a:rPr lang="en-US" sz="1600" dirty="0"/>
              <a:t>Boolean expression for control signal</a:t>
            </a:r>
          </a:p>
          <a:p>
            <a:pPr lvl="1"/>
            <a:r>
              <a:rPr lang="en-US" sz="1600" dirty="0"/>
              <a:t>Circuitry design for control signal </a:t>
            </a:r>
            <a:r>
              <a:rPr lang="en-US" sz="1600" dirty="0" err="1"/>
              <a:t>Cout</a:t>
            </a:r>
            <a:endParaRPr lang="en-US" sz="1600" dirty="0"/>
          </a:p>
          <a:p>
            <a:pPr lvl="2"/>
            <a:r>
              <a:rPr lang="en-IN" sz="1400" dirty="0"/>
              <a:t>Examples</a:t>
            </a:r>
          </a:p>
          <a:p>
            <a:pPr lvl="1"/>
            <a:r>
              <a:rPr lang="en-IN" dirty="0"/>
              <a:t>Overall view of C.U.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732E17F-A85F-0412-3871-EF65835F1764}"/>
              </a:ext>
            </a:extLst>
          </p:cNvPr>
          <p:cNvSpPr/>
          <p:nvPr/>
        </p:nvSpPr>
        <p:spPr>
          <a:xfrm>
            <a:off x="3791744" y="2895504"/>
            <a:ext cx="2154525" cy="20158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ED682AA-934F-27FC-28B5-66383B77C6A1}"/>
              </a:ext>
            </a:extLst>
          </p:cNvPr>
          <p:cNvSpPr/>
          <p:nvPr/>
        </p:nvSpPr>
        <p:spPr>
          <a:xfrm>
            <a:off x="3897722" y="3405224"/>
            <a:ext cx="472442" cy="1041614"/>
          </a:xfrm>
          <a:prstGeom prst="rect">
            <a:avLst/>
          </a:prstGeom>
          <a:gradFill>
            <a:gsLst>
              <a:gs pos="0">
                <a:schemeClr val="accent3">
                  <a:shade val="15000"/>
                  <a:satMod val="180000"/>
                  <a:lumMod val="96000"/>
                  <a:lumOff val="4000"/>
                </a:schemeClr>
              </a:gs>
              <a:gs pos="50000">
                <a:schemeClr val="accent3">
                  <a:shade val="45000"/>
                  <a:satMod val="170000"/>
                </a:schemeClr>
              </a:gs>
              <a:gs pos="70000">
                <a:schemeClr val="accent3">
                  <a:tint val="99000"/>
                  <a:shade val="65000"/>
                  <a:satMod val="155000"/>
                </a:schemeClr>
              </a:gs>
              <a:gs pos="100000">
                <a:schemeClr val="accent3">
                  <a:tint val="95500"/>
                  <a:shade val="100000"/>
                  <a:satMod val="155000"/>
                </a:schemeClr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 dirty="0">
                <a:latin typeface="+mj-lt"/>
              </a:rPr>
              <a:t>Counter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91733B4-0392-06E4-86FE-05F08200484E}"/>
              </a:ext>
            </a:extLst>
          </p:cNvPr>
          <p:cNvSpPr/>
          <p:nvPr/>
        </p:nvSpPr>
        <p:spPr>
          <a:xfrm>
            <a:off x="4765051" y="3198812"/>
            <a:ext cx="994285" cy="147366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+mj-lt"/>
              </a:rPr>
              <a:t>control</a:t>
            </a:r>
          </a:p>
          <a:p>
            <a:pPr algn="ctr"/>
            <a:r>
              <a:rPr lang="en-GB" sz="1400" b="1" dirty="0">
                <a:latin typeface="+mj-lt"/>
              </a:rPr>
              <a:t>step</a:t>
            </a:r>
          </a:p>
          <a:p>
            <a:pPr algn="ctr"/>
            <a:r>
              <a:rPr lang="en-GB" sz="1400" b="1" dirty="0">
                <a:latin typeface="+mj-lt"/>
              </a:rPr>
              <a:t>decoder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0097F65-82DD-7AB3-A764-89717F7E4274}"/>
              </a:ext>
            </a:extLst>
          </p:cNvPr>
          <p:cNvSpPr/>
          <p:nvPr/>
        </p:nvSpPr>
        <p:spPr>
          <a:xfrm>
            <a:off x="4007768" y="2130701"/>
            <a:ext cx="1441359" cy="36004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+mj-lt"/>
              </a:rPr>
              <a:t>Clocking logic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9B121DE-133E-A6F9-3EE4-F94A5D76E0DA}"/>
              </a:ext>
            </a:extLst>
          </p:cNvPr>
          <p:cNvSpPr txBox="1"/>
          <p:nvPr/>
        </p:nvSpPr>
        <p:spPr>
          <a:xfrm>
            <a:off x="4379930" y="2539234"/>
            <a:ext cx="7797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Enable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8E59F3EF-6E71-17FF-B761-61C524A5172C}"/>
              </a:ext>
            </a:extLst>
          </p:cNvPr>
          <p:cNvSpPr txBox="1"/>
          <p:nvPr/>
        </p:nvSpPr>
        <p:spPr>
          <a:xfrm>
            <a:off x="3060442" y="3569272"/>
            <a:ext cx="83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>
                <a:solidFill>
                  <a:srgbClr val="0000FF"/>
                </a:solidFill>
                <a:latin typeface="+mj-lt"/>
              </a:rPr>
              <a:t>Countin</a:t>
            </a:r>
            <a:endParaRPr lang="en-GB" sz="1400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5EE00D9B-3CC3-3F1E-C5E8-BE2F50EB8238}"/>
              </a:ext>
            </a:extLst>
          </p:cNvPr>
          <p:cNvSpPr txBox="1"/>
          <p:nvPr/>
        </p:nvSpPr>
        <p:spPr>
          <a:xfrm>
            <a:off x="4638781" y="2908108"/>
            <a:ext cx="1371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+mj-lt"/>
              </a:rPr>
              <a:t>Step generator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10F4A3A8-EF24-C4B6-C32E-1C1D92E53FA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250470" y="3903442"/>
            <a:ext cx="541274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FE3E686-C58D-848B-3494-CD681FBE1B09}"/>
              </a:ext>
            </a:extLst>
          </p:cNvPr>
          <p:cNvSpPr txBox="1"/>
          <p:nvPr/>
        </p:nvSpPr>
        <p:spPr>
          <a:xfrm>
            <a:off x="3478525" y="3927330"/>
            <a:ext cx="313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EE7F3059-EFF6-5D8E-49AF-CDD66047EE86}"/>
              </a:ext>
            </a:extLst>
          </p:cNvPr>
          <p:cNvSpPr/>
          <p:nvPr/>
        </p:nvSpPr>
        <p:spPr>
          <a:xfrm>
            <a:off x="6142539" y="2910492"/>
            <a:ext cx="4208175" cy="20158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946CC977-0083-0391-ADF6-D3284B6CBCFC}"/>
              </a:ext>
            </a:extLst>
          </p:cNvPr>
          <p:cNvSpPr/>
          <p:nvPr/>
        </p:nvSpPr>
        <p:spPr>
          <a:xfrm>
            <a:off x="10776520" y="2918093"/>
            <a:ext cx="1321463" cy="201587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+mj-lt"/>
              </a:rPr>
              <a:t>Interrupts and other external signals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45A70C4-CD66-8EBB-DC40-137C08AC8178}"/>
              </a:ext>
            </a:extLst>
          </p:cNvPr>
          <p:cNvSpPr/>
          <p:nvPr/>
        </p:nvSpPr>
        <p:spPr>
          <a:xfrm>
            <a:off x="6003886" y="1481984"/>
            <a:ext cx="1193820" cy="36004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+mj-lt"/>
              </a:rPr>
              <a:t>OpCode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F0FD295F-F818-5F5F-467E-B65DF454846A}"/>
              </a:ext>
            </a:extLst>
          </p:cNvPr>
          <p:cNvSpPr/>
          <p:nvPr/>
        </p:nvSpPr>
        <p:spPr>
          <a:xfrm>
            <a:off x="7248128" y="1481984"/>
            <a:ext cx="1193820" cy="36004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+mj-lt"/>
              </a:rPr>
              <a:t>IR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78109550-3DB5-B07F-4B56-2633AFED3923}"/>
              </a:ext>
            </a:extLst>
          </p:cNvPr>
          <p:cNvSpPr/>
          <p:nvPr/>
        </p:nvSpPr>
        <p:spPr>
          <a:xfrm>
            <a:off x="8492370" y="1481984"/>
            <a:ext cx="1564069" cy="722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+mj-lt"/>
              </a:rPr>
              <a:t>Other signals from the data path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84A3530C-FE41-D35E-18F8-74286FC2B057}"/>
              </a:ext>
            </a:extLst>
          </p:cNvPr>
          <p:cNvSpPr/>
          <p:nvPr/>
        </p:nvSpPr>
        <p:spPr>
          <a:xfrm>
            <a:off x="7248128" y="1886996"/>
            <a:ext cx="1193820" cy="36004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+mj-lt"/>
              </a:rPr>
              <a:t>Decoder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C45D129F-9A58-BBDE-2B44-6D0AA21ED369}"/>
              </a:ext>
            </a:extLst>
          </p:cNvPr>
          <p:cNvCxnSpPr/>
          <p:nvPr/>
        </p:nvCxnSpPr>
        <p:spPr>
          <a:xfrm>
            <a:off x="4223792" y="1662004"/>
            <a:ext cx="0" cy="46869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CB41EB6E-4E51-9D67-65F3-F0F09B174ADF}"/>
              </a:ext>
            </a:extLst>
          </p:cNvPr>
          <p:cNvCxnSpPr/>
          <p:nvPr/>
        </p:nvCxnSpPr>
        <p:spPr>
          <a:xfrm>
            <a:off x="4583832" y="1678338"/>
            <a:ext cx="0" cy="46869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="" xmlns:a16="http://schemas.microsoft.com/office/drawing/2014/main" id="{3681CD05-8953-169E-ABB0-FCDA2AE8087B}"/>
              </a:ext>
            </a:extLst>
          </p:cNvPr>
          <p:cNvCxnSpPr/>
          <p:nvPr/>
        </p:nvCxnSpPr>
        <p:spPr>
          <a:xfrm>
            <a:off x="4943872" y="1676011"/>
            <a:ext cx="0" cy="46869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AD06A505-7CD2-1FB4-E1AE-44B96DDDD803}"/>
              </a:ext>
            </a:extLst>
          </p:cNvPr>
          <p:cNvCxnSpPr/>
          <p:nvPr/>
        </p:nvCxnSpPr>
        <p:spPr>
          <a:xfrm>
            <a:off x="5326162" y="1676010"/>
            <a:ext cx="0" cy="46869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70BC4D2B-064B-6D5C-D678-C4882729C2D8}"/>
              </a:ext>
            </a:extLst>
          </p:cNvPr>
          <p:cNvSpPr txBox="1"/>
          <p:nvPr/>
        </p:nvSpPr>
        <p:spPr>
          <a:xfrm>
            <a:off x="4266149" y="1438915"/>
            <a:ext cx="554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Start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B0639954-FA93-2BF8-BE6F-89E68AE43479}"/>
              </a:ext>
            </a:extLst>
          </p:cNvPr>
          <p:cNvSpPr txBox="1"/>
          <p:nvPr/>
        </p:nvSpPr>
        <p:spPr>
          <a:xfrm>
            <a:off x="3626200" y="1438915"/>
            <a:ext cx="7116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Master</a:t>
            </a:r>
          </a:p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Clock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B975FE57-A34E-F545-7F24-999C666F39BB}"/>
              </a:ext>
            </a:extLst>
          </p:cNvPr>
          <p:cNvSpPr txBox="1"/>
          <p:nvPr/>
        </p:nvSpPr>
        <p:spPr>
          <a:xfrm>
            <a:off x="4698795" y="1443771"/>
            <a:ext cx="554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Wait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3AFF0A1B-C525-F79C-B790-F865B99361B9}"/>
              </a:ext>
            </a:extLst>
          </p:cNvPr>
          <p:cNvSpPr txBox="1"/>
          <p:nvPr/>
        </p:nvSpPr>
        <p:spPr>
          <a:xfrm>
            <a:off x="5123631" y="1437104"/>
            <a:ext cx="627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Done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="" xmlns:a16="http://schemas.microsoft.com/office/drawing/2014/main" id="{81729184-9296-C939-EC30-B424BAE73F37}"/>
              </a:ext>
            </a:extLst>
          </p:cNvPr>
          <p:cNvCxnSpPr>
            <a:cxnSpLocks/>
          </p:cNvCxnSpPr>
          <p:nvPr/>
        </p:nvCxnSpPr>
        <p:spPr>
          <a:xfrm>
            <a:off x="4080975" y="2490741"/>
            <a:ext cx="0" cy="91448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652DDA31-6103-9855-3780-E7763A44278E}"/>
              </a:ext>
            </a:extLst>
          </p:cNvPr>
          <p:cNvCxnSpPr>
            <a:cxnSpLocks/>
          </p:cNvCxnSpPr>
          <p:nvPr/>
        </p:nvCxnSpPr>
        <p:spPr>
          <a:xfrm>
            <a:off x="4249061" y="2490741"/>
            <a:ext cx="0" cy="91448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E5175B36-C4A6-C85B-F20D-DC2882A7BC63}"/>
              </a:ext>
            </a:extLst>
          </p:cNvPr>
          <p:cNvCxnSpPr>
            <a:cxnSpLocks/>
          </p:cNvCxnSpPr>
          <p:nvPr/>
        </p:nvCxnSpPr>
        <p:spPr>
          <a:xfrm>
            <a:off x="4055706" y="4466742"/>
            <a:ext cx="0" cy="91448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="" xmlns:a16="http://schemas.microsoft.com/office/drawing/2014/main" id="{64ED0812-6F8A-9A54-57E8-632FD6AF9E98}"/>
              </a:ext>
            </a:extLst>
          </p:cNvPr>
          <p:cNvCxnSpPr>
            <a:cxnSpLocks/>
          </p:cNvCxnSpPr>
          <p:nvPr/>
        </p:nvCxnSpPr>
        <p:spPr>
          <a:xfrm>
            <a:off x="4223792" y="4466742"/>
            <a:ext cx="0" cy="91448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C688809B-BD20-F35D-F9CE-FDC0C6D8206B}"/>
              </a:ext>
            </a:extLst>
          </p:cNvPr>
          <p:cNvSpPr txBox="1"/>
          <p:nvPr/>
        </p:nvSpPr>
        <p:spPr>
          <a:xfrm>
            <a:off x="3486142" y="5016297"/>
            <a:ext cx="653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Load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28C1AD6F-7438-9DCC-4912-03BC6FBB7782}"/>
              </a:ext>
            </a:extLst>
          </p:cNvPr>
          <p:cNvSpPr txBox="1"/>
          <p:nvPr/>
        </p:nvSpPr>
        <p:spPr>
          <a:xfrm>
            <a:off x="4266149" y="5025773"/>
            <a:ext cx="653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+mj-lt"/>
              </a:rPr>
              <a:t>Reset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="" xmlns:a16="http://schemas.microsoft.com/office/drawing/2014/main" id="{718A9996-EDCE-3547-C1D7-165B87412B75}"/>
              </a:ext>
            </a:extLst>
          </p:cNvPr>
          <p:cNvCxnSpPr>
            <a:cxnSpLocks/>
          </p:cNvCxnSpPr>
          <p:nvPr/>
        </p:nvCxnSpPr>
        <p:spPr>
          <a:xfrm flipH="1">
            <a:off x="5750696" y="3356992"/>
            <a:ext cx="561328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027D7F83-7DC4-B0CD-4558-9BC07181D92B}"/>
              </a:ext>
            </a:extLst>
          </p:cNvPr>
          <p:cNvCxnSpPr>
            <a:cxnSpLocks/>
          </p:cNvCxnSpPr>
          <p:nvPr/>
        </p:nvCxnSpPr>
        <p:spPr>
          <a:xfrm flipH="1" flipV="1">
            <a:off x="5759336" y="3564054"/>
            <a:ext cx="548091" cy="2782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="" xmlns:a16="http://schemas.microsoft.com/office/drawing/2014/main" id="{395382FB-2CDE-DEAB-0FC0-5CFBF8B2DEAB}"/>
              </a:ext>
            </a:extLst>
          </p:cNvPr>
          <p:cNvCxnSpPr>
            <a:cxnSpLocks/>
          </p:cNvCxnSpPr>
          <p:nvPr/>
        </p:nvCxnSpPr>
        <p:spPr>
          <a:xfrm flipH="1">
            <a:off x="5759336" y="3789040"/>
            <a:ext cx="548091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="" xmlns:a16="http://schemas.microsoft.com/office/drawing/2014/main" id="{2E782D71-8F27-EB0F-A0C5-436CFA581354}"/>
              </a:ext>
            </a:extLst>
          </p:cNvPr>
          <p:cNvCxnSpPr>
            <a:cxnSpLocks/>
          </p:cNvCxnSpPr>
          <p:nvPr/>
        </p:nvCxnSpPr>
        <p:spPr>
          <a:xfrm flipH="1">
            <a:off x="5750696" y="4205446"/>
            <a:ext cx="556731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F649B47C-AFDD-6594-D5DF-B35D4D341279}"/>
              </a:ext>
            </a:extLst>
          </p:cNvPr>
          <p:cNvCxnSpPr>
            <a:cxnSpLocks/>
          </p:cNvCxnSpPr>
          <p:nvPr/>
        </p:nvCxnSpPr>
        <p:spPr>
          <a:xfrm flipH="1">
            <a:off x="5750696" y="4581128"/>
            <a:ext cx="556731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="" xmlns:a16="http://schemas.microsoft.com/office/drawing/2014/main" id="{E945C93F-0C7A-0F1E-462E-EC4ECB21D0C6}"/>
              </a:ext>
            </a:extLst>
          </p:cNvPr>
          <p:cNvCxnSpPr>
            <a:cxnSpLocks/>
            <a:stCxn id="23" idx="2"/>
            <a:endCxn id="27" idx="1"/>
          </p:cNvCxnSpPr>
          <p:nvPr/>
        </p:nvCxnSpPr>
        <p:spPr>
          <a:xfrm rot="16200000" flipH="1">
            <a:off x="6811966" y="1630854"/>
            <a:ext cx="224992" cy="647332"/>
          </a:xfrm>
          <a:prstGeom prst="bentConnector2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="" xmlns:a16="http://schemas.microsoft.com/office/drawing/2014/main" id="{9D4AC996-98AE-ACE1-C3FE-A6E9A9A189EE}"/>
              </a:ext>
            </a:extLst>
          </p:cNvPr>
          <p:cNvCxnSpPr>
            <a:cxnSpLocks/>
          </p:cNvCxnSpPr>
          <p:nvPr/>
        </p:nvCxnSpPr>
        <p:spPr>
          <a:xfrm>
            <a:off x="7320136" y="2247036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E7C5BE65-D0D0-58E0-FEFD-1EE6EE81E724}"/>
              </a:ext>
            </a:extLst>
          </p:cNvPr>
          <p:cNvCxnSpPr>
            <a:cxnSpLocks/>
          </p:cNvCxnSpPr>
          <p:nvPr/>
        </p:nvCxnSpPr>
        <p:spPr>
          <a:xfrm>
            <a:off x="7607609" y="2232728"/>
            <a:ext cx="0" cy="69364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="" xmlns:a16="http://schemas.microsoft.com/office/drawing/2014/main" id="{B94B5387-C790-4E91-021D-39F3925C4345}"/>
              </a:ext>
            </a:extLst>
          </p:cNvPr>
          <p:cNvCxnSpPr>
            <a:cxnSpLocks/>
          </p:cNvCxnSpPr>
          <p:nvPr/>
        </p:nvCxnSpPr>
        <p:spPr>
          <a:xfrm>
            <a:off x="8143012" y="2257021"/>
            <a:ext cx="0" cy="66107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="" xmlns:a16="http://schemas.microsoft.com/office/drawing/2014/main" id="{BBE4CAA2-DB91-B474-B33D-B8244898D1C7}"/>
              </a:ext>
            </a:extLst>
          </p:cNvPr>
          <p:cNvCxnSpPr>
            <a:cxnSpLocks/>
          </p:cNvCxnSpPr>
          <p:nvPr/>
        </p:nvCxnSpPr>
        <p:spPr>
          <a:xfrm>
            <a:off x="8409967" y="2247036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="" xmlns:a16="http://schemas.microsoft.com/office/drawing/2014/main" id="{18A5FEB5-01C7-D847-92A4-F90921DED5AB}"/>
              </a:ext>
            </a:extLst>
          </p:cNvPr>
          <p:cNvCxnSpPr>
            <a:cxnSpLocks/>
          </p:cNvCxnSpPr>
          <p:nvPr/>
        </p:nvCxnSpPr>
        <p:spPr>
          <a:xfrm>
            <a:off x="8616280" y="2204864"/>
            <a:ext cx="0" cy="70324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="" xmlns:a16="http://schemas.microsoft.com/office/drawing/2014/main" id="{0D7C2E3C-8FF3-5B36-55B4-F1C5BECFF8E7}"/>
              </a:ext>
            </a:extLst>
          </p:cNvPr>
          <p:cNvCxnSpPr>
            <a:cxnSpLocks/>
          </p:cNvCxnSpPr>
          <p:nvPr/>
        </p:nvCxnSpPr>
        <p:spPr>
          <a:xfrm>
            <a:off x="9192344" y="2198111"/>
            <a:ext cx="0" cy="71998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="" xmlns:a16="http://schemas.microsoft.com/office/drawing/2014/main" id="{F418C315-07A5-88BF-CC03-619DE6C4F368}"/>
              </a:ext>
            </a:extLst>
          </p:cNvPr>
          <p:cNvCxnSpPr>
            <a:cxnSpLocks/>
          </p:cNvCxnSpPr>
          <p:nvPr/>
        </p:nvCxnSpPr>
        <p:spPr>
          <a:xfrm>
            <a:off x="9768408" y="2187612"/>
            <a:ext cx="0" cy="73048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="" xmlns:a16="http://schemas.microsoft.com/office/drawing/2014/main" id="{14DBFB89-A17E-3787-87D3-92A086A24D7F}"/>
              </a:ext>
            </a:extLst>
          </p:cNvPr>
          <p:cNvCxnSpPr>
            <a:cxnSpLocks/>
          </p:cNvCxnSpPr>
          <p:nvPr/>
        </p:nvCxnSpPr>
        <p:spPr>
          <a:xfrm flipH="1">
            <a:off x="10344472" y="3244959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="" xmlns:a16="http://schemas.microsoft.com/office/drawing/2014/main" id="{B8563528-277F-95E6-A8E9-F71884AE1DB1}"/>
              </a:ext>
            </a:extLst>
          </p:cNvPr>
          <p:cNvCxnSpPr>
            <a:cxnSpLocks/>
          </p:cNvCxnSpPr>
          <p:nvPr/>
        </p:nvCxnSpPr>
        <p:spPr>
          <a:xfrm flipH="1">
            <a:off x="10344472" y="3573470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="" xmlns:a16="http://schemas.microsoft.com/office/drawing/2014/main" id="{09D3815F-F165-478B-F8C8-C0D43C0E7138}"/>
              </a:ext>
            </a:extLst>
          </p:cNvPr>
          <p:cNvCxnSpPr>
            <a:cxnSpLocks/>
          </p:cNvCxnSpPr>
          <p:nvPr/>
        </p:nvCxnSpPr>
        <p:spPr>
          <a:xfrm flipH="1">
            <a:off x="10344472" y="3903442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="" xmlns:a16="http://schemas.microsoft.com/office/drawing/2014/main" id="{D0C60F4E-8621-E93C-7CE7-5A4444096859}"/>
              </a:ext>
            </a:extLst>
          </p:cNvPr>
          <p:cNvCxnSpPr>
            <a:cxnSpLocks/>
          </p:cNvCxnSpPr>
          <p:nvPr/>
        </p:nvCxnSpPr>
        <p:spPr>
          <a:xfrm flipH="1">
            <a:off x="10344472" y="4235107"/>
            <a:ext cx="43204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4" name="Flowchart: Delay 83">
            <a:extLst>
              <a:ext uri="{FF2B5EF4-FFF2-40B4-BE49-F238E27FC236}">
                <a16:creationId xmlns="" xmlns:a16="http://schemas.microsoft.com/office/drawing/2014/main" id="{0377F0BD-AF05-9D63-F671-11003733CCFE}"/>
              </a:ext>
            </a:extLst>
          </p:cNvPr>
          <p:cNvSpPr/>
          <p:nvPr/>
        </p:nvSpPr>
        <p:spPr>
          <a:xfrm rot="5400000">
            <a:off x="8132988" y="3334099"/>
            <a:ext cx="432047" cy="354476"/>
          </a:xfrm>
          <a:prstGeom prst="flowChartDelay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Flowchart: Stored Data 85">
            <a:extLst>
              <a:ext uri="{FF2B5EF4-FFF2-40B4-BE49-F238E27FC236}">
                <a16:creationId xmlns="" xmlns:a16="http://schemas.microsoft.com/office/drawing/2014/main" id="{8EBA3642-59C1-AA83-0423-94E174A91795}"/>
              </a:ext>
            </a:extLst>
          </p:cNvPr>
          <p:cNvSpPr/>
          <p:nvPr/>
        </p:nvSpPr>
        <p:spPr>
          <a:xfrm rot="16200000">
            <a:off x="7649680" y="4217297"/>
            <a:ext cx="374888" cy="358047"/>
          </a:xfrm>
          <a:prstGeom prst="flowChartOnlineStorag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="" xmlns:a16="http://schemas.microsoft.com/office/drawing/2014/main" id="{7C831A88-94BC-DB96-8DDB-B49AC46502F4}"/>
              </a:ext>
            </a:extLst>
          </p:cNvPr>
          <p:cNvCxnSpPr>
            <a:cxnSpLocks/>
          </p:cNvCxnSpPr>
          <p:nvPr/>
        </p:nvCxnSpPr>
        <p:spPr>
          <a:xfrm>
            <a:off x="7392144" y="4933969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="" xmlns:a16="http://schemas.microsoft.com/office/drawing/2014/main" id="{661DE7DB-05AB-7CA7-BB26-EB5C5C9FBDE7}"/>
              </a:ext>
            </a:extLst>
          </p:cNvPr>
          <p:cNvCxnSpPr>
            <a:cxnSpLocks/>
          </p:cNvCxnSpPr>
          <p:nvPr/>
        </p:nvCxnSpPr>
        <p:spPr>
          <a:xfrm>
            <a:off x="7835281" y="4923984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="" xmlns:a16="http://schemas.microsoft.com/office/drawing/2014/main" id="{207B4FAB-E352-2365-7087-723A92CCD9D6}"/>
              </a:ext>
            </a:extLst>
          </p:cNvPr>
          <p:cNvCxnSpPr>
            <a:cxnSpLocks/>
          </p:cNvCxnSpPr>
          <p:nvPr/>
        </p:nvCxnSpPr>
        <p:spPr>
          <a:xfrm>
            <a:off x="8760296" y="4933969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="" xmlns:a16="http://schemas.microsoft.com/office/drawing/2014/main" id="{D4A58868-267C-0695-B692-93D3EFC8BDBA}"/>
              </a:ext>
            </a:extLst>
          </p:cNvPr>
          <p:cNvCxnSpPr>
            <a:cxnSpLocks/>
          </p:cNvCxnSpPr>
          <p:nvPr/>
        </p:nvCxnSpPr>
        <p:spPr>
          <a:xfrm>
            <a:off x="9188694" y="4933969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="" xmlns:a16="http://schemas.microsoft.com/office/drawing/2014/main" id="{0F7EA5C9-015F-1308-4151-21C275F2ACEC}"/>
              </a:ext>
            </a:extLst>
          </p:cNvPr>
          <p:cNvCxnSpPr>
            <a:cxnSpLocks/>
          </p:cNvCxnSpPr>
          <p:nvPr/>
        </p:nvCxnSpPr>
        <p:spPr>
          <a:xfrm>
            <a:off x="6960096" y="4923984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="" xmlns:a16="http://schemas.microsoft.com/office/drawing/2014/main" id="{91F22714-3A3F-F76C-520B-C2FD1AD87994}"/>
              </a:ext>
            </a:extLst>
          </p:cNvPr>
          <p:cNvCxnSpPr>
            <a:cxnSpLocks/>
          </p:cNvCxnSpPr>
          <p:nvPr/>
        </p:nvCxnSpPr>
        <p:spPr>
          <a:xfrm>
            <a:off x="6528048" y="4923984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="" xmlns:a16="http://schemas.microsoft.com/office/drawing/2014/main" id="{FE13D9BB-19F2-2C7C-C838-B11642C7ABB6}"/>
              </a:ext>
            </a:extLst>
          </p:cNvPr>
          <p:cNvCxnSpPr>
            <a:cxnSpLocks/>
          </p:cNvCxnSpPr>
          <p:nvPr/>
        </p:nvCxnSpPr>
        <p:spPr>
          <a:xfrm>
            <a:off x="10056439" y="4923984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="" xmlns:a16="http://schemas.microsoft.com/office/drawing/2014/main" id="{6CA413DA-82AB-90BC-C863-CCBD06CC8AF2}"/>
              </a:ext>
            </a:extLst>
          </p:cNvPr>
          <p:cNvCxnSpPr>
            <a:cxnSpLocks/>
          </p:cNvCxnSpPr>
          <p:nvPr/>
        </p:nvCxnSpPr>
        <p:spPr>
          <a:xfrm>
            <a:off x="9624392" y="4923984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="" xmlns:a16="http://schemas.microsoft.com/office/drawing/2014/main" id="{3FAF1772-E909-1F8C-F889-42450291B6CD}"/>
              </a:ext>
            </a:extLst>
          </p:cNvPr>
          <p:cNvCxnSpPr>
            <a:cxnSpLocks/>
          </p:cNvCxnSpPr>
          <p:nvPr/>
        </p:nvCxnSpPr>
        <p:spPr>
          <a:xfrm>
            <a:off x="8328248" y="4933969"/>
            <a:ext cx="0" cy="6710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="" xmlns:a16="http://schemas.microsoft.com/office/drawing/2014/main" id="{7D1572CA-7A0D-F123-4AE1-E40A2E65A06F}"/>
                  </a:ext>
                </a:extLst>
              </p:cNvPr>
              <p:cNvSpPr txBox="1"/>
              <p:nvPr/>
            </p:nvSpPr>
            <p:spPr>
              <a:xfrm rot="5400000">
                <a:off x="6138156" y="5753235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1572CA-7A0D-F123-4AE1-E40A2E65A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138156" y="5753235"/>
                <a:ext cx="77978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="" xmlns:a16="http://schemas.microsoft.com/office/drawing/2014/main" id="{9DC02D35-3C7C-2A93-CD9D-1D9E5111B4E9}"/>
                  </a:ext>
                </a:extLst>
              </p:cNvPr>
              <p:cNvSpPr txBox="1"/>
              <p:nvPr/>
            </p:nvSpPr>
            <p:spPr>
              <a:xfrm>
                <a:off x="6950332" y="5025773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Generated</m:t>
                      </m:r>
                      <m:r>
                        <a:rPr lang="en-GB" sz="1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control</m:t>
                      </m:r>
                      <m:r>
                        <a:rPr lang="en-GB" sz="1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signals</m:t>
                      </m:r>
                    </m:oMath>
                  </m:oMathPara>
                </a14:m>
                <a:endParaRPr lang="en-GB" sz="1400" dirty="0">
                  <a:solidFill>
                    <a:srgbClr val="92D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DC02D35-3C7C-2A93-CD9D-1D9E5111B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332" y="5025773"/>
                <a:ext cx="779783" cy="307777"/>
              </a:xfrm>
              <a:prstGeom prst="rect">
                <a:avLst/>
              </a:prstGeom>
              <a:blipFill>
                <a:blip r:embed="rId4"/>
                <a:stretch>
                  <a:fillRect r="-170313"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="" xmlns:a16="http://schemas.microsoft.com/office/drawing/2014/main" id="{B1C7B7A5-C8AA-D2A4-DD08-AA6C904774F5}"/>
                  </a:ext>
                </a:extLst>
              </p:cNvPr>
              <p:cNvSpPr txBox="1"/>
              <p:nvPr/>
            </p:nvSpPr>
            <p:spPr>
              <a:xfrm rot="5400000">
                <a:off x="6998928" y="5753233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𝐴𝐷𝐷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1C7B7A5-C8AA-D2A4-DD08-AA6C90477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8928" y="5753233"/>
                <a:ext cx="77978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="" xmlns:a16="http://schemas.microsoft.com/office/drawing/2014/main" id="{1A78796B-7772-664F-87CE-339E7F9E55F1}"/>
                  </a:ext>
                </a:extLst>
              </p:cNvPr>
              <p:cNvSpPr txBox="1"/>
              <p:nvPr/>
            </p:nvSpPr>
            <p:spPr>
              <a:xfrm rot="5400000">
                <a:off x="7466112" y="5753232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A78796B-7772-664F-87CE-339E7F9E5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466112" y="5753232"/>
                <a:ext cx="77978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="" xmlns:a16="http://schemas.microsoft.com/office/drawing/2014/main" id="{22552C5B-2F5E-58F7-9638-194C7BEFB4EB}"/>
                  </a:ext>
                </a:extLst>
              </p:cNvPr>
              <p:cNvSpPr txBox="1"/>
              <p:nvPr/>
            </p:nvSpPr>
            <p:spPr>
              <a:xfrm rot="5400000">
                <a:off x="7925233" y="5753231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𝐺𝑟𝑎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2552C5B-2F5E-58F7-9638-194C7BEFB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925233" y="5753231"/>
                <a:ext cx="779783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="" xmlns:a16="http://schemas.microsoft.com/office/drawing/2014/main" id="{9441B2B0-6FB9-2650-591B-E2C335A09759}"/>
                  </a:ext>
                </a:extLst>
              </p:cNvPr>
              <p:cNvSpPr txBox="1"/>
              <p:nvPr/>
            </p:nvSpPr>
            <p:spPr>
              <a:xfrm rot="5400000">
                <a:off x="8374527" y="5753231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𝑊𝑎𝑖𝑡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441B2B0-6FB9-2650-591B-E2C335A09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374527" y="5753231"/>
                <a:ext cx="779783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="" xmlns:a16="http://schemas.microsoft.com/office/drawing/2014/main" id="{5968261D-A690-3797-0370-3CE75B23FC51}"/>
                  </a:ext>
                </a:extLst>
              </p:cNvPr>
              <p:cNvSpPr txBox="1"/>
              <p:nvPr/>
            </p:nvSpPr>
            <p:spPr>
              <a:xfrm rot="5400000">
                <a:off x="8798802" y="5753230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5968261D-A690-3797-0370-3CE75B23F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798802" y="5753230"/>
                <a:ext cx="77978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="" xmlns:a16="http://schemas.microsoft.com/office/drawing/2014/main" id="{ADCFECD4-755A-269E-C3E3-5E8CC06A64DB}"/>
                  </a:ext>
                </a:extLst>
              </p:cNvPr>
              <p:cNvSpPr txBox="1"/>
              <p:nvPr/>
            </p:nvSpPr>
            <p:spPr>
              <a:xfrm rot="5400000">
                <a:off x="9265974" y="5717531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DCFECD4-755A-269E-C3E3-5E8CC06A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265974" y="5717531"/>
                <a:ext cx="779783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="" xmlns:a16="http://schemas.microsoft.com/office/drawing/2014/main" id="{D19EEAD4-E037-5AFE-490C-0A33E648DE27}"/>
                  </a:ext>
                </a:extLst>
              </p:cNvPr>
              <p:cNvSpPr txBox="1"/>
              <p:nvPr/>
            </p:nvSpPr>
            <p:spPr>
              <a:xfrm rot="5400000">
                <a:off x="9709290" y="5717530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19EEAD4-E037-5AFE-490C-0A33E648D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709290" y="5717530"/>
                <a:ext cx="77978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="" xmlns:a16="http://schemas.microsoft.com/office/drawing/2014/main" id="{819D417C-A489-BA62-CD39-DC0DCC83DFA8}"/>
                  </a:ext>
                </a:extLst>
              </p:cNvPr>
              <p:cNvSpPr txBox="1"/>
              <p:nvPr/>
            </p:nvSpPr>
            <p:spPr>
              <a:xfrm>
                <a:off x="8578630" y="2272594"/>
                <a:ext cx="5306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𝐶𝐷𝑁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19D417C-A489-BA62-CD39-DC0DCC83D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630" y="2272594"/>
                <a:ext cx="530617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="" xmlns:a16="http://schemas.microsoft.com/office/drawing/2014/main" id="{BB6F4B3D-5204-A763-CA12-337BE678E2A4}"/>
                  </a:ext>
                </a:extLst>
              </p:cNvPr>
              <p:cNvSpPr txBox="1"/>
              <p:nvPr/>
            </p:nvSpPr>
            <p:spPr>
              <a:xfrm>
                <a:off x="9157241" y="2247883"/>
                <a:ext cx="65251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BB6F4B3D-5204-A763-CA12-337BE678E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241" y="2247883"/>
                <a:ext cx="652512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="" xmlns:a16="http://schemas.microsoft.com/office/drawing/2014/main" id="{06A25AAB-2D91-24B5-38A7-EA43417468FE}"/>
                  </a:ext>
                </a:extLst>
              </p:cNvPr>
              <p:cNvSpPr txBox="1"/>
              <p:nvPr/>
            </p:nvSpPr>
            <p:spPr>
              <a:xfrm>
                <a:off x="9765756" y="2224402"/>
                <a:ext cx="37019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6A25AAB-2D91-24B5-38A7-EA4341746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756" y="2224402"/>
                <a:ext cx="370191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="" xmlns:a16="http://schemas.microsoft.com/office/drawing/2014/main" id="{488C8D11-66B6-4737-DB83-28A836A1DC08}"/>
                  </a:ext>
                </a:extLst>
              </p:cNvPr>
              <p:cNvSpPr txBox="1"/>
              <p:nvPr/>
            </p:nvSpPr>
            <p:spPr>
              <a:xfrm>
                <a:off x="7569973" y="2282574"/>
                <a:ext cx="5306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𝑠h𝑐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88C8D11-66B6-4737-DB83-28A836A1D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973" y="2282574"/>
                <a:ext cx="530617" cy="307777"/>
              </a:xfrm>
              <a:prstGeom prst="rect">
                <a:avLst/>
              </a:prstGeom>
              <a:blipFill>
                <a:blip r:embed="rId14"/>
                <a:stretch>
                  <a:fillRect r="-8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="" xmlns:a16="http://schemas.microsoft.com/office/drawing/2014/main" id="{B3E001C2-17A0-B448-32D3-480E907C014E}"/>
                  </a:ext>
                </a:extLst>
              </p:cNvPr>
              <p:cNvSpPr txBox="1"/>
              <p:nvPr/>
            </p:nvSpPr>
            <p:spPr>
              <a:xfrm>
                <a:off x="8046042" y="2292008"/>
                <a:ext cx="45793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𝑏𝑟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3E001C2-17A0-B448-32D3-480E907C0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042" y="2292008"/>
                <a:ext cx="457934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="" xmlns:a16="http://schemas.microsoft.com/office/drawing/2014/main" id="{4DEB9C20-32A9-0A44-9C77-C3C731FCB46D}"/>
                  </a:ext>
                </a:extLst>
              </p:cNvPr>
              <p:cNvSpPr txBox="1"/>
              <p:nvPr/>
            </p:nvSpPr>
            <p:spPr>
              <a:xfrm>
                <a:off x="7220570" y="2282574"/>
                <a:ext cx="45793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𝑎𝑑𝑑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DEB9C20-32A9-0A44-9C77-C3C731FCB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570" y="2282574"/>
                <a:ext cx="457934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="" xmlns:a16="http://schemas.microsoft.com/office/drawing/2014/main" id="{F8A6A047-00FF-02B4-B07B-0A956D85A185}"/>
                  </a:ext>
                </a:extLst>
              </p:cNvPr>
              <p:cNvSpPr txBox="1"/>
              <p:nvPr/>
            </p:nvSpPr>
            <p:spPr>
              <a:xfrm>
                <a:off x="6866537" y="2274968"/>
                <a:ext cx="45793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𝑖𝑑</m:t>
                      </m:r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8A6A047-00FF-02B4-B07B-0A956D85A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537" y="2274968"/>
                <a:ext cx="457934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="" xmlns:a16="http://schemas.microsoft.com/office/drawing/2014/main" id="{B64AEFDE-8D61-93E7-C1E7-6FE1CB74B0F8}"/>
                  </a:ext>
                </a:extLst>
              </p:cNvPr>
              <p:cNvSpPr txBox="1"/>
              <p:nvPr/>
            </p:nvSpPr>
            <p:spPr>
              <a:xfrm rot="5400000">
                <a:off x="6544865" y="5716468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GB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64AEFDE-8D61-93E7-C1E7-6FE1CB74B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544865" y="5716468"/>
                <a:ext cx="779783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="" xmlns:a16="http://schemas.microsoft.com/office/drawing/2014/main" id="{4224D295-B544-015B-B772-5AF148CDB36D}"/>
                  </a:ext>
                </a:extLst>
              </p:cNvPr>
              <p:cNvSpPr txBox="1"/>
              <p:nvPr/>
            </p:nvSpPr>
            <p:spPr>
              <a:xfrm>
                <a:off x="6038221" y="3388047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4224D295-B544-015B-B772-5AF148CDB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221" y="3388047"/>
                <a:ext cx="779783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="" xmlns:a16="http://schemas.microsoft.com/office/drawing/2014/main" id="{7A90002E-AB8A-A53F-CCE0-46BA33A4E71F}"/>
                  </a:ext>
                </a:extLst>
              </p:cNvPr>
              <p:cNvSpPr txBox="1"/>
              <p:nvPr/>
            </p:nvSpPr>
            <p:spPr>
              <a:xfrm>
                <a:off x="6017834" y="3654859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A90002E-AB8A-A53F-CCE0-46BA33A4E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834" y="3654859"/>
                <a:ext cx="779783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="" xmlns:a16="http://schemas.microsoft.com/office/drawing/2014/main" id="{E499E106-3224-AC9B-4D64-16F791EE89DC}"/>
                  </a:ext>
                </a:extLst>
              </p:cNvPr>
              <p:cNvSpPr txBox="1"/>
              <p:nvPr/>
            </p:nvSpPr>
            <p:spPr>
              <a:xfrm>
                <a:off x="6036642" y="4051556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499E106-3224-AC9B-4D64-16F791EE8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642" y="4051556"/>
                <a:ext cx="779783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="" xmlns:a16="http://schemas.microsoft.com/office/drawing/2014/main" id="{B0A19EC4-5388-2CE2-EBC7-50D7133FE80D}"/>
                  </a:ext>
                </a:extLst>
              </p:cNvPr>
              <p:cNvSpPr txBox="1"/>
              <p:nvPr/>
            </p:nvSpPr>
            <p:spPr>
              <a:xfrm>
                <a:off x="6155278" y="4425461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𝑇𝑛</m:t>
                      </m:r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B0A19EC4-5388-2CE2-EBC7-50D7133FE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278" y="4425461"/>
                <a:ext cx="779783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="" xmlns:a16="http://schemas.microsoft.com/office/drawing/2014/main" id="{474CDF2D-D589-9EAD-52F4-EE45FA98848B}"/>
                  </a:ext>
                </a:extLst>
              </p:cNvPr>
              <p:cNvSpPr txBox="1"/>
              <p:nvPr/>
            </p:nvSpPr>
            <p:spPr>
              <a:xfrm>
                <a:off x="6091130" y="3810964"/>
                <a:ext cx="6196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474CDF2D-D589-9EAD-52F4-EE45FA988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130" y="3810964"/>
                <a:ext cx="619653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="" xmlns:a16="http://schemas.microsoft.com/office/drawing/2014/main" id="{48E5DC80-AD90-5BE4-21DA-D98D29DA60DA}"/>
                  </a:ext>
                </a:extLst>
              </p:cNvPr>
              <p:cNvSpPr txBox="1"/>
              <p:nvPr/>
            </p:nvSpPr>
            <p:spPr>
              <a:xfrm>
                <a:off x="6095074" y="4231455"/>
                <a:ext cx="6196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8E5DC80-AD90-5BE4-21DA-D98D29DA6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74" y="4231455"/>
                <a:ext cx="619653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="" xmlns:a16="http://schemas.microsoft.com/office/drawing/2014/main" id="{18C2FFAC-658F-73B3-DC6F-44BCFC05F6A3}"/>
                  </a:ext>
                </a:extLst>
              </p:cNvPr>
              <p:cNvSpPr txBox="1"/>
              <p:nvPr/>
            </p:nvSpPr>
            <p:spPr>
              <a:xfrm>
                <a:off x="6062918" y="3159852"/>
                <a:ext cx="7797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8C2FFAC-658F-73B3-DC6F-44BCFC05F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918" y="3159852"/>
                <a:ext cx="779783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="" xmlns:a16="http://schemas.microsoft.com/office/drawing/2014/main" id="{E5B826F4-40DF-5047-088C-288648F8BA0F}"/>
              </a:ext>
            </a:extLst>
          </p:cNvPr>
          <p:cNvSpPr txBox="1"/>
          <p:nvPr/>
        </p:nvSpPr>
        <p:spPr>
          <a:xfrm>
            <a:off x="9419861" y="3269150"/>
            <a:ext cx="7797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+mj-lt"/>
              </a:rPr>
              <a:t>Control Signal</a:t>
            </a:r>
          </a:p>
          <a:p>
            <a:r>
              <a:rPr lang="en-GB" sz="1400" dirty="0">
                <a:solidFill>
                  <a:schemeClr val="bg1"/>
                </a:solidFill>
                <a:latin typeface="+mj-lt"/>
              </a:rPr>
              <a:t>encoder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="" xmlns:a16="http://schemas.microsoft.com/office/drawing/2014/main" id="{47C971DB-ED4E-DE5C-68B1-50070CD86D8F}"/>
              </a:ext>
            </a:extLst>
          </p:cNvPr>
          <p:cNvSpPr/>
          <p:nvPr/>
        </p:nvSpPr>
        <p:spPr>
          <a:xfrm>
            <a:off x="7795152" y="4542756"/>
            <a:ext cx="80258" cy="62222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="" xmlns:a16="http://schemas.microsoft.com/office/drawing/2014/main" id="{C2F5A9D7-6BB6-6843-AB8E-9773DCDDE988}"/>
              </a:ext>
            </a:extLst>
          </p:cNvPr>
          <p:cNvCxnSpPr>
            <a:cxnSpLocks/>
          </p:cNvCxnSpPr>
          <p:nvPr/>
        </p:nvCxnSpPr>
        <p:spPr>
          <a:xfrm>
            <a:off x="7835281" y="4599875"/>
            <a:ext cx="0" cy="334094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="" xmlns:a16="http://schemas.microsoft.com/office/drawing/2014/main" id="{583A59B6-1D5D-97FA-1A46-D3B25B91A59C}"/>
              </a:ext>
            </a:extLst>
          </p:cNvPr>
          <p:cNvCxnSpPr>
            <a:cxnSpLocks/>
          </p:cNvCxnSpPr>
          <p:nvPr/>
        </p:nvCxnSpPr>
        <p:spPr>
          <a:xfrm>
            <a:off x="6527783" y="4100587"/>
            <a:ext cx="1284037" cy="7447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="" xmlns:a16="http://schemas.microsoft.com/office/drawing/2014/main" id="{8B02BEF0-4980-17C3-1098-15E20F517287}"/>
              </a:ext>
            </a:extLst>
          </p:cNvPr>
          <p:cNvCxnSpPr>
            <a:cxnSpLocks/>
          </p:cNvCxnSpPr>
          <p:nvPr/>
        </p:nvCxnSpPr>
        <p:spPr>
          <a:xfrm flipV="1">
            <a:off x="7810596" y="3068960"/>
            <a:ext cx="0" cy="1049781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="" xmlns:a16="http://schemas.microsoft.com/office/drawing/2014/main" id="{3B4953E0-4D08-0C5E-D8ED-F6CA0F62FA1F}"/>
              </a:ext>
            </a:extLst>
          </p:cNvPr>
          <p:cNvCxnSpPr>
            <a:cxnSpLocks/>
          </p:cNvCxnSpPr>
          <p:nvPr/>
        </p:nvCxnSpPr>
        <p:spPr>
          <a:xfrm flipV="1">
            <a:off x="8409967" y="2926374"/>
            <a:ext cx="0" cy="367235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="" xmlns:a16="http://schemas.microsoft.com/office/drawing/2014/main" id="{B6B3D753-946F-1EBB-FB8C-B755AFE22DAF}"/>
              </a:ext>
            </a:extLst>
          </p:cNvPr>
          <p:cNvCxnSpPr>
            <a:cxnSpLocks/>
          </p:cNvCxnSpPr>
          <p:nvPr/>
        </p:nvCxnSpPr>
        <p:spPr>
          <a:xfrm>
            <a:off x="7794520" y="3074547"/>
            <a:ext cx="432439" cy="0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="" xmlns:a16="http://schemas.microsoft.com/office/drawing/2014/main" id="{4486BAFF-A83A-3078-A35D-6193B37650D6}"/>
              </a:ext>
            </a:extLst>
          </p:cNvPr>
          <p:cNvCxnSpPr>
            <a:cxnSpLocks/>
          </p:cNvCxnSpPr>
          <p:nvPr/>
        </p:nvCxnSpPr>
        <p:spPr>
          <a:xfrm>
            <a:off x="8224664" y="3061996"/>
            <a:ext cx="4590" cy="233317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="" xmlns:a16="http://schemas.microsoft.com/office/drawing/2014/main" id="{CBBFB013-CDCF-831A-68CE-9A99451201D0}"/>
              </a:ext>
            </a:extLst>
          </p:cNvPr>
          <p:cNvCxnSpPr>
            <a:cxnSpLocks/>
          </p:cNvCxnSpPr>
          <p:nvPr/>
        </p:nvCxnSpPr>
        <p:spPr>
          <a:xfrm flipV="1">
            <a:off x="6554858" y="3585289"/>
            <a:ext cx="1149602" cy="1019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="" xmlns:a16="http://schemas.microsoft.com/office/drawing/2014/main" id="{52BFD27C-9E55-80E9-92F4-164FD188930C}"/>
              </a:ext>
            </a:extLst>
          </p:cNvPr>
          <p:cNvCxnSpPr>
            <a:cxnSpLocks/>
          </p:cNvCxnSpPr>
          <p:nvPr/>
        </p:nvCxnSpPr>
        <p:spPr>
          <a:xfrm flipV="1">
            <a:off x="7697521" y="3582986"/>
            <a:ext cx="0" cy="582473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="" xmlns:a16="http://schemas.microsoft.com/office/drawing/2014/main" id="{F28462DD-C693-431B-2804-81A60C53915F}"/>
              </a:ext>
            </a:extLst>
          </p:cNvPr>
          <p:cNvCxnSpPr>
            <a:cxnSpLocks/>
          </p:cNvCxnSpPr>
          <p:nvPr/>
        </p:nvCxnSpPr>
        <p:spPr>
          <a:xfrm>
            <a:off x="7687911" y="4165459"/>
            <a:ext cx="84408" cy="0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="" xmlns:a16="http://schemas.microsoft.com/office/drawing/2014/main" id="{BBA8DE14-0516-4CDA-38A5-7A95CA04528D}"/>
              </a:ext>
            </a:extLst>
          </p:cNvPr>
          <p:cNvCxnSpPr>
            <a:cxnSpLocks/>
          </p:cNvCxnSpPr>
          <p:nvPr/>
        </p:nvCxnSpPr>
        <p:spPr>
          <a:xfrm flipV="1">
            <a:off x="7772319" y="4157077"/>
            <a:ext cx="0" cy="96737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="" xmlns:a16="http://schemas.microsoft.com/office/drawing/2014/main" id="{855ACC74-E675-CB5B-A755-2A0538C87F75}"/>
              </a:ext>
            </a:extLst>
          </p:cNvPr>
          <p:cNvCxnSpPr>
            <a:cxnSpLocks/>
          </p:cNvCxnSpPr>
          <p:nvPr/>
        </p:nvCxnSpPr>
        <p:spPr>
          <a:xfrm flipV="1">
            <a:off x="8349011" y="3716577"/>
            <a:ext cx="0" cy="384010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="" xmlns:a16="http://schemas.microsoft.com/office/drawing/2014/main" id="{E5AF08E8-756C-EBC0-8BF1-94E0B1CA931B}"/>
              </a:ext>
            </a:extLst>
          </p:cNvPr>
          <p:cNvCxnSpPr>
            <a:cxnSpLocks/>
          </p:cNvCxnSpPr>
          <p:nvPr/>
        </p:nvCxnSpPr>
        <p:spPr>
          <a:xfrm flipV="1">
            <a:off x="7880202" y="4100587"/>
            <a:ext cx="477126" cy="8884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="" xmlns:a16="http://schemas.microsoft.com/office/drawing/2014/main" id="{A8AA5843-65B1-923B-F8CC-B6284AF80CE1}"/>
              </a:ext>
            </a:extLst>
          </p:cNvPr>
          <p:cNvCxnSpPr>
            <a:cxnSpLocks/>
          </p:cNvCxnSpPr>
          <p:nvPr/>
        </p:nvCxnSpPr>
        <p:spPr>
          <a:xfrm flipV="1">
            <a:off x="7881425" y="4100587"/>
            <a:ext cx="0" cy="146336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="" xmlns:a16="http://schemas.microsoft.com/office/drawing/2014/main" id="{14585274-5EA2-744D-34D5-2ED0E509686F}"/>
                  </a:ext>
                </a:extLst>
              </p:cNvPr>
              <p:cNvSpPr txBox="1"/>
              <p:nvPr/>
            </p:nvSpPr>
            <p:spPr>
              <a:xfrm>
                <a:off x="7700382" y="3994154"/>
                <a:ext cx="5444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14585274-5EA2-744D-34D5-2ED0E5096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382" y="3994154"/>
                <a:ext cx="544478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="" xmlns:a16="http://schemas.microsoft.com/office/drawing/2014/main" id="{66D70C6F-4B18-5389-FCDD-10A126684F43}"/>
                  </a:ext>
                </a:extLst>
              </p:cNvPr>
              <p:cNvSpPr txBox="1"/>
              <p:nvPr/>
            </p:nvSpPr>
            <p:spPr>
              <a:xfrm>
                <a:off x="7353412" y="3986553"/>
                <a:ext cx="5444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6D70C6F-4B18-5389-FCDD-10A126684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12" y="3986553"/>
                <a:ext cx="544478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="" xmlns:a16="http://schemas.microsoft.com/office/drawing/2014/main" id="{26989285-E5F5-C24C-4E25-DD9947F34B5B}"/>
                  </a:ext>
                </a:extLst>
              </p:cNvPr>
              <p:cNvSpPr txBox="1"/>
              <p:nvPr/>
            </p:nvSpPr>
            <p:spPr>
              <a:xfrm>
                <a:off x="6675375" y="4633020"/>
                <a:ext cx="5444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26989285-E5F5-C24C-4E25-DD9947F34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375" y="4633020"/>
                <a:ext cx="544478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17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90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0500"/>
                            </p:stCondLst>
                            <p:childTnLst>
                              <p:par>
                                <p:cTn id="1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4500"/>
                            </p:stCondLst>
                            <p:childTnLst>
                              <p:par>
                                <p:cTn id="1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5000"/>
                            </p:stCondLst>
                            <p:childTnLst>
                              <p:par>
                                <p:cTn id="1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5500"/>
                            </p:stCondLst>
                            <p:childTnLst>
                              <p:par>
                                <p:cTn id="1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6000"/>
                            </p:stCondLst>
                            <p:childTnLst>
                              <p:par>
                                <p:cTn id="1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65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7000"/>
                            </p:stCondLst>
                            <p:childTnLst>
                              <p:par>
                                <p:cTn id="1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7500"/>
                            </p:stCondLst>
                            <p:childTnLst>
                              <p:par>
                                <p:cTn id="1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8000"/>
                            </p:stCondLst>
                            <p:childTnLst>
                              <p:par>
                                <p:cTn id="2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8500"/>
                            </p:stCondLst>
                            <p:childTnLst>
                              <p:par>
                                <p:cTn id="2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9000"/>
                            </p:stCondLst>
                            <p:childTnLst>
                              <p:par>
                                <p:cTn id="2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9500"/>
                            </p:stCondLst>
                            <p:childTnLst>
                              <p:par>
                                <p:cTn id="2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30000"/>
                            </p:stCondLst>
                            <p:childTnLst>
                              <p:par>
                                <p:cTn id="2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0500"/>
                            </p:stCondLst>
                            <p:childTnLst>
                              <p:par>
                                <p:cTn id="2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31000"/>
                            </p:stCondLst>
                            <p:childTnLst>
                              <p:par>
                                <p:cTn id="2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31500"/>
                            </p:stCondLst>
                            <p:childTnLst>
                              <p:par>
                                <p:cTn id="2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2000"/>
                            </p:stCondLst>
                            <p:childTnLst>
                              <p:par>
                                <p:cTn id="2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32500"/>
                            </p:stCondLst>
                            <p:childTnLst>
                              <p:par>
                                <p:cTn id="2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33000"/>
                            </p:stCondLst>
                            <p:childTnLst>
                              <p:par>
                                <p:cTn id="2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33500"/>
                            </p:stCondLst>
                            <p:childTnLst>
                              <p:par>
                                <p:cTn id="2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4500"/>
                            </p:stCondLst>
                            <p:childTnLst>
                              <p:par>
                                <p:cTn id="2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5000"/>
                            </p:stCondLst>
                            <p:childTnLst>
                              <p:par>
                                <p:cTn id="2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5500"/>
                            </p:stCondLst>
                            <p:childTnLst>
                              <p:par>
                                <p:cTn id="2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6000"/>
                            </p:stCondLst>
                            <p:childTnLst>
                              <p:par>
                                <p:cTn id="2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6500"/>
                            </p:stCondLst>
                            <p:childTnLst>
                              <p:par>
                                <p:cTn id="2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7000"/>
                            </p:stCondLst>
                            <p:childTnLst>
                              <p:par>
                                <p:cTn id="2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7500"/>
                            </p:stCondLst>
                            <p:childTnLst>
                              <p:par>
                                <p:cTn id="2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38000"/>
                            </p:stCondLst>
                            <p:childTnLst>
                              <p:par>
                                <p:cTn id="2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38500"/>
                            </p:stCondLst>
                            <p:childTnLst>
                              <p:par>
                                <p:cTn id="2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39500"/>
                            </p:stCondLst>
                            <p:childTnLst>
                              <p:par>
                                <p:cTn id="2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40000"/>
                            </p:stCondLst>
                            <p:childTnLst>
                              <p:par>
                                <p:cTn id="2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40500"/>
                            </p:stCondLst>
                            <p:childTnLst>
                              <p:par>
                                <p:cTn id="3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41000"/>
                            </p:stCondLst>
                            <p:childTnLst>
                              <p:par>
                                <p:cTn id="3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41500"/>
                            </p:stCondLst>
                            <p:childTnLst>
                              <p:par>
                                <p:cTn id="3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42000"/>
                            </p:stCondLst>
                            <p:childTnLst>
                              <p:par>
                                <p:cTn id="3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42500"/>
                            </p:stCondLst>
                            <p:childTnLst>
                              <p:par>
                                <p:cTn id="3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43000"/>
                            </p:stCondLst>
                            <p:childTnLst>
                              <p:par>
                                <p:cTn id="3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43500"/>
                            </p:stCondLst>
                            <p:childTnLst>
                              <p:par>
                                <p:cTn id="3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44000"/>
                            </p:stCondLst>
                            <p:childTnLst>
                              <p:par>
                                <p:cTn id="3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44500"/>
                            </p:stCondLst>
                            <p:childTnLst>
                              <p:par>
                                <p:cTn id="3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45000"/>
                            </p:stCondLst>
                            <p:childTnLst>
                              <p:par>
                                <p:cTn id="3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45500"/>
                            </p:stCondLst>
                            <p:childTnLst>
                              <p:par>
                                <p:cTn id="3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46000"/>
                            </p:stCondLst>
                            <p:childTnLst>
                              <p:par>
                                <p:cTn id="3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46500"/>
                            </p:stCondLst>
                            <p:childTnLst>
                              <p:par>
                                <p:cTn id="3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47000"/>
                            </p:stCondLst>
                            <p:childTnLst>
                              <p:par>
                                <p:cTn id="3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47500"/>
                            </p:stCondLst>
                            <p:childTnLst>
                              <p:par>
                                <p:cTn id="3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48000"/>
                            </p:stCondLst>
                            <p:childTnLst>
                              <p:par>
                                <p:cTn id="3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48500"/>
                            </p:stCondLst>
                            <p:childTnLst>
                              <p:par>
                                <p:cTn id="3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49000"/>
                            </p:stCondLst>
                            <p:childTnLst>
                              <p:par>
                                <p:cTn id="3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49500"/>
                            </p:stCondLst>
                            <p:childTnLst>
                              <p:par>
                                <p:cTn id="3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50000"/>
                            </p:stCondLst>
                            <p:childTnLst>
                              <p:par>
                                <p:cTn id="3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50500"/>
                            </p:stCondLst>
                            <p:childTnLst>
                              <p:par>
                                <p:cTn id="3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51000"/>
                            </p:stCondLst>
                            <p:childTnLst>
                              <p:par>
                                <p:cTn id="3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1500"/>
                            </p:stCondLst>
                            <p:childTnLst>
                              <p:par>
                                <p:cTn id="3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52000"/>
                            </p:stCondLst>
                            <p:childTnLst>
                              <p:par>
                                <p:cTn id="3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fill="hold">
                            <p:stCondLst>
                              <p:cond delay="52500"/>
                            </p:stCondLst>
                            <p:childTnLst>
                              <p:par>
                                <p:cTn id="3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4" grpId="0"/>
      <p:bldP spid="15" grpId="0"/>
      <p:bldP spid="16" grpId="0"/>
      <p:bldP spid="20" grpId="0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33" grpId="0"/>
      <p:bldP spid="34" grpId="0"/>
      <p:bldP spid="35" grpId="0"/>
      <p:bldP spid="37" grpId="0"/>
      <p:bldP spid="44" grpId="0"/>
      <p:bldP spid="45" grpId="0"/>
      <p:bldP spid="84" grpId="0" animBg="1"/>
      <p:bldP spid="86" grpId="0" animBg="1"/>
      <p:bldP spid="102" grpId="0"/>
      <p:bldP spid="103" grpId="0"/>
      <p:bldP spid="104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3" grpId="0"/>
      <p:bldP spid="124" grpId="0"/>
      <p:bldP spid="125" grpId="0"/>
      <p:bldP spid="128" grpId="0"/>
      <p:bldP spid="129" grpId="0"/>
      <p:bldP spid="130" grpId="0"/>
      <p:bldP spid="131" grpId="0"/>
      <p:bldP spid="132" grpId="0"/>
      <p:bldP spid="133" grpId="0" animBg="1"/>
      <p:bldP spid="198" grpId="0"/>
      <p:bldP spid="199" grpId="0"/>
      <p:bldP spid="2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Pros and Cons of Hardwired control unit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en-US" sz="1800" dirty="0"/>
              <a:t>Control Unit (C.U.)</a:t>
            </a:r>
          </a:p>
          <a:p>
            <a:r>
              <a:rPr lang="en-GB" altLang="en-US" sz="1800" dirty="0"/>
              <a:t>Inputs and Outputs</a:t>
            </a:r>
          </a:p>
          <a:p>
            <a:pPr lvl="1"/>
            <a:r>
              <a:rPr lang="en-GB" altLang="en-US" sz="1600" dirty="0"/>
              <a:t>Inputs</a:t>
            </a:r>
          </a:p>
          <a:p>
            <a:pPr lvl="1"/>
            <a:r>
              <a:rPr lang="en-US" sz="1600" dirty="0"/>
              <a:t>Outputs</a:t>
            </a:r>
          </a:p>
          <a:p>
            <a:r>
              <a:rPr lang="en-US" sz="1800" dirty="0"/>
              <a:t>Implementation of CU</a:t>
            </a:r>
          </a:p>
          <a:p>
            <a:pPr lvl="1"/>
            <a:r>
              <a:rPr lang="en-US" sz="1600" dirty="0"/>
              <a:t>Hardwired</a:t>
            </a:r>
          </a:p>
          <a:p>
            <a:pPr lvl="1"/>
            <a:r>
              <a:rPr lang="en-US" sz="1600" dirty="0"/>
              <a:t>Micro Programmed</a:t>
            </a:r>
          </a:p>
          <a:p>
            <a:r>
              <a:rPr lang="en-US" sz="1800" dirty="0"/>
              <a:t>Hardwired Control Unit</a:t>
            </a:r>
          </a:p>
          <a:p>
            <a:pPr lvl="1"/>
            <a:r>
              <a:rPr lang="en-US" sz="1600" dirty="0"/>
              <a:t>Control sequence</a:t>
            </a:r>
          </a:p>
          <a:p>
            <a:pPr lvl="1"/>
            <a:r>
              <a:rPr lang="en-US" sz="1600" dirty="0"/>
              <a:t>Boolean expression for control signal</a:t>
            </a:r>
          </a:p>
          <a:p>
            <a:pPr lvl="1"/>
            <a:r>
              <a:rPr lang="en-US" sz="1600" dirty="0"/>
              <a:t>Circuitry design for control signal </a:t>
            </a:r>
            <a:r>
              <a:rPr lang="en-US" sz="1600" dirty="0" err="1"/>
              <a:t>Cout</a:t>
            </a:r>
            <a:endParaRPr lang="en-US" sz="1600" dirty="0"/>
          </a:p>
          <a:p>
            <a:pPr lvl="2"/>
            <a:r>
              <a:rPr lang="en-IN" sz="1400" dirty="0"/>
              <a:t>Examples</a:t>
            </a:r>
          </a:p>
          <a:p>
            <a:pPr lvl="1"/>
            <a:r>
              <a:rPr lang="en-IN" dirty="0"/>
              <a:t>Overall view of C.U.</a:t>
            </a:r>
          </a:p>
          <a:p>
            <a:pPr lvl="1"/>
            <a:r>
              <a:rPr lang="en-IN" dirty="0"/>
              <a:t>Pros &amp; Cons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120308475"/>
              </p:ext>
            </p:extLst>
          </p:nvPr>
        </p:nvGraphicFramePr>
        <p:xfrm>
          <a:off x="3124200" y="593724"/>
          <a:ext cx="9067800" cy="5787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675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73100" y="0"/>
            <a:ext cx="11582400" cy="593725"/>
          </a:xfrm>
        </p:spPr>
        <p:txBody>
          <a:bodyPr/>
          <a:lstStyle/>
          <a:p>
            <a:r>
              <a:rPr lang="en-IN" altLang="en-US" dirty="0"/>
              <a:t>Summary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0" y="593725"/>
            <a:ext cx="12192000" cy="5807076"/>
          </a:xfrm>
          <a:prstGeom prst="rect">
            <a:avLst/>
          </a:prstGeom>
        </p:spPr>
        <p:txBody>
          <a:bodyPr numCol="2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008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315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315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756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84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13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41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800" dirty="0"/>
              <a:t>Control Unit (C.U.)</a:t>
            </a:r>
          </a:p>
          <a:p>
            <a:r>
              <a:rPr lang="en-GB" altLang="en-US" sz="2800" dirty="0"/>
              <a:t>Inputs and Outputs</a:t>
            </a:r>
          </a:p>
          <a:p>
            <a:pPr lvl="1"/>
            <a:r>
              <a:rPr lang="en-GB" altLang="en-US" sz="2400" dirty="0"/>
              <a:t>Inputs</a:t>
            </a:r>
          </a:p>
          <a:p>
            <a:pPr lvl="2"/>
            <a:r>
              <a:rPr lang="en-GB" altLang="en-US" sz="2000" dirty="0"/>
              <a:t>Clock</a:t>
            </a:r>
          </a:p>
          <a:p>
            <a:pPr lvl="2"/>
            <a:r>
              <a:rPr lang="en-GB" altLang="en-US" sz="2000" dirty="0"/>
              <a:t>Instruction Register</a:t>
            </a:r>
          </a:p>
          <a:p>
            <a:pPr lvl="2"/>
            <a:r>
              <a:rPr lang="en-IN" sz="2000" dirty="0"/>
              <a:t>Flags</a:t>
            </a:r>
          </a:p>
          <a:p>
            <a:pPr lvl="2"/>
            <a:r>
              <a:rPr lang="en-US" sz="2000" dirty="0"/>
              <a:t>Control signals from control bus</a:t>
            </a:r>
          </a:p>
          <a:p>
            <a:pPr lvl="1"/>
            <a:r>
              <a:rPr lang="en-US" sz="2400" dirty="0"/>
              <a:t>Outputs</a:t>
            </a:r>
          </a:p>
          <a:p>
            <a:pPr lvl="2"/>
            <a:r>
              <a:rPr lang="en-US" sz="2000" dirty="0"/>
              <a:t>Control signals within the processor</a:t>
            </a:r>
          </a:p>
          <a:p>
            <a:pPr lvl="2"/>
            <a:r>
              <a:rPr lang="en-US" sz="2000" dirty="0"/>
              <a:t>Control signals to control bus</a:t>
            </a:r>
          </a:p>
          <a:p>
            <a:r>
              <a:rPr lang="en-US" sz="2800" dirty="0"/>
              <a:t>Implementation of CU</a:t>
            </a:r>
          </a:p>
          <a:p>
            <a:pPr lvl="1"/>
            <a:r>
              <a:rPr lang="en-US" sz="2400" dirty="0"/>
              <a:t>Hardwired</a:t>
            </a:r>
          </a:p>
          <a:p>
            <a:pPr lvl="1"/>
            <a:r>
              <a:rPr lang="en-US" sz="2400" dirty="0"/>
              <a:t>Micro Programmed</a:t>
            </a:r>
          </a:p>
          <a:p>
            <a:r>
              <a:rPr lang="en-US" sz="2800" dirty="0"/>
              <a:t>Hardwired Control Unit</a:t>
            </a:r>
          </a:p>
          <a:p>
            <a:pPr lvl="1"/>
            <a:r>
              <a:rPr lang="en-US" sz="2400" dirty="0"/>
              <a:t>Control sequence</a:t>
            </a:r>
          </a:p>
          <a:p>
            <a:pPr lvl="1"/>
            <a:r>
              <a:rPr lang="en-US" sz="2400" dirty="0"/>
              <a:t>Boolean expression for control signal</a:t>
            </a:r>
          </a:p>
          <a:p>
            <a:pPr lvl="1"/>
            <a:r>
              <a:rPr lang="en-US" sz="2400" dirty="0"/>
              <a:t>Circuitry design for control signal </a:t>
            </a:r>
            <a:r>
              <a:rPr lang="en-US" sz="2400" dirty="0" err="1"/>
              <a:t>Cout</a:t>
            </a:r>
            <a:endParaRPr lang="en-US" sz="2400" dirty="0"/>
          </a:p>
          <a:p>
            <a:pPr lvl="2"/>
            <a:r>
              <a:rPr lang="en-IN" sz="2000" dirty="0"/>
              <a:t>Examples</a:t>
            </a:r>
          </a:p>
          <a:p>
            <a:pPr lvl="1"/>
            <a:r>
              <a:rPr lang="en-IN" sz="2400" dirty="0"/>
              <a:t>Overall view of C.U.</a:t>
            </a:r>
          </a:p>
          <a:p>
            <a:pPr lvl="1"/>
            <a:r>
              <a:rPr lang="en-IN" sz="2400" dirty="0"/>
              <a:t>Pros &amp; Cons</a:t>
            </a:r>
            <a:r>
              <a:rPr lang="en-IN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453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73100" y="0"/>
            <a:ext cx="11582400" cy="593725"/>
          </a:xfrm>
        </p:spPr>
        <p:txBody>
          <a:bodyPr/>
          <a:lstStyle/>
          <a:p>
            <a:r>
              <a:rPr lang="en-IN" altLang="en-US" dirty="0"/>
              <a:t>Homework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0" y="593725"/>
            <a:ext cx="12192000" cy="5807076"/>
          </a:xfrm>
          <a:prstGeom prst="rect">
            <a:avLst/>
          </a:prstGeom>
        </p:spPr>
        <p:txBody>
          <a:bodyPr numCol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008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315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315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756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84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13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41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800" dirty="0"/>
              <a:t>Develop Boolean expressions for every control signals and implement Control Signal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8">
                <a:extLst>
                  <a:ext uri="{FF2B5EF4-FFF2-40B4-BE49-F238E27FC236}">
                    <a16:creationId xmlns="" xmlns:a16="http://schemas.microsoft.com/office/drawing/2014/main" id="{6A1C54A3-D3FF-BA0C-19A0-3AD9F4F17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4446" y="1749296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𝐼𝑛𝑐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4, 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𝑅𝑒𝑎𝑑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A1C54A3-D3FF-BA0C-19A0-3AD9F4F17C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4446" y="1749296"/>
                <a:ext cx="1447800" cy="307777"/>
              </a:xfrm>
              <a:prstGeom prst="rect">
                <a:avLst/>
              </a:prstGeom>
              <a:blipFill rotWithShape="0">
                <a:blip r:embed="rId2"/>
                <a:stretch>
                  <a:fillRect r="-550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9">
            <a:extLst>
              <a:ext uri="{FF2B5EF4-FFF2-40B4-BE49-F238E27FC236}">
                <a16:creationId xmlns="" xmlns:a16="http://schemas.microsoft.com/office/drawing/2014/main" id="{CCD20BC2-BF28-6E9C-A39F-B95066E3E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57" y="1707868"/>
            <a:ext cx="152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T0.</a:t>
            </a:r>
          </a:p>
        </p:txBody>
      </p:sp>
      <p:sp>
        <p:nvSpPr>
          <p:cNvPr id="62" name="Rectangle 10">
            <a:extLst>
              <a:ext uri="{FF2B5EF4-FFF2-40B4-BE49-F238E27FC236}">
                <a16:creationId xmlns="" xmlns:a16="http://schemas.microsoft.com/office/drawing/2014/main" id="{331F1FDC-F5BC-A9EC-5E18-01978D333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384" y="2064399"/>
            <a:ext cx="152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T1.</a:t>
            </a:r>
          </a:p>
        </p:txBody>
      </p:sp>
      <p:sp>
        <p:nvSpPr>
          <p:cNvPr id="63" name="Rectangle 11">
            <a:extLst>
              <a:ext uri="{FF2B5EF4-FFF2-40B4-BE49-F238E27FC236}">
                <a16:creationId xmlns="" xmlns:a16="http://schemas.microsoft.com/office/drawing/2014/main" id="{BF937E71-6EA5-2551-A5B6-6640E82E3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957" y="2383475"/>
            <a:ext cx="1371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T2.</a:t>
            </a:r>
          </a:p>
        </p:txBody>
      </p:sp>
      <p:sp>
        <p:nvSpPr>
          <p:cNvPr id="64" name="TextBox 34">
            <a:extLst>
              <a:ext uri="{FF2B5EF4-FFF2-40B4-BE49-F238E27FC236}">
                <a16:creationId xmlns="" xmlns:a16="http://schemas.microsoft.com/office/drawing/2014/main" id="{6D7F27DB-B6C7-8EAF-2513-A7938D929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5757" y="1443202"/>
            <a:ext cx="1143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8">
                <a:extLst>
                  <a:ext uri="{FF2B5EF4-FFF2-40B4-BE49-F238E27FC236}">
                    <a16:creationId xmlns="" xmlns:a16="http://schemas.microsoft.com/office/drawing/2014/main" id="{6E446684-3197-950C-B834-D70900717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3610" y="2059392"/>
                <a:ext cx="207920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𝑊𝑎𝑖𝑡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5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E446684-3197-950C-B834-D70900717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3610" y="2059392"/>
                <a:ext cx="2079203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8">
                <a:extLst>
                  <a:ext uri="{FF2B5EF4-FFF2-40B4-BE49-F238E27FC236}">
                    <a16:creationId xmlns="" xmlns:a16="http://schemas.microsoft.com/office/drawing/2014/main" id="{7F5CAC86-A4D4-B1C9-4B39-8FC0A6B79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315" y="2372087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𝐼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F5CAC86-A4D4-B1C9-4B39-8FC0A6B79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8315" y="2372087"/>
                <a:ext cx="1447800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34">
            <a:extLst>
              <a:ext uri="{FF2B5EF4-FFF2-40B4-BE49-F238E27FC236}">
                <a16:creationId xmlns="" xmlns:a16="http://schemas.microsoft.com/office/drawing/2014/main" id="{9613290C-74AB-B841-8DD6-0F58C167D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372" y="1454188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8">
                <a:extLst>
                  <a:ext uri="{FF2B5EF4-FFF2-40B4-BE49-F238E27FC236}">
                    <a16:creationId xmlns="" xmlns:a16="http://schemas.microsoft.com/office/drawing/2014/main" id="{92405C94-9734-6A12-8E50-A985AA96F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7323" y="3337528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𝐺𝑟𝑏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8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2405C94-9734-6A12-8E50-A985AA96FE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7323" y="3337528"/>
                <a:ext cx="1447800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9">
            <a:extLst>
              <a:ext uri="{FF2B5EF4-FFF2-40B4-BE49-F238E27FC236}">
                <a16:creationId xmlns="" xmlns:a16="http://schemas.microsoft.com/office/drawing/2014/main" id="{0E9A2A5E-A632-DDB8-5BED-19C198AC7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" y="3361579"/>
            <a:ext cx="1447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T3.</a:t>
            </a:r>
          </a:p>
        </p:txBody>
      </p:sp>
      <p:sp>
        <p:nvSpPr>
          <p:cNvPr id="70" name="Rectangle 10">
            <a:extLst>
              <a:ext uri="{FF2B5EF4-FFF2-40B4-BE49-F238E27FC236}">
                <a16:creationId xmlns="" xmlns:a16="http://schemas.microsoft.com/office/drawing/2014/main" id="{56DDF417-D617-9256-CE2A-7D833B1CE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4189" y="3683135"/>
            <a:ext cx="152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T4.</a:t>
            </a:r>
          </a:p>
        </p:txBody>
      </p:sp>
      <p:sp>
        <p:nvSpPr>
          <p:cNvPr id="71" name="Rectangle 11">
            <a:extLst>
              <a:ext uri="{FF2B5EF4-FFF2-40B4-BE49-F238E27FC236}">
                <a16:creationId xmlns="" xmlns:a16="http://schemas.microsoft.com/office/drawing/2014/main" id="{DE9522B7-B648-D6A7-EAD0-38663FF07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6" y="4012054"/>
            <a:ext cx="1371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T5.</a:t>
            </a:r>
          </a:p>
        </p:txBody>
      </p:sp>
      <p:sp>
        <p:nvSpPr>
          <p:cNvPr id="72" name="TextBox 34">
            <a:extLst>
              <a:ext uri="{FF2B5EF4-FFF2-40B4-BE49-F238E27FC236}">
                <a16:creationId xmlns="" xmlns:a16="http://schemas.microsoft.com/office/drawing/2014/main" id="{63F01D0B-C327-F722-C63F-9B2C32DB9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465" y="3032455"/>
            <a:ext cx="11068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8">
                <a:extLst>
                  <a:ext uri="{FF2B5EF4-FFF2-40B4-BE49-F238E27FC236}">
                    <a16:creationId xmlns="" xmlns:a16="http://schemas.microsoft.com/office/drawing/2014/main" id="{B17E8CEC-3DD8-B778-12DE-DABF4C206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757" y="3690857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𝐺𝑟𝑐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𝐴𝐷𝐷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3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7E8CEC-3DD8-B778-12DE-DABF4C206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6757" y="3690857"/>
                <a:ext cx="1447800" cy="307777"/>
              </a:xfrm>
              <a:prstGeom prst="rect">
                <a:avLst/>
              </a:prstGeom>
              <a:blipFill rotWithShape="0">
                <a:blip r:embed="rId6"/>
                <a:stretch>
                  <a:fillRect r="-67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8">
                <a:extLst>
                  <a:ext uri="{FF2B5EF4-FFF2-40B4-BE49-F238E27FC236}">
                    <a16:creationId xmlns="" xmlns:a16="http://schemas.microsoft.com/office/drawing/2014/main" id="{55E6D741-2F50-1BE5-A3FB-95A4DC725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757" y="4016906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𝐺𝑟𝑎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𝐸𝑛𝑑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4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5E6D741-2F50-1BE5-A3FB-95A4DC725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6757" y="4016906"/>
                <a:ext cx="1447800" cy="307777"/>
              </a:xfrm>
              <a:prstGeom prst="rect">
                <a:avLst/>
              </a:prstGeom>
              <a:blipFill rotWithShape="0">
                <a:blip r:embed="rId7"/>
                <a:stretch>
                  <a:fillRect r="-67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34">
            <a:extLst>
              <a:ext uri="{FF2B5EF4-FFF2-40B4-BE49-F238E27FC236}">
                <a16:creationId xmlns="" xmlns:a16="http://schemas.microsoft.com/office/drawing/2014/main" id="{A21614D0-366A-EA9A-25BE-45AC60EBE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5266" y="3041576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8">
                <a:extLst>
                  <a:ext uri="{FF2B5EF4-FFF2-40B4-BE49-F238E27FC236}">
                    <a16:creationId xmlns="" xmlns:a16="http://schemas.microsoft.com/office/drawing/2014/main" id="{AB229ED3-7AEA-7B5D-4901-AE9780A01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2933" y="3387681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𝐺𝑟𝑏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6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B229ED3-7AEA-7B5D-4901-AE9780A0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2933" y="3387681"/>
                <a:ext cx="1447800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8">
                <a:extLst>
                  <a:ext uri="{FF2B5EF4-FFF2-40B4-BE49-F238E27FC236}">
                    <a16:creationId xmlns="" xmlns:a16="http://schemas.microsoft.com/office/drawing/2014/main" id="{576A5BA6-3944-D9A3-2320-17D3070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2478" y="3688890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𝑐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𝐴𝐷𝐷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7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76A5BA6-3944-D9A3-2320-17D307067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2478" y="3688890"/>
                <a:ext cx="1447800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8">
                <a:extLst>
                  <a:ext uri="{FF2B5EF4-FFF2-40B4-BE49-F238E27FC236}">
                    <a16:creationId xmlns="" xmlns:a16="http://schemas.microsoft.com/office/drawing/2014/main" id="{F42FB6C9-C280-AC95-C985-7523E1983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2246" y="3991238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𝐺𝑟𝑎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𝐸𝑛𝑑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8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42FB6C9-C280-AC95-C985-7523E19830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2246" y="3991238"/>
                <a:ext cx="1447800" cy="307777"/>
              </a:xfrm>
              <a:prstGeom prst="rect">
                <a:avLst/>
              </a:prstGeom>
              <a:blipFill rotWithShape="0">
                <a:blip r:embed="rId7"/>
                <a:stretch>
                  <a:fillRect r="-67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34">
            <a:extLst>
              <a:ext uri="{FF2B5EF4-FFF2-40B4-BE49-F238E27FC236}">
                <a16:creationId xmlns="" xmlns:a16="http://schemas.microsoft.com/office/drawing/2014/main" id="{4226C020-6395-F55F-D811-A4CC94CDE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917" y="3086378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8">
                <a:extLst>
                  <a:ext uri="{FF2B5EF4-FFF2-40B4-BE49-F238E27FC236}">
                    <a16:creationId xmlns="" xmlns:a16="http://schemas.microsoft.com/office/drawing/2014/main" id="{030D287C-0C7E-F316-017D-ED8DEA686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403" y="5034246"/>
                <a:ext cx="1443714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altLang="en-US" sz="1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𝐺𝑟𝑏</m:t>
                      </m:r>
                      <m:r>
                        <a:rPr lang="en-GB" altLang="en-US" sz="1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𝐵𝐴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0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0D287C-0C7E-F316-017D-ED8DEA6867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3403" y="5034246"/>
                <a:ext cx="1443714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Rectangle 9">
            <a:extLst>
              <a:ext uri="{FF2B5EF4-FFF2-40B4-BE49-F238E27FC236}">
                <a16:creationId xmlns="" xmlns:a16="http://schemas.microsoft.com/office/drawing/2014/main" id="{E14AC069-85C1-A7AF-1678-E7204D589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" y="5013668"/>
            <a:ext cx="14010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T3.</a:t>
            </a:r>
          </a:p>
        </p:txBody>
      </p:sp>
      <p:sp>
        <p:nvSpPr>
          <p:cNvPr id="82" name="Rectangle 10">
            <a:extLst>
              <a:ext uri="{FF2B5EF4-FFF2-40B4-BE49-F238E27FC236}">
                <a16:creationId xmlns="" xmlns:a16="http://schemas.microsoft.com/office/drawing/2014/main" id="{2BB99A6F-B539-F990-759D-BAD351F49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1" y="5332059"/>
            <a:ext cx="1486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T4.</a:t>
            </a:r>
          </a:p>
        </p:txBody>
      </p:sp>
      <p:sp>
        <p:nvSpPr>
          <p:cNvPr id="83" name="Rectangle 11">
            <a:extLst>
              <a:ext uri="{FF2B5EF4-FFF2-40B4-BE49-F238E27FC236}">
                <a16:creationId xmlns="" xmlns:a16="http://schemas.microsoft.com/office/drawing/2014/main" id="{B0313064-34EB-AA4A-1CAC-58A7BE7F7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86" y="5629642"/>
            <a:ext cx="13193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T5.</a:t>
            </a:r>
          </a:p>
        </p:txBody>
      </p:sp>
      <p:sp>
        <p:nvSpPr>
          <p:cNvPr id="84" name="TextBox 34">
            <a:extLst>
              <a:ext uri="{FF2B5EF4-FFF2-40B4-BE49-F238E27FC236}">
                <a16:creationId xmlns="" xmlns:a16="http://schemas.microsoft.com/office/drawing/2014/main" id="{3B9E4D4E-712D-9812-F920-B4B29B89D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536" y="4679227"/>
            <a:ext cx="1066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">
                <a:extLst>
                  <a:ext uri="{FF2B5EF4-FFF2-40B4-BE49-F238E27FC236}">
                    <a16:creationId xmlns="" xmlns:a16="http://schemas.microsoft.com/office/drawing/2014/main" id="{C28F31C1-C765-FB15-C1B9-7681F662B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1173" y="5281960"/>
                <a:ext cx="14478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𝑐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𝐴𝐷𝐷</m:t>
                      </m:r>
                      <m:r>
                        <a:rPr lang="en-GB" alt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5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28F31C1-C765-FB15-C1B9-7681F662B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1173" y="5281960"/>
                <a:ext cx="1447800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">
                <a:extLst>
                  <a:ext uri="{FF2B5EF4-FFF2-40B4-BE49-F238E27FC236}">
                    <a16:creationId xmlns="" xmlns:a16="http://schemas.microsoft.com/office/drawing/2014/main" id="{BF139625-08E4-D6AB-CB0B-4F39D6966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8477" y="5555760"/>
                <a:ext cx="1486123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6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F139625-08E4-D6AB-CB0B-4F39D6966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8477" y="5555760"/>
                <a:ext cx="1486123" cy="3077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34">
            <a:extLst>
              <a:ext uri="{FF2B5EF4-FFF2-40B4-BE49-F238E27FC236}">
                <a16:creationId xmlns="" xmlns:a16="http://schemas.microsoft.com/office/drawing/2014/main" id="{B9AA4EB8-AF76-5AFD-C6D6-61731251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111" y="4707953"/>
            <a:ext cx="19294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">
                <a:extLst>
                  <a:ext uri="{FF2B5EF4-FFF2-40B4-BE49-F238E27FC236}">
                    <a16:creationId xmlns="" xmlns:a16="http://schemas.microsoft.com/office/drawing/2014/main" id="{C3F5FA61-05C5-CA7F-2EB8-185B4A1E1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7021" y="5028804"/>
                <a:ext cx="130092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𝑐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𝐿𝑑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8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3F5FA61-05C5-CA7F-2EB8-185B4A1E17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7021" y="5028804"/>
                <a:ext cx="1300929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">
                <a:extLst>
                  <a:ext uri="{FF2B5EF4-FFF2-40B4-BE49-F238E27FC236}">
                    <a16:creationId xmlns="" xmlns:a16="http://schemas.microsoft.com/office/drawing/2014/main" id="{76DF4F02-0BC1-6D3E-C785-9A106A221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056" y="5290224"/>
                <a:ext cx="326160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=0→(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𝐺𝑟𝑐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𝐿𝑑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9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6DF4F02-0BC1-6D3E-C785-9A106A221B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056" y="5290224"/>
                <a:ext cx="3261606" cy="307777"/>
              </a:xfrm>
              <a:prstGeom prst="rect">
                <a:avLst/>
              </a:prstGeom>
              <a:blipFill rotWithShape="0">
                <a:blip r:embed="rId14"/>
                <a:stretch>
                  <a:fillRect b="-1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">
                <a:extLst>
                  <a:ext uri="{FF2B5EF4-FFF2-40B4-BE49-F238E27FC236}">
                    <a16:creationId xmlns="" xmlns:a16="http://schemas.microsoft.com/office/drawing/2014/main" id="{532D4D1D-2131-09B3-3608-EA3BE133C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0892" y="5563618"/>
                <a:ext cx="166155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𝐺𝑟𝑏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0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32D4D1D-2131-09B3-3608-EA3BE133C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0892" y="5563618"/>
                <a:ext cx="1661558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34">
            <a:extLst>
              <a:ext uri="{FF2B5EF4-FFF2-40B4-BE49-F238E27FC236}">
                <a16:creationId xmlns="" xmlns:a16="http://schemas.microsoft.com/office/drawing/2014/main" id="{EEC2EAB6-22CB-429B-51DD-649EB5EC5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675" y="4696519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Control Sequence</a:t>
            </a:r>
          </a:p>
        </p:txBody>
      </p:sp>
      <p:sp>
        <p:nvSpPr>
          <p:cNvPr id="92" name="TextBox 34">
            <a:extLst>
              <a:ext uri="{FF2B5EF4-FFF2-40B4-BE49-F238E27FC236}">
                <a16:creationId xmlns="" xmlns:a16="http://schemas.microsoft.com/office/drawing/2014/main" id="{E9EB31A0-17D7-1DF2-DB01-6C81851C4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887" y="2699212"/>
            <a:ext cx="27543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addi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p:sp>
        <p:nvSpPr>
          <p:cNvPr id="93" name="TextBox 34">
            <a:extLst>
              <a:ext uri="{FF2B5EF4-FFF2-40B4-BE49-F238E27FC236}">
                <a16:creationId xmlns="" xmlns:a16="http://schemas.microsoft.com/office/drawing/2014/main" id="{1F856E77-1434-DCE9-8F99-A15E5F1CE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632" y="4364395"/>
            <a:ext cx="21528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shr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p:sp>
        <p:nvSpPr>
          <p:cNvPr id="94" name="Rectangle 11">
            <a:extLst>
              <a:ext uri="{FF2B5EF4-FFF2-40B4-BE49-F238E27FC236}">
                <a16:creationId xmlns="" xmlns:a16="http://schemas.microsoft.com/office/drawing/2014/main" id="{C9CBF598-23CF-222C-F50C-17791D8D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94" y="5917588"/>
            <a:ext cx="13049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8">
                <a:extLst>
                  <a:ext uri="{FF2B5EF4-FFF2-40B4-BE49-F238E27FC236}">
                    <a16:creationId xmlns="" xmlns:a16="http://schemas.microsoft.com/office/drawing/2014/main" id="{B6BA0EEB-F039-C39C-5A09-B039D52BC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425" y="5844364"/>
                <a:ext cx="133847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𝐺𝑟𝑎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sSub>
                        <m:sSubPr>
                          <m:ctrlP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  <m:sub>
                          <m:r>
                            <a:rPr lang="en-GB" alt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𝑊𝑟𝑖𝑡𝑒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5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BA0EEB-F039-C39C-5A09-B039D52BC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0425" y="5844364"/>
                <a:ext cx="1338471" cy="307777"/>
              </a:xfrm>
              <a:prstGeom prst="rect">
                <a:avLst/>
              </a:prstGeom>
              <a:blipFill rotWithShape="0">
                <a:blip r:embed="rId16"/>
                <a:stretch>
                  <a:fillRect r="-422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 11">
            <a:extLst>
              <a:ext uri="{FF2B5EF4-FFF2-40B4-BE49-F238E27FC236}">
                <a16:creationId xmlns="" xmlns:a16="http://schemas.microsoft.com/office/drawing/2014/main" id="{681A3F3A-8973-734C-F323-79D2AAAC0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95" y="6177815"/>
            <a:ext cx="13193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8">
                <a:extLst>
                  <a:ext uri="{FF2B5EF4-FFF2-40B4-BE49-F238E27FC236}">
                    <a16:creationId xmlns="" xmlns:a16="http://schemas.microsoft.com/office/drawing/2014/main" id="{012FBF5C-9505-5488-1927-BCF4BD0EB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640" y="6156069"/>
                <a:ext cx="161717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𝑊𝑎𝑖𝑡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GB" alt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𝐸𝑛𝑑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7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12FBF5C-9505-5488-1927-BCF4BD0EB0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640" y="6156069"/>
                <a:ext cx="1617176" cy="30777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8">
                <a:extLst>
                  <a:ext uri="{FF2B5EF4-FFF2-40B4-BE49-F238E27FC236}">
                    <a16:creationId xmlns="" xmlns:a16="http://schemas.microsoft.com/office/drawing/2014/main" id="{BCDCAD6A-14B0-E018-7854-E38123F56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4554" y="5847046"/>
                <a:ext cx="356721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GB" altLang="en-US" sz="1400" b="0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     </a:t>
                </a:r>
                <a14:m>
                  <m:oMath xmlns:m="http://schemas.openxmlformats.org/officeDocument/2006/math"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≠0→</m:t>
                    </m:r>
                    <m:r>
                      <a:rPr lang="en-IN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     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𝑜𝑢𝑡</m:t>
                        </m:r>
                      </m:sub>
                    </m:sSub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𝑆𝐻𝑅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en-GB" altLang="en-US" sz="1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𝑖𝑛</m:t>
                        </m:r>
                      </m:sub>
                    </m:sSub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𝐷𝑒𝑐𝑟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𝐺𝑜𝑡𝑜</m:t>
                    </m:r>
                    <m:r>
                      <a:rPr lang="en-GB" altLang="en-US" sz="1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7)</m:t>
                    </m:r>
                  </m:oMath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8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CDCAD6A-14B0-E018-7854-E38123F56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4554" y="5847046"/>
                <a:ext cx="3567217" cy="307777"/>
              </a:xfrm>
              <a:prstGeom prst="rect">
                <a:avLst/>
              </a:prstGeom>
              <a:blipFill rotWithShape="0">
                <a:blip r:embed="rId18"/>
                <a:stretch>
                  <a:fillRect b="-78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8">
                <a:extLst>
                  <a:ext uri="{FF2B5EF4-FFF2-40B4-BE49-F238E27FC236}">
                    <a16:creationId xmlns="" xmlns:a16="http://schemas.microsoft.com/office/drawing/2014/main" id="{0C7329DF-808C-A8F7-10E1-4B7DBC622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1314" y="6151022"/>
                <a:ext cx="356983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𝐺𝑟𝑎</m:t>
                      </m:r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alt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alt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𝐸𝑛𝑑</m:t>
                      </m:r>
                    </m:oMath>
                  </m:oMathPara>
                </a14:m>
                <a:endParaRPr lang="en-US" altLang="en-US" sz="1400" dirty="0">
                  <a:solidFill>
                    <a:srgbClr val="0000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9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C7329DF-808C-A8F7-10E1-4B7DBC6225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1314" y="6151022"/>
                <a:ext cx="3569837" cy="30777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34">
            <a:extLst>
              <a:ext uri="{FF2B5EF4-FFF2-40B4-BE49-F238E27FC236}">
                <a16:creationId xmlns="" xmlns:a16="http://schemas.microsoft.com/office/drawing/2014/main" id="{CE381269-B138-FB20-4C15-D59442208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694" y="2679880"/>
            <a:ext cx="20792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>
                <a:solidFill>
                  <a:srgbClr val="28A834"/>
                </a:solidFill>
                <a:latin typeface="+mj-lt"/>
              </a:rPr>
              <a:t>add</a:t>
            </a:r>
          </a:p>
        </p:txBody>
      </p:sp>
      <p:sp>
        <p:nvSpPr>
          <p:cNvPr id="101" name="TextBox 34">
            <a:extLst>
              <a:ext uri="{FF2B5EF4-FFF2-40B4-BE49-F238E27FC236}">
                <a16:creationId xmlns="" xmlns:a16="http://schemas.microsoft.com/office/drawing/2014/main" id="{0FEAC04B-A478-526E-1616-8406CA73F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915" y="4410191"/>
            <a:ext cx="20792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u="sng" dirty="0" err="1">
                <a:solidFill>
                  <a:srgbClr val="28A834"/>
                </a:solidFill>
                <a:latin typeface="+mj-lt"/>
              </a:rPr>
              <a:t>st</a:t>
            </a:r>
            <a:endParaRPr lang="en-US" altLang="en-US" sz="1600" b="1" u="sng" dirty="0">
              <a:solidFill>
                <a:srgbClr val="28A834"/>
              </a:solidFill>
              <a:latin typeface="+mj-lt"/>
            </a:endParaRPr>
          </a:p>
        </p:txBody>
      </p:sp>
      <p:sp>
        <p:nvSpPr>
          <p:cNvPr id="124" name="Rectangle 11">
            <a:extLst>
              <a:ext uri="{FF2B5EF4-FFF2-40B4-BE49-F238E27FC236}">
                <a16:creationId xmlns="" xmlns:a16="http://schemas.microsoft.com/office/drawing/2014/main" id="{C260667D-CF4E-7F8B-167A-A81436447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6" y="4018041"/>
            <a:ext cx="1371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FF"/>
                </a:solidFill>
                <a:latin typeface="+mj-lt"/>
              </a:rPr>
              <a:t>T5.</a:t>
            </a:r>
          </a:p>
        </p:txBody>
      </p:sp>
    </p:spTree>
    <p:extLst>
      <p:ext uri="{BB962C8B-B14F-4D97-AF65-F5344CB8AC3E}">
        <p14:creationId xmlns:p14="http://schemas.microsoft.com/office/powerpoint/2010/main" val="373662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42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0" grpId="0"/>
      <p:bldP spid="61" grpId="0"/>
      <p:bldP spid="62" grpId="0"/>
      <p:bldP spid="63" grpId="0"/>
      <p:bldP spid="65" grpId="0"/>
      <p:bldP spid="66" grpId="0"/>
      <p:bldP spid="68" grpId="0"/>
      <p:bldP spid="69" grpId="0"/>
      <p:bldP spid="70" grpId="0"/>
      <p:bldP spid="71" grpId="0"/>
      <p:bldP spid="73" grpId="0"/>
      <p:bldP spid="74" grpId="0"/>
      <p:bldP spid="76" grpId="0"/>
      <p:bldP spid="77" grpId="0"/>
      <p:bldP spid="78" grpId="0"/>
      <p:bldP spid="80" grpId="0"/>
      <p:bldP spid="81" grpId="0"/>
      <p:bldP spid="82" grpId="0"/>
      <p:bldP spid="83" grpId="0"/>
      <p:bldP spid="85" grpId="0"/>
      <p:bldP spid="86" grpId="0"/>
      <p:bldP spid="88" grpId="0"/>
      <p:bldP spid="89" grpId="0"/>
      <p:bldP spid="90" grpId="0"/>
      <p:bldP spid="94" grpId="0"/>
      <p:bldP spid="95" grpId="0"/>
      <p:bldP spid="96" grpId="0"/>
      <p:bldP spid="97" grpId="0"/>
      <p:bldP spid="98" grpId="0"/>
      <p:bldP spid="99" grpId="0"/>
      <p:bldP spid="1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73100" y="0"/>
            <a:ext cx="11582400" cy="593725"/>
          </a:xfrm>
        </p:spPr>
        <p:txBody>
          <a:bodyPr/>
          <a:lstStyle/>
          <a:p>
            <a:r>
              <a:rPr lang="en-US" altLang="en-US" dirty="0"/>
              <a:t>References</a:t>
            </a:r>
            <a:endParaRPr lang="en-IN" alt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0" y="593725"/>
            <a:ext cx="12192000" cy="5807076"/>
          </a:xfrm>
          <a:prstGeom prst="rect">
            <a:avLst/>
          </a:prstGeom>
        </p:spPr>
        <p:txBody>
          <a:bodyPr numCol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008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315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315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756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84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13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41" indent="-228614" algn="l" defTabSz="91445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None/>
            </a:pPr>
            <a:r>
              <a:rPr lang="en-US" altLang="en-US" dirty="0"/>
              <a:t>Text Book</a:t>
            </a:r>
          </a:p>
          <a:p>
            <a:pPr eaLnBrk="1" hangingPunct="1"/>
            <a:r>
              <a:rPr lang="en-US" altLang="en-US" dirty="0"/>
              <a:t>William Stallings “Computer Organization and architecture” Prentice Hall, 7th edition, 2006.</a:t>
            </a:r>
          </a:p>
          <a:p>
            <a:pPr eaLnBrk="1" hangingPunct="1"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869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673100" y="0"/>
            <a:ext cx="11582400" cy="593725"/>
          </a:xfrm>
        </p:spPr>
        <p:txBody>
          <a:bodyPr/>
          <a:lstStyle/>
          <a:p>
            <a:r>
              <a:rPr lang="en-IN" altLang="en-US"/>
              <a:t>Questions ?</a:t>
            </a:r>
          </a:p>
        </p:txBody>
      </p:sp>
      <p:pic>
        <p:nvPicPr>
          <p:cNvPr id="3174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12192000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4780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2192000" cy="6400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2444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7EDB3D8-5104-4D87-8C8D-2CC852A64116}" vid="{AC4F1F6F-5ED8-4903-AD1D-8422EA2939E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9231</TotalTime>
  <Words>1718</Words>
  <Application>Microsoft Office PowerPoint</Application>
  <PresentationFormat>Custom</PresentationFormat>
  <Paragraphs>424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Custom Design</vt:lpstr>
      <vt:lpstr>Control unit</vt:lpstr>
      <vt:lpstr>Control unit</vt:lpstr>
      <vt:lpstr>Control unit inputs</vt:lpstr>
      <vt:lpstr>Control unit inputs</vt:lpstr>
      <vt:lpstr>Control unit outputs</vt:lpstr>
      <vt:lpstr>Implementation of Control unit</vt:lpstr>
      <vt:lpstr>Use of Data Path Conditions in Control Signal Logic</vt:lpstr>
      <vt:lpstr>Use of Data Path Conditions in Control Signal Logic</vt:lpstr>
      <vt:lpstr>Generation of the logic for PCin and Gra</vt:lpstr>
      <vt:lpstr>Overview of Control Unit</vt:lpstr>
      <vt:lpstr>Pros and Cons of Hardwired control unit</vt:lpstr>
      <vt:lpstr>Summary</vt:lpstr>
      <vt:lpstr>Homework</vt:lpstr>
      <vt:lpstr>References</vt:lpstr>
      <vt:lpstr>Questions ?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THE INTERNET OF THINGS TO THE WEB OF THINGS Set up cloud environment –Cloud access from sensors</dc:title>
  <dc:creator>M Rajasekhara Babu</dc:creator>
  <cp:lastModifiedBy>admin</cp:lastModifiedBy>
  <cp:revision>1115</cp:revision>
  <dcterms:created xsi:type="dcterms:W3CDTF">2017-07-17T09:29:07Z</dcterms:created>
  <dcterms:modified xsi:type="dcterms:W3CDTF">2023-02-23T05:29:48Z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2023-01-29T15:57:00Z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4fe9c144-18de-4635-bf88-c4fd0d7e455c</vt:lpwstr>
  </property>
  <property fmtid="{D5CDD505-2E9C-101B-9397-08002B2CF9AE}" pid="7" name="MSIP_Label_defa4170-0d19-0005-0004-bc88714345d2_ActionId">
    <vt:lpwstr>f4bedf4b-d3c1-4695-af7b-59f684f5dcbc</vt:lpwstr>
  </property>
  <property fmtid="{D5CDD505-2E9C-101B-9397-08002B2CF9AE}" pid="8" name="MSIP_Label_defa4170-0d19-0005-0004-bc88714345d2_ContentBits">
    <vt:lpwstr>0</vt:lpwstr>
  </property>
</Properties>
</file>