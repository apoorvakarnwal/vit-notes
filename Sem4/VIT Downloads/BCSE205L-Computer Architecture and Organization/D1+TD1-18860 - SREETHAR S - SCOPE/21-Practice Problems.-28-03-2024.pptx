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5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9" r:id="rId2"/>
    <p:sldId id="310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75" r:id="rId27"/>
    <p:sldId id="376" r:id="rId28"/>
    <p:sldId id="377" r:id="rId29"/>
    <p:sldId id="378" r:id="rId30"/>
    <p:sldId id="379" r:id="rId31"/>
    <p:sldId id="380" r:id="rId32"/>
    <p:sldId id="381" r:id="rId33"/>
    <p:sldId id="382" r:id="rId34"/>
    <p:sldId id="383" r:id="rId35"/>
    <p:sldId id="384" r:id="rId36"/>
    <p:sldId id="385" r:id="rId37"/>
    <p:sldId id="386" r:id="rId38"/>
    <p:sldId id="387" r:id="rId39"/>
    <p:sldId id="388" r:id="rId40"/>
    <p:sldId id="389" r:id="rId41"/>
    <p:sldId id="390" r:id="rId42"/>
    <p:sldId id="391" r:id="rId43"/>
    <p:sldId id="311" r:id="rId4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8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91989" y="663016"/>
            <a:ext cx="32080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761" y="1886838"/>
            <a:ext cx="6007100" cy="2586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8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21.png"/><Relationship Id="rId4" Type="http://schemas.openxmlformats.org/officeDocument/2006/relationships/image" Target="../media/image43.jp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4246" y="663016"/>
            <a:ext cx="3684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DMA</a:t>
            </a:r>
            <a:r>
              <a:rPr spc="-229" dirty="0"/>
              <a:t> </a:t>
            </a:r>
            <a:r>
              <a:rPr spc="-5" dirty="0"/>
              <a:t>-</a:t>
            </a:r>
            <a:r>
              <a:rPr spc="-25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517" y="1516125"/>
            <a:ext cx="11396980" cy="1064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45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hard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disk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transfer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rate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Mbytes/second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constantly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transferring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memory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using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1850"/>
              </a:lnSpc>
            </a:pPr>
            <a:r>
              <a:rPr sz="2200" spc="-5" dirty="0">
                <a:latin typeface="Times New Roman"/>
                <a:cs typeface="Times New Roman"/>
              </a:rPr>
              <a:t>DMA.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processor</a:t>
            </a:r>
            <a:r>
              <a:rPr sz="2200" dirty="0">
                <a:latin typeface="Times New Roman"/>
                <a:cs typeface="Times New Roman"/>
              </a:rPr>
              <a:t> runs</a:t>
            </a:r>
            <a:r>
              <a:rPr sz="2200" spc="-5" dirty="0">
                <a:latin typeface="Times New Roman"/>
                <a:cs typeface="Times New Roman"/>
              </a:rPr>
              <a:t> 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300MHz,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takes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300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900 </a:t>
            </a:r>
            <a:r>
              <a:rPr sz="2200" spc="-5" dirty="0">
                <a:latin typeface="Times New Roman"/>
                <a:cs typeface="Times New Roman"/>
              </a:rPr>
              <a:t>clock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cycles 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initiate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complete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70000"/>
              </a:lnSpc>
              <a:spcBef>
                <a:spcPts val="395"/>
              </a:spcBef>
            </a:pPr>
            <a:r>
              <a:rPr sz="2200" spc="-5" dirty="0">
                <a:latin typeface="Times New Roman"/>
                <a:cs typeface="Times New Roman"/>
              </a:rPr>
              <a:t>DMA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transfer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respectively.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size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transfer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Kbytes,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what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percentage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processor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consumed for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 transfer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operation?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5117" y="2689986"/>
            <a:ext cx="6970395" cy="956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245"/>
              </a:lnSpc>
              <a:spcBef>
                <a:spcPts val="95"/>
              </a:spcBef>
            </a:pPr>
            <a:r>
              <a:rPr sz="22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Solution: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ts val="2245"/>
              </a:lnSpc>
            </a:pP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Step</a:t>
            </a:r>
            <a:r>
              <a:rPr sz="22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1: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Find</a:t>
            </a:r>
            <a:r>
              <a:rPr sz="22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Total 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Transfer</a:t>
            </a:r>
            <a:r>
              <a:rPr sz="22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  <a:p>
            <a:pPr marL="952500">
              <a:lnSpc>
                <a:spcPct val="100000"/>
              </a:lnSpc>
              <a:spcBef>
                <a:spcPts val="204"/>
              </a:spcBef>
            </a:pPr>
            <a:r>
              <a:rPr sz="2200" spc="-15" dirty="0">
                <a:latin typeface="Times New Roman"/>
                <a:cs typeface="Times New Roman"/>
              </a:rPr>
              <a:t>Transfer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rate=20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MB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second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</a:t>
            </a:r>
            <a:r>
              <a:rPr sz="2200" dirty="0">
                <a:latin typeface="Times New Roman"/>
                <a:cs typeface="Times New Roman"/>
              </a:rPr>
              <a:t>20 </a:t>
            </a:r>
            <a:r>
              <a:rPr sz="2200" spc="-5" dirty="0">
                <a:latin typeface="Times New Roman"/>
                <a:cs typeface="Times New Roman"/>
              </a:rPr>
              <a:t>× </a:t>
            </a:r>
            <a:r>
              <a:rPr sz="2200" spc="5" dirty="0">
                <a:latin typeface="Times New Roman"/>
                <a:cs typeface="Times New Roman"/>
              </a:rPr>
              <a:t>2</a:t>
            </a:r>
            <a:r>
              <a:rPr sz="2175" spc="7" baseline="24904" dirty="0">
                <a:latin typeface="Times New Roman"/>
                <a:cs typeface="Times New Roman"/>
              </a:rPr>
              <a:t>20 </a:t>
            </a:r>
            <a:r>
              <a:rPr sz="2175" spc="300" baseline="249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bytes/sec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9517" y="3647313"/>
            <a:ext cx="3265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Data=20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KB=20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2</a:t>
            </a:r>
            <a:r>
              <a:rPr sz="2175" spc="7" baseline="24904" dirty="0">
                <a:latin typeface="Times New Roman"/>
                <a:cs typeface="Times New Roman"/>
              </a:rPr>
              <a:t>10 </a:t>
            </a:r>
            <a:r>
              <a:rPr sz="2175" spc="232" baseline="249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bytes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8849" y="4010025"/>
            <a:ext cx="60737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spc="-15" dirty="0">
                <a:latin typeface="Times New Roman"/>
                <a:cs typeface="Times New Roman"/>
              </a:rPr>
              <a:t>Time=(20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 </a:t>
            </a:r>
            <a:r>
              <a:rPr sz="2200" dirty="0">
                <a:latin typeface="Times New Roman"/>
                <a:cs typeface="Times New Roman"/>
              </a:rPr>
              <a:t>2</a:t>
            </a:r>
            <a:r>
              <a:rPr sz="2175" baseline="24904" dirty="0">
                <a:latin typeface="Times New Roman"/>
                <a:cs typeface="Times New Roman"/>
              </a:rPr>
              <a:t>10</a:t>
            </a:r>
            <a:r>
              <a:rPr sz="2200" dirty="0">
                <a:latin typeface="Times New Roman"/>
                <a:cs typeface="Times New Roman"/>
              </a:rPr>
              <a:t>)/(20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</a:t>
            </a:r>
            <a:r>
              <a:rPr sz="2175" baseline="24904" dirty="0">
                <a:latin typeface="Times New Roman"/>
                <a:cs typeface="Times New Roman"/>
              </a:rPr>
              <a:t>20</a:t>
            </a:r>
            <a:r>
              <a:rPr sz="2200" dirty="0">
                <a:latin typeface="Times New Roman"/>
                <a:cs typeface="Times New Roman"/>
              </a:rPr>
              <a:t>)=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 × </a:t>
            </a:r>
            <a:r>
              <a:rPr sz="2200" spc="5" dirty="0">
                <a:latin typeface="Times New Roman"/>
                <a:cs typeface="Times New Roman"/>
              </a:rPr>
              <a:t>2</a:t>
            </a:r>
            <a:r>
              <a:rPr sz="2175" spc="7" baseline="24904" dirty="0">
                <a:latin typeface="Times New Roman"/>
                <a:cs typeface="Times New Roman"/>
              </a:rPr>
              <a:t>-10 </a:t>
            </a:r>
            <a:r>
              <a:rPr sz="2175" spc="284" baseline="249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 × </a:t>
            </a:r>
            <a:r>
              <a:rPr sz="2200" dirty="0">
                <a:latin typeface="Times New Roman"/>
                <a:cs typeface="Times New Roman"/>
              </a:rPr>
              <a:t>10</a:t>
            </a:r>
            <a:r>
              <a:rPr sz="2175" baseline="24904" dirty="0">
                <a:latin typeface="Times New Roman"/>
                <a:cs typeface="Times New Roman"/>
              </a:rPr>
              <a:t>-3</a:t>
            </a:r>
            <a:r>
              <a:rPr sz="2175" spc="-7" baseline="249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=1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ms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517" y="4606290"/>
            <a:ext cx="33889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Step</a:t>
            </a:r>
            <a:r>
              <a:rPr sz="22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:Find</a:t>
            </a:r>
            <a:r>
              <a:rPr sz="22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Processor</a:t>
            </a:r>
            <a:r>
              <a:rPr sz="2200" b="1" spc="-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269" y="4946609"/>
            <a:ext cx="8873490" cy="17970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878840">
              <a:lnSpc>
                <a:spcPct val="100000"/>
              </a:lnSpc>
              <a:spcBef>
                <a:spcPts val="260"/>
              </a:spcBef>
            </a:pPr>
            <a:r>
              <a:rPr sz="2200" spc="-5" dirty="0">
                <a:latin typeface="Times New Roman"/>
                <a:cs typeface="Times New Roman"/>
              </a:rPr>
              <a:t>Processor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speed=</a:t>
            </a:r>
            <a:r>
              <a:rPr sz="2200" dirty="0">
                <a:latin typeface="Times New Roman"/>
                <a:cs typeface="Times New Roman"/>
              </a:rPr>
              <a:t> 300</a:t>
            </a:r>
            <a:r>
              <a:rPr sz="2200" spc="-5" dirty="0">
                <a:latin typeface="Times New Roman"/>
                <a:cs typeface="Times New Roman"/>
              </a:rPr>
              <a:t> MHz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</a:t>
            </a:r>
            <a:r>
              <a:rPr sz="2200" dirty="0">
                <a:latin typeface="Times New Roman"/>
                <a:cs typeface="Times New Roman"/>
              </a:rPr>
              <a:t>300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 </a:t>
            </a:r>
            <a:r>
              <a:rPr sz="2200" dirty="0">
                <a:latin typeface="Times New Roman"/>
                <a:cs typeface="Times New Roman"/>
              </a:rPr>
              <a:t>10</a:t>
            </a:r>
            <a:r>
              <a:rPr sz="2175" baseline="24904" dirty="0">
                <a:latin typeface="Times New Roman"/>
                <a:cs typeface="Times New Roman"/>
              </a:rPr>
              <a:t>6</a:t>
            </a:r>
            <a:r>
              <a:rPr sz="2175" spc="284" baseline="249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Cycles/sec</a:t>
            </a:r>
            <a:endParaRPr sz="2200">
              <a:latin typeface="Times New Roman"/>
              <a:cs typeface="Times New Roman"/>
            </a:endParaRPr>
          </a:p>
          <a:p>
            <a:pPr marL="878840" marR="30480">
              <a:lnSpc>
                <a:spcPts val="2420"/>
              </a:lnSpc>
              <a:spcBef>
                <a:spcPts val="540"/>
              </a:spcBef>
            </a:pP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300" spc="5" dirty="0">
                <a:latin typeface="Times New Roman"/>
                <a:cs typeface="Times New Roman"/>
              </a:rPr>
              <a:t>y</a:t>
            </a: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300" spc="-10" dirty="0">
                <a:latin typeface="Times New Roman"/>
                <a:cs typeface="Times New Roman"/>
              </a:rPr>
              <a:t>l</a:t>
            </a:r>
            <a:r>
              <a:rPr sz="2300" dirty="0">
                <a:latin typeface="Times New Roman"/>
                <a:cs typeface="Times New Roman"/>
              </a:rPr>
              <a:t>es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requir</a:t>
            </a:r>
            <a:r>
              <a:rPr sz="2300" spc="-10" dirty="0">
                <a:latin typeface="Times New Roman"/>
                <a:cs typeface="Times New Roman"/>
              </a:rPr>
              <a:t>e</a:t>
            </a:r>
            <a:r>
              <a:rPr sz="2300" dirty="0">
                <a:latin typeface="Times New Roman"/>
                <a:cs typeface="Times New Roman"/>
              </a:rPr>
              <a:t>d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by CPU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DMA</a:t>
            </a:r>
            <a:r>
              <a:rPr sz="2300" spc="-190" dirty="0">
                <a:latin typeface="Times New Roman"/>
                <a:cs typeface="Times New Roman"/>
              </a:rPr>
              <a:t> </a:t>
            </a:r>
            <a:r>
              <a:rPr sz="2300" spc="-90" dirty="0">
                <a:latin typeface="Times New Roman"/>
                <a:cs typeface="Times New Roman"/>
              </a:rPr>
              <a:t>T</a:t>
            </a:r>
            <a:r>
              <a:rPr sz="2300" dirty="0">
                <a:latin typeface="Times New Roman"/>
                <a:cs typeface="Times New Roman"/>
              </a:rPr>
              <a:t>ransfer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=</a:t>
            </a:r>
            <a:r>
              <a:rPr sz="2300" dirty="0">
                <a:latin typeface="Times New Roman"/>
                <a:cs typeface="Times New Roman"/>
              </a:rPr>
              <a:t>300</a:t>
            </a:r>
            <a:r>
              <a:rPr sz="2300" spc="-5" dirty="0">
                <a:latin typeface="Times New Roman"/>
                <a:cs typeface="Times New Roman"/>
              </a:rPr>
              <a:t>+</a:t>
            </a:r>
            <a:r>
              <a:rPr sz="2300" dirty="0">
                <a:latin typeface="Times New Roman"/>
                <a:cs typeface="Times New Roman"/>
              </a:rPr>
              <a:t>900 </a:t>
            </a:r>
            <a:r>
              <a:rPr sz="2300" spc="-5" dirty="0">
                <a:latin typeface="Times New Roman"/>
                <a:cs typeface="Times New Roman"/>
              </a:rPr>
              <a:t>=</a:t>
            </a:r>
            <a:r>
              <a:rPr sz="2300" dirty="0">
                <a:latin typeface="Times New Roman"/>
                <a:cs typeface="Times New Roman"/>
              </a:rPr>
              <a:t>1200 c</a:t>
            </a:r>
            <a:r>
              <a:rPr sz="2300" spc="5" dirty="0">
                <a:latin typeface="Times New Roman"/>
                <a:cs typeface="Times New Roman"/>
              </a:rPr>
              <a:t>y</a:t>
            </a: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300" spc="-10" dirty="0">
                <a:latin typeface="Times New Roman"/>
                <a:cs typeface="Times New Roman"/>
              </a:rPr>
              <a:t>l</a:t>
            </a:r>
            <a:r>
              <a:rPr sz="2300" dirty="0">
                <a:latin typeface="Times New Roman"/>
                <a:cs typeface="Times New Roman"/>
              </a:rPr>
              <a:t>es  </a:t>
            </a:r>
            <a:r>
              <a:rPr sz="2300" spc="-15" dirty="0">
                <a:latin typeface="Times New Roman"/>
                <a:cs typeface="Times New Roman"/>
              </a:rPr>
              <a:t>Time=1200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cycles/(300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×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10</a:t>
            </a:r>
            <a:r>
              <a:rPr sz="2250" spc="7" baseline="25925" dirty="0">
                <a:latin typeface="Times New Roman"/>
                <a:cs typeface="Times New Roman"/>
              </a:rPr>
              <a:t>6</a:t>
            </a:r>
            <a:r>
              <a:rPr sz="2300" spc="5" dirty="0">
                <a:latin typeface="Times New Roman"/>
                <a:cs typeface="Times New Roman"/>
              </a:rPr>
              <a:t>)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cycles/sec =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4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×10 </a:t>
            </a:r>
            <a:r>
              <a:rPr sz="2250" spc="22" baseline="25925" dirty="0">
                <a:latin typeface="Times New Roman"/>
                <a:cs typeface="Times New Roman"/>
              </a:rPr>
              <a:t>-6</a:t>
            </a:r>
            <a:r>
              <a:rPr sz="2250" spc="270" baseline="259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sec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=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.004 </a:t>
            </a:r>
            <a:r>
              <a:rPr sz="2300" spc="-15" dirty="0">
                <a:latin typeface="Times New Roman"/>
                <a:cs typeface="Times New Roman"/>
              </a:rPr>
              <a:t>ms</a:t>
            </a:r>
            <a:endParaRPr sz="23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60"/>
              </a:spcBef>
            </a:pP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Step</a:t>
            </a:r>
            <a:r>
              <a:rPr sz="22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3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Find</a:t>
            </a:r>
            <a:r>
              <a:rPr sz="22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%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 of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Processor</a:t>
            </a:r>
            <a:r>
              <a:rPr sz="22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  <a:p>
            <a:pPr marL="878840">
              <a:lnSpc>
                <a:spcPct val="100000"/>
              </a:lnSpc>
              <a:spcBef>
                <a:spcPts val="229"/>
              </a:spcBef>
            </a:pPr>
            <a:r>
              <a:rPr sz="2200" spc="-5" dirty="0">
                <a:latin typeface="Times New Roman"/>
                <a:cs typeface="Times New Roman"/>
              </a:rPr>
              <a:t>%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Processor</a:t>
            </a:r>
            <a:r>
              <a:rPr sz="2200" spc="-30" dirty="0">
                <a:latin typeface="Times New Roman"/>
                <a:cs typeface="Times New Roman"/>
              </a:rPr>
              <a:t> Time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(.004/1)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100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0.4%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26426" y="2747898"/>
            <a:ext cx="1470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𝑻𝒐𝒕𝒂𝒍</a:t>
            </a:r>
            <a:r>
              <a:rPr sz="1800" spc="-4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𝑻𝒊𝒎𝒆</a:t>
            </a:r>
            <a:r>
              <a:rPr sz="1800" spc="5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98940" y="2915285"/>
            <a:ext cx="2261870" cy="15240"/>
          </a:xfrm>
          <a:custGeom>
            <a:avLst/>
            <a:gdLst/>
            <a:ahLst/>
            <a:cxnLst/>
            <a:rect l="l" t="t" r="r" b="b"/>
            <a:pathLst>
              <a:path w="2261870" h="15239">
                <a:moveTo>
                  <a:pt x="2261615" y="0"/>
                </a:moveTo>
                <a:lnTo>
                  <a:pt x="0" y="0"/>
                </a:lnTo>
                <a:lnTo>
                  <a:pt x="0" y="15239"/>
                </a:lnTo>
                <a:lnTo>
                  <a:pt x="2261615" y="15239"/>
                </a:lnTo>
                <a:lnTo>
                  <a:pt x="226161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820782" y="2574163"/>
            <a:ext cx="1222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𝑻𝒐𝒕𝒂𝒍</a:t>
            </a:r>
            <a:r>
              <a:rPr sz="1800" spc="-7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𝑫𝒂𝒕𝒂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87382" y="2900298"/>
            <a:ext cx="228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𝑻𝒐𝒕𝒂𝒍</a:t>
            </a:r>
            <a:r>
              <a:rPr sz="1800" spc="-4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𝑻𝒓𝒂𝒏𝒔𝒇𝒆𝒓</a:t>
            </a:r>
            <a:r>
              <a:rPr sz="1800" spc="-3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𝑹𝒂𝒕𝒆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54722" y="3596385"/>
            <a:ext cx="2011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𝑷𝒓𝒐𝒄𝒆𝒔𝒔𝒐𝒓</a:t>
            </a:r>
            <a:r>
              <a:rPr sz="1800" spc="-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𝑻𝒊𝒎𝒆</a:t>
            </a:r>
            <a:r>
              <a:rPr sz="1800" spc="6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66479" y="3763645"/>
            <a:ext cx="2781300" cy="15240"/>
          </a:xfrm>
          <a:custGeom>
            <a:avLst/>
            <a:gdLst/>
            <a:ahLst/>
            <a:cxnLst/>
            <a:rect l="l" t="t" r="r" b="b"/>
            <a:pathLst>
              <a:path w="2781300" h="15239">
                <a:moveTo>
                  <a:pt x="2781300" y="0"/>
                </a:moveTo>
                <a:lnTo>
                  <a:pt x="0" y="0"/>
                </a:lnTo>
                <a:lnTo>
                  <a:pt x="0" y="15239"/>
                </a:lnTo>
                <a:lnTo>
                  <a:pt x="2781300" y="15239"/>
                </a:lnTo>
                <a:lnTo>
                  <a:pt x="2781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155048" y="3422091"/>
            <a:ext cx="2809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𝑪𝒚𝒄𝒍𝒆𝒔</a:t>
            </a:r>
            <a:r>
              <a:rPr sz="1800" spc="-1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𝒇𝒐𝒓</a:t>
            </a:r>
            <a:r>
              <a:rPr sz="1800" spc="-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𝑫𝑴𝑨</a:t>
            </a:r>
            <a:r>
              <a:rPr sz="1800" spc="-1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mbria Math"/>
                <a:cs typeface="Cambria Math"/>
              </a:rPr>
              <a:t>𝒕𝒓𝒂𝒏𝒔𝒇𝒆𝒓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16820" y="3748785"/>
            <a:ext cx="1881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𝑷𝒓𝒐𝒄𝒆𝒔𝒔𝒐𝒓</a:t>
            </a:r>
            <a:r>
              <a:rPr sz="1800" spc="-3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mbria Math"/>
                <a:cs typeface="Cambria Math"/>
              </a:rPr>
              <a:t>𝑺𝒑𝒆𝒆𝒅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88732" y="4175252"/>
            <a:ext cx="2265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r>
              <a:rPr sz="1800" spc="-1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𝑷𝒓𝒐𝒄𝒆𝒔𝒔𝒐𝒓</a:t>
            </a:r>
            <a:r>
              <a:rPr sz="1800" spc="-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𝑻𝒊𝒎𝒆</a:t>
            </a:r>
            <a:r>
              <a:rPr sz="1800" spc="7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43693" y="4054855"/>
            <a:ext cx="1306830" cy="52260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1300" u="heavy" spc="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mbria Math"/>
                <a:cs typeface="Cambria Math"/>
              </a:rPr>
              <a:t>𝑷𝒓𝒐𝒄𝒆𝒔𝒔𝒐𝒓</a:t>
            </a:r>
            <a:r>
              <a:rPr sz="1300" u="heavy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300" u="heavy" spc="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mbria Math"/>
                <a:cs typeface="Cambria Math"/>
              </a:rPr>
              <a:t>𝑻𝒊𝒎𝒆</a:t>
            </a:r>
            <a:endParaRPr sz="13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300" spc="5" dirty="0">
                <a:solidFill>
                  <a:srgbClr val="C00000"/>
                </a:solidFill>
                <a:latin typeface="Cambria Math"/>
                <a:cs typeface="Cambria Math"/>
              </a:rPr>
              <a:t>𝑻𝒐𝒕𝒂𝒍</a:t>
            </a:r>
            <a:r>
              <a:rPr sz="1300" spc="-3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300" spc="5" dirty="0">
                <a:solidFill>
                  <a:srgbClr val="C00000"/>
                </a:solidFill>
                <a:latin typeface="Cambria Math"/>
                <a:cs typeface="Cambria Math"/>
              </a:rPr>
              <a:t>𝑻𝒊𝒎𝒆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59743" y="4175252"/>
            <a:ext cx="70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×</a:t>
            </a:r>
            <a:r>
              <a:rPr sz="1800" b="1" spc="-10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ourier New"/>
                <a:cs typeface="Courier New"/>
              </a:rPr>
              <a:t>100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5116" y="1145489"/>
            <a:ext cx="14668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Problem</a:t>
            </a:r>
            <a:r>
              <a:rPr sz="2400" b="1" spc="-7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/>
                <a:cs typeface="Times New Roman"/>
              </a:rPr>
              <a:t>1: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1664" y="39623"/>
            <a:ext cx="3249168" cy="131521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28039" y="5615051"/>
            <a:ext cx="2810947" cy="124294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013580" y="4609338"/>
            <a:ext cx="2279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MHz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10</a:t>
            </a:r>
            <a:r>
              <a:rPr sz="1800" b="1" baseline="25462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  <a:r>
              <a:rPr sz="1800" b="1" spc="187" baseline="2546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cycles/sec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4246" y="663016"/>
            <a:ext cx="3684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DMA</a:t>
            </a:r>
            <a:r>
              <a:rPr spc="-229" dirty="0"/>
              <a:t> </a:t>
            </a:r>
            <a:r>
              <a:rPr spc="-5" dirty="0"/>
              <a:t>-</a:t>
            </a:r>
            <a:r>
              <a:rPr spc="-25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517" y="1516125"/>
            <a:ext cx="11396980" cy="1064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45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hard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disk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transfer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rate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Mbytes/second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constantly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transferring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memory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using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1850"/>
              </a:lnSpc>
            </a:pPr>
            <a:r>
              <a:rPr sz="2200" spc="-5" dirty="0">
                <a:latin typeface="Times New Roman"/>
                <a:cs typeface="Times New Roman"/>
              </a:rPr>
              <a:t>DMA.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processor</a:t>
            </a:r>
            <a:r>
              <a:rPr sz="2200" dirty="0">
                <a:latin typeface="Times New Roman"/>
                <a:cs typeface="Times New Roman"/>
              </a:rPr>
              <a:t> runs</a:t>
            </a:r>
            <a:r>
              <a:rPr sz="2200" spc="-5" dirty="0">
                <a:latin typeface="Times New Roman"/>
                <a:cs typeface="Times New Roman"/>
              </a:rPr>
              <a:t> 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600MHz,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takes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300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900 </a:t>
            </a:r>
            <a:r>
              <a:rPr sz="2200" spc="-5" dirty="0">
                <a:latin typeface="Times New Roman"/>
                <a:cs typeface="Times New Roman"/>
              </a:rPr>
              <a:t>clock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cycles 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initiate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complete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70000"/>
              </a:lnSpc>
              <a:spcBef>
                <a:spcPts val="395"/>
              </a:spcBef>
            </a:pPr>
            <a:r>
              <a:rPr sz="2200" spc="-5" dirty="0">
                <a:latin typeface="Times New Roman"/>
                <a:cs typeface="Times New Roman"/>
              </a:rPr>
              <a:t>DMA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transfer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respectively.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size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transfer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Kbytes,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what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percentage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processor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consumed for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 transfer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operation?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5117" y="2689986"/>
            <a:ext cx="6970395" cy="956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245"/>
              </a:lnSpc>
              <a:spcBef>
                <a:spcPts val="95"/>
              </a:spcBef>
            </a:pPr>
            <a:r>
              <a:rPr sz="22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Solution: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ts val="2245"/>
              </a:lnSpc>
            </a:pP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Step</a:t>
            </a:r>
            <a:r>
              <a:rPr sz="22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1: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Find</a:t>
            </a:r>
            <a:r>
              <a:rPr sz="22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Total 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Transfer</a:t>
            </a:r>
            <a:r>
              <a:rPr sz="22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  <a:p>
            <a:pPr marL="952500">
              <a:lnSpc>
                <a:spcPct val="100000"/>
              </a:lnSpc>
              <a:spcBef>
                <a:spcPts val="204"/>
              </a:spcBef>
            </a:pPr>
            <a:r>
              <a:rPr sz="2200" spc="-15" dirty="0">
                <a:latin typeface="Times New Roman"/>
                <a:cs typeface="Times New Roman"/>
              </a:rPr>
              <a:t>Transfer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rate=10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MB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second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</a:t>
            </a:r>
            <a:r>
              <a:rPr sz="2200" dirty="0">
                <a:latin typeface="Times New Roman"/>
                <a:cs typeface="Times New Roman"/>
              </a:rPr>
              <a:t>10 </a:t>
            </a:r>
            <a:r>
              <a:rPr sz="2200" spc="-5" dirty="0">
                <a:latin typeface="Times New Roman"/>
                <a:cs typeface="Times New Roman"/>
              </a:rPr>
              <a:t>× </a:t>
            </a:r>
            <a:r>
              <a:rPr sz="2200" spc="5" dirty="0">
                <a:latin typeface="Times New Roman"/>
                <a:cs typeface="Times New Roman"/>
              </a:rPr>
              <a:t>2</a:t>
            </a:r>
            <a:r>
              <a:rPr sz="2175" spc="7" baseline="24904" dirty="0">
                <a:latin typeface="Times New Roman"/>
                <a:cs typeface="Times New Roman"/>
              </a:rPr>
              <a:t>20 </a:t>
            </a:r>
            <a:r>
              <a:rPr sz="2175" spc="300" baseline="249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bytes/sec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9517" y="3647313"/>
            <a:ext cx="3265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Data=20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KB=20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2</a:t>
            </a:r>
            <a:r>
              <a:rPr sz="2175" spc="7" baseline="24904" dirty="0">
                <a:latin typeface="Times New Roman"/>
                <a:cs typeface="Times New Roman"/>
              </a:rPr>
              <a:t>10 </a:t>
            </a:r>
            <a:r>
              <a:rPr sz="2175" spc="232" baseline="249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bytes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8849" y="4010025"/>
            <a:ext cx="6144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spc="-15" dirty="0">
                <a:latin typeface="Times New Roman"/>
                <a:cs typeface="Times New Roman"/>
              </a:rPr>
              <a:t>Time=(20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 </a:t>
            </a:r>
            <a:r>
              <a:rPr sz="2200" dirty="0">
                <a:latin typeface="Times New Roman"/>
                <a:cs typeface="Times New Roman"/>
              </a:rPr>
              <a:t>2</a:t>
            </a:r>
            <a:r>
              <a:rPr sz="2175" baseline="24904" dirty="0">
                <a:latin typeface="Times New Roman"/>
                <a:cs typeface="Times New Roman"/>
              </a:rPr>
              <a:t>10</a:t>
            </a:r>
            <a:r>
              <a:rPr sz="2200" dirty="0">
                <a:latin typeface="Times New Roman"/>
                <a:cs typeface="Times New Roman"/>
              </a:rPr>
              <a:t>)/(10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 </a:t>
            </a:r>
            <a:r>
              <a:rPr sz="2200" dirty="0">
                <a:latin typeface="Times New Roman"/>
                <a:cs typeface="Times New Roman"/>
              </a:rPr>
              <a:t>2</a:t>
            </a:r>
            <a:r>
              <a:rPr sz="2175" baseline="24904" dirty="0">
                <a:latin typeface="Times New Roman"/>
                <a:cs typeface="Times New Roman"/>
              </a:rPr>
              <a:t>20</a:t>
            </a:r>
            <a:r>
              <a:rPr sz="2200" dirty="0">
                <a:latin typeface="Times New Roman"/>
                <a:cs typeface="Times New Roman"/>
              </a:rPr>
              <a:t>)=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2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 </a:t>
            </a:r>
            <a:r>
              <a:rPr sz="2200" spc="5" dirty="0">
                <a:latin typeface="Times New Roman"/>
                <a:cs typeface="Times New Roman"/>
              </a:rPr>
              <a:t>2</a:t>
            </a:r>
            <a:r>
              <a:rPr sz="2175" spc="7" baseline="24904" dirty="0">
                <a:latin typeface="Times New Roman"/>
                <a:cs typeface="Times New Roman"/>
              </a:rPr>
              <a:t>-10 </a:t>
            </a:r>
            <a:r>
              <a:rPr sz="2175" spc="284" baseline="249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2 × </a:t>
            </a:r>
            <a:r>
              <a:rPr sz="2200" dirty="0">
                <a:latin typeface="Times New Roman"/>
                <a:cs typeface="Times New Roman"/>
              </a:rPr>
              <a:t>10</a:t>
            </a:r>
            <a:r>
              <a:rPr sz="2175" baseline="24904" dirty="0">
                <a:latin typeface="Times New Roman"/>
                <a:cs typeface="Times New Roman"/>
              </a:rPr>
              <a:t>-3</a:t>
            </a:r>
            <a:r>
              <a:rPr sz="2175" spc="-7" baseline="249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2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ms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517" y="4606290"/>
            <a:ext cx="33889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Step</a:t>
            </a:r>
            <a:r>
              <a:rPr sz="22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:Find</a:t>
            </a:r>
            <a:r>
              <a:rPr sz="22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Processor</a:t>
            </a:r>
            <a:r>
              <a:rPr sz="2200" b="1" spc="-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269" y="4946609"/>
            <a:ext cx="8873490" cy="17970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878840">
              <a:lnSpc>
                <a:spcPct val="100000"/>
              </a:lnSpc>
              <a:spcBef>
                <a:spcPts val="260"/>
              </a:spcBef>
            </a:pPr>
            <a:r>
              <a:rPr sz="2200" spc="-5" dirty="0">
                <a:latin typeface="Times New Roman"/>
                <a:cs typeface="Times New Roman"/>
              </a:rPr>
              <a:t>Processor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speed=</a:t>
            </a:r>
            <a:r>
              <a:rPr sz="2200" dirty="0">
                <a:latin typeface="Times New Roman"/>
                <a:cs typeface="Times New Roman"/>
              </a:rPr>
              <a:t> 600</a:t>
            </a:r>
            <a:r>
              <a:rPr sz="2200" spc="-5" dirty="0">
                <a:latin typeface="Times New Roman"/>
                <a:cs typeface="Times New Roman"/>
              </a:rPr>
              <a:t> MHz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</a:t>
            </a:r>
            <a:r>
              <a:rPr sz="2200" dirty="0">
                <a:latin typeface="Times New Roman"/>
                <a:cs typeface="Times New Roman"/>
              </a:rPr>
              <a:t>600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 </a:t>
            </a:r>
            <a:r>
              <a:rPr sz="2200" dirty="0">
                <a:latin typeface="Times New Roman"/>
                <a:cs typeface="Times New Roman"/>
              </a:rPr>
              <a:t>10</a:t>
            </a:r>
            <a:r>
              <a:rPr sz="2175" baseline="24904" dirty="0">
                <a:latin typeface="Times New Roman"/>
                <a:cs typeface="Times New Roman"/>
              </a:rPr>
              <a:t>6</a:t>
            </a:r>
            <a:r>
              <a:rPr sz="2175" spc="284" baseline="249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Cycles/sec</a:t>
            </a:r>
            <a:endParaRPr sz="2200">
              <a:latin typeface="Times New Roman"/>
              <a:cs typeface="Times New Roman"/>
            </a:endParaRPr>
          </a:p>
          <a:p>
            <a:pPr marL="878840" marR="30480">
              <a:lnSpc>
                <a:spcPts val="2420"/>
              </a:lnSpc>
              <a:spcBef>
                <a:spcPts val="540"/>
              </a:spcBef>
            </a:pP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300" spc="5" dirty="0">
                <a:latin typeface="Times New Roman"/>
                <a:cs typeface="Times New Roman"/>
              </a:rPr>
              <a:t>y</a:t>
            </a: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300" spc="-10" dirty="0">
                <a:latin typeface="Times New Roman"/>
                <a:cs typeface="Times New Roman"/>
              </a:rPr>
              <a:t>l</a:t>
            </a:r>
            <a:r>
              <a:rPr sz="2300" dirty="0">
                <a:latin typeface="Times New Roman"/>
                <a:cs typeface="Times New Roman"/>
              </a:rPr>
              <a:t>es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requir</a:t>
            </a:r>
            <a:r>
              <a:rPr sz="2300" spc="-10" dirty="0">
                <a:latin typeface="Times New Roman"/>
                <a:cs typeface="Times New Roman"/>
              </a:rPr>
              <a:t>e</a:t>
            </a:r>
            <a:r>
              <a:rPr sz="2300" dirty="0">
                <a:latin typeface="Times New Roman"/>
                <a:cs typeface="Times New Roman"/>
              </a:rPr>
              <a:t>d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by CPU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DMA</a:t>
            </a:r>
            <a:r>
              <a:rPr sz="2300" spc="-190" dirty="0">
                <a:latin typeface="Times New Roman"/>
                <a:cs typeface="Times New Roman"/>
              </a:rPr>
              <a:t> </a:t>
            </a:r>
            <a:r>
              <a:rPr sz="2300" spc="-90" dirty="0">
                <a:latin typeface="Times New Roman"/>
                <a:cs typeface="Times New Roman"/>
              </a:rPr>
              <a:t>T</a:t>
            </a:r>
            <a:r>
              <a:rPr sz="2300" dirty="0">
                <a:latin typeface="Times New Roman"/>
                <a:cs typeface="Times New Roman"/>
              </a:rPr>
              <a:t>ransfer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=</a:t>
            </a:r>
            <a:r>
              <a:rPr sz="2300" dirty="0">
                <a:latin typeface="Times New Roman"/>
                <a:cs typeface="Times New Roman"/>
              </a:rPr>
              <a:t>300</a:t>
            </a:r>
            <a:r>
              <a:rPr sz="2300" spc="-5" dirty="0">
                <a:latin typeface="Times New Roman"/>
                <a:cs typeface="Times New Roman"/>
              </a:rPr>
              <a:t>+</a:t>
            </a:r>
            <a:r>
              <a:rPr sz="2300" dirty="0">
                <a:latin typeface="Times New Roman"/>
                <a:cs typeface="Times New Roman"/>
              </a:rPr>
              <a:t>900 </a:t>
            </a:r>
            <a:r>
              <a:rPr sz="2300" spc="-5" dirty="0">
                <a:latin typeface="Times New Roman"/>
                <a:cs typeface="Times New Roman"/>
              </a:rPr>
              <a:t>=</a:t>
            </a:r>
            <a:r>
              <a:rPr sz="2300" dirty="0">
                <a:latin typeface="Times New Roman"/>
                <a:cs typeface="Times New Roman"/>
              </a:rPr>
              <a:t>1200 c</a:t>
            </a:r>
            <a:r>
              <a:rPr sz="2300" spc="5" dirty="0">
                <a:latin typeface="Times New Roman"/>
                <a:cs typeface="Times New Roman"/>
              </a:rPr>
              <a:t>y</a:t>
            </a: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300" spc="-10" dirty="0">
                <a:latin typeface="Times New Roman"/>
                <a:cs typeface="Times New Roman"/>
              </a:rPr>
              <a:t>l</a:t>
            </a:r>
            <a:r>
              <a:rPr sz="2300" dirty="0">
                <a:latin typeface="Times New Roman"/>
                <a:cs typeface="Times New Roman"/>
              </a:rPr>
              <a:t>es  </a:t>
            </a:r>
            <a:r>
              <a:rPr sz="2300" spc="-15" dirty="0">
                <a:latin typeface="Times New Roman"/>
                <a:cs typeface="Times New Roman"/>
              </a:rPr>
              <a:t>Time=1200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cycles/(600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×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10</a:t>
            </a:r>
            <a:r>
              <a:rPr sz="2250" spc="7" baseline="25925" dirty="0">
                <a:latin typeface="Times New Roman"/>
                <a:cs typeface="Times New Roman"/>
              </a:rPr>
              <a:t>6</a:t>
            </a:r>
            <a:r>
              <a:rPr sz="2300" spc="5" dirty="0">
                <a:latin typeface="Times New Roman"/>
                <a:cs typeface="Times New Roman"/>
              </a:rPr>
              <a:t>)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cycles/sec =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2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×10 </a:t>
            </a:r>
            <a:r>
              <a:rPr sz="2250" spc="22" baseline="25925" dirty="0">
                <a:latin typeface="Times New Roman"/>
                <a:cs typeface="Times New Roman"/>
              </a:rPr>
              <a:t>-6</a:t>
            </a:r>
            <a:r>
              <a:rPr sz="2250" spc="270" baseline="259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sec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=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.002 </a:t>
            </a:r>
            <a:r>
              <a:rPr sz="2300" spc="-15" dirty="0">
                <a:latin typeface="Times New Roman"/>
                <a:cs typeface="Times New Roman"/>
              </a:rPr>
              <a:t>ms</a:t>
            </a:r>
            <a:endParaRPr sz="23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60"/>
              </a:spcBef>
            </a:pP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Step</a:t>
            </a:r>
            <a:r>
              <a:rPr sz="22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3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Find</a:t>
            </a:r>
            <a:r>
              <a:rPr sz="22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%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 of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Processor</a:t>
            </a:r>
            <a:r>
              <a:rPr sz="22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  <a:p>
            <a:pPr marL="878840">
              <a:lnSpc>
                <a:spcPct val="100000"/>
              </a:lnSpc>
              <a:spcBef>
                <a:spcPts val="229"/>
              </a:spcBef>
            </a:pPr>
            <a:r>
              <a:rPr sz="2200" spc="-5" dirty="0">
                <a:latin typeface="Times New Roman"/>
                <a:cs typeface="Times New Roman"/>
              </a:rPr>
              <a:t>%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Processor</a:t>
            </a:r>
            <a:r>
              <a:rPr sz="2200" spc="-30" dirty="0">
                <a:latin typeface="Times New Roman"/>
                <a:cs typeface="Times New Roman"/>
              </a:rPr>
              <a:t> Time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(.002/2)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100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0.1%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26426" y="2747898"/>
            <a:ext cx="1470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𝑻𝒐𝒕𝒂𝒍</a:t>
            </a:r>
            <a:r>
              <a:rPr sz="1800" spc="-4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𝑻𝒊𝒎𝒆</a:t>
            </a:r>
            <a:r>
              <a:rPr sz="1800" spc="5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98940" y="2915285"/>
            <a:ext cx="2261870" cy="15240"/>
          </a:xfrm>
          <a:custGeom>
            <a:avLst/>
            <a:gdLst/>
            <a:ahLst/>
            <a:cxnLst/>
            <a:rect l="l" t="t" r="r" b="b"/>
            <a:pathLst>
              <a:path w="2261870" h="15239">
                <a:moveTo>
                  <a:pt x="2261615" y="0"/>
                </a:moveTo>
                <a:lnTo>
                  <a:pt x="0" y="0"/>
                </a:lnTo>
                <a:lnTo>
                  <a:pt x="0" y="15239"/>
                </a:lnTo>
                <a:lnTo>
                  <a:pt x="2261615" y="15239"/>
                </a:lnTo>
                <a:lnTo>
                  <a:pt x="226161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820782" y="2574163"/>
            <a:ext cx="1222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𝑻𝒐𝒕𝒂𝒍</a:t>
            </a:r>
            <a:r>
              <a:rPr sz="1800" spc="-7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𝑫𝒂𝒕𝒂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87382" y="2900298"/>
            <a:ext cx="228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𝑻𝒐𝒕𝒂𝒍</a:t>
            </a:r>
            <a:r>
              <a:rPr sz="1800" spc="-4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𝑻𝒓𝒂𝒏𝒔𝒇𝒆𝒓</a:t>
            </a:r>
            <a:r>
              <a:rPr sz="1800" spc="-3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𝑹𝒂𝒕𝒆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54722" y="3596385"/>
            <a:ext cx="2011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𝑷𝒓𝒐𝒄𝒆𝒔𝒔𝒐𝒓</a:t>
            </a:r>
            <a:r>
              <a:rPr sz="1800" spc="-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𝑻𝒊𝒎𝒆</a:t>
            </a:r>
            <a:r>
              <a:rPr sz="1800" spc="6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66479" y="3763645"/>
            <a:ext cx="2781300" cy="15240"/>
          </a:xfrm>
          <a:custGeom>
            <a:avLst/>
            <a:gdLst/>
            <a:ahLst/>
            <a:cxnLst/>
            <a:rect l="l" t="t" r="r" b="b"/>
            <a:pathLst>
              <a:path w="2781300" h="15239">
                <a:moveTo>
                  <a:pt x="2781300" y="0"/>
                </a:moveTo>
                <a:lnTo>
                  <a:pt x="0" y="0"/>
                </a:lnTo>
                <a:lnTo>
                  <a:pt x="0" y="15239"/>
                </a:lnTo>
                <a:lnTo>
                  <a:pt x="2781300" y="15239"/>
                </a:lnTo>
                <a:lnTo>
                  <a:pt x="2781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155048" y="3422091"/>
            <a:ext cx="2809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𝑪𝒚𝒄𝒍𝒆𝒔</a:t>
            </a:r>
            <a:r>
              <a:rPr sz="1800" spc="-1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𝒇𝒐𝒓</a:t>
            </a:r>
            <a:r>
              <a:rPr sz="1800" spc="-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𝑫𝑴𝑨</a:t>
            </a:r>
            <a:r>
              <a:rPr sz="1800" spc="-1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mbria Math"/>
                <a:cs typeface="Cambria Math"/>
              </a:rPr>
              <a:t>𝒕𝒓𝒂𝒏𝒔𝒇𝒆𝒓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16820" y="3748785"/>
            <a:ext cx="1881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𝑷𝒓𝒐𝒄𝒆𝒔𝒔𝒐𝒓</a:t>
            </a:r>
            <a:r>
              <a:rPr sz="1800" spc="-3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mbria Math"/>
                <a:cs typeface="Cambria Math"/>
              </a:rPr>
              <a:t>𝑺𝒑𝒆𝒆𝒅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88732" y="4175252"/>
            <a:ext cx="2265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r>
              <a:rPr sz="1800" spc="-1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𝑷𝒓𝒐𝒄𝒆𝒔𝒔𝒐𝒓</a:t>
            </a:r>
            <a:r>
              <a:rPr sz="1800" spc="-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𝑻𝒊𝒎𝒆</a:t>
            </a:r>
            <a:r>
              <a:rPr sz="1800" spc="7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43693" y="4054855"/>
            <a:ext cx="1306830" cy="52260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1300" u="heavy" spc="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mbria Math"/>
                <a:cs typeface="Cambria Math"/>
              </a:rPr>
              <a:t>𝑷𝒓𝒐𝒄𝒆𝒔𝒔𝒐𝒓</a:t>
            </a:r>
            <a:r>
              <a:rPr sz="1300" u="heavy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300" u="heavy" spc="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mbria Math"/>
                <a:cs typeface="Cambria Math"/>
              </a:rPr>
              <a:t>𝑻𝒊𝒎𝒆</a:t>
            </a:r>
            <a:endParaRPr sz="13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300" spc="5" dirty="0">
                <a:solidFill>
                  <a:srgbClr val="C00000"/>
                </a:solidFill>
                <a:latin typeface="Cambria Math"/>
                <a:cs typeface="Cambria Math"/>
              </a:rPr>
              <a:t>𝑻𝒐𝒕𝒂𝒍</a:t>
            </a:r>
            <a:r>
              <a:rPr sz="1300" spc="-3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300" spc="5" dirty="0">
                <a:solidFill>
                  <a:srgbClr val="C00000"/>
                </a:solidFill>
                <a:latin typeface="Cambria Math"/>
                <a:cs typeface="Cambria Math"/>
              </a:rPr>
              <a:t>𝑻𝒊𝒎𝒆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59743" y="4175252"/>
            <a:ext cx="70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×</a:t>
            </a:r>
            <a:r>
              <a:rPr sz="1800" b="1" spc="-10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ourier New"/>
                <a:cs typeface="Courier New"/>
              </a:rPr>
              <a:t>100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5116" y="1145489"/>
            <a:ext cx="14668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6600"/>
                </a:solidFill>
                <a:latin typeface="Times New Roman"/>
                <a:cs typeface="Times New Roman"/>
              </a:rPr>
              <a:t>Problem</a:t>
            </a:r>
            <a:r>
              <a:rPr sz="2400" b="1" spc="-7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2: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1664" y="0"/>
            <a:ext cx="3249168" cy="123291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4589" y="5544754"/>
            <a:ext cx="2797779" cy="126861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013580" y="4609338"/>
            <a:ext cx="2279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MHz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10</a:t>
            </a:r>
            <a:r>
              <a:rPr sz="1800" b="1" baseline="25462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  <a:r>
              <a:rPr sz="1800" b="1" spc="187" baseline="2546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cycles/sec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663016"/>
            <a:ext cx="7319009" cy="1048748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6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423161"/>
            <a:ext cx="3917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0046D2"/>
                </a:solidFill>
                <a:latin typeface="Calibri"/>
                <a:cs typeface="Calibri"/>
              </a:rPr>
              <a:t>Elapsed</a:t>
            </a:r>
            <a:r>
              <a:rPr sz="2400" b="1" spc="-9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46D2"/>
                </a:solidFill>
                <a:latin typeface="Calibri"/>
                <a:cs typeface="Calibri"/>
              </a:rPr>
              <a:t>time/Response</a:t>
            </a:r>
            <a:r>
              <a:rPr sz="2400" b="1" spc="-7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46D2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5039" y="3752469"/>
            <a:ext cx="10587355" cy="153479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between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start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completion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task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5080" indent="-227965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executing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CPU,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accessing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disk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memory,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waiting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for 	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I/O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4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processes,</a:t>
            </a:r>
            <a:r>
              <a:rPr sz="240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operating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system</a:t>
            </a:r>
            <a:r>
              <a:rPr sz="24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overhead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useful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comparison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purposes.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2796" y="5576315"/>
            <a:ext cx="6793160" cy="4465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0616" y="2001011"/>
            <a:ext cx="7537401" cy="16322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533400" y="663016"/>
            <a:ext cx="8233409" cy="1048748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6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396061"/>
            <a:ext cx="11083290" cy="46761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0046D2"/>
                </a:solidFill>
                <a:latin typeface="Calibri"/>
                <a:cs typeface="Calibri"/>
              </a:rPr>
              <a:t>CPU</a:t>
            </a:r>
            <a:r>
              <a:rPr sz="2400" b="1" spc="-9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46D2"/>
                </a:solidFill>
                <a:latin typeface="Calibri"/>
                <a:cs typeface="Calibri"/>
              </a:rPr>
              <a:t>Execution</a:t>
            </a:r>
            <a:r>
              <a:rPr sz="2400" b="1" spc="-7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46D2"/>
                </a:solidFill>
                <a:latin typeface="Calibri"/>
                <a:cs typeface="Calibri"/>
              </a:rPr>
              <a:t>Time/CPU</a:t>
            </a:r>
            <a:r>
              <a:rPr sz="2400" b="1" spc="-8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46D2"/>
                </a:solidFill>
                <a:latin typeface="Calibri"/>
                <a:cs typeface="Calibri"/>
              </a:rPr>
              <a:t>Time/Processing</a:t>
            </a:r>
            <a:r>
              <a:rPr sz="2400" b="1" spc="-9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46D2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74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35" dirty="0">
                <a:latin typeface="Calibri"/>
                <a:cs typeface="Calibri"/>
              </a:rPr>
              <a:t>Total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CPU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spends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(excludes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I/O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running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40"/>
              </a:lnSpc>
            </a:pP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programs).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Doesn’t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waiting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I/O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running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programs.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User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CPU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System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CPU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4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  <a:tab pos="2193290" algn="l"/>
              </a:tabLst>
            </a:pPr>
            <a:r>
              <a:rPr sz="2400" b="1" dirty="0">
                <a:solidFill>
                  <a:srgbClr val="0046D2"/>
                </a:solidFill>
                <a:latin typeface="Calibri"/>
                <a:cs typeface="Calibri"/>
              </a:rPr>
              <a:t>Throughput</a:t>
            </a:r>
            <a:r>
              <a:rPr sz="2400" b="1" spc="-8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46D2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0046D2"/>
                </a:solidFill>
                <a:latin typeface="Calibri"/>
                <a:cs typeface="Calibri"/>
              </a:rPr>
              <a:t>	a</a:t>
            </a:r>
            <a:r>
              <a:rPr sz="2400" b="1" spc="-1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46D2"/>
                </a:solidFill>
                <a:latin typeface="Calibri"/>
                <a:cs typeface="Calibri"/>
              </a:rPr>
              <a:t>CPU/Bandwidth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total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amount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work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done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697230" marR="328295" lvl="1" indent="-227965">
              <a:lnSpc>
                <a:spcPts val="259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measure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performance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(Quantity)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unit 	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053" y="3820667"/>
            <a:ext cx="5977106" cy="5273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3311" y="5855208"/>
            <a:ext cx="6411468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762000" y="663016"/>
            <a:ext cx="8462009" cy="1048748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6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665" algn="l"/>
              </a:tabLst>
            </a:pPr>
            <a:r>
              <a:rPr spc="-20" dirty="0"/>
              <a:t>MIPS</a:t>
            </a: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Millions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second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r>
              <a:rPr spc="-10" dirty="0"/>
              <a:t>MFLOPS</a:t>
            </a: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Millions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floating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operations(FLO)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second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663016"/>
            <a:ext cx="7395209" cy="1048748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6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066"/>
            <a:ext cx="11155045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080" indent="-229235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1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maximize</a:t>
            </a:r>
            <a:r>
              <a:rPr sz="26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performance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want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minimize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response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task.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Thus,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performance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execution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computer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X: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605606"/>
            <a:ext cx="10548620" cy="7797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080" indent="-229235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This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means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computers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70" dirty="0">
                <a:latin typeface="Calibri"/>
                <a:cs typeface="Calibri"/>
              </a:rPr>
              <a:t>Y,</a:t>
            </a:r>
            <a:r>
              <a:rPr sz="2600" dirty="0">
                <a:latin typeface="Calibri"/>
                <a:cs typeface="Calibri"/>
              </a:rPr>
              <a:t> if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performance</a:t>
            </a:r>
            <a:r>
              <a:rPr sz="26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6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26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6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Calibri"/>
                <a:cs typeface="Calibri"/>
              </a:rPr>
              <a:t>greater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than</a:t>
            </a:r>
            <a:r>
              <a:rPr sz="26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6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performance</a:t>
            </a:r>
            <a:r>
              <a:rPr sz="26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6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75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600" spc="-175" dirty="0">
                <a:latin typeface="Calibri"/>
                <a:cs typeface="Calibri"/>
              </a:rPr>
              <a:t>,</a:t>
            </a:r>
            <a:r>
              <a:rPr sz="2600" dirty="0">
                <a:latin typeface="Calibri"/>
                <a:cs typeface="Calibri"/>
              </a:rPr>
              <a:t> we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have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6381394"/>
            <a:ext cx="947229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  <a:tab pos="6489065" algn="l"/>
              </a:tabLst>
            </a:pPr>
            <a:r>
              <a:rPr sz="2600" dirty="0">
                <a:latin typeface="Calibri"/>
                <a:cs typeface="Calibri"/>
              </a:rPr>
              <a:t>That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6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Calibri"/>
                <a:cs typeface="Calibri"/>
              </a:rPr>
              <a:t>execution</a:t>
            </a:r>
            <a:r>
              <a:rPr sz="26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6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6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6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6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longer</a:t>
            </a:r>
            <a:r>
              <a:rPr sz="26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C00000"/>
                </a:solidFill>
                <a:latin typeface="Calibri"/>
                <a:cs typeface="Calibri"/>
              </a:rPr>
              <a:t>than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	X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faster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80" dirty="0">
                <a:latin typeface="Calibri"/>
                <a:cs typeface="Calibri"/>
              </a:rPr>
              <a:t>Y.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7323" y="2773679"/>
            <a:ext cx="4035552" cy="9052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3028" y="4628388"/>
            <a:ext cx="4390644" cy="140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4455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70" dirty="0"/>
              <a:t> </a:t>
            </a:r>
            <a:r>
              <a:rPr dirty="0"/>
              <a:t>Metrics</a:t>
            </a:r>
            <a:r>
              <a:rPr spc="-1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105" y="1594116"/>
            <a:ext cx="10156404" cy="48075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6144" y="3175254"/>
            <a:ext cx="5152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C00000"/>
                </a:solidFill>
                <a:latin typeface="Cambria"/>
                <a:cs typeface="Cambria"/>
              </a:rPr>
              <a:t>Performance</a:t>
            </a:r>
            <a:r>
              <a:rPr sz="2775" spc="-15" baseline="-21021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75" spc="-30" baseline="-2102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=</a:t>
            </a:r>
            <a:r>
              <a:rPr sz="2800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r>
              <a:rPr sz="2800" spc="-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×</a:t>
            </a:r>
            <a:r>
              <a:rPr sz="2800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mbria"/>
                <a:cs typeface="Cambria"/>
              </a:rPr>
              <a:t>Performance</a:t>
            </a:r>
            <a:r>
              <a:rPr sz="2775" spc="-15" baseline="-21021" dirty="0">
                <a:solidFill>
                  <a:srgbClr val="C00000"/>
                </a:solidFill>
                <a:latin typeface="Cambria"/>
                <a:cs typeface="Cambria"/>
              </a:rPr>
              <a:t>B</a:t>
            </a:r>
            <a:endParaRPr sz="2775" baseline="-21021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697865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70" dirty="0"/>
              <a:t> </a:t>
            </a:r>
            <a:r>
              <a:rPr dirty="0"/>
              <a:t>Metrics</a:t>
            </a:r>
            <a:r>
              <a:rPr spc="-1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124" y="1188719"/>
            <a:ext cx="8305800" cy="54056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50334" y="3224910"/>
            <a:ext cx="7262495" cy="1332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Hint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(X)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(Y)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800">
              <a:latin typeface="Calibri"/>
              <a:cs typeface="Calibri"/>
            </a:endParaRPr>
          </a:p>
          <a:p>
            <a:pPr marL="2156460">
              <a:lnSpc>
                <a:spcPct val="100000"/>
              </a:lnSpc>
            </a:pPr>
            <a:r>
              <a:rPr sz="2800" spc="-20" dirty="0">
                <a:solidFill>
                  <a:srgbClr val="C00000"/>
                </a:solidFill>
                <a:latin typeface="Cambria"/>
                <a:cs typeface="Cambria"/>
              </a:rPr>
              <a:t>Performance</a:t>
            </a:r>
            <a:r>
              <a:rPr sz="2775" spc="-30" baseline="-21021" dirty="0">
                <a:solidFill>
                  <a:srgbClr val="C00000"/>
                </a:solidFill>
                <a:latin typeface="Cambria"/>
                <a:cs typeface="Cambria"/>
              </a:rPr>
              <a:t>X</a:t>
            </a:r>
            <a:r>
              <a:rPr sz="2775" spc="-15" baseline="-2102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=</a:t>
            </a: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×</a:t>
            </a: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mbria"/>
                <a:cs typeface="Cambria"/>
              </a:rPr>
              <a:t>Performance</a:t>
            </a:r>
            <a:r>
              <a:rPr sz="2775" spc="-15" baseline="-21021" dirty="0">
                <a:solidFill>
                  <a:srgbClr val="C00000"/>
                </a:solidFill>
                <a:latin typeface="Cambria"/>
                <a:cs typeface="Cambria"/>
              </a:rPr>
              <a:t>Y</a:t>
            </a:r>
            <a:endParaRPr sz="2775" baseline="-21021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663016"/>
            <a:ext cx="7700009" cy="1048748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6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36166"/>
            <a:ext cx="6232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running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machine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X,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5994" y="2481198"/>
            <a:ext cx="2230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Performance</a:t>
            </a:r>
            <a:r>
              <a:rPr sz="2800" spc="-1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59679" y="2735452"/>
            <a:ext cx="2638425" cy="22860"/>
          </a:xfrm>
          <a:custGeom>
            <a:avLst/>
            <a:gdLst/>
            <a:ahLst/>
            <a:cxnLst/>
            <a:rect l="l" t="t" r="r" b="b"/>
            <a:pathLst>
              <a:path w="2638425" h="22860">
                <a:moveTo>
                  <a:pt x="2638044" y="0"/>
                </a:moveTo>
                <a:lnTo>
                  <a:pt x="0" y="0"/>
                </a:lnTo>
                <a:lnTo>
                  <a:pt x="0" y="22860"/>
                </a:lnTo>
                <a:lnTo>
                  <a:pt x="2638044" y="22860"/>
                </a:lnTo>
                <a:lnTo>
                  <a:pt x="263804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91453" y="2367737"/>
            <a:ext cx="17589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47615" y="2661030"/>
            <a:ext cx="2583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Execution</a:t>
            </a:r>
            <a:r>
              <a:rPr sz="2800" spc="-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time(X)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3180714"/>
            <a:ext cx="6562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"X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faster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Y"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5375" y="3636086"/>
            <a:ext cx="29787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Performance(X)</a:t>
            </a:r>
            <a:r>
              <a:rPr sz="2800" spc="10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200" baseline="-32738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4200" spc="-22" baseline="-32738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4200" spc="-75" baseline="-32738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endParaRPr sz="4200" baseline="-32738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3931691"/>
            <a:ext cx="10500360" cy="149161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762250">
              <a:lnSpc>
                <a:spcPct val="100000"/>
              </a:lnSpc>
              <a:spcBef>
                <a:spcPts val="830"/>
              </a:spcBef>
            </a:pP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Performance(Y)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Problem:</a:t>
            </a:r>
            <a:r>
              <a:rPr sz="2800" spc="-4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Machine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seconds.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Machine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program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seconds.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faster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machine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0788" y="5422391"/>
            <a:ext cx="2630423" cy="12755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663016"/>
            <a:ext cx="7090409" cy="1048748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2533650">
              <a:lnSpc>
                <a:spcPct val="100000"/>
              </a:lnSpc>
              <a:spcBef>
                <a:spcPts val="105"/>
              </a:spcBef>
            </a:pPr>
            <a:r>
              <a:rPr dirty="0"/>
              <a:t>Computer</a:t>
            </a:r>
            <a:r>
              <a:rPr spc="-125" dirty="0"/>
              <a:t> </a:t>
            </a:r>
            <a:r>
              <a:rPr spc="-10" dirty="0"/>
              <a:t>Clock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1195050" cy="17322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Almost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constructed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clock</a:t>
            </a:r>
            <a:r>
              <a:rPr sz="2800" spc="19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determines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1F5F"/>
                </a:solidFill>
                <a:latin typeface="Calibri"/>
                <a:cs typeface="Calibri"/>
              </a:rPr>
              <a:t>when 	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events</a:t>
            </a:r>
            <a:r>
              <a:rPr sz="28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take</a:t>
            </a:r>
            <a:r>
              <a:rPr sz="2800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place</a:t>
            </a:r>
            <a:r>
              <a:rPr sz="28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8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8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hardware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These discrete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 intervals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8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cycles (ticks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r>
              <a:rPr sz="2800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8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ticks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r>
              <a:rPr sz="2800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clock 	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periods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r>
              <a:rPr sz="2800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clocks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r>
              <a:rPr sz="2800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cycles).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5118353"/>
            <a:ext cx="11083925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Designers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refer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length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period</a:t>
            </a:r>
            <a:r>
              <a:rPr sz="2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clock 	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(e.g.,</a:t>
            </a:r>
            <a:r>
              <a:rPr sz="2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250</a:t>
            </a:r>
            <a:r>
              <a:rPr sz="2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picoseconds)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8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sz="2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C00000"/>
                </a:solidFill>
                <a:latin typeface="Calibri"/>
                <a:cs typeface="Calibri"/>
              </a:rPr>
              <a:t>rate/frequency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GHz,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5 	</a:t>
            </a:r>
            <a:r>
              <a:rPr sz="2800" dirty="0">
                <a:latin typeface="Calibri"/>
                <a:cs typeface="Calibri"/>
              </a:rPr>
              <a:t>MHz),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inverse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period.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5002" y="4186574"/>
            <a:ext cx="5212998" cy="4335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14261" y="4479163"/>
            <a:ext cx="1342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mic Sans MS"/>
                <a:cs typeface="Comic Sans MS"/>
              </a:rPr>
              <a:t>clock</a:t>
            </a:r>
            <a:r>
              <a:rPr sz="1800" b="1" spc="-80" dirty="0">
                <a:latin typeface="Comic Sans MS"/>
                <a:cs typeface="Comic Sans MS"/>
              </a:rPr>
              <a:t> </a:t>
            </a:r>
            <a:r>
              <a:rPr sz="1800" b="1" spc="-10" dirty="0">
                <a:latin typeface="Comic Sans MS"/>
                <a:cs typeface="Comic Sans MS"/>
              </a:rPr>
              <a:t>period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663016"/>
            <a:ext cx="7319009" cy="740971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2533650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Computer</a:t>
            </a:r>
            <a:r>
              <a:rPr sz="2000" spc="-125" dirty="0"/>
              <a:t> </a:t>
            </a:r>
            <a:r>
              <a:rPr sz="2000" spc="-10" dirty="0"/>
              <a:t>Clock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707159"/>
            <a:ext cx="11034395" cy="3493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906780" indent="-227965">
              <a:lnSpc>
                <a:spcPct val="120100"/>
              </a:lnSpc>
              <a:spcBef>
                <a:spcPts val="100"/>
              </a:spcBef>
              <a:buFont typeface="Arial MT"/>
              <a:buChar char="•"/>
              <a:tabLst>
                <a:tab pos="420370" algn="l"/>
                <a:tab pos="2926080" algn="l"/>
              </a:tabLst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8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28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amount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clock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period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elapse 	</a:t>
            </a:r>
            <a:r>
              <a:rPr sz="2800" dirty="0">
                <a:latin typeface="Calibri"/>
                <a:cs typeface="Calibri"/>
              </a:rPr>
              <a:t>(e.g.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ns,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250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picoseconds….).</a:t>
            </a:r>
            <a:endParaRPr sz="2800">
              <a:latin typeface="Calibri"/>
              <a:cs typeface="Calibri"/>
            </a:endParaRPr>
          </a:p>
          <a:p>
            <a:pPr marL="407670" lvl="1" indent="-227965">
              <a:lnSpc>
                <a:spcPct val="100000"/>
              </a:lnSpc>
              <a:spcBef>
                <a:spcPts val="1260"/>
              </a:spcBef>
              <a:buClr>
                <a:srgbClr val="006433"/>
              </a:buClr>
              <a:buFont typeface="Arial MT"/>
              <a:buChar char="•"/>
              <a:tabLst>
                <a:tab pos="407670" algn="l"/>
              </a:tabLst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C00000"/>
                </a:solidFill>
                <a:latin typeface="Calibri"/>
                <a:cs typeface="Calibri"/>
              </a:rPr>
              <a:t>rate/frequency-</a:t>
            </a:r>
            <a:r>
              <a:rPr sz="2800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inverse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cycle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time.</a:t>
            </a:r>
            <a:endParaRPr sz="2800">
              <a:latin typeface="Calibri"/>
              <a:cs typeface="Calibri"/>
            </a:endParaRPr>
          </a:p>
          <a:p>
            <a:pPr marL="407034" lvl="1" indent="-227329">
              <a:lnSpc>
                <a:spcPct val="100000"/>
              </a:lnSpc>
              <a:spcBef>
                <a:spcPts val="935"/>
              </a:spcBef>
              <a:buClr>
                <a:srgbClr val="006433"/>
              </a:buClr>
              <a:buFont typeface="Arial MT"/>
              <a:buChar char="•"/>
              <a:tabLst>
                <a:tab pos="407034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For</a:t>
            </a:r>
            <a:r>
              <a:rPr sz="2800" spc="-6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8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28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8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8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r>
              <a:rPr sz="28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ns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clock</a:t>
            </a:r>
            <a:r>
              <a:rPr sz="2800" spc="-4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rate</a:t>
            </a:r>
            <a:r>
              <a:rPr sz="2800" spc="-7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is:</a:t>
            </a:r>
            <a:endParaRPr sz="2800">
              <a:latin typeface="Calibri"/>
              <a:cs typeface="Calibri"/>
            </a:endParaRPr>
          </a:p>
          <a:p>
            <a:pPr marL="3731260">
              <a:lnSpc>
                <a:spcPts val="3329"/>
              </a:lnSpc>
              <a:spcBef>
                <a:spcPts val="240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2587625">
              <a:lnSpc>
                <a:spcPts val="3329"/>
              </a:lnSpc>
            </a:pPr>
            <a:r>
              <a:rPr sz="2800" b="1" spc="-30" dirty="0">
                <a:latin typeface="Calibri"/>
                <a:cs typeface="Calibri"/>
              </a:rPr>
              <a:t>-------</a:t>
            </a:r>
            <a:r>
              <a:rPr sz="2800" b="1" spc="-25" dirty="0">
                <a:latin typeface="Calibri"/>
                <a:cs typeface="Calibri"/>
              </a:rPr>
              <a:t>-</a:t>
            </a:r>
            <a:r>
              <a:rPr sz="2800" b="1" spc="-30" dirty="0">
                <a:latin typeface="Calibri"/>
                <a:cs typeface="Calibri"/>
              </a:rPr>
              <a:t>-</a:t>
            </a:r>
            <a:r>
              <a:rPr sz="2800" b="1" spc="-25" dirty="0">
                <a:latin typeface="Calibri"/>
                <a:cs typeface="Calibri"/>
              </a:rPr>
              <a:t>-</a:t>
            </a:r>
            <a:r>
              <a:rPr sz="2800" b="1" spc="-30" dirty="0">
                <a:latin typeface="Calibri"/>
                <a:cs typeface="Calibri"/>
              </a:rPr>
              <a:t>-</a:t>
            </a:r>
            <a:r>
              <a:rPr sz="2800" b="1" spc="-25" dirty="0">
                <a:latin typeface="Calibri"/>
                <a:cs typeface="Calibri"/>
              </a:rPr>
              <a:t>--</a:t>
            </a:r>
            <a:r>
              <a:rPr sz="2800" b="1" spc="-30" dirty="0">
                <a:latin typeface="Calibri"/>
                <a:cs typeface="Calibri"/>
              </a:rPr>
              <a:t>-</a:t>
            </a:r>
            <a:r>
              <a:rPr sz="2800" b="1" spc="-25" dirty="0">
                <a:latin typeface="Calibri"/>
                <a:cs typeface="Calibri"/>
              </a:rPr>
              <a:t>--</a:t>
            </a:r>
            <a:r>
              <a:rPr sz="2800" b="1" spc="-30" dirty="0">
                <a:latin typeface="Calibri"/>
                <a:cs typeface="Calibri"/>
              </a:rPr>
              <a:t>-</a:t>
            </a:r>
            <a:r>
              <a:rPr sz="2800" b="1" spc="-25" dirty="0">
                <a:latin typeface="Calibri"/>
                <a:cs typeface="Calibri"/>
              </a:rPr>
              <a:t>--</a:t>
            </a:r>
            <a:r>
              <a:rPr sz="2800" b="1" spc="-30" dirty="0">
                <a:latin typeface="Calibri"/>
                <a:cs typeface="Calibri"/>
              </a:rPr>
              <a:t>-</a:t>
            </a:r>
            <a:r>
              <a:rPr sz="2800" b="1" spc="-35" dirty="0">
                <a:latin typeface="Calibri"/>
                <a:cs typeface="Calibri"/>
              </a:rPr>
              <a:t>-</a:t>
            </a:r>
            <a:r>
              <a:rPr sz="2800" b="1" dirty="0">
                <a:latin typeface="Calibri"/>
                <a:cs typeface="Calibri"/>
              </a:rPr>
              <a:t>-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200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MHz</a:t>
            </a:r>
            <a:endParaRPr sz="2800">
              <a:latin typeface="Calibri"/>
              <a:cs typeface="Calibri"/>
            </a:endParaRPr>
          </a:p>
          <a:p>
            <a:pPr marL="2978150">
              <a:lnSpc>
                <a:spcPct val="100000"/>
              </a:lnSpc>
              <a:spcBef>
                <a:spcPts val="60"/>
              </a:spcBef>
              <a:tabLst>
                <a:tab pos="4196080" algn="l"/>
              </a:tabLst>
            </a:pPr>
            <a:r>
              <a:rPr sz="2800" dirty="0">
                <a:latin typeface="Calibri"/>
                <a:cs typeface="Calibri"/>
              </a:rPr>
              <a:t>5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 </a:t>
            </a:r>
            <a:r>
              <a:rPr sz="2800" spc="-20" dirty="0">
                <a:latin typeface="Calibri"/>
                <a:cs typeface="Calibri"/>
              </a:rPr>
              <a:t>10</a:t>
            </a:r>
            <a:r>
              <a:rPr sz="2775" spc="-30" baseline="19519" dirty="0">
                <a:latin typeface="Calibri"/>
                <a:cs typeface="Calibri"/>
              </a:rPr>
              <a:t>-</a:t>
            </a:r>
            <a:r>
              <a:rPr sz="2775" spc="-75" baseline="19519" dirty="0">
                <a:latin typeface="Calibri"/>
                <a:cs typeface="Calibri"/>
              </a:rPr>
              <a:t>9</a:t>
            </a:r>
            <a:r>
              <a:rPr sz="2775" baseline="19519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sec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5901" y="5296046"/>
            <a:ext cx="5211516" cy="4335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60993" y="5523687"/>
            <a:ext cx="13430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mic Sans MS"/>
                <a:cs typeface="Comic Sans MS"/>
              </a:rPr>
              <a:t>clock</a:t>
            </a:r>
            <a:r>
              <a:rPr sz="1800" b="1" spc="-40" dirty="0">
                <a:latin typeface="Comic Sans MS"/>
                <a:cs typeface="Comic Sans MS"/>
              </a:rPr>
              <a:t> </a:t>
            </a:r>
            <a:r>
              <a:rPr sz="1800" b="1" spc="-10" dirty="0">
                <a:latin typeface="Comic Sans MS"/>
                <a:cs typeface="Comic Sans MS"/>
              </a:rPr>
              <a:t>period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5504" y="626440"/>
            <a:ext cx="79197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Processor</a:t>
            </a:r>
            <a:r>
              <a:rPr spc="-160" dirty="0"/>
              <a:t> </a:t>
            </a:r>
            <a:r>
              <a:rPr dirty="0"/>
              <a:t>Performance</a:t>
            </a:r>
            <a:r>
              <a:rPr spc="-95" dirty="0"/>
              <a:t> </a:t>
            </a:r>
            <a:r>
              <a:rPr spc="-10" dirty="0"/>
              <a:t>Equation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20576"/>
            <a:ext cx="11196955" cy="517461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Performance</a:t>
            </a:r>
            <a:r>
              <a:rPr sz="2800" spc="-13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Equation: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6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Alternatively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Also,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execution</a:t>
            </a:r>
            <a:r>
              <a:rPr sz="2800" spc="-5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time</a:t>
            </a:r>
            <a:r>
              <a:rPr sz="2800" spc="-6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-</a:t>
            </a:r>
            <a:r>
              <a:rPr sz="2800" spc="-6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depend</a:t>
            </a:r>
            <a:r>
              <a:rPr sz="2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8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8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number</a:t>
            </a:r>
            <a:r>
              <a:rPr sz="2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80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instructions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ct val="904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Execution</a:t>
            </a:r>
            <a:r>
              <a:rPr sz="2800" spc="3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800" spc="3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equals</a:t>
            </a:r>
            <a:r>
              <a:rPr sz="2800" spc="29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number</a:t>
            </a:r>
            <a:r>
              <a:rPr sz="2800" spc="30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800" spc="30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instructions</a:t>
            </a:r>
            <a:r>
              <a:rPr sz="2800" spc="3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executed</a:t>
            </a:r>
            <a:r>
              <a:rPr sz="2800" spc="30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multiplied</a:t>
            </a:r>
            <a:r>
              <a:rPr sz="2800" spc="30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by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average</a:t>
            </a:r>
            <a:r>
              <a:rPr sz="2800" spc="50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800" spc="4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per</a:t>
            </a:r>
            <a:r>
              <a:rPr sz="2800" spc="5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instruction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sz="2800" spc="50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Therefore,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5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cycles 	required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program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written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14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39395" marR="660400" indent="-227329">
              <a:lnSpc>
                <a:spcPts val="303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cycles</a:t>
            </a:r>
            <a:r>
              <a:rPr sz="2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per</a:t>
            </a:r>
            <a:r>
              <a:rPr sz="2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instruction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(CPI)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average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clock 	</a:t>
            </a:r>
            <a:r>
              <a:rPr sz="2800" dirty="0">
                <a:latin typeface="Calibri"/>
                <a:cs typeface="Calibri"/>
              </a:rPr>
              <a:t>cycles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instruction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takes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execute,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often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abbreviated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C00000"/>
                </a:solidFill>
                <a:latin typeface="Calibri"/>
                <a:cs typeface="Calibri"/>
              </a:rPr>
              <a:t>CPI</a:t>
            </a:r>
            <a:r>
              <a:rPr sz="2800" spc="-20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39667" y="1631031"/>
            <a:ext cx="7875905" cy="1461770"/>
            <a:chOff x="3439667" y="1631031"/>
            <a:chExt cx="7875905" cy="14617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4320" y="1631031"/>
              <a:ext cx="6471188" cy="3559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9667" y="1959863"/>
              <a:ext cx="4087367" cy="113233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270503" y="4985003"/>
            <a:ext cx="5061585" cy="678180"/>
            <a:chOff x="3270503" y="4985003"/>
            <a:chExt cx="5061585" cy="6781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2695" y="4997195"/>
              <a:ext cx="5036820" cy="65379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76599" y="4991099"/>
              <a:ext cx="5049520" cy="666115"/>
            </a:xfrm>
            <a:custGeom>
              <a:avLst/>
              <a:gdLst/>
              <a:ahLst/>
              <a:cxnLst/>
              <a:rect l="l" t="t" r="r" b="b"/>
              <a:pathLst>
                <a:path w="5049520" h="666114">
                  <a:moveTo>
                    <a:pt x="0" y="665988"/>
                  </a:moveTo>
                  <a:lnTo>
                    <a:pt x="5049011" y="665988"/>
                  </a:lnTo>
                  <a:lnTo>
                    <a:pt x="5049011" y="0"/>
                  </a:lnTo>
                  <a:lnTo>
                    <a:pt x="0" y="0"/>
                  </a:lnTo>
                  <a:lnTo>
                    <a:pt x="0" y="665988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26982" y="5070595"/>
            <a:ext cx="3276600" cy="4471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5504" y="626440"/>
            <a:ext cx="79197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Processor</a:t>
            </a:r>
            <a:r>
              <a:rPr spc="-160" dirty="0"/>
              <a:t> </a:t>
            </a:r>
            <a:r>
              <a:rPr dirty="0"/>
              <a:t>Performance</a:t>
            </a:r>
            <a:r>
              <a:rPr spc="-95" dirty="0"/>
              <a:t> </a:t>
            </a:r>
            <a:r>
              <a:rPr spc="-10" dirty="0"/>
              <a:t>Equation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39037"/>
            <a:ext cx="11200130" cy="30118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9395" marR="5080" indent="-227329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Since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r>
              <a:rPr sz="2800" spc="1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instructions</a:t>
            </a:r>
            <a:r>
              <a:rPr sz="2800" spc="1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may</a:t>
            </a:r>
            <a:r>
              <a:rPr sz="2800" spc="1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take</a:t>
            </a:r>
            <a:r>
              <a:rPr sz="2800" spc="1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r>
              <a:rPr sz="2800" spc="1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amounts</a:t>
            </a:r>
            <a:r>
              <a:rPr sz="2800" spc="1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800" spc="1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800" spc="1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depending 	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do,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CPI</a:t>
            </a:r>
            <a:r>
              <a:rPr sz="2800" spc="2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800" spc="25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r>
              <a:rPr sz="2800" spc="2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average</a:t>
            </a:r>
            <a:r>
              <a:rPr sz="2800" spc="2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800" spc="2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sz="2800" spc="25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800" spc="2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instructions</a:t>
            </a:r>
            <a:r>
              <a:rPr sz="2800" spc="2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executed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program.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0029" marR="7620" indent="-227965" algn="just">
              <a:lnSpc>
                <a:spcPts val="302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46D2"/>
                </a:solidFill>
                <a:latin typeface="Calibri"/>
                <a:cs typeface="Calibri"/>
              </a:rPr>
              <a:t>basic</a:t>
            </a:r>
            <a:r>
              <a:rPr sz="2800" b="1" spc="28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46D2"/>
                </a:solidFill>
                <a:latin typeface="Calibri"/>
                <a:cs typeface="Calibri"/>
              </a:rPr>
              <a:t>performance</a:t>
            </a:r>
            <a:r>
              <a:rPr sz="2800" b="1" spc="28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46D2"/>
                </a:solidFill>
                <a:latin typeface="Calibri"/>
                <a:cs typeface="Calibri"/>
              </a:rPr>
              <a:t>equation</a:t>
            </a:r>
            <a:r>
              <a:rPr sz="2800" b="1" spc="27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rewritten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terms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instruction 	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count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is,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instructions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executed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program,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CPI</a:t>
            </a:r>
            <a:r>
              <a:rPr sz="2800" spc="3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8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Calibri"/>
                <a:cs typeface="Calibri"/>
              </a:rPr>
              <a:t>rate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15411" y="4497323"/>
            <a:ext cx="4701540" cy="962025"/>
            <a:chOff x="2915411" y="4497323"/>
            <a:chExt cx="4701540" cy="9620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603" y="4509515"/>
              <a:ext cx="4677156" cy="9372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21507" y="4503419"/>
              <a:ext cx="4689475" cy="949960"/>
            </a:xfrm>
            <a:custGeom>
              <a:avLst/>
              <a:gdLst/>
              <a:ahLst/>
              <a:cxnLst/>
              <a:rect l="l" t="t" r="r" b="b"/>
              <a:pathLst>
                <a:path w="4689475" h="949960">
                  <a:moveTo>
                    <a:pt x="0" y="949451"/>
                  </a:moveTo>
                  <a:lnTo>
                    <a:pt x="4689348" y="949451"/>
                  </a:lnTo>
                  <a:lnTo>
                    <a:pt x="4689348" y="0"/>
                  </a:lnTo>
                  <a:lnTo>
                    <a:pt x="0" y="0"/>
                  </a:lnTo>
                  <a:lnTo>
                    <a:pt x="0" y="949451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1198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dirty="0"/>
              <a:t>Processor</a:t>
            </a:r>
            <a:r>
              <a:rPr spc="-160" dirty="0"/>
              <a:t> </a:t>
            </a:r>
            <a:r>
              <a:rPr dirty="0"/>
              <a:t>Performance</a:t>
            </a:r>
            <a:r>
              <a:rPr spc="-95" dirty="0"/>
              <a:t> </a:t>
            </a:r>
            <a:r>
              <a:rPr spc="-10" dirty="0"/>
              <a:t>Equation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23533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14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Summarize,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6160" y="1638574"/>
            <a:ext cx="5545548" cy="2353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4301" y="3696336"/>
            <a:ext cx="4183080" cy="4596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7237" y="4552547"/>
            <a:ext cx="3767681" cy="5043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08634" y="2987943"/>
            <a:ext cx="6554858" cy="2641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6939" y="5911088"/>
            <a:ext cx="84429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CPI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(cycles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instruction)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floating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intensive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CPI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11040" y="2223516"/>
            <a:ext cx="4137660" cy="559435"/>
            <a:chOff x="4511040" y="2223516"/>
            <a:chExt cx="4137660" cy="55943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3232" y="2235708"/>
              <a:ext cx="4113275" cy="5349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517136" y="2229612"/>
              <a:ext cx="4125595" cy="547370"/>
            </a:xfrm>
            <a:custGeom>
              <a:avLst/>
              <a:gdLst/>
              <a:ahLst/>
              <a:cxnLst/>
              <a:rect l="l" t="t" r="r" b="b"/>
              <a:pathLst>
                <a:path w="4125595" h="547369">
                  <a:moveTo>
                    <a:pt x="0" y="547115"/>
                  </a:moveTo>
                  <a:lnTo>
                    <a:pt x="4125467" y="547115"/>
                  </a:lnTo>
                  <a:lnTo>
                    <a:pt x="4125467" y="0"/>
                  </a:lnTo>
                  <a:lnTo>
                    <a:pt x="0" y="0"/>
                  </a:lnTo>
                  <a:lnTo>
                    <a:pt x="0" y="547115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6282" y="5259839"/>
            <a:ext cx="3276600" cy="44815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011551" y="5301741"/>
            <a:ext cx="135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𝐶𝑙𝑜𝑐𝑘</a:t>
            </a:r>
            <a:r>
              <a:rPr sz="1800" spc="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𝑅𝑎𝑡𝑒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71670" y="5468620"/>
            <a:ext cx="1684020" cy="15240"/>
          </a:xfrm>
          <a:custGeom>
            <a:avLst/>
            <a:gdLst/>
            <a:ahLst/>
            <a:cxnLst/>
            <a:rect l="l" t="t" r="r" b="b"/>
            <a:pathLst>
              <a:path w="1684020" h="15239">
                <a:moveTo>
                  <a:pt x="1684019" y="0"/>
                </a:moveTo>
                <a:lnTo>
                  <a:pt x="0" y="0"/>
                </a:lnTo>
                <a:lnTo>
                  <a:pt x="0" y="15239"/>
                </a:lnTo>
                <a:lnTo>
                  <a:pt x="1684019" y="15239"/>
                </a:lnTo>
                <a:lnTo>
                  <a:pt x="16840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238369" y="512800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59604" y="5454192"/>
            <a:ext cx="1703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𝑐𝑙𝑜𝑐𝑘</a:t>
            </a:r>
            <a:r>
              <a:rPr sz="1800" spc="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𝑐𝑦𝑐𝑙𝑒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𝑇𝑖𝑚𝑒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5433" y="714882"/>
            <a:ext cx="46361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88464" algn="l"/>
              </a:tabLst>
            </a:pPr>
            <a:r>
              <a:rPr spc="-20" dirty="0"/>
              <a:t>MIPS</a:t>
            </a:r>
            <a:r>
              <a:rPr dirty="0"/>
              <a:t>	&amp; </a:t>
            </a:r>
            <a:r>
              <a:rPr spc="-10" dirty="0"/>
              <a:t>MFLOPS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595" y="2087644"/>
            <a:ext cx="6516365" cy="30352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8207375" cy="3970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1: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Calibri"/>
                <a:cs typeface="Calibri"/>
              </a:rPr>
              <a:t>CPU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MHz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7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spc="-10" dirty="0">
                <a:latin typeface="Calibri"/>
                <a:cs typeface="Calibri"/>
              </a:rPr>
              <a:t>Program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takes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45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million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cycles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execute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spc="-10" dirty="0">
                <a:latin typeface="Calibri"/>
                <a:cs typeface="Calibri"/>
              </a:rPr>
              <a:t>What’s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time?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2800">
              <a:latin typeface="Calibri"/>
              <a:cs typeface="Calibri"/>
            </a:endParaRPr>
          </a:p>
          <a:p>
            <a:pPr marL="2141855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45,000,000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*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(1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1,000,000)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45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seconds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259841"/>
            <a:ext cx="43783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5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8837" y="4139415"/>
            <a:ext cx="4183080" cy="458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4158" y="89407"/>
            <a:ext cx="4475491" cy="26375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8919845" cy="3970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2: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Calibri"/>
                <a:cs typeface="Calibri"/>
              </a:rPr>
              <a:t>CPU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500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MHz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7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spc="-10" dirty="0">
                <a:latin typeface="Calibri"/>
                <a:cs typeface="Calibri"/>
              </a:rPr>
              <a:t>Program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takes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45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million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cycles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execute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spc="-10" dirty="0">
                <a:latin typeface="Calibri"/>
                <a:cs typeface="Calibri"/>
              </a:rPr>
              <a:t>What’s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time?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2800">
              <a:latin typeface="Calibri"/>
              <a:cs typeface="Calibri"/>
            </a:endParaRPr>
          </a:p>
          <a:p>
            <a:pPr marL="22225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45,000,000 *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(1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500,000,000) =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0.09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seconds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259841"/>
            <a:ext cx="43783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5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8837" y="4139415"/>
            <a:ext cx="4183080" cy="458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4158" y="89407"/>
            <a:ext cx="4475491" cy="26375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090500"/>
            <a:ext cx="9236710" cy="378269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8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3: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800" dirty="0">
                <a:latin typeface="Calibri"/>
                <a:cs typeface="Calibri"/>
              </a:rPr>
              <a:t>Suppose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implementations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instruction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(ISA).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program,</a:t>
            </a:r>
            <a:endParaRPr sz="240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Machine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clock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cycle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 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ns.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CPI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2.0</a:t>
            </a:r>
            <a:endParaRPr sz="200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Machine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clock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cycle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ns.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CPI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1.2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machine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faster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program,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much?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Assume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#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program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1,000,000,000.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259841"/>
            <a:ext cx="43783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5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4158" y="89407"/>
            <a:ext cx="4475491" cy="2637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3103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9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3:</a:t>
            </a:r>
            <a:r>
              <a:rPr sz="2800" spc="-6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35913" y="2939919"/>
            <a:ext cx="7277100" cy="103822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10"/>
              </a:spcBef>
            </a:pP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CPU</a:t>
            </a:r>
            <a:r>
              <a:rPr sz="2400" b="1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/</a:t>
            </a:r>
            <a:r>
              <a:rPr sz="2400" b="1" spc="-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8000"/>
                </a:solidFill>
                <a:latin typeface="Calibri"/>
                <a:cs typeface="Calibri"/>
              </a:rPr>
              <a:t>Execution</a:t>
            </a:r>
            <a:r>
              <a:rPr sz="2400" b="1" spc="-10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r>
              <a:rPr sz="2400" b="1" baseline="-17361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2400" b="1" spc="254" baseline="-17361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10</a:t>
            </a:r>
            <a:r>
              <a:rPr sz="2400" b="1" baseline="20833" dirty="0">
                <a:solidFill>
                  <a:srgbClr val="008000"/>
                </a:solidFill>
                <a:latin typeface="Calibri"/>
                <a:cs typeface="Calibri"/>
              </a:rPr>
              <a:t>9</a:t>
            </a:r>
            <a:r>
              <a:rPr sz="2400" b="1" spc="240" baseline="20833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*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2.0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*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10</a:t>
            </a:r>
            <a:r>
              <a:rPr sz="2400" b="1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*</a:t>
            </a:r>
            <a:r>
              <a:rPr sz="2400" b="1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10</a:t>
            </a:r>
            <a:r>
              <a:rPr sz="2400" b="1" spc="-15" baseline="20833" dirty="0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sz="2400" b="1" baseline="20833" dirty="0">
                <a:solidFill>
                  <a:srgbClr val="008000"/>
                </a:solidFill>
                <a:latin typeface="Calibri"/>
                <a:cs typeface="Calibri"/>
              </a:rPr>
              <a:t>9</a:t>
            </a:r>
            <a:r>
              <a:rPr sz="2400" b="1" spc="-7" baseline="20833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20</a:t>
            </a:r>
            <a:r>
              <a:rPr sz="2400" b="1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seconds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105"/>
              </a:spcBef>
            </a:pP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CPU/</a:t>
            </a:r>
            <a:r>
              <a:rPr sz="2400" b="1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Execution</a:t>
            </a:r>
            <a:r>
              <a:rPr sz="2400" b="1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r>
              <a:rPr sz="2400" b="1" baseline="-17361" dirty="0">
                <a:solidFill>
                  <a:srgbClr val="008000"/>
                </a:solidFill>
                <a:latin typeface="Calibri"/>
                <a:cs typeface="Calibri"/>
              </a:rPr>
              <a:t>B</a:t>
            </a:r>
            <a:r>
              <a:rPr sz="2400" b="1" spc="225" baseline="-17361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10</a:t>
            </a:r>
            <a:r>
              <a:rPr sz="2400" b="1" baseline="20833" dirty="0">
                <a:solidFill>
                  <a:srgbClr val="008000"/>
                </a:solidFill>
                <a:latin typeface="Calibri"/>
                <a:cs typeface="Calibri"/>
              </a:rPr>
              <a:t>9</a:t>
            </a:r>
            <a:r>
              <a:rPr sz="2400" b="1" spc="240" baseline="20833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*</a:t>
            </a:r>
            <a:r>
              <a:rPr sz="2400" b="1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1.2</a:t>
            </a:r>
            <a:r>
              <a:rPr sz="2400" b="1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*</a:t>
            </a:r>
            <a:r>
              <a:rPr sz="2400" b="1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20</a:t>
            </a:r>
            <a:r>
              <a:rPr sz="2400" b="1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*</a:t>
            </a:r>
            <a:r>
              <a:rPr sz="2400" b="1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10</a:t>
            </a:r>
            <a:r>
              <a:rPr sz="2400" b="1" spc="-15" baseline="20833" dirty="0">
                <a:solidFill>
                  <a:srgbClr val="008000"/>
                </a:solidFill>
                <a:latin typeface="Calibri"/>
                <a:cs typeface="Calibri"/>
              </a:rPr>
              <a:t>-</a:t>
            </a:r>
            <a:r>
              <a:rPr sz="2400" b="1" baseline="20833" dirty="0">
                <a:solidFill>
                  <a:srgbClr val="008000"/>
                </a:solidFill>
                <a:latin typeface="Calibri"/>
                <a:cs typeface="Calibri"/>
              </a:rPr>
              <a:t>9</a:t>
            </a:r>
            <a:r>
              <a:rPr sz="2400" b="1" spc="247" baseline="20833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24</a:t>
            </a:r>
            <a:r>
              <a:rPr sz="2400" b="1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seconds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3397" y="5475223"/>
            <a:ext cx="203136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8000"/>
                </a:solidFill>
                <a:latin typeface="Calibri Light"/>
                <a:cs typeface="Calibri Light"/>
              </a:rPr>
              <a:t>=</a:t>
            </a:r>
            <a:r>
              <a:rPr sz="1800" spc="360" dirty="0">
                <a:solidFill>
                  <a:srgbClr val="008000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008000"/>
                </a:solidFill>
                <a:latin typeface="Calibri Light"/>
                <a:cs typeface="Calibri Light"/>
              </a:rPr>
              <a:t>24/20</a:t>
            </a:r>
            <a:r>
              <a:rPr sz="1800" spc="-65" dirty="0">
                <a:solidFill>
                  <a:srgbClr val="008000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008000"/>
                </a:solidFill>
                <a:latin typeface="Calibri Light"/>
                <a:cs typeface="Calibri Light"/>
              </a:rPr>
              <a:t>=</a:t>
            </a:r>
            <a:r>
              <a:rPr sz="1800" spc="-30" dirty="0">
                <a:solidFill>
                  <a:srgbClr val="008000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008000"/>
                </a:solidFill>
                <a:latin typeface="Calibri Light"/>
                <a:cs typeface="Calibri Light"/>
              </a:rPr>
              <a:t>1.2</a:t>
            </a:r>
            <a:r>
              <a:rPr sz="1800" spc="-55" dirty="0">
                <a:solidFill>
                  <a:srgbClr val="008000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008000"/>
                </a:solidFill>
                <a:latin typeface="Calibri Light"/>
                <a:cs typeface="Calibri Light"/>
              </a:rPr>
              <a:t>times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solidFill>
                  <a:srgbClr val="008000"/>
                </a:solidFill>
                <a:latin typeface="Calibri"/>
                <a:cs typeface="Calibri"/>
              </a:rPr>
              <a:t>Machine</a:t>
            </a:r>
            <a:r>
              <a:rPr sz="1800" b="1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1800" b="1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8000"/>
                </a:solidFill>
                <a:latin typeface="Calibri"/>
                <a:cs typeface="Calibri"/>
              </a:rPr>
              <a:t>faster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889" y="4559808"/>
            <a:ext cx="3982523" cy="6191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14135" y="1207389"/>
            <a:ext cx="54095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sz="1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has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10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ns.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CPI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2.0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sz="1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has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20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ns.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CPI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1.2 </a:t>
            </a:r>
            <a:r>
              <a:rPr sz="1800" dirty="0">
                <a:latin typeface="Calibri"/>
                <a:cs typeface="Calibri"/>
              </a:rPr>
              <a:t>#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instructions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1,000,000,000.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5299" y="2487506"/>
            <a:ext cx="6554858" cy="2636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3544" y="4109718"/>
            <a:ext cx="4474005" cy="26375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047865"/>
            <a:ext cx="10360025" cy="382651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62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4:</a:t>
            </a: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1525"/>
              </a:spcBef>
            </a:pPr>
            <a:r>
              <a:rPr sz="2800" dirty="0">
                <a:latin typeface="Calibri"/>
                <a:cs typeface="Calibri"/>
              </a:rPr>
              <a:t>Our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favorite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program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runs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seconds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 </a:t>
            </a:r>
            <a:r>
              <a:rPr sz="2800" dirty="0">
                <a:latin typeface="Calibri"/>
                <a:cs typeface="Calibri"/>
              </a:rPr>
              <a:t>GHz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clock.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trying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computer, </a:t>
            </a:r>
            <a:r>
              <a:rPr sz="2800" dirty="0">
                <a:latin typeface="Calibri"/>
                <a:cs typeface="Calibri"/>
              </a:rPr>
              <a:t>B,</a:t>
            </a:r>
            <a:r>
              <a:rPr sz="2800" spc="21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2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21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run</a:t>
            </a:r>
            <a:r>
              <a:rPr sz="2800" spc="2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2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program</a:t>
            </a:r>
            <a:r>
              <a:rPr sz="2800" spc="2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6</a:t>
            </a:r>
            <a:r>
              <a:rPr sz="2800" spc="21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seconds.</a:t>
            </a:r>
            <a:r>
              <a:rPr sz="2800" spc="2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designer</a:t>
            </a:r>
            <a:r>
              <a:rPr sz="2800" spc="21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has </a:t>
            </a:r>
            <a:r>
              <a:rPr sz="2800" dirty="0">
                <a:latin typeface="Calibri"/>
                <a:cs typeface="Calibri"/>
              </a:rPr>
              <a:t>determined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substantial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increase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possible,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but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increase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affect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rest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CPU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design,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causing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B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require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1.2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times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cycles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this </a:t>
            </a:r>
            <a:r>
              <a:rPr sz="2800" dirty="0">
                <a:latin typeface="Calibri"/>
                <a:cs typeface="Calibri"/>
              </a:rPr>
              <a:t>program.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tell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target?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3103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9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4:</a:t>
            </a:r>
            <a:r>
              <a:rPr sz="2800" spc="-6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436" y="1659635"/>
            <a:ext cx="7263383" cy="51983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99833" y="932434"/>
            <a:ext cx="38125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Exec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10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sec,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rate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2GHz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B-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Exec.time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sec.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1.2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(clock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A)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Find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rate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B?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26452" y="2663951"/>
            <a:ext cx="4585715" cy="27325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3103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9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4:</a:t>
            </a:r>
            <a:r>
              <a:rPr sz="2800" spc="-6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62019" y="2098050"/>
            <a:ext cx="10523855" cy="4170679"/>
            <a:chOff x="1562019" y="2098050"/>
            <a:chExt cx="10523855" cy="4170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2019" y="2098050"/>
              <a:ext cx="6688317" cy="41706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8079" y="2115311"/>
              <a:ext cx="4587239" cy="273100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99833" y="932434"/>
            <a:ext cx="38125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Exec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10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sec,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rate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2GHz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B-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Exec.time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sec.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1.2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(clock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A)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Find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rate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B?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10212070" cy="3779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5:</a:t>
            </a:r>
            <a:endParaRPr sz="2800">
              <a:latin typeface="Calibri"/>
              <a:cs typeface="Calibri"/>
            </a:endParaRPr>
          </a:p>
          <a:p>
            <a:pPr marL="12700" marR="149225">
              <a:lnSpc>
                <a:spcPct val="150000"/>
              </a:lnSpc>
              <a:spcBef>
                <a:spcPts val="1000"/>
              </a:spcBef>
            </a:pPr>
            <a:r>
              <a:rPr sz="2800" dirty="0">
                <a:latin typeface="Calibri"/>
                <a:cs typeface="Calibri"/>
              </a:rPr>
              <a:t>Suppose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implementations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instruction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set </a:t>
            </a:r>
            <a:r>
              <a:rPr sz="2800" spc="-10" dirty="0">
                <a:latin typeface="Calibri"/>
                <a:cs typeface="Calibri"/>
              </a:rPr>
              <a:t>architecture.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cycle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250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CPI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</a:pPr>
            <a:r>
              <a:rPr sz="2800" dirty="0">
                <a:latin typeface="Calibri"/>
                <a:cs typeface="Calibri"/>
              </a:rPr>
              <a:t>2.0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cycle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500</a:t>
            </a:r>
            <a:r>
              <a:rPr sz="2800" spc="-25" dirty="0">
                <a:latin typeface="Calibri"/>
                <a:cs typeface="Calibri"/>
              </a:rPr>
              <a:t> ps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1.2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faster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program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much?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3101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9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5:</a:t>
            </a:r>
            <a:r>
              <a:rPr sz="2800" spc="-6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645" y="1858823"/>
            <a:ext cx="5994663" cy="47819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5632" y="1803858"/>
            <a:ext cx="4474005" cy="26360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1988" y="663016"/>
            <a:ext cx="7166611" cy="753283"/>
          </a:xfrm>
          <a:prstGeom prst="rect">
            <a:avLst/>
          </a:prstGeom>
        </p:spPr>
        <p:txBody>
          <a:bodyPr vert="horz" wrap="square" lIns="0" tIns="441198" rIns="0" bIns="0" rtlCol="0">
            <a:spAutoFit/>
          </a:bodyPr>
          <a:lstStyle/>
          <a:p>
            <a:pPr marL="830580">
              <a:lnSpc>
                <a:spcPct val="100000"/>
              </a:lnSpc>
              <a:spcBef>
                <a:spcPts val="105"/>
              </a:spcBef>
            </a:pPr>
            <a:r>
              <a:rPr sz="2000" spc="-20" dirty="0"/>
              <a:t>Average</a:t>
            </a:r>
            <a:r>
              <a:rPr sz="2000" spc="-95" dirty="0"/>
              <a:t> </a:t>
            </a:r>
            <a:r>
              <a:rPr sz="2000" dirty="0"/>
              <a:t>Cycles</a:t>
            </a:r>
            <a:r>
              <a:rPr sz="2000" spc="-95" dirty="0"/>
              <a:t> </a:t>
            </a:r>
            <a:r>
              <a:rPr sz="2000" dirty="0"/>
              <a:t>per</a:t>
            </a:r>
            <a:r>
              <a:rPr sz="2000" spc="-150" dirty="0"/>
              <a:t> </a:t>
            </a:r>
            <a:r>
              <a:rPr sz="2000" spc="-10" dirty="0"/>
              <a:t>Instruction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90342" y="4256913"/>
            <a:ext cx="38163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75" spc="-37" baseline="-21680" dirty="0">
                <a:solidFill>
                  <a:srgbClr val="0000FF"/>
                </a:solidFill>
                <a:latin typeface="Cambria Math"/>
                <a:cs typeface="Cambria Math"/>
              </a:rPr>
              <a:t>∑</a:t>
            </a:r>
            <a:r>
              <a:rPr sz="1650" spc="-25" dirty="0">
                <a:solidFill>
                  <a:srgbClr val="0000FF"/>
                </a:solidFill>
                <a:latin typeface="Cambria Math"/>
                <a:cs typeface="Cambria Math"/>
              </a:rPr>
              <a:t>𝑛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539" y="4480940"/>
            <a:ext cx="41167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66065" algn="l"/>
                <a:tab pos="2319655" algn="l"/>
                <a:tab pos="2966085" algn="l"/>
                <a:tab pos="4077970" algn="l"/>
              </a:tabLst>
            </a:pPr>
            <a:r>
              <a:rPr sz="2800" spc="-55" dirty="0">
                <a:solidFill>
                  <a:srgbClr val="0000FF"/>
                </a:solidFill>
                <a:latin typeface="Calibri"/>
                <a:cs typeface="Calibri"/>
              </a:rPr>
              <a:t>Total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CPI= </a:t>
            </a:r>
            <a:r>
              <a:rPr sz="2475" u="heavy" baseline="3703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75" u="heavy" spc="-37" baseline="3703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 Math"/>
                <a:cs typeface="Cambria Math"/>
              </a:rPr>
              <a:t>𝑖=1</a:t>
            </a:r>
            <a:r>
              <a:rPr sz="2475" u="heavy" baseline="3703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 Math"/>
                <a:cs typeface="Cambria Math"/>
              </a:rPr>
              <a:t>	</a:t>
            </a:r>
            <a:r>
              <a:rPr sz="2025" u="heavy" spc="-75" baseline="3909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 Math"/>
                <a:cs typeface="Cambria Math"/>
              </a:rPr>
              <a:t>𝑖</a:t>
            </a:r>
            <a:r>
              <a:rPr sz="2025" u="heavy" baseline="3909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 Math"/>
                <a:cs typeface="Cambria Math"/>
              </a:rPr>
              <a:t>	</a:t>
            </a:r>
            <a:endParaRPr sz="2025" baseline="39094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1339" y="4368165"/>
            <a:ext cx="1001394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solidFill>
                  <a:srgbClr val="0000FF"/>
                </a:solidFill>
                <a:latin typeface="Cambria Math"/>
                <a:cs typeface="Cambria Math"/>
              </a:rPr>
              <a:t>𝐼C</a:t>
            </a:r>
            <a:r>
              <a:rPr sz="2050" spc="409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Cambria Math"/>
                <a:cs typeface="Cambria Math"/>
              </a:rPr>
              <a:t>∗𝐶𝑃𝐼𝑖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34742" y="4755260"/>
            <a:ext cx="235077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10" dirty="0">
                <a:solidFill>
                  <a:srgbClr val="0000FF"/>
                </a:solidFill>
                <a:latin typeface="Cambria Math"/>
                <a:cs typeface="Cambria Math"/>
              </a:rPr>
              <a:t>Instruction</a:t>
            </a:r>
            <a:r>
              <a:rPr sz="2050" spc="-4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Cambria Math"/>
                <a:cs typeface="Cambria Math"/>
              </a:rPr>
              <a:t>count(Ic)</a:t>
            </a:r>
            <a:endParaRPr sz="2050">
              <a:latin typeface="Cambria Math"/>
              <a:cs typeface="Cambria Math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5606" y="2203450"/>
            <a:ext cx="3102957" cy="6443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9673" y="3316583"/>
            <a:ext cx="3767681" cy="5043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5632" y="1803858"/>
            <a:ext cx="4474005" cy="26360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1829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6: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4217" y="1899011"/>
            <a:ext cx="8025692" cy="46711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3102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9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6:</a:t>
            </a:r>
            <a:r>
              <a:rPr sz="2800" spc="-6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610" y="2172587"/>
            <a:ext cx="10064009" cy="44354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81146" y="4458715"/>
            <a:ext cx="82175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faster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Since</a:t>
            </a:r>
            <a:r>
              <a:rPr sz="20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0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20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sz="20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given,</a:t>
            </a:r>
            <a:r>
              <a:rPr sz="20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we</a:t>
            </a:r>
            <a:r>
              <a:rPr sz="20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sz="20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estimate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 using</a:t>
            </a:r>
            <a:r>
              <a:rPr sz="20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CPU</a:t>
            </a:r>
            <a:r>
              <a:rPr sz="20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0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cycles</a:t>
            </a:r>
            <a:r>
              <a:rPr sz="20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itself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9247" y="17227"/>
            <a:ext cx="3455495" cy="203281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3102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9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6:</a:t>
            </a:r>
            <a:r>
              <a:rPr sz="2800" spc="-6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6404" y="2049163"/>
            <a:ext cx="12050395" cy="4478020"/>
            <a:chOff x="126404" y="2049163"/>
            <a:chExt cx="12050395" cy="44780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04" y="2049163"/>
              <a:ext cx="8735970" cy="44777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1043" y="3381755"/>
              <a:ext cx="4585715" cy="27325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1829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7: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353" y="2045535"/>
            <a:ext cx="6528561" cy="41185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1700" y="2588020"/>
            <a:ext cx="4981342" cy="3226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19247" y="17227"/>
            <a:ext cx="3455495" cy="20328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3102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9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7:</a:t>
            </a:r>
            <a:r>
              <a:rPr sz="2800" spc="-6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576" y="1958794"/>
            <a:ext cx="5806098" cy="3900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3290" y="2631091"/>
            <a:ext cx="5841193" cy="38508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19247" y="97969"/>
            <a:ext cx="3455495" cy="203588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1198" rIns="0" bIns="0" rtlCol="0">
            <a:spAutoFit/>
          </a:bodyPr>
          <a:lstStyle/>
          <a:p>
            <a:pPr marL="2583815">
              <a:lnSpc>
                <a:spcPct val="100000"/>
              </a:lnSpc>
              <a:spcBef>
                <a:spcPts val="105"/>
              </a:spcBef>
            </a:pPr>
            <a:r>
              <a:rPr dirty="0"/>
              <a:t>With</a:t>
            </a:r>
            <a:r>
              <a:rPr spc="-90" dirty="0"/>
              <a:t> </a:t>
            </a:r>
            <a:r>
              <a:rPr spc="-10" dirty="0"/>
              <a:t>Frequency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782950"/>
            <a:ext cx="893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CPI=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56816" y="3037204"/>
            <a:ext cx="2322830" cy="22860"/>
          </a:xfrm>
          <a:custGeom>
            <a:avLst/>
            <a:gdLst/>
            <a:ahLst/>
            <a:cxnLst/>
            <a:rect l="l" t="t" r="r" b="b"/>
            <a:pathLst>
              <a:path w="2322829" h="22860">
                <a:moveTo>
                  <a:pt x="2322576" y="0"/>
                </a:moveTo>
                <a:lnTo>
                  <a:pt x="0" y="0"/>
                </a:lnTo>
                <a:lnTo>
                  <a:pt x="0" y="22860"/>
                </a:lnTo>
                <a:lnTo>
                  <a:pt x="2322576" y="22860"/>
                </a:lnTo>
                <a:lnTo>
                  <a:pt x="232257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35810" y="2670175"/>
            <a:ext cx="216535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solidFill>
                  <a:srgbClr val="0000FF"/>
                </a:solidFill>
                <a:latin typeface="Cambria Math"/>
                <a:cs typeface="Cambria Math"/>
              </a:rPr>
              <a:t>CPU</a:t>
            </a:r>
            <a:r>
              <a:rPr sz="2050" spc="-6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050" dirty="0">
                <a:solidFill>
                  <a:srgbClr val="0000FF"/>
                </a:solidFill>
                <a:latin typeface="Cambria Math"/>
                <a:cs typeface="Cambria Math"/>
              </a:rPr>
              <a:t>clock</a:t>
            </a:r>
            <a:r>
              <a:rPr sz="2050" spc="-6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Cambria Math"/>
                <a:cs typeface="Cambria Math"/>
              </a:rPr>
              <a:t>cycles(c)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4370" y="3057271"/>
            <a:ext cx="234950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10" dirty="0">
                <a:solidFill>
                  <a:srgbClr val="0000FF"/>
                </a:solidFill>
                <a:latin typeface="Cambria Math"/>
                <a:cs typeface="Cambria Math"/>
              </a:rPr>
              <a:t>Instruction</a:t>
            </a:r>
            <a:r>
              <a:rPr sz="2050" spc="-40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Cambria Math"/>
                <a:cs typeface="Cambria Math"/>
              </a:rPr>
              <a:t>count(Ic)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90342" y="3255391"/>
            <a:ext cx="38163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75" spc="-37" baseline="-21680" dirty="0">
                <a:solidFill>
                  <a:srgbClr val="0000FF"/>
                </a:solidFill>
                <a:latin typeface="Cambria Math"/>
                <a:cs typeface="Cambria Math"/>
              </a:rPr>
              <a:t>∑</a:t>
            </a:r>
            <a:r>
              <a:rPr sz="1650" spc="-25" dirty="0">
                <a:solidFill>
                  <a:srgbClr val="0000FF"/>
                </a:solidFill>
                <a:latin typeface="Cambria Math"/>
                <a:cs typeface="Cambria Math"/>
              </a:rPr>
              <a:t>𝑛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1539" y="3479113"/>
            <a:ext cx="41167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65430" algn="l"/>
                <a:tab pos="2319655" algn="l"/>
                <a:tab pos="2966085" algn="l"/>
                <a:tab pos="4077970" algn="l"/>
              </a:tabLst>
            </a:pPr>
            <a:r>
              <a:rPr sz="2800" spc="-50" dirty="0">
                <a:solidFill>
                  <a:srgbClr val="0000FF"/>
                </a:solidFill>
                <a:latin typeface="Calibri"/>
                <a:cs typeface="Calibri"/>
              </a:rPr>
              <a:t>Total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CPI= </a:t>
            </a:r>
            <a:r>
              <a:rPr sz="2475" u="heavy" baseline="3703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75" u="heavy" spc="-37" baseline="3703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 Math"/>
                <a:cs typeface="Cambria Math"/>
              </a:rPr>
              <a:t>𝑖=1</a:t>
            </a:r>
            <a:r>
              <a:rPr sz="2475" u="heavy" baseline="3703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 Math"/>
                <a:cs typeface="Cambria Math"/>
              </a:rPr>
              <a:t>	</a:t>
            </a:r>
            <a:r>
              <a:rPr sz="2025" u="heavy" spc="-75" baseline="3909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 Math"/>
                <a:cs typeface="Cambria Math"/>
              </a:rPr>
              <a:t>𝑖</a:t>
            </a:r>
            <a:r>
              <a:rPr sz="2025" u="heavy" baseline="3909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 Math"/>
                <a:cs typeface="Cambria Math"/>
              </a:rPr>
              <a:t>	</a:t>
            </a:r>
            <a:endParaRPr sz="2025" baseline="39094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01339" y="3366642"/>
            <a:ext cx="1001394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solidFill>
                  <a:srgbClr val="0000FF"/>
                </a:solidFill>
                <a:latin typeface="Cambria Math"/>
                <a:cs typeface="Cambria Math"/>
              </a:rPr>
              <a:t>𝐼C</a:t>
            </a:r>
            <a:r>
              <a:rPr sz="2050" spc="409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Cambria Math"/>
                <a:cs typeface="Cambria Math"/>
              </a:rPr>
              <a:t>∗𝐶𝑃𝐼𝑖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3753434"/>
            <a:ext cx="10079990" cy="1572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30375">
              <a:lnSpc>
                <a:spcPts val="2450"/>
              </a:lnSpc>
              <a:spcBef>
                <a:spcPts val="90"/>
              </a:spcBef>
            </a:pPr>
            <a:r>
              <a:rPr sz="2050" spc="-10" dirty="0">
                <a:solidFill>
                  <a:srgbClr val="0000FF"/>
                </a:solidFill>
                <a:latin typeface="Cambria Math"/>
                <a:cs typeface="Cambria Math"/>
              </a:rPr>
              <a:t>Instruction</a:t>
            </a:r>
            <a:r>
              <a:rPr sz="2050" spc="-8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Cambria Math"/>
                <a:cs typeface="Cambria Math"/>
              </a:rPr>
              <a:t>count(Ic)</a:t>
            </a:r>
            <a:endParaRPr sz="2050">
              <a:latin typeface="Cambria Math"/>
              <a:cs typeface="Cambria Math"/>
            </a:endParaRPr>
          </a:p>
          <a:p>
            <a:pPr marL="240665" indent="-227965">
              <a:lnSpc>
                <a:spcPts val="335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average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cycles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269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instruction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frequency</a:t>
            </a:r>
            <a:r>
              <a:rPr sz="28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cycles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execute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overall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follows: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5057" y="5525211"/>
            <a:ext cx="445134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solidFill>
                  <a:srgbClr val="0000FF"/>
                </a:solidFill>
                <a:latin typeface="Cambria Math"/>
                <a:cs typeface="Cambria Math"/>
              </a:rPr>
              <a:t>𝑖=1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8839" y="5342331"/>
            <a:ext cx="24707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7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78765" algn="l"/>
                <a:tab pos="1727200" algn="l"/>
              </a:tabLst>
            </a:pP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CPI=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00" spc="-37" baseline="1984" dirty="0">
                <a:solidFill>
                  <a:srgbClr val="0000FF"/>
                </a:solidFill>
                <a:latin typeface="Cambria Math"/>
                <a:cs typeface="Cambria Math"/>
              </a:rPr>
              <a:t>∑</a:t>
            </a:r>
            <a:r>
              <a:rPr sz="3075" spc="-37" baseline="29810" dirty="0">
                <a:solidFill>
                  <a:srgbClr val="0000FF"/>
                </a:solidFill>
                <a:latin typeface="Cambria Math"/>
                <a:cs typeface="Cambria Math"/>
              </a:rPr>
              <a:t>𝑛</a:t>
            </a:r>
            <a:r>
              <a:rPr sz="3075" baseline="29810" dirty="0">
                <a:solidFill>
                  <a:srgbClr val="0000FF"/>
                </a:solidFill>
                <a:latin typeface="Cambria Math"/>
                <a:cs typeface="Cambria Math"/>
              </a:rPr>
              <a:t>	</a:t>
            </a:r>
            <a:r>
              <a:rPr sz="2800" spc="-20" dirty="0">
                <a:solidFill>
                  <a:srgbClr val="0000FF"/>
                </a:solidFill>
                <a:latin typeface="Cambria Math"/>
                <a:cs typeface="Cambria Math"/>
              </a:rPr>
              <a:t>Freq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97682" y="5546547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50" dirty="0">
                <a:solidFill>
                  <a:srgbClr val="0000FF"/>
                </a:solidFill>
                <a:latin typeface="Cambria Math"/>
                <a:cs typeface="Cambria Math"/>
              </a:rPr>
              <a:t>i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9042" y="5342331"/>
            <a:ext cx="8426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  <a:latin typeface="Cambria Math"/>
                <a:cs typeface="Cambria Math"/>
              </a:rPr>
              <a:t>∗ </a:t>
            </a:r>
            <a:r>
              <a:rPr sz="2800" spc="-25" dirty="0">
                <a:solidFill>
                  <a:srgbClr val="0000FF"/>
                </a:solidFill>
                <a:latin typeface="Cambria Math"/>
                <a:cs typeface="Cambria Math"/>
              </a:rPr>
              <a:t>𝐶𝑃𝐼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4383" y="5546547"/>
            <a:ext cx="10096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50" dirty="0">
                <a:solidFill>
                  <a:srgbClr val="0000FF"/>
                </a:solidFill>
                <a:latin typeface="Cambria Math"/>
                <a:cs typeface="Cambria Math"/>
              </a:rPr>
              <a:t>𝑖</a:t>
            </a:r>
            <a:endParaRPr sz="1850">
              <a:latin typeface="Cambria Math"/>
              <a:cs typeface="Cambria Math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6718" y="1894077"/>
            <a:ext cx="3102957" cy="64439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5335" y="1690116"/>
            <a:ext cx="6664452" cy="249478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090500"/>
            <a:ext cx="7578090" cy="286956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8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9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8:</a:t>
            </a:r>
            <a:r>
              <a:rPr sz="2800" spc="-60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18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Let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benchmark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25</a:t>
            </a:r>
            <a:r>
              <a:rPr sz="24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instructions</a:t>
            </a:r>
            <a:r>
              <a:rPr sz="2400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are</a:t>
            </a:r>
            <a:r>
              <a:rPr sz="24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loads/stores</a:t>
            </a:r>
            <a:r>
              <a:rPr sz="24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take</a:t>
            </a:r>
            <a:r>
              <a:rPr sz="2400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cycles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50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cycle)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25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square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50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cycles)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CPI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benchmark?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4394" y="4348430"/>
            <a:ext cx="6108700" cy="81153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CPI</a:t>
            </a:r>
            <a:r>
              <a:rPr sz="2400" spc="-55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=</a:t>
            </a:r>
            <a:r>
              <a:rPr sz="2400" spc="-65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((0.25</a:t>
            </a:r>
            <a:r>
              <a:rPr sz="2400" spc="-95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*</a:t>
            </a:r>
            <a:r>
              <a:rPr sz="2400" spc="-70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2)</a:t>
            </a:r>
            <a:r>
              <a:rPr sz="2400" spc="-55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+</a:t>
            </a:r>
            <a:r>
              <a:rPr sz="2400" spc="-65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(0.50</a:t>
            </a:r>
            <a:r>
              <a:rPr sz="2400" spc="-95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*</a:t>
            </a:r>
            <a:r>
              <a:rPr sz="2400" spc="-70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1)</a:t>
            </a:r>
            <a:r>
              <a:rPr sz="2400" spc="-55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+</a:t>
            </a:r>
            <a:r>
              <a:rPr sz="2400" spc="-65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(0.25</a:t>
            </a:r>
            <a:r>
              <a:rPr sz="2400" spc="-100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*</a:t>
            </a:r>
            <a:r>
              <a:rPr sz="2400" spc="-75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9A6400"/>
                </a:solidFill>
                <a:latin typeface="Tahoma"/>
                <a:cs typeface="Tahoma"/>
              </a:rPr>
              <a:t>50))</a:t>
            </a:r>
            <a:endParaRPr sz="2400">
              <a:latin typeface="Tahoma"/>
              <a:cs typeface="Tahoma"/>
            </a:endParaRPr>
          </a:p>
          <a:p>
            <a:pPr marL="657225">
              <a:lnSpc>
                <a:spcPct val="100000"/>
              </a:lnSpc>
              <a:spcBef>
                <a:spcPts val="219"/>
              </a:spcBef>
            </a:pPr>
            <a:r>
              <a:rPr sz="2400" dirty="0">
                <a:solidFill>
                  <a:srgbClr val="9A6400"/>
                </a:solidFill>
                <a:latin typeface="Tahoma"/>
                <a:cs typeface="Tahoma"/>
              </a:rPr>
              <a:t>=</a:t>
            </a:r>
            <a:r>
              <a:rPr sz="2400" spc="-50" dirty="0">
                <a:solidFill>
                  <a:srgbClr val="9A640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9A6400"/>
                </a:solidFill>
                <a:latin typeface="Tahoma"/>
                <a:cs typeface="Tahoma"/>
              </a:rPr>
              <a:t>13.5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15678" y="3144138"/>
            <a:ext cx="4883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C00000"/>
                </a:solidFill>
                <a:latin typeface="Calibri"/>
                <a:cs typeface="Calibri"/>
              </a:rPr>
              <a:t>CPI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4243" y="1620139"/>
            <a:ext cx="1320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Frequency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31790" y="1807845"/>
            <a:ext cx="3632835" cy="557530"/>
          </a:xfrm>
          <a:custGeom>
            <a:avLst/>
            <a:gdLst/>
            <a:ahLst/>
            <a:cxnLst/>
            <a:rect l="l" t="t" r="r" b="b"/>
            <a:pathLst>
              <a:path w="3632834" h="557530">
                <a:moveTo>
                  <a:pt x="3544701" y="28693"/>
                </a:moveTo>
                <a:lnTo>
                  <a:pt x="0" y="528574"/>
                </a:lnTo>
                <a:lnTo>
                  <a:pt x="4063" y="557276"/>
                </a:lnTo>
                <a:lnTo>
                  <a:pt x="3548754" y="57270"/>
                </a:lnTo>
                <a:lnTo>
                  <a:pt x="3544701" y="28693"/>
                </a:lnTo>
                <a:close/>
              </a:path>
              <a:path w="3632834" h="557530">
                <a:moveTo>
                  <a:pt x="3620203" y="26669"/>
                </a:moveTo>
                <a:lnTo>
                  <a:pt x="3559048" y="26669"/>
                </a:lnTo>
                <a:lnTo>
                  <a:pt x="3563112" y="55244"/>
                </a:lnTo>
                <a:lnTo>
                  <a:pt x="3548754" y="57270"/>
                </a:lnTo>
                <a:lnTo>
                  <a:pt x="3552825" y="85978"/>
                </a:lnTo>
                <a:lnTo>
                  <a:pt x="3632708" y="30860"/>
                </a:lnTo>
                <a:lnTo>
                  <a:pt x="3620203" y="26669"/>
                </a:lnTo>
                <a:close/>
              </a:path>
              <a:path w="3632834" h="557530">
                <a:moveTo>
                  <a:pt x="3559048" y="26669"/>
                </a:moveTo>
                <a:lnTo>
                  <a:pt x="3544701" y="28693"/>
                </a:lnTo>
                <a:lnTo>
                  <a:pt x="3548754" y="57270"/>
                </a:lnTo>
                <a:lnTo>
                  <a:pt x="3563112" y="55244"/>
                </a:lnTo>
                <a:lnTo>
                  <a:pt x="3559048" y="26669"/>
                </a:lnTo>
                <a:close/>
              </a:path>
              <a:path w="3632834" h="557530">
                <a:moveTo>
                  <a:pt x="3540633" y="0"/>
                </a:moveTo>
                <a:lnTo>
                  <a:pt x="3544701" y="28693"/>
                </a:lnTo>
                <a:lnTo>
                  <a:pt x="3559048" y="26669"/>
                </a:lnTo>
                <a:lnTo>
                  <a:pt x="3620203" y="26669"/>
                </a:lnTo>
                <a:lnTo>
                  <a:pt x="3540633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31151" y="2578100"/>
            <a:ext cx="2073275" cy="826135"/>
          </a:xfrm>
          <a:custGeom>
            <a:avLst/>
            <a:gdLst/>
            <a:ahLst/>
            <a:cxnLst/>
            <a:rect l="l" t="t" r="r" b="b"/>
            <a:pathLst>
              <a:path w="2073275" h="826135">
                <a:moveTo>
                  <a:pt x="1986691" y="798944"/>
                </a:moveTo>
                <a:lnTo>
                  <a:pt x="1976247" y="825880"/>
                </a:lnTo>
                <a:lnTo>
                  <a:pt x="2072894" y="816863"/>
                </a:lnTo>
                <a:lnTo>
                  <a:pt x="2061360" y="804163"/>
                </a:lnTo>
                <a:lnTo>
                  <a:pt x="2000123" y="804163"/>
                </a:lnTo>
                <a:lnTo>
                  <a:pt x="1986691" y="798944"/>
                </a:lnTo>
                <a:close/>
              </a:path>
              <a:path w="2073275" h="826135">
                <a:moveTo>
                  <a:pt x="1997144" y="771986"/>
                </a:moveTo>
                <a:lnTo>
                  <a:pt x="1986691" y="798944"/>
                </a:lnTo>
                <a:lnTo>
                  <a:pt x="2000123" y="804163"/>
                </a:lnTo>
                <a:lnTo>
                  <a:pt x="2010664" y="777239"/>
                </a:lnTo>
                <a:lnTo>
                  <a:pt x="1997144" y="771986"/>
                </a:lnTo>
                <a:close/>
              </a:path>
              <a:path w="2073275" h="826135">
                <a:moveTo>
                  <a:pt x="2007616" y="744982"/>
                </a:moveTo>
                <a:lnTo>
                  <a:pt x="1997144" y="771986"/>
                </a:lnTo>
                <a:lnTo>
                  <a:pt x="2010664" y="777239"/>
                </a:lnTo>
                <a:lnTo>
                  <a:pt x="2000123" y="804163"/>
                </a:lnTo>
                <a:lnTo>
                  <a:pt x="2061360" y="804163"/>
                </a:lnTo>
                <a:lnTo>
                  <a:pt x="2007616" y="744982"/>
                </a:lnTo>
                <a:close/>
              </a:path>
              <a:path w="2073275" h="826135">
                <a:moveTo>
                  <a:pt x="10414" y="0"/>
                </a:moveTo>
                <a:lnTo>
                  <a:pt x="0" y="26924"/>
                </a:lnTo>
                <a:lnTo>
                  <a:pt x="1986691" y="798944"/>
                </a:lnTo>
                <a:lnTo>
                  <a:pt x="1997144" y="771986"/>
                </a:lnTo>
                <a:lnTo>
                  <a:pt x="1041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469373" y="4057014"/>
            <a:ext cx="3086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solidFill>
                  <a:srgbClr val="0000FF"/>
                </a:solidFill>
                <a:latin typeface="Cambria Math"/>
                <a:cs typeface="Cambria Math"/>
              </a:rPr>
              <a:t>𝑖=1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22181" y="3938142"/>
            <a:ext cx="807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CPI=</a:t>
            </a:r>
            <a:r>
              <a:rPr sz="1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37" baseline="1543" dirty="0">
                <a:solidFill>
                  <a:srgbClr val="0000FF"/>
                </a:solidFill>
                <a:latin typeface="Cambria Math"/>
                <a:cs typeface="Cambria Math"/>
              </a:rPr>
              <a:t>∑</a:t>
            </a:r>
            <a:r>
              <a:rPr sz="1950" spc="37" baseline="32051" dirty="0">
                <a:solidFill>
                  <a:srgbClr val="0000FF"/>
                </a:solidFill>
                <a:latin typeface="Cambria Math"/>
                <a:cs typeface="Cambria Math"/>
              </a:rPr>
              <a:t>𝑛</a:t>
            </a:r>
            <a:endParaRPr sz="1950" baseline="32051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64014" y="3938142"/>
            <a:ext cx="1245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Cambria Math"/>
                <a:cs typeface="Cambria Math"/>
              </a:rPr>
              <a:t>Freq</a:t>
            </a:r>
            <a:r>
              <a:rPr sz="1800" baseline="-20833" dirty="0">
                <a:solidFill>
                  <a:srgbClr val="0000FF"/>
                </a:solidFill>
                <a:latin typeface="Cambria Math"/>
                <a:cs typeface="Cambria Math"/>
              </a:rPr>
              <a:t>i</a:t>
            </a:r>
            <a:r>
              <a:rPr sz="1800" spc="697" baseline="-20833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00FF"/>
                </a:solidFill>
                <a:latin typeface="Cambria Math"/>
                <a:cs typeface="Cambria Math"/>
              </a:rPr>
              <a:t>∗</a:t>
            </a:r>
            <a:r>
              <a:rPr sz="1800" spc="-1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0000FF"/>
                </a:solidFill>
                <a:latin typeface="Cambria Math"/>
                <a:cs typeface="Cambria Math"/>
              </a:rPr>
              <a:t>𝐶𝑃𝐼</a:t>
            </a:r>
            <a:r>
              <a:rPr sz="1800" spc="-30" baseline="-20833" dirty="0">
                <a:solidFill>
                  <a:srgbClr val="0000FF"/>
                </a:solidFill>
                <a:latin typeface="Cambria Math"/>
                <a:cs typeface="Cambria Math"/>
              </a:rPr>
              <a:t>𝑖</a:t>
            </a:r>
            <a:endParaRPr sz="1800" baseline="-20833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078319"/>
            <a:ext cx="10359390" cy="5555615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8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9:</a:t>
            </a:r>
            <a:endParaRPr sz="2800">
              <a:latin typeface="Calibri"/>
              <a:cs typeface="Calibri"/>
            </a:endParaRPr>
          </a:p>
          <a:p>
            <a:pPr marL="12700" marR="5080" algn="r">
              <a:lnSpc>
                <a:spcPct val="90000"/>
              </a:lnSpc>
              <a:spcBef>
                <a:spcPts val="1620"/>
              </a:spcBef>
            </a:pPr>
            <a:r>
              <a:rPr sz="2800" dirty="0">
                <a:latin typeface="Arial MT"/>
                <a:cs typeface="Arial MT"/>
              </a:rPr>
              <a:t>Two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different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compilers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being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tested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500</a:t>
            </a:r>
            <a:r>
              <a:rPr sz="2800" spc="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MHz</a:t>
            </a:r>
            <a:r>
              <a:rPr sz="2800" dirty="0">
                <a:latin typeface="Arial MT"/>
                <a:cs typeface="Arial MT"/>
              </a:rPr>
              <a:t>.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machine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three</a:t>
            </a:r>
            <a:r>
              <a:rPr sz="2800" spc="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different</a:t>
            </a:r>
            <a:r>
              <a:rPr sz="2800" spc="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classes</a:t>
            </a:r>
            <a:r>
              <a:rPr sz="2800" spc="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instructions:</a:t>
            </a:r>
            <a:r>
              <a:rPr sz="2800" spc="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A,</a:t>
            </a:r>
            <a:r>
              <a:rPr sz="2800" spc="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B,</a:t>
            </a:r>
            <a:r>
              <a:rPr sz="2800" spc="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1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C,</a:t>
            </a:r>
            <a:r>
              <a:rPr sz="2800" spc="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1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require</a:t>
            </a:r>
            <a:r>
              <a:rPr sz="2800" spc="15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one,</a:t>
            </a:r>
            <a:r>
              <a:rPr sz="2800" spc="1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two,</a:t>
            </a:r>
            <a:r>
              <a:rPr sz="2800" spc="14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and</a:t>
            </a:r>
            <a:r>
              <a:rPr sz="2800" spc="1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three</a:t>
            </a:r>
            <a:r>
              <a:rPr sz="2800" spc="14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cycles</a:t>
            </a:r>
            <a:r>
              <a:rPr sz="2800" spc="15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(respectively).</a:t>
            </a:r>
            <a:endParaRPr sz="2800">
              <a:latin typeface="Arial MT"/>
              <a:cs typeface="Arial MT"/>
            </a:endParaRPr>
          </a:p>
          <a:p>
            <a:pPr marL="12700" marR="8890" indent="914400">
              <a:lnSpc>
                <a:spcPts val="3030"/>
              </a:lnSpc>
              <a:spcBef>
                <a:spcPts val="40"/>
              </a:spcBef>
            </a:pPr>
            <a:r>
              <a:rPr sz="2800" dirty="0">
                <a:latin typeface="Arial MT"/>
                <a:cs typeface="Arial MT"/>
              </a:rPr>
              <a:t>Both</a:t>
            </a:r>
            <a:r>
              <a:rPr sz="2800" spc="1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compilers</a:t>
            </a:r>
            <a:r>
              <a:rPr sz="2800" spc="1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1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used</a:t>
            </a:r>
            <a:r>
              <a:rPr sz="2800" spc="1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1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produce</a:t>
            </a:r>
            <a:r>
              <a:rPr sz="2800" spc="1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code</a:t>
            </a:r>
            <a:r>
              <a:rPr sz="2800" spc="1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1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1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large</a:t>
            </a:r>
            <a:r>
              <a:rPr sz="2800" spc="1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piece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software.</a:t>
            </a:r>
            <a:endParaRPr sz="2800">
              <a:latin typeface="Arial MT"/>
              <a:cs typeface="Arial MT"/>
            </a:endParaRPr>
          </a:p>
          <a:p>
            <a:pPr marL="12700" marR="6350">
              <a:lnSpc>
                <a:spcPts val="3020"/>
              </a:lnSpc>
              <a:spcBef>
                <a:spcPts val="1005"/>
              </a:spcBef>
              <a:tabLst>
                <a:tab pos="779145" algn="l"/>
                <a:tab pos="1506220" algn="l"/>
                <a:tab pos="3254375" algn="l"/>
                <a:tab pos="4180840" algn="l"/>
                <a:tab pos="5086350" algn="l"/>
                <a:tab pos="5436870" algn="l"/>
                <a:tab pos="6680834" algn="l"/>
                <a:tab pos="7724775" algn="l"/>
                <a:tab pos="10146665" algn="l"/>
              </a:tabLst>
            </a:pPr>
            <a:r>
              <a:rPr sz="2800" spc="-2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0" dirty="0">
                <a:latin typeface="Arial MT"/>
                <a:cs typeface="Arial MT"/>
              </a:rPr>
              <a:t>first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compiler's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0" dirty="0">
                <a:latin typeface="Arial MT"/>
                <a:cs typeface="Arial MT"/>
              </a:rPr>
              <a:t>code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0" dirty="0">
                <a:latin typeface="Arial MT"/>
                <a:cs typeface="Arial MT"/>
              </a:rPr>
              <a:t>uses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5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billions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Class</a:t>
            </a:r>
            <a:r>
              <a:rPr sz="2800" dirty="0">
                <a:latin typeface="Arial MT"/>
                <a:cs typeface="Arial MT"/>
              </a:rPr>
              <a:t>	A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instructions,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1 </a:t>
            </a:r>
            <a:r>
              <a:rPr sz="2800" dirty="0">
                <a:latin typeface="Arial MT"/>
                <a:cs typeface="Arial MT"/>
              </a:rPr>
              <a:t>billion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instructions,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billion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instructions.</a:t>
            </a:r>
            <a:endParaRPr sz="2800">
              <a:latin typeface="Arial MT"/>
              <a:cs typeface="Arial MT"/>
            </a:endParaRPr>
          </a:p>
          <a:p>
            <a:pPr marL="12700" marR="8255">
              <a:lnSpc>
                <a:spcPts val="3020"/>
              </a:lnSpc>
              <a:spcBef>
                <a:spcPts val="1010"/>
              </a:spcBef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second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compiler's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code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10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billions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instructions,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billion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instructions,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billion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instructions.</a:t>
            </a:r>
            <a:endParaRPr sz="2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Char char="•"/>
              <a:tabLst>
                <a:tab pos="240665" algn="l"/>
              </a:tabLst>
            </a:pP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sequence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faster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according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Arial MT"/>
                <a:cs typeface="Arial MT"/>
              </a:rPr>
              <a:t>MIPS</a:t>
            </a:r>
            <a:r>
              <a:rPr sz="2800" spc="-10" dirty="0">
                <a:latin typeface="Arial MT"/>
                <a:cs typeface="Arial MT"/>
              </a:rPr>
              <a:t>?</a:t>
            </a:r>
            <a:endParaRPr sz="2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Char char="•"/>
              <a:tabLst>
                <a:tab pos="240665" algn="l"/>
              </a:tabLst>
            </a:pP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sequence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faster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according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execution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time?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241552"/>
            <a:ext cx="3101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9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9:</a:t>
            </a:r>
            <a:r>
              <a:rPr sz="2800" spc="-6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46D2"/>
                </a:solidFill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8297" y="259841"/>
            <a:ext cx="4373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Practice</a:t>
            </a:r>
            <a:r>
              <a:rPr spc="-30" dirty="0"/>
              <a:t> </a:t>
            </a:r>
            <a:r>
              <a:rPr spc="-10" dirty="0"/>
              <a:t>Problems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1019" y="1517903"/>
            <a:ext cx="11650980" cy="5171440"/>
            <a:chOff x="541019" y="1517903"/>
            <a:chExt cx="11650980" cy="51714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" y="1618487"/>
              <a:ext cx="7101840" cy="22677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1179" y="3713987"/>
              <a:ext cx="6560819" cy="29748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34105" y="1532381"/>
              <a:ext cx="4293235" cy="643255"/>
            </a:xfrm>
            <a:custGeom>
              <a:avLst/>
              <a:gdLst/>
              <a:ahLst/>
              <a:cxnLst/>
              <a:rect l="l" t="t" r="r" b="b"/>
              <a:pathLst>
                <a:path w="4293234" h="643255">
                  <a:moveTo>
                    <a:pt x="0" y="321563"/>
                  </a:moveTo>
                  <a:lnTo>
                    <a:pt x="21315" y="276080"/>
                  </a:lnTo>
                  <a:lnTo>
                    <a:pt x="64166" y="243228"/>
                  </a:lnTo>
                  <a:lnTo>
                    <a:pt x="104845" y="222030"/>
                  </a:lnTo>
                  <a:lnTo>
                    <a:pt x="154790" y="201456"/>
                  </a:lnTo>
                  <a:lnTo>
                    <a:pt x="213637" y="181563"/>
                  </a:lnTo>
                  <a:lnTo>
                    <a:pt x="281023" y="162404"/>
                  </a:lnTo>
                  <a:lnTo>
                    <a:pt x="356586" y="144034"/>
                  </a:lnTo>
                  <a:lnTo>
                    <a:pt x="397319" y="135161"/>
                  </a:lnTo>
                  <a:lnTo>
                    <a:pt x="439961" y="126507"/>
                  </a:lnTo>
                  <a:lnTo>
                    <a:pt x="484465" y="118077"/>
                  </a:lnTo>
                  <a:lnTo>
                    <a:pt x="530786" y="109878"/>
                  </a:lnTo>
                  <a:lnTo>
                    <a:pt x="578878" y="101917"/>
                  </a:lnTo>
                  <a:lnTo>
                    <a:pt x="628697" y="94202"/>
                  </a:lnTo>
                  <a:lnTo>
                    <a:pt x="680197" y="86738"/>
                  </a:lnTo>
                  <a:lnTo>
                    <a:pt x="733332" y="79532"/>
                  </a:lnTo>
                  <a:lnTo>
                    <a:pt x="788057" y="72592"/>
                  </a:lnTo>
                  <a:lnTo>
                    <a:pt x="844327" y="65924"/>
                  </a:lnTo>
                  <a:lnTo>
                    <a:pt x="902096" y="59535"/>
                  </a:lnTo>
                  <a:lnTo>
                    <a:pt x="961318" y="53432"/>
                  </a:lnTo>
                  <a:lnTo>
                    <a:pt x="1021950" y="47621"/>
                  </a:lnTo>
                  <a:lnTo>
                    <a:pt x="1083944" y="42110"/>
                  </a:lnTo>
                  <a:lnTo>
                    <a:pt x="1147256" y="36905"/>
                  </a:lnTo>
                  <a:lnTo>
                    <a:pt x="1211840" y="32013"/>
                  </a:lnTo>
                  <a:lnTo>
                    <a:pt x="1277651" y="27441"/>
                  </a:lnTo>
                  <a:lnTo>
                    <a:pt x="1344644" y="23195"/>
                  </a:lnTo>
                  <a:lnTo>
                    <a:pt x="1412772" y="19283"/>
                  </a:lnTo>
                  <a:lnTo>
                    <a:pt x="1481992" y="15711"/>
                  </a:lnTo>
                  <a:lnTo>
                    <a:pt x="1552256" y="12486"/>
                  </a:lnTo>
                  <a:lnTo>
                    <a:pt x="1623520" y="9615"/>
                  </a:lnTo>
                  <a:lnTo>
                    <a:pt x="1695739" y="7105"/>
                  </a:lnTo>
                  <a:lnTo>
                    <a:pt x="1768867" y="4962"/>
                  </a:lnTo>
                  <a:lnTo>
                    <a:pt x="1842859" y="3194"/>
                  </a:lnTo>
                  <a:lnTo>
                    <a:pt x="1917668" y="1807"/>
                  </a:lnTo>
                  <a:lnTo>
                    <a:pt x="1993251" y="807"/>
                  </a:lnTo>
                  <a:lnTo>
                    <a:pt x="2069561" y="203"/>
                  </a:lnTo>
                  <a:lnTo>
                    <a:pt x="2146554" y="0"/>
                  </a:lnTo>
                  <a:lnTo>
                    <a:pt x="2223546" y="203"/>
                  </a:lnTo>
                  <a:lnTo>
                    <a:pt x="2299856" y="807"/>
                  </a:lnTo>
                  <a:lnTo>
                    <a:pt x="2375439" y="1807"/>
                  </a:lnTo>
                  <a:lnTo>
                    <a:pt x="2450248" y="3194"/>
                  </a:lnTo>
                  <a:lnTo>
                    <a:pt x="2524240" y="4962"/>
                  </a:lnTo>
                  <a:lnTo>
                    <a:pt x="2597368" y="7105"/>
                  </a:lnTo>
                  <a:lnTo>
                    <a:pt x="2669587" y="9615"/>
                  </a:lnTo>
                  <a:lnTo>
                    <a:pt x="2740851" y="12486"/>
                  </a:lnTo>
                  <a:lnTo>
                    <a:pt x="2811115" y="15711"/>
                  </a:lnTo>
                  <a:lnTo>
                    <a:pt x="2880335" y="19283"/>
                  </a:lnTo>
                  <a:lnTo>
                    <a:pt x="2948463" y="23195"/>
                  </a:lnTo>
                  <a:lnTo>
                    <a:pt x="3015456" y="27441"/>
                  </a:lnTo>
                  <a:lnTo>
                    <a:pt x="3081267" y="32013"/>
                  </a:lnTo>
                  <a:lnTo>
                    <a:pt x="3145851" y="36905"/>
                  </a:lnTo>
                  <a:lnTo>
                    <a:pt x="3209163" y="42110"/>
                  </a:lnTo>
                  <a:lnTo>
                    <a:pt x="3271157" y="47621"/>
                  </a:lnTo>
                  <a:lnTo>
                    <a:pt x="3331789" y="53432"/>
                  </a:lnTo>
                  <a:lnTo>
                    <a:pt x="3391011" y="59535"/>
                  </a:lnTo>
                  <a:lnTo>
                    <a:pt x="3448780" y="65924"/>
                  </a:lnTo>
                  <a:lnTo>
                    <a:pt x="3505050" y="72592"/>
                  </a:lnTo>
                  <a:lnTo>
                    <a:pt x="3559775" y="79532"/>
                  </a:lnTo>
                  <a:lnTo>
                    <a:pt x="3612910" y="86738"/>
                  </a:lnTo>
                  <a:lnTo>
                    <a:pt x="3664410" y="94202"/>
                  </a:lnTo>
                  <a:lnTo>
                    <a:pt x="3714229" y="101917"/>
                  </a:lnTo>
                  <a:lnTo>
                    <a:pt x="3762321" y="109878"/>
                  </a:lnTo>
                  <a:lnTo>
                    <a:pt x="3808642" y="118077"/>
                  </a:lnTo>
                  <a:lnTo>
                    <a:pt x="3853146" y="126507"/>
                  </a:lnTo>
                  <a:lnTo>
                    <a:pt x="3895788" y="135161"/>
                  </a:lnTo>
                  <a:lnTo>
                    <a:pt x="3936521" y="144034"/>
                  </a:lnTo>
                  <a:lnTo>
                    <a:pt x="3975302" y="153117"/>
                  </a:lnTo>
                  <a:lnTo>
                    <a:pt x="4046822" y="171888"/>
                  </a:lnTo>
                  <a:lnTo>
                    <a:pt x="4109984" y="191421"/>
                  </a:lnTo>
                  <a:lnTo>
                    <a:pt x="4164425" y="211661"/>
                  </a:lnTo>
                  <a:lnTo>
                    <a:pt x="4209782" y="232554"/>
                  </a:lnTo>
                  <a:lnTo>
                    <a:pt x="4245692" y="254045"/>
                  </a:lnTo>
                  <a:lnTo>
                    <a:pt x="4281049" y="287285"/>
                  </a:lnTo>
                  <a:lnTo>
                    <a:pt x="4293108" y="321563"/>
                  </a:lnTo>
                  <a:lnTo>
                    <a:pt x="4291753" y="333094"/>
                  </a:lnTo>
                  <a:lnTo>
                    <a:pt x="4271792" y="367047"/>
                  </a:lnTo>
                  <a:lnTo>
                    <a:pt x="4228941" y="399899"/>
                  </a:lnTo>
                  <a:lnTo>
                    <a:pt x="4188262" y="421097"/>
                  </a:lnTo>
                  <a:lnTo>
                    <a:pt x="4138317" y="441671"/>
                  </a:lnTo>
                  <a:lnTo>
                    <a:pt x="4079470" y="461564"/>
                  </a:lnTo>
                  <a:lnTo>
                    <a:pt x="4012084" y="480723"/>
                  </a:lnTo>
                  <a:lnTo>
                    <a:pt x="3936521" y="499093"/>
                  </a:lnTo>
                  <a:lnTo>
                    <a:pt x="3895788" y="507966"/>
                  </a:lnTo>
                  <a:lnTo>
                    <a:pt x="3853146" y="516620"/>
                  </a:lnTo>
                  <a:lnTo>
                    <a:pt x="3808642" y="525050"/>
                  </a:lnTo>
                  <a:lnTo>
                    <a:pt x="3762321" y="533249"/>
                  </a:lnTo>
                  <a:lnTo>
                    <a:pt x="3714229" y="541210"/>
                  </a:lnTo>
                  <a:lnTo>
                    <a:pt x="3664410" y="548925"/>
                  </a:lnTo>
                  <a:lnTo>
                    <a:pt x="3612910" y="556389"/>
                  </a:lnTo>
                  <a:lnTo>
                    <a:pt x="3559775" y="563595"/>
                  </a:lnTo>
                  <a:lnTo>
                    <a:pt x="3505050" y="570535"/>
                  </a:lnTo>
                  <a:lnTo>
                    <a:pt x="3448780" y="577203"/>
                  </a:lnTo>
                  <a:lnTo>
                    <a:pt x="3391011" y="583592"/>
                  </a:lnTo>
                  <a:lnTo>
                    <a:pt x="3331789" y="589695"/>
                  </a:lnTo>
                  <a:lnTo>
                    <a:pt x="3271157" y="595506"/>
                  </a:lnTo>
                  <a:lnTo>
                    <a:pt x="3209163" y="601017"/>
                  </a:lnTo>
                  <a:lnTo>
                    <a:pt x="3145851" y="606222"/>
                  </a:lnTo>
                  <a:lnTo>
                    <a:pt x="3081267" y="611114"/>
                  </a:lnTo>
                  <a:lnTo>
                    <a:pt x="3015456" y="615686"/>
                  </a:lnTo>
                  <a:lnTo>
                    <a:pt x="2948463" y="619932"/>
                  </a:lnTo>
                  <a:lnTo>
                    <a:pt x="2880335" y="623844"/>
                  </a:lnTo>
                  <a:lnTo>
                    <a:pt x="2811115" y="627416"/>
                  </a:lnTo>
                  <a:lnTo>
                    <a:pt x="2740851" y="630641"/>
                  </a:lnTo>
                  <a:lnTo>
                    <a:pt x="2669587" y="633512"/>
                  </a:lnTo>
                  <a:lnTo>
                    <a:pt x="2597368" y="636022"/>
                  </a:lnTo>
                  <a:lnTo>
                    <a:pt x="2524240" y="638165"/>
                  </a:lnTo>
                  <a:lnTo>
                    <a:pt x="2450248" y="639933"/>
                  </a:lnTo>
                  <a:lnTo>
                    <a:pt x="2375439" y="641320"/>
                  </a:lnTo>
                  <a:lnTo>
                    <a:pt x="2299856" y="642320"/>
                  </a:lnTo>
                  <a:lnTo>
                    <a:pt x="2223546" y="642924"/>
                  </a:lnTo>
                  <a:lnTo>
                    <a:pt x="2146554" y="643127"/>
                  </a:lnTo>
                  <a:lnTo>
                    <a:pt x="2069561" y="642924"/>
                  </a:lnTo>
                  <a:lnTo>
                    <a:pt x="1993251" y="642320"/>
                  </a:lnTo>
                  <a:lnTo>
                    <a:pt x="1917668" y="641320"/>
                  </a:lnTo>
                  <a:lnTo>
                    <a:pt x="1842859" y="639933"/>
                  </a:lnTo>
                  <a:lnTo>
                    <a:pt x="1768867" y="638165"/>
                  </a:lnTo>
                  <a:lnTo>
                    <a:pt x="1695739" y="636022"/>
                  </a:lnTo>
                  <a:lnTo>
                    <a:pt x="1623520" y="633512"/>
                  </a:lnTo>
                  <a:lnTo>
                    <a:pt x="1552256" y="630641"/>
                  </a:lnTo>
                  <a:lnTo>
                    <a:pt x="1481992" y="627416"/>
                  </a:lnTo>
                  <a:lnTo>
                    <a:pt x="1412772" y="623844"/>
                  </a:lnTo>
                  <a:lnTo>
                    <a:pt x="1344644" y="619932"/>
                  </a:lnTo>
                  <a:lnTo>
                    <a:pt x="1277651" y="615686"/>
                  </a:lnTo>
                  <a:lnTo>
                    <a:pt x="1211840" y="611114"/>
                  </a:lnTo>
                  <a:lnTo>
                    <a:pt x="1147256" y="606222"/>
                  </a:lnTo>
                  <a:lnTo>
                    <a:pt x="1083944" y="601017"/>
                  </a:lnTo>
                  <a:lnTo>
                    <a:pt x="1021950" y="595506"/>
                  </a:lnTo>
                  <a:lnTo>
                    <a:pt x="961318" y="589695"/>
                  </a:lnTo>
                  <a:lnTo>
                    <a:pt x="902096" y="583592"/>
                  </a:lnTo>
                  <a:lnTo>
                    <a:pt x="844327" y="577203"/>
                  </a:lnTo>
                  <a:lnTo>
                    <a:pt x="788057" y="570535"/>
                  </a:lnTo>
                  <a:lnTo>
                    <a:pt x="733332" y="563595"/>
                  </a:lnTo>
                  <a:lnTo>
                    <a:pt x="680197" y="556389"/>
                  </a:lnTo>
                  <a:lnTo>
                    <a:pt x="628697" y="548925"/>
                  </a:lnTo>
                  <a:lnTo>
                    <a:pt x="578878" y="541210"/>
                  </a:lnTo>
                  <a:lnTo>
                    <a:pt x="530786" y="533249"/>
                  </a:lnTo>
                  <a:lnTo>
                    <a:pt x="484465" y="525050"/>
                  </a:lnTo>
                  <a:lnTo>
                    <a:pt x="439961" y="516620"/>
                  </a:lnTo>
                  <a:lnTo>
                    <a:pt x="397319" y="507966"/>
                  </a:lnTo>
                  <a:lnTo>
                    <a:pt x="356586" y="499093"/>
                  </a:lnTo>
                  <a:lnTo>
                    <a:pt x="317805" y="490010"/>
                  </a:lnTo>
                  <a:lnTo>
                    <a:pt x="246285" y="471239"/>
                  </a:lnTo>
                  <a:lnTo>
                    <a:pt x="183123" y="451706"/>
                  </a:lnTo>
                  <a:lnTo>
                    <a:pt x="128682" y="431466"/>
                  </a:lnTo>
                  <a:lnTo>
                    <a:pt x="83325" y="410573"/>
                  </a:lnTo>
                  <a:lnTo>
                    <a:pt x="47415" y="389082"/>
                  </a:lnTo>
                  <a:lnTo>
                    <a:pt x="12058" y="355842"/>
                  </a:lnTo>
                  <a:lnTo>
                    <a:pt x="0" y="321563"/>
                  </a:lnTo>
                  <a:close/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0828" y="4290930"/>
              <a:ext cx="3867869" cy="1996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426" y="5069460"/>
              <a:ext cx="4181756" cy="4596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1858" y="5831093"/>
              <a:ext cx="3761965" cy="63174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886192" y="2147442"/>
            <a:ext cx="298196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129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Clock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rate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500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MHz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Cycles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class1-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1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cycle,</a:t>
            </a:r>
            <a:endParaRPr sz="2400">
              <a:latin typeface="Calibri"/>
              <a:cs typeface="Calibri"/>
            </a:endParaRPr>
          </a:p>
          <a:p>
            <a:pPr marL="1105535" marR="5080">
              <a:lnSpc>
                <a:spcPct val="100000"/>
              </a:lnSpc>
            </a:pP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class2-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400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cycles, class3-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r>
              <a:rPr sz="2400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cycles.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896238"/>
            <a:ext cx="8164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machines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benchmarks: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6757" y="107695"/>
            <a:ext cx="769683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-45" dirty="0"/>
              <a:t> </a:t>
            </a:r>
            <a:r>
              <a:rPr dirty="0"/>
              <a:t>with</a:t>
            </a:r>
            <a:r>
              <a:rPr spc="-275" dirty="0"/>
              <a:t> </a:t>
            </a:r>
            <a:r>
              <a:rPr dirty="0"/>
              <a:t>Arithmetic</a:t>
            </a:r>
            <a:r>
              <a:rPr spc="-65" dirty="0"/>
              <a:t> </a:t>
            </a:r>
            <a:r>
              <a:rPr spc="-20" dirty="0"/>
              <a:t>Mean</a:t>
            </a:r>
          </a:p>
        </p:txBody>
      </p:sp>
      <p:sp>
        <p:nvSpPr>
          <p:cNvPr id="4" name="object 4"/>
          <p:cNvSpPr/>
          <p:nvPr/>
        </p:nvSpPr>
        <p:spPr>
          <a:xfrm>
            <a:off x="2916936" y="3604259"/>
            <a:ext cx="6878320" cy="990600"/>
          </a:xfrm>
          <a:custGeom>
            <a:avLst/>
            <a:gdLst/>
            <a:ahLst/>
            <a:cxnLst/>
            <a:rect l="l" t="t" r="r" b="b"/>
            <a:pathLst>
              <a:path w="6878320" h="990600">
                <a:moveTo>
                  <a:pt x="6877812" y="0"/>
                </a:moveTo>
                <a:lnTo>
                  <a:pt x="6869684" y="0"/>
                </a:lnTo>
                <a:lnTo>
                  <a:pt x="6869684" y="14986"/>
                </a:lnTo>
                <a:lnTo>
                  <a:pt x="6869684" y="974598"/>
                </a:lnTo>
                <a:lnTo>
                  <a:pt x="6869658" y="14986"/>
                </a:lnTo>
                <a:lnTo>
                  <a:pt x="6869684" y="0"/>
                </a:lnTo>
                <a:lnTo>
                  <a:pt x="6862445" y="0"/>
                </a:lnTo>
                <a:lnTo>
                  <a:pt x="6862445" y="14986"/>
                </a:lnTo>
                <a:lnTo>
                  <a:pt x="6862445" y="974598"/>
                </a:lnTo>
                <a:lnTo>
                  <a:pt x="15354" y="974598"/>
                </a:lnTo>
                <a:lnTo>
                  <a:pt x="15354" y="14986"/>
                </a:lnTo>
                <a:lnTo>
                  <a:pt x="6862445" y="14986"/>
                </a:lnTo>
                <a:lnTo>
                  <a:pt x="6862445" y="0"/>
                </a:lnTo>
                <a:lnTo>
                  <a:pt x="0" y="0"/>
                </a:lnTo>
                <a:lnTo>
                  <a:pt x="0" y="990600"/>
                </a:lnTo>
                <a:lnTo>
                  <a:pt x="7239" y="990600"/>
                </a:lnTo>
                <a:lnTo>
                  <a:pt x="15367" y="990600"/>
                </a:lnTo>
                <a:lnTo>
                  <a:pt x="6862445" y="990600"/>
                </a:lnTo>
                <a:lnTo>
                  <a:pt x="6869684" y="990600"/>
                </a:lnTo>
                <a:lnTo>
                  <a:pt x="6877812" y="990600"/>
                </a:lnTo>
                <a:lnTo>
                  <a:pt x="6877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16936" y="4733544"/>
            <a:ext cx="8284845" cy="1580515"/>
          </a:xfrm>
          <a:custGeom>
            <a:avLst/>
            <a:gdLst/>
            <a:ahLst/>
            <a:cxnLst/>
            <a:rect l="l" t="t" r="r" b="b"/>
            <a:pathLst>
              <a:path w="8284845" h="1580514">
                <a:moveTo>
                  <a:pt x="8284464" y="0"/>
                </a:moveTo>
                <a:lnTo>
                  <a:pt x="8277098" y="0"/>
                </a:lnTo>
                <a:lnTo>
                  <a:pt x="8277098" y="24003"/>
                </a:lnTo>
                <a:lnTo>
                  <a:pt x="8277098" y="1554949"/>
                </a:lnTo>
                <a:lnTo>
                  <a:pt x="8277034" y="24003"/>
                </a:lnTo>
                <a:lnTo>
                  <a:pt x="8277098" y="0"/>
                </a:lnTo>
                <a:lnTo>
                  <a:pt x="8270494" y="0"/>
                </a:lnTo>
                <a:lnTo>
                  <a:pt x="8270494" y="24003"/>
                </a:lnTo>
                <a:lnTo>
                  <a:pt x="8270494" y="1554949"/>
                </a:lnTo>
                <a:lnTo>
                  <a:pt x="13970" y="1554949"/>
                </a:lnTo>
                <a:lnTo>
                  <a:pt x="13970" y="24003"/>
                </a:lnTo>
                <a:lnTo>
                  <a:pt x="8270494" y="24003"/>
                </a:lnTo>
                <a:lnTo>
                  <a:pt x="8270494" y="0"/>
                </a:lnTo>
                <a:lnTo>
                  <a:pt x="0" y="0"/>
                </a:lnTo>
                <a:lnTo>
                  <a:pt x="0" y="1580388"/>
                </a:lnTo>
                <a:lnTo>
                  <a:pt x="6604" y="1580388"/>
                </a:lnTo>
                <a:lnTo>
                  <a:pt x="13970" y="1580388"/>
                </a:lnTo>
                <a:lnTo>
                  <a:pt x="8270494" y="1580388"/>
                </a:lnTo>
                <a:lnTo>
                  <a:pt x="8277098" y="1580388"/>
                </a:lnTo>
                <a:lnTo>
                  <a:pt x="8284464" y="1580388"/>
                </a:lnTo>
                <a:lnTo>
                  <a:pt x="8284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92808" y="3480282"/>
            <a:ext cx="8333105" cy="209740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omic Sans MS"/>
                <a:cs typeface="Comic Sans MS"/>
              </a:rPr>
              <a:t>Average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execution</a:t>
            </a:r>
            <a:r>
              <a:rPr sz="2000" spc="-8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time</a:t>
            </a:r>
            <a:r>
              <a:rPr sz="1950" baseline="-17094" dirty="0">
                <a:latin typeface="Comic Sans MS"/>
                <a:cs typeface="Comic Sans MS"/>
              </a:rPr>
              <a:t>A</a:t>
            </a:r>
            <a:r>
              <a:rPr sz="1950" spc="284" baseline="-17094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(2 +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12)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/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2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7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seconds</a:t>
            </a:r>
            <a:endParaRPr sz="2000">
              <a:latin typeface="Comic Sans MS"/>
              <a:cs typeface="Comic Sans MS"/>
            </a:endParaRPr>
          </a:p>
          <a:p>
            <a:pPr marL="398780">
              <a:lnSpc>
                <a:spcPct val="100000"/>
              </a:lnSpc>
              <a:spcBef>
                <a:spcPts val="1105"/>
              </a:spcBef>
            </a:pPr>
            <a:r>
              <a:rPr sz="2000" dirty="0">
                <a:latin typeface="Comic Sans MS"/>
                <a:cs typeface="Comic Sans MS"/>
              </a:rPr>
              <a:t>Average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execution</a:t>
            </a:r>
            <a:r>
              <a:rPr sz="2000" spc="-8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time</a:t>
            </a:r>
            <a:r>
              <a:rPr sz="1950" baseline="-17094" dirty="0">
                <a:latin typeface="Comic Sans MS"/>
                <a:cs typeface="Comic Sans MS"/>
              </a:rPr>
              <a:t>B</a:t>
            </a:r>
            <a:r>
              <a:rPr sz="1950" spc="254" baseline="-17094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(6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+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10)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/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2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8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seconds</a:t>
            </a:r>
            <a:endParaRPr sz="2000">
              <a:latin typeface="Comic Sans MS"/>
              <a:cs typeface="Comic Sans MS"/>
            </a:endParaRPr>
          </a:p>
          <a:p>
            <a:pPr marL="398780" marR="172720">
              <a:lnSpc>
                <a:spcPct val="150000"/>
              </a:lnSpc>
              <a:spcBef>
                <a:spcPts val="2105"/>
              </a:spcBef>
            </a:pPr>
            <a:r>
              <a:rPr sz="2000" dirty="0">
                <a:latin typeface="Comic Sans MS"/>
                <a:cs typeface="Comic Sans MS"/>
              </a:rPr>
              <a:t>Weighted</a:t>
            </a:r>
            <a:r>
              <a:rPr sz="2000" spc="-7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average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execution</a:t>
            </a:r>
            <a:r>
              <a:rPr sz="2000" spc="-7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time</a:t>
            </a:r>
            <a:r>
              <a:rPr sz="1950" baseline="-17094" dirty="0">
                <a:latin typeface="Comic Sans MS"/>
                <a:cs typeface="Comic Sans MS"/>
              </a:rPr>
              <a:t>A</a:t>
            </a:r>
            <a:r>
              <a:rPr sz="1950" spc="240" baseline="-17094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2*0.2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+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12*0.8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10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seconds </a:t>
            </a:r>
            <a:r>
              <a:rPr sz="2000" dirty="0">
                <a:latin typeface="Comic Sans MS"/>
                <a:cs typeface="Comic Sans MS"/>
              </a:rPr>
              <a:t>Weighted</a:t>
            </a:r>
            <a:r>
              <a:rPr sz="2000" spc="-7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average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execution</a:t>
            </a:r>
            <a:r>
              <a:rPr sz="2000" spc="-7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time</a:t>
            </a:r>
            <a:r>
              <a:rPr sz="1950" baseline="-17094" dirty="0">
                <a:latin typeface="Comic Sans MS"/>
                <a:cs typeface="Comic Sans MS"/>
              </a:rPr>
              <a:t>B</a:t>
            </a:r>
            <a:r>
              <a:rPr sz="1950" spc="232" baseline="-17094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6*0.2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+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10*0.8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9.2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seconds</a:t>
            </a:r>
            <a:endParaRPr sz="2000">
              <a:latin typeface="Comic Sans MS"/>
              <a:cs typeface="Comic Sans M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43200" y="1637411"/>
          <a:ext cx="6705600" cy="1203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820">
                        <a:lnSpc>
                          <a:spcPts val="2395"/>
                        </a:lnSpc>
                      </a:pPr>
                      <a:r>
                        <a:rPr sz="2000" b="1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Machine</a:t>
                      </a:r>
                      <a:r>
                        <a:rPr sz="20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000" b="1" spc="-5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5455">
                        <a:lnSpc>
                          <a:spcPts val="2395"/>
                        </a:lnSpc>
                      </a:pPr>
                      <a:r>
                        <a:rPr sz="2000" b="1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Machine</a:t>
                      </a:r>
                      <a:r>
                        <a:rPr sz="2000" b="1" spc="-9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000" b="1" spc="-5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243840">
                        <a:lnSpc>
                          <a:spcPts val="2150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Program</a:t>
                      </a:r>
                      <a:r>
                        <a:rPr sz="1800" spc="-8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  <a:p>
                      <a:pPr marL="24384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Program</a:t>
                      </a:r>
                      <a:r>
                        <a:rPr sz="1800" spc="-9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820">
                        <a:lnSpc>
                          <a:spcPts val="2150"/>
                        </a:lnSpc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800" spc="-3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seconds</a:t>
                      </a:r>
                      <a:r>
                        <a:rPr sz="1800" spc="-2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(20%)</a:t>
                      </a:r>
                      <a:endParaRPr sz="1800">
                        <a:latin typeface="Tahoma"/>
                        <a:cs typeface="Tahoma"/>
                      </a:endParaRPr>
                    </a:p>
                    <a:p>
                      <a:pPr marL="46482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12</a:t>
                      </a:r>
                      <a:r>
                        <a:rPr sz="1800" spc="-2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seconds</a:t>
                      </a:r>
                      <a:r>
                        <a:rPr sz="1800" spc="-4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(80%)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5455">
                        <a:lnSpc>
                          <a:spcPts val="2150"/>
                        </a:lnSpc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6</a:t>
                      </a:r>
                      <a:r>
                        <a:rPr sz="1800" spc="-3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seconds</a:t>
                      </a:r>
                      <a:r>
                        <a:rPr sz="1800" spc="-3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(20%)</a:t>
                      </a:r>
                      <a:endParaRPr sz="1800">
                        <a:latin typeface="Tahoma"/>
                        <a:cs typeface="Tahoma"/>
                      </a:endParaRPr>
                    </a:p>
                    <a:p>
                      <a:pPr marL="46545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1800" spc="-2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seconds</a:t>
                      </a:r>
                      <a:r>
                        <a:rPr sz="18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(80%)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400" y="272541"/>
            <a:ext cx="21228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0000"/>
                </a:solidFill>
                <a:latin typeface="Comic Sans MS"/>
                <a:cs typeface="Comic Sans MS"/>
              </a:rPr>
              <a:t>MIPS</a:t>
            </a:r>
            <a:r>
              <a:rPr sz="32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Comic Sans MS"/>
                <a:cs typeface="Comic Sans MS"/>
              </a:rPr>
              <a:t>rate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400" y="818239"/>
            <a:ext cx="10635615" cy="2587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marR="5080" indent="-227329" algn="just">
              <a:lnSpc>
                <a:spcPct val="15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62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common</a:t>
            </a:r>
            <a:r>
              <a:rPr sz="2800" spc="6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measure</a:t>
            </a:r>
            <a:r>
              <a:rPr sz="2800" spc="64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of</a:t>
            </a:r>
            <a:r>
              <a:rPr sz="2800" spc="63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performance</a:t>
            </a:r>
            <a:r>
              <a:rPr sz="2800" spc="6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for</a:t>
            </a:r>
            <a:r>
              <a:rPr sz="2800" spc="63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6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processor</a:t>
            </a:r>
            <a:r>
              <a:rPr sz="2800" spc="65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is</a:t>
            </a:r>
            <a:r>
              <a:rPr sz="2800" spc="630" dirty="0">
                <a:latin typeface="Comic Sans MS"/>
                <a:cs typeface="Comic Sans MS"/>
              </a:rPr>
              <a:t> </a:t>
            </a:r>
            <a:r>
              <a:rPr sz="2800" spc="-25" dirty="0">
                <a:latin typeface="Comic Sans MS"/>
                <a:cs typeface="Comic Sans MS"/>
              </a:rPr>
              <a:t>the 	</a:t>
            </a:r>
            <a:r>
              <a:rPr sz="2800" dirty="0">
                <a:latin typeface="Comic Sans MS"/>
                <a:cs typeface="Comic Sans MS"/>
              </a:rPr>
              <a:t>rate</a:t>
            </a:r>
            <a:r>
              <a:rPr sz="2800" spc="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at which</a:t>
            </a:r>
            <a:r>
              <a:rPr sz="2800" spc="1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instructions are</a:t>
            </a:r>
            <a:r>
              <a:rPr sz="2800" spc="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executed,</a:t>
            </a:r>
            <a:r>
              <a:rPr sz="2800" spc="1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expressed</a:t>
            </a:r>
            <a:r>
              <a:rPr sz="2800" spc="1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as </a:t>
            </a:r>
            <a:r>
              <a:rPr sz="2800" spc="-10" dirty="0">
                <a:latin typeface="Comic Sans MS"/>
                <a:cs typeface="Comic Sans MS"/>
              </a:rPr>
              <a:t>millions 	</a:t>
            </a:r>
            <a:r>
              <a:rPr sz="2800" dirty="0">
                <a:latin typeface="Comic Sans MS"/>
                <a:cs typeface="Comic Sans MS"/>
              </a:rPr>
              <a:t>of</a:t>
            </a:r>
            <a:r>
              <a:rPr sz="2800" spc="254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instructions</a:t>
            </a:r>
            <a:r>
              <a:rPr sz="2800" spc="254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per</a:t>
            </a:r>
            <a:r>
              <a:rPr sz="2800" spc="2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second</a:t>
            </a:r>
            <a:r>
              <a:rPr sz="2800" spc="28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(MIPS),</a:t>
            </a:r>
            <a:r>
              <a:rPr sz="2800" spc="2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referred</a:t>
            </a:r>
            <a:r>
              <a:rPr sz="2800" spc="2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to</a:t>
            </a:r>
            <a:r>
              <a:rPr sz="2800" spc="2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as</a:t>
            </a:r>
            <a:r>
              <a:rPr sz="2800" spc="2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the</a:t>
            </a:r>
            <a:r>
              <a:rPr sz="2800" spc="270" dirty="0">
                <a:latin typeface="Comic Sans MS"/>
                <a:cs typeface="Comic Sans MS"/>
              </a:rPr>
              <a:t> </a:t>
            </a:r>
            <a:r>
              <a:rPr sz="2800" b="1" spc="-20" dirty="0">
                <a:latin typeface="Comic Sans MS"/>
                <a:cs typeface="Comic Sans MS"/>
              </a:rPr>
              <a:t>MIPS 	</a:t>
            </a:r>
            <a:r>
              <a:rPr sz="2800" b="1" spc="-10" dirty="0">
                <a:latin typeface="Comic Sans MS"/>
                <a:cs typeface="Comic Sans MS"/>
              </a:rPr>
              <a:t>rate</a:t>
            </a:r>
            <a:r>
              <a:rPr sz="2800" spc="-10" dirty="0">
                <a:latin typeface="Comic Sans MS"/>
                <a:cs typeface="Comic Sans MS"/>
              </a:rPr>
              <a:t>.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400" y="4604344"/>
            <a:ext cx="3658870" cy="1875789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Ic</a:t>
            </a:r>
            <a:r>
              <a:rPr sz="20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0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Instruction</a:t>
            </a:r>
            <a:r>
              <a:rPr sz="20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omic Sans MS"/>
                <a:cs typeface="Comic Sans MS"/>
              </a:rPr>
              <a:t>count</a:t>
            </a:r>
            <a:endParaRPr sz="2000">
              <a:latin typeface="Comic Sans MS"/>
              <a:cs typeface="Comic Sans MS"/>
            </a:endParaRPr>
          </a:p>
          <a:p>
            <a:pPr marL="241300" indent="-228600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sz="20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000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CPU</a:t>
            </a:r>
            <a:r>
              <a:rPr sz="20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omic Sans MS"/>
                <a:cs typeface="Comic Sans MS"/>
              </a:rPr>
              <a:t>time</a:t>
            </a:r>
            <a:endParaRPr sz="2000">
              <a:latin typeface="Comic Sans MS"/>
              <a:cs typeface="Comic Sans MS"/>
            </a:endParaRPr>
          </a:p>
          <a:p>
            <a:pPr marL="241300" indent="-228600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f</a:t>
            </a:r>
            <a:r>
              <a:rPr sz="20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Clock</a:t>
            </a:r>
            <a:r>
              <a:rPr sz="2000" spc="-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omic Sans MS"/>
                <a:cs typeface="Comic Sans MS"/>
              </a:rPr>
              <a:t>rate</a:t>
            </a:r>
            <a:endParaRPr sz="2000">
              <a:latin typeface="Comic Sans MS"/>
              <a:cs typeface="Comic Sans MS"/>
            </a:endParaRPr>
          </a:p>
          <a:p>
            <a:pPr marL="241300" indent="-228600">
              <a:lnSpc>
                <a:spcPct val="100000"/>
              </a:lnSpc>
              <a:spcBef>
                <a:spcPts val="12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CPI</a:t>
            </a:r>
            <a:r>
              <a:rPr sz="20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0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Cycles</a:t>
            </a:r>
            <a:r>
              <a:rPr sz="20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Per</a:t>
            </a:r>
            <a:r>
              <a:rPr sz="2000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Instruction</a:t>
            </a:r>
            <a:endParaRPr sz="200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474" y="3299623"/>
            <a:ext cx="5934024" cy="82927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872478" y="5214746"/>
            <a:ext cx="2417445" cy="17145"/>
          </a:xfrm>
          <a:custGeom>
            <a:avLst/>
            <a:gdLst/>
            <a:ahLst/>
            <a:cxnLst/>
            <a:rect l="l" t="t" r="r" b="b"/>
            <a:pathLst>
              <a:path w="2417445" h="17145">
                <a:moveTo>
                  <a:pt x="2417064" y="0"/>
                </a:moveTo>
                <a:lnTo>
                  <a:pt x="0" y="0"/>
                </a:lnTo>
                <a:lnTo>
                  <a:pt x="0" y="16763"/>
                </a:lnTo>
                <a:lnTo>
                  <a:pt x="2417064" y="16763"/>
                </a:lnTo>
                <a:lnTo>
                  <a:pt x="2417064" y="0"/>
                </a:lnTo>
                <a:close/>
              </a:path>
            </a:pathLst>
          </a:custGeom>
          <a:solidFill>
            <a:srgbClr val="8369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66050" y="4836998"/>
            <a:ext cx="6248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𝐼𝑐</a:t>
            </a:r>
            <a:r>
              <a:rPr sz="2000" spc="6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∗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𝑓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35140" y="5200269"/>
            <a:ext cx="24828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CPU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clock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cycles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∗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10</a:t>
            </a:r>
            <a:r>
              <a:rPr sz="2175" spc="-37" baseline="22988" dirty="0">
                <a:latin typeface="Cambria Math"/>
                <a:cs typeface="Cambria Math"/>
              </a:rPr>
              <a:t>6</a:t>
            </a:r>
            <a:endParaRPr sz="2175" baseline="22988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1988" y="663016"/>
            <a:ext cx="7852411" cy="1048748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2347595">
              <a:lnSpc>
                <a:spcPct val="100000"/>
              </a:lnSpc>
              <a:spcBef>
                <a:spcPts val="105"/>
              </a:spcBef>
            </a:pPr>
            <a:r>
              <a:rPr dirty="0"/>
              <a:t>Practice</a:t>
            </a:r>
            <a:r>
              <a:rPr spc="-40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2009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10: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2967" y="1690116"/>
            <a:ext cx="7630510" cy="483260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6868"/>
            <a:ext cx="6929607" cy="455284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6807" y="86868"/>
            <a:ext cx="4549042" cy="30417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70292" y="3494532"/>
            <a:ext cx="3068632" cy="286545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63016"/>
            <a:ext cx="9220200" cy="1048748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2347595">
              <a:lnSpc>
                <a:spcPct val="100000"/>
              </a:lnSpc>
              <a:spcBef>
                <a:spcPts val="105"/>
              </a:spcBef>
            </a:pPr>
            <a:r>
              <a:rPr dirty="0"/>
              <a:t>Practice</a:t>
            </a:r>
            <a:r>
              <a:rPr spc="-40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2009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11: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1988" y="1478311"/>
            <a:ext cx="8818406" cy="479887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045" y="144779"/>
            <a:ext cx="11852275" cy="6713220"/>
            <a:chOff x="224045" y="144779"/>
            <a:chExt cx="11852275" cy="67132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045" y="144779"/>
              <a:ext cx="8679056" cy="48966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7579" y="3636264"/>
              <a:ext cx="4922520" cy="29931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2104" y="3253739"/>
              <a:ext cx="3624072" cy="36042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1989" y="663016"/>
            <a:ext cx="3208020" cy="1048748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2347595">
              <a:lnSpc>
                <a:spcPct val="100000"/>
              </a:lnSpc>
              <a:spcBef>
                <a:spcPts val="105"/>
              </a:spcBef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525803"/>
            <a:ext cx="10360660" cy="4462145"/>
          </a:xfrm>
          <a:prstGeom prst="rect">
            <a:avLst/>
          </a:prstGeom>
        </p:spPr>
        <p:txBody>
          <a:bodyPr vert="horz" wrap="square" lIns="0" tIns="24638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94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0046D2"/>
                </a:solidFill>
                <a:latin typeface="Calibri"/>
                <a:cs typeface="Calibri"/>
              </a:rPr>
              <a:t>Example</a:t>
            </a:r>
            <a:r>
              <a:rPr sz="2800" spc="-145" dirty="0">
                <a:solidFill>
                  <a:srgbClr val="0046D2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46D2"/>
                </a:solidFill>
                <a:latin typeface="Calibri"/>
                <a:cs typeface="Calibri"/>
              </a:rPr>
              <a:t>12:</a:t>
            </a:r>
            <a:endParaRPr sz="2800" dirty="0">
              <a:latin typeface="Calibri"/>
              <a:cs typeface="Calibri"/>
            </a:endParaRPr>
          </a:p>
          <a:p>
            <a:pPr marL="12700" marR="5080" algn="just">
              <a:lnSpc>
                <a:spcPct val="140000"/>
              </a:lnSpc>
              <a:spcBef>
                <a:spcPts val="495"/>
              </a:spcBef>
            </a:pPr>
            <a:r>
              <a:rPr sz="2800" dirty="0">
                <a:latin typeface="Calibri"/>
                <a:cs typeface="Calibri"/>
              </a:rPr>
              <a:t>Assume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benchmark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instructions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300Mhz.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20%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instructions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loads/stores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(each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take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cycles),</a:t>
            </a:r>
            <a:r>
              <a:rPr sz="2800" spc="3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40% </a:t>
            </a:r>
            <a:r>
              <a:rPr sz="2800" dirty="0">
                <a:latin typeface="Calibri"/>
                <a:cs typeface="Calibri"/>
              </a:rPr>
              <a:t>instructions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adds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(each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takes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cycles),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40%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instructions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square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root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(each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takes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60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cycles),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CPI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MIPS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benchmark?</a:t>
            </a:r>
            <a:endParaRPr sz="28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2355"/>
              </a:spcBef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Ans:</a:t>
            </a:r>
            <a:r>
              <a:rPr sz="2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CPI=25.4</a:t>
            </a:r>
            <a:r>
              <a:rPr sz="2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MIPS=11.8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1988" y="663016"/>
            <a:ext cx="6782435" cy="1048748"/>
          </a:xfrm>
          <a:prstGeom prst="rect">
            <a:avLst/>
          </a:prstGeom>
        </p:spPr>
        <p:txBody>
          <a:bodyPr vert="horz" wrap="square" lIns="0" tIns="429005" rIns="0" bIns="0" rtlCol="0">
            <a:spAutoFit/>
          </a:bodyPr>
          <a:lstStyle/>
          <a:p>
            <a:pPr marL="3357879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MFLOPS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9215"/>
            <a:ext cx="1035748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Floating-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performance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expressed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millions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floating-</a:t>
            </a:r>
            <a:r>
              <a:rPr sz="2800" spc="-10" dirty="0">
                <a:latin typeface="Calibri"/>
                <a:cs typeface="Calibri"/>
              </a:rPr>
              <a:t>point 	operations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second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(MFLOPS),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follows: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5884" y="4017305"/>
            <a:ext cx="8826656" cy="81373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21F2-06BD-4EAE-B8D2-07AC58BB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917E0-2343-4CC5-9809-6EC854BCF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6CEE4-8B62-457C-9B4D-022E810EA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737" y="762000"/>
            <a:ext cx="87725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00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2329</Words>
  <Application>Microsoft Office PowerPoint</Application>
  <PresentationFormat>Widescreen</PresentationFormat>
  <Paragraphs>266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Arial MT</vt:lpstr>
      <vt:lpstr>Calibri</vt:lpstr>
      <vt:lpstr>Calibri Light</vt:lpstr>
      <vt:lpstr>Cambria</vt:lpstr>
      <vt:lpstr>Cambria Math</vt:lpstr>
      <vt:lpstr>Comic Sans MS</vt:lpstr>
      <vt:lpstr>Courier New</vt:lpstr>
      <vt:lpstr>Tahoma</vt:lpstr>
      <vt:lpstr>Times New Roman</vt:lpstr>
      <vt:lpstr>Wingdings</vt:lpstr>
      <vt:lpstr>Office Theme</vt:lpstr>
      <vt:lpstr>DMA - Problems</vt:lpstr>
      <vt:lpstr>DMA - Problems</vt:lpstr>
      <vt:lpstr>Performance Metrics</vt:lpstr>
      <vt:lpstr>Performance Metrics</vt:lpstr>
      <vt:lpstr>Performance Metrics</vt:lpstr>
      <vt:lpstr>Performance Metrics</vt:lpstr>
      <vt:lpstr>Performance Metrics - Example</vt:lpstr>
      <vt:lpstr>Performance Metrics - Example</vt:lpstr>
      <vt:lpstr>Performance Metrics</vt:lpstr>
      <vt:lpstr>Computer Clock</vt:lpstr>
      <vt:lpstr>Computer Clock</vt:lpstr>
      <vt:lpstr>Processor Performance Equation</vt:lpstr>
      <vt:lpstr>Processor Performance Equation</vt:lpstr>
      <vt:lpstr>Processor Performance Equation</vt:lpstr>
      <vt:lpstr>MIPS &amp; MFLOPS</vt:lpstr>
      <vt:lpstr>Practice Problems</vt:lpstr>
      <vt:lpstr>Practice Problems</vt:lpstr>
      <vt:lpstr>Practice Problems</vt:lpstr>
      <vt:lpstr>Practice Problems</vt:lpstr>
      <vt:lpstr>Practice Problems</vt:lpstr>
      <vt:lpstr>Practice Problems</vt:lpstr>
      <vt:lpstr>Practice Problems</vt:lpstr>
      <vt:lpstr>Practice Problems</vt:lpstr>
      <vt:lpstr>Practice Problems</vt:lpstr>
      <vt:lpstr>Average Cycles per Instruction</vt:lpstr>
      <vt:lpstr>Practice Problems</vt:lpstr>
      <vt:lpstr>Practice Problems</vt:lpstr>
      <vt:lpstr>Practice Problems</vt:lpstr>
      <vt:lpstr>Practice Problems</vt:lpstr>
      <vt:lpstr>Practice Problems</vt:lpstr>
      <vt:lpstr>With Frequency</vt:lpstr>
      <vt:lpstr>Practice Problems</vt:lpstr>
      <vt:lpstr>Practice Problems</vt:lpstr>
      <vt:lpstr>Practice Problems</vt:lpstr>
      <vt:lpstr>Problems with Arithmetic Mean</vt:lpstr>
      <vt:lpstr>MIPS rate</vt:lpstr>
      <vt:lpstr>Practice Problems</vt:lpstr>
      <vt:lpstr>PowerPoint Presentation</vt:lpstr>
      <vt:lpstr>Practice Problems</vt:lpstr>
      <vt:lpstr>PowerPoint Presentation</vt:lpstr>
      <vt:lpstr>PowerPoint Presentation</vt:lpstr>
      <vt:lpstr>MFLOPS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I/O Module</dc:title>
  <dc:creator>Sreethar1978</dc:creator>
  <cp:lastModifiedBy>Sreethar S</cp:lastModifiedBy>
  <cp:revision>2</cp:revision>
  <dcterms:created xsi:type="dcterms:W3CDTF">2024-03-27T04:42:07Z</dcterms:created>
  <dcterms:modified xsi:type="dcterms:W3CDTF">2024-03-28T01:44:59Z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2024-03-27T00:00:00Z</vt:filetime>
  </property>
</Properties>
</file>