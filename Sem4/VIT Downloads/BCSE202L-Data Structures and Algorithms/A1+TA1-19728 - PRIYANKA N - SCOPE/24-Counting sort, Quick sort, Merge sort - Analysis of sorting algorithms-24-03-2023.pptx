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9"/>
  </p:notesMasterIdLst>
  <p:sldIdLst>
    <p:sldId id="258" r:id="rId2"/>
    <p:sldId id="260" r:id="rId3"/>
    <p:sldId id="264" r:id="rId4"/>
    <p:sldId id="262" r:id="rId5"/>
    <p:sldId id="263" r:id="rId6"/>
    <p:sldId id="265" r:id="rId7"/>
    <p:sldId id="277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0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298" autoAdjust="0"/>
  </p:normalViewPr>
  <p:slideViewPr>
    <p:cSldViewPr>
      <p:cViewPr varScale="1">
        <p:scale>
          <a:sx n="82" d="100"/>
          <a:sy n="82" d="100"/>
        </p:scale>
        <p:origin x="140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20B87E-5AAD-49CA-B993-E1F22CB4EB9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A89F0-4C61-49F4-AB7B-83D744A4C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724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C0323C-9855-4D64-BAEE-A460804574CC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82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4871E70-E517-44E8-B179-8521CADDB8C5}" type="datetimeFigureOut">
              <a:rPr lang="en-IN" smtClean="0"/>
              <a:t>03-04-2023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AFE6546-565A-4064-84C3-B251D3C6073D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268902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/>
              <a:t>BCS202L </a:t>
            </a:r>
            <a:r>
              <a:rPr lang="en-US" b="1" dirty="0"/>
              <a:t>&amp; </a:t>
            </a:r>
            <a:r>
              <a:rPr lang="en-US" b="1" dirty="0" smtClean="0"/>
              <a:t>BCS202P- Data Structures and Algorithms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886200"/>
            <a:ext cx="7315200" cy="1981200"/>
          </a:xfrm>
        </p:spPr>
        <p:txBody>
          <a:bodyPr>
            <a:normAutofit/>
          </a:bodyPr>
          <a:lstStyle/>
          <a:p>
            <a:r>
              <a:rPr lang="en-US" dirty="0" smtClean="0"/>
              <a:t>Dr. Priyanka N</a:t>
            </a:r>
          </a:p>
          <a:p>
            <a:r>
              <a:rPr lang="en-US" dirty="0" smtClean="0"/>
              <a:t>Assistant Professor Senior Grade 1</a:t>
            </a:r>
          </a:p>
          <a:p>
            <a:r>
              <a:rPr lang="en-US" dirty="0" smtClean="0"/>
              <a:t>School of Computer Science &amp; Engineering</a:t>
            </a:r>
          </a:p>
          <a:p>
            <a:r>
              <a:rPr lang="en-US" dirty="0" smtClean="0"/>
              <a:t>VIT, Vellore.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3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640" y="188640"/>
            <a:ext cx="7498080" cy="792088"/>
          </a:xfrm>
        </p:spPr>
        <p:txBody>
          <a:bodyPr/>
          <a:lstStyle/>
          <a:p>
            <a:pPr algn="ctr"/>
            <a:r>
              <a:rPr lang="en-US" altLang="en-US" dirty="0" smtClean="0"/>
              <a:t>MERGE SORT</a:t>
            </a:r>
            <a:endParaRPr lang="en-US" altLang="en-US" dirty="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5616" y="1124744"/>
            <a:ext cx="7818072" cy="5400600"/>
          </a:xfrm>
        </p:spPr>
        <p:txBody>
          <a:bodyPr>
            <a:noAutofit/>
          </a:bodyPr>
          <a:lstStyle/>
          <a:p>
            <a:r>
              <a:rPr lang="en-US" altLang="en-US" dirty="0" smtClean="0"/>
              <a:t>Works under Divide and Conquer strategy</a:t>
            </a:r>
          </a:p>
          <a:p>
            <a:pPr algn="just"/>
            <a:r>
              <a:rPr lang="en-US" altLang="en-US" b="1" dirty="0" smtClean="0">
                <a:solidFill>
                  <a:srgbClr val="FF0000"/>
                </a:solidFill>
              </a:rPr>
              <a:t>IDEA:  </a:t>
            </a:r>
            <a:r>
              <a:rPr lang="en-US" altLang="en-US" dirty="0" smtClean="0"/>
              <a:t>Given an sequence of n elements a[1], a[2],……….a[n], the general idea is to imagine them split into two sets             </a:t>
            </a:r>
            <a:r>
              <a:rPr lang="en-US" altLang="en-US" b="1" dirty="0" smtClean="0">
                <a:solidFill>
                  <a:srgbClr val="00B050"/>
                </a:solidFill>
              </a:rPr>
              <a:t>a[1],a[2],…a[n/2] </a:t>
            </a:r>
            <a:r>
              <a:rPr lang="en-US" altLang="en-US" dirty="0" smtClean="0"/>
              <a:t>and </a:t>
            </a:r>
            <a:r>
              <a:rPr lang="en-US" altLang="en-US" b="1" dirty="0" smtClean="0">
                <a:solidFill>
                  <a:srgbClr val="00B050"/>
                </a:solidFill>
              </a:rPr>
              <a:t>a[n/2+1], ……….a[n].</a:t>
            </a:r>
          </a:p>
          <a:p>
            <a:pPr algn="just"/>
            <a:r>
              <a:rPr lang="en-US" altLang="en-US" dirty="0" smtClean="0"/>
              <a:t>Each set is individually sorted and the resulting sorted sequences are merged to produce a single sorted sequence of n elements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8174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712" y="1484784"/>
            <a:ext cx="5759538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8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764704"/>
            <a:ext cx="7498080" cy="48006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dirty="0" err="1" smtClean="0"/>
              <a:t>MergeSort</a:t>
            </a:r>
            <a:r>
              <a:rPr lang="en-US" dirty="0" smtClean="0"/>
              <a:t>(</a:t>
            </a:r>
            <a:r>
              <a:rPr lang="en-US" dirty="0" err="1" smtClean="0"/>
              <a:t>A,lb,ub</a:t>
            </a:r>
            <a:r>
              <a:rPr lang="en-US" dirty="0" smtClean="0"/>
              <a:t>)</a:t>
            </a:r>
          </a:p>
          <a:p>
            <a:pPr marL="82296" indent="0">
              <a:buNone/>
            </a:pPr>
            <a:r>
              <a:rPr lang="en-US" dirty="0" smtClean="0"/>
              <a:t>{</a:t>
            </a:r>
          </a:p>
          <a:p>
            <a:pPr marL="82296" indent="0">
              <a:buNone/>
            </a:pPr>
            <a:r>
              <a:rPr lang="en-US" dirty="0"/>
              <a:t>	</a:t>
            </a:r>
            <a:r>
              <a:rPr lang="en-US" dirty="0" smtClean="0"/>
              <a:t>if(</a:t>
            </a:r>
            <a:r>
              <a:rPr lang="en-US" dirty="0" err="1" smtClean="0"/>
              <a:t>lb</a:t>
            </a:r>
            <a:r>
              <a:rPr lang="en-US" dirty="0" smtClean="0"/>
              <a:t>&lt;</a:t>
            </a:r>
            <a:r>
              <a:rPr lang="en-US" dirty="0" err="1" smtClean="0"/>
              <a:t>ub</a:t>
            </a:r>
            <a:r>
              <a:rPr lang="en-US" dirty="0" smtClean="0"/>
              <a:t>)</a:t>
            </a:r>
          </a:p>
          <a:p>
            <a:pPr marL="82296" indent="0">
              <a:buNone/>
            </a:pPr>
            <a:r>
              <a:rPr lang="en-US" dirty="0"/>
              <a:t>	 </a:t>
            </a:r>
            <a:r>
              <a:rPr lang="en-US" dirty="0" smtClean="0"/>
              <a:t>{</a:t>
            </a:r>
          </a:p>
          <a:p>
            <a:pPr marL="82296" indent="0">
              <a:buNone/>
            </a:pPr>
            <a:r>
              <a:rPr lang="en-US" dirty="0"/>
              <a:t> </a:t>
            </a:r>
            <a:r>
              <a:rPr lang="en-US" dirty="0" smtClean="0"/>
              <a:t>           mid=(</a:t>
            </a:r>
            <a:r>
              <a:rPr lang="en-US" dirty="0" err="1" smtClean="0"/>
              <a:t>lb+ub</a:t>
            </a:r>
            <a:r>
              <a:rPr lang="en-US" dirty="0" smtClean="0"/>
              <a:t>)/2;</a:t>
            </a:r>
          </a:p>
          <a:p>
            <a:pPr marL="82296" indent="0">
              <a:buNone/>
            </a:pPr>
            <a:r>
              <a:rPr lang="en-US" dirty="0"/>
              <a:t> </a:t>
            </a:r>
            <a:r>
              <a:rPr lang="en-US" dirty="0" smtClean="0"/>
              <a:t>           </a:t>
            </a:r>
            <a:r>
              <a:rPr lang="en-US" dirty="0" err="1" smtClean="0"/>
              <a:t>MergeSort</a:t>
            </a:r>
            <a:r>
              <a:rPr lang="en-US" dirty="0" smtClean="0"/>
              <a:t>(</a:t>
            </a:r>
            <a:r>
              <a:rPr lang="en-US" dirty="0" err="1" smtClean="0"/>
              <a:t>A,lb,mid</a:t>
            </a:r>
            <a:r>
              <a:rPr lang="en-US" dirty="0" smtClean="0"/>
              <a:t>);</a:t>
            </a:r>
            <a:endParaRPr lang="en-US" dirty="0"/>
          </a:p>
          <a:p>
            <a:pPr marL="82296" indent="0">
              <a:buNone/>
            </a:pPr>
            <a:r>
              <a:rPr lang="en-US" dirty="0" smtClean="0"/>
              <a:t>            </a:t>
            </a:r>
            <a:r>
              <a:rPr lang="en-US" dirty="0" err="1" smtClean="0"/>
              <a:t>MergeSort</a:t>
            </a:r>
            <a:r>
              <a:rPr lang="en-US" dirty="0" smtClean="0"/>
              <a:t>(A,</a:t>
            </a:r>
            <a:r>
              <a:rPr lang="en-US" dirty="0"/>
              <a:t> </a:t>
            </a:r>
            <a:r>
              <a:rPr lang="en-US" dirty="0" smtClean="0"/>
              <a:t>mid+1,ub</a:t>
            </a:r>
            <a:r>
              <a:rPr lang="en-US" dirty="0"/>
              <a:t>)</a:t>
            </a:r>
          </a:p>
          <a:p>
            <a:pPr marL="82296" indent="0">
              <a:buNone/>
            </a:pPr>
            <a:r>
              <a:rPr lang="en-US" dirty="0" smtClean="0"/>
              <a:t>            </a:t>
            </a:r>
            <a:r>
              <a:rPr lang="en-US" dirty="0" err="1"/>
              <a:t>MergeSort</a:t>
            </a:r>
            <a:r>
              <a:rPr lang="en-US" dirty="0"/>
              <a:t>(</a:t>
            </a:r>
            <a:r>
              <a:rPr lang="en-US" dirty="0" err="1"/>
              <a:t>A,lb</a:t>
            </a:r>
            <a:r>
              <a:rPr lang="en-US" dirty="0" smtClean="0"/>
              <a:t>,</a:t>
            </a:r>
            <a:r>
              <a:rPr lang="en-US" dirty="0"/>
              <a:t> </a:t>
            </a:r>
            <a:r>
              <a:rPr lang="en-US" dirty="0" err="1" smtClean="0"/>
              <a:t>mid,ub</a:t>
            </a:r>
            <a:r>
              <a:rPr lang="en-US" dirty="0"/>
              <a:t>)</a:t>
            </a:r>
          </a:p>
          <a:p>
            <a:pPr marL="82296" indent="0">
              <a:buNone/>
            </a:pPr>
            <a:r>
              <a:rPr lang="en-US" dirty="0" smtClean="0"/>
              <a:t>         }</a:t>
            </a:r>
          </a:p>
          <a:p>
            <a:pPr marL="82296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147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35608" y="260648"/>
            <a:ext cx="3568440" cy="5987752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sz="1800" dirty="0" err="1" smtClean="0"/>
              <a:t>MergeSort</a:t>
            </a:r>
            <a:r>
              <a:rPr lang="en-US" sz="1800" dirty="0" smtClean="0"/>
              <a:t>(</a:t>
            </a:r>
            <a:r>
              <a:rPr lang="en-US" sz="1800" dirty="0" err="1" smtClean="0"/>
              <a:t>A,lb,mid,ub</a:t>
            </a:r>
            <a:r>
              <a:rPr lang="en-US" sz="1800" dirty="0" smtClean="0"/>
              <a:t>)</a:t>
            </a:r>
          </a:p>
          <a:p>
            <a:pPr marL="82296" indent="0">
              <a:buNone/>
            </a:pPr>
            <a:r>
              <a:rPr lang="en-US" sz="1800" dirty="0" smtClean="0"/>
              <a:t>{</a:t>
            </a:r>
          </a:p>
          <a:p>
            <a:pPr marL="82296" indent="0">
              <a:buNone/>
            </a:pPr>
            <a:r>
              <a:rPr lang="en-US" sz="1800" dirty="0" smtClean="0"/>
              <a:t>i=</a:t>
            </a:r>
            <a:r>
              <a:rPr lang="en-US" sz="1800" dirty="0" err="1" smtClean="0"/>
              <a:t>lb</a:t>
            </a:r>
            <a:r>
              <a:rPr lang="en-US" sz="1800" dirty="0" smtClean="0"/>
              <a:t>;</a:t>
            </a:r>
          </a:p>
          <a:p>
            <a:pPr marL="82296" indent="0">
              <a:buNone/>
            </a:pPr>
            <a:r>
              <a:rPr lang="en-US" sz="1800" dirty="0" smtClean="0"/>
              <a:t>J=mid+1;</a:t>
            </a:r>
          </a:p>
          <a:p>
            <a:pPr marL="82296" indent="0">
              <a:buNone/>
            </a:pPr>
            <a:r>
              <a:rPr lang="en-US" sz="1800" dirty="0" smtClean="0"/>
              <a:t>k=</a:t>
            </a:r>
            <a:r>
              <a:rPr lang="en-US" sz="1800" dirty="0" err="1" smtClean="0"/>
              <a:t>lb</a:t>
            </a:r>
            <a:r>
              <a:rPr lang="en-US" sz="1800" dirty="0" smtClean="0"/>
              <a:t>;</a:t>
            </a:r>
          </a:p>
          <a:p>
            <a:pPr marL="82296" indent="0">
              <a:buNone/>
            </a:pPr>
            <a:r>
              <a:rPr lang="en-US" sz="1800" dirty="0"/>
              <a:t>w</a:t>
            </a:r>
            <a:r>
              <a:rPr lang="en-US" sz="1800" dirty="0" smtClean="0"/>
              <a:t>hile(i&lt;=mid &amp;&amp; j&lt;=</a:t>
            </a:r>
            <a:r>
              <a:rPr lang="en-US" sz="1800" dirty="0" err="1" smtClean="0"/>
              <a:t>ub</a:t>
            </a:r>
            <a:r>
              <a:rPr lang="en-US" sz="1800" dirty="0" smtClean="0"/>
              <a:t>)</a:t>
            </a:r>
          </a:p>
          <a:p>
            <a:pPr marL="82296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{</a:t>
            </a:r>
          </a:p>
          <a:p>
            <a:pPr marL="82296" indent="0">
              <a:buNone/>
            </a:pPr>
            <a:r>
              <a:rPr lang="en-US" sz="1800" dirty="0" smtClean="0"/>
              <a:t>        if(a[i]&lt;=a[j])</a:t>
            </a:r>
          </a:p>
          <a:p>
            <a:pPr marL="82296" indent="0">
              <a:buNone/>
            </a:pPr>
            <a:r>
              <a:rPr lang="en-US" sz="1800" dirty="0" smtClean="0"/>
              <a:t>         {	</a:t>
            </a:r>
          </a:p>
          <a:p>
            <a:pPr marL="82296" indent="0">
              <a:buNone/>
            </a:pPr>
            <a:r>
              <a:rPr lang="en-US" sz="1800" dirty="0" smtClean="0"/>
              <a:t>              b[k]=a[i];</a:t>
            </a:r>
          </a:p>
          <a:p>
            <a:pPr marL="82296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i++;</a:t>
            </a:r>
          </a:p>
          <a:p>
            <a:pPr marL="82296" indent="0">
              <a:buNone/>
            </a:pPr>
            <a:r>
              <a:rPr lang="en-US" sz="1800" dirty="0" smtClean="0"/>
              <a:t>          }</a:t>
            </a:r>
          </a:p>
          <a:p>
            <a:pPr marL="82296" indent="0">
              <a:buNone/>
            </a:pPr>
            <a:r>
              <a:rPr lang="en-US" sz="1800" dirty="0" smtClean="0"/>
              <a:t>       else</a:t>
            </a:r>
          </a:p>
          <a:p>
            <a:pPr marL="82296" indent="0">
              <a:buNone/>
            </a:pPr>
            <a:r>
              <a:rPr lang="en-US" sz="1800" dirty="0" smtClean="0"/>
              <a:t>       {</a:t>
            </a:r>
          </a:p>
          <a:p>
            <a:pPr marL="82296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 b[k]=a[j];</a:t>
            </a:r>
          </a:p>
          <a:p>
            <a:pPr marL="82296" indent="0">
              <a:buNone/>
            </a:pPr>
            <a:r>
              <a:rPr lang="en-US" sz="1800" dirty="0" smtClean="0"/>
              <a:t>              </a:t>
            </a:r>
            <a:r>
              <a:rPr lang="en-US" sz="1800" dirty="0" err="1" smtClean="0"/>
              <a:t>j++</a:t>
            </a:r>
            <a:r>
              <a:rPr lang="en-US" sz="1800" dirty="0" smtClean="0"/>
              <a:t>;</a:t>
            </a:r>
          </a:p>
          <a:p>
            <a:pPr marL="82296" indent="0">
              <a:buNone/>
            </a:pPr>
            <a:r>
              <a:rPr lang="en-US" sz="1800" dirty="0" smtClean="0"/>
              <a:t>       }</a:t>
            </a:r>
          </a:p>
          <a:p>
            <a:pPr marL="82296" indent="0">
              <a:buNone/>
            </a:pPr>
            <a:r>
              <a:rPr lang="en-US" sz="1800" dirty="0" smtClean="0"/>
              <a:t>      k++;</a:t>
            </a:r>
          </a:p>
          <a:p>
            <a:pPr marL="82296" indent="0">
              <a:buNone/>
            </a:pPr>
            <a:r>
              <a:rPr lang="en-US" sz="1800" dirty="0" smtClean="0"/>
              <a:t>   }</a:t>
            </a:r>
          </a:p>
        </p:txBody>
      </p:sp>
      <p:sp>
        <p:nvSpPr>
          <p:cNvPr id="4" name="Content Placeholder 1"/>
          <p:cNvSpPr txBox="1">
            <a:spLocks/>
          </p:cNvSpPr>
          <p:nvPr/>
        </p:nvSpPr>
        <p:spPr>
          <a:xfrm>
            <a:off x="5076056" y="260648"/>
            <a:ext cx="3568440" cy="598775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Font typeface="Wingdings 2"/>
              <a:buNone/>
            </a:pPr>
            <a:r>
              <a:rPr lang="en-US" sz="1700" dirty="0"/>
              <a:t>i</a:t>
            </a:r>
            <a:r>
              <a:rPr lang="en-US" sz="1700" dirty="0" smtClean="0"/>
              <a:t>f(i&gt;mid)</a:t>
            </a:r>
          </a:p>
          <a:p>
            <a:pPr marL="82296" indent="0">
              <a:buFont typeface="Wingdings 2"/>
              <a:buNone/>
            </a:pPr>
            <a:r>
              <a:rPr lang="en-US" sz="1700" dirty="0" smtClean="0"/>
              <a:t>{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while(j&lt;=</a:t>
            </a:r>
            <a:r>
              <a:rPr lang="en-US" sz="1700" dirty="0" err="1" smtClean="0"/>
              <a:t>ub</a:t>
            </a:r>
            <a:r>
              <a:rPr lang="en-US" sz="1700" dirty="0" smtClean="0"/>
              <a:t>)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{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b[k]=a[j];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 </a:t>
            </a:r>
            <a:r>
              <a:rPr lang="en-US" sz="1700" dirty="0" err="1" smtClean="0"/>
              <a:t>j++</a:t>
            </a:r>
            <a:r>
              <a:rPr lang="en-US" sz="1700" dirty="0" smtClean="0"/>
              <a:t>;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 k++;</a:t>
            </a:r>
          </a:p>
          <a:p>
            <a:pPr marL="82296" indent="0">
              <a:buFont typeface="Wingdings 2"/>
              <a:buNone/>
            </a:pPr>
            <a:r>
              <a:rPr lang="en-US" sz="1700" dirty="0" smtClean="0"/>
              <a:t>     }</a:t>
            </a:r>
          </a:p>
          <a:p>
            <a:pPr marL="82296" indent="0">
              <a:buFont typeface="Wingdings 2"/>
              <a:buNone/>
            </a:pPr>
            <a:r>
              <a:rPr lang="en-US" sz="1700" dirty="0" smtClean="0"/>
              <a:t>else</a:t>
            </a:r>
          </a:p>
          <a:p>
            <a:pPr marL="82296" indent="0">
              <a:buFont typeface="Wingdings 2"/>
              <a:buNone/>
            </a:pPr>
            <a:r>
              <a:rPr lang="en-US" sz="1700" dirty="0" smtClean="0"/>
              <a:t>{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while(i&lt;=mid)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{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 b[k]=a[i];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 i++;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 k++;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}</a:t>
            </a:r>
          </a:p>
          <a:p>
            <a:pPr marL="82296" indent="0">
              <a:buFont typeface="Wingdings 2"/>
              <a:buNone/>
            </a:pPr>
            <a:r>
              <a:rPr lang="en-US" sz="1700" dirty="0"/>
              <a:t>}</a:t>
            </a:r>
            <a:endParaRPr lang="en-US" sz="1700" dirty="0" smtClean="0"/>
          </a:p>
          <a:p>
            <a:pPr marL="82296" indent="0">
              <a:buNone/>
            </a:pPr>
            <a:r>
              <a:rPr lang="en-US" sz="1600" dirty="0" smtClean="0"/>
              <a:t>for(k=</a:t>
            </a:r>
            <a:r>
              <a:rPr lang="en-US" sz="1600" dirty="0" err="1" smtClean="0"/>
              <a:t>lb;k</a:t>
            </a:r>
            <a:r>
              <a:rPr lang="en-US" sz="1600" dirty="0"/>
              <a:t>&lt;=</a:t>
            </a:r>
            <a:r>
              <a:rPr lang="en-US" sz="1600" dirty="0" err="1"/>
              <a:t>ub;k</a:t>
            </a:r>
            <a:r>
              <a:rPr lang="en-US" sz="1600" dirty="0"/>
              <a:t>++)</a:t>
            </a:r>
          </a:p>
          <a:p>
            <a:pPr marL="82296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{</a:t>
            </a:r>
            <a:endParaRPr lang="en-US" sz="1600" dirty="0"/>
          </a:p>
          <a:p>
            <a:pPr marL="82296" indent="0">
              <a:buNone/>
            </a:pPr>
            <a:r>
              <a:rPr lang="en-US" sz="1600" dirty="0"/>
              <a:t>	a[k]=b[k];</a:t>
            </a:r>
          </a:p>
          <a:p>
            <a:pPr marL="82296" indent="0">
              <a:buNone/>
            </a:pPr>
            <a:r>
              <a:rPr lang="en-US" sz="1600" dirty="0" smtClean="0"/>
              <a:t>     }</a:t>
            </a:r>
            <a:endParaRPr lang="en-US" sz="1600" dirty="0"/>
          </a:p>
          <a:p>
            <a:pPr marL="82296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1818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518622" y="332656"/>
            <a:ext cx="33009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4800" b="1" dirty="0">
                <a:solidFill>
                  <a:srgbClr val="C00000"/>
                </a:solidFill>
                <a:latin typeface="Roboto Condensed"/>
              </a:rPr>
              <a:t>Quick Sort</a:t>
            </a:r>
            <a:endParaRPr lang="en-US" sz="4800" b="1" i="0" dirty="0">
              <a:solidFill>
                <a:srgbClr val="C00000"/>
              </a:solidFill>
              <a:effectLst/>
              <a:latin typeface="Roboto Condensed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03648" y="1484784"/>
            <a:ext cx="7498080" cy="4800600"/>
          </a:xfrm>
        </p:spPr>
        <p:txBody>
          <a:bodyPr>
            <a:normAutofit fontScale="92500" lnSpcReduction="20000"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Quick Sort is a famous sorting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algorithm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It sorts the given data items in ascending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order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It uses the idea of divide and conquer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approach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It follows a recursive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algorithm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 = Linear Array in memory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beg = Lower bound of the sub array in question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end = Upper bound of the sub array in question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09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98377" y="332656"/>
            <a:ext cx="81413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4400" b="1" dirty="0">
                <a:solidFill>
                  <a:srgbClr val="C00000"/>
                </a:solidFill>
                <a:latin typeface="Roboto Condensed"/>
              </a:rPr>
              <a:t>How Does Quick Sort Works?</a:t>
            </a:r>
            <a:endParaRPr lang="en-US" sz="4400" b="1" i="0" dirty="0">
              <a:solidFill>
                <a:srgbClr val="C00000"/>
              </a:solidFill>
              <a:effectLst/>
              <a:latin typeface="Roboto Condensed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03648" y="1484784"/>
            <a:ext cx="7498080" cy="4800600"/>
          </a:xfrm>
        </p:spPr>
        <p:txBody>
          <a:bodyPr>
            <a:normAutofit fontScale="85000" lnSpcReduction="10000"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03030"/>
                </a:solidFill>
                <a:latin typeface="Arimo"/>
              </a:rPr>
              <a:t>It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divides the given array into two sections using a partitioning element called as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pivot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03030"/>
                </a:solidFill>
                <a:latin typeface="Arimo"/>
              </a:rPr>
              <a:t>The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division performed is such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that-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lvl="1" algn="just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elements to the left side of pivot are smaller than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pivot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lvl="1" algn="just" fontAlgn="base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All the elements to the right side of pivot are greater than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pivot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After dividing the array into two sections, the pivot is set at its correct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position</a:t>
            </a:r>
            <a:endParaRPr lang="en-US" dirty="0">
              <a:solidFill>
                <a:srgbClr val="303030"/>
              </a:solidFill>
              <a:latin typeface="Arimo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Then, sub arrays are sorted separately by applying quick sort algorithm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recursively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73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204" t="1745" r="1034" b="-1"/>
          <a:stretch/>
        </p:blipFill>
        <p:spPr>
          <a:xfrm>
            <a:off x="1979711" y="620688"/>
            <a:ext cx="6714217" cy="583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6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59632" y="0"/>
            <a:ext cx="4248472" cy="6669360"/>
          </a:xfrm>
        </p:spPr>
        <p:txBody>
          <a:bodyPr>
            <a:noAutofit/>
          </a:bodyPr>
          <a:lstStyle/>
          <a:p>
            <a:pPr marL="82296" lvl="1" indent="0" algn="just" fontAlgn="base">
              <a:buNone/>
            </a:pPr>
            <a:r>
              <a:rPr lang="en-US" sz="1700" dirty="0"/>
              <a:t>partition(</a:t>
            </a:r>
            <a:r>
              <a:rPr lang="en-US" sz="1700" dirty="0" err="1"/>
              <a:t>A,lb,ub</a:t>
            </a:r>
            <a:r>
              <a:rPr lang="en-US" sz="1700" dirty="0"/>
              <a:t>)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{</a:t>
            </a:r>
          </a:p>
          <a:p>
            <a:pPr marL="82296" lvl="1" indent="0" algn="just" fontAlgn="base">
              <a:buNone/>
            </a:pPr>
            <a:r>
              <a:rPr lang="en-US" sz="1700" dirty="0"/>
              <a:t> </a:t>
            </a:r>
            <a:r>
              <a:rPr lang="en-US" sz="1700" dirty="0" smtClean="0"/>
              <a:t>      pivot </a:t>
            </a:r>
            <a:r>
              <a:rPr lang="en-US" sz="1700" dirty="0"/>
              <a:t>= a[</a:t>
            </a:r>
            <a:r>
              <a:rPr lang="en-US" sz="1700" dirty="0" err="1"/>
              <a:t>lb</a:t>
            </a:r>
            <a:r>
              <a:rPr lang="en-US" sz="1700" dirty="0"/>
              <a:t>];</a:t>
            </a:r>
          </a:p>
          <a:p>
            <a:pPr marL="82296" lvl="1" indent="0" algn="just" fontAlgn="base">
              <a:buNone/>
            </a:pPr>
            <a:r>
              <a:rPr lang="en-US" sz="1700" dirty="0"/>
              <a:t>       start=</a:t>
            </a:r>
            <a:r>
              <a:rPr lang="en-US" sz="1700" dirty="0" err="1"/>
              <a:t>lb</a:t>
            </a:r>
            <a:r>
              <a:rPr lang="en-US" sz="1700" dirty="0"/>
              <a:t>;</a:t>
            </a:r>
          </a:p>
          <a:p>
            <a:pPr marL="82296" lvl="1" indent="0" algn="just" fontAlgn="base">
              <a:buNone/>
            </a:pPr>
            <a:r>
              <a:rPr lang="en-US" sz="1700" dirty="0"/>
              <a:t>       end=</a:t>
            </a:r>
            <a:r>
              <a:rPr lang="en-US" sz="1700" dirty="0" err="1"/>
              <a:t>ub</a:t>
            </a:r>
            <a:r>
              <a:rPr lang="en-US" sz="1700" dirty="0"/>
              <a:t>;</a:t>
            </a:r>
          </a:p>
          <a:p>
            <a:pPr marL="82296" lvl="1" indent="0" algn="just" fontAlgn="base">
              <a:buNone/>
            </a:pPr>
            <a:r>
              <a:rPr lang="en-US" sz="1700" dirty="0"/>
              <a:t>w</a:t>
            </a:r>
            <a:r>
              <a:rPr lang="en-US" sz="1700" dirty="0" smtClean="0"/>
              <a:t>hile(start&lt;end</a:t>
            </a:r>
            <a:r>
              <a:rPr lang="en-US" sz="1700" dirty="0"/>
              <a:t>)</a:t>
            </a:r>
          </a:p>
          <a:p>
            <a:pPr marL="82296" lvl="1" indent="0" algn="just" fontAlgn="base">
              <a:buNone/>
            </a:pPr>
            <a:r>
              <a:rPr lang="en-US" sz="1700" dirty="0"/>
              <a:t>{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	while(a[start</a:t>
            </a:r>
            <a:r>
              <a:rPr lang="en-US" sz="1700" dirty="0"/>
              <a:t>]&lt;=pivot)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	{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 smtClean="0"/>
              <a:t>	    start</a:t>
            </a:r>
            <a:r>
              <a:rPr lang="en-US" sz="1700" dirty="0"/>
              <a:t>++;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	}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 smtClean="0"/>
              <a:t>	while(a[end</a:t>
            </a:r>
            <a:r>
              <a:rPr lang="en-US" sz="1700" dirty="0"/>
              <a:t>]&gt;pivot)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	{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 smtClean="0"/>
              <a:t>	    end-</a:t>
            </a:r>
            <a:r>
              <a:rPr lang="en-US" sz="1700" dirty="0"/>
              <a:t>-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	}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 smtClean="0"/>
              <a:t>	if(start&lt;end</a:t>
            </a:r>
            <a:r>
              <a:rPr lang="en-US" sz="1700" dirty="0"/>
              <a:t>)</a:t>
            </a:r>
          </a:p>
          <a:p>
            <a:pPr marL="82296" lvl="1" indent="0" algn="just" fontAlgn="base">
              <a:buNone/>
            </a:pPr>
            <a:r>
              <a:rPr lang="en-US" sz="1700" dirty="0" smtClean="0"/>
              <a:t>	{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 smtClean="0"/>
              <a:t>	   swap(a[start</a:t>
            </a:r>
            <a:r>
              <a:rPr lang="en-US" sz="1700" dirty="0"/>
              <a:t>],a[end</a:t>
            </a:r>
            <a:r>
              <a:rPr lang="en-US" sz="1700" dirty="0" smtClean="0"/>
              <a:t>])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 smtClean="0"/>
              <a:t> 	}</a:t>
            </a:r>
            <a:endParaRPr lang="en-US" sz="1700" dirty="0"/>
          </a:p>
          <a:p>
            <a:pPr marL="82296" lvl="1" indent="0" algn="just" fontAlgn="base">
              <a:buNone/>
            </a:pPr>
            <a:r>
              <a:rPr lang="en-US" sz="17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5364088" y="692696"/>
            <a:ext cx="3600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2296" indent="0" algn="just" fontAlgn="base">
              <a:buNone/>
            </a:pPr>
            <a:r>
              <a:rPr lang="en-US" dirty="0" smtClean="0"/>
              <a:t>swap(a[</a:t>
            </a:r>
            <a:r>
              <a:rPr lang="en-US" dirty="0" err="1" smtClean="0"/>
              <a:t>lb</a:t>
            </a:r>
            <a:r>
              <a:rPr lang="en-US" dirty="0" smtClean="0"/>
              <a:t>],a[end])</a:t>
            </a:r>
          </a:p>
          <a:p>
            <a:pPr marL="82296" indent="0" algn="just" fontAlgn="base">
              <a:buNone/>
            </a:pPr>
            <a:r>
              <a:rPr lang="en-US" dirty="0" smtClean="0"/>
              <a:t>Return end</a:t>
            </a:r>
          </a:p>
          <a:p>
            <a:pPr marL="82296" indent="0" algn="just" fontAlgn="base">
              <a:buNone/>
            </a:pPr>
            <a:r>
              <a:rPr lang="en-US" dirty="0" smtClean="0"/>
              <a:t>}</a:t>
            </a:r>
          </a:p>
          <a:p>
            <a:pPr marL="82296" indent="0" algn="just" fontAlgn="base">
              <a:buNone/>
            </a:pPr>
            <a:endParaRPr lang="en-US" dirty="0"/>
          </a:p>
          <a:p>
            <a:pPr marL="82296" indent="0" algn="just" fontAlgn="base">
              <a:buNone/>
            </a:pPr>
            <a:endParaRPr lang="en-US" dirty="0" smtClean="0"/>
          </a:p>
          <a:p>
            <a:pPr marL="82296" indent="0" algn="just" fontAlgn="base">
              <a:buNone/>
            </a:pPr>
            <a:endParaRPr lang="en-US" dirty="0" smtClean="0"/>
          </a:p>
          <a:p>
            <a:pPr marL="82296" indent="0" algn="just" fontAlgn="base">
              <a:buNone/>
            </a:pPr>
            <a:r>
              <a:rPr lang="en-US" dirty="0" smtClean="0"/>
              <a:t>Quicksort(</a:t>
            </a:r>
            <a:r>
              <a:rPr lang="en-US" dirty="0" err="1" smtClean="0"/>
              <a:t>A,lb,ub</a:t>
            </a:r>
            <a:r>
              <a:rPr lang="en-US" dirty="0" smtClean="0"/>
              <a:t>)</a:t>
            </a:r>
          </a:p>
          <a:p>
            <a:pPr marL="82296" indent="0" algn="just" fontAlgn="base">
              <a:buNone/>
            </a:pPr>
            <a:r>
              <a:rPr lang="en-US" dirty="0" smtClean="0"/>
              <a:t>{</a:t>
            </a:r>
          </a:p>
          <a:p>
            <a:pPr marL="82296" indent="0" algn="just" fontAlgn="base">
              <a:buNone/>
            </a:pPr>
            <a:r>
              <a:rPr lang="en-US" dirty="0" smtClean="0"/>
              <a:t>If(</a:t>
            </a:r>
            <a:r>
              <a:rPr lang="en-US" dirty="0" err="1" smtClean="0"/>
              <a:t>lb</a:t>
            </a:r>
            <a:r>
              <a:rPr lang="en-US" dirty="0" smtClean="0"/>
              <a:t>&lt;</a:t>
            </a:r>
            <a:r>
              <a:rPr lang="en-US" dirty="0" err="1" smtClean="0"/>
              <a:t>ub</a:t>
            </a:r>
            <a:r>
              <a:rPr lang="en-US" dirty="0" smtClean="0"/>
              <a:t>)</a:t>
            </a:r>
          </a:p>
          <a:p>
            <a:pPr marL="82296" indent="0" algn="just" fontAlgn="base">
              <a:buNone/>
            </a:pPr>
            <a:r>
              <a:rPr lang="en-US" dirty="0"/>
              <a:t> </a:t>
            </a:r>
            <a:r>
              <a:rPr lang="en-US" dirty="0" smtClean="0"/>
              <a:t>  {</a:t>
            </a:r>
          </a:p>
          <a:p>
            <a:pPr marL="82296" lvl="1" algn="just" fontAlgn="base"/>
            <a:r>
              <a:rPr lang="en-US" dirty="0" smtClean="0"/>
              <a:t>	</a:t>
            </a:r>
            <a:r>
              <a:rPr lang="en-US" dirty="0" err="1" smtClean="0"/>
              <a:t>loc</a:t>
            </a:r>
            <a:r>
              <a:rPr lang="en-US" dirty="0" smtClean="0"/>
              <a:t>=partition(</a:t>
            </a:r>
            <a:r>
              <a:rPr lang="en-US" dirty="0" err="1" smtClean="0"/>
              <a:t>A,lb,ub</a:t>
            </a:r>
            <a:r>
              <a:rPr lang="en-US" dirty="0" smtClean="0"/>
              <a:t>)</a:t>
            </a:r>
            <a:endParaRPr lang="en-US" dirty="0"/>
          </a:p>
          <a:p>
            <a:pPr marL="82296" indent="0" algn="just" fontAlgn="base">
              <a:buNone/>
            </a:pPr>
            <a:r>
              <a:rPr lang="en-US" dirty="0" smtClean="0"/>
              <a:t>	Quicksort(A,lb,loc-1)</a:t>
            </a:r>
            <a:endParaRPr lang="en-US" dirty="0"/>
          </a:p>
          <a:p>
            <a:pPr marL="82296" algn="just" fontAlgn="base"/>
            <a:r>
              <a:rPr lang="en-US" dirty="0" smtClean="0"/>
              <a:t>	Quicksort(A,loc+1,ub</a:t>
            </a:r>
            <a:r>
              <a:rPr lang="en-US" dirty="0"/>
              <a:t>)</a:t>
            </a:r>
          </a:p>
          <a:p>
            <a:pPr marL="82296" indent="0" algn="just" fontAlgn="base">
              <a:buNone/>
            </a:pPr>
            <a:r>
              <a:rPr lang="en-US" dirty="0" smtClean="0"/>
              <a:t>     }</a:t>
            </a:r>
          </a:p>
          <a:p>
            <a:pPr marL="82296" indent="0" algn="just" fontAlgn="base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972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149125" y="332656"/>
            <a:ext cx="40398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4400" b="1" dirty="0" smtClean="0">
                <a:solidFill>
                  <a:srgbClr val="C00000"/>
                </a:solidFill>
                <a:latin typeface="Roboto Condensed"/>
              </a:rPr>
              <a:t>Counting sort </a:t>
            </a:r>
            <a:endParaRPr lang="en-US" sz="4400" b="1" i="0" dirty="0">
              <a:solidFill>
                <a:srgbClr val="C00000"/>
              </a:solidFill>
              <a:effectLst/>
              <a:latin typeface="Roboto Condensed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03648" y="1484784"/>
            <a:ext cx="7498080" cy="4800600"/>
          </a:xfrm>
        </p:spPr>
        <p:txBody>
          <a:bodyPr>
            <a:normAutofit/>
          </a:bodyPr>
          <a:lstStyle/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3030"/>
                </a:solidFill>
                <a:latin typeface="Arimo"/>
              </a:rPr>
              <a:t>This sorting technique doesn't perform sorting by comparing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elements 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03030"/>
                </a:solidFill>
                <a:latin typeface="Arimo"/>
              </a:rPr>
              <a:t>It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performs sorting by counting objects having distinct key values like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hashing</a:t>
            </a: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303030"/>
                </a:solidFill>
                <a:latin typeface="Arimo"/>
              </a:rPr>
              <a:t>After </a:t>
            </a:r>
            <a:r>
              <a:rPr lang="en-US" dirty="0">
                <a:solidFill>
                  <a:srgbClr val="303030"/>
                </a:solidFill>
                <a:latin typeface="Arimo"/>
              </a:rPr>
              <a:t>that, it performs some arithmetic operations to calculate each object's index position in the output </a:t>
            </a:r>
            <a:r>
              <a:rPr lang="en-US" dirty="0" smtClean="0">
                <a:solidFill>
                  <a:srgbClr val="303030"/>
                </a:solidFill>
                <a:latin typeface="Arimo"/>
              </a:rPr>
              <a:t>sequence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24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767081" y="332656"/>
            <a:ext cx="28039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/>
            <a:r>
              <a:rPr lang="en-US" sz="4000" b="1" dirty="0" smtClean="0">
                <a:solidFill>
                  <a:srgbClr val="C00000"/>
                </a:solidFill>
                <a:latin typeface="Roboto Condensed"/>
              </a:rPr>
              <a:t>EXAMPLE </a:t>
            </a:r>
            <a:endParaRPr lang="en-US" sz="4000" b="1" i="0" dirty="0">
              <a:solidFill>
                <a:srgbClr val="C00000"/>
              </a:solidFill>
              <a:effectLst/>
              <a:latin typeface="Roboto Condensed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350" y="1340768"/>
            <a:ext cx="7497763" cy="431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2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548680"/>
            <a:ext cx="7499350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4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5100" y="692696"/>
            <a:ext cx="7499350" cy="5176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5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692696"/>
            <a:ext cx="7748134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20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13" y="620688"/>
            <a:ext cx="7961964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05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5760"/>
            <a:ext cx="7956376" cy="6994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dirty="0" smtClean="0"/>
              <a:t>Void </a:t>
            </a:r>
            <a:r>
              <a:rPr lang="en-US" sz="1950" dirty="0" err="1" smtClean="0"/>
              <a:t>countingSort</a:t>
            </a:r>
            <a:r>
              <a:rPr lang="en-US" sz="1950" dirty="0" smtClean="0"/>
              <a:t>(</a:t>
            </a:r>
            <a:r>
              <a:rPr lang="en-US" sz="1950" dirty="0" err="1" smtClean="0"/>
              <a:t>int</a:t>
            </a:r>
            <a:r>
              <a:rPr lang="en-US" sz="1950" dirty="0" smtClean="0"/>
              <a:t> A[], </a:t>
            </a:r>
            <a:r>
              <a:rPr lang="en-US" sz="1950" dirty="0" err="1" smtClean="0"/>
              <a:t>int</a:t>
            </a:r>
            <a:r>
              <a:rPr lang="en-US" sz="1950" dirty="0" smtClean="0"/>
              <a:t> B[], </a:t>
            </a:r>
            <a:r>
              <a:rPr lang="en-US" sz="1950" dirty="0" err="1" smtClean="0"/>
              <a:t>int</a:t>
            </a:r>
            <a:r>
              <a:rPr lang="en-US" sz="1950" dirty="0" smtClean="0"/>
              <a:t> k, </a:t>
            </a:r>
            <a:r>
              <a:rPr lang="en-US" sz="1950" dirty="0" err="1" smtClean="0"/>
              <a:t>int</a:t>
            </a:r>
            <a:r>
              <a:rPr lang="en-US" sz="1950" dirty="0" smtClean="0"/>
              <a:t> n)</a:t>
            </a:r>
          </a:p>
          <a:p>
            <a:r>
              <a:rPr lang="en-US" sz="1950" dirty="0" smtClean="0"/>
              <a:t>{</a:t>
            </a:r>
          </a:p>
          <a:p>
            <a:r>
              <a:rPr lang="en-US" sz="1950" dirty="0" err="1"/>
              <a:t>i</a:t>
            </a:r>
            <a:r>
              <a:rPr lang="en-US" sz="1950" dirty="0" err="1" smtClean="0"/>
              <a:t>nt</a:t>
            </a:r>
            <a:r>
              <a:rPr lang="en-US" sz="1950" dirty="0" smtClean="0"/>
              <a:t> c[k+1]</a:t>
            </a:r>
          </a:p>
          <a:p>
            <a:r>
              <a:rPr lang="en-US" sz="1950" dirty="0"/>
              <a:t>f</a:t>
            </a:r>
            <a:r>
              <a:rPr lang="en-US" sz="1950" dirty="0" smtClean="0"/>
              <a:t>or (</a:t>
            </a:r>
            <a:r>
              <a:rPr lang="en-US" sz="1950" dirty="0" err="1" smtClean="0"/>
              <a:t>int</a:t>
            </a:r>
            <a:r>
              <a:rPr lang="en-US" sz="1950" dirty="0" smtClean="0"/>
              <a:t> i=0; i&lt;=k; i</a:t>
            </a:r>
            <a:r>
              <a:rPr lang="en-US" sz="1950" dirty="0" smtClean="0"/>
              <a:t>++) </a:t>
            </a:r>
            <a:r>
              <a:rPr lang="en-US" sz="1950" b="1" dirty="0" smtClean="0">
                <a:solidFill>
                  <a:srgbClr val="FF0000"/>
                </a:solidFill>
              </a:rPr>
              <a:t>//Initialize array to “0”</a:t>
            </a:r>
            <a:endParaRPr lang="en-US" sz="1950" b="1" dirty="0" smtClean="0">
              <a:solidFill>
                <a:srgbClr val="FF0000"/>
              </a:solidFill>
            </a:endParaRPr>
          </a:p>
          <a:p>
            <a:r>
              <a:rPr lang="en-US" sz="1950" dirty="0"/>
              <a:t>{</a:t>
            </a:r>
            <a:endParaRPr lang="en-US" sz="1950" dirty="0" smtClean="0"/>
          </a:p>
          <a:p>
            <a:r>
              <a:rPr lang="en-US" sz="1950" dirty="0"/>
              <a:t>	</a:t>
            </a:r>
            <a:r>
              <a:rPr lang="en-US" sz="1950" dirty="0" smtClean="0"/>
              <a:t>c[i]=0</a:t>
            </a:r>
          </a:p>
          <a:p>
            <a:r>
              <a:rPr lang="en-US" sz="1950" dirty="0"/>
              <a:t>}</a:t>
            </a:r>
            <a:endParaRPr lang="en-US" sz="1950" dirty="0" smtClean="0"/>
          </a:p>
          <a:p>
            <a:r>
              <a:rPr lang="en-US" sz="1950" dirty="0"/>
              <a:t>for (</a:t>
            </a:r>
            <a:r>
              <a:rPr lang="en-US" sz="1950" dirty="0" err="1"/>
              <a:t>int</a:t>
            </a:r>
            <a:r>
              <a:rPr lang="en-US" sz="1950" dirty="0"/>
              <a:t> i=0; </a:t>
            </a:r>
            <a:r>
              <a:rPr lang="en-US" sz="1950" dirty="0" smtClean="0"/>
              <a:t>i&lt;n; </a:t>
            </a:r>
            <a:r>
              <a:rPr lang="en-US" sz="1950" dirty="0"/>
              <a:t>i</a:t>
            </a:r>
            <a:r>
              <a:rPr lang="en-US" sz="1950" dirty="0" smtClean="0"/>
              <a:t>++) </a:t>
            </a:r>
            <a:r>
              <a:rPr lang="en-US" sz="1950" b="1" dirty="0">
                <a:solidFill>
                  <a:srgbClr val="FF0000"/>
                </a:solidFill>
              </a:rPr>
              <a:t>//Calculate count value of the array</a:t>
            </a:r>
          </a:p>
          <a:p>
            <a:r>
              <a:rPr lang="en-US" sz="1950" dirty="0"/>
              <a:t>{</a:t>
            </a:r>
          </a:p>
          <a:p>
            <a:r>
              <a:rPr lang="en-US" sz="1950" dirty="0"/>
              <a:t>	</a:t>
            </a:r>
            <a:r>
              <a:rPr lang="en-US" sz="1950" dirty="0" smtClean="0"/>
              <a:t>c[A[i]]=</a:t>
            </a:r>
            <a:r>
              <a:rPr lang="en-US" sz="1950" dirty="0"/>
              <a:t> c[A[i</a:t>
            </a:r>
            <a:r>
              <a:rPr lang="en-US" sz="1950" dirty="0" smtClean="0"/>
              <a:t>]]+1</a:t>
            </a:r>
          </a:p>
          <a:p>
            <a:r>
              <a:rPr lang="en-US" sz="1950" dirty="0"/>
              <a:t>}</a:t>
            </a:r>
            <a:endParaRPr lang="en-US" sz="1950" dirty="0" smtClean="0"/>
          </a:p>
          <a:p>
            <a:r>
              <a:rPr lang="en-US" sz="1950" dirty="0"/>
              <a:t>for (</a:t>
            </a:r>
            <a:r>
              <a:rPr lang="en-US" sz="1950" dirty="0" err="1"/>
              <a:t>int</a:t>
            </a:r>
            <a:r>
              <a:rPr lang="en-US" sz="1950" dirty="0"/>
              <a:t> </a:t>
            </a:r>
            <a:r>
              <a:rPr lang="en-US" sz="1950" dirty="0" smtClean="0"/>
              <a:t>i=1; </a:t>
            </a:r>
            <a:r>
              <a:rPr lang="en-US" sz="1950" dirty="0"/>
              <a:t>i</a:t>
            </a:r>
            <a:r>
              <a:rPr lang="en-US" sz="1950" dirty="0" smtClean="0"/>
              <a:t>&lt;=k; </a:t>
            </a:r>
            <a:r>
              <a:rPr lang="en-US" sz="1950" dirty="0"/>
              <a:t>i</a:t>
            </a:r>
            <a:r>
              <a:rPr lang="en-US" sz="1950" dirty="0" smtClean="0"/>
              <a:t>++) </a:t>
            </a:r>
            <a:r>
              <a:rPr lang="en-US" sz="1950" b="1" dirty="0">
                <a:solidFill>
                  <a:srgbClr val="FF0000"/>
                </a:solidFill>
              </a:rPr>
              <a:t>//Calculate </a:t>
            </a:r>
            <a:r>
              <a:rPr lang="en-US" sz="1950" b="1" dirty="0" smtClean="0">
                <a:solidFill>
                  <a:srgbClr val="FF0000"/>
                </a:solidFill>
              </a:rPr>
              <a:t>cumulative count </a:t>
            </a:r>
            <a:r>
              <a:rPr lang="en-US" sz="1950" b="1" dirty="0">
                <a:solidFill>
                  <a:srgbClr val="FF0000"/>
                </a:solidFill>
              </a:rPr>
              <a:t>value of the </a:t>
            </a:r>
            <a:r>
              <a:rPr lang="en-US" sz="1950" b="1" dirty="0" smtClean="0">
                <a:solidFill>
                  <a:srgbClr val="FF0000"/>
                </a:solidFill>
              </a:rPr>
              <a:t>array</a:t>
            </a:r>
            <a:endParaRPr lang="en-US" sz="1950" dirty="0" smtClean="0"/>
          </a:p>
          <a:p>
            <a:r>
              <a:rPr lang="en-US" sz="1950" dirty="0"/>
              <a:t>{</a:t>
            </a:r>
          </a:p>
          <a:p>
            <a:r>
              <a:rPr lang="en-US" sz="1950" dirty="0"/>
              <a:t>	</a:t>
            </a:r>
            <a:r>
              <a:rPr lang="en-US" sz="1950" dirty="0" smtClean="0"/>
              <a:t>c[i]= c[i-1]+</a:t>
            </a:r>
            <a:r>
              <a:rPr lang="en-US" sz="1950" dirty="0"/>
              <a:t>c[i</a:t>
            </a:r>
            <a:r>
              <a:rPr lang="en-US" sz="1950" dirty="0" smtClean="0"/>
              <a:t>]</a:t>
            </a:r>
          </a:p>
          <a:p>
            <a:r>
              <a:rPr lang="en-US" sz="1950" dirty="0"/>
              <a:t>}</a:t>
            </a:r>
            <a:endParaRPr lang="en-US" sz="1950" dirty="0" smtClean="0"/>
          </a:p>
          <a:p>
            <a:r>
              <a:rPr lang="en-US" sz="1950" dirty="0"/>
              <a:t>for (</a:t>
            </a:r>
            <a:r>
              <a:rPr lang="en-US" sz="1950" dirty="0" err="1"/>
              <a:t>int</a:t>
            </a:r>
            <a:r>
              <a:rPr lang="en-US" sz="1950" dirty="0"/>
              <a:t> </a:t>
            </a:r>
            <a:r>
              <a:rPr lang="en-US" sz="1950" dirty="0" smtClean="0"/>
              <a:t>i=n-1</a:t>
            </a:r>
            <a:r>
              <a:rPr lang="en-US" sz="1950" dirty="0"/>
              <a:t>; </a:t>
            </a:r>
            <a:r>
              <a:rPr lang="en-US" sz="1950" dirty="0" smtClean="0"/>
              <a:t>i&gt;=0; i--)</a:t>
            </a:r>
          </a:p>
          <a:p>
            <a:r>
              <a:rPr lang="en-US" sz="1950" dirty="0"/>
              <a:t>{</a:t>
            </a:r>
          </a:p>
          <a:p>
            <a:r>
              <a:rPr lang="en-US" sz="1950" dirty="0"/>
              <a:t>	</a:t>
            </a:r>
            <a:r>
              <a:rPr lang="en-US" sz="1950" dirty="0" smtClean="0"/>
              <a:t>B[--c[A[i]]]= A[i]</a:t>
            </a:r>
          </a:p>
          <a:p>
            <a:r>
              <a:rPr lang="en-US" sz="1950" dirty="0" smtClean="0"/>
              <a:t>}</a:t>
            </a:r>
          </a:p>
          <a:p>
            <a:r>
              <a:rPr lang="en-US" sz="1950" dirty="0"/>
              <a:t>for (</a:t>
            </a:r>
            <a:r>
              <a:rPr lang="en-US" sz="1950" dirty="0" err="1"/>
              <a:t>int</a:t>
            </a:r>
            <a:r>
              <a:rPr lang="en-US" sz="1950" dirty="0"/>
              <a:t> </a:t>
            </a:r>
            <a:r>
              <a:rPr lang="en-US" sz="1950" dirty="0" smtClean="0"/>
              <a:t>i=0; i&lt;n; i++)</a:t>
            </a:r>
            <a:endParaRPr lang="en-US" sz="1950" dirty="0"/>
          </a:p>
          <a:p>
            <a:r>
              <a:rPr lang="en-US" sz="1950" dirty="0"/>
              <a:t>{</a:t>
            </a:r>
          </a:p>
          <a:p>
            <a:r>
              <a:rPr lang="en-US" sz="1950" dirty="0"/>
              <a:t>	</a:t>
            </a:r>
            <a:r>
              <a:rPr lang="en-US" sz="1950" dirty="0" smtClean="0"/>
              <a:t>A[i]= B[i]</a:t>
            </a:r>
          </a:p>
          <a:p>
            <a:r>
              <a:rPr lang="en-US" sz="1950" dirty="0" smtClean="0"/>
              <a:t>}}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62431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2626"/>
          <a:stretch/>
        </p:blipFill>
        <p:spPr>
          <a:xfrm>
            <a:off x="1835696" y="1700808"/>
            <a:ext cx="6446034" cy="338437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476672"/>
            <a:ext cx="4493141" cy="118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31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7178</TotalTime>
  <Words>423</Words>
  <Application>Microsoft Office PowerPoint</Application>
  <PresentationFormat>On-screen Show (4:3)</PresentationFormat>
  <Paragraphs>139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Arimo</vt:lpstr>
      <vt:lpstr>Calibri</vt:lpstr>
      <vt:lpstr>Gill Sans MT</vt:lpstr>
      <vt:lpstr>Roboto Condensed</vt:lpstr>
      <vt:lpstr>Verdana</vt:lpstr>
      <vt:lpstr>Wingdings</vt:lpstr>
      <vt:lpstr>Wingdings 2</vt:lpstr>
      <vt:lpstr>Solstice</vt:lpstr>
      <vt:lpstr>BCS202L &amp; BCS202P- Data Structures and Algorithms</vt:lpstr>
      <vt:lpstr>MERGE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Introduction to Cryptography             (4 Hours)</dc:title>
  <dc:creator>Jamuna</dc:creator>
  <cp:lastModifiedBy>Windows User</cp:lastModifiedBy>
  <cp:revision>78</cp:revision>
  <dcterms:created xsi:type="dcterms:W3CDTF">2022-07-07T04:52:06Z</dcterms:created>
  <dcterms:modified xsi:type="dcterms:W3CDTF">2023-04-04T03:13:13Z</dcterms:modified>
</cp:coreProperties>
</file>