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308" r:id="rId2"/>
    <p:sldId id="324" r:id="rId3"/>
    <p:sldId id="310" r:id="rId4"/>
    <p:sldId id="323" r:id="rId5"/>
    <p:sldId id="325" r:id="rId6"/>
    <p:sldId id="326" r:id="rId7"/>
    <p:sldId id="327" r:id="rId8"/>
    <p:sldId id="328" r:id="rId9"/>
    <p:sldId id="329" r:id="rId10"/>
    <p:sldId id="330" r:id="rId11"/>
    <p:sldId id="331" r:id="rId12"/>
  </p:sldIdLst>
  <p:sldSz cx="9144000" cy="6858000" type="screen4x3"/>
  <p:notesSz cx="6950075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0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t" anchorCtr="0" compatLnSpc="1">
            <a:prstTxWarp prst="textNoShape">
              <a:avLst/>
            </a:prstTxWarp>
          </a:bodyPr>
          <a:lstStyle>
            <a:lvl1pPr defTabSz="925513">
              <a:defRPr sz="1200" i="0"/>
            </a:lvl1pPr>
          </a:lstStyle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t" anchorCtr="0" compatLnSpc="1">
            <a:prstTxWarp prst="textNoShape">
              <a:avLst/>
            </a:prstTxWarp>
          </a:bodyPr>
          <a:lstStyle>
            <a:lvl1pPr algn="r" defTabSz="925513">
              <a:defRPr sz="1200" i="0"/>
            </a:lvl1pPr>
          </a:lstStyle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defTabSz="925513">
              <a:defRPr sz="1200" i="0"/>
            </a:lvl1pPr>
          </a:lstStyle>
          <a:p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72525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defTabSz="925513">
              <a:defRPr sz="1200" i="0"/>
            </a:lvl1pPr>
          </a:lstStyle>
          <a:p>
            <a:fld id="{48ED5EA6-6E0B-40FA-9FA0-23D1EA4F2D7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339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4A958-782D-44D8-8545-6C0DA84BCEB6}" type="datetimeFigureOut">
              <a:rPr lang="en-IN" smtClean="0"/>
              <a:t>10-03-2023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387850"/>
            <a:ext cx="5559425" cy="4156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24472-FBA5-4674-88DD-52915E675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74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2BEB5-848F-4927-8E77-8DF83A336A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AC45-F25A-47FA-BBD2-0254FC23EA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7F08-EDC7-44D5-BD5A-DAABA9C64F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50F0-BB31-4AF8-8108-38F1069CE4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59C2E-1330-4760-8118-EF658E1283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BF51-4849-410C-8FA3-071B44D3F4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67B0-0A8E-4745-A70C-1754A0334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482E-DA64-4B4B-9EA5-3F4C0A7BDB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D5121-1336-48AB-80B2-D40EA9FF41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3C30-3876-4761-8DDC-61310C3F89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E138-1376-4AC7-BAFC-40E117154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920653EA-76DA-4744-8A7D-842F0171EE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2689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BCSE202L </a:t>
            </a:r>
            <a:r>
              <a:rPr lang="en-US" b="1" dirty="0"/>
              <a:t>&amp; </a:t>
            </a:r>
            <a:r>
              <a:rPr lang="en-US" b="1" dirty="0" smtClean="0"/>
              <a:t>BCS202P- Data Structures and Algorithms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886200"/>
            <a:ext cx="7315200" cy="1981200"/>
          </a:xfrm>
        </p:spPr>
        <p:txBody>
          <a:bodyPr>
            <a:normAutofit/>
          </a:bodyPr>
          <a:lstStyle/>
          <a:p>
            <a:r>
              <a:rPr lang="en-US" dirty="0" smtClean="0"/>
              <a:t>Dr. Priyanka N</a:t>
            </a:r>
          </a:p>
          <a:p>
            <a:r>
              <a:rPr lang="en-US" dirty="0" smtClean="0"/>
              <a:t>Assistant Professor Senior Grade 1</a:t>
            </a:r>
          </a:p>
          <a:p>
            <a:r>
              <a:rPr lang="en-US" dirty="0" smtClean="0"/>
              <a:t>School of Computer Science &amp; Engineering</a:t>
            </a:r>
          </a:p>
          <a:p>
            <a:r>
              <a:rPr lang="en-US" dirty="0" smtClean="0"/>
              <a:t>VIT, Vellore.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04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8600"/>
            <a:ext cx="7753260" cy="630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3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/>
              <a:t>BCS202L- Data Structures and Algorithms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628800"/>
            <a:ext cx="7818072" cy="48006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b="1" dirty="0" smtClean="0">
                <a:solidFill>
                  <a:srgbClr val="0070C0"/>
                </a:solidFill>
              </a:rPr>
              <a:t>Text Books: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Mark A. Weiss, Data Structures &amp; Algorithm Analysis in C++, 4 </a:t>
            </a:r>
            <a:r>
              <a:rPr lang="en-GB" sz="2000" dirty="0" err="1"/>
              <a:t>th</a:t>
            </a:r>
            <a:r>
              <a:rPr lang="en-GB" sz="2000" dirty="0"/>
              <a:t> Edition, </a:t>
            </a:r>
            <a:r>
              <a:rPr lang="en-GB" sz="2000" dirty="0" smtClean="0"/>
              <a:t>2013,Pearson Education.</a:t>
            </a:r>
            <a:endParaRPr lang="en-US" sz="2000" dirty="0"/>
          </a:p>
          <a:p>
            <a:pPr marL="82296" indent="0" algn="just">
              <a:buNone/>
            </a:pPr>
            <a:r>
              <a:rPr lang="en-US" b="1" dirty="0" smtClean="0">
                <a:solidFill>
                  <a:srgbClr val="0070C0"/>
                </a:solidFill>
              </a:rPr>
              <a:t>Reference Books: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/>
              <a:t>Alfred V. Aho, Jeffrey D. Ullman and John E. Hopcroft, Data Structures and </a:t>
            </a:r>
            <a:r>
              <a:rPr lang="en-GB" sz="2000" dirty="0" smtClean="0"/>
              <a:t>Algorithms,1983</a:t>
            </a:r>
            <a:r>
              <a:rPr lang="en-GB" sz="2000" dirty="0"/>
              <a:t>, Pearson Education.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 smtClean="0"/>
              <a:t>Horowitz</a:t>
            </a:r>
            <a:r>
              <a:rPr lang="en-GB" sz="2000" dirty="0"/>
              <a:t>, Sahni and S. Anderson-Freed, Fundamentals of Data Structures in C, </a:t>
            </a:r>
            <a:r>
              <a:rPr lang="en-GB" sz="2000" dirty="0" smtClean="0"/>
              <a:t>2008, 2</a:t>
            </a:r>
            <a:r>
              <a:rPr lang="en-GB" sz="2000" baseline="30000" dirty="0" smtClean="0"/>
              <a:t>nd</a:t>
            </a:r>
            <a:r>
              <a:rPr lang="en-GB" sz="2000" dirty="0" smtClean="0"/>
              <a:t>  </a:t>
            </a:r>
            <a:r>
              <a:rPr lang="en-GB" sz="2000" dirty="0"/>
              <a:t>Edition, Universities Press.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 smtClean="0"/>
              <a:t>Thomas </a:t>
            </a:r>
            <a:r>
              <a:rPr lang="en-GB" sz="2000" dirty="0"/>
              <a:t>H. Cormen, C.E. Leiserson, R L. Rivest and C. Stein, Introduction </a:t>
            </a:r>
            <a:r>
              <a:rPr lang="en-GB" sz="2000" dirty="0" smtClean="0"/>
              <a:t>to Algorithms</a:t>
            </a:r>
            <a:r>
              <a:rPr lang="en-GB" sz="2000" dirty="0"/>
              <a:t>, 2009, </a:t>
            </a:r>
            <a:r>
              <a:rPr lang="en-GB" sz="2000" dirty="0" smtClean="0"/>
              <a:t>3</a:t>
            </a:r>
            <a:r>
              <a:rPr lang="en-GB" sz="2000" baseline="30000" dirty="0" smtClean="0"/>
              <a:t>rd</a:t>
            </a:r>
            <a:r>
              <a:rPr lang="en-GB" sz="2000" dirty="0" smtClean="0"/>
              <a:t>  </a:t>
            </a:r>
            <a:r>
              <a:rPr lang="en-GB" sz="2000" dirty="0"/>
              <a:t>Edition, MIT Press.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03163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Tower of Hanoi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tower of Hanoi is one of the </a:t>
            </a:r>
            <a:r>
              <a:rPr lang="en-US" dirty="0" smtClean="0"/>
              <a:t>main applications </a:t>
            </a:r>
            <a:r>
              <a:rPr lang="en-US" dirty="0"/>
              <a:t>of </a:t>
            </a:r>
            <a:r>
              <a:rPr lang="en-US" dirty="0" smtClean="0"/>
              <a:t>recursion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says, ‘if you </a:t>
            </a:r>
            <a:r>
              <a:rPr lang="en-US" dirty="0" smtClean="0"/>
              <a:t>can solve </a:t>
            </a:r>
            <a:r>
              <a:rPr lang="en-US" dirty="0"/>
              <a:t>n–1 cases, then you can easily </a:t>
            </a:r>
            <a:r>
              <a:rPr lang="en-US" dirty="0" smtClean="0"/>
              <a:t>solve the </a:t>
            </a:r>
            <a:r>
              <a:rPr lang="en-US" dirty="0"/>
              <a:t>nth case</a:t>
            </a:r>
            <a:r>
              <a:rPr lang="en-US" dirty="0" smtClean="0"/>
              <a:t>’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41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Tower of Hanoi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/>
              <a:t>Three </a:t>
            </a:r>
            <a:r>
              <a:rPr lang="en-US" sz="2800" dirty="0"/>
              <a:t>rings mounted on pole </a:t>
            </a:r>
            <a:r>
              <a:rPr lang="en-US" sz="2800" dirty="0" smtClean="0"/>
              <a:t>A</a:t>
            </a:r>
            <a:endParaRPr lang="en-US" sz="2800" dirty="0"/>
          </a:p>
          <a:p>
            <a:pPr algn="just"/>
            <a:r>
              <a:rPr lang="en-US" sz="2800" dirty="0"/>
              <a:t>The problem is to move all these rings from pole A to pole C </a:t>
            </a:r>
            <a:r>
              <a:rPr lang="en-US" sz="2800" dirty="0" smtClean="0"/>
              <a:t>while maintaining </a:t>
            </a:r>
            <a:r>
              <a:rPr lang="en-US" sz="2800" dirty="0"/>
              <a:t>the same </a:t>
            </a:r>
            <a:r>
              <a:rPr lang="en-US" sz="2800" dirty="0" smtClean="0"/>
              <a:t>order</a:t>
            </a:r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main issue is that the smaller </a:t>
            </a:r>
            <a:r>
              <a:rPr lang="en-US" sz="2800" dirty="0" smtClean="0"/>
              <a:t>disk must </a:t>
            </a:r>
            <a:r>
              <a:rPr lang="en-US" sz="2800" dirty="0"/>
              <a:t>always come above the larger </a:t>
            </a:r>
            <a:r>
              <a:rPr lang="en-US" sz="2800" dirty="0" smtClean="0"/>
              <a:t>disk</a:t>
            </a: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343400"/>
            <a:ext cx="51816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4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IN" dirty="0"/>
              <a:t>Tower of Hanoi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90600"/>
            <a:ext cx="7498080" cy="4800600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We will be doing this using a spare </a:t>
            </a:r>
            <a:r>
              <a:rPr lang="en-US" sz="2600" dirty="0" smtClean="0"/>
              <a:t>pole</a:t>
            </a:r>
          </a:p>
          <a:p>
            <a:pPr algn="just"/>
            <a:r>
              <a:rPr lang="en-US" sz="2600" dirty="0" smtClean="0"/>
              <a:t>In this </a:t>
            </a:r>
            <a:r>
              <a:rPr lang="en-US" sz="2600" dirty="0"/>
              <a:t>case, A is </a:t>
            </a:r>
            <a:r>
              <a:rPr lang="en-US" sz="2600" dirty="0" smtClean="0"/>
              <a:t>the source </a:t>
            </a:r>
            <a:r>
              <a:rPr lang="en-US" sz="2600" dirty="0"/>
              <a:t>pole, C is the destination pole, and B is the spare </a:t>
            </a:r>
            <a:r>
              <a:rPr lang="en-US" sz="2600" dirty="0" smtClean="0"/>
              <a:t>pole</a:t>
            </a:r>
          </a:p>
          <a:p>
            <a:pPr algn="just"/>
            <a:r>
              <a:rPr lang="en-US" sz="2600" dirty="0" smtClean="0"/>
              <a:t>To transfer </a:t>
            </a:r>
            <a:r>
              <a:rPr lang="en-US" sz="2600" dirty="0"/>
              <a:t>all </a:t>
            </a:r>
            <a:r>
              <a:rPr lang="en-US" sz="2600" dirty="0" smtClean="0"/>
              <a:t>three </a:t>
            </a:r>
            <a:r>
              <a:rPr lang="en-US" sz="2600" dirty="0"/>
              <a:t>rings from A to C, we will first shift the </a:t>
            </a:r>
            <a:r>
              <a:rPr lang="en-US" sz="2600" dirty="0" smtClean="0"/>
              <a:t>upper two </a:t>
            </a:r>
            <a:r>
              <a:rPr lang="en-US" sz="2600" dirty="0"/>
              <a:t>rings (n–1 rings) from the source pole to the spare </a:t>
            </a:r>
            <a:r>
              <a:rPr lang="en-US" sz="2600" dirty="0" smtClean="0"/>
              <a:t>pole</a:t>
            </a:r>
            <a:r>
              <a:rPr lang="en-US" sz="2600" dirty="0"/>
              <a:t> </a:t>
            </a:r>
            <a:endParaRPr lang="en-US" sz="2600" dirty="0" smtClean="0"/>
          </a:p>
          <a:p>
            <a:pPr algn="just"/>
            <a:r>
              <a:rPr lang="en-US" sz="2600" dirty="0" smtClean="0"/>
              <a:t>We move </a:t>
            </a:r>
            <a:r>
              <a:rPr lang="en-US" sz="2600" dirty="0"/>
              <a:t>the first two rings from pole A to B</a:t>
            </a:r>
            <a:endParaRPr lang="en-IN" sz="2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67200"/>
            <a:ext cx="51149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9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IN" dirty="0"/>
              <a:t>Tower of Hanoi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90600"/>
            <a:ext cx="7498080" cy="4800600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Now that </a:t>
            </a:r>
            <a:r>
              <a:rPr lang="en-US" sz="2600" dirty="0" smtClean="0"/>
              <a:t>n–1 </a:t>
            </a:r>
            <a:r>
              <a:rPr lang="en-US" sz="2600" dirty="0"/>
              <a:t>rings have been removed from pole A, the nth </a:t>
            </a:r>
            <a:r>
              <a:rPr lang="en-US" sz="2600" dirty="0" smtClean="0"/>
              <a:t>ring can </a:t>
            </a:r>
            <a:r>
              <a:rPr lang="en-US" sz="2600" dirty="0"/>
              <a:t>be easily moved from the source pole (A) to the </a:t>
            </a:r>
            <a:r>
              <a:rPr lang="en-US" sz="2600" dirty="0" smtClean="0"/>
              <a:t>destination pole (C)</a:t>
            </a:r>
            <a:endParaRPr lang="en-IN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048000"/>
            <a:ext cx="519112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5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IN" dirty="0"/>
              <a:t>Tower of Hanoi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90600"/>
            <a:ext cx="7498080" cy="4800600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The final step is to move the n–1 rings from the spare pole (B) </a:t>
            </a:r>
            <a:r>
              <a:rPr lang="en-US" sz="2600" dirty="0" smtClean="0"/>
              <a:t>to the </a:t>
            </a:r>
            <a:r>
              <a:rPr lang="en-US" sz="2600" dirty="0"/>
              <a:t>destination pole (C</a:t>
            </a:r>
            <a:r>
              <a:rPr lang="en-US" sz="2600" dirty="0" smtClean="0"/>
              <a:t>)</a:t>
            </a:r>
            <a:endParaRPr lang="en-IN" sz="2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895600"/>
            <a:ext cx="516255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5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IN" dirty="0"/>
              <a:t>Tower of Hanoi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90600"/>
            <a:ext cx="7498080" cy="4800600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To summarize, the solution to our problem of moving n </a:t>
            </a:r>
            <a:r>
              <a:rPr lang="en-US" sz="2600" dirty="0" smtClean="0"/>
              <a:t>rings from </a:t>
            </a:r>
            <a:r>
              <a:rPr lang="en-US" sz="2600" dirty="0"/>
              <a:t>A to C using B as spare can be given as:</a:t>
            </a:r>
            <a:endParaRPr lang="en-IN" sz="2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514600"/>
            <a:ext cx="709804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7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Program 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09600"/>
            <a:ext cx="7498080" cy="4800600"/>
          </a:xfrm>
        </p:spPr>
        <p:txBody>
          <a:bodyPr>
            <a:noAutofit/>
          </a:bodyPr>
          <a:lstStyle/>
          <a:p>
            <a:pPr marL="82296" indent="0" algn="just">
              <a:buNone/>
            </a:pPr>
            <a:r>
              <a:rPr lang="en-IN" sz="1200" dirty="0"/>
              <a:t>#include &lt;</a:t>
            </a:r>
            <a:r>
              <a:rPr lang="en-IN" sz="1200" dirty="0" err="1"/>
              <a:t>stdio.h</a:t>
            </a:r>
            <a:r>
              <a:rPr lang="en-IN" sz="1200" dirty="0"/>
              <a:t>&gt;</a:t>
            </a:r>
          </a:p>
          <a:p>
            <a:pPr marL="82296" indent="0" algn="just">
              <a:buNone/>
            </a:pPr>
            <a:r>
              <a:rPr lang="en-IN" sz="1200" dirty="0" smtClean="0"/>
              <a:t>void </a:t>
            </a:r>
            <a:r>
              <a:rPr lang="en-IN" sz="1200" dirty="0"/>
              <a:t>towers(</a:t>
            </a:r>
            <a:r>
              <a:rPr lang="en-IN" sz="1200" dirty="0" err="1"/>
              <a:t>int</a:t>
            </a:r>
            <a:r>
              <a:rPr lang="en-IN" sz="1200" dirty="0"/>
              <a:t>, char, char, char</a:t>
            </a:r>
            <a:r>
              <a:rPr lang="en-IN" sz="1200" dirty="0" smtClean="0"/>
              <a:t>);</a:t>
            </a:r>
            <a:endParaRPr lang="en-IN" sz="1200" dirty="0"/>
          </a:p>
          <a:p>
            <a:pPr marL="82296" indent="0" algn="just">
              <a:buNone/>
            </a:pPr>
            <a:r>
              <a:rPr lang="en-IN" sz="1200" dirty="0" err="1"/>
              <a:t>int</a:t>
            </a:r>
            <a:r>
              <a:rPr lang="en-IN" sz="1200" dirty="0"/>
              <a:t> main()</a:t>
            </a:r>
          </a:p>
          <a:p>
            <a:pPr marL="82296" indent="0" algn="just">
              <a:buNone/>
            </a:pPr>
            <a:r>
              <a:rPr lang="en-IN" sz="1200" dirty="0"/>
              <a:t>{</a:t>
            </a:r>
          </a:p>
          <a:p>
            <a:pPr marL="82296" indent="0" algn="just">
              <a:buNone/>
            </a:pPr>
            <a:r>
              <a:rPr lang="en-IN" sz="1200" dirty="0"/>
              <a:t>    </a:t>
            </a:r>
            <a:r>
              <a:rPr lang="en-IN" sz="1200" dirty="0" err="1"/>
              <a:t>int</a:t>
            </a:r>
            <a:r>
              <a:rPr lang="en-IN" sz="1200" dirty="0"/>
              <a:t> </a:t>
            </a:r>
            <a:r>
              <a:rPr lang="en-IN" sz="1200" dirty="0" err="1"/>
              <a:t>num</a:t>
            </a:r>
            <a:r>
              <a:rPr lang="en-IN" sz="1200" dirty="0" smtClean="0"/>
              <a:t>;</a:t>
            </a:r>
            <a:endParaRPr lang="en-IN" sz="1200" dirty="0"/>
          </a:p>
          <a:p>
            <a:pPr marL="82296" indent="0" algn="just">
              <a:buNone/>
            </a:pPr>
            <a:r>
              <a:rPr lang="en-IN" sz="1200" dirty="0"/>
              <a:t>    </a:t>
            </a:r>
            <a:r>
              <a:rPr lang="en-IN" sz="1200" dirty="0" err="1"/>
              <a:t>printf</a:t>
            </a:r>
            <a:r>
              <a:rPr lang="en-IN" sz="1200" dirty="0"/>
              <a:t>("Enter the number of disks : ");</a:t>
            </a:r>
          </a:p>
          <a:p>
            <a:pPr marL="82296" indent="0" algn="just">
              <a:buNone/>
            </a:pPr>
            <a:r>
              <a:rPr lang="en-IN" sz="1200" dirty="0"/>
              <a:t>    </a:t>
            </a:r>
            <a:r>
              <a:rPr lang="en-IN" sz="1200" dirty="0" err="1"/>
              <a:t>scanf</a:t>
            </a:r>
            <a:r>
              <a:rPr lang="en-IN" sz="1200" dirty="0"/>
              <a:t>("%d", &amp;</a:t>
            </a:r>
            <a:r>
              <a:rPr lang="en-IN" sz="1200" dirty="0" err="1"/>
              <a:t>num</a:t>
            </a:r>
            <a:r>
              <a:rPr lang="en-IN" sz="1200" dirty="0"/>
              <a:t>);</a:t>
            </a:r>
          </a:p>
          <a:p>
            <a:pPr marL="82296" indent="0" algn="just">
              <a:buNone/>
            </a:pPr>
            <a:r>
              <a:rPr lang="en-IN" sz="1200" dirty="0"/>
              <a:t>    </a:t>
            </a:r>
            <a:r>
              <a:rPr lang="en-IN" sz="1200" dirty="0" err="1"/>
              <a:t>printf</a:t>
            </a:r>
            <a:r>
              <a:rPr lang="en-IN" sz="1200" dirty="0"/>
              <a:t>("The sequence of moves involved in the Tower of Hanoi are :\n");</a:t>
            </a:r>
          </a:p>
          <a:p>
            <a:pPr marL="82296" indent="0" algn="just">
              <a:buNone/>
            </a:pPr>
            <a:r>
              <a:rPr lang="en-IN" sz="1200" dirty="0"/>
              <a:t>    towers(</a:t>
            </a:r>
            <a:r>
              <a:rPr lang="en-IN" sz="1200" dirty="0" err="1"/>
              <a:t>num</a:t>
            </a:r>
            <a:r>
              <a:rPr lang="en-IN" sz="1200" dirty="0"/>
              <a:t>, 'A', 'C', 'B');</a:t>
            </a:r>
          </a:p>
          <a:p>
            <a:pPr marL="82296" indent="0" algn="just">
              <a:buNone/>
            </a:pPr>
            <a:r>
              <a:rPr lang="en-IN" sz="1200" dirty="0"/>
              <a:t>    return 0;</a:t>
            </a:r>
          </a:p>
          <a:p>
            <a:pPr marL="82296" indent="0" algn="just">
              <a:buNone/>
            </a:pPr>
            <a:r>
              <a:rPr lang="en-IN" sz="1200" dirty="0"/>
              <a:t>}</a:t>
            </a:r>
          </a:p>
          <a:p>
            <a:pPr marL="82296" indent="0" algn="just">
              <a:buNone/>
            </a:pPr>
            <a:r>
              <a:rPr lang="en-IN" sz="1200" dirty="0"/>
              <a:t>void towers(</a:t>
            </a:r>
            <a:r>
              <a:rPr lang="en-IN" sz="1200" dirty="0" err="1"/>
              <a:t>int</a:t>
            </a:r>
            <a:r>
              <a:rPr lang="en-IN" sz="1200" dirty="0"/>
              <a:t> </a:t>
            </a:r>
            <a:r>
              <a:rPr lang="en-IN" sz="1200" dirty="0" err="1"/>
              <a:t>num</a:t>
            </a:r>
            <a:r>
              <a:rPr lang="en-IN" sz="1200" dirty="0"/>
              <a:t>, char source, char destination, char spare)</a:t>
            </a:r>
          </a:p>
          <a:p>
            <a:pPr marL="82296" indent="0" algn="just">
              <a:buNone/>
            </a:pPr>
            <a:r>
              <a:rPr lang="en-IN" sz="1200" dirty="0"/>
              <a:t>{</a:t>
            </a:r>
          </a:p>
          <a:p>
            <a:pPr marL="82296" indent="0" algn="just">
              <a:buNone/>
            </a:pPr>
            <a:r>
              <a:rPr lang="en-IN" sz="1200" dirty="0"/>
              <a:t>    if (</a:t>
            </a:r>
            <a:r>
              <a:rPr lang="en-IN" sz="1200" dirty="0" err="1"/>
              <a:t>num</a:t>
            </a:r>
            <a:r>
              <a:rPr lang="en-IN" sz="1200" dirty="0"/>
              <a:t> == 1)</a:t>
            </a:r>
          </a:p>
          <a:p>
            <a:pPr marL="82296" indent="0" algn="just">
              <a:buNone/>
            </a:pPr>
            <a:r>
              <a:rPr lang="en-IN" sz="1200" dirty="0"/>
              <a:t>    {</a:t>
            </a:r>
          </a:p>
          <a:p>
            <a:pPr marL="82296" indent="0" algn="just">
              <a:buNone/>
            </a:pPr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("\</a:t>
            </a:r>
            <a:r>
              <a:rPr lang="en-IN" sz="1200" dirty="0" err="1"/>
              <a:t>nMove</a:t>
            </a:r>
            <a:r>
              <a:rPr lang="en-IN" sz="1200" dirty="0"/>
              <a:t> disk 1 from pole %c to pole %c", source, destination);</a:t>
            </a:r>
          </a:p>
          <a:p>
            <a:pPr marL="82296" indent="0" algn="just">
              <a:buNone/>
            </a:pPr>
            <a:r>
              <a:rPr lang="en-IN" sz="1200" dirty="0"/>
              <a:t>        return;</a:t>
            </a:r>
          </a:p>
          <a:p>
            <a:pPr marL="82296" indent="0" algn="just">
              <a:buNone/>
            </a:pPr>
            <a:r>
              <a:rPr lang="en-IN" sz="1200" dirty="0"/>
              <a:t>    }</a:t>
            </a:r>
          </a:p>
          <a:p>
            <a:pPr marL="82296" indent="0" algn="just">
              <a:buNone/>
            </a:pPr>
            <a:r>
              <a:rPr lang="en-IN" sz="1200" dirty="0"/>
              <a:t>    // Recursively calling function twice</a:t>
            </a:r>
          </a:p>
          <a:p>
            <a:pPr marL="82296" indent="0" algn="just">
              <a:buNone/>
            </a:pPr>
            <a:r>
              <a:rPr lang="en-IN" sz="1200" dirty="0"/>
              <a:t>    towers(</a:t>
            </a:r>
            <a:r>
              <a:rPr lang="en-IN" sz="1200" dirty="0" err="1"/>
              <a:t>num</a:t>
            </a:r>
            <a:r>
              <a:rPr lang="en-IN" sz="1200" dirty="0"/>
              <a:t> - 1, source, spare, destination);</a:t>
            </a:r>
          </a:p>
          <a:p>
            <a:pPr marL="82296" indent="0" algn="just">
              <a:buNone/>
            </a:pPr>
            <a:r>
              <a:rPr lang="en-IN" sz="1200" dirty="0"/>
              <a:t>    </a:t>
            </a:r>
            <a:r>
              <a:rPr lang="en-IN" sz="1200" dirty="0" err="1"/>
              <a:t>printf</a:t>
            </a:r>
            <a:r>
              <a:rPr lang="en-IN" sz="1200" dirty="0"/>
              <a:t>("\</a:t>
            </a:r>
            <a:r>
              <a:rPr lang="en-IN" sz="1200" dirty="0" err="1"/>
              <a:t>nMove</a:t>
            </a:r>
            <a:r>
              <a:rPr lang="en-IN" sz="1200" dirty="0"/>
              <a:t> disk %d from pole %c to pole %c", </a:t>
            </a:r>
            <a:r>
              <a:rPr lang="en-IN" sz="1200" dirty="0" err="1"/>
              <a:t>num</a:t>
            </a:r>
            <a:r>
              <a:rPr lang="en-IN" sz="1200" dirty="0"/>
              <a:t>, source, destination);</a:t>
            </a:r>
          </a:p>
          <a:p>
            <a:pPr marL="82296" indent="0" algn="just">
              <a:buNone/>
            </a:pPr>
            <a:r>
              <a:rPr lang="en-IN" sz="1200" dirty="0"/>
              <a:t>    towers(</a:t>
            </a:r>
            <a:r>
              <a:rPr lang="en-IN" sz="1200" dirty="0" err="1"/>
              <a:t>num</a:t>
            </a:r>
            <a:r>
              <a:rPr lang="en-IN" sz="1200" dirty="0"/>
              <a:t> - 1, spare, destination, source);</a:t>
            </a:r>
          </a:p>
          <a:p>
            <a:pPr marL="82296" indent="0" algn="just">
              <a:buNone/>
            </a:pPr>
            <a:r>
              <a:rPr lang="en-IN" sz="1200" dirty="0"/>
              <a:t>}</a:t>
            </a:r>
          </a:p>
          <a:p>
            <a:pPr marL="82296" indent="0" algn="just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7561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66800"/>
            <a:ext cx="7620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6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4097</TotalTime>
  <Words>546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Gill Sans MT</vt:lpstr>
      <vt:lpstr>Verdana</vt:lpstr>
      <vt:lpstr>Wingdings 2</vt:lpstr>
      <vt:lpstr>Solstice</vt:lpstr>
      <vt:lpstr>BCSE202L &amp; BCS202P- Data Structures and Algorithms</vt:lpstr>
      <vt:lpstr>PowerPoint Presentation</vt:lpstr>
      <vt:lpstr>BCS202L- Data Structures and Algorithms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Program code</vt:lpstr>
      <vt:lpstr>PowerPoint Presentation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creator>mattmcc</dc:creator>
  <cp:lastModifiedBy>Windows User</cp:lastModifiedBy>
  <cp:revision>97</cp:revision>
  <dcterms:created xsi:type="dcterms:W3CDTF">2002-06-24T19:49:42Z</dcterms:created>
  <dcterms:modified xsi:type="dcterms:W3CDTF">2023-03-10T11:14:50Z</dcterms:modified>
</cp:coreProperties>
</file>