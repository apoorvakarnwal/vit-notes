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308" r:id="rId2"/>
    <p:sldId id="324" r:id="rId3"/>
    <p:sldId id="310" r:id="rId4"/>
    <p:sldId id="311" r:id="rId5"/>
    <p:sldId id="323" r:id="rId6"/>
    <p:sldId id="312" r:id="rId7"/>
    <p:sldId id="313" r:id="rId8"/>
    <p:sldId id="296" r:id="rId9"/>
    <p:sldId id="297" r:id="rId10"/>
    <p:sldId id="300" r:id="rId11"/>
    <p:sldId id="314" r:id="rId12"/>
    <p:sldId id="298" r:id="rId13"/>
    <p:sldId id="261" r:id="rId14"/>
    <p:sldId id="262" r:id="rId15"/>
    <p:sldId id="315" r:id="rId16"/>
    <p:sldId id="316" r:id="rId17"/>
    <p:sldId id="318" r:id="rId18"/>
    <p:sldId id="266" r:id="rId19"/>
    <p:sldId id="285" r:id="rId20"/>
    <p:sldId id="304" r:id="rId21"/>
    <p:sldId id="319" r:id="rId22"/>
    <p:sldId id="320" r:id="rId23"/>
    <p:sldId id="321" r:id="rId24"/>
    <p:sldId id="322" r:id="rId25"/>
  </p:sldIdLst>
  <p:sldSz cx="9144000" cy="6858000" type="screen4x3"/>
  <p:notesSz cx="6950075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0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t" anchorCtr="0" compatLnSpc="1">
            <a:prstTxWarp prst="textNoShape">
              <a:avLst/>
            </a:prstTxWarp>
          </a:bodyPr>
          <a:lstStyle>
            <a:lvl1pPr defTabSz="925513">
              <a:defRPr sz="1200" i="0"/>
            </a:lvl1pPr>
          </a:lstStyle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t" anchorCtr="0" compatLnSpc="1">
            <a:prstTxWarp prst="textNoShape">
              <a:avLst/>
            </a:prstTxWarp>
          </a:bodyPr>
          <a:lstStyle>
            <a:lvl1pPr algn="r" defTabSz="925513">
              <a:defRPr sz="1200" i="0"/>
            </a:lvl1pPr>
          </a:lstStyle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defTabSz="925513">
              <a:defRPr sz="1200" i="0"/>
            </a:lvl1pPr>
          </a:lstStyle>
          <a:p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72525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defTabSz="925513">
              <a:defRPr sz="1200" i="0"/>
            </a:lvl1pPr>
          </a:lstStyle>
          <a:p>
            <a:fld id="{48ED5EA6-6E0B-40FA-9FA0-23D1EA4F2D7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339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4A958-782D-44D8-8545-6C0DA84BCEB6}" type="datetimeFigureOut">
              <a:rPr lang="en-IN" smtClean="0"/>
              <a:t>26-02-2023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387850"/>
            <a:ext cx="5559425" cy="4156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24472-FBA5-4674-88DD-52915E675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74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51494" indent="-289036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56145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18602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81060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F6289BD9-CFC9-4A0C-81B9-FA01A02771B4}" type="slidenum">
              <a:rPr lang="en-US" altLang="en-US" smtClean="0">
                <a:solidFill>
                  <a:schemeClr val="tx1"/>
                </a:solidFill>
                <a:ea typeface="MS PGothic" pitchFamily="34" charset="-128"/>
              </a:rPr>
              <a:pPr/>
              <a:t>6</a:t>
            </a:fld>
            <a:endParaRPr lang="en-US" altLang="en-US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51494" indent="-289036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56145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18602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81060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651907A5-DCF8-48B0-9504-778E32E7B1E2}" type="slidenum">
              <a:rPr lang="en-US" altLang="en-US" smtClean="0">
                <a:solidFill>
                  <a:schemeClr val="tx1"/>
                </a:solidFill>
                <a:ea typeface="MS PGothic" pitchFamily="34" charset="-128"/>
              </a:rPr>
              <a:pPr/>
              <a:t>8</a:t>
            </a:fld>
            <a:endParaRPr lang="en-US" altLang="en-US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3072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2BEB5-848F-4927-8E77-8DF83A336A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FAC45-F25A-47FA-BBD2-0254FC23EA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7F08-EDC7-44D5-BD5A-DAABA9C64F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50F0-BB31-4AF8-8108-38F1069CE4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59C2E-1330-4760-8118-EF658E12832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BF51-4849-410C-8FA3-071B44D3F4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67B0-0A8E-4745-A70C-1754A0334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6482E-DA64-4B4B-9EA5-3F4C0A7BDBB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D5121-1336-48AB-80B2-D40EA9FF41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13C30-3876-4761-8DDC-61310C3F89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EE138-1376-4AC7-BAFC-40E117154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920653EA-76DA-4744-8A7D-842F0171EED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2689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BCSE202L </a:t>
            </a:r>
            <a:r>
              <a:rPr lang="en-US" b="1" dirty="0"/>
              <a:t>&amp; </a:t>
            </a:r>
            <a:r>
              <a:rPr lang="en-US" b="1" dirty="0" smtClean="0"/>
              <a:t>BCS202P- Data Structures and Algorithms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886200"/>
            <a:ext cx="7315200" cy="1981200"/>
          </a:xfrm>
        </p:spPr>
        <p:txBody>
          <a:bodyPr>
            <a:normAutofit/>
          </a:bodyPr>
          <a:lstStyle/>
          <a:p>
            <a:r>
              <a:rPr lang="en-US" dirty="0" smtClean="0"/>
              <a:t>Dr. Priyanka N</a:t>
            </a:r>
          </a:p>
          <a:p>
            <a:r>
              <a:rPr lang="en-US" dirty="0" smtClean="0"/>
              <a:t>Assistant Professor Senior Grade 1</a:t>
            </a:r>
          </a:p>
          <a:p>
            <a:r>
              <a:rPr lang="en-US" dirty="0" smtClean="0"/>
              <a:t>School of Computer Science &amp; Engineering</a:t>
            </a:r>
          </a:p>
          <a:p>
            <a:r>
              <a:rPr lang="en-US" dirty="0" smtClean="0"/>
              <a:t>VIT, Vellore.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04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8600"/>
            <a:ext cx="7753260" cy="630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3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/>
              <a:t>BCS202L- Data Structures and Algorithms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628800"/>
            <a:ext cx="7818072" cy="48006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b="1" dirty="0" smtClean="0">
                <a:solidFill>
                  <a:srgbClr val="0070C0"/>
                </a:solidFill>
              </a:rPr>
              <a:t>Text Books: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GB" sz="2000" dirty="0"/>
              <a:t>Mark A. Weiss, Data Structures &amp; Algorithm Analysis in C++, 4 </a:t>
            </a:r>
            <a:r>
              <a:rPr lang="en-GB" sz="2000" dirty="0" err="1"/>
              <a:t>th</a:t>
            </a:r>
            <a:r>
              <a:rPr lang="en-GB" sz="2000" dirty="0"/>
              <a:t> Edition, </a:t>
            </a:r>
            <a:r>
              <a:rPr lang="en-GB" sz="2000" dirty="0" smtClean="0"/>
              <a:t>2013,Pearson Education.</a:t>
            </a:r>
            <a:endParaRPr lang="en-US" sz="2000" dirty="0"/>
          </a:p>
          <a:p>
            <a:pPr marL="82296" indent="0" algn="just">
              <a:buNone/>
            </a:pPr>
            <a:r>
              <a:rPr lang="en-US" b="1" dirty="0" smtClean="0">
                <a:solidFill>
                  <a:srgbClr val="0070C0"/>
                </a:solidFill>
              </a:rPr>
              <a:t>Reference Books: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/>
              <a:t>Alfred V. Aho, Jeffrey D. Ullman and John E. Hopcroft, Data Structures and </a:t>
            </a:r>
            <a:r>
              <a:rPr lang="en-GB" sz="2000" dirty="0" smtClean="0"/>
              <a:t>Algorithms,1983</a:t>
            </a:r>
            <a:r>
              <a:rPr lang="en-GB" sz="2000" dirty="0"/>
              <a:t>, Pearson Education.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 smtClean="0"/>
              <a:t>Horowitz</a:t>
            </a:r>
            <a:r>
              <a:rPr lang="en-GB" sz="2000" dirty="0"/>
              <a:t>, Sahni and S. Anderson-Freed, Fundamentals of Data Structures in C, </a:t>
            </a:r>
            <a:r>
              <a:rPr lang="en-GB" sz="2000" dirty="0" smtClean="0"/>
              <a:t>2008, 2</a:t>
            </a:r>
            <a:r>
              <a:rPr lang="en-GB" sz="2000" baseline="30000" dirty="0" smtClean="0"/>
              <a:t>nd</a:t>
            </a:r>
            <a:r>
              <a:rPr lang="en-GB" sz="2000" dirty="0" smtClean="0"/>
              <a:t>  </a:t>
            </a:r>
            <a:r>
              <a:rPr lang="en-GB" sz="2000" dirty="0"/>
              <a:t>Edition, Universities Press.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 smtClean="0"/>
              <a:t>Thomas </a:t>
            </a:r>
            <a:r>
              <a:rPr lang="en-GB" sz="2000" dirty="0"/>
              <a:t>H. Cormen, C.E. Leiserson, R L. Rivest and C. Stein, Introduction </a:t>
            </a:r>
            <a:r>
              <a:rPr lang="en-GB" sz="2000" dirty="0" smtClean="0"/>
              <a:t>to Algorithms</a:t>
            </a:r>
            <a:r>
              <a:rPr lang="en-GB" sz="2000" dirty="0"/>
              <a:t>, 2009, </a:t>
            </a:r>
            <a:r>
              <a:rPr lang="en-GB" sz="2000" dirty="0" smtClean="0"/>
              <a:t>3</a:t>
            </a:r>
            <a:r>
              <a:rPr lang="en-GB" sz="2000" baseline="30000" dirty="0" smtClean="0"/>
              <a:t>rd</a:t>
            </a:r>
            <a:r>
              <a:rPr lang="en-GB" sz="2000" dirty="0" smtClean="0"/>
              <a:t>  </a:t>
            </a:r>
            <a:r>
              <a:rPr lang="en-GB" sz="2000" dirty="0"/>
              <a:t>Edition, MIT Press.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03163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Linear and Non-linear Data Structures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38200"/>
            <a:ext cx="6486525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90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 smtClean="0"/>
              <a:t>Data </a:t>
            </a:r>
            <a:r>
              <a:rPr lang="en-GB" dirty="0"/>
              <a:t>are arranged in a </a:t>
            </a:r>
            <a:r>
              <a:rPr lang="en-GB" dirty="0" smtClean="0"/>
              <a:t>linear sequence</a:t>
            </a:r>
            <a:r>
              <a:rPr lang="en-GB" dirty="0"/>
              <a:t>.</a:t>
            </a:r>
          </a:p>
          <a:p>
            <a:pPr algn="just"/>
            <a:r>
              <a:rPr lang="en-GB" dirty="0" smtClean="0"/>
              <a:t>Elements </a:t>
            </a:r>
            <a:r>
              <a:rPr lang="en-GB" dirty="0"/>
              <a:t>are placed or accessed in</a:t>
            </a:r>
          </a:p>
          <a:p>
            <a:pPr marL="82296" indent="0" algn="just">
              <a:buNone/>
            </a:pPr>
            <a:r>
              <a:rPr lang="en-GB" dirty="0" smtClean="0"/>
              <a:t>  contiguous </a:t>
            </a:r>
            <a:r>
              <a:rPr lang="en-GB" dirty="0"/>
              <a:t>memory location.</a:t>
            </a:r>
          </a:p>
          <a:p>
            <a:pPr algn="just"/>
            <a:r>
              <a:rPr lang="en-GB" dirty="0" smtClean="0"/>
              <a:t>Objects </a:t>
            </a:r>
            <a:r>
              <a:rPr lang="en-GB" dirty="0"/>
              <a:t>(items) in the data structure</a:t>
            </a:r>
          </a:p>
          <a:p>
            <a:pPr marL="82296" indent="0" algn="just">
              <a:buNone/>
            </a:pPr>
            <a:r>
              <a:rPr lang="en-GB" dirty="0" smtClean="0"/>
              <a:t>  can </a:t>
            </a:r>
            <a:r>
              <a:rPr lang="en-GB" dirty="0"/>
              <a:t>be traversed in a single run.</a:t>
            </a:r>
          </a:p>
          <a:p>
            <a:pPr algn="just"/>
            <a:r>
              <a:rPr lang="en-GB" dirty="0" smtClean="0"/>
              <a:t>Some </a:t>
            </a:r>
            <a:r>
              <a:rPr lang="en-GB" dirty="0"/>
              <a:t>examples are array, </a:t>
            </a:r>
            <a:r>
              <a:rPr lang="en-GB" dirty="0" smtClean="0"/>
              <a:t>stack, queue</a:t>
            </a:r>
            <a:r>
              <a:rPr lang="en-GB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41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What is </a:t>
            </a:r>
            <a:r>
              <a:rPr lang="en-US" altLang="en-US" dirty="0" smtClean="0"/>
              <a:t>Stack</a:t>
            </a:r>
            <a:r>
              <a:rPr lang="en-US" altLang="en-US" dirty="0"/>
              <a:t>?</a:t>
            </a:r>
          </a:p>
          <a:p>
            <a:pPr lvl="1" algn="just"/>
            <a:r>
              <a:rPr lang="en-US" altLang="en-US" dirty="0"/>
              <a:t>A stack is </a:t>
            </a:r>
            <a:r>
              <a:rPr lang="en-US" altLang="en-US" dirty="0" smtClean="0"/>
              <a:t>an </a:t>
            </a:r>
            <a:r>
              <a:rPr lang="en-GB" altLang="en-US" dirty="0" smtClean="0"/>
              <a:t>ordered </a:t>
            </a:r>
            <a:r>
              <a:rPr lang="en-GB" altLang="en-US" dirty="0"/>
              <a:t>collection </a:t>
            </a:r>
            <a:r>
              <a:rPr lang="en-GB" altLang="en-US" dirty="0" smtClean="0"/>
              <a:t>of homogeneous </a:t>
            </a:r>
            <a:r>
              <a:rPr lang="en-GB" altLang="en-US" dirty="0"/>
              <a:t>data element </a:t>
            </a:r>
            <a:r>
              <a:rPr lang="en-GB" altLang="en-US" dirty="0" smtClean="0"/>
              <a:t>where the </a:t>
            </a:r>
            <a:r>
              <a:rPr lang="en-GB" altLang="en-US" dirty="0"/>
              <a:t>insertion and deletion take </a:t>
            </a:r>
            <a:r>
              <a:rPr lang="en-GB" altLang="en-US" dirty="0" smtClean="0"/>
              <a:t>place at </a:t>
            </a:r>
            <a:r>
              <a:rPr lang="en-GB" altLang="en-US" b="1" dirty="0">
                <a:solidFill>
                  <a:srgbClr val="FF0000"/>
                </a:solidFill>
              </a:rPr>
              <a:t>one end</a:t>
            </a:r>
            <a:r>
              <a:rPr lang="en-GB" altLang="en-US" dirty="0"/>
              <a:t>.</a:t>
            </a:r>
          </a:p>
          <a:p>
            <a:pPr lvl="1" algn="just"/>
            <a:r>
              <a:rPr lang="en-GB" altLang="en-US" dirty="0" smtClean="0"/>
              <a:t>It </a:t>
            </a:r>
            <a:r>
              <a:rPr lang="en-GB" altLang="en-US" dirty="0"/>
              <a:t>is called a </a:t>
            </a:r>
            <a:r>
              <a:rPr lang="en-GB" altLang="en-US" dirty="0" smtClean="0"/>
              <a:t>Last-in-First-Out (LIFO)collection</a:t>
            </a:r>
            <a:r>
              <a:rPr lang="en-GB" altLang="en-US" dirty="0"/>
              <a:t>.</a:t>
            </a:r>
          </a:p>
          <a:p>
            <a:pPr lvl="1" algn="just"/>
            <a:r>
              <a:rPr lang="en-GB" altLang="en-US" dirty="0" smtClean="0"/>
              <a:t>It </a:t>
            </a:r>
            <a:r>
              <a:rPr lang="en-GB" altLang="en-US" dirty="0"/>
              <a:t>means, the item last entered </a:t>
            </a:r>
            <a:r>
              <a:rPr lang="en-GB" altLang="en-US" dirty="0" smtClean="0"/>
              <a:t>will be </a:t>
            </a:r>
            <a:r>
              <a:rPr lang="en-GB" altLang="en-US" dirty="0"/>
              <a:t>first out.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6827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508" y="274638"/>
            <a:ext cx="7498080" cy="944562"/>
          </a:xfrm>
        </p:spPr>
        <p:txBody>
          <a:bodyPr/>
          <a:lstStyle/>
          <a:p>
            <a:r>
              <a:rPr lang="en-IN" dirty="0" smtClean="0"/>
              <a:t>Examples </a:t>
            </a:r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298767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09800" y="4648200"/>
            <a:ext cx="245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0" dirty="0" smtClean="0">
                <a:solidFill>
                  <a:srgbClr val="FF0000"/>
                </a:solidFill>
              </a:rPr>
              <a:t>Stack of Books</a:t>
            </a:r>
            <a:endParaRPr lang="en-IN" i="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752600"/>
            <a:ext cx="2819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172200" y="4648200"/>
            <a:ext cx="245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0" dirty="0" smtClean="0">
                <a:solidFill>
                  <a:srgbClr val="FF0000"/>
                </a:solidFill>
              </a:rPr>
              <a:t>Plates in a tray</a:t>
            </a:r>
            <a:endParaRPr lang="en-IN" i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85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49808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Stacks Operations</a:t>
            </a:r>
            <a:endParaRPr lang="en-US" alt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600200"/>
            <a:ext cx="7772400" cy="41148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What can we do with a stack?</a:t>
            </a:r>
          </a:p>
          <a:p>
            <a:pPr lvl="1" algn="just" eaLnBrk="1" hangingPunct="1"/>
            <a:r>
              <a:rPr lang="en-US" altLang="en-US" sz="3000" dirty="0">
                <a:solidFill>
                  <a:srgbClr val="00B050"/>
                </a:solidFill>
              </a:rPr>
              <a:t>push</a:t>
            </a:r>
            <a:r>
              <a:rPr lang="en-US" altLang="en-US" sz="3000" dirty="0"/>
              <a:t> </a:t>
            </a:r>
            <a:r>
              <a:rPr lang="en-US" altLang="en-US" sz="3000" dirty="0" smtClean="0"/>
              <a:t>– operation to place </a:t>
            </a:r>
            <a:r>
              <a:rPr lang="en-US" altLang="en-US" sz="3000" dirty="0"/>
              <a:t>an item on the stack</a:t>
            </a:r>
          </a:p>
          <a:p>
            <a:pPr lvl="1" algn="just" eaLnBrk="1" hangingPunct="1"/>
            <a:r>
              <a:rPr lang="en-US" altLang="en-US" sz="3000" dirty="0">
                <a:solidFill>
                  <a:srgbClr val="00B050"/>
                </a:solidFill>
              </a:rPr>
              <a:t>pop</a:t>
            </a:r>
            <a:r>
              <a:rPr lang="en-US" altLang="en-US" sz="3000" dirty="0"/>
              <a:t> </a:t>
            </a:r>
            <a:r>
              <a:rPr lang="en-US" altLang="en-US" sz="3000" dirty="0" smtClean="0"/>
              <a:t>– operation to look </a:t>
            </a:r>
            <a:r>
              <a:rPr lang="en-US" altLang="en-US" sz="3000" dirty="0"/>
              <a:t>at the item on top of the stack and remove </a:t>
            </a:r>
            <a:r>
              <a:rPr lang="en-US" altLang="en-US" sz="3000" dirty="0" smtClean="0"/>
              <a:t>it</a:t>
            </a:r>
          </a:p>
          <a:p>
            <a:pPr lvl="1" algn="just" eaLnBrk="1" hangingPunct="1"/>
            <a:r>
              <a:rPr lang="en-US" altLang="en-US" sz="3000" dirty="0" smtClean="0"/>
              <a:t>Traversal- Displaying the items on the stack</a:t>
            </a:r>
          </a:p>
          <a:p>
            <a:pPr lvl="1" algn="just"/>
            <a:r>
              <a:rPr lang="en-US" sz="3000" dirty="0" smtClean="0">
                <a:solidFill>
                  <a:srgbClr val="000000"/>
                </a:solidFill>
              </a:rPr>
              <a:t>is Full - </a:t>
            </a:r>
            <a:r>
              <a:rPr lang="en-GB" sz="3000" dirty="0">
                <a:solidFill>
                  <a:srgbClr val="000000"/>
                </a:solidFill>
              </a:rPr>
              <a:t>To know whether the stack is full or not</a:t>
            </a:r>
            <a:endParaRPr lang="en-GB" sz="3000" dirty="0"/>
          </a:p>
          <a:p>
            <a:pPr lvl="1" algn="just"/>
            <a:r>
              <a:rPr lang="en-GB" sz="3000" dirty="0" smtClean="0">
                <a:solidFill>
                  <a:srgbClr val="000000"/>
                </a:solidFill>
              </a:rPr>
              <a:t>is Empty - To </a:t>
            </a:r>
            <a:r>
              <a:rPr lang="en-GB" sz="3000" dirty="0">
                <a:solidFill>
                  <a:srgbClr val="000000"/>
                </a:solidFill>
              </a:rPr>
              <a:t>know whether the stack is empty or not</a:t>
            </a:r>
            <a:endParaRPr lang="en-GB" sz="3000" dirty="0"/>
          </a:p>
          <a:p>
            <a:pPr marL="402336" lvl="1" indent="0">
              <a:buNone/>
            </a:pPr>
            <a:r>
              <a:rPr lang="en-US" dirty="0">
                <a:solidFill>
                  <a:srgbClr val="000000"/>
                </a:solidFill>
                <a:latin typeface="Lucida Bright"/>
              </a:rPr>
              <a:t>	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212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74638"/>
            <a:ext cx="7467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Push and Pop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914400"/>
            <a:ext cx="7162800" cy="2667000"/>
          </a:xfrm>
        </p:spPr>
        <p:txBody>
          <a:bodyPr/>
          <a:lstStyle/>
          <a:p>
            <a:pPr eaLnBrk="1" hangingPunct="1"/>
            <a:r>
              <a:rPr lang="en-US" altLang="en-US" dirty="0"/>
              <a:t>Push</a:t>
            </a:r>
          </a:p>
          <a:p>
            <a:pPr lvl="1" eaLnBrk="1" hangingPunct="1"/>
            <a:r>
              <a:rPr lang="en-US" altLang="en-US" dirty="0"/>
              <a:t>Add an element to the top of the stack</a:t>
            </a:r>
          </a:p>
          <a:p>
            <a:pPr eaLnBrk="1" hangingPunct="1"/>
            <a:r>
              <a:rPr lang="en-US" altLang="en-US" dirty="0"/>
              <a:t>Pop</a:t>
            </a:r>
          </a:p>
          <a:p>
            <a:pPr lvl="1" eaLnBrk="1" hangingPunct="1"/>
            <a:r>
              <a:rPr lang="en-US" altLang="en-US" dirty="0"/>
              <a:t>Remove the element at the top of the stack</a:t>
            </a:r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3322638" y="5529263"/>
            <a:ext cx="914400" cy="336550"/>
            <a:chOff x="3648" y="3388"/>
            <a:chExt cx="576" cy="212"/>
          </a:xfrm>
        </p:grpSpPr>
        <p:sp>
          <p:nvSpPr>
            <p:cNvPr id="12341" name="Rectangle 5"/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en-IN" altLang="en-US"/>
            </a:p>
          </p:txBody>
        </p:sp>
        <p:sp>
          <p:nvSpPr>
            <p:cNvPr id="12342" name="Text Box 6"/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zh-CN" sz="1600">
                  <a:solidFill>
                    <a:schemeClr val="bg1"/>
                  </a:solidFill>
                  <a:latin typeface="Tahoma" pitchFamily="34" charset="0"/>
                  <a:ea typeface="SimSun" pitchFamily="2" charset="-122"/>
                </a:rPr>
                <a:t>A</a:t>
              </a:r>
            </a:p>
          </p:txBody>
        </p:sp>
      </p:grpSp>
      <p:sp>
        <p:nvSpPr>
          <p:cNvPr id="12293" name="Line 7"/>
          <p:cNvSpPr>
            <a:spLocks noChangeShapeType="1"/>
          </p:cNvSpPr>
          <p:nvPr/>
        </p:nvSpPr>
        <p:spPr bwMode="auto">
          <a:xfrm flipV="1">
            <a:off x="274638" y="5986463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2294" name="Text Box 8"/>
          <p:cNvSpPr txBox="1">
            <a:spLocks noChangeArrowheads="1"/>
          </p:cNvSpPr>
          <p:nvPr/>
        </p:nvSpPr>
        <p:spPr bwMode="auto">
          <a:xfrm>
            <a:off x="198438" y="5605463"/>
            <a:ext cx="547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folHlink"/>
                </a:solidFill>
                <a:latin typeface="Tahoma" pitchFamily="34" charset="0"/>
              </a:rPr>
              <a:t>top</a:t>
            </a:r>
          </a:p>
        </p:txBody>
      </p:sp>
      <p:sp>
        <p:nvSpPr>
          <p:cNvPr id="12295" name="Text Box 9"/>
          <p:cNvSpPr txBox="1">
            <a:spLocks noChangeArrowheads="1"/>
          </p:cNvSpPr>
          <p:nvPr/>
        </p:nvSpPr>
        <p:spPr bwMode="auto">
          <a:xfrm>
            <a:off x="869950" y="4005263"/>
            <a:ext cx="1538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folHlink"/>
                </a:solidFill>
                <a:latin typeface="Tahoma" pitchFamily="34" charset="0"/>
              </a:rPr>
              <a:t>empty stack</a:t>
            </a:r>
          </a:p>
        </p:txBody>
      </p:sp>
      <p:grpSp>
        <p:nvGrpSpPr>
          <p:cNvPr id="12296" name="Group 10"/>
          <p:cNvGrpSpPr>
            <a:grpSpLocks/>
          </p:cNvGrpSpPr>
          <p:nvPr/>
        </p:nvGrpSpPr>
        <p:grpSpPr bwMode="auto">
          <a:xfrm>
            <a:off x="655638" y="4538663"/>
            <a:ext cx="1905000" cy="1447800"/>
            <a:chOff x="672" y="3216"/>
            <a:chExt cx="1200" cy="912"/>
          </a:xfrm>
        </p:grpSpPr>
        <p:sp>
          <p:nvSpPr>
            <p:cNvPr id="12336" name="Line 11"/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7" name="Line 12"/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8" name="Line 13"/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9" name="Line 14"/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40" name="Line 15"/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297" name="Group 16"/>
          <p:cNvGrpSpPr>
            <a:grpSpLocks/>
          </p:cNvGrpSpPr>
          <p:nvPr/>
        </p:nvGrpSpPr>
        <p:grpSpPr bwMode="auto">
          <a:xfrm>
            <a:off x="2332038" y="5300663"/>
            <a:ext cx="685800" cy="396875"/>
            <a:chOff x="1440" y="3888"/>
            <a:chExt cx="432" cy="250"/>
          </a:xfrm>
        </p:grpSpPr>
        <p:sp>
          <p:nvSpPr>
            <p:cNvPr id="12334" name="Line 17"/>
            <p:cNvSpPr>
              <a:spLocks noChangeShapeType="1"/>
            </p:cNvSpPr>
            <p:nvPr/>
          </p:nvSpPr>
          <p:spPr bwMode="auto">
            <a:xfrm flipV="1">
              <a:off x="1488" y="412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2335" name="Text Box 18"/>
            <p:cNvSpPr txBox="1">
              <a:spLocks noChangeArrowheads="1"/>
            </p:cNvSpPr>
            <p:nvPr/>
          </p:nvSpPr>
          <p:spPr bwMode="auto">
            <a:xfrm>
              <a:off x="1440" y="3888"/>
              <a:ext cx="3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folHlink"/>
                  </a:solidFill>
                  <a:latin typeface="Tahoma" pitchFamily="34" charset="0"/>
                </a:rPr>
                <a:t>top</a:t>
              </a:r>
            </a:p>
          </p:txBody>
        </p:sp>
      </p:grpSp>
      <p:grpSp>
        <p:nvGrpSpPr>
          <p:cNvPr id="12298" name="Group 19"/>
          <p:cNvGrpSpPr>
            <a:grpSpLocks/>
          </p:cNvGrpSpPr>
          <p:nvPr/>
        </p:nvGrpSpPr>
        <p:grpSpPr bwMode="auto">
          <a:xfrm>
            <a:off x="2789238" y="4538663"/>
            <a:ext cx="1905000" cy="1447800"/>
            <a:chOff x="672" y="3216"/>
            <a:chExt cx="1200" cy="912"/>
          </a:xfrm>
        </p:grpSpPr>
        <p:sp>
          <p:nvSpPr>
            <p:cNvPr id="12329" name="Line 20"/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0" name="Line 21"/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1" name="Line 22"/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2" name="Line 23"/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3" name="Line 24"/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299" name="Group 25"/>
          <p:cNvGrpSpPr>
            <a:grpSpLocks/>
          </p:cNvGrpSpPr>
          <p:nvPr/>
        </p:nvGrpSpPr>
        <p:grpSpPr bwMode="auto">
          <a:xfrm>
            <a:off x="4389438" y="4843463"/>
            <a:ext cx="685800" cy="396875"/>
            <a:chOff x="2736" y="3888"/>
            <a:chExt cx="432" cy="250"/>
          </a:xfrm>
        </p:grpSpPr>
        <p:sp>
          <p:nvSpPr>
            <p:cNvPr id="12327" name="Line 26"/>
            <p:cNvSpPr>
              <a:spLocks noChangeShapeType="1"/>
            </p:cNvSpPr>
            <p:nvPr/>
          </p:nvSpPr>
          <p:spPr bwMode="auto">
            <a:xfrm flipV="1">
              <a:off x="2784" y="412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2328" name="Text Box 27"/>
            <p:cNvSpPr txBox="1">
              <a:spLocks noChangeArrowheads="1"/>
            </p:cNvSpPr>
            <p:nvPr/>
          </p:nvSpPr>
          <p:spPr bwMode="auto">
            <a:xfrm>
              <a:off x="2736" y="3888"/>
              <a:ext cx="3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folHlink"/>
                  </a:solidFill>
                  <a:latin typeface="Tahoma" pitchFamily="34" charset="0"/>
                </a:rPr>
                <a:t>top</a:t>
              </a:r>
            </a:p>
          </p:txBody>
        </p:sp>
      </p:grpSp>
      <p:grpSp>
        <p:nvGrpSpPr>
          <p:cNvPr id="12300" name="Group 28"/>
          <p:cNvGrpSpPr>
            <a:grpSpLocks/>
          </p:cNvGrpSpPr>
          <p:nvPr/>
        </p:nvGrpSpPr>
        <p:grpSpPr bwMode="auto">
          <a:xfrm>
            <a:off x="4846638" y="4538663"/>
            <a:ext cx="1905000" cy="1447800"/>
            <a:chOff x="672" y="3216"/>
            <a:chExt cx="1200" cy="912"/>
          </a:xfrm>
        </p:grpSpPr>
        <p:sp>
          <p:nvSpPr>
            <p:cNvPr id="12322" name="Line 29"/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23" name="Line 30"/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24" name="Line 31"/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25" name="Line 32"/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26" name="Line 33"/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301" name="Group 34"/>
          <p:cNvGrpSpPr>
            <a:grpSpLocks/>
          </p:cNvGrpSpPr>
          <p:nvPr/>
        </p:nvGrpSpPr>
        <p:grpSpPr bwMode="auto">
          <a:xfrm>
            <a:off x="6599238" y="5300663"/>
            <a:ext cx="685800" cy="396875"/>
            <a:chOff x="4128" y="3888"/>
            <a:chExt cx="432" cy="250"/>
          </a:xfrm>
        </p:grpSpPr>
        <p:sp>
          <p:nvSpPr>
            <p:cNvPr id="12320" name="Line 35"/>
            <p:cNvSpPr>
              <a:spLocks noChangeShapeType="1"/>
            </p:cNvSpPr>
            <p:nvPr/>
          </p:nvSpPr>
          <p:spPr bwMode="auto">
            <a:xfrm flipV="1">
              <a:off x="4176" y="412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2321" name="Text Box 36"/>
            <p:cNvSpPr txBox="1">
              <a:spLocks noChangeArrowheads="1"/>
            </p:cNvSpPr>
            <p:nvPr/>
          </p:nvSpPr>
          <p:spPr bwMode="auto">
            <a:xfrm>
              <a:off x="4128" y="3888"/>
              <a:ext cx="3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folHlink"/>
                  </a:solidFill>
                  <a:latin typeface="Tahoma" pitchFamily="34" charset="0"/>
                </a:rPr>
                <a:t>top</a:t>
              </a:r>
            </a:p>
          </p:txBody>
        </p:sp>
      </p:grpSp>
      <p:grpSp>
        <p:nvGrpSpPr>
          <p:cNvPr id="12302" name="Group 37"/>
          <p:cNvGrpSpPr>
            <a:grpSpLocks/>
          </p:cNvGrpSpPr>
          <p:nvPr/>
        </p:nvGrpSpPr>
        <p:grpSpPr bwMode="auto">
          <a:xfrm>
            <a:off x="7056438" y="4538663"/>
            <a:ext cx="1905000" cy="1447800"/>
            <a:chOff x="672" y="3216"/>
            <a:chExt cx="1200" cy="912"/>
          </a:xfrm>
        </p:grpSpPr>
        <p:sp>
          <p:nvSpPr>
            <p:cNvPr id="12315" name="Line 38"/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16" name="Line 39"/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17" name="Line 40"/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18" name="Line 41"/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19" name="Line 42"/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303" name="Text Box 43"/>
          <p:cNvSpPr txBox="1">
            <a:spLocks noChangeArrowheads="1"/>
          </p:cNvSpPr>
          <p:nvPr/>
        </p:nvSpPr>
        <p:spPr bwMode="auto">
          <a:xfrm>
            <a:off x="2678113" y="4005263"/>
            <a:ext cx="205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folHlink"/>
                </a:solidFill>
                <a:latin typeface="Tahoma" pitchFamily="34" charset="0"/>
              </a:rPr>
              <a:t>push an element</a:t>
            </a:r>
          </a:p>
        </p:txBody>
      </p:sp>
      <p:sp>
        <p:nvSpPr>
          <p:cNvPr id="12304" name="Text Box 44"/>
          <p:cNvSpPr txBox="1">
            <a:spLocks noChangeArrowheads="1"/>
          </p:cNvSpPr>
          <p:nvPr/>
        </p:nvSpPr>
        <p:spPr bwMode="auto">
          <a:xfrm>
            <a:off x="5003800" y="4005263"/>
            <a:ext cx="166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folHlink"/>
                </a:solidFill>
                <a:latin typeface="Tahoma" pitchFamily="34" charset="0"/>
              </a:rPr>
              <a:t>push another</a:t>
            </a:r>
          </a:p>
        </p:txBody>
      </p:sp>
      <p:grpSp>
        <p:nvGrpSpPr>
          <p:cNvPr id="12305" name="Group 45"/>
          <p:cNvGrpSpPr>
            <a:grpSpLocks/>
          </p:cNvGrpSpPr>
          <p:nvPr/>
        </p:nvGrpSpPr>
        <p:grpSpPr bwMode="auto">
          <a:xfrm>
            <a:off x="5354638" y="5510213"/>
            <a:ext cx="914400" cy="336550"/>
            <a:chOff x="3648" y="3388"/>
            <a:chExt cx="576" cy="212"/>
          </a:xfrm>
        </p:grpSpPr>
        <p:sp>
          <p:nvSpPr>
            <p:cNvPr id="12313" name="Rectangle 46"/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en-IN" altLang="en-US"/>
            </a:p>
          </p:txBody>
        </p:sp>
        <p:sp>
          <p:nvSpPr>
            <p:cNvPr id="12314" name="Text Box 47"/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zh-CN" sz="1600">
                  <a:solidFill>
                    <a:schemeClr val="bg1"/>
                  </a:solidFill>
                  <a:latin typeface="Tahoma" pitchFamily="34" charset="0"/>
                  <a:ea typeface="SimSun" pitchFamily="2" charset="-122"/>
                </a:rPr>
                <a:t>A</a:t>
              </a:r>
            </a:p>
          </p:txBody>
        </p:sp>
      </p:grpSp>
      <p:grpSp>
        <p:nvGrpSpPr>
          <p:cNvPr id="12306" name="Group 48"/>
          <p:cNvGrpSpPr>
            <a:grpSpLocks/>
          </p:cNvGrpSpPr>
          <p:nvPr/>
        </p:nvGrpSpPr>
        <p:grpSpPr bwMode="auto">
          <a:xfrm>
            <a:off x="5367338" y="5065713"/>
            <a:ext cx="914400" cy="336550"/>
            <a:chOff x="3648" y="3388"/>
            <a:chExt cx="576" cy="212"/>
          </a:xfrm>
        </p:grpSpPr>
        <p:sp>
          <p:nvSpPr>
            <p:cNvPr id="12311" name="Rectangle 49"/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en-IN" altLang="en-US"/>
            </a:p>
          </p:txBody>
        </p:sp>
        <p:sp>
          <p:nvSpPr>
            <p:cNvPr id="12312" name="Text Box 50"/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zh-CN" sz="1600">
                  <a:solidFill>
                    <a:schemeClr val="bg1"/>
                  </a:solidFill>
                  <a:latin typeface="Tahoma" pitchFamily="34" charset="0"/>
                  <a:ea typeface="SimSun" pitchFamily="2" charset="-122"/>
                </a:rPr>
                <a:t>B</a:t>
              </a:r>
            </a:p>
          </p:txBody>
        </p:sp>
      </p:grpSp>
      <p:sp>
        <p:nvSpPr>
          <p:cNvPr id="12307" name="Text Box 51"/>
          <p:cNvSpPr txBox="1">
            <a:spLocks noChangeArrowheads="1"/>
          </p:cNvSpPr>
          <p:nvPr/>
        </p:nvSpPr>
        <p:spPr bwMode="auto">
          <a:xfrm>
            <a:off x="7677150" y="4005263"/>
            <a:ext cx="601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folHlink"/>
                </a:solidFill>
                <a:latin typeface="Tahoma" pitchFamily="34" charset="0"/>
              </a:rPr>
              <a:t>pop</a:t>
            </a:r>
          </a:p>
        </p:txBody>
      </p:sp>
      <p:grpSp>
        <p:nvGrpSpPr>
          <p:cNvPr id="12308" name="Group 52"/>
          <p:cNvGrpSpPr>
            <a:grpSpLocks/>
          </p:cNvGrpSpPr>
          <p:nvPr/>
        </p:nvGrpSpPr>
        <p:grpSpPr bwMode="auto">
          <a:xfrm>
            <a:off x="7589838" y="5478463"/>
            <a:ext cx="914400" cy="336550"/>
            <a:chOff x="3648" y="3388"/>
            <a:chExt cx="576" cy="212"/>
          </a:xfrm>
        </p:grpSpPr>
        <p:sp>
          <p:nvSpPr>
            <p:cNvPr id="12309" name="Rectangle 53"/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en-IN" altLang="en-US"/>
            </a:p>
          </p:txBody>
        </p:sp>
        <p:sp>
          <p:nvSpPr>
            <p:cNvPr id="12310" name="Text Box 54"/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zh-CN" sz="1600">
                  <a:solidFill>
                    <a:schemeClr val="bg1"/>
                  </a:solidFill>
                  <a:latin typeface="Tahoma" pitchFamily="34" charset="0"/>
                  <a:ea typeface="SimSun" pitchFamily="2" charset="-122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378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– push and pop example</a:t>
            </a:r>
            <a:endParaRPr lang="en-US" dirty="0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219200" y="22098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>
            <a:off x="1219200" y="5562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2286000" y="22098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>
            <a:off x="1219200" y="5105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1219200" y="4648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>
            <a:off x="1219200" y="4191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8" name="Line 12"/>
          <p:cNvSpPr>
            <a:spLocks noChangeShapeType="1"/>
          </p:cNvSpPr>
          <p:nvPr/>
        </p:nvSpPr>
        <p:spPr bwMode="auto">
          <a:xfrm>
            <a:off x="1219200" y="3733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1600200" y="5105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1600200" y="4648200"/>
            <a:ext cx="3385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 dirty="0"/>
              <a:t>B</a:t>
            </a:r>
          </a:p>
        </p:txBody>
      </p:sp>
      <p:sp>
        <p:nvSpPr>
          <p:cNvPr id="4113" name="Text Box 17"/>
          <p:cNvSpPr txBox="1">
            <a:spLocks noChangeArrowheads="1"/>
          </p:cNvSpPr>
          <p:nvPr/>
        </p:nvSpPr>
        <p:spPr bwMode="auto">
          <a:xfrm>
            <a:off x="1600200" y="4191000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 dirty="0" smtClean="0"/>
              <a:t>C</a:t>
            </a:r>
            <a:endParaRPr lang="en-US" i="0" dirty="0"/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1600200" y="3733800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 dirty="0" smtClean="0"/>
              <a:t>D</a:t>
            </a:r>
            <a:endParaRPr lang="en-US" i="0" dirty="0"/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2590800" y="3810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16" name="Text Box 20"/>
          <p:cNvSpPr txBox="1">
            <a:spLocks noChangeArrowheads="1"/>
          </p:cNvSpPr>
          <p:nvPr/>
        </p:nvSpPr>
        <p:spPr bwMode="auto">
          <a:xfrm>
            <a:off x="2574925" y="4151313"/>
            <a:ext cx="1022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push(M)</a:t>
            </a:r>
          </a:p>
        </p:txBody>
      </p:sp>
      <p:sp>
        <p:nvSpPr>
          <p:cNvPr id="4117" name="Line 21"/>
          <p:cNvSpPr>
            <a:spLocks noChangeShapeType="1"/>
          </p:cNvSpPr>
          <p:nvPr/>
        </p:nvSpPr>
        <p:spPr bwMode="auto">
          <a:xfrm>
            <a:off x="40386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8" name="Line 22"/>
          <p:cNvSpPr>
            <a:spLocks noChangeShapeType="1"/>
          </p:cNvSpPr>
          <p:nvPr/>
        </p:nvSpPr>
        <p:spPr bwMode="auto">
          <a:xfrm>
            <a:off x="4038600" y="5638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>
            <a:off x="51054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0" name="Line 24"/>
          <p:cNvSpPr>
            <a:spLocks noChangeShapeType="1"/>
          </p:cNvSpPr>
          <p:nvPr/>
        </p:nvSpPr>
        <p:spPr bwMode="auto">
          <a:xfrm>
            <a:off x="4038600" y="518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1" name="Line 25"/>
          <p:cNvSpPr>
            <a:spLocks noChangeShapeType="1"/>
          </p:cNvSpPr>
          <p:nvPr/>
        </p:nvSpPr>
        <p:spPr bwMode="auto">
          <a:xfrm>
            <a:off x="4038600" y="4724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2" name="Line 26"/>
          <p:cNvSpPr>
            <a:spLocks noChangeShapeType="1"/>
          </p:cNvSpPr>
          <p:nvPr/>
        </p:nvSpPr>
        <p:spPr bwMode="auto">
          <a:xfrm>
            <a:off x="4038600" y="4267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3" name="Line 27"/>
          <p:cNvSpPr>
            <a:spLocks noChangeShapeType="1"/>
          </p:cNvSpPr>
          <p:nvPr/>
        </p:nvSpPr>
        <p:spPr bwMode="auto">
          <a:xfrm>
            <a:off x="4038600" y="3810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4" name="Text Box 28"/>
          <p:cNvSpPr txBox="1">
            <a:spLocks noChangeArrowheads="1"/>
          </p:cNvSpPr>
          <p:nvPr/>
        </p:nvSpPr>
        <p:spPr bwMode="auto">
          <a:xfrm>
            <a:off x="4419600" y="51816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125" name="Text Box 29"/>
          <p:cNvSpPr txBox="1">
            <a:spLocks noChangeArrowheads="1"/>
          </p:cNvSpPr>
          <p:nvPr/>
        </p:nvSpPr>
        <p:spPr bwMode="auto">
          <a:xfrm>
            <a:off x="4419600" y="4724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 dirty="0" smtClean="0"/>
              <a:t>B</a:t>
            </a:r>
            <a:endParaRPr lang="en-US" i="0" dirty="0"/>
          </a:p>
        </p:txBody>
      </p:sp>
      <p:sp>
        <p:nvSpPr>
          <p:cNvPr id="4126" name="Text Box 30"/>
          <p:cNvSpPr txBox="1">
            <a:spLocks noChangeArrowheads="1"/>
          </p:cNvSpPr>
          <p:nvPr/>
        </p:nvSpPr>
        <p:spPr bwMode="auto">
          <a:xfrm>
            <a:off x="4419600" y="4267200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 dirty="0"/>
              <a:t>C</a:t>
            </a:r>
          </a:p>
        </p:txBody>
      </p:sp>
      <p:sp>
        <p:nvSpPr>
          <p:cNvPr id="4127" name="Text Box 31"/>
          <p:cNvSpPr txBox="1">
            <a:spLocks noChangeArrowheads="1"/>
          </p:cNvSpPr>
          <p:nvPr/>
        </p:nvSpPr>
        <p:spPr bwMode="auto">
          <a:xfrm>
            <a:off x="4419600" y="3810000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 dirty="0"/>
              <a:t>D</a:t>
            </a:r>
          </a:p>
        </p:txBody>
      </p:sp>
      <p:sp>
        <p:nvSpPr>
          <p:cNvPr id="4128" name="Line 32"/>
          <p:cNvSpPr>
            <a:spLocks noChangeShapeType="1"/>
          </p:cNvSpPr>
          <p:nvPr/>
        </p:nvSpPr>
        <p:spPr bwMode="auto">
          <a:xfrm>
            <a:off x="4038600" y="3352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9" name="Text Box 33"/>
          <p:cNvSpPr txBox="1">
            <a:spLocks noChangeArrowheads="1"/>
          </p:cNvSpPr>
          <p:nvPr/>
        </p:nvSpPr>
        <p:spPr bwMode="auto">
          <a:xfrm>
            <a:off x="4419600" y="335280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M</a:t>
            </a:r>
          </a:p>
        </p:txBody>
      </p:sp>
      <p:sp>
        <p:nvSpPr>
          <p:cNvPr id="4130" name="AutoShape 34"/>
          <p:cNvSpPr>
            <a:spLocks noChangeArrowheads="1"/>
          </p:cNvSpPr>
          <p:nvPr/>
        </p:nvSpPr>
        <p:spPr bwMode="auto">
          <a:xfrm>
            <a:off x="5638800" y="3810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1" name="Text Box 35"/>
          <p:cNvSpPr txBox="1">
            <a:spLocks noChangeArrowheads="1"/>
          </p:cNvSpPr>
          <p:nvPr/>
        </p:nvSpPr>
        <p:spPr bwMode="auto">
          <a:xfrm>
            <a:off x="5486400" y="4191000"/>
            <a:ext cx="14097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item = pop()</a:t>
            </a:r>
          </a:p>
          <a:p>
            <a:r>
              <a:rPr lang="en-US" i="0"/>
              <a:t>item = M</a:t>
            </a:r>
          </a:p>
        </p:txBody>
      </p:sp>
      <p:sp>
        <p:nvSpPr>
          <p:cNvPr id="4132" name="Line 36"/>
          <p:cNvSpPr>
            <a:spLocks noChangeShapeType="1"/>
          </p:cNvSpPr>
          <p:nvPr/>
        </p:nvSpPr>
        <p:spPr bwMode="auto">
          <a:xfrm>
            <a:off x="71628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3" name="Line 37"/>
          <p:cNvSpPr>
            <a:spLocks noChangeShapeType="1"/>
          </p:cNvSpPr>
          <p:nvPr/>
        </p:nvSpPr>
        <p:spPr bwMode="auto">
          <a:xfrm>
            <a:off x="7162800" y="5638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4" name="Line 38"/>
          <p:cNvSpPr>
            <a:spLocks noChangeShapeType="1"/>
          </p:cNvSpPr>
          <p:nvPr/>
        </p:nvSpPr>
        <p:spPr bwMode="auto">
          <a:xfrm>
            <a:off x="82296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5" name="Line 39"/>
          <p:cNvSpPr>
            <a:spLocks noChangeShapeType="1"/>
          </p:cNvSpPr>
          <p:nvPr/>
        </p:nvSpPr>
        <p:spPr bwMode="auto">
          <a:xfrm>
            <a:off x="7162800" y="518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6" name="Line 40"/>
          <p:cNvSpPr>
            <a:spLocks noChangeShapeType="1"/>
          </p:cNvSpPr>
          <p:nvPr/>
        </p:nvSpPr>
        <p:spPr bwMode="auto">
          <a:xfrm>
            <a:off x="7162800" y="4724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7" name="Line 41"/>
          <p:cNvSpPr>
            <a:spLocks noChangeShapeType="1"/>
          </p:cNvSpPr>
          <p:nvPr/>
        </p:nvSpPr>
        <p:spPr bwMode="auto">
          <a:xfrm>
            <a:off x="7162800" y="4267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8" name="Line 42"/>
          <p:cNvSpPr>
            <a:spLocks noChangeShapeType="1"/>
          </p:cNvSpPr>
          <p:nvPr/>
        </p:nvSpPr>
        <p:spPr bwMode="auto">
          <a:xfrm>
            <a:off x="7162800" y="3810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9" name="Text Box 43"/>
          <p:cNvSpPr txBox="1">
            <a:spLocks noChangeArrowheads="1"/>
          </p:cNvSpPr>
          <p:nvPr/>
        </p:nvSpPr>
        <p:spPr bwMode="auto">
          <a:xfrm>
            <a:off x="7543800" y="51816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140" name="Text Box 44"/>
          <p:cNvSpPr txBox="1">
            <a:spLocks noChangeArrowheads="1"/>
          </p:cNvSpPr>
          <p:nvPr/>
        </p:nvSpPr>
        <p:spPr bwMode="auto">
          <a:xfrm>
            <a:off x="7543800" y="4724400"/>
            <a:ext cx="3385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 dirty="0" smtClean="0"/>
              <a:t>B</a:t>
            </a:r>
            <a:endParaRPr lang="en-US" i="0" dirty="0"/>
          </a:p>
        </p:txBody>
      </p:sp>
      <p:sp>
        <p:nvSpPr>
          <p:cNvPr id="4141" name="Text Box 45"/>
          <p:cNvSpPr txBox="1">
            <a:spLocks noChangeArrowheads="1"/>
          </p:cNvSpPr>
          <p:nvPr/>
        </p:nvSpPr>
        <p:spPr bwMode="auto">
          <a:xfrm>
            <a:off x="7543800" y="4267200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 dirty="0" smtClean="0"/>
              <a:t>C</a:t>
            </a:r>
            <a:endParaRPr lang="en-US" i="0" dirty="0"/>
          </a:p>
        </p:txBody>
      </p:sp>
      <p:sp>
        <p:nvSpPr>
          <p:cNvPr id="4142" name="Text Box 46"/>
          <p:cNvSpPr txBox="1">
            <a:spLocks noChangeArrowheads="1"/>
          </p:cNvSpPr>
          <p:nvPr/>
        </p:nvSpPr>
        <p:spPr bwMode="auto">
          <a:xfrm>
            <a:off x="7543800" y="3810000"/>
            <a:ext cx="3513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 dirty="0" smtClean="0"/>
              <a:t>D</a:t>
            </a:r>
            <a:endParaRPr lang="en-US" i="0" dirty="0"/>
          </a:p>
        </p:txBody>
      </p:sp>
    </p:spTree>
    <p:extLst>
      <p:ext uri="{BB962C8B-B14F-4D97-AF65-F5344CB8AC3E}">
        <p14:creationId xmlns:p14="http://schemas.microsoft.com/office/powerpoint/2010/main" val="333790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a Stack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/>
              <a:t>W</a:t>
            </a:r>
            <a:r>
              <a:rPr lang="en-US" dirty="0" smtClean="0"/>
              <a:t>ays </a:t>
            </a:r>
            <a:r>
              <a:rPr lang="en-US" dirty="0"/>
              <a:t>to implement a stack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A</a:t>
            </a:r>
            <a:r>
              <a:rPr lang="en-US" dirty="0" smtClean="0"/>
              <a:t>rray</a:t>
            </a:r>
            <a:endParaRPr lang="en-US" dirty="0"/>
          </a:p>
          <a:p>
            <a:pPr lvl="1" algn="just">
              <a:lnSpc>
                <a:spcPct val="90000"/>
              </a:lnSpc>
            </a:pPr>
            <a:r>
              <a:rPr lang="en-US" dirty="0" smtClean="0"/>
              <a:t>Linked </a:t>
            </a:r>
            <a:r>
              <a:rPr lang="en-US" dirty="0"/>
              <a:t>list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Which method to use depends on the application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what advantages and disadvantages does each implementation have?</a:t>
            </a:r>
          </a:p>
        </p:txBody>
      </p:sp>
    </p:spTree>
    <p:extLst>
      <p:ext uri="{BB962C8B-B14F-4D97-AF65-F5344CB8AC3E}">
        <p14:creationId xmlns:p14="http://schemas.microsoft.com/office/powerpoint/2010/main" val="421250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Array Implementation of Stack</a:t>
            </a:r>
            <a:endParaRPr lang="en-IN" dirty="0"/>
          </a:p>
        </p:txBody>
      </p:sp>
      <p:pic>
        <p:nvPicPr>
          <p:cNvPr id="1331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676400"/>
            <a:ext cx="7467600" cy="4248150"/>
          </a:xfrm>
        </p:spPr>
      </p:pic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F7A14B14-083D-49B4-B3FB-FCB1C4524219}" type="slidenum">
              <a:rPr lang="en-US" altLang="en-US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4000" y="4267200"/>
            <a:ext cx="1066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0" y="4343400"/>
            <a:ext cx="1143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600" i="0" dirty="0" smtClean="0"/>
              <a:t>Example :</a:t>
            </a:r>
            <a:endParaRPr lang="en-IN" sz="1600" i="0" dirty="0"/>
          </a:p>
        </p:txBody>
      </p:sp>
    </p:spTree>
    <p:extLst>
      <p:ext uri="{BB962C8B-B14F-4D97-AF65-F5344CB8AC3E}">
        <p14:creationId xmlns:p14="http://schemas.microsoft.com/office/powerpoint/2010/main" val="414548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74638"/>
            <a:ext cx="7620000" cy="792162"/>
          </a:xfrm>
        </p:spPr>
        <p:txBody>
          <a:bodyPr/>
          <a:lstStyle/>
          <a:p>
            <a:r>
              <a:rPr lang="en-US"/>
              <a:t>Implementing Stacks: Array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219200"/>
            <a:ext cx="7543800" cy="4906963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Advantages</a:t>
            </a:r>
          </a:p>
          <a:p>
            <a:pPr lvl="1"/>
            <a:r>
              <a:rPr lang="en-US" sz="2400" dirty="0"/>
              <a:t>B</a:t>
            </a:r>
            <a:r>
              <a:rPr lang="en-US" sz="2400" dirty="0" smtClean="0"/>
              <a:t>est </a:t>
            </a:r>
            <a:r>
              <a:rPr lang="en-US" sz="2400" dirty="0"/>
              <a:t>performance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Disadvantage</a:t>
            </a:r>
          </a:p>
          <a:p>
            <a:pPr lvl="1"/>
            <a:r>
              <a:rPr lang="en-US" sz="2400" dirty="0"/>
              <a:t>F</a:t>
            </a:r>
            <a:r>
              <a:rPr lang="en-US" sz="2400" dirty="0" smtClean="0"/>
              <a:t>ixed </a:t>
            </a:r>
            <a:r>
              <a:rPr lang="en-US" sz="2400" dirty="0"/>
              <a:t>size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Basic implementation</a:t>
            </a:r>
          </a:p>
          <a:p>
            <a:pPr lvl="1"/>
            <a:r>
              <a:rPr lang="en-US" sz="2400" dirty="0"/>
              <a:t>I</a:t>
            </a:r>
            <a:r>
              <a:rPr lang="en-US" sz="2400" dirty="0" smtClean="0"/>
              <a:t>nitially </a:t>
            </a:r>
            <a:r>
              <a:rPr lang="en-US" sz="2400" dirty="0"/>
              <a:t>empty array</a:t>
            </a:r>
          </a:p>
          <a:p>
            <a:pPr lvl="1"/>
            <a:r>
              <a:rPr lang="en-US" sz="2400" dirty="0"/>
              <a:t>F</a:t>
            </a:r>
            <a:r>
              <a:rPr lang="en-US" sz="2400" dirty="0" smtClean="0"/>
              <a:t>ield </a:t>
            </a:r>
            <a:r>
              <a:rPr lang="en-US" sz="2400" dirty="0"/>
              <a:t>to record where the next data gets placed into</a:t>
            </a:r>
          </a:p>
          <a:p>
            <a:pPr lvl="1"/>
            <a:r>
              <a:rPr lang="en-US" sz="2400" dirty="0"/>
              <a:t>if array is </a:t>
            </a:r>
            <a:r>
              <a:rPr lang="en-US" sz="2400" dirty="0" smtClean="0"/>
              <a:t>full(stack Overflow), </a:t>
            </a:r>
            <a:r>
              <a:rPr lang="en-US" sz="2400" dirty="0"/>
              <a:t>push() returns false</a:t>
            </a:r>
          </a:p>
          <a:p>
            <a:pPr lvl="2"/>
            <a:r>
              <a:rPr lang="en-US" sz="2000" dirty="0"/>
              <a:t>otherwise adds it into the correct spot</a:t>
            </a:r>
          </a:p>
          <a:p>
            <a:pPr lvl="1"/>
            <a:r>
              <a:rPr lang="en-US" sz="2400" dirty="0"/>
              <a:t>if array is </a:t>
            </a:r>
            <a:r>
              <a:rPr lang="en-US" sz="2400" dirty="0" smtClean="0"/>
              <a:t>empty(Stack Underflow), </a:t>
            </a:r>
            <a:r>
              <a:rPr lang="en-US" sz="2400" dirty="0"/>
              <a:t>pop() returns null</a:t>
            </a:r>
          </a:p>
          <a:p>
            <a:pPr lvl="2"/>
            <a:r>
              <a:rPr lang="en-US" sz="2000" dirty="0"/>
              <a:t>otherwise removes the next(top) item in the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74638"/>
            <a:ext cx="7467600" cy="792162"/>
          </a:xfrm>
        </p:spPr>
        <p:txBody>
          <a:bodyPr/>
          <a:lstStyle/>
          <a:p>
            <a:r>
              <a:rPr lang="en-US" dirty="0"/>
              <a:t>Stack Class </a:t>
            </a:r>
            <a:r>
              <a:rPr lang="en-US" dirty="0" smtClean="0"/>
              <a:t>(Array </a:t>
            </a:r>
            <a:r>
              <a:rPr lang="en-US" dirty="0"/>
              <a:t>based)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295400"/>
            <a:ext cx="6629400" cy="4983163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/>
              <a:t>Variable top;</a:t>
            </a:r>
          </a:p>
          <a:p>
            <a:pPr>
              <a:buFontTx/>
              <a:buNone/>
            </a:pPr>
            <a:r>
              <a:rPr lang="en-US" sz="2000" dirty="0"/>
              <a:t>Variable MAX;</a:t>
            </a:r>
          </a:p>
          <a:p>
            <a:pPr>
              <a:buFontTx/>
              <a:buNone/>
            </a:pPr>
            <a:r>
              <a:rPr lang="en-US" sz="2000" dirty="0"/>
              <a:t>variable stack[MAX];</a:t>
            </a:r>
          </a:p>
          <a:p>
            <a:pPr>
              <a:buFontTx/>
              <a:buNone/>
            </a:pPr>
            <a:r>
              <a:rPr lang="en-US" sz="2000" dirty="0"/>
              <a:t>     </a:t>
            </a:r>
          </a:p>
          <a:p>
            <a:pPr>
              <a:buFontTx/>
              <a:buNone/>
            </a:pPr>
            <a:r>
              <a:rPr lang="en-US" sz="2000" dirty="0"/>
              <a:t>top=-1; </a:t>
            </a:r>
          </a:p>
          <a:p>
            <a:pPr>
              <a:buFontTx/>
              <a:buNone/>
            </a:pPr>
            <a:r>
              <a:rPr lang="en-US" sz="2000" dirty="0"/>
              <a:t>max=4; </a:t>
            </a:r>
          </a:p>
          <a:p>
            <a:pPr>
              <a:buFontTx/>
              <a:buNone/>
            </a:pPr>
            <a:r>
              <a:rPr lang="en-US" sz="2000" dirty="0" err="1" smtClean="0"/>
              <a:t>Stackfull</a:t>
            </a:r>
            <a:r>
              <a:rPr lang="en-US" sz="2000" dirty="0"/>
              <a:t>()</a:t>
            </a:r>
          </a:p>
          <a:p>
            <a:pPr>
              <a:buFontTx/>
              <a:buNone/>
            </a:pPr>
            <a:r>
              <a:rPr lang="en-US" sz="2000" dirty="0"/>
              <a:t>empty()</a:t>
            </a:r>
          </a:p>
          <a:p>
            <a:pPr>
              <a:buFontTx/>
              <a:buNone/>
            </a:pPr>
            <a:r>
              <a:rPr lang="en-US" sz="2000" dirty="0"/>
              <a:t>push(</a:t>
            </a:r>
            <a:r>
              <a:rPr lang="en-US" sz="2000" dirty="0" err="1"/>
              <a:t>int</a:t>
            </a:r>
            <a:r>
              <a:rPr lang="en-US" sz="2000" dirty="0"/>
              <a:t> value)</a:t>
            </a:r>
          </a:p>
          <a:p>
            <a:pPr>
              <a:buFontTx/>
              <a:buNone/>
            </a:pPr>
            <a:r>
              <a:rPr lang="en-US" sz="2000" dirty="0"/>
              <a:t>pop()</a:t>
            </a:r>
          </a:p>
          <a:p>
            <a:pPr>
              <a:buFontTx/>
              <a:buNone/>
            </a:pPr>
            <a:r>
              <a:rPr lang="en-US" sz="2000" dirty="0"/>
              <a:t>display()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1"/>
          <p:cNvSpPr txBox="1"/>
          <p:nvPr/>
        </p:nvSpPr>
        <p:spPr>
          <a:xfrm>
            <a:off x="3276360" y="152399"/>
            <a:ext cx="3276840" cy="618325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i="0" dirty="0" smtClean="0">
                <a:solidFill>
                  <a:srgbClr val="000000"/>
                </a:solidFill>
                <a:latin typeface="+mn-lt"/>
              </a:rPr>
              <a:t>Push Operation</a:t>
            </a:r>
            <a:endParaRPr sz="2800" b="1" i="0" dirty="0">
              <a:latin typeface="+mn-lt"/>
            </a:endParaRPr>
          </a:p>
        </p:txBody>
      </p:sp>
      <p:sp>
        <p:nvSpPr>
          <p:cNvPr id="215" name="TextShape 2"/>
          <p:cNvSpPr txBox="1"/>
          <p:nvPr/>
        </p:nvSpPr>
        <p:spPr>
          <a:xfrm>
            <a:off x="1273320" y="2057400"/>
            <a:ext cx="7108680" cy="434304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i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void push(element item)</a:t>
            </a:r>
            <a:endParaRPr sz="3200" i="0" dirty="0">
              <a:latin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3200" i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{/* add an item to the global stack */</a:t>
            </a:r>
            <a:endParaRPr sz="3200" i="0" dirty="0">
              <a:latin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3200" i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 </a:t>
            </a:r>
            <a:r>
              <a:rPr lang="en-US" sz="3200" b="1" i="0" dirty="0">
                <a:solidFill>
                  <a:srgbClr val="00B050"/>
                </a:solidFill>
                <a:latin typeface="+mn-lt"/>
                <a:cs typeface="Times New Roman" pitchFamily="18" charset="0"/>
              </a:rPr>
              <a:t>if (top &gt;= MAX_STACK_SIZE - 1</a:t>
            </a:r>
            <a:r>
              <a:rPr lang="en-US" sz="3200" i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)</a:t>
            </a:r>
            <a:endParaRPr sz="3200" i="0" dirty="0">
              <a:latin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3200" i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     </a:t>
            </a:r>
            <a:r>
              <a:rPr lang="en-US" sz="3200" i="0" dirty="0" err="1">
                <a:solidFill>
                  <a:srgbClr val="000000"/>
                </a:solidFill>
                <a:latin typeface="+mn-lt"/>
                <a:cs typeface="Times New Roman" pitchFamily="18" charset="0"/>
              </a:rPr>
              <a:t>StackFull</a:t>
            </a:r>
            <a:r>
              <a:rPr lang="en-US" sz="3200" i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();</a:t>
            </a:r>
            <a:endParaRPr sz="3200" i="0" dirty="0">
              <a:latin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3200" i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 /* add at stack top */</a:t>
            </a:r>
            <a:endParaRPr sz="3200" i="0" dirty="0">
              <a:latin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3200" i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 </a:t>
            </a:r>
            <a:r>
              <a:rPr lang="en-US" sz="3200" i="0" dirty="0">
                <a:solidFill>
                  <a:srgbClr val="00B050"/>
                </a:solidFill>
                <a:latin typeface="+mn-lt"/>
                <a:cs typeface="Times New Roman" pitchFamily="18" charset="0"/>
              </a:rPr>
              <a:t>stack[++top] = item;</a:t>
            </a:r>
            <a:endParaRPr sz="3200" i="0" dirty="0">
              <a:solidFill>
                <a:srgbClr val="00B050"/>
              </a:solidFill>
              <a:latin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3200" i="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}</a:t>
            </a:r>
            <a:endParaRPr sz="3200" i="0" dirty="0">
              <a:latin typeface="+mn-lt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Courier New"/>
              </a:rPr>
              <a:t>   </a:t>
            </a:r>
            <a:endParaRPr dirty="0"/>
          </a:p>
        </p:txBody>
      </p:sp>
      <p:sp>
        <p:nvSpPr>
          <p:cNvPr id="216" name="CustomShape 3"/>
          <p:cNvSpPr/>
          <p:nvPr/>
        </p:nvSpPr>
        <p:spPr>
          <a:xfrm>
            <a:off x="1143000" y="936720"/>
            <a:ext cx="6845040" cy="520200"/>
          </a:xfrm>
          <a:prstGeom prst="rect">
            <a:avLst/>
          </a:prstGeom>
          <a:solidFill>
            <a:srgbClr val="4F81BD"/>
          </a:solidFill>
          <a:ln w="12600">
            <a:solidFill>
              <a:srgbClr val="000000"/>
            </a:solidFill>
            <a:miter/>
          </a:ln>
        </p:spPr>
      </p:sp>
      <p:sp>
        <p:nvSpPr>
          <p:cNvPr id="217" name="Line 4"/>
          <p:cNvSpPr/>
          <p:nvPr/>
        </p:nvSpPr>
        <p:spPr>
          <a:xfrm>
            <a:off x="15937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18" name="Line 5"/>
          <p:cNvSpPr/>
          <p:nvPr/>
        </p:nvSpPr>
        <p:spPr>
          <a:xfrm>
            <a:off x="20509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19" name="Line 6"/>
          <p:cNvSpPr/>
          <p:nvPr/>
        </p:nvSpPr>
        <p:spPr>
          <a:xfrm>
            <a:off x="25081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0" name="Line 7"/>
          <p:cNvSpPr/>
          <p:nvPr/>
        </p:nvSpPr>
        <p:spPr>
          <a:xfrm>
            <a:off x="29653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1" name="Line 8"/>
          <p:cNvSpPr/>
          <p:nvPr/>
        </p:nvSpPr>
        <p:spPr>
          <a:xfrm>
            <a:off x="34225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2" name="Line 9"/>
          <p:cNvSpPr/>
          <p:nvPr/>
        </p:nvSpPr>
        <p:spPr>
          <a:xfrm>
            <a:off x="38797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3" name="Line 10"/>
          <p:cNvSpPr/>
          <p:nvPr/>
        </p:nvSpPr>
        <p:spPr>
          <a:xfrm>
            <a:off x="43369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4" name="Line 11"/>
          <p:cNvSpPr/>
          <p:nvPr/>
        </p:nvSpPr>
        <p:spPr>
          <a:xfrm>
            <a:off x="47941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5" name="Line 12"/>
          <p:cNvSpPr/>
          <p:nvPr/>
        </p:nvSpPr>
        <p:spPr>
          <a:xfrm>
            <a:off x="52513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6" name="Line 13"/>
          <p:cNvSpPr/>
          <p:nvPr/>
        </p:nvSpPr>
        <p:spPr>
          <a:xfrm>
            <a:off x="57085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7" name="Line 14"/>
          <p:cNvSpPr/>
          <p:nvPr/>
        </p:nvSpPr>
        <p:spPr>
          <a:xfrm>
            <a:off x="61657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8" name="Line 15"/>
          <p:cNvSpPr/>
          <p:nvPr/>
        </p:nvSpPr>
        <p:spPr>
          <a:xfrm>
            <a:off x="66229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9" name="Line 16"/>
          <p:cNvSpPr/>
          <p:nvPr/>
        </p:nvSpPr>
        <p:spPr>
          <a:xfrm>
            <a:off x="70801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30" name="Line 17"/>
          <p:cNvSpPr/>
          <p:nvPr/>
        </p:nvSpPr>
        <p:spPr>
          <a:xfrm>
            <a:off x="75373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31" name="CustomShape 18"/>
          <p:cNvSpPr/>
          <p:nvPr/>
        </p:nvSpPr>
        <p:spPr>
          <a:xfrm>
            <a:off x="1273320" y="914400"/>
            <a:ext cx="183960" cy="456840"/>
          </a:xfrm>
          <a:prstGeom prst="rect">
            <a:avLst/>
          </a:prstGeom>
        </p:spPr>
      </p:sp>
      <p:sp>
        <p:nvSpPr>
          <p:cNvPr id="232" name="CustomShape 19"/>
          <p:cNvSpPr/>
          <p:nvPr/>
        </p:nvSpPr>
        <p:spPr>
          <a:xfrm>
            <a:off x="12528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233" name="CustomShape 20"/>
          <p:cNvSpPr/>
          <p:nvPr/>
        </p:nvSpPr>
        <p:spPr>
          <a:xfrm>
            <a:off x="17100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234" name="CustomShape 21"/>
          <p:cNvSpPr/>
          <p:nvPr/>
        </p:nvSpPr>
        <p:spPr>
          <a:xfrm>
            <a:off x="21672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235" name="CustomShape 22"/>
          <p:cNvSpPr/>
          <p:nvPr/>
        </p:nvSpPr>
        <p:spPr>
          <a:xfrm>
            <a:off x="270036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236" name="CustomShape 23"/>
          <p:cNvSpPr/>
          <p:nvPr/>
        </p:nvSpPr>
        <p:spPr>
          <a:xfrm>
            <a:off x="30816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237" name="CustomShape 24"/>
          <p:cNvSpPr/>
          <p:nvPr/>
        </p:nvSpPr>
        <p:spPr>
          <a:xfrm>
            <a:off x="3559320" y="1523880"/>
            <a:ext cx="183960" cy="456840"/>
          </a:xfrm>
          <a:prstGeom prst="rect">
            <a:avLst/>
          </a:prstGeom>
        </p:spPr>
      </p:sp>
      <p:sp>
        <p:nvSpPr>
          <p:cNvPr id="238" name="CustomShape 25"/>
          <p:cNvSpPr/>
          <p:nvPr/>
        </p:nvSpPr>
        <p:spPr>
          <a:xfrm>
            <a:off x="3940200" y="1523880"/>
            <a:ext cx="183960" cy="456840"/>
          </a:xfrm>
          <a:prstGeom prst="rect">
            <a:avLst/>
          </a:prstGeom>
        </p:spPr>
      </p:sp>
      <p:sp>
        <p:nvSpPr>
          <p:cNvPr id="239" name="CustomShape 26"/>
          <p:cNvSpPr/>
          <p:nvPr/>
        </p:nvSpPr>
        <p:spPr>
          <a:xfrm>
            <a:off x="1193040" y="914400"/>
            <a:ext cx="37152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a</a:t>
            </a:r>
            <a:endParaRPr/>
          </a:p>
        </p:txBody>
      </p:sp>
      <p:sp>
        <p:nvSpPr>
          <p:cNvPr id="240" name="CustomShape 27"/>
          <p:cNvSpPr/>
          <p:nvPr/>
        </p:nvSpPr>
        <p:spPr>
          <a:xfrm>
            <a:off x="1656000" y="91440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b</a:t>
            </a:r>
            <a:endParaRPr/>
          </a:p>
        </p:txBody>
      </p:sp>
      <p:sp>
        <p:nvSpPr>
          <p:cNvPr id="241" name="CustomShape 28"/>
          <p:cNvSpPr/>
          <p:nvPr/>
        </p:nvSpPr>
        <p:spPr>
          <a:xfrm>
            <a:off x="2117160" y="914400"/>
            <a:ext cx="35172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c</a:t>
            </a:r>
            <a:endParaRPr dirty="0"/>
          </a:p>
        </p:txBody>
      </p:sp>
      <p:sp>
        <p:nvSpPr>
          <p:cNvPr id="242" name="CustomShape 29"/>
          <p:cNvSpPr/>
          <p:nvPr/>
        </p:nvSpPr>
        <p:spPr>
          <a:xfrm>
            <a:off x="2570400" y="91440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d</a:t>
            </a:r>
            <a:endParaRPr/>
          </a:p>
        </p:txBody>
      </p:sp>
      <p:sp>
        <p:nvSpPr>
          <p:cNvPr id="243" name="CustomShape 30"/>
          <p:cNvSpPr/>
          <p:nvPr/>
        </p:nvSpPr>
        <p:spPr>
          <a:xfrm>
            <a:off x="3021840" y="914400"/>
            <a:ext cx="37152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e</a:t>
            </a:r>
            <a:endParaRPr/>
          </a:p>
        </p:txBody>
      </p:sp>
      <p:sp>
        <p:nvSpPr>
          <p:cNvPr id="244" name="Line 31"/>
          <p:cNvSpPr/>
          <p:nvPr/>
        </p:nvSpPr>
        <p:spPr>
          <a:xfrm>
            <a:off x="3276360" y="1447560"/>
            <a:ext cx="457200" cy="304920"/>
          </a:xfrm>
          <a:prstGeom prst="line">
            <a:avLst/>
          </a:prstGeom>
          <a:ln w="38160">
            <a:solidFill>
              <a:srgbClr val="000000"/>
            </a:solidFill>
            <a:round/>
            <a:headEnd type="triangle" w="med" len="med"/>
          </a:ln>
        </p:spPr>
      </p:sp>
      <p:sp>
        <p:nvSpPr>
          <p:cNvPr id="245" name="CustomShape 32"/>
          <p:cNvSpPr/>
          <p:nvPr/>
        </p:nvSpPr>
        <p:spPr>
          <a:xfrm>
            <a:off x="3809880" y="1447920"/>
            <a:ext cx="198072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Calibri"/>
              </a:rPr>
              <a:t>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888695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1"/>
          <p:cNvSpPr txBox="1"/>
          <p:nvPr/>
        </p:nvSpPr>
        <p:spPr>
          <a:xfrm>
            <a:off x="3276360" y="152399"/>
            <a:ext cx="3276840" cy="618325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i="0" dirty="0" smtClean="0">
                <a:solidFill>
                  <a:srgbClr val="000000"/>
                </a:solidFill>
                <a:latin typeface="+mn-lt"/>
              </a:rPr>
              <a:t>Pop Operation</a:t>
            </a:r>
            <a:endParaRPr sz="2800" b="1" i="0" dirty="0">
              <a:latin typeface="+mn-lt"/>
            </a:endParaRPr>
          </a:p>
        </p:txBody>
      </p:sp>
      <p:sp>
        <p:nvSpPr>
          <p:cNvPr id="215" name="TextShape 2"/>
          <p:cNvSpPr txBox="1"/>
          <p:nvPr/>
        </p:nvSpPr>
        <p:spPr>
          <a:xfrm>
            <a:off x="1273320" y="2286000"/>
            <a:ext cx="7108680" cy="3276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800" i="0" dirty="0" smtClean="0">
                <a:solidFill>
                  <a:srgbClr val="000000"/>
                </a:solidFill>
                <a:latin typeface="+mn-lt"/>
              </a:rPr>
              <a:t>Void </a:t>
            </a:r>
            <a:r>
              <a:rPr lang="en-GB" sz="2800" i="0" dirty="0">
                <a:solidFill>
                  <a:srgbClr val="000000"/>
                </a:solidFill>
                <a:latin typeface="+mn-lt"/>
              </a:rPr>
              <a:t>pop()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 smtClean="0">
                <a:solidFill>
                  <a:srgbClr val="000000"/>
                </a:solidFill>
                <a:latin typeface="+mn-lt"/>
              </a:rPr>
              <a:t>{ /* Deletes an item from the stack*/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>
                <a:solidFill>
                  <a:srgbClr val="000000"/>
                </a:solidFill>
                <a:latin typeface="+mn-lt"/>
              </a:rPr>
              <a:t>   if (top == -1)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>
                <a:solidFill>
                  <a:srgbClr val="000000"/>
                </a:solidFill>
                <a:latin typeface="+mn-lt"/>
              </a:rPr>
              <a:t>       return </a:t>
            </a:r>
            <a:r>
              <a:rPr lang="en-GB" sz="2800" i="0" dirty="0" smtClean="0">
                <a:solidFill>
                  <a:srgbClr val="000000"/>
                </a:solidFill>
                <a:latin typeface="+mn-lt"/>
              </a:rPr>
              <a:t>StackEmpty</a:t>
            </a:r>
            <a:r>
              <a:rPr lang="en-GB" sz="2800" i="0" dirty="0">
                <a:solidFill>
                  <a:srgbClr val="000000"/>
                </a:solidFill>
                <a:latin typeface="+mn-lt"/>
              </a:rPr>
              <a:t>();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>
                <a:solidFill>
                  <a:srgbClr val="000000"/>
                </a:solidFill>
                <a:latin typeface="+mn-lt"/>
              </a:rPr>
              <a:t>   return </a:t>
            </a:r>
            <a:r>
              <a:rPr lang="en-GB" sz="2800" i="0" dirty="0" smtClean="0">
                <a:solidFill>
                  <a:srgbClr val="000000"/>
                </a:solidFill>
                <a:latin typeface="+mn-lt"/>
              </a:rPr>
              <a:t>stack[top-</a:t>
            </a:r>
            <a:r>
              <a:rPr lang="en-GB" sz="2800" i="0" dirty="0">
                <a:solidFill>
                  <a:srgbClr val="000000"/>
                </a:solidFill>
                <a:latin typeface="+mn-lt"/>
              </a:rPr>
              <a:t>-];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>
                <a:solidFill>
                  <a:srgbClr val="000000"/>
                </a:solidFill>
                <a:latin typeface="+mn-lt"/>
              </a:rPr>
              <a:t>} 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US" sz="2800" i="0" dirty="0" smtClean="0">
                <a:solidFill>
                  <a:srgbClr val="000000"/>
                </a:solidFill>
                <a:latin typeface="+mn-lt"/>
              </a:rPr>
              <a:t>   </a:t>
            </a:r>
            <a:endParaRPr sz="2800" i="0" dirty="0">
              <a:latin typeface="+mn-lt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1143000" y="936720"/>
            <a:ext cx="6845040" cy="520200"/>
          </a:xfrm>
          <a:prstGeom prst="rect">
            <a:avLst/>
          </a:prstGeom>
          <a:solidFill>
            <a:srgbClr val="4F81BD"/>
          </a:solidFill>
          <a:ln w="12600">
            <a:solidFill>
              <a:srgbClr val="000000"/>
            </a:solidFill>
            <a:miter/>
          </a:ln>
        </p:spPr>
      </p:sp>
      <p:sp>
        <p:nvSpPr>
          <p:cNvPr id="217" name="Line 4"/>
          <p:cNvSpPr/>
          <p:nvPr/>
        </p:nvSpPr>
        <p:spPr>
          <a:xfrm>
            <a:off x="15937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18" name="Line 5"/>
          <p:cNvSpPr/>
          <p:nvPr/>
        </p:nvSpPr>
        <p:spPr>
          <a:xfrm>
            <a:off x="20509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19" name="Line 6"/>
          <p:cNvSpPr/>
          <p:nvPr/>
        </p:nvSpPr>
        <p:spPr>
          <a:xfrm>
            <a:off x="25081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0" name="Line 7"/>
          <p:cNvSpPr/>
          <p:nvPr/>
        </p:nvSpPr>
        <p:spPr>
          <a:xfrm>
            <a:off x="29653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1" name="Line 8"/>
          <p:cNvSpPr/>
          <p:nvPr/>
        </p:nvSpPr>
        <p:spPr>
          <a:xfrm>
            <a:off x="34225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2" name="Line 9"/>
          <p:cNvSpPr/>
          <p:nvPr/>
        </p:nvSpPr>
        <p:spPr>
          <a:xfrm>
            <a:off x="38797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3" name="Line 10"/>
          <p:cNvSpPr/>
          <p:nvPr/>
        </p:nvSpPr>
        <p:spPr>
          <a:xfrm>
            <a:off x="43369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4" name="Line 11"/>
          <p:cNvSpPr/>
          <p:nvPr/>
        </p:nvSpPr>
        <p:spPr>
          <a:xfrm>
            <a:off x="47941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5" name="Line 12"/>
          <p:cNvSpPr/>
          <p:nvPr/>
        </p:nvSpPr>
        <p:spPr>
          <a:xfrm>
            <a:off x="52513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6" name="Line 13"/>
          <p:cNvSpPr/>
          <p:nvPr/>
        </p:nvSpPr>
        <p:spPr>
          <a:xfrm>
            <a:off x="57085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7" name="Line 14"/>
          <p:cNvSpPr/>
          <p:nvPr/>
        </p:nvSpPr>
        <p:spPr>
          <a:xfrm>
            <a:off x="61657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8" name="Line 15"/>
          <p:cNvSpPr/>
          <p:nvPr/>
        </p:nvSpPr>
        <p:spPr>
          <a:xfrm>
            <a:off x="66229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9" name="Line 16"/>
          <p:cNvSpPr/>
          <p:nvPr/>
        </p:nvSpPr>
        <p:spPr>
          <a:xfrm>
            <a:off x="70801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30" name="Line 17"/>
          <p:cNvSpPr/>
          <p:nvPr/>
        </p:nvSpPr>
        <p:spPr>
          <a:xfrm>
            <a:off x="75373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31" name="CustomShape 18"/>
          <p:cNvSpPr/>
          <p:nvPr/>
        </p:nvSpPr>
        <p:spPr>
          <a:xfrm>
            <a:off x="1273320" y="914400"/>
            <a:ext cx="183960" cy="456840"/>
          </a:xfrm>
          <a:prstGeom prst="rect">
            <a:avLst/>
          </a:prstGeom>
        </p:spPr>
      </p:sp>
      <p:sp>
        <p:nvSpPr>
          <p:cNvPr id="232" name="CustomShape 19"/>
          <p:cNvSpPr/>
          <p:nvPr/>
        </p:nvSpPr>
        <p:spPr>
          <a:xfrm>
            <a:off x="12528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233" name="CustomShape 20"/>
          <p:cNvSpPr/>
          <p:nvPr/>
        </p:nvSpPr>
        <p:spPr>
          <a:xfrm>
            <a:off x="17100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234" name="CustomShape 21"/>
          <p:cNvSpPr/>
          <p:nvPr/>
        </p:nvSpPr>
        <p:spPr>
          <a:xfrm>
            <a:off x="21672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235" name="CustomShape 22"/>
          <p:cNvSpPr/>
          <p:nvPr/>
        </p:nvSpPr>
        <p:spPr>
          <a:xfrm>
            <a:off x="270036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236" name="CustomShape 23"/>
          <p:cNvSpPr/>
          <p:nvPr/>
        </p:nvSpPr>
        <p:spPr>
          <a:xfrm>
            <a:off x="30816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237" name="CustomShape 24"/>
          <p:cNvSpPr/>
          <p:nvPr/>
        </p:nvSpPr>
        <p:spPr>
          <a:xfrm>
            <a:off x="3559320" y="1523880"/>
            <a:ext cx="183960" cy="456840"/>
          </a:xfrm>
          <a:prstGeom prst="rect">
            <a:avLst/>
          </a:prstGeom>
        </p:spPr>
      </p:sp>
      <p:sp>
        <p:nvSpPr>
          <p:cNvPr id="238" name="CustomShape 25"/>
          <p:cNvSpPr/>
          <p:nvPr/>
        </p:nvSpPr>
        <p:spPr>
          <a:xfrm>
            <a:off x="3940200" y="1523880"/>
            <a:ext cx="183960" cy="456840"/>
          </a:xfrm>
          <a:prstGeom prst="rect">
            <a:avLst/>
          </a:prstGeom>
        </p:spPr>
      </p:sp>
      <p:sp>
        <p:nvSpPr>
          <p:cNvPr id="239" name="CustomShape 26"/>
          <p:cNvSpPr/>
          <p:nvPr/>
        </p:nvSpPr>
        <p:spPr>
          <a:xfrm>
            <a:off x="1193040" y="914400"/>
            <a:ext cx="37152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a</a:t>
            </a:r>
            <a:endParaRPr/>
          </a:p>
        </p:txBody>
      </p:sp>
      <p:sp>
        <p:nvSpPr>
          <p:cNvPr id="240" name="CustomShape 27"/>
          <p:cNvSpPr/>
          <p:nvPr/>
        </p:nvSpPr>
        <p:spPr>
          <a:xfrm>
            <a:off x="1656000" y="91440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b</a:t>
            </a:r>
            <a:endParaRPr/>
          </a:p>
        </p:txBody>
      </p:sp>
      <p:sp>
        <p:nvSpPr>
          <p:cNvPr id="241" name="CustomShape 28"/>
          <p:cNvSpPr/>
          <p:nvPr/>
        </p:nvSpPr>
        <p:spPr>
          <a:xfrm>
            <a:off x="2117160" y="914400"/>
            <a:ext cx="35172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c</a:t>
            </a:r>
            <a:endParaRPr dirty="0"/>
          </a:p>
        </p:txBody>
      </p:sp>
      <p:sp>
        <p:nvSpPr>
          <p:cNvPr id="242" name="CustomShape 29"/>
          <p:cNvSpPr/>
          <p:nvPr/>
        </p:nvSpPr>
        <p:spPr>
          <a:xfrm>
            <a:off x="2570400" y="91440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d</a:t>
            </a:r>
            <a:endParaRPr/>
          </a:p>
        </p:txBody>
      </p:sp>
      <p:sp>
        <p:nvSpPr>
          <p:cNvPr id="243" name="CustomShape 30"/>
          <p:cNvSpPr/>
          <p:nvPr/>
        </p:nvSpPr>
        <p:spPr>
          <a:xfrm>
            <a:off x="3021840" y="914400"/>
            <a:ext cx="37152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e</a:t>
            </a:r>
            <a:endParaRPr/>
          </a:p>
        </p:txBody>
      </p:sp>
      <p:sp>
        <p:nvSpPr>
          <p:cNvPr id="244" name="Line 31"/>
          <p:cNvSpPr/>
          <p:nvPr/>
        </p:nvSpPr>
        <p:spPr>
          <a:xfrm>
            <a:off x="3276360" y="1447560"/>
            <a:ext cx="457200" cy="304920"/>
          </a:xfrm>
          <a:prstGeom prst="line">
            <a:avLst/>
          </a:prstGeom>
          <a:ln w="38160">
            <a:solidFill>
              <a:srgbClr val="000000"/>
            </a:solidFill>
            <a:round/>
            <a:headEnd type="triangle" w="med" len="med"/>
          </a:ln>
        </p:spPr>
      </p:sp>
      <p:sp>
        <p:nvSpPr>
          <p:cNvPr id="245" name="CustomShape 32"/>
          <p:cNvSpPr/>
          <p:nvPr/>
        </p:nvSpPr>
        <p:spPr>
          <a:xfrm>
            <a:off x="3809880" y="1447920"/>
            <a:ext cx="198072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Calibri"/>
              </a:rPr>
              <a:t>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416841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1"/>
          <p:cNvSpPr txBox="1"/>
          <p:nvPr/>
        </p:nvSpPr>
        <p:spPr>
          <a:xfrm>
            <a:off x="3276360" y="152399"/>
            <a:ext cx="3276840" cy="618325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2800" b="1" i="0" dirty="0" smtClean="0">
                <a:solidFill>
                  <a:srgbClr val="000000"/>
                </a:solidFill>
                <a:latin typeface="+mn-lt"/>
              </a:rPr>
              <a:t>Peek Operation</a:t>
            </a:r>
            <a:endParaRPr sz="2800" b="1" i="0" dirty="0">
              <a:latin typeface="+mn-lt"/>
            </a:endParaRPr>
          </a:p>
        </p:txBody>
      </p:sp>
      <p:sp>
        <p:nvSpPr>
          <p:cNvPr id="215" name="TextShape 2"/>
          <p:cNvSpPr txBox="1"/>
          <p:nvPr/>
        </p:nvSpPr>
        <p:spPr>
          <a:xfrm>
            <a:off x="1273320" y="2286000"/>
            <a:ext cx="7108680" cy="3276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800" i="0" dirty="0" smtClean="0">
                <a:solidFill>
                  <a:srgbClr val="000000"/>
                </a:solidFill>
                <a:latin typeface="+mn-lt"/>
              </a:rPr>
              <a:t>Void peek()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 smtClean="0">
                <a:solidFill>
                  <a:srgbClr val="000000"/>
                </a:solidFill>
                <a:latin typeface="+mn-lt"/>
              </a:rPr>
              <a:t>{ /* returns the top item from the stack*/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>
                <a:solidFill>
                  <a:srgbClr val="000000"/>
                </a:solidFill>
                <a:latin typeface="+mn-lt"/>
              </a:rPr>
              <a:t>   if (top == -1)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>
                <a:solidFill>
                  <a:srgbClr val="000000"/>
                </a:solidFill>
                <a:latin typeface="+mn-lt"/>
              </a:rPr>
              <a:t>       return </a:t>
            </a:r>
            <a:r>
              <a:rPr lang="en-GB" sz="2800" i="0" dirty="0" smtClean="0">
                <a:solidFill>
                  <a:srgbClr val="000000"/>
                </a:solidFill>
                <a:latin typeface="+mn-lt"/>
              </a:rPr>
              <a:t>StackEmpty</a:t>
            </a:r>
            <a:r>
              <a:rPr lang="en-GB" sz="2800" i="0" dirty="0">
                <a:solidFill>
                  <a:srgbClr val="000000"/>
                </a:solidFill>
                <a:latin typeface="+mn-lt"/>
              </a:rPr>
              <a:t>();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>
                <a:solidFill>
                  <a:srgbClr val="000000"/>
                </a:solidFill>
                <a:latin typeface="+mn-lt"/>
              </a:rPr>
              <a:t>   return </a:t>
            </a:r>
            <a:r>
              <a:rPr lang="en-GB" sz="2800" i="0" dirty="0" smtClean="0">
                <a:solidFill>
                  <a:srgbClr val="000000"/>
                </a:solidFill>
                <a:latin typeface="+mn-lt"/>
              </a:rPr>
              <a:t>stack[top];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GB" sz="2800" i="0" dirty="0">
                <a:solidFill>
                  <a:srgbClr val="000000"/>
                </a:solidFill>
                <a:latin typeface="+mn-lt"/>
              </a:rPr>
              <a:t>} </a:t>
            </a:r>
            <a:endParaRPr lang="en-GB" sz="2800" i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US" sz="2800" i="0" dirty="0" smtClean="0">
                <a:solidFill>
                  <a:srgbClr val="000000"/>
                </a:solidFill>
                <a:latin typeface="+mn-lt"/>
              </a:rPr>
              <a:t>   </a:t>
            </a:r>
            <a:endParaRPr sz="2800" i="0" dirty="0">
              <a:latin typeface="+mn-lt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1143000" y="936720"/>
            <a:ext cx="6845040" cy="520200"/>
          </a:xfrm>
          <a:prstGeom prst="rect">
            <a:avLst/>
          </a:prstGeom>
          <a:solidFill>
            <a:srgbClr val="4F81BD"/>
          </a:solidFill>
          <a:ln w="12600">
            <a:solidFill>
              <a:srgbClr val="000000"/>
            </a:solidFill>
            <a:miter/>
          </a:ln>
        </p:spPr>
      </p:sp>
      <p:sp>
        <p:nvSpPr>
          <p:cNvPr id="217" name="Line 4"/>
          <p:cNvSpPr/>
          <p:nvPr/>
        </p:nvSpPr>
        <p:spPr>
          <a:xfrm>
            <a:off x="15937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18" name="Line 5"/>
          <p:cNvSpPr/>
          <p:nvPr/>
        </p:nvSpPr>
        <p:spPr>
          <a:xfrm>
            <a:off x="20509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19" name="Line 6"/>
          <p:cNvSpPr/>
          <p:nvPr/>
        </p:nvSpPr>
        <p:spPr>
          <a:xfrm>
            <a:off x="25081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0" name="Line 7"/>
          <p:cNvSpPr/>
          <p:nvPr/>
        </p:nvSpPr>
        <p:spPr>
          <a:xfrm>
            <a:off x="29653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1" name="Line 8"/>
          <p:cNvSpPr/>
          <p:nvPr/>
        </p:nvSpPr>
        <p:spPr>
          <a:xfrm>
            <a:off x="34225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2" name="Line 9"/>
          <p:cNvSpPr/>
          <p:nvPr/>
        </p:nvSpPr>
        <p:spPr>
          <a:xfrm>
            <a:off x="38797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3" name="Line 10"/>
          <p:cNvSpPr/>
          <p:nvPr/>
        </p:nvSpPr>
        <p:spPr>
          <a:xfrm>
            <a:off x="43369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4" name="Line 11"/>
          <p:cNvSpPr/>
          <p:nvPr/>
        </p:nvSpPr>
        <p:spPr>
          <a:xfrm>
            <a:off x="47941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5" name="Line 12"/>
          <p:cNvSpPr/>
          <p:nvPr/>
        </p:nvSpPr>
        <p:spPr>
          <a:xfrm>
            <a:off x="52513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6" name="Line 13"/>
          <p:cNvSpPr/>
          <p:nvPr/>
        </p:nvSpPr>
        <p:spPr>
          <a:xfrm>
            <a:off x="57085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7" name="Line 14"/>
          <p:cNvSpPr/>
          <p:nvPr/>
        </p:nvSpPr>
        <p:spPr>
          <a:xfrm>
            <a:off x="61657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8" name="Line 15"/>
          <p:cNvSpPr/>
          <p:nvPr/>
        </p:nvSpPr>
        <p:spPr>
          <a:xfrm>
            <a:off x="66229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29" name="Line 16"/>
          <p:cNvSpPr/>
          <p:nvPr/>
        </p:nvSpPr>
        <p:spPr>
          <a:xfrm>
            <a:off x="70801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30" name="Line 17"/>
          <p:cNvSpPr/>
          <p:nvPr/>
        </p:nvSpPr>
        <p:spPr>
          <a:xfrm>
            <a:off x="7537320" y="930240"/>
            <a:ext cx="0" cy="533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231" name="CustomShape 18"/>
          <p:cNvSpPr/>
          <p:nvPr/>
        </p:nvSpPr>
        <p:spPr>
          <a:xfrm>
            <a:off x="1273320" y="914400"/>
            <a:ext cx="183960" cy="456840"/>
          </a:xfrm>
          <a:prstGeom prst="rect">
            <a:avLst/>
          </a:prstGeom>
        </p:spPr>
      </p:sp>
      <p:sp>
        <p:nvSpPr>
          <p:cNvPr id="232" name="CustomShape 19"/>
          <p:cNvSpPr/>
          <p:nvPr/>
        </p:nvSpPr>
        <p:spPr>
          <a:xfrm>
            <a:off x="12528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0</a:t>
            </a:r>
            <a:endParaRPr/>
          </a:p>
        </p:txBody>
      </p:sp>
      <p:sp>
        <p:nvSpPr>
          <p:cNvPr id="233" name="CustomShape 20"/>
          <p:cNvSpPr/>
          <p:nvPr/>
        </p:nvSpPr>
        <p:spPr>
          <a:xfrm>
            <a:off x="17100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234" name="CustomShape 21"/>
          <p:cNvSpPr/>
          <p:nvPr/>
        </p:nvSpPr>
        <p:spPr>
          <a:xfrm>
            <a:off x="21672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235" name="CustomShape 22"/>
          <p:cNvSpPr/>
          <p:nvPr/>
        </p:nvSpPr>
        <p:spPr>
          <a:xfrm>
            <a:off x="270036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236" name="CustomShape 23"/>
          <p:cNvSpPr/>
          <p:nvPr/>
        </p:nvSpPr>
        <p:spPr>
          <a:xfrm>
            <a:off x="3081600" y="152388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237" name="CustomShape 24"/>
          <p:cNvSpPr/>
          <p:nvPr/>
        </p:nvSpPr>
        <p:spPr>
          <a:xfrm>
            <a:off x="3559320" y="1523880"/>
            <a:ext cx="183960" cy="456840"/>
          </a:xfrm>
          <a:prstGeom prst="rect">
            <a:avLst/>
          </a:prstGeom>
        </p:spPr>
      </p:sp>
      <p:sp>
        <p:nvSpPr>
          <p:cNvPr id="238" name="CustomShape 25"/>
          <p:cNvSpPr/>
          <p:nvPr/>
        </p:nvSpPr>
        <p:spPr>
          <a:xfrm>
            <a:off x="3940200" y="1523880"/>
            <a:ext cx="183960" cy="456840"/>
          </a:xfrm>
          <a:prstGeom prst="rect">
            <a:avLst/>
          </a:prstGeom>
        </p:spPr>
      </p:sp>
      <p:sp>
        <p:nvSpPr>
          <p:cNvPr id="239" name="CustomShape 26"/>
          <p:cNvSpPr/>
          <p:nvPr/>
        </p:nvSpPr>
        <p:spPr>
          <a:xfrm>
            <a:off x="1193040" y="914400"/>
            <a:ext cx="37152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a</a:t>
            </a:r>
            <a:endParaRPr/>
          </a:p>
        </p:txBody>
      </p:sp>
      <p:sp>
        <p:nvSpPr>
          <p:cNvPr id="240" name="CustomShape 27"/>
          <p:cNvSpPr/>
          <p:nvPr/>
        </p:nvSpPr>
        <p:spPr>
          <a:xfrm>
            <a:off x="1656000" y="91440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b</a:t>
            </a:r>
            <a:endParaRPr/>
          </a:p>
        </p:txBody>
      </p:sp>
      <p:sp>
        <p:nvSpPr>
          <p:cNvPr id="241" name="CustomShape 28"/>
          <p:cNvSpPr/>
          <p:nvPr/>
        </p:nvSpPr>
        <p:spPr>
          <a:xfrm>
            <a:off x="2117160" y="914400"/>
            <a:ext cx="35172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c</a:t>
            </a:r>
            <a:endParaRPr dirty="0"/>
          </a:p>
        </p:txBody>
      </p:sp>
      <p:sp>
        <p:nvSpPr>
          <p:cNvPr id="242" name="CustomShape 29"/>
          <p:cNvSpPr/>
          <p:nvPr/>
        </p:nvSpPr>
        <p:spPr>
          <a:xfrm>
            <a:off x="2570400" y="914400"/>
            <a:ext cx="37764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d</a:t>
            </a:r>
            <a:endParaRPr/>
          </a:p>
        </p:txBody>
      </p:sp>
      <p:sp>
        <p:nvSpPr>
          <p:cNvPr id="243" name="CustomShape 30"/>
          <p:cNvSpPr/>
          <p:nvPr/>
        </p:nvSpPr>
        <p:spPr>
          <a:xfrm>
            <a:off x="3021840" y="914400"/>
            <a:ext cx="371520" cy="457560"/>
          </a:xfrm>
          <a:prstGeom prst="rect">
            <a:avLst/>
          </a:prstGeom>
        </p:spPr>
        <p:txBody>
          <a:bodyPr wrap="none" lIns="92160" tIns="46080" rIns="92160" bIns="46080"/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alibri"/>
              </a:rPr>
              <a:t>e</a:t>
            </a:r>
            <a:endParaRPr/>
          </a:p>
        </p:txBody>
      </p:sp>
      <p:sp>
        <p:nvSpPr>
          <p:cNvPr id="244" name="Line 31"/>
          <p:cNvSpPr/>
          <p:nvPr/>
        </p:nvSpPr>
        <p:spPr>
          <a:xfrm>
            <a:off x="3276360" y="1447560"/>
            <a:ext cx="457200" cy="304920"/>
          </a:xfrm>
          <a:prstGeom prst="line">
            <a:avLst/>
          </a:prstGeom>
          <a:ln w="38160">
            <a:solidFill>
              <a:srgbClr val="000000"/>
            </a:solidFill>
            <a:round/>
            <a:headEnd type="triangle" w="med" len="med"/>
          </a:ln>
        </p:spPr>
      </p:sp>
      <p:sp>
        <p:nvSpPr>
          <p:cNvPr id="245" name="CustomShape 32"/>
          <p:cNvSpPr/>
          <p:nvPr/>
        </p:nvSpPr>
        <p:spPr>
          <a:xfrm>
            <a:off x="3809880" y="1447920"/>
            <a:ext cx="1980720" cy="3646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Calibri"/>
              </a:rPr>
              <a:t>top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505500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Remaining Methods (array based)</a:t>
            </a:r>
            <a:endParaRPr lang="en-US" sz="4000" i="1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000" dirty="0"/>
              <a:t>bool </a:t>
            </a:r>
            <a:r>
              <a:rPr lang="en-US" sz="2000" dirty="0" err="1" smtClean="0"/>
              <a:t>Stackempty</a:t>
            </a:r>
            <a:r>
              <a:rPr lang="en-US" sz="2000" dirty="0" smtClean="0"/>
              <a:t>()</a:t>
            </a:r>
          </a:p>
          <a:p>
            <a:pPr>
              <a:buFontTx/>
              <a:buNone/>
            </a:pPr>
            <a:r>
              <a:rPr lang="en-US" sz="2000" dirty="0" smtClean="0"/>
              <a:t>{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       if (top==-1)</a:t>
            </a:r>
          </a:p>
          <a:p>
            <a:pPr>
              <a:buFontTx/>
              <a:buNone/>
            </a:pPr>
            <a:r>
              <a:rPr lang="en-US" sz="2000" dirty="0"/>
              <a:t>                    return true;</a:t>
            </a:r>
          </a:p>
          <a:p>
            <a:pPr>
              <a:buFontTx/>
              <a:buNone/>
            </a:pPr>
            <a:r>
              <a:rPr lang="en-US" sz="2000" dirty="0"/>
              <a:t>                 else</a:t>
            </a:r>
          </a:p>
          <a:p>
            <a:pPr>
              <a:buFontTx/>
              <a:buNone/>
            </a:pPr>
            <a:r>
              <a:rPr lang="en-US" sz="2000" dirty="0"/>
              <a:t>                    return false;</a:t>
            </a:r>
          </a:p>
          <a:p>
            <a:pPr>
              <a:buFontTx/>
              <a:buNone/>
            </a:pPr>
            <a:r>
              <a:rPr lang="en-US" sz="2000" dirty="0"/>
              <a:t>  </a:t>
            </a:r>
            <a:r>
              <a:rPr lang="en-US" sz="2000" dirty="0" smtClean="0"/>
              <a:t> </a:t>
            </a:r>
            <a:r>
              <a:rPr lang="en-US" sz="2000" dirty="0"/>
              <a:t>} </a:t>
            </a:r>
          </a:p>
          <a:p>
            <a:pPr>
              <a:buFontTx/>
              <a:buNone/>
            </a:pP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4724400" y="1447800"/>
            <a:ext cx="3962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None/>
            </a:pPr>
            <a:r>
              <a:rPr lang="en-US" i="0" dirty="0" smtClean="0"/>
              <a:t>Bool </a:t>
            </a:r>
            <a:r>
              <a:rPr lang="en-US" i="0" dirty="0" err="1" smtClean="0"/>
              <a:t>Stackfull</a:t>
            </a:r>
            <a:r>
              <a:rPr lang="en-US" i="0" dirty="0" smtClean="0"/>
              <a:t>() </a:t>
            </a:r>
          </a:p>
          <a:p>
            <a:pPr>
              <a:buFontTx/>
              <a:buNone/>
            </a:pPr>
            <a:r>
              <a:rPr lang="en-US" i="0" dirty="0" smtClean="0"/>
              <a:t>{</a:t>
            </a:r>
            <a:endParaRPr lang="en-US" i="0" dirty="0"/>
          </a:p>
          <a:p>
            <a:pPr>
              <a:buFontTx/>
              <a:buNone/>
            </a:pPr>
            <a:r>
              <a:rPr lang="en-US" i="0" dirty="0"/>
              <a:t>      </a:t>
            </a:r>
            <a:r>
              <a:rPr lang="en-US" i="0" dirty="0" smtClean="0"/>
              <a:t>if </a:t>
            </a:r>
            <a:r>
              <a:rPr lang="en-US" i="0" dirty="0"/>
              <a:t>(top</a:t>
            </a:r>
            <a:r>
              <a:rPr lang="en-US" i="0" dirty="0" smtClean="0"/>
              <a:t>==</a:t>
            </a:r>
            <a:r>
              <a:rPr lang="en-US" b="1" i="0" dirty="0">
                <a:solidFill>
                  <a:srgbClr val="00B050"/>
                </a:solidFill>
                <a:cs typeface="Times New Roman" pitchFamily="18" charset="0"/>
              </a:rPr>
              <a:t> </a:t>
            </a:r>
            <a:r>
              <a:rPr lang="en-US" b="1" i="0" dirty="0" smtClean="0">
                <a:solidFill>
                  <a:srgbClr val="00B050"/>
                </a:solidFill>
                <a:cs typeface="Times New Roman" pitchFamily="18" charset="0"/>
              </a:rPr>
              <a:t>MAX_STACK_SIZE </a:t>
            </a:r>
            <a:r>
              <a:rPr lang="en-US" b="1" i="0" dirty="0">
                <a:solidFill>
                  <a:srgbClr val="00B050"/>
                </a:solidFill>
                <a:cs typeface="Times New Roman" pitchFamily="18" charset="0"/>
              </a:rPr>
              <a:t>- 1</a:t>
            </a:r>
            <a:r>
              <a:rPr lang="en-US" i="0" dirty="0" smtClean="0"/>
              <a:t>)</a:t>
            </a:r>
            <a:endParaRPr lang="en-US" i="0" dirty="0"/>
          </a:p>
          <a:p>
            <a:pPr>
              <a:buFontTx/>
              <a:buNone/>
            </a:pPr>
            <a:r>
              <a:rPr lang="en-US" i="0" dirty="0"/>
              <a:t>                      return true;</a:t>
            </a:r>
          </a:p>
          <a:p>
            <a:pPr>
              <a:buFontTx/>
              <a:buNone/>
            </a:pPr>
            <a:r>
              <a:rPr lang="en-US" i="0" dirty="0"/>
              <a:t>                  else</a:t>
            </a:r>
          </a:p>
          <a:p>
            <a:pPr>
              <a:buFontTx/>
              <a:buNone/>
            </a:pPr>
            <a:r>
              <a:rPr lang="en-US" i="0" dirty="0"/>
              <a:t>                       return false;</a:t>
            </a:r>
          </a:p>
          <a:p>
            <a:pPr>
              <a:buFontTx/>
              <a:buNone/>
            </a:pPr>
            <a:r>
              <a:rPr lang="en-US" i="0" dirty="0"/>
              <a:t> </a:t>
            </a:r>
            <a:r>
              <a:rPr lang="en-US" i="0" dirty="0" smtClean="0"/>
              <a:t>}</a:t>
            </a:r>
          </a:p>
          <a:p>
            <a:pPr>
              <a:buFontTx/>
              <a:buNone/>
            </a:pPr>
            <a:endParaRPr lang="en-US" i="0" dirty="0"/>
          </a:p>
          <a:p>
            <a:pPr>
              <a:buFontTx/>
              <a:buNone/>
            </a:pPr>
            <a:endParaRPr lang="en-IN" i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Remaining Methods (array based)</a:t>
            </a:r>
            <a:endParaRPr lang="en-US" sz="40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void display()</a:t>
            </a:r>
          </a:p>
          <a:p>
            <a:pPr>
              <a:buNone/>
            </a:pPr>
            <a:r>
              <a:rPr lang="en-US" sz="2000" dirty="0"/>
              <a:t>              {</a:t>
            </a:r>
          </a:p>
          <a:p>
            <a:pPr>
              <a:buNone/>
            </a:pPr>
            <a:r>
              <a:rPr lang="en-US" sz="2000" dirty="0"/>
              <a:t>                   if (top==-1)</a:t>
            </a:r>
          </a:p>
          <a:p>
            <a:pPr>
              <a:buNone/>
            </a:pPr>
            <a:r>
              <a:rPr lang="en-US" sz="2000" dirty="0"/>
              <a:t>                      </a:t>
            </a:r>
            <a:r>
              <a:rPr lang="en-GB" sz="2000" dirty="0">
                <a:solidFill>
                  <a:srgbClr val="000000"/>
                </a:solidFill>
              </a:rPr>
              <a:t>return StackEmpty();</a:t>
            </a:r>
            <a:endParaRPr lang="en-GB" sz="2000" dirty="0"/>
          </a:p>
          <a:p>
            <a:pPr>
              <a:buNone/>
            </a:pPr>
            <a:r>
              <a:rPr lang="en-US" sz="2000" dirty="0" smtClean="0"/>
              <a:t>		    else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                   {</a:t>
            </a:r>
          </a:p>
          <a:p>
            <a:pPr>
              <a:buNone/>
            </a:pPr>
            <a:r>
              <a:rPr lang="en-US" sz="2000" dirty="0"/>
              <a:t>                       </a:t>
            </a:r>
            <a:r>
              <a:rPr lang="en-US" sz="2000" dirty="0" err="1"/>
              <a:t>cout</a:t>
            </a:r>
            <a:r>
              <a:rPr lang="en-US" sz="2000" dirty="0"/>
              <a:t>&lt;&lt;"The elements in stack are:";</a:t>
            </a:r>
          </a:p>
          <a:p>
            <a:pPr>
              <a:buNone/>
            </a:pPr>
            <a:r>
              <a:rPr lang="en-US" sz="2000" dirty="0"/>
              <a:t>                       for 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=0;i&lt;=</a:t>
            </a:r>
            <a:r>
              <a:rPr lang="en-US" sz="2000" dirty="0" err="1"/>
              <a:t>top;i</a:t>
            </a:r>
            <a:r>
              <a:rPr lang="en-US" sz="2000" dirty="0"/>
              <a:t>++)</a:t>
            </a:r>
          </a:p>
          <a:p>
            <a:pPr>
              <a:buNone/>
            </a:pPr>
            <a:r>
              <a:rPr lang="en-US" sz="2000" dirty="0"/>
              <a:t>                           </a:t>
            </a:r>
            <a:r>
              <a:rPr lang="en-US" sz="2000" dirty="0" err="1"/>
              <a:t>cout</a:t>
            </a:r>
            <a:r>
              <a:rPr lang="en-US" sz="2000" dirty="0"/>
              <a:t>&lt;&lt;"\n"&lt;&lt;a[</a:t>
            </a:r>
            <a:r>
              <a:rPr lang="en-US" sz="2000" dirty="0" err="1"/>
              <a:t>i</a:t>
            </a:r>
            <a:r>
              <a:rPr lang="en-US" sz="2000" dirty="0"/>
              <a:t>];</a:t>
            </a:r>
          </a:p>
          <a:p>
            <a:pPr>
              <a:buNone/>
            </a:pPr>
            <a:r>
              <a:rPr lang="en-US" sz="2000" dirty="0"/>
              <a:t>                   }</a:t>
            </a:r>
          </a:p>
          <a:p>
            <a:pPr>
              <a:buNone/>
            </a:pPr>
            <a:r>
              <a:rPr lang="en-US" sz="2000" dirty="0"/>
              <a:t>          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96F4A2B-D00E-0BBD-4E18-FFA82CDCAB36}"/>
              </a:ext>
            </a:extLst>
          </p:cNvPr>
          <p:cNvSpPr txBox="1"/>
          <p:nvPr/>
        </p:nvSpPr>
        <p:spPr>
          <a:xfrm>
            <a:off x="1066800" y="76200"/>
            <a:ext cx="78486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i="0" dirty="0">
                <a:latin typeface="+mn-lt"/>
              </a:rPr>
              <a:t>#include&lt;stdio.h&gt;</a:t>
            </a: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#include&lt;conio.h&gt;</a:t>
            </a:r>
          </a:p>
          <a:p>
            <a:pPr marL="0" indent="0">
              <a:buNone/>
            </a:pPr>
            <a:r>
              <a:rPr lang="en-IN" sz="2000" i="0" dirty="0" smtClean="0">
                <a:latin typeface="+mn-lt"/>
              </a:rPr>
              <a:t>#</a:t>
            </a:r>
            <a:r>
              <a:rPr lang="en-IN" sz="2000" i="0" dirty="0">
                <a:latin typeface="+mn-lt"/>
              </a:rPr>
              <a:t>define SIZE </a:t>
            </a:r>
            <a:r>
              <a:rPr lang="en-IN" sz="2000" i="0" dirty="0" smtClean="0">
                <a:latin typeface="+mn-lt"/>
              </a:rPr>
              <a:t>10  // size of the stack</a:t>
            </a:r>
            <a:endParaRPr lang="en-IN" sz="2000" i="0" dirty="0">
              <a:latin typeface="+mn-lt"/>
            </a:endParaRPr>
          </a:p>
          <a:p>
            <a:pPr marL="0" indent="0">
              <a:buNone/>
            </a:pPr>
            <a:endParaRPr lang="en-IN" sz="2000" i="0" dirty="0">
              <a:latin typeface="+mn-lt"/>
            </a:endParaRP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void push(int);</a:t>
            </a: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void pop();</a:t>
            </a: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void display();</a:t>
            </a:r>
          </a:p>
          <a:p>
            <a:pPr marL="0" indent="0">
              <a:buNone/>
            </a:pPr>
            <a:r>
              <a:rPr lang="en-IN" sz="2000" i="0" dirty="0" err="1" smtClean="0">
                <a:latin typeface="+mn-lt"/>
              </a:rPr>
              <a:t>int</a:t>
            </a:r>
            <a:r>
              <a:rPr lang="en-IN" sz="2000" i="0" dirty="0" smtClean="0">
                <a:latin typeface="+mn-lt"/>
              </a:rPr>
              <a:t> </a:t>
            </a:r>
            <a:r>
              <a:rPr lang="en-IN" sz="2000" i="0" dirty="0">
                <a:latin typeface="+mn-lt"/>
              </a:rPr>
              <a:t>stack[SIZE], top = -1;</a:t>
            </a:r>
          </a:p>
          <a:p>
            <a:pPr marL="0" indent="0">
              <a:buNone/>
            </a:pPr>
            <a:endParaRPr lang="en-IN" sz="2000" i="0" dirty="0">
              <a:latin typeface="+mn-lt"/>
            </a:endParaRP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void main()</a:t>
            </a: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{</a:t>
            </a: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   int value, choice;</a:t>
            </a: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   </a:t>
            </a:r>
            <a:r>
              <a:rPr lang="en-IN" sz="2000" i="0" dirty="0" err="1">
                <a:latin typeface="+mn-lt"/>
              </a:rPr>
              <a:t>clrscr</a:t>
            </a:r>
            <a:r>
              <a:rPr lang="en-IN" sz="2000" i="0" dirty="0">
                <a:latin typeface="+mn-lt"/>
              </a:rPr>
              <a:t>();</a:t>
            </a: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   while(1</a:t>
            </a:r>
            <a:r>
              <a:rPr lang="en-IN" sz="2000" i="0" dirty="0" smtClean="0">
                <a:latin typeface="+mn-lt"/>
              </a:rPr>
              <a:t>)</a:t>
            </a:r>
          </a:p>
          <a:p>
            <a:pPr marL="0" indent="0">
              <a:buNone/>
            </a:pPr>
            <a:r>
              <a:rPr lang="en-IN" sz="2000" i="0" dirty="0">
                <a:latin typeface="+mn-lt"/>
              </a:rPr>
              <a:t> </a:t>
            </a:r>
            <a:r>
              <a:rPr lang="en-IN" sz="2000" i="0" dirty="0" smtClean="0">
                <a:latin typeface="+mn-lt"/>
              </a:rPr>
              <a:t>  {</a:t>
            </a:r>
            <a:endParaRPr lang="en-IN" sz="2000" i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i="0" dirty="0">
                <a:latin typeface="+mn-lt"/>
              </a:rPr>
              <a:t>      </a:t>
            </a:r>
            <a:r>
              <a:rPr lang="en-IN" sz="2000" i="0" dirty="0" err="1">
                <a:latin typeface="+mn-lt"/>
              </a:rPr>
              <a:t>printf</a:t>
            </a:r>
            <a:r>
              <a:rPr lang="en-IN" sz="2000" i="0" dirty="0">
                <a:latin typeface="+mn-lt"/>
              </a:rPr>
              <a:t>("\n\n***** MENU *****\n");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i="0" dirty="0">
                <a:latin typeface="+mn-lt"/>
              </a:rPr>
              <a:t>      </a:t>
            </a:r>
            <a:r>
              <a:rPr lang="en-IN" sz="2000" b="1" i="0" dirty="0" err="1">
                <a:solidFill>
                  <a:srgbClr val="00B050"/>
                </a:solidFill>
                <a:latin typeface="+mn-lt"/>
              </a:rPr>
              <a:t>printf</a:t>
            </a:r>
            <a:r>
              <a:rPr lang="en-IN" sz="2000" b="1" i="0" dirty="0">
                <a:solidFill>
                  <a:srgbClr val="00B050"/>
                </a:solidFill>
                <a:latin typeface="+mn-lt"/>
              </a:rPr>
              <a:t>("1. Push\n2. Pop\n3. Display\n4. Exit");</a:t>
            </a:r>
            <a:endParaRPr lang="en-IN" sz="2000" b="1" i="0" u="sng" dirty="0">
              <a:solidFill>
                <a:srgbClr val="00B050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i="0" dirty="0">
                <a:latin typeface="+mn-lt"/>
              </a:rPr>
              <a:t>      </a:t>
            </a:r>
            <a:r>
              <a:rPr lang="en-IN" sz="2000" i="0" dirty="0" err="1">
                <a:latin typeface="+mn-lt"/>
              </a:rPr>
              <a:t>printf</a:t>
            </a:r>
            <a:r>
              <a:rPr lang="en-IN" sz="2000" i="0" dirty="0">
                <a:latin typeface="+mn-lt"/>
              </a:rPr>
              <a:t>("\</a:t>
            </a:r>
            <a:r>
              <a:rPr lang="en-IN" sz="2000" i="0" dirty="0" err="1">
                <a:latin typeface="+mn-lt"/>
              </a:rPr>
              <a:t>nEnter</a:t>
            </a:r>
            <a:r>
              <a:rPr lang="en-IN" sz="2000" i="0" dirty="0">
                <a:latin typeface="+mn-lt"/>
              </a:rPr>
              <a:t> your choice: ");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i="0" dirty="0">
                <a:latin typeface="+mn-lt"/>
              </a:rPr>
              <a:t>      </a:t>
            </a:r>
            <a:r>
              <a:rPr lang="en-IN" sz="2000" i="0" dirty="0" err="1">
                <a:latin typeface="+mn-lt"/>
              </a:rPr>
              <a:t>scanf</a:t>
            </a:r>
            <a:r>
              <a:rPr lang="en-IN" sz="2000" i="0" dirty="0">
                <a:latin typeface="+mn-lt"/>
              </a:rPr>
              <a:t>("%</a:t>
            </a:r>
            <a:r>
              <a:rPr lang="en-IN" sz="2000" i="0" dirty="0" err="1">
                <a:latin typeface="+mn-lt"/>
              </a:rPr>
              <a:t>d",&amp;choice</a:t>
            </a:r>
            <a:r>
              <a:rPr lang="en-IN" sz="2000" i="0" dirty="0">
                <a:latin typeface="+mn-lt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67590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2E34B-CC74-2E8A-6920-578EBA2D23C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95400" y="381000"/>
            <a:ext cx="749808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/>
              <a:t> switch(choice</a:t>
            </a:r>
            <a:r>
              <a:rPr lang="en-IN" sz="1800" dirty="0" smtClean="0"/>
              <a:t>)</a:t>
            </a:r>
          </a:p>
          <a:p>
            <a:pPr marL="0" indent="0">
              <a:buNone/>
            </a:pPr>
            <a:r>
              <a:rPr lang="en-IN" sz="1800" dirty="0" smtClean="0"/>
              <a:t>{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	 case 1: </a:t>
            </a:r>
            <a:r>
              <a:rPr lang="en-IN" sz="1800" dirty="0" smtClean="0"/>
              <a:t>    </a:t>
            </a:r>
            <a:r>
              <a:rPr lang="en-IN" sz="1800" dirty="0" err="1" smtClean="0"/>
              <a:t>printf</a:t>
            </a:r>
            <a:r>
              <a:rPr lang="en-IN" sz="1800" dirty="0"/>
              <a:t>("Enter the value to be insert: ");</a:t>
            </a:r>
          </a:p>
          <a:p>
            <a:pPr marL="0" indent="0">
              <a:buNone/>
            </a:pPr>
            <a:r>
              <a:rPr lang="en-IN" sz="1800" dirty="0"/>
              <a:t>		 </a:t>
            </a:r>
            <a:r>
              <a:rPr lang="en-IN" sz="1800" dirty="0" err="1"/>
              <a:t>scanf</a:t>
            </a:r>
            <a:r>
              <a:rPr lang="en-IN" sz="1800" dirty="0"/>
              <a:t>("%</a:t>
            </a:r>
            <a:r>
              <a:rPr lang="en-IN" sz="1800" dirty="0" err="1"/>
              <a:t>d",&amp;value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		 push(value);</a:t>
            </a:r>
          </a:p>
          <a:p>
            <a:pPr marL="0" indent="0">
              <a:buNone/>
            </a:pPr>
            <a:r>
              <a:rPr lang="en-IN" sz="1800" dirty="0"/>
              <a:t>		 break;</a:t>
            </a:r>
          </a:p>
          <a:p>
            <a:pPr marL="0" indent="0">
              <a:buNone/>
            </a:pPr>
            <a:r>
              <a:rPr lang="en-IN" sz="1800" dirty="0"/>
              <a:t>	 case 2: pop();</a:t>
            </a:r>
          </a:p>
          <a:p>
            <a:pPr marL="0" indent="0">
              <a:buNone/>
            </a:pPr>
            <a:r>
              <a:rPr lang="en-IN" sz="1800" dirty="0"/>
              <a:t>		 break;</a:t>
            </a:r>
          </a:p>
          <a:p>
            <a:pPr marL="0" indent="0">
              <a:buNone/>
            </a:pPr>
            <a:r>
              <a:rPr lang="en-IN" sz="1800" dirty="0"/>
              <a:t>	 case 3: display();</a:t>
            </a:r>
          </a:p>
          <a:p>
            <a:pPr marL="0" indent="0">
              <a:buNone/>
            </a:pPr>
            <a:r>
              <a:rPr lang="en-IN" sz="1800" dirty="0"/>
              <a:t>		 break;</a:t>
            </a:r>
          </a:p>
          <a:p>
            <a:pPr marL="0" indent="0">
              <a:buNone/>
            </a:pPr>
            <a:r>
              <a:rPr lang="en-IN" sz="1800" dirty="0"/>
              <a:t>	 case 4: exit(0);</a:t>
            </a:r>
          </a:p>
          <a:p>
            <a:pPr marL="0" indent="0">
              <a:buNone/>
            </a:pPr>
            <a:r>
              <a:rPr lang="en-IN" sz="1800" dirty="0"/>
              <a:t>	 default: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nWrong</a:t>
            </a:r>
            <a:r>
              <a:rPr lang="en-IN" sz="1800" dirty="0"/>
              <a:t> selection!!! Try again!!!");</a:t>
            </a:r>
          </a:p>
          <a:p>
            <a:pPr marL="0" indent="0">
              <a:buNone/>
            </a:pPr>
            <a:r>
              <a:rPr lang="en-IN" sz="1800" dirty="0"/>
              <a:t>      }</a:t>
            </a:r>
          </a:p>
          <a:p>
            <a:pPr marL="0" indent="0">
              <a:buNone/>
            </a:pPr>
            <a:r>
              <a:rPr lang="en-IN" sz="1800" dirty="0"/>
              <a:t>   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5671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07506E-7891-2747-0869-F5C131A35130}"/>
              </a:ext>
            </a:extLst>
          </p:cNvPr>
          <p:cNvSpPr txBox="1"/>
          <p:nvPr/>
        </p:nvSpPr>
        <p:spPr>
          <a:xfrm>
            <a:off x="1219200" y="152400"/>
            <a:ext cx="77724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i="0" dirty="0">
                <a:latin typeface="+mn-lt"/>
              </a:rPr>
              <a:t>void push(int value</a:t>
            </a:r>
            <a:r>
              <a:rPr lang="en-IN" sz="2400" i="0" dirty="0" smtClean="0">
                <a:latin typeface="+mn-lt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 smtClean="0">
                <a:latin typeface="+mn-lt"/>
              </a:rPr>
              <a:t>{</a:t>
            </a:r>
            <a:endParaRPr lang="en-IN" sz="2400" i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>
                <a:latin typeface="+mn-lt"/>
              </a:rPr>
              <a:t>   if(top == SIZE-1)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>
                <a:latin typeface="+mn-lt"/>
              </a:rPr>
              <a:t>      </a:t>
            </a:r>
            <a:r>
              <a:rPr lang="en-IN" sz="2400" i="0" dirty="0" err="1">
                <a:latin typeface="+mn-lt"/>
              </a:rPr>
              <a:t>printf</a:t>
            </a:r>
            <a:r>
              <a:rPr lang="en-IN" sz="2400" i="0" dirty="0">
                <a:latin typeface="+mn-lt"/>
              </a:rPr>
              <a:t>("\</a:t>
            </a:r>
            <a:r>
              <a:rPr lang="en-IN" sz="2400" i="0" dirty="0" err="1">
                <a:latin typeface="+mn-lt"/>
              </a:rPr>
              <a:t>nStack</a:t>
            </a:r>
            <a:r>
              <a:rPr lang="en-IN" sz="2400" i="0" dirty="0">
                <a:latin typeface="+mn-lt"/>
              </a:rPr>
              <a:t> is Full!!! Insertion is not possible!!!");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>
                <a:latin typeface="+mn-lt"/>
              </a:rPr>
              <a:t>   </a:t>
            </a:r>
            <a:r>
              <a:rPr lang="en-IN" sz="2400" i="0" dirty="0" smtClean="0">
                <a:latin typeface="+mn-lt"/>
              </a:rPr>
              <a:t>else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 smtClean="0">
                <a:latin typeface="+mn-lt"/>
              </a:rPr>
              <a:t>   {</a:t>
            </a:r>
            <a:endParaRPr lang="en-IN" sz="2400" i="0" dirty="0">
              <a:latin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>
                <a:latin typeface="+mn-lt"/>
              </a:rPr>
              <a:t>      top++;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>
                <a:latin typeface="+mn-lt"/>
              </a:rPr>
              <a:t>      stack[top] = value;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>
                <a:latin typeface="+mn-lt"/>
              </a:rPr>
              <a:t>      </a:t>
            </a:r>
            <a:r>
              <a:rPr lang="en-IN" sz="2400" i="0" dirty="0" err="1">
                <a:latin typeface="+mn-lt"/>
              </a:rPr>
              <a:t>printf</a:t>
            </a:r>
            <a:r>
              <a:rPr lang="en-IN" sz="2400" i="0" dirty="0">
                <a:latin typeface="+mn-lt"/>
              </a:rPr>
              <a:t>("\</a:t>
            </a:r>
            <a:r>
              <a:rPr lang="en-IN" sz="2400" i="0" dirty="0" err="1">
                <a:latin typeface="+mn-lt"/>
              </a:rPr>
              <a:t>nInsertion</a:t>
            </a:r>
            <a:r>
              <a:rPr lang="en-IN" sz="2400" i="0" dirty="0">
                <a:latin typeface="+mn-lt"/>
              </a:rPr>
              <a:t> success!!!");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>
                <a:latin typeface="+mn-lt"/>
              </a:rPr>
              <a:t>   </a:t>
            </a:r>
            <a:r>
              <a:rPr lang="en-IN" sz="2400" i="0" dirty="0" smtClean="0">
                <a:latin typeface="+mn-lt"/>
              </a:rPr>
              <a:t>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i="0" dirty="0">
                <a:latin typeface="+mn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694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DAB687-BCBF-89E0-8706-AF756BB74D5A}"/>
              </a:ext>
            </a:extLst>
          </p:cNvPr>
          <p:cNvSpPr txBox="1"/>
          <p:nvPr/>
        </p:nvSpPr>
        <p:spPr>
          <a:xfrm>
            <a:off x="1295400" y="381000"/>
            <a:ext cx="69342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i="0" dirty="0">
                <a:solidFill>
                  <a:srgbClr val="00B050"/>
                </a:solidFill>
                <a:latin typeface="+mn-lt"/>
              </a:rPr>
              <a:t>void pop</a:t>
            </a:r>
            <a:r>
              <a:rPr lang="en-IN" b="1" i="0" dirty="0" smtClean="0">
                <a:solidFill>
                  <a:srgbClr val="00B050"/>
                </a:solidFill>
                <a:latin typeface="+mn-lt"/>
              </a:rPr>
              <a:t>()</a:t>
            </a:r>
          </a:p>
          <a:p>
            <a:pPr marL="0" indent="0">
              <a:buNone/>
            </a:pPr>
            <a:r>
              <a:rPr lang="en-IN" i="0" dirty="0" smtClean="0">
                <a:latin typeface="+mn-lt"/>
              </a:rPr>
              <a:t>{</a:t>
            </a:r>
            <a:endParaRPr lang="en-IN" i="0" dirty="0">
              <a:latin typeface="+mn-lt"/>
            </a:endParaRP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if(top == -1)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   </a:t>
            </a:r>
            <a:r>
              <a:rPr lang="en-IN" i="0" dirty="0" err="1">
                <a:latin typeface="+mn-lt"/>
              </a:rPr>
              <a:t>printf</a:t>
            </a:r>
            <a:r>
              <a:rPr lang="en-IN" i="0" dirty="0">
                <a:latin typeface="+mn-lt"/>
              </a:rPr>
              <a:t>("\</a:t>
            </a:r>
            <a:r>
              <a:rPr lang="en-IN" i="0" dirty="0" err="1">
                <a:latin typeface="+mn-lt"/>
              </a:rPr>
              <a:t>nStack</a:t>
            </a:r>
            <a:r>
              <a:rPr lang="en-IN" i="0" dirty="0">
                <a:latin typeface="+mn-lt"/>
              </a:rPr>
              <a:t> is Empty!!! Deletion is not possible!!!");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</a:t>
            </a:r>
            <a:r>
              <a:rPr lang="en-IN" i="0" dirty="0" smtClean="0">
                <a:latin typeface="+mn-lt"/>
              </a:rPr>
              <a:t>else</a:t>
            </a:r>
          </a:p>
          <a:p>
            <a:pPr marL="0" indent="0">
              <a:buNone/>
            </a:pPr>
            <a:r>
              <a:rPr lang="en-IN" i="0" dirty="0" smtClean="0">
                <a:latin typeface="+mn-lt"/>
              </a:rPr>
              <a:t>   {</a:t>
            </a:r>
            <a:endParaRPr lang="en-IN" i="0" dirty="0">
              <a:latin typeface="+mn-lt"/>
            </a:endParaRP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   </a:t>
            </a:r>
            <a:r>
              <a:rPr lang="en-IN" i="0" dirty="0" err="1">
                <a:latin typeface="+mn-lt"/>
              </a:rPr>
              <a:t>printf</a:t>
            </a:r>
            <a:r>
              <a:rPr lang="en-IN" i="0" dirty="0">
                <a:latin typeface="+mn-lt"/>
              </a:rPr>
              <a:t>("\</a:t>
            </a:r>
            <a:r>
              <a:rPr lang="en-IN" i="0" dirty="0" err="1">
                <a:latin typeface="+mn-lt"/>
              </a:rPr>
              <a:t>nDeleted</a:t>
            </a:r>
            <a:r>
              <a:rPr lang="en-IN" i="0" dirty="0">
                <a:latin typeface="+mn-lt"/>
              </a:rPr>
              <a:t> : %d", stack[top]);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   top--;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}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}</a:t>
            </a:r>
          </a:p>
          <a:p>
            <a:pPr marL="0" indent="0">
              <a:buNone/>
            </a:pPr>
            <a:r>
              <a:rPr lang="en-IN" b="1" i="0" dirty="0" smtClean="0">
                <a:solidFill>
                  <a:srgbClr val="00B050"/>
                </a:solidFill>
                <a:latin typeface="+mn-lt"/>
              </a:rPr>
              <a:t>void </a:t>
            </a:r>
            <a:r>
              <a:rPr lang="en-IN" b="1" i="0" dirty="0">
                <a:solidFill>
                  <a:srgbClr val="00B050"/>
                </a:solidFill>
                <a:latin typeface="+mn-lt"/>
              </a:rPr>
              <a:t>display</a:t>
            </a:r>
            <a:r>
              <a:rPr lang="en-IN" b="1" i="0" dirty="0" smtClean="0">
                <a:solidFill>
                  <a:srgbClr val="00B050"/>
                </a:solidFill>
                <a:latin typeface="+mn-lt"/>
              </a:rPr>
              <a:t>()</a:t>
            </a:r>
          </a:p>
          <a:p>
            <a:pPr marL="0" indent="0">
              <a:buNone/>
            </a:pPr>
            <a:r>
              <a:rPr lang="en-IN" i="0" dirty="0" smtClean="0">
                <a:latin typeface="+mn-lt"/>
              </a:rPr>
              <a:t>{</a:t>
            </a:r>
            <a:endParaRPr lang="en-IN" i="0" dirty="0">
              <a:latin typeface="+mn-lt"/>
            </a:endParaRP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if(top == -1)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   </a:t>
            </a:r>
            <a:r>
              <a:rPr lang="en-IN" i="0" dirty="0" err="1">
                <a:latin typeface="+mn-lt"/>
              </a:rPr>
              <a:t>printf</a:t>
            </a:r>
            <a:r>
              <a:rPr lang="en-IN" i="0" dirty="0">
                <a:latin typeface="+mn-lt"/>
              </a:rPr>
              <a:t>("\</a:t>
            </a:r>
            <a:r>
              <a:rPr lang="en-IN" i="0" dirty="0" err="1">
                <a:latin typeface="+mn-lt"/>
              </a:rPr>
              <a:t>nStack</a:t>
            </a:r>
            <a:r>
              <a:rPr lang="en-IN" i="0" dirty="0">
                <a:latin typeface="+mn-lt"/>
              </a:rPr>
              <a:t> is Empty!!!");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</a:t>
            </a:r>
            <a:r>
              <a:rPr lang="en-IN" i="0" dirty="0" smtClean="0">
                <a:latin typeface="+mn-lt"/>
              </a:rPr>
              <a:t>else</a:t>
            </a:r>
          </a:p>
          <a:p>
            <a:pPr marL="0" indent="0">
              <a:buNone/>
            </a:pPr>
            <a:r>
              <a:rPr lang="en-IN" i="0" dirty="0" smtClean="0">
                <a:latin typeface="+mn-lt"/>
              </a:rPr>
              <a:t>    {</a:t>
            </a:r>
            <a:endParaRPr lang="en-IN" i="0" dirty="0">
              <a:latin typeface="+mn-lt"/>
            </a:endParaRP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   int </a:t>
            </a:r>
            <a:r>
              <a:rPr lang="en-IN" i="0" dirty="0" err="1">
                <a:latin typeface="+mn-lt"/>
              </a:rPr>
              <a:t>i</a:t>
            </a:r>
            <a:r>
              <a:rPr lang="en-IN" i="0" dirty="0">
                <a:latin typeface="+mn-lt"/>
              </a:rPr>
              <a:t>;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   </a:t>
            </a:r>
            <a:r>
              <a:rPr lang="en-IN" i="0" dirty="0" err="1">
                <a:latin typeface="+mn-lt"/>
              </a:rPr>
              <a:t>printf</a:t>
            </a:r>
            <a:r>
              <a:rPr lang="en-IN" i="0" dirty="0">
                <a:latin typeface="+mn-lt"/>
              </a:rPr>
              <a:t>("\</a:t>
            </a:r>
            <a:r>
              <a:rPr lang="en-IN" i="0" dirty="0" err="1">
                <a:latin typeface="+mn-lt"/>
              </a:rPr>
              <a:t>nStack</a:t>
            </a:r>
            <a:r>
              <a:rPr lang="en-IN" i="0" dirty="0">
                <a:latin typeface="+mn-lt"/>
              </a:rPr>
              <a:t> elements are:\n");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     for(</a:t>
            </a:r>
            <a:r>
              <a:rPr lang="en-IN" i="0" dirty="0" err="1">
                <a:latin typeface="+mn-lt"/>
              </a:rPr>
              <a:t>i</a:t>
            </a:r>
            <a:r>
              <a:rPr lang="en-IN" i="0" dirty="0">
                <a:latin typeface="+mn-lt"/>
              </a:rPr>
              <a:t>=top; </a:t>
            </a:r>
            <a:r>
              <a:rPr lang="en-IN" i="0" dirty="0" err="1">
                <a:latin typeface="+mn-lt"/>
              </a:rPr>
              <a:t>i</a:t>
            </a:r>
            <a:r>
              <a:rPr lang="en-IN" i="0" dirty="0">
                <a:latin typeface="+mn-lt"/>
              </a:rPr>
              <a:t>&gt;=0; </a:t>
            </a:r>
            <a:r>
              <a:rPr lang="en-IN" i="0" dirty="0" err="1">
                <a:latin typeface="+mn-lt"/>
              </a:rPr>
              <a:t>i</a:t>
            </a:r>
            <a:r>
              <a:rPr lang="en-IN" i="0" dirty="0">
                <a:latin typeface="+mn-lt"/>
              </a:rPr>
              <a:t>--)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	 </a:t>
            </a:r>
            <a:r>
              <a:rPr lang="en-IN" i="0" dirty="0" err="1">
                <a:latin typeface="+mn-lt"/>
              </a:rPr>
              <a:t>printf</a:t>
            </a:r>
            <a:r>
              <a:rPr lang="en-IN" i="0" dirty="0">
                <a:latin typeface="+mn-lt"/>
              </a:rPr>
              <a:t>("%d\</a:t>
            </a:r>
            <a:r>
              <a:rPr lang="en-IN" i="0" dirty="0" err="1">
                <a:latin typeface="+mn-lt"/>
              </a:rPr>
              <a:t>n",stack</a:t>
            </a:r>
            <a:r>
              <a:rPr lang="en-IN" i="0" dirty="0">
                <a:latin typeface="+mn-lt"/>
              </a:rPr>
              <a:t>[</a:t>
            </a:r>
            <a:r>
              <a:rPr lang="en-IN" i="0" dirty="0" err="1">
                <a:latin typeface="+mn-lt"/>
              </a:rPr>
              <a:t>i</a:t>
            </a:r>
            <a:r>
              <a:rPr lang="en-IN" i="0" dirty="0" smtClean="0">
                <a:latin typeface="+mn-lt"/>
              </a:rPr>
              <a:t>]);</a:t>
            </a:r>
          </a:p>
          <a:p>
            <a:pPr marL="0" indent="0">
              <a:buNone/>
            </a:pPr>
            <a:r>
              <a:rPr lang="en-IN" i="0" dirty="0">
                <a:latin typeface="+mn-lt"/>
              </a:rPr>
              <a:t> </a:t>
            </a:r>
            <a:r>
              <a:rPr lang="en-IN" i="0" dirty="0" smtClean="0">
                <a:latin typeface="+mn-lt"/>
              </a:rPr>
              <a:t>    }</a:t>
            </a:r>
          </a:p>
          <a:p>
            <a:pPr marL="0" indent="0">
              <a:buNone/>
            </a:pPr>
            <a:r>
              <a:rPr lang="en-IN" i="0" dirty="0" smtClean="0">
                <a:latin typeface="+mn-lt"/>
              </a:rPr>
              <a:t>}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319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Stack 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/>
              <a:buChar char="•"/>
            </a:pPr>
            <a:r>
              <a:rPr lang="en-US" sz="2800" dirty="0" smtClean="0">
                <a:solidFill>
                  <a:srgbClr val="00B050"/>
                </a:solidFill>
              </a:rPr>
              <a:t>It is a very </a:t>
            </a:r>
            <a:r>
              <a:rPr lang="en-US" sz="2800" dirty="0">
                <a:solidFill>
                  <a:srgbClr val="00B050"/>
                </a:solidFill>
              </a:rPr>
              <a:t>common data structure</a:t>
            </a:r>
          </a:p>
          <a:p>
            <a:pPr algn="just">
              <a:buFont typeface="Arial"/>
              <a:buChar char="•"/>
            </a:pPr>
            <a:r>
              <a:rPr lang="en-GB" sz="2600" dirty="0" smtClean="0">
                <a:solidFill>
                  <a:srgbClr val="000000"/>
                </a:solidFill>
              </a:rPr>
              <a:t>Stacks </a:t>
            </a:r>
            <a:r>
              <a:rPr lang="en-GB" sz="2600" dirty="0">
                <a:solidFill>
                  <a:srgbClr val="000000"/>
                </a:solidFill>
              </a:rPr>
              <a:t>are used in conversion of infix to postfix expression.</a:t>
            </a:r>
            <a:endParaRPr lang="en-GB" sz="2600" dirty="0"/>
          </a:p>
          <a:p>
            <a:pPr algn="just">
              <a:buFont typeface="Arial"/>
              <a:buChar char="•"/>
            </a:pPr>
            <a:r>
              <a:rPr lang="en-GB" sz="2600" dirty="0" smtClean="0">
                <a:solidFill>
                  <a:srgbClr val="000000"/>
                </a:solidFill>
              </a:rPr>
              <a:t>Stacks </a:t>
            </a:r>
            <a:r>
              <a:rPr lang="en-GB" sz="2600" dirty="0">
                <a:solidFill>
                  <a:srgbClr val="000000"/>
                </a:solidFill>
              </a:rPr>
              <a:t>are also used in evaluation of postfix expression.</a:t>
            </a:r>
            <a:endParaRPr lang="en-GB" sz="2600" dirty="0"/>
          </a:p>
          <a:p>
            <a:pPr algn="just">
              <a:buFont typeface="Arial"/>
              <a:buChar char="•"/>
            </a:pPr>
            <a:r>
              <a:rPr lang="en-GB" sz="2600" dirty="0" smtClean="0">
                <a:solidFill>
                  <a:srgbClr val="000000"/>
                </a:solidFill>
              </a:rPr>
              <a:t>Stacks </a:t>
            </a:r>
            <a:r>
              <a:rPr lang="en-GB" sz="2600" dirty="0">
                <a:solidFill>
                  <a:srgbClr val="000000"/>
                </a:solidFill>
              </a:rPr>
              <a:t>are used to implement recursive </a:t>
            </a:r>
            <a:r>
              <a:rPr lang="en-GB" sz="2600" dirty="0" smtClean="0">
                <a:solidFill>
                  <a:srgbClr val="000000"/>
                </a:solidFill>
              </a:rPr>
              <a:t>procedures (</a:t>
            </a:r>
            <a:r>
              <a:rPr lang="en-GB" sz="2600" dirty="0" err="1" smtClean="0">
                <a:solidFill>
                  <a:srgbClr val="000000"/>
                </a:solidFill>
              </a:rPr>
              <a:t>eg</a:t>
            </a:r>
            <a:r>
              <a:rPr lang="en-GB" sz="2600" dirty="0" smtClean="0">
                <a:solidFill>
                  <a:srgbClr val="000000"/>
                </a:solidFill>
              </a:rPr>
              <a:t>: Towers of Hanoi).</a:t>
            </a:r>
            <a:endParaRPr lang="en-GB" sz="2600" dirty="0"/>
          </a:p>
          <a:p>
            <a:pPr algn="just">
              <a:buFont typeface="Arial"/>
              <a:buChar char="•"/>
            </a:pPr>
            <a:r>
              <a:rPr lang="en-GB" sz="2600" dirty="0" smtClean="0">
                <a:solidFill>
                  <a:srgbClr val="000000"/>
                </a:solidFill>
              </a:rPr>
              <a:t>Stacks </a:t>
            </a:r>
            <a:r>
              <a:rPr lang="en-GB" sz="2600" dirty="0">
                <a:solidFill>
                  <a:srgbClr val="000000"/>
                </a:solidFill>
              </a:rPr>
              <a:t>are used in compiler design</a:t>
            </a:r>
            <a:r>
              <a:rPr lang="en-GB" sz="2600" dirty="0" smtClean="0">
                <a:solidFill>
                  <a:srgbClr val="000000"/>
                </a:solidFill>
              </a:rPr>
              <a:t>.</a:t>
            </a:r>
          </a:p>
          <a:p>
            <a:pPr algn="just">
              <a:buFont typeface="Arial"/>
              <a:buChar char="•"/>
            </a:pPr>
            <a:r>
              <a:rPr lang="en-GB" sz="2600" dirty="0" smtClean="0">
                <a:solidFill>
                  <a:srgbClr val="000000"/>
                </a:solidFill>
              </a:rPr>
              <a:t>Memory Management in Operating System.</a:t>
            </a:r>
            <a:endParaRPr lang="en-GB" sz="2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47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2447</TotalTime>
  <Words>995</Words>
  <Application>Microsoft Office PowerPoint</Application>
  <PresentationFormat>On-screen Show (4:3)</PresentationFormat>
  <Paragraphs>263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MS PGothic</vt:lpstr>
      <vt:lpstr>SimSun</vt:lpstr>
      <vt:lpstr>Arial</vt:lpstr>
      <vt:lpstr>Calibri</vt:lpstr>
      <vt:lpstr>Courier New</vt:lpstr>
      <vt:lpstr>Gill Sans MT</vt:lpstr>
      <vt:lpstr>Lucida Bright</vt:lpstr>
      <vt:lpstr>Tahoma</vt:lpstr>
      <vt:lpstr>Times New Roman</vt:lpstr>
      <vt:lpstr>Verdana</vt:lpstr>
      <vt:lpstr>Wingdings 2</vt:lpstr>
      <vt:lpstr>Solstice</vt:lpstr>
      <vt:lpstr>BCSE202L &amp; BCS202P- Data Structures and Algorithms</vt:lpstr>
      <vt:lpstr>PowerPoint Presentation</vt:lpstr>
      <vt:lpstr>BCS202L- Data Structures and Algorithms</vt:lpstr>
      <vt:lpstr>PowerPoint Presentation</vt:lpstr>
      <vt:lpstr>Linear Data Structure</vt:lpstr>
      <vt:lpstr>Stacks</vt:lpstr>
      <vt:lpstr>Examples </vt:lpstr>
      <vt:lpstr>Stacks Operations</vt:lpstr>
      <vt:lpstr>Push and Pop</vt:lpstr>
      <vt:lpstr>Stack – push and pop example</vt:lpstr>
      <vt:lpstr>Implementing a Stack</vt:lpstr>
      <vt:lpstr>Array Implementation of Stack</vt:lpstr>
      <vt:lpstr>Implementing Stacks: Array</vt:lpstr>
      <vt:lpstr>Stack Class (Array based)</vt:lpstr>
      <vt:lpstr>PowerPoint Presentation</vt:lpstr>
      <vt:lpstr>PowerPoint Presentation</vt:lpstr>
      <vt:lpstr>PowerPoint Presentation</vt:lpstr>
      <vt:lpstr>Remaining Methods (array based)</vt:lpstr>
      <vt:lpstr>Remaining Methods (array based)</vt:lpstr>
      <vt:lpstr>PowerPoint Presentation</vt:lpstr>
      <vt:lpstr>PowerPoint Presentation</vt:lpstr>
      <vt:lpstr>PowerPoint Presentation</vt:lpstr>
      <vt:lpstr>PowerPoint Presentation</vt:lpstr>
      <vt:lpstr>Stack Applications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creator>mattmcc</dc:creator>
  <cp:lastModifiedBy>Windows User</cp:lastModifiedBy>
  <cp:revision>90</cp:revision>
  <dcterms:created xsi:type="dcterms:W3CDTF">2002-06-24T19:49:42Z</dcterms:created>
  <dcterms:modified xsi:type="dcterms:W3CDTF">2023-02-26T07:14:58Z</dcterms:modified>
</cp:coreProperties>
</file>