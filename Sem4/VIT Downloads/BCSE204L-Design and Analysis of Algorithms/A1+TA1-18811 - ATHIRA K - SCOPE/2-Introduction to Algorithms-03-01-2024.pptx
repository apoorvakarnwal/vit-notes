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56" r:id="rId3"/>
    <p:sldId id="257" r:id="rId4"/>
    <p:sldId id="261" r:id="rId5"/>
    <p:sldId id="262" r:id="rId6"/>
    <p:sldId id="258" r:id="rId7"/>
    <p:sldId id="259" r:id="rId8"/>
    <p:sldId id="263" r:id="rId9"/>
    <p:sldId id="273" r:id="rId10"/>
    <p:sldId id="272" r:id="rId11"/>
    <p:sldId id="271" r:id="rId12"/>
    <p:sldId id="270" r:id="rId13"/>
    <p:sldId id="269" r:id="rId14"/>
    <p:sldId id="274" r:id="rId15"/>
    <p:sldId id="268" r:id="rId16"/>
    <p:sldId id="267" r:id="rId17"/>
    <p:sldId id="266" r:id="rId18"/>
    <p:sldId id="265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197E6-3908-C0F4-7D91-17E2732C78C0}" v="10" dt="2022-12-11T18:05:52.804"/>
    <p1510:client id="{CD1F9EF1-40C5-7053-D30C-2E289A5B6D37}" v="8" dt="2022-12-12T05:25:41.167"/>
    <p1510:client id="{CFF4165F-76E5-49CC-8BD9-79421E220665}" v="461" dt="2022-06-23T15:41:06.461"/>
    <p1510:client id="{DD68F05D-E565-2E09-AD14-BDF9AECDFFC7}" v="123" dt="2022-12-08T01:30:27.939"/>
    <p1510:client id="{F59FC9A9-2341-EA50-DDD9-EDF2D5EBA7B2}" v="160" dt="2022-12-07T15:58:46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67" d="100"/>
          <a:sy n="67" d="100"/>
        </p:scale>
        <p:origin x="45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4795-1204-114F-CBC6-BC6EBB95E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818A4-0DB7-2ECD-6BC6-5CB53EA08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8C8FE-C144-4B31-476A-94B6815F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ABACF-DA7E-E20B-8FB7-1941119D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1FBEF-426E-4F51-5DE6-DC7EAA69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9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AA13-1272-2018-8F00-D5CB3E3B3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D191A-B9D1-9867-4336-F3BA58B97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26761-EDD4-7D5A-CA86-20D68904F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B241-C56F-3F28-DA9F-CD19CEFF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A9B51-933D-FD6D-35AA-2E5A5E4C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512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FC98-FCDE-FD77-7E0B-BCAE1C5D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01C3E-9D2B-925B-1B57-BC25B22ED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B7B87-A072-CBC6-9924-B23A0FCF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E13E-7202-517C-6EA7-FB6ECC74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25DBE-6A62-F6D9-CC4B-5BEB9A28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65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E97C-B13E-4434-557E-14ADD6A3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A9152-4869-8AEC-F5DB-08080A266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01F10-6881-2341-CDDA-1F05E3FA2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568D-4283-83B2-FFA9-D65BD142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7FC00-A5D6-9C0D-2A3F-7302BD66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1484E-2206-1DCD-B827-EEFD003F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06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5E68-BA6D-44A2-8CD6-D757988A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6F4CF-3CA3-D450-0238-48C606B93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A33DB-C551-BA38-AB26-E337EB233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8FB5E-C489-70AD-E8E4-AB6B9729F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EE9EB-8623-6E03-275E-8E68CBF92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1D457-840E-C7DE-5073-50B28E8F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0718D-3223-BB46-92D9-218071FF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C031E-0EB1-1520-BE60-7157A7A9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354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8527-D5EC-947D-0DBF-A69B50C7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CEBF9-2E25-79A3-ACD1-DA0FF1BD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5F51E-103E-D69B-0D8E-5934F16B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FC2D8-81DF-79CA-F7C6-8FD21828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785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C0F30-DD8E-0018-EC91-5E3F9679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D7FED-C9E5-9F79-3EF1-F68E660B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E0BA0-DDD8-2212-DFEF-33873C3C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670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A519-0734-BC96-240E-C9F684A6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E4456-95A6-3DC6-D60B-DA31ED95D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78ABD-870C-F423-47D9-2F185389D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31AD5-18D8-F72E-5054-004C1294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E8B22-F0BA-C516-18FC-1840EBF6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39ED7-10C6-85BB-6507-2244C8A2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7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0102-6C96-1960-F49C-97312DAD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7705C-51B0-3976-4382-E71CDD219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62644-9325-104F-CB3B-963A57B2F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53C0B-1D3A-37A9-754C-EA23E877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1BB57-D851-35CB-B0F4-75D2A0B2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69B4C-7C88-9ACB-E470-5475046A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848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D5AB-C6C0-8C3A-CB2A-84D5D819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67D44-0D72-FC08-01DE-070ED4387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0050-0F5B-E844-492D-DFF7CB69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3863-2740-E2A2-0C88-132D5663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A9933-E111-4578-CDCB-9B7DC985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6935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6BDD34-99F5-BEE8-8983-42657D24E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17C40-9619-A4AE-5D7E-54456769C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B483-BEC5-C119-314D-E30A8706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70250-5402-2CC4-576F-CA90B37C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B278-CD06-0723-08C9-4978EBC57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CB46F-4403-4749-4F2B-7AD97356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52CF-30FE-F042-F7BE-7A55FB317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DAA09-AAB0-ECA9-A8BF-02CABF403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397FA-8F4B-4223-B561-1782FF2D8113}" type="datetimeFigureOut">
              <a:rPr lang="en-IN" smtClean="0"/>
              <a:t>03-01-2024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7D8C1-6209-68BE-9E6B-7E7DED698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28159-5AD2-50DA-362C-4CAF2D219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2BA24-384E-4B1C-BC83-EB6BE9EFC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0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54134F-C5A7-3772-CD5A-AC8F458DE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88992"/>
              </p:ext>
            </p:extLst>
          </p:nvPr>
        </p:nvGraphicFramePr>
        <p:xfrm>
          <a:off x="863203" y="696515"/>
          <a:ext cx="10703920" cy="5592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3920">
                  <a:extLst>
                    <a:ext uri="{9D8B030D-6E8A-4147-A177-3AD203B41FA5}">
                      <a16:colId xmlns:a16="http://schemas.microsoft.com/office/drawing/2014/main" val="991144475"/>
                    </a:ext>
                  </a:extLst>
                </a:gridCol>
              </a:tblGrid>
              <a:tr h="2796456">
                <a:tc>
                  <a:txBody>
                    <a:bodyPr/>
                    <a:lstStyle/>
                    <a:p>
                      <a:r>
                        <a:rPr lang="en-US" dirty="0"/>
                        <a:t>                                                                             Course Title                         </a:t>
                      </a:r>
                    </a:p>
                    <a:p>
                      <a:pPr lvl="0">
                        <a:buNone/>
                      </a:pPr>
                      <a:r>
                        <a:rPr lang="en-US" dirty="0"/>
                        <a:t>                                            </a:t>
                      </a:r>
                      <a:r>
                        <a:rPr lang="en-US" sz="2800" dirty="0"/>
                        <a:t> Design and Analysis of </a:t>
                      </a:r>
                      <a:r>
                        <a:rPr lang="en-US" sz="2800" b="1" i="0" u="none" strike="noStrike" noProof="0" dirty="0">
                          <a:latin typeface="Calibri"/>
                        </a:rPr>
                        <a:t>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906709"/>
                  </a:ext>
                </a:extLst>
              </a:tr>
              <a:tr h="2796456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800" dirty="0"/>
                    </a:p>
                    <a:p>
                      <a:pPr lvl="0">
                        <a:buNone/>
                      </a:pPr>
                      <a:r>
                        <a:rPr lang="en-US" sz="2800" dirty="0"/>
                        <a:t>                                                                                                 Dr. Athira K</a:t>
                      </a:r>
                    </a:p>
                    <a:p>
                      <a:pPr lvl="0">
                        <a:buNone/>
                      </a:pPr>
                      <a:r>
                        <a:rPr lang="en-US" sz="2800" dirty="0"/>
                        <a:t>                                                                                                      SCOPE     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9736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B0D4397-B442-EC9B-C639-20B7DCFF47C0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9665-54E6-4691-5290-92DDA6FD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705B9-4AF2-AC06-F076-CC487E04D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An algorithm is a finite sequence of logically related instructions to solve a computational problem</a:t>
            </a:r>
          </a:p>
          <a:p>
            <a:r>
              <a:rPr lang="en-US" dirty="0">
                <a:ea typeface="+mn-lt"/>
                <a:cs typeface="+mn-lt"/>
              </a:rPr>
              <a:t>Any algorithm must have</a:t>
            </a:r>
          </a:p>
          <a:p>
            <a:pPr lvl="1"/>
            <a:r>
              <a:rPr lang="en-US" dirty="0">
                <a:cs typeface="Calibri"/>
              </a:rPr>
              <a:t>Input provided by user</a:t>
            </a:r>
          </a:p>
          <a:p>
            <a:pPr lvl="1"/>
            <a:r>
              <a:rPr lang="en-US" dirty="0">
                <a:ea typeface="+mn-lt"/>
                <a:cs typeface="+mn-lt"/>
              </a:rPr>
              <a:t>produce an output</a:t>
            </a:r>
          </a:p>
          <a:p>
            <a:pPr lvl="1"/>
            <a:r>
              <a:rPr lang="en-US" dirty="0">
                <a:ea typeface="+mn-lt"/>
                <a:cs typeface="+mn-lt"/>
              </a:rPr>
              <a:t>Unambiguous instructions that should terminate after a finite number of steps</a:t>
            </a:r>
          </a:p>
          <a:p>
            <a:r>
              <a:rPr lang="en-US" dirty="0">
                <a:ea typeface="+mn-lt"/>
                <a:cs typeface="+mn-lt"/>
              </a:rPr>
              <a:t>– How to design an algorithm for a given problem? </a:t>
            </a:r>
          </a:p>
          <a:p>
            <a:r>
              <a:rPr lang="en-US" dirty="0">
                <a:ea typeface="+mn-lt"/>
                <a:cs typeface="+mn-lt"/>
              </a:rPr>
              <a:t>– Is every problem algorithmically solvable? If so, how many algorithms can a problem have and how to find the efficient one</a:t>
            </a:r>
          </a:p>
        </p:txBody>
      </p:sp>
    </p:spTree>
    <p:extLst>
      <p:ext uri="{BB962C8B-B14F-4D97-AF65-F5344CB8AC3E}">
        <p14:creationId xmlns:p14="http://schemas.microsoft.com/office/powerpoint/2010/main" val="280479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FDB0-D8E4-2D7E-5914-110415D4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D9F3B-25FF-4527-C0D0-01A17FE3A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>
                <a:ea typeface="+mn-lt"/>
                <a:cs typeface="+mn-lt"/>
              </a:rPr>
              <a:t>Algorithm is a tool for solving a well-specified computational problem.</a:t>
            </a:r>
            <a:endParaRPr lang="en-US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 Any particular input is called an instance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 algorithm is said to be correct if, for every input instance, it halts with the correct output.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An incorrect algorithm might not halt at all on some input instances, or it might halt with an incorrect answer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780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D1B9-E871-673D-5967-7EBB2D6C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764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Why to study algorithms?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C7C9-8DD6-67B1-13B2-1EC18B4CC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560" y="1307704"/>
            <a:ext cx="11694318" cy="53514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Computers are not infinitely fast, and memory is not free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If computers were infinitely fast, any correct method for solving a problem would do.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Computers may be fast, but they are not infinitely fast.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And memory may be inexpensive, but it is not free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Computing time and memory are therefore bounded resources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These resources are to be used wisely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Algorithms that are efficient in terms of time or space will help with that.</a:t>
            </a:r>
          </a:p>
        </p:txBody>
      </p:sp>
    </p:spTree>
    <p:extLst>
      <p:ext uri="{BB962C8B-B14F-4D97-AF65-F5344CB8AC3E}">
        <p14:creationId xmlns:p14="http://schemas.microsoft.com/office/powerpoint/2010/main" val="176124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8E8D-90DA-AE05-BC8D-997DB2DA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Why study of analysis of Algorithm?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84827-5650-2B16-F90F-693086849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Analysis of algorithm is the theoretical study of performance and resource usage of computer program </a:t>
            </a:r>
          </a:p>
          <a:p>
            <a:pPr lvl="1"/>
            <a:r>
              <a:rPr lang="en-US" dirty="0">
                <a:cs typeface="Calibri"/>
              </a:rPr>
              <a:t>Performance draw line between feasible and unfeasible</a:t>
            </a:r>
          </a:p>
          <a:p>
            <a:pPr lvl="1"/>
            <a:endParaRPr lang="en-US" dirty="0">
              <a:cs typeface="Calibri"/>
            </a:endParaRP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Is there any other factors important than the performance of an algorithm, involved in the design of a software?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745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6C43-3012-72D9-35DA-533F3948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Examples: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0B873-1375-F354-959F-CF599C756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47"/>
            <a:ext cx="10872787" cy="50029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Finding a maximum element in an array</a:t>
            </a:r>
          </a:p>
          <a:p>
            <a:pPr lvl="1"/>
            <a:r>
              <a:rPr lang="en-US" dirty="0">
                <a:ea typeface="+mn-lt"/>
                <a:cs typeface="+mn-lt"/>
              </a:rPr>
              <a:t>Algo Max-array(A, n) 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{ Max = A[1];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     for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= 2 to n 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      do if ( A[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] &gt; Max )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           then Max = A[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]; </a:t>
            </a:r>
            <a:endParaRPr lang="en-US"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       return Max; }</a:t>
            </a:r>
          </a:p>
          <a:p>
            <a:pPr marL="342900" indent="-342900"/>
            <a:r>
              <a:rPr lang="en-US" dirty="0">
                <a:ea typeface="+mn-lt"/>
                <a:cs typeface="+mn-lt"/>
              </a:rPr>
              <a:t>There are at least five different algorithms to find a maximum element, and which is the efficient algorithm?</a:t>
            </a:r>
          </a:p>
          <a:p>
            <a:pPr marL="800100" lvl="1" indent="-342900"/>
            <a:r>
              <a:rPr lang="en-US" dirty="0">
                <a:ea typeface="+mn-lt"/>
                <a:cs typeface="+mn-lt"/>
              </a:rPr>
              <a:t>Estimation of time and space complexity provide an insight into reasonable directions of search for finding the efficient algorithm</a:t>
            </a:r>
            <a:endParaRPr lang="en-US" dirty="0">
              <a:cs typeface="Calibri"/>
            </a:endParaRP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11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5855-22CE-0277-BCB5-18CDB7B4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Stages of Algorithm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7028-2FED-3A48-F8EA-9CBD2308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Arial" panose="020B0604020202020204" pitchFamily="34" charset="0"/>
              </a:rPr>
              <a:t>Describing the problem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Arial" panose="020B0604020202020204" pitchFamily="34" charset="0"/>
              </a:rPr>
              <a:t>Identifying a suitable technique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Arial" panose="020B0604020202020204" pitchFamily="34" charset="0"/>
              </a:rPr>
              <a:t>Design of an algorithm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4000" dirty="0">
                <a:effectLst/>
                <a:latin typeface="Arial" panose="020B0604020202020204" pitchFamily="34" charset="0"/>
              </a:rPr>
              <a:t>Proof of Correctness of the algorithm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774484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0989-F8D0-41FA-856E-748C15A4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Describe the problem &amp; Find a method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911D0-5002-4CD2-8EEC-65708FD7B2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IN" sz="3900" dirty="0"/>
                  <a:t>Example:- Finding the average of list of </a:t>
                </a:r>
                <a14:m>
                  <m:oMath xmlns:m="http://schemas.openxmlformats.org/officeDocument/2006/math">
                    <m:r>
                      <a:rPr lang="en-IN" sz="39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900" dirty="0"/>
                  <a:t> numbers</a:t>
                </a:r>
              </a:p>
              <a:p>
                <a:pPr>
                  <a:lnSpc>
                    <a:spcPct val="120000"/>
                  </a:lnSpc>
                </a:pPr>
                <a:r>
                  <a:rPr lang="en-IN" sz="3900" dirty="0"/>
                  <a:t>Input:- The list of </a:t>
                </a:r>
                <a14:m>
                  <m:oMath xmlns:m="http://schemas.openxmlformats.org/officeDocument/2006/math">
                    <m:r>
                      <a:rPr lang="en-IN" sz="39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900" dirty="0"/>
                  <a:t> numbers</a:t>
                </a:r>
              </a:p>
              <a:p>
                <a:pPr>
                  <a:lnSpc>
                    <a:spcPct val="120000"/>
                  </a:lnSpc>
                </a:pPr>
                <a:r>
                  <a:rPr lang="en-IN" sz="3900" dirty="0"/>
                  <a:t>Output:- The average</a:t>
                </a:r>
              </a:p>
              <a:p>
                <a:pPr>
                  <a:lnSpc>
                    <a:spcPct val="120000"/>
                  </a:lnSpc>
                </a:pPr>
                <a:r>
                  <a:rPr lang="en-IN" sz="3900" dirty="0"/>
                  <a:t>Method:-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IN" sz="3500" dirty="0"/>
                  <a:t>Sum all elements and store in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𝑠𝑢𝑚</m:t>
                    </m:r>
                  </m:oMath>
                </a14:m>
                <a:endParaRPr lang="en-IN" sz="3500" dirty="0"/>
              </a:p>
              <a:p>
                <a:pPr lvl="1">
                  <a:lnSpc>
                    <a:spcPct val="120000"/>
                  </a:lnSpc>
                </a:pPr>
                <a:r>
                  <a:rPr lang="en-IN" sz="3500" dirty="0"/>
                  <a:t>Divide the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𝑠𝑢𝑚</m:t>
                    </m:r>
                  </m:oMath>
                </a14:m>
                <a:r>
                  <a:rPr lang="en-IN" sz="3500" dirty="0"/>
                  <a:t> by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500" dirty="0"/>
                  <a:t>  which is the average. Store it in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𝑎𝑣𝑔</m:t>
                    </m:r>
                  </m:oMath>
                </a14:m>
                <a:endParaRPr lang="en-IN" sz="3500" dirty="0"/>
              </a:p>
              <a:p>
                <a:pPr lvl="1">
                  <a:lnSpc>
                    <a:spcPct val="120000"/>
                  </a:lnSpc>
                </a:pPr>
                <a:r>
                  <a:rPr lang="en-IN" sz="3500" dirty="0"/>
                  <a:t>Output the Average </a:t>
                </a:r>
                <a14:m>
                  <m:oMath xmlns:m="http://schemas.openxmlformats.org/officeDocument/2006/math">
                    <m:r>
                      <a:rPr lang="en-IN" sz="3500" i="1" dirty="0" smtClean="0">
                        <a:latin typeface="Cambria Math" panose="02040503050406030204" pitchFamily="18" charset="0"/>
                      </a:rPr>
                      <m:t>𝑎𝑣𝑔</m:t>
                    </m:r>
                  </m:oMath>
                </a14:m>
                <a:endParaRPr lang="en-IN" sz="3500" dirty="0"/>
              </a:p>
              <a:p>
                <a:pPr marL="457200" lvl="1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911D0-5002-4CD2-8EEC-65708FD7B2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33311-9989-44CA-91EB-8C37A0C1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8390-DD8F-4545-A671-8F70F0E72C8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56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6673-F9D3-4A80-B75A-1AE016AE6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49B1BD-7483-4C88-AE20-9748AE1F92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IN" sz="3600" dirty="0"/>
                  <a:t>Can be done in English, pseudocode, flowchart so on.. 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Receive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/>
                  <a:t> as input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Receive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/>
                  <a:t> numbers as input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Find the sum of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/>
                  <a:t> numbers and store in a variable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𝑠𝑢𝑚</m:t>
                    </m:r>
                  </m:oMath>
                </a14:m>
                <a:endParaRPr lang="en-IN" sz="3600" dirty="0"/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Compute </a:t>
                </a:r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𝑎𝑣𝑔</m:t>
                    </m:r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𝑠𝑢𝑚</m:t>
                        </m:r>
                      </m:num>
                      <m:den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IN" sz="3600" dirty="0"/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IN" sz="3600" dirty="0"/>
                  <a:t>Output </a:t>
                </a:r>
                <a14:m>
                  <m:oMath xmlns:m="http://schemas.openxmlformats.org/officeDocument/2006/math">
                    <m:r>
                      <a:rPr lang="en-IN" sz="3600" i="1" dirty="0" smtClean="0">
                        <a:latin typeface="Cambria Math" panose="02040503050406030204" pitchFamily="18" charset="0"/>
                      </a:rPr>
                      <m:t>𝑎𝑣𝑔</m:t>
                    </m:r>
                  </m:oMath>
                </a14:m>
                <a:r>
                  <a:rPr lang="en-IN" sz="36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49B1BD-7483-4C88-AE20-9748AE1F92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5" t="-308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0FFA9-32C8-405B-BCCB-6AC5BAFB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8390-DD8F-4545-A671-8F70F0E72C8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37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4E7E-D723-48F7-9E62-72BB44638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904875"/>
          </a:xfrm>
        </p:spPr>
        <p:txBody>
          <a:bodyPr/>
          <a:lstStyle/>
          <a:p>
            <a:r>
              <a:rPr lang="en-IN" dirty="0"/>
              <a:t>Correctness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AD04F-6CA7-42F1-8675-55EB2076D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050"/>
            <a:ext cx="10515600" cy="52959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Correct:-  if, for every input instance, it halts with the correct output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An incorrect algorithm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may not halt at all for some input instances, or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may halt with a wrong output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Correct if the algorithm yields the desired output for the specific input in a finite amount of time.</a:t>
            </a:r>
          </a:p>
          <a:p>
            <a:pPr>
              <a:lnSpc>
                <a:spcPct val="100000"/>
              </a:lnSpc>
            </a:pPr>
            <a:r>
              <a:rPr lang="en-US" sz="3600" dirty="0"/>
              <a:t>Proof of correctness depends on the algorithm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74387-DC64-40EB-8F89-9DDCCFBC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08390-DD8F-4545-A671-8F70F0E72C8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124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E205-A732-B225-C8BE-A36550E6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/>
          <a:lstStyle/>
          <a:p>
            <a:r>
              <a:rPr lang="en-IN" dirty="0"/>
              <a:t>Correctness of Algorithm [cont..]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732F1-ED09-8CE7-09CE-F3DC42942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760"/>
            <a:ext cx="10515600" cy="47952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500" dirty="0"/>
              <a:t>For some algorithms, the proof of correctness is easy and for some algorithms, it is complex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It depends on the type of instructions in the algorithm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In order to show that an algorithm is incorrect, one instance of input is sufficient for which the algorithm fails to give the desired output</a:t>
            </a:r>
            <a:endParaRPr lang="en-US" sz="35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788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8352-BC4A-E584-16E3-851A7929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  <a:latin typeface="Arial" panose="020B0604020202020204" pitchFamily="34" charset="0"/>
              </a:rPr>
              <a:t>Proof of correctness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3582C-A804-CAA9-E6FB-E559D9CD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5172075"/>
          </a:xfrm>
        </p:spPr>
        <p:txBody>
          <a:bodyPr>
            <a:normAutofit/>
          </a:bodyPr>
          <a:lstStyle/>
          <a:p>
            <a:r>
              <a:rPr lang="en-US" dirty="0"/>
              <a:t>Explanation by example</a:t>
            </a:r>
          </a:p>
          <a:p>
            <a:r>
              <a:rPr lang="en-US" dirty="0"/>
              <a:t>Consider the insertion sort algorithm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05428-E277-39D7-B140-76CE665CD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284737"/>
            <a:ext cx="8402320" cy="406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4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icture containing text, electronics, keyboard&#10;&#10;Description automatically generated">
            <a:extLst>
              <a:ext uri="{FF2B5EF4-FFF2-40B4-BE49-F238E27FC236}">
                <a16:creationId xmlns:a16="http://schemas.microsoft.com/office/drawing/2014/main" id="{3C928584-C46F-0C4E-7014-A5090B029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7208" y="71966"/>
            <a:ext cx="7619487" cy="676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5EF7-0703-8EBF-37CD-DD7D4921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/>
          <a:lstStyle/>
          <a:p>
            <a:r>
              <a:rPr lang="en-IN" dirty="0"/>
              <a:t>Loop invariant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A7ECA-01B3-1094-A2FB-1EB3EE7E6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0960"/>
                <a:ext cx="10515600" cy="5059679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4400" dirty="0"/>
                  <a:t>A loop invariant is a property of a program loop that is true before (and after) each iteration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400" dirty="0"/>
                  <a:t>In our insertion sort, the loop invariant is: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4000" b="1" dirty="0"/>
                  <a:t>At the start of each iteration of the for loop of lines 1–8, the </a:t>
                </a:r>
                <a:r>
                  <a:rPr lang="en-US" sz="4400" b="1" dirty="0"/>
                  <a:t>subarray </a:t>
                </a:r>
                <a14:m>
                  <m:oMath xmlns:m="http://schemas.openxmlformats.org/officeDocument/2006/math"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400" b="1" dirty="0"/>
                  <a:t> consists of the elements originally in </a:t>
                </a:r>
                <a14:m>
                  <m:oMath xmlns:m="http://schemas.openxmlformats.org/officeDocument/2006/math"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44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400" b="1" dirty="0"/>
                  <a:t>, but in sorted order.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A7ECA-01B3-1094-A2FB-1EB3EE7E6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0960"/>
                <a:ext cx="10515600" cy="5059679"/>
              </a:xfrm>
              <a:blipFill>
                <a:blip r:embed="rId2"/>
                <a:stretch>
                  <a:fillRect l="-1681" t="-1566" r="-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101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8798-4AED-1EC9-D302-2C570953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9835"/>
          </a:xfrm>
        </p:spPr>
        <p:txBody>
          <a:bodyPr/>
          <a:lstStyle/>
          <a:p>
            <a:r>
              <a:rPr lang="en-US" dirty="0"/>
              <a:t>Loop Invariant method [cont..]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5345-03E4-21DD-BA63-E6B09A988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520"/>
            <a:ext cx="10515600" cy="468344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3200" dirty="0"/>
              <a:t>In loop invariant method of proving correctness, one must show three things about a loop invariant: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Initialization: It is true prior to the first iteration of the loop.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Maintenance: If it is true before an iteration of the loop, it remains true before the next iteration.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Termination: When the loop terminates, the invariant gives us a useful property that helps show that the algorithm is correct</a:t>
            </a:r>
          </a:p>
        </p:txBody>
      </p:sp>
    </p:spTree>
    <p:extLst>
      <p:ext uri="{BB962C8B-B14F-4D97-AF65-F5344CB8AC3E}">
        <p14:creationId xmlns:p14="http://schemas.microsoft.com/office/powerpoint/2010/main" val="3695288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8683-BE02-0383-5BAD-8B0CFE45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755"/>
          </a:xfrm>
        </p:spPr>
        <p:txBody>
          <a:bodyPr/>
          <a:lstStyle/>
          <a:p>
            <a:r>
              <a:rPr lang="en-IN" dirty="0"/>
              <a:t>Initialization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251A6-F305-3956-37DB-CFC0456E0B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5112"/>
                <a:ext cx="10515600" cy="49577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3600" dirty="0"/>
                  <a:t>To show that the loop invariant holds before the first loop iteration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3600" dirty="0"/>
                  <a:t> When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en-US" sz="3600" dirty="0"/>
                  <a:t>, the subarray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[1⋯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− 1] </m:t>
                    </m:r>
                  </m:oMath>
                </a14:m>
                <a:r>
                  <a:rPr lang="en-US" sz="3600" dirty="0"/>
                  <a:t>consists of just the single element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endParaRPr lang="en-US" sz="3600" dirty="0"/>
              </a:p>
              <a:p>
                <a:pPr>
                  <a:lnSpc>
                    <a:spcPct val="100000"/>
                  </a:lnSpc>
                </a:pPr>
                <a:r>
                  <a:rPr lang="en-US" sz="3600" dirty="0"/>
                  <a:t>Which is the original element in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endParaRPr lang="en-US" sz="3600" dirty="0"/>
              </a:p>
              <a:p>
                <a:pPr>
                  <a:lnSpc>
                    <a:spcPct val="100000"/>
                  </a:lnSpc>
                </a:pPr>
                <a:r>
                  <a:rPr lang="en-US" sz="3600" dirty="0"/>
                  <a:t>This subarray is trivially sorted</a:t>
                </a:r>
                <a:endParaRPr lang="en-IN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251A6-F305-3956-37DB-CFC0456E0B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5112"/>
                <a:ext cx="10515600" cy="4957763"/>
              </a:xfrm>
              <a:blipFill>
                <a:blip r:embed="rId2"/>
                <a:stretch>
                  <a:fillRect l="-1623" t="-1968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089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AB6B-4D0F-4CA5-43BD-0CC77FE1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IN" dirty="0"/>
              <a:t>Maintenance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6C239-74EC-A8D3-825B-8355C3DB34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3680"/>
                <a:ext cx="10515600" cy="467328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The body of the for loop works by moving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− 1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− 2],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− 3]</m:t>
                    </m:r>
                  </m:oMath>
                </a14:m>
                <a:r>
                  <a:rPr lang="en-US" dirty="0"/>
                  <a:t>, and so on by one position to the right until it finds the proper position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(lines 4–7), at which point it inserts the 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(line 8).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subarray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[1..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then consists of the elements originally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, but in sorted order.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Incrementing j for the next iteration of the for loop then preserves the loop invariant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6C239-74EC-A8D3-825B-8355C3DB34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3680"/>
                <a:ext cx="10515600" cy="4673283"/>
              </a:xfrm>
              <a:blipFill>
                <a:blip r:embed="rId2"/>
                <a:stretch>
                  <a:fillRect l="-1043" t="-392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042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941F-A665-1C2D-1A0D-60B52A1F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03560-0500-EDD6-D765-FAC0FE8AFA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4000" dirty="0"/>
                  <a:t>The condition causing the for loop to terminate is that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sz="4000" i="1" dirty="0" err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4000" i="1" dirty="0" err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000" dirty="0"/>
              </a:p>
              <a:p>
                <a:pPr>
                  <a:lnSpc>
                    <a:spcPct val="120000"/>
                  </a:lnSpc>
                </a:pPr>
                <a:r>
                  <a:rPr lang="en-US" sz="4000" dirty="0"/>
                  <a:t>Substituting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en-US" sz="4000" dirty="0"/>
                  <a:t> for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4000" dirty="0"/>
                  <a:t> in the wording of loop invariant, we have that the subarray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/>
                  <a:t> consists of the elements originally in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/>
                  <a:t>, but in sorted order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000" dirty="0"/>
                  <a:t>As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[1..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/>
                  <a:t> is the original array it implies that the entire array is sorted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000" dirty="0"/>
                  <a:t>Hence the algorithm is correct</a:t>
                </a:r>
                <a:endParaRPr lang="en-IN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03560-0500-EDD6-D765-FAC0FE8AFA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5" t="-182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444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">
      <a:majorFont>
        <a:latin typeface="Robot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2595</TotalTime>
  <Words>1042</Words>
  <Application>Microsoft Office PowerPoint</Application>
  <PresentationFormat>Widescreen</PresentationFormat>
  <Paragraphs>102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Roboto</vt:lpstr>
      <vt:lpstr>office theme</vt:lpstr>
      <vt:lpstr>Office Theme</vt:lpstr>
      <vt:lpstr>PowerPoint Presentation</vt:lpstr>
      <vt:lpstr>Algorithm</vt:lpstr>
      <vt:lpstr>Algorithm</vt:lpstr>
      <vt:lpstr>Why to study algorithms?</vt:lpstr>
      <vt:lpstr>Why study of analysis of Algorithm?</vt:lpstr>
      <vt:lpstr>Examples:</vt:lpstr>
      <vt:lpstr>Stages of Algorithm Development</vt:lpstr>
      <vt:lpstr>Describe the problem &amp; Find a method </vt:lpstr>
      <vt:lpstr>Design an algorithm</vt:lpstr>
      <vt:lpstr>Correctness of Algorithm</vt:lpstr>
      <vt:lpstr>Correctness of Algorithm [cont..]</vt:lpstr>
      <vt:lpstr>Proof of correctness</vt:lpstr>
      <vt:lpstr>PowerPoint Presentation</vt:lpstr>
      <vt:lpstr>Loop invariant method</vt:lpstr>
      <vt:lpstr>Loop Invariant method [cont..]</vt:lpstr>
      <vt:lpstr>Initialization</vt:lpstr>
      <vt:lpstr>Maintenance</vt:lpstr>
      <vt:lpstr>Termination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athira  k</cp:lastModifiedBy>
  <cp:revision>150</cp:revision>
  <dcterms:created xsi:type="dcterms:W3CDTF">2022-06-23T14:20:26Z</dcterms:created>
  <dcterms:modified xsi:type="dcterms:W3CDTF">2024-01-05T05:18:00Z</dcterms:modified>
</cp:coreProperties>
</file>