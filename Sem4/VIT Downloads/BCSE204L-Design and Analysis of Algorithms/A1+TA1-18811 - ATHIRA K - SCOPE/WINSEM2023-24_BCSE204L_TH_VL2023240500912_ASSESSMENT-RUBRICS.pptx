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3" d="100"/>
          <a:sy n="63" d="100"/>
        </p:scale>
        <p:origin x="77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4795-1204-114F-CBC6-BC6EBB95E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818A4-0DB7-2ECD-6BC6-5CB53EA08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8C8FE-C144-4B31-476A-94B6815F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ABACF-DA7E-E20B-8FB7-1941119D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1FBEF-426E-4F51-5DE6-DC7EAA697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489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AA13-1272-2018-8F00-D5CB3E3B3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D191A-B9D1-9867-4336-F3BA58B97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26761-EDD4-7D5A-CA86-20D68904F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2B241-C56F-3F28-DA9F-CD19CEFF0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A9B51-933D-FD6D-35AA-2E5A5E4C5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512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3FC98-FCDE-FD77-7E0B-BCAE1C5D0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01C3E-9D2B-925B-1B57-BC25B22ED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B7B87-A072-CBC6-9924-B23A0FCFB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8E13E-7202-517C-6EA7-FB6ECC74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25DBE-6A62-F6D9-CC4B-5BEB9A28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6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5E97C-B13E-4434-557E-14ADD6A3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A9152-4869-8AEC-F5DB-08080A266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01F10-6881-2341-CDDA-1F05E3FA2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F568D-4283-83B2-FFA9-D65BD1420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7FC00-A5D6-9C0D-2A3F-7302BD665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1484E-2206-1DCD-B827-EEFD003F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706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5E68-BA6D-44A2-8CD6-D757988A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6F4CF-3CA3-D450-0238-48C606B93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A33DB-C551-BA38-AB26-E337EB233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8FB5E-C489-70AD-E8E4-AB6B9729F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1EE9EB-8623-6E03-275E-8E68CBF92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1D457-840E-C7DE-5073-50B28E8F6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30718D-3223-BB46-92D9-218071FF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9C031E-0EB1-1520-BE60-7157A7A9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35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98527-D5EC-947D-0DBF-A69B50C7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FCEBF9-2E25-79A3-ACD1-DA0FF1BD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5F51E-103E-D69B-0D8E-5934F16B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BFC2D8-81DF-79CA-F7C6-8FD21828A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785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C0F30-DD8E-0018-EC91-5E3F96795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9D7FED-C9E5-9F79-3EF1-F68E660B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E0BA0-DDD8-2212-DFEF-33873C3C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670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1A519-0734-BC96-240E-C9F684A6A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E4456-95A6-3DC6-D60B-DA31ED95D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78ABD-870C-F423-47D9-2F185389D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31AD5-18D8-F72E-5054-004C12948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E8B22-F0BA-C516-18FC-1840EBF6F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39ED7-10C6-85BB-6507-2244C8A29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17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D0102-6C96-1960-F49C-97312DADD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7705C-51B0-3976-4382-E71CDD219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62644-9325-104F-CB3B-963A57B2F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53C0B-1D3A-37A9-754C-EA23E877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1BB57-D851-35CB-B0F4-75D2A0B26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69B4C-7C88-9ACB-E470-5475046A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18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D5AB-C6C0-8C3A-CB2A-84D5D8197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67D44-0D72-FC08-01DE-070ED4387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80050-0F5B-E844-492D-DFF7CB69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53863-2740-E2A2-0C88-132D5663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A9933-E111-4578-CDCB-9B7DC985E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693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6BDD34-99F5-BEE8-8983-42657D24EF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17C40-9619-A4AE-5D7E-54456769C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DB483-BEC5-C119-314D-E30A87066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70250-5402-2CC4-576F-CA90B37CD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3B278-CD06-0723-08C9-4978EBC57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93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CB46F-4403-4749-4F2B-7AD97356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552CF-30FE-F042-F7BE-7A55FB317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DAA09-AAB0-ECA9-A8BF-02CABF403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7D8C1-6209-68BE-9E6B-7E7DED698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28159-5AD2-50DA-362C-4CAF2D219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60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DBD4-05EB-8A09-8E47-0FCCD31894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BCSE204L Design and Analysis of Algorithms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F49B9-1190-26D2-DA02-4713CF297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39962"/>
          </a:xfrm>
        </p:spPr>
        <p:txBody>
          <a:bodyPr>
            <a:normAutofit/>
          </a:bodyPr>
          <a:lstStyle/>
          <a:p>
            <a:r>
              <a:rPr lang="en-IN" sz="4800" dirty="0"/>
              <a:t>Overview of the course</a:t>
            </a:r>
          </a:p>
          <a:p>
            <a:r>
              <a:rPr lang="en-IN" sz="4000" dirty="0"/>
              <a:t>Dr Athira K</a:t>
            </a:r>
          </a:p>
          <a:p>
            <a:r>
              <a:rPr lang="en-IN" sz="4000" dirty="0"/>
              <a:t>SCOPE</a:t>
            </a:r>
          </a:p>
        </p:txBody>
      </p:sp>
    </p:spTree>
    <p:extLst>
      <p:ext uri="{BB962C8B-B14F-4D97-AF65-F5344CB8AC3E}">
        <p14:creationId xmlns:p14="http://schemas.microsoft.com/office/powerpoint/2010/main" val="1321267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7CFA1-5CC5-DCDB-2CBC-76A609D53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1035"/>
          </a:xfrm>
        </p:spPr>
        <p:txBody>
          <a:bodyPr>
            <a:normAutofit fontScale="90000"/>
          </a:bodyPr>
          <a:lstStyle/>
          <a:p>
            <a:r>
              <a:rPr lang="en-IN" dirty="0"/>
              <a:t>About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BD2DB-C777-691A-7CEF-5CBE7DE20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IN" dirty="0"/>
          </a:p>
          <a:p>
            <a:endParaRPr lang="en-IN" sz="3900" dirty="0"/>
          </a:p>
          <a:p>
            <a:r>
              <a:rPr lang="en-IN" sz="3900" dirty="0"/>
              <a:t>Course Objectives: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000" dirty="0"/>
              <a:t>To provide mathematical foundations for analyzing the complexity of the algorithms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000" dirty="0"/>
              <a:t>To impart the knowledge on various design strategies that can help in solving the real world problems effectively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000" dirty="0"/>
              <a:t>To synthesize efficient algorithms in various engineering design situations</a:t>
            </a:r>
            <a:endParaRPr lang="en-IN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D655B-7F16-AAC4-86D6-CAFA1314D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00081"/>
            <a:ext cx="10406063" cy="123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91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D4AD-04E2-4838-7DC6-C5401A15A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4395"/>
          </a:xfrm>
        </p:spPr>
        <p:txBody>
          <a:bodyPr/>
          <a:lstStyle/>
          <a:p>
            <a:r>
              <a:rPr lang="en-IN" dirty="0"/>
              <a:t>Course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42523-88A3-A31A-6B5A-69940657F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960"/>
            <a:ext cx="10515600" cy="4846003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/>
              <a:t>Apply the mathematical tools to analyze and derive the running time of the algorithms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Demonstrate the major algorithm design paradigms.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Explain major graph algorithms, string matching and geometric algorithms along with their analysis.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Articulating Randomized Algorithms.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Explain the hardness of real-world problems with respect to algorithmic efficiency and learning to cope with it.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806210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95855-22CE-0277-BCB5-18CDB7B42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Module:1 Design Paradigms: Greedy, Divide and Conquer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B7028-2FED-3A48-F8EA-9CBD23089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3600" dirty="0"/>
              <a:t>Introduction</a:t>
            </a:r>
          </a:p>
          <a:p>
            <a:r>
              <a:rPr lang="en-IN" sz="3600" dirty="0"/>
              <a:t>Time complexity</a:t>
            </a:r>
          </a:p>
          <a:p>
            <a:r>
              <a:rPr lang="en-IN" sz="3600" dirty="0"/>
              <a:t>Proof of correctness</a:t>
            </a:r>
          </a:p>
          <a:p>
            <a:r>
              <a:rPr lang="en-IN" sz="3600" dirty="0"/>
              <a:t>Greedy techniques </a:t>
            </a:r>
          </a:p>
          <a:p>
            <a:pPr lvl="1"/>
            <a:r>
              <a:rPr lang="en-US" sz="3200" dirty="0"/>
              <a:t>Fractional Knapsack Problem</a:t>
            </a:r>
          </a:p>
          <a:p>
            <a:pPr lvl="1"/>
            <a:r>
              <a:rPr lang="en-US" sz="3200" dirty="0"/>
              <a:t>Huffman coding</a:t>
            </a:r>
          </a:p>
          <a:p>
            <a:r>
              <a:rPr lang="en-IN" sz="3600" dirty="0"/>
              <a:t>Divide and Conquer</a:t>
            </a:r>
          </a:p>
          <a:p>
            <a:pPr lvl="1"/>
            <a:r>
              <a:rPr lang="en-IN" sz="3200" dirty="0"/>
              <a:t>Maximum Subarray</a:t>
            </a:r>
          </a:p>
          <a:p>
            <a:pPr lvl="1"/>
            <a:r>
              <a:rPr lang="en-IN" sz="3200" dirty="0"/>
              <a:t>Karatsuba faster integer multiplication algorithm</a:t>
            </a:r>
          </a:p>
        </p:txBody>
      </p:sp>
    </p:spTree>
    <p:extLst>
      <p:ext uri="{BB962C8B-B14F-4D97-AF65-F5344CB8AC3E}">
        <p14:creationId xmlns:p14="http://schemas.microsoft.com/office/powerpoint/2010/main" val="2973288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8352-BC4A-E584-16E3-851A7929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00555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Module:2 Design Paradigms: Dynamic Programming, Backtracking and Branch &amp; Bound Technique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3582C-A804-CAA9-E6FB-E559D9CD2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9992"/>
            <a:ext cx="10515600" cy="4012883"/>
          </a:xfrm>
        </p:spPr>
        <p:txBody>
          <a:bodyPr>
            <a:normAutofit/>
          </a:bodyPr>
          <a:lstStyle/>
          <a:p>
            <a:r>
              <a:rPr lang="en-US" sz="4400" dirty="0"/>
              <a:t>Dynamic programming: </a:t>
            </a:r>
          </a:p>
          <a:p>
            <a:pPr lvl="1"/>
            <a:r>
              <a:rPr lang="en-US" sz="4000" dirty="0"/>
              <a:t>Assembly Line Scheduling</a:t>
            </a:r>
          </a:p>
          <a:p>
            <a:pPr lvl="1"/>
            <a:r>
              <a:rPr lang="en-US" sz="4000" dirty="0"/>
              <a:t>Matrix Chain Multiplication</a:t>
            </a:r>
          </a:p>
          <a:p>
            <a:pPr lvl="1"/>
            <a:r>
              <a:rPr lang="en-US" sz="4000" dirty="0"/>
              <a:t>Longest Common Subsequence</a:t>
            </a:r>
          </a:p>
          <a:p>
            <a:pPr lvl="1"/>
            <a:r>
              <a:rPr lang="en-US" sz="4000" dirty="0"/>
              <a:t>0-1 Knapsack</a:t>
            </a:r>
          </a:p>
          <a:p>
            <a:pPr lvl="1"/>
            <a:r>
              <a:rPr lang="en-US" sz="4000" dirty="0"/>
              <a:t>TSP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552186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5EF7-0703-8EBF-37CD-DD7D4921E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2 [cont..]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A7ECA-01B3-1094-A2FB-1EB3EE7E6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4400" dirty="0"/>
              <a:t>Backtracking</a:t>
            </a:r>
          </a:p>
          <a:p>
            <a:pPr lvl="1"/>
            <a:r>
              <a:rPr lang="en-IN" sz="4000" dirty="0"/>
              <a:t>N-Queens problem</a:t>
            </a:r>
          </a:p>
          <a:p>
            <a:pPr lvl="1"/>
            <a:r>
              <a:rPr lang="en-IN" sz="4000" dirty="0"/>
              <a:t>Subset Sum</a:t>
            </a:r>
          </a:p>
          <a:p>
            <a:pPr lvl="1"/>
            <a:r>
              <a:rPr lang="en-IN" sz="4000" dirty="0"/>
              <a:t>Graph </a:t>
            </a:r>
            <a:r>
              <a:rPr lang="en-IN" sz="4000" dirty="0" err="1"/>
              <a:t>Coloring</a:t>
            </a:r>
            <a:endParaRPr lang="en-IN" sz="4000" dirty="0"/>
          </a:p>
          <a:p>
            <a:r>
              <a:rPr lang="en-IN" sz="4400" dirty="0"/>
              <a:t>Branch &amp; Bound </a:t>
            </a:r>
          </a:p>
          <a:p>
            <a:pPr lvl="1"/>
            <a:r>
              <a:rPr lang="en-IN" sz="4000" dirty="0"/>
              <a:t>Job Selection problem</a:t>
            </a:r>
          </a:p>
          <a:p>
            <a:pPr lvl="1"/>
            <a:r>
              <a:rPr lang="en-IN" sz="4000" dirty="0"/>
              <a:t>0-1 Knapsack Problem</a:t>
            </a:r>
          </a:p>
        </p:txBody>
      </p:sp>
    </p:spTree>
    <p:extLst>
      <p:ext uri="{BB962C8B-B14F-4D97-AF65-F5344CB8AC3E}">
        <p14:creationId xmlns:p14="http://schemas.microsoft.com/office/powerpoint/2010/main" val="2179136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8798-4AED-1EC9-D302-2C5709531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9835"/>
          </a:xfrm>
        </p:spPr>
        <p:txBody>
          <a:bodyPr/>
          <a:lstStyle/>
          <a:p>
            <a:r>
              <a:rPr lang="en-US" dirty="0"/>
              <a:t>Module:3 String Matching Algorithms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65345-03E4-21DD-BA63-E6B09A988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0720"/>
            <a:ext cx="10515600" cy="4226243"/>
          </a:xfrm>
        </p:spPr>
        <p:txBody>
          <a:bodyPr>
            <a:normAutofit/>
          </a:bodyPr>
          <a:lstStyle/>
          <a:p>
            <a:r>
              <a:rPr lang="en-IN" sz="4000" dirty="0"/>
              <a:t>Naïve String-matching Algorithm</a:t>
            </a:r>
          </a:p>
          <a:p>
            <a:r>
              <a:rPr lang="en-IN" sz="4000" dirty="0"/>
              <a:t>KMP algorithm</a:t>
            </a:r>
          </a:p>
          <a:p>
            <a:r>
              <a:rPr lang="en-IN" sz="4000" dirty="0"/>
              <a:t>Rabin-Karp Algorithm</a:t>
            </a:r>
          </a:p>
          <a:p>
            <a:r>
              <a:rPr lang="en-IN" sz="4000" dirty="0"/>
              <a:t>Suffix Trees</a:t>
            </a:r>
          </a:p>
        </p:txBody>
      </p:sp>
    </p:spTree>
    <p:extLst>
      <p:ext uri="{BB962C8B-B14F-4D97-AF65-F5344CB8AC3E}">
        <p14:creationId xmlns:p14="http://schemas.microsoft.com/office/powerpoint/2010/main" val="426944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8683-BE02-0383-5BAD-8B0CFE45B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7755"/>
          </a:xfrm>
        </p:spPr>
        <p:txBody>
          <a:bodyPr/>
          <a:lstStyle/>
          <a:p>
            <a:r>
              <a:rPr lang="en-IN" dirty="0"/>
              <a:t>Module:4 Graph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251A6-F305-3956-37DB-CFC0456E0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112"/>
            <a:ext cx="10515600" cy="4957763"/>
          </a:xfrm>
        </p:spPr>
        <p:txBody>
          <a:bodyPr>
            <a:normAutofit fontScale="92500" lnSpcReduction="10000"/>
          </a:bodyPr>
          <a:lstStyle/>
          <a:p>
            <a:r>
              <a:rPr lang="en-IN" sz="4000" dirty="0"/>
              <a:t>All pair shortest path: </a:t>
            </a:r>
          </a:p>
          <a:p>
            <a:pPr lvl="1"/>
            <a:r>
              <a:rPr lang="en-IN" sz="3600" dirty="0"/>
              <a:t>Bellman Ford Algorithm</a:t>
            </a:r>
          </a:p>
          <a:p>
            <a:pPr lvl="1"/>
            <a:r>
              <a:rPr lang="en-IN" sz="3600" dirty="0"/>
              <a:t>Floyd-</a:t>
            </a:r>
            <a:r>
              <a:rPr lang="en-IN" sz="3600" dirty="0" err="1"/>
              <a:t>Warshall</a:t>
            </a:r>
            <a:r>
              <a:rPr lang="en-IN" sz="3600" dirty="0"/>
              <a:t> Algorithm </a:t>
            </a:r>
          </a:p>
          <a:p>
            <a:r>
              <a:rPr lang="en-IN" sz="4000" dirty="0"/>
              <a:t>Network Flows: </a:t>
            </a:r>
          </a:p>
          <a:p>
            <a:pPr lvl="1"/>
            <a:r>
              <a:rPr lang="en-IN" sz="3600" dirty="0"/>
              <a:t>Maximum Flows</a:t>
            </a:r>
          </a:p>
          <a:p>
            <a:pPr lvl="1"/>
            <a:r>
              <a:rPr lang="en-IN" sz="3600" dirty="0"/>
              <a:t>Ford-Fulkerson</a:t>
            </a:r>
          </a:p>
          <a:p>
            <a:pPr lvl="1"/>
            <a:r>
              <a:rPr lang="en-IN" sz="3600" dirty="0"/>
              <a:t>Edmond-Karp</a:t>
            </a:r>
          </a:p>
          <a:p>
            <a:pPr lvl="1"/>
            <a:r>
              <a:rPr lang="en-IN" sz="3600" dirty="0"/>
              <a:t>Push Re-label Algorithm </a:t>
            </a:r>
          </a:p>
          <a:p>
            <a:pPr lvl="1"/>
            <a:r>
              <a:rPr lang="en-IN" sz="3600" dirty="0"/>
              <a:t>Application of Max Flow to maximum matching problem</a:t>
            </a:r>
          </a:p>
        </p:txBody>
      </p:sp>
    </p:spTree>
    <p:extLst>
      <p:ext uri="{BB962C8B-B14F-4D97-AF65-F5344CB8AC3E}">
        <p14:creationId xmlns:p14="http://schemas.microsoft.com/office/powerpoint/2010/main" val="1622603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AB6B-4D0F-4CA5-43BD-0CC77FE12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275"/>
          </a:xfrm>
        </p:spPr>
        <p:txBody>
          <a:bodyPr/>
          <a:lstStyle/>
          <a:p>
            <a:r>
              <a:rPr lang="en-IN" dirty="0"/>
              <a:t>Module:5 Geometric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C239-74EC-A8D3-825B-8355C3DB3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3680"/>
            <a:ext cx="10515600" cy="4673283"/>
          </a:xfrm>
        </p:spPr>
        <p:txBody>
          <a:bodyPr>
            <a:normAutofit/>
          </a:bodyPr>
          <a:lstStyle/>
          <a:p>
            <a:r>
              <a:rPr lang="en-IN" sz="3600" dirty="0"/>
              <a:t>Line Segments</a:t>
            </a:r>
          </a:p>
          <a:p>
            <a:pPr lvl="1"/>
            <a:r>
              <a:rPr lang="en-IN" sz="3200" dirty="0"/>
              <a:t>Properties, Intersection, sweeping lines </a:t>
            </a:r>
          </a:p>
          <a:p>
            <a:r>
              <a:rPr lang="en-IN" sz="3600" dirty="0"/>
              <a:t>Convex Hull finding algorithms</a:t>
            </a:r>
          </a:p>
          <a:p>
            <a:pPr lvl="1"/>
            <a:r>
              <a:rPr lang="en-IN" sz="3200" dirty="0"/>
              <a:t>Graham’s Scan</a:t>
            </a:r>
          </a:p>
          <a:p>
            <a:pPr lvl="1"/>
            <a:r>
              <a:rPr lang="en-IN" sz="3200" dirty="0"/>
              <a:t>Jarvis’ March Algorithm</a:t>
            </a:r>
          </a:p>
        </p:txBody>
      </p:sp>
    </p:spTree>
    <p:extLst>
      <p:ext uri="{BB962C8B-B14F-4D97-AF65-F5344CB8AC3E}">
        <p14:creationId xmlns:p14="http://schemas.microsoft.com/office/powerpoint/2010/main" val="592798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941F-A665-1C2D-1A0D-60B52A1F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Module:6 Randomized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03560-0500-EDD6-D765-FAC0FE8AF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Randomized quick sort </a:t>
            </a:r>
          </a:p>
          <a:p>
            <a:r>
              <a:rPr lang="en-US" sz="4000" dirty="0"/>
              <a:t>The hiring problem </a:t>
            </a:r>
          </a:p>
          <a:p>
            <a:r>
              <a:rPr lang="en-US" sz="4000" dirty="0"/>
              <a:t>Finding the global Minimum Cut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479417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D8463-366B-A983-8135-E27BA4F60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Module:7 Classes of Complexity and Approximation Algorithms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9FDA5-680B-7ACA-2DB5-7DF270554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/>
              <a:t>The Class P </a:t>
            </a:r>
          </a:p>
          <a:p>
            <a:r>
              <a:rPr lang="en-US" sz="4000" dirty="0"/>
              <a:t>The Class NP </a:t>
            </a:r>
          </a:p>
          <a:p>
            <a:r>
              <a:rPr lang="en-US" sz="4000" dirty="0"/>
              <a:t>Reducibility and NP-completeness </a:t>
            </a:r>
          </a:p>
          <a:p>
            <a:r>
              <a:rPr lang="en-US" sz="4000" dirty="0"/>
              <a:t>SAT (Problem Definition and statement)</a:t>
            </a:r>
          </a:p>
          <a:p>
            <a:r>
              <a:rPr lang="en-US" sz="4000" dirty="0"/>
              <a:t>3SAT</a:t>
            </a:r>
          </a:p>
          <a:p>
            <a:r>
              <a:rPr lang="en-US" sz="4000" dirty="0"/>
              <a:t>Independent Set</a:t>
            </a:r>
          </a:p>
          <a:p>
            <a:r>
              <a:rPr lang="en-US" sz="4000" dirty="0"/>
              <a:t>Clique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2584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E52EB-0D24-24EA-B191-D6A76A21F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Module:7 Classes of Complexity and Approximation Algorithms [cont..]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BD0DA-275A-8368-C007-30B8AD757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/>
              <a:t>Approximation Algorithms</a:t>
            </a:r>
          </a:p>
          <a:p>
            <a:pPr lvl="1"/>
            <a:r>
              <a:rPr lang="en-US" sz="4000" dirty="0"/>
              <a:t>Vertex Cover</a:t>
            </a:r>
          </a:p>
          <a:p>
            <a:pPr lvl="1"/>
            <a:r>
              <a:rPr lang="en-US" sz="4000" dirty="0"/>
              <a:t>Set Cover</a:t>
            </a:r>
          </a:p>
          <a:p>
            <a:pPr lvl="1"/>
            <a:r>
              <a:rPr lang="en-US" sz="4000" dirty="0"/>
              <a:t>Travelling salesman problem</a:t>
            </a:r>
            <a:endParaRPr lang="en-IN" sz="4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5448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3A51B-F959-8073-DA1C-34314458A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Module:8 Contemporary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A385E-229C-6BC3-93E7-B1B53FB78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Will be decided later</a:t>
            </a:r>
          </a:p>
        </p:txBody>
      </p:sp>
    </p:spTree>
    <p:extLst>
      <p:ext uri="{BB962C8B-B14F-4D97-AF65-F5344CB8AC3E}">
        <p14:creationId xmlns:p14="http://schemas.microsoft.com/office/powerpoint/2010/main" val="180826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9E0C-7479-D605-0944-646812F76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4555"/>
          </a:xfrm>
        </p:spPr>
        <p:txBody>
          <a:bodyPr/>
          <a:lstStyle/>
          <a:p>
            <a:r>
              <a:rPr lang="en-IN" dirty="0"/>
              <a:t>Study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BFBAF-7DA3-AC11-9AC9-8792C43EF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360"/>
            <a:ext cx="10515600" cy="4693603"/>
          </a:xfrm>
        </p:spPr>
        <p:txBody>
          <a:bodyPr>
            <a:normAutofit lnSpcReduction="10000"/>
          </a:bodyPr>
          <a:lstStyle/>
          <a:p>
            <a:r>
              <a:rPr lang="en-IN" sz="3200" dirty="0"/>
              <a:t>Text books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800" dirty="0"/>
              <a:t>Thomas H. </a:t>
            </a:r>
            <a:r>
              <a:rPr lang="en-IN" sz="2800" dirty="0" err="1"/>
              <a:t>Cormen</a:t>
            </a:r>
            <a:r>
              <a:rPr lang="en-IN" sz="2800" dirty="0"/>
              <a:t>, C.E. </a:t>
            </a:r>
            <a:r>
              <a:rPr lang="en-IN" sz="2800" dirty="0" err="1"/>
              <a:t>Leiserson</a:t>
            </a:r>
            <a:r>
              <a:rPr lang="en-IN" sz="2800" dirty="0"/>
              <a:t>, R </a:t>
            </a:r>
            <a:r>
              <a:rPr lang="en-IN" sz="2800" dirty="0" err="1"/>
              <a:t>L.Rivest</a:t>
            </a:r>
            <a:r>
              <a:rPr lang="en-IN" sz="2800" dirty="0"/>
              <a:t> and C. Stein, Introduction to Algorithms , Third edition, MIT Press, 2009.</a:t>
            </a:r>
          </a:p>
          <a:p>
            <a:r>
              <a:rPr lang="en-IN" sz="3200" dirty="0"/>
              <a:t>Reference books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800" dirty="0"/>
              <a:t>Jon Kleinberg, </a:t>
            </a:r>
            <a:r>
              <a:rPr lang="en-IN" sz="2800" dirty="0" err="1"/>
              <a:t>ÉvaTardos</a:t>
            </a:r>
            <a:r>
              <a:rPr lang="en-IN" sz="2800" dirty="0"/>
              <a:t> ,Algorithm Design, Pearson education, 2014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800" dirty="0"/>
              <a:t>Ravindra K. Ahuja, Thomas L. </a:t>
            </a:r>
            <a:r>
              <a:rPr lang="en-IN" sz="2800" dirty="0" err="1"/>
              <a:t>Magnanti</a:t>
            </a:r>
            <a:r>
              <a:rPr lang="en-IN" sz="2800" dirty="0"/>
              <a:t>, and James B. Orlin, “Network Flows: Theory, Algorithms, and Applications”, Pearson Education, 2014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800" dirty="0"/>
              <a:t>Rajeev Motwani, Prabhakar Raghavan; Randomized Algorithms, Cambridge University Press, 1995 (Online Print – 2013)</a:t>
            </a:r>
          </a:p>
        </p:txBody>
      </p:sp>
    </p:spTree>
    <p:extLst>
      <p:ext uri="{BB962C8B-B14F-4D97-AF65-F5344CB8AC3E}">
        <p14:creationId xmlns:p14="http://schemas.microsoft.com/office/powerpoint/2010/main" val="301340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8D29-0774-1263-2309-B665A0DE6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Assessment Methodologies and Rubrics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605869B-A533-30C2-1E18-7928B73E47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8481057"/>
              </p:ext>
            </p:extLst>
          </p:nvPr>
        </p:nvGraphicFramePr>
        <p:xfrm>
          <a:off x="883920" y="1825625"/>
          <a:ext cx="10871201" cy="4819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6153">
                  <a:extLst>
                    <a:ext uri="{9D8B030D-6E8A-4147-A177-3AD203B41FA5}">
                      <a16:colId xmlns:a16="http://schemas.microsoft.com/office/drawing/2014/main" val="242559938"/>
                    </a:ext>
                  </a:extLst>
                </a:gridCol>
                <a:gridCol w="3312525">
                  <a:extLst>
                    <a:ext uri="{9D8B030D-6E8A-4147-A177-3AD203B41FA5}">
                      <a16:colId xmlns:a16="http://schemas.microsoft.com/office/drawing/2014/main" val="704641029"/>
                    </a:ext>
                  </a:extLst>
                </a:gridCol>
                <a:gridCol w="1345054">
                  <a:extLst>
                    <a:ext uri="{9D8B030D-6E8A-4147-A177-3AD203B41FA5}">
                      <a16:colId xmlns:a16="http://schemas.microsoft.com/office/drawing/2014/main" val="2788562331"/>
                    </a:ext>
                  </a:extLst>
                </a:gridCol>
                <a:gridCol w="1408351">
                  <a:extLst>
                    <a:ext uri="{9D8B030D-6E8A-4147-A177-3AD203B41FA5}">
                      <a16:colId xmlns:a16="http://schemas.microsoft.com/office/drawing/2014/main" val="3785046865"/>
                    </a:ext>
                  </a:extLst>
                </a:gridCol>
                <a:gridCol w="2959118">
                  <a:extLst>
                    <a:ext uri="{9D8B030D-6E8A-4147-A177-3AD203B41FA5}">
                      <a16:colId xmlns:a16="http://schemas.microsoft.com/office/drawing/2014/main" val="765838883"/>
                    </a:ext>
                  </a:extLst>
                </a:gridCol>
              </a:tblGrid>
              <a:tr h="628422">
                <a:tc>
                  <a:txBody>
                    <a:bodyPr/>
                    <a:lstStyle/>
                    <a:p>
                      <a:r>
                        <a:rPr lang="en-IN" dirty="0"/>
                        <a:t>Assessment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Max 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Weightage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401749"/>
                  </a:ext>
                </a:extLst>
              </a:tr>
              <a:tr h="807972">
                <a:tc>
                  <a:txBody>
                    <a:bodyPr/>
                    <a:lstStyle/>
                    <a:p>
                      <a:r>
                        <a:rPr lang="en-IN" sz="2400" dirty="0"/>
                        <a:t>Quiz-1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Before CAT1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80% of the marks, if </a:t>
                      </a:r>
                    </a:p>
                    <a:p>
                      <a:r>
                        <a:rPr lang="en-US" sz="2400" dirty="0"/>
                        <a:t>re-quiz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904975"/>
                  </a:ext>
                </a:extLst>
              </a:tr>
              <a:tr h="448873">
                <a:tc>
                  <a:txBody>
                    <a:bodyPr/>
                    <a:lstStyle/>
                    <a:p>
                      <a:r>
                        <a:rPr lang="en-IN" sz="2400" dirty="0"/>
                        <a:t>CAT-1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11-02-24 to 17-02-24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517936"/>
                  </a:ext>
                </a:extLst>
              </a:tr>
              <a:tr h="807972">
                <a:tc>
                  <a:txBody>
                    <a:bodyPr/>
                    <a:lstStyle/>
                    <a:p>
                      <a:r>
                        <a:rPr lang="en-IN" sz="2400" dirty="0"/>
                        <a:t>Quiz-2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Between CAT-1 and CAT-2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80% of the marks, if</a:t>
                      </a:r>
                    </a:p>
                    <a:p>
                      <a:r>
                        <a:rPr lang="en-US" sz="2400" dirty="0"/>
                        <a:t>re-quiz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856415"/>
                  </a:ext>
                </a:extLst>
              </a:tr>
              <a:tr h="807972">
                <a:tc>
                  <a:txBody>
                    <a:bodyPr/>
                    <a:lstStyle/>
                    <a:p>
                      <a:r>
                        <a:rPr lang="en-IN" sz="2400" dirty="0"/>
                        <a:t>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Submission after CAT-2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Rubrics is given</a:t>
                      </a:r>
                      <a:br>
                        <a:rPr lang="en-IN" sz="2400" dirty="0"/>
                      </a:br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separately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864181"/>
                  </a:ext>
                </a:extLst>
              </a:tr>
              <a:tr h="807972">
                <a:tc>
                  <a:txBody>
                    <a:bodyPr/>
                    <a:lstStyle/>
                    <a:p>
                      <a:r>
                        <a:rPr lang="en-IN" sz="2400" dirty="0"/>
                        <a:t>CAT-2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01-04-24 to 07-04-24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700918"/>
                  </a:ext>
                </a:extLst>
              </a:tr>
              <a:tr h="448873">
                <a:tc>
                  <a:txBody>
                    <a:bodyPr/>
                    <a:lstStyle/>
                    <a:p>
                      <a:r>
                        <a:rPr lang="en-IN" sz="2400" dirty="0"/>
                        <a:t>FAT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After 06-05-24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061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2878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A0ED8-3518-BCE6-9F5D-2015C8EB2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7435"/>
          </a:xfrm>
        </p:spPr>
        <p:txBody>
          <a:bodyPr/>
          <a:lstStyle/>
          <a:p>
            <a:r>
              <a:rPr lang="en-IN" dirty="0"/>
              <a:t>DA Rubrics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73FBB3-C791-9042-A608-B234D85E8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46" y="1910080"/>
            <a:ext cx="10905546" cy="4277360"/>
          </a:xfrm>
        </p:spPr>
      </p:pic>
    </p:spTree>
    <p:extLst>
      <p:ext uri="{BB962C8B-B14F-4D97-AF65-F5344CB8AC3E}">
        <p14:creationId xmlns:p14="http://schemas.microsoft.com/office/powerpoint/2010/main" val="1402870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1C30B-900F-06E2-AB12-D30103DCA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182F5-EAA0-CE54-3926-66DB3DA6A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080"/>
            <a:ext cx="10515600" cy="4774883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All queries will be addressed physically or through WhatsApp texting , feel free to ask (Advantage: I can easily recognize you)</a:t>
            </a:r>
          </a:p>
          <a:p>
            <a:r>
              <a:rPr lang="en-US" sz="3200" dirty="0">
                <a:solidFill>
                  <a:srgbClr val="FF0000"/>
                </a:solidFill>
              </a:rPr>
              <a:t>Need a single point of contact</a:t>
            </a:r>
          </a:p>
          <a:p>
            <a:r>
              <a:rPr lang="en-US" sz="3200" dirty="0"/>
              <a:t>All DAs must be submitted through VTOP and/or Moodle only. No other mode (such as email) is accepted</a:t>
            </a:r>
          </a:p>
          <a:p>
            <a:r>
              <a:rPr lang="en-US" sz="3200" dirty="0"/>
              <a:t>Submit assignments well in advance to avoid probable network issues/VTOP login errors at the last moment which leads t asking for excuses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20791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74394-549B-FEFB-DEEF-08A0F38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Moodle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A64A4-5253-E5F5-5652-E1F4B475B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4000" dirty="0"/>
              <a:t>Hope it is ready for everyone</a:t>
            </a:r>
            <a:r>
              <a:rPr lang="en-IN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24610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94D5C-DDAC-9776-0846-E7589D7E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FEBF7-D22D-79D5-AECB-53D79D313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87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46444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F5073C-E48F-B829-2AAB-C70D46C7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 you..!!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06CC47-031D-6C9D-54FD-AC30A7D3B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402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">
      <a:majorFont>
        <a:latin typeface="Roboto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614</Words>
  <Application>Microsoft Office PowerPoint</Application>
  <PresentationFormat>Widescreen</PresentationFormat>
  <Paragraphs>135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Roboto</vt:lpstr>
      <vt:lpstr>Office Theme</vt:lpstr>
      <vt:lpstr>BCSE204L Design and Analysis of Algorithms</vt:lpstr>
      <vt:lpstr>About the course</vt:lpstr>
      <vt:lpstr>Course Outcomes</vt:lpstr>
      <vt:lpstr>Module:1 Design Paradigms: Greedy, Divide and Conquer Techniques</vt:lpstr>
      <vt:lpstr>Module:2 Design Paradigms: Dynamic Programming, Backtracking and Branch &amp; Bound Technique</vt:lpstr>
      <vt:lpstr>Module 2 [cont..]</vt:lpstr>
      <vt:lpstr>Module:3 String Matching Algorithms</vt:lpstr>
      <vt:lpstr>Module:4 Graph Algorithms</vt:lpstr>
      <vt:lpstr>Module:5 Geometric Algorithms</vt:lpstr>
      <vt:lpstr>Module:6 Randomized algorithms</vt:lpstr>
      <vt:lpstr>Module:7 Classes of Complexity and Approximation Algorithms</vt:lpstr>
      <vt:lpstr>Module:7 Classes of Complexity and Approximation Algorithms [cont..]</vt:lpstr>
      <vt:lpstr>Module:8 Contemporary Issues</vt:lpstr>
      <vt:lpstr>Study Materials</vt:lpstr>
      <vt:lpstr>Assessment Methodologies and Rubrics</vt:lpstr>
      <vt:lpstr>DA Rubrics</vt:lpstr>
      <vt:lpstr>General Guidelines</vt:lpstr>
      <vt:lpstr>Moodle Account</vt:lpstr>
      <vt:lpstr>Queries</vt:lpstr>
      <vt:lpstr>Thank you..!!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BCSE204L Design and Analysis of Algorithms</dc:title>
  <dc:creator>Sunil Kumar PV</dc:creator>
  <cp:lastModifiedBy>athira  k</cp:lastModifiedBy>
  <cp:revision>11</cp:revision>
  <dcterms:created xsi:type="dcterms:W3CDTF">2022-12-07T10:15:57Z</dcterms:created>
  <dcterms:modified xsi:type="dcterms:W3CDTF">2024-01-03T08:39:41Z</dcterms:modified>
</cp:coreProperties>
</file>