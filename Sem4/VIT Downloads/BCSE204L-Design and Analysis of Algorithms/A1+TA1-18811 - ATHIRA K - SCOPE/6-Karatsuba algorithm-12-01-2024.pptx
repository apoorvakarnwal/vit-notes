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0" r:id="rId8"/>
    <p:sldId id="262" r:id="rId9"/>
    <p:sldId id="263" r:id="rId10"/>
    <p:sldId id="265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5857F-AD33-43D4-9FF9-35E11AC4A957}" v="431" dt="2024-01-11T15:50:14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Kumar PV" userId="4d6db1e2-ead2-4f93-aa6f-4e128f0fa64f" providerId="ADAL" clId="{DB05857F-AD33-43D4-9FF9-35E11AC4A957}"/>
    <pc:docChg chg="undo redo custSel addSld modSld">
      <pc:chgData name="Sunil Kumar PV" userId="4d6db1e2-ead2-4f93-aa6f-4e128f0fa64f" providerId="ADAL" clId="{DB05857F-AD33-43D4-9FF9-35E11AC4A957}" dt="2024-01-11T15:50:14.981" v="649" actId="20577"/>
      <pc:docMkLst>
        <pc:docMk/>
      </pc:docMkLst>
      <pc:sldChg chg="modSp mod">
        <pc:chgData name="Sunil Kumar PV" userId="4d6db1e2-ead2-4f93-aa6f-4e128f0fa64f" providerId="ADAL" clId="{DB05857F-AD33-43D4-9FF9-35E11AC4A957}" dt="2024-01-11T15:40:53.782" v="458" actId="20577"/>
        <pc:sldMkLst>
          <pc:docMk/>
          <pc:sldMk cId="1834838328" sldId="259"/>
        </pc:sldMkLst>
        <pc:spChg chg="mod">
          <ac:chgData name="Sunil Kumar PV" userId="4d6db1e2-ead2-4f93-aa6f-4e128f0fa64f" providerId="ADAL" clId="{DB05857F-AD33-43D4-9FF9-35E11AC4A957}" dt="2024-01-11T15:40:53.782" v="458" actId="20577"/>
          <ac:spMkLst>
            <pc:docMk/>
            <pc:sldMk cId="1834838328" sldId="259"/>
            <ac:spMk id="2" creationId="{649961B0-3249-AB52-9B98-08F3DA9A16DA}"/>
          </ac:spMkLst>
        </pc:spChg>
        <pc:spChg chg="mod">
          <ac:chgData name="Sunil Kumar PV" userId="4d6db1e2-ead2-4f93-aa6f-4e128f0fa64f" providerId="ADAL" clId="{DB05857F-AD33-43D4-9FF9-35E11AC4A957}" dt="2024-01-11T15:34:32.578" v="352"/>
          <ac:spMkLst>
            <pc:docMk/>
            <pc:sldMk cId="1834838328" sldId="259"/>
            <ac:spMk id="3" creationId="{9C28A304-DAF4-5B9D-2BA7-9C72B7A091A2}"/>
          </ac:spMkLst>
        </pc:spChg>
      </pc:sldChg>
      <pc:sldChg chg="modSp mod">
        <pc:chgData name="Sunil Kumar PV" userId="4d6db1e2-ead2-4f93-aa6f-4e128f0fa64f" providerId="ADAL" clId="{DB05857F-AD33-43D4-9FF9-35E11AC4A957}" dt="2024-01-11T15:47:22.507" v="556"/>
        <pc:sldMkLst>
          <pc:docMk/>
          <pc:sldMk cId="1529141203" sldId="260"/>
        </pc:sldMkLst>
        <pc:spChg chg="mod">
          <ac:chgData name="Sunil Kumar PV" userId="4d6db1e2-ead2-4f93-aa6f-4e128f0fa64f" providerId="ADAL" clId="{DB05857F-AD33-43D4-9FF9-35E11AC4A957}" dt="2024-01-11T15:47:22.507" v="556"/>
          <ac:spMkLst>
            <pc:docMk/>
            <pc:sldMk cId="1529141203" sldId="260"/>
            <ac:spMk id="3" creationId="{349F869A-5A06-1BC0-8671-937FFD16DF78}"/>
          </ac:spMkLst>
        </pc:spChg>
      </pc:sldChg>
      <pc:sldChg chg="modSp">
        <pc:chgData name="Sunil Kumar PV" userId="4d6db1e2-ead2-4f93-aa6f-4e128f0fa64f" providerId="ADAL" clId="{DB05857F-AD33-43D4-9FF9-35E11AC4A957}" dt="2024-01-11T15:44:58.662" v="544"/>
        <pc:sldMkLst>
          <pc:docMk/>
          <pc:sldMk cId="1612458485" sldId="261"/>
        </pc:sldMkLst>
        <pc:spChg chg="mod">
          <ac:chgData name="Sunil Kumar PV" userId="4d6db1e2-ead2-4f93-aa6f-4e128f0fa64f" providerId="ADAL" clId="{DB05857F-AD33-43D4-9FF9-35E11AC4A957}" dt="2024-01-11T15:44:58.662" v="544"/>
          <ac:spMkLst>
            <pc:docMk/>
            <pc:sldMk cId="1612458485" sldId="261"/>
            <ac:spMk id="3" creationId="{56000CD7-1C98-589D-2314-711B096FFE50}"/>
          </ac:spMkLst>
        </pc:spChg>
      </pc:sldChg>
      <pc:sldChg chg="modSp mod">
        <pc:chgData name="Sunil Kumar PV" userId="4d6db1e2-ead2-4f93-aa6f-4e128f0fa64f" providerId="ADAL" clId="{DB05857F-AD33-43D4-9FF9-35E11AC4A957}" dt="2024-01-11T15:48:16.787" v="586" actId="20577"/>
        <pc:sldMkLst>
          <pc:docMk/>
          <pc:sldMk cId="2495198756" sldId="264"/>
        </pc:sldMkLst>
        <pc:spChg chg="mod">
          <ac:chgData name="Sunil Kumar PV" userId="4d6db1e2-ead2-4f93-aa6f-4e128f0fa64f" providerId="ADAL" clId="{DB05857F-AD33-43D4-9FF9-35E11AC4A957}" dt="2024-01-11T15:48:16.787" v="586" actId="20577"/>
          <ac:spMkLst>
            <pc:docMk/>
            <pc:sldMk cId="2495198756" sldId="264"/>
            <ac:spMk id="2" creationId="{1AF57F9E-FCBE-3BDE-3CA7-8C86193669AB}"/>
          </ac:spMkLst>
        </pc:spChg>
      </pc:sldChg>
      <pc:sldChg chg="modSp mod">
        <pc:chgData name="Sunil Kumar PV" userId="4d6db1e2-ead2-4f93-aa6f-4e128f0fa64f" providerId="ADAL" clId="{DB05857F-AD33-43D4-9FF9-35E11AC4A957}" dt="2024-01-11T15:49:36.186" v="643" actId="20577"/>
        <pc:sldMkLst>
          <pc:docMk/>
          <pc:sldMk cId="3518014031" sldId="265"/>
        </pc:sldMkLst>
        <pc:spChg chg="mod">
          <ac:chgData name="Sunil Kumar PV" userId="4d6db1e2-ead2-4f93-aa6f-4e128f0fa64f" providerId="ADAL" clId="{DB05857F-AD33-43D4-9FF9-35E11AC4A957}" dt="2024-01-11T15:49:36.186" v="643" actId="20577"/>
          <ac:spMkLst>
            <pc:docMk/>
            <pc:sldMk cId="3518014031" sldId="265"/>
            <ac:spMk id="2" creationId="{F30F6C54-55F6-D738-3860-348618E0316A}"/>
          </ac:spMkLst>
        </pc:spChg>
        <pc:spChg chg="mod">
          <ac:chgData name="Sunil Kumar PV" userId="4d6db1e2-ead2-4f93-aa6f-4e128f0fa64f" providerId="ADAL" clId="{DB05857F-AD33-43D4-9FF9-35E11AC4A957}" dt="2024-01-11T15:49:25.494" v="633" actId="20577"/>
          <ac:spMkLst>
            <pc:docMk/>
            <pc:sldMk cId="3518014031" sldId="265"/>
            <ac:spMk id="3" creationId="{59E9F038-FDE8-B929-CC42-98C06023DD81}"/>
          </ac:spMkLst>
        </pc:spChg>
      </pc:sldChg>
      <pc:sldChg chg="modSp">
        <pc:chgData name="Sunil Kumar PV" userId="4d6db1e2-ead2-4f93-aa6f-4e128f0fa64f" providerId="ADAL" clId="{DB05857F-AD33-43D4-9FF9-35E11AC4A957}" dt="2024-01-11T15:50:14.981" v="649" actId="20577"/>
        <pc:sldMkLst>
          <pc:docMk/>
          <pc:sldMk cId="1556749786" sldId="266"/>
        </pc:sldMkLst>
        <pc:spChg chg="mod">
          <ac:chgData name="Sunil Kumar PV" userId="4d6db1e2-ead2-4f93-aa6f-4e128f0fa64f" providerId="ADAL" clId="{DB05857F-AD33-43D4-9FF9-35E11AC4A957}" dt="2024-01-11T15:50:14.981" v="649" actId="20577"/>
          <ac:spMkLst>
            <pc:docMk/>
            <pc:sldMk cId="1556749786" sldId="266"/>
            <ac:spMk id="3" creationId="{09363C72-759B-A350-2BE5-188CA1E5057C}"/>
          </ac:spMkLst>
        </pc:spChg>
      </pc:sldChg>
      <pc:sldChg chg="modSp new mod">
        <pc:chgData name="Sunil Kumar PV" userId="4d6db1e2-ead2-4f93-aa6f-4e128f0fa64f" providerId="ADAL" clId="{DB05857F-AD33-43D4-9FF9-35E11AC4A957}" dt="2024-01-11T15:41:23.799" v="483" actId="27636"/>
        <pc:sldMkLst>
          <pc:docMk/>
          <pc:sldMk cId="1798336910" sldId="268"/>
        </pc:sldMkLst>
        <pc:spChg chg="mod">
          <ac:chgData name="Sunil Kumar PV" userId="4d6db1e2-ead2-4f93-aa6f-4e128f0fa64f" providerId="ADAL" clId="{DB05857F-AD33-43D4-9FF9-35E11AC4A957}" dt="2024-01-11T15:41:14.430" v="476" actId="20577"/>
          <ac:spMkLst>
            <pc:docMk/>
            <pc:sldMk cId="1798336910" sldId="268"/>
            <ac:spMk id="2" creationId="{F0A55FC5-9254-A459-69FB-C8F15473F74E}"/>
          </ac:spMkLst>
        </pc:spChg>
        <pc:spChg chg="mod">
          <ac:chgData name="Sunil Kumar PV" userId="4d6db1e2-ead2-4f93-aa6f-4e128f0fa64f" providerId="ADAL" clId="{DB05857F-AD33-43D4-9FF9-35E11AC4A957}" dt="2024-01-11T15:41:23.799" v="483" actId="27636"/>
          <ac:spMkLst>
            <pc:docMk/>
            <pc:sldMk cId="1798336910" sldId="268"/>
            <ac:spMk id="3" creationId="{EC19ED28-1B97-7371-4884-31EBD17C3E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5BB7-3AD8-30F2-59E9-9A49D67C8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1E50D-F2F7-9597-0934-479269251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23F29-8E46-F4F8-F0AB-5F986962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7888-7DE2-CC6E-C3C2-9917BBAF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59EEB-D59D-90FE-81CB-043690C0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42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AFD3-B9C9-D365-899E-0EEC3820D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64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BFFBB-DD32-BC1B-2755-9F01A457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606"/>
            <a:ext cx="10515600" cy="4838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11F11-39C3-DC44-E478-6A9D11F0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F8EAF-536D-1D7A-42E2-32095BE9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690F-85CC-E3EE-0F56-A31C552B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3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8419-43AE-A12A-0FBC-FB5BF694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98B64-156D-EEBE-D430-F2915C13E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810A6-C7C5-023E-FABB-F6FF6F0F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A1BD1-4A76-2B9C-EF87-EB445BA0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D56B-BF51-89E8-227D-73DDA384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98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D08E-7C62-3946-0403-187DC310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CEBB-3211-921F-4F61-90C0D7F68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CECF2-0A34-E04B-2F94-F0736C941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CC89B-6E5B-E43D-7F53-C386CCBB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54CC3-E442-FA32-6F75-486B6908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AEAB2-3670-C8B3-CD22-C319ECF7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03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3429-ADC7-81D3-A756-7530D4C0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EE8C9-CCE5-2EC8-5890-AD7CFF50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A6EF0-2BE5-0B13-35ED-F14D46CD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B2419-B81E-7CF3-1966-24BD57307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B813A-FDD5-3B4C-7026-08F7F31870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C76E6-ACE7-A118-9604-80BDAAE0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65142-E629-88B2-6B28-6F9D5992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61FCA-E11D-5976-6884-95DFFE0B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05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97AF-8B4B-50B3-2B2F-39DAA5D2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86DEB-8952-311F-7B1C-318F6DCD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ABC0A-281B-586F-A352-5E15DD6D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30D76-9C36-9993-5D5C-787479E3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1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1EA08-6D5B-E462-7A5F-848117E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6391D-897C-84A2-54DE-76BA39B2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1B17E-FCA6-9A51-27D6-9D0BC0BF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60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94A2-C621-86E0-FC3D-39A8C622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BC12-C861-5925-C592-BCC98AA17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56542-7838-EFC3-4128-EA157688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CD944-20B7-03E1-C530-6484D8C8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DC827-00A9-54D8-6A1D-55FBB8DD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CC867-6B80-4D0B-B5CE-6F7BFE8C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26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5E6D-2720-CEA1-C592-D23F975D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07F24-24F0-FB28-01E7-35080EF85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B36D4-5E7D-81A1-7153-A60474E0B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99581-ADBA-62A6-5678-D85930D3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C0E1D-B92C-41C4-8148-70420663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70FE-5F08-7A51-9E09-F9CC89E6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B7B2-230F-D889-0AC2-3A0F9C43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57F41-D6B3-7C26-A4E4-940B73299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A2B4-D0F3-6E5E-035A-E4735B72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9E1E6-CF0E-C6F1-198D-3BEEAF63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AEB25-35D7-E0C9-D98A-D248FC0A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98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73D5A-5AD0-5DAC-66F3-A87ED0146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AFE6A-DEB7-F19E-9BC7-B3F6753A6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DF809-53D1-F6C6-EA9D-AFE860166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FA2D4-6B23-A712-6022-79975A36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4E88C-72EF-34D4-EE64-BBD34653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55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FC1CF-1FC9-9C28-6E86-1E6779BF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7745E-078D-D13A-5447-2DEF8EC50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276F-68A9-4CD9-2907-881BE87D1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B6C07-2401-4AB3-BDBE-4EE7278E1732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698A-4877-FD4B-15F1-F6C80F051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71FE-87F1-CECB-702C-98145D16F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134EA-0969-4F20-990D-C65FA78B8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8AD4-4A0D-3FD6-D101-E5C67705B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BCSE204L Design and</a:t>
            </a:r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Analysis of Algorithms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31AB2-770A-1971-0512-DE3C9DE5C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effectLst/>
                <a:latin typeface="Arial" panose="020B0604020202020204" pitchFamily="34" charset="0"/>
              </a:rPr>
              <a:t>Module-1</a:t>
            </a:r>
            <a:br>
              <a:rPr lang="en-IN" sz="3600" dirty="0"/>
            </a:br>
            <a:r>
              <a:rPr lang="en-IN" sz="3600" dirty="0"/>
              <a:t>Topic-5: </a:t>
            </a:r>
            <a:r>
              <a:rPr lang="en-IN" sz="3600" dirty="0">
                <a:effectLst/>
                <a:latin typeface="Arial" panose="020B0604020202020204" pitchFamily="34" charset="0"/>
              </a:rPr>
              <a:t>Karatsuba Algorithm (D&amp;C)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5137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7A50-F472-466F-FC50-D6EB945C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Multiplying Large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4FE0A-134A-83FD-C7E2-31BFC2D7B57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4800" dirty="0"/>
                  <a:t>Will take </a:t>
                </a:r>
                <a14:m>
                  <m:oMath xmlns:m="http://schemas.openxmlformats.org/officeDocument/2006/math">
                    <m:r>
                      <a:rPr lang="en-IN" sz="48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sz="4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4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4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4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4800" dirty="0"/>
                  <a:t> time where </a:t>
                </a:r>
                <a14:m>
                  <m:oMath xmlns:m="http://schemas.openxmlformats.org/officeDocument/2006/math">
                    <m:r>
                      <a:rPr lang="en-IN" sz="4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4800" dirty="0"/>
                  <a:t> is the number of digits of the larger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4FE0A-134A-83FD-C7E2-31BFC2D7B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941" t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CB4815-0DF4-32E5-99D2-172C39DC11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300A9C-4744-D0FD-3D44-1A9FE42A5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303" y="1596095"/>
            <a:ext cx="5876177" cy="381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19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99252B-0030-C1B6-7775-29DF71F1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Karatsuba Algorithm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C27F0-1C40-3324-C904-E6D6A4DE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IN" sz="3600" dirty="0"/>
              <a:t>In Information Security, cryptography, number theory etc., integers of length 128/246 are to be multiplied</a:t>
            </a:r>
          </a:p>
          <a:p>
            <a:pPr>
              <a:lnSpc>
                <a:spcPct val="110000"/>
              </a:lnSpc>
            </a:pPr>
            <a:r>
              <a:rPr lang="en-IN" sz="3600" dirty="0"/>
              <a:t>Traditional multiplication becomes expensive</a:t>
            </a:r>
          </a:p>
          <a:p>
            <a:pPr>
              <a:lnSpc>
                <a:spcPct val="110000"/>
              </a:lnSpc>
            </a:pPr>
            <a:r>
              <a:rPr lang="en-IN" sz="3600" dirty="0"/>
              <a:t> D&amp;C techniques can save time</a:t>
            </a:r>
          </a:p>
          <a:p>
            <a:pPr>
              <a:lnSpc>
                <a:spcPct val="110000"/>
              </a:lnSpc>
            </a:pPr>
            <a:r>
              <a:rPr lang="en-IN" sz="3600" dirty="0"/>
              <a:t>Karatsuba Algorithm, put forward by the Russian Mathematician </a:t>
            </a:r>
            <a:r>
              <a:rPr lang="en-IN" sz="3600" dirty="0">
                <a:solidFill>
                  <a:srgbClr val="FF0000"/>
                </a:solidFill>
              </a:rPr>
              <a:t>Anatoli Karatsuba </a:t>
            </a:r>
            <a:r>
              <a:rPr lang="en-IN" sz="3600" dirty="0"/>
              <a:t>in 1962 for </a:t>
            </a:r>
            <a:r>
              <a:rPr lang="en-IN" sz="3600" dirty="0">
                <a:solidFill>
                  <a:srgbClr val="FF0000"/>
                </a:solidFill>
              </a:rPr>
              <a:t>faster integer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90394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61B0-3249-AB52-9B98-08F3DA9A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Karatsuba: Basic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8A304-DAF4-5B9D-2BA7-9C72B7A09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IN" sz="3500" dirty="0"/>
                  <a:t>Let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 =1026</m:t>
                    </m:r>
                    <m:r>
                      <a:rPr lang="en-IN" sz="3500" b="0" i="1" dirty="0" smtClean="0">
                        <a:latin typeface="Cambria Math" panose="02040503050406030204" pitchFamily="18" charset="0"/>
                      </a:rPr>
                      <m:t>732 </m:t>
                    </m:r>
                  </m:oMath>
                </a14:m>
                <a:r>
                  <a:rPr lang="en-IN" sz="3500" dirty="0"/>
                  <a:t>and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 =7329</m:t>
                    </m:r>
                    <m:r>
                      <a:rPr lang="en-IN" sz="3500" b="0" i="1" dirty="0" smtClean="0">
                        <a:latin typeface="Cambria Math" panose="02040503050406030204" pitchFamily="18" charset="0"/>
                      </a:rPr>
                      <m:t>12 </m:t>
                    </m:r>
                  </m:oMath>
                </a14:m>
                <a:r>
                  <a:rPr lang="en-IN" sz="3500" dirty="0"/>
                  <a:t>and we need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sz="3500" dirty="0"/>
              </a:p>
              <a:p>
                <a:pPr>
                  <a:lnSpc>
                    <a:spcPct val="100000"/>
                  </a:lnSpc>
                </a:pPr>
                <a:r>
                  <a:rPr lang="en-IN" sz="3500" dirty="0"/>
                  <a:t>Let the number of digits in the larger number be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3500" dirty="0"/>
              </a:p>
              <a:p>
                <a:pPr>
                  <a:lnSpc>
                    <a:spcPct val="100000"/>
                  </a:lnSpc>
                </a:pPr>
                <a:r>
                  <a:rPr lang="en-IN" sz="3500" dirty="0"/>
                  <a:t>The smaller number can be appropriately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3500" dirty="0"/>
                  <a:t>-prefixed to make that also with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500" dirty="0"/>
                  <a:t> digits (so,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3500" dirty="0"/>
                  <a:t> becomes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0732912</m:t>
                    </m:r>
                  </m:oMath>
                </a14:m>
                <a:endParaRPr lang="en-IN" sz="3500" dirty="0"/>
              </a:p>
              <a:p>
                <a:pPr>
                  <a:lnSpc>
                    <a:spcPct val="100000"/>
                  </a:lnSpc>
                </a:pPr>
                <a:r>
                  <a:rPr lang="en-IN" sz="3500" dirty="0"/>
                  <a:t>In all cases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500" dirty="0"/>
                  <a:t> must be even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sz="3500" dirty="0"/>
                  <a:t>If not, prefix zeros in  both numbers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8A304-DAF4-5B9D-2BA7-9C72B7A09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018" b="-52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83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5FC5-9254-A459-69FB-C8F15473F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Karatsuba: Applying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19ED28-1B97-7371-4884-31EBD17C3E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3500" dirty="0"/>
                  <a:t>Here the #digits is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sz="3500" dirty="0"/>
                  <a:t>. </a:t>
                </a:r>
              </a:p>
              <a:p>
                <a:r>
                  <a:rPr lang="en-IN" sz="3500" dirty="0"/>
                  <a:t>So, one 0 is to be prefixed in both the numbers to make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500" dirty="0"/>
                  <a:t> even ( ie.,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IN" sz="3500" dirty="0"/>
                  <a:t> )</a:t>
                </a:r>
                <a:endParaRPr lang="en-US" sz="3500" dirty="0"/>
              </a:p>
              <a:p>
                <a:r>
                  <a:rPr lang="en-US" sz="3500" dirty="0"/>
                  <a:t>After these adjustments, the numbers are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=01026732</m:t>
                    </m:r>
                  </m:oMath>
                </a14:m>
                <a:r>
                  <a:rPr lang="en-US" sz="3500" dirty="0"/>
                  <a:t> and </a:t>
                </a:r>
                <a14:m>
                  <m:oMath xmlns:m="http://schemas.openxmlformats.org/officeDocument/2006/math"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3500" b="0" i="1" smtClean="0">
                        <a:latin typeface="Cambria Math" panose="02040503050406030204" pitchFamily="18" charset="0"/>
                      </a:rPr>
                      <m:t>=00732912</m:t>
                    </m:r>
                  </m:oMath>
                </a14:m>
                <a:r>
                  <a:rPr lang="en-US" sz="3500" dirty="0"/>
                  <a:t> </a:t>
                </a:r>
              </a:p>
              <a:p>
                <a:r>
                  <a:rPr lang="en-US" sz="3500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3500" dirty="0"/>
                  <a:t>, here it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35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3500" dirty="0"/>
              </a:p>
              <a:p>
                <a:r>
                  <a:rPr lang="en-US" sz="3500" dirty="0"/>
                  <a:t>Divide 𝑥 and 𝑦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35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3500" dirty="0"/>
                  <a:t> and express them as</a:t>
                </a:r>
              </a:p>
              <a:p>
                <a14:m>
                  <m:oMath xmlns:m="http://schemas.openxmlformats.org/officeDocument/2006/math"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=0102∗</m:t>
                    </m:r>
                    <m:sSup>
                      <m:sSupPr>
                        <m:ctrlPr>
                          <a:rPr lang="en-US" sz="35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+6732</m:t>
                    </m:r>
                  </m:oMath>
                </a14:m>
                <a:r>
                  <a:rPr lang="en-US" sz="3500" dirty="0"/>
                  <a:t> and </a:t>
                </a:r>
                <a14:m>
                  <m:oMath xmlns:m="http://schemas.openxmlformats.org/officeDocument/2006/math"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=0073∗</m:t>
                    </m:r>
                    <m:sSup>
                      <m:sSupPr>
                        <m:ctrlPr>
                          <a:rPr lang="en-US" sz="35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5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500" i="1" dirty="0" smtClean="0">
                        <a:latin typeface="Cambria Math" panose="02040503050406030204" pitchFamily="18" charset="0"/>
                      </a:rPr>
                      <m:t>+2912</m:t>
                    </m:r>
                  </m:oMath>
                </a14:m>
                <a:r>
                  <a:rPr lang="en-US" sz="3500" dirty="0"/>
                  <a:t> 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19ED28-1B97-7371-4884-31EBD17C3E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40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336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421A-FF7E-5BB9-C004-90445FC8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Karatsuba: Generalising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000CD7-1C98-589D-2314-711B096FFE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600" dirty="0"/>
                  <a:t>Thus, the numbers are divided into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600" dirty="0"/>
                  <a:t> as:</a:t>
                </a:r>
              </a:p>
              <a:p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/>
                  <a:t> and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600" i="1" dirty="0" err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sz="3600" dirty="0"/>
                  <a:t> such that </a:t>
                </a:r>
                <a14:m>
                  <m:oMath xmlns:m="http://schemas.openxmlformats.org/officeDocument/2006/math">
                    <m:r>
                      <a:rPr lang="en-IN" sz="3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/>
                  <a:t> and </a:t>
                </a:r>
                <a14:m>
                  <m:oMath xmlns:m="http://schemas.openxmlformats.org/officeDocument/2006/math">
                    <m:r>
                      <a:rPr lang="en-IN" sz="36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3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IN" sz="3600" dirty="0"/>
              </a:p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3600" dirty="0"/>
                  <a:t>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/>
                  <a:t>)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sz="36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endParaRPr lang="en-IN" sz="3600" dirty="0"/>
              </a:p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I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endParaRPr lang="en-IN" sz="3600" dirty="0"/>
              </a:p>
              <a:p>
                <a:endParaRPr lang="en-IN" sz="3600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000CD7-1C98-589D-2314-711B096FF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1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4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A0B3-7A80-02F6-26FD-459C8FBE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Karatsuba: Generalising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F869A-5A06-1BC0-8671-937FFD16DF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3200" dirty="0"/>
                  <a:t>But still, we have 4 multiplications</a:t>
                </a:r>
              </a:p>
              <a:p>
                <a:r>
                  <a:rPr lang="en-US" sz="3200" dirty="0"/>
                  <a:t>But WKT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Substituting this </a:t>
                </a: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I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endParaRPr lang="en-IN" sz="3200" dirty="0"/>
              </a:p>
              <a:p>
                <a:r>
                  <a:rPr lang="en-US" sz="3200" dirty="0"/>
                  <a:t>Now the technique becomes recursive:</a:t>
                </a: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I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)]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200" dirty="0"/>
              </a:p>
              <a:p>
                <a:endParaRPr lang="en-US" sz="32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F869A-5A06-1BC0-8671-937FFD16D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3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14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57A7-BFD1-C52B-1D14-74165B26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Karatsuba D&amp;C Working</a:t>
            </a:r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72495E1-CC68-6C1A-67C5-3CADD258A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34"/>
          <a:stretch/>
        </p:blipFill>
        <p:spPr>
          <a:xfrm>
            <a:off x="1220052" y="1253766"/>
            <a:ext cx="9751895" cy="54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00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08F0-0FA4-ACC7-CA72-A18138FF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9463-4AF6-ABB1-D1A4-3C23A3E31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4" descr="A screenshot of a video game">
            <a:extLst>
              <a:ext uri="{FF2B5EF4-FFF2-40B4-BE49-F238E27FC236}">
                <a16:creationId xmlns:a16="http://schemas.microsoft.com/office/drawing/2014/main" id="{8B0A0C85-747F-6D7F-350A-684699D98F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9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6C54-55F6-D738-3860-348618E0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Karatsuba Demo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9F038-FDE8-B929-CC42-98C06023D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400" dirty="0"/>
                  <a:t>On board</a:t>
                </a:r>
              </a:p>
              <a:p>
                <a14:m>
                  <m:oMath xmlns:m="http://schemas.openxmlformats.org/officeDocument/2006/math"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=1026732</m:t>
                    </m:r>
                  </m:oMath>
                </a14:m>
                <a:r>
                  <a:rPr lang="en-IN" sz="4400" dirty="0"/>
                  <a:t>, </a:t>
                </a:r>
                <a14:m>
                  <m:oMath xmlns:m="http://schemas.openxmlformats.org/officeDocument/2006/math"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=732912</m:t>
                    </m:r>
                  </m:oMath>
                </a14:m>
                <a:r>
                  <a:rPr lang="en-IN" sz="4400" dirty="0"/>
                  <a:t> find </a:t>
                </a:r>
                <a14:m>
                  <m:oMath xmlns:m="http://schemas.openxmlformats.org/officeDocument/2006/math"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sz="4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9F038-FDE8-B929-CC42-98C06023D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45" t="-40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014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7F9E-FCBE-3BDE-3CA7-8C861936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(After digit adjustments)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FE414-30D7-AD30-9DCA-E29017635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30550"/>
            <a:ext cx="11721181" cy="5017850"/>
          </a:xfrm>
        </p:spPr>
      </p:pic>
    </p:spTree>
    <p:extLst>
      <p:ext uri="{BB962C8B-B14F-4D97-AF65-F5344CB8AC3E}">
        <p14:creationId xmlns:p14="http://schemas.microsoft.com/office/powerpoint/2010/main" val="249519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7DC0-ADC6-2C4B-F6BC-C740A2BE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63C72-759B-A350-2BE5-188CA1E50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/>
                  <a:t>Computation of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𝑏𝑑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600" dirty="0"/>
                  <a:t>and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𝑝𝑙𝑢𝑠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would take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/2)</m:t>
                    </m:r>
                  </m:oMath>
                </a14:m>
                <a:r>
                  <a:rPr lang="en-US" sz="3600" dirty="0"/>
                  <a:t> time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Since multiplication by</a:t>
                </a:r>
                <a14:m>
                  <m:oMath xmlns:m="http://schemas.openxmlformats.org/officeDocument/2006/math">
                    <m:r>
                      <a:rPr lang="en-IN" sz="3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3600" dirty="0"/>
                  <a:t> is left shift, the last return statement will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3600" dirty="0"/>
                  <a:t> time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600" dirty="0"/>
              </a:p>
              <a:p>
                <a:pPr>
                  <a:lnSpc>
                    <a:spcPct val="100000"/>
                  </a:lnSpc>
                </a:pPr>
                <a:r>
                  <a:rPr lang="en-IN" sz="3600" dirty="0"/>
                  <a:t>Solving using Master’s method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1.58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3600" dirty="0"/>
                  <a:t>, better than traditional method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63C72-759B-A350-2BE5-188CA1E50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2018" r="-2435" b="-6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74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FBE8B-F327-9605-FCAF-A8FC7AFA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1B911-C841-EAE2-3148-20A36C3C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4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521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Roboto</vt:lpstr>
      <vt:lpstr>Office Theme</vt:lpstr>
      <vt:lpstr>BCSE204L Design and Analysis of Algorithms</vt:lpstr>
      <vt:lpstr>Multiplying Large Integers</vt:lpstr>
      <vt:lpstr>Karatsuba Algorithm</vt:lpstr>
      <vt:lpstr>Karatsuba: Basic Rules</vt:lpstr>
      <vt:lpstr>Karatsuba: Applying Rules</vt:lpstr>
      <vt:lpstr>Karatsuba: Generalising</vt:lpstr>
      <vt:lpstr>Karatsuba: Generalising</vt:lpstr>
      <vt:lpstr>Karatsuba D&amp;C Working</vt:lpstr>
      <vt:lpstr>PowerPoint Presentation</vt:lpstr>
      <vt:lpstr>Karatsuba Demo</vt:lpstr>
      <vt:lpstr>Pseudocode (After digit adjustments)</vt:lpstr>
      <vt:lpstr>Analysis</vt:lpstr>
      <vt:lpstr>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BCSE204L Design and Analysis of Algorithms</dc:title>
  <dc:creator>Sunil Kumar PV</dc:creator>
  <cp:lastModifiedBy>Sunil Kumar PV</cp:lastModifiedBy>
  <cp:revision>12</cp:revision>
  <dcterms:created xsi:type="dcterms:W3CDTF">2022-12-20T14:37:41Z</dcterms:created>
  <dcterms:modified xsi:type="dcterms:W3CDTF">2024-01-11T15:50:20Z</dcterms:modified>
</cp:coreProperties>
</file>