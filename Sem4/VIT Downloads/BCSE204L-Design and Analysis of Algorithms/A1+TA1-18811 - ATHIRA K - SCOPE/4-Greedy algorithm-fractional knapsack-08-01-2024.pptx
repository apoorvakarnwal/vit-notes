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77" r:id="rId5"/>
    <p:sldId id="278" r:id="rId6"/>
    <p:sldId id="259" r:id="rId7"/>
    <p:sldId id="260" r:id="rId8"/>
    <p:sldId id="281" r:id="rId9"/>
    <p:sldId id="276" r:id="rId10"/>
    <p:sldId id="261" r:id="rId11"/>
    <p:sldId id="262" r:id="rId12"/>
    <p:sldId id="282" r:id="rId13"/>
    <p:sldId id="283" r:id="rId14"/>
    <p:sldId id="279" r:id="rId15"/>
    <p:sldId id="26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80" d="100"/>
          <a:sy n="80" d="100"/>
        </p:scale>
        <p:origin x="142" y="-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4795-1204-114F-CBC6-BC6EBB95E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818A4-0DB7-2ECD-6BC6-5CB53EA08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8C8FE-C144-4B31-476A-94B6815F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ABACF-DA7E-E20B-8FB7-1941119D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FBEF-426E-4F51-5DE6-DC7EAA69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AA13-1272-2018-8F00-D5CB3E3B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191A-B9D1-9867-4336-F3BA58B97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26761-EDD4-7D5A-CA86-20D68904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B241-C56F-3F28-DA9F-CD19CEFF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A9B51-933D-FD6D-35AA-2E5A5E4C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51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FC98-FCDE-FD77-7E0B-BCAE1C5D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01C3E-9D2B-925B-1B57-BC25B22ED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B7B87-A072-CBC6-9924-B23A0FCF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E13E-7202-517C-6EA7-FB6ECC74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25DBE-6A62-F6D9-CC4B-5BEB9A28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6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E97C-B13E-4434-557E-14ADD6A3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9152-4869-8AEC-F5DB-08080A266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01F10-6881-2341-CDDA-1F05E3FA2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568D-4283-83B2-FFA9-D65BD142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7FC00-A5D6-9C0D-2A3F-7302BD66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1484E-2206-1DCD-B827-EEFD003F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0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5E68-BA6D-44A2-8CD6-D757988A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F4CF-3CA3-D450-0238-48C606B9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A33DB-C551-BA38-AB26-E337EB233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8FB5E-C489-70AD-E8E4-AB6B9729F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EE9EB-8623-6E03-275E-8E68CBF92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1D457-840E-C7DE-5073-50B28E8F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0718D-3223-BB46-92D9-218071FF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C031E-0EB1-1520-BE60-7157A7A9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35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8527-D5EC-947D-0DBF-A69B50C7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CEBF9-2E25-79A3-ACD1-DA0FF1BD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5F51E-103E-D69B-0D8E-5934F16B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FC2D8-81DF-79CA-F7C6-8FD21828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78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C0F30-DD8E-0018-EC91-5E3F9679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D7FED-C9E5-9F79-3EF1-F68E660B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E0BA0-DDD8-2212-DFEF-33873C3C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67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A519-0734-BC96-240E-C9F684A6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E4456-95A6-3DC6-D60B-DA31ED95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78ABD-870C-F423-47D9-2F185389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31AD5-18D8-F72E-5054-004C1294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E8B22-F0BA-C516-18FC-1840EBF6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39ED7-10C6-85BB-6507-2244C8A2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0102-6C96-1960-F49C-97312DAD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7705C-51B0-3976-4382-E71CDD219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62644-9325-104F-CB3B-963A57B2F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53C0B-1D3A-37A9-754C-EA23E877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1BB57-D851-35CB-B0F4-75D2A0B2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69B4C-7C88-9ACB-E470-5475046A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8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D5AB-C6C0-8C3A-CB2A-84D5D819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67D44-0D72-FC08-01DE-070ED4387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0050-0F5B-E844-492D-DFF7CB69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3863-2740-E2A2-0C88-132D5663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A9933-E111-4578-CDCB-9B7DC985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69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BDD34-99F5-BEE8-8983-42657D24E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17C40-9619-A4AE-5D7E-54456769C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B483-BEC5-C119-314D-E30A8706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0250-5402-2CC4-576F-CA90B37C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B278-CD06-0723-08C9-4978EBC5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CB46F-4403-4749-4F2B-7AD97356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52CF-30FE-F042-F7BE-7A55FB31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DAA09-AAB0-ECA9-A8BF-02CABF403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97FA-8F4B-4223-B561-1782FF2D8113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D8C1-6209-68BE-9E6B-7E7DED698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8159-5AD2-50DA-362C-4CAF2D219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0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DBD4-05EB-8A09-8E47-0FCCD3189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BCSE204L Design and Analysis of Algorithms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F49B9-1190-26D2-DA02-4713CF297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308" y="4061754"/>
            <a:ext cx="9470692" cy="1780245"/>
          </a:xfrm>
        </p:spPr>
        <p:txBody>
          <a:bodyPr>
            <a:normAutofit fontScale="92500" lnSpcReduction="20000"/>
          </a:bodyPr>
          <a:lstStyle/>
          <a:p>
            <a:r>
              <a:rPr lang="en-IN" sz="4800" dirty="0"/>
              <a:t>Module-1</a:t>
            </a:r>
          </a:p>
          <a:p>
            <a:r>
              <a:rPr lang="en-IN" sz="4800" dirty="0"/>
              <a:t>Greedy Techniques, Fractional Knapsack</a:t>
            </a:r>
          </a:p>
          <a:p>
            <a:r>
              <a:rPr lang="en-IN" sz="4000" dirty="0"/>
              <a:t>Dr Athira K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2126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CFA1-5CC5-DCDB-2CBC-76A609D5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035"/>
          </a:xfrm>
        </p:spPr>
        <p:txBody>
          <a:bodyPr>
            <a:normAutofit fontScale="90000"/>
          </a:bodyPr>
          <a:lstStyle/>
          <a:p>
            <a:r>
              <a:rPr lang="en-IN" dirty="0"/>
              <a:t>Optimization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BD2DB-C777-691A-7CEF-5CBE7DE20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8080"/>
                <a:ext cx="10515600" cy="550672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</a:rPr>
                  <a:t>Maximization or minimization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</a:rPr>
                  <a:t>These problems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</a:rPr>
                  <a:t> inputs and require us to obtain a</a:t>
                </a:r>
                <a:br>
                  <a:rPr lang="en-US" dirty="0">
                    <a:effectLst/>
                    <a:latin typeface="Courier New" panose="02070309020205020404" pitchFamily="49" charset="0"/>
                  </a:rPr>
                </a:br>
                <a:r>
                  <a:rPr lang="en-US" dirty="0">
                    <a:effectLst/>
                    <a:latin typeface="Arial" panose="020B0604020202020204" pitchFamily="34" charset="0"/>
                  </a:rPr>
                  <a:t>subset that satisfies some </a:t>
                </a:r>
                <a:r>
                  <a:rPr lang="en-US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</a:rPr>
                  <a:t>constraints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</a:rPr>
                  <a:t>Any subset that satisfies those constraints is called a</a:t>
                </a:r>
                <a:br>
                  <a:rPr lang="en-US" dirty="0">
                    <a:effectLst/>
                    <a:latin typeface="Courier New" panose="02070309020205020404" pitchFamily="49" charset="0"/>
                  </a:rPr>
                </a:br>
                <a:r>
                  <a:rPr lang="en-US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</a:rPr>
                  <a:t>feasible solution</a:t>
                </a:r>
                <a:endParaRPr lang="en-US" dirty="0">
                  <a:solidFill>
                    <a:srgbClr val="FF0000"/>
                  </a:solidFill>
                  <a:latin typeface="Courier New" panose="02070309020205020404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</a:rPr>
                  <a:t>We need to find a feasible solution that either maximizes or</a:t>
                </a:r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>
                    <a:effectLst/>
                    <a:latin typeface="Arial" panose="020B0604020202020204" pitchFamily="34" charset="0"/>
                  </a:rPr>
                  <a:t>minimizes a given </a:t>
                </a:r>
                <a:r>
                  <a:rPr lang="en-US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</a:rPr>
                  <a:t>objective function</a:t>
                </a:r>
                <a:endParaRPr lang="en-US" dirty="0">
                  <a:solidFill>
                    <a:srgbClr val="FF0000"/>
                  </a:solidFill>
                  <a:latin typeface="Courier New" panose="02070309020205020404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</a:rPr>
                  <a:t>A feasible solution that does this is called an </a:t>
                </a:r>
                <a:r>
                  <a:rPr lang="en-US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</a:rPr>
                  <a:t>optimal</a:t>
                </a:r>
                <a:r>
                  <a:rPr lang="en-US" dirty="0">
                    <a:solidFill>
                      <a:srgbClr val="FF0000"/>
                    </a:solidFill>
                    <a:latin typeface="Courier New" panose="02070309020205020404" pitchFamily="49" charset="0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</a:rPr>
                  <a:t>solution</a:t>
                </a:r>
                <a:endParaRPr lang="en-US" dirty="0">
                  <a:solidFill>
                    <a:srgbClr val="FF0000"/>
                  </a:solidFill>
                  <a:latin typeface="Courier New" panose="02070309020205020404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</a:rPr>
                  <a:t>Many feasible solutions but only one optimal solution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</a:rPr>
                  <a:t>Brute-force, greedy method, dynamic programming, branch</a:t>
                </a:r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>
                    <a:effectLst/>
                    <a:latin typeface="Arial" panose="020B0604020202020204" pitchFamily="34" charset="0"/>
                  </a:rPr>
                  <a:t>and bound, all used to solve optimization problems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BD2DB-C777-691A-7CEF-5CBE7DE20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8080"/>
                <a:ext cx="10515600" cy="5506720"/>
              </a:xfrm>
              <a:blipFill>
                <a:blip r:embed="rId2"/>
                <a:stretch>
                  <a:fillRect l="-1043" t="-1549" b="-36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79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2CE8-F823-E542-76DD-ED1281BB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 - Features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AECA8B-5A25-0C96-1C60-AEEA32ABE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304" y="1867584"/>
            <a:ext cx="10049391" cy="4267419"/>
          </a:xfrm>
        </p:spPr>
      </p:pic>
    </p:spTree>
    <p:extLst>
      <p:ext uri="{BB962C8B-B14F-4D97-AF65-F5344CB8AC3E}">
        <p14:creationId xmlns:p14="http://schemas.microsoft.com/office/powerpoint/2010/main" val="1917249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F970-450C-5AD8-15A6-EF0E70DFD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060"/>
          </a:xfrm>
        </p:spPr>
        <p:txBody>
          <a:bodyPr/>
          <a:lstStyle/>
          <a:p>
            <a:r>
              <a:rPr lang="en-IN" dirty="0"/>
              <a:t>Greedy approach: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99D11-E2F0-2DDB-3A89-D8805D3A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9186"/>
            <a:ext cx="10515600" cy="4897777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D439FF-4758-A9DC-4E46-8CFA2CAB8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2" y="1279186"/>
            <a:ext cx="10519056" cy="514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0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C619-77B9-2349-D0C0-8B2481C6B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Greedy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997D8-3B43-9882-C542-12B71859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4000" dirty="0"/>
              <a:t>Prim’s</a:t>
            </a:r>
          </a:p>
          <a:p>
            <a:r>
              <a:rPr lang="nl-NL" sz="4000" dirty="0"/>
              <a:t>Kruskal’s</a:t>
            </a:r>
          </a:p>
          <a:p>
            <a:r>
              <a:rPr lang="nl-NL" sz="4000" dirty="0"/>
              <a:t>Dijkstra’s</a:t>
            </a:r>
          </a:p>
          <a:p>
            <a:r>
              <a:rPr lang="nl-NL" sz="4000" dirty="0"/>
              <a:t>Fractional knapsack</a:t>
            </a:r>
          </a:p>
          <a:p>
            <a:r>
              <a:rPr lang="nl-NL" sz="4000" dirty="0"/>
              <a:t>Huffman coding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7985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5855-22CE-0277-BCB5-18CDB7B4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Knapsack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7028-2FED-3A48-F8EA-9CBD23089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280"/>
            <a:ext cx="10515600" cy="4571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i="1" dirty="0">
                <a:effectLst/>
                <a:latin typeface="Arial" panose="020B0604020202020204" pitchFamily="34" charset="0"/>
              </a:rPr>
              <a:t>Given a set of items, each with a weight and a profit (value), determine a subset of items to include in a collection so that the total weight is less than or equal to a given limit and the total profit is as large as possible.</a:t>
            </a:r>
            <a:endParaRPr lang="en-IN" sz="4800" i="1" dirty="0"/>
          </a:p>
        </p:txBody>
      </p:sp>
    </p:spTree>
    <p:extLst>
      <p:ext uri="{BB962C8B-B14F-4D97-AF65-F5344CB8AC3E}">
        <p14:creationId xmlns:p14="http://schemas.microsoft.com/office/powerpoint/2010/main" val="297328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8352-BC4A-E584-16E3-851A7929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</a:rPr>
              <a:t>Applications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E3582C-A804-CAA9-E6FB-E559D9CD2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0800"/>
                <a:ext cx="10515600" cy="517207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Finding the least wasteful way to cut raw materials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Portfolio optimization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Cutting stock problems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Transporting goods to sell over a different place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Scenario</a:t>
                </a:r>
                <a:endParaRPr lang="en-US" sz="36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3200" dirty="0">
                    <a:effectLst/>
                    <a:latin typeface="Arial" panose="020B0604020202020204" pitchFamily="34" charset="0"/>
                  </a:rPr>
                  <a:t>A thief is robbing a store and can carry a maximum weight</a:t>
                </a:r>
                <a:r>
                  <a:rPr lang="en-US" sz="3200" dirty="0"/>
                  <a:t> </a:t>
                </a:r>
                <a:r>
                  <a:rPr lang="en-US" sz="3200" dirty="0">
                    <a:effectLst/>
                    <a:latin typeface="Arial" panose="020B060402020202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3200" dirty="0">
                    <a:effectLst/>
                    <a:latin typeface="Arial" panose="020B0604020202020204" pitchFamily="34" charset="0"/>
                  </a:rPr>
                  <a:t> into his knapsack. There are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>
                    <a:effectLst/>
                    <a:latin typeface="Arial" panose="020B0604020202020204" pitchFamily="34" charset="0"/>
                  </a:rPr>
                  <a:t> items available in the</a:t>
                </a:r>
                <a:r>
                  <a:rPr lang="en-US" sz="3200" dirty="0"/>
                  <a:t> </a:t>
                </a:r>
                <a:r>
                  <a:rPr lang="en-US" sz="3200" dirty="0">
                    <a:effectLst/>
                    <a:latin typeface="Arial" panose="020B0604020202020204" pitchFamily="34" charset="0"/>
                  </a:rPr>
                  <a:t>store and weight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200" dirty="0">
                    <a:effectLst/>
                    <a:latin typeface="Arial" panose="020B0604020202020204" pitchFamily="34" charset="0"/>
                  </a:rPr>
                  <a:t> item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>
                    <a:effectLst/>
                    <a:latin typeface="Arial" panose="020B0604020202020204" pitchFamily="34" charset="0"/>
                  </a:rPr>
                  <a:t> and its profit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>
                    <a:effectLst/>
                    <a:latin typeface="Arial" panose="020B0604020202020204" pitchFamily="34" charset="0"/>
                  </a:rPr>
                  <a:t>. What</a:t>
                </a:r>
                <a:r>
                  <a:rPr lang="en-US" sz="3200" dirty="0"/>
                  <a:t> </a:t>
                </a:r>
                <a:r>
                  <a:rPr lang="en-US" sz="3200" dirty="0">
                    <a:effectLst/>
                    <a:latin typeface="Arial" panose="020B0604020202020204" pitchFamily="34" charset="0"/>
                  </a:rPr>
                  <a:t>items should the thief take?</a:t>
                </a:r>
                <a:endParaRPr lang="en-US" sz="32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3200" dirty="0">
                    <a:effectLst/>
                    <a:latin typeface="Arial" panose="020B0604020202020204" pitchFamily="34" charset="0"/>
                  </a:rPr>
                  <a:t>The objective of the thief is to maximize the profit.</a:t>
                </a:r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E3582C-A804-CAA9-E6FB-E559D9CD2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0800"/>
                <a:ext cx="10515600" cy="5172075"/>
              </a:xfrm>
              <a:blipFill>
                <a:blip r:embed="rId2"/>
                <a:stretch>
                  <a:fillRect l="-1391" t="-2594" b="-12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18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D287-FEDD-DDBB-0523-E066FFF2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5E634-8C6F-1D04-5397-3C0B4F7D2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fontAlgn="base"/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Suppose the knapsack has a capacity 4. And there are three items: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Item A with weight 3 and value 5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Item B with weight 2 and value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Item C with weight 2 and value 3</a:t>
            </a:r>
          </a:p>
          <a:p>
            <a:pPr algn="l" fontAlgn="base"/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A has the highest value/weight ratio: 5/3, which is greater than 3/2.</a:t>
            </a:r>
          </a:p>
          <a:p>
            <a:pPr algn="l" fontAlgn="base"/>
            <a:r>
              <a:rPr lang="en-US" dirty="0">
                <a:solidFill>
                  <a:srgbClr val="0C0D0E"/>
                </a:solidFill>
                <a:latin typeface="-apple-system"/>
              </a:rPr>
              <a:t>Greedy approach will give profit of 5</a:t>
            </a:r>
            <a:endParaRPr lang="en-US" b="0" i="0" dirty="0">
              <a:solidFill>
                <a:srgbClr val="0C0D0E"/>
              </a:solidFill>
              <a:effectLst/>
              <a:latin typeface="-apple-system"/>
            </a:endParaRPr>
          </a:p>
          <a:p>
            <a:pPr fontAlgn="base"/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The optimal solution contains items: B and C, in the knapsack with a total value = 6. </a:t>
            </a:r>
          </a:p>
          <a:p>
            <a:pPr marL="0" indent="0" fontAlgn="base">
              <a:buNone/>
            </a:pPr>
            <a:r>
              <a:rPr lang="en-US" dirty="0">
                <a:solidFill>
                  <a:srgbClr val="0C0D0E"/>
                </a:solidFill>
                <a:highlight>
                  <a:srgbClr val="FFFF00"/>
                </a:highlight>
                <a:latin typeface="-apple-system"/>
              </a:rPr>
              <a:t>Greedy not suitable for 0/1 knapsack problem!!!!</a:t>
            </a:r>
            <a:endParaRPr lang="en-US" b="0" i="0" dirty="0">
              <a:solidFill>
                <a:srgbClr val="0C0D0E"/>
              </a:solidFill>
              <a:effectLst/>
              <a:highlight>
                <a:srgbClr val="FFFF00"/>
              </a:highlight>
              <a:latin typeface="-apple-system"/>
            </a:endParaRPr>
          </a:p>
          <a:p>
            <a:pPr algn="l" fontAlgn="base"/>
            <a:endParaRPr lang="en-US" i="0" dirty="0">
              <a:solidFill>
                <a:srgbClr val="0C0D0E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07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C2ED-2BFB-37BC-9993-D0461878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EF6E-D93C-B978-4484-669A3BAFB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200" dirty="0">
                <a:effectLst/>
                <a:latin typeface="Arial" panose="020B0604020202020204" pitchFamily="34" charset="0"/>
              </a:rPr>
              <a:t>Fractional knapsack problem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effectLst/>
                <a:latin typeface="Arial" panose="020B0604020202020204" pitchFamily="34" charset="0"/>
              </a:rPr>
              <a:t>In this case, items can be broken into smaller pieces, hence</a:t>
            </a:r>
            <a:br>
              <a:rPr lang="en-US" sz="2800" dirty="0"/>
            </a:br>
            <a:r>
              <a:rPr lang="en-US" sz="2800" dirty="0">
                <a:effectLst/>
                <a:latin typeface="Arial" panose="020B0604020202020204" pitchFamily="34" charset="0"/>
              </a:rPr>
              <a:t>the thief can select fractions of items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effectLst/>
                <a:latin typeface="Arial" panose="020B0604020202020204" pitchFamily="34" charset="0"/>
              </a:rPr>
              <a:t>Greedy approach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200" dirty="0">
                <a:effectLst/>
                <a:latin typeface="Arial" panose="020B0604020202020204" pitchFamily="34" charset="0"/>
              </a:rPr>
              <a:t> 0/1 knapsack problem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effectLst/>
                <a:latin typeface="Arial" panose="020B0604020202020204" pitchFamily="34" charset="0"/>
              </a:rPr>
              <a:t>The items cannot be divided. Either take fully or drop fully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effectLst/>
                <a:latin typeface="Arial" panose="020B0604020202020204" pitchFamily="34" charset="0"/>
              </a:rPr>
              <a:t>Dynamic programming approach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effectLst/>
                <a:latin typeface="Arial" panose="020B0604020202020204" pitchFamily="34" charset="0"/>
              </a:rPr>
              <a:t>Here we will focus on fractional knapsack problem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22D3C-D5B4-DF23-3FD8-2FECF6E85BAF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376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5EF7-0703-8EBF-37CD-DD7D4921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/>
          <a:lstStyle/>
          <a:p>
            <a:r>
              <a:rPr lang="en-IN" dirty="0"/>
              <a:t>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A7ECA-01B3-1094-A2FB-1EB3EE7E6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0960"/>
                <a:ext cx="10515600" cy="50596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According to the problem statement</a:t>
                </a:r>
                <a:r>
                  <a:rPr lang="en-US" sz="2400" dirty="0">
                    <a:effectLst/>
                    <a:latin typeface="Arial" panose="020B0604020202020204" pitchFamily="34" charset="0"/>
                  </a:rPr>
                  <a:t>,</a:t>
                </a:r>
                <a:endParaRPr lang="en-US" sz="2400" dirty="0">
                  <a:latin typeface="Courier New" panose="02070309020205020404" pitchFamily="49" charset="0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600" dirty="0">
                    <a:effectLst/>
                    <a:latin typeface="Arial" panose="020B0604020202020204" pitchFamily="34" charset="0"/>
                  </a:rPr>
                  <a:t> items in the store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Weight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600" dirty="0">
                    <a:effectLst/>
                    <a:latin typeface="Arial" panose="020B0604020202020204" pitchFamily="34" charset="0"/>
                  </a:rPr>
                  <a:t> item,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 dirty="0" smtClean="0">
                        <a:effectLst/>
                        <a:latin typeface="Cambria Math" panose="02040503050406030204" pitchFamily="18" charset="0"/>
                      </a:rPr>
                      <m:t> &gt; 0</m:t>
                    </m:r>
                  </m:oMath>
                </a14:m>
                <a:endParaRPr lang="en-IN" sz="3600" dirty="0">
                  <a:effectLst/>
                  <a:latin typeface="Arial" panose="020B0604020202020204" pitchFamily="34" charset="0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Profit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600" dirty="0">
                    <a:effectLst/>
                    <a:latin typeface="Arial" panose="020B0604020202020204" pitchFamily="34" charset="0"/>
                  </a:rPr>
                  <a:t> item,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 dirty="0" smtClean="0">
                        <a:effectLst/>
                        <a:latin typeface="Cambria Math" panose="02040503050406030204" pitchFamily="18" charset="0"/>
                      </a:rPr>
                      <m:t> &gt; 0</m:t>
                    </m:r>
                  </m:oMath>
                </a14:m>
                <a:endParaRPr lang="en-IN" sz="3600" dirty="0">
                  <a:effectLst/>
                  <a:latin typeface="Arial" panose="020B0604020202020204" pitchFamily="34" charset="0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Capacity of the knapsack is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effectLst/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IN" sz="3600" dirty="0">
                  <a:effectLst/>
                  <a:latin typeface="Arial" panose="020B0604020202020204" pitchFamily="34" charset="0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As items can be divided,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effectLst/>
                        <a:latin typeface="Cambria Math" panose="02040503050406030204" pitchFamily="18" charset="0"/>
                      </a:rPr>
                      <m:t>0 ≤ </m:t>
                    </m:r>
                    <m:sSub>
                      <m:sSubPr>
                        <m:ctrlP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 dirty="0" smtClean="0">
                        <a:effectLst/>
                        <a:latin typeface="Cambria Math" panose="02040503050406030204" pitchFamily="18" charset="0"/>
                      </a:rPr>
                      <m:t> ≤ 1</m:t>
                    </m:r>
                  </m:oMath>
                </a14:m>
                <a:r>
                  <a:rPr lang="en-US" sz="3600" dirty="0">
                    <a:effectLst/>
                    <a:latin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36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600" dirty="0">
                    <a:effectLst/>
                    <a:latin typeface="Arial" panose="020B0604020202020204" pitchFamily="34" charset="0"/>
                  </a:rPr>
                  <a:t> is the fraction of item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600" dirty="0">
                    <a:effectLst/>
                    <a:latin typeface="Arial" panose="020B0604020202020204" pitchFamily="34" charset="0"/>
                  </a:rPr>
                  <a:t> included in the knapsack</a:t>
                </a:r>
                <a:endParaRPr lang="en-US" sz="3600" dirty="0"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A7ECA-01B3-1094-A2FB-1EB3EE7E6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0960"/>
                <a:ext cx="10515600" cy="5059679"/>
              </a:xfrm>
              <a:blipFill>
                <a:blip r:embed="rId2"/>
                <a:stretch>
                  <a:fillRect l="-1623" t="-843" r="-1739" b="-30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136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8798-4AED-1EC9-D302-2C570953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9835"/>
          </a:xfrm>
        </p:spPr>
        <p:txBody>
          <a:bodyPr/>
          <a:lstStyle/>
          <a:p>
            <a:r>
              <a:rPr lang="en-US" dirty="0"/>
              <a:t>Optimizing Knapsack 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65345-03E4-21DD-BA63-E6B09A988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3520"/>
                <a:ext cx="10515600" cy="4683443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4000" dirty="0"/>
                  <a:t>Hence objective is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3600" dirty="0"/>
                  <a:t>Maximize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600" dirty="0"/>
              </a:p>
              <a:p>
                <a:pPr lvl="1">
                  <a:lnSpc>
                    <a:spcPct val="110000"/>
                  </a:lnSpc>
                </a:pPr>
                <a:r>
                  <a:rPr lang="en-US" sz="3600" dirty="0"/>
                  <a:t>Subject to the constraint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nary>
                  </m:oMath>
                </a14:m>
                <a:endParaRPr lang="en-IN" sz="3600" dirty="0"/>
              </a:p>
              <a:p>
                <a:pPr>
                  <a:lnSpc>
                    <a:spcPct val="110000"/>
                  </a:lnSpc>
                </a:pPr>
                <a:r>
                  <a:rPr lang="en-US" sz="4000" dirty="0"/>
                  <a:t>At the optimal solution,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4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4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nary>
                    <m:r>
                      <a:rPr lang="en-IN" sz="40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4000" dirty="0"/>
                  <a:t>otherwise we could add a fraction of one of the remaining items and increase the overall profit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65345-03E4-21DD-BA63-E6B09A988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3520"/>
                <a:ext cx="10515600" cy="4683443"/>
              </a:xfrm>
              <a:blipFill>
                <a:blip r:embed="rId2"/>
                <a:stretch>
                  <a:fillRect l="-1855" t="-2344" b="-16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44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2F00-D4D5-2C88-87B9-931B4CE7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57C7D-B89C-7ACA-74A7-1E2B98D41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463" y="1825625"/>
            <a:ext cx="6909774" cy="2861669"/>
          </a:xfrm>
        </p:spPr>
      </p:pic>
    </p:spTree>
    <p:extLst>
      <p:ext uri="{BB962C8B-B14F-4D97-AF65-F5344CB8AC3E}">
        <p14:creationId xmlns:p14="http://schemas.microsoft.com/office/powerpoint/2010/main" val="2253347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B389-F86D-93F2-AF7F-7415EEF2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B80DF9-2F93-1D90-B423-5E4B22F43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364" y="3039134"/>
            <a:ext cx="6249272" cy="1924319"/>
          </a:xfrm>
        </p:spPr>
      </p:pic>
    </p:spTree>
    <p:extLst>
      <p:ext uri="{BB962C8B-B14F-4D97-AF65-F5344CB8AC3E}">
        <p14:creationId xmlns:p14="http://schemas.microsoft.com/office/powerpoint/2010/main" val="438602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1781-B963-ACA3-C474-2443DDCBB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Pseudocode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2A5482-9361-9FF5-BF12-964224DD6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91" y="0"/>
            <a:ext cx="11093496" cy="6069013"/>
          </a:xfrm>
        </p:spPr>
      </p:pic>
    </p:spTree>
    <p:extLst>
      <p:ext uri="{BB962C8B-B14F-4D97-AF65-F5344CB8AC3E}">
        <p14:creationId xmlns:p14="http://schemas.microsoft.com/office/powerpoint/2010/main" val="3777283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8683-BE02-0383-5BAD-8B0CFE45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755"/>
          </a:xfrm>
        </p:spPr>
        <p:txBody>
          <a:bodyPr/>
          <a:lstStyle/>
          <a:p>
            <a:r>
              <a:rPr lang="en-IN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251A6-F305-3956-37DB-CFC0456E0B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5112"/>
                <a:ext cx="10515600" cy="49577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Demo </a:t>
                </a:r>
                <a:r>
                  <a:rPr lang="en-US" sz="3600" dirty="0">
                    <a:effectLst/>
                    <a:latin typeface="Arial" panose="020B0604020202020204" pitchFamily="34" charset="0"/>
                    <a:sym typeface="Wingdings" panose="05000000000000000000" pitchFamily="2" charset="2"/>
                  </a:rPr>
                  <a:t> On</a:t>
                </a:r>
                <a:r>
                  <a:rPr lang="en-US" sz="3600" dirty="0">
                    <a:effectLst/>
                    <a:latin typeface="Arial" panose="020B0604020202020204" pitchFamily="34" charset="0"/>
                  </a:rPr>
                  <a:t> board</a:t>
                </a:r>
                <a:endParaRPr lang="en-US" sz="3600" dirty="0">
                  <a:latin typeface="Courier New" panose="02070309020205020404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3600" dirty="0">
                    <a:effectLst/>
                    <a:latin typeface="Arial" panose="020B0604020202020204" pitchFamily="34" charset="0"/>
                  </a:rPr>
                  <a:t>Analysis</a:t>
                </a:r>
                <a:endParaRPr lang="en-US" sz="3600" dirty="0">
                  <a:latin typeface="Courier New" panose="02070309020205020404" pitchFamily="49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3200" dirty="0">
                    <a:effectLst/>
                    <a:latin typeface="Arial" panose="020B0604020202020204" pitchFamily="34" charset="0"/>
                  </a:rPr>
                  <a:t>If the provided items are already sorted into a decreasing</a:t>
                </a:r>
                <a:r>
                  <a:rPr lang="en-US" sz="3200" dirty="0">
                    <a:latin typeface="Courier New" panose="02070309020205020404" pitchFamily="49" charset="0"/>
                  </a:rPr>
                  <a:t> </a:t>
                </a:r>
                <a:r>
                  <a:rPr lang="en-US" sz="3200" dirty="0">
                    <a:effectLst/>
                    <a:latin typeface="Arial" panose="020B0604020202020204" pitchFamily="34" charset="0"/>
                  </a:rPr>
                  <a:t>order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err="1" smtClean="0"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32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>
                    <a:effectLst/>
                    <a:latin typeface="Arial" panose="020B0604020202020204" pitchFamily="34" charset="0"/>
                  </a:rPr>
                  <a:t>, then the while loop takes O(n) time</a:t>
                </a:r>
                <a:endParaRPr lang="en-US" sz="3200" dirty="0">
                  <a:latin typeface="Courier New" panose="02070309020205020404" pitchFamily="49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3200" dirty="0">
                    <a:effectLst/>
                    <a:latin typeface="Arial" panose="020B0604020202020204" pitchFamily="34" charset="0"/>
                  </a:rPr>
                  <a:t>Therefore, the total time including the sort is in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251A6-F305-3956-37DB-CFC0456E0B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5112"/>
                <a:ext cx="10515600" cy="4957763"/>
              </a:xfrm>
              <a:blipFill>
                <a:blip r:embed="rId2"/>
                <a:stretch>
                  <a:fillRect l="-1623" t="-2583" r="-1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603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4D5C-DDAC-9776-0846-E7589D7E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EBF7-D22D-79D5-AECB-53D79D313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4000" dirty="0"/>
              <a:t>On Moodle</a:t>
            </a:r>
          </a:p>
        </p:txBody>
      </p:sp>
    </p:spTree>
    <p:extLst>
      <p:ext uri="{BB962C8B-B14F-4D97-AF65-F5344CB8AC3E}">
        <p14:creationId xmlns:p14="http://schemas.microsoft.com/office/powerpoint/2010/main" val="324644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5073C-E48F-B829-2AAB-C70D46C7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you..!!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6CC47-031D-6C9D-54FD-AC30A7D3B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40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">
      <a:majorFont>
        <a:latin typeface="Robot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7838</TotalTime>
  <Words>550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-apple-system</vt:lpstr>
      <vt:lpstr>Arial</vt:lpstr>
      <vt:lpstr>Calibri</vt:lpstr>
      <vt:lpstr>Cambria Math</vt:lpstr>
      <vt:lpstr>Courier New</vt:lpstr>
      <vt:lpstr>inherit</vt:lpstr>
      <vt:lpstr>Roboto</vt:lpstr>
      <vt:lpstr>Office Theme</vt:lpstr>
      <vt:lpstr>BCSE204L Design and Analysis of Algorithms</vt:lpstr>
      <vt:lpstr>Optimization Problems</vt:lpstr>
      <vt:lpstr>Greedy Algorithm - Features</vt:lpstr>
      <vt:lpstr>Greedy approach: working</vt:lpstr>
      <vt:lpstr>Greedy Examples</vt:lpstr>
      <vt:lpstr>Knapsack Problem</vt:lpstr>
      <vt:lpstr>Applications</vt:lpstr>
      <vt:lpstr>PowerPoint Presentation</vt:lpstr>
      <vt:lpstr>Variations</vt:lpstr>
      <vt:lpstr>Requirements</vt:lpstr>
      <vt:lpstr>Optimizing Knapsack problem</vt:lpstr>
      <vt:lpstr>PowerPoint Presentation</vt:lpstr>
      <vt:lpstr>PowerPoint Presentation</vt:lpstr>
      <vt:lpstr>Pseudocode</vt:lpstr>
      <vt:lpstr>Analysis</vt:lpstr>
      <vt:lpstr>Lab Exercise</vt:lpstr>
      <vt:lpstr>Thank you..!!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BCSE204L Design and Analysis of Algorithms</dc:title>
  <dc:creator>Sunil Kumar PV</dc:creator>
  <cp:lastModifiedBy>athira  k</cp:lastModifiedBy>
  <cp:revision>44</cp:revision>
  <dcterms:created xsi:type="dcterms:W3CDTF">2022-12-07T10:15:57Z</dcterms:created>
  <dcterms:modified xsi:type="dcterms:W3CDTF">2024-01-11T09:05:42Z</dcterms:modified>
</cp:coreProperties>
</file>