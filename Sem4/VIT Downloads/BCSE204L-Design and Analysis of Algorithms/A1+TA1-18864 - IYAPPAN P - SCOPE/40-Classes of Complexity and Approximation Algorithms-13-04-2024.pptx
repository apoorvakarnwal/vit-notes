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86" r:id="rId5"/>
    <p:sldId id="274" r:id="rId6"/>
    <p:sldId id="258" r:id="rId7"/>
    <p:sldId id="287" r:id="rId8"/>
    <p:sldId id="273" r:id="rId9"/>
    <p:sldId id="275" r:id="rId10"/>
    <p:sldId id="260" r:id="rId11"/>
    <p:sldId id="272" r:id="rId12"/>
    <p:sldId id="261" r:id="rId13"/>
    <p:sldId id="262" r:id="rId14"/>
    <p:sldId id="263" r:id="rId15"/>
    <p:sldId id="276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85" r:id="rId24"/>
    <p:sldId id="280" r:id="rId25"/>
    <p:sldId id="264" r:id="rId26"/>
    <p:sldId id="265" r:id="rId27"/>
    <p:sldId id="267" r:id="rId28"/>
    <p:sldId id="266" r:id="rId29"/>
    <p:sldId id="268" r:id="rId30"/>
    <p:sldId id="26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665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1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40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45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6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99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6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59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82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74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66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22837-7866-428B-9CF9-ADB6EBF28353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51B6B-F4AF-4CBD-83DC-23D84E66D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66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08" y="3429000"/>
            <a:ext cx="7772400" cy="1470025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Introduction to </a:t>
            </a:r>
            <a:r>
              <a:rPr lang="en-IN" smtClean="0">
                <a:solidFill>
                  <a:srgbClr val="FF0000"/>
                </a:solidFill>
              </a:rPr>
              <a:t>P - NP - NP </a:t>
            </a:r>
            <a:r>
              <a:rPr lang="en-IN" dirty="0" smtClean="0">
                <a:solidFill>
                  <a:srgbClr val="FF0000"/>
                </a:solidFill>
              </a:rPr>
              <a:t>Hard and NP Complete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1772816"/>
            <a:ext cx="7488832" cy="1752600"/>
          </a:xfrm>
        </p:spPr>
        <p:txBody>
          <a:bodyPr/>
          <a:lstStyle/>
          <a:p>
            <a:r>
              <a:rPr lang="en-US" dirty="0"/>
              <a:t>Classes of Complexity and Approximation</a:t>
            </a:r>
          </a:p>
          <a:p>
            <a:r>
              <a:rPr lang="en-IN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201506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P and NP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P = { Problems solvable in Polynomial time 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- </a:t>
            </a:r>
            <a:r>
              <a:rPr lang="en-US" dirty="0" smtClean="0">
                <a:solidFill>
                  <a:srgbClr val="FF0000"/>
                </a:solidFill>
              </a:rPr>
              <a:t>deterministic</a:t>
            </a:r>
            <a:r>
              <a:rPr lang="en-US" dirty="0" smtClean="0"/>
              <a:t> ?          </a:t>
            </a:r>
            <a:r>
              <a:rPr lang="en-US" dirty="0" smtClean="0">
                <a:solidFill>
                  <a:srgbClr val="FF0000"/>
                </a:solidFill>
              </a:rPr>
              <a:t>Non-Deterministic</a:t>
            </a:r>
            <a:r>
              <a:rPr lang="en-US" dirty="0" smtClean="0"/>
              <a:t>  ?</a:t>
            </a:r>
          </a:p>
          <a:p>
            <a:pPr marL="0" indent="0">
              <a:buNone/>
            </a:pPr>
            <a:r>
              <a:rPr lang="en-US" dirty="0" smtClean="0"/>
              <a:t>Size of the problem = n</a:t>
            </a:r>
          </a:p>
          <a:p>
            <a:pPr marL="0" indent="0">
              <a:buNone/>
            </a:pPr>
            <a:r>
              <a:rPr lang="en-US" dirty="0" smtClean="0"/>
              <a:t>Polynomial time may be O(1), O(</a:t>
            </a:r>
            <a:r>
              <a:rPr lang="en-US" dirty="0" err="1" smtClean="0"/>
              <a:t>logn</a:t>
            </a:r>
            <a:r>
              <a:rPr lang="en-US" dirty="0" smtClean="0"/>
              <a:t>) or O(</a:t>
            </a:r>
            <a:r>
              <a:rPr lang="en-US" dirty="0" err="1" smtClean="0"/>
              <a:t>nlogn</a:t>
            </a:r>
            <a:r>
              <a:rPr lang="en-US" dirty="0" smtClean="0"/>
              <a:t>) so on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Polynomial time Problems</a:t>
            </a:r>
          </a:p>
          <a:p>
            <a:pPr marL="0" indent="0">
              <a:buNone/>
            </a:pPr>
            <a:r>
              <a:rPr lang="en-US" dirty="0" smtClean="0"/>
              <a:t>Linear Search –n</a:t>
            </a:r>
          </a:p>
          <a:p>
            <a:pPr marL="0" indent="0">
              <a:buNone/>
            </a:pPr>
            <a:r>
              <a:rPr lang="en-US" dirty="0" smtClean="0"/>
              <a:t>Binary Search – </a:t>
            </a:r>
            <a:r>
              <a:rPr lang="en-US" dirty="0" err="1" smtClean="0"/>
              <a:t>logn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Insertin</a:t>
            </a:r>
            <a:r>
              <a:rPr lang="en-US" dirty="0" smtClean="0"/>
              <a:t> sort n</a:t>
            </a:r>
            <a:r>
              <a:rPr lang="en-US" baseline="30000" dirty="0" smtClean="0"/>
              <a:t>2</a:t>
            </a:r>
          </a:p>
          <a:p>
            <a:pPr marL="0" indent="0">
              <a:buNone/>
            </a:pPr>
            <a:r>
              <a:rPr lang="en-US" dirty="0"/>
              <a:t>Merge </a:t>
            </a:r>
            <a:r>
              <a:rPr lang="en-US" dirty="0" smtClean="0"/>
              <a:t>Sort-  </a:t>
            </a:r>
            <a:r>
              <a:rPr lang="en-US" dirty="0" err="1"/>
              <a:t>nlogn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332656"/>
            <a:ext cx="8784976" cy="62646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NP= { Decision Problems solvable in </a:t>
            </a:r>
            <a:r>
              <a:rPr lang="en-US" dirty="0" smtClean="0"/>
              <a:t>Non-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deterministic </a:t>
            </a:r>
            <a:r>
              <a:rPr lang="en-US" dirty="0"/>
              <a:t>Polynomial time }</a:t>
            </a:r>
          </a:p>
          <a:p>
            <a:pPr marL="0" indent="0">
              <a:buNone/>
            </a:pPr>
            <a:r>
              <a:rPr lang="en-US" dirty="0"/>
              <a:t>Decision – gives YES or NO as Answer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Non-deterministic</a:t>
            </a:r>
            <a:r>
              <a:rPr lang="en-US" dirty="0"/>
              <a:t> –Guess one out of </a:t>
            </a:r>
            <a:r>
              <a:rPr lang="en-US" dirty="0" err="1"/>
              <a:t>polynomially</a:t>
            </a:r>
            <a:r>
              <a:rPr lang="en-US" dirty="0"/>
              <a:t> many options in O(1) times</a:t>
            </a:r>
            <a:endParaRPr lang="en-IN" dirty="0"/>
          </a:p>
          <a:p>
            <a:r>
              <a:rPr lang="en-US" dirty="0" smtClean="0"/>
              <a:t>If any guess leads to YES then get such a Guess</a:t>
            </a:r>
          </a:p>
          <a:p>
            <a:r>
              <a:rPr lang="en-US" dirty="0" smtClean="0"/>
              <a:t>If NO – Absolutely No path would lead to YES</a:t>
            </a:r>
          </a:p>
          <a:p>
            <a:r>
              <a:rPr lang="en-US" dirty="0" smtClean="0"/>
              <a:t>Example</a:t>
            </a:r>
          </a:p>
          <a:p>
            <a:r>
              <a:rPr lang="en-US" dirty="0" smtClean="0"/>
              <a:t>0/1 Knapsack   - 2</a:t>
            </a:r>
            <a:r>
              <a:rPr lang="en-US" baseline="30000" dirty="0" smtClean="0"/>
              <a:t>n</a:t>
            </a:r>
          </a:p>
          <a:p>
            <a:r>
              <a:rPr lang="en-US" dirty="0" smtClean="0"/>
              <a:t>TSP</a:t>
            </a:r>
            <a:r>
              <a:rPr lang="en-US" dirty="0"/>
              <a:t>- 2</a:t>
            </a:r>
            <a:r>
              <a:rPr lang="en-US" baseline="30000" dirty="0"/>
              <a:t>n</a:t>
            </a:r>
          </a:p>
          <a:p>
            <a:r>
              <a:rPr lang="en-US" dirty="0" smtClean="0"/>
              <a:t>Graph Coloring</a:t>
            </a:r>
            <a:r>
              <a:rPr lang="en-US" dirty="0"/>
              <a:t>- 2</a:t>
            </a:r>
            <a:r>
              <a:rPr lang="en-US" baseline="30000" dirty="0"/>
              <a:t>n</a:t>
            </a:r>
          </a:p>
          <a:p>
            <a:r>
              <a:rPr lang="en-US" dirty="0" smtClean="0"/>
              <a:t>Sum of Subset</a:t>
            </a:r>
            <a:r>
              <a:rPr lang="en-US" dirty="0"/>
              <a:t>- 2</a:t>
            </a:r>
            <a:r>
              <a:rPr lang="en-US" baseline="30000" dirty="0"/>
              <a:t>n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24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01222"/>
              </p:ext>
            </p:extLst>
          </p:nvPr>
        </p:nvGraphicFramePr>
        <p:xfrm>
          <a:off x="683568" y="1268760"/>
          <a:ext cx="7704856" cy="4587905"/>
        </p:xfrm>
        <a:graphic>
          <a:graphicData uri="http://schemas.openxmlformats.org/drawingml/2006/table">
            <a:tbl>
              <a:tblPr firstRow="1" firstCol="1" bandRow="1"/>
              <a:tblGrid>
                <a:gridCol w="3888432"/>
                <a:gridCol w="3816424"/>
              </a:tblGrid>
              <a:tr h="655415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NP HARD and NP COMPLETE</a:t>
                      </a:r>
                      <a:endParaRPr lang="en-IN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6554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POLYNOMIAL TIME </a:t>
                      </a:r>
                      <a:endParaRPr lang="en-IN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EXPONENTIAL TIME </a:t>
                      </a:r>
                      <a:endParaRPr lang="en-IN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4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Linear search                 - 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/>
                          <a:ea typeface="Calibri"/>
                          <a:cs typeface="Times New Roman"/>
                        </a:rPr>
                        <a:t>0/1 Knapsack                   - 2</a:t>
                      </a:r>
                      <a:r>
                        <a:rPr lang="en-US" sz="2400" baseline="30000">
                          <a:effectLst/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4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Binary search                 - log 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TSP                                     - 2</a:t>
                      </a:r>
                      <a:r>
                        <a:rPr lang="en-US" sz="2400" baseline="30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4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/>
                          <a:ea typeface="Calibri"/>
                          <a:cs typeface="Times New Roman"/>
                        </a:rPr>
                        <a:t>Insertion sort                 - n</a:t>
                      </a:r>
                      <a:r>
                        <a:rPr lang="en-US" sz="2400" baseline="30000">
                          <a:effectLst/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Sum of Subset                  - 2</a:t>
                      </a:r>
                      <a:r>
                        <a:rPr lang="en-US" sz="2400" baseline="30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4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Merge sort 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               </a:t>
                      </a: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- </a:t>
                      </a:r>
                      <a:r>
                        <a:rPr lang="en-US" sz="24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nlogn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Graph Coloring                 - 2</a:t>
                      </a:r>
                      <a:r>
                        <a:rPr lang="en-US" sz="2400" baseline="30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54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/>
                          <a:ea typeface="Calibri"/>
                          <a:cs typeface="Times New Roman"/>
                        </a:rPr>
                        <a:t>Matrix multiplication   - n</a:t>
                      </a:r>
                      <a:r>
                        <a:rPr lang="en-US" sz="2400" baseline="30000">
                          <a:effectLst/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IN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Hamiltonian Cycle           - 2</a:t>
                      </a:r>
                      <a:r>
                        <a:rPr lang="en-US" sz="2400" baseline="30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IN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72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101937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NON DETERMINISTIC ALGORITHMS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629980"/>
            <a:ext cx="84249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result of every operation is uniquely defined is known as deterministic 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Allowing algorithms whose outcomes are not uniquely defined but the limit to specify set of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Such algorithms is allowed to choose any one of these outcomes subject to a termination condition to be defined later.  This leads to the concept called non deterministic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 specify such algorithms, we need to specify 3 functions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Choice (s)</a:t>
            </a:r>
            <a:r>
              <a:rPr lang="en-US" dirty="0" smtClean="0"/>
              <a:t> – Arbitrarily chooses one of the elements of set 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Failure () </a:t>
            </a:r>
            <a:r>
              <a:rPr lang="en-US" dirty="0" smtClean="0"/>
              <a:t>– Signals Unsuccessful completion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Success() </a:t>
            </a:r>
            <a:r>
              <a:rPr lang="en-US" dirty="0" smtClean="0"/>
              <a:t>– Signals a Successful completion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44" y="3744112"/>
            <a:ext cx="7793904" cy="1097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611" y="4842079"/>
            <a:ext cx="58007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48064" y="6093296"/>
            <a:ext cx="3779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Non-deterministic Search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0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6053" y="404664"/>
            <a:ext cx="691276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Non Deterministic Algorithm </a:t>
            </a:r>
          </a:p>
          <a:p>
            <a:endParaRPr lang="en-US" sz="2800" dirty="0"/>
          </a:p>
          <a:p>
            <a:r>
              <a:rPr lang="en-US" sz="2800" dirty="0" smtClean="0"/>
              <a:t>Algorithm </a:t>
            </a:r>
            <a:r>
              <a:rPr lang="en-US" sz="2800" dirty="0" err="1" smtClean="0"/>
              <a:t>Nsearch</a:t>
            </a:r>
            <a:r>
              <a:rPr lang="en-US" sz="2800" dirty="0" smtClean="0"/>
              <a:t>(</a:t>
            </a:r>
            <a:r>
              <a:rPr lang="en-US" sz="2800" dirty="0" err="1" smtClean="0"/>
              <a:t>A,n,key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j = choice();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if (key=A[j])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write (j);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success();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}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write(0);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Failure();</a:t>
            </a:r>
          </a:p>
          <a:p>
            <a:r>
              <a:rPr lang="en-US" sz="2800" dirty="0"/>
              <a:t>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0268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57161"/>
            <a:ext cx="691276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Non Deterministic Algorithm </a:t>
            </a:r>
          </a:p>
          <a:p>
            <a:endParaRPr lang="en-US" sz="2800" dirty="0"/>
          </a:p>
          <a:p>
            <a:r>
              <a:rPr lang="en-US" sz="2800" dirty="0" smtClean="0"/>
              <a:t>Algorithm </a:t>
            </a:r>
            <a:r>
              <a:rPr lang="en-US" sz="2800" dirty="0" err="1" smtClean="0"/>
              <a:t>Nsearch</a:t>
            </a:r>
            <a:r>
              <a:rPr lang="en-US" sz="2800" dirty="0" smtClean="0"/>
              <a:t>(</a:t>
            </a:r>
            <a:r>
              <a:rPr lang="en-US" sz="2800" dirty="0" err="1" smtClean="0"/>
              <a:t>A,n,key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j = choice();           _________1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if (key=A[j])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write (j);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success(); ______________1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}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write(0);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Failure();__________________1</a:t>
            </a:r>
          </a:p>
          <a:p>
            <a:r>
              <a:rPr lang="en-US" sz="2800" dirty="0" smtClean="0"/>
              <a:t>}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                                       ------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                                       O(1)</a:t>
            </a:r>
            <a:endParaRPr lang="en-IN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492896"/>
            <a:ext cx="265747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03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157288"/>
            <a:ext cx="698182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75656" y="548680"/>
            <a:ext cx="6768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Non deterministic Sorting Algorithm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64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314450"/>
            <a:ext cx="8905875" cy="513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249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692696"/>
            <a:ext cx="6217788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72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692696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CNF Satisfiability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484784"/>
            <a:ext cx="85689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Boolean formula is said to be in Conjunctive Normal Form or CNF, if it is expressed as an AND of Clauses.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clause is the OR of literals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literal is a variable or its negation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 CNF is said to be in 3CNF if each clause has exactly three different literals. For example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consider the Boolean expression </a:t>
            </a:r>
          </a:p>
          <a:p>
            <a:r>
              <a:rPr lang="en-US" sz="2400" dirty="0"/>
              <a:t>	</a:t>
            </a:r>
            <a:r>
              <a:rPr lang="el-GR" sz="2400" dirty="0">
                <a:latin typeface="Arial Narrow"/>
              </a:rPr>
              <a:t> </a:t>
            </a:r>
            <a:r>
              <a:rPr lang="el-GR" sz="2400" dirty="0" smtClean="0">
                <a:latin typeface="Arial Narrow"/>
              </a:rPr>
              <a:t>Φ</a:t>
            </a:r>
            <a:r>
              <a:rPr lang="en-US" sz="2400" dirty="0" smtClean="0">
                <a:latin typeface="Arial Narrow"/>
              </a:rPr>
              <a:t>1 </a:t>
            </a:r>
            <a:r>
              <a:rPr lang="el-GR" sz="2400" dirty="0" smtClean="0">
                <a:latin typeface="Arial Narrow"/>
              </a:rPr>
              <a:t>Ξ</a:t>
            </a:r>
            <a:r>
              <a:rPr lang="en-US" sz="2400" dirty="0" smtClean="0">
                <a:latin typeface="Arial Narrow"/>
              </a:rPr>
              <a:t>( x1 V </a:t>
            </a:r>
            <a:r>
              <a:rPr lang="az-Cyrl-AZ" sz="2400" dirty="0" smtClean="0">
                <a:latin typeface="Arial Narrow"/>
              </a:rPr>
              <a:t>¬</a:t>
            </a:r>
            <a:r>
              <a:rPr lang="en-US" sz="2400" dirty="0" smtClean="0">
                <a:latin typeface="Arial Narrow"/>
              </a:rPr>
              <a:t> x2) </a:t>
            </a:r>
            <a:r>
              <a:rPr lang="el-GR" sz="2400" dirty="0" smtClean="0">
                <a:latin typeface="Arial Narrow"/>
              </a:rPr>
              <a:t>Λ</a:t>
            </a:r>
            <a:r>
              <a:rPr lang="en-US" sz="2400" dirty="0" smtClean="0">
                <a:latin typeface="Arial Narrow"/>
              </a:rPr>
              <a:t>  ( x2 </a:t>
            </a:r>
            <a:r>
              <a:rPr lang="en-US" sz="2400" dirty="0">
                <a:latin typeface="Arial Narrow"/>
              </a:rPr>
              <a:t>V</a:t>
            </a:r>
            <a:r>
              <a:rPr lang="en-US" sz="2400" dirty="0" smtClean="0">
                <a:latin typeface="Arial Narrow"/>
              </a:rPr>
              <a:t> x3 ) </a:t>
            </a:r>
            <a:r>
              <a:rPr lang="el-GR" sz="2400" dirty="0" smtClean="0">
                <a:latin typeface="Arial Narrow"/>
              </a:rPr>
              <a:t>Λ</a:t>
            </a:r>
            <a:r>
              <a:rPr lang="en-US" sz="2400" dirty="0" smtClean="0">
                <a:latin typeface="Arial Narrow"/>
              </a:rPr>
              <a:t> (</a:t>
            </a:r>
            <a:r>
              <a:rPr lang="az-Cyrl-AZ" sz="2400" dirty="0">
                <a:latin typeface="Arial Narrow"/>
              </a:rPr>
              <a:t>¬</a:t>
            </a:r>
            <a:r>
              <a:rPr lang="en-US" sz="2400" dirty="0" smtClean="0">
                <a:latin typeface="Arial Narrow"/>
              </a:rPr>
              <a:t>x1 V </a:t>
            </a:r>
            <a:r>
              <a:rPr lang="az-Cyrl-AZ" sz="2400" dirty="0">
                <a:latin typeface="Arial Narrow"/>
              </a:rPr>
              <a:t>¬</a:t>
            </a:r>
            <a:r>
              <a:rPr lang="en-US" sz="2400" dirty="0" smtClean="0">
                <a:latin typeface="Arial Narrow"/>
              </a:rPr>
              <a:t>x3)</a:t>
            </a:r>
            <a:endParaRPr lang="en-IN" sz="2400" dirty="0"/>
          </a:p>
          <a:p>
            <a:r>
              <a:rPr lang="en-US" sz="2400" dirty="0" smtClean="0"/>
              <a:t>	</a:t>
            </a:r>
            <a:r>
              <a:rPr lang="el-GR" sz="2400" dirty="0">
                <a:latin typeface="Arial Narrow"/>
              </a:rPr>
              <a:t> </a:t>
            </a:r>
            <a:r>
              <a:rPr lang="el-GR" sz="2400" dirty="0" smtClean="0">
                <a:latin typeface="Arial Narrow"/>
              </a:rPr>
              <a:t>Φ</a:t>
            </a:r>
            <a:r>
              <a:rPr lang="en-US" sz="2400" dirty="0" smtClean="0">
                <a:latin typeface="Arial Narrow"/>
              </a:rPr>
              <a:t>2 </a:t>
            </a:r>
            <a:r>
              <a:rPr lang="el-GR" sz="2400" dirty="0" smtClean="0">
                <a:latin typeface="Arial Narrow"/>
              </a:rPr>
              <a:t>Ξ</a:t>
            </a:r>
            <a:r>
              <a:rPr lang="en-US" sz="2400" dirty="0" smtClean="0">
                <a:latin typeface="Arial Narrow"/>
              </a:rPr>
              <a:t>( x1 </a:t>
            </a:r>
            <a:r>
              <a:rPr lang="en-US" sz="2400" dirty="0">
                <a:latin typeface="Arial Narrow"/>
              </a:rPr>
              <a:t>V </a:t>
            </a:r>
            <a:r>
              <a:rPr lang="en-US" sz="2400" dirty="0" smtClean="0">
                <a:latin typeface="Arial Narrow"/>
              </a:rPr>
              <a:t>x2</a:t>
            </a:r>
            <a:r>
              <a:rPr lang="en-US" sz="2400" dirty="0">
                <a:latin typeface="Arial Narrow"/>
              </a:rPr>
              <a:t> V</a:t>
            </a:r>
            <a:r>
              <a:rPr lang="en-US" sz="2400" dirty="0" smtClean="0">
                <a:latin typeface="Arial Narrow"/>
              </a:rPr>
              <a:t> x3) </a:t>
            </a:r>
            <a:r>
              <a:rPr lang="el-GR" sz="2400" dirty="0">
                <a:latin typeface="Arial Narrow"/>
              </a:rPr>
              <a:t>Λ</a:t>
            </a:r>
            <a:r>
              <a:rPr lang="en-US" sz="2400" dirty="0" smtClean="0">
                <a:latin typeface="Arial Narrow"/>
              </a:rPr>
              <a:t> (</a:t>
            </a:r>
            <a:r>
              <a:rPr lang="az-Cyrl-AZ" sz="2400" dirty="0" smtClean="0">
                <a:latin typeface="Arial Narrow"/>
              </a:rPr>
              <a:t>¬</a:t>
            </a:r>
            <a:r>
              <a:rPr lang="el-GR" sz="2400" dirty="0" smtClean="0">
                <a:latin typeface="Arial Narrow"/>
              </a:rPr>
              <a:t> </a:t>
            </a:r>
            <a:r>
              <a:rPr lang="en-US" sz="2400" dirty="0" smtClean="0">
                <a:latin typeface="Arial Narrow"/>
              </a:rPr>
              <a:t>x2 V </a:t>
            </a:r>
            <a:r>
              <a:rPr lang="az-Cyrl-AZ" sz="2400" dirty="0">
                <a:latin typeface="Arial Narrow"/>
              </a:rPr>
              <a:t>¬</a:t>
            </a:r>
            <a:r>
              <a:rPr lang="el-GR" sz="2400" dirty="0" smtClean="0">
                <a:latin typeface="Arial Narrow"/>
              </a:rPr>
              <a:t> </a:t>
            </a:r>
            <a:r>
              <a:rPr lang="en-US" sz="2400" dirty="0" smtClean="0">
                <a:latin typeface="Arial Narrow"/>
              </a:rPr>
              <a:t>x3 V x4 ) </a:t>
            </a:r>
            <a:r>
              <a:rPr lang="el-GR" sz="2400" dirty="0">
                <a:latin typeface="Arial Narrow"/>
              </a:rPr>
              <a:t>Λ</a:t>
            </a:r>
            <a:r>
              <a:rPr lang="en-US" sz="2400" dirty="0" smtClean="0">
                <a:latin typeface="Arial Narrow"/>
              </a:rPr>
              <a:t> (</a:t>
            </a:r>
            <a:r>
              <a:rPr lang="az-Cyrl-AZ" sz="2400" dirty="0">
                <a:latin typeface="Arial Narrow"/>
              </a:rPr>
              <a:t>¬</a:t>
            </a:r>
            <a:r>
              <a:rPr lang="el-GR" sz="2400" dirty="0" smtClean="0">
                <a:latin typeface="Arial Narrow"/>
              </a:rPr>
              <a:t> </a:t>
            </a:r>
            <a:r>
              <a:rPr lang="en-US" sz="2400" dirty="0" smtClean="0">
                <a:latin typeface="Arial Narrow"/>
              </a:rPr>
              <a:t>x1 V x3 V x4 )</a:t>
            </a:r>
            <a:endParaRPr lang="en-IN" sz="2400" dirty="0"/>
          </a:p>
          <a:p>
            <a:r>
              <a:rPr lang="en-US" sz="2400" dirty="0" smtClean="0">
                <a:latin typeface="Arial Narrow"/>
              </a:rPr>
              <a:t>               it is clear that </a:t>
            </a:r>
            <a:r>
              <a:rPr lang="el-GR" sz="2400" dirty="0">
                <a:latin typeface="Arial Narrow"/>
              </a:rPr>
              <a:t>Φ</a:t>
            </a:r>
            <a:r>
              <a:rPr lang="en-US" sz="2400" dirty="0">
                <a:latin typeface="Arial Narrow"/>
              </a:rPr>
              <a:t>1</a:t>
            </a:r>
            <a:r>
              <a:rPr lang="en-US" sz="2400" dirty="0" smtClean="0">
                <a:latin typeface="Arial Narrow"/>
              </a:rPr>
              <a:t> is in 2 CNF and </a:t>
            </a:r>
            <a:r>
              <a:rPr lang="el-GR" sz="2400" dirty="0">
                <a:latin typeface="Arial Narrow"/>
              </a:rPr>
              <a:t> Φ</a:t>
            </a:r>
            <a:r>
              <a:rPr lang="en-US" sz="2400" dirty="0">
                <a:latin typeface="Arial Narrow"/>
              </a:rPr>
              <a:t>2 </a:t>
            </a:r>
            <a:r>
              <a:rPr lang="en-US" sz="2400" dirty="0" smtClean="0">
                <a:latin typeface="Arial Narrow"/>
              </a:rPr>
              <a:t> is in 3 CNF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9064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620688"/>
            <a:ext cx="8022409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304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48" y="260648"/>
            <a:ext cx="8058507" cy="645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559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64524"/>
            <a:ext cx="8424936" cy="5956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100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7785720" cy="446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300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94" y="1268760"/>
            <a:ext cx="8001000" cy="41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00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42" y="1340768"/>
            <a:ext cx="7809309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79910" y="581166"/>
            <a:ext cx="56166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NP HARD  and NP COMPLETE</a:t>
            </a:r>
            <a:endParaRPr lang="en-IN" sz="3200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0" y="4869160"/>
            <a:ext cx="7923609" cy="1449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17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332656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Relationship with P and NP</a:t>
            </a:r>
            <a:endParaRPr lang="en-IN" sz="32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8" y="1124744"/>
            <a:ext cx="3552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3568" y="4881876"/>
            <a:ext cx="61926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Cooks Theorem</a:t>
            </a:r>
          </a:p>
          <a:p>
            <a:endParaRPr lang="en-US" dirty="0"/>
          </a:p>
          <a:p>
            <a:r>
              <a:rPr lang="en-US" sz="2400" dirty="0" smtClean="0"/>
              <a:t>Satisfiability is in P if and only if P=NP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64480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373" y="179978"/>
            <a:ext cx="3526329" cy="688617"/>
          </a:xfrm>
          <a:prstGeom prst="rect">
            <a:avLst/>
          </a:prstGeom>
        </p:spPr>
        <p:txBody>
          <a:bodyPr vert="horz" wrap="square" lIns="0" tIns="11397" rIns="0" bIns="0" rtlCol="0">
            <a:spAutoFit/>
          </a:bodyPr>
          <a:lstStyle/>
          <a:p>
            <a:pPr marL="11397">
              <a:spcBef>
                <a:spcPts val="90"/>
              </a:spcBef>
            </a:pPr>
            <a:r>
              <a:rPr b="1" spc="-4" dirty="0">
                <a:latin typeface="Comic Sans MS"/>
                <a:cs typeface="Comic Sans MS"/>
              </a:rPr>
              <a:t>NP-hard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8875" y="5332656"/>
            <a:ext cx="619414" cy="456633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HC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.</a:t>
            </a:r>
            <a:endParaRPr sz="2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764" y="876886"/>
            <a:ext cx="7819736" cy="4626066"/>
          </a:xfrm>
          <a:prstGeom prst="rect">
            <a:avLst/>
          </a:prstGeom>
        </p:spPr>
        <p:txBody>
          <a:bodyPr vert="horz" wrap="square" lIns="0" tIns="90606" rIns="0" bIns="0" rtlCol="0">
            <a:spAutoFit/>
          </a:bodyPr>
          <a:lstStyle/>
          <a:p>
            <a:pPr marL="320255" indent="-309428">
              <a:spcBef>
                <a:spcPts val="713"/>
              </a:spcBef>
              <a:buChar char="•"/>
              <a:tabLst>
                <a:tab pos="320255" algn="l"/>
                <a:tab pos="320825" algn="l"/>
              </a:tabLst>
            </a:pP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What</a:t>
            </a:r>
            <a:r>
              <a:rPr sz="2500" spc="-4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does</a:t>
            </a:r>
            <a:r>
              <a:rPr sz="2500" spc="-4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-4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 mean?</a:t>
            </a:r>
            <a:endParaRPr sz="2500">
              <a:latin typeface="Comic Sans MS"/>
              <a:cs typeface="Comic Sans MS"/>
            </a:endParaRPr>
          </a:p>
          <a:p>
            <a:pPr marL="678690" marR="4559" indent="-257572">
              <a:spcBef>
                <a:spcPts val="534"/>
              </a:spcBef>
              <a:tabLst>
                <a:tab pos="678690" algn="l"/>
                <a:tab pos="3449295" algn="l"/>
                <a:tab pos="5134339" algn="l"/>
              </a:tabLst>
            </a:pP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–	A lot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of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times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you </a:t>
            </a:r>
            <a:r>
              <a:rPr sz="2200" spc="-9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solve a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problem </a:t>
            </a:r>
            <a:r>
              <a:rPr sz="2200" spc="-9" dirty="0">
                <a:solidFill>
                  <a:srgbClr val="3333CC"/>
                </a:solidFill>
                <a:latin typeface="Comic Sans MS"/>
                <a:cs typeface="Comic Sans MS"/>
              </a:rPr>
              <a:t>by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reducing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it to </a:t>
            </a:r>
            <a:r>
              <a:rPr sz="2200" spc="-63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2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different</a:t>
            </a:r>
            <a:r>
              <a:rPr sz="2200" spc="-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problem.	I </a:t>
            </a:r>
            <a:r>
              <a:rPr sz="2200" spc="-9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reduce Problem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B to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Problem A if, given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a solution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to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Problem </a:t>
            </a:r>
            <a:r>
              <a:rPr sz="2200" spc="4" dirty="0">
                <a:solidFill>
                  <a:srgbClr val="3333CC"/>
                </a:solidFill>
                <a:latin typeface="Comic Sans MS"/>
                <a:cs typeface="Comic Sans MS"/>
              </a:rPr>
              <a:t>A,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I </a:t>
            </a:r>
            <a:r>
              <a:rPr sz="2200" spc="-9" dirty="0">
                <a:solidFill>
                  <a:srgbClr val="3333CC"/>
                </a:solidFill>
                <a:latin typeface="Comic Sans MS"/>
                <a:cs typeface="Comic Sans MS"/>
              </a:rPr>
              <a:t>can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easily </a:t>
            </a:r>
            <a:r>
              <a:rPr sz="2200" spc="-63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construct</a:t>
            </a:r>
            <a:r>
              <a:rPr sz="2200" spc="-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2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2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2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200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B.	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(In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this case, </a:t>
            </a:r>
            <a:r>
              <a:rPr sz="22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"easily"</a:t>
            </a:r>
            <a:r>
              <a:rPr sz="2200" spc="-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means</a:t>
            </a:r>
            <a:r>
              <a:rPr sz="22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"in</a:t>
            </a:r>
            <a:r>
              <a:rPr sz="22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2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200" spc="-4" dirty="0">
                <a:solidFill>
                  <a:srgbClr val="3333CC"/>
                </a:solidFill>
                <a:latin typeface="Comic Sans MS"/>
                <a:cs typeface="Comic Sans MS"/>
              </a:rPr>
              <a:t>time.“).</a:t>
            </a:r>
            <a:endParaRPr sz="2200">
              <a:latin typeface="Comic Sans MS"/>
              <a:cs typeface="Comic Sans MS"/>
            </a:endParaRPr>
          </a:p>
          <a:p>
            <a:pPr marL="320255" marR="176083" indent="-309428">
              <a:spcBef>
                <a:spcPts val="660"/>
              </a:spcBef>
              <a:buChar char="•"/>
              <a:tabLst>
                <a:tab pos="320255" algn="l"/>
                <a:tab pos="320825" algn="l"/>
              </a:tabLst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b="1" spc="-9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-</a:t>
            </a:r>
            <a:r>
              <a:rPr sz="2900" b="1" spc="-9" dirty="0">
                <a:solidFill>
                  <a:srgbClr val="3333CC"/>
                </a:solidFill>
                <a:latin typeface="Comic Sans MS"/>
                <a:cs typeface="Comic Sans MS"/>
              </a:rPr>
              <a:t>hard</a:t>
            </a:r>
            <a:r>
              <a:rPr sz="2900" b="1" spc="-35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900" spc="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2900" spc="4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900" spc="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NP </a:t>
            </a:r>
            <a:r>
              <a:rPr sz="2900" spc="-8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2900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900" spc="7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time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it,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...</a:t>
            </a:r>
            <a:endParaRPr sz="2900">
              <a:latin typeface="Comic Sans MS"/>
              <a:cs typeface="Comic Sans MS"/>
            </a:endParaRPr>
          </a:p>
          <a:p>
            <a:pPr marL="968743" indent="-957346">
              <a:lnSpc>
                <a:spcPts val="3424"/>
              </a:lnSpc>
              <a:spcBef>
                <a:spcPts val="731"/>
              </a:spcBef>
              <a:buChar char="•"/>
              <a:tabLst>
                <a:tab pos="968173" algn="l"/>
                <a:tab pos="968743" algn="l"/>
              </a:tabLst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Ex:-</a:t>
            </a:r>
            <a:r>
              <a:rPr sz="2900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Hamiltonian</a:t>
            </a:r>
            <a:r>
              <a:rPr sz="2900" spc="6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Cycle</a:t>
            </a:r>
            <a:endParaRPr sz="2900">
              <a:latin typeface="Comic Sans MS"/>
              <a:cs typeface="Comic Sans MS"/>
            </a:endParaRPr>
          </a:p>
          <a:p>
            <a:pPr marL="320255" marR="393196">
              <a:lnSpc>
                <a:spcPts val="3446"/>
              </a:lnSpc>
              <a:spcBef>
                <a:spcPts val="67"/>
              </a:spcBef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Every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 problem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900" spc="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29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HC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in </a:t>
            </a:r>
            <a:r>
              <a:rPr sz="2900" spc="-8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time.</a:t>
            </a:r>
            <a:r>
              <a:rPr sz="29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Ex:-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TSP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2900" spc="7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endParaRPr sz="2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4433" y="6209403"/>
            <a:ext cx="184150" cy="210110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z="1300" spc="-4" dirty="0">
                <a:latin typeface="Times New Roman"/>
                <a:cs typeface="Times New Roman"/>
              </a:rPr>
              <a:t>13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0672" y="5929704"/>
            <a:ext cx="6605732" cy="456633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Example: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lcm(m,</a:t>
            </a:r>
            <a:r>
              <a:rPr sz="29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n)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m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*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/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29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n),</a:t>
            </a:r>
            <a:endParaRPr sz="29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5946" y="5526294"/>
            <a:ext cx="255732" cy="456633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B</a:t>
            </a:r>
            <a:endParaRPr sz="29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9582" y="5547808"/>
            <a:ext cx="292677" cy="456633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11397">
              <a:spcBef>
                <a:spcPts val="81"/>
              </a:spcBef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endParaRPr sz="29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616913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8298" y="188640"/>
            <a:ext cx="6103158" cy="688617"/>
          </a:xfrm>
          <a:prstGeom prst="rect">
            <a:avLst/>
          </a:prstGeom>
        </p:spPr>
        <p:txBody>
          <a:bodyPr vert="horz" wrap="square" lIns="0" tIns="11397" rIns="0" bIns="0" rtlCol="0">
            <a:spAutoFit/>
          </a:bodyPr>
          <a:lstStyle/>
          <a:p>
            <a:pPr marL="11397">
              <a:spcBef>
                <a:spcPts val="90"/>
              </a:spcBef>
            </a:pPr>
            <a:r>
              <a:rPr i="1" spc="-4" dirty="0">
                <a:latin typeface="Comic Sans MS"/>
                <a:cs typeface="Comic Sans MS"/>
              </a:rPr>
              <a:t>NP</a:t>
            </a:r>
            <a:r>
              <a:rPr spc="-4" dirty="0"/>
              <a:t>-complete</a:t>
            </a:r>
            <a:r>
              <a:rPr spc="-45" dirty="0"/>
              <a:t> </a:t>
            </a:r>
            <a:r>
              <a:rPr spc="-4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5764" y="1155998"/>
            <a:ext cx="7868227" cy="1826239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320255" marR="4559" indent="-309428">
              <a:spcBef>
                <a:spcPts val="81"/>
              </a:spcBef>
              <a:buChar char="•"/>
              <a:tabLst>
                <a:tab pos="320255" algn="l"/>
                <a:tab pos="320825" algn="l"/>
              </a:tabLst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ob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b="1" spc="-9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900" b="1" spc="-13" dirty="0">
                <a:solidFill>
                  <a:srgbClr val="3333CC"/>
                </a:solidFill>
                <a:latin typeface="Comic Sans MS"/>
                <a:cs typeface="Comic Sans MS"/>
              </a:rPr>
              <a:t>-c</a:t>
            </a:r>
            <a:r>
              <a:rPr sz="2900" b="1" spc="-4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900" b="1" spc="-18" dirty="0">
                <a:solidFill>
                  <a:srgbClr val="3333CC"/>
                </a:solidFill>
                <a:latin typeface="Comic Sans MS"/>
                <a:cs typeface="Comic Sans MS"/>
              </a:rPr>
              <a:t>m</a:t>
            </a:r>
            <a:r>
              <a:rPr sz="2900" b="1" spc="-9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900" b="1" spc="-13" dirty="0">
                <a:solidFill>
                  <a:srgbClr val="3333CC"/>
                </a:solidFill>
                <a:latin typeface="Comic Sans MS"/>
                <a:cs typeface="Comic Sans MS"/>
              </a:rPr>
              <a:t>le</a:t>
            </a:r>
            <a:r>
              <a:rPr sz="2900" b="1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900" b="1" spc="-4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900" b="1" spc="-31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f</a:t>
            </a:r>
            <a:r>
              <a:rPr sz="2900" spc="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he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ob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  both</a:t>
            </a:r>
            <a:endParaRPr sz="2900">
              <a:latin typeface="Comic Sans MS"/>
              <a:cs typeface="Comic Sans MS"/>
            </a:endParaRPr>
          </a:p>
          <a:p>
            <a:pPr marL="678690" lvl="1" indent="-257572">
              <a:spcBef>
                <a:spcPts val="619"/>
              </a:spcBef>
              <a:buChar char="–"/>
              <a:tabLst>
                <a:tab pos="679260" algn="l"/>
              </a:tabLst>
            </a:pP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NP-hard,</a:t>
            </a:r>
            <a:r>
              <a:rPr sz="2500" spc="-6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endParaRPr sz="2500">
              <a:latin typeface="Comic Sans MS"/>
              <a:cs typeface="Comic Sans MS"/>
            </a:endParaRPr>
          </a:p>
          <a:p>
            <a:pPr marL="678690" lvl="1" indent="-257572">
              <a:spcBef>
                <a:spcPts val="601"/>
              </a:spcBef>
              <a:buChar char="–"/>
              <a:tabLst>
                <a:tab pos="679260" algn="l"/>
              </a:tabLst>
            </a:pP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NP.</a:t>
            </a:r>
            <a:endParaRPr sz="25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794905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9690" y="260648"/>
            <a:ext cx="3559797" cy="688617"/>
          </a:xfrm>
          <a:prstGeom prst="rect">
            <a:avLst/>
          </a:prstGeom>
        </p:spPr>
        <p:txBody>
          <a:bodyPr vert="horz" wrap="square" lIns="0" tIns="11397" rIns="0" bIns="0" rtlCol="0">
            <a:spAutoFit/>
          </a:bodyPr>
          <a:lstStyle/>
          <a:p>
            <a:pPr marL="11397">
              <a:spcBef>
                <a:spcPts val="90"/>
              </a:spcBef>
            </a:pPr>
            <a:r>
              <a:rPr spc="-4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5037" y="1424939"/>
            <a:ext cx="7729105" cy="5204087"/>
          </a:xfrm>
          <a:prstGeom prst="rect">
            <a:avLst/>
          </a:prstGeom>
        </p:spPr>
        <p:txBody>
          <a:bodyPr vert="horz" wrap="square" lIns="0" tIns="10257" rIns="0" bIns="0" rtlCol="0">
            <a:spAutoFit/>
          </a:bodyPr>
          <a:lstStyle/>
          <a:p>
            <a:pPr marL="320255" marR="11967" indent="-309428">
              <a:spcBef>
                <a:spcPts val="81"/>
              </a:spcBef>
              <a:buChar char="•"/>
              <a:tabLst>
                <a:tab pos="320255" algn="l"/>
                <a:tab pos="320825" algn="l"/>
              </a:tabLst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A problem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 can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be</a:t>
            </a:r>
            <a:r>
              <a:rPr sz="2900" spc="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i="1" spc="-9" dirty="0">
                <a:latin typeface="Comic Sans MS"/>
                <a:cs typeface="Comic Sans MS"/>
              </a:rPr>
              <a:t>reduced</a:t>
            </a:r>
            <a:r>
              <a:rPr sz="2900" i="1" spc="22" dirty="0"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 another 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any</a:t>
            </a:r>
            <a:r>
              <a:rPr sz="2900" spc="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instance</a:t>
            </a:r>
            <a:r>
              <a:rPr sz="2900" spc="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can</a:t>
            </a:r>
            <a:r>
              <a:rPr sz="2900" spc="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be 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rephrased</a:t>
            </a:r>
            <a:r>
              <a:rPr sz="2900" spc="10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10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an</a:t>
            </a:r>
            <a:r>
              <a:rPr sz="2900" spc="13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instance</a:t>
            </a:r>
            <a:r>
              <a:rPr sz="2900" spc="12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900" spc="11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Q,</a:t>
            </a:r>
            <a:r>
              <a:rPr sz="2900" spc="10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which</a:t>
            </a:r>
            <a:r>
              <a:rPr sz="2900" spc="4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provides</a:t>
            </a:r>
            <a:r>
              <a:rPr sz="2900" spc="4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solution</a:t>
            </a:r>
            <a:r>
              <a:rPr sz="2900" spc="5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the </a:t>
            </a:r>
            <a:r>
              <a:rPr sz="2900" spc="-8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instance of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endParaRPr sz="2900">
              <a:latin typeface="Comic Sans MS"/>
              <a:cs typeface="Comic Sans MS"/>
            </a:endParaRPr>
          </a:p>
          <a:p>
            <a:pPr marL="421688">
              <a:spcBef>
                <a:spcPts val="619"/>
              </a:spcBef>
            </a:pP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–</a:t>
            </a:r>
            <a:r>
              <a:rPr sz="2500" spc="16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This</a:t>
            </a:r>
            <a:r>
              <a:rPr sz="2500" spc="-6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rephrasing</a:t>
            </a:r>
            <a:r>
              <a:rPr sz="2500" spc="-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 called</a:t>
            </a:r>
            <a:r>
              <a:rPr sz="25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i="1" dirty="0">
                <a:solidFill>
                  <a:srgbClr val="3333CC"/>
                </a:solidFill>
                <a:latin typeface="Comic Sans MS"/>
                <a:cs typeface="Comic Sans MS"/>
              </a:rPr>
              <a:t>transformation</a:t>
            </a:r>
            <a:endParaRPr sz="2500">
              <a:latin typeface="Comic Sans MS"/>
              <a:cs typeface="Comic Sans MS"/>
            </a:endParaRPr>
          </a:p>
          <a:p>
            <a:pPr marL="320255" marR="4559" indent="-309428">
              <a:spcBef>
                <a:spcPts val="673"/>
              </a:spcBef>
              <a:buChar char="•"/>
              <a:tabLst>
                <a:tab pos="320255" algn="l"/>
                <a:tab pos="320825" algn="l"/>
              </a:tabLst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Intuitively: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reduces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in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polynomial</a:t>
            </a:r>
            <a:r>
              <a:rPr sz="2900" spc="7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time </a:t>
            </a:r>
            <a:r>
              <a:rPr sz="2900" spc="-84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Q,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“no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harder to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solve”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than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endParaRPr sz="2900">
              <a:latin typeface="Comic Sans MS"/>
              <a:cs typeface="Comic Sans MS"/>
            </a:endParaRPr>
          </a:p>
          <a:p>
            <a:pPr marL="320255" indent="-309428">
              <a:spcBef>
                <a:spcPts val="691"/>
              </a:spcBef>
              <a:buChar char="•"/>
              <a:tabLst>
                <a:tab pos="320255" algn="l"/>
                <a:tab pos="320825" algn="l"/>
              </a:tabLst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Example:</a:t>
            </a:r>
            <a:r>
              <a:rPr sz="2900" spc="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lcm(m,</a:t>
            </a:r>
            <a:r>
              <a:rPr sz="29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n)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=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m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*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/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29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n),</a:t>
            </a:r>
            <a:endParaRPr sz="2900">
              <a:latin typeface="Comic Sans MS"/>
              <a:cs typeface="Comic Sans MS"/>
            </a:endParaRPr>
          </a:p>
          <a:p>
            <a:pPr marL="320255" marR="276377" indent="125367">
              <a:spcBef>
                <a:spcPts val="687"/>
              </a:spcBef>
            </a:pP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lcm(m,n)</a:t>
            </a:r>
            <a:r>
              <a:rPr sz="2900" spc="6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r>
              <a:rPr sz="2900" spc="36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reduced</a:t>
            </a:r>
            <a:r>
              <a:rPr sz="2900" spc="4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gcd(m,</a:t>
            </a:r>
            <a:r>
              <a:rPr sz="2900" spc="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n) </a:t>
            </a:r>
            <a:r>
              <a:rPr sz="2900" spc="-84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problem</a:t>
            </a:r>
            <a:endParaRPr sz="29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4494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905" y="102445"/>
            <a:ext cx="5139459" cy="1365725"/>
          </a:xfrm>
          <a:prstGeom prst="rect">
            <a:avLst/>
          </a:prstGeom>
        </p:spPr>
        <p:txBody>
          <a:bodyPr vert="horz" wrap="square" lIns="0" tIns="11397" rIns="0" bIns="0" rtlCol="0">
            <a:spAutoFit/>
          </a:bodyPr>
          <a:lstStyle/>
          <a:p>
            <a:pPr marL="11397">
              <a:spcBef>
                <a:spcPts val="90"/>
              </a:spcBef>
            </a:pPr>
            <a:r>
              <a:rPr spc="-4" dirty="0"/>
              <a:t>NP-Hard</a:t>
            </a:r>
            <a:r>
              <a:rPr spc="-36" dirty="0"/>
              <a:t> </a:t>
            </a:r>
            <a:r>
              <a:rPr dirty="0"/>
              <a:t>and</a:t>
            </a:r>
            <a:r>
              <a:rPr spc="-36" dirty="0"/>
              <a:t> </a:t>
            </a:r>
            <a:r>
              <a:rPr spc="-4" dirty="0"/>
              <a:t>NP-Complete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581" y="1828351"/>
            <a:ext cx="7229764" cy="4566421"/>
          </a:xfrm>
          <a:prstGeom prst="rect">
            <a:avLst/>
          </a:prstGeom>
        </p:spPr>
        <p:txBody>
          <a:bodyPr vert="horz" wrap="square" lIns="0" tIns="7408" rIns="0" bIns="0" rtlCol="0">
            <a:spAutoFit/>
          </a:bodyPr>
          <a:lstStyle/>
          <a:p>
            <a:pPr marL="343049" marR="225660" indent="-309428">
              <a:lnSpc>
                <a:spcPct val="100600"/>
              </a:lnSpc>
              <a:spcBef>
                <a:spcPts val="58"/>
              </a:spcBef>
              <a:buChar char="•"/>
              <a:tabLst>
                <a:tab pos="343049" algn="l"/>
                <a:tab pos="343619" algn="l"/>
              </a:tabLst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 R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i="1" spc="-9" dirty="0">
                <a:latin typeface="Comic Sans MS"/>
                <a:cs typeface="Comic Sans MS"/>
              </a:rPr>
              <a:t>polynomial-time</a:t>
            </a:r>
            <a:r>
              <a:rPr sz="2900" i="1" spc="85" dirty="0">
                <a:latin typeface="Comic Sans MS"/>
                <a:cs typeface="Comic Sans MS"/>
              </a:rPr>
              <a:t> </a:t>
            </a:r>
            <a:r>
              <a:rPr sz="2900" i="1" spc="-9" dirty="0">
                <a:latin typeface="Comic Sans MS"/>
                <a:cs typeface="Comic Sans MS"/>
              </a:rPr>
              <a:t>reducible</a:t>
            </a:r>
            <a:r>
              <a:rPr sz="2900" i="1" spc="54" dirty="0"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Q, </a:t>
            </a:r>
            <a:r>
              <a:rPr sz="2900" spc="-84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we</a:t>
            </a:r>
            <a:r>
              <a:rPr sz="2900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de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t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e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t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hi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US" sz="2900" spc="27" dirty="0">
                <a:solidFill>
                  <a:srgbClr val="3333CC"/>
                </a:solidFill>
                <a:latin typeface="Comic Sans MS"/>
                <a:cs typeface="Comic Sans MS"/>
              </a:rPr>
              <a:t>&lt;=</a:t>
            </a:r>
            <a:r>
              <a:rPr sz="2800" spc="20" baseline="-1984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800" spc="39" baseline="-1984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endParaRPr sz="2900" dirty="0">
              <a:latin typeface="Comic Sans MS"/>
              <a:cs typeface="Comic Sans MS"/>
            </a:endParaRPr>
          </a:p>
          <a:p>
            <a:pPr marL="343049" marR="1560816" indent="-309428">
              <a:spcBef>
                <a:spcPts val="669"/>
              </a:spcBef>
              <a:buChar char="•"/>
              <a:tabLst>
                <a:tab pos="343049" algn="l"/>
                <a:tab pos="343619" algn="l"/>
              </a:tabLst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Definition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of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latin typeface="Comic Sans MS"/>
                <a:cs typeface="Comic Sans MS"/>
              </a:rPr>
              <a:t>NP-Hard</a:t>
            </a:r>
            <a:r>
              <a:rPr sz="2900" spc="27" dirty="0"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and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latin typeface="Comic Sans MS"/>
                <a:cs typeface="Comic Sans MS"/>
              </a:rPr>
              <a:t>NP- </a:t>
            </a:r>
            <a:r>
              <a:rPr sz="2900" spc="-844" dirty="0">
                <a:latin typeface="Comic Sans MS"/>
                <a:cs typeface="Comic Sans MS"/>
              </a:rPr>
              <a:t> </a:t>
            </a:r>
            <a:r>
              <a:rPr sz="2900" spc="-9" dirty="0">
                <a:latin typeface="Comic Sans MS"/>
                <a:cs typeface="Comic Sans MS"/>
              </a:rPr>
              <a:t>Complete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:</a:t>
            </a:r>
            <a:endParaRPr sz="2900" dirty="0">
              <a:latin typeface="Comic Sans MS"/>
              <a:cs typeface="Comic Sans MS"/>
            </a:endParaRPr>
          </a:p>
          <a:p>
            <a:pPr marL="701484" lvl="1" indent="-258142">
              <a:lnSpc>
                <a:spcPts val="3006"/>
              </a:lnSpc>
              <a:spcBef>
                <a:spcPts val="642"/>
              </a:spcBef>
              <a:buChar char="–"/>
              <a:tabLst>
                <a:tab pos="702054" algn="l"/>
              </a:tabLst>
            </a:pP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500" spc="-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all</a:t>
            </a:r>
            <a:r>
              <a:rPr sz="25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problems</a:t>
            </a:r>
            <a:r>
              <a:rPr sz="2500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500" spc="-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-718" dirty="0">
                <a:solidFill>
                  <a:srgbClr val="3333CC"/>
                </a:solidFill>
                <a:latin typeface="Cambria"/>
                <a:cs typeface="Cambria"/>
              </a:rPr>
              <a:t></a:t>
            </a:r>
            <a:r>
              <a:rPr sz="2500" spc="193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500" b="1" dirty="0">
                <a:solidFill>
                  <a:srgbClr val="3333CC"/>
                </a:solidFill>
                <a:latin typeface="Comic Sans MS"/>
                <a:cs typeface="Comic Sans MS"/>
              </a:rPr>
              <a:t>NP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are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i="1" dirty="0">
                <a:solidFill>
                  <a:srgbClr val="3333CC"/>
                </a:solidFill>
                <a:latin typeface="Comic Sans MS"/>
                <a:cs typeface="Comic Sans MS"/>
              </a:rPr>
              <a:t>polynomial-time</a:t>
            </a:r>
            <a:endParaRPr sz="2500" dirty="0">
              <a:latin typeface="Comic Sans MS"/>
              <a:cs typeface="Comic Sans MS"/>
            </a:endParaRPr>
          </a:p>
          <a:p>
            <a:pPr marL="701484">
              <a:lnSpc>
                <a:spcPts val="3006"/>
              </a:lnSpc>
            </a:pP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reducible</a:t>
            </a:r>
            <a:r>
              <a:rPr sz="25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to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 Q,</a:t>
            </a:r>
            <a:r>
              <a:rPr sz="2500" spc="-3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then</a:t>
            </a:r>
            <a:r>
              <a:rPr sz="2500" spc="-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5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500" spc="-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i="1" spc="-4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endParaRPr sz="2500" dirty="0">
              <a:latin typeface="Comic Sans MS"/>
              <a:cs typeface="Comic Sans MS"/>
            </a:endParaRPr>
          </a:p>
          <a:p>
            <a:pPr marL="701484" marR="148731" lvl="1" indent="-257572">
              <a:lnSpc>
                <a:spcPct val="100699"/>
              </a:lnSpc>
              <a:spcBef>
                <a:spcPts val="579"/>
              </a:spcBef>
              <a:buChar char="–"/>
              <a:tabLst>
                <a:tab pos="702054" algn="l"/>
              </a:tabLst>
            </a:pP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We</a:t>
            </a:r>
            <a:r>
              <a:rPr sz="2500" spc="-4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say</a:t>
            </a:r>
            <a:r>
              <a:rPr sz="2500" spc="-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500" spc="-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500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i="1" dirty="0">
                <a:solidFill>
                  <a:srgbClr val="3333CC"/>
                </a:solidFill>
                <a:latin typeface="Comic Sans MS"/>
                <a:cs typeface="Comic Sans MS"/>
              </a:rPr>
              <a:t>NP-Complete</a:t>
            </a:r>
            <a:r>
              <a:rPr sz="2500" i="1" spc="-4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500" spc="-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500" spc="-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is</a:t>
            </a:r>
            <a:r>
              <a:rPr sz="2500" spc="-22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spc="-4" dirty="0">
                <a:solidFill>
                  <a:srgbClr val="3333CC"/>
                </a:solidFill>
                <a:latin typeface="Comic Sans MS"/>
                <a:cs typeface="Comic Sans MS"/>
              </a:rPr>
              <a:t>NP-Hard </a:t>
            </a:r>
            <a:r>
              <a:rPr sz="2500" spc="-735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500" spc="-4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2500" dirty="0">
                <a:solidFill>
                  <a:srgbClr val="FF0000"/>
                </a:solidFill>
                <a:latin typeface="Comic Sans MS"/>
                <a:cs typeface="Comic Sans MS"/>
              </a:rPr>
              <a:t>d</a:t>
            </a:r>
            <a:r>
              <a:rPr sz="2500" spc="-3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500" spc="4" dirty="0">
                <a:solidFill>
                  <a:srgbClr val="3333CC"/>
                </a:solidFill>
                <a:latin typeface="Comic Sans MS"/>
                <a:cs typeface="Comic Sans MS"/>
              </a:rPr>
              <a:t>Q</a:t>
            </a:r>
            <a:r>
              <a:rPr sz="2500" spc="-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US" sz="2500" spc="-9" dirty="0">
                <a:solidFill>
                  <a:srgbClr val="3333CC"/>
                </a:solidFill>
                <a:latin typeface="Comic Sans MS"/>
                <a:cs typeface="Comic Sans MS"/>
              </a:rPr>
              <a:t>belongs to</a:t>
            </a:r>
            <a:r>
              <a:rPr sz="2500" spc="211" dirty="0">
                <a:solidFill>
                  <a:srgbClr val="3333CC"/>
                </a:solidFill>
                <a:latin typeface="Cambria"/>
                <a:cs typeface="Cambria"/>
              </a:rPr>
              <a:t> </a:t>
            </a:r>
            <a:r>
              <a:rPr sz="2500" b="1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endParaRPr sz="2500" dirty="0">
              <a:latin typeface="Comic Sans MS"/>
              <a:cs typeface="Comic Sans MS"/>
            </a:endParaRPr>
          </a:p>
          <a:p>
            <a:pPr marL="343049" marR="484372" indent="-309428">
              <a:lnSpc>
                <a:spcPts val="3428"/>
              </a:lnSpc>
              <a:spcBef>
                <a:spcPts val="781"/>
              </a:spcBef>
              <a:buChar char="•"/>
              <a:tabLst>
                <a:tab pos="343049" algn="l"/>
                <a:tab pos="343619" algn="l"/>
              </a:tabLst>
            </a:pP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If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 R</a:t>
            </a:r>
            <a:r>
              <a:rPr sz="2900" spc="13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lang="en-US" sz="2900" spc="13" dirty="0">
                <a:solidFill>
                  <a:srgbClr val="3333CC"/>
                </a:solidFill>
                <a:latin typeface="Comic Sans MS"/>
                <a:cs typeface="Comic Sans MS"/>
              </a:rPr>
              <a:t>&lt;=</a:t>
            </a:r>
            <a:r>
              <a:rPr sz="2800" spc="20" baseline="-19841" dirty="0">
                <a:solidFill>
                  <a:srgbClr val="3333CC"/>
                </a:solidFill>
                <a:latin typeface="Comic Sans MS"/>
                <a:cs typeface="Comic Sans MS"/>
              </a:rPr>
              <a:t>p</a:t>
            </a:r>
            <a:r>
              <a:rPr sz="2800" baseline="-1984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800" spc="-389" baseline="-19841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Q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900" spc="4" dirty="0">
                <a:solidFill>
                  <a:srgbClr val="3333CC"/>
                </a:solidFill>
                <a:latin typeface="Comic Sans MS"/>
                <a:cs typeface="Comic Sans MS"/>
              </a:rPr>
              <a:t>n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d</a:t>
            </a:r>
            <a:r>
              <a:rPr sz="2900" spc="18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R</a:t>
            </a:r>
            <a:r>
              <a:rPr sz="2900" spc="9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900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NP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-H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ard,</a:t>
            </a:r>
            <a:r>
              <a:rPr sz="2900" spc="6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Q i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</a:t>
            </a:r>
            <a:r>
              <a:rPr sz="2900" spc="27" dirty="0">
                <a:solidFill>
                  <a:srgbClr val="3333CC"/>
                </a:solidFill>
                <a:latin typeface="Comic Sans MS"/>
                <a:cs typeface="Comic Sans MS"/>
              </a:rPr>
              <a:t> 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a</a:t>
            </a:r>
            <a:r>
              <a:rPr sz="2900" spc="-13" dirty="0">
                <a:solidFill>
                  <a:srgbClr val="3333CC"/>
                </a:solidFill>
                <a:latin typeface="Comic Sans MS"/>
                <a:cs typeface="Comic Sans MS"/>
              </a:rPr>
              <a:t>l</a:t>
            </a:r>
            <a:r>
              <a:rPr sz="2900" spc="-4" dirty="0">
                <a:solidFill>
                  <a:srgbClr val="3333CC"/>
                </a:solidFill>
                <a:latin typeface="Comic Sans MS"/>
                <a:cs typeface="Comic Sans MS"/>
              </a:rPr>
              <a:t>so  </a:t>
            </a:r>
            <a:r>
              <a:rPr sz="2900" spc="-9" dirty="0">
                <a:solidFill>
                  <a:srgbClr val="3333CC"/>
                </a:solidFill>
                <a:latin typeface="Comic Sans MS"/>
                <a:cs typeface="Comic Sans MS"/>
              </a:rPr>
              <a:t>NP-Hard</a:t>
            </a:r>
            <a:endParaRPr sz="29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720622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123" y="1893346"/>
            <a:ext cx="4674523" cy="3073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xfrm>
            <a:off x="8311342" y="6226388"/>
            <a:ext cx="230332" cy="195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191">
              <a:lnSpc>
                <a:spcPts val="1454"/>
              </a:lnSpc>
            </a:pPr>
            <a:fld id="{81D60167-4931-47E6-BA6A-407CBD079E47}" type="slidenum">
              <a:rPr spc="-4" dirty="0"/>
              <a:pPr marL="34191">
                <a:lnSpc>
                  <a:spcPts val="1454"/>
                </a:lnSpc>
              </a:pPr>
              <a:t>23</a:t>
            </a:fld>
            <a:endParaRPr spc="-4" dirty="0"/>
          </a:p>
        </p:txBody>
      </p:sp>
    </p:spTree>
    <p:extLst>
      <p:ext uri="{BB962C8B-B14F-4D97-AF65-F5344CB8AC3E}">
        <p14:creationId xmlns:p14="http://schemas.microsoft.com/office/powerpoint/2010/main" val="3611071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977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7" y="-20920"/>
            <a:ext cx="3813939" cy="272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708920"/>
            <a:ext cx="6387052" cy="3817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202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08" y="476672"/>
            <a:ext cx="7809124" cy="5880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3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7"/>
            <a:ext cx="2808312" cy="285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8713"/>
            <a:ext cx="3672408" cy="2889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70861"/>
            <a:ext cx="3708412" cy="3149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317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764704"/>
            <a:ext cx="6336704" cy="5256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676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893480"/>
            <a:ext cx="5904656" cy="4675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28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764704"/>
            <a:ext cx="5072012" cy="4760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55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668</Words>
  <Application>Microsoft Office PowerPoint</Application>
  <PresentationFormat>On-screen Show (4:3)</PresentationFormat>
  <Paragraphs>119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Introduction to P - NP - NP Hard and NP Complete</vt:lpstr>
      <vt:lpstr>Introduction to P and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NP-hard</vt:lpstr>
      <vt:lpstr>NP-complete problems</vt:lpstr>
      <vt:lpstr>Reduction</vt:lpstr>
      <vt:lpstr>NP-Hard and NP-Complete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29</cp:revision>
  <dcterms:created xsi:type="dcterms:W3CDTF">2020-11-09T04:22:48Z</dcterms:created>
  <dcterms:modified xsi:type="dcterms:W3CDTF">2024-04-14T14:35:58Z</dcterms:modified>
</cp:coreProperties>
</file>