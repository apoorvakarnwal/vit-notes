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74" r:id="rId6"/>
    <p:sldId id="275" r:id="rId7"/>
    <p:sldId id="276" r:id="rId8"/>
    <p:sldId id="260" r:id="rId9"/>
    <p:sldId id="261" r:id="rId10"/>
    <p:sldId id="262" r:id="rId11"/>
    <p:sldId id="263" r:id="rId12"/>
    <p:sldId id="277" r:id="rId13"/>
    <p:sldId id="278" r:id="rId14"/>
    <p:sldId id="282" r:id="rId15"/>
    <p:sldId id="280" r:id="rId16"/>
    <p:sldId id="279" r:id="rId17"/>
    <p:sldId id="281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4" d="100"/>
          <a:sy n="64" d="100"/>
        </p:scale>
        <p:origin x="-1302" y="-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372841-209D-411F-BC82-A0EFD9E22E3F}" type="datetimeFigureOut">
              <a:rPr lang="en-IN" smtClean="0"/>
              <a:t>08-04-2024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692525"/>
            <a:ext cx="8045450" cy="34972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3DD9A-2AB7-413B-B46A-DE83552B0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3DD9A-2AB7-413B-B46A-DE83552B0A8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928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07109" y="1237487"/>
            <a:ext cx="7044181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3263" y="1892806"/>
            <a:ext cx="7517765" cy="4535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371600" y="2438400"/>
            <a:ext cx="7517765" cy="2460674"/>
          </a:xfrm>
          <a:prstGeom prst="rect">
            <a:avLst/>
          </a:prstGeom>
        </p:spPr>
        <p:txBody>
          <a:bodyPr vert="horz" wrap="square" lIns="0" tIns="399796" rIns="0" bIns="0" rtlCol="0">
            <a:spAutoFit/>
          </a:bodyPr>
          <a:lstStyle/>
          <a:p>
            <a:pPr marL="102235" marR="5080" algn="ctr">
              <a:lnSpc>
                <a:spcPct val="99800"/>
              </a:lnSpc>
              <a:spcBef>
                <a:spcPts val="100"/>
              </a:spcBef>
            </a:pPr>
            <a:r>
              <a:rPr lang="en-US" sz="4400" dirty="0"/>
              <a:t>Randomized </a:t>
            </a:r>
            <a:r>
              <a:rPr lang="en-US" sz="4400" dirty="0" smtClean="0"/>
              <a:t>Algorithms</a:t>
            </a:r>
          </a:p>
          <a:p>
            <a:pPr marL="102235" marR="5080" algn="ctr">
              <a:lnSpc>
                <a:spcPct val="99800"/>
              </a:lnSpc>
              <a:spcBef>
                <a:spcPts val="100"/>
              </a:spcBef>
            </a:pPr>
            <a:endParaRPr lang="en-US" sz="4400" spc="-5" dirty="0" smtClean="0"/>
          </a:p>
          <a:p>
            <a:pPr marL="102235" marR="5080" algn="ctr">
              <a:lnSpc>
                <a:spcPct val="99800"/>
              </a:lnSpc>
              <a:spcBef>
                <a:spcPts val="100"/>
              </a:spcBef>
            </a:pPr>
            <a:r>
              <a:rPr sz="4400" spc="-5" dirty="0" smtClean="0">
                <a:solidFill>
                  <a:srgbClr val="FF0000"/>
                </a:solidFill>
              </a:rPr>
              <a:t>The</a:t>
            </a:r>
            <a:r>
              <a:rPr sz="4400" spc="-10" dirty="0" smtClean="0">
                <a:solidFill>
                  <a:srgbClr val="FF0000"/>
                </a:solidFill>
              </a:rPr>
              <a:t> </a:t>
            </a:r>
            <a:r>
              <a:rPr sz="4400" spc="-10" dirty="0">
                <a:solidFill>
                  <a:srgbClr val="FF0000"/>
                </a:solidFill>
              </a:rPr>
              <a:t>Hiring</a:t>
            </a:r>
            <a:r>
              <a:rPr sz="4400" spc="5" dirty="0">
                <a:solidFill>
                  <a:srgbClr val="FF0000"/>
                </a:solidFill>
              </a:rPr>
              <a:t> </a:t>
            </a:r>
            <a:r>
              <a:rPr sz="4400" spc="-5" dirty="0" smtClean="0">
                <a:solidFill>
                  <a:srgbClr val="FF0000"/>
                </a:solidFill>
              </a:rPr>
              <a:t>Problem</a:t>
            </a:r>
            <a:endParaRPr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9823" y="1237487"/>
            <a:ext cx="170180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3263" y="2333547"/>
            <a:ext cx="7082537" cy="236347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Hiring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Problem</a:t>
            </a:r>
            <a:endParaRPr sz="3200" dirty="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6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Probability Background</a:t>
            </a:r>
            <a:endParaRPr sz="3200" dirty="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4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Indicator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Random Variables</a:t>
            </a:r>
            <a:endParaRPr sz="3200" dirty="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Analysis of the Hiring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Problem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8058" y="228600"/>
            <a:ext cx="452755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The</a:t>
            </a:r>
            <a:r>
              <a:rPr spc="-25" dirty="0"/>
              <a:t> </a:t>
            </a:r>
            <a:r>
              <a:rPr spc="-5" dirty="0"/>
              <a:t>Hiring</a:t>
            </a:r>
            <a:r>
              <a:rPr spc="-15" dirty="0"/>
              <a:t> </a:t>
            </a:r>
            <a:r>
              <a:rPr spc="-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6" y="845181"/>
            <a:ext cx="10058400" cy="696344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6870" marR="107950" indent="-344805">
              <a:lnSpc>
                <a:spcPct val="150000"/>
              </a:lnSpc>
              <a:spcBef>
                <a:spcPts val="360"/>
              </a:spcBef>
            </a:pPr>
            <a:r>
              <a:rPr sz="2400" spc="-10" dirty="0">
                <a:latin typeface="Times New Roman"/>
                <a:cs typeface="Times New Roman"/>
              </a:rPr>
              <a:t>We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will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now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begin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our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investigation of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randomized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algorithms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with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toy </a:t>
            </a:r>
            <a:r>
              <a:rPr sz="2400" spc="-48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problem: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805">
              <a:lnSpc>
                <a:spcPct val="150000"/>
              </a:lnSpc>
              <a:spcBef>
                <a:spcPts val="21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You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want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hire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 office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assistant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 employment agency.</a:t>
            </a:r>
            <a:endParaRPr sz="2400" dirty="0">
              <a:latin typeface="Times New Roman"/>
              <a:cs typeface="Times New Roman"/>
            </a:endParaRPr>
          </a:p>
          <a:p>
            <a:pPr marL="356870" marR="83820" indent="-344805">
              <a:lnSpc>
                <a:spcPct val="150000"/>
              </a:lnSpc>
              <a:spcBef>
                <a:spcPts val="51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You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want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interview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candidates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determine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better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than </a:t>
            </a:r>
            <a:r>
              <a:rPr sz="2400" spc="-48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current assistant and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replace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current assistant.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805">
              <a:lnSpc>
                <a:spcPct val="150000"/>
              </a:lnSpc>
              <a:spcBef>
                <a:spcPts val="204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You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going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eventually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interview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every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candidate from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pool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n</a:t>
            </a:r>
            <a:endParaRPr sz="2400" dirty="0">
              <a:latin typeface="Times New Roman"/>
              <a:cs typeface="Times New Roman"/>
            </a:endParaRPr>
          </a:p>
          <a:p>
            <a:pPr marL="356870">
              <a:lnSpc>
                <a:spcPct val="150000"/>
              </a:lnSpc>
            </a:pPr>
            <a:r>
              <a:rPr sz="2400" spc="-5" dirty="0">
                <a:latin typeface="Times New Roman"/>
                <a:cs typeface="Times New Roman"/>
              </a:rPr>
              <a:t>candidates.</a:t>
            </a:r>
            <a:endParaRPr sz="2400" dirty="0">
              <a:latin typeface="Times New Roman"/>
              <a:cs typeface="Times New Roman"/>
            </a:endParaRPr>
          </a:p>
          <a:p>
            <a:pPr marL="356870" marR="654050" indent="-344805" algn="just">
              <a:lnSpc>
                <a:spcPct val="150000"/>
              </a:lnSpc>
              <a:spcBef>
                <a:spcPts val="515"/>
              </a:spcBef>
              <a:buChar char="•"/>
              <a:tabLst>
                <a:tab pos="357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You want </a:t>
            </a:r>
            <a:r>
              <a:rPr sz="2400" spc="-5" dirty="0">
                <a:latin typeface="Times New Roman"/>
                <a:cs typeface="Times New Roman"/>
              </a:rPr>
              <a:t>to always have the best person for this job, so you will </a:t>
            </a:r>
            <a:r>
              <a:rPr sz="2400" spc="-48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replace an assistant </a:t>
            </a:r>
            <a:r>
              <a:rPr sz="2400" spc="-10" dirty="0">
                <a:latin typeface="Times New Roman"/>
                <a:cs typeface="Times New Roman"/>
              </a:rPr>
              <a:t>with </a:t>
            </a:r>
            <a:r>
              <a:rPr sz="2400" spc="-5" dirty="0">
                <a:latin typeface="Times New Roman"/>
                <a:cs typeface="Times New Roman"/>
              </a:rPr>
              <a:t>a better one as </a:t>
            </a:r>
            <a:r>
              <a:rPr sz="2400" spc="-10" dirty="0">
                <a:latin typeface="Times New Roman"/>
                <a:cs typeface="Times New Roman"/>
              </a:rPr>
              <a:t>soon </a:t>
            </a:r>
            <a:r>
              <a:rPr sz="2400" spc="-5" dirty="0">
                <a:latin typeface="Times New Roman"/>
                <a:cs typeface="Times New Roman"/>
              </a:rPr>
              <a:t>as you are done the </a:t>
            </a:r>
            <a:r>
              <a:rPr sz="2400" spc="-48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interview.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805" algn="just">
              <a:lnSpc>
                <a:spcPct val="150000"/>
              </a:lnSpc>
              <a:spcBef>
                <a:spcPts val="204"/>
              </a:spcBef>
              <a:buChar char="•"/>
              <a:tabLst>
                <a:tab pos="357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However,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 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cost to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fire and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hire someone.</a:t>
            </a:r>
            <a:endParaRPr sz="2400" dirty="0">
              <a:latin typeface="Times New Roman"/>
              <a:cs typeface="Times New Roman"/>
            </a:endParaRPr>
          </a:p>
          <a:p>
            <a:pPr marL="356870" marR="297180" indent="-344805" algn="just">
              <a:lnSpc>
                <a:spcPct val="150000"/>
              </a:lnSpc>
              <a:spcBef>
                <a:spcPts val="515"/>
              </a:spcBef>
              <a:buChar char="•"/>
              <a:tabLst>
                <a:tab pos="357505" algn="l"/>
              </a:tabLst>
            </a:pPr>
            <a:r>
              <a:rPr sz="2400" spc="-10" dirty="0">
                <a:latin typeface="Times New Roman"/>
                <a:cs typeface="Times New Roman"/>
              </a:rPr>
              <a:t>You want </a:t>
            </a:r>
            <a:r>
              <a:rPr sz="2400" spc="-5" dirty="0">
                <a:latin typeface="Times New Roman"/>
                <a:cs typeface="Times New Roman"/>
              </a:rPr>
              <a:t>to know the expected price of following this strategy until </a:t>
            </a:r>
            <a:r>
              <a:rPr sz="2400" spc="-48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n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candidates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have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been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interviewed.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0391" y="1197862"/>
            <a:ext cx="32702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/>
              <a:t>Pseudo-Code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223263" y="2333547"/>
            <a:ext cx="6530975" cy="411607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3200" spc="-5" dirty="0">
                <a:latin typeface="Times New Roman"/>
                <a:cs typeface="Times New Roman"/>
              </a:rPr>
              <a:t>Hire-Assistant(</a:t>
            </a:r>
            <a:r>
              <a:rPr sz="3200" i="1" spc="-5" dirty="0">
                <a:latin typeface="Times New Roman"/>
                <a:cs typeface="Times New Roman"/>
              </a:rPr>
              <a:t>n</a:t>
            </a:r>
            <a:r>
              <a:rPr sz="3200" spc="-5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 marL="723265" indent="-711200">
              <a:lnSpc>
                <a:spcPct val="100000"/>
              </a:lnSpc>
              <a:spcBef>
                <a:spcPts val="765"/>
              </a:spcBef>
              <a:buFont typeface="Times New Roman"/>
              <a:buAutoNum type="arabicPeriod"/>
              <a:tabLst>
                <a:tab pos="723265" algn="l"/>
                <a:tab pos="723900" algn="l"/>
              </a:tabLst>
            </a:pPr>
            <a:r>
              <a:rPr sz="3200" i="1" spc="-5" dirty="0">
                <a:latin typeface="Times New Roman"/>
                <a:cs typeface="Times New Roman"/>
              </a:rPr>
              <a:t>best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latin typeface="Times New Roman"/>
                <a:cs typeface="Times New Roman"/>
              </a:rPr>
              <a:t>=</a:t>
            </a:r>
            <a:r>
              <a:rPr sz="3200" spc="-5" dirty="0" smtClean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dummy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candidate</a:t>
            </a:r>
            <a:endParaRPr sz="3200" dirty="0">
              <a:latin typeface="Times New Roman"/>
              <a:cs typeface="Times New Roman"/>
            </a:endParaRPr>
          </a:p>
          <a:p>
            <a:pPr marL="722630" indent="-71056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722630" algn="l"/>
                <a:tab pos="723265" algn="l"/>
              </a:tabLst>
            </a:pPr>
            <a:r>
              <a:rPr sz="3200" spc="-10" dirty="0">
                <a:latin typeface="Times New Roman"/>
                <a:cs typeface="Times New Roman"/>
              </a:rPr>
              <a:t>for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i="1" spc="-5" dirty="0" err="1">
                <a:latin typeface="Times New Roman"/>
                <a:cs typeface="Times New Roman"/>
              </a:rPr>
              <a:t>i</a:t>
            </a:r>
            <a:r>
              <a:rPr sz="3200" i="1" spc="-15" dirty="0">
                <a:latin typeface="Times New Roman"/>
                <a:cs typeface="Times New Roman"/>
              </a:rPr>
              <a:t> </a:t>
            </a:r>
            <a:r>
              <a:rPr lang="en-US" sz="3200" i="1" spc="-15" dirty="0" smtClean="0">
                <a:latin typeface="Times New Roman"/>
                <a:cs typeface="Times New Roman"/>
              </a:rPr>
              <a:t>=</a:t>
            </a:r>
            <a:r>
              <a:rPr sz="3200" spc="-15" dirty="0" smtClean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1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n</a:t>
            </a:r>
            <a:endParaRPr sz="3200" dirty="0">
              <a:latin typeface="Times New Roman"/>
              <a:cs typeface="Times New Roman"/>
            </a:endParaRPr>
          </a:p>
          <a:p>
            <a:pPr marL="1032510" indent="-1020444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1032510" algn="l"/>
                <a:tab pos="1033144" algn="l"/>
              </a:tabLst>
            </a:pPr>
            <a:r>
              <a:rPr sz="3200" spc="-5" dirty="0">
                <a:latin typeface="Times New Roman"/>
                <a:cs typeface="Times New Roman"/>
              </a:rPr>
              <a:t>do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interview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candidate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i</a:t>
            </a:r>
            <a:endParaRPr sz="3200" dirty="0">
              <a:latin typeface="Times New Roman"/>
              <a:cs typeface="Times New Roman"/>
            </a:endParaRPr>
          </a:p>
          <a:p>
            <a:pPr marL="1436370" indent="-1424305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1436370" algn="l"/>
                <a:tab pos="1437005" algn="l"/>
              </a:tabLst>
            </a:pPr>
            <a:r>
              <a:rPr sz="3200" spc="-5" dirty="0">
                <a:latin typeface="Times New Roman"/>
                <a:cs typeface="Times New Roman"/>
              </a:rPr>
              <a:t>if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candidate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i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better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than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best</a:t>
            </a:r>
            <a:endParaRPr sz="3200" dirty="0">
              <a:latin typeface="Times New Roman"/>
              <a:cs typeface="Times New Roman"/>
            </a:endParaRPr>
          </a:p>
          <a:p>
            <a:pPr marL="1943735" indent="-1931670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1943735" algn="l"/>
                <a:tab pos="194437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best</a:t>
            </a:r>
            <a:r>
              <a:rPr sz="3200" i="1" spc="10" dirty="0">
                <a:latin typeface="Times New Roman"/>
                <a:cs typeface="Times New Roman"/>
              </a:rPr>
              <a:t> </a:t>
            </a:r>
            <a:r>
              <a:rPr lang="en-US" sz="3200" i="1" spc="10" dirty="0" smtClean="0">
                <a:latin typeface="Times New Roman"/>
                <a:cs typeface="Times New Roman"/>
              </a:rPr>
              <a:t>=</a:t>
            </a:r>
            <a:r>
              <a:rPr sz="3200" spc="-25" dirty="0" smtClean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i</a:t>
            </a:r>
            <a:endParaRPr sz="3200" dirty="0">
              <a:latin typeface="Times New Roman"/>
              <a:cs typeface="Times New Roman"/>
            </a:endParaRPr>
          </a:p>
          <a:p>
            <a:pPr marL="2755900" indent="-27432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2755265" algn="l"/>
                <a:tab pos="2755900" algn="l"/>
              </a:tabLst>
            </a:pPr>
            <a:r>
              <a:rPr sz="3200" spc="-5" dirty="0">
                <a:latin typeface="Times New Roman"/>
                <a:cs typeface="Times New Roman"/>
              </a:rPr>
              <a:t>hire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candidate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i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044181" cy="695325"/>
          </a:xfrm>
        </p:spPr>
        <p:txBody>
          <a:bodyPr/>
          <a:lstStyle/>
          <a:p>
            <a:r>
              <a:rPr lang="en-US" dirty="0" smtClean="0"/>
              <a:t>Algorithm 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828800"/>
            <a:ext cx="9067800" cy="344709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Hire-Assistant (n)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best =</a:t>
            </a:r>
            <a:r>
              <a:rPr lang="en-US" dirty="0" smtClean="0"/>
              <a:t> </a:t>
            </a:r>
            <a:r>
              <a:rPr lang="en-US" dirty="0"/>
              <a:t>0 ;Candidate 0 is a least qualified candidate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/>
              <a:t>1 to 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do interview candidate </a:t>
            </a:r>
            <a:r>
              <a:rPr lang="en-US" dirty="0" err="1"/>
              <a:t>i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if candidate </a:t>
            </a:r>
            <a:r>
              <a:rPr lang="en-US" dirty="0" err="1"/>
              <a:t>i</a:t>
            </a:r>
            <a:r>
              <a:rPr lang="en-US" dirty="0"/>
              <a:t> is better than candidate best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  then best </a:t>
            </a:r>
            <a:r>
              <a:rPr lang="en-US" dirty="0"/>
              <a:t>=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      hire candidate </a:t>
            </a:r>
            <a:r>
              <a:rPr lang="en-US" dirty="0" err="1"/>
              <a:t>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44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2000"/>
            <a:ext cx="9525000" cy="6155531"/>
          </a:xfrm>
        </p:spPr>
        <p:txBody>
          <a:bodyPr/>
          <a:lstStyle/>
          <a:p>
            <a:r>
              <a:rPr lang="en-US" dirty="0"/>
              <a:t>Here are a few points to be considered for the Cost Model:</a:t>
            </a:r>
          </a:p>
          <a:p>
            <a:endParaRPr lang="en-US" dirty="0"/>
          </a:p>
          <a:p>
            <a:r>
              <a:rPr lang="en-US" dirty="0"/>
              <a:t>We are </a:t>
            </a:r>
            <a:r>
              <a:rPr lang="en-US" dirty="0">
                <a:solidFill>
                  <a:srgbClr val="FF0000"/>
                </a:solidFill>
              </a:rPr>
              <a:t>not concerned </a:t>
            </a:r>
            <a:r>
              <a:rPr lang="en-US" dirty="0"/>
              <a:t>about the running time of the Hire-Assistant.</a:t>
            </a:r>
          </a:p>
          <a:p>
            <a:r>
              <a:rPr lang="en-US" dirty="0"/>
              <a:t>We must </a:t>
            </a:r>
            <a:r>
              <a:rPr lang="en-US" dirty="0">
                <a:solidFill>
                  <a:srgbClr val="FF0000"/>
                </a:solidFill>
              </a:rPr>
              <a:t>determine the total cost </a:t>
            </a:r>
            <a:r>
              <a:rPr lang="en-US" dirty="0"/>
              <a:t>of hiring the best candidate. </a:t>
            </a:r>
          </a:p>
          <a:p>
            <a:r>
              <a:rPr lang="en-US" dirty="0"/>
              <a:t>If n candidates are interviewed and m candidates are hired, then the cost would be </a:t>
            </a:r>
            <a:r>
              <a:rPr lang="en-US" dirty="0" err="1">
                <a:solidFill>
                  <a:srgbClr val="FF0000"/>
                </a:solidFill>
              </a:rPr>
              <a:t>nci+mch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sz="2800" dirty="0"/>
              <a:t>We have to pay the cost: </a:t>
            </a:r>
            <a:r>
              <a:rPr lang="en-US" sz="2800" dirty="0" err="1"/>
              <a:t>nci</a:t>
            </a:r>
            <a:r>
              <a:rPr lang="en-US" sz="2800" dirty="0"/>
              <a:t> to interview the candidates’ irrespective </a:t>
            </a:r>
            <a:r>
              <a:rPr lang="en-US" sz="2800" dirty="0" smtClean="0"/>
              <a:t>of </a:t>
            </a:r>
            <a:r>
              <a:rPr lang="en-US" sz="2800" dirty="0"/>
              <a:t>how many candidates we hire.</a:t>
            </a:r>
          </a:p>
          <a:p>
            <a:pPr lvl="1"/>
            <a:r>
              <a:rPr lang="en-US" sz="2800" dirty="0"/>
              <a:t>So, focus on analyzing the hiring cost </a:t>
            </a:r>
            <a:r>
              <a:rPr lang="en-US" sz="2800" dirty="0" err="1" smtClean="0"/>
              <a:t>mch</a:t>
            </a:r>
            <a:r>
              <a:rPr lang="en-US" sz="2800" dirty="0" smtClean="0"/>
              <a:t> m </a:t>
            </a:r>
            <a:r>
              <a:rPr lang="en-US" sz="2800" dirty="0"/>
              <a:t>varies with the order of the candidates.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1737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134" y="762000"/>
            <a:ext cx="9525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Best-Case Analysis for Hiring Problem</a:t>
            </a:r>
          </a:p>
          <a:p>
            <a:r>
              <a:rPr lang="en-US" sz="2400" dirty="0" smtClean="0"/>
              <a:t>We get the best case when the agency sends us the </a:t>
            </a:r>
            <a:r>
              <a:rPr lang="en-US" sz="2400" dirty="0" smtClean="0">
                <a:solidFill>
                  <a:srgbClr val="FF0000"/>
                </a:solidFill>
              </a:rPr>
              <a:t>best applicant </a:t>
            </a:r>
            <a:r>
              <a:rPr lang="en-US" sz="2400" dirty="0" smtClean="0"/>
              <a:t>on the first day.   The cost would be </a:t>
            </a:r>
            <a:r>
              <a:rPr lang="en-US" sz="2400" dirty="0" err="1" smtClean="0"/>
              <a:t>nci+ch</a:t>
            </a:r>
            <a:endParaRPr lang="en-US" sz="2400" dirty="0" smtClean="0"/>
          </a:p>
          <a:p>
            <a:r>
              <a:rPr lang="en-US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Worst-case Analysis for Hiring problem</a:t>
            </a:r>
          </a:p>
          <a:p>
            <a:r>
              <a:rPr lang="en-US" sz="2400" dirty="0" smtClean="0"/>
              <a:t>The worst case is when we hire all the n candidates. </a:t>
            </a:r>
          </a:p>
          <a:p>
            <a:r>
              <a:rPr lang="en-US" sz="2400" dirty="0" smtClean="0"/>
              <a:t>This happens only if </a:t>
            </a:r>
            <a:r>
              <a:rPr lang="en-US" sz="2400" dirty="0" smtClean="0">
                <a:solidFill>
                  <a:srgbClr val="FF0000"/>
                </a:solidFill>
              </a:rPr>
              <a:t>each candidate that comes later is better than all those who came before</a:t>
            </a:r>
            <a:r>
              <a:rPr lang="en-US" sz="2400" dirty="0" smtClean="0"/>
              <a:t>. That is when candidates come in increasing order of quality. The cost would be </a:t>
            </a:r>
            <a:r>
              <a:rPr lang="en-US" sz="2400" dirty="0" err="1" smtClean="0"/>
              <a:t>nci+nch</a:t>
            </a:r>
            <a:r>
              <a:rPr lang="en-US" sz="2400" dirty="0" smtClean="0"/>
              <a:t>  Whenever this happens, we will fire the agency.</a:t>
            </a:r>
          </a:p>
          <a:p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Average-case Analysis for Hiring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For the average case, an input to the hiring problem is an ordering of the n applicants, there are n! different inputs.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To use </a:t>
            </a:r>
            <a:r>
              <a:rPr lang="en-US" sz="2400" dirty="0" smtClean="0">
                <a:solidFill>
                  <a:srgbClr val="FF0000"/>
                </a:solidFill>
              </a:rPr>
              <a:t>probabilistic analysis</a:t>
            </a:r>
            <a:r>
              <a:rPr lang="en-US" sz="2400" dirty="0" smtClean="0"/>
              <a:t>, we assume that the </a:t>
            </a:r>
            <a:r>
              <a:rPr lang="en-US" sz="2400" dirty="0" smtClean="0">
                <a:solidFill>
                  <a:srgbClr val="FF0000"/>
                </a:solidFill>
              </a:rPr>
              <a:t>candidates arrive in random order.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Then we analyze our algorithm by computing an expected running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This expectation is taken over the distribution of all the possible inputs.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Thus, we are </a:t>
            </a:r>
            <a:r>
              <a:rPr lang="en-US" sz="2400" dirty="0" smtClean="0">
                <a:solidFill>
                  <a:srgbClr val="FF0000"/>
                </a:solidFill>
              </a:rPr>
              <a:t>averaging the running time </a:t>
            </a:r>
            <a:r>
              <a:rPr lang="en-US" sz="2400" dirty="0" smtClean="0"/>
              <a:t>over all possible inputs.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6983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6559" y="1237487"/>
            <a:ext cx="668210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Total</a:t>
            </a:r>
            <a:r>
              <a:rPr spc="-15" dirty="0"/>
              <a:t> </a:t>
            </a:r>
            <a:r>
              <a:rPr spc="-5" dirty="0"/>
              <a:t>Cost and Cost of</a:t>
            </a:r>
            <a:r>
              <a:rPr dirty="0"/>
              <a:t> </a:t>
            </a:r>
            <a:r>
              <a:rPr spc="-5" dirty="0"/>
              <a:t>Hiring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2463" y="2377439"/>
            <a:ext cx="8428737" cy="30918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07670" indent="-344805">
              <a:lnSpc>
                <a:spcPct val="100000"/>
              </a:lnSpc>
              <a:spcBef>
                <a:spcPts val="385"/>
              </a:spcBef>
              <a:buChar char="•"/>
              <a:tabLst>
                <a:tab pos="407670" algn="l"/>
                <a:tab pos="408305" algn="l"/>
              </a:tabLst>
            </a:pPr>
            <a:r>
              <a:rPr sz="2400" spc="-5" dirty="0">
                <a:latin typeface="Times New Roman"/>
                <a:cs typeface="Times New Roman"/>
              </a:rPr>
              <a:t>Interviewing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cost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c</a:t>
            </a:r>
            <a:r>
              <a:rPr sz="2400" i="1" spc="-7" baseline="-20833" dirty="0">
                <a:latin typeface="Times New Roman"/>
                <a:cs typeface="Times New Roman"/>
              </a:rPr>
              <a:t>i</a:t>
            </a:r>
            <a:r>
              <a:rPr sz="2400" i="1" spc="-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407670" indent="-344805">
              <a:lnSpc>
                <a:spcPct val="100000"/>
              </a:lnSpc>
              <a:spcBef>
                <a:spcPts val="290"/>
              </a:spcBef>
              <a:buChar char="•"/>
              <a:tabLst>
                <a:tab pos="407670" algn="l"/>
                <a:tab pos="408305" algn="l"/>
              </a:tabLst>
            </a:pPr>
            <a:r>
              <a:rPr sz="2400" spc="-5" dirty="0">
                <a:latin typeface="Times New Roman"/>
                <a:cs typeface="Times New Roman"/>
              </a:rPr>
              <a:t>Hiring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high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</a:t>
            </a:r>
            <a:r>
              <a:rPr sz="2400" i="1" baseline="-20833" dirty="0">
                <a:latin typeface="Times New Roman"/>
                <a:cs typeface="Times New Roman"/>
              </a:rPr>
              <a:t>h</a:t>
            </a:r>
            <a:r>
              <a:rPr sz="2400" i="1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407670" marR="68580" indent="-344805">
              <a:lnSpc>
                <a:spcPts val="2590"/>
              </a:lnSpc>
              <a:spcBef>
                <a:spcPts val="590"/>
              </a:spcBef>
              <a:buChar char="•"/>
              <a:tabLst>
                <a:tab pos="407670" algn="l"/>
                <a:tab pos="408305" algn="l"/>
                <a:tab pos="5375910" algn="l"/>
              </a:tabLst>
            </a:pPr>
            <a:r>
              <a:rPr sz="2400" spc="-5" dirty="0">
                <a:latin typeface="Times New Roman"/>
                <a:cs typeface="Times New Roman"/>
              </a:rPr>
              <a:t>Let </a:t>
            </a:r>
            <a:r>
              <a:rPr sz="2400" i="1" dirty="0">
                <a:latin typeface="Times New Roman"/>
                <a:cs typeface="Times New Roman"/>
              </a:rPr>
              <a:t>n </a:t>
            </a:r>
            <a:r>
              <a:rPr sz="2400" spc="-5" dirty="0">
                <a:latin typeface="Times New Roman"/>
                <a:cs typeface="Times New Roman"/>
              </a:rPr>
              <a:t>be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number of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candidates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	interviewed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number 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people hired.</a:t>
            </a:r>
            <a:endParaRPr sz="2400" dirty="0">
              <a:latin typeface="Times New Roman"/>
              <a:cs typeface="Times New Roman"/>
            </a:endParaRPr>
          </a:p>
          <a:p>
            <a:pPr marL="407670" indent="-344805">
              <a:lnSpc>
                <a:spcPct val="100000"/>
              </a:lnSpc>
              <a:spcBef>
                <a:spcPts val="254"/>
              </a:spcBef>
              <a:buChar char="•"/>
              <a:tabLst>
                <a:tab pos="407670" algn="l"/>
                <a:tab pos="40830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total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goes 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O(</a:t>
            </a:r>
            <a:r>
              <a:rPr sz="2400" i="1" spc="-5" dirty="0">
                <a:latin typeface="Times New Roman"/>
                <a:cs typeface="Times New Roman"/>
              </a:rPr>
              <a:t>n*c</a:t>
            </a:r>
            <a:r>
              <a:rPr sz="2400" i="1" spc="-7" baseline="-20833" dirty="0">
                <a:latin typeface="Times New Roman"/>
                <a:cs typeface="Times New Roman"/>
              </a:rPr>
              <a:t>i</a:t>
            </a:r>
            <a:r>
              <a:rPr sz="2400" i="1" spc="-5" dirty="0">
                <a:latin typeface="Times New Roman"/>
                <a:cs typeface="Times New Roman"/>
              </a:rPr>
              <a:t>+m*c</a:t>
            </a:r>
            <a:r>
              <a:rPr sz="2400" i="1" spc="-7" baseline="-20833" dirty="0">
                <a:latin typeface="Times New Roman"/>
                <a:cs typeface="Times New Roman"/>
              </a:rPr>
              <a:t>h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marL="407670" marR="719455" indent="-344805">
              <a:lnSpc>
                <a:spcPts val="2590"/>
              </a:lnSpc>
              <a:spcBef>
                <a:spcPts val="615"/>
              </a:spcBef>
              <a:buChar char="•"/>
              <a:tabLst>
                <a:tab pos="407670" algn="l"/>
                <a:tab pos="40830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number of candidates is fixed so the part of 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algorithm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want 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focus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 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m*c</a:t>
            </a:r>
            <a:r>
              <a:rPr sz="2400" i="1" spc="-7" baseline="-20833" dirty="0">
                <a:latin typeface="Times New Roman"/>
                <a:cs typeface="Times New Roman"/>
              </a:rPr>
              <a:t>h</a:t>
            </a:r>
            <a:r>
              <a:rPr sz="2400" i="1" spc="307" baseline="-20833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term.</a:t>
            </a:r>
            <a:endParaRPr sz="2400" dirty="0">
              <a:latin typeface="Times New Roman"/>
              <a:cs typeface="Times New Roman"/>
            </a:endParaRPr>
          </a:p>
          <a:p>
            <a:pPr marL="407670" indent="-344805">
              <a:lnSpc>
                <a:spcPct val="100000"/>
              </a:lnSpc>
              <a:spcBef>
                <a:spcPts val="225"/>
              </a:spcBef>
              <a:buChar char="•"/>
              <a:tabLst>
                <a:tab pos="407670" algn="l"/>
                <a:tab pos="408305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governs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hiring.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3735" y="1237487"/>
            <a:ext cx="462724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Worst-case</a:t>
            </a:r>
            <a:r>
              <a:rPr spc="-7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7863" y="2395726"/>
            <a:ext cx="7633334" cy="38283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82270" marR="593725" indent="-344805">
              <a:lnSpc>
                <a:spcPct val="89700"/>
              </a:lnSpc>
              <a:spcBef>
                <a:spcPts val="484"/>
              </a:spcBef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worst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case,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everyone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we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interview </a:t>
            </a:r>
            <a:r>
              <a:rPr sz="3200" spc="-7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turns out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better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than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person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we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currently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have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382270" marR="30480" indent="-344805">
              <a:lnSpc>
                <a:spcPts val="3460"/>
              </a:lnSpc>
              <a:spcBef>
                <a:spcPts val="815"/>
              </a:spcBef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case,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hiring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for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algorithm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will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O(n*c</a:t>
            </a:r>
            <a:r>
              <a:rPr sz="3150" spc="-7" baseline="-21164" dirty="0">
                <a:latin typeface="Times New Roman"/>
                <a:cs typeface="Times New Roman"/>
              </a:rPr>
              <a:t>h</a:t>
            </a:r>
            <a:r>
              <a:rPr sz="3200" spc="-5" dirty="0">
                <a:latin typeface="Times New Roman"/>
                <a:cs typeface="Times New Roman"/>
              </a:rPr>
              <a:t>).</a:t>
            </a:r>
            <a:endParaRPr sz="3200" dirty="0">
              <a:latin typeface="Times New Roman"/>
              <a:cs typeface="Times New Roman"/>
            </a:endParaRPr>
          </a:p>
          <a:p>
            <a:pPr marL="382270" marR="502920" indent="-344805">
              <a:lnSpc>
                <a:spcPts val="3460"/>
              </a:lnSpc>
              <a:spcBef>
                <a:spcPts val="740"/>
              </a:spcBef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latin typeface="Times New Roman"/>
                <a:cs typeface="Times New Roman"/>
              </a:rPr>
              <a:t>This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bad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situation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presumably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doesn’t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typically happen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interesting to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ask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what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happens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average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case.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5025" y="381000"/>
            <a:ext cx="479044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Probabilistic</a:t>
            </a:r>
            <a:r>
              <a:rPr spc="-20" dirty="0"/>
              <a:t> </a:t>
            </a:r>
            <a:r>
              <a:rPr spc="-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295400"/>
            <a:ext cx="9296400" cy="573746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34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is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problems</a:t>
            </a: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spc="-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340"/>
              </a:spcBef>
              <a:buChar char="•"/>
              <a:tabLst>
                <a:tab pos="356870" algn="l"/>
                <a:tab pos="35750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we use it to analyze other quantities, such as the hiring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procedure HIRE-ASSISTANT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24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issue is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marR="132715" indent="-344805">
              <a:lnSpc>
                <a:spcPts val="2160"/>
              </a:lnSpc>
              <a:spcBef>
                <a:spcPts val="509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equally </a:t>
            </a:r>
            <a:r>
              <a:rPr sz="2400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likely</a:t>
            </a: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spc="-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assume that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applicants come in a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order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that mean for this problem? We assume that we can compare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two candidates and decide which one is better qualified; that is, there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total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on the candidates.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marR="13970" indent="-344805">
              <a:lnSpc>
                <a:spcPts val="2160"/>
              </a:lnSpc>
              <a:spcBef>
                <a:spcPts val="4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is,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all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rank: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[0..n]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--&gt;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[0..n]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rank[i]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the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interview. So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>
              <a:lnSpc>
                <a:spcPct val="100000"/>
              </a:lnSpc>
              <a:spcBef>
                <a:spcPts val="210"/>
              </a:spcBef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&lt;rank(1),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rank(2),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…rank(n)&gt;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&lt;1,…,n&gt;</a:t>
            </a:r>
          </a:p>
          <a:p>
            <a:pPr marL="356870" marR="199390" indent="-344805">
              <a:lnSpc>
                <a:spcPts val="2160"/>
              </a:lnSpc>
              <a:spcBef>
                <a:spcPts val="509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n!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equally </a:t>
            </a:r>
            <a:r>
              <a:rPr sz="2400" spc="-48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870" indent="-344805">
              <a:lnSpc>
                <a:spcPct val="100000"/>
              </a:lnSpc>
              <a:spcBef>
                <a:spcPts val="21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case, the ranks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</a:t>
            </a:r>
            <a:r>
              <a:rPr sz="2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381000"/>
            <a:ext cx="537908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Randomized</a:t>
            </a:r>
            <a:r>
              <a:rPr spc="-50" dirty="0"/>
              <a:t> </a:t>
            </a:r>
            <a:r>
              <a:rPr spc="-5" dirty="0"/>
              <a:t>algorithms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52400" y="1447800"/>
            <a:ext cx="9601199" cy="5524589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6870" marR="501650" indent="-344805" algn="just">
              <a:spcBef>
                <a:spcPts val="36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/>
              <a:t>In order</a:t>
            </a:r>
            <a:r>
              <a:rPr sz="2400" dirty="0"/>
              <a:t> </a:t>
            </a:r>
            <a:r>
              <a:rPr sz="2400" spc="-5" dirty="0"/>
              <a:t>to</a:t>
            </a:r>
            <a:r>
              <a:rPr sz="2400" dirty="0"/>
              <a:t> </a:t>
            </a:r>
            <a:r>
              <a:rPr sz="2400" spc="-5" dirty="0"/>
              <a:t>use</a:t>
            </a:r>
            <a:r>
              <a:rPr sz="2400" dirty="0"/>
              <a:t> </a:t>
            </a:r>
            <a:r>
              <a:rPr sz="2400" spc="-5" dirty="0">
                <a:solidFill>
                  <a:srgbClr val="FF0000"/>
                </a:solidFill>
              </a:rPr>
              <a:t>probabilistic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analysis</a:t>
            </a:r>
            <a:r>
              <a:rPr sz="2400" spc="-5" dirty="0"/>
              <a:t>,</a:t>
            </a:r>
            <a:r>
              <a:rPr sz="2400" spc="-10" dirty="0"/>
              <a:t> we</a:t>
            </a:r>
            <a:r>
              <a:rPr sz="2400" spc="5" dirty="0"/>
              <a:t> </a:t>
            </a:r>
            <a:r>
              <a:rPr sz="2400" spc="-5" dirty="0"/>
              <a:t>need</a:t>
            </a:r>
            <a:r>
              <a:rPr sz="2400" dirty="0"/>
              <a:t> </a:t>
            </a:r>
            <a:r>
              <a:rPr sz="2400" spc="-5" dirty="0"/>
              <a:t>to</a:t>
            </a:r>
            <a:r>
              <a:rPr sz="2400" dirty="0"/>
              <a:t> </a:t>
            </a:r>
            <a:r>
              <a:rPr sz="2400" spc="-5" dirty="0"/>
              <a:t>know</a:t>
            </a:r>
            <a:r>
              <a:rPr sz="2400" dirty="0"/>
              <a:t> </a:t>
            </a:r>
            <a:r>
              <a:rPr sz="2400" spc="-5" dirty="0"/>
              <a:t>something </a:t>
            </a:r>
            <a:r>
              <a:rPr sz="2400" spc="-484" dirty="0"/>
              <a:t> </a:t>
            </a:r>
            <a:r>
              <a:rPr sz="2400" spc="-5" dirty="0"/>
              <a:t>about</a:t>
            </a:r>
            <a:r>
              <a:rPr sz="2400" spc="-10" dirty="0"/>
              <a:t> </a:t>
            </a:r>
            <a:r>
              <a:rPr sz="2400" spc="-5" dirty="0"/>
              <a:t>the </a:t>
            </a:r>
            <a:r>
              <a:rPr sz="2400" spc="-5" dirty="0">
                <a:solidFill>
                  <a:srgbClr val="FF0000"/>
                </a:solidFill>
              </a:rPr>
              <a:t>distribution of the inputs</a:t>
            </a:r>
            <a:r>
              <a:rPr sz="2400" spc="-5" dirty="0"/>
              <a:t>.</a:t>
            </a:r>
            <a:endParaRPr sz="2400" dirty="0"/>
          </a:p>
          <a:p>
            <a:pPr marL="356870" indent="-344805" algn="just">
              <a:spcBef>
                <a:spcPts val="21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0" dirty="0"/>
              <a:t>Unfortunately,</a:t>
            </a:r>
            <a:r>
              <a:rPr sz="2400" spc="10" dirty="0"/>
              <a:t> </a:t>
            </a:r>
            <a:r>
              <a:rPr sz="2400" spc="-5" dirty="0"/>
              <a:t>often</a:t>
            </a:r>
            <a:r>
              <a:rPr sz="2400" dirty="0"/>
              <a:t> </a:t>
            </a:r>
            <a:r>
              <a:rPr sz="2400" spc="-5" dirty="0"/>
              <a:t>little is</a:t>
            </a:r>
            <a:r>
              <a:rPr sz="2400" dirty="0"/>
              <a:t> </a:t>
            </a:r>
            <a:r>
              <a:rPr sz="2400" spc="-5" dirty="0"/>
              <a:t>known</a:t>
            </a:r>
            <a:r>
              <a:rPr sz="2400" dirty="0"/>
              <a:t> </a:t>
            </a:r>
            <a:r>
              <a:rPr sz="2400" spc="-5" dirty="0"/>
              <a:t>about this distribution.</a:t>
            </a:r>
            <a:endParaRPr sz="2400" dirty="0"/>
          </a:p>
          <a:p>
            <a:pPr marL="356870" marR="486409" indent="-344805" algn="just">
              <a:spcBef>
                <a:spcPts val="51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10" dirty="0"/>
              <a:t>We</a:t>
            </a:r>
            <a:r>
              <a:rPr sz="2400" spc="-5" dirty="0"/>
              <a:t> can</a:t>
            </a:r>
            <a:r>
              <a:rPr sz="2400" dirty="0"/>
              <a:t> </a:t>
            </a:r>
            <a:r>
              <a:rPr sz="2400" spc="-5" dirty="0"/>
              <a:t>nevertheless</a:t>
            </a:r>
            <a:r>
              <a:rPr sz="2400" dirty="0"/>
              <a:t> </a:t>
            </a:r>
            <a:r>
              <a:rPr sz="2400" spc="-5" dirty="0"/>
              <a:t>use</a:t>
            </a:r>
            <a:r>
              <a:rPr sz="2400" dirty="0"/>
              <a:t> </a:t>
            </a:r>
            <a:r>
              <a:rPr sz="2400" spc="-5" dirty="0"/>
              <a:t>probability</a:t>
            </a:r>
            <a:r>
              <a:rPr sz="2400" dirty="0"/>
              <a:t> </a:t>
            </a:r>
            <a:r>
              <a:rPr sz="2400" spc="-5" dirty="0"/>
              <a:t>and</a:t>
            </a:r>
            <a:r>
              <a:rPr sz="2400" dirty="0"/>
              <a:t> </a:t>
            </a:r>
            <a:r>
              <a:rPr sz="2400" spc="-5" dirty="0"/>
              <a:t>analysis as</a:t>
            </a:r>
            <a:r>
              <a:rPr sz="2400" dirty="0"/>
              <a:t> </a:t>
            </a:r>
            <a:r>
              <a:rPr sz="2400" spc="-5" dirty="0"/>
              <a:t>a</a:t>
            </a:r>
            <a:r>
              <a:rPr sz="2400" dirty="0"/>
              <a:t> </a:t>
            </a:r>
            <a:r>
              <a:rPr sz="2400" spc="-5" dirty="0"/>
              <a:t>tool</a:t>
            </a:r>
            <a:r>
              <a:rPr sz="2400" dirty="0"/>
              <a:t> </a:t>
            </a:r>
            <a:r>
              <a:rPr sz="2400" spc="-5" dirty="0"/>
              <a:t>for </a:t>
            </a:r>
            <a:r>
              <a:rPr sz="2400" spc="-5" dirty="0" smtClean="0"/>
              <a:t>algorithm</a:t>
            </a:r>
            <a:r>
              <a:rPr sz="2400" spc="-10" dirty="0" smtClean="0"/>
              <a:t> </a:t>
            </a:r>
            <a:r>
              <a:rPr sz="2400" spc="-5" dirty="0"/>
              <a:t>design</a:t>
            </a:r>
            <a:r>
              <a:rPr sz="2400" dirty="0"/>
              <a:t> </a:t>
            </a:r>
            <a:r>
              <a:rPr sz="2400" spc="-5" dirty="0"/>
              <a:t>by</a:t>
            </a:r>
            <a:r>
              <a:rPr sz="2400" dirty="0"/>
              <a:t> </a:t>
            </a:r>
            <a:r>
              <a:rPr sz="2400" spc="-5" dirty="0"/>
              <a:t>having the</a:t>
            </a:r>
            <a:r>
              <a:rPr sz="2400" dirty="0"/>
              <a:t> </a:t>
            </a:r>
            <a:r>
              <a:rPr sz="2400" spc="-5" dirty="0"/>
              <a:t>algorithm </a:t>
            </a:r>
            <a:r>
              <a:rPr sz="2400" spc="-10" dirty="0"/>
              <a:t>we</a:t>
            </a:r>
            <a:r>
              <a:rPr sz="2400" dirty="0"/>
              <a:t> </a:t>
            </a:r>
            <a:r>
              <a:rPr sz="2400" spc="-5" dirty="0"/>
              <a:t>run</a:t>
            </a:r>
            <a:r>
              <a:rPr sz="2400" dirty="0"/>
              <a:t> </a:t>
            </a:r>
            <a:r>
              <a:rPr sz="2400" spc="-5" dirty="0"/>
              <a:t>do</a:t>
            </a:r>
            <a:r>
              <a:rPr sz="2400" dirty="0"/>
              <a:t> </a:t>
            </a:r>
            <a:r>
              <a:rPr sz="2400" spc="-10" dirty="0"/>
              <a:t>some</a:t>
            </a:r>
            <a:r>
              <a:rPr sz="2400" dirty="0"/>
              <a:t> </a:t>
            </a:r>
            <a:r>
              <a:rPr sz="2400" spc="-5" dirty="0"/>
              <a:t>kind</a:t>
            </a:r>
            <a:r>
              <a:rPr sz="2400" dirty="0"/>
              <a:t> </a:t>
            </a:r>
            <a:r>
              <a:rPr sz="2400" spc="-5" dirty="0"/>
              <a:t>of </a:t>
            </a:r>
            <a:r>
              <a:rPr sz="2400" spc="-484" dirty="0"/>
              <a:t> </a:t>
            </a:r>
            <a:r>
              <a:rPr sz="2400" spc="-5" dirty="0">
                <a:solidFill>
                  <a:srgbClr val="FF0000"/>
                </a:solidFill>
              </a:rPr>
              <a:t>randomization of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the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inputs.</a:t>
            </a:r>
            <a:endParaRPr sz="2400" dirty="0">
              <a:solidFill>
                <a:srgbClr val="FF0000"/>
              </a:solidFill>
            </a:endParaRPr>
          </a:p>
          <a:p>
            <a:pPr marL="356870" indent="-344805" algn="just">
              <a:spcBef>
                <a:spcPts val="204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/>
              <a:t>This could be</a:t>
            </a:r>
            <a:r>
              <a:rPr sz="2400" spc="5" dirty="0"/>
              <a:t> </a:t>
            </a:r>
            <a:r>
              <a:rPr sz="2400" spc="-5" dirty="0"/>
              <a:t>done</a:t>
            </a:r>
            <a:r>
              <a:rPr sz="2400" dirty="0"/>
              <a:t> </a:t>
            </a:r>
            <a:r>
              <a:rPr sz="2400" spc="-5" dirty="0"/>
              <a:t>with</a:t>
            </a:r>
            <a:r>
              <a:rPr sz="2400" spc="5" dirty="0"/>
              <a:t> </a:t>
            </a:r>
            <a:r>
              <a:rPr sz="2400" spc="-5" dirty="0"/>
              <a:t>a</a:t>
            </a:r>
            <a:r>
              <a:rPr sz="2400" dirty="0"/>
              <a:t> </a:t>
            </a:r>
            <a:r>
              <a:rPr sz="2400" spc="-5" dirty="0">
                <a:solidFill>
                  <a:srgbClr val="FF0000"/>
                </a:solidFill>
              </a:rPr>
              <a:t>random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number</a:t>
            </a:r>
            <a:r>
              <a:rPr sz="2400" spc="5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generator</a:t>
            </a:r>
            <a:r>
              <a:rPr sz="2400" spc="-5" dirty="0"/>
              <a:t>.</a:t>
            </a:r>
            <a:r>
              <a:rPr sz="2400" dirty="0"/>
              <a:t> </a:t>
            </a:r>
            <a:r>
              <a:rPr sz="2400" spc="-5" dirty="0"/>
              <a:t>i.e.,</a:t>
            </a:r>
            <a:endParaRPr sz="2400" dirty="0"/>
          </a:p>
          <a:p>
            <a:pPr marL="356870" marR="483234" indent="-344805" algn="just">
              <a:spcBef>
                <a:spcPts val="509"/>
              </a:spcBef>
              <a:buChar char="•"/>
              <a:tabLst>
                <a:tab pos="357505" algn="l"/>
              </a:tabLst>
            </a:pPr>
            <a:r>
              <a:rPr sz="2400" spc="-10" dirty="0"/>
              <a:t>We </a:t>
            </a:r>
            <a:r>
              <a:rPr sz="2400" spc="-5" dirty="0"/>
              <a:t>could assume we have primitive function Random(a,b) which </a:t>
            </a:r>
            <a:r>
              <a:rPr sz="2400" spc="-484" dirty="0"/>
              <a:t> </a:t>
            </a:r>
            <a:r>
              <a:rPr sz="2400" spc="-5" dirty="0">
                <a:solidFill>
                  <a:srgbClr val="FF0000"/>
                </a:solidFill>
              </a:rPr>
              <a:t>returns an integer between integers a and b</a:t>
            </a:r>
            <a:r>
              <a:rPr sz="2400" spc="-5" dirty="0"/>
              <a:t> inclusive with equally </a:t>
            </a:r>
            <a:r>
              <a:rPr sz="2400" spc="-484" dirty="0"/>
              <a:t> </a:t>
            </a:r>
            <a:r>
              <a:rPr sz="2400" spc="-10" dirty="0"/>
              <a:t>likelihood.</a:t>
            </a:r>
            <a:endParaRPr sz="2400" dirty="0"/>
          </a:p>
          <a:p>
            <a:pPr marL="356870" marR="5080" indent="-344805" algn="just">
              <a:spcBef>
                <a:spcPts val="480"/>
              </a:spcBef>
              <a:buChar char="•"/>
              <a:tabLst>
                <a:tab pos="357505" algn="l"/>
              </a:tabLst>
            </a:pPr>
            <a:r>
              <a:rPr sz="2400" spc="-10" dirty="0">
                <a:solidFill>
                  <a:srgbClr val="FF0000"/>
                </a:solidFill>
              </a:rPr>
              <a:t>Algorithms which </a:t>
            </a:r>
            <a:r>
              <a:rPr sz="2400" spc="-5" dirty="0">
                <a:solidFill>
                  <a:srgbClr val="FF0000"/>
                </a:solidFill>
              </a:rPr>
              <a:t>make use of </a:t>
            </a:r>
            <a:r>
              <a:rPr sz="2400" spc="-10" dirty="0">
                <a:solidFill>
                  <a:srgbClr val="FF0000"/>
                </a:solidFill>
              </a:rPr>
              <a:t>such </a:t>
            </a:r>
            <a:r>
              <a:rPr sz="2400" spc="-5" dirty="0">
                <a:solidFill>
                  <a:srgbClr val="FF0000"/>
                </a:solidFill>
              </a:rPr>
              <a:t>a generator are called randomized </a:t>
            </a:r>
            <a:r>
              <a:rPr sz="2400" spc="-484" dirty="0">
                <a:solidFill>
                  <a:srgbClr val="FF0000"/>
                </a:solidFill>
              </a:rPr>
              <a:t> </a:t>
            </a:r>
            <a:r>
              <a:rPr sz="2400" spc="-10" dirty="0">
                <a:solidFill>
                  <a:srgbClr val="FF0000"/>
                </a:solidFill>
              </a:rPr>
              <a:t>algorithms.</a:t>
            </a:r>
            <a:endParaRPr sz="2400" dirty="0">
              <a:solidFill>
                <a:srgbClr val="FF0000"/>
              </a:solidFill>
            </a:endParaRPr>
          </a:p>
          <a:p>
            <a:pPr marL="356870" marR="123825" indent="-344805" algn="just">
              <a:spcBef>
                <a:spcPts val="480"/>
              </a:spcBef>
              <a:buChar char="•"/>
              <a:tabLst>
                <a:tab pos="357505" algn="l"/>
              </a:tabLst>
            </a:pPr>
            <a:r>
              <a:rPr sz="2400" spc="-5" dirty="0"/>
              <a:t>In our hiring example </a:t>
            </a:r>
            <a:r>
              <a:rPr sz="2400" spc="-10" dirty="0"/>
              <a:t>we </a:t>
            </a:r>
            <a:r>
              <a:rPr sz="2400" spc="-5" dirty="0"/>
              <a:t>could try to use </a:t>
            </a:r>
            <a:r>
              <a:rPr sz="2400" spc="-10" dirty="0"/>
              <a:t>such </a:t>
            </a:r>
            <a:r>
              <a:rPr sz="2400" spc="-5" dirty="0"/>
              <a:t>a generator </a:t>
            </a:r>
            <a:r>
              <a:rPr sz="2400" spc="-5" dirty="0">
                <a:solidFill>
                  <a:srgbClr val="FF0000"/>
                </a:solidFill>
              </a:rPr>
              <a:t>to create a </a:t>
            </a:r>
            <a:r>
              <a:rPr sz="2400" spc="-484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random permutation of the input and then run the hiring algorithm </a:t>
            </a:r>
            <a:r>
              <a:rPr sz="2400" spc="-5" dirty="0"/>
              <a:t>on </a:t>
            </a:r>
            <a:r>
              <a:rPr sz="2400" spc="-484" dirty="0"/>
              <a:t> </a:t>
            </a:r>
            <a:r>
              <a:rPr sz="2400" spc="-15" dirty="0"/>
              <a:t>that.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9448800" cy="6093976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Let us further explore the distinction between probabilistic analysis and </a:t>
            </a:r>
            <a:r>
              <a:rPr lang="en-US" sz="2400" dirty="0" smtClean="0"/>
              <a:t>randomized </a:t>
            </a:r>
            <a:r>
              <a:rPr lang="en-IN" sz="2400" dirty="0" smtClean="0"/>
              <a:t>algorithms.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Assuming </a:t>
            </a:r>
            <a:r>
              <a:rPr lang="en-US" sz="2400" dirty="0"/>
              <a:t>that the candidates </a:t>
            </a:r>
            <a:r>
              <a:rPr lang="en-US" sz="2400" dirty="0" smtClean="0"/>
              <a:t>arrive in </a:t>
            </a:r>
            <a:r>
              <a:rPr lang="en-US" sz="2400" dirty="0"/>
              <a:t>a random order, the expected number of times we hire a new office </a:t>
            </a:r>
            <a:r>
              <a:rPr lang="en-US" sz="2400" dirty="0" smtClean="0"/>
              <a:t>assistant </a:t>
            </a:r>
            <a:r>
              <a:rPr lang="en-IN" sz="2400" dirty="0" smtClean="0"/>
              <a:t>is </a:t>
            </a:r>
            <a:r>
              <a:rPr lang="en-IN" sz="2400" dirty="0"/>
              <a:t>about </a:t>
            </a:r>
            <a:r>
              <a:rPr lang="en-IN" sz="2400" dirty="0">
                <a:solidFill>
                  <a:srgbClr val="FF0000"/>
                </a:solidFill>
              </a:rPr>
              <a:t>ln n</a:t>
            </a:r>
            <a:r>
              <a:rPr lang="en-IN" sz="24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Note that the algorithm here is </a:t>
            </a:r>
            <a:r>
              <a:rPr lang="en-US" sz="2400" dirty="0">
                <a:solidFill>
                  <a:srgbClr val="FF0000"/>
                </a:solidFill>
              </a:rPr>
              <a:t>deterministic</a:t>
            </a:r>
            <a:r>
              <a:rPr lang="en-US" sz="2400" dirty="0"/>
              <a:t>; for any particular input</a:t>
            </a:r>
            <a:r>
              <a:rPr lang="en-US" sz="2400" dirty="0" smtClean="0"/>
              <a:t>, the </a:t>
            </a:r>
            <a:r>
              <a:rPr lang="en-US" sz="2400" dirty="0"/>
              <a:t>number of times a </a:t>
            </a:r>
            <a:r>
              <a:rPr lang="en-US" sz="2400" dirty="0">
                <a:solidFill>
                  <a:srgbClr val="FF0000"/>
                </a:solidFill>
              </a:rPr>
              <a:t>new office assistant is hired is always the </a:t>
            </a:r>
            <a:r>
              <a:rPr lang="en-US" sz="2400" dirty="0" smtClean="0">
                <a:solidFill>
                  <a:srgbClr val="FF0000"/>
                </a:solidFill>
              </a:rPr>
              <a:t>same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Furthermore</a:t>
            </a:r>
            <a:r>
              <a:rPr lang="en-IN" sz="2400" dirty="0" smtClean="0"/>
              <a:t>, </a:t>
            </a:r>
            <a:r>
              <a:rPr lang="en-US" sz="2400" dirty="0" smtClean="0"/>
              <a:t>the </a:t>
            </a:r>
            <a:r>
              <a:rPr lang="en-US" sz="2400" dirty="0">
                <a:solidFill>
                  <a:srgbClr val="FF0000"/>
                </a:solidFill>
              </a:rPr>
              <a:t>number of times we hire a new office assistant differs for different inputs</a:t>
            </a:r>
            <a:r>
              <a:rPr lang="en-US" sz="2400" dirty="0"/>
              <a:t>, and </a:t>
            </a:r>
            <a:r>
              <a:rPr lang="en-US" sz="2400" dirty="0" smtClean="0"/>
              <a:t>it depends </a:t>
            </a:r>
            <a:r>
              <a:rPr lang="en-US" sz="2400" u="sng" dirty="0">
                <a:solidFill>
                  <a:srgbClr val="FF0000"/>
                </a:solidFill>
              </a:rPr>
              <a:t>on the ranks of the various candidates</a:t>
            </a:r>
            <a:r>
              <a:rPr lang="en-US" sz="24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Since this number depends only </a:t>
            </a:r>
            <a:r>
              <a:rPr lang="en-US" sz="2400" dirty="0" smtClean="0"/>
              <a:t>on the </a:t>
            </a:r>
            <a:r>
              <a:rPr lang="en-US" sz="2400" dirty="0"/>
              <a:t>ranks of the candidates, we can represent a particular input by listing, in order</a:t>
            </a:r>
            <a:r>
              <a:rPr lang="en-US" sz="2400" dirty="0" smtClean="0"/>
              <a:t>, the </a:t>
            </a:r>
            <a:r>
              <a:rPr lang="en-US" sz="2400" dirty="0"/>
              <a:t>ranks of the candidates, i.e., </a:t>
            </a:r>
            <a:r>
              <a:rPr lang="en-US" sz="2400" dirty="0" smtClean="0"/>
              <a:t>(</a:t>
            </a:r>
            <a:r>
              <a:rPr lang="en-US" sz="2400" i="1" dirty="0" smtClean="0"/>
              <a:t>rank</a:t>
            </a:r>
            <a:r>
              <a:rPr lang="en-US" sz="2400" dirty="0" smtClean="0"/>
              <a:t>.1</a:t>
            </a:r>
            <a:r>
              <a:rPr lang="en-US" sz="2400" dirty="0"/>
              <a:t>/; </a:t>
            </a:r>
            <a:r>
              <a:rPr lang="en-US" sz="2400" i="1" dirty="0"/>
              <a:t>rank</a:t>
            </a:r>
            <a:r>
              <a:rPr lang="en-US" sz="2400" dirty="0"/>
              <a:t>.2/; : : : ; </a:t>
            </a:r>
            <a:r>
              <a:rPr lang="en-US" sz="2400" i="1" dirty="0" smtClean="0"/>
              <a:t>rank</a:t>
            </a:r>
            <a:r>
              <a:rPr lang="en-US" sz="2400" dirty="0" smtClean="0"/>
              <a:t>.(n)).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The Process </a:t>
            </a:r>
            <a:endParaRPr lang="en-IN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44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609600"/>
            <a:ext cx="8839200" cy="646330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Given the rank </a:t>
            </a:r>
            <a:r>
              <a:rPr lang="en-US" sz="2400" dirty="0"/>
              <a:t>list A1 =(1; 2; 3; 4; 5; 6; 7; 8; 9; 10), a new office assistant is always hired 10 times</a:t>
            </a:r>
            <a:r>
              <a:rPr lang="en-US" sz="2400" dirty="0" smtClean="0"/>
              <a:t>, since </a:t>
            </a:r>
            <a:r>
              <a:rPr lang="en-US" sz="2400" dirty="0"/>
              <a:t>each successive candidate is better than the previous one, and lines 5–6 are </a:t>
            </a:r>
            <a:r>
              <a:rPr lang="en-IN" sz="2400" dirty="0"/>
              <a:t>executed in each iteration.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Given </a:t>
            </a:r>
            <a:r>
              <a:rPr lang="en-US" sz="2400" dirty="0"/>
              <a:t>the list of ranks A2 </a:t>
            </a:r>
            <a:r>
              <a:rPr lang="en-US" sz="2400" dirty="0" smtClean="0"/>
              <a:t>=(10</a:t>
            </a:r>
            <a:r>
              <a:rPr lang="en-US" sz="2400" dirty="0"/>
              <a:t>; 9; 8; 7; 6; 5; 4; 3; 2; </a:t>
            </a:r>
            <a:r>
              <a:rPr lang="en-US" sz="2400" dirty="0" smtClean="0"/>
              <a:t>1), a </a:t>
            </a:r>
            <a:r>
              <a:rPr lang="en-US" sz="2400" dirty="0"/>
              <a:t>new office assistant is hired only once, in the first iteration. </a:t>
            </a:r>
            <a:endParaRPr lang="en-US" sz="2400" dirty="0" smtClean="0"/>
          </a:p>
          <a:p>
            <a:pPr>
              <a:lnSpc>
                <a:spcPct val="150000"/>
              </a:lnSpc>
            </a:pP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Given </a:t>
            </a:r>
            <a:r>
              <a:rPr lang="en-US" sz="2400" dirty="0"/>
              <a:t>a list of </a:t>
            </a:r>
            <a:r>
              <a:rPr lang="en-US" sz="2400" dirty="0" smtClean="0"/>
              <a:t>ranks A3 =(5</a:t>
            </a:r>
            <a:r>
              <a:rPr lang="en-US" sz="2400" dirty="0"/>
              <a:t>; 2; 1; 8; 4; 7; 10; 9; 3; </a:t>
            </a:r>
            <a:r>
              <a:rPr lang="en-US" sz="2400" dirty="0" smtClean="0"/>
              <a:t>6), </a:t>
            </a:r>
            <a:r>
              <a:rPr lang="en-US" sz="2400" dirty="0"/>
              <a:t>a new office assistant is hired three times</a:t>
            </a:r>
            <a:r>
              <a:rPr lang="en-US" sz="2400" dirty="0" smtClean="0"/>
              <a:t>, upon </a:t>
            </a:r>
            <a:r>
              <a:rPr lang="en-US" sz="2400" dirty="0"/>
              <a:t>interviewing the candidates with ranks 5, 8, and 10</a:t>
            </a:r>
            <a:r>
              <a:rPr lang="en-US" sz="24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2733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304800"/>
            <a:ext cx="9525000" cy="701730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Recalling that the cost of our algorithm depends on how many times we hire a new office assistant, we see that there are </a:t>
            </a:r>
            <a:r>
              <a:rPr lang="en-US" sz="2400" dirty="0">
                <a:solidFill>
                  <a:srgbClr val="FF0000"/>
                </a:solidFill>
              </a:rPr>
              <a:t>expensive inputs such as A1, inexpensive inputs such as A2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FF0000"/>
                </a:solidFill>
              </a:rPr>
              <a:t>moderately expensive inputs such as A3</a:t>
            </a:r>
            <a:r>
              <a:rPr lang="en-US" sz="2400" dirty="0" smtClean="0">
                <a:solidFill>
                  <a:srgbClr val="FF0000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randomized algorithm that </a:t>
            </a:r>
            <a:r>
              <a:rPr lang="en-US" sz="2400" dirty="0">
                <a:solidFill>
                  <a:srgbClr val="FF0000"/>
                </a:solidFill>
              </a:rPr>
              <a:t>first permutes the candidates and then determines the best candidate</a:t>
            </a:r>
            <a:r>
              <a:rPr lang="en-US" sz="2400" dirty="0"/>
              <a:t>. In this case, we randomize in the algorithm, not in the input distribution.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Given </a:t>
            </a:r>
            <a:r>
              <a:rPr lang="en-US" sz="2400" dirty="0"/>
              <a:t>a particular input, say A3 above, we cannot say how many times the maximum is updated, because this quantity differs with each run of the algorithm. 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7493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381000"/>
            <a:ext cx="9601200" cy="581697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Each time we run the algorithm, the execution depends on the random </a:t>
            </a:r>
            <a:r>
              <a:rPr lang="en-US" sz="2800" dirty="0" smtClean="0"/>
              <a:t>choices made </a:t>
            </a:r>
            <a:r>
              <a:rPr lang="en-US" sz="2800" dirty="0"/>
              <a:t>and is likely to differ from the previous execution of the algorithm. </a:t>
            </a:r>
            <a:endParaRPr lang="en-US" sz="2800" dirty="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For this algorithm </a:t>
            </a:r>
            <a:r>
              <a:rPr lang="en-US" sz="2800" dirty="0"/>
              <a:t>and </a:t>
            </a:r>
            <a:r>
              <a:rPr lang="en-US" sz="2800" dirty="0">
                <a:solidFill>
                  <a:srgbClr val="FF0000"/>
                </a:solidFill>
              </a:rPr>
              <a:t>many other randomized algorithms, </a:t>
            </a:r>
            <a:r>
              <a:rPr lang="en-US" sz="2800" i="1" dirty="0">
                <a:solidFill>
                  <a:srgbClr val="FF0000"/>
                </a:solidFill>
              </a:rPr>
              <a:t>no particular input elicits </a:t>
            </a:r>
            <a:r>
              <a:rPr lang="en-US" sz="2800" i="1" dirty="0" smtClean="0">
                <a:solidFill>
                  <a:srgbClr val="FF0000"/>
                </a:solidFill>
              </a:rPr>
              <a:t>its worst-case </a:t>
            </a:r>
            <a:r>
              <a:rPr lang="en-US" sz="2800" i="1" dirty="0">
                <a:solidFill>
                  <a:srgbClr val="FF0000"/>
                </a:solidFill>
              </a:rPr>
              <a:t>behavior</a:t>
            </a:r>
            <a:r>
              <a:rPr lang="en-US" sz="2800" dirty="0"/>
              <a:t>. </a:t>
            </a:r>
            <a:endParaRPr lang="en-US" sz="2800" dirty="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Even </a:t>
            </a:r>
            <a:r>
              <a:rPr lang="en-US" sz="2800" dirty="0"/>
              <a:t>your worst enemy cannot produce a bad input array</a:t>
            </a:r>
            <a:r>
              <a:rPr lang="en-US" sz="2800" dirty="0" smtClean="0"/>
              <a:t>, since </a:t>
            </a:r>
            <a:r>
              <a:rPr lang="en-US" sz="2800" dirty="0"/>
              <a:t>the random permutation makes the input order irrelevant. </a:t>
            </a:r>
            <a:endParaRPr lang="en-US" sz="2800" dirty="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The randomized algorithm </a:t>
            </a:r>
            <a:r>
              <a:rPr lang="en-US" sz="2800" dirty="0"/>
              <a:t>performs badly only if the random-number generator produces an “unlucky</a:t>
            </a:r>
            <a:r>
              <a:rPr lang="en-US" sz="2800" dirty="0" smtClean="0"/>
              <a:t>” </a:t>
            </a:r>
            <a:r>
              <a:rPr lang="en-IN" sz="2800" dirty="0" smtClean="0"/>
              <a:t>permutation</a:t>
            </a:r>
            <a:r>
              <a:rPr lang="en-I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93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9372600" cy="3447098"/>
          </a:xfrm>
        </p:spPr>
        <p:txBody>
          <a:bodyPr/>
          <a:lstStyle/>
          <a:p>
            <a:r>
              <a:rPr lang="en-US" sz="2800" dirty="0"/>
              <a:t>RANDOMIZED-HIRE-</a:t>
            </a:r>
            <a:r>
              <a:rPr lang="en-US" sz="2800" dirty="0" err="1"/>
              <a:t>ASSISTANT.n</a:t>
            </a:r>
            <a:r>
              <a:rPr lang="en-US" sz="2800" dirty="0"/>
              <a:t>/</a:t>
            </a:r>
          </a:p>
          <a:p>
            <a:r>
              <a:rPr lang="en-US" sz="2800" dirty="0"/>
              <a:t>1 </a:t>
            </a:r>
            <a:r>
              <a:rPr lang="en-US" sz="2800" dirty="0">
                <a:solidFill>
                  <a:srgbClr val="FF0000"/>
                </a:solidFill>
              </a:rPr>
              <a:t>randomly permute the list of candidates</a:t>
            </a:r>
          </a:p>
          <a:p>
            <a:r>
              <a:rPr lang="en-US" sz="2800" dirty="0"/>
              <a:t>2 best </a:t>
            </a:r>
            <a:r>
              <a:rPr lang="en-US" sz="2800" dirty="0" smtClean="0"/>
              <a:t>= </a:t>
            </a:r>
            <a:r>
              <a:rPr lang="en-US" sz="2800" dirty="0"/>
              <a:t>0 // candidate 0 is a least-qualified dummy candidate</a:t>
            </a:r>
          </a:p>
          <a:p>
            <a:r>
              <a:rPr lang="en-US" sz="2800" dirty="0"/>
              <a:t>3 for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smtClean="0"/>
              <a:t>= </a:t>
            </a:r>
            <a:r>
              <a:rPr lang="en-US" sz="2800" dirty="0"/>
              <a:t>1 to n</a:t>
            </a:r>
          </a:p>
          <a:p>
            <a:r>
              <a:rPr lang="en-US" sz="2800" dirty="0"/>
              <a:t>4 </a:t>
            </a:r>
            <a:r>
              <a:rPr lang="en-US" sz="2800" dirty="0" smtClean="0"/>
              <a:t>       interview </a:t>
            </a:r>
            <a:r>
              <a:rPr lang="en-US" sz="2800" dirty="0"/>
              <a:t>candidate </a:t>
            </a:r>
            <a:r>
              <a:rPr lang="en-US" sz="2800" dirty="0" err="1"/>
              <a:t>i</a:t>
            </a:r>
            <a:endParaRPr lang="en-US" sz="2800" dirty="0"/>
          </a:p>
          <a:p>
            <a:r>
              <a:rPr lang="en-US" sz="2800" dirty="0"/>
              <a:t>5 </a:t>
            </a:r>
            <a:r>
              <a:rPr lang="en-US" sz="2800" dirty="0" smtClean="0"/>
              <a:t>       if </a:t>
            </a:r>
            <a:r>
              <a:rPr lang="en-US" sz="2800" dirty="0"/>
              <a:t>candidate </a:t>
            </a:r>
            <a:r>
              <a:rPr lang="en-US" sz="2800" dirty="0" err="1"/>
              <a:t>i</a:t>
            </a:r>
            <a:r>
              <a:rPr lang="en-US" sz="2800" dirty="0"/>
              <a:t> is better than candidate best</a:t>
            </a:r>
          </a:p>
          <a:p>
            <a:r>
              <a:rPr lang="en-US" sz="2800" dirty="0"/>
              <a:t>6 </a:t>
            </a:r>
            <a:r>
              <a:rPr lang="en-US" sz="2800" dirty="0" smtClean="0"/>
              <a:t>            best = </a:t>
            </a:r>
            <a:r>
              <a:rPr lang="en-US" sz="2800" dirty="0" err="1"/>
              <a:t>i</a:t>
            </a:r>
            <a:endParaRPr lang="en-US" sz="2800" dirty="0"/>
          </a:p>
          <a:p>
            <a:r>
              <a:rPr lang="en-US" sz="2800" dirty="0"/>
              <a:t>7 </a:t>
            </a:r>
            <a:r>
              <a:rPr lang="en-US" sz="2800" dirty="0" smtClean="0"/>
              <a:t>            hire </a:t>
            </a:r>
            <a:r>
              <a:rPr lang="en-US" sz="2800" dirty="0"/>
              <a:t>candidate </a:t>
            </a:r>
            <a:r>
              <a:rPr lang="en-US" sz="2800" dirty="0" err="1"/>
              <a:t>i</a:t>
            </a:r>
            <a:endParaRPr lang="en-IN" sz="2800" dirty="0"/>
          </a:p>
        </p:txBody>
      </p:sp>
      <p:sp>
        <p:nvSpPr>
          <p:cNvPr id="4" name="Rectangle 3"/>
          <p:cNvSpPr/>
          <p:nvPr/>
        </p:nvSpPr>
        <p:spPr>
          <a:xfrm>
            <a:off x="469692" y="533400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/>
              <a:t>With this simple change, we have created a randomized algorithm whose performance matches that obtained by assuming that the candidates were presented in a random order.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5501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7044181" cy="695325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For advanced Learners….. 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929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8031" y="1237487"/>
            <a:ext cx="294513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Distributions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9763" y="2426206"/>
            <a:ext cx="7635875" cy="41059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608965" marR="558800" indent="-533400">
              <a:lnSpc>
                <a:spcPts val="2160"/>
              </a:lnSpc>
              <a:spcBef>
                <a:spcPts val="360"/>
              </a:spcBef>
              <a:buChar char="•"/>
              <a:tabLst>
                <a:tab pos="608965" algn="l"/>
                <a:tab pos="609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sample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space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will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some</a:t>
            </a:r>
            <a:r>
              <a:rPr sz="2000" spc="-5" dirty="0">
                <a:latin typeface="Times New Roman"/>
                <a:cs typeface="Times New Roman"/>
              </a:rPr>
              <a:t> collection 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elementary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events</a:t>
            </a:r>
            <a:r>
              <a:rPr sz="2000" spc="-5" dirty="0">
                <a:latin typeface="Times New Roman"/>
                <a:cs typeface="Times New Roman"/>
              </a:rPr>
              <a:t>. </a:t>
            </a:r>
            <a:r>
              <a:rPr sz="2000" spc="-10" dirty="0">
                <a:latin typeface="Times New Roman"/>
                <a:cs typeface="Times New Roman"/>
              </a:rPr>
              <a:t>For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instance, results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coin flips.</a:t>
            </a:r>
            <a:endParaRPr sz="2000">
              <a:latin typeface="Times New Roman"/>
              <a:cs typeface="Times New Roman"/>
            </a:endParaRPr>
          </a:p>
          <a:p>
            <a:pPr marL="609600" indent="-533400">
              <a:lnSpc>
                <a:spcPct val="100000"/>
              </a:lnSpc>
              <a:spcBef>
                <a:spcPts val="210"/>
              </a:spcBef>
              <a:buChar char="•"/>
              <a:tabLst>
                <a:tab pos="608965" algn="l"/>
                <a:tab pos="609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An </a:t>
            </a:r>
            <a:r>
              <a:rPr sz="2000" b="1" spc="-5" dirty="0">
                <a:latin typeface="Times New Roman"/>
                <a:cs typeface="Times New Roman"/>
              </a:rPr>
              <a:t>event 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any </a:t>
            </a:r>
            <a:r>
              <a:rPr sz="2000" spc="-10" dirty="0">
                <a:latin typeface="Times New Roman"/>
                <a:cs typeface="Times New Roman"/>
              </a:rPr>
              <a:t>subset</a:t>
            </a:r>
            <a:r>
              <a:rPr sz="2000" spc="-5" dirty="0">
                <a:latin typeface="Times New Roman"/>
                <a:cs typeface="Times New Roman"/>
              </a:rPr>
              <a:t> of S.</a:t>
            </a:r>
            <a:endParaRPr sz="2000">
              <a:latin typeface="Times New Roman"/>
              <a:cs typeface="Times New Roman"/>
            </a:endParaRPr>
          </a:p>
          <a:p>
            <a:pPr marL="609600" indent="-533400">
              <a:lnSpc>
                <a:spcPct val="100000"/>
              </a:lnSpc>
              <a:spcBef>
                <a:spcPts val="240"/>
              </a:spcBef>
              <a:buChar char="•"/>
              <a:tabLst>
                <a:tab pos="608965" algn="l"/>
                <a:tab pos="609600" algn="l"/>
              </a:tabLst>
            </a:pP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S={HH,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HT,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TT},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event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might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{TH,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HT}</a:t>
            </a:r>
            <a:endParaRPr sz="2000">
              <a:latin typeface="Times New Roman"/>
              <a:cs typeface="Times New Roman"/>
            </a:endParaRPr>
          </a:p>
          <a:p>
            <a:pPr marL="608965" marR="135890" indent="-533400">
              <a:lnSpc>
                <a:spcPts val="2160"/>
              </a:lnSpc>
              <a:spcBef>
                <a:spcPts val="515"/>
              </a:spcBef>
              <a:buChar char="•"/>
              <a:tabLst>
                <a:tab pos="608965" algn="l"/>
                <a:tab pos="609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A probability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distribution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{}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mapping from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events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real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satisfying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events 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B:</a:t>
            </a:r>
            <a:endParaRPr sz="2000">
              <a:latin typeface="Times New Roman"/>
              <a:cs typeface="Times New Roman"/>
            </a:endParaRPr>
          </a:p>
          <a:p>
            <a:pPr marL="990600" lvl="1" indent="-457834">
              <a:lnSpc>
                <a:spcPct val="100000"/>
              </a:lnSpc>
              <a:spcBef>
                <a:spcPts val="204"/>
              </a:spcBef>
              <a:buAutoNum type="alphaLcParenBoth"/>
              <a:tabLst>
                <a:tab pos="989965" algn="l"/>
                <a:tab pos="990600" algn="l"/>
              </a:tabLst>
            </a:pP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{A}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&gt;=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marL="990600" lvl="1" indent="-457834">
              <a:lnSpc>
                <a:spcPct val="100000"/>
              </a:lnSpc>
              <a:spcBef>
                <a:spcPts val="240"/>
              </a:spcBef>
              <a:buAutoNum type="alphaLcParenBoth"/>
              <a:tabLst>
                <a:tab pos="989965" algn="l"/>
                <a:tab pos="990600" algn="l"/>
              </a:tabLst>
            </a:pP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{S}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990600" lvl="1" indent="-457834">
              <a:lnSpc>
                <a:spcPct val="100000"/>
              </a:lnSpc>
              <a:spcBef>
                <a:spcPts val="145"/>
              </a:spcBef>
              <a:buAutoNum type="alphaLcParenBoth"/>
              <a:tabLst>
                <a:tab pos="989965" algn="l"/>
                <a:tab pos="990600" algn="l"/>
                <a:tab pos="4525645" algn="l"/>
              </a:tabLst>
            </a:pP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{A</a:t>
            </a:r>
            <a:r>
              <a:rPr sz="2000" spc="-5" dirty="0">
                <a:latin typeface="Symbol"/>
                <a:cs typeface="Symbol"/>
              </a:rPr>
              <a:t>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B}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{A}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+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{B}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if	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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</a:t>
            </a:r>
            <a:endParaRPr sz="2000">
              <a:latin typeface="Symbol"/>
              <a:cs typeface="Symbol"/>
            </a:endParaRPr>
          </a:p>
          <a:p>
            <a:pPr marL="609600" indent="-533400">
              <a:lnSpc>
                <a:spcPts val="2315"/>
              </a:lnSpc>
              <a:spcBef>
                <a:spcPts val="240"/>
              </a:spcBef>
              <a:buChar char="•"/>
              <a:tabLst>
                <a:tab pos="608965" algn="l"/>
                <a:tab pos="609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Notice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1=Pr</a:t>
            </a:r>
            <a:r>
              <a:rPr sz="1950" baseline="-21367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{S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Symbol"/>
                <a:cs typeface="Symbol"/>
              </a:rPr>
              <a:t></a:t>
            </a:r>
            <a:r>
              <a:rPr sz="2000" spc="5" dirty="0">
                <a:latin typeface="Times New Roman"/>
                <a:cs typeface="Times New Roman"/>
              </a:rPr>
              <a:t>}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{S}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+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</a:t>
            </a:r>
            <a:r>
              <a:rPr sz="2000" spc="-5" dirty="0">
                <a:latin typeface="Symbol"/>
                <a:cs typeface="Symbol"/>
              </a:rPr>
              <a:t></a:t>
            </a:r>
            <a:r>
              <a:rPr sz="2000" spc="-5" dirty="0">
                <a:latin typeface="Times New Roman"/>
                <a:cs typeface="Times New Roman"/>
              </a:rPr>
              <a:t>}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+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</a:t>
            </a:r>
            <a:r>
              <a:rPr sz="2000" spc="-5" dirty="0">
                <a:latin typeface="Symbol"/>
                <a:cs typeface="Symbol"/>
              </a:rPr>
              <a:t></a:t>
            </a:r>
            <a:r>
              <a:rPr sz="2000" spc="-5" dirty="0">
                <a:latin typeface="Times New Roman"/>
                <a:cs typeface="Times New Roman"/>
              </a:rPr>
              <a:t>}.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</a:t>
            </a:r>
            <a:r>
              <a:rPr sz="2000" spc="-5" dirty="0">
                <a:latin typeface="Symbol"/>
                <a:cs typeface="Symbol"/>
              </a:rPr>
              <a:t></a:t>
            </a:r>
            <a:r>
              <a:rPr sz="2000" spc="-5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608965">
              <a:lnSpc>
                <a:spcPts val="2315"/>
              </a:lnSpc>
            </a:pPr>
            <a:r>
              <a:rPr sz="2000" spc="-5" dirty="0">
                <a:latin typeface="Times New Roman"/>
                <a:cs typeface="Times New Roman"/>
              </a:rPr>
              <a:t>=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0.</a:t>
            </a:r>
            <a:endParaRPr sz="2000">
              <a:latin typeface="Times New Roman"/>
              <a:cs typeface="Times New Roman"/>
            </a:endParaRPr>
          </a:p>
          <a:p>
            <a:pPr marL="608965" marR="254000" indent="-533400">
              <a:lnSpc>
                <a:spcPts val="2230"/>
              </a:lnSpc>
              <a:spcBef>
                <a:spcPts val="385"/>
              </a:spcBef>
              <a:buChar char="•"/>
              <a:tabLst>
                <a:tab pos="608965" algn="l"/>
                <a:tab pos="609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Noti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1=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{S}=</a:t>
            </a:r>
            <a:r>
              <a:rPr sz="2000" dirty="0">
                <a:latin typeface="Times New Roman"/>
                <a:cs typeface="Times New Roman"/>
              </a:rPr>
              <a:t> Pr</a:t>
            </a:r>
            <a:r>
              <a:rPr sz="1950" baseline="-21367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{A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A}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{A}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+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</a:t>
            </a:r>
            <a:r>
              <a:rPr sz="1950" baseline="-21367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{A}.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{A}=1-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</a:t>
            </a:r>
            <a:r>
              <a:rPr sz="1950" spc="-7" baseline="-21367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{A}.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5047" y="594563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59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851647" y="594563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59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32448" y="594563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59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2111" y="902207"/>
            <a:ext cx="6235065" cy="1365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66545" marR="5080" indent="-155448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Conditional</a:t>
            </a:r>
            <a:r>
              <a:rPr spc="-10" dirty="0"/>
              <a:t> </a:t>
            </a:r>
            <a:r>
              <a:rPr spc="-5" dirty="0"/>
              <a:t>Probability</a:t>
            </a:r>
            <a:r>
              <a:rPr spc="5" dirty="0"/>
              <a:t> </a:t>
            </a:r>
            <a:r>
              <a:rPr spc="-5" dirty="0"/>
              <a:t>and </a:t>
            </a:r>
            <a:r>
              <a:rPr spc="-1085" dirty="0"/>
              <a:t> </a:t>
            </a:r>
            <a:r>
              <a:rPr spc="-10" dirty="0"/>
              <a:t>Independence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0563" y="2404870"/>
            <a:ext cx="7506970" cy="47498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69570" marR="17780" indent="-344805">
              <a:lnSpc>
                <a:spcPts val="3020"/>
              </a:lnSpc>
              <a:spcBef>
                <a:spcPts val="490"/>
              </a:spcBef>
              <a:buChar char="•"/>
              <a:tabLst>
                <a:tab pos="369570" algn="l"/>
                <a:tab pos="370205" algn="l"/>
                <a:tab pos="5061585" algn="l"/>
              </a:tabLst>
            </a:pPr>
            <a:r>
              <a:rPr sz="2800" spc="-10" dirty="0">
                <a:latin typeface="Times New Roman"/>
                <a:cs typeface="Times New Roman"/>
              </a:rPr>
              <a:t>The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conditional</a:t>
            </a:r>
            <a:r>
              <a:rPr sz="2800" b="1" spc="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probability</a:t>
            </a:r>
            <a:r>
              <a:rPr sz="2800" b="1" spc="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	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event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given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event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B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defined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be:</a:t>
            </a:r>
            <a:endParaRPr sz="2800">
              <a:latin typeface="Times New Roman"/>
              <a:cs typeface="Times New Roman"/>
            </a:endParaRPr>
          </a:p>
          <a:p>
            <a:pPr marL="481965">
              <a:lnSpc>
                <a:spcPct val="100000"/>
              </a:lnSpc>
              <a:spcBef>
                <a:spcPts val="170"/>
              </a:spcBef>
            </a:pPr>
            <a:r>
              <a:rPr sz="2400" spc="-5" dirty="0">
                <a:latin typeface="Times New Roman"/>
                <a:cs typeface="Times New Roman"/>
              </a:rPr>
              <a:t>Pr{A|B}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Pr{A</a:t>
            </a:r>
            <a:r>
              <a:rPr sz="2400" spc="-5" dirty="0">
                <a:latin typeface="Symbol"/>
                <a:cs typeface="Symbol"/>
              </a:rPr>
              <a:t></a:t>
            </a:r>
            <a:r>
              <a:rPr sz="2400" spc="-5" dirty="0">
                <a:latin typeface="Times New Roman"/>
                <a:cs typeface="Times New Roman"/>
              </a:rPr>
              <a:t>B}/Pr{B}.</a:t>
            </a:r>
            <a:endParaRPr sz="2400">
              <a:latin typeface="Times New Roman"/>
              <a:cs typeface="Times New Roman"/>
            </a:endParaRPr>
          </a:p>
          <a:p>
            <a:pPr marL="369570" marR="2689860" indent="-369570">
              <a:lnSpc>
                <a:spcPct val="106400"/>
              </a:lnSpc>
              <a:spcBef>
                <a:spcPts val="200"/>
              </a:spcBef>
              <a:buChar char="•"/>
              <a:tabLst>
                <a:tab pos="369570" algn="l"/>
                <a:tab pos="370205" algn="l"/>
              </a:tabLst>
            </a:pPr>
            <a:r>
              <a:rPr sz="2800" spc="-5" dirty="0">
                <a:latin typeface="Times New Roman"/>
                <a:cs typeface="Times New Roman"/>
              </a:rPr>
              <a:t>Two events are </a:t>
            </a:r>
            <a:r>
              <a:rPr sz="2800" b="1" spc="-5" dirty="0">
                <a:latin typeface="Times New Roman"/>
                <a:cs typeface="Times New Roman"/>
              </a:rPr>
              <a:t>independent </a:t>
            </a:r>
            <a:r>
              <a:rPr sz="2800" spc="-25" dirty="0">
                <a:latin typeface="Times New Roman"/>
                <a:cs typeface="Times New Roman"/>
              </a:rPr>
              <a:t>if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Pr{A</a:t>
            </a:r>
            <a:r>
              <a:rPr sz="2800" spc="-5" dirty="0">
                <a:latin typeface="Symbol"/>
                <a:cs typeface="Symbol"/>
              </a:rPr>
              <a:t></a:t>
            </a:r>
            <a:r>
              <a:rPr sz="2800" spc="-5" dirty="0">
                <a:latin typeface="Times New Roman"/>
                <a:cs typeface="Times New Roman"/>
              </a:rPr>
              <a:t>B}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Pr{A}Pr{B}</a:t>
            </a:r>
            <a:endParaRPr sz="2800">
              <a:latin typeface="Times New Roman"/>
              <a:cs typeface="Times New Roman"/>
            </a:endParaRPr>
          </a:p>
          <a:p>
            <a:pPr marL="369570" marR="149225" indent="-344805">
              <a:lnSpc>
                <a:spcPts val="3020"/>
              </a:lnSpc>
              <a:spcBef>
                <a:spcPts val="840"/>
              </a:spcBef>
              <a:buChar char="•"/>
              <a:tabLst>
                <a:tab pos="369570" algn="l"/>
                <a:tab pos="370205" algn="l"/>
              </a:tabLst>
            </a:pPr>
            <a:r>
              <a:rPr sz="2800" spc="-5" dirty="0">
                <a:latin typeface="Times New Roman"/>
                <a:cs typeface="Times New Roman"/>
              </a:rPr>
              <a:t>Given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collection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50" baseline="-20467" dirty="0">
                <a:latin typeface="Times New Roman"/>
                <a:cs typeface="Times New Roman"/>
              </a:rPr>
              <a:t>1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50" baseline="-20467" dirty="0">
                <a:latin typeface="Times New Roman"/>
                <a:cs typeface="Times New Roman"/>
              </a:rPr>
              <a:t>2</a:t>
            </a:r>
            <a:r>
              <a:rPr sz="2800" dirty="0">
                <a:latin typeface="Times New Roman"/>
                <a:cs typeface="Times New Roman"/>
              </a:rPr>
              <a:t>,…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50" baseline="-20467" dirty="0">
                <a:latin typeface="Times New Roman"/>
                <a:cs typeface="Times New Roman"/>
              </a:rPr>
              <a:t>k</a:t>
            </a:r>
            <a:r>
              <a:rPr sz="2850" spc="352" baseline="-20467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events we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say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pairwise</a:t>
            </a:r>
            <a:r>
              <a:rPr sz="2800" b="1" spc="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independent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if</a:t>
            </a:r>
            <a:endParaRPr sz="2800">
              <a:latin typeface="Times New Roman"/>
              <a:cs typeface="Times New Roman"/>
            </a:endParaRPr>
          </a:p>
          <a:p>
            <a:pPr marL="369570">
              <a:lnSpc>
                <a:spcPct val="100000"/>
              </a:lnSpc>
              <a:spcBef>
                <a:spcPts val="200"/>
              </a:spcBef>
            </a:pPr>
            <a:r>
              <a:rPr sz="2800" spc="-5" dirty="0">
                <a:latin typeface="Times New Roman"/>
                <a:cs typeface="Times New Roman"/>
              </a:rPr>
              <a:t>Pr{A</a:t>
            </a:r>
            <a:r>
              <a:rPr sz="2850" spc="-7" baseline="-20467" dirty="0">
                <a:latin typeface="Times New Roman"/>
                <a:cs typeface="Times New Roman"/>
              </a:rPr>
              <a:t>i</a:t>
            </a:r>
            <a:r>
              <a:rPr sz="2850" spc="330" baseline="-20467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Symbol"/>
                <a:cs typeface="Symbol"/>
              </a:rPr>
              <a:t>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50" baseline="-20467" dirty="0">
                <a:latin typeface="Times New Roman"/>
                <a:cs typeface="Times New Roman"/>
              </a:rPr>
              <a:t>j</a:t>
            </a:r>
            <a:r>
              <a:rPr sz="2800" dirty="0">
                <a:latin typeface="Times New Roman"/>
                <a:cs typeface="Times New Roman"/>
              </a:rPr>
              <a:t>}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Pr{A</a:t>
            </a:r>
            <a:r>
              <a:rPr sz="2850" baseline="-20467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}Pr{A</a:t>
            </a:r>
            <a:r>
              <a:rPr sz="2850" baseline="-20467" dirty="0">
                <a:latin typeface="Times New Roman"/>
                <a:cs typeface="Times New Roman"/>
              </a:rPr>
              <a:t>j</a:t>
            </a:r>
            <a:r>
              <a:rPr sz="2800" dirty="0">
                <a:latin typeface="Times New Roman"/>
                <a:cs typeface="Times New Roman"/>
              </a:rPr>
              <a:t>}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j.</a:t>
            </a:r>
            <a:endParaRPr sz="2800">
              <a:latin typeface="Times New Roman"/>
              <a:cs typeface="Times New Roman"/>
            </a:endParaRPr>
          </a:p>
          <a:p>
            <a:pPr marL="369570" marR="247015" indent="-344805">
              <a:lnSpc>
                <a:spcPts val="3020"/>
              </a:lnSpc>
              <a:spcBef>
                <a:spcPts val="840"/>
              </a:spcBef>
              <a:buChar char="•"/>
              <a:tabLst>
                <a:tab pos="369570" algn="l"/>
                <a:tab pos="37020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mutually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independent</a:t>
            </a:r>
            <a:r>
              <a:rPr sz="2800" b="1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if for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subset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50" spc="-7" baseline="-20467" dirty="0">
                <a:latin typeface="Times New Roman"/>
                <a:cs typeface="Times New Roman"/>
              </a:rPr>
              <a:t>i_1</a:t>
            </a:r>
            <a:r>
              <a:rPr sz="2800" spc="-5" dirty="0">
                <a:latin typeface="Times New Roman"/>
                <a:cs typeface="Times New Roman"/>
              </a:rPr>
              <a:t>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</a:t>
            </a:r>
            <a:r>
              <a:rPr sz="2850" spc="7" baseline="-20467" dirty="0">
                <a:latin typeface="Times New Roman"/>
                <a:cs typeface="Times New Roman"/>
              </a:rPr>
              <a:t>2</a:t>
            </a:r>
            <a:r>
              <a:rPr sz="2800" spc="5" dirty="0">
                <a:latin typeface="Times New Roman"/>
                <a:cs typeface="Times New Roman"/>
              </a:rPr>
              <a:t>,…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50" spc="-7" baseline="-20467" dirty="0">
                <a:latin typeface="Times New Roman"/>
                <a:cs typeface="Times New Roman"/>
              </a:rPr>
              <a:t>i_m</a:t>
            </a:r>
            <a:r>
              <a:rPr sz="2850" spc="322" baseline="-20467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then</a:t>
            </a:r>
            <a:endParaRPr sz="2800">
              <a:latin typeface="Times New Roman"/>
              <a:cs typeface="Times New Roman"/>
            </a:endParaRPr>
          </a:p>
          <a:p>
            <a:pPr marL="481965">
              <a:lnSpc>
                <a:spcPct val="100000"/>
              </a:lnSpc>
              <a:spcBef>
                <a:spcPts val="165"/>
              </a:spcBef>
            </a:pPr>
            <a:r>
              <a:rPr sz="2400" spc="-5" dirty="0">
                <a:latin typeface="Times New Roman"/>
                <a:cs typeface="Times New Roman"/>
              </a:rPr>
              <a:t>Pr{A</a:t>
            </a:r>
            <a:r>
              <a:rPr sz="2400" spc="-7" baseline="-20833" dirty="0">
                <a:latin typeface="Times New Roman"/>
                <a:cs typeface="Times New Roman"/>
              </a:rPr>
              <a:t>i_1</a:t>
            </a:r>
            <a:r>
              <a:rPr sz="2400" spc="322" baseline="-20833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ymbol"/>
                <a:cs typeface="Symbol"/>
              </a:rPr>
              <a:t></a:t>
            </a:r>
            <a:r>
              <a:rPr sz="2400" spc="-10" dirty="0">
                <a:latin typeface="Times New Roman"/>
                <a:cs typeface="Times New Roman"/>
              </a:rPr>
              <a:t>…</a:t>
            </a:r>
            <a:r>
              <a:rPr sz="2400" dirty="0">
                <a:latin typeface="Times New Roman"/>
                <a:cs typeface="Times New Roman"/>
              </a:rPr>
              <a:t> A</a:t>
            </a:r>
            <a:r>
              <a:rPr sz="2400" baseline="-20833" dirty="0">
                <a:latin typeface="Times New Roman"/>
                <a:cs typeface="Times New Roman"/>
              </a:rPr>
              <a:t>i_m</a:t>
            </a:r>
            <a:r>
              <a:rPr sz="2400" dirty="0">
                <a:latin typeface="Times New Roman"/>
                <a:cs typeface="Times New Roman"/>
              </a:rPr>
              <a:t>}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Pr{A</a:t>
            </a:r>
            <a:r>
              <a:rPr sz="2400" spc="-7" baseline="-20833" dirty="0">
                <a:latin typeface="Times New Roman"/>
                <a:cs typeface="Times New Roman"/>
              </a:rPr>
              <a:t>i_1</a:t>
            </a:r>
            <a:r>
              <a:rPr sz="2400" spc="-5" dirty="0">
                <a:latin typeface="Times New Roman"/>
                <a:cs typeface="Times New Roman"/>
              </a:rPr>
              <a:t>}*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*Pr{A</a:t>
            </a:r>
            <a:r>
              <a:rPr sz="2400" spc="-7" baseline="-20833" dirty="0">
                <a:latin typeface="Times New Roman"/>
                <a:cs typeface="Times New Roman"/>
              </a:rPr>
              <a:t>i_m</a:t>
            </a:r>
            <a:r>
              <a:rPr sz="2400" spc="-5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0399" y="1237487"/>
            <a:ext cx="619696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Discrete</a:t>
            </a:r>
            <a:r>
              <a:rPr spc="-15" dirty="0"/>
              <a:t> </a:t>
            </a:r>
            <a:r>
              <a:rPr spc="-5" dirty="0"/>
              <a:t>Random</a:t>
            </a:r>
            <a:r>
              <a:rPr spc="-20" dirty="0"/>
              <a:t> </a:t>
            </a:r>
            <a:r>
              <a:rPr spc="-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3263" y="2432302"/>
            <a:ext cx="7581900" cy="3590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discrete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random variable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X</a:t>
            </a:r>
            <a:r>
              <a:rPr sz="3200" i="1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function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finite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sample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space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S </a:t>
            </a:r>
            <a:r>
              <a:rPr sz="3200" spc="-5" dirty="0">
                <a:latin typeface="Times New Roman"/>
                <a:cs typeface="Times New Roman"/>
              </a:rPr>
              <a:t>to the real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numbers.</a:t>
            </a:r>
            <a:endParaRPr sz="3200">
              <a:latin typeface="Times New Roman"/>
              <a:cs typeface="Times New Roman"/>
            </a:endParaRPr>
          </a:p>
          <a:p>
            <a:pPr marL="356870" marR="330835" indent="-344805">
              <a:lnSpc>
                <a:spcPct val="109600"/>
              </a:lnSpc>
              <a:spcBef>
                <a:spcPts val="37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Given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such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function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X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define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probability</a:t>
            </a:r>
            <a:r>
              <a:rPr sz="3200" b="1" spc="19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density</a:t>
            </a:r>
            <a:r>
              <a:rPr sz="3200" b="1" spc="19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function</a:t>
            </a:r>
            <a:r>
              <a:rPr sz="3200" b="1" spc="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for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X</a:t>
            </a:r>
            <a:r>
              <a:rPr sz="3200" i="1" spc="1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as: 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f</a:t>
            </a:r>
            <a:r>
              <a:rPr sz="2800" spc="-5" dirty="0">
                <a:latin typeface="Times New Roman"/>
                <a:cs typeface="Times New Roman"/>
              </a:rPr>
              <a:t>(</a:t>
            </a:r>
            <a:r>
              <a:rPr sz="2800" i="1" spc="-5" dirty="0">
                <a:latin typeface="Times New Roman"/>
                <a:cs typeface="Times New Roman"/>
              </a:rPr>
              <a:t>x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Pr{</a:t>
            </a:r>
            <a:r>
              <a:rPr sz="2800" i="1" dirty="0">
                <a:latin typeface="Times New Roman"/>
                <a:cs typeface="Times New Roman"/>
              </a:rPr>
              <a:t>X</a:t>
            </a:r>
            <a:r>
              <a:rPr sz="2800" i="1" spc="-5" dirty="0">
                <a:latin typeface="Times New Roman"/>
                <a:cs typeface="Times New Roman"/>
              </a:rPr>
              <a:t> </a:t>
            </a:r>
            <a:r>
              <a:rPr sz="2800" i="1" spc="5" dirty="0">
                <a:latin typeface="Times New Roman"/>
                <a:cs typeface="Times New Roman"/>
              </a:rPr>
              <a:t>=</a:t>
            </a:r>
            <a:r>
              <a:rPr sz="2800" i="1" spc="-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x</a:t>
            </a:r>
            <a:r>
              <a:rPr sz="280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558165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where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little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x</a:t>
            </a:r>
            <a:r>
              <a:rPr sz="2800" i="1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number.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1567" y="1237487"/>
            <a:ext cx="579501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Expectation</a:t>
            </a:r>
            <a:r>
              <a:rPr spc="-35" dirty="0"/>
              <a:t> </a:t>
            </a:r>
            <a:r>
              <a:rPr spc="-5" dirty="0"/>
              <a:t>and</a:t>
            </a:r>
            <a:r>
              <a:rPr spc="-15" dirty="0"/>
              <a:t> </a:t>
            </a:r>
            <a:r>
              <a:rPr spc="-5" dirty="0"/>
              <a:t>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2463" y="2404870"/>
            <a:ext cx="7390765" cy="350139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407670" marR="407034" indent="-344805">
              <a:lnSpc>
                <a:spcPts val="3020"/>
              </a:lnSpc>
              <a:spcBef>
                <a:spcPts val="490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spc="-10" dirty="0">
                <a:latin typeface="Times New Roman"/>
                <a:cs typeface="Times New Roman"/>
              </a:rPr>
              <a:t>The </a:t>
            </a:r>
            <a:r>
              <a:rPr sz="2800" b="1" spc="-5" dirty="0">
                <a:latin typeface="Times New Roman"/>
                <a:cs typeface="Times New Roman"/>
              </a:rPr>
              <a:t>expected value </a:t>
            </a:r>
            <a:r>
              <a:rPr sz="2800" dirty="0">
                <a:latin typeface="Times New Roman"/>
                <a:cs typeface="Times New Roman"/>
              </a:rPr>
              <a:t>of a </a:t>
            </a:r>
            <a:r>
              <a:rPr sz="2800" spc="-5" dirty="0">
                <a:latin typeface="Times New Roman"/>
                <a:cs typeface="Times New Roman"/>
              </a:rPr>
              <a:t>random variable </a:t>
            </a:r>
            <a:r>
              <a:rPr sz="2800" spc="5" dirty="0">
                <a:latin typeface="Times New Roman"/>
                <a:cs typeface="Times New Roman"/>
              </a:rPr>
              <a:t>X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defined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3850">
              <a:latin typeface="Times New Roman"/>
              <a:cs typeface="Times New Roman"/>
            </a:endParaRPr>
          </a:p>
          <a:p>
            <a:pPr marL="407670" indent="-344805">
              <a:lnSpc>
                <a:spcPct val="100000"/>
              </a:lnSpc>
              <a:buChar char="•"/>
              <a:tabLst>
                <a:tab pos="407670" algn="l"/>
                <a:tab pos="4083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variance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X,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Var[X]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defined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be:</a:t>
            </a:r>
            <a:endParaRPr sz="280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  <a:spcBef>
                <a:spcPts val="305"/>
              </a:spcBef>
            </a:pPr>
            <a:r>
              <a:rPr sz="2400" spc="-5" dirty="0">
                <a:latin typeface="Times New Roman"/>
                <a:cs typeface="Times New Roman"/>
              </a:rPr>
              <a:t>E[(X-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E(X))</a:t>
            </a:r>
            <a:r>
              <a:rPr sz="2400" spc="-7" baseline="24305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Times New Roman"/>
                <a:cs typeface="Times New Roman"/>
              </a:rPr>
              <a:t>]=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E[X</a:t>
            </a:r>
            <a:r>
              <a:rPr sz="2400" baseline="24305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]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-(E[X])</a:t>
            </a:r>
            <a:r>
              <a:rPr sz="2400" spc="-7" baseline="24305" dirty="0">
                <a:latin typeface="Times New Roman"/>
                <a:cs typeface="Times New Roman"/>
              </a:rPr>
              <a:t>2</a:t>
            </a:r>
            <a:endParaRPr sz="2400" baseline="24305">
              <a:latin typeface="Times New Roman"/>
              <a:cs typeface="Times New Roman"/>
            </a:endParaRPr>
          </a:p>
          <a:p>
            <a:pPr marL="407670" marR="68580" indent="-344805">
              <a:lnSpc>
                <a:spcPts val="3120"/>
              </a:lnSpc>
              <a:spcBef>
                <a:spcPts val="530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standard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deviation</a:t>
            </a:r>
            <a:r>
              <a:rPr sz="2800" spc="-5" dirty="0">
                <a:latin typeface="Times New Roman"/>
                <a:cs typeface="Times New Roman"/>
              </a:rPr>
              <a:t> of X,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</a:t>
            </a:r>
            <a:r>
              <a:rPr sz="2850" baseline="-20467" dirty="0">
                <a:latin typeface="Times New Roman"/>
                <a:cs typeface="Times New Roman"/>
              </a:rPr>
              <a:t>X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 </a:t>
            </a:r>
            <a:r>
              <a:rPr sz="2800" spc="-10" dirty="0">
                <a:latin typeface="Times New Roman"/>
                <a:cs typeface="Times New Roman"/>
              </a:rPr>
              <a:t>defined </a:t>
            </a: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spc="-10" dirty="0">
                <a:latin typeface="Times New Roman"/>
                <a:cs typeface="Times New Roman"/>
              </a:rPr>
              <a:t>be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(Var[X])</a:t>
            </a:r>
            <a:r>
              <a:rPr sz="2850" baseline="23391" dirty="0">
                <a:latin typeface="Times New Roman"/>
                <a:cs typeface="Times New Roman"/>
              </a:rPr>
              <a:t>1/2</a:t>
            </a:r>
            <a:r>
              <a:rPr sz="280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2723" y="3467672"/>
            <a:ext cx="2920009" cy="5470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1151" y="1237487"/>
            <a:ext cx="635254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Indicator</a:t>
            </a:r>
            <a:r>
              <a:rPr spc="-20" dirty="0"/>
              <a:t> </a:t>
            </a:r>
            <a:r>
              <a:rPr spc="-5" dirty="0"/>
              <a:t>Random</a:t>
            </a:r>
            <a:r>
              <a:rPr spc="-20" dirty="0"/>
              <a:t> </a:t>
            </a:r>
            <a:r>
              <a:rPr spc="-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3263" y="2395726"/>
            <a:ext cx="7404734" cy="3773804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6870" marR="129539" indent="-344805">
              <a:lnSpc>
                <a:spcPct val="89700"/>
              </a:lnSpc>
              <a:spcBef>
                <a:spcPts val="484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order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analyze 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hiring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problem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need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convenient way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convert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between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probabilities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expectations.</a:t>
            </a:r>
            <a:endParaRPr sz="3200">
              <a:latin typeface="Times New Roman"/>
              <a:cs typeface="Times New Roman"/>
            </a:endParaRPr>
          </a:p>
          <a:p>
            <a:pPr marL="356870" marR="123189" indent="-344805">
              <a:lnSpc>
                <a:spcPts val="3460"/>
              </a:lnSpc>
              <a:spcBef>
                <a:spcPts val="815"/>
              </a:spcBef>
              <a:buChar char="•"/>
              <a:tabLst>
                <a:tab pos="356870" algn="l"/>
                <a:tab pos="357505" algn="l"/>
                <a:tab pos="5389880" algn="l"/>
              </a:tabLst>
            </a:pPr>
            <a:r>
              <a:rPr sz="3200" spc="-10" dirty="0">
                <a:latin typeface="Times New Roman"/>
                <a:cs typeface="Times New Roman"/>
              </a:rPr>
              <a:t>We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will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indicator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random	variables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help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do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this.</a:t>
            </a:r>
            <a:endParaRPr sz="3200">
              <a:latin typeface="Times New Roman"/>
              <a:cs typeface="Times New Roman"/>
            </a:endParaRPr>
          </a:p>
          <a:p>
            <a:pPr marL="356870" marR="5080" indent="-344805">
              <a:lnSpc>
                <a:spcPts val="3460"/>
              </a:lnSpc>
              <a:spcBef>
                <a:spcPts val="740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5" dirty="0">
                <a:latin typeface="Times New Roman"/>
                <a:cs typeface="Times New Roman"/>
              </a:rPr>
              <a:t>Given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sample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space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event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A.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indicator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random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variable </a:t>
            </a:r>
            <a:r>
              <a:rPr sz="3200" spc="-5" dirty="0">
                <a:latin typeface="Times New Roman"/>
                <a:cs typeface="Times New Roman"/>
              </a:rPr>
              <a:t>I{A}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associated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event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define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as: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5123" y="6172706"/>
            <a:ext cx="5233415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375" y="1237487"/>
            <a:ext cx="201104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2463" y="2435350"/>
            <a:ext cx="7366000" cy="3272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7670" marR="1104265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spc="-5" dirty="0">
                <a:latin typeface="Times New Roman"/>
                <a:cs typeface="Times New Roman"/>
              </a:rPr>
              <a:t>Suppose </a:t>
            </a:r>
            <a:r>
              <a:rPr sz="2800" dirty="0">
                <a:latin typeface="Times New Roman"/>
                <a:cs typeface="Times New Roman"/>
              </a:rPr>
              <a:t>our </a:t>
            </a:r>
            <a:r>
              <a:rPr sz="2800" spc="-5" dirty="0">
                <a:latin typeface="Times New Roman"/>
                <a:cs typeface="Times New Roman"/>
              </a:rPr>
              <a:t>sample space S={H,T} </a:t>
            </a:r>
            <a:r>
              <a:rPr sz="2800" spc="-10" dirty="0">
                <a:latin typeface="Times New Roman"/>
                <a:cs typeface="Times New Roman"/>
              </a:rPr>
              <a:t>with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Pr{H}=Pr{T}=1/2.</a:t>
            </a:r>
            <a:endParaRPr sz="2800">
              <a:latin typeface="Times New Roman"/>
              <a:cs typeface="Times New Roman"/>
            </a:endParaRPr>
          </a:p>
          <a:p>
            <a:pPr marL="407670" marR="198755" indent="-344805">
              <a:lnSpc>
                <a:spcPct val="100000"/>
              </a:lnSpc>
              <a:spcBef>
                <a:spcPts val="700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dirty="0">
                <a:latin typeface="Times New Roman"/>
                <a:cs typeface="Times New Roman"/>
              </a:rPr>
              <a:t>We can </a:t>
            </a:r>
            <a:r>
              <a:rPr sz="2800" spc="-5" dirty="0">
                <a:latin typeface="Times New Roman"/>
                <a:cs typeface="Times New Roman"/>
              </a:rPr>
              <a:t>define </a:t>
            </a:r>
            <a:r>
              <a:rPr sz="2800" dirty="0">
                <a:latin typeface="Times New Roman"/>
                <a:cs typeface="Times New Roman"/>
              </a:rPr>
              <a:t>an </a:t>
            </a:r>
            <a:r>
              <a:rPr sz="2800" spc="-5" dirty="0">
                <a:latin typeface="Times New Roman"/>
                <a:cs typeface="Times New Roman"/>
              </a:rPr>
              <a:t>indicator random </a:t>
            </a:r>
            <a:r>
              <a:rPr sz="2800" spc="-10" dirty="0">
                <a:latin typeface="Times New Roman"/>
                <a:cs typeface="Times New Roman"/>
              </a:rPr>
              <a:t>variable </a:t>
            </a: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50" baseline="-20467" dirty="0">
                <a:latin typeface="Times New Roman"/>
                <a:cs typeface="Times New Roman"/>
              </a:rPr>
              <a:t>H </a:t>
            </a:r>
            <a:r>
              <a:rPr sz="2850" spc="-690" baseline="-20467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associated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coin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coming up</a:t>
            </a:r>
            <a:r>
              <a:rPr sz="2800" spc="-10" dirty="0">
                <a:latin typeface="Times New Roman"/>
                <a:cs typeface="Times New Roman"/>
              </a:rPr>
              <a:t> heads: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407670" marR="17780" indent="-344805">
              <a:lnSpc>
                <a:spcPct val="100000"/>
              </a:lnSpc>
              <a:buChar char="•"/>
              <a:tabLst>
                <a:tab pos="407670" algn="l"/>
                <a:tab pos="408305" algn="l"/>
              </a:tabLst>
            </a:pP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expected number of heads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one coin flip is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Times New Roman"/>
                <a:cs typeface="Times New Roman"/>
              </a:rPr>
              <a:t>then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7123" y="4280386"/>
            <a:ext cx="3748013" cy="6213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6210" y="5524000"/>
            <a:ext cx="3925293" cy="13979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3263" y="1237487"/>
            <a:ext cx="256794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Lemma</a:t>
            </a:r>
            <a:r>
              <a:rPr spc="-90" dirty="0"/>
              <a:t> </a:t>
            </a:r>
            <a:r>
              <a:rPr spc="-5" dirty="0"/>
              <a:t>5.1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0926" rIns="0" bIns="0" rtlCol="0">
            <a:spAutoFit/>
          </a:bodyPr>
          <a:lstStyle/>
          <a:p>
            <a:pPr marL="356870" marR="30480" indent="-344805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Given</a:t>
            </a:r>
            <a:r>
              <a:rPr spc="5" dirty="0"/>
              <a:t> </a:t>
            </a:r>
            <a:r>
              <a:rPr spc="-5" dirty="0"/>
              <a:t>a</a:t>
            </a:r>
            <a:r>
              <a:rPr spc="5" dirty="0"/>
              <a:t> </a:t>
            </a:r>
            <a:r>
              <a:rPr spc="-5" dirty="0"/>
              <a:t>sample</a:t>
            </a:r>
            <a:r>
              <a:rPr spc="10" dirty="0"/>
              <a:t> </a:t>
            </a:r>
            <a:r>
              <a:rPr spc="-5" dirty="0"/>
              <a:t>space</a:t>
            </a:r>
            <a:r>
              <a:rPr spc="10" dirty="0"/>
              <a:t> </a:t>
            </a:r>
            <a:r>
              <a:rPr spc="-5" dirty="0"/>
              <a:t>S</a:t>
            </a:r>
            <a:r>
              <a:rPr spc="5" dirty="0"/>
              <a:t> </a:t>
            </a:r>
            <a:r>
              <a:rPr spc="-5" dirty="0"/>
              <a:t>and</a:t>
            </a:r>
            <a:r>
              <a:rPr spc="5" dirty="0"/>
              <a:t> </a:t>
            </a:r>
            <a:r>
              <a:rPr spc="-5" dirty="0"/>
              <a:t>an</a:t>
            </a:r>
            <a:r>
              <a:rPr spc="5" dirty="0"/>
              <a:t> </a:t>
            </a:r>
            <a:r>
              <a:rPr spc="-5" dirty="0"/>
              <a:t>event</a:t>
            </a:r>
            <a:r>
              <a:rPr dirty="0"/>
              <a:t> </a:t>
            </a:r>
            <a:r>
              <a:rPr spc="-10" dirty="0"/>
              <a:t>A</a:t>
            </a:r>
            <a:r>
              <a:rPr spc="5" dirty="0"/>
              <a:t> </a:t>
            </a:r>
            <a:r>
              <a:rPr spc="-5" dirty="0"/>
              <a:t>in</a:t>
            </a:r>
            <a:r>
              <a:rPr spc="5" dirty="0"/>
              <a:t> </a:t>
            </a:r>
            <a:r>
              <a:rPr spc="-5" dirty="0"/>
              <a:t>S, </a:t>
            </a:r>
            <a:r>
              <a:rPr spc="-785" dirty="0"/>
              <a:t> </a:t>
            </a:r>
            <a:r>
              <a:rPr spc="-10" dirty="0"/>
              <a:t>let </a:t>
            </a:r>
            <a:r>
              <a:rPr spc="-5" dirty="0"/>
              <a:t>X</a:t>
            </a:r>
            <a:r>
              <a:rPr sz="3150" spc="-7" baseline="-21164" dirty="0"/>
              <a:t>A</a:t>
            </a:r>
            <a:r>
              <a:rPr sz="3200" spc="-5" dirty="0"/>
              <a:t>=I{A}.</a:t>
            </a:r>
            <a:r>
              <a:rPr sz="3200" spc="5" dirty="0"/>
              <a:t> </a:t>
            </a:r>
            <a:r>
              <a:rPr sz="3200" spc="-5" dirty="0"/>
              <a:t>Then</a:t>
            </a:r>
            <a:r>
              <a:rPr sz="3200" spc="5" dirty="0"/>
              <a:t> </a:t>
            </a:r>
            <a:r>
              <a:rPr sz="3200" spc="-10" dirty="0"/>
              <a:t>E[X</a:t>
            </a:r>
            <a:r>
              <a:rPr sz="3150" spc="-15" baseline="-21164" dirty="0"/>
              <a:t>A</a:t>
            </a:r>
            <a:r>
              <a:rPr sz="3200" spc="-10" dirty="0"/>
              <a:t>]=Pr{A}.</a:t>
            </a:r>
            <a:endParaRPr sz="3200"/>
          </a:p>
          <a:p>
            <a:pPr marL="356870" marR="1203325" indent="-344805">
              <a:lnSpc>
                <a:spcPct val="100000"/>
              </a:lnSpc>
              <a:spcBef>
                <a:spcPts val="745"/>
              </a:spcBef>
            </a:pPr>
            <a:r>
              <a:rPr b="1" spc="-5" dirty="0">
                <a:latin typeface="Times New Roman"/>
                <a:cs typeface="Times New Roman"/>
              </a:rPr>
              <a:t>Proof: </a:t>
            </a:r>
            <a:r>
              <a:rPr spc="-5" dirty="0"/>
              <a:t>E[X</a:t>
            </a:r>
            <a:r>
              <a:rPr sz="3150" spc="-7" baseline="-21164" dirty="0"/>
              <a:t>A</a:t>
            </a:r>
            <a:r>
              <a:rPr sz="3200" spc="-5" dirty="0"/>
              <a:t>] = E[I{A}] = 1*Pr{A}+ </a:t>
            </a:r>
            <a:r>
              <a:rPr sz="3200" spc="-785" dirty="0"/>
              <a:t> </a:t>
            </a:r>
            <a:r>
              <a:rPr sz="3200" spc="-5" dirty="0"/>
              <a:t>0*Pr{A} =Pr{A}.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08847" y="404063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59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5575" y="1237487"/>
            <a:ext cx="566991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More</a:t>
            </a:r>
            <a:r>
              <a:rPr spc="-15" dirty="0"/>
              <a:t> </a:t>
            </a:r>
            <a:r>
              <a:rPr spc="-5" dirty="0"/>
              <a:t>Indicator</a:t>
            </a:r>
            <a:r>
              <a:rPr spc="-20" dirty="0"/>
              <a:t> </a:t>
            </a:r>
            <a:r>
              <a:rPr spc="-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2463" y="2435350"/>
            <a:ext cx="7418705" cy="2846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7670" marR="68580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spc="-5" dirty="0">
                <a:latin typeface="Times New Roman"/>
                <a:cs typeface="Times New Roman"/>
              </a:rPr>
              <a:t>Indicator random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variables are</a:t>
            </a:r>
            <a:r>
              <a:rPr sz="2800" dirty="0">
                <a:latin typeface="Times New Roman"/>
                <a:cs typeface="Times New Roman"/>
              </a:rPr>
              <a:t> more </a:t>
            </a:r>
            <a:r>
              <a:rPr sz="2800" spc="-5" dirty="0">
                <a:latin typeface="Times New Roman"/>
                <a:cs typeface="Times New Roman"/>
              </a:rPr>
              <a:t>useful if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0" dirty="0">
                <a:latin typeface="Times New Roman"/>
                <a:cs typeface="Times New Roman"/>
              </a:rPr>
              <a:t> dealing </a:t>
            </a:r>
            <a:r>
              <a:rPr sz="2800" spc="-5" dirty="0">
                <a:latin typeface="Times New Roman"/>
                <a:cs typeface="Times New Roman"/>
              </a:rPr>
              <a:t>with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coin</a:t>
            </a:r>
            <a:r>
              <a:rPr sz="2800" spc="-10" dirty="0">
                <a:latin typeface="Times New Roman"/>
                <a:cs typeface="Times New Roman"/>
              </a:rPr>
              <a:t> flip.</a:t>
            </a:r>
            <a:endParaRPr sz="2800">
              <a:latin typeface="Times New Roman"/>
              <a:cs typeface="Times New Roman"/>
            </a:endParaRPr>
          </a:p>
          <a:p>
            <a:pPr marL="407670" marR="94615" indent="-344805">
              <a:lnSpc>
                <a:spcPct val="100000"/>
              </a:lnSpc>
              <a:spcBef>
                <a:spcPts val="700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dirty="0">
                <a:latin typeface="Times New Roman"/>
                <a:cs typeface="Times New Roman"/>
              </a:rPr>
              <a:t>Let</a:t>
            </a:r>
            <a:r>
              <a:rPr sz="2800" spc="-5" dirty="0">
                <a:latin typeface="Times New Roman"/>
                <a:cs typeface="Times New Roman"/>
              </a:rPr>
              <a:t> X</a:t>
            </a:r>
            <a:r>
              <a:rPr sz="2850" spc="-7" baseline="-20467" dirty="0">
                <a:latin typeface="Times New Roman"/>
                <a:cs typeface="Times New Roman"/>
              </a:rPr>
              <a:t>i</a:t>
            </a:r>
            <a:r>
              <a:rPr sz="2850" spc="337" baseline="-20467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 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indicator that indicates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whether</a:t>
            </a:r>
            <a:r>
              <a:rPr sz="2800" spc="-10" dirty="0">
                <a:latin typeface="Times New Roman"/>
                <a:cs typeface="Times New Roman"/>
              </a:rPr>
              <a:t> the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result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i="1" spc="-15" dirty="0">
                <a:latin typeface="Times New Roman"/>
                <a:cs typeface="Times New Roman"/>
              </a:rPr>
              <a:t>i</a:t>
            </a:r>
            <a:r>
              <a:rPr sz="2800" spc="-15" dirty="0">
                <a:latin typeface="Times New Roman"/>
                <a:cs typeface="Times New Roman"/>
              </a:rPr>
              <a:t>th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flip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head.</a:t>
            </a:r>
            <a:endParaRPr sz="2800">
              <a:latin typeface="Times New Roman"/>
              <a:cs typeface="Times New Roman"/>
            </a:endParaRPr>
          </a:p>
          <a:p>
            <a:pPr marL="407670" indent="-344805">
              <a:lnSpc>
                <a:spcPct val="100000"/>
              </a:lnSpc>
              <a:spcBef>
                <a:spcPts val="670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Consider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random</a:t>
            </a:r>
            <a:r>
              <a:rPr sz="2800" spc="-10" dirty="0">
                <a:latin typeface="Times New Roman"/>
                <a:cs typeface="Times New Roman"/>
              </a:rPr>
              <a:t> variable:</a:t>
            </a:r>
            <a:endParaRPr sz="2800">
              <a:latin typeface="Times New Roman"/>
              <a:cs typeface="Times New Roman"/>
            </a:endParaRPr>
          </a:p>
          <a:p>
            <a:pPr marL="407670" indent="-344805">
              <a:lnSpc>
                <a:spcPct val="100000"/>
              </a:lnSpc>
              <a:spcBef>
                <a:spcPts val="670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expected number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head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n</a:t>
            </a:r>
            <a:r>
              <a:rPr sz="2800" i="1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tosses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is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1323" y="4191506"/>
            <a:ext cx="1307592" cy="7254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8923" y="5804433"/>
            <a:ext cx="5208520" cy="712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685800"/>
            <a:ext cx="8322691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90"/>
              </a:spcBef>
            </a:pPr>
            <a:r>
              <a:rPr b="1" spc="-5" dirty="0">
                <a:solidFill>
                  <a:srgbClr val="FF0000"/>
                </a:solidFill>
              </a:rPr>
              <a:t>Analysis</a:t>
            </a:r>
            <a:r>
              <a:rPr b="1" spc="5" dirty="0">
                <a:solidFill>
                  <a:srgbClr val="FF0000"/>
                </a:solidFill>
              </a:rPr>
              <a:t> </a:t>
            </a:r>
            <a:r>
              <a:rPr b="1" spc="-5" dirty="0">
                <a:solidFill>
                  <a:srgbClr val="FF0000"/>
                </a:solidFill>
              </a:rPr>
              <a:t>of</a:t>
            </a:r>
            <a:r>
              <a:rPr b="1" dirty="0">
                <a:solidFill>
                  <a:srgbClr val="FF0000"/>
                </a:solidFill>
              </a:rPr>
              <a:t> </a:t>
            </a:r>
            <a:r>
              <a:rPr b="1" spc="-5" dirty="0">
                <a:solidFill>
                  <a:srgbClr val="FF0000"/>
                </a:solidFill>
              </a:rPr>
              <a:t>the Hiring</a:t>
            </a:r>
            <a:r>
              <a:rPr b="1" spc="5" dirty="0">
                <a:solidFill>
                  <a:srgbClr val="FF0000"/>
                </a:solidFill>
              </a:rPr>
              <a:t> </a:t>
            </a:r>
            <a:r>
              <a:rPr b="1" spc="-5" dirty="0">
                <a:solidFill>
                  <a:srgbClr val="FF0000"/>
                </a:solidFill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2463" y="2404870"/>
            <a:ext cx="7620634" cy="433959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407670" marR="68580" indent="-344805">
              <a:lnSpc>
                <a:spcPts val="3020"/>
              </a:lnSpc>
              <a:spcBef>
                <a:spcPts val="490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dirty="0">
                <a:latin typeface="Times New Roman"/>
                <a:cs typeface="Times New Roman"/>
              </a:rPr>
              <a:t>Let</a:t>
            </a:r>
            <a:r>
              <a:rPr sz="2800" spc="-5" dirty="0">
                <a:latin typeface="Times New Roman"/>
                <a:cs typeface="Times New Roman"/>
              </a:rPr>
              <a:t> X</a:t>
            </a:r>
            <a:r>
              <a:rPr sz="2850" spc="-7" baseline="-20467" dirty="0">
                <a:latin typeface="Times New Roman"/>
                <a:cs typeface="Times New Roman"/>
              </a:rPr>
              <a:t>i</a:t>
            </a:r>
            <a:r>
              <a:rPr sz="2850" spc="330" baseline="-20467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 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indicator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random </a:t>
            </a:r>
            <a:r>
              <a:rPr sz="2800" spc="-10" dirty="0">
                <a:latin typeface="Times New Roman"/>
                <a:cs typeface="Times New Roman"/>
              </a:rPr>
              <a:t>variable </a:t>
            </a:r>
            <a:r>
              <a:rPr sz="2800" spc="-5" dirty="0">
                <a:latin typeface="Times New Roman"/>
                <a:cs typeface="Times New Roman"/>
              </a:rPr>
              <a:t>which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candidate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</a:t>
            </a:r>
            <a:r>
              <a:rPr sz="2800" i="1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hired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</a:t>
            </a:r>
            <a:r>
              <a:rPr sz="2800" spc="-10" dirty="0">
                <a:latin typeface="Times New Roman"/>
                <a:cs typeface="Times New Roman"/>
              </a:rPr>
              <a:t> otherwise.</a:t>
            </a:r>
            <a:endParaRPr sz="2800">
              <a:latin typeface="Times New Roman"/>
              <a:cs typeface="Times New Roman"/>
            </a:endParaRPr>
          </a:p>
          <a:p>
            <a:pPr marL="407670" indent="-344805">
              <a:lnSpc>
                <a:spcPct val="100000"/>
              </a:lnSpc>
              <a:spcBef>
                <a:spcPts val="295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spc="-25" dirty="0">
                <a:latin typeface="Times New Roman"/>
                <a:cs typeface="Times New Roman"/>
              </a:rPr>
              <a:t>Let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3500">
              <a:latin typeface="Times New Roman"/>
              <a:cs typeface="Times New Roman"/>
            </a:endParaRPr>
          </a:p>
          <a:p>
            <a:pPr marL="407670" indent="-344805">
              <a:lnSpc>
                <a:spcPct val="100000"/>
              </a:lnSpc>
              <a:buChar char="•"/>
              <a:tabLst>
                <a:tab pos="407670" algn="l"/>
                <a:tab pos="408305" algn="l"/>
              </a:tabLst>
            </a:pPr>
            <a:r>
              <a:rPr sz="2800" spc="-5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our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lemma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E[X</a:t>
            </a:r>
            <a:r>
              <a:rPr sz="2850" baseline="-20467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]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Pr{candidate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</a:t>
            </a:r>
            <a:r>
              <a:rPr sz="2800" i="1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hired}</a:t>
            </a:r>
            <a:endParaRPr sz="2800">
              <a:latin typeface="Times New Roman"/>
              <a:cs typeface="Times New Roman"/>
            </a:endParaRPr>
          </a:p>
          <a:p>
            <a:pPr marL="407670" marR="157480" indent="-344805">
              <a:lnSpc>
                <a:spcPts val="3020"/>
              </a:lnSpc>
              <a:spcBef>
                <a:spcPts val="745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spc="-10" dirty="0">
                <a:latin typeface="Times New Roman"/>
                <a:cs typeface="Times New Roman"/>
              </a:rPr>
              <a:t>Candidate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</a:t>
            </a:r>
            <a:r>
              <a:rPr sz="2800" i="1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will be hired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if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</a:t>
            </a:r>
            <a:r>
              <a:rPr sz="2800" i="1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better </a:t>
            </a:r>
            <a:r>
              <a:rPr sz="2800" spc="-5" dirty="0">
                <a:latin typeface="Times New Roman"/>
                <a:cs typeface="Times New Roman"/>
              </a:rPr>
              <a:t>than each </a:t>
            </a:r>
            <a:r>
              <a:rPr sz="2800" spc="-10" dirty="0">
                <a:latin typeface="Times New Roman"/>
                <a:cs typeface="Times New Roman"/>
              </a:rPr>
              <a:t>of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candidates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through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-1.</a:t>
            </a:r>
            <a:endParaRPr sz="2800">
              <a:latin typeface="Times New Roman"/>
              <a:cs typeface="Times New Roman"/>
            </a:endParaRPr>
          </a:p>
          <a:p>
            <a:pPr marL="407670" marR="340995" indent="-344805">
              <a:lnSpc>
                <a:spcPts val="3020"/>
              </a:lnSpc>
              <a:spcBef>
                <a:spcPts val="680"/>
              </a:spcBef>
              <a:buChar char="•"/>
              <a:tabLst>
                <a:tab pos="407670" algn="l"/>
                <a:tab pos="408305" algn="l"/>
              </a:tabLst>
            </a:pPr>
            <a:r>
              <a:rPr sz="2800" spc="-5" dirty="0">
                <a:latin typeface="Times New Roman"/>
                <a:cs typeface="Times New Roman"/>
              </a:rPr>
              <a:t>As each candidate arrives</a:t>
            </a:r>
            <a:r>
              <a:rPr sz="2800" dirty="0">
                <a:latin typeface="Times New Roman"/>
                <a:cs typeface="Times New Roman"/>
              </a:rPr>
              <a:t> in</a:t>
            </a:r>
            <a:r>
              <a:rPr sz="2800" spc="-5" dirty="0">
                <a:latin typeface="Times New Roman"/>
                <a:cs typeface="Times New Roman"/>
              </a:rPr>
              <a:t> random order,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any </a:t>
            </a:r>
            <a:r>
              <a:rPr sz="2800" dirty="0">
                <a:latin typeface="Times New Roman"/>
                <a:cs typeface="Times New Roman"/>
              </a:rPr>
              <a:t> one of </a:t>
            </a:r>
            <a:r>
              <a:rPr sz="2800" spc="-5" dirty="0">
                <a:latin typeface="Times New Roman"/>
                <a:cs typeface="Times New Roman"/>
              </a:rPr>
              <a:t>the first candidate </a:t>
            </a:r>
            <a:r>
              <a:rPr sz="2800" dirty="0">
                <a:latin typeface="Times New Roman"/>
                <a:cs typeface="Times New Roman"/>
              </a:rPr>
              <a:t>i is </a:t>
            </a:r>
            <a:r>
              <a:rPr sz="2800" spc="-5" dirty="0">
                <a:latin typeface="Times New Roman"/>
                <a:cs typeface="Times New Roman"/>
              </a:rPr>
              <a:t>equally likely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be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candidate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far.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E[X</a:t>
            </a:r>
            <a:r>
              <a:rPr sz="2850" baseline="-20467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]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=1/</a:t>
            </a:r>
            <a:r>
              <a:rPr sz="2800" i="1" spc="-5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0218" y="3518433"/>
            <a:ext cx="1256811" cy="712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6614" y="1143000"/>
            <a:ext cx="8277353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b="1" spc="-10" dirty="0">
                <a:solidFill>
                  <a:srgbClr val="FF0000"/>
                </a:solidFill>
              </a:rPr>
              <a:t>More</a:t>
            </a:r>
            <a:r>
              <a:rPr b="1" spc="-5" dirty="0">
                <a:solidFill>
                  <a:srgbClr val="FF0000"/>
                </a:solidFill>
              </a:rPr>
              <a:t> analysis</a:t>
            </a:r>
            <a:r>
              <a:rPr b="1" spc="-20" dirty="0">
                <a:solidFill>
                  <a:srgbClr val="FF0000"/>
                </a:solidFill>
              </a:rPr>
              <a:t> </a:t>
            </a:r>
            <a:r>
              <a:rPr b="1" spc="-5" dirty="0">
                <a:solidFill>
                  <a:srgbClr val="FF0000"/>
                </a:solidFill>
              </a:rPr>
              <a:t>of</a:t>
            </a:r>
            <a:r>
              <a:rPr b="1" spc="-10" dirty="0">
                <a:solidFill>
                  <a:srgbClr val="FF0000"/>
                </a:solidFill>
              </a:rPr>
              <a:t> </a:t>
            </a:r>
            <a:r>
              <a:rPr b="1" spc="-5" dirty="0">
                <a:solidFill>
                  <a:srgbClr val="FF0000"/>
                </a:solidFill>
              </a:rPr>
              <a:t>hiring 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7863" y="3465574"/>
            <a:ext cx="7565390" cy="27984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82270" marR="30480" indent="-344805">
              <a:lnSpc>
                <a:spcPct val="89700"/>
              </a:lnSpc>
              <a:spcBef>
                <a:spcPts val="484"/>
              </a:spcBef>
            </a:pPr>
            <a:r>
              <a:rPr sz="3200" b="1" spc="-5" dirty="0">
                <a:latin typeface="Times New Roman"/>
                <a:cs typeface="Times New Roman"/>
              </a:rPr>
              <a:t>Lemma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Assume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that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candidates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presented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random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order,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algorithm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Hire-Assistant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hiring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cost of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O(c</a:t>
            </a:r>
            <a:r>
              <a:rPr sz="3150" baseline="-21164" dirty="0">
                <a:latin typeface="Times New Roman"/>
                <a:cs typeface="Times New Roman"/>
              </a:rPr>
              <a:t>h</a:t>
            </a:r>
            <a:r>
              <a:rPr sz="3200" dirty="0">
                <a:latin typeface="Times New Roman"/>
                <a:cs typeface="Times New Roman"/>
              </a:rPr>
              <a:t>ln </a:t>
            </a:r>
            <a:r>
              <a:rPr sz="3200" spc="-5" dirty="0">
                <a:latin typeface="Times New Roman"/>
                <a:cs typeface="Times New Roman"/>
              </a:rPr>
              <a:t>n)</a:t>
            </a:r>
            <a:endParaRPr sz="3200" dirty="0">
              <a:latin typeface="Times New Roman"/>
              <a:cs typeface="Times New Roman"/>
            </a:endParaRPr>
          </a:p>
          <a:p>
            <a:pPr marL="382270" marR="313690" indent="-344805">
              <a:lnSpc>
                <a:spcPct val="89700"/>
              </a:lnSpc>
              <a:spcBef>
                <a:spcPts val="780"/>
              </a:spcBef>
            </a:pPr>
            <a:r>
              <a:rPr sz="3200" b="1" spc="-5" dirty="0">
                <a:latin typeface="Times New Roman"/>
                <a:cs typeface="Times New Roman"/>
              </a:rPr>
              <a:t>Proof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From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before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hiring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O(m*c</a:t>
            </a:r>
            <a:r>
              <a:rPr sz="3150" baseline="-21164" dirty="0">
                <a:latin typeface="Times New Roman"/>
                <a:cs typeface="Times New Roman"/>
              </a:rPr>
              <a:t>h</a:t>
            </a:r>
            <a:r>
              <a:rPr sz="3200" dirty="0">
                <a:latin typeface="Times New Roman"/>
                <a:cs typeface="Times New Roman"/>
              </a:rPr>
              <a:t>)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where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number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candidate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hired.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lemma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O(ln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n).</a:t>
            </a:r>
            <a:endParaRPr sz="3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5047" y="2299233"/>
            <a:ext cx="5981700" cy="712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</TotalTime>
  <Words>1986</Words>
  <Application>Microsoft Office PowerPoint</Application>
  <PresentationFormat>Custom</PresentationFormat>
  <Paragraphs>170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Outline</vt:lpstr>
      <vt:lpstr>The Hiring Problem</vt:lpstr>
      <vt:lpstr>Pseudo-Code</vt:lpstr>
      <vt:lpstr>Algorithm :</vt:lpstr>
      <vt:lpstr>PowerPoint Presentation</vt:lpstr>
      <vt:lpstr>PowerPoint Presentation</vt:lpstr>
      <vt:lpstr>Total Cost and Cost of Hiring</vt:lpstr>
      <vt:lpstr>Worst-case Analysis</vt:lpstr>
      <vt:lpstr>Probabilistic analysis</vt:lpstr>
      <vt:lpstr>Randomized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 advanced Learners….. </vt:lpstr>
      <vt:lpstr>Distributions</vt:lpstr>
      <vt:lpstr>Conditional Probability and  Independence</vt:lpstr>
      <vt:lpstr>Discrete Random Variables</vt:lpstr>
      <vt:lpstr>Expectation and Variance</vt:lpstr>
      <vt:lpstr>Indicator Random Variables</vt:lpstr>
      <vt:lpstr>Example</vt:lpstr>
      <vt:lpstr>Lemma 5.1</vt:lpstr>
      <vt:lpstr>More Indicator Variables</vt:lpstr>
      <vt:lpstr>Analysis of the Hiring Problem</vt:lpstr>
      <vt:lpstr>More analysis of hiring problem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CS255Jan30.ppt</dc:title>
  <dc:creator>Chris Pollett</dc:creator>
  <cp:lastModifiedBy>HP</cp:lastModifiedBy>
  <cp:revision>13</cp:revision>
  <dcterms:created xsi:type="dcterms:W3CDTF">2023-03-21T04:38:32Z</dcterms:created>
  <dcterms:modified xsi:type="dcterms:W3CDTF">2024-04-08T01:26:02Z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2006-01-30T00:00:00Z</vt:filetime>
  </property>
  <property fmtid="{D5CDD505-2E9C-101B-9397-08002B2CF9AE}" pid="3" name="Creator">
    <vt:lpwstr>PowerPoint</vt:lpwstr>
  </property>
  <property fmtid="{D5CDD505-2E9C-101B-9397-08002B2CF9AE}" pid="4" name="LastSaved">
    <vt:filetime>2023-03-21T00:00:00Z</vt:filetime>
  </property>
</Properties>
</file>