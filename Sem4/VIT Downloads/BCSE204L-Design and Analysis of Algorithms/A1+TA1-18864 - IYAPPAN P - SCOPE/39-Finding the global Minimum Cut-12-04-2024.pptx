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79" r:id="rId4"/>
    <p:sldId id="281" r:id="rId5"/>
    <p:sldId id="258" r:id="rId6"/>
    <p:sldId id="259" r:id="rId7"/>
    <p:sldId id="260" r:id="rId8"/>
    <p:sldId id="275" r:id="rId9"/>
    <p:sldId id="276" r:id="rId10"/>
    <p:sldId id="277" r:id="rId11"/>
    <p:sldId id="278" r:id="rId12"/>
    <p:sldId id="269" r:id="rId13"/>
    <p:sldId id="272" r:id="rId14"/>
    <p:sldId id="273" r:id="rId15"/>
    <p:sldId id="270" r:id="rId16"/>
    <p:sldId id="282" r:id="rId17"/>
    <p:sldId id="283" r:id="rId18"/>
    <p:sldId id="284" r:id="rId19"/>
    <p:sldId id="285" r:id="rId20"/>
    <p:sldId id="286" r:id="rId21"/>
    <p:sldId id="265" r:id="rId22"/>
    <p:sldId id="266" r:id="rId23"/>
    <p:sldId id="267" r:id="rId24"/>
    <p:sldId id="268" r:id="rId2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5" d="100"/>
          <a:sy n="65" d="100"/>
        </p:scale>
        <p:origin x="-1452" y="-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8E08A0-C342-4612-90EF-5DD40A565C1F}" type="datetimeFigureOut">
              <a:rPr lang="en-IN" smtClean="0"/>
              <a:t>09-04-2024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D0666-7565-4FB6-B491-F6758F6C45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223390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8E08A0-C342-4612-90EF-5DD40A565C1F}" type="datetimeFigureOut">
              <a:rPr lang="en-IN" smtClean="0"/>
              <a:t>09-04-2024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D0666-7565-4FB6-B491-F6758F6C45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901543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8E08A0-C342-4612-90EF-5DD40A565C1F}" type="datetimeFigureOut">
              <a:rPr lang="en-IN" smtClean="0"/>
              <a:t>09-04-2024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D0666-7565-4FB6-B491-F6758F6C45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36610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8E08A0-C342-4612-90EF-5DD40A565C1F}" type="datetimeFigureOut">
              <a:rPr lang="en-IN" smtClean="0"/>
              <a:t>09-04-2024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D0666-7565-4FB6-B491-F6758F6C45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659663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8E08A0-C342-4612-90EF-5DD40A565C1F}" type="datetimeFigureOut">
              <a:rPr lang="en-IN" smtClean="0"/>
              <a:t>09-04-2024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D0666-7565-4FB6-B491-F6758F6C45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763938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8E08A0-C342-4612-90EF-5DD40A565C1F}" type="datetimeFigureOut">
              <a:rPr lang="en-IN" smtClean="0"/>
              <a:t>09-04-2024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D0666-7565-4FB6-B491-F6758F6C45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26049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8E08A0-C342-4612-90EF-5DD40A565C1F}" type="datetimeFigureOut">
              <a:rPr lang="en-IN" smtClean="0"/>
              <a:t>09-04-2024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D0666-7565-4FB6-B491-F6758F6C45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428541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8E08A0-C342-4612-90EF-5DD40A565C1F}" type="datetimeFigureOut">
              <a:rPr lang="en-IN" smtClean="0"/>
              <a:t>09-04-2024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D0666-7565-4FB6-B491-F6758F6C45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642371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8E08A0-C342-4612-90EF-5DD40A565C1F}" type="datetimeFigureOut">
              <a:rPr lang="en-IN" smtClean="0"/>
              <a:t>09-04-2024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D0666-7565-4FB6-B491-F6758F6C45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896651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8E08A0-C342-4612-90EF-5DD40A565C1F}" type="datetimeFigureOut">
              <a:rPr lang="en-IN" smtClean="0"/>
              <a:t>09-04-2024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D0666-7565-4FB6-B491-F6758F6C45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540636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8E08A0-C342-4612-90EF-5DD40A565C1F}" type="datetimeFigureOut">
              <a:rPr lang="en-IN" smtClean="0"/>
              <a:t>09-04-2024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D0666-7565-4FB6-B491-F6758F6C45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223950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8E08A0-C342-4612-90EF-5DD40A565C1F}" type="datetimeFigureOut">
              <a:rPr lang="en-IN" smtClean="0"/>
              <a:t>09-04-2024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ED0666-7565-4FB6-B491-F6758F6C45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760217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hyperlink" Target="https://www.geeksforgeeks.org/monte-carlo-integration-in-python/" TargetMode="Externa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3568" y="1628800"/>
            <a:ext cx="7772400" cy="1470025"/>
          </a:xfrm>
        </p:spPr>
        <p:txBody>
          <a:bodyPr/>
          <a:lstStyle/>
          <a:p>
            <a:r>
              <a:rPr lang="en-US" dirty="0" smtClean="0"/>
              <a:t>Randomized Algorithms</a:t>
            </a: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75656" y="3068960"/>
            <a:ext cx="6400800" cy="1752600"/>
          </a:xfrm>
        </p:spPr>
        <p:txBody>
          <a:bodyPr/>
          <a:lstStyle/>
          <a:p>
            <a:r>
              <a:rPr lang="en-US" b="1" dirty="0" smtClean="0">
                <a:solidFill>
                  <a:srgbClr val="FF0000"/>
                </a:solidFill>
              </a:rPr>
              <a:t>Global Minimum Cut Algorithm</a:t>
            </a:r>
            <a:endParaRPr lang="en-IN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82676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/>
          </p:cNvSpPr>
          <p:nvPr/>
        </p:nvSpPr>
        <p:spPr>
          <a:xfrm>
            <a:off x="457200" y="704850"/>
            <a:ext cx="8229600" cy="114300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 smtClean="0"/>
              <a:t>The global min cut problem</a:t>
            </a:r>
            <a:endParaRPr lang="en-US" altLang="en-US" dirty="0"/>
          </a:p>
        </p:txBody>
      </p:sp>
      <p:sp>
        <p:nvSpPr>
          <p:cNvPr id="3" name="Content Placeholder 7"/>
          <p:cNvSpPr txBox="1">
            <a:spLocks/>
          </p:cNvSpPr>
          <p:nvPr/>
        </p:nvSpPr>
        <p:spPr>
          <a:xfrm>
            <a:off x="457200" y="1920875"/>
            <a:ext cx="4038600" cy="4433888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 b="1" smtClean="0"/>
              <a:t>Input: </a:t>
            </a:r>
            <a:r>
              <a:rPr lang="en-US" altLang="en-US" smtClean="0"/>
              <a:t>A connected undirected multigraph </a:t>
            </a:r>
            <a:r>
              <a:rPr lang="en-US" altLang="en-US" i="1" smtClean="0"/>
              <a:t>G(V, E)</a:t>
            </a:r>
            <a:r>
              <a:rPr lang="en-US" altLang="en-US" smtClean="0"/>
              <a:t>.</a:t>
            </a:r>
          </a:p>
          <a:p>
            <a:r>
              <a:rPr lang="en-US" altLang="en-US" b="1" smtClean="0"/>
              <a:t>Output: </a:t>
            </a:r>
            <a:r>
              <a:rPr lang="en-US" altLang="en-US" smtClean="0"/>
              <a:t>A minimum cardinality subset of edges whose removal makes </a:t>
            </a:r>
            <a:r>
              <a:rPr lang="en-US" altLang="en-US" i="1" smtClean="0"/>
              <a:t>G</a:t>
            </a:r>
            <a:r>
              <a:rPr lang="en-US" altLang="en-US" smtClean="0"/>
              <a:t> disconnected.</a:t>
            </a:r>
            <a:endParaRPr lang="en-US" altLang="en-US" b="1"/>
          </a:p>
        </p:txBody>
      </p:sp>
      <p:grpSp>
        <p:nvGrpSpPr>
          <p:cNvPr id="4" name="Group 45"/>
          <p:cNvGrpSpPr>
            <a:grpSpLocks/>
          </p:cNvGrpSpPr>
          <p:nvPr/>
        </p:nvGrpSpPr>
        <p:grpSpPr bwMode="auto">
          <a:xfrm>
            <a:off x="5715000" y="2819400"/>
            <a:ext cx="2355850" cy="2208213"/>
            <a:chOff x="5667375" y="2772902"/>
            <a:chExt cx="1619250" cy="1534256"/>
          </a:xfrm>
        </p:grpSpPr>
        <p:cxnSp>
          <p:nvCxnSpPr>
            <p:cNvPr id="5" name="Straight Connector 4"/>
            <p:cNvCxnSpPr/>
            <p:nvPr/>
          </p:nvCxnSpPr>
          <p:spPr>
            <a:xfrm>
              <a:off x="5790674" y="2971440"/>
              <a:ext cx="915465" cy="220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/>
            <p:cNvCxnSpPr/>
            <p:nvPr/>
          </p:nvCxnSpPr>
          <p:spPr>
            <a:xfrm rot="16200000" flipH="1">
              <a:off x="5752344" y="3009769"/>
              <a:ext cx="533846" cy="457187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/>
            <p:cNvCxnSpPr/>
            <p:nvPr/>
          </p:nvCxnSpPr>
          <p:spPr>
            <a:xfrm rot="5400000">
              <a:off x="6210077" y="3009224"/>
              <a:ext cx="533846" cy="45827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/>
            <p:cNvCxnSpPr/>
            <p:nvPr/>
          </p:nvCxnSpPr>
          <p:spPr>
            <a:xfrm rot="16200000" flipH="1">
              <a:off x="6667810" y="3009769"/>
              <a:ext cx="533846" cy="45718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rot="5400000">
              <a:off x="6667810" y="3543615"/>
              <a:ext cx="533846" cy="45718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rot="16200000" flipH="1">
              <a:off x="6210077" y="3543070"/>
              <a:ext cx="533846" cy="45827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>
              <a:off x="6247861" y="3505286"/>
              <a:ext cx="915466" cy="110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Freeform 11"/>
            <p:cNvSpPr/>
            <p:nvPr/>
          </p:nvSpPr>
          <p:spPr>
            <a:xfrm>
              <a:off x="6242405" y="3505286"/>
              <a:ext cx="463734" cy="539361"/>
            </a:xfrm>
            <a:custGeom>
              <a:avLst/>
              <a:gdLst>
                <a:gd name="connsiteX0" fmla="*/ 0 w 463550"/>
                <a:gd name="connsiteY0" fmla="*/ 0 h 539750"/>
                <a:gd name="connsiteX1" fmla="*/ 203200 w 463550"/>
                <a:gd name="connsiteY1" fmla="*/ 330200 h 539750"/>
                <a:gd name="connsiteX2" fmla="*/ 463550 w 463550"/>
                <a:gd name="connsiteY2" fmla="*/ 539750 h 539750"/>
                <a:gd name="connsiteX3" fmla="*/ 463550 w 463550"/>
                <a:gd name="connsiteY3" fmla="*/ 539750 h 5397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63550" h="539750">
                  <a:moveTo>
                    <a:pt x="0" y="0"/>
                  </a:moveTo>
                  <a:cubicBezTo>
                    <a:pt x="62971" y="120121"/>
                    <a:pt x="125942" y="240242"/>
                    <a:pt x="203200" y="330200"/>
                  </a:cubicBezTo>
                  <a:cubicBezTo>
                    <a:pt x="280458" y="420158"/>
                    <a:pt x="463550" y="539750"/>
                    <a:pt x="463550" y="539750"/>
                  </a:cubicBezTo>
                  <a:lnTo>
                    <a:pt x="463550" y="539750"/>
                  </a:lnTo>
                </a:path>
              </a:pathLst>
            </a:cu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3" name="Freeform 12"/>
            <p:cNvSpPr/>
            <p:nvPr/>
          </p:nvSpPr>
          <p:spPr>
            <a:xfrm>
              <a:off x="5790674" y="2908570"/>
              <a:ext cx="908918" cy="57355"/>
            </a:xfrm>
            <a:custGeom>
              <a:avLst/>
              <a:gdLst>
                <a:gd name="connsiteX0" fmla="*/ 0 w 908050"/>
                <a:gd name="connsiteY0" fmla="*/ 57150 h 57150"/>
                <a:gd name="connsiteX1" fmla="*/ 482600 w 908050"/>
                <a:gd name="connsiteY1" fmla="*/ 0 h 57150"/>
                <a:gd name="connsiteX2" fmla="*/ 908050 w 908050"/>
                <a:gd name="connsiteY2" fmla="*/ 57150 h 57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08050" h="57150">
                  <a:moveTo>
                    <a:pt x="0" y="57150"/>
                  </a:moveTo>
                  <a:cubicBezTo>
                    <a:pt x="165629" y="28575"/>
                    <a:pt x="331258" y="0"/>
                    <a:pt x="482600" y="0"/>
                  </a:cubicBezTo>
                  <a:cubicBezTo>
                    <a:pt x="633942" y="0"/>
                    <a:pt x="770996" y="28575"/>
                    <a:pt x="908050" y="57150"/>
                  </a:cubicBezTo>
                </a:path>
              </a:pathLst>
            </a:cu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4" name="Freeform 13"/>
            <p:cNvSpPr/>
            <p:nvPr/>
          </p:nvSpPr>
          <p:spPr>
            <a:xfrm flipV="1">
              <a:off x="5797221" y="2971440"/>
              <a:ext cx="908918" cy="57355"/>
            </a:xfrm>
            <a:custGeom>
              <a:avLst/>
              <a:gdLst>
                <a:gd name="connsiteX0" fmla="*/ 0 w 908050"/>
                <a:gd name="connsiteY0" fmla="*/ 57150 h 57150"/>
                <a:gd name="connsiteX1" fmla="*/ 482600 w 908050"/>
                <a:gd name="connsiteY1" fmla="*/ 0 h 57150"/>
                <a:gd name="connsiteX2" fmla="*/ 908050 w 908050"/>
                <a:gd name="connsiteY2" fmla="*/ 57150 h 57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08050" h="57150">
                  <a:moveTo>
                    <a:pt x="0" y="57150"/>
                  </a:moveTo>
                  <a:cubicBezTo>
                    <a:pt x="165629" y="28575"/>
                    <a:pt x="331258" y="0"/>
                    <a:pt x="482600" y="0"/>
                  </a:cubicBezTo>
                  <a:cubicBezTo>
                    <a:pt x="633942" y="0"/>
                    <a:pt x="770996" y="28575"/>
                    <a:pt x="908050" y="57150"/>
                  </a:cubicBezTo>
                </a:path>
              </a:pathLst>
            </a:cu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5" name="TextBox 40"/>
            <p:cNvSpPr txBox="1">
              <a:spLocks noChangeArrowheads="1"/>
            </p:cNvSpPr>
            <p:nvPr/>
          </p:nvSpPr>
          <p:spPr bwMode="auto">
            <a:xfrm>
              <a:off x="5667375" y="2772903"/>
              <a:ext cx="15240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onstantia" pitchFamily="18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nstantia" pitchFamily="18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nstantia" pitchFamily="18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nstantia" pitchFamily="18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nstantia" pitchFamily="18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nstantia" pitchFamily="18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nstantia" pitchFamily="18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nstantia" pitchFamily="18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nstantia" pitchFamily="18" charset="0"/>
                </a:defRPr>
              </a:lvl9pPr>
            </a:lstStyle>
            <a:p>
              <a:r>
                <a:rPr lang="en-US" altLang="en-US" i="1"/>
                <a:t>a</a:t>
              </a:r>
            </a:p>
          </p:txBody>
        </p:sp>
        <p:sp>
          <p:nvSpPr>
            <p:cNvPr id="16" name="TextBox 41"/>
            <p:cNvSpPr txBox="1">
              <a:spLocks noChangeArrowheads="1"/>
            </p:cNvSpPr>
            <p:nvPr/>
          </p:nvSpPr>
          <p:spPr bwMode="auto">
            <a:xfrm>
              <a:off x="6662738" y="2772902"/>
              <a:ext cx="15240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onstantia" pitchFamily="18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nstantia" pitchFamily="18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nstantia" pitchFamily="18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nstantia" pitchFamily="18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nstantia" pitchFamily="18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nstantia" pitchFamily="18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nstantia" pitchFamily="18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nstantia" pitchFamily="18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nstantia" pitchFamily="18" charset="0"/>
                </a:defRPr>
              </a:lvl9pPr>
            </a:lstStyle>
            <a:p>
              <a:r>
                <a:rPr lang="en-US" altLang="en-US" i="1"/>
                <a:t>b</a:t>
              </a:r>
            </a:p>
          </p:txBody>
        </p:sp>
        <p:sp>
          <p:nvSpPr>
            <p:cNvPr id="17" name="TextBox 42"/>
            <p:cNvSpPr txBox="1">
              <a:spLocks noChangeArrowheads="1"/>
            </p:cNvSpPr>
            <p:nvPr/>
          </p:nvSpPr>
          <p:spPr bwMode="auto">
            <a:xfrm>
              <a:off x="6034088" y="3355364"/>
              <a:ext cx="15240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onstantia" pitchFamily="18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nstantia" pitchFamily="18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nstantia" pitchFamily="18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nstantia" pitchFamily="18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nstantia" pitchFamily="18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nstantia" pitchFamily="18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nstantia" pitchFamily="18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nstantia" pitchFamily="18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nstantia" pitchFamily="18" charset="0"/>
                </a:defRPr>
              </a:lvl9pPr>
            </a:lstStyle>
            <a:p>
              <a:r>
                <a:rPr lang="en-US" altLang="en-US" i="1"/>
                <a:t>c</a:t>
              </a:r>
            </a:p>
          </p:txBody>
        </p:sp>
        <p:sp>
          <p:nvSpPr>
            <p:cNvPr id="18" name="TextBox 43"/>
            <p:cNvSpPr txBox="1">
              <a:spLocks noChangeArrowheads="1"/>
            </p:cNvSpPr>
            <p:nvPr/>
          </p:nvSpPr>
          <p:spPr bwMode="auto">
            <a:xfrm>
              <a:off x="7134225" y="3355364"/>
              <a:ext cx="15240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onstantia" pitchFamily="18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nstantia" pitchFamily="18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nstantia" pitchFamily="18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nstantia" pitchFamily="18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nstantia" pitchFamily="18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nstantia" pitchFamily="18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nstantia" pitchFamily="18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nstantia" pitchFamily="18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nstantia" pitchFamily="18" charset="0"/>
                </a:defRPr>
              </a:lvl9pPr>
            </a:lstStyle>
            <a:p>
              <a:r>
                <a:rPr lang="en-US" altLang="en-US" i="1"/>
                <a:t>d</a:t>
              </a:r>
            </a:p>
          </p:txBody>
        </p:sp>
        <p:sp>
          <p:nvSpPr>
            <p:cNvPr id="19" name="TextBox 44"/>
            <p:cNvSpPr txBox="1">
              <a:spLocks noChangeArrowheads="1"/>
            </p:cNvSpPr>
            <p:nvPr/>
          </p:nvSpPr>
          <p:spPr bwMode="auto">
            <a:xfrm>
              <a:off x="6662737" y="3937826"/>
              <a:ext cx="15240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onstantia" pitchFamily="18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nstantia" pitchFamily="18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nstantia" pitchFamily="18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nstantia" pitchFamily="18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nstantia" pitchFamily="18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nstantia" pitchFamily="18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nstantia" pitchFamily="18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nstantia" pitchFamily="18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nstantia" pitchFamily="18" charset="0"/>
                </a:defRPr>
              </a:lvl9pPr>
            </a:lstStyle>
            <a:p>
              <a:r>
                <a:rPr lang="en-US" altLang="en-US" i="1"/>
                <a:t>x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8441173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6" y="1124744"/>
            <a:ext cx="3685451" cy="38343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30502" y="1474223"/>
            <a:ext cx="4057598" cy="41150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5436096" y="5301208"/>
            <a:ext cx="30963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MULTI GRAPH</a:t>
            </a:r>
            <a:endParaRPr lang="en-IN" dirty="0"/>
          </a:p>
        </p:txBody>
      </p:sp>
      <p:sp>
        <p:nvSpPr>
          <p:cNvPr id="3" name="TextBox 2"/>
          <p:cNvSpPr txBox="1"/>
          <p:nvPr/>
        </p:nvSpPr>
        <p:spPr>
          <a:xfrm>
            <a:off x="755576" y="4959102"/>
            <a:ext cx="26642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UN DIRECTED GRAPH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733383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987824" y="4005064"/>
            <a:ext cx="36724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Multi Graph with Source and Sink</a:t>
            </a:r>
            <a:endParaRPr lang="en-IN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2947" y="404664"/>
            <a:ext cx="7662161" cy="34563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4423708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71869" y="116632"/>
            <a:ext cx="8280920" cy="56938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 smtClean="0"/>
              <a:t>Given an </a:t>
            </a:r>
            <a:r>
              <a:rPr lang="en-US" sz="2800" b="1" dirty="0" smtClean="0">
                <a:solidFill>
                  <a:srgbClr val="FF0000"/>
                </a:solidFill>
              </a:rPr>
              <a:t>undirected graph </a:t>
            </a:r>
            <a:r>
              <a:rPr lang="en-US" sz="2800" dirty="0" smtClean="0"/>
              <a:t>G = (V, E), we define a cut of G to be </a:t>
            </a:r>
            <a:r>
              <a:rPr lang="en-US" sz="2800" dirty="0" smtClean="0">
                <a:solidFill>
                  <a:srgbClr val="FF0000"/>
                </a:solidFill>
              </a:rPr>
              <a:t>a partition of V into two non-empty sets A and B. 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dirty="0" smtClean="0"/>
              <a:t>Earlier, when we looked at network flows, we worked with the closely related definition of an </a:t>
            </a:r>
            <a:r>
              <a:rPr lang="en-US" sz="2800" dirty="0" smtClean="0">
                <a:solidFill>
                  <a:srgbClr val="FF0000"/>
                </a:solidFill>
              </a:rPr>
              <a:t>s-t cut: 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dirty="0" smtClean="0"/>
              <a:t>there, given a </a:t>
            </a:r>
            <a:r>
              <a:rPr lang="en-US" sz="2800" b="1" dirty="0" smtClean="0">
                <a:solidFill>
                  <a:srgbClr val="FF0000"/>
                </a:solidFill>
              </a:rPr>
              <a:t>directed graph</a:t>
            </a:r>
            <a:r>
              <a:rPr lang="en-US" sz="2800" dirty="0" smtClean="0">
                <a:solidFill>
                  <a:srgbClr val="FF0000"/>
                </a:solidFill>
              </a:rPr>
              <a:t> </a:t>
            </a:r>
            <a:r>
              <a:rPr lang="en-US" sz="2800" dirty="0" smtClean="0"/>
              <a:t>G = (V, E) with distinguished source and sink nodes s and t, </a:t>
            </a:r>
            <a:r>
              <a:rPr lang="en-US" sz="2800" dirty="0" smtClean="0">
                <a:solidFill>
                  <a:srgbClr val="FF0000"/>
                </a:solidFill>
              </a:rPr>
              <a:t>an s-t cut was defined to be a partition of V into sets A and B such that s ∈ A and t ∈ B.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dirty="0" smtClean="0"/>
              <a:t>Our definition now is slightly different, since the underlying graph is now undirected and there is no source or sink.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11700173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33722" y="764704"/>
            <a:ext cx="8352928" cy="48320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 smtClean="0"/>
              <a:t>For a cut (A, B) in an undirected graph G, the size of (A, B) is the </a:t>
            </a:r>
            <a:r>
              <a:rPr lang="en-US" sz="2800" dirty="0" smtClean="0">
                <a:solidFill>
                  <a:srgbClr val="FF0000"/>
                </a:solidFill>
              </a:rPr>
              <a:t>number of edges with one end in A and the other in B.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 smtClean="0"/>
              <a:t>A </a:t>
            </a:r>
            <a:r>
              <a:rPr lang="en-US" sz="2800" dirty="0" smtClean="0">
                <a:solidFill>
                  <a:srgbClr val="FF0000"/>
                </a:solidFill>
              </a:rPr>
              <a:t>global minimum cut is a cut of minimum size</a:t>
            </a:r>
            <a:r>
              <a:rPr lang="en-US" sz="2800" dirty="0" smtClean="0"/>
              <a:t>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 smtClean="0"/>
              <a:t>The term global here is meant to connote that any cut of the graph is allowed; there is no source or sink.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 smtClean="0"/>
              <a:t>Thus the </a:t>
            </a:r>
            <a:r>
              <a:rPr lang="en-US" sz="2800" dirty="0" smtClean="0">
                <a:solidFill>
                  <a:srgbClr val="FF0000"/>
                </a:solidFill>
              </a:rPr>
              <a:t>global min-cut </a:t>
            </a:r>
            <a:r>
              <a:rPr lang="en-US" sz="2800" dirty="0" smtClean="0"/>
              <a:t>is a natural “robustness” parameter; it is the </a:t>
            </a:r>
            <a:r>
              <a:rPr lang="en-US" sz="2800" dirty="0" smtClean="0">
                <a:solidFill>
                  <a:srgbClr val="FF0000"/>
                </a:solidFill>
              </a:rPr>
              <a:t>smallest number of edges whose deletion disconnects the graph</a:t>
            </a:r>
            <a:r>
              <a:rPr lang="en-US" sz="2800" dirty="0" smtClean="0"/>
              <a:t>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 smtClean="0"/>
              <a:t>We first check that </a:t>
            </a:r>
            <a:r>
              <a:rPr lang="en-US" sz="2800" dirty="0" smtClean="0">
                <a:solidFill>
                  <a:srgbClr val="FF0000"/>
                </a:solidFill>
              </a:rPr>
              <a:t>network flow techniques are indeed sufficient to find a global min-cut ?</a:t>
            </a:r>
            <a:endParaRPr lang="en-IN" sz="28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924530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55576" y="404664"/>
            <a:ext cx="4300344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3200" b="1" dirty="0" smtClean="0">
                <a:solidFill>
                  <a:srgbClr val="FF0000"/>
                </a:solidFill>
              </a:rPr>
              <a:t>Designing the Algorithm</a:t>
            </a:r>
            <a:endParaRPr lang="en-IN" sz="3200" b="1" dirty="0">
              <a:solidFill>
                <a:srgbClr val="FF0000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755576" y="1268760"/>
            <a:ext cx="7704856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 smtClean="0"/>
              <a:t>we describe the </a:t>
            </a:r>
            <a:r>
              <a:rPr lang="en-US" sz="2800" dirty="0" smtClean="0">
                <a:solidFill>
                  <a:srgbClr val="FF0000"/>
                </a:solidFill>
              </a:rPr>
              <a:t>Contraction Algorithm </a:t>
            </a:r>
            <a:r>
              <a:rPr lang="en-US" sz="2800" dirty="0" smtClean="0"/>
              <a:t>in its simplest form.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 smtClean="0"/>
              <a:t>This version, while it runs in polynomial time, is </a:t>
            </a:r>
            <a:r>
              <a:rPr lang="en-US" sz="2800" dirty="0" smtClean="0">
                <a:solidFill>
                  <a:srgbClr val="FF0000"/>
                </a:solidFill>
              </a:rPr>
              <a:t>not among the most efficient algorithms </a:t>
            </a:r>
            <a:r>
              <a:rPr lang="en-US" sz="2800" dirty="0" smtClean="0"/>
              <a:t>for global min-cuts.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 smtClean="0"/>
              <a:t>However, </a:t>
            </a:r>
            <a:r>
              <a:rPr lang="en-US" sz="2800" dirty="0" smtClean="0">
                <a:solidFill>
                  <a:srgbClr val="FF0000"/>
                </a:solidFill>
              </a:rPr>
              <a:t>subsequent optimizations </a:t>
            </a:r>
            <a:r>
              <a:rPr lang="en-US" sz="2800" dirty="0" smtClean="0"/>
              <a:t>to the algorithm have given it a much better running time.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5569545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5616" y="692696"/>
            <a:ext cx="5400675" cy="2238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444639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8465" y="764704"/>
            <a:ext cx="7932233" cy="52565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9146064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592" y="692696"/>
            <a:ext cx="7681771" cy="53285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9723052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568" y="692696"/>
            <a:ext cx="7848106" cy="540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404963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95706" y="548680"/>
            <a:ext cx="8196774" cy="31085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 smtClean="0"/>
              <a:t>The Contraction Algorithm works with a connected multigraph G = (V, E);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 smtClean="0"/>
              <a:t>This is an undirected graph that is </a:t>
            </a:r>
            <a:r>
              <a:rPr lang="en-US" sz="2800" dirty="0" smtClean="0">
                <a:solidFill>
                  <a:srgbClr val="FF0000"/>
                </a:solidFill>
              </a:rPr>
              <a:t>allowed to have multiple “parallel” edges between the same pair of nodes.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 smtClean="0"/>
              <a:t> It begins by choosing an edge e = (u, v) of G uniformly at random and contracting it.</a:t>
            </a:r>
            <a:endParaRPr lang="en-IN" sz="2800" dirty="0"/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9913" y="3645024"/>
            <a:ext cx="6648450" cy="2609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516155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67544" y="620688"/>
            <a:ext cx="8424936" cy="48628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800" dirty="0" smtClean="0"/>
              <a:t>This means we produce a </a:t>
            </a:r>
            <a:r>
              <a:rPr lang="en-US" sz="2800" dirty="0" smtClean="0">
                <a:solidFill>
                  <a:srgbClr val="FF0000"/>
                </a:solidFill>
              </a:rPr>
              <a:t>new graph G’ in which u and v have been identified into a single new node w</a:t>
            </a:r>
            <a:r>
              <a:rPr lang="en-US" sz="2800" dirty="0" smtClean="0"/>
              <a:t>; </a:t>
            </a:r>
          </a:p>
          <a:p>
            <a:pPr marL="457200" indent="-4572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800" dirty="0" smtClean="0"/>
              <a:t>all other nodes keep their identity. </a:t>
            </a:r>
            <a:r>
              <a:rPr lang="en-US" sz="2800" dirty="0" smtClean="0">
                <a:solidFill>
                  <a:srgbClr val="FF0000"/>
                </a:solidFill>
              </a:rPr>
              <a:t>Edges that had one end equal to u and the other equal to v are deleted from G’.</a:t>
            </a:r>
          </a:p>
          <a:p>
            <a:pPr marL="457200" indent="-4572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800" dirty="0" smtClean="0"/>
              <a:t>Each </a:t>
            </a:r>
            <a:r>
              <a:rPr lang="en-US" sz="2800" dirty="0" smtClean="0">
                <a:solidFill>
                  <a:srgbClr val="FF0000"/>
                </a:solidFill>
              </a:rPr>
              <a:t>other edge e is preserved in G’</a:t>
            </a:r>
            <a:r>
              <a:rPr lang="en-US" sz="2800" dirty="0" smtClean="0"/>
              <a:t> , but if one of its ends was equal to u or v, then this end is updated to be equal to the new node w. </a:t>
            </a:r>
          </a:p>
          <a:p>
            <a:pPr marL="457200" indent="-4572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800" dirty="0" smtClean="0"/>
              <a:t>Note that, even if G had at most one edge between any two nodes, G’ may end up with parallel edges.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42573035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07504" y="260648"/>
            <a:ext cx="9036496" cy="60631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600" dirty="0" smtClean="0"/>
              <a:t>The Contraction Algorithm then continues recursively on G’ , choosing an edge uniformly at random and contracting it. </a:t>
            </a:r>
          </a:p>
          <a:p>
            <a:pPr marL="457200" indent="-4572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600" dirty="0" smtClean="0"/>
              <a:t>As these recursive calls proceed, the constituent vertices of G’ should be viewed as </a:t>
            </a:r>
            <a:r>
              <a:rPr lang="en-US" sz="2600" dirty="0" err="1" smtClean="0"/>
              <a:t>supernodes</a:t>
            </a:r>
            <a:r>
              <a:rPr lang="en-US" sz="2600" dirty="0" smtClean="0"/>
              <a:t>: </a:t>
            </a:r>
          </a:p>
          <a:p>
            <a:pPr marL="457200" indent="-4572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600" dirty="0" smtClean="0"/>
              <a:t>Each </a:t>
            </a:r>
            <a:r>
              <a:rPr lang="en-US" sz="2600" dirty="0" err="1" smtClean="0"/>
              <a:t>supernode</a:t>
            </a:r>
            <a:r>
              <a:rPr lang="en-US" sz="2600" dirty="0" smtClean="0"/>
              <a:t> w corresponds to the subset S(w) ⊆ V that has been “</a:t>
            </a:r>
            <a:r>
              <a:rPr lang="en-US" sz="2600" dirty="0" smtClean="0">
                <a:solidFill>
                  <a:srgbClr val="FF0000"/>
                </a:solidFill>
              </a:rPr>
              <a:t>swallowed up</a:t>
            </a:r>
            <a:r>
              <a:rPr lang="en-US" sz="2600" dirty="0" smtClean="0"/>
              <a:t>” in the contractions that produced w. </a:t>
            </a:r>
          </a:p>
          <a:p>
            <a:pPr marL="457200" indent="-4572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600" dirty="0" smtClean="0"/>
              <a:t>The algorithm terminates when it reaches a graph G’ that has only two </a:t>
            </a:r>
            <a:r>
              <a:rPr lang="en-US" sz="2600" dirty="0" err="1" smtClean="0"/>
              <a:t>supernodes</a:t>
            </a:r>
            <a:r>
              <a:rPr lang="en-US" sz="2600" dirty="0" smtClean="0"/>
              <a:t> v1 and v2 (presumably with a number of parallel edges between them). </a:t>
            </a:r>
          </a:p>
          <a:p>
            <a:pPr marL="457200" indent="-4572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600" dirty="0" smtClean="0"/>
              <a:t>Each of these super-nodes vi has a corresponding subset S(vi) ⊆ V consisting of the nodes that have been contracted into it, and these two sets S(v1) and S(v2) form a partition of V. </a:t>
            </a:r>
          </a:p>
          <a:p>
            <a:pPr marL="457200" indent="-4572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600" dirty="0" smtClean="0"/>
              <a:t>We output (S(v1), S(v2)) as the cut found by the algorithm.</a:t>
            </a:r>
            <a:endParaRPr lang="en-IN" sz="2600" dirty="0"/>
          </a:p>
        </p:txBody>
      </p:sp>
    </p:spTree>
    <p:extLst>
      <p:ext uri="{BB962C8B-B14F-4D97-AF65-F5344CB8AC3E}">
        <p14:creationId xmlns:p14="http://schemas.microsoft.com/office/powerpoint/2010/main" val="1155455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548680"/>
            <a:ext cx="8774882" cy="57606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450648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1716829" y="228799"/>
            <a:ext cx="5205271" cy="13849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rgbClr val="273239"/>
                </a:solidFill>
                <a:effectLst/>
                <a:latin typeface="Nunito"/>
                <a:cs typeface="Arial" pitchFamily="34" charset="0"/>
              </a:rPr>
              <a:t>consider the following example,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rgbClr val="273239"/>
                </a:solidFill>
                <a:effectLst/>
                <a:latin typeface="Nunito"/>
                <a:cs typeface="Arial" pitchFamily="34" charset="0"/>
              </a:rPr>
              <a:t> the smallest cut has 2 edges.</a:t>
            </a:r>
            <a:endParaRPr kumimoji="0" lang="en-US" altLang="en-US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cs typeface="Arial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rgbClr val="273239"/>
                </a:solidFill>
                <a:effectLst/>
                <a:latin typeface="Nunito"/>
                <a:cs typeface="Arial" pitchFamily="34" charset="0"/>
              </a:rPr>
              <a:t>  </a:t>
            </a:r>
          </a:p>
        </p:txBody>
      </p:sp>
      <p:pic>
        <p:nvPicPr>
          <p:cNvPr id="1026" name="Picture 2" descr="Kargerfirst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1720" y="1556792"/>
            <a:ext cx="5160573" cy="39604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722375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27584" y="548680"/>
            <a:ext cx="7560840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 smtClean="0"/>
              <a:t>Below </a:t>
            </a:r>
            <a:r>
              <a:rPr lang="en-US" sz="2800" dirty="0" err="1"/>
              <a:t>Karger’s</a:t>
            </a:r>
            <a:r>
              <a:rPr lang="en-US" sz="2800" dirty="0"/>
              <a:t> algorithm can be implemented in O(E) = O(V2) time. </a:t>
            </a:r>
          </a:p>
          <a:p>
            <a:endParaRPr lang="en-US" sz="2800" dirty="0"/>
          </a:p>
          <a:p>
            <a:r>
              <a:rPr lang="en-US" sz="2800" dirty="0"/>
              <a:t>1)  Initialize contracted graph CG as copy of original graph</a:t>
            </a:r>
          </a:p>
          <a:p>
            <a:r>
              <a:rPr lang="en-US" sz="2800" dirty="0"/>
              <a:t>2)  While there are more than 2 vertices.</a:t>
            </a:r>
          </a:p>
          <a:p>
            <a:r>
              <a:rPr lang="en-US" sz="2800" dirty="0"/>
              <a:t>      a) Pick a random edge (u, v) in the contracted </a:t>
            </a:r>
            <a:r>
              <a:rPr lang="en-US" sz="2800" dirty="0" smtClean="0"/>
              <a:t> </a:t>
            </a:r>
          </a:p>
          <a:p>
            <a:r>
              <a:rPr lang="en-US" sz="2800" dirty="0"/>
              <a:t> </a:t>
            </a:r>
            <a:r>
              <a:rPr lang="en-US" sz="2800" dirty="0" smtClean="0"/>
              <a:t>          graph</a:t>
            </a:r>
            <a:r>
              <a:rPr lang="en-US" sz="2800" dirty="0"/>
              <a:t>.</a:t>
            </a:r>
          </a:p>
          <a:p>
            <a:r>
              <a:rPr lang="en-US" sz="2800" dirty="0"/>
              <a:t>      b) Merge (or contract) u and v into a single </a:t>
            </a:r>
            <a:r>
              <a:rPr lang="en-US" sz="2800" dirty="0" smtClean="0"/>
              <a:t> </a:t>
            </a:r>
          </a:p>
          <a:p>
            <a:r>
              <a:rPr lang="en-US" sz="2800" dirty="0"/>
              <a:t> </a:t>
            </a:r>
            <a:r>
              <a:rPr lang="en-US" sz="2800" dirty="0" smtClean="0"/>
              <a:t>          vertex </a:t>
            </a:r>
            <a:r>
              <a:rPr lang="en-US" sz="2800" dirty="0"/>
              <a:t>(</a:t>
            </a:r>
            <a:r>
              <a:rPr lang="en-US" sz="2800" dirty="0" smtClean="0"/>
              <a:t>update </a:t>
            </a:r>
            <a:r>
              <a:rPr lang="en-US" sz="2800" dirty="0"/>
              <a:t>the contracted graph).</a:t>
            </a:r>
          </a:p>
          <a:p>
            <a:r>
              <a:rPr lang="en-US" sz="2800" dirty="0"/>
              <a:t>      c) Remove self-loops</a:t>
            </a:r>
          </a:p>
          <a:p>
            <a:r>
              <a:rPr lang="en-US" sz="2800" dirty="0"/>
              <a:t>3) Return cut represented by two vertices.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373243454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67544" y="80199"/>
            <a:ext cx="7632848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/>
              <a:t>Let us understand above algorithm through the example given</a:t>
            </a:r>
            <a:r>
              <a:rPr lang="en-US" sz="2800" dirty="0" smtClean="0"/>
              <a:t>.</a:t>
            </a:r>
          </a:p>
          <a:p>
            <a:endParaRPr lang="en-US" sz="2800" dirty="0"/>
          </a:p>
          <a:p>
            <a:r>
              <a:rPr lang="en-US" sz="2800" dirty="0"/>
              <a:t>Let the first randomly picked vertex be ‘a‘ which connects vertices 0 and 1. We remove this edge and contract the graph (combine vertices 0 and 1). We get the following graph. </a:t>
            </a:r>
          </a:p>
          <a:p>
            <a:endParaRPr lang="en-US" sz="2800" dirty="0"/>
          </a:p>
        </p:txBody>
      </p:sp>
      <p:pic>
        <p:nvPicPr>
          <p:cNvPr id="2050" name="Picture 2" descr="Lightbox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23728" y="3495744"/>
            <a:ext cx="5040560" cy="32719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5407810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56661" y="22940"/>
            <a:ext cx="8064896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/>
              <a:t>Let the next randomly picked edge be ‘d’. We remove this edge and combine vertices (0,1) and 3. </a:t>
            </a:r>
            <a:endParaRPr lang="en-IN" sz="2800" dirty="0"/>
          </a:p>
        </p:txBody>
      </p:sp>
      <p:pic>
        <p:nvPicPr>
          <p:cNvPr id="3074" name="Picture 2" descr="Karger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4486" y="977047"/>
            <a:ext cx="5132451" cy="15251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/>
          <p:cNvSpPr/>
          <p:nvPr/>
        </p:nvSpPr>
        <p:spPr>
          <a:xfrm>
            <a:off x="698283" y="2578270"/>
            <a:ext cx="7704856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/>
              <a:t>We need to remove self-loops in the graph. So we remove edge ‘c’ </a:t>
            </a:r>
          </a:p>
        </p:txBody>
      </p:sp>
      <p:pic>
        <p:nvPicPr>
          <p:cNvPr id="3076" name="Picture 4" descr="Karger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4126" y="3532377"/>
            <a:ext cx="5869966" cy="17308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/>
          <p:cNvSpPr/>
          <p:nvPr/>
        </p:nvSpPr>
        <p:spPr>
          <a:xfrm>
            <a:off x="698284" y="5445224"/>
            <a:ext cx="8266204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/>
              <a:t>Now graph has two vertices, so we stop. The number of edges in the resultant graph is the cut produced by </a:t>
            </a:r>
            <a:r>
              <a:rPr lang="en-US" sz="2800" dirty="0" err="1"/>
              <a:t>Karger’s</a:t>
            </a:r>
            <a:r>
              <a:rPr lang="en-US" sz="2800" dirty="0"/>
              <a:t> algorithm.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25986550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23528" y="260648"/>
            <a:ext cx="8352928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i="1" dirty="0" err="1"/>
              <a:t>Karger’s</a:t>
            </a:r>
            <a:r>
              <a:rPr lang="en-US" b="1" i="1" dirty="0"/>
              <a:t> algorithm is a </a:t>
            </a:r>
            <a:r>
              <a:rPr lang="en-US" b="1" i="1" u="sng" dirty="0">
                <a:hlinkClick r:id="rId2"/>
              </a:rPr>
              <a:t>Monte Carlo algorithm</a:t>
            </a:r>
            <a:r>
              <a:rPr lang="en-US" b="1" i="1" dirty="0"/>
              <a:t> and cut produced by it may not be minimum.</a:t>
            </a:r>
            <a:r>
              <a:rPr lang="en-US" i="1" dirty="0"/>
              <a:t> </a:t>
            </a:r>
            <a:r>
              <a:rPr lang="en-US" dirty="0"/>
              <a:t>For example, the following diagram shows that a different order of picking random edges produces a min-cut of size 3.</a:t>
            </a:r>
            <a:endParaRPr lang="en-IN" dirty="0"/>
          </a:p>
        </p:txBody>
      </p:sp>
      <p:pic>
        <p:nvPicPr>
          <p:cNvPr id="4098" name="Picture 2" descr="Karger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8" y="1196752"/>
            <a:ext cx="8360019" cy="54452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9331845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5113" y="1052736"/>
            <a:ext cx="7349533" cy="42824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978918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7624" y="818934"/>
            <a:ext cx="6951290" cy="4859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2062184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1640" y="908720"/>
            <a:ext cx="6939679" cy="4841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0128165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2" y="780768"/>
            <a:ext cx="7822849" cy="50405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7287268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597</TotalTime>
  <Words>876</Words>
  <Application>Microsoft Office PowerPoint</Application>
  <PresentationFormat>On-screen Show (4:3)</PresentationFormat>
  <Paragraphs>59</Paragraphs>
  <Slides>24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5" baseType="lpstr">
      <vt:lpstr>Office Theme</vt:lpstr>
      <vt:lpstr>Randomized Algorithms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Randomized Algorithms</dc:title>
  <dc:creator>HP</dc:creator>
  <cp:lastModifiedBy>HP</cp:lastModifiedBy>
  <cp:revision>17</cp:revision>
  <dcterms:created xsi:type="dcterms:W3CDTF">2023-03-22T14:37:55Z</dcterms:created>
  <dcterms:modified xsi:type="dcterms:W3CDTF">2024-04-09T17:32:40Z</dcterms:modified>
</cp:coreProperties>
</file>