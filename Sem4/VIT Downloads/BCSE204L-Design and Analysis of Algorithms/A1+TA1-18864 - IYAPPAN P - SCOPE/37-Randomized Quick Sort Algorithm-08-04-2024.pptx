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3" r:id="rId8"/>
    <p:sldId id="268" r:id="rId9"/>
    <p:sldId id="264" r:id="rId10"/>
    <p:sldId id="266" r:id="rId11"/>
    <p:sldId id="267" r:id="rId1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5" d="100"/>
          <a:sy n="65" d="100"/>
        </p:scale>
        <p:origin x="-1452" y="-96"/>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E0902760-286A-4470-9B3B-8D9144596BA8}" type="datetimeFigureOut">
              <a:rPr lang="en-IN" smtClean="0"/>
              <a:t>21-03-2023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5FE3211-4C7D-4BC7-B968-885622EB451B}" type="slidenum">
              <a:rPr lang="en-IN" smtClean="0"/>
              <a:t>‹#›</a:t>
            </a:fld>
            <a:endParaRPr lang="en-IN"/>
          </a:p>
        </p:txBody>
      </p:sp>
    </p:spTree>
    <p:extLst>
      <p:ext uri="{BB962C8B-B14F-4D97-AF65-F5344CB8AC3E}">
        <p14:creationId xmlns:p14="http://schemas.microsoft.com/office/powerpoint/2010/main" val="28669155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E0902760-286A-4470-9B3B-8D9144596BA8}" type="datetimeFigureOut">
              <a:rPr lang="en-IN" smtClean="0"/>
              <a:t>21-03-2023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5FE3211-4C7D-4BC7-B968-885622EB451B}" type="slidenum">
              <a:rPr lang="en-IN" smtClean="0"/>
              <a:t>‹#›</a:t>
            </a:fld>
            <a:endParaRPr lang="en-IN"/>
          </a:p>
        </p:txBody>
      </p:sp>
    </p:spTree>
    <p:extLst>
      <p:ext uri="{BB962C8B-B14F-4D97-AF65-F5344CB8AC3E}">
        <p14:creationId xmlns:p14="http://schemas.microsoft.com/office/powerpoint/2010/main" val="40737794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E0902760-286A-4470-9B3B-8D9144596BA8}" type="datetimeFigureOut">
              <a:rPr lang="en-IN" smtClean="0"/>
              <a:t>21-03-2023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5FE3211-4C7D-4BC7-B968-885622EB451B}" type="slidenum">
              <a:rPr lang="en-IN" smtClean="0"/>
              <a:t>‹#›</a:t>
            </a:fld>
            <a:endParaRPr lang="en-IN"/>
          </a:p>
        </p:txBody>
      </p:sp>
    </p:spTree>
    <p:extLst>
      <p:ext uri="{BB962C8B-B14F-4D97-AF65-F5344CB8AC3E}">
        <p14:creationId xmlns:p14="http://schemas.microsoft.com/office/powerpoint/2010/main" val="24334514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E0902760-286A-4470-9B3B-8D9144596BA8}" type="datetimeFigureOut">
              <a:rPr lang="en-IN" smtClean="0"/>
              <a:t>21-03-2023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5FE3211-4C7D-4BC7-B968-885622EB451B}" type="slidenum">
              <a:rPr lang="en-IN" smtClean="0"/>
              <a:t>‹#›</a:t>
            </a:fld>
            <a:endParaRPr lang="en-IN"/>
          </a:p>
        </p:txBody>
      </p:sp>
    </p:spTree>
    <p:extLst>
      <p:ext uri="{BB962C8B-B14F-4D97-AF65-F5344CB8AC3E}">
        <p14:creationId xmlns:p14="http://schemas.microsoft.com/office/powerpoint/2010/main" val="30867272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E0902760-286A-4470-9B3B-8D9144596BA8}" type="datetimeFigureOut">
              <a:rPr lang="en-IN" smtClean="0"/>
              <a:t>21-03-2023</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15FE3211-4C7D-4BC7-B968-885622EB451B}" type="slidenum">
              <a:rPr lang="en-IN" smtClean="0"/>
              <a:t>‹#›</a:t>
            </a:fld>
            <a:endParaRPr lang="en-IN"/>
          </a:p>
        </p:txBody>
      </p:sp>
    </p:spTree>
    <p:extLst>
      <p:ext uri="{BB962C8B-B14F-4D97-AF65-F5344CB8AC3E}">
        <p14:creationId xmlns:p14="http://schemas.microsoft.com/office/powerpoint/2010/main" val="13739569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E0902760-286A-4470-9B3B-8D9144596BA8}" type="datetimeFigureOut">
              <a:rPr lang="en-IN" smtClean="0"/>
              <a:t>21-03-2023</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15FE3211-4C7D-4BC7-B968-885622EB451B}" type="slidenum">
              <a:rPr lang="en-IN" smtClean="0"/>
              <a:t>‹#›</a:t>
            </a:fld>
            <a:endParaRPr lang="en-IN"/>
          </a:p>
        </p:txBody>
      </p:sp>
    </p:spTree>
    <p:extLst>
      <p:ext uri="{BB962C8B-B14F-4D97-AF65-F5344CB8AC3E}">
        <p14:creationId xmlns:p14="http://schemas.microsoft.com/office/powerpoint/2010/main" val="24044649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0902760-286A-4470-9B3B-8D9144596BA8}" type="datetimeFigureOut">
              <a:rPr lang="en-IN" smtClean="0"/>
              <a:t>21-03-2023</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15FE3211-4C7D-4BC7-B968-885622EB451B}" type="slidenum">
              <a:rPr lang="en-IN" smtClean="0"/>
              <a:t>‹#›</a:t>
            </a:fld>
            <a:endParaRPr lang="en-IN"/>
          </a:p>
        </p:txBody>
      </p:sp>
    </p:spTree>
    <p:extLst>
      <p:ext uri="{BB962C8B-B14F-4D97-AF65-F5344CB8AC3E}">
        <p14:creationId xmlns:p14="http://schemas.microsoft.com/office/powerpoint/2010/main" val="1930485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E0902760-286A-4470-9B3B-8D9144596BA8}" type="datetimeFigureOut">
              <a:rPr lang="en-IN" smtClean="0"/>
              <a:t>21-03-2023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5FE3211-4C7D-4BC7-B968-885622EB451B}" type="slidenum">
              <a:rPr lang="en-IN" smtClean="0"/>
              <a:t>‹#›</a:t>
            </a:fld>
            <a:endParaRPr lang="en-IN"/>
          </a:p>
        </p:txBody>
      </p:sp>
    </p:spTree>
    <p:extLst>
      <p:ext uri="{BB962C8B-B14F-4D97-AF65-F5344CB8AC3E}">
        <p14:creationId xmlns:p14="http://schemas.microsoft.com/office/powerpoint/2010/main" val="23238197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E0902760-286A-4470-9B3B-8D9144596BA8}" type="datetimeFigureOut">
              <a:rPr lang="en-IN" smtClean="0"/>
              <a:t>21-03-2023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5FE3211-4C7D-4BC7-B968-885622EB451B}" type="slidenum">
              <a:rPr lang="en-IN" smtClean="0"/>
              <a:t>‹#›</a:t>
            </a:fld>
            <a:endParaRPr lang="en-IN"/>
          </a:p>
        </p:txBody>
      </p:sp>
    </p:spTree>
    <p:extLst>
      <p:ext uri="{BB962C8B-B14F-4D97-AF65-F5344CB8AC3E}">
        <p14:creationId xmlns:p14="http://schemas.microsoft.com/office/powerpoint/2010/main" val="157196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E0902760-286A-4470-9B3B-8D9144596BA8}" type="datetimeFigureOut">
              <a:rPr lang="en-IN" smtClean="0"/>
              <a:t>21-03-2023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5FE3211-4C7D-4BC7-B968-885622EB451B}" type="slidenum">
              <a:rPr lang="en-IN" smtClean="0"/>
              <a:t>‹#›</a:t>
            </a:fld>
            <a:endParaRPr lang="en-IN"/>
          </a:p>
        </p:txBody>
      </p:sp>
    </p:spTree>
    <p:extLst>
      <p:ext uri="{BB962C8B-B14F-4D97-AF65-F5344CB8AC3E}">
        <p14:creationId xmlns:p14="http://schemas.microsoft.com/office/powerpoint/2010/main" val="9269402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E0902760-286A-4470-9B3B-8D9144596BA8}" type="datetimeFigureOut">
              <a:rPr lang="en-IN" smtClean="0"/>
              <a:t>21-03-2023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5FE3211-4C7D-4BC7-B968-885622EB451B}" type="slidenum">
              <a:rPr lang="en-IN" smtClean="0"/>
              <a:t>‹#›</a:t>
            </a:fld>
            <a:endParaRPr lang="en-IN"/>
          </a:p>
        </p:txBody>
      </p:sp>
    </p:spTree>
    <p:extLst>
      <p:ext uri="{BB962C8B-B14F-4D97-AF65-F5344CB8AC3E}">
        <p14:creationId xmlns:p14="http://schemas.microsoft.com/office/powerpoint/2010/main" val="39638259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0902760-286A-4470-9B3B-8D9144596BA8}" type="datetimeFigureOut">
              <a:rPr lang="en-IN" smtClean="0"/>
              <a:t>21-03-2023</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5FE3211-4C7D-4BC7-B968-885622EB451B}" type="slidenum">
              <a:rPr lang="en-IN" smtClean="0"/>
              <a:t>‹#›</a:t>
            </a:fld>
            <a:endParaRPr lang="en-IN"/>
          </a:p>
        </p:txBody>
      </p:sp>
    </p:spTree>
    <p:extLst>
      <p:ext uri="{BB962C8B-B14F-4D97-AF65-F5344CB8AC3E}">
        <p14:creationId xmlns:p14="http://schemas.microsoft.com/office/powerpoint/2010/main" val="333606616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Randomized Algorithms</a:t>
            </a:r>
            <a:endParaRPr lang="en-IN" dirty="0"/>
          </a:p>
        </p:txBody>
      </p:sp>
      <p:sp>
        <p:nvSpPr>
          <p:cNvPr id="3" name="Subtitle 2"/>
          <p:cNvSpPr>
            <a:spLocks noGrp="1"/>
          </p:cNvSpPr>
          <p:nvPr>
            <p:ph type="subTitle" idx="1"/>
          </p:nvPr>
        </p:nvSpPr>
        <p:spPr/>
        <p:txBody>
          <a:bodyPr/>
          <a:lstStyle/>
          <a:p>
            <a:r>
              <a:rPr lang="en-US" dirty="0" smtClean="0">
                <a:solidFill>
                  <a:srgbClr val="FF0000"/>
                </a:solidFill>
              </a:rPr>
              <a:t>Randomized Quick Sort</a:t>
            </a:r>
            <a:r>
              <a:rPr lang="en-US" dirty="0" smtClean="0"/>
              <a:t> </a:t>
            </a:r>
            <a:endParaRPr lang="en-IN" dirty="0"/>
          </a:p>
        </p:txBody>
      </p:sp>
    </p:spTree>
    <p:extLst>
      <p:ext uri="{BB962C8B-B14F-4D97-AF65-F5344CB8AC3E}">
        <p14:creationId xmlns:p14="http://schemas.microsoft.com/office/powerpoint/2010/main" val="178755418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pPr marL="0" indent="0">
              <a:buNone/>
            </a:pPr>
            <a:r>
              <a:rPr lang="en-US" dirty="0" smtClean="0"/>
              <a:t>Given an array A of n distinct integers, in the indices A[1] through A[n], permute the elements of A, so that A[1] &lt; A[2]...A[n].</a:t>
            </a:r>
          </a:p>
          <a:p>
            <a:pPr marL="0" indent="0">
              <a:buNone/>
            </a:pPr>
            <a:r>
              <a:rPr lang="en-US" dirty="0" smtClean="0"/>
              <a:t>The assumption of distinctness simplifies the analysis. It has no bearing on the running time.</a:t>
            </a:r>
            <a:endParaRPr lang="en-IN" dirty="0"/>
          </a:p>
        </p:txBody>
      </p:sp>
    </p:spTree>
    <p:extLst>
      <p:ext uri="{BB962C8B-B14F-4D97-AF65-F5344CB8AC3E}">
        <p14:creationId xmlns:p14="http://schemas.microsoft.com/office/powerpoint/2010/main" val="136604691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9754" y="188640"/>
            <a:ext cx="7778966" cy="576064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Rectangle 1"/>
          <p:cNvSpPr/>
          <p:nvPr/>
        </p:nvSpPr>
        <p:spPr>
          <a:xfrm>
            <a:off x="1331640" y="5950575"/>
            <a:ext cx="6840760" cy="369332"/>
          </a:xfrm>
          <a:prstGeom prst="rect">
            <a:avLst/>
          </a:prstGeom>
        </p:spPr>
        <p:txBody>
          <a:bodyPr wrap="square">
            <a:spAutoFit/>
          </a:bodyPr>
          <a:lstStyle/>
          <a:p>
            <a:r>
              <a:rPr lang="en-US" dirty="0" smtClean="0"/>
              <a:t>Partitioning an array can be achieved in linear time.</a:t>
            </a:r>
            <a:endParaRPr lang="en-IN" dirty="0"/>
          </a:p>
        </p:txBody>
      </p:sp>
    </p:spTree>
    <p:extLst>
      <p:ext uri="{BB962C8B-B14F-4D97-AF65-F5344CB8AC3E}">
        <p14:creationId xmlns:p14="http://schemas.microsoft.com/office/powerpoint/2010/main" val="165668195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19672" y="1196752"/>
            <a:ext cx="5668307" cy="359814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97745646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23528" y="1988840"/>
            <a:ext cx="8568952" cy="2339102"/>
          </a:xfrm>
          <a:prstGeom prst="rect">
            <a:avLst/>
          </a:prstGeom>
        </p:spPr>
        <p:txBody>
          <a:bodyPr wrap="square">
            <a:spAutoFit/>
          </a:bodyPr>
          <a:lstStyle/>
          <a:p>
            <a:r>
              <a:rPr lang="en-US" sz="3200" dirty="0" smtClean="0"/>
              <a:t>What is the worst-case input for QUICKSORT()? </a:t>
            </a:r>
            <a:endParaRPr lang="en-US" sz="3200" dirty="0" smtClean="0"/>
          </a:p>
          <a:p>
            <a:r>
              <a:rPr lang="en-US" sz="3200" dirty="0" smtClean="0"/>
              <a:t>How </a:t>
            </a:r>
            <a:r>
              <a:rPr lang="en-US" sz="3200" dirty="0" smtClean="0"/>
              <a:t>many comparisons in the worst case? </a:t>
            </a:r>
            <a:r>
              <a:rPr lang="en-US" sz="3200" dirty="0" smtClean="0"/>
              <a:t>O(n</a:t>
            </a:r>
            <a:r>
              <a:rPr lang="en-US" sz="3200" baseline="30000" dirty="0" smtClean="0"/>
              <a:t>2</a:t>
            </a:r>
            <a:r>
              <a:rPr lang="en-US" sz="3200" dirty="0" smtClean="0"/>
              <a:t> )</a:t>
            </a:r>
            <a:endParaRPr lang="en-US" sz="3200" dirty="0" smtClean="0"/>
          </a:p>
          <a:p>
            <a:r>
              <a:rPr lang="en-US" sz="3200" dirty="0" smtClean="0"/>
              <a:t>What sort of assumptions are reasonable in analysis?</a:t>
            </a:r>
          </a:p>
          <a:p>
            <a:endParaRPr lang="en-IN" dirty="0"/>
          </a:p>
        </p:txBody>
      </p:sp>
    </p:spTree>
    <p:extLst>
      <p:ext uri="{BB962C8B-B14F-4D97-AF65-F5344CB8AC3E}">
        <p14:creationId xmlns:p14="http://schemas.microsoft.com/office/powerpoint/2010/main" val="298070001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3608" y="1196752"/>
            <a:ext cx="7429048" cy="374441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Rectangle 1"/>
          <p:cNvSpPr/>
          <p:nvPr/>
        </p:nvSpPr>
        <p:spPr>
          <a:xfrm>
            <a:off x="899592" y="5445224"/>
            <a:ext cx="7573064" cy="646331"/>
          </a:xfrm>
          <a:prstGeom prst="rect">
            <a:avLst/>
          </a:prstGeom>
        </p:spPr>
        <p:txBody>
          <a:bodyPr wrap="square">
            <a:spAutoFit/>
          </a:bodyPr>
          <a:lstStyle/>
          <a:p>
            <a:r>
              <a:rPr lang="en-US" dirty="0" smtClean="0"/>
              <a:t>Worst case running time? O(n </a:t>
            </a:r>
            <a:r>
              <a:rPr lang="en-US" baseline="30000" dirty="0" smtClean="0"/>
              <a:t>2 </a:t>
            </a:r>
            <a:r>
              <a:rPr lang="en-US" dirty="0" smtClean="0"/>
              <a:t>)! ! However, for a randomized algorithm we are not interested in worst-case running time, but in expected running time</a:t>
            </a:r>
            <a:endParaRPr lang="en-IN" dirty="0"/>
          </a:p>
        </p:txBody>
      </p:sp>
    </p:spTree>
    <p:extLst>
      <p:ext uri="{BB962C8B-B14F-4D97-AF65-F5344CB8AC3E}">
        <p14:creationId xmlns:p14="http://schemas.microsoft.com/office/powerpoint/2010/main" val="90277404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51520" y="260648"/>
            <a:ext cx="8568952" cy="5632311"/>
          </a:xfrm>
          <a:prstGeom prst="rect">
            <a:avLst/>
          </a:prstGeom>
        </p:spPr>
        <p:txBody>
          <a:bodyPr wrap="square">
            <a:spAutoFit/>
          </a:bodyPr>
          <a:lstStyle/>
          <a:p>
            <a:pPr marL="285750" indent="-285750">
              <a:lnSpc>
                <a:spcPct val="150000"/>
              </a:lnSpc>
              <a:buFont typeface="Arial" panose="020B0604020202020204" pitchFamily="34" charset="0"/>
              <a:buChar char="•"/>
            </a:pPr>
            <a:r>
              <a:rPr lang="en-US" sz="2400" dirty="0" smtClean="0"/>
              <a:t> we can sometimes add randomization to an algorithm in order to obtain good average-case performance over all inputs. </a:t>
            </a:r>
          </a:p>
          <a:p>
            <a:pPr marL="285750" indent="-285750">
              <a:lnSpc>
                <a:spcPct val="150000"/>
              </a:lnSpc>
              <a:buFont typeface="Arial" panose="020B0604020202020204" pitchFamily="34" charset="0"/>
              <a:buChar char="•"/>
            </a:pPr>
            <a:r>
              <a:rPr lang="en-US" sz="2400" dirty="0" smtClean="0"/>
              <a:t>Many people regard the resulting randomized version of quicksort as the sorting algorithm of choice for large enough inputs</a:t>
            </a:r>
          </a:p>
          <a:p>
            <a:pPr marL="285750" indent="-285750">
              <a:lnSpc>
                <a:spcPct val="150000"/>
              </a:lnSpc>
              <a:buFont typeface="Arial" panose="020B0604020202020204" pitchFamily="34" charset="0"/>
              <a:buChar char="•"/>
            </a:pPr>
            <a:r>
              <a:rPr lang="en-US" sz="2400" dirty="0" smtClean="0"/>
              <a:t>we randomized our algorithm by explicitly permuting the input. </a:t>
            </a:r>
          </a:p>
          <a:p>
            <a:pPr marL="285750" indent="-285750">
              <a:lnSpc>
                <a:spcPct val="150000"/>
              </a:lnSpc>
              <a:buFont typeface="Arial" panose="020B0604020202020204" pitchFamily="34" charset="0"/>
              <a:buChar char="•"/>
            </a:pPr>
            <a:r>
              <a:rPr lang="en-US" sz="2400" dirty="0" smtClean="0"/>
              <a:t>We could do so for quicksort also, but a different randomization technique, called </a:t>
            </a:r>
            <a:r>
              <a:rPr lang="en-US" sz="2400" b="1" dirty="0" smtClean="0"/>
              <a:t>random sampling</a:t>
            </a:r>
            <a:r>
              <a:rPr lang="en-US" sz="2400" dirty="0" smtClean="0"/>
              <a:t>, yields a simpler analysis.</a:t>
            </a:r>
          </a:p>
          <a:p>
            <a:pPr marL="285750" indent="-285750">
              <a:lnSpc>
                <a:spcPct val="150000"/>
              </a:lnSpc>
              <a:buFont typeface="Arial" panose="020B0604020202020204" pitchFamily="34" charset="0"/>
              <a:buChar char="•"/>
            </a:pPr>
            <a:r>
              <a:rPr lang="en-US" sz="2400" dirty="0" smtClean="0"/>
              <a:t>Instead </a:t>
            </a:r>
            <a:r>
              <a:rPr lang="en-US" sz="2400" dirty="0" smtClean="0"/>
              <a:t>of always using A[r] as the pivot, we will use a randomly chosen element from the subarray A[p . .r]. </a:t>
            </a:r>
          </a:p>
        </p:txBody>
      </p:sp>
    </p:spTree>
    <p:extLst>
      <p:ext uri="{BB962C8B-B14F-4D97-AF65-F5344CB8AC3E}">
        <p14:creationId xmlns:p14="http://schemas.microsoft.com/office/powerpoint/2010/main" val="32204964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79512" y="548680"/>
            <a:ext cx="8964488" cy="5262979"/>
          </a:xfrm>
          <a:prstGeom prst="rect">
            <a:avLst/>
          </a:prstGeom>
        </p:spPr>
        <p:txBody>
          <a:bodyPr wrap="square">
            <a:spAutoFit/>
          </a:bodyPr>
          <a:lstStyle/>
          <a:p>
            <a:pPr marL="457200" indent="-457200">
              <a:buFont typeface="Arial" panose="020B0604020202020204" pitchFamily="34" charset="0"/>
              <a:buChar char="•"/>
            </a:pPr>
            <a:r>
              <a:rPr lang="en-US" sz="2800" dirty="0"/>
              <a:t>We do so by exchanging element A[r] with an element chosen at random from A[p . .r]. </a:t>
            </a:r>
          </a:p>
          <a:p>
            <a:pPr marL="457200" indent="-457200">
              <a:buFont typeface="Arial" panose="020B0604020202020204" pitchFamily="34" charset="0"/>
              <a:buChar char="•"/>
            </a:pPr>
            <a:r>
              <a:rPr lang="en-US" sz="2800" dirty="0"/>
              <a:t>This modification, in which we randomly sample the range p,...,r, ensures that the pivot element x = A[r] is equally likely to be any of the r − p + 1 elements in the subarray. </a:t>
            </a:r>
          </a:p>
          <a:p>
            <a:pPr marL="457200" indent="-457200">
              <a:buFont typeface="Arial" panose="020B0604020202020204" pitchFamily="34" charset="0"/>
              <a:buChar char="•"/>
            </a:pPr>
            <a:r>
              <a:rPr lang="en-US" sz="2800" dirty="0"/>
              <a:t>Because the pivot element is randomly chosen, we expect the split of the input array to be reasonably well balanced on average.</a:t>
            </a:r>
          </a:p>
          <a:p>
            <a:pPr marL="457200" indent="-457200">
              <a:buFont typeface="Arial" panose="020B0604020202020204" pitchFamily="34" charset="0"/>
              <a:buChar char="•"/>
            </a:pPr>
            <a:r>
              <a:rPr lang="en-US" sz="2800" dirty="0"/>
              <a:t>The changes to PARTITION and QUICKSORT are small. In the new partition procedure, we simply implement the swap before actually partitioning</a:t>
            </a:r>
            <a:endParaRPr lang="en-IN" sz="2800" dirty="0"/>
          </a:p>
        </p:txBody>
      </p:sp>
    </p:spTree>
    <p:extLst>
      <p:ext uri="{BB962C8B-B14F-4D97-AF65-F5344CB8AC3E}">
        <p14:creationId xmlns:p14="http://schemas.microsoft.com/office/powerpoint/2010/main" val="206229345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1560" y="980728"/>
            <a:ext cx="7843215" cy="46085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24664077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55576" y="334967"/>
            <a:ext cx="7992888" cy="5632311"/>
          </a:xfrm>
          <a:prstGeom prst="rect">
            <a:avLst/>
          </a:prstGeom>
        </p:spPr>
        <p:txBody>
          <a:bodyPr wrap="square">
            <a:spAutoFit/>
          </a:bodyPr>
          <a:lstStyle/>
          <a:p>
            <a:r>
              <a:rPr lang="en-US" b="1" dirty="0" smtClean="0"/>
              <a:t>Why do we analyze the average case performance of the randomized algorithms and not the worst case performance</a:t>
            </a:r>
            <a:r>
              <a:rPr lang="en-US" b="1" dirty="0" smtClean="0"/>
              <a:t>?</a:t>
            </a:r>
          </a:p>
          <a:p>
            <a:endParaRPr lang="en-US" b="1" dirty="0" smtClean="0"/>
          </a:p>
          <a:p>
            <a:r>
              <a:rPr lang="en-US" dirty="0" smtClean="0"/>
              <a:t>Since we can seldom guarantee precisely how an algorithm will be exercised, usually we cannot obtain an average-case measurement that is likely to be accurate. The worst case gives us an upper bound on performance. Analyzing an algorithm's worst case guarantees that it will never perform worse than what we determine.</a:t>
            </a:r>
          </a:p>
          <a:p>
            <a:endParaRPr lang="en-US" dirty="0" smtClean="0"/>
          </a:p>
          <a:p>
            <a:r>
              <a:rPr lang="en-US" dirty="0"/>
              <a:t>We analyze the expected run time because it represents the more typical time cost. Also, we are doing the expected run time over the possible randomness used during computation because it can't be produced </a:t>
            </a:r>
            <a:r>
              <a:rPr lang="en-US" dirty="0" err="1"/>
              <a:t>adversarially</a:t>
            </a:r>
            <a:r>
              <a:rPr lang="en-US" dirty="0"/>
              <a:t>, unlike when doing expected run time over all possible inputs to the algorithm</a:t>
            </a:r>
            <a:r>
              <a:rPr lang="en-US" dirty="0" smtClean="0"/>
              <a:t>.</a:t>
            </a:r>
          </a:p>
          <a:p>
            <a:endParaRPr lang="en-US" dirty="0"/>
          </a:p>
          <a:p>
            <a:r>
              <a:rPr lang="en-US" b="1" dirty="0"/>
              <a:t>Why do we perform best case worst case and average case analysis for an algorithm?</a:t>
            </a:r>
          </a:p>
          <a:p>
            <a:r>
              <a:rPr lang="en-US" dirty="0"/>
              <a:t>It involves analyzing the best-case running time, worst-case performance, and average case complexity of an algorithm. The goal of this type of analysis is </a:t>
            </a:r>
            <a:r>
              <a:rPr lang="en-US" b="1" dirty="0"/>
              <a:t>to determine how well an algorithm performs in different scenarios based on its input size</a:t>
            </a:r>
            <a:r>
              <a:rPr lang="en-US" dirty="0"/>
              <a:t>.</a:t>
            </a:r>
          </a:p>
          <a:p>
            <a:endParaRPr lang="en-IN" dirty="0"/>
          </a:p>
        </p:txBody>
      </p:sp>
    </p:spTree>
    <p:extLst>
      <p:ext uri="{BB962C8B-B14F-4D97-AF65-F5344CB8AC3E}">
        <p14:creationId xmlns:p14="http://schemas.microsoft.com/office/powerpoint/2010/main" val="178425263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6757" y="620688"/>
            <a:ext cx="7496970" cy="511256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134063767"/>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60</TotalTime>
  <Words>494</Words>
  <Application>Microsoft Office PowerPoint</Application>
  <PresentationFormat>On-screen Show (4:3)</PresentationFormat>
  <Paragraphs>26</Paragraphs>
  <Slides>11</Slides>
  <Notes>0</Notes>
  <HiddenSlides>0</HiddenSlides>
  <MMClips>0</MMClips>
  <ScaleCrop>false</ScaleCrop>
  <HeadingPairs>
    <vt:vector size="4" baseType="variant">
      <vt:variant>
        <vt:lpstr>Theme</vt:lpstr>
      </vt:variant>
      <vt:variant>
        <vt:i4>1</vt:i4>
      </vt:variant>
      <vt:variant>
        <vt:lpstr>Slide Titles</vt:lpstr>
      </vt:variant>
      <vt:variant>
        <vt:i4>11</vt:i4>
      </vt:variant>
    </vt:vector>
  </HeadingPairs>
  <TitlesOfParts>
    <vt:vector size="12" baseType="lpstr">
      <vt:lpstr>Office Theme</vt:lpstr>
      <vt:lpstr>Randomized Algorithms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Randomized Algorithms</dc:title>
  <dc:creator>HP</dc:creator>
  <cp:lastModifiedBy>HP</cp:lastModifiedBy>
  <cp:revision>7</cp:revision>
  <dcterms:created xsi:type="dcterms:W3CDTF">2023-03-21T00:53:51Z</dcterms:created>
  <dcterms:modified xsi:type="dcterms:W3CDTF">2023-03-21T09:14:22Z</dcterms:modified>
</cp:coreProperties>
</file>