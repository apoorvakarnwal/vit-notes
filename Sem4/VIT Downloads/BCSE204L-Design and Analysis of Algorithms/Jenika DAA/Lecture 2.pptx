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306" r:id="rId3"/>
    <p:sldId id="307" r:id="rId4"/>
    <p:sldId id="339" r:id="rId5"/>
    <p:sldId id="275" r:id="rId6"/>
    <p:sldId id="310" r:id="rId7"/>
    <p:sldId id="312" r:id="rId8"/>
    <p:sldId id="340" r:id="rId9"/>
    <p:sldId id="318" r:id="rId10"/>
    <p:sldId id="324" r:id="rId11"/>
    <p:sldId id="323" r:id="rId12"/>
    <p:sldId id="322" r:id="rId13"/>
    <p:sldId id="336" r:id="rId14"/>
    <p:sldId id="337" r:id="rId15"/>
    <p:sldId id="333" r:id="rId16"/>
    <p:sldId id="335" r:id="rId17"/>
    <p:sldId id="334" r:id="rId18"/>
    <p:sldId id="338"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637" autoAdjust="0"/>
    <p:restoredTop sz="94660"/>
  </p:normalViewPr>
  <p:slideViewPr>
    <p:cSldViewPr snapToGrid="0">
      <p:cViewPr>
        <p:scale>
          <a:sx n="76" d="100"/>
          <a:sy n="76" d="100"/>
        </p:scale>
        <p:origin x="1120" y="9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B5D1D96-4A5A-4FB2-9A51-061A65DC6222}" type="datetimeFigureOut">
              <a:rPr lang="en-IN" smtClean="0"/>
              <a:t>04/02/24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C062E2-8370-482B-AD1D-03272FEEB61A}" type="slidenum">
              <a:rPr lang="en-IN" smtClean="0"/>
              <a:t>‹#›</a:t>
            </a:fld>
            <a:endParaRPr lang="en-IN"/>
          </a:p>
        </p:txBody>
      </p:sp>
    </p:spTree>
    <p:extLst>
      <p:ext uri="{BB962C8B-B14F-4D97-AF65-F5344CB8AC3E}">
        <p14:creationId xmlns:p14="http://schemas.microsoft.com/office/powerpoint/2010/main" val="7252793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5D1D96-4A5A-4FB2-9A51-061A65DC6222}" type="datetimeFigureOut">
              <a:rPr lang="en-IN" smtClean="0"/>
              <a:t>04/02/24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C062E2-8370-482B-AD1D-03272FEEB61A}" type="slidenum">
              <a:rPr lang="en-IN" smtClean="0"/>
              <a:t>‹#›</a:t>
            </a:fld>
            <a:endParaRPr lang="en-IN"/>
          </a:p>
        </p:txBody>
      </p:sp>
    </p:spTree>
    <p:extLst>
      <p:ext uri="{BB962C8B-B14F-4D97-AF65-F5344CB8AC3E}">
        <p14:creationId xmlns:p14="http://schemas.microsoft.com/office/powerpoint/2010/main" val="19653672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B5D1D96-4A5A-4FB2-9A51-061A65DC6222}" type="datetimeFigureOut">
              <a:rPr lang="en-IN" smtClean="0"/>
              <a:t>04/02/24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C062E2-8370-482B-AD1D-03272FEEB61A}" type="slidenum">
              <a:rPr lang="en-IN" smtClean="0"/>
              <a:t>‹#›</a:t>
            </a:fld>
            <a:endParaRPr lang="en-IN"/>
          </a:p>
        </p:txBody>
      </p:sp>
    </p:spTree>
    <p:extLst>
      <p:ext uri="{BB962C8B-B14F-4D97-AF65-F5344CB8AC3E}">
        <p14:creationId xmlns:p14="http://schemas.microsoft.com/office/powerpoint/2010/main" val="6488074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B5D1D96-4A5A-4FB2-9A51-061A65DC6222}" type="datetimeFigureOut">
              <a:rPr lang="en-IN" smtClean="0"/>
              <a:t>04/02/24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7C062E2-8370-482B-AD1D-03272FEEB61A}" type="slidenum">
              <a:rPr lang="en-IN" smtClean="0"/>
              <a:t>‹#›</a:t>
            </a:fld>
            <a:endParaRPr lang="en-IN"/>
          </a:p>
        </p:txBody>
      </p:sp>
    </p:spTree>
    <p:extLst>
      <p:ext uri="{BB962C8B-B14F-4D97-AF65-F5344CB8AC3E}">
        <p14:creationId xmlns:p14="http://schemas.microsoft.com/office/powerpoint/2010/main" val="4228786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B5D1D96-4A5A-4FB2-9A51-061A65DC6222}" type="datetimeFigureOut">
              <a:rPr lang="en-IN" smtClean="0"/>
              <a:t>04/02/24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7C062E2-8370-482B-AD1D-03272FEEB61A}" type="slidenum">
              <a:rPr lang="en-IN" smtClean="0"/>
              <a:t>‹#›</a:t>
            </a:fld>
            <a:endParaRPr lang="en-IN"/>
          </a:p>
        </p:txBody>
      </p:sp>
    </p:spTree>
    <p:extLst>
      <p:ext uri="{BB962C8B-B14F-4D97-AF65-F5344CB8AC3E}">
        <p14:creationId xmlns:p14="http://schemas.microsoft.com/office/powerpoint/2010/main" val="20130474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B5D1D96-4A5A-4FB2-9A51-061A65DC6222}" type="datetimeFigureOut">
              <a:rPr lang="en-IN" smtClean="0"/>
              <a:t>04/02/24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7C062E2-8370-482B-AD1D-03272FEEB61A}" type="slidenum">
              <a:rPr lang="en-IN" smtClean="0"/>
              <a:t>‹#›</a:t>
            </a:fld>
            <a:endParaRPr lang="en-IN"/>
          </a:p>
        </p:txBody>
      </p:sp>
    </p:spTree>
    <p:extLst>
      <p:ext uri="{BB962C8B-B14F-4D97-AF65-F5344CB8AC3E}">
        <p14:creationId xmlns:p14="http://schemas.microsoft.com/office/powerpoint/2010/main" val="18462528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B5D1D96-4A5A-4FB2-9A51-061A65DC6222}" type="datetimeFigureOut">
              <a:rPr lang="en-IN" smtClean="0"/>
              <a:t>04/02/24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7C062E2-8370-482B-AD1D-03272FEEB61A}" type="slidenum">
              <a:rPr lang="en-IN" smtClean="0"/>
              <a:t>‹#›</a:t>
            </a:fld>
            <a:endParaRPr lang="en-IN"/>
          </a:p>
        </p:txBody>
      </p:sp>
    </p:spTree>
    <p:extLst>
      <p:ext uri="{BB962C8B-B14F-4D97-AF65-F5344CB8AC3E}">
        <p14:creationId xmlns:p14="http://schemas.microsoft.com/office/powerpoint/2010/main" val="6487469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B5D1D96-4A5A-4FB2-9A51-061A65DC6222}" type="datetimeFigureOut">
              <a:rPr lang="en-IN" smtClean="0"/>
              <a:t>04/02/24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7C062E2-8370-482B-AD1D-03272FEEB61A}" type="slidenum">
              <a:rPr lang="en-IN" smtClean="0"/>
              <a:t>‹#›</a:t>
            </a:fld>
            <a:endParaRPr lang="en-IN"/>
          </a:p>
        </p:txBody>
      </p:sp>
    </p:spTree>
    <p:extLst>
      <p:ext uri="{BB962C8B-B14F-4D97-AF65-F5344CB8AC3E}">
        <p14:creationId xmlns:p14="http://schemas.microsoft.com/office/powerpoint/2010/main" val="623228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B5D1D96-4A5A-4FB2-9A51-061A65DC6222}" type="datetimeFigureOut">
              <a:rPr lang="en-IN" smtClean="0"/>
              <a:t>04/02/24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7C062E2-8370-482B-AD1D-03272FEEB61A}" type="slidenum">
              <a:rPr lang="en-IN" smtClean="0"/>
              <a:t>‹#›</a:t>
            </a:fld>
            <a:endParaRPr lang="en-IN"/>
          </a:p>
        </p:txBody>
      </p:sp>
    </p:spTree>
    <p:extLst>
      <p:ext uri="{BB962C8B-B14F-4D97-AF65-F5344CB8AC3E}">
        <p14:creationId xmlns:p14="http://schemas.microsoft.com/office/powerpoint/2010/main" val="19073876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B5D1D96-4A5A-4FB2-9A51-061A65DC6222}" type="datetimeFigureOut">
              <a:rPr lang="en-IN" smtClean="0"/>
              <a:t>04/02/24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C062E2-8370-482B-AD1D-03272FEEB61A}" type="slidenum">
              <a:rPr lang="en-IN" smtClean="0"/>
              <a:t>‹#›</a:t>
            </a:fld>
            <a:endParaRPr lang="en-IN"/>
          </a:p>
        </p:txBody>
      </p:sp>
    </p:spTree>
    <p:extLst>
      <p:ext uri="{BB962C8B-B14F-4D97-AF65-F5344CB8AC3E}">
        <p14:creationId xmlns:p14="http://schemas.microsoft.com/office/powerpoint/2010/main" val="40897955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B5D1D96-4A5A-4FB2-9A51-061A65DC6222}" type="datetimeFigureOut">
              <a:rPr lang="en-IN" smtClean="0"/>
              <a:t>04/02/24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C062E2-8370-482B-AD1D-03272FEEB61A}"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4444976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B5D1D96-4A5A-4FB2-9A51-061A65DC6222}" type="datetimeFigureOut">
              <a:rPr lang="en-IN" smtClean="0"/>
              <a:t>04/02/24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C062E2-8370-482B-AD1D-03272FEEB61A}" type="slidenum">
              <a:rPr lang="en-IN" smtClean="0"/>
              <a:t>‹#›</a:t>
            </a:fld>
            <a:endParaRPr lang="en-IN"/>
          </a:p>
        </p:txBody>
      </p:sp>
    </p:spTree>
    <p:extLst>
      <p:ext uri="{BB962C8B-B14F-4D97-AF65-F5344CB8AC3E}">
        <p14:creationId xmlns:p14="http://schemas.microsoft.com/office/powerpoint/2010/main" val="42804470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B5D1D96-4A5A-4FB2-9A51-061A65DC6222}" type="datetimeFigureOut">
              <a:rPr lang="en-IN" smtClean="0"/>
              <a:t>04/02/24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C062E2-8370-482B-AD1D-03272FEEB61A}"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0116435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B5D1D96-4A5A-4FB2-9A51-061A65DC6222}" type="datetimeFigureOut">
              <a:rPr lang="en-IN" smtClean="0"/>
              <a:t>04/02/24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C062E2-8370-482B-AD1D-03272FEEB61A}" type="slidenum">
              <a:rPr lang="en-IN" smtClean="0"/>
              <a:t>‹#›</a:t>
            </a:fld>
            <a:endParaRPr lang="en-IN"/>
          </a:p>
        </p:txBody>
      </p:sp>
    </p:spTree>
    <p:extLst>
      <p:ext uri="{BB962C8B-B14F-4D97-AF65-F5344CB8AC3E}">
        <p14:creationId xmlns:p14="http://schemas.microsoft.com/office/powerpoint/2010/main" val="34543988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5D1D96-4A5A-4FB2-9A51-061A65DC6222}" type="datetimeFigureOut">
              <a:rPr lang="en-IN" smtClean="0"/>
              <a:t>04/02/24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C062E2-8370-482B-AD1D-03272FEEB61A}" type="slidenum">
              <a:rPr lang="en-IN" smtClean="0"/>
              <a:t>‹#›</a:t>
            </a:fld>
            <a:endParaRPr lang="en-IN"/>
          </a:p>
        </p:txBody>
      </p:sp>
    </p:spTree>
    <p:extLst>
      <p:ext uri="{BB962C8B-B14F-4D97-AF65-F5344CB8AC3E}">
        <p14:creationId xmlns:p14="http://schemas.microsoft.com/office/powerpoint/2010/main" val="4240787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5D1D96-4A5A-4FB2-9A51-061A65DC6222}" type="datetimeFigureOut">
              <a:rPr lang="en-IN" smtClean="0"/>
              <a:t>04/02/24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C062E2-8370-482B-AD1D-03272FEEB61A}" type="slidenum">
              <a:rPr lang="en-IN" smtClean="0"/>
              <a:t>‹#›</a:t>
            </a:fld>
            <a:endParaRPr lang="en-IN"/>
          </a:p>
        </p:txBody>
      </p:sp>
    </p:spTree>
    <p:extLst>
      <p:ext uri="{BB962C8B-B14F-4D97-AF65-F5344CB8AC3E}">
        <p14:creationId xmlns:p14="http://schemas.microsoft.com/office/powerpoint/2010/main" val="20437018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B5D1D96-4A5A-4FB2-9A51-061A65DC6222}" type="datetimeFigureOut">
              <a:rPr lang="en-IN" smtClean="0"/>
              <a:t>04/02/24</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97C062E2-8370-482B-AD1D-03272FEEB61A}" type="slidenum">
              <a:rPr lang="en-IN" smtClean="0"/>
              <a:t>‹#›</a:t>
            </a:fld>
            <a:endParaRPr lang="en-IN"/>
          </a:p>
        </p:txBody>
      </p:sp>
    </p:spTree>
    <p:extLst>
      <p:ext uri="{BB962C8B-B14F-4D97-AF65-F5344CB8AC3E}">
        <p14:creationId xmlns:p14="http://schemas.microsoft.com/office/powerpoint/2010/main" val="411513226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00.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D44DFD7-E78E-42DA-A1FE-100828ADBD14}"/>
              </a:ext>
            </a:extLst>
          </p:cNvPr>
          <p:cNvSpPr>
            <a:spLocks noGrp="1"/>
          </p:cNvSpPr>
          <p:nvPr>
            <p:ph type="ctrTitle"/>
          </p:nvPr>
        </p:nvSpPr>
        <p:spPr>
          <a:xfrm>
            <a:off x="1297517" y="1566334"/>
            <a:ext cx="7766936" cy="1646302"/>
          </a:xfrm>
        </p:spPr>
        <p:txBody>
          <a:bodyPr>
            <a:normAutofit/>
          </a:bodyPr>
          <a:lstStyle/>
          <a:p>
            <a:r>
              <a:rPr lang="en-US" sz="3100" dirty="0"/>
              <a:t>DAA </a:t>
            </a:r>
            <a:br>
              <a:rPr lang="en-US" sz="3100" dirty="0"/>
            </a:br>
            <a:br>
              <a:rPr lang="en-US" sz="2800" dirty="0"/>
            </a:br>
            <a:endParaRPr lang="en-IN" sz="2800" dirty="0"/>
          </a:p>
        </p:txBody>
      </p:sp>
      <p:sp>
        <p:nvSpPr>
          <p:cNvPr id="5" name="Subtitle 4">
            <a:extLst>
              <a:ext uri="{FF2B5EF4-FFF2-40B4-BE49-F238E27FC236}">
                <a16:creationId xmlns:a16="http://schemas.microsoft.com/office/drawing/2014/main" id="{D718CEE2-5954-4609-826A-7625020AF266}"/>
              </a:ext>
            </a:extLst>
          </p:cNvPr>
          <p:cNvSpPr>
            <a:spLocks noGrp="1"/>
          </p:cNvSpPr>
          <p:nvPr>
            <p:ph type="subTitle" idx="1"/>
          </p:nvPr>
        </p:nvSpPr>
        <p:spPr/>
        <p:txBody>
          <a:bodyPr>
            <a:noAutofit/>
          </a:bodyPr>
          <a:lstStyle/>
          <a:p>
            <a:r>
              <a:rPr lang="en-US" sz="2400" dirty="0">
                <a:solidFill>
                  <a:schemeClr val="tx1"/>
                </a:solidFill>
              </a:rPr>
              <a:t>Prepared by</a:t>
            </a:r>
          </a:p>
          <a:p>
            <a:r>
              <a:rPr lang="en-US" sz="2400" dirty="0" err="1">
                <a:solidFill>
                  <a:schemeClr val="tx1"/>
                </a:solidFill>
              </a:rPr>
              <a:t>Dr.S.Jenicka</a:t>
            </a:r>
            <a:endParaRPr lang="en-US" sz="2400" dirty="0">
              <a:solidFill>
                <a:schemeClr val="tx1"/>
              </a:solidFill>
            </a:endParaRPr>
          </a:p>
          <a:p>
            <a:r>
              <a:rPr lang="en-US" sz="2400" dirty="0">
                <a:solidFill>
                  <a:schemeClr val="tx1"/>
                </a:solidFill>
              </a:rPr>
              <a:t>Associate professor senior </a:t>
            </a:r>
            <a:r>
              <a:rPr lang="en-US" sz="2400">
                <a:solidFill>
                  <a:schemeClr val="tx1"/>
                </a:solidFill>
              </a:rPr>
              <a:t>grade 1</a:t>
            </a:r>
            <a:endParaRPr lang="en-US" sz="2400" dirty="0">
              <a:solidFill>
                <a:schemeClr val="tx1"/>
              </a:solidFill>
            </a:endParaRPr>
          </a:p>
          <a:p>
            <a:r>
              <a:rPr lang="en-US" sz="2400" dirty="0">
                <a:solidFill>
                  <a:schemeClr val="tx1"/>
                </a:solidFill>
              </a:rPr>
              <a:t>SCOPE-Analytics</a:t>
            </a:r>
          </a:p>
          <a:p>
            <a:r>
              <a:rPr lang="en-US" sz="2400" dirty="0">
                <a:solidFill>
                  <a:schemeClr val="tx1"/>
                </a:solidFill>
              </a:rPr>
              <a:t>VIT Vellore</a:t>
            </a:r>
            <a:endParaRPr lang="en-IN" sz="2400" dirty="0">
              <a:solidFill>
                <a:schemeClr val="tx1"/>
              </a:solidFill>
            </a:endParaRPr>
          </a:p>
        </p:txBody>
      </p:sp>
    </p:spTree>
    <p:extLst>
      <p:ext uri="{BB962C8B-B14F-4D97-AF65-F5344CB8AC3E}">
        <p14:creationId xmlns:p14="http://schemas.microsoft.com/office/powerpoint/2010/main" val="16044987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978BDAC-92BD-41B6-9834-F5B8A918F1D9}"/>
              </a:ext>
            </a:extLst>
          </p:cNvPr>
          <p:cNvSpPr>
            <a:spLocks noGrp="1"/>
          </p:cNvSpPr>
          <p:nvPr>
            <p:ph type="title"/>
          </p:nvPr>
        </p:nvSpPr>
        <p:spPr/>
        <p:txBody>
          <a:bodyPr/>
          <a:lstStyle/>
          <a:p>
            <a:r>
              <a:rPr lang="en-US" dirty="0"/>
              <a:t>Traveling salesman problem</a:t>
            </a:r>
            <a:endParaRPr lang="en-IN" dirty="0"/>
          </a:p>
        </p:txBody>
      </p:sp>
      <p:sp>
        <p:nvSpPr>
          <p:cNvPr id="4" name="Content Placeholder 3">
            <a:extLst>
              <a:ext uri="{FF2B5EF4-FFF2-40B4-BE49-F238E27FC236}">
                <a16:creationId xmlns:a16="http://schemas.microsoft.com/office/drawing/2014/main" id="{1FD9B4D4-9404-4B03-9647-EF980672A377}"/>
              </a:ext>
            </a:extLst>
          </p:cNvPr>
          <p:cNvSpPr>
            <a:spLocks noGrp="1"/>
          </p:cNvSpPr>
          <p:nvPr>
            <p:ph idx="1"/>
          </p:nvPr>
        </p:nvSpPr>
        <p:spPr/>
        <p:txBody>
          <a:bodyPr/>
          <a:lstStyle/>
          <a:p>
            <a:pPr algn="l">
              <a:buFont typeface="Arial" panose="020B0604020202020204" pitchFamily="34" charset="0"/>
              <a:buChar char="•"/>
            </a:pPr>
            <a:r>
              <a:rPr lang="en-US" dirty="0">
                <a:latin typeface="TimesTen-Roman"/>
              </a:rPr>
              <a:t>A </a:t>
            </a:r>
            <a:r>
              <a:rPr lang="en-US" b="1" dirty="0">
                <a:latin typeface="TimesTen-Roman"/>
              </a:rPr>
              <a:t>graph</a:t>
            </a:r>
            <a:r>
              <a:rPr lang="en-US" dirty="0">
                <a:latin typeface="TimesTen-Roman"/>
              </a:rPr>
              <a:t> is made up of vertices (also called nodes) which are connected by edges.</a:t>
            </a:r>
          </a:p>
          <a:p>
            <a:pPr algn="l">
              <a:buFont typeface="Arial" panose="020B0604020202020204" pitchFamily="34" charset="0"/>
              <a:buChar char="•"/>
            </a:pPr>
            <a:r>
              <a:rPr lang="en-US" dirty="0">
                <a:latin typeface="TimesTen-Roman"/>
              </a:rPr>
              <a:t>A walk with no repeated edges is called a </a:t>
            </a:r>
            <a:r>
              <a:rPr lang="en-US" b="1" dirty="0">
                <a:latin typeface="TimesTen-Roman"/>
              </a:rPr>
              <a:t>tour</a:t>
            </a:r>
            <a:r>
              <a:rPr lang="en-US" dirty="0">
                <a:latin typeface="TimesTen-Roman"/>
              </a:rPr>
              <a:t>.</a:t>
            </a:r>
          </a:p>
          <a:p>
            <a:pPr algn="l">
              <a:buFont typeface="Arial" panose="020B0604020202020204" pitchFamily="34" charset="0"/>
              <a:buChar char="•"/>
            </a:pPr>
            <a:r>
              <a:rPr lang="en-US" dirty="0">
                <a:latin typeface="TimesTen-Roman"/>
              </a:rPr>
              <a:t>A non-empty trail in which the only repeated vertices are the first and last vertices is called </a:t>
            </a:r>
            <a:r>
              <a:rPr lang="en-US" b="1" dirty="0">
                <a:latin typeface="TimesTen-Roman"/>
              </a:rPr>
              <a:t>cycle</a:t>
            </a:r>
          </a:p>
          <a:p>
            <a:pPr algn="l">
              <a:buFont typeface="Arial" panose="020B0604020202020204" pitchFamily="34" charset="0"/>
              <a:buChar char="•"/>
            </a:pPr>
            <a:r>
              <a:rPr lang="en-IN" sz="1800" b="0" i="0" u="none" strike="noStrike" baseline="0" dirty="0">
                <a:latin typeface="TimesTen-Roman"/>
              </a:rPr>
              <a:t>A </a:t>
            </a:r>
            <a:r>
              <a:rPr lang="en-US" sz="1800" b="1" i="0" u="none" strike="noStrike" baseline="0" dirty="0">
                <a:latin typeface="TimesTen-Roman"/>
              </a:rPr>
              <a:t>Hamiltonian circuit </a:t>
            </a:r>
            <a:r>
              <a:rPr lang="en-US" sz="1800" b="0" i="0" u="none" strike="noStrike" baseline="0" dirty="0">
                <a:latin typeface="TimesTen-Roman"/>
              </a:rPr>
              <a:t>is defined as a cycle that passes through all the vertices of the </a:t>
            </a:r>
            <a:r>
              <a:rPr lang="en-IN" sz="1800" b="0" i="0" u="none" strike="noStrike" baseline="0" dirty="0">
                <a:latin typeface="TimesTen-Roman"/>
              </a:rPr>
              <a:t>graph exactly once.</a:t>
            </a:r>
            <a:endParaRPr lang="en-IN" b="1" dirty="0">
              <a:latin typeface="TimesTen-Roman"/>
            </a:endParaRPr>
          </a:p>
          <a:p>
            <a:pPr marL="0" indent="0" algn="l">
              <a:buNone/>
            </a:pPr>
            <a:r>
              <a:rPr lang="en-IN" b="1" dirty="0">
                <a:latin typeface="TimesTen-Roman"/>
              </a:rPr>
              <a:t>TSP : </a:t>
            </a:r>
            <a:r>
              <a:rPr lang="en-IN" dirty="0">
                <a:latin typeface="TimesTen-Roman"/>
              </a:rPr>
              <a:t>T</a:t>
            </a:r>
            <a:r>
              <a:rPr lang="en-IN" sz="1800" b="0" i="0" u="none" strike="noStrike" baseline="0" dirty="0">
                <a:latin typeface="TimesTen-Roman"/>
              </a:rPr>
              <a:t>he </a:t>
            </a:r>
            <a:r>
              <a:rPr lang="en-US" sz="1800" b="0" i="0" u="none" strike="noStrike" baseline="0" dirty="0">
                <a:latin typeface="TimesTen-Roman"/>
              </a:rPr>
              <a:t>problem asks to find the </a:t>
            </a:r>
            <a:r>
              <a:rPr lang="en-US" sz="1800" b="1" i="0" u="none" strike="noStrike" baseline="0" dirty="0">
                <a:latin typeface="TimesTen-Roman"/>
              </a:rPr>
              <a:t>shortest tour</a:t>
            </a:r>
            <a:r>
              <a:rPr lang="en-US" sz="1800" b="0" i="0" u="none" strike="noStrike" baseline="0" dirty="0">
                <a:latin typeface="TimesTen-Roman"/>
              </a:rPr>
              <a:t> through a given set of </a:t>
            </a:r>
            <a:r>
              <a:rPr lang="en-US" sz="1800" b="0" i="1" u="none" strike="noStrike" baseline="0" dirty="0">
                <a:latin typeface="MTMI"/>
              </a:rPr>
              <a:t>n </a:t>
            </a:r>
            <a:r>
              <a:rPr lang="en-US" sz="1800" b="0" i="0" u="none" strike="noStrike" baseline="0" dirty="0">
                <a:latin typeface="TimesTen-Roman"/>
              </a:rPr>
              <a:t>cities that visits each city exactly once before returning to the city where it started.</a:t>
            </a:r>
          </a:p>
          <a:p>
            <a:pPr marL="0" indent="0" algn="l">
              <a:buNone/>
            </a:pPr>
            <a:r>
              <a:rPr lang="en-US" b="1" dirty="0">
                <a:latin typeface="TimesTen-Roman"/>
              </a:rPr>
              <a:t>Difference between TSP and Hamiltonian circuit: </a:t>
            </a:r>
            <a:r>
              <a:rPr lang="en-US" dirty="0">
                <a:latin typeface="TimesTen-Roman"/>
              </a:rPr>
              <a:t>In </a:t>
            </a:r>
            <a:r>
              <a:rPr lang="en-US" b="1" dirty="0">
                <a:latin typeface="TimesTen-Roman"/>
              </a:rPr>
              <a:t>TSP</a:t>
            </a:r>
            <a:r>
              <a:rPr lang="en-US" dirty="0">
                <a:latin typeface="TimesTen-Roman"/>
              </a:rPr>
              <a:t> we look for the </a:t>
            </a:r>
            <a:r>
              <a:rPr lang="en-US" b="1" dirty="0">
                <a:latin typeface="TimesTen-Roman"/>
              </a:rPr>
              <a:t>shortest path </a:t>
            </a:r>
            <a:r>
              <a:rPr lang="en-US" dirty="0">
                <a:latin typeface="TimesTen-Roman"/>
              </a:rPr>
              <a:t>that visits all cities exactly once but in </a:t>
            </a:r>
            <a:r>
              <a:rPr lang="en-US" b="1" dirty="0">
                <a:latin typeface="TimesTen-Roman"/>
              </a:rPr>
              <a:t>Hamiltonian circuit </a:t>
            </a:r>
            <a:r>
              <a:rPr lang="en-US" dirty="0">
                <a:latin typeface="TimesTen-Roman"/>
              </a:rPr>
              <a:t>we just look for a </a:t>
            </a:r>
            <a:r>
              <a:rPr lang="en-US" b="1" dirty="0">
                <a:latin typeface="TimesTen-Roman"/>
              </a:rPr>
              <a:t>path</a:t>
            </a:r>
            <a:r>
              <a:rPr lang="en-US" dirty="0">
                <a:latin typeface="TimesTen-Roman"/>
              </a:rPr>
              <a:t> that visits all vertices in the graph exactly once. </a:t>
            </a:r>
            <a:endParaRPr lang="en-IN" dirty="0"/>
          </a:p>
        </p:txBody>
      </p:sp>
    </p:spTree>
    <p:extLst>
      <p:ext uri="{BB962C8B-B14F-4D97-AF65-F5344CB8AC3E}">
        <p14:creationId xmlns:p14="http://schemas.microsoft.com/office/powerpoint/2010/main" val="21131726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57391-442A-4E57-B179-E53EBDE4B602}"/>
              </a:ext>
            </a:extLst>
          </p:cNvPr>
          <p:cNvSpPr>
            <a:spLocks noGrp="1"/>
          </p:cNvSpPr>
          <p:nvPr>
            <p:ph type="title"/>
          </p:nvPr>
        </p:nvSpPr>
        <p:spPr/>
        <p:txBody>
          <a:bodyPr/>
          <a:lstStyle/>
          <a:p>
            <a:r>
              <a:rPr lang="en-US" dirty="0"/>
              <a:t>Brute force solution-TSP</a:t>
            </a:r>
            <a:endParaRPr lang="en-IN" dirty="0"/>
          </a:p>
        </p:txBody>
      </p:sp>
      <p:pic>
        <p:nvPicPr>
          <p:cNvPr id="5" name="Content Placeholder 4">
            <a:extLst>
              <a:ext uri="{FF2B5EF4-FFF2-40B4-BE49-F238E27FC236}">
                <a16:creationId xmlns:a16="http://schemas.microsoft.com/office/drawing/2014/main" id="{EE6FF1A8-8049-4B90-9640-C285D90B9B4D}"/>
              </a:ext>
            </a:extLst>
          </p:cNvPr>
          <p:cNvPicPr>
            <a:picLocks noGrp="1" noChangeAspect="1"/>
          </p:cNvPicPr>
          <p:nvPr>
            <p:ph idx="1"/>
          </p:nvPr>
        </p:nvPicPr>
        <p:blipFill>
          <a:blip r:embed="rId2"/>
          <a:stretch>
            <a:fillRect/>
          </a:stretch>
        </p:blipFill>
        <p:spPr>
          <a:xfrm>
            <a:off x="2647784" y="2160588"/>
            <a:ext cx="4464629" cy="3881437"/>
          </a:xfrm>
        </p:spPr>
      </p:pic>
    </p:spTree>
    <p:extLst>
      <p:ext uri="{BB962C8B-B14F-4D97-AF65-F5344CB8AC3E}">
        <p14:creationId xmlns:p14="http://schemas.microsoft.com/office/powerpoint/2010/main" val="40193312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2EEDA-9290-4794-88F6-5929480BC982}"/>
              </a:ext>
            </a:extLst>
          </p:cNvPr>
          <p:cNvSpPr>
            <a:spLocks noGrp="1"/>
          </p:cNvSpPr>
          <p:nvPr>
            <p:ph type="title"/>
          </p:nvPr>
        </p:nvSpPr>
        <p:spPr/>
        <p:txBody>
          <a:bodyPr/>
          <a:lstStyle/>
          <a:p>
            <a:r>
              <a:rPr lang="en-US" dirty="0"/>
              <a:t>Runtime complexity of TSP –Brute force</a:t>
            </a:r>
            <a:endParaRPr lang="en-IN" dirty="0"/>
          </a:p>
        </p:txBody>
      </p:sp>
      <p:sp>
        <p:nvSpPr>
          <p:cNvPr id="3" name="Content Placeholder 2">
            <a:extLst>
              <a:ext uri="{FF2B5EF4-FFF2-40B4-BE49-F238E27FC236}">
                <a16:creationId xmlns:a16="http://schemas.microsoft.com/office/drawing/2014/main" id="{80082663-5306-4FC7-9318-F07599149710}"/>
              </a:ext>
            </a:extLst>
          </p:cNvPr>
          <p:cNvSpPr>
            <a:spLocks noGrp="1"/>
          </p:cNvSpPr>
          <p:nvPr>
            <p:ph idx="1"/>
          </p:nvPr>
        </p:nvSpPr>
        <p:spPr/>
        <p:txBody>
          <a:bodyPr>
            <a:normAutofit/>
          </a:bodyPr>
          <a:lstStyle/>
          <a:p>
            <a:pPr marL="0" indent="0">
              <a:lnSpc>
                <a:spcPct val="200000"/>
              </a:lnSpc>
              <a:buNone/>
            </a:pPr>
            <a:r>
              <a:rPr lang="en-US" sz="2800" b="0" i="0" dirty="0">
                <a:solidFill>
                  <a:srgbClr val="273239"/>
                </a:solidFill>
                <a:effectLst/>
                <a:latin typeface="Arial" panose="020B0604020202020204" pitchFamily="34" charset="0"/>
                <a:cs typeface="Arial" panose="020B0604020202020204" pitchFamily="34" charset="0"/>
              </a:rPr>
              <a:t>Brute force explores all permutations of ‘n’ locations and so the runtime complexity is O(n</a:t>
            </a:r>
            <a:r>
              <a:rPr lang="en-US" sz="2800" dirty="0">
                <a:solidFill>
                  <a:srgbClr val="273239"/>
                </a:solidFill>
                <a:latin typeface="Arial" panose="020B0604020202020204" pitchFamily="34" charset="0"/>
                <a:cs typeface="Arial" panose="020B0604020202020204" pitchFamily="34" charset="0"/>
              </a:rPr>
              <a:t>!).</a:t>
            </a:r>
            <a:endParaRPr lang="en-IN" sz="2800" dirty="0"/>
          </a:p>
        </p:txBody>
      </p:sp>
    </p:spTree>
    <p:extLst>
      <p:ext uri="{BB962C8B-B14F-4D97-AF65-F5344CB8AC3E}">
        <p14:creationId xmlns:p14="http://schemas.microsoft.com/office/powerpoint/2010/main" val="17387651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7D3DC-4F0F-4B71-8C01-D7C04EEEEB0F}"/>
              </a:ext>
            </a:extLst>
          </p:cNvPr>
          <p:cNvSpPr>
            <a:spLocks noGrp="1"/>
          </p:cNvSpPr>
          <p:nvPr>
            <p:ph type="title"/>
          </p:nvPr>
        </p:nvSpPr>
        <p:spPr>
          <a:xfrm>
            <a:off x="1005947" y="259556"/>
            <a:ext cx="8596668" cy="1320800"/>
          </a:xfrm>
        </p:spPr>
        <p:txBody>
          <a:bodyPr/>
          <a:lstStyle/>
          <a:p>
            <a:pPr algn="ctr"/>
            <a:r>
              <a:rPr lang="en-US" dirty="0"/>
              <a:t>Divide and conquer </a:t>
            </a:r>
            <a:endParaRPr lang="en-IN" dirty="0"/>
          </a:p>
        </p:txBody>
      </p:sp>
      <p:sp>
        <p:nvSpPr>
          <p:cNvPr id="4" name="TextBox 3">
            <a:extLst>
              <a:ext uri="{FF2B5EF4-FFF2-40B4-BE49-F238E27FC236}">
                <a16:creationId xmlns:a16="http://schemas.microsoft.com/office/drawing/2014/main" id="{2B4E2695-BF1D-4D51-8D2C-EEC1EFAB86B6}"/>
              </a:ext>
            </a:extLst>
          </p:cNvPr>
          <p:cNvSpPr txBox="1"/>
          <p:nvPr/>
        </p:nvSpPr>
        <p:spPr>
          <a:xfrm>
            <a:off x="1107281" y="1428713"/>
            <a:ext cx="8841580" cy="4438844"/>
          </a:xfrm>
          <a:prstGeom prst="rect">
            <a:avLst/>
          </a:prstGeom>
          <a:noFill/>
        </p:spPr>
        <p:txBody>
          <a:bodyPr wrap="square">
            <a:spAutoFit/>
          </a:bodyPr>
          <a:lstStyle/>
          <a:p>
            <a:pPr algn="just">
              <a:lnSpc>
                <a:spcPct val="200000"/>
              </a:lnSpc>
            </a:pPr>
            <a:r>
              <a:rPr lang="en-US" dirty="0"/>
              <a:t>Divide-and-conquer algorithms work according to the following general plan: </a:t>
            </a:r>
          </a:p>
          <a:p>
            <a:pPr marL="457200" indent="-457200" algn="just">
              <a:lnSpc>
                <a:spcPct val="200000"/>
              </a:lnSpc>
              <a:buAutoNum type="arabicPeriod"/>
            </a:pPr>
            <a:r>
              <a:rPr lang="en-US" dirty="0"/>
              <a:t>A problem is divided into several subproblems of the same type, ideally of about equal size. </a:t>
            </a:r>
          </a:p>
          <a:p>
            <a:pPr marL="457200" indent="-457200" algn="just">
              <a:lnSpc>
                <a:spcPct val="200000"/>
              </a:lnSpc>
              <a:buAutoNum type="arabicPeriod"/>
            </a:pPr>
            <a:r>
              <a:rPr lang="en-US" dirty="0"/>
              <a:t>The subproblems are solved (typically recursively, though sometimes a different algorithm is employed, especially when subproblems become small enough). </a:t>
            </a:r>
          </a:p>
          <a:p>
            <a:pPr marL="457200" indent="-457200" algn="just">
              <a:lnSpc>
                <a:spcPct val="200000"/>
              </a:lnSpc>
              <a:buAutoNum type="arabicPeriod"/>
            </a:pPr>
            <a:r>
              <a:rPr lang="en-US" dirty="0"/>
              <a:t>If necessary, the solutions to the subproblems are combined to get a solution to the original problem. </a:t>
            </a:r>
          </a:p>
        </p:txBody>
      </p:sp>
    </p:spTree>
    <p:extLst>
      <p:ext uri="{BB962C8B-B14F-4D97-AF65-F5344CB8AC3E}">
        <p14:creationId xmlns:p14="http://schemas.microsoft.com/office/powerpoint/2010/main" val="33730950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10FDE-D159-4C22-B2A3-A8707FD54AC4}"/>
              </a:ext>
            </a:extLst>
          </p:cNvPr>
          <p:cNvSpPr>
            <a:spLocks noGrp="1"/>
          </p:cNvSpPr>
          <p:nvPr>
            <p:ph type="title"/>
          </p:nvPr>
        </p:nvSpPr>
        <p:spPr/>
        <p:txBody>
          <a:bodyPr/>
          <a:lstStyle/>
          <a:p>
            <a:r>
              <a:rPr lang="en-US" dirty="0"/>
              <a:t>Minmax Algorithm -iterative</a:t>
            </a:r>
            <a:endParaRPr lang="en-IN" dirty="0"/>
          </a:p>
        </p:txBody>
      </p:sp>
      <p:sp>
        <p:nvSpPr>
          <p:cNvPr id="6" name="Title 1">
            <a:extLst>
              <a:ext uri="{FF2B5EF4-FFF2-40B4-BE49-F238E27FC236}">
                <a16:creationId xmlns:a16="http://schemas.microsoft.com/office/drawing/2014/main" id="{90774A33-01CA-42F3-8131-49B80BF8F744}"/>
              </a:ext>
            </a:extLst>
          </p:cNvPr>
          <p:cNvSpPr txBox="1">
            <a:spLocks/>
          </p:cNvSpPr>
          <p:nvPr/>
        </p:nvSpPr>
        <p:spPr>
          <a:xfrm>
            <a:off x="872597" y="2941909"/>
            <a:ext cx="8596668"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IN" dirty="0"/>
          </a:p>
        </p:txBody>
      </p:sp>
      <p:pic>
        <p:nvPicPr>
          <p:cNvPr id="8" name="Picture 7">
            <a:extLst>
              <a:ext uri="{FF2B5EF4-FFF2-40B4-BE49-F238E27FC236}">
                <a16:creationId xmlns:a16="http://schemas.microsoft.com/office/drawing/2014/main" id="{19FD60F0-9CA7-427F-BCDF-DFB961893833}"/>
              </a:ext>
            </a:extLst>
          </p:cNvPr>
          <p:cNvPicPr>
            <a:picLocks noChangeAspect="1"/>
          </p:cNvPicPr>
          <p:nvPr/>
        </p:nvPicPr>
        <p:blipFill>
          <a:blip r:embed="rId2"/>
          <a:stretch>
            <a:fillRect/>
          </a:stretch>
        </p:blipFill>
        <p:spPr>
          <a:xfrm>
            <a:off x="591130" y="1930400"/>
            <a:ext cx="7826210" cy="4041776"/>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2FE1686-1775-42DE-A945-8A5B96091B6D}"/>
                  </a:ext>
                </a:extLst>
              </p:cNvPr>
              <p:cNvSpPr txBox="1"/>
              <p:nvPr/>
            </p:nvSpPr>
            <p:spPr>
              <a:xfrm>
                <a:off x="6496215" y="4063117"/>
                <a:ext cx="1236942" cy="555024"/>
              </a:xfrm>
              <a:prstGeom prst="rect">
                <a:avLst/>
              </a:prstGeom>
              <a:noFill/>
            </p:spPr>
            <p:txBody>
              <a:bodyPr wrap="none" lIns="0" tIns="0" rIns="0" bIns="0" rtlCol="0">
                <a:spAutoFit/>
              </a:bodyPr>
              <a:lstStyle/>
              <a:p>
                <a:r>
                  <a:rPr lang="en-US" dirty="0"/>
                  <a:t>Solve</a:t>
                </a:r>
              </a:p>
              <a:p>
                <a:r>
                  <a:rPr lang="en-US" dirty="0"/>
                  <a:t>T(n)=</a:t>
                </a:r>
                <a:r>
                  <a:rPr lang="en-IN" dirty="0"/>
                  <a:t> </a:t>
                </a:r>
                <a14:m>
                  <m:oMath xmlns:m="http://schemas.openxmlformats.org/officeDocument/2006/math">
                    <m:nary>
                      <m:naryPr>
                        <m:chr m:val="∑"/>
                        <m:ctrlPr>
                          <a:rPr lang="en-IN"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=2</m:t>
                        </m:r>
                      </m:sub>
                      <m:sup>
                        <m:r>
                          <a:rPr lang="en-US" b="0" i="1" smtClean="0">
                            <a:latin typeface="Cambria Math" panose="02040503050406030204" pitchFamily="18" charset="0"/>
                          </a:rPr>
                          <m:t>𝑛</m:t>
                        </m:r>
                      </m:sup>
                      <m:e>
                        <m:r>
                          <a:rPr lang="en-US" b="0" i="1" smtClean="0">
                            <a:latin typeface="Cambria Math" panose="02040503050406030204" pitchFamily="18" charset="0"/>
                          </a:rPr>
                          <m:t>2</m:t>
                        </m:r>
                      </m:e>
                    </m:nary>
                  </m:oMath>
                </a14:m>
                <a:endParaRPr lang="en-IN" dirty="0"/>
              </a:p>
            </p:txBody>
          </p:sp>
        </mc:Choice>
        <mc:Fallback xmlns="">
          <p:sp>
            <p:nvSpPr>
              <p:cNvPr id="9" name="TextBox 8">
                <a:extLst>
                  <a:ext uri="{FF2B5EF4-FFF2-40B4-BE49-F238E27FC236}">
                    <a16:creationId xmlns:a16="http://schemas.microsoft.com/office/drawing/2014/main" id="{32FE1686-1775-42DE-A945-8A5B96091B6D}"/>
                  </a:ext>
                </a:extLst>
              </p:cNvPr>
              <p:cNvSpPr txBox="1">
                <a:spLocks noRot="1" noChangeAspect="1" noMove="1" noResize="1" noEditPoints="1" noAdjustHandles="1" noChangeArrowheads="1" noChangeShapeType="1" noTextEdit="1"/>
              </p:cNvSpPr>
              <p:nvPr/>
            </p:nvSpPr>
            <p:spPr>
              <a:xfrm>
                <a:off x="6496215" y="4063117"/>
                <a:ext cx="1236942" cy="555024"/>
              </a:xfrm>
              <a:prstGeom prst="rect">
                <a:avLst/>
              </a:prstGeom>
              <a:blipFill>
                <a:blip r:embed="rId3"/>
                <a:stretch>
                  <a:fillRect l="-11823" t="-38462" r="-33498" b="-131868"/>
                </a:stretch>
              </a:blipFill>
            </p:spPr>
            <p:txBody>
              <a:bodyPr/>
              <a:lstStyle/>
              <a:p>
                <a:r>
                  <a:rPr lang="en-IN">
                    <a:noFill/>
                  </a:rPr>
                  <a:t> </a:t>
                </a:r>
              </a:p>
            </p:txBody>
          </p:sp>
        </mc:Fallback>
      </mc:AlternateContent>
    </p:spTree>
    <p:extLst>
      <p:ext uri="{BB962C8B-B14F-4D97-AF65-F5344CB8AC3E}">
        <p14:creationId xmlns:p14="http://schemas.microsoft.com/office/powerpoint/2010/main" val="13426258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4DAF3-4E65-44DE-AEAD-1045A04B7F27}"/>
              </a:ext>
            </a:extLst>
          </p:cNvPr>
          <p:cNvSpPr>
            <a:spLocks noGrp="1"/>
          </p:cNvSpPr>
          <p:nvPr>
            <p:ph type="title"/>
          </p:nvPr>
        </p:nvSpPr>
        <p:spPr/>
        <p:txBody>
          <a:bodyPr/>
          <a:lstStyle/>
          <a:p>
            <a:r>
              <a:rPr lang="en-US" dirty="0"/>
              <a:t>Minmax Algorithm –Divide and conquer</a:t>
            </a:r>
            <a:br>
              <a:rPr lang="en-IN" dirty="0"/>
            </a:br>
            <a:endParaRPr lang="en-IN" dirty="0"/>
          </a:p>
        </p:txBody>
      </p:sp>
      <p:pic>
        <p:nvPicPr>
          <p:cNvPr id="7" name="Content Placeholder 6">
            <a:extLst>
              <a:ext uri="{FF2B5EF4-FFF2-40B4-BE49-F238E27FC236}">
                <a16:creationId xmlns:a16="http://schemas.microsoft.com/office/drawing/2014/main" id="{F3840489-01B9-44CB-8F1C-5E1A3CBB10C6}"/>
              </a:ext>
            </a:extLst>
          </p:cNvPr>
          <p:cNvPicPr>
            <a:picLocks noGrp="1" noChangeAspect="1"/>
          </p:cNvPicPr>
          <p:nvPr>
            <p:ph idx="1"/>
          </p:nvPr>
        </p:nvPicPr>
        <p:blipFill>
          <a:blip r:embed="rId2"/>
          <a:stretch>
            <a:fillRect/>
          </a:stretch>
        </p:blipFill>
        <p:spPr>
          <a:xfrm>
            <a:off x="803081" y="1270000"/>
            <a:ext cx="5494351" cy="5299747"/>
          </a:xfr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10D6AE7-6F0A-4EB9-B4F0-ADA37E6D1A7F}"/>
                  </a:ext>
                </a:extLst>
              </p:cNvPr>
              <p:cNvSpPr txBox="1"/>
              <p:nvPr/>
            </p:nvSpPr>
            <p:spPr>
              <a:xfrm>
                <a:off x="6423179" y="1518699"/>
                <a:ext cx="3486532" cy="1587935"/>
              </a:xfrm>
              <a:prstGeom prst="rect">
                <a:avLst/>
              </a:prstGeom>
              <a:noFill/>
            </p:spPr>
            <p:txBody>
              <a:bodyPr wrap="none" lIns="0" tIns="0" rIns="0" bIns="0" rtlCol="0">
                <a:spAutoFit/>
              </a:bodyPr>
              <a:lstStyle/>
              <a:p>
                <a:r>
                  <a:rPr lang="en-IN" dirty="0"/>
                  <a:t>Solve the recurrence equation to </a:t>
                </a:r>
              </a:p>
              <a:p>
                <a:r>
                  <a:rPr lang="en-IN" dirty="0"/>
                  <a:t>get time complexity </a:t>
                </a:r>
              </a:p>
              <a:p>
                <a:r>
                  <a:rPr lang="en-IN" dirty="0"/>
                  <a:t>T(n)=</a:t>
                </a:r>
                <a14:m>
                  <m:oMath xmlns:m="http://schemas.openxmlformats.org/officeDocument/2006/math">
                    <m:d>
                      <m:dPr>
                        <m:begChr m:val="{"/>
                        <m:endChr m:val=""/>
                        <m:ctrlPr>
                          <a:rPr lang="en-IN" i="1" smtClean="0">
                            <a:latin typeface="Cambria Math" panose="02040503050406030204" pitchFamily="18" charset="0"/>
                          </a:rPr>
                        </m:ctrlPr>
                      </m:dPr>
                      <m:e>
                        <m:eqArr>
                          <m:eqArrPr>
                            <m:ctrlPr>
                              <a:rPr lang="en-IN" i="1" dirty="0">
                                <a:latin typeface="Cambria Math" panose="02040503050406030204" pitchFamily="18" charset="0"/>
                              </a:rPr>
                            </m:ctrlPr>
                          </m:eqArrPr>
                          <m:e>
                            <m:r>
                              <a:rPr lang="en-IN" i="1" dirty="0">
                                <a:latin typeface="Cambria Math" panose="02040503050406030204" pitchFamily="18" charset="0"/>
                              </a:rPr>
                              <m:t>2</m:t>
                            </m:r>
                            <m:r>
                              <a:rPr lang="en-IN" i="1" dirty="0">
                                <a:latin typeface="Cambria Math" panose="02040503050406030204" pitchFamily="18" charset="0"/>
                              </a:rPr>
                              <m:t>𝑇</m:t>
                            </m:r>
                            <m:d>
                              <m:dPr>
                                <m:ctrlPr>
                                  <a:rPr lang="en-IN" i="1" dirty="0">
                                    <a:latin typeface="Cambria Math" panose="02040503050406030204" pitchFamily="18" charset="0"/>
                                  </a:rPr>
                                </m:ctrlPr>
                              </m:dPr>
                              <m:e>
                                <m:f>
                                  <m:fPr>
                                    <m:ctrlPr>
                                      <a:rPr lang="en-IN" i="1" dirty="0">
                                        <a:latin typeface="Cambria Math" panose="02040503050406030204" pitchFamily="18" charset="0"/>
                                      </a:rPr>
                                    </m:ctrlPr>
                                  </m:fPr>
                                  <m:num>
                                    <m:r>
                                      <a:rPr lang="en-IN" i="1" dirty="0">
                                        <a:latin typeface="Cambria Math" panose="02040503050406030204" pitchFamily="18" charset="0"/>
                                      </a:rPr>
                                      <m:t>𝑛</m:t>
                                    </m:r>
                                  </m:num>
                                  <m:den>
                                    <m:r>
                                      <a:rPr lang="en-IN" i="1" dirty="0">
                                        <a:latin typeface="Cambria Math" panose="02040503050406030204" pitchFamily="18" charset="0"/>
                                      </a:rPr>
                                      <m:t>2</m:t>
                                    </m:r>
                                  </m:den>
                                </m:f>
                              </m:e>
                            </m:d>
                            <m:r>
                              <a:rPr lang="en-IN" i="1" dirty="0">
                                <a:latin typeface="Cambria Math" panose="02040503050406030204" pitchFamily="18" charset="0"/>
                              </a:rPr>
                              <m:t>+2</m:t>
                            </m:r>
                            <m:r>
                              <a:rPr lang="en-US" b="0" i="1" dirty="0" smtClean="0">
                                <a:latin typeface="Cambria Math" panose="02040503050406030204" pitchFamily="18" charset="0"/>
                              </a:rPr>
                              <m:t>   </m:t>
                            </m:r>
                            <m:r>
                              <a:rPr lang="en-US" b="0" i="1" dirty="0" smtClean="0">
                                <a:latin typeface="Cambria Math" panose="02040503050406030204" pitchFamily="18" charset="0"/>
                              </a:rPr>
                              <m:t>𝑖𝑓</m:t>
                            </m:r>
                            <m:r>
                              <a:rPr lang="en-US" b="0" i="1" dirty="0" smtClean="0">
                                <a:latin typeface="Cambria Math" panose="02040503050406030204" pitchFamily="18" charset="0"/>
                              </a:rPr>
                              <m:t> </m:t>
                            </m:r>
                            <m:r>
                              <a:rPr lang="en-US" b="0" i="1" dirty="0" smtClean="0">
                                <a:latin typeface="Cambria Math" panose="02040503050406030204" pitchFamily="18" charset="0"/>
                              </a:rPr>
                              <m:t>𝑛</m:t>
                            </m:r>
                            <m:r>
                              <a:rPr lang="en-US" b="0" i="1" dirty="0" smtClean="0">
                                <a:latin typeface="Cambria Math" panose="02040503050406030204" pitchFamily="18" charset="0"/>
                              </a:rPr>
                              <m:t>&gt;2</m:t>
                            </m:r>
                            <m:r>
                              <m:rPr>
                                <m:nor/>
                              </m:rPr>
                              <a:rPr lang="en-IN" dirty="0"/>
                              <m:t> </m:t>
                            </m:r>
                          </m:e>
                          <m:e>
                            <m:r>
                              <a:rPr lang="en-US" b="0" i="1" dirty="0" smtClean="0">
                                <a:latin typeface="Cambria Math" panose="02040503050406030204" pitchFamily="18" charset="0"/>
                              </a:rPr>
                              <m:t>               1</m:t>
                            </m:r>
                            <m:r>
                              <m:rPr>
                                <m:nor/>
                              </m:rPr>
                              <a:rPr lang="en-IN" dirty="0"/>
                              <m:t> </m:t>
                            </m:r>
                            <m:r>
                              <m:rPr>
                                <m:nor/>
                              </m:rPr>
                              <a:rPr lang="en-US" b="0" i="0" dirty="0" smtClean="0"/>
                              <m:t> </m:t>
                            </m:r>
                            <m:r>
                              <a:rPr lang="en-US" b="0" i="1" dirty="0" smtClean="0">
                                <a:latin typeface="Cambria Math" panose="02040503050406030204" pitchFamily="18" charset="0"/>
                              </a:rPr>
                              <m:t>𝑖𝑓</m:t>
                            </m:r>
                            <m:r>
                              <a:rPr lang="en-US" b="0" i="1" dirty="0" smtClean="0">
                                <a:latin typeface="Cambria Math" panose="02040503050406030204" pitchFamily="18" charset="0"/>
                              </a:rPr>
                              <m:t> </m:t>
                            </m:r>
                            <m:r>
                              <a:rPr lang="en-US" b="0" i="1" dirty="0" smtClean="0">
                                <a:latin typeface="Cambria Math" panose="02040503050406030204" pitchFamily="18" charset="0"/>
                              </a:rPr>
                              <m:t>𝑛</m:t>
                            </m:r>
                            <m:r>
                              <a:rPr lang="en-US" b="0" i="1" dirty="0" smtClean="0">
                                <a:latin typeface="Cambria Math" panose="02040503050406030204" pitchFamily="18" charset="0"/>
                              </a:rPr>
                              <m:t>=2</m:t>
                            </m:r>
                          </m:e>
                          <m:e>
                            <m:r>
                              <a:rPr lang="en-US" b="0" i="1" dirty="0" smtClean="0">
                                <a:latin typeface="Cambria Math" panose="02040503050406030204" pitchFamily="18" charset="0"/>
                              </a:rPr>
                              <m:t>               </m:t>
                            </m:r>
                            <m:r>
                              <a:rPr lang="en-IN" i="1" dirty="0">
                                <a:latin typeface="Cambria Math" panose="02040503050406030204" pitchFamily="18" charset="0"/>
                              </a:rPr>
                              <m:t>0</m:t>
                            </m:r>
                            <m:r>
                              <a:rPr lang="en-US" b="0" i="1" dirty="0" smtClean="0">
                                <a:latin typeface="Cambria Math" panose="02040503050406030204" pitchFamily="18" charset="0"/>
                              </a:rPr>
                              <m:t>   </m:t>
                            </m:r>
                            <m:r>
                              <a:rPr lang="en-US" b="0" i="1" dirty="0" smtClean="0">
                                <a:latin typeface="Cambria Math" panose="02040503050406030204" pitchFamily="18" charset="0"/>
                              </a:rPr>
                              <m:t>𝑖𝑓</m:t>
                            </m:r>
                            <m:r>
                              <a:rPr lang="en-US" b="0" i="1" dirty="0" smtClean="0">
                                <a:latin typeface="Cambria Math" panose="02040503050406030204" pitchFamily="18" charset="0"/>
                              </a:rPr>
                              <m:t> </m:t>
                            </m:r>
                            <m:r>
                              <a:rPr lang="en-US" b="0" i="1" dirty="0" smtClean="0">
                                <a:latin typeface="Cambria Math" panose="02040503050406030204" pitchFamily="18" charset="0"/>
                              </a:rPr>
                              <m:t>𝑛</m:t>
                            </m:r>
                            <m:r>
                              <a:rPr lang="en-US" b="0" i="1" dirty="0" smtClean="0">
                                <a:latin typeface="Cambria Math" panose="02040503050406030204" pitchFamily="18" charset="0"/>
                              </a:rPr>
                              <m:t>=1</m:t>
                            </m:r>
                          </m:e>
                        </m:eqArr>
                      </m:e>
                    </m:d>
                  </m:oMath>
                </a14:m>
                <a:endParaRPr lang="en-IN" dirty="0"/>
              </a:p>
            </p:txBody>
          </p:sp>
        </mc:Choice>
        <mc:Fallback xmlns="">
          <p:sp>
            <p:nvSpPr>
              <p:cNvPr id="9" name="TextBox 8">
                <a:extLst>
                  <a:ext uri="{FF2B5EF4-FFF2-40B4-BE49-F238E27FC236}">
                    <a16:creationId xmlns:a16="http://schemas.microsoft.com/office/drawing/2014/main" id="{010D6AE7-6F0A-4EB9-B4F0-ADA37E6D1A7F}"/>
                  </a:ext>
                </a:extLst>
              </p:cNvPr>
              <p:cNvSpPr txBox="1">
                <a:spLocks noRot="1" noChangeAspect="1" noMove="1" noResize="1" noEditPoints="1" noAdjustHandles="1" noChangeArrowheads="1" noChangeShapeType="1" noTextEdit="1"/>
              </p:cNvSpPr>
              <p:nvPr/>
            </p:nvSpPr>
            <p:spPr>
              <a:xfrm>
                <a:off x="6423179" y="1518699"/>
                <a:ext cx="3486532" cy="1587935"/>
              </a:xfrm>
              <a:prstGeom prst="rect">
                <a:avLst/>
              </a:prstGeom>
              <a:blipFill>
                <a:blip r:embed="rId3"/>
                <a:stretch>
                  <a:fillRect l="-4196" t="-5364" r="-2972"/>
                </a:stretch>
              </a:blipFill>
            </p:spPr>
            <p:txBody>
              <a:bodyPr/>
              <a:lstStyle/>
              <a:p>
                <a:r>
                  <a:rPr lang="en-IN">
                    <a:noFill/>
                  </a:rPr>
                  <a:t> </a:t>
                </a:r>
              </a:p>
            </p:txBody>
          </p:sp>
        </mc:Fallback>
      </mc:AlternateContent>
    </p:spTree>
    <p:extLst>
      <p:ext uri="{BB962C8B-B14F-4D97-AF65-F5344CB8AC3E}">
        <p14:creationId xmlns:p14="http://schemas.microsoft.com/office/powerpoint/2010/main" val="498264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184B79A-324A-5A57-E844-F10E17F95434}"/>
              </a:ext>
            </a:extLst>
          </p:cNvPr>
          <p:cNvSpPr txBox="1"/>
          <p:nvPr/>
        </p:nvSpPr>
        <p:spPr>
          <a:xfrm flipH="1">
            <a:off x="886012" y="2942038"/>
            <a:ext cx="10419975" cy="3970318"/>
          </a:xfrm>
          <a:prstGeom prst="rect">
            <a:avLst/>
          </a:prstGeom>
          <a:noFill/>
        </p:spPr>
        <p:txBody>
          <a:bodyPr wrap="square" rtlCol="0">
            <a:spAutoFit/>
          </a:bodyPr>
          <a:lstStyle/>
          <a:p>
            <a:r>
              <a:rPr lang="en-IN" b="1" dirty="0"/>
              <a:t>Note: </a:t>
            </a:r>
            <a:r>
              <a:rPr lang="en-IN" dirty="0"/>
              <a:t>When I have found max min values deep down to the left and right subtrees, I have to merge the results using fmax=max(</a:t>
            </a:r>
            <a:r>
              <a:rPr lang="en-IN" dirty="0" err="1"/>
              <a:t>gmax</a:t>
            </a:r>
            <a:r>
              <a:rPr lang="en-IN" dirty="0"/>
              <a:t>, </a:t>
            </a:r>
            <a:r>
              <a:rPr lang="en-IN" dirty="0" err="1"/>
              <a:t>hmax</a:t>
            </a:r>
            <a:r>
              <a:rPr lang="en-IN" dirty="0"/>
              <a:t>) and </a:t>
            </a:r>
            <a:r>
              <a:rPr lang="en-IN" dirty="0" err="1"/>
              <a:t>fmin</a:t>
            </a:r>
            <a:r>
              <a:rPr lang="en-IN" dirty="0"/>
              <a:t>=min(</a:t>
            </a:r>
            <a:r>
              <a:rPr lang="en-IN" dirty="0" err="1"/>
              <a:t>gmin</a:t>
            </a:r>
            <a:r>
              <a:rPr lang="en-IN" dirty="0"/>
              <a:t>, </a:t>
            </a:r>
            <a:r>
              <a:rPr lang="en-IN" dirty="0" err="1"/>
              <a:t>hmin</a:t>
            </a:r>
            <a:r>
              <a:rPr lang="en-IN" dirty="0"/>
              <a:t>). Now </a:t>
            </a:r>
            <a:r>
              <a:rPr lang="en-IN" dirty="0" err="1"/>
              <a:t>gmax</a:t>
            </a:r>
            <a:r>
              <a:rPr lang="en-IN" dirty="0"/>
              <a:t> and </a:t>
            </a:r>
            <a:r>
              <a:rPr lang="en-IN" dirty="0" err="1"/>
              <a:t>gmin</a:t>
            </a:r>
            <a:r>
              <a:rPr lang="en-IN" dirty="0"/>
              <a:t> are the results obtained from left subtree containing (29,14) and </a:t>
            </a:r>
            <a:r>
              <a:rPr lang="en-IN" dirty="0" err="1"/>
              <a:t>hmax</a:t>
            </a:r>
            <a:r>
              <a:rPr lang="en-IN" dirty="0"/>
              <a:t> and </a:t>
            </a:r>
            <a:r>
              <a:rPr lang="en-IN" dirty="0" err="1"/>
              <a:t>hmin</a:t>
            </a:r>
            <a:r>
              <a:rPr lang="en-IN" dirty="0"/>
              <a:t> are the results obtained from right subtree containing (15,1)</a:t>
            </a:r>
          </a:p>
          <a:p>
            <a:r>
              <a:rPr lang="en-IN" dirty="0"/>
              <a:t>29,14,15,1,6,10,32,12</a:t>
            </a:r>
          </a:p>
          <a:p>
            <a:r>
              <a:rPr lang="en-IN" dirty="0"/>
              <a:t>29,14,15,1</a:t>
            </a:r>
          </a:p>
          <a:p>
            <a:r>
              <a:rPr lang="en-IN" dirty="0"/>
              <a:t>29,14 (</a:t>
            </a:r>
            <a:r>
              <a:rPr lang="en-IN" dirty="0" err="1"/>
              <a:t>gmax</a:t>
            </a:r>
            <a:r>
              <a:rPr lang="en-IN" dirty="0"/>
              <a:t>=29,gmin=14)   </a:t>
            </a:r>
          </a:p>
          <a:p>
            <a:r>
              <a:rPr lang="en-IN" dirty="0"/>
              <a:t>15,1(</a:t>
            </a:r>
            <a:r>
              <a:rPr lang="en-IN" dirty="0" err="1"/>
              <a:t>hmax</a:t>
            </a:r>
            <a:r>
              <a:rPr lang="en-IN" dirty="0"/>
              <a:t>=15, </a:t>
            </a:r>
            <a:r>
              <a:rPr lang="en-IN" dirty="0" err="1"/>
              <a:t>hmin</a:t>
            </a:r>
            <a:r>
              <a:rPr lang="en-IN" dirty="0"/>
              <a:t>=1) // Goes one step above and explores RST</a:t>
            </a:r>
          </a:p>
          <a:p>
            <a:r>
              <a:rPr lang="en-IN" dirty="0"/>
              <a:t>Merge (fmax=29, </a:t>
            </a:r>
            <a:r>
              <a:rPr lang="en-IN" dirty="0" err="1"/>
              <a:t>fmin</a:t>
            </a:r>
            <a:r>
              <a:rPr lang="en-IN" dirty="0"/>
              <a:t>=1)----------1</a:t>
            </a:r>
          </a:p>
          <a:p>
            <a:r>
              <a:rPr lang="en-IN" dirty="0"/>
              <a:t>6,10,32,12 //Reaches root and explores the RST </a:t>
            </a:r>
          </a:p>
          <a:p>
            <a:r>
              <a:rPr lang="en-IN" dirty="0"/>
              <a:t>6,10 (</a:t>
            </a:r>
            <a:r>
              <a:rPr lang="en-IN" dirty="0" err="1"/>
              <a:t>gmax</a:t>
            </a:r>
            <a:r>
              <a:rPr lang="en-IN" dirty="0"/>
              <a:t>=10, </a:t>
            </a:r>
            <a:r>
              <a:rPr lang="en-IN" dirty="0" err="1"/>
              <a:t>gmin</a:t>
            </a:r>
            <a:r>
              <a:rPr lang="en-IN" dirty="0"/>
              <a:t>=6)</a:t>
            </a:r>
          </a:p>
          <a:p>
            <a:r>
              <a:rPr lang="en-IN" dirty="0"/>
              <a:t>32,12 (</a:t>
            </a:r>
            <a:r>
              <a:rPr lang="en-IN" dirty="0" err="1"/>
              <a:t>hmax</a:t>
            </a:r>
            <a:r>
              <a:rPr lang="en-IN" dirty="0"/>
              <a:t>=32, </a:t>
            </a:r>
            <a:r>
              <a:rPr lang="en-IN" dirty="0" err="1"/>
              <a:t>hmin</a:t>
            </a:r>
            <a:r>
              <a:rPr lang="en-IN" dirty="0"/>
              <a:t>=12) // Goes one step above and explores RST</a:t>
            </a:r>
          </a:p>
          <a:p>
            <a:r>
              <a:rPr lang="en-IN" dirty="0"/>
              <a:t>Merge (fmax=32, </a:t>
            </a:r>
            <a:r>
              <a:rPr lang="en-IN" dirty="0" err="1"/>
              <a:t>fmin</a:t>
            </a:r>
            <a:r>
              <a:rPr lang="en-IN" dirty="0"/>
              <a:t>=6)----------2</a:t>
            </a:r>
          </a:p>
          <a:p>
            <a:r>
              <a:rPr lang="en-IN" dirty="0"/>
              <a:t>Final merge of -1- and -2- (fmax=32, </a:t>
            </a:r>
            <a:r>
              <a:rPr lang="en-IN" dirty="0" err="1"/>
              <a:t>fmin</a:t>
            </a:r>
            <a:r>
              <a:rPr lang="en-IN" dirty="0"/>
              <a:t>=1)</a:t>
            </a:r>
          </a:p>
        </p:txBody>
      </p:sp>
      <p:pic>
        <p:nvPicPr>
          <p:cNvPr id="3" name="Picture 2">
            <a:extLst>
              <a:ext uri="{FF2B5EF4-FFF2-40B4-BE49-F238E27FC236}">
                <a16:creationId xmlns:a16="http://schemas.microsoft.com/office/drawing/2014/main" id="{D86955F4-73A4-8853-E383-D40D2BABC713}"/>
              </a:ext>
            </a:extLst>
          </p:cNvPr>
          <p:cNvPicPr>
            <a:picLocks noChangeAspect="1"/>
          </p:cNvPicPr>
          <p:nvPr/>
        </p:nvPicPr>
        <p:blipFill>
          <a:blip r:embed="rId2"/>
          <a:stretch>
            <a:fillRect/>
          </a:stretch>
        </p:blipFill>
        <p:spPr>
          <a:xfrm>
            <a:off x="2465742" y="0"/>
            <a:ext cx="4238044" cy="2942038"/>
          </a:xfrm>
          <a:prstGeom prst="rect">
            <a:avLst/>
          </a:prstGeom>
        </p:spPr>
      </p:pic>
    </p:spTree>
    <p:extLst>
      <p:ext uri="{BB962C8B-B14F-4D97-AF65-F5344CB8AC3E}">
        <p14:creationId xmlns:p14="http://schemas.microsoft.com/office/powerpoint/2010/main" val="40381362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2E6A2-A709-4185-9CD1-40B108D4A3A0}"/>
              </a:ext>
            </a:extLst>
          </p:cNvPr>
          <p:cNvSpPr>
            <a:spLocks noGrp="1"/>
          </p:cNvSpPr>
          <p:nvPr>
            <p:ph type="title"/>
          </p:nvPr>
        </p:nvSpPr>
        <p:spPr/>
        <p:txBody>
          <a:bodyPr/>
          <a:lstStyle/>
          <a:p>
            <a:r>
              <a:rPr lang="en-US" dirty="0"/>
              <a:t>Greedy strategy</a:t>
            </a:r>
            <a:endParaRPr lang="en-IN" dirty="0"/>
          </a:p>
        </p:txBody>
      </p:sp>
      <p:sp>
        <p:nvSpPr>
          <p:cNvPr id="3" name="Content Placeholder 2">
            <a:extLst>
              <a:ext uri="{FF2B5EF4-FFF2-40B4-BE49-F238E27FC236}">
                <a16:creationId xmlns:a16="http://schemas.microsoft.com/office/drawing/2014/main" id="{9196AD39-A1E8-4768-8140-EFB33AEB6583}"/>
              </a:ext>
            </a:extLst>
          </p:cNvPr>
          <p:cNvSpPr>
            <a:spLocks noGrp="1"/>
          </p:cNvSpPr>
          <p:nvPr>
            <p:ph idx="1"/>
          </p:nvPr>
        </p:nvSpPr>
        <p:spPr>
          <a:xfrm>
            <a:off x="677334" y="1550505"/>
            <a:ext cx="8596668" cy="4490858"/>
          </a:xfrm>
        </p:spPr>
        <p:txBody>
          <a:bodyPr>
            <a:normAutofit fontScale="70000" lnSpcReduction="20000"/>
          </a:bodyPr>
          <a:lstStyle/>
          <a:p>
            <a:pPr marL="0" marR="0" lvl="0" indent="0" algn="just" defTabSz="914400" rtl="0" eaLnBrk="1" fontAlgn="auto" latinLnBrk="0" hangingPunct="1">
              <a:lnSpc>
                <a:spcPct val="2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The </a:t>
            </a:r>
            <a:r>
              <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greedy approach </a:t>
            </a:r>
            <a:r>
              <a:rPr kumimoji="0" lang="en-US" sz="2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suggests constructing a solution through a sequence of steps, each expanding a partially constructed solution obtained so far, until a complete solution to the problem is reached. On each step the choice made must be: </a:t>
            </a:r>
          </a:p>
          <a:p>
            <a:pPr marR="0" lvl="0" algn="just" defTabSz="914400" rtl="0" eaLnBrk="1" fontAlgn="auto" latinLnBrk="0" hangingPunct="1">
              <a:lnSpc>
                <a:spcPct val="200000"/>
              </a:lnSpc>
              <a:spcBef>
                <a:spcPts val="0"/>
              </a:spcBef>
              <a:spcAft>
                <a:spcPts val="0"/>
              </a:spcAft>
              <a:buClrTx/>
              <a:buSzTx/>
              <a:buFont typeface="Wingdings" panose="05000000000000000000" pitchFamily="2" charset="2"/>
              <a:buChar char="Ø"/>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feasible,</a:t>
            </a:r>
            <a:r>
              <a:rPr kumimoji="0" lang="en-US" sz="2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i.e., it has to satisfy the problem’s constraints locally optimal, </a:t>
            </a:r>
          </a:p>
          <a:p>
            <a:pPr marL="0" marR="0" lvl="0" indent="0" algn="just" defTabSz="914400" rtl="0" eaLnBrk="1" fontAlgn="auto" latinLnBrk="0" hangingPunct="1">
              <a:lnSpc>
                <a:spcPct val="200000"/>
              </a:lnSpc>
              <a:spcBef>
                <a:spcPts val="0"/>
              </a:spcBef>
              <a:spcAft>
                <a:spcPts val="0"/>
              </a:spcAft>
              <a:buClrTx/>
              <a:buSzTx/>
              <a:buNone/>
              <a:tabLst/>
              <a:defRPr/>
            </a:pPr>
            <a:r>
              <a:rPr kumimoji="0" lang="en-US" sz="2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i.e., it has to be the </a:t>
            </a:r>
            <a:r>
              <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best local choice </a:t>
            </a:r>
            <a:r>
              <a:rPr kumimoji="0" lang="en-US" sz="2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among all feasible choices available on that step and </a:t>
            </a:r>
          </a:p>
          <a:p>
            <a:pPr marR="0" lvl="0" algn="just" defTabSz="914400" rtl="0" eaLnBrk="1" fontAlgn="auto" latinLnBrk="0" hangingPunct="1">
              <a:lnSpc>
                <a:spcPct val="200000"/>
              </a:lnSpc>
              <a:spcBef>
                <a:spcPts val="0"/>
              </a:spcBef>
              <a:spcAft>
                <a:spcPts val="0"/>
              </a:spcAft>
              <a:buClrTx/>
              <a:buSzTx/>
              <a:buFont typeface="Wingdings" panose="05000000000000000000" pitchFamily="2" charset="2"/>
              <a:buChar char="Ø"/>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irrevocable</a:t>
            </a:r>
            <a:r>
              <a:rPr kumimoji="0" lang="en-US" sz="2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i.e., once made, it cannot be changed on subsequent steps of the algorithm</a:t>
            </a:r>
          </a:p>
          <a:p>
            <a:pPr marL="0" indent="0" algn="l">
              <a:buNone/>
            </a:pPr>
            <a:r>
              <a:rPr lang="en-US" sz="2400" dirty="0">
                <a:solidFill>
                  <a:prstClr val="black"/>
                </a:solidFill>
                <a:latin typeface="Arial" panose="020B0604020202020204" pitchFamily="34" charset="0"/>
                <a:cs typeface="Arial" panose="020B0604020202020204" pitchFamily="34" charset="0"/>
              </a:rPr>
              <a:t>Note: </a:t>
            </a:r>
            <a:r>
              <a:rPr lang="en-IN" sz="2400" dirty="0">
                <a:solidFill>
                  <a:prstClr val="black"/>
                </a:solidFill>
                <a:latin typeface="Arial" panose="020B0604020202020204" pitchFamily="34" charset="0"/>
                <a:cs typeface="Arial" panose="020B0604020202020204" pitchFamily="34" charset="0"/>
              </a:rPr>
              <a:t>it suggests </a:t>
            </a:r>
            <a:r>
              <a:rPr lang="en-US" sz="2400" dirty="0">
                <a:solidFill>
                  <a:prstClr val="black"/>
                </a:solidFill>
                <a:latin typeface="Arial" panose="020B0604020202020204" pitchFamily="34" charset="0"/>
                <a:cs typeface="Arial" panose="020B0604020202020204" pitchFamily="34" charset="0"/>
              </a:rPr>
              <a:t>a “greedy” grab of the best alternative available</a:t>
            </a:r>
          </a:p>
          <a:p>
            <a:pPr marL="0" indent="0">
              <a:buNone/>
            </a:pPr>
            <a:endParaRPr lang="en-IN" dirty="0"/>
          </a:p>
        </p:txBody>
      </p:sp>
    </p:spTree>
    <p:extLst>
      <p:ext uri="{BB962C8B-B14F-4D97-AF65-F5344CB8AC3E}">
        <p14:creationId xmlns:p14="http://schemas.microsoft.com/office/powerpoint/2010/main" val="8049601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BA8FB-B0CF-4A52-9613-1176E24BFA85}"/>
              </a:ext>
            </a:extLst>
          </p:cNvPr>
          <p:cNvSpPr>
            <a:spLocks noGrp="1"/>
          </p:cNvSpPr>
          <p:nvPr>
            <p:ph type="title"/>
          </p:nvPr>
        </p:nvSpPr>
        <p:spPr/>
        <p:txBody>
          <a:bodyPr/>
          <a:lstStyle/>
          <a:p>
            <a:r>
              <a:rPr lang="en-US" dirty="0"/>
              <a:t>Greedy approach in Knapsack problem</a:t>
            </a:r>
            <a:endParaRPr lang="en-IN" dirty="0"/>
          </a:p>
        </p:txBody>
      </p:sp>
      <p:sp>
        <p:nvSpPr>
          <p:cNvPr id="3" name="Content Placeholder 2">
            <a:extLst>
              <a:ext uri="{FF2B5EF4-FFF2-40B4-BE49-F238E27FC236}">
                <a16:creationId xmlns:a16="http://schemas.microsoft.com/office/drawing/2014/main" id="{D8448CFB-6099-4778-A1B6-B12B28CDA2D7}"/>
              </a:ext>
            </a:extLst>
          </p:cNvPr>
          <p:cNvSpPr>
            <a:spLocks noGrp="1"/>
          </p:cNvSpPr>
          <p:nvPr>
            <p:ph idx="1"/>
          </p:nvPr>
        </p:nvSpPr>
        <p:spPr/>
        <p:txBody>
          <a:bodyPr/>
          <a:lstStyle/>
          <a:p>
            <a:pPr marL="0" indent="0" algn="just">
              <a:lnSpc>
                <a:spcPct val="200000"/>
              </a:lnSpc>
              <a:buNone/>
            </a:pPr>
            <a:r>
              <a:rPr lang="en-US" b="0" i="0" dirty="0">
                <a:solidFill>
                  <a:srgbClr val="273239"/>
                </a:solidFill>
                <a:effectLst/>
                <a:latin typeface="urw-din"/>
              </a:rPr>
              <a:t>The idea of the greedy approach is to calculate the ratio value/weight for each item and sort the item on basis of this ratio. Then take the item with the highest ratio and add them until we can’t add the next item as a whole and at the end add the next item as much as we can. Which will always be the optimal solution to this problem.</a:t>
            </a:r>
            <a:endParaRPr lang="en-IN" dirty="0"/>
          </a:p>
        </p:txBody>
      </p:sp>
    </p:spTree>
    <p:extLst>
      <p:ext uri="{BB962C8B-B14F-4D97-AF65-F5344CB8AC3E}">
        <p14:creationId xmlns:p14="http://schemas.microsoft.com/office/powerpoint/2010/main" val="27630195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4647B-C63B-485F-B831-CC8D3BF904E6}"/>
              </a:ext>
            </a:extLst>
          </p:cNvPr>
          <p:cNvSpPr>
            <a:spLocks noGrp="1"/>
          </p:cNvSpPr>
          <p:nvPr>
            <p:ph type="title"/>
          </p:nvPr>
        </p:nvSpPr>
        <p:spPr/>
        <p:txBody>
          <a:bodyPr/>
          <a:lstStyle/>
          <a:p>
            <a:r>
              <a:rPr lang="en-US" dirty="0"/>
              <a:t>0/1 knapsack problem</a:t>
            </a:r>
            <a:endParaRPr lang="en-IN" dirty="0"/>
          </a:p>
        </p:txBody>
      </p:sp>
      <p:sp>
        <p:nvSpPr>
          <p:cNvPr id="4" name="TextBox 3">
            <a:extLst>
              <a:ext uri="{FF2B5EF4-FFF2-40B4-BE49-F238E27FC236}">
                <a16:creationId xmlns:a16="http://schemas.microsoft.com/office/drawing/2014/main" id="{D3FF38FB-EE5C-495B-91B1-27D0E28F6321}"/>
              </a:ext>
            </a:extLst>
          </p:cNvPr>
          <p:cNvSpPr txBox="1"/>
          <p:nvPr/>
        </p:nvSpPr>
        <p:spPr>
          <a:xfrm>
            <a:off x="795130" y="2703603"/>
            <a:ext cx="8945218" cy="923330"/>
          </a:xfrm>
          <a:prstGeom prst="rect">
            <a:avLst/>
          </a:prstGeom>
          <a:noFill/>
        </p:spPr>
        <p:txBody>
          <a:bodyPr wrap="square">
            <a:spAutoFit/>
          </a:bodyPr>
          <a:lstStyle/>
          <a:p>
            <a:pPr algn="just"/>
            <a:r>
              <a:rPr lang="en-US" b="1" dirty="0"/>
              <a:t>0/1 knapsack problem : </a:t>
            </a:r>
            <a:r>
              <a:rPr lang="en-US" dirty="0"/>
              <a:t>Given n items of known weights w1, w2, . . . , </a:t>
            </a:r>
            <a:r>
              <a:rPr lang="en-US" dirty="0" err="1"/>
              <a:t>wn</a:t>
            </a:r>
            <a:r>
              <a:rPr lang="en-US" dirty="0"/>
              <a:t> and values v1, v2, . . . , </a:t>
            </a:r>
            <a:r>
              <a:rPr lang="en-US" dirty="0" err="1"/>
              <a:t>vn</a:t>
            </a:r>
            <a:r>
              <a:rPr lang="en-US" dirty="0"/>
              <a:t> and a knapsack of capacity W, find the most valuable subset of the items that fit into the knapsack.</a:t>
            </a:r>
          </a:p>
        </p:txBody>
      </p:sp>
      <p:pic>
        <p:nvPicPr>
          <p:cNvPr id="6" name="Picture 5">
            <a:extLst>
              <a:ext uri="{FF2B5EF4-FFF2-40B4-BE49-F238E27FC236}">
                <a16:creationId xmlns:a16="http://schemas.microsoft.com/office/drawing/2014/main" id="{F9B17371-D3CF-4DFB-AADF-D82666E7B0D7}"/>
              </a:ext>
            </a:extLst>
          </p:cNvPr>
          <p:cNvPicPr>
            <a:picLocks noChangeAspect="1"/>
          </p:cNvPicPr>
          <p:nvPr/>
        </p:nvPicPr>
        <p:blipFill>
          <a:blip r:embed="rId2"/>
          <a:stretch>
            <a:fillRect/>
          </a:stretch>
        </p:blipFill>
        <p:spPr>
          <a:xfrm>
            <a:off x="2958962" y="3818821"/>
            <a:ext cx="4286250" cy="2066925"/>
          </a:xfrm>
          <a:prstGeom prst="rect">
            <a:avLst/>
          </a:prstGeom>
        </p:spPr>
      </p:pic>
    </p:spTree>
    <p:extLst>
      <p:ext uri="{BB962C8B-B14F-4D97-AF65-F5344CB8AC3E}">
        <p14:creationId xmlns:p14="http://schemas.microsoft.com/office/powerpoint/2010/main" val="17055415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5BC63-5398-4BC5-949A-C72F9F76D0DF}"/>
              </a:ext>
            </a:extLst>
          </p:cNvPr>
          <p:cNvSpPr>
            <a:spLocks noGrp="1"/>
          </p:cNvSpPr>
          <p:nvPr>
            <p:ph type="title"/>
          </p:nvPr>
        </p:nvSpPr>
        <p:spPr>
          <a:xfrm>
            <a:off x="661431" y="170877"/>
            <a:ext cx="8596668" cy="1320800"/>
          </a:xfrm>
        </p:spPr>
        <p:txBody>
          <a:bodyPr/>
          <a:lstStyle/>
          <a:p>
            <a:r>
              <a:rPr lang="en-US" dirty="0"/>
              <a:t>Fractional knapsack problem</a:t>
            </a:r>
            <a:endParaRPr lang="en-IN"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C3544B3-D06E-4927-B135-95DE48AC831C}"/>
                  </a:ext>
                </a:extLst>
              </p:cNvPr>
              <p:cNvSpPr txBox="1"/>
              <p:nvPr/>
            </p:nvSpPr>
            <p:spPr>
              <a:xfrm>
                <a:off x="315210" y="1127553"/>
                <a:ext cx="9687532" cy="3606372"/>
              </a:xfrm>
              <a:prstGeom prst="rect">
                <a:avLst/>
              </a:prstGeom>
              <a:noFill/>
            </p:spPr>
            <p:txBody>
              <a:bodyPr wrap="square">
                <a:spAutoFit/>
              </a:bodyPr>
              <a:lstStyle/>
              <a:p>
                <a:pPr algn="just"/>
                <a:endParaRPr lang="en-US" dirty="0">
                  <a:latin typeface="TimesTen-Roman"/>
                </a:endParaRPr>
              </a:p>
              <a:p>
                <a:pPr algn="just"/>
                <a:r>
                  <a:rPr lang="en-US" b="1" dirty="0"/>
                  <a:t>Fractional knapsack problem:</a:t>
                </a:r>
                <a:r>
                  <a:rPr lang="en-US" dirty="0"/>
                  <a:t> Let’s consider first the continuous (or fractional) version of the problem, in which any fraction of any item given can be taken into the knapsack. Let </a:t>
                </a:r>
                <a:r>
                  <a:rPr lang="en-US" dirty="0" err="1"/>
                  <a:t>xj</a:t>
                </a:r>
                <a:r>
                  <a:rPr lang="en-US" dirty="0"/>
                  <a:t> , j = 1, . . . , n, be a variable representing a fraction of item j taken into the knapsack. Obviously, </a:t>
                </a:r>
                <a:r>
                  <a:rPr lang="en-US" dirty="0" err="1"/>
                  <a:t>xj</a:t>
                </a:r>
                <a:r>
                  <a:rPr lang="en-US" dirty="0"/>
                  <a:t> must satisfy the inequality 0 ≤ </a:t>
                </a:r>
                <a:r>
                  <a:rPr lang="en-US" dirty="0" err="1"/>
                  <a:t>xj</a:t>
                </a:r>
                <a:r>
                  <a:rPr lang="en-IN" dirty="0"/>
                  <a:t>≤ 1. Then the total </a:t>
                </a:r>
                <a:r>
                  <a:rPr lang="en-US" dirty="0"/>
                  <a:t>weight of the selected items can be expressed by the sum</a:t>
                </a:r>
                <a:endParaRPr lang="en-US" dirty="0">
                  <a:latin typeface="TimesTen-Roman"/>
                </a:endParaRPr>
              </a:p>
              <a:p>
                <a:pPr/>
                <a14:m>
                  <m:oMathPara xmlns:m="http://schemas.openxmlformats.org/officeDocument/2006/math">
                    <m:oMathParaPr>
                      <m:jc m:val="centerGroup"/>
                    </m:oMathParaPr>
                    <m:oMath xmlns:m="http://schemas.openxmlformats.org/officeDocument/2006/math">
                      <m:nary>
                        <m:naryPr>
                          <m:chr m:val="∑"/>
                          <m:ctrlPr>
                            <a:rPr lang="en-IN" i="1" smtClean="0">
                              <a:latin typeface="Cambria Math" panose="02040503050406030204" pitchFamily="18" charset="0"/>
                            </a:rPr>
                          </m:ctrlPr>
                        </m:naryPr>
                        <m:sub>
                          <m:r>
                            <m:rPr>
                              <m:brk m:alnAt="23"/>
                            </m:rPr>
                            <a:rPr lang="en-US" b="0" i="1" smtClean="0">
                              <a:latin typeface="Cambria Math" panose="02040503050406030204" pitchFamily="18" charset="0"/>
                            </a:rPr>
                            <m:t>𝑗</m:t>
                          </m:r>
                          <m:r>
                            <a:rPr lang="en-US" b="0" i="1" smtClean="0">
                              <a:latin typeface="Cambria Math" panose="02040503050406030204" pitchFamily="18" charset="0"/>
                            </a:rPr>
                            <m:t>=1</m:t>
                          </m:r>
                        </m:sub>
                        <m:sup>
                          <m:r>
                            <a:rPr lang="en-US" b="0" i="1" smtClean="0">
                              <a:latin typeface="Cambria Math" panose="02040503050406030204" pitchFamily="18" charset="0"/>
                            </a:rPr>
                            <m:t>𝑛</m:t>
                          </m:r>
                        </m:sup>
                        <m:e>
                          <m:r>
                            <m:rPr>
                              <m:nor/>
                            </m:rPr>
                            <a:rPr lang="en-US" i="1" dirty="0">
                              <a:latin typeface="MTMI"/>
                            </a:rPr>
                            <m:t>w</m:t>
                          </m:r>
                          <m:r>
                            <m:rPr>
                              <m:nor/>
                            </m:rPr>
                            <a:rPr lang="en-US" b="0" i="0" baseline="-25000" dirty="0" smtClean="0">
                              <a:latin typeface="MTMI"/>
                            </a:rPr>
                            <m:t>j</m:t>
                          </m:r>
                          <m:r>
                            <m:rPr>
                              <m:nor/>
                            </m:rPr>
                            <a:rPr lang="en-US" b="0" i="1" dirty="0" smtClean="0">
                              <a:latin typeface="MTMI"/>
                            </a:rPr>
                            <m:t>x</m:t>
                          </m:r>
                          <m:r>
                            <a:rPr lang="en-US" b="0" i="1" baseline="-25000" dirty="0" smtClean="0">
                              <a:latin typeface="Cambria Math" panose="02040503050406030204" pitchFamily="18" charset="0"/>
                            </a:rPr>
                            <m:t>𝑗</m:t>
                          </m:r>
                        </m:e>
                      </m:nary>
                    </m:oMath>
                  </m:oMathPara>
                </a14:m>
                <a:endParaRPr lang="en-US" dirty="0"/>
              </a:p>
              <a:p>
                <a:r>
                  <a:rPr lang="en-IN" dirty="0"/>
                  <a:t>and their total value by the sum</a:t>
                </a:r>
              </a:p>
              <a:p>
                <a:pPr/>
                <a14:m>
                  <m:oMathPara xmlns:m="http://schemas.openxmlformats.org/officeDocument/2006/math">
                    <m:oMathParaPr>
                      <m:jc m:val="centerGroup"/>
                    </m:oMathParaPr>
                    <m:oMath xmlns:m="http://schemas.openxmlformats.org/officeDocument/2006/math">
                      <m:nary>
                        <m:naryPr>
                          <m:chr m:val="∑"/>
                          <m:ctrlPr>
                            <a:rPr lang="en-IN" i="1" smtClean="0">
                              <a:latin typeface="Cambria Math" panose="02040503050406030204" pitchFamily="18" charset="0"/>
                            </a:rPr>
                          </m:ctrlPr>
                        </m:naryPr>
                        <m:sub>
                          <m:r>
                            <m:rPr>
                              <m:brk m:alnAt="23"/>
                            </m:rPr>
                            <a:rPr lang="en-US" b="0" i="1" smtClean="0">
                              <a:latin typeface="Cambria Math" panose="02040503050406030204" pitchFamily="18" charset="0"/>
                            </a:rPr>
                            <m:t>𝑗</m:t>
                          </m:r>
                          <m:r>
                            <a:rPr lang="en-US" b="0" i="1" smtClean="0">
                              <a:latin typeface="Cambria Math" panose="02040503050406030204" pitchFamily="18" charset="0"/>
                            </a:rPr>
                            <m:t>=1</m:t>
                          </m:r>
                        </m:sub>
                        <m:sup>
                          <m:r>
                            <a:rPr lang="en-US" b="0" i="1" smtClean="0">
                              <a:latin typeface="Cambria Math" panose="02040503050406030204" pitchFamily="18" charset="0"/>
                            </a:rPr>
                            <m:t>𝑛</m:t>
                          </m:r>
                        </m:sup>
                        <m:e>
                          <m:r>
                            <m:rPr>
                              <m:nor/>
                            </m:rPr>
                            <a:rPr lang="en-US" b="0" i="1" smtClean="0">
                              <a:latin typeface="Cambria Math" panose="02040503050406030204" pitchFamily="18" charset="0"/>
                            </a:rPr>
                            <m:t>v</m:t>
                          </m:r>
                          <m:r>
                            <m:rPr>
                              <m:nor/>
                            </m:rPr>
                            <a:rPr lang="en-US" b="0" i="0" baseline="-25000" dirty="0" smtClean="0">
                              <a:latin typeface="MTMI"/>
                            </a:rPr>
                            <m:t>j</m:t>
                          </m:r>
                          <m:r>
                            <m:rPr>
                              <m:nor/>
                            </m:rPr>
                            <a:rPr lang="en-US" b="0" i="1" dirty="0" smtClean="0">
                              <a:latin typeface="MTMI"/>
                            </a:rPr>
                            <m:t>x</m:t>
                          </m:r>
                          <m:r>
                            <a:rPr lang="en-US" b="0" i="1" baseline="-25000" dirty="0" smtClean="0">
                              <a:latin typeface="Cambria Math" panose="02040503050406030204" pitchFamily="18" charset="0"/>
                            </a:rPr>
                            <m:t>𝑗</m:t>
                          </m:r>
                        </m:e>
                      </m:nary>
                    </m:oMath>
                  </m:oMathPara>
                </a14:m>
                <a:endParaRPr lang="en-IN" dirty="0"/>
              </a:p>
            </p:txBody>
          </p:sp>
        </mc:Choice>
        <mc:Fallback xmlns="">
          <p:sp>
            <p:nvSpPr>
              <p:cNvPr id="4" name="TextBox 3">
                <a:extLst>
                  <a:ext uri="{FF2B5EF4-FFF2-40B4-BE49-F238E27FC236}">
                    <a16:creationId xmlns:a16="http://schemas.microsoft.com/office/drawing/2014/main" id="{4C3544B3-D06E-4927-B135-95DE48AC831C}"/>
                  </a:ext>
                </a:extLst>
              </p:cNvPr>
              <p:cNvSpPr txBox="1">
                <a:spLocks noRot="1" noChangeAspect="1" noMove="1" noResize="1" noEditPoints="1" noAdjustHandles="1" noChangeArrowheads="1" noChangeShapeType="1" noTextEdit="1"/>
              </p:cNvSpPr>
              <p:nvPr/>
            </p:nvSpPr>
            <p:spPr>
              <a:xfrm>
                <a:off x="315210" y="1127553"/>
                <a:ext cx="9687532" cy="3606372"/>
              </a:xfrm>
              <a:prstGeom prst="rect">
                <a:avLst/>
              </a:prstGeom>
              <a:blipFill>
                <a:blip r:embed="rId2"/>
                <a:stretch>
                  <a:fillRect l="-566" r="-503"/>
                </a:stretch>
              </a:blipFill>
            </p:spPr>
            <p:txBody>
              <a:bodyPr/>
              <a:lstStyle/>
              <a:p>
                <a:r>
                  <a:rPr lang="en-IN">
                    <a:noFill/>
                  </a:rPr>
                  <a:t> </a:t>
                </a:r>
              </a:p>
            </p:txBody>
          </p:sp>
        </mc:Fallback>
      </mc:AlternateContent>
      <p:pic>
        <p:nvPicPr>
          <p:cNvPr id="6" name="Picture 5">
            <a:extLst>
              <a:ext uri="{FF2B5EF4-FFF2-40B4-BE49-F238E27FC236}">
                <a16:creationId xmlns:a16="http://schemas.microsoft.com/office/drawing/2014/main" id="{E2F468C8-5B7A-4DDB-933D-E11CE1EA2E0C}"/>
              </a:ext>
            </a:extLst>
          </p:cNvPr>
          <p:cNvPicPr>
            <a:picLocks noChangeAspect="1"/>
          </p:cNvPicPr>
          <p:nvPr/>
        </p:nvPicPr>
        <p:blipFill>
          <a:blip r:embed="rId3"/>
          <a:stretch>
            <a:fillRect/>
          </a:stretch>
        </p:blipFill>
        <p:spPr>
          <a:xfrm>
            <a:off x="3589317" y="4733925"/>
            <a:ext cx="4229100" cy="2124075"/>
          </a:xfrm>
          <a:prstGeom prst="rect">
            <a:avLst/>
          </a:prstGeom>
        </p:spPr>
      </p:pic>
    </p:spTree>
    <p:extLst>
      <p:ext uri="{BB962C8B-B14F-4D97-AF65-F5344CB8AC3E}">
        <p14:creationId xmlns:p14="http://schemas.microsoft.com/office/powerpoint/2010/main" val="26352622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48B11-0287-45CD-A823-AB05A9542464}"/>
              </a:ext>
            </a:extLst>
          </p:cNvPr>
          <p:cNvSpPr>
            <a:spLocks noGrp="1"/>
          </p:cNvSpPr>
          <p:nvPr>
            <p:ph type="title"/>
          </p:nvPr>
        </p:nvSpPr>
        <p:spPr>
          <a:xfrm>
            <a:off x="677334" y="609600"/>
            <a:ext cx="2675466" cy="770936"/>
          </a:xfrm>
        </p:spPr>
        <p:txBody>
          <a:bodyPr/>
          <a:lstStyle/>
          <a:p>
            <a:r>
              <a:rPr lang="en-US" dirty="0"/>
              <a:t>Example</a:t>
            </a:r>
            <a:endParaRPr lang="en-IN" dirty="0"/>
          </a:p>
        </p:txBody>
      </p:sp>
      <p:pic>
        <p:nvPicPr>
          <p:cNvPr id="7" name="Content Placeholder 6">
            <a:extLst>
              <a:ext uri="{FF2B5EF4-FFF2-40B4-BE49-F238E27FC236}">
                <a16:creationId xmlns:a16="http://schemas.microsoft.com/office/drawing/2014/main" id="{A125DA0E-F0BE-4FF0-86F3-2B431E135206}"/>
              </a:ext>
            </a:extLst>
          </p:cNvPr>
          <p:cNvPicPr>
            <a:picLocks noGrp="1" noChangeAspect="1"/>
          </p:cNvPicPr>
          <p:nvPr>
            <p:ph idx="1"/>
          </p:nvPr>
        </p:nvPicPr>
        <p:blipFill>
          <a:blip r:embed="rId2"/>
          <a:stretch>
            <a:fillRect/>
          </a:stretch>
        </p:blipFill>
        <p:spPr>
          <a:xfrm>
            <a:off x="1551226" y="3890665"/>
            <a:ext cx="7134225" cy="2511122"/>
          </a:xfrm>
        </p:spPr>
      </p:pic>
      <p:graphicFrame>
        <p:nvGraphicFramePr>
          <p:cNvPr id="8" name="Table 8">
            <a:extLst>
              <a:ext uri="{FF2B5EF4-FFF2-40B4-BE49-F238E27FC236}">
                <a16:creationId xmlns:a16="http://schemas.microsoft.com/office/drawing/2014/main" id="{B46BD939-08EF-4609-993F-E6436F66CB63}"/>
              </a:ext>
            </a:extLst>
          </p:cNvPr>
          <p:cNvGraphicFramePr>
            <a:graphicFrameLocks noGrp="1"/>
          </p:cNvGraphicFramePr>
          <p:nvPr>
            <p:extLst>
              <p:ext uri="{D42A27DB-BD31-4B8C-83A1-F6EECF244321}">
                <p14:modId xmlns:p14="http://schemas.microsoft.com/office/powerpoint/2010/main" val="1036946325"/>
              </p:ext>
            </p:extLst>
          </p:nvPr>
        </p:nvGraphicFramePr>
        <p:xfrm>
          <a:off x="1034473" y="1663088"/>
          <a:ext cx="4314748" cy="1483360"/>
        </p:xfrm>
        <a:graphic>
          <a:graphicData uri="http://schemas.openxmlformats.org/drawingml/2006/table">
            <a:tbl>
              <a:tblPr firstRow="1" bandRow="1">
                <a:tableStyleId>{5C22544A-7EE6-4342-B048-85BDC9FD1C3A}</a:tableStyleId>
              </a:tblPr>
              <a:tblGrid>
                <a:gridCol w="674255">
                  <a:extLst>
                    <a:ext uri="{9D8B030D-6E8A-4147-A177-3AD203B41FA5}">
                      <a16:colId xmlns:a16="http://schemas.microsoft.com/office/drawing/2014/main" val="1122061075"/>
                    </a:ext>
                  </a:extLst>
                </a:gridCol>
                <a:gridCol w="1006763">
                  <a:extLst>
                    <a:ext uri="{9D8B030D-6E8A-4147-A177-3AD203B41FA5}">
                      <a16:colId xmlns:a16="http://schemas.microsoft.com/office/drawing/2014/main" val="3217086462"/>
                    </a:ext>
                  </a:extLst>
                </a:gridCol>
                <a:gridCol w="1025237">
                  <a:extLst>
                    <a:ext uri="{9D8B030D-6E8A-4147-A177-3AD203B41FA5}">
                      <a16:colId xmlns:a16="http://schemas.microsoft.com/office/drawing/2014/main" val="2311410988"/>
                    </a:ext>
                  </a:extLst>
                </a:gridCol>
                <a:gridCol w="1608493">
                  <a:extLst>
                    <a:ext uri="{9D8B030D-6E8A-4147-A177-3AD203B41FA5}">
                      <a16:colId xmlns:a16="http://schemas.microsoft.com/office/drawing/2014/main" val="3358707374"/>
                    </a:ext>
                  </a:extLst>
                </a:gridCol>
              </a:tblGrid>
              <a:tr h="370840">
                <a:tc>
                  <a:txBody>
                    <a:bodyPr/>
                    <a:lstStyle/>
                    <a:p>
                      <a:r>
                        <a:rPr lang="en-US" dirty="0"/>
                        <a:t>Item</a:t>
                      </a:r>
                      <a:endParaRPr lang="en-IN" dirty="0"/>
                    </a:p>
                  </a:txBody>
                  <a:tcPr/>
                </a:tc>
                <a:tc>
                  <a:txBody>
                    <a:bodyPr/>
                    <a:lstStyle/>
                    <a:p>
                      <a:r>
                        <a:rPr lang="en-US" dirty="0"/>
                        <a:t>Weight</a:t>
                      </a:r>
                      <a:endParaRPr lang="en-IN" dirty="0"/>
                    </a:p>
                  </a:txBody>
                  <a:tcPr/>
                </a:tc>
                <a:tc>
                  <a:txBody>
                    <a:bodyPr/>
                    <a:lstStyle/>
                    <a:p>
                      <a:r>
                        <a:rPr lang="en-US" dirty="0"/>
                        <a:t>Value</a:t>
                      </a:r>
                      <a:endParaRPr lang="en-IN" dirty="0"/>
                    </a:p>
                  </a:txBody>
                  <a:tcPr/>
                </a:tc>
                <a:tc>
                  <a:txBody>
                    <a:bodyPr/>
                    <a:lstStyle/>
                    <a:p>
                      <a:r>
                        <a:rPr lang="en-US" dirty="0"/>
                        <a:t>Value/Weight</a:t>
                      </a:r>
                      <a:endParaRPr lang="en-IN" dirty="0"/>
                    </a:p>
                  </a:txBody>
                  <a:tcPr/>
                </a:tc>
                <a:extLst>
                  <a:ext uri="{0D108BD9-81ED-4DB2-BD59-A6C34878D82A}">
                    <a16:rowId xmlns:a16="http://schemas.microsoft.com/office/drawing/2014/main" val="1688660430"/>
                  </a:ext>
                </a:extLst>
              </a:tr>
              <a:tr h="370840">
                <a:tc>
                  <a:txBody>
                    <a:bodyPr/>
                    <a:lstStyle/>
                    <a:p>
                      <a:r>
                        <a:rPr lang="en-US" dirty="0"/>
                        <a:t>1</a:t>
                      </a:r>
                      <a:endParaRPr lang="en-IN" dirty="0"/>
                    </a:p>
                  </a:txBody>
                  <a:tcPr/>
                </a:tc>
                <a:tc>
                  <a:txBody>
                    <a:bodyPr/>
                    <a:lstStyle/>
                    <a:p>
                      <a:r>
                        <a:rPr lang="en-US" dirty="0"/>
                        <a:t>10</a:t>
                      </a:r>
                      <a:endParaRPr lang="en-IN" dirty="0"/>
                    </a:p>
                  </a:txBody>
                  <a:tcPr/>
                </a:tc>
                <a:tc>
                  <a:txBody>
                    <a:bodyPr/>
                    <a:lstStyle/>
                    <a:p>
                      <a:r>
                        <a:rPr lang="en-US" dirty="0"/>
                        <a:t>60</a:t>
                      </a:r>
                      <a:endParaRPr lang="en-IN" dirty="0"/>
                    </a:p>
                  </a:txBody>
                  <a:tcPr/>
                </a:tc>
                <a:tc>
                  <a:txBody>
                    <a:bodyPr/>
                    <a:lstStyle/>
                    <a:p>
                      <a:r>
                        <a:rPr lang="en-US" dirty="0"/>
                        <a:t>6</a:t>
                      </a:r>
                      <a:endParaRPr lang="en-IN" dirty="0"/>
                    </a:p>
                  </a:txBody>
                  <a:tcPr/>
                </a:tc>
                <a:extLst>
                  <a:ext uri="{0D108BD9-81ED-4DB2-BD59-A6C34878D82A}">
                    <a16:rowId xmlns:a16="http://schemas.microsoft.com/office/drawing/2014/main" val="1325918711"/>
                  </a:ext>
                </a:extLst>
              </a:tr>
              <a:tr h="370840">
                <a:tc>
                  <a:txBody>
                    <a:bodyPr/>
                    <a:lstStyle/>
                    <a:p>
                      <a:r>
                        <a:rPr lang="en-US" dirty="0"/>
                        <a:t>2</a:t>
                      </a:r>
                      <a:endParaRPr lang="en-IN" dirty="0"/>
                    </a:p>
                  </a:txBody>
                  <a:tcPr/>
                </a:tc>
                <a:tc>
                  <a:txBody>
                    <a:bodyPr/>
                    <a:lstStyle/>
                    <a:p>
                      <a:r>
                        <a:rPr lang="en-US" dirty="0"/>
                        <a:t>20</a:t>
                      </a:r>
                      <a:endParaRPr lang="en-IN" dirty="0"/>
                    </a:p>
                  </a:txBody>
                  <a:tcPr/>
                </a:tc>
                <a:tc>
                  <a:txBody>
                    <a:bodyPr/>
                    <a:lstStyle/>
                    <a:p>
                      <a:r>
                        <a:rPr lang="en-US" dirty="0"/>
                        <a:t>100</a:t>
                      </a:r>
                      <a:endParaRPr lang="en-IN" dirty="0"/>
                    </a:p>
                  </a:txBody>
                  <a:tcPr/>
                </a:tc>
                <a:tc>
                  <a:txBody>
                    <a:bodyPr/>
                    <a:lstStyle/>
                    <a:p>
                      <a:r>
                        <a:rPr lang="en-US" dirty="0"/>
                        <a:t>5</a:t>
                      </a:r>
                      <a:endParaRPr lang="en-IN" dirty="0"/>
                    </a:p>
                  </a:txBody>
                  <a:tcPr/>
                </a:tc>
                <a:extLst>
                  <a:ext uri="{0D108BD9-81ED-4DB2-BD59-A6C34878D82A}">
                    <a16:rowId xmlns:a16="http://schemas.microsoft.com/office/drawing/2014/main" val="2324303804"/>
                  </a:ext>
                </a:extLst>
              </a:tr>
              <a:tr h="370840">
                <a:tc>
                  <a:txBody>
                    <a:bodyPr/>
                    <a:lstStyle/>
                    <a:p>
                      <a:r>
                        <a:rPr lang="en-US" dirty="0"/>
                        <a:t>3</a:t>
                      </a:r>
                      <a:endParaRPr lang="en-IN" dirty="0"/>
                    </a:p>
                  </a:txBody>
                  <a:tcPr/>
                </a:tc>
                <a:tc>
                  <a:txBody>
                    <a:bodyPr/>
                    <a:lstStyle/>
                    <a:p>
                      <a:r>
                        <a:rPr lang="en-US" dirty="0"/>
                        <a:t>30</a:t>
                      </a:r>
                      <a:endParaRPr lang="en-IN" dirty="0"/>
                    </a:p>
                  </a:txBody>
                  <a:tcPr/>
                </a:tc>
                <a:tc>
                  <a:txBody>
                    <a:bodyPr/>
                    <a:lstStyle/>
                    <a:p>
                      <a:r>
                        <a:rPr lang="en-US" dirty="0"/>
                        <a:t>120</a:t>
                      </a:r>
                      <a:endParaRPr lang="en-IN" dirty="0"/>
                    </a:p>
                  </a:txBody>
                  <a:tcPr/>
                </a:tc>
                <a:tc>
                  <a:txBody>
                    <a:bodyPr/>
                    <a:lstStyle/>
                    <a:p>
                      <a:r>
                        <a:rPr lang="en-US" dirty="0"/>
                        <a:t>4</a:t>
                      </a:r>
                      <a:endParaRPr lang="en-IN" dirty="0"/>
                    </a:p>
                  </a:txBody>
                  <a:tcPr/>
                </a:tc>
                <a:extLst>
                  <a:ext uri="{0D108BD9-81ED-4DB2-BD59-A6C34878D82A}">
                    <a16:rowId xmlns:a16="http://schemas.microsoft.com/office/drawing/2014/main" val="1660925819"/>
                  </a:ext>
                </a:extLst>
              </a:tr>
            </a:tbl>
          </a:graphicData>
        </a:graphic>
      </p:graphicFrame>
      <p:cxnSp>
        <p:nvCxnSpPr>
          <p:cNvPr id="10" name="Straight Arrow Connector 9">
            <a:extLst>
              <a:ext uri="{FF2B5EF4-FFF2-40B4-BE49-F238E27FC236}">
                <a16:creationId xmlns:a16="http://schemas.microsoft.com/office/drawing/2014/main" id="{2AD5C953-3E3D-4FF5-82E8-7B195D77E7D0}"/>
              </a:ext>
            </a:extLst>
          </p:cNvPr>
          <p:cNvCxnSpPr>
            <a:cxnSpLocks/>
          </p:cNvCxnSpPr>
          <p:nvPr/>
        </p:nvCxnSpPr>
        <p:spPr>
          <a:xfrm flipV="1">
            <a:off x="5118338" y="3429000"/>
            <a:ext cx="1208571" cy="4772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01628D1C-FA2F-4C0E-9549-F8BD08F7C4DB}"/>
              </a:ext>
            </a:extLst>
          </p:cNvPr>
          <p:cNvSpPr txBox="1"/>
          <p:nvPr/>
        </p:nvSpPr>
        <p:spPr>
          <a:xfrm>
            <a:off x="6410037" y="3244334"/>
            <a:ext cx="1773382" cy="646331"/>
          </a:xfrm>
          <a:prstGeom prst="rect">
            <a:avLst/>
          </a:prstGeom>
          <a:noFill/>
        </p:spPr>
        <p:txBody>
          <a:bodyPr wrap="square" rtlCol="0">
            <a:spAutoFit/>
          </a:bodyPr>
          <a:lstStyle/>
          <a:p>
            <a:r>
              <a:rPr lang="en-US" dirty="0"/>
              <a:t>0/1 Knapsack problem</a:t>
            </a:r>
            <a:endParaRPr lang="en-IN" dirty="0"/>
          </a:p>
        </p:txBody>
      </p:sp>
      <p:cxnSp>
        <p:nvCxnSpPr>
          <p:cNvPr id="16" name="Straight Arrow Connector 15">
            <a:extLst>
              <a:ext uri="{FF2B5EF4-FFF2-40B4-BE49-F238E27FC236}">
                <a16:creationId xmlns:a16="http://schemas.microsoft.com/office/drawing/2014/main" id="{2E0AB7FB-3975-46B6-8399-7A9C7B077A8C}"/>
              </a:ext>
            </a:extLst>
          </p:cNvPr>
          <p:cNvCxnSpPr>
            <a:cxnSpLocks/>
          </p:cNvCxnSpPr>
          <p:nvPr/>
        </p:nvCxnSpPr>
        <p:spPr>
          <a:xfrm flipV="1">
            <a:off x="7666182" y="3580951"/>
            <a:ext cx="1019269" cy="4830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1EA4FCE6-BA49-450A-93E2-5629F8BEACE8}"/>
              </a:ext>
            </a:extLst>
          </p:cNvPr>
          <p:cNvSpPr txBox="1"/>
          <p:nvPr/>
        </p:nvSpPr>
        <p:spPr>
          <a:xfrm>
            <a:off x="8731633" y="3105834"/>
            <a:ext cx="1773382" cy="923330"/>
          </a:xfrm>
          <a:prstGeom prst="rect">
            <a:avLst/>
          </a:prstGeom>
          <a:noFill/>
        </p:spPr>
        <p:txBody>
          <a:bodyPr wrap="square" rtlCol="0">
            <a:spAutoFit/>
          </a:bodyPr>
          <a:lstStyle/>
          <a:p>
            <a:r>
              <a:rPr lang="en-US" dirty="0"/>
              <a:t>Fractional Knapsack problem</a:t>
            </a:r>
            <a:endParaRPr lang="en-IN" dirty="0"/>
          </a:p>
        </p:txBody>
      </p:sp>
    </p:spTree>
    <p:extLst>
      <p:ext uri="{BB962C8B-B14F-4D97-AF65-F5344CB8AC3E}">
        <p14:creationId xmlns:p14="http://schemas.microsoft.com/office/powerpoint/2010/main" val="16203303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7919B-2D2A-4155-AA65-9675CA553B5B}"/>
              </a:ext>
            </a:extLst>
          </p:cNvPr>
          <p:cNvSpPr>
            <a:spLocks noGrp="1"/>
          </p:cNvSpPr>
          <p:nvPr>
            <p:ph type="title"/>
          </p:nvPr>
        </p:nvSpPr>
        <p:spPr/>
        <p:txBody>
          <a:bodyPr/>
          <a:lstStyle/>
          <a:p>
            <a:r>
              <a:rPr lang="en-US" dirty="0"/>
              <a:t>Runtime complexity</a:t>
            </a:r>
            <a:endParaRPr lang="en-IN" dirty="0"/>
          </a:p>
        </p:txBody>
      </p:sp>
      <p:sp>
        <p:nvSpPr>
          <p:cNvPr id="3" name="Content Placeholder 2">
            <a:extLst>
              <a:ext uri="{FF2B5EF4-FFF2-40B4-BE49-F238E27FC236}">
                <a16:creationId xmlns:a16="http://schemas.microsoft.com/office/drawing/2014/main" id="{6907C0B9-1D7F-4BF3-B429-50E1350FBF6F}"/>
              </a:ext>
            </a:extLst>
          </p:cNvPr>
          <p:cNvSpPr>
            <a:spLocks noGrp="1"/>
          </p:cNvSpPr>
          <p:nvPr>
            <p:ph idx="1"/>
          </p:nvPr>
        </p:nvSpPr>
        <p:spPr/>
        <p:txBody>
          <a:bodyPr>
            <a:normAutofit/>
          </a:bodyPr>
          <a:lstStyle/>
          <a:p>
            <a:pPr marL="0" indent="0">
              <a:lnSpc>
                <a:spcPct val="200000"/>
              </a:lnSpc>
              <a:buNone/>
            </a:pPr>
            <a:r>
              <a:rPr lang="en-US" sz="2800" dirty="0">
                <a:latin typeface="Arial" panose="020B0604020202020204" pitchFamily="34" charset="0"/>
                <a:cs typeface="Arial" panose="020B0604020202020204" pitchFamily="34" charset="0"/>
              </a:rPr>
              <a:t>Runtime complexity of fractional knapsack using Greedy strategy is O(</a:t>
            </a:r>
            <a:r>
              <a:rPr lang="en-US" sz="2800" dirty="0" err="1">
                <a:latin typeface="Arial" panose="020B0604020202020204" pitchFamily="34" charset="0"/>
                <a:cs typeface="Arial" panose="020B0604020202020204" pitchFamily="34" charset="0"/>
              </a:rPr>
              <a:t>nlogn</a:t>
            </a:r>
            <a:r>
              <a:rPr lang="en-US" sz="2800" dirty="0">
                <a:latin typeface="Arial" panose="020B0604020202020204" pitchFamily="34" charset="0"/>
                <a:cs typeface="Arial" panose="020B0604020202020204" pitchFamily="34" charset="0"/>
              </a:rPr>
              <a:t>) as sorting requires O(</a:t>
            </a:r>
            <a:r>
              <a:rPr lang="en-US" sz="2800" dirty="0" err="1">
                <a:latin typeface="Arial" panose="020B0604020202020204" pitchFamily="34" charset="0"/>
                <a:cs typeface="Arial" panose="020B0604020202020204" pitchFamily="34" charset="0"/>
              </a:rPr>
              <a:t>nlogn</a:t>
            </a:r>
            <a:r>
              <a:rPr lang="en-US" sz="2800" dirty="0">
                <a:latin typeface="Arial" panose="020B0604020202020204" pitchFamily="34" charset="0"/>
                <a:cs typeface="Arial" panose="020B0604020202020204" pitchFamily="34" charset="0"/>
              </a:rPr>
              <a:t>) time.</a:t>
            </a:r>
            <a:endParaRPr lang="en-IN"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573653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EE91A-87FA-408B-B443-CB900D4F0D27}"/>
              </a:ext>
            </a:extLst>
          </p:cNvPr>
          <p:cNvSpPr>
            <a:spLocks noGrp="1"/>
          </p:cNvSpPr>
          <p:nvPr>
            <p:ph type="title"/>
          </p:nvPr>
        </p:nvSpPr>
        <p:spPr/>
        <p:txBody>
          <a:bodyPr/>
          <a:lstStyle/>
          <a:p>
            <a:r>
              <a:rPr lang="en-US" dirty="0"/>
              <a:t>Activity selection problem</a:t>
            </a:r>
            <a:endParaRPr lang="en-IN" dirty="0"/>
          </a:p>
        </p:txBody>
      </p:sp>
      <p:pic>
        <p:nvPicPr>
          <p:cNvPr id="4" name="Picture 3">
            <a:extLst>
              <a:ext uri="{FF2B5EF4-FFF2-40B4-BE49-F238E27FC236}">
                <a16:creationId xmlns:a16="http://schemas.microsoft.com/office/drawing/2014/main" id="{0195355E-1F17-4801-AE70-28683C4D81F1}"/>
              </a:ext>
            </a:extLst>
          </p:cNvPr>
          <p:cNvPicPr>
            <a:picLocks noChangeAspect="1"/>
          </p:cNvPicPr>
          <p:nvPr/>
        </p:nvPicPr>
        <p:blipFill>
          <a:blip r:embed="rId2"/>
          <a:stretch>
            <a:fillRect/>
          </a:stretch>
        </p:blipFill>
        <p:spPr>
          <a:xfrm>
            <a:off x="914269" y="1270000"/>
            <a:ext cx="7154689" cy="5458128"/>
          </a:xfrm>
          <a:prstGeom prst="rect">
            <a:avLst/>
          </a:prstGeom>
        </p:spPr>
      </p:pic>
    </p:spTree>
    <p:extLst>
      <p:ext uri="{BB962C8B-B14F-4D97-AF65-F5344CB8AC3E}">
        <p14:creationId xmlns:p14="http://schemas.microsoft.com/office/powerpoint/2010/main" val="14911693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6353D-A2F1-424A-8EC8-D8B08BD2EE7A}"/>
              </a:ext>
            </a:extLst>
          </p:cNvPr>
          <p:cNvSpPr>
            <a:spLocks noGrp="1"/>
          </p:cNvSpPr>
          <p:nvPr>
            <p:ph type="title"/>
          </p:nvPr>
        </p:nvSpPr>
        <p:spPr>
          <a:xfrm>
            <a:off x="629626" y="204084"/>
            <a:ext cx="8596668" cy="630803"/>
          </a:xfrm>
        </p:spPr>
        <p:txBody>
          <a:bodyPr>
            <a:normAutofit fontScale="90000"/>
          </a:bodyPr>
          <a:lstStyle/>
          <a:p>
            <a:r>
              <a:rPr lang="en-US" dirty="0"/>
              <a:t>Tracing the algorithm</a:t>
            </a:r>
            <a:endParaRPr lang="en-IN" dirty="0"/>
          </a:p>
        </p:txBody>
      </p:sp>
      <p:pic>
        <p:nvPicPr>
          <p:cNvPr id="5" name="Content Placeholder 4">
            <a:extLst>
              <a:ext uri="{FF2B5EF4-FFF2-40B4-BE49-F238E27FC236}">
                <a16:creationId xmlns:a16="http://schemas.microsoft.com/office/drawing/2014/main" id="{CDA3E017-726B-4494-B7E8-BE8ECBE9B3DC}"/>
              </a:ext>
            </a:extLst>
          </p:cNvPr>
          <p:cNvPicPr>
            <a:picLocks noGrp="1" noChangeAspect="1"/>
          </p:cNvPicPr>
          <p:nvPr>
            <p:ph idx="1"/>
          </p:nvPr>
        </p:nvPicPr>
        <p:blipFill>
          <a:blip r:embed="rId2"/>
          <a:stretch>
            <a:fillRect/>
          </a:stretch>
        </p:blipFill>
        <p:spPr>
          <a:xfrm>
            <a:off x="1319917" y="878381"/>
            <a:ext cx="5924358" cy="5800935"/>
          </a:xfrm>
        </p:spPr>
      </p:pic>
    </p:spTree>
    <p:extLst>
      <p:ext uri="{BB962C8B-B14F-4D97-AF65-F5344CB8AC3E}">
        <p14:creationId xmlns:p14="http://schemas.microsoft.com/office/powerpoint/2010/main" val="10211606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53263-4CC7-45C6-9F83-540A3E2850C2}"/>
              </a:ext>
            </a:extLst>
          </p:cNvPr>
          <p:cNvSpPr>
            <a:spLocks noGrp="1"/>
          </p:cNvSpPr>
          <p:nvPr>
            <p:ph type="title"/>
          </p:nvPr>
        </p:nvSpPr>
        <p:spPr/>
        <p:txBody>
          <a:bodyPr/>
          <a:lstStyle/>
          <a:p>
            <a:r>
              <a:rPr lang="en-US" dirty="0"/>
              <a:t>Activity selection algorithm</a:t>
            </a:r>
            <a:endParaRPr lang="en-IN" dirty="0"/>
          </a:p>
        </p:txBody>
      </p:sp>
      <p:pic>
        <p:nvPicPr>
          <p:cNvPr id="5" name="Content Placeholder 4">
            <a:extLst>
              <a:ext uri="{FF2B5EF4-FFF2-40B4-BE49-F238E27FC236}">
                <a16:creationId xmlns:a16="http://schemas.microsoft.com/office/drawing/2014/main" id="{B80F19BF-A611-4F6D-A5E3-2A84B01519A5}"/>
              </a:ext>
            </a:extLst>
          </p:cNvPr>
          <p:cNvPicPr>
            <a:picLocks noGrp="1" noChangeAspect="1"/>
          </p:cNvPicPr>
          <p:nvPr>
            <p:ph idx="1"/>
          </p:nvPr>
        </p:nvPicPr>
        <p:blipFill>
          <a:blip r:embed="rId2"/>
          <a:stretch>
            <a:fillRect/>
          </a:stretch>
        </p:blipFill>
        <p:spPr>
          <a:xfrm>
            <a:off x="1132681" y="3067844"/>
            <a:ext cx="7686675" cy="2066925"/>
          </a:xfrm>
        </p:spPr>
      </p:pic>
    </p:spTree>
    <p:extLst>
      <p:ext uri="{BB962C8B-B14F-4D97-AF65-F5344CB8AC3E}">
        <p14:creationId xmlns:p14="http://schemas.microsoft.com/office/powerpoint/2010/main" val="24535296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B68FC-9439-47A8-8A7F-80266AD11080}"/>
              </a:ext>
            </a:extLst>
          </p:cNvPr>
          <p:cNvSpPr>
            <a:spLocks noGrp="1"/>
          </p:cNvSpPr>
          <p:nvPr>
            <p:ph type="title"/>
          </p:nvPr>
        </p:nvSpPr>
        <p:spPr/>
        <p:txBody>
          <a:bodyPr/>
          <a:lstStyle/>
          <a:p>
            <a:r>
              <a:rPr lang="en-US" dirty="0"/>
              <a:t>Runtime complexity</a:t>
            </a:r>
            <a:endParaRPr lang="en-IN" dirty="0"/>
          </a:p>
        </p:txBody>
      </p:sp>
      <p:sp>
        <p:nvSpPr>
          <p:cNvPr id="3" name="Content Placeholder 2">
            <a:extLst>
              <a:ext uri="{FF2B5EF4-FFF2-40B4-BE49-F238E27FC236}">
                <a16:creationId xmlns:a16="http://schemas.microsoft.com/office/drawing/2014/main" id="{728C178E-A2DC-49AD-9039-5D490079C9CD}"/>
              </a:ext>
            </a:extLst>
          </p:cNvPr>
          <p:cNvSpPr>
            <a:spLocks noGrp="1"/>
          </p:cNvSpPr>
          <p:nvPr>
            <p:ph idx="1"/>
          </p:nvPr>
        </p:nvSpPr>
        <p:spPr/>
        <p:txBody>
          <a:bodyPr>
            <a:normAutofit/>
          </a:bodyPr>
          <a:lstStyle/>
          <a:p>
            <a:pPr marL="0" indent="0">
              <a:lnSpc>
                <a:spcPct val="200000"/>
              </a:lnSpc>
              <a:buNone/>
            </a:pPr>
            <a:r>
              <a:rPr lang="en-US" sz="2400" dirty="0"/>
              <a:t>Runtime complexity of activity selection algorithm using Greedy strategy is  O(</a:t>
            </a:r>
            <a:r>
              <a:rPr lang="en-US" sz="2400" dirty="0" err="1"/>
              <a:t>nlogn</a:t>
            </a:r>
            <a:r>
              <a:rPr lang="en-US" sz="2400" dirty="0"/>
              <a:t>) when the array is not sorted.</a:t>
            </a:r>
            <a:endParaRPr lang="en-IN" sz="2400" dirty="0"/>
          </a:p>
        </p:txBody>
      </p:sp>
    </p:spTree>
    <p:extLst>
      <p:ext uri="{BB962C8B-B14F-4D97-AF65-F5344CB8AC3E}">
        <p14:creationId xmlns:p14="http://schemas.microsoft.com/office/powerpoint/2010/main" val="3631603167"/>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2010</TotalTime>
  <Words>897</Words>
  <Application>Microsoft Macintosh PowerPoint</Application>
  <PresentationFormat>Widescreen</PresentationFormat>
  <Paragraphs>81</Paragraphs>
  <Slides>18</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Arial</vt:lpstr>
      <vt:lpstr>Cambria Math</vt:lpstr>
      <vt:lpstr>MTMI</vt:lpstr>
      <vt:lpstr>TimesTen-Roman</vt:lpstr>
      <vt:lpstr>Trebuchet MS</vt:lpstr>
      <vt:lpstr>urw-din</vt:lpstr>
      <vt:lpstr>Wingdings</vt:lpstr>
      <vt:lpstr>Wingdings 3</vt:lpstr>
      <vt:lpstr>Facet</vt:lpstr>
      <vt:lpstr>DAA   </vt:lpstr>
      <vt:lpstr>Traveling salesman problem</vt:lpstr>
      <vt:lpstr>Brute force solution-TSP</vt:lpstr>
      <vt:lpstr>Runtime complexity of TSP –Brute force</vt:lpstr>
      <vt:lpstr>Divide and conquer </vt:lpstr>
      <vt:lpstr>Minmax Algorithm -iterative</vt:lpstr>
      <vt:lpstr>Minmax Algorithm –Divide and conquer </vt:lpstr>
      <vt:lpstr>PowerPoint Presentation</vt:lpstr>
      <vt:lpstr>Greedy strategy</vt:lpstr>
      <vt:lpstr>Greedy approach in Knapsack problem</vt:lpstr>
      <vt:lpstr>0/1 knapsack problem</vt:lpstr>
      <vt:lpstr>Fractional knapsack problem</vt:lpstr>
      <vt:lpstr>Example</vt:lpstr>
      <vt:lpstr>Runtime complexity</vt:lpstr>
      <vt:lpstr>Activity selection problem</vt:lpstr>
      <vt:lpstr>Tracing the algorithm</vt:lpstr>
      <vt:lpstr>Activity selection algorithm</vt:lpstr>
      <vt:lpstr>Runtime complexity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and analysis of algorithms (CSE 2012)</dc:title>
  <dc:creator>S Jenicka</dc:creator>
  <cp:lastModifiedBy>Apoorva Karnwal</cp:lastModifiedBy>
  <cp:revision>115</cp:revision>
  <dcterms:created xsi:type="dcterms:W3CDTF">2021-07-26T04:11:56Z</dcterms:created>
  <dcterms:modified xsi:type="dcterms:W3CDTF">2024-02-04T17:31:00Z</dcterms:modified>
</cp:coreProperties>
</file>