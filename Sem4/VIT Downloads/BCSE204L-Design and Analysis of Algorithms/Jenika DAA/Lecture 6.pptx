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7" r:id="rId2"/>
    <p:sldId id="269" r:id="rId3"/>
    <p:sldId id="353" r:id="rId4"/>
    <p:sldId id="337" r:id="rId5"/>
    <p:sldId id="332" r:id="rId6"/>
    <p:sldId id="329" r:id="rId7"/>
    <p:sldId id="328" r:id="rId8"/>
    <p:sldId id="330" r:id="rId9"/>
    <p:sldId id="331" r:id="rId10"/>
    <p:sldId id="354" r:id="rId11"/>
    <p:sldId id="338" r:id="rId12"/>
    <p:sldId id="347" r:id="rId13"/>
    <p:sldId id="348" r:id="rId14"/>
    <p:sldId id="349" r:id="rId15"/>
    <p:sldId id="350" r:id="rId16"/>
    <p:sldId id="355" r:id="rId17"/>
    <p:sldId id="356" r:id="rId18"/>
    <p:sldId id="357" r:id="rId19"/>
    <p:sldId id="358" r:id="rId20"/>
    <p:sldId id="359" r:id="rId21"/>
    <p:sldId id="364" r:id="rId22"/>
    <p:sldId id="360" r:id="rId23"/>
    <p:sldId id="361" r:id="rId24"/>
    <p:sldId id="362" r:id="rId25"/>
    <p:sldId id="36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485" autoAdjust="0"/>
    <p:restoredTop sz="94660"/>
  </p:normalViewPr>
  <p:slideViewPr>
    <p:cSldViewPr snapToGrid="0">
      <p:cViewPr>
        <p:scale>
          <a:sx n="113" d="100"/>
          <a:sy n="113" d="100"/>
        </p:scale>
        <p:origin x="144"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AD793-1B91-492C-BB21-3BBC2BE5A2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833FD1-B9FB-4B66-BC60-2AE1F33255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5BC9F65-1C6E-4241-90A5-B65C606D2124}"/>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5" name="Footer Placeholder 4">
            <a:extLst>
              <a:ext uri="{FF2B5EF4-FFF2-40B4-BE49-F238E27FC236}">
                <a16:creationId xmlns:a16="http://schemas.microsoft.com/office/drawing/2014/main" id="{940B7A0E-BFBB-4130-8353-6D9397D907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D084BA-8BB0-49CE-A499-7F017C90DDFA}"/>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3745323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14892-44E6-40C4-8002-448FE8F881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11E9AD-E0E4-44D0-B7B0-2F6C164239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B8BF2D-9018-4DDB-B0CB-3C772B4427EF}"/>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5" name="Footer Placeholder 4">
            <a:extLst>
              <a:ext uri="{FF2B5EF4-FFF2-40B4-BE49-F238E27FC236}">
                <a16:creationId xmlns:a16="http://schemas.microsoft.com/office/drawing/2014/main" id="{F6A64160-A114-468B-9EEE-F2F2BC73C5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48F26F-B327-47F4-9B16-CE1A2FFA754D}"/>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1463586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77C06-79FD-4CC5-AA12-B754276785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D9B6DF-6E13-4BD2-8A2C-8C0FE7086A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480251-8396-4DC0-AF26-8FEDA5A73AD2}"/>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5" name="Footer Placeholder 4">
            <a:extLst>
              <a:ext uri="{FF2B5EF4-FFF2-40B4-BE49-F238E27FC236}">
                <a16:creationId xmlns:a16="http://schemas.microsoft.com/office/drawing/2014/main" id="{AB2C9753-18E9-479A-8136-E0CEFCF700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0461A5-0E05-444C-972F-941403C47509}"/>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1008428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E628-BDEE-4597-A87A-457558E6F4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35C2E9-22D2-4C38-8474-E436710F88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0A0024A-E48C-4FCC-8CAE-40ED3ECD55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4B519D-E174-47CD-B09D-D3B1B16A48B8}"/>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6" name="Footer Placeholder 5">
            <a:extLst>
              <a:ext uri="{FF2B5EF4-FFF2-40B4-BE49-F238E27FC236}">
                <a16:creationId xmlns:a16="http://schemas.microsoft.com/office/drawing/2014/main" id="{CF458B27-8E6A-44C5-A3AE-586934DAB53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CA733A-7EB3-4C62-A01C-7F6BC078DBF1}"/>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2121715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9DAE7-E83F-4D9A-86C4-1F13E633FF5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5F2B83-128E-472F-9826-FA88B54828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B368E3-D9C7-44E3-8142-93577400B7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790588C-BA87-4846-A5CD-BE93355E28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20F671-8B51-4D0A-9B28-5AE6203504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B898738-BE1C-4D3D-BF0D-DC24F3C3F82D}"/>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8" name="Footer Placeholder 7">
            <a:extLst>
              <a:ext uri="{FF2B5EF4-FFF2-40B4-BE49-F238E27FC236}">
                <a16:creationId xmlns:a16="http://schemas.microsoft.com/office/drawing/2014/main" id="{E1F98077-6BB0-4060-B552-3D315532BC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4B8BFD-40FD-4EE4-BC8F-DF0322E96E26}"/>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314088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DD4E2-FE57-4151-B7EA-ED4D1E8C35B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081142-7DAA-4F35-BF63-4387661C7573}"/>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4" name="Footer Placeholder 3">
            <a:extLst>
              <a:ext uri="{FF2B5EF4-FFF2-40B4-BE49-F238E27FC236}">
                <a16:creationId xmlns:a16="http://schemas.microsoft.com/office/drawing/2014/main" id="{443EC5CA-C8EE-45DB-A132-FC5FD87A79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A78E47F-0939-4318-95D5-B5144EEEE1E0}"/>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985405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34578B-E1F8-42DE-AF89-D20EE278374E}"/>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3" name="Footer Placeholder 2">
            <a:extLst>
              <a:ext uri="{FF2B5EF4-FFF2-40B4-BE49-F238E27FC236}">
                <a16:creationId xmlns:a16="http://schemas.microsoft.com/office/drawing/2014/main" id="{6F62D56C-EB52-4AA7-A98E-839D6120BAD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443222-A1D0-4E48-9535-2610A7D3E577}"/>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397014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E7489-3297-4B33-A1FC-BE87E152FB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555514-3125-48A3-BF56-C9C88CDEC7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FE28DB-0B46-4184-A9F5-881D21CE04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563643-0495-4707-96F8-23790E0F7E95}"/>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6" name="Footer Placeholder 5">
            <a:extLst>
              <a:ext uri="{FF2B5EF4-FFF2-40B4-BE49-F238E27FC236}">
                <a16:creationId xmlns:a16="http://schemas.microsoft.com/office/drawing/2014/main" id="{396BACA5-9C85-4BC0-A0E2-18EBB0D359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4DE9D8-35D7-4E97-B6B5-13FA3A003D85}"/>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295818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3632E-5511-4D48-A684-EAE0E8152D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CBDDA2-2445-40B9-8443-5A1E04EE4F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6C296F0-3873-4BBF-9DEF-B88976E217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CBB40C-7C75-473E-9B0B-8084A7804C2E}"/>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6" name="Footer Placeholder 5">
            <a:extLst>
              <a:ext uri="{FF2B5EF4-FFF2-40B4-BE49-F238E27FC236}">
                <a16:creationId xmlns:a16="http://schemas.microsoft.com/office/drawing/2014/main" id="{D8B1804C-610A-4B92-B237-406B9F1190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1BD6C5-61FA-41D0-B3AF-6A77E66000CB}"/>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843857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0CE32-3FB6-4CA3-9A1E-E2B5A0266E2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A2B9B0-6450-47CB-A136-4904CE021A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741599-31E6-4C2A-9089-74A0DCCF290D}"/>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5" name="Footer Placeholder 4">
            <a:extLst>
              <a:ext uri="{FF2B5EF4-FFF2-40B4-BE49-F238E27FC236}">
                <a16:creationId xmlns:a16="http://schemas.microsoft.com/office/drawing/2014/main" id="{6FF36FE5-8A31-44FF-83C0-D655033011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38B4A8-4D26-4668-AB25-97C91CFFB6C2}"/>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1920851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25E513-D88A-4A37-B85C-525D292BFA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B22BC0-4E6A-47D6-BC01-1777291262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5FEFF6-3BEA-40F0-B522-69855020435E}"/>
              </a:ext>
            </a:extLst>
          </p:cNvPr>
          <p:cNvSpPr>
            <a:spLocks noGrp="1"/>
          </p:cNvSpPr>
          <p:nvPr>
            <p:ph type="dt" sz="half" idx="10"/>
          </p:nvPr>
        </p:nvSpPr>
        <p:spPr/>
        <p:txBody>
          <a:bodyPr/>
          <a:lstStyle/>
          <a:p>
            <a:fld id="{303DBD86-2ED2-43D4-9FC1-DD6B55D2B7A0}" type="datetimeFigureOut">
              <a:rPr lang="en-IN" smtClean="0"/>
              <a:t>09/02/24</a:t>
            </a:fld>
            <a:endParaRPr lang="en-IN"/>
          </a:p>
        </p:txBody>
      </p:sp>
      <p:sp>
        <p:nvSpPr>
          <p:cNvPr id="5" name="Footer Placeholder 4">
            <a:extLst>
              <a:ext uri="{FF2B5EF4-FFF2-40B4-BE49-F238E27FC236}">
                <a16:creationId xmlns:a16="http://schemas.microsoft.com/office/drawing/2014/main" id="{67D3801B-F03E-4DB6-9E55-A5281DC943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3BA3B4-B11D-4EF2-A210-1378A16ECCFA}"/>
              </a:ext>
            </a:extLst>
          </p:cNvPr>
          <p:cNvSpPr>
            <a:spLocks noGrp="1"/>
          </p:cNvSpPr>
          <p:nvPr>
            <p:ph type="sldNum" sz="quarter" idx="12"/>
          </p:nvPr>
        </p:nvSpPr>
        <p:spPr/>
        <p:txBody>
          <a:bodyPr/>
          <a:lstStyle/>
          <a:p>
            <a:fld id="{3C04CCBB-20E0-4522-BE80-4627B39913FB}" type="slidenum">
              <a:rPr lang="en-IN" smtClean="0"/>
              <a:t>‹#›</a:t>
            </a:fld>
            <a:endParaRPr lang="en-IN"/>
          </a:p>
        </p:txBody>
      </p:sp>
    </p:spTree>
    <p:extLst>
      <p:ext uri="{BB962C8B-B14F-4D97-AF65-F5344CB8AC3E}">
        <p14:creationId xmlns:p14="http://schemas.microsoft.com/office/powerpoint/2010/main" val="493850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83959F-327E-4DE2-808C-7C691ADE79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6B6449-C6DF-43E0-B609-4FC58A2014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5304F9-54A1-4CC6-8E86-EA8B537B75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DBD86-2ED2-43D4-9FC1-DD6B55D2B7A0}" type="datetimeFigureOut">
              <a:rPr lang="en-IN" smtClean="0"/>
              <a:t>09/02/24</a:t>
            </a:fld>
            <a:endParaRPr lang="en-IN"/>
          </a:p>
        </p:txBody>
      </p:sp>
      <p:sp>
        <p:nvSpPr>
          <p:cNvPr id="5" name="Footer Placeholder 4">
            <a:extLst>
              <a:ext uri="{FF2B5EF4-FFF2-40B4-BE49-F238E27FC236}">
                <a16:creationId xmlns:a16="http://schemas.microsoft.com/office/drawing/2014/main" id="{798209D1-CDCF-43AD-9543-700FA953FA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921413-C81D-42A4-8817-5CDB6F074C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04CCBB-20E0-4522-BE80-4627B39913FB}" type="slidenum">
              <a:rPr lang="en-IN" smtClean="0"/>
              <a:t>‹#›</a:t>
            </a:fld>
            <a:endParaRPr lang="en-IN"/>
          </a:p>
        </p:txBody>
      </p:sp>
    </p:spTree>
    <p:extLst>
      <p:ext uri="{BB962C8B-B14F-4D97-AF65-F5344CB8AC3E}">
        <p14:creationId xmlns:p14="http://schemas.microsoft.com/office/powerpoint/2010/main" val="133247327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4.bin"/><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44DFD7-E78E-42DA-A1FE-100828ADBD14}"/>
              </a:ext>
            </a:extLst>
          </p:cNvPr>
          <p:cNvSpPr>
            <a:spLocks noGrp="1"/>
          </p:cNvSpPr>
          <p:nvPr>
            <p:ph type="ctrTitle"/>
          </p:nvPr>
        </p:nvSpPr>
        <p:spPr>
          <a:xfrm>
            <a:off x="1297517" y="1566334"/>
            <a:ext cx="7766936" cy="1646302"/>
          </a:xfrm>
        </p:spPr>
        <p:txBody>
          <a:bodyPr>
            <a:normAutofit/>
          </a:bodyPr>
          <a:lstStyle/>
          <a:p>
            <a:r>
              <a:rPr lang="en-US" sz="3100" dirty="0"/>
              <a:t>Design and analysis of algorithms (CSE </a:t>
            </a:r>
            <a:r>
              <a:rPr lang="en-US" sz="3100"/>
              <a:t>2012)</a:t>
            </a:r>
            <a:br>
              <a:rPr lang="en-US" sz="2800" dirty="0"/>
            </a:br>
            <a:endParaRPr lang="en-IN" sz="2800" dirty="0"/>
          </a:p>
        </p:txBody>
      </p:sp>
      <p:sp>
        <p:nvSpPr>
          <p:cNvPr id="5" name="Subtitle 4">
            <a:extLst>
              <a:ext uri="{FF2B5EF4-FFF2-40B4-BE49-F238E27FC236}">
                <a16:creationId xmlns:a16="http://schemas.microsoft.com/office/drawing/2014/main" id="{D718CEE2-5954-4609-826A-7625020AF266}"/>
              </a:ext>
            </a:extLst>
          </p:cNvPr>
          <p:cNvSpPr>
            <a:spLocks noGrp="1"/>
          </p:cNvSpPr>
          <p:nvPr>
            <p:ph type="subTitle" idx="1"/>
          </p:nvPr>
        </p:nvSpPr>
        <p:spPr/>
        <p:txBody>
          <a:bodyPr>
            <a:noAutofit/>
          </a:bodyPr>
          <a:lstStyle/>
          <a:p>
            <a:r>
              <a:rPr lang="en-US" sz="2400" dirty="0">
                <a:solidFill>
                  <a:schemeClr val="tx1"/>
                </a:solidFill>
              </a:rPr>
              <a:t>Prepared by</a:t>
            </a:r>
          </a:p>
          <a:p>
            <a:r>
              <a:rPr lang="en-US" sz="2400" dirty="0" err="1">
                <a:solidFill>
                  <a:schemeClr val="tx1"/>
                </a:solidFill>
              </a:rPr>
              <a:t>Dr.S.Jenicka</a:t>
            </a:r>
            <a:endParaRPr lang="en-US" sz="2400" dirty="0">
              <a:solidFill>
                <a:schemeClr val="tx1"/>
              </a:solidFill>
            </a:endParaRPr>
          </a:p>
          <a:p>
            <a:r>
              <a:rPr lang="en-US" sz="2400" dirty="0">
                <a:solidFill>
                  <a:schemeClr val="tx1"/>
                </a:solidFill>
              </a:rPr>
              <a:t>Assistant professor senior grade 2</a:t>
            </a:r>
          </a:p>
          <a:p>
            <a:r>
              <a:rPr lang="en-US" sz="2400" dirty="0">
                <a:solidFill>
                  <a:schemeClr val="tx1"/>
                </a:solidFill>
              </a:rPr>
              <a:t>SCOPE-Analytics</a:t>
            </a:r>
          </a:p>
          <a:p>
            <a:r>
              <a:rPr lang="en-US" sz="2400" dirty="0">
                <a:solidFill>
                  <a:schemeClr val="tx1"/>
                </a:solidFill>
              </a:rPr>
              <a:t>VIT Vellore</a:t>
            </a:r>
            <a:endParaRPr lang="en-IN" sz="2400" dirty="0">
              <a:solidFill>
                <a:schemeClr val="tx1"/>
              </a:solidFill>
            </a:endParaRPr>
          </a:p>
        </p:txBody>
      </p:sp>
    </p:spTree>
    <p:extLst>
      <p:ext uri="{BB962C8B-B14F-4D97-AF65-F5344CB8AC3E}">
        <p14:creationId xmlns:p14="http://schemas.microsoft.com/office/powerpoint/2010/main" val="1604498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9E9B2-F749-4A6A-B31D-65183D901FDC}"/>
              </a:ext>
            </a:extLst>
          </p:cNvPr>
          <p:cNvSpPr>
            <a:spLocks noGrp="1"/>
          </p:cNvSpPr>
          <p:nvPr>
            <p:ph type="title"/>
          </p:nvPr>
        </p:nvSpPr>
        <p:spPr/>
        <p:txBody>
          <a:bodyPr/>
          <a:lstStyle/>
          <a:p>
            <a:r>
              <a:rPr lang="en-US" dirty="0"/>
              <a:t>Dynamic programming</a:t>
            </a:r>
            <a:endParaRPr lang="en-IN" dirty="0"/>
          </a:p>
        </p:txBody>
      </p:sp>
      <p:sp>
        <p:nvSpPr>
          <p:cNvPr id="4" name="TextBox 3">
            <a:extLst>
              <a:ext uri="{FF2B5EF4-FFF2-40B4-BE49-F238E27FC236}">
                <a16:creationId xmlns:a16="http://schemas.microsoft.com/office/drawing/2014/main" id="{5028CF99-36D7-4773-A637-F712FD662B75}"/>
              </a:ext>
            </a:extLst>
          </p:cNvPr>
          <p:cNvSpPr txBox="1"/>
          <p:nvPr/>
        </p:nvSpPr>
        <p:spPr>
          <a:xfrm>
            <a:off x="446313" y="1690688"/>
            <a:ext cx="10005377" cy="5159554"/>
          </a:xfrm>
          <a:prstGeom prst="rect">
            <a:avLst/>
          </a:prstGeom>
          <a:noFill/>
        </p:spPr>
        <p:txBody>
          <a:bodyPr wrap="square">
            <a:spAutoFit/>
          </a:bodyPr>
          <a:lstStyle/>
          <a:p>
            <a:pPr algn="just">
              <a:lnSpc>
                <a:spcPct val="200000"/>
              </a:lnSpc>
            </a:pPr>
            <a:r>
              <a:rPr lang="en-US" sz="2400" b="1" dirty="0"/>
              <a:t>Dynamic programming</a:t>
            </a:r>
            <a:r>
              <a:rPr lang="en-US" sz="2400" dirty="0"/>
              <a:t> is a technique for solving problems with overlapping subproblems. Typically, these subproblems arise from a recurrence relating a given problem’s solution to solutions of its smaller subproblems. Rather than solving overlapping subproblems again and again, dynamic programming suggests solving each of the smaller subproblems only once and recording the results in a table from which a solution to the original problem can then be obtained.</a:t>
            </a:r>
          </a:p>
        </p:txBody>
      </p:sp>
    </p:spTree>
    <p:extLst>
      <p:ext uri="{BB962C8B-B14F-4D97-AF65-F5344CB8AC3E}">
        <p14:creationId xmlns:p14="http://schemas.microsoft.com/office/powerpoint/2010/main" val="2026340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2ECA-EAEE-448B-8DA3-05A7A349B3DA}"/>
              </a:ext>
            </a:extLst>
          </p:cNvPr>
          <p:cNvSpPr>
            <a:spLocks noGrp="1"/>
          </p:cNvSpPr>
          <p:nvPr>
            <p:ph type="title"/>
          </p:nvPr>
        </p:nvSpPr>
        <p:spPr/>
        <p:txBody>
          <a:bodyPr/>
          <a:lstStyle/>
          <a:p>
            <a:r>
              <a:rPr lang="en-US" dirty="0"/>
              <a:t>Dynamic programming and </a:t>
            </a:r>
            <a:r>
              <a:rPr lang="en-US" sz="4400" b="0" i="0" dirty="0" err="1">
                <a:solidFill>
                  <a:srgbClr val="242729"/>
                </a:solidFill>
                <a:effectLst/>
                <a:latin typeface="Times New Roman" panose="02020603050405020304" pitchFamily="18" charset="0"/>
                <a:cs typeface="Times New Roman" panose="02020603050405020304" pitchFamily="18" charset="0"/>
              </a:rPr>
              <a:t>memoization</a:t>
            </a:r>
            <a:endParaRPr lang="en-IN" dirty="0"/>
          </a:p>
        </p:txBody>
      </p:sp>
      <p:sp>
        <p:nvSpPr>
          <p:cNvPr id="4" name="TextBox 3">
            <a:extLst>
              <a:ext uri="{FF2B5EF4-FFF2-40B4-BE49-F238E27FC236}">
                <a16:creationId xmlns:a16="http://schemas.microsoft.com/office/drawing/2014/main" id="{9A5ED9D9-37BB-41E5-AFF1-FD328A28DE84}"/>
              </a:ext>
            </a:extLst>
          </p:cNvPr>
          <p:cNvSpPr txBox="1"/>
          <p:nvPr/>
        </p:nvSpPr>
        <p:spPr>
          <a:xfrm>
            <a:off x="942975" y="2105025"/>
            <a:ext cx="10258425" cy="4001631"/>
          </a:xfrm>
          <a:prstGeom prst="rect">
            <a:avLst/>
          </a:prstGeom>
          <a:noFill/>
        </p:spPr>
        <p:txBody>
          <a:bodyPr wrap="square">
            <a:spAutoFit/>
          </a:bodyPr>
          <a:lstStyle/>
          <a:p>
            <a:pPr algn="just" fontAlgn="base"/>
            <a:r>
              <a:rPr lang="en-US" sz="2800" b="0" i="0" dirty="0">
                <a:solidFill>
                  <a:srgbClr val="242729"/>
                </a:solidFill>
                <a:effectLst/>
                <a:latin typeface="Times New Roman" panose="02020603050405020304" pitchFamily="18" charset="0"/>
                <a:cs typeface="Times New Roman" panose="02020603050405020304" pitchFamily="18" charset="0"/>
              </a:rPr>
              <a:t>When you solve a </a:t>
            </a:r>
            <a:r>
              <a:rPr lang="en-US" sz="2800" b="1" i="0" dirty="0">
                <a:solidFill>
                  <a:srgbClr val="242729"/>
                </a:solidFill>
                <a:effectLst/>
                <a:latin typeface="Times New Roman" panose="02020603050405020304" pitchFamily="18" charset="0"/>
                <a:cs typeface="Times New Roman" panose="02020603050405020304" pitchFamily="18" charset="0"/>
              </a:rPr>
              <a:t>dynamic programming </a:t>
            </a:r>
            <a:r>
              <a:rPr lang="en-US" sz="2800" b="0" i="0" dirty="0">
                <a:solidFill>
                  <a:srgbClr val="242729"/>
                </a:solidFill>
                <a:effectLst/>
                <a:latin typeface="Times New Roman" panose="02020603050405020304" pitchFamily="18" charset="0"/>
                <a:cs typeface="Times New Roman" panose="02020603050405020304" pitchFamily="18" charset="0"/>
              </a:rPr>
              <a:t>problem using tabulation you solve the problem "</a:t>
            </a:r>
            <a:r>
              <a:rPr lang="en-US" sz="2800" b="1" i="0" dirty="0">
                <a:solidFill>
                  <a:srgbClr val="242729"/>
                </a:solidFill>
                <a:effectLst/>
                <a:latin typeface="Times New Roman" panose="02020603050405020304" pitchFamily="18" charset="0"/>
                <a:cs typeface="Times New Roman" panose="02020603050405020304" pitchFamily="18" charset="0"/>
              </a:rPr>
              <a:t>bottom up</a:t>
            </a:r>
            <a:r>
              <a:rPr lang="en-US" sz="2800" b="0" i="0" dirty="0">
                <a:solidFill>
                  <a:srgbClr val="242729"/>
                </a:solidFill>
                <a:effectLst/>
                <a:latin typeface="Times New Roman" panose="02020603050405020304" pitchFamily="18" charset="0"/>
                <a:cs typeface="Times New Roman" panose="02020603050405020304" pitchFamily="18" charset="0"/>
              </a:rPr>
              <a:t>", i.e., by solving all related sub-problems first, typically by filling up an </a:t>
            </a:r>
            <a:r>
              <a:rPr lang="en-US" sz="2800" b="0" i="1" dirty="0">
                <a:solidFill>
                  <a:srgbClr val="242729"/>
                </a:solidFill>
                <a:effectLst/>
                <a:latin typeface="Times New Roman" panose="02020603050405020304" pitchFamily="18" charset="0"/>
                <a:cs typeface="Times New Roman" panose="02020603050405020304" pitchFamily="18" charset="0"/>
              </a:rPr>
              <a:t>n</a:t>
            </a:r>
            <a:r>
              <a:rPr lang="en-US" sz="2800" b="0" i="0" dirty="0">
                <a:solidFill>
                  <a:srgbClr val="242729"/>
                </a:solidFill>
                <a:effectLst/>
                <a:latin typeface="Times New Roman" panose="02020603050405020304" pitchFamily="18" charset="0"/>
                <a:cs typeface="Times New Roman" panose="02020603050405020304" pitchFamily="18" charset="0"/>
              </a:rPr>
              <a:t>-dimensional table. Based on the results in the table, the solution to the "top" / original problem is then computed.</a:t>
            </a:r>
          </a:p>
          <a:p>
            <a:pPr algn="just" fontAlgn="base"/>
            <a:r>
              <a:rPr lang="en-US" sz="2800" b="0" i="0" dirty="0">
                <a:solidFill>
                  <a:srgbClr val="242729"/>
                </a:solidFill>
                <a:effectLst/>
                <a:latin typeface="Times New Roman" panose="02020603050405020304" pitchFamily="18" charset="0"/>
                <a:cs typeface="Times New Roman" panose="02020603050405020304" pitchFamily="18" charset="0"/>
              </a:rPr>
              <a:t>If you use </a:t>
            </a:r>
            <a:r>
              <a:rPr lang="en-US" sz="2800" b="1" i="0" dirty="0" err="1">
                <a:solidFill>
                  <a:srgbClr val="242729"/>
                </a:solidFill>
                <a:effectLst/>
                <a:latin typeface="Times New Roman" panose="02020603050405020304" pitchFamily="18" charset="0"/>
                <a:cs typeface="Times New Roman" panose="02020603050405020304" pitchFamily="18" charset="0"/>
              </a:rPr>
              <a:t>memoization</a:t>
            </a:r>
            <a:r>
              <a:rPr lang="en-US" sz="2800" b="0" i="0" dirty="0">
                <a:solidFill>
                  <a:srgbClr val="242729"/>
                </a:solidFill>
                <a:effectLst/>
                <a:latin typeface="Times New Roman" panose="02020603050405020304" pitchFamily="18" charset="0"/>
                <a:cs typeface="Times New Roman" panose="02020603050405020304" pitchFamily="18" charset="0"/>
              </a:rPr>
              <a:t> to solve the problem you do it by maintaining a map of already solved sub problems. You do it "</a:t>
            </a:r>
            <a:r>
              <a:rPr lang="en-US" sz="2800" b="1" i="0" dirty="0">
                <a:solidFill>
                  <a:srgbClr val="242729"/>
                </a:solidFill>
                <a:effectLst/>
                <a:latin typeface="Times New Roman" panose="02020603050405020304" pitchFamily="18" charset="0"/>
                <a:cs typeface="Times New Roman" panose="02020603050405020304" pitchFamily="18" charset="0"/>
              </a:rPr>
              <a:t>top down</a:t>
            </a:r>
            <a:r>
              <a:rPr lang="en-US" sz="2800" b="0" i="0" dirty="0">
                <a:solidFill>
                  <a:srgbClr val="242729"/>
                </a:solidFill>
                <a:effectLst/>
                <a:latin typeface="Times New Roman" panose="02020603050405020304" pitchFamily="18" charset="0"/>
                <a:cs typeface="Times New Roman" panose="02020603050405020304" pitchFamily="18" charset="0"/>
              </a:rPr>
              <a:t>" in the sense that you solve the "top" problem first (which typically recurses down to solve the sub-problems</a:t>
            </a:r>
          </a:p>
        </p:txBody>
      </p:sp>
    </p:spTree>
    <p:extLst>
      <p:ext uri="{BB962C8B-B14F-4D97-AF65-F5344CB8AC3E}">
        <p14:creationId xmlns:p14="http://schemas.microsoft.com/office/powerpoint/2010/main" val="3075881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17B59-1277-4C30-A556-76208CD7B9E8}"/>
              </a:ext>
            </a:extLst>
          </p:cNvPr>
          <p:cNvSpPr>
            <a:spLocks noGrp="1"/>
          </p:cNvSpPr>
          <p:nvPr>
            <p:ph type="title"/>
          </p:nvPr>
        </p:nvSpPr>
        <p:spPr/>
        <p:txBody>
          <a:bodyPr/>
          <a:lstStyle/>
          <a:p>
            <a:r>
              <a:rPr lang="en-US" dirty="0"/>
              <a:t>-</a:t>
            </a:r>
            <a:r>
              <a:rPr lang="en-US" dirty="0" err="1"/>
              <a:t>Contd</a:t>
            </a:r>
            <a:endParaRPr lang="en-IN" dirty="0"/>
          </a:p>
        </p:txBody>
      </p:sp>
      <p:pic>
        <p:nvPicPr>
          <p:cNvPr id="7" name="Content Placeholder 6">
            <a:extLst>
              <a:ext uri="{FF2B5EF4-FFF2-40B4-BE49-F238E27FC236}">
                <a16:creationId xmlns:a16="http://schemas.microsoft.com/office/drawing/2014/main" id="{3C2BDAE5-8D57-4CF0-BE8A-8F283CB6ECDB}"/>
              </a:ext>
            </a:extLst>
          </p:cNvPr>
          <p:cNvPicPr>
            <a:picLocks noGrp="1" noChangeAspect="1"/>
          </p:cNvPicPr>
          <p:nvPr>
            <p:ph idx="1"/>
          </p:nvPr>
        </p:nvPicPr>
        <p:blipFill>
          <a:blip r:embed="rId2"/>
          <a:stretch>
            <a:fillRect/>
          </a:stretch>
        </p:blipFill>
        <p:spPr>
          <a:xfrm>
            <a:off x="439485" y="2362200"/>
            <a:ext cx="11071801" cy="2886075"/>
          </a:xfrm>
        </p:spPr>
      </p:pic>
    </p:spTree>
    <p:extLst>
      <p:ext uri="{BB962C8B-B14F-4D97-AF65-F5344CB8AC3E}">
        <p14:creationId xmlns:p14="http://schemas.microsoft.com/office/powerpoint/2010/main" val="1797631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17C75-2AD6-4A00-8D76-C3D2F5BF2ADB}"/>
              </a:ext>
            </a:extLst>
          </p:cNvPr>
          <p:cNvSpPr>
            <a:spLocks noGrp="1"/>
          </p:cNvSpPr>
          <p:nvPr>
            <p:ph type="title"/>
          </p:nvPr>
        </p:nvSpPr>
        <p:spPr/>
        <p:txBody>
          <a:bodyPr/>
          <a:lstStyle/>
          <a:p>
            <a:r>
              <a:rPr lang="en-US" dirty="0"/>
              <a:t>Longest common subsequence (LCS) problem</a:t>
            </a:r>
            <a:endParaRPr lang="en-IN" dirty="0"/>
          </a:p>
        </p:txBody>
      </p:sp>
      <p:sp>
        <p:nvSpPr>
          <p:cNvPr id="3" name="Content Placeholder 2">
            <a:extLst>
              <a:ext uri="{FF2B5EF4-FFF2-40B4-BE49-F238E27FC236}">
                <a16:creationId xmlns:a16="http://schemas.microsoft.com/office/drawing/2014/main" id="{8A00E0F6-2D1C-4EBE-94AF-8D1829BCB344}"/>
              </a:ext>
            </a:extLst>
          </p:cNvPr>
          <p:cNvSpPr>
            <a:spLocks noGrp="1"/>
          </p:cNvSpPr>
          <p:nvPr>
            <p:ph idx="1"/>
          </p:nvPr>
        </p:nvSpPr>
        <p:spPr/>
        <p:txBody>
          <a:bodyPr/>
          <a:lstStyle/>
          <a:p>
            <a:pPr marL="0" indent="0">
              <a:lnSpc>
                <a:spcPct val="200000"/>
              </a:lnSpc>
              <a:buNone/>
            </a:pPr>
            <a:r>
              <a:rPr lang="en-US" b="0" i="0" dirty="0">
                <a:solidFill>
                  <a:srgbClr val="4D5156"/>
                </a:solidFill>
                <a:effectLst/>
                <a:latin typeface="arial" panose="020B0604020202020204" pitchFamily="34" charset="0"/>
              </a:rPr>
              <a:t>The </a:t>
            </a:r>
            <a:r>
              <a:rPr lang="en-US" b="1" i="0" dirty="0">
                <a:solidFill>
                  <a:srgbClr val="5F6368"/>
                </a:solidFill>
                <a:effectLst/>
                <a:latin typeface="arial" panose="020B0604020202020204" pitchFamily="34" charset="0"/>
              </a:rPr>
              <a:t>Longest Common Subsequence</a:t>
            </a:r>
            <a:r>
              <a:rPr lang="en-US" b="0" i="0" dirty="0">
                <a:solidFill>
                  <a:srgbClr val="4D5156"/>
                </a:solidFill>
                <a:effectLst/>
                <a:latin typeface="arial" panose="020B0604020202020204" pitchFamily="34" charset="0"/>
              </a:rPr>
              <a:t> (LCS) </a:t>
            </a:r>
            <a:r>
              <a:rPr lang="en-US" b="1" i="0" dirty="0">
                <a:solidFill>
                  <a:srgbClr val="5F6368"/>
                </a:solidFill>
                <a:effectLst/>
                <a:latin typeface="arial" panose="020B0604020202020204" pitchFamily="34" charset="0"/>
              </a:rPr>
              <a:t>problem</a:t>
            </a:r>
            <a:r>
              <a:rPr lang="en-US" b="0" i="0" dirty="0">
                <a:solidFill>
                  <a:srgbClr val="4D5156"/>
                </a:solidFill>
                <a:effectLst/>
                <a:latin typeface="arial" panose="020B0604020202020204" pitchFamily="34" charset="0"/>
              </a:rPr>
              <a:t> is finding the longest subsequence present in given two sequences in the same order.</a:t>
            </a:r>
            <a:endParaRPr lang="en-IN" dirty="0"/>
          </a:p>
        </p:txBody>
      </p:sp>
    </p:spTree>
    <p:extLst>
      <p:ext uri="{BB962C8B-B14F-4D97-AF65-F5344CB8AC3E}">
        <p14:creationId xmlns:p14="http://schemas.microsoft.com/office/powerpoint/2010/main" val="2762891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07DC-2ECF-4180-B6B5-EDEA2A9750A9}"/>
              </a:ext>
            </a:extLst>
          </p:cNvPr>
          <p:cNvSpPr>
            <a:spLocks noGrp="1"/>
          </p:cNvSpPr>
          <p:nvPr>
            <p:ph type="title"/>
          </p:nvPr>
        </p:nvSpPr>
        <p:spPr/>
        <p:txBody>
          <a:bodyPr>
            <a:normAutofit/>
          </a:bodyPr>
          <a:lstStyle/>
          <a:p>
            <a:r>
              <a:rPr lang="en-US" dirty="0"/>
              <a:t>1. Characterizing Longest common sequence -Optimal sub structure of an LCS</a:t>
            </a:r>
            <a:endParaRPr lang="en-IN" dirty="0"/>
          </a:p>
        </p:txBody>
      </p:sp>
      <p:pic>
        <p:nvPicPr>
          <p:cNvPr id="5" name="Content Placeholder 4">
            <a:extLst>
              <a:ext uri="{FF2B5EF4-FFF2-40B4-BE49-F238E27FC236}">
                <a16:creationId xmlns:a16="http://schemas.microsoft.com/office/drawing/2014/main" id="{1E4F21BE-AFBB-47BF-8A07-4E2E8DFA1EF2}"/>
              </a:ext>
            </a:extLst>
          </p:cNvPr>
          <p:cNvPicPr>
            <a:picLocks noGrp="1" noChangeAspect="1"/>
          </p:cNvPicPr>
          <p:nvPr>
            <p:ph idx="1"/>
          </p:nvPr>
        </p:nvPicPr>
        <p:blipFill>
          <a:blip r:embed="rId2"/>
          <a:stretch>
            <a:fillRect/>
          </a:stretch>
        </p:blipFill>
        <p:spPr>
          <a:xfrm>
            <a:off x="465931" y="2343944"/>
            <a:ext cx="10358219" cy="2345532"/>
          </a:xfrm>
        </p:spPr>
      </p:pic>
    </p:spTree>
    <p:extLst>
      <p:ext uri="{BB962C8B-B14F-4D97-AF65-F5344CB8AC3E}">
        <p14:creationId xmlns:p14="http://schemas.microsoft.com/office/powerpoint/2010/main" val="1449108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C2AD3-5D15-46B7-A14C-F058C674A35F}"/>
              </a:ext>
            </a:extLst>
          </p:cNvPr>
          <p:cNvSpPr>
            <a:spLocks noGrp="1"/>
          </p:cNvSpPr>
          <p:nvPr>
            <p:ph type="title"/>
          </p:nvPr>
        </p:nvSpPr>
        <p:spPr/>
        <p:txBody>
          <a:bodyPr/>
          <a:lstStyle/>
          <a:p>
            <a:r>
              <a:rPr lang="en-US" dirty="0"/>
              <a:t>2. A recursive solution</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698864-FC10-48B6-A30D-BA0F7275EFB3}"/>
                  </a:ext>
                </a:extLst>
              </p:cNvPr>
              <p:cNvSpPr>
                <a:spLocks noGrp="1"/>
              </p:cNvSpPr>
              <p:nvPr>
                <p:ph idx="1"/>
              </p:nvPr>
            </p:nvSpPr>
            <p:spPr>
              <a:xfrm>
                <a:off x="238125" y="2081324"/>
                <a:ext cx="9267825" cy="3880773"/>
              </a:xfrm>
            </p:spPr>
            <p:txBody>
              <a:bodyPr/>
              <a:lstStyle/>
              <a:p>
                <a:pPr marL="0" indent="0" algn="just">
                  <a:buNone/>
                </a:pPr>
                <a:r>
                  <a:rPr lang="en-US" dirty="0"/>
                  <a:t>To find an LCS of X =&lt;</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r>
                          <a:rPr lang="en-US" i="1" smtClean="0">
                            <a:latin typeface="Cambria Math" panose="02040503050406030204" pitchFamily="18" charset="0"/>
                            <a:ea typeface="Cambria Math" panose="02040503050406030204" pitchFamily="18" charset="0"/>
                          </a:rPr>
                          <m:t>⋯</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𝑚</m:t>
                        </m:r>
                      </m:sub>
                    </m:sSub>
                  </m:oMath>
                </a14:m>
                <a:r>
                  <a:rPr lang="en-US" dirty="0"/>
                  <a:t> &gt;; and Y =&lt;</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r>
                          <a:rPr lang="en-US" i="1">
                            <a:latin typeface="Cambria Math" panose="02040503050406030204" pitchFamily="18" charset="0"/>
                            <a:ea typeface="Cambria Math" panose="02040503050406030204" pitchFamily="18" charset="0"/>
                          </a:rPr>
                          <m:t>⋯</m:t>
                        </m:r>
                      </m:sub>
                    </m:sSub>
                  </m:oMath>
                </a14:m>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oMath>
                </a14:m>
                <a:r>
                  <a:rPr lang="en-US" dirty="0"/>
                  <a:t> &gt;. 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𝑚</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r>
                      <a:rPr lang="en-US" i="1">
                        <a:latin typeface="Cambria Math" panose="02040503050406030204" pitchFamily="18" charset="0"/>
                      </a:rPr>
                      <m:t> </m:t>
                    </m:r>
                  </m:oMath>
                </a14:m>
                <a:r>
                  <a:rPr lang="en-US" dirty="0"/>
                  <a:t>we must find an LCS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𝑚</m:t>
                        </m:r>
                        <m:r>
                          <a:rPr lang="en-US" b="0" i="1" smtClean="0">
                            <a:latin typeface="Cambria Math" panose="02040503050406030204" pitchFamily="18" charset="0"/>
                          </a:rPr>
                          <m:t>−1</m:t>
                        </m:r>
                      </m:sub>
                    </m:sSub>
                  </m:oMath>
                </a14:m>
                <a:r>
                  <a:rPr lang="en-US" dirty="0"/>
                  <a:t>and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𝑛</m:t>
                        </m:r>
                        <m:r>
                          <a:rPr lang="en-US" b="0" i="1" smtClean="0">
                            <a:latin typeface="Cambria Math" panose="02040503050406030204" pitchFamily="18" charset="0"/>
                          </a:rPr>
                          <m:t>−1</m:t>
                        </m:r>
                      </m:sub>
                    </m:sSub>
                  </m:oMath>
                </a14:m>
                <a:r>
                  <a:rPr lang="en-US" dirty="0"/>
                  <a:t>. Appending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𝑚</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𝑛</m:t>
                        </m:r>
                      </m:sub>
                    </m:sSub>
                    <m:r>
                      <a:rPr lang="en-US" i="1">
                        <a:latin typeface="Cambria Math" panose="02040503050406030204" pitchFamily="18" charset="0"/>
                      </a:rPr>
                      <m:t> </m:t>
                    </m:r>
                  </m:oMath>
                </a14:m>
                <a:r>
                  <a:rPr lang="en-US" dirty="0"/>
                  <a:t>to this LCS yields an LCS of X and Y . If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𝑚</m:t>
                        </m:r>
                      </m:sub>
                    </m:sSub>
                    <m:r>
                      <a:rPr lang="en-US" dirty="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r>
                      <a:rPr lang="en-US" i="1">
                        <a:latin typeface="Cambria Math" panose="02040503050406030204" pitchFamily="18" charset="0"/>
                      </a:rPr>
                      <m:t> </m:t>
                    </m:r>
                  </m:oMath>
                </a14:m>
                <a:r>
                  <a:rPr lang="en-US" dirty="0"/>
                  <a:t>, then we must solve two subproblems: finding an LCS of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𝑚</m:t>
                        </m:r>
                        <m:r>
                          <a:rPr lang="en-US" b="0" i="1" smtClean="0">
                            <a:latin typeface="Cambria Math" panose="02040503050406030204" pitchFamily="18" charset="0"/>
                          </a:rPr>
                          <m:t>−1</m:t>
                        </m:r>
                      </m:sub>
                    </m:sSub>
                  </m:oMath>
                </a14:m>
                <a:r>
                  <a:rPr lang="en-US" dirty="0"/>
                  <a:t>and Y and finding an LCS of X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r>
                          <a:rPr lang="en-US" i="1">
                            <a:latin typeface="Cambria Math" panose="02040503050406030204" pitchFamily="18" charset="0"/>
                          </a:rPr>
                          <m:t>−1</m:t>
                        </m:r>
                      </m:sub>
                    </m:sSub>
                    <m:r>
                      <a:rPr lang="en-US" b="0" i="0" smtClean="0">
                        <a:latin typeface="Cambria Math" panose="02040503050406030204" pitchFamily="18" charset="0"/>
                      </a:rPr>
                      <m:t> </m:t>
                    </m:r>
                  </m:oMath>
                </a14:m>
                <a:r>
                  <a:rPr lang="en-US" dirty="0"/>
                  <a:t> whichever of these two LCSs is longer is an LCS of X and Y .</a:t>
                </a:r>
              </a:p>
              <a:p>
                <a:pPr marL="0" indent="0" algn="just">
                  <a:buNone/>
                </a:pPr>
                <a:endParaRPr lang="en-US" dirty="0"/>
              </a:p>
              <a:p>
                <a:pPr marL="0" indent="0" algn="just">
                  <a:buNone/>
                </a:pPr>
                <a:endParaRPr lang="en-IN" dirty="0"/>
              </a:p>
            </p:txBody>
          </p:sp>
        </mc:Choice>
        <mc:Fallback xmlns="">
          <p:sp>
            <p:nvSpPr>
              <p:cNvPr id="3" name="Content Placeholder 2">
                <a:extLst>
                  <a:ext uri="{FF2B5EF4-FFF2-40B4-BE49-F238E27FC236}">
                    <a16:creationId xmlns:a16="http://schemas.microsoft.com/office/drawing/2014/main" id="{03698864-FC10-48B6-A30D-BA0F7275EFB3}"/>
                  </a:ext>
                </a:extLst>
              </p:cNvPr>
              <p:cNvSpPr>
                <a:spLocks noGrp="1" noRot="1" noChangeAspect="1" noMove="1" noResize="1" noEditPoints="1" noAdjustHandles="1" noChangeArrowheads="1" noChangeShapeType="1" noTextEdit="1"/>
              </p:cNvSpPr>
              <p:nvPr>
                <p:ph idx="1"/>
              </p:nvPr>
            </p:nvSpPr>
            <p:spPr>
              <a:xfrm>
                <a:off x="238125" y="2081324"/>
                <a:ext cx="9267825" cy="3880773"/>
              </a:xfrm>
              <a:blipFill>
                <a:blip r:embed="rId2"/>
                <a:stretch>
                  <a:fillRect l="-526" t="-942" r="-592"/>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F70EEA8B-59F4-42B4-87A8-9616931B5CBB}"/>
              </a:ext>
            </a:extLst>
          </p:cNvPr>
          <p:cNvPicPr>
            <a:picLocks noChangeAspect="1"/>
          </p:cNvPicPr>
          <p:nvPr/>
        </p:nvPicPr>
        <p:blipFill>
          <a:blip r:embed="rId3"/>
          <a:stretch>
            <a:fillRect/>
          </a:stretch>
        </p:blipFill>
        <p:spPr>
          <a:xfrm>
            <a:off x="914401" y="4711189"/>
            <a:ext cx="8260714" cy="1537211"/>
          </a:xfrm>
          <a:prstGeom prst="rect">
            <a:avLst/>
          </a:prstGeom>
        </p:spPr>
      </p:pic>
    </p:spTree>
    <p:extLst>
      <p:ext uri="{BB962C8B-B14F-4D97-AF65-F5344CB8AC3E}">
        <p14:creationId xmlns:p14="http://schemas.microsoft.com/office/powerpoint/2010/main" val="472983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B4F59-88DD-4FD2-8C54-9AF633236F36}"/>
              </a:ext>
            </a:extLst>
          </p:cNvPr>
          <p:cNvSpPr>
            <a:spLocks noGrp="1"/>
          </p:cNvSpPr>
          <p:nvPr>
            <p:ph type="title"/>
          </p:nvPr>
        </p:nvSpPr>
        <p:spPr>
          <a:xfrm>
            <a:off x="0" y="400050"/>
            <a:ext cx="4257675" cy="638175"/>
          </a:xfrm>
        </p:spPr>
        <p:txBody>
          <a:bodyPr>
            <a:normAutofit fontScale="90000"/>
          </a:bodyPr>
          <a:lstStyle/>
          <a:p>
            <a:r>
              <a:rPr lang="en-US" dirty="0"/>
              <a:t>3. Computing the </a:t>
            </a:r>
            <a:br>
              <a:rPr lang="en-US" dirty="0"/>
            </a:br>
            <a:r>
              <a:rPr lang="en-US" dirty="0"/>
              <a:t>length of an LCS</a:t>
            </a:r>
            <a:endParaRPr lang="en-IN" dirty="0"/>
          </a:p>
        </p:txBody>
      </p:sp>
      <p:pic>
        <p:nvPicPr>
          <p:cNvPr id="5" name="Content Placeholder 4">
            <a:extLst>
              <a:ext uri="{FF2B5EF4-FFF2-40B4-BE49-F238E27FC236}">
                <a16:creationId xmlns:a16="http://schemas.microsoft.com/office/drawing/2014/main" id="{2953A5EF-9990-4EDE-BBF0-F21579581B47}"/>
              </a:ext>
            </a:extLst>
          </p:cNvPr>
          <p:cNvPicPr>
            <a:picLocks noGrp="1" noChangeAspect="1"/>
          </p:cNvPicPr>
          <p:nvPr>
            <p:ph idx="1"/>
          </p:nvPr>
        </p:nvPicPr>
        <p:blipFill>
          <a:blip r:embed="rId2"/>
          <a:stretch>
            <a:fillRect/>
          </a:stretch>
        </p:blipFill>
        <p:spPr>
          <a:xfrm>
            <a:off x="3714749" y="33867"/>
            <a:ext cx="9077325" cy="7058681"/>
          </a:xfrm>
        </p:spPr>
      </p:pic>
    </p:spTree>
    <p:extLst>
      <p:ext uri="{BB962C8B-B14F-4D97-AF65-F5344CB8AC3E}">
        <p14:creationId xmlns:p14="http://schemas.microsoft.com/office/powerpoint/2010/main" val="4110627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6A9E8-731F-45A1-B0A3-69CC728A4EF1}"/>
              </a:ext>
            </a:extLst>
          </p:cNvPr>
          <p:cNvSpPr>
            <a:spLocks noGrp="1"/>
          </p:cNvSpPr>
          <p:nvPr>
            <p:ph type="title"/>
          </p:nvPr>
        </p:nvSpPr>
        <p:spPr>
          <a:xfrm>
            <a:off x="114300" y="212725"/>
            <a:ext cx="3048000" cy="1325563"/>
          </a:xfrm>
        </p:spPr>
        <p:txBody>
          <a:bodyPr/>
          <a:lstStyle/>
          <a:p>
            <a:r>
              <a:rPr lang="en-US" dirty="0"/>
              <a:t>4. Construct </a:t>
            </a:r>
            <a:br>
              <a:rPr lang="en-US" dirty="0"/>
            </a:br>
            <a:r>
              <a:rPr lang="en-US" dirty="0"/>
              <a:t>an LCS</a:t>
            </a:r>
            <a:endParaRPr lang="en-IN" dirty="0"/>
          </a:p>
        </p:txBody>
      </p:sp>
      <p:pic>
        <p:nvPicPr>
          <p:cNvPr id="4" name="Picture 3">
            <a:extLst>
              <a:ext uri="{FF2B5EF4-FFF2-40B4-BE49-F238E27FC236}">
                <a16:creationId xmlns:a16="http://schemas.microsoft.com/office/drawing/2014/main" id="{EEC5FF3A-423B-4452-A43D-80913617F772}"/>
              </a:ext>
            </a:extLst>
          </p:cNvPr>
          <p:cNvPicPr>
            <a:picLocks noChangeAspect="1"/>
          </p:cNvPicPr>
          <p:nvPr/>
        </p:nvPicPr>
        <p:blipFill>
          <a:blip r:embed="rId2"/>
          <a:stretch>
            <a:fillRect/>
          </a:stretch>
        </p:blipFill>
        <p:spPr>
          <a:xfrm>
            <a:off x="114300" y="3162300"/>
            <a:ext cx="3581400" cy="2419350"/>
          </a:xfrm>
          <a:prstGeom prst="rect">
            <a:avLst/>
          </a:prstGeom>
        </p:spPr>
      </p:pic>
      <p:pic>
        <p:nvPicPr>
          <p:cNvPr id="9" name="Content Placeholder 8">
            <a:extLst>
              <a:ext uri="{FF2B5EF4-FFF2-40B4-BE49-F238E27FC236}">
                <a16:creationId xmlns:a16="http://schemas.microsoft.com/office/drawing/2014/main" id="{E548090A-0F03-43D1-941B-3D451112F1F9}"/>
              </a:ext>
            </a:extLst>
          </p:cNvPr>
          <p:cNvPicPr>
            <a:picLocks noGrp="1" noChangeAspect="1"/>
          </p:cNvPicPr>
          <p:nvPr>
            <p:ph idx="1"/>
          </p:nvPr>
        </p:nvPicPr>
        <p:blipFill>
          <a:blip r:embed="rId3"/>
          <a:stretch>
            <a:fillRect/>
          </a:stretch>
        </p:blipFill>
        <p:spPr>
          <a:xfrm>
            <a:off x="3476064" y="73704"/>
            <a:ext cx="8258736" cy="6784296"/>
          </a:xfrm>
        </p:spPr>
      </p:pic>
    </p:spTree>
    <p:extLst>
      <p:ext uri="{BB962C8B-B14F-4D97-AF65-F5344CB8AC3E}">
        <p14:creationId xmlns:p14="http://schemas.microsoft.com/office/powerpoint/2010/main" val="1190919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06C7A-E78A-4A75-9798-F26B6B5571EF}"/>
              </a:ext>
            </a:extLst>
          </p:cNvPr>
          <p:cNvSpPr>
            <a:spLocks noGrp="1"/>
          </p:cNvSpPr>
          <p:nvPr>
            <p:ph type="title"/>
          </p:nvPr>
        </p:nvSpPr>
        <p:spPr/>
        <p:txBody>
          <a:bodyPr/>
          <a:lstStyle/>
          <a:p>
            <a:r>
              <a:rPr lang="en-US" dirty="0"/>
              <a:t>Runtime complexity of LCS problem</a:t>
            </a:r>
            <a:endParaRPr lang="en-IN" dirty="0"/>
          </a:p>
        </p:txBody>
      </p:sp>
      <p:sp>
        <p:nvSpPr>
          <p:cNvPr id="3" name="Content Placeholder 2">
            <a:extLst>
              <a:ext uri="{FF2B5EF4-FFF2-40B4-BE49-F238E27FC236}">
                <a16:creationId xmlns:a16="http://schemas.microsoft.com/office/drawing/2014/main" id="{AA47C01B-D799-4CD1-9F71-7930D7FD4D94}"/>
              </a:ext>
            </a:extLst>
          </p:cNvPr>
          <p:cNvSpPr>
            <a:spLocks noGrp="1"/>
          </p:cNvSpPr>
          <p:nvPr>
            <p:ph idx="1"/>
          </p:nvPr>
        </p:nvSpPr>
        <p:spPr>
          <a:xfrm>
            <a:off x="838199" y="1825625"/>
            <a:ext cx="10639426" cy="4351338"/>
          </a:xfrm>
        </p:spPr>
        <p:txBody>
          <a:bodyPr/>
          <a:lstStyle/>
          <a:p>
            <a:pPr marL="0" indent="0" algn="just">
              <a:buNone/>
            </a:pPr>
            <a:r>
              <a:rPr lang="en-US" b="0" i="0" dirty="0">
                <a:solidFill>
                  <a:srgbClr val="273239"/>
                </a:solidFill>
                <a:effectLst/>
                <a:latin typeface="urw-din"/>
              </a:rPr>
              <a:t>In brute force, the time complexity of finding the length of the longest common subsequence between two sequences will be O(n * 2</a:t>
            </a:r>
            <a:r>
              <a:rPr lang="en-US" b="0" i="0" baseline="30000" dirty="0">
                <a:solidFill>
                  <a:srgbClr val="273239"/>
                </a:solidFill>
                <a:effectLst/>
                <a:latin typeface="urw-din"/>
              </a:rPr>
              <a:t>n</a:t>
            </a:r>
            <a:r>
              <a:rPr lang="en-US" b="0" i="0" dirty="0">
                <a:solidFill>
                  <a:srgbClr val="273239"/>
                </a:solidFill>
                <a:effectLst/>
                <a:latin typeface="urw-din"/>
              </a:rPr>
              <a:t>).  When the  problem is solved using dynamic programming it is O(2^n) in the worst case and the worst case happens when all characters of X and Y mismatch i.e., length of LCS is 0. </a:t>
            </a:r>
            <a:endParaRPr lang="en-IN" dirty="0"/>
          </a:p>
        </p:txBody>
      </p:sp>
    </p:spTree>
    <p:extLst>
      <p:ext uri="{BB962C8B-B14F-4D97-AF65-F5344CB8AC3E}">
        <p14:creationId xmlns:p14="http://schemas.microsoft.com/office/powerpoint/2010/main" val="1518147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087F4-B78E-428A-9B2A-385CA7EC5C3B}"/>
              </a:ext>
            </a:extLst>
          </p:cNvPr>
          <p:cNvSpPr>
            <a:spLocks noGrp="1"/>
          </p:cNvSpPr>
          <p:nvPr>
            <p:ph type="title"/>
          </p:nvPr>
        </p:nvSpPr>
        <p:spPr/>
        <p:txBody>
          <a:bodyPr/>
          <a:lstStyle/>
          <a:p>
            <a:r>
              <a:rPr lang="en-US" dirty="0"/>
              <a:t>Matrix chain multiplication</a:t>
            </a:r>
            <a:endParaRPr lang="en-IN" dirty="0"/>
          </a:p>
        </p:txBody>
      </p:sp>
      <p:sp>
        <p:nvSpPr>
          <p:cNvPr id="4" name="Rectangle 1">
            <a:extLst>
              <a:ext uri="{FF2B5EF4-FFF2-40B4-BE49-F238E27FC236}">
                <a16:creationId xmlns:a16="http://schemas.microsoft.com/office/drawing/2014/main" id="{8C74BF4F-15F0-4C01-9209-2D7439B52B2A}"/>
              </a:ext>
            </a:extLst>
          </p:cNvPr>
          <p:cNvSpPr>
            <a:spLocks noGrp="1" noChangeArrowheads="1"/>
          </p:cNvSpPr>
          <p:nvPr>
            <p:ph idx="1"/>
          </p:nvPr>
        </p:nvSpPr>
        <p:spPr bwMode="auto">
          <a:xfrm>
            <a:off x="677335" y="1326604"/>
            <a:ext cx="8863830" cy="5548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Given a sequence of matrices, find the most efficient way to multiply these matrices together. The problem is not actually to perform the multiplications, but merely to decide in which order to perform the multiplications. We have many options to multiply a chain of matrices because matrix multiplication is associative. In other words, no matter how we parenthesize the product, the result will be the same. For example, if we had four matrices A, B, C, and D, we would have: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(ABC)D = (AB)(CD) = A(BCD) =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However, the order in which we parenthesize the product affects the number of simple arithmetic operations needed to compute the product, or the efficiency. For example, suppose A is a 10 × 30 matrix, B is a 30 × 5 matrix, and C is a 5 × 60 matrix. Then,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(AB)C = (10×30×5) + (10×5×60) = 1500 + 3000 = 4500 operations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Times New Roman" panose="02020603050405020304" pitchFamily="18" charset="0"/>
                <a:cs typeface="Times New Roman" panose="02020603050405020304" pitchFamily="18" charset="0"/>
              </a:rPr>
              <a:t>A(BC) = (30×5×60) + (10×30×60) = 9000 + 18000 = 27000 operations.</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01817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3B4A2-E15F-422C-BFFB-19D13403AEA0}"/>
              </a:ext>
            </a:extLst>
          </p:cNvPr>
          <p:cNvSpPr>
            <a:spLocks noGrp="1"/>
          </p:cNvSpPr>
          <p:nvPr>
            <p:ph type="title"/>
          </p:nvPr>
        </p:nvSpPr>
        <p:spPr/>
        <p:txBody>
          <a:bodyPr/>
          <a:lstStyle/>
          <a:p>
            <a:r>
              <a:rPr lang="en-US" dirty="0"/>
              <a:t>Counting the number of </a:t>
            </a:r>
            <a:r>
              <a:rPr lang="en-US" dirty="0" err="1"/>
              <a:t>paranthesizations</a:t>
            </a:r>
            <a:endParaRPr lang="en-IN" dirty="0"/>
          </a:p>
        </p:txBody>
      </p:sp>
      <p:pic>
        <p:nvPicPr>
          <p:cNvPr id="9" name="Content Placeholder 8">
            <a:extLst>
              <a:ext uri="{FF2B5EF4-FFF2-40B4-BE49-F238E27FC236}">
                <a16:creationId xmlns:a16="http://schemas.microsoft.com/office/drawing/2014/main" id="{F3E81888-7099-47D3-B623-58CEC8EB23B8}"/>
              </a:ext>
            </a:extLst>
          </p:cNvPr>
          <p:cNvPicPr>
            <a:picLocks noGrp="1" noChangeAspect="1"/>
          </p:cNvPicPr>
          <p:nvPr>
            <p:ph idx="1"/>
          </p:nvPr>
        </p:nvPicPr>
        <p:blipFill>
          <a:blip r:embed="rId2"/>
          <a:stretch>
            <a:fillRect/>
          </a:stretch>
        </p:blipFill>
        <p:spPr>
          <a:xfrm>
            <a:off x="2162175" y="2486819"/>
            <a:ext cx="7867650" cy="3028950"/>
          </a:xfrm>
        </p:spPr>
      </p:pic>
    </p:spTree>
    <p:extLst>
      <p:ext uri="{BB962C8B-B14F-4D97-AF65-F5344CB8AC3E}">
        <p14:creationId xmlns:p14="http://schemas.microsoft.com/office/powerpoint/2010/main" val="1630472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53752-D269-4A52-ACC7-946007F00EDE}"/>
              </a:ext>
            </a:extLst>
          </p:cNvPr>
          <p:cNvSpPr>
            <a:spLocks noGrp="1"/>
          </p:cNvSpPr>
          <p:nvPr>
            <p:ph type="title"/>
          </p:nvPr>
        </p:nvSpPr>
        <p:spPr>
          <a:xfrm>
            <a:off x="677334" y="609600"/>
            <a:ext cx="8596668" cy="500772"/>
          </a:xfrm>
        </p:spPr>
        <p:txBody>
          <a:bodyPr>
            <a:normAutofit fontScale="90000"/>
          </a:bodyPr>
          <a:lstStyle/>
          <a:p>
            <a:r>
              <a:rPr lang="en-US" dirty="0"/>
              <a:t>A recursive solution</a:t>
            </a:r>
            <a:endParaRPr lang="en-IN" dirty="0"/>
          </a:p>
        </p:txBody>
      </p:sp>
      <p:pic>
        <p:nvPicPr>
          <p:cNvPr id="5" name="Content Placeholder 4">
            <a:extLst>
              <a:ext uri="{FF2B5EF4-FFF2-40B4-BE49-F238E27FC236}">
                <a16:creationId xmlns:a16="http://schemas.microsoft.com/office/drawing/2014/main" id="{8932FF5F-2803-49C5-84A9-57D2660AD8B4}"/>
              </a:ext>
            </a:extLst>
          </p:cNvPr>
          <p:cNvPicPr>
            <a:picLocks noGrp="1" noChangeAspect="1"/>
          </p:cNvPicPr>
          <p:nvPr>
            <p:ph idx="1"/>
          </p:nvPr>
        </p:nvPicPr>
        <p:blipFill>
          <a:blip r:embed="rId2"/>
          <a:stretch>
            <a:fillRect/>
          </a:stretch>
        </p:blipFill>
        <p:spPr>
          <a:xfrm>
            <a:off x="316574" y="1223062"/>
            <a:ext cx="8613230" cy="4422414"/>
          </a:xfrm>
        </p:spPr>
      </p:pic>
      <p:pic>
        <p:nvPicPr>
          <p:cNvPr id="9" name="Picture 8">
            <a:extLst>
              <a:ext uri="{FF2B5EF4-FFF2-40B4-BE49-F238E27FC236}">
                <a16:creationId xmlns:a16="http://schemas.microsoft.com/office/drawing/2014/main" id="{BEEEF417-9FD6-4F2D-93AD-0292E8F10C10}"/>
              </a:ext>
            </a:extLst>
          </p:cNvPr>
          <p:cNvPicPr>
            <a:picLocks noChangeAspect="1"/>
          </p:cNvPicPr>
          <p:nvPr/>
        </p:nvPicPr>
        <p:blipFill>
          <a:blip r:embed="rId3"/>
          <a:stretch>
            <a:fillRect/>
          </a:stretch>
        </p:blipFill>
        <p:spPr>
          <a:xfrm>
            <a:off x="677334" y="6134100"/>
            <a:ext cx="7391400" cy="723900"/>
          </a:xfrm>
          <a:prstGeom prst="rect">
            <a:avLst/>
          </a:prstGeom>
        </p:spPr>
      </p:pic>
      <p:sp>
        <p:nvSpPr>
          <p:cNvPr id="10" name="TextBox 9">
            <a:extLst>
              <a:ext uri="{FF2B5EF4-FFF2-40B4-BE49-F238E27FC236}">
                <a16:creationId xmlns:a16="http://schemas.microsoft.com/office/drawing/2014/main" id="{9923B254-AE0F-45A5-BF7E-B7BABE579CF8}"/>
              </a:ext>
            </a:extLst>
          </p:cNvPr>
          <p:cNvSpPr txBox="1"/>
          <p:nvPr/>
        </p:nvSpPr>
        <p:spPr>
          <a:xfrm>
            <a:off x="8068734" y="6357550"/>
            <a:ext cx="872034" cy="276999"/>
          </a:xfrm>
          <a:prstGeom prst="rect">
            <a:avLst/>
          </a:prstGeom>
          <a:noFill/>
        </p:spPr>
        <p:txBody>
          <a:bodyPr wrap="none" lIns="0" tIns="0" rIns="0" bIns="0" rtlCol="0">
            <a:spAutoFit/>
          </a:bodyPr>
          <a:lstStyle/>
          <a:p>
            <a:r>
              <a:rPr lang="en-US" dirty="0"/>
              <a:t>p</a:t>
            </a:r>
            <a:r>
              <a:rPr lang="en-US" baseline="-25000" dirty="0"/>
              <a:t>i-1  </a:t>
            </a:r>
            <a:r>
              <a:rPr lang="en-US" dirty="0"/>
              <a:t>x p</a:t>
            </a:r>
            <a:r>
              <a:rPr lang="en-US" baseline="-25000" dirty="0"/>
              <a:t>i</a:t>
            </a:r>
            <a:r>
              <a:rPr lang="en-US" dirty="0"/>
              <a:t> </a:t>
            </a:r>
            <a:r>
              <a:rPr lang="en-US" baseline="-25000" dirty="0"/>
              <a:t> </a:t>
            </a:r>
            <a:endParaRPr lang="en-IN" dirty="0"/>
          </a:p>
        </p:txBody>
      </p:sp>
      <p:sp>
        <p:nvSpPr>
          <p:cNvPr id="15" name="TextBox 14">
            <a:extLst>
              <a:ext uri="{FF2B5EF4-FFF2-40B4-BE49-F238E27FC236}">
                <a16:creationId xmlns:a16="http://schemas.microsoft.com/office/drawing/2014/main" id="{0F9EABA7-B1E2-4173-A25A-852C689D10ED}"/>
              </a:ext>
            </a:extLst>
          </p:cNvPr>
          <p:cNvSpPr txBox="1"/>
          <p:nvPr/>
        </p:nvSpPr>
        <p:spPr>
          <a:xfrm flipH="1">
            <a:off x="1081378" y="5764696"/>
            <a:ext cx="811032" cy="369332"/>
          </a:xfrm>
          <a:prstGeom prst="rect">
            <a:avLst/>
          </a:prstGeom>
          <a:noFill/>
        </p:spPr>
        <p:txBody>
          <a:bodyPr wrap="square" rtlCol="0">
            <a:spAutoFit/>
          </a:bodyPr>
          <a:lstStyle/>
          <a:p>
            <a:r>
              <a:rPr lang="en-US" b="1" u="sng" dirty="0"/>
              <a:t>Note:</a:t>
            </a:r>
            <a:endParaRPr lang="en-IN" b="1" u="sng" dirty="0"/>
          </a:p>
        </p:txBody>
      </p:sp>
      <p:sp>
        <p:nvSpPr>
          <p:cNvPr id="17" name="TextBox 16">
            <a:extLst>
              <a:ext uri="{FF2B5EF4-FFF2-40B4-BE49-F238E27FC236}">
                <a16:creationId xmlns:a16="http://schemas.microsoft.com/office/drawing/2014/main" id="{81F0405D-DE78-4E8B-8BBE-782C3E70A4BC}"/>
              </a:ext>
            </a:extLst>
          </p:cNvPr>
          <p:cNvSpPr txBox="1"/>
          <p:nvPr/>
        </p:nvSpPr>
        <p:spPr>
          <a:xfrm>
            <a:off x="8813576" y="2988498"/>
            <a:ext cx="3378424" cy="3139321"/>
          </a:xfrm>
          <a:prstGeom prst="rect">
            <a:avLst/>
          </a:prstGeom>
          <a:noFill/>
        </p:spPr>
        <p:txBody>
          <a:bodyPr wrap="square">
            <a:spAutoFit/>
          </a:bodyPr>
          <a:lstStyle/>
          <a:p>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a:t>
            </a:r>
            <a:r>
              <a:rPr kumimoji="0" lang="en-US" altLang="en-US" sz="1800" b="0" i="0" u="none" strike="noStrike" cap="none" normalizeH="0" baseline="0" dirty="0" err="1">
                <a:ln>
                  <a:noFill/>
                </a:ln>
                <a:solidFill>
                  <a:srgbClr val="0070C0"/>
                </a:solidFill>
                <a:effectLst/>
                <a:latin typeface="Times New Roman" panose="02020603050405020304" pitchFamily="18" charset="0"/>
                <a:cs typeface="Times New Roman" panose="02020603050405020304" pitchFamily="18" charset="0"/>
              </a:rPr>
              <a:t>A</a:t>
            </a:r>
            <a:r>
              <a:rPr kumimoji="0" lang="en-US" altLang="en-US" sz="1800" b="0" i="0" u="none" strike="noStrike" cap="none" normalizeH="0" baseline="-25000" dirty="0" err="1">
                <a:ln>
                  <a:noFill/>
                </a:ln>
                <a:solidFill>
                  <a:srgbClr val="0070C0"/>
                </a:solidFill>
                <a:effectLst/>
                <a:latin typeface="Times New Roman" panose="02020603050405020304" pitchFamily="18" charset="0"/>
                <a:cs typeface="Times New Roman" panose="02020603050405020304" pitchFamily="18" charset="0"/>
              </a:rPr>
              <a:t>i..k</a:t>
            </a:r>
            <a:r>
              <a:rPr kumimoji="0" lang="en-US" altLang="en-US" sz="1800" b="0" i="0" u="none" strike="noStrike" cap="none" normalizeH="0" dirty="0">
                <a:ln>
                  <a:noFill/>
                </a:ln>
                <a:solidFill>
                  <a:srgbClr val="0070C0"/>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A</a:t>
            </a:r>
            <a:r>
              <a:rPr lang="en-US" altLang="en-US" baseline="-25000" dirty="0">
                <a:solidFill>
                  <a:srgbClr val="0070C0"/>
                </a:solidFill>
                <a:latin typeface="Times New Roman" panose="02020603050405020304" pitchFamily="18" charset="0"/>
                <a:cs typeface="Times New Roman" panose="02020603050405020304" pitchFamily="18" charset="0"/>
              </a:rPr>
              <a:t>k+1</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..j</a:t>
            </a:r>
            <a:r>
              <a:rPr kumimoji="0" lang="en-US" altLang="en-US" sz="1800" b="0" i="0" u="none" strike="noStrike" cap="none" normalizeH="0" dirty="0">
                <a:ln>
                  <a:noFill/>
                </a:ln>
                <a:solidFill>
                  <a:srgbClr val="0070C0"/>
                </a:solidFill>
                <a:effectLst/>
                <a:latin typeface="Times New Roman" panose="02020603050405020304" pitchFamily="18" charset="0"/>
                <a:cs typeface="Times New Roman" panose="02020603050405020304" pitchFamily="18" charset="0"/>
              </a:rPr>
              <a:t> )</a:t>
            </a:r>
          </a:p>
          <a:p>
            <a:r>
              <a:rPr lang="en-US" altLang="en-US" dirty="0">
                <a:solidFill>
                  <a:srgbClr val="0070C0"/>
                </a:solidFill>
                <a:latin typeface="Times New Roman" panose="02020603050405020304" pitchFamily="18" charset="0"/>
                <a:cs typeface="Times New Roman" panose="02020603050405020304" pitchFamily="18" charset="0"/>
              </a:rPr>
              <a:t>The order of the 2 product matrices within parentheses will be </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(p</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i-1</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xp</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k </a:t>
            </a:r>
            <a:r>
              <a:rPr kumimoji="0" lang="en-US" altLang="en-US" sz="1800" b="0" i="0" u="none" strike="noStrike" cap="none" normalizeH="0" dirty="0">
                <a:ln>
                  <a:noFill/>
                </a:ln>
                <a:solidFill>
                  <a:srgbClr val="0070C0"/>
                </a:solidFill>
                <a:effectLst/>
                <a:latin typeface="Times New Roman" panose="02020603050405020304" pitchFamily="18" charset="0"/>
                <a:cs typeface="Times New Roman" panose="02020603050405020304" pitchFamily="18" charset="0"/>
              </a:rPr>
              <a:t> ) (</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p</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k+1</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xp</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j</a:t>
            </a:r>
            <a:r>
              <a:rPr kumimoji="0" lang="en-US" altLang="en-US" sz="1800" b="0" i="0" u="none" strike="noStrike" cap="none" normalizeH="0" dirty="0">
                <a:ln>
                  <a:noFill/>
                </a:ln>
                <a:solidFill>
                  <a:srgbClr val="0070C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endParaRPr>
          </a:p>
          <a:p>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So number of scalar multiplications performed will be p</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i-1</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xp</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k</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xp</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j</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  where </a:t>
            </a:r>
          </a:p>
          <a:p>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p</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i-1</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 is the no of rows in A</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i</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rgbClr val="0070C0"/>
                </a:solidFill>
                <a:effectLst/>
                <a:latin typeface="Times New Roman" panose="02020603050405020304" pitchFamily="18" charset="0"/>
                <a:cs typeface="Times New Roman" panose="02020603050405020304" pitchFamily="18" charset="0"/>
              </a:rPr>
              <a:t>th</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 matrix</a:t>
            </a:r>
          </a:p>
          <a:p>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p</a:t>
            </a:r>
            <a:r>
              <a:rPr kumimoji="0" lang="en-US" altLang="en-US" sz="1800" b="0" i="0" u="none" strike="noStrike" cap="none" normalizeH="0" baseline="-25000" dirty="0">
                <a:ln>
                  <a:noFill/>
                </a:ln>
                <a:solidFill>
                  <a:srgbClr val="0070C0"/>
                </a:solidFill>
                <a:effectLst/>
                <a:latin typeface="Times New Roman" panose="02020603050405020304" pitchFamily="18" charset="0"/>
                <a:cs typeface="Times New Roman" panose="02020603050405020304" pitchFamily="18" charset="0"/>
              </a:rPr>
              <a:t>k</a:t>
            </a:r>
            <a:r>
              <a:rPr lang="en-US" dirty="0">
                <a:solidFill>
                  <a:srgbClr val="0070C0"/>
                </a:solidFill>
                <a:latin typeface="Times New Roman" panose="02020603050405020304" pitchFamily="18" charset="0"/>
                <a:cs typeface="Times New Roman" panose="02020603050405020304" pitchFamily="18" charset="0"/>
              </a:rPr>
              <a:t> - No of cols in </a:t>
            </a:r>
            <a:r>
              <a:rPr kumimoji="0" lang="en-US" altLang="en-US" sz="1800" b="0" i="0" u="none" strike="noStrike" cap="none" normalizeH="0" baseline="0" dirty="0">
                <a:ln>
                  <a:noFill/>
                </a:ln>
                <a:solidFill>
                  <a:srgbClr val="0070C0"/>
                </a:solidFill>
                <a:effectLst/>
                <a:latin typeface="Times New Roman" panose="02020603050405020304" pitchFamily="18" charset="0"/>
                <a:cs typeface="Times New Roman" panose="02020603050405020304" pitchFamily="18" charset="0"/>
              </a:rPr>
              <a:t>A</a:t>
            </a:r>
            <a:r>
              <a:rPr lang="en-US" altLang="en-US" baseline="-25000" dirty="0">
                <a:solidFill>
                  <a:srgbClr val="0070C0"/>
                </a:solidFill>
                <a:latin typeface="Times New Roman" panose="02020603050405020304" pitchFamily="18" charset="0"/>
                <a:cs typeface="Times New Roman" panose="02020603050405020304" pitchFamily="18" charset="0"/>
              </a:rPr>
              <a:t>k</a:t>
            </a:r>
            <a:r>
              <a:rPr lang="en-US" dirty="0">
                <a:solidFill>
                  <a:srgbClr val="0070C0"/>
                </a:solidFill>
                <a:latin typeface="Times New Roman" panose="02020603050405020304" pitchFamily="18" charset="0"/>
                <a:cs typeface="Times New Roman" panose="02020603050405020304" pitchFamily="18" charset="0"/>
              </a:rPr>
              <a:t> </a:t>
            </a:r>
            <a:r>
              <a:rPr lang="en-US" dirty="0" err="1">
                <a:solidFill>
                  <a:srgbClr val="0070C0"/>
                </a:solidFill>
                <a:latin typeface="Times New Roman" panose="02020603050405020304" pitchFamily="18" charset="0"/>
                <a:cs typeface="Times New Roman" panose="02020603050405020304" pitchFamily="18" charset="0"/>
              </a:rPr>
              <a:t>th</a:t>
            </a:r>
            <a:r>
              <a:rPr lang="en-US" dirty="0">
                <a:solidFill>
                  <a:srgbClr val="0070C0"/>
                </a:solidFill>
                <a:latin typeface="Times New Roman" panose="02020603050405020304" pitchFamily="18" charset="0"/>
                <a:cs typeface="Times New Roman" panose="02020603050405020304" pitchFamily="18" charset="0"/>
              </a:rPr>
              <a:t> matrix</a:t>
            </a:r>
          </a:p>
          <a:p>
            <a:r>
              <a:rPr kumimoji="0" lang="en-US" altLang="en-US" sz="1800" b="0" i="0" u="none" strike="noStrike" cap="none" normalizeH="0" baseline="0" dirty="0" err="1">
                <a:ln>
                  <a:noFill/>
                </a:ln>
                <a:solidFill>
                  <a:srgbClr val="0070C0"/>
                </a:solidFill>
                <a:effectLst/>
                <a:latin typeface="Times New Roman" panose="02020603050405020304" pitchFamily="18" charset="0"/>
                <a:cs typeface="Times New Roman" panose="02020603050405020304" pitchFamily="18" charset="0"/>
              </a:rPr>
              <a:t>p</a:t>
            </a:r>
            <a:r>
              <a:rPr kumimoji="0" lang="en-US" altLang="en-US" sz="1800" b="0" i="0" u="none" strike="noStrike" cap="none" normalizeH="0" baseline="-25000" dirty="0" err="1">
                <a:ln>
                  <a:noFill/>
                </a:ln>
                <a:solidFill>
                  <a:srgbClr val="0070C0"/>
                </a:solidFill>
                <a:effectLst/>
                <a:latin typeface="Times New Roman" panose="02020603050405020304" pitchFamily="18" charset="0"/>
                <a:cs typeface="Times New Roman" panose="02020603050405020304" pitchFamily="18" charset="0"/>
              </a:rPr>
              <a:t>j</a:t>
            </a:r>
            <a:r>
              <a:rPr lang="en-US" dirty="0">
                <a:solidFill>
                  <a:srgbClr val="0070C0"/>
                </a:solidFill>
                <a:latin typeface="Times New Roman" panose="02020603050405020304" pitchFamily="18" charset="0"/>
                <a:cs typeface="Times New Roman" panose="02020603050405020304" pitchFamily="18" charset="0"/>
              </a:rPr>
              <a:t> – No of cols in </a:t>
            </a:r>
            <a:r>
              <a:rPr kumimoji="0" lang="en-US" altLang="en-US" sz="1800" b="0" i="0" u="none" strike="noStrike" cap="none" normalizeH="0" baseline="0" dirty="0" err="1">
                <a:ln>
                  <a:noFill/>
                </a:ln>
                <a:solidFill>
                  <a:srgbClr val="0070C0"/>
                </a:solidFill>
                <a:effectLst/>
                <a:latin typeface="Times New Roman" panose="02020603050405020304" pitchFamily="18" charset="0"/>
                <a:cs typeface="Times New Roman" panose="02020603050405020304" pitchFamily="18" charset="0"/>
              </a:rPr>
              <a:t>A</a:t>
            </a:r>
            <a:r>
              <a:rPr kumimoji="0" lang="en-US" altLang="en-US" sz="1800" b="0" i="0" u="none" strike="noStrike" cap="none" normalizeH="0" baseline="-25000" dirty="0" err="1">
                <a:ln>
                  <a:noFill/>
                </a:ln>
                <a:solidFill>
                  <a:srgbClr val="0070C0"/>
                </a:solidFill>
                <a:effectLst/>
                <a:latin typeface="Times New Roman" panose="02020603050405020304" pitchFamily="18" charset="0"/>
                <a:cs typeface="Times New Roman" panose="02020603050405020304" pitchFamily="18" charset="0"/>
              </a:rPr>
              <a:t>j</a:t>
            </a:r>
            <a:r>
              <a:rPr lang="en-US" dirty="0">
                <a:solidFill>
                  <a:srgbClr val="0070C0"/>
                </a:solidFill>
                <a:latin typeface="Times New Roman" panose="02020603050405020304" pitchFamily="18" charset="0"/>
                <a:cs typeface="Times New Roman" panose="02020603050405020304" pitchFamily="18" charset="0"/>
              </a:rPr>
              <a:t> </a:t>
            </a:r>
            <a:r>
              <a:rPr lang="en-US" dirty="0" err="1">
                <a:solidFill>
                  <a:srgbClr val="0070C0"/>
                </a:solidFill>
                <a:latin typeface="Times New Roman" panose="02020603050405020304" pitchFamily="18" charset="0"/>
                <a:cs typeface="Times New Roman" panose="02020603050405020304" pitchFamily="18" charset="0"/>
              </a:rPr>
              <a:t>th</a:t>
            </a:r>
            <a:r>
              <a:rPr lang="en-US" dirty="0">
                <a:solidFill>
                  <a:srgbClr val="0070C0"/>
                </a:solidFill>
                <a:latin typeface="Times New Roman" panose="02020603050405020304" pitchFamily="18" charset="0"/>
                <a:cs typeface="Times New Roman" panose="02020603050405020304" pitchFamily="18" charset="0"/>
              </a:rPr>
              <a:t> matrix</a:t>
            </a:r>
            <a:endParaRPr lang="en-IN" dirty="0">
              <a:solidFill>
                <a:srgbClr val="0070C0"/>
              </a:solidFill>
            </a:endParaRPr>
          </a:p>
        </p:txBody>
      </p:sp>
    </p:spTree>
    <p:extLst>
      <p:ext uri="{BB962C8B-B14F-4D97-AF65-F5344CB8AC3E}">
        <p14:creationId xmlns:p14="http://schemas.microsoft.com/office/powerpoint/2010/main" val="610762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C3127-C587-4813-AD61-E599CA7738B3}"/>
              </a:ext>
            </a:extLst>
          </p:cNvPr>
          <p:cNvSpPr>
            <a:spLocks noGrp="1"/>
          </p:cNvSpPr>
          <p:nvPr>
            <p:ph type="title"/>
          </p:nvPr>
        </p:nvSpPr>
        <p:spPr/>
        <p:txBody>
          <a:bodyPr/>
          <a:lstStyle/>
          <a:p>
            <a:r>
              <a:rPr lang="en-US" dirty="0"/>
              <a:t>Algorithms</a:t>
            </a:r>
            <a:endParaRPr lang="en-IN" dirty="0"/>
          </a:p>
        </p:txBody>
      </p:sp>
      <p:sp>
        <p:nvSpPr>
          <p:cNvPr id="3" name="Content Placeholder 2">
            <a:extLst>
              <a:ext uri="{FF2B5EF4-FFF2-40B4-BE49-F238E27FC236}">
                <a16:creationId xmlns:a16="http://schemas.microsoft.com/office/drawing/2014/main" id="{9556E0DE-3C07-4962-959D-8EBE361A356B}"/>
              </a:ext>
            </a:extLst>
          </p:cNvPr>
          <p:cNvSpPr>
            <a:spLocks noGrp="1"/>
          </p:cNvSpPr>
          <p:nvPr>
            <p:ph idx="1"/>
          </p:nvPr>
        </p:nvSpPr>
        <p:spPr/>
        <p:txBody>
          <a:bodyPr/>
          <a:lstStyle/>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AD3C34CD-81B7-4719-B8E4-23D9B3C77D74}"/>
              </a:ext>
            </a:extLst>
          </p:cNvPr>
          <p:cNvPicPr>
            <a:picLocks noChangeAspect="1"/>
          </p:cNvPicPr>
          <p:nvPr/>
        </p:nvPicPr>
        <p:blipFill>
          <a:blip r:embed="rId2"/>
          <a:stretch>
            <a:fillRect/>
          </a:stretch>
        </p:blipFill>
        <p:spPr>
          <a:xfrm>
            <a:off x="1622139" y="1663963"/>
            <a:ext cx="6429375" cy="942975"/>
          </a:xfrm>
          <a:prstGeom prst="rect">
            <a:avLst/>
          </a:prstGeom>
        </p:spPr>
      </p:pic>
      <p:pic>
        <p:nvPicPr>
          <p:cNvPr id="7" name="Picture 6">
            <a:extLst>
              <a:ext uri="{FF2B5EF4-FFF2-40B4-BE49-F238E27FC236}">
                <a16:creationId xmlns:a16="http://schemas.microsoft.com/office/drawing/2014/main" id="{EC8A4EB1-5BEF-469D-A0D5-772F114532C0}"/>
              </a:ext>
            </a:extLst>
          </p:cNvPr>
          <p:cNvPicPr>
            <a:picLocks noChangeAspect="1"/>
          </p:cNvPicPr>
          <p:nvPr/>
        </p:nvPicPr>
        <p:blipFill>
          <a:blip r:embed="rId3"/>
          <a:stretch>
            <a:fillRect/>
          </a:stretch>
        </p:blipFill>
        <p:spPr>
          <a:xfrm>
            <a:off x="1198706" y="2509529"/>
            <a:ext cx="5695950" cy="4162425"/>
          </a:xfrm>
          <a:prstGeom prst="rect">
            <a:avLst/>
          </a:prstGeom>
        </p:spPr>
      </p:pic>
      <p:sp>
        <p:nvSpPr>
          <p:cNvPr id="9" name="TextBox 8">
            <a:extLst>
              <a:ext uri="{FF2B5EF4-FFF2-40B4-BE49-F238E27FC236}">
                <a16:creationId xmlns:a16="http://schemas.microsoft.com/office/drawing/2014/main" id="{856EF531-B5E9-40C8-BBD3-6ADD7CD5376E}"/>
              </a:ext>
            </a:extLst>
          </p:cNvPr>
          <p:cNvSpPr txBox="1"/>
          <p:nvPr/>
        </p:nvSpPr>
        <p:spPr>
          <a:xfrm>
            <a:off x="740139" y="1325780"/>
            <a:ext cx="7549422" cy="369332"/>
          </a:xfrm>
          <a:prstGeom prst="rect">
            <a:avLst/>
          </a:prstGeom>
          <a:noFill/>
        </p:spPr>
        <p:txBody>
          <a:bodyPr wrap="square">
            <a:spAutoFit/>
          </a:bodyPr>
          <a:lstStyle/>
          <a:p>
            <a:r>
              <a:rPr lang="en-US" dirty="0"/>
              <a:t>Recursive definition for finding minimum cost of parenthesizing ‘n’ matrices</a:t>
            </a:r>
            <a:endParaRPr lang="en-IN" dirty="0"/>
          </a:p>
        </p:txBody>
      </p:sp>
      <p:pic>
        <p:nvPicPr>
          <p:cNvPr id="13" name="Picture 12">
            <a:extLst>
              <a:ext uri="{FF2B5EF4-FFF2-40B4-BE49-F238E27FC236}">
                <a16:creationId xmlns:a16="http://schemas.microsoft.com/office/drawing/2014/main" id="{2A5D3DEB-741D-4690-B46B-391DA624F6EF}"/>
              </a:ext>
            </a:extLst>
          </p:cNvPr>
          <p:cNvPicPr>
            <a:picLocks noChangeAspect="1"/>
          </p:cNvPicPr>
          <p:nvPr/>
        </p:nvPicPr>
        <p:blipFill>
          <a:blip r:embed="rId4"/>
          <a:stretch>
            <a:fillRect/>
          </a:stretch>
        </p:blipFill>
        <p:spPr>
          <a:xfrm>
            <a:off x="6843283" y="2613084"/>
            <a:ext cx="4933950" cy="2143125"/>
          </a:xfrm>
          <a:prstGeom prst="rect">
            <a:avLst/>
          </a:prstGeom>
        </p:spPr>
      </p:pic>
    </p:spTree>
    <p:extLst>
      <p:ext uri="{BB962C8B-B14F-4D97-AF65-F5344CB8AC3E}">
        <p14:creationId xmlns:p14="http://schemas.microsoft.com/office/powerpoint/2010/main" val="3977378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EF2F8-829A-4785-8CC3-1DD17EF2E355}"/>
              </a:ext>
            </a:extLst>
          </p:cNvPr>
          <p:cNvSpPr>
            <a:spLocks noGrp="1"/>
          </p:cNvSpPr>
          <p:nvPr>
            <p:ph type="title"/>
          </p:nvPr>
        </p:nvSpPr>
        <p:spPr/>
        <p:txBody>
          <a:bodyPr/>
          <a:lstStyle/>
          <a:p>
            <a:r>
              <a:rPr lang="en-US" dirty="0"/>
              <a:t>Tracing the algorithms for matrix chain multiplication</a:t>
            </a:r>
            <a:endParaRPr lang="en-IN" dirty="0"/>
          </a:p>
        </p:txBody>
      </p:sp>
      <p:pic>
        <p:nvPicPr>
          <p:cNvPr id="5" name="Content Placeholder 4">
            <a:extLst>
              <a:ext uri="{FF2B5EF4-FFF2-40B4-BE49-F238E27FC236}">
                <a16:creationId xmlns:a16="http://schemas.microsoft.com/office/drawing/2014/main" id="{7D1B0326-A19E-4707-B7D2-B821A22C5DBC}"/>
              </a:ext>
            </a:extLst>
          </p:cNvPr>
          <p:cNvPicPr>
            <a:picLocks noGrp="1" noChangeAspect="1"/>
          </p:cNvPicPr>
          <p:nvPr>
            <p:ph idx="1"/>
          </p:nvPr>
        </p:nvPicPr>
        <p:blipFill>
          <a:blip r:embed="rId2"/>
          <a:stretch>
            <a:fillRect/>
          </a:stretch>
        </p:blipFill>
        <p:spPr>
          <a:xfrm>
            <a:off x="4009869" y="1153418"/>
            <a:ext cx="7183951" cy="5084052"/>
          </a:xfrm>
        </p:spPr>
      </p:pic>
      <p:pic>
        <p:nvPicPr>
          <p:cNvPr id="7" name="Picture 6">
            <a:extLst>
              <a:ext uri="{FF2B5EF4-FFF2-40B4-BE49-F238E27FC236}">
                <a16:creationId xmlns:a16="http://schemas.microsoft.com/office/drawing/2014/main" id="{B1CFF6F0-BB9F-45BE-9053-2F516FB9E10A}"/>
              </a:ext>
            </a:extLst>
          </p:cNvPr>
          <p:cNvPicPr>
            <a:picLocks noChangeAspect="1"/>
          </p:cNvPicPr>
          <p:nvPr/>
        </p:nvPicPr>
        <p:blipFill>
          <a:blip r:embed="rId3"/>
          <a:stretch>
            <a:fillRect/>
          </a:stretch>
        </p:blipFill>
        <p:spPr>
          <a:xfrm>
            <a:off x="2732113" y="6237470"/>
            <a:ext cx="7372350" cy="723900"/>
          </a:xfrm>
          <a:prstGeom prst="rect">
            <a:avLst/>
          </a:prstGeom>
        </p:spPr>
      </p:pic>
    </p:spTree>
    <p:extLst>
      <p:ext uri="{BB962C8B-B14F-4D97-AF65-F5344CB8AC3E}">
        <p14:creationId xmlns:p14="http://schemas.microsoft.com/office/powerpoint/2010/main" val="1812274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4D046-C824-482A-A91B-EDD34C653A3D}"/>
              </a:ext>
            </a:extLst>
          </p:cNvPr>
          <p:cNvSpPr>
            <a:spLocks noGrp="1"/>
          </p:cNvSpPr>
          <p:nvPr>
            <p:ph type="title"/>
          </p:nvPr>
        </p:nvSpPr>
        <p:spPr/>
        <p:txBody>
          <a:bodyPr/>
          <a:lstStyle/>
          <a:p>
            <a:r>
              <a:rPr lang="en-US" dirty="0"/>
              <a:t>Runtime complexity of matrix chain multiplication</a:t>
            </a:r>
            <a:endParaRPr lang="en-IN" dirty="0"/>
          </a:p>
        </p:txBody>
      </p:sp>
      <p:sp>
        <p:nvSpPr>
          <p:cNvPr id="3" name="Content Placeholder 2">
            <a:extLst>
              <a:ext uri="{FF2B5EF4-FFF2-40B4-BE49-F238E27FC236}">
                <a16:creationId xmlns:a16="http://schemas.microsoft.com/office/drawing/2014/main" id="{26160F70-3D88-443C-AA7A-AACC9FC3ACB4}"/>
              </a:ext>
            </a:extLst>
          </p:cNvPr>
          <p:cNvSpPr>
            <a:spLocks noGrp="1"/>
          </p:cNvSpPr>
          <p:nvPr>
            <p:ph idx="1"/>
          </p:nvPr>
        </p:nvSpPr>
        <p:spPr/>
        <p:txBody>
          <a:bodyPr/>
          <a:lstStyle/>
          <a:p>
            <a:pPr marL="0" indent="0">
              <a:lnSpc>
                <a:spcPct val="200000"/>
              </a:lnSpc>
              <a:buNone/>
            </a:pPr>
            <a:r>
              <a:rPr lang="en-US" dirty="0">
                <a:solidFill>
                  <a:srgbClr val="202124"/>
                </a:solidFill>
                <a:latin typeface="arial" panose="020B0604020202020204" pitchFamily="34" charset="0"/>
              </a:rPr>
              <a:t>T</a:t>
            </a:r>
            <a:r>
              <a:rPr lang="en-US" b="0" i="0" dirty="0">
                <a:solidFill>
                  <a:srgbClr val="202124"/>
                </a:solidFill>
                <a:effectLst/>
                <a:latin typeface="arial" panose="020B0604020202020204" pitchFamily="34" charset="0"/>
              </a:rPr>
              <a:t>he matrix chain multiplication using dynamic programming strategy takes </a:t>
            </a:r>
            <a:r>
              <a:rPr lang="en-US" b="1" i="0" dirty="0">
                <a:solidFill>
                  <a:srgbClr val="202124"/>
                </a:solidFill>
                <a:effectLst/>
                <a:latin typeface="arial" panose="020B0604020202020204" pitchFamily="34" charset="0"/>
              </a:rPr>
              <a:t>O(n</a:t>
            </a:r>
            <a:r>
              <a:rPr lang="en-US" b="1" i="0" baseline="30000" dirty="0">
                <a:solidFill>
                  <a:srgbClr val="202124"/>
                </a:solidFill>
                <a:effectLst/>
                <a:latin typeface="arial" panose="020B0604020202020204" pitchFamily="34" charset="0"/>
              </a:rPr>
              <a:t>3</a:t>
            </a:r>
            <a:r>
              <a:rPr lang="en-US" b="1" i="0" dirty="0">
                <a:solidFill>
                  <a:srgbClr val="202124"/>
                </a:solidFill>
                <a:effectLst/>
                <a:latin typeface="arial" panose="020B0604020202020204" pitchFamily="34" charset="0"/>
              </a:rPr>
              <a:t>) computational complexity</a:t>
            </a:r>
            <a:r>
              <a:rPr lang="en-US" b="0" i="0" dirty="0">
                <a:solidFill>
                  <a:srgbClr val="202124"/>
                </a:solidFill>
                <a:effectLst/>
                <a:latin typeface="arial" panose="020B0604020202020204" pitchFamily="34" charset="0"/>
              </a:rPr>
              <a:t>.</a:t>
            </a:r>
            <a:endParaRPr lang="en-IN" dirty="0"/>
          </a:p>
        </p:txBody>
      </p:sp>
    </p:spTree>
    <p:extLst>
      <p:ext uri="{BB962C8B-B14F-4D97-AF65-F5344CB8AC3E}">
        <p14:creationId xmlns:p14="http://schemas.microsoft.com/office/powerpoint/2010/main" val="378579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C89AD-7031-4AE4-9AFE-6AC7102C6867}"/>
              </a:ext>
            </a:extLst>
          </p:cNvPr>
          <p:cNvSpPr>
            <a:spLocks noGrp="1"/>
          </p:cNvSpPr>
          <p:nvPr>
            <p:ph type="title"/>
          </p:nvPr>
        </p:nvSpPr>
        <p:spPr/>
        <p:txBody>
          <a:bodyPr/>
          <a:lstStyle/>
          <a:p>
            <a:r>
              <a:rPr lang="en-IN" dirty="0"/>
              <a:t>Maximum subarray –divide and conquer</a:t>
            </a:r>
          </a:p>
        </p:txBody>
      </p:sp>
      <p:graphicFrame>
        <p:nvGraphicFramePr>
          <p:cNvPr id="5" name="Object 4">
            <a:extLst>
              <a:ext uri="{FF2B5EF4-FFF2-40B4-BE49-F238E27FC236}">
                <a16:creationId xmlns:a16="http://schemas.microsoft.com/office/drawing/2014/main" id="{47E67C44-1523-F712-068A-F943106EF73E}"/>
              </a:ext>
            </a:extLst>
          </p:cNvPr>
          <p:cNvGraphicFramePr>
            <a:graphicFrameLocks noChangeAspect="1"/>
          </p:cNvGraphicFramePr>
          <p:nvPr>
            <p:extLst>
              <p:ext uri="{D42A27DB-BD31-4B8C-83A1-F6EECF244321}">
                <p14:modId xmlns:p14="http://schemas.microsoft.com/office/powerpoint/2010/main" val="4092597045"/>
              </p:ext>
            </p:extLst>
          </p:nvPr>
        </p:nvGraphicFramePr>
        <p:xfrm>
          <a:off x="1751830" y="2636403"/>
          <a:ext cx="8403063" cy="2729781"/>
        </p:xfrm>
        <a:graphic>
          <a:graphicData uri="http://schemas.openxmlformats.org/presentationml/2006/ole">
            <mc:AlternateContent xmlns:mc="http://schemas.openxmlformats.org/markup-compatibility/2006">
              <mc:Choice xmlns:v="urn:schemas-microsoft-com:vml" Requires="v">
                <p:oleObj name="Bitmap Image" r:id="rId2" imgW="5492880" imgH="1784520" progId="PBrush">
                  <p:embed/>
                </p:oleObj>
              </mc:Choice>
              <mc:Fallback>
                <p:oleObj name="Bitmap Image" r:id="rId2" imgW="5492880" imgH="1784520" progId="PBrush">
                  <p:embed/>
                  <p:pic>
                    <p:nvPicPr>
                      <p:cNvPr id="5" name="Object 4">
                        <a:extLst>
                          <a:ext uri="{FF2B5EF4-FFF2-40B4-BE49-F238E27FC236}">
                            <a16:creationId xmlns:a16="http://schemas.microsoft.com/office/drawing/2014/main" id="{47E67C44-1523-F712-068A-F943106EF73E}"/>
                          </a:ext>
                        </a:extLst>
                      </p:cNvPr>
                      <p:cNvPicPr/>
                      <p:nvPr/>
                    </p:nvPicPr>
                    <p:blipFill>
                      <a:blip r:embed="rId3"/>
                      <a:stretch>
                        <a:fillRect/>
                      </a:stretch>
                    </p:blipFill>
                    <p:spPr>
                      <a:xfrm>
                        <a:off x="1751830" y="2636403"/>
                        <a:ext cx="8403063" cy="2729781"/>
                      </a:xfrm>
                      <a:prstGeom prst="rect">
                        <a:avLst/>
                      </a:prstGeom>
                    </p:spPr>
                  </p:pic>
                </p:oleObj>
              </mc:Fallback>
            </mc:AlternateContent>
          </a:graphicData>
        </a:graphic>
      </p:graphicFrame>
    </p:spTree>
    <p:extLst>
      <p:ext uri="{BB962C8B-B14F-4D97-AF65-F5344CB8AC3E}">
        <p14:creationId xmlns:p14="http://schemas.microsoft.com/office/powerpoint/2010/main" val="1256374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65EF23-A928-80F0-F4F0-58197A18CEA3}"/>
              </a:ext>
            </a:extLst>
          </p:cNvPr>
          <p:cNvSpPr>
            <a:spLocks noGrp="1"/>
          </p:cNvSpPr>
          <p:nvPr>
            <p:ph type="title"/>
          </p:nvPr>
        </p:nvSpPr>
        <p:spPr/>
        <p:txBody>
          <a:bodyPr/>
          <a:lstStyle/>
          <a:p>
            <a:r>
              <a:rPr lang="en-IN" dirty="0"/>
              <a:t>-</a:t>
            </a:r>
            <a:r>
              <a:rPr lang="en-IN" dirty="0" err="1"/>
              <a:t>Contd</a:t>
            </a:r>
            <a:endParaRPr lang="en-IN" dirty="0"/>
          </a:p>
        </p:txBody>
      </p:sp>
      <p:graphicFrame>
        <p:nvGraphicFramePr>
          <p:cNvPr id="4" name="Object 3">
            <a:extLst>
              <a:ext uri="{FF2B5EF4-FFF2-40B4-BE49-F238E27FC236}">
                <a16:creationId xmlns:a16="http://schemas.microsoft.com/office/drawing/2014/main" id="{04868E6C-6F20-4026-326D-1DCDE7AD5171}"/>
              </a:ext>
            </a:extLst>
          </p:cNvPr>
          <p:cNvGraphicFramePr>
            <a:graphicFrameLocks noChangeAspect="1"/>
          </p:cNvGraphicFramePr>
          <p:nvPr>
            <p:extLst>
              <p:ext uri="{D42A27DB-BD31-4B8C-83A1-F6EECF244321}">
                <p14:modId xmlns:p14="http://schemas.microsoft.com/office/powerpoint/2010/main" val="490621306"/>
              </p:ext>
            </p:extLst>
          </p:nvPr>
        </p:nvGraphicFramePr>
        <p:xfrm>
          <a:off x="838200" y="1978936"/>
          <a:ext cx="9861226" cy="3594091"/>
        </p:xfrm>
        <a:graphic>
          <a:graphicData uri="http://schemas.openxmlformats.org/presentationml/2006/ole">
            <mc:AlternateContent xmlns:mc="http://schemas.openxmlformats.org/markup-compatibility/2006">
              <mc:Choice xmlns:v="urn:schemas-microsoft-com:vml" Requires="v">
                <p:oleObj name="Bitmap Image" r:id="rId2" imgW="6254640" imgH="2279520" progId="PBrush">
                  <p:embed/>
                </p:oleObj>
              </mc:Choice>
              <mc:Fallback>
                <p:oleObj name="Bitmap Image" r:id="rId2" imgW="6254640" imgH="2279520" progId="PBrush">
                  <p:embed/>
                  <p:pic>
                    <p:nvPicPr>
                      <p:cNvPr id="4" name="Object 3">
                        <a:extLst>
                          <a:ext uri="{FF2B5EF4-FFF2-40B4-BE49-F238E27FC236}">
                            <a16:creationId xmlns:a16="http://schemas.microsoft.com/office/drawing/2014/main" id="{04868E6C-6F20-4026-326D-1DCDE7AD5171}"/>
                          </a:ext>
                        </a:extLst>
                      </p:cNvPr>
                      <p:cNvPicPr/>
                      <p:nvPr/>
                    </p:nvPicPr>
                    <p:blipFill>
                      <a:blip r:embed="rId3"/>
                      <a:stretch>
                        <a:fillRect/>
                      </a:stretch>
                    </p:blipFill>
                    <p:spPr>
                      <a:xfrm>
                        <a:off x="838200" y="1978936"/>
                        <a:ext cx="9861226" cy="3594091"/>
                      </a:xfrm>
                      <a:prstGeom prst="rect">
                        <a:avLst/>
                      </a:prstGeom>
                    </p:spPr>
                  </p:pic>
                </p:oleObj>
              </mc:Fallback>
            </mc:AlternateContent>
          </a:graphicData>
        </a:graphic>
      </p:graphicFrame>
    </p:spTree>
    <p:extLst>
      <p:ext uri="{BB962C8B-B14F-4D97-AF65-F5344CB8AC3E}">
        <p14:creationId xmlns:p14="http://schemas.microsoft.com/office/powerpoint/2010/main" val="1469780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310D5E-DBE6-A15D-C135-59D972E7E078}"/>
              </a:ext>
            </a:extLst>
          </p:cNvPr>
          <p:cNvSpPr>
            <a:spLocks noGrp="1"/>
          </p:cNvSpPr>
          <p:nvPr>
            <p:ph type="title"/>
          </p:nvPr>
        </p:nvSpPr>
        <p:spPr/>
        <p:txBody>
          <a:bodyPr/>
          <a:lstStyle/>
          <a:p>
            <a:r>
              <a:rPr lang="en-IN" dirty="0"/>
              <a:t>-</a:t>
            </a:r>
            <a:r>
              <a:rPr lang="en-IN" dirty="0" err="1"/>
              <a:t>Contd</a:t>
            </a:r>
            <a:endParaRPr lang="en-IN" dirty="0"/>
          </a:p>
        </p:txBody>
      </p:sp>
      <p:graphicFrame>
        <p:nvGraphicFramePr>
          <p:cNvPr id="4" name="Object 3">
            <a:extLst>
              <a:ext uri="{FF2B5EF4-FFF2-40B4-BE49-F238E27FC236}">
                <a16:creationId xmlns:a16="http://schemas.microsoft.com/office/drawing/2014/main" id="{0BDFC542-004B-DA02-DE87-CD6EB77C1949}"/>
              </a:ext>
            </a:extLst>
          </p:cNvPr>
          <p:cNvGraphicFramePr>
            <a:graphicFrameLocks noChangeAspect="1"/>
          </p:cNvGraphicFramePr>
          <p:nvPr>
            <p:extLst>
              <p:ext uri="{D42A27DB-BD31-4B8C-83A1-F6EECF244321}">
                <p14:modId xmlns:p14="http://schemas.microsoft.com/office/powerpoint/2010/main" val="1243772494"/>
              </p:ext>
            </p:extLst>
          </p:nvPr>
        </p:nvGraphicFramePr>
        <p:xfrm>
          <a:off x="2725788" y="1690688"/>
          <a:ext cx="5118802" cy="4404927"/>
        </p:xfrm>
        <a:graphic>
          <a:graphicData uri="http://schemas.openxmlformats.org/presentationml/2006/ole">
            <mc:AlternateContent xmlns:mc="http://schemas.openxmlformats.org/markup-compatibility/2006">
              <mc:Choice xmlns:v="urn:schemas-microsoft-com:vml" Requires="v">
                <p:oleObj name="Bitmap Image" r:id="rId2" imgW="4006800" imgH="3448080" progId="PBrush">
                  <p:embed/>
                </p:oleObj>
              </mc:Choice>
              <mc:Fallback>
                <p:oleObj name="Bitmap Image" r:id="rId2" imgW="4006800" imgH="3448080" progId="PBrush">
                  <p:embed/>
                  <p:pic>
                    <p:nvPicPr>
                      <p:cNvPr id="4" name="Object 3">
                        <a:extLst>
                          <a:ext uri="{FF2B5EF4-FFF2-40B4-BE49-F238E27FC236}">
                            <a16:creationId xmlns:a16="http://schemas.microsoft.com/office/drawing/2014/main" id="{0BDFC542-004B-DA02-DE87-CD6EB77C1949}"/>
                          </a:ext>
                        </a:extLst>
                      </p:cNvPr>
                      <p:cNvPicPr/>
                      <p:nvPr/>
                    </p:nvPicPr>
                    <p:blipFill>
                      <a:blip r:embed="rId3"/>
                      <a:stretch>
                        <a:fillRect/>
                      </a:stretch>
                    </p:blipFill>
                    <p:spPr>
                      <a:xfrm>
                        <a:off x="2725788" y="1690688"/>
                        <a:ext cx="5118802" cy="4404927"/>
                      </a:xfrm>
                      <a:prstGeom prst="rect">
                        <a:avLst/>
                      </a:prstGeom>
                    </p:spPr>
                  </p:pic>
                </p:oleObj>
              </mc:Fallback>
            </mc:AlternateContent>
          </a:graphicData>
        </a:graphic>
      </p:graphicFrame>
    </p:spTree>
    <p:extLst>
      <p:ext uri="{BB962C8B-B14F-4D97-AF65-F5344CB8AC3E}">
        <p14:creationId xmlns:p14="http://schemas.microsoft.com/office/powerpoint/2010/main" val="1151272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4E07-C197-2968-FD01-9E75DC8A2B44}"/>
              </a:ext>
            </a:extLst>
          </p:cNvPr>
          <p:cNvSpPr>
            <a:spLocks noGrp="1"/>
          </p:cNvSpPr>
          <p:nvPr>
            <p:ph type="title"/>
          </p:nvPr>
        </p:nvSpPr>
        <p:spPr/>
        <p:txBody>
          <a:bodyPr/>
          <a:lstStyle/>
          <a:p>
            <a:r>
              <a:rPr lang="en-IN" dirty="0"/>
              <a:t>-</a:t>
            </a:r>
            <a:r>
              <a:rPr lang="en-IN" dirty="0" err="1"/>
              <a:t>Contd</a:t>
            </a:r>
            <a:endParaRPr lang="en-IN" dirty="0"/>
          </a:p>
        </p:txBody>
      </p:sp>
      <p:graphicFrame>
        <p:nvGraphicFramePr>
          <p:cNvPr id="3" name="Object 2">
            <a:extLst>
              <a:ext uri="{FF2B5EF4-FFF2-40B4-BE49-F238E27FC236}">
                <a16:creationId xmlns:a16="http://schemas.microsoft.com/office/drawing/2014/main" id="{79BAC8DD-9DB2-4CC2-9C8B-53BDFEF564DF}"/>
              </a:ext>
            </a:extLst>
          </p:cNvPr>
          <p:cNvGraphicFramePr>
            <a:graphicFrameLocks noChangeAspect="1"/>
          </p:cNvGraphicFramePr>
          <p:nvPr>
            <p:extLst>
              <p:ext uri="{D42A27DB-BD31-4B8C-83A1-F6EECF244321}">
                <p14:modId xmlns:p14="http://schemas.microsoft.com/office/powerpoint/2010/main" val="2228373564"/>
              </p:ext>
            </p:extLst>
          </p:nvPr>
        </p:nvGraphicFramePr>
        <p:xfrm>
          <a:off x="2079057" y="2042691"/>
          <a:ext cx="7157314" cy="4194479"/>
        </p:xfrm>
        <a:graphic>
          <a:graphicData uri="http://schemas.openxmlformats.org/presentationml/2006/ole">
            <mc:AlternateContent xmlns:mc="http://schemas.openxmlformats.org/markup-compatibility/2006">
              <mc:Choice xmlns:v="urn:schemas-microsoft-com:vml" Requires="v">
                <p:oleObj name="Bitmap Image" r:id="rId2" imgW="5276880" imgH="3092400" progId="PBrush">
                  <p:embed/>
                </p:oleObj>
              </mc:Choice>
              <mc:Fallback>
                <p:oleObj name="Bitmap Image" r:id="rId2" imgW="5276880" imgH="3092400" progId="PBrush">
                  <p:embed/>
                  <p:pic>
                    <p:nvPicPr>
                      <p:cNvPr id="3" name="Object 2">
                        <a:extLst>
                          <a:ext uri="{FF2B5EF4-FFF2-40B4-BE49-F238E27FC236}">
                            <a16:creationId xmlns:a16="http://schemas.microsoft.com/office/drawing/2014/main" id="{79BAC8DD-9DB2-4CC2-9C8B-53BDFEF564DF}"/>
                          </a:ext>
                        </a:extLst>
                      </p:cNvPr>
                      <p:cNvPicPr/>
                      <p:nvPr/>
                    </p:nvPicPr>
                    <p:blipFill>
                      <a:blip r:embed="rId3"/>
                      <a:stretch>
                        <a:fillRect/>
                      </a:stretch>
                    </p:blipFill>
                    <p:spPr>
                      <a:xfrm>
                        <a:off x="2079057" y="2042691"/>
                        <a:ext cx="7157314" cy="4194479"/>
                      </a:xfrm>
                      <a:prstGeom prst="rect">
                        <a:avLst/>
                      </a:prstGeom>
                    </p:spPr>
                  </p:pic>
                </p:oleObj>
              </mc:Fallback>
            </mc:AlternateContent>
          </a:graphicData>
        </a:graphic>
      </p:graphicFrame>
    </p:spTree>
    <p:extLst>
      <p:ext uri="{BB962C8B-B14F-4D97-AF65-F5344CB8AC3E}">
        <p14:creationId xmlns:p14="http://schemas.microsoft.com/office/powerpoint/2010/main" val="479617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3D1F7FB-316A-0B05-DF1F-FCC524E8D473}"/>
              </a:ext>
            </a:extLst>
          </p:cNvPr>
          <p:cNvPicPr>
            <a:picLocks noChangeAspect="1"/>
          </p:cNvPicPr>
          <p:nvPr/>
        </p:nvPicPr>
        <p:blipFill>
          <a:blip r:embed="rId2"/>
          <a:stretch>
            <a:fillRect/>
          </a:stretch>
        </p:blipFill>
        <p:spPr>
          <a:xfrm>
            <a:off x="2415941" y="325623"/>
            <a:ext cx="7632834" cy="6436734"/>
          </a:xfrm>
          <a:prstGeom prst="rect">
            <a:avLst/>
          </a:prstGeom>
        </p:spPr>
      </p:pic>
    </p:spTree>
    <p:extLst>
      <p:ext uri="{BB962C8B-B14F-4D97-AF65-F5344CB8AC3E}">
        <p14:creationId xmlns:p14="http://schemas.microsoft.com/office/powerpoint/2010/main" val="28672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1092DE-11BB-0440-3E96-999C21E4CC07}"/>
              </a:ext>
            </a:extLst>
          </p:cNvPr>
          <p:cNvSpPr>
            <a:spLocks noGrp="1"/>
          </p:cNvSpPr>
          <p:nvPr>
            <p:ph type="title"/>
          </p:nvPr>
        </p:nvSpPr>
        <p:spPr/>
        <p:txBody>
          <a:bodyPr/>
          <a:lstStyle/>
          <a:p>
            <a:r>
              <a:rPr lang="en-IN" dirty="0"/>
              <a:t>Assembly Line Scheduling</a:t>
            </a:r>
          </a:p>
        </p:txBody>
      </p:sp>
      <p:pic>
        <p:nvPicPr>
          <p:cNvPr id="1026" name="Picture 2" descr="Lightbox">
            <a:extLst>
              <a:ext uri="{FF2B5EF4-FFF2-40B4-BE49-F238E27FC236}">
                <a16:creationId xmlns:a16="http://schemas.microsoft.com/office/drawing/2014/main" id="{6A18CE67-9EF4-BE3A-DE77-0DDA98E49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2666" y="1810904"/>
            <a:ext cx="9403881" cy="3712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7380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A65C42-3C9F-AC1D-FDC1-346CA66C2F17}"/>
              </a:ext>
            </a:extLst>
          </p:cNvPr>
          <p:cNvSpPr>
            <a:spLocks noGrp="1"/>
          </p:cNvSpPr>
          <p:nvPr>
            <p:ph type="title"/>
          </p:nvPr>
        </p:nvSpPr>
        <p:spPr/>
        <p:txBody>
          <a:bodyPr/>
          <a:lstStyle/>
          <a:p>
            <a:r>
              <a:rPr lang="en-IN" dirty="0"/>
              <a:t>-</a:t>
            </a:r>
            <a:r>
              <a:rPr lang="en-IN" dirty="0" err="1"/>
              <a:t>Contd</a:t>
            </a:r>
            <a:endParaRPr lang="en-IN" dirty="0"/>
          </a:p>
        </p:txBody>
      </p:sp>
      <p:sp>
        <p:nvSpPr>
          <p:cNvPr id="5" name="TextBox 4">
            <a:extLst>
              <a:ext uri="{FF2B5EF4-FFF2-40B4-BE49-F238E27FC236}">
                <a16:creationId xmlns:a16="http://schemas.microsoft.com/office/drawing/2014/main" id="{81567AEF-C234-C34D-5689-D87FAF273586}"/>
              </a:ext>
            </a:extLst>
          </p:cNvPr>
          <p:cNvSpPr txBox="1"/>
          <p:nvPr/>
        </p:nvSpPr>
        <p:spPr>
          <a:xfrm>
            <a:off x="635267" y="1867301"/>
            <a:ext cx="11146055" cy="4893647"/>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A car factory has two assembly lines, each with n stations. A station is denoted by </a:t>
            </a:r>
            <a:r>
              <a:rPr lang="en-US" sz="2400" b="0" i="0" dirty="0" err="1">
                <a:solidFill>
                  <a:srgbClr val="273239"/>
                </a:solidFill>
                <a:effectLst/>
                <a:latin typeface="Times New Roman" panose="02020603050405020304" pitchFamily="18" charset="0"/>
                <a:cs typeface="Times New Roman" panose="02020603050405020304" pitchFamily="18" charset="0"/>
              </a:rPr>
              <a:t>S</a:t>
            </a:r>
            <a:r>
              <a:rPr lang="en-US" sz="2400" b="0" i="0" baseline="-25000" dirty="0" err="1">
                <a:solidFill>
                  <a:srgbClr val="273239"/>
                </a:solidFill>
                <a:effectLst/>
                <a:latin typeface="Times New Roman" panose="02020603050405020304" pitchFamily="18" charset="0"/>
                <a:cs typeface="Times New Roman" panose="02020603050405020304" pitchFamily="18" charset="0"/>
              </a:rPr>
              <a:t>i,j</a:t>
            </a:r>
            <a:r>
              <a:rPr lang="en-US" sz="2400" b="0" i="0" dirty="0">
                <a:solidFill>
                  <a:srgbClr val="273239"/>
                </a:solidFill>
                <a:effectLst/>
                <a:latin typeface="Times New Roman" panose="02020603050405020304" pitchFamily="18" charset="0"/>
                <a:cs typeface="Times New Roman" panose="02020603050405020304" pitchFamily="18" charset="0"/>
              </a:rPr>
              <a:t> where </a:t>
            </a:r>
            <a:r>
              <a:rPr lang="en-US" sz="2400" b="0" i="0" dirty="0" err="1">
                <a:solidFill>
                  <a:srgbClr val="273239"/>
                </a:solidFill>
                <a:effectLst/>
                <a:latin typeface="Times New Roman" panose="02020603050405020304" pitchFamily="18" charset="0"/>
                <a:cs typeface="Times New Roman" panose="02020603050405020304" pitchFamily="18" charset="0"/>
              </a:rPr>
              <a:t>i</a:t>
            </a:r>
            <a:r>
              <a:rPr lang="en-US" sz="2400" b="0" i="0" dirty="0">
                <a:solidFill>
                  <a:srgbClr val="273239"/>
                </a:solidFill>
                <a:effectLst/>
                <a:latin typeface="Times New Roman" panose="02020603050405020304" pitchFamily="18" charset="0"/>
                <a:cs typeface="Times New Roman" panose="02020603050405020304" pitchFamily="18" charset="0"/>
              </a:rPr>
              <a:t> is either 1 or 2 and indicates the assembly line the station is on, and j indicates the number of the station. </a:t>
            </a:r>
          </a:p>
          <a:p>
            <a:pPr marL="342900" indent="-342900">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The time taken per station is denoted by </a:t>
            </a:r>
            <a:r>
              <a:rPr lang="en-US" sz="2400" b="0" i="0" dirty="0" err="1">
                <a:solidFill>
                  <a:srgbClr val="273239"/>
                </a:solidFill>
                <a:effectLst/>
                <a:latin typeface="Times New Roman" panose="02020603050405020304" pitchFamily="18" charset="0"/>
                <a:cs typeface="Times New Roman" panose="02020603050405020304" pitchFamily="18" charset="0"/>
              </a:rPr>
              <a:t>a</a:t>
            </a:r>
            <a:r>
              <a:rPr lang="en-US" sz="2400" b="0" i="0" baseline="-25000" dirty="0" err="1">
                <a:solidFill>
                  <a:srgbClr val="273239"/>
                </a:solidFill>
                <a:effectLst/>
                <a:latin typeface="Times New Roman" panose="02020603050405020304" pitchFamily="18" charset="0"/>
                <a:cs typeface="Times New Roman" panose="02020603050405020304" pitchFamily="18" charset="0"/>
              </a:rPr>
              <a:t>i,j</a:t>
            </a:r>
            <a:r>
              <a:rPr lang="en-US" sz="2400" b="0" i="0" dirty="0">
                <a:solidFill>
                  <a:srgbClr val="273239"/>
                </a:solidFill>
                <a:effectLst/>
                <a:latin typeface="Times New Roman" panose="02020603050405020304" pitchFamily="18" charset="0"/>
                <a:cs typeface="Times New Roman" panose="02020603050405020304" pitchFamily="18" charset="0"/>
              </a:rPr>
              <a:t>. Each station is dedicated to some sort of work like engine fitting, body fitting, painting, and so on. So, a car chassis must pass through each of the n stations in order before exiting the factory. </a:t>
            </a:r>
          </a:p>
          <a:p>
            <a:pPr marL="342900" indent="-342900">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The parallel stations of the two assembly lines perform the same task. After it passes through station </a:t>
            </a:r>
            <a:r>
              <a:rPr lang="en-US" sz="2400" b="0" i="0" dirty="0" err="1">
                <a:solidFill>
                  <a:srgbClr val="273239"/>
                </a:solidFill>
                <a:effectLst/>
                <a:latin typeface="Times New Roman" panose="02020603050405020304" pitchFamily="18" charset="0"/>
                <a:cs typeface="Times New Roman" panose="02020603050405020304" pitchFamily="18" charset="0"/>
              </a:rPr>
              <a:t>S</a:t>
            </a:r>
            <a:r>
              <a:rPr lang="en-US" sz="2400" b="0" i="0" baseline="-25000" dirty="0" err="1">
                <a:solidFill>
                  <a:srgbClr val="273239"/>
                </a:solidFill>
                <a:effectLst/>
                <a:latin typeface="Times New Roman" panose="02020603050405020304" pitchFamily="18" charset="0"/>
                <a:cs typeface="Times New Roman" panose="02020603050405020304" pitchFamily="18" charset="0"/>
              </a:rPr>
              <a:t>i,j</a:t>
            </a:r>
            <a:r>
              <a:rPr lang="en-US" sz="2400" b="0" i="0" dirty="0">
                <a:solidFill>
                  <a:srgbClr val="273239"/>
                </a:solidFill>
                <a:effectLst/>
                <a:latin typeface="Times New Roman" panose="02020603050405020304" pitchFamily="18" charset="0"/>
                <a:cs typeface="Times New Roman" panose="02020603050405020304" pitchFamily="18" charset="0"/>
              </a:rPr>
              <a:t>, it will continue to station S</a:t>
            </a:r>
            <a:r>
              <a:rPr lang="en-US" sz="2400" b="0" i="0" baseline="-25000" dirty="0">
                <a:solidFill>
                  <a:srgbClr val="273239"/>
                </a:solidFill>
                <a:effectLst/>
                <a:latin typeface="Times New Roman" panose="02020603050405020304" pitchFamily="18" charset="0"/>
                <a:cs typeface="Times New Roman" panose="02020603050405020304" pitchFamily="18" charset="0"/>
              </a:rPr>
              <a:t>i,j+1</a:t>
            </a:r>
            <a:r>
              <a:rPr lang="en-US" sz="2400" b="0" i="0" dirty="0">
                <a:solidFill>
                  <a:srgbClr val="273239"/>
                </a:solidFill>
                <a:effectLst/>
                <a:latin typeface="Times New Roman" panose="02020603050405020304" pitchFamily="18" charset="0"/>
                <a:cs typeface="Times New Roman" panose="02020603050405020304" pitchFamily="18" charset="0"/>
              </a:rPr>
              <a:t> unless it decides to transfer to the other line. Continuing on the same line incurs no extra cost, but transferring from line </a:t>
            </a:r>
            <a:r>
              <a:rPr lang="en-US" sz="2400" b="0" i="0" dirty="0" err="1">
                <a:solidFill>
                  <a:srgbClr val="273239"/>
                </a:solidFill>
                <a:effectLst/>
                <a:latin typeface="Times New Roman" panose="02020603050405020304" pitchFamily="18" charset="0"/>
                <a:cs typeface="Times New Roman" panose="02020603050405020304" pitchFamily="18" charset="0"/>
              </a:rPr>
              <a:t>i</a:t>
            </a:r>
            <a:r>
              <a:rPr lang="en-US" sz="2400" b="0" i="0" dirty="0">
                <a:solidFill>
                  <a:srgbClr val="273239"/>
                </a:solidFill>
                <a:effectLst/>
                <a:latin typeface="Times New Roman" panose="02020603050405020304" pitchFamily="18" charset="0"/>
                <a:cs typeface="Times New Roman" panose="02020603050405020304" pitchFamily="18" charset="0"/>
              </a:rPr>
              <a:t> at station j – 1 to station j on the other line takes time </a:t>
            </a:r>
            <a:r>
              <a:rPr lang="en-US" sz="2400" b="0" i="0" dirty="0" err="1">
                <a:solidFill>
                  <a:srgbClr val="273239"/>
                </a:solidFill>
                <a:effectLst/>
                <a:latin typeface="Times New Roman" panose="02020603050405020304" pitchFamily="18" charset="0"/>
                <a:cs typeface="Times New Roman" panose="02020603050405020304" pitchFamily="18" charset="0"/>
              </a:rPr>
              <a:t>t</a:t>
            </a:r>
            <a:r>
              <a:rPr lang="en-US" sz="2400" b="0" i="0" baseline="-25000" dirty="0" err="1">
                <a:solidFill>
                  <a:srgbClr val="273239"/>
                </a:solidFill>
                <a:effectLst/>
                <a:latin typeface="Times New Roman" panose="02020603050405020304" pitchFamily="18" charset="0"/>
                <a:cs typeface="Times New Roman" panose="02020603050405020304" pitchFamily="18" charset="0"/>
              </a:rPr>
              <a:t>i,j</a:t>
            </a:r>
            <a:r>
              <a:rPr lang="en-US" sz="2400" b="0" i="0" dirty="0">
                <a:solidFill>
                  <a:srgbClr val="273239"/>
                </a:solidFill>
                <a:effectLst/>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Each assembly line takes an entry time </a:t>
            </a:r>
            <a:r>
              <a:rPr lang="en-US" sz="2400" b="0" i="0" dirty="0" err="1">
                <a:solidFill>
                  <a:srgbClr val="273239"/>
                </a:solidFill>
                <a:effectLst/>
                <a:latin typeface="Times New Roman" panose="02020603050405020304" pitchFamily="18" charset="0"/>
                <a:cs typeface="Times New Roman" panose="02020603050405020304" pitchFamily="18" charset="0"/>
              </a:rPr>
              <a:t>e</a:t>
            </a:r>
            <a:r>
              <a:rPr lang="en-US" sz="2400" b="0" i="0" baseline="-25000" dirty="0" err="1">
                <a:solidFill>
                  <a:srgbClr val="273239"/>
                </a:solidFill>
                <a:effectLst/>
                <a:latin typeface="Times New Roman" panose="02020603050405020304" pitchFamily="18" charset="0"/>
                <a:cs typeface="Times New Roman" panose="02020603050405020304" pitchFamily="18" charset="0"/>
              </a:rPr>
              <a:t>i</a:t>
            </a:r>
            <a:r>
              <a:rPr lang="en-US" sz="2400" b="0" i="0" dirty="0">
                <a:solidFill>
                  <a:srgbClr val="273239"/>
                </a:solidFill>
                <a:effectLst/>
                <a:latin typeface="Times New Roman" panose="02020603050405020304" pitchFamily="18" charset="0"/>
                <a:cs typeface="Times New Roman" panose="02020603050405020304" pitchFamily="18" charset="0"/>
              </a:rPr>
              <a:t> and exit time x</a:t>
            </a:r>
            <a:r>
              <a:rPr lang="en-US" sz="2400" b="0" i="0" baseline="-25000" dirty="0">
                <a:solidFill>
                  <a:srgbClr val="273239"/>
                </a:solidFill>
                <a:effectLst/>
                <a:latin typeface="Times New Roman" panose="02020603050405020304" pitchFamily="18" charset="0"/>
                <a:cs typeface="Times New Roman" panose="02020603050405020304" pitchFamily="18" charset="0"/>
              </a:rPr>
              <a:t>i</a:t>
            </a:r>
            <a:r>
              <a:rPr lang="en-US" sz="2400" b="0" i="0" dirty="0">
                <a:solidFill>
                  <a:srgbClr val="273239"/>
                </a:solidFill>
                <a:effectLst/>
                <a:latin typeface="Times New Roman" panose="02020603050405020304" pitchFamily="18" charset="0"/>
                <a:cs typeface="Times New Roman" panose="02020603050405020304" pitchFamily="18" charset="0"/>
              </a:rPr>
              <a:t> which may be different for the two lines. Give an algorithm for computing the minimum time it will take to build a car chassis.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53862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16F6CD-86D2-5FB5-FFD5-8020A16BCC8C}"/>
              </a:ext>
            </a:extLst>
          </p:cNvPr>
          <p:cNvSpPr>
            <a:spLocks noGrp="1"/>
          </p:cNvSpPr>
          <p:nvPr>
            <p:ph type="title"/>
          </p:nvPr>
        </p:nvSpPr>
        <p:spPr/>
        <p:txBody>
          <a:bodyPr/>
          <a:lstStyle/>
          <a:p>
            <a:r>
              <a:rPr lang="en-IN" dirty="0"/>
              <a:t>-</a:t>
            </a:r>
            <a:r>
              <a:rPr lang="en-IN" dirty="0" err="1"/>
              <a:t>Contd</a:t>
            </a:r>
            <a:endParaRPr lang="en-IN" dirty="0"/>
          </a:p>
        </p:txBody>
      </p:sp>
      <p:sp>
        <p:nvSpPr>
          <p:cNvPr id="5" name="TextBox 4">
            <a:extLst>
              <a:ext uri="{FF2B5EF4-FFF2-40B4-BE49-F238E27FC236}">
                <a16:creationId xmlns:a16="http://schemas.microsoft.com/office/drawing/2014/main" id="{72A3E09E-75E7-BA81-8B06-87B442F3F138}"/>
              </a:ext>
            </a:extLst>
          </p:cNvPr>
          <p:cNvSpPr txBox="1"/>
          <p:nvPr/>
        </p:nvSpPr>
        <p:spPr>
          <a:xfrm>
            <a:off x="413885" y="1535009"/>
            <a:ext cx="11203807" cy="4893647"/>
          </a:xfrm>
          <a:prstGeom prst="rect">
            <a:avLst/>
          </a:prstGeom>
          <a:noFill/>
        </p:spPr>
        <p:txBody>
          <a:bodyPr wrap="square">
            <a:spAutoFit/>
          </a:bodyPr>
          <a:lstStyle/>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If the minimum time taken by the chassis to leave station S</a:t>
            </a:r>
            <a:r>
              <a:rPr lang="en-US" sz="2400" b="0" i="0" baseline="-25000" dirty="0">
                <a:solidFill>
                  <a:srgbClr val="273239"/>
                </a:solidFill>
                <a:effectLst/>
                <a:latin typeface="Times New Roman" panose="02020603050405020304" pitchFamily="18" charset="0"/>
                <a:cs typeface="Times New Roman" panose="02020603050405020304" pitchFamily="18" charset="0"/>
              </a:rPr>
              <a:t>i, j-1</a:t>
            </a:r>
            <a:r>
              <a:rPr lang="en-US" sz="2400" b="0" i="0" dirty="0">
                <a:solidFill>
                  <a:srgbClr val="273239"/>
                </a:solidFill>
                <a:effectLst/>
                <a:latin typeface="Times New Roman" panose="02020603050405020304" pitchFamily="18" charset="0"/>
                <a:cs typeface="Times New Roman" panose="02020603050405020304" pitchFamily="18" charset="0"/>
              </a:rPr>
              <a:t> is known, the minimum time taken to leave station S</a:t>
            </a:r>
            <a:r>
              <a:rPr lang="en-US" sz="2400" b="0" i="0" baseline="-25000" dirty="0">
                <a:solidFill>
                  <a:srgbClr val="273239"/>
                </a:solidFill>
                <a:effectLst/>
                <a:latin typeface="Times New Roman" panose="02020603050405020304" pitchFamily="18" charset="0"/>
                <a:cs typeface="Times New Roman" panose="02020603050405020304" pitchFamily="18" charset="0"/>
              </a:rPr>
              <a:t>i, j</a:t>
            </a:r>
            <a:r>
              <a:rPr lang="en-US" sz="2400" b="0" i="0" dirty="0">
                <a:solidFill>
                  <a:srgbClr val="273239"/>
                </a:solidFill>
                <a:effectLst/>
                <a:latin typeface="Times New Roman" panose="02020603050405020304" pitchFamily="18" charset="0"/>
                <a:cs typeface="Times New Roman" panose="02020603050405020304" pitchFamily="18" charset="0"/>
              </a:rPr>
              <a:t> can be calculated quickly by combining a</a:t>
            </a:r>
            <a:r>
              <a:rPr lang="en-US" sz="2400" b="0" i="0" baseline="-25000" dirty="0">
                <a:solidFill>
                  <a:srgbClr val="273239"/>
                </a:solidFill>
                <a:effectLst/>
                <a:latin typeface="Times New Roman" panose="02020603050405020304" pitchFamily="18" charset="0"/>
                <a:cs typeface="Times New Roman" panose="02020603050405020304" pitchFamily="18" charset="0"/>
              </a:rPr>
              <a:t>i, j</a:t>
            </a:r>
            <a:r>
              <a:rPr lang="en-US" sz="2400" b="0" i="0" dirty="0">
                <a:solidFill>
                  <a:srgbClr val="273239"/>
                </a:solidFill>
                <a:effectLst/>
                <a:latin typeface="Times New Roman" panose="02020603050405020304" pitchFamily="18" charset="0"/>
                <a:cs typeface="Times New Roman" panose="02020603050405020304" pitchFamily="18" charset="0"/>
              </a:rPr>
              <a:t> and </a:t>
            </a:r>
            <a:r>
              <a:rPr lang="en-US" sz="2400" b="0" i="0" dirty="0" err="1">
                <a:solidFill>
                  <a:srgbClr val="273239"/>
                </a:solidFill>
                <a:effectLst/>
                <a:latin typeface="Times New Roman" panose="02020603050405020304" pitchFamily="18" charset="0"/>
                <a:cs typeface="Times New Roman" panose="02020603050405020304" pitchFamily="18" charset="0"/>
              </a:rPr>
              <a:t>t</a:t>
            </a:r>
            <a:r>
              <a:rPr lang="en-US" sz="2400" b="0" i="0" baseline="-25000" dirty="0" err="1">
                <a:solidFill>
                  <a:srgbClr val="273239"/>
                </a:solidFill>
                <a:effectLst/>
                <a:latin typeface="Times New Roman" panose="02020603050405020304" pitchFamily="18" charset="0"/>
                <a:cs typeface="Times New Roman" panose="02020603050405020304" pitchFamily="18" charset="0"/>
              </a:rPr>
              <a:t>i</a:t>
            </a:r>
            <a:r>
              <a:rPr lang="en-US" sz="2400" b="0" i="0" baseline="-25000" dirty="0">
                <a:solidFill>
                  <a:srgbClr val="273239"/>
                </a:solidFill>
                <a:effectLst/>
                <a:latin typeface="Times New Roman" panose="02020603050405020304" pitchFamily="18" charset="0"/>
                <a:cs typeface="Times New Roman" panose="02020603050405020304" pitchFamily="18" charset="0"/>
              </a:rPr>
              <a:t>, j</a:t>
            </a:r>
            <a:r>
              <a:rPr lang="en-US" sz="2400" b="0" i="0" dirty="0">
                <a:solidFill>
                  <a:srgbClr val="273239"/>
                </a:solidFill>
                <a:effectLst/>
                <a:latin typeface="Times New Roman" panose="02020603050405020304" pitchFamily="18" charset="0"/>
                <a:cs typeface="Times New Roman" panose="02020603050405020304" pitchFamily="18" charset="0"/>
              </a:rPr>
              <a:t>.</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1" i="0" dirty="0">
                <a:solidFill>
                  <a:srgbClr val="273239"/>
                </a:solidFill>
                <a:effectLst/>
                <a:latin typeface="Times New Roman" panose="02020603050405020304" pitchFamily="18" charset="0"/>
                <a:cs typeface="Times New Roman" panose="02020603050405020304" pitchFamily="18" charset="0"/>
              </a:rPr>
              <a:t>T1(j)</a:t>
            </a:r>
            <a:r>
              <a:rPr lang="en-US" sz="2400" b="0" i="0" dirty="0">
                <a:solidFill>
                  <a:srgbClr val="273239"/>
                </a:solidFill>
                <a:effectLst/>
                <a:latin typeface="Times New Roman" panose="02020603050405020304" pitchFamily="18" charset="0"/>
                <a:cs typeface="Times New Roman" panose="02020603050405020304" pitchFamily="18" charset="0"/>
              </a:rPr>
              <a:t> indicates the minimum time taken by the car chassis to leave station j on assembly line 1.</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1" i="0" dirty="0">
                <a:solidFill>
                  <a:srgbClr val="273239"/>
                </a:solidFill>
                <a:effectLst/>
                <a:latin typeface="Times New Roman" panose="02020603050405020304" pitchFamily="18" charset="0"/>
                <a:cs typeface="Times New Roman" panose="02020603050405020304" pitchFamily="18" charset="0"/>
              </a:rPr>
              <a:t>T2(j)</a:t>
            </a:r>
            <a:r>
              <a:rPr lang="en-US" sz="2400" b="0" i="0" dirty="0">
                <a:solidFill>
                  <a:srgbClr val="273239"/>
                </a:solidFill>
                <a:effectLst/>
                <a:latin typeface="Times New Roman" panose="02020603050405020304" pitchFamily="18" charset="0"/>
                <a:cs typeface="Times New Roman" panose="02020603050405020304" pitchFamily="18" charset="0"/>
              </a:rPr>
              <a:t> indicates the minimum time taken by the car chassis to leave station j on assembly line 2.</a:t>
            </a:r>
          </a:p>
          <a:p>
            <a:pPr algn="l" fontAlgn="base"/>
            <a:r>
              <a:rPr lang="en-US" sz="2400" b="1" i="1" dirty="0">
                <a:solidFill>
                  <a:srgbClr val="273239"/>
                </a:solidFill>
                <a:effectLst/>
                <a:latin typeface="Times New Roman" panose="02020603050405020304" pitchFamily="18" charset="0"/>
                <a:cs typeface="Times New Roman" panose="02020603050405020304" pitchFamily="18" charset="0"/>
              </a:rPr>
              <a:t>Base cases:</a:t>
            </a:r>
            <a:r>
              <a:rPr lang="en-US" sz="2400" b="0" i="1"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The entry time </a:t>
            </a:r>
            <a:r>
              <a:rPr lang="en-US" sz="2400" b="0" i="0" dirty="0" err="1">
                <a:solidFill>
                  <a:srgbClr val="273239"/>
                </a:solidFill>
                <a:effectLst/>
                <a:latin typeface="Times New Roman" panose="02020603050405020304" pitchFamily="18" charset="0"/>
                <a:cs typeface="Times New Roman" panose="02020603050405020304" pitchFamily="18" charset="0"/>
              </a:rPr>
              <a:t>e</a:t>
            </a:r>
            <a:r>
              <a:rPr lang="en-US" sz="2400" b="0" i="0" baseline="-25000" dirty="0" err="1">
                <a:solidFill>
                  <a:srgbClr val="273239"/>
                </a:solidFill>
                <a:effectLst/>
                <a:latin typeface="Times New Roman" panose="02020603050405020304" pitchFamily="18" charset="0"/>
                <a:cs typeface="Times New Roman" panose="02020603050405020304" pitchFamily="18" charset="0"/>
              </a:rPr>
              <a:t>i</a:t>
            </a:r>
            <a:r>
              <a:rPr lang="en-US" sz="2400" b="0" i="0" dirty="0">
                <a:solidFill>
                  <a:srgbClr val="273239"/>
                </a:solidFill>
                <a:effectLst/>
                <a:latin typeface="Times New Roman" panose="02020603050405020304" pitchFamily="18" charset="0"/>
                <a:cs typeface="Times New Roman" panose="02020603050405020304" pitchFamily="18" charset="0"/>
              </a:rPr>
              <a:t> comes into picture only when the car chassis enters the car factory.</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highlight>
                  <a:srgbClr val="FFFF00"/>
                </a:highlight>
                <a:latin typeface="Times New Roman" panose="02020603050405020304" pitchFamily="18" charset="0"/>
                <a:cs typeface="Times New Roman" panose="02020603050405020304" pitchFamily="18" charset="0"/>
              </a:rPr>
              <a:t>Time taken to leave the first station</a:t>
            </a:r>
            <a:r>
              <a:rPr lang="en-US" sz="2400" b="0" i="0" dirty="0">
                <a:solidFill>
                  <a:srgbClr val="273239"/>
                </a:solidFill>
                <a:effectLst/>
                <a:latin typeface="Times New Roman" panose="02020603050405020304" pitchFamily="18" charset="0"/>
                <a:cs typeface="Times New Roman" panose="02020603050405020304" pitchFamily="18" charset="0"/>
              </a:rPr>
              <a:t> is given by: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T1(1) = Entry time in Line 1 + Time spent in station S</a:t>
            </a:r>
            <a:r>
              <a:rPr lang="en-US" sz="2400" b="0" i="0" baseline="-25000" dirty="0">
                <a:solidFill>
                  <a:srgbClr val="273239"/>
                </a:solidFill>
                <a:effectLst/>
                <a:latin typeface="Times New Roman" panose="02020603050405020304" pitchFamily="18" charset="0"/>
                <a:cs typeface="Times New Roman" panose="02020603050405020304" pitchFamily="18" charset="0"/>
              </a:rPr>
              <a:t>1,1</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1" i="0" dirty="0">
                <a:solidFill>
                  <a:srgbClr val="273239"/>
                </a:solidFill>
                <a:effectLst/>
                <a:latin typeface="Times New Roman" panose="02020603050405020304" pitchFamily="18" charset="0"/>
                <a:cs typeface="Times New Roman" panose="02020603050405020304" pitchFamily="18" charset="0"/>
              </a:rPr>
              <a:t>T1(1) = e</a:t>
            </a:r>
            <a:r>
              <a:rPr lang="en-US" sz="2400" b="1" i="0" baseline="-25000" dirty="0">
                <a:solidFill>
                  <a:srgbClr val="273239"/>
                </a:solidFill>
                <a:effectLst/>
                <a:latin typeface="Times New Roman" panose="02020603050405020304" pitchFamily="18" charset="0"/>
                <a:cs typeface="Times New Roman" panose="02020603050405020304" pitchFamily="18" charset="0"/>
              </a:rPr>
              <a:t>1</a:t>
            </a:r>
            <a:r>
              <a:rPr lang="en-US" sz="2400" b="1" i="0" dirty="0">
                <a:solidFill>
                  <a:srgbClr val="273239"/>
                </a:solidFill>
                <a:effectLst/>
                <a:latin typeface="Times New Roman" panose="02020603050405020304" pitchFamily="18" charset="0"/>
                <a:cs typeface="Times New Roman" panose="02020603050405020304" pitchFamily="18" charset="0"/>
              </a:rPr>
              <a:t> + a</a:t>
            </a:r>
            <a:r>
              <a:rPr lang="en-US" sz="2400" b="1" i="0" baseline="-25000" dirty="0">
                <a:solidFill>
                  <a:srgbClr val="273239"/>
                </a:solidFill>
                <a:effectLst/>
                <a:latin typeface="Times New Roman" panose="02020603050405020304" pitchFamily="18" charset="0"/>
                <a:cs typeface="Times New Roman" panose="02020603050405020304" pitchFamily="18" charset="0"/>
              </a:rPr>
              <a:t>1,1</a:t>
            </a:r>
            <a:r>
              <a:rPr lang="en-US" sz="2400" b="1"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Similarly, time taken to leave the first station is given by: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1" i="0" dirty="0">
                <a:solidFill>
                  <a:srgbClr val="273239"/>
                </a:solidFill>
                <a:effectLst/>
                <a:latin typeface="Times New Roman" panose="02020603050405020304" pitchFamily="18" charset="0"/>
                <a:cs typeface="Times New Roman" panose="02020603050405020304" pitchFamily="18" charset="0"/>
              </a:rPr>
              <a:t>T2(1) = e</a:t>
            </a:r>
            <a:r>
              <a:rPr lang="en-US" sz="2400" b="1" i="0" baseline="-25000" dirty="0">
                <a:solidFill>
                  <a:srgbClr val="273239"/>
                </a:solidFill>
                <a:effectLst/>
                <a:latin typeface="Times New Roman" panose="02020603050405020304" pitchFamily="18" charset="0"/>
                <a:cs typeface="Times New Roman" panose="02020603050405020304" pitchFamily="18" charset="0"/>
              </a:rPr>
              <a:t>2</a:t>
            </a:r>
            <a:r>
              <a:rPr lang="en-US" sz="2400" b="1" i="0" dirty="0">
                <a:solidFill>
                  <a:srgbClr val="273239"/>
                </a:solidFill>
                <a:effectLst/>
                <a:latin typeface="Times New Roman" panose="02020603050405020304" pitchFamily="18" charset="0"/>
                <a:cs typeface="Times New Roman" panose="02020603050405020304" pitchFamily="18" charset="0"/>
              </a:rPr>
              <a:t> + a</a:t>
            </a:r>
            <a:r>
              <a:rPr lang="en-US" sz="2400" b="1" i="0" baseline="-25000" dirty="0">
                <a:solidFill>
                  <a:srgbClr val="273239"/>
                </a:solidFill>
                <a:effectLst/>
                <a:latin typeface="Times New Roman" panose="02020603050405020304" pitchFamily="18" charset="0"/>
                <a:cs typeface="Times New Roman" panose="02020603050405020304" pitchFamily="18" charset="0"/>
              </a:rPr>
              <a:t>2,1</a:t>
            </a:r>
            <a:endParaRPr lang="en-US" sz="2400" b="1" i="0" dirty="0">
              <a:solidFill>
                <a:srgbClr val="27323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2936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97AE27-B144-237D-CD81-1CEED36499C4}"/>
              </a:ext>
            </a:extLst>
          </p:cNvPr>
          <p:cNvSpPr txBox="1"/>
          <p:nvPr/>
        </p:nvSpPr>
        <p:spPr>
          <a:xfrm>
            <a:off x="655319" y="179824"/>
            <a:ext cx="11353800" cy="6555641"/>
          </a:xfrm>
          <a:prstGeom prst="rect">
            <a:avLst/>
          </a:prstGeom>
          <a:noFill/>
        </p:spPr>
        <p:txBody>
          <a:bodyPr wrap="square">
            <a:spAutoFit/>
          </a:bodyPr>
          <a:lstStyle/>
          <a:p>
            <a:pPr algn="l" fontAlgn="base"/>
            <a:r>
              <a:rPr lang="en-US" sz="2000" b="1" i="1" dirty="0">
                <a:solidFill>
                  <a:srgbClr val="273239"/>
                </a:solidFill>
                <a:effectLst/>
                <a:latin typeface="Times New Roman" panose="02020603050405020304" pitchFamily="18" charset="0"/>
                <a:cs typeface="Times New Roman" panose="02020603050405020304" pitchFamily="18" charset="0"/>
              </a:rPr>
              <a:t>Recursive Relations:</a:t>
            </a:r>
            <a:r>
              <a:rPr lang="en-US" sz="2000" b="0" i="0" dirty="0">
                <a:solidFill>
                  <a:srgbClr val="273239"/>
                </a:solidFill>
                <a:effectLst/>
                <a:latin typeface="Times New Roman" panose="02020603050405020304" pitchFamily="18" charset="0"/>
                <a:cs typeface="Times New Roman" panose="02020603050405020304" pitchFamily="18" charset="0"/>
              </a:rPr>
              <a:t> </a:t>
            </a:r>
            <a:br>
              <a:rPr lang="en-US" sz="2000" b="0" i="0" dirty="0">
                <a:solidFill>
                  <a:srgbClr val="273239"/>
                </a:solidFill>
                <a:effectLst/>
                <a:latin typeface="Times New Roman" panose="02020603050405020304" pitchFamily="18" charset="0"/>
                <a:cs typeface="Times New Roman" panose="02020603050405020304" pitchFamily="18" charset="0"/>
              </a:rPr>
            </a:br>
            <a:r>
              <a:rPr lang="en-US" sz="2000" b="0" i="0" dirty="0">
                <a:solidFill>
                  <a:srgbClr val="273239"/>
                </a:solidFill>
                <a:effectLst/>
                <a:latin typeface="Times New Roman" panose="02020603050405020304" pitchFamily="18" charset="0"/>
                <a:cs typeface="Times New Roman" panose="02020603050405020304" pitchFamily="18" charset="0"/>
              </a:rPr>
              <a:t>The car chassis at station S</a:t>
            </a:r>
            <a:r>
              <a:rPr lang="en-US" sz="2000" b="0" i="0" baseline="-25000" dirty="0">
                <a:solidFill>
                  <a:srgbClr val="273239"/>
                </a:solidFill>
                <a:effectLst/>
                <a:latin typeface="Times New Roman" panose="02020603050405020304" pitchFamily="18" charset="0"/>
                <a:cs typeface="Times New Roman" panose="02020603050405020304" pitchFamily="18" charset="0"/>
              </a:rPr>
              <a:t>1,j</a:t>
            </a:r>
            <a:r>
              <a:rPr lang="en-US" sz="2000" b="0" i="0" dirty="0">
                <a:solidFill>
                  <a:srgbClr val="273239"/>
                </a:solidFill>
                <a:effectLst/>
                <a:latin typeface="Times New Roman" panose="02020603050405020304" pitchFamily="18" charset="0"/>
                <a:cs typeface="Times New Roman" panose="02020603050405020304" pitchFamily="18" charset="0"/>
              </a:rPr>
              <a:t> can come either from station S</a:t>
            </a:r>
            <a:r>
              <a:rPr lang="en-US" sz="2000" b="0" i="0" baseline="-25000" dirty="0">
                <a:solidFill>
                  <a:srgbClr val="273239"/>
                </a:solidFill>
                <a:effectLst/>
                <a:latin typeface="Times New Roman" panose="02020603050405020304" pitchFamily="18" charset="0"/>
                <a:cs typeface="Times New Roman" panose="02020603050405020304" pitchFamily="18" charset="0"/>
              </a:rPr>
              <a:t>1, j-1</a:t>
            </a:r>
            <a:r>
              <a:rPr lang="en-US" sz="2000" b="0" i="0" dirty="0">
                <a:solidFill>
                  <a:srgbClr val="273239"/>
                </a:solidFill>
                <a:effectLst/>
                <a:latin typeface="Times New Roman" panose="02020603050405020304" pitchFamily="18" charset="0"/>
                <a:cs typeface="Times New Roman" panose="02020603050405020304" pitchFamily="18" charset="0"/>
              </a:rPr>
              <a:t> or station S</a:t>
            </a:r>
            <a:r>
              <a:rPr lang="en-US" sz="2000" b="0" i="0" baseline="-25000" dirty="0">
                <a:solidFill>
                  <a:srgbClr val="273239"/>
                </a:solidFill>
                <a:effectLst/>
                <a:latin typeface="Times New Roman" panose="02020603050405020304" pitchFamily="18" charset="0"/>
                <a:cs typeface="Times New Roman" panose="02020603050405020304" pitchFamily="18" charset="0"/>
              </a:rPr>
              <a:t>2, j-1</a:t>
            </a:r>
            <a:r>
              <a:rPr lang="en-US" sz="2000" b="0" i="0" dirty="0">
                <a:solidFill>
                  <a:srgbClr val="273239"/>
                </a:solidFill>
                <a:effectLst/>
                <a:latin typeface="Times New Roman" panose="02020603050405020304" pitchFamily="18" charset="0"/>
                <a:cs typeface="Times New Roman" panose="02020603050405020304" pitchFamily="18" charset="0"/>
              </a:rPr>
              <a:t>.</a:t>
            </a:r>
          </a:p>
          <a:p>
            <a:pPr algn="l" fontAlgn="base"/>
            <a:endParaRPr lang="en-US" sz="20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000" b="1" i="0" dirty="0">
                <a:solidFill>
                  <a:srgbClr val="273239"/>
                </a:solidFill>
                <a:effectLst/>
                <a:latin typeface="Times New Roman" panose="02020603050405020304" pitchFamily="18" charset="0"/>
                <a:cs typeface="Times New Roman" panose="02020603050405020304" pitchFamily="18" charset="0"/>
              </a:rPr>
              <a:t>Case #1:</a:t>
            </a:r>
            <a:r>
              <a:rPr lang="en-US" sz="2000" b="0" i="0" dirty="0">
                <a:solidFill>
                  <a:srgbClr val="273239"/>
                </a:solidFill>
                <a:effectLst/>
                <a:latin typeface="Times New Roman" panose="02020603050405020304" pitchFamily="18" charset="0"/>
                <a:cs typeface="Times New Roman" panose="02020603050405020304" pitchFamily="18" charset="0"/>
              </a:rPr>
              <a:t> </a:t>
            </a:r>
            <a:r>
              <a:rPr lang="en-US" sz="2000" b="0" i="0" dirty="0">
                <a:solidFill>
                  <a:srgbClr val="273239"/>
                </a:solidFill>
                <a:effectLst/>
                <a:highlight>
                  <a:srgbClr val="FFFF00"/>
                </a:highlight>
                <a:latin typeface="Times New Roman" panose="02020603050405020304" pitchFamily="18" charset="0"/>
                <a:cs typeface="Times New Roman" panose="02020603050405020304" pitchFamily="18" charset="0"/>
              </a:rPr>
              <a:t>Its previous station is S</a:t>
            </a:r>
            <a:r>
              <a:rPr lang="en-US" sz="2000" b="0" i="0" baseline="-25000" dirty="0">
                <a:solidFill>
                  <a:srgbClr val="273239"/>
                </a:solidFill>
                <a:effectLst/>
                <a:highlight>
                  <a:srgbClr val="FFFF00"/>
                </a:highlight>
                <a:latin typeface="Times New Roman" panose="02020603050405020304" pitchFamily="18" charset="0"/>
                <a:cs typeface="Times New Roman" panose="02020603050405020304" pitchFamily="18" charset="0"/>
              </a:rPr>
              <a:t>1, j-1</a:t>
            </a:r>
            <a:r>
              <a:rPr lang="en-US" sz="2000" b="0" i="0" dirty="0">
                <a:solidFill>
                  <a:srgbClr val="273239"/>
                </a:solidFill>
                <a:effectLst/>
                <a:highlight>
                  <a:srgbClr val="FFFF00"/>
                </a:highlight>
                <a:latin typeface="Times New Roman" panose="02020603050405020304" pitchFamily="18" charset="0"/>
                <a:cs typeface="Times New Roman" panose="02020603050405020304" pitchFamily="18" charset="0"/>
              </a:rPr>
              <a:t> </a:t>
            </a:r>
            <a:br>
              <a:rPr lang="en-US" sz="2000" b="0" i="0" dirty="0">
                <a:solidFill>
                  <a:srgbClr val="273239"/>
                </a:solidFill>
                <a:effectLst/>
                <a:latin typeface="Times New Roman" panose="02020603050405020304" pitchFamily="18" charset="0"/>
                <a:cs typeface="Times New Roman" panose="02020603050405020304" pitchFamily="18" charset="0"/>
              </a:rPr>
            </a:br>
            <a:r>
              <a:rPr lang="en-US" sz="2000" b="0" i="0" dirty="0">
                <a:solidFill>
                  <a:srgbClr val="273239"/>
                </a:solidFill>
                <a:effectLst/>
                <a:latin typeface="Times New Roman" panose="02020603050405020304" pitchFamily="18" charset="0"/>
                <a:cs typeface="Times New Roman" panose="02020603050405020304" pitchFamily="18" charset="0"/>
              </a:rPr>
              <a:t>The </a:t>
            </a:r>
            <a:r>
              <a:rPr lang="en-US" sz="2000" b="0" i="0" dirty="0">
                <a:solidFill>
                  <a:srgbClr val="273239"/>
                </a:solidFill>
                <a:effectLst/>
                <a:highlight>
                  <a:srgbClr val="FFFF00"/>
                </a:highlight>
                <a:latin typeface="Times New Roman" panose="02020603050405020304" pitchFamily="18" charset="0"/>
                <a:cs typeface="Times New Roman" panose="02020603050405020304" pitchFamily="18" charset="0"/>
              </a:rPr>
              <a:t>minimum time to leave station S</a:t>
            </a:r>
            <a:r>
              <a:rPr lang="en-US" sz="2000" b="0" i="0" baseline="-25000" dirty="0">
                <a:solidFill>
                  <a:srgbClr val="273239"/>
                </a:solidFill>
                <a:effectLst/>
                <a:highlight>
                  <a:srgbClr val="FFFF00"/>
                </a:highlight>
                <a:latin typeface="Times New Roman" panose="02020603050405020304" pitchFamily="18" charset="0"/>
                <a:cs typeface="Times New Roman" panose="02020603050405020304" pitchFamily="18" charset="0"/>
              </a:rPr>
              <a:t>1,j</a:t>
            </a:r>
            <a:r>
              <a:rPr lang="en-US" sz="2000" b="0" i="0" dirty="0">
                <a:solidFill>
                  <a:srgbClr val="273239"/>
                </a:solidFill>
                <a:effectLst/>
                <a:highlight>
                  <a:srgbClr val="FFFF00"/>
                </a:highlight>
                <a:latin typeface="Times New Roman" panose="02020603050405020304" pitchFamily="18" charset="0"/>
                <a:cs typeface="Times New Roman" panose="02020603050405020304" pitchFamily="18" charset="0"/>
              </a:rPr>
              <a:t> </a:t>
            </a:r>
            <a:r>
              <a:rPr lang="en-US" sz="2000" b="0" i="0" dirty="0">
                <a:solidFill>
                  <a:srgbClr val="273239"/>
                </a:solidFill>
                <a:effectLst/>
                <a:latin typeface="Times New Roman" panose="02020603050405020304" pitchFamily="18" charset="0"/>
                <a:cs typeface="Times New Roman" panose="02020603050405020304" pitchFamily="18" charset="0"/>
              </a:rPr>
              <a:t>is given by: </a:t>
            </a:r>
            <a:br>
              <a:rPr lang="en-US" sz="2000" b="0" i="0" dirty="0">
                <a:solidFill>
                  <a:srgbClr val="273239"/>
                </a:solidFill>
                <a:effectLst/>
                <a:latin typeface="Times New Roman" panose="02020603050405020304" pitchFamily="18" charset="0"/>
                <a:cs typeface="Times New Roman" panose="02020603050405020304" pitchFamily="18" charset="0"/>
              </a:rPr>
            </a:br>
            <a:r>
              <a:rPr lang="en-US" sz="2000" b="1" i="0" dirty="0">
                <a:solidFill>
                  <a:srgbClr val="273239"/>
                </a:solidFill>
                <a:effectLst/>
                <a:latin typeface="Times New Roman" panose="02020603050405020304" pitchFamily="18" charset="0"/>
                <a:cs typeface="Times New Roman" panose="02020603050405020304" pitchFamily="18" charset="0"/>
              </a:rPr>
              <a:t>T1(j) = Minimum time taken to leave station S</a:t>
            </a:r>
            <a:r>
              <a:rPr lang="en-US" sz="2000" b="1" i="0" baseline="-25000" dirty="0">
                <a:solidFill>
                  <a:srgbClr val="273239"/>
                </a:solidFill>
                <a:effectLst/>
                <a:latin typeface="Times New Roman" panose="02020603050405020304" pitchFamily="18" charset="0"/>
                <a:cs typeface="Times New Roman" panose="02020603050405020304" pitchFamily="18" charset="0"/>
              </a:rPr>
              <a:t>1, j-1</a:t>
            </a:r>
            <a:r>
              <a:rPr lang="en-US" sz="2000" b="1" i="0" dirty="0">
                <a:solidFill>
                  <a:srgbClr val="273239"/>
                </a:solidFill>
                <a:effectLst/>
                <a:latin typeface="Times New Roman" panose="02020603050405020304" pitchFamily="18" charset="0"/>
                <a:cs typeface="Times New Roman" panose="02020603050405020304" pitchFamily="18" charset="0"/>
              </a:rPr>
              <a:t> + Time spent in station S</a:t>
            </a:r>
            <a:r>
              <a:rPr lang="en-US" sz="2000" b="1" i="0" baseline="-25000" dirty="0">
                <a:solidFill>
                  <a:srgbClr val="273239"/>
                </a:solidFill>
                <a:effectLst/>
                <a:latin typeface="Times New Roman" panose="02020603050405020304" pitchFamily="18" charset="0"/>
                <a:cs typeface="Times New Roman" panose="02020603050405020304" pitchFamily="18" charset="0"/>
              </a:rPr>
              <a:t>1, j</a:t>
            </a:r>
            <a:r>
              <a:rPr lang="en-US" sz="2000" b="1" i="0" dirty="0">
                <a:solidFill>
                  <a:srgbClr val="273239"/>
                </a:solidFill>
                <a:effectLst/>
                <a:latin typeface="Times New Roman" panose="02020603050405020304" pitchFamily="18" charset="0"/>
                <a:cs typeface="Times New Roman" panose="02020603050405020304" pitchFamily="18" charset="0"/>
              </a:rPr>
              <a:t> </a:t>
            </a:r>
            <a:br>
              <a:rPr lang="en-US" sz="2000" b="1" i="0" dirty="0">
                <a:solidFill>
                  <a:srgbClr val="273239"/>
                </a:solidFill>
                <a:effectLst/>
                <a:latin typeface="Times New Roman" panose="02020603050405020304" pitchFamily="18" charset="0"/>
                <a:cs typeface="Times New Roman" panose="02020603050405020304" pitchFamily="18" charset="0"/>
              </a:rPr>
            </a:br>
            <a:r>
              <a:rPr lang="en-US" sz="2000" b="1" i="0" dirty="0">
                <a:solidFill>
                  <a:srgbClr val="273239"/>
                </a:solidFill>
                <a:effectLst/>
                <a:latin typeface="Times New Roman" panose="02020603050405020304" pitchFamily="18" charset="0"/>
                <a:cs typeface="Times New Roman" panose="02020603050405020304" pitchFamily="18" charset="0"/>
              </a:rPr>
              <a:t>T1(j) = T1(j-1) + a</a:t>
            </a:r>
            <a:r>
              <a:rPr lang="en-US" sz="2000" b="1" i="0" baseline="-25000" dirty="0">
                <a:solidFill>
                  <a:srgbClr val="273239"/>
                </a:solidFill>
                <a:effectLst/>
                <a:latin typeface="Times New Roman" panose="02020603050405020304" pitchFamily="18" charset="0"/>
                <a:cs typeface="Times New Roman" panose="02020603050405020304" pitchFamily="18" charset="0"/>
              </a:rPr>
              <a:t>1, j</a:t>
            </a:r>
          </a:p>
          <a:p>
            <a:pPr algn="l" fontAlgn="base"/>
            <a:endParaRPr lang="en-US" sz="2000" b="1"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000" b="1" i="0" dirty="0">
                <a:solidFill>
                  <a:srgbClr val="273239"/>
                </a:solidFill>
                <a:effectLst/>
                <a:latin typeface="Times New Roman" panose="02020603050405020304" pitchFamily="18" charset="0"/>
                <a:cs typeface="Times New Roman" panose="02020603050405020304" pitchFamily="18" charset="0"/>
              </a:rPr>
              <a:t>Case #2:</a:t>
            </a:r>
            <a:r>
              <a:rPr lang="en-US" sz="2000" b="0" i="0" dirty="0">
                <a:solidFill>
                  <a:srgbClr val="273239"/>
                </a:solidFill>
                <a:effectLst/>
                <a:latin typeface="Times New Roman" panose="02020603050405020304" pitchFamily="18" charset="0"/>
                <a:cs typeface="Times New Roman" panose="02020603050405020304" pitchFamily="18" charset="0"/>
              </a:rPr>
              <a:t> </a:t>
            </a:r>
            <a:r>
              <a:rPr lang="en-US" sz="2000" b="0" i="0" dirty="0">
                <a:solidFill>
                  <a:srgbClr val="273239"/>
                </a:solidFill>
                <a:effectLst/>
                <a:highlight>
                  <a:srgbClr val="FFFF00"/>
                </a:highlight>
                <a:latin typeface="Times New Roman" panose="02020603050405020304" pitchFamily="18" charset="0"/>
                <a:cs typeface="Times New Roman" panose="02020603050405020304" pitchFamily="18" charset="0"/>
              </a:rPr>
              <a:t>Its previous station is S</a:t>
            </a:r>
            <a:r>
              <a:rPr lang="en-US" sz="2000" b="0" i="0" baseline="-25000" dirty="0">
                <a:solidFill>
                  <a:srgbClr val="273239"/>
                </a:solidFill>
                <a:effectLst/>
                <a:highlight>
                  <a:srgbClr val="FFFF00"/>
                </a:highlight>
                <a:latin typeface="Times New Roman" panose="02020603050405020304" pitchFamily="18" charset="0"/>
                <a:cs typeface="Times New Roman" panose="02020603050405020304" pitchFamily="18" charset="0"/>
              </a:rPr>
              <a:t>2, j-1</a:t>
            </a:r>
            <a:r>
              <a:rPr lang="en-US" sz="2000" b="0" i="0" dirty="0">
                <a:solidFill>
                  <a:srgbClr val="273239"/>
                </a:solidFill>
                <a:effectLst/>
                <a:highlight>
                  <a:srgbClr val="FFFF00"/>
                </a:highlight>
                <a:latin typeface="Times New Roman" panose="02020603050405020304" pitchFamily="18" charset="0"/>
                <a:cs typeface="Times New Roman" panose="02020603050405020304" pitchFamily="18" charset="0"/>
              </a:rPr>
              <a:t> </a:t>
            </a:r>
            <a:br>
              <a:rPr lang="en-US" sz="2000" b="0" i="0" dirty="0">
                <a:solidFill>
                  <a:srgbClr val="273239"/>
                </a:solidFill>
                <a:effectLst/>
                <a:latin typeface="Times New Roman" panose="02020603050405020304" pitchFamily="18" charset="0"/>
                <a:cs typeface="Times New Roman" panose="02020603050405020304" pitchFamily="18" charset="0"/>
              </a:rPr>
            </a:br>
            <a:r>
              <a:rPr lang="en-US" sz="2000" b="0" i="0" dirty="0">
                <a:solidFill>
                  <a:srgbClr val="273239"/>
                </a:solidFill>
                <a:effectLst/>
                <a:latin typeface="Times New Roman" panose="02020603050405020304" pitchFamily="18" charset="0"/>
                <a:cs typeface="Times New Roman" panose="02020603050405020304" pitchFamily="18" charset="0"/>
              </a:rPr>
              <a:t>The </a:t>
            </a:r>
            <a:r>
              <a:rPr lang="en-US" sz="2000" b="0" i="0" dirty="0">
                <a:solidFill>
                  <a:srgbClr val="273239"/>
                </a:solidFill>
                <a:effectLst/>
                <a:highlight>
                  <a:srgbClr val="FFFF00"/>
                </a:highlight>
                <a:latin typeface="Times New Roman" panose="02020603050405020304" pitchFamily="18" charset="0"/>
                <a:cs typeface="Times New Roman" panose="02020603050405020304" pitchFamily="18" charset="0"/>
              </a:rPr>
              <a:t>minimum time to leave station S1, j </a:t>
            </a:r>
            <a:r>
              <a:rPr lang="en-US" sz="2000" b="0" i="0" dirty="0">
                <a:solidFill>
                  <a:srgbClr val="273239"/>
                </a:solidFill>
                <a:effectLst/>
                <a:latin typeface="Times New Roman" panose="02020603050405020304" pitchFamily="18" charset="0"/>
                <a:cs typeface="Times New Roman" panose="02020603050405020304" pitchFamily="18" charset="0"/>
              </a:rPr>
              <a:t>is given by: </a:t>
            </a:r>
            <a:br>
              <a:rPr lang="en-US" sz="2000" b="0" i="0" dirty="0">
                <a:solidFill>
                  <a:srgbClr val="273239"/>
                </a:solidFill>
                <a:effectLst/>
                <a:latin typeface="Times New Roman" panose="02020603050405020304" pitchFamily="18" charset="0"/>
                <a:cs typeface="Times New Roman" panose="02020603050405020304" pitchFamily="18" charset="0"/>
              </a:rPr>
            </a:br>
            <a:r>
              <a:rPr lang="en-US" sz="2000" b="1" i="0" dirty="0">
                <a:solidFill>
                  <a:srgbClr val="273239"/>
                </a:solidFill>
                <a:effectLst/>
                <a:latin typeface="Times New Roman" panose="02020603050405020304" pitchFamily="18" charset="0"/>
                <a:cs typeface="Times New Roman" panose="02020603050405020304" pitchFamily="18" charset="0"/>
              </a:rPr>
              <a:t>T1(j) = Minimum time taken to leave station S</a:t>
            </a:r>
            <a:r>
              <a:rPr lang="en-US" sz="2000" b="1" i="0" baseline="-25000" dirty="0">
                <a:solidFill>
                  <a:srgbClr val="273239"/>
                </a:solidFill>
                <a:effectLst/>
                <a:latin typeface="Times New Roman" panose="02020603050405020304" pitchFamily="18" charset="0"/>
                <a:cs typeface="Times New Roman" panose="02020603050405020304" pitchFamily="18" charset="0"/>
              </a:rPr>
              <a:t>2, j-1</a:t>
            </a:r>
            <a:r>
              <a:rPr lang="en-US" sz="2000" b="1" i="0" dirty="0">
                <a:solidFill>
                  <a:srgbClr val="273239"/>
                </a:solidFill>
                <a:effectLst/>
                <a:latin typeface="Times New Roman" panose="02020603050405020304" pitchFamily="18" charset="0"/>
                <a:cs typeface="Times New Roman" panose="02020603050405020304" pitchFamily="18" charset="0"/>
              </a:rPr>
              <a:t> + Extra cost incurred to change the assembly line + Time spent in station S</a:t>
            </a:r>
            <a:r>
              <a:rPr lang="en-US" sz="2000" b="1" i="0" baseline="-25000" dirty="0">
                <a:solidFill>
                  <a:srgbClr val="273239"/>
                </a:solidFill>
                <a:effectLst/>
                <a:latin typeface="Times New Roman" panose="02020603050405020304" pitchFamily="18" charset="0"/>
                <a:cs typeface="Times New Roman" panose="02020603050405020304" pitchFamily="18" charset="0"/>
              </a:rPr>
              <a:t>1, j</a:t>
            </a:r>
            <a:r>
              <a:rPr lang="en-US" sz="2000" b="1" i="0" dirty="0">
                <a:solidFill>
                  <a:srgbClr val="273239"/>
                </a:solidFill>
                <a:effectLst/>
                <a:latin typeface="Times New Roman" panose="02020603050405020304" pitchFamily="18" charset="0"/>
                <a:cs typeface="Times New Roman" panose="02020603050405020304" pitchFamily="18" charset="0"/>
              </a:rPr>
              <a:t> </a:t>
            </a:r>
            <a:br>
              <a:rPr lang="en-US" sz="2000" b="1" i="0" dirty="0">
                <a:solidFill>
                  <a:srgbClr val="273239"/>
                </a:solidFill>
                <a:effectLst/>
                <a:latin typeface="Times New Roman" panose="02020603050405020304" pitchFamily="18" charset="0"/>
                <a:cs typeface="Times New Roman" panose="02020603050405020304" pitchFamily="18" charset="0"/>
              </a:rPr>
            </a:br>
            <a:r>
              <a:rPr lang="en-US" sz="2000" b="1" i="0" dirty="0">
                <a:solidFill>
                  <a:srgbClr val="273239"/>
                </a:solidFill>
                <a:effectLst/>
                <a:latin typeface="Times New Roman" panose="02020603050405020304" pitchFamily="18" charset="0"/>
                <a:cs typeface="Times New Roman" panose="02020603050405020304" pitchFamily="18" charset="0"/>
              </a:rPr>
              <a:t>T1(j) = T2(j-1) + t</a:t>
            </a:r>
            <a:r>
              <a:rPr lang="en-US" sz="2000" b="1" i="0" baseline="-25000" dirty="0">
                <a:solidFill>
                  <a:srgbClr val="273239"/>
                </a:solidFill>
                <a:effectLst/>
                <a:latin typeface="Times New Roman" panose="02020603050405020304" pitchFamily="18" charset="0"/>
                <a:cs typeface="Times New Roman" panose="02020603050405020304" pitchFamily="18" charset="0"/>
              </a:rPr>
              <a:t>2, j</a:t>
            </a:r>
            <a:r>
              <a:rPr lang="en-US" sz="2000" b="1" i="0" dirty="0">
                <a:solidFill>
                  <a:srgbClr val="273239"/>
                </a:solidFill>
                <a:effectLst/>
                <a:latin typeface="Times New Roman" panose="02020603050405020304" pitchFamily="18" charset="0"/>
                <a:cs typeface="Times New Roman" panose="02020603050405020304" pitchFamily="18" charset="0"/>
              </a:rPr>
              <a:t> + a</a:t>
            </a:r>
            <a:r>
              <a:rPr lang="en-US" sz="2000" b="1" i="0" baseline="-25000" dirty="0">
                <a:solidFill>
                  <a:srgbClr val="273239"/>
                </a:solidFill>
                <a:effectLst/>
                <a:latin typeface="Times New Roman" panose="02020603050405020304" pitchFamily="18" charset="0"/>
                <a:cs typeface="Times New Roman" panose="02020603050405020304" pitchFamily="18" charset="0"/>
              </a:rPr>
              <a:t>1, j</a:t>
            </a:r>
            <a:endParaRPr lang="en-US" sz="2000" b="1" i="0" dirty="0">
              <a:solidFill>
                <a:srgbClr val="273239"/>
              </a:solidFill>
              <a:effectLst/>
              <a:latin typeface="Times New Roman" panose="02020603050405020304" pitchFamily="18" charset="0"/>
              <a:cs typeface="Times New Roman" panose="02020603050405020304" pitchFamily="18" charset="0"/>
            </a:endParaRPr>
          </a:p>
          <a:p>
            <a:pPr algn="l" fontAlgn="base"/>
            <a:endParaRPr lang="en-US" sz="20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000" b="0" i="0" dirty="0">
                <a:solidFill>
                  <a:srgbClr val="273239"/>
                </a:solidFill>
                <a:effectLst/>
                <a:latin typeface="Times New Roman" panose="02020603050405020304" pitchFamily="18" charset="0"/>
                <a:cs typeface="Times New Roman" panose="02020603050405020304" pitchFamily="18" charset="0"/>
              </a:rPr>
              <a:t>The minimum time T1(j) is given by the minimum of the two obtained in cases #1 and #2. </a:t>
            </a:r>
            <a:br>
              <a:rPr lang="en-US" sz="2000" b="0" i="0" dirty="0">
                <a:solidFill>
                  <a:srgbClr val="273239"/>
                </a:solidFill>
                <a:effectLst/>
                <a:latin typeface="Times New Roman" panose="02020603050405020304" pitchFamily="18" charset="0"/>
                <a:cs typeface="Times New Roman" panose="02020603050405020304" pitchFamily="18" charset="0"/>
              </a:rPr>
            </a:br>
            <a:r>
              <a:rPr lang="en-US" sz="2000" b="1" i="0" dirty="0">
                <a:solidFill>
                  <a:srgbClr val="273239"/>
                </a:solidFill>
                <a:effectLst/>
                <a:latin typeface="Times New Roman" panose="02020603050405020304" pitchFamily="18" charset="0"/>
                <a:cs typeface="Times New Roman" panose="02020603050405020304" pitchFamily="18" charset="0"/>
              </a:rPr>
              <a:t>T1(j) = min((T1(j-1) + a</a:t>
            </a:r>
            <a:r>
              <a:rPr lang="en-US" sz="2000" b="1" i="0" baseline="-25000" dirty="0">
                <a:solidFill>
                  <a:srgbClr val="273239"/>
                </a:solidFill>
                <a:effectLst/>
                <a:latin typeface="Times New Roman" panose="02020603050405020304" pitchFamily="18" charset="0"/>
                <a:cs typeface="Times New Roman" panose="02020603050405020304" pitchFamily="18" charset="0"/>
              </a:rPr>
              <a:t>1, j</a:t>
            </a:r>
            <a:r>
              <a:rPr lang="en-US" sz="2000" b="1" i="0" dirty="0">
                <a:solidFill>
                  <a:srgbClr val="273239"/>
                </a:solidFill>
                <a:effectLst/>
                <a:latin typeface="Times New Roman" panose="02020603050405020304" pitchFamily="18" charset="0"/>
                <a:cs typeface="Times New Roman" panose="02020603050405020304" pitchFamily="18" charset="0"/>
              </a:rPr>
              <a:t>), (T2(j-1) + t</a:t>
            </a:r>
            <a:r>
              <a:rPr lang="en-US" sz="2000" b="1" i="0" baseline="-25000" dirty="0">
                <a:solidFill>
                  <a:srgbClr val="273239"/>
                </a:solidFill>
                <a:effectLst/>
                <a:latin typeface="Times New Roman" panose="02020603050405020304" pitchFamily="18" charset="0"/>
                <a:cs typeface="Times New Roman" panose="02020603050405020304" pitchFamily="18" charset="0"/>
              </a:rPr>
              <a:t>2, j</a:t>
            </a:r>
            <a:r>
              <a:rPr lang="en-US" sz="2000" b="1" i="0" dirty="0">
                <a:solidFill>
                  <a:srgbClr val="273239"/>
                </a:solidFill>
                <a:effectLst/>
                <a:latin typeface="Times New Roman" panose="02020603050405020304" pitchFamily="18" charset="0"/>
                <a:cs typeface="Times New Roman" panose="02020603050405020304" pitchFamily="18" charset="0"/>
              </a:rPr>
              <a:t> + a</a:t>
            </a:r>
            <a:r>
              <a:rPr lang="en-US" sz="2000" b="1" i="0" baseline="-25000" dirty="0">
                <a:solidFill>
                  <a:srgbClr val="273239"/>
                </a:solidFill>
                <a:effectLst/>
                <a:latin typeface="Times New Roman" panose="02020603050405020304" pitchFamily="18" charset="0"/>
                <a:cs typeface="Times New Roman" panose="02020603050405020304" pitchFamily="18" charset="0"/>
              </a:rPr>
              <a:t>1, j</a:t>
            </a:r>
            <a:r>
              <a:rPr lang="en-US" sz="2000" b="1" i="0" dirty="0">
                <a:solidFill>
                  <a:srgbClr val="273239"/>
                </a:solidFill>
                <a:effectLst/>
                <a:latin typeface="Times New Roman" panose="02020603050405020304" pitchFamily="18" charset="0"/>
                <a:cs typeface="Times New Roman" panose="02020603050405020304" pitchFamily="18" charset="0"/>
              </a:rPr>
              <a:t>)) </a:t>
            </a:r>
          </a:p>
          <a:p>
            <a:pPr algn="l" fontAlgn="base"/>
            <a:r>
              <a:rPr lang="en-US" sz="2000" b="0" i="0" dirty="0">
                <a:solidFill>
                  <a:srgbClr val="273239"/>
                </a:solidFill>
                <a:effectLst/>
                <a:latin typeface="Times New Roman" panose="02020603050405020304" pitchFamily="18" charset="0"/>
                <a:cs typeface="Times New Roman" panose="02020603050405020304" pitchFamily="18" charset="0"/>
              </a:rPr>
              <a:t>Similarly, the minimum time to reach station S2, j is given by: </a:t>
            </a:r>
            <a:br>
              <a:rPr lang="en-US" sz="2000" b="0" i="0" dirty="0">
                <a:solidFill>
                  <a:srgbClr val="273239"/>
                </a:solidFill>
                <a:effectLst/>
                <a:latin typeface="Times New Roman" panose="02020603050405020304" pitchFamily="18" charset="0"/>
                <a:cs typeface="Times New Roman" panose="02020603050405020304" pitchFamily="18" charset="0"/>
              </a:rPr>
            </a:br>
            <a:r>
              <a:rPr lang="en-US" sz="2000" b="1" i="0" dirty="0">
                <a:solidFill>
                  <a:srgbClr val="273239"/>
                </a:solidFill>
                <a:effectLst/>
                <a:latin typeface="Times New Roman" panose="02020603050405020304" pitchFamily="18" charset="0"/>
                <a:cs typeface="Times New Roman" panose="02020603050405020304" pitchFamily="18" charset="0"/>
              </a:rPr>
              <a:t>T2(j) = min((T2(j-1) + a</a:t>
            </a:r>
            <a:r>
              <a:rPr lang="en-US" sz="2000" b="1" i="0" baseline="-25000" dirty="0">
                <a:solidFill>
                  <a:srgbClr val="273239"/>
                </a:solidFill>
                <a:effectLst/>
                <a:latin typeface="Times New Roman" panose="02020603050405020304" pitchFamily="18" charset="0"/>
                <a:cs typeface="Times New Roman" panose="02020603050405020304" pitchFamily="18" charset="0"/>
              </a:rPr>
              <a:t>2, j</a:t>
            </a:r>
            <a:r>
              <a:rPr lang="en-US" sz="2000" b="1" i="0" dirty="0">
                <a:solidFill>
                  <a:srgbClr val="273239"/>
                </a:solidFill>
                <a:effectLst/>
                <a:latin typeface="Times New Roman" panose="02020603050405020304" pitchFamily="18" charset="0"/>
                <a:cs typeface="Times New Roman" panose="02020603050405020304" pitchFamily="18" charset="0"/>
              </a:rPr>
              <a:t>), (T1(j-1) + t</a:t>
            </a:r>
            <a:r>
              <a:rPr lang="en-US" sz="2000" b="1" i="0" baseline="-25000" dirty="0">
                <a:solidFill>
                  <a:srgbClr val="273239"/>
                </a:solidFill>
                <a:effectLst/>
                <a:latin typeface="Times New Roman" panose="02020603050405020304" pitchFamily="18" charset="0"/>
                <a:cs typeface="Times New Roman" panose="02020603050405020304" pitchFamily="18" charset="0"/>
              </a:rPr>
              <a:t>1, j</a:t>
            </a:r>
            <a:r>
              <a:rPr lang="en-US" sz="2000" b="1" i="0" dirty="0">
                <a:solidFill>
                  <a:srgbClr val="273239"/>
                </a:solidFill>
                <a:effectLst/>
                <a:latin typeface="Times New Roman" panose="02020603050405020304" pitchFamily="18" charset="0"/>
                <a:cs typeface="Times New Roman" panose="02020603050405020304" pitchFamily="18" charset="0"/>
              </a:rPr>
              <a:t> + a</a:t>
            </a:r>
            <a:r>
              <a:rPr lang="en-US" sz="2000" b="1" i="0" baseline="-25000" dirty="0">
                <a:solidFill>
                  <a:srgbClr val="273239"/>
                </a:solidFill>
                <a:effectLst/>
                <a:latin typeface="Times New Roman" panose="02020603050405020304" pitchFamily="18" charset="0"/>
                <a:cs typeface="Times New Roman" panose="02020603050405020304" pitchFamily="18" charset="0"/>
              </a:rPr>
              <a:t>2, j</a:t>
            </a:r>
            <a:r>
              <a:rPr lang="en-US" sz="2000" b="1" i="0" dirty="0">
                <a:solidFill>
                  <a:srgbClr val="273239"/>
                </a:solidFill>
                <a:effectLst/>
                <a:latin typeface="Times New Roman" panose="02020603050405020304" pitchFamily="18" charset="0"/>
                <a:cs typeface="Times New Roman" panose="02020603050405020304" pitchFamily="18" charset="0"/>
              </a:rPr>
              <a:t>))</a:t>
            </a:r>
          </a:p>
          <a:p>
            <a:pPr algn="l" fontAlgn="base"/>
            <a:r>
              <a:rPr lang="en-US" sz="2000" b="0" i="0" dirty="0">
                <a:solidFill>
                  <a:srgbClr val="273239"/>
                </a:solidFill>
                <a:effectLst/>
                <a:latin typeface="Times New Roman" panose="02020603050405020304" pitchFamily="18" charset="0"/>
                <a:cs typeface="Times New Roman" panose="02020603050405020304" pitchFamily="18" charset="0"/>
              </a:rPr>
              <a:t>The </a:t>
            </a:r>
            <a:r>
              <a:rPr lang="en-US" sz="2000" b="0" i="0" dirty="0">
                <a:solidFill>
                  <a:srgbClr val="273239"/>
                </a:solidFill>
                <a:effectLst/>
                <a:highlight>
                  <a:srgbClr val="FFFF00"/>
                </a:highlight>
                <a:latin typeface="Times New Roman" panose="02020603050405020304" pitchFamily="18" charset="0"/>
                <a:cs typeface="Times New Roman" panose="02020603050405020304" pitchFamily="18" charset="0"/>
              </a:rPr>
              <a:t>total minimum time taken by the car chassis to come out of the factory </a:t>
            </a:r>
            <a:r>
              <a:rPr lang="en-US" sz="2000" b="0" i="0" dirty="0">
                <a:solidFill>
                  <a:srgbClr val="273239"/>
                </a:solidFill>
                <a:effectLst/>
                <a:latin typeface="Times New Roman" panose="02020603050405020304" pitchFamily="18" charset="0"/>
                <a:cs typeface="Times New Roman" panose="02020603050405020304" pitchFamily="18" charset="0"/>
              </a:rPr>
              <a:t>is given by: </a:t>
            </a:r>
            <a:br>
              <a:rPr lang="en-US" sz="2000" b="0" i="0" dirty="0">
                <a:solidFill>
                  <a:srgbClr val="273239"/>
                </a:solidFill>
                <a:effectLst/>
                <a:latin typeface="Times New Roman" panose="02020603050405020304" pitchFamily="18" charset="0"/>
                <a:cs typeface="Times New Roman" panose="02020603050405020304" pitchFamily="18" charset="0"/>
              </a:rPr>
            </a:br>
            <a:r>
              <a:rPr lang="en-US" sz="2000" b="0" i="0" dirty="0" err="1">
                <a:solidFill>
                  <a:srgbClr val="273239"/>
                </a:solidFill>
                <a:effectLst/>
                <a:latin typeface="Times New Roman" panose="02020603050405020304" pitchFamily="18" charset="0"/>
                <a:cs typeface="Times New Roman" panose="02020603050405020304" pitchFamily="18" charset="0"/>
              </a:rPr>
              <a:t>Tmin</a:t>
            </a:r>
            <a:r>
              <a:rPr lang="en-US" sz="2000" b="0" i="0" dirty="0">
                <a:solidFill>
                  <a:srgbClr val="273239"/>
                </a:solidFill>
                <a:effectLst/>
                <a:latin typeface="Times New Roman" panose="02020603050405020304" pitchFamily="18" charset="0"/>
                <a:cs typeface="Times New Roman" panose="02020603050405020304" pitchFamily="18" charset="0"/>
              </a:rPr>
              <a:t> = min(Time taken to leave station </a:t>
            </a:r>
            <a:r>
              <a:rPr lang="en-US" sz="2000" b="0" i="0" dirty="0" err="1">
                <a:solidFill>
                  <a:srgbClr val="273239"/>
                </a:solidFill>
                <a:effectLst/>
                <a:latin typeface="Times New Roman" panose="02020603050405020304" pitchFamily="18" charset="0"/>
                <a:cs typeface="Times New Roman" panose="02020603050405020304" pitchFamily="18" charset="0"/>
              </a:rPr>
              <a:t>S</a:t>
            </a:r>
            <a:r>
              <a:rPr lang="en-US" sz="2000" b="0" i="0" baseline="-25000" dirty="0" err="1">
                <a:solidFill>
                  <a:srgbClr val="273239"/>
                </a:solidFill>
                <a:effectLst/>
                <a:latin typeface="Times New Roman" panose="02020603050405020304" pitchFamily="18" charset="0"/>
                <a:cs typeface="Times New Roman" panose="02020603050405020304" pitchFamily="18" charset="0"/>
              </a:rPr>
              <a:t>i,n</a:t>
            </a:r>
            <a:r>
              <a:rPr lang="en-US" sz="2000" b="0" i="0" dirty="0">
                <a:solidFill>
                  <a:srgbClr val="273239"/>
                </a:solidFill>
                <a:effectLst/>
                <a:latin typeface="Times New Roman" panose="02020603050405020304" pitchFamily="18" charset="0"/>
                <a:cs typeface="Times New Roman" panose="02020603050405020304" pitchFamily="18" charset="0"/>
              </a:rPr>
              <a:t> + Time taken to exit the car factory) </a:t>
            </a:r>
            <a:br>
              <a:rPr lang="en-US" sz="2000" b="0" i="0" dirty="0">
                <a:solidFill>
                  <a:srgbClr val="273239"/>
                </a:solidFill>
                <a:effectLst/>
                <a:latin typeface="Times New Roman" panose="02020603050405020304" pitchFamily="18" charset="0"/>
                <a:cs typeface="Times New Roman" panose="02020603050405020304" pitchFamily="18" charset="0"/>
              </a:rPr>
            </a:br>
            <a:r>
              <a:rPr lang="en-US" sz="2000" b="1" i="0" dirty="0" err="1">
                <a:solidFill>
                  <a:srgbClr val="273239"/>
                </a:solidFill>
                <a:effectLst/>
                <a:latin typeface="Times New Roman" panose="02020603050405020304" pitchFamily="18" charset="0"/>
                <a:cs typeface="Times New Roman" panose="02020603050405020304" pitchFamily="18" charset="0"/>
              </a:rPr>
              <a:t>Tmin</a:t>
            </a:r>
            <a:r>
              <a:rPr lang="en-US" sz="2000" b="1" i="0" dirty="0">
                <a:solidFill>
                  <a:srgbClr val="273239"/>
                </a:solidFill>
                <a:effectLst/>
                <a:latin typeface="Times New Roman" panose="02020603050405020304" pitchFamily="18" charset="0"/>
                <a:cs typeface="Times New Roman" panose="02020603050405020304" pitchFamily="18" charset="0"/>
              </a:rPr>
              <a:t> = min(T1(n) + x</a:t>
            </a:r>
            <a:r>
              <a:rPr lang="en-US" sz="2000" b="1" i="0" baseline="-25000" dirty="0">
                <a:solidFill>
                  <a:srgbClr val="273239"/>
                </a:solidFill>
                <a:effectLst/>
                <a:latin typeface="Times New Roman" panose="02020603050405020304" pitchFamily="18" charset="0"/>
                <a:cs typeface="Times New Roman" panose="02020603050405020304" pitchFamily="18" charset="0"/>
              </a:rPr>
              <a:t>1</a:t>
            </a:r>
            <a:r>
              <a:rPr lang="en-US" sz="2000" b="1" i="0" dirty="0">
                <a:solidFill>
                  <a:srgbClr val="273239"/>
                </a:solidFill>
                <a:effectLst/>
                <a:latin typeface="Times New Roman" panose="02020603050405020304" pitchFamily="18" charset="0"/>
                <a:cs typeface="Times New Roman" panose="02020603050405020304" pitchFamily="18" charset="0"/>
              </a:rPr>
              <a:t>, T2(n) + x</a:t>
            </a:r>
            <a:r>
              <a:rPr lang="en-US" sz="2000" b="1" i="0" baseline="-25000" dirty="0">
                <a:solidFill>
                  <a:srgbClr val="273239"/>
                </a:solidFill>
                <a:effectLst/>
                <a:latin typeface="Times New Roman" panose="02020603050405020304" pitchFamily="18" charset="0"/>
                <a:cs typeface="Times New Roman" panose="02020603050405020304" pitchFamily="18" charset="0"/>
              </a:rPr>
              <a:t>2</a:t>
            </a:r>
            <a:r>
              <a:rPr lang="en-US" sz="2000" b="1" i="0" dirty="0">
                <a:solidFill>
                  <a:srgbClr val="273239"/>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71994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1661</TotalTime>
  <Words>1498</Words>
  <Application>Microsoft Macintosh PowerPoint</Application>
  <PresentationFormat>Widescreen</PresentationFormat>
  <Paragraphs>64</Paragraphs>
  <Slides>25</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4" baseType="lpstr">
      <vt:lpstr>Arial</vt:lpstr>
      <vt:lpstr>Arial</vt:lpstr>
      <vt:lpstr>Calibri</vt:lpstr>
      <vt:lpstr>Calibri Light</vt:lpstr>
      <vt:lpstr>Cambria Math</vt:lpstr>
      <vt:lpstr>Times New Roman</vt:lpstr>
      <vt:lpstr>urw-din</vt:lpstr>
      <vt:lpstr>Office Theme</vt:lpstr>
      <vt:lpstr>Bitmap Image</vt:lpstr>
      <vt:lpstr>Design and analysis of algorithms (CSE 2012) </vt:lpstr>
      <vt:lpstr>Dynamic programming</vt:lpstr>
      <vt:lpstr>Dynamic programming and memoization</vt:lpstr>
      <vt:lpstr>-Contd</vt:lpstr>
      <vt:lpstr>Longest common subsequence (LCS) problem</vt:lpstr>
      <vt:lpstr>1. Characterizing Longest common sequence -Optimal sub structure of an LCS</vt:lpstr>
      <vt:lpstr>2. A recursive solution</vt:lpstr>
      <vt:lpstr>3. Computing the  length of an LCS</vt:lpstr>
      <vt:lpstr>4. Construct  an LCS</vt:lpstr>
      <vt:lpstr>Runtime complexity of LCS problem</vt:lpstr>
      <vt:lpstr>Matrix chain multiplication</vt:lpstr>
      <vt:lpstr>Counting the number of paranthesizations</vt:lpstr>
      <vt:lpstr>A recursive solution</vt:lpstr>
      <vt:lpstr>Algorithms</vt:lpstr>
      <vt:lpstr>Tracing the algorithms for matrix chain multiplication</vt:lpstr>
      <vt:lpstr>Runtime complexity of matrix chain multiplication</vt:lpstr>
      <vt:lpstr>Maximum subarray –divide and conquer</vt:lpstr>
      <vt:lpstr>-Contd</vt:lpstr>
      <vt:lpstr>-Contd</vt:lpstr>
      <vt:lpstr>-Contd</vt:lpstr>
      <vt:lpstr>PowerPoint Presentation</vt:lpstr>
      <vt:lpstr>Assembly Line Scheduling</vt:lpstr>
      <vt:lpstr>-Contd</vt:lpstr>
      <vt:lpstr>-Contd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S.Jenicka</dc:creator>
  <cp:lastModifiedBy>Apoorva Karnwal</cp:lastModifiedBy>
  <cp:revision>23</cp:revision>
  <dcterms:created xsi:type="dcterms:W3CDTF">2021-08-20T10:10:05Z</dcterms:created>
  <dcterms:modified xsi:type="dcterms:W3CDTF">2024-02-10T13:56:42Z</dcterms:modified>
</cp:coreProperties>
</file>