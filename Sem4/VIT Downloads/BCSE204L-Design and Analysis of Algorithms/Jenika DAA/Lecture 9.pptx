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82" r:id="rId3"/>
    <p:sldId id="375" r:id="rId4"/>
    <p:sldId id="387" r:id="rId5"/>
    <p:sldId id="377" r:id="rId6"/>
    <p:sldId id="381" r:id="rId7"/>
    <p:sldId id="378" r:id="rId8"/>
    <p:sldId id="388" r:id="rId9"/>
    <p:sldId id="389" r:id="rId10"/>
    <p:sldId id="379" r:id="rId11"/>
    <p:sldId id="380" r:id="rId12"/>
    <p:sldId id="394" r:id="rId13"/>
    <p:sldId id="390" r:id="rId14"/>
    <p:sldId id="391" r:id="rId15"/>
    <p:sldId id="395" r:id="rId16"/>
    <p:sldId id="392" r:id="rId17"/>
    <p:sldId id="393" r:id="rId18"/>
    <p:sldId id="39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3" autoAdjust="0"/>
    <p:restoredTop sz="94660"/>
  </p:normalViewPr>
  <p:slideViewPr>
    <p:cSldViewPr snapToGrid="0">
      <p:cViewPr varScale="1">
        <p:scale>
          <a:sx n="122" d="100"/>
          <a:sy n="122" d="100"/>
        </p:scale>
        <p:origin x="240" y="3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F19E9-3319-429B-B232-7175B7EE19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24E9A52-BD10-4DB1-AFAE-66EDAFAB34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992EDDC-DBFB-4C82-A810-A617B845C964}"/>
              </a:ext>
            </a:extLst>
          </p:cNvPr>
          <p:cNvSpPr>
            <a:spLocks noGrp="1"/>
          </p:cNvSpPr>
          <p:nvPr>
            <p:ph type="dt" sz="half" idx="10"/>
          </p:nvPr>
        </p:nvSpPr>
        <p:spPr/>
        <p:txBody>
          <a:bodyPr/>
          <a:lstStyle/>
          <a:p>
            <a:fld id="{E40B5835-7C29-4BBD-A625-21D81D9AFA35}" type="datetimeFigureOut">
              <a:rPr lang="en-IN" smtClean="0"/>
              <a:t>09/03/24</a:t>
            </a:fld>
            <a:endParaRPr lang="en-IN"/>
          </a:p>
        </p:txBody>
      </p:sp>
      <p:sp>
        <p:nvSpPr>
          <p:cNvPr id="5" name="Footer Placeholder 4">
            <a:extLst>
              <a:ext uri="{FF2B5EF4-FFF2-40B4-BE49-F238E27FC236}">
                <a16:creationId xmlns:a16="http://schemas.microsoft.com/office/drawing/2014/main" id="{DF344A31-F5C0-42C9-A712-FAA1F3CEBF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0CED68-3547-4446-88D0-4D27EE4EB14A}"/>
              </a:ext>
            </a:extLst>
          </p:cNvPr>
          <p:cNvSpPr>
            <a:spLocks noGrp="1"/>
          </p:cNvSpPr>
          <p:nvPr>
            <p:ph type="sldNum" sz="quarter" idx="12"/>
          </p:nvPr>
        </p:nvSpPr>
        <p:spPr/>
        <p:txBody>
          <a:bodyPr/>
          <a:lstStyle/>
          <a:p>
            <a:fld id="{17FF1531-A3ED-4721-9407-DE767B28B6DD}" type="slidenum">
              <a:rPr lang="en-IN" smtClean="0"/>
              <a:t>‹#›</a:t>
            </a:fld>
            <a:endParaRPr lang="en-IN"/>
          </a:p>
        </p:txBody>
      </p:sp>
    </p:spTree>
    <p:extLst>
      <p:ext uri="{BB962C8B-B14F-4D97-AF65-F5344CB8AC3E}">
        <p14:creationId xmlns:p14="http://schemas.microsoft.com/office/powerpoint/2010/main" val="1455642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9A84D-701A-47C4-8B6A-C91A8822AC2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106D1E-15F8-4ABF-B9A3-F2EE6DAD4A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51366B-42BD-430E-B6AC-FEE5F56D4737}"/>
              </a:ext>
            </a:extLst>
          </p:cNvPr>
          <p:cNvSpPr>
            <a:spLocks noGrp="1"/>
          </p:cNvSpPr>
          <p:nvPr>
            <p:ph type="dt" sz="half" idx="10"/>
          </p:nvPr>
        </p:nvSpPr>
        <p:spPr/>
        <p:txBody>
          <a:bodyPr/>
          <a:lstStyle/>
          <a:p>
            <a:fld id="{E40B5835-7C29-4BBD-A625-21D81D9AFA35}" type="datetimeFigureOut">
              <a:rPr lang="en-IN" smtClean="0"/>
              <a:t>09/03/24</a:t>
            </a:fld>
            <a:endParaRPr lang="en-IN"/>
          </a:p>
        </p:txBody>
      </p:sp>
      <p:sp>
        <p:nvSpPr>
          <p:cNvPr id="5" name="Footer Placeholder 4">
            <a:extLst>
              <a:ext uri="{FF2B5EF4-FFF2-40B4-BE49-F238E27FC236}">
                <a16:creationId xmlns:a16="http://schemas.microsoft.com/office/drawing/2014/main" id="{55BD920E-9A0F-4BC5-A1EF-3E79DA317C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9E6CDB-D160-4976-B246-8B591F983D91}"/>
              </a:ext>
            </a:extLst>
          </p:cNvPr>
          <p:cNvSpPr>
            <a:spLocks noGrp="1"/>
          </p:cNvSpPr>
          <p:nvPr>
            <p:ph type="sldNum" sz="quarter" idx="12"/>
          </p:nvPr>
        </p:nvSpPr>
        <p:spPr/>
        <p:txBody>
          <a:bodyPr/>
          <a:lstStyle/>
          <a:p>
            <a:fld id="{17FF1531-A3ED-4721-9407-DE767B28B6DD}" type="slidenum">
              <a:rPr lang="en-IN" smtClean="0"/>
              <a:t>‹#›</a:t>
            </a:fld>
            <a:endParaRPr lang="en-IN"/>
          </a:p>
        </p:txBody>
      </p:sp>
    </p:spTree>
    <p:extLst>
      <p:ext uri="{BB962C8B-B14F-4D97-AF65-F5344CB8AC3E}">
        <p14:creationId xmlns:p14="http://schemas.microsoft.com/office/powerpoint/2010/main" val="1331376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367E4-0AB4-47C5-A936-1066445AF4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1688FC1-8916-46AB-ADC2-A35E8AEDD7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C63929-C47B-42B8-85B1-B078D8D4D09C}"/>
              </a:ext>
            </a:extLst>
          </p:cNvPr>
          <p:cNvSpPr>
            <a:spLocks noGrp="1"/>
          </p:cNvSpPr>
          <p:nvPr>
            <p:ph type="dt" sz="half" idx="10"/>
          </p:nvPr>
        </p:nvSpPr>
        <p:spPr/>
        <p:txBody>
          <a:bodyPr/>
          <a:lstStyle/>
          <a:p>
            <a:fld id="{E40B5835-7C29-4BBD-A625-21D81D9AFA35}" type="datetimeFigureOut">
              <a:rPr lang="en-IN" smtClean="0"/>
              <a:t>09/03/24</a:t>
            </a:fld>
            <a:endParaRPr lang="en-IN"/>
          </a:p>
        </p:txBody>
      </p:sp>
      <p:sp>
        <p:nvSpPr>
          <p:cNvPr id="5" name="Footer Placeholder 4">
            <a:extLst>
              <a:ext uri="{FF2B5EF4-FFF2-40B4-BE49-F238E27FC236}">
                <a16:creationId xmlns:a16="http://schemas.microsoft.com/office/drawing/2014/main" id="{C75389DF-D04F-4B48-B0AC-78A293DDE3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A586D8-0CF8-45C7-BD2C-D64E7FB523BB}"/>
              </a:ext>
            </a:extLst>
          </p:cNvPr>
          <p:cNvSpPr>
            <a:spLocks noGrp="1"/>
          </p:cNvSpPr>
          <p:nvPr>
            <p:ph type="sldNum" sz="quarter" idx="12"/>
          </p:nvPr>
        </p:nvSpPr>
        <p:spPr/>
        <p:txBody>
          <a:bodyPr/>
          <a:lstStyle/>
          <a:p>
            <a:fld id="{17FF1531-A3ED-4721-9407-DE767B28B6DD}" type="slidenum">
              <a:rPr lang="en-IN" smtClean="0"/>
              <a:t>‹#›</a:t>
            </a:fld>
            <a:endParaRPr lang="en-IN"/>
          </a:p>
        </p:txBody>
      </p:sp>
    </p:spTree>
    <p:extLst>
      <p:ext uri="{BB962C8B-B14F-4D97-AF65-F5344CB8AC3E}">
        <p14:creationId xmlns:p14="http://schemas.microsoft.com/office/powerpoint/2010/main" val="2286107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2F079-54D3-4A28-9936-0B5E426FA87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89BFC44-71FA-4F89-A653-A38D6F052D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0793CE0-D346-42D2-9978-619D79FD39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3E466C2-B667-415C-9341-F0CD33F17C24}"/>
              </a:ext>
            </a:extLst>
          </p:cNvPr>
          <p:cNvSpPr>
            <a:spLocks noGrp="1"/>
          </p:cNvSpPr>
          <p:nvPr>
            <p:ph type="dt" sz="half" idx="10"/>
          </p:nvPr>
        </p:nvSpPr>
        <p:spPr/>
        <p:txBody>
          <a:bodyPr/>
          <a:lstStyle/>
          <a:p>
            <a:fld id="{E40B5835-7C29-4BBD-A625-21D81D9AFA35}" type="datetimeFigureOut">
              <a:rPr lang="en-IN" smtClean="0"/>
              <a:t>09/03/24</a:t>
            </a:fld>
            <a:endParaRPr lang="en-IN"/>
          </a:p>
        </p:txBody>
      </p:sp>
      <p:sp>
        <p:nvSpPr>
          <p:cNvPr id="6" name="Footer Placeholder 5">
            <a:extLst>
              <a:ext uri="{FF2B5EF4-FFF2-40B4-BE49-F238E27FC236}">
                <a16:creationId xmlns:a16="http://schemas.microsoft.com/office/drawing/2014/main" id="{3D556129-532D-4A80-84C9-DB7E36CE7C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D16A8F-3789-4AC4-AE22-57AF42C185DF}"/>
              </a:ext>
            </a:extLst>
          </p:cNvPr>
          <p:cNvSpPr>
            <a:spLocks noGrp="1"/>
          </p:cNvSpPr>
          <p:nvPr>
            <p:ph type="sldNum" sz="quarter" idx="12"/>
          </p:nvPr>
        </p:nvSpPr>
        <p:spPr/>
        <p:txBody>
          <a:bodyPr/>
          <a:lstStyle/>
          <a:p>
            <a:fld id="{17FF1531-A3ED-4721-9407-DE767B28B6DD}" type="slidenum">
              <a:rPr lang="en-IN" smtClean="0"/>
              <a:t>‹#›</a:t>
            </a:fld>
            <a:endParaRPr lang="en-IN"/>
          </a:p>
        </p:txBody>
      </p:sp>
    </p:spTree>
    <p:extLst>
      <p:ext uri="{BB962C8B-B14F-4D97-AF65-F5344CB8AC3E}">
        <p14:creationId xmlns:p14="http://schemas.microsoft.com/office/powerpoint/2010/main" val="4231839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35E60-201A-42C0-A1B4-4221F1715FF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222A40-016B-490B-BE4B-B6156D9644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D3BEA1-F83D-4640-865F-B29D0FEB84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9D4816C-E870-4F7B-AC73-1AC5D498D5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4C44CE-5A90-4716-BD99-863F27B42D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13CE70D-1F5F-4431-AA9D-413538B4252C}"/>
              </a:ext>
            </a:extLst>
          </p:cNvPr>
          <p:cNvSpPr>
            <a:spLocks noGrp="1"/>
          </p:cNvSpPr>
          <p:nvPr>
            <p:ph type="dt" sz="half" idx="10"/>
          </p:nvPr>
        </p:nvSpPr>
        <p:spPr/>
        <p:txBody>
          <a:bodyPr/>
          <a:lstStyle/>
          <a:p>
            <a:fld id="{E40B5835-7C29-4BBD-A625-21D81D9AFA35}" type="datetimeFigureOut">
              <a:rPr lang="en-IN" smtClean="0"/>
              <a:t>09/03/24</a:t>
            </a:fld>
            <a:endParaRPr lang="en-IN"/>
          </a:p>
        </p:txBody>
      </p:sp>
      <p:sp>
        <p:nvSpPr>
          <p:cNvPr id="8" name="Footer Placeholder 7">
            <a:extLst>
              <a:ext uri="{FF2B5EF4-FFF2-40B4-BE49-F238E27FC236}">
                <a16:creationId xmlns:a16="http://schemas.microsoft.com/office/drawing/2014/main" id="{90A5B956-17BF-4EA4-94BD-05624A3724A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D49369F-00D1-4CF7-9795-63BBB4B6DEA0}"/>
              </a:ext>
            </a:extLst>
          </p:cNvPr>
          <p:cNvSpPr>
            <a:spLocks noGrp="1"/>
          </p:cNvSpPr>
          <p:nvPr>
            <p:ph type="sldNum" sz="quarter" idx="12"/>
          </p:nvPr>
        </p:nvSpPr>
        <p:spPr/>
        <p:txBody>
          <a:bodyPr/>
          <a:lstStyle/>
          <a:p>
            <a:fld id="{17FF1531-A3ED-4721-9407-DE767B28B6DD}" type="slidenum">
              <a:rPr lang="en-IN" smtClean="0"/>
              <a:t>‹#›</a:t>
            </a:fld>
            <a:endParaRPr lang="en-IN"/>
          </a:p>
        </p:txBody>
      </p:sp>
    </p:spTree>
    <p:extLst>
      <p:ext uri="{BB962C8B-B14F-4D97-AF65-F5344CB8AC3E}">
        <p14:creationId xmlns:p14="http://schemas.microsoft.com/office/powerpoint/2010/main" val="2841643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4452F-046F-4DFA-86C1-D2709D73B67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F83A311-4351-40BE-94A6-A0316379FFE7}"/>
              </a:ext>
            </a:extLst>
          </p:cNvPr>
          <p:cNvSpPr>
            <a:spLocks noGrp="1"/>
          </p:cNvSpPr>
          <p:nvPr>
            <p:ph type="dt" sz="half" idx="10"/>
          </p:nvPr>
        </p:nvSpPr>
        <p:spPr/>
        <p:txBody>
          <a:bodyPr/>
          <a:lstStyle/>
          <a:p>
            <a:fld id="{E40B5835-7C29-4BBD-A625-21D81D9AFA35}" type="datetimeFigureOut">
              <a:rPr lang="en-IN" smtClean="0"/>
              <a:t>09/03/24</a:t>
            </a:fld>
            <a:endParaRPr lang="en-IN"/>
          </a:p>
        </p:txBody>
      </p:sp>
      <p:sp>
        <p:nvSpPr>
          <p:cNvPr id="4" name="Footer Placeholder 3">
            <a:extLst>
              <a:ext uri="{FF2B5EF4-FFF2-40B4-BE49-F238E27FC236}">
                <a16:creationId xmlns:a16="http://schemas.microsoft.com/office/drawing/2014/main" id="{69B42A33-2249-40CD-8A8E-327152448D4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91CEF10-DB91-40D7-8757-F1C629E7059C}"/>
              </a:ext>
            </a:extLst>
          </p:cNvPr>
          <p:cNvSpPr>
            <a:spLocks noGrp="1"/>
          </p:cNvSpPr>
          <p:nvPr>
            <p:ph type="sldNum" sz="quarter" idx="12"/>
          </p:nvPr>
        </p:nvSpPr>
        <p:spPr/>
        <p:txBody>
          <a:bodyPr/>
          <a:lstStyle/>
          <a:p>
            <a:fld id="{17FF1531-A3ED-4721-9407-DE767B28B6DD}" type="slidenum">
              <a:rPr lang="en-IN" smtClean="0"/>
              <a:t>‹#›</a:t>
            </a:fld>
            <a:endParaRPr lang="en-IN"/>
          </a:p>
        </p:txBody>
      </p:sp>
    </p:spTree>
    <p:extLst>
      <p:ext uri="{BB962C8B-B14F-4D97-AF65-F5344CB8AC3E}">
        <p14:creationId xmlns:p14="http://schemas.microsoft.com/office/powerpoint/2010/main" val="784397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B01CBD-2B52-4BB4-BB07-63B07A6A155D}"/>
              </a:ext>
            </a:extLst>
          </p:cNvPr>
          <p:cNvSpPr>
            <a:spLocks noGrp="1"/>
          </p:cNvSpPr>
          <p:nvPr>
            <p:ph type="dt" sz="half" idx="10"/>
          </p:nvPr>
        </p:nvSpPr>
        <p:spPr/>
        <p:txBody>
          <a:bodyPr/>
          <a:lstStyle/>
          <a:p>
            <a:fld id="{E40B5835-7C29-4BBD-A625-21D81D9AFA35}" type="datetimeFigureOut">
              <a:rPr lang="en-IN" smtClean="0"/>
              <a:t>09/03/24</a:t>
            </a:fld>
            <a:endParaRPr lang="en-IN"/>
          </a:p>
        </p:txBody>
      </p:sp>
      <p:sp>
        <p:nvSpPr>
          <p:cNvPr id="3" name="Footer Placeholder 2">
            <a:extLst>
              <a:ext uri="{FF2B5EF4-FFF2-40B4-BE49-F238E27FC236}">
                <a16:creationId xmlns:a16="http://schemas.microsoft.com/office/drawing/2014/main" id="{407DECD6-7DD0-448C-90AA-F19BC79F1D5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05596E4-F2C6-4533-9804-DDE74F8C0CA1}"/>
              </a:ext>
            </a:extLst>
          </p:cNvPr>
          <p:cNvSpPr>
            <a:spLocks noGrp="1"/>
          </p:cNvSpPr>
          <p:nvPr>
            <p:ph type="sldNum" sz="quarter" idx="12"/>
          </p:nvPr>
        </p:nvSpPr>
        <p:spPr/>
        <p:txBody>
          <a:bodyPr/>
          <a:lstStyle/>
          <a:p>
            <a:fld id="{17FF1531-A3ED-4721-9407-DE767B28B6DD}" type="slidenum">
              <a:rPr lang="en-IN" smtClean="0"/>
              <a:t>‹#›</a:t>
            </a:fld>
            <a:endParaRPr lang="en-IN"/>
          </a:p>
        </p:txBody>
      </p:sp>
    </p:spTree>
    <p:extLst>
      <p:ext uri="{BB962C8B-B14F-4D97-AF65-F5344CB8AC3E}">
        <p14:creationId xmlns:p14="http://schemas.microsoft.com/office/powerpoint/2010/main" val="2038662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A7ADE-DC6A-476B-BFD6-59B9481803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28FC2A2-AD1C-4650-AB51-EE4F6D9A1A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5EA59E8-E036-4CD1-83A4-CF80C4D180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CC1CB9-2A3A-40E3-B9A7-9B308ED222B5}"/>
              </a:ext>
            </a:extLst>
          </p:cNvPr>
          <p:cNvSpPr>
            <a:spLocks noGrp="1"/>
          </p:cNvSpPr>
          <p:nvPr>
            <p:ph type="dt" sz="half" idx="10"/>
          </p:nvPr>
        </p:nvSpPr>
        <p:spPr/>
        <p:txBody>
          <a:bodyPr/>
          <a:lstStyle/>
          <a:p>
            <a:fld id="{E40B5835-7C29-4BBD-A625-21D81D9AFA35}" type="datetimeFigureOut">
              <a:rPr lang="en-IN" smtClean="0"/>
              <a:t>09/03/24</a:t>
            </a:fld>
            <a:endParaRPr lang="en-IN"/>
          </a:p>
        </p:txBody>
      </p:sp>
      <p:sp>
        <p:nvSpPr>
          <p:cNvPr id="6" name="Footer Placeholder 5">
            <a:extLst>
              <a:ext uri="{FF2B5EF4-FFF2-40B4-BE49-F238E27FC236}">
                <a16:creationId xmlns:a16="http://schemas.microsoft.com/office/drawing/2014/main" id="{2DBF9ECD-EB35-4ACD-875E-A01AA62BE8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AF0C46D-7071-487C-A221-3C777820EBF0}"/>
              </a:ext>
            </a:extLst>
          </p:cNvPr>
          <p:cNvSpPr>
            <a:spLocks noGrp="1"/>
          </p:cNvSpPr>
          <p:nvPr>
            <p:ph type="sldNum" sz="quarter" idx="12"/>
          </p:nvPr>
        </p:nvSpPr>
        <p:spPr/>
        <p:txBody>
          <a:bodyPr/>
          <a:lstStyle/>
          <a:p>
            <a:fld id="{17FF1531-A3ED-4721-9407-DE767B28B6DD}" type="slidenum">
              <a:rPr lang="en-IN" smtClean="0"/>
              <a:t>‹#›</a:t>
            </a:fld>
            <a:endParaRPr lang="en-IN"/>
          </a:p>
        </p:txBody>
      </p:sp>
    </p:spTree>
    <p:extLst>
      <p:ext uri="{BB962C8B-B14F-4D97-AF65-F5344CB8AC3E}">
        <p14:creationId xmlns:p14="http://schemas.microsoft.com/office/powerpoint/2010/main" val="1157587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A43D1-278A-4866-A9C3-40226C858C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208BB5A-34CA-4B72-AC58-65B6EA6A77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A479578-8976-4CF4-8674-03D0B9CF91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639FE8-A41D-4E77-8DE2-F445FE24BB4E}"/>
              </a:ext>
            </a:extLst>
          </p:cNvPr>
          <p:cNvSpPr>
            <a:spLocks noGrp="1"/>
          </p:cNvSpPr>
          <p:nvPr>
            <p:ph type="dt" sz="half" idx="10"/>
          </p:nvPr>
        </p:nvSpPr>
        <p:spPr/>
        <p:txBody>
          <a:bodyPr/>
          <a:lstStyle/>
          <a:p>
            <a:fld id="{E40B5835-7C29-4BBD-A625-21D81D9AFA35}" type="datetimeFigureOut">
              <a:rPr lang="en-IN" smtClean="0"/>
              <a:t>09/03/24</a:t>
            </a:fld>
            <a:endParaRPr lang="en-IN"/>
          </a:p>
        </p:txBody>
      </p:sp>
      <p:sp>
        <p:nvSpPr>
          <p:cNvPr id="6" name="Footer Placeholder 5">
            <a:extLst>
              <a:ext uri="{FF2B5EF4-FFF2-40B4-BE49-F238E27FC236}">
                <a16:creationId xmlns:a16="http://schemas.microsoft.com/office/drawing/2014/main" id="{47C980EC-DCF2-4D02-81D1-05D1AF27E3E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67BEE5-6181-4463-ACBE-20255D36A2DC}"/>
              </a:ext>
            </a:extLst>
          </p:cNvPr>
          <p:cNvSpPr>
            <a:spLocks noGrp="1"/>
          </p:cNvSpPr>
          <p:nvPr>
            <p:ph type="sldNum" sz="quarter" idx="12"/>
          </p:nvPr>
        </p:nvSpPr>
        <p:spPr/>
        <p:txBody>
          <a:bodyPr/>
          <a:lstStyle/>
          <a:p>
            <a:fld id="{17FF1531-A3ED-4721-9407-DE767B28B6DD}" type="slidenum">
              <a:rPr lang="en-IN" smtClean="0"/>
              <a:t>‹#›</a:t>
            </a:fld>
            <a:endParaRPr lang="en-IN"/>
          </a:p>
        </p:txBody>
      </p:sp>
    </p:spTree>
    <p:extLst>
      <p:ext uri="{BB962C8B-B14F-4D97-AF65-F5344CB8AC3E}">
        <p14:creationId xmlns:p14="http://schemas.microsoft.com/office/powerpoint/2010/main" val="824503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11ED1-2763-4339-910C-EE307C19F39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0B72FF-ECF0-453E-87E7-799F9F468B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8DA600-10D9-452C-8FE0-B38DBFA34CBB}"/>
              </a:ext>
            </a:extLst>
          </p:cNvPr>
          <p:cNvSpPr>
            <a:spLocks noGrp="1"/>
          </p:cNvSpPr>
          <p:nvPr>
            <p:ph type="dt" sz="half" idx="10"/>
          </p:nvPr>
        </p:nvSpPr>
        <p:spPr/>
        <p:txBody>
          <a:bodyPr/>
          <a:lstStyle/>
          <a:p>
            <a:fld id="{E40B5835-7C29-4BBD-A625-21D81D9AFA35}" type="datetimeFigureOut">
              <a:rPr lang="en-IN" smtClean="0"/>
              <a:t>09/03/24</a:t>
            </a:fld>
            <a:endParaRPr lang="en-IN"/>
          </a:p>
        </p:txBody>
      </p:sp>
      <p:sp>
        <p:nvSpPr>
          <p:cNvPr id="5" name="Footer Placeholder 4">
            <a:extLst>
              <a:ext uri="{FF2B5EF4-FFF2-40B4-BE49-F238E27FC236}">
                <a16:creationId xmlns:a16="http://schemas.microsoft.com/office/drawing/2014/main" id="{F3F903FD-6A8B-41D6-B3C0-438F03997D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45720E-94D7-47EB-88B5-87F378480620}"/>
              </a:ext>
            </a:extLst>
          </p:cNvPr>
          <p:cNvSpPr>
            <a:spLocks noGrp="1"/>
          </p:cNvSpPr>
          <p:nvPr>
            <p:ph type="sldNum" sz="quarter" idx="12"/>
          </p:nvPr>
        </p:nvSpPr>
        <p:spPr/>
        <p:txBody>
          <a:bodyPr/>
          <a:lstStyle/>
          <a:p>
            <a:fld id="{17FF1531-A3ED-4721-9407-DE767B28B6DD}" type="slidenum">
              <a:rPr lang="en-IN" smtClean="0"/>
              <a:t>‹#›</a:t>
            </a:fld>
            <a:endParaRPr lang="en-IN"/>
          </a:p>
        </p:txBody>
      </p:sp>
    </p:spTree>
    <p:extLst>
      <p:ext uri="{BB962C8B-B14F-4D97-AF65-F5344CB8AC3E}">
        <p14:creationId xmlns:p14="http://schemas.microsoft.com/office/powerpoint/2010/main" val="4066916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FDFCFB-554D-43F1-A98D-9B42BD8385F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D476FB-3AB9-494C-A1D7-2212E2ED2C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E39721-D4F7-484F-97D7-F75C3D1F6000}"/>
              </a:ext>
            </a:extLst>
          </p:cNvPr>
          <p:cNvSpPr>
            <a:spLocks noGrp="1"/>
          </p:cNvSpPr>
          <p:nvPr>
            <p:ph type="dt" sz="half" idx="10"/>
          </p:nvPr>
        </p:nvSpPr>
        <p:spPr/>
        <p:txBody>
          <a:bodyPr/>
          <a:lstStyle/>
          <a:p>
            <a:fld id="{E40B5835-7C29-4BBD-A625-21D81D9AFA35}" type="datetimeFigureOut">
              <a:rPr lang="en-IN" smtClean="0"/>
              <a:t>09/03/24</a:t>
            </a:fld>
            <a:endParaRPr lang="en-IN"/>
          </a:p>
        </p:txBody>
      </p:sp>
      <p:sp>
        <p:nvSpPr>
          <p:cNvPr id="5" name="Footer Placeholder 4">
            <a:extLst>
              <a:ext uri="{FF2B5EF4-FFF2-40B4-BE49-F238E27FC236}">
                <a16:creationId xmlns:a16="http://schemas.microsoft.com/office/drawing/2014/main" id="{C5CE328F-C824-470A-94AF-E30154EE15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EB36AC-DD1E-4BC0-AC3C-8049668AC893}"/>
              </a:ext>
            </a:extLst>
          </p:cNvPr>
          <p:cNvSpPr>
            <a:spLocks noGrp="1"/>
          </p:cNvSpPr>
          <p:nvPr>
            <p:ph type="sldNum" sz="quarter" idx="12"/>
          </p:nvPr>
        </p:nvSpPr>
        <p:spPr/>
        <p:txBody>
          <a:bodyPr/>
          <a:lstStyle/>
          <a:p>
            <a:fld id="{17FF1531-A3ED-4721-9407-DE767B28B6DD}" type="slidenum">
              <a:rPr lang="en-IN" smtClean="0"/>
              <a:t>‹#›</a:t>
            </a:fld>
            <a:endParaRPr lang="en-IN"/>
          </a:p>
        </p:txBody>
      </p:sp>
    </p:spTree>
    <p:extLst>
      <p:ext uri="{BB962C8B-B14F-4D97-AF65-F5344CB8AC3E}">
        <p14:creationId xmlns:p14="http://schemas.microsoft.com/office/powerpoint/2010/main" val="3224074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AD70CF-5745-493B-9708-904D29978E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D6C398A-93BC-422C-A6FE-94E0A4871E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7F963D-4D03-4652-93A0-3FE5923B3D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0B5835-7C29-4BBD-A625-21D81D9AFA35}" type="datetimeFigureOut">
              <a:rPr lang="en-IN" smtClean="0"/>
              <a:t>09/03/24</a:t>
            </a:fld>
            <a:endParaRPr lang="en-IN"/>
          </a:p>
        </p:txBody>
      </p:sp>
      <p:sp>
        <p:nvSpPr>
          <p:cNvPr id="5" name="Footer Placeholder 4">
            <a:extLst>
              <a:ext uri="{FF2B5EF4-FFF2-40B4-BE49-F238E27FC236}">
                <a16:creationId xmlns:a16="http://schemas.microsoft.com/office/drawing/2014/main" id="{4C9E3676-B4E9-46E6-963E-0CA5EE97B3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DA77FA7-FC1D-4B11-82E0-7FC8B07D70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FF1531-A3ED-4721-9407-DE767B28B6DD}" type="slidenum">
              <a:rPr lang="en-IN" smtClean="0"/>
              <a:t>‹#›</a:t>
            </a:fld>
            <a:endParaRPr lang="en-IN"/>
          </a:p>
        </p:txBody>
      </p:sp>
    </p:spTree>
    <p:extLst>
      <p:ext uri="{BB962C8B-B14F-4D97-AF65-F5344CB8AC3E}">
        <p14:creationId xmlns:p14="http://schemas.microsoft.com/office/powerpoint/2010/main" val="35268429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D44DFD7-E78E-42DA-A1FE-100828ADBD14}"/>
              </a:ext>
            </a:extLst>
          </p:cNvPr>
          <p:cNvSpPr>
            <a:spLocks noGrp="1"/>
          </p:cNvSpPr>
          <p:nvPr>
            <p:ph type="ctrTitle"/>
          </p:nvPr>
        </p:nvSpPr>
        <p:spPr>
          <a:xfrm>
            <a:off x="1297517" y="1566334"/>
            <a:ext cx="7766936" cy="1646302"/>
          </a:xfrm>
        </p:spPr>
        <p:txBody>
          <a:bodyPr>
            <a:normAutofit/>
          </a:bodyPr>
          <a:lstStyle/>
          <a:p>
            <a:r>
              <a:rPr lang="en-US" sz="3100" dirty="0"/>
              <a:t>Design and analysis of algorithms (CSE 2012) </a:t>
            </a:r>
            <a:br>
              <a:rPr lang="en-US" sz="3100" dirty="0"/>
            </a:br>
            <a:endParaRPr lang="en-IN" sz="2800" dirty="0"/>
          </a:p>
        </p:txBody>
      </p:sp>
      <p:sp>
        <p:nvSpPr>
          <p:cNvPr id="5" name="Subtitle 4">
            <a:extLst>
              <a:ext uri="{FF2B5EF4-FFF2-40B4-BE49-F238E27FC236}">
                <a16:creationId xmlns:a16="http://schemas.microsoft.com/office/drawing/2014/main" id="{D718CEE2-5954-4609-826A-7625020AF266}"/>
              </a:ext>
            </a:extLst>
          </p:cNvPr>
          <p:cNvSpPr>
            <a:spLocks noGrp="1"/>
          </p:cNvSpPr>
          <p:nvPr>
            <p:ph type="subTitle" idx="1"/>
          </p:nvPr>
        </p:nvSpPr>
        <p:spPr/>
        <p:txBody>
          <a:bodyPr>
            <a:noAutofit/>
          </a:bodyPr>
          <a:lstStyle/>
          <a:p>
            <a:r>
              <a:rPr lang="en-US" sz="2400" dirty="0">
                <a:solidFill>
                  <a:schemeClr val="tx1"/>
                </a:solidFill>
              </a:rPr>
              <a:t>Prepared by</a:t>
            </a:r>
          </a:p>
          <a:p>
            <a:r>
              <a:rPr lang="en-US" sz="2400" dirty="0" err="1">
                <a:solidFill>
                  <a:schemeClr val="tx1"/>
                </a:solidFill>
              </a:rPr>
              <a:t>Dr.S.Jenicka</a:t>
            </a:r>
            <a:endParaRPr lang="en-US" sz="2400" dirty="0">
              <a:solidFill>
                <a:schemeClr val="tx1"/>
              </a:solidFill>
            </a:endParaRPr>
          </a:p>
          <a:p>
            <a:r>
              <a:rPr lang="en-US" sz="2400" dirty="0">
                <a:solidFill>
                  <a:schemeClr val="tx1"/>
                </a:solidFill>
              </a:rPr>
              <a:t>Assistant professor senior grade 2</a:t>
            </a:r>
          </a:p>
          <a:p>
            <a:r>
              <a:rPr lang="en-US" sz="2400" dirty="0">
                <a:solidFill>
                  <a:schemeClr val="tx1"/>
                </a:solidFill>
              </a:rPr>
              <a:t>SCOPE-Analytics</a:t>
            </a:r>
          </a:p>
          <a:p>
            <a:r>
              <a:rPr lang="en-US" sz="2400" dirty="0">
                <a:solidFill>
                  <a:schemeClr val="tx1"/>
                </a:solidFill>
              </a:rPr>
              <a:t>VIT Vellore</a:t>
            </a:r>
            <a:endParaRPr lang="en-IN" sz="2400" dirty="0">
              <a:solidFill>
                <a:schemeClr val="tx1"/>
              </a:solidFill>
            </a:endParaRPr>
          </a:p>
        </p:txBody>
      </p:sp>
      <p:pic>
        <p:nvPicPr>
          <p:cNvPr id="7" name="Google Shape;415;p66" descr="A picture containing object, clock&#10;&#10;Description automatically generated">
            <a:extLst>
              <a:ext uri="{FF2B5EF4-FFF2-40B4-BE49-F238E27FC236}">
                <a16:creationId xmlns:a16="http://schemas.microsoft.com/office/drawing/2014/main" id="{587F64C9-E839-4078-8B92-C9C7349D11D7}"/>
              </a:ext>
            </a:extLst>
          </p:cNvPr>
          <p:cNvPicPr preferRelativeResize="0"/>
          <p:nvPr/>
        </p:nvPicPr>
        <p:blipFill rotWithShape="1">
          <a:blip r:embed="rId2">
            <a:alphaModFix/>
          </a:blip>
          <a:srcRect/>
          <a:stretch/>
        </p:blipFill>
        <p:spPr>
          <a:xfrm>
            <a:off x="0" y="0"/>
            <a:ext cx="1962150" cy="2071056"/>
          </a:xfrm>
          <a:prstGeom prst="rect">
            <a:avLst/>
          </a:prstGeom>
          <a:noFill/>
          <a:ln>
            <a:noFill/>
          </a:ln>
        </p:spPr>
      </p:pic>
    </p:spTree>
    <p:extLst>
      <p:ext uri="{BB962C8B-B14F-4D97-AF65-F5344CB8AC3E}">
        <p14:creationId xmlns:p14="http://schemas.microsoft.com/office/powerpoint/2010/main" val="1604498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0395D-6974-41F0-B2DF-D8E867308DF0}"/>
              </a:ext>
            </a:extLst>
          </p:cNvPr>
          <p:cNvSpPr>
            <a:spLocks noGrp="1"/>
          </p:cNvSpPr>
          <p:nvPr>
            <p:ph type="title"/>
          </p:nvPr>
        </p:nvSpPr>
        <p:spPr>
          <a:xfrm>
            <a:off x="752475" y="-82550"/>
            <a:ext cx="10515600" cy="763587"/>
          </a:xfrm>
        </p:spPr>
        <p:txBody>
          <a:bodyPr/>
          <a:lstStyle/>
          <a:p>
            <a:pPr algn="ctr"/>
            <a:r>
              <a:rPr lang="en-US" dirty="0"/>
              <a:t>Robin Karp algorithm</a:t>
            </a:r>
            <a:endParaRPr lang="en-IN" dirty="0"/>
          </a:p>
        </p:txBody>
      </p:sp>
      <p:sp>
        <p:nvSpPr>
          <p:cNvPr id="3" name="Content Placeholder 2">
            <a:extLst>
              <a:ext uri="{FF2B5EF4-FFF2-40B4-BE49-F238E27FC236}">
                <a16:creationId xmlns:a16="http://schemas.microsoft.com/office/drawing/2014/main" id="{5631F8CC-C90F-478B-BD99-FC2B169DCDD2}"/>
              </a:ext>
            </a:extLst>
          </p:cNvPr>
          <p:cNvSpPr>
            <a:spLocks noGrp="1"/>
          </p:cNvSpPr>
          <p:nvPr>
            <p:ph idx="1"/>
          </p:nvPr>
        </p:nvSpPr>
        <p:spPr>
          <a:xfrm>
            <a:off x="838200" y="1009650"/>
            <a:ext cx="10515600" cy="5167313"/>
          </a:xfrm>
        </p:spPr>
        <p:txBody>
          <a:bodyPr>
            <a:normAutofit fontScale="92500" lnSpcReduction="10000"/>
          </a:bodyPr>
          <a:lstStyle/>
          <a:p>
            <a:pPr marL="0" indent="0">
              <a:buNone/>
            </a:pPr>
            <a:r>
              <a:rPr lang="en-US" dirty="0"/>
              <a:t>Let a= 1;b=2;c=3;d=4;e=5;f=6;g=7;h=8;i=9</a:t>
            </a:r>
          </a:p>
          <a:p>
            <a:pPr marL="0" indent="0">
              <a:buNone/>
            </a:pPr>
            <a:r>
              <a:rPr lang="en-US" dirty="0">
                <a:solidFill>
                  <a:srgbClr val="7030A0"/>
                </a:solidFill>
              </a:rPr>
              <a:t>Text: </a:t>
            </a:r>
            <a:r>
              <a:rPr lang="en-US" dirty="0" err="1"/>
              <a:t>ccabadccadba</a:t>
            </a:r>
            <a:endParaRPr lang="en-US" dirty="0"/>
          </a:p>
          <a:p>
            <a:pPr marL="0" indent="0">
              <a:buNone/>
            </a:pPr>
            <a:r>
              <a:rPr lang="en-US" dirty="0" err="1">
                <a:solidFill>
                  <a:srgbClr val="7030A0"/>
                </a:solidFill>
              </a:rPr>
              <a:t>Pattern</a:t>
            </a:r>
            <a:r>
              <a:rPr lang="en-US" dirty="0" err="1"/>
              <a:t>:dba</a:t>
            </a:r>
            <a:r>
              <a:rPr lang="en-US" dirty="0"/>
              <a:t>, m=3 (window size)</a:t>
            </a:r>
          </a:p>
          <a:p>
            <a:pPr marL="0" indent="0">
              <a:buNone/>
            </a:pPr>
            <a:r>
              <a:rPr lang="en-US" dirty="0"/>
              <a:t>Hash value of </a:t>
            </a:r>
            <a:r>
              <a:rPr lang="en-US" dirty="0">
                <a:solidFill>
                  <a:srgbClr val="00B050"/>
                </a:solidFill>
              </a:rPr>
              <a:t>dba</a:t>
            </a:r>
            <a:r>
              <a:rPr lang="en-US" dirty="0"/>
              <a:t>= 4.10</a:t>
            </a:r>
            <a:r>
              <a:rPr lang="en-US" baseline="30000" dirty="0"/>
              <a:t>2</a:t>
            </a:r>
            <a:r>
              <a:rPr lang="en-US" dirty="0"/>
              <a:t>+ 2.10</a:t>
            </a:r>
            <a:r>
              <a:rPr lang="en-US" baseline="30000" dirty="0"/>
              <a:t>1</a:t>
            </a:r>
            <a:r>
              <a:rPr lang="en-US" dirty="0"/>
              <a:t> + 1. 10</a:t>
            </a:r>
            <a:r>
              <a:rPr lang="en-US" baseline="30000" dirty="0"/>
              <a:t>0 </a:t>
            </a:r>
            <a:r>
              <a:rPr lang="en-US" dirty="0"/>
              <a:t>= 421</a:t>
            </a:r>
          </a:p>
          <a:p>
            <a:pPr marL="0" indent="0">
              <a:buNone/>
            </a:pPr>
            <a:r>
              <a:rPr lang="en-US" dirty="0"/>
              <a:t>Hash value </a:t>
            </a:r>
            <a:r>
              <a:rPr lang="en-US" dirty="0" err="1">
                <a:solidFill>
                  <a:srgbClr val="FF0000"/>
                </a:solidFill>
              </a:rPr>
              <a:t>cca</a:t>
            </a:r>
            <a:r>
              <a:rPr lang="en-US" dirty="0"/>
              <a:t>=3.10</a:t>
            </a:r>
            <a:r>
              <a:rPr lang="en-US" baseline="30000" dirty="0"/>
              <a:t>2</a:t>
            </a:r>
            <a:r>
              <a:rPr lang="en-US" dirty="0"/>
              <a:t>+ 3.10</a:t>
            </a:r>
            <a:r>
              <a:rPr lang="en-US" baseline="30000" dirty="0"/>
              <a:t>1</a:t>
            </a:r>
            <a:r>
              <a:rPr lang="en-US" dirty="0"/>
              <a:t> + 1. 10</a:t>
            </a:r>
            <a:r>
              <a:rPr lang="en-US" baseline="30000" dirty="0"/>
              <a:t>0</a:t>
            </a:r>
            <a:r>
              <a:rPr lang="en-US" dirty="0"/>
              <a:t>= 331</a:t>
            </a:r>
          </a:p>
          <a:p>
            <a:pPr marL="0" indent="0">
              <a:buNone/>
            </a:pPr>
            <a:r>
              <a:rPr lang="en-US" dirty="0"/>
              <a:t>Hash value </a:t>
            </a:r>
            <a:r>
              <a:rPr lang="en-US" dirty="0">
                <a:solidFill>
                  <a:srgbClr val="0070C0"/>
                </a:solidFill>
              </a:rPr>
              <a:t>cab</a:t>
            </a:r>
            <a:r>
              <a:rPr lang="en-US" dirty="0"/>
              <a:t>= 3.10</a:t>
            </a:r>
            <a:r>
              <a:rPr lang="en-US" baseline="30000" dirty="0"/>
              <a:t>2</a:t>
            </a:r>
            <a:r>
              <a:rPr lang="en-US" dirty="0"/>
              <a:t>+ 1.10</a:t>
            </a:r>
            <a:r>
              <a:rPr lang="en-US" baseline="30000" dirty="0"/>
              <a:t>1</a:t>
            </a:r>
            <a:r>
              <a:rPr lang="en-US" dirty="0"/>
              <a:t> + 2. 10</a:t>
            </a:r>
            <a:r>
              <a:rPr lang="en-US" baseline="30000" dirty="0"/>
              <a:t>0</a:t>
            </a:r>
            <a:r>
              <a:rPr lang="en-US" dirty="0"/>
              <a:t>= 312</a:t>
            </a:r>
          </a:p>
          <a:p>
            <a:pPr marL="0" indent="0">
              <a:buNone/>
            </a:pPr>
            <a:r>
              <a:rPr lang="en-US" dirty="0"/>
              <a:t>and so on. To shift to the next </a:t>
            </a:r>
            <a:r>
              <a:rPr lang="en-US" b="1" dirty="0"/>
              <a:t>rolling window </a:t>
            </a:r>
            <a:r>
              <a:rPr lang="en-US" dirty="0"/>
              <a:t>of text,</a:t>
            </a:r>
          </a:p>
          <a:p>
            <a:pPr marL="0" indent="0">
              <a:buNone/>
            </a:pPr>
            <a:r>
              <a:rPr lang="en-US" dirty="0">
                <a:solidFill>
                  <a:schemeClr val="accent2">
                    <a:lumMod val="75000"/>
                  </a:schemeClr>
                </a:solidFill>
              </a:rPr>
              <a:t>331-300=31*10+2=312</a:t>
            </a:r>
            <a:r>
              <a:rPr lang="en-US" dirty="0"/>
              <a:t> where no of decimal digits =10. </a:t>
            </a:r>
          </a:p>
          <a:p>
            <a:pPr marL="971550" lvl="1" indent="-514350">
              <a:buFont typeface="+mj-lt"/>
              <a:buAutoNum type="arabicPeriod"/>
            </a:pPr>
            <a:r>
              <a:rPr lang="en-US" dirty="0"/>
              <a:t>Take the most significant digit 3, multiply it with 100 (</a:t>
            </a:r>
            <a:r>
              <a:rPr lang="en-US" b="0" i="0" u="none" strike="noStrike" baseline="0" dirty="0">
                <a:latin typeface="Times-Roman"/>
              </a:rPr>
              <a:t>value of the digit “</a:t>
            </a:r>
            <a:r>
              <a:rPr lang="en-US" b="0" i="0" u="none" strike="noStrike" baseline="0" dirty="0">
                <a:latin typeface="MT2MIT"/>
              </a:rPr>
              <a:t>1</a:t>
            </a:r>
            <a:r>
              <a:rPr lang="en-US" b="0" i="0" u="none" strike="noStrike" baseline="0" dirty="0">
                <a:latin typeface="Times-Roman"/>
              </a:rPr>
              <a:t>” in the high-order position of an </a:t>
            </a:r>
            <a:r>
              <a:rPr lang="en-US" b="0" i="0" u="none" strike="noStrike" baseline="0" dirty="0">
                <a:latin typeface="MT2MIT"/>
              </a:rPr>
              <a:t>m</a:t>
            </a:r>
            <a:r>
              <a:rPr lang="en-US" b="0" i="0" u="none" strike="noStrike" baseline="0" dirty="0">
                <a:latin typeface="Times-Roman"/>
              </a:rPr>
              <a:t>-digit text window) to get 300. </a:t>
            </a:r>
          </a:p>
          <a:p>
            <a:pPr marL="971550" lvl="1" indent="-514350">
              <a:buFont typeface="+mj-lt"/>
              <a:buAutoNum type="arabicPeriod"/>
            </a:pPr>
            <a:r>
              <a:rPr lang="en-US" dirty="0">
                <a:latin typeface="Times-Roman"/>
              </a:rPr>
              <a:t>Subtract 300 from 331(hash value of the current window of text)</a:t>
            </a:r>
          </a:p>
          <a:p>
            <a:pPr marL="971550" lvl="1" indent="-514350">
              <a:buFont typeface="+mj-lt"/>
              <a:buAutoNum type="arabicPeriod"/>
            </a:pPr>
            <a:r>
              <a:rPr lang="en-US" b="0" i="0" u="none" strike="noStrike" baseline="0" dirty="0">
                <a:latin typeface="Times-Roman"/>
              </a:rPr>
              <a:t>Multiply it with 10 to get 310</a:t>
            </a:r>
          </a:p>
          <a:p>
            <a:pPr marL="971550" lvl="1" indent="-514350">
              <a:buFont typeface="+mj-lt"/>
              <a:buAutoNum type="arabicPeriod"/>
            </a:pPr>
            <a:r>
              <a:rPr lang="en-US" dirty="0">
                <a:latin typeface="Times-Roman"/>
              </a:rPr>
              <a:t>Add 310 with 2 (first character in the next </a:t>
            </a:r>
            <a:r>
              <a:rPr lang="en-US" b="1" dirty="0">
                <a:latin typeface="Times-Roman"/>
              </a:rPr>
              <a:t>nonoverlapping window </a:t>
            </a:r>
            <a:r>
              <a:rPr lang="en-US" dirty="0">
                <a:latin typeface="Times-Roman"/>
              </a:rPr>
              <a:t>of text) </a:t>
            </a:r>
            <a:endParaRPr lang="en-US" b="0" i="0" u="none" strike="noStrike" baseline="0" dirty="0">
              <a:latin typeface="Times-Roman"/>
            </a:endParaRPr>
          </a:p>
          <a:p>
            <a:pPr marL="0" indent="0">
              <a:buNone/>
            </a:pPr>
            <a:endParaRPr lang="en-US" dirty="0"/>
          </a:p>
          <a:p>
            <a:pPr marL="0" indent="0">
              <a:buNone/>
            </a:pPr>
            <a:endParaRPr lang="en-US" dirty="0"/>
          </a:p>
          <a:p>
            <a:pPr marL="0" indent="0">
              <a:buNone/>
            </a:pPr>
            <a:endParaRPr lang="en-US" dirty="0"/>
          </a:p>
          <a:p>
            <a:pPr marL="0" indent="0">
              <a:buNone/>
            </a:pPr>
            <a:endParaRPr lang="en-IN" dirty="0"/>
          </a:p>
        </p:txBody>
      </p:sp>
    </p:spTree>
    <p:extLst>
      <p:ext uri="{BB962C8B-B14F-4D97-AF65-F5344CB8AC3E}">
        <p14:creationId xmlns:p14="http://schemas.microsoft.com/office/powerpoint/2010/main" val="72418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FEE59-AF7A-447A-92F8-25512117CD5C}"/>
              </a:ext>
            </a:extLst>
          </p:cNvPr>
          <p:cNvSpPr>
            <a:spLocks noGrp="1"/>
          </p:cNvSpPr>
          <p:nvPr>
            <p:ph type="title"/>
          </p:nvPr>
        </p:nvSpPr>
        <p:spPr>
          <a:xfrm>
            <a:off x="838200" y="365125"/>
            <a:ext cx="2667000" cy="1325563"/>
          </a:xfrm>
        </p:spPr>
        <p:txBody>
          <a:bodyPr/>
          <a:lstStyle/>
          <a:p>
            <a:r>
              <a:rPr lang="en-US" dirty="0"/>
              <a:t>Robin Karp </a:t>
            </a:r>
            <a:br>
              <a:rPr lang="en-US" dirty="0"/>
            </a:br>
            <a:r>
              <a:rPr lang="en-US" dirty="0"/>
              <a:t>algorithm</a:t>
            </a:r>
            <a:endParaRPr lang="en-IN" dirty="0"/>
          </a:p>
        </p:txBody>
      </p:sp>
      <p:pic>
        <p:nvPicPr>
          <p:cNvPr id="7" name="Picture 6">
            <a:extLst>
              <a:ext uri="{FF2B5EF4-FFF2-40B4-BE49-F238E27FC236}">
                <a16:creationId xmlns:a16="http://schemas.microsoft.com/office/drawing/2014/main" id="{483130EF-F3C3-4ADC-A4A4-EDEBC1C906D0}"/>
              </a:ext>
            </a:extLst>
          </p:cNvPr>
          <p:cNvPicPr>
            <a:picLocks noChangeAspect="1"/>
          </p:cNvPicPr>
          <p:nvPr/>
        </p:nvPicPr>
        <p:blipFill>
          <a:blip r:embed="rId2"/>
          <a:stretch>
            <a:fillRect/>
          </a:stretch>
        </p:blipFill>
        <p:spPr>
          <a:xfrm>
            <a:off x="69436" y="3886199"/>
            <a:ext cx="6026564" cy="2715817"/>
          </a:xfrm>
          <a:prstGeom prst="rect">
            <a:avLst/>
          </a:prstGeom>
        </p:spPr>
      </p:pic>
      <p:pic>
        <p:nvPicPr>
          <p:cNvPr id="15" name="Content Placeholder 14">
            <a:extLst>
              <a:ext uri="{FF2B5EF4-FFF2-40B4-BE49-F238E27FC236}">
                <a16:creationId xmlns:a16="http://schemas.microsoft.com/office/drawing/2014/main" id="{C5D7A53A-167B-4553-957B-B549A94001AE}"/>
              </a:ext>
            </a:extLst>
          </p:cNvPr>
          <p:cNvPicPr>
            <a:picLocks noGrp="1" noChangeAspect="1"/>
          </p:cNvPicPr>
          <p:nvPr>
            <p:ph idx="1"/>
          </p:nvPr>
        </p:nvPicPr>
        <p:blipFill>
          <a:blip r:embed="rId3"/>
          <a:stretch>
            <a:fillRect/>
          </a:stretch>
        </p:blipFill>
        <p:spPr>
          <a:xfrm>
            <a:off x="6233371" y="654843"/>
            <a:ext cx="5333613" cy="5548313"/>
          </a:xfrm>
        </p:spPr>
      </p:pic>
    </p:spTree>
    <p:extLst>
      <p:ext uri="{BB962C8B-B14F-4D97-AF65-F5344CB8AC3E}">
        <p14:creationId xmlns:p14="http://schemas.microsoft.com/office/powerpoint/2010/main" val="1567033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EE418-7BA2-4983-ABC8-B30E46518566}"/>
              </a:ext>
            </a:extLst>
          </p:cNvPr>
          <p:cNvSpPr>
            <a:spLocks noGrp="1"/>
          </p:cNvSpPr>
          <p:nvPr>
            <p:ph type="title" idx="4294967295"/>
          </p:nvPr>
        </p:nvSpPr>
        <p:spPr>
          <a:xfrm>
            <a:off x="0" y="365125"/>
            <a:ext cx="10515600" cy="1325563"/>
          </a:xfrm>
        </p:spPr>
        <p:txBody>
          <a:bodyPr/>
          <a:lstStyle/>
          <a:p>
            <a:pPr algn="ctr"/>
            <a:r>
              <a:rPr lang="en-US" dirty="0"/>
              <a:t>Modular arithmetic</a:t>
            </a:r>
            <a:endParaRPr lang="en-IN" dirty="0"/>
          </a:p>
        </p:txBody>
      </p:sp>
      <p:pic>
        <p:nvPicPr>
          <p:cNvPr id="9" name="Picture 8">
            <a:extLst>
              <a:ext uri="{FF2B5EF4-FFF2-40B4-BE49-F238E27FC236}">
                <a16:creationId xmlns:a16="http://schemas.microsoft.com/office/drawing/2014/main" id="{6FAD421A-0A3E-4E3E-9DB6-0E03EBCDAA3D}"/>
              </a:ext>
            </a:extLst>
          </p:cNvPr>
          <p:cNvPicPr>
            <a:picLocks noChangeAspect="1"/>
          </p:cNvPicPr>
          <p:nvPr/>
        </p:nvPicPr>
        <p:blipFill>
          <a:blip r:embed="rId2"/>
          <a:stretch>
            <a:fillRect/>
          </a:stretch>
        </p:blipFill>
        <p:spPr>
          <a:xfrm>
            <a:off x="1009650" y="2827688"/>
            <a:ext cx="10515600" cy="1990240"/>
          </a:xfrm>
          <a:prstGeom prst="rect">
            <a:avLst/>
          </a:prstGeom>
        </p:spPr>
      </p:pic>
      <p:sp>
        <p:nvSpPr>
          <p:cNvPr id="10" name="TextBox 9">
            <a:extLst>
              <a:ext uri="{FF2B5EF4-FFF2-40B4-BE49-F238E27FC236}">
                <a16:creationId xmlns:a16="http://schemas.microsoft.com/office/drawing/2014/main" id="{F2D6DE4F-A02F-45F6-8E62-D66D2D06F4C0}"/>
              </a:ext>
            </a:extLst>
          </p:cNvPr>
          <p:cNvSpPr txBox="1"/>
          <p:nvPr/>
        </p:nvSpPr>
        <p:spPr>
          <a:xfrm flipH="1">
            <a:off x="942975" y="5493263"/>
            <a:ext cx="10515600" cy="923330"/>
          </a:xfrm>
          <a:prstGeom prst="rect">
            <a:avLst/>
          </a:prstGeom>
          <a:noFill/>
        </p:spPr>
        <p:txBody>
          <a:bodyPr wrap="square" rtlCol="0">
            <a:spAutoFit/>
          </a:bodyPr>
          <a:lstStyle/>
          <a:p>
            <a:pPr algn="just"/>
            <a:r>
              <a:rPr lang="en-US" b="1" dirty="0"/>
              <a:t>Note: </a:t>
            </a:r>
            <a:r>
              <a:rPr lang="en-US" dirty="0">
                <a:solidFill>
                  <a:srgbClr val="232629"/>
                </a:solidFill>
                <a:latin typeface="-apple-system"/>
              </a:rPr>
              <a:t>H</a:t>
            </a:r>
            <a:r>
              <a:rPr lang="en-US" b="0" i="0" dirty="0">
                <a:solidFill>
                  <a:srgbClr val="232629"/>
                </a:solidFill>
                <a:effectLst/>
                <a:latin typeface="-apple-system"/>
              </a:rPr>
              <a:t>ow to do modular arithmetic with -</a:t>
            </a:r>
            <a:r>
              <a:rPr lang="en-US" b="0" i="0" dirty="0" err="1">
                <a:solidFill>
                  <a:srgbClr val="232629"/>
                </a:solidFill>
                <a:effectLst/>
                <a:latin typeface="-apple-system"/>
              </a:rPr>
              <a:t>ve</a:t>
            </a:r>
            <a:r>
              <a:rPr lang="en-US" b="0" i="0" dirty="0">
                <a:solidFill>
                  <a:srgbClr val="232629"/>
                </a:solidFill>
                <a:effectLst/>
                <a:latin typeface="-apple-system"/>
              </a:rPr>
              <a:t> numbers? One way to think of this is that working mod M you are free to add or subtract M as much as you like, since M is equivalent to 0 mod M. So we have (7-3.3).10 + 2 (mod 13) = -2.10 + 2 = -18 = 13 + 13 - 18 = 8 mod 13</a:t>
            </a:r>
            <a:r>
              <a:rPr lang="en-US" dirty="0"/>
              <a:t> </a:t>
            </a:r>
            <a:endParaRPr lang="en-IN" dirty="0"/>
          </a:p>
        </p:txBody>
      </p:sp>
    </p:spTree>
    <p:extLst>
      <p:ext uri="{BB962C8B-B14F-4D97-AF65-F5344CB8AC3E}">
        <p14:creationId xmlns:p14="http://schemas.microsoft.com/office/powerpoint/2010/main" val="996741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A16BB-7DBC-4453-8AC6-9FCB32FF63F0}"/>
              </a:ext>
            </a:extLst>
          </p:cNvPr>
          <p:cNvSpPr>
            <a:spLocks noGrp="1"/>
          </p:cNvSpPr>
          <p:nvPr>
            <p:ph type="title"/>
          </p:nvPr>
        </p:nvSpPr>
        <p:spPr>
          <a:xfrm>
            <a:off x="123826" y="1"/>
            <a:ext cx="5314952" cy="628650"/>
          </a:xfrm>
        </p:spPr>
        <p:txBody>
          <a:bodyPr>
            <a:normAutofit fontScale="90000"/>
          </a:bodyPr>
          <a:lstStyle/>
          <a:p>
            <a:pPr algn="ctr"/>
            <a:r>
              <a:rPr lang="en-US" dirty="0"/>
              <a:t>Robin Karp algorithm</a:t>
            </a:r>
            <a:endParaRPr lang="en-IN" dirty="0"/>
          </a:p>
        </p:txBody>
      </p:sp>
      <p:pic>
        <p:nvPicPr>
          <p:cNvPr id="5" name="Content Placeholder 4">
            <a:extLst>
              <a:ext uri="{FF2B5EF4-FFF2-40B4-BE49-F238E27FC236}">
                <a16:creationId xmlns:a16="http://schemas.microsoft.com/office/drawing/2014/main" id="{9D0E9CA5-63DE-4992-89E8-5422A9CFCD53}"/>
              </a:ext>
            </a:extLst>
          </p:cNvPr>
          <p:cNvPicPr>
            <a:picLocks noGrp="1" noChangeAspect="1"/>
          </p:cNvPicPr>
          <p:nvPr>
            <p:ph idx="1"/>
          </p:nvPr>
        </p:nvPicPr>
        <p:blipFill>
          <a:blip r:embed="rId2"/>
          <a:stretch>
            <a:fillRect/>
          </a:stretch>
        </p:blipFill>
        <p:spPr>
          <a:xfrm>
            <a:off x="0" y="700458"/>
            <a:ext cx="5768587" cy="3866051"/>
          </a:xfrm>
        </p:spPr>
      </p:pic>
      <p:sp>
        <p:nvSpPr>
          <p:cNvPr id="6" name="TextBox 5">
            <a:extLst>
              <a:ext uri="{FF2B5EF4-FFF2-40B4-BE49-F238E27FC236}">
                <a16:creationId xmlns:a16="http://schemas.microsoft.com/office/drawing/2014/main" id="{E310096E-DB96-4F67-8B5C-A0F0446BF7DF}"/>
              </a:ext>
            </a:extLst>
          </p:cNvPr>
          <p:cNvSpPr txBox="1"/>
          <p:nvPr/>
        </p:nvSpPr>
        <p:spPr>
          <a:xfrm>
            <a:off x="5438778" y="2510030"/>
            <a:ext cx="6375789" cy="3970318"/>
          </a:xfrm>
          <a:prstGeom prst="rect">
            <a:avLst/>
          </a:prstGeom>
          <a:noFill/>
        </p:spPr>
        <p:txBody>
          <a:bodyPr wrap="square">
            <a:spAutoFit/>
          </a:bodyPr>
          <a:lstStyle/>
          <a:p>
            <a:pPr marL="0" indent="0" algn="l">
              <a:buNone/>
            </a:pPr>
            <a:r>
              <a:rPr lang="en-US" sz="1800" b="0" i="0" u="none" strike="noStrike" baseline="0" dirty="0">
                <a:latin typeface="MT2MIT"/>
              </a:rPr>
              <a:t>h </a:t>
            </a:r>
            <a:r>
              <a:rPr lang="en-US" sz="1800" b="0" i="0" u="none" strike="noStrike" baseline="0" dirty="0">
                <a:latin typeface="MT2SYT"/>
              </a:rPr>
              <a:t> </a:t>
            </a:r>
            <a:r>
              <a:rPr lang="en-US" sz="1800" b="0" i="0" u="none" strike="noStrike" baseline="0" dirty="0">
                <a:latin typeface="Calibri" panose="020F0502020204030204" pitchFamily="34" charset="0"/>
                <a:cs typeface="Calibri" panose="020F0502020204030204" pitchFamily="34" charset="0"/>
              </a:rPr>
              <a:t>≡</a:t>
            </a:r>
            <a:r>
              <a:rPr lang="en-US" sz="1800" b="0" i="0" u="none" strike="noStrike" baseline="0" dirty="0">
                <a:latin typeface="MT2MIT"/>
              </a:rPr>
              <a:t>d</a:t>
            </a:r>
            <a:r>
              <a:rPr lang="en-US" sz="1800" b="0" i="0" u="none" strike="noStrike" baseline="30000" dirty="0">
                <a:latin typeface="MT2MIS"/>
              </a:rPr>
              <a:t>m-1</a:t>
            </a:r>
            <a:r>
              <a:rPr lang="en-US" sz="1800" b="0" i="0" u="none" strike="noStrike" baseline="0" dirty="0">
                <a:latin typeface="MT2MIS"/>
              </a:rPr>
              <a:t> </a:t>
            </a:r>
            <a:r>
              <a:rPr lang="en-US" sz="1800" b="0" i="0" u="none" strike="noStrike" baseline="0" dirty="0">
                <a:latin typeface="Times-Roman"/>
              </a:rPr>
              <a:t>mod </a:t>
            </a:r>
            <a:r>
              <a:rPr lang="en-US" sz="1800" b="0" i="0" u="none" strike="noStrike" baseline="0" dirty="0">
                <a:latin typeface="MT2MIT"/>
              </a:rPr>
              <a:t>q </a:t>
            </a:r>
            <a:r>
              <a:rPr lang="en-US" sz="1800" b="0" i="0" u="none" strike="noStrike" baseline="0" dirty="0">
                <a:latin typeface="Times-Roman"/>
              </a:rPr>
              <a:t>is the value of the digit “</a:t>
            </a:r>
            <a:r>
              <a:rPr lang="en-US" sz="1800" b="0" i="0" u="none" strike="noStrike" baseline="0" dirty="0">
                <a:latin typeface="MT2MIT"/>
              </a:rPr>
              <a:t>1</a:t>
            </a:r>
            <a:r>
              <a:rPr lang="en-US" sz="1800" b="0" i="0" u="none" strike="noStrike" baseline="0" dirty="0">
                <a:latin typeface="Times-Roman"/>
              </a:rPr>
              <a:t>” in the high-order position of an </a:t>
            </a:r>
            <a:r>
              <a:rPr lang="en-US" sz="1800" b="0" i="0" u="none" strike="noStrike" baseline="0" dirty="0">
                <a:latin typeface="MT2MIT"/>
              </a:rPr>
              <a:t>m</a:t>
            </a:r>
            <a:r>
              <a:rPr lang="en-US" sz="1800" b="0" i="0" u="none" strike="noStrike" baseline="0" dirty="0">
                <a:latin typeface="Times-Roman"/>
              </a:rPr>
              <a:t>-digit text window.</a:t>
            </a:r>
          </a:p>
          <a:p>
            <a:pPr marL="0" indent="0" algn="l">
              <a:buNone/>
            </a:pPr>
            <a:r>
              <a:rPr lang="en-US" dirty="0">
                <a:latin typeface="Times-Roman"/>
              </a:rPr>
              <a:t>For example,</a:t>
            </a:r>
            <a:endParaRPr lang="en-US" sz="1800" b="0" i="0" u="none" strike="noStrike" baseline="0" dirty="0">
              <a:latin typeface="Times-Roman"/>
            </a:endParaRPr>
          </a:p>
          <a:p>
            <a:pPr marL="0" indent="0" algn="l">
              <a:buNone/>
            </a:pPr>
            <a:r>
              <a:rPr lang="en-US" dirty="0">
                <a:latin typeface="Times-Roman"/>
              </a:rPr>
              <a:t>(1* 10000) mod 13, if m=5, d=10 and q=13</a:t>
            </a:r>
            <a:endParaRPr lang="en-US" sz="1800" b="0" i="0" u="none" strike="noStrike" baseline="0" dirty="0">
              <a:latin typeface="Times-Roman"/>
            </a:endParaRPr>
          </a:p>
          <a:p>
            <a:pPr marL="0" indent="0" algn="l">
              <a:buNone/>
            </a:pPr>
            <a:r>
              <a:rPr lang="en-US" sz="1800" b="0" i="0" u="none" strike="noStrike" baseline="0" dirty="0">
                <a:latin typeface="Times-Roman"/>
              </a:rPr>
              <a:t>p- hash value of the pattern</a:t>
            </a:r>
          </a:p>
          <a:p>
            <a:pPr marL="0" indent="0" algn="l">
              <a:buNone/>
            </a:pPr>
            <a:r>
              <a:rPr lang="en-US" sz="1800" b="0" i="0" u="none" strike="noStrike" baseline="0" dirty="0">
                <a:latin typeface="Times-Roman"/>
              </a:rPr>
              <a:t>t </a:t>
            </a:r>
            <a:r>
              <a:rPr lang="en-US" dirty="0">
                <a:latin typeface="Times-Roman"/>
              </a:rPr>
              <a:t>- </a:t>
            </a:r>
            <a:r>
              <a:rPr lang="en-US" sz="1800" b="0" i="0" u="none" strike="noStrike" baseline="0" dirty="0">
                <a:latin typeface="Times-Roman"/>
              </a:rPr>
              <a:t>hash value of the text</a:t>
            </a:r>
          </a:p>
          <a:p>
            <a:pPr marL="0" indent="0" algn="l">
              <a:buNone/>
            </a:pPr>
            <a:r>
              <a:rPr lang="en-IN" dirty="0"/>
              <a:t>Only if s&lt;n-m, the for loop is iterated.</a:t>
            </a:r>
          </a:p>
          <a:p>
            <a:pPr marL="0" indent="0" algn="l">
              <a:buNone/>
            </a:pPr>
            <a:r>
              <a:rPr lang="en-IN" dirty="0" err="1"/>
              <a:t>t</a:t>
            </a:r>
            <a:r>
              <a:rPr lang="en-IN" baseline="-25000" dirty="0" err="1"/>
              <a:t>s</a:t>
            </a:r>
            <a:r>
              <a:rPr lang="en-IN" baseline="-25000" dirty="0"/>
              <a:t> </a:t>
            </a:r>
            <a:r>
              <a:rPr lang="en-US" sz="1800" b="0" i="0" u="none" strike="noStrike" baseline="0" dirty="0">
                <a:latin typeface="Times-Roman"/>
              </a:rPr>
              <a:t>is the hash value of </a:t>
            </a:r>
            <a:r>
              <a:rPr lang="en-US" sz="1800" i="0" u="none" strike="noStrike" baseline="0" dirty="0">
                <a:latin typeface="Times-Roman"/>
              </a:rPr>
              <a:t>the current window of characters in the text</a:t>
            </a:r>
            <a:endParaRPr lang="en-IN" dirty="0"/>
          </a:p>
          <a:p>
            <a:pPr marL="0" indent="0" algn="l">
              <a:buNone/>
            </a:pPr>
            <a:r>
              <a:rPr lang="en-IN" dirty="0"/>
              <a:t>So t</a:t>
            </a:r>
            <a:r>
              <a:rPr lang="en-IN" baseline="-25000" dirty="0"/>
              <a:t>s+1  </a:t>
            </a:r>
            <a:r>
              <a:rPr lang="en-US" sz="1800" b="0" i="0" u="none" strike="noStrike" baseline="0" dirty="0">
                <a:latin typeface="Times-Roman"/>
              </a:rPr>
              <a:t>is the hash value of </a:t>
            </a:r>
            <a:r>
              <a:rPr lang="en-US" sz="1800" i="0" u="none" strike="noStrike" baseline="0" dirty="0">
                <a:latin typeface="Times-Roman"/>
              </a:rPr>
              <a:t>the next window of characters in the text</a:t>
            </a:r>
            <a:endParaRPr lang="en-IN" baseline="-25000" dirty="0"/>
          </a:p>
          <a:p>
            <a:pPr marL="0" indent="0" algn="l">
              <a:buNone/>
            </a:pPr>
            <a:r>
              <a:rPr lang="en-US" dirty="0">
                <a:latin typeface="Times-Roman"/>
              </a:rPr>
              <a:t>h=10000 mod 13 =3</a:t>
            </a:r>
            <a:endParaRPr lang="en-IN" baseline="-25000" dirty="0"/>
          </a:p>
          <a:p>
            <a:pPr marL="0" indent="0" algn="l">
              <a:buNone/>
            </a:pPr>
            <a:r>
              <a:rPr lang="en-US" dirty="0">
                <a:latin typeface="Times-Roman"/>
              </a:rPr>
              <a:t>T(s+1, </a:t>
            </a:r>
            <a:r>
              <a:rPr lang="en-US" dirty="0" err="1">
                <a:latin typeface="Times-Roman"/>
              </a:rPr>
              <a:t>s+m</a:t>
            </a:r>
            <a:r>
              <a:rPr lang="en-US" dirty="0">
                <a:latin typeface="Times-Roman"/>
              </a:rPr>
              <a:t>) is the current text to be matched with pattern= 31415</a:t>
            </a:r>
          </a:p>
          <a:p>
            <a:pPr marL="0" indent="0" algn="l">
              <a:buNone/>
            </a:pPr>
            <a:r>
              <a:rPr lang="en-US" dirty="0">
                <a:latin typeface="Times-Roman"/>
              </a:rPr>
              <a:t>T(s+m+1) is the character in s+m+1 position =2</a:t>
            </a:r>
          </a:p>
          <a:p>
            <a:pPr marL="0" indent="0" algn="l">
              <a:buNone/>
            </a:pPr>
            <a:r>
              <a:rPr lang="en-IN" dirty="0" err="1"/>
              <a:t>t</a:t>
            </a:r>
            <a:r>
              <a:rPr lang="en-IN" baseline="-25000" dirty="0" err="1"/>
              <a:t>s</a:t>
            </a:r>
            <a:r>
              <a:rPr lang="en-IN" baseline="-25000" dirty="0"/>
              <a:t>  </a:t>
            </a:r>
            <a:r>
              <a:rPr lang="en-US" dirty="0">
                <a:latin typeface="Times-Roman"/>
              </a:rPr>
              <a:t>= 31415 mod 13=7 (hash value of 31415)</a:t>
            </a:r>
            <a:endParaRPr lang="en-IN" baseline="-25000" dirty="0"/>
          </a:p>
          <a:p>
            <a:pPr marL="0" indent="0" algn="l">
              <a:buNone/>
            </a:pPr>
            <a:r>
              <a:rPr lang="en-IN" dirty="0"/>
              <a:t>t</a:t>
            </a:r>
            <a:r>
              <a:rPr lang="en-IN" baseline="-25000" dirty="0"/>
              <a:t>s+1 </a:t>
            </a:r>
            <a:r>
              <a:rPr lang="en-US" dirty="0">
                <a:latin typeface="Times-Roman"/>
              </a:rPr>
              <a:t>= 14152 mod 13=8 (hash value of 14152)</a:t>
            </a:r>
            <a:endParaRPr lang="en-IN" dirty="0"/>
          </a:p>
        </p:txBody>
      </p:sp>
      <p:pic>
        <p:nvPicPr>
          <p:cNvPr id="7" name="Picture 6">
            <a:extLst>
              <a:ext uri="{FF2B5EF4-FFF2-40B4-BE49-F238E27FC236}">
                <a16:creationId xmlns:a16="http://schemas.microsoft.com/office/drawing/2014/main" id="{FF483877-5107-4EC4-A62C-1A6F929ACDF8}"/>
              </a:ext>
            </a:extLst>
          </p:cNvPr>
          <p:cNvPicPr>
            <a:picLocks noChangeAspect="1"/>
          </p:cNvPicPr>
          <p:nvPr/>
        </p:nvPicPr>
        <p:blipFill>
          <a:blip r:embed="rId3"/>
          <a:stretch>
            <a:fillRect/>
          </a:stretch>
        </p:blipFill>
        <p:spPr>
          <a:xfrm>
            <a:off x="666749" y="5068667"/>
            <a:ext cx="3257551" cy="1088875"/>
          </a:xfrm>
          <a:prstGeom prst="rect">
            <a:avLst/>
          </a:prstGeom>
        </p:spPr>
      </p:pic>
      <p:sp>
        <p:nvSpPr>
          <p:cNvPr id="10" name="TextBox 9">
            <a:extLst>
              <a:ext uri="{FF2B5EF4-FFF2-40B4-BE49-F238E27FC236}">
                <a16:creationId xmlns:a16="http://schemas.microsoft.com/office/drawing/2014/main" id="{69656B61-F265-4D86-B7AF-61C158348E65}"/>
              </a:ext>
            </a:extLst>
          </p:cNvPr>
          <p:cNvSpPr txBox="1"/>
          <p:nvPr/>
        </p:nvSpPr>
        <p:spPr>
          <a:xfrm>
            <a:off x="5438778" y="0"/>
            <a:ext cx="6702038" cy="2585323"/>
          </a:xfrm>
          <a:prstGeom prst="rect">
            <a:avLst/>
          </a:prstGeom>
          <a:noFill/>
        </p:spPr>
        <p:txBody>
          <a:bodyPr wrap="square" rtlCol="0">
            <a:spAutoFit/>
          </a:bodyPr>
          <a:lstStyle/>
          <a:p>
            <a:pPr algn="just"/>
            <a:r>
              <a:rPr lang="en-US" b="1" dirty="0"/>
              <a:t>This is a general procedure for finding hash of d-</a:t>
            </a:r>
            <a:r>
              <a:rPr lang="en-US" b="1" dirty="0" err="1"/>
              <a:t>ary</a:t>
            </a:r>
            <a:r>
              <a:rPr lang="en-US" b="1" dirty="0"/>
              <a:t> digits</a:t>
            </a:r>
            <a:r>
              <a:rPr lang="en-US" dirty="0"/>
              <a:t>. To find the </a:t>
            </a:r>
            <a:r>
              <a:rPr lang="en-US" b="1" dirty="0"/>
              <a:t>hash value of pattern (p),</a:t>
            </a:r>
            <a:r>
              <a:rPr lang="en-US" dirty="0"/>
              <a:t> the characters are taken one by one from the least position to the highest position, multiplied with d and modulus is found (as in steps 4 to 8). Likewise the same procedure is adapted for finding the </a:t>
            </a:r>
            <a:r>
              <a:rPr lang="en-US" b="1" dirty="0"/>
              <a:t>hash value of the first window of text </a:t>
            </a:r>
            <a:r>
              <a:rPr lang="en-US" dirty="0"/>
              <a:t>(</a:t>
            </a:r>
            <a:r>
              <a:rPr lang="en-US" b="1" dirty="0"/>
              <a:t>t</a:t>
            </a:r>
            <a:r>
              <a:rPr lang="en-US" b="1" baseline="-25000" dirty="0"/>
              <a:t>0</a:t>
            </a:r>
            <a:r>
              <a:rPr lang="en-US" dirty="0"/>
              <a:t>). For example </a:t>
            </a:r>
            <a:r>
              <a:rPr lang="en-US" b="1" dirty="0"/>
              <a:t>if pattern is 135 and d=10</a:t>
            </a:r>
            <a:r>
              <a:rPr lang="en-US" dirty="0"/>
              <a:t>, to find </a:t>
            </a:r>
            <a:r>
              <a:rPr lang="en-US" b="1" dirty="0"/>
              <a:t>135 mod 13=5 </a:t>
            </a:r>
          </a:p>
          <a:p>
            <a:pPr algn="just"/>
            <a:r>
              <a:rPr lang="en-US" dirty="0"/>
              <a:t>Iteration 1: p=(10.0+ 1)mod 13=1, </a:t>
            </a:r>
          </a:p>
          <a:p>
            <a:pPr algn="just"/>
            <a:r>
              <a:rPr lang="en-US" dirty="0"/>
              <a:t>Iteration 2: p=(10.1+3)mod 13=0, </a:t>
            </a:r>
          </a:p>
          <a:p>
            <a:pPr algn="just"/>
            <a:r>
              <a:rPr lang="en-US" dirty="0"/>
              <a:t>Iteration 3: p=(10.0+5) mod 13=</a:t>
            </a:r>
            <a:r>
              <a:rPr lang="en-US" b="1" dirty="0"/>
              <a:t>5</a:t>
            </a:r>
            <a:r>
              <a:rPr lang="en-US" dirty="0"/>
              <a:t> (solution)</a:t>
            </a:r>
            <a:endParaRPr lang="en-IN" dirty="0"/>
          </a:p>
        </p:txBody>
      </p:sp>
    </p:spTree>
    <p:extLst>
      <p:ext uri="{BB962C8B-B14F-4D97-AF65-F5344CB8AC3E}">
        <p14:creationId xmlns:p14="http://schemas.microsoft.com/office/powerpoint/2010/main" val="1148137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CD936-C136-4BD1-84F5-AD1AEB13B666}"/>
              </a:ext>
            </a:extLst>
          </p:cNvPr>
          <p:cNvSpPr>
            <a:spLocks noGrp="1"/>
          </p:cNvSpPr>
          <p:nvPr>
            <p:ph type="title"/>
          </p:nvPr>
        </p:nvSpPr>
        <p:spPr/>
        <p:txBody>
          <a:bodyPr/>
          <a:lstStyle/>
          <a:p>
            <a:r>
              <a:rPr lang="en-US" dirty="0"/>
              <a:t>Spurious hits</a:t>
            </a:r>
            <a:endParaRPr lang="en-IN" dirty="0"/>
          </a:p>
        </p:txBody>
      </p:sp>
      <p:pic>
        <p:nvPicPr>
          <p:cNvPr id="5" name="Content Placeholder 4">
            <a:extLst>
              <a:ext uri="{FF2B5EF4-FFF2-40B4-BE49-F238E27FC236}">
                <a16:creationId xmlns:a16="http://schemas.microsoft.com/office/drawing/2014/main" id="{6E14958E-4681-4867-8CFA-53A1586B03A0}"/>
              </a:ext>
            </a:extLst>
          </p:cNvPr>
          <p:cNvPicPr>
            <a:picLocks noGrp="1" noChangeAspect="1"/>
          </p:cNvPicPr>
          <p:nvPr>
            <p:ph idx="1"/>
          </p:nvPr>
        </p:nvPicPr>
        <p:blipFill>
          <a:blip r:embed="rId2"/>
          <a:stretch>
            <a:fillRect/>
          </a:stretch>
        </p:blipFill>
        <p:spPr>
          <a:xfrm>
            <a:off x="2586037" y="2039144"/>
            <a:ext cx="5762625" cy="2000250"/>
          </a:xfrm>
        </p:spPr>
      </p:pic>
      <p:sp>
        <p:nvSpPr>
          <p:cNvPr id="6" name="TextBox 5">
            <a:extLst>
              <a:ext uri="{FF2B5EF4-FFF2-40B4-BE49-F238E27FC236}">
                <a16:creationId xmlns:a16="http://schemas.microsoft.com/office/drawing/2014/main" id="{282010A4-1B6D-4E91-95A4-891F398BBECE}"/>
              </a:ext>
            </a:extLst>
          </p:cNvPr>
          <p:cNvSpPr txBox="1"/>
          <p:nvPr/>
        </p:nvSpPr>
        <p:spPr>
          <a:xfrm flipH="1">
            <a:off x="571499" y="4581525"/>
            <a:ext cx="10515598" cy="1852815"/>
          </a:xfrm>
          <a:prstGeom prst="rect">
            <a:avLst/>
          </a:prstGeom>
          <a:noFill/>
        </p:spPr>
        <p:txBody>
          <a:bodyPr wrap="square" rtlCol="0">
            <a:spAutoFit/>
          </a:bodyPr>
          <a:lstStyle/>
          <a:p>
            <a:pPr algn="just">
              <a:lnSpc>
                <a:spcPct val="200000"/>
              </a:lnSpc>
            </a:pPr>
            <a:r>
              <a:rPr lang="en-IN" sz="2000" b="0" i="0" u="none" strike="noStrike" baseline="0" dirty="0">
                <a:latin typeface="Times-Roman"/>
              </a:rPr>
              <a:t>Any shift </a:t>
            </a:r>
            <a:r>
              <a:rPr lang="en-IN" sz="2000" b="0" i="0" u="none" strike="noStrike" baseline="0" dirty="0">
                <a:latin typeface="MT2MIT"/>
              </a:rPr>
              <a:t>s </a:t>
            </a:r>
            <a:r>
              <a:rPr lang="en-IN" sz="2000" b="0" i="0" u="none" strike="noStrike" baseline="0" dirty="0">
                <a:latin typeface="Times-Roman"/>
              </a:rPr>
              <a:t>for </a:t>
            </a:r>
            <a:r>
              <a:rPr lang="en-US" sz="2000" b="0" i="0" u="none" strike="noStrike" baseline="0" dirty="0">
                <a:latin typeface="Times-Roman"/>
              </a:rPr>
              <a:t>which </a:t>
            </a:r>
            <a:r>
              <a:rPr lang="en-US" sz="2000" b="0" i="0" u="none" strike="noStrike" baseline="0" dirty="0" err="1">
                <a:latin typeface="MT2MIT"/>
              </a:rPr>
              <a:t>t</a:t>
            </a:r>
            <a:r>
              <a:rPr lang="en-US" sz="2000" b="0" i="0" u="none" strike="noStrike" baseline="-25000" dirty="0" err="1">
                <a:latin typeface="MT2MIS"/>
              </a:rPr>
              <a:t>s</a:t>
            </a:r>
            <a:r>
              <a:rPr lang="en-US" sz="2000" b="0" i="0" u="none" strike="noStrike" baseline="0" dirty="0">
                <a:latin typeface="MT2MIS"/>
              </a:rPr>
              <a:t> </a:t>
            </a:r>
            <a:r>
              <a:rPr lang="en-US" sz="2000" b="0" i="0" u="none" strike="noStrike" baseline="0" dirty="0">
                <a:latin typeface="MT2SYT"/>
              </a:rPr>
              <a:t> </a:t>
            </a:r>
            <a:r>
              <a:rPr lang="en-US" sz="2000" b="0" i="0" u="none" strike="noStrike" baseline="0" dirty="0">
                <a:latin typeface="Calibri" panose="020F0502020204030204" pitchFamily="34" charset="0"/>
                <a:cs typeface="Calibri" panose="020F0502020204030204" pitchFamily="34" charset="0"/>
              </a:rPr>
              <a:t>≡</a:t>
            </a:r>
            <a:r>
              <a:rPr lang="en-US" sz="2000" b="0" i="0" u="none" strike="noStrike" baseline="0" dirty="0">
                <a:latin typeface="MT2MIT"/>
              </a:rPr>
              <a:t>p </a:t>
            </a:r>
            <a:r>
              <a:rPr lang="en-US" sz="2000" b="0" i="0" u="none" strike="noStrike" baseline="0" dirty="0">
                <a:latin typeface="Times-Roman"/>
              </a:rPr>
              <a:t>mod </a:t>
            </a:r>
            <a:r>
              <a:rPr lang="en-US" sz="2000" b="0" i="0" u="none" strike="noStrike" baseline="0" dirty="0">
                <a:latin typeface="MT2MIT"/>
              </a:rPr>
              <a:t>q </a:t>
            </a:r>
            <a:r>
              <a:rPr lang="en-US" sz="2000" b="0" i="0" u="none" strike="noStrike" baseline="0" dirty="0">
                <a:latin typeface="Times-Roman"/>
              </a:rPr>
              <a:t>must be tested further to see whether </a:t>
            </a:r>
            <a:r>
              <a:rPr lang="en-US" sz="2000" b="0" i="0" u="none" strike="noStrike" baseline="0" dirty="0">
                <a:latin typeface="MT2MIT"/>
              </a:rPr>
              <a:t>s </a:t>
            </a:r>
            <a:r>
              <a:rPr lang="en-US" sz="2000" b="0" i="0" u="none" strike="noStrike" baseline="0" dirty="0">
                <a:latin typeface="Times-Roman"/>
              </a:rPr>
              <a:t>is really valid or we just have a </a:t>
            </a:r>
            <a:r>
              <a:rPr lang="en-US" sz="2000" b="1" i="1" u="none" strike="noStrike" baseline="0" dirty="0">
                <a:latin typeface="Times-BoldItalic"/>
              </a:rPr>
              <a:t>spurious hit</a:t>
            </a:r>
            <a:r>
              <a:rPr lang="en-US" sz="2000" b="0" i="0" u="none" strike="noStrike" baseline="0" dirty="0">
                <a:latin typeface="Times-Roman"/>
              </a:rPr>
              <a:t>. It is a condition where t</a:t>
            </a:r>
            <a:r>
              <a:rPr lang="en-US" sz="2000" dirty="0"/>
              <a:t>he hash values match but the pattern and text within the window are not matching. </a:t>
            </a:r>
            <a:endParaRPr lang="en-IN" sz="2000" dirty="0"/>
          </a:p>
        </p:txBody>
      </p:sp>
    </p:spTree>
    <p:extLst>
      <p:ext uri="{BB962C8B-B14F-4D97-AF65-F5344CB8AC3E}">
        <p14:creationId xmlns:p14="http://schemas.microsoft.com/office/powerpoint/2010/main" val="1771072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FC498-443C-4469-B30F-239A43016773}"/>
              </a:ext>
            </a:extLst>
          </p:cNvPr>
          <p:cNvSpPr>
            <a:spLocks noGrp="1"/>
          </p:cNvSpPr>
          <p:nvPr>
            <p:ph type="title"/>
          </p:nvPr>
        </p:nvSpPr>
        <p:spPr/>
        <p:txBody>
          <a:bodyPr/>
          <a:lstStyle/>
          <a:p>
            <a:r>
              <a:rPr lang="en-US" dirty="0"/>
              <a:t>Time complexity of Robin Karp algorithm</a:t>
            </a:r>
            <a:endParaRPr lang="en-IN" dirty="0"/>
          </a:p>
        </p:txBody>
      </p:sp>
      <p:sp>
        <p:nvSpPr>
          <p:cNvPr id="3" name="Content Placeholder 2">
            <a:extLst>
              <a:ext uri="{FF2B5EF4-FFF2-40B4-BE49-F238E27FC236}">
                <a16:creationId xmlns:a16="http://schemas.microsoft.com/office/drawing/2014/main" id="{89303D6E-651C-414C-BA22-3BF1E5D8BD0D}"/>
              </a:ext>
            </a:extLst>
          </p:cNvPr>
          <p:cNvSpPr>
            <a:spLocks noGrp="1"/>
          </p:cNvSpPr>
          <p:nvPr>
            <p:ph idx="1"/>
          </p:nvPr>
        </p:nvSpPr>
        <p:spPr/>
        <p:txBody>
          <a:bodyPr/>
          <a:lstStyle/>
          <a:p>
            <a:pPr marL="0" indent="0">
              <a:buNone/>
            </a:pPr>
            <a:r>
              <a:rPr lang="en-US" dirty="0"/>
              <a:t>Best case time complexity is O(m)</a:t>
            </a:r>
          </a:p>
          <a:p>
            <a:pPr marL="0" indent="0">
              <a:buNone/>
            </a:pPr>
            <a:r>
              <a:rPr lang="en-US" dirty="0"/>
              <a:t>Worst case time complexity is O((n-m+1)m)</a:t>
            </a:r>
          </a:p>
          <a:p>
            <a:pPr marL="0" indent="0">
              <a:buNone/>
            </a:pPr>
            <a:r>
              <a:rPr lang="en-US" dirty="0"/>
              <a:t>But average case is better.</a:t>
            </a:r>
          </a:p>
          <a:p>
            <a:pPr marL="0" indent="0">
              <a:buNone/>
            </a:pPr>
            <a:r>
              <a:rPr lang="en-US" dirty="0"/>
              <a:t>O((n-m+1)+cm) where c is a constant. It is  expected to get matching within some valid shifts.</a:t>
            </a:r>
          </a:p>
          <a:p>
            <a:pPr marL="0" indent="0">
              <a:buNone/>
            </a:pPr>
            <a:r>
              <a:rPr lang="en-US" dirty="0"/>
              <a:t>O((n-m+1)+cm)≈O(</a:t>
            </a:r>
            <a:r>
              <a:rPr lang="en-US" dirty="0" err="1"/>
              <a:t>n+m</a:t>
            </a:r>
            <a:r>
              <a:rPr lang="en-US" dirty="0"/>
              <a:t>)</a:t>
            </a:r>
          </a:p>
        </p:txBody>
      </p:sp>
    </p:spTree>
    <p:extLst>
      <p:ext uri="{BB962C8B-B14F-4D97-AF65-F5344CB8AC3E}">
        <p14:creationId xmlns:p14="http://schemas.microsoft.com/office/powerpoint/2010/main" val="349996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4EA1F-AC4D-57A3-6351-3EB651DD7050}"/>
              </a:ext>
            </a:extLst>
          </p:cNvPr>
          <p:cNvSpPr>
            <a:spLocks noGrp="1"/>
          </p:cNvSpPr>
          <p:nvPr>
            <p:ph type="title"/>
          </p:nvPr>
        </p:nvSpPr>
        <p:spPr/>
        <p:txBody>
          <a:bodyPr/>
          <a:lstStyle/>
          <a:p>
            <a:r>
              <a:rPr lang="en-IN" dirty="0"/>
              <a:t>Bellman Ford algorithm- Single source shortest path </a:t>
            </a:r>
          </a:p>
        </p:txBody>
      </p:sp>
      <p:pic>
        <p:nvPicPr>
          <p:cNvPr id="5" name="Content Placeholder 4">
            <a:extLst>
              <a:ext uri="{FF2B5EF4-FFF2-40B4-BE49-F238E27FC236}">
                <a16:creationId xmlns:a16="http://schemas.microsoft.com/office/drawing/2014/main" id="{B87347CD-6E0E-431E-EDA6-648DC1D850CC}"/>
              </a:ext>
            </a:extLst>
          </p:cNvPr>
          <p:cNvPicPr>
            <a:picLocks noGrp="1" noChangeAspect="1"/>
          </p:cNvPicPr>
          <p:nvPr>
            <p:ph idx="1"/>
          </p:nvPr>
        </p:nvPicPr>
        <p:blipFill>
          <a:blip r:embed="rId2"/>
          <a:stretch>
            <a:fillRect/>
          </a:stretch>
        </p:blipFill>
        <p:spPr>
          <a:xfrm>
            <a:off x="1624665" y="1700313"/>
            <a:ext cx="8153400" cy="2400300"/>
          </a:xfrm>
        </p:spPr>
      </p:pic>
      <p:pic>
        <p:nvPicPr>
          <p:cNvPr id="7" name="Picture 6">
            <a:extLst>
              <a:ext uri="{FF2B5EF4-FFF2-40B4-BE49-F238E27FC236}">
                <a16:creationId xmlns:a16="http://schemas.microsoft.com/office/drawing/2014/main" id="{1D54E067-28F1-44E3-A22A-B1F116FF07A2}"/>
              </a:ext>
            </a:extLst>
          </p:cNvPr>
          <p:cNvPicPr>
            <a:picLocks noChangeAspect="1"/>
          </p:cNvPicPr>
          <p:nvPr/>
        </p:nvPicPr>
        <p:blipFill>
          <a:blip r:embed="rId3"/>
          <a:stretch>
            <a:fillRect/>
          </a:stretch>
        </p:blipFill>
        <p:spPr>
          <a:xfrm>
            <a:off x="1366036" y="4090988"/>
            <a:ext cx="3819525" cy="1524000"/>
          </a:xfrm>
          <a:prstGeom prst="rect">
            <a:avLst/>
          </a:prstGeom>
        </p:spPr>
      </p:pic>
      <p:sp>
        <p:nvSpPr>
          <p:cNvPr id="8" name="TextBox 7">
            <a:extLst>
              <a:ext uri="{FF2B5EF4-FFF2-40B4-BE49-F238E27FC236}">
                <a16:creationId xmlns:a16="http://schemas.microsoft.com/office/drawing/2014/main" id="{C14722F0-91AC-D09E-5639-DEDC3879F1E6}"/>
              </a:ext>
            </a:extLst>
          </p:cNvPr>
          <p:cNvSpPr txBox="1"/>
          <p:nvPr/>
        </p:nvSpPr>
        <p:spPr>
          <a:xfrm>
            <a:off x="399449" y="5567958"/>
            <a:ext cx="11792551" cy="1200329"/>
          </a:xfrm>
          <a:prstGeom prst="rect">
            <a:avLst/>
          </a:prstGeom>
          <a:noFill/>
        </p:spPr>
        <p:txBody>
          <a:bodyPr wrap="square" rtlCol="0">
            <a:spAutoFit/>
          </a:bodyPr>
          <a:lstStyle/>
          <a:p>
            <a:r>
              <a:rPr lang="en-IN" b="1" dirty="0"/>
              <a:t>Note: </a:t>
            </a:r>
            <a:r>
              <a:rPr lang="en-IN" dirty="0"/>
              <a:t>The algorithm finds single source shortest path of a directed graph with negative and positive weights. It cannot give the single source shortest path solution if the graph has negative cycles but the algorithm can be used for detecting negative cycles. If the distances even after (n-1)</a:t>
            </a:r>
            <a:r>
              <a:rPr lang="en-IN" dirty="0" err="1"/>
              <a:t>th</a:t>
            </a:r>
            <a:r>
              <a:rPr lang="en-IN" dirty="0"/>
              <a:t> relaxation changes, then it implies the graph has negative cycles. Because the distance values necessarily have to converge at (n-1)</a:t>
            </a:r>
            <a:r>
              <a:rPr lang="en-IN" dirty="0" err="1"/>
              <a:t>th</a:t>
            </a:r>
            <a:r>
              <a:rPr lang="en-IN" dirty="0"/>
              <a:t> iteration where ‘n’ is the number of vertices in the graph.</a:t>
            </a:r>
          </a:p>
        </p:txBody>
      </p:sp>
      <p:sp>
        <p:nvSpPr>
          <p:cNvPr id="4" name="TextBox 3">
            <a:extLst>
              <a:ext uri="{FF2B5EF4-FFF2-40B4-BE49-F238E27FC236}">
                <a16:creationId xmlns:a16="http://schemas.microsoft.com/office/drawing/2014/main" id="{CB56B372-06A6-CA6B-C2D0-866AAE66A4A1}"/>
              </a:ext>
            </a:extLst>
          </p:cNvPr>
          <p:cNvSpPr txBox="1"/>
          <p:nvPr/>
        </p:nvSpPr>
        <p:spPr>
          <a:xfrm>
            <a:off x="5869004" y="1044178"/>
            <a:ext cx="6097604" cy="861774"/>
          </a:xfrm>
          <a:prstGeom prst="rect">
            <a:avLst/>
          </a:prstGeom>
          <a:noFill/>
        </p:spPr>
        <p:txBody>
          <a:bodyPr wrap="square">
            <a:spAutoFit/>
          </a:bodyPr>
          <a:lstStyle/>
          <a:p>
            <a:pPr algn="l"/>
            <a:r>
              <a:rPr lang="en-US" sz="1800" b="0" i="0" u="none" strike="noStrike" baseline="0" dirty="0">
                <a:latin typeface="Times-Roman"/>
              </a:rPr>
              <a:t>Given a graph </a:t>
            </a:r>
            <a:r>
              <a:rPr lang="en-US" sz="1800" b="0" i="0" u="none" strike="noStrike" baseline="0" dirty="0">
                <a:latin typeface="MT2MIT"/>
              </a:rPr>
              <a:t>G </a:t>
            </a:r>
            <a:r>
              <a:rPr lang="en-US" sz="1800" b="0" i="0" u="none" strike="noStrike" baseline="0" dirty="0">
                <a:latin typeface="MT2SYT"/>
              </a:rPr>
              <a:t>D&lt;</a:t>
            </a:r>
            <a:r>
              <a:rPr lang="en-US" sz="1800" b="0" i="0" u="none" strike="noStrike" baseline="0" dirty="0">
                <a:latin typeface="MT2MIT"/>
              </a:rPr>
              <a:t>V</a:t>
            </a:r>
            <a:r>
              <a:rPr lang="en-US" dirty="0">
                <a:latin typeface="MT2MIT"/>
              </a:rPr>
              <a:t>,</a:t>
            </a:r>
            <a:r>
              <a:rPr lang="en-US" sz="1800" b="0" i="0" u="none" strike="noStrike" baseline="0" dirty="0">
                <a:latin typeface="MT2MIT"/>
              </a:rPr>
              <a:t>E</a:t>
            </a:r>
            <a:r>
              <a:rPr lang="en-US" dirty="0">
                <a:latin typeface="MT2MIT"/>
              </a:rPr>
              <a:t>&gt;</a:t>
            </a:r>
            <a:r>
              <a:rPr lang="en-US" sz="1800" b="0" i="0" u="none" strike="noStrike" baseline="0" dirty="0">
                <a:latin typeface="Times-Roman"/>
              </a:rPr>
              <a:t>, we maintain for</a:t>
            </a:r>
          </a:p>
          <a:p>
            <a:pPr algn="l"/>
            <a:r>
              <a:rPr lang="en-US" sz="1800" b="0" i="0" u="none" strike="noStrike" baseline="0" dirty="0">
                <a:latin typeface="Times-Roman"/>
              </a:rPr>
              <a:t>each vertex </a:t>
            </a:r>
            <a:r>
              <a:rPr lang="en-US" sz="1800" b="0" i="0" u="none" strike="noStrike" baseline="0" dirty="0">
                <a:latin typeface="MT2MIT"/>
              </a:rPr>
              <a:t> </a:t>
            </a:r>
            <a:r>
              <a:rPr lang="en-US" dirty="0" err="1">
                <a:latin typeface="MT2SYT"/>
              </a:rPr>
              <a:t>vε</a:t>
            </a:r>
            <a:r>
              <a:rPr lang="en-US" sz="1800" b="0" i="0" u="none" strike="noStrike" baseline="0" dirty="0" err="1">
                <a:latin typeface="MT2MIT"/>
              </a:rPr>
              <a:t>V</a:t>
            </a:r>
            <a:r>
              <a:rPr lang="en-US" sz="1800" b="0" i="0" u="none" strike="noStrike" baseline="0" dirty="0">
                <a:latin typeface="MT2MIT"/>
              </a:rPr>
              <a:t>, </a:t>
            </a:r>
            <a:r>
              <a:rPr lang="en-US" sz="1800" b="0" i="0" u="none" strike="noStrike" baseline="0" dirty="0">
                <a:latin typeface="Times-Roman"/>
              </a:rPr>
              <a:t>a </a:t>
            </a:r>
            <a:r>
              <a:rPr lang="en-US" sz="1800" b="1" i="1" u="none" strike="noStrike" baseline="0" dirty="0">
                <a:latin typeface="Times-BoldItalic"/>
              </a:rPr>
              <a:t>predecessor </a:t>
            </a:r>
            <a:r>
              <a:rPr lang="en-US" sz="1800" b="1" i="1" u="none" strike="noStrike" baseline="0" dirty="0">
                <a:latin typeface="Times New Roman" panose="02020603050405020304" pitchFamily="18" charset="0"/>
                <a:cs typeface="Times New Roman" panose="02020603050405020304" pitchFamily="18" charset="0"/>
              </a:rPr>
              <a:t>∏ </a:t>
            </a:r>
            <a:r>
              <a:rPr lang="en-US" sz="1800" b="0" i="0" u="none" strike="noStrike" baseline="0" dirty="0">
                <a:latin typeface="Times-Roman"/>
              </a:rPr>
              <a:t>that is either another vertex or </a:t>
            </a:r>
            <a:r>
              <a:rPr lang="en-US" sz="1400" b="0" i="0" u="none" strike="noStrike" baseline="0" dirty="0">
                <a:latin typeface="Times-Roman"/>
              </a:rPr>
              <a:t>NIL.</a:t>
            </a:r>
            <a:endParaRPr lang="en-IN" sz="1400" dirty="0"/>
          </a:p>
        </p:txBody>
      </p:sp>
    </p:spTree>
    <p:extLst>
      <p:ext uri="{BB962C8B-B14F-4D97-AF65-F5344CB8AC3E}">
        <p14:creationId xmlns:p14="http://schemas.microsoft.com/office/powerpoint/2010/main" val="4033756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12EF2C7-C008-B51F-B751-F8AB274B7C4A}"/>
              </a:ext>
            </a:extLst>
          </p:cNvPr>
          <p:cNvPicPr>
            <a:picLocks noGrp="1" noChangeAspect="1"/>
          </p:cNvPicPr>
          <p:nvPr>
            <p:ph idx="4294967295"/>
          </p:nvPr>
        </p:nvPicPr>
        <p:blipFill>
          <a:blip r:embed="rId2"/>
          <a:stretch>
            <a:fillRect/>
          </a:stretch>
        </p:blipFill>
        <p:spPr>
          <a:xfrm>
            <a:off x="3070459" y="368786"/>
            <a:ext cx="8464550" cy="6440487"/>
          </a:xfrm>
        </p:spPr>
      </p:pic>
      <p:sp>
        <p:nvSpPr>
          <p:cNvPr id="7" name="TextBox 6">
            <a:extLst>
              <a:ext uri="{FF2B5EF4-FFF2-40B4-BE49-F238E27FC236}">
                <a16:creationId xmlns:a16="http://schemas.microsoft.com/office/drawing/2014/main" id="{51C35C3C-CD9D-6890-A65A-88A620AB1D6E}"/>
              </a:ext>
            </a:extLst>
          </p:cNvPr>
          <p:cNvSpPr txBox="1"/>
          <p:nvPr/>
        </p:nvSpPr>
        <p:spPr>
          <a:xfrm>
            <a:off x="55346" y="368786"/>
            <a:ext cx="3015113" cy="2554545"/>
          </a:xfrm>
          <a:prstGeom prst="rect">
            <a:avLst/>
          </a:prstGeom>
          <a:noFill/>
        </p:spPr>
        <p:txBody>
          <a:bodyPr wrap="square">
            <a:spAutoFit/>
          </a:bodyPr>
          <a:lstStyle/>
          <a:p>
            <a:r>
              <a:rPr lang="en-IN" sz="3200" dirty="0"/>
              <a:t>Bellman Ford algorithm- for detection of negative cycles in digraph</a:t>
            </a:r>
          </a:p>
        </p:txBody>
      </p:sp>
      <p:sp>
        <p:nvSpPr>
          <p:cNvPr id="8" name="TextBox 7">
            <a:extLst>
              <a:ext uri="{FF2B5EF4-FFF2-40B4-BE49-F238E27FC236}">
                <a16:creationId xmlns:a16="http://schemas.microsoft.com/office/drawing/2014/main" id="{AAF65084-5204-FE5E-A0BB-CB0E493B45FA}"/>
              </a:ext>
            </a:extLst>
          </p:cNvPr>
          <p:cNvSpPr txBox="1"/>
          <p:nvPr/>
        </p:nvSpPr>
        <p:spPr>
          <a:xfrm flipH="1">
            <a:off x="212958" y="3589029"/>
            <a:ext cx="1349944" cy="2862322"/>
          </a:xfrm>
          <a:prstGeom prst="rect">
            <a:avLst/>
          </a:prstGeom>
          <a:noFill/>
        </p:spPr>
        <p:txBody>
          <a:bodyPr wrap="square" rtlCol="0">
            <a:spAutoFit/>
          </a:bodyPr>
          <a:lstStyle/>
          <a:p>
            <a:r>
              <a:rPr lang="en-IN" b="1" dirty="0"/>
              <a:t>Note: </a:t>
            </a:r>
            <a:r>
              <a:rPr lang="en-IN" dirty="0"/>
              <a:t>Print all </a:t>
            </a:r>
            <a:r>
              <a:rPr lang="en-IN" dirty="0" err="1"/>
              <a:t>v.d</a:t>
            </a:r>
            <a:r>
              <a:rPr lang="en-IN" dirty="0"/>
              <a:t> values and that will give us the shortest distance from source to all other vertices ‘v’</a:t>
            </a:r>
          </a:p>
        </p:txBody>
      </p:sp>
    </p:spTree>
    <p:extLst>
      <p:ext uri="{BB962C8B-B14F-4D97-AF65-F5344CB8AC3E}">
        <p14:creationId xmlns:p14="http://schemas.microsoft.com/office/powerpoint/2010/main" val="2357698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5BE03-98EB-4A7F-935D-137606A8749A}"/>
              </a:ext>
            </a:extLst>
          </p:cNvPr>
          <p:cNvSpPr>
            <a:spLocks noGrp="1"/>
          </p:cNvSpPr>
          <p:nvPr>
            <p:ph type="title"/>
          </p:nvPr>
        </p:nvSpPr>
        <p:spPr/>
        <p:txBody>
          <a:bodyPr/>
          <a:lstStyle/>
          <a:p>
            <a:r>
              <a:rPr lang="en-US" dirty="0"/>
              <a:t>Hamiltonian cycle</a:t>
            </a:r>
            <a:endParaRPr lang="en-IN" dirty="0"/>
          </a:p>
        </p:txBody>
      </p:sp>
      <p:pic>
        <p:nvPicPr>
          <p:cNvPr id="5" name="Content Placeholder 4">
            <a:extLst>
              <a:ext uri="{FF2B5EF4-FFF2-40B4-BE49-F238E27FC236}">
                <a16:creationId xmlns:a16="http://schemas.microsoft.com/office/drawing/2014/main" id="{6D9381FA-6725-4CF2-8EA0-4FBB9FF0C2FD}"/>
              </a:ext>
            </a:extLst>
          </p:cNvPr>
          <p:cNvPicPr>
            <a:picLocks noGrp="1" noChangeAspect="1"/>
          </p:cNvPicPr>
          <p:nvPr>
            <p:ph idx="1"/>
          </p:nvPr>
        </p:nvPicPr>
        <p:blipFill>
          <a:blip r:embed="rId2"/>
          <a:stretch>
            <a:fillRect/>
          </a:stretch>
        </p:blipFill>
        <p:spPr>
          <a:xfrm>
            <a:off x="3933825" y="2538330"/>
            <a:ext cx="3119437" cy="2110664"/>
          </a:xfrm>
        </p:spPr>
      </p:pic>
    </p:spTree>
    <p:extLst>
      <p:ext uri="{BB962C8B-B14F-4D97-AF65-F5344CB8AC3E}">
        <p14:creationId xmlns:p14="http://schemas.microsoft.com/office/powerpoint/2010/main" val="32879982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E1E267-7A58-412B-A005-7C48FB871CEB}"/>
              </a:ext>
            </a:extLst>
          </p:cNvPr>
          <p:cNvSpPr>
            <a:spLocks noGrp="1"/>
          </p:cNvSpPr>
          <p:nvPr>
            <p:ph type="title"/>
          </p:nvPr>
        </p:nvSpPr>
        <p:spPr/>
        <p:txBody>
          <a:bodyPr/>
          <a:lstStyle/>
          <a:p>
            <a:pPr algn="ctr"/>
            <a:r>
              <a:rPr lang="en-US" dirty="0"/>
              <a:t>Branch and Bound</a:t>
            </a:r>
            <a:endParaRPr lang="en-IN" dirty="0"/>
          </a:p>
        </p:txBody>
      </p:sp>
      <p:pic>
        <p:nvPicPr>
          <p:cNvPr id="7" name="Content Placeholder 6">
            <a:extLst>
              <a:ext uri="{FF2B5EF4-FFF2-40B4-BE49-F238E27FC236}">
                <a16:creationId xmlns:a16="http://schemas.microsoft.com/office/drawing/2014/main" id="{F51DA609-914B-4130-94D1-E36882B39645}"/>
              </a:ext>
            </a:extLst>
          </p:cNvPr>
          <p:cNvPicPr>
            <a:picLocks noGrp="1" noChangeAspect="1"/>
          </p:cNvPicPr>
          <p:nvPr>
            <p:ph idx="1"/>
          </p:nvPr>
        </p:nvPicPr>
        <p:blipFill>
          <a:blip r:embed="rId2"/>
          <a:stretch>
            <a:fillRect/>
          </a:stretch>
        </p:blipFill>
        <p:spPr>
          <a:xfrm>
            <a:off x="4219575" y="3372644"/>
            <a:ext cx="3752850" cy="1257300"/>
          </a:xfrm>
        </p:spPr>
      </p:pic>
    </p:spTree>
    <p:extLst>
      <p:ext uri="{BB962C8B-B14F-4D97-AF65-F5344CB8AC3E}">
        <p14:creationId xmlns:p14="http://schemas.microsoft.com/office/powerpoint/2010/main" val="4009478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1B886C-D019-4D41-4693-582FEE3F63C6}"/>
              </a:ext>
            </a:extLst>
          </p:cNvPr>
          <p:cNvPicPr>
            <a:picLocks noChangeAspect="1"/>
          </p:cNvPicPr>
          <p:nvPr/>
        </p:nvPicPr>
        <p:blipFill>
          <a:blip r:embed="rId2"/>
          <a:stretch>
            <a:fillRect/>
          </a:stretch>
        </p:blipFill>
        <p:spPr>
          <a:xfrm>
            <a:off x="1662112" y="185837"/>
            <a:ext cx="8867775" cy="6505575"/>
          </a:xfrm>
          <a:prstGeom prst="rect">
            <a:avLst/>
          </a:prstGeom>
        </p:spPr>
      </p:pic>
    </p:spTree>
    <p:extLst>
      <p:ext uri="{BB962C8B-B14F-4D97-AF65-F5344CB8AC3E}">
        <p14:creationId xmlns:p14="http://schemas.microsoft.com/office/powerpoint/2010/main" val="3418335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AEE1BF7-7525-73D8-6C90-7AC9730F8983}"/>
              </a:ext>
            </a:extLst>
          </p:cNvPr>
          <p:cNvPicPr>
            <a:picLocks noGrp="1" noChangeAspect="1"/>
          </p:cNvPicPr>
          <p:nvPr>
            <p:ph idx="4294967295"/>
          </p:nvPr>
        </p:nvPicPr>
        <p:blipFill>
          <a:blip r:embed="rId2"/>
          <a:stretch>
            <a:fillRect/>
          </a:stretch>
        </p:blipFill>
        <p:spPr>
          <a:xfrm>
            <a:off x="1905802" y="327074"/>
            <a:ext cx="8152598" cy="6203852"/>
          </a:xfrm>
        </p:spPr>
      </p:pic>
    </p:spTree>
    <p:extLst>
      <p:ext uri="{BB962C8B-B14F-4D97-AF65-F5344CB8AC3E}">
        <p14:creationId xmlns:p14="http://schemas.microsoft.com/office/powerpoint/2010/main" val="724656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638806E-0FAA-B3FC-0675-00969FE12660}"/>
              </a:ext>
            </a:extLst>
          </p:cNvPr>
          <p:cNvPicPr>
            <a:picLocks noChangeAspect="1"/>
          </p:cNvPicPr>
          <p:nvPr/>
        </p:nvPicPr>
        <p:blipFill>
          <a:blip r:embed="rId2"/>
          <a:stretch>
            <a:fillRect/>
          </a:stretch>
        </p:blipFill>
        <p:spPr>
          <a:xfrm>
            <a:off x="1949823" y="0"/>
            <a:ext cx="8292353" cy="6858000"/>
          </a:xfrm>
          <a:prstGeom prst="rect">
            <a:avLst/>
          </a:prstGeom>
        </p:spPr>
      </p:pic>
    </p:spTree>
    <p:extLst>
      <p:ext uri="{BB962C8B-B14F-4D97-AF65-F5344CB8AC3E}">
        <p14:creationId xmlns:p14="http://schemas.microsoft.com/office/powerpoint/2010/main" val="29611011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8EE743-0E40-A7F3-230B-CAF3DE061CAA}"/>
              </a:ext>
            </a:extLst>
          </p:cNvPr>
          <p:cNvPicPr>
            <a:picLocks noChangeAspect="1"/>
          </p:cNvPicPr>
          <p:nvPr/>
        </p:nvPicPr>
        <p:blipFill>
          <a:blip r:embed="rId2"/>
          <a:stretch>
            <a:fillRect/>
          </a:stretch>
        </p:blipFill>
        <p:spPr>
          <a:xfrm>
            <a:off x="1785937" y="80962"/>
            <a:ext cx="8620125" cy="6696075"/>
          </a:xfrm>
          <a:prstGeom prst="rect">
            <a:avLst/>
          </a:prstGeom>
        </p:spPr>
      </p:pic>
    </p:spTree>
    <p:extLst>
      <p:ext uri="{BB962C8B-B14F-4D97-AF65-F5344CB8AC3E}">
        <p14:creationId xmlns:p14="http://schemas.microsoft.com/office/powerpoint/2010/main" val="17856779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5CCF83-E63F-1B37-E715-503EBA8E829F}"/>
              </a:ext>
            </a:extLst>
          </p:cNvPr>
          <p:cNvPicPr>
            <a:picLocks noChangeAspect="1"/>
          </p:cNvPicPr>
          <p:nvPr/>
        </p:nvPicPr>
        <p:blipFill>
          <a:blip r:embed="rId2"/>
          <a:stretch>
            <a:fillRect/>
          </a:stretch>
        </p:blipFill>
        <p:spPr>
          <a:xfrm>
            <a:off x="1754984" y="0"/>
            <a:ext cx="8682031" cy="6858000"/>
          </a:xfrm>
          <a:prstGeom prst="rect">
            <a:avLst/>
          </a:prstGeom>
        </p:spPr>
      </p:pic>
    </p:spTree>
    <p:extLst>
      <p:ext uri="{BB962C8B-B14F-4D97-AF65-F5344CB8AC3E}">
        <p14:creationId xmlns:p14="http://schemas.microsoft.com/office/powerpoint/2010/main" val="3526092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0F6A57-D234-F9EB-C292-8B393E011D1F}"/>
              </a:ext>
            </a:extLst>
          </p:cNvPr>
          <p:cNvPicPr>
            <a:picLocks noChangeAspect="1"/>
          </p:cNvPicPr>
          <p:nvPr/>
        </p:nvPicPr>
        <p:blipFill>
          <a:blip r:embed="rId2"/>
          <a:stretch>
            <a:fillRect/>
          </a:stretch>
        </p:blipFill>
        <p:spPr>
          <a:xfrm>
            <a:off x="1849547" y="0"/>
            <a:ext cx="8492906" cy="6858000"/>
          </a:xfrm>
          <a:prstGeom prst="rect">
            <a:avLst/>
          </a:prstGeom>
        </p:spPr>
      </p:pic>
    </p:spTree>
    <p:extLst>
      <p:ext uri="{BB962C8B-B14F-4D97-AF65-F5344CB8AC3E}">
        <p14:creationId xmlns:p14="http://schemas.microsoft.com/office/powerpoint/2010/main" val="34419740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CB6838-74C7-132A-719D-FF78B55658C5}"/>
              </a:ext>
            </a:extLst>
          </p:cNvPr>
          <p:cNvPicPr>
            <a:picLocks noChangeAspect="1"/>
          </p:cNvPicPr>
          <p:nvPr/>
        </p:nvPicPr>
        <p:blipFill>
          <a:blip r:embed="rId2"/>
          <a:stretch>
            <a:fillRect/>
          </a:stretch>
        </p:blipFill>
        <p:spPr>
          <a:xfrm>
            <a:off x="1691306" y="0"/>
            <a:ext cx="8809387" cy="6858000"/>
          </a:xfrm>
          <a:prstGeom prst="rect">
            <a:avLst/>
          </a:prstGeom>
        </p:spPr>
      </p:pic>
    </p:spTree>
    <p:extLst>
      <p:ext uri="{BB962C8B-B14F-4D97-AF65-F5344CB8AC3E}">
        <p14:creationId xmlns:p14="http://schemas.microsoft.com/office/powerpoint/2010/main" val="7081721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751</TotalTime>
  <Words>888</Words>
  <Application>Microsoft Macintosh PowerPoint</Application>
  <PresentationFormat>Widescreen</PresentationFormat>
  <Paragraphs>58</Paragraphs>
  <Slides>18</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vt:i4>
      </vt:variant>
    </vt:vector>
  </HeadingPairs>
  <TitlesOfParts>
    <vt:vector size="29" baseType="lpstr">
      <vt:lpstr>-apple-system</vt:lpstr>
      <vt:lpstr>Arial</vt:lpstr>
      <vt:lpstr>Calibri</vt:lpstr>
      <vt:lpstr>Calibri Light</vt:lpstr>
      <vt:lpstr>MT2MIS</vt:lpstr>
      <vt:lpstr>MT2MIT</vt:lpstr>
      <vt:lpstr>MT2SYT</vt:lpstr>
      <vt:lpstr>Times New Roman</vt:lpstr>
      <vt:lpstr>Times-BoldItalic</vt:lpstr>
      <vt:lpstr>Times-Roman</vt:lpstr>
      <vt:lpstr>Office Theme</vt:lpstr>
      <vt:lpstr>Design and analysis of algorithms (CSE 2012)  </vt:lpstr>
      <vt:lpstr>Robin Karp algorithm</vt:lpstr>
      <vt:lpstr>Robin Karp  algorithm</vt:lpstr>
      <vt:lpstr>Modular arithmetic</vt:lpstr>
      <vt:lpstr>Robin Karp algorithm</vt:lpstr>
      <vt:lpstr>Spurious hits</vt:lpstr>
      <vt:lpstr>Time complexity of Robin Karp algorithm</vt:lpstr>
      <vt:lpstr>Bellman Ford algorithm- Single source shortest path </vt:lpstr>
      <vt:lpstr>PowerPoint Presentation</vt:lpstr>
      <vt:lpstr>Hamiltonian cycle</vt:lpstr>
      <vt:lpstr>Branch and Bound</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analysis of algorithms (CSE 2012)  </dc:title>
  <dc:creator>S Jenicka</dc:creator>
  <cp:lastModifiedBy>Apoorva Karnwal</cp:lastModifiedBy>
  <cp:revision>35</cp:revision>
  <dcterms:created xsi:type="dcterms:W3CDTF">2021-09-07T14:22:50Z</dcterms:created>
  <dcterms:modified xsi:type="dcterms:W3CDTF">2024-03-09T03:44:38Z</dcterms:modified>
</cp:coreProperties>
</file>