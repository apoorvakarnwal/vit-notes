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9" r:id="rId2"/>
    <p:sldId id="393" r:id="rId3"/>
    <p:sldId id="257" r:id="rId4"/>
    <p:sldId id="258" r:id="rId5"/>
    <p:sldId id="394" r:id="rId6"/>
    <p:sldId id="395" r:id="rId7"/>
    <p:sldId id="401" r:id="rId8"/>
    <p:sldId id="396" r:id="rId9"/>
    <p:sldId id="402" r:id="rId10"/>
    <p:sldId id="403" r:id="rId11"/>
    <p:sldId id="404" r:id="rId12"/>
    <p:sldId id="40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DE289-0D4B-42A8-BFCC-1D6B9DD4B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3BC58-EA73-48B6-B147-18C347A70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FAC65-6AE8-48DD-AF46-2567DE766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01-10-2021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22FD7-E85E-4917-951D-A26AE2894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3271E-8510-44E8-8814-8007B5C61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53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C56B8-41DE-4188-B5E2-3AC3B109C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0BA07-D1B4-4A01-8171-CC2A27CFE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B54E9-AFA4-4245-A6E8-568BF2922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01-10-2021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DBB8C-A2E1-4EBE-819E-7184B219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B526A-4144-4423-A3E8-4BC91E1E4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061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94275-43EA-4C43-9624-4CF3C374E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171AC-1016-4C91-99BF-6287A3438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05E22-8C1D-4CFB-AEC6-3208DD007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01-10-2021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53450-857C-409E-B4DF-12146CD3E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A9B3A-B38F-4DFA-9C1E-0F0F3569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188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C989-A4FE-4659-AFA7-EA9E03C89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70A56-5454-4A44-B920-C195E11FF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A3EFD-E880-4F66-907E-736C7D491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C8A8F-6E8D-4B9A-A726-7A1059E2F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01-10-2021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37DC6-14E2-4C08-B0E4-BFA98A54B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6F8F6-31C6-46D8-BB3D-53469F2BA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646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7F695-E2A8-4D94-A6B3-97E238B0F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36740-223A-4EE8-8D12-AC09B94FF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E5AF86-6035-4EF0-9515-DFA2F85F9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975F13-E0C1-4EDD-B8B5-D621B2CE0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00EAAC-62F7-4058-9B7A-C90EFB6662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835AD2-44EE-4D79-A00C-0427ED7E0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01-10-2021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3AE4D3-08F5-4673-86A4-F29B3B5E1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AB1FB9-BE52-466E-A955-13EB600E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390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32BCC-812B-430A-A09F-F858C4E0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D20F97-E383-4B96-8792-22E61A1F5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01-10-2021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9942C-5717-49BA-B468-33F4E8D67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00CDD-623E-4958-A027-74D67E410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508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648E8-11A4-447E-B160-96DB5EBF3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01-10-2021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2FA7E-3609-4C5E-BFD7-A6588AB1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58F6F-9F3D-47B8-B587-33F533750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196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6B086-E27C-46FF-93FC-ABC85156C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51E2E-8F3E-485F-BA70-0E635A9A7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15F69-7E2A-4E4A-8AB5-0952D5311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C0C98-FF28-4701-A0CA-A34DE3E77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01-10-2021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96A17-9DDF-4678-A704-EFF0E0E76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C7E61-BA4E-474F-AC11-67B0D0D1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30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E328E-DC21-4F3D-8098-4BBAAA49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B73DA0-FD8F-46C7-A91E-958617FCBC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F7E0F-AAC7-47E6-A4C4-0329F63E3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02B30-2CC1-48DC-8928-4AFFD5B48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01-10-2021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8292F-AF38-4461-ADBC-FFFBDFFA4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A855A-E706-4C90-BA29-BD5EABD4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523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E836-26B5-4ED2-806E-AD6AD330A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51FD0-342C-4098-9E8F-9F14FA95A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1504E-974D-4714-B269-5635EE771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01-10-2021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F69F8-AC82-4D9E-A253-09613E7A4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F0863-4342-45CF-A595-1924AB40F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939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EF9F06-BFEB-4832-8724-04F530D9F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6ABCD3-E353-45C3-98D5-75C40CCA2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A54EF-0C4C-4D34-91CE-E6E570670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DDF43-BDBC-4720-A88D-BE2A71887863}" type="datetimeFigureOut">
              <a:rPr lang="en-IN" smtClean="0"/>
              <a:t>01-10-2021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26DC9-BC14-4583-ABD8-ADFE9E5DD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B452E-437E-43A8-BB8A-36EF407A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347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E33A72-A7A6-4F98-A1E0-D56C4F1B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5AD29-6F32-4F3C-858A-10DEB15A4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A8C8F-DDC4-46FE-83C0-BF11BDC611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DDF43-BDBC-4720-A88D-BE2A71887863}" type="datetimeFigureOut">
              <a:rPr lang="en-IN" smtClean="0"/>
              <a:t>01-10-2021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CEB6F-BABA-4300-BA63-C89CD44A70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EC64D-C7EF-44A4-9F98-69EECABC06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41BDB-632A-4ED0-92D0-869214B960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939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44DFD7-E78E-42DA-A1FE-100828ADB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517" y="1566334"/>
            <a:ext cx="7766936" cy="1646302"/>
          </a:xfrm>
        </p:spPr>
        <p:txBody>
          <a:bodyPr>
            <a:normAutofit/>
          </a:bodyPr>
          <a:lstStyle/>
          <a:p>
            <a:r>
              <a:rPr lang="en-US" sz="3100" dirty="0"/>
              <a:t>Design and analysis of algorithms (CSE 2012) </a:t>
            </a:r>
            <a:br>
              <a:rPr lang="en-US" sz="3100" dirty="0"/>
            </a:br>
            <a:endParaRPr lang="en-IN" sz="2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718CEE2-5954-4609-826A-7625020AF2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Prepared by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Dr.S.Jenicka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Assistant professor senior grade 2</a:t>
            </a:r>
          </a:p>
          <a:p>
            <a:r>
              <a:rPr lang="en-US" sz="2400" dirty="0">
                <a:solidFill>
                  <a:schemeClr val="tx1"/>
                </a:solidFill>
              </a:rPr>
              <a:t>SCOPE-Analytics</a:t>
            </a:r>
          </a:p>
          <a:p>
            <a:r>
              <a:rPr lang="en-US" sz="2400" dirty="0">
                <a:solidFill>
                  <a:schemeClr val="tx1"/>
                </a:solidFill>
              </a:rPr>
              <a:t>VIT Vellore</a:t>
            </a:r>
            <a:endParaRPr lang="en-IN" sz="2400" dirty="0">
              <a:solidFill>
                <a:schemeClr val="tx1"/>
              </a:solidFill>
            </a:endParaRPr>
          </a:p>
        </p:txBody>
      </p:sp>
      <p:pic>
        <p:nvPicPr>
          <p:cNvPr id="7" name="Google Shape;415;p66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587F64C9-E839-4078-8B92-C9C7349D11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962150" cy="20710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4498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derstanding Line Slopes and the Slope Formula - dummies">
            <a:extLst>
              <a:ext uri="{FF2B5EF4-FFF2-40B4-BE49-F238E27FC236}">
                <a16:creationId xmlns:a16="http://schemas.microsoft.com/office/drawing/2014/main" id="{E8171AAD-EA1B-4C4A-86D3-E73480AF6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1947863"/>
            <a:ext cx="4762500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6B0E87-8809-44B7-BE5B-F456D885D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Lines of increasing slope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5373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B57CA67-77DB-4F93-A92A-F4F469D61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694" y="2533651"/>
            <a:ext cx="10202544" cy="15668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1B7893-6FAA-462E-9B8B-810AADA90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for constructing convex hull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3578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3A781-EA3F-44C4-8C6E-CD953CF61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0" y="365125"/>
            <a:ext cx="401955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Graham’s scan convex hull algorithm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102D07-F745-4F16-BD6B-10B0CC83F4B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163221" y="184903"/>
            <a:ext cx="5710238" cy="1112837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3E63CA-9E1F-4087-B447-061550CC7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184" y="1027906"/>
            <a:ext cx="5629275" cy="1895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BA2D4E-171A-44F5-88FA-263D60048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221" y="2923381"/>
            <a:ext cx="546735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6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E37B58-CAF9-4CB1-A31E-1BD5A14DB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687" y="139134"/>
            <a:ext cx="6524625" cy="657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1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9C0BD9-9EA5-44F9-9A0E-78500ACAA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025" y="95250"/>
            <a:ext cx="6457950" cy="645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29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36974-EC79-46DA-A9E3-1173F66FD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1EF5C-C81D-4246-A2A7-1A7226721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Time complexity = O(</a:t>
            </a:r>
            <a:r>
              <a:rPr lang="en-US" dirty="0" err="1"/>
              <a:t>nlogn</a:t>
            </a:r>
            <a:r>
              <a:rPr lang="en-US" dirty="0"/>
              <a:t>) because soring algorithm takes O(</a:t>
            </a:r>
            <a:r>
              <a:rPr lang="en-US" dirty="0" err="1"/>
              <a:t>nlogn</a:t>
            </a:r>
            <a:r>
              <a:rPr lang="en-US" dirty="0"/>
              <a:t>)  time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7336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D5C4D0-F96D-42DE-B9C5-D64B7E445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73" y="2257425"/>
            <a:ext cx="10422967" cy="22383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37A6E5-35D0-428D-98F3-8B4685C33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Jarvis’s March convex hull algorithm or Package wrapping algorithm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2991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C9215D-095A-4B31-A6D6-E3CEBFD8726C}"/>
              </a:ext>
            </a:extLst>
          </p:cNvPr>
          <p:cNvSpPr txBox="1"/>
          <p:nvPr/>
        </p:nvSpPr>
        <p:spPr>
          <a:xfrm>
            <a:off x="609601" y="1600200"/>
            <a:ext cx="10896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1) Initialize p as leftmost point.</a:t>
            </a:r>
          </a:p>
          <a:p>
            <a:r>
              <a:rPr lang="en-US" sz="3200" dirty="0"/>
              <a:t>2) Do following while we do not come back to the first (or leftmost) point.</a:t>
            </a:r>
          </a:p>
          <a:p>
            <a:r>
              <a:rPr lang="en-US" sz="3200" dirty="0"/>
              <a:t>     a) The next point q is the point such that the triplet (p, q, r) is counterclockwise for any other point r.</a:t>
            </a:r>
          </a:p>
          <a:p>
            <a:r>
              <a:rPr lang="en-US" sz="3200" dirty="0"/>
              <a:t>     b) next[p] = q (Store q as next of p in the output convex hull).</a:t>
            </a:r>
          </a:p>
          <a:p>
            <a:r>
              <a:rPr lang="en-US" sz="3200" dirty="0"/>
              <a:t>     c) p = q (Set p as q for next iteration).</a:t>
            </a:r>
            <a:endParaRPr lang="en-IN" sz="32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476238E-9006-417D-8E92-1162F2646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Jarvis’s March convex hull algorithm 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3656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B662-B78C-4851-BBB8-C61D97F5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Jarvis’s March Pseudocode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593A12-67C9-4B0C-BB42-0C7D668CA958}"/>
              </a:ext>
            </a:extLst>
          </p:cNvPr>
          <p:cNvSpPr txBox="1"/>
          <p:nvPr/>
        </p:nvSpPr>
        <p:spPr>
          <a:xfrm>
            <a:off x="1200149" y="2134791"/>
            <a:ext cx="892492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jarvis</a:t>
            </a:r>
            <a:r>
              <a:rPr lang="en-US" sz="2000" dirty="0"/>
              <a:t>(S)</a:t>
            </a:r>
          </a:p>
          <a:p>
            <a:r>
              <a:rPr lang="en-US" sz="2000" dirty="0"/>
              <a:t>   // S is the set of points</a:t>
            </a:r>
          </a:p>
          <a:p>
            <a:r>
              <a:rPr lang="en-US" sz="2000" dirty="0"/>
              <a:t>   </a:t>
            </a:r>
            <a:r>
              <a:rPr lang="en-US" sz="2000" dirty="0" err="1"/>
              <a:t>pointOnHull</a:t>
            </a:r>
            <a:r>
              <a:rPr lang="en-US" sz="2000" dirty="0"/>
              <a:t> = leftmost point in S //which is guaranteed to be part of the Hull(S)</a:t>
            </a:r>
          </a:p>
          <a:p>
            <a:r>
              <a:rPr lang="en-US" sz="2000" dirty="0"/>
              <a:t>   </a:t>
            </a:r>
            <a:r>
              <a:rPr lang="en-US" sz="2000" dirty="0" err="1"/>
              <a:t>i</a:t>
            </a:r>
            <a:r>
              <a:rPr lang="en-US" sz="2000" dirty="0"/>
              <a:t> = 0</a:t>
            </a:r>
          </a:p>
          <a:p>
            <a:r>
              <a:rPr lang="en-US" sz="2000" dirty="0"/>
              <a:t>   repeat</a:t>
            </a:r>
          </a:p>
          <a:p>
            <a:r>
              <a:rPr lang="en-US" sz="2000" dirty="0"/>
              <a:t>      P[</a:t>
            </a:r>
            <a:r>
              <a:rPr lang="en-US" sz="2000" dirty="0" err="1"/>
              <a:t>i</a:t>
            </a:r>
            <a:r>
              <a:rPr lang="en-US" sz="2000" dirty="0"/>
              <a:t>] = </a:t>
            </a:r>
            <a:r>
              <a:rPr lang="en-US" sz="2000" dirty="0" err="1"/>
              <a:t>pointOnHull</a:t>
            </a:r>
            <a:endParaRPr lang="en-US" sz="2000" dirty="0"/>
          </a:p>
          <a:p>
            <a:r>
              <a:rPr lang="en-US" sz="2000" dirty="0"/>
              <a:t>      endpoint = S[0]      // initial endpoint for a candidate edge on the hull</a:t>
            </a:r>
          </a:p>
          <a:p>
            <a:r>
              <a:rPr lang="en-US" sz="2000" dirty="0"/>
              <a:t>      for j from 1 to |S|</a:t>
            </a:r>
          </a:p>
          <a:p>
            <a:r>
              <a:rPr lang="en-US" sz="2000" dirty="0"/>
              <a:t>         if (endpoint == </a:t>
            </a:r>
            <a:r>
              <a:rPr lang="en-US" sz="2000" dirty="0" err="1"/>
              <a:t>pointOnHull</a:t>
            </a:r>
            <a:r>
              <a:rPr lang="en-US" sz="2000" dirty="0"/>
              <a:t>) or (S[j] is on left of line from P[</a:t>
            </a:r>
            <a:r>
              <a:rPr lang="en-US" sz="2000" dirty="0" err="1"/>
              <a:t>i</a:t>
            </a:r>
            <a:r>
              <a:rPr lang="en-US" sz="2000" dirty="0"/>
              <a:t>] to endpoint)</a:t>
            </a:r>
          </a:p>
          <a:p>
            <a:r>
              <a:rPr lang="en-US" sz="2000" dirty="0"/>
              <a:t>            endpoint = S[j]   // found greater left turn, update endpoint</a:t>
            </a:r>
          </a:p>
          <a:p>
            <a:r>
              <a:rPr lang="en-US" sz="2000" dirty="0"/>
              <a:t>      </a:t>
            </a:r>
            <a:r>
              <a:rPr lang="en-US" sz="2000" dirty="0" err="1"/>
              <a:t>i</a:t>
            </a:r>
            <a:r>
              <a:rPr lang="en-US" sz="2000" dirty="0"/>
              <a:t> = i+1</a:t>
            </a:r>
          </a:p>
          <a:p>
            <a:r>
              <a:rPr lang="en-US" sz="2000" dirty="0"/>
              <a:t>      </a:t>
            </a:r>
            <a:r>
              <a:rPr lang="en-US" sz="2000" dirty="0" err="1"/>
              <a:t>pointOnHull</a:t>
            </a:r>
            <a:r>
              <a:rPr lang="en-US" sz="2000" dirty="0"/>
              <a:t> = endpoint</a:t>
            </a:r>
          </a:p>
          <a:p>
            <a:r>
              <a:rPr lang="en-US" sz="2000" dirty="0"/>
              <a:t>   until endpoint == P[0]      // wrapped around to first hull point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25017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2149C-D813-4BFA-A78C-EF0AA612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Tracing Jarvis’s March algorithm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1E50FC-6B91-4415-BD56-FB4B7E726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2" y="1381125"/>
            <a:ext cx="10086975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33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718CB-491C-4CA9-8EFC-D657BDCCE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4F9ED-FFF8-4565-93A7-68A92F839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Time complexity=O(</a:t>
            </a:r>
            <a:r>
              <a:rPr lang="en-US" dirty="0" err="1"/>
              <a:t>nh</a:t>
            </a:r>
            <a:r>
              <a:rPr lang="en-US" dirty="0"/>
              <a:t>) where n is the number of given points and h is the number of points in the convex hull. If n=h, then time complexity is O(n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8840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351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Design and analysis of algorithms (CSE 2012)  </vt:lpstr>
      <vt:lpstr>Lines of increasing slope</vt:lpstr>
      <vt:lpstr>Algorithms for constructing convex hull</vt:lpstr>
      <vt:lpstr>Graham’s scan convex hull algorithm</vt:lpstr>
      <vt:lpstr>PowerPoint Presentation</vt:lpstr>
      <vt:lpstr>PowerPoint Presentation</vt:lpstr>
      <vt:lpstr>Time complexity</vt:lpstr>
      <vt:lpstr>Jarvis’s March convex hull algorithm or Package wrapping algorithm</vt:lpstr>
      <vt:lpstr>Jarvis’s March convex hull algorithm  </vt:lpstr>
      <vt:lpstr>Jarvis’s March Pseudocode</vt:lpstr>
      <vt:lpstr>Tracing Jarvis’s March algorithm</vt:lpstr>
      <vt:lpstr>Time complexity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 Jenicka</dc:creator>
  <cp:lastModifiedBy>S Jenicka</cp:lastModifiedBy>
  <cp:revision>4</cp:revision>
  <dcterms:created xsi:type="dcterms:W3CDTF">2021-09-29T07:43:42Z</dcterms:created>
  <dcterms:modified xsi:type="dcterms:W3CDTF">2021-10-01T06:46:39Z</dcterms:modified>
</cp:coreProperties>
</file>