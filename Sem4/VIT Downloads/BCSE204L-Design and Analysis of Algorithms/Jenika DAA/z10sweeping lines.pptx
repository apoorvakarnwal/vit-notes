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3" r:id="rId9"/>
    <p:sldId id="265" r:id="rId10"/>
    <p:sldId id="262"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p:cViewPr varScale="1">
        <p:scale>
          <a:sx n="122" d="100"/>
          <a:sy n="122" d="100"/>
        </p:scale>
        <p:origin x="240" y="3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E7648-3AC0-1D7E-86B5-A0CAD4669C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6F2C297-6659-BF25-2BD4-D523F28ED2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0B41E8F-2676-6C93-F20C-1B508F28C3E0}"/>
              </a:ext>
            </a:extLst>
          </p:cNvPr>
          <p:cNvSpPr>
            <a:spLocks noGrp="1"/>
          </p:cNvSpPr>
          <p:nvPr>
            <p:ph type="dt" sz="half" idx="10"/>
          </p:nvPr>
        </p:nvSpPr>
        <p:spPr/>
        <p:txBody>
          <a:bodyPr/>
          <a:lstStyle/>
          <a:p>
            <a:fld id="{1337BA70-572D-431E-86BA-D8EC1D1280CC}" type="datetimeFigureOut">
              <a:rPr lang="en-IN" smtClean="0"/>
              <a:t>25/04/24</a:t>
            </a:fld>
            <a:endParaRPr lang="en-IN"/>
          </a:p>
        </p:txBody>
      </p:sp>
      <p:sp>
        <p:nvSpPr>
          <p:cNvPr id="5" name="Footer Placeholder 4">
            <a:extLst>
              <a:ext uri="{FF2B5EF4-FFF2-40B4-BE49-F238E27FC236}">
                <a16:creationId xmlns:a16="http://schemas.microsoft.com/office/drawing/2014/main" id="{4FF8D9F4-6E38-50D1-8F8C-88F893E427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07A158-A4C9-5023-7CE9-F5F9E9534927}"/>
              </a:ext>
            </a:extLst>
          </p:cNvPr>
          <p:cNvSpPr>
            <a:spLocks noGrp="1"/>
          </p:cNvSpPr>
          <p:nvPr>
            <p:ph type="sldNum" sz="quarter" idx="12"/>
          </p:nvPr>
        </p:nvSpPr>
        <p:spPr/>
        <p:txBody>
          <a:bodyPr/>
          <a:lstStyle/>
          <a:p>
            <a:fld id="{7A355979-B908-4DF8-A99F-3B736BD084BE}" type="slidenum">
              <a:rPr lang="en-IN" smtClean="0"/>
              <a:t>‹#›</a:t>
            </a:fld>
            <a:endParaRPr lang="en-IN"/>
          </a:p>
        </p:txBody>
      </p:sp>
    </p:spTree>
    <p:extLst>
      <p:ext uri="{BB962C8B-B14F-4D97-AF65-F5344CB8AC3E}">
        <p14:creationId xmlns:p14="http://schemas.microsoft.com/office/powerpoint/2010/main" val="1130864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6A0D-0CC4-C177-0F0F-B922BCBDF7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7E9318-9279-17F6-4C2B-E2B385728A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16CBED-15AA-0162-08A8-B47F056FE57B}"/>
              </a:ext>
            </a:extLst>
          </p:cNvPr>
          <p:cNvSpPr>
            <a:spLocks noGrp="1"/>
          </p:cNvSpPr>
          <p:nvPr>
            <p:ph type="dt" sz="half" idx="10"/>
          </p:nvPr>
        </p:nvSpPr>
        <p:spPr/>
        <p:txBody>
          <a:bodyPr/>
          <a:lstStyle/>
          <a:p>
            <a:fld id="{1337BA70-572D-431E-86BA-D8EC1D1280CC}" type="datetimeFigureOut">
              <a:rPr lang="en-IN" smtClean="0"/>
              <a:t>25/04/24</a:t>
            </a:fld>
            <a:endParaRPr lang="en-IN"/>
          </a:p>
        </p:txBody>
      </p:sp>
      <p:sp>
        <p:nvSpPr>
          <p:cNvPr id="5" name="Footer Placeholder 4">
            <a:extLst>
              <a:ext uri="{FF2B5EF4-FFF2-40B4-BE49-F238E27FC236}">
                <a16:creationId xmlns:a16="http://schemas.microsoft.com/office/drawing/2014/main" id="{FAFB9FE2-BA42-4A65-5443-CCF133040D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92F740-CB60-C85E-FE1A-10E94992FEB2}"/>
              </a:ext>
            </a:extLst>
          </p:cNvPr>
          <p:cNvSpPr>
            <a:spLocks noGrp="1"/>
          </p:cNvSpPr>
          <p:nvPr>
            <p:ph type="sldNum" sz="quarter" idx="12"/>
          </p:nvPr>
        </p:nvSpPr>
        <p:spPr/>
        <p:txBody>
          <a:bodyPr/>
          <a:lstStyle/>
          <a:p>
            <a:fld id="{7A355979-B908-4DF8-A99F-3B736BD084BE}" type="slidenum">
              <a:rPr lang="en-IN" smtClean="0"/>
              <a:t>‹#›</a:t>
            </a:fld>
            <a:endParaRPr lang="en-IN"/>
          </a:p>
        </p:txBody>
      </p:sp>
    </p:spTree>
    <p:extLst>
      <p:ext uri="{BB962C8B-B14F-4D97-AF65-F5344CB8AC3E}">
        <p14:creationId xmlns:p14="http://schemas.microsoft.com/office/powerpoint/2010/main" val="2468031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EBD1E-5393-AFF9-70EF-2327C56EEE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25700D4-C5CA-BEB2-83BA-2A6F090CBF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DE372D-3996-B721-E503-1A8521571759}"/>
              </a:ext>
            </a:extLst>
          </p:cNvPr>
          <p:cNvSpPr>
            <a:spLocks noGrp="1"/>
          </p:cNvSpPr>
          <p:nvPr>
            <p:ph type="dt" sz="half" idx="10"/>
          </p:nvPr>
        </p:nvSpPr>
        <p:spPr/>
        <p:txBody>
          <a:bodyPr/>
          <a:lstStyle/>
          <a:p>
            <a:fld id="{1337BA70-572D-431E-86BA-D8EC1D1280CC}" type="datetimeFigureOut">
              <a:rPr lang="en-IN" smtClean="0"/>
              <a:t>25/04/24</a:t>
            </a:fld>
            <a:endParaRPr lang="en-IN"/>
          </a:p>
        </p:txBody>
      </p:sp>
      <p:sp>
        <p:nvSpPr>
          <p:cNvPr id="5" name="Footer Placeholder 4">
            <a:extLst>
              <a:ext uri="{FF2B5EF4-FFF2-40B4-BE49-F238E27FC236}">
                <a16:creationId xmlns:a16="http://schemas.microsoft.com/office/drawing/2014/main" id="{DC94A9E5-5FB1-367D-BEE4-CCA0BA1BD9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5EFADA-2378-4517-7585-24DF53EDB1FE}"/>
              </a:ext>
            </a:extLst>
          </p:cNvPr>
          <p:cNvSpPr>
            <a:spLocks noGrp="1"/>
          </p:cNvSpPr>
          <p:nvPr>
            <p:ph type="sldNum" sz="quarter" idx="12"/>
          </p:nvPr>
        </p:nvSpPr>
        <p:spPr/>
        <p:txBody>
          <a:bodyPr/>
          <a:lstStyle/>
          <a:p>
            <a:fld id="{7A355979-B908-4DF8-A99F-3B736BD084BE}" type="slidenum">
              <a:rPr lang="en-IN" smtClean="0"/>
              <a:t>‹#›</a:t>
            </a:fld>
            <a:endParaRPr lang="en-IN"/>
          </a:p>
        </p:txBody>
      </p:sp>
    </p:spTree>
    <p:extLst>
      <p:ext uri="{BB962C8B-B14F-4D97-AF65-F5344CB8AC3E}">
        <p14:creationId xmlns:p14="http://schemas.microsoft.com/office/powerpoint/2010/main" val="2211532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D885A-80A8-7CCB-A606-A52C3BAE36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F5C9E2-490A-CD20-C3EC-7B425F31BB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1D4ADC6-EC61-116A-C84B-9C72570527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BE3D256-AF6F-3597-FFC1-EC8A7DE72F17}"/>
              </a:ext>
            </a:extLst>
          </p:cNvPr>
          <p:cNvSpPr>
            <a:spLocks noGrp="1"/>
          </p:cNvSpPr>
          <p:nvPr>
            <p:ph type="dt" sz="half" idx="10"/>
          </p:nvPr>
        </p:nvSpPr>
        <p:spPr/>
        <p:txBody>
          <a:bodyPr/>
          <a:lstStyle/>
          <a:p>
            <a:fld id="{1337BA70-572D-431E-86BA-D8EC1D1280CC}" type="datetimeFigureOut">
              <a:rPr lang="en-IN" smtClean="0"/>
              <a:t>25/04/24</a:t>
            </a:fld>
            <a:endParaRPr lang="en-IN"/>
          </a:p>
        </p:txBody>
      </p:sp>
      <p:sp>
        <p:nvSpPr>
          <p:cNvPr id="6" name="Footer Placeholder 5">
            <a:extLst>
              <a:ext uri="{FF2B5EF4-FFF2-40B4-BE49-F238E27FC236}">
                <a16:creationId xmlns:a16="http://schemas.microsoft.com/office/drawing/2014/main" id="{F2C2AEC3-3FF0-69D4-97E0-5BEB819177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1D3809-B9F5-93B2-62E1-8162D2EFE888}"/>
              </a:ext>
            </a:extLst>
          </p:cNvPr>
          <p:cNvSpPr>
            <a:spLocks noGrp="1"/>
          </p:cNvSpPr>
          <p:nvPr>
            <p:ph type="sldNum" sz="quarter" idx="12"/>
          </p:nvPr>
        </p:nvSpPr>
        <p:spPr/>
        <p:txBody>
          <a:bodyPr/>
          <a:lstStyle/>
          <a:p>
            <a:fld id="{7A355979-B908-4DF8-A99F-3B736BD084BE}" type="slidenum">
              <a:rPr lang="en-IN" smtClean="0"/>
              <a:t>‹#›</a:t>
            </a:fld>
            <a:endParaRPr lang="en-IN"/>
          </a:p>
        </p:txBody>
      </p:sp>
    </p:spTree>
    <p:extLst>
      <p:ext uri="{BB962C8B-B14F-4D97-AF65-F5344CB8AC3E}">
        <p14:creationId xmlns:p14="http://schemas.microsoft.com/office/powerpoint/2010/main" val="1666575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EF1A1-1063-23A6-F974-1C2802D76F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DC0E68-7A39-720C-9EEA-800514EB4A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19E336-4042-0E99-877C-F36B935C0A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C0DE44-C05B-D461-EDA0-DD275A7726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35128D-F2FD-1959-011E-ACFEE42044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8D66564-E3AF-324E-1F9A-40ADF6E6FE00}"/>
              </a:ext>
            </a:extLst>
          </p:cNvPr>
          <p:cNvSpPr>
            <a:spLocks noGrp="1"/>
          </p:cNvSpPr>
          <p:nvPr>
            <p:ph type="dt" sz="half" idx="10"/>
          </p:nvPr>
        </p:nvSpPr>
        <p:spPr/>
        <p:txBody>
          <a:bodyPr/>
          <a:lstStyle/>
          <a:p>
            <a:fld id="{1337BA70-572D-431E-86BA-D8EC1D1280CC}" type="datetimeFigureOut">
              <a:rPr lang="en-IN" smtClean="0"/>
              <a:t>25/04/24</a:t>
            </a:fld>
            <a:endParaRPr lang="en-IN"/>
          </a:p>
        </p:txBody>
      </p:sp>
      <p:sp>
        <p:nvSpPr>
          <p:cNvPr id="8" name="Footer Placeholder 7">
            <a:extLst>
              <a:ext uri="{FF2B5EF4-FFF2-40B4-BE49-F238E27FC236}">
                <a16:creationId xmlns:a16="http://schemas.microsoft.com/office/drawing/2014/main" id="{1064292C-E9B9-32B1-7F38-F805E2ED8F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D5783E5-7E0A-42D4-AE22-44E2DFBFFDA5}"/>
              </a:ext>
            </a:extLst>
          </p:cNvPr>
          <p:cNvSpPr>
            <a:spLocks noGrp="1"/>
          </p:cNvSpPr>
          <p:nvPr>
            <p:ph type="sldNum" sz="quarter" idx="12"/>
          </p:nvPr>
        </p:nvSpPr>
        <p:spPr/>
        <p:txBody>
          <a:bodyPr/>
          <a:lstStyle/>
          <a:p>
            <a:fld id="{7A355979-B908-4DF8-A99F-3B736BD084BE}" type="slidenum">
              <a:rPr lang="en-IN" smtClean="0"/>
              <a:t>‹#›</a:t>
            </a:fld>
            <a:endParaRPr lang="en-IN"/>
          </a:p>
        </p:txBody>
      </p:sp>
    </p:spTree>
    <p:extLst>
      <p:ext uri="{BB962C8B-B14F-4D97-AF65-F5344CB8AC3E}">
        <p14:creationId xmlns:p14="http://schemas.microsoft.com/office/powerpoint/2010/main" val="2109484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55B14-6914-4DC6-86D2-2DC72022E09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9F101DC-C467-2DFF-259D-4C4235161876}"/>
              </a:ext>
            </a:extLst>
          </p:cNvPr>
          <p:cNvSpPr>
            <a:spLocks noGrp="1"/>
          </p:cNvSpPr>
          <p:nvPr>
            <p:ph type="dt" sz="half" idx="10"/>
          </p:nvPr>
        </p:nvSpPr>
        <p:spPr/>
        <p:txBody>
          <a:bodyPr/>
          <a:lstStyle/>
          <a:p>
            <a:fld id="{1337BA70-572D-431E-86BA-D8EC1D1280CC}" type="datetimeFigureOut">
              <a:rPr lang="en-IN" smtClean="0"/>
              <a:t>25/04/24</a:t>
            </a:fld>
            <a:endParaRPr lang="en-IN"/>
          </a:p>
        </p:txBody>
      </p:sp>
      <p:sp>
        <p:nvSpPr>
          <p:cNvPr id="4" name="Footer Placeholder 3">
            <a:extLst>
              <a:ext uri="{FF2B5EF4-FFF2-40B4-BE49-F238E27FC236}">
                <a16:creationId xmlns:a16="http://schemas.microsoft.com/office/drawing/2014/main" id="{F0C8294C-453D-9620-99E0-C09EACA6F57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C7226ED-6C7C-3EF9-1075-B4808F1838C4}"/>
              </a:ext>
            </a:extLst>
          </p:cNvPr>
          <p:cNvSpPr>
            <a:spLocks noGrp="1"/>
          </p:cNvSpPr>
          <p:nvPr>
            <p:ph type="sldNum" sz="quarter" idx="12"/>
          </p:nvPr>
        </p:nvSpPr>
        <p:spPr/>
        <p:txBody>
          <a:bodyPr/>
          <a:lstStyle/>
          <a:p>
            <a:fld id="{7A355979-B908-4DF8-A99F-3B736BD084BE}" type="slidenum">
              <a:rPr lang="en-IN" smtClean="0"/>
              <a:t>‹#›</a:t>
            </a:fld>
            <a:endParaRPr lang="en-IN"/>
          </a:p>
        </p:txBody>
      </p:sp>
    </p:spTree>
    <p:extLst>
      <p:ext uri="{BB962C8B-B14F-4D97-AF65-F5344CB8AC3E}">
        <p14:creationId xmlns:p14="http://schemas.microsoft.com/office/powerpoint/2010/main" val="2973679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359523-9832-67D1-53F2-6D53114C8E17}"/>
              </a:ext>
            </a:extLst>
          </p:cNvPr>
          <p:cNvSpPr>
            <a:spLocks noGrp="1"/>
          </p:cNvSpPr>
          <p:nvPr>
            <p:ph type="dt" sz="half" idx="10"/>
          </p:nvPr>
        </p:nvSpPr>
        <p:spPr/>
        <p:txBody>
          <a:bodyPr/>
          <a:lstStyle/>
          <a:p>
            <a:fld id="{1337BA70-572D-431E-86BA-D8EC1D1280CC}" type="datetimeFigureOut">
              <a:rPr lang="en-IN" smtClean="0"/>
              <a:t>25/04/24</a:t>
            </a:fld>
            <a:endParaRPr lang="en-IN"/>
          </a:p>
        </p:txBody>
      </p:sp>
      <p:sp>
        <p:nvSpPr>
          <p:cNvPr id="3" name="Footer Placeholder 2">
            <a:extLst>
              <a:ext uri="{FF2B5EF4-FFF2-40B4-BE49-F238E27FC236}">
                <a16:creationId xmlns:a16="http://schemas.microsoft.com/office/drawing/2014/main" id="{83A263A1-674F-46F7-CBCC-F7B842A429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274570B-0E84-674D-1BD2-89837783A527}"/>
              </a:ext>
            </a:extLst>
          </p:cNvPr>
          <p:cNvSpPr>
            <a:spLocks noGrp="1"/>
          </p:cNvSpPr>
          <p:nvPr>
            <p:ph type="sldNum" sz="quarter" idx="12"/>
          </p:nvPr>
        </p:nvSpPr>
        <p:spPr/>
        <p:txBody>
          <a:bodyPr/>
          <a:lstStyle/>
          <a:p>
            <a:fld id="{7A355979-B908-4DF8-A99F-3B736BD084BE}" type="slidenum">
              <a:rPr lang="en-IN" smtClean="0"/>
              <a:t>‹#›</a:t>
            </a:fld>
            <a:endParaRPr lang="en-IN"/>
          </a:p>
        </p:txBody>
      </p:sp>
    </p:spTree>
    <p:extLst>
      <p:ext uri="{BB962C8B-B14F-4D97-AF65-F5344CB8AC3E}">
        <p14:creationId xmlns:p14="http://schemas.microsoft.com/office/powerpoint/2010/main" val="4039219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C9467-8896-A9F3-5980-AD025C6EB3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41BC672-9E0E-2A9F-5F7E-B383E6262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2C0550-AE22-860B-3FF8-56EE00577C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B2340D-0A97-8FF8-B066-EF20CBA82A45}"/>
              </a:ext>
            </a:extLst>
          </p:cNvPr>
          <p:cNvSpPr>
            <a:spLocks noGrp="1"/>
          </p:cNvSpPr>
          <p:nvPr>
            <p:ph type="dt" sz="half" idx="10"/>
          </p:nvPr>
        </p:nvSpPr>
        <p:spPr/>
        <p:txBody>
          <a:bodyPr/>
          <a:lstStyle/>
          <a:p>
            <a:fld id="{1337BA70-572D-431E-86BA-D8EC1D1280CC}" type="datetimeFigureOut">
              <a:rPr lang="en-IN" smtClean="0"/>
              <a:t>25/04/24</a:t>
            </a:fld>
            <a:endParaRPr lang="en-IN"/>
          </a:p>
        </p:txBody>
      </p:sp>
      <p:sp>
        <p:nvSpPr>
          <p:cNvPr id="6" name="Footer Placeholder 5">
            <a:extLst>
              <a:ext uri="{FF2B5EF4-FFF2-40B4-BE49-F238E27FC236}">
                <a16:creationId xmlns:a16="http://schemas.microsoft.com/office/drawing/2014/main" id="{6C0880A2-32FB-F9C1-51E8-4B3FA3C371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9F25A6-E528-62CD-D449-30F1F1F68309}"/>
              </a:ext>
            </a:extLst>
          </p:cNvPr>
          <p:cNvSpPr>
            <a:spLocks noGrp="1"/>
          </p:cNvSpPr>
          <p:nvPr>
            <p:ph type="sldNum" sz="quarter" idx="12"/>
          </p:nvPr>
        </p:nvSpPr>
        <p:spPr/>
        <p:txBody>
          <a:bodyPr/>
          <a:lstStyle/>
          <a:p>
            <a:fld id="{7A355979-B908-4DF8-A99F-3B736BD084BE}" type="slidenum">
              <a:rPr lang="en-IN" smtClean="0"/>
              <a:t>‹#›</a:t>
            </a:fld>
            <a:endParaRPr lang="en-IN"/>
          </a:p>
        </p:txBody>
      </p:sp>
    </p:spTree>
    <p:extLst>
      <p:ext uri="{BB962C8B-B14F-4D97-AF65-F5344CB8AC3E}">
        <p14:creationId xmlns:p14="http://schemas.microsoft.com/office/powerpoint/2010/main" val="146677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998FE-A7B0-BDD0-3D27-FCF92889B3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081D3DB-BDB0-04A3-14E2-EACC2092BA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FEB5EA-6008-341F-9A8B-5686E1C796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6F587E-A62C-7AC6-9795-CC1B1A13706A}"/>
              </a:ext>
            </a:extLst>
          </p:cNvPr>
          <p:cNvSpPr>
            <a:spLocks noGrp="1"/>
          </p:cNvSpPr>
          <p:nvPr>
            <p:ph type="dt" sz="half" idx="10"/>
          </p:nvPr>
        </p:nvSpPr>
        <p:spPr/>
        <p:txBody>
          <a:bodyPr/>
          <a:lstStyle/>
          <a:p>
            <a:fld id="{1337BA70-572D-431E-86BA-D8EC1D1280CC}" type="datetimeFigureOut">
              <a:rPr lang="en-IN" smtClean="0"/>
              <a:t>25/04/24</a:t>
            </a:fld>
            <a:endParaRPr lang="en-IN"/>
          </a:p>
        </p:txBody>
      </p:sp>
      <p:sp>
        <p:nvSpPr>
          <p:cNvPr id="6" name="Footer Placeholder 5">
            <a:extLst>
              <a:ext uri="{FF2B5EF4-FFF2-40B4-BE49-F238E27FC236}">
                <a16:creationId xmlns:a16="http://schemas.microsoft.com/office/drawing/2014/main" id="{0358648A-E976-922C-164E-9A94F2A430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56E35A-45DF-527B-06CC-A99BF889963F}"/>
              </a:ext>
            </a:extLst>
          </p:cNvPr>
          <p:cNvSpPr>
            <a:spLocks noGrp="1"/>
          </p:cNvSpPr>
          <p:nvPr>
            <p:ph type="sldNum" sz="quarter" idx="12"/>
          </p:nvPr>
        </p:nvSpPr>
        <p:spPr/>
        <p:txBody>
          <a:bodyPr/>
          <a:lstStyle/>
          <a:p>
            <a:fld id="{7A355979-B908-4DF8-A99F-3B736BD084BE}" type="slidenum">
              <a:rPr lang="en-IN" smtClean="0"/>
              <a:t>‹#›</a:t>
            </a:fld>
            <a:endParaRPr lang="en-IN"/>
          </a:p>
        </p:txBody>
      </p:sp>
    </p:spTree>
    <p:extLst>
      <p:ext uri="{BB962C8B-B14F-4D97-AF65-F5344CB8AC3E}">
        <p14:creationId xmlns:p14="http://schemas.microsoft.com/office/powerpoint/2010/main" val="2998175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2333C-C8B9-9359-0327-8404348D557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315A35-0883-7F39-DD03-5C59C58A42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E3E4E6-8E4D-FE2B-18D4-CC991BA16674}"/>
              </a:ext>
            </a:extLst>
          </p:cNvPr>
          <p:cNvSpPr>
            <a:spLocks noGrp="1"/>
          </p:cNvSpPr>
          <p:nvPr>
            <p:ph type="dt" sz="half" idx="10"/>
          </p:nvPr>
        </p:nvSpPr>
        <p:spPr/>
        <p:txBody>
          <a:bodyPr/>
          <a:lstStyle/>
          <a:p>
            <a:fld id="{1337BA70-572D-431E-86BA-D8EC1D1280CC}" type="datetimeFigureOut">
              <a:rPr lang="en-IN" smtClean="0"/>
              <a:t>25/04/24</a:t>
            </a:fld>
            <a:endParaRPr lang="en-IN"/>
          </a:p>
        </p:txBody>
      </p:sp>
      <p:sp>
        <p:nvSpPr>
          <p:cNvPr id="5" name="Footer Placeholder 4">
            <a:extLst>
              <a:ext uri="{FF2B5EF4-FFF2-40B4-BE49-F238E27FC236}">
                <a16:creationId xmlns:a16="http://schemas.microsoft.com/office/drawing/2014/main" id="{51E4FC59-301D-2133-D098-CFC73747AC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62E13A-8791-8EF4-D864-C56EA132822F}"/>
              </a:ext>
            </a:extLst>
          </p:cNvPr>
          <p:cNvSpPr>
            <a:spLocks noGrp="1"/>
          </p:cNvSpPr>
          <p:nvPr>
            <p:ph type="sldNum" sz="quarter" idx="12"/>
          </p:nvPr>
        </p:nvSpPr>
        <p:spPr/>
        <p:txBody>
          <a:bodyPr/>
          <a:lstStyle/>
          <a:p>
            <a:fld id="{7A355979-B908-4DF8-A99F-3B736BD084BE}" type="slidenum">
              <a:rPr lang="en-IN" smtClean="0"/>
              <a:t>‹#›</a:t>
            </a:fld>
            <a:endParaRPr lang="en-IN"/>
          </a:p>
        </p:txBody>
      </p:sp>
    </p:spTree>
    <p:extLst>
      <p:ext uri="{BB962C8B-B14F-4D97-AF65-F5344CB8AC3E}">
        <p14:creationId xmlns:p14="http://schemas.microsoft.com/office/powerpoint/2010/main" val="991268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1D3FB1-A875-9ECD-DE51-2FF47B9171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218096-0905-2EC2-4A0C-91A10D4A9E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E31FE3-2C6E-8D52-AA6B-3AAE8A5DC724}"/>
              </a:ext>
            </a:extLst>
          </p:cNvPr>
          <p:cNvSpPr>
            <a:spLocks noGrp="1"/>
          </p:cNvSpPr>
          <p:nvPr>
            <p:ph type="dt" sz="half" idx="10"/>
          </p:nvPr>
        </p:nvSpPr>
        <p:spPr/>
        <p:txBody>
          <a:bodyPr/>
          <a:lstStyle/>
          <a:p>
            <a:fld id="{1337BA70-572D-431E-86BA-D8EC1D1280CC}" type="datetimeFigureOut">
              <a:rPr lang="en-IN" smtClean="0"/>
              <a:t>25/04/24</a:t>
            </a:fld>
            <a:endParaRPr lang="en-IN"/>
          </a:p>
        </p:txBody>
      </p:sp>
      <p:sp>
        <p:nvSpPr>
          <p:cNvPr id="5" name="Footer Placeholder 4">
            <a:extLst>
              <a:ext uri="{FF2B5EF4-FFF2-40B4-BE49-F238E27FC236}">
                <a16:creationId xmlns:a16="http://schemas.microsoft.com/office/drawing/2014/main" id="{37F2A3C6-697B-6406-A03B-3AFCF8B79F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4955F8-B616-4637-B1E6-8A27DE8B94DA}"/>
              </a:ext>
            </a:extLst>
          </p:cNvPr>
          <p:cNvSpPr>
            <a:spLocks noGrp="1"/>
          </p:cNvSpPr>
          <p:nvPr>
            <p:ph type="sldNum" sz="quarter" idx="12"/>
          </p:nvPr>
        </p:nvSpPr>
        <p:spPr/>
        <p:txBody>
          <a:bodyPr/>
          <a:lstStyle/>
          <a:p>
            <a:fld id="{7A355979-B908-4DF8-A99F-3B736BD084BE}" type="slidenum">
              <a:rPr lang="en-IN" smtClean="0"/>
              <a:t>‹#›</a:t>
            </a:fld>
            <a:endParaRPr lang="en-IN"/>
          </a:p>
        </p:txBody>
      </p:sp>
    </p:spTree>
    <p:extLst>
      <p:ext uri="{BB962C8B-B14F-4D97-AF65-F5344CB8AC3E}">
        <p14:creationId xmlns:p14="http://schemas.microsoft.com/office/powerpoint/2010/main" val="604217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58B2B3-2ADF-7D85-811D-B9BC61035D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AC6D85-E3C7-93B4-6FB4-99510409A0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333032-BBC5-E09D-076B-AA1D4978A0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37BA70-572D-431E-86BA-D8EC1D1280CC}" type="datetimeFigureOut">
              <a:rPr lang="en-IN" smtClean="0"/>
              <a:t>25/04/24</a:t>
            </a:fld>
            <a:endParaRPr lang="en-IN"/>
          </a:p>
        </p:txBody>
      </p:sp>
      <p:sp>
        <p:nvSpPr>
          <p:cNvPr id="5" name="Footer Placeholder 4">
            <a:extLst>
              <a:ext uri="{FF2B5EF4-FFF2-40B4-BE49-F238E27FC236}">
                <a16:creationId xmlns:a16="http://schemas.microsoft.com/office/drawing/2014/main" id="{9B069DAB-82EC-6824-320B-6EF38AAF2E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CAF5F59-F4DD-DB6E-CA20-4332395DAA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355979-B908-4DF8-A99F-3B736BD084BE}" type="slidenum">
              <a:rPr lang="en-IN" smtClean="0"/>
              <a:t>‹#›</a:t>
            </a:fld>
            <a:endParaRPr lang="en-IN"/>
          </a:p>
        </p:txBody>
      </p:sp>
    </p:spTree>
    <p:extLst>
      <p:ext uri="{BB962C8B-B14F-4D97-AF65-F5344CB8AC3E}">
        <p14:creationId xmlns:p14="http://schemas.microsoft.com/office/powerpoint/2010/main" val="2315011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A06B8-548C-DFD9-5D9A-65B6A25F70E1}"/>
              </a:ext>
            </a:extLst>
          </p:cNvPr>
          <p:cNvSpPr>
            <a:spLocks noGrp="1"/>
          </p:cNvSpPr>
          <p:nvPr>
            <p:ph type="ctrTitle"/>
          </p:nvPr>
        </p:nvSpPr>
        <p:spPr/>
        <p:txBody>
          <a:bodyPr/>
          <a:lstStyle/>
          <a:p>
            <a:r>
              <a:rPr lang="en-IN" dirty="0"/>
              <a:t>Sweeping lines</a:t>
            </a:r>
          </a:p>
        </p:txBody>
      </p:sp>
      <p:sp>
        <p:nvSpPr>
          <p:cNvPr id="3" name="Subtitle 2">
            <a:extLst>
              <a:ext uri="{FF2B5EF4-FFF2-40B4-BE49-F238E27FC236}">
                <a16:creationId xmlns:a16="http://schemas.microsoft.com/office/drawing/2014/main" id="{34107E47-6DC1-57B3-4815-0394B9735F14}"/>
              </a:ext>
            </a:extLst>
          </p:cNvPr>
          <p:cNvSpPr>
            <a:spLocks noGrp="1"/>
          </p:cNvSpPr>
          <p:nvPr>
            <p:ph type="subTitle" idx="1"/>
          </p:nvPr>
        </p:nvSpPr>
        <p:spPr/>
        <p:txBody>
          <a:bodyPr/>
          <a:lstStyle/>
          <a:p>
            <a:r>
              <a:rPr lang="en-IN" dirty="0"/>
              <a:t>Prepared by,</a:t>
            </a:r>
          </a:p>
          <a:p>
            <a:r>
              <a:rPr lang="en-IN" dirty="0" err="1"/>
              <a:t>Dr.S.Jenicka</a:t>
            </a:r>
            <a:endParaRPr lang="en-IN" dirty="0"/>
          </a:p>
        </p:txBody>
      </p:sp>
    </p:spTree>
    <p:extLst>
      <p:ext uri="{BB962C8B-B14F-4D97-AF65-F5344CB8AC3E}">
        <p14:creationId xmlns:p14="http://schemas.microsoft.com/office/powerpoint/2010/main" val="1966968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CF8095FE-33BD-0238-1A5B-A024E08307BA}"/>
              </a:ext>
            </a:extLst>
          </p:cNvPr>
          <p:cNvSpPr>
            <a:spLocks noGrp="1"/>
          </p:cNvSpPr>
          <p:nvPr>
            <p:ph type="title"/>
          </p:nvPr>
        </p:nvSpPr>
        <p:spPr/>
        <p:txBody>
          <a:bodyPr/>
          <a:lstStyle/>
          <a:p>
            <a:r>
              <a:rPr lang="en-IN" dirty="0"/>
              <a:t>Right horizontal ray</a:t>
            </a:r>
          </a:p>
        </p:txBody>
      </p:sp>
      <p:sp>
        <p:nvSpPr>
          <p:cNvPr id="11" name="TextBox 10">
            <a:extLst>
              <a:ext uri="{FF2B5EF4-FFF2-40B4-BE49-F238E27FC236}">
                <a16:creationId xmlns:a16="http://schemas.microsoft.com/office/drawing/2014/main" id="{82A8E4C0-8A3C-1364-C68B-DB084A3A0017}"/>
              </a:ext>
            </a:extLst>
          </p:cNvPr>
          <p:cNvSpPr txBox="1"/>
          <p:nvPr/>
        </p:nvSpPr>
        <p:spPr>
          <a:xfrm>
            <a:off x="1049154" y="2721771"/>
            <a:ext cx="9942897" cy="1384995"/>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Given a point p</a:t>
            </a:r>
            <a:r>
              <a:rPr lang="en-US" sz="2800" baseline="-250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 =(x</a:t>
            </a:r>
            <a:r>
              <a:rPr lang="en-US" sz="2800" baseline="-250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 y</a:t>
            </a:r>
            <a:r>
              <a:rPr lang="en-US" sz="2800" baseline="-250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 the </a:t>
            </a:r>
            <a:r>
              <a:rPr lang="en-US" sz="2800" b="1" dirty="0">
                <a:latin typeface="Times New Roman" panose="02020603050405020304" pitchFamily="18" charset="0"/>
                <a:cs typeface="Times New Roman" panose="02020603050405020304" pitchFamily="18" charset="0"/>
              </a:rPr>
              <a:t>right horizontal ray </a:t>
            </a:r>
            <a:r>
              <a:rPr lang="en-US" sz="2800" dirty="0">
                <a:latin typeface="Times New Roman" panose="02020603050405020304" pitchFamily="18" charset="0"/>
                <a:cs typeface="Times New Roman" panose="02020603050405020304" pitchFamily="18" charset="0"/>
              </a:rPr>
              <a:t>from p</a:t>
            </a:r>
            <a:r>
              <a:rPr lang="en-US" sz="2800" baseline="-250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 is the set of points {p</a:t>
            </a:r>
            <a:r>
              <a:rPr lang="en-US" sz="2800" baseline="-25000" dirty="0">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 (x</a:t>
            </a:r>
            <a:r>
              <a:rPr lang="en-US" sz="2800" baseline="-25000" dirty="0">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y</a:t>
            </a:r>
            <a:r>
              <a:rPr lang="en-US" sz="2800" baseline="-250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  x</a:t>
            </a:r>
            <a:r>
              <a:rPr lang="en-US" sz="2800" baseline="-25000" dirty="0">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 x</a:t>
            </a:r>
            <a:r>
              <a:rPr lang="en-US" sz="2800" baseline="-250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 and </a:t>
            </a:r>
            <a:r>
              <a:rPr lang="en-US" sz="2800" dirty="0" err="1">
                <a:latin typeface="Times New Roman" panose="02020603050405020304" pitchFamily="18" charset="0"/>
                <a:cs typeface="Times New Roman" panose="02020603050405020304" pitchFamily="18" charset="0"/>
              </a:rPr>
              <a:t>y</a:t>
            </a:r>
            <a:r>
              <a:rPr lang="en-US" sz="2800" baseline="-250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 y</a:t>
            </a:r>
            <a:r>
              <a:rPr lang="en-US" sz="2800" baseline="-250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 that is, it is the set of points due right of p</a:t>
            </a:r>
            <a:r>
              <a:rPr lang="en-US" sz="2800" baseline="-25000" dirty="0">
                <a:latin typeface="Times New Roman" panose="02020603050405020304" pitchFamily="18" charset="0"/>
                <a:cs typeface="Times New Roman" panose="02020603050405020304" pitchFamily="18" charset="0"/>
              </a:rPr>
              <a:t>0 </a:t>
            </a:r>
            <a:r>
              <a:rPr lang="en-US" sz="2800" dirty="0">
                <a:latin typeface="Times New Roman" panose="02020603050405020304" pitchFamily="18" charset="0"/>
                <a:cs typeface="Times New Roman" panose="02020603050405020304" pitchFamily="18" charset="0"/>
              </a:rPr>
              <a:t>along with p</a:t>
            </a:r>
            <a:r>
              <a:rPr lang="en-US" sz="2800" baseline="-250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 itself.</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2096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E9E3B-A754-F24E-32C8-6580A4969D0C}"/>
              </a:ext>
            </a:extLst>
          </p:cNvPr>
          <p:cNvSpPr>
            <a:spLocks noGrp="1"/>
          </p:cNvSpPr>
          <p:nvPr>
            <p:ph type="title"/>
          </p:nvPr>
        </p:nvSpPr>
        <p:spPr/>
        <p:txBody>
          <a:bodyPr/>
          <a:lstStyle/>
          <a:p>
            <a:r>
              <a:rPr lang="en-US" dirty="0"/>
              <a:t>Determining whether any pair of segments intersects</a:t>
            </a:r>
            <a:endParaRPr lang="en-IN" dirty="0"/>
          </a:p>
        </p:txBody>
      </p:sp>
      <p:sp>
        <p:nvSpPr>
          <p:cNvPr id="6" name="TextBox 5">
            <a:extLst>
              <a:ext uri="{FF2B5EF4-FFF2-40B4-BE49-F238E27FC236}">
                <a16:creationId xmlns:a16="http://schemas.microsoft.com/office/drawing/2014/main" id="{C14843CA-3E7A-D4C5-1032-3E39A56AA450}"/>
              </a:ext>
            </a:extLst>
          </p:cNvPr>
          <p:cNvSpPr txBox="1"/>
          <p:nvPr/>
        </p:nvSpPr>
        <p:spPr>
          <a:xfrm>
            <a:off x="1065597" y="1690688"/>
            <a:ext cx="10060806" cy="4832092"/>
          </a:xfrm>
          <a:prstGeom prst="rect">
            <a:avLst/>
          </a:prstGeom>
          <a:noFill/>
        </p:spPr>
        <p:txBody>
          <a:bodyPr wrap="square">
            <a:spAutoFit/>
          </a:bodyPr>
          <a:lstStyle/>
          <a:p>
            <a:pPr algn="just"/>
            <a:r>
              <a:rPr lang="en-US" sz="2800" dirty="0">
                <a:latin typeface="Times-Roman"/>
              </a:rPr>
              <a:t>A</a:t>
            </a:r>
            <a:r>
              <a:rPr lang="en-US" sz="2800" b="0" i="0" u="none" strike="noStrike" baseline="0" dirty="0">
                <a:latin typeface="Times-Roman"/>
              </a:rPr>
              <a:t>n algorithm for determining whether any two line segments in a set of segments intersect. The algorithm uses a technique known as “</a:t>
            </a:r>
            <a:r>
              <a:rPr lang="en-US" sz="2800" b="1" i="0" u="none" strike="noStrike" baseline="0" dirty="0">
                <a:latin typeface="Times-Roman"/>
              </a:rPr>
              <a:t>sweeping</a:t>
            </a:r>
            <a:r>
              <a:rPr lang="en-US" sz="2800" b="0" i="0" u="none" strike="noStrike" baseline="0" dirty="0">
                <a:latin typeface="Times-Roman"/>
              </a:rPr>
              <a:t>,” which is common to many computational-geometry algorithms.</a:t>
            </a:r>
          </a:p>
          <a:p>
            <a:pPr algn="just"/>
            <a:r>
              <a:rPr lang="en-US" sz="2800" dirty="0"/>
              <a:t>In </a:t>
            </a:r>
            <a:r>
              <a:rPr lang="en-US" sz="2800" b="1" dirty="0"/>
              <a:t>sweeping</a:t>
            </a:r>
            <a:r>
              <a:rPr lang="en-US" sz="2800" dirty="0"/>
              <a:t>, an imaginary vertical sweep line passes through the given set of geometric objects, usually from left to right. We treat the spatial dimension that the sweep line moves across, in this case the x-dimension, as a dimension of time. Sweeping provides a method for </a:t>
            </a:r>
            <a:r>
              <a:rPr lang="en-US" sz="2800" b="1" dirty="0"/>
              <a:t>ordering geometric objects</a:t>
            </a:r>
            <a:r>
              <a:rPr lang="en-US" sz="2800" dirty="0"/>
              <a:t>, usually by placing them into a dynamic data structure, and for taking advantage of relationships among them.</a:t>
            </a:r>
            <a:endParaRPr lang="en-IN" sz="2800" dirty="0"/>
          </a:p>
        </p:txBody>
      </p:sp>
    </p:spTree>
    <p:extLst>
      <p:ext uri="{BB962C8B-B14F-4D97-AF65-F5344CB8AC3E}">
        <p14:creationId xmlns:p14="http://schemas.microsoft.com/office/powerpoint/2010/main" val="2883925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05ECCB-AB3A-FCD1-4335-68FBD1464A59}"/>
              </a:ext>
            </a:extLst>
          </p:cNvPr>
          <p:cNvSpPr txBox="1"/>
          <p:nvPr/>
        </p:nvSpPr>
        <p:spPr>
          <a:xfrm>
            <a:off x="693821" y="1902444"/>
            <a:ext cx="11097126" cy="2677656"/>
          </a:xfrm>
          <a:prstGeom prst="rect">
            <a:avLst/>
          </a:prstGeom>
          <a:noFill/>
        </p:spPr>
        <p:txBody>
          <a:bodyPr wrap="square">
            <a:spAutoFit/>
          </a:bodyPr>
          <a:lstStyle/>
          <a:p>
            <a:pPr algn="l"/>
            <a:r>
              <a:rPr lang="en-US" sz="2800" b="0" i="0" u="none" strike="noStrike" baseline="0" dirty="0">
                <a:latin typeface="Times New Roman" panose="02020603050405020304" pitchFamily="18" charset="0"/>
                <a:cs typeface="Times New Roman" panose="02020603050405020304" pitchFamily="18" charset="0"/>
              </a:rPr>
              <a:t>To describe and prove correct our </a:t>
            </a:r>
            <a:r>
              <a:rPr lang="en-US" sz="2800" b="1" i="0" u="none" strike="noStrike" baseline="0" dirty="0">
                <a:latin typeface="Times New Roman" panose="02020603050405020304" pitchFamily="18" charset="0"/>
                <a:cs typeface="Times New Roman" panose="02020603050405020304" pitchFamily="18" charset="0"/>
              </a:rPr>
              <a:t>algorithm for determining whether any two of n line segments intersect</a:t>
            </a:r>
            <a:r>
              <a:rPr lang="en-US" sz="2800" b="0" i="0" u="none" strike="noStrike" baseline="0" dirty="0">
                <a:latin typeface="Times New Roman" panose="02020603050405020304" pitchFamily="18" charset="0"/>
                <a:cs typeface="Times New Roman" panose="02020603050405020304" pitchFamily="18" charset="0"/>
              </a:rPr>
              <a:t>, we shall make </a:t>
            </a:r>
            <a:r>
              <a:rPr lang="en-US" sz="2800" b="1" i="0" u="none" strike="noStrike" baseline="0" dirty="0">
                <a:latin typeface="Times New Roman" panose="02020603050405020304" pitchFamily="18" charset="0"/>
                <a:cs typeface="Times New Roman" panose="02020603050405020304" pitchFamily="18" charset="0"/>
              </a:rPr>
              <a:t>two</a:t>
            </a:r>
            <a:r>
              <a:rPr lang="en-US" sz="2800" b="0" i="0" u="none" strike="noStrike" baseline="0" dirty="0">
                <a:latin typeface="Times New Roman" panose="02020603050405020304" pitchFamily="18" charset="0"/>
                <a:cs typeface="Times New Roman" panose="02020603050405020304" pitchFamily="18" charset="0"/>
              </a:rPr>
              <a:t> simplifying </a:t>
            </a:r>
            <a:r>
              <a:rPr lang="en-US" sz="2800" b="1" i="0" u="none" strike="noStrike" baseline="0" dirty="0">
                <a:latin typeface="Times New Roman" panose="02020603050405020304" pitchFamily="18" charset="0"/>
                <a:cs typeface="Times New Roman" panose="02020603050405020304" pitchFamily="18" charset="0"/>
              </a:rPr>
              <a:t>assumptions</a:t>
            </a:r>
            <a:r>
              <a:rPr lang="en-US" sz="2800" b="0" i="0" u="none" strike="noStrike" baseline="0" dirty="0">
                <a:latin typeface="Times New Roman" panose="02020603050405020304" pitchFamily="18" charset="0"/>
                <a:cs typeface="Times New Roman" panose="02020603050405020304" pitchFamily="18" charset="0"/>
              </a:rPr>
              <a:t>. </a:t>
            </a:r>
          </a:p>
          <a:p>
            <a:pPr marL="457200" indent="-457200" algn="l">
              <a:buFont typeface="Arial" panose="020B0604020202020204" pitchFamily="34" charset="0"/>
              <a:buChar char="•"/>
            </a:pPr>
            <a:r>
              <a:rPr lang="en-US" sz="2800" b="0" i="0" u="none" strike="noStrike" baseline="0" dirty="0">
                <a:latin typeface="Times New Roman" panose="02020603050405020304" pitchFamily="18" charset="0"/>
                <a:cs typeface="Times New Roman" panose="02020603050405020304" pitchFamily="18" charset="0"/>
              </a:rPr>
              <a:t>First, we assume that no input segment is vertical. </a:t>
            </a:r>
          </a:p>
          <a:p>
            <a:pPr marL="457200" indent="-457200" algn="l">
              <a:buFont typeface="Arial" panose="020B0604020202020204" pitchFamily="34" charset="0"/>
              <a:buChar char="•"/>
            </a:pPr>
            <a:r>
              <a:rPr lang="en-US" sz="2800" b="0" i="0" u="none" strike="noStrike" baseline="0" dirty="0">
                <a:latin typeface="Times New Roman" panose="02020603050405020304" pitchFamily="18" charset="0"/>
                <a:cs typeface="Times New Roman" panose="02020603050405020304" pitchFamily="18" charset="0"/>
              </a:rPr>
              <a:t>Second, we assume that no three input segments intersect at a single point.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8731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85BA062-DF5D-D44D-AB42-4DF2801C5DF2}"/>
              </a:ext>
            </a:extLst>
          </p:cNvPr>
          <p:cNvSpPr txBox="1"/>
          <p:nvPr/>
        </p:nvSpPr>
        <p:spPr>
          <a:xfrm>
            <a:off x="510139" y="459680"/>
            <a:ext cx="11454063" cy="2877839"/>
          </a:xfrm>
          <a:prstGeom prst="rect">
            <a:avLst/>
          </a:prstGeom>
          <a:noFill/>
        </p:spPr>
        <p:txBody>
          <a:bodyPr wrap="square">
            <a:spAutoFit/>
          </a:bodyPr>
          <a:lstStyle/>
          <a:p>
            <a:pPr algn="l"/>
            <a:r>
              <a:rPr lang="en-US" sz="2800" b="0" i="0" u="none" strike="noStrike" baseline="0" dirty="0">
                <a:latin typeface="Times-Roman"/>
              </a:rPr>
              <a:t>The line-segment-intersection algorithm in this section </a:t>
            </a:r>
          </a:p>
          <a:p>
            <a:pPr marL="457200" indent="-457200" algn="l">
              <a:lnSpc>
                <a:spcPct val="300000"/>
              </a:lnSpc>
              <a:buFont typeface="Arial" panose="020B0604020202020204" pitchFamily="34" charset="0"/>
              <a:buChar char="•"/>
            </a:pPr>
            <a:r>
              <a:rPr lang="en-US" sz="2800" b="0" i="0" u="none" strike="noStrike" baseline="0" dirty="0">
                <a:latin typeface="Times-Roman"/>
              </a:rPr>
              <a:t>considers all the </a:t>
            </a:r>
            <a:r>
              <a:rPr lang="en-US" sz="2800" b="1" i="0" u="none" strike="noStrike" baseline="0" dirty="0">
                <a:latin typeface="Times-Roman"/>
              </a:rPr>
              <a:t>line-segment endpoints in left-to-right order </a:t>
            </a:r>
            <a:r>
              <a:rPr lang="en-US" sz="2800" b="0" i="0" u="none" strike="noStrike" baseline="0" dirty="0">
                <a:latin typeface="Times-Roman"/>
              </a:rPr>
              <a:t>and </a:t>
            </a:r>
          </a:p>
          <a:p>
            <a:pPr marL="457200" indent="-457200" algn="l">
              <a:lnSpc>
                <a:spcPct val="300000"/>
              </a:lnSpc>
              <a:buFont typeface="Arial" panose="020B0604020202020204" pitchFamily="34" charset="0"/>
              <a:buChar char="•"/>
            </a:pPr>
            <a:r>
              <a:rPr lang="en-US" sz="2800" b="1" i="0" u="none" strike="noStrike" baseline="0" dirty="0">
                <a:latin typeface="Times-Roman"/>
              </a:rPr>
              <a:t>checks for an intersection </a:t>
            </a:r>
            <a:r>
              <a:rPr lang="en-US" sz="2800" b="0" i="0" u="none" strike="noStrike" baseline="0" dirty="0">
                <a:latin typeface="Times-Roman"/>
              </a:rPr>
              <a:t>each time it encounters an endpoint.</a:t>
            </a:r>
            <a:endParaRPr lang="en-IN" sz="2800" dirty="0"/>
          </a:p>
        </p:txBody>
      </p:sp>
    </p:spTree>
    <p:extLst>
      <p:ext uri="{BB962C8B-B14F-4D97-AF65-F5344CB8AC3E}">
        <p14:creationId xmlns:p14="http://schemas.microsoft.com/office/powerpoint/2010/main" val="2095777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7971A-399A-B686-DC93-1D5884ACC323}"/>
              </a:ext>
            </a:extLst>
          </p:cNvPr>
          <p:cNvSpPr>
            <a:spLocks noGrp="1"/>
          </p:cNvSpPr>
          <p:nvPr>
            <p:ph type="title"/>
          </p:nvPr>
        </p:nvSpPr>
        <p:spPr/>
        <p:txBody>
          <a:bodyPr/>
          <a:lstStyle/>
          <a:p>
            <a:r>
              <a:rPr lang="en-IN" dirty="0"/>
              <a:t>Ordering segments</a:t>
            </a:r>
          </a:p>
        </p:txBody>
      </p:sp>
      <p:pic>
        <p:nvPicPr>
          <p:cNvPr id="7" name="Picture 6">
            <a:extLst>
              <a:ext uri="{FF2B5EF4-FFF2-40B4-BE49-F238E27FC236}">
                <a16:creationId xmlns:a16="http://schemas.microsoft.com/office/drawing/2014/main" id="{282A22A4-394E-7111-EF27-9CE41606BC79}"/>
              </a:ext>
            </a:extLst>
          </p:cNvPr>
          <p:cNvPicPr>
            <a:picLocks noChangeAspect="1"/>
          </p:cNvPicPr>
          <p:nvPr/>
        </p:nvPicPr>
        <p:blipFill>
          <a:blip r:embed="rId2"/>
          <a:stretch>
            <a:fillRect/>
          </a:stretch>
        </p:blipFill>
        <p:spPr>
          <a:xfrm>
            <a:off x="738187" y="2352675"/>
            <a:ext cx="10715625" cy="2152650"/>
          </a:xfrm>
          <a:prstGeom prst="rect">
            <a:avLst/>
          </a:prstGeom>
        </p:spPr>
      </p:pic>
    </p:spTree>
    <p:extLst>
      <p:ext uri="{BB962C8B-B14F-4D97-AF65-F5344CB8AC3E}">
        <p14:creationId xmlns:p14="http://schemas.microsoft.com/office/powerpoint/2010/main" val="3042760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F2FA9E-A2BB-AD7F-1B04-EBC11886C035}"/>
              </a:ext>
            </a:extLst>
          </p:cNvPr>
          <p:cNvPicPr>
            <a:picLocks noChangeAspect="1"/>
          </p:cNvPicPr>
          <p:nvPr/>
        </p:nvPicPr>
        <p:blipFill>
          <a:blip r:embed="rId2"/>
          <a:stretch>
            <a:fillRect/>
          </a:stretch>
        </p:blipFill>
        <p:spPr>
          <a:xfrm>
            <a:off x="1250535" y="445043"/>
            <a:ext cx="9690929" cy="3145807"/>
          </a:xfrm>
          <a:prstGeom prst="rect">
            <a:avLst/>
          </a:prstGeom>
        </p:spPr>
      </p:pic>
      <p:pic>
        <p:nvPicPr>
          <p:cNvPr id="7" name="Picture 6">
            <a:extLst>
              <a:ext uri="{FF2B5EF4-FFF2-40B4-BE49-F238E27FC236}">
                <a16:creationId xmlns:a16="http://schemas.microsoft.com/office/drawing/2014/main" id="{5446E293-52E1-29FF-ACA5-A0694B070856}"/>
              </a:ext>
            </a:extLst>
          </p:cNvPr>
          <p:cNvPicPr>
            <a:picLocks noChangeAspect="1"/>
          </p:cNvPicPr>
          <p:nvPr/>
        </p:nvPicPr>
        <p:blipFill>
          <a:blip r:embed="rId3"/>
          <a:stretch>
            <a:fillRect/>
          </a:stretch>
        </p:blipFill>
        <p:spPr>
          <a:xfrm>
            <a:off x="0" y="3429000"/>
            <a:ext cx="11982350" cy="2141271"/>
          </a:xfrm>
          <a:prstGeom prst="rect">
            <a:avLst/>
          </a:prstGeom>
        </p:spPr>
      </p:pic>
    </p:spTree>
    <p:extLst>
      <p:ext uri="{BB962C8B-B14F-4D97-AF65-F5344CB8AC3E}">
        <p14:creationId xmlns:p14="http://schemas.microsoft.com/office/powerpoint/2010/main" val="4103916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5A7A4-5363-F01C-A52C-4DE642072CA1}"/>
              </a:ext>
            </a:extLst>
          </p:cNvPr>
          <p:cNvSpPr>
            <a:spLocks noGrp="1"/>
          </p:cNvSpPr>
          <p:nvPr>
            <p:ph type="title"/>
          </p:nvPr>
        </p:nvSpPr>
        <p:spPr>
          <a:xfrm>
            <a:off x="838200" y="0"/>
            <a:ext cx="10515600" cy="1325563"/>
          </a:xfrm>
        </p:spPr>
        <p:txBody>
          <a:bodyPr/>
          <a:lstStyle/>
          <a:p>
            <a:r>
              <a:rPr lang="en-IN" dirty="0"/>
              <a:t>Moving the sweep line</a:t>
            </a:r>
          </a:p>
        </p:txBody>
      </p:sp>
      <p:pic>
        <p:nvPicPr>
          <p:cNvPr id="6" name="Picture 5">
            <a:extLst>
              <a:ext uri="{FF2B5EF4-FFF2-40B4-BE49-F238E27FC236}">
                <a16:creationId xmlns:a16="http://schemas.microsoft.com/office/drawing/2014/main" id="{3F48FA3B-0CDC-1EFE-4DDF-F0243AD6AC78}"/>
              </a:ext>
            </a:extLst>
          </p:cNvPr>
          <p:cNvPicPr>
            <a:picLocks noChangeAspect="1"/>
          </p:cNvPicPr>
          <p:nvPr/>
        </p:nvPicPr>
        <p:blipFill>
          <a:blip r:embed="rId2"/>
          <a:stretch>
            <a:fillRect/>
          </a:stretch>
        </p:blipFill>
        <p:spPr>
          <a:xfrm>
            <a:off x="491512" y="909852"/>
            <a:ext cx="10690627" cy="3482090"/>
          </a:xfrm>
          <a:prstGeom prst="rect">
            <a:avLst/>
          </a:prstGeom>
        </p:spPr>
      </p:pic>
      <p:sp>
        <p:nvSpPr>
          <p:cNvPr id="4" name="TextBox 3">
            <a:extLst>
              <a:ext uri="{FF2B5EF4-FFF2-40B4-BE49-F238E27FC236}">
                <a16:creationId xmlns:a16="http://schemas.microsoft.com/office/drawing/2014/main" id="{738541CB-2E51-B1DD-C52C-6FFA00F36D22}"/>
              </a:ext>
            </a:extLst>
          </p:cNvPr>
          <p:cNvSpPr txBox="1"/>
          <p:nvPr/>
        </p:nvSpPr>
        <p:spPr>
          <a:xfrm flipH="1">
            <a:off x="164386" y="4391942"/>
            <a:ext cx="11700488" cy="2308324"/>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1.Event point schedule: </a:t>
            </a:r>
            <a:r>
              <a:rPr lang="en-IN" sz="2400" dirty="0">
                <a:latin typeface="Times New Roman" panose="02020603050405020304" pitchFamily="18" charset="0"/>
                <a:cs typeface="Times New Roman" panose="02020603050405020304" pitchFamily="18" charset="0"/>
              </a:rPr>
              <a:t>First we will sort </a:t>
            </a:r>
            <a:r>
              <a:rPr lang="en-IN" sz="2400" b="1" dirty="0">
                <a:latin typeface="Times New Roman" panose="02020603050405020304" pitchFamily="18" charset="0"/>
                <a:cs typeface="Times New Roman" panose="02020603050405020304" pitchFamily="18" charset="0"/>
              </a:rPr>
              <a:t>all endpoints of line segments as event points </a:t>
            </a:r>
            <a:r>
              <a:rPr lang="en-IN" sz="2400" dirty="0">
                <a:latin typeface="Times New Roman" panose="02020603050405020304" pitchFamily="18" charset="0"/>
                <a:cs typeface="Times New Roman" panose="02020603050405020304" pitchFamily="18" charset="0"/>
              </a:rPr>
              <a:t>and store in a </a:t>
            </a:r>
            <a:r>
              <a:rPr lang="en-IN" sz="2400" b="1" dirty="0">
                <a:latin typeface="Times New Roman" panose="02020603050405020304" pitchFamily="18" charset="0"/>
                <a:cs typeface="Times New Roman" panose="02020603050405020304" pitchFamily="18" charset="0"/>
              </a:rPr>
              <a:t>list</a:t>
            </a:r>
            <a:r>
              <a:rPr lang="en-IN" sz="2400" dirty="0">
                <a:latin typeface="Times New Roman" panose="02020603050405020304" pitchFamily="18" charset="0"/>
                <a:cs typeface="Times New Roman" panose="02020603050405020304" pitchFamily="18" charset="0"/>
              </a:rPr>
              <a:t>. </a:t>
            </a:r>
          </a:p>
          <a:p>
            <a:r>
              <a:rPr lang="en-IN" sz="2400" b="1" dirty="0">
                <a:latin typeface="Times New Roman" panose="02020603050405020304" pitchFamily="18" charset="0"/>
                <a:cs typeface="Times New Roman" panose="02020603050405020304" pitchFamily="18" charset="0"/>
              </a:rPr>
              <a:t>2. Sweep line status: </a:t>
            </a:r>
            <a:r>
              <a:rPr lang="en-IN" sz="2400" dirty="0">
                <a:latin typeface="Times New Roman" panose="02020603050405020304" pitchFamily="18" charset="0"/>
                <a:cs typeface="Times New Roman" panose="02020603050405020304" pitchFamily="18" charset="0"/>
              </a:rPr>
              <a:t>As </a:t>
            </a:r>
            <a:r>
              <a:rPr lang="en-IN" sz="2400" b="1" dirty="0">
                <a:latin typeface="Times New Roman" panose="02020603050405020304" pitchFamily="18" charset="0"/>
                <a:cs typeface="Times New Roman" panose="02020603050405020304" pitchFamily="18" charset="0"/>
              </a:rPr>
              <a:t>the sweep line passes through the line segments </a:t>
            </a:r>
            <a:r>
              <a:rPr lang="en-IN" sz="2400" dirty="0">
                <a:latin typeface="Times New Roman" panose="02020603050405020304" pitchFamily="18" charset="0"/>
                <a:cs typeface="Times New Roman" panose="02020603050405020304" pitchFamily="18" charset="0"/>
              </a:rPr>
              <a:t>we will order/ reorder the line segments based on the current status and store in a dynamic data structure such as a </a:t>
            </a:r>
            <a:r>
              <a:rPr lang="en-IN" sz="2400" b="1" dirty="0">
                <a:latin typeface="Times New Roman" panose="02020603050405020304" pitchFamily="18" charset="0"/>
                <a:cs typeface="Times New Roman" panose="02020603050405020304" pitchFamily="18" charset="0"/>
              </a:rPr>
              <a:t>balanced binary search tree (</a:t>
            </a:r>
            <a:r>
              <a:rPr lang="en-IN" sz="2400" dirty="0">
                <a:latin typeface="Times New Roman" panose="02020603050405020304" pitchFamily="18" charset="0"/>
                <a:cs typeface="Times New Roman" panose="02020603050405020304" pitchFamily="18" charset="0"/>
              </a:rPr>
              <a:t>which takes log n time for search, insertion and deletion of a node) so as to detect if any 2 line segments intersect or not.</a:t>
            </a:r>
          </a:p>
        </p:txBody>
      </p:sp>
    </p:spTree>
    <p:extLst>
      <p:ext uri="{BB962C8B-B14F-4D97-AF65-F5344CB8AC3E}">
        <p14:creationId xmlns:p14="http://schemas.microsoft.com/office/powerpoint/2010/main" val="1105510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74DD6FE-5ECB-DE98-26BA-831DEAD21193}"/>
              </a:ext>
            </a:extLst>
          </p:cNvPr>
          <p:cNvSpPr txBox="1"/>
          <p:nvPr/>
        </p:nvSpPr>
        <p:spPr>
          <a:xfrm>
            <a:off x="118711" y="1004007"/>
            <a:ext cx="11954577" cy="5632311"/>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particular, each </a:t>
            </a:r>
            <a:r>
              <a:rPr lang="en-US" sz="2400" dirty="0">
                <a:solidFill>
                  <a:schemeClr val="accent2"/>
                </a:solidFill>
                <a:latin typeface="Times New Roman" panose="02020603050405020304" pitchFamily="18" charset="0"/>
                <a:cs typeface="Times New Roman" panose="02020603050405020304" pitchFamily="18" charset="0"/>
              </a:rPr>
              <a:t>segment endpoint </a:t>
            </a:r>
            <a:r>
              <a:rPr lang="en-US" sz="2400" dirty="0">
                <a:latin typeface="Times New Roman" panose="02020603050405020304" pitchFamily="18" charset="0"/>
                <a:cs typeface="Times New Roman" panose="02020603050405020304" pitchFamily="18" charset="0"/>
              </a:rPr>
              <a:t>is an </a:t>
            </a:r>
            <a:r>
              <a:rPr lang="en-US" sz="2400" dirty="0">
                <a:solidFill>
                  <a:schemeClr val="accent2"/>
                </a:solidFill>
                <a:latin typeface="Times New Roman" panose="02020603050405020304" pitchFamily="18" charset="0"/>
                <a:cs typeface="Times New Roman" panose="02020603050405020304" pitchFamily="18" charset="0"/>
              </a:rPr>
              <a:t>event point</a:t>
            </a:r>
            <a:r>
              <a:rPr lang="en-US"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We </a:t>
            </a:r>
            <a:r>
              <a:rPr lang="en-US" sz="2400" b="1" dirty="0">
                <a:latin typeface="Times New Roman" panose="02020603050405020304" pitchFamily="18" charset="0"/>
                <a:cs typeface="Times New Roman" panose="02020603050405020304" pitchFamily="18" charset="0"/>
              </a:rPr>
              <a:t>sort the segment endpoints </a:t>
            </a:r>
            <a:r>
              <a:rPr lang="en-US" sz="2400" dirty="0">
                <a:latin typeface="Times New Roman" panose="02020603050405020304" pitchFamily="18" charset="0"/>
                <a:cs typeface="Times New Roman" panose="02020603050405020304" pitchFamily="18" charset="0"/>
              </a:rPr>
              <a:t>by </a:t>
            </a:r>
            <a:r>
              <a:rPr lang="en-US" sz="2400" b="1" dirty="0">
                <a:solidFill>
                  <a:schemeClr val="accent2"/>
                </a:solidFill>
                <a:latin typeface="Times New Roman" panose="02020603050405020304" pitchFamily="18" charset="0"/>
                <a:cs typeface="Times New Roman" panose="02020603050405020304" pitchFamily="18" charset="0"/>
              </a:rPr>
              <a:t>increasing x-coordinate </a:t>
            </a:r>
            <a:r>
              <a:rPr lang="en-US" sz="2400" dirty="0">
                <a:latin typeface="Times New Roman" panose="02020603050405020304" pitchFamily="18" charset="0"/>
                <a:cs typeface="Times New Roman" panose="02020603050405020304" pitchFamily="18" charset="0"/>
              </a:rPr>
              <a:t>and proceed from left to right. If two or more endpoints are </a:t>
            </a:r>
            <a:r>
              <a:rPr lang="en-US" sz="2400" b="1" dirty="0" err="1">
                <a:latin typeface="Times New Roman" panose="02020603050405020304" pitchFamily="18" charset="0"/>
                <a:cs typeface="Times New Roman" panose="02020603050405020304" pitchFamily="18" charset="0"/>
              </a:rPr>
              <a:t>covertical</a:t>
            </a:r>
            <a:r>
              <a:rPr lang="en-US" sz="2400" dirty="0">
                <a:latin typeface="Times New Roman" panose="02020603050405020304" pitchFamily="18" charset="0"/>
                <a:cs typeface="Times New Roman" panose="02020603050405020304" pitchFamily="18" charset="0"/>
              </a:rPr>
              <a:t>, i.e., they have the same x-coordinate, we </a:t>
            </a:r>
            <a:r>
              <a:rPr lang="en-US" sz="2400" b="1" dirty="0">
                <a:latin typeface="Times New Roman" panose="02020603050405020304" pitchFamily="18" charset="0"/>
                <a:cs typeface="Times New Roman" panose="02020603050405020304" pitchFamily="18" charset="0"/>
              </a:rPr>
              <a:t>break the tie by putting all the </a:t>
            </a:r>
            <a:r>
              <a:rPr lang="en-US" sz="2400" b="1" dirty="0" err="1">
                <a:solidFill>
                  <a:schemeClr val="accent2"/>
                </a:solidFill>
                <a:latin typeface="Times New Roman" panose="02020603050405020304" pitchFamily="18" charset="0"/>
                <a:cs typeface="Times New Roman" panose="02020603050405020304" pitchFamily="18" charset="0"/>
              </a:rPr>
              <a:t>covertical</a:t>
            </a:r>
            <a:r>
              <a:rPr lang="en-US" sz="2400" b="1" dirty="0">
                <a:solidFill>
                  <a:schemeClr val="accent2"/>
                </a:solidFill>
                <a:latin typeface="Times New Roman" panose="02020603050405020304" pitchFamily="18" charset="0"/>
                <a:cs typeface="Times New Roman" panose="02020603050405020304" pitchFamily="18" charset="0"/>
              </a:rPr>
              <a:t> left endpoints before the </a:t>
            </a:r>
            <a:r>
              <a:rPr lang="en-US" sz="2400" b="1" dirty="0" err="1">
                <a:solidFill>
                  <a:schemeClr val="accent2"/>
                </a:solidFill>
                <a:latin typeface="Times New Roman" panose="02020603050405020304" pitchFamily="18" charset="0"/>
                <a:cs typeface="Times New Roman" panose="02020603050405020304" pitchFamily="18" charset="0"/>
              </a:rPr>
              <a:t>covertical</a:t>
            </a:r>
            <a:r>
              <a:rPr lang="en-US" sz="2400" b="1" dirty="0">
                <a:solidFill>
                  <a:schemeClr val="accent2"/>
                </a:solidFill>
                <a:latin typeface="Times New Roman" panose="02020603050405020304" pitchFamily="18" charset="0"/>
                <a:cs typeface="Times New Roman" panose="02020603050405020304" pitchFamily="18" charset="0"/>
              </a:rPr>
              <a:t> right endpoints</a:t>
            </a:r>
            <a:r>
              <a:rPr lang="en-US"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solidFill>
                  <a:schemeClr val="accent2"/>
                </a:solidFill>
                <a:latin typeface="Times New Roman" panose="02020603050405020304" pitchFamily="18" charset="0"/>
                <a:cs typeface="Times New Roman" panose="02020603050405020304" pitchFamily="18" charset="0"/>
              </a:rPr>
              <a:t>Within a set of </a:t>
            </a:r>
            <a:r>
              <a:rPr lang="en-US" sz="2400" b="1" dirty="0" err="1">
                <a:solidFill>
                  <a:schemeClr val="accent2"/>
                </a:solidFill>
                <a:latin typeface="Times New Roman" panose="02020603050405020304" pitchFamily="18" charset="0"/>
                <a:cs typeface="Times New Roman" panose="02020603050405020304" pitchFamily="18" charset="0"/>
              </a:rPr>
              <a:t>covertical</a:t>
            </a:r>
            <a:r>
              <a:rPr lang="en-US" sz="2400" b="1" dirty="0">
                <a:solidFill>
                  <a:schemeClr val="accent2"/>
                </a:solidFill>
                <a:latin typeface="Times New Roman" panose="02020603050405020304" pitchFamily="18" charset="0"/>
                <a:cs typeface="Times New Roman" panose="02020603050405020304" pitchFamily="18" charset="0"/>
              </a:rPr>
              <a:t> left endpoints</a:t>
            </a:r>
            <a:r>
              <a:rPr lang="en-US" sz="2400" dirty="0">
                <a:latin typeface="Times New Roman" panose="02020603050405020304" pitchFamily="18" charset="0"/>
                <a:cs typeface="Times New Roman" panose="02020603050405020304" pitchFamily="18" charset="0"/>
              </a:rPr>
              <a:t>, </a:t>
            </a:r>
            <a:r>
              <a:rPr lang="en-US" sz="2400" b="1" dirty="0">
                <a:solidFill>
                  <a:schemeClr val="accent2"/>
                </a:solidFill>
                <a:latin typeface="Times New Roman" panose="02020603050405020304" pitchFamily="18" charset="0"/>
                <a:cs typeface="Times New Roman" panose="02020603050405020304" pitchFamily="18" charset="0"/>
              </a:rPr>
              <a:t>we put those with lower y-coordinates first</a:t>
            </a:r>
            <a:r>
              <a:rPr lang="en-US" sz="2400" dirty="0">
                <a:latin typeface="Times New Roman" panose="02020603050405020304" pitchFamily="18" charset="0"/>
                <a:cs typeface="Times New Roman" panose="02020603050405020304" pitchFamily="18" charset="0"/>
              </a:rPr>
              <a:t>, and we do the same within a set of </a:t>
            </a:r>
            <a:r>
              <a:rPr lang="en-US" sz="2400" dirty="0" err="1">
                <a:latin typeface="Times New Roman" panose="02020603050405020304" pitchFamily="18" charset="0"/>
                <a:cs typeface="Times New Roman" panose="02020603050405020304" pitchFamily="18" charset="0"/>
              </a:rPr>
              <a:t>covertical</a:t>
            </a:r>
            <a:r>
              <a:rPr lang="en-US" sz="2400" dirty="0">
                <a:latin typeface="Times New Roman" panose="02020603050405020304" pitchFamily="18" charset="0"/>
                <a:cs typeface="Times New Roman" panose="02020603050405020304" pitchFamily="18" charset="0"/>
              </a:rPr>
              <a:t> right endpoints.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we encounter </a:t>
            </a:r>
            <a:r>
              <a:rPr lang="en-US" sz="2400" b="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segment’s left endpoint</a:t>
            </a:r>
            <a:r>
              <a:rPr lang="en-US" sz="2400" dirty="0">
                <a:latin typeface="Times New Roman" panose="02020603050405020304" pitchFamily="18" charset="0"/>
                <a:cs typeface="Times New Roman" panose="02020603050405020304" pitchFamily="18" charset="0"/>
              </a:rPr>
              <a:t>, we </a:t>
            </a:r>
            <a:r>
              <a:rPr lang="en-US" sz="2400" b="1" dirty="0">
                <a:latin typeface="Times New Roman" panose="02020603050405020304" pitchFamily="18" charset="0"/>
                <a:cs typeface="Times New Roman" panose="02020603050405020304" pitchFamily="18" charset="0"/>
              </a:rPr>
              <a:t>insert</a:t>
            </a:r>
            <a:r>
              <a:rPr lang="en-US" sz="2400" dirty="0">
                <a:latin typeface="Times New Roman" panose="02020603050405020304" pitchFamily="18" charset="0"/>
                <a:cs typeface="Times New Roman" panose="02020603050405020304" pitchFamily="18" charset="0"/>
              </a:rPr>
              <a:t> the segment into the sweep-line status, and we </a:t>
            </a:r>
            <a:r>
              <a:rPr lang="en-US" sz="2400" b="1" dirty="0">
                <a:latin typeface="Times New Roman" panose="02020603050405020304" pitchFamily="18" charset="0"/>
                <a:cs typeface="Times New Roman" panose="02020603050405020304" pitchFamily="18" charset="0"/>
              </a:rPr>
              <a:t>delete</a:t>
            </a:r>
            <a:r>
              <a:rPr lang="en-US" sz="2400" dirty="0">
                <a:latin typeface="Times New Roman" panose="02020603050405020304" pitchFamily="18" charset="0"/>
                <a:cs typeface="Times New Roman" panose="02020603050405020304" pitchFamily="18" charset="0"/>
              </a:rPr>
              <a:t> the segment from the sweep-line status upon </a:t>
            </a:r>
            <a:r>
              <a:rPr lang="en-US" sz="2400" b="1" dirty="0">
                <a:latin typeface="Times New Roman" panose="02020603050405020304" pitchFamily="18" charset="0"/>
                <a:cs typeface="Times New Roman" panose="02020603050405020304" pitchFamily="18" charset="0"/>
              </a:rPr>
              <a:t>encountering its right endpoint</a:t>
            </a:r>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Whenever </a:t>
            </a:r>
            <a:r>
              <a:rPr lang="en-US" sz="2400" b="1" dirty="0">
                <a:solidFill>
                  <a:schemeClr val="accent2"/>
                </a:solidFill>
                <a:latin typeface="Times New Roman" panose="02020603050405020304" pitchFamily="18" charset="0"/>
                <a:cs typeface="Times New Roman" panose="02020603050405020304" pitchFamily="18" charset="0"/>
              </a:rPr>
              <a:t>two segments </a:t>
            </a:r>
            <a:r>
              <a:rPr lang="en-US" sz="2400" dirty="0">
                <a:latin typeface="Times New Roman" panose="02020603050405020304" pitchFamily="18" charset="0"/>
                <a:cs typeface="Times New Roman" panose="02020603050405020304" pitchFamily="18" charset="0"/>
              </a:rPr>
              <a:t>first become </a:t>
            </a:r>
            <a:r>
              <a:rPr lang="en-US" sz="2400" b="1" dirty="0">
                <a:solidFill>
                  <a:schemeClr val="accent2"/>
                </a:solidFill>
                <a:latin typeface="Times New Roman" panose="02020603050405020304" pitchFamily="18" charset="0"/>
                <a:cs typeface="Times New Roman" panose="02020603050405020304" pitchFamily="18" charset="0"/>
              </a:rPr>
              <a:t>consecutive</a:t>
            </a:r>
            <a:r>
              <a:rPr lang="en-US" sz="2400" dirty="0">
                <a:latin typeface="Times New Roman" panose="02020603050405020304" pitchFamily="18" charset="0"/>
                <a:cs typeface="Times New Roman" panose="02020603050405020304" pitchFamily="18" charset="0"/>
              </a:rPr>
              <a:t> in the total preorder, </a:t>
            </a:r>
            <a:r>
              <a:rPr lang="en-US" sz="2400" b="1" dirty="0">
                <a:solidFill>
                  <a:schemeClr val="accent2"/>
                </a:solidFill>
                <a:latin typeface="Times New Roman" panose="02020603050405020304" pitchFamily="18" charset="0"/>
                <a:cs typeface="Times New Roman" panose="02020603050405020304" pitchFamily="18" charset="0"/>
              </a:rPr>
              <a:t>we check whether they intersect.</a:t>
            </a:r>
            <a:endParaRPr lang="en-IN" sz="2400"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9934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A5E57EC-2084-C5C9-7A28-AEF7C4DF70FD}"/>
              </a:ext>
            </a:extLst>
          </p:cNvPr>
          <p:cNvPicPr>
            <a:picLocks noChangeAspect="1"/>
          </p:cNvPicPr>
          <p:nvPr/>
        </p:nvPicPr>
        <p:blipFill>
          <a:blip r:embed="rId2"/>
          <a:stretch>
            <a:fillRect/>
          </a:stretch>
        </p:blipFill>
        <p:spPr>
          <a:xfrm>
            <a:off x="1068404" y="383239"/>
            <a:ext cx="10360201" cy="6091521"/>
          </a:xfrm>
          <a:prstGeom prst="rect">
            <a:avLst/>
          </a:prstGeom>
        </p:spPr>
      </p:pic>
    </p:spTree>
    <p:extLst>
      <p:ext uri="{BB962C8B-B14F-4D97-AF65-F5344CB8AC3E}">
        <p14:creationId xmlns:p14="http://schemas.microsoft.com/office/powerpoint/2010/main" val="445954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AD3B13-F4DA-4276-8791-9F05B4BAD2FE}"/>
              </a:ext>
            </a:extLst>
          </p:cNvPr>
          <p:cNvPicPr>
            <a:picLocks noChangeAspect="1"/>
          </p:cNvPicPr>
          <p:nvPr/>
        </p:nvPicPr>
        <p:blipFill>
          <a:blip r:embed="rId2"/>
          <a:stretch>
            <a:fillRect/>
          </a:stretch>
        </p:blipFill>
        <p:spPr>
          <a:xfrm>
            <a:off x="1522997" y="376788"/>
            <a:ext cx="8160018" cy="6065468"/>
          </a:xfrm>
          <a:prstGeom prst="rect">
            <a:avLst/>
          </a:prstGeom>
        </p:spPr>
      </p:pic>
    </p:spTree>
    <p:extLst>
      <p:ext uri="{BB962C8B-B14F-4D97-AF65-F5344CB8AC3E}">
        <p14:creationId xmlns:p14="http://schemas.microsoft.com/office/powerpoint/2010/main" val="637310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674636-6A95-9D66-429F-FBFA7F4ED390}"/>
              </a:ext>
            </a:extLst>
          </p:cNvPr>
          <p:cNvPicPr>
            <a:picLocks noChangeAspect="1"/>
          </p:cNvPicPr>
          <p:nvPr/>
        </p:nvPicPr>
        <p:blipFill>
          <a:blip r:embed="rId2"/>
          <a:stretch>
            <a:fillRect/>
          </a:stretch>
        </p:blipFill>
        <p:spPr>
          <a:xfrm>
            <a:off x="1617044" y="509045"/>
            <a:ext cx="9105499" cy="5936125"/>
          </a:xfrm>
          <a:prstGeom prst="rect">
            <a:avLst/>
          </a:prstGeom>
        </p:spPr>
      </p:pic>
    </p:spTree>
    <p:extLst>
      <p:ext uri="{BB962C8B-B14F-4D97-AF65-F5344CB8AC3E}">
        <p14:creationId xmlns:p14="http://schemas.microsoft.com/office/powerpoint/2010/main" val="550588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TotalTime>
  <Words>500</Words>
  <Application>Microsoft Macintosh PowerPoint</Application>
  <PresentationFormat>Widescreen</PresentationFormat>
  <Paragraphs>27</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Times New Roman</vt:lpstr>
      <vt:lpstr>Times-Roman</vt:lpstr>
      <vt:lpstr>Office Theme</vt:lpstr>
      <vt:lpstr>Sweeping lines</vt:lpstr>
      <vt:lpstr>Right horizontal ray</vt:lpstr>
      <vt:lpstr>Determining whether any pair of segments intersects</vt:lpstr>
      <vt:lpstr>PowerPoint Presentation</vt:lpstr>
      <vt:lpstr>PowerPoint Presentation</vt:lpstr>
      <vt:lpstr>Ordering segments</vt:lpstr>
      <vt:lpstr>PowerPoint Presentation</vt:lpstr>
      <vt:lpstr>Moving the sweep line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 Jenicka</dc:creator>
  <cp:lastModifiedBy>Apoorva Karnwal</cp:lastModifiedBy>
  <cp:revision>5</cp:revision>
  <dcterms:created xsi:type="dcterms:W3CDTF">2023-03-19T15:12:56Z</dcterms:created>
  <dcterms:modified xsi:type="dcterms:W3CDTF">2024-04-25T08:56:11Z</dcterms:modified>
</cp:coreProperties>
</file>