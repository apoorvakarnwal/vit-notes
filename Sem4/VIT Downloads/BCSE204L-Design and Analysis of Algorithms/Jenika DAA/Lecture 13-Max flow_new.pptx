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99" r:id="rId2"/>
    <p:sldId id="406" r:id="rId3"/>
    <p:sldId id="407" r:id="rId4"/>
    <p:sldId id="409" r:id="rId5"/>
    <p:sldId id="403" r:id="rId6"/>
    <p:sldId id="405" r:id="rId7"/>
    <p:sldId id="410" r:id="rId8"/>
    <p:sldId id="415" r:id="rId9"/>
    <p:sldId id="417" r:id="rId10"/>
    <p:sldId id="416" r:id="rId11"/>
    <p:sldId id="418" r:id="rId12"/>
    <p:sldId id="440" r:id="rId13"/>
    <p:sldId id="413" r:id="rId14"/>
    <p:sldId id="425" r:id="rId15"/>
    <p:sldId id="420" r:id="rId16"/>
    <p:sldId id="426" r:id="rId17"/>
    <p:sldId id="424" r:id="rId18"/>
    <p:sldId id="427" r:id="rId19"/>
    <p:sldId id="423" r:id="rId20"/>
    <p:sldId id="419" r:id="rId21"/>
    <p:sldId id="428" r:id="rId22"/>
    <p:sldId id="422" r:id="rId23"/>
    <p:sldId id="421" r:id="rId24"/>
    <p:sldId id="429" r:id="rId25"/>
    <p:sldId id="430" r:id="rId26"/>
    <p:sldId id="431" r:id="rId27"/>
    <p:sldId id="432" r:id="rId28"/>
    <p:sldId id="433" r:id="rId29"/>
    <p:sldId id="434" r:id="rId30"/>
    <p:sldId id="435" r:id="rId31"/>
    <p:sldId id="436" r:id="rId32"/>
    <p:sldId id="437" r:id="rId33"/>
    <p:sldId id="438" r:id="rId34"/>
    <p:sldId id="43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03" autoAdjust="0"/>
    <p:restoredTop sz="94694"/>
  </p:normalViewPr>
  <p:slideViewPr>
    <p:cSldViewPr snapToGrid="0">
      <p:cViewPr varScale="1">
        <p:scale>
          <a:sx n="79" d="100"/>
          <a:sy n="79" d="100"/>
        </p:scale>
        <p:origin x="216"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6T05:12:09.541"/>
    </inkml:context>
    <inkml:brush xml:id="br0">
      <inkml:brushProperty name="width" value="0.05" units="cm"/>
      <inkml:brushProperty name="height" value="0.05" units="cm"/>
    </inkml:brush>
  </inkml:definitions>
  <inkml:trace contextRef="#ctx0" brushRef="#br0">1 1 5416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CFABAD-484B-41D4-8390-363E5EABF298}" type="datetimeFigureOut">
              <a:rPr lang="en-IN" smtClean="0"/>
              <a:t>14/03/24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63910-179A-4BC3-9468-49F15EF3F8F0}" type="slidenum">
              <a:rPr lang="en-IN" smtClean="0"/>
              <a:t>‹#›</a:t>
            </a:fld>
            <a:endParaRPr lang="en-IN"/>
          </a:p>
        </p:txBody>
      </p:sp>
    </p:spTree>
    <p:extLst>
      <p:ext uri="{BB962C8B-B14F-4D97-AF65-F5344CB8AC3E}">
        <p14:creationId xmlns:p14="http://schemas.microsoft.com/office/powerpoint/2010/main" val="3736875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DE289-0D4B-42A8-BFCC-1D6B9DD4B5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33BC58-EA73-48B6-B147-18C347A70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FFAC65-6AE8-48DD-AF46-2567DE766968}"/>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69D22FD7-E85E-4917-951D-A26AE2894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23271E-8510-44E8-8814-8007B5C61F38}"/>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112553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C56B8-41DE-4188-B5E2-3AC3B109C7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50BA07-D1B4-4A01-8171-CC2A27CFE9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CB54E9-AFA4-4245-A6E8-568BF2922063}"/>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B57DBB8C-A2E1-4EBE-819E-7184B2192A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3B526A-4144-4423-A3E8-4BC91E1E499F}"/>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140506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94275-43EA-4C43-9624-4CF3C374EF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F171AC-1016-4C91-99BF-6287A343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E05E22-8C1D-4CFB-AEC6-3208DD007E77}"/>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0DA53450-857C-409E-B4DF-12146CD3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3A9B3A-B38F-4DFA-9C1E-0F0F35693FCF}"/>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2592188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C989-A4FE-4659-AFA7-EA9E03C89A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770A56-5454-4A44-B920-C195E11FF3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8A3EFD-E880-4F66-907E-736C7D4915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2C8A8F-6E8D-4B9A-A726-7A1059E2FC2A}"/>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6" name="Footer Placeholder 5">
            <a:extLst>
              <a:ext uri="{FF2B5EF4-FFF2-40B4-BE49-F238E27FC236}">
                <a16:creationId xmlns:a16="http://schemas.microsoft.com/office/drawing/2014/main" id="{DDA37DC6-14E2-4C08-B0E4-BFA98A54B1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36F8F6-31C6-46D8-BB3D-53469F2BACC0}"/>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3953646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F695-E2A8-4D94-A6B3-97E238B0FC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936740-223A-4EE8-8D12-AC09B94FF1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E5AF86-6035-4EF0-9515-DFA2F85F96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975F13-E0C1-4EDD-B8B5-D621B2CE08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00EAAC-62F7-4058-9B7A-C90EFB6662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835AD2-44EE-4D79-A00C-0427ED7E05AB}"/>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8" name="Footer Placeholder 7">
            <a:extLst>
              <a:ext uri="{FF2B5EF4-FFF2-40B4-BE49-F238E27FC236}">
                <a16:creationId xmlns:a16="http://schemas.microsoft.com/office/drawing/2014/main" id="{E63AE4D3-08F5-4673-86A4-F29B3B5E11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AB1FB9-BE52-466E-A955-13EB600E8988}"/>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351039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2BCC-812B-430A-A09F-F858C4E0FB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D20F97-E383-4B96-8792-22E61A1F589C}"/>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4" name="Footer Placeholder 3">
            <a:extLst>
              <a:ext uri="{FF2B5EF4-FFF2-40B4-BE49-F238E27FC236}">
                <a16:creationId xmlns:a16="http://schemas.microsoft.com/office/drawing/2014/main" id="{B549942C-5717-49BA-B468-33F4E8D679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400CDD-623E-4958-A027-74D67E4101ED}"/>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1117508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648E8-11A4-447E-B160-96DB5EBF3488}"/>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3" name="Footer Placeholder 2">
            <a:extLst>
              <a:ext uri="{FF2B5EF4-FFF2-40B4-BE49-F238E27FC236}">
                <a16:creationId xmlns:a16="http://schemas.microsoft.com/office/drawing/2014/main" id="{2982FA7E-3609-4C5E-BFD7-A6588AB1CE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958F6F-9F3D-47B8-B587-33F533750A75}"/>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323519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B086-E27C-46FF-93FC-ABC85156C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E51E2E-8F3E-485F-BA70-0E635A9A73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715F69-7E2A-4E4A-8AB5-0952D5311A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C0C98-FF28-4701-A0CA-A34DE3E775A0}"/>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6" name="Footer Placeholder 5">
            <a:extLst>
              <a:ext uri="{FF2B5EF4-FFF2-40B4-BE49-F238E27FC236}">
                <a16:creationId xmlns:a16="http://schemas.microsoft.com/office/drawing/2014/main" id="{38C96A17-9DDF-4678-A704-EFF0E0E767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9C7E61-BA4E-474F-AC11-67B0D0D10162}"/>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1376307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328E-DC21-4F3D-8098-4BBAAA492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B73DA0-FD8F-46C7-A91E-958617FCBC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3F7E0F-AAC7-47E6-A4C4-0329F63E39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F02B30-2CC1-48DC-8928-4AFFD5B48A4D}"/>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6" name="Footer Placeholder 5">
            <a:extLst>
              <a:ext uri="{FF2B5EF4-FFF2-40B4-BE49-F238E27FC236}">
                <a16:creationId xmlns:a16="http://schemas.microsoft.com/office/drawing/2014/main" id="{E2C8292F-AF38-4461-ADBC-FFFBDFFA40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8A855A-E706-4C90-BA29-BD5EABD4B4F0}"/>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766523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E836-26B5-4ED2-806E-AD6AD330AF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951FD0-342C-4098-9E8F-9F14FA95AC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F1504E-974D-4714-B269-5635EE77136B}"/>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D8BF69F8-AC82-4D9E-A253-09613E7A4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8F0863-4342-45CF-A595-1924AB40F80D}"/>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3510939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EF9F06-BFEB-4832-8724-04F530D9F4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6ABCD3-E353-45C3-98D5-75C40CCA25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0A54EF-0C4C-4D34-91CE-E6E57067050E}"/>
              </a:ext>
            </a:extLst>
          </p:cNvPr>
          <p:cNvSpPr>
            <a:spLocks noGrp="1"/>
          </p:cNvSpPr>
          <p:nvPr>
            <p:ph type="dt" sz="half" idx="10"/>
          </p:nvPr>
        </p:nvSpPr>
        <p:spPr/>
        <p:txBody>
          <a:body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A1626DC9-BC14-4583-ABD8-ADFE9E5DDE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5B452E-437E-43A8-BB8A-36EF407AB372}"/>
              </a:ext>
            </a:extLst>
          </p:cNvPr>
          <p:cNvSpPr>
            <a:spLocks noGrp="1"/>
          </p:cNvSpPr>
          <p:nvPr>
            <p:ph type="sldNum" sz="quarter" idx="12"/>
          </p:nvPr>
        </p:nvSpPr>
        <p:spPr/>
        <p:txBody>
          <a:bodyPr/>
          <a:lstStyle/>
          <a:p>
            <a:fld id="{BE041BDB-632A-4ED0-92D0-869214B96076}" type="slidenum">
              <a:rPr lang="en-IN" smtClean="0"/>
              <a:t>‹#›</a:t>
            </a:fld>
            <a:endParaRPr lang="en-IN"/>
          </a:p>
        </p:txBody>
      </p:sp>
    </p:spTree>
    <p:extLst>
      <p:ext uri="{BB962C8B-B14F-4D97-AF65-F5344CB8AC3E}">
        <p14:creationId xmlns:p14="http://schemas.microsoft.com/office/powerpoint/2010/main" val="412834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E33A72-A7A6-4F98-A1E0-D56C4F1B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55AD29-6F32-4F3C-858A-10DEB15A4D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A8C8F-DDC4-46FE-83C0-BF11BDC611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DDF43-BDBC-4720-A88D-BE2A71887863}" type="datetimeFigureOut">
              <a:rPr lang="en-IN" smtClean="0"/>
              <a:t>14/03/24</a:t>
            </a:fld>
            <a:endParaRPr lang="en-IN"/>
          </a:p>
        </p:txBody>
      </p:sp>
      <p:sp>
        <p:nvSpPr>
          <p:cNvPr id="5" name="Footer Placeholder 4">
            <a:extLst>
              <a:ext uri="{FF2B5EF4-FFF2-40B4-BE49-F238E27FC236}">
                <a16:creationId xmlns:a16="http://schemas.microsoft.com/office/drawing/2014/main" id="{B0ACEB6F-BABA-4300-BA63-C89CD44A7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CEC64D-C7EF-44A4-9F98-69EECABC06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041BDB-632A-4ED0-92D0-869214B96076}" type="slidenum">
              <a:rPr lang="en-IN" smtClean="0"/>
              <a:t>‹#›</a:t>
            </a:fld>
            <a:endParaRPr lang="en-IN"/>
          </a:p>
        </p:txBody>
      </p:sp>
    </p:spTree>
    <p:extLst>
      <p:ext uri="{BB962C8B-B14F-4D97-AF65-F5344CB8AC3E}">
        <p14:creationId xmlns:p14="http://schemas.microsoft.com/office/powerpoint/2010/main" val="3702939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Design and analysis of algorithms (CSE 2012) </a:t>
            </a:r>
            <a:br>
              <a:rPr lang="en-US" sz="3100" dirty="0"/>
            </a:b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Assistant professor senior grade 2</a:t>
            </a: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pic>
        <p:nvPicPr>
          <p:cNvPr id="7" name="Google Shape;415;p66" descr="A picture containing object, clock&#10;&#10;Description automatically generated">
            <a:extLst>
              <a:ext uri="{FF2B5EF4-FFF2-40B4-BE49-F238E27FC236}">
                <a16:creationId xmlns:a16="http://schemas.microsoft.com/office/drawing/2014/main" id="{587F64C9-E839-4078-8B92-C9C7349D11D7}"/>
              </a:ext>
            </a:extLst>
          </p:cNvPr>
          <p:cNvPicPr preferRelativeResize="0"/>
          <p:nvPr/>
        </p:nvPicPr>
        <p:blipFill rotWithShape="1">
          <a:blip r:embed="rId2">
            <a:alphaModFix/>
          </a:blip>
          <a:srcRect/>
          <a:stretch/>
        </p:blipFill>
        <p:spPr>
          <a:xfrm>
            <a:off x="0" y="0"/>
            <a:ext cx="1962150" cy="2071056"/>
          </a:xfrm>
          <a:prstGeom prst="rect">
            <a:avLst/>
          </a:prstGeom>
          <a:noFill/>
          <a:ln>
            <a:noFill/>
          </a:ln>
        </p:spPr>
      </p:pic>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C408-FAC9-4FFD-A4C7-AD1970745F52}"/>
              </a:ext>
            </a:extLst>
          </p:cNvPr>
          <p:cNvSpPr>
            <a:spLocks noGrp="1"/>
          </p:cNvSpPr>
          <p:nvPr>
            <p:ph type="title"/>
          </p:nvPr>
        </p:nvSpPr>
        <p:spPr/>
        <p:txBody>
          <a:bodyPr/>
          <a:lstStyle/>
          <a:p>
            <a:r>
              <a:rPr lang="en-US" dirty="0"/>
              <a:t>Capacity constraint</a:t>
            </a:r>
            <a:endParaRPr lang="en-IN" dirty="0"/>
          </a:p>
        </p:txBody>
      </p:sp>
      <p:sp>
        <p:nvSpPr>
          <p:cNvPr id="7" name="Content Placeholder 6">
            <a:extLst>
              <a:ext uri="{FF2B5EF4-FFF2-40B4-BE49-F238E27FC236}">
                <a16:creationId xmlns:a16="http://schemas.microsoft.com/office/drawing/2014/main" id="{790ECA17-3498-418A-A601-E86904ADE820}"/>
              </a:ext>
            </a:extLst>
          </p:cNvPr>
          <p:cNvSpPr>
            <a:spLocks noGrp="1"/>
          </p:cNvSpPr>
          <p:nvPr>
            <p:ph idx="1"/>
          </p:nvPr>
        </p:nvSpPr>
        <p:spPr/>
        <p:txBody>
          <a:bodyPr/>
          <a:lstStyle/>
          <a:p>
            <a:pPr marL="0" indent="0">
              <a:buNone/>
            </a:pPr>
            <a:r>
              <a:rPr lang="en-US" dirty="0"/>
              <a:t>Flow from a vertex </a:t>
            </a:r>
            <a:r>
              <a:rPr lang="en-US" dirty="0" err="1"/>
              <a:t>i</a:t>
            </a:r>
            <a:r>
              <a:rPr lang="en-US" dirty="0"/>
              <a:t> to j (</a:t>
            </a:r>
            <a:r>
              <a:rPr lang="en-US" dirty="0" err="1"/>
              <a:t>x</a:t>
            </a:r>
            <a:r>
              <a:rPr lang="en-US" baseline="-25000" dirty="0" err="1"/>
              <a:t>ij</a:t>
            </a:r>
            <a:r>
              <a:rPr lang="en-US" baseline="-25000" dirty="0"/>
              <a:t> </a:t>
            </a:r>
            <a:r>
              <a:rPr lang="en-US" dirty="0"/>
              <a:t>) can range from 0 to the capacity value along the edge (</a:t>
            </a:r>
            <a:r>
              <a:rPr lang="en-US" dirty="0" err="1"/>
              <a:t>u</a:t>
            </a:r>
            <a:r>
              <a:rPr lang="en-US" baseline="-25000" dirty="0" err="1"/>
              <a:t>ij</a:t>
            </a:r>
            <a:r>
              <a:rPr lang="en-US" baseline="-25000" dirty="0"/>
              <a:t> </a:t>
            </a:r>
            <a:r>
              <a:rPr lang="en-US" dirty="0"/>
              <a:t>) where </a:t>
            </a:r>
            <a:r>
              <a:rPr lang="en-US" sz="2800" dirty="0"/>
              <a:t>E is the set of edges in the graph</a:t>
            </a:r>
            <a:endParaRPr lang="en-IN" dirty="0"/>
          </a:p>
        </p:txBody>
      </p:sp>
      <p:pic>
        <p:nvPicPr>
          <p:cNvPr id="9" name="Picture 8">
            <a:extLst>
              <a:ext uri="{FF2B5EF4-FFF2-40B4-BE49-F238E27FC236}">
                <a16:creationId xmlns:a16="http://schemas.microsoft.com/office/drawing/2014/main" id="{4A05112B-6714-4EC8-B920-CA81632E754C}"/>
              </a:ext>
            </a:extLst>
          </p:cNvPr>
          <p:cNvPicPr>
            <a:picLocks noChangeAspect="1"/>
          </p:cNvPicPr>
          <p:nvPr/>
        </p:nvPicPr>
        <p:blipFill>
          <a:blip r:embed="rId2"/>
          <a:stretch>
            <a:fillRect/>
          </a:stretch>
        </p:blipFill>
        <p:spPr>
          <a:xfrm>
            <a:off x="3218180" y="4001294"/>
            <a:ext cx="5105400" cy="895350"/>
          </a:xfrm>
          <a:prstGeom prst="rect">
            <a:avLst/>
          </a:prstGeom>
        </p:spPr>
      </p:pic>
    </p:spTree>
    <p:extLst>
      <p:ext uri="{BB962C8B-B14F-4D97-AF65-F5344CB8AC3E}">
        <p14:creationId xmlns:p14="http://schemas.microsoft.com/office/powerpoint/2010/main" val="125515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66B7-D31C-4C60-BB6A-3058F9AC2DDD}"/>
              </a:ext>
            </a:extLst>
          </p:cNvPr>
          <p:cNvSpPr>
            <a:spLocks noGrp="1"/>
          </p:cNvSpPr>
          <p:nvPr>
            <p:ph type="title"/>
          </p:nvPr>
        </p:nvSpPr>
        <p:spPr/>
        <p:txBody>
          <a:bodyPr/>
          <a:lstStyle/>
          <a:p>
            <a:r>
              <a:rPr lang="en-US" dirty="0"/>
              <a:t>Flow conservation constraint</a:t>
            </a:r>
            <a:endParaRPr lang="en-IN" dirty="0"/>
          </a:p>
        </p:txBody>
      </p:sp>
      <p:pic>
        <p:nvPicPr>
          <p:cNvPr id="5" name="Content Placeholder 4">
            <a:extLst>
              <a:ext uri="{FF2B5EF4-FFF2-40B4-BE49-F238E27FC236}">
                <a16:creationId xmlns:a16="http://schemas.microsoft.com/office/drawing/2014/main" id="{DB5AFD1B-5FC6-4E7A-842F-4EF4F2D5EC5B}"/>
              </a:ext>
            </a:extLst>
          </p:cNvPr>
          <p:cNvPicPr>
            <a:picLocks noGrp="1" noChangeAspect="1"/>
          </p:cNvPicPr>
          <p:nvPr>
            <p:ph idx="1"/>
          </p:nvPr>
        </p:nvPicPr>
        <p:blipFill>
          <a:blip r:embed="rId2"/>
          <a:stretch>
            <a:fillRect/>
          </a:stretch>
        </p:blipFill>
        <p:spPr>
          <a:xfrm>
            <a:off x="2890837" y="2969579"/>
            <a:ext cx="6105525" cy="1000125"/>
          </a:xfrm>
        </p:spPr>
      </p:pic>
      <p:pic>
        <p:nvPicPr>
          <p:cNvPr id="6" name="Content Placeholder 4">
            <a:extLst>
              <a:ext uri="{FF2B5EF4-FFF2-40B4-BE49-F238E27FC236}">
                <a16:creationId xmlns:a16="http://schemas.microsoft.com/office/drawing/2014/main" id="{ACBB5104-D9E2-4AEE-BDF7-31F4D01416F8}"/>
              </a:ext>
            </a:extLst>
          </p:cNvPr>
          <p:cNvPicPr>
            <a:picLocks noChangeAspect="1"/>
          </p:cNvPicPr>
          <p:nvPr/>
        </p:nvPicPr>
        <p:blipFill>
          <a:blip r:embed="rId3"/>
          <a:stretch>
            <a:fillRect/>
          </a:stretch>
        </p:blipFill>
        <p:spPr>
          <a:xfrm>
            <a:off x="4338637" y="5445125"/>
            <a:ext cx="3743325" cy="1047750"/>
          </a:xfrm>
          <a:prstGeom prst="rect">
            <a:avLst/>
          </a:prstGeom>
        </p:spPr>
      </p:pic>
      <p:sp>
        <p:nvSpPr>
          <p:cNvPr id="7" name="TextBox 6">
            <a:extLst>
              <a:ext uri="{FF2B5EF4-FFF2-40B4-BE49-F238E27FC236}">
                <a16:creationId xmlns:a16="http://schemas.microsoft.com/office/drawing/2014/main" id="{62EFC0CC-B19F-4C20-8892-86C349693203}"/>
              </a:ext>
            </a:extLst>
          </p:cNvPr>
          <p:cNvSpPr txBox="1"/>
          <p:nvPr/>
        </p:nvSpPr>
        <p:spPr>
          <a:xfrm>
            <a:off x="1066800" y="1690688"/>
            <a:ext cx="10287000" cy="954107"/>
          </a:xfrm>
          <a:prstGeom prst="rect">
            <a:avLst/>
          </a:prstGeom>
          <a:noFill/>
        </p:spPr>
        <p:txBody>
          <a:bodyPr wrap="square" rtlCol="0">
            <a:spAutoFit/>
          </a:bodyPr>
          <a:lstStyle/>
          <a:p>
            <a:r>
              <a:rPr lang="en-US" sz="2800" dirty="0"/>
              <a:t>The total amount of flow going out of a vertex (other than source and sink) will be equal to total amount of flow coming into a vertex</a:t>
            </a:r>
            <a:endParaRPr lang="en-IN" sz="2800" dirty="0"/>
          </a:p>
        </p:txBody>
      </p:sp>
      <p:sp>
        <p:nvSpPr>
          <p:cNvPr id="8" name="TextBox 7">
            <a:extLst>
              <a:ext uri="{FF2B5EF4-FFF2-40B4-BE49-F238E27FC236}">
                <a16:creationId xmlns:a16="http://schemas.microsoft.com/office/drawing/2014/main" id="{2AB7E81E-A39A-461A-AAAF-CAF6F891EA6A}"/>
              </a:ext>
            </a:extLst>
          </p:cNvPr>
          <p:cNvSpPr txBox="1"/>
          <p:nvPr/>
        </p:nvSpPr>
        <p:spPr>
          <a:xfrm>
            <a:off x="640080" y="4059853"/>
            <a:ext cx="11358880" cy="1138773"/>
          </a:xfrm>
          <a:prstGeom prst="rect">
            <a:avLst/>
          </a:prstGeom>
          <a:noFill/>
        </p:spPr>
        <p:txBody>
          <a:bodyPr wrap="square" rtlCol="0">
            <a:spAutoFit/>
          </a:bodyPr>
          <a:lstStyle/>
          <a:p>
            <a:r>
              <a:rPr lang="en-US" sz="2800" dirty="0"/>
              <a:t>Where n is the total number of vertices in the graph. The outflow from a source</a:t>
            </a:r>
            <a:r>
              <a:rPr lang="en-US" sz="4000" dirty="0"/>
              <a:t> </a:t>
            </a:r>
            <a:r>
              <a:rPr lang="en-US" sz="2800" dirty="0"/>
              <a:t>(x</a:t>
            </a:r>
            <a:r>
              <a:rPr lang="en-US" sz="2800" baseline="-25000" dirty="0"/>
              <a:t>1j </a:t>
            </a:r>
            <a:r>
              <a:rPr lang="en-US" sz="2800" dirty="0"/>
              <a:t>) is equal to the inflow into the sink</a:t>
            </a:r>
            <a:r>
              <a:rPr lang="en-US" sz="4000" dirty="0"/>
              <a:t> </a:t>
            </a:r>
            <a:r>
              <a:rPr lang="en-US" sz="2800" dirty="0"/>
              <a:t>(</a:t>
            </a:r>
            <a:r>
              <a:rPr lang="en-US" sz="2800" dirty="0" err="1"/>
              <a:t>x</a:t>
            </a:r>
            <a:r>
              <a:rPr lang="en-US" sz="2800" baseline="-25000" dirty="0" err="1"/>
              <a:t>jn</a:t>
            </a:r>
            <a:r>
              <a:rPr lang="en-US" sz="2800" baseline="-25000" dirty="0"/>
              <a:t> </a:t>
            </a:r>
            <a:r>
              <a:rPr lang="en-US" sz="2800" dirty="0"/>
              <a:t>) </a:t>
            </a:r>
            <a:endParaRPr lang="en-IN" sz="2800" dirty="0"/>
          </a:p>
        </p:txBody>
      </p:sp>
    </p:spTree>
    <p:extLst>
      <p:ext uri="{BB962C8B-B14F-4D97-AF65-F5344CB8AC3E}">
        <p14:creationId xmlns:p14="http://schemas.microsoft.com/office/powerpoint/2010/main" val="3261155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3D5A4-D1B3-495F-BCA4-64A1998683F2}"/>
              </a:ext>
            </a:extLst>
          </p:cNvPr>
          <p:cNvSpPr>
            <a:spLocks noGrp="1"/>
          </p:cNvSpPr>
          <p:nvPr>
            <p:ph type="title"/>
          </p:nvPr>
        </p:nvSpPr>
        <p:spPr/>
        <p:txBody>
          <a:bodyPr/>
          <a:lstStyle/>
          <a:p>
            <a:r>
              <a:rPr lang="en-US" dirty="0"/>
              <a:t>Maximum flow problem</a:t>
            </a:r>
            <a:endParaRPr lang="en-IN" dirty="0"/>
          </a:p>
        </p:txBody>
      </p:sp>
      <p:pic>
        <p:nvPicPr>
          <p:cNvPr id="5" name="Content Placeholder 4">
            <a:extLst>
              <a:ext uri="{FF2B5EF4-FFF2-40B4-BE49-F238E27FC236}">
                <a16:creationId xmlns:a16="http://schemas.microsoft.com/office/drawing/2014/main" id="{91F82EF2-2E1C-4291-8466-A9941A9F8903}"/>
              </a:ext>
            </a:extLst>
          </p:cNvPr>
          <p:cNvPicPr>
            <a:picLocks noGrp="1" noChangeAspect="1"/>
          </p:cNvPicPr>
          <p:nvPr>
            <p:ph idx="1"/>
          </p:nvPr>
        </p:nvPicPr>
        <p:blipFill>
          <a:blip r:embed="rId2"/>
          <a:stretch>
            <a:fillRect/>
          </a:stretch>
        </p:blipFill>
        <p:spPr>
          <a:xfrm>
            <a:off x="1970722" y="2505551"/>
            <a:ext cx="8067675" cy="2219325"/>
          </a:xfrm>
        </p:spPr>
      </p:pic>
    </p:spTree>
    <p:extLst>
      <p:ext uri="{BB962C8B-B14F-4D97-AF65-F5344CB8AC3E}">
        <p14:creationId xmlns:p14="http://schemas.microsoft.com/office/powerpoint/2010/main" val="1813767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FF992-6C85-4435-94C1-6756AA32640F}"/>
              </a:ext>
            </a:extLst>
          </p:cNvPr>
          <p:cNvSpPr>
            <a:spLocks noGrp="1"/>
          </p:cNvSpPr>
          <p:nvPr>
            <p:ph type="title"/>
          </p:nvPr>
        </p:nvSpPr>
        <p:spPr/>
        <p:txBody>
          <a:bodyPr/>
          <a:lstStyle/>
          <a:p>
            <a:r>
              <a:rPr lang="en-US" dirty="0"/>
              <a:t>Marking reverse flow in the Network flow graph</a:t>
            </a:r>
            <a:endParaRPr lang="en-IN" dirty="0"/>
          </a:p>
        </p:txBody>
      </p:sp>
      <p:sp>
        <p:nvSpPr>
          <p:cNvPr id="3" name="Content Placeholder 2">
            <a:extLst>
              <a:ext uri="{FF2B5EF4-FFF2-40B4-BE49-F238E27FC236}">
                <a16:creationId xmlns:a16="http://schemas.microsoft.com/office/drawing/2014/main" id="{B99CAE3F-7914-4559-80CB-C31E93241EBD}"/>
              </a:ext>
            </a:extLst>
          </p:cNvPr>
          <p:cNvSpPr>
            <a:spLocks noGrp="1"/>
          </p:cNvSpPr>
          <p:nvPr>
            <p:ph idx="1"/>
          </p:nvPr>
        </p:nvSpPr>
        <p:spPr>
          <a:xfrm>
            <a:off x="838200" y="1524000"/>
            <a:ext cx="10652760" cy="5171246"/>
          </a:xfrm>
        </p:spPr>
        <p:txBody>
          <a:bodyPr>
            <a:normAutofit/>
          </a:bodyPr>
          <a:lstStyle/>
          <a:p>
            <a:pPr marL="0" indent="0" algn="just">
              <a:lnSpc>
                <a:spcPct val="107000"/>
              </a:lnSpc>
              <a:spcAft>
                <a:spcPts val="8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When a flow is sent from u to v in the forward direction, it is always possible to bring it back if we want in the opposite direction. That’s why for every flow in the forward edge, we have capacity of the same magnitude in the backward edge.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6B0E6FE-2BD9-4481-A7E6-89C948A86621}"/>
                  </a:ext>
                </a:extLst>
              </p14:cNvPr>
              <p14:cNvContentPartPr/>
              <p14:nvPr/>
            </p14:nvContentPartPr>
            <p14:xfrm>
              <a:off x="7239720" y="1733080"/>
              <a:ext cx="360" cy="360"/>
            </p14:xfrm>
          </p:contentPart>
        </mc:Choice>
        <mc:Fallback xmlns="">
          <p:pic>
            <p:nvPicPr>
              <p:cNvPr id="4" name="Ink 3">
                <a:extLst>
                  <a:ext uri="{FF2B5EF4-FFF2-40B4-BE49-F238E27FC236}">
                    <a16:creationId xmlns:a16="http://schemas.microsoft.com/office/drawing/2014/main" id="{66B0E6FE-2BD9-4481-A7E6-89C948A86621}"/>
                  </a:ext>
                </a:extLst>
              </p:cNvPr>
              <p:cNvPicPr/>
              <p:nvPr/>
            </p:nvPicPr>
            <p:blipFill>
              <a:blip r:embed="rId3"/>
              <a:stretch>
                <a:fillRect/>
              </a:stretch>
            </p:blipFill>
            <p:spPr>
              <a:xfrm>
                <a:off x="7231080" y="1724440"/>
                <a:ext cx="18000" cy="18000"/>
              </a:xfrm>
              <a:prstGeom prst="rect">
                <a:avLst/>
              </a:prstGeom>
            </p:spPr>
          </p:pic>
        </mc:Fallback>
      </mc:AlternateContent>
      <p:grpSp>
        <p:nvGrpSpPr>
          <p:cNvPr id="5" name="Group 4">
            <a:extLst>
              <a:ext uri="{FF2B5EF4-FFF2-40B4-BE49-F238E27FC236}">
                <a16:creationId xmlns:a16="http://schemas.microsoft.com/office/drawing/2014/main" id="{76D8450E-3BDC-458E-AA03-708B4A6A1B97}"/>
              </a:ext>
            </a:extLst>
          </p:cNvPr>
          <p:cNvGrpSpPr/>
          <p:nvPr/>
        </p:nvGrpSpPr>
        <p:grpSpPr>
          <a:xfrm>
            <a:off x="4460240" y="3715972"/>
            <a:ext cx="3291480" cy="2979274"/>
            <a:chOff x="0" y="46827"/>
            <a:chExt cx="1420131" cy="1582984"/>
          </a:xfrm>
        </p:grpSpPr>
        <p:grpSp>
          <p:nvGrpSpPr>
            <p:cNvPr id="6" name="Group 5">
              <a:extLst>
                <a:ext uri="{FF2B5EF4-FFF2-40B4-BE49-F238E27FC236}">
                  <a16:creationId xmlns:a16="http://schemas.microsoft.com/office/drawing/2014/main" id="{40B6A99C-379A-4682-BBB6-1CE71AAB18E3}"/>
                </a:ext>
              </a:extLst>
            </p:cNvPr>
            <p:cNvGrpSpPr/>
            <p:nvPr/>
          </p:nvGrpSpPr>
          <p:grpSpPr>
            <a:xfrm>
              <a:off x="0" y="46827"/>
              <a:ext cx="1420131" cy="1288400"/>
              <a:chOff x="0" y="46827"/>
              <a:chExt cx="1420131" cy="1288400"/>
            </a:xfrm>
          </p:grpSpPr>
          <p:sp>
            <p:nvSpPr>
              <p:cNvPr id="8" name="Text Box 2">
                <a:extLst>
                  <a:ext uri="{FF2B5EF4-FFF2-40B4-BE49-F238E27FC236}">
                    <a16:creationId xmlns:a16="http://schemas.microsoft.com/office/drawing/2014/main" id="{02D4C04E-C05E-471B-9202-F9FB3897E092}"/>
                  </a:ext>
                </a:extLst>
              </p:cNvPr>
              <p:cNvSpPr txBox="1">
                <a:spLocks noChangeArrowheads="1"/>
              </p:cNvSpPr>
              <p:nvPr/>
            </p:nvSpPr>
            <p:spPr bwMode="auto">
              <a:xfrm>
                <a:off x="498413" y="46827"/>
                <a:ext cx="561340" cy="2857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US" sz="2800" dirty="0">
                    <a:effectLst/>
                    <a:latin typeface="Calibri" panose="020F0502020204030204" pitchFamily="34" charset="0"/>
                    <a:ea typeface="Calibri" panose="020F0502020204030204" pitchFamily="34" charset="0"/>
                    <a:cs typeface="Times New Roman" panose="02020603050405020304" pitchFamily="18" charset="0"/>
                  </a:rPr>
                  <a:t>f(</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u,v</a:t>
                </a:r>
                <a:r>
                  <a:rPr lang="en-US" sz="2800" dirty="0">
                    <a:effectLst/>
                    <a:latin typeface="Calibri" panose="020F0502020204030204" pitchFamily="34" charset="0"/>
                    <a:ea typeface="Calibri" panose="020F0502020204030204" pitchFamily="34" charset="0"/>
                    <a:cs typeface="Times New Roman" panose="02020603050405020304" pitchFamily="18" charset="0"/>
                  </a:rPr>
                  <a: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Arrow: Curved Down 8">
                <a:extLst>
                  <a:ext uri="{FF2B5EF4-FFF2-40B4-BE49-F238E27FC236}">
                    <a16:creationId xmlns:a16="http://schemas.microsoft.com/office/drawing/2014/main" id="{B130E033-406D-4A54-B781-FD56454E31BB}"/>
                  </a:ext>
                </a:extLst>
              </p:cNvPr>
              <p:cNvSpPr/>
              <p:nvPr/>
            </p:nvSpPr>
            <p:spPr>
              <a:xfrm>
                <a:off x="214552" y="362695"/>
                <a:ext cx="1056669" cy="280961"/>
              </a:xfrm>
              <a:prstGeom prst="curvedDownArrow">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a:effectLst/>
                    <a:ea typeface="Calibri" panose="020F0502020204030204" pitchFamily="34" charset="0"/>
                    <a:cs typeface="Times New Roman" panose="02020603050405020304" pitchFamily="18" charset="0"/>
                  </a:rPr>
                  <a:t> </a:t>
                </a:r>
              </a:p>
            </p:txBody>
          </p:sp>
          <p:sp>
            <p:nvSpPr>
              <p:cNvPr id="10" name="Oval 9">
                <a:extLst>
                  <a:ext uri="{FF2B5EF4-FFF2-40B4-BE49-F238E27FC236}">
                    <a16:creationId xmlns:a16="http://schemas.microsoft.com/office/drawing/2014/main" id="{CEDC389B-5852-4C27-9AA3-381012C671B5}"/>
                  </a:ext>
                </a:extLst>
              </p:cNvPr>
              <p:cNvSpPr/>
              <p:nvPr/>
            </p:nvSpPr>
            <p:spPr>
              <a:xfrm>
                <a:off x="0" y="664089"/>
                <a:ext cx="459755" cy="332044"/>
              </a:xfrm>
              <a:prstGeom prst="ellipse">
                <a:avLst/>
              </a:prstGeom>
              <a:noFill/>
              <a:ln>
                <a:solidFill>
                  <a:schemeClr val="accent1">
                    <a:shade val="50000"/>
                    <a:alpha val="53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2800" dirty="0">
                    <a:ln>
                      <a:noFill/>
                    </a:ln>
                    <a:solidFill>
                      <a:srgbClr val="000000">
                        <a:alpha val="97000"/>
                      </a:srgbClr>
                    </a:solidFill>
                    <a:effectLst/>
                    <a:ea typeface="Calibri" panose="020F0502020204030204" pitchFamily="34" charset="0"/>
                    <a:cs typeface="Times New Roman" panose="02020603050405020304" pitchFamily="18" charset="0"/>
                  </a:rPr>
                  <a:t>u</a:t>
                </a:r>
                <a:endParaRPr lang="en-IN" sz="2800" dirty="0">
                  <a:effectLst/>
                  <a:ea typeface="Calibri" panose="020F0502020204030204" pitchFamily="34" charset="0"/>
                  <a:cs typeface="Times New Roman" panose="02020603050405020304" pitchFamily="18" charset="0"/>
                </a:endParaRPr>
              </a:p>
            </p:txBody>
          </p:sp>
          <p:sp>
            <p:nvSpPr>
              <p:cNvPr id="11" name="Oval 10">
                <a:extLst>
                  <a:ext uri="{FF2B5EF4-FFF2-40B4-BE49-F238E27FC236}">
                    <a16:creationId xmlns:a16="http://schemas.microsoft.com/office/drawing/2014/main" id="{2D8F6886-2F69-4D79-B8E7-D5EAFC7EA4B7}"/>
                  </a:ext>
                </a:extLst>
              </p:cNvPr>
              <p:cNvSpPr/>
              <p:nvPr/>
            </p:nvSpPr>
            <p:spPr>
              <a:xfrm>
                <a:off x="960376" y="648764"/>
                <a:ext cx="459755" cy="3320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2800" dirty="0">
                    <a:solidFill>
                      <a:srgbClr val="000000"/>
                    </a:solidFill>
                    <a:effectLst/>
                    <a:ea typeface="Calibri" panose="020F0502020204030204" pitchFamily="34" charset="0"/>
                    <a:cs typeface="Times New Roman" panose="02020603050405020304" pitchFamily="18" charset="0"/>
                  </a:rPr>
                  <a:t>v</a:t>
                </a:r>
                <a:endParaRPr lang="en-IN" sz="2800" dirty="0">
                  <a:effectLst/>
                  <a:ea typeface="Calibri" panose="020F0502020204030204" pitchFamily="34" charset="0"/>
                  <a:cs typeface="Times New Roman" panose="02020603050405020304" pitchFamily="18" charset="0"/>
                </a:endParaRPr>
              </a:p>
            </p:txBody>
          </p:sp>
          <p:sp>
            <p:nvSpPr>
              <p:cNvPr id="12" name="Arrow: Curved Up 11">
                <a:extLst>
                  <a:ext uri="{FF2B5EF4-FFF2-40B4-BE49-F238E27FC236}">
                    <a16:creationId xmlns:a16="http://schemas.microsoft.com/office/drawing/2014/main" id="{3E1DF586-04B3-4EDD-8EC1-7692B0123644}"/>
                  </a:ext>
                </a:extLst>
              </p:cNvPr>
              <p:cNvSpPr/>
              <p:nvPr/>
            </p:nvSpPr>
            <p:spPr>
              <a:xfrm rot="10800000" flipV="1">
                <a:off x="158360" y="989642"/>
                <a:ext cx="1102499" cy="345585"/>
              </a:xfrm>
              <a:prstGeom prst="curvedUpArrow">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7" name="Text Box 2">
              <a:extLst>
                <a:ext uri="{FF2B5EF4-FFF2-40B4-BE49-F238E27FC236}">
                  <a16:creationId xmlns:a16="http://schemas.microsoft.com/office/drawing/2014/main" id="{79028FD9-7CCB-4372-8C1B-D5335BCD9D55}"/>
                </a:ext>
              </a:extLst>
            </p:cNvPr>
            <p:cNvSpPr txBox="1">
              <a:spLocks noChangeArrowheads="1"/>
            </p:cNvSpPr>
            <p:nvPr/>
          </p:nvSpPr>
          <p:spPr bwMode="auto">
            <a:xfrm>
              <a:off x="498413" y="1344061"/>
              <a:ext cx="632556" cy="2857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US" sz="2800" dirty="0">
                  <a:effectLst/>
                  <a:latin typeface="Calibri" panose="020F0502020204030204" pitchFamily="34" charset="0"/>
                  <a:ea typeface="Calibri" panose="020F0502020204030204" pitchFamily="34" charset="0"/>
                  <a:cs typeface="Times New Roman" panose="02020603050405020304" pitchFamily="18" charset="0"/>
                </a:rPr>
                <a:t>C=f(</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u,v</a:t>
              </a:r>
              <a:r>
                <a:rPr lang="en-US" sz="2800" dirty="0">
                  <a:effectLst/>
                  <a:latin typeface="Calibri" panose="020F0502020204030204" pitchFamily="34" charset="0"/>
                  <a:ea typeface="Calibri" panose="020F0502020204030204" pitchFamily="34" charset="0"/>
                  <a:cs typeface="Times New Roman" panose="02020603050405020304" pitchFamily="18" charset="0"/>
                </a:rPr>
                <a: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42841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08453-006A-4A75-9320-865CD580DD5A}"/>
              </a:ext>
            </a:extLst>
          </p:cNvPr>
          <p:cNvSpPr>
            <a:spLocks noGrp="1"/>
          </p:cNvSpPr>
          <p:nvPr>
            <p:ph type="title"/>
          </p:nvPr>
        </p:nvSpPr>
        <p:spPr/>
        <p:txBody>
          <a:bodyPr/>
          <a:lstStyle/>
          <a:p>
            <a:r>
              <a:rPr lang="en-US" dirty="0"/>
              <a:t>Ford Fulkerson algorithm</a:t>
            </a:r>
            <a:endParaRPr lang="en-IN" dirty="0"/>
          </a:p>
        </p:txBody>
      </p:sp>
      <p:pic>
        <p:nvPicPr>
          <p:cNvPr id="5" name="Content Placeholder 4">
            <a:extLst>
              <a:ext uri="{FF2B5EF4-FFF2-40B4-BE49-F238E27FC236}">
                <a16:creationId xmlns:a16="http://schemas.microsoft.com/office/drawing/2014/main" id="{B4FD02E2-EBC2-42D2-B3D1-4FB48B7CF76E}"/>
              </a:ext>
            </a:extLst>
          </p:cNvPr>
          <p:cNvPicPr>
            <a:picLocks noGrp="1" noChangeAspect="1"/>
          </p:cNvPicPr>
          <p:nvPr>
            <p:ph idx="1"/>
          </p:nvPr>
        </p:nvPicPr>
        <p:blipFill>
          <a:blip r:embed="rId2"/>
          <a:stretch>
            <a:fillRect/>
          </a:stretch>
        </p:blipFill>
        <p:spPr>
          <a:xfrm>
            <a:off x="2176462" y="3058319"/>
            <a:ext cx="7839075" cy="1885950"/>
          </a:xfrm>
        </p:spPr>
      </p:pic>
    </p:spTree>
    <p:extLst>
      <p:ext uri="{BB962C8B-B14F-4D97-AF65-F5344CB8AC3E}">
        <p14:creationId xmlns:p14="http://schemas.microsoft.com/office/powerpoint/2010/main" val="217283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6C695-7EFF-4EF3-B732-E6066B9C0B25}"/>
              </a:ext>
            </a:extLst>
          </p:cNvPr>
          <p:cNvSpPr>
            <a:spLocks noGrp="1"/>
          </p:cNvSpPr>
          <p:nvPr>
            <p:ph type="title"/>
          </p:nvPr>
        </p:nvSpPr>
        <p:spPr/>
        <p:txBody>
          <a:bodyPr/>
          <a:lstStyle/>
          <a:p>
            <a:r>
              <a:rPr lang="en-US" dirty="0"/>
              <a:t>Runtime complexity of Edmond </a:t>
            </a:r>
            <a:r>
              <a:rPr lang="en-US" dirty="0" err="1"/>
              <a:t>Karps</a:t>
            </a:r>
            <a:r>
              <a:rPr lang="en-US" dirty="0"/>
              <a:t> algorithm</a:t>
            </a:r>
            <a:endParaRPr lang="en-IN" dirty="0"/>
          </a:p>
        </p:txBody>
      </p:sp>
      <p:sp>
        <p:nvSpPr>
          <p:cNvPr id="3" name="Content Placeholder 2">
            <a:extLst>
              <a:ext uri="{FF2B5EF4-FFF2-40B4-BE49-F238E27FC236}">
                <a16:creationId xmlns:a16="http://schemas.microsoft.com/office/drawing/2014/main" id="{CE835066-E534-41B2-8862-EECA186D6D51}"/>
              </a:ext>
            </a:extLst>
          </p:cNvPr>
          <p:cNvSpPr>
            <a:spLocks noGrp="1"/>
          </p:cNvSpPr>
          <p:nvPr>
            <p:ph idx="1"/>
          </p:nvPr>
        </p:nvSpPr>
        <p:spPr>
          <a:xfrm>
            <a:off x="838200" y="1825625"/>
            <a:ext cx="10515600" cy="4351338"/>
          </a:xfrm>
        </p:spPr>
        <p:txBody>
          <a:bodyPr/>
          <a:lstStyle/>
          <a:p>
            <a:pPr marL="0" indent="0">
              <a:buNone/>
            </a:pPr>
            <a:r>
              <a:rPr lang="en-US" dirty="0"/>
              <a:t>For the flow graph G(V,E), since the residual network consists of all edges E’ with U(</a:t>
            </a:r>
            <a:r>
              <a:rPr lang="en-US" dirty="0" err="1"/>
              <a:t>u,v</a:t>
            </a:r>
            <a:r>
              <a:rPr lang="en-US" dirty="0"/>
              <a:t>)&gt;0, the time taken to find a path in the residual network is O(V+E’)= O(E) if we use BFS.</a:t>
            </a:r>
          </a:p>
          <a:p>
            <a:pPr marL="0" indent="0">
              <a:buNone/>
            </a:pPr>
            <a:endParaRPr lang="en-US" dirty="0"/>
          </a:p>
          <a:p>
            <a:pPr marL="0" indent="0">
              <a:buNone/>
            </a:pPr>
            <a:r>
              <a:rPr lang="en-US" dirty="0"/>
              <a:t>If f*  denotes a maximum flow in the transformed network, then a straightforward implementation of FORD-FULKERSON executes the while loop at most  |f*|  times, since the flow value increases by at</a:t>
            </a:r>
          </a:p>
          <a:p>
            <a:pPr marL="0" indent="0">
              <a:buNone/>
            </a:pPr>
            <a:r>
              <a:rPr lang="en-US" dirty="0"/>
              <a:t>least one unit in each iteration.</a:t>
            </a:r>
          </a:p>
          <a:p>
            <a:pPr marL="0" indent="0">
              <a:buNone/>
            </a:pPr>
            <a:r>
              <a:rPr lang="en-US" dirty="0"/>
              <a:t>So </a:t>
            </a:r>
            <a:r>
              <a:rPr lang="en-US" b="1" dirty="0"/>
              <a:t>time taken by FORD-FULKERSON algorithm is O(</a:t>
            </a:r>
            <a:r>
              <a:rPr lang="en-US" b="1" dirty="0" err="1"/>
              <a:t>E|f</a:t>
            </a:r>
            <a:r>
              <a:rPr lang="en-US" b="1" dirty="0"/>
              <a:t>*|)</a:t>
            </a:r>
            <a:endParaRPr lang="en-IN" b="1" dirty="0"/>
          </a:p>
        </p:txBody>
      </p:sp>
    </p:spTree>
    <p:extLst>
      <p:ext uri="{BB962C8B-B14F-4D97-AF65-F5344CB8AC3E}">
        <p14:creationId xmlns:p14="http://schemas.microsoft.com/office/powerpoint/2010/main" val="875550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F5F9-1D8B-4E1A-864E-7A17155B7466}"/>
              </a:ext>
            </a:extLst>
          </p:cNvPr>
          <p:cNvSpPr>
            <a:spLocks noGrp="1"/>
          </p:cNvSpPr>
          <p:nvPr>
            <p:ph type="title"/>
          </p:nvPr>
        </p:nvSpPr>
        <p:spPr/>
        <p:txBody>
          <a:bodyPr/>
          <a:lstStyle/>
          <a:p>
            <a:r>
              <a:rPr lang="en-US" dirty="0"/>
              <a:t>To calculate running time of Edmonds </a:t>
            </a:r>
            <a:r>
              <a:rPr lang="en-US" dirty="0" err="1"/>
              <a:t>Karps</a:t>
            </a:r>
            <a:r>
              <a:rPr lang="en-US" dirty="0"/>
              <a:t> algorithm</a:t>
            </a:r>
            <a:endParaRPr lang="en-IN" dirty="0"/>
          </a:p>
        </p:txBody>
      </p:sp>
      <p:pic>
        <p:nvPicPr>
          <p:cNvPr id="5" name="Content Placeholder 4">
            <a:extLst>
              <a:ext uri="{FF2B5EF4-FFF2-40B4-BE49-F238E27FC236}">
                <a16:creationId xmlns:a16="http://schemas.microsoft.com/office/drawing/2014/main" id="{B3620AD1-A653-4EE8-845E-B277421186F1}"/>
              </a:ext>
            </a:extLst>
          </p:cNvPr>
          <p:cNvPicPr>
            <a:picLocks noGrp="1" noChangeAspect="1"/>
          </p:cNvPicPr>
          <p:nvPr>
            <p:ph idx="1"/>
          </p:nvPr>
        </p:nvPicPr>
        <p:blipFill>
          <a:blip r:embed="rId2"/>
          <a:stretch>
            <a:fillRect/>
          </a:stretch>
        </p:blipFill>
        <p:spPr>
          <a:xfrm>
            <a:off x="962025" y="2820194"/>
            <a:ext cx="10267950" cy="2362200"/>
          </a:xfrm>
        </p:spPr>
      </p:pic>
    </p:spTree>
    <p:extLst>
      <p:ext uri="{BB962C8B-B14F-4D97-AF65-F5344CB8AC3E}">
        <p14:creationId xmlns:p14="http://schemas.microsoft.com/office/powerpoint/2010/main" val="266764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B1E-7827-4E34-B185-C7F56B28D0B8}"/>
              </a:ext>
            </a:extLst>
          </p:cNvPr>
          <p:cNvSpPr>
            <a:spLocks noGrp="1"/>
          </p:cNvSpPr>
          <p:nvPr>
            <p:ph type="title"/>
          </p:nvPr>
        </p:nvSpPr>
        <p:spPr/>
        <p:txBody>
          <a:bodyPr/>
          <a:lstStyle/>
          <a:p>
            <a:r>
              <a:rPr lang="en-US" dirty="0"/>
              <a:t>-</a:t>
            </a:r>
            <a:r>
              <a:rPr lang="en-US" dirty="0" err="1"/>
              <a:t>Contd</a:t>
            </a:r>
            <a:endParaRPr lang="en-IN" dirty="0"/>
          </a:p>
        </p:txBody>
      </p:sp>
      <p:sp>
        <p:nvSpPr>
          <p:cNvPr id="3" name="Content Placeholder 2">
            <a:extLst>
              <a:ext uri="{FF2B5EF4-FFF2-40B4-BE49-F238E27FC236}">
                <a16:creationId xmlns:a16="http://schemas.microsoft.com/office/drawing/2014/main" id="{644F5920-B09B-4662-8B0E-6AA91D8F3EC2}"/>
              </a:ext>
            </a:extLst>
          </p:cNvPr>
          <p:cNvSpPr>
            <a:spLocks noGrp="1"/>
          </p:cNvSpPr>
          <p:nvPr>
            <p:ph idx="1"/>
          </p:nvPr>
        </p:nvSpPr>
        <p:spPr/>
        <p:txBody>
          <a:bodyPr>
            <a:normAutofit fontScale="85000" lnSpcReduction="20000"/>
          </a:bodyPr>
          <a:lstStyle/>
          <a:p>
            <a:pPr marL="0" indent="0">
              <a:buNone/>
            </a:pPr>
            <a:r>
              <a:rPr lang="en-US" b="1" dirty="0"/>
              <a:t>How to  find the time complexity of BFS?</a:t>
            </a:r>
          </a:p>
          <a:p>
            <a:pPr marL="0" indent="0">
              <a:buNone/>
            </a:pPr>
            <a:r>
              <a:rPr lang="en-US" dirty="0"/>
              <a:t>Property of BFS: The number of edges in the given augmented path will be same or greater than the total number of edges in the previous augmented path.</a:t>
            </a:r>
          </a:p>
          <a:p>
            <a:pPr marL="0" indent="0">
              <a:buNone/>
            </a:pPr>
            <a:endParaRPr lang="en-US" dirty="0"/>
          </a:p>
          <a:p>
            <a:pPr marL="0" indent="0">
              <a:buNone/>
            </a:pPr>
            <a:r>
              <a:rPr lang="en-US" dirty="0"/>
              <a:t>The total number of edges from source to sink in the worst case will be total number of vertices.</a:t>
            </a:r>
          </a:p>
          <a:p>
            <a:pPr marL="0" indent="0">
              <a:buNone/>
            </a:pPr>
            <a:r>
              <a:rPr lang="en-US" dirty="0"/>
              <a:t>Time complexity for BFS= O(E)</a:t>
            </a:r>
          </a:p>
          <a:p>
            <a:pPr marL="0" indent="0">
              <a:buNone/>
            </a:pPr>
            <a:r>
              <a:rPr lang="en-US" b="1" dirty="0"/>
              <a:t>Note: </a:t>
            </a:r>
          </a:p>
          <a:p>
            <a:pPr marL="0" indent="0">
              <a:buNone/>
            </a:pPr>
            <a:r>
              <a:rPr lang="en-US" dirty="0"/>
              <a:t>If f*  denotes a maximum flow, according to our previous discussion, it should be equal to the number of augmenting paths.</a:t>
            </a:r>
          </a:p>
          <a:p>
            <a:pPr marL="0" indent="0">
              <a:buNone/>
            </a:pPr>
            <a:r>
              <a:rPr lang="en-US" dirty="0"/>
              <a:t>So time complexity of Ford Fulkerson Edmonds Karp </a:t>
            </a:r>
            <a:r>
              <a:rPr lang="en-US" dirty="0" err="1"/>
              <a:t>algm</a:t>
            </a:r>
            <a:r>
              <a:rPr lang="en-US" dirty="0"/>
              <a:t>= O( E* Total number of augmented paths)</a:t>
            </a:r>
            <a:endParaRPr lang="en-IN" dirty="0"/>
          </a:p>
        </p:txBody>
      </p:sp>
    </p:spTree>
    <p:extLst>
      <p:ext uri="{BB962C8B-B14F-4D97-AF65-F5344CB8AC3E}">
        <p14:creationId xmlns:p14="http://schemas.microsoft.com/office/powerpoint/2010/main" val="2868626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8BD73-677B-4785-93CB-A79F138A5EB0}"/>
              </a:ext>
            </a:extLst>
          </p:cNvPr>
          <p:cNvSpPr>
            <a:spLocks noGrp="1"/>
          </p:cNvSpPr>
          <p:nvPr>
            <p:ph type="title"/>
          </p:nvPr>
        </p:nvSpPr>
        <p:spPr/>
        <p:txBody>
          <a:bodyPr/>
          <a:lstStyle/>
          <a:p>
            <a:r>
              <a:rPr lang="en-US" dirty="0"/>
              <a:t>Critical path </a:t>
            </a:r>
            <a:endParaRPr lang="en-IN" dirty="0"/>
          </a:p>
        </p:txBody>
      </p:sp>
      <p:sp>
        <p:nvSpPr>
          <p:cNvPr id="3" name="Content Placeholder 2">
            <a:extLst>
              <a:ext uri="{FF2B5EF4-FFF2-40B4-BE49-F238E27FC236}">
                <a16:creationId xmlns:a16="http://schemas.microsoft.com/office/drawing/2014/main" id="{D50439D6-EAEE-43CE-917F-B087B120557C}"/>
              </a:ext>
            </a:extLst>
          </p:cNvPr>
          <p:cNvSpPr>
            <a:spLocks noGrp="1"/>
          </p:cNvSpPr>
          <p:nvPr>
            <p:ph idx="1"/>
          </p:nvPr>
        </p:nvSpPr>
        <p:spPr/>
        <p:txBody>
          <a:bodyPr>
            <a:normAutofit fontScale="92500"/>
          </a:bodyPr>
          <a:lstStyle/>
          <a:p>
            <a:pPr marL="0" indent="0">
              <a:buNone/>
            </a:pPr>
            <a:r>
              <a:rPr lang="en-US" sz="3600" dirty="0"/>
              <a:t>We say that an edge (</a:t>
            </a:r>
            <a:r>
              <a:rPr lang="en-US" sz="3600" dirty="0" err="1"/>
              <a:t>u,v</a:t>
            </a:r>
            <a:r>
              <a:rPr lang="en-US" sz="3600" dirty="0"/>
              <a:t>) in a residual network  is </a:t>
            </a:r>
            <a:r>
              <a:rPr lang="en-US" sz="3600" b="1" dirty="0"/>
              <a:t>critical</a:t>
            </a:r>
            <a:r>
              <a:rPr lang="en-US" sz="3600" dirty="0"/>
              <a:t> on an augmenting path p if the residual capacity of p is the residual capacity of (</a:t>
            </a:r>
            <a:r>
              <a:rPr lang="en-US" sz="3600" dirty="0" err="1"/>
              <a:t>u,v</a:t>
            </a:r>
            <a:r>
              <a:rPr lang="en-US" sz="3600" dirty="0"/>
              <a:t>) that is, </a:t>
            </a:r>
            <a:r>
              <a:rPr lang="en-US" sz="3600"/>
              <a:t>if U</a:t>
            </a:r>
            <a:r>
              <a:rPr lang="en-US" sz="3600" dirty="0"/>
              <a:t>(p)= U(</a:t>
            </a:r>
            <a:r>
              <a:rPr lang="en-US" sz="3600" dirty="0" err="1"/>
              <a:t>u,v</a:t>
            </a:r>
            <a:r>
              <a:rPr lang="en-US" sz="3600" dirty="0"/>
              <a:t>).</a:t>
            </a:r>
          </a:p>
          <a:p>
            <a:pPr marL="0" indent="0">
              <a:buNone/>
            </a:pPr>
            <a:r>
              <a:rPr lang="en-US" sz="3600" dirty="0"/>
              <a:t>After we have augmented flow along an augmenting path,</a:t>
            </a:r>
          </a:p>
          <a:p>
            <a:pPr marL="0" indent="0">
              <a:buNone/>
            </a:pPr>
            <a:r>
              <a:rPr lang="en-US" sz="3600" dirty="0"/>
              <a:t>any critical edge on the path disappears from the residual network. Moreover, at least one edge on any augmenting path must be critical. We will show that each of</a:t>
            </a:r>
          </a:p>
          <a:p>
            <a:pPr marL="0" indent="0">
              <a:buNone/>
            </a:pPr>
            <a:r>
              <a:rPr lang="en-US" sz="3600" dirty="0"/>
              <a:t>the |E| edges can become critical at most |V|/2 times.</a:t>
            </a:r>
            <a:endParaRPr lang="en-IN" sz="3600" dirty="0"/>
          </a:p>
        </p:txBody>
      </p:sp>
    </p:spTree>
    <p:extLst>
      <p:ext uri="{BB962C8B-B14F-4D97-AF65-F5344CB8AC3E}">
        <p14:creationId xmlns:p14="http://schemas.microsoft.com/office/powerpoint/2010/main" val="2605801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64804-6B3A-489E-93D7-81C22D71F6D6}"/>
              </a:ext>
            </a:extLst>
          </p:cNvPr>
          <p:cNvSpPr>
            <a:spLocks noGrp="1"/>
          </p:cNvSpPr>
          <p:nvPr>
            <p:ph type="title"/>
          </p:nvPr>
        </p:nvSpPr>
        <p:spPr/>
        <p:txBody>
          <a:bodyPr/>
          <a:lstStyle/>
          <a:p>
            <a:r>
              <a:rPr lang="en-US" dirty="0"/>
              <a:t>-</a:t>
            </a:r>
            <a:r>
              <a:rPr lang="en-US" dirty="0" err="1"/>
              <a:t>Contd</a:t>
            </a:r>
            <a:endParaRPr lang="en-IN" dirty="0"/>
          </a:p>
        </p:txBody>
      </p:sp>
      <p:sp>
        <p:nvSpPr>
          <p:cNvPr id="3" name="Content Placeholder 2">
            <a:extLst>
              <a:ext uri="{FF2B5EF4-FFF2-40B4-BE49-F238E27FC236}">
                <a16:creationId xmlns:a16="http://schemas.microsoft.com/office/drawing/2014/main" id="{41BE1F5F-5A50-4489-A4DE-DD95D9E71C68}"/>
              </a:ext>
            </a:extLst>
          </p:cNvPr>
          <p:cNvSpPr>
            <a:spLocks noGrp="1"/>
          </p:cNvSpPr>
          <p:nvPr>
            <p:ph idx="1"/>
          </p:nvPr>
        </p:nvSpPr>
        <p:spPr/>
        <p:txBody>
          <a:bodyPr>
            <a:normAutofit fontScale="92500" lnSpcReduction="10000"/>
          </a:bodyPr>
          <a:lstStyle/>
          <a:p>
            <a:pPr marL="0" indent="0">
              <a:buNone/>
            </a:pPr>
            <a:r>
              <a:rPr lang="en-US" dirty="0"/>
              <a:t>So we need to find out how many augmented paths we have. Every augmented path has a critical edge. How many times an edge becomes a critical edge?</a:t>
            </a:r>
          </a:p>
          <a:p>
            <a:pPr marL="0" indent="0">
              <a:buNone/>
            </a:pPr>
            <a:r>
              <a:rPr lang="en-US" dirty="0"/>
              <a:t>An edge becomes critical only V/2 times</a:t>
            </a:r>
          </a:p>
          <a:p>
            <a:pPr marL="0" indent="0">
              <a:buNone/>
            </a:pPr>
            <a:r>
              <a:rPr lang="en-US" dirty="0"/>
              <a:t>Total number of critical edges = E*V/2</a:t>
            </a:r>
          </a:p>
          <a:p>
            <a:pPr marL="0" indent="0">
              <a:buNone/>
            </a:pPr>
            <a:r>
              <a:rPr lang="en-US" dirty="0"/>
              <a:t>Every augmented path has a critical edge.</a:t>
            </a:r>
          </a:p>
          <a:p>
            <a:pPr marL="0" indent="0">
              <a:buNone/>
            </a:pPr>
            <a:r>
              <a:rPr lang="en-US" dirty="0"/>
              <a:t>So in the worst case the number of augmented paths = V*E</a:t>
            </a:r>
          </a:p>
          <a:p>
            <a:pPr marL="0" indent="0">
              <a:buNone/>
            </a:pPr>
            <a:r>
              <a:rPr lang="en-US" dirty="0"/>
              <a:t>BFS takes O(E) time</a:t>
            </a:r>
          </a:p>
          <a:p>
            <a:pPr marL="0" indent="0">
              <a:buNone/>
            </a:pPr>
            <a:r>
              <a:rPr lang="en-US" dirty="0"/>
              <a:t>So </a:t>
            </a:r>
            <a:r>
              <a:rPr lang="en-US" b="1" dirty="0"/>
              <a:t>time complexity of Edmonds Karp </a:t>
            </a:r>
          </a:p>
          <a:p>
            <a:pPr marL="0" indent="0">
              <a:buNone/>
            </a:pPr>
            <a:r>
              <a:rPr lang="en-US" b="1" dirty="0"/>
              <a:t>algorithm = O(VE*E)= O(VE</a:t>
            </a:r>
            <a:r>
              <a:rPr lang="en-US" b="1" baseline="30000" dirty="0"/>
              <a:t>2</a:t>
            </a:r>
            <a:r>
              <a:rPr lang="en-US" b="1" dirty="0"/>
              <a:t>)</a:t>
            </a:r>
          </a:p>
          <a:p>
            <a:pPr marL="0" indent="0">
              <a:buNone/>
            </a:pPr>
            <a:endParaRPr lang="en-IN" dirty="0"/>
          </a:p>
        </p:txBody>
      </p:sp>
    </p:spTree>
    <p:extLst>
      <p:ext uri="{BB962C8B-B14F-4D97-AF65-F5344CB8AC3E}">
        <p14:creationId xmlns:p14="http://schemas.microsoft.com/office/powerpoint/2010/main" val="116324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759AC-8C02-963C-2255-03B2DFB15325}"/>
              </a:ext>
            </a:extLst>
          </p:cNvPr>
          <p:cNvSpPr>
            <a:spLocks noGrp="1"/>
          </p:cNvSpPr>
          <p:nvPr>
            <p:ph type="title"/>
          </p:nvPr>
        </p:nvSpPr>
        <p:spPr/>
        <p:txBody>
          <a:bodyPr/>
          <a:lstStyle/>
          <a:p>
            <a:r>
              <a:rPr lang="en-IN" dirty="0"/>
              <a:t>Time Complexity of Ford Fulkerson algorithm</a:t>
            </a:r>
          </a:p>
        </p:txBody>
      </p:sp>
      <p:sp>
        <p:nvSpPr>
          <p:cNvPr id="3" name="TextBox 2">
            <a:extLst>
              <a:ext uri="{FF2B5EF4-FFF2-40B4-BE49-F238E27FC236}">
                <a16:creationId xmlns:a16="http://schemas.microsoft.com/office/drawing/2014/main" id="{7E48E15A-D80F-A8B9-1F99-4DA18A0B70A9}"/>
              </a:ext>
            </a:extLst>
          </p:cNvPr>
          <p:cNvSpPr txBox="1"/>
          <p:nvPr/>
        </p:nvSpPr>
        <p:spPr>
          <a:xfrm>
            <a:off x="286439" y="2489811"/>
            <a:ext cx="10822235" cy="1754326"/>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Ford Fulkerson uses DFS for finding augmenting path. Time complexity of Ford Fulkerson algorithm = O(V</a:t>
            </a:r>
            <a:r>
              <a:rPr lang="en-IN" sz="3600" baseline="30000" dirty="0">
                <a:latin typeface="Times New Roman" panose="02020603050405020304" pitchFamily="18" charset="0"/>
                <a:cs typeface="Times New Roman" panose="02020603050405020304" pitchFamily="18" charset="0"/>
              </a:rPr>
              <a:t>2</a:t>
            </a:r>
            <a:r>
              <a:rPr lang="en-IN" sz="3600" dirty="0">
                <a:latin typeface="Times New Roman" panose="02020603050405020304" pitchFamily="18" charset="0"/>
                <a:cs typeface="Times New Roman" panose="02020603050405020304" pitchFamily="18" charset="0"/>
              </a:rPr>
              <a:t>E) where time complexity of DFS is O(V)</a:t>
            </a:r>
          </a:p>
        </p:txBody>
      </p:sp>
    </p:spTree>
    <p:extLst>
      <p:ext uri="{BB962C8B-B14F-4D97-AF65-F5344CB8AC3E}">
        <p14:creationId xmlns:p14="http://schemas.microsoft.com/office/powerpoint/2010/main" val="1272238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8D08B-6060-40E8-96A4-91F879BECAA4}"/>
              </a:ext>
            </a:extLst>
          </p:cNvPr>
          <p:cNvSpPr>
            <a:spLocks noGrp="1"/>
          </p:cNvSpPr>
          <p:nvPr>
            <p:ph type="title"/>
          </p:nvPr>
        </p:nvSpPr>
        <p:spPr/>
        <p:txBody>
          <a:bodyPr/>
          <a:lstStyle/>
          <a:p>
            <a:r>
              <a:rPr lang="en-US" dirty="0"/>
              <a:t>Max Flow Min cut theorem</a:t>
            </a:r>
            <a:endParaRPr lang="en-IN" dirty="0"/>
          </a:p>
        </p:txBody>
      </p:sp>
      <p:pic>
        <p:nvPicPr>
          <p:cNvPr id="5" name="Content Placeholder 4">
            <a:extLst>
              <a:ext uri="{FF2B5EF4-FFF2-40B4-BE49-F238E27FC236}">
                <a16:creationId xmlns:a16="http://schemas.microsoft.com/office/drawing/2014/main" id="{566C6F05-3A7B-436B-BC1C-76811DE25DCA}"/>
              </a:ext>
            </a:extLst>
          </p:cNvPr>
          <p:cNvPicPr>
            <a:picLocks noGrp="1" noChangeAspect="1"/>
          </p:cNvPicPr>
          <p:nvPr>
            <p:ph idx="1"/>
          </p:nvPr>
        </p:nvPicPr>
        <p:blipFill>
          <a:blip r:embed="rId2"/>
          <a:stretch>
            <a:fillRect/>
          </a:stretch>
        </p:blipFill>
        <p:spPr>
          <a:xfrm>
            <a:off x="296754" y="3429000"/>
            <a:ext cx="10142646" cy="1000919"/>
          </a:xfrm>
        </p:spPr>
      </p:pic>
    </p:spTree>
    <p:extLst>
      <p:ext uri="{BB962C8B-B14F-4D97-AF65-F5344CB8AC3E}">
        <p14:creationId xmlns:p14="http://schemas.microsoft.com/office/powerpoint/2010/main" val="3839130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BD34-96A5-4C13-A256-B4EB26BDC25E}"/>
              </a:ext>
            </a:extLst>
          </p:cNvPr>
          <p:cNvSpPr>
            <a:spLocks noGrp="1"/>
          </p:cNvSpPr>
          <p:nvPr>
            <p:ph type="title"/>
          </p:nvPr>
        </p:nvSpPr>
        <p:spPr/>
        <p:txBody>
          <a:bodyPr/>
          <a:lstStyle/>
          <a:p>
            <a:r>
              <a:rPr lang="en-US" dirty="0"/>
              <a:t>Push Relabel algorithm- Steps</a:t>
            </a:r>
            <a:endParaRPr lang="en-IN" dirty="0"/>
          </a:p>
        </p:txBody>
      </p:sp>
      <p:sp>
        <p:nvSpPr>
          <p:cNvPr id="3" name="Content Placeholder 2">
            <a:extLst>
              <a:ext uri="{FF2B5EF4-FFF2-40B4-BE49-F238E27FC236}">
                <a16:creationId xmlns:a16="http://schemas.microsoft.com/office/drawing/2014/main" id="{580BF99C-A1C7-4CA2-BC68-B41131AEAD29}"/>
              </a:ext>
            </a:extLst>
          </p:cNvPr>
          <p:cNvSpPr>
            <a:spLocks noGrp="1"/>
          </p:cNvSpPr>
          <p:nvPr>
            <p:ph idx="1"/>
          </p:nvPr>
        </p:nvSpPr>
        <p:spPr/>
        <p:txBody>
          <a:bodyPr>
            <a:normAutofit fontScale="77500" lnSpcReduction="20000"/>
          </a:bodyPr>
          <a:lstStyle/>
          <a:p>
            <a:pPr marL="0" indent="0">
              <a:buNone/>
            </a:pPr>
            <a:r>
              <a:rPr lang="en-US" dirty="0"/>
              <a:t>Push-Relabel Algorithm </a:t>
            </a:r>
          </a:p>
          <a:p>
            <a:pPr marL="0" indent="0">
              <a:buNone/>
            </a:pPr>
            <a:r>
              <a:rPr lang="en-US" dirty="0"/>
              <a:t>1) Initialize </a:t>
            </a:r>
            <a:r>
              <a:rPr lang="en-US" dirty="0" err="1"/>
              <a:t>PreFlow</a:t>
            </a:r>
            <a:r>
              <a:rPr lang="en-US" dirty="0"/>
              <a:t> : Initialize Flows </a:t>
            </a:r>
          </a:p>
          <a:p>
            <a:pPr marL="0" indent="0">
              <a:buNone/>
            </a:pPr>
            <a:r>
              <a:rPr lang="en-US" dirty="0"/>
              <a:t>   and Heights </a:t>
            </a:r>
          </a:p>
          <a:p>
            <a:pPr marL="0" indent="0">
              <a:buNone/>
            </a:pPr>
            <a:endParaRPr lang="en-US" dirty="0"/>
          </a:p>
          <a:p>
            <a:pPr marL="0" indent="0">
              <a:buNone/>
            </a:pPr>
            <a:r>
              <a:rPr lang="en-US" dirty="0"/>
              <a:t>2) While it is possible to perform a Push() or </a:t>
            </a:r>
          </a:p>
          <a:p>
            <a:pPr marL="0" indent="0">
              <a:buNone/>
            </a:pPr>
            <a:r>
              <a:rPr lang="en-US" dirty="0"/>
              <a:t>   </a:t>
            </a:r>
            <a:r>
              <a:rPr lang="en-US" dirty="0" err="1"/>
              <a:t>Relablel</a:t>
            </a:r>
            <a:r>
              <a:rPr lang="en-US" dirty="0"/>
              <a:t>() on a vertex</a:t>
            </a:r>
          </a:p>
          <a:p>
            <a:pPr marL="0" indent="0">
              <a:buNone/>
            </a:pPr>
            <a:r>
              <a:rPr lang="en-US" dirty="0"/>
              <a:t>   // Or while there is a vertex that has excess flow</a:t>
            </a:r>
          </a:p>
          <a:p>
            <a:pPr marL="0" indent="0">
              <a:buNone/>
            </a:pPr>
            <a:r>
              <a:rPr lang="en-US" dirty="0"/>
              <a:t>           Do Push() or Relabel()</a:t>
            </a:r>
          </a:p>
          <a:p>
            <a:pPr marL="0" indent="0">
              <a:buNone/>
            </a:pPr>
            <a:endParaRPr lang="en-US" dirty="0"/>
          </a:p>
          <a:p>
            <a:pPr marL="0" indent="0">
              <a:buNone/>
            </a:pPr>
            <a:r>
              <a:rPr lang="en-US" dirty="0"/>
              <a:t>// At this point all vertices have Excess Flow as 0 (Except source</a:t>
            </a:r>
          </a:p>
          <a:p>
            <a:pPr marL="0" indent="0">
              <a:buNone/>
            </a:pPr>
            <a:r>
              <a:rPr lang="en-US" dirty="0"/>
              <a:t>// and sink)</a:t>
            </a:r>
          </a:p>
          <a:p>
            <a:pPr marL="0" indent="0">
              <a:buNone/>
            </a:pPr>
            <a:r>
              <a:rPr lang="en-US" dirty="0"/>
              <a:t>3) Return flow.</a:t>
            </a:r>
            <a:endParaRPr lang="en-IN" dirty="0"/>
          </a:p>
        </p:txBody>
      </p:sp>
    </p:spTree>
    <p:extLst>
      <p:ext uri="{BB962C8B-B14F-4D97-AF65-F5344CB8AC3E}">
        <p14:creationId xmlns:p14="http://schemas.microsoft.com/office/powerpoint/2010/main" val="17602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1B37-EEBD-4C70-BC8B-98DA66BA536B}"/>
              </a:ext>
            </a:extLst>
          </p:cNvPr>
          <p:cNvSpPr>
            <a:spLocks noGrp="1"/>
          </p:cNvSpPr>
          <p:nvPr>
            <p:ph type="title"/>
          </p:nvPr>
        </p:nvSpPr>
        <p:spPr/>
        <p:txBody>
          <a:bodyPr/>
          <a:lstStyle/>
          <a:p>
            <a:r>
              <a:rPr lang="en-US" dirty="0"/>
              <a:t>Push Relabel algorithm as in CLRS book </a:t>
            </a:r>
            <a:endParaRPr lang="en-IN" dirty="0"/>
          </a:p>
        </p:txBody>
      </p:sp>
      <p:pic>
        <p:nvPicPr>
          <p:cNvPr id="7" name="Content Placeholder 6">
            <a:extLst>
              <a:ext uri="{FF2B5EF4-FFF2-40B4-BE49-F238E27FC236}">
                <a16:creationId xmlns:a16="http://schemas.microsoft.com/office/drawing/2014/main" id="{416E140E-FD3D-4705-960D-5CDE0CAD1B4C}"/>
              </a:ext>
            </a:extLst>
          </p:cNvPr>
          <p:cNvPicPr>
            <a:picLocks noGrp="1" noChangeAspect="1"/>
          </p:cNvPicPr>
          <p:nvPr>
            <p:ph idx="1"/>
          </p:nvPr>
        </p:nvPicPr>
        <p:blipFill>
          <a:blip r:embed="rId2"/>
          <a:stretch>
            <a:fillRect/>
          </a:stretch>
        </p:blipFill>
        <p:spPr>
          <a:xfrm>
            <a:off x="1438275" y="2996406"/>
            <a:ext cx="9315450" cy="2009775"/>
          </a:xfrm>
        </p:spPr>
      </p:pic>
    </p:spTree>
    <p:extLst>
      <p:ext uri="{BB962C8B-B14F-4D97-AF65-F5344CB8AC3E}">
        <p14:creationId xmlns:p14="http://schemas.microsoft.com/office/powerpoint/2010/main" val="321010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AE318-A124-4AE3-8411-A29179660FFF}"/>
              </a:ext>
            </a:extLst>
          </p:cNvPr>
          <p:cNvSpPr>
            <a:spLocks noGrp="1"/>
          </p:cNvSpPr>
          <p:nvPr>
            <p:ph type="title"/>
          </p:nvPr>
        </p:nvSpPr>
        <p:spPr/>
        <p:txBody>
          <a:bodyPr/>
          <a:lstStyle/>
          <a:p>
            <a:r>
              <a:rPr lang="en-US" dirty="0" err="1"/>
              <a:t>Preflow</a:t>
            </a:r>
            <a:r>
              <a:rPr lang="en-US" dirty="0"/>
              <a:t> operation -Steps</a:t>
            </a:r>
            <a:endParaRPr lang="en-IN" dirty="0"/>
          </a:p>
        </p:txBody>
      </p:sp>
      <p:sp>
        <p:nvSpPr>
          <p:cNvPr id="3" name="Content Placeholder 2">
            <a:extLst>
              <a:ext uri="{FF2B5EF4-FFF2-40B4-BE49-F238E27FC236}">
                <a16:creationId xmlns:a16="http://schemas.microsoft.com/office/drawing/2014/main" id="{597BE4E4-0A29-40F3-B80D-86194D85F4F7}"/>
              </a:ext>
            </a:extLst>
          </p:cNvPr>
          <p:cNvSpPr>
            <a:spLocks noGrp="1"/>
          </p:cNvSpPr>
          <p:nvPr>
            <p:ph idx="1"/>
          </p:nvPr>
        </p:nvSpPr>
        <p:spPr/>
        <p:txBody>
          <a:bodyPr/>
          <a:lstStyle/>
          <a:p>
            <a:pPr marL="0" indent="0">
              <a:buNone/>
            </a:pPr>
            <a:r>
              <a:rPr lang="en-US" dirty="0" err="1"/>
              <a:t>Preflow</a:t>
            </a:r>
            <a:r>
              <a:rPr lang="en-US" dirty="0"/>
              <a:t>() </a:t>
            </a:r>
          </a:p>
          <a:p>
            <a:pPr marL="0" indent="0">
              <a:buNone/>
            </a:pPr>
            <a:r>
              <a:rPr lang="en-US" dirty="0"/>
              <a:t>1) Initialize height and flow of every vertex as 0.</a:t>
            </a:r>
          </a:p>
          <a:p>
            <a:pPr marL="0" indent="0">
              <a:buNone/>
            </a:pPr>
            <a:r>
              <a:rPr lang="en-US" dirty="0"/>
              <a:t>2) Initialize height of source vertex equal to total </a:t>
            </a:r>
          </a:p>
          <a:p>
            <a:pPr marL="0" indent="0">
              <a:buNone/>
            </a:pPr>
            <a:r>
              <a:rPr lang="en-US" dirty="0"/>
              <a:t>   number of vertices in graph.</a:t>
            </a:r>
          </a:p>
          <a:p>
            <a:pPr marL="0" indent="0">
              <a:buNone/>
            </a:pPr>
            <a:r>
              <a:rPr lang="en-US" dirty="0"/>
              <a:t>3) Initialize flow of every edge as 0.</a:t>
            </a:r>
          </a:p>
          <a:p>
            <a:pPr marL="0" indent="0">
              <a:buNone/>
            </a:pPr>
            <a:r>
              <a:rPr lang="en-US" dirty="0"/>
              <a:t>4) For all vertices adjacent to source s, flow and  </a:t>
            </a:r>
          </a:p>
          <a:p>
            <a:pPr marL="0" indent="0">
              <a:buNone/>
            </a:pPr>
            <a:r>
              <a:rPr lang="en-US" dirty="0"/>
              <a:t>   excess flow is equal to capacity initially.</a:t>
            </a:r>
            <a:endParaRPr lang="en-IN" dirty="0"/>
          </a:p>
        </p:txBody>
      </p:sp>
    </p:spTree>
    <p:extLst>
      <p:ext uri="{BB962C8B-B14F-4D97-AF65-F5344CB8AC3E}">
        <p14:creationId xmlns:p14="http://schemas.microsoft.com/office/powerpoint/2010/main" val="3111614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99672-12D8-4BCD-B179-C6726B2AB13F}"/>
              </a:ext>
            </a:extLst>
          </p:cNvPr>
          <p:cNvSpPr>
            <a:spLocks noGrp="1"/>
          </p:cNvSpPr>
          <p:nvPr>
            <p:ph type="title"/>
          </p:nvPr>
        </p:nvSpPr>
        <p:spPr/>
        <p:txBody>
          <a:bodyPr/>
          <a:lstStyle/>
          <a:p>
            <a:r>
              <a:rPr lang="en-US" dirty="0" err="1"/>
              <a:t>Preflow</a:t>
            </a:r>
            <a:r>
              <a:rPr lang="en-US" dirty="0"/>
              <a:t> operation as in CLRS book </a:t>
            </a:r>
            <a:endParaRPr lang="en-IN" dirty="0"/>
          </a:p>
        </p:txBody>
      </p:sp>
      <p:pic>
        <p:nvPicPr>
          <p:cNvPr id="5" name="Content Placeholder 4">
            <a:extLst>
              <a:ext uri="{FF2B5EF4-FFF2-40B4-BE49-F238E27FC236}">
                <a16:creationId xmlns:a16="http://schemas.microsoft.com/office/drawing/2014/main" id="{4EDC741B-0537-422D-8599-69789B5EEC26}"/>
              </a:ext>
            </a:extLst>
          </p:cNvPr>
          <p:cNvPicPr>
            <a:picLocks noGrp="1" noChangeAspect="1"/>
          </p:cNvPicPr>
          <p:nvPr>
            <p:ph idx="1"/>
          </p:nvPr>
        </p:nvPicPr>
        <p:blipFill>
          <a:blip r:embed="rId2"/>
          <a:stretch>
            <a:fillRect/>
          </a:stretch>
        </p:blipFill>
        <p:spPr>
          <a:xfrm>
            <a:off x="3752254" y="1825625"/>
            <a:ext cx="4687492" cy="4351338"/>
          </a:xfrm>
        </p:spPr>
      </p:pic>
    </p:spTree>
    <p:extLst>
      <p:ext uri="{BB962C8B-B14F-4D97-AF65-F5344CB8AC3E}">
        <p14:creationId xmlns:p14="http://schemas.microsoft.com/office/powerpoint/2010/main" val="4186094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1B1F0-E8A8-400E-877A-99560ABA2027}"/>
              </a:ext>
            </a:extLst>
          </p:cNvPr>
          <p:cNvSpPr>
            <a:spLocks noGrp="1"/>
          </p:cNvSpPr>
          <p:nvPr>
            <p:ph type="title"/>
          </p:nvPr>
        </p:nvSpPr>
        <p:spPr/>
        <p:txBody>
          <a:bodyPr/>
          <a:lstStyle/>
          <a:p>
            <a:r>
              <a:rPr lang="en-US" dirty="0"/>
              <a:t>Push operation- Function</a:t>
            </a:r>
            <a:endParaRPr lang="en-IN" dirty="0"/>
          </a:p>
        </p:txBody>
      </p:sp>
      <p:sp>
        <p:nvSpPr>
          <p:cNvPr id="3" name="Content Placeholder 2">
            <a:extLst>
              <a:ext uri="{FF2B5EF4-FFF2-40B4-BE49-F238E27FC236}">
                <a16:creationId xmlns:a16="http://schemas.microsoft.com/office/drawing/2014/main" id="{552DC640-5D1F-4FC2-9FB2-0B0552838E2E}"/>
              </a:ext>
            </a:extLst>
          </p:cNvPr>
          <p:cNvSpPr>
            <a:spLocks noGrp="1"/>
          </p:cNvSpPr>
          <p:nvPr>
            <p:ph idx="1"/>
          </p:nvPr>
        </p:nvSpPr>
        <p:spPr/>
        <p:txBody>
          <a:bodyPr>
            <a:normAutofit fontScale="77500" lnSpcReduction="20000"/>
          </a:bodyPr>
          <a:lstStyle/>
          <a:p>
            <a:r>
              <a:rPr lang="en-US" b="1" i="0" dirty="0">
                <a:solidFill>
                  <a:srgbClr val="273239"/>
                </a:solidFill>
                <a:effectLst/>
                <a:latin typeface="urw-din"/>
              </a:rPr>
              <a:t>Push()</a:t>
            </a:r>
            <a:r>
              <a:rPr lang="en-US" b="0" i="0" dirty="0">
                <a:solidFill>
                  <a:srgbClr val="273239"/>
                </a:solidFill>
                <a:effectLst/>
                <a:latin typeface="urw-din"/>
              </a:rPr>
              <a:t> is used to </a:t>
            </a:r>
            <a:r>
              <a:rPr lang="en-US" b="0" i="0" dirty="0">
                <a:solidFill>
                  <a:srgbClr val="0070C0"/>
                </a:solidFill>
                <a:effectLst/>
                <a:latin typeface="urw-din"/>
              </a:rPr>
              <a:t>make the flow from a node which has excess flow</a:t>
            </a:r>
            <a:r>
              <a:rPr lang="en-US" b="0" i="0" dirty="0">
                <a:solidFill>
                  <a:srgbClr val="273239"/>
                </a:solidFill>
                <a:effectLst/>
                <a:latin typeface="urw-din"/>
              </a:rPr>
              <a:t>.</a:t>
            </a:r>
          </a:p>
          <a:p>
            <a:r>
              <a:rPr lang="en-US" b="0" i="0" dirty="0">
                <a:solidFill>
                  <a:srgbClr val="273239"/>
                </a:solidFill>
                <a:effectLst/>
                <a:latin typeface="urw-din"/>
              </a:rPr>
              <a:t>If a vertex has excess flow and there is an adjacent with smaller height (in residual graph), we </a:t>
            </a:r>
            <a:r>
              <a:rPr lang="en-US" b="0" i="0" dirty="0">
                <a:solidFill>
                  <a:schemeClr val="accent2">
                    <a:lumMod val="75000"/>
                  </a:schemeClr>
                </a:solidFill>
                <a:effectLst/>
                <a:latin typeface="urw-din"/>
              </a:rPr>
              <a:t>push the flow from the vertex to the adjacent with lower height</a:t>
            </a:r>
            <a:r>
              <a:rPr lang="en-US" b="0" i="0" dirty="0">
                <a:solidFill>
                  <a:srgbClr val="273239"/>
                </a:solidFill>
                <a:effectLst/>
                <a:latin typeface="urw-din"/>
              </a:rPr>
              <a:t>. </a:t>
            </a:r>
          </a:p>
          <a:p>
            <a:r>
              <a:rPr lang="en-US" b="0" i="0" dirty="0">
                <a:solidFill>
                  <a:srgbClr val="273239"/>
                </a:solidFill>
                <a:effectLst/>
                <a:latin typeface="urw-din"/>
              </a:rPr>
              <a:t>The </a:t>
            </a:r>
            <a:r>
              <a:rPr lang="en-US" b="0" i="0" dirty="0">
                <a:solidFill>
                  <a:srgbClr val="FF0000"/>
                </a:solidFill>
                <a:effectLst/>
                <a:latin typeface="urw-din"/>
              </a:rPr>
              <a:t>amount of pushed flow </a:t>
            </a:r>
            <a:r>
              <a:rPr lang="en-US" b="0" i="0" dirty="0">
                <a:solidFill>
                  <a:srgbClr val="273239"/>
                </a:solidFill>
                <a:effectLst/>
                <a:latin typeface="urw-din"/>
              </a:rPr>
              <a:t>through the pipe (edge) is equal to the </a:t>
            </a:r>
            <a:r>
              <a:rPr lang="en-US" b="0" i="0" dirty="0">
                <a:solidFill>
                  <a:srgbClr val="FF0000"/>
                </a:solidFill>
                <a:effectLst/>
                <a:latin typeface="urw-din"/>
              </a:rPr>
              <a:t>minimum of excess flow and capacity of edge</a:t>
            </a:r>
            <a:r>
              <a:rPr lang="en-US" b="0" i="0" dirty="0">
                <a:solidFill>
                  <a:srgbClr val="273239"/>
                </a:solidFill>
                <a:effectLst/>
                <a:latin typeface="urw-din"/>
              </a:rPr>
              <a:t>.</a:t>
            </a:r>
          </a:p>
          <a:p>
            <a:endParaRPr lang="en-US" dirty="0">
              <a:solidFill>
                <a:srgbClr val="273239"/>
              </a:solidFill>
              <a:latin typeface="urw-din"/>
            </a:endParaRPr>
          </a:p>
          <a:p>
            <a:pPr marL="0" indent="0">
              <a:buNone/>
            </a:pPr>
            <a:r>
              <a:rPr lang="en-US" b="1" i="0" dirty="0">
                <a:solidFill>
                  <a:srgbClr val="273239"/>
                </a:solidFill>
                <a:effectLst/>
                <a:latin typeface="urw-din"/>
              </a:rPr>
              <a:t>Note: </a:t>
            </a:r>
          </a:p>
          <a:p>
            <a:pPr marL="0" indent="0">
              <a:buNone/>
            </a:pPr>
            <a:r>
              <a:rPr lang="en-US" b="0" i="0" dirty="0">
                <a:solidFill>
                  <a:srgbClr val="273239"/>
                </a:solidFill>
                <a:effectLst/>
                <a:latin typeface="urw-din"/>
              </a:rPr>
              <a:t>1.When there are </a:t>
            </a:r>
            <a:r>
              <a:rPr lang="en-US" b="0" i="0" dirty="0">
                <a:solidFill>
                  <a:srgbClr val="FF0000"/>
                </a:solidFill>
                <a:effectLst/>
                <a:latin typeface="urw-din"/>
              </a:rPr>
              <a:t>more than one vertex with excess flow</a:t>
            </a:r>
            <a:r>
              <a:rPr lang="en-US" b="0" i="0" dirty="0">
                <a:solidFill>
                  <a:srgbClr val="273239"/>
                </a:solidFill>
                <a:effectLst/>
                <a:latin typeface="urw-din"/>
              </a:rPr>
              <a:t>, flow will be pushed by the vertex with maximum height. If the vertices with excess flow are at the same height, one vertex is arbitrarily chosen. </a:t>
            </a:r>
          </a:p>
          <a:p>
            <a:pPr marL="0" indent="0">
              <a:buNone/>
            </a:pPr>
            <a:r>
              <a:rPr lang="en-US" dirty="0">
                <a:solidFill>
                  <a:srgbClr val="273239"/>
                </a:solidFill>
                <a:latin typeface="urw-din"/>
              </a:rPr>
              <a:t>2. The flow is always pushed downhill (to a vertex with minimum height). If there are </a:t>
            </a:r>
            <a:r>
              <a:rPr lang="en-US" dirty="0">
                <a:solidFill>
                  <a:srgbClr val="FF0000"/>
                </a:solidFill>
                <a:latin typeface="urw-din"/>
              </a:rPr>
              <a:t>more than one adjacent vertices downhill</a:t>
            </a:r>
            <a:r>
              <a:rPr lang="en-US" dirty="0">
                <a:solidFill>
                  <a:srgbClr val="273239"/>
                </a:solidFill>
                <a:latin typeface="urw-din"/>
              </a:rPr>
              <a:t> at the same minimum height, then also a vertex is arbitrarily chosen and the flow is pushed to it.</a:t>
            </a:r>
            <a:endParaRPr lang="en-US" b="0" i="0" dirty="0">
              <a:solidFill>
                <a:srgbClr val="273239"/>
              </a:solidFill>
              <a:effectLst/>
              <a:latin typeface="urw-din"/>
            </a:endParaRPr>
          </a:p>
          <a:p>
            <a:pPr marL="0" indent="0">
              <a:buNone/>
            </a:pPr>
            <a:endParaRPr lang="en-US" b="0" i="0" dirty="0">
              <a:solidFill>
                <a:srgbClr val="273239"/>
              </a:solidFill>
              <a:effectLst/>
              <a:latin typeface="urw-din"/>
            </a:endParaRPr>
          </a:p>
          <a:p>
            <a:pPr marL="0" indent="0">
              <a:buNone/>
            </a:pPr>
            <a:endParaRPr lang="en-IN" dirty="0"/>
          </a:p>
        </p:txBody>
      </p:sp>
    </p:spTree>
    <p:extLst>
      <p:ext uri="{BB962C8B-B14F-4D97-AF65-F5344CB8AC3E}">
        <p14:creationId xmlns:p14="http://schemas.microsoft.com/office/powerpoint/2010/main" val="413287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3E37-EF1D-42B5-86AF-4ED278C02F66}"/>
              </a:ext>
            </a:extLst>
          </p:cNvPr>
          <p:cNvSpPr>
            <a:spLocks noGrp="1"/>
          </p:cNvSpPr>
          <p:nvPr>
            <p:ph type="title"/>
          </p:nvPr>
        </p:nvSpPr>
        <p:spPr/>
        <p:txBody>
          <a:bodyPr/>
          <a:lstStyle/>
          <a:p>
            <a:r>
              <a:rPr lang="en-US" dirty="0"/>
              <a:t>Push operation-Description</a:t>
            </a:r>
            <a:endParaRPr lang="en-IN" dirty="0"/>
          </a:p>
        </p:txBody>
      </p:sp>
      <p:pic>
        <p:nvPicPr>
          <p:cNvPr id="5" name="Content Placeholder 4">
            <a:extLst>
              <a:ext uri="{FF2B5EF4-FFF2-40B4-BE49-F238E27FC236}">
                <a16:creationId xmlns:a16="http://schemas.microsoft.com/office/drawing/2014/main" id="{66AD2D1E-71BF-4716-BA92-F52E76C25675}"/>
              </a:ext>
            </a:extLst>
          </p:cNvPr>
          <p:cNvPicPr>
            <a:picLocks noGrp="1" noChangeAspect="1"/>
          </p:cNvPicPr>
          <p:nvPr>
            <p:ph idx="1"/>
          </p:nvPr>
        </p:nvPicPr>
        <p:blipFill>
          <a:blip r:embed="rId2"/>
          <a:stretch>
            <a:fillRect/>
          </a:stretch>
        </p:blipFill>
        <p:spPr>
          <a:xfrm>
            <a:off x="1133475" y="2609056"/>
            <a:ext cx="9925050" cy="2886075"/>
          </a:xfrm>
        </p:spPr>
      </p:pic>
    </p:spTree>
    <p:extLst>
      <p:ext uri="{BB962C8B-B14F-4D97-AF65-F5344CB8AC3E}">
        <p14:creationId xmlns:p14="http://schemas.microsoft.com/office/powerpoint/2010/main" val="2191430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86E3E-F058-494B-BE21-E4DB773DD3E3}"/>
              </a:ext>
            </a:extLst>
          </p:cNvPr>
          <p:cNvSpPr>
            <a:spLocks noGrp="1"/>
          </p:cNvSpPr>
          <p:nvPr>
            <p:ph type="title"/>
          </p:nvPr>
        </p:nvSpPr>
        <p:spPr/>
        <p:txBody>
          <a:bodyPr/>
          <a:lstStyle/>
          <a:p>
            <a:r>
              <a:rPr lang="en-US" dirty="0"/>
              <a:t>Push operation algorithm as in CLRS book </a:t>
            </a:r>
            <a:endParaRPr lang="en-IN" dirty="0"/>
          </a:p>
        </p:txBody>
      </p:sp>
      <p:pic>
        <p:nvPicPr>
          <p:cNvPr id="5" name="Content Placeholder 4">
            <a:extLst>
              <a:ext uri="{FF2B5EF4-FFF2-40B4-BE49-F238E27FC236}">
                <a16:creationId xmlns:a16="http://schemas.microsoft.com/office/drawing/2014/main" id="{4E0AFBD0-A12A-4F99-BCA5-B7DEBA448AFC}"/>
              </a:ext>
            </a:extLst>
          </p:cNvPr>
          <p:cNvPicPr>
            <a:picLocks noGrp="1" noChangeAspect="1"/>
          </p:cNvPicPr>
          <p:nvPr>
            <p:ph idx="1"/>
          </p:nvPr>
        </p:nvPicPr>
        <p:blipFill>
          <a:blip r:embed="rId2"/>
          <a:stretch>
            <a:fillRect/>
          </a:stretch>
        </p:blipFill>
        <p:spPr>
          <a:xfrm>
            <a:off x="1062037" y="2233454"/>
            <a:ext cx="10067925" cy="3657600"/>
          </a:xfrm>
        </p:spPr>
      </p:pic>
    </p:spTree>
    <p:extLst>
      <p:ext uri="{BB962C8B-B14F-4D97-AF65-F5344CB8AC3E}">
        <p14:creationId xmlns:p14="http://schemas.microsoft.com/office/powerpoint/2010/main" val="1578002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43137-AD46-44F2-9D92-05384F08B112}"/>
              </a:ext>
            </a:extLst>
          </p:cNvPr>
          <p:cNvSpPr>
            <a:spLocks noGrp="1"/>
          </p:cNvSpPr>
          <p:nvPr>
            <p:ph type="title"/>
          </p:nvPr>
        </p:nvSpPr>
        <p:spPr/>
        <p:txBody>
          <a:bodyPr/>
          <a:lstStyle/>
          <a:p>
            <a:r>
              <a:rPr lang="en-US" dirty="0"/>
              <a:t>Relabel operation- Function</a:t>
            </a:r>
            <a:endParaRPr lang="en-IN" dirty="0"/>
          </a:p>
        </p:txBody>
      </p:sp>
      <p:sp>
        <p:nvSpPr>
          <p:cNvPr id="3" name="Content Placeholder 2">
            <a:extLst>
              <a:ext uri="{FF2B5EF4-FFF2-40B4-BE49-F238E27FC236}">
                <a16:creationId xmlns:a16="http://schemas.microsoft.com/office/drawing/2014/main" id="{EE76F73F-EB46-4CAF-AD31-03B09EFDFAE0}"/>
              </a:ext>
            </a:extLst>
          </p:cNvPr>
          <p:cNvSpPr>
            <a:spLocks noGrp="1"/>
          </p:cNvSpPr>
          <p:nvPr>
            <p:ph idx="1"/>
          </p:nvPr>
        </p:nvSpPr>
        <p:spPr/>
        <p:txBody>
          <a:bodyPr/>
          <a:lstStyle/>
          <a:p>
            <a:r>
              <a:rPr lang="en-US" b="1" i="0" dirty="0">
                <a:solidFill>
                  <a:srgbClr val="273239"/>
                </a:solidFill>
                <a:effectLst/>
                <a:latin typeface="urw-din"/>
              </a:rPr>
              <a:t>Relabel()</a:t>
            </a:r>
            <a:r>
              <a:rPr lang="en-US" b="0" i="0" dirty="0">
                <a:solidFill>
                  <a:srgbClr val="273239"/>
                </a:solidFill>
                <a:effectLst/>
                <a:latin typeface="urw-din"/>
              </a:rPr>
              <a:t> operation is used </a:t>
            </a:r>
            <a:r>
              <a:rPr lang="en-US" b="0" i="0" dirty="0">
                <a:solidFill>
                  <a:srgbClr val="C00000"/>
                </a:solidFill>
                <a:effectLst/>
                <a:latin typeface="urw-din"/>
              </a:rPr>
              <a:t>when a vertex has excess flow and none of its adjacent is at lower height. </a:t>
            </a:r>
          </a:p>
          <a:p>
            <a:r>
              <a:rPr lang="en-US" b="0" i="0" dirty="0">
                <a:solidFill>
                  <a:srgbClr val="273239"/>
                </a:solidFill>
                <a:effectLst/>
                <a:latin typeface="urw-din"/>
              </a:rPr>
              <a:t>We basically increase height of the vertex so that we can perform push(). </a:t>
            </a:r>
          </a:p>
          <a:p>
            <a:r>
              <a:rPr lang="en-US" b="0" i="0" dirty="0">
                <a:solidFill>
                  <a:srgbClr val="273239"/>
                </a:solidFill>
                <a:effectLst/>
                <a:latin typeface="urw-din"/>
              </a:rPr>
              <a:t>To increase height, we </a:t>
            </a:r>
            <a:r>
              <a:rPr lang="en-US" b="0" i="0" dirty="0">
                <a:solidFill>
                  <a:srgbClr val="0070C0"/>
                </a:solidFill>
                <a:effectLst/>
                <a:latin typeface="urw-din"/>
              </a:rPr>
              <a:t>pick the minimum height adjacent (in residual graph, i.e., an adjacent vertex to whom we can add flow) and add 1 to it.</a:t>
            </a:r>
          </a:p>
          <a:p>
            <a:pPr marL="0" indent="0">
              <a:buNone/>
            </a:pPr>
            <a:endParaRPr lang="en-IN" dirty="0"/>
          </a:p>
        </p:txBody>
      </p:sp>
    </p:spTree>
    <p:extLst>
      <p:ext uri="{BB962C8B-B14F-4D97-AF65-F5344CB8AC3E}">
        <p14:creationId xmlns:p14="http://schemas.microsoft.com/office/powerpoint/2010/main" val="2935149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7760-A0AC-47C3-BE7F-B4A12095F82B}"/>
              </a:ext>
            </a:extLst>
          </p:cNvPr>
          <p:cNvSpPr>
            <a:spLocks noGrp="1"/>
          </p:cNvSpPr>
          <p:nvPr>
            <p:ph type="title"/>
          </p:nvPr>
        </p:nvSpPr>
        <p:spPr/>
        <p:txBody>
          <a:bodyPr/>
          <a:lstStyle/>
          <a:p>
            <a:r>
              <a:rPr lang="en-US" dirty="0"/>
              <a:t>Relabel operation-Description</a:t>
            </a:r>
            <a:endParaRPr lang="en-IN" dirty="0"/>
          </a:p>
        </p:txBody>
      </p:sp>
      <p:pic>
        <p:nvPicPr>
          <p:cNvPr id="7" name="Content Placeholder 6">
            <a:extLst>
              <a:ext uri="{FF2B5EF4-FFF2-40B4-BE49-F238E27FC236}">
                <a16:creationId xmlns:a16="http://schemas.microsoft.com/office/drawing/2014/main" id="{2C7F5486-BFEA-4DA9-B976-F1F1E849111C}"/>
              </a:ext>
            </a:extLst>
          </p:cNvPr>
          <p:cNvPicPr>
            <a:picLocks noGrp="1" noChangeAspect="1"/>
          </p:cNvPicPr>
          <p:nvPr>
            <p:ph idx="1"/>
          </p:nvPr>
        </p:nvPicPr>
        <p:blipFill>
          <a:blip r:embed="rId2"/>
          <a:stretch>
            <a:fillRect/>
          </a:stretch>
        </p:blipFill>
        <p:spPr>
          <a:xfrm>
            <a:off x="900112" y="2558256"/>
            <a:ext cx="10391775" cy="2886075"/>
          </a:xfrm>
        </p:spPr>
      </p:pic>
    </p:spTree>
    <p:extLst>
      <p:ext uri="{BB962C8B-B14F-4D97-AF65-F5344CB8AC3E}">
        <p14:creationId xmlns:p14="http://schemas.microsoft.com/office/powerpoint/2010/main" val="2023029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0F5AE-23C1-4974-990D-EF0827E43987}"/>
              </a:ext>
            </a:extLst>
          </p:cNvPr>
          <p:cNvSpPr>
            <a:spLocks noGrp="1"/>
          </p:cNvSpPr>
          <p:nvPr>
            <p:ph type="title"/>
          </p:nvPr>
        </p:nvSpPr>
        <p:spPr/>
        <p:txBody>
          <a:bodyPr/>
          <a:lstStyle/>
          <a:p>
            <a:r>
              <a:rPr lang="en-US" dirty="0"/>
              <a:t>Relabel operation as in CLRS book </a:t>
            </a:r>
            <a:endParaRPr lang="en-IN" dirty="0"/>
          </a:p>
        </p:txBody>
      </p:sp>
      <p:pic>
        <p:nvPicPr>
          <p:cNvPr id="5" name="Content Placeholder 4">
            <a:extLst>
              <a:ext uri="{FF2B5EF4-FFF2-40B4-BE49-F238E27FC236}">
                <a16:creationId xmlns:a16="http://schemas.microsoft.com/office/drawing/2014/main" id="{57AB49AB-B1DD-4289-87E7-69B5348F7381}"/>
              </a:ext>
            </a:extLst>
          </p:cNvPr>
          <p:cNvPicPr>
            <a:picLocks noGrp="1" noChangeAspect="1"/>
          </p:cNvPicPr>
          <p:nvPr>
            <p:ph idx="1"/>
          </p:nvPr>
        </p:nvPicPr>
        <p:blipFill>
          <a:blip r:embed="rId2"/>
          <a:stretch>
            <a:fillRect/>
          </a:stretch>
        </p:blipFill>
        <p:spPr>
          <a:xfrm>
            <a:off x="1047750" y="2937669"/>
            <a:ext cx="10110769" cy="2232000"/>
          </a:xfrm>
        </p:spPr>
      </p:pic>
    </p:spTree>
    <p:extLst>
      <p:ext uri="{BB962C8B-B14F-4D97-AF65-F5344CB8AC3E}">
        <p14:creationId xmlns:p14="http://schemas.microsoft.com/office/powerpoint/2010/main" val="1696031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8DE37-304B-5989-2AEE-6D8C72D2C84C}"/>
              </a:ext>
            </a:extLst>
          </p:cNvPr>
          <p:cNvSpPr>
            <a:spLocks noGrp="1"/>
          </p:cNvSpPr>
          <p:nvPr>
            <p:ph type="title"/>
          </p:nvPr>
        </p:nvSpPr>
        <p:spPr/>
        <p:txBody>
          <a:bodyPr/>
          <a:lstStyle/>
          <a:p>
            <a:pPr algn="ctr"/>
            <a:r>
              <a:rPr lang="en-IN" dirty="0"/>
              <a:t>Network flow graph</a:t>
            </a:r>
          </a:p>
        </p:txBody>
      </p:sp>
      <p:pic>
        <p:nvPicPr>
          <p:cNvPr id="7" name="Content Placeholder 6">
            <a:extLst>
              <a:ext uri="{FF2B5EF4-FFF2-40B4-BE49-F238E27FC236}">
                <a16:creationId xmlns:a16="http://schemas.microsoft.com/office/drawing/2014/main" id="{1BD7CEA9-E3B7-79E1-F7F1-51DA46D200DF}"/>
              </a:ext>
            </a:extLst>
          </p:cNvPr>
          <p:cNvPicPr>
            <a:picLocks noGrp="1" noChangeAspect="1"/>
          </p:cNvPicPr>
          <p:nvPr>
            <p:ph idx="1"/>
          </p:nvPr>
        </p:nvPicPr>
        <p:blipFill>
          <a:blip r:embed="rId2"/>
          <a:stretch>
            <a:fillRect/>
          </a:stretch>
        </p:blipFill>
        <p:spPr>
          <a:xfrm>
            <a:off x="2560745" y="1527401"/>
            <a:ext cx="6443051" cy="4495711"/>
          </a:xfrm>
        </p:spPr>
      </p:pic>
    </p:spTree>
    <p:extLst>
      <p:ext uri="{BB962C8B-B14F-4D97-AF65-F5344CB8AC3E}">
        <p14:creationId xmlns:p14="http://schemas.microsoft.com/office/powerpoint/2010/main" val="1297983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FD6F-394C-4C4F-FDD4-DFFF8C9E2DE0}"/>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128F1B80-1294-2743-9964-07DECDA08D74}"/>
              </a:ext>
            </a:extLst>
          </p:cNvPr>
          <p:cNvSpPr>
            <a:spLocks noGrp="1"/>
          </p:cNvSpPr>
          <p:nvPr>
            <p:ph idx="1"/>
          </p:nvPr>
        </p:nvSpPr>
        <p:spPr/>
        <p:txBody>
          <a:bodyPr/>
          <a:lstStyle/>
          <a:p>
            <a:r>
              <a:rPr lang="en-US" b="0" i="0" dirty="0" err="1">
                <a:solidFill>
                  <a:schemeClr val="accent2">
                    <a:lumMod val="75000"/>
                  </a:schemeClr>
                </a:solidFill>
                <a:effectLst/>
                <a:latin typeface="Arial" panose="020B0604020202020204" pitchFamily="34" charset="0"/>
              </a:rPr>
              <a:t>Initialise</a:t>
            </a:r>
            <a:r>
              <a:rPr lang="en-US" b="0" i="0" dirty="0">
                <a:solidFill>
                  <a:schemeClr val="accent2">
                    <a:lumMod val="75000"/>
                  </a:schemeClr>
                </a:solidFill>
                <a:effectLst/>
                <a:latin typeface="Arial" panose="020B0604020202020204" pitchFamily="34" charset="0"/>
              </a:rPr>
              <a:t> the residual graph </a:t>
            </a:r>
            <a:r>
              <a:rPr lang="en-US" b="0" i="0" dirty="0">
                <a:solidFill>
                  <a:srgbClr val="202122"/>
                </a:solidFill>
                <a:effectLst/>
                <a:latin typeface="Arial" panose="020B0604020202020204" pitchFamily="34" charset="0"/>
              </a:rPr>
              <a:t>by setting the </a:t>
            </a:r>
            <a:r>
              <a:rPr lang="en-US" b="0" i="0" dirty="0" err="1">
                <a:solidFill>
                  <a:srgbClr val="202122"/>
                </a:solidFill>
                <a:effectLst/>
                <a:latin typeface="Arial" panose="020B0604020202020204" pitchFamily="34" charset="0"/>
              </a:rPr>
              <a:t>preflow</a:t>
            </a:r>
            <a:r>
              <a:rPr lang="en-US" b="0" i="0" dirty="0">
                <a:solidFill>
                  <a:srgbClr val="202122"/>
                </a:solidFill>
                <a:effectLst/>
                <a:latin typeface="Arial" panose="020B0604020202020204" pitchFamily="34" charset="0"/>
              </a:rPr>
              <a:t> to values 0 and </a:t>
            </a:r>
            <a:r>
              <a:rPr lang="en-US" b="0" i="0" dirty="0" err="1">
                <a:solidFill>
                  <a:srgbClr val="202122"/>
                </a:solidFill>
                <a:effectLst/>
                <a:latin typeface="Arial" panose="020B0604020202020204" pitchFamily="34" charset="0"/>
              </a:rPr>
              <a:t>initialising</a:t>
            </a:r>
            <a:r>
              <a:rPr lang="en-US" b="0" i="0" dirty="0">
                <a:solidFill>
                  <a:srgbClr val="202122"/>
                </a:solidFill>
                <a:effectLst/>
                <a:latin typeface="Arial" panose="020B0604020202020204" pitchFamily="34" charset="0"/>
              </a:rPr>
              <a:t> the labeling.</a:t>
            </a:r>
            <a:endParaRPr lang="en-IN" dirty="0"/>
          </a:p>
          <a:p>
            <a:endParaRPr lang="en-IN" dirty="0"/>
          </a:p>
        </p:txBody>
      </p:sp>
      <p:pic>
        <p:nvPicPr>
          <p:cNvPr id="10" name="Content Placeholder 4">
            <a:extLst>
              <a:ext uri="{FF2B5EF4-FFF2-40B4-BE49-F238E27FC236}">
                <a16:creationId xmlns:a16="http://schemas.microsoft.com/office/drawing/2014/main" id="{D796C8B5-29C5-8CBC-12D3-155D1657D024}"/>
              </a:ext>
            </a:extLst>
          </p:cNvPr>
          <p:cNvPicPr>
            <a:picLocks noChangeAspect="1"/>
          </p:cNvPicPr>
          <p:nvPr/>
        </p:nvPicPr>
        <p:blipFill>
          <a:blip r:embed="rId2"/>
          <a:stretch>
            <a:fillRect/>
          </a:stretch>
        </p:blipFill>
        <p:spPr>
          <a:xfrm>
            <a:off x="3335301" y="2724965"/>
            <a:ext cx="5172075" cy="3324225"/>
          </a:xfrm>
          <a:prstGeom prst="rect">
            <a:avLst/>
          </a:prstGeom>
        </p:spPr>
      </p:pic>
    </p:spTree>
    <p:extLst>
      <p:ext uri="{BB962C8B-B14F-4D97-AF65-F5344CB8AC3E}">
        <p14:creationId xmlns:p14="http://schemas.microsoft.com/office/powerpoint/2010/main" val="3831132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216B8-35AD-BA59-118B-8AC04B35620E}"/>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9178FD82-C076-AEC0-605A-2E54A9E0EE7A}"/>
              </a:ext>
            </a:extLst>
          </p:cNvPr>
          <p:cNvSpPr>
            <a:spLocks noGrp="1"/>
          </p:cNvSpPr>
          <p:nvPr>
            <p:ph idx="1"/>
          </p:nvPr>
        </p:nvSpPr>
        <p:spPr>
          <a:xfrm>
            <a:off x="687512" y="1768476"/>
            <a:ext cx="10515600" cy="4351338"/>
          </a:xfrm>
        </p:spPr>
        <p:txBody>
          <a:bodyPr/>
          <a:lstStyle/>
          <a:p>
            <a:r>
              <a:rPr lang="en-US" b="0" i="0" dirty="0">
                <a:solidFill>
                  <a:srgbClr val="202122"/>
                </a:solidFill>
                <a:effectLst/>
                <a:latin typeface="Arial" panose="020B0604020202020204" pitchFamily="34" charset="0"/>
              </a:rPr>
              <a:t>Initial saturating push is performed across all </a:t>
            </a:r>
            <a:r>
              <a:rPr lang="en-US" b="0" i="0" dirty="0" err="1">
                <a:solidFill>
                  <a:srgbClr val="202122"/>
                </a:solidFill>
                <a:effectLst/>
                <a:latin typeface="Arial" panose="020B0604020202020204" pitchFamily="34" charset="0"/>
              </a:rPr>
              <a:t>preflow</a:t>
            </a:r>
            <a:r>
              <a:rPr lang="en-US" b="0" i="0" dirty="0">
                <a:solidFill>
                  <a:srgbClr val="202122"/>
                </a:solidFill>
                <a:effectLst/>
                <a:latin typeface="Arial" panose="020B0604020202020204" pitchFamily="34" charset="0"/>
              </a:rPr>
              <a:t> arcs out of the source, </a:t>
            </a:r>
            <a:r>
              <a:rPr lang="en-US" b="0" i="1" dirty="0">
                <a:solidFill>
                  <a:srgbClr val="202122"/>
                </a:solidFill>
                <a:effectLst/>
                <a:latin typeface="Nimbus Roman No9 L"/>
              </a:rPr>
              <a:t>s</a:t>
            </a:r>
            <a:r>
              <a:rPr lang="en-US" b="0" i="0" dirty="0">
                <a:solidFill>
                  <a:srgbClr val="202122"/>
                </a:solidFill>
                <a:effectLst/>
                <a:latin typeface="Arial" panose="020B0604020202020204" pitchFamily="34" charset="0"/>
              </a:rPr>
              <a:t>.</a:t>
            </a:r>
            <a:endParaRPr lang="en-IN" dirty="0"/>
          </a:p>
          <a:p>
            <a:endParaRPr lang="en-IN" dirty="0"/>
          </a:p>
        </p:txBody>
      </p:sp>
      <p:pic>
        <p:nvPicPr>
          <p:cNvPr id="10" name="Content Placeholder 4">
            <a:extLst>
              <a:ext uri="{FF2B5EF4-FFF2-40B4-BE49-F238E27FC236}">
                <a16:creationId xmlns:a16="http://schemas.microsoft.com/office/drawing/2014/main" id="{30F2CADF-FC98-7562-134E-F02E1727D2E8}"/>
              </a:ext>
            </a:extLst>
          </p:cNvPr>
          <p:cNvPicPr>
            <a:picLocks noChangeAspect="1"/>
          </p:cNvPicPr>
          <p:nvPr/>
        </p:nvPicPr>
        <p:blipFill>
          <a:blip r:embed="rId2"/>
          <a:stretch>
            <a:fillRect/>
          </a:stretch>
        </p:blipFill>
        <p:spPr>
          <a:xfrm>
            <a:off x="3359274" y="2964684"/>
            <a:ext cx="5172075" cy="3362325"/>
          </a:xfrm>
          <a:prstGeom prst="rect">
            <a:avLst/>
          </a:prstGeom>
        </p:spPr>
      </p:pic>
    </p:spTree>
    <p:extLst>
      <p:ext uri="{BB962C8B-B14F-4D97-AF65-F5344CB8AC3E}">
        <p14:creationId xmlns:p14="http://schemas.microsoft.com/office/powerpoint/2010/main" val="2351134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5A9D0-319A-EE76-D87F-50C3BE39A270}"/>
              </a:ext>
            </a:extLst>
          </p:cNvPr>
          <p:cNvSpPr>
            <a:spLocks noGrp="1"/>
          </p:cNvSpPr>
          <p:nvPr>
            <p:ph type="title"/>
          </p:nvPr>
        </p:nvSpPr>
        <p:spPr/>
        <p:txBody>
          <a:bodyPr/>
          <a:lstStyle/>
          <a:p>
            <a:endParaRPr lang="en-IN" dirty="0"/>
          </a:p>
        </p:txBody>
      </p:sp>
      <p:sp>
        <p:nvSpPr>
          <p:cNvPr id="9" name="Content Placeholder 8">
            <a:extLst>
              <a:ext uri="{FF2B5EF4-FFF2-40B4-BE49-F238E27FC236}">
                <a16:creationId xmlns:a16="http://schemas.microsoft.com/office/drawing/2014/main" id="{2DAFFDDE-319C-E476-3733-570BA7362B3E}"/>
              </a:ext>
            </a:extLst>
          </p:cNvPr>
          <p:cNvSpPr>
            <a:spLocks noGrp="1"/>
          </p:cNvSpPr>
          <p:nvPr>
            <p:ph idx="1"/>
          </p:nvPr>
        </p:nvSpPr>
        <p:spPr>
          <a:xfrm>
            <a:off x="910119" y="1690688"/>
            <a:ext cx="10515600" cy="4351338"/>
          </a:xfrm>
        </p:spPr>
        <p:txBody>
          <a:bodyPr/>
          <a:lstStyle/>
          <a:p>
            <a:r>
              <a:rPr lang="en-US" b="0" i="0" dirty="0">
                <a:solidFill>
                  <a:srgbClr val="202122"/>
                </a:solidFill>
                <a:effectLst/>
                <a:latin typeface="Arial" panose="020B0604020202020204" pitchFamily="34" charset="0"/>
              </a:rPr>
              <a:t>Node </a:t>
            </a:r>
            <a:r>
              <a:rPr lang="en-US" b="0" i="1" dirty="0">
                <a:solidFill>
                  <a:srgbClr val="202122"/>
                </a:solidFill>
                <a:effectLst/>
                <a:latin typeface="Nimbus Roman No9 L"/>
              </a:rPr>
              <a:t>a</a:t>
            </a:r>
            <a:r>
              <a:rPr lang="en-US" b="0" i="0" dirty="0">
                <a:solidFill>
                  <a:srgbClr val="202122"/>
                </a:solidFill>
                <a:effectLst/>
                <a:latin typeface="Arial" panose="020B0604020202020204" pitchFamily="34" charset="0"/>
              </a:rPr>
              <a:t> is relabeled in order to push its excess flow towards the sink, </a:t>
            </a:r>
            <a:r>
              <a:rPr lang="en-US" b="0" i="1" dirty="0">
                <a:solidFill>
                  <a:srgbClr val="202122"/>
                </a:solidFill>
                <a:effectLst/>
                <a:latin typeface="Nimbus Roman No9 L"/>
              </a:rPr>
              <a:t>t</a:t>
            </a:r>
            <a:r>
              <a:rPr lang="en-US" b="0" i="0" dirty="0">
                <a:solidFill>
                  <a:srgbClr val="202122"/>
                </a:solidFill>
                <a:effectLst/>
                <a:latin typeface="Arial" panose="020B0604020202020204" pitchFamily="34" charset="0"/>
              </a:rPr>
              <a:t>. The </a:t>
            </a:r>
            <a:r>
              <a:rPr lang="en-US" b="0" i="0" dirty="0">
                <a:solidFill>
                  <a:schemeClr val="accent2">
                    <a:lumMod val="75000"/>
                  </a:schemeClr>
                </a:solidFill>
                <a:effectLst/>
                <a:latin typeface="Arial" panose="020B0604020202020204" pitchFamily="34" charset="0"/>
              </a:rPr>
              <a:t>excess at </a:t>
            </a:r>
            <a:r>
              <a:rPr lang="en-US" b="0" i="1" dirty="0">
                <a:solidFill>
                  <a:schemeClr val="accent2">
                    <a:lumMod val="75000"/>
                  </a:schemeClr>
                </a:solidFill>
                <a:effectLst/>
                <a:latin typeface="Nimbus Roman No9 L"/>
              </a:rPr>
              <a:t>a</a:t>
            </a:r>
            <a:r>
              <a:rPr lang="en-US" b="0" i="0" dirty="0">
                <a:solidFill>
                  <a:schemeClr val="accent2">
                    <a:lumMod val="75000"/>
                  </a:schemeClr>
                </a:solidFill>
                <a:effectLst/>
                <a:latin typeface="Arial" panose="020B0604020202020204" pitchFamily="34" charset="0"/>
              </a:rPr>
              <a:t> is then pushed to </a:t>
            </a:r>
            <a:r>
              <a:rPr lang="en-US" b="0" i="1" dirty="0">
                <a:solidFill>
                  <a:schemeClr val="accent2">
                    <a:lumMod val="75000"/>
                  </a:schemeClr>
                </a:solidFill>
                <a:effectLst/>
                <a:latin typeface="Nimbus Roman No9 L"/>
              </a:rPr>
              <a:t>b</a:t>
            </a:r>
            <a:r>
              <a:rPr lang="en-US" b="0" i="0" dirty="0">
                <a:solidFill>
                  <a:schemeClr val="accent2">
                    <a:lumMod val="75000"/>
                  </a:schemeClr>
                </a:solidFill>
                <a:effectLst/>
                <a:latin typeface="Arial" panose="020B0604020202020204" pitchFamily="34" charset="0"/>
              </a:rPr>
              <a:t> then </a:t>
            </a:r>
            <a:r>
              <a:rPr lang="en-US" b="0" i="1" dirty="0">
                <a:solidFill>
                  <a:schemeClr val="accent2">
                    <a:lumMod val="75000"/>
                  </a:schemeClr>
                </a:solidFill>
                <a:effectLst/>
                <a:latin typeface="Nimbus Roman No9 L"/>
              </a:rPr>
              <a:t>d</a:t>
            </a:r>
            <a:r>
              <a:rPr lang="en-US" b="0" i="0" dirty="0">
                <a:solidFill>
                  <a:schemeClr val="accent2">
                    <a:lumMod val="75000"/>
                  </a:schemeClr>
                </a:solidFill>
                <a:effectLst/>
                <a:latin typeface="Arial" panose="020B0604020202020204" pitchFamily="34" charset="0"/>
              </a:rPr>
              <a:t> </a:t>
            </a:r>
            <a:r>
              <a:rPr lang="en-US" b="0" i="0" dirty="0">
                <a:solidFill>
                  <a:srgbClr val="202122"/>
                </a:solidFill>
                <a:effectLst/>
                <a:latin typeface="Arial" panose="020B0604020202020204" pitchFamily="34" charset="0"/>
              </a:rPr>
              <a:t>in two subsequent saturating pushes; which still leaves </a:t>
            </a:r>
            <a:r>
              <a:rPr lang="en-US" b="0" i="1" dirty="0">
                <a:solidFill>
                  <a:srgbClr val="202122"/>
                </a:solidFill>
                <a:effectLst/>
                <a:latin typeface="Nimbus Roman No9 L"/>
              </a:rPr>
              <a:t>a</a:t>
            </a:r>
            <a:r>
              <a:rPr lang="en-US" b="0" i="0" dirty="0">
                <a:solidFill>
                  <a:srgbClr val="202122"/>
                </a:solidFill>
                <a:effectLst/>
                <a:latin typeface="Arial" panose="020B0604020202020204" pitchFamily="34" charset="0"/>
              </a:rPr>
              <a:t> with some excess.</a:t>
            </a:r>
          </a:p>
          <a:p>
            <a:endParaRPr lang="en-IN" dirty="0"/>
          </a:p>
        </p:txBody>
      </p:sp>
      <p:pic>
        <p:nvPicPr>
          <p:cNvPr id="10" name="Content Placeholder 4">
            <a:extLst>
              <a:ext uri="{FF2B5EF4-FFF2-40B4-BE49-F238E27FC236}">
                <a16:creationId xmlns:a16="http://schemas.microsoft.com/office/drawing/2014/main" id="{A671ABE5-D5AC-0AE1-ECC8-BA16F64FD949}"/>
              </a:ext>
            </a:extLst>
          </p:cNvPr>
          <p:cNvPicPr>
            <a:picLocks noChangeAspect="1"/>
          </p:cNvPicPr>
          <p:nvPr/>
        </p:nvPicPr>
        <p:blipFill>
          <a:blip r:embed="rId2"/>
          <a:stretch>
            <a:fillRect/>
          </a:stretch>
        </p:blipFill>
        <p:spPr>
          <a:xfrm>
            <a:off x="3220788" y="3159125"/>
            <a:ext cx="5133975" cy="3333750"/>
          </a:xfrm>
          <a:prstGeom prst="rect">
            <a:avLst/>
          </a:prstGeom>
        </p:spPr>
      </p:pic>
    </p:spTree>
    <p:extLst>
      <p:ext uri="{BB962C8B-B14F-4D97-AF65-F5344CB8AC3E}">
        <p14:creationId xmlns:p14="http://schemas.microsoft.com/office/powerpoint/2010/main" val="2608920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1898-4679-0299-741E-066A63AD79C4}"/>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513ED510-FDEF-C61D-13B1-B3520E38766D}"/>
              </a:ext>
            </a:extLst>
          </p:cNvPr>
          <p:cNvSpPr>
            <a:spLocks noGrp="1"/>
          </p:cNvSpPr>
          <p:nvPr>
            <p:ph idx="1"/>
          </p:nvPr>
        </p:nvSpPr>
        <p:spPr>
          <a:xfrm>
            <a:off x="650858" y="1856448"/>
            <a:ext cx="10515600" cy="4351338"/>
          </a:xfrm>
        </p:spPr>
        <p:txBody>
          <a:bodyPr/>
          <a:lstStyle/>
          <a:p>
            <a:r>
              <a:rPr lang="en-US" b="0" i="0" dirty="0">
                <a:solidFill>
                  <a:srgbClr val="202122"/>
                </a:solidFill>
                <a:effectLst/>
                <a:latin typeface="Arial" panose="020B0604020202020204" pitchFamily="34" charset="0"/>
              </a:rPr>
              <a:t>Once again, </a:t>
            </a:r>
            <a:r>
              <a:rPr lang="en-US" b="0" i="1" dirty="0">
                <a:solidFill>
                  <a:schemeClr val="accent2">
                    <a:lumMod val="75000"/>
                  </a:schemeClr>
                </a:solidFill>
                <a:effectLst/>
                <a:latin typeface="Nimbus Roman No9 L"/>
              </a:rPr>
              <a:t>a</a:t>
            </a:r>
            <a:r>
              <a:rPr lang="en-US" b="0" i="0" dirty="0">
                <a:solidFill>
                  <a:schemeClr val="accent2">
                    <a:lumMod val="75000"/>
                  </a:schemeClr>
                </a:solidFill>
                <a:effectLst/>
                <a:latin typeface="Arial" panose="020B0604020202020204" pitchFamily="34" charset="0"/>
              </a:rPr>
              <a:t> is relabeled in order to push its excess along its last remaining positive residual (i.e. push the excess back to </a:t>
            </a:r>
            <a:r>
              <a:rPr lang="en-US" b="0" i="1" dirty="0">
                <a:solidFill>
                  <a:schemeClr val="accent2">
                    <a:lumMod val="75000"/>
                  </a:schemeClr>
                </a:solidFill>
                <a:effectLst/>
                <a:latin typeface="Nimbus Roman No9 L"/>
              </a:rPr>
              <a:t>s</a:t>
            </a:r>
            <a:r>
              <a:rPr lang="en-US" b="0" i="0" dirty="0">
                <a:solidFill>
                  <a:srgbClr val="202122"/>
                </a:solidFill>
                <a:effectLst/>
                <a:latin typeface="Arial" panose="020B0604020202020204" pitchFamily="34" charset="0"/>
              </a:rPr>
              <a:t>).The node </a:t>
            </a:r>
            <a:r>
              <a:rPr lang="en-US" b="0" i="1" dirty="0">
                <a:solidFill>
                  <a:srgbClr val="202122"/>
                </a:solidFill>
                <a:effectLst/>
                <a:latin typeface="Nimbus Roman No9 L"/>
              </a:rPr>
              <a:t>a</a:t>
            </a:r>
            <a:r>
              <a:rPr lang="en-US" b="0" i="0" dirty="0">
                <a:solidFill>
                  <a:srgbClr val="202122"/>
                </a:solidFill>
                <a:effectLst/>
                <a:latin typeface="Arial" panose="020B0604020202020204" pitchFamily="34" charset="0"/>
              </a:rPr>
              <a:t> is then removed from the set of active nodes.</a:t>
            </a:r>
          </a:p>
          <a:p>
            <a:pPr marL="0" indent="0">
              <a:buNone/>
            </a:pPr>
            <a:endParaRPr lang="en-IN" dirty="0"/>
          </a:p>
        </p:txBody>
      </p:sp>
      <p:pic>
        <p:nvPicPr>
          <p:cNvPr id="10" name="Content Placeholder 4">
            <a:extLst>
              <a:ext uri="{FF2B5EF4-FFF2-40B4-BE49-F238E27FC236}">
                <a16:creationId xmlns:a16="http://schemas.microsoft.com/office/drawing/2014/main" id="{CF73D0A1-7A7A-058C-83ED-027586E952BC}"/>
              </a:ext>
            </a:extLst>
          </p:cNvPr>
          <p:cNvPicPr>
            <a:picLocks noChangeAspect="1"/>
          </p:cNvPicPr>
          <p:nvPr/>
        </p:nvPicPr>
        <p:blipFill>
          <a:blip r:embed="rId2"/>
          <a:stretch>
            <a:fillRect/>
          </a:stretch>
        </p:blipFill>
        <p:spPr>
          <a:xfrm>
            <a:off x="3535005" y="3242102"/>
            <a:ext cx="5286375" cy="3457575"/>
          </a:xfrm>
          <a:prstGeom prst="rect">
            <a:avLst/>
          </a:prstGeom>
        </p:spPr>
      </p:pic>
    </p:spTree>
    <p:extLst>
      <p:ext uri="{BB962C8B-B14F-4D97-AF65-F5344CB8AC3E}">
        <p14:creationId xmlns:p14="http://schemas.microsoft.com/office/powerpoint/2010/main" val="3823029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2422C37-995C-F0EB-9063-2DABD17EEE74}"/>
              </a:ext>
            </a:extLst>
          </p:cNvPr>
          <p:cNvSpPr>
            <a:spLocks noGrp="1"/>
          </p:cNvSpPr>
          <p:nvPr>
            <p:ph type="title"/>
          </p:nvPr>
        </p:nvSpPr>
        <p:spPr/>
        <p:txBody>
          <a:bodyPr/>
          <a:lstStyle/>
          <a:p>
            <a:endParaRPr lang="en-IN" dirty="0"/>
          </a:p>
        </p:txBody>
      </p:sp>
      <p:sp>
        <p:nvSpPr>
          <p:cNvPr id="13" name="Content Placeholder 12">
            <a:extLst>
              <a:ext uri="{FF2B5EF4-FFF2-40B4-BE49-F238E27FC236}">
                <a16:creationId xmlns:a16="http://schemas.microsoft.com/office/drawing/2014/main" id="{8E0A559E-2D66-6FD5-742D-64A06703E29E}"/>
              </a:ext>
            </a:extLst>
          </p:cNvPr>
          <p:cNvSpPr>
            <a:spLocks noGrp="1"/>
          </p:cNvSpPr>
          <p:nvPr>
            <p:ph idx="1"/>
          </p:nvPr>
        </p:nvSpPr>
        <p:spPr>
          <a:xfrm>
            <a:off x="838200" y="1948915"/>
            <a:ext cx="10515600" cy="4351338"/>
          </a:xfrm>
        </p:spPr>
        <p:txBody>
          <a:bodyPr/>
          <a:lstStyle/>
          <a:p>
            <a:r>
              <a:rPr lang="en-US" b="0" i="0" dirty="0">
                <a:solidFill>
                  <a:schemeClr val="accent2">
                    <a:lumMod val="75000"/>
                  </a:schemeClr>
                </a:solidFill>
                <a:effectLst/>
                <a:latin typeface="Arial" panose="020B0604020202020204" pitchFamily="34" charset="0"/>
              </a:rPr>
              <a:t>Relabel </a:t>
            </a:r>
            <a:r>
              <a:rPr lang="en-US" b="0" i="1" dirty="0">
                <a:solidFill>
                  <a:schemeClr val="accent2">
                    <a:lumMod val="75000"/>
                  </a:schemeClr>
                </a:solidFill>
                <a:effectLst/>
                <a:latin typeface="Nimbus Roman No9 L"/>
              </a:rPr>
              <a:t>b</a:t>
            </a:r>
            <a:r>
              <a:rPr lang="en-US" b="0" i="0" dirty="0">
                <a:solidFill>
                  <a:schemeClr val="accent2">
                    <a:lumMod val="75000"/>
                  </a:schemeClr>
                </a:solidFill>
                <a:effectLst/>
                <a:latin typeface="Arial" panose="020B0604020202020204" pitchFamily="34" charset="0"/>
              </a:rPr>
              <a:t> and then push its excess to </a:t>
            </a:r>
            <a:r>
              <a:rPr lang="en-US" b="0" i="1" dirty="0">
                <a:solidFill>
                  <a:schemeClr val="accent2">
                    <a:lumMod val="75000"/>
                  </a:schemeClr>
                </a:solidFill>
                <a:effectLst/>
                <a:latin typeface="Nimbus Roman No9 L"/>
              </a:rPr>
              <a:t>t</a:t>
            </a:r>
            <a:r>
              <a:rPr lang="en-US" b="0" i="0" dirty="0">
                <a:solidFill>
                  <a:schemeClr val="accent2">
                    <a:lumMod val="75000"/>
                  </a:schemeClr>
                </a:solidFill>
                <a:effectLst/>
                <a:latin typeface="Arial" panose="020B0604020202020204" pitchFamily="34" charset="0"/>
              </a:rPr>
              <a:t> and </a:t>
            </a:r>
            <a:r>
              <a:rPr lang="en-US" b="0" i="1" dirty="0">
                <a:solidFill>
                  <a:schemeClr val="accent2">
                    <a:lumMod val="75000"/>
                  </a:schemeClr>
                </a:solidFill>
                <a:effectLst/>
                <a:latin typeface="Nimbus Roman No9 L"/>
              </a:rPr>
              <a:t>c</a:t>
            </a:r>
            <a:r>
              <a:rPr lang="en-US" b="0" i="0" dirty="0">
                <a:solidFill>
                  <a:srgbClr val="202122"/>
                </a:solidFill>
                <a:effectLst/>
                <a:latin typeface="Arial" panose="020B0604020202020204" pitchFamily="34" charset="0"/>
              </a:rPr>
              <a:t>.</a:t>
            </a:r>
            <a:endParaRPr lang="en-IN" dirty="0"/>
          </a:p>
          <a:p>
            <a:pPr marL="0" indent="0">
              <a:buNone/>
            </a:pPr>
            <a:endParaRPr lang="en-IN" dirty="0"/>
          </a:p>
        </p:txBody>
      </p:sp>
      <p:pic>
        <p:nvPicPr>
          <p:cNvPr id="14" name="Content Placeholder 4">
            <a:extLst>
              <a:ext uri="{FF2B5EF4-FFF2-40B4-BE49-F238E27FC236}">
                <a16:creationId xmlns:a16="http://schemas.microsoft.com/office/drawing/2014/main" id="{663F5B28-35A5-8900-896F-3C6662B09DF7}"/>
              </a:ext>
            </a:extLst>
          </p:cNvPr>
          <p:cNvPicPr>
            <a:picLocks noChangeAspect="1"/>
          </p:cNvPicPr>
          <p:nvPr/>
        </p:nvPicPr>
        <p:blipFill>
          <a:blip r:embed="rId2"/>
          <a:stretch>
            <a:fillRect/>
          </a:stretch>
        </p:blipFill>
        <p:spPr>
          <a:xfrm>
            <a:off x="3377896" y="2943230"/>
            <a:ext cx="5210175" cy="3457575"/>
          </a:xfrm>
          <a:prstGeom prst="rect">
            <a:avLst/>
          </a:prstGeom>
        </p:spPr>
      </p:pic>
    </p:spTree>
    <p:extLst>
      <p:ext uri="{BB962C8B-B14F-4D97-AF65-F5344CB8AC3E}">
        <p14:creationId xmlns:p14="http://schemas.microsoft.com/office/powerpoint/2010/main" val="3637198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259D8CA-918E-24F0-92C7-A97A901AC7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A4664B-F602-3399-CA13-F9D583EE1882}"/>
              </a:ext>
            </a:extLst>
          </p:cNvPr>
          <p:cNvSpPr>
            <a:spLocks noGrp="1"/>
          </p:cNvSpPr>
          <p:nvPr>
            <p:ph idx="1"/>
          </p:nvPr>
        </p:nvSpPr>
        <p:spPr/>
        <p:txBody>
          <a:bodyPr/>
          <a:lstStyle/>
          <a:p>
            <a:r>
              <a:rPr lang="en-US" b="0" i="0" dirty="0">
                <a:solidFill>
                  <a:schemeClr val="accent2">
                    <a:lumMod val="75000"/>
                  </a:schemeClr>
                </a:solidFill>
                <a:effectLst/>
                <a:latin typeface="Arial" panose="020B0604020202020204" pitchFamily="34" charset="0"/>
              </a:rPr>
              <a:t>Relabel </a:t>
            </a:r>
            <a:r>
              <a:rPr lang="en-US" b="0" i="1" dirty="0">
                <a:solidFill>
                  <a:schemeClr val="accent2">
                    <a:lumMod val="75000"/>
                  </a:schemeClr>
                </a:solidFill>
                <a:effectLst/>
                <a:latin typeface="Nimbus Roman No9 L"/>
              </a:rPr>
              <a:t>c</a:t>
            </a:r>
            <a:r>
              <a:rPr lang="en-US" b="0" i="0" dirty="0">
                <a:solidFill>
                  <a:schemeClr val="accent2">
                    <a:lumMod val="75000"/>
                  </a:schemeClr>
                </a:solidFill>
                <a:effectLst/>
                <a:latin typeface="Arial" panose="020B0604020202020204" pitchFamily="34" charset="0"/>
              </a:rPr>
              <a:t> and then push its excess to </a:t>
            </a:r>
            <a:r>
              <a:rPr lang="en-US" b="0" i="1" dirty="0">
                <a:solidFill>
                  <a:schemeClr val="accent2">
                    <a:lumMod val="75000"/>
                  </a:schemeClr>
                </a:solidFill>
                <a:effectLst/>
                <a:latin typeface="Nimbus Roman No9 L"/>
              </a:rPr>
              <a:t>d</a:t>
            </a:r>
            <a:r>
              <a:rPr lang="en-US" b="0" i="0" dirty="0">
                <a:solidFill>
                  <a:srgbClr val="202122"/>
                </a:solidFill>
                <a:effectLst/>
                <a:latin typeface="Arial" panose="020B0604020202020204" pitchFamily="34" charset="0"/>
              </a:rPr>
              <a:t>.</a:t>
            </a:r>
            <a:endParaRPr lang="en-IN" dirty="0"/>
          </a:p>
        </p:txBody>
      </p:sp>
      <p:pic>
        <p:nvPicPr>
          <p:cNvPr id="5" name="Picture 4">
            <a:extLst>
              <a:ext uri="{FF2B5EF4-FFF2-40B4-BE49-F238E27FC236}">
                <a16:creationId xmlns:a16="http://schemas.microsoft.com/office/drawing/2014/main" id="{B3846BCF-4192-F3F6-6C1F-C006912D9A5F}"/>
              </a:ext>
            </a:extLst>
          </p:cNvPr>
          <p:cNvPicPr>
            <a:picLocks noChangeAspect="1"/>
          </p:cNvPicPr>
          <p:nvPr/>
        </p:nvPicPr>
        <p:blipFill>
          <a:blip r:embed="rId2"/>
          <a:stretch>
            <a:fillRect/>
          </a:stretch>
        </p:blipFill>
        <p:spPr>
          <a:xfrm>
            <a:off x="3433762" y="2522144"/>
            <a:ext cx="5324475" cy="3457575"/>
          </a:xfrm>
          <a:prstGeom prst="rect">
            <a:avLst/>
          </a:prstGeom>
        </p:spPr>
      </p:pic>
    </p:spTree>
    <p:extLst>
      <p:ext uri="{BB962C8B-B14F-4D97-AF65-F5344CB8AC3E}">
        <p14:creationId xmlns:p14="http://schemas.microsoft.com/office/powerpoint/2010/main" val="1562866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9FB5-6F38-06D5-6083-AF64C93DB3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08745B-BCA6-29C3-E2B4-91BE20AFB53C}"/>
              </a:ext>
            </a:extLst>
          </p:cNvPr>
          <p:cNvSpPr>
            <a:spLocks noGrp="1"/>
          </p:cNvSpPr>
          <p:nvPr>
            <p:ph idx="1"/>
          </p:nvPr>
        </p:nvSpPr>
        <p:spPr/>
        <p:txBody>
          <a:bodyPr/>
          <a:lstStyle/>
          <a:p>
            <a:r>
              <a:rPr lang="en-US" b="0" i="0" dirty="0">
                <a:solidFill>
                  <a:schemeClr val="accent2">
                    <a:lumMod val="75000"/>
                  </a:schemeClr>
                </a:solidFill>
                <a:effectLst/>
                <a:latin typeface="Arial" panose="020B0604020202020204" pitchFamily="34" charset="0"/>
              </a:rPr>
              <a:t>Relabel </a:t>
            </a:r>
            <a:r>
              <a:rPr lang="en-US" b="0" i="1" dirty="0">
                <a:solidFill>
                  <a:schemeClr val="accent2">
                    <a:lumMod val="75000"/>
                  </a:schemeClr>
                </a:solidFill>
                <a:effectLst/>
                <a:latin typeface="Nimbus Roman No9 L"/>
              </a:rPr>
              <a:t>d</a:t>
            </a:r>
            <a:r>
              <a:rPr lang="en-US" b="0" i="0" dirty="0">
                <a:solidFill>
                  <a:schemeClr val="accent2">
                    <a:lumMod val="75000"/>
                  </a:schemeClr>
                </a:solidFill>
                <a:effectLst/>
                <a:latin typeface="Arial" panose="020B0604020202020204" pitchFamily="34" charset="0"/>
              </a:rPr>
              <a:t> and then push its excess to </a:t>
            </a:r>
            <a:r>
              <a:rPr lang="en-US" b="0" i="1" dirty="0">
                <a:solidFill>
                  <a:schemeClr val="accent2">
                    <a:lumMod val="75000"/>
                  </a:schemeClr>
                </a:solidFill>
                <a:effectLst/>
                <a:latin typeface="Nimbus Roman No9 L"/>
              </a:rPr>
              <a:t>t</a:t>
            </a:r>
            <a:r>
              <a:rPr lang="en-US" b="0" i="0" dirty="0">
                <a:solidFill>
                  <a:schemeClr val="accent2">
                    <a:lumMod val="75000"/>
                  </a:schemeClr>
                </a:solidFill>
                <a:effectLst/>
                <a:latin typeface="Arial" panose="020B0604020202020204" pitchFamily="34" charset="0"/>
              </a:rPr>
              <a:t>.</a:t>
            </a:r>
          </a:p>
          <a:p>
            <a:endParaRPr lang="en-IN" dirty="0"/>
          </a:p>
        </p:txBody>
      </p:sp>
      <p:pic>
        <p:nvPicPr>
          <p:cNvPr id="9" name="Picture 8">
            <a:extLst>
              <a:ext uri="{FF2B5EF4-FFF2-40B4-BE49-F238E27FC236}">
                <a16:creationId xmlns:a16="http://schemas.microsoft.com/office/drawing/2014/main" id="{CC71B416-FBFE-FAD9-6E64-82CF33EBC840}"/>
              </a:ext>
            </a:extLst>
          </p:cNvPr>
          <p:cNvPicPr>
            <a:picLocks noChangeAspect="1"/>
          </p:cNvPicPr>
          <p:nvPr/>
        </p:nvPicPr>
        <p:blipFill>
          <a:blip r:embed="rId2"/>
          <a:stretch>
            <a:fillRect/>
          </a:stretch>
        </p:blipFill>
        <p:spPr>
          <a:xfrm>
            <a:off x="2823841" y="2449477"/>
            <a:ext cx="5229225" cy="3438525"/>
          </a:xfrm>
          <a:prstGeom prst="rect">
            <a:avLst/>
          </a:prstGeom>
        </p:spPr>
      </p:pic>
    </p:spTree>
    <p:extLst>
      <p:ext uri="{BB962C8B-B14F-4D97-AF65-F5344CB8AC3E}">
        <p14:creationId xmlns:p14="http://schemas.microsoft.com/office/powerpoint/2010/main" val="12135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FF73B4-1E3E-650C-41D9-E525151D9B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8DF53A-BF85-FE8E-18BC-AE3B41146B5D}"/>
              </a:ext>
            </a:extLst>
          </p:cNvPr>
          <p:cNvSpPr>
            <a:spLocks noGrp="1"/>
          </p:cNvSpPr>
          <p:nvPr>
            <p:ph idx="1"/>
          </p:nvPr>
        </p:nvSpPr>
        <p:spPr/>
        <p:txBody>
          <a:bodyPr/>
          <a:lstStyle/>
          <a:p>
            <a:r>
              <a:rPr lang="en-US" b="0" i="0" dirty="0">
                <a:solidFill>
                  <a:schemeClr val="accent2">
                    <a:lumMod val="75000"/>
                  </a:schemeClr>
                </a:solidFill>
                <a:effectLst/>
                <a:latin typeface="Arial" panose="020B0604020202020204" pitchFamily="34" charset="0"/>
              </a:rPr>
              <a:t>This leaves the node </a:t>
            </a:r>
            <a:r>
              <a:rPr lang="en-US" b="0" i="1" dirty="0">
                <a:solidFill>
                  <a:schemeClr val="accent2">
                    <a:lumMod val="75000"/>
                  </a:schemeClr>
                </a:solidFill>
                <a:effectLst/>
                <a:latin typeface="Nimbus Roman No9 L"/>
              </a:rPr>
              <a:t>b</a:t>
            </a:r>
            <a:r>
              <a:rPr lang="en-US" b="0" i="0" dirty="0">
                <a:solidFill>
                  <a:schemeClr val="accent2">
                    <a:lumMod val="75000"/>
                  </a:schemeClr>
                </a:solidFill>
                <a:effectLst/>
                <a:latin typeface="Arial" panose="020B0604020202020204" pitchFamily="34" charset="0"/>
              </a:rPr>
              <a:t> as the only remaining active node, but it </a:t>
            </a:r>
            <a:r>
              <a:rPr lang="en-US" b="0" i="0" dirty="0">
                <a:solidFill>
                  <a:srgbClr val="FF0000"/>
                </a:solidFill>
                <a:effectLst/>
                <a:latin typeface="Arial" panose="020B0604020202020204" pitchFamily="34" charset="0"/>
              </a:rPr>
              <a:t>cannot push its excess flow towards the sink</a:t>
            </a:r>
            <a:r>
              <a:rPr lang="en-US" b="0" i="0" dirty="0">
                <a:solidFill>
                  <a:schemeClr val="accent2">
                    <a:lumMod val="75000"/>
                  </a:schemeClr>
                </a:solidFill>
                <a:effectLst/>
                <a:latin typeface="Arial" panose="020B0604020202020204" pitchFamily="34" charset="0"/>
              </a:rPr>
              <a:t>. Relabel </a:t>
            </a:r>
            <a:r>
              <a:rPr lang="en-US" b="0" i="1" dirty="0">
                <a:solidFill>
                  <a:schemeClr val="accent2">
                    <a:lumMod val="75000"/>
                  </a:schemeClr>
                </a:solidFill>
                <a:effectLst/>
                <a:latin typeface="Nimbus Roman No9 L"/>
              </a:rPr>
              <a:t>b</a:t>
            </a:r>
            <a:r>
              <a:rPr lang="en-US" b="0" i="0" dirty="0">
                <a:solidFill>
                  <a:schemeClr val="accent2">
                    <a:lumMod val="75000"/>
                  </a:schemeClr>
                </a:solidFill>
                <a:effectLst/>
                <a:latin typeface="Arial" panose="020B0604020202020204" pitchFamily="34" charset="0"/>
              </a:rPr>
              <a:t> and then </a:t>
            </a:r>
            <a:r>
              <a:rPr lang="en-US" b="0" i="0" dirty="0">
                <a:solidFill>
                  <a:srgbClr val="FF0000"/>
                </a:solidFill>
                <a:effectLst/>
                <a:latin typeface="Arial" panose="020B0604020202020204" pitchFamily="34" charset="0"/>
              </a:rPr>
              <a:t>push its excess towards the source, </a:t>
            </a:r>
            <a:r>
              <a:rPr lang="en-US" b="0" i="1" dirty="0">
                <a:solidFill>
                  <a:srgbClr val="FF0000"/>
                </a:solidFill>
                <a:effectLst/>
                <a:latin typeface="Nimbus Roman No9 L"/>
              </a:rPr>
              <a:t>s</a:t>
            </a:r>
            <a:r>
              <a:rPr lang="en-US" b="0" i="0" dirty="0">
                <a:solidFill>
                  <a:schemeClr val="accent2">
                    <a:lumMod val="75000"/>
                  </a:schemeClr>
                </a:solidFill>
                <a:effectLst/>
                <a:latin typeface="Arial" panose="020B0604020202020204" pitchFamily="34" charset="0"/>
              </a:rPr>
              <a:t>, via the node </a:t>
            </a:r>
            <a:r>
              <a:rPr lang="en-US" b="0" i="1" dirty="0">
                <a:solidFill>
                  <a:schemeClr val="accent2">
                    <a:lumMod val="75000"/>
                  </a:schemeClr>
                </a:solidFill>
                <a:effectLst/>
                <a:latin typeface="Nimbus Roman No9 L"/>
              </a:rPr>
              <a:t>a</a:t>
            </a:r>
            <a:r>
              <a:rPr lang="en-US" b="0" i="0" dirty="0">
                <a:solidFill>
                  <a:srgbClr val="202122"/>
                </a:solidFill>
                <a:effectLst/>
                <a:latin typeface="Arial" panose="020B0604020202020204" pitchFamily="34" charset="0"/>
              </a:rPr>
              <a:t>.</a:t>
            </a:r>
          </a:p>
          <a:p>
            <a:pPr marL="0" indent="0">
              <a:buNone/>
            </a:pPr>
            <a:endParaRPr lang="en-IN" dirty="0"/>
          </a:p>
        </p:txBody>
      </p:sp>
      <p:pic>
        <p:nvPicPr>
          <p:cNvPr id="7" name="Picture 6">
            <a:extLst>
              <a:ext uri="{FF2B5EF4-FFF2-40B4-BE49-F238E27FC236}">
                <a16:creationId xmlns:a16="http://schemas.microsoft.com/office/drawing/2014/main" id="{5188FF55-A052-CB40-3C1F-1EC2BEDA24F4}"/>
              </a:ext>
            </a:extLst>
          </p:cNvPr>
          <p:cNvPicPr>
            <a:picLocks noChangeAspect="1"/>
          </p:cNvPicPr>
          <p:nvPr/>
        </p:nvPicPr>
        <p:blipFill>
          <a:blip r:embed="rId2"/>
          <a:stretch>
            <a:fillRect/>
          </a:stretch>
        </p:blipFill>
        <p:spPr>
          <a:xfrm>
            <a:off x="3202487" y="3189965"/>
            <a:ext cx="5191125" cy="3457575"/>
          </a:xfrm>
          <a:prstGeom prst="rect">
            <a:avLst/>
          </a:prstGeom>
        </p:spPr>
      </p:pic>
    </p:spTree>
    <p:extLst>
      <p:ext uri="{BB962C8B-B14F-4D97-AF65-F5344CB8AC3E}">
        <p14:creationId xmlns:p14="http://schemas.microsoft.com/office/powerpoint/2010/main" val="3712335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3D8D-08AA-5D48-C993-E1A9A699B5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8965CA-6C88-237C-4A62-27520952ECBD}"/>
              </a:ext>
            </a:extLst>
          </p:cNvPr>
          <p:cNvSpPr>
            <a:spLocks noGrp="1"/>
          </p:cNvSpPr>
          <p:nvPr>
            <p:ph idx="1"/>
          </p:nvPr>
        </p:nvSpPr>
        <p:spPr/>
        <p:txBody>
          <a:bodyPr/>
          <a:lstStyle/>
          <a:p>
            <a:r>
              <a:rPr lang="en-US" b="0" i="0" dirty="0">
                <a:solidFill>
                  <a:srgbClr val="FF0000"/>
                </a:solidFill>
                <a:effectLst/>
                <a:latin typeface="Arial" panose="020B0604020202020204" pitchFamily="34" charset="0"/>
              </a:rPr>
              <a:t>Push the last bit of excess at </a:t>
            </a:r>
            <a:r>
              <a:rPr lang="en-US" b="0" i="1" dirty="0">
                <a:solidFill>
                  <a:srgbClr val="FF0000"/>
                </a:solidFill>
                <a:effectLst/>
                <a:latin typeface="Nimbus Roman No9 L"/>
              </a:rPr>
              <a:t>a</a:t>
            </a:r>
            <a:r>
              <a:rPr lang="en-US" b="0" i="0" dirty="0">
                <a:solidFill>
                  <a:srgbClr val="FF0000"/>
                </a:solidFill>
                <a:effectLst/>
                <a:latin typeface="Arial" panose="020B0604020202020204" pitchFamily="34" charset="0"/>
              </a:rPr>
              <a:t> back to the source, </a:t>
            </a:r>
            <a:r>
              <a:rPr lang="en-US" b="0" i="1" dirty="0" err="1">
                <a:solidFill>
                  <a:srgbClr val="FF0000"/>
                </a:solidFill>
                <a:effectLst/>
                <a:latin typeface="Nimbus Roman No9 L"/>
              </a:rPr>
              <a:t>s</a:t>
            </a:r>
            <a:r>
              <a:rPr lang="en-US" b="0" i="0" dirty="0" err="1">
                <a:solidFill>
                  <a:srgbClr val="202122"/>
                </a:solidFill>
                <a:effectLst/>
                <a:latin typeface="Arial" panose="020B0604020202020204" pitchFamily="34" charset="0"/>
              </a:rPr>
              <a:t>.There</a:t>
            </a:r>
            <a:r>
              <a:rPr lang="en-US" b="0" i="0" dirty="0">
                <a:solidFill>
                  <a:srgbClr val="202122"/>
                </a:solidFill>
                <a:effectLst/>
                <a:latin typeface="Arial" panose="020B0604020202020204" pitchFamily="34" charset="0"/>
              </a:rPr>
              <a:t> are </a:t>
            </a:r>
            <a:r>
              <a:rPr lang="en-US" b="0" i="0" dirty="0">
                <a:solidFill>
                  <a:srgbClr val="FF0000"/>
                </a:solidFill>
                <a:effectLst/>
                <a:latin typeface="Arial" panose="020B0604020202020204" pitchFamily="34" charset="0"/>
              </a:rPr>
              <a:t>no remaining active nodes</a:t>
            </a:r>
            <a:r>
              <a:rPr lang="en-US" b="0" i="0" dirty="0">
                <a:solidFill>
                  <a:srgbClr val="202122"/>
                </a:solidFill>
                <a:effectLst/>
                <a:latin typeface="Arial" panose="020B0604020202020204" pitchFamily="34" charset="0"/>
              </a:rPr>
              <a:t>. The algorithm </a:t>
            </a:r>
            <a:r>
              <a:rPr lang="en-US" b="0" i="0" dirty="0">
                <a:solidFill>
                  <a:srgbClr val="FF0000"/>
                </a:solidFill>
                <a:effectLst/>
                <a:latin typeface="Arial" panose="020B0604020202020204" pitchFamily="34" charset="0"/>
              </a:rPr>
              <a:t>terminates</a:t>
            </a:r>
            <a:r>
              <a:rPr lang="en-US" b="0" i="0" dirty="0">
                <a:solidFill>
                  <a:srgbClr val="202122"/>
                </a:solidFill>
                <a:effectLst/>
                <a:latin typeface="Arial" panose="020B0604020202020204" pitchFamily="34" charset="0"/>
              </a:rPr>
              <a:t> and returns the maximum flow of the graph (as seen above).</a:t>
            </a:r>
          </a:p>
          <a:p>
            <a:pPr marL="0" indent="0">
              <a:buNone/>
            </a:pPr>
            <a:endParaRPr lang="en-IN" dirty="0"/>
          </a:p>
        </p:txBody>
      </p:sp>
      <p:pic>
        <p:nvPicPr>
          <p:cNvPr id="5" name="Picture 4">
            <a:extLst>
              <a:ext uri="{FF2B5EF4-FFF2-40B4-BE49-F238E27FC236}">
                <a16:creationId xmlns:a16="http://schemas.microsoft.com/office/drawing/2014/main" id="{A5B9E2EC-6EE2-735D-91B3-7547B6093365}"/>
              </a:ext>
            </a:extLst>
          </p:cNvPr>
          <p:cNvPicPr>
            <a:picLocks noChangeAspect="1"/>
          </p:cNvPicPr>
          <p:nvPr/>
        </p:nvPicPr>
        <p:blipFill>
          <a:blip r:embed="rId2"/>
          <a:stretch>
            <a:fillRect/>
          </a:stretch>
        </p:blipFill>
        <p:spPr>
          <a:xfrm>
            <a:off x="3689117" y="3161390"/>
            <a:ext cx="5286375" cy="3514725"/>
          </a:xfrm>
          <a:prstGeom prst="rect">
            <a:avLst/>
          </a:prstGeom>
        </p:spPr>
      </p:pic>
    </p:spTree>
    <p:extLst>
      <p:ext uri="{BB962C8B-B14F-4D97-AF65-F5344CB8AC3E}">
        <p14:creationId xmlns:p14="http://schemas.microsoft.com/office/powerpoint/2010/main" val="1843686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CE58-C525-1952-D0C8-5D0A3E119A08}"/>
              </a:ext>
            </a:extLst>
          </p:cNvPr>
          <p:cNvSpPr>
            <a:spLocks noGrp="1"/>
          </p:cNvSpPr>
          <p:nvPr>
            <p:ph type="title"/>
          </p:nvPr>
        </p:nvSpPr>
        <p:spPr/>
        <p:txBody>
          <a:bodyPr/>
          <a:lstStyle/>
          <a:p>
            <a:r>
              <a:rPr lang="en-IN" dirty="0"/>
              <a:t>Time complexity of push relabel algorithm</a:t>
            </a:r>
          </a:p>
        </p:txBody>
      </p:sp>
      <p:sp>
        <p:nvSpPr>
          <p:cNvPr id="3" name="Content Placeholder 2">
            <a:extLst>
              <a:ext uri="{FF2B5EF4-FFF2-40B4-BE49-F238E27FC236}">
                <a16:creationId xmlns:a16="http://schemas.microsoft.com/office/drawing/2014/main" id="{9BE8F519-25ED-78DE-B95E-F52C45F4F51E}"/>
              </a:ext>
            </a:extLst>
          </p:cNvPr>
          <p:cNvSpPr>
            <a:spLocks noGrp="1"/>
          </p:cNvSpPr>
          <p:nvPr>
            <p:ph idx="1"/>
          </p:nvPr>
        </p:nvSpPr>
        <p:spPr/>
        <p:txBody>
          <a:bodyPr/>
          <a:lstStyle/>
          <a:p>
            <a:r>
              <a:rPr lang="en-US" b="0" i="0" dirty="0">
                <a:solidFill>
                  <a:srgbClr val="202122"/>
                </a:solidFill>
                <a:effectLst/>
                <a:latin typeface="Arial" panose="020B0604020202020204" pitchFamily="34" charset="0"/>
              </a:rPr>
              <a:t>In sum, the algorithm executes </a:t>
            </a:r>
            <a:r>
              <a:rPr lang="en-US" b="0" i="1" dirty="0">
                <a:solidFill>
                  <a:srgbClr val="202122"/>
                </a:solidFill>
                <a:effectLst/>
                <a:latin typeface="Nimbus Roman No9 L"/>
              </a:rPr>
              <a:t>O</a:t>
            </a:r>
            <a:r>
              <a:rPr lang="en-US" b="0" i="0" dirty="0">
                <a:solidFill>
                  <a:srgbClr val="202122"/>
                </a:solidFill>
                <a:effectLst/>
                <a:latin typeface="Nimbus Roman No9 L"/>
              </a:rPr>
              <a:t>(</a:t>
            </a:r>
            <a:r>
              <a:rPr lang="en-US" b="0" i="1" dirty="0">
                <a:solidFill>
                  <a:srgbClr val="202122"/>
                </a:solidFill>
                <a:effectLst/>
                <a:latin typeface="Nimbus Roman No9 L"/>
              </a:rPr>
              <a:t>V</a:t>
            </a:r>
            <a:r>
              <a:rPr lang="en-US" b="0" i="0" baseline="30000" dirty="0">
                <a:solidFill>
                  <a:srgbClr val="202122"/>
                </a:solidFill>
                <a:effectLst/>
                <a:latin typeface="Nimbus Roman No9 L"/>
              </a:rPr>
              <a:t> 2</a:t>
            </a:r>
            <a:r>
              <a:rPr lang="en-US" b="0" i="0" dirty="0">
                <a:solidFill>
                  <a:srgbClr val="202122"/>
                </a:solidFill>
                <a:effectLst/>
                <a:latin typeface="Nimbus Roman No9 L"/>
              </a:rPr>
              <a:t>)</a:t>
            </a:r>
            <a:r>
              <a:rPr lang="en-US" b="0" i="0" dirty="0">
                <a:solidFill>
                  <a:srgbClr val="202122"/>
                </a:solidFill>
                <a:effectLst/>
                <a:latin typeface="Arial" panose="020B0604020202020204" pitchFamily="34" charset="0"/>
              </a:rPr>
              <a:t> relabels, </a:t>
            </a:r>
            <a:r>
              <a:rPr lang="en-US" b="0" i="1" dirty="0">
                <a:solidFill>
                  <a:srgbClr val="202122"/>
                </a:solidFill>
                <a:effectLst/>
                <a:latin typeface="Nimbus Roman No9 L"/>
              </a:rPr>
              <a:t>O</a:t>
            </a:r>
            <a:r>
              <a:rPr lang="en-US" b="0" i="0" dirty="0">
                <a:solidFill>
                  <a:srgbClr val="202122"/>
                </a:solidFill>
                <a:effectLst/>
                <a:latin typeface="Nimbus Roman No9 L"/>
              </a:rPr>
              <a:t>(</a:t>
            </a:r>
            <a:r>
              <a:rPr lang="en-US" b="0" i="1" dirty="0">
                <a:solidFill>
                  <a:srgbClr val="202122"/>
                </a:solidFill>
                <a:effectLst/>
                <a:latin typeface="Nimbus Roman No9 L"/>
              </a:rPr>
              <a:t>VE</a:t>
            </a:r>
            <a:r>
              <a:rPr lang="en-US" b="0" i="0" dirty="0">
                <a:solidFill>
                  <a:srgbClr val="202122"/>
                </a:solidFill>
                <a:effectLst/>
                <a:latin typeface="Nimbus Roman No9 L"/>
              </a:rPr>
              <a:t>)</a:t>
            </a:r>
            <a:r>
              <a:rPr lang="en-US" b="0" i="0" dirty="0">
                <a:solidFill>
                  <a:srgbClr val="202122"/>
                </a:solidFill>
                <a:effectLst/>
                <a:latin typeface="Arial" panose="020B0604020202020204" pitchFamily="34" charset="0"/>
              </a:rPr>
              <a:t> saturating pushes and </a:t>
            </a:r>
            <a:r>
              <a:rPr lang="en-US" b="0" i="1" dirty="0">
                <a:solidFill>
                  <a:srgbClr val="202122"/>
                </a:solidFill>
                <a:effectLst/>
                <a:latin typeface="Nimbus Roman No9 L"/>
              </a:rPr>
              <a:t>O</a:t>
            </a:r>
            <a:r>
              <a:rPr lang="en-US" b="0" i="0" dirty="0">
                <a:solidFill>
                  <a:srgbClr val="202122"/>
                </a:solidFill>
                <a:effectLst/>
                <a:latin typeface="Nimbus Roman No9 L"/>
              </a:rPr>
              <a:t>(</a:t>
            </a:r>
            <a:r>
              <a:rPr lang="en-US" b="0" i="1" dirty="0">
                <a:solidFill>
                  <a:srgbClr val="202122"/>
                </a:solidFill>
                <a:effectLst/>
                <a:latin typeface="Nimbus Roman No9 L"/>
              </a:rPr>
              <a:t>V</a:t>
            </a:r>
            <a:r>
              <a:rPr lang="en-US" b="0" i="0" baseline="30000" dirty="0">
                <a:solidFill>
                  <a:srgbClr val="202122"/>
                </a:solidFill>
                <a:effectLst/>
                <a:latin typeface="Nimbus Roman No9 L"/>
              </a:rPr>
              <a:t> 2</a:t>
            </a:r>
            <a:r>
              <a:rPr lang="en-US" b="0" i="1" dirty="0">
                <a:solidFill>
                  <a:srgbClr val="202122"/>
                </a:solidFill>
                <a:effectLst/>
                <a:latin typeface="Nimbus Roman No9 L"/>
              </a:rPr>
              <a:t>E</a:t>
            </a:r>
            <a:r>
              <a:rPr lang="en-US" b="0" i="0" dirty="0">
                <a:solidFill>
                  <a:srgbClr val="202122"/>
                </a:solidFill>
                <a:effectLst/>
                <a:latin typeface="Nimbus Roman No9 L"/>
              </a:rPr>
              <a:t>)</a:t>
            </a:r>
            <a:r>
              <a:rPr lang="en-US" b="0" i="0" dirty="0">
                <a:solidFill>
                  <a:srgbClr val="202122"/>
                </a:solidFill>
                <a:effectLst/>
                <a:latin typeface="Arial" panose="020B0604020202020204" pitchFamily="34" charset="0"/>
              </a:rPr>
              <a:t> </a:t>
            </a:r>
            <a:r>
              <a:rPr lang="en-US" b="0" i="0" dirty="0" err="1">
                <a:solidFill>
                  <a:srgbClr val="202122"/>
                </a:solidFill>
                <a:effectLst/>
                <a:latin typeface="Arial" panose="020B0604020202020204" pitchFamily="34" charset="0"/>
              </a:rPr>
              <a:t>nonsaturating</a:t>
            </a:r>
            <a:r>
              <a:rPr lang="en-US" b="0" i="0" dirty="0">
                <a:solidFill>
                  <a:srgbClr val="202122"/>
                </a:solidFill>
                <a:effectLst/>
                <a:latin typeface="Arial" panose="020B0604020202020204" pitchFamily="34" charset="0"/>
              </a:rPr>
              <a:t> pushes.</a:t>
            </a:r>
          </a:p>
          <a:p>
            <a:pPr marL="0" indent="0">
              <a:buNone/>
            </a:pPr>
            <a:r>
              <a:rPr lang="en-US" dirty="0">
                <a:solidFill>
                  <a:srgbClr val="202122"/>
                </a:solidFill>
                <a:latin typeface="Arial" panose="020B0604020202020204" pitchFamily="34" charset="0"/>
              </a:rPr>
              <a:t>Time complexity=O(V</a:t>
            </a:r>
            <a:r>
              <a:rPr lang="en-US" baseline="30000" dirty="0">
                <a:solidFill>
                  <a:srgbClr val="202122"/>
                </a:solidFill>
                <a:latin typeface="Arial" panose="020B0604020202020204" pitchFamily="34" charset="0"/>
              </a:rPr>
              <a:t>2</a:t>
            </a:r>
            <a:r>
              <a:rPr lang="en-US" dirty="0">
                <a:solidFill>
                  <a:srgbClr val="202122"/>
                </a:solidFill>
                <a:latin typeface="Arial" panose="020B0604020202020204" pitchFamily="34" charset="0"/>
              </a:rPr>
              <a:t>E)</a:t>
            </a:r>
            <a:endParaRPr lang="en-IN" dirty="0"/>
          </a:p>
        </p:txBody>
      </p:sp>
    </p:spTree>
    <p:extLst>
      <p:ext uri="{BB962C8B-B14F-4D97-AF65-F5344CB8AC3E}">
        <p14:creationId xmlns:p14="http://schemas.microsoft.com/office/powerpoint/2010/main" val="66263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2844</TotalTime>
  <Words>1385</Words>
  <Application>Microsoft Macintosh PowerPoint</Application>
  <PresentationFormat>Widescreen</PresentationFormat>
  <Paragraphs>105</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Nimbus Roman No9 L</vt:lpstr>
      <vt:lpstr>Times New Roman</vt:lpstr>
      <vt:lpstr>urw-din</vt:lpstr>
      <vt:lpstr>Office Theme</vt:lpstr>
      <vt:lpstr>Design and analysis of algorithms (CSE 2012)  </vt:lpstr>
      <vt:lpstr>Capacity constraint</vt:lpstr>
      <vt:lpstr>Flow conservation constraint</vt:lpstr>
      <vt:lpstr>Maximum flow problem</vt:lpstr>
      <vt:lpstr>Marking reverse flow in the Network flow graph</vt:lpstr>
      <vt:lpstr>Ford Fulkerson algorithm</vt:lpstr>
      <vt:lpstr>Runtime complexity of Edmond Karps algorithm</vt:lpstr>
      <vt:lpstr>To calculate running time of Edmonds Karps algorithm</vt:lpstr>
      <vt:lpstr>-Contd</vt:lpstr>
      <vt:lpstr>Critical path </vt:lpstr>
      <vt:lpstr>-Contd</vt:lpstr>
      <vt:lpstr>Time Complexity of Ford Fulkerson algorithm</vt:lpstr>
      <vt:lpstr>Max Flow Min cut theorem</vt:lpstr>
      <vt:lpstr>Push Relabel algorithm- Steps</vt:lpstr>
      <vt:lpstr>Push Relabel algorithm as in CLRS book </vt:lpstr>
      <vt:lpstr>Preflow operation -Steps</vt:lpstr>
      <vt:lpstr>Preflow operation as in CLRS book </vt:lpstr>
      <vt:lpstr>Push operation- Function</vt:lpstr>
      <vt:lpstr>Push operation-Description</vt:lpstr>
      <vt:lpstr>Push operation algorithm as in CLRS book </vt:lpstr>
      <vt:lpstr>Relabel operation- Function</vt:lpstr>
      <vt:lpstr>Relabel operation-Description</vt:lpstr>
      <vt:lpstr>Relabel operation as in CLRS book </vt:lpstr>
      <vt:lpstr>Network flow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 complexity of push relabel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Jenicka</dc:creator>
  <cp:lastModifiedBy>Apoorva Karnwal</cp:lastModifiedBy>
  <cp:revision>25</cp:revision>
  <dcterms:created xsi:type="dcterms:W3CDTF">2021-09-29T07:43:42Z</dcterms:created>
  <dcterms:modified xsi:type="dcterms:W3CDTF">2024-03-15T17:16:54Z</dcterms:modified>
</cp:coreProperties>
</file>